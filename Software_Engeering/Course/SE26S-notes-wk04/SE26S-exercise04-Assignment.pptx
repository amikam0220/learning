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485" r:id="rId3"/>
    <p:sldId id="531" r:id="rId5"/>
    <p:sldId id="532" r:id="rId6"/>
    <p:sldId id="539" r:id="rId7"/>
    <p:sldId id="538" r:id="rId8"/>
    <p:sldId id="540" r:id="rId9"/>
    <p:sldId id="542" r:id="rId10"/>
    <p:sldId id="544" r:id="rId11"/>
    <p:sldId id="541" r:id="rId12"/>
    <p:sldId id="545" r:id="rId13"/>
    <p:sldId id="543" r:id="rId14"/>
    <p:sldId id="479" r:id="rId15"/>
  </p:sldIdLst>
  <p:sldSz cx="10058400" cy="7772400"/>
  <p:notesSz cx="10058400" cy="77724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黑体" panose="02010609060101010101" pitchFamily="49" charset="-122"/>
      <p:regular r:id="rId23"/>
    </p:embeddedFont>
    <p:embeddedFont>
      <p:font typeface="Consolas" panose="020B0609020204030204" pitchFamily="49" charset="0"/>
      <p:regular r:id="rId24"/>
      <p:bold r:id="rId25"/>
      <p:italic r:id="rId26"/>
      <p:boldItalic r:id="rId27"/>
    </p:embeddedFont>
  </p:embeddedFontLst>
  <p:custDataLst>
    <p:tags r:id="rId28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68" userDrawn="1">
          <p15:clr>
            <a:srgbClr val="A4A3A4"/>
          </p15:clr>
        </p15:guide>
        <p15:guide id="2" pos="24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64" autoAdjust="0"/>
    <p:restoredTop sz="99060" autoAdjust="0"/>
  </p:normalViewPr>
  <p:slideViewPr>
    <p:cSldViewPr showGuides="1">
      <p:cViewPr varScale="1">
        <p:scale>
          <a:sx n="98" d="100"/>
          <a:sy n="98" d="100"/>
        </p:scale>
        <p:origin x="-1890" y="-108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8" Type="http://schemas.openxmlformats.org/officeDocument/2006/relationships/tags" Target="tags/tag1.xml"/><Relationship Id="rId27" Type="http://schemas.openxmlformats.org/officeDocument/2006/relationships/font" Target="fonts/font9.fntdata"/><Relationship Id="rId26" Type="http://schemas.openxmlformats.org/officeDocument/2006/relationships/font" Target="fonts/font8.fntdata"/><Relationship Id="rId25" Type="http://schemas.openxmlformats.org/officeDocument/2006/relationships/font" Target="fonts/font7.fntdata"/><Relationship Id="rId24" Type="http://schemas.openxmlformats.org/officeDocument/2006/relationships/font" Target="fonts/font6.fntdata"/><Relationship Id="rId23" Type="http://schemas.openxmlformats.org/officeDocument/2006/relationships/font" Target="fonts/font5.fntdata"/><Relationship Id="rId22" Type="http://schemas.openxmlformats.org/officeDocument/2006/relationships/font" Target="fonts/font4.fntdata"/><Relationship Id="rId21" Type="http://schemas.openxmlformats.org/officeDocument/2006/relationships/font" Target="fonts/font3.fntdata"/><Relationship Id="rId20" Type="http://schemas.openxmlformats.org/officeDocument/2006/relationships/font" Target="fonts/font2.fntdata"/><Relationship Id="rId2" Type="http://schemas.openxmlformats.org/officeDocument/2006/relationships/theme" Target="theme/theme1.xml"/><Relationship Id="rId19" Type="http://schemas.openxmlformats.org/officeDocument/2006/relationships/font" Target="fonts/font1.fntdata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页眉占位符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4359275" cy="388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1" name="日期占位符 2"/>
          <p:cNvSpPr>
            <a:spLocks noGrp="1"/>
          </p:cNvSpPr>
          <p:nvPr>
            <p:ph type="dt" idx="1"/>
          </p:nvPr>
        </p:nvSpPr>
        <p:spPr bwMode="auto">
          <a:xfrm>
            <a:off x="5697538" y="0"/>
            <a:ext cx="4359275" cy="388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C725CE26-A364-4E7A-80B8-D47C5FA0432D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143250" y="582613"/>
            <a:ext cx="3771900" cy="2914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006475" y="3692525"/>
            <a:ext cx="8045450" cy="34972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17414" name="页脚占位符 5"/>
          <p:cNvSpPr>
            <a:spLocks noGrp="1"/>
          </p:cNvSpPr>
          <p:nvPr>
            <p:ph type="ftr" sz="quarter" idx="4"/>
          </p:nvPr>
        </p:nvSpPr>
        <p:spPr bwMode="auto">
          <a:xfrm>
            <a:off x="0" y="7381875"/>
            <a:ext cx="4359275" cy="388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7415" name="灯片编号占位符 6"/>
          <p:cNvSpPr>
            <a:spLocks noGrp="1"/>
          </p:cNvSpPr>
          <p:nvPr>
            <p:ph type="sldNum" sz="quarter" idx="5"/>
          </p:nvPr>
        </p:nvSpPr>
        <p:spPr bwMode="auto">
          <a:xfrm>
            <a:off x="5697538" y="7381875"/>
            <a:ext cx="4359275" cy="388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C3E90D23-7C46-4629-96D8-94E6C198564C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593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13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33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530" algn="l" defTabSz="91313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93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913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6330" algn="l" defTabSz="913765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8435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613D6E-193C-4008-9414-2E3D3B176F97}" type="slidenum">
              <a:rPr lang="zh-CN" altLang="en-US" smtClean="0"/>
            </a:fld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</p:spPr>
      </p:sp>
      <p:sp>
        <p:nvSpPr>
          <p:cNvPr id="1945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/>
          <a:lstStyle/>
          <a:p>
            <a:pPr eaLnBrk="1" hangingPunct="1">
              <a:spcBef>
                <a:spcPct val="0"/>
              </a:spcBef>
            </a:pPr>
            <a:endParaRPr lang="zh-CN" altLang="en-US" smtClean="0"/>
          </a:p>
        </p:txBody>
      </p:sp>
      <p:sp>
        <p:nvSpPr>
          <p:cNvPr id="19460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B3AA8C-F2DD-4B10-BFEC-891598825C3C}" type="slidenum">
              <a:rPr lang="en-US" altLang="zh-CN" smtClean="0"/>
            </a:fld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7CDC95-75C4-42FA-8E39-1E2BFFE5948F}" type="datetime1">
              <a:rPr lang="en-US" altLang="zh-CN"/>
            </a:fld>
            <a:endParaRPr lang="en-US" altLang="zh-CN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>
          <a:xfrm>
            <a:off x="2568575" y="9944100"/>
            <a:ext cx="2416175" cy="1108075"/>
          </a:xfrm>
        </p:spPr>
        <p:txBody>
          <a:bodyPr vert="horz" numCol="1" anchor="t" anchorCtr="0" compatLnSpc="1"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© 1992-2010 by Pearson Education, Inc. All Rights Reserved.</a:t>
            </a:r>
            <a:endParaRPr lang="en-US" altLang="zh-CN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 vert="horz" numCol="1" anchor="t" anchorCtr="0" compatLnSpc="1"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528AAB7D-811D-46B8-B43F-F4B01A80F43A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tion Button: Back or Previous 16">
            <a:hlinkClick r:id="" action="ppaction://hlinkshowjump?jump=previousslide" highlightClick="1"/>
          </p:cNvPr>
          <p:cNvSpPr/>
          <p:nvPr/>
        </p:nvSpPr>
        <p:spPr>
          <a:xfrm>
            <a:off x="9136063" y="173038"/>
            <a:ext cx="334962" cy="344487"/>
          </a:xfrm>
          <a:prstGeom prst="actionButtonBackPrevious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01846" tIns="50923" rIns="101846" bIns="5092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kern="0">
              <a:solidFill>
                <a:srgbClr val="000000"/>
              </a:solidFill>
            </a:endParaRPr>
          </a:p>
        </p:txBody>
      </p:sp>
      <p:sp>
        <p:nvSpPr>
          <p:cNvPr id="5" name="Action Button: Forward or Next 18">
            <a:hlinkClick r:id="" action="ppaction://hlinkshowjump?jump=nextslide" highlightClick="1"/>
          </p:cNvPr>
          <p:cNvSpPr/>
          <p:nvPr/>
        </p:nvSpPr>
        <p:spPr>
          <a:xfrm>
            <a:off x="9555163" y="173038"/>
            <a:ext cx="334962" cy="344487"/>
          </a:xfrm>
          <a:prstGeom prst="actionButtonForwardNex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101846" tIns="50923" rIns="101846" bIns="50923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kern="0">
              <a:solidFill>
                <a:srgbClr val="0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668" y="2459487"/>
            <a:ext cx="6797992" cy="1384995"/>
          </a:xfrm>
        </p:spPr>
        <p:txBody>
          <a:bodyPr/>
          <a:lstStyle>
            <a:lvl2pPr>
              <a:buFont typeface="Wingdings" panose="05000000000000000000" pitchFamily="2" charset="2"/>
              <a:buChar char="§"/>
              <a:defRPr/>
            </a:lvl2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77668" y="427739"/>
            <a:ext cx="6797992" cy="276999"/>
          </a:xfrm>
        </p:spPr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54EDD1-86D3-47B7-99FA-B5C8753EC7CB}" type="datetime1">
              <a:rPr lang="en-US" altLang="zh-CN"/>
            </a:fld>
            <a:endParaRPr lang="en-US" altLang="zh-CN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25963" y="7262813"/>
            <a:ext cx="2878137" cy="831850"/>
          </a:xfrm>
        </p:spPr>
        <p:txBody>
          <a:bodyPr vert="horz" numCol="1" anchor="t" anchorCtr="0" compatLnSpc="1"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© 1992-2010 by Pearson Education, Inc. All Rights Reserved.</a:t>
            </a:r>
            <a:endParaRPr lang="en-US" altLang="zh-CN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numCol="1" anchor="t" anchorCtr="0" compatLnSpc="1"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E8F3E98-FB46-4733-AB15-C00E80DAAEDC}" type="slidenum">
              <a:rPr lang="en-US" altLang="zh-CN"/>
            </a:fld>
            <a:endParaRPr lang="en-US" altLang="zh-CN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16"/>
          <p:cNvSpPr/>
          <p:nvPr/>
        </p:nvSpPr>
        <p:spPr>
          <a:xfrm>
            <a:off x="4000500" y="3405188"/>
            <a:ext cx="201613" cy="2603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858" tIns="50929" rIns="101858" bIns="50929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kern="0">
              <a:solidFill>
                <a:srgbClr val="FFFFFF"/>
              </a:solidFill>
            </a:endParaRPr>
          </a:p>
        </p:txBody>
      </p:sp>
      <p:sp>
        <p:nvSpPr>
          <p:cNvPr id="5" name="Chevron 18"/>
          <p:cNvSpPr/>
          <p:nvPr/>
        </p:nvSpPr>
        <p:spPr>
          <a:xfrm>
            <a:off x="3794125" y="3405188"/>
            <a:ext cx="203200" cy="26035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1858" tIns="50929" rIns="101858" bIns="50929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zh-CN" kern="0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4614" y="2436494"/>
            <a:ext cx="8549640" cy="837153"/>
          </a:xfrm>
        </p:spPr>
        <p:txBody>
          <a:bodyPr anchor="b"/>
          <a:lstStyle>
            <a:lvl1pPr algn="r">
              <a:buNone/>
              <a:defRPr sz="53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14984" y="3322607"/>
            <a:ext cx="5029200" cy="400110"/>
          </a:xfrm>
        </p:spPr>
        <p:txBody>
          <a:bodyPr/>
          <a:lstStyle>
            <a:lvl1pPr marL="0" indent="0" algn="l">
              <a:buNone/>
              <a:defRPr sz="2600">
                <a:solidFill>
                  <a:schemeClr val="tx1"/>
                </a:solidFill>
              </a:defRPr>
            </a:lvl1pPr>
            <a:lvl2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DE387CBD-9A0B-4DD3-81F6-06A7D42983BA}" type="datetime1">
              <a:rPr lang="en-US" altLang="zh-CN"/>
            </a:fld>
            <a:endParaRPr lang="en-US" altLang="zh-CN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68575" y="9944100"/>
            <a:ext cx="2416175" cy="1108075"/>
          </a:xfrm>
        </p:spPr>
        <p:txBody>
          <a:bodyPr vert="horz" numCol="1" anchor="t" anchorCtr="0" compatLnSpc="1"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altLang="zh-CN"/>
              <a:t>© 1992-2010 by Pearson Education, Inc. All Rights Reserved.</a:t>
            </a:r>
            <a:endParaRPr lang="en-US" altLang="zh-CN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numCol="1" anchor="t" anchorCtr="0" compatLnSpc="1"/>
          <a:lstStyle>
            <a:lvl1pPr fontAlgn="base">
              <a:spcBef>
                <a:spcPct val="0"/>
              </a:spcBef>
              <a:spcAft>
                <a:spcPct val="0"/>
              </a:spcAft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A751E220-9B3A-4D25-B991-ED97A063AAE3}" type="slidenum">
              <a:rPr lang="en-US" altLang="zh-CN"/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Holder 2"/>
          <p:cNvSpPr>
            <a:spLocks noGrp="1"/>
          </p:cNvSpPr>
          <p:nvPr>
            <p:ph type="title"/>
          </p:nvPr>
        </p:nvSpPr>
        <p:spPr bwMode="auto">
          <a:xfrm>
            <a:off x="377825" y="427038"/>
            <a:ext cx="6797675" cy="277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endParaRPr lang="zh-CN" altLang="zh-CN" smtClean="0"/>
          </a:p>
        </p:txBody>
      </p:sp>
      <p:sp>
        <p:nvSpPr>
          <p:cNvPr id="1027" name="Holder 3"/>
          <p:cNvSpPr>
            <a:spLocks noGrp="1"/>
          </p:cNvSpPr>
          <p:nvPr>
            <p:ph type="body" idx="1"/>
          </p:nvPr>
        </p:nvSpPr>
        <p:spPr bwMode="auto">
          <a:xfrm>
            <a:off x="377825" y="2459038"/>
            <a:ext cx="6797675" cy="27781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0" tIns="0" rIns="0" bIns="0" numCol="1" anchor="t" anchorCtr="0" compatLnSpc="1">
            <a:spAutoFit/>
          </a:bodyPr>
          <a:lstStyle/>
          <a:p>
            <a:pPr lvl="0"/>
            <a:endParaRPr lang="zh-CN" altLang="zh-CN" smtClean="0"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68575" y="9944100"/>
            <a:ext cx="2416175" cy="2778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ker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7825" y="9944100"/>
            <a:ext cx="1736725" cy="277813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spAutoFit/>
          </a:bodyPr>
          <a:lstStyle>
            <a:lvl1pPr>
              <a:defRPr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25CB38D8-D254-4375-A684-5A165EBDEE36}" type="datetimeFigureOut">
              <a:rPr lang="en-US" altLang="zh-CN"/>
            </a:fld>
            <a:endParaRPr lang="en-US" altLang="zh-CN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438775" y="9944100"/>
            <a:ext cx="1736725" cy="2778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 fontAlgn="auto">
              <a:spcBef>
                <a:spcPts val="0"/>
              </a:spcBef>
              <a:spcAft>
                <a:spcPts val="0"/>
              </a:spcAft>
              <a:defRPr kern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6894996-B93E-4AF8-828D-A3D3A0153D1C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宋体" panose="02010600030101010101" pitchFamily="2" charset="-122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  <a:ea typeface="宋体" panose="02010600030101010101" pitchFamily="2" charset="-122"/>
          <a:cs typeface="宋体" panose="02010600030101010101" pitchFamily="2" charset="-122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1pPr>
      <a:lvl2pPr marL="45593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2pPr>
      <a:lvl3pPr marL="91313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3pPr>
      <a:lvl4pPr marL="137033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4pPr>
      <a:lvl5pPr marL="182753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宋体" panose="02010600030101010101" pitchFamily="2" charset="-122"/>
        </a:defRPr>
      </a:lvl5pPr>
      <a:lvl6pPr marL="2285365">
        <a:defRPr>
          <a:latin typeface="+mn-lt"/>
          <a:ea typeface="+mn-ea"/>
          <a:cs typeface="+mn-cs"/>
        </a:defRPr>
      </a:lvl6pPr>
      <a:lvl7pPr marL="2741930">
        <a:defRPr>
          <a:latin typeface="+mn-lt"/>
          <a:ea typeface="+mn-ea"/>
          <a:cs typeface="+mn-cs"/>
        </a:defRPr>
      </a:lvl7pPr>
      <a:lvl8pPr marL="3199130">
        <a:defRPr>
          <a:latin typeface="+mn-lt"/>
          <a:ea typeface="+mn-ea"/>
          <a:cs typeface="+mn-cs"/>
        </a:defRPr>
      </a:lvl8pPr>
      <a:lvl9pPr marL="36563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3765">
        <a:defRPr>
          <a:latin typeface="+mn-lt"/>
          <a:ea typeface="+mn-ea"/>
          <a:cs typeface="+mn-cs"/>
        </a:defRPr>
      </a:lvl3pPr>
      <a:lvl4pPr marL="1370965">
        <a:defRPr>
          <a:latin typeface="+mn-lt"/>
          <a:ea typeface="+mn-ea"/>
          <a:cs typeface="+mn-cs"/>
        </a:defRPr>
      </a:lvl4pPr>
      <a:lvl5pPr marL="1828165">
        <a:defRPr>
          <a:latin typeface="+mn-lt"/>
          <a:ea typeface="+mn-ea"/>
          <a:cs typeface="+mn-cs"/>
        </a:defRPr>
      </a:lvl5pPr>
      <a:lvl6pPr marL="2285365">
        <a:defRPr>
          <a:latin typeface="+mn-lt"/>
          <a:ea typeface="+mn-ea"/>
          <a:cs typeface="+mn-cs"/>
        </a:defRPr>
      </a:lvl6pPr>
      <a:lvl7pPr marL="2741930">
        <a:defRPr>
          <a:latin typeface="+mn-lt"/>
          <a:ea typeface="+mn-ea"/>
          <a:cs typeface="+mn-cs"/>
        </a:defRPr>
      </a:lvl7pPr>
      <a:lvl8pPr marL="3199130">
        <a:defRPr>
          <a:latin typeface="+mn-lt"/>
          <a:ea typeface="+mn-ea"/>
          <a:cs typeface="+mn-cs"/>
        </a:defRPr>
      </a:lvl8pPr>
      <a:lvl9pPr marL="36563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idx="4294967295"/>
          </p:nvPr>
        </p:nvSpPr>
        <p:spPr>
          <a:xfrm>
            <a:off x="565150" y="5757863"/>
            <a:ext cx="8424863" cy="1338262"/>
          </a:xfrm>
        </p:spPr>
        <p:txBody>
          <a:bodyPr>
            <a:normAutofit/>
          </a:bodyPr>
          <a:lstStyle/>
          <a:p>
            <a:pPr algn="r" eaLnBrk="1" fontAlgn="auto" hangingPunct="1">
              <a:spcBef>
                <a:spcPts val="670"/>
              </a:spcBef>
              <a:spcAft>
                <a:spcPts val="0"/>
              </a:spcAft>
              <a:defRPr/>
            </a:pPr>
            <a:br>
              <a:rPr lang="en-US" altLang="zh-CN" sz="3600" dirty="0" smtClean="0">
                <a:solidFill>
                  <a:sysClr val="windowText" lastClr="000000"/>
                </a:solidFill>
                <a:cs typeface="+mj-cs"/>
              </a:rPr>
            </a:br>
            <a:r>
              <a:rPr lang="en-US" altLang="zh-CN" sz="4800" b="1" kern="1200" dirty="0" smtClean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cs typeface="+mj-cs"/>
              </a:rPr>
              <a:t>Software Engineering</a:t>
            </a:r>
            <a:endParaRPr lang="zh-CN" altLang="zh-CN" sz="4800" b="1" kern="1200" dirty="0" smtClean="0"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cs typeface="+mj-cs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4294967295"/>
          </p:nvPr>
        </p:nvSpPr>
        <p:spPr>
          <a:xfrm>
            <a:off x="492696" y="2518048"/>
            <a:ext cx="8640762" cy="3000375"/>
          </a:xfrm>
        </p:spPr>
        <p:txBody>
          <a:bodyPr/>
          <a:lstStyle/>
          <a:p>
            <a:pPr algn="r" eaLnBrk="1" hangingPunct="1">
              <a:spcBef>
                <a:spcPct val="0"/>
              </a:spcBef>
            </a:pPr>
            <a:r>
              <a:rPr lang="en-US" altLang="zh-CN" sz="3100" dirty="0" smtClean="0">
                <a:solidFill>
                  <a:srgbClr val="000000"/>
                </a:solidFill>
                <a:ea typeface="黑体" panose="02010609060101010101" pitchFamily="49" charset="-122"/>
              </a:rPr>
              <a:t>Dr. </a:t>
            </a:r>
            <a:r>
              <a:rPr lang="zh-CN" altLang="en-US" sz="3100" dirty="0" smtClean="0">
                <a:solidFill>
                  <a:srgbClr val="000000"/>
                </a:solidFill>
                <a:ea typeface="黑体" panose="02010609060101010101" pitchFamily="49" charset="-122"/>
              </a:rPr>
              <a:t>何明昕</a:t>
            </a:r>
            <a:r>
              <a:rPr lang="en-US" altLang="zh-CN" sz="3100" dirty="0" smtClean="0">
                <a:solidFill>
                  <a:srgbClr val="000000"/>
                </a:solidFill>
                <a:ea typeface="黑体" panose="02010609060101010101" pitchFamily="49" charset="-122"/>
              </a:rPr>
              <a:t>,</a:t>
            </a:r>
            <a:r>
              <a:rPr lang="zh-CN" altLang="zh-CN" sz="3100" dirty="0" smtClean="0">
                <a:solidFill>
                  <a:srgbClr val="000000"/>
                </a:solidFill>
                <a:ea typeface="黑体" panose="02010609060101010101" pitchFamily="49" charset="-122"/>
              </a:rPr>
              <a:t>  He Mingxin, Max</a:t>
            </a:r>
            <a:endParaRPr lang="zh-CN" altLang="zh-CN" sz="3100" dirty="0" smtClean="0">
              <a:solidFill>
                <a:srgbClr val="000000"/>
              </a:solidFill>
              <a:ea typeface="黑体" panose="02010609060101010101" pitchFamily="49" charset="-122"/>
            </a:endParaRPr>
          </a:p>
          <a:p>
            <a:pPr algn="r" eaLnBrk="1" hangingPunct="1">
              <a:spcBef>
                <a:spcPts val="2000"/>
              </a:spcBef>
            </a:pPr>
            <a:r>
              <a:rPr lang="en-US" altLang="zh-CN" sz="3100" dirty="0" smtClean="0">
                <a:solidFill>
                  <a:srgbClr val="002060"/>
                </a:solidFill>
                <a:ea typeface="黑体" panose="02010609060101010101" pitchFamily="49" charset="-122"/>
              </a:rPr>
              <a:t>c.max</a:t>
            </a:r>
            <a:r>
              <a:rPr lang="zh-CN" altLang="zh-CN" sz="3100" dirty="0" smtClean="0">
                <a:solidFill>
                  <a:srgbClr val="002060"/>
                </a:solidFill>
                <a:ea typeface="黑体" panose="02010609060101010101" pitchFamily="49" charset="-122"/>
              </a:rPr>
              <a:t> @ yeah.net</a:t>
            </a:r>
            <a:endParaRPr lang="zh-CN" altLang="zh-CN" sz="3100" dirty="0" smtClean="0">
              <a:solidFill>
                <a:srgbClr val="002060"/>
              </a:solidFill>
              <a:ea typeface="黑体" panose="02010609060101010101" pitchFamily="49" charset="-122"/>
            </a:endParaRPr>
          </a:p>
          <a:p>
            <a:pPr algn="r" eaLnBrk="1" hangingPunct="1">
              <a:spcBef>
                <a:spcPct val="0"/>
              </a:spcBef>
            </a:pPr>
            <a:r>
              <a:rPr lang="en-US" altLang="zh-CN" sz="2700" dirty="0" smtClean="0">
                <a:solidFill>
                  <a:srgbClr val="002060"/>
                </a:solidFill>
                <a:ea typeface="黑体" panose="02010609060101010101" pitchFamily="49" charset="-122"/>
              </a:rPr>
              <a:t>Email Subject</a:t>
            </a:r>
            <a:r>
              <a:rPr lang="zh-CN" altLang="en-US" sz="2700" dirty="0" smtClean="0">
                <a:solidFill>
                  <a:srgbClr val="002060"/>
                </a:solidFill>
                <a:ea typeface="黑体" panose="02010609060101010101" pitchFamily="49" charset="-122"/>
              </a:rPr>
              <a:t>：</a:t>
            </a:r>
            <a:r>
              <a:rPr lang="en-US" altLang="zh-CN" sz="2700" dirty="0" smtClean="0">
                <a:solidFill>
                  <a:srgbClr val="002060"/>
                </a:solidFill>
                <a:ea typeface="黑体" panose="02010609060101010101" pitchFamily="49" charset="-122"/>
              </a:rPr>
              <a:t>SE-</a:t>
            </a:r>
            <a:r>
              <a:rPr lang="en-US" altLang="zh-CN" sz="2700" i="1" dirty="0" err="1" smtClean="0">
                <a:solidFill>
                  <a:srgbClr val="C00000"/>
                </a:solidFill>
                <a:ea typeface="黑体" panose="02010609060101010101" pitchFamily="49" charset="-122"/>
              </a:rPr>
              <a:t>yourID</a:t>
            </a:r>
            <a:r>
              <a:rPr lang="en-US" altLang="zh-CN" sz="2700" dirty="0" smtClean="0">
                <a:solidFill>
                  <a:srgbClr val="7030A0"/>
                </a:solidFill>
                <a:ea typeface="黑体" panose="02010609060101010101" pitchFamily="49" charset="-122"/>
              </a:rPr>
              <a:t>-</a:t>
            </a:r>
            <a:r>
              <a:rPr lang="en-US" altLang="zh-CN" sz="2700" i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Name</a:t>
            </a:r>
            <a:r>
              <a:rPr lang="en-US" altLang="zh-CN" sz="2700" dirty="0" smtClean="0">
                <a:solidFill>
                  <a:srgbClr val="7030A0"/>
                </a:solidFill>
                <a:ea typeface="黑体" panose="02010609060101010101" pitchFamily="49" charset="-122"/>
              </a:rPr>
              <a:t>: </a:t>
            </a:r>
            <a:r>
              <a:rPr lang="en-US" altLang="zh-CN" sz="2700" i="1" dirty="0" smtClean="0">
                <a:solidFill>
                  <a:srgbClr val="7030A0"/>
                </a:solidFill>
                <a:ea typeface="黑体" panose="02010609060101010101" pitchFamily="49" charset="-122"/>
              </a:rPr>
              <a:t>TOPIC</a:t>
            </a:r>
            <a:endParaRPr lang="zh-CN" altLang="zh-CN" sz="2700" i="1" dirty="0" smtClean="0">
              <a:solidFill>
                <a:srgbClr val="7030A0"/>
              </a:solidFill>
              <a:ea typeface="黑体" panose="02010609060101010101" pitchFamily="49" charset="-122"/>
            </a:endParaRPr>
          </a:p>
          <a:p>
            <a:pPr algn="r" eaLnBrk="1" hangingPunct="1">
              <a:spcBef>
                <a:spcPts val="2000"/>
              </a:spcBef>
            </a:pPr>
            <a:r>
              <a:rPr lang="en-US" altLang="zh-CN" sz="2800" dirty="0" smtClean="0">
                <a:solidFill>
                  <a:srgbClr val="3F3C84"/>
                </a:solidFill>
                <a:ea typeface="黑体" panose="02010609060101010101" pitchFamily="49" charset="-122"/>
              </a:rPr>
              <a:t>Download  </a:t>
            </a:r>
            <a:r>
              <a:rPr lang="en-US" altLang="zh-CN" sz="2800" dirty="0" err="1" smtClean="0">
                <a:solidFill>
                  <a:srgbClr val="00B0F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c.program</a:t>
            </a:r>
            <a:r>
              <a:rPr lang="en-US" altLang="zh-CN" sz="2800" dirty="0" smtClean="0">
                <a:solidFill>
                  <a:srgbClr val="00B0F0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 @ yeah.net</a:t>
            </a:r>
            <a:endParaRPr lang="en-US" altLang="zh-CN" sz="2800" dirty="0" smtClean="0">
              <a:solidFill>
                <a:srgbClr val="00B0F0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  <a:p>
            <a:pPr algn="r" eaLnBrk="1" hangingPunct="1">
              <a:spcBef>
                <a:spcPts val="2000"/>
              </a:spcBef>
            </a:pPr>
            <a:r>
              <a:rPr lang="en-US" altLang="zh-CN" sz="2800" dirty="0" smtClean="0">
                <a:solidFill>
                  <a:srgbClr val="3F3C84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/</a:t>
            </a:r>
            <a:r>
              <a:rPr lang="zh-CN" altLang="en-US" sz="2800" dirty="0" smtClean="0">
                <a:solidFill>
                  <a:srgbClr val="3F3C84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文件中心</a:t>
            </a:r>
            <a:r>
              <a:rPr lang="en-US" altLang="zh-CN" sz="2800" dirty="0" smtClean="0">
                <a:solidFill>
                  <a:srgbClr val="3F3C84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/</a:t>
            </a:r>
            <a:r>
              <a:rPr lang="zh-CN" altLang="en-US" sz="2800" dirty="0" smtClean="0">
                <a:solidFill>
                  <a:srgbClr val="3F3C84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网盘</a:t>
            </a:r>
            <a:r>
              <a:rPr lang="en-US" altLang="zh-CN" sz="2800" dirty="0" smtClean="0">
                <a:solidFill>
                  <a:srgbClr val="3F3C84"/>
                </a:solidFill>
                <a:latin typeface="Consolas" panose="020B0609020204030204" pitchFamily="49" charset="0"/>
                <a:ea typeface="黑体" panose="02010609060101010101" pitchFamily="49" charset="-122"/>
              </a:rPr>
              <a:t>/SoftwareEnginerring26S</a:t>
            </a:r>
            <a:endParaRPr lang="en-US" altLang="zh-CN" sz="2800" dirty="0" smtClean="0">
              <a:solidFill>
                <a:srgbClr val="3F3C84"/>
              </a:solidFill>
              <a:latin typeface="Consolas" panose="020B0609020204030204" pitchFamily="49" charset="0"/>
              <a:ea typeface="黑体" panose="02010609060101010101" pitchFamily="49" charset="-122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>
          <a:xfrm>
            <a:off x="0" y="259080"/>
            <a:ext cx="10058400" cy="2114952"/>
          </a:xfrm>
          <a:prstGeom prst="rect">
            <a:avLst/>
          </a:prstGeom>
        </p:spPr>
        <p:txBody>
          <a:bodyPr lIns="101870" tIns="50935" rIns="101870" bIns="50935" anchor="ctr"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4800" b="1" dirty="0" err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alibri" panose="020F0502020204030204" pitchFamily="34" charset="0"/>
              </a:rPr>
              <a:t>WarmUp</a:t>
            </a:r>
            <a:r>
              <a:rPr lang="en-US" altLang="zh-CN" sz="4800" b="1" dirty="0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Calibri" panose="020F0502020204030204" pitchFamily="34" charset="0"/>
              </a:rPr>
              <a:t> Programming Exercise</a:t>
            </a:r>
            <a:endParaRPr lang="zh-CN" altLang="zh-CN" sz="4800" b="1" dirty="0">
              <a:solidFill>
                <a:schemeClr val="tx2"/>
              </a:solidFill>
              <a:effectLst>
                <a:outerShdw blurRad="31750" dist="25400" dir="5400000" algn="tl" rotWithShape="0">
                  <a:srgbClr val="000000">
                    <a:alpha val="25000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636712" y="357808"/>
            <a:ext cx="8675687" cy="676910"/>
          </a:xfrm>
        </p:spPr>
        <p:txBody>
          <a:bodyPr/>
          <a:lstStyle/>
          <a:p>
            <a:pPr eaLnBrk="1" hangingPunct="1"/>
            <a:r>
              <a:rPr lang="en-US" altLang="zh-CN" sz="44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Exercise 04  (</a:t>
            </a:r>
            <a:r>
              <a:rPr lang="en-US" altLang="zh-CN" sz="4400" b="1" dirty="0" smtClean="0">
                <a:solidFill>
                  <a:srgbClr val="0070C0"/>
                </a:solidFill>
                <a:cs typeface="Arial" panose="020B0604020202020204" pitchFamily="34" charset="0"/>
              </a:rPr>
              <a:t>April 1)</a:t>
            </a:r>
            <a:endParaRPr lang="th-TH" altLang="zh-CN" sz="4400" b="1" dirty="0" smtClean="0">
              <a:solidFill>
                <a:srgbClr val="0070C0"/>
              </a:solidFill>
              <a:cs typeface="Angsana New" panose="02020603050405020304" pitchFamily="18" charset="-34"/>
            </a:endParaRP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924744" y="1437928"/>
            <a:ext cx="8675687" cy="1446550"/>
          </a:xfrm>
        </p:spPr>
        <p:txBody>
          <a:bodyPr/>
          <a:lstStyle/>
          <a:p>
            <a:pPr eaLnBrk="1" hangingPunct="1">
              <a:spcBef>
                <a:spcPts val="1200"/>
              </a:spcBef>
            </a:pPr>
            <a:r>
              <a:rPr lang="en-US" altLang="en-US" sz="2400" dirty="0" smtClean="0">
                <a:solidFill>
                  <a:srgbClr val="00206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1) Read 2.3, 2.4 of </a:t>
            </a:r>
            <a:r>
              <a:rPr lang="en-US" altLang="en-US" sz="2400" dirty="0" err="1" smtClean="0">
                <a:solidFill>
                  <a:srgbClr val="00206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TextBook</a:t>
            </a:r>
            <a:r>
              <a:rPr lang="en-US" altLang="en-US" sz="2400" dirty="0" smtClean="0">
                <a:solidFill>
                  <a:srgbClr val="00206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. (in 1-2 weeks)</a:t>
            </a:r>
            <a:endParaRPr lang="en-US" altLang="en-US" sz="2400" dirty="0" smtClean="0">
              <a:solidFill>
                <a:srgbClr val="00206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</a:pPr>
            <a:r>
              <a:rPr lang="en-US" altLang="en-US" sz="2400" dirty="0" smtClean="0">
                <a:solidFill>
                  <a:srgbClr val="00206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2) Read Appendix G (p449-476) of </a:t>
            </a:r>
            <a:r>
              <a:rPr lang="en-US" altLang="en-US" sz="2400" dirty="0" err="1" smtClean="0">
                <a:solidFill>
                  <a:srgbClr val="00206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TextBook</a:t>
            </a:r>
            <a:r>
              <a:rPr lang="en-US" altLang="en-US" sz="2400" dirty="0" smtClean="0">
                <a:solidFill>
                  <a:srgbClr val="002060"/>
                </a:solidFill>
                <a:ea typeface="宋体" panose="02010600030101010101" pitchFamily="2" charset="-122"/>
                <a:cs typeface="Arial" panose="020B0604020202020204" pitchFamily="34" charset="0"/>
              </a:rPr>
              <a:t> (in 3-4 weeks)</a:t>
            </a:r>
            <a:endParaRPr lang="en-US" altLang="en-US" sz="2400" dirty="0" smtClean="0">
              <a:solidFill>
                <a:srgbClr val="002060"/>
              </a:solidFill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en-US" altLang="zh-CN" dirty="0" smtClean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</a:pPr>
            <a:endParaRPr lang="th-TH" altLang="zh-CN" dirty="0" smtClean="0">
              <a:solidFill>
                <a:srgbClr val="000000"/>
              </a:solidFill>
              <a:cs typeface="Cordia New" panose="020B0304020202020204" pitchFamily="34" charset="-34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924744" y="6622504"/>
            <a:ext cx="62930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Bef>
                <a:spcPts val="1200"/>
              </a:spcBef>
            </a:pPr>
            <a:r>
              <a:rPr lang="en-US" altLang="en-US" sz="2800" dirty="0" smtClean="0">
                <a:solidFill>
                  <a:srgbClr val="00B050"/>
                </a:solidFill>
                <a:latin typeface="+mn-lt"/>
                <a:cs typeface="Arial" panose="020B0604020202020204" pitchFamily="34" charset="0"/>
              </a:rPr>
              <a:t>( Continue to write work-log as before </a:t>
            </a:r>
            <a:r>
              <a:rPr lang="en-US" altLang="en-US" sz="2800" dirty="0" smtClean="0">
                <a:solidFill>
                  <a:srgbClr val="00B050"/>
                </a:solidFill>
                <a:latin typeface="+mn-lt"/>
                <a:cs typeface="Arial" panose="020B0604020202020204" pitchFamily="34" charset="0"/>
                <a:sym typeface="Wingdings" panose="05000000000000000000" pitchFamily="2" charset="2"/>
              </a:rPr>
              <a:t> )</a:t>
            </a:r>
            <a:endParaRPr lang="en-US" altLang="en-US" sz="2800" dirty="0" smtClean="0">
              <a:solidFill>
                <a:srgbClr val="00B050"/>
              </a:solidFill>
              <a:latin typeface="+mn-lt"/>
              <a:cs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105" y="2806065"/>
            <a:ext cx="8599170" cy="3428365"/>
          </a:xfrm>
          <a:prstGeom prst="rect">
            <a:avLst/>
          </a:prstGeom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96950" y="357188"/>
            <a:ext cx="8086725" cy="6505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500188" y="214313"/>
            <a:ext cx="7200900" cy="820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68388" y="1293813"/>
            <a:ext cx="7953375" cy="159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84513" y="2949575"/>
            <a:ext cx="5164137" cy="398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0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0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1413" y="573088"/>
            <a:ext cx="7753350" cy="624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141413" y="430213"/>
            <a:ext cx="7772400" cy="6105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1357313" y="285750"/>
            <a:ext cx="73533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4288" y="5181600"/>
            <a:ext cx="7477125" cy="1485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0" y="346075"/>
            <a:ext cx="10058400" cy="6908800"/>
          </a:xfrm>
          <a:prstGeom prst="rect">
            <a:avLst/>
          </a:prstGeom>
          <a:noFill/>
          <a:ln w="19050">
            <a:solidFill>
              <a:schemeClr val="accent1"/>
            </a:solidFill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图片 1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852488" y="790575"/>
            <a:ext cx="8497887" cy="5688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1"/>
          <p:cNvSpPr>
            <a:spLocks noChangeArrowheads="1"/>
          </p:cNvSpPr>
          <p:nvPr/>
        </p:nvSpPr>
        <p:spPr bwMode="auto">
          <a:xfrm>
            <a:off x="334963" y="593725"/>
            <a:ext cx="9472612" cy="636428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101882" tIns="50941" rIns="101882" bIns="50941" anchor="ctr">
            <a:spAutoFit/>
          </a:bodyPr>
          <a:lstStyle/>
          <a:p>
            <a:pPr indent="297180" defTabSz="1017905">
              <a:lnSpc>
                <a:spcPct val="110000"/>
              </a:lnSpc>
              <a:spcBef>
                <a:spcPts val="675"/>
              </a:spcBef>
            </a:pPr>
            <a:r>
              <a:rPr lang="en-US" altLang="zh-CN" sz="4800">
                <a:solidFill>
                  <a:srgbClr val="0070C0"/>
                </a:solidFill>
                <a:latin typeface="Calibri" panose="020F0502020204030204" pitchFamily="34" charset="0"/>
                <a:ea typeface="Minion-Black"/>
                <a:cs typeface="Minion-Black"/>
              </a:rPr>
              <a:t>Tips:  </a:t>
            </a:r>
            <a:endParaRPr lang="en-US" altLang="zh-CN" sz="4800">
              <a:solidFill>
                <a:srgbClr val="0070C0"/>
              </a:solidFill>
              <a:latin typeface="Calibri" panose="020F0502020204030204" pitchFamily="34" charset="0"/>
              <a:ea typeface="Minion-Black"/>
              <a:cs typeface="Minion-Black"/>
            </a:endParaRPr>
          </a:p>
          <a:p>
            <a:pPr indent="297180" defTabSz="1017905">
              <a:lnSpc>
                <a:spcPct val="110000"/>
              </a:lnSpc>
              <a:spcBef>
                <a:spcPts val="675"/>
              </a:spcBef>
            </a:pPr>
            <a:r>
              <a:rPr lang="en-US" altLang="zh-CN" sz="2200">
                <a:solidFill>
                  <a:srgbClr val="0070C0"/>
                </a:solidFill>
                <a:latin typeface="Calibri" panose="020F0502020204030204" pitchFamily="34" charset="0"/>
                <a:ea typeface="Minion-Black"/>
                <a:cs typeface="Minion-Black"/>
              </a:rPr>
              <a:t>If   </a:t>
            </a:r>
            <a:r>
              <a:rPr lang="en-US" altLang="zh-CN" sz="2200">
                <a:solidFill>
                  <a:srgbClr val="0070C0"/>
                </a:solidFill>
                <a:latin typeface="Consolas" panose="020B0609020204030204" pitchFamily="49" charset="0"/>
                <a:ea typeface="Minion-Black"/>
                <a:cs typeface="Minion-Black"/>
              </a:rPr>
              <a:t>int[][] a = int[N][N]</a:t>
            </a:r>
            <a:r>
              <a:rPr lang="en-US" altLang="zh-CN" sz="2200">
                <a:solidFill>
                  <a:srgbClr val="0070C0"/>
                </a:solidFill>
                <a:latin typeface="Calibri" panose="020F0502020204030204" pitchFamily="34" charset="0"/>
                <a:ea typeface="Minion-Black"/>
                <a:cs typeface="Minion-Black"/>
              </a:rPr>
              <a:t> with elements 0 or 1,</a:t>
            </a:r>
            <a:endParaRPr lang="en-US" altLang="zh-CN" sz="2200">
              <a:solidFill>
                <a:srgbClr val="0070C0"/>
              </a:solidFill>
              <a:latin typeface="Calibri" panose="020F0502020204030204" pitchFamily="34" charset="0"/>
              <a:ea typeface="Minion-Black"/>
              <a:cs typeface="Minion-Black"/>
            </a:endParaRPr>
          </a:p>
          <a:p>
            <a:pPr indent="297180" defTabSz="1017905">
              <a:lnSpc>
                <a:spcPct val="110000"/>
              </a:lnSpc>
              <a:spcBef>
                <a:spcPts val="675"/>
              </a:spcBef>
            </a:pPr>
            <a:r>
              <a:rPr lang="en-US" altLang="zh-CN" sz="2200">
                <a:solidFill>
                  <a:srgbClr val="0070C0"/>
                </a:solidFill>
                <a:latin typeface="Calibri" panose="020F0502020204030204" pitchFamily="34" charset="0"/>
                <a:ea typeface="Minion-Black"/>
                <a:cs typeface="Minion-Black"/>
              </a:rPr>
              <a:t>let </a:t>
            </a:r>
            <a:r>
              <a:rPr lang="en-US" altLang="zh-CN" sz="2200">
                <a:solidFill>
                  <a:srgbClr val="0070C0"/>
                </a:solidFill>
                <a:latin typeface="Consolas" panose="020B0609020204030204" pitchFamily="49" charset="0"/>
                <a:ea typeface="Minion-Black"/>
                <a:cs typeface="Minion-Black"/>
              </a:rPr>
              <a:t>int[][] s = int[N][N], s[r][c] </a:t>
            </a:r>
            <a:r>
              <a:rPr lang="en-US" altLang="zh-CN" sz="2200">
                <a:solidFill>
                  <a:srgbClr val="0070C0"/>
                </a:solidFill>
                <a:latin typeface="Calibri" panose="020F0502020204030204" pitchFamily="34" charset="0"/>
                <a:ea typeface="Minion-Black"/>
                <a:cs typeface="Minion-Black"/>
              </a:rPr>
              <a:t>denotes the size of the maximum sub-matrix start from </a:t>
            </a:r>
            <a:r>
              <a:rPr lang="en-US" altLang="zh-CN" sz="2200">
                <a:solidFill>
                  <a:srgbClr val="0070C0"/>
                </a:solidFill>
                <a:latin typeface="Consolas" panose="020B0609020204030204" pitchFamily="49" charset="0"/>
                <a:ea typeface="Minion-Black"/>
                <a:cs typeface="Minion-Black"/>
              </a:rPr>
              <a:t>a[r][c] </a:t>
            </a:r>
            <a:r>
              <a:rPr lang="en-US" altLang="zh-CN" sz="2200">
                <a:solidFill>
                  <a:srgbClr val="0070C0"/>
                </a:solidFill>
                <a:latin typeface="Calibri" panose="020F0502020204030204" pitchFamily="34" charset="0"/>
                <a:ea typeface="Minion-Black"/>
                <a:cs typeface="Minion-Black"/>
              </a:rPr>
              <a:t>towards right-down direction.</a:t>
            </a:r>
            <a:endParaRPr lang="en-US" altLang="zh-CN" sz="2200">
              <a:solidFill>
                <a:srgbClr val="0070C0"/>
              </a:solidFill>
              <a:latin typeface="Calibri" panose="020F0502020204030204" pitchFamily="34" charset="0"/>
              <a:ea typeface="Minion-Black"/>
              <a:cs typeface="Minion-Black"/>
            </a:endParaRPr>
          </a:p>
          <a:p>
            <a:pPr indent="297180" defTabSz="1017905">
              <a:lnSpc>
                <a:spcPct val="110000"/>
              </a:lnSpc>
              <a:spcBef>
                <a:spcPts val="675"/>
              </a:spcBef>
            </a:pPr>
            <a:r>
              <a:rPr lang="en-US" altLang="zh-CN" sz="2200">
                <a:solidFill>
                  <a:srgbClr val="0070C0"/>
                </a:solidFill>
                <a:latin typeface="Calibri" panose="020F0502020204030204" pitchFamily="34" charset="0"/>
                <a:ea typeface="Minion-Black"/>
                <a:cs typeface="Minion-Black"/>
              </a:rPr>
              <a:t>Then we could compute  </a:t>
            </a:r>
            <a:r>
              <a:rPr lang="en-US" altLang="zh-CN" sz="2200">
                <a:solidFill>
                  <a:srgbClr val="0070C0"/>
                </a:solidFill>
                <a:latin typeface="Consolas" panose="020B0609020204030204" pitchFamily="49" charset="0"/>
                <a:ea typeface="Minion-Black"/>
                <a:cs typeface="Minion-Black"/>
              </a:rPr>
              <a:t>s[r][c] </a:t>
            </a:r>
            <a:r>
              <a:rPr lang="en-US" altLang="zh-CN" sz="2200">
                <a:solidFill>
                  <a:srgbClr val="0070C0"/>
                </a:solidFill>
                <a:latin typeface="Calibri" panose="020F0502020204030204" pitchFamily="34" charset="0"/>
                <a:ea typeface="Minion-Black"/>
                <a:cs typeface="Minion-Black"/>
              </a:rPr>
              <a:t>in the following way (using pseudo-code):</a:t>
            </a:r>
            <a:endParaRPr lang="en-US" altLang="zh-CN" sz="2200">
              <a:solidFill>
                <a:srgbClr val="0070C0"/>
              </a:solidFill>
              <a:latin typeface="Calibri" panose="020F0502020204030204" pitchFamily="34" charset="0"/>
              <a:ea typeface="Minion-Black"/>
              <a:cs typeface="Minion-Black"/>
            </a:endParaRPr>
          </a:p>
          <a:p>
            <a:pPr indent="297180" defTabSz="1017905">
              <a:lnSpc>
                <a:spcPct val="110000"/>
              </a:lnSpc>
            </a:pPr>
            <a:endParaRPr lang="en-US" altLang="zh-CN" sz="2200">
              <a:solidFill>
                <a:srgbClr val="0070C0"/>
              </a:solidFill>
              <a:latin typeface="Calibri" panose="020F0502020204030204" pitchFamily="34" charset="0"/>
              <a:ea typeface="Minion-Black"/>
              <a:cs typeface="Minion-Black"/>
            </a:endParaRPr>
          </a:p>
          <a:p>
            <a:pPr indent="297180" defTabSz="1017905">
              <a:lnSpc>
                <a:spcPct val="110000"/>
              </a:lnSpc>
            </a:pPr>
            <a:r>
              <a:rPr lang="en-US" altLang="zh-CN" sz="2200">
                <a:solidFill>
                  <a:srgbClr val="0070C0"/>
                </a:solidFill>
                <a:latin typeface="Consolas" panose="020B0609020204030204" pitchFamily="49" charset="0"/>
                <a:ea typeface="Minion-Black"/>
                <a:cs typeface="Minion-Black"/>
              </a:rPr>
              <a:t>s[N-1][N-1 .. 0] = a[N-1][N-1 .. 0]    // last row</a:t>
            </a:r>
            <a:endParaRPr lang="en-US" altLang="zh-CN" sz="2200">
              <a:solidFill>
                <a:srgbClr val="0070C0"/>
              </a:solidFill>
              <a:latin typeface="Consolas" panose="020B0609020204030204" pitchFamily="49" charset="0"/>
              <a:ea typeface="Minion-Black"/>
              <a:cs typeface="Minion-Black"/>
            </a:endParaRPr>
          </a:p>
          <a:p>
            <a:pPr indent="297180" defTabSz="1017905">
              <a:lnSpc>
                <a:spcPct val="110000"/>
              </a:lnSpc>
            </a:pPr>
            <a:r>
              <a:rPr lang="en-US" altLang="zh-CN" sz="2200">
                <a:solidFill>
                  <a:srgbClr val="0070C0"/>
                </a:solidFill>
                <a:latin typeface="Consolas" panose="020B0609020204030204" pitchFamily="49" charset="0"/>
                <a:ea typeface="Minion-Black"/>
                <a:cs typeface="Minion-Black"/>
              </a:rPr>
              <a:t>s[N-2 .. 0][N-1] = a[N-2 .. 0][N-1]    // last column</a:t>
            </a:r>
            <a:endParaRPr lang="en-US" altLang="zh-CN" sz="2200">
              <a:solidFill>
                <a:srgbClr val="0070C0"/>
              </a:solidFill>
              <a:latin typeface="Consolas" panose="020B0609020204030204" pitchFamily="49" charset="0"/>
              <a:ea typeface="Minion-Black"/>
              <a:cs typeface="Minion-Black"/>
            </a:endParaRPr>
          </a:p>
          <a:p>
            <a:pPr indent="297180" defTabSz="1017905">
              <a:lnSpc>
                <a:spcPct val="110000"/>
              </a:lnSpc>
            </a:pPr>
            <a:r>
              <a:rPr lang="en-US" altLang="zh-CN" sz="2200">
                <a:solidFill>
                  <a:srgbClr val="0070C0"/>
                </a:solidFill>
                <a:latin typeface="Consolas" panose="020B0609020204030204" pitchFamily="49" charset="0"/>
                <a:ea typeface="Minion-Black"/>
                <a:cs typeface="Minion-Black"/>
              </a:rPr>
              <a:t>  </a:t>
            </a:r>
            <a:endParaRPr lang="en-US" altLang="zh-CN" sz="2200">
              <a:solidFill>
                <a:srgbClr val="0070C0"/>
              </a:solidFill>
              <a:latin typeface="Consolas" panose="020B0609020204030204" pitchFamily="49" charset="0"/>
              <a:ea typeface="Minion-Black"/>
              <a:cs typeface="Minion-Black"/>
            </a:endParaRPr>
          </a:p>
          <a:p>
            <a:pPr indent="297180" defTabSz="1017905">
              <a:lnSpc>
                <a:spcPct val="110000"/>
              </a:lnSpc>
            </a:pPr>
            <a:r>
              <a:rPr lang="en-US" altLang="zh-CN" sz="2200">
                <a:solidFill>
                  <a:srgbClr val="0070C0"/>
                </a:solidFill>
                <a:latin typeface="Consolas" panose="020B0609020204030204" pitchFamily="49" charset="0"/>
                <a:ea typeface="Minion-Black"/>
                <a:cs typeface="Minion-Black"/>
              </a:rPr>
              <a:t>for (r from N-2 down to 0)   </a:t>
            </a:r>
            <a:endParaRPr lang="en-US" altLang="zh-CN" sz="2200">
              <a:solidFill>
                <a:srgbClr val="0070C0"/>
              </a:solidFill>
              <a:latin typeface="Consolas" panose="020B0609020204030204" pitchFamily="49" charset="0"/>
              <a:ea typeface="Minion-Black"/>
              <a:cs typeface="Minion-Black"/>
            </a:endParaRPr>
          </a:p>
          <a:p>
            <a:pPr indent="297180" defTabSz="1017905">
              <a:lnSpc>
                <a:spcPct val="110000"/>
              </a:lnSpc>
            </a:pPr>
            <a:r>
              <a:rPr lang="en-US" altLang="zh-CN" sz="2200">
                <a:solidFill>
                  <a:srgbClr val="0070C0"/>
                </a:solidFill>
                <a:latin typeface="Consolas" panose="020B0609020204030204" pitchFamily="49" charset="0"/>
                <a:ea typeface="Minion-Black"/>
                <a:cs typeface="Minion-Black"/>
              </a:rPr>
              <a:t>  for (c from N-2 down to 0)</a:t>
            </a:r>
            <a:endParaRPr lang="en-US" altLang="zh-CN" sz="2200">
              <a:solidFill>
                <a:srgbClr val="0070C0"/>
              </a:solidFill>
              <a:latin typeface="Consolas" panose="020B0609020204030204" pitchFamily="49" charset="0"/>
              <a:ea typeface="Minion-Black"/>
              <a:cs typeface="Minion-Black"/>
            </a:endParaRPr>
          </a:p>
          <a:p>
            <a:pPr indent="297180" defTabSz="1017905">
              <a:lnSpc>
                <a:spcPct val="110000"/>
              </a:lnSpc>
            </a:pPr>
            <a:r>
              <a:rPr lang="en-US" altLang="zh-CN" sz="2200">
                <a:solidFill>
                  <a:srgbClr val="0070C0"/>
                </a:solidFill>
                <a:latin typeface="Consolas" panose="020B0609020204030204" pitchFamily="49" charset="0"/>
                <a:ea typeface="Minion-Black"/>
                <a:cs typeface="Minion-Black"/>
              </a:rPr>
              <a:t>     </a:t>
            </a:r>
            <a:r>
              <a:rPr lang="en-US" altLang="zh-CN" sz="2200">
                <a:solidFill>
                  <a:srgbClr val="C00000"/>
                </a:solidFill>
                <a:latin typeface="Consolas" panose="020B0609020204030204" pitchFamily="49" charset="0"/>
                <a:ea typeface="Minion-Black"/>
                <a:cs typeface="Minion-Black"/>
              </a:rPr>
              <a:t>s[r][c] = (a[r][c] == 0) ? 0 :</a:t>
            </a:r>
            <a:endParaRPr lang="en-US" altLang="zh-CN" sz="2200">
              <a:solidFill>
                <a:srgbClr val="C00000"/>
              </a:solidFill>
              <a:latin typeface="Consolas" panose="020B0609020204030204" pitchFamily="49" charset="0"/>
              <a:ea typeface="Minion-Black"/>
              <a:cs typeface="Minion-Black"/>
            </a:endParaRPr>
          </a:p>
          <a:p>
            <a:pPr indent="297180" defTabSz="1017905">
              <a:lnSpc>
                <a:spcPct val="110000"/>
              </a:lnSpc>
            </a:pPr>
            <a:r>
              <a:rPr lang="en-US" altLang="zh-CN" sz="2200">
                <a:solidFill>
                  <a:srgbClr val="C00000"/>
                </a:solidFill>
                <a:latin typeface="Consolas" panose="020B0609020204030204" pitchFamily="49" charset="0"/>
                <a:ea typeface="Minion-Black"/>
                <a:cs typeface="Minion-Black"/>
              </a:rPr>
              <a:t>               1 + min(s[r][c+1], s[r+1][c], s[r+1][c+1])</a:t>
            </a:r>
            <a:endParaRPr lang="en-US" altLang="zh-CN" sz="2200">
              <a:solidFill>
                <a:srgbClr val="C00000"/>
              </a:solidFill>
              <a:latin typeface="Calibri" panose="020F0502020204030204" pitchFamily="34" charset="0"/>
              <a:ea typeface="Minion-Black"/>
              <a:cs typeface="Minion-Black"/>
            </a:endParaRPr>
          </a:p>
          <a:p>
            <a:pPr indent="297180" defTabSz="1017905">
              <a:lnSpc>
                <a:spcPct val="105000"/>
              </a:lnSpc>
            </a:pPr>
            <a:endParaRPr lang="en-US" altLang="zh-CN" sz="2200">
              <a:solidFill>
                <a:srgbClr val="0070C0"/>
              </a:solidFill>
              <a:latin typeface="Consolas" panose="020B0609020204030204" pitchFamily="49" charset="0"/>
              <a:ea typeface="Minion-Black"/>
              <a:cs typeface="Minion-Black"/>
            </a:endParaRPr>
          </a:p>
          <a:p>
            <a:pPr indent="297180" defTabSz="1017905">
              <a:lnSpc>
                <a:spcPct val="105000"/>
              </a:lnSpc>
            </a:pPr>
            <a:r>
              <a:rPr lang="en-US" altLang="zh-CN" sz="2200">
                <a:solidFill>
                  <a:srgbClr val="0070C0"/>
                </a:solidFill>
                <a:latin typeface="Consolas" panose="020B0609020204030204" pitchFamily="49" charset="0"/>
                <a:ea typeface="Minion-Black"/>
                <a:cs typeface="Minion-Black"/>
              </a:rPr>
              <a:t> </a:t>
            </a:r>
            <a:endParaRPr lang="en-US" altLang="zh-CN"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"/>
          <p:cNvSpPr>
            <a:spLocks noChangeArrowheads="1"/>
          </p:cNvSpPr>
          <p:nvPr/>
        </p:nvSpPr>
        <p:spPr bwMode="auto">
          <a:xfrm>
            <a:off x="204788" y="646113"/>
            <a:ext cx="9547225" cy="5842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 anchor="ctr">
            <a:spAutoFit/>
          </a:bodyPr>
          <a:lstStyle/>
          <a:p>
            <a:pPr indent="266700"/>
            <a:r>
              <a:rPr lang="en-US" altLang="zh-CN" sz="3200">
                <a:solidFill>
                  <a:srgbClr val="0070C0"/>
                </a:solidFill>
                <a:latin typeface="Calibri" panose="020F0502020204030204" pitchFamily="34" charset="0"/>
                <a:ea typeface="Minion-Black"/>
                <a:cs typeface="Minion-Black"/>
              </a:rPr>
              <a:t>The Output may be changed to the following example.</a:t>
            </a:r>
            <a:endParaRPr lang="en-US" altLang="zh-CN" sz="3200">
              <a:latin typeface="Calibri" panose="020F0502020204030204" pitchFamily="34" charset="0"/>
            </a:endParaRPr>
          </a:p>
        </p:txBody>
      </p:sp>
      <p:pic>
        <p:nvPicPr>
          <p:cNvPr id="15363" name="图片 2"/>
          <p:cNvPicPr>
            <a:picLocks noChangeAspect="1" noChangeArrowheads="1"/>
          </p:cNvPicPr>
          <p:nvPr/>
        </p:nvPicPr>
        <p:blipFill>
          <a:blip r:embed="rId1" cstate="print"/>
          <a:srcRect/>
          <a:stretch>
            <a:fillRect/>
          </a:stretch>
        </p:blipFill>
        <p:spPr bwMode="auto">
          <a:xfrm>
            <a:off x="996950" y="1798638"/>
            <a:ext cx="7704138" cy="4464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1725960"/>
            <a:ext cx="10058400" cy="2880321"/>
          </a:xfrm>
        </p:spPr>
        <p:txBody>
          <a:bodyPr>
            <a:normAutofit fontScale="90000"/>
          </a:bodyPr>
          <a:lstStyle/>
          <a:p>
            <a:pPr algn="ctr" eaLnBrk="1" hangingPunct="1">
              <a:spcBef>
                <a:spcPts val="600"/>
              </a:spcBef>
              <a:spcAft>
                <a:spcPts val="600"/>
              </a:spcAft>
              <a:defRPr/>
            </a:pPr>
            <a:br>
              <a:rPr lang="en-US" altLang="zh-CN" sz="4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altLang="zh-CN" sz="4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altLang="zh-CN" sz="4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altLang="zh-CN" sz="4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br>
              <a:rPr lang="en-US" altLang="zh-CN" sz="480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zh-CN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Reactive Systems</a:t>
            </a:r>
            <a:br>
              <a:rPr lang="en-US" altLang="zh-CN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zh-CN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Use Cases</a:t>
            </a:r>
            <a:br>
              <a:rPr lang="en-US" altLang="zh-CN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zh-CN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Domain Models</a:t>
            </a:r>
            <a:br>
              <a:rPr lang="en-US" altLang="zh-CN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altLang="zh-CN" sz="44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Sample Case Studies </a:t>
            </a:r>
            <a:r>
              <a:rPr lang="en-US" altLang="zh-CN" sz="3100" dirty="0" smtClean="0">
                <a:solidFill>
                  <a:schemeClr val="tx2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(self-learning in 3-4 weeks)</a:t>
            </a:r>
            <a:endParaRPr lang="en-US" altLang="zh-CN" sz="3100" dirty="0" smtClean="0">
              <a:solidFill>
                <a:schemeClr val="tx2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cs typeface="Arial" panose="020B0604020202020204" pitchFamily="34" charset="0"/>
            </a:endParaRPr>
          </a:p>
        </p:txBody>
      </p:sp>
      <p:sp>
        <p:nvSpPr>
          <p:cNvPr id="16387" name="Text Placeholder 6"/>
          <p:cNvSpPr>
            <a:spLocks noGrp="1"/>
          </p:cNvSpPr>
          <p:nvPr>
            <p:ph type="body" idx="1"/>
          </p:nvPr>
        </p:nvSpPr>
        <p:spPr>
          <a:xfrm>
            <a:off x="669925" y="517525"/>
            <a:ext cx="8675688" cy="736600"/>
          </a:xfrm>
        </p:spPr>
        <p:txBody>
          <a:bodyPr/>
          <a:lstStyle/>
          <a:p>
            <a:pPr algn="ctr" eaLnBrk="1" hangingPunct="1">
              <a:spcBef>
                <a:spcPct val="0"/>
              </a:spcBef>
            </a:pPr>
            <a:r>
              <a:rPr lang="en-US" altLang="zh-CN" sz="4500" smtClean="0">
                <a:solidFill>
                  <a:schemeClr val="accent1"/>
                </a:solidFill>
                <a:cs typeface="Arial" panose="020B0604020202020204" pitchFamily="34" charset="0"/>
              </a:rPr>
              <a:t>Next Up</a:t>
            </a:r>
            <a:endParaRPr lang="en-US" altLang="zh-CN" sz="4500" smtClean="0">
              <a:solidFill>
                <a:schemeClr val="accent1"/>
              </a:solidFill>
              <a:cs typeface="Arial" panose="020B0604020202020204" pitchFamily="34" charset="0"/>
            </a:endParaRPr>
          </a:p>
        </p:txBody>
      </p:sp>
      <p:cxnSp>
        <p:nvCxnSpPr>
          <p:cNvPr id="8" name="Straight Connector 7"/>
          <p:cNvCxnSpPr/>
          <p:nvPr/>
        </p:nvCxnSpPr>
        <p:spPr>
          <a:xfrm>
            <a:off x="669925" y="1554163"/>
            <a:ext cx="8672513" cy="0"/>
          </a:xfrm>
          <a:prstGeom prst="line">
            <a:avLst/>
          </a:prstGeom>
          <a:ln w="76200" cmpd="thickThin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692150" y="4970463"/>
            <a:ext cx="8672513" cy="0"/>
          </a:xfrm>
          <a:prstGeom prst="line">
            <a:avLst/>
          </a:prstGeom>
          <a:ln w="76200" cmpd="thinThick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AS_NET" val="4.0.30319.42000"/>
  <p:tag name="AS_OS" val="Microsoft Windows NT 6.1.7601 Service Pack 1"/>
  <p:tag name="AS_RELEASE_DATE" val="2017.08.21"/>
  <p:tag name="AS_TITLE" val="Aspose.Slides for .NET 2.0"/>
  <p:tag name="AS_VERSION" val="17.8"/>
  <p:tag name="commondata" val="eyJoZGlkIjoiZTI3MzEzOWFkYWIyMzJmZWY3NTJiMTllNTNhYmFjYzkifQ=="/>
</p:tagLst>
</file>

<file path=ppt/theme/theme1.xml><?xml version="1.0" encoding="utf-8"?>
<a:theme xmlns:a="http://schemas.openxmlformats.org/drawingml/2006/main" name="Theme Office">
  <a:themeElements>
    <a:clrScheme name="Standard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tandard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tandard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1009</Words>
  <Application>WPS 演示</Application>
  <PresentationFormat>自定义</PresentationFormat>
  <Paragraphs>40</Paragraphs>
  <Slides>12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6" baseType="lpstr">
      <vt:lpstr>Arial</vt:lpstr>
      <vt:lpstr>宋体</vt:lpstr>
      <vt:lpstr>Wingdings</vt:lpstr>
      <vt:lpstr>Calibri</vt:lpstr>
      <vt:lpstr>黑体</vt:lpstr>
      <vt:lpstr>Consolas</vt:lpstr>
      <vt:lpstr>Angsana New</vt:lpstr>
      <vt:lpstr>Microsoft Sans Serif</vt:lpstr>
      <vt:lpstr>Cordia New</vt:lpstr>
      <vt:lpstr>Minion-Black</vt:lpstr>
      <vt:lpstr>Segoe Print</vt:lpstr>
      <vt:lpstr>微软雅黑</vt:lpstr>
      <vt:lpstr>Arial Unicode MS</vt:lpstr>
      <vt:lpstr>Theme Office</vt:lpstr>
      <vt:lpstr> Software Engineering</vt:lpstr>
      <vt:lpstr>Exercise 04  (March 28)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     Reactive Systems Use Cases Domain Models Sample Case Studies (self-learning in 3-4 weeks)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PowerPoint</dc:title>
  <dc:creator>HeMa</dc:creator>
  <cp:lastModifiedBy>MX</cp:lastModifiedBy>
  <cp:revision>200</cp:revision>
  <dcterms:created xsi:type="dcterms:W3CDTF">2025-03-20T05:33:00Z</dcterms:created>
  <dcterms:modified xsi:type="dcterms:W3CDTF">2026-03-31T03:04:23Z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A2EAADBDEA0F4EEF93597A6FD25D1922_12</vt:lpwstr>
  </property>
  <property fmtid="{D5CDD505-2E9C-101B-9397-08002B2CF9AE}" pid="3" name="KSOProductBuildVer">
    <vt:lpwstr>2052-12.1.0.23542</vt:lpwstr>
  </property>
</Properties>
</file>