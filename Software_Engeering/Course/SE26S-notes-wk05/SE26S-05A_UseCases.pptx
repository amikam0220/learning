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584" r:id="rId3"/>
    <p:sldId id="550" r:id="rId5"/>
    <p:sldId id="551" r:id="rId6"/>
    <p:sldId id="552" r:id="rId7"/>
    <p:sldId id="561" r:id="rId8"/>
    <p:sldId id="284" r:id="rId9"/>
    <p:sldId id="574" r:id="rId10"/>
    <p:sldId id="576" r:id="rId11"/>
    <p:sldId id="577" r:id="rId12"/>
    <p:sldId id="530" r:id="rId13"/>
    <p:sldId id="401" r:id="rId14"/>
    <p:sldId id="568" r:id="rId15"/>
    <p:sldId id="569" r:id="rId16"/>
    <p:sldId id="553" r:id="rId17"/>
    <p:sldId id="554" r:id="rId18"/>
    <p:sldId id="555" r:id="rId19"/>
    <p:sldId id="556" r:id="rId20"/>
    <p:sldId id="557" r:id="rId21"/>
    <p:sldId id="558" r:id="rId22"/>
    <p:sldId id="559" r:id="rId23"/>
    <p:sldId id="571" r:id="rId24"/>
    <p:sldId id="572" r:id="rId25"/>
    <p:sldId id="573" r:id="rId26"/>
    <p:sldId id="383" r:id="rId27"/>
    <p:sldId id="384" r:id="rId28"/>
    <p:sldId id="563" r:id="rId29"/>
    <p:sldId id="565" r:id="rId30"/>
    <p:sldId id="566" r:id="rId31"/>
    <p:sldId id="585" r:id="rId32"/>
    <p:sldId id="586" r:id="rId33"/>
    <p:sldId id="587" r:id="rId34"/>
    <p:sldId id="588" r:id="rId35"/>
    <p:sldId id="589" r:id="rId36"/>
    <p:sldId id="590" r:id="rId37"/>
    <p:sldId id="591" r:id="rId38"/>
    <p:sldId id="592" r:id="rId39"/>
    <p:sldId id="567" r:id="rId40"/>
    <p:sldId id="570" r:id="rId41"/>
    <p:sldId id="578" r:id="rId42"/>
    <p:sldId id="579" r:id="rId43"/>
    <p:sldId id="580" r:id="rId44"/>
    <p:sldId id="581" r:id="rId45"/>
    <p:sldId id="583" r:id="rId46"/>
    <p:sldId id="582" r:id="rId47"/>
  </p:sldIdLst>
  <p:sldSz cx="9144000" cy="6858000" type="screen4x3"/>
  <p:notesSz cx="7010400" cy="92964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0000"/>
    <a:srgbClr val="F1FCAE"/>
    <a:srgbClr val="4D4D4D"/>
    <a:srgbClr val="777777"/>
    <a:srgbClr val="FF0000"/>
    <a:srgbClr val="B2B2B2"/>
    <a:srgbClr val="C0C0C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3"/>
  </p:normalViewPr>
  <p:slideViewPr>
    <p:cSldViewPr snapToGrid="0" showGuides="1">
      <p:cViewPr>
        <p:scale>
          <a:sx n="100" d="100"/>
          <a:sy n="100" d="100"/>
        </p:scale>
        <p:origin x="-1932" y="-2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7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2.xml"/><Relationship Id="rId49" Type="http://schemas.openxmlformats.org/officeDocument/2006/relationships/presProps" Target="presProps.xml"/><Relationship Id="rId48" Type="http://schemas.openxmlformats.org/officeDocument/2006/relationships/handoutMaster" Target="handoutMasters/handoutMaster1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defTabSz="932180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 defTabSz="932180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defTabSz="932180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/>
          <a:p>
            <a:pPr lvl="0" algn="r" defTabSz="932180" eaLnBrk="1" hangingPunct="1">
              <a:buNone/>
            </a:pPr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7108" name="Rectangle 4"/>
          <p:cNvSpPr>
            <a:spLocks noTextEdit="1"/>
          </p:cNvSpPr>
          <p:nvPr>
            <p:ph type="sldImg" idx="2"/>
          </p:nvPr>
        </p:nvSpPr>
        <p:spPr>
          <a:xfrm>
            <a:off x="1168400" y="685800"/>
            <a:ext cx="4673600" cy="3505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19600"/>
            <a:ext cx="51816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2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3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5632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5837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6041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6246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6451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6656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r>
              <a:rPr lang="en-US" altLang="en-US" dirty="0"/>
              <a:t>http://newsfeed.time.com/2013/06/14/only-5-of-americans-wash-their-hands-right/</a:t>
            </a:r>
            <a:endParaRPr lang="en-US" altLang="en-US" dirty="0"/>
          </a:p>
          <a:p>
            <a:pPr lvl="0"/>
            <a:r>
              <a:rPr lang="en-US" altLang="en-US" dirty="0"/>
              <a:t>https://www.theatlantic.com/health/archive/2013/06/study-95-of-people-dont-wash-their-hands-correctly/276720/</a:t>
            </a:r>
            <a:endParaRPr lang="en-US" altLang="en-US" dirty="0"/>
          </a:p>
          <a:p>
            <a:pPr lvl="0"/>
            <a:r>
              <a:rPr lang="en-US" altLang="en-US" dirty="0"/>
              <a:t>https://www.nytimes.com/2016/04/21/health/washing-hands.html</a:t>
            </a:r>
            <a:endParaRPr lang="en-US" altLang="en-US" dirty="0"/>
          </a:p>
        </p:txBody>
      </p:sp>
      <p:sp>
        <p:nvSpPr>
          <p:cNvPr id="67588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6861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6963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7065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7270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37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2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7475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7577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latin typeface="Arial Rounded MT Bold" panose="020F07040305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rgbClr val="680000"/>
              </a:buClr>
              <a:buFont typeface="Wingdings" panose="05000000000000000000" pitchFamily="2" charset="2"/>
              <a:buChar char="q"/>
              <a:defRPr>
                <a:latin typeface="AvantGarde Bk BT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825" y="1600200"/>
            <a:ext cx="4129088" cy="46815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6313" y="1600200"/>
            <a:ext cx="4129087" cy="46815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latin typeface="Arial Rounded MT Bold" panose="020F07040305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10375" y="152400"/>
            <a:ext cx="2143125" cy="61293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276975" cy="61293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72500" cy="1143000"/>
          </a:xfrm>
          <a:prstGeom prst="rect">
            <a:avLst/>
          </a:prstGeom>
          <a:noFill/>
          <a:ln w="9525">
            <a:noFill/>
          </a:ln>
        </p:spPr>
        <p:txBody>
          <a:bodyPr lIns="0" rIns="0"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504825" y="1600200"/>
            <a:ext cx="8410575" cy="46815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0" y="1371600"/>
            <a:ext cx="9144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1.jpeg"/><Relationship Id="rId1" Type="http://schemas.openxmlformats.org/officeDocument/2006/relationships/image" Target="../media/image30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50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325" y="547688"/>
            <a:ext cx="3019425" cy="1797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5"/>
          <p:cNvSpPr/>
          <p:nvPr/>
        </p:nvSpPr>
        <p:spPr>
          <a:xfrm>
            <a:off x="4568825" y="2513013"/>
            <a:ext cx="3249613" cy="646112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lIns="182880" rIns="182880">
            <a:spAutoFit/>
          </a:bodyPr>
          <a:p>
            <a:pPr algn="ctr">
              <a:spcBef>
                <a:spcPct val="20000"/>
              </a:spcBef>
            </a:pPr>
            <a:r>
              <a:rPr lang="en-US" altLang="zh-CN" sz="3600" b="0" dirty="0">
                <a:latin typeface="Comic Sans MS" panose="030F0702030302020204" pitchFamily="66" charset="0"/>
                <a:ea typeface="宋体" panose="02010600030101010101" pitchFamily="2" charset="-122"/>
              </a:rPr>
              <a:t>Use  Cases</a:t>
            </a:r>
            <a:endParaRPr lang="en-US" altLang="zh-CN" sz="3600" b="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052" name="Line 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ln w="5715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3" name="矩形 5"/>
          <p:cNvSpPr/>
          <p:nvPr/>
        </p:nvSpPr>
        <p:spPr>
          <a:xfrm>
            <a:off x="735013" y="3505200"/>
            <a:ext cx="7467600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200000"/>
              </a:lnSpc>
              <a:buNone/>
            </a:pPr>
            <a:r>
              <a:rPr lang="zh-CN" altLang="en-US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Max</a:t>
            </a:r>
            <a:endParaRPr lang="en-US" altLang="zh-CN" b="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b="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SE</a:t>
            </a:r>
            <a:r>
              <a:rPr lang="en-US" altLang="zh-CN" b="0" i="1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-id-Andy: On What </a:t>
            </a:r>
            <a:r>
              <a:rPr lang="en-US" altLang="zh-CN" b="0" i="1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  <a:buNone/>
            </a:pP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b="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b="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</a:t>
            </a:r>
            <a:r>
              <a:rPr lang="zh-CN" altLang="en-US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/SoftwareEngineering26S</a:t>
            </a:r>
            <a:endParaRPr lang="en-US" altLang="zh-CN" b="0" dirty="0">
              <a:solidFill>
                <a:srgbClr val="00206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Topics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idx="1"/>
          </p:nvPr>
        </p:nvSpPr>
        <p:spPr>
          <a:xfrm>
            <a:off x="636588" y="1582738"/>
            <a:ext cx="7346950" cy="468153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ts val="12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Actors, Goals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Sketchy/Summary Use Cases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Use Case Diagram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Traceability Matrix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System Boundary and Subsystems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Detailed Use Case Specification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System Sequence Diagrams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Security and Risk Management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buClr>
                <a:srgbClr val="680000"/>
              </a:buClr>
            </a:pP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Use Cases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246063" y="1600200"/>
            <a:ext cx="8783638" cy="4984750"/>
          </a:xfrm>
        </p:spPr>
        <p:txBody>
          <a:bodyPr vert="horz" wrap="square" lIns="91440" tIns="45720" rIns="91440" bIns="45720" numCol="1" anchor="t" anchorCtr="0" compatLnSpc="1">
            <a:normAutofit fontScale="925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Used for Functional Requirements Analysis and Specification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 </a:t>
            </a:r>
            <a:r>
              <a:rPr kumimoji="0" lang="en-US" altLang="en-US" sz="2800" b="1" i="1" u="none" strike="noStrike" kern="0" cap="none" spc="0" normalizeH="0" baseline="0" noProof="0" dirty="0" smtClean="0">
                <a:ln>
                  <a:noFill/>
                </a:ln>
                <a:solidFill>
                  <a:srgbClr val="68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use case</a:t>
            </a: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68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is a step-by-step description of how a user will use the system-to-be to accomplish business goals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Three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key </a:t>
            </a: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elements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of use 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cases: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Environmental agents or </a:t>
            </a:r>
            <a:r>
              <a:rPr kumimoji="0" lang="en-US" altLang="en-US" sz="2400" b="0" i="0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actors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that will cooperate with the system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en-US" sz="2400" b="0" i="0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Use case diagram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shows relations of the actors and use cases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en-US" sz="2400" b="0" i="0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Use case scenarios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are plans for realization of user goals</a:t>
            </a:r>
            <a:b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or handling contingencies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Use cases </a:t>
            </a: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scenarios 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or </a:t>
            </a: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scripts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show an envisioned sequence of cooperative interactions between the external actors and the system-to-be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Deriving Use Cases from</a:t>
            </a:r>
            <a:b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System Requirements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5123" name="Content Placeholder 1"/>
          <p:cNvSpPr>
            <a:spLocks noGrp="1"/>
          </p:cNvSpPr>
          <p:nvPr>
            <p:ph idx="1"/>
          </p:nvPr>
        </p:nvSpPr>
        <p:spPr>
          <a:xfrm>
            <a:off x="542925" y="5995988"/>
            <a:ext cx="8410575" cy="747712"/>
          </a:xfrm>
          <a:ln/>
        </p:spPr>
        <p:txBody>
          <a:bodyPr vert="horz" wrap="square" lIns="91440" tIns="45720" rIns="91440" bIns="45720" anchor="t" anchorCtr="0"/>
          <a:p>
            <a:pPr>
              <a:buClr>
                <a:srgbClr val="680000"/>
              </a:buClr>
            </a:pP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Initiating actors (“users”) are already identified in user stories</a:t>
            </a:r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>
              <a:buClr>
                <a:srgbClr val="680000"/>
              </a:buClr>
            </a:pP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Participating actors identified as part of use case analysis</a:t>
            </a:r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Text Box 5"/>
          <p:cNvSpPr txBox="1">
            <a:spLocks noChangeAspect="1"/>
          </p:cNvSpPr>
          <p:nvPr/>
        </p:nvSpPr>
        <p:spPr>
          <a:xfrm>
            <a:off x="123825" y="1462088"/>
            <a:ext cx="2622550" cy="1249362"/>
          </a:xfrm>
          <a:prstGeom prst="rect">
            <a:avLst/>
          </a:prstGeom>
          <a:solidFill>
            <a:schemeClr val="bg1"/>
          </a:solidFill>
          <a:ln w="5715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REQ1: Keep door locked and auto-lock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REQ2: Lock when “LOCK” pressed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REQ3: Unlock when valid key provided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REQ4: Allow mistakes but prevent dictionary attacks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REQ5: Maintain a history log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REQ6: Adding/removing users at runtime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REQ7: Configuring the device activation preferences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REQ8: Inspecting the access history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REQ9: Filing inquiries</a:t>
            </a:r>
            <a:endParaRPr lang="en-US" altLang="en-US" sz="800" b="0" dirty="0">
              <a:latin typeface="Arial" panose="020B0604020202020204" pitchFamily="34" charset="0"/>
            </a:endParaRPr>
          </a:p>
        </p:txBody>
      </p:sp>
      <p:pic>
        <p:nvPicPr>
          <p:cNvPr id="5125" name="Picture 2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938" y="1196975"/>
            <a:ext cx="1273175" cy="155098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2925" y="2862263"/>
          <a:ext cx="8162925" cy="3089275"/>
        </p:xfrm>
        <a:graphic>
          <a:graphicData uri="http://schemas.openxmlformats.org/drawingml/2006/table">
            <a:tbl>
              <a:tblPr/>
              <a:tblGrid>
                <a:gridCol w="838200"/>
                <a:gridCol w="3867150"/>
                <a:gridCol w="1768475"/>
                <a:gridCol w="1689100"/>
              </a:tblGrid>
              <a:tr h="249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Initiator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Initiator’s Goal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Participants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Use Case Name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Unlock and enter home.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Lock, Household Devices, Database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Unlock (UC‑1)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Lock the door.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Lock, Household Devices, Database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Lock (UC‑2)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Landlord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Create a new user account and allow access to home.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Tenant, Database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AddUser (UC‑3)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Landlord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Retire an existing user account and disable access.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Database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RetireUser (UC‑4)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Review the history of home accesses.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Database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ViewHistory (UC‑5)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Configure the operational preferences for household devices.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Database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SetDevicePrefs (UC‑6)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Visitor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Visit a resident’s home.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Lock, Database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VisitHome (UC‑7)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charRg st="0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23">
                                            <p:txEl>
                                              <p:charRg st="0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charRg st="67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123">
                                            <p:txEl>
                                              <p:charRg st="67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Types of Actors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49149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Clr>
                <a:srgbClr val="680000"/>
              </a:buClr>
            </a:pPr>
            <a:r>
              <a:rPr lang="en-US" altLang="en-US" b="1" i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Initiating actor</a:t>
            </a:r>
            <a:r>
              <a:rPr lang="en-US" altLang="en-US" i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(also called </a:t>
            </a:r>
            <a:r>
              <a:rPr lang="en-US" altLang="en-US" i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primary actor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or simply “user”): initiates the use case to achieve a goal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80000"/>
              </a:spcBef>
              <a:buClr>
                <a:srgbClr val="680000"/>
              </a:buClr>
            </a:pPr>
            <a:r>
              <a:rPr lang="en-US" altLang="en-US" b="1" i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Participating actor</a:t>
            </a:r>
            <a:r>
              <a:rPr lang="en-US" altLang="en-US" i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(also called </a:t>
            </a:r>
            <a:r>
              <a:rPr lang="en-US" altLang="en-US" i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secondary actor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): participates in the use case but does not initiate it. Subtypes of participating actors: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Supporting actor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: helps the system-to-be to complete the use case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Offstage actor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: passively participates in the use case, i.e., neither initiates nor helps complete the use case, but may be notified about some aspect of it (e.g., for keeping records)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170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725" y="1959610"/>
            <a:ext cx="8639175" cy="3876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Use Case Diagram</a:t>
            </a:r>
            <a:b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sz="3200" dirty="0">
                <a:solidFill>
                  <a:srgbClr val="680000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High-level goal: ARRIVE</a:t>
            </a:r>
            <a:endParaRPr lang="en-US" altLang="en-US" sz="3200" dirty="0">
              <a:solidFill>
                <a:srgbClr val="680000"/>
              </a:solidFill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7172" name="Text Box 232"/>
          <p:cNvSpPr txBox="1">
            <a:spLocks noChangeAspect="1"/>
          </p:cNvSpPr>
          <p:nvPr/>
        </p:nvSpPr>
        <p:spPr>
          <a:xfrm>
            <a:off x="7375525" y="1139825"/>
            <a:ext cx="1476375" cy="1127125"/>
          </a:xfrm>
          <a:prstGeom prst="rect">
            <a:avLst/>
          </a:prstGeom>
          <a:solidFill>
            <a:schemeClr val="bg1"/>
          </a:solidFill>
          <a:ln w="5715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UC1: Unlock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UC2: Lock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UC3: AddUser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UC4: RemoveUser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UC5: InspectAccessHistory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UC6: SetDevicePrefs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UC7: AuthenticateUser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UC8: Login</a:t>
            </a:r>
            <a:endParaRPr lang="en-US" altLang="en-US" sz="800" b="0" dirty="0">
              <a:latin typeface="Arial" panose="020B0604020202020204" pitchFamily="34" charset="0"/>
            </a:endParaRPr>
          </a:p>
        </p:txBody>
      </p:sp>
      <p:sp>
        <p:nvSpPr>
          <p:cNvPr id="7173" name="TextBox 1"/>
          <p:cNvSpPr txBox="1"/>
          <p:nvPr/>
        </p:nvSpPr>
        <p:spPr>
          <a:xfrm>
            <a:off x="309563" y="6032500"/>
            <a:ext cx="8351837" cy="646113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>
            <a:spAutoFit/>
          </a:bodyPr>
          <a:p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Interestingly, we keep mentioning “home” and “doors,” but they do not appear as actors!</a:t>
            </a:r>
            <a:endParaRPr lang="en-US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This issue will be discussed in a later lecture (Domain Model)</a:t>
            </a:r>
            <a:endParaRPr lang="en-US" altLang="en-US" sz="18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158750" y="152400"/>
            <a:ext cx="8985250" cy="1143000"/>
          </a:xfrm>
          <a:ln/>
        </p:spPr>
        <p:txBody>
          <a:bodyPr vert="horz" wrap="square" lIns="0" tIns="45720" rIns="0" bIns="45720" anchor="ctr" anchorCtr="0"/>
          <a:p>
            <a:pPr>
              <a:buNone/>
            </a:pPr>
            <a:r>
              <a:rPr lang="en-US" altLang="zh-CN" sz="3600" dirty="0">
                <a:latin typeface="Arial Rounded MT Bold" panose="020F0704030504030204" pitchFamily="34" charset="0"/>
                <a:ea typeface="宋体" panose="02010600030101010101" pitchFamily="2" charset="-122"/>
                <a:cs typeface="+mj-cs"/>
              </a:rPr>
              <a:t>DRY Use Cases</a:t>
            </a:r>
            <a:br>
              <a:rPr lang="en-US" altLang="zh-CN" sz="2800" dirty="0">
                <a:latin typeface="Arial Rounded MT Bold" panose="020F0704030504030204" pitchFamily="34" charset="0"/>
                <a:ea typeface="宋体" panose="02010600030101010101" pitchFamily="2" charset="-122"/>
                <a:cs typeface="+mj-cs"/>
              </a:rPr>
            </a:br>
            <a:r>
              <a:rPr lang="en-US" altLang="zh-CN" sz="2800" b="1" dirty="0"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Remove Redundancies Using </a:t>
            </a:r>
            <a:r>
              <a:rPr lang="en-US" altLang="zh-CN" sz="2800" b="1" dirty="0">
                <a:solidFill>
                  <a:srgbClr val="68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Subroutine</a:t>
            </a:r>
            <a:r>
              <a:rPr lang="en-US" altLang="zh-CN" sz="2800" b="1" dirty="0"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 Use Cases</a:t>
            </a:r>
            <a:endParaRPr lang="en-US" altLang="zh-CN" sz="2800" b="1" dirty="0"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Don't repeat yourself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>
              <a:buChar char="–"/>
            </a:pPr>
            <a:r>
              <a:rPr lang="en-US" altLang="en-US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https://en.wikipedia.org/wiki/Don%27t_repeat_yourself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 Detailed Use cases or System Sequence Diagrams (described later):</a:t>
            </a:r>
            <a:b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Remove redundant parts of base use cases that are common to multiple use cases by </a:t>
            </a:r>
            <a:r>
              <a:rPr lang="en-US" altLang="en-US" b="1" dirty="0">
                <a:solidFill>
                  <a:srgbClr val="68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parametrizing them as </a:t>
            </a:r>
            <a:r>
              <a:rPr lang="en-US" altLang="en-US" b="1" u="sng" dirty="0">
                <a:solidFill>
                  <a:srgbClr val="68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subroutine</a:t>
            </a:r>
            <a:r>
              <a:rPr lang="en-US" altLang="en-US" b="1" dirty="0">
                <a:solidFill>
                  <a:srgbClr val="68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use cases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sz="3600" dirty="0">
                <a:latin typeface="Arial Rounded MT Bold" panose="020F0704030504030204" pitchFamily="34" charset="0"/>
                <a:ea typeface="+mj-ea"/>
                <a:cs typeface="+mj-cs"/>
              </a:rPr>
              <a:t>Subroutine Use Cases</a:t>
            </a:r>
            <a:br>
              <a:rPr lang="en-US" altLang="en-US" sz="3600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sz="2900" dirty="0">
                <a:latin typeface="Arial Rounded MT Bold" panose="020F0704030504030204" pitchFamily="34" charset="0"/>
                <a:ea typeface="+mj-ea"/>
                <a:cs typeface="+mj-cs"/>
              </a:rPr>
              <a:t>Optional Use Cases: </a:t>
            </a:r>
            <a:r>
              <a:rPr lang="en-US" altLang="en-US" sz="2900" dirty="0">
                <a:solidFill>
                  <a:srgbClr val="680000"/>
                </a:solidFill>
                <a:latin typeface="Arial Rounded MT Bold" panose="020F0704030504030204" pitchFamily="34" charset="0"/>
                <a:ea typeface="+mj-ea"/>
                <a:cs typeface="+mj-cs"/>
                <a:sym typeface="MT Extra" panose="05050102010205020202" pitchFamily="18" charset="2"/>
              </a:rPr>
              <a:t>«</a:t>
            </a:r>
            <a:r>
              <a:rPr lang="en-US" altLang="en-US" sz="2900" dirty="0">
                <a:solidFill>
                  <a:srgbClr val="680000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extend»</a:t>
            </a:r>
            <a:endParaRPr lang="en-US" altLang="en-US" sz="2900" dirty="0">
              <a:solidFill>
                <a:srgbClr val="680000"/>
              </a:solidFill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9219" name="Text Box 31"/>
          <p:cNvSpPr txBox="1">
            <a:spLocks noChangeAspect="1"/>
          </p:cNvSpPr>
          <p:nvPr/>
        </p:nvSpPr>
        <p:spPr>
          <a:xfrm>
            <a:off x="131763" y="1489075"/>
            <a:ext cx="3713162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Example optional subroutine use cases:</a:t>
            </a:r>
            <a:endParaRPr lang="en-US" altLang="en-US" sz="18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9220" name="Text Box 32"/>
          <p:cNvSpPr txBox="1">
            <a:spLocks noChangeAspect="1"/>
          </p:cNvSpPr>
          <p:nvPr/>
        </p:nvSpPr>
        <p:spPr>
          <a:xfrm rot="1200000">
            <a:off x="4056063" y="2476500"/>
            <a:ext cx="441325" cy="1222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sz="800" b="0" dirty="0">
                <a:latin typeface="Arial" panose="020B0604020202020204" pitchFamily="34" charset="0"/>
                <a:cs typeface="Arial" panose="020B0604020202020204" pitchFamily="34" charset="0"/>
                <a:sym typeface="MT Extra" panose="05050102010205020202" pitchFamily="18" charset="2"/>
              </a:rPr>
              <a:t>«</a:t>
            </a:r>
            <a:r>
              <a:rPr lang="en-US" altLang="en-US" sz="800" b="0" dirty="0">
                <a:latin typeface="Arial" panose="020B0604020202020204" pitchFamily="34" charset="0"/>
              </a:rPr>
              <a:t>extend</a:t>
            </a:r>
            <a:r>
              <a:rPr lang="en-US" alt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endParaRPr lang="en-US" altLang="en-US" sz="800" b="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221" name="Text Box 33"/>
          <p:cNvSpPr txBox="1">
            <a:spLocks noChangeAspect="1"/>
          </p:cNvSpPr>
          <p:nvPr/>
        </p:nvSpPr>
        <p:spPr>
          <a:xfrm rot="-1200000">
            <a:off x="4075113" y="1890713"/>
            <a:ext cx="441325" cy="122237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sz="800" b="0" dirty="0">
                <a:latin typeface="Arial" panose="020B0604020202020204" pitchFamily="34" charset="0"/>
                <a:cs typeface="Arial" panose="020B0604020202020204" pitchFamily="34" charset="0"/>
                <a:sym typeface="MT Extra" panose="05050102010205020202" pitchFamily="18" charset="2"/>
              </a:rPr>
              <a:t>«</a:t>
            </a:r>
            <a:r>
              <a:rPr lang="en-US" altLang="en-US" sz="800" b="0" dirty="0">
                <a:latin typeface="Arial" panose="020B0604020202020204" pitchFamily="34" charset="0"/>
              </a:rPr>
              <a:t>extend</a:t>
            </a:r>
            <a:r>
              <a:rPr lang="en-US" alt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endParaRPr lang="en-US" altLang="en-US" sz="800" b="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9222" name="AutoShape 34"/>
          <p:cNvCxnSpPr>
            <a:cxnSpLocks noChangeAspect="1"/>
            <a:stCxn id="9225" idx="3"/>
            <a:endCxn id="9228" idx="1"/>
          </p:cNvCxnSpPr>
          <p:nvPr/>
        </p:nvCxnSpPr>
        <p:spPr>
          <a:xfrm flipH="1">
            <a:off x="4183063" y="1917700"/>
            <a:ext cx="596900" cy="214313"/>
          </a:xfrm>
          <a:prstGeom prst="straightConnector1">
            <a:avLst/>
          </a:prstGeom>
          <a:ln w="6350" cap="flat" cmpd="sng">
            <a:solidFill>
              <a:schemeClr val="tx1"/>
            </a:solidFill>
            <a:prstDash val="dash"/>
            <a:headEnd type="none" w="med" len="med"/>
            <a:tailEnd type="none" w="lg" len="lg"/>
          </a:ln>
        </p:spPr>
      </p:cxnSp>
      <p:cxnSp>
        <p:nvCxnSpPr>
          <p:cNvPr id="9223" name="AutoShape 35"/>
          <p:cNvCxnSpPr>
            <a:cxnSpLocks noChangeAspect="1"/>
            <a:stCxn id="9224" idx="1"/>
            <a:endCxn id="9227" idx="1"/>
          </p:cNvCxnSpPr>
          <p:nvPr/>
        </p:nvCxnSpPr>
        <p:spPr>
          <a:xfrm flipH="1" flipV="1">
            <a:off x="4183063" y="2341563"/>
            <a:ext cx="554037" cy="214312"/>
          </a:xfrm>
          <a:prstGeom prst="straightConnector1">
            <a:avLst/>
          </a:prstGeom>
          <a:ln w="6350" cap="flat" cmpd="sng">
            <a:solidFill>
              <a:schemeClr val="tx1"/>
            </a:solidFill>
            <a:prstDash val="dash"/>
            <a:headEnd type="none" w="med" len="med"/>
            <a:tailEnd type="none" w="lg" len="lg"/>
          </a:ln>
        </p:spPr>
      </p:cxnSp>
      <p:sp>
        <p:nvSpPr>
          <p:cNvPr id="9224" name="Oval 36"/>
          <p:cNvSpPr>
            <a:spLocks noChangeAspect="1"/>
          </p:cNvSpPr>
          <p:nvPr/>
        </p:nvSpPr>
        <p:spPr>
          <a:xfrm>
            <a:off x="4511675" y="2516188"/>
            <a:ext cx="1541463" cy="27463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0"/>
          <a:p>
            <a:pPr algn="ctr" eaLnBrk="1" hangingPunct="1"/>
            <a:r>
              <a:rPr lang="en-US" altLang="en-US" sz="1000" b="0" dirty="0">
                <a:latin typeface="Arial" panose="020B0604020202020204" pitchFamily="34" charset="0"/>
              </a:rPr>
              <a:t>UC6: SetDevicePrefs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25" name="Oval 37"/>
          <p:cNvSpPr/>
          <p:nvPr/>
        </p:nvSpPr>
        <p:spPr>
          <a:xfrm>
            <a:off x="4511675" y="1682750"/>
            <a:ext cx="1828800" cy="274638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0"/>
          <a:p>
            <a:pPr algn="ctr" eaLnBrk="1" hangingPunct="1"/>
            <a:r>
              <a:rPr lang="en-US" altLang="en-US" sz="1000" b="0" dirty="0">
                <a:latin typeface="Arial" panose="020B0604020202020204" pitchFamily="34" charset="0"/>
              </a:rPr>
              <a:t>UC5: InspectAccessHistory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26" name="Oval 38"/>
          <p:cNvSpPr>
            <a:spLocks noChangeAspect="1"/>
          </p:cNvSpPr>
          <p:nvPr/>
        </p:nvSpPr>
        <p:spPr>
          <a:xfrm>
            <a:off x="2963863" y="2098675"/>
            <a:ext cx="1392237" cy="27622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0"/>
          <a:p>
            <a:pPr algn="ctr" eaLnBrk="1" hangingPunct="1"/>
            <a:r>
              <a:rPr lang="en-US" altLang="en-US" sz="1000" b="0" dirty="0">
                <a:latin typeface="Arial" panose="020B0604020202020204" pitchFamily="34" charset="0"/>
              </a:rPr>
              <a:t>ManageAccount</a:t>
            </a:r>
            <a:endParaRPr lang="en-US" altLang="en-US" sz="1000" b="0" i="1" dirty="0">
              <a:latin typeface="Arial" panose="020B0604020202020204" pitchFamily="34" charset="0"/>
            </a:endParaRPr>
          </a:p>
        </p:txBody>
      </p:sp>
      <p:sp>
        <p:nvSpPr>
          <p:cNvPr id="9227" name="Freeform 41"/>
          <p:cNvSpPr>
            <a:spLocks noChangeAspect="1"/>
          </p:cNvSpPr>
          <p:nvPr/>
        </p:nvSpPr>
        <p:spPr>
          <a:xfrm rot="-9600000" flipV="1">
            <a:off x="4181475" y="2314575"/>
            <a:ext cx="79375" cy="82550"/>
          </a:xfrm>
          <a:custGeom>
            <a:avLst/>
            <a:gdLst>
              <a:gd name="txL" fmla="*/ 0 w 51"/>
              <a:gd name="txT" fmla="*/ 0 h 53"/>
              <a:gd name="txR" fmla="*/ 51 w 51"/>
              <a:gd name="txB" fmla="*/ 53 h 53"/>
            </a:gdLst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51" h="53">
                <a:moveTo>
                  <a:pt x="0" y="0"/>
                </a:moveTo>
                <a:lnTo>
                  <a:pt x="51" y="27"/>
                </a:lnTo>
                <a:lnTo>
                  <a:pt x="0" y="53"/>
                </a:lnTo>
              </a:path>
            </a:pathLst>
          </a:custGeom>
          <a:noFill/>
          <a:ln w="63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9228" name="Freeform 42"/>
          <p:cNvSpPr>
            <a:spLocks noChangeAspect="1"/>
          </p:cNvSpPr>
          <p:nvPr/>
        </p:nvSpPr>
        <p:spPr>
          <a:xfrm rot="9600000" flipV="1">
            <a:off x="4179888" y="2076450"/>
            <a:ext cx="80962" cy="82550"/>
          </a:xfrm>
          <a:custGeom>
            <a:avLst/>
            <a:gdLst>
              <a:gd name="txL" fmla="*/ 0 w 51"/>
              <a:gd name="txT" fmla="*/ 0 h 53"/>
              <a:gd name="txR" fmla="*/ 51 w 51"/>
              <a:gd name="txB" fmla="*/ 53 h 53"/>
            </a:gdLst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51" h="53">
                <a:moveTo>
                  <a:pt x="0" y="0"/>
                </a:moveTo>
                <a:lnTo>
                  <a:pt x="51" y="27"/>
                </a:lnTo>
                <a:lnTo>
                  <a:pt x="0" y="53"/>
                </a:lnTo>
              </a:path>
            </a:pathLst>
          </a:custGeom>
          <a:noFill/>
          <a:ln w="63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9229" name="Text Box 45"/>
          <p:cNvSpPr txBox="1">
            <a:spLocks noChangeAspect="1"/>
          </p:cNvSpPr>
          <p:nvPr/>
        </p:nvSpPr>
        <p:spPr>
          <a:xfrm>
            <a:off x="7375525" y="1139825"/>
            <a:ext cx="1476375" cy="1127125"/>
          </a:xfrm>
          <a:prstGeom prst="rect">
            <a:avLst/>
          </a:prstGeom>
          <a:solidFill>
            <a:schemeClr val="bg1"/>
          </a:solidFill>
          <a:ln w="5715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UC1: Unlock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UC2: Lock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UC3: AddUser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UC4: RemoveUser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UC5: InspectAccessHistory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UC6: SetDevicePrefs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UC7: AuthenticateUser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UC8: Login</a:t>
            </a:r>
            <a:endParaRPr lang="en-US" altLang="en-US" sz="800" b="0" dirty="0">
              <a:latin typeface="Arial" panose="020B0604020202020204" pitchFamily="34" charset="0"/>
            </a:endParaRPr>
          </a:p>
        </p:txBody>
      </p:sp>
      <p:grpSp>
        <p:nvGrpSpPr>
          <p:cNvPr id="9230" name="Group 72"/>
          <p:cNvGrpSpPr/>
          <p:nvPr/>
        </p:nvGrpSpPr>
        <p:grpSpPr>
          <a:xfrm>
            <a:off x="604838" y="3294063"/>
            <a:ext cx="7769225" cy="2843212"/>
            <a:chOff x="381" y="2165"/>
            <a:chExt cx="4894" cy="1791"/>
          </a:xfrm>
        </p:grpSpPr>
        <p:sp>
          <p:nvSpPr>
            <p:cNvPr id="9232" name="Line 46"/>
            <p:cNvSpPr/>
            <p:nvPr/>
          </p:nvSpPr>
          <p:spPr>
            <a:xfrm>
              <a:off x="381" y="2419"/>
              <a:ext cx="4894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3" name="Text Box 47"/>
            <p:cNvSpPr txBox="1">
              <a:spLocks noChangeAspect="1"/>
            </p:cNvSpPr>
            <p:nvPr/>
          </p:nvSpPr>
          <p:spPr>
            <a:xfrm>
              <a:off x="381" y="2165"/>
              <a:ext cx="4535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eaLnBrk="1" hangingPunct="1"/>
              <a:r>
                <a:rPr lang="en-US" altLang="en-US" sz="2000" b="0" dirty="0">
                  <a:latin typeface="Calibri" panose="020F0502020204030204" pitchFamily="34" charset="0"/>
                  <a:cs typeface="Calibri" panose="020F0502020204030204" pitchFamily="34" charset="0"/>
                </a:rPr>
                <a:t>Key differences between </a:t>
              </a:r>
              <a:r>
                <a:rPr lang="en-US" altLang="en-US" sz="2000" dirty="0">
                  <a:solidFill>
                    <a:schemeClr val="accent2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«include»</a:t>
              </a:r>
              <a:r>
                <a:rPr lang="en-US" altLang="en-US" sz="2000" b="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000" b="0" dirty="0">
                  <a:latin typeface="Calibri" panose="020F0502020204030204" pitchFamily="34" charset="0"/>
                  <a:cs typeface="Calibri" panose="020F0502020204030204" pitchFamily="34" charset="0"/>
                </a:rPr>
                <a:t>and</a:t>
              </a:r>
              <a:r>
                <a:rPr lang="en-US" altLang="en-US" sz="2000" b="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000" dirty="0">
                  <a:solidFill>
                    <a:schemeClr val="accent2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«extend»</a:t>
              </a:r>
              <a:r>
                <a:rPr lang="en-US" altLang="en-US" sz="2000" b="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000" b="0" dirty="0">
                  <a:latin typeface="Calibri" panose="020F0502020204030204" pitchFamily="34" charset="0"/>
                  <a:cs typeface="Calibri" panose="020F0502020204030204" pitchFamily="34" charset="0"/>
                </a:rPr>
                <a:t>relationships</a:t>
              </a:r>
              <a:endParaRPr lang="en-US" altLang="en-US" sz="2000" b="0" dirty="0"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234" name="Text Box 50"/>
            <p:cNvSpPr txBox="1">
              <a:spLocks noChangeAspect="1"/>
            </p:cNvSpPr>
            <p:nvPr/>
          </p:nvSpPr>
          <p:spPr>
            <a:xfrm>
              <a:off x="381" y="2758"/>
              <a:ext cx="1835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eaLnBrk="1" hangingPunct="1"/>
              <a:r>
                <a:rPr lang="en-US" altLang="en-US" sz="1400" b="0" dirty="0">
                  <a:latin typeface="Arial" panose="020B0604020202020204" pitchFamily="34" charset="0"/>
                </a:rPr>
                <a:t>Is this subroutine use case optional?</a:t>
              </a:r>
              <a:endParaRPr lang="en-US" altLang="en-US" sz="1400" b="0" dirty="0">
                <a:latin typeface="Arial" panose="020B0604020202020204" pitchFamily="34" charset="0"/>
              </a:endParaRPr>
            </a:p>
          </p:txBody>
        </p:sp>
        <p:sp>
          <p:nvSpPr>
            <p:cNvPr id="9235" name="Text Box 51"/>
            <p:cNvSpPr txBox="1">
              <a:spLocks noChangeAspect="1"/>
            </p:cNvSpPr>
            <p:nvPr/>
          </p:nvSpPr>
          <p:spPr>
            <a:xfrm>
              <a:off x="381" y="3000"/>
              <a:ext cx="1688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" tIns="0" rIns="9144" bIns="0">
              <a:spAutoFit/>
            </a:bodyPr>
            <a:p>
              <a:pPr eaLnBrk="1" hangingPunct="1"/>
              <a:r>
                <a:rPr lang="en-US" altLang="en-US" sz="1400" b="0" dirty="0">
                  <a:latin typeface="Arial" panose="020B0604020202020204" pitchFamily="34" charset="0"/>
                </a:rPr>
                <a:t>Is the base use case </a:t>
              </a:r>
              <a:br>
                <a:rPr lang="en-US" altLang="en-US" sz="1400" b="0" dirty="0">
                  <a:latin typeface="Arial" panose="020B0604020202020204" pitchFamily="34" charset="0"/>
                </a:rPr>
              </a:br>
              <a:r>
                <a:rPr lang="en-US" altLang="en-US" sz="1400" b="0" dirty="0">
                  <a:latin typeface="Arial" panose="020B0604020202020204" pitchFamily="34" charset="0"/>
                </a:rPr>
                <a:t>complete without this use case?</a:t>
              </a:r>
              <a:endParaRPr lang="en-US" altLang="en-US" sz="1400" b="0" dirty="0">
                <a:latin typeface="Arial" panose="020B0604020202020204" pitchFamily="34" charset="0"/>
              </a:endParaRPr>
            </a:p>
          </p:txBody>
        </p:sp>
        <p:sp>
          <p:nvSpPr>
            <p:cNvPr id="9236" name="Text Box 52"/>
            <p:cNvSpPr txBox="1">
              <a:spLocks noChangeAspect="1"/>
            </p:cNvSpPr>
            <p:nvPr/>
          </p:nvSpPr>
          <p:spPr>
            <a:xfrm>
              <a:off x="381" y="3376"/>
              <a:ext cx="2600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eaLnBrk="1" hangingPunct="1"/>
              <a:r>
                <a:rPr lang="en-US" altLang="en-US" sz="1400" b="0" dirty="0">
                  <a:latin typeface="Arial" panose="020B0604020202020204" pitchFamily="34" charset="0"/>
                </a:rPr>
                <a:t>Is the execution of subroutine use case conditional?</a:t>
              </a:r>
              <a:endParaRPr lang="en-US" altLang="en-US" sz="1400" b="0" dirty="0">
                <a:latin typeface="Arial" panose="020B0604020202020204" pitchFamily="34" charset="0"/>
              </a:endParaRPr>
            </a:p>
          </p:txBody>
        </p:sp>
        <p:sp>
          <p:nvSpPr>
            <p:cNvPr id="9237" name="Text Box 53"/>
            <p:cNvSpPr txBox="1">
              <a:spLocks noChangeAspect="1"/>
            </p:cNvSpPr>
            <p:nvPr/>
          </p:nvSpPr>
          <p:spPr>
            <a:xfrm>
              <a:off x="381" y="3618"/>
              <a:ext cx="1994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" tIns="0" rIns="9144" bIns="0">
              <a:spAutoFit/>
            </a:bodyPr>
            <a:p>
              <a:pPr eaLnBrk="1" hangingPunct="1"/>
              <a:r>
                <a:rPr lang="en-US" altLang="en-US" sz="1400" b="0" dirty="0">
                  <a:latin typeface="Arial" panose="020B0604020202020204" pitchFamily="34" charset="0"/>
                </a:rPr>
                <a:t>Does this subroutine use case change the behavior of the base use case?</a:t>
              </a:r>
              <a:endParaRPr lang="en-US" altLang="en-US" sz="1400" b="0" dirty="0">
                <a:latin typeface="Arial" panose="020B0604020202020204" pitchFamily="34" charset="0"/>
              </a:endParaRPr>
            </a:p>
          </p:txBody>
        </p:sp>
        <p:sp>
          <p:nvSpPr>
            <p:cNvPr id="9238" name="Text Box 48"/>
            <p:cNvSpPr txBox="1">
              <a:spLocks noChangeAspect="1"/>
            </p:cNvSpPr>
            <p:nvPr/>
          </p:nvSpPr>
          <p:spPr>
            <a:xfrm>
              <a:off x="2593" y="2460"/>
              <a:ext cx="117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eaLnBrk="1" hangingPunct="1"/>
              <a:r>
                <a:rPr lang="en-US" altLang="en-US" sz="1800" b="0" dirty="0">
                  <a:latin typeface="Arial" panose="020B0604020202020204" pitchFamily="34" charset="0"/>
                </a:rPr>
                <a:t>Included use case</a:t>
              </a:r>
              <a:endParaRPr lang="en-US" altLang="en-US" sz="1800" b="0" dirty="0">
                <a:latin typeface="Arial" panose="020B0604020202020204" pitchFamily="34" charset="0"/>
              </a:endParaRPr>
            </a:p>
          </p:txBody>
        </p:sp>
        <p:sp>
          <p:nvSpPr>
            <p:cNvPr id="9239" name="Text Box 49"/>
            <p:cNvSpPr txBox="1">
              <a:spLocks noChangeAspect="1"/>
            </p:cNvSpPr>
            <p:nvPr/>
          </p:nvSpPr>
          <p:spPr>
            <a:xfrm>
              <a:off x="4007" y="2460"/>
              <a:ext cx="1268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eaLnBrk="1" hangingPunct="1"/>
              <a:r>
                <a:rPr lang="en-US" altLang="en-US" sz="1800" b="0" dirty="0">
                  <a:latin typeface="Arial" panose="020B0604020202020204" pitchFamily="34" charset="0"/>
                </a:rPr>
                <a:t>Extending use case</a:t>
              </a:r>
              <a:endParaRPr lang="en-US" altLang="en-US" sz="1800" b="0" dirty="0">
                <a:latin typeface="Arial" panose="020B0604020202020204" pitchFamily="34" charset="0"/>
              </a:endParaRPr>
            </a:p>
          </p:txBody>
        </p:sp>
        <p:sp>
          <p:nvSpPr>
            <p:cNvPr id="9240" name="Text Box 54"/>
            <p:cNvSpPr txBox="1">
              <a:spLocks noChangeAspect="1"/>
            </p:cNvSpPr>
            <p:nvPr/>
          </p:nvSpPr>
          <p:spPr>
            <a:xfrm>
              <a:off x="3081" y="2739"/>
              <a:ext cx="19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algn="ctr" eaLnBrk="1" hangingPunct="1"/>
              <a:r>
                <a:rPr lang="en-US" altLang="en-US" sz="1800" b="0" dirty="0">
                  <a:latin typeface="Arial" panose="020B0604020202020204" pitchFamily="34" charset="0"/>
                </a:rPr>
                <a:t>No</a:t>
              </a:r>
              <a:endParaRPr lang="en-US" altLang="en-US" sz="1800" b="0" dirty="0">
                <a:latin typeface="Arial" panose="020B0604020202020204" pitchFamily="34" charset="0"/>
              </a:endParaRPr>
            </a:p>
          </p:txBody>
        </p:sp>
        <p:sp>
          <p:nvSpPr>
            <p:cNvPr id="9241" name="Text Box 55"/>
            <p:cNvSpPr txBox="1">
              <a:spLocks noChangeAspect="1"/>
            </p:cNvSpPr>
            <p:nvPr/>
          </p:nvSpPr>
          <p:spPr>
            <a:xfrm>
              <a:off x="4511" y="2739"/>
              <a:ext cx="260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algn="ctr" eaLnBrk="1" hangingPunct="1"/>
              <a:r>
                <a:rPr lang="en-US" altLang="en-US" sz="1800" b="0" dirty="0">
                  <a:latin typeface="Arial" panose="020B0604020202020204" pitchFamily="34" charset="0"/>
                </a:rPr>
                <a:t>Yes</a:t>
              </a:r>
              <a:endParaRPr lang="en-US" altLang="en-US" sz="1800" b="0" dirty="0">
                <a:latin typeface="Arial" panose="020B0604020202020204" pitchFamily="34" charset="0"/>
              </a:endParaRPr>
            </a:p>
          </p:txBody>
        </p:sp>
        <p:sp>
          <p:nvSpPr>
            <p:cNvPr id="9242" name="Text Box 56"/>
            <p:cNvSpPr txBox="1">
              <a:spLocks noChangeAspect="1"/>
            </p:cNvSpPr>
            <p:nvPr/>
          </p:nvSpPr>
          <p:spPr>
            <a:xfrm>
              <a:off x="3081" y="3048"/>
              <a:ext cx="19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algn="ctr" eaLnBrk="1" hangingPunct="1"/>
              <a:r>
                <a:rPr lang="en-US" altLang="en-US" sz="1800" b="0" dirty="0">
                  <a:latin typeface="Arial" panose="020B0604020202020204" pitchFamily="34" charset="0"/>
                </a:rPr>
                <a:t>No</a:t>
              </a:r>
              <a:endParaRPr lang="en-US" altLang="en-US" sz="1800" b="0" dirty="0">
                <a:latin typeface="Arial" panose="020B0604020202020204" pitchFamily="34" charset="0"/>
              </a:endParaRPr>
            </a:p>
          </p:txBody>
        </p:sp>
        <p:sp>
          <p:nvSpPr>
            <p:cNvPr id="9243" name="Text Box 57"/>
            <p:cNvSpPr txBox="1">
              <a:spLocks noChangeAspect="1"/>
            </p:cNvSpPr>
            <p:nvPr/>
          </p:nvSpPr>
          <p:spPr>
            <a:xfrm>
              <a:off x="4511" y="3047"/>
              <a:ext cx="260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algn="ctr" eaLnBrk="1" hangingPunct="1"/>
              <a:r>
                <a:rPr lang="en-US" altLang="en-US" sz="1800" b="0" dirty="0">
                  <a:latin typeface="Arial" panose="020B0604020202020204" pitchFamily="34" charset="0"/>
                </a:rPr>
                <a:t>Yes</a:t>
              </a:r>
              <a:endParaRPr lang="en-US" altLang="en-US" sz="1800" b="0" dirty="0">
                <a:latin typeface="Arial" panose="020B0604020202020204" pitchFamily="34" charset="0"/>
              </a:endParaRPr>
            </a:p>
          </p:txBody>
        </p:sp>
        <p:sp>
          <p:nvSpPr>
            <p:cNvPr id="9244" name="Text Box 58"/>
            <p:cNvSpPr txBox="1">
              <a:spLocks noChangeAspect="1"/>
            </p:cNvSpPr>
            <p:nvPr/>
          </p:nvSpPr>
          <p:spPr>
            <a:xfrm>
              <a:off x="3081" y="3356"/>
              <a:ext cx="19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algn="ctr" eaLnBrk="1" hangingPunct="1"/>
              <a:r>
                <a:rPr lang="en-US" altLang="en-US" sz="1800" b="0" dirty="0">
                  <a:latin typeface="Arial" panose="020B0604020202020204" pitchFamily="34" charset="0"/>
                </a:rPr>
                <a:t>No</a:t>
              </a:r>
              <a:endParaRPr lang="en-US" altLang="en-US" sz="1800" b="0" dirty="0">
                <a:latin typeface="Arial" panose="020B0604020202020204" pitchFamily="34" charset="0"/>
              </a:endParaRPr>
            </a:p>
          </p:txBody>
        </p:sp>
        <p:sp>
          <p:nvSpPr>
            <p:cNvPr id="9245" name="Text Box 59"/>
            <p:cNvSpPr txBox="1">
              <a:spLocks noChangeAspect="1"/>
            </p:cNvSpPr>
            <p:nvPr/>
          </p:nvSpPr>
          <p:spPr>
            <a:xfrm>
              <a:off x="4511" y="3356"/>
              <a:ext cx="260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algn="ctr" eaLnBrk="1" hangingPunct="1"/>
              <a:r>
                <a:rPr lang="en-US" altLang="en-US" sz="1800" b="0" dirty="0">
                  <a:latin typeface="Arial" panose="020B0604020202020204" pitchFamily="34" charset="0"/>
                </a:rPr>
                <a:t>Yes</a:t>
              </a:r>
              <a:endParaRPr lang="en-US" altLang="en-US" sz="1800" b="0" dirty="0">
                <a:latin typeface="Arial" panose="020B0604020202020204" pitchFamily="34" charset="0"/>
              </a:endParaRPr>
            </a:p>
          </p:txBody>
        </p:sp>
        <p:sp>
          <p:nvSpPr>
            <p:cNvPr id="9246" name="Text Box 60"/>
            <p:cNvSpPr txBox="1">
              <a:spLocks noChangeAspect="1"/>
            </p:cNvSpPr>
            <p:nvPr/>
          </p:nvSpPr>
          <p:spPr>
            <a:xfrm>
              <a:off x="3081" y="3666"/>
              <a:ext cx="19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algn="ctr" eaLnBrk="1" hangingPunct="1"/>
              <a:r>
                <a:rPr lang="en-US" altLang="en-US" sz="1800" b="0" dirty="0">
                  <a:latin typeface="Arial" panose="020B0604020202020204" pitchFamily="34" charset="0"/>
                </a:rPr>
                <a:t>No</a:t>
              </a:r>
              <a:endParaRPr lang="en-US" altLang="en-US" sz="1800" b="0" dirty="0">
                <a:latin typeface="Arial" panose="020B0604020202020204" pitchFamily="34" charset="0"/>
              </a:endParaRPr>
            </a:p>
          </p:txBody>
        </p:sp>
        <p:sp>
          <p:nvSpPr>
            <p:cNvPr id="9247" name="Text Box 61"/>
            <p:cNvSpPr txBox="1">
              <a:spLocks noChangeAspect="1"/>
            </p:cNvSpPr>
            <p:nvPr/>
          </p:nvSpPr>
          <p:spPr>
            <a:xfrm>
              <a:off x="4511" y="3666"/>
              <a:ext cx="260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algn="ctr" eaLnBrk="1" hangingPunct="1"/>
              <a:r>
                <a:rPr lang="en-US" altLang="en-US" sz="1800" b="0" dirty="0">
                  <a:latin typeface="Arial" panose="020B0604020202020204" pitchFamily="34" charset="0"/>
                </a:rPr>
                <a:t>Yes</a:t>
              </a:r>
              <a:endParaRPr lang="en-US" altLang="en-US" sz="1800" b="0" dirty="0">
                <a:latin typeface="Arial" panose="020B0604020202020204" pitchFamily="34" charset="0"/>
              </a:endParaRPr>
            </a:p>
          </p:txBody>
        </p:sp>
        <p:sp>
          <p:nvSpPr>
            <p:cNvPr id="9248" name="Line 67"/>
            <p:cNvSpPr/>
            <p:nvPr/>
          </p:nvSpPr>
          <p:spPr>
            <a:xfrm>
              <a:off x="381" y="2688"/>
              <a:ext cx="489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9" name="Line 68"/>
            <p:cNvSpPr/>
            <p:nvPr/>
          </p:nvSpPr>
          <p:spPr>
            <a:xfrm>
              <a:off x="381" y="2947"/>
              <a:ext cx="4894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0" name="Line 69"/>
            <p:cNvSpPr/>
            <p:nvPr/>
          </p:nvSpPr>
          <p:spPr>
            <a:xfrm>
              <a:off x="381" y="3324"/>
              <a:ext cx="4894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1" name="Line 70"/>
            <p:cNvSpPr/>
            <p:nvPr/>
          </p:nvSpPr>
          <p:spPr>
            <a:xfrm>
              <a:off x="381" y="3568"/>
              <a:ext cx="4894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2" name="Line 71"/>
            <p:cNvSpPr/>
            <p:nvPr/>
          </p:nvSpPr>
          <p:spPr>
            <a:xfrm>
              <a:off x="381" y="3956"/>
              <a:ext cx="4894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9231" name="Text Box 73"/>
          <p:cNvSpPr txBox="1">
            <a:spLocks noChangeAspect="1"/>
          </p:cNvSpPr>
          <p:nvPr/>
        </p:nvSpPr>
        <p:spPr>
          <a:xfrm>
            <a:off x="395288" y="6396038"/>
            <a:ext cx="7807325" cy="2460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[ Source: Robert Maksimchuk &amp; Eric Naiburg: </a:t>
            </a:r>
            <a:r>
              <a:rPr lang="en-US" alt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UML for Mere Mortals</a:t>
            </a: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, Addison-Wesley, 2005. ]</a:t>
            </a:r>
            <a:endParaRPr lang="en-US" altLang="en-US" sz="16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Login Use Case?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grpSp>
        <p:nvGrpSpPr>
          <p:cNvPr id="10243" name="Group 98"/>
          <p:cNvGrpSpPr/>
          <p:nvPr/>
        </p:nvGrpSpPr>
        <p:grpSpPr>
          <a:xfrm>
            <a:off x="3967163" y="3951288"/>
            <a:ext cx="4475162" cy="1101725"/>
            <a:chOff x="2726" y="2007"/>
            <a:chExt cx="2819" cy="694"/>
          </a:xfrm>
        </p:grpSpPr>
        <p:cxnSp>
          <p:nvCxnSpPr>
            <p:cNvPr id="10260" name="AutoShape 66"/>
            <p:cNvCxnSpPr>
              <a:cxnSpLocks noChangeAspect="1"/>
              <a:stCxn id="10265" idx="6"/>
              <a:endCxn id="10263" idx="1"/>
            </p:cNvCxnSpPr>
            <p:nvPr/>
          </p:nvCxnSpPr>
          <p:spPr>
            <a:xfrm flipV="1">
              <a:off x="4575" y="2424"/>
              <a:ext cx="354" cy="148"/>
            </a:xfrm>
            <a:prstGeom prst="straightConnector1">
              <a:avLst/>
            </a:prstGeom>
            <a:ln w="6350" cap="flat" cmpd="sng">
              <a:solidFill>
                <a:schemeClr val="tx1"/>
              </a:solidFill>
              <a:prstDash val="dash"/>
              <a:headEnd type="none" w="med" len="med"/>
              <a:tailEnd type="none" w="lg" len="lg"/>
            </a:ln>
          </p:spPr>
        </p:cxnSp>
        <p:cxnSp>
          <p:nvCxnSpPr>
            <p:cNvPr id="10261" name="AutoShape 70"/>
            <p:cNvCxnSpPr>
              <a:cxnSpLocks noChangeAspect="1"/>
              <a:stCxn id="10264" idx="6"/>
              <a:endCxn id="10262" idx="1"/>
            </p:cNvCxnSpPr>
            <p:nvPr/>
          </p:nvCxnSpPr>
          <p:spPr>
            <a:xfrm>
              <a:off x="4482" y="2134"/>
              <a:ext cx="447" cy="138"/>
            </a:xfrm>
            <a:prstGeom prst="straightConnector1">
              <a:avLst/>
            </a:prstGeom>
            <a:ln w="6350" cap="flat" cmpd="sng">
              <a:solidFill>
                <a:schemeClr val="tx1"/>
              </a:solidFill>
              <a:prstDash val="dash"/>
              <a:headEnd type="none" w="med" len="med"/>
              <a:tailEnd type="none" w="lg" len="lg"/>
            </a:ln>
          </p:spPr>
        </p:cxnSp>
        <p:sp>
          <p:nvSpPr>
            <p:cNvPr id="10262" name="Freeform 93"/>
            <p:cNvSpPr>
              <a:spLocks noChangeAspect="1"/>
            </p:cNvSpPr>
            <p:nvPr/>
          </p:nvSpPr>
          <p:spPr>
            <a:xfrm rot="-9600000" flipH="1" flipV="1">
              <a:off x="4855" y="2220"/>
              <a:ext cx="77" cy="78"/>
            </a:xfrm>
            <a:custGeom>
              <a:avLst/>
              <a:gdLst>
                <a:gd name="txL" fmla="*/ 0 w 51"/>
                <a:gd name="txT" fmla="*/ 0 h 53"/>
                <a:gd name="txR" fmla="*/ 51 w 51"/>
                <a:gd name="txB" fmla="*/ 53 h 53"/>
              </a:gdLst>
              <a:ahLst/>
              <a:cxnLst>
                <a:cxn ang="0">
                  <a:pos x="0" y="0"/>
                </a:cxn>
                <a:cxn ang="0">
                  <a:pos x="10762" y="4143"/>
                </a:cxn>
                <a:cxn ang="0">
                  <a:pos x="0" y="8055"/>
                </a:cxn>
              </a:cxnLst>
              <a:rect l="txL" t="txT" r="txR" b="txB"/>
              <a:pathLst>
                <a:path w="51" h="53">
                  <a:moveTo>
                    <a:pt x="0" y="0"/>
                  </a:moveTo>
                  <a:lnTo>
                    <a:pt x="51" y="27"/>
                  </a:lnTo>
                  <a:lnTo>
                    <a:pt x="0" y="53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63" name="Freeform 94"/>
            <p:cNvSpPr>
              <a:spLocks noChangeAspect="1"/>
            </p:cNvSpPr>
            <p:nvPr/>
          </p:nvSpPr>
          <p:spPr>
            <a:xfrm rot="9600000" flipH="1">
              <a:off x="4855" y="2400"/>
              <a:ext cx="77" cy="78"/>
            </a:xfrm>
            <a:custGeom>
              <a:avLst/>
              <a:gdLst>
                <a:gd name="txL" fmla="*/ 0 w 51"/>
                <a:gd name="txT" fmla="*/ 0 h 53"/>
                <a:gd name="txR" fmla="*/ 51 w 51"/>
                <a:gd name="txB" fmla="*/ 53 h 53"/>
              </a:gdLst>
              <a:ahLst/>
              <a:cxnLst>
                <a:cxn ang="0">
                  <a:pos x="0" y="0"/>
                </a:cxn>
                <a:cxn ang="0">
                  <a:pos x="10762" y="4143"/>
                </a:cxn>
                <a:cxn ang="0">
                  <a:pos x="0" y="8055"/>
                </a:cxn>
              </a:cxnLst>
              <a:rect l="txL" t="txT" r="txR" b="txB"/>
              <a:pathLst>
                <a:path w="51" h="53">
                  <a:moveTo>
                    <a:pt x="0" y="0"/>
                  </a:moveTo>
                  <a:lnTo>
                    <a:pt x="51" y="27"/>
                  </a:lnTo>
                  <a:lnTo>
                    <a:pt x="0" y="53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64" name="Oval 55"/>
            <p:cNvSpPr>
              <a:spLocks noChangeAspect="1"/>
            </p:cNvSpPr>
            <p:nvPr/>
          </p:nvSpPr>
          <p:spPr>
            <a:xfrm>
              <a:off x="3353" y="2013"/>
              <a:ext cx="1129" cy="241"/>
            </a:xfrm>
            <a:prstGeom prst="ellipse">
              <a:avLst/>
            </a:prstGeom>
            <a:solidFill>
              <a:schemeClr val="bg1"/>
            </a:solidFill>
            <a:ln w="63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pPr algn="ctr" eaLnBrk="1" hangingPunct="1"/>
              <a:r>
                <a:rPr lang="en-US" altLang="en-US" sz="1400" b="0" dirty="0">
                  <a:latin typeface="Arial" panose="020B0604020202020204" pitchFamily="34" charset="0"/>
                </a:rPr>
                <a:t>AddUser</a:t>
              </a:r>
              <a:endParaRPr lang="en-US" altLang="en-US" sz="1400" b="0" dirty="0">
                <a:latin typeface="Arial" panose="020B0604020202020204" pitchFamily="34" charset="0"/>
              </a:endParaRPr>
            </a:p>
          </p:txBody>
        </p:sp>
        <p:sp>
          <p:nvSpPr>
            <p:cNvPr id="10265" name="Oval 56"/>
            <p:cNvSpPr>
              <a:spLocks noChangeAspect="1"/>
            </p:cNvSpPr>
            <p:nvPr/>
          </p:nvSpPr>
          <p:spPr>
            <a:xfrm>
              <a:off x="3260" y="2442"/>
              <a:ext cx="1315" cy="259"/>
            </a:xfrm>
            <a:prstGeom prst="ellipse">
              <a:avLst/>
            </a:prstGeom>
            <a:solidFill>
              <a:schemeClr val="bg1"/>
            </a:solidFill>
            <a:ln w="63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pPr algn="ctr" eaLnBrk="1" hangingPunct="1"/>
              <a:r>
                <a:rPr lang="en-US" altLang="en-US" sz="1400" b="0" dirty="0">
                  <a:latin typeface="Arial" panose="020B0604020202020204" pitchFamily="34" charset="0"/>
                </a:rPr>
                <a:t>SetDevicePrefs</a:t>
              </a:r>
              <a:endParaRPr lang="en-US" altLang="en-US" sz="1400" b="0" dirty="0">
                <a:latin typeface="Arial" panose="020B0604020202020204" pitchFamily="34" charset="0"/>
              </a:endParaRPr>
            </a:p>
          </p:txBody>
        </p:sp>
        <p:sp>
          <p:nvSpPr>
            <p:cNvPr id="10266" name="Freeform 57"/>
            <p:cNvSpPr>
              <a:spLocks noChangeAspect="1"/>
            </p:cNvSpPr>
            <p:nvPr/>
          </p:nvSpPr>
          <p:spPr>
            <a:xfrm>
              <a:off x="2999" y="2256"/>
              <a:ext cx="28" cy="73"/>
            </a:xfrm>
            <a:custGeom>
              <a:avLst/>
              <a:gdLst>
                <a:gd name="txL" fmla="*/ 0 w 33"/>
                <a:gd name="txT" fmla="*/ 0 h 83"/>
                <a:gd name="txR" fmla="*/ 33 w 33"/>
                <a:gd name="txB" fmla="*/ 83 h 83"/>
              </a:gdLst>
              <a:ahLst/>
              <a:cxnLst>
                <a:cxn ang="0">
                  <a:pos x="0" y="0"/>
                </a:cxn>
                <a:cxn ang="0">
                  <a:pos x="3" y="4"/>
                </a:cxn>
                <a:cxn ang="0">
                  <a:pos x="3" y="4"/>
                </a:cxn>
                <a:cxn ang="0">
                  <a:pos x="3" y="10"/>
                </a:cxn>
                <a:cxn ang="0">
                  <a:pos x="3" y="14"/>
                </a:cxn>
                <a:cxn ang="0">
                  <a:pos x="3" y="16"/>
                </a:cxn>
              </a:cxnLst>
              <a:rect l="txL" t="txT" r="txR" b="txB"/>
              <a:pathLst>
                <a:path w="33" h="83">
                  <a:moveTo>
                    <a:pt x="0" y="0"/>
                  </a:moveTo>
                  <a:lnTo>
                    <a:pt x="18" y="9"/>
                  </a:lnTo>
                  <a:lnTo>
                    <a:pt x="32" y="24"/>
                  </a:lnTo>
                  <a:lnTo>
                    <a:pt x="33" y="50"/>
                  </a:lnTo>
                  <a:lnTo>
                    <a:pt x="27" y="71"/>
                  </a:lnTo>
                  <a:lnTo>
                    <a:pt x="8" y="83"/>
                  </a:lnTo>
                </a:path>
              </a:pathLst>
            </a:custGeom>
            <a:noFill/>
            <a:ln w="317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0267" name="Group 58"/>
            <p:cNvGrpSpPr>
              <a:grpSpLocks noChangeAspect="1"/>
            </p:cNvGrpSpPr>
            <p:nvPr/>
          </p:nvGrpSpPr>
          <p:grpSpPr>
            <a:xfrm>
              <a:off x="2835" y="2092"/>
              <a:ext cx="209" cy="368"/>
              <a:chOff x="2295" y="8577"/>
              <a:chExt cx="600" cy="1053"/>
            </a:xfrm>
          </p:grpSpPr>
          <p:sp>
            <p:nvSpPr>
              <p:cNvPr id="10274" name="Oval 59"/>
              <p:cNvSpPr>
                <a:spLocks noChangeAspect="1"/>
              </p:cNvSpPr>
              <p:nvPr/>
            </p:nvSpPr>
            <p:spPr>
              <a:xfrm>
                <a:off x="2413" y="8577"/>
                <a:ext cx="360" cy="354"/>
              </a:xfrm>
              <a:prstGeom prst="ellipse">
                <a:avLst/>
              </a:prstGeom>
              <a:noFill/>
              <a:ln w="63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275" name="Line 60"/>
              <p:cNvSpPr>
                <a:spLocks noChangeAspect="1"/>
              </p:cNvSpPr>
              <p:nvPr/>
            </p:nvSpPr>
            <p:spPr>
              <a:xfrm>
                <a:off x="2595" y="8943"/>
                <a:ext cx="0" cy="392"/>
              </a:xfrm>
              <a:prstGeom prst="line">
                <a:avLst/>
              </a:prstGeom>
              <a:ln w="63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76" name="Line 61"/>
              <p:cNvSpPr>
                <a:spLocks noChangeAspect="1"/>
              </p:cNvSpPr>
              <p:nvPr/>
            </p:nvSpPr>
            <p:spPr>
              <a:xfrm rot="-5400000">
                <a:off x="2595" y="8939"/>
                <a:ext cx="0" cy="400"/>
              </a:xfrm>
              <a:prstGeom prst="line">
                <a:avLst/>
              </a:prstGeom>
              <a:ln w="63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77" name="Freeform 62"/>
              <p:cNvSpPr>
                <a:spLocks noChangeAspect="1"/>
              </p:cNvSpPr>
              <p:nvPr/>
            </p:nvSpPr>
            <p:spPr>
              <a:xfrm>
                <a:off x="2295" y="9335"/>
                <a:ext cx="600" cy="295"/>
              </a:xfrm>
              <a:custGeom>
                <a:avLst/>
                <a:gdLst>
                  <a:gd name="txL" fmla="*/ 0 w 288"/>
                  <a:gd name="txT" fmla="*/ 0 h 144"/>
                  <a:gd name="txR" fmla="*/ 288 w 288"/>
                  <a:gd name="txB" fmla="*/ 144 h 144"/>
                </a:gdLst>
                <a:ahLst/>
                <a:cxnLst>
                  <a:cxn ang="0">
                    <a:pos x="0" y="1610319"/>
                  </a:cxn>
                  <a:cxn ang="0">
                    <a:pos x="2005706" y="0"/>
                  </a:cxn>
                  <a:cxn ang="0">
                    <a:pos x="4010758" y="1610319"/>
                  </a:cxn>
                </a:cxnLst>
                <a:rect l="txL" t="txT" r="txR" b="txB"/>
                <a:pathLst>
                  <a:path w="288" h="144">
                    <a:moveTo>
                      <a:pt x="0" y="144"/>
                    </a:moveTo>
                    <a:lnTo>
                      <a:pt x="144" y="0"/>
                    </a:lnTo>
                    <a:lnTo>
                      <a:pt x="288" y="144"/>
                    </a:lnTo>
                  </a:path>
                </a:pathLst>
              </a:custGeom>
              <a:noFill/>
              <a:ln w="63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0268" name="Text Box 63"/>
            <p:cNvSpPr txBox="1">
              <a:spLocks noChangeAspect="1"/>
            </p:cNvSpPr>
            <p:nvPr/>
          </p:nvSpPr>
          <p:spPr>
            <a:xfrm>
              <a:off x="2726" y="2475"/>
              <a:ext cx="447" cy="1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algn="ctr" eaLnBrk="1" hangingPunct="1"/>
              <a:r>
                <a:rPr lang="en-US" altLang="en-US" sz="1400" b="0" dirty="0">
                  <a:latin typeface="Arial" panose="020B0604020202020204" pitchFamily="34" charset="0"/>
                </a:rPr>
                <a:t>Landlord</a:t>
              </a:r>
              <a:endParaRPr lang="en-US" altLang="en-US" sz="1400" b="0" dirty="0">
                <a:latin typeface="Arial" panose="020B0604020202020204" pitchFamily="34" charset="0"/>
              </a:endParaRPr>
            </a:p>
          </p:txBody>
        </p:sp>
        <p:cxnSp>
          <p:nvCxnSpPr>
            <p:cNvPr id="10269" name="AutoShape 64"/>
            <p:cNvCxnSpPr>
              <a:cxnSpLocks noChangeAspect="1"/>
              <a:stCxn id="10266" idx="2"/>
              <a:endCxn id="10264" idx="2"/>
            </p:cNvCxnSpPr>
            <p:nvPr/>
          </p:nvCxnSpPr>
          <p:spPr>
            <a:xfrm flipV="1">
              <a:off x="3026" y="2134"/>
              <a:ext cx="327" cy="143"/>
            </a:xfrm>
            <a:prstGeom prst="straightConnector1">
              <a:avLst/>
            </a:prstGeom>
            <a:ln w="63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0270" name="AutoShape 65"/>
            <p:cNvCxnSpPr>
              <a:cxnSpLocks noChangeAspect="1"/>
              <a:stCxn id="10266" idx="3"/>
              <a:endCxn id="10265" idx="2"/>
            </p:cNvCxnSpPr>
            <p:nvPr/>
          </p:nvCxnSpPr>
          <p:spPr>
            <a:xfrm>
              <a:off x="3027" y="2301"/>
              <a:ext cx="233" cy="271"/>
            </a:xfrm>
            <a:prstGeom prst="straightConnector1">
              <a:avLst/>
            </a:prstGeom>
            <a:ln w="63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271" name="Text Box 67"/>
            <p:cNvSpPr txBox="1">
              <a:spLocks noChangeAspect="1"/>
            </p:cNvSpPr>
            <p:nvPr/>
          </p:nvSpPr>
          <p:spPr>
            <a:xfrm rot="1020000">
              <a:off x="4488" y="2007"/>
              <a:ext cx="420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algn="ctr" eaLnBrk="1" hangingPunct="1"/>
              <a:r>
                <a:rPr lang="en-US" altLang="en-US" sz="1200" b="0" dirty="0">
                  <a:latin typeface="Arial" panose="020B0604020202020204" pitchFamily="34" charset="0"/>
                  <a:cs typeface="Arial" panose="020B0604020202020204" pitchFamily="34" charset="0"/>
                  <a:sym typeface="MT Extra" panose="05050102010205020202" pitchFamily="18" charset="2"/>
                </a:rPr>
                <a:t>«</a:t>
              </a:r>
              <a:r>
                <a:rPr lang="en-US" altLang="en-US" sz="1200" b="0" dirty="0">
                  <a:latin typeface="Arial" panose="020B0604020202020204" pitchFamily="34" charset="0"/>
                </a:rPr>
                <a:t>include</a:t>
              </a:r>
              <a:r>
                <a:rPr lang="en-US" altLang="en-US" sz="1200" b="0" dirty="0">
                  <a:latin typeface="Arial" panose="020B0604020202020204" pitchFamily="34" charset="0"/>
                  <a:cs typeface="Arial" panose="020B0604020202020204" pitchFamily="34" charset="0"/>
                </a:rPr>
                <a:t>»</a:t>
              </a:r>
              <a:endParaRPr lang="en-US" altLang="en-US" sz="1200" b="0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10272" name="Text Box 68"/>
            <p:cNvSpPr txBox="1">
              <a:spLocks noChangeAspect="1"/>
            </p:cNvSpPr>
            <p:nvPr/>
          </p:nvSpPr>
          <p:spPr>
            <a:xfrm rot="-1200000">
              <a:off x="4533" y="2511"/>
              <a:ext cx="420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algn="ctr" eaLnBrk="1" hangingPunct="1"/>
              <a:r>
                <a:rPr lang="en-US" altLang="en-US" sz="1200" b="0" dirty="0">
                  <a:latin typeface="Arial" panose="020B0604020202020204" pitchFamily="34" charset="0"/>
                  <a:cs typeface="Arial" panose="020B0604020202020204" pitchFamily="34" charset="0"/>
                  <a:sym typeface="MT Extra" panose="05050102010205020202" pitchFamily="18" charset="2"/>
                </a:rPr>
                <a:t>«</a:t>
              </a:r>
              <a:r>
                <a:rPr lang="en-US" altLang="en-US" sz="1200" b="0" dirty="0">
                  <a:latin typeface="Arial" panose="020B0604020202020204" pitchFamily="34" charset="0"/>
                </a:rPr>
                <a:t>include</a:t>
              </a:r>
              <a:r>
                <a:rPr lang="en-US" altLang="en-US" sz="1200" b="0" dirty="0">
                  <a:latin typeface="Arial" panose="020B0604020202020204" pitchFamily="34" charset="0"/>
                  <a:cs typeface="Arial" panose="020B0604020202020204" pitchFamily="34" charset="0"/>
                </a:rPr>
                <a:t>»</a:t>
              </a:r>
              <a:endParaRPr lang="en-US" altLang="en-US" sz="1200" b="0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10273" name="Oval 69"/>
            <p:cNvSpPr>
              <a:spLocks noChangeAspect="1"/>
            </p:cNvSpPr>
            <p:nvPr/>
          </p:nvSpPr>
          <p:spPr>
            <a:xfrm>
              <a:off x="4842" y="2245"/>
              <a:ext cx="703" cy="207"/>
            </a:xfrm>
            <a:prstGeom prst="ellipse">
              <a:avLst/>
            </a:prstGeom>
            <a:solidFill>
              <a:schemeClr val="bg1"/>
            </a:solidFill>
            <a:ln w="63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pPr algn="ctr" eaLnBrk="1" hangingPunct="1"/>
              <a:r>
                <a:rPr lang="en-US" altLang="en-US" sz="1400" b="0" dirty="0">
                  <a:latin typeface="Arial" panose="020B0604020202020204" pitchFamily="34" charset="0"/>
                </a:rPr>
                <a:t>Login</a:t>
              </a:r>
              <a:endParaRPr lang="en-US" altLang="en-US" sz="1400" b="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0244" name="Group 97"/>
          <p:cNvGrpSpPr/>
          <p:nvPr/>
        </p:nvGrpSpPr>
        <p:grpSpPr>
          <a:xfrm>
            <a:off x="517525" y="3571875"/>
            <a:ext cx="2987675" cy="1481138"/>
            <a:chOff x="553" y="1768"/>
            <a:chExt cx="1882" cy="933"/>
          </a:xfrm>
        </p:grpSpPr>
        <p:sp>
          <p:nvSpPr>
            <p:cNvPr id="10247" name="Freeform 30"/>
            <p:cNvSpPr>
              <a:spLocks noChangeAspect="1"/>
            </p:cNvSpPr>
            <p:nvPr/>
          </p:nvSpPr>
          <p:spPr>
            <a:xfrm>
              <a:off x="826" y="2125"/>
              <a:ext cx="28" cy="74"/>
            </a:xfrm>
            <a:custGeom>
              <a:avLst/>
              <a:gdLst>
                <a:gd name="txL" fmla="*/ 0 w 33"/>
                <a:gd name="txT" fmla="*/ 0 h 83"/>
                <a:gd name="txR" fmla="*/ 33 w 33"/>
                <a:gd name="txB" fmla="*/ 83 h 83"/>
              </a:gdLst>
              <a:ahLst/>
              <a:cxnLst>
                <a:cxn ang="0">
                  <a:pos x="0" y="0"/>
                </a:cxn>
                <a:cxn ang="0">
                  <a:pos x="3" y="4"/>
                </a:cxn>
                <a:cxn ang="0">
                  <a:pos x="3" y="5"/>
                </a:cxn>
                <a:cxn ang="0">
                  <a:pos x="3" y="12"/>
                </a:cxn>
                <a:cxn ang="0">
                  <a:pos x="3" y="17"/>
                </a:cxn>
                <a:cxn ang="0">
                  <a:pos x="3" y="19"/>
                </a:cxn>
              </a:cxnLst>
              <a:rect l="txL" t="txT" r="txR" b="txB"/>
              <a:pathLst>
                <a:path w="33" h="83">
                  <a:moveTo>
                    <a:pt x="0" y="0"/>
                  </a:moveTo>
                  <a:lnTo>
                    <a:pt x="18" y="9"/>
                  </a:lnTo>
                  <a:lnTo>
                    <a:pt x="32" y="24"/>
                  </a:lnTo>
                  <a:lnTo>
                    <a:pt x="33" y="50"/>
                  </a:lnTo>
                  <a:lnTo>
                    <a:pt x="27" y="71"/>
                  </a:lnTo>
                  <a:lnTo>
                    <a:pt x="8" y="83"/>
                  </a:lnTo>
                </a:path>
              </a:pathLst>
            </a:custGeom>
            <a:noFill/>
            <a:ln w="317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0248" name="Group 33"/>
            <p:cNvGrpSpPr>
              <a:grpSpLocks noChangeAspect="1"/>
            </p:cNvGrpSpPr>
            <p:nvPr/>
          </p:nvGrpSpPr>
          <p:grpSpPr>
            <a:xfrm>
              <a:off x="662" y="1962"/>
              <a:ext cx="210" cy="369"/>
              <a:chOff x="2295" y="8577"/>
              <a:chExt cx="600" cy="1053"/>
            </a:xfrm>
          </p:grpSpPr>
          <p:sp>
            <p:nvSpPr>
              <p:cNvPr id="10256" name="Oval 34"/>
              <p:cNvSpPr>
                <a:spLocks noChangeAspect="1"/>
              </p:cNvSpPr>
              <p:nvPr/>
            </p:nvSpPr>
            <p:spPr>
              <a:xfrm>
                <a:off x="2413" y="8577"/>
                <a:ext cx="360" cy="354"/>
              </a:xfrm>
              <a:prstGeom prst="ellipse">
                <a:avLst/>
              </a:prstGeom>
              <a:noFill/>
              <a:ln w="63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257" name="Line 35"/>
              <p:cNvSpPr>
                <a:spLocks noChangeAspect="1"/>
              </p:cNvSpPr>
              <p:nvPr/>
            </p:nvSpPr>
            <p:spPr>
              <a:xfrm>
                <a:off x="2595" y="8943"/>
                <a:ext cx="0" cy="392"/>
              </a:xfrm>
              <a:prstGeom prst="line">
                <a:avLst/>
              </a:prstGeom>
              <a:ln w="63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58" name="Line 36"/>
              <p:cNvSpPr>
                <a:spLocks noChangeAspect="1"/>
              </p:cNvSpPr>
              <p:nvPr/>
            </p:nvSpPr>
            <p:spPr>
              <a:xfrm rot="-5400000">
                <a:off x="2595" y="8939"/>
                <a:ext cx="0" cy="400"/>
              </a:xfrm>
              <a:prstGeom prst="line">
                <a:avLst/>
              </a:prstGeom>
              <a:ln w="63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59" name="Freeform 37"/>
              <p:cNvSpPr>
                <a:spLocks noChangeAspect="1"/>
              </p:cNvSpPr>
              <p:nvPr/>
            </p:nvSpPr>
            <p:spPr>
              <a:xfrm>
                <a:off x="2295" y="9335"/>
                <a:ext cx="600" cy="295"/>
              </a:xfrm>
              <a:custGeom>
                <a:avLst/>
                <a:gdLst>
                  <a:gd name="txL" fmla="*/ 0 w 288"/>
                  <a:gd name="txT" fmla="*/ 0 h 144"/>
                  <a:gd name="txR" fmla="*/ 288 w 288"/>
                  <a:gd name="txB" fmla="*/ 144 h 144"/>
                </a:gdLst>
                <a:ahLst/>
                <a:cxnLst>
                  <a:cxn ang="0">
                    <a:pos x="0" y="1610319"/>
                  </a:cxn>
                  <a:cxn ang="0">
                    <a:pos x="2005706" y="0"/>
                  </a:cxn>
                  <a:cxn ang="0">
                    <a:pos x="4010758" y="1610319"/>
                  </a:cxn>
                </a:cxnLst>
                <a:rect l="txL" t="txT" r="txR" b="txB"/>
                <a:pathLst>
                  <a:path w="288" h="144">
                    <a:moveTo>
                      <a:pt x="0" y="144"/>
                    </a:moveTo>
                    <a:lnTo>
                      <a:pt x="144" y="0"/>
                    </a:lnTo>
                    <a:lnTo>
                      <a:pt x="288" y="144"/>
                    </a:lnTo>
                  </a:path>
                </a:pathLst>
              </a:custGeom>
              <a:noFill/>
              <a:ln w="63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0249" name="Text Box 38"/>
            <p:cNvSpPr txBox="1">
              <a:spLocks noChangeAspect="1"/>
            </p:cNvSpPr>
            <p:nvPr/>
          </p:nvSpPr>
          <p:spPr>
            <a:xfrm>
              <a:off x="553" y="2346"/>
              <a:ext cx="447" cy="1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algn="ctr" eaLnBrk="1" hangingPunct="1"/>
              <a:r>
                <a:rPr lang="en-US" altLang="en-US" sz="1400" b="0" dirty="0">
                  <a:latin typeface="Arial" panose="020B0604020202020204" pitchFamily="34" charset="0"/>
                </a:rPr>
                <a:t>Landlord</a:t>
              </a:r>
              <a:endParaRPr lang="en-US" altLang="en-US" sz="1400" b="0" dirty="0">
                <a:latin typeface="Arial" panose="020B0604020202020204" pitchFamily="34" charset="0"/>
              </a:endParaRPr>
            </a:p>
          </p:txBody>
        </p:sp>
        <p:cxnSp>
          <p:nvCxnSpPr>
            <p:cNvPr id="10250" name="AutoShape 39"/>
            <p:cNvCxnSpPr>
              <a:cxnSpLocks noChangeAspect="1"/>
              <a:stCxn id="10247" idx="3"/>
              <a:endCxn id="10252" idx="2"/>
            </p:cNvCxnSpPr>
            <p:nvPr/>
          </p:nvCxnSpPr>
          <p:spPr>
            <a:xfrm>
              <a:off x="854" y="2170"/>
              <a:ext cx="338" cy="39"/>
            </a:xfrm>
            <a:prstGeom prst="straightConnector1">
              <a:avLst/>
            </a:prstGeom>
            <a:ln w="63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0251" name="AutoShape 40"/>
            <p:cNvCxnSpPr>
              <a:cxnSpLocks noChangeAspect="1"/>
              <a:stCxn id="10247" idx="4"/>
              <a:endCxn id="10253" idx="2"/>
            </p:cNvCxnSpPr>
            <p:nvPr/>
          </p:nvCxnSpPr>
          <p:spPr>
            <a:xfrm>
              <a:off x="850" y="2188"/>
              <a:ext cx="273" cy="384"/>
            </a:xfrm>
            <a:prstGeom prst="straightConnector1">
              <a:avLst/>
            </a:prstGeom>
            <a:ln w="63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252" name="Oval 31"/>
            <p:cNvSpPr>
              <a:spLocks noChangeAspect="1"/>
            </p:cNvSpPr>
            <p:nvPr/>
          </p:nvSpPr>
          <p:spPr>
            <a:xfrm>
              <a:off x="1192" y="2088"/>
              <a:ext cx="1129" cy="241"/>
            </a:xfrm>
            <a:prstGeom prst="ellipse">
              <a:avLst/>
            </a:prstGeom>
            <a:solidFill>
              <a:schemeClr val="bg1"/>
            </a:solidFill>
            <a:ln w="63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pPr algn="ctr" eaLnBrk="1" hangingPunct="1"/>
              <a:r>
                <a:rPr lang="en-US" altLang="en-US" sz="1400" b="0" dirty="0">
                  <a:latin typeface="Arial" panose="020B0604020202020204" pitchFamily="34" charset="0"/>
                </a:rPr>
                <a:t>AddUser</a:t>
              </a:r>
              <a:endParaRPr lang="en-US" altLang="en-US" sz="1400" b="0" dirty="0">
                <a:latin typeface="Arial" panose="020B0604020202020204" pitchFamily="34" charset="0"/>
              </a:endParaRPr>
            </a:p>
          </p:txBody>
        </p:sp>
        <p:sp>
          <p:nvSpPr>
            <p:cNvPr id="10253" name="Oval 32"/>
            <p:cNvSpPr>
              <a:spLocks noChangeAspect="1"/>
            </p:cNvSpPr>
            <p:nvPr/>
          </p:nvSpPr>
          <p:spPr>
            <a:xfrm>
              <a:off x="1123" y="2442"/>
              <a:ext cx="1312" cy="259"/>
            </a:xfrm>
            <a:prstGeom prst="ellipse">
              <a:avLst/>
            </a:prstGeom>
            <a:solidFill>
              <a:schemeClr val="bg1"/>
            </a:solidFill>
            <a:ln w="63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pPr algn="ctr" eaLnBrk="1" hangingPunct="1"/>
              <a:r>
                <a:rPr lang="en-US" altLang="en-US" sz="1400" b="0" dirty="0">
                  <a:latin typeface="Arial" panose="020B0604020202020204" pitchFamily="34" charset="0"/>
                </a:rPr>
                <a:t>SetDevicePrefs</a:t>
              </a:r>
              <a:endParaRPr lang="en-US" altLang="en-US" sz="1400" b="0" dirty="0">
                <a:latin typeface="Arial" panose="020B0604020202020204" pitchFamily="34" charset="0"/>
              </a:endParaRPr>
            </a:p>
          </p:txBody>
        </p:sp>
        <p:sp>
          <p:nvSpPr>
            <p:cNvPr id="10254" name="Oval 48"/>
            <p:cNvSpPr>
              <a:spLocks noChangeAspect="1"/>
            </p:cNvSpPr>
            <p:nvPr/>
          </p:nvSpPr>
          <p:spPr>
            <a:xfrm>
              <a:off x="1256" y="1768"/>
              <a:ext cx="804" cy="207"/>
            </a:xfrm>
            <a:prstGeom prst="ellipse">
              <a:avLst/>
            </a:prstGeom>
            <a:solidFill>
              <a:schemeClr val="bg1"/>
            </a:solidFill>
            <a:ln w="63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pPr algn="ctr" eaLnBrk="1" hangingPunct="1"/>
              <a:r>
                <a:rPr lang="en-US" altLang="en-US" sz="1400" b="0" dirty="0">
                  <a:latin typeface="Arial" panose="020B0604020202020204" pitchFamily="34" charset="0"/>
                </a:rPr>
                <a:t>Login</a:t>
              </a:r>
              <a:endParaRPr lang="en-US" altLang="en-US" sz="1400" b="0" dirty="0">
                <a:latin typeface="Arial" panose="020B0604020202020204" pitchFamily="34" charset="0"/>
              </a:endParaRPr>
            </a:p>
          </p:txBody>
        </p:sp>
        <p:cxnSp>
          <p:nvCxnSpPr>
            <p:cNvPr id="10255" name="AutoShape 72"/>
            <p:cNvCxnSpPr>
              <a:cxnSpLocks noChangeAspect="1"/>
              <a:stCxn id="10247" idx="2"/>
              <a:endCxn id="10254" idx="2"/>
            </p:cNvCxnSpPr>
            <p:nvPr/>
          </p:nvCxnSpPr>
          <p:spPr>
            <a:xfrm flipV="1">
              <a:off x="853" y="1872"/>
              <a:ext cx="403" cy="274"/>
            </a:xfrm>
            <a:prstGeom prst="straightConnector1">
              <a:avLst/>
            </a:prstGeom>
            <a:ln w="63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10245" name="Text Box 80"/>
          <p:cNvSpPr txBox="1">
            <a:spLocks noChangeAspect="1"/>
          </p:cNvSpPr>
          <p:nvPr/>
        </p:nvSpPr>
        <p:spPr>
          <a:xfrm>
            <a:off x="760413" y="2697163"/>
            <a:ext cx="590550" cy="274637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800" dirty="0">
                <a:latin typeface="Arial" panose="020B0604020202020204" pitchFamily="34" charset="0"/>
              </a:rPr>
              <a:t>BAD: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10246" name="Text Box 81"/>
          <p:cNvSpPr txBox="1">
            <a:spLocks noChangeAspect="1"/>
          </p:cNvSpPr>
          <p:nvPr/>
        </p:nvSpPr>
        <p:spPr>
          <a:xfrm>
            <a:off x="5013325" y="2697163"/>
            <a:ext cx="793750" cy="274637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800" dirty="0">
                <a:latin typeface="Arial" panose="020B0604020202020204" pitchFamily="34" charset="0"/>
              </a:rPr>
              <a:t>GOOD: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9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Use Case Diagram: Account Management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1267" name="Text Box 119"/>
          <p:cNvSpPr txBox="1">
            <a:spLocks noChangeAspect="1"/>
          </p:cNvSpPr>
          <p:nvPr/>
        </p:nvSpPr>
        <p:spPr>
          <a:xfrm>
            <a:off x="7375525" y="1139825"/>
            <a:ext cx="1476375" cy="1127125"/>
          </a:xfrm>
          <a:prstGeom prst="rect">
            <a:avLst/>
          </a:prstGeom>
          <a:solidFill>
            <a:schemeClr val="bg1"/>
          </a:solidFill>
          <a:ln w="5715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UC1: Unlock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UC2: Lock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UC3: AddUser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UC4: RemoveUser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UC5: InspectAccessHistory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UC6: SetDevicePrefs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UC7: AuthenticateUser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UC8: Login</a:t>
            </a:r>
            <a:endParaRPr lang="en-US" altLang="en-US" sz="800" b="0" dirty="0">
              <a:latin typeface="Arial" panose="020B0604020202020204" pitchFamily="34" charset="0"/>
            </a:endParaRPr>
          </a:p>
        </p:txBody>
      </p:sp>
      <p:pic>
        <p:nvPicPr>
          <p:cNvPr id="11268" name="Picture 1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475" y="2514600"/>
            <a:ext cx="6681788" cy="3375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Use Case Generalizations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4825" y="1600200"/>
            <a:ext cx="6870700" cy="673100"/>
          </a:xfrm>
        </p:spPr>
        <p:txBody>
          <a:bodyPr vert="horz" wrap="square" lIns="91440" tIns="45720" rIns="91440" bIns="45720" numCol="1" anchor="t" anchorCtr="0" compatLnSpc="1">
            <a:normAutofit fontScale="775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More abstract representations can be derived from particular representations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292" name="Text Box 53"/>
          <p:cNvSpPr txBox="1">
            <a:spLocks noChangeAspect="1"/>
          </p:cNvSpPr>
          <p:nvPr/>
        </p:nvSpPr>
        <p:spPr>
          <a:xfrm>
            <a:off x="1065213" y="5878513"/>
            <a:ext cx="2576512" cy="369887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Actor Generalization</a:t>
            </a:r>
            <a:endParaRPr lang="en-US" altLang="en-US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grpSp>
        <p:nvGrpSpPr>
          <p:cNvPr id="12293" name="Group 84"/>
          <p:cNvGrpSpPr/>
          <p:nvPr/>
        </p:nvGrpSpPr>
        <p:grpSpPr>
          <a:xfrm>
            <a:off x="4633913" y="3508375"/>
            <a:ext cx="3394075" cy="1917700"/>
            <a:chOff x="3795" y="1939"/>
            <a:chExt cx="2138" cy="1208"/>
          </a:xfrm>
        </p:grpSpPr>
        <p:sp>
          <p:nvSpPr>
            <p:cNvPr id="12297" name="Oval 50"/>
            <p:cNvSpPr>
              <a:spLocks noChangeAspect="1"/>
            </p:cNvSpPr>
            <p:nvPr/>
          </p:nvSpPr>
          <p:spPr>
            <a:xfrm>
              <a:off x="4211" y="1939"/>
              <a:ext cx="1244" cy="26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pPr algn="ctr" eaLnBrk="1" hangingPunct="1"/>
              <a:r>
                <a:rPr lang="en-US" altLang="en-US" sz="1400" b="0" dirty="0">
                  <a:latin typeface="Arial" panose="020B0604020202020204" pitchFamily="34" charset="0"/>
                </a:rPr>
                <a:t>UC9: ManageUsers</a:t>
              </a:r>
              <a:endParaRPr lang="en-US" altLang="en-US" sz="1400" b="0" i="1" dirty="0">
                <a:latin typeface="Arial" panose="020B0604020202020204" pitchFamily="34" charset="0"/>
              </a:endParaRPr>
            </a:p>
          </p:txBody>
        </p:sp>
        <p:sp>
          <p:nvSpPr>
            <p:cNvPr id="12298" name="Oval 51"/>
            <p:cNvSpPr>
              <a:spLocks noChangeAspect="1"/>
            </p:cNvSpPr>
            <p:nvPr/>
          </p:nvSpPr>
          <p:spPr>
            <a:xfrm>
              <a:off x="4875" y="2888"/>
              <a:ext cx="1058" cy="259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pPr algn="ctr" eaLnBrk="1" hangingPunct="1"/>
              <a:r>
                <a:rPr lang="en-US" altLang="en-US" sz="1400" b="0" dirty="0">
                  <a:latin typeface="Arial" panose="020B0604020202020204" pitchFamily="34" charset="0"/>
                </a:rPr>
                <a:t>UC4: RemoveUser</a:t>
              </a:r>
              <a:endParaRPr lang="en-US" altLang="en-US" sz="1400" b="0" i="1" dirty="0">
                <a:latin typeface="Arial" panose="020B0604020202020204" pitchFamily="34" charset="0"/>
              </a:endParaRPr>
            </a:p>
          </p:txBody>
        </p:sp>
        <p:sp>
          <p:nvSpPr>
            <p:cNvPr id="12299" name="Oval 52"/>
            <p:cNvSpPr>
              <a:spLocks noChangeAspect="1"/>
            </p:cNvSpPr>
            <p:nvPr/>
          </p:nvSpPr>
          <p:spPr>
            <a:xfrm>
              <a:off x="3795" y="2888"/>
              <a:ext cx="925" cy="23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pPr algn="ctr" eaLnBrk="1" hangingPunct="1"/>
              <a:r>
                <a:rPr lang="en-US" altLang="en-US" sz="1400" b="0" dirty="0">
                  <a:latin typeface="Arial" panose="020B0604020202020204" pitchFamily="34" charset="0"/>
                </a:rPr>
                <a:t>UC3: AddUser</a:t>
              </a:r>
              <a:endParaRPr lang="en-US" altLang="en-US" sz="1400" b="0" i="1" dirty="0">
                <a:latin typeface="Arial" panose="020B0604020202020204" pitchFamily="34" charset="0"/>
              </a:endParaRPr>
            </a:p>
          </p:txBody>
        </p:sp>
        <p:sp>
          <p:nvSpPr>
            <p:cNvPr id="12300" name="Freeform 56"/>
            <p:cNvSpPr>
              <a:spLocks noChangeAspect="1"/>
            </p:cNvSpPr>
            <p:nvPr/>
          </p:nvSpPr>
          <p:spPr>
            <a:xfrm>
              <a:off x="4259" y="2331"/>
              <a:ext cx="1146" cy="549"/>
            </a:xfrm>
            <a:custGeom>
              <a:avLst/>
              <a:gdLst>
                <a:gd name="txL" fmla="*/ 0 w 917"/>
                <a:gd name="txT" fmla="*/ 0 h 480"/>
                <a:gd name="txR" fmla="*/ 917 w 917"/>
                <a:gd name="txB" fmla="*/ 480 h 480"/>
              </a:gdLst>
              <a:ahLst/>
              <a:cxnLst>
                <a:cxn ang="0">
                  <a:pos x="0" y="2750"/>
                </a:cxn>
                <a:cxn ang="0">
                  <a:pos x="0" y="611"/>
                </a:cxn>
                <a:cxn ang="0">
                  <a:pos x="8332" y="611"/>
                </a:cxn>
                <a:cxn ang="0">
                  <a:pos x="8332" y="0"/>
                </a:cxn>
                <a:cxn ang="0">
                  <a:pos x="8332" y="611"/>
                </a:cxn>
                <a:cxn ang="0">
                  <a:pos x="16638" y="611"/>
                </a:cxn>
                <a:cxn ang="0">
                  <a:pos x="16638" y="2750"/>
                </a:cxn>
              </a:cxnLst>
              <a:rect l="txL" t="txT" r="txR" b="txB"/>
              <a:pathLst>
                <a:path w="917" h="480">
                  <a:moveTo>
                    <a:pt x="0" y="480"/>
                  </a:moveTo>
                  <a:lnTo>
                    <a:pt x="0" y="107"/>
                  </a:lnTo>
                  <a:lnTo>
                    <a:pt x="459" y="107"/>
                  </a:lnTo>
                  <a:lnTo>
                    <a:pt x="459" y="0"/>
                  </a:lnTo>
                  <a:lnTo>
                    <a:pt x="459" y="107"/>
                  </a:lnTo>
                  <a:lnTo>
                    <a:pt x="917" y="107"/>
                  </a:lnTo>
                  <a:lnTo>
                    <a:pt x="917" y="480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01" name="AutoShape 63"/>
            <p:cNvSpPr>
              <a:spLocks noChangeAspect="1"/>
            </p:cNvSpPr>
            <p:nvPr/>
          </p:nvSpPr>
          <p:spPr>
            <a:xfrm>
              <a:off x="4776" y="2218"/>
              <a:ext cx="114" cy="115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63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2294" name="Text Box 78"/>
          <p:cNvSpPr txBox="1">
            <a:spLocks noChangeAspect="1"/>
          </p:cNvSpPr>
          <p:nvPr/>
        </p:nvSpPr>
        <p:spPr>
          <a:xfrm>
            <a:off x="5040313" y="5878513"/>
            <a:ext cx="3024187" cy="369887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Use Case Generalization</a:t>
            </a:r>
            <a:endParaRPr lang="en-US" altLang="en-US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2295" name="Text Box 82"/>
          <p:cNvSpPr txBox="1">
            <a:spLocks noChangeAspect="1"/>
          </p:cNvSpPr>
          <p:nvPr/>
        </p:nvSpPr>
        <p:spPr>
          <a:xfrm>
            <a:off x="7375525" y="1139825"/>
            <a:ext cx="1476375" cy="1127125"/>
          </a:xfrm>
          <a:prstGeom prst="rect">
            <a:avLst/>
          </a:prstGeom>
          <a:solidFill>
            <a:schemeClr val="bg1"/>
          </a:solidFill>
          <a:ln w="5715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UC1: Unlock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UC2: Lock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UC3: AddUser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UC4: RemoveUser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UC5: InspectAccessHistory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UC6: SetDevicePrefs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UC7: AuthenticateUser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UC8: Login</a:t>
            </a:r>
            <a:endParaRPr lang="en-US" altLang="en-US" sz="800" b="0" dirty="0">
              <a:latin typeface="Arial" panose="020B0604020202020204" pitchFamily="34" charset="0"/>
            </a:endParaRPr>
          </a:p>
        </p:txBody>
      </p:sp>
      <p:pic>
        <p:nvPicPr>
          <p:cNvPr id="1229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050" y="2776538"/>
            <a:ext cx="2125663" cy="26066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Traceability Matrix (1)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3315" name="Rectangle 145"/>
          <p:cNvSpPr/>
          <p:nvPr/>
        </p:nvSpPr>
        <p:spPr>
          <a:xfrm>
            <a:off x="255588" y="1203325"/>
            <a:ext cx="4864100" cy="2746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800" dirty="0">
                <a:latin typeface="Arial" panose="020B0604020202020204" pitchFamily="34" charset="0"/>
              </a:rPr>
              <a:t>Mapping: System requirements to Use cases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13316" name="Text Box 147"/>
          <p:cNvSpPr txBox="1">
            <a:spLocks noChangeAspect="1"/>
          </p:cNvSpPr>
          <p:nvPr/>
        </p:nvSpPr>
        <p:spPr>
          <a:xfrm>
            <a:off x="7375525" y="1139825"/>
            <a:ext cx="1476375" cy="1127125"/>
          </a:xfrm>
          <a:prstGeom prst="rect">
            <a:avLst/>
          </a:prstGeom>
          <a:solidFill>
            <a:schemeClr val="bg1"/>
          </a:solidFill>
          <a:ln w="5715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UC1: Unlock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UC2: Lock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UC3: AddUser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UC4: RemoveUser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UC5: InspectAccessHistory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UC6: SetDevicePrefs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UC7: AuthenticateUser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UC8: Login</a:t>
            </a:r>
            <a:endParaRPr lang="en-US" altLang="en-US" sz="800" b="0" dirty="0">
              <a:latin typeface="Arial" panose="020B0604020202020204" pitchFamily="34" charset="0"/>
            </a:endParaRPr>
          </a:p>
        </p:txBody>
      </p:sp>
      <p:sp>
        <p:nvSpPr>
          <p:cNvPr id="13317" name="Text Box 148"/>
          <p:cNvSpPr txBox="1">
            <a:spLocks noChangeAspect="1"/>
          </p:cNvSpPr>
          <p:nvPr/>
        </p:nvSpPr>
        <p:spPr>
          <a:xfrm>
            <a:off x="114300" y="1552575"/>
            <a:ext cx="2622550" cy="1249363"/>
          </a:xfrm>
          <a:prstGeom prst="rect">
            <a:avLst/>
          </a:prstGeom>
          <a:solidFill>
            <a:schemeClr val="bg1"/>
          </a:solidFill>
          <a:ln w="5715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REQ1: Keep door locked and auto-lock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REQ2: Lock when “LOCK” pressed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REQ3: Unlock when valid key provided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REQ4: Allow mistakes but prevent dictionary attacks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REQ5: Maintain a history log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REQ6: Adding/removing users at runtime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REQ7: Configuring the device activation preferences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REQ8: Inspecting the access history</a:t>
            </a:r>
            <a:endParaRPr lang="en-US" altLang="en-US" sz="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800" b="0" dirty="0">
                <a:latin typeface="Arial" panose="020B0604020202020204" pitchFamily="34" charset="0"/>
              </a:rPr>
              <a:t>REQ9: Filing inquiries</a:t>
            </a:r>
            <a:endParaRPr lang="en-US" altLang="en-US" sz="800" b="0" dirty="0">
              <a:latin typeface="Arial" panose="020B0604020202020204" pitchFamily="34" charset="0"/>
            </a:endParaRPr>
          </a:p>
        </p:txBody>
      </p:sp>
      <p:pic>
        <p:nvPicPr>
          <p:cNvPr id="13318" name="Picture 1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1438" y="2413000"/>
            <a:ext cx="5268912" cy="39957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9" name="Rectangle 155"/>
          <p:cNvSpPr/>
          <p:nvPr/>
        </p:nvSpPr>
        <p:spPr>
          <a:xfrm>
            <a:off x="4305300" y="6456363"/>
            <a:ext cx="4610100" cy="2762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0" tIns="0" rIns="0" bIns="0">
            <a:spAutoFit/>
          </a:bodyPr>
          <a:p>
            <a:pPr algn="r" eaLnBrk="1" hangingPunct="1"/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Continued for domain model, design diagrams, </a:t>
            </a:r>
            <a:r>
              <a:rPr lang="en-US" altLang="en-US" sz="1800" b="0" dirty="0">
                <a:latin typeface="Calibri" panose="020F0502020204030204" pitchFamily="34" charset="0"/>
                <a:ea typeface="Calibri" panose="020F0502020204030204" pitchFamily="34" charset="0"/>
              </a:rPr>
              <a:t>…</a:t>
            </a:r>
            <a:endParaRPr lang="en-US" altLang="en-US" sz="18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Traceability Matrix Purpose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504825" y="1600200"/>
            <a:ext cx="8112125" cy="4681538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 check that all requirements are covered by the use cases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spcBef>
                <a:spcPct val="800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 check that none of the use cases is introduced without a reason (i.e., created not in response to any requirement)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spcBef>
                <a:spcPct val="800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 prioritize the work on use cases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Schema for Detailed Use Cases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graphicFrame>
        <p:nvGraphicFramePr>
          <p:cNvPr id="961869" name="Group 333"/>
          <p:cNvGraphicFramePr>
            <a:graphicFrameLocks noGrp="1"/>
          </p:cNvGraphicFramePr>
          <p:nvPr/>
        </p:nvGraphicFramePr>
        <p:xfrm>
          <a:off x="566738" y="1455738"/>
          <a:ext cx="7972425" cy="5278438"/>
        </p:xfrm>
        <a:graphic>
          <a:graphicData uri="http://schemas.openxmlformats.org/drawingml/2006/table">
            <a:tbl>
              <a:tblPr/>
              <a:tblGrid>
                <a:gridCol w="533400"/>
                <a:gridCol w="547687"/>
                <a:gridCol w="665163"/>
                <a:gridCol w="6226175"/>
              </a:tblGrid>
              <a:tr h="378559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Use Case UC-#: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Name / Identifier	[verb phrase]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378559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Related Requirements: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List of the requirements that are addressed by this use case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71593" marR="36108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378559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Initiating Actor: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Actor who initiates interaction with the system to accomplish a goal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71593" marR="36108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378559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Actor’s Goal: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Informal description of the initiating actor’s goal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71593" marR="36108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378559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Participating Actors: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71593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Actors that will help achieve the goal or need to know about the outcome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71593" marR="36108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378559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Preconditions: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71593" marR="18054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What is assumed about the state of the system before the interaction starts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386752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Postconditions: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71593" marR="18054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What are the results after the goal is achieved or abandoned; i.e., what must be true about the system at the time the execution of this use case is completed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345783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Flow of Events for Main Success Scenario: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867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The initiating actor delivers an action or stimulus to the system (the arrow indicates the direction of interaction, to- or from the system)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</a:tr>
              <a:tr h="3867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The system’s reaction or response to the stimulus; the system can also send a message to a participating actor, if any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</a:tr>
              <a:tr h="1933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3.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…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</a:tr>
              <a:tr h="508022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Flow of Events for Extensions (Alternate Scenarios):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What could go wrong? List the exceptions to the routine and describe how they are handled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933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1a.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For example, actor enters invalid data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</a:tr>
              <a:tr h="1933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2a.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For example, power outage, network failure, or requested data unavailable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</a:tr>
              <a:tr h="1933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 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 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…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</a:tr>
              <a:tr h="220252">
                <a:tc gridSpan="4">
                  <a:txBody>
                    <a:bodyPr/>
                    <a:lstStyle/>
                    <a:p>
                      <a:pPr marL="117475" marR="0" lvl="0" indent="-11747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The arrows on the left indicate the direction of interaction: 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Actor’s action;  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System’s reaction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Use Case 1: Unlock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4525" y="1692275"/>
          <a:ext cx="7932738" cy="4724400"/>
        </p:xfrm>
        <a:graphic>
          <a:graphicData uri="http://schemas.openxmlformats.org/drawingml/2006/table">
            <a:tbl>
              <a:tblPr/>
              <a:tblGrid>
                <a:gridCol w="482600"/>
                <a:gridCol w="392113"/>
                <a:gridCol w="735012"/>
                <a:gridCol w="6323013"/>
              </a:tblGrid>
              <a:tr h="51593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Use Case UC-1:</a:t>
                      </a:r>
                      <a:endParaRPr kumimoji="0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Unlock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15938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Related Requirem’ts: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REQ1, REQ3, REQ4, and REQ5 stated in Table 2-1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70647" marR="35631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4488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Initiating Actor: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Any of: Tenant, Landlord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70647" marR="35631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4488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Actor’s Goal: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To disarm the lock and enter, and get space lighted up automatically.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70647" marR="35631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15938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Participating Actors: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LockDevice, LightSwitch, Timer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70647" marR="35631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71500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Preconditions: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70647" marR="1781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• The set of valid keys stored in the system database is non-empty.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• The system displays the menu of available functions; at the door keypad the menu choices are “Lock” and “Unlock.”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4488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Postconditions: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70647" marR="1781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The auto-lock timer has started countdown from autoLockInterval.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17780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Flow of Events for Main Success Scenario: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/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Landlord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arrives at the door and selects the menu item “Unlock”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 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include::</a:t>
                      </a:r>
                      <a:r>
                        <a:rPr kumimoji="0" lang="en-US" altLang="zh-CN" sz="1400" b="0" i="1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AuthenticateUser</a:t>
                      </a:r>
                      <a:r>
                        <a:rPr kumimoji="0" lang="en-US" altLang="zh-CN" sz="14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(UC-7)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515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3.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System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(a) signals to the 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/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Landlord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the lock status, e.g., “disarmed,” (b) signals to 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LockDevice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to disarm the lock, and (c) signals to 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LightSwitch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to turn the light on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4.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System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signals to the 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Timer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to start the auto-lock timer countdown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344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5.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/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Landlord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opens the door, enters the home [and shuts the door and locks]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Subroutine «include» Use Case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3600" y="1468438"/>
          <a:ext cx="7315200" cy="5173663"/>
        </p:xfrm>
        <a:graphic>
          <a:graphicData uri="http://schemas.openxmlformats.org/drawingml/2006/table">
            <a:tbl>
              <a:tblPr/>
              <a:tblGrid>
                <a:gridCol w="422275"/>
                <a:gridCol w="444500"/>
                <a:gridCol w="433388"/>
                <a:gridCol w="220662"/>
                <a:gridCol w="5794375"/>
              </a:tblGrid>
              <a:tr h="303213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Use Case UC-7:</a:t>
                      </a:r>
                      <a:endParaRPr kumimoji="0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AuthenticateUser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(sub-use case)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39738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Related Requirements: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REQ3, REQ4 stated in Table 2‑1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73025" marR="3683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20663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Initiating Actor: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Any of: Tenant, Landlord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73025" marR="3683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20663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Actor’s Goal: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To be positively identified by the system (at the door interface).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73025" marR="3683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39738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Participating Actors: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AlarmBell, Police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73025" marR="3683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87363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Preconditions: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73025" marR="18415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• The set of valid keys stored in the system database is non-empty.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• The counter of authentication attempts equals zero.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20663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Postconditions: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73025" marR="18415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None worth mentioning.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15925">
                <a:tc gridSpan="5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Flow of Events for Main Success Scenario: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System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prompts the actor for identification, e.g., alphanumeric key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/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Landlord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supplies a valid identification key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3.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System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(a) verifies that the key is valid, and (b) signals to the actor the key validity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20663">
                <a:tc gridSpan="5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Flow of Events for Extensions (Alternate Scenarios):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0663">
                <a:tc gridSpan="5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2a.  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/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Landlord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enters an invalid identification key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System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(a) detects error, (b) marks a failed attempt, and (c) signals to the actor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660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 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1a.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System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(a) detects that the count of failed attempts exceeds the maximum allowed number, (b) signals to sound 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AlarmBell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, and (c) notifies the 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Police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actor of a possible break-in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/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Landlord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supplies a valid identification key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 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3.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Same as in Step 3 above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sz="3600" dirty="0">
                <a:latin typeface="Arial Rounded MT Bold" panose="020F0704030504030204" pitchFamily="34" charset="0"/>
                <a:ea typeface="+mj-ea"/>
                <a:cs typeface="+mj-cs"/>
              </a:rPr>
              <a:t>Acceptance Test Case for</a:t>
            </a:r>
            <a:br>
              <a:rPr lang="en-US" altLang="en-US" sz="3600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sz="3600" dirty="0">
                <a:latin typeface="Arial Rounded MT Bold" panose="020F0704030504030204" pitchFamily="34" charset="0"/>
                <a:ea typeface="+mj-ea"/>
                <a:cs typeface="+mj-cs"/>
              </a:rPr>
              <a:t>UC-7 Authenticate User</a:t>
            </a:r>
            <a:endParaRPr lang="en-US" altLang="en-US" sz="3600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3113" y="2009775"/>
          <a:ext cx="7418388" cy="4065588"/>
        </p:xfrm>
        <a:graphic>
          <a:graphicData uri="http://schemas.openxmlformats.org/drawingml/2006/table">
            <a:tbl>
              <a:tblPr/>
              <a:tblGrid>
                <a:gridCol w="2286000"/>
                <a:gridCol w="296862"/>
                <a:gridCol w="4835525"/>
              </a:tblGrid>
              <a:tr h="312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Test-case Identifier:</a:t>
                      </a:r>
                      <a:endParaRPr kumimoji="0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TC-1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1" marR="68581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Use Case Tested: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UC-1, main success scenario, and UC-7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1" marR="68581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9382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Pass/fail Criteria: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The test passes if the user enters a key that is contained in the database, with less than a maximum allowed number of unsuccessful attempts</a:t>
                      </a:r>
                      <a:endParaRPr kumimoji="0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1" marR="68581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Input Data: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Numeric keycode, door identifier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1" marR="68581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312738"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Test Procedure: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Expected Result: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938213"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Step 1. Type in an incorrect keycode and a valid door identifier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System beeps to indicate failure;</a:t>
                      </a:r>
                      <a:b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</a:b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records unsuccessful attempt in the database;</a:t>
                      </a:r>
                      <a:b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</a:b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prompts the user to try again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938213"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Step 2. Type in the correct keycode and door identifier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System flashes a green light to indicate success;</a:t>
                      </a:r>
                      <a:b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</a:b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records successful access in the database;</a:t>
                      </a:r>
                      <a:b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</a:b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disarms the lock device</a:t>
                      </a:r>
                      <a:endParaRPr kumimoji="0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Use Case 2: Lock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41338" y="1519238"/>
          <a:ext cx="8048625" cy="4867275"/>
        </p:xfrm>
        <a:graphic>
          <a:graphicData uri="http://schemas.openxmlformats.org/drawingml/2006/table">
            <a:tbl>
              <a:tblPr/>
              <a:tblGrid>
                <a:gridCol w="504825"/>
                <a:gridCol w="449262"/>
                <a:gridCol w="642938"/>
                <a:gridCol w="6451600"/>
              </a:tblGrid>
              <a:tr h="301625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Use Case UC-2:</a:t>
                      </a:r>
                      <a:endParaRPr kumimoji="0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Lock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2438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Related Requirements: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202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REQ1, REQ2, and REQ5 stated in Table 2-1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2020" marR="31279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01625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Initiating Actor: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Any of: Tenant, Landlord, or Timer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01625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Actor’s Goal: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To lock the door &amp; get the lights shut automatically (?)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2438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Participating Actors: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LockDevice, LightSwitch, Timer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01625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Preconditions: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2020" marR="1564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The system always displays the menu of available functions.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01625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Postconditions: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2020" marR="1564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The door is closed and lock armed &amp; the auto-lock timer is reset.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17780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Flow of Events for Main Success Scenario: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/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Landlord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selects the menu item “Lock”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604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System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(a) signals affirmation, e.g., “lock armed,” (b) signals to 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LockDevice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to arm the lock (if not already armed), (c) signal to 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Timer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to reset the auto-lock counter, and (d) signals to 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LightSwitch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to turn the light off (?)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17780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Flow of Events for Extensions (Alternate Scenarios):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7780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2a.  System senses that the door is not closed, so the lock cannot be armed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System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(a) signals a warning that the door is open, and (b) signal to 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Timer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to start the alarm counter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/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Landlord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closes the door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604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3.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System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(a) senses the closure, (b) signals affirmation to the 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/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Landlord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, (c) signals to </a:t>
                      </a:r>
                      <a:r>
                        <a:rPr kumimoji="0" lang="en-US" altLang="zh-CN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LockDevice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to arm the lock, (d)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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signal to 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Timer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to reset the auto-lock counter, and (e) signal to 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Timer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to reset the alarm counter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8245" marR="58245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48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300" y="1489075"/>
            <a:ext cx="6870700" cy="47386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3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Use Case 3: Add User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0" tIns="45720" rIns="0" bIns="45720" numCol="1" anchor="ctr" anchorCtr="0" compatLnSpc="1">
            <a:normAutofit fontScale="90000"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Use Case 5: Inspect Access History</a:t>
            </a:r>
            <a:endParaRPr kumimoji="0" lang="en-US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15938" y="1566863"/>
          <a:ext cx="8202613" cy="5024438"/>
        </p:xfrm>
        <a:graphic>
          <a:graphicData uri="http://schemas.openxmlformats.org/drawingml/2006/table">
            <a:tbl>
              <a:tblPr/>
              <a:tblGrid>
                <a:gridCol w="504825"/>
                <a:gridCol w="411162"/>
                <a:gridCol w="628650"/>
                <a:gridCol w="6657975"/>
              </a:tblGrid>
              <a:tr h="271463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Use Case UC-5:</a:t>
                      </a:r>
                      <a:endParaRPr kumimoji="0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Inspect Access History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06400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Related Requirements: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6544" marR="14259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REQ8 and REQ9 stated in Table 2-1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6544" marR="2851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71463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Initiating Actor: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Any of: Tenant, Landlord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6544" marR="2851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71463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Actor’s Goal: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To examine the access history for a particular door.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6544" marR="2851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06400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Participating Actors: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6544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Database, Landlord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6544" marR="2851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9250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Preconditions: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6544" marR="14259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Tenant/Landlord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is logged in the system and is shown a hyperlink “View Access History.”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71463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Postconditions: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6544" marR="14259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None.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17780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Flow of Events for Main Success Scenario: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Tenant/Landlord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clicks the hyperlink “View Access History”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System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prompts for the search criteria (e.g., time frame, door location, actor role, event type, etc.) or “Show all”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3.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Tenant/Landlord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specifies the search criteria and submits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4.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System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prepares a database query that best matches the actor’s search criteria and retrieves the records from the 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Database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5.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Database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returns the matching records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6.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System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(a) additionally filters the retrieved records to match the actor’s search criteria; (b) renders the remaining records for display; and (c) shows the result for 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Tenant/Landlord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’s consideration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7.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Tenant/Landlord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browses, selects “interesting” records (if any), and requests further investigation (with an accompanying complaint description)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541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8.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System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(a) displays only the selected records and confirms the request; (b) archives the request in the 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Database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and assigns it a tracking number; (c) notifies 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Landlord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about the request; and (d) informs 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Tenant/Landlord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about the tracking number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102" marR="53102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pic>
        <p:nvPicPr>
          <p:cNvPr id="21552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6127750"/>
            <a:ext cx="109538" cy="1317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53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5270500"/>
            <a:ext cx="109538" cy="1317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it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Example Use case: Wash Hands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2531" name="Content Placeholder 3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812800"/>
          </a:xfrm>
          <a:ln/>
        </p:spPr>
        <p:txBody>
          <a:bodyPr vert="horz" wrap="square" lIns="91440" tIns="45720" rIns="91440" bIns="45720" anchor="t" anchorCtr="0"/>
          <a:p>
            <a:pPr>
              <a:buClr>
                <a:srgbClr val="680000"/>
              </a:buClr>
            </a:pPr>
            <a:r>
              <a:rPr lang="en-US" altLang="en-US" sz="3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How a beginner writes the use case:</a:t>
            </a:r>
            <a:endParaRPr lang="en-US" altLang="en-US" sz="3200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  <p:pic>
        <p:nvPicPr>
          <p:cNvPr id="2253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1450" y="2871788"/>
            <a:ext cx="3686175" cy="27336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554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563" y="1784350"/>
            <a:ext cx="7218362" cy="5038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5" name="Tit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Example Use case: Wash Hands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3556" name="Content Placeholder 3"/>
          <p:cNvSpPr>
            <a:spLocks noGrp="1"/>
          </p:cNvSpPr>
          <p:nvPr>
            <p:ph idx="1"/>
          </p:nvPr>
        </p:nvSpPr>
        <p:spPr>
          <a:xfrm>
            <a:off x="261938" y="1347788"/>
            <a:ext cx="8839200" cy="1168400"/>
          </a:xfrm>
          <a:ln/>
        </p:spPr>
        <p:txBody>
          <a:bodyPr vert="horz" wrap="square" lIns="91440" tIns="45720" rIns="91440" bIns="45720" anchor="t" anchorCtr="0"/>
          <a:p>
            <a:pPr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How an experienced developer writes the use case: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45061" name="Rectangle 4"/>
          <p:cNvSpPr/>
          <p:nvPr/>
        </p:nvSpPr>
        <p:spPr>
          <a:xfrm>
            <a:off x="111125" y="6334125"/>
            <a:ext cx="5937250" cy="5238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spcBef>
                <a:spcPct val="20000"/>
              </a:spcBef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b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But, that’s </a:t>
            </a:r>
            <a:r>
              <a:rPr lang="en-US" altLang="en-US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obvious</a:t>
            </a:r>
            <a:r>
              <a:rPr lang="en-US" altLang="en-US" b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! ...right?</a:t>
            </a:r>
            <a:endParaRPr lang="en-US" altLang="en-US" b="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5061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 build="allAtOnce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it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Example Use case: Wash Hands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4579" name="Content Placeholder 3"/>
          <p:cNvSpPr>
            <a:spLocks noGrp="1"/>
          </p:cNvSpPr>
          <p:nvPr>
            <p:ph idx="1"/>
          </p:nvPr>
        </p:nvSpPr>
        <p:spPr>
          <a:xfrm>
            <a:off x="504825" y="1425575"/>
            <a:ext cx="8410575" cy="700088"/>
          </a:xfrm>
          <a:ln/>
        </p:spPr>
        <p:txBody>
          <a:bodyPr vert="horz" wrap="square" lIns="91440" tIns="45720" rIns="91440" bIns="45720" anchor="t" anchorCtr="0"/>
          <a:p>
            <a:pPr>
              <a:buClr>
                <a:srgbClr val="680000"/>
              </a:buClr>
            </a:pPr>
            <a:r>
              <a:rPr lang="en-US" altLang="en-US" dirty="0">
                <a:latin typeface="AvantGarde Bk BT" pitchFamily="34" charset="0"/>
                <a:ea typeface="+mn-ea"/>
                <a:cs typeface="+mn-cs"/>
              </a:rPr>
              <a:t>Well, maybe not!</a:t>
            </a:r>
            <a:endParaRPr lang="en-US" altLang="en-US" dirty="0">
              <a:latin typeface="AvantGarde Bk BT" pitchFamily="34" charset="0"/>
              <a:ea typeface="+mn-ea"/>
              <a:cs typeface="+mn-cs"/>
            </a:endParaRPr>
          </a:p>
        </p:txBody>
      </p:sp>
      <p:pic>
        <p:nvPicPr>
          <p:cNvPr id="24580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" y="2206625"/>
            <a:ext cx="7924800" cy="2185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1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4445000"/>
            <a:ext cx="5005387" cy="2393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725" y="5710238"/>
            <a:ext cx="3729038" cy="1047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System Boundary &amp; Subsystems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pic>
        <p:nvPicPr>
          <p:cNvPr id="25603" name="Picture 2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50" y="1965325"/>
            <a:ext cx="8742363" cy="4265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4" name="Rectangle 1"/>
          <p:cNvSpPr/>
          <p:nvPr/>
        </p:nvSpPr>
        <p:spPr>
          <a:xfrm>
            <a:off x="114300" y="1477963"/>
            <a:ext cx="3832225" cy="46196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Use Case Variations Example:</a:t>
            </a:r>
            <a:endParaRPr lang="en-US" altLang="en-US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7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Modified Use Case Diagram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6627" name="Text Box 193"/>
          <p:cNvSpPr txBox="1">
            <a:spLocks noChangeAspect="1"/>
          </p:cNvSpPr>
          <p:nvPr/>
        </p:nvSpPr>
        <p:spPr>
          <a:xfrm>
            <a:off x="7375525" y="1139825"/>
            <a:ext cx="1560513" cy="1323975"/>
          </a:xfrm>
          <a:prstGeom prst="rect">
            <a:avLst/>
          </a:prstGeom>
          <a:solidFill>
            <a:schemeClr val="bg1"/>
          </a:solidFill>
          <a:ln w="5715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UC1: Unlock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UC2: Lock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UC3: AddUser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UC4: RemoveUser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UC5: InspectAccessHistory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UC6: SetDevicePrefs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UC7: AuthenticateUser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UC8: Login</a:t>
            </a:r>
            <a:endParaRPr lang="en-US" altLang="en-US" sz="10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6628" name="Picture 1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463" y="2393950"/>
            <a:ext cx="8345487" cy="3810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29" name="Rectangle 4"/>
          <p:cNvSpPr/>
          <p:nvPr/>
        </p:nvSpPr>
        <p:spPr>
          <a:xfrm>
            <a:off x="114300" y="1477963"/>
            <a:ext cx="5010150" cy="76993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en-US" sz="2200" b="0" dirty="0">
                <a:latin typeface="Calibri" panose="020F0502020204030204" pitchFamily="34" charset="0"/>
                <a:cs typeface="Calibri" panose="020F0502020204030204" pitchFamily="34" charset="0"/>
              </a:rPr>
              <a:t>Authentication subsystem (FaceReco, Ltd.)</a:t>
            </a:r>
            <a:br>
              <a:rPr lang="en-US" altLang="en-US" sz="2200" b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200" b="0" dirty="0">
                <a:latin typeface="Calibri" panose="020F0502020204030204" pitchFamily="34" charset="0"/>
                <a:cs typeface="Calibri" panose="020F0502020204030204" pitchFamily="34" charset="0"/>
              </a:rPr>
              <a:t>is externalized from the system-to-be:</a:t>
            </a:r>
            <a:endParaRPr lang="en-US" altLang="en-US" sz="22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Security and Risk Management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49149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Identifying and preempting the serious risks to system’s safe and successful functioning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spcBef>
                <a:spcPct val="800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Risk types: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 eaLnBrk="1" hangingPunct="1">
              <a:spcBef>
                <a:spcPct val="30000"/>
              </a:spcBef>
              <a:buChar char="–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Intolerable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30000"/>
              </a:spcBef>
              <a:buChar char="–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As low as reasonably practical (ALARP)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30000"/>
              </a:spcBef>
              <a:buChar char="–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Acceptable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800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Example </a:t>
            </a:r>
            <a:r>
              <a:rPr lang="en-US" altLang="en-US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abuse case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input sequence: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2" eaLnBrk="1" hangingPunct="1">
              <a:spcBef>
                <a:spcPct val="300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invalid-key, invalid-key, </a:t>
            </a:r>
            <a:r>
              <a:rPr lang="en-US" altLang="en-US" sz="2200" dirty="0">
                <a:latin typeface="Calibri" panose="020F0502020204030204" pitchFamily="34" charset="0"/>
                <a:ea typeface="Calibri" panose="020F0502020204030204" pitchFamily="34" charset="0"/>
              </a:rPr>
              <a:t>…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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maxNumOfAttempts ;</a:t>
            </a:r>
            <a:b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wait maxAttemptPeriod ; invalid-key, invalid-key, </a:t>
            </a:r>
            <a:r>
              <a:rPr lang="en-US" altLang="en-US" sz="2200" dirty="0">
                <a:latin typeface="Calibri" panose="020F0502020204030204" pitchFamily="34" charset="0"/>
                <a:ea typeface="Calibri" panose="020F0502020204030204" pitchFamily="34" charset="0"/>
              </a:rPr>
              <a:t>…</a:t>
            </a:r>
            <a:endParaRPr lang="en-US" altLang="en-US" sz="22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System Sequence Diagram</a:t>
            </a:r>
            <a:b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sz="2400" dirty="0">
                <a:latin typeface="Arial Rounded MT Bold" panose="020F0704030504030204" pitchFamily="34" charset="0"/>
                <a:ea typeface="+mj-ea"/>
                <a:cs typeface="+mj-cs"/>
              </a:rPr>
              <a:t>[Modeling System Workflows]</a:t>
            </a:r>
            <a:endParaRPr lang="en-US" altLang="en-US" sz="2400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8675" name="Text Box 4"/>
          <p:cNvSpPr txBox="1"/>
          <p:nvPr/>
        </p:nvSpPr>
        <p:spPr>
          <a:xfrm>
            <a:off x="1587500" y="1422400"/>
            <a:ext cx="2474913" cy="430213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sz="2800" b="0" dirty="0">
                <a:latin typeface="Calibri" panose="020F0502020204030204" pitchFamily="34" charset="0"/>
                <a:cs typeface="Calibri" panose="020F0502020204030204" pitchFamily="34" charset="0"/>
              </a:rPr>
              <a:t>Use case: Unlock</a:t>
            </a:r>
            <a:endParaRPr lang="en-US" altLang="en-US" sz="28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8676" name="Text Box 5"/>
          <p:cNvSpPr txBox="1"/>
          <p:nvPr/>
        </p:nvSpPr>
        <p:spPr>
          <a:xfrm>
            <a:off x="2693988" y="5619750"/>
            <a:ext cx="2335212" cy="30797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Main success scenario</a:t>
            </a:r>
            <a:endParaRPr lang="en-US" altLang="en-US" sz="20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8677" name="Rectangle 53"/>
          <p:cNvSpPr/>
          <p:nvPr/>
        </p:nvSpPr>
        <p:spPr>
          <a:xfrm>
            <a:off x="317500" y="6145213"/>
            <a:ext cx="6076950" cy="55403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Similar to UML sequence diagrams,</a:t>
            </a:r>
            <a:endParaRPr lang="en-US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but for </a:t>
            </a:r>
            <a:r>
              <a:rPr lang="en-US" altLang="en-US" sz="1800" i="1" dirty="0">
                <a:latin typeface="Calibri" panose="020F0502020204030204" pitchFamily="34" charset="0"/>
                <a:cs typeface="Calibri" panose="020F0502020204030204" pitchFamily="34" charset="0"/>
              </a:rPr>
              <a:t>actor interactions</a:t>
            </a:r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 instead of software </a:t>
            </a:r>
            <a:r>
              <a:rPr lang="en-US" altLang="en-US" sz="1800" i="1" dirty="0">
                <a:latin typeface="Calibri" panose="020F0502020204030204" pitchFamily="34" charset="0"/>
                <a:cs typeface="Calibri" panose="020F0502020204030204" pitchFamily="34" charset="0"/>
              </a:rPr>
              <a:t>object interactions</a:t>
            </a:r>
            <a:endParaRPr lang="en-US" altLang="en-US" sz="1800" i="1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8678" name="Picture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650" y="1925638"/>
            <a:ext cx="6021388" cy="3476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System Sequence Diagram</a:t>
            </a:r>
            <a:b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sz="2400" dirty="0">
                <a:latin typeface="Arial Rounded MT Bold" panose="020F0704030504030204" pitchFamily="34" charset="0"/>
                <a:ea typeface="+mj-ea"/>
                <a:cs typeface="+mj-cs"/>
              </a:rPr>
              <a:t>[Modeling System Workflows]</a:t>
            </a:r>
            <a:endParaRPr lang="en-US" altLang="en-US" sz="2400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9699" name="Text Box 4"/>
          <p:cNvSpPr txBox="1"/>
          <p:nvPr/>
        </p:nvSpPr>
        <p:spPr>
          <a:xfrm>
            <a:off x="1165225" y="1484313"/>
            <a:ext cx="2474913" cy="43021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sz="2800" b="0" dirty="0">
                <a:latin typeface="Calibri" panose="020F0502020204030204" pitchFamily="34" charset="0"/>
                <a:cs typeface="Calibri" panose="020F0502020204030204" pitchFamily="34" charset="0"/>
              </a:rPr>
              <a:t>Use case: Unlock</a:t>
            </a:r>
            <a:endParaRPr lang="en-US" altLang="en-US" sz="28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9700" name="Text Box 5"/>
          <p:cNvSpPr txBox="1"/>
          <p:nvPr/>
        </p:nvSpPr>
        <p:spPr>
          <a:xfrm>
            <a:off x="3740150" y="6146800"/>
            <a:ext cx="3911600" cy="30797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Alternate scenario (burglary attempt)</a:t>
            </a:r>
            <a:endParaRPr lang="en-US" altLang="en-US" sz="20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9701" name="Picture 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2025" y="2125663"/>
            <a:ext cx="4883150" cy="32432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3072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314325"/>
            <a:ext cx="8048625" cy="5772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69635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1900" y="641350"/>
            <a:ext cx="5238750" cy="4238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25" y="338138"/>
            <a:ext cx="3143250" cy="4562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type="title"/>
          </p:nvPr>
        </p:nvSpPr>
        <p:spPr>
          <a:xfrm>
            <a:off x="838200" y="381000"/>
            <a:ext cx="7772400" cy="641350"/>
          </a:xfrm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zh-CN" altLang="en-US" sz="3600" dirty="0">
                <a:latin typeface="Arial Rounded MT Bold" panose="020F0704030504030204" pitchFamily="34" charset="0"/>
                <a:ea typeface="黑体" panose="02010609060101010101" pitchFamily="49" charset="-122"/>
                <a:cs typeface="+mj-cs"/>
              </a:rPr>
              <a:t>顺序图</a:t>
            </a:r>
            <a:endParaRPr lang="en-US" altLang="zh-CN" sz="3600" dirty="0">
              <a:latin typeface="Arial Rounded MT Bold" panose="020F0704030504030204" pitchFamily="34" charset="0"/>
              <a:ea typeface="黑体" panose="02010609060101010101" pitchFamily="49" charset="-122"/>
              <a:cs typeface="+mj-cs"/>
            </a:endParaRPr>
          </a:p>
        </p:txBody>
      </p:sp>
      <p:pic>
        <p:nvPicPr>
          <p:cNvPr id="32771" name="Picture 3" descr="SQD-Simple Examp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413" y="1549400"/>
            <a:ext cx="7272337" cy="3321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2" name="Text Box 4"/>
          <p:cNvSpPr>
            <a:spLocks noGrp="1"/>
          </p:cNvSpPr>
          <p:nvPr>
            <p:ph idx="1"/>
          </p:nvPr>
        </p:nvSpPr>
        <p:spPr>
          <a:xfrm>
            <a:off x="658813" y="5445125"/>
            <a:ext cx="7772400" cy="68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>
                <a:srgbClr val="68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Sequence diagram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’s ‘fence’ format</a:t>
            </a:r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eaLnBrk="1" hangingPunct="1">
              <a:spcBef>
                <a:spcPct val="0"/>
              </a:spcBef>
              <a:buClr>
                <a:srgbClr val="680000"/>
              </a:buClr>
            </a:pP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Time is increasing in the downward direction</a:t>
            </a:r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xfrm>
            <a:off x="685800" y="273050"/>
            <a:ext cx="7772400" cy="641350"/>
          </a:xfrm>
          <a:ln/>
        </p:spPr>
        <p:txBody>
          <a:bodyPr vert="horz" wrap="square" lIns="0" tIns="45720" rIns="0" bIns="45720" anchor="ctr" anchorCtr="0"/>
          <a:p>
            <a:pPr algn="l" eaLnBrk="1" hangingPunct="1"/>
            <a:r>
              <a:rPr lang="zh-CN" altLang="en-US" sz="3600" dirty="0">
                <a:latin typeface="Arial Rounded MT Bold" panose="020F0704030504030204" pitchFamily="34" charset="0"/>
                <a:ea typeface="黑体" panose="02010609060101010101" pitchFamily="49" charset="-122"/>
                <a:cs typeface="+mj-cs"/>
              </a:rPr>
              <a:t>顺序图 </a:t>
            </a:r>
            <a:r>
              <a:rPr lang="en-US" altLang="zh-CN" sz="3600" dirty="0">
                <a:latin typeface="Arial Rounded MT Bold" panose="020F0704030504030204" pitchFamily="34" charset="0"/>
                <a:ea typeface="宋体" panose="02010600030101010101" pitchFamily="2" charset="-122"/>
                <a:cs typeface="+mj-cs"/>
              </a:rPr>
              <a:t>(continue)</a:t>
            </a:r>
            <a:endParaRPr lang="en-US" altLang="zh-CN" sz="3600" dirty="0">
              <a:latin typeface="Arial Rounded MT Bold" panose="020F0704030504030204" pitchFamily="34" charset="0"/>
              <a:ea typeface="宋体" panose="02010600030101010101" pitchFamily="2" charset="-122"/>
              <a:cs typeface="+mj-cs"/>
            </a:endParaRPr>
          </a:p>
        </p:txBody>
      </p:sp>
      <p:pic>
        <p:nvPicPr>
          <p:cNvPr id="33795" name="Picture 3" descr="SQD-Simple Examp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3788" y="1436688"/>
            <a:ext cx="5181600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796" name="Rectangle 4"/>
          <p:cNvSpPr/>
          <p:nvPr/>
        </p:nvSpPr>
        <p:spPr>
          <a:xfrm>
            <a:off x="609600" y="4267200"/>
            <a:ext cx="3962400" cy="2308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1"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</a:rPr>
              <a:t>public class A {</a:t>
            </a:r>
            <a:endParaRPr lang="en-US" altLang="zh-CN" sz="1800" b="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</a:rPr>
              <a:t>  private B myB = new B();</a:t>
            </a:r>
            <a:endParaRPr lang="en-US" altLang="zh-CN" sz="1800" b="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</a:rPr>
              <a:t>	</a:t>
            </a:r>
            <a:endParaRPr lang="en-US" altLang="zh-CN" sz="1800" b="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</a:rPr>
              <a:t>  public void doOne () {</a:t>
            </a:r>
            <a:endParaRPr lang="en-US" altLang="zh-CN" sz="1800" b="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</a:rPr>
              <a:t>    myB.doTwo();</a:t>
            </a:r>
            <a:endParaRPr lang="en-US" altLang="zh-CN" sz="1800" b="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</a:rPr>
              <a:t>    myB.doThree();</a:t>
            </a:r>
            <a:endParaRPr lang="en-US" altLang="zh-CN" sz="1800" b="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</a:rPr>
              <a:t>  }</a:t>
            </a:r>
            <a:endParaRPr lang="en-US" altLang="zh-CN" sz="1800" b="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</a:rPr>
              <a:t>}</a:t>
            </a:r>
            <a:endParaRPr lang="en-US" altLang="zh-CN" sz="1800" b="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/>
          </p:cNvSpPr>
          <p:nvPr>
            <p:ph type="title"/>
          </p:nvPr>
        </p:nvSpPr>
        <p:spPr>
          <a:xfrm>
            <a:off x="990600" y="381000"/>
            <a:ext cx="6961188" cy="641350"/>
          </a:xfrm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zh-CN" altLang="en-US" sz="3600" dirty="0">
                <a:latin typeface="Arial Rounded MT Bold" panose="020F0704030504030204" pitchFamily="34" charset="0"/>
                <a:ea typeface="黑体" panose="02010609060101010101" pitchFamily="49" charset="-122"/>
                <a:cs typeface="+mj-cs"/>
              </a:rPr>
              <a:t>通信图</a:t>
            </a:r>
            <a:endParaRPr lang="en-US" altLang="zh-CN" sz="3600" dirty="0">
              <a:latin typeface="Arial Rounded MT Bold" panose="020F0704030504030204" pitchFamily="34" charset="0"/>
              <a:ea typeface="黑体" panose="02010609060101010101" pitchFamily="49" charset="-122"/>
              <a:cs typeface="+mj-cs"/>
            </a:endParaRPr>
          </a:p>
        </p:txBody>
      </p:sp>
      <p:pic>
        <p:nvPicPr>
          <p:cNvPr id="34819" name="Picture 3" descr="CLD-Simple Examp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00225"/>
            <a:ext cx="8229600" cy="3257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20" name="Text Box 4"/>
          <p:cNvSpPr txBox="1"/>
          <p:nvPr/>
        </p:nvSpPr>
        <p:spPr>
          <a:xfrm>
            <a:off x="609600" y="5486400"/>
            <a:ext cx="63627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None/>
            </a:pPr>
            <a:r>
              <a:rPr lang="en-US" alt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Same collaboration using </a:t>
            </a:r>
            <a:r>
              <a:rPr lang="en-US" altLang="zh-CN" sz="2000" b="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communication diagram</a:t>
            </a:r>
            <a:endParaRPr lang="en-US" altLang="zh-CN" sz="2000" b="0" dirty="0">
              <a:solidFill>
                <a:srgbClr val="0070C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Uses network (or graph) format</a:t>
            </a:r>
            <a:endParaRPr lang="en-US" altLang="zh-CN" sz="2000" b="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" y="2116138"/>
            <a:ext cx="7488238" cy="37353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3" name="矩形 4"/>
          <p:cNvSpPr/>
          <p:nvPr/>
        </p:nvSpPr>
        <p:spPr>
          <a:xfrm>
            <a:off x="619125" y="169863"/>
            <a:ext cx="8001000" cy="1077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0" dirty="0">
                <a:latin typeface="Calibri" panose="020F0502020204030204" pitchFamily="34" charset="0"/>
                <a:ea typeface="黑体" panose="02010609060101010101" pitchFamily="49" charset="-122"/>
              </a:rPr>
              <a:t>练习：根据图中给定的信息定义类</a:t>
            </a:r>
            <a:r>
              <a:rPr lang="en-US" altLang="zh-CN" sz="3200" b="0" dirty="0">
                <a:latin typeface="Calibri" panose="020F0502020204030204" pitchFamily="34" charset="0"/>
                <a:ea typeface="黑体" panose="02010609060101010101" pitchFamily="49" charset="-122"/>
              </a:rPr>
              <a:t>A</a:t>
            </a:r>
            <a:r>
              <a:rPr lang="zh-CN" altLang="en-US" sz="3200" b="0" dirty="0">
                <a:latin typeface="Calibri" panose="020F0502020204030204" pitchFamily="34" charset="0"/>
                <a:ea typeface="黑体" panose="02010609060101010101" pitchFamily="49" charset="-122"/>
              </a:rPr>
              <a:t>，类</a:t>
            </a:r>
            <a:r>
              <a:rPr lang="en-US" altLang="zh-CN" sz="3200" b="0" dirty="0">
                <a:latin typeface="Calibri" panose="020F0502020204030204" pitchFamily="34" charset="0"/>
                <a:ea typeface="黑体" panose="02010609060101010101" pitchFamily="49" charset="-122"/>
              </a:rPr>
              <a:t>B</a:t>
            </a:r>
            <a:r>
              <a:rPr lang="zh-CN" altLang="en-US" sz="3200" b="0" dirty="0">
                <a:latin typeface="Calibri" panose="020F0502020204030204" pitchFamily="34" charset="0"/>
                <a:ea typeface="黑体" panose="02010609060101010101" pitchFamily="49" charset="-122"/>
              </a:rPr>
              <a:t>和类</a:t>
            </a:r>
            <a:r>
              <a:rPr lang="en-US" altLang="zh-CN" sz="3200" b="0" dirty="0">
                <a:latin typeface="Calibri" panose="020F0502020204030204" pitchFamily="34" charset="0"/>
                <a:ea typeface="黑体" panose="02010609060101010101" pitchFamily="49" charset="-122"/>
              </a:rPr>
              <a:t>C</a:t>
            </a:r>
            <a:r>
              <a:rPr lang="zh-CN" altLang="en-US" sz="3200" b="0" dirty="0">
                <a:latin typeface="Calibri" panose="020F0502020204030204" pitchFamily="34" charset="0"/>
                <a:ea typeface="黑体" panose="02010609060101010101" pitchFamily="49" charset="-122"/>
              </a:rPr>
              <a:t>的程序片段。</a:t>
            </a:r>
            <a:endParaRPr lang="zh-CN" altLang="en-US" sz="3200" b="0" dirty="0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5222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2088" y="0"/>
            <a:ext cx="7540625" cy="4721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67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00500"/>
            <a:ext cx="4670425" cy="2328863"/>
          </a:xfrm>
          <a:prstGeom prst="rect">
            <a:avLst/>
          </a:prstGeom>
          <a:noFill/>
          <a:ln w="19050" cap="flat" cmpd="sng">
            <a:solidFill>
              <a:srgbClr val="0070C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37890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463" y="292100"/>
            <a:ext cx="8058150" cy="6134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4"/>
          <p:cNvSpPr txBox="1"/>
          <p:nvPr/>
        </p:nvSpPr>
        <p:spPr>
          <a:xfrm>
            <a:off x="4572000" y="4124325"/>
            <a:ext cx="3648075" cy="1322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None/>
            </a:pPr>
            <a:r>
              <a:rPr lang="en-US" alt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A </a:t>
            </a:r>
            <a:r>
              <a:rPr lang="en-US" altLang="zh-CN" sz="2000" b="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combination</a:t>
            </a:r>
            <a:r>
              <a:rPr lang="en-US" alt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 of</a:t>
            </a:r>
            <a:endParaRPr lang="en-US" altLang="zh-CN" sz="2000" b="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b="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Condition, Event and Action </a:t>
            </a:r>
            <a:endParaRPr lang="en-US" altLang="zh-CN" sz="2000" b="0" dirty="0">
              <a:solidFill>
                <a:srgbClr val="0070C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may </a:t>
            </a:r>
            <a:r>
              <a:rPr lang="en-US" altLang="zh-CN" sz="2000" b="0" dirty="0">
                <a:solidFill>
                  <a:srgbClr val="C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trigger a transition</a:t>
            </a:r>
            <a:endParaRPr lang="en-US" altLang="zh-CN" sz="2000" b="0" dirty="0">
              <a:solidFill>
                <a:srgbClr val="C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b="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from one state to another state</a:t>
            </a:r>
            <a:r>
              <a:rPr lang="en-US" alt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.</a:t>
            </a:r>
            <a:endParaRPr lang="en-US" altLang="zh-CN" sz="2000" b="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7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charRg st="17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6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charRg st="46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1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charRg st="71" end="1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Activity Diagram</a:t>
            </a:r>
            <a:b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sz="2400" dirty="0">
                <a:latin typeface="Arial Rounded MT Bold" panose="020F0704030504030204" pitchFamily="34" charset="0"/>
                <a:ea typeface="+mj-ea"/>
                <a:cs typeface="+mj-cs"/>
              </a:rPr>
              <a:t>[Modeling System Workflows]</a:t>
            </a:r>
            <a:endParaRPr lang="en-US" altLang="en-US" sz="2400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pic>
        <p:nvPicPr>
          <p:cNvPr id="38915" name="Picture 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038" y="1408113"/>
            <a:ext cx="4784725" cy="5378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6823075" y="4194175"/>
            <a:ext cx="2206625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None/>
            </a:pPr>
            <a:r>
              <a:rPr lang="en-US" altLang="zh-CN" sz="2000" b="0" dirty="0">
                <a:solidFill>
                  <a:srgbClr val="C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Comparing with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Flow charts !</a:t>
            </a:r>
            <a:endParaRPr lang="zh-CN" altLang="en-US" dirty="0">
              <a:solidFill>
                <a:srgbClr val="C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Limitations of Use Cases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425" y="1600200"/>
            <a:ext cx="8791575" cy="5091113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5000"/>
              </a:lnSpc>
              <a:spcBef>
                <a:spcPts val="4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Often the user is using the system on behalf of the actual beneficiary. A store, agency, or bank clerk, lawyer, doctor, ... interacting with the system when providing service to a customer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5000"/>
              </a:lnSpc>
              <a:spcBef>
                <a:spcPts val="4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Whose business goals should we consider for these use cases: direct user’s or actual beneficiary’s?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5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Arguably there are merits in considering both, because otherwise we get only a partial picture.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5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sz="2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E.g., in the restaurant example, we discuss what the wait staff may want to do, but we often mention the guest: the guest may order this or require that.</a:t>
            </a:r>
            <a:endParaRPr kumimoji="0" lang="en-US" sz="21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5000"/>
              </a:lnSpc>
              <a:spcBef>
                <a:spcPts val="4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key importance of the end beneficiary is highlighted by the fact that automation systems often replace the intermediary in a business scenario and allow the end beneficiary to directly interact with the system.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5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When the intermediary cannot be completely replaced by automation, the intermediary becomes another user (supporting actor?) instead of being interposed between the system and the actual beneficiary.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940" name="Rectangle 145"/>
          <p:cNvSpPr/>
          <p:nvPr/>
        </p:nvSpPr>
        <p:spPr>
          <a:xfrm>
            <a:off x="484188" y="1212850"/>
            <a:ext cx="4900612" cy="3063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NOTE:  User stories suffer the same limitati</a:t>
            </a:r>
            <a:r>
              <a:rPr lang="en-US" altLang="en-US" sz="1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ons</a:t>
            </a:r>
            <a:endParaRPr lang="en-US" altLang="en-US" sz="18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User Interface Requirements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spcBef>
                <a:spcPts val="600"/>
              </a:spcBef>
              <a:buClr>
                <a:srgbClr val="680000"/>
              </a:buClr>
            </a:pP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Do not waste your time and your customer’s time by creating elaborate screen shots with many embellishments, coloring, shading, etc., that only distract attention from most important aspects of the interface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>
              <a:spcBef>
                <a:spcPts val="600"/>
              </a:spcBef>
              <a:buClr>
                <a:srgbClr val="680000"/>
              </a:buClr>
            </a:pP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Hand-drawing the proposed interface forces you to </a:t>
            </a:r>
            <a:r>
              <a:rPr lang="en-US" altLang="zh-CN" b="1" i="1" dirty="0">
                <a:solidFill>
                  <a:srgbClr val="68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economize</a:t>
            </a:r>
            <a:r>
              <a:rPr lang="en-US" altLang="zh-CN" dirty="0">
                <a:solidFill>
                  <a:srgbClr val="68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and focus on the most important features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>
              <a:spcBef>
                <a:spcPts val="600"/>
              </a:spcBef>
              <a:buClr>
                <a:srgbClr val="680000"/>
              </a:buClr>
            </a:pP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Only when there is a consensus that a good design is reached, invest effort to prototype the interface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64" name="Slide Number Placeholder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40965" name="Rectangle 3"/>
          <p:cNvSpPr/>
          <p:nvPr/>
        </p:nvSpPr>
        <p:spPr>
          <a:xfrm>
            <a:off x="274638" y="6278563"/>
            <a:ext cx="7594600" cy="276225"/>
          </a:xfrm>
          <a:prstGeom prst="rect">
            <a:avLst/>
          </a:prstGeom>
          <a:solidFill>
            <a:srgbClr val="FFFFE6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45720" rIns="45720">
            <a:spAutoFit/>
          </a:bodyPr>
          <a:p>
            <a:r>
              <a:rPr lang="en-US" altLang="en-US" sz="1200" b="0" dirty="0">
                <a:latin typeface="Calibri" panose="020F0502020204030204" pitchFamily="34" charset="0"/>
                <a:cs typeface="Calibri" panose="020F0502020204030204" pitchFamily="34" charset="0"/>
              </a:rPr>
              <a:t>https://arstechnica.com/gadgets/2018/01/with-ink-to-code-microsoft-is-turning-back-of-napkin-sketches-into-software/</a:t>
            </a:r>
            <a:endParaRPr lang="en-US" altLang="en-US" sz="12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Tit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Example: Safe Home Access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41987" name="Slide Number Placeholder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pic>
        <p:nvPicPr>
          <p:cNvPr id="41988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813" y="2527300"/>
            <a:ext cx="2533650" cy="340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89" name="TextBox 6"/>
          <p:cNvSpPr txBox="1"/>
          <p:nvPr/>
        </p:nvSpPr>
        <p:spPr>
          <a:xfrm>
            <a:off x="141288" y="1374775"/>
            <a:ext cx="8809037" cy="1057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User interface requirement:</a:t>
            </a:r>
            <a:endParaRPr lang="en-US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1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UI must be simple for occasional visitors who will not have time to familiarize or to study user’s documentation.</a:t>
            </a:r>
            <a:endParaRPr lang="en-US" altLang="en-US" sz="1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800"/>
              </a:spcBef>
            </a:pPr>
            <a:r>
              <a:rPr lang="en-US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Initial design of the door keypad:</a:t>
            </a:r>
            <a:endParaRPr lang="en-US" altLang="en-US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38488" y="2408238"/>
            <a:ext cx="6005513" cy="4400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spcBef>
                <a:spcPts val="600"/>
              </a:spcBef>
              <a:buClrTx/>
              <a:buSzTx/>
              <a:buFontTx/>
              <a:buNone/>
              <a:defRPr/>
            </a:pPr>
            <a:r>
              <a:rPr kumimoji="0" lang="en-US" sz="2000" u="sng" kern="1200" cap="none" spc="0" normalizeH="0" baseline="0" noProof="0" dirty="0">
                <a:solidFill>
                  <a:srgbClr val="68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Analysis</a:t>
            </a:r>
            <a:r>
              <a:rPr kumimoji="0" lang="en-US" sz="2000" b="0" kern="1200" cap="none" spc="0" normalizeH="0" baseline="0" noProof="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:</a:t>
            </a:r>
            <a:endParaRPr kumimoji="0" lang="en-US" sz="2000" b="0" kern="1200" cap="none" spc="0" normalizeH="0" baseline="0" noProof="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indent="-342900" defTabSz="914400">
              <a:spcBef>
                <a:spcPts val="600"/>
              </a:spcBef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000" b="0" kern="1200" cap="none" spc="0" normalizeH="0" baseline="0" noProof="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If “Unlock” button is </a:t>
            </a:r>
            <a:r>
              <a:rPr kumimoji="0" lang="en-US" sz="2000" b="0" i="1" kern="1200" cap="none" spc="0" normalizeH="0" baseline="0" noProof="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not</a:t>
            </a:r>
            <a:r>
              <a:rPr kumimoji="0" lang="en-US" sz="2000" b="0" kern="1200" cap="none" spc="0" normalizeH="0" baseline="0" noProof="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available, then the system could simply take the </a:t>
            </a:r>
            <a:r>
              <a:rPr kumimoji="0" lang="en-US" sz="2000" kern="1200" cap="none" spc="0" normalizeH="0" baseline="0" noProof="0" dirty="0">
                <a:solidFill>
                  <a:srgbClr val="68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first</a:t>
            </a:r>
            <a:r>
              <a:rPr kumimoji="0" lang="en-US" sz="2000" b="0" kern="1200" cap="none" spc="0" normalizeH="0" baseline="0" noProof="0" dirty="0">
                <a:solidFill>
                  <a:srgbClr val="68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2000" b="0" i="1" kern="1200" cap="none" spc="0" normalizeH="0" baseline="0" noProof="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</a:t>
            </a:r>
            <a:r>
              <a:rPr kumimoji="0" lang="en-US" sz="2000" b="0" kern="1200" cap="none" spc="0" normalizeH="0" baseline="0" noProof="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digits and validate as the key.</a:t>
            </a:r>
            <a:endParaRPr kumimoji="0" lang="en-US" sz="2000" b="0" kern="1200" cap="none" spc="0" normalizeH="0" baseline="0" noProof="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indent="-342900" defTabSz="914400">
              <a:spcBef>
                <a:spcPts val="600"/>
              </a:spcBef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000" b="0" kern="1200" cap="none" spc="0" normalizeH="0" baseline="0" noProof="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If “Unlock” button </a:t>
            </a:r>
            <a:r>
              <a:rPr kumimoji="0" lang="en-US" sz="2000" b="0" i="1" kern="1200" cap="none" spc="0" normalizeH="0" baseline="0" noProof="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is</a:t>
            </a:r>
            <a:r>
              <a:rPr kumimoji="0" lang="en-US" sz="2000" b="0" kern="1200" cap="none" spc="0" normalizeH="0" baseline="0" noProof="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available, then the system could take the </a:t>
            </a:r>
            <a:r>
              <a:rPr kumimoji="0" lang="en-US" sz="2000" kern="1200" cap="none" spc="0" normalizeH="0" baseline="0" noProof="0" dirty="0">
                <a:solidFill>
                  <a:srgbClr val="68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last</a:t>
            </a:r>
            <a:r>
              <a:rPr kumimoji="0" lang="en-US" sz="2000" b="0" kern="1200" cap="none" spc="0" normalizeH="0" baseline="0" noProof="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2000" b="0" i="1" kern="1200" cap="none" spc="0" normalizeH="0" baseline="0" noProof="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</a:t>
            </a:r>
            <a:r>
              <a:rPr kumimoji="0" lang="en-US" sz="2000" b="0" kern="1200" cap="none" spc="0" normalizeH="0" baseline="0" noProof="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digits and validate as the key (and ignore any number &gt;</a:t>
            </a:r>
            <a:r>
              <a:rPr kumimoji="0" lang="en-US" sz="2000" b="0" i="1" kern="1200" cap="none" spc="0" normalizeH="0" baseline="0" noProof="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</a:t>
            </a:r>
            <a:r>
              <a:rPr kumimoji="0" lang="en-US" sz="2000" b="0" kern="1200" cap="none" spc="0" normalizeH="0" baseline="0" noProof="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of previously entered digits).</a:t>
            </a:r>
            <a:endParaRPr kumimoji="0" lang="en-US" sz="2000" b="0" kern="1200" cap="none" spc="0" normalizeH="0" baseline="0" noProof="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indent="-342900" defTabSz="914400">
              <a:spcBef>
                <a:spcPts val="600"/>
              </a:spcBef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000" b="0" kern="1200" cap="none" spc="0" normalizeH="0" baseline="0" noProof="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advantage of the latter approach is that it allows correcting for unintentional mistakes during typing, so the </a:t>
            </a:r>
            <a:r>
              <a:rPr kumimoji="0" lang="en-US" sz="2000" b="0" i="1" kern="1200" cap="none" spc="0" normalizeH="0" baseline="0" noProof="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legitimate</a:t>
            </a:r>
            <a:r>
              <a:rPr kumimoji="0" lang="en-US" sz="2000" b="0" kern="1200" cap="none" spc="0" normalizeH="0" baseline="0" noProof="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user can have more opportunities to attempt.</a:t>
            </a:r>
            <a:endParaRPr kumimoji="0" lang="en-US" sz="2000" b="0" kern="1200" cap="none" spc="0" normalizeH="0" baseline="0" noProof="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indent="-342900" defTabSz="914400">
              <a:spcBef>
                <a:spcPts val="600"/>
              </a:spcBef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000" b="0" kern="1200" cap="none" spc="0" normalizeH="0" baseline="0" noProof="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Note that this feature will not help the burglar trying a dictionary attack.</a:t>
            </a:r>
            <a:endParaRPr kumimoji="0" lang="en-US" sz="2000" b="0" kern="1200" cap="none" spc="0" normalizeH="0" baseline="0" noProof="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8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Example: Safe Home Access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43011" name="Slide Number Placeholder 2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43012" name="TextBox 3"/>
          <p:cNvSpPr txBox="1"/>
          <p:nvPr/>
        </p:nvSpPr>
        <p:spPr>
          <a:xfrm>
            <a:off x="250825" y="1495425"/>
            <a:ext cx="745331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Redesigned door keypad:  </a:t>
            </a:r>
            <a:r>
              <a:rPr lang="en-US" alt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includes the “Unlock”&amp;“Lock” buttons</a:t>
            </a:r>
            <a:endParaRPr lang="en-US" altLang="en-US" sz="20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43013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2159000"/>
            <a:ext cx="2173288" cy="4470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981325" y="2408238"/>
            <a:ext cx="6162675" cy="3570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ts val="600"/>
              </a:spcBef>
              <a:buNone/>
            </a:pPr>
            <a:r>
              <a:rPr lang="en-US" altLang="zh-CN" u="sng" dirty="0">
                <a:solidFill>
                  <a:srgbClr val="68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Analysis</a:t>
            </a:r>
            <a:r>
              <a:rPr lang="en-US" altLang="zh-CN" b="0" dirty="0">
                <a:latin typeface="Calibri" panose="020F0502020204030204" pitchFamily="34" charset="0"/>
                <a:ea typeface="宋体" panose="02010600030101010101" pitchFamily="2" charset="-122"/>
              </a:rPr>
              <a:t>:</a:t>
            </a:r>
            <a:endParaRPr lang="en-US" altLang="zh-CN" b="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zh-CN" b="0" dirty="0">
                <a:latin typeface="Calibri" panose="020F0502020204030204" pitchFamily="34" charset="0"/>
                <a:ea typeface="宋体" panose="02010600030101010101" pitchFamily="2" charset="-122"/>
              </a:rPr>
              <a:t> When a user types in the key and the system reports an invalid key, the user may not know whether the problem is in his fingers or in his memory: “</a:t>
            </a:r>
            <a:r>
              <a:rPr lang="en-US" altLang="zh-CN" b="0" i="1" dirty="0">
                <a:latin typeface="Calibri" panose="020F0502020204030204" pitchFamily="34" charset="0"/>
                <a:ea typeface="宋体" panose="02010600030101010101" pitchFamily="2" charset="-122"/>
              </a:rPr>
              <a:t>did I mistype the correct key, or I forgot the key</a:t>
            </a:r>
            <a:r>
              <a:rPr lang="en-US" altLang="zh-CN" b="0" dirty="0">
                <a:latin typeface="Calibri" panose="020F0502020204030204" pitchFamily="34" charset="0"/>
                <a:ea typeface="宋体" panose="02010600030101010101" pitchFamily="2" charset="-122"/>
              </a:rPr>
              <a:t>?”</a:t>
            </a:r>
            <a:endParaRPr lang="en-US" altLang="zh-CN" b="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zh-CN" b="0" dirty="0">
                <a:latin typeface="Calibri" panose="020F0502020204030204" pitchFamily="34" charset="0"/>
                <a:ea typeface="宋体" panose="02010600030101010101" pitchFamily="2" charset="-122"/>
              </a:rPr>
              <a:t> To help the user in such a situation, we may propose to include a numerical display that shows the digits as the user types.</a:t>
            </a:r>
            <a:endParaRPr lang="en-US" altLang="zh-CN" b="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0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charRg st="10" end="2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211" end="3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charRg st="211" end="3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Example: Safe Home Access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44035" name="Slide Number Placeholder 2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44036" name="TextBox 3"/>
          <p:cNvSpPr txBox="1"/>
          <p:nvPr/>
        </p:nvSpPr>
        <p:spPr>
          <a:xfrm>
            <a:off x="250825" y="1495425"/>
            <a:ext cx="7367588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Re-redesigned door keypad:  includes the keycode display</a:t>
            </a:r>
            <a:endParaRPr lang="en-US" altLang="en-US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00388" y="2408238"/>
            <a:ext cx="6043612" cy="4287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ts val="400"/>
              </a:spcBef>
              <a:buNone/>
            </a:pPr>
            <a:r>
              <a:rPr lang="en-US" altLang="zh-CN" u="sng" dirty="0">
                <a:solidFill>
                  <a:srgbClr val="68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Analysis</a:t>
            </a:r>
            <a:r>
              <a:rPr lang="en-US" altLang="zh-CN" b="0" dirty="0">
                <a:latin typeface="Calibri" panose="020F0502020204030204" pitchFamily="34" charset="0"/>
                <a:ea typeface="宋体" panose="02010600030101010101" pitchFamily="2" charset="-122"/>
              </a:rPr>
              <a:t>:</a:t>
            </a:r>
            <a:endParaRPr lang="en-US" altLang="zh-CN" b="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Bef>
                <a:spcPts val="400"/>
              </a:spcBef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zh-CN" b="0" dirty="0">
                <a:latin typeface="Calibri" panose="020F0502020204030204" pitchFamily="34" charset="0"/>
                <a:ea typeface="宋体" panose="02010600030101010101" pitchFamily="2" charset="-122"/>
              </a:rPr>
              <a:t> There are several issues to consider about the display feature:</a:t>
            </a:r>
            <a:endParaRPr lang="en-US" altLang="zh-CN" b="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800100" lvl="1" indent="-342900">
              <a:spcBef>
                <a:spcPts val="400"/>
              </a:spcBef>
              <a:buClr>
                <a:srgbClr val="680000"/>
              </a:buClr>
              <a:buFont typeface="Arial" panose="020B0604020202020204" pitchFamily="34" charset="0"/>
              <a:buChar char="•"/>
            </a:pPr>
            <a:r>
              <a:rPr lang="en-US" alt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How much this feature would increase the overall cost?</a:t>
            </a:r>
            <a:endParaRPr lang="en-US" altLang="zh-CN" sz="2000" b="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800100" lvl="1" indent="-342900">
              <a:spcBef>
                <a:spcPts val="400"/>
              </a:spcBef>
              <a:buClr>
                <a:srgbClr val="680000"/>
              </a:buClr>
              <a:buFont typeface="Arial" panose="020B0604020202020204" pitchFamily="34" charset="0"/>
              <a:buChar char="•"/>
            </a:pPr>
            <a:r>
              <a:rPr lang="en-US" alt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Would the display make the door device bulky and inconvenient to install?</a:t>
            </a:r>
            <a:endParaRPr lang="en-US" altLang="zh-CN" sz="2000" b="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800100" lvl="1" indent="-342900">
              <a:spcBef>
                <a:spcPts val="400"/>
              </a:spcBef>
              <a:buClr>
                <a:srgbClr val="680000"/>
              </a:buClr>
              <a:buFont typeface="Arial" panose="020B0604020202020204" pitchFamily="34" charset="0"/>
              <a:buChar char="•"/>
            </a:pPr>
            <a:r>
              <a:rPr lang="en-US" alt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Would it be significantly more sensitive to rain and other elements?</a:t>
            </a:r>
            <a:endParaRPr lang="en-US" altLang="zh-CN" sz="2000" b="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800100" lvl="1" indent="-342900">
              <a:spcBef>
                <a:spcPts val="400"/>
              </a:spcBef>
              <a:buClr>
                <a:srgbClr val="680000"/>
              </a:buClr>
              <a:buFont typeface="Arial" panose="020B0604020202020204" pitchFamily="34" charset="0"/>
              <a:buChar char="•"/>
            </a:pPr>
            <a:r>
              <a:rPr lang="en-US" alt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Would the displayed information be helpful to an intruder trying to guess a valid key?</a:t>
            </a:r>
            <a:endParaRPr lang="en-US" altLang="zh-CN" sz="2000" b="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buClr>
                <a:srgbClr val="680000"/>
              </a:buClr>
              <a:buFont typeface="Wingdings" panose="05000000000000000000" pitchFamily="2" charset="2"/>
              <a:buChar char="q"/>
            </a:pPr>
            <a:endParaRPr lang="en-US" altLang="zh-CN" b="0" dirty="0">
              <a:latin typeface="AvantGarde Bk BT" pitchFamily="34" charset="0"/>
              <a:ea typeface="宋体" panose="02010600030101010101" pitchFamily="2" charset="-122"/>
            </a:endParaRPr>
          </a:p>
        </p:txBody>
      </p:sp>
      <p:pic>
        <p:nvPicPr>
          <p:cNvPr id="44038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1957388"/>
            <a:ext cx="1993900" cy="46783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0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charRg st="10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75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">
                                            <p:txEl>
                                              <p:charRg st="75" end="1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30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">
                                            <p:txEl>
                                              <p:charRg st="130" end="2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204" end="2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">
                                            <p:txEl>
                                              <p:charRg st="204" end="2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273" end="3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6">
                                            <p:txEl>
                                              <p:charRg st="273" end="3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/>
            <a:r>
              <a:rPr lang="en-US" altLang="zh-CN" dirty="0">
                <a:latin typeface="Arial Rounded MT Bold" panose="020F0704030504030204" pitchFamily="34" charset="0"/>
                <a:ea typeface="宋体" panose="02010600030101010101" pitchFamily="2" charset="-122"/>
                <a:cs typeface="+mj-cs"/>
              </a:rPr>
              <a:t>Restaurant Table Assignments</a:t>
            </a:r>
            <a:endParaRPr lang="en-US" altLang="zh-CN" dirty="0">
              <a:latin typeface="Arial Rounded MT Bold" panose="020F0704030504030204" pitchFamily="34" charset="0"/>
              <a:ea typeface="宋体" panose="02010600030101010101" pitchFamily="2" charset="-122"/>
              <a:cs typeface="+mj-cs"/>
            </a:endParaRPr>
          </a:p>
        </p:txBody>
      </p:sp>
      <p:pic>
        <p:nvPicPr>
          <p:cNvPr id="4505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38" y="2490788"/>
            <a:ext cx="3816350" cy="3816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6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1184275"/>
            <a:ext cx="4254500" cy="5673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GUI for UC6: </a:t>
            </a:r>
            <a:r>
              <a:rPr lang="en-US" altLang="en-US" dirty="0">
                <a:solidFill>
                  <a:schemeClr val="tx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Set Device Pref’s</a:t>
            </a:r>
            <a:endParaRPr lang="en-US" altLang="en-US" dirty="0">
              <a:solidFill>
                <a:schemeClr val="tx1"/>
              </a:solidFill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46083" name="Text Box 47"/>
          <p:cNvSpPr txBox="1">
            <a:spLocks noChangeAspect="1"/>
          </p:cNvSpPr>
          <p:nvPr/>
        </p:nvSpPr>
        <p:spPr>
          <a:xfrm>
            <a:off x="765175" y="5349875"/>
            <a:ext cx="5205413" cy="3079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45720" tIns="0" rIns="45720" bIns="0">
            <a:spAutoFit/>
          </a:bodyPr>
          <a:p>
            <a:pPr eaLnBrk="1" hangingPunct="1"/>
            <a:r>
              <a:rPr lang="en-US" alt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( NOTE: Lock device is mandatory, not an option )</a:t>
            </a:r>
            <a:endParaRPr lang="en-US" altLang="en-US" sz="20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46084" name="Picture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400" y="1655763"/>
            <a:ext cx="6118225" cy="33004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726238" y="5240338"/>
            <a:ext cx="2109787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None/>
            </a:pPr>
            <a:r>
              <a:rPr lang="en-US" altLang="zh-CN" sz="2000" b="0" dirty="0">
                <a:solidFill>
                  <a:srgbClr val="C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Radio buttons are normally used in single choice only!</a:t>
            </a:r>
            <a:endParaRPr lang="zh-CN" altLang="en-US" sz="2000" b="0" dirty="0">
              <a:solidFill>
                <a:srgbClr val="C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24142</Words>
  <Application>WPS 演示</Application>
  <PresentationFormat/>
  <Paragraphs>1149</Paragraphs>
  <Slides>44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62" baseType="lpstr">
      <vt:lpstr>Arial</vt:lpstr>
      <vt:lpstr>宋体</vt:lpstr>
      <vt:lpstr>Wingdings</vt:lpstr>
      <vt:lpstr>Comic Sans MS</vt:lpstr>
      <vt:lpstr>Times New Roman</vt:lpstr>
      <vt:lpstr>Verdana</vt:lpstr>
      <vt:lpstr>黑体</vt:lpstr>
      <vt:lpstr>Arial Rounded MT Bold</vt:lpstr>
      <vt:lpstr>Calibri</vt:lpstr>
      <vt:lpstr>MT Extra</vt:lpstr>
      <vt:lpstr>Courier New</vt:lpstr>
      <vt:lpstr>Symbol</vt:lpstr>
      <vt:lpstr>AvantGarde Bk BT</vt:lpstr>
      <vt:lpstr>Segoe Print</vt:lpstr>
      <vt:lpstr>Consolas</vt:lpstr>
      <vt:lpstr>微软雅黑</vt:lpstr>
      <vt:lpstr>Arial Unicode MS</vt:lpstr>
      <vt:lpstr>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Lecture Slides</dc:title>
  <dc:creator>Ivan Marsic</dc:creator>
  <cp:keywords>software engineering, software development, object-oriented software engineeirng</cp:keywords>
  <dc:subject>lecture 5: Use Cases</dc:subject>
  <cp:lastModifiedBy>MX</cp:lastModifiedBy>
  <cp:revision>5081</cp:revision>
  <dcterms:created xsi:type="dcterms:W3CDTF">2003-05-20T05:14:33Z</dcterms:created>
  <dcterms:modified xsi:type="dcterms:W3CDTF">2026-04-04T07:24:38Z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15D723448E2B4F63B072B2ECC4E009C2_13</vt:lpwstr>
  </property>
  <property fmtid="{D5CDD505-2E9C-101B-9397-08002B2CF9AE}" pid="3" name="KSOProductBuildVer">
    <vt:lpwstr>2052-12.1.0.23542</vt:lpwstr>
  </property>
</Properties>
</file>