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8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emf" ContentType="image/x-emf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1"/>
    <p:sldMasterId id="2147483735" r:id="rId2"/>
    <p:sldMasterId id="2147483717" r:id="rId3"/>
    <p:sldMasterId id="2147483750" r:id="rId4"/>
    <p:sldMasterId id="2147483689" r:id="rId5"/>
  </p:sldMasterIdLst>
  <p:notesMasterIdLst>
    <p:notesMasterId r:id="rId59"/>
  </p:notesMasterIdLst>
  <p:handoutMasterIdLst>
    <p:handoutMasterId r:id="rId60"/>
  </p:handoutMasterIdLst>
  <p:sldIdLst>
    <p:sldId id="264" r:id="rId6"/>
    <p:sldId id="1084" r:id="rId7"/>
    <p:sldId id="1123" r:id="rId8"/>
    <p:sldId id="1093" r:id="rId9"/>
    <p:sldId id="1086" r:id="rId10"/>
    <p:sldId id="1087" r:id="rId11"/>
    <p:sldId id="1124" r:id="rId12"/>
    <p:sldId id="1125" r:id="rId13"/>
    <p:sldId id="1090" r:id="rId14"/>
    <p:sldId id="1091" r:id="rId15"/>
    <p:sldId id="1092" r:id="rId16"/>
    <p:sldId id="1126" r:id="rId17"/>
    <p:sldId id="1127" r:id="rId18"/>
    <p:sldId id="1128" r:id="rId19"/>
    <p:sldId id="1129" r:id="rId20"/>
    <p:sldId id="1095" r:id="rId21"/>
    <p:sldId id="1096" r:id="rId22"/>
    <p:sldId id="1097" r:id="rId23"/>
    <p:sldId id="1098" r:id="rId24"/>
    <p:sldId id="1099" r:id="rId25"/>
    <p:sldId id="1137" r:id="rId26"/>
    <p:sldId id="1100" r:id="rId27"/>
    <p:sldId id="1131" r:id="rId28"/>
    <p:sldId id="1101" r:id="rId29"/>
    <p:sldId id="1133" r:id="rId30"/>
    <p:sldId id="1102" r:id="rId31"/>
    <p:sldId id="1144" r:id="rId32"/>
    <p:sldId id="1130" r:id="rId33"/>
    <p:sldId id="1103" r:id="rId34"/>
    <p:sldId id="1105" r:id="rId35"/>
    <p:sldId id="1145" r:id="rId36"/>
    <p:sldId id="1146" r:id="rId37"/>
    <p:sldId id="1106" r:id="rId38"/>
    <p:sldId id="1107" r:id="rId39"/>
    <p:sldId id="1134" r:id="rId40"/>
    <p:sldId id="1135" r:id="rId41"/>
    <p:sldId id="1108" r:id="rId42"/>
    <p:sldId id="1147" r:id="rId43"/>
    <p:sldId id="1109" r:id="rId44"/>
    <p:sldId id="1110" r:id="rId45"/>
    <p:sldId id="1111" r:id="rId46"/>
    <p:sldId id="1136" r:id="rId47"/>
    <p:sldId id="1112" r:id="rId48"/>
    <p:sldId id="1114" r:id="rId49"/>
    <p:sldId id="1139" r:id="rId50"/>
    <p:sldId id="1150" r:id="rId51"/>
    <p:sldId id="1149" r:id="rId52"/>
    <p:sldId id="1151" r:id="rId53"/>
    <p:sldId id="1152" r:id="rId54"/>
    <p:sldId id="1153" r:id="rId55"/>
    <p:sldId id="1154" r:id="rId56"/>
    <p:sldId id="1155" r:id="rId57"/>
    <p:sldId id="1122" r:id="rId58"/>
  </p:sldIdLst>
  <p:sldSz cx="9144000" cy="5143500" type="screen16x9"/>
  <p:notesSz cx="7099300" cy="10234613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CC"/>
    <a:srgbClr val="FFFFFF"/>
    <a:srgbClr val="00204F"/>
    <a:srgbClr val="939A51"/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80" autoAdjust="0"/>
    <p:restoredTop sz="92998" autoAdjust="0"/>
  </p:normalViewPr>
  <p:slideViewPr>
    <p:cSldViewPr snapToGrid="0">
      <p:cViewPr>
        <p:scale>
          <a:sx n="100" d="100"/>
          <a:sy n="100" d="100"/>
        </p:scale>
        <p:origin x="-1932" y="-73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47C84FDD-BB37-6B48-A9C5-1C3155F992C4}" type="datetimeFigureOut">
              <a:rPr lang="en-US" smtClean="0"/>
              <a:pPr/>
              <a:t>2/24/2024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EA10884B-425D-4B4B-8C23-55A191888549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31302309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32100B7E-7A17-47E8-A5AB-33071C0C8AAA}" type="datetimeFigureOut">
              <a:rPr lang="sv-SE" smtClean="0"/>
              <a:pPr/>
              <a:t>2024-02-24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A9264AB5-3208-46EB-A2CB-53BA67DEFF15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422437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örstasida - 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SU_PPT_eld"/>
          <p:cNvPicPr>
            <a:picLocks noChangeAspect="1" noChangeArrowheads="1"/>
          </p:cNvPicPr>
          <p:nvPr userDrawn="1"/>
        </p:nvPicPr>
        <p:blipFill>
          <a:blip r:embed="rId2" cstate="print">
            <a:alphaModFix amt="55000"/>
          </a:blip>
          <a:srcRect l="4988" t="-362"/>
          <a:stretch>
            <a:fillRect/>
          </a:stretch>
        </p:blipFill>
        <p:spPr bwMode="auto">
          <a:xfrm>
            <a:off x="1" y="1225226"/>
            <a:ext cx="5408969" cy="3938812"/>
          </a:xfrm>
          <a:prstGeom prst="rect">
            <a:avLst/>
          </a:prstGeom>
          <a:noFill/>
          <a:effectLst/>
        </p:spPr>
      </p:pic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rm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smtClean="0"/>
              <a:t>Avsnittsnamn</a:t>
            </a:r>
            <a:endParaRPr lang="sv-SE" noProof="0"/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04550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smtClean="0"/>
              <a:t>Talare eller underrubrik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noProof="0" dirty="0" smtClean="0"/>
              <a:t>Kurs/Programserie</a:t>
            </a:r>
          </a:p>
        </p:txBody>
      </p:sp>
    </p:spTree>
    <p:extLst>
      <p:ext uri="{BB962C8B-B14F-4D97-AF65-F5344CB8AC3E}">
        <p14:creationId xmlns:p14="http://schemas.microsoft.com/office/powerpoint/2010/main" xmlns="" val="2726350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örstasida - Kron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 descr="SU_PPT_kronor"/>
          <p:cNvPicPr>
            <a:picLocks noChangeAspect="1" noChangeArrowheads="1"/>
          </p:cNvPicPr>
          <p:nvPr userDrawn="1"/>
        </p:nvPicPr>
        <p:blipFill>
          <a:blip r:embed="rId2" cstate="print">
            <a:alphaModFix amt="55000"/>
          </a:blip>
          <a:srcRect/>
          <a:stretch>
            <a:fillRect/>
          </a:stretch>
        </p:blipFill>
        <p:spPr bwMode="auto">
          <a:xfrm>
            <a:off x="0" y="1262062"/>
            <a:ext cx="4197096" cy="3881628"/>
          </a:xfrm>
          <a:prstGeom prst="rect">
            <a:avLst/>
          </a:prstGeom>
          <a:noFill/>
        </p:spPr>
      </p:pic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rm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smtClean="0"/>
              <a:t>Avsnittsnamn</a:t>
            </a:r>
            <a:endParaRPr lang="sv-SE" noProof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noProof="0" dirty="0" smtClean="0"/>
              <a:t>Kurs/Programserie</a:t>
            </a:r>
            <a:endParaRPr lang="sv-SE" noProof="0" dirty="0"/>
          </a:p>
        </p:txBody>
      </p:sp>
      <p:sp>
        <p:nvSpPr>
          <p:cNvPr id="7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04550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smtClean="0"/>
              <a:t>Talare eller underrubrik</a:t>
            </a:r>
          </a:p>
        </p:txBody>
      </p:sp>
    </p:spTree>
    <p:extLst>
      <p:ext uri="{BB962C8B-B14F-4D97-AF65-F5344CB8AC3E}">
        <p14:creationId xmlns:p14="http://schemas.microsoft.com/office/powerpoint/2010/main" xmlns="" val="658289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örstasida - Olivkv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_PPT_olivkvist"/>
          <p:cNvPicPr>
            <a:picLocks noChangeAspect="1" noChangeArrowheads="1"/>
          </p:cNvPicPr>
          <p:nvPr userDrawn="1"/>
        </p:nvPicPr>
        <p:blipFill>
          <a:blip r:embed="rId2" cstate="print">
            <a:alphaModFix amt="55000"/>
          </a:blip>
          <a:srcRect l="1746"/>
          <a:stretch>
            <a:fillRect/>
          </a:stretch>
        </p:blipFill>
        <p:spPr bwMode="auto">
          <a:xfrm>
            <a:off x="1589" y="238124"/>
            <a:ext cx="5161507" cy="4905756"/>
          </a:xfrm>
          <a:prstGeom prst="rect">
            <a:avLst/>
          </a:prstGeom>
          <a:noFill/>
        </p:spPr>
      </p:pic>
      <p:sp>
        <p:nvSpPr>
          <p:cNvPr id="6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rm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smtClean="0"/>
              <a:t>Avsnittsnamn</a:t>
            </a:r>
            <a:endParaRPr lang="sv-SE" noProof="0"/>
          </a:p>
        </p:txBody>
      </p:sp>
      <p:sp>
        <p:nvSpPr>
          <p:cNvPr id="8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noProof="0" dirty="0" smtClean="0"/>
              <a:t>Kurs/Programserie</a:t>
            </a:r>
          </a:p>
        </p:txBody>
      </p:sp>
      <p:sp>
        <p:nvSpPr>
          <p:cNvPr id="9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04550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smtClean="0"/>
              <a:t>Talare eller underrubrik</a:t>
            </a:r>
          </a:p>
        </p:txBody>
      </p:sp>
    </p:spTree>
    <p:extLst>
      <p:ext uri="{BB962C8B-B14F-4D97-AF65-F5344CB8AC3E}">
        <p14:creationId xmlns:p14="http://schemas.microsoft.com/office/powerpoint/2010/main" xmlns="" val="327140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örsta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rm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smtClean="0"/>
              <a:t>Avsnittsnamn</a:t>
            </a:r>
            <a:endParaRPr lang="sv-SE" noProof="0"/>
          </a:p>
        </p:txBody>
      </p:sp>
      <p:sp>
        <p:nvSpPr>
          <p:cNvPr id="7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noProof="0" dirty="0" smtClean="0"/>
              <a:t>Kurs/Programserie</a:t>
            </a:r>
          </a:p>
        </p:txBody>
      </p:sp>
      <p:sp>
        <p:nvSpPr>
          <p:cNvPr id="8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04550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smtClean="0"/>
              <a:t>Talare eller underrubrik</a:t>
            </a:r>
          </a:p>
        </p:txBody>
      </p:sp>
    </p:spTree>
    <p:extLst>
      <p:ext uri="{BB962C8B-B14F-4D97-AF65-F5344CB8AC3E}">
        <p14:creationId xmlns:p14="http://schemas.microsoft.com/office/powerpoint/2010/main" xmlns="" val="592840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US" noProof="0" smtClean="0"/>
              <a:t>Click to edit Master title style</a:t>
            </a:r>
            <a:endParaRPr lang="sv-SE" noProof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792000" y="1275534"/>
            <a:ext cx="6850800" cy="324043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xmlns="" val="125107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apitelsida - 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SU_PPT_eld"/>
          <p:cNvPicPr>
            <a:picLocks noChangeAspect="1" noChangeArrowheads="1"/>
          </p:cNvPicPr>
          <p:nvPr userDrawn="1"/>
        </p:nvPicPr>
        <p:blipFill>
          <a:blip r:embed="rId2" cstate="print">
            <a:alphaModFix amt="55000"/>
          </a:blip>
          <a:srcRect l="4988" t="-362"/>
          <a:stretch>
            <a:fillRect/>
          </a:stretch>
        </p:blipFill>
        <p:spPr bwMode="auto">
          <a:xfrm>
            <a:off x="1" y="1225226"/>
            <a:ext cx="5408969" cy="3938812"/>
          </a:xfrm>
          <a:prstGeom prst="rect">
            <a:avLst/>
          </a:prstGeom>
          <a:noFill/>
          <a:effectLst/>
        </p:spPr>
      </p:pic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sv-SE" noProof="0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874800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xmlns="" val="193773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 - Olivkv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_PPT_olivkvist"/>
          <p:cNvPicPr>
            <a:picLocks noChangeAspect="1" noChangeArrowheads="1"/>
          </p:cNvPicPr>
          <p:nvPr userDrawn="1"/>
        </p:nvPicPr>
        <p:blipFill>
          <a:blip r:embed="rId2" cstate="print">
            <a:alphaModFix amt="55000"/>
          </a:blip>
          <a:srcRect l="1746"/>
          <a:stretch>
            <a:fillRect/>
          </a:stretch>
        </p:blipFill>
        <p:spPr bwMode="auto">
          <a:xfrm>
            <a:off x="1589" y="238124"/>
            <a:ext cx="5161507" cy="4905756"/>
          </a:xfrm>
          <a:prstGeom prst="rect">
            <a:avLst/>
          </a:prstGeom>
          <a:noFill/>
        </p:spPr>
      </p:pic>
      <p:sp>
        <p:nvSpPr>
          <p:cNvPr id="6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sv-SE" noProof="0" dirty="0"/>
          </a:p>
        </p:txBody>
      </p:sp>
      <p:sp>
        <p:nvSpPr>
          <p:cNvPr id="7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874800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xmlns="" val="1935300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 - Kron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_PPT_kronor"/>
          <p:cNvPicPr>
            <a:picLocks noChangeAspect="1" noChangeArrowheads="1"/>
          </p:cNvPicPr>
          <p:nvPr userDrawn="1"/>
        </p:nvPicPr>
        <p:blipFill>
          <a:blip r:embed="rId2" cstate="print">
            <a:alphaModFix amt="55000"/>
          </a:blip>
          <a:srcRect/>
          <a:stretch>
            <a:fillRect/>
          </a:stretch>
        </p:blipFill>
        <p:spPr bwMode="auto">
          <a:xfrm>
            <a:off x="0" y="1262062"/>
            <a:ext cx="4197096" cy="3881628"/>
          </a:xfrm>
          <a:prstGeom prst="rect">
            <a:avLst/>
          </a:prstGeom>
          <a:noFill/>
        </p:spPr>
      </p:pic>
      <p:sp>
        <p:nvSpPr>
          <p:cNvPr id="6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sv-SE" noProof="0" dirty="0"/>
          </a:p>
        </p:txBody>
      </p:sp>
      <p:sp>
        <p:nvSpPr>
          <p:cNvPr id="7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874800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xmlns="" val="1935300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sv-SE" noProof="0" dirty="0"/>
          </a:p>
        </p:txBody>
      </p:sp>
      <p:sp>
        <p:nvSpPr>
          <p:cNvPr id="5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874800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sv-SE" noProof="0" dirty="0" smtClean="0"/>
          </a:p>
        </p:txBody>
      </p:sp>
    </p:spTree>
    <p:extLst>
      <p:ext uri="{BB962C8B-B14F-4D97-AF65-F5344CB8AC3E}">
        <p14:creationId xmlns:p14="http://schemas.microsoft.com/office/powerpoint/2010/main" xmlns="" val="391254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792000" y="1275534"/>
            <a:ext cx="3348000" cy="32404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291200" y="1275534"/>
            <a:ext cx="3348000" cy="32404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41479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 noProof="0" smtClean="0"/>
              <a:t>Click to edit Master title style</a:t>
            </a:r>
            <a:endParaRPr lang="sv-SE" noProof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792000" y="1275534"/>
            <a:ext cx="6850800" cy="2411100"/>
          </a:xfrm>
        </p:spPr>
        <p:txBody>
          <a:bodyPr>
            <a:normAutofit/>
          </a:bodyPr>
          <a:lstStyle>
            <a:lvl1pPr marL="1588" indent="-1588">
              <a:lnSpc>
                <a:spcPts val="2600"/>
              </a:lnSpc>
              <a:buNone/>
              <a:defRPr sz="2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655997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792000" y="595470"/>
            <a:ext cx="6850800" cy="399250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4196804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328932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 - F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SU_PPT_eld"/>
          <p:cNvPicPr>
            <a:picLocks noChangeAspect="1" noChangeArrowheads="1"/>
          </p:cNvPicPr>
          <p:nvPr userDrawn="1"/>
        </p:nvPicPr>
        <p:blipFill>
          <a:blip r:embed="rId2" cstate="print">
            <a:alphaModFix amt="55000"/>
          </a:blip>
          <a:srcRect l="4988" t="-362"/>
          <a:stretch>
            <a:fillRect/>
          </a:stretch>
        </p:blipFill>
        <p:spPr bwMode="auto">
          <a:xfrm>
            <a:off x="1" y="1225226"/>
            <a:ext cx="5408969" cy="3938812"/>
          </a:xfrm>
          <a:prstGeom prst="rect">
            <a:avLst/>
          </a:prstGeom>
          <a:noFill/>
          <a:effectLst/>
        </p:spPr>
      </p:pic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 baseline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noProof="0" smtClean="0"/>
              <a:t>Episode name</a:t>
            </a:r>
            <a:endParaRPr lang="en-US" noProof="0"/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40554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Speaker or subtitle</a:t>
            </a:r>
          </a:p>
          <a:p>
            <a:pPr lvl="0"/>
            <a:endParaRPr lang="sv-SE" noProof="0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ct val="2000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/>
            </a:lvl1pPr>
          </a:lstStyle>
          <a:p>
            <a:pPr lvl="0"/>
            <a:r>
              <a:rPr lang="en-US" noProof="0" dirty="0" smtClean="0"/>
              <a:t>Course/Serial</a:t>
            </a:r>
          </a:p>
        </p:txBody>
      </p:sp>
    </p:spTree>
    <p:extLst>
      <p:ext uri="{BB962C8B-B14F-4D97-AF65-F5344CB8AC3E}">
        <p14:creationId xmlns:p14="http://schemas.microsoft.com/office/powerpoint/2010/main" xmlns="" val="3735963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 - Olive bran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_PPT_olivkvist"/>
          <p:cNvPicPr>
            <a:picLocks noChangeAspect="1" noChangeArrowheads="1"/>
          </p:cNvPicPr>
          <p:nvPr userDrawn="1"/>
        </p:nvPicPr>
        <p:blipFill>
          <a:blip r:embed="rId2" cstate="print">
            <a:alphaModFix amt="55000"/>
          </a:blip>
          <a:srcRect l="1746"/>
          <a:stretch>
            <a:fillRect/>
          </a:stretch>
        </p:blipFill>
        <p:spPr bwMode="auto">
          <a:xfrm>
            <a:off x="1589" y="238124"/>
            <a:ext cx="5161507" cy="4905756"/>
          </a:xfrm>
          <a:prstGeom prst="rect">
            <a:avLst/>
          </a:prstGeom>
          <a:noFill/>
        </p:spPr>
      </p:pic>
      <p:sp>
        <p:nvSpPr>
          <p:cNvPr id="11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ct val="2000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/>
            </a:lvl1pPr>
          </a:lstStyle>
          <a:p>
            <a:pPr lvl="0"/>
            <a:r>
              <a:rPr lang="en-US" noProof="0" dirty="0" smtClean="0"/>
              <a:t>Course/Serial</a:t>
            </a:r>
          </a:p>
        </p:txBody>
      </p:sp>
      <p:sp>
        <p:nvSpPr>
          <p:cNvPr id="6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 baseline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noProof="0" smtClean="0"/>
              <a:t>Episode name</a:t>
            </a:r>
            <a:endParaRPr lang="en-US" noProof="0"/>
          </a:p>
        </p:txBody>
      </p:sp>
      <p:sp>
        <p:nvSpPr>
          <p:cNvPr id="7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40554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Speaker or subtitle</a:t>
            </a:r>
          </a:p>
          <a:p>
            <a:pPr lvl="0"/>
            <a:endParaRPr lang="sv-SE" noProof="0" dirty="0" smtClean="0"/>
          </a:p>
        </p:txBody>
      </p:sp>
    </p:spTree>
    <p:extLst>
      <p:ext uri="{BB962C8B-B14F-4D97-AF65-F5344CB8AC3E}">
        <p14:creationId xmlns:p14="http://schemas.microsoft.com/office/powerpoint/2010/main" xmlns="" val="1023754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 - Crow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 descr="SU_PPT_kronor"/>
          <p:cNvPicPr>
            <a:picLocks noChangeAspect="1" noChangeArrowheads="1"/>
          </p:cNvPicPr>
          <p:nvPr userDrawn="1"/>
        </p:nvPicPr>
        <p:blipFill>
          <a:blip r:embed="rId2" cstate="print">
            <a:alphaModFix amt="55000"/>
          </a:blip>
          <a:srcRect/>
          <a:stretch>
            <a:fillRect/>
          </a:stretch>
        </p:blipFill>
        <p:spPr bwMode="auto">
          <a:xfrm>
            <a:off x="0" y="1262062"/>
            <a:ext cx="4197096" cy="3881628"/>
          </a:xfrm>
          <a:prstGeom prst="rect">
            <a:avLst/>
          </a:prstGeom>
          <a:noFill/>
        </p:spPr>
      </p:pic>
      <p:sp>
        <p:nvSpPr>
          <p:cNvPr id="12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ct val="2000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/>
            </a:lvl1pPr>
          </a:lstStyle>
          <a:p>
            <a:pPr lvl="0"/>
            <a:r>
              <a:rPr lang="en-US" noProof="0" dirty="0" smtClean="0"/>
              <a:t>Course/Serial</a:t>
            </a:r>
          </a:p>
        </p:txBody>
      </p:sp>
      <p:sp>
        <p:nvSpPr>
          <p:cNvPr id="7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 baseline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noProof="0" smtClean="0"/>
              <a:t>Episode name</a:t>
            </a:r>
            <a:endParaRPr lang="en-US" noProof="0"/>
          </a:p>
        </p:txBody>
      </p:sp>
      <p:sp>
        <p:nvSpPr>
          <p:cNvPr id="8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40554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Speaker or subtitle</a:t>
            </a:r>
          </a:p>
          <a:p>
            <a:pPr lvl="0"/>
            <a:endParaRPr lang="sv-SE" noProof="0" dirty="0" smtClean="0"/>
          </a:p>
        </p:txBody>
      </p:sp>
    </p:spTree>
    <p:extLst>
      <p:ext uri="{BB962C8B-B14F-4D97-AF65-F5344CB8AC3E}">
        <p14:creationId xmlns:p14="http://schemas.microsoft.com/office/powerpoint/2010/main" xmlns="" val="3242507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ct val="2000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/>
            </a:lvl1pPr>
          </a:lstStyle>
          <a:p>
            <a:pPr lvl="0"/>
            <a:r>
              <a:rPr lang="en-US" noProof="0" dirty="0" smtClean="0"/>
              <a:t>Course/Serial</a:t>
            </a:r>
          </a:p>
        </p:txBody>
      </p:sp>
      <p:sp>
        <p:nvSpPr>
          <p:cNvPr id="5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 baseline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noProof="0" smtClean="0"/>
              <a:t>Episode name</a:t>
            </a:r>
            <a:endParaRPr lang="en-US" noProof="0"/>
          </a:p>
        </p:txBody>
      </p:sp>
      <p:sp>
        <p:nvSpPr>
          <p:cNvPr id="6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40554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Speaker or subtitle</a:t>
            </a:r>
          </a:p>
          <a:p>
            <a:pPr lvl="0"/>
            <a:endParaRPr lang="sv-SE" noProof="0" dirty="0" smtClean="0"/>
          </a:p>
        </p:txBody>
      </p:sp>
    </p:spTree>
    <p:extLst>
      <p:ext uri="{BB962C8B-B14F-4D97-AF65-F5344CB8AC3E}">
        <p14:creationId xmlns:p14="http://schemas.microsoft.com/office/powerpoint/2010/main" xmlns="" val="30291451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sv-SE" noProof="0" smtClean="0"/>
              <a:t>Click to edit Master title style</a:t>
            </a:r>
            <a:endParaRPr lang="sv-SE" noProof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792000" y="1275534"/>
            <a:ext cx="6850800" cy="324043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sv-SE" noProof="0" smtClean="0"/>
              <a:t>Click to edit Master text styles</a:t>
            </a:r>
          </a:p>
          <a:p>
            <a:pPr lvl="1"/>
            <a:r>
              <a:rPr lang="sv-SE" noProof="0" smtClean="0"/>
              <a:t>Second level</a:t>
            </a:r>
          </a:p>
          <a:p>
            <a:pPr lvl="2"/>
            <a:r>
              <a:rPr lang="sv-SE" noProof="0" smtClean="0"/>
              <a:t>Third level</a:t>
            </a:r>
          </a:p>
          <a:p>
            <a:pPr lvl="3"/>
            <a:r>
              <a:rPr lang="sv-SE" noProof="0" smtClean="0"/>
              <a:t>Fourth level</a:t>
            </a:r>
          </a:p>
          <a:p>
            <a:pPr lvl="4"/>
            <a:r>
              <a:rPr lang="sv-SE" noProof="0" smtClean="0"/>
              <a:t>Fifth level</a:t>
            </a:r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xmlns="" val="687807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hapter - F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SU_PPT_eld"/>
          <p:cNvPicPr>
            <a:picLocks noChangeAspect="1" noChangeArrowheads="1"/>
          </p:cNvPicPr>
          <p:nvPr userDrawn="1"/>
        </p:nvPicPr>
        <p:blipFill>
          <a:blip r:embed="rId2" cstate="print">
            <a:alphaModFix amt="55000"/>
          </a:blip>
          <a:srcRect l="4988" t="-362"/>
          <a:stretch>
            <a:fillRect/>
          </a:stretch>
        </p:blipFill>
        <p:spPr bwMode="auto">
          <a:xfrm>
            <a:off x="1" y="1225226"/>
            <a:ext cx="5408969" cy="3938812"/>
          </a:xfrm>
          <a:prstGeom prst="rect">
            <a:avLst/>
          </a:prstGeom>
          <a:noFill/>
          <a:effectLst/>
        </p:spPr>
      </p:pic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1621566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smtClean="0"/>
              <a:t>Click to edit Master subtitle style</a:t>
            </a:r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xmlns="" val="15983606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- Olive bran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_PPT_olivkvist"/>
          <p:cNvPicPr>
            <a:picLocks noChangeAspect="1" noChangeArrowheads="1"/>
          </p:cNvPicPr>
          <p:nvPr userDrawn="1"/>
        </p:nvPicPr>
        <p:blipFill>
          <a:blip r:embed="rId2" cstate="print">
            <a:alphaModFix amt="55000"/>
          </a:blip>
          <a:srcRect l="1746"/>
          <a:stretch>
            <a:fillRect/>
          </a:stretch>
        </p:blipFill>
        <p:spPr bwMode="auto">
          <a:xfrm>
            <a:off x="1589" y="238124"/>
            <a:ext cx="5161507" cy="4905756"/>
          </a:xfrm>
          <a:prstGeom prst="rect">
            <a:avLst/>
          </a:prstGeom>
          <a:noFill/>
        </p:spPr>
      </p:pic>
      <p:sp>
        <p:nvSpPr>
          <p:cNvPr id="8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  <p:sp>
        <p:nvSpPr>
          <p:cNvPr id="9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1621566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smtClean="0"/>
              <a:t>Click to edit Master subtitle style</a:t>
            </a:r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xmlns="" val="26725743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- Crow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_PPT_kronor"/>
          <p:cNvPicPr>
            <a:picLocks noChangeAspect="1" noChangeArrowheads="1"/>
          </p:cNvPicPr>
          <p:nvPr userDrawn="1"/>
        </p:nvPicPr>
        <p:blipFill>
          <a:blip r:embed="rId2" cstate="print">
            <a:alphaModFix amt="55000"/>
          </a:blip>
          <a:srcRect/>
          <a:stretch>
            <a:fillRect/>
          </a:stretch>
        </p:blipFill>
        <p:spPr bwMode="auto">
          <a:xfrm>
            <a:off x="0" y="1262062"/>
            <a:ext cx="4197096" cy="3881628"/>
          </a:xfrm>
          <a:prstGeom prst="rect">
            <a:avLst/>
          </a:prstGeom>
          <a:noFill/>
        </p:spPr>
      </p:pic>
      <p:sp>
        <p:nvSpPr>
          <p:cNvPr id="8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  <p:sp>
        <p:nvSpPr>
          <p:cNvPr id="9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1621566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smtClean="0"/>
              <a:t>Click to edit Master subtitle style</a:t>
            </a:r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xmlns="" val="33307534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  <p:sp>
        <p:nvSpPr>
          <p:cNvPr id="7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1621566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smtClean="0"/>
              <a:t>Click to edit Master subtitle style</a:t>
            </a:r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xmlns="" val="20330759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p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sv-SE" smtClean="0"/>
              <a:t>Click to edit Master title style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792000" y="1275534"/>
            <a:ext cx="3348000" cy="32404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sv-SE" dirty="0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291200" y="1275534"/>
            <a:ext cx="3348000" cy="32404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17505042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ing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sv-SE" noProof="0" smtClean="0"/>
              <a:t>Click to edit Master title style</a:t>
            </a:r>
            <a:endParaRPr lang="sv-SE" noProof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792000" y="1275534"/>
            <a:ext cx="6850800" cy="2411100"/>
          </a:xfrm>
        </p:spPr>
        <p:txBody>
          <a:bodyPr>
            <a:normAutofit/>
          </a:bodyPr>
          <a:lstStyle>
            <a:lvl1pPr marL="1588" indent="-1588">
              <a:lnSpc>
                <a:spcPts val="2600"/>
              </a:lnSpc>
              <a:buNone/>
              <a:defRPr sz="2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sv-SE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19774956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792000" y="595470"/>
            <a:ext cx="6850800" cy="399250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17963257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7861761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örstasida - E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alphaModFix amt="21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-828600" y="1275606"/>
            <a:ext cx="6264696" cy="4271832"/>
          </a:xfrm>
          <a:prstGeom prst="rect">
            <a:avLst/>
          </a:prstGeom>
          <a:solidFill>
            <a:schemeClr val="tx1"/>
          </a:solidFill>
          <a:effectLst/>
        </p:spPr>
      </p:pic>
      <p:sp>
        <p:nvSpPr>
          <p:cNvPr id="7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smtClean="0"/>
              <a:t>Avsnittsnamn</a:t>
            </a:r>
            <a:endParaRPr lang="sv-SE" noProof="0"/>
          </a:p>
        </p:txBody>
      </p:sp>
      <p:sp>
        <p:nvSpPr>
          <p:cNvPr id="8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04550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smtClean="0"/>
              <a:t>Talare eller underrubrik</a:t>
            </a:r>
          </a:p>
        </p:txBody>
      </p:sp>
      <p:sp>
        <p:nvSpPr>
          <p:cNvPr id="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sv-SE" noProof="0" dirty="0" smtClean="0"/>
              <a:t>Kurs/Programserie</a:t>
            </a:r>
          </a:p>
        </p:txBody>
      </p:sp>
    </p:spTree>
    <p:extLst>
      <p:ext uri="{BB962C8B-B14F-4D97-AF65-F5344CB8AC3E}">
        <p14:creationId xmlns:p14="http://schemas.microsoft.com/office/powerpoint/2010/main" xmlns="" val="1701934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örstasida - Olivkvis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U_olivkvist_neg.eps"/>
          <p:cNvPicPr>
            <a:picLocks noChangeAspect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42523" y="267494"/>
            <a:ext cx="5762595" cy="5328592"/>
          </a:xfrm>
          <a:prstGeom prst="rect">
            <a:avLst/>
          </a:prstGeom>
        </p:spPr>
      </p:pic>
      <p:sp>
        <p:nvSpPr>
          <p:cNvPr id="9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smtClean="0"/>
              <a:t>Avsnittsnamn</a:t>
            </a:r>
            <a:endParaRPr lang="sv-SE" noProof="0"/>
          </a:p>
        </p:txBody>
      </p:sp>
      <p:sp>
        <p:nvSpPr>
          <p:cNvPr id="1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04550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smtClean="0"/>
              <a:t>Talare eller underrubrik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sv-SE" noProof="0" dirty="0" smtClean="0"/>
              <a:t>Kurs/Programserie</a:t>
            </a:r>
          </a:p>
        </p:txBody>
      </p:sp>
    </p:spTree>
    <p:extLst>
      <p:ext uri="{BB962C8B-B14F-4D97-AF65-F5344CB8AC3E}">
        <p14:creationId xmlns:p14="http://schemas.microsoft.com/office/powerpoint/2010/main" xmlns="" val="7980154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örstasida - Krono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 noChangeArrowheads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-1055431" y="1275606"/>
            <a:ext cx="5267391" cy="3867894"/>
          </a:xfrm>
          <a:prstGeom prst="rect">
            <a:avLst/>
          </a:prstGeom>
          <a:noFill/>
        </p:spPr>
      </p:pic>
      <p:sp>
        <p:nvSpPr>
          <p:cNvPr id="10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smtClean="0"/>
              <a:t>Avsnittsnamn</a:t>
            </a:r>
            <a:endParaRPr lang="sv-SE" noProof="0"/>
          </a:p>
        </p:txBody>
      </p:sp>
      <p:sp>
        <p:nvSpPr>
          <p:cNvPr id="11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04550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smtClean="0"/>
              <a:t>Talare eller underrubrik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sv-SE" noProof="0" dirty="0" smtClean="0"/>
              <a:t>Kurs/Programserie</a:t>
            </a:r>
          </a:p>
        </p:txBody>
      </p:sp>
    </p:spTree>
    <p:extLst>
      <p:ext uri="{BB962C8B-B14F-4D97-AF65-F5344CB8AC3E}">
        <p14:creationId xmlns:p14="http://schemas.microsoft.com/office/powerpoint/2010/main" xmlns="" val="29683871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örstasi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smtClean="0"/>
              <a:t>Avsnittsnamn</a:t>
            </a:r>
            <a:endParaRPr lang="sv-SE" noProof="0"/>
          </a:p>
        </p:txBody>
      </p:sp>
      <p:sp>
        <p:nvSpPr>
          <p:cNvPr id="9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04550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smtClean="0"/>
              <a:t>Talare eller underrubrik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sv-SE" noProof="0" dirty="0" smtClean="0"/>
              <a:t>Kurs/Programserie</a:t>
            </a:r>
          </a:p>
        </p:txBody>
      </p:sp>
    </p:spTree>
    <p:extLst>
      <p:ext uri="{BB962C8B-B14F-4D97-AF65-F5344CB8AC3E}">
        <p14:creationId xmlns:p14="http://schemas.microsoft.com/office/powerpoint/2010/main" xmlns="" val="42498292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sv-SE" noProof="0" smtClean="0"/>
              <a:t>Click to edit Master title style</a:t>
            </a:r>
            <a:endParaRPr lang="sv-SE" noProof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792000" y="1275534"/>
            <a:ext cx="6850800" cy="324043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sv-SE" noProof="0" smtClean="0"/>
              <a:t>Click to edit Master text styles</a:t>
            </a:r>
          </a:p>
          <a:p>
            <a:pPr lvl="1"/>
            <a:r>
              <a:rPr lang="sv-SE" noProof="0" smtClean="0"/>
              <a:t>Second level</a:t>
            </a:r>
          </a:p>
          <a:p>
            <a:pPr lvl="2"/>
            <a:r>
              <a:rPr lang="sv-SE" noProof="0" smtClean="0"/>
              <a:t>Third level</a:t>
            </a:r>
          </a:p>
          <a:p>
            <a:pPr lvl="3"/>
            <a:r>
              <a:rPr lang="sv-SE" noProof="0" smtClean="0"/>
              <a:t>Fourth level</a:t>
            </a:r>
          </a:p>
          <a:p>
            <a:pPr lvl="4"/>
            <a:r>
              <a:rPr lang="sv-SE" noProof="0" smtClean="0"/>
              <a:t>Fifth level</a:t>
            </a:r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xmlns="" val="32505148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 - E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alphaModFix amt="21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-828600" y="1275606"/>
            <a:ext cx="6264696" cy="4271832"/>
          </a:xfrm>
          <a:prstGeom prst="rect">
            <a:avLst/>
          </a:prstGeom>
          <a:solidFill>
            <a:schemeClr val="tx1"/>
          </a:solidFill>
          <a:effectLst/>
        </p:spPr>
      </p:pic>
      <p:sp>
        <p:nvSpPr>
          <p:cNvPr id="5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  <p:sp>
        <p:nvSpPr>
          <p:cNvPr id="7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1621566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subtitle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xmlns="" val="11169158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 - Olivkvis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U_olivkvist_neg.eps"/>
          <p:cNvPicPr>
            <a:picLocks noChangeAspect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42523" y="267494"/>
            <a:ext cx="5762595" cy="5328592"/>
          </a:xfrm>
          <a:prstGeom prst="rect">
            <a:avLst/>
          </a:prstGeom>
        </p:spPr>
      </p:pic>
      <p:sp>
        <p:nvSpPr>
          <p:cNvPr id="8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  <p:sp>
        <p:nvSpPr>
          <p:cNvPr id="9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1621566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subtitle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xmlns="" val="1259114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 - Krono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/>
          <p:cNvPicPr>
            <a:picLocks noChangeAspect="1" noChangeArrowheads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-1055431" y="1275606"/>
            <a:ext cx="5267391" cy="3867894"/>
          </a:xfrm>
          <a:prstGeom prst="rect">
            <a:avLst/>
          </a:prstGeom>
          <a:noFill/>
        </p:spPr>
      </p:pic>
      <p:sp>
        <p:nvSpPr>
          <p:cNvPr id="8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  <p:sp>
        <p:nvSpPr>
          <p:cNvPr id="9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1621566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subtitle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xmlns="" val="127879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  <p:sp>
        <p:nvSpPr>
          <p:cNvPr id="7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1621566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subtitle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xmlns="" val="18978091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sv-SE" smtClean="0"/>
              <a:t>Click to edit Master title style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792000" y="1275534"/>
            <a:ext cx="3348000" cy="32404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sv-SE" dirty="0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291200" y="1275534"/>
            <a:ext cx="3348000" cy="32404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32089489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sv-SE" noProof="0" smtClean="0"/>
              <a:t>Click to edit Master title style</a:t>
            </a:r>
            <a:endParaRPr lang="sv-SE" noProof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792000" y="1275534"/>
            <a:ext cx="6850800" cy="2411100"/>
          </a:xfrm>
        </p:spPr>
        <p:txBody>
          <a:bodyPr>
            <a:normAutofit/>
          </a:bodyPr>
          <a:lstStyle>
            <a:lvl1pPr marL="1588" indent="-1588">
              <a:lnSpc>
                <a:spcPts val="2600"/>
              </a:lnSpc>
              <a:buNone/>
              <a:defRPr sz="2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sv-SE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37164071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innehål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792000" y="595470"/>
            <a:ext cx="6850800" cy="399250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sv-SE" dirty="0" err="1" smtClean="0"/>
              <a:t>Click</a:t>
            </a:r>
            <a:r>
              <a:rPr lang="sv-SE" dirty="0" smtClean="0"/>
              <a:t> </a:t>
            </a:r>
            <a:r>
              <a:rPr lang="sv-SE" dirty="0" err="1" smtClean="0"/>
              <a:t>to</a:t>
            </a:r>
            <a:r>
              <a:rPr lang="sv-SE" dirty="0" smtClean="0"/>
              <a:t> </a:t>
            </a:r>
            <a:r>
              <a:rPr lang="sv-SE" dirty="0" err="1" smtClean="0"/>
              <a:t>edit</a:t>
            </a:r>
            <a:r>
              <a:rPr lang="sv-SE" dirty="0" smtClean="0"/>
              <a:t> Master text </a:t>
            </a:r>
            <a:r>
              <a:rPr lang="sv-SE" dirty="0" err="1" smtClean="0"/>
              <a:t>styles</a:t>
            </a:r>
            <a:endParaRPr lang="sv-SE" dirty="0" smtClean="0"/>
          </a:p>
          <a:p>
            <a:pPr lvl="1"/>
            <a:r>
              <a:rPr lang="sv-SE" dirty="0" smtClean="0"/>
              <a:t>Second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2"/>
            <a:r>
              <a:rPr lang="sv-SE" dirty="0" err="1" smtClean="0"/>
              <a:t>Third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3"/>
            <a:r>
              <a:rPr lang="sv-SE" dirty="0" err="1" smtClean="0"/>
              <a:t>Fourth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4"/>
            <a:r>
              <a:rPr lang="sv-SE" dirty="0" err="1" smtClean="0"/>
              <a:t>Fifth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30376429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7212753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 - Fi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alphaModFix amt="21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-828600" y="1275606"/>
            <a:ext cx="6264696" cy="4271832"/>
          </a:xfrm>
          <a:prstGeom prst="rect">
            <a:avLst/>
          </a:prstGeom>
          <a:solidFill>
            <a:schemeClr val="tx1"/>
          </a:solidFill>
          <a:effectLst/>
        </p:spPr>
      </p:pic>
      <p:sp>
        <p:nvSpPr>
          <p:cNvPr id="10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 baseline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noProof="0" smtClean="0"/>
              <a:t>Episode name</a:t>
            </a:r>
            <a:endParaRPr lang="en-US" noProof="0"/>
          </a:p>
        </p:txBody>
      </p:sp>
      <p:sp>
        <p:nvSpPr>
          <p:cNvPr id="11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40554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Speaker or subtitle</a:t>
            </a:r>
          </a:p>
          <a:p>
            <a:pPr lvl="0"/>
            <a:endParaRPr lang="sv-SE" noProof="0" dirty="0" smtClean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ct val="2000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/>
            </a:lvl1pPr>
          </a:lstStyle>
          <a:p>
            <a:pPr lvl="0"/>
            <a:r>
              <a:rPr lang="en-US" noProof="0" dirty="0" smtClean="0"/>
              <a:t>Course/Serial</a:t>
            </a:r>
          </a:p>
        </p:txBody>
      </p:sp>
    </p:spTree>
    <p:extLst>
      <p:ext uri="{BB962C8B-B14F-4D97-AF65-F5344CB8AC3E}">
        <p14:creationId xmlns:p14="http://schemas.microsoft.com/office/powerpoint/2010/main" xmlns="" val="1799169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 - Olive branch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U_olivkvist_neg.eps"/>
          <p:cNvPicPr>
            <a:picLocks noChangeAspect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42523" y="267494"/>
            <a:ext cx="5762595" cy="5328592"/>
          </a:xfrm>
          <a:prstGeom prst="rect">
            <a:avLst/>
          </a:prstGeom>
        </p:spPr>
      </p:pic>
      <p:sp>
        <p:nvSpPr>
          <p:cNvPr id="6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 baseline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noProof="0" smtClean="0"/>
              <a:t>Episode name</a:t>
            </a:r>
            <a:endParaRPr lang="en-US" noProof="0"/>
          </a:p>
        </p:txBody>
      </p:sp>
      <p:sp>
        <p:nvSpPr>
          <p:cNvPr id="7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40554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Speaker or subtitle</a:t>
            </a:r>
          </a:p>
          <a:p>
            <a:pPr lvl="0"/>
            <a:endParaRPr lang="sv-SE" noProof="0" dirty="0" smtClean="0"/>
          </a:p>
        </p:txBody>
      </p:sp>
      <p:sp>
        <p:nvSpPr>
          <p:cNvPr id="8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ct val="2000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/>
            </a:lvl1pPr>
          </a:lstStyle>
          <a:p>
            <a:pPr lvl="0"/>
            <a:r>
              <a:rPr lang="en-US" noProof="0" dirty="0" smtClean="0"/>
              <a:t>Course/Serial</a:t>
            </a:r>
          </a:p>
        </p:txBody>
      </p:sp>
    </p:spTree>
    <p:extLst>
      <p:ext uri="{BB962C8B-B14F-4D97-AF65-F5344CB8AC3E}">
        <p14:creationId xmlns:p14="http://schemas.microsoft.com/office/powerpoint/2010/main" xmlns="" val="18505095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 - Crow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 noChangeArrowheads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-1055431" y="1275606"/>
            <a:ext cx="5267391" cy="3867894"/>
          </a:xfrm>
          <a:prstGeom prst="rect">
            <a:avLst/>
          </a:prstGeom>
          <a:noFill/>
        </p:spPr>
      </p:pic>
      <p:sp>
        <p:nvSpPr>
          <p:cNvPr id="6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 baseline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noProof="0" smtClean="0"/>
              <a:t>Episode name</a:t>
            </a:r>
            <a:endParaRPr lang="en-US" noProof="0"/>
          </a:p>
        </p:txBody>
      </p:sp>
      <p:sp>
        <p:nvSpPr>
          <p:cNvPr id="8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40554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Speaker or subtitle</a:t>
            </a:r>
          </a:p>
          <a:p>
            <a:pPr lvl="0"/>
            <a:endParaRPr lang="sv-SE" noProof="0" dirty="0" smtClean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ct val="2000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/>
            </a:lvl1pPr>
          </a:lstStyle>
          <a:p>
            <a:pPr lvl="0"/>
            <a:r>
              <a:rPr lang="en-US" noProof="0" dirty="0" smtClean="0"/>
              <a:t>Course/Serial</a:t>
            </a:r>
          </a:p>
        </p:txBody>
      </p:sp>
    </p:spTree>
    <p:extLst>
      <p:ext uri="{BB962C8B-B14F-4D97-AF65-F5344CB8AC3E}">
        <p14:creationId xmlns:p14="http://schemas.microsoft.com/office/powerpoint/2010/main" xmlns="" val="22847219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brik 1"/>
          <p:cNvSpPr>
            <a:spLocks noGrp="1"/>
          </p:cNvSpPr>
          <p:nvPr>
            <p:ph type="ctrTitle" hasCustomPrompt="1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 baseline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noProof="0" smtClean="0"/>
              <a:t>Episode name</a:t>
            </a:r>
            <a:endParaRPr lang="en-US" noProof="0"/>
          </a:p>
        </p:txBody>
      </p:sp>
      <p:sp>
        <p:nvSpPr>
          <p:cNvPr id="6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008000" y="2894400"/>
            <a:ext cx="6631200" cy="140554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ts val="48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 sz="240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Speaker or subtitle</a:t>
            </a:r>
          </a:p>
          <a:p>
            <a:pPr lvl="0"/>
            <a:endParaRPr lang="sv-SE" noProof="0" dirty="0" smtClean="0"/>
          </a:p>
        </p:txBody>
      </p:sp>
      <p:sp>
        <p:nvSpPr>
          <p:cNvPr id="7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71600" y="627534"/>
            <a:ext cx="6625108" cy="10081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900"/>
              </a:lnSpc>
              <a:spcBef>
                <a:spcPct val="20000"/>
              </a:spcBef>
              <a:spcAft>
                <a:spcPts val="0"/>
              </a:spcAft>
              <a:buClrTx/>
              <a:buSzPct val="93000"/>
              <a:buFont typeface="Verdana" pitchFamily="34" charset="0"/>
              <a:buNone/>
              <a:tabLst/>
              <a:defRPr/>
            </a:lvl1pPr>
          </a:lstStyle>
          <a:p>
            <a:pPr lvl="0"/>
            <a:r>
              <a:rPr lang="en-US" noProof="0" dirty="0" smtClean="0"/>
              <a:t>Course/Serial</a:t>
            </a:r>
          </a:p>
        </p:txBody>
      </p:sp>
    </p:spTree>
    <p:extLst>
      <p:ext uri="{BB962C8B-B14F-4D97-AF65-F5344CB8AC3E}">
        <p14:creationId xmlns:p14="http://schemas.microsoft.com/office/powerpoint/2010/main" xmlns="" val="4541948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ing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sv-SE" noProof="0" smtClean="0"/>
              <a:t>Click to edit Master title style</a:t>
            </a:r>
            <a:endParaRPr lang="sv-SE" noProof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792000" y="1275534"/>
            <a:ext cx="6850800" cy="324043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sv-SE" noProof="0" smtClean="0"/>
              <a:t>Click to edit Master text styles</a:t>
            </a:r>
          </a:p>
          <a:p>
            <a:pPr lvl="1"/>
            <a:r>
              <a:rPr lang="sv-SE" noProof="0" smtClean="0"/>
              <a:t>Second level</a:t>
            </a:r>
          </a:p>
          <a:p>
            <a:pPr lvl="2"/>
            <a:r>
              <a:rPr lang="sv-SE" noProof="0" smtClean="0"/>
              <a:t>Third level</a:t>
            </a:r>
          </a:p>
          <a:p>
            <a:pPr lvl="3"/>
            <a:r>
              <a:rPr lang="sv-SE" noProof="0" smtClean="0"/>
              <a:t>Fourth level</a:t>
            </a:r>
          </a:p>
          <a:p>
            <a:pPr lvl="4"/>
            <a:r>
              <a:rPr lang="sv-SE" noProof="0" smtClean="0"/>
              <a:t>Fifth level</a:t>
            </a:r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xmlns="" val="6495333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- Fi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alphaModFix amt="21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-828600" y="1275606"/>
            <a:ext cx="6264696" cy="4271832"/>
          </a:xfrm>
          <a:prstGeom prst="rect">
            <a:avLst/>
          </a:prstGeom>
          <a:solidFill>
            <a:schemeClr val="tx1"/>
          </a:solidFill>
          <a:effectLst/>
        </p:spPr>
      </p:pic>
      <p:sp>
        <p:nvSpPr>
          <p:cNvPr id="5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smtClean="0"/>
              <a:t>Click to edit Master title style</a:t>
            </a:r>
            <a:endParaRPr lang="sv-SE" noProof="0" dirty="0"/>
          </a:p>
        </p:txBody>
      </p:sp>
      <p:sp>
        <p:nvSpPr>
          <p:cNvPr id="7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1045502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subtitle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xmlns="" val="364946115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- Olive branch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U_olivkvist_neg.eps"/>
          <p:cNvPicPr>
            <a:picLocks noChangeAspect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42523" y="267494"/>
            <a:ext cx="5762595" cy="5328592"/>
          </a:xfrm>
          <a:prstGeom prst="rect">
            <a:avLst/>
          </a:prstGeom>
        </p:spPr>
      </p:pic>
      <p:sp>
        <p:nvSpPr>
          <p:cNvPr id="8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smtClean="0"/>
              <a:t>Click to edit Master title style</a:t>
            </a:r>
            <a:endParaRPr lang="sv-SE" noProof="0" dirty="0"/>
          </a:p>
        </p:txBody>
      </p:sp>
      <p:sp>
        <p:nvSpPr>
          <p:cNvPr id="9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1045502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subtitle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xmlns="" val="24717795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- Crow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/>
          <p:cNvPicPr>
            <a:picLocks noChangeAspect="1" noChangeArrowheads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-1055431" y="1275606"/>
            <a:ext cx="5267391" cy="3867894"/>
          </a:xfrm>
          <a:prstGeom prst="rect">
            <a:avLst/>
          </a:prstGeom>
          <a:noFill/>
        </p:spPr>
      </p:pic>
      <p:sp>
        <p:nvSpPr>
          <p:cNvPr id="8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smtClean="0"/>
              <a:t>Click to edit Master title style</a:t>
            </a:r>
            <a:endParaRPr lang="sv-SE" noProof="0" dirty="0"/>
          </a:p>
        </p:txBody>
      </p:sp>
      <p:sp>
        <p:nvSpPr>
          <p:cNvPr id="9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1045502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subtitle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xmlns="" val="7151870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ubrik 1"/>
          <p:cNvSpPr>
            <a:spLocks noGrp="1"/>
          </p:cNvSpPr>
          <p:nvPr>
            <p:ph type="ctrTitle"/>
          </p:nvPr>
        </p:nvSpPr>
        <p:spPr>
          <a:xfrm>
            <a:off x="1008000" y="1827900"/>
            <a:ext cx="6631200" cy="1069200"/>
          </a:xfrm>
        </p:spPr>
        <p:txBody>
          <a:bodyPr lIns="72000" tIns="36000" rIns="72000" bIns="36000" anchor="ctr" anchorCtr="0">
            <a:noAutofit/>
          </a:bodyPr>
          <a:lstStyle>
            <a:lvl1pPr algn="l">
              <a:defRPr sz="4400" b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sv-SE" noProof="0" smtClean="0"/>
              <a:t>Click to edit Master title style</a:t>
            </a:r>
            <a:endParaRPr lang="sv-SE" noProof="0" dirty="0"/>
          </a:p>
        </p:txBody>
      </p:sp>
      <p:sp>
        <p:nvSpPr>
          <p:cNvPr id="7" name="Underrubrik 2"/>
          <p:cNvSpPr>
            <a:spLocks noGrp="1"/>
          </p:cNvSpPr>
          <p:nvPr>
            <p:ph type="subTitle" idx="1"/>
          </p:nvPr>
        </p:nvSpPr>
        <p:spPr>
          <a:xfrm>
            <a:off x="1008000" y="2894400"/>
            <a:ext cx="6631200" cy="1045502"/>
          </a:xfrm>
        </p:spPr>
        <p:txBody>
          <a:bodyPr>
            <a:noAutofit/>
          </a:bodyPr>
          <a:lstStyle>
            <a:lvl1pPr marL="0" indent="0" algn="l">
              <a:lnSpc>
                <a:spcPts val="2900"/>
              </a:lnSpc>
              <a:spcBef>
                <a:spcPts val="480"/>
              </a:spcBef>
              <a:buNone/>
              <a:defRPr sz="200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noProof="0" dirty="0" err="1" smtClean="0"/>
              <a:t>Click</a:t>
            </a:r>
            <a:r>
              <a:rPr lang="sv-SE" noProof="0" dirty="0" smtClean="0"/>
              <a:t> </a:t>
            </a:r>
            <a:r>
              <a:rPr lang="sv-SE" noProof="0" dirty="0" err="1" smtClean="0"/>
              <a:t>to</a:t>
            </a:r>
            <a:r>
              <a:rPr lang="sv-SE" noProof="0" dirty="0" smtClean="0"/>
              <a:t> </a:t>
            </a:r>
            <a:r>
              <a:rPr lang="sv-SE" noProof="0" dirty="0" err="1" smtClean="0"/>
              <a:t>edit</a:t>
            </a:r>
            <a:r>
              <a:rPr lang="sv-SE" noProof="0" dirty="0" smtClean="0"/>
              <a:t> Master </a:t>
            </a:r>
            <a:r>
              <a:rPr lang="sv-SE" noProof="0" dirty="0" err="1" smtClean="0"/>
              <a:t>subtitle</a:t>
            </a:r>
            <a:r>
              <a:rPr lang="sv-SE" noProof="0" dirty="0" smtClean="0"/>
              <a:t> style</a:t>
            </a:r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xmlns="" val="1193454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par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sv-SE" smtClean="0"/>
              <a:t>Click to edit Master title style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792000" y="1275534"/>
            <a:ext cx="3348000" cy="32404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sv-SE" dirty="0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291200" y="1275534"/>
            <a:ext cx="3348000" cy="32404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5754704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ing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sv-SE" noProof="0" smtClean="0"/>
              <a:t>Click to edit Master title style</a:t>
            </a:r>
            <a:endParaRPr lang="sv-SE" noProof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792000" y="1275534"/>
            <a:ext cx="6850800" cy="2411100"/>
          </a:xfrm>
        </p:spPr>
        <p:txBody>
          <a:bodyPr>
            <a:normAutofit/>
          </a:bodyPr>
          <a:lstStyle>
            <a:lvl1pPr marL="1588" indent="-1588">
              <a:lnSpc>
                <a:spcPts val="2600"/>
              </a:lnSpc>
              <a:buNone/>
              <a:defRPr sz="2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sv-SE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25159268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792000" y="595470"/>
            <a:ext cx="6850800" cy="399250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sv-SE" dirty="0" err="1" smtClean="0"/>
              <a:t>Click</a:t>
            </a:r>
            <a:r>
              <a:rPr lang="sv-SE" dirty="0" smtClean="0"/>
              <a:t> </a:t>
            </a:r>
            <a:r>
              <a:rPr lang="sv-SE" dirty="0" err="1" smtClean="0"/>
              <a:t>to</a:t>
            </a:r>
            <a:r>
              <a:rPr lang="sv-SE" dirty="0" smtClean="0"/>
              <a:t> </a:t>
            </a:r>
            <a:r>
              <a:rPr lang="sv-SE" dirty="0" err="1" smtClean="0"/>
              <a:t>edit</a:t>
            </a:r>
            <a:r>
              <a:rPr lang="sv-SE" dirty="0" smtClean="0"/>
              <a:t> Master text </a:t>
            </a:r>
            <a:r>
              <a:rPr lang="sv-SE" dirty="0" err="1" smtClean="0"/>
              <a:t>styles</a:t>
            </a:r>
            <a:endParaRPr lang="sv-SE" dirty="0" smtClean="0"/>
          </a:p>
          <a:p>
            <a:pPr lvl="1"/>
            <a:r>
              <a:rPr lang="sv-SE" dirty="0" smtClean="0"/>
              <a:t>Second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2"/>
            <a:r>
              <a:rPr lang="sv-SE" dirty="0" err="1" smtClean="0"/>
              <a:t>Third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3"/>
            <a:r>
              <a:rPr lang="sv-SE" dirty="0" err="1" smtClean="0"/>
              <a:t>Fourth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4"/>
            <a:r>
              <a:rPr lang="sv-SE" dirty="0" err="1" smtClean="0"/>
              <a:t>Fifth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41412670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7700621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verkande - V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36296" y="3507854"/>
            <a:ext cx="1435366" cy="1195504"/>
          </a:xfrm>
          <a:prstGeom prst="rect">
            <a:avLst/>
          </a:prstGeom>
        </p:spPr>
      </p:pic>
      <p:sp>
        <p:nvSpPr>
          <p:cNvPr id="4" name="Platshållare för innehåll 2"/>
          <p:cNvSpPr>
            <a:spLocks noGrp="1"/>
          </p:cNvSpPr>
          <p:nvPr>
            <p:ph idx="1"/>
          </p:nvPr>
        </p:nvSpPr>
        <p:spPr>
          <a:xfrm>
            <a:off x="792000" y="1059582"/>
            <a:ext cx="6850800" cy="316835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buFontTx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buFontTx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sv-SE" dirty="0" err="1" smtClean="0"/>
              <a:t>Click</a:t>
            </a:r>
            <a:r>
              <a:rPr lang="sv-SE" dirty="0" smtClean="0"/>
              <a:t> </a:t>
            </a:r>
            <a:r>
              <a:rPr lang="sv-SE" dirty="0" err="1" smtClean="0"/>
              <a:t>to</a:t>
            </a:r>
            <a:r>
              <a:rPr lang="sv-SE" dirty="0" smtClean="0"/>
              <a:t> </a:t>
            </a:r>
            <a:r>
              <a:rPr lang="sv-SE" dirty="0" err="1" smtClean="0"/>
              <a:t>edit</a:t>
            </a:r>
            <a:r>
              <a:rPr lang="sv-SE" dirty="0" smtClean="0"/>
              <a:t> Master text </a:t>
            </a:r>
            <a:r>
              <a:rPr lang="sv-SE" dirty="0" err="1" smtClean="0"/>
              <a:t>styles</a:t>
            </a:r>
            <a:endParaRPr lang="sv-SE" dirty="0" smtClean="0"/>
          </a:p>
          <a:p>
            <a:pPr lvl="1"/>
            <a:r>
              <a:rPr lang="sv-SE" dirty="0" smtClean="0"/>
              <a:t>Second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2"/>
            <a:r>
              <a:rPr lang="sv-SE" dirty="0" err="1" smtClean="0"/>
              <a:t>Third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3"/>
            <a:r>
              <a:rPr lang="sv-SE" dirty="0" err="1" smtClean="0"/>
              <a:t>Fourth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4"/>
            <a:r>
              <a:rPr lang="sv-SE" dirty="0" err="1" smtClean="0"/>
              <a:t>Fifth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92000" y="597917"/>
            <a:ext cx="2504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400" b="1" dirty="0" smtClean="0">
                <a:solidFill>
                  <a:srgbClr val="002F5F"/>
                </a:solidFill>
                <a:latin typeface="Verdana"/>
                <a:cs typeface="Verdana"/>
              </a:rPr>
              <a:t>Medverkande</a:t>
            </a:r>
            <a:endParaRPr lang="sv-SE" sz="2400" b="1" dirty="0">
              <a:solidFill>
                <a:srgbClr val="002F5F"/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792000" y="4227934"/>
            <a:ext cx="53540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600" noProof="0" dirty="0" smtClean="0">
                <a:solidFill>
                  <a:schemeClr val="tx1"/>
                </a:solidFill>
                <a:latin typeface="Verdana"/>
              </a:rPr>
              <a:t>Inspelat</a:t>
            </a:r>
            <a:r>
              <a:rPr lang="sv-SE" sz="1600" baseline="0" noProof="0" dirty="0" smtClean="0">
                <a:solidFill>
                  <a:schemeClr val="tx1"/>
                </a:solidFill>
                <a:latin typeface="Verdana"/>
              </a:rPr>
              <a:t> </a:t>
            </a:r>
            <a:fld id="{DEF0F593-7E64-D74F-96F6-B611C3DC3FC9}" type="datetime1">
              <a:rPr lang="sv-SE" sz="1600" baseline="0" noProof="0" smtClean="0">
                <a:solidFill>
                  <a:schemeClr val="tx1"/>
                </a:solidFill>
                <a:latin typeface="Verdana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2024-02-24</a:t>
            </a:fld>
            <a:endParaRPr lang="sv-SE" sz="1600" noProof="0" dirty="0" smtClean="0">
              <a:solidFill>
                <a:schemeClr val="tx1"/>
              </a:solidFill>
              <a:latin typeface="Verdana"/>
            </a:endParaRPr>
          </a:p>
          <a:p>
            <a:r>
              <a:rPr lang="sv-SE" sz="1600" noProof="0" dirty="0" smtClean="0">
                <a:solidFill>
                  <a:schemeClr val="tx1"/>
                </a:solidFill>
                <a:latin typeface="Verdana"/>
              </a:rPr>
              <a:t>Institutionen för data- och systemvetenskap, DSV </a:t>
            </a:r>
            <a:endParaRPr lang="sv-SE" sz="1600" noProof="0" dirty="0">
              <a:solidFill>
                <a:schemeClr val="tx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21057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ibuto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innehåll 2"/>
          <p:cNvSpPr>
            <a:spLocks noGrp="1"/>
          </p:cNvSpPr>
          <p:nvPr>
            <p:ph idx="1"/>
          </p:nvPr>
        </p:nvSpPr>
        <p:spPr>
          <a:xfrm>
            <a:off x="792000" y="1059582"/>
            <a:ext cx="6850800" cy="316835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buFontTx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buFontTx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92000" y="597917"/>
            <a:ext cx="2357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0" smtClean="0">
                <a:solidFill>
                  <a:srgbClr val="002F5F"/>
                </a:solidFill>
                <a:latin typeface="Verdana"/>
                <a:cs typeface="Verdana"/>
              </a:rPr>
              <a:t>Contributors</a:t>
            </a:r>
            <a:endParaRPr lang="en-US" sz="2400" b="1" noProof="0">
              <a:solidFill>
                <a:srgbClr val="002F5F"/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792000" y="4227934"/>
            <a:ext cx="572464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noProof="0" dirty="0" smtClean="0">
                <a:solidFill>
                  <a:schemeClr val="tx1"/>
                </a:solidFill>
                <a:latin typeface="Verdana"/>
              </a:rPr>
              <a:t>Recorded </a:t>
            </a:r>
            <a:fld id="{DEF0F593-7E64-D74F-96F6-B611C3DC3FC9}" type="datetime1">
              <a:rPr lang="en-US" sz="1600" baseline="0" noProof="0" smtClean="0">
                <a:solidFill>
                  <a:schemeClr val="tx1"/>
                </a:solidFill>
                <a:latin typeface="Verdana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2/24/2024</a:t>
            </a:fld>
            <a:endParaRPr lang="en-US" sz="1600" noProof="0" dirty="0" smtClean="0">
              <a:solidFill>
                <a:schemeClr val="tx1"/>
              </a:solidFill>
              <a:latin typeface="Verdana"/>
            </a:endParaRPr>
          </a:p>
          <a:p>
            <a:r>
              <a:rPr lang="en-US" sz="1600" noProof="0" dirty="0" smtClean="0">
                <a:solidFill>
                  <a:schemeClr val="tx1"/>
                </a:solidFill>
                <a:latin typeface="Verdana"/>
              </a:rPr>
              <a:t>Department of Computer and Systems Sciences, DSV </a:t>
            </a:r>
            <a:endParaRPr lang="en-US" sz="1600" noProof="0" dirty="0">
              <a:solidFill>
                <a:schemeClr val="tx1"/>
              </a:solidFill>
              <a:latin typeface="Verdana"/>
            </a:endParaRPr>
          </a:p>
        </p:txBody>
      </p:sp>
      <p:pic>
        <p:nvPicPr>
          <p:cNvPr id="8" name="Bildobjekt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36296" y="3567618"/>
            <a:ext cx="1296144" cy="123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624612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verkande - Blå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innehåll 2"/>
          <p:cNvSpPr>
            <a:spLocks noGrp="1"/>
          </p:cNvSpPr>
          <p:nvPr>
            <p:ph idx="1"/>
          </p:nvPr>
        </p:nvSpPr>
        <p:spPr>
          <a:xfrm>
            <a:off x="792000" y="1059582"/>
            <a:ext cx="6850800" cy="316835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400">
                <a:solidFill>
                  <a:srgbClr val="FFFFFF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FFFFFF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FFFFFF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 lvl="0"/>
            <a:r>
              <a:rPr lang="sv-SE" dirty="0" err="1" smtClean="0"/>
              <a:t>Click</a:t>
            </a:r>
            <a:r>
              <a:rPr lang="sv-SE" dirty="0" smtClean="0"/>
              <a:t> </a:t>
            </a:r>
            <a:r>
              <a:rPr lang="sv-SE" dirty="0" err="1" smtClean="0"/>
              <a:t>to</a:t>
            </a:r>
            <a:r>
              <a:rPr lang="sv-SE" dirty="0" smtClean="0"/>
              <a:t> </a:t>
            </a:r>
            <a:r>
              <a:rPr lang="sv-SE" dirty="0" err="1" smtClean="0"/>
              <a:t>edit</a:t>
            </a:r>
            <a:r>
              <a:rPr lang="sv-SE" dirty="0" smtClean="0"/>
              <a:t> Master text </a:t>
            </a:r>
            <a:r>
              <a:rPr lang="sv-SE" dirty="0" err="1" smtClean="0"/>
              <a:t>styles</a:t>
            </a:r>
            <a:endParaRPr lang="sv-SE" dirty="0" smtClean="0"/>
          </a:p>
          <a:p>
            <a:pPr lvl="1"/>
            <a:r>
              <a:rPr lang="sv-SE" dirty="0" smtClean="0"/>
              <a:t>Second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2"/>
            <a:r>
              <a:rPr lang="sv-SE" dirty="0" err="1" smtClean="0"/>
              <a:t>Third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3"/>
            <a:r>
              <a:rPr lang="sv-SE" dirty="0" err="1" smtClean="0"/>
              <a:t>Fourth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4"/>
            <a:r>
              <a:rPr lang="sv-SE" dirty="0" err="1" smtClean="0"/>
              <a:t>Fifth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792000" y="4227934"/>
            <a:ext cx="53540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600" noProof="0" dirty="0" smtClean="0">
                <a:solidFill>
                  <a:srgbClr val="FFFFFF"/>
                </a:solidFill>
                <a:latin typeface="Verdana"/>
              </a:rPr>
              <a:t>Inspelat</a:t>
            </a:r>
            <a:r>
              <a:rPr lang="sv-SE" sz="1600" baseline="0" noProof="0" dirty="0" smtClean="0">
                <a:solidFill>
                  <a:srgbClr val="FFFFFF"/>
                </a:solidFill>
                <a:latin typeface="Verdana"/>
              </a:rPr>
              <a:t> </a:t>
            </a:r>
            <a:fld id="{DEF0F593-7E64-D74F-96F6-B611C3DC3FC9}" type="datetime1">
              <a:rPr lang="sv-SE" sz="1600" baseline="0" noProof="0" smtClean="0">
                <a:solidFill>
                  <a:srgbClr val="FFFFFF"/>
                </a:solidFill>
                <a:latin typeface="Verdana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2024-02-24</a:t>
            </a:fld>
            <a:endParaRPr lang="sv-SE" sz="1600" noProof="0" dirty="0" smtClean="0">
              <a:solidFill>
                <a:srgbClr val="FFFFFF"/>
              </a:solidFill>
              <a:latin typeface="Verdana"/>
            </a:endParaRPr>
          </a:p>
          <a:p>
            <a:r>
              <a:rPr lang="sv-SE" sz="1600" noProof="0" dirty="0" smtClean="0">
                <a:solidFill>
                  <a:srgbClr val="FFFFFF"/>
                </a:solidFill>
                <a:latin typeface="Verdana"/>
              </a:rPr>
              <a:t>Institutionen för data- och systemvetenskap, DSV </a:t>
            </a:r>
            <a:endParaRPr lang="sv-SE" sz="1600" noProof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792000" y="597917"/>
            <a:ext cx="2504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400" b="1" dirty="0" smtClean="0">
                <a:solidFill>
                  <a:srgbClr val="FFFFFF"/>
                </a:solidFill>
                <a:latin typeface="Verdana"/>
                <a:cs typeface="Verdana"/>
              </a:rPr>
              <a:t>Medverkande</a:t>
            </a:r>
            <a:endParaRPr lang="sv-SE" sz="2400" b="1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pic>
        <p:nvPicPr>
          <p:cNvPr id="7" name="Bildobjekt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36296" y="3542890"/>
            <a:ext cx="1435367" cy="119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788492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verkande - egen sidfot - Blå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36296" y="3542890"/>
            <a:ext cx="1435367" cy="1195504"/>
          </a:xfrm>
          <a:prstGeom prst="rect">
            <a:avLst/>
          </a:prstGeom>
        </p:spPr>
      </p:pic>
      <p:sp>
        <p:nvSpPr>
          <p:cNvPr id="4" name="Platshållare för innehåll 2"/>
          <p:cNvSpPr>
            <a:spLocks noGrp="1"/>
          </p:cNvSpPr>
          <p:nvPr>
            <p:ph idx="1"/>
          </p:nvPr>
        </p:nvSpPr>
        <p:spPr>
          <a:xfrm>
            <a:off x="792000" y="1059582"/>
            <a:ext cx="6850800" cy="316835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400">
                <a:solidFill>
                  <a:srgbClr val="FFFFFF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FFFFFF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FFFFFF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 lvl="0"/>
            <a:r>
              <a:rPr lang="sv-SE" dirty="0" err="1" smtClean="0"/>
              <a:t>Click</a:t>
            </a:r>
            <a:r>
              <a:rPr lang="sv-SE" dirty="0" smtClean="0"/>
              <a:t> </a:t>
            </a:r>
            <a:r>
              <a:rPr lang="sv-SE" dirty="0" err="1" smtClean="0"/>
              <a:t>to</a:t>
            </a:r>
            <a:r>
              <a:rPr lang="sv-SE" dirty="0" smtClean="0"/>
              <a:t> </a:t>
            </a:r>
            <a:r>
              <a:rPr lang="sv-SE" dirty="0" err="1" smtClean="0"/>
              <a:t>edit</a:t>
            </a:r>
            <a:r>
              <a:rPr lang="sv-SE" dirty="0" smtClean="0"/>
              <a:t> Master text </a:t>
            </a:r>
            <a:r>
              <a:rPr lang="sv-SE" dirty="0" err="1" smtClean="0"/>
              <a:t>styles</a:t>
            </a:r>
            <a:endParaRPr lang="sv-SE" dirty="0" smtClean="0"/>
          </a:p>
          <a:p>
            <a:pPr lvl="1"/>
            <a:r>
              <a:rPr lang="sv-SE" dirty="0" smtClean="0"/>
              <a:t>Second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2"/>
            <a:r>
              <a:rPr lang="sv-SE" dirty="0" err="1" smtClean="0"/>
              <a:t>Third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3"/>
            <a:r>
              <a:rPr lang="sv-SE" dirty="0" err="1" smtClean="0"/>
              <a:t>Fourth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 smtClean="0"/>
          </a:p>
          <a:p>
            <a:pPr lvl="4"/>
            <a:r>
              <a:rPr lang="sv-SE" dirty="0" err="1" smtClean="0"/>
              <a:t>Fifth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endParaRPr lang="sv-SE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92000" y="597917"/>
            <a:ext cx="2504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400" b="1" dirty="0" smtClean="0">
                <a:solidFill>
                  <a:srgbClr val="FFFFFF"/>
                </a:solidFill>
                <a:latin typeface="Verdana"/>
                <a:cs typeface="Verdana"/>
              </a:rPr>
              <a:t>Medverkande</a:t>
            </a:r>
            <a:endParaRPr lang="sv-SE" sz="2400" b="1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790772" y="4221654"/>
            <a:ext cx="6387308" cy="586827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strike="noStrike" baseline="0">
                <a:solidFill>
                  <a:schemeClr val="bg1"/>
                </a:solidFill>
              </a:defRPr>
            </a:lvl1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noProof="0" dirty="0" smtClean="0">
                <a:solidFill>
                  <a:schemeClr val="bg1"/>
                </a:solidFill>
                <a:latin typeface="Verdana"/>
              </a:rPr>
              <a:t>Click to insert custom footer</a:t>
            </a:r>
            <a:endParaRPr lang="en-US" sz="1600" noProof="0" dirty="0">
              <a:solidFill>
                <a:schemeClr val="bg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688040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ibutors -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innehåll 2"/>
          <p:cNvSpPr>
            <a:spLocks noGrp="1"/>
          </p:cNvSpPr>
          <p:nvPr>
            <p:ph idx="1"/>
          </p:nvPr>
        </p:nvSpPr>
        <p:spPr>
          <a:xfrm>
            <a:off x="792000" y="1059582"/>
            <a:ext cx="6850800" cy="316835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400">
                <a:solidFill>
                  <a:srgbClr val="FFFFFF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FFFFFF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FFFFFF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792000" y="4227934"/>
            <a:ext cx="572464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noProof="0" dirty="0" smtClean="0">
                <a:solidFill>
                  <a:schemeClr val="bg1"/>
                </a:solidFill>
                <a:latin typeface="Verdana"/>
              </a:rPr>
              <a:t>Recorded </a:t>
            </a:r>
            <a:fld id="{DEF0F593-7E64-D74F-96F6-B611C3DC3FC9}" type="datetime1">
              <a:rPr lang="en-US" sz="1600" baseline="0" noProof="0" smtClean="0">
                <a:solidFill>
                  <a:schemeClr val="bg1"/>
                </a:solidFill>
                <a:latin typeface="Verdana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2/24/2024</a:t>
            </a:fld>
            <a:endParaRPr lang="en-US" sz="1600" noProof="0" dirty="0" smtClean="0">
              <a:solidFill>
                <a:schemeClr val="bg1"/>
              </a:solidFill>
              <a:latin typeface="Verdana"/>
            </a:endParaRPr>
          </a:p>
          <a:p>
            <a:r>
              <a:rPr lang="en-US" sz="1600" noProof="0" dirty="0" smtClean="0">
                <a:solidFill>
                  <a:schemeClr val="bg1"/>
                </a:solidFill>
                <a:latin typeface="Verdana"/>
              </a:rPr>
              <a:t>Department of Computer and Systems Sciences, DSV </a:t>
            </a:r>
            <a:endParaRPr lang="en-US" sz="1600" noProof="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792000" y="597917"/>
            <a:ext cx="2357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0" dirty="0" smtClean="0">
                <a:solidFill>
                  <a:srgbClr val="FFFFFF"/>
                </a:solidFill>
                <a:latin typeface="Verdana"/>
                <a:cs typeface="Verdana"/>
              </a:rPr>
              <a:t>Contributors</a:t>
            </a:r>
            <a:endParaRPr lang="en-US" sz="2400" b="1" noProof="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pic>
        <p:nvPicPr>
          <p:cNvPr id="7" name="Bildobjekt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36296" y="3567618"/>
            <a:ext cx="1296144" cy="123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822158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ibutors - custom footer -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innehåll 2"/>
          <p:cNvSpPr>
            <a:spLocks noGrp="1"/>
          </p:cNvSpPr>
          <p:nvPr>
            <p:ph idx="1"/>
          </p:nvPr>
        </p:nvSpPr>
        <p:spPr>
          <a:xfrm>
            <a:off x="792000" y="1059582"/>
            <a:ext cx="6850800" cy="316835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400">
                <a:solidFill>
                  <a:srgbClr val="FFFFFF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FFFFFF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FFFFFF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92000" y="597917"/>
            <a:ext cx="2357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0" dirty="0" smtClean="0">
                <a:solidFill>
                  <a:srgbClr val="FFFFFF"/>
                </a:solidFill>
                <a:latin typeface="Verdana"/>
                <a:cs typeface="Verdana"/>
              </a:rPr>
              <a:t>Contributors</a:t>
            </a:r>
            <a:endParaRPr lang="en-US" sz="2400" b="1" noProof="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pic>
        <p:nvPicPr>
          <p:cNvPr id="7" name="Bildobjekt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36296" y="3567618"/>
            <a:ext cx="1296144" cy="1236379"/>
          </a:xfrm>
          <a:prstGeom prst="rect">
            <a:avLst/>
          </a:prstGeom>
        </p:spPr>
      </p:pic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790772" y="4221654"/>
            <a:ext cx="6387308" cy="586827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strike="noStrike" baseline="0">
                <a:solidFill>
                  <a:schemeClr val="bg1"/>
                </a:solidFill>
              </a:defRPr>
            </a:lvl1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noProof="0" dirty="0" smtClean="0">
                <a:solidFill>
                  <a:schemeClr val="bg1"/>
                </a:solidFill>
                <a:latin typeface="Verdana"/>
              </a:rPr>
              <a:t>Click to insert custom footer</a:t>
            </a:r>
            <a:endParaRPr lang="en-US" sz="1600" noProof="0" dirty="0">
              <a:solidFill>
                <a:schemeClr val="bg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7444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a logo - Blå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36296" y="3507854"/>
            <a:ext cx="1435367" cy="1195504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792000" y="4465444"/>
            <a:ext cx="5354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600" noProof="0" dirty="0" smtClean="0">
                <a:solidFill>
                  <a:srgbClr val="FFFFFF"/>
                </a:solidFill>
                <a:latin typeface="Verdana"/>
              </a:rPr>
              <a:t>Institutionen för data- och systemvetenskap, DSV </a:t>
            </a:r>
            <a:endParaRPr lang="sv-SE" sz="1600" noProof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3342398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logo -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792000" y="4465444"/>
            <a:ext cx="5724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 smtClean="0">
                <a:solidFill>
                  <a:schemeClr val="bg1"/>
                </a:solidFill>
                <a:latin typeface="Verdana"/>
              </a:rPr>
              <a:t>Department of Computer and Systems Sciences, DSV </a:t>
            </a:r>
            <a:endParaRPr lang="en-US" sz="1600" noProof="0" dirty="0">
              <a:solidFill>
                <a:schemeClr val="bg1"/>
              </a:solidFill>
              <a:latin typeface="Verdana"/>
            </a:endParaRPr>
          </a:p>
        </p:txBody>
      </p:sp>
      <p:pic>
        <p:nvPicPr>
          <p:cNvPr id="7" name="Bildobjekt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36296" y="3567619"/>
            <a:ext cx="1296144" cy="123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5386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 vit/Empt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141083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 svart/Empt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34395234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 blå/Empty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47276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5.emf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6.emf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10.emf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sv-SE" dirty="0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92000" y="1275534"/>
            <a:ext cx="6850800" cy="32404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 smtClean="0"/>
              <a:t>Klicka här för att ändra format på bakgrundstexten</a:t>
            </a:r>
          </a:p>
          <a:p>
            <a:pPr lvl="1"/>
            <a:r>
              <a:rPr lang="sv-SE" dirty="0" smtClean="0"/>
              <a:t>Nivå två</a:t>
            </a:r>
          </a:p>
          <a:p>
            <a:pPr lvl="2"/>
            <a:r>
              <a:rPr lang="sv-SE" dirty="0" smtClean="0"/>
              <a:t>Nivå tre</a:t>
            </a:r>
          </a:p>
          <a:p>
            <a:pPr lvl="3"/>
            <a:r>
              <a:rPr lang="sv-SE" dirty="0" smtClean="0"/>
              <a:t>Nivå fyra</a:t>
            </a:r>
          </a:p>
          <a:p>
            <a:pPr lvl="4"/>
            <a:r>
              <a:rPr lang="sv-SE" dirty="0" smtClean="0"/>
              <a:t>Nivå fem</a:t>
            </a:r>
            <a:endParaRPr lang="sv-SE" dirty="0"/>
          </a:p>
        </p:txBody>
      </p:sp>
      <p:pic>
        <p:nvPicPr>
          <p:cNvPr id="7" name="Bildobjekt 6" descr="logo-org-svensk_rgb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884368" y="216001"/>
            <a:ext cx="980375" cy="81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677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709" r:id="rId2"/>
    <p:sldLayoutId id="2147483710" r:id="rId3"/>
    <p:sldLayoutId id="2147483713" r:id="rId4"/>
    <p:sldLayoutId id="2147483684" r:id="rId5"/>
    <p:sldLayoutId id="2147483683" r:id="rId6"/>
    <p:sldLayoutId id="2147483712" r:id="rId7"/>
    <p:sldLayoutId id="2147483711" r:id="rId8"/>
    <p:sldLayoutId id="2147483714" r:id="rId9"/>
    <p:sldLayoutId id="2147483685" r:id="rId10"/>
    <p:sldLayoutId id="2147483686" r:id="rId11"/>
    <p:sldLayoutId id="2147483687" r:id="rId12"/>
    <p:sldLayoutId id="2147483688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lnSpc>
          <a:spcPts val="2900"/>
        </a:lnSpc>
        <a:spcBef>
          <a:spcPct val="20000"/>
        </a:spcBef>
        <a:buSzPct val="93000"/>
        <a:buFont typeface="Verdana" pitchFamily="34" charset="0"/>
        <a:buChar char="●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noProof="0" smtClean="0"/>
              <a:t>Klicka här för att ändra format</a:t>
            </a:r>
            <a:endParaRPr lang="en-US" noProof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92000" y="1275534"/>
            <a:ext cx="6850800" cy="32404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 smtClean="0"/>
              <a:t>Klicka här för att ändra format på bakgrundstexten</a:t>
            </a:r>
          </a:p>
          <a:p>
            <a:pPr lvl="1"/>
            <a:r>
              <a:rPr lang="en-US" noProof="0" smtClean="0"/>
              <a:t>Nivå två</a:t>
            </a:r>
          </a:p>
          <a:p>
            <a:pPr lvl="2"/>
            <a:r>
              <a:rPr lang="en-US" noProof="0" smtClean="0"/>
              <a:t>Nivå tre</a:t>
            </a:r>
          </a:p>
          <a:p>
            <a:pPr lvl="3"/>
            <a:r>
              <a:rPr lang="en-US" noProof="0" smtClean="0"/>
              <a:t>Nivå fyra</a:t>
            </a:r>
          </a:p>
          <a:p>
            <a:pPr lvl="4"/>
            <a:r>
              <a:rPr lang="en-US" noProof="0" smtClean="0"/>
              <a:t>Nivå fem</a:t>
            </a:r>
            <a:endParaRPr lang="en-US" noProof="0"/>
          </a:p>
        </p:txBody>
      </p:sp>
      <p:pic>
        <p:nvPicPr>
          <p:cNvPr id="5" name="Bildobjekt 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884368" y="216001"/>
            <a:ext cx="884358" cy="84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7292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8" r:id="rId2"/>
    <p:sldLayoutId id="2147483737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lnSpc>
          <a:spcPts val="2900"/>
        </a:lnSpc>
        <a:spcBef>
          <a:spcPct val="20000"/>
        </a:spcBef>
        <a:buSzPct val="93000"/>
        <a:buFont typeface="Verdana" pitchFamily="34" charset="0"/>
        <a:buChar char="●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sv-SE" dirty="0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92000" y="1275534"/>
            <a:ext cx="6850800" cy="32404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 smtClean="0"/>
              <a:t>Klicka här för att ändra format på bakgrundstexten</a:t>
            </a:r>
          </a:p>
          <a:p>
            <a:pPr lvl="1"/>
            <a:r>
              <a:rPr lang="sv-SE" dirty="0" smtClean="0"/>
              <a:t>Nivå två</a:t>
            </a:r>
          </a:p>
          <a:p>
            <a:pPr lvl="2"/>
            <a:r>
              <a:rPr lang="sv-SE" dirty="0" smtClean="0"/>
              <a:t>Nivå tre</a:t>
            </a:r>
          </a:p>
          <a:p>
            <a:pPr lvl="3"/>
            <a:r>
              <a:rPr lang="sv-SE" dirty="0" smtClean="0"/>
              <a:t>Nivå fyra</a:t>
            </a:r>
          </a:p>
          <a:p>
            <a:pPr lvl="4"/>
            <a:r>
              <a:rPr lang="sv-SE" dirty="0" smtClean="0"/>
              <a:t>Nivå fem</a:t>
            </a:r>
            <a:endParaRPr lang="sv-SE" dirty="0"/>
          </a:p>
        </p:txBody>
      </p:sp>
      <p:pic>
        <p:nvPicPr>
          <p:cNvPr id="7" name="Bildobjekt 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884368" y="216655"/>
            <a:ext cx="980375" cy="81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6587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0" r:id="rId2"/>
    <p:sldLayoutId id="2147483719" r:id="rId3"/>
    <p:sldLayoutId id="2147483721" r:id="rId4"/>
    <p:sldLayoutId id="2147483722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</p:sldLayoutIdLst>
  <p:hf sldNum="0" hdr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lnSpc>
          <a:spcPts val="2900"/>
        </a:lnSpc>
        <a:spcBef>
          <a:spcPct val="20000"/>
        </a:spcBef>
        <a:buSzPct val="93000"/>
        <a:buFont typeface="Verdana" pitchFamily="34" charset="0"/>
        <a:buChar char="●"/>
        <a:defRPr sz="2400" kern="1200">
          <a:solidFill>
            <a:srgbClr val="FFFFFF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rgbClr val="FFFFFF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FFFFFF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rgbClr val="FFFFFF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rgbClr val="FFFFFF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sv-SE" dirty="0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92000" y="1275534"/>
            <a:ext cx="6850800" cy="32404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 smtClean="0"/>
              <a:t>Klicka här för att ändra format på bakgrundstexten</a:t>
            </a:r>
          </a:p>
          <a:p>
            <a:pPr lvl="1"/>
            <a:r>
              <a:rPr lang="sv-SE" dirty="0" smtClean="0"/>
              <a:t>Nivå två</a:t>
            </a:r>
          </a:p>
          <a:p>
            <a:pPr lvl="2"/>
            <a:r>
              <a:rPr lang="sv-SE" dirty="0" smtClean="0"/>
              <a:t>Nivå tre</a:t>
            </a:r>
          </a:p>
          <a:p>
            <a:pPr lvl="3"/>
            <a:r>
              <a:rPr lang="sv-SE" dirty="0" smtClean="0"/>
              <a:t>Nivå fyra</a:t>
            </a:r>
          </a:p>
          <a:p>
            <a:pPr lvl="4"/>
            <a:r>
              <a:rPr lang="sv-SE" dirty="0" smtClean="0"/>
              <a:t>Nivå fem</a:t>
            </a:r>
            <a:endParaRPr lang="sv-SE" dirty="0"/>
          </a:p>
        </p:txBody>
      </p:sp>
      <p:pic>
        <p:nvPicPr>
          <p:cNvPr id="4" name="Picture 3" descr="logo-neg-engelsk_rgb.eps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874572" y="216023"/>
            <a:ext cx="884336" cy="84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60172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  <p:hf sldNum="0" hdr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lnSpc>
          <a:spcPts val="2900"/>
        </a:lnSpc>
        <a:spcBef>
          <a:spcPct val="20000"/>
        </a:spcBef>
        <a:buSzPct val="93000"/>
        <a:buFont typeface="Verdana" pitchFamily="34" charset="0"/>
        <a:buChar char="●"/>
        <a:defRPr sz="2400" kern="1200">
          <a:solidFill>
            <a:srgbClr val="FFFFFF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rgbClr val="FFFFFF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FFFFFF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rgbClr val="FFFFFF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rgbClr val="FFFFFF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6850800" cy="5967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sv-SE" dirty="0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92000" y="1275534"/>
            <a:ext cx="6850800" cy="32404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 smtClean="0"/>
              <a:t>Klicka här för att ändra format på bakgrundstexten</a:t>
            </a:r>
          </a:p>
          <a:p>
            <a:pPr lvl="1"/>
            <a:r>
              <a:rPr lang="sv-SE" dirty="0" smtClean="0"/>
              <a:t>Nivå två</a:t>
            </a:r>
          </a:p>
          <a:p>
            <a:pPr lvl="2"/>
            <a:r>
              <a:rPr lang="sv-SE" dirty="0" smtClean="0"/>
              <a:t>Nivå tre</a:t>
            </a:r>
          </a:p>
          <a:p>
            <a:pPr lvl="3"/>
            <a:r>
              <a:rPr lang="sv-SE" dirty="0" smtClean="0"/>
              <a:t>Nivå fyra</a:t>
            </a:r>
          </a:p>
          <a:p>
            <a:pPr lvl="4"/>
            <a:r>
              <a:rPr lang="sv-SE" dirty="0" smtClean="0"/>
              <a:t>Nivå fem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903434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65" r:id="rId2"/>
    <p:sldLayoutId id="2147483733" r:id="rId3"/>
    <p:sldLayoutId id="2147483769" r:id="rId4"/>
    <p:sldLayoutId id="2147483766" r:id="rId5"/>
    <p:sldLayoutId id="2147483770" r:id="rId6"/>
    <p:sldLayoutId id="2147483767" r:id="rId7"/>
    <p:sldLayoutId id="2147483768" r:id="rId8"/>
    <p:sldLayoutId id="2147483697" r:id="rId9"/>
    <p:sldLayoutId id="2147483715" r:id="rId10"/>
    <p:sldLayoutId id="2147483716" r:id="rId11"/>
  </p:sldLayoutIdLst>
  <p:hf sldNum="0" hdr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lnSpc>
          <a:spcPts val="2900"/>
        </a:lnSpc>
        <a:spcBef>
          <a:spcPct val="20000"/>
        </a:spcBef>
        <a:buSzPct val="93000"/>
        <a:buFont typeface="Verdana" pitchFamily="34" charset="0"/>
        <a:buChar char="●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7638" y="1425832"/>
            <a:ext cx="7329457" cy="1069200"/>
          </a:xfrm>
        </p:spPr>
        <p:txBody>
          <a:bodyPr/>
          <a:lstStyle/>
          <a:p>
            <a:r>
              <a:rPr lang="sv-SE" sz="3600" dirty="0" err="1"/>
              <a:t>Introduction</a:t>
            </a:r>
            <a:r>
              <a:rPr lang="sv-SE" sz="3600" dirty="0"/>
              <a:t> to Design Science</a:t>
            </a:r>
            <a:endParaRPr lang="sv-SE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999" y="2966318"/>
            <a:ext cx="7423967" cy="1319932"/>
          </a:xfrm>
        </p:spPr>
        <p:txBody>
          <a:bodyPr/>
          <a:lstStyle/>
          <a:p>
            <a:r>
              <a:rPr lang="sv-SE" sz="2000" dirty="0" smtClean="0"/>
              <a:t>Erik </a:t>
            </a:r>
            <a:r>
              <a:rPr lang="sv-SE" sz="2000" dirty="0" smtClean="0"/>
              <a:t>Perjons </a:t>
            </a:r>
            <a:r>
              <a:rPr lang="en-US" sz="2000" dirty="0" smtClean="0"/>
              <a:t>(</a:t>
            </a:r>
            <a:r>
              <a:rPr lang="sv-SE" altLang="zh-CN" sz="2000" dirty="0" smtClean="0"/>
              <a:t>Revised </a:t>
            </a:r>
            <a:r>
              <a:rPr lang="sv-SE" altLang="zh-CN" sz="2000" dirty="0" smtClean="0"/>
              <a:t>by Max HE </a:t>
            </a:r>
            <a:r>
              <a:rPr lang="sv-SE" altLang="zh-CN" sz="2000" dirty="0" smtClean="0"/>
              <a:t>with </a:t>
            </a:r>
            <a:r>
              <a:rPr lang="en-US" sz="2000" dirty="0" smtClean="0"/>
              <a:t>Thanks)</a:t>
            </a:r>
            <a:endParaRPr lang="sv-SE" sz="2000" dirty="0" smtClean="0"/>
          </a:p>
          <a:p>
            <a:r>
              <a:rPr lang="sv-SE" sz="2000" dirty="0" err="1" smtClean="0"/>
              <a:t>Department</a:t>
            </a:r>
            <a:r>
              <a:rPr lang="sv-SE" sz="2000" dirty="0" smtClean="0"/>
              <a:t> </a:t>
            </a:r>
            <a:r>
              <a:rPr lang="sv-SE" sz="2000" dirty="0" err="1" smtClean="0"/>
              <a:t>of</a:t>
            </a:r>
            <a:r>
              <a:rPr lang="sv-SE" sz="2000" dirty="0" smtClean="0"/>
              <a:t> Computer and Systems Sciences (DSV), Stockholm University</a:t>
            </a:r>
          </a:p>
        </p:txBody>
      </p:sp>
    </p:spTree>
    <p:extLst>
      <p:ext uri="{BB962C8B-B14F-4D97-AF65-F5344CB8AC3E}">
        <p14:creationId xmlns:p14="http://schemas.microsoft.com/office/powerpoint/2010/main" xmlns="" val="668291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v-SE" sz="2700" dirty="0" err="1" smtClean="0"/>
              <a:t>What</a:t>
            </a:r>
            <a:r>
              <a:rPr lang="sv-SE" sz="2700" dirty="0" smtClean="0"/>
              <a:t> is </a:t>
            </a:r>
            <a:r>
              <a:rPr lang="sv-SE" sz="2700" dirty="0"/>
              <a:t>Design </a:t>
            </a:r>
            <a:r>
              <a:rPr lang="sv-SE" sz="2700" dirty="0" smtClean="0"/>
              <a:t>Science?</a:t>
            </a:r>
            <a:endParaRPr lang="sv-SE" sz="2700" dirty="0"/>
          </a:p>
        </p:txBody>
      </p:sp>
    </p:spTree>
    <p:extLst>
      <p:ext uri="{BB962C8B-B14F-4D97-AF65-F5344CB8AC3E}">
        <p14:creationId xmlns:p14="http://schemas.microsoft.com/office/powerpoint/2010/main" xmlns="" val="353263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149" y="643448"/>
            <a:ext cx="8267432" cy="994172"/>
          </a:xfrm>
        </p:spPr>
        <p:txBody>
          <a:bodyPr/>
          <a:lstStyle/>
          <a:p>
            <a:r>
              <a:rPr lang="sv-SE" dirty="0" smtClean="0"/>
              <a:t>Positioning design science</a:t>
            </a:r>
            <a:endParaRPr lang="sv-SE" dirty="0"/>
          </a:p>
        </p:txBody>
      </p:sp>
      <p:sp>
        <p:nvSpPr>
          <p:cNvPr id="5" name="Rectangle 4"/>
          <p:cNvSpPr/>
          <p:nvPr/>
        </p:nvSpPr>
        <p:spPr>
          <a:xfrm>
            <a:off x="1176728" y="1588957"/>
            <a:ext cx="1671403" cy="4946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TextBox 5"/>
          <p:cNvSpPr txBox="1"/>
          <p:nvPr/>
        </p:nvSpPr>
        <p:spPr>
          <a:xfrm>
            <a:off x="1208387" y="1651629"/>
            <a:ext cx="1639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 smtClean="0"/>
              <a:t>Natural</a:t>
            </a:r>
            <a:r>
              <a:rPr lang="sv-SE" dirty="0" smtClean="0"/>
              <a:t> Science</a:t>
            </a:r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3105462" y="1588957"/>
            <a:ext cx="1671403" cy="4946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TextBox 7"/>
          <p:cNvSpPr txBox="1"/>
          <p:nvPr/>
        </p:nvSpPr>
        <p:spPr>
          <a:xfrm>
            <a:off x="3137121" y="1651629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smtClean="0"/>
              <a:t>Social Science</a:t>
            </a:r>
            <a:endParaRPr lang="sv-SE" dirty="0"/>
          </a:p>
        </p:txBody>
      </p:sp>
      <p:sp>
        <p:nvSpPr>
          <p:cNvPr id="9" name="Rectangle 8"/>
          <p:cNvSpPr/>
          <p:nvPr/>
        </p:nvSpPr>
        <p:spPr>
          <a:xfrm>
            <a:off x="5633798" y="1588957"/>
            <a:ext cx="1671403" cy="4946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Box 9"/>
          <p:cNvSpPr txBox="1"/>
          <p:nvPr/>
        </p:nvSpPr>
        <p:spPr>
          <a:xfrm>
            <a:off x="5665457" y="1651629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smtClean="0"/>
              <a:t>Design Science</a:t>
            </a:r>
            <a:endParaRPr lang="sv-SE" dirty="0"/>
          </a:p>
        </p:txBody>
      </p:sp>
      <p:sp>
        <p:nvSpPr>
          <p:cNvPr id="11" name="Right Brace 10"/>
          <p:cNvSpPr/>
          <p:nvPr/>
        </p:nvSpPr>
        <p:spPr>
          <a:xfrm rot="5400000">
            <a:off x="2747522" y="766325"/>
            <a:ext cx="391094" cy="3667594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/>
          <p:cNvSpPr txBox="1"/>
          <p:nvPr/>
        </p:nvSpPr>
        <p:spPr>
          <a:xfrm>
            <a:off x="1823808" y="2970691"/>
            <a:ext cx="24808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sv-SE" b="1" dirty="0" err="1" smtClean="0"/>
              <a:t>Empirical</a:t>
            </a:r>
            <a:r>
              <a:rPr lang="sv-SE" b="1" dirty="0" smtClean="0"/>
              <a:t> science </a:t>
            </a:r>
            <a:r>
              <a:rPr lang="sv-SE" dirty="0" smtClean="0"/>
              <a:t>- </a:t>
            </a:r>
            <a:r>
              <a:rPr lang="fi-FI" dirty="0" err="1"/>
              <a:t>aims</a:t>
            </a:r>
            <a:r>
              <a:rPr lang="fi-FI" dirty="0"/>
              <a:t> at </a:t>
            </a:r>
            <a:r>
              <a:rPr lang="fi-FI" b="1" dirty="0" err="1"/>
              <a:t>describing</a:t>
            </a:r>
            <a:r>
              <a:rPr lang="fi-FI" b="1" dirty="0"/>
              <a:t> and </a:t>
            </a:r>
            <a:r>
              <a:rPr lang="fi-FI" b="1" dirty="0" err="1"/>
              <a:t>explaining</a:t>
            </a:r>
            <a:r>
              <a:rPr lang="fi-FI" b="1" dirty="0"/>
              <a:t> </a:t>
            </a:r>
            <a:r>
              <a:rPr lang="fi-FI" b="1" dirty="0" err="1"/>
              <a:t>the</a:t>
            </a:r>
            <a:r>
              <a:rPr lang="fi-FI" b="1" dirty="0"/>
              <a:t> </a:t>
            </a:r>
            <a:r>
              <a:rPr lang="fi-FI" b="1" dirty="0" err="1"/>
              <a:t>actual</a:t>
            </a:r>
            <a:r>
              <a:rPr lang="fi-FI" b="1" dirty="0"/>
              <a:t> </a:t>
            </a:r>
            <a:r>
              <a:rPr lang="fi-FI" b="1" dirty="0" err="1"/>
              <a:t>world</a:t>
            </a:r>
            <a:r>
              <a:rPr lang="fi-FI" b="1" dirty="0"/>
              <a:t> </a:t>
            </a:r>
            <a:r>
              <a:rPr lang="fi-FI" dirty="0"/>
              <a:t>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present</a:t>
            </a:r>
            <a:r>
              <a:rPr lang="fi-FI" dirty="0"/>
              <a:t> (as-is) </a:t>
            </a:r>
            <a:r>
              <a:rPr lang="fi-FI" dirty="0" err="1" smtClean="0"/>
              <a:t>or</a:t>
            </a:r>
            <a:r>
              <a:rPr lang="fi-FI" dirty="0" smtClean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past</a:t>
            </a:r>
            <a:r>
              <a:rPr lang="fi-FI" dirty="0"/>
              <a:t> (</a:t>
            </a:r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been</a:t>
            </a:r>
            <a:r>
              <a:rPr lang="fi-FI" dirty="0"/>
              <a:t>)</a:t>
            </a:r>
          </a:p>
          <a:p>
            <a:endParaRPr lang="sv-SE" dirty="0"/>
          </a:p>
        </p:txBody>
      </p:sp>
      <p:sp>
        <p:nvSpPr>
          <p:cNvPr id="13" name="TextBox 12"/>
          <p:cNvSpPr txBox="1"/>
          <p:nvPr/>
        </p:nvSpPr>
        <p:spPr>
          <a:xfrm>
            <a:off x="4956746" y="2970691"/>
            <a:ext cx="28381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350"/>
              </a:spcBef>
            </a:pPr>
            <a:r>
              <a:rPr lang="sv-SE" b="1" dirty="0" smtClean="0"/>
              <a:t>Design science </a:t>
            </a:r>
            <a:r>
              <a:rPr lang="sv-SE" dirty="0" smtClean="0"/>
              <a:t>- </a:t>
            </a:r>
            <a:r>
              <a:rPr lang="fi-FI" dirty="0" err="1"/>
              <a:t>aims</a:t>
            </a:r>
            <a:r>
              <a:rPr lang="fi-FI" dirty="0"/>
              <a:t> </a:t>
            </a:r>
            <a:r>
              <a:rPr lang="fi-FI" dirty="0" smtClean="0"/>
              <a:t>at </a:t>
            </a:r>
            <a:r>
              <a:rPr lang="fi-FI" b="1" dirty="0" err="1" smtClean="0"/>
              <a:t>improve</a:t>
            </a:r>
            <a:r>
              <a:rPr lang="fi-FI" b="1" dirty="0" smtClean="0"/>
              <a:t> and </a:t>
            </a:r>
            <a:r>
              <a:rPr lang="fi-FI" b="1" dirty="0" err="1" smtClean="0"/>
              <a:t>change</a:t>
            </a:r>
            <a:r>
              <a:rPr lang="fi-FI" b="1" dirty="0" smtClean="0"/>
              <a:t> </a:t>
            </a:r>
            <a:r>
              <a:rPr lang="fi-FI" b="1" dirty="0" err="1" smtClean="0"/>
              <a:t>the</a:t>
            </a:r>
            <a:r>
              <a:rPr lang="fi-FI" b="1" dirty="0" smtClean="0"/>
              <a:t> </a:t>
            </a:r>
            <a:r>
              <a:rPr lang="fi-FI" b="1" dirty="0" err="1" smtClean="0"/>
              <a:t>world</a:t>
            </a:r>
            <a:r>
              <a:rPr lang="fi-FI" b="1" dirty="0" smtClean="0"/>
              <a:t> in </a:t>
            </a:r>
            <a:r>
              <a:rPr lang="fi-FI" b="1" dirty="0" err="1" smtClean="0"/>
              <a:t>the</a:t>
            </a:r>
            <a:r>
              <a:rPr lang="fi-FI" b="1" dirty="0" smtClean="0"/>
              <a:t> </a:t>
            </a:r>
            <a:r>
              <a:rPr lang="fi-FI" b="1" dirty="0" err="1" smtClean="0"/>
              <a:t>future</a:t>
            </a:r>
            <a:r>
              <a:rPr lang="fi-FI" b="1" dirty="0" smtClean="0"/>
              <a:t>  </a:t>
            </a:r>
            <a:r>
              <a:rPr lang="fi-FI" dirty="0"/>
              <a:t>(to-</a:t>
            </a:r>
            <a:r>
              <a:rPr lang="fi-FI" dirty="0" err="1"/>
              <a:t>be</a:t>
            </a:r>
            <a:r>
              <a:rPr lang="fi-FI" dirty="0"/>
              <a:t>) -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developing</a:t>
            </a:r>
            <a:r>
              <a:rPr lang="fi-FI" dirty="0"/>
              <a:t> and </a:t>
            </a:r>
            <a:r>
              <a:rPr lang="fi-FI" dirty="0" err="1"/>
              <a:t>introducing</a:t>
            </a:r>
            <a:r>
              <a:rPr lang="fi-FI" dirty="0"/>
              <a:t> </a:t>
            </a:r>
            <a:r>
              <a:rPr lang="fi-FI" b="1" dirty="0" err="1" smtClean="0"/>
              <a:t>artefacts</a:t>
            </a:r>
            <a:r>
              <a:rPr lang="fi-FI" b="1" dirty="0" smtClean="0"/>
              <a:t> </a:t>
            </a:r>
            <a:r>
              <a:rPr lang="fi-FI" dirty="0" smtClean="0"/>
              <a:t>in </a:t>
            </a:r>
            <a:r>
              <a:rPr lang="fi-FI" dirty="0" err="1" smtClean="0"/>
              <a:t>practice</a:t>
            </a:r>
            <a:endParaRPr lang="fi-FI" dirty="0"/>
          </a:p>
          <a:p>
            <a:endParaRPr lang="sv-SE" dirty="0"/>
          </a:p>
        </p:txBody>
      </p:sp>
      <p:sp>
        <p:nvSpPr>
          <p:cNvPr id="18" name="Right Brace 17"/>
          <p:cNvSpPr/>
          <p:nvPr/>
        </p:nvSpPr>
        <p:spPr>
          <a:xfrm rot="5400000">
            <a:off x="6313551" y="1815223"/>
            <a:ext cx="343163" cy="151279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214968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Defining</a:t>
            </a:r>
            <a:r>
              <a:rPr lang="sv-SE" dirty="0" smtClean="0"/>
              <a:t> design </a:t>
            </a:r>
            <a:r>
              <a:rPr lang="sv-SE" dirty="0"/>
              <a:t>s</a:t>
            </a:r>
            <a:r>
              <a:rPr lang="sv-SE" dirty="0" smtClean="0"/>
              <a:t>cience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00" y="1275534"/>
            <a:ext cx="6850800" cy="3240432"/>
          </a:xfrm>
        </p:spPr>
        <p:txBody>
          <a:bodyPr/>
          <a:lstStyle/>
          <a:p>
            <a:pPr hangingPunct="0"/>
            <a:r>
              <a:rPr lang="en-GB" sz="1600" b="1" i="1" dirty="0"/>
              <a:t>Design science</a:t>
            </a:r>
            <a:r>
              <a:rPr lang="en-GB" sz="1600" b="1" dirty="0"/>
              <a:t> </a:t>
            </a:r>
            <a:r>
              <a:rPr lang="en-GB" sz="1600" dirty="0"/>
              <a:t>is the scientific study and creation of </a:t>
            </a:r>
            <a:r>
              <a:rPr lang="en-GB" sz="1600" b="1" dirty="0"/>
              <a:t>artefacts</a:t>
            </a:r>
            <a:r>
              <a:rPr lang="en-GB" sz="1600" dirty="0"/>
              <a:t> as they are </a:t>
            </a:r>
            <a:r>
              <a:rPr lang="en-GB" sz="1600" b="1" dirty="0"/>
              <a:t>developed and used by people </a:t>
            </a:r>
            <a:r>
              <a:rPr lang="en-GB" sz="1600" dirty="0"/>
              <a:t>with the goal of </a:t>
            </a:r>
            <a:r>
              <a:rPr lang="en-GB" sz="1600" b="1" dirty="0"/>
              <a:t>solving practical problems </a:t>
            </a:r>
            <a:r>
              <a:rPr lang="en-GB" sz="1600" dirty="0"/>
              <a:t>of general </a:t>
            </a:r>
            <a:r>
              <a:rPr lang="en-GB" sz="1600" dirty="0" smtClean="0"/>
              <a:t>interest</a:t>
            </a:r>
          </a:p>
          <a:p>
            <a:pPr marL="0" indent="0">
              <a:buNone/>
            </a:pPr>
            <a:endParaRPr lang="fi-FI" dirty="0" smtClean="0"/>
          </a:p>
          <a:p>
            <a:pPr marL="0" indent="0">
              <a:buNone/>
            </a:pPr>
            <a:endParaRPr lang="fi-FI" dirty="0" smtClean="0"/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31810" y="2488366"/>
            <a:ext cx="5352424" cy="265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2757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Defining</a:t>
            </a:r>
            <a:r>
              <a:rPr lang="sv-SE" dirty="0" smtClean="0"/>
              <a:t> </a:t>
            </a:r>
            <a:r>
              <a:rPr lang="sv-SE" dirty="0" err="1" smtClean="0"/>
              <a:t>artefact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600" dirty="0"/>
              <a:t>An </a:t>
            </a:r>
            <a:r>
              <a:rPr lang="en-GB" sz="1600" b="1" i="1" dirty="0"/>
              <a:t>artefact</a:t>
            </a:r>
            <a:r>
              <a:rPr lang="en-GB" sz="1600" i="1" dirty="0"/>
              <a:t> </a:t>
            </a:r>
            <a:r>
              <a:rPr lang="en-GB" sz="1600" dirty="0"/>
              <a:t>is an object made by humans with the intention </a:t>
            </a:r>
            <a:r>
              <a:rPr lang="en-GB" sz="1600" dirty="0" smtClean="0"/>
              <a:t>to be </a:t>
            </a:r>
            <a:r>
              <a:rPr lang="en-GB" sz="1600" b="1" dirty="0"/>
              <a:t>used to address a practical </a:t>
            </a:r>
            <a:r>
              <a:rPr lang="en-GB" sz="1600" b="1" dirty="0" smtClean="0"/>
              <a:t>problem</a:t>
            </a:r>
            <a:r>
              <a:rPr lang="en-GB" sz="1600" dirty="0" smtClean="0"/>
              <a:t> in a </a:t>
            </a:r>
            <a:r>
              <a:rPr lang="en-GB" sz="1600" b="1" dirty="0" smtClean="0"/>
              <a:t>practice</a:t>
            </a:r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31810" y="2436146"/>
            <a:ext cx="5352424" cy="270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9666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60874" y="30736"/>
            <a:ext cx="1352645" cy="11758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627534"/>
            <a:ext cx="7902295" cy="596700"/>
          </a:xfrm>
        </p:spPr>
        <p:txBody>
          <a:bodyPr/>
          <a:lstStyle/>
          <a:p>
            <a:r>
              <a:rPr lang="sv-SE" dirty="0" err="1" smtClean="0"/>
              <a:t>Artefact</a:t>
            </a:r>
            <a:r>
              <a:rPr lang="sv-SE" dirty="0" smtClean="0"/>
              <a:t> </a:t>
            </a:r>
            <a:r>
              <a:rPr lang="sv-SE" dirty="0" err="1" smtClean="0"/>
              <a:t>types</a:t>
            </a:r>
            <a:r>
              <a:rPr lang="sv-SE" dirty="0" smtClean="0"/>
              <a:t> in information systems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00" y="1358461"/>
            <a:ext cx="3365062" cy="3695098"/>
          </a:xfrm>
        </p:spPr>
        <p:txBody>
          <a:bodyPr>
            <a:normAutofit/>
          </a:bodyPr>
          <a:lstStyle/>
          <a:p>
            <a:r>
              <a:rPr lang="fi-FI" sz="1600" dirty="0" smtClean="0"/>
              <a:t>IT </a:t>
            </a:r>
            <a:r>
              <a:rPr lang="fi-FI" sz="1600" dirty="0" err="1" smtClean="0"/>
              <a:t>system</a:t>
            </a:r>
            <a:r>
              <a:rPr lang="fi-FI" sz="1600" dirty="0" smtClean="0"/>
              <a:t>  </a:t>
            </a:r>
          </a:p>
          <a:p>
            <a:r>
              <a:rPr lang="fi-FI" sz="1600" dirty="0" err="1" smtClean="0"/>
              <a:t>Prototype</a:t>
            </a:r>
            <a:r>
              <a:rPr lang="fi-FI" sz="1600" dirty="0" smtClean="0"/>
              <a:t> of an IT system</a:t>
            </a:r>
          </a:p>
          <a:p>
            <a:r>
              <a:rPr lang="fi-FI" sz="1600" dirty="0" smtClean="0"/>
              <a:t>Method</a:t>
            </a:r>
          </a:p>
          <a:p>
            <a:r>
              <a:rPr lang="fi-FI" sz="1600" dirty="0" err="1" smtClean="0"/>
              <a:t>Model</a:t>
            </a:r>
            <a:endParaRPr lang="fi-FI" sz="1600" dirty="0" smtClean="0"/>
          </a:p>
          <a:p>
            <a:r>
              <a:rPr lang="fi-FI" sz="1600" dirty="0" err="1" smtClean="0"/>
              <a:t>Guidelines</a:t>
            </a:r>
            <a:endParaRPr lang="fi-FI" sz="1600" dirty="0" smtClean="0"/>
          </a:p>
          <a:p>
            <a:r>
              <a:rPr lang="fi-FI" sz="1600" dirty="0" err="1" smtClean="0"/>
              <a:t>Requirements</a:t>
            </a:r>
            <a:endParaRPr lang="fi-FI" sz="1600" dirty="0" smtClean="0"/>
          </a:p>
          <a:p>
            <a:endParaRPr lang="fi-FI" dirty="0" smtClean="0"/>
          </a:p>
          <a:p>
            <a:pPr marL="0" indent="0">
              <a:buNone/>
            </a:pPr>
            <a:endParaRPr lang="fi-FI" dirty="0" smtClean="0"/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978518" y="1358461"/>
            <a:ext cx="3365062" cy="3695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ts val="2900"/>
              </a:lnSpc>
              <a:spcBef>
                <a:spcPct val="20000"/>
              </a:spcBef>
              <a:buSzPct val="93000"/>
              <a:buFont typeface="Verdana" pitchFamily="34" charset="0"/>
              <a:buChar char="●"/>
              <a:defRPr sz="2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600" dirty="0" err="1" smtClean="0"/>
              <a:t>Algorithm</a:t>
            </a:r>
            <a:endParaRPr lang="fi-FI" sz="1600" dirty="0" smtClean="0"/>
          </a:p>
          <a:p>
            <a:r>
              <a:rPr lang="fi-FI" sz="1600" dirty="0" err="1" smtClean="0"/>
              <a:t>Notation</a:t>
            </a:r>
            <a:endParaRPr lang="fi-FI" sz="1600" dirty="0" smtClean="0"/>
          </a:p>
          <a:p>
            <a:r>
              <a:rPr lang="fi-FI" sz="1600" dirty="0" err="1" smtClean="0"/>
              <a:t>Metric</a:t>
            </a:r>
            <a:endParaRPr lang="fi-FI" sz="1600" dirty="0" smtClean="0"/>
          </a:p>
          <a:p>
            <a:r>
              <a:rPr lang="fi-FI" sz="1600" dirty="0" err="1" smtClean="0"/>
              <a:t>Pattern</a:t>
            </a:r>
            <a:endParaRPr lang="fi-FI" sz="1600" dirty="0" smtClean="0"/>
          </a:p>
          <a:p>
            <a:r>
              <a:rPr lang="fi-FI" sz="1600" dirty="0" err="1" smtClean="0"/>
              <a:t>Socio</a:t>
            </a:r>
            <a:r>
              <a:rPr lang="fi-FI" sz="1600" dirty="0" smtClean="0"/>
              <a:t>-Technical </a:t>
            </a:r>
            <a:r>
              <a:rPr lang="fi-FI" sz="1600" dirty="0" err="1" smtClean="0"/>
              <a:t>system</a:t>
            </a:r>
            <a:endParaRPr lang="fi-FI" sz="1600" dirty="0" smtClean="0"/>
          </a:p>
          <a:p>
            <a:r>
              <a:rPr lang="fi-FI" sz="1600" dirty="0" smtClean="0"/>
              <a:t>…</a:t>
            </a:r>
          </a:p>
          <a:p>
            <a:endParaRPr lang="fi-FI" dirty="0" smtClean="0"/>
          </a:p>
          <a:p>
            <a:pPr marL="0" indent="0">
              <a:buFont typeface="Verdana" pitchFamily="34" charset="0"/>
              <a:buNone/>
            </a:pPr>
            <a:endParaRPr lang="fi-FI" dirty="0" smtClean="0"/>
          </a:p>
          <a:p>
            <a:pPr marL="0" indent="0">
              <a:buFont typeface="Verdana" pitchFamily="34" charset="0"/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2916663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728" y="1448402"/>
            <a:ext cx="8584442" cy="33692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i-FI" sz="1600" dirty="0" err="1" smtClean="0"/>
              <a:t>Usually</a:t>
            </a:r>
            <a:r>
              <a:rPr lang="fi-FI" sz="1600" dirty="0" smtClean="0"/>
              <a:t>, </a:t>
            </a:r>
            <a:r>
              <a:rPr lang="fi-FI" sz="1600" b="1" dirty="0" err="1" smtClean="0"/>
              <a:t>four</a:t>
            </a:r>
            <a:r>
              <a:rPr lang="fi-FI" sz="1600" b="1" dirty="0" smtClean="0"/>
              <a:t> </a:t>
            </a:r>
            <a:r>
              <a:rPr lang="fi-FI" sz="1600" b="1" dirty="0" err="1" smtClean="0"/>
              <a:t>types</a:t>
            </a:r>
            <a:r>
              <a:rPr lang="fi-FI" sz="1600" b="1" dirty="0" smtClean="0"/>
              <a:t> of </a:t>
            </a:r>
            <a:r>
              <a:rPr lang="fi-FI" sz="1600" b="1" dirty="0" err="1" smtClean="0"/>
              <a:t>artefacts</a:t>
            </a:r>
            <a:r>
              <a:rPr lang="fi-FI" sz="1600" b="1" dirty="0" smtClean="0"/>
              <a:t> </a:t>
            </a:r>
            <a:r>
              <a:rPr lang="fi-FI" sz="1600" dirty="0" err="1" smtClean="0"/>
              <a:t>are</a:t>
            </a:r>
            <a:r>
              <a:rPr lang="fi-FI" sz="1600" dirty="0" smtClean="0"/>
              <a:t> </a:t>
            </a:r>
            <a:r>
              <a:rPr lang="fi-FI" sz="1600" dirty="0" err="1" smtClean="0"/>
              <a:t>presented</a:t>
            </a:r>
            <a:r>
              <a:rPr lang="fi-FI" sz="1600" dirty="0" smtClean="0"/>
              <a:t> </a:t>
            </a:r>
            <a:r>
              <a:rPr lang="fi-FI" sz="1600" dirty="0" err="1" smtClean="0"/>
              <a:t>when</a:t>
            </a:r>
            <a:r>
              <a:rPr lang="fi-FI" sz="1600" dirty="0" smtClean="0"/>
              <a:t> </a:t>
            </a:r>
            <a:r>
              <a:rPr lang="fi-FI" sz="1600" dirty="0" err="1" smtClean="0"/>
              <a:t>introduce</a:t>
            </a:r>
            <a:r>
              <a:rPr lang="fi-FI" sz="1600" dirty="0" smtClean="0"/>
              <a:t> design science (</a:t>
            </a:r>
            <a:r>
              <a:rPr lang="sv-SE" sz="1600" dirty="0" err="1"/>
              <a:t>March</a:t>
            </a:r>
            <a:r>
              <a:rPr lang="sv-SE" sz="1600" dirty="0"/>
              <a:t> &amp; Smith, </a:t>
            </a:r>
            <a:r>
              <a:rPr lang="sv-SE" sz="1600" dirty="0" smtClean="0"/>
              <a:t>1995)</a:t>
            </a:r>
            <a:r>
              <a:rPr lang="fi-FI" sz="1600" dirty="0" smtClean="0"/>
              <a:t>:</a:t>
            </a:r>
          </a:p>
          <a:p>
            <a:r>
              <a:rPr lang="fi-FI" sz="1400" b="1" dirty="0" smtClean="0"/>
              <a:t>Construct (</a:t>
            </a:r>
            <a:r>
              <a:rPr lang="zh-CN" altLang="en-US" sz="1400" b="1" dirty="0" smtClean="0"/>
              <a:t>构想，观念</a:t>
            </a:r>
            <a:r>
              <a:rPr lang="fi-FI" sz="1400" b="1" dirty="0" smtClean="0"/>
              <a:t>)  </a:t>
            </a:r>
            <a:r>
              <a:rPr lang="fi-FI" sz="1400" dirty="0" smtClean="0"/>
              <a:t>– is a term, notation, concept needed for formulate problems and their possible solutions</a:t>
            </a:r>
            <a:endParaRPr lang="fi-FI" sz="1400" dirty="0"/>
          </a:p>
          <a:p>
            <a:r>
              <a:rPr lang="fi-FI" sz="1400" b="1" dirty="0" err="1" smtClean="0"/>
              <a:t>Model</a:t>
            </a:r>
            <a:r>
              <a:rPr lang="fi-FI" sz="1400" dirty="0" smtClean="0"/>
              <a:t> – is a </a:t>
            </a:r>
            <a:r>
              <a:rPr lang="fi-FI" sz="1400" dirty="0" err="1" smtClean="0"/>
              <a:t>representation</a:t>
            </a:r>
            <a:r>
              <a:rPr lang="fi-FI" sz="1400" dirty="0" smtClean="0"/>
              <a:t> of </a:t>
            </a:r>
            <a:r>
              <a:rPr lang="fi-FI" sz="1400" dirty="0" err="1" smtClean="0"/>
              <a:t>possible</a:t>
            </a:r>
            <a:r>
              <a:rPr lang="fi-FI" sz="1400" dirty="0" smtClean="0"/>
              <a:t> </a:t>
            </a:r>
            <a:r>
              <a:rPr lang="fi-FI" sz="1400" dirty="0" err="1" smtClean="0"/>
              <a:t>solution</a:t>
            </a:r>
            <a:r>
              <a:rPr lang="fi-FI" sz="1400" dirty="0" smtClean="0"/>
              <a:t>, </a:t>
            </a:r>
            <a:r>
              <a:rPr lang="fi-FI" sz="1400" dirty="0" err="1" smtClean="0"/>
              <a:t>that</a:t>
            </a:r>
            <a:r>
              <a:rPr lang="fi-FI" sz="1400" dirty="0" smtClean="0"/>
              <a:t> is, a </a:t>
            </a:r>
            <a:r>
              <a:rPr lang="fi-FI" sz="1400" dirty="0" err="1" smtClean="0"/>
              <a:t>model</a:t>
            </a:r>
            <a:r>
              <a:rPr lang="fi-FI" sz="1400" dirty="0" smtClean="0"/>
              <a:t> </a:t>
            </a:r>
            <a:r>
              <a:rPr lang="fi-FI" sz="1400" dirty="0" err="1" smtClean="0"/>
              <a:t>can</a:t>
            </a:r>
            <a:r>
              <a:rPr lang="fi-FI" sz="1400" dirty="0" smtClean="0"/>
              <a:t> </a:t>
            </a:r>
            <a:r>
              <a:rPr lang="fi-FI" sz="1400" dirty="0" err="1" smtClean="0"/>
              <a:t>be</a:t>
            </a:r>
            <a:r>
              <a:rPr lang="fi-FI" sz="1400" dirty="0" smtClean="0"/>
              <a:t> </a:t>
            </a:r>
            <a:r>
              <a:rPr lang="fi-FI" sz="1400" dirty="0" err="1" smtClean="0"/>
              <a:t>used</a:t>
            </a:r>
            <a:r>
              <a:rPr lang="fi-FI" sz="1400" dirty="0" smtClean="0"/>
              <a:t> for </a:t>
            </a:r>
            <a:r>
              <a:rPr lang="fi-FI" sz="1400" dirty="0" err="1" smtClean="0"/>
              <a:t>supporting</a:t>
            </a:r>
            <a:r>
              <a:rPr lang="fi-FI" sz="1400" dirty="0" smtClean="0"/>
              <a:t> </a:t>
            </a:r>
            <a:r>
              <a:rPr lang="fi-FI" sz="1400" dirty="0" err="1" smtClean="0"/>
              <a:t>construction</a:t>
            </a:r>
            <a:r>
              <a:rPr lang="fi-FI" sz="1400" dirty="0" smtClean="0"/>
              <a:t> of </a:t>
            </a:r>
            <a:r>
              <a:rPr lang="fi-FI" sz="1400" dirty="0" err="1" smtClean="0"/>
              <a:t>other</a:t>
            </a:r>
            <a:r>
              <a:rPr lang="fi-FI" sz="1400" dirty="0" smtClean="0"/>
              <a:t> </a:t>
            </a:r>
            <a:r>
              <a:rPr lang="fi-FI" sz="1400" dirty="0" err="1" smtClean="0"/>
              <a:t>artefact</a:t>
            </a:r>
            <a:endParaRPr lang="fi-FI" sz="1400" dirty="0" smtClean="0"/>
          </a:p>
          <a:p>
            <a:r>
              <a:rPr lang="fi-FI" sz="1400" b="1" dirty="0" smtClean="0"/>
              <a:t>Method</a:t>
            </a:r>
            <a:r>
              <a:rPr lang="fi-FI" sz="1400" dirty="0" smtClean="0"/>
              <a:t> – </a:t>
            </a:r>
            <a:r>
              <a:rPr lang="fi-FI" sz="1400" dirty="0" err="1" smtClean="0"/>
              <a:t>defined</a:t>
            </a:r>
            <a:r>
              <a:rPr lang="fi-FI" sz="1400" dirty="0" smtClean="0"/>
              <a:t> </a:t>
            </a:r>
            <a:r>
              <a:rPr lang="fi-FI" sz="1400" dirty="0" err="1" smtClean="0"/>
              <a:t>guidelines</a:t>
            </a:r>
            <a:r>
              <a:rPr lang="fi-FI" sz="1400" dirty="0" smtClean="0"/>
              <a:t> and </a:t>
            </a:r>
            <a:r>
              <a:rPr lang="fi-FI" sz="1400" dirty="0" err="1" smtClean="0"/>
              <a:t>processes</a:t>
            </a:r>
            <a:r>
              <a:rPr lang="fi-FI" sz="1400" dirty="0" smtClean="0"/>
              <a:t> of </a:t>
            </a:r>
            <a:r>
              <a:rPr lang="fi-FI" sz="1400" dirty="0" err="1" smtClean="0"/>
              <a:t>how</a:t>
            </a:r>
            <a:r>
              <a:rPr lang="fi-FI" sz="1400" dirty="0" smtClean="0"/>
              <a:t> to </a:t>
            </a:r>
            <a:r>
              <a:rPr lang="fi-FI" sz="1400" dirty="0" err="1" smtClean="0"/>
              <a:t>solve</a:t>
            </a:r>
            <a:r>
              <a:rPr lang="fi-FI" sz="1400" dirty="0" smtClean="0"/>
              <a:t> </a:t>
            </a:r>
            <a:r>
              <a:rPr lang="fi-FI" sz="1400" dirty="0" err="1" smtClean="0"/>
              <a:t>problems</a:t>
            </a:r>
            <a:r>
              <a:rPr lang="fi-FI" sz="1400" dirty="0" smtClean="0"/>
              <a:t> and </a:t>
            </a:r>
            <a:r>
              <a:rPr lang="fi-FI" sz="1400" dirty="0" err="1" smtClean="0"/>
              <a:t>achieve</a:t>
            </a:r>
            <a:r>
              <a:rPr lang="fi-FI" sz="1400" dirty="0" smtClean="0"/>
              <a:t> </a:t>
            </a:r>
            <a:r>
              <a:rPr lang="fi-FI" sz="1400" dirty="0" err="1" smtClean="0"/>
              <a:t>goals</a:t>
            </a:r>
            <a:endParaRPr lang="fi-FI" sz="1400" dirty="0" smtClean="0"/>
          </a:p>
          <a:p>
            <a:r>
              <a:rPr lang="fi-FI" sz="1400" b="1" dirty="0" smtClean="0"/>
              <a:t>Instantiation </a:t>
            </a:r>
            <a:r>
              <a:rPr lang="en-US" sz="1400" b="1" dirty="0" smtClean="0"/>
              <a:t>(</a:t>
            </a:r>
            <a:r>
              <a:rPr lang="zh-CN" altLang="en-US" sz="1400" b="1" dirty="0" smtClean="0"/>
              <a:t>实例</a:t>
            </a:r>
            <a:r>
              <a:rPr lang="en-US" sz="1400" b="1" dirty="0" smtClean="0"/>
              <a:t>)</a:t>
            </a:r>
            <a:r>
              <a:rPr lang="fi-FI" sz="1400" dirty="0" smtClean="0"/>
              <a:t> </a:t>
            </a:r>
            <a:r>
              <a:rPr lang="fi-FI" sz="1400" dirty="0"/>
              <a:t>– is a </a:t>
            </a:r>
            <a:r>
              <a:rPr lang="fi-FI" sz="1400" dirty="0" smtClean="0"/>
              <a:t>working system that can be used in practice</a:t>
            </a:r>
            <a:endParaRPr lang="fi-FI" sz="1600" dirty="0" smtClean="0"/>
          </a:p>
          <a:p>
            <a:endParaRPr lang="fi-FI" dirty="0" smtClean="0"/>
          </a:p>
          <a:p>
            <a:pPr marL="0" indent="0">
              <a:buNone/>
            </a:pPr>
            <a:endParaRPr lang="fi-FI" dirty="0" smtClean="0"/>
          </a:p>
          <a:p>
            <a:pPr marL="0" indent="0">
              <a:buNone/>
            </a:pPr>
            <a:endParaRPr lang="sv-SE" dirty="0"/>
          </a:p>
        </p:txBody>
      </p:sp>
      <p:sp>
        <p:nvSpPr>
          <p:cNvPr id="6" name="Rectangle 5"/>
          <p:cNvSpPr/>
          <p:nvPr/>
        </p:nvSpPr>
        <p:spPr>
          <a:xfrm>
            <a:off x="7760874" y="30736"/>
            <a:ext cx="1352645" cy="11758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91999" y="627534"/>
            <a:ext cx="7902295" cy="596700"/>
          </a:xfrm>
        </p:spPr>
        <p:txBody>
          <a:bodyPr/>
          <a:lstStyle/>
          <a:p>
            <a:r>
              <a:rPr lang="sv-SE" dirty="0" err="1" smtClean="0"/>
              <a:t>Artefact</a:t>
            </a:r>
            <a:r>
              <a:rPr lang="sv-SE" dirty="0" smtClean="0"/>
              <a:t> </a:t>
            </a:r>
            <a:r>
              <a:rPr lang="sv-SE" dirty="0" err="1" smtClean="0"/>
              <a:t>types</a:t>
            </a:r>
            <a:r>
              <a:rPr lang="sv-SE" dirty="0" smtClean="0"/>
              <a:t> in information systems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233650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Artefact</a:t>
            </a:r>
            <a:r>
              <a:rPr lang="sv-SE" dirty="0" smtClean="0"/>
              <a:t> and </a:t>
            </a:r>
            <a:r>
              <a:rPr lang="sv-SE" dirty="0" err="1" smtClean="0"/>
              <a:t>practice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600" dirty="0"/>
              <a:t>An </a:t>
            </a:r>
            <a:r>
              <a:rPr lang="en-GB" sz="1600" b="1" i="1" dirty="0"/>
              <a:t>artefact</a:t>
            </a:r>
            <a:r>
              <a:rPr lang="en-GB" sz="1600" i="1" dirty="0"/>
              <a:t> </a:t>
            </a:r>
            <a:r>
              <a:rPr lang="en-GB" sz="1600" dirty="0"/>
              <a:t>is an object made by humans with the intention </a:t>
            </a:r>
            <a:r>
              <a:rPr lang="en-GB" sz="1600" dirty="0" smtClean="0"/>
              <a:t>to be </a:t>
            </a:r>
            <a:r>
              <a:rPr lang="en-GB" sz="1600" b="1" dirty="0"/>
              <a:t>used to address a practical </a:t>
            </a:r>
            <a:r>
              <a:rPr lang="en-GB" sz="1600" b="1" dirty="0" smtClean="0"/>
              <a:t>problem</a:t>
            </a:r>
            <a:r>
              <a:rPr lang="en-GB" sz="1600" dirty="0" smtClean="0"/>
              <a:t> in a </a:t>
            </a:r>
            <a:r>
              <a:rPr lang="en-GB" sz="1600" b="1" dirty="0" smtClean="0"/>
              <a:t>practice</a:t>
            </a:r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31810" y="2436146"/>
            <a:ext cx="5352424" cy="270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6640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Defining</a:t>
            </a:r>
            <a:r>
              <a:rPr lang="sv-SE" dirty="0" smtClean="0"/>
              <a:t> practice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1600" dirty="0"/>
              <a:t>A </a:t>
            </a:r>
            <a:r>
              <a:rPr lang="en-GB" sz="1600" b="1" i="1" dirty="0"/>
              <a:t>practice</a:t>
            </a:r>
            <a:r>
              <a:rPr lang="en-GB" sz="1600" dirty="0"/>
              <a:t> is a set </a:t>
            </a:r>
            <a:r>
              <a:rPr lang="en-GB" sz="1600" b="1" dirty="0"/>
              <a:t>of human activities performed regularly </a:t>
            </a:r>
            <a:r>
              <a:rPr lang="en-GB" sz="1600" dirty="0"/>
              <a:t>and seen as </a:t>
            </a:r>
            <a:r>
              <a:rPr lang="en-GB" sz="1600" b="1" dirty="0"/>
              <a:t>meaningfully</a:t>
            </a:r>
            <a:r>
              <a:rPr lang="en-GB" sz="1600" dirty="0"/>
              <a:t> related to each other by the people participating in them</a:t>
            </a:r>
            <a:r>
              <a:rPr lang="en-GB" sz="1600" dirty="0" smtClean="0"/>
              <a:t>.</a:t>
            </a:r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31810" y="2436146"/>
            <a:ext cx="5352424" cy="270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4688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An example of a practice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600" dirty="0" smtClean="0"/>
              <a:t>The </a:t>
            </a:r>
            <a:r>
              <a:rPr lang="en-GB" sz="1600" b="1" dirty="0"/>
              <a:t>practice of </a:t>
            </a:r>
            <a:r>
              <a:rPr lang="en-GB" sz="1600" b="1" dirty="0" smtClean="0"/>
              <a:t>dentists</a:t>
            </a:r>
            <a:r>
              <a:rPr lang="en-GB" sz="1600" dirty="0" smtClean="0"/>
              <a:t> is an example a practice</a:t>
            </a:r>
          </a:p>
          <a:p>
            <a:r>
              <a:rPr lang="en-GB" sz="1600" dirty="0" smtClean="0"/>
              <a:t>Dentist are engaging </a:t>
            </a:r>
            <a:r>
              <a:rPr lang="en-GB" sz="1600" dirty="0"/>
              <a:t>in cleaning teeth, drilling teeth, taking X-rays, and many other activities. </a:t>
            </a:r>
            <a:endParaRPr lang="en-GB" sz="1600" dirty="0" smtClean="0"/>
          </a:p>
          <a:p>
            <a:r>
              <a:rPr lang="en-GB" sz="1600" dirty="0" smtClean="0"/>
              <a:t>To carry out the practice, dentists make </a:t>
            </a:r>
            <a:r>
              <a:rPr lang="en-GB" sz="1600" b="1" dirty="0"/>
              <a:t>use of </a:t>
            </a:r>
            <a:r>
              <a:rPr lang="en-GB" sz="1600" b="1" dirty="0" smtClean="0"/>
              <a:t>artefacts</a:t>
            </a:r>
            <a:r>
              <a:rPr lang="en-GB" sz="1600" dirty="0" smtClean="0"/>
              <a:t>, such as pliers</a:t>
            </a:r>
            <a:r>
              <a:rPr lang="en-GB" sz="1600" dirty="0"/>
              <a:t>, drills, X-ray machines, and other tools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868726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7482570" cy="596700"/>
          </a:xfrm>
        </p:spPr>
        <p:txBody>
          <a:bodyPr/>
          <a:lstStyle/>
          <a:p>
            <a:r>
              <a:rPr lang="sv-SE" dirty="0" err="1" smtClean="0"/>
              <a:t>What</a:t>
            </a:r>
            <a:r>
              <a:rPr lang="sv-SE" dirty="0" smtClean="0"/>
              <a:t> </a:t>
            </a:r>
            <a:r>
              <a:rPr lang="sv-SE" dirty="0" err="1" smtClean="0"/>
              <a:t>characterize</a:t>
            </a:r>
            <a:r>
              <a:rPr lang="sv-SE" dirty="0" smtClean="0"/>
              <a:t> design science? </a:t>
            </a:r>
            <a:endParaRPr lang="sv-SE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09075" y="1394085"/>
            <a:ext cx="5202278" cy="3028013"/>
          </a:xfrm>
          <a:prstGeom prst="rect">
            <a:avLst/>
          </a:prstGeom>
        </p:spPr>
      </p:pic>
      <p:cxnSp>
        <p:nvCxnSpPr>
          <p:cNvPr id="49" name="Straight Connector 48"/>
          <p:cNvCxnSpPr/>
          <p:nvPr/>
        </p:nvCxnSpPr>
        <p:spPr>
          <a:xfrm>
            <a:off x="385729" y="3364856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148629" y="3369174"/>
            <a:ext cx="2224159" cy="172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32014" y="1825453"/>
            <a:ext cx="187136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/>
            <a:r>
              <a:rPr lang="en-GB" sz="1400" dirty="0"/>
              <a:t>The </a:t>
            </a:r>
            <a:r>
              <a:rPr lang="en-GB" sz="1400" b="1" dirty="0"/>
              <a:t>artefact developed </a:t>
            </a:r>
            <a:r>
              <a:rPr lang="en-GB" sz="1400" dirty="0"/>
              <a:t>in a design science </a:t>
            </a:r>
            <a:r>
              <a:rPr lang="en-GB" sz="1400" dirty="0" smtClean="0"/>
              <a:t>project </a:t>
            </a:r>
            <a:r>
              <a:rPr lang="en-GB" sz="1400" b="1" dirty="0"/>
              <a:t>needs to be novel, something new and original</a:t>
            </a:r>
            <a:r>
              <a:rPr lang="en-GB" sz="1400" dirty="0"/>
              <a:t>, not previously developed</a:t>
            </a:r>
          </a:p>
        </p:txBody>
      </p:sp>
      <p:sp>
        <p:nvSpPr>
          <p:cNvPr id="8" name="Oval 7"/>
          <p:cNvSpPr/>
          <p:nvPr/>
        </p:nvSpPr>
        <p:spPr>
          <a:xfrm>
            <a:off x="195638" y="1595098"/>
            <a:ext cx="2065070" cy="2061147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381674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7482570" cy="596700"/>
          </a:xfrm>
        </p:spPr>
        <p:txBody>
          <a:bodyPr/>
          <a:lstStyle/>
          <a:p>
            <a:r>
              <a:rPr lang="sv-SE" dirty="0" err="1" smtClean="0"/>
              <a:t>What</a:t>
            </a:r>
            <a:r>
              <a:rPr lang="sv-SE" dirty="0" smtClean="0"/>
              <a:t> </a:t>
            </a:r>
            <a:r>
              <a:rPr lang="sv-SE" dirty="0" err="1" smtClean="0"/>
              <a:t>characterize</a:t>
            </a:r>
            <a:r>
              <a:rPr lang="sv-SE" dirty="0" smtClean="0"/>
              <a:t> design science? </a:t>
            </a:r>
            <a:endParaRPr lang="sv-SE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09075" y="1394085"/>
            <a:ext cx="5202278" cy="3028013"/>
          </a:xfrm>
          <a:prstGeom prst="rect">
            <a:avLst/>
          </a:prstGeom>
        </p:spPr>
      </p:pic>
      <p:cxnSp>
        <p:nvCxnSpPr>
          <p:cNvPr id="39" name="Straight Connector 38"/>
          <p:cNvCxnSpPr/>
          <p:nvPr/>
        </p:nvCxnSpPr>
        <p:spPr>
          <a:xfrm flipV="1">
            <a:off x="1721843" y="3571284"/>
            <a:ext cx="1611871" cy="4168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977305" y="3980295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72630" y="3992451"/>
            <a:ext cx="1871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 smtClean="0"/>
              <a:t>The </a:t>
            </a:r>
            <a:r>
              <a:rPr lang="sv-SE" sz="1400" b="1" dirty="0" err="1" smtClean="0"/>
              <a:t>artefact</a:t>
            </a:r>
            <a:r>
              <a:rPr lang="sv-SE" sz="1400" b="1" dirty="0" smtClean="0"/>
              <a:t> is the solution </a:t>
            </a:r>
            <a:r>
              <a:rPr lang="sv-SE" sz="1400" b="1" dirty="0" err="1" smtClean="0"/>
              <a:t>that</a:t>
            </a:r>
            <a:r>
              <a:rPr lang="sv-SE" sz="1400" b="1" dirty="0" smtClean="0"/>
              <a:t> </a:t>
            </a:r>
            <a:r>
              <a:rPr lang="sv-SE" sz="1400" b="1" dirty="0" err="1" smtClean="0"/>
              <a:t>needs</a:t>
            </a:r>
            <a:r>
              <a:rPr lang="sv-SE" sz="1400" b="1" dirty="0" smtClean="0"/>
              <a:t> to be </a:t>
            </a:r>
            <a:r>
              <a:rPr lang="sv-SE" sz="1400" b="1" dirty="0" err="1" smtClean="0"/>
              <a:t>developed</a:t>
            </a:r>
            <a:r>
              <a:rPr lang="sv-SE" sz="1400" b="1" dirty="0" smtClean="0"/>
              <a:t> </a:t>
            </a:r>
            <a:r>
              <a:rPr lang="sv-SE" sz="1400" dirty="0" smtClean="0"/>
              <a:t>to </a:t>
            </a:r>
            <a:r>
              <a:rPr lang="sv-SE" sz="1400" dirty="0" err="1" smtClean="0"/>
              <a:t>address</a:t>
            </a:r>
            <a:r>
              <a:rPr lang="sv-SE" sz="1400" dirty="0" smtClean="0"/>
              <a:t> the problem</a:t>
            </a:r>
            <a:endParaRPr lang="sv-SE" sz="1400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385729" y="3364856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148629" y="3369174"/>
            <a:ext cx="2224159" cy="172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32014" y="1825453"/>
            <a:ext cx="187136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/>
            <a:r>
              <a:rPr lang="en-GB" sz="1400" dirty="0"/>
              <a:t>The </a:t>
            </a:r>
            <a:r>
              <a:rPr lang="en-GB" sz="1400" b="1" dirty="0"/>
              <a:t>artefact developed </a:t>
            </a:r>
            <a:r>
              <a:rPr lang="en-GB" sz="1400" dirty="0"/>
              <a:t>in a design science initiative </a:t>
            </a:r>
            <a:r>
              <a:rPr lang="en-GB" sz="1400" b="1" dirty="0"/>
              <a:t>needs to be novel, something new and original</a:t>
            </a:r>
            <a:r>
              <a:rPr lang="en-GB" sz="1400" dirty="0"/>
              <a:t>, not previously developed</a:t>
            </a:r>
          </a:p>
        </p:txBody>
      </p:sp>
      <p:sp>
        <p:nvSpPr>
          <p:cNvPr id="21" name="Oval 20"/>
          <p:cNvSpPr/>
          <p:nvPr/>
        </p:nvSpPr>
        <p:spPr>
          <a:xfrm>
            <a:off x="614723" y="3953835"/>
            <a:ext cx="2065070" cy="1052524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85203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7482570" cy="596700"/>
          </a:xfrm>
        </p:spPr>
        <p:txBody>
          <a:bodyPr/>
          <a:lstStyle/>
          <a:p>
            <a:r>
              <a:rPr lang="sv-SE" dirty="0" err="1" smtClean="0"/>
              <a:t>What</a:t>
            </a:r>
            <a:r>
              <a:rPr lang="sv-SE" dirty="0" smtClean="0"/>
              <a:t> </a:t>
            </a:r>
            <a:r>
              <a:rPr lang="sv-SE" dirty="0" err="1" smtClean="0"/>
              <a:t>characterize</a:t>
            </a:r>
            <a:r>
              <a:rPr lang="sv-SE" dirty="0" smtClean="0"/>
              <a:t> design science? </a:t>
            </a:r>
            <a:endParaRPr lang="sv-SE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09075" y="1394085"/>
            <a:ext cx="5202278" cy="30280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2801" y="4423338"/>
            <a:ext cx="1871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 smtClean="0"/>
              <a:t>The </a:t>
            </a:r>
            <a:r>
              <a:rPr lang="sv-SE" sz="1400" b="1" dirty="0" err="1" smtClean="0"/>
              <a:t>artefact</a:t>
            </a:r>
            <a:r>
              <a:rPr lang="sv-SE" sz="1400" b="1" dirty="0" smtClean="0"/>
              <a:t> </a:t>
            </a:r>
            <a:r>
              <a:rPr lang="sv-SE" sz="1400" b="1" dirty="0" err="1" smtClean="0"/>
              <a:t>needs</a:t>
            </a:r>
            <a:r>
              <a:rPr lang="sv-SE" sz="1400" b="1" dirty="0" smtClean="0"/>
              <a:t> to be </a:t>
            </a:r>
            <a:r>
              <a:rPr lang="sv-SE" sz="1400" b="1" dirty="0" err="1" smtClean="0"/>
              <a:t>used</a:t>
            </a:r>
            <a:r>
              <a:rPr lang="sv-SE" sz="1400" b="1" dirty="0" smtClean="0"/>
              <a:t> in a </a:t>
            </a:r>
            <a:r>
              <a:rPr lang="sv-SE" sz="1400" b="1" dirty="0" err="1" smtClean="0"/>
              <a:t>practice</a:t>
            </a:r>
            <a:endParaRPr lang="sv-SE" sz="1400" b="1" dirty="0"/>
          </a:p>
        </p:txBody>
      </p:sp>
      <p:cxnSp>
        <p:nvCxnSpPr>
          <p:cNvPr id="15" name="Straight Connector 14"/>
          <p:cNvCxnSpPr>
            <a:stCxn id="3" idx="0"/>
          </p:cNvCxnSpPr>
          <p:nvPr/>
        </p:nvCxnSpPr>
        <p:spPr>
          <a:xfrm flipH="1" flipV="1">
            <a:off x="3372788" y="3571284"/>
            <a:ext cx="765698" cy="8520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287523" y="4437050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1721843" y="3571284"/>
            <a:ext cx="1611871" cy="4168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977305" y="3980295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72630" y="3992451"/>
            <a:ext cx="1871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 smtClean="0"/>
              <a:t>The </a:t>
            </a:r>
            <a:r>
              <a:rPr lang="sv-SE" sz="1400" b="1" dirty="0" err="1" smtClean="0"/>
              <a:t>artefact</a:t>
            </a:r>
            <a:r>
              <a:rPr lang="sv-SE" sz="1400" b="1" dirty="0" smtClean="0"/>
              <a:t> is the solution </a:t>
            </a:r>
            <a:r>
              <a:rPr lang="sv-SE" sz="1400" b="1" dirty="0" err="1" smtClean="0"/>
              <a:t>that</a:t>
            </a:r>
            <a:r>
              <a:rPr lang="sv-SE" sz="1400" b="1" dirty="0" smtClean="0"/>
              <a:t> </a:t>
            </a:r>
            <a:r>
              <a:rPr lang="sv-SE" sz="1400" b="1" dirty="0" err="1" smtClean="0"/>
              <a:t>needs</a:t>
            </a:r>
            <a:r>
              <a:rPr lang="sv-SE" sz="1400" b="1" dirty="0" smtClean="0"/>
              <a:t> to be </a:t>
            </a:r>
            <a:r>
              <a:rPr lang="sv-SE" sz="1400" b="1" dirty="0" err="1" smtClean="0"/>
              <a:t>developed</a:t>
            </a:r>
            <a:r>
              <a:rPr lang="sv-SE" sz="1400" b="1" dirty="0" smtClean="0"/>
              <a:t> </a:t>
            </a:r>
            <a:r>
              <a:rPr lang="sv-SE" sz="1400" dirty="0" smtClean="0"/>
              <a:t>to </a:t>
            </a:r>
            <a:r>
              <a:rPr lang="sv-SE" sz="1400" dirty="0" err="1" smtClean="0"/>
              <a:t>address</a:t>
            </a:r>
            <a:r>
              <a:rPr lang="sv-SE" sz="1400" dirty="0" smtClean="0"/>
              <a:t> the problem</a:t>
            </a:r>
            <a:endParaRPr lang="sv-SE" sz="1400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385729" y="3364856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148629" y="3369174"/>
            <a:ext cx="2224159" cy="172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32014" y="1825453"/>
            <a:ext cx="187136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/>
            <a:r>
              <a:rPr lang="en-GB" sz="1400" dirty="0"/>
              <a:t>The </a:t>
            </a:r>
            <a:r>
              <a:rPr lang="en-GB" sz="1400" b="1" dirty="0"/>
              <a:t>artefact developed </a:t>
            </a:r>
            <a:r>
              <a:rPr lang="en-GB" sz="1400" dirty="0"/>
              <a:t>in a design science initiative </a:t>
            </a:r>
            <a:r>
              <a:rPr lang="en-GB" sz="1400" b="1" dirty="0"/>
              <a:t>needs to be novel, something new and original</a:t>
            </a:r>
            <a:r>
              <a:rPr lang="en-GB" sz="1400" dirty="0"/>
              <a:t>, not previously developed</a:t>
            </a:r>
          </a:p>
        </p:txBody>
      </p:sp>
      <p:sp>
        <p:nvSpPr>
          <p:cNvPr id="21" name="Oval 20"/>
          <p:cNvSpPr/>
          <p:nvPr/>
        </p:nvSpPr>
        <p:spPr>
          <a:xfrm>
            <a:off x="2961907" y="4249271"/>
            <a:ext cx="2065070" cy="783548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185810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7482570" cy="596700"/>
          </a:xfrm>
        </p:spPr>
        <p:txBody>
          <a:bodyPr/>
          <a:lstStyle/>
          <a:p>
            <a:r>
              <a:rPr lang="sv-SE" dirty="0" err="1" smtClean="0"/>
              <a:t>What</a:t>
            </a:r>
            <a:r>
              <a:rPr lang="sv-SE" dirty="0" smtClean="0"/>
              <a:t> </a:t>
            </a:r>
            <a:r>
              <a:rPr lang="sv-SE" dirty="0" err="1" smtClean="0"/>
              <a:t>characterize</a:t>
            </a:r>
            <a:r>
              <a:rPr lang="sv-SE" dirty="0" smtClean="0"/>
              <a:t> design science? </a:t>
            </a:r>
            <a:endParaRPr lang="sv-SE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09075" y="1394085"/>
            <a:ext cx="5202278" cy="30280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2801" y="4423338"/>
            <a:ext cx="1871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 smtClean="0"/>
              <a:t>The </a:t>
            </a:r>
            <a:r>
              <a:rPr lang="sv-SE" sz="1400" b="1" dirty="0" err="1" smtClean="0"/>
              <a:t>artefact</a:t>
            </a:r>
            <a:r>
              <a:rPr lang="sv-SE" sz="1400" b="1" dirty="0" smtClean="0"/>
              <a:t> </a:t>
            </a:r>
            <a:r>
              <a:rPr lang="sv-SE" sz="1400" b="1" dirty="0" err="1" smtClean="0"/>
              <a:t>needs</a:t>
            </a:r>
            <a:r>
              <a:rPr lang="sv-SE" sz="1400" b="1" dirty="0" smtClean="0"/>
              <a:t> to be </a:t>
            </a:r>
            <a:r>
              <a:rPr lang="sv-SE" sz="1400" b="1" dirty="0" err="1" smtClean="0"/>
              <a:t>used</a:t>
            </a:r>
            <a:r>
              <a:rPr lang="sv-SE" sz="1400" b="1" dirty="0" smtClean="0"/>
              <a:t> in a </a:t>
            </a:r>
            <a:r>
              <a:rPr lang="sv-SE" sz="1400" b="1" dirty="0" err="1" smtClean="0"/>
              <a:t>practice</a:t>
            </a:r>
            <a:endParaRPr lang="sv-SE" sz="1400" b="1" dirty="0"/>
          </a:p>
        </p:txBody>
      </p:sp>
      <p:cxnSp>
        <p:nvCxnSpPr>
          <p:cNvPr id="15" name="Straight Connector 14"/>
          <p:cNvCxnSpPr>
            <a:stCxn id="3" idx="0"/>
          </p:cNvCxnSpPr>
          <p:nvPr/>
        </p:nvCxnSpPr>
        <p:spPr>
          <a:xfrm flipH="1" flipV="1">
            <a:off x="3372788" y="3571284"/>
            <a:ext cx="765698" cy="8520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11631" y="1657663"/>
            <a:ext cx="16935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 smtClean="0"/>
              <a:t>The </a:t>
            </a:r>
            <a:r>
              <a:rPr lang="sv-SE" sz="1400" b="1" dirty="0" smtClean="0"/>
              <a:t>problem </a:t>
            </a:r>
            <a:r>
              <a:rPr lang="sv-SE" sz="1400" b="1" dirty="0" err="1" smtClean="0"/>
              <a:t>needs</a:t>
            </a:r>
            <a:r>
              <a:rPr lang="sv-SE" sz="1400" b="1" dirty="0" smtClean="0"/>
              <a:t> to be a problem in a </a:t>
            </a:r>
            <a:r>
              <a:rPr lang="sv-SE" sz="1400" b="1" dirty="0" err="1" smtClean="0"/>
              <a:t>practice</a:t>
            </a:r>
            <a:endParaRPr lang="sv-SE" sz="1400" b="1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6395483" y="2432445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5269045" y="2467917"/>
            <a:ext cx="1926234" cy="425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287523" y="4437050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1721843" y="3571284"/>
            <a:ext cx="1611871" cy="4168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977305" y="3980295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72630" y="3992451"/>
            <a:ext cx="1871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 smtClean="0"/>
              <a:t>The </a:t>
            </a:r>
            <a:r>
              <a:rPr lang="sv-SE" sz="1400" b="1" dirty="0" err="1" smtClean="0"/>
              <a:t>artefact</a:t>
            </a:r>
            <a:r>
              <a:rPr lang="sv-SE" sz="1400" b="1" dirty="0" smtClean="0"/>
              <a:t> is the solution </a:t>
            </a:r>
            <a:r>
              <a:rPr lang="sv-SE" sz="1400" b="1" dirty="0" err="1" smtClean="0"/>
              <a:t>that</a:t>
            </a:r>
            <a:r>
              <a:rPr lang="sv-SE" sz="1400" b="1" dirty="0" smtClean="0"/>
              <a:t> </a:t>
            </a:r>
            <a:r>
              <a:rPr lang="sv-SE" sz="1400" b="1" dirty="0" err="1" smtClean="0"/>
              <a:t>needs</a:t>
            </a:r>
            <a:r>
              <a:rPr lang="sv-SE" sz="1400" b="1" dirty="0" smtClean="0"/>
              <a:t> to be </a:t>
            </a:r>
            <a:r>
              <a:rPr lang="sv-SE" sz="1400" b="1" dirty="0" err="1" smtClean="0"/>
              <a:t>developed</a:t>
            </a:r>
            <a:r>
              <a:rPr lang="sv-SE" sz="1400" b="1" dirty="0" smtClean="0"/>
              <a:t> </a:t>
            </a:r>
            <a:r>
              <a:rPr lang="sv-SE" sz="1400" dirty="0" smtClean="0"/>
              <a:t>to </a:t>
            </a:r>
            <a:r>
              <a:rPr lang="sv-SE" sz="1400" dirty="0" err="1" smtClean="0"/>
              <a:t>address</a:t>
            </a:r>
            <a:r>
              <a:rPr lang="sv-SE" sz="1400" dirty="0" smtClean="0"/>
              <a:t> the problem</a:t>
            </a:r>
            <a:endParaRPr lang="sv-SE" sz="1400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385729" y="3364856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148629" y="3369174"/>
            <a:ext cx="2224159" cy="172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32014" y="1825453"/>
            <a:ext cx="187136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/>
            <a:r>
              <a:rPr lang="en-GB" sz="1400" dirty="0"/>
              <a:t>The </a:t>
            </a:r>
            <a:r>
              <a:rPr lang="en-GB" sz="1400" b="1" dirty="0"/>
              <a:t>artefact developed </a:t>
            </a:r>
            <a:r>
              <a:rPr lang="en-GB" sz="1400" dirty="0"/>
              <a:t>in a design science initiative </a:t>
            </a:r>
            <a:r>
              <a:rPr lang="en-GB" sz="1400" b="1" dirty="0"/>
              <a:t>needs to be novel, something new and original</a:t>
            </a:r>
            <a:r>
              <a:rPr lang="en-GB" sz="1400" dirty="0"/>
              <a:t>, not previously developed</a:t>
            </a:r>
          </a:p>
        </p:txBody>
      </p:sp>
      <p:sp>
        <p:nvSpPr>
          <p:cNvPr id="21" name="Oval 20"/>
          <p:cNvSpPr/>
          <p:nvPr/>
        </p:nvSpPr>
        <p:spPr>
          <a:xfrm>
            <a:off x="6162744" y="1433678"/>
            <a:ext cx="2065070" cy="1255733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296023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7482570" cy="596700"/>
          </a:xfrm>
        </p:spPr>
        <p:txBody>
          <a:bodyPr/>
          <a:lstStyle/>
          <a:p>
            <a:r>
              <a:rPr lang="sv-SE" dirty="0" err="1" smtClean="0"/>
              <a:t>What</a:t>
            </a:r>
            <a:r>
              <a:rPr lang="sv-SE" dirty="0" smtClean="0"/>
              <a:t> </a:t>
            </a:r>
            <a:r>
              <a:rPr lang="sv-SE" dirty="0" err="1" smtClean="0"/>
              <a:t>characterize</a:t>
            </a:r>
            <a:r>
              <a:rPr lang="sv-SE" dirty="0" smtClean="0"/>
              <a:t> design science? </a:t>
            </a:r>
            <a:endParaRPr lang="sv-SE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09075" y="1394085"/>
            <a:ext cx="5202278" cy="30280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2801" y="4423338"/>
            <a:ext cx="1871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 smtClean="0"/>
              <a:t>The </a:t>
            </a:r>
            <a:r>
              <a:rPr lang="sv-SE" sz="1400" b="1" dirty="0" err="1" smtClean="0"/>
              <a:t>artefact</a:t>
            </a:r>
            <a:r>
              <a:rPr lang="sv-SE" sz="1400" b="1" dirty="0" smtClean="0"/>
              <a:t> </a:t>
            </a:r>
            <a:r>
              <a:rPr lang="sv-SE" sz="1400" b="1" dirty="0" err="1" smtClean="0"/>
              <a:t>needs</a:t>
            </a:r>
            <a:r>
              <a:rPr lang="sv-SE" sz="1400" b="1" dirty="0" smtClean="0"/>
              <a:t> to be </a:t>
            </a:r>
            <a:r>
              <a:rPr lang="sv-SE" sz="1400" b="1" dirty="0" err="1" smtClean="0"/>
              <a:t>used</a:t>
            </a:r>
            <a:r>
              <a:rPr lang="sv-SE" sz="1400" b="1" dirty="0" smtClean="0"/>
              <a:t> in a </a:t>
            </a:r>
            <a:r>
              <a:rPr lang="sv-SE" sz="1400" b="1" dirty="0" err="1" smtClean="0"/>
              <a:t>practice</a:t>
            </a:r>
            <a:endParaRPr lang="sv-SE" sz="1400" b="1" dirty="0"/>
          </a:p>
        </p:txBody>
      </p:sp>
      <p:cxnSp>
        <p:nvCxnSpPr>
          <p:cNvPr id="15" name="Straight Connector 14"/>
          <p:cNvCxnSpPr>
            <a:stCxn id="3" idx="0"/>
          </p:cNvCxnSpPr>
          <p:nvPr/>
        </p:nvCxnSpPr>
        <p:spPr>
          <a:xfrm flipH="1" flipV="1">
            <a:off x="3372788" y="3571284"/>
            <a:ext cx="765698" cy="8520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11631" y="1657663"/>
            <a:ext cx="16935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 smtClean="0"/>
              <a:t>The </a:t>
            </a:r>
            <a:r>
              <a:rPr lang="sv-SE" sz="1400" b="1" dirty="0" smtClean="0"/>
              <a:t>problem </a:t>
            </a:r>
            <a:r>
              <a:rPr lang="sv-SE" sz="1400" b="1" dirty="0" err="1" smtClean="0"/>
              <a:t>needs</a:t>
            </a:r>
            <a:r>
              <a:rPr lang="sv-SE" sz="1400" b="1" dirty="0" smtClean="0"/>
              <a:t> to be a problem in a </a:t>
            </a:r>
            <a:r>
              <a:rPr lang="sv-SE" sz="1400" b="1" dirty="0" err="1" smtClean="0"/>
              <a:t>practice</a:t>
            </a:r>
            <a:endParaRPr lang="sv-SE" sz="1400" b="1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6395483" y="2432445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5269045" y="2467917"/>
            <a:ext cx="1926234" cy="425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31" idx="0"/>
          </p:cNvCxnSpPr>
          <p:nvPr/>
        </p:nvCxnSpPr>
        <p:spPr>
          <a:xfrm flipH="1" flipV="1">
            <a:off x="5269045" y="2951903"/>
            <a:ext cx="1990876" cy="241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6395483" y="3192903"/>
            <a:ext cx="1525800" cy="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95483" y="3192903"/>
            <a:ext cx="17288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 smtClean="0"/>
              <a:t>The </a:t>
            </a:r>
            <a:r>
              <a:rPr lang="sv-SE" sz="1400" b="1" dirty="0" smtClean="0"/>
              <a:t>problem </a:t>
            </a:r>
            <a:r>
              <a:rPr lang="sv-SE" sz="1400" b="1" dirty="0" err="1" smtClean="0"/>
              <a:t>needs</a:t>
            </a:r>
            <a:r>
              <a:rPr lang="sv-SE" sz="1400" b="1" dirty="0" smtClean="0"/>
              <a:t> to be </a:t>
            </a:r>
            <a:r>
              <a:rPr lang="sv-SE" sz="1400" b="1" dirty="0" err="1" smtClean="0"/>
              <a:t>generic</a:t>
            </a:r>
            <a:r>
              <a:rPr lang="sv-SE" sz="1400" dirty="0" smtClean="0"/>
              <a:t>, </a:t>
            </a:r>
            <a:r>
              <a:rPr lang="sv-SE" sz="1400" dirty="0" err="1" smtClean="0"/>
              <a:t>that</a:t>
            </a:r>
            <a:r>
              <a:rPr lang="sv-SE" sz="1400" dirty="0" smtClean="0"/>
              <a:t> is, </a:t>
            </a:r>
            <a:r>
              <a:rPr lang="en-GB" sz="1400" dirty="0" smtClean="0"/>
              <a:t>a </a:t>
            </a:r>
            <a:r>
              <a:rPr lang="en-GB" sz="1400" dirty="0"/>
              <a:t>solution not only for one </a:t>
            </a:r>
            <a:r>
              <a:rPr lang="en-GB" sz="1400" dirty="0" smtClean="0"/>
              <a:t>organization</a:t>
            </a:r>
            <a:endParaRPr lang="en-GB" sz="1400" dirty="0"/>
          </a:p>
          <a:p>
            <a:endParaRPr lang="sv-SE" sz="1400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3287523" y="4437050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1721843" y="3571284"/>
            <a:ext cx="1611871" cy="4168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977305" y="3980295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72630" y="3992451"/>
            <a:ext cx="1871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 smtClean="0"/>
              <a:t>The </a:t>
            </a:r>
            <a:r>
              <a:rPr lang="sv-SE" sz="1400" b="1" dirty="0" err="1" smtClean="0"/>
              <a:t>artefact</a:t>
            </a:r>
            <a:r>
              <a:rPr lang="sv-SE" sz="1400" b="1" dirty="0" smtClean="0"/>
              <a:t> is the solution </a:t>
            </a:r>
            <a:r>
              <a:rPr lang="sv-SE" sz="1400" b="1" dirty="0" err="1" smtClean="0"/>
              <a:t>that</a:t>
            </a:r>
            <a:r>
              <a:rPr lang="sv-SE" sz="1400" b="1" dirty="0" smtClean="0"/>
              <a:t> </a:t>
            </a:r>
            <a:r>
              <a:rPr lang="sv-SE" sz="1400" b="1" dirty="0" err="1" smtClean="0"/>
              <a:t>needs</a:t>
            </a:r>
            <a:r>
              <a:rPr lang="sv-SE" sz="1400" b="1" dirty="0" smtClean="0"/>
              <a:t> to be </a:t>
            </a:r>
            <a:r>
              <a:rPr lang="sv-SE" sz="1400" b="1" dirty="0" err="1" smtClean="0"/>
              <a:t>developed</a:t>
            </a:r>
            <a:r>
              <a:rPr lang="sv-SE" sz="1400" b="1" dirty="0" smtClean="0"/>
              <a:t> </a:t>
            </a:r>
            <a:r>
              <a:rPr lang="sv-SE" sz="1400" dirty="0" smtClean="0"/>
              <a:t>to </a:t>
            </a:r>
            <a:r>
              <a:rPr lang="sv-SE" sz="1400" dirty="0" err="1" smtClean="0"/>
              <a:t>address</a:t>
            </a:r>
            <a:r>
              <a:rPr lang="sv-SE" sz="1400" dirty="0" smtClean="0"/>
              <a:t> the problem</a:t>
            </a:r>
            <a:endParaRPr lang="sv-SE" sz="1400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385729" y="3364856"/>
            <a:ext cx="1525800" cy="121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148629" y="3369174"/>
            <a:ext cx="2224159" cy="172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32014" y="1825453"/>
            <a:ext cx="187136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/>
            <a:r>
              <a:rPr lang="en-GB" sz="1400" dirty="0"/>
              <a:t>The </a:t>
            </a:r>
            <a:r>
              <a:rPr lang="en-GB" sz="1400" b="1" dirty="0"/>
              <a:t>artefact developed </a:t>
            </a:r>
            <a:r>
              <a:rPr lang="en-GB" sz="1400" dirty="0"/>
              <a:t>in a design science initiative </a:t>
            </a:r>
            <a:r>
              <a:rPr lang="en-GB" sz="1400" b="1" dirty="0"/>
              <a:t>needs to be novel, something new and original</a:t>
            </a:r>
            <a:r>
              <a:rPr lang="en-GB" sz="1400" dirty="0"/>
              <a:t>, not previously developed</a:t>
            </a:r>
          </a:p>
        </p:txBody>
      </p:sp>
      <p:sp>
        <p:nvSpPr>
          <p:cNvPr id="21" name="Oval 20"/>
          <p:cNvSpPr/>
          <p:nvPr/>
        </p:nvSpPr>
        <p:spPr>
          <a:xfrm>
            <a:off x="6171613" y="3013548"/>
            <a:ext cx="2065070" cy="1255733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61373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60874" y="30736"/>
            <a:ext cx="1352645" cy="11758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627534"/>
            <a:ext cx="7629701" cy="596700"/>
          </a:xfrm>
        </p:spPr>
        <p:txBody>
          <a:bodyPr/>
          <a:lstStyle/>
          <a:p>
            <a:r>
              <a:rPr lang="sv-SE" dirty="0"/>
              <a:t>Design science and </a:t>
            </a:r>
            <a:r>
              <a:rPr lang="sv-SE" dirty="0" err="1"/>
              <a:t>Practice</a:t>
            </a:r>
            <a:r>
              <a:rPr lang="sv-SE" dirty="0"/>
              <a:t>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sz="1600" b="1" i="1" dirty="0"/>
              <a:t>Design </a:t>
            </a:r>
            <a:r>
              <a:rPr lang="fi-FI" sz="1600" b="1" i="1" dirty="0" smtClean="0"/>
              <a:t>science </a:t>
            </a:r>
            <a:r>
              <a:rPr lang="fi-FI" sz="1600" dirty="0" smtClean="0"/>
              <a:t>is </a:t>
            </a:r>
            <a:r>
              <a:rPr lang="fi-FI" sz="1600" dirty="0"/>
              <a:t>often seen as </a:t>
            </a:r>
            <a:r>
              <a:rPr lang="fi-FI" sz="1600" dirty="0" smtClean="0"/>
              <a:t>part of what is called practical research</a:t>
            </a:r>
          </a:p>
          <a:p>
            <a:r>
              <a:rPr lang="fi-FI" sz="1600" b="1" i="1" dirty="0" smtClean="0"/>
              <a:t>Practice </a:t>
            </a:r>
            <a:r>
              <a:rPr lang="fi-FI" sz="1600" b="1" i="1" dirty="0"/>
              <a:t>research </a:t>
            </a:r>
            <a:r>
              <a:rPr lang="fi-FI" sz="1600" dirty="0"/>
              <a:t>is research that addresses problems in practices </a:t>
            </a:r>
            <a:endParaRPr lang="fi-FI" sz="1600" dirty="0" smtClean="0"/>
          </a:p>
          <a:p>
            <a:pPr marL="0" indent="0">
              <a:buNone/>
            </a:pPr>
            <a:endParaRPr lang="fi-FI" dirty="0" smtClean="0"/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382143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760874" y="30736"/>
            <a:ext cx="1352645" cy="11758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000" y="627534"/>
            <a:ext cx="7852538" cy="596700"/>
          </a:xfrm>
        </p:spPr>
        <p:txBody>
          <a:bodyPr/>
          <a:lstStyle/>
          <a:p>
            <a:r>
              <a:rPr lang="sv-SE" dirty="0" smtClean="0"/>
              <a:t>Design science and </a:t>
            </a:r>
            <a:r>
              <a:rPr lang="sv-SE" dirty="0" err="1" smtClean="0"/>
              <a:t>Practice</a:t>
            </a:r>
            <a:r>
              <a:rPr lang="sv-SE" dirty="0" smtClean="0"/>
              <a:t> research</a:t>
            </a:r>
            <a:endParaRPr lang="sv-SE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20990" y="1419896"/>
            <a:ext cx="7050881" cy="33905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68191" y="1709670"/>
            <a:ext cx="1197736" cy="6924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100"/>
          </a:p>
        </p:txBody>
      </p:sp>
      <p:sp>
        <p:nvSpPr>
          <p:cNvPr id="7" name="TextBox 6"/>
          <p:cNvSpPr txBox="1"/>
          <p:nvPr/>
        </p:nvSpPr>
        <p:spPr>
          <a:xfrm>
            <a:off x="1558975" y="1664919"/>
            <a:ext cx="1334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b="1" dirty="0" smtClean="0"/>
              <a:t>Design Science</a:t>
            </a:r>
            <a:endParaRPr lang="sv-SE" sz="1600" b="1" dirty="0"/>
          </a:p>
          <a:p>
            <a:r>
              <a:rPr lang="sv-SE" sz="1600" b="1" dirty="0"/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4758" y="4415977"/>
            <a:ext cx="2325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[Inspired by Goldkuhl,  2012] </a:t>
            </a:r>
          </a:p>
        </p:txBody>
      </p:sp>
    </p:spTree>
    <p:extLst>
      <p:ext uri="{BB962C8B-B14F-4D97-AF65-F5344CB8AC3E}">
        <p14:creationId xmlns:p14="http://schemas.microsoft.com/office/powerpoint/2010/main" xmlns="" val="271368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v-SE" sz="2700" dirty="0"/>
              <a:t>A Design Science Framework</a:t>
            </a:r>
          </a:p>
        </p:txBody>
      </p:sp>
    </p:spTree>
    <p:extLst>
      <p:ext uri="{BB962C8B-B14F-4D97-AF65-F5344CB8AC3E}">
        <p14:creationId xmlns:p14="http://schemas.microsoft.com/office/powerpoint/2010/main" xmlns="" val="421334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21080" y="155555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8" name="Rectangle 7"/>
          <p:cNvSpPr/>
          <p:nvPr/>
        </p:nvSpPr>
        <p:spPr>
          <a:xfrm>
            <a:off x="2552700" y="2104189"/>
            <a:ext cx="960120" cy="9667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9" name="Rectangle 8"/>
          <p:cNvSpPr/>
          <p:nvPr/>
        </p:nvSpPr>
        <p:spPr>
          <a:xfrm>
            <a:off x="4084320" y="2652830"/>
            <a:ext cx="960120" cy="701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0" name="Rectangle 9"/>
          <p:cNvSpPr/>
          <p:nvPr/>
        </p:nvSpPr>
        <p:spPr>
          <a:xfrm>
            <a:off x="5600700" y="3231950"/>
            <a:ext cx="960120" cy="713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1" name="Rectangle 10"/>
          <p:cNvSpPr/>
          <p:nvPr/>
        </p:nvSpPr>
        <p:spPr>
          <a:xfrm>
            <a:off x="7117080" y="378059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cxnSp>
        <p:nvCxnSpPr>
          <p:cNvPr id="13" name="Elbow Connector 12"/>
          <p:cNvCxnSpPr/>
          <p:nvPr/>
        </p:nvCxnSpPr>
        <p:spPr>
          <a:xfrm>
            <a:off x="1981200" y="1666095"/>
            <a:ext cx="571500" cy="6934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3482340" y="23708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5059680" y="29423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6576060" y="3365355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65760" y="1829870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092440" y="4039669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57989" y="2078398"/>
            <a:ext cx="1150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Define require-</a:t>
            </a:r>
          </a:p>
          <a:p>
            <a:r>
              <a:rPr lang="en-US" sz="1500" dirty="0" err="1"/>
              <a:t>ments</a:t>
            </a:r>
            <a:r>
              <a:rPr lang="en-US" sz="1500" dirty="0"/>
              <a:t> on artefact</a:t>
            </a:r>
            <a:endParaRPr lang="sv-SE" sz="1500" dirty="0"/>
          </a:p>
        </p:txBody>
      </p:sp>
      <p:sp>
        <p:nvSpPr>
          <p:cNvPr id="59" name="TextBox 58"/>
          <p:cNvSpPr txBox="1"/>
          <p:nvPr/>
        </p:nvSpPr>
        <p:spPr>
          <a:xfrm>
            <a:off x="1058624" y="1576923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Explicate</a:t>
            </a:r>
          </a:p>
          <a:p>
            <a:r>
              <a:rPr lang="sv-SE" sz="1500" dirty="0"/>
              <a:t>problem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9268" y="2628662"/>
            <a:ext cx="1158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Design and develop artefact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1397" y="3200685"/>
            <a:ext cx="9296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Demon-</a:t>
            </a:r>
          </a:p>
          <a:p>
            <a:r>
              <a:rPr lang="sv-SE" sz="1500" dirty="0"/>
              <a:t>strate artefact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6141" y="3814002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Evaluate artefact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1928" y="1552870"/>
            <a:ext cx="9266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Initial problem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3661" y="1615909"/>
            <a:ext cx="12147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Explicated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8202" y="2357179"/>
            <a:ext cx="14833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Requirements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58176" y="2929563"/>
            <a:ext cx="12147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Artefact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8367" y="3310033"/>
            <a:ext cx="1313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Demonstrated artefact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77199" y="3791141"/>
            <a:ext cx="1036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Evaluated artefact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227508" y="4799786"/>
            <a:ext cx="24085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350" dirty="0"/>
              <a:t>[Inspired by Peffer,  et al, 2007] 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sv-SE" dirty="0" smtClean="0"/>
              <a:t>A design science framework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172258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21080" y="155555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8" name="Rectangle 7"/>
          <p:cNvSpPr/>
          <p:nvPr/>
        </p:nvSpPr>
        <p:spPr>
          <a:xfrm>
            <a:off x="2552700" y="2104189"/>
            <a:ext cx="960120" cy="9667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9" name="Rectangle 8"/>
          <p:cNvSpPr/>
          <p:nvPr/>
        </p:nvSpPr>
        <p:spPr>
          <a:xfrm>
            <a:off x="4084320" y="2652830"/>
            <a:ext cx="960120" cy="701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0" name="Rectangle 9"/>
          <p:cNvSpPr/>
          <p:nvPr/>
        </p:nvSpPr>
        <p:spPr>
          <a:xfrm>
            <a:off x="5600700" y="3231950"/>
            <a:ext cx="960120" cy="713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1" name="Rectangle 10"/>
          <p:cNvSpPr/>
          <p:nvPr/>
        </p:nvSpPr>
        <p:spPr>
          <a:xfrm>
            <a:off x="7117080" y="378059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cxnSp>
        <p:nvCxnSpPr>
          <p:cNvPr id="13" name="Elbow Connector 12"/>
          <p:cNvCxnSpPr/>
          <p:nvPr/>
        </p:nvCxnSpPr>
        <p:spPr>
          <a:xfrm>
            <a:off x="1981200" y="1666095"/>
            <a:ext cx="571500" cy="6934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3482340" y="23708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5059680" y="29423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6576060" y="3365355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65760" y="1829870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092440" y="4039669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57989" y="2078398"/>
            <a:ext cx="1150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Define require-</a:t>
            </a:r>
          </a:p>
          <a:p>
            <a:r>
              <a:rPr lang="en-US" sz="1500" dirty="0" err="1"/>
              <a:t>ments</a:t>
            </a:r>
            <a:r>
              <a:rPr lang="en-US" sz="1500" dirty="0"/>
              <a:t> on artefact</a:t>
            </a:r>
            <a:endParaRPr lang="sv-SE" sz="1500" dirty="0"/>
          </a:p>
        </p:txBody>
      </p:sp>
      <p:sp>
        <p:nvSpPr>
          <p:cNvPr id="59" name="TextBox 58"/>
          <p:cNvSpPr txBox="1"/>
          <p:nvPr/>
        </p:nvSpPr>
        <p:spPr>
          <a:xfrm>
            <a:off x="1058624" y="1576923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Explicate</a:t>
            </a:r>
          </a:p>
          <a:p>
            <a:r>
              <a:rPr lang="sv-SE" sz="1500" dirty="0"/>
              <a:t>problem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9268" y="2628662"/>
            <a:ext cx="1158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Design and develop artefact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1397" y="3200685"/>
            <a:ext cx="9296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Demon-</a:t>
            </a:r>
          </a:p>
          <a:p>
            <a:r>
              <a:rPr lang="sv-SE" sz="1500" dirty="0"/>
              <a:t>strate artefact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6141" y="3814002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Evaluate artefact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1928" y="1552870"/>
            <a:ext cx="9266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Initial problem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3661" y="1615909"/>
            <a:ext cx="12147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Explicated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8202" y="2357179"/>
            <a:ext cx="155623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Requirements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58176" y="2929563"/>
            <a:ext cx="12147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Artefact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8367" y="3310033"/>
            <a:ext cx="1313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Demonstrated artefact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77199" y="3791141"/>
            <a:ext cx="1036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Evaluated artefact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sv-SE" dirty="0" smtClean="0"/>
              <a:t>A design science framework</a:t>
            </a:r>
            <a:endParaRPr lang="sv-SE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416620" y="2032960"/>
            <a:ext cx="474704" cy="1474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65761" y="3507786"/>
            <a:ext cx="17689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6424" y="3534641"/>
            <a:ext cx="196199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In this activity, the problem needs to be precisely formulated and justified by showing that it is significant for some practice</a:t>
            </a:r>
            <a:endParaRPr lang="sv-SE" sz="1350" dirty="0"/>
          </a:p>
        </p:txBody>
      </p:sp>
      <p:sp>
        <p:nvSpPr>
          <p:cNvPr id="28" name="Oval 27"/>
          <p:cNvSpPr/>
          <p:nvPr/>
        </p:nvSpPr>
        <p:spPr>
          <a:xfrm>
            <a:off x="151794" y="3236164"/>
            <a:ext cx="2199520" cy="1704670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2238891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000" y="447652"/>
            <a:ext cx="6850800" cy="596700"/>
          </a:xfrm>
        </p:spPr>
        <p:txBody>
          <a:bodyPr/>
          <a:lstStyle/>
          <a:p>
            <a:r>
              <a:rPr lang="sv-SE" dirty="0" err="1" smtClean="0"/>
              <a:t>Explicate</a:t>
            </a:r>
            <a:r>
              <a:rPr lang="sv-SE" dirty="0" smtClean="0"/>
              <a:t> problem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00" y="1306207"/>
            <a:ext cx="6850800" cy="3240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/>
              <a:t>Two categories of problems, and both need to be stated:</a:t>
            </a:r>
          </a:p>
          <a:p>
            <a:pPr lvl="0"/>
            <a:r>
              <a:rPr lang="sv-SE" sz="1600" b="1" dirty="0" smtClean="0"/>
              <a:t>Practical problem</a:t>
            </a:r>
            <a:r>
              <a:rPr lang="sv-SE" sz="1600" dirty="0" smtClean="0"/>
              <a:t> – is an </a:t>
            </a:r>
            <a:r>
              <a:rPr lang="sv-SE" sz="1600" dirty="0" err="1" smtClean="0"/>
              <a:t>issue</a:t>
            </a:r>
            <a:r>
              <a:rPr lang="sv-SE" sz="1600" dirty="0" smtClean="0"/>
              <a:t> for </a:t>
            </a:r>
            <a:r>
              <a:rPr lang="sv-SE" sz="1600" dirty="0" err="1" smtClean="0"/>
              <a:t>practitioners</a:t>
            </a:r>
            <a:r>
              <a:rPr lang="sv-SE" sz="1600" dirty="0" smtClean="0"/>
              <a:t> in the </a:t>
            </a:r>
            <a:r>
              <a:rPr lang="sv-SE" sz="1600" dirty="0" err="1" smtClean="0"/>
              <a:t>practice</a:t>
            </a:r>
            <a:r>
              <a:rPr lang="sv-SE" sz="1600" dirty="0" smtClean="0"/>
              <a:t> </a:t>
            </a:r>
            <a:r>
              <a:rPr lang="sv-SE" sz="1600" dirty="0" err="1" smtClean="0"/>
              <a:t>that</a:t>
            </a:r>
            <a:r>
              <a:rPr lang="sv-SE" sz="1600" dirty="0" smtClean="0"/>
              <a:t> </a:t>
            </a:r>
            <a:r>
              <a:rPr lang="sv-SE" sz="1600" dirty="0" err="1" smtClean="0"/>
              <a:t>they</a:t>
            </a:r>
            <a:r>
              <a:rPr lang="sv-SE" sz="1600" dirty="0" smtClean="0"/>
              <a:t> </a:t>
            </a:r>
            <a:r>
              <a:rPr lang="sv-SE" sz="1600" dirty="0" err="1" smtClean="0"/>
              <a:t>want</a:t>
            </a:r>
            <a:r>
              <a:rPr lang="sv-SE" sz="1600" dirty="0" smtClean="0"/>
              <a:t> to be </a:t>
            </a:r>
            <a:r>
              <a:rPr lang="sv-SE" sz="1600" dirty="0" err="1" smtClean="0"/>
              <a:t>addressed</a:t>
            </a:r>
            <a:endParaRPr lang="sv-SE" sz="1600" dirty="0" smtClean="0"/>
          </a:p>
          <a:p>
            <a:pPr lvl="0"/>
            <a:r>
              <a:rPr lang="sv-SE" sz="1600" b="1" dirty="0" err="1" smtClean="0"/>
              <a:t>Knowledge</a:t>
            </a:r>
            <a:r>
              <a:rPr lang="sv-SE" sz="1600" b="1" dirty="0" smtClean="0"/>
              <a:t> problem </a:t>
            </a:r>
            <a:r>
              <a:rPr lang="sv-SE" sz="1600" dirty="0" smtClean="0"/>
              <a:t>– is </a:t>
            </a:r>
            <a:r>
              <a:rPr lang="sv-SE" sz="1600" dirty="0" err="1" smtClean="0"/>
              <a:t>often</a:t>
            </a:r>
            <a:r>
              <a:rPr lang="sv-SE" sz="1600" dirty="0" smtClean="0"/>
              <a:t> a </a:t>
            </a:r>
            <a:r>
              <a:rPr lang="sv-SE" sz="1600" dirty="0" err="1" smtClean="0"/>
              <a:t>knowledge</a:t>
            </a:r>
            <a:r>
              <a:rPr lang="sv-SE" sz="1600" dirty="0" smtClean="0"/>
              <a:t> gap in research</a:t>
            </a:r>
          </a:p>
          <a:p>
            <a:pPr lvl="0"/>
            <a:endParaRPr lang="en-US" dirty="0" smtClean="0"/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TextBox 3"/>
          <p:cNvSpPr txBox="1"/>
          <p:nvPr/>
        </p:nvSpPr>
        <p:spPr>
          <a:xfrm>
            <a:off x="792000" y="3282111"/>
            <a:ext cx="333226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smtClean="0"/>
              <a:t>Example of practical problem: </a:t>
            </a:r>
          </a:p>
          <a:p>
            <a:r>
              <a:rPr lang="en-US" sz="1600" i="1" dirty="0" smtClean="0"/>
              <a:t>The </a:t>
            </a:r>
            <a:r>
              <a:rPr lang="en-US" sz="1600" i="1" dirty="0"/>
              <a:t>difficulty of finding and selecting appropriate </a:t>
            </a:r>
            <a:r>
              <a:rPr lang="en-US" sz="1600" i="1" dirty="0" smtClean="0"/>
              <a:t>best practices (BPs) in </a:t>
            </a:r>
            <a:r>
              <a:rPr lang="en-US" sz="1600" i="1" dirty="0"/>
              <a:t>large collections of </a:t>
            </a:r>
            <a:r>
              <a:rPr lang="en-US" sz="1600" i="1" dirty="0" smtClean="0"/>
              <a:t>BPs impedes </a:t>
            </a:r>
            <a:r>
              <a:rPr lang="en-US" sz="1600" i="1" dirty="0"/>
              <a:t>the use of </a:t>
            </a:r>
            <a:r>
              <a:rPr lang="en-US" sz="1600" i="1" dirty="0" smtClean="0"/>
              <a:t>BPs.</a:t>
            </a:r>
            <a:endParaRPr lang="sv-SE" sz="1600" dirty="0"/>
          </a:p>
          <a:p>
            <a:endParaRPr lang="sv-SE" dirty="0"/>
          </a:p>
        </p:txBody>
      </p:sp>
      <p:sp>
        <p:nvSpPr>
          <p:cNvPr id="5" name="TextBox 4"/>
          <p:cNvSpPr txBox="1"/>
          <p:nvPr/>
        </p:nvSpPr>
        <p:spPr>
          <a:xfrm>
            <a:off x="4579874" y="3305679"/>
            <a:ext cx="320002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smtClean="0"/>
              <a:t>Example of knowledge problem:</a:t>
            </a:r>
          </a:p>
          <a:p>
            <a:r>
              <a:rPr lang="en-US" sz="1600" i="1" dirty="0"/>
              <a:t>There is a lack of </a:t>
            </a:r>
            <a:r>
              <a:rPr lang="en-US" sz="1600" i="1" dirty="0" smtClean="0"/>
              <a:t>knowledge/research of how to find and select appropriate </a:t>
            </a:r>
            <a:r>
              <a:rPr lang="en-US" sz="1600" i="1" dirty="0"/>
              <a:t>best practices (</a:t>
            </a:r>
            <a:r>
              <a:rPr lang="en-US" sz="1600" i="1" dirty="0" smtClean="0"/>
              <a:t>BPs) in BP repositories.</a:t>
            </a:r>
            <a:endParaRPr lang="sv-SE" sz="1600" dirty="0" smtClean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340123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21080" y="155555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8" name="Rectangle 7"/>
          <p:cNvSpPr/>
          <p:nvPr/>
        </p:nvSpPr>
        <p:spPr>
          <a:xfrm>
            <a:off x="2552700" y="2104189"/>
            <a:ext cx="960120" cy="9667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9" name="Rectangle 8"/>
          <p:cNvSpPr/>
          <p:nvPr/>
        </p:nvSpPr>
        <p:spPr>
          <a:xfrm>
            <a:off x="4084320" y="2652830"/>
            <a:ext cx="960120" cy="701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0" name="Rectangle 9"/>
          <p:cNvSpPr/>
          <p:nvPr/>
        </p:nvSpPr>
        <p:spPr>
          <a:xfrm>
            <a:off x="5600700" y="3231950"/>
            <a:ext cx="960120" cy="713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1" name="Rectangle 10"/>
          <p:cNvSpPr/>
          <p:nvPr/>
        </p:nvSpPr>
        <p:spPr>
          <a:xfrm>
            <a:off x="7117080" y="378059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cxnSp>
        <p:nvCxnSpPr>
          <p:cNvPr id="13" name="Elbow Connector 12"/>
          <p:cNvCxnSpPr/>
          <p:nvPr/>
        </p:nvCxnSpPr>
        <p:spPr>
          <a:xfrm>
            <a:off x="1981200" y="1666095"/>
            <a:ext cx="571500" cy="6934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3482340" y="23708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5059680" y="29423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6576060" y="3365355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65760" y="1829870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092440" y="4039669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57989" y="2078398"/>
            <a:ext cx="1150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Define require-</a:t>
            </a:r>
          </a:p>
          <a:p>
            <a:r>
              <a:rPr lang="en-US" sz="1500" dirty="0" err="1"/>
              <a:t>ments</a:t>
            </a:r>
            <a:r>
              <a:rPr lang="en-US" sz="1500" dirty="0"/>
              <a:t> on artefact</a:t>
            </a:r>
            <a:endParaRPr lang="sv-SE" sz="1500" dirty="0"/>
          </a:p>
        </p:txBody>
      </p:sp>
      <p:sp>
        <p:nvSpPr>
          <p:cNvPr id="59" name="TextBox 58"/>
          <p:cNvSpPr txBox="1"/>
          <p:nvPr/>
        </p:nvSpPr>
        <p:spPr>
          <a:xfrm>
            <a:off x="1058624" y="1576923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Explicate</a:t>
            </a:r>
          </a:p>
          <a:p>
            <a:r>
              <a:rPr lang="sv-SE" sz="1500" dirty="0"/>
              <a:t>problem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9268" y="2628662"/>
            <a:ext cx="1158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Design and develop artefact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1397" y="3200685"/>
            <a:ext cx="9296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Demon-</a:t>
            </a:r>
          </a:p>
          <a:p>
            <a:r>
              <a:rPr lang="sv-SE" sz="1500" dirty="0"/>
              <a:t>strate artefact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6141" y="3814002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Evaluate artefact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1928" y="1552870"/>
            <a:ext cx="9266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Initial problem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3661" y="1615909"/>
            <a:ext cx="12147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Explicated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8201" y="2357179"/>
            <a:ext cx="13220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Requirements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58176" y="2929563"/>
            <a:ext cx="12147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Artefact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8367" y="3310033"/>
            <a:ext cx="1313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Demonstrated artefact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77199" y="3791141"/>
            <a:ext cx="1036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Evaluated artefact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sv-SE" dirty="0" smtClean="0"/>
              <a:t>A design science framework</a:t>
            </a:r>
            <a:endParaRPr lang="sv-SE" dirty="0"/>
          </a:p>
        </p:txBody>
      </p:sp>
      <p:sp>
        <p:nvSpPr>
          <p:cNvPr id="3" name="TextBox 2"/>
          <p:cNvSpPr txBox="1"/>
          <p:nvPr/>
        </p:nvSpPr>
        <p:spPr>
          <a:xfrm>
            <a:off x="3050046" y="1038255"/>
            <a:ext cx="2641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Defining requirements can be seen as a transformation of the problem into demands on the proposed artefact. </a:t>
            </a:r>
            <a:endParaRPr lang="sv-SE" sz="1350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416620" y="2032960"/>
            <a:ext cx="474704" cy="1474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65761" y="3507786"/>
            <a:ext cx="17689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3095876" y="1938502"/>
            <a:ext cx="24233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3398086" y="1934956"/>
            <a:ext cx="511658" cy="3331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6424" y="3534641"/>
            <a:ext cx="196199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In this activity, the problem needs to be precisely formulated and justified by showing that it is significant for some practice</a:t>
            </a:r>
            <a:endParaRPr lang="sv-SE" sz="1350" dirty="0"/>
          </a:p>
        </p:txBody>
      </p:sp>
      <p:sp>
        <p:nvSpPr>
          <p:cNvPr id="31" name="Oval 30"/>
          <p:cNvSpPr/>
          <p:nvPr/>
        </p:nvSpPr>
        <p:spPr>
          <a:xfrm>
            <a:off x="2833801" y="868295"/>
            <a:ext cx="3158798" cy="1309697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17596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000" y="447652"/>
            <a:ext cx="6850800" cy="596700"/>
          </a:xfrm>
        </p:spPr>
        <p:txBody>
          <a:bodyPr/>
          <a:lstStyle/>
          <a:p>
            <a:r>
              <a:rPr lang="sv-SE" dirty="0" err="1" smtClean="0"/>
              <a:t>Define</a:t>
            </a:r>
            <a:r>
              <a:rPr lang="sv-SE" dirty="0" smtClean="0"/>
              <a:t> </a:t>
            </a:r>
            <a:r>
              <a:rPr lang="sv-SE" dirty="0" err="1" smtClean="0"/>
              <a:t>requirement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00" y="1306207"/>
            <a:ext cx="6850800" cy="3240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/>
              <a:t>Two categories of requirements:</a:t>
            </a:r>
          </a:p>
          <a:p>
            <a:pPr lvl="0"/>
            <a:r>
              <a:rPr lang="sv-SE" sz="1600" b="1" dirty="0" smtClean="0"/>
              <a:t>Features/</a:t>
            </a:r>
            <a:r>
              <a:rPr lang="sv-SE" sz="1600" b="1" dirty="0" err="1" smtClean="0"/>
              <a:t>Functions</a:t>
            </a:r>
            <a:r>
              <a:rPr lang="sv-SE" sz="1600" dirty="0" smtClean="0"/>
              <a:t> – for </a:t>
            </a:r>
            <a:r>
              <a:rPr lang="sv-SE" sz="1600" dirty="0" err="1" smtClean="0"/>
              <a:t>example</a:t>
            </a:r>
            <a:r>
              <a:rPr lang="sv-SE" sz="1600" dirty="0" smtClean="0"/>
              <a:t>, the </a:t>
            </a:r>
            <a:r>
              <a:rPr lang="sv-SE" sz="1600" dirty="0" err="1" smtClean="0"/>
              <a:t>artefact</a:t>
            </a:r>
            <a:r>
              <a:rPr lang="sv-SE" sz="1600" dirty="0" smtClean="0"/>
              <a:t> </a:t>
            </a:r>
            <a:r>
              <a:rPr lang="sv-SE" sz="1600" dirty="0" err="1" smtClean="0"/>
              <a:t>should</a:t>
            </a:r>
            <a:r>
              <a:rPr lang="sv-SE" sz="1600" dirty="0" smtClean="0"/>
              <a:t> support </a:t>
            </a:r>
            <a:r>
              <a:rPr lang="sv-SE" sz="1600" dirty="0" err="1" smtClean="0"/>
              <a:t>communcation</a:t>
            </a:r>
            <a:r>
              <a:rPr lang="sv-SE" sz="1600" dirty="0" smtClean="0"/>
              <a:t> </a:t>
            </a:r>
            <a:r>
              <a:rPr lang="sv-SE" sz="1600" dirty="0" err="1" smtClean="0"/>
              <a:t>between</a:t>
            </a:r>
            <a:r>
              <a:rPr lang="sv-SE" sz="1600" dirty="0" smtClean="0"/>
              <a:t> decision </a:t>
            </a:r>
            <a:r>
              <a:rPr lang="sv-SE" sz="1600" dirty="0" err="1" smtClean="0"/>
              <a:t>makers</a:t>
            </a:r>
            <a:r>
              <a:rPr lang="sv-SE" sz="1600" dirty="0" smtClean="0"/>
              <a:t>  </a:t>
            </a:r>
          </a:p>
          <a:p>
            <a:pPr lvl="0"/>
            <a:r>
              <a:rPr lang="sv-SE" sz="1600" b="1" dirty="0" err="1" smtClean="0"/>
              <a:t>Generic</a:t>
            </a:r>
            <a:r>
              <a:rPr lang="sv-SE" sz="1600" b="1" dirty="0" smtClean="0"/>
              <a:t> </a:t>
            </a:r>
            <a:r>
              <a:rPr lang="sv-SE" sz="1600" b="1" dirty="0" err="1" smtClean="0"/>
              <a:t>qualities</a:t>
            </a:r>
            <a:r>
              <a:rPr lang="sv-SE" sz="1600" b="1" dirty="0" smtClean="0"/>
              <a:t> </a:t>
            </a:r>
            <a:r>
              <a:rPr lang="sv-SE" sz="1600" dirty="0" smtClean="0"/>
              <a:t>– for </a:t>
            </a:r>
            <a:r>
              <a:rPr lang="sv-SE" sz="1600" dirty="0" err="1" smtClean="0"/>
              <a:t>example</a:t>
            </a:r>
            <a:r>
              <a:rPr lang="sv-SE" sz="1600" dirty="0" smtClean="0"/>
              <a:t>, the </a:t>
            </a:r>
            <a:r>
              <a:rPr lang="sv-SE" sz="1600" dirty="0" err="1" smtClean="0"/>
              <a:t>artefact</a:t>
            </a:r>
            <a:r>
              <a:rPr lang="sv-SE" sz="1600" dirty="0" smtClean="0"/>
              <a:t> </a:t>
            </a:r>
            <a:r>
              <a:rPr lang="sv-SE" sz="1600" dirty="0" err="1" smtClean="0"/>
              <a:t>should</a:t>
            </a:r>
            <a:r>
              <a:rPr lang="sv-SE" sz="1600" dirty="0" smtClean="0"/>
              <a:t> be </a:t>
            </a:r>
            <a:r>
              <a:rPr lang="en-US" sz="1600" dirty="0" smtClean="0"/>
              <a:t>should </a:t>
            </a:r>
            <a:r>
              <a:rPr lang="en-US" sz="1600" dirty="0"/>
              <a:t>be easy to </a:t>
            </a:r>
            <a:r>
              <a:rPr lang="en-US" sz="1600" dirty="0" smtClean="0"/>
              <a:t>use </a:t>
            </a:r>
            <a:r>
              <a:rPr lang="en-US" sz="1600" dirty="0"/>
              <a:t>for the </a:t>
            </a:r>
            <a:r>
              <a:rPr lang="en-US" sz="1600" dirty="0" smtClean="0"/>
              <a:t>users</a:t>
            </a:r>
            <a:r>
              <a:rPr lang="sv-SE" sz="1600" dirty="0" smtClean="0"/>
              <a:t> </a:t>
            </a:r>
          </a:p>
          <a:p>
            <a:pPr lvl="0"/>
            <a:endParaRPr lang="en-US" dirty="0" smtClean="0"/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61105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000" y="447652"/>
            <a:ext cx="6850800" cy="596700"/>
          </a:xfrm>
        </p:spPr>
        <p:txBody>
          <a:bodyPr/>
          <a:lstStyle/>
          <a:p>
            <a:r>
              <a:rPr lang="sv-SE" dirty="0" err="1" smtClean="0"/>
              <a:t>Define</a:t>
            </a:r>
            <a:r>
              <a:rPr lang="sv-SE" dirty="0" smtClean="0"/>
              <a:t> </a:t>
            </a:r>
            <a:r>
              <a:rPr lang="sv-SE" dirty="0" err="1" smtClean="0"/>
              <a:t>requirements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00" y="1144842"/>
            <a:ext cx="7537492" cy="329652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Example of requirements in form of </a:t>
            </a:r>
            <a:r>
              <a:rPr lang="en-US" b="1" dirty="0" smtClean="0"/>
              <a:t>generic qualities</a:t>
            </a:r>
            <a:r>
              <a:rPr lang="en-US" dirty="0" smtClean="0"/>
              <a:t>:</a:t>
            </a:r>
          </a:p>
          <a:p>
            <a:pPr lvl="0"/>
            <a:r>
              <a:rPr lang="en-US" i="1" dirty="0" smtClean="0"/>
              <a:t>Understandability</a:t>
            </a:r>
            <a:r>
              <a:rPr lang="en-US" dirty="0"/>
              <a:t>: The a</a:t>
            </a:r>
            <a:r>
              <a:rPr lang="en-US" dirty="0" smtClean="0"/>
              <a:t>rtefact should </a:t>
            </a:r>
            <a:r>
              <a:rPr lang="en-US" dirty="0"/>
              <a:t>be easy to comprehend for the users, </a:t>
            </a:r>
            <a:r>
              <a:rPr lang="en-US" dirty="0" smtClean="0"/>
              <a:t>since they need use </a:t>
            </a:r>
            <a:r>
              <a:rPr lang="en-US" dirty="0"/>
              <a:t>it in an effective </a:t>
            </a:r>
            <a:r>
              <a:rPr lang="en-US" dirty="0" smtClean="0"/>
              <a:t>way</a:t>
            </a:r>
            <a:endParaRPr lang="sv-SE" dirty="0"/>
          </a:p>
          <a:p>
            <a:r>
              <a:rPr lang="en-US" i="1" dirty="0" smtClean="0"/>
              <a:t>Efficient</a:t>
            </a:r>
            <a:r>
              <a:rPr lang="en-US" i="1" dirty="0"/>
              <a:t>:</a:t>
            </a:r>
            <a:r>
              <a:rPr lang="en-US" dirty="0"/>
              <a:t> The artefact </a:t>
            </a:r>
            <a:r>
              <a:rPr lang="en-US" dirty="0" smtClean="0"/>
              <a:t>should </a:t>
            </a:r>
            <a:r>
              <a:rPr lang="en-US" dirty="0"/>
              <a:t>make it possible to carry out </a:t>
            </a:r>
            <a:r>
              <a:rPr lang="en-US" dirty="0" smtClean="0"/>
              <a:t>improvement of business processes </a:t>
            </a:r>
            <a:r>
              <a:rPr lang="en-US" dirty="0"/>
              <a:t>in a time and resource efficient </a:t>
            </a:r>
            <a:r>
              <a:rPr lang="en-US" dirty="0" smtClean="0"/>
              <a:t>ways, since business process improvement  is </a:t>
            </a:r>
            <a:r>
              <a:rPr lang="en-US" dirty="0"/>
              <a:t>a cost and resource intensive </a:t>
            </a:r>
            <a:r>
              <a:rPr lang="en-US" dirty="0" smtClean="0"/>
              <a:t>endeavor</a:t>
            </a:r>
            <a:r>
              <a:rPr lang="en-US" dirty="0"/>
              <a:t>, where cost may easily exceed the </a:t>
            </a:r>
            <a:r>
              <a:rPr lang="en-US" dirty="0" smtClean="0"/>
              <a:t>benefit</a:t>
            </a:r>
          </a:p>
          <a:p>
            <a:r>
              <a:rPr lang="en-US" i="1" dirty="0" smtClean="0"/>
              <a:t>Completeness</a:t>
            </a:r>
            <a:r>
              <a:rPr lang="en-US" dirty="0" smtClean="0"/>
              <a:t> ….</a:t>
            </a: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Oval 3"/>
          <p:cNvSpPr/>
          <p:nvPr/>
        </p:nvSpPr>
        <p:spPr>
          <a:xfrm>
            <a:off x="1970452" y="2337050"/>
            <a:ext cx="5137279" cy="913296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5" name="Straight Connector 4"/>
          <p:cNvCxnSpPr/>
          <p:nvPr/>
        </p:nvCxnSpPr>
        <p:spPr>
          <a:xfrm>
            <a:off x="4318427" y="3196558"/>
            <a:ext cx="486852" cy="9967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15082" y="4220170"/>
            <a:ext cx="35048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b="1" dirty="0" smtClean="0"/>
              <a:t>Specify the generic quality for the artefact </a:t>
            </a:r>
            <a:endParaRPr lang="sv-SE" sz="1350" b="1" dirty="0"/>
          </a:p>
        </p:txBody>
      </p:sp>
    </p:spTree>
    <p:extLst>
      <p:ext uri="{BB962C8B-B14F-4D97-AF65-F5344CB8AC3E}">
        <p14:creationId xmlns:p14="http://schemas.microsoft.com/office/powerpoint/2010/main" xmlns="" val="176603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000" y="447652"/>
            <a:ext cx="6850800" cy="596700"/>
          </a:xfrm>
        </p:spPr>
        <p:txBody>
          <a:bodyPr/>
          <a:lstStyle/>
          <a:p>
            <a:r>
              <a:rPr lang="sv-SE" dirty="0" err="1" smtClean="0"/>
              <a:t>Define</a:t>
            </a:r>
            <a:r>
              <a:rPr lang="sv-SE" dirty="0" smtClean="0"/>
              <a:t> </a:t>
            </a:r>
            <a:r>
              <a:rPr lang="sv-SE" dirty="0" err="1" smtClean="0"/>
              <a:t>requirements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00" y="1144842"/>
            <a:ext cx="7537492" cy="329652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Example of requirements in form of </a:t>
            </a:r>
            <a:r>
              <a:rPr lang="en-US" b="1" dirty="0" smtClean="0"/>
              <a:t>generic qualities</a:t>
            </a:r>
            <a:r>
              <a:rPr lang="en-US" dirty="0" smtClean="0"/>
              <a:t>:</a:t>
            </a:r>
          </a:p>
          <a:p>
            <a:pPr lvl="0"/>
            <a:r>
              <a:rPr lang="en-US" i="1" dirty="0" smtClean="0"/>
              <a:t>Understandability</a:t>
            </a:r>
            <a:r>
              <a:rPr lang="en-US" dirty="0"/>
              <a:t>: The a</a:t>
            </a:r>
            <a:r>
              <a:rPr lang="en-US" dirty="0" smtClean="0"/>
              <a:t>rtefact should </a:t>
            </a:r>
            <a:r>
              <a:rPr lang="en-US" dirty="0"/>
              <a:t>be easy to comprehend for the users, </a:t>
            </a:r>
            <a:r>
              <a:rPr lang="en-US" dirty="0" smtClean="0"/>
              <a:t>since they need use </a:t>
            </a:r>
            <a:r>
              <a:rPr lang="en-US" dirty="0"/>
              <a:t>it in an effective </a:t>
            </a:r>
            <a:r>
              <a:rPr lang="en-US" dirty="0" smtClean="0"/>
              <a:t>way</a:t>
            </a:r>
            <a:endParaRPr lang="sv-SE" dirty="0"/>
          </a:p>
          <a:p>
            <a:r>
              <a:rPr lang="en-US" i="1" dirty="0" smtClean="0"/>
              <a:t>Efficient</a:t>
            </a:r>
            <a:r>
              <a:rPr lang="en-US" i="1" dirty="0"/>
              <a:t>:</a:t>
            </a:r>
            <a:r>
              <a:rPr lang="en-US" dirty="0"/>
              <a:t> The artefact </a:t>
            </a:r>
            <a:r>
              <a:rPr lang="en-US" dirty="0" smtClean="0"/>
              <a:t>should </a:t>
            </a:r>
            <a:r>
              <a:rPr lang="en-US" dirty="0"/>
              <a:t>make it possible to carry out </a:t>
            </a:r>
            <a:r>
              <a:rPr lang="en-US" dirty="0" smtClean="0"/>
              <a:t>improvement of business processes </a:t>
            </a:r>
            <a:r>
              <a:rPr lang="en-US" dirty="0"/>
              <a:t>in a time and resource efficient </a:t>
            </a:r>
            <a:r>
              <a:rPr lang="en-US" dirty="0" smtClean="0"/>
              <a:t>ways, since business process improvement  is </a:t>
            </a:r>
            <a:r>
              <a:rPr lang="en-US" dirty="0"/>
              <a:t>a cost and resource intensive </a:t>
            </a:r>
            <a:r>
              <a:rPr lang="en-US" dirty="0" smtClean="0"/>
              <a:t>endeavor</a:t>
            </a:r>
            <a:r>
              <a:rPr lang="en-US" dirty="0"/>
              <a:t>, where cost may easily exceed the </a:t>
            </a:r>
            <a:r>
              <a:rPr lang="en-US" dirty="0" smtClean="0"/>
              <a:t>benefit</a:t>
            </a:r>
          </a:p>
          <a:p>
            <a:r>
              <a:rPr lang="en-US" i="1" dirty="0" smtClean="0"/>
              <a:t>Completeness</a:t>
            </a:r>
            <a:r>
              <a:rPr lang="en-US" dirty="0" smtClean="0"/>
              <a:t> ….</a:t>
            </a: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Oval 3"/>
          <p:cNvSpPr/>
          <p:nvPr/>
        </p:nvSpPr>
        <p:spPr>
          <a:xfrm>
            <a:off x="1048368" y="3169702"/>
            <a:ext cx="6873871" cy="763837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5" name="Straight Connector 4"/>
          <p:cNvCxnSpPr/>
          <p:nvPr/>
        </p:nvCxnSpPr>
        <p:spPr>
          <a:xfrm>
            <a:off x="4272323" y="3933539"/>
            <a:ext cx="238205" cy="346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15082" y="4220170"/>
            <a:ext cx="314675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b="1" dirty="0" smtClean="0"/>
              <a:t>Justify the generic quality for the artefact </a:t>
            </a:r>
            <a:endParaRPr lang="sv-SE" sz="1350" b="1" dirty="0"/>
          </a:p>
        </p:txBody>
      </p:sp>
    </p:spTree>
    <p:extLst>
      <p:ext uri="{BB962C8B-B14F-4D97-AF65-F5344CB8AC3E}">
        <p14:creationId xmlns:p14="http://schemas.microsoft.com/office/powerpoint/2010/main" xmlns="" val="64971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21080" y="155555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8" name="Rectangle 7"/>
          <p:cNvSpPr/>
          <p:nvPr/>
        </p:nvSpPr>
        <p:spPr>
          <a:xfrm>
            <a:off x="2552700" y="2104189"/>
            <a:ext cx="960120" cy="9667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9" name="Rectangle 8"/>
          <p:cNvSpPr/>
          <p:nvPr/>
        </p:nvSpPr>
        <p:spPr>
          <a:xfrm>
            <a:off x="4084320" y="2652830"/>
            <a:ext cx="960120" cy="701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0" name="Rectangle 9"/>
          <p:cNvSpPr/>
          <p:nvPr/>
        </p:nvSpPr>
        <p:spPr>
          <a:xfrm>
            <a:off x="5600700" y="3231950"/>
            <a:ext cx="960120" cy="713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1" name="Rectangle 10"/>
          <p:cNvSpPr/>
          <p:nvPr/>
        </p:nvSpPr>
        <p:spPr>
          <a:xfrm>
            <a:off x="7117080" y="378059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cxnSp>
        <p:nvCxnSpPr>
          <p:cNvPr id="13" name="Elbow Connector 12"/>
          <p:cNvCxnSpPr/>
          <p:nvPr/>
        </p:nvCxnSpPr>
        <p:spPr>
          <a:xfrm>
            <a:off x="1981200" y="1666095"/>
            <a:ext cx="571500" cy="6934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3482340" y="23708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5059680" y="29423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6576060" y="3365355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65760" y="1829870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092440" y="4039669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57989" y="2078398"/>
            <a:ext cx="1150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Define require-</a:t>
            </a:r>
          </a:p>
          <a:p>
            <a:r>
              <a:rPr lang="en-US" sz="1500" dirty="0" err="1"/>
              <a:t>ments</a:t>
            </a:r>
            <a:r>
              <a:rPr lang="en-US" sz="1500" dirty="0"/>
              <a:t> on artefact</a:t>
            </a:r>
            <a:endParaRPr lang="sv-SE" sz="1500" dirty="0"/>
          </a:p>
        </p:txBody>
      </p:sp>
      <p:sp>
        <p:nvSpPr>
          <p:cNvPr id="59" name="TextBox 58"/>
          <p:cNvSpPr txBox="1"/>
          <p:nvPr/>
        </p:nvSpPr>
        <p:spPr>
          <a:xfrm>
            <a:off x="1058624" y="1576923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Explicate</a:t>
            </a:r>
          </a:p>
          <a:p>
            <a:r>
              <a:rPr lang="sv-SE" sz="1500" dirty="0"/>
              <a:t>problem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9268" y="2628662"/>
            <a:ext cx="1158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Design and develop artefact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1397" y="3200685"/>
            <a:ext cx="9296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Demon-</a:t>
            </a:r>
          </a:p>
          <a:p>
            <a:r>
              <a:rPr lang="sv-SE" sz="1500" dirty="0"/>
              <a:t>strate artefact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6141" y="3814002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Evaluate artefact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1928" y="1552870"/>
            <a:ext cx="9266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Initial problem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3661" y="1615909"/>
            <a:ext cx="12147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Explicated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8201" y="2357179"/>
            <a:ext cx="13899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Requirements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58176" y="2929563"/>
            <a:ext cx="12147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Artefact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8367" y="3310033"/>
            <a:ext cx="1313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Demonstrated artefact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77199" y="3791141"/>
            <a:ext cx="1036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Evaluated artefact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140970" y="357998"/>
            <a:ext cx="7886700" cy="994172"/>
          </a:xfrm>
        </p:spPr>
        <p:txBody>
          <a:bodyPr/>
          <a:lstStyle/>
          <a:p>
            <a:r>
              <a:rPr lang="sv-SE" dirty="0" smtClean="0"/>
              <a:t>A design science framework</a:t>
            </a:r>
            <a:endParaRPr lang="sv-SE" dirty="0"/>
          </a:p>
        </p:txBody>
      </p:sp>
      <p:sp>
        <p:nvSpPr>
          <p:cNvPr id="3" name="TextBox 2"/>
          <p:cNvSpPr txBox="1"/>
          <p:nvPr/>
        </p:nvSpPr>
        <p:spPr>
          <a:xfrm>
            <a:off x="3050046" y="1038255"/>
            <a:ext cx="2641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Defining requirements can be seen as a transformation of the problem into demands on the proposed artefact. </a:t>
            </a:r>
            <a:endParaRPr lang="sv-SE" sz="1350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416620" y="2032960"/>
            <a:ext cx="474704" cy="1474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65761" y="3507786"/>
            <a:ext cx="17689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3095876" y="1938502"/>
            <a:ext cx="24233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3398086" y="1934956"/>
            <a:ext cx="511658" cy="3331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6424" y="3534641"/>
            <a:ext cx="196199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In this activity, the problem needs to be precisely formulated and justified by showing that it is significant for some practice</a:t>
            </a:r>
            <a:endParaRPr lang="sv-SE" sz="1350" dirty="0"/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265881" y="3253028"/>
            <a:ext cx="570995" cy="3756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2657989" y="3628634"/>
            <a:ext cx="20886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591350" y="3680829"/>
            <a:ext cx="2476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This activity creates an artefact that addresses the explicated problem and fulfils the defined requirements. </a:t>
            </a:r>
            <a:endParaRPr lang="sv-SE" sz="1350" dirty="0"/>
          </a:p>
        </p:txBody>
      </p:sp>
      <p:sp>
        <p:nvSpPr>
          <p:cNvPr id="36" name="Oval 35"/>
          <p:cNvSpPr/>
          <p:nvPr/>
        </p:nvSpPr>
        <p:spPr>
          <a:xfrm>
            <a:off x="2316234" y="3489654"/>
            <a:ext cx="2788421" cy="1255091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229017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000" y="447652"/>
            <a:ext cx="6850800" cy="596700"/>
          </a:xfrm>
        </p:spPr>
        <p:txBody>
          <a:bodyPr/>
          <a:lstStyle/>
          <a:p>
            <a:r>
              <a:rPr lang="sv-SE" dirty="0" smtClean="0"/>
              <a:t>Design and </a:t>
            </a:r>
            <a:r>
              <a:rPr lang="sv-SE" dirty="0" err="1" smtClean="0"/>
              <a:t>devlop</a:t>
            </a:r>
            <a:r>
              <a:rPr lang="sv-SE" dirty="0" smtClean="0"/>
              <a:t> </a:t>
            </a:r>
            <a:r>
              <a:rPr lang="sv-SE" dirty="0" err="1" smtClean="0"/>
              <a:t>artefact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00" y="1144842"/>
            <a:ext cx="7537492" cy="32965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/>
              <a:t>This part usually contains:</a:t>
            </a:r>
          </a:p>
          <a:p>
            <a:pPr lvl="0"/>
            <a:r>
              <a:rPr lang="en-US" sz="1600" dirty="0" smtClean="0"/>
              <a:t>A description of the artefact and its components </a:t>
            </a:r>
          </a:p>
          <a:p>
            <a:pPr lvl="0"/>
            <a:r>
              <a:rPr lang="en-US" sz="1600" dirty="0" smtClean="0"/>
              <a:t>A </a:t>
            </a:r>
            <a:r>
              <a:rPr lang="en-US" sz="1600" dirty="0"/>
              <a:t>description of </a:t>
            </a:r>
            <a:r>
              <a:rPr lang="en-US" sz="1600" dirty="0" smtClean="0"/>
              <a:t>h</a:t>
            </a:r>
            <a:r>
              <a:rPr lang="sv-SE" sz="1600" dirty="0" err="1" smtClean="0"/>
              <a:t>ow</a:t>
            </a:r>
            <a:r>
              <a:rPr lang="sv-SE" sz="1600" dirty="0" smtClean="0"/>
              <a:t> the </a:t>
            </a:r>
            <a:r>
              <a:rPr lang="sv-SE" sz="1600" dirty="0" err="1" smtClean="0"/>
              <a:t>artefact</a:t>
            </a:r>
            <a:r>
              <a:rPr lang="sv-SE" sz="1600" dirty="0" smtClean="0"/>
              <a:t> </a:t>
            </a:r>
            <a:r>
              <a:rPr lang="sv-SE" sz="1600" dirty="0" err="1" smtClean="0"/>
              <a:t>was</a:t>
            </a:r>
            <a:r>
              <a:rPr lang="sv-SE" sz="1600" dirty="0" smtClean="0"/>
              <a:t> </a:t>
            </a:r>
            <a:r>
              <a:rPr lang="sv-SE" sz="1600" dirty="0" err="1" smtClean="0"/>
              <a:t>designed</a:t>
            </a:r>
            <a:r>
              <a:rPr lang="sv-SE" sz="1600" dirty="0" smtClean="0"/>
              <a:t> and </a:t>
            </a:r>
            <a:r>
              <a:rPr lang="sv-SE" sz="1600" dirty="0" err="1" smtClean="0"/>
              <a:t>developed</a:t>
            </a:r>
            <a:endParaRPr lang="en-US" sz="1600" dirty="0" smtClean="0"/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194586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60874" y="30736"/>
            <a:ext cx="1352645" cy="11758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ctangle 3"/>
          <p:cNvSpPr/>
          <p:nvPr/>
        </p:nvSpPr>
        <p:spPr>
          <a:xfrm>
            <a:off x="1021080" y="155555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8" name="Rectangle 7"/>
          <p:cNvSpPr/>
          <p:nvPr/>
        </p:nvSpPr>
        <p:spPr>
          <a:xfrm>
            <a:off x="2552700" y="2104189"/>
            <a:ext cx="960120" cy="9667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9" name="Rectangle 8"/>
          <p:cNvSpPr/>
          <p:nvPr/>
        </p:nvSpPr>
        <p:spPr>
          <a:xfrm>
            <a:off x="4084320" y="2652830"/>
            <a:ext cx="960120" cy="701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0" name="Rectangle 9"/>
          <p:cNvSpPr/>
          <p:nvPr/>
        </p:nvSpPr>
        <p:spPr>
          <a:xfrm>
            <a:off x="5600700" y="3231950"/>
            <a:ext cx="960120" cy="713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1" name="Rectangle 10"/>
          <p:cNvSpPr/>
          <p:nvPr/>
        </p:nvSpPr>
        <p:spPr>
          <a:xfrm>
            <a:off x="7117080" y="378059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cxnSp>
        <p:nvCxnSpPr>
          <p:cNvPr id="13" name="Elbow Connector 12"/>
          <p:cNvCxnSpPr/>
          <p:nvPr/>
        </p:nvCxnSpPr>
        <p:spPr>
          <a:xfrm>
            <a:off x="1981200" y="1666095"/>
            <a:ext cx="571500" cy="6934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3482340" y="23708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5059680" y="29423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6576060" y="3365355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65760" y="1829870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092440" y="4039669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57989" y="2078398"/>
            <a:ext cx="1150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Define require-</a:t>
            </a:r>
          </a:p>
          <a:p>
            <a:r>
              <a:rPr lang="en-US" sz="1500" dirty="0" err="1"/>
              <a:t>ments</a:t>
            </a:r>
            <a:r>
              <a:rPr lang="en-US" sz="1500" dirty="0"/>
              <a:t> on artefact</a:t>
            </a:r>
            <a:endParaRPr lang="sv-SE" sz="1500" dirty="0"/>
          </a:p>
        </p:txBody>
      </p:sp>
      <p:sp>
        <p:nvSpPr>
          <p:cNvPr id="59" name="TextBox 58"/>
          <p:cNvSpPr txBox="1"/>
          <p:nvPr/>
        </p:nvSpPr>
        <p:spPr>
          <a:xfrm>
            <a:off x="1058624" y="1576923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Explicate</a:t>
            </a:r>
          </a:p>
          <a:p>
            <a:r>
              <a:rPr lang="sv-SE" sz="1500" dirty="0"/>
              <a:t>problem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9268" y="2628662"/>
            <a:ext cx="1158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Design and develop artefact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1397" y="3200685"/>
            <a:ext cx="9296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Demon-</a:t>
            </a:r>
          </a:p>
          <a:p>
            <a:r>
              <a:rPr lang="sv-SE" sz="1500" dirty="0"/>
              <a:t>strate artefact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6141" y="3814002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Evaluate artefact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1928" y="1552870"/>
            <a:ext cx="9266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Initial problem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3661" y="1615909"/>
            <a:ext cx="12147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Explicated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8202" y="2357179"/>
            <a:ext cx="14554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Requirements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58176" y="2929563"/>
            <a:ext cx="12147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Artefact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8367" y="3310033"/>
            <a:ext cx="1313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Demonstrated artefact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77199" y="3791141"/>
            <a:ext cx="1036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Evaluated artefact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207483" y="267994"/>
            <a:ext cx="7886700" cy="994172"/>
          </a:xfrm>
        </p:spPr>
        <p:txBody>
          <a:bodyPr/>
          <a:lstStyle/>
          <a:p>
            <a:r>
              <a:rPr lang="sv-SE" dirty="0" smtClean="0"/>
              <a:t>A design science framework</a:t>
            </a:r>
            <a:endParaRPr lang="sv-SE" dirty="0"/>
          </a:p>
        </p:txBody>
      </p:sp>
      <p:sp>
        <p:nvSpPr>
          <p:cNvPr id="3" name="TextBox 2"/>
          <p:cNvSpPr txBox="1"/>
          <p:nvPr/>
        </p:nvSpPr>
        <p:spPr>
          <a:xfrm>
            <a:off x="3050046" y="1038255"/>
            <a:ext cx="2641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Defining requirements can be seen as a transformation of the problem into demands on the proposed artefact. </a:t>
            </a:r>
            <a:endParaRPr lang="sv-SE" sz="1350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416620" y="2032960"/>
            <a:ext cx="474704" cy="1474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65761" y="3507786"/>
            <a:ext cx="17689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3095876" y="1938502"/>
            <a:ext cx="24233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3398086" y="1934956"/>
            <a:ext cx="511658" cy="3331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6424" y="3534641"/>
            <a:ext cx="196199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In this activity, the problem needs to be precisely formulated and justified by showing that it is significant for some practice</a:t>
            </a:r>
            <a:endParaRPr lang="sv-SE" sz="1350" dirty="0"/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265881" y="3253028"/>
            <a:ext cx="570995" cy="3756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2657989" y="3628634"/>
            <a:ext cx="20886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591350" y="3680829"/>
            <a:ext cx="2476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This activity creates an artefact that addresses the explicated problem and fulfils the defined requirements. </a:t>
            </a:r>
            <a:endParaRPr lang="sv-SE" sz="1350" dirty="0"/>
          </a:p>
        </p:txBody>
      </p:sp>
      <p:cxnSp>
        <p:nvCxnSpPr>
          <p:cNvPr id="53" name="Straight Connector 52"/>
          <p:cNvCxnSpPr/>
          <p:nvPr/>
        </p:nvCxnSpPr>
        <p:spPr>
          <a:xfrm flipH="1">
            <a:off x="6444770" y="1417260"/>
            <a:ext cx="103597" cy="19617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6312396" y="1417260"/>
            <a:ext cx="274527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221619" y="248313"/>
            <a:ext cx="292683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This activity uses the developed artefact in an illustrative or real-life case, sometimes called a “proof of concept”, thereby proving the feasibility of the artefact. </a:t>
            </a:r>
            <a:endParaRPr lang="sv-SE" sz="1350" dirty="0"/>
          </a:p>
        </p:txBody>
      </p:sp>
      <p:sp>
        <p:nvSpPr>
          <p:cNvPr id="49" name="Oval 48"/>
          <p:cNvSpPr/>
          <p:nvPr/>
        </p:nvSpPr>
        <p:spPr>
          <a:xfrm>
            <a:off x="5989580" y="80148"/>
            <a:ext cx="2957204" cy="1490377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309375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60874" y="30736"/>
            <a:ext cx="1352645" cy="11758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ctangle 3"/>
          <p:cNvSpPr/>
          <p:nvPr/>
        </p:nvSpPr>
        <p:spPr>
          <a:xfrm>
            <a:off x="1021080" y="155555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8" name="Rectangle 7"/>
          <p:cNvSpPr/>
          <p:nvPr/>
        </p:nvSpPr>
        <p:spPr>
          <a:xfrm>
            <a:off x="2552700" y="2104189"/>
            <a:ext cx="960120" cy="9667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9" name="Rectangle 8"/>
          <p:cNvSpPr/>
          <p:nvPr/>
        </p:nvSpPr>
        <p:spPr>
          <a:xfrm>
            <a:off x="4084320" y="2652830"/>
            <a:ext cx="960120" cy="701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0" name="Rectangle 9"/>
          <p:cNvSpPr/>
          <p:nvPr/>
        </p:nvSpPr>
        <p:spPr>
          <a:xfrm>
            <a:off x="5600700" y="3231950"/>
            <a:ext cx="960120" cy="713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1" name="Rectangle 10"/>
          <p:cNvSpPr/>
          <p:nvPr/>
        </p:nvSpPr>
        <p:spPr>
          <a:xfrm>
            <a:off x="7117080" y="378059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cxnSp>
        <p:nvCxnSpPr>
          <p:cNvPr id="13" name="Elbow Connector 12"/>
          <p:cNvCxnSpPr/>
          <p:nvPr/>
        </p:nvCxnSpPr>
        <p:spPr>
          <a:xfrm>
            <a:off x="1981200" y="1666095"/>
            <a:ext cx="571500" cy="6934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3482340" y="23708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5059680" y="29423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6576060" y="3365355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65760" y="1829870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092440" y="4039669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57989" y="2078398"/>
            <a:ext cx="1150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Define require-</a:t>
            </a:r>
          </a:p>
          <a:p>
            <a:r>
              <a:rPr lang="en-US" sz="1500" dirty="0" err="1"/>
              <a:t>ments</a:t>
            </a:r>
            <a:r>
              <a:rPr lang="en-US" sz="1500" dirty="0"/>
              <a:t> on artefact</a:t>
            </a:r>
            <a:endParaRPr lang="sv-SE" sz="1500" dirty="0"/>
          </a:p>
        </p:txBody>
      </p:sp>
      <p:sp>
        <p:nvSpPr>
          <p:cNvPr id="59" name="TextBox 58"/>
          <p:cNvSpPr txBox="1"/>
          <p:nvPr/>
        </p:nvSpPr>
        <p:spPr>
          <a:xfrm>
            <a:off x="1058624" y="1576923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Explicate</a:t>
            </a:r>
          </a:p>
          <a:p>
            <a:r>
              <a:rPr lang="sv-SE" sz="1500" dirty="0"/>
              <a:t>problem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9268" y="2628662"/>
            <a:ext cx="1158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Design and develop artefact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1397" y="3200685"/>
            <a:ext cx="9296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Demon-</a:t>
            </a:r>
          </a:p>
          <a:p>
            <a:r>
              <a:rPr lang="sv-SE" sz="1500" dirty="0"/>
              <a:t>strate artefact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6141" y="3814002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Evaluate artefact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1928" y="1552870"/>
            <a:ext cx="9266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Initial problem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3661" y="1615909"/>
            <a:ext cx="12147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Explicated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8201" y="2357179"/>
            <a:ext cx="13899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Requirements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58176" y="2929563"/>
            <a:ext cx="12147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Artefact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8367" y="3310033"/>
            <a:ext cx="1313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Demonstrated artefact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77199" y="3791141"/>
            <a:ext cx="1036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Evaluated artefact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207483" y="267994"/>
            <a:ext cx="7886700" cy="994172"/>
          </a:xfrm>
        </p:spPr>
        <p:txBody>
          <a:bodyPr/>
          <a:lstStyle/>
          <a:p>
            <a:r>
              <a:rPr lang="sv-SE" dirty="0" smtClean="0"/>
              <a:t>A design science framework</a:t>
            </a:r>
            <a:endParaRPr lang="sv-SE" dirty="0"/>
          </a:p>
        </p:txBody>
      </p:sp>
      <p:sp>
        <p:nvSpPr>
          <p:cNvPr id="3" name="TextBox 2"/>
          <p:cNvSpPr txBox="1"/>
          <p:nvPr/>
        </p:nvSpPr>
        <p:spPr>
          <a:xfrm>
            <a:off x="3050046" y="1038255"/>
            <a:ext cx="2641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Defining requirements can be seen as a transformation of the problem into demands on the proposed artefact. </a:t>
            </a:r>
            <a:endParaRPr lang="sv-SE" sz="1350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416620" y="2032960"/>
            <a:ext cx="474704" cy="1474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65761" y="3507786"/>
            <a:ext cx="17689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3095876" y="1938502"/>
            <a:ext cx="24233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3398086" y="1934956"/>
            <a:ext cx="511658" cy="3331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6424" y="3534641"/>
            <a:ext cx="196199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In this activity, the problem needs to be precisely formulated and justified by showing that it is significant for some practice</a:t>
            </a:r>
            <a:endParaRPr lang="sv-SE" sz="1350" dirty="0"/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265881" y="3253028"/>
            <a:ext cx="570995" cy="3756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2657989" y="3628634"/>
            <a:ext cx="20886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591350" y="3680829"/>
            <a:ext cx="2476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This activity creates an artefact that addresses the explicated problem and fulfils the defined requirements. </a:t>
            </a:r>
            <a:endParaRPr lang="sv-SE" sz="1350" dirty="0"/>
          </a:p>
        </p:txBody>
      </p:sp>
      <p:cxnSp>
        <p:nvCxnSpPr>
          <p:cNvPr id="53" name="Straight Connector 52"/>
          <p:cNvCxnSpPr/>
          <p:nvPr/>
        </p:nvCxnSpPr>
        <p:spPr>
          <a:xfrm flipH="1">
            <a:off x="6444770" y="1417260"/>
            <a:ext cx="103597" cy="19617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6312396" y="1417260"/>
            <a:ext cx="274527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221619" y="248313"/>
            <a:ext cx="292683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This activity uses the developed artefact in an illustrative or real-life case, sometimes called a “proof of concept”, thereby proving the feasibility of the artefact. </a:t>
            </a:r>
            <a:endParaRPr lang="sv-SE" sz="1350" dirty="0"/>
          </a:p>
        </p:txBody>
      </p:sp>
      <p:sp>
        <p:nvSpPr>
          <p:cNvPr id="43" name="TextBox 42"/>
          <p:cNvSpPr txBox="1"/>
          <p:nvPr/>
        </p:nvSpPr>
        <p:spPr>
          <a:xfrm>
            <a:off x="6878579" y="1610489"/>
            <a:ext cx="2353276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This activity determines how well the artefact </a:t>
            </a:r>
            <a:r>
              <a:rPr lang="en-GB" sz="1350" dirty="0" smtClean="0"/>
              <a:t>fulfils </a:t>
            </a:r>
            <a:r>
              <a:rPr lang="en-GB" sz="1350" dirty="0"/>
              <a:t>the requirements and to what extent it can solve, or alleviate, the practical problem that motivated the research.</a:t>
            </a:r>
            <a:endParaRPr lang="sv-SE" sz="1350" dirty="0"/>
          </a:p>
          <a:p>
            <a:endParaRPr lang="sv-SE" sz="1350" dirty="0"/>
          </a:p>
        </p:txBody>
      </p:sp>
      <p:cxnSp>
        <p:nvCxnSpPr>
          <p:cNvPr id="44" name="Straight Connector 43"/>
          <p:cNvCxnSpPr/>
          <p:nvPr/>
        </p:nvCxnSpPr>
        <p:spPr>
          <a:xfrm flipH="1">
            <a:off x="7970398" y="2919530"/>
            <a:ext cx="275971" cy="9699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 flipV="1">
            <a:off x="6945963" y="2929563"/>
            <a:ext cx="1988756" cy="12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763703" y="1289967"/>
            <a:ext cx="2353276" cy="1784788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79783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Evaluate</a:t>
            </a:r>
            <a:r>
              <a:rPr lang="sv-SE" dirty="0" smtClean="0"/>
              <a:t> </a:t>
            </a:r>
            <a:r>
              <a:rPr lang="sv-SE" dirty="0" err="1" smtClean="0"/>
              <a:t>artefact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00" y="1275533"/>
            <a:ext cx="7867906" cy="3603827"/>
          </a:xfrm>
        </p:spPr>
        <p:txBody>
          <a:bodyPr>
            <a:normAutofit fontScale="62500" lnSpcReduction="20000"/>
          </a:bodyPr>
          <a:lstStyle/>
          <a:p>
            <a:r>
              <a:rPr lang="en-US" b="1" i="1" dirty="0"/>
              <a:t>Ex ante evaluation</a:t>
            </a:r>
            <a:r>
              <a:rPr lang="en-US" b="1" dirty="0"/>
              <a:t> </a:t>
            </a:r>
            <a:r>
              <a:rPr lang="en-US" dirty="0" smtClean="0"/>
              <a:t>- means </a:t>
            </a:r>
            <a:r>
              <a:rPr lang="en-US" dirty="0"/>
              <a:t>that the artefact is evaluated without being used or even being fully </a:t>
            </a:r>
            <a:r>
              <a:rPr lang="en-US" dirty="0" smtClean="0"/>
              <a:t>developed</a:t>
            </a:r>
          </a:p>
          <a:p>
            <a:pPr lvl="1">
              <a:lnSpc>
                <a:spcPct val="170000"/>
              </a:lnSpc>
              <a:spcBef>
                <a:spcPts val="1200"/>
              </a:spcBef>
            </a:pPr>
            <a:r>
              <a:rPr lang="en-US" sz="2200" dirty="0"/>
              <a:t>For example, an ex ante evaluation of a </a:t>
            </a:r>
            <a:r>
              <a:rPr lang="en-US" sz="2200" b="1" dirty="0"/>
              <a:t>new collaborative editor </a:t>
            </a:r>
            <a:r>
              <a:rPr lang="en-US" sz="2200" b="1" dirty="0" smtClean="0"/>
              <a:t>software </a:t>
            </a:r>
            <a:r>
              <a:rPr lang="en-US" sz="2200" dirty="0" smtClean="0"/>
              <a:t>(like Google docs) can </a:t>
            </a:r>
            <a:r>
              <a:rPr lang="en-US" sz="2200" dirty="0"/>
              <a:t>be carried out by </a:t>
            </a:r>
            <a:r>
              <a:rPr lang="en-US" sz="2200" b="1" dirty="0"/>
              <a:t>interviewing a number of experts </a:t>
            </a:r>
            <a:r>
              <a:rPr lang="en-US" sz="2200" dirty="0"/>
              <a:t>on word processing and social software, based on a specification and early prototype of the editor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US" b="1" i="1" dirty="0"/>
              <a:t>E</a:t>
            </a:r>
            <a:r>
              <a:rPr lang="en-US" b="1" i="1" dirty="0" smtClean="0"/>
              <a:t>x </a:t>
            </a:r>
            <a:r>
              <a:rPr lang="en-US" b="1" i="1" dirty="0"/>
              <a:t>post evaluation</a:t>
            </a:r>
            <a:r>
              <a:rPr lang="en-US" b="1" dirty="0"/>
              <a:t> </a:t>
            </a:r>
            <a:r>
              <a:rPr lang="en-US" dirty="0" smtClean="0"/>
              <a:t>- requires </a:t>
            </a:r>
            <a:r>
              <a:rPr lang="en-US" dirty="0"/>
              <a:t>the artefact to be employed. </a:t>
            </a:r>
            <a:endParaRPr lang="en-US" dirty="0" smtClean="0"/>
          </a:p>
          <a:p>
            <a:pPr lvl="1">
              <a:lnSpc>
                <a:spcPct val="170000"/>
              </a:lnSpc>
              <a:spcBef>
                <a:spcPts val="1200"/>
              </a:spcBef>
            </a:pPr>
            <a:r>
              <a:rPr lang="en-US" sz="2200" dirty="0"/>
              <a:t>An ex post evaluation can be done by </a:t>
            </a:r>
            <a:r>
              <a:rPr lang="en-US" sz="2200" b="1" dirty="0"/>
              <a:t>implementing the </a:t>
            </a:r>
            <a:r>
              <a:rPr lang="en-US" sz="2200" b="1" dirty="0" smtClean="0"/>
              <a:t>collaborative editor software in </a:t>
            </a:r>
            <a:r>
              <a:rPr lang="en-US" sz="2200" b="1" dirty="0"/>
              <a:t>an organization and observing the use of it</a:t>
            </a:r>
            <a:r>
              <a:rPr lang="en-US" sz="2200" dirty="0"/>
              <a:t>.</a:t>
            </a:r>
            <a:endParaRPr lang="sv-SE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7030387" y="4725471"/>
            <a:ext cx="18492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 smtClean="0"/>
              <a:t>(</a:t>
            </a:r>
            <a:r>
              <a:rPr lang="sv-SE" sz="1400" dirty="0" err="1" smtClean="0"/>
              <a:t>Pries-Heje</a:t>
            </a:r>
            <a:r>
              <a:rPr lang="sv-SE" sz="1400" dirty="0" smtClean="0"/>
              <a:t> et al, 2008)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xmlns="" val="44717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Evaluate</a:t>
            </a:r>
            <a:r>
              <a:rPr lang="sv-SE" dirty="0" smtClean="0"/>
              <a:t> </a:t>
            </a:r>
            <a:r>
              <a:rPr lang="sv-SE" dirty="0" err="1" smtClean="0"/>
              <a:t>artefact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00" y="1275533"/>
            <a:ext cx="7867906" cy="3603827"/>
          </a:xfrm>
        </p:spPr>
        <p:txBody>
          <a:bodyPr>
            <a:normAutofit/>
          </a:bodyPr>
          <a:lstStyle/>
          <a:p>
            <a:r>
              <a:rPr lang="en-US" sz="1600" dirty="0" smtClean="0"/>
              <a:t>Evaluate</a:t>
            </a:r>
            <a:r>
              <a:rPr lang="en-US" sz="1600" dirty="0"/>
              <a:t> </a:t>
            </a:r>
            <a:r>
              <a:rPr lang="en-US" sz="1600" dirty="0" smtClean="0"/>
              <a:t>how the artefact </a:t>
            </a:r>
            <a:r>
              <a:rPr lang="en-US" sz="1600" b="1" dirty="0" smtClean="0"/>
              <a:t>fulfills each requirement</a:t>
            </a:r>
            <a:r>
              <a:rPr lang="en-US" sz="1600" dirty="0" smtClean="0"/>
              <a:t>, for example in form of strengths/benefits, weaknesses/drawbacks, and also suggested improvement</a:t>
            </a:r>
          </a:p>
          <a:p>
            <a:r>
              <a:rPr lang="en-US" sz="1600" dirty="0" smtClean="0"/>
              <a:t>Evaluate </a:t>
            </a:r>
            <a:r>
              <a:rPr lang="en-US" sz="1600" dirty="0"/>
              <a:t>how the artefact </a:t>
            </a:r>
            <a:r>
              <a:rPr lang="en-US" sz="1600" b="1" dirty="0" smtClean="0"/>
              <a:t>addresses the overall practical problems</a:t>
            </a:r>
            <a:r>
              <a:rPr lang="en-US" sz="1600" dirty="0" smtClean="0"/>
              <a:t>, for </a:t>
            </a:r>
            <a:r>
              <a:rPr lang="en-US" sz="1600" dirty="0"/>
              <a:t>example in form of strengths/benefits, weaknesses/drawbacks and suggested improvement</a:t>
            </a:r>
          </a:p>
          <a:p>
            <a:pPr marL="0" indent="0">
              <a:buNone/>
            </a:pPr>
            <a:endParaRPr lang="en-US" sz="1600" dirty="0"/>
          </a:p>
          <a:p>
            <a:endParaRPr lang="sv-SE" sz="2200" dirty="0"/>
          </a:p>
        </p:txBody>
      </p:sp>
    </p:spTree>
    <p:extLst>
      <p:ext uri="{BB962C8B-B14F-4D97-AF65-F5344CB8AC3E}">
        <p14:creationId xmlns:p14="http://schemas.microsoft.com/office/powerpoint/2010/main" xmlns="" val="89315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60874" y="30736"/>
            <a:ext cx="1352645" cy="11758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627534"/>
            <a:ext cx="8106111" cy="596700"/>
          </a:xfrm>
        </p:spPr>
        <p:txBody>
          <a:bodyPr/>
          <a:lstStyle/>
          <a:p>
            <a:r>
              <a:rPr lang="sv-SE" dirty="0" err="1"/>
              <a:t>Evaluate</a:t>
            </a:r>
            <a:r>
              <a:rPr lang="sv-SE" dirty="0"/>
              <a:t> </a:t>
            </a:r>
            <a:r>
              <a:rPr lang="sv-SE" dirty="0" err="1" smtClean="0"/>
              <a:t>artefact</a:t>
            </a:r>
            <a:r>
              <a:rPr lang="sv-SE" dirty="0" smtClean="0"/>
              <a:t>: </a:t>
            </a:r>
            <a:r>
              <a:rPr lang="sv-SE" dirty="0" err="1" smtClean="0"/>
              <a:t>Informed</a:t>
            </a:r>
            <a:r>
              <a:rPr lang="sv-SE" dirty="0" smtClean="0"/>
              <a:t> argument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00" y="1275533"/>
            <a:ext cx="7314655" cy="3603827"/>
          </a:xfrm>
        </p:spPr>
        <p:txBody>
          <a:bodyPr>
            <a:normAutofit/>
          </a:bodyPr>
          <a:lstStyle/>
          <a:p>
            <a:r>
              <a:rPr lang="en-US" sz="1600" b="1" dirty="0" smtClean="0"/>
              <a:t>Informed argument </a:t>
            </a:r>
            <a:r>
              <a:rPr lang="en-US" sz="1600" dirty="0" smtClean="0"/>
              <a:t>- is an </a:t>
            </a:r>
            <a:r>
              <a:rPr lang="en-US" sz="1600" b="1" dirty="0" smtClean="0"/>
              <a:t>evaluation “method” </a:t>
            </a:r>
            <a:r>
              <a:rPr lang="en-US" sz="1600" dirty="0" smtClean="0"/>
              <a:t>presented </a:t>
            </a:r>
            <a:r>
              <a:rPr lang="en-US" sz="1600" dirty="0"/>
              <a:t>in </a:t>
            </a:r>
            <a:r>
              <a:rPr lang="en-US" sz="1600" dirty="0" err="1"/>
              <a:t>Hevner</a:t>
            </a:r>
            <a:r>
              <a:rPr lang="en-US" sz="1600" dirty="0"/>
              <a:t> et al. (2004). </a:t>
            </a:r>
            <a:endParaRPr lang="en-US" sz="1600" dirty="0" smtClean="0"/>
          </a:p>
          <a:p>
            <a:r>
              <a:rPr lang="en-US" sz="1600" b="1" dirty="0" smtClean="0"/>
              <a:t>Informed argument </a:t>
            </a:r>
            <a:r>
              <a:rPr lang="en-US" sz="1600" dirty="0" smtClean="0"/>
              <a:t>- is </a:t>
            </a:r>
            <a:r>
              <a:rPr lang="en-US" sz="1600" dirty="0"/>
              <a:t>a </a:t>
            </a:r>
            <a:r>
              <a:rPr lang="en-US" sz="1600" b="1" dirty="0"/>
              <a:t>lightweight </a:t>
            </a:r>
            <a:r>
              <a:rPr lang="en-US" sz="1600" b="1" dirty="0" smtClean="0"/>
              <a:t>evaluation method </a:t>
            </a:r>
            <a:r>
              <a:rPr lang="en-US" sz="1600" dirty="0" smtClean="0"/>
              <a:t>where </a:t>
            </a:r>
            <a:r>
              <a:rPr lang="en-US" sz="1600" dirty="0"/>
              <a:t>the </a:t>
            </a:r>
            <a:r>
              <a:rPr lang="en-US" sz="1600" b="1" dirty="0"/>
              <a:t>researchers who developed an artefact discuss its benefits and </a:t>
            </a:r>
            <a:r>
              <a:rPr lang="en-US" sz="1600" b="1" dirty="0" smtClean="0"/>
              <a:t>drawbacks</a:t>
            </a:r>
            <a:r>
              <a:rPr lang="en-US" sz="1600" dirty="0"/>
              <a:t>, and by </a:t>
            </a:r>
            <a:r>
              <a:rPr lang="en-US" sz="1600" dirty="0" smtClean="0"/>
              <a:t>this argumentation </a:t>
            </a:r>
            <a:r>
              <a:rPr lang="en-US" sz="1600" dirty="0"/>
              <a:t>show that it </a:t>
            </a:r>
            <a:r>
              <a:rPr lang="en-US" sz="1600" dirty="0" smtClean="0"/>
              <a:t>does (or does not) </a:t>
            </a:r>
            <a:r>
              <a:rPr lang="en-US" sz="1600" dirty="0"/>
              <a:t>fulfil the defined requirements. </a:t>
            </a:r>
          </a:p>
          <a:p>
            <a:endParaRPr lang="sv-SE" sz="2200" dirty="0"/>
          </a:p>
        </p:txBody>
      </p:sp>
    </p:spTree>
    <p:extLst>
      <p:ext uri="{BB962C8B-B14F-4D97-AF65-F5344CB8AC3E}">
        <p14:creationId xmlns:p14="http://schemas.microsoft.com/office/powerpoint/2010/main" xmlns="" val="2893455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21080" y="155555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8" name="Rectangle 7"/>
          <p:cNvSpPr/>
          <p:nvPr/>
        </p:nvSpPr>
        <p:spPr>
          <a:xfrm>
            <a:off x="2552700" y="2104189"/>
            <a:ext cx="960120" cy="9667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9" name="Rectangle 8"/>
          <p:cNvSpPr/>
          <p:nvPr/>
        </p:nvSpPr>
        <p:spPr>
          <a:xfrm>
            <a:off x="4084320" y="2652830"/>
            <a:ext cx="960120" cy="701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0" name="Rectangle 9"/>
          <p:cNvSpPr/>
          <p:nvPr/>
        </p:nvSpPr>
        <p:spPr>
          <a:xfrm>
            <a:off x="5600700" y="3231950"/>
            <a:ext cx="960120" cy="713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1" name="Rectangle 10"/>
          <p:cNvSpPr/>
          <p:nvPr/>
        </p:nvSpPr>
        <p:spPr>
          <a:xfrm>
            <a:off x="7117080" y="3780590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cxnSp>
        <p:nvCxnSpPr>
          <p:cNvPr id="13" name="Elbow Connector 12"/>
          <p:cNvCxnSpPr/>
          <p:nvPr/>
        </p:nvCxnSpPr>
        <p:spPr>
          <a:xfrm>
            <a:off x="1981200" y="1666095"/>
            <a:ext cx="571500" cy="6934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3482340" y="23708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5059680" y="2942390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6576060" y="3365355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65760" y="1829870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092440" y="4039669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57989" y="2078398"/>
            <a:ext cx="1150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Define require-</a:t>
            </a:r>
          </a:p>
          <a:p>
            <a:r>
              <a:rPr lang="en-US" sz="1500" dirty="0" err="1"/>
              <a:t>ments</a:t>
            </a:r>
            <a:r>
              <a:rPr lang="en-US" sz="1500" dirty="0"/>
              <a:t> on artefact</a:t>
            </a:r>
            <a:endParaRPr lang="sv-SE" sz="1500" dirty="0"/>
          </a:p>
        </p:txBody>
      </p:sp>
      <p:sp>
        <p:nvSpPr>
          <p:cNvPr id="59" name="TextBox 58"/>
          <p:cNvSpPr txBox="1"/>
          <p:nvPr/>
        </p:nvSpPr>
        <p:spPr>
          <a:xfrm>
            <a:off x="1058624" y="1576923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Explicate</a:t>
            </a:r>
          </a:p>
          <a:p>
            <a:r>
              <a:rPr lang="sv-SE" sz="1500" dirty="0"/>
              <a:t>problem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9268" y="2628662"/>
            <a:ext cx="1158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Design and develop artefact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1397" y="3200685"/>
            <a:ext cx="9296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Demon-</a:t>
            </a:r>
          </a:p>
          <a:p>
            <a:r>
              <a:rPr lang="sv-SE" sz="1500" dirty="0"/>
              <a:t>strate artefact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6141" y="3814002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Evaluate artefact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1928" y="1552870"/>
            <a:ext cx="9266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Initial problem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3661" y="1615909"/>
            <a:ext cx="12147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Explicated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8201" y="2357179"/>
            <a:ext cx="13899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Requirements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58176" y="2929563"/>
            <a:ext cx="12147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Artefact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8367" y="3310033"/>
            <a:ext cx="1313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Demonstrated artefact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77199" y="3791141"/>
            <a:ext cx="1036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Evaluated artefact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sv-SE" dirty="0" smtClean="0"/>
              <a:t>A design science framework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39988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The design science framework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999" y="1275534"/>
            <a:ext cx="7552861" cy="3867966"/>
          </a:xfrm>
        </p:spPr>
        <p:txBody>
          <a:bodyPr>
            <a:normAutofit/>
          </a:bodyPr>
          <a:lstStyle/>
          <a:p>
            <a:r>
              <a:rPr lang="en-US" sz="1600" b="1" dirty="0" smtClean="0"/>
              <a:t>IMPORTANT: </a:t>
            </a:r>
            <a:r>
              <a:rPr lang="en-US" sz="1600" dirty="0" smtClean="0"/>
              <a:t>The design science framework </a:t>
            </a:r>
            <a:r>
              <a:rPr lang="en-US" sz="1600" b="1" dirty="0" smtClean="0"/>
              <a:t>supports presentations of the research methodology: it presents the result of each activity. </a:t>
            </a:r>
          </a:p>
          <a:p>
            <a:r>
              <a:rPr lang="en-US" sz="1600" dirty="0" smtClean="0"/>
              <a:t>However, the design science framework is </a:t>
            </a:r>
            <a:r>
              <a:rPr lang="en-US" sz="1600" b="1" dirty="0" smtClean="0"/>
              <a:t>NOT a description of how the research has been carried out</a:t>
            </a:r>
            <a:r>
              <a:rPr lang="en-US" dirty="0" smtClean="0"/>
              <a:t>.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2437102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The design science framework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999" y="1275534"/>
            <a:ext cx="7552861" cy="3867966"/>
          </a:xfrm>
        </p:spPr>
        <p:txBody>
          <a:bodyPr>
            <a:normAutofit/>
          </a:bodyPr>
          <a:lstStyle/>
          <a:p>
            <a:r>
              <a:rPr lang="en-US" sz="1600" dirty="0" smtClean="0"/>
              <a:t>The actual design science research </a:t>
            </a:r>
            <a:r>
              <a:rPr lang="en-US" sz="1600" b="1" dirty="0" smtClean="0"/>
              <a:t>can be carried out in different ways</a:t>
            </a:r>
            <a:r>
              <a:rPr lang="en-US" sz="1600" dirty="0" smtClean="0"/>
              <a:t>, for example:</a:t>
            </a: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sz="1400" dirty="0"/>
              <a:t>o</a:t>
            </a:r>
            <a:r>
              <a:rPr lang="en-US" sz="1400" dirty="0" smtClean="0"/>
              <a:t>ften a design </a:t>
            </a:r>
            <a:r>
              <a:rPr lang="en-US" sz="1400" dirty="0"/>
              <a:t>science research </a:t>
            </a:r>
            <a:r>
              <a:rPr lang="en-US" sz="1400" dirty="0" smtClean="0"/>
              <a:t>project is carried out </a:t>
            </a:r>
            <a:r>
              <a:rPr lang="en-US" sz="1400" b="1" dirty="0" smtClean="0"/>
              <a:t>using several iterations of design and evaluation </a:t>
            </a:r>
            <a:r>
              <a:rPr lang="en-US" sz="1400" dirty="0" smtClean="0"/>
              <a:t>(as in agile software development methods). </a:t>
            </a:r>
            <a:r>
              <a:rPr lang="en-US" sz="1400" b="1" dirty="0" smtClean="0"/>
              <a:t>This is not explicitly showed in the framework. </a:t>
            </a:r>
            <a:r>
              <a:rPr lang="en-US" sz="1400" dirty="0" smtClean="0"/>
              <a:t>The framework just present the result of each activity when the research project has been finished</a:t>
            </a: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US" sz="1400" dirty="0" smtClean="0"/>
              <a:t>the developed artefact </a:t>
            </a:r>
            <a:r>
              <a:rPr lang="en-US" sz="1400" b="1" dirty="0" smtClean="0"/>
              <a:t>may solve another problem than the first expected</a:t>
            </a:r>
            <a:r>
              <a:rPr lang="en-US" sz="1400" dirty="0" smtClean="0"/>
              <a:t>, therefore the original problem statement (and probably also the requirements) need to be changed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257108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215" y="596798"/>
            <a:ext cx="6850800" cy="596700"/>
          </a:xfrm>
        </p:spPr>
        <p:txBody>
          <a:bodyPr/>
          <a:lstStyle/>
          <a:p>
            <a:r>
              <a:rPr lang="sv-SE" dirty="0" smtClean="0"/>
              <a:t>Peffer et al (2007) </a:t>
            </a:r>
            <a:endParaRPr lang="sv-S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5122" y="1268016"/>
            <a:ext cx="6953280" cy="328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9808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7760874" y="30736"/>
            <a:ext cx="1352645" cy="11758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ctangle 3"/>
          <p:cNvSpPr/>
          <p:nvPr/>
        </p:nvSpPr>
        <p:spPr>
          <a:xfrm>
            <a:off x="1021080" y="1111229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8" name="Rectangle 7"/>
          <p:cNvSpPr/>
          <p:nvPr/>
        </p:nvSpPr>
        <p:spPr>
          <a:xfrm>
            <a:off x="2552700" y="1659868"/>
            <a:ext cx="960120" cy="9667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9" name="Rectangle 8"/>
          <p:cNvSpPr/>
          <p:nvPr/>
        </p:nvSpPr>
        <p:spPr>
          <a:xfrm>
            <a:off x="4084320" y="2208509"/>
            <a:ext cx="960120" cy="701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0" name="Rectangle 9"/>
          <p:cNvSpPr/>
          <p:nvPr/>
        </p:nvSpPr>
        <p:spPr>
          <a:xfrm>
            <a:off x="5600700" y="2787629"/>
            <a:ext cx="960120" cy="713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1" name="Rectangle 10"/>
          <p:cNvSpPr/>
          <p:nvPr/>
        </p:nvSpPr>
        <p:spPr>
          <a:xfrm>
            <a:off x="7117080" y="3336269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cxnSp>
        <p:nvCxnSpPr>
          <p:cNvPr id="13" name="Elbow Connector 12"/>
          <p:cNvCxnSpPr/>
          <p:nvPr/>
        </p:nvCxnSpPr>
        <p:spPr>
          <a:xfrm>
            <a:off x="1981200" y="1221774"/>
            <a:ext cx="571500" cy="6934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3482340" y="1926569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5059680" y="2498069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6576060" y="2921034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501140" y="349229"/>
            <a:ext cx="0" cy="7620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032760" y="349229"/>
            <a:ext cx="0" cy="13030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4526280" y="364470"/>
            <a:ext cx="0" cy="18440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080760" y="349229"/>
            <a:ext cx="0" cy="24384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849712" y="333989"/>
            <a:ext cx="0" cy="298704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65760" y="1385549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092440" y="3595348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57989" y="1634077"/>
            <a:ext cx="1150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Define require-</a:t>
            </a:r>
          </a:p>
          <a:p>
            <a:r>
              <a:rPr lang="en-US" sz="1500" dirty="0" err="1"/>
              <a:t>ments</a:t>
            </a:r>
            <a:r>
              <a:rPr lang="en-US" sz="1500" dirty="0"/>
              <a:t> on artefact</a:t>
            </a:r>
            <a:endParaRPr lang="sv-SE" sz="1500" dirty="0"/>
          </a:p>
        </p:txBody>
      </p:sp>
      <p:sp>
        <p:nvSpPr>
          <p:cNvPr id="59" name="TextBox 58"/>
          <p:cNvSpPr txBox="1"/>
          <p:nvPr/>
        </p:nvSpPr>
        <p:spPr>
          <a:xfrm>
            <a:off x="1058624" y="1132602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Explicate</a:t>
            </a:r>
          </a:p>
          <a:p>
            <a:r>
              <a:rPr lang="sv-SE" sz="1500" dirty="0"/>
              <a:t>problem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9268" y="2184341"/>
            <a:ext cx="1158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Design and develop artefact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1397" y="2756364"/>
            <a:ext cx="9296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Demon-</a:t>
            </a:r>
          </a:p>
          <a:p>
            <a:r>
              <a:rPr lang="sv-SE" sz="1500" dirty="0"/>
              <a:t>strate artefact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6141" y="3369681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Evaluate artefact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1928" y="1108549"/>
            <a:ext cx="9266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Initial problem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3661" y="1171588"/>
            <a:ext cx="12147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Explicated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8202" y="1912858"/>
            <a:ext cx="15490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Requirements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58176" y="2485242"/>
            <a:ext cx="12147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Artefact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8367" y="2865712"/>
            <a:ext cx="1313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Demonstrated artefact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77199" y="3346820"/>
            <a:ext cx="1036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Evaluated artefact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929" y="2006"/>
            <a:ext cx="8722044" cy="3495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650" dirty="0"/>
              <a:t>Research strategies and methods</a:t>
            </a:r>
          </a:p>
        </p:txBody>
      </p:sp>
    </p:spTree>
    <p:extLst>
      <p:ext uri="{BB962C8B-B14F-4D97-AF65-F5344CB8AC3E}">
        <p14:creationId xmlns:p14="http://schemas.microsoft.com/office/powerpoint/2010/main" xmlns="" val="240474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Research </a:t>
            </a:r>
            <a:r>
              <a:rPr lang="sv-SE" dirty="0" err="1" smtClean="0"/>
              <a:t>methods</a:t>
            </a:r>
            <a:endParaRPr lang="sv-SE" dirty="0"/>
          </a:p>
        </p:txBody>
      </p:sp>
      <p:sp>
        <p:nvSpPr>
          <p:cNvPr id="4" name="Rectangle 3"/>
          <p:cNvSpPr/>
          <p:nvPr/>
        </p:nvSpPr>
        <p:spPr>
          <a:xfrm>
            <a:off x="3465499" y="1523804"/>
            <a:ext cx="1037344" cy="484094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TextBox 4"/>
          <p:cNvSpPr txBox="1"/>
          <p:nvPr/>
        </p:nvSpPr>
        <p:spPr>
          <a:xfrm>
            <a:off x="3550022" y="1473463"/>
            <a:ext cx="1106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smtClean="0"/>
              <a:t>Research </a:t>
            </a:r>
            <a:r>
              <a:rPr lang="sv-SE" sz="1600" dirty="0" err="1" smtClean="0"/>
              <a:t>strategy</a:t>
            </a:r>
            <a:endParaRPr lang="sv-SE" sz="1600" dirty="0"/>
          </a:p>
        </p:txBody>
      </p:sp>
      <p:sp>
        <p:nvSpPr>
          <p:cNvPr id="8" name="Rectangle 7"/>
          <p:cNvSpPr/>
          <p:nvPr/>
        </p:nvSpPr>
        <p:spPr>
          <a:xfrm>
            <a:off x="3465499" y="2413073"/>
            <a:ext cx="1037344" cy="484094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TextBox 8"/>
          <p:cNvSpPr txBox="1"/>
          <p:nvPr/>
        </p:nvSpPr>
        <p:spPr>
          <a:xfrm>
            <a:off x="3550022" y="2362732"/>
            <a:ext cx="1106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smtClean="0"/>
              <a:t>Research </a:t>
            </a:r>
            <a:r>
              <a:rPr lang="sv-SE" sz="1600" dirty="0" err="1" smtClean="0"/>
              <a:t>Method</a:t>
            </a:r>
            <a:endParaRPr lang="sv-SE" sz="1600" dirty="0"/>
          </a:p>
        </p:txBody>
      </p:sp>
      <p:sp>
        <p:nvSpPr>
          <p:cNvPr id="10" name="Rectangle 9"/>
          <p:cNvSpPr/>
          <p:nvPr/>
        </p:nvSpPr>
        <p:spPr>
          <a:xfrm>
            <a:off x="1766046" y="3400668"/>
            <a:ext cx="1515034" cy="484094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TextBox 10"/>
          <p:cNvSpPr txBox="1"/>
          <p:nvPr/>
        </p:nvSpPr>
        <p:spPr>
          <a:xfrm>
            <a:off x="1766046" y="3327365"/>
            <a:ext cx="14305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smtClean="0"/>
              <a:t>Data </a:t>
            </a:r>
            <a:r>
              <a:rPr lang="sv-SE" sz="1600" dirty="0" err="1" smtClean="0"/>
              <a:t>collection</a:t>
            </a:r>
            <a:r>
              <a:rPr lang="sv-SE" sz="1600" dirty="0" smtClean="0"/>
              <a:t> </a:t>
            </a:r>
            <a:r>
              <a:rPr lang="sv-SE" sz="1600" dirty="0" err="1" smtClean="0"/>
              <a:t>method</a:t>
            </a:r>
            <a:endParaRPr lang="sv-SE" sz="1600" dirty="0"/>
          </a:p>
        </p:txBody>
      </p:sp>
      <p:sp>
        <p:nvSpPr>
          <p:cNvPr id="12" name="Rectangle 11"/>
          <p:cNvSpPr/>
          <p:nvPr/>
        </p:nvSpPr>
        <p:spPr>
          <a:xfrm>
            <a:off x="4746170" y="3400668"/>
            <a:ext cx="1515034" cy="484094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TextBox 12"/>
          <p:cNvSpPr txBox="1"/>
          <p:nvPr/>
        </p:nvSpPr>
        <p:spPr>
          <a:xfrm>
            <a:off x="4746170" y="3327365"/>
            <a:ext cx="14305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smtClean="0"/>
              <a:t>Data </a:t>
            </a:r>
            <a:r>
              <a:rPr lang="sv-SE" sz="1600" dirty="0" err="1" smtClean="0"/>
              <a:t>analysis</a:t>
            </a:r>
            <a:r>
              <a:rPr lang="sv-SE" sz="1600" dirty="0" smtClean="0"/>
              <a:t> </a:t>
            </a:r>
            <a:r>
              <a:rPr lang="sv-SE" sz="1600" dirty="0" err="1" smtClean="0"/>
              <a:t>method</a:t>
            </a:r>
            <a:endParaRPr lang="sv-SE" sz="1600" dirty="0"/>
          </a:p>
        </p:txBody>
      </p:sp>
      <p:sp>
        <p:nvSpPr>
          <p:cNvPr id="14" name="Rectangle 13"/>
          <p:cNvSpPr/>
          <p:nvPr/>
        </p:nvSpPr>
        <p:spPr>
          <a:xfrm>
            <a:off x="3793348" y="4446778"/>
            <a:ext cx="1515034" cy="484094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TextBox 14"/>
          <p:cNvSpPr txBox="1"/>
          <p:nvPr/>
        </p:nvSpPr>
        <p:spPr>
          <a:xfrm>
            <a:off x="3813035" y="4366581"/>
            <a:ext cx="165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 smtClean="0"/>
              <a:t>Qualitative</a:t>
            </a:r>
            <a:r>
              <a:rPr lang="sv-SE" sz="1600" dirty="0" smtClean="0"/>
              <a:t> </a:t>
            </a:r>
            <a:r>
              <a:rPr lang="sv-SE" sz="1600" dirty="0" err="1" smtClean="0"/>
              <a:t>analysis</a:t>
            </a:r>
            <a:r>
              <a:rPr lang="sv-SE" sz="1600" dirty="0" smtClean="0"/>
              <a:t> </a:t>
            </a:r>
            <a:r>
              <a:rPr lang="sv-SE" sz="1600" dirty="0" err="1" smtClean="0"/>
              <a:t>method</a:t>
            </a:r>
            <a:endParaRPr lang="sv-SE" sz="1600" dirty="0"/>
          </a:p>
        </p:txBody>
      </p:sp>
      <p:sp>
        <p:nvSpPr>
          <p:cNvPr id="16" name="Rectangle 15"/>
          <p:cNvSpPr/>
          <p:nvPr/>
        </p:nvSpPr>
        <p:spPr>
          <a:xfrm>
            <a:off x="5834415" y="4424792"/>
            <a:ext cx="1515034" cy="484094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7" name="TextBox 16"/>
          <p:cNvSpPr txBox="1"/>
          <p:nvPr/>
        </p:nvSpPr>
        <p:spPr>
          <a:xfrm>
            <a:off x="5834415" y="4346197"/>
            <a:ext cx="1734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 smtClean="0"/>
              <a:t>Quantitative</a:t>
            </a:r>
            <a:r>
              <a:rPr lang="sv-SE" sz="1600" dirty="0" smtClean="0"/>
              <a:t> </a:t>
            </a:r>
            <a:r>
              <a:rPr lang="sv-SE" sz="1600" dirty="0" err="1" smtClean="0"/>
              <a:t>analysis</a:t>
            </a:r>
            <a:r>
              <a:rPr lang="sv-SE" sz="1600" dirty="0" smtClean="0"/>
              <a:t> </a:t>
            </a:r>
            <a:r>
              <a:rPr lang="sv-SE" sz="1600" dirty="0" err="1" smtClean="0"/>
              <a:t>method</a:t>
            </a:r>
            <a:endParaRPr lang="sv-SE" sz="1600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2481301" y="3188873"/>
            <a:ext cx="0" cy="2117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5461425" y="3188872"/>
            <a:ext cx="0" cy="2117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481301" y="3188873"/>
            <a:ext cx="29801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3983530" y="2897167"/>
            <a:ext cx="0" cy="2917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>
            <a:off x="3845857" y="2890181"/>
            <a:ext cx="275345" cy="130629"/>
          </a:xfrm>
          <a:prstGeom prst="triangl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4564315" y="4227197"/>
            <a:ext cx="0" cy="2117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6609541" y="4240299"/>
            <a:ext cx="0" cy="2117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564315" y="4219410"/>
            <a:ext cx="2045226" cy="155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5480630" y="3948595"/>
            <a:ext cx="0" cy="2917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>
            <a:off x="5342957" y="3941609"/>
            <a:ext cx="275345" cy="130629"/>
          </a:xfrm>
          <a:prstGeom prst="triangl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3984171" y="2001584"/>
            <a:ext cx="0" cy="411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835292" y="1335923"/>
            <a:ext cx="1252266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smtClean="0"/>
              <a:t>Case </a:t>
            </a:r>
            <a:r>
              <a:rPr lang="sv-SE" sz="1100" dirty="0" err="1" smtClean="0"/>
              <a:t>Study</a:t>
            </a:r>
            <a:endParaRPr lang="sv-SE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smtClean="0"/>
              <a:t>Survey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smtClean="0"/>
              <a:t>Action research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smtClean="0"/>
              <a:t>Experiment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smtClean="0"/>
              <a:t>…</a:t>
            </a:r>
            <a:endParaRPr lang="sv-SE" sz="1100" dirty="0"/>
          </a:p>
        </p:txBody>
      </p:sp>
      <p:sp>
        <p:nvSpPr>
          <p:cNvPr id="39" name="Left Brace 38"/>
          <p:cNvSpPr/>
          <p:nvPr/>
        </p:nvSpPr>
        <p:spPr>
          <a:xfrm>
            <a:off x="4741046" y="1327467"/>
            <a:ext cx="94246" cy="88553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0" name="TextBox 39"/>
          <p:cNvSpPr txBox="1"/>
          <p:nvPr/>
        </p:nvSpPr>
        <p:spPr>
          <a:xfrm>
            <a:off x="386773" y="3200979"/>
            <a:ext cx="11705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err="1" smtClean="0"/>
              <a:t>Questionnaire</a:t>
            </a:r>
            <a:endParaRPr lang="sv-SE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err="1" smtClean="0"/>
              <a:t>Interview</a:t>
            </a:r>
            <a:endParaRPr lang="sv-SE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smtClean="0"/>
              <a:t>Observation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smtClean="0"/>
              <a:t>…</a:t>
            </a:r>
            <a:endParaRPr lang="sv-SE" sz="1100" dirty="0"/>
          </a:p>
        </p:txBody>
      </p:sp>
      <p:sp>
        <p:nvSpPr>
          <p:cNvPr id="41" name="Right Brace 40"/>
          <p:cNvSpPr/>
          <p:nvPr/>
        </p:nvSpPr>
        <p:spPr>
          <a:xfrm>
            <a:off x="1490705" y="3200978"/>
            <a:ext cx="196580" cy="74831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2" name="TextBox 41"/>
          <p:cNvSpPr txBox="1"/>
          <p:nvPr/>
        </p:nvSpPr>
        <p:spPr>
          <a:xfrm>
            <a:off x="2199254" y="4443524"/>
            <a:ext cx="139493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err="1" smtClean="0"/>
              <a:t>Content</a:t>
            </a:r>
            <a:r>
              <a:rPr lang="sv-SE" sz="1100" dirty="0" smtClean="0"/>
              <a:t> </a:t>
            </a:r>
            <a:r>
              <a:rPr lang="sv-SE" sz="1100" dirty="0" err="1" smtClean="0"/>
              <a:t>analysis</a:t>
            </a:r>
            <a:endParaRPr lang="sv-SE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err="1" smtClean="0"/>
              <a:t>Discource</a:t>
            </a:r>
            <a:r>
              <a:rPr lang="sv-SE" sz="1100" dirty="0" smtClean="0"/>
              <a:t> </a:t>
            </a:r>
            <a:r>
              <a:rPr lang="sv-SE" sz="1100" dirty="0" err="1" smtClean="0"/>
              <a:t>analysis</a:t>
            </a:r>
            <a:endParaRPr lang="sv-SE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smtClean="0"/>
              <a:t>…</a:t>
            </a:r>
          </a:p>
        </p:txBody>
      </p:sp>
      <p:sp>
        <p:nvSpPr>
          <p:cNvPr id="43" name="Right Brace 42"/>
          <p:cNvSpPr/>
          <p:nvPr/>
        </p:nvSpPr>
        <p:spPr>
          <a:xfrm>
            <a:off x="3526413" y="4366581"/>
            <a:ext cx="195217" cy="61768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4" name="TextBox 43"/>
          <p:cNvSpPr txBox="1"/>
          <p:nvPr/>
        </p:nvSpPr>
        <p:spPr>
          <a:xfrm>
            <a:off x="7486366" y="4391778"/>
            <a:ext cx="14430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err="1" smtClean="0"/>
              <a:t>Statistical</a:t>
            </a:r>
            <a:r>
              <a:rPr lang="sv-SE" sz="1100" dirty="0" smtClean="0"/>
              <a:t> </a:t>
            </a:r>
            <a:r>
              <a:rPr lang="sv-SE" sz="1100" dirty="0" err="1" smtClean="0"/>
              <a:t>methods</a:t>
            </a:r>
            <a:endParaRPr lang="sv-SE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100" dirty="0" smtClean="0"/>
              <a:t>…</a:t>
            </a:r>
          </a:p>
        </p:txBody>
      </p:sp>
      <p:sp>
        <p:nvSpPr>
          <p:cNvPr id="45" name="Left Brace 44"/>
          <p:cNvSpPr/>
          <p:nvPr/>
        </p:nvSpPr>
        <p:spPr>
          <a:xfrm>
            <a:off x="7438193" y="4331873"/>
            <a:ext cx="157077" cy="58921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1" name="TextBox 50"/>
          <p:cNvSpPr txBox="1"/>
          <p:nvPr/>
        </p:nvSpPr>
        <p:spPr>
          <a:xfrm>
            <a:off x="3439857" y="1993682"/>
            <a:ext cx="615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i="1" dirty="0" err="1" smtClean="0"/>
              <a:t>govern</a:t>
            </a:r>
            <a:endParaRPr lang="sv-SE" sz="1200" i="1" dirty="0"/>
          </a:p>
        </p:txBody>
      </p:sp>
      <p:sp>
        <p:nvSpPr>
          <p:cNvPr id="54" name="Isosceles Triangle 53"/>
          <p:cNvSpPr/>
          <p:nvPr/>
        </p:nvSpPr>
        <p:spPr>
          <a:xfrm rot="10800000">
            <a:off x="3782574" y="2252940"/>
            <a:ext cx="126566" cy="45719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6" name="TextBox 55"/>
          <p:cNvSpPr txBox="1"/>
          <p:nvPr/>
        </p:nvSpPr>
        <p:spPr>
          <a:xfrm rot="16200000">
            <a:off x="7832742" y="1853441"/>
            <a:ext cx="16050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 smtClean="0"/>
              <a:t>(</a:t>
            </a:r>
            <a:r>
              <a:rPr lang="sv-SE" sz="1400" dirty="0" err="1" smtClean="0"/>
              <a:t>Denscombe</a:t>
            </a:r>
            <a:r>
              <a:rPr lang="sv-SE" sz="1400" dirty="0" smtClean="0"/>
              <a:t>, 2014)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xmlns="" val="332023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7760874" y="30736"/>
            <a:ext cx="1352645" cy="11758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ctangle 3"/>
          <p:cNvSpPr/>
          <p:nvPr/>
        </p:nvSpPr>
        <p:spPr>
          <a:xfrm>
            <a:off x="1021080" y="1111229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8" name="Rectangle 7"/>
          <p:cNvSpPr/>
          <p:nvPr/>
        </p:nvSpPr>
        <p:spPr>
          <a:xfrm>
            <a:off x="2552700" y="1659868"/>
            <a:ext cx="960120" cy="9667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9" name="Rectangle 8"/>
          <p:cNvSpPr/>
          <p:nvPr/>
        </p:nvSpPr>
        <p:spPr>
          <a:xfrm>
            <a:off x="4084320" y="2208509"/>
            <a:ext cx="960120" cy="701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0" name="Rectangle 9"/>
          <p:cNvSpPr/>
          <p:nvPr/>
        </p:nvSpPr>
        <p:spPr>
          <a:xfrm>
            <a:off x="5600700" y="2787629"/>
            <a:ext cx="960120" cy="713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1" name="Rectangle 10"/>
          <p:cNvSpPr/>
          <p:nvPr/>
        </p:nvSpPr>
        <p:spPr>
          <a:xfrm>
            <a:off x="7117080" y="3336269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cxnSp>
        <p:nvCxnSpPr>
          <p:cNvPr id="13" name="Elbow Connector 12"/>
          <p:cNvCxnSpPr/>
          <p:nvPr/>
        </p:nvCxnSpPr>
        <p:spPr>
          <a:xfrm>
            <a:off x="1981200" y="1221774"/>
            <a:ext cx="571500" cy="6934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3482340" y="1926569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5059680" y="2498069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6576060" y="2921034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501140" y="349229"/>
            <a:ext cx="0" cy="7620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032760" y="349229"/>
            <a:ext cx="0" cy="13030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4526280" y="364470"/>
            <a:ext cx="0" cy="18440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080760" y="349229"/>
            <a:ext cx="0" cy="24384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849712" y="333989"/>
            <a:ext cx="0" cy="298704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65760" y="1385549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092440" y="3595348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57989" y="1634077"/>
            <a:ext cx="1150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Define require-</a:t>
            </a:r>
          </a:p>
          <a:p>
            <a:r>
              <a:rPr lang="en-US" sz="1500" dirty="0" err="1"/>
              <a:t>ments</a:t>
            </a:r>
            <a:r>
              <a:rPr lang="en-US" sz="1500" dirty="0"/>
              <a:t> on artefact</a:t>
            </a:r>
            <a:endParaRPr lang="sv-SE" sz="1500" dirty="0"/>
          </a:p>
        </p:txBody>
      </p:sp>
      <p:sp>
        <p:nvSpPr>
          <p:cNvPr id="59" name="TextBox 58"/>
          <p:cNvSpPr txBox="1"/>
          <p:nvPr/>
        </p:nvSpPr>
        <p:spPr>
          <a:xfrm>
            <a:off x="1058624" y="1132602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Explicate</a:t>
            </a:r>
          </a:p>
          <a:p>
            <a:r>
              <a:rPr lang="sv-SE" sz="1500" dirty="0"/>
              <a:t>problem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9268" y="2184341"/>
            <a:ext cx="1158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Design and develop artefact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1397" y="2756364"/>
            <a:ext cx="9296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Demon-</a:t>
            </a:r>
          </a:p>
          <a:p>
            <a:r>
              <a:rPr lang="sv-SE" sz="1500" dirty="0"/>
              <a:t>strate artefact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6141" y="3369681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Evaluate artefact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6801" y="364470"/>
            <a:ext cx="14096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 err="1"/>
              <a:t>Literature</a:t>
            </a:r>
            <a:r>
              <a:rPr lang="sv-SE" sz="1500" dirty="0"/>
              <a:t> </a:t>
            </a:r>
            <a:r>
              <a:rPr lang="sv-SE" sz="1500" dirty="0" smtClean="0"/>
              <a:t>survey</a:t>
            </a:r>
            <a:endParaRPr lang="sv-SE" sz="1500" dirty="0"/>
          </a:p>
        </p:txBody>
      </p:sp>
      <p:sp>
        <p:nvSpPr>
          <p:cNvPr id="72" name="TextBox 71"/>
          <p:cNvSpPr txBox="1"/>
          <p:nvPr/>
        </p:nvSpPr>
        <p:spPr>
          <a:xfrm>
            <a:off x="3920548" y="379710"/>
            <a:ext cx="1671098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900"/>
              </a:spcBef>
            </a:pPr>
            <a:r>
              <a:rPr lang="sv-SE" sz="1500" dirty="0"/>
              <a:t>Survey using expert interviews</a:t>
            </a:r>
          </a:p>
          <a:p>
            <a:pPr>
              <a:spcBef>
                <a:spcPts val="900"/>
              </a:spcBef>
            </a:pPr>
            <a:r>
              <a:rPr lang="sv-SE" sz="1500" dirty="0" err="1"/>
              <a:t>Literature</a:t>
            </a:r>
            <a:r>
              <a:rPr lang="sv-SE" sz="1500" dirty="0"/>
              <a:t> </a:t>
            </a:r>
            <a:r>
              <a:rPr lang="sv-SE" sz="1500" dirty="0" smtClean="0"/>
              <a:t>survey </a:t>
            </a:r>
            <a:r>
              <a:rPr lang="sv-SE" sz="1500" dirty="0"/>
              <a:t>based on Grounded Theory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07380" y="387330"/>
            <a:ext cx="14401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 smtClean="0"/>
              <a:t>Case </a:t>
            </a:r>
            <a:r>
              <a:rPr lang="sv-SE" sz="1500" dirty="0" err="1" smtClean="0"/>
              <a:t>study</a:t>
            </a:r>
            <a:r>
              <a:rPr lang="sv-SE" sz="1500" dirty="0" smtClean="0"/>
              <a:t> </a:t>
            </a:r>
            <a:r>
              <a:rPr lang="sv-SE" sz="1500" dirty="0"/>
              <a:t>using interviews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63294" y="372090"/>
            <a:ext cx="1668458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900"/>
              </a:spcBef>
              <a:spcAft>
                <a:spcPts val="450"/>
              </a:spcAft>
            </a:pPr>
            <a:r>
              <a:rPr lang="sv-SE" sz="1500" dirty="0"/>
              <a:t>Survey using expert interviews</a:t>
            </a:r>
          </a:p>
          <a:p>
            <a:pPr>
              <a:spcBef>
                <a:spcPts val="900"/>
              </a:spcBef>
              <a:spcAft>
                <a:spcPts val="450"/>
              </a:spcAft>
            </a:pPr>
            <a:r>
              <a:rPr lang="sv-SE" sz="1500" dirty="0"/>
              <a:t>Quantitative analysis using descriptive statistics </a:t>
            </a:r>
          </a:p>
          <a:p>
            <a:pPr>
              <a:spcBef>
                <a:spcPts val="900"/>
              </a:spcBef>
              <a:spcAft>
                <a:spcPts val="450"/>
              </a:spcAft>
            </a:pPr>
            <a:r>
              <a:rPr lang="sv-SE" sz="1500" dirty="0" err="1" smtClean="0"/>
              <a:t>Qualitative</a:t>
            </a:r>
            <a:r>
              <a:rPr lang="sv-SE" sz="1500" dirty="0" smtClean="0"/>
              <a:t> </a:t>
            </a:r>
            <a:r>
              <a:rPr lang="sv-SE" sz="1500" dirty="0"/>
              <a:t>analysis using content analysis</a:t>
            </a:r>
          </a:p>
          <a:p>
            <a:endParaRPr lang="sv-SE" sz="1500" dirty="0"/>
          </a:p>
        </p:txBody>
      </p:sp>
      <p:sp>
        <p:nvSpPr>
          <p:cNvPr id="77" name="TextBox 76"/>
          <p:cNvSpPr txBox="1"/>
          <p:nvPr/>
        </p:nvSpPr>
        <p:spPr>
          <a:xfrm>
            <a:off x="201928" y="1108549"/>
            <a:ext cx="9266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Initial problem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3661" y="1171588"/>
            <a:ext cx="12147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Explicated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8202" y="1912858"/>
            <a:ext cx="13287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Requirements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58176" y="2485242"/>
            <a:ext cx="12147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Artefact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8367" y="2865712"/>
            <a:ext cx="1313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Demonstrated artefact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77199" y="3346820"/>
            <a:ext cx="1036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Evaluated artefact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9843" y="358755"/>
            <a:ext cx="14096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 err="1"/>
              <a:t>Literature</a:t>
            </a:r>
            <a:r>
              <a:rPr lang="sv-SE" sz="1500" dirty="0"/>
              <a:t> </a:t>
            </a:r>
            <a:r>
              <a:rPr lang="sv-SE" sz="1500" dirty="0" smtClean="0"/>
              <a:t>survey </a:t>
            </a:r>
            <a:endParaRPr lang="sv-SE" sz="1500" dirty="0"/>
          </a:p>
        </p:txBody>
      </p:sp>
      <p:sp>
        <p:nvSpPr>
          <p:cNvPr id="43" name="Rectangle 42"/>
          <p:cNvSpPr/>
          <p:nvPr/>
        </p:nvSpPr>
        <p:spPr>
          <a:xfrm>
            <a:off x="201929" y="2006"/>
            <a:ext cx="8722044" cy="3495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650" dirty="0"/>
              <a:t>Research strategies and methods</a:t>
            </a:r>
          </a:p>
        </p:txBody>
      </p:sp>
    </p:spTree>
    <p:extLst>
      <p:ext uri="{BB962C8B-B14F-4D97-AF65-F5344CB8AC3E}">
        <p14:creationId xmlns:p14="http://schemas.microsoft.com/office/powerpoint/2010/main" xmlns="" val="122521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7760874" y="30736"/>
            <a:ext cx="1352645" cy="11758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ctangle 3"/>
          <p:cNvSpPr/>
          <p:nvPr/>
        </p:nvSpPr>
        <p:spPr>
          <a:xfrm>
            <a:off x="1021080" y="1111229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8" name="Rectangle 7"/>
          <p:cNvSpPr/>
          <p:nvPr/>
        </p:nvSpPr>
        <p:spPr>
          <a:xfrm>
            <a:off x="2552700" y="1659868"/>
            <a:ext cx="960120" cy="9667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9" name="Rectangle 8"/>
          <p:cNvSpPr/>
          <p:nvPr/>
        </p:nvSpPr>
        <p:spPr>
          <a:xfrm>
            <a:off x="4084320" y="2208509"/>
            <a:ext cx="960120" cy="701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0" name="Rectangle 9"/>
          <p:cNvSpPr/>
          <p:nvPr/>
        </p:nvSpPr>
        <p:spPr>
          <a:xfrm>
            <a:off x="5600700" y="2787629"/>
            <a:ext cx="960120" cy="713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1" name="Rectangle 10"/>
          <p:cNvSpPr/>
          <p:nvPr/>
        </p:nvSpPr>
        <p:spPr>
          <a:xfrm>
            <a:off x="7117080" y="3336269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cxnSp>
        <p:nvCxnSpPr>
          <p:cNvPr id="13" name="Elbow Connector 12"/>
          <p:cNvCxnSpPr/>
          <p:nvPr/>
        </p:nvCxnSpPr>
        <p:spPr>
          <a:xfrm>
            <a:off x="1981200" y="1221774"/>
            <a:ext cx="571500" cy="6934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3482340" y="1926569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5059680" y="2498069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6576060" y="2921034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501140" y="349229"/>
            <a:ext cx="0" cy="7620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032760" y="349229"/>
            <a:ext cx="0" cy="13030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4526280" y="364470"/>
            <a:ext cx="0" cy="18440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080760" y="349229"/>
            <a:ext cx="0" cy="24384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849712" y="333989"/>
            <a:ext cx="0" cy="298704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7650480" y="3877289"/>
            <a:ext cx="0" cy="76200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10" idx="2"/>
          </p:cNvCxnSpPr>
          <p:nvPr/>
        </p:nvCxnSpPr>
        <p:spPr>
          <a:xfrm>
            <a:off x="6080760" y="3501230"/>
            <a:ext cx="0" cy="1122819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9" idx="2"/>
          </p:cNvCxnSpPr>
          <p:nvPr/>
        </p:nvCxnSpPr>
        <p:spPr>
          <a:xfrm>
            <a:off x="4564380" y="2909549"/>
            <a:ext cx="0" cy="1691639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8" idx="2"/>
          </p:cNvCxnSpPr>
          <p:nvPr/>
        </p:nvCxnSpPr>
        <p:spPr>
          <a:xfrm>
            <a:off x="3032760" y="2626656"/>
            <a:ext cx="0" cy="1997393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1524000" y="1637009"/>
            <a:ext cx="0" cy="298704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65760" y="1385549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092440" y="3595348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57989" y="1634077"/>
            <a:ext cx="1150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Define require-</a:t>
            </a:r>
          </a:p>
          <a:p>
            <a:r>
              <a:rPr lang="en-US" sz="1500" dirty="0" err="1"/>
              <a:t>ments</a:t>
            </a:r>
            <a:r>
              <a:rPr lang="en-US" sz="1500" dirty="0"/>
              <a:t> on artefact</a:t>
            </a:r>
            <a:endParaRPr lang="sv-SE" sz="1500" dirty="0"/>
          </a:p>
        </p:txBody>
      </p:sp>
      <p:sp>
        <p:nvSpPr>
          <p:cNvPr id="59" name="TextBox 58"/>
          <p:cNvSpPr txBox="1"/>
          <p:nvPr/>
        </p:nvSpPr>
        <p:spPr>
          <a:xfrm>
            <a:off x="1058624" y="1132602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Explicate</a:t>
            </a:r>
          </a:p>
          <a:p>
            <a:r>
              <a:rPr lang="sv-SE" sz="1500" dirty="0"/>
              <a:t>problem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9268" y="2184341"/>
            <a:ext cx="1158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Design and develop artefact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1397" y="2756364"/>
            <a:ext cx="9296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Demon-</a:t>
            </a:r>
          </a:p>
          <a:p>
            <a:r>
              <a:rPr lang="sv-SE" sz="1500" dirty="0"/>
              <a:t>strate artefact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6141" y="3369681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Evaluate artefact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6801" y="364470"/>
            <a:ext cx="14096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 err="1"/>
              <a:t>Literature</a:t>
            </a:r>
            <a:r>
              <a:rPr lang="sv-SE" sz="1500" dirty="0"/>
              <a:t> survey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20548" y="379710"/>
            <a:ext cx="1613474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900"/>
              </a:spcBef>
            </a:pPr>
            <a:r>
              <a:rPr lang="sv-SE" sz="1500" dirty="0"/>
              <a:t>Survey using expert interviews</a:t>
            </a:r>
          </a:p>
          <a:p>
            <a:pPr>
              <a:spcBef>
                <a:spcPts val="900"/>
              </a:spcBef>
            </a:pPr>
            <a:r>
              <a:rPr lang="sv-SE" sz="1500" dirty="0" err="1"/>
              <a:t>Literature</a:t>
            </a:r>
            <a:r>
              <a:rPr lang="sv-SE" sz="1500" dirty="0"/>
              <a:t> </a:t>
            </a:r>
            <a:r>
              <a:rPr lang="sv-SE" sz="1500" dirty="0" smtClean="0"/>
              <a:t>survey </a:t>
            </a:r>
            <a:r>
              <a:rPr lang="sv-SE" sz="1500" dirty="0"/>
              <a:t>based on Grounded Theory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07380" y="387330"/>
            <a:ext cx="14401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 smtClean="0"/>
              <a:t>Case </a:t>
            </a:r>
            <a:r>
              <a:rPr lang="sv-SE" sz="1500" dirty="0" err="1" smtClean="0"/>
              <a:t>study</a:t>
            </a:r>
            <a:r>
              <a:rPr lang="sv-SE" sz="1500" dirty="0" smtClean="0"/>
              <a:t> </a:t>
            </a:r>
            <a:r>
              <a:rPr lang="sv-SE" sz="1500" dirty="0"/>
              <a:t>using interviews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45658" y="372090"/>
            <a:ext cx="1786094" cy="259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900"/>
              </a:spcBef>
              <a:spcAft>
                <a:spcPts val="450"/>
              </a:spcAft>
            </a:pPr>
            <a:r>
              <a:rPr lang="sv-SE" sz="1500" dirty="0"/>
              <a:t>Survey using expert interviews</a:t>
            </a:r>
          </a:p>
          <a:p>
            <a:pPr>
              <a:spcBef>
                <a:spcPts val="900"/>
              </a:spcBef>
              <a:spcAft>
                <a:spcPts val="450"/>
              </a:spcAft>
            </a:pPr>
            <a:r>
              <a:rPr lang="sv-SE" sz="1500" dirty="0"/>
              <a:t>Quantitative analysis using descriptive statistics </a:t>
            </a:r>
          </a:p>
          <a:p>
            <a:pPr>
              <a:spcBef>
                <a:spcPts val="900"/>
              </a:spcBef>
              <a:spcAft>
                <a:spcPts val="450"/>
              </a:spcAft>
            </a:pPr>
            <a:r>
              <a:rPr lang="sv-SE" sz="1500" dirty="0" err="1" smtClean="0"/>
              <a:t>Qualitative</a:t>
            </a:r>
            <a:r>
              <a:rPr lang="sv-SE" sz="1500" dirty="0" smtClean="0"/>
              <a:t> </a:t>
            </a:r>
            <a:r>
              <a:rPr lang="sv-SE" sz="1500" dirty="0"/>
              <a:t>analysis using content analysis</a:t>
            </a:r>
          </a:p>
          <a:p>
            <a:endParaRPr lang="sv-SE" sz="1500" dirty="0"/>
          </a:p>
        </p:txBody>
      </p:sp>
      <p:sp>
        <p:nvSpPr>
          <p:cNvPr id="77" name="TextBox 76"/>
          <p:cNvSpPr txBox="1"/>
          <p:nvPr/>
        </p:nvSpPr>
        <p:spPr>
          <a:xfrm>
            <a:off x="201928" y="1108549"/>
            <a:ext cx="9266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Initial problem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3661" y="1171588"/>
            <a:ext cx="12147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Explicated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8202" y="1912858"/>
            <a:ext cx="14667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Requirements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58176" y="2485242"/>
            <a:ext cx="12147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Artefact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8367" y="2865712"/>
            <a:ext cx="1313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Demonstrated artefact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77199" y="3346820"/>
            <a:ext cx="1036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Evaluated artefact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9843" y="358755"/>
            <a:ext cx="14096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 err="1"/>
              <a:t>Literature</a:t>
            </a:r>
            <a:r>
              <a:rPr lang="sv-SE" sz="1500" dirty="0"/>
              <a:t> survey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929" y="2006"/>
            <a:ext cx="8722044" cy="3495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650" dirty="0"/>
              <a:t>Research strategies and methods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1931" y="4659731"/>
            <a:ext cx="8722044" cy="3495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650" dirty="0"/>
              <a:t>Knowledge base</a:t>
            </a:r>
          </a:p>
        </p:txBody>
      </p:sp>
    </p:spTree>
    <p:extLst>
      <p:ext uri="{BB962C8B-B14F-4D97-AF65-F5344CB8AC3E}">
        <p14:creationId xmlns:p14="http://schemas.microsoft.com/office/powerpoint/2010/main" xmlns="" val="276375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7760874" y="30736"/>
            <a:ext cx="1352645" cy="11758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ctangle 3"/>
          <p:cNvSpPr/>
          <p:nvPr/>
        </p:nvSpPr>
        <p:spPr>
          <a:xfrm>
            <a:off x="1021080" y="1111229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8" name="Rectangle 7"/>
          <p:cNvSpPr/>
          <p:nvPr/>
        </p:nvSpPr>
        <p:spPr>
          <a:xfrm>
            <a:off x="2552700" y="1659868"/>
            <a:ext cx="960120" cy="9667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9" name="Rectangle 8"/>
          <p:cNvSpPr/>
          <p:nvPr/>
        </p:nvSpPr>
        <p:spPr>
          <a:xfrm>
            <a:off x="4084320" y="2208509"/>
            <a:ext cx="960120" cy="701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0" name="Rectangle 9"/>
          <p:cNvSpPr/>
          <p:nvPr/>
        </p:nvSpPr>
        <p:spPr>
          <a:xfrm>
            <a:off x="5600700" y="2787629"/>
            <a:ext cx="960120" cy="713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sp>
        <p:nvSpPr>
          <p:cNvPr id="11" name="Rectangle 10"/>
          <p:cNvSpPr/>
          <p:nvPr/>
        </p:nvSpPr>
        <p:spPr>
          <a:xfrm>
            <a:off x="7117080" y="3336269"/>
            <a:ext cx="96012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 sz="1500"/>
          </a:p>
        </p:txBody>
      </p:sp>
      <p:cxnSp>
        <p:nvCxnSpPr>
          <p:cNvPr id="13" name="Elbow Connector 12"/>
          <p:cNvCxnSpPr/>
          <p:nvPr/>
        </p:nvCxnSpPr>
        <p:spPr>
          <a:xfrm>
            <a:off x="1981200" y="1221774"/>
            <a:ext cx="571500" cy="6934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3482340" y="1926569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5059680" y="2498069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6576060" y="2921034"/>
            <a:ext cx="571500" cy="548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501140" y="349229"/>
            <a:ext cx="0" cy="7620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032760" y="349229"/>
            <a:ext cx="0" cy="13030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4526280" y="364470"/>
            <a:ext cx="0" cy="18440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080760" y="349229"/>
            <a:ext cx="0" cy="24384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849712" y="333989"/>
            <a:ext cx="0" cy="298704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7650480" y="3877289"/>
            <a:ext cx="0" cy="76200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10" idx="2"/>
          </p:cNvCxnSpPr>
          <p:nvPr/>
        </p:nvCxnSpPr>
        <p:spPr>
          <a:xfrm>
            <a:off x="6080760" y="3501230"/>
            <a:ext cx="0" cy="1122819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9" idx="2"/>
          </p:cNvCxnSpPr>
          <p:nvPr/>
        </p:nvCxnSpPr>
        <p:spPr>
          <a:xfrm>
            <a:off x="4564380" y="2909549"/>
            <a:ext cx="0" cy="1691639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8" idx="2"/>
          </p:cNvCxnSpPr>
          <p:nvPr/>
        </p:nvCxnSpPr>
        <p:spPr>
          <a:xfrm>
            <a:off x="3032760" y="2626656"/>
            <a:ext cx="0" cy="1997393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1524000" y="1637009"/>
            <a:ext cx="0" cy="298704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65760" y="1385549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092440" y="3595348"/>
            <a:ext cx="655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57989" y="1634077"/>
            <a:ext cx="1150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Define require-</a:t>
            </a:r>
          </a:p>
          <a:p>
            <a:r>
              <a:rPr lang="en-US" sz="1500" dirty="0" err="1"/>
              <a:t>ments</a:t>
            </a:r>
            <a:r>
              <a:rPr lang="en-US" sz="1500" dirty="0"/>
              <a:t> on artefact</a:t>
            </a:r>
            <a:endParaRPr lang="sv-SE" sz="1500" dirty="0"/>
          </a:p>
        </p:txBody>
      </p:sp>
      <p:sp>
        <p:nvSpPr>
          <p:cNvPr id="59" name="TextBox 58"/>
          <p:cNvSpPr txBox="1"/>
          <p:nvPr/>
        </p:nvSpPr>
        <p:spPr>
          <a:xfrm>
            <a:off x="1058624" y="1132602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Explicate</a:t>
            </a:r>
          </a:p>
          <a:p>
            <a:r>
              <a:rPr lang="sv-SE" sz="1500" dirty="0"/>
              <a:t>problem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9268" y="2184341"/>
            <a:ext cx="1158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Design and develop artefact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1397" y="2756364"/>
            <a:ext cx="9296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Demon-</a:t>
            </a:r>
          </a:p>
          <a:p>
            <a:r>
              <a:rPr lang="sv-SE" sz="1500" dirty="0"/>
              <a:t>strate artefact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6141" y="3369681"/>
            <a:ext cx="1158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Evaluate artefact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6801" y="364470"/>
            <a:ext cx="14096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 err="1"/>
              <a:t>Literature</a:t>
            </a:r>
            <a:r>
              <a:rPr lang="sv-SE" sz="1500" dirty="0"/>
              <a:t> survey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20547" y="379710"/>
            <a:ext cx="1687771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900"/>
              </a:spcBef>
            </a:pPr>
            <a:r>
              <a:rPr lang="sv-SE" sz="1500" dirty="0"/>
              <a:t>Survey using expert interviews</a:t>
            </a:r>
          </a:p>
          <a:p>
            <a:pPr>
              <a:spcBef>
                <a:spcPts val="900"/>
              </a:spcBef>
            </a:pPr>
            <a:r>
              <a:rPr lang="sv-SE" sz="1500" dirty="0" err="1"/>
              <a:t>Literature</a:t>
            </a:r>
            <a:r>
              <a:rPr lang="sv-SE" sz="1500" dirty="0"/>
              <a:t> </a:t>
            </a:r>
            <a:r>
              <a:rPr lang="sv-SE" sz="1500" dirty="0" smtClean="0"/>
              <a:t>survey </a:t>
            </a:r>
            <a:r>
              <a:rPr lang="sv-SE" sz="1500" dirty="0"/>
              <a:t>based on Grounded Theory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07380" y="387330"/>
            <a:ext cx="14401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 smtClean="0"/>
              <a:t>Case </a:t>
            </a:r>
            <a:r>
              <a:rPr lang="sv-SE" sz="1500" dirty="0" err="1" smtClean="0"/>
              <a:t>study</a:t>
            </a:r>
            <a:r>
              <a:rPr lang="sv-SE" sz="1500" dirty="0" smtClean="0"/>
              <a:t> </a:t>
            </a:r>
            <a:r>
              <a:rPr lang="sv-SE" sz="1500" dirty="0"/>
              <a:t>using interviews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28726" y="372090"/>
            <a:ext cx="1603026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900"/>
              </a:spcBef>
              <a:spcAft>
                <a:spcPts val="450"/>
              </a:spcAft>
            </a:pPr>
            <a:r>
              <a:rPr lang="sv-SE" sz="1500" dirty="0"/>
              <a:t>Survey using expert interviews</a:t>
            </a:r>
          </a:p>
          <a:p>
            <a:pPr>
              <a:spcBef>
                <a:spcPts val="900"/>
              </a:spcBef>
              <a:spcAft>
                <a:spcPts val="450"/>
              </a:spcAft>
            </a:pPr>
            <a:r>
              <a:rPr lang="sv-SE" sz="1500" dirty="0"/>
              <a:t>Quantitative analysis using descriptive statistics </a:t>
            </a:r>
          </a:p>
          <a:p>
            <a:pPr>
              <a:spcBef>
                <a:spcPts val="900"/>
              </a:spcBef>
              <a:spcAft>
                <a:spcPts val="450"/>
              </a:spcAft>
            </a:pPr>
            <a:r>
              <a:rPr lang="sv-SE" sz="1500" dirty="0" err="1" smtClean="0"/>
              <a:t>Qualitative</a:t>
            </a:r>
            <a:r>
              <a:rPr lang="sv-SE" sz="1500" dirty="0" smtClean="0"/>
              <a:t> </a:t>
            </a:r>
            <a:r>
              <a:rPr lang="sv-SE" sz="1500" dirty="0"/>
              <a:t>analysis using content analysis</a:t>
            </a:r>
          </a:p>
          <a:p>
            <a:endParaRPr lang="sv-SE" sz="1500" dirty="0"/>
          </a:p>
        </p:txBody>
      </p:sp>
      <p:sp>
        <p:nvSpPr>
          <p:cNvPr id="77" name="TextBox 76"/>
          <p:cNvSpPr txBox="1"/>
          <p:nvPr/>
        </p:nvSpPr>
        <p:spPr>
          <a:xfrm>
            <a:off x="201928" y="1108549"/>
            <a:ext cx="9266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Initial problem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3661" y="1171588"/>
            <a:ext cx="12147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Explicated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8201" y="1912858"/>
            <a:ext cx="12541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Requirements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58176" y="2485242"/>
            <a:ext cx="12147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Artefact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8367" y="2865712"/>
            <a:ext cx="1313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Demonstrated artefact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77199" y="3346820"/>
            <a:ext cx="1036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i="1" dirty="0"/>
              <a:t>Evaluated artefact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9843" y="358755"/>
            <a:ext cx="14096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 err="1"/>
              <a:t>Literature</a:t>
            </a:r>
            <a:r>
              <a:rPr lang="sv-SE" sz="1500" dirty="0"/>
              <a:t> survey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12312" y="3623640"/>
            <a:ext cx="15533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Existing solutions for documenting best practices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929" y="2006"/>
            <a:ext cx="8722044" cy="3495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650" dirty="0"/>
              <a:t>Research strategies and methods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1931" y="4659731"/>
            <a:ext cx="8722044" cy="3495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650" dirty="0"/>
              <a:t>Knowledge 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6032" y="3639921"/>
            <a:ext cx="20114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Literature on Best Practices and on documentations on best practices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27584" y="3633855"/>
            <a:ext cx="20114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500" dirty="0"/>
              <a:t>Literature on Best Practices and on documentations on best practices</a:t>
            </a:r>
          </a:p>
        </p:txBody>
      </p:sp>
    </p:spTree>
    <p:extLst>
      <p:ext uri="{BB962C8B-B14F-4D97-AF65-F5344CB8AC3E}">
        <p14:creationId xmlns:p14="http://schemas.microsoft.com/office/powerpoint/2010/main" xmlns="" val="182877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Knowledge</a:t>
            </a:r>
            <a:r>
              <a:rPr lang="sv-SE" dirty="0" smtClean="0"/>
              <a:t> </a:t>
            </a:r>
            <a:r>
              <a:rPr lang="sv-SE" dirty="0" err="1" smtClean="0"/>
              <a:t>base</a:t>
            </a:r>
            <a:endParaRPr lang="sv-SE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20990" y="1419896"/>
            <a:ext cx="7050881" cy="33905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68191" y="1709670"/>
            <a:ext cx="1197736" cy="6924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100"/>
          </a:p>
        </p:txBody>
      </p:sp>
      <p:sp>
        <p:nvSpPr>
          <p:cNvPr id="7" name="TextBox 6"/>
          <p:cNvSpPr txBox="1"/>
          <p:nvPr/>
        </p:nvSpPr>
        <p:spPr>
          <a:xfrm>
            <a:off x="1558975" y="1664919"/>
            <a:ext cx="1334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b="1" dirty="0"/>
              <a:t>Design Science</a:t>
            </a:r>
          </a:p>
          <a:p>
            <a:r>
              <a:rPr lang="sv-SE" sz="1600" b="1" dirty="0"/>
              <a:t>Project</a:t>
            </a:r>
          </a:p>
        </p:txBody>
      </p:sp>
      <p:sp>
        <p:nvSpPr>
          <p:cNvPr id="9" name="Oval 8"/>
          <p:cNvSpPr/>
          <p:nvPr/>
        </p:nvSpPr>
        <p:spPr>
          <a:xfrm>
            <a:off x="3269792" y="3115178"/>
            <a:ext cx="2353276" cy="1784788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295071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Cases </a:t>
            </a:r>
            <a:r>
              <a:rPr lang="sv-SE" dirty="0" err="1" smtClean="0"/>
              <a:t>of</a:t>
            </a:r>
            <a:r>
              <a:rPr lang="sv-SE" dirty="0" smtClean="0"/>
              <a:t> Design Science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999" y="1275533"/>
            <a:ext cx="7780501" cy="3498833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Many design science projects </a:t>
            </a:r>
            <a:r>
              <a:rPr lang="en-GB" b="1" dirty="0"/>
              <a:t>do not undertake all of the five activities of the method framework </a:t>
            </a:r>
            <a:r>
              <a:rPr lang="en-GB" dirty="0"/>
              <a:t>in depth. </a:t>
            </a:r>
            <a:endParaRPr lang="en-GB" dirty="0" smtClean="0"/>
          </a:p>
          <a:p>
            <a:r>
              <a:rPr lang="en-GB" dirty="0" smtClean="0"/>
              <a:t>Instead</a:t>
            </a:r>
            <a:r>
              <a:rPr lang="en-GB" dirty="0"/>
              <a:t>, they may focus on one or two of the activities, while the others are treated more lightly. </a:t>
            </a:r>
            <a:endParaRPr lang="en-GB" dirty="0" smtClean="0"/>
          </a:p>
          <a:p>
            <a:r>
              <a:rPr lang="en-GB" dirty="0" smtClean="0"/>
              <a:t>Typical </a:t>
            </a:r>
            <a:r>
              <a:rPr lang="en-GB" dirty="0"/>
              <a:t>cases of design science </a:t>
            </a:r>
            <a:r>
              <a:rPr lang="en-GB" dirty="0" smtClean="0"/>
              <a:t>research:</a:t>
            </a:r>
          </a:p>
          <a:p>
            <a:pPr lvl="1"/>
            <a:r>
              <a:rPr lang="en-US" i="1" dirty="0"/>
              <a:t>Problem-focused Design Science </a:t>
            </a:r>
            <a:r>
              <a:rPr lang="en-US" i="1" dirty="0" smtClean="0"/>
              <a:t>Research</a:t>
            </a:r>
          </a:p>
          <a:p>
            <a:pPr lvl="1"/>
            <a:r>
              <a:rPr lang="en-US" i="1" dirty="0"/>
              <a:t>Requirements-focused Design Science Research</a:t>
            </a:r>
            <a:endParaRPr lang="sv-SE" i="1" dirty="0"/>
          </a:p>
          <a:p>
            <a:pPr lvl="1"/>
            <a:r>
              <a:rPr lang="en-US" i="1" dirty="0"/>
              <a:t>Requirements- and development-focused Design Science Research</a:t>
            </a:r>
            <a:endParaRPr lang="sv-SE" i="1" dirty="0"/>
          </a:p>
          <a:p>
            <a:pPr lvl="1"/>
            <a:r>
              <a:rPr lang="en-US" i="1" dirty="0"/>
              <a:t>Development- and evaluation-focused Design Science Research</a:t>
            </a:r>
            <a:endParaRPr lang="sv-SE" i="1" dirty="0"/>
          </a:p>
          <a:p>
            <a:pPr lvl="1"/>
            <a:r>
              <a:rPr lang="en-US" i="1" dirty="0"/>
              <a:t>Evaluation-focused Design Science Research</a:t>
            </a:r>
            <a:endParaRPr lang="sv-SE" i="1" dirty="0"/>
          </a:p>
          <a:p>
            <a:pPr marL="342900" lvl="1" indent="0">
              <a:buNone/>
            </a:pPr>
            <a:endParaRPr lang="sv-SE" dirty="0"/>
          </a:p>
          <a:p>
            <a:pPr lvl="1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220217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60874" y="30736"/>
            <a:ext cx="1352645" cy="11758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166" y="145697"/>
            <a:ext cx="9272354" cy="994172"/>
          </a:xfrm>
        </p:spPr>
        <p:txBody>
          <a:bodyPr/>
          <a:lstStyle/>
          <a:p>
            <a:r>
              <a:rPr lang="sv-SE" dirty="0" err="1" smtClean="0"/>
              <a:t>What</a:t>
            </a:r>
            <a:r>
              <a:rPr lang="sv-SE" dirty="0" smtClean="0"/>
              <a:t> is the science part </a:t>
            </a:r>
            <a:r>
              <a:rPr lang="sv-SE" dirty="0" err="1" smtClean="0"/>
              <a:t>of</a:t>
            </a:r>
            <a:r>
              <a:rPr lang="sv-SE" dirty="0" smtClean="0"/>
              <a:t> Design Science?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38241"/>
            <a:ext cx="8029575" cy="3427505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1200"/>
              </a:spcBef>
              <a:buFontTx/>
              <a:buChar char="-"/>
            </a:pPr>
            <a:r>
              <a:rPr lang="sv-SE" sz="2300" dirty="0" smtClean="0"/>
              <a:t>Design science needs to develop artefacts that are:</a:t>
            </a:r>
          </a:p>
          <a:p>
            <a:pPr lvl="1">
              <a:spcBef>
                <a:spcPts val="1200"/>
              </a:spcBef>
              <a:buFontTx/>
              <a:buChar char="-"/>
            </a:pPr>
            <a:r>
              <a:rPr lang="sv-SE" sz="2000" b="1" dirty="0" err="1"/>
              <a:t>g</a:t>
            </a:r>
            <a:r>
              <a:rPr lang="sv-SE" sz="2000" b="1" dirty="0" err="1" smtClean="0"/>
              <a:t>eneric</a:t>
            </a:r>
            <a:r>
              <a:rPr lang="sv-SE" sz="2000" dirty="0" smtClean="0"/>
              <a:t>, in that they are solutions for generic problems</a:t>
            </a:r>
          </a:p>
          <a:p>
            <a:pPr lvl="1">
              <a:spcBef>
                <a:spcPts val="1200"/>
              </a:spcBef>
              <a:buFontTx/>
              <a:buChar char="-"/>
            </a:pPr>
            <a:r>
              <a:rPr lang="sv-SE" sz="2000" b="1" dirty="0" smtClean="0"/>
              <a:t>new, novel, original</a:t>
            </a:r>
          </a:p>
          <a:p>
            <a:pPr lvl="1">
              <a:spcBef>
                <a:spcPts val="1200"/>
              </a:spcBef>
              <a:buFontTx/>
              <a:buChar char="-"/>
            </a:pPr>
            <a:r>
              <a:rPr lang="sv-SE" sz="2000" b="1" dirty="0" smtClean="0"/>
              <a:t>based on the knowledge base/scientific body of knowledge</a:t>
            </a:r>
          </a:p>
          <a:p>
            <a:pPr lvl="1">
              <a:spcBef>
                <a:spcPts val="1200"/>
              </a:spcBef>
              <a:buFontTx/>
              <a:buChar char="-"/>
            </a:pPr>
            <a:r>
              <a:rPr lang="sv-SE" sz="2000" b="1" dirty="0"/>
              <a:t>contributing to the knowledge base/scientific body of knowledge</a:t>
            </a:r>
          </a:p>
          <a:p>
            <a:pPr lvl="1">
              <a:spcBef>
                <a:spcPts val="1200"/>
              </a:spcBef>
              <a:buFontTx/>
              <a:buChar char="-"/>
            </a:pPr>
            <a:r>
              <a:rPr lang="sv-SE" sz="2000" dirty="0" smtClean="0"/>
              <a:t>well described, so it is possible to critically discuss and evalute the artefact </a:t>
            </a:r>
            <a:r>
              <a:rPr lang="sv-SE" sz="2000" b="1" dirty="0" smtClean="0"/>
              <a:t>using rigouros scientific </a:t>
            </a:r>
            <a:r>
              <a:rPr lang="sv-SE" sz="2000" b="1" dirty="0"/>
              <a:t>strategies and </a:t>
            </a:r>
            <a:r>
              <a:rPr lang="sv-SE" sz="2000" b="1" dirty="0" smtClean="0"/>
              <a:t>methods</a:t>
            </a:r>
          </a:p>
          <a:p>
            <a:pPr lvl="1">
              <a:spcBef>
                <a:spcPts val="1200"/>
              </a:spcBef>
              <a:buFontTx/>
              <a:buChar char="-"/>
            </a:pPr>
            <a:r>
              <a:rPr lang="sv-SE" sz="2000" b="1" dirty="0"/>
              <a:t>e</a:t>
            </a:r>
            <a:r>
              <a:rPr lang="sv-SE" sz="2000" b="1" dirty="0" smtClean="0"/>
              <a:t>valuated/tested</a:t>
            </a:r>
          </a:p>
          <a:p>
            <a:pPr lvl="1">
              <a:spcBef>
                <a:spcPts val="1200"/>
              </a:spcBef>
              <a:buFontTx/>
              <a:buChar char="-"/>
            </a:pPr>
            <a:r>
              <a:rPr lang="sv-SE" sz="2000" b="1" dirty="0"/>
              <a:t>c</a:t>
            </a:r>
            <a:r>
              <a:rPr lang="sv-SE" sz="2000" b="1" dirty="0" smtClean="0"/>
              <a:t>ommunicated to </a:t>
            </a:r>
            <a:r>
              <a:rPr lang="sv-SE" sz="2000" b="1" dirty="0" err="1" smtClean="0"/>
              <a:t>both</a:t>
            </a:r>
            <a:r>
              <a:rPr lang="sv-SE" sz="2000" b="1" dirty="0" smtClean="0"/>
              <a:t> researchers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sv-SE" sz="2000" dirty="0" smtClean="0"/>
              <a:t>    and practitioners</a:t>
            </a:r>
          </a:p>
          <a:p>
            <a:pPr lvl="1">
              <a:buFontTx/>
              <a:buChar char="-"/>
            </a:pPr>
            <a:endParaRPr lang="sv-SE" dirty="0" smtClean="0"/>
          </a:p>
          <a:p>
            <a:pPr marL="342900" lvl="1" indent="0">
              <a:buNone/>
            </a:pP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03582" y="3240795"/>
            <a:ext cx="3570624" cy="171701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 rot="16874149">
            <a:off x="5807399" y="2486220"/>
            <a:ext cx="1550972" cy="3223747"/>
          </a:xfrm>
          <a:prstGeom prst="ellipse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238162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v-SE" sz="2700" dirty="0" err="1" smtClean="0"/>
              <a:t>Positioning</a:t>
            </a:r>
            <a:r>
              <a:rPr lang="sv-SE" sz="2700" dirty="0" smtClean="0"/>
              <a:t> Design Science</a:t>
            </a:r>
            <a:endParaRPr lang="sv-SE" sz="2700" dirty="0"/>
          </a:p>
        </p:txBody>
      </p:sp>
    </p:spTree>
    <p:extLst>
      <p:ext uri="{BB962C8B-B14F-4D97-AF65-F5344CB8AC3E}">
        <p14:creationId xmlns:p14="http://schemas.microsoft.com/office/powerpoint/2010/main" xmlns="" val="177779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What</a:t>
            </a:r>
            <a:r>
              <a:rPr lang="sv-SE" dirty="0" smtClean="0"/>
              <a:t> is design science?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00" y="1275534"/>
            <a:ext cx="6430992" cy="324043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sv-SE" sz="1600" dirty="0" err="1" smtClean="0"/>
              <a:t>Which</a:t>
            </a:r>
            <a:r>
              <a:rPr lang="sv-SE" sz="1600" dirty="0" smtClean="0"/>
              <a:t> </a:t>
            </a:r>
            <a:r>
              <a:rPr lang="sv-SE" sz="1600" dirty="0" err="1" smtClean="0"/>
              <a:t>of</a:t>
            </a:r>
            <a:r>
              <a:rPr lang="sv-SE" sz="1600" dirty="0" smtClean="0"/>
              <a:t> the </a:t>
            </a:r>
            <a:r>
              <a:rPr lang="sv-SE" sz="1600" dirty="0" err="1" smtClean="0"/>
              <a:t>following</a:t>
            </a:r>
            <a:r>
              <a:rPr lang="sv-SE" sz="1600" dirty="0" smtClean="0"/>
              <a:t> </a:t>
            </a:r>
            <a:r>
              <a:rPr lang="sv-SE" sz="1600" dirty="0" err="1" smtClean="0"/>
              <a:t>statements</a:t>
            </a:r>
            <a:r>
              <a:rPr lang="sv-SE" sz="1600" dirty="0" smtClean="0"/>
              <a:t> </a:t>
            </a:r>
            <a:r>
              <a:rPr lang="sv-SE" sz="1600" dirty="0" err="1" smtClean="0"/>
              <a:t>are</a:t>
            </a:r>
            <a:r>
              <a:rPr lang="sv-SE" sz="1600" dirty="0" smtClean="0"/>
              <a:t> OK to </a:t>
            </a:r>
            <a:r>
              <a:rPr lang="sv-SE" sz="1600" dirty="0" err="1" smtClean="0"/>
              <a:t>use</a:t>
            </a:r>
            <a:endParaRPr lang="sv-SE" sz="1600" dirty="0" smtClean="0"/>
          </a:p>
          <a:p>
            <a:r>
              <a:rPr lang="sv-SE" sz="1400" dirty="0" smtClean="0"/>
              <a:t>Design science is a </a:t>
            </a:r>
            <a:r>
              <a:rPr lang="sv-SE" sz="1400" dirty="0" err="1" smtClean="0"/>
              <a:t>methodology</a:t>
            </a:r>
            <a:endParaRPr lang="sv-SE" sz="1400" dirty="0" smtClean="0"/>
          </a:p>
          <a:p>
            <a:r>
              <a:rPr lang="sv-SE" sz="1400" dirty="0" smtClean="0"/>
              <a:t>Design science is a research approach</a:t>
            </a:r>
          </a:p>
          <a:p>
            <a:r>
              <a:rPr lang="sv-SE" sz="1400" dirty="0" smtClean="0"/>
              <a:t>Design science is a </a:t>
            </a:r>
            <a:r>
              <a:rPr lang="sv-SE" sz="1400" dirty="0" err="1" smtClean="0"/>
              <a:t>branch</a:t>
            </a:r>
            <a:r>
              <a:rPr lang="sv-SE" sz="1400" dirty="0" smtClean="0"/>
              <a:t> </a:t>
            </a:r>
            <a:r>
              <a:rPr lang="sv-SE" sz="1400" dirty="0" err="1" smtClean="0"/>
              <a:t>of</a:t>
            </a:r>
            <a:r>
              <a:rPr lang="sv-SE" sz="1400" dirty="0" smtClean="0"/>
              <a:t> science, </a:t>
            </a:r>
            <a:r>
              <a:rPr lang="sv-SE" sz="1400" dirty="0" err="1" smtClean="0"/>
              <a:t>such</a:t>
            </a:r>
            <a:r>
              <a:rPr lang="sv-SE" sz="1400" dirty="0" smtClean="0"/>
              <a:t> as </a:t>
            </a:r>
            <a:r>
              <a:rPr lang="sv-SE" sz="1400" dirty="0" err="1" smtClean="0"/>
              <a:t>natural</a:t>
            </a:r>
            <a:r>
              <a:rPr lang="sv-SE" sz="1400" dirty="0" smtClean="0"/>
              <a:t>, social and formal science</a:t>
            </a:r>
          </a:p>
          <a:p>
            <a:r>
              <a:rPr lang="sv-SE" sz="1400" dirty="0" smtClean="0"/>
              <a:t>Design science is a paradigm, </a:t>
            </a:r>
            <a:r>
              <a:rPr lang="sv-SE" sz="1400" dirty="0" err="1" smtClean="0"/>
              <a:t>such</a:t>
            </a:r>
            <a:r>
              <a:rPr lang="sv-SE" sz="1400" dirty="0" smtClean="0"/>
              <a:t> as positivism and </a:t>
            </a:r>
            <a:r>
              <a:rPr lang="sv-SE" sz="1400" dirty="0" err="1" smtClean="0"/>
              <a:t>interpretivism</a:t>
            </a:r>
            <a:endParaRPr lang="sv-SE" sz="1400" dirty="0" smtClean="0"/>
          </a:p>
          <a:p>
            <a:r>
              <a:rPr lang="sv-SE" sz="1400" dirty="0" smtClean="0"/>
              <a:t>Design science is a research </a:t>
            </a:r>
            <a:r>
              <a:rPr lang="sv-SE" sz="1400" dirty="0" err="1" smtClean="0"/>
              <a:t>strategy</a:t>
            </a:r>
            <a:r>
              <a:rPr lang="sv-SE" sz="1400" dirty="0" smtClean="0"/>
              <a:t>, </a:t>
            </a:r>
            <a:r>
              <a:rPr lang="sv-SE" sz="1400" dirty="0" err="1" smtClean="0"/>
              <a:t>such</a:t>
            </a:r>
            <a:r>
              <a:rPr lang="sv-SE" sz="1400" dirty="0" smtClean="0"/>
              <a:t> as </a:t>
            </a:r>
            <a:r>
              <a:rPr lang="sv-SE" sz="1400" dirty="0" err="1" smtClean="0"/>
              <a:t>case</a:t>
            </a:r>
            <a:r>
              <a:rPr lang="sv-SE" sz="1400" dirty="0" smtClean="0"/>
              <a:t> </a:t>
            </a:r>
            <a:r>
              <a:rPr lang="sv-SE" sz="1400" dirty="0" err="1" smtClean="0"/>
              <a:t>study</a:t>
            </a:r>
            <a:r>
              <a:rPr lang="sv-SE" sz="1400" dirty="0" smtClean="0"/>
              <a:t> and survey</a:t>
            </a:r>
          </a:p>
          <a:p>
            <a:endParaRPr lang="sv-SE" dirty="0" smtClean="0"/>
          </a:p>
        </p:txBody>
      </p:sp>
    </p:spTree>
    <p:extLst>
      <p:ext uri="{BB962C8B-B14F-4D97-AF65-F5344CB8AC3E}">
        <p14:creationId xmlns:p14="http://schemas.microsoft.com/office/powerpoint/2010/main" xmlns="" val="162154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What</a:t>
            </a:r>
            <a:r>
              <a:rPr lang="sv-SE" dirty="0" smtClean="0"/>
              <a:t> is design science?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00" y="1275534"/>
            <a:ext cx="6430992" cy="324043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sv-SE" sz="1600" dirty="0" err="1" smtClean="0"/>
              <a:t>Which</a:t>
            </a:r>
            <a:r>
              <a:rPr lang="sv-SE" sz="1600" dirty="0" smtClean="0"/>
              <a:t> </a:t>
            </a:r>
            <a:r>
              <a:rPr lang="sv-SE" sz="1600" dirty="0" err="1" smtClean="0"/>
              <a:t>of</a:t>
            </a:r>
            <a:r>
              <a:rPr lang="sv-SE" sz="1600" dirty="0" smtClean="0"/>
              <a:t> the </a:t>
            </a:r>
            <a:r>
              <a:rPr lang="sv-SE" sz="1600" dirty="0" err="1" smtClean="0"/>
              <a:t>following</a:t>
            </a:r>
            <a:r>
              <a:rPr lang="sv-SE" sz="1600" dirty="0" smtClean="0"/>
              <a:t> </a:t>
            </a:r>
            <a:r>
              <a:rPr lang="sv-SE" sz="1600" dirty="0" err="1" smtClean="0"/>
              <a:t>statements</a:t>
            </a:r>
            <a:r>
              <a:rPr lang="sv-SE" sz="1600" dirty="0" smtClean="0"/>
              <a:t> </a:t>
            </a:r>
            <a:r>
              <a:rPr lang="sv-SE" sz="1600" dirty="0" err="1" smtClean="0"/>
              <a:t>are</a:t>
            </a:r>
            <a:r>
              <a:rPr lang="sv-SE" sz="1600" dirty="0" smtClean="0"/>
              <a:t> OK to </a:t>
            </a:r>
            <a:r>
              <a:rPr lang="sv-SE" sz="1600" dirty="0" err="1" smtClean="0"/>
              <a:t>use</a:t>
            </a:r>
            <a:endParaRPr lang="sv-SE" sz="1600" dirty="0" smtClean="0"/>
          </a:p>
          <a:p>
            <a:r>
              <a:rPr lang="sv-SE" sz="1400" b="1" dirty="0" smtClean="0"/>
              <a:t>Design science is a </a:t>
            </a:r>
            <a:r>
              <a:rPr lang="sv-SE" sz="1400" b="1" dirty="0" err="1" smtClean="0"/>
              <a:t>methodology</a:t>
            </a:r>
            <a:endParaRPr lang="sv-SE" sz="1400" b="1" dirty="0" smtClean="0"/>
          </a:p>
          <a:p>
            <a:r>
              <a:rPr lang="sv-SE" sz="1400" b="1" dirty="0" smtClean="0"/>
              <a:t>Design science is a research approach</a:t>
            </a:r>
          </a:p>
          <a:p>
            <a:r>
              <a:rPr lang="sv-SE" sz="1400" b="1" dirty="0" smtClean="0"/>
              <a:t>Design science is a </a:t>
            </a:r>
            <a:r>
              <a:rPr lang="sv-SE" sz="1400" b="1" dirty="0" err="1" smtClean="0"/>
              <a:t>branch</a:t>
            </a:r>
            <a:r>
              <a:rPr lang="sv-SE" sz="1400" b="1" dirty="0" smtClean="0"/>
              <a:t> </a:t>
            </a:r>
            <a:r>
              <a:rPr lang="sv-SE" sz="1400" b="1" dirty="0" err="1" smtClean="0"/>
              <a:t>of</a:t>
            </a:r>
            <a:r>
              <a:rPr lang="sv-SE" sz="1400" b="1" dirty="0" smtClean="0"/>
              <a:t> science, </a:t>
            </a:r>
            <a:r>
              <a:rPr lang="sv-SE" sz="1400" b="1" dirty="0" err="1" smtClean="0"/>
              <a:t>such</a:t>
            </a:r>
            <a:r>
              <a:rPr lang="sv-SE" sz="1400" b="1" dirty="0" smtClean="0"/>
              <a:t> as </a:t>
            </a:r>
            <a:r>
              <a:rPr lang="sv-SE" sz="1400" b="1" dirty="0" err="1" smtClean="0"/>
              <a:t>natural</a:t>
            </a:r>
            <a:r>
              <a:rPr lang="sv-SE" sz="1400" b="1" dirty="0" smtClean="0"/>
              <a:t>, social and formal science</a:t>
            </a:r>
          </a:p>
          <a:p>
            <a:r>
              <a:rPr lang="sv-SE" sz="1400" dirty="0" smtClean="0"/>
              <a:t>Design science is a paradigm, </a:t>
            </a:r>
            <a:r>
              <a:rPr lang="sv-SE" sz="1400" dirty="0" err="1" smtClean="0"/>
              <a:t>such</a:t>
            </a:r>
            <a:r>
              <a:rPr lang="sv-SE" sz="1400" dirty="0" smtClean="0"/>
              <a:t> as positivism and </a:t>
            </a:r>
            <a:r>
              <a:rPr lang="sv-SE" sz="1400" dirty="0" err="1" smtClean="0"/>
              <a:t>interpretivism</a:t>
            </a:r>
            <a:endParaRPr lang="sv-SE" sz="1400" dirty="0" smtClean="0"/>
          </a:p>
          <a:p>
            <a:r>
              <a:rPr lang="sv-SE" sz="1400" dirty="0" smtClean="0"/>
              <a:t>Design science is a research </a:t>
            </a:r>
            <a:r>
              <a:rPr lang="sv-SE" sz="1400" dirty="0" err="1" smtClean="0"/>
              <a:t>strategy</a:t>
            </a:r>
            <a:r>
              <a:rPr lang="sv-SE" sz="1400" dirty="0" smtClean="0"/>
              <a:t>, </a:t>
            </a:r>
            <a:r>
              <a:rPr lang="sv-SE" sz="1400" dirty="0" err="1" smtClean="0"/>
              <a:t>such</a:t>
            </a:r>
            <a:r>
              <a:rPr lang="sv-SE" sz="1400" dirty="0" smtClean="0"/>
              <a:t> as </a:t>
            </a:r>
            <a:r>
              <a:rPr lang="sv-SE" sz="1400" dirty="0" err="1" smtClean="0"/>
              <a:t>case</a:t>
            </a:r>
            <a:r>
              <a:rPr lang="sv-SE" sz="1400" dirty="0" smtClean="0"/>
              <a:t> </a:t>
            </a:r>
            <a:r>
              <a:rPr lang="sv-SE" sz="1400" dirty="0" err="1" smtClean="0"/>
              <a:t>study</a:t>
            </a:r>
            <a:r>
              <a:rPr lang="sv-SE" sz="1400" dirty="0" smtClean="0"/>
              <a:t> and survey</a:t>
            </a:r>
          </a:p>
          <a:p>
            <a:endParaRPr lang="sv-SE" dirty="0" smtClean="0"/>
          </a:p>
        </p:txBody>
      </p:sp>
      <p:sp>
        <p:nvSpPr>
          <p:cNvPr id="4" name="Right Brace 3"/>
          <p:cNvSpPr/>
          <p:nvPr/>
        </p:nvSpPr>
        <p:spPr>
          <a:xfrm>
            <a:off x="6878639" y="1736592"/>
            <a:ext cx="253573" cy="152912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TextBox 4"/>
          <p:cNvSpPr txBox="1"/>
          <p:nvPr/>
        </p:nvSpPr>
        <p:spPr>
          <a:xfrm>
            <a:off x="7213415" y="2163475"/>
            <a:ext cx="14811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 err="1" smtClean="0"/>
              <a:t>These</a:t>
            </a:r>
            <a:r>
              <a:rPr lang="sv-SE" sz="1400" dirty="0" smtClean="0"/>
              <a:t> </a:t>
            </a:r>
            <a:r>
              <a:rPr lang="sv-SE" sz="1400" dirty="0" err="1" smtClean="0"/>
              <a:t>statement</a:t>
            </a:r>
            <a:r>
              <a:rPr lang="sv-SE" sz="1400" dirty="0" smtClean="0"/>
              <a:t> </a:t>
            </a:r>
            <a:r>
              <a:rPr lang="sv-SE" sz="1400" dirty="0" err="1" smtClean="0"/>
              <a:t>are</a:t>
            </a:r>
            <a:r>
              <a:rPr lang="sv-SE" sz="1400" dirty="0" smtClean="0"/>
              <a:t> OK to </a:t>
            </a:r>
            <a:r>
              <a:rPr lang="sv-SE" sz="1400" dirty="0" err="1" smtClean="0"/>
              <a:t>use</a:t>
            </a:r>
            <a:r>
              <a:rPr lang="sv-SE" sz="1400" dirty="0" smtClean="0"/>
              <a:t> </a:t>
            </a:r>
            <a:r>
              <a:rPr lang="sv-SE" sz="1400" dirty="0" err="1" smtClean="0"/>
              <a:t>according</a:t>
            </a:r>
            <a:r>
              <a:rPr lang="sv-SE" sz="1400" dirty="0" smtClean="0"/>
              <a:t> to </a:t>
            </a:r>
            <a:r>
              <a:rPr lang="sv-SE" sz="1400" dirty="0" err="1" smtClean="0"/>
              <a:t>me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xmlns="" val="420738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What</a:t>
            </a:r>
            <a:r>
              <a:rPr lang="sv-SE" dirty="0" smtClean="0"/>
              <a:t> is design science?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999" y="1275533"/>
            <a:ext cx="8224585" cy="376865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sv-SE" sz="1600" dirty="0" smtClean="0"/>
              <a:t>The </a:t>
            </a:r>
            <a:r>
              <a:rPr lang="sv-SE" sz="1600" dirty="0" err="1" smtClean="0"/>
              <a:t>core</a:t>
            </a:r>
            <a:r>
              <a:rPr lang="sv-SE" sz="1600" dirty="0" smtClean="0"/>
              <a:t> </a:t>
            </a:r>
            <a:r>
              <a:rPr lang="sv-SE" sz="1600" dirty="0" err="1" smtClean="0"/>
              <a:t>of</a:t>
            </a:r>
            <a:r>
              <a:rPr lang="sv-SE" sz="1600" dirty="0" smtClean="0"/>
              <a:t> design science is </a:t>
            </a:r>
            <a:r>
              <a:rPr lang="sv-SE" sz="1600" dirty="0" err="1" smtClean="0"/>
              <a:t>based</a:t>
            </a:r>
            <a:r>
              <a:rPr lang="sv-SE" sz="1600" dirty="0" smtClean="0"/>
              <a:t> </a:t>
            </a:r>
            <a:r>
              <a:rPr lang="sv-SE" sz="1600" dirty="0" err="1" smtClean="0"/>
              <a:t>of</a:t>
            </a:r>
            <a:r>
              <a:rPr lang="sv-SE" sz="1600" dirty="0" smtClean="0"/>
              <a:t> </a:t>
            </a:r>
            <a:r>
              <a:rPr lang="sv-SE" sz="1600" b="1" dirty="0" err="1" smtClean="0"/>
              <a:t>prescriptive</a:t>
            </a:r>
            <a:r>
              <a:rPr lang="sv-SE" sz="1600" b="1" dirty="0" smtClean="0"/>
              <a:t> </a:t>
            </a:r>
            <a:r>
              <a:rPr lang="sv-SE" sz="1600" b="1" dirty="0" err="1" smtClean="0"/>
              <a:t>knowledge</a:t>
            </a:r>
            <a:r>
              <a:rPr lang="sv-SE" sz="1600" dirty="0" smtClean="0"/>
              <a:t>: </a:t>
            </a:r>
          </a:p>
          <a:p>
            <a:r>
              <a:rPr lang="en-GB" sz="1400" b="1" dirty="0"/>
              <a:t>Definitional knowledge </a:t>
            </a:r>
            <a:r>
              <a:rPr lang="en-GB" sz="1400" dirty="0" smtClean="0"/>
              <a:t>- </a:t>
            </a:r>
            <a:r>
              <a:rPr lang="en-GB" sz="1400" dirty="0"/>
              <a:t>consists of concepts, constructs, terms, definitions, </a:t>
            </a:r>
            <a:r>
              <a:rPr lang="en-GB" sz="1400" dirty="0" smtClean="0"/>
              <a:t>classifications</a:t>
            </a:r>
            <a:endParaRPr lang="en-GB" sz="1400" dirty="0"/>
          </a:p>
          <a:p>
            <a:r>
              <a:rPr lang="en-GB" sz="1400" b="1" dirty="0"/>
              <a:t>Descriptive </a:t>
            </a:r>
            <a:r>
              <a:rPr lang="en-GB" sz="1400" b="1" dirty="0" smtClean="0"/>
              <a:t>knowledge </a:t>
            </a:r>
            <a:r>
              <a:rPr lang="en-GB" sz="1400" dirty="0" smtClean="0"/>
              <a:t>- describes </a:t>
            </a:r>
            <a:r>
              <a:rPr lang="en-GB" sz="1400" dirty="0"/>
              <a:t>an existing or past </a:t>
            </a:r>
            <a:r>
              <a:rPr lang="en-GB" sz="1400" dirty="0" smtClean="0"/>
              <a:t>reality</a:t>
            </a:r>
            <a:endParaRPr lang="en-GB" sz="1400" dirty="0"/>
          </a:p>
          <a:p>
            <a:r>
              <a:rPr lang="en-GB" sz="1400" b="1" dirty="0"/>
              <a:t>Explanatory </a:t>
            </a:r>
            <a:r>
              <a:rPr lang="en-GB" sz="1400" b="1" dirty="0" smtClean="0"/>
              <a:t>knowledge </a:t>
            </a:r>
            <a:r>
              <a:rPr lang="en-GB" sz="1400" dirty="0" smtClean="0"/>
              <a:t>- </a:t>
            </a:r>
            <a:r>
              <a:rPr lang="en-GB" sz="1400" dirty="0"/>
              <a:t>provides answers to questions of </a:t>
            </a:r>
            <a:r>
              <a:rPr lang="en-GB" sz="1400" dirty="0" smtClean="0"/>
              <a:t>why</a:t>
            </a:r>
            <a:endParaRPr lang="en-GB" sz="1400" dirty="0"/>
          </a:p>
          <a:p>
            <a:r>
              <a:rPr lang="en-GB" sz="1400" b="1" dirty="0"/>
              <a:t>Predictive </a:t>
            </a:r>
            <a:r>
              <a:rPr lang="en-GB" sz="1400" b="1" dirty="0" smtClean="0"/>
              <a:t>knowledge </a:t>
            </a:r>
            <a:r>
              <a:rPr lang="en-GB" sz="1400" dirty="0" smtClean="0"/>
              <a:t>- </a:t>
            </a:r>
            <a:r>
              <a:rPr lang="en-GB" sz="1400" dirty="0"/>
              <a:t>offers black-box predictions, i.e. it predicts outcomes based on underlying factors but without explaining causal or other relationships between them. </a:t>
            </a:r>
          </a:p>
          <a:p>
            <a:r>
              <a:rPr lang="en-GB" sz="1400" b="1" dirty="0"/>
              <a:t>Explanatory and predictive knowledge</a:t>
            </a:r>
          </a:p>
          <a:p>
            <a:r>
              <a:rPr lang="en-GB" sz="1400" b="1" dirty="0"/>
              <a:t>Prescriptive knowledge</a:t>
            </a:r>
          </a:p>
          <a:p>
            <a:pPr marL="0" indent="0">
              <a:buNone/>
            </a:pPr>
            <a:endParaRPr lang="sv-SE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7180289" y="4482059"/>
            <a:ext cx="1233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 smtClean="0"/>
              <a:t>(Gregor, 2006)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xmlns="" val="210543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2700" dirty="0"/>
              <a:t>Presciptive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500" b="1" i="1" dirty="0"/>
              <a:t>Prescriptive knowledge</a:t>
            </a:r>
            <a:r>
              <a:rPr lang="en-GB" sz="1500" b="1" dirty="0"/>
              <a:t> </a:t>
            </a:r>
            <a:r>
              <a:rPr lang="en-GB" sz="1500" dirty="0"/>
              <a:t>consists of </a:t>
            </a:r>
            <a:r>
              <a:rPr lang="en-GB" sz="1500" b="1" dirty="0"/>
              <a:t>prescriptive models </a:t>
            </a:r>
            <a:r>
              <a:rPr lang="en-GB" sz="1500" dirty="0"/>
              <a:t>and </a:t>
            </a:r>
            <a:r>
              <a:rPr lang="en-GB" sz="1500" b="1" dirty="0"/>
              <a:t>methods</a:t>
            </a:r>
            <a:r>
              <a:rPr lang="en-GB" sz="1500" dirty="0"/>
              <a:t> that help solve </a:t>
            </a:r>
            <a:r>
              <a:rPr lang="en-GB" sz="1500" b="1" dirty="0"/>
              <a:t>practical problems</a:t>
            </a:r>
          </a:p>
          <a:p>
            <a:r>
              <a:rPr lang="en-GB" sz="1500" b="1" i="1" dirty="0"/>
              <a:t>Prescriptive methods </a:t>
            </a:r>
            <a:r>
              <a:rPr lang="en-GB" sz="1500" dirty="0"/>
              <a:t>are </a:t>
            </a:r>
            <a:r>
              <a:rPr lang="en-GB" sz="1500" b="1" dirty="0"/>
              <a:t>guidelines and procedures </a:t>
            </a:r>
            <a:r>
              <a:rPr lang="en-GB" sz="1500" dirty="0"/>
              <a:t>that help people to work in systematic ways when solving problems. </a:t>
            </a:r>
          </a:p>
          <a:p>
            <a:r>
              <a:rPr lang="en-GB" sz="1500" b="1" i="1" dirty="0" smtClean="0"/>
              <a:t>Prescriptive </a:t>
            </a:r>
            <a:r>
              <a:rPr lang="en-GB" sz="1500" b="1" i="1" dirty="0"/>
              <a:t>models </a:t>
            </a:r>
            <a:r>
              <a:rPr lang="en-GB" sz="1500" dirty="0"/>
              <a:t>can be seen as </a:t>
            </a:r>
            <a:r>
              <a:rPr lang="en-GB" sz="1500" b="1" dirty="0"/>
              <a:t>blueprints</a:t>
            </a:r>
            <a:r>
              <a:rPr lang="en-GB" sz="1500" dirty="0"/>
              <a:t> for </a:t>
            </a:r>
            <a:r>
              <a:rPr lang="en-GB" sz="1500" dirty="0" smtClean="0"/>
              <a:t>developing, for example, business processes or IT systems</a:t>
            </a:r>
          </a:p>
          <a:p>
            <a:endParaRPr lang="sv-SE" sz="1500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1477388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33950"/>
    </mc:Choice>
    <mc:Fallback>
      <p:transition spd="slow" advTm="33950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2700" dirty="0"/>
              <a:t>Presciptive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00" y="1275534"/>
            <a:ext cx="7695866" cy="3240432"/>
          </a:xfrm>
        </p:spPr>
        <p:txBody>
          <a:bodyPr>
            <a:normAutofit/>
          </a:bodyPr>
          <a:lstStyle/>
          <a:p>
            <a:r>
              <a:rPr lang="en-GB" sz="1500" dirty="0"/>
              <a:t>Typical examples of </a:t>
            </a:r>
            <a:r>
              <a:rPr lang="en-GB" sz="1500" i="1" dirty="0"/>
              <a:t>prescriptive methods </a:t>
            </a:r>
            <a:r>
              <a:rPr lang="en-GB" sz="1500" dirty="0"/>
              <a:t>are </a:t>
            </a:r>
            <a:r>
              <a:rPr lang="en-GB" sz="1500" b="1" dirty="0"/>
              <a:t>systems and software development methods</a:t>
            </a:r>
            <a:r>
              <a:rPr lang="en-GB" sz="1500" dirty="0"/>
              <a:t>, such as the </a:t>
            </a:r>
            <a:r>
              <a:rPr lang="en-GB" sz="1500" b="1" dirty="0"/>
              <a:t>Rational Unified Process (RUP) </a:t>
            </a:r>
            <a:r>
              <a:rPr lang="en-GB" sz="1500" dirty="0"/>
              <a:t>(Kroll et al. 2003), or agile methods, such as </a:t>
            </a:r>
            <a:r>
              <a:rPr lang="en-GB" sz="1500" b="1" dirty="0"/>
              <a:t>XP and SCRUM </a:t>
            </a:r>
            <a:r>
              <a:rPr lang="en-GB" sz="1500" dirty="0"/>
              <a:t>(Cohn 2009). </a:t>
            </a:r>
          </a:p>
          <a:p>
            <a:r>
              <a:rPr lang="en-GB" sz="1500" dirty="0"/>
              <a:t>Typical examples of </a:t>
            </a:r>
            <a:r>
              <a:rPr lang="en-GB" sz="1500" i="1" dirty="0"/>
              <a:t>prescriptive models </a:t>
            </a:r>
            <a:r>
              <a:rPr lang="en-GB" sz="1500" dirty="0"/>
              <a:t>are </a:t>
            </a:r>
            <a:r>
              <a:rPr lang="en-GB" sz="1500" b="1" dirty="0"/>
              <a:t>conceptual reference models, such as SCOR </a:t>
            </a:r>
            <a:r>
              <a:rPr lang="en-GB" sz="1500" dirty="0"/>
              <a:t>(</a:t>
            </a:r>
            <a:r>
              <a:rPr lang="en-GB" sz="1500" dirty="0" err="1"/>
              <a:t>Bolstorff</a:t>
            </a:r>
            <a:r>
              <a:rPr lang="en-GB" sz="1500" dirty="0"/>
              <a:t> and Rosenbaum 2007), or </a:t>
            </a:r>
            <a:r>
              <a:rPr lang="en-GB" sz="1500" b="1" dirty="0"/>
              <a:t>architectural models, such as OSI </a:t>
            </a:r>
            <a:r>
              <a:rPr lang="en-GB" sz="1500" dirty="0"/>
              <a:t>(Day and Zimmerman 1983).  </a:t>
            </a:r>
          </a:p>
          <a:p>
            <a:endParaRPr lang="en-GB" sz="1500" dirty="0"/>
          </a:p>
          <a:p>
            <a:endParaRPr lang="sv-SE" sz="1500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150241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39613"/>
    </mc:Choice>
    <mc:Fallback>
      <p:transition spd="slow" advTm="39613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2700" dirty="0"/>
              <a:t>Presciptive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999" y="1275533"/>
            <a:ext cx="7785619" cy="3610573"/>
          </a:xfrm>
        </p:spPr>
        <p:txBody>
          <a:bodyPr>
            <a:normAutofit/>
          </a:bodyPr>
          <a:lstStyle/>
          <a:p>
            <a:r>
              <a:rPr lang="en-GB" sz="1500" i="1" dirty="0" smtClean="0"/>
              <a:t>Prescriptive </a:t>
            </a:r>
            <a:r>
              <a:rPr lang="en-GB" sz="1500" i="1" dirty="0"/>
              <a:t>models and methods </a:t>
            </a:r>
            <a:r>
              <a:rPr lang="en-GB" sz="1500" dirty="0"/>
              <a:t>can be viewed as comprising two </a:t>
            </a:r>
            <a:r>
              <a:rPr lang="en-GB" sz="1500" dirty="0" smtClean="0"/>
              <a:t>parts.</a:t>
            </a:r>
          </a:p>
          <a:p>
            <a:r>
              <a:rPr lang="en-GB" sz="1350" b="1" dirty="0" smtClean="0"/>
              <a:t>The </a:t>
            </a:r>
            <a:r>
              <a:rPr lang="en-GB" sz="1350" b="1" dirty="0"/>
              <a:t>first </a:t>
            </a:r>
            <a:r>
              <a:rPr lang="en-GB" sz="1350" b="1" dirty="0" smtClean="0"/>
              <a:t>part </a:t>
            </a:r>
            <a:r>
              <a:rPr lang="en-GB" sz="1350" dirty="0" smtClean="0"/>
              <a:t>- is </a:t>
            </a:r>
            <a:r>
              <a:rPr lang="en-GB" sz="1350" dirty="0"/>
              <a:t>the </a:t>
            </a:r>
            <a:r>
              <a:rPr lang="en-GB" sz="1350" b="1" dirty="0"/>
              <a:t>model or method </a:t>
            </a:r>
            <a:r>
              <a:rPr lang="en-GB" sz="1350" b="1" dirty="0" smtClean="0"/>
              <a:t>itself</a:t>
            </a:r>
          </a:p>
          <a:p>
            <a:r>
              <a:rPr lang="en-GB" sz="1350" b="1" dirty="0" smtClean="0"/>
              <a:t>The </a:t>
            </a:r>
            <a:r>
              <a:rPr lang="en-GB" sz="1350" b="1" dirty="0"/>
              <a:t>second </a:t>
            </a:r>
            <a:r>
              <a:rPr lang="en-GB" sz="1350" b="1" dirty="0" smtClean="0"/>
              <a:t>part </a:t>
            </a:r>
            <a:r>
              <a:rPr lang="en-GB" sz="1350" dirty="0" smtClean="0"/>
              <a:t>- is </a:t>
            </a:r>
            <a:r>
              <a:rPr lang="en-GB" sz="1350" dirty="0"/>
              <a:t>a </a:t>
            </a:r>
            <a:r>
              <a:rPr lang="en-GB" sz="1350" b="1" dirty="0"/>
              <a:t>statement </a:t>
            </a:r>
            <a:r>
              <a:rPr lang="en-GB" sz="1350" dirty="0"/>
              <a:t>about some desirable effect of using the model or method. </a:t>
            </a:r>
            <a:endParaRPr lang="en-GB" sz="1350" dirty="0" smtClean="0"/>
          </a:p>
          <a:p>
            <a:r>
              <a:rPr lang="en-GB" sz="1350" dirty="0" smtClean="0"/>
              <a:t>This </a:t>
            </a:r>
            <a:r>
              <a:rPr lang="en-GB" sz="1350" b="1" dirty="0" smtClean="0"/>
              <a:t>statement </a:t>
            </a:r>
            <a:r>
              <a:rPr lang="en-GB" sz="1350" dirty="0" smtClean="0"/>
              <a:t>(the second part) implies that if a prescriptive model or method is used in a certain practice, </a:t>
            </a:r>
            <a:r>
              <a:rPr lang="en-GB" sz="1350" dirty="0"/>
              <a:t>this will contribute to effects desired by some stakeholders</a:t>
            </a:r>
            <a:r>
              <a:rPr lang="en-GB" sz="1350" dirty="0" smtClean="0"/>
              <a:t>. </a:t>
            </a:r>
          </a:p>
          <a:p>
            <a:r>
              <a:rPr lang="en-GB" sz="1350" dirty="0" smtClean="0"/>
              <a:t>In </a:t>
            </a:r>
            <a:r>
              <a:rPr lang="en-GB" sz="1350" dirty="0"/>
              <a:t>this sense, prescription can be seen as a special case of prediction</a:t>
            </a:r>
            <a:r>
              <a:rPr lang="en-GB" sz="1200" dirty="0"/>
              <a:t>. </a:t>
            </a:r>
            <a:endParaRPr lang="sv-SE" sz="1200" dirty="0"/>
          </a:p>
          <a:p>
            <a:endParaRPr lang="sv-SE" sz="1500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920501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57377"/>
    </mc:Choice>
    <mc:Fallback>
      <p:transition spd="slow" advTm="57377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2700" dirty="0"/>
              <a:t>Presciptive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hangingPunct="0">
              <a:lnSpc>
                <a:spcPct val="150000"/>
              </a:lnSpc>
            </a:pPr>
            <a:r>
              <a:rPr lang="en-GB" sz="1500" dirty="0" smtClean="0"/>
              <a:t>Examples </a:t>
            </a:r>
            <a:r>
              <a:rPr lang="en-GB" sz="1500" dirty="0"/>
              <a:t>of </a:t>
            </a:r>
            <a:r>
              <a:rPr lang="en-GB" sz="1500" b="1" i="1" dirty="0"/>
              <a:t>prescriptive knowledge</a:t>
            </a:r>
            <a:r>
              <a:rPr lang="en-GB" sz="1500" dirty="0"/>
              <a:t>:</a:t>
            </a:r>
            <a:endParaRPr lang="sv-SE" sz="1500" dirty="0"/>
          </a:p>
          <a:p>
            <a:pPr lvl="1" hangingPunct="0">
              <a:lnSpc>
                <a:spcPct val="150000"/>
              </a:lnSpc>
            </a:pPr>
            <a:r>
              <a:rPr lang="en-GB" sz="1350" dirty="0"/>
              <a:t>Apply sun lotion before sun bathing!</a:t>
            </a:r>
            <a:endParaRPr lang="sv-SE" sz="1350" dirty="0"/>
          </a:p>
          <a:p>
            <a:pPr lvl="1" hangingPunct="0">
              <a:lnSpc>
                <a:spcPct val="150000"/>
              </a:lnSpc>
            </a:pPr>
            <a:r>
              <a:rPr lang="en-GB" sz="1350" dirty="0"/>
              <a:t>Develop your software system iteratively!</a:t>
            </a:r>
            <a:endParaRPr lang="sv-SE" sz="1350" dirty="0"/>
          </a:p>
          <a:p>
            <a:endParaRPr lang="en-GB" sz="1500" dirty="0"/>
          </a:p>
          <a:p>
            <a:endParaRPr lang="sv-SE" sz="1500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2603727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14604"/>
    </mc:Choice>
    <mc:Fallback>
      <p:transition spd="slow" advTm="14604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Book and presentations</a:t>
            </a:r>
            <a:endParaRPr lang="sv-S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8650" y="1268016"/>
            <a:ext cx="2475520" cy="35925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3008" y="1268016"/>
            <a:ext cx="585173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 err="1"/>
              <a:t>Johannesson</a:t>
            </a:r>
            <a:r>
              <a:rPr lang="en-US" sz="1350" dirty="0"/>
              <a:t>, P., &amp; </a:t>
            </a:r>
            <a:r>
              <a:rPr lang="en-US" sz="1350" dirty="0" err="1"/>
              <a:t>Perjons</a:t>
            </a:r>
            <a:r>
              <a:rPr lang="en-US" sz="1350" dirty="0"/>
              <a:t>, E. (2014). </a:t>
            </a:r>
            <a:r>
              <a:rPr lang="en-US" sz="1350" i="1" dirty="0"/>
              <a:t>An introduction to design science</a:t>
            </a:r>
            <a:r>
              <a:rPr lang="en-US" sz="1350" dirty="0"/>
              <a:t>. Springer.</a:t>
            </a:r>
            <a:endParaRPr lang="sv-SE" sz="1350" dirty="0"/>
          </a:p>
          <a:p>
            <a:endParaRPr lang="sv-SE" sz="1350" dirty="0"/>
          </a:p>
          <a:p>
            <a:r>
              <a:rPr lang="sv-SE" sz="1350" dirty="0"/>
              <a:t>Presentation of the major chapters: </a:t>
            </a:r>
          </a:p>
          <a:p>
            <a:r>
              <a:rPr lang="sv-SE" sz="1350" dirty="0"/>
              <a:t>https://introtodesignscience.wordpress.com/</a:t>
            </a:r>
          </a:p>
        </p:txBody>
      </p:sp>
    </p:spTree>
    <p:extLst>
      <p:ext uri="{BB962C8B-B14F-4D97-AF65-F5344CB8AC3E}">
        <p14:creationId xmlns:p14="http://schemas.microsoft.com/office/powerpoint/2010/main" xmlns="" val="332403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u_dsv_ppt_template_16_9_20130920">
  <a:themeElements>
    <a:clrScheme name="SU">
      <a:dk1>
        <a:srgbClr val="002F5F"/>
      </a:dk1>
      <a:lt1>
        <a:srgbClr val="FFFFFF"/>
      </a:lt1>
      <a:dk2>
        <a:srgbClr val="002F5F"/>
      </a:dk2>
      <a:lt2>
        <a:srgbClr val="808080"/>
      </a:lt2>
      <a:accent1>
        <a:srgbClr val="A3A86B"/>
      </a:accent1>
      <a:accent2>
        <a:srgbClr val="ACDEE6"/>
      </a:accent2>
      <a:accent3>
        <a:srgbClr val="9BB2CE"/>
      </a:accent3>
      <a:accent4>
        <a:srgbClr val="D95E00"/>
      </a:accent4>
      <a:accent5>
        <a:srgbClr val="DADCC3"/>
      </a:accent5>
      <a:accent6>
        <a:srgbClr val="FF9B4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nglish SU 16:9 - Widescreen">
  <a:themeElements>
    <a:clrScheme name="SU">
      <a:dk1>
        <a:srgbClr val="002F5F"/>
      </a:dk1>
      <a:lt1>
        <a:srgbClr val="FFFFFF"/>
      </a:lt1>
      <a:dk2>
        <a:srgbClr val="002F5F"/>
      </a:dk2>
      <a:lt2>
        <a:srgbClr val="808080"/>
      </a:lt2>
      <a:accent1>
        <a:srgbClr val="A3A86B"/>
      </a:accent1>
      <a:accent2>
        <a:srgbClr val="ACDEE6"/>
      </a:accent2>
      <a:accent3>
        <a:srgbClr val="9BB2CE"/>
      </a:accent3>
      <a:accent4>
        <a:srgbClr val="D95E00"/>
      </a:accent4>
      <a:accent5>
        <a:srgbClr val="DADCC3"/>
      </a:accent5>
      <a:accent6>
        <a:srgbClr val="FF9B4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U 16:9 - Blå Widescreen">
  <a:themeElements>
    <a:clrScheme name="SU">
      <a:dk1>
        <a:srgbClr val="002F5F"/>
      </a:dk1>
      <a:lt1>
        <a:srgbClr val="FFFFFF"/>
      </a:lt1>
      <a:dk2>
        <a:srgbClr val="002F5F"/>
      </a:dk2>
      <a:lt2>
        <a:srgbClr val="808080"/>
      </a:lt2>
      <a:accent1>
        <a:srgbClr val="A3A86B"/>
      </a:accent1>
      <a:accent2>
        <a:srgbClr val="ACDEE6"/>
      </a:accent2>
      <a:accent3>
        <a:srgbClr val="9BB2CE"/>
      </a:accent3>
      <a:accent4>
        <a:srgbClr val="D95E00"/>
      </a:accent4>
      <a:accent5>
        <a:srgbClr val="DADCC3"/>
      </a:accent5>
      <a:accent6>
        <a:srgbClr val="FF9B4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English SU 16:9 - Blå Widescreen">
  <a:themeElements>
    <a:clrScheme name="SU">
      <a:dk1>
        <a:srgbClr val="002F5F"/>
      </a:dk1>
      <a:lt1>
        <a:srgbClr val="FFFFFF"/>
      </a:lt1>
      <a:dk2>
        <a:srgbClr val="002F5F"/>
      </a:dk2>
      <a:lt2>
        <a:srgbClr val="808080"/>
      </a:lt2>
      <a:accent1>
        <a:srgbClr val="A3A86B"/>
      </a:accent1>
      <a:accent2>
        <a:srgbClr val="ACDEE6"/>
      </a:accent2>
      <a:accent3>
        <a:srgbClr val="9BB2CE"/>
      </a:accent3>
      <a:accent4>
        <a:srgbClr val="D95E00"/>
      </a:accent4>
      <a:accent5>
        <a:srgbClr val="DADCC3"/>
      </a:accent5>
      <a:accent6>
        <a:srgbClr val="FF9B4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pecial">
  <a:themeElements>
    <a:clrScheme name="SU">
      <a:dk1>
        <a:srgbClr val="002F5F"/>
      </a:dk1>
      <a:lt1>
        <a:srgbClr val="FFFFFF"/>
      </a:lt1>
      <a:dk2>
        <a:srgbClr val="002F5F"/>
      </a:dk2>
      <a:lt2>
        <a:srgbClr val="808080"/>
      </a:lt2>
      <a:accent1>
        <a:srgbClr val="A3A86B"/>
      </a:accent1>
      <a:accent2>
        <a:srgbClr val="ACDEE6"/>
      </a:accent2>
      <a:accent3>
        <a:srgbClr val="9BB2CE"/>
      </a:accent3>
      <a:accent4>
        <a:srgbClr val="D95E00"/>
      </a:accent4>
      <a:accent5>
        <a:srgbClr val="DADCC3"/>
      </a:accent5>
      <a:accent6>
        <a:srgbClr val="FF9B4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600" noProof="0" dirty="0" smtClean="0">
            <a:solidFill>
              <a:srgbClr val="FFFFFF"/>
            </a:solidFill>
            <a:latin typeface="Verdana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su_dsv_ppt_template_16_9_20141030</Template>
  <TotalTime>5260</TotalTime>
  <Words>2818</Words>
  <Application>Microsoft Office PowerPoint</Application>
  <PresentationFormat>全屏显示(16:9)</PresentationFormat>
  <Paragraphs>425</Paragraphs>
  <Slides>53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5</vt:i4>
      </vt:variant>
      <vt:variant>
        <vt:lpstr>幻灯片标题</vt:lpstr>
      </vt:variant>
      <vt:variant>
        <vt:i4>53</vt:i4>
      </vt:variant>
    </vt:vector>
  </HeadingPairs>
  <TitlesOfParts>
    <vt:vector size="58" baseType="lpstr">
      <vt:lpstr>su_dsv_ppt_template_16_9_20130920</vt:lpstr>
      <vt:lpstr>English SU 16:9 - Widescreen</vt:lpstr>
      <vt:lpstr>SU 16:9 - Blå Widescreen</vt:lpstr>
      <vt:lpstr>English SU 16:9 - Blå Widescreen</vt:lpstr>
      <vt:lpstr>Special</vt:lpstr>
      <vt:lpstr>Introduction to Design Science</vt:lpstr>
      <vt:lpstr>幻灯片 2</vt:lpstr>
      <vt:lpstr>Positioning design science</vt:lpstr>
      <vt:lpstr>Defining design science</vt:lpstr>
      <vt:lpstr>Defining artefact</vt:lpstr>
      <vt:lpstr>Artefact types in information systems</vt:lpstr>
      <vt:lpstr>Artefact types in information systems</vt:lpstr>
      <vt:lpstr>Artefact and practice</vt:lpstr>
      <vt:lpstr>Defining practice</vt:lpstr>
      <vt:lpstr>An example of a practice</vt:lpstr>
      <vt:lpstr>What characterize design science? </vt:lpstr>
      <vt:lpstr>What characterize design science? </vt:lpstr>
      <vt:lpstr>What characterize design science? </vt:lpstr>
      <vt:lpstr>What characterize design science? </vt:lpstr>
      <vt:lpstr>What characterize design science? </vt:lpstr>
      <vt:lpstr>Design science and Practice research</vt:lpstr>
      <vt:lpstr>Design science and Practice research</vt:lpstr>
      <vt:lpstr>幻灯片 18</vt:lpstr>
      <vt:lpstr>A design science framework</vt:lpstr>
      <vt:lpstr>A design science framework</vt:lpstr>
      <vt:lpstr>Explicate problem</vt:lpstr>
      <vt:lpstr>A design science framework</vt:lpstr>
      <vt:lpstr>Define requirement</vt:lpstr>
      <vt:lpstr>Define requirements</vt:lpstr>
      <vt:lpstr>Define requirements</vt:lpstr>
      <vt:lpstr>A design science framework</vt:lpstr>
      <vt:lpstr>Design and devlop artefact</vt:lpstr>
      <vt:lpstr>A design science framework</vt:lpstr>
      <vt:lpstr>A design science framework</vt:lpstr>
      <vt:lpstr>Evaluate artefact</vt:lpstr>
      <vt:lpstr>Evaluate artefact</vt:lpstr>
      <vt:lpstr>Evaluate artefact: Informed argument</vt:lpstr>
      <vt:lpstr>A design science framework</vt:lpstr>
      <vt:lpstr>The design science framework</vt:lpstr>
      <vt:lpstr>The design science framework</vt:lpstr>
      <vt:lpstr>Peffer et al (2007) </vt:lpstr>
      <vt:lpstr>幻灯片 37</vt:lpstr>
      <vt:lpstr>Research methods</vt:lpstr>
      <vt:lpstr>幻灯片 39</vt:lpstr>
      <vt:lpstr>幻灯片 40</vt:lpstr>
      <vt:lpstr>幻灯片 41</vt:lpstr>
      <vt:lpstr>Knowledge base</vt:lpstr>
      <vt:lpstr>Cases of Design Science</vt:lpstr>
      <vt:lpstr>What is the science part of Design Science?</vt:lpstr>
      <vt:lpstr>幻灯片 45</vt:lpstr>
      <vt:lpstr>What is design science?</vt:lpstr>
      <vt:lpstr>What is design science?</vt:lpstr>
      <vt:lpstr>What is design science?</vt:lpstr>
      <vt:lpstr>Presciptive knowledge</vt:lpstr>
      <vt:lpstr>Presciptive knowledge</vt:lpstr>
      <vt:lpstr>Presciptive knowledge</vt:lpstr>
      <vt:lpstr>Presciptive knowledge</vt:lpstr>
      <vt:lpstr>Book and presentations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</dc:creator>
  <cp:lastModifiedBy>NTKO</cp:lastModifiedBy>
  <cp:revision>369</cp:revision>
  <cp:lastPrinted>2017-10-17T04:13:00Z</cp:lastPrinted>
  <dcterms:created xsi:type="dcterms:W3CDTF">2015-05-25T21:35:52Z</dcterms:created>
  <dcterms:modified xsi:type="dcterms:W3CDTF">2024-02-24T12:35:08Z</dcterms:modified>
</cp:coreProperties>
</file>