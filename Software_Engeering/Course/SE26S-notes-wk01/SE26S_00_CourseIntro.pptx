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796" r:id="rId4"/>
    <p:sldId id="810" r:id="rId6"/>
    <p:sldId id="829" r:id="rId7"/>
    <p:sldId id="862" r:id="rId8"/>
    <p:sldId id="863" r:id="rId9"/>
    <p:sldId id="828" r:id="rId10"/>
    <p:sldId id="864" r:id="rId11"/>
    <p:sldId id="812" r:id="rId12"/>
    <p:sldId id="883" r:id="rId13"/>
    <p:sldId id="814" r:id="rId14"/>
    <p:sldId id="813" r:id="rId15"/>
    <p:sldId id="801" r:id="rId16"/>
    <p:sldId id="815" r:id="rId17"/>
    <p:sldId id="806" r:id="rId18"/>
    <p:sldId id="858" r:id="rId19"/>
    <p:sldId id="865" r:id="rId20"/>
    <p:sldId id="866" r:id="rId21"/>
    <p:sldId id="868" r:id="rId22"/>
    <p:sldId id="869" r:id="rId23"/>
    <p:sldId id="871" r:id="rId24"/>
    <p:sldId id="872" r:id="rId25"/>
    <p:sldId id="867" r:id="rId26"/>
    <p:sldId id="860" r:id="rId27"/>
    <p:sldId id="861" r:id="rId28"/>
  </p:sldIdLst>
  <p:sldSz cx="9144000" cy="6858000" type="screen4x3"/>
  <p:notesSz cx="7315200" cy="9601200"/>
  <p:custDataLst>
    <p:tags r:id="rId32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200" b="1" i="0" u="none" kern="1200" baseline="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200" b="1" i="0" u="none" kern="1200" baseline="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200" b="1" i="0" u="none" kern="1200" baseline="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200" b="1" i="0" u="none" kern="1200" baseline="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200" b="1" i="0" u="none" kern="1200" baseline="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200" b="1" i="0" u="none" kern="1200" baseline="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200" b="1" i="0" u="none" kern="1200" baseline="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200" b="1" i="0" u="none" kern="1200" baseline="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200" b="1" i="0" u="none" kern="1200" baseline="0">
        <a:solidFill>
          <a:srgbClr val="FFFF00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1111"/>
    <a:srgbClr val="FF0000"/>
    <a:srgbClr val="0000FF"/>
    <a:srgbClr val="9900CC"/>
    <a:srgbClr val="009900"/>
    <a:srgbClr val="FF00FF"/>
    <a:srgbClr val="00FF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164"/>
    <p:restoredTop sz="85983"/>
  </p:normalViewPr>
  <p:slideViewPr>
    <p:cSldViewPr showGuides="1">
      <p:cViewPr varScale="1">
        <p:scale>
          <a:sx n="96" d="100"/>
          <a:sy n="96" d="100"/>
        </p:scale>
        <p:origin x="-2052" y="-102"/>
      </p:cViewPr>
      <p:guideLst>
        <p:guide orient="horz" pos="2160"/>
        <p:guide pos="2880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2" Type="http://schemas.openxmlformats.org/officeDocument/2006/relationships/tags" Target="tags/tag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defTabSz="967105">
              <a:defRPr sz="1300" b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671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>
            <a:lvl1pPr algn="r" defTabSz="967105">
              <a:defRPr sz="1300" b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671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28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Click to edit Master text styles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lstStyle>
            <a:lvl1pPr defTabSz="967105">
              <a:defRPr sz="1300" b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671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661" tIns="48331" rIns="96661" bIns="48331" numCol="1" anchor="b" anchorCtr="0" compatLnSpc="1"/>
          <a:p>
            <a:pPr lvl="0" algn="r" defTabSz="967105" eaLnBrk="1" hangingPunct="1">
              <a:buNone/>
            </a:pPr>
            <a:fld id="{9A0DB2DC-4C9A-4742-B13C-FB6460FD3503}" type="slidenum">
              <a:rPr lang="en-US" altLang="zh-CN" sz="1300" b="0" dirty="0">
                <a:solidFill>
                  <a:schemeClr val="bg1"/>
                </a:solidFill>
              </a:rPr>
            </a:fld>
            <a:endParaRPr lang="en-US" altLang="zh-CN" sz="1300" b="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1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square" lIns="96661" tIns="48331" rIns="96661" bIns="48331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765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 eaLnBrk="1" hangingPunct="1"/>
            <a:fld id="{9A0DB2DC-4C9A-4742-B13C-FB6460FD3503}" type="slidenum">
              <a:rPr lang="en-US" altLang="zh-CN" sz="1300" b="0" dirty="0">
                <a:solidFill>
                  <a:schemeClr val="bg1"/>
                </a:solidFill>
              </a:rPr>
            </a:fld>
            <a:endParaRPr lang="en-US" altLang="zh-CN" sz="13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square" lIns="96661" tIns="48331" rIns="96661" bIns="48331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867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 eaLnBrk="1" hangingPunct="1"/>
            <a:fld id="{9A0DB2DC-4C9A-4742-B13C-FB6460FD3503}" type="slidenum">
              <a:rPr lang="en-US" altLang="zh-CN" sz="1300" b="0" dirty="0">
                <a:solidFill>
                  <a:schemeClr val="bg1"/>
                </a:solidFill>
              </a:rPr>
            </a:fld>
            <a:endParaRPr lang="en-US" altLang="zh-CN" sz="13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square" lIns="96661" tIns="48331" rIns="96661" bIns="48331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867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 eaLnBrk="1" hangingPunct="1"/>
            <a:fld id="{9A0DB2DC-4C9A-4742-B13C-FB6460FD3503}" type="slidenum">
              <a:rPr lang="en-US" altLang="zh-CN" sz="1300" b="0" dirty="0">
                <a:solidFill>
                  <a:schemeClr val="bg1"/>
                </a:solidFill>
              </a:rPr>
            </a:fld>
            <a:endParaRPr lang="en-US" altLang="zh-CN" sz="13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square" lIns="96661" tIns="48331" rIns="96661" bIns="48331" anchor="t" anchorCtr="0"/>
          <a:p>
            <a:pPr lvl="0"/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9700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 eaLnBrk="1" hangingPunct="1"/>
            <a:fld id="{9A0DB2DC-4C9A-4742-B13C-FB6460FD3503}" type="slidenum">
              <a:rPr lang="en-US" altLang="zh-CN" sz="1300" b="0" dirty="0">
                <a:solidFill>
                  <a:schemeClr val="bg1"/>
                </a:solidFill>
              </a:rPr>
            </a:fld>
            <a:endParaRPr lang="en-US" altLang="zh-CN" sz="13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square" lIns="96661" tIns="48331" rIns="96661" bIns="48331" anchor="t" anchorCtr="0"/>
          <a:p>
            <a:pPr lvl="0"/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0724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 eaLnBrk="1" hangingPunct="1"/>
            <a:fld id="{9A0DB2DC-4C9A-4742-B13C-FB6460FD3503}" type="slidenum">
              <a:rPr lang="en-US" altLang="zh-CN" sz="1300" b="0" dirty="0">
                <a:solidFill>
                  <a:schemeClr val="bg1"/>
                </a:solidFill>
              </a:rPr>
            </a:fld>
            <a:endParaRPr lang="en-US" altLang="zh-CN" sz="13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square" lIns="96661" tIns="48331" rIns="96661" bIns="48331" anchor="t" anchorCtr="0"/>
          <a:p>
            <a:pPr lvl="0"/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1748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 eaLnBrk="1" hangingPunct="1"/>
            <a:fld id="{9A0DB2DC-4C9A-4742-B13C-FB6460FD3503}" type="slidenum">
              <a:rPr lang="en-US" altLang="zh-CN" sz="1300" b="0" dirty="0">
                <a:solidFill>
                  <a:schemeClr val="bg1"/>
                </a:solidFill>
              </a:rPr>
            </a:fld>
            <a:endParaRPr lang="en-US" altLang="zh-CN" sz="13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square" lIns="96661" tIns="48331" rIns="96661" bIns="48331" anchor="t" anchorCtr="0"/>
          <a:p>
            <a:pPr lvl="0"/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2772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 eaLnBrk="1" hangingPunct="1"/>
            <a:fld id="{9A0DB2DC-4C9A-4742-B13C-FB6460FD3503}" type="slidenum">
              <a:rPr lang="en-US" altLang="zh-CN" sz="1300" b="0" dirty="0">
                <a:solidFill>
                  <a:schemeClr val="bg1"/>
                </a:solidFill>
              </a:rPr>
            </a:fld>
            <a:endParaRPr lang="en-US" altLang="zh-CN" sz="13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square" lIns="96661" tIns="48331" rIns="96661" bIns="48331" anchor="t" anchorCtr="0"/>
          <a:p>
            <a:pPr lvl="0"/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379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 eaLnBrk="1" hangingPunct="1"/>
            <a:fld id="{9A0DB2DC-4C9A-4742-B13C-FB6460FD3503}" type="slidenum">
              <a:rPr lang="en-US" altLang="zh-CN" sz="1300" b="0" dirty="0">
                <a:solidFill>
                  <a:schemeClr val="bg1"/>
                </a:solidFill>
              </a:rPr>
            </a:fld>
            <a:endParaRPr lang="en-US" altLang="zh-CN" sz="13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square" lIns="96661" tIns="48331" rIns="96661" bIns="48331" anchor="t" anchorCtr="0"/>
          <a:p>
            <a:pPr lvl="0"/>
            <a:endParaRPr lang="en-US" altLang="zh-CN" dirty="0"/>
          </a:p>
        </p:txBody>
      </p:sp>
      <p:sp>
        <p:nvSpPr>
          <p:cNvPr id="34820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 eaLnBrk="1" hangingPunct="1">
              <a:buNone/>
            </a:pPr>
            <a:fld id="{9A0DB2DC-4C9A-4742-B13C-FB6460FD3503}" type="slidenum">
              <a:rPr lang="en-US" altLang="zh-CN" sz="1300" b="0" dirty="0">
                <a:solidFill>
                  <a:schemeClr val="bg1"/>
                </a:solidFill>
              </a:rPr>
            </a:fld>
            <a:endParaRPr lang="en-US" altLang="zh-CN" sz="13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square" lIns="96661" tIns="48331" rIns="96661" bIns="48331" anchor="t" anchorCtr="0"/>
          <a:p>
            <a:pPr lvl="0"/>
            <a:endParaRPr lang="en-US" altLang="zh-CN" dirty="0"/>
          </a:p>
        </p:txBody>
      </p:sp>
      <p:sp>
        <p:nvSpPr>
          <p:cNvPr id="35844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 eaLnBrk="1" hangingPunct="1">
              <a:buNone/>
            </a:pPr>
            <a:fld id="{9A0DB2DC-4C9A-4742-B13C-FB6460FD3503}" type="slidenum">
              <a:rPr lang="en-US" altLang="zh-CN" sz="1300" b="0" dirty="0">
                <a:solidFill>
                  <a:schemeClr val="bg1"/>
                </a:solidFill>
              </a:rPr>
            </a:fld>
            <a:endParaRPr lang="en-US" altLang="zh-CN" sz="13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square" lIns="96661" tIns="48331" rIns="96661" bIns="48331" anchor="t" anchorCtr="0"/>
          <a:p>
            <a:pPr lvl="0"/>
            <a:endParaRPr lang="en-US" altLang="zh-CN" dirty="0"/>
          </a:p>
        </p:txBody>
      </p:sp>
      <p:sp>
        <p:nvSpPr>
          <p:cNvPr id="36868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 eaLnBrk="1" hangingPunct="1">
              <a:buNone/>
            </a:pPr>
            <a:fld id="{9A0DB2DC-4C9A-4742-B13C-FB6460FD3503}" type="slidenum">
              <a:rPr lang="en-US" altLang="zh-CN" sz="1300" b="0" dirty="0">
                <a:solidFill>
                  <a:schemeClr val="bg1"/>
                </a:solidFill>
              </a:rPr>
            </a:fld>
            <a:endParaRPr lang="en-US" altLang="zh-CN" sz="13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square" lIns="96661" tIns="48331" rIns="96661" bIns="48331" anchor="t" anchorCtr="0"/>
          <a:p>
            <a:pPr lvl="0"/>
            <a:endParaRPr lang="en-US" altLang="zh-CN" dirty="0"/>
          </a:p>
        </p:txBody>
      </p:sp>
      <p:sp>
        <p:nvSpPr>
          <p:cNvPr id="37892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 eaLnBrk="1" hangingPunct="1">
              <a:buNone/>
            </a:pPr>
            <a:fld id="{9A0DB2DC-4C9A-4742-B13C-FB6460FD3503}" type="slidenum">
              <a:rPr lang="en-US" altLang="zh-CN" sz="1300" b="0" dirty="0">
                <a:solidFill>
                  <a:schemeClr val="bg1"/>
                </a:solidFill>
              </a:rPr>
            </a:fld>
            <a:endParaRPr lang="en-US" altLang="zh-CN" sz="13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square" lIns="96661" tIns="48331" rIns="96661" bIns="48331" anchor="t" anchorCtr="0"/>
          <a:p>
            <a:pPr lvl="0"/>
            <a:endParaRPr lang="en-US" altLang="zh-CN" dirty="0"/>
          </a:p>
        </p:txBody>
      </p:sp>
      <p:sp>
        <p:nvSpPr>
          <p:cNvPr id="38916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 eaLnBrk="1" hangingPunct="1">
              <a:buNone/>
            </a:pPr>
            <a:fld id="{9A0DB2DC-4C9A-4742-B13C-FB6460FD3503}" type="slidenum">
              <a:rPr lang="en-US" altLang="zh-CN" sz="1300" b="0" dirty="0">
                <a:solidFill>
                  <a:schemeClr val="bg1"/>
                </a:solidFill>
              </a:rPr>
            </a:fld>
            <a:endParaRPr lang="en-US" altLang="zh-CN" sz="13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square" lIns="96661" tIns="48331" rIns="96661" bIns="48331" anchor="t" anchorCtr="0"/>
          <a:p>
            <a:pPr marL="589280" lvl="0" indent="-589280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39940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 eaLnBrk="1" hangingPunct="1">
              <a:buNone/>
            </a:pPr>
            <a:fld id="{9A0DB2DC-4C9A-4742-B13C-FB6460FD3503}" type="slidenum">
              <a:rPr lang="en-US" altLang="zh-CN" sz="1300" b="0" dirty="0">
                <a:solidFill>
                  <a:schemeClr val="bg1"/>
                </a:solidFill>
              </a:rPr>
            </a:fld>
            <a:endParaRPr lang="en-US" altLang="zh-CN" sz="1300" b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914400"/>
            <a:ext cx="38100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38100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76200"/>
            <a:ext cx="1943100" cy="6096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76200"/>
            <a:ext cx="5676900" cy="6096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838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914400"/>
            <a:ext cx="381000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914400"/>
            <a:ext cx="3810000" cy="2552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619500"/>
            <a:ext cx="3810000" cy="2552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914400"/>
            <a:ext cx="38100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38100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76200"/>
            <a:ext cx="1943100" cy="6096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76200"/>
            <a:ext cx="5676900" cy="6096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838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914400"/>
            <a:ext cx="381000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914400"/>
            <a:ext cx="3810000" cy="2552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619500"/>
            <a:ext cx="3810000" cy="2552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0" hangingPunct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85800" y="914400"/>
            <a:ext cx="7772400" cy="5257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88269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8269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defRPr sz="1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8269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lvl="0" eaLnBrk="0" hangingPunct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882695" name="Line 7"/>
          <p:cNvSpPr>
            <a:spLocks noChangeShapeType="1"/>
          </p:cNvSpPr>
          <p:nvPr/>
        </p:nvSpPr>
        <p:spPr bwMode="auto">
          <a:xfrm>
            <a:off x="685800" y="838200"/>
            <a:ext cx="7772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838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85800" y="914400"/>
            <a:ext cx="7772400" cy="5257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88269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8269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defRPr sz="1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8269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 lvl="0" eaLnBrk="0" hangingPunct="0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882695" name="Line 7"/>
          <p:cNvSpPr>
            <a:spLocks noChangeShapeType="1"/>
          </p:cNvSpPr>
          <p:nvPr/>
        </p:nvSpPr>
        <p:spPr bwMode="auto">
          <a:xfrm>
            <a:off x="685800" y="838200"/>
            <a:ext cx="7772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hyperlink" Target="mailto:c.program@yeah.net" TargetMode="External"/><Relationship Id="rId1" Type="http://schemas.openxmlformats.org/officeDocument/2006/relationships/hyperlink" Target="mailto:c.max@yeah.net" TargetMode="Externa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hyperlink" Target="http://eceweb1.rutgers.edu/~marsic/books/SE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050" name="矩形 1"/>
          <p:cNvSpPr/>
          <p:nvPr/>
        </p:nvSpPr>
        <p:spPr>
          <a:xfrm>
            <a:off x="762000" y="2438400"/>
            <a:ext cx="7467600" cy="34150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lnSpc>
                <a:spcPct val="200000"/>
              </a:lnSpc>
              <a:spcBef>
                <a:spcPct val="50000"/>
              </a:spcBef>
              <a:buNone/>
            </a:pPr>
            <a:r>
              <a:rPr lang="en-US" altLang="zh-CN" sz="24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Dr. </a:t>
            </a:r>
            <a:r>
              <a:rPr lang="zh-CN" altLang="en-US" sz="24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何明昕  </a:t>
            </a:r>
            <a:r>
              <a:rPr lang="en-US" altLang="zh-CN" sz="2400" b="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HE Mingxin, MX, Max</a:t>
            </a:r>
            <a:endParaRPr lang="en-US" altLang="zh-CN" sz="2400" b="0" dirty="0">
              <a:solidFill>
                <a:srgbClr val="002060"/>
              </a:solidFill>
              <a:latin typeface="Comic Sans MS" panose="030F0702030302020204" pitchFamily="66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4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Send your email to </a:t>
            </a:r>
            <a:r>
              <a:rPr lang="en-US" altLang="zh-CN" sz="24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  <a:hlinkClick r:id="rId1"/>
              </a:rPr>
              <a:t>c.max@yeah.net</a:t>
            </a:r>
            <a:r>
              <a:rPr lang="en-US" altLang="zh-CN" sz="24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  with</a:t>
            </a:r>
            <a:endParaRPr lang="en-US" altLang="zh-CN" sz="2400" b="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4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a subject like:  </a:t>
            </a:r>
            <a:r>
              <a:rPr lang="en-US" altLang="zh-CN" sz="2400" b="0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SE-id</a:t>
            </a:r>
            <a:r>
              <a:rPr lang="en-US" altLang="zh-CN" sz="2400" b="0" i="1" dirty="0">
                <a:solidFill>
                  <a:srgbClr val="002060"/>
                </a:solidFill>
                <a:latin typeface="Comic Sans MS" panose="030F0702030302020204" pitchFamily="66" charset="0"/>
                <a:ea typeface="黑体" panose="02010609060101010101" pitchFamily="49" charset="-122"/>
              </a:rPr>
              <a:t>-Andy: On What </a:t>
            </a:r>
            <a:r>
              <a:rPr lang="en-US" altLang="zh-CN" sz="2400" b="0" i="1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…</a:t>
            </a:r>
            <a:endParaRPr lang="en-US" altLang="zh-CN" sz="2400" b="0" i="1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lnSpc>
                <a:spcPct val="200000"/>
              </a:lnSpc>
              <a:spcBef>
                <a:spcPct val="50000"/>
              </a:spcBef>
              <a:buNone/>
            </a:pPr>
            <a:r>
              <a:rPr lang="en-US" altLang="zh-CN" sz="24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Download from </a:t>
            </a:r>
            <a:r>
              <a:rPr lang="en-US" altLang="zh-CN" sz="24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  <a:hlinkClick r:id="rId2"/>
              </a:rPr>
              <a:t>c.program@yeah.net</a:t>
            </a:r>
            <a:endParaRPr lang="en-US" altLang="zh-CN" sz="2400" b="0" dirty="0">
              <a:solidFill>
                <a:srgbClr val="FF000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None/>
            </a:pPr>
            <a:r>
              <a:rPr lang="en-US" altLang="zh-CN" sz="24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4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文件中心</a:t>
            </a:r>
            <a:r>
              <a:rPr lang="en-US" altLang="zh-CN" sz="24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</a:t>
            </a:r>
            <a:r>
              <a:rPr lang="zh-CN" altLang="en-US" sz="24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网盘</a:t>
            </a:r>
            <a:r>
              <a:rPr lang="en-US" altLang="zh-CN" sz="2400" b="0" dirty="0">
                <a:solidFill>
                  <a:srgbClr val="00206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/SoftwareEngineering26S</a:t>
            </a:r>
            <a:endParaRPr lang="en-US" altLang="zh-CN" sz="2400" b="0" dirty="0">
              <a:solidFill>
                <a:srgbClr val="00206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2051" name="矩形 2"/>
          <p:cNvSpPr/>
          <p:nvPr/>
        </p:nvSpPr>
        <p:spPr>
          <a:xfrm>
            <a:off x="533400" y="609600"/>
            <a:ext cx="7924800" cy="14462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4800" dirty="0">
                <a:solidFill>
                  <a:srgbClr val="002060"/>
                </a:solidFill>
                <a:latin typeface="Calibri" panose="020F0502020204030204" pitchFamily="34" charset="0"/>
              </a:rPr>
              <a:t>Software Engineering</a:t>
            </a:r>
            <a:endParaRPr lang="en-US" altLang="zh-CN" sz="4800" dirty="0">
              <a:solidFill>
                <a:srgbClr val="002060"/>
              </a:solidFill>
              <a:latin typeface="Calibri" panose="020F0502020204030204" pitchFamily="34" charset="0"/>
            </a:endParaRPr>
          </a:p>
          <a:p>
            <a:pPr algn="ctr"/>
            <a:r>
              <a:rPr lang="en-US" altLang="zh-CN" sz="4000" dirty="0">
                <a:solidFill>
                  <a:srgbClr val="002060"/>
                </a:solidFill>
                <a:latin typeface="Calibri" panose="020F0502020204030204" pitchFamily="34" charset="0"/>
              </a:rPr>
              <a:t>Course Introduction</a:t>
            </a:r>
            <a:endParaRPr lang="zh-CN" altLang="en-US" sz="4000" dirty="0">
              <a:solidFill>
                <a:srgbClr val="00206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Subtitle 2"/>
          <p:cNvSpPr>
            <a:spLocks noGrp="1"/>
          </p:cNvSpPr>
          <p:nvPr>
            <p:ph type="subTitle" idx="4294967295"/>
          </p:nvPr>
        </p:nvSpPr>
        <p:spPr>
          <a:xfrm>
            <a:off x="2846388" y="304800"/>
            <a:ext cx="6297612" cy="457200"/>
          </a:xfrm>
        </p:spPr>
        <p:txBody>
          <a:bodyPr vert="horz" wrap="square" lIns="91440" tIns="45720" rIns="91440" bIns="45720" anchor="t" anchorCtr="0"/>
          <a:lstStyle>
            <a:lvl1pPr marL="0" lvl="0" indent="0" algn="ctr">
              <a:buClrTx/>
              <a:buSzTx/>
              <a:buFontTx/>
              <a:defRPr/>
            </a:lvl1pPr>
            <a:lvl2pPr marL="457200" lvl="1" indent="0" algn="ctr">
              <a:buClrTx/>
              <a:buSzTx/>
              <a:buFontTx/>
              <a:buNone/>
              <a:defRPr/>
            </a:lvl2pPr>
            <a:lvl3pPr marL="914400" lvl="2" indent="0" algn="ctr">
              <a:buClrTx/>
              <a:buSzTx/>
              <a:buFontTx/>
              <a:buNone/>
              <a:defRPr/>
            </a:lvl3pPr>
            <a:lvl4pPr marL="1371600" lvl="3" indent="0" algn="ctr">
              <a:buClrTx/>
              <a:buSzTx/>
              <a:buFontTx/>
              <a:buNone/>
              <a:defRPr/>
            </a:lvl4pPr>
            <a:lvl5pPr marL="1828800" lvl="4" indent="0" algn="ctr">
              <a:buClrTx/>
              <a:buSzTx/>
              <a:buFontTx/>
              <a:buNone/>
              <a:defRPr/>
            </a:lvl5pPr>
          </a:lstStyle>
          <a:p>
            <a:pPr marL="342900" lvl="0" indent="-342900" algn="l"/>
            <a:r>
              <a:rPr lang="en-US" altLang="zh-CN" sz="2000" b="1" dirty="0">
                <a:latin typeface="Comic Sans MS" panose="030F0702030302020204" pitchFamily="66" charset="0"/>
                <a:ea typeface="宋体" panose="02010600030101010101" pitchFamily="2" charset="-122"/>
                <a:hlinkClick r:id="rId1"/>
              </a:rPr>
              <a:t>http://eceweb1.rutgers.edu/~marsic/books/SE/</a:t>
            </a:r>
            <a:endParaRPr lang="en-US" altLang="zh-CN" sz="2000" b="1" dirty="0">
              <a:latin typeface="Comic Sans MS" panose="030F0702030302020204" pitchFamily="66" charset="0"/>
              <a:ea typeface="宋体" panose="02010600030101010101" pitchFamily="2" charset="-122"/>
            </a:endParaRPr>
          </a:p>
          <a:p>
            <a:pPr marL="342900" lvl="0" indent="-342900" eaLnBrk="1" hangingPunct="1"/>
            <a:endParaRPr lang="en-US" altLang="zh-CN" dirty="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3075" name="TextBox 3"/>
          <p:cNvSpPr txBox="1"/>
          <p:nvPr/>
        </p:nvSpPr>
        <p:spPr>
          <a:xfrm>
            <a:off x="304800" y="228600"/>
            <a:ext cx="7045325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0" dirty="0">
                <a:solidFill>
                  <a:srgbClr val="002060"/>
                </a:solidFill>
                <a:latin typeface="Comic Sans MS" panose="030F0702030302020204" pitchFamily="66" charset="0"/>
              </a:rPr>
              <a:t>Textbook</a:t>
            </a:r>
            <a:endParaRPr lang="zh-CN" altLang="en-US" sz="3600" b="0" dirty="0">
              <a:solidFill>
                <a:srgbClr val="002060"/>
              </a:solidFill>
              <a:latin typeface="Comic Sans MS" panose="030F0702030302020204" pitchFamily="66" charset="0"/>
            </a:endParaRPr>
          </a:p>
        </p:txBody>
      </p:sp>
      <p:pic>
        <p:nvPicPr>
          <p:cNvPr id="3076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66800"/>
            <a:ext cx="5257800" cy="46402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7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7525" y="1066800"/>
            <a:ext cx="3390900" cy="464820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Subtitle 2"/>
          <p:cNvSpPr>
            <a:spLocks noGrp="1"/>
          </p:cNvSpPr>
          <p:nvPr>
            <p:ph type="subTitle" idx="4294967295"/>
          </p:nvPr>
        </p:nvSpPr>
        <p:spPr>
          <a:xfrm>
            <a:off x="381000" y="2514600"/>
            <a:ext cx="3810000" cy="2590800"/>
          </a:xfrm>
          <a:ln w="19050">
            <a:solidFill>
              <a:schemeClr val="accent1">
                <a:alpha val="100000"/>
              </a:schemeClr>
            </a:solidFill>
            <a:miter/>
          </a:ln>
        </p:spPr>
        <p:txBody>
          <a:bodyPr vert="horz" wrap="square" lIns="91440" tIns="45720" rIns="91440" bIns="45720" anchor="t" anchorCtr="0"/>
          <a:lstStyle>
            <a:lvl1pPr marL="0" lvl="0" indent="0" algn="ctr">
              <a:buClrTx/>
              <a:buSzTx/>
              <a:buFontTx/>
              <a:defRPr/>
            </a:lvl1pPr>
            <a:lvl2pPr marL="457200" lvl="1" indent="0" algn="ctr">
              <a:buClrTx/>
              <a:buSzTx/>
              <a:buFontTx/>
              <a:buNone/>
              <a:defRPr/>
            </a:lvl2pPr>
            <a:lvl3pPr marL="914400" lvl="2" indent="0" algn="ctr">
              <a:buClrTx/>
              <a:buSzTx/>
              <a:buFontTx/>
              <a:buNone/>
              <a:defRPr/>
            </a:lvl3pPr>
            <a:lvl4pPr marL="1371600" lvl="3" indent="0" algn="ctr">
              <a:buClrTx/>
              <a:buSzTx/>
              <a:buFontTx/>
              <a:buNone/>
              <a:defRPr/>
            </a:lvl4pPr>
            <a:lvl5pPr marL="1828800" lvl="4" indent="0" algn="ctr">
              <a:buClrTx/>
              <a:buSzTx/>
              <a:buFontTx/>
              <a:buNone/>
              <a:defRPr/>
            </a:lvl5pPr>
          </a:lstStyle>
          <a:p>
            <a:pPr marL="342900" lvl="0" indent="-342900" algn="l">
              <a:buNone/>
            </a:pPr>
            <a: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</a:rPr>
              <a:t>Karl Wiegers and Joy Beatty.</a:t>
            </a:r>
            <a:endParaRPr lang="en-US" altLang="zh-CN" sz="2400" dirty="0">
              <a:latin typeface="Calibri" panose="020F0502020204030204" pitchFamily="34" charset="0"/>
              <a:ea typeface="黑体" panose="02010609060101010101" pitchFamily="49" charset="-122"/>
            </a:endParaRPr>
          </a:p>
          <a:p>
            <a:pPr marL="342900" lvl="0" indent="-342900" algn="l">
              <a:buNone/>
            </a:pPr>
            <a:r>
              <a:rPr lang="en-US" altLang="zh-CN" sz="320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Software</a:t>
            </a:r>
            <a:endParaRPr lang="en-US" altLang="zh-CN" sz="3200" dirty="0">
              <a:solidFill>
                <a:srgbClr val="00B0F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marL="342900" lvl="0" indent="-342900" algn="l">
              <a:spcBef>
                <a:spcPct val="0"/>
              </a:spcBef>
              <a:buNone/>
            </a:pPr>
            <a:r>
              <a:rPr lang="en-US" altLang="zh-CN" sz="320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Requirements,</a:t>
            </a:r>
            <a:endParaRPr lang="en-US" altLang="zh-CN" sz="3200" dirty="0">
              <a:solidFill>
                <a:srgbClr val="00B0F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marL="342900" lvl="0" indent="-342900" algn="l">
              <a:buNone/>
            </a:pPr>
            <a:r>
              <a:rPr lang="en-US" altLang="zh-CN" sz="240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Third Edition</a:t>
            </a:r>
            <a:endParaRPr lang="en-US" altLang="zh-CN" sz="2400" dirty="0"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marL="342900" lvl="0" indent="-342900" algn="l">
              <a:spcBef>
                <a:spcPts val="1200"/>
              </a:spcBef>
              <a:buNone/>
            </a:pPr>
            <a:r>
              <a:rPr lang="en-US" altLang="zh-CN" sz="2000" dirty="0">
                <a:latin typeface="Verdana" panose="020B0604030504040204" pitchFamily="34" charset="0"/>
                <a:ea typeface="黑体" panose="02010609060101010101" pitchFamily="49" charset="-122"/>
              </a:rPr>
              <a:t>Microsoft, 2013</a:t>
            </a:r>
            <a:endParaRPr lang="zh-CN" altLang="zh-CN" sz="2400" dirty="0">
              <a:ea typeface="宋体" panose="02010600030101010101" pitchFamily="2" charset="-122"/>
            </a:endParaRPr>
          </a:p>
          <a:p>
            <a:pPr marL="342900" lvl="0" indent="-342900" algn="l" eaLnBrk="1" hangingPunct="1">
              <a:buNone/>
            </a:pPr>
            <a:endParaRPr lang="en-US" altLang="zh-CN" dirty="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4099" name="TextBox 3"/>
          <p:cNvSpPr txBox="1"/>
          <p:nvPr/>
        </p:nvSpPr>
        <p:spPr>
          <a:xfrm>
            <a:off x="685800" y="228600"/>
            <a:ext cx="6664325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0" dirty="0">
                <a:solidFill>
                  <a:srgbClr val="002060"/>
                </a:solidFill>
                <a:latin typeface="Comic Sans MS" panose="030F0702030302020204" pitchFamily="66" charset="0"/>
              </a:rPr>
              <a:t>Reference Textbook</a:t>
            </a:r>
            <a:endParaRPr lang="zh-CN" altLang="en-US" sz="3600" b="0" dirty="0">
              <a:solidFill>
                <a:srgbClr val="002060"/>
              </a:solidFill>
              <a:latin typeface="Comic Sans MS" panose="030F0702030302020204" pitchFamily="66" charset="0"/>
            </a:endParaRPr>
          </a:p>
        </p:txBody>
      </p:sp>
      <p:pic>
        <p:nvPicPr>
          <p:cNvPr id="4100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066800"/>
            <a:ext cx="4548188" cy="5562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TextBox 3"/>
          <p:cNvSpPr txBox="1"/>
          <p:nvPr/>
        </p:nvSpPr>
        <p:spPr>
          <a:xfrm>
            <a:off x="685800" y="228600"/>
            <a:ext cx="6664325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0" dirty="0">
                <a:solidFill>
                  <a:srgbClr val="002060"/>
                </a:solidFill>
                <a:latin typeface="Comic Sans MS" panose="030F0702030302020204" pitchFamily="66" charset="0"/>
              </a:rPr>
              <a:t>Reference Textbook</a:t>
            </a:r>
            <a:endParaRPr lang="zh-CN" altLang="en-US" sz="3600" b="0" dirty="0">
              <a:solidFill>
                <a:srgbClr val="002060"/>
              </a:solidFill>
              <a:latin typeface="Comic Sans MS" panose="030F0702030302020204" pitchFamily="66" charset="0"/>
            </a:endParaRPr>
          </a:p>
        </p:txBody>
      </p:sp>
      <p:pic>
        <p:nvPicPr>
          <p:cNvPr id="5123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143000"/>
            <a:ext cx="3800475" cy="48656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4" name="TextBox 4"/>
          <p:cNvSpPr txBox="1"/>
          <p:nvPr/>
        </p:nvSpPr>
        <p:spPr>
          <a:xfrm>
            <a:off x="533400" y="2133600"/>
            <a:ext cx="3962400" cy="3016250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>
              <a:spcAft>
                <a:spcPts val="1200"/>
              </a:spcAft>
            </a:pPr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</a:rPr>
              <a:t>R.J. Wieringa: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altLang="zh-CN" sz="3200" b="0" dirty="0">
                <a:solidFill>
                  <a:srgbClr val="0070C0"/>
                </a:solidFill>
                <a:latin typeface="Calibri" panose="020F0502020204030204" pitchFamily="34" charset="0"/>
              </a:rPr>
              <a:t>Design Science Methodology</a:t>
            </a:r>
            <a:endParaRPr lang="en-US" altLang="zh-CN" sz="3200" b="0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altLang="zh-CN" sz="2400" b="0" dirty="0">
                <a:solidFill>
                  <a:srgbClr val="0070C0"/>
                </a:solidFill>
                <a:latin typeface="Calibri" panose="020F0502020204030204" pitchFamily="34" charset="0"/>
              </a:rPr>
              <a:t>for Information Systems and Software Engineering. </a:t>
            </a:r>
            <a:endParaRPr lang="en-US" altLang="zh-CN" sz="2400" b="0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altLang="zh-CN" sz="2400" b="0" dirty="0">
                <a:solidFill>
                  <a:srgbClr val="0070C0"/>
                </a:solidFill>
                <a:latin typeface="Calibri" panose="020F0502020204030204" pitchFamily="34" charset="0"/>
              </a:rPr>
              <a:t>Springer, 2014</a:t>
            </a:r>
            <a:endParaRPr lang="zh-CN" altLang="en-US" sz="2400" b="0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Subtitle 2"/>
          <p:cNvSpPr>
            <a:spLocks noGrp="1"/>
          </p:cNvSpPr>
          <p:nvPr>
            <p:ph type="subTitle" idx="4294967295"/>
          </p:nvPr>
        </p:nvSpPr>
        <p:spPr>
          <a:xfrm>
            <a:off x="533400" y="2514600"/>
            <a:ext cx="3505200" cy="2590800"/>
          </a:xfrm>
          <a:ln w="19050">
            <a:solidFill>
              <a:schemeClr val="accent1">
                <a:alpha val="100000"/>
              </a:schemeClr>
            </a:solidFill>
            <a:miter/>
          </a:ln>
        </p:spPr>
        <p:txBody>
          <a:bodyPr vert="horz" wrap="square" lIns="91440" tIns="45720" rIns="91440" bIns="45720" anchor="t" anchorCtr="0"/>
          <a:lstStyle>
            <a:lvl1pPr marL="0" lvl="0" indent="0" algn="ctr">
              <a:buClrTx/>
              <a:buSzTx/>
              <a:buFontTx/>
              <a:defRPr/>
            </a:lvl1pPr>
            <a:lvl2pPr marL="457200" lvl="1" indent="0" algn="ctr">
              <a:buClrTx/>
              <a:buSzTx/>
              <a:buFontTx/>
              <a:buNone/>
              <a:defRPr/>
            </a:lvl2pPr>
            <a:lvl3pPr marL="914400" lvl="2" indent="0" algn="ctr">
              <a:buClrTx/>
              <a:buSzTx/>
              <a:buFontTx/>
              <a:buNone/>
              <a:defRPr/>
            </a:lvl3pPr>
            <a:lvl4pPr marL="1371600" lvl="3" indent="0" algn="ctr">
              <a:buClrTx/>
              <a:buSzTx/>
              <a:buFontTx/>
              <a:buNone/>
              <a:defRPr/>
            </a:lvl4pPr>
            <a:lvl5pPr marL="1828800" lvl="4" indent="0" algn="ctr">
              <a:buClrTx/>
              <a:buSzTx/>
              <a:buFontTx/>
              <a:buNone/>
              <a:defRPr/>
            </a:lvl5pPr>
          </a:lstStyle>
          <a:p>
            <a:pPr marL="342900" lvl="0" indent="-342900" algn="l">
              <a:buNone/>
            </a:pPr>
            <a:r>
              <a:rPr lang="en-US" altLang="zh-CN" sz="2000" dirty="0">
                <a:latin typeface="Verdana" panose="020B0604030504040204" pitchFamily="34" charset="0"/>
                <a:ea typeface="黑体" panose="02010609060101010101" pitchFamily="49" charset="-122"/>
              </a:rPr>
              <a:t>Rod Stephens. </a:t>
            </a:r>
            <a:endParaRPr lang="en-US" altLang="zh-CN" sz="2000" dirty="0"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marL="342900" lvl="0" indent="-342900" algn="l">
              <a:buNone/>
            </a:pPr>
            <a:r>
              <a:rPr lang="en-US" altLang="zh-CN" sz="3200" dirty="0">
                <a:solidFill>
                  <a:srgbClr val="00B0F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Beginning Software Engineering</a:t>
            </a:r>
            <a:r>
              <a:rPr lang="en-US" altLang="zh-CN" sz="2000" dirty="0">
                <a:latin typeface="Verdana" panose="020B0604030504040204" pitchFamily="34" charset="0"/>
                <a:ea typeface="黑体" panose="02010609060101010101" pitchFamily="49" charset="-122"/>
              </a:rPr>
              <a:t>, </a:t>
            </a:r>
            <a:endParaRPr lang="en-US" altLang="zh-CN" sz="2000" dirty="0"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marL="342900" lvl="0" indent="-342900" algn="l">
              <a:buNone/>
            </a:pPr>
            <a:r>
              <a:rPr lang="en-US" altLang="zh-CN" sz="2000" dirty="0">
                <a:latin typeface="Verdana" panose="020B0604030504040204" pitchFamily="34" charset="0"/>
                <a:ea typeface="黑体" panose="02010609060101010101" pitchFamily="49" charset="-122"/>
              </a:rPr>
              <a:t>John Wiley &amp; Sons, 2015</a:t>
            </a:r>
            <a:endParaRPr lang="zh-CN" altLang="zh-CN" sz="2400" dirty="0">
              <a:ea typeface="宋体" panose="02010600030101010101" pitchFamily="2" charset="-122"/>
            </a:endParaRPr>
          </a:p>
          <a:p>
            <a:pPr marL="342900" lvl="0" indent="-342900" algn="l" eaLnBrk="1" hangingPunct="1">
              <a:buNone/>
            </a:pPr>
            <a:endParaRPr lang="en-US" altLang="zh-CN" dirty="0">
              <a:solidFill>
                <a:srgbClr val="898989"/>
              </a:solidFill>
              <a:ea typeface="宋体" panose="02010600030101010101" pitchFamily="2" charset="-122"/>
            </a:endParaRPr>
          </a:p>
        </p:txBody>
      </p:sp>
      <p:sp>
        <p:nvSpPr>
          <p:cNvPr id="6147" name="TextBox 3"/>
          <p:cNvSpPr txBox="1"/>
          <p:nvPr/>
        </p:nvSpPr>
        <p:spPr>
          <a:xfrm>
            <a:off x="685800" y="228600"/>
            <a:ext cx="6664325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0" dirty="0">
                <a:solidFill>
                  <a:srgbClr val="002060"/>
                </a:solidFill>
                <a:latin typeface="Comic Sans MS" panose="030F0702030302020204" pitchFamily="66" charset="0"/>
              </a:rPr>
              <a:t>Reference Textbook</a:t>
            </a:r>
            <a:endParaRPr lang="zh-CN" altLang="en-US" sz="3600" b="0" dirty="0">
              <a:solidFill>
                <a:srgbClr val="002060"/>
              </a:solidFill>
              <a:latin typeface="Comic Sans MS" panose="030F0702030302020204" pitchFamily="66" charset="0"/>
            </a:endParaRPr>
          </a:p>
        </p:txBody>
      </p:sp>
      <p:pic>
        <p:nvPicPr>
          <p:cNvPr id="6148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143000"/>
            <a:ext cx="4343400" cy="54689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extBox 3"/>
          <p:cNvSpPr txBox="1"/>
          <p:nvPr/>
        </p:nvSpPr>
        <p:spPr>
          <a:xfrm>
            <a:off x="609600" y="152400"/>
            <a:ext cx="4724400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0" dirty="0">
                <a:solidFill>
                  <a:schemeClr val="tx1"/>
                </a:solidFill>
                <a:latin typeface="Calibri" panose="020F0502020204030204" pitchFamily="34" charset="0"/>
              </a:rPr>
              <a:t>Reference Textbook</a:t>
            </a:r>
            <a:endParaRPr lang="zh-CN" altLang="en-US" sz="3600" b="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7171" name="TextBox 4"/>
          <p:cNvSpPr txBox="1"/>
          <p:nvPr/>
        </p:nvSpPr>
        <p:spPr>
          <a:xfrm>
            <a:off x="304800" y="2133600"/>
            <a:ext cx="4419600" cy="3092450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>
              <a:spcAft>
                <a:spcPts val="1200"/>
              </a:spcAft>
            </a:pPr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</a:rPr>
              <a:t>R.J. Wieringa: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r>
              <a:rPr lang="en-US" altLang="zh-CN" sz="3200" b="0" dirty="0">
                <a:solidFill>
                  <a:srgbClr val="0070C0"/>
                </a:solidFill>
                <a:latin typeface="Calibri" panose="020F0502020204030204" pitchFamily="34" charset="0"/>
              </a:rPr>
              <a:t>Design Methods for Reactive Systems</a:t>
            </a:r>
            <a:endParaRPr lang="en-US" altLang="zh-CN" sz="3200" b="0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altLang="zh-CN" sz="2400" b="0" dirty="0">
                <a:solidFill>
                  <a:srgbClr val="0070C0"/>
                </a:solidFill>
                <a:latin typeface="Calibri" panose="020F0502020204030204" pitchFamily="34" charset="0"/>
              </a:rPr>
              <a:t>Yourdon, Statemate, and the UML</a:t>
            </a:r>
            <a:endParaRPr lang="en-US" altLang="zh-CN" sz="2400" b="0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</a:rPr>
              <a:t>Elsevier Science (USA), 2003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</a:rPr>
              <a:t>Morgan Kaufmann Publishers</a:t>
            </a:r>
            <a:endParaRPr lang="zh-CN" altLang="en-US" sz="2400" b="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pic>
        <p:nvPicPr>
          <p:cNvPr id="7172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1143000"/>
            <a:ext cx="3440113" cy="5181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TextBox 3"/>
          <p:cNvSpPr txBox="1"/>
          <p:nvPr/>
        </p:nvSpPr>
        <p:spPr>
          <a:xfrm>
            <a:off x="609600" y="152400"/>
            <a:ext cx="4724400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0" dirty="0">
                <a:solidFill>
                  <a:schemeClr val="tx1"/>
                </a:solidFill>
                <a:latin typeface="Calibri" panose="020F0502020204030204" pitchFamily="34" charset="0"/>
              </a:rPr>
              <a:t>Reference Textbook</a:t>
            </a:r>
            <a:endParaRPr lang="zh-CN" altLang="en-US" sz="3600" b="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8195" name="TextBox 4"/>
          <p:cNvSpPr txBox="1"/>
          <p:nvPr/>
        </p:nvSpPr>
        <p:spPr>
          <a:xfrm>
            <a:off x="609600" y="2133600"/>
            <a:ext cx="3581400" cy="2124075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>
              <a:spcAft>
                <a:spcPts val="1200"/>
              </a:spcAft>
            </a:pPr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</a:rPr>
              <a:t>John Ousterhout.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altLang="zh-CN" sz="3200" b="0" dirty="0">
                <a:solidFill>
                  <a:srgbClr val="0070C0"/>
                </a:solidFill>
                <a:latin typeface="Calibri" panose="020F0502020204030204" pitchFamily="34" charset="0"/>
              </a:rPr>
              <a:t>A Philosophy of Software Design</a:t>
            </a:r>
            <a:endParaRPr lang="en-US" altLang="zh-CN" sz="3200" b="0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</a:rPr>
              <a:t>Springer, 2014</a:t>
            </a:r>
            <a:endParaRPr lang="zh-CN" altLang="en-US" sz="2400" b="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pic>
        <p:nvPicPr>
          <p:cNvPr id="8196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143000"/>
            <a:ext cx="3771900" cy="4876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Subtitle 2"/>
          <p:cNvSpPr>
            <a:spLocks noGrp="1" noChangeArrowheads="1"/>
          </p:cNvSpPr>
          <p:nvPr>
            <p:ph type="subTitle" idx="1"/>
          </p:nvPr>
        </p:nvSpPr>
        <p:spPr>
          <a:xfrm>
            <a:off x="685800" y="1447800"/>
            <a:ext cx="7974013" cy="4724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Ivar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Jacobson, Pan-Wei Ng, et la. 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      The Essence of Software Engineering: The SEMAT Kernel. Communications of the ACM, 2012.12</a:t>
            </a:r>
            <a:endParaRPr kumimoji="0" lang="en-US" altLang="zh-CN" sz="2400" b="0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arenR"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9" name="TextBox 3"/>
          <p:cNvSpPr txBox="1"/>
          <p:nvPr/>
        </p:nvSpPr>
        <p:spPr>
          <a:xfrm>
            <a:off x="609600" y="228600"/>
            <a:ext cx="6740525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0" dirty="0">
                <a:solidFill>
                  <a:srgbClr val="002060"/>
                </a:solidFill>
                <a:latin typeface="Calibri" panose="020F0502020204030204" pitchFamily="34" charset="0"/>
              </a:rPr>
              <a:t>Reference </a:t>
            </a:r>
            <a:endParaRPr lang="zh-CN" altLang="en-US" sz="3600" b="0" dirty="0">
              <a:solidFill>
                <a:srgbClr val="00206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9" name="TextBox 3"/>
          <p:cNvSpPr txBox="1"/>
          <p:nvPr/>
        </p:nvSpPr>
        <p:spPr>
          <a:xfrm>
            <a:off x="609600" y="228600"/>
            <a:ext cx="6740525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0" dirty="0">
                <a:solidFill>
                  <a:srgbClr val="002060"/>
                </a:solidFill>
                <a:latin typeface="Calibri" panose="020F0502020204030204" pitchFamily="34" charset="0"/>
              </a:rPr>
              <a:t>Reference </a:t>
            </a:r>
            <a:endParaRPr lang="zh-CN" altLang="en-US" sz="3600" b="0" dirty="0">
              <a:solidFill>
                <a:srgbClr val="002060"/>
              </a:solidFill>
              <a:latin typeface="Calibri" panose="020F0502020204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5505" y="1115060"/>
            <a:ext cx="3857625" cy="50628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57200" y="1447800"/>
            <a:ext cx="3926205" cy="2768600"/>
          </a:xfrm>
          <a:prstGeom prst="rect">
            <a:avLst/>
          </a:prstGeom>
          <a:noFill/>
          <a:ln w="1905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pPr>
              <a:spcAft>
                <a:spcPts val="1200"/>
              </a:spcAft>
            </a:pPr>
            <a:r>
              <a:rPr lang="en-US" altLang="zh-CN" sz="2300" b="0" dirty="0">
                <a:solidFill>
                  <a:schemeClr val="tx1"/>
                </a:solidFill>
                <a:latin typeface="Calibri" panose="020F0502020204030204" pitchFamily="34" charset="0"/>
              </a:rPr>
              <a:t>Titus Winters, Tom Manshreck, and Hyrum Wright</a:t>
            </a:r>
            <a:endParaRPr lang="en-US" altLang="zh-CN" sz="2300" b="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r>
              <a:rPr lang="en-US" altLang="zh-CN" sz="3000" b="0" dirty="0">
                <a:solidFill>
                  <a:srgbClr val="0070C0"/>
                </a:solidFill>
                <a:latin typeface="Calibri" panose="020F0502020204030204" pitchFamily="34" charset="0"/>
              </a:rPr>
              <a:t>Software Engineering at Google</a:t>
            </a:r>
            <a:r>
              <a:rPr lang="en-US" altLang="zh-CN" sz="2400" b="0" dirty="0">
                <a:solidFill>
                  <a:srgbClr val="0070C0"/>
                </a:solidFill>
                <a:latin typeface="Calibri" panose="020F0502020204030204" pitchFamily="34" charset="0"/>
              </a:rPr>
              <a:t>,   L</a:t>
            </a:r>
            <a:r>
              <a:rPr lang="zh-CN" altLang="en-US" sz="2400" b="0" dirty="0">
                <a:solidFill>
                  <a:srgbClr val="0070C0"/>
                </a:solidFill>
                <a:latin typeface="Calibri" panose="020F0502020204030204" pitchFamily="34" charset="0"/>
              </a:rPr>
              <a:t>essons Learned from Programming Over Time</a:t>
            </a:r>
            <a:endParaRPr lang="zh-CN" altLang="en-US" sz="2400" b="0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ClrTx/>
              <a:buSzTx/>
              <a:buFontTx/>
            </a:pPr>
            <a:r>
              <a:rPr lang="en-US" altLang="zh-CN" sz="2400" b="0" dirty="0">
                <a:solidFill>
                  <a:schemeClr val="tx1"/>
                </a:solidFill>
                <a:latin typeface="Calibri" panose="020F0502020204030204" pitchFamily="34" charset="0"/>
              </a:rPr>
              <a:t>O’Reilly, 2020</a:t>
            </a:r>
            <a:endParaRPr lang="en-US" altLang="zh-CN" sz="2400" b="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sz="4000" dirty="0">
                <a:latin typeface="Calibri" panose="020F0502020204030204" pitchFamily="34" charset="0"/>
                <a:ea typeface="宋体" panose="02010600030101010101" pitchFamily="2" charset="-122"/>
              </a:rPr>
              <a:t>Course Description</a:t>
            </a:r>
            <a:endParaRPr lang="en-US" altLang="zh-CN" sz="40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382000" cy="4800600"/>
          </a:xfrm>
        </p:spPr>
        <p:txBody>
          <a:bodyPr vert="horz" wrap="square" lIns="91440" tIns="45720" rIns="91440" bIns="45720" anchor="t" anchorCtr="0"/>
          <a:p>
            <a:pPr>
              <a:lnSpc>
                <a:spcPct val="120000"/>
              </a:lnSpc>
              <a:spcAft>
                <a:spcPts val="1200"/>
              </a:spcAft>
              <a:buChar char="•"/>
            </a:pP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The key objective of this course is to learn </a:t>
            </a:r>
            <a:r>
              <a:rPr lang="en-US" altLang="zh-CN" sz="2400" dirty="0">
                <a:solidFill>
                  <a:srgbClr val="7030A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modular design 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of software and </a:t>
            </a:r>
            <a:r>
              <a:rPr lang="en-US" altLang="zh-CN" sz="2400" dirty="0">
                <a:solidFill>
                  <a:srgbClr val="7030A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documenting the design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 using symbolic representations, i.e., UML diagrams. The course will cover </a:t>
            </a:r>
            <a:r>
              <a:rPr lang="en-US" altLang="zh-CN" sz="2400" dirty="0">
                <a:solidFill>
                  <a:srgbClr val="7030A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software life-cycle models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 and </a:t>
            </a:r>
            <a:r>
              <a:rPr lang="en-US" altLang="zh-CN" sz="2400" dirty="0">
                <a:solidFill>
                  <a:srgbClr val="7030A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different phases of the software development process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.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Aft>
                <a:spcPts val="1200"/>
              </a:spcAft>
              <a:buChar char="•"/>
            </a:pP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 Object-oriented techniques are key to the course. Since the ultimate result of software engineering is a working software package, the course will put a great emphasis on developing a demonstrable software package. However, this is not a programming course.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2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58" end="5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sz="4000" dirty="0">
                <a:latin typeface="Calibri" panose="020F0502020204030204" pitchFamily="34" charset="0"/>
                <a:ea typeface="宋体" panose="02010600030101010101" pitchFamily="2" charset="-122"/>
              </a:rPr>
              <a:t>Course Description (cont.)</a:t>
            </a:r>
            <a:endParaRPr lang="en-US" altLang="zh-CN" sz="40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305800" cy="4191000"/>
          </a:xfrm>
        </p:spPr>
        <p:txBody>
          <a:bodyPr vert="horz" wrap="square" lIns="91440" tIns="45720" rIns="91440" bIns="45720" anchor="t" anchorCtr="0"/>
          <a:p>
            <a:pPr>
              <a:lnSpc>
                <a:spcPct val="120000"/>
              </a:lnSpc>
              <a:spcAft>
                <a:spcPts val="1200"/>
              </a:spcAft>
              <a:buChar char="•"/>
            </a:pP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The key characteristic is having project works: </a:t>
            </a:r>
            <a:r>
              <a:rPr lang="en-US" altLang="zh-CN" sz="2400" dirty="0">
                <a:solidFill>
                  <a:srgbClr val="7030A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individual work (Programming in </a:t>
            </a:r>
            <a:r>
              <a:rPr lang="en-US" altLang="zh-CN" sz="2400" dirty="0">
                <a:solidFill>
                  <a:srgbClr val="7030A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OS),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7030A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teams of two to three students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 work on </a:t>
            </a:r>
            <a:r>
              <a:rPr lang="en-US" altLang="zh-CN" sz="2400" dirty="0">
                <a:solidFill>
                  <a:srgbClr val="7030A0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developing complex software systems over a course of one semester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. 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2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838200"/>
          </a:xfrm>
        </p:spPr>
        <p:txBody>
          <a:bodyPr vert="horz" wrap="square" lIns="91440" tIns="45720" rIns="91440" bIns="45720" anchor="ctr" anchorCtr="0"/>
          <a:p>
            <a:r>
              <a:rPr lang="en-US" altLang="zh-CN" sz="4000" dirty="0">
                <a:latin typeface="Calibri" panose="020F0502020204030204" pitchFamily="34" charset="0"/>
                <a:ea typeface="宋体" panose="02010600030101010101" pitchFamily="2" charset="-122"/>
              </a:rPr>
              <a:t>Who is this course for?</a:t>
            </a:r>
            <a:endParaRPr lang="en-US" altLang="zh-CN" sz="40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572000"/>
          </a:xfrm>
        </p:spPr>
        <p:txBody>
          <a:bodyPr vert="horz" wrap="square" lIns="91440" tIns="45720" rIns="91440" bIns="45720" anchor="t" anchorCtr="0"/>
          <a:p>
            <a:pPr>
              <a:buChar char="•"/>
            </a:pPr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</a:rPr>
              <a:t>An introductory Foundations of Software Engineering and Practical Training on Software Engineering through Team Projects.</a:t>
            </a:r>
            <a:endParaRPr lang="en-US" altLang="zh-CN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buChar char="•"/>
            </a:pPr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</a:rPr>
              <a:t>Prepare to Design Solutions (Problem-Solving) for real world pragmatic problems</a:t>
            </a:r>
            <a:endParaRPr lang="en-US" altLang="zh-CN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spcBef>
                <a:spcPts val="2500"/>
              </a:spcBef>
              <a:buChar char="•"/>
            </a:pPr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</a:rPr>
              <a:t>Prerequisites: solid programming skills, algorithms and data structures</a:t>
            </a:r>
            <a:endParaRPr lang="en-US" altLang="zh-CN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spcBef>
                <a:spcPts val="2500"/>
              </a:spcBef>
              <a:buChar char="•"/>
            </a:pPr>
            <a:r>
              <a:rPr lang="en-US" altLang="zh-CN" dirty="0">
                <a:latin typeface="Calibri" panose="020F0502020204030204" pitchFamily="34" charset="0"/>
                <a:ea typeface="宋体" panose="02010600030101010101" pitchFamily="2" charset="-122"/>
              </a:rPr>
              <a:t>Credit: 3 credits</a:t>
            </a:r>
            <a:endParaRPr lang="en-US" altLang="zh-CN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charRg st="0" end="1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22" end="2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charRg st="122" end="20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02" end="2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charRg st="202" end="2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74" end="2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charRg st="274" end="29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sz="4000" dirty="0">
                <a:latin typeface="Calibri" panose="020F0502020204030204" pitchFamily="34" charset="0"/>
                <a:ea typeface="宋体" panose="02010600030101010101" pitchFamily="2" charset="-122"/>
              </a:rPr>
              <a:t>Grading</a:t>
            </a:r>
            <a:endParaRPr lang="en-US" altLang="zh-CN" sz="40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95400"/>
            <a:ext cx="8001000" cy="4343400"/>
          </a:xfrm>
        </p:spPr>
        <p:txBody>
          <a:bodyPr vert="horz" wrap="square" lIns="91440" tIns="45720" rIns="91440" bIns="45720" anchor="t" anchorCtr="0"/>
          <a:p>
            <a:pPr>
              <a:spcBef>
                <a:spcPts val="600"/>
              </a:spcBef>
              <a:spcAft>
                <a:spcPts val="600"/>
              </a:spcAft>
              <a:buChar char="•"/>
            </a:pP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Exercise Homework and Class Participation:  15%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Char char="•"/>
            </a:pP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Project: 25%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     Project reports (2 Projects, 4 version of reports): 25 + 10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      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Char char="•"/>
            </a:pP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Exam: 60%  (Closed-book, from projects, Lectures &amp; Exercises)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Char char="•"/>
            </a:pPr>
            <a:endParaRPr lang="en-US" altLang="zh-CN" sz="2400" dirty="0">
              <a:latin typeface="Comic Sans MS" panose="030F0702030302020204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48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61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26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33" end="1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838200"/>
          </a:xfrm>
        </p:spPr>
        <p:txBody>
          <a:bodyPr vert="horz" wrap="square" lIns="91440" tIns="45720" rIns="91440" bIns="45720" anchor="ctr" anchorCtr="0"/>
          <a:p>
            <a:r>
              <a:rPr lang="en-US" altLang="zh-CN" sz="3600" dirty="0">
                <a:latin typeface="Calibri" panose="020F0502020204030204" pitchFamily="34" charset="0"/>
                <a:ea typeface="宋体" panose="02010600030101010101" pitchFamily="2" charset="-122"/>
              </a:rPr>
              <a:t>Syllabus at a Glance  (ch1~ch5 only, +...)</a:t>
            </a:r>
            <a:endParaRPr lang="zh-CN" altLang="zh-CN" sz="3600" dirty="0">
              <a:latin typeface="Calibri" panose="020F0502020204030204" pitchFamily="34" charset="0"/>
              <a:ea typeface="MS PGothic" panose="020B0600070205080204" pitchFamily="34" charset="-128"/>
            </a:endParaRP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685800" y="1143000"/>
            <a:ext cx="7848600" cy="5187315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sym typeface="+mn-ea"/>
              </a:rPr>
              <a:t>Topic 0 (3hrs): Design Science Methodology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Topic 1 (3hrs): Software Lifecycle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Topic 2 (3hrs): Requirements Engineering and Use Cases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Topic 3 (2hrs):  Software Architecture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Topic 4 (4 hrs): Object-Oriented Analysis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Topic 5 (4 hrs): Object-Oriented Design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Topic 6 (2 hrs): Test-Driven Implementation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Topic 7 (3 hrs): System Specification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Topic 8 (6 hrs): Problem Frames &amp; Software Measurement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</a:pP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Topic 9 (6 hrs): Design Patterns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lvl="2"/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Char char="•"/>
            </a:pPr>
            <a:endParaRPr lang="en-CA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609600" y="0"/>
            <a:ext cx="7772400" cy="838200"/>
          </a:xfrm>
        </p:spPr>
        <p:txBody>
          <a:bodyPr vert="horz" wrap="square" lIns="91440" tIns="45720" rIns="91440" bIns="45720" anchor="ctr" anchorCtr="0"/>
          <a:p>
            <a:r>
              <a:rPr lang="en-US" altLang="zh-CN" sz="4000" dirty="0">
                <a:latin typeface="Calibri" panose="020F0502020204030204" pitchFamily="34" charset="0"/>
                <a:ea typeface="宋体" panose="02010600030101010101" pitchFamily="2" charset="-122"/>
              </a:rPr>
              <a:t>Writing, writing, writing…</a:t>
            </a:r>
            <a:endParaRPr lang="en-US" altLang="zh-CN" sz="40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6387" name="Rectangle 3"/>
          <p:cNvSpPr>
            <a:spLocks noGrp="1"/>
          </p:cNvSpPr>
          <p:nvPr>
            <p:ph idx="1"/>
          </p:nvPr>
        </p:nvSpPr>
        <p:spPr>
          <a:xfrm>
            <a:off x="381000" y="914400"/>
            <a:ext cx="8534400" cy="5638800"/>
          </a:xfrm>
        </p:spPr>
        <p:txBody>
          <a:bodyPr vert="horz" wrap="square" lIns="91440" tIns="45720" rIns="91440" bIns="45720" anchor="t" anchorCtr="0"/>
          <a:p>
            <a:pPr marL="0" indent="0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 Good Engineers must be good writers. 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 This course is a </a:t>
            </a:r>
            <a:r>
              <a:rPr lang="en-US" altLang="zh-CN" sz="2400" b="1" dirty="0">
                <a:latin typeface="Calibri" panose="020F0502020204030204" pitchFamily="34" charset="0"/>
                <a:ea typeface="宋体" panose="02010600030101010101" pitchFamily="2" charset="-122"/>
              </a:rPr>
              <a:t>W (writing)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 course. You will be writing </a:t>
            </a:r>
            <a:r>
              <a:rPr lang="en-US" altLang="zh-CN" sz="2400" b="1" dirty="0">
                <a:latin typeface="Calibri" panose="020F0502020204030204" pitchFamily="34" charset="0"/>
                <a:ea typeface="宋体" panose="02010600030101010101" pitchFamily="2" charset="-122"/>
              </a:rPr>
              <a:t>a lot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 in this class, perhaps more than in any other college course (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)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. 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 Homework and Project assignments will ask you to </a:t>
            </a:r>
            <a:r>
              <a:rPr lang="en-US" altLang="zh-CN" sz="2400" b="1" dirty="0">
                <a:latin typeface="Calibri" panose="020F0502020204030204" pitchFamily="34" charset="0"/>
                <a:ea typeface="宋体" panose="02010600030101010101" pitchFamily="2" charset="-122"/>
              </a:rPr>
              <a:t>write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 and to </a:t>
            </a:r>
            <a:r>
              <a:rPr lang="en-US" altLang="zh-CN" sz="2400" b="1" dirty="0">
                <a:latin typeface="Calibri" panose="020F0502020204030204" pitchFamily="34" charset="0"/>
                <a:ea typeface="宋体" panose="02010600030101010101" pitchFamily="2" charset="-122"/>
              </a:rPr>
              <a:t>rewrite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. The project will involve even more </a:t>
            </a:r>
            <a:r>
              <a:rPr lang="en-US" altLang="zh-CN" sz="2400" b="1" dirty="0">
                <a:latin typeface="Calibri" panose="020F0502020204030204" pitchFamily="34" charset="0"/>
                <a:ea typeface="宋体" panose="02010600030101010101" pitchFamily="2" charset="-122"/>
              </a:rPr>
              <a:t>extensive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 writing, subject to a </a:t>
            </a:r>
            <a:r>
              <a:rPr lang="en-US" altLang="zh-CN" sz="2400" b="1" dirty="0">
                <a:latin typeface="Calibri" panose="020F0502020204030204" pitchFamily="34" charset="0"/>
                <a:ea typeface="宋体" panose="02010600030101010101" pitchFamily="2" charset="-122"/>
              </a:rPr>
              <a:t>four-step revision cycle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: </a:t>
            </a:r>
            <a:r>
              <a:rPr lang="en-US" altLang="zh-CN" sz="2400" b="1" dirty="0">
                <a:latin typeface="Calibri" panose="020F0502020204030204" pitchFamily="34" charset="0"/>
                <a:ea typeface="宋体" panose="02010600030101010101" pitchFamily="2" charset="-122"/>
              </a:rPr>
              <a:t>draft requirements - specification with architecture - first rewrite - second rewrite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. 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 In addition to project-related </a:t>
            </a:r>
            <a:r>
              <a:rPr lang="en-US" altLang="zh-CN" sz="2400" b="1" dirty="0">
                <a:latin typeface="Calibri" panose="020F0502020204030204" pitchFamily="34" charset="0"/>
                <a:ea typeface="宋体" panose="02010600030101010101" pitchFamily="2" charset="-122"/>
              </a:rPr>
              <a:t>documents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 you will be writing weekly </a:t>
            </a:r>
            <a:r>
              <a:rPr lang="en-US" altLang="zh-CN" sz="2400" b="1" dirty="0">
                <a:latin typeface="Calibri" panose="020F0502020204030204" pitchFamily="34" charset="0"/>
                <a:ea typeface="宋体" panose="02010600030101010101" pitchFamily="2" charset="-122"/>
              </a:rPr>
              <a:t>progress reports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 and the </a:t>
            </a:r>
            <a:r>
              <a:rPr lang="en-US" altLang="zh-CN" sz="2400" b="1" dirty="0">
                <a:latin typeface="Calibri" panose="020F0502020204030204" pitchFamily="34" charset="0"/>
                <a:ea typeface="宋体" panose="02010600030101010101" pitchFamily="2" charset="-122"/>
              </a:rPr>
              <a:t>final project write-up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. 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Your homework assignments and project documents will be graded not only on the subject matter, but also on correctness and writing (expression) qualities.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indent="0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 The exam will include </a:t>
            </a:r>
            <a:r>
              <a:rPr lang="en-US" altLang="zh-CN" sz="2400" b="1" dirty="0">
                <a:latin typeface="Calibri" panose="020F0502020204030204" pitchFamily="34" charset="0"/>
                <a:ea typeface="宋体" panose="02010600030101010101" pitchFamily="2" charset="-122"/>
              </a:rPr>
              <a:t>drawing UML models 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and </a:t>
            </a:r>
            <a:r>
              <a:rPr lang="en-US" altLang="zh-CN" sz="2400" b="1" dirty="0">
                <a:latin typeface="Calibri" panose="020F0502020204030204" pitchFamily="34" charset="0"/>
                <a:ea typeface="宋体" panose="02010600030101010101" pitchFamily="2" charset="-122"/>
              </a:rPr>
              <a:t>writing essays</a:t>
            </a: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</a:rPr>
              <a:t>. 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609600" y="0"/>
            <a:ext cx="7772400" cy="838200"/>
          </a:xfrm>
        </p:spPr>
        <p:txBody>
          <a:bodyPr vert="horz" wrap="square" lIns="91440" tIns="45720" rIns="91440" bIns="45720" anchor="ctr" anchorCtr="0"/>
          <a:p>
            <a:r>
              <a:rPr lang="en-US" altLang="zh-CN" sz="4000" dirty="0">
                <a:latin typeface="Calibri" panose="020F0502020204030204" pitchFamily="34" charset="0"/>
                <a:ea typeface="宋体" panose="02010600030101010101" pitchFamily="2" charset="-122"/>
              </a:rPr>
              <a:t>Writing, writing, writing…</a:t>
            </a:r>
            <a:endParaRPr lang="en-US" altLang="zh-CN" sz="40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685800" y="1295400"/>
            <a:ext cx="7772400" cy="2895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 eaLnBrk="0" hangingPunct="0">
              <a:spcBef>
                <a:spcPts val="1200"/>
              </a:spcBef>
              <a:buClrTx/>
              <a:buSzTx/>
              <a:buFontTx/>
              <a:buNone/>
              <a:defRPr/>
            </a:pPr>
            <a:r>
              <a:rPr kumimoji="0" lang="en-US" altLang="zh-CN" sz="3600" b="0" kern="0" cap="none" spc="0" normalizeH="0" baseline="0" noProof="0" dirty="0">
                <a:solidFill>
                  <a:schemeClr val="tx2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3 key points:</a:t>
            </a:r>
            <a:endParaRPr kumimoji="0" lang="en-US" altLang="zh-CN" sz="3600" b="0" kern="0" cap="none" spc="0" normalizeH="0" baseline="0" noProof="0" dirty="0">
              <a:solidFill>
                <a:schemeClr val="tx2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  <a:p>
            <a:pPr marR="0" defTabSz="914400" eaLnBrk="0" hangingPunct="0">
              <a:spcBef>
                <a:spcPts val="12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3600" b="0" kern="0" cap="none" spc="0" normalizeH="0" baseline="0" noProof="0" dirty="0">
                <a:solidFill>
                  <a:schemeClr val="tx2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 Understanding</a:t>
            </a:r>
            <a:endParaRPr kumimoji="0" lang="en-US" altLang="zh-CN" sz="3600" b="0" kern="0" cap="none" spc="0" normalizeH="0" baseline="0" noProof="0" dirty="0">
              <a:solidFill>
                <a:schemeClr val="tx2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  <a:p>
            <a:pPr marR="0" defTabSz="914400" eaLnBrk="0" hangingPunct="0">
              <a:spcBef>
                <a:spcPts val="12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3600" b="0" kern="0" cap="none" spc="0" normalizeH="0" baseline="0" noProof="0" dirty="0">
                <a:solidFill>
                  <a:schemeClr val="tx2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 Expressing</a:t>
            </a:r>
            <a:endParaRPr kumimoji="0" lang="en-US" altLang="zh-CN" sz="3600" b="0" kern="0" cap="none" spc="0" normalizeH="0" baseline="0" noProof="0" dirty="0">
              <a:solidFill>
                <a:schemeClr val="tx2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  <a:p>
            <a:pPr marR="0" defTabSz="914400" eaLnBrk="0" hangingPunct="0">
              <a:spcBef>
                <a:spcPts val="12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3600" b="0" kern="0" cap="none" spc="0" normalizeH="0" baseline="0" noProof="0" dirty="0">
                <a:solidFill>
                  <a:schemeClr val="tx2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 What Really Matter?</a:t>
            </a:r>
            <a:endParaRPr kumimoji="0" lang="en-US" altLang="zh-CN" sz="3600" b="0" kern="0" cap="none" spc="0" normalizeH="0" baseline="0" noProof="0" dirty="0">
              <a:solidFill>
                <a:schemeClr val="tx2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14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charRg st="14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29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charRg st="29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41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charRg st="41" end="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1843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447800"/>
            <a:ext cx="8115300" cy="5191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35" name="矩形 3"/>
          <p:cNvSpPr/>
          <p:nvPr/>
        </p:nvSpPr>
        <p:spPr>
          <a:xfrm>
            <a:off x="304800" y="152400"/>
            <a:ext cx="8602663" cy="1016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buNone/>
            </a:pPr>
            <a:r>
              <a:rPr lang="en-US" altLang="zh-CN" sz="3000" dirty="0">
                <a:solidFill>
                  <a:srgbClr val="D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From Knowledge-based Computing Education</a:t>
            </a:r>
            <a:r>
              <a:rPr lang="en-US" altLang="zh-CN" sz="3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zh-CN" sz="3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buNone/>
            </a:pPr>
            <a:r>
              <a:rPr lang="en-US" altLang="zh-CN" sz="3000" dirty="0">
                <a:latin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n-US" altLang="zh-CN" sz="3000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Competency-based Computing Education</a:t>
            </a:r>
            <a:endParaRPr lang="zh-CN" altLang="en-US" sz="3000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1945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650" y="201613"/>
            <a:ext cx="7246938" cy="63785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48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225" y="419100"/>
            <a:ext cx="7829550" cy="6019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50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95300"/>
            <a:ext cx="9144000" cy="57356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53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913" y="247650"/>
            <a:ext cx="8180387" cy="62531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435975" cy="685800"/>
          </a:xfrm>
        </p:spPr>
        <p:txBody>
          <a:bodyPr vert="horz" wrap="square" lIns="91440" tIns="45720" rIns="91440" bIns="45720" anchor="ctr" anchorCtr="0"/>
          <a:p>
            <a:pPr algn="ctr"/>
            <a:r>
              <a:rPr lang="en-US" altLang="zh-CN" sz="4000" dirty="0">
                <a:solidFill>
                  <a:srgbClr val="002060"/>
                </a:solidFill>
                <a:latin typeface="Calibri" panose="020F0502020204030204" pitchFamily="34" charset="0"/>
              </a:rPr>
              <a:t>Three Dimensions of most CST Courses</a:t>
            </a:r>
            <a:endParaRPr lang="en-US" altLang="zh-CN" sz="4000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555" name="TextBox 8"/>
          <p:cNvSpPr txBox="1"/>
          <p:nvPr/>
        </p:nvSpPr>
        <p:spPr>
          <a:xfrm>
            <a:off x="609600" y="1371600"/>
            <a:ext cx="8212138" cy="42465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Most of Courses on CST is organized by a combination of elements from the following 3 dimensions:</a:t>
            </a:r>
            <a:endParaRPr lang="en-US" altLang="zh-CN" sz="2400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200"/>
              </a:spcBef>
            </a:pPr>
            <a:r>
              <a:rPr lang="en-US" altLang="zh-CN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THEORY related</a:t>
            </a:r>
            <a:r>
              <a:rPr lang="en-US" altLang="zh-CN" sz="2400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 Maths, Concepts, Models, Algorithms, Principles, Mechanisms, Methods, </a:t>
            </a:r>
            <a:r>
              <a:rPr lang="en-US" altLang="zh-CN" sz="2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…</a:t>
            </a:r>
            <a:r>
              <a:rPr lang="en-US" altLang="zh-CN" sz="2400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Need to understand Abstract Things</a:t>
            </a:r>
            <a:endParaRPr lang="en-US" altLang="zh-CN" sz="2400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200"/>
              </a:spcBef>
            </a:pPr>
            <a:r>
              <a:rPr lang="en-US" altLang="zh-CN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 and TOOLS related</a:t>
            </a:r>
            <a:r>
              <a:rPr lang="en-US" altLang="zh-CN" sz="2400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HW, Network, OS, PLs, IDEs, DBMS, Clients, Servers, Virtual Machines, Containers in Cloud, </a:t>
            </a:r>
            <a:r>
              <a:rPr lang="en-US" altLang="zh-CN" sz="24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…</a:t>
            </a:r>
            <a:r>
              <a:rPr lang="en-US" altLang="zh-CN" sz="2400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Need to </a:t>
            </a:r>
            <a:r>
              <a:rPr lang="en-US" altLang="zh-CN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understand, set and use them properly </a:t>
            </a:r>
            <a:endParaRPr lang="en-US" altLang="zh-CN" sz="2400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200"/>
              </a:spcBef>
            </a:pPr>
            <a:r>
              <a:rPr lang="en-US" altLang="zh-CN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DESIGN related</a:t>
            </a:r>
            <a:r>
              <a:rPr lang="en-US" altLang="zh-CN" sz="2400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According to Requirements (Problems), need to use Theory and Tools to </a:t>
            </a:r>
            <a:r>
              <a:rPr lang="en-US" altLang="zh-CN" sz="24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shape/implement/test Solutions</a:t>
            </a:r>
            <a:r>
              <a:rPr lang="en-US" altLang="zh-CN" sz="2400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!</a:t>
            </a:r>
            <a:endParaRPr lang="en-US" altLang="zh-CN" sz="2400" dirty="0">
              <a:solidFill>
                <a:srgbClr val="00B0F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573338" y="5880100"/>
            <a:ext cx="4217987" cy="5857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buNone/>
            </a:pPr>
            <a:r>
              <a:rPr lang="en-US" altLang="zh-CN" sz="3200" dirty="0">
                <a:solidFill>
                  <a:srgbClr val="D9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Put them all together!!!</a:t>
            </a:r>
            <a:endParaRPr lang="zh-CN" altLang="en-US" sz="32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2457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275" y="666750"/>
            <a:ext cx="7572375" cy="44005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pic>
        <p:nvPicPr>
          <p:cNvPr id="2560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775" y="0"/>
            <a:ext cx="7210425" cy="52292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3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825" y="5280025"/>
            <a:ext cx="6276975" cy="14192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TI3MzEzOWFkYWIyMzJmZWY3NTJiMTllNTNhYmFjYzkifQ=="/>
</p:tagLst>
</file>

<file path=ppt/theme/theme1.xml><?xml version="1.0" encoding="utf-8"?>
<a:theme xmlns:a="http://schemas.openxmlformats.org/drawingml/2006/main" name="Blank Presenta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0000FF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9900"/>
        </a:solidFill>
        <a:ln w="1905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12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9900"/>
        </a:solidFill>
        <a:ln w="1905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12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Blank Presentatio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0000FF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9900"/>
        </a:solidFill>
        <a:ln w="1905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12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9900"/>
        </a:solidFill>
        <a:ln w="1905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12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4303</Words>
  <Application>WPS 演示</Application>
  <PresentationFormat>全屏显示(4:3)</PresentationFormat>
  <Paragraphs>131</Paragraphs>
  <Slides>24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7" baseType="lpstr">
      <vt:lpstr>Arial</vt:lpstr>
      <vt:lpstr>宋体</vt:lpstr>
      <vt:lpstr>Wingdings</vt:lpstr>
      <vt:lpstr>Times New Roman</vt:lpstr>
      <vt:lpstr>Verdana</vt:lpstr>
      <vt:lpstr>黑体</vt:lpstr>
      <vt:lpstr>Comic Sans MS</vt:lpstr>
      <vt:lpstr>Calibri</vt:lpstr>
      <vt:lpstr>微软雅黑</vt:lpstr>
      <vt:lpstr>Arial Unicode MS</vt:lpstr>
      <vt:lpstr>MS PGothic</vt:lpstr>
      <vt:lpstr>Blank Presentation</vt:lpstr>
      <vt:lpstr>1_Blank Presentation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Course Description</vt:lpstr>
      <vt:lpstr>Course Description (cont.)</vt:lpstr>
      <vt:lpstr>Who is this course for?</vt:lpstr>
      <vt:lpstr>Grading</vt:lpstr>
      <vt:lpstr>Syllabus at a Glance  (ch1~ch5 only, +...)</vt:lpstr>
      <vt:lpstr>Writing, writing, writing…</vt:lpstr>
      <vt:lpstr>Writing, writing, writing…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Three Dimensions of most CST Courses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HeMa</dc:creator>
  <cp:lastModifiedBy>MX</cp:lastModifiedBy>
  <cp:revision>2858</cp:revision>
  <dcterms:created xsi:type="dcterms:W3CDTF">2003-06-12T19:48:00Z</dcterms:created>
  <dcterms:modified xsi:type="dcterms:W3CDTF">2026-03-10T07:52:41Z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497295E924454F61A797E3E59DF0ED76_13</vt:lpwstr>
  </property>
  <property fmtid="{D5CDD505-2E9C-101B-9397-08002B2CF9AE}" pid="3" name="KSOProductBuildVer">
    <vt:lpwstr>2052-12.1.0.23542</vt:lpwstr>
  </property>
</Properties>
</file>