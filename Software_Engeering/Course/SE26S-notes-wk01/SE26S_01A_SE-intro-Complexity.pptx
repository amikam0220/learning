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63"/>
  </p:handoutMasterIdLst>
  <p:sldIdLst>
    <p:sldId id="572" r:id="rId3"/>
    <p:sldId id="579" r:id="rId5"/>
    <p:sldId id="577" r:id="rId6"/>
    <p:sldId id="573" r:id="rId7"/>
    <p:sldId id="574" r:id="rId8"/>
    <p:sldId id="629" r:id="rId9"/>
    <p:sldId id="575" r:id="rId10"/>
    <p:sldId id="580" r:id="rId11"/>
    <p:sldId id="630" r:id="rId12"/>
    <p:sldId id="474" r:id="rId13"/>
    <p:sldId id="558" r:id="rId14"/>
    <p:sldId id="581" r:id="rId15"/>
    <p:sldId id="426" r:id="rId16"/>
    <p:sldId id="567" r:id="rId17"/>
    <p:sldId id="631" r:id="rId18"/>
    <p:sldId id="632" r:id="rId19"/>
    <p:sldId id="633" r:id="rId20"/>
    <p:sldId id="637" r:id="rId21"/>
    <p:sldId id="634" r:id="rId22"/>
    <p:sldId id="636" r:id="rId23"/>
    <p:sldId id="454" r:id="rId24"/>
    <p:sldId id="582" r:id="rId25"/>
    <p:sldId id="451" r:id="rId26"/>
    <p:sldId id="459" r:id="rId27"/>
    <p:sldId id="555" r:id="rId28"/>
    <p:sldId id="553" r:id="rId29"/>
    <p:sldId id="554" r:id="rId30"/>
    <p:sldId id="512" r:id="rId31"/>
    <p:sldId id="283" r:id="rId32"/>
    <p:sldId id="556" r:id="rId33"/>
    <p:sldId id="583" r:id="rId34"/>
    <p:sldId id="456" r:id="rId35"/>
    <p:sldId id="457" r:id="rId36"/>
    <p:sldId id="466" r:id="rId37"/>
    <p:sldId id="564" r:id="rId38"/>
    <p:sldId id="565" r:id="rId39"/>
    <p:sldId id="569" r:id="rId40"/>
    <p:sldId id="570" r:id="rId41"/>
    <p:sldId id="584" r:id="rId42"/>
    <p:sldId id="585" r:id="rId43"/>
    <p:sldId id="479" r:id="rId44"/>
    <p:sldId id="560" r:id="rId45"/>
    <p:sldId id="559" r:id="rId46"/>
    <p:sldId id="561" r:id="rId47"/>
    <p:sldId id="586" r:id="rId48"/>
    <p:sldId id="587" r:id="rId49"/>
    <p:sldId id="588" r:id="rId50"/>
    <p:sldId id="589" r:id="rId51"/>
    <p:sldId id="590" r:id="rId52"/>
    <p:sldId id="591" r:id="rId53"/>
    <p:sldId id="563" r:id="rId54"/>
    <p:sldId id="568" r:id="rId55"/>
    <p:sldId id="480" r:id="rId56"/>
    <p:sldId id="411" r:id="rId57"/>
    <p:sldId id="592" r:id="rId58"/>
    <p:sldId id="593" r:id="rId59"/>
    <p:sldId id="594" r:id="rId60"/>
    <p:sldId id="595" r:id="rId61"/>
    <p:sldId id="596" r:id="rId62"/>
  </p:sldIdLst>
  <p:sldSz cx="9144000" cy="6858000" type="screen4x3"/>
  <p:notesSz cx="7010400" cy="9296400"/>
  <p:custDataLst>
    <p:tags r:id="rId67"/>
  </p:custDataLst>
  <p:defaultTextStyle>
    <a:defPPr>
      <a:defRPr lang="en-US"/>
    </a:defPPr>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a:srgbClr val="FFFF99"/>
    <a:srgbClr val="F1FCAE"/>
    <a:srgbClr val="680000"/>
    <a:srgbClr val="4D4D4D"/>
    <a:srgbClr val="777777"/>
    <a:srgbClr val="FF00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3"/>
  </p:normalViewPr>
  <p:slideViewPr>
    <p:cSldViewPr snapToGrid="0" showGuides="1">
      <p:cViewPr varScale="1">
        <p:scale>
          <a:sx n="106" d="100"/>
          <a:sy n="106" d="100"/>
        </p:scale>
        <p:origin x="-175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78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5058" name="Rectangle 2"/>
          <p:cNvSpPr>
            <a:spLocks noGrp="1" noChangeArrowheads="1"/>
          </p:cNvSpPr>
          <p:nvPr>
            <p:ph type="hdr" sz="quarter"/>
          </p:nvPr>
        </p:nvSpPr>
        <p:spPr bwMode="auto">
          <a:xfrm>
            <a:off x="0" y="0"/>
            <a:ext cx="3038475" cy="465138"/>
          </a:xfrm>
          <a:prstGeom prst="rect">
            <a:avLst/>
          </a:prstGeom>
          <a:noFill/>
          <a:ln>
            <a:noFill/>
          </a:ln>
          <a:effectLst/>
        </p:spPr>
        <p:txBody>
          <a:bodyPr vert="horz" wrap="square" lIns="93177" tIns="46589" rIns="93177" bIns="46589" numCol="1" anchor="t" anchorCtr="0" compatLnSpc="1"/>
          <a:lstStyle>
            <a:lvl1pPr defTabSz="932180">
              <a:defRPr sz="1200" b="0">
                <a:latin typeface="Times New Roman" panose="02020603050405020304" pitchFamily="18" charset="0"/>
              </a:defRPr>
            </a:lvl1p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5059" name="Rectangle 3"/>
          <p:cNvSpPr>
            <a:spLocks noGrp="1" noChangeArrowheads="1"/>
          </p:cNvSpPr>
          <p:nvPr>
            <p:ph type="dt" sz="quarter" idx="1"/>
          </p:nvPr>
        </p:nvSpPr>
        <p:spPr bwMode="auto">
          <a:xfrm>
            <a:off x="3971925" y="0"/>
            <a:ext cx="3038475" cy="465138"/>
          </a:xfrm>
          <a:prstGeom prst="rect">
            <a:avLst/>
          </a:prstGeom>
          <a:noFill/>
          <a:ln>
            <a:noFill/>
          </a:ln>
          <a:effectLst/>
        </p:spPr>
        <p:txBody>
          <a:bodyPr vert="horz" wrap="square" lIns="93177" tIns="46589" rIns="93177" bIns="46589" numCol="1" anchor="t" anchorCtr="0" compatLnSpc="1"/>
          <a:lstStyle>
            <a:lvl1pPr algn="r" defTabSz="932180">
              <a:defRPr sz="1200" b="0">
                <a:latin typeface="Times New Roman" panose="02020603050405020304" pitchFamily="18" charset="0"/>
              </a:defRPr>
            </a:lvl1pPr>
          </a:lstStyle>
          <a:p>
            <a:pPr marL="0" marR="0" lvl="0" indent="0" algn="r" defTabSz="93218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5060" name="Rectangle 4"/>
          <p:cNvSpPr>
            <a:spLocks noGrp="1" noChangeArrowheads="1"/>
          </p:cNvSpPr>
          <p:nvPr>
            <p:ph type="ftr" sz="quarter" idx="2"/>
          </p:nvPr>
        </p:nvSpPr>
        <p:spPr bwMode="auto">
          <a:xfrm>
            <a:off x="0" y="8831263"/>
            <a:ext cx="3038475" cy="465138"/>
          </a:xfrm>
          <a:prstGeom prst="rect">
            <a:avLst/>
          </a:prstGeom>
          <a:noFill/>
          <a:ln>
            <a:noFill/>
          </a:ln>
          <a:effectLst/>
        </p:spPr>
        <p:txBody>
          <a:bodyPr vert="horz" wrap="square" lIns="93177" tIns="46589" rIns="93177" bIns="46589" numCol="1" anchor="b" anchorCtr="0" compatLnSpc="1"/>
          <a:lstStyle>
            <a:lvl1pPr defTabSz="932180">
              <a:defRPr sz="1200" b="0">
                <a:latin typeface="Times New Roman" panose="02020603050405020304" pitchFamily="18" charset="0"/>
              </a:defRPr>
            </a:lvl1pPr>
          </a:lstStyle>
          <a:p>
            <a:pPr marL="0" marR="0" lvl="0" indent="0" algn="l" defTabSz="93218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5061" name="Rectangle 5"/>
          <p:cNvSpPr>
            <a:spLocks noGrp="1" noChangeArrowheads="1"/>
          </p:cNvSpPr>
          <p:nvPr>
            <p:ph type="sldNum" sz="quarter" idx="3"/>
          </p:nvPr>
        </p:nvSpPr>
        <p:spPr bwMode="auto">
          <a:xfrm>
            <a:off x="3971925" y="8831263"/>
            <a:ext cx="3038475" cy="465138"/>
          </a:xfrm>
          <a:prstGeom prst="rect">
            <a:avLst/>
          </a:prstGeom>
          <a:noFill/>
          <a:ln>
            <a:noFill/>
          </a:ln>
          <a:effectLst/>
        </p:spPr>
        <p:txBody>
          <a:bodyPr vert="horz" wrap="square" lIns="93177" tIns="46589" rIns="93177" bIns="46589" numCol="1" anchor="b" anchorCtr="0" compatLnSpc="1"/>
          <a:p>
            <a:pPr lvl="0" algn="r" defTabSz="932180" eaLnBrk="1" hangingPunct="1">
              <a:buNone/>
            </a:pPr>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2162" name="Rectangle 2"/>
          <p:cNvSpPr>
            <a:spLocks noGrp="1" noChangeArrowheads="1"/>
          </p:cNvSpPr>
          <p:nvPr>
            <p:ph type="hdr" sz="quarter"/>
          </p:nvPr>
        </p:nvSpPr>
        <p:spPr bwMode="auto">
          <a:xfrm>
            <a:off x="0" y="0"/>
            <a:ext cx="3048000" cy="457200"/>
          </a:xfrm>
          <a:prstGeom prst="rect">
            <a:avLst/>
          </a:prstGeom>
          <a:noFill/>
          <a:ln>
            <a:noFill/>
          </a:ln>
          <a:effectLst/>
        </p:spPr>
        <p:txBody>
          <a:bodyPr vert="horz" wrap="square" lIns="91440" tIns="45720" rIns="91440" bIns="45720" numCol="1" anchor="t"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2163" name="Rectangle 3"/>
          <p:cNvSpPr>
            <a:spLocks noGrp="1" noChangeArrowheads="1"/>
          </p:cNvSpPr>
          <p:nvPr>
            <p:ph type="dt" idx="1"/>
          </p:nvPr>
        </p:nvSpPr>
        <p:spPr bwMode="auto">
          <a:xfrm>
            <a:off x="3962400" y="0"/>
            <a:ext cx="3048000" cy="457200"/>
          </a:xfrm>
          <a:prstGeom prst="rect">
            <a:avLst/>
          </a:prstGeom>
          <a:noFill/>
          <a:ln>
            <a:noFill/>
          </a:ln>
          <a:effectLst/>
        </p:spPr>
        <p:txBody>
          <a:bodyPr vert="horz" wrap="square" lIns="91440" tIns="45720" rIns="91440" bIns="45720" numCol="1" anchor="t" anchorCtr="0" compatLnSpc="1"/>
          <a:lstStyle>
            <a:lvl1pPr algn="r">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7348" name="Rectangle 4"/>
          <p:cNvSpPr>
            <a:spLocks noTextEdit="1"/>
          </p:cNvSpPr>
          <p:nvPr>
            <p:ph type="sldImg" idx="2"/>
          </p:nvPr>
        </p:nvSpPr>
        <p:spPr>
          <a:xfrm>
            <a:off x="1168400" y="685800"/>
            <a:ext cx="4673600" cy="3505200"/>
          </a:xfrm>
          <a:prstGeom prst="rect">
            <a:avLst/>
          </a:prstGeom>
          <a:noFill/>
          <a:ln w="9525" cap="flat" cmpd="sng">
            <a:solidFill>
              <a:srgbClr val="000000"/>
            </a:solidFill>
            <a:prstDash val="solid"/>
            <a:miter/>
            <a:headEnd type="none" w="med" len="med"/>
            <a:tailEnd type="none" w="med" len="med"/>
          </a:ln>
        </p:spPr>
      </p:sp>
      <p:sp>
        <p:nvSpPr>
          <p:cNvPr id="92165" name="Rectangle 5"/>
          <p:cNvSpPr>
            <a:spLocks noGrp="1" noChangeArrowheads="1"/>
          </p:cNvSpPr>
          <p:nvPr>
            <p:ph type="body" sz="quarter" idx="3"/>
          </p:nvPr>
        </p:nvSpPr>
        <p:spPr bwMode="auto">
          <a:xfrm>
            <a:off x="914400" y="4419600"/>
            <a:ext cx="5181600" cy="41910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92166" name="Rectangle 6"/>
          <p:cNvSpPr>
            <a:spLocks noGrp="1" noChangeArrowheads="1"/>
          </p:cNvSpPr>
          <p:nvPr>
            <p:ph type="ftr" sz="quarter" idx="4"/>
          </p:nvPr>
        </p:nvSpPr>
        <p:spPr bwMode="auto">
          <a:xfrm>
            <a:off x="0" y="8839200"/>
            <a:ext cx="3048000" cy="457200"/>
          </a:xfrm>
          <a:prstGeom prst="rect">
            <a:avLst/>
          </a:prstGeom>
          <a:noFill/>
          <a:ln>
            <a:noFill/>
          </a:ln>
          <a:effectLst/>
        </p:spPr>
        <p:txBody>
          <a:bodyPr vert="horz" wrap="square" lIns="91440" tIns="45720" rIns="91440" bIns="45720" numCol="1" anchor="b" anchorCtr="0" compatLnSpc="1"/>
          <a:lstStyle>
            <a:lvl1pPr>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2167" name="Rectangle 7"/>
          <p:cNvSpPr>
            <a:spLocks noGrp="1" noChangeArrowheads="1"/>
          </p:cNvSpPr>
          <p:nvPr>
            <p:ph type="sldNum" sz="quarter" idx="5"/>
          </p:nvPr>
        </p:nvSpPr>
        <p:spPr bwMode="auto">
          <a:xfrm>
            <a:off x="3962400" y="8839200"/>
            <a:ext cx="30480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58371" name="Rectangle 2"/>
          <p:cNvSpPr>
            <a:spLocks noTextEdit="1"/>
          </p:cNvSpPr>
          <p:nvPr>
            <p:ph type="sldImg"/>
          </p:nvPr>
        </p:nvSpPr>
        <p:spPr/>
      </p:sp>
      <p:sp>
        <p:nvSpPr>
          <p:cNvPr id="58372"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defTabSz="982980" eaLnBrk="1" hangingPunct="1"/>
            <a:fld id="{9A0DB2DC-4C9A-4742-B13C-FB6460FD3503}" type="slidenum">
              <a:rPr lang="en-US" altLang="en-US" sz="1300" dirty="0">
                <a:latin typeface="Times New Roman" panose="02020603050405020304" pitchFamily="18" charset="0"/>
                <a:ea typeface="MS PGothic" panose="020B0600070205080204" pitchFamily="34" charset="-128"/>
              </a:rPr>
            </a:fld>
            <a:endParaRPr lang="en-US" altLang="en-US" sz="1300" dirty="0">
              <a:latin typeface="Times New Roman" panose="02020603050405020304" pitchFamily="18" charset="0"/>
              <a:ea typeface="MS PGothic" panose="020B0600070205080204" pitchFamily="34" charset="-128"/>
            </a:endParaRPr>
          </a:p>
        </p:txBody>
      </p:sp>
      <p:sp>
        <p:nvSpPr>
          <p:cNvPr id="59395" name="Rectangle 2"/>
          <p:cNvSpPr>
            <a:spLocks noGrp="1" noRot="1" noChangeAspect="1" noTextEdit="1"/>
          </p:cNvSpPr>
          <p:nvPr>
            <p:ph type="sldImg"/>
          </p:nvPr>
        </p:nvSpPr>
        <p:spPr>
          <a:xfrm>
            <a:off x="1309688" y="739775"/>
            <a:ext cx="4859337" cy="3644900"/>
          </a:xfrm>
          <a:ln>
            <a:solidFill>
              <a:schemeClr val="tx1">
                <a:alpha val="100000"/>
              </a:schemeClr>
            </a:solidFill>
          </a:ln>
        </p:spPr>
      </p:sp>
      <p:sp>
        <p:nvSpPr>
          <p:cNvPr id="59396" name="Rectangle 3"/>
          <p:cNvSpPr>
            <a:spLocks noGrp="1"/>
          </p:cNvSpPr>
          <p:nvPr>
            <p:ph type="body" idx="1"/>
          </p:nvPr>
        </p:nvSpPr>
        <p:spPr/>
        <p:txBody>
          <a:bodyPr wrap="square" lIns="99176" tIns="49589" rIns="99176" bIns="49589" anchor="t" anchorCtr="0"/>
          <a:p>
            <a:pPr lvl="0" eaLnBrk="1" hangingPunct="1">
              <a:spcBef>
                <a:spcPct val="0"/>
              </a:spcBef>
            </a:pP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60419" name="Rectangle 2"/>
          <p:cNvSpPr>
            <a:spLocks noTextEdit="1"/>
          </p:cNvSpPr>
          <p:nvPr>
            <p:ph type="sldImg"/>
          </p:nvPr>
        </p:nvSpPr>
        <p:spPr/>
      </p:sp>
      <p:sp>
        <p:nvSpPr>
          <p:cNvPr id="60420" name="Rectangle 3"/>
          <p:cNvSpPr>
            <a:spLocks noGrp="1"/>
          </p:cNvSpPr>
          <p:nvPr>
            <p:ph type="body" idx="1"/>
          </p:nvPr>
        </p:nvSpPr>
        <p:spPr/>
        <p:txBody>
          <a:bodyPr wrap="square" lIns="91440" tIns="45720" rIns="91440" bIns="45720" anchor="t" anchorCtr="0"/>
          <a:p>
            <a:pPr lvl="0" eaLnBrk="1" hangingPunct="1"/>
            <a:r>
              <a:rPr lang="en-US" altLang="zh-CN" dirty="0">
                <a:ea typeface="宋体" panose="02010600030101010101" pitchFamily="2" charset="-122"/>
              </a:rPr>
              <a:t>SOURCE: Goodaire &amp; Parmenter, Discrete Mathematics with Graph Theory, Third Edition, Pearson Prentice Hall, 2006. [ Section 11.5, p. 361 ]</a:t>
            </a:r>
            <a:endParaRPr lang="en-US" altLang="zh-CN"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TextEdit="1"/>
          </p:cNvSpPr>
          <p:nvPr>
            <p:ph type="sldImg"/>
          </p:nvPr>
        </p:nvSpPr>
        <p:spPr/>
      </p:sp>
      <p:sp>
        <p:nvSpPr>
          <p:cNvPr id="61443" name="Rectangle 3"/>
          <p:cNvSpPr>
            <a:spLocks noGrp="1"/>
          </p:cNvSpPr>
          <p:nvPr>
            <p:ph type="body" idx="1"/>
          </p:nvPr>
        </p:nvSpPr>
        <p:spPr/>
        <p:txBody>
          <a:bodyPr wrap="square" lIns="91440" tIns="45720" rIns="91440" bIns="45720" anchor="t" anchorCtr="0"/>
          <a:p>
            <a:pPr lvl="0" eaLnBrk="1" hangingPunct="1"/>
            <a:endParaRPr lang="en-US" altLang="zh-CN"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Slide Image Placeholder 1"/>
          <p:cNvSpPr>
            <a:spLocks noGrp="1" noRot="1" noChangeAspect="1" noTextEdit="1"/>
          </p:cNvSpPr>
          <p:nvPr>
            <p:ph type="sldImg"/>
          </p:nvPr>
        </p:nvSpPr>
        <p:spPr/>
      </p:sp>
      <p:sp>
        <p:nvSpPr>
          <p:cNvPr id="62467" name="Notes Placeholder 2"/>
          <p:cNvSpPr>
            <a:spLocks noGrp="1"/>
          </p:cNvSpPr>
          <p:nvPr>
            <p:ph type="body" idx="1"/>
          </p:nvPr>
        </p:nvSpPr>
        <p:spPr/>
        <p:txBody>
          <a:bodyPr wrap="square" lIns="91440" tIns="45720" rIns="91440" bIns="45720" anchor="t" anchorCtr="0"/>
          <a:p>
            <a:pPr lvl="0"/>
            <a:r>
              <a:rPr lang="en-US" altLang="en-US" dirty="0"/>
              <a:t>https://en.wikipedia.org/wiki/Boiling_frog</a:t>
            </a:r>
            <a:endParaRPr lang="en-US" altLang="en-US" dirty="0"/>
          </a:p>
          <a:p>
            <a:pPr lvl="0"/>
            <a:r>
              <a:rPr lang="en-US" altLang="en-US" dirty="0"/>
              <a:t>http://tealandco.com/the-frog-in-boiling-water-the-myth-and-the-metaphor/</a:t>
            </a:r>
            <a:endParaRPr lang="en-US" altLang="en-US" dirty="0"/>
          </a:p>
          <a:p>
            <a:pPr lvl="0"/>
            <a:r>
              <a:rPr lang="en-US" altLang="en-US" dirty="0"/>
              <a:t>https://www.theatlantic.com/technology/archive/2006/09/the-boiled-frog-myth-stop-the-lying-now/7446/</a:t>
            </a:r>
            <a:endParaRPr lang="en-US" altLang="en-US" dirty="0"/>
          </a:p>
          <a:p>
            <a:pPr lvl="0"/>
            <a:r>
              <a:rPr lang="en-US" altLang="en-US" dirty="0"/>
              <a:t>https://medium.com/psychology-secrets-for-marketing/the-boiling-frog-4ef1d66c9b35</a:t>
            </a:r>
            <a:endParaRPr lang="en-US" altLang="en-US" dirty="0"/>
          </a:p>
          <a:p>
            <a:pPr lvl="0"/>
            <a:endParaRPr lang="en-US" altLang="en-US" dirty="0"/>
          </a:p>
        </p:txBody>
      </p:sp>
      <p:sp>
        <p:nvSpPr>
          <p:cNvPr id="62468" name="Slide Number Placeholder 3"/>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63491" name="Rectangle 2"/>
          <p:cNvSpPr>
            <a:spLocks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r>
              <a:rPr lang="en-US" altLang="zh-CN" dirty="0">
                <a:ea typeface="宋体" panose="02010600030101010101" pitchFamily="2" charset="-122"/>
              </a:rPr>
              <a:t>"You cannot solve it, unless you understand it."</a:t>
            </a:r>
            <a:endParaRPr lang="en-US" altLang="zh-CN"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p:txBody>
          <a:bodyPr/>
          <a:lstStyle/>
          <a:p>
            <a:pPr>
              <a:defRPr/>
            </a:pPr>
            <a:fld id="{996792FE-65B2-47CB-B14C-9995E1FA5329}" type="slidenum">
              <a:rPr lang="en-US" smtClean="0"/>
            </a:fld>
            <a:endParaRPr lang="en-US" smtClean="0"/>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xfrm>
            <a:off x="608707" y="4649108"/>
            <a:ext cx="5030391" cy="4113892"/>
          </a:xfrm>
          <a:noFill/>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64515" name="Rectangle 2"/>
          <p:cNvSpPr>
            <a:spLocks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65539" name="Rectangle 2"/>
          <p:cNvSpPr>
            <a:spLocks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66563" name="Rectangle 2"/>
          <p:cNvSpPr>
            <a:spLocks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TextEdit="1"/>
          </p:cNvSpPr>
          <p:nvPr>
            <p:ph type="sldImg"/>
          </p:nvPr>
        </p:nvSpPr>
        <p:spPr/>
      </p:sp>
      <p:sp>
        <p:nvSpPr>
          <p:cNvPr id="67587"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TextEdit="1"/>
          </p:cNvSpPr>
          <p:nvPr>
            <p:ph type="sldImg"/>
          </p:nvPr>
        </p:nvSpPr>
        <p:spPr/>
      </p:sp>
      <p:sp>
        <p:nvSpPr>
          <p:cNvPr id="68611"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TextEdit="1"/>
          </p:cNvSpPr>
          <p:nvPr>
            <p:ph type="sldImg"/>
          </p:nvPr>
        </p:nvSpPr>
        <p:spPr/>
      </p:sp>
      <p:sp>
        <p:nvSpPr>
          <p:cNvPr id="69635"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0659" name="Rectangle 2"/>
          <p:cNvSpPr>
            <a:spLocks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1683" name="Rectangle 2"/>
          <p:cNvSpPr>
            <a:spLocks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TextEdit="1"/>
          </p:cNvSpPr>
          <p:nvPr>
            <p:ph type="sldImg"/>
          </p:nvPr>
        </p:nvSpPr>
        <p:spPr/>
      </p:sp>
      <p:sp>
        <p:nvSpPr>
          <p:cNvPr id="72707"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3731" name="Rectangle 2"/>
          <p:cNvSpPr>
            <a:spLocks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4755" name="Rectangle 2"/>
          <p:cNvSpPr>
            <a:spLocks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5779" name="Rectangle 2"/>
          <p:cNvSpPr>
            <a:spLocks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TextEdit="1"/>
          </p:cNvSpPr>
          <p:nvPr>
            <p:ph type="sldImg"/>
          </p:nvPr>
        </p:nvSpPr>
        <p:spPr/>
      </p:sp>
      <p:sp>
        <p:nvSpPr>
          <p:cNvPr id="76803"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TextEdit="1"/>
          </p:cNvSpPr>
          <p:nvPr>
            <p:ph type="sldImg"/>
          </p:nvPr>
        </p:nvSpPr>
        <p:spPr/>
      </p:sp>
      <p:sp>
        <p:nvSpPr>
          <p:cNvPr id="77827"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TextEdit="1"/>
          </p:cNvSpPr>
          <p:nvPr>
            <p:ph type="sldImg"/>
          </p:nvPr>
        </p:nvSpPr>
        <p:spPr/>
      </p:sp>
      <p:sp>
        <p:nvSpPr>
          <p:cNvPr id="78851" name="Rectangle 3"/>
          <p:cNvSpPr>
            <a:spLocks noGrp="1"/>
          </p:cNvSpPr>
          <p:nvPr>
            <p:ph type="body" idx="1"/>
          </p:nvPr>
        </p:nvSpPr>
        <p:spPr/>
        <p:txBody>
          <a:bodyPr wrap="square" lIns="91440" tIns="45720" rIns="91440" bIns="45720" anchor="t" anchorCtr="0"/>
          <a:p>
            <a:pPr lvl="0"/>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79875" name="Rectangle 2"/>
          <p:cNvSpPr>
            <a:spLocks noTextEdit="1"/>
          </p:cNvSpPr>
          <p:nvPr>
            <p:ph type="sldImg"/>
          </p:nvPr>
        </p:nvSpPr>
        <p:spPr>
          <a:xfrm>
            <a:off x="1181100" y="696913"/>
            <a:ext cx="4648200" cy="3486150"/>
          </a:xfrm>
        </p:spPr>
      </p:sp>
      <p:sp>
        <p:nvSpPr>
          <p:cNvPr id="79876" name="Rectangle 3"/>
          <p:cNvSpPr>
            <a:spLocks noGrp="1"/>
          </p:cNvSpPr>
          <p:nvPr>
            <p:ph type="body" idx="1"/>
          </p:nvPr>
        </p:nvSpPr>
        <p:spPr>
          <a:xfrm>
            <a:off x="701675" y="4416425"/>
            <a:ext cx="5607050" cy="4183063"/>
          </a:xfrm>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TextEdit="1"/>
          </p:cNvSpPr>
          <p:nvPr>
            <p:ph type="sldImg"/>
          </p:nvPr>
        </p:nvSpPr>
        <p:spPr/>
      </p:sp>
      <p:sp>
        <p:nvSpPr>
          <p:cNvPr id="80899"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TextEdit="1"/>
          </p:cNvSpPr>
          <p:nvPr>
            <p:ph type="sldImg"/>
          </p:nvPr>
        </p:nvSpPr>
        <p:spPr/>
      </p:sp>
      <p:sp>
        <p:nvSpPr>
          <p:cNvPr id="81923"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TextEdit="1"/>
          </p:cNvSpPr>
          <p:nvPr>
            <p:ph type="sldImg"/>
          </p:nvPr>
        </p:nvSpPr>
        <p:spPr/>
      </p:sp>
      <p:sp>
        <p:nvSpPr>
          <p:cNvPr id="82947" name="Rectangle 3"/>
          <p:cNvSpPr>
            <a:spLocks noGrp="1"/>
          </p:cNvSpPr>
          <p:nvPr>
            <p:ph type="body" idx="1"/>
          </p:nvPr>
        </p:nvSpPr>
        <p:spPr/>
        <p:txBody>
          <a:bodyPr wrap="square" lIns="91440" tIns="45720" rIns="91440" bIns="45720" anchor="t" anchorCtr="0"/>
          <a:p>
            <a:pPr lvl="0"/>
            <a:endParaRPr lang="zh-CN" altLang="zh-CN"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83971" name="Rectangle 2"/>
          <p:cNvSpPr>
            <a:spLocks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TextEdit="1"/>
          </p:cNvSpPr>
          <p:nvPr>
            <p:ph type="sldImg"/>
          </p:nvPr>
        </p:nvSpPr>
        <p:spPr/>
      </p:sp>
      <p:sp>
        <p:nvSpPr>
          <p:cNvPr id="84995" name="Rectangle 3"/>
          <p:cNvSpPr>
            <a:spLocks noGrp="1"/>
          </p:cNvSpPr>
          <p:nvPr>
            <p:ph type="body" idx="1"/>
          </p:nvPr>
        </p:nvSpPr>
        <p:spPr/>
        <p:txBody>
          <a:bodyPr wrap="square" lIns="91440" tIns="45720" rIns="91440" bIns="45720" anchor="t" anchorCtr="0"/>
          <a:p>
            <a:pPr lvl="0"/>
            <a:r>
              <a:rPr lang="en-US" altLang="en-US" dirty="0"/>
              <a:t>Barry Boehm, Software Engineering Economics, Prentice-Hall, 1991.</a:t>
            </a:r>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TextEdit="1"/>
          </p:cNvSpPr>
          <p:nvPr>
            <p:ph type="sldImg"/>
          </p:nvPr>
        </p:nvSpPr>
        <p:spPr/>
      </p:sp>
      <p:sp>
        <p:nvSpPr>
          <p:cNvPr id="86019" name="Rectangle 3"/>
          <p:cNvSpPr>
            <a:spLocks noGrp="1"/>
          </p:cNvSpPr>
          <p:nvPr>
            <p:ph type="body" idx="1"/>
          </p:nvPr>
        </p:nvSpPr>
        <p:spPr/>
        <p:txBody>
          <a:bodyPr wrap="square" lIns="91440" tIns="45720" rIns="91440" bIns="45720" anchor="t" anchorCtr="0"/>
          <a:p>
            <a:pPr lvl="0"/>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87043" name="Rectangle 2"/>
          <p:cNvSpPr>
            <a:spLocks noTextEdit="1"/>
          </p:cNvSpPr>
          <p:nvPr>
            <p:ph type="sldImg"/>
          </p:nvPr>
        </p:nvSpPr>
        <p:spPr>
          <a:xfrm>
            <a:off x="1181100" y="696913"/>
            <a:ext cx="4648200" cy="3486150"/>
          </a:xfrm>
        </p:spPr>
      </p:sp>
      <p:sp>
        <p:nvSpPr>
          <p:cNvPr id="87044" name="Rectangle 3"/>
          <p:cNvSpPr>
            <a:spLocks noGrp="1"/>
          </p:cNvSpPr>
          <p:nvPr>
            <p:ph type="body" idx="1"/>
          </p:nvPr>
        </p:nvSpPr>
        <p:spPr>
          <a:xfrm>
            <a:off x="701675" y="4416425"/>
            <a:ext cx="5607050" cy="4183063"/>
          </a:xfrm>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88067" name="Rectangle 2"/>
          <p:cNvSpPr>
            <a:spLocks noTextEdit="1"/>
          </p:cNvSpPr>
          <p:nvPr>
            <p:ph type="sldImg"/>
          </p:nvPr>
        </p:nvSpPr>
        <p:spPr/>
      </p:sp>
      <p:sp>
        <p:nvSpPr>
          <p:cNvPr id="88068"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TextEdit="1"/>
          </p:cNvSpPr>
          <p:nvPr>
            <p:ph type="sldImg"/>
          </p:nvPr>
        </p:nvSpPr>
        <p:spPr/>
      </p:sp>
      <p:sp>
        <p:nvSpPr>
          <p:cNvPr id="89091" name="Rectangle 3"/>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Barry Boehm, Software Engineering Economics, Prentice-Hall, 1991.</a:t>
            </a:r>
            <a:endParaRPr lang="en-US" altLang="zh-CN"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90115" name="Rectangle 2"/>
          <p:cNvSpPr>
            <a:spLocks noTextEdit="1"/>
          </p:cNvSpPr>
          <p:nvPr>
            <p:ph type="sldImg"/>
          </p:nvPr>
        </p:nvSpPr>
        <p:spPr>
          <a:xfrm>
            <a:off x="1181100" y="696913"/>
            <a:ext cx="4648200" cy="3486150"/>
          </a:xfrm>
        </p:spPr>
      </p:sp>
      <p:sp>
        <p:nvSpPr>
          <p:cNvPr id="90116" name="Rectangle 3"/>
          <p:cNvSpPr>
            <a:spLocks noGrp="1"/>
          </p:cNvSpPr>
          <p:nvPr>
            <p:ph type="body" idx="1"/>
          </p:nvPr>
        </p:nvSpPr>
        <p:spPr>
          <a:xfrm>
            <a:off x="701675" y="4416425"/>
            <a:ext cx="5607050" cy="4183063"/>
          </a:xfrm>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ea typeface="宋体" panose="02010600030101010101" pitchFamily="2" charset="-122"/>
              </a:rPr>
            </a:fld>
            <a:endParaRPr lang="en-US" altLang="zh-CN" sz="1200" b="0" dirty="0">
              <a:latin typeface="Times New Roman" panose="02020603050405020304" pitchFamily="18" charset="0"/>
              <a:ea typeface="宋体" panose="02010600030101010101" pitchFamily="2" charset="-122"/>
            </a:endParaRPr>
          </a:p>
        </p:txBody>
      </p:sp>
      <p:sp>
        <p:nvSpPr>
          <p:cNvPr id="91139" name="Rectangle 2"/>
          <p:cNvSpPr>
            <a:spLocks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92163" name="Rectangle 2"/>
          <p:cNvSpPr>
            <a:spLocks noTextEdit="1"/>
          </p:cNvSpPr>
          <p:nvPr>
            <p:ph type="sldImg"/>
          </p:nvPr>
        </p:nvSpPr>
        <p:spPr/>
      </p:sp>
      <p:sp>
        <p:nvSpPr>
          <p:cNvPr id="92164"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93187" name="Rectangle 2"/>
          <p:cNvSpPr>
            <a:spLocks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94211" name="Rectangle 2"/>
          <p:cNvSpPr>
            <a:spLocks noTextEdit="1"/>
          </p:cNvSpPr>
          <p:nvPr>
            <p:ph type="sldImg"/>
          </p:nvPr>
        </p:nvSpPr>
        <p:spPr/>
      </p:sp>
      <p:sp>
        <p:nvSpPr>
          <p:cNvPr id="94212"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95235" name="Rectangle 2"/>
          <p:cNvSpPr>
            <a:spLocks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962400" y="8839200"/>
            <a:ext cx="3048000" cy="457200"/>
          </a:xfrm>
          <a:prstGeom prst="rect">
            <a:avLst/>
          </a:prstGeom>
          <a:noFill/>
          <a:ln w="9525">
            <a:noFill/>
          </a:ln>
        </p:spPr>
        <p:txBody>
          <a:bodyPr anchor="b" anchorCtr="0"/>
          <a:p>
            <a:pPr lvl="0" algn="r" eaLnBrk="1" hangingPunct="1"/>
            <a:fld id="{9A0DB2DC-4C9A-4742-B13C-FB6460FD3503}" type="slidenum">
              <a:rPr lang="en-US" altLang="en-US" sz="1200" b="0" dirty="0">
                <a:latin typeface="Times New Roman" panose="02020603050405020304" pitchFamily="18" charset="0"/>
              </a:rPr>
            </a:fld>
            <a:endParaRPr lang="en-US" altLang="en-US" sz="1200" b="0" dirty="0">
              <a:latin typeface="Times New Roman" panose="02020603050405020304" pitchFamily="18" charset="0"/>
            </a:endParaRPr>
          </a:p>
        </p:txBody>
      </p:sp>
      <p:sp>
        <p:nvSpPr>
          <p:cNvPr id="96259" name="Rectangle 2"/>
          <p:cNvSpPr>
            <a:spLocks noTextEdit="1"/>
          </p:cNvSpPr>
          <p:nvPr>
            <p:ph type="sldImg"/>
          </p:nvPr>
        </p:nvSpPr>
        <p:spPr/>
      </p:sp>
      <p:sp>
        <p:nvSpPr>
          <p:cNvPr id="96260" name="Rectangle 3"/>
          <p:cNvSpPr>
            <a:spLocks noGrp="1"/>
          </p:cNvSpPr>
          <p:nvPr>
            <p:ph type="body" idx="1"/>
          </p:nvPr>
        </p:nvSpPr>
        <p:spPr/>
        <p:txBody>
          <a:bodyPr wrap="square" lIns="91440" tIns="45720" rIns="91440" bIns="45720" anchor="t" anchorCtr="0"/>
          <a:p>
            <a:pPr lvl="0" eaLnBrk="1" hangingPunct="1"/>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8" name="Date Placeholder 3"/>
          <p:cNvSpPr>
            <a:spLocks noGrp="1"/>
          </p:cNvSpPr>
          <p:nvPr>
            <p:ph type="dt" sz="half" idx="2"/>
          </p:nvPr>
        </p:nvSpPr>
        <p:spPr bwMode="auto">
          <a:xfrm>
            <a:off x="6858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Footer Placeholder 4"/>
          <p:cNvSpPr>
            <a:spLocks noGrp="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5"/>
          <p:cNvSpPr>
            <a:spLocks noGrp="1"/>
          </p:cNvSpPr>
          <p:nvPr>
            <p:ph type="sldNum" sz="quarter" idx="4"/>
          </p:nvPr>
        </p:nvSpPr>
        <p:spPr bwMode="auto">
          <a:xfrm>
            <a:off x="7131050" y="6369050"/>
            <a:ext cx="1905000" cy="457200"/>
          </a:xfrm>
          <a:prstGeom prst="rect">
            <a:avLst/>
          </a:prstGeom>
        </p:spPr>
        <p:txBody>
          <a:bodyPr vert="horz" wrap="square" lIns="91440" tIns="45720" rIns="91440" bIns="45720" numCol="1" anchor="t" anchorCtr="0" compatLnSpc="1"/>
          <a:p>
            <a:pPr algn="r">
              <a:buNone/>
            </a:pPr>
            <a:fld id="{9A0DB2DC-4C9A-4742-B13C-FB6460FD3503}" type="slidenum">
              <a:rPr lang="en-US" altLang="zh-CN" dirty="0">
                <a:latin typeface="Times New Roman" panose="02020603050405020304" pitchFamily="18" charset="0"/>
                <a:ea typeface="宋体" panose="02010600030101010101" pitchFamily="2" charset="-122"/>
              </a:rPr>
            </a:fld>
            <a:endParaRPr lang="en-US" altLang="zh-CN"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8" name="Date Placeholder 3"/>
          <p:cNvSpPr>
            <a:spLocks noGrp="1"/>
          </p:cNvSpPr>
          <p:nvPr>
            <p:ph type="dt" sz="half" idx="2"/>
          </p:nvPr>
        </p:nvSpPr>
        <p:spPr bwMode="auto">
          <a:xfrm>
            <a:off x="6858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Footer Placeholder 4"/>
          <p:cNvSpPr>
            <a:spLocks noGrp="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5"/>
          <p:cNvSpPr>
            <a:spLocks noGrp="1"/>
          </p:cNvSpPr>
          <p:nvPr>
            <p:ph type="sldNum" sz="quarter" idx="4"/>
          </p:nvPr>
        </p:nvSpPr>
        <p:spPr bwMode="auto">
          <a:xfrm>
            <a:off x="8602663" y="6437313"/>
            <a:ext cx="517525" cy="360363"/>
          </a:xfrm>
          <a:prstGeom prst="rect">
            <a:avLst/>
          </a:prstGeom>
        </p:spPr>
        <p:txBody>
          <a:bodyPr vert="horz" wrap="square" lIns="91440" tIns="45720" rIns="91440" bIns="45720" numCol="1" anchor="t" anchorCtr="0" compatLnSpc="1"/>
          <a:p>
            <a:pPr algn="r">
              <a:buNone/>
            </a:pPr>
            <a:fld id="{9A0DB2DC-4C9A-4742-B13C-FB6460FD3503}" type="slidenum">
              <a:rPr lang="en-US" altLang="zh-CN" dirty="0">
                <a:latin typeface="Times New Roman" panose="02020603050405020304" pitchFamily="18" charset="0"/>
                <a:ea typeface="宋体" panose="02010600030101010101" pitchFamily="2" charset="-122"/>
              </a:rPr>
            </a:fld>
            <a:endParaRPr lang="en-US" altLang="zh-CN" dirty="0">
              <a:latin typeface="Times New Roman" panose="02020603050405020304" pitchFamily="18"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4825" y="1600200"/>
            <a:ext cx="4129088" cy="445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786313" y="1600200"/>
            <a:ext cx="4129087" cy="4457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Date Placeholder 2"/>
          <p:cNvSpPr>
            <a:spLocks noGrp="1"/>
          </p:cNvSpPr>
          <p:nvPr>
            <p:ph type="dt" sz="half" idx="2"/>
          </p:nvPr>
        </p:nvSpPr>
        <p:spPr bwMode="auto">
          <a:xfrm>
            <a:off x="685800" y="6248400"/>
            <a:ext cx="1905000" cy="457200"/>
          </a:xfrm>
          <a:prstGeom prst="rect">
            <a:avLst/>
          </a:prstGeom>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Footer Placeholder 3"/>
          <p:cNvSpPr>
            <a:spLocks noGrp="1"/>
          </p:cNvSpPr>
          <p:nvPr>
            <p:ph type="ftr" sz="quarter" idx="3"/>
          </p:nvPr>
        </p:nvSpPr>
        <p:spPr bwMode="auto">
          <a:xfrm>
            <a:off x="3124200" y="6248400"/>
            <a:ext cx="2895600" cy="45720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Slide Number Placeholder 4"/>
          <p:cNvSpPr>
            <a:spLocks noGrp="1"/>
          </p:cNvSpPr>
          <p:nvPr>
            <p:ph type="sldNum" sz="quarter" idx="4"/>
          </p:nvPr>
        </p:nvSpPr>
        <p:spPr bwMode="auto">
          <a:xfrm>
            <a:off x="8674100" y="6392863"/>
            <a:ext cx="469900" cy="357188"/>
          </a:xfrm>
          <a:prstGeom prst="rect">
            <a:avLst/>
          </a:prstGeom>
        </p:spPr>
        <p:txBody>
          <a:bodyPr vert="horz" wrap="square" lIns="91440" tIns="45720" rIns="91440" bIns="45720" numCol="1" anchor="t" anchorCtr="0" compatLnSpc="1"/>
          <a:p>
            <a:pPr algn="r">
              <a:buNone/>
            </a:pPr>
            <a:fld id="{9A0DB2DC-4C9A-4742-B13C-FB6460FD3503}" type="slidenum">
              <a:rPr lang="en-US" altLang="zh-CN" dirty="0">
                <a:latin typeface="Times New Roman" panose="02020603050405020304" pitchFamily="18" charset="0"/>
                <a:ea typeface="宋体" panose="02010600030101010101" pitchFamily="2" charset="-122"/>
              </a:rPr>
            </a:fld>
            <a:endParaRPr lang="en-US" altLang="zh-CN" dirty="0">
              <a:latin typeface="Times New Roman" panose="02020603050405020304" pitchFamily="18"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152400"/>
            <a:ext cx="2143125" cy="59055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152400"/>
            <a:ext cx="6276975" cy="59055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725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504825" y="1600200"/>
            <a:ext cx="8410575" cy="44577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8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5725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04825" y="1600200"/>
            <a:ext cx="4129088" cy="44577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786313" y="1600200"/>
            <a:ext cx="4129087" cy="44577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906FBDB3-8646-43B1-B99F-B6C78B47E704}" type="datetime1">
              <a:rPr lang="en-US" altLang="zh-CN"/>
            </a:fld>
            <a:endParaRPr lang="en-US" altLang="zh-CN"/>
          </a:p>
        </p:txBody>
      </p:sp>
      <p:sp>
        <p:nvSpPr>
          <p:cNvPr id="5" name="Footer Placeholder 21"/>
          <p:cNvSpPr>
            <a:spLocks noGrp="1"/>
          </p:cNvSpPr>
          <p:nvPr>
            <p:ph type="ftr" sz="quarter" idx="11"/>
          </p:nvPr>
        </p:nvSpPr>
        <p:spPr/>
        <p:txBody>
          <a:bodyPr/>
          <a:lstStyle>
            <a:lvl1pPr>
              <a:defRPr/>
            </a:lvl1pPr>
          </a:lstStyle>
          <a:p>
            <a:pPr>
              <a:defRPr/>
            </a:pPr>
            <a:r>
              <a:rPr lang="en-US"/>
              <a:t>© 1992-2010 by Pearson Education, Inc. All Rights Reserved.</a:t>
            </a:r>
            <a:endParaRPr lang="en-US"/>
          </a:p>
        </p:txBody>
      </p:sp>
      <p:sp>
        <p:nvSpPr>
          <p:cNvPr id="6" name="Slide Number Placeholder 17"/>
          <p:cNvSpPr>
            <a:spLocks noGrp="1"/>
          </p:cNvSpPr>
          <p:nvPr>
            <p:ph type="sldNum" sz="quarter" idx="12"/>
          </p:nvPr>
        </p:nvSpPr>
        <p:spPr/>
        <p:txBody>
          <a:bodyPr/>
          <a:lstStyle>
            <a:lvl1pPr>
              <a:defRPr/>
            </a:lvl1pPr>
          </a:lstStyle>
          <a:p>
            <a:pPr>
              <a:defRPr/>
            </a:pPr>
            <a:fld id="{088F5115-AD61-4DC3-8850-1506BAE5C37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381000" y="152400"/>
            <a:ext cx="8572500" cy="1143000"/>
          </a:xfrm>
          <a:prstGeom prst="rect">
            <a:avLst/>
          </a:prstGeom>
          <a:noFill/>
          <a:ln w="9525">
            <a:noFill/>
          </a:ln>
        </p:spPr>
        <p:txBody>
          <a:bodyPr lIns="0" rIns="0" anchor="ctr" anchorCtr="0"/>
          <a:p>
            <a:pPr lvl="0"/>
            <a:r>
              <a:rPr lang="en-US" altLang="zh-CN" dirty="0"/>
              <a:t>Click to edit Master title style</a:t>
            </a:r>
            <a:endParaRPr lang="en-US" altLang="zh-CN" dirty="0"/>
          </a:p>
        </p:txBody>
      </p:sp>
      <p:sp>
        <p:nvSpPr>
          <p:cNvPr id="1027" name="Rectangle 3"/>
          <p:cNvSpPr>
            <a:spLocks noGrp="1"/>
          </p:cNvSpPr>
          <p:nvPr>
            <p:ph type="body" idx="1"/>
          </p:nvPr>
        </p:nvSpPr>
        <p:spPr>
          <a:xfrm>
            <a:off x="504825" y="1600200"/>
            <a:ext cx="8410575" cy="44577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a:defRPr sz="1400" b="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a:defRPr sz="1400" b="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lstStyle>
            <a:lvl1pPr algn="r">
              <a:defRPr sz="1400" b="0">
                <a:latin typeface="Times New Roman" panose="02020603050405020304" pitchFamily="18" charset="0"/>
                <a:ea typeface="宋体" panose="02010600030101010101" pitchFamily="2" charset="-122"/>
              </a:defRPr>
            </a:lvl1pPr>
          </a:lstStyle>
          <a:p>
            <a:pPr lvl="0" eaLnBrk="1" hangingPunct="1">
              <a:buNone/>
            </a:pPr>
            <a:fld id="{9A0DB2DC-4C9A-4742-B13C-FB6460FD3503}" type="slidenum">
              <a:rPr lang="en-US" altLang="zh-CN" dirty="0"/>
            </a:fld>
            <a:endParaRPr lang="en-US" altLang="zh-CN" dirty="0"/>
          </a:p>
        </p:txBody>
      </p:sp>
      <p:sp>
        <p:nvSpPr>
          <p:cNvPr id="1031" name="Line 7"/>
          <p:cNvSpPr>
            <a:spLocks noChangeShapeType="1"/>
          </p:cNvSpPr>
          <p:nvPr/>
        </p:nvSpPr>
        <p:spPr bwMode="auto">
          <a:xfrm>
            <a:off x="0" y="1371600"/>
            <a:ext cx="9144000" cy="0"/>
          </a:xfrm>
          <a:prstGeom prst="line">
            <a:avLst/>
          </a:prstGeom>
          <a:noFill/>
          <a:ln w="57150">
            <a:solidFill>
              <a:schemeClr val="tx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Comic Sans MS" panose="030F0702030302020204" pitchFamily="66" charset="0"/>
        </a:defRPr>
      </a:lvl2pPr>
      <a:lvl3pPr algn="ctr" rtl="0" eaLnBrk="0" fontAlgn="base" hangingPunct="0">
        <a:spcBef>
          <a:spcPct val="0"/>
        </a:spcBef>
        <a:spcAft>
          <a:spcPct val="0"/>
        </a:spcAft>
        <a:defRPr sz="4400">
          <a:solidFill>
            <a:schemeClr val="tx2"/>
          </a:solidFill>
          <a:latin typeface="Comic Sans MS" panose="030F0702030302020204" pitchFamily="66" charset="0"/>
        </a:defRPr>
      </a:lvl3pPr>
      <a:lvl4pPr algn="ctr" rtl="0" eaLnBrk="0" fontAlgn="base" hangingPunct="0">
        <a:spcBef>
          <a:spcPct val="0"/>
        </a:spcBef>
        <a:spcAft>
          <a:spcPct val="0"/>
        </a:spcAft>
        <a:defRPr sz="4400">
          <a:solidFill>
            <a:schemeClr val="tx2"/>
          </a:solidFill>
          <a:latin typeface="Comic Sans MS" panose="030F0702030302020204" pitchFamily="66" charset="0"/>
        </a:defRPr>
      </a:lvl4pPr>
      <a:lvl5pPr algn="ctr" rtl="0" eaLnBrk="0" fontAlgn="base" hangingPunct="0">
        <a:spcBef>
          <a:spcPct val="0"/>
        </a:spcBef>
        <a:spcAft>
          <a:spcPct val="0"/>
        </a:spcAft>
        <a:defRPr sz="4400">
          <a:solidFill>
            <a:schemeClr val="tx2"/>
          </a:solidFill>
          <a:latin typeface="Comic Sans MS" panose="030F0702030302020204" pitchFamily="66" charset="0"/>
        </a:defRPr>
      </a:lvl5pPr>
      <a:lvl6pPr marL="457200" algn="ctr" rtl="0" fontAlgn="base">
        <a:spcBef>
          <a:spcPct val="0"/>
        </a:spcBef>
        <a:spcAft>
          <a:spcPct val="0"/>
        </a:spcAft>
        <a:defRPr sz="4400">
          <a:solidFill>
            <a:schemeClr val="tx2"/>
          </a:solidFill>
          <a:latin typeface="Comic Sans MS" panose="030F0702030302020204" pitchFamily="66" charset="0"/>
        </a:defRPr>
      </a:lvl6pPr>
      <a:lvl7pPr marL="914400" algn="ctr" rtl="0" fontAlgn="base">
        <a:spcBef>
          <a:spcPct val="0"/>
        </a:spcBef>
        <a:spcAft>
          <a:spcPct val="0"/>
        </a:spcAft>
        <a:defRPr sz="4400">
          <a:solidFill>
            <a:schemeClr val="tx2"/>
          </a:solidFill>
          <a:latin typeface="Comic Sans MS" panose="030F0702030302020204" pitchFamily="66" charset="0"/>
        </a:defRPr>
      </a:lvl7pPr>
      <a:lvl8pPr marL="1371600" algn="ctr" rtl="0" fontAlgn="base">
        <a:spcBef>
          <a:spcPct val="0"/>
        </a:spcBef>
        <a:spcAft>
          <a:spcPct val="0"/>
        </a:spcAft>
        <a:defRPr sz="4400">
          <a:solidFill>
            <a:schemeClr val="tx2"/>
          </a:solidFill>
          <a:latin typeface="Comic Sans MS" panose="030F0702030302020204" pitchFamily="66" charset="0"/>
        </a:defRPr>
      </a:lvl8pPr>
      <a:lvl9pPr marL="1828800" algn="ctr" rtl="0" fontAlgn="base">
        <a:spcBef>
          <a:spcPct val="0"/>
        </a:spcBef>
        <a:spcAft>
          <a:spcPct val="0"/>
        </a:spcAft>
        <a:defRPr sz="4400">
          <a:solidFill>
            <a:schemeClr val="tx2"/>
          </a:solidFill>
          <a:latin typeface="Comic Sans MS" panose="030F0702030302020204" pitchFamily="66"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16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1600">
          <a:solidFill>
            <a:schemeClr val="tx1"/>
          </a:solidFill>
          <a:latin typeface="Times New Roman" panose="02020603050405020304" pitchFamily="18" charset="0"/>
        </a:defRPr>
      </a:lvl6pPr>
      <a:lvl7pPr marL="2971800" indent="-228600" algn="l" rtl="0" fontAlgn="base">
        <a:spcBef>
          <a:spcPct val="20000"/>
        </a:spcBef>
        <a:spcAft>
          <a:spcPct val="0"/>
        </a:spcAft>
        <a:buChar char="»"/>
        <a:defRPr sz="1600">
          <a:solidFill>
            <a:schemeClr val="tx1"/>
          </a:solidFill>
          <a:latin typeface="Times New Roman" panose="02020603050405020304" pitchFamily="18" charset="0"/>
        </a:defRPr>
      </a:lvl7pPr>
      <a:lvl8pPr marL="3429000" indent="-228600" algn="l" rtl="0" fontAlgn="base">
        <a:spcBef>
          <a:spcPct val="20000"/>
        </a:spcBef>
        <a:spcAft>
          <a:spcPct val="0"/>
        </a:spcAft>
        <a:buChar char="»"/>
        <a:defRPr sz="1600">
          <a:solidFill>
            <a:schemeClr val="tx1"/>
          </a:solidFill>
          <a:latin typeface="Times New Roman" panose="02020603050405020304" pitchFamily="18" charset="0"/>
        </a:defRPr>
      </a:lvl8pPr>
      <a:lvl9pPr marL="3886200" indent="-228600" algn="l" rtl="0" fontAlgn="base">
        <a:spcBef>
          <a:spcPct val="20000"/>
        </a:spcBef>
        <a:spcAft>
          <a:spcPct val="0"/>
        </a:spcAft>
        <a:buChar char="»"/>
        <a:defRPr sz="16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6.xml"/><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16.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18.w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w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5.jpeg"/><Relationship Id="rId1" Type="http://schemas.openxmlformats.org/officeDocument/2006/relationships/image" Target="../media/image24.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6.png"/><Relationship Id="rId1"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2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28.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29.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30.w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image" Target="../media/image31.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image" Target="../media/image32.w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33.w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image" Target="../media/image34.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image" Target="../media/image35.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36.wm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7.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8.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6.xml"/><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image" Target="../media/image42.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43.e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wmf"/></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6.xml"/><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48.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4.wmf"/></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6.xml"/><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image" Target="../media/image48.w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9.wmf"/></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1.wmf"/><Relationship Id="rId1" Type="http://schemas.openxmlformats.org/officeDocument/2006/relationships/image" Target="../media/image50.wmf"/></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6.xml"/><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image" Target="../media/image56.w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2" name="Picture 4"/>
          <p:cNvPicPr>
            <a:picLocks noChangeAspect="1"/>
          </p:cNvPicPr>
          <p:nvPr/>
        </p:nvPicPr>
        <p:blipFill>
          <a:blip r:embed="rId1"/>
          <a:stretch>
            <a:fillRect/>
          </a:stretch>
        </p:blipFill>
        <p:spPr>
          <a:xfrm>
            <a:off x="568325" y="547688"/>
            <a:ext cx="3019425" cy="1797050"/>
          </a:xfrm>
          <a:prstGeom prst="rect">
            <a:avLst/>
          </a:prstGeom>
          <a:noFill/>
          <a:ln w="9525">
            <a:noFill/>
          </a:ln>
        </p:spPr>
      </p:pic>
      <p:sp>
        <p:nvSpPr>
          <p:cNvPr id="5123" name="Rectangle 5"/>
          <p:cNvSpPr/>
          <p:nvPr/>
        </p:nvSpPr>
        <p:spPr>
          <a:xfrm>
            <a:off x="2039938" y="2647950"/>
            <a:ext cx="5926137" cy="646113"/>
          </a:xfrm>
          <a:prstGeom prst="rect">
            <a:avLst/>
          </a:prstGeom>
          <a:solidFill>
            <a:srgbClr val="FFFF99"/>
          </a:solidFill>
          <a:ln w="9525">
            <a:noFill/>
          </a:ln>
        </p:spPr>
        <p:txBody>
          <a:bodyPr lIns="182880" rIns="182880">
            <a:spAutoFit/>
          </a:bodyPr>
          <a:p>
            <a:pPr algn="ctr">
              <a:spcBef>
                <a:spcPct val="20000"/>
              </a:spcBef>
            </a:pPr>
            <a:r>
              <a:rPr lang="en-US" altLang="zh-CN" sz="3600" b="0" dirty="0">
                <a:latin typeface="Comic Sans MS" panose="030F0702030302020204" pitchFamily="66" charset="0"/>
                <a:ea typeface="宋体" panose="02010600030101010101" pitchFamily="2" charset="-122"/>
              </a:rPr>
              <a:t>Intro to SE : Complexity</a:t>
            </a:r>
            <a:endParaRPr lang="en-US" altLang="zh-CN" sz="3600" b="0" dirty="0">
              <a:latin typeface="Comic Sans MS" panose="030F0702030302020204" pitchFamily="66" charset="0"/>
              <a:ea typeface="宋体" panose="02010600030101010101" pitchFamily="2" charset="-122"/>
            </a:endParaRPr>
          </a:p>
        </p:txBody>
      </p:sp>
      <p:sp>
        <p:nvSpPr>
          <p:cNvPr id="5124" name="Line 6"/>
          <p:cNvSpPr/>
          <p:nvPr/>
        </p:nvSpPr>
        <p:spPr>
          <a:xfrm>
            <a:off x="0" y="1371600"/>
            <a:ext cx="9144000" cy="0"/>
          </a:xfrm>
          <a:prstGeom prst="line">
            <a:avLst/>
          </a:prstGeom>
          <a:ln w="57150" cap="flat" cmpd="sng">
            <a:solidFill>
              <a:srgbClr val="00FF00"/>
            </a:solidFill>
            <a:prstDash val="solid"/>
            <a:headEnd type="none" w="med" len="med"/>
            <a:tailEnd type="none" w="med" len="med"/>
          </a:ln>
        </p:spPr>
      </p:sp>
      <p:sp>
        <p:nvSpPr>
          <p:cNvPr id="5125" name="矩形 5"/>
          <p:cNvSpPr/>
          <p:nvPr/>
        </p:nvSpPr>
        <p:spPr>
          <a:xfrm>
            <a:off x="735013" y="3505200"/>
            <a:ext cx="7467600" cy="2676525"/>
          </a:xfrm>
          <a:prstGeom prst="rect">
            <a:avLst/>
          </a:prstGeom>
          <a:noFill/>
          <a:ln w="9525">
            <a:noFill/>
          </a:ln>
        </p:spPr>
        <p:txBody>
          <a:bodyPr>
            <a:spAutoFit/>
          </a:bodyPr>
          <a:p>
            <a:pPr>
              <a:lnSpc>
                <a:spcPct val="200000"/>
              </a:lnSpc>
              <a:buNone/>
            </a:pPr>
            <a:r>
              <a:rPr lang="zh-CN" altLang="en-US" b="0" dirty="0">
                <a:solidFill>
                  <a:srgbClr val="002060"/>
                </a:solidFill>
                <a:latin typeface="Verdana" panose="020B0604030504040204" pitchFamily="34" charset="0"/>
                <a:ea typeface="黑体" panose="02010609060101010101" pitchFamily="49" charset="-122"/>
              </a:rPr>
              <a:t>何明昕  </a:t>
            </a:r>
            <a:r>
              <a:rPr lang="en-US" altLang="zh-CN" b="0" dirty="0">
                <a:solidFill>
                  <a:srgbClr val="002060"/>
                </a:solidFill>
                <a:latin typeface="Comic Sans MS" panose="030F0702030302020204" pitchFamily="66" charset="0"/>
                <a:ea typeface="黑体" panose="02010609060101010101" pitchFamily="49" charset="-122"/>
              </a:rPr>
              <a:t>HE Mingxin, Max</a:t>
            </a:r>
            <a:endParaRPr lang="en-US" altLang="zh-CN" b="0" dirty="0">
              <a:solidFill>
                <a:srgbClr val="002060"/>
              </a:solidFill>
              <a:latin typeface="Comic Sans MS" panose="030F0702030302020204" pitchFamily="66" charset="0"/>
              <a:ea typeface="黑体" panose="02010609060101010101" pitchFamily="49" charset="-122"/>
            </a:endParaRPr>
          </a:p>
          <a:p>
            <a:pPr>
              <a:buNone/>
            </a:pPr>
            <a:r>
              <a:rPr lang="en-US" altLang="zh-CN" b="0" dirty="0">
                <a:solidFill>
                  <a:srgbClr val="002060"/>
                </a:solidFill>
                <a:latin typeface="Verdana" panose="020B0604030504040204" pitchFamily="34" charset="0"/>
                <a:ea typeface="黑体" panose="02010609060101010101" pitchFamily="49" charset="-122"/>
              </a:rPr>
              <a:t>Send your email to </a:t>
            </a:r>
            <a:r>
              <a:rPr lang="en-US" altLang="zh-CN" b="0" dirty="0">
                <a:solidFill>
                  <a:srgbClr val="7030A0"/>
                </a:solidFill>
                <a:latin typeface="Verdana" panose="020B0604030504040204" pitchFamily="34" charset="0"/>
                <a:ea typeface="黑体" panose="02010609060101010101" pitchFamily="49" charset="-122"/>
              </a:rPr>
              <a:t>c.max@yeah.net</a:t>
            </a:r>
            <a:r>
              <a:rPr lang="en-US" altLang="zh-CN" b="0" dirty="0">
                <a:solidFill>
                  <a:srgbClr val="002060"/>
                </a:solidFill>
                <a:latin typeface="Verdana" panose="020B0604030504040204" pitchFamily="34" charset="0"/>
                <a:ea typeface="黑体" panose="02010609060101010101" pitchFamily="49" charset="-122"/>
              </a:rPr>
              <a:t>  with</a:t>
            </a:r>
            <a:endParaRPr lang="en-US" altLang="zh-CN" b="0" dirty="0">
              <a:solidFill>
                <a:srgbClr val="002060"/>
              </a:solidFill>
              <a:latin typeface="Verdana" panose="020B0604030504040204" pitchFamily="34" charset="0"/>
              <a:ea typeface="黑体" panose="02010609060101010101" pitchFamily="49" charset="-122"/>
            </a:endParaRPr>
          </a:p>
          <a:p>
            <a:pPr>
              <a:buNone/>
            </a:pPr>
            <a:r>
              <a:rPr lang="en-US" altLang="zh-CN" b="0" dirty="0">
                <a:solidFill>
                  <a:srgbClr val="002060"/>
                </a:solidFill>
                <a:latin typeface="Verdana" panose="020B0604030504040204" pitchFamily="34" charset="0"/>
                <a:ea typeface="黑体" panose="02010609060101010101" pitchFamily="49" charset="-122"/>
              </a:rPr>
              <a:t>a subject like:  </a:t>
            </a:r>
            <a:r>
              <a:rPr lang="en-US" altLang="zh-CN" b="0" dirty="0">
                <a:solidFill>
                  <a:srgbClr val="002060"/>
                </a:solidFill>
                <a:latin typeface="Comic Sans MS" panose="030F0702030302020204" pitchFamily="66" charset="0"/>
                <a:ea typeface="黑体" panose="02010609060101010101" pitchFamily="49" charset="-122"/>
              </a:rPr>
              <a:t>SE-id</a:t>
            </a:r>
            <a:r>
              <a:rPr lang="en-US" altLang="zh-CN" b="0" i="1" dirty="0">
                <a:solidFill>
                  <a:srgbClr val="002060"/>
                </a:solidFill>
                <a:latin typeface="Comic Sans MS" panose="030F0702030302020204" pitchFamily="66" charset="0"/>
                <a:ea typeface="黑体" panose="02010609060101010101" pitchFamily="49" charset="-122"/>
              </a:rPr>
              <a:t>-Andy: On What </a:t>
            </a:r>
            <a:r>
              <a:rPr lang="en-US" altLang="zh-CN" b="0" i="1" dirty="0">
                <a:solidFill>
                  <a:srgbClr val="002060"/>
                </a:solidFill>
                <a:latin typeface="Verdana" panose="020B0604030504040204" pitchFamily="34" charset="0"/>
                <a:ea typeface="黑体" panose="02010609060101010101" pitchFamily="49" charset="-122"/>
              </a:rPr>
              <a:t>…</a:t>
            </a:r>
            <a:endParaRPr lang="en-US" altLang="zh-CN" b="0" i="1" dirty="0">
              <a:solidFill>
                <a:srgbClr val="002060"/>
              </a:solidFill>
              <a:latin typeface="Verdana" panose="020B0604030504040204" pitchFamily="34" charset="0"/>
              <a:ea typeface="黑体" panose="02010609060101010101" pitchFamily="49" charset="-122"/>
            </a:endParaRPr>
          </a:p>
          <a:p>
            <a:pPr>
              <a:lnSpc>
                <a:spcPct val="200000"/>
              </a:lnSpc>
              <a:buNone/>
            </a:pPr>
            <a:r>
              <a:rPr lang="en-US" altLang="zh-CN" b="0" dirty="0">
                <a:solidFill>
                  <a:srgbClr val="002060"/>
                </a:solidFill>
                <a:latin typeface="Verdana" panose="020B0604030504040204" pitchFamily="34" charset="0"/>
                <a:ea typeface="黑体" panose="02010609060101010101" pitchFamily="49" charset="-122"/>
              </a:rPr>
              <a:t>Download from </a:t>
            </a:r>
            <a:r>
              <a:rPr lang="en-US" altLang="zh-CN" b="0" dirty="0">
                <a:solidFill>
                  <a:srgbClr val="7030A0"/>
                </a:solidFill>
                <a:latin typeface="Verdana" panose="020B0604030504040204" pitchFamily="34" charset="0"/>
                <a:ea typeface="黑体" panose="02010609060101010101" pitchFamily="49" charset="-122"/>
              </a:rPr>
              <a:t>c.program@yeah.net</a:t>
            </a:r>
            <a:endParaRPr lang="en-US" altLang="zh-CN" b="0" dirty="0">
              <a:solidFill>
                <a:srgbClr val="FF0000"/>
              </a:solidFill>
              <a:latin typeface="Verdana" panose="020B0604030504040204" pitchFamily="34" charset="0"/>
              <a:ea typeface="黑体" panose="02010609060101010101" pitchFamily="49" charset="-122"/>
            </a:endParaRPr>
          </a:p>
          <a:p>
            <a:pPr>
              <a:buNone/>
            </a:pPr>
            <a:r>
              <a:rPr lang="en-US" altLang="zh-CN" b="0" dirty="0">
                <a:solidFill>
                  <a:srgbClr val="002060"/>
                </a:solidFill>
                <a:latin typeface="Verdana" panose="020B0604030504040204" pitchFamily="34" charset="0"/>
                <a:ea typeface="黑体" panose="02010609060101010101" pitchFamily="49" charset="-122"/>
              </a:rPr>
              <a:t>/</a:t>
            </a:r>
            <a:r>
              <a:rPr lang="zh-CN" altLang="en-US" b="0" dirty="0">
                <a:solidFill>
                  <a:srgbClr val="002060"/>
                </a:solidFill>
                <a:latin typeface="Verdana" panose="020B0604030504040204" pitchFamily="34" charset="0"/>
                <a:ea typeface="黑体" panose="02010609060101010101" pitchFamily="49" charset="-122"/>
              </a:rPr>
              <a:t>文件中心</a:t>
            </a:r>
            <a:r>
              <a:rPr lang="en-US" altLang="zh-CN" b="0" dirty="0">
                <a:solidFill>
                  <a:srgbClr val="002060"/>
                </a:solidFill>
                <a:latin typeface="Verdana" panose="020B0604030504040204" pitchFamily="34" charset="0"/>
                <a:ea typeface="宋体" panose="02010600030101010101" pitchFamily="2" charset="-122"/>
              </a:rPr>
              <a:t>/</a:t>
            </a:r>
            <a:r>
              <a:rPr lang="zh-CN" altLang="en-US" b="0" dirty="0">
                <a:solidFill>
                  <a:srgbClr val="002060"/>
                </a:solidFill>
                <a:latin typeface="Verdana" panose="020B0604030504040204" pitchFamily="34" charset="0"/>
                <a:ea typeface="黑体" panose="02010609060101010101" pitchFamily="49" charset="-122"/>
              </a:rPr>
              <a:t>网盘</a:t>
            </a:r>
            <a:r>
              <a:rPr lang="en-US" altLang="zh-CN" b="0" dirty="0">
                <a:solidFill>
                  <a:srgbClr val="002060"/>
                </a:solidFill>
                <a:latin typeface="Verdana" panose="020B0604030504040204" pitchFamily="34" charset="0"/>
                <a:ea typeface="宋体" panose="02010600030101010101" pitchFamily="2" charset="-122"/>
              </a:rPr>
              <a:t>/SoftwareEngineering26S</a:t>
            </a:r>
            <a:endParaRPr lang="en-US" altLang="zh-CN" b="0" dirty="0">
              <a:solidFill>
                <a:srgbClr val="002060"/>
              </a:solidFill>
              <a:latin typeface="Verdana" panose="020B060403050404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5"/>
          <p:cNvSpPr>
            <a:spLocks noGrp="1"/>
          </p:cNvSpPr>
          <p:nvPr>
            <p:ph type="title"/>
          </p:nvPr>
        </p:nvSpPr>
        <p:spPr>
          <a:xfrm>
            <a:off x="280988" y="152400"/>
            <a:ext cx="8661400" cy="858838"/>
          </a:xfrm>
        </p:spPr>
        <p:txBody>
          <a:bodyPr vert="horz" wrap="square" lIns="0" tIns="45720" rIns="0" bIns="45720" anchor="ctr" anchorCtr="0"/>
          <a:p>
            <a:pPr eaLnBrk="1" hangingPunct="1"/>
            <a:r>
              <a:rPr lang="en-US" altLang="zh-CN" sz="4000" dirty="0">
                <a:solidFill>
                  <a:srgbClr val="0070C0"/>
                </a:solidFill>
                <a:latin typeface="Calibri" panose="020F0502020204030204" pitchFamily="34" charset="0"/>
                <a:ea typeface="等线 Light" panose="02010600030101010101" charset="-122"/>
              </a:rPr>
              <a:t>Exercise 01: Review &amp; Preview </a:t>
            </a:r>
            <a:r>
              <a:rPr lang="en-US" altLang="zh-CN" sz="2800" dirty="0">
                <a:solidFill>
                  <a:srgbClr val="0070C0"/>
                </a:solidFill>
                <a:latin typeface="Calibri" panose="020F0502020204030204" pitchFamily="34" charset="0"/>
                <a:ea typeface="等线 Light" panose="02010600030101010101" charset="-122"/>
              </a:rPr>
              <a:t>(in 2 weeks)</a:t>
            </a:r>
            <a:endParaRPr lang="en-US" altLang="en-US" sz="2800" dirty="0">
              <a:solidFill>
                <a:srgbClr val="0070C0"/>
              </a:solidFill>
              <a:latin typeface="Calibri" panose="020F0502020204030204" pitchFamily="34" charset="0"/>
            </a:endParaRPr>
          </a:p>
        </p:txBody>
      </p:sp>
      <p:sp>
        <p:nvSpPr>
          <p:cNvPr id="6147" name="Rectangle 6"/>
          <p:cNvSpPr>
            <a:spLocks noGrp="1"/>
          </p:cNvSpPr>
          <p:nvPr>
            <p:ph idx="1"/>
          </p:nvPr>
        </p:nvSpPr>
        <p:spPr>
          <a:xfrm>
            <a:off x="533400" y="1662113"/>
            <a:ext cx="8426450" cy="4629150"/>
          </a:xfrm>
        </p:spPr>
        <p:txBody>
          <a:bodyPr vert="horz" wrap="square" lIns="91440" tIns="45720" rIns="91440" bIns="45720" anchor="t" anchorCtr="0"/>
          <a:p>
            <a:pPr eaLnBrk="1" hangingPunct="1">
              <a:spcBef>
                <a:spcPts val="1200"/>
              </a:spcBef>
            </a:pPr>
            <a:r>
              <a:rPr lang="en-US" altLang="en-US" sz="2400" dirty="0">
                <a:solidFill>
                  <a:srgbClr val="0070C0"/>
                </a:solidFill>
                <a:latin typeface="Calibri" panose="020F0502020204030204" pitchFamily="34" charset="0"/>
                <a:cs typeface="Calibri" panose="020F0502020204030204" pitchFamily="34" charset="0"/>
              </a:rPr>
              <a:t>Read 1.1-1.2 and preview 1.3-1.4 of TextBook.</a:t>
            </a:r>
            <a:endParaRPr lang="en-US" altLang="en-US" sz="2400" dirty="0">
              <a:solidFill>
                <a:srgbClr val="0070C0"/>
              </a:solidFill>
              <a:latin typeface="Calibri" panose="020F0502020204030204" pitchFamily="34" charset="0"/>
              <a:cs typeface="Calibri" panose="020F0502020204030204" pitchFamily="34" charset="0"/>
            </a:endParaRPr>
          </a:p>
          <a:p>
            <a:pPr eaLnBrk="1" hangingPunct="1">
              <a:spcBef>
                <a:spcPts val="1200"/>
              </a:spcBef>
            </a:pPr>
            <a:r>
              <a:rPr lang="en-US" altLang="en-US" sz="2400" dirty="0">
                <a:solidFill>
                  <a:srgbClr val="0070C0"/>
                </a:solidFill>
                <a:latin typeface="Calibri" panose="020F0502020204030204" pitchFamily="34" charset="0"/>
                <a:cs typeface="Calibri" panose="020F0502020204030204" pitchFamily="34" charset="0"/>
              </a:rPr>
              <a:t>Read ch1 of “Beginning Software Engineering”</a:t>
            </a:r>
            <a:endParaRPr lang="en-US" altLang="en-US" sz="2400" dirty="0">
              <a:solidFill>
                <a:srgbClr val="0070C0"/>
              </a:solidFill>
              <a:latin typeface="Calibri" panose="020F0502020204030204" pitchFamily="34" charset="0"/>
              <a:cs typeface="Calibri" panose="020F0502020204030204" pitchFamily="34" charset="0"/>
            </a:endParaRPr>
          </a:p>
          <a:p>
            <a:pPr eaLnBrk="1" hangingPunct="1">
              <a:spcBef>
                <a:spcPts val="1200"/>
              </a:spcBef>
            </a:pPr>
            <a:r>
              <a:rPr lang="en-US" altLang="en-US" sz="2400" dirty="0">
                <a:solidFill>
                  <a:srgbClr val="0070C0"/>
                </a:solidFill>
                <a:latin typeface="Calibri" panose="020F0502020204030204" pitchFamily="34" charset="0"/>
                <a:cs typeface="Calibri" panose="020F0502020204030204" pitchFamily="34" charset="0"/>
              </a:rPr>
              <a:t>Read “Essence of Software Engineering”</a:t>
            </a:r>
            <a:endParaRPr lang="en-US" altLang="en-US" sz="2400" dirty="0">
              <a:solidFill>
                <a:srgbClr val="0070C0"/>
              </a:solidFill>
              <a:latin typeface="Calibri" panose="020F0502020204030204" pitchFamily="34" charset="0"/>
              <a:cs typeface="Calibri" panose="020F0502020204030204" pitchFamily="34" charset="0"/>
            </a:endParaRPr>
          </a:p>
          <a:p>
            <a:r>
              <a:rPr lang="en-US" altLang="en-US" sz="2400" dirty="0">
                <a:solidFill>
                  <a:srgbClr val="0070C0"/>
                </a:solidFill>
                <a:latin typeface="Calibri" panose="020F0502020204030204" pitchFamily="34" charset="0"/>
                <a:cs typeface="Calibri" panose="020F0502020204030204" pitchFamily="34" charset="0"/>
              </a:rPr>
              <a:t>Preview ch1 of “</a:t>
            </a:r>
            <a:r>
              <a:rPr lang="en-US" altLang="zh-CN" sz="2400" dirty="0">
                <a:solidFill>
                  <a:srgbClr val="0070C0"/>
                </a:solidFill>
                <a:latin typeface="Calibri" panose="020F0502020204030204" pitchFamily="34" charset="0"/>
                <a:ea typeface="宋体" panose="02010600030101010101" pitchFamily="2" charset="-122"/>
              </a:rPr>
              <a:t>Design Science Methodology for IS &amp; SE”</a:t>
            </a:r>
            <a:endParaRPr lang="en-US" altLang="zh-CN" sz="2400" dirty="0">
              <a:solidFill>
                <a:srgbClr val="0070C0"/>
              </a:solidFill>
              <a:latin typeface="Calibri" panose="020F0502020204030204" pitchFamily="34" charset="0"/>
              <a:ea typeface="宋体" panose="02010600030101010101" pitchFamily="2" charset="-122"/>
            </a:endParaRPr>
          </a:p>
          <a:p>
            <a:r>
              <a:rPr lang="en-US" altLang="en-US" sz="2400" dirty="0">
                <a:solidFill>
                  <a:srgbClr val="0070C0"/>
                </a:solidFill>
                <a:latin typeface="Calibri" panose="020F0502020204030204" pitchFamily="34" charset="0"/>
                <a:cs typeface="Calibri" panose="020F0502020204030204" pitchFamily="34" charset="0"/>
              </a:rPr>
              <a:t>Preview ch1 of “A Philosophy of Software Design”</a:t>
            </a:r>
            <a:endParaRPr lang="en-US" altLang="en-US" sz="2400" dirty="0">
              <a:solidFill>
                <a:srgbClr val="0070C0"/>
              </a:solidFill>
              <a:latin typeface="Calibri" panose="020F0502020204030204" pitchFamily="34" charset="0"/>
              <a:cs typeface="Calibri" panose="020F0502020204030204" pitchFamily="34" charset="0"/>
            </a:endParaRPr>
          </a:p>
          <a:p>
            <a:endParaRPr lang="en-US" altLang="en-US" sz="2400" dirty="0">
              <a:solidFill>
                <a:srgbClr val="0070C0"/>
              </a:solidFill>
              <a:latin typeface="Calibri" panose="020F0502020204030204" pitchFamily="34" charset="0"/>
              <a:cs typeface="Calibri" panose="020F0502020204030204" pitchFamily="34" charset="0"/>
            </a:endParaRPr>
          </a:p>
          <a:p>
            <a:pPr>
              <a:buNone/>
            </a:pPr>
            <a:r>
              <a:rPr lang="en-US" altLang="en-US" sz="2400" dirty="0">
                <a:solidFill>
                  <a:srgbClr val="0070C0"/>
                </a:solidFill>
                <a:latin typeface="Calibri" panose="020F0502020204030204" pitchFamily="34" charset="0"/>
                <a:cs typeface="Calibri" panose="020F0502020204030204" pitchFamily="34" charset="0"/>
              </a:rPr>
              <a:t>   </a:t>
            </a:r>
            <a:r>
              <a:rPr lang="en-US" altLang="en-US" sz="2400" dirty="0">
                <a:solidFill>
                  <a:srgbClr val="FF0000"/>
                </a:solidFill>
                <a:latin typeface="Calibri" panose="020F0502020204030204" pitchFamily="34" charset="0"/>
                <a:cs typeface="Calibri" panose="020F0502020204030204" pitchFamily="34" charset="0"/>
              </a:rPr>
              <a:t>Send an email </a:t>
            </a:r>
            <a:r>
              <a:rPr lang="en-US" altLang="en-US" sz="2400" i="1" dirty="0">
                <a:solidFill>
                  <a:srgbClr val="FF0000"/>
                </a:solidFill>
                <a:latin typeface="Calibri" panose="020F0502020204030204" pitchFamily="34" charset="0"/>
                <a:cs typeface="Calibri" panose="020F0502020204030204" pitchFamily="34" charset="0"/>
              </a:rPr>
              <a:t>in a week to </a:t>
            </a:r>
            <a:r>
              <a:rPr lang="en-US" altLang="en-US" sz="2400" dirty="0">
                <a:solidFill>
                  <a:srgbClr val="002060"/>
                </a:solidFill>
                <a:latin typeface="Calibri" panose="020F0502020204030204" pitchFamily="34" charset="0"/>
                <a:cs typeface="Calibri" panose="020F0502020204030204" pitchFamily="34" charset="0"/>
              </a:rPr>
              <a:t>c.max@yeah.net</a:t>
            </a:r>
            <a:r>
              <a:rPr lang="en-US" altLang="en-US" sz="2400" dirty="0">
                <a:solidFill>
                  <a:srgbClr val="FF0000"/>
                </a:solidFill>
                <a:latin typeface="Calibri" panose="020F0502020204030204" pitchFamily="34" charset="0"/>
                <a:cs typeface="Calibri" panose="020F0502020204030204" pitchFamily="34" charset="0"/>
              </a:rPr>
              <a:t> with a subject like:</a:t>
            </a:r>
            <a:endParaRPr lang="en-US" altLang="en-US" sz="2400" dirty="0">
              <a:solidFill>
                <a:srgbClr val="FF0000"/>
              </a:solidFill>
              <a:latin typeface="Calibri" panose="020F0502020204030204" pitchFamily="34" charset="0"/>
              <a:cs typeface="Calibri" panose="020F0502020204030204" pitchFamily="34" charset="0"/>
            </a:endParaRPr>
          </a:p>
          <a:p>
            <a:pPr>
              <a:buNone/>
            </a:pPr>
            <a:r>
              <a:rPr lang="en-US" altLang="en-US" sz="2400" dirty="0">
                <a:solidFill>
                  <a:srgbClr val="FF0000"/>
                </a:solidFill>
                <a:latin typeface="Calibri" panose="020F0502020204030204" pitchFamily="34" charset="0"/>
                <a:cs typeface="Calibri" panose="020F0502020204030204" pitchFamily="34" charset="0"/>
              </a:rPr>
              <a:t>   </a:t>
            </a:r>
            <a:r>
              <a:rPr lang="en-US" altLang="en-US" sz="2400" i="1" dirty="0">
                <a:solidFill>
                  <a:srgbClr val="0070C0"/>
                </a:solidFill>
                <a:latin typeface="Calibri" panose="020F0502020204030204" pitchFamily="34" charset="0"/>
                <a:cs typeface="Calibri" panose="020F0502020204030204" pitchFamily="34" charset="0"/>
              </a:rPr>
              <a:t>SE-nnnn-Adam: Register for SE Course</a:t>
            </a:r>
            <a:r>
              <a:rPr lang="en-US" altLang="en-US" sz="2400" i="1" dirty="0">
                <a:solidFill>
                  <a:srgbClr val="FF0000"/>
                </a:solidFill>
                <a:latin typeface="Calibri" panose="020F0502020204030204" pitchFamily="34" charset="0"/>
                <a:cs typeface="Calibri" panose="020F0502020204030204" pitchFamily="34" charset="0"/>
              </a:rPr>
              <a:t>,</a:t>
            </a:r>
            <a:endParaRPr lang="en-US" altLang="en-US" sz="2400" i="1" dirty="0">
              <a:solidFill>
                <a:srgbClr val="FF0000"/>
              </a:solidFill>
              <a:latin typeface="Calibri" panose="020F0502020204030204" pitchFamily="34" charset="0"/>
              <a:cs typeface="Calibri" panose="020F0502020204030204" pitchFamily="34" charset="0"/>
            </a:endParaRPr>
          </a:p>
          <a:p>
            <a:pPr eaLnBrk="1" hangingPunct="1">
              <a:spcBef>
                <a:spcPts val="1200"/>
              </a:spcBef>
              <a:buNone/>
            </a:pPr>
            <a:r>
              <a:rPr lang="en-US" altLang="en-US" sz="2400" i="1" dirty="0">
                <a:solidFill>
                  <a:srgbClr val="60C99C"/>
                </a:solidFill>
                <a:latin typeface="Calibri" panose="020F0502020204030204" pitchFamily="34" charset="0"/>
                <a:cs typeface="Calibri" panose="020F0502020204030204" pitchFamily="34" charset="0"/>
              </a:rPr>
              <a:t>   </a:t>
            </a:r>
            <a:r>
              <a:rPr lang="en-US" altLang="en-US" sz="2400" i="1" dirty="0">
                <a:solidFill>
                  <a:srgbClr val="FF0000"/>
                </a:solidFill>
                <a:latin typeface="Calibri" panose="020F0502020204030204" pitchFamily="34" charset="0"/>
                <a:cs typeface="Calibri" panose="020F0502020204030204" pitchFamily="34" charset="0"/>
              </a:rPr>
              <a:t>simply describe your experience on SE and your expectation for the course.</a:t>
            </a:r>
            <a:endParaRPr lang="en-US" altLang="en-US" sz="2400" i="1" dirty="0">
              <a:solidFill>
                <a:srgbClr val="60C99C"/>
              </a:solidFill>
              <a:latin typeface="Calibri" panose="020F0502020204030204" pitchFamily="34" charset="0"/>
              <a:ea typeface="Calibri" panose="020F0502020204030204" pitchFamily="34"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矩形 2"/>
          <p:cNvSpPr/>
          <p:nvPr/>
        </p:nvSpPr>
        <p:spPr>
          <a:xfrm>
            <a:off x="609600" y="2133600"/>
            <a:ext cx="8229600" cy="3446463"/>
          </a:xfrm>
          <a:prstGeom prst="rect">
            <a:avLst/>
          </a:prstGeom>
          <a:noFill/>
          <a:ln w="9525">
            <a:noFill/>
          </a:ln>
        </p:spPr>
        <p:txBody>
          <a:bodyPr>
            <a:spAutoFit/>
          </a:bodyPr>
          <a:p>
            <a:pPr>
              <a:lnSpc>
                <a:spcPct val="200000"/>
              </a:lnSpc>
            </a:pPr>
            <a:r>
              <a:rPr lang="en-US" altLang="zh-CN" sz="2800" b="0" dirty="0">
                <a:latin typeface="Comic Sans MS" panose="030F0702030302020204" pitchFamily="66" charset="0"/>
                <a:ea typeface="宋体" panose="02010600030101010101" pitchFamily="2" charset="-122"/>
              </a:rPr>
              <a:t>Complex</a:t>
            </a:r>
            <a:r>
              <a:rPr lang="en-US" altLang="zh-CN" b="0" dirty="0">
                <a:latin typeface="Comic Sans MS" panose="030F0702030302020204" pitchFamily="66" charset="0"/>
                <a:ea typeface="宋体" panose="02010600030101010101" pitchFamily="2" charset="-122"/>
              </a:rPr>
              <a:t> (</a:t>
            </a:r>
            <a:r>
              <a:rPr lang="zh-CN" altLang="en-US" b="0" dirty="0">
                <a:latin typeface="黑体" panose="02010609060101010101" pitchFamily="49" charset="-122"/>
                <a:ea typeface="黑体" panose="02010609060101010101" pitchFamily="49" charset="-122"/>
              </a:rPr>
              <a:t>错综复杂的</a:t>
            </a:r>
            <a:r>
              <a:rPr lang="en-US" altLang="zh-CN" b="0" dirty="0">
                <a:latin typeface="Comic Sans MS" panose="030F0702030302020204" pitchFamily="66" charset="0"/>
                <a:ea typeface="宋体" panose="02010600030101010101" pitchFamily="2" charset="-122"/>
              </a:rPr>
              <a:t>) </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en-US" altLang="zh-CN" sz="2800" b="0" dirty="0">
                <a:latin typeface="Comic Sans MS" panose="030F0702030302020204" pitchFamily="66" charset="0"/>
                <a:ea typeface="宋体" panose="02010600030101010101" pitchFamily="2" charset="-122"/>
                <a:sym typeface="Symbol" panose="05050102010706020507" pitchFamily="18" charset="2"/>
              </a:rPr>
              <a:t>complicated</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zh-CN" altLang="en-US" b="0" dirty="0">
                <a:latin typeface="黑体" panose="02010609060101010101" pitchFamily="49" charset="-122"/>
                <a:ea typeface="黑体" panose="02010609060101010101" pitchFamily="49" charset="-122"/>
                <a:sym typeface="Symbol" panose="05050102010706020507" pitchFamily="18" charset="2"/>
              </a:rPr>
              <a:t>复杂难懂的</a:t>
            </a:r>
            <a:r>
              <a:rPr lang="en-US" altLang="zh-CN" b="0" dirty="0">
                <a:latin typeface="Comic Sans MS" panose="030F0702030302020204" pitchFamily="66" charset="0"/>
                <a:ea typeface="宋体" panose="02010600030101010101" pitchFamily="2" charset="-122"/>
                <a:sym typeface="Symbol" panose="05050102010706020507" pitchFamily="18" charset="2"/>
              </a:rPr>
              <a:t>)</a:t>
            </a:r>
            <a:endParaRPr lang="en-US" altLang="zh-CN" b="0" dirty="0">
              <a:latin typeface="Comic Sans MS" panose="030F0702030302020204" pitchFamily="66" charset="0"/>
              <a:ea typeface="宋体" panose="02010600030101010101" pitchFamily="2" charset="-122"/>
              <a:sym typeface="Symbol" panose="05050102010706020507" pitchFamily="18" charset="2"/>
            </a:endParaRPr>
          </a:p>
          <a:p>
            <a:pPr>
              <a:lnSpc>
                <a:spcPct val="150000"/>
              </a:lnSpc>
              <a:spcBef>
                <a:spcPct val="100000"/>
              </a:spcBef>
            </a:pPr>
            <a:r>
              <a:rPr lang="en-US" altLang="zh-CN" sz="2800" b="0" dirty="0">
                <a:latin typeface="Comic Sans MS" panose="030F0702030302020204" pitchFamily="66" charset="0"/>
                <a:ea typeface="宋体" panose="02010600030101010101" pitchFamily="2" charset="-122"/>
                <a:sym typeface="Symbol" panose="05050102010706020507" pitchFamily="18" charset="2"/>
              </a:rPr>
              <a:t>Complex</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en-US" altLang="zh-CN" sz="2800" b="0" dirty="0">
                <a:latin typeface="Comic Sans MS" panose="030F0702030302020204" pitchFamily="66" charset="0"/>
                <a:ea typeface="宋体" panose="02010600030101010101" pitchFamily="2" charset="-122"/>
                <a:sym typeface="Symbol" panose="05050102010706020507" pitchFamily="18" charset="2"/>
              </a:rPr>
              <a:t>=</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en-US" altLang="zh-CN" sz="2600" b="0" dirty="0">
                <a:latin typeface="Comic Sans MS" panose="030F0702030302020204" pitchFamily="66" charset="0"/>
                <a:ea typeface="宋体" panose="02010600030101010101" pitchFamily="2" charset="-122"/>
                <a:sym typeface="Symbol" panose="05050102010706020507" pitchFamily="18" charset="2"/>
              </a:rPr>
              <a:t>composed of many simple parts</a:t>
            </a:r>
            <a:br>
              <a:rPr lang="en-US" altLang="zh-CN" sz="2600" b="0" dirty="0">
                <a:latin typeface="Comic Sans MS" panose="030F0702030302020204" pitchFamily="66" charset="0"/>
                <a:ea typeface="宋体" panose="02010600030101010101" pitchFamily="2" charset="-122"/>
                <a:sym typeface="Symbol" panose="05050102010706020507" pitchFamily="18" charset="2"/>
              </a:rPr>
            </a:br>
            <a:r>
              <a:rPr lang="en-US" altLang="zh-CN" sz="2600" b="0" dirty="0">
                <a:latin typeface="Comic Sans MS" panose="030F0702030302020204" pitchFamily="66" charset="0"/>
                <a:ea typeface="宋体" panose="02010600030101010101" pitchFamily="2" charset="-122"/>
                <a:sym typeface="Symbol" panose="05050102010706020507" pitchFamily="18" charset="2"/>
              </a:rPr>
              <a:t>                   related to one another</a:t>
            </a:r>
            <a:endParaRPr lang="en-US" altLang="zh-CN" sz="2600" b="0" dirty="0">
              <a:latin typeface="Comic Sans MS" panose="030F0702030302020204" pitchFamily="66" charset="0"/>
              <a:ea typeface="宋体" panose="02010600030101010101" pitchFamily="2" charset="-122"/>
              <a:sym typeface="Symbol" panose="05050102010706020507" pitchFamily="18" charset="2"/>
            </a:endParaRPr>
          </a:p>
          <a:p>
            <a:pPr>
              <a:lnSpc>
                <a:spcPct val="200000"/>
              </a:lnSpc>
            </a:pPr>
            <a:r>
              <a:rPr lang="en-US" altLang="zh-CN" sz="2800" b="0" dirty="0">
                <a:latin typeface="Comic Sans MS" panose="030F0702030302020204" pitchFamily="66" charset="0"/>
                <a:ea typeface="宋体" panose="02010600030101010101" pitchFamily="2" charset="-122"/>
                <a:sym typeface="Symbol" panose="05050102010706020507" pitchFamily="18" charset="2"/>
              </a:rPr>
              <a:t>Complicated</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en-US" altLang="zh-CN" sz="2800" b="0" dirty="0">
                <a:latin typeface="Comic Sans MS" panose="030F0702030302020204" pitchFamily="66" charset="0"/>
                <a:ea typeface="宋体" panose="02010600030101010101" pitchFamily="2" charset="-122"/>
                <a:sym typeface="Symbol" panose="05050102010706020507" pitchFamily="18" charset="2"/>
              </a:rPr>
              <a:t>=</a:t>
            </a:r>
            <a:r>
              <a:rPr lang="en-US" altLang="zh-CN" b="0" dirty="0">
                <a:latin typeface="Comic Sans MS" panose="030F0702030302020204" pitchFamily="66" charset="0"/>
                <a:ea typeface="宋体" panose="02010600030101010101" pitchFamily="2" charset="-122"/>
                <a:sym typeface="Symbol" panose="05050102010706020507" pitchFamily="18" charset="2"/>
              </a:rPr>
              <a:t>  </a:t>
            </a:r>
            <a:r>
              <a:rPr lang="en-US" altLang="zh-CN" sz="2600" b="0" dirty="0">
                <a:latin typeface="Comic Sans MS" panose="030F0702030302020204" pitchFamily="66" charset="0"/>
                <a:ea typeface="宋体" panose="02010600030101010101" pitchFamily="2" charset="-122"/>
                <a:sym typeface="Symbol" panose="05050102010706020507" pitchFamily="18" charset="2"/>
              </a:rPr>
              <a:t>not well understood, or explained</a:t>
            </a:r>
            <a:endParaRPr lang="en-US" altLang="zh-CN" sz="2600" b="0" dirty="0">
              <a:latin typeface="Comic Sans MS" panose="030F0702030302020204" pitchFamily="66" charset="0"/>
              <a:ea typeface="宋体" panose="02010600030101010101" pitchFamily="2" charset="-122"/>
              <a:sym typeface="Symbol" panose="05050102010706020507" pitchFamily="18" charset="2"/>
            </a:endParaRPr>
          </a:p>
        </p:txBody>
      </p:sp>
      <p:sp>
        <p:nvSpPr>
          <p:cNvPr id="4" name="Rectangle 2"/>
          <p:cNvSpPr txBox="1">
            <a:spLocks noChangeArrowheads="1"/>
          </p:cNvSpPr>
          <p:nvPr/>
        </p:nvSpPr>
        <p:spPr bwMode="auto">
          <a:xfrm>
            <a:off x="381000" y="152400"/>
            <a:ext cx="8572500" cy="1143000"/>
          </a:xfrm>
          <a:prstGeom prst="rect">
            <a:avLst/>
          </a:prstGeom>
          <a:noFill/>
          <a:ln w="9525">
            <a:noFill/>
            <a:miter lim="800000"/>
          </a:ln>
        </p:spPr>
        <p:txBody>
          <a:bodyPr lIns="0" rIns="0" anchor="ctr"/>
          <a:lstStyle/>
          <a:p>
            <a:pPr marR="0" algn="ctr" defTabSz="914400" eaLnBrk="0" hangingPunct="0">
              <a:buClrTx/>
              <a:buSzTx/>
              <a:buFontTx/>
              <a:buNone/>
              <a:defRPr/>
            </a:pPr>
            <a:r>
              <a:rPr kumimoji="0" lang="en-US" altLang="zh-CN" sz="4000" b="0" kern="0" cap="none" spc="0" normalizeH="0" baseline="0" noProof="0" dirty="0">
                <a:solidFill>
                  <a:schemeClr val="tx2"/>
                </a:solidFill>
                <a:latin typeface="+mj-lt"/>
                <a:ea typeface="宋体" panose="02010600030101010101" pitchFamily="2" charset="-122"/>
                <a:cs typeface="+mj-cs"/>
              </a:rPr>
              <a:t>Introduction: Software is Complex</a:t>
            </a:r>
            <a:endParaRPr kumimoji="0" lang="en-US" altLang="zh-CN" sz="4000" b="0" kern="0" cap="none" spc="0" normalizeH="0" baseline="0" noProof="0" dirty="0">
              <a:solidFill>
                <a:schemeClr val="tx2"/>
              </a:solidFill>
              <a:latin typeface="+mj-lt"/>
              <a:ea typeface="宋体" panose="02010600030101010101" pitchFamily="2" charset="-122"/>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81000" y="0"/>
            <a:ext cx="6600825" cy="1323975"/>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0" i="0" u="none" strike="noStrike" kern="0" cap="none" spc="0" normalizeH="0" baseline="0" noProof="0" dirty="0">
                <a:ln>
                  <a:noFill/>
                </a:ln>
                <a:solidFill>
                  <a:srgbClr val="002060"/>
                </a:solidFill>
                <a:effectLst/>
                <a:uLnTx/>
                <a:uFillTx/>
                <a:latin typeface="+mj-lt"/>
                <a:ea typeface="宋体" panose="02010600030101010101" pitchFamily="2" charset="-122"/>
                <a:cs typeface="+mj-cs"/>
              </a:rPr>
              <a:t>Software Engineering is</a:t>
            </a:r>
            <a:endParaRPr kumimoji="0" lang="en-US" altLang="zh-CN" sz="4000" b="0" i="0" u="none" strike="noStrike" kern="0" cap="none" spc="0" normalizeH="0" baseline="0" noProof="0" dirty="0">
              <a:ln>
                <a:noFill/>
              </a:ln>
              <a:solidFill>
                <a:srgbClr val="002060"/>
              </a:solidFill>
              <a:effectLst/>
              <a:uLnTx/>
              <a:uFillTx/>
              <a:latin typeface="+mj-lt"/>
              <a:ea typeface="宋体" panose="02010600030101010101" pitchFamily="2" charset="-122"/>
              <a:cs typeface="+mj-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000" b="0" i="0" u="none" strike="noStrike" kern="0" cap="none" spc="0" normalizeH="0" baseline="0" noProof="0" dirty="0">
                <a:ln>
                  <a:noFill/>
                </a:ln>
                <a:solidFill>
                  <a:srgbClr val="002060"/>
                </a:solidFill>
                <a:effectLst/>
                <a:uLnTx/>
                <a:uFillTx/>
                <a:latin typeface="+mj-lt"/>
                <a:ea typeface="宋体" panose="02010600030101010101" pitchFamily="2" charset="-122"/>
                <a:cs typeface="+mj-cs"/>
              </a:rPr>
              <a:t>Complex and Complicated</a:t>
            </a:r>
            <a:endParaRPr kumimoji="0" lang="zh-CN" altLang="en-US" sz="4000" b="0" i="0" u="none" strike="noStrike" kern="0" cap="none" spc="0" normalizeH="0" baseline="0" noProof="0" dirty="0">
              <a:ln>
                <a:noFill/>
              </a:ln>
              <a:solidFill>
                <a:srgbClr val="002060"/>
              </a:solidFill>
              <a:effectLst/>
              <a:uLnTx/>
              <a:uFillTx/>
              <a:latin typeface="+mj-lt"/>
              <a:ea typeface="宋体" panose="02010600030101010101" pitchFamily="2" charset="-122"/>
              <a:cs typeface="+mj-cs"/>
            </a:endParaRPr>
          </a:p>
        </p:txBody>
      </p:sp>
      <p:sp>
        <p:nvSpPr>
          <p:cNvPr id="8195" name="矩形 2"/>
          <p:cNvSpPr/>
          <p:nvPr/>
        </p:nvSpPr>
        <p:spPr>
          <a:xfrm>
            <a:off x="152400" y="1905000"/>
            <a:ext cx="8991600" cy="4691063"/>
          </a:xfrm>
          <a:prstGeom prst="rect">
            <a:avLst/>
          </a:prstGeom>
          <a:noFill/>
          <a:ln w="9525">
            <a:noFill/>
          </a:ln>
        </p:spPr>
        <p:txBody>
          <a:bodyPr>
            <a:spAutoFit/>
          </a:bodyPr>
          <a:p>
            <a:pPr marL="457200" indent="-457200">
              <a:lnSpc>
                <a:spcPct val="120000"/>
              </a:lnSpc>
              <a:spcBef>
                <a:spcPts val="1800"/>
              </a:spcBef>
              <a:buAutoNum type="arabicParenR"/>
            </a:pPr>
            <a:r>
              <a:rPr lang="zh-CN" altLang="en-US" sz="2800" b="0" dirty="0">
                <a:solidFill>
                  <a:srgbClr val="0070C0"/>
                </a:solidFill>
                <a:latin typeface="Comic Sans MS" panose="030F0702030302020204" pitchFamily="66" charset="0"/>
                <a:ea typeface="黑体" panose="02010609060101010101" pitchFamily="49" charset="-122"/>
              </a:rPr>
              <a:t>软件规模增长带来要素数量增长，熵增长必然导致混乱（热力学第三定律）</a:t>
            </a:r>
            <a:endParaRPr lang="en-US" altLang="zh-CN" sz="2800" b="0" dirty="0">
              <a:solidFill>
                <a:srgbClr val="0070C0"/>
              </a:solidFill>
              <a:latin typeface="Comic Sans MS" panose="030F0702030302020204" pitchFamily="66" charset="0"/>
              <a:ea typeface="黑体" panose="02010609060101010101" pitchFamily="49" charset="-122"/>
            </a:endParaRPr>
          </a:p>
          <a:p>
            <a:pPr marL="457200" indent="-457200">
              <a:lnSpc>
                <a:spcPct val="120000"/>
              </a:lnSpc>
              <a:spcBef>
                <a:spcPts val="1800"/>
              </a:spcBef>
              <a:buAutoNum type="arabicParenR"/>
            </a:pP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准确定义需求很难（用户通常不知道要什么，只知道不要什么），需求蔓延是软件项目失败的首要原因</a:t>
            </a:r>
            <a:endPar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endParaRPr>
          </a:p>
          <a:p>
            <a:pPr marL="457200" indent="-457200">
              <a:lnSpc>
                <a:spcPct val="120000"/>
              </a:lnSpc>
              <a:spcBef>
                <a:spcPts val="1800"/>
              </a:spcBef>
              <a:buAutoNum type="arabicParenR"/>
            </a:pP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不同的设计可以实现同样的功能</a:t>
            </a:r>
            <a:r>
              <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系统结构</a:t>
            </a:r>
            <a:r>
              <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行为</a:t>
            </a:r>
            <a:r>
              <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a:t>
            </a: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功能的关系），判断一个设计是否是好的设计很难（</a:t>
            </a:r>
            <a:r>
              <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Conway’s law: </a:t>
            </a:r>
            <a:r>
              <a:rPr lang="zh-CN" altLang="en-US"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软件的结构倾向于与开发团队的组织架构具相似性</a:t>
            </a:r>
            <a:r>
              <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rPr>
              <a:t>)</a:t>
            </a:r>
            <a:endParaRPr lang="en-US" altLang="zh-CN" sz="2800" b="0" dirty="0">
              <a:solidFill>
                <a:srgbClr val="0070C0"/>
              </a:solidFill>
              <a:latin typeface="Comic Sans MS" panose="030F0702030302020204" pitchFamily="66" charset="0"/>
              <a:ea typeface="黑体" panose="02010609060101010101" pitchFamily="49" charset="-122"/>
              <a:sym typeface="Symbol" panose="05050102010706020507" pitchFamily="18" charset="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9218" name="Picture 3"/>
          <p:cNvPicPr>
            <a:picLocks noChangeAspect="1"/>
          </p:cNvPicPr>
          <p:nvPr/>
        </p:nvPicPr>
        <p:blipFill>
          <a:blip r:embed="rId1"/>
          <a:stretch>
            <a:fillRect/>
          </a:stretch>
        </p:blipFill>
        <p:spPr>
          <a:xfrm>
            <a:off x="2286000" y="609600"/>
            <a:ext cx="4648200" cy="1657350"/>
          </a:xfrm>
          <a:prstGeom prst="rect">
            <a:avLst/>
          </a:prstGeom>
          <a:noFill/>
          <a:ln w="9525">
            <a:noFill/>
          </a:ln>
        </p:spPr>
      </p:pic>
      <p:pic>
        <p:nvPicPr>
          <p:cNvPr id="1029" name="Picture 5"/>
          <p:cNvPicPr>
            <a:picLocks noChangeAspect="1"/>
          </p:cNvPicPr>
          <p:nvPr/>
        </p:nvPicPr>
        <p:blipFill>
          <a:blip r:embed="rId2"/>
          <a:stretch>
            <a:fillRect/>
          </a:stretch>
        </p:blipFill>
        <p:spPr>
          <a:xfrm>
            <a:off x="3200400" y="4953000"/>
            <a:ext cx="2600325" cy="1123950"/>
          </a:xfrm>
          <a:prstGeom prst="rect">
            <a:avLst/>
          </a:prstGeom>
          <a:noFill/>
          <a:ln w="9525">
            <a:noFill/>
          </a:ln>
        </p:spPr>
      </p:pic>
      <p:pic>
        <p:nvPicPr>
          <p:cNvPr id="1030" name="Picture 6"/>
          <p:cNvPicPr>
            <a:picLocks noChangeAspect="1"/>
          </p:cNvPicPr>
          <p:nvPr/>
        </p:nvPicPr>
        <p:blipFill>
          <a:blip r:embed="rId3"/>
          <a:stretch>
            <a:fillRect/>
          </a:stretch>
        </p:blipFill>
        <p:spPr>
          <a:xfrm>
            <a:off x="2857500" y="2843213"/>
            <a:ext cx="3429000" cy="1171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blinds(horizontal)">
                                      <p:cBhvr>
                                        <p:cTn id="7" dur="500"/>
                                        <p:tgtEl>
                                          <p:spTgt spid="10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9"/>
                                        </p:tgtEl>
                                        <p:attrNameLst>
                                          <p:attrName>style.visibility</p:attrName>
                                        </p:attrNameLst>
                                      </p:cBhvr>
                                      <p:to>
                                        <p:strVal val="visible"/>
                                      </p:to>
                                    </p:set>
                                    <p:animEffect transition="in" filter="blinds(horizontal)">
                                      <p:cBhvr>
                                        <p:cTn id="12" dur="5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1" cstate="print"/>
          <a:srcRect/>
          <a:stretch>
            <a:fillRect/>
          </a:stretch>
        </p:blipFill>
        <p:spPr bwMode="auto">
          <a:xfrm>
            <a:off x="3312000" y="3048010"/>
            <a:ext cx="2362200" cy="847725"/>
          </a:xfrm>
          <a:prstGeom prst="rect">
            <a:avLst/>
          </a:prstGeom>
          <a:noFill/>
          <a:ln w="9525">
            <a:noFill/>
            <a:miter lim="800000"/>
            <a:headEnd/>
            <a:tailEnd/>
          </a:ln>
        </p:spPr>
      </p:pic>
      <p:pic>
        <p:nvPicPr>
          <p:cNvPr id="3077" name="Picture 5"/>
          <p:cNvPicPr>
            <a:picLocks noChangeAspect="1" noChangeArrowheads="1"/>
          </p:cNvPicPr>
          <p:nvPr/>
        </p:nvPicPr>
        <p:blipFill>
          <a:blip r:embed="rId2" cstate="print"/>
          <a:srcRect/>
          <a:stretch>
            <a:fillRect/>
          </a:stretch>
        </p:blipFill>
        <p:spPr bwMode="auto">
          <a:xfrm>
            <a:off x="3429030" y="1371654"/>
            <a:ext cx="2324100" cy="771525"/>
          </a:xfrm>
          <a:prstGeom prst="rect">
            <a:avLst/>
          </a:prstGeom>
          <a:noFill/>
          <a:ln w="9525">
            <a:noFill/>
            <a:miter lim="800000"/>
            <a:headEnd/>
            <a:tailEnd/>
          </a:ln>
        </p:spPr>
      </p:pic>
      <p:pic>
        <p:nvPicPr>
          <p:cNvPr id="3078" name="Picture 6"/>
          <p:cNvPicPr>
            <a:picLocks noChangeAspect="1" noChangeArrowheads="1"/>
          </p:cNvPicPr>
          <p:nvPr/>
        </p:nvPicPr>
        <p:blipFill>
          <a:blip r:embed="rId3" cstate="print"/>
          <a:srcRect/>
          <a:stretch>
            <a:fillRect/>
          </a:stretch>
        </p:blipFill>
        <p:spPr bwMode="auto">
          <a:xfrm>
            <a:off x="3780000" y="4571970"/>
            <a:ext cx="2286000" cy="5810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blinds(horizontal)">
                                      <p:cBhvr>
                                        <p:cTn id="7" dur="500"/>
                                        <p:tgtEl>
                                          <p:spTgt spid="30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8"/>
                                        </p:tgtEl>
                                        <p:attrNameLst>
                                          <p:attrName>style.visibility</p:attrName>
                                        </p:attrNameLst>
                                      </p:cBhvr>
                                      <p:to>
                                        <p:strVal val="visible"/>
                                      </p:to>
                                    </p:set>
                                    <p:animEffect transition="in" filter="blinds(horizontal)">
                                      <p:cBhvr>
                                        <p:cTn id="12" dur="5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2051" name="Picture 3"/>
          <p:cNvPicPr>
            <a:picLocks noChangeAspect="1"/>
          </p:cNvPicPr>
          <p:nvPr/>
        </p:nvPicPr>
        <p:blipFill>
          <a:blip r:embed="rId1"/>
          <a:stretch>
            <a:fillRect/>
          </a:stretch>
        </p:blipFill>
        <p:spPr>
          <a:xfrm>
            <a:off x="3962400" y="3733800"/>
            <a:ext cx="4857750" cy="2819400"/>
          </a:xfrm>
          <a:prstGeom prst="rect">
            <a:avLst/>
          </a:prstGeom>
          <a:noFill/>
          <a:ln w="9525" cap="flat" cmpd="sng">
            <a:solidFill>
              <a:schemeClr val="accent1"/>
            </a:solidFill>
            <a:prstDash val="solid"/>
            <a:miter/>
            <a:headEnd type="none" w="med" len="med"/>
            <a:tailEnd type="none" w="med" len="med"/>
          </a:ln>
        </p:spPr>
      </p:pic>
      <p:pic>
        <p:nvPicPr>
          <p:cNvPr id="10243" name="Picture 4"/>
          <p:cNvPicPr>
            <a:picLocks noChangeAspect="1"/>
          </p:cNvPicPr>
          <p:nvPr/>
        </p:nvPicPr>
        <p:blipFill>
          <a:blip r:embed="rId2"/>
          <a:stretch>
            <a:fillRect/>
          </a:stretch>
        </p:blipFill>
        <p:spPr>
          <a:xfrm>
            <a:off x="457200" y="381000"/>
            <a:ext cx="4629150" cy="2743200"/>
          </a:xfrm>
          <a:prstGeom prst="rect">
            <a:avLst/>
          </a:prstGeom>
          <a:noFill/>
          <a:ln w="9525" cap="flat" cmpd="sng">
            <a:solidFill>
              <a:schemeClr val="accent1"/>
            </a:solidFill>
            <a:prstDash val="solid"/>
            <a:miter/>
            <a:headEnd type="none" w="med" len="med"/>
            <a:tailEnd type="none" w="med" len="med"/>
          </a:ln>
        </p:spPr>
      </p:pic>
      <p:sp>
        <p:nvSpPr>
          <p:cNvPr id="2" name="文本框 1"/>
          <p:cNvSpPr txBox="1"/>
          <p:nvPr/>
        </p:nvSpPr>
        <p:spPr>
          <a:xfrm>
            <a:off x="457200" y="4502150"/>
            <a:ext cx="2924175" cy="1463675"/>
          </a:xfrm>
          <a:prstGeom prst="rect">
            <a:avLst/>
          </a:prstGeom>
          <a:noFill/>
        </p:spPr>
        <p:txBody>
          <a:bodyPr wrap="square" rtlCol="0">
            <a:noAutofit/>
          </a:bodyPr>
          <a:p>
            <a:pPr>
              <a:lnSpc>
                <a:spcPct val="120000"/>
              </a:lnSpc>
            </a:pPr>
            <a:r>
              <a:rPr lang="en-US" altLang="zh-CN">
                <a:solidFill>
                  <a:srgbClr val="C00000"/>
                </a:solidFill>
                <a:latin typeface="Calibri" panose="020F0502020204030204" pitchFamily="34" charset="0"/>
                <a:cs typeface="Calibri" panose="020F0502020204030204" pitchFamily="34" charset="0"/>
              </a:rPr>
              <a:t>2 Key points:</a:t>
            </a:r>
            <a:endParaRPr lang="en-US" altLang="zh-CN">
              <a:solidFill>
                <a:srgbClr val="C00000"/>
              </a:solidFill>
              <a:latin typeface="Calibri" panose="020F0502020204030204" pitchFamily="34" charset="0"/>
              <a:cs typeface="Calibri" panose="020F0502020204030204" pitchFamily="34" charset="0"/>
            </a:endParaRPr>
          </a:p>
          <a:p>
            <a:pPr>
              <a:lnSpc>
                <a:spcPct val="120000"/>
              </a:lnSpc>
            </a:pPr>
            <a:r>
              <a:rPr lang="en-US" altLang="zh-CN">
                <a:solidFill>
                  <a:srgbClr val="C00000"/>
                </a:solidFill>
                <a:latin typeface="Calibri" panose="020F0502020204030204" pitchFamily="34" charset="0"/>
                <a:cs typeface="Calibri" panose="020F0502020204030204" pitchFamily="34" charset="0"/>
              </a:rPr>
              <a:t>What does it mean?</a:t>
            </a:r>
            <a:endParaRPr lang="en-US" altLang="zh-CN">
              <a:solidFill>
                <a:srgbClr val="C00000"/>
              </a:solidFill>
              <a:latin typeface="Calibri" panose="020F0502020204030204" pitchFamily="34" charset="0"/>
              <a:cs typeface="Calibri" panose="020F0502020204030204" pitchFamily="34" charset="0"/>
            </a:endParaRPr>
          </a:p>
          <a:p>
            <a:pPr>
              <a:lnSpc>
                <a:spcPct val="120000"/>
              </a:lnSpc>
            </a:pPr>
            <a:r>
              <a:rPr lang="en-US" altLang="zh-CN">
                <a:solidFill>
                  <a:srgbClr val="C00000"/>
                </a:solidFill>
                <a:latin typeface="Calibri" panose="020F0502020204030204" pitchFamily="34" charset="0"/>
                <a:cs typeface="Calibri" panose="020F0502020204030204" pitchFamily="34" charset="0"/>
              </a:rPr>
              <a:t>What really matters?</a:t>
            </a:r>
            <a:endParaRPr lang="en-US" altLang="zh-CN">
              <a:solidFill>
                <a:srgbClr val="C00000"/>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500" fill="hold"/>
                                        <p:tgtEl>
                                          <p:spTgt spid="2051"/>
                                        </p:tgtEl>
                                        <p:attrNameLst>
                                          <p:attrName>ppt_x</p:attrName>
                                        </p:attrNameLst>
                                      </p:cBhvr>
                                      <p:tavLst>
                                        <p:tav tm="0">
                                          <p:val>
                                            <p:strVal val="#ppt_x"/>
                                          </p:val>
                                        </p:tav>
                                        <p:tav tm="100000">
                                          <p:val>
                                            <p:strVal val="#ppt_x"/>
                                          </p:val>
                                        </p:tav>
                                      </p:tavLst>
                                    </p:anim>
                                    <p:anim calcmode="lin" valueType="num">
                                      <p:cBhvr additive="base">
                                        <p:cTn id="8"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11266" name="Rectangle 3"/>
          <p:cNvSpPr>
            <a:spLocks noGrp="1"/>
          </p:cNvSpPr>
          <p:nvPr>
            <p:ph type="body"/>
          </p:nvPr>
        </p:nvSpPr>
        <p:spPr>
          <a:xfrm>
            <a:off x="457200" y="2787650"/>
            <a:ext cx="3276600" cy="3917950"/>
          </a:xfrm>
        </p:spPr>
        <p:txBody>
          <a:bodyPr vert="horz" wrap="square" lIns="91440" tIns="45720" rIns="91440" bIns="45720" anchor="t" anchorCtr="0"/>
          <a:p>
            <a:pPr eaLnBrk="1" hangingPunct="1"/>
            <a:r>
              <a:rPr lang="zh-CN" altLang="en-US" sz="1800" dirty="0">
                <a:latin typeface="Calibri" panose="020F0502020204030204" pitchFamily="34" charset="0"/>
                <a:ea typeface="黑体" panose="02010609060101010101" pitchFamily="49" charset="-122"/>
              </a:rPr>
              <a:t> </a:t>
            </a:r>
            <a:r>
              <a:rPr lang="zh-CN" altLang="en-US" sz="2200" dirty="0">
                <a:latin typeface="Calibri" panose="020F0502020204030204" pitchFamily="34" charset="0"/>
                <a:ea typeface="黑体" panose="02010609060101010101" pitchFamily="49" charset="-122"/>
              </a:rPr>
              <a:t>批判性思维</a:t>
            </a:r>
            <a:endParaRPr lang="zh-CN" altLang="en-US" sz="2200" dirty="0">
              <a:latin typeface="Calibri" panose="020F0502020204030204" pitchFamily="34" charset="0"/>
              <a:ea typeface="黑体" panose="02010609060101010101" pitchFamily="49" charset="-122"/>
            </a:endParaRPr>
          </a:p>
          <a:p>
            <a:pPr marL="0" indent="0" eaLnBrk="1" hangingPunct="1">
              <a:buNone/>
            </a:pPr>
            <a:r>
              <a:rPr lang="en-US" altLang="zh-CN" sz="2200" dirty="0">
                <a:latin typeface="Calibri" panose="020F0502020204030204" pitchFamily="34" charset="0"/>
                <a:ea typeface="黑体" panose="02010609060101010101" pitchFamily="49" charset="-122"/>
              </a:rPr>
              <a:t>      </a:t>
            </a:r>
            <a:r>
              <a:rPr lang="zh-CN" altLang="en-US" sz="2200" dirty="0">
                <a:solidFill>
                  <a:srgbClr val="C00000"/>
                </a:solidFill>
                <a:latin typeface="Calibri" panose="020F0502020204030204" pitchFamily="34" charset="0"/>
                <a:ea typeface="黑体" panose="02010609060101010101" pitchFamily="49" charset="-122"/>
              </a:rPr>
              <a:t>审辨性思考</a:t>
            </a:r>
            <a:endParaRPr lang="en-US" altLang="zh-CN" sz="2200" dirty="0">
              <a:latin typeface="Calibri" panose="020F0502020204030204" pitchFamily="34" charset="0"/>
              <a:ea typeface="黑体" panose="02010609060101010101" pitchFamily="49" charset="-122"/>
            </a:endParaRPr>
          </a:p>
          <a:p>
            <a:pPr eaLnBrk="1" hangingPunct="1">
              <a:buNone/>
            </a:pPr>
            <a:r>
              <a:rPr lang="zh-CN" altLang="en-US" sz="2200" dirty="0">
                <a:latin typeface="Calibri" panose="020F0502020204030204" pitchFamily="34" charset="0"/>
                <a:ea typeface="黑体" panose="02010609060101010101" pitchFamily="49" charset="-122"/>
              </a:rPr>
              <a:t>     </a:t>
            </a:r>
            <a:r>
              <a:rPr lang="en-US" altLang="zh-CN" sz="2200" dirty="0">
                <a:latin typeface="Calibri" panose="020F0502020204030204" pitchFamily="34" charset="0"/>
                <a:ea typeface="黑体" panose="02010609060101010101" pitchFamily="49" charset="-122"/>
              </a:rPr>
              <a:t> </a:t>
            </a:r>
            <a:r>
              <a:rPr lang="zh-CN" altLang="en-US" sz="2200" dirty="0">
                <a:solidFill>
                  <a:srgbClr val="00B050"/>
                </a:solidFill>
                <a:latin typeface="Calibri" panose="020F0502020204030204" pitchFamily="34" charset="0"/>
                <a:ea typeface="黑体" panose="02010609060101010101" pitchFamily="49" charset="-122"/>
              </a:rPr>
              <a:t>关键性思考</a:t>
            </a:r>
            <a:endParaRPr lang="en-US" altLang="zh-CN" sz="2200" dirty="0">
              <a:solidFill>
                <a:srgbClr val="00B050"/>
              </a:solidFill>
              <a:latin typeface="Calibri" panose="020F0502020204030204" pitchFamily="34" charset="0"/>
              <a:ea typeface="黑体" panose="02010609060101010101" pitchFamily="49" charset="-122"/>
            </a:endParaRPr>
          </a:p>
          <a:p>
            <a:pPr eaLnBrk="1" hangingPunct="1">
              <a:buNone/>
            </a:pPr>
            <a:r>
              <a:rPr lang="zh-CN" altLang="en-US" sz="2200" dirty="0">
                <a:solidFill>
                  <a:srgbClr val="00B050"/>
                </a:solidFill>
                <a:latin typeface="Calibri" panose="020F0502020204030204" pitchFamily="34" charset="0"/>
                <a:ea typeface="黑体" panose="02010609060101010101" pitchFamily="49" charset="-122"/>
              </a:rPr>
              <a:t>     </a:t>
            </a:r>
            <a:r>
              <a:rPr lang="en-US" altLang="zh-CN" sz="2200" dirty="0">
                <a:solidFill>
                  <a:srgbClr val="00B050"/>
                </a:solidFill>
                <a:latin typeface="Calibri" panose="020F0502020204030204" pitchFamily="34" charset="0"/>
                <a:ea typeface="黑体" panose="02010609060101010101" pitchFamily="49" charset="-122"/>
              </a:rPr>
              <a:t> </a:t>
            </a:r>
            <a:r>
              <a:rPr lang="zh-CN" altLang="en-US" sz="2200" dirty="0">
                <a:solidFill>
                  <a:srgbClr val="00B050"/>
                </a:solidFill>
                <a:latin typeface="Calibri" panose="020F0502020204030204" pitchFamily="34" charset="0"/>
                <a:ea typeface="黑体" panose="02010609060101010101" pitchFamily="49" charset="-122"/>
              </a:rPr>
              <a:t>建设性思考</a:t>
            </a:r>
            <a:endParaRPr lang="en-US" altLang="zh-CN" sz="2200" dirty="0">
              <a:latin typeface="Calibri" panose="020F0502020204030204" pitchFamily="34" charset="0"/>
              <a:ea typeface="黑体" panose="02010609060101010101" pitchFamily="49" charset="-122"/>
            </a:endParaRPr>
          </a:p>
          <a:p>
            <a:pPr eaLnBrk="1" latinLnBrk="0" hangingPunct="1">
              <a:lnSpc>
                <a:spcPct val="150000"/>
              </a:lnSpc>
              <a:spcBef>
                <a:spcPts val="600"/>
              </a:spcBef>
            </a:pPr>
            <a:r>
              <a:rPr lang="en-US" altLang="zh-CN" sz="2200" dirty="0">
                <a:latin typeface="Calibri" panose="020F0502020204030204" pitchFamily="34" charset="0"/>
                <a:ea typeface="黑体" panose="02010609060101010101" pitchFamily="49" charset="-122"/>
              </a:rPr>
              <a:t> Critical Observing: </a:t>
            </a:r>
            <a:endParaRPr lang="en-US" altLang="zh-CN" sz="2200" dirty="0">
              <a:latin typeface="Calibri" panose="020F0502020204030204" pitchFamily="34" charset="0"/>
              <a:ea typeface="黑体" panose="02010609060101010101" pitchFamily="49" charset="-122"/>
            </a:endParaRPr>
          </a:p>
          <a:p>
            <a:pPr eaLnBrk="1" hangingPunct="1">
              <a:buNone/>
            </a:pPr>
            <a:r>
              <a:rPr lang="en-US" altLang="zh-CN" sz="2200" dirty="0">
                <a:latin typeface="Calibri" panose="020F0502020204030204" pitchFamily="34" charset="0"/>
                <a:ea typeface="黑体" panose="02010609060101010101" pitchFamily="49" charset="-122"/>
              </a:rPr>
              <a:t>      </a:t>
            </a:r>
            <a:r>
              <a:rPr lang="zh-CN" altLang="en-US" sz="2200" dirty="0">
                <a:solidFill>
                  <a:srgbClr val="00B0F0"/>
                </a:solidFill>
                <a:latin typeface="Calibri" panose="020F0502020204030204" pitchFamily="34" charset="0"/>
                <a:ea typeface="黑体" panose="02010609060101010101" pitchFamily="49" charset="-122"/>
              </a:rPr>
              <a:t>建设性观察</a:t>
            </a:r>
            <a:endParaRPr lang="en-US" altLang="zh-CN" sz="2200" dirty="0">
              <a:solidFill>
                <a:srgbClr val="00B0F0"/>
              </a:solidFill>
              <a:latin typeface="Calibri" panose="020F0502020204030204" pitchFamily="34" charset="0"/>
              <a:ea typeface="黑体" panose="02010609060101010101" pitchFamily="49" charset="-122"/>
            </a:endParaRPr>
          </a:p>
          <a:p>
            <a:pPr eaLnBrk="1" latinLnBrk="0" hangingPunct="1">
              <a:lnSpc>
                <a:spcPct val="150000"/>
              </a:lnSpc>
              <a:spcBef>
                <a:spcPts val="0"/>
              </a:spcBef>
            </a:pPr>
            <a:r>
              <a:rPr lang="zh-CN" altLang="en-US" sz="1600" dirty="0">
                <a:solidFill>
                  <a:srgbClr val="7878DE"/>
                </a:solidFill>
                <a:latin typeface="Calibri" panose="020F0502020204030204" pitchFamily="34" charset="0"/>
                <a:ea typeface="黑体" panose="02010609060101010101" pitchFamily="49" charset="-122"/>
              </a:rPr>
              <a:t>  </a:t>
            </a:r>
            <a:r>
              <a:rPr lang="zh-CN" altLang="en-US" sz="2200" dirty="0">
                <a:solidFill>
                  <a:srgbClr val="2D2DB9"/>
                </a:solidFill>
                <a:latin typeface="Calibri" panose="020F0502020204030204" pitchFamily="34" charset="0"/>
                <a:ea typeface="黑体" panose="02010609060101010101" pitchFamily="49" charset="-122"/>
              </a:rPr>
              <a:t>系统化认知问题 </a:t>
            </a:r>
            <a:r>
              <a:rPr lang="zh-CN" altLang="en-US" sz="2200" dirty="0">
                <a:latin typeface="Calibri" panose="020F0502020204030204" pitchFamily="34" charset="0"/>
                <a:ea typeface="黑体" panose="02010609060101010101" pitchFamily="49" charset="-122"/>
              </a:rPr>
              <a:t>与</a:t>
            </a:r>
            <a:endParaRPr lang="en-US" altLang="zh-CN" sz="2200" dirty="0">
              <a:latin typeface="Calibri" panose="020F0502020204030204" pitchFamily="34" charset="0"/>
              <a:ea typeface="黑体" panose="02010609060101010101" pitchFamily="49" charset="-122"/>
            </a:endParaRPr>
          </a:p>
          <a:p>
            <a:pPr eaLnBrk="1" hangingPunct="1">
              <a:buNone/>
            </a:pPr>
            <a:r>
              <a:rPr lang="en-US" altLang="zh-CN" sz="2200" dirty="0">
                <a:solidFill>
                  <a:srgbClr val="00B0F0"/>
                </a:solidFill>
                <a:latin typeface="Calibri" panose="020F0502020204030204" pitchFamily="34" charset="0"/>
                <a:ea typeface="黑体" panose="02010609060101010101" pitchFamily="49" charset="-122"/>
              </a:rPr>
              <a:t>       </a:t>
            </a:r>
            <a:r>
              <a:rPr lang="zh-CN" altLang="en-US" sz="2200" dirty="0">
                <a:solidFill>
                  <a:srgbClr val="00B0F0"/>
                </a:solidFill>
                <a:latin typeface="Calibri" panose="020F0502020204030204" pitchFamily="34" charset="0"/>
                <a:ea typeface="黑体" panose="02010609060101010101" pitchFamily="49" charset="-122"/>
              </a:rPr>
              <a:t>构建解决方案</a:t>
            </a:r>
            <a:r>
              <a:rPr lang="zh-CN" altLang="en-US" sz="2200" dirty="0">
                <a:latin typeface="Calibri" panose="020F0502020204030204" pitchFamily="34" charset="0"/>
                <a:ea typeface="黑体" panose="02010609060101010101" pitchFamily="49" charset="-122"/>
              </a:rPr>
              <a:t>的能力</a:t>
            </a:r>
            <a:endParaRPr lang="zh-CN" altLang="zh-CN" sz="2200" dirty="0">
              <a:latin typeface="Calibri" panose="020F0502020204030204" pitchFamily="34" charset="0"/>
              <a:ea typeface="宋体" panose="02010600030101010101" pitchFamily="2" charset="-122"/>
            </a:endParaRPr>
          </a:p>
        </p:txBody>
      </p:sp>
      <p:pic>
        <p:nvPicPr>
          <p:cNvPr id="11267" name="Picture 2"/>
          <p:cNvPicPr>
            <a:picLocks noChangeAspect="1"/>
          </p:cNvPicPr>
          <p:nvPr/>
        </p:nvPicPr>
        <p:blipFill>
          <a:blip r:embed="rId1"/>
          <a:stretch>
            <a:fillRect/>
          </a:stretch>
        </p:blipFill>
        <p:spPr>
          <a:xfrm>
            <a:off x="0" y="0"/>
            <a:ext cx="4152900" cy="2438400"/>
          </a:xfrm>
          <a:prstGeom prst="rect">
            <a:avLst/>
          </a:prstGeom>
          <a:noFill/>
          <a:ln w="9525">
            <a:noFill/>
          </a:ln>
        </p:spPr>
      </p:pic>
      <p:sp>
        <p:nvSpPr>
          <p:cNvPr id="50177" name="Rectangle 1"/>
          <p:cNvSpPr/>
          <p:nvPr/>
        </p:nvSpPr>
        <p:spPr>
          <a:xfrm>
            <a:off x="4648200" y="277813"/>
            <a:ext cx="4038600" cy="6078537"/>
          </a:xfrm>
          <a:prstGeom prst="rect">
            <a:avLst/>
          </a:prstGeom>
          <a:noFill/>
          <a:ln w="9525">
            <a:noFill/>
          </a:ln>
        </p:spPr>
        <p:txBody>
          <a:bodyPr anchor="ctr" anchorCtr="0">
            <a:spAutoFit/>
          </a:bodyPr>
          <a:p>
            <a:pPr>
              <a:spcBef>
                <a:spcPts val="1800"/>
              </a:spcBef>
              <a:buNone/>
            </a:pPr>
            <a:r>
              <a:rPr lang="zh-CN" altLang="zh-CN" sz="3200" dirty="0">
                <a:solidFill>
                  <a:srgbClr val="00B0F0"/>
                </a:solidFill>
                <a:latin typeface="Calibri" panose="020F0502020204030204" pitchFamily="34" charset="0"/>
                <a:ea typeface="宋体" panose="02010600030101010101" pitchFamily="2" charset="-122"/>
              </a:rPr>
              <a:t>Critical thinking </a:t>
            </a:r>
            <a:r>
              <a:rPr lang="zh-CN" altLang="zh-CN" b="0" dirty="0">
                <a:latin typeface="Calibri" panose="020F0502020204030204" pitchFamily="34" charset="0"/>
                <a:ea typeface="宋体" panose="02010600030101010101" pitchFamily="2" charset="-122"/>
              </a:rPr>
              <a:t>is </a:t>
            </a:r>
            <a:endParaRPr lang="en-US" altLang="zh-CN" b="0" dirty="0">
              <a:latin typeface="Calibri" panose="020F0502020204030204" pitchFamily="34" charset="0"/>
              <a:ea typeface="宋体" panose="02010600030101010101" pitchFamily="2" charset="-122"/>
            </a:endParaRPr>
          </a:p>
          <a:p>
            <a:pPr>
              <a:buNone/>
            </a:pPr>
            <a:r>
              <a:rPr lang="zh-CN" altLang="zh-CN" b="0" dirty="0">
                <a:solidFill>
                  <a:srgbClr val="0070C0"/>
                </a:solidFill>
                <a:latin typeface="Calibri" panose="020F0502020204030204" pitchFamily="34" charset="0"/>
                <a:ea typeface="宋体" panose="02010600030101010101" pitchFamily="2" charset="-122"/>
              </a:rPr>
              <a:t>a mental process involving the evaluation of arguments or statements to determine whether they are valid, accurate, or logical</a:t>
            </a:r>
            <a:r>
              <a:rPr lang="zh-CN" altLang="zh-CN" b="0" dirty="0">
                <a:latin typeface="Calibri" panose="020F0502020204030204" pitchFamily="34" charset="0"/>
                <a:ea typeface="宋体" panose="02010600030101010101" pitchFamily="2" charset="-122"/>
              </a:rPr>
              <a:t>. </a:t>
            </a:r>
            <a:endParaRPr lang="en-US" altLang="zh-CN" b="0" dirty="0">
              <a:latin typeface="Calibri" panose="020F0502020204030204" pitchFamily="34" charset="0"/>
              <a:ea typeface="宋体" panose="02010600030101010101" pitchFamily="2" charset="-122"/>
            </a:endParaRPr>
          </a:p>
          <a:p>
            <a:pPr>
              <a:spcBef>
                <a:spcPts val="1800"/>
              </a:spcBef>
              <a:buNone/>
            </a:pPr>
            <a:r>
              <a:rPr lang="zh-CN" altLang="zh-CN" b="0" dirty="0">
                <a:latin typeface="Calibri" panose="020F0502020204030204" pitchFamily="34" charset="0"/>
                <a:ea typeface="宋体" panose="02010600030101010101" pitchFamily="2" charset="-122"/>
              </a:rPr>
              <a:t>It involves the ability to </a:t>
            </a:r>
            <a:r>
              <a:rPr lang="zh-CN" altLang="zh-CN" b="0" dirty="0">
                <a:solidFill>
                  <a:srgbClr val="0070C0"/>
                </a:solidFill>
                <a:latin typeface="Calibri" panose="020F0502020204030204" pitchFamily="34" charset="0"/>
                <a:ea typeface="宋体" panose="02010600030101010101" pitchFamily="2" charset="-122"/>
              </a:rPr>
              <a:t>think analytically, identify and assess arguments, draw conclusions, and make decisions</a:t>
            </a:r>
            <a:r>
              <a:rPr lang="zh-CN" altLang="zh-CN" b="0" dirty="0">
                <a:latin typeface="Calibri" panose="020F0502020204030204" pitchFamily="34" charset="0"/>
                <a:ea typeface="宋体" panose="02010600030101010101" pitchFamily="2" charset="-122"/>
              </a:rPr>
              <a:t>. </a:t>
            </a:r>
            <a:endParaRPr lang="en-US" altLang="zh-CN" b="0" dirty="0">
              <a:latin typeface="Calibri" panose="020F0502020204030204" pitchFamily="34" charset="0"/>
              <a:ea typeface="宋体" panose="02010600030101010101" pitchFamily="2" charset="-122"/>
            </a:endParaRPr>
          </a:p>
          <a:p>
            <a:pPr>
              <a:spcBef>
                <a:spcPts val="1800"/>
              </a:spcBef>
              <a:buNone/>
            </a:pPr>
            <a:r>
              <a:rPr lang="zh-CN" altLang="zh-CN" b="0" dirty="0">
                <a:latin typeface="Calibri" panose="020F0502020204030204" pitchFamily="34" charset="0"/>
                <a:ea typeface="宋体" panose="02010600030101010101" pitchFamily="2" charset="-122"/>
              </a:rPr>
              <a:t>Critical thinking is essential in many areas, such as </a:t>
            </a:r>
            <a:r>
              <a:rPr lang="zh-CN" altLang="zh-CN" b="0" dirty="0">
                <a:solidFill>
                  <a:srgbClr val="0070C0"/>
                </a:solidFill>
                <a:latin typeface="Calibri" panose="020F0502020204030204" pitchFamily="34" charset="0"/>
                <a:ea typeface="宋体" panose="02010600030101010101" pitchFamily="2" charset="-122"/>
              </a:rPr>
              <a:t>problem-solving, decision-making, creativity, and research</a:t>
            </a:r>
            <a:r>
              <a:rPr lang="zh-CN" altLang="zh-CN" b="0" dirty="0">
                <a:latin typeface="Calibri" panose="020F0502020204030204" pitchFamily="34" charset="0"/>
                <a:ea typeface="宋体" panose="02010600030101010101" pitchFamily="2" charset="-122"/>
              </a:rPr>
              <a:t>. </a:t>
            </a:r>
            <a:endParaRPr lang="zh-CN" altLang="zh-CN" b="0" dirty="0">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77">
                                            <p:txEl>
                                              <p:charRg st="0" end="22"/>
                                            </p:txEl>
                                          </p:spTgt>
                                        </p:tgtEl>
                                        <p:attrNameLst>
                                          <p:attrName>style.visibility</p:attrName>
                                        </p:attrNameLst>
                                      </p:cBhvr>
                                      <p:to>
                                        <p:strVal val="visible"/>
                                      </p:to>
                                    </p:set>
                                    <p:animEffect transition="in" filter="fade">
                                      <p:cBhvr>
                                        <p:cTn id="7" dur="2000"/>
                                        <p:tgtEl>
                                          <p:spTgt spid="50177">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7">
                                            <p:txEl>
                                              <p:charRg st="22" end="151"/>
                                            </p:txEl>
                                          </p:spTgt>
                                        </p:tgtEl>
                                        <p:attrNameLst>
                                          <p:attrName>style.visibility</p:attrName>
                                        </p:attrNameLst>
                                      </p:cBhvr>
                                      <p:to>
                                        <p:strVal val="visible"/>
                                      </p:to>
                                    </p:set>
                                    <p:animEffect transition="in" filter="fade">
                                      <p:cBhvr>
                                        <p:cTn id="12" dur="2000"/>
                                        <p:tgtEl>
                                          <p:spTgt spid="50177">
                                            <p:txEl>
                                              <p:charRg st="22" end="15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0177">
                                            <p:txEl>
                                              <p:charRg st="151" end="268"/>
                                            </p:txEl>
                                          </p:spTgt>
                                        </p:tgtEl>
                                        <p:attrNameLst>
                                          <p:attrName>style.visibility</p:attrName>
                                        </p:attrNameLst>
                                      </p:cBhvr>
                                      <p:to>
                                        <p:strVal val="visible"/>
                                      </p:to>
                                    </p:set>
                                    <p:animEffect transition="in" filter="fade">
                                      <p:cBhvr>
                                        <p:cTn id="15" dur="2000"/>
                                        <p:tgtEl>
                                          <p:spTgt spid="50177">
                                            <p:txEl>
                                              <p:charRg st="151" end="268"/>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0177">
                                            <p:txEl>
                                              <p:charRg st="268" end="383"/>
                                            </p:txEl>
                                          </p:spTgt>
                                        </p:tgtEl>
                                        <p:attrNameLst>
                                          <p:attrName>style.visibility</p:attrName>
                                        </p:attrNameLst>
                                      </p:cBhvr>
                                      <p:to>
                                        <p:strVal val="visible"/>
                                      </p:to>
                                    </p:set>
                                    <p:animEffect transition="in" filter="fade">
                                      <p:cBhvr>
                                        <p:cTn id="18" dur="2000"/>
                                        <p:tgtEl>
                                          <p:spTgt spid="50177">
                                            <p:txEl>
                                              <p:charRg st="268" end="3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7"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0" y="133985"/>
            <a:ext cx="9144000" cy="65385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0" tIns="45720" rIns="0" bIns="45720" anchor="ctr" anchorCtr="0"/>
          <a:p>
            <a:pPr eaLnBrk="1" hangingPunct="1"/>
            <a:r>
              <a:rPr lang="en-US" altLang="zh-CN" sz="4000" dirty="0">
                <a:ea typeface="宋体" panose="02010600030101010101" pitchFamily="2" charset="-122"/>
              </a:rPr>
              <a:t>Complexity Example:</a:t>
            </a:r>
            <a:br>
              <a:rPr lang="en-US" altLang="zh-CN" sz="4000" dirty="0">
                <a:ea typeface="宋体" panose="02010600030101010101" pitchFamily="2" charset="-122"/>
              </a:rPr>
            </a:br>
            <a:r>
              <a:rPr lang="en-US" altLang="zh-CN" sz="3600" dirty="0">
                <a:ea typeface="宋体" panose="02010600030101010101" pitchFamily="2" charset="-122"/>
              </a:rPr>
              <a:t>Scheduling Fence Construction Tasks</a:t>
            </a:r>
            <a:endParaRPr lang="en-US" altLang="zh-CN" sz="3600" dirty="0">
              <a:ea typeface="宋体" panose="02010600030101010101" pitchFamily="2" charset="-122"/>
            </a:endParaRPr>
          </a:p>
        </p:txBody>
      </p:sp>
      <p:sp>
        <p:nvSpPr>
          <p:cNvPr id="12291" name="Rectangle 132"/>
          <p:cNvSpPr/>
          <p:nvPr/>
        </p:nvSpPr>
        <p:spPr>
          <a:xfrm>
            <a:off x="762000" y="4148138"/>
            <a:ext cx="957263" cy="369887"/>
          </a:xfrm>
          <a:prstGeom prst="rect">
            <a:avLst/>
          </a:prstGeom>
          <a:noFill/>
          <a:ln w="9525">
            <a:noFill/>
          </a:ln>
        </p:spPr>
        <p:txBody>
          <a:bodyPr wrap="none" lIns="0" tIns="0" rIns="0" bIns="0" anchor="ctr" anchorCtr="0">
            <a:spAutoFit/>
          </a:bodyPr>
          <a:p>
            <a:pPr algn="ctr"/>
            <a:r>
              <a:rPr lang="en-US" altLang="zh-CN" sz="1200" b="0" dirty="0">
                <a:latin typeface="Arial" panose="020B0604020202020204" pitchFamily="34" charset="0"/>
                <a:ea typeface="宋体" panose="02010600030101010101" pitchFamily="2" charset="-122"/>
              </a:rPr>
              <a:t>Setting posts</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[ 3 time units ]</a:t>
            </a:r>
            <a:endParaRPr lang="en-US" altLang="zh-CN" sz="1200" b="0" dirty="0">
              <a:latin typeface="Arial" panose="020B0604020202020204" pitchFamily="34" charset="0"/>
              <a:ea typeface="宋体" panose="02010600030101010101" pitchFamily="2" charset="-122"/>
            </a:endParaRPr>
          </a:p>
        </p:txBody>
      </p:sp>
      <p:sp>
        <p:nvSpPr>
          <p:cNvPr id="12292" name="Rectangle 133"/>
          <p:cNvSpPr/>
          <p:nvPr/>
        </p:nvSpPr>
        <p:spPr>
          <a:xfrm>
            <a:off x="2809875" y="4148138"/>
            <a:ext cx="957263" cy="369887"/>
          </a:xfrm>
          <a:prstGeom prst="rect">
            <a:avLst/>
          </a:prstGeom>
          <a:noFill/>
          <a:ln w="9525">
            <a:noFill/>
          </a:ln>
        </p:spPr>
        <p:txBody>
          <a:bodyPr wrap="none" lIns="0" tIns="0" rIns="0" bIns="0" anchor="ctr" anchorCtr="0">
            <a:spAutoFit/>
          </a:bodyPr>
          <a:p>
            <a:pPr algn="ctr"/>
            <a:r>
              <a:rPr lang="en-US" altLang="zh-CN" sz="1200" b="0" dirty="0">
                <a:latin typeface="Arial" panose="020B0604020202020204" pitchFamily="34" charset="0"/>
                <a:ea typeface="宋体" panose="02010600030101010101" pitchFamily="2" charset="-122"/>
              </a:rPr>
              <a:t>Cutting wood</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[ 2 time units ]</a:t>
            </a:r>
            <a:endParaRPr lang="en-US" altLang="zh-CN" sz="1200" b="0" dirty="0">
              <a:latin typeface="Arial" panose="020B0604020202020204" pitchFamily="34" charset="0"/>
              <a:ea typeface="宋体" panose="02010600030101010101" pitchFamily="2" charset="-122"/>
            </a:endParaRPr>
          </a:p>
        </p:txBody>
      </p:sp>
      <p:sp>
        <p:nvSpPr>
          <p:cNvPr id="12293" name="Rectangle 134"/>
          <p:cNvSpPr/>
          <p:nvPr/>
        </p:nvSpPr>
        <p:spPr>
          <a:xfrm>
            <a:off x="6684963" y="4056063"/>
            <a:ext cx="1965325" cy="554037"/>
          </a:xfrm>
          <a:prstGeom prst="rect">
            <a:avLst/>
          </a:prstGeom>
          <a:noFill/>
          <a:ln w="9525">
            <a:noFill/>
          </a:ln>
        </p:spPr>
        <p:txBody>
          <a:bodyPr wrap="none" lIns="0" tIns="0" rIns="0" bIns="0" anchor="ctr" anchorCtr="0">
            <a:spAutoFit/>
          </a:bodyPr>
          <a:p>
            <a:pPr algn="ctr"/>
            <a:r>
              <a:rPr lang="en-US" altLang="zh-CN" sz="1200" b="0" dirty="0">
                <a:latin typeface="Arial" panose="020B0604020202020204" pitchFamily="34" charset="0"/>
                <a:ea typeface="宋体" panose="02010600030101010101" pitchFamily="2" charset="-122"/>
              </a:rPr>
              <a:t>Painting</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[ 5 time units for uncut wood;</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4 time units otherwise ]</a:t>
            </a:r>
            <a:endParaRPr lang="en-US" altLang="zh-CN" sz="1200" b="0" dirty="0">
              <a:latin typeface="Arial" panose="020B0604020202020204" pitchFamily="34" charset="0"/>
              <a:ea typeface="宋体" panose="02010600030101010101" pitchFamily="2" charset="-122"/>
            </a:endParaRPr>
          </a:p>
        </p:txBody>
      </p:sp>
      <p:sp>
        <p:nvSpPr>
          <p:cNvPr id="12294" name="Rectangle 135"/>
          <p:cNvSpPr/>
          <p:nvPr/>
        </p:nvSpPr>
        <p:spPr>
          <a:xfrm>
            <a:off x="4575175" y="4056063"/>
            <a:ext cx="1854200" cy="554037"/>
          </a:xfrm>
          <a:prstGeom prst="rect">
            <a:avLst/>
          </a:prstGeom>
          <a:noFill/>
          <a:ln w="9525">
            <a:noFill/>
          </a:ln>
        </p:spPr>
        <p:txBody>
          <a:bodyPr wrap="none" lIns="0" tIns="0" rIns="0" bIns="0" anchor="ctr" anchorCtr="0">
            <a:spAutoFit/>
          </a:bodyPr>
          <a:p>
            <a:pPr algn="ctr"/>
            <a:r>
              <a:rPr lang="en-US" altLang="zh-CN" sz="1200" b="0" dirty="0">
                <a:latin typeface="Arial" panose="020B0604020202020204" pitchFamily="34" charset="0"/>
                <a:ea typeface="宋体" panose="02010600030101010101" pitchFamily="2" charset="-122"/>
              </a:rPr>
              <a:t>Nailing</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[ 2 time units for unpainted;</a:t>
            </a:r>
            <a:endParaRPr lang="en-US" altLang="zh-CN" sz="1200" b="0" dirty="0">
              <a:latin typeface="Arial" panose="020B0604020202020204" pitchFamily="34" charset="0"/>
              <a:ea typeface="宋体" panose="02010600030101010101" pitchFamily="2" charset="-122"/>
            </a:endParaRPr>
          </a:p>
          <a:p>
            <a:pPr algn="ctr"/>
            <a:r>
              <a:rPr lang="en-US" altLang="zh-CN" sz="1200" b="0" dirty="0">
                <a:latin typeface="Arial" panose="020B0604020202020204" pitchFamily="34" charset="0"/>
                <a:ea typeface="宋体" panose="02010600030101010101" pitchFamily="2" charset="-122"/>
              </a:rPr>
              <a:t>3 time units otherwise ]</a:t>
            </a:r>
            <a:endParaRPr lang="en-US" altLang="zh-CN" sz="1200" b="0" dirty="0">
              <a:latin typeface="Arial" panose="020B0604020202020204" pitchFamily="34" charset="0"/>
              <a:ea typeface="宋体" panose="02010600030101010101" pitchFamily="2" charset="-122"/>
            </a:endParaRPr>
          </a:p>
        </p:txBody>
      </p:sp>
      <p:pic>
        <p:nvPicPr>
          <p:cNvPr id="12295" name="Picture 170"/>
          <p:cNvPicPr>
            <a:picLocks noChangeAspect="1"/>
          </p:cNvPicPr>
          <p:nvPr/>
        </p:nvPicPr>
        <p:blipFill>
          <a:blip r:embed="rId1"/>
          <a:stretch>
            <a:fillRect/>
          </a:stretch>
        </p:blipFill>
        <p:spPr>
          <a:xfrm>
            <a:off x="630238" y="1593850"/>
            <a:ext cx="1244600" cy="2219325"/>
          </a:xfrm>
          <a:prstGeom prst="rect">
            <a:avLst/>
          </a:prstGeom>
          <a:noFill/>
          <a:ln w="9525">
            <a:noFill/>
          </a:ln>
        </p:spPr>
      </p:pic>
      <p:pic>
        <p:nvPicPr>
          <p:cNvPr id="12296" name="Picture 202"/>
          <p:cNvPicPr>
            <a:picLocks noChangeAspect="1"/>
          </p:cNvPicPr>
          <p:nvPr/>
        </p:nvPicPr>
        <p:blipFill>
          <a:blip r:embed="rId2"/>
          <a:stretch>
            <a:fillRect/>
          </a:stretch>
        </p:blipFill>
        <p:spPr>
          <a:xfrm>
            <a:off x="2324100" y="2389188"/>
            <a:ext cx="1946275" cy="1687512"/>
          </a:xfrm>
          <a:prstGeom prst="rect">
            <a:avLst/>
          </a:prstGeom>
          <a:noFill/>
          <a:ln w="9525">
            <a:noFill/>
          </a:ln>
        </p:spPr>
      </p:pic>
      <p:pic>
        <p:nvPicPr>
          <p:cNvPr id="12297" name="Picture 249"/>
          <p:cNvPicPr>
            <a:picLocks noChangeAspect="1"/>
          </p:cNvPicPr>
          <p:nvPr/>
        </p:nvPicPr>
        <p:blipFill>
          <a:blip r:embed="rId3"/>
          <a:stretch>
            <a:fillRect/>
          </a:stretch>
        </p:blipFill>
        <p:spPr>
          <a:xfrm>
            <a:off x="4841875" y="2192338"/>
            <a:ext cx="1298575" cy="1450975"/>
          </a:xfrm>
          <a:prstGeom prst="rect">
            <a:avLst/>
          </a:prstGeom>
          <a:noFill/>
          <a:ln w="9525">
            <a:noFill/>
          </a:ln>
        </p:spPr>
      </p:pic>
      <p:pic>
        <p:nvPicPr>
          <p:cNvPr id="12298" name="Picture 285"/>
          <p:cNvPicPr>
            <a:picLocks noChangeAspect="1"/>
          </p:cNvPicPr>
          <p:nvPr/>
        </p:nvPicPr>
        <p:blipFill>
          <a:blip r:embed="rId4"/>
          <a:stretch>
            <a:fillRect/>
          </a:stretch>
        </p:blipFill>
        <p:spPr>
          <a:xfrm>
            <a:off x="6869113" y="2112963"/>
            <a:ext cx="1576387" cy="1785937"/>
          </a:xfrm>
          <a:prstGeom prst="rect">
            <a:avLst/>
          </a:prstGeom>
          <a:noFill/>
          <a:ln w="9525">
            <a:noFill/>
          </a:ln>
        </p:spPr>
      </p:pic>
      <p:sp>
        <p:nvSpPr>
          <p:cNvPr id="12299" name="Rectangle 132"/>
          <p:cNvSpPr/>
          <p:nvPr/>
        </p:nvSpPr>
        <p:spPr>
          <a:xfrm>
            <a:off x="800100" y="4981575"/>
            <a:ext cx="2597150" cy="212725"/>
          </a:xfrm>
          <a:prstGeom prst="rect">
            <a:avLst/>
          </a:prstGeom>
          <a:noFill/>
          <a:ln w="9525">
            <a:noFill/>
          </a:ln>
        </p:spPr>
        <p:txBody>
          <a:bodyPr wrap="none" lIns="0" tIns="0" rIns="0" bIns="0" anchor="ctr" anchorCtr="0">
            <a:spAutoFit/>
          </a:bodyPr>
          <a:p>
            <a:r>
              <a:rPr lang="en-US" altLang="zh-CN" sz="1400" b="0" dirty="0">
                <a:latin typeface="Arial" panose="020B0604020202020204" pitchFamily="34" charset="0"/>
                <a:ea typeface="宋体" panose="02010600030101010101" pitchFamily="2" charset="-122"/>
              </a:rPr>
              <a:t>Setting posts </a:t>
            </a:r>
            <a:r>
              <a:rPr lang="en-US" altLang="zh-CN" sz="1400" b="0" dirty="0">
                <a:latin typeface="Arial" panose="020B0604020202020204" pitchFamily="34" charset="0"/>
                <a:ea typeface="宋体" panose="02010600030101010101" pitchFamily="2" charset="-122"/>
                <a:sym typeface="Symbol" panose="05050102010706020507" pitchFamily="18" charset="2"/>
              </a:rPr>
              <a:t>  Nailing, Painting</a:t>
            </a:r>
            <a:endParaRPr lang="en-US" altLang="zh-CN" sz="1400" b="0" dirty="0">
              <a:latin typeface="Arial" panose="020B0604020202020204" pitchFamily="34" charset="0"/>
              <a:ea typeface="宋体" panose="02010600030101010101" pitchFamily="2" charset="-122"/>
            </a:endParaRPr>
          </a:p>
        </p:txBody>
      </p:sp>
      <p:sp>
        <p:nvSpPr>
          <p:cNvPr id="12300" name="Rectangle 132"/>
          <p:cNvSpPr/>
          <p:nvPr/>
        </p:nvSpPr>
        <p:spPr>
          <a:xfrm>
            <a:off x="800100" y="5318125"/>
            <a:ext cx="1398588" cy="212725"/>
          </a:xfrm>
          <a:prstGeom prst="rect">
            <a:avLst/>
          </a:prstGeom>
          <a:noFill/>
          <a:ln w="9525">
            <a:noFill/>
          </a:ln>
        </p:spPr>
        <p:txBody>
          <a:bodyPr wrap="none" lIns="0" tIns="0" rIns="0" bIns="0" anchor="ctr" anchorCtr="0">
            <a:spAutoFit/>
          </a:bodyPr>
          <a:p>
            <a:r>
              <a:rPr lang="en-US" altLang="zh-CN" sz="1400" b="0" dirty="0">
                <a:latin typeface="Arial" panose="020B0604020202020204" pitchFamily="34" charset="0"/>
                <a:ea typeface="宋体" panose="02010600030101010101" pitchFamily="2" charset="-122"/>
              </a:rPr>
              <a:t>Cutting  </a:t>
            </a:r>
            <a:r>
              <a:rPr lang="en-US" altLang="zh-CN" sz="1400" b="0" dirty="0">
                <a:latin typeface="Arial" panose="020B0604020202020204" pitchFamily="34" charset="0"/>
                <a:ea typeface="宋体" panose="02010600030101010101" pitchFamily="2" charset="-122"/>
                <a:sym typeface="Symbol" panose="05050102010706020507" pitchFamily="18" charset="2"/>
              </a:rPr>
              <a:t>  N</a:t>
            </a:r>
            <a:r>
              <a:rPr lang="en-US" altLang="zh-CN" sz="1400" b="0" dirty="0">
                <a:latin typeface="Arial" panose="020B0604020202020204" pitchFamily="34" charset="0"/>
                <a:ea typeface="宋体" panose="02010600030101010101" pitchFamily="2" charset="-122"/>
              </a:rPr>
              <a:t>ailing</a:t>
            </a:r>
            <a:endParaRPr lang="en-US" altLang="zh-CN" sz="1400" b="0" dirty="0">
              <a:latin typeface="Arial" panose="020B0604020202020204" pitchFamily="34" charset="0"/>
              <a:ea typeface="宋体" panose="02010600030101010101" pitchFamily="2" charset="-122"/>
            </a:endParaRPr>
          </a:p>
        </p:txBody>
      </p:sp>
      <p:sp>
        <p:nvSpPr>
          <p:cNvPr id="12301" name="Rectangle 2"/>
          <p:cNvSpPr/>
          <p:nvPr/>
        </p:nvSpPr>
        <p:spPr>
          <a:xfrm>
            <a:off x="2570163" y="5492750"/>
            <a:ext cx="6410325" cy="519113"/>
          </a:xfrm>
          <a:prstGeom prst="rect">
            <a:avLst/>
          </a:prstGeom>
          <a:noFill/>
          <a:ln w="9525">
            <a:noFill/>
          </a:ln>
        </p:spPr>
        <p:txBody>
          <a:bodyPr wrap="none">
            <a:spAutoFit/>
          </a:bodyPr>
          <a:p>
            <a:r>
              <a:rPr lang="en-US" altLang="zh-CN" sz="2800" b="0" dirty="0">
                <a:latin typeface="Arial" panose="020B0604020202020204" pitchFamily="34" charset="0"/>
                <a:ea typeface="宋体" panose="02010600030101010101" pitchFamily="2" charset="-122"/>
              </a:rPr>
              <a:t>…shortest possible completion time = ?</a:t>
            </a:r>
            <a:endParaRPr lang="en-US" altLang="zh-CN" sz="2800" dirty="0">
              <a:latin typeface="Arial" panose="020B0604020202020204" pitchFamily="34" charset="0"/>
              <a:ea typeface="宋体" panose="02010600030101010101" pitchFamily="2" charset="-122"/>
            </a:endParaRPr>
          </a:p>
        </p:txBody>
      </p:sp>
      <p:sp>
        <p:nvSpPr>
          <p:cNvPr id="12302" name="Rectangle 2"/>
          <p:cNvSpPr/>
          <p:nvPr/>
        </p:nvSpPr>
        <p:spPr>
          <a:xfrm>
            <a:off x="1920875" y="6261100"/>
            <a:ext cx="6908800" cy="307975"/>
          </a:xfrm>
          <a:prstGeom prst="rect">
            <a:avLst/>
          </a:prstGeom>
          <a:noFill/>
          <a:ln w="9525">
            <a:noFill/>
          </a:ln>
        </p:spPr>
        <p:txBody>
          <a:bodyPr wrap="none" lIns="0" tIns="0" rIns="0" bIns="0">
            <a:spAutoFit/>
          </a:bodyPr>
          <a:p>
            <a:r>
              <a:rPr lang="en-US" altLang="zh-CN" sz="2000" b="0" dirty="0">
                <a:latin typeface="Calibri" panose="020F0502020204030204" pitchFamily="34" charset="0"/>
                <a:ea typeface="宋体" panose="02010600030101010101" pitchFamily="2" charset="-122"/>
                <a:sym typeface="Symbol" panose="05050102010706020507" pitchFamily="18" charset="2"/>
              </a:rPr>
              <a:t>[  “simple” problem, but hard to solve without a pen and paper </a:t>
            </a:r>
            <a:r>
              <a:rPr lang="en-US" altLang="zh-CN" sz="1400" b="0" dirty="0">
                <a:latin typeface="Arial" panose="020B0604020202020204" pitchFamily="34" charset="0"/>
                <a:ea typeface="宋体" panose="02010600030101010101" pitchFamily="2" charset="-122"/>
                <a:sym typeface="Symbol" panose="05050102010706020507" pitchFamily="18" charset="2"/>
              </a:rPr>
              <a:t>]</a:t>
            </a:r>
            <a:endParaRPr lang="en-US" altLang="zh-CN" sz="1400" b="0" dirty="0">
              <a:latin typeface="Arial" panose="020B0604020202020204" pitchFamily="34" charset="0"/>
              <a:ea typeface="宋体" panose="02010600030101010101" pitchFamily="2" charset="-122"/>
              <a:sym typeface="Symbol" panose="05050102010706020507"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4"/>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More Complexity</a:t>
            </a:r>
            <a:endParaRPr lang="en-US" altLang="zh-CN" dirty="0">
              <a:ea typeface="宋体" panose="02010600030101010101" pitchFamily="2" charset="-122"/>
            </a:endParaRPr>
          </a:p>
        </p:txBody>
      </p:sp>
      <p:pic>
        <p:nvPicPr>
          <p:cNvPr id="13315" name="Picture 5"/>
          <p:cNvPicPr>
            <a:picLocks noChangeAspect="1"/>
          </p:cNvPicPr>
          <p:nvPr/>
        </p:nvPicPr>
        <p:blipFill>
          <a:blip r:embed="rId1"/>
          <a:stretch>
            <a:fillRect/>
          </a:stretch>
        </p:blipFill>
        <p:spPr>
          <a:xfrm>
            <a:off x="255588" y="1450975"/>
            <a:ext cx="1911350" cy="2005013"/>
          </a:xfrm>
          <a:prstGeom prst="rect">
            <a:avLst/>
          </a:prstGeom>
          <a:noFill/>
          <a:ln w="9525">
            <a:noFill/>
          </a:ln>
        </p:spPr>
      </p:pic>
      <p:sp>
        <p:nvSpPr>
          <p:cNvPr id="8196" name="Rectangle 2"/>
          <p:cNvSpPr>
            <a:spLocks noChangeArrowheads="1"/>
          </p:cNvSpPr>
          <p:nvPr/>
        </p:nvSpPr>
        <p:spPr bwMode="auto">
          <a:xfrm>
            <a:off x="2563813" y="2322513"/>
            <a:ext cx="5349875" cy="1029970"/>
          </a:xfrm>
          <a:prstGeom prst="rect">
            <a:avLst/>
          </a:prstGeom>
          <a:noFill/>
          <a:ln w="9525">
            <a:noFill/>
            <a:miter lim="800000"/>
          </a:ln>
        </p:spPr>
        <p:txBody>
          <a:bodyPr wrap="none">
            <a:spAutoFit/>
          </a:bodyPr>
          <a:lstStyle/>
          <a:p>
            <a:pPr marL="0" marR="0" lvl="0" indent="0" algn="l" defTabSz="914400" rtl="0" eaLnBrk="1" fontAlgn="base" latinLnBrk="0" hangingPunct="1">
              <a:lnSpc>
                <a:spcPct val="100000"/>
              </a:lnSpc>
              <a:spcBef>
                <a:spcPct val="0"/>
              </a:spcBef>
              <a:spcAft>
                <a:spcPts val="60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We know that</a:t>
            </a:r>
            <a:endPar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ts val="600"/>
              </a:spcAft>
              <a:buClrTx/>
              <a:buSzTx/>
              <a:buFontTx/>
              <a:buNone/>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Today is </a:t>
            </a: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Wendesday, March 11.</a:t>
            </a:r>
            <a:endParaRPr kumimoji="0"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8197" name="Rectangle 2"/>
          <p:cNvSpPr>
            <a:spLocks noChangeArrowheads="1"/>
          </p:cNvSpPr>
          <p:nvPr/>
        </p:nvSpPr>
        <p:spPr bwMode="auto">
          <a:xfrm>
            <a:off x="2619375" y="3792538"/>
            <a:ext cx="4789488" cy="523875"/>
          </a:xfrm>
          <a:prstGeom prst="rect">
            <a:avLst/>
          </a:prstGeom>
          <a:no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dirty="0">
                <a:ln>
                  <a:noFill/>
                </a:ln>
                <a:solidFill>
                  <a:srgbClr val="7030A0"/>
                </a:solidFill>
                <a:effectLst/>
                <a:uLnTx/>
                <a:uFillTx/>
                <a:latin typeface="+mn-lt"/>
                <a:ea typeface="宋体" panose="02010600030101010101" pitchFamily="2" charset="-122"/>
                <a:cs typeface="+mn-cs"/>
              </a:rPr>
              <a:t>What day will be on July 1?</a:t>
            </a:r>
            <a:endParaRPr kumimoji="0" lang="en-US" altLang="zh-CN" sz="2800" b="0" i="0" u="none" strike="noStrike" kern="1200" cap="none" spc="0" normalizeH="0" baseline="0" noProof="0" dirty="0">
              <a:ln>
                <a:noFill/>
              </a:ln>
              <a:solidFill>
                <a:srgbClr val="7030A0"/>
              </a:solidFill>
              <a:effectLst/>
              <a:uLnTx/>
              <a:uFillTx/>
              <a:latin typeface="+mn-lt"/>
              <a:ea typeface="宋体" panose="02010600030101010101" pitchFamily="2" charset="-122"/>
              <a:cs typeface="+mn-cs"/>
            </a:endParaRPr>
          </a:p>
        </p:txBody>
      </p:sp>
      <p:sp>
        <p:nvSpPr>
          <p:cNvPr id="13318" name="Rectangle 2"/>
          <p:cNvSpPr/>
          <p:nvPr/>
        </p:nvSpPr>
        <p:spPr>
          <a:xfrm>
            <a:off x="958850" y="5773738"/>
            <a:ext cx="8026400" cy="708025"/>
          </a:xfrm>
          <a:prstGeom prst="rect">
            <a:avLst/>
          </a:prstGeom>
          <a:noFill/>
          <a:ln w="9525">
            <a:noFill/>
          </a:ln>
        </p:spPr>
        <p:txBody>
          <a:bodyPr>
            <a:spAutoFit/>
          </a:bodyPr>
          <a:p>
            <a:r>
              <a:rPr lang="en-US" altLang="zh-CN" sz="2000" b="0" dirty="0">
                <a:solidFill>
                  <a:srgbClr val="0070C0"/>
                </a:solidFill>
                <a:latin typeface="Calibri" panose="020F0502020204030204" pitchFamily="34" charset="0"/>
                <a:ea typeface="宋体" panose="02010600030101010101" pitchFamily="2" charset="-122"/>
              </a:rPr>
              <a:t>( To answer, we need to bring the day names and the day numbers into coordination, and for that we may need again a pen and paper. )</a:t>
            </a:r>
            <a:endParaRPr lang="en-US" altLang="zh-CN" sz="2000" b="0" dirty="0">
              <a:solidFill>
                <a:srgbClr val="0070C0"/>
              </a:solidFill>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7">
                                            <p:txEl>
                                              <p:charRg st="0" end="28"/>
                                            </p:txEl>
                                          </p:spTgt>
                                        </p:tgtEl>
                                        <p:attrNameLst>
                                          <p:attrName>style.visibility</p:attrName>
                                        </p:attrNameLst>
                                      </p:cBhvr>
                                      <p:to>
                                        <p:strVal val="visible"/>
                                      </p:to>
                                    </p:set>
                                    <p:animEffect transition="in" filter="fade">
                                      <p:cBhvr>
                                        <p:cTn id="7" dur="2000"/>
                                        <p:tgtEl>
                                          <p:spTgt spid="8197">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318">
                                            <p:txEl>
                                              <p:charRg st="0" end="133"/>
                                            </p:txEl>
                                          </p:spTgt>
                                        </p:tgtEl>
                                        <p:attrNameLst>
                                          <p:attrName>style.visibility</p:attrName>
                                        </p:attrNameLst>
                                      </p:cBhvr>
                                      <p:to>
                                        <p:strVal val="visible"/>
                                      </p:to>
                                    </p:set>
                                    <p:animEffect transition="in" filter="fade">
                                      <p:cBhvr>
                                        <p:cTn id="12" dur="2000"/>
                                        <p:tgtEl>
                                          <p:spTgt spid="13318">
                                            <p:txEl>
                                              <p:charRg st="0" end="1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allAtOnce"/>
      <p:bldP spid="13318"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itle 1"/>
          <p:cNvSpPr>
            <a:spLocks noGrp="1"/>
          </p:cNvSpPr>
          <p:nvPr>
            <p:ph type="title"/>
          </p:nvPr>
        </p:nvSpPr>
        <p:spPr>
          <a:xfrm>
            <a:off x="220663" y="152400"/>
            <a:ext cx="8842375" cy="1143000"/>
          </a:xfrm>
        </p:spPr>
        <p:txBody>
          <a:bodyPr vert="horz" wrap="square" lIns="0" tIns="45720" rIns="0" bIns="45720" anchor="ctr" anchorCtr="0"/>
          <a:p>
            <a:r>
              <a:rPr lang="en-US" altLang="en-US" dirty="0"/>
              <a:t>The Frog in Boiling Water</a:t>
            </a:r>
            <a:endParaRPr lang="en-US" altLang="en-US" dirty="0"/>
          </a:p>
        </p:txBody>
      </p:sp>
      <p:sp>
        <p:nvSpPr>
          <p:cNvPr id="16387" name="Content Placeholder 4"/>
          <p:cNvSpPr>
            <a:spLocks noGrp="1"/>
          </p:cNvSpPr>
          <p:nvPr>
            <p:ph idx="1"/>
          </p:nvPr>
        </p:nvSpPr>
        <p:spPr>
          <a:xfrm>
            <a:off x="188913" y="1600200"/>
            <a:ext cx="4687888" cy="5257800"/>
          </a:xfrm>
        </p:spPr>
        <p:txBody>
          <a:bodyPr vert="horz" wrap="square" lIns="91440" tIns="45720" rIns="91440" bIns="45720" numCol="1" anchor="t" anchorCtr="0" compatLnSpc="1"/>
          <a:p>
            <a:pPr>
              <a:spcBef>
                <a:spcPts val="300"/>
              </a:spcBef>
            </a:pPr>
            <a:r>
              <a:rPr lang="en-US" altLang="en-US" sz="1900" dirty="0">
                <a:solidFill>
                  <a:srgbClr val="00B0F0"/>
                </a:solidFill>
              </a:rPr>
              <a:t>Small problems tolerate complacency</a:t>
            </a:r>
            <a:r>
              <a:rPr lang="en-US" altLang="en-US" sz="1900" dirty="0"/>
              <a:t>(</a:t>
            </a:r>
            <a:r>
              <a:rPr lang="zh-CN" altLang="en-US" sz="1900" dirty="0">
                <a:latin typeface="黑体" panose="02010609060101010101" pitchFamily="49" charset="-122"/>
                <a:ea typeface="黑体" panose="02010609060101010101" pitchFamily="49" charset="-122"/>
              </a:rPr>
              <a:t>自满</a:t>
            </a:r>
            <a:r>
              <a:rPr lang="en-US" altLang="en-US" sz="1900" dirty="0"/>
              <a:t>)—lack of immediate penalty leads to inaction</a:t>
            </a:r>
            <a:endParaRPr lang="en-US" altLang="en-US" sz="1900" dirty="0"/>
          </a:p>
          <a:p>
            <a:pPr>
              <a:spcBef>
                <a:spcPts val="300"/>
              </a:spcBef>
            </a:pPr>
            <a:r>
              <a:rPr lang="en-US" altLang="en-US" sz="1900" dirty="0">
                <a:solidFill>
                  <a:srgbClr val="00B0F0"/>
                </a:solidFill>
              </a:rPr>
              <a:t>Negative feedback accumulates subtly</a:t>
            </a:r>
            <a:r>
              <a:rPr lang="en-US" altLang="en-US" sz="1900" dirty="0"/>
              <a:t> and by the time it becomes painful, the problem is too big to address</a:t>
            </a:r>
            <a:endParaRPr lang="en-US" altLang="en-US" sz="1900" dirty="0"/>
          </a:p>
          <a:p>
            <a:pPr>
              <a:spcBef>
                <a:spcPts val="300"/>
              </a:spcBef>
            </a:pPr>
            <a:r>
              <a:rPr lang="en-US" altLang="en-US" sz="1900" dirty="0">
                <a:solidFill>
                  <a:srgbClr val="C00000"/>
                </a:solidFill>
              </a:rPr>
              <a:t>Frog in gradually heated water </a:t>
            </a:r>
            <a:r>
              <a:rPr lang="en-US" altLang="en-US" sz="1900" dirty="0"/>
              <a:t>analogy:</a:t>
            </a:r>
            <a:endParaRPr lang="en-US" altLang="en-US" sz="1900" dirty="0"/>
          </a:p>
          <a:p>
            <a:pPr lvl="1">
              <a:spcBef>
                <a:spcPts val="300"/>
              </a:spcBef>
            </a:pPr>
            <a:r>
              <a:rPr lang="en-US" altLang="en-US" sz="1700" dirty="0">
                <a:latin typeface="Calibri" panose="020F0502020204030204" pitchFamily="34" charset="0"/>
                <a:cs typeface="Calibri" panose="020F0502020204030204" pitchFamily="34" charset="0"/>
              </a:rPr>
              <a:t>The problem with little things is that none of them is big enough to scare you into action, but they keep creeping up and by the time you get alarmed the problem is too difficult to handle</a:t>
            </a:r>
            <a:endParaRPr lang="en-US" altLang="en-US" sz="1700" dirty="0">
              <a:latin typeface="Calibri" panose="020F0502020204030204" pitchFamily="34" charset="0"/>
              <a:cs typeface="Calibri" panose="020F0502020204030204" pitchFamily="34" charset="0"/>
            </a:endParaRPr>
          </a:p>
          <a:p>
            <a:pPr lvl="1">
              <a:spcBef>
                <a:spcPts val="300"/>
              </a:spcBef>
            </a:pPr>
            <a:r>
              <a:rPr lang="en-US" altLang="en-US" sz="1700" dirty="0">
                <a:latin typeface="Calibri" panose="020F0502020204030204" pitchFamily="34" charset="0"/>
                <a:cs typeface="Calibri" panose="020F0502020204030204" pitchFamily="34" charset="0"/>
              </a:rPr>
              <a:t>Consequently, “</a:t>
            </a:r>
            <a:r>
              <a:rPr lang="en-US" altLang="en-US" sz="1700" dirty="0">
                <a:solidFill>
                  <a:srgbClr val="C00000"/>
                </a:solidFill>
                <a:latin typeface="Calibri" panose="020F0502020204030204" pitchFamily="34" charset="0"/>
                <a:cs typeface="Calibri" panose="020F0502020204030204" pitchFamily="34" charset="0"/>
              </a:rPr>
              <a:t>design smells(</a:t>
            </a:r>
            <a:r>
              <a:rPr lang="zh-CN" altLang="en-US" sz="1700" dirty="0">
                <a:solidFill>
                  <a:srgbClr val="C00000"/>
                </a:solidFill>
                <a:latin typeface="Calibri" panose="020F0502020204030204" pitchFamily="34" charset="0"/>
                <a:cs typeface="Calibri" panose="020F0502020204030204" pitchFamily="34" charset="0"/>
              </a:rPr>
              <a:t>设计怪味</a:t>
            </a:r>
            <a:r>
              <a:rPr lang="en-US" altLang="en-US" sz="1700" dirty="0">
                <a:solidFill>
                  <a:srgbClr val="C00000"/>
                </a:solidFill>
                <a:latin typeface="Calibri" panose="020F0502020204030204" pitchFamily="34" charset="0"/>
                <a:cs typeface="Calibri" panose="020F0502020204030204" pitchFamily="34" charset="0"/>
              </a:rPr>
              <a:t>)</a:t>
            </a:r>
            <a:r>
              <a:rPr lang="en-US" altLang="en-US" sz="1700" dirty="0">
                <a:latin typeface="Calibri" panose="020F0502020204030204" pitchFamily="34" charset="0"/>
                <a:cs typeface="Calibri" panose="020F0502020204030204" pitchFamily="34" charset="0"/>
              </a:rPr>
              <a:t>” accumulate, “</a:t>
            </a:r>
            <a:r>
              <a:rPr lang="en-US" altLang="en-US" sz="1700" dirty="0">
                <a:solidFill>
                  <a:srgbClr val="C00000"/>
                </a:solidFill>
                <a:latin typeface="Calibri" panose="020F0502020204030204" pitchFamily="34" charset="0"/>
                <a:cs typeface="Calibri" panose="020F0502020204030204" pitchFamily="34" charset="0"/>
              </a:rPr>
              <a:t>technical debt (</a:t>
            </a:r>
            <a:r>
              <a:rPr lang="zh-CN" altLang="en-US" sz="1700" dirty="0">
                <a:solidFill>
                  <a:srgbClr val="C00000"/>
                </a:solidFill>
                <a:latin typeface="Calibri" panose="020F0502020204030204" pitchFamily="34" charset="0"/>
                <a:cs typeface="Calibri" panose="020F0502020204030204" pitchFamily="34" charset="0"/>
              </a:rPr>
              <a:t>技术债务</a:t>
            </a:r>
            <a:r>
              <a:rPr lang="en-US" altLang="en-US" sz="1700" dirty="0">
                <a:solidFill>
                  <a:srgbClr val="C00000"/>
                </a:solidFill>
                <a:latin typeface="Calibri" panose="020F0502020204030204" pitchFamily="34" charset="0"/>
                <a:cs typeface="Calibri" panose="020F0502020204030204" pitchFamily="34" charset="0"/>
              </a:rPr>
              <a:t>)</a:t>
            </a:r>
            <a:r>
              <a:rPr lang="en-US" altLang="en-US" sz="1700" dirty="0">
                <a:latin typeface="Calibri" panose="020F0502020204030204" pitchFamily="34" charset="0"/>
                <a:cs typeface="Calibri" panose="020F0502020204030204" pitchFamily="34" charset="0"/>
              </a:rPr>
              <a:t>” grows, and the result is “</a:t>
            </a:r>
            <a:r>
              <a:rPr lang="en-US" altLang="en-US" sz="1700" dirty="0">
                <a:solidFill>
                  <a:srgbClr val="C00000"/>
                </a:solidFill>
                <a:latin typeface="Calibri" panose="020F0502020204030204" pitchFamily="34" charset="0"/>
                <a:cs typeface="Calibri" panose="020F0502020204030204" pitchFamily="34" charset="0"/>
              </a:rPr>
              <a:t>software rot(</a:t>
            </a:r>
            <a:r>
              <a:rPr lang="zh-CN" altLang="en-US" sz="1700" dirty="0">
                <a:solidFill>
                  <a:srgbClr val="C00000"/>
                </a:solidFill>
                <a:latin typeface="Calibri" panose="020F0502020204030204" pitchFamily="34" charset="0"/>
                <a:cs typeface="Calibri" panose="020F0502020204030204" pitchFamily="34" charset="0"/>
              </a:rPr>
              <a:t>软件腐烂</a:t>
            </a:r>
            <a:r>
              <a:rPr lang="en-US" altLang="en-US" sz="1700" dirty="0">
                <a:solidFill>
                  <a:srgbClr val="C00000"/>
                </a:solidFill>
                <a:latin typeface="Calibri" panose="020F0502020204030204" pitchFamily="34" charset="0"/>
                <a:cs typeface="Calibri" panose="020F0502020204030204" pitchFamily="34" charset="0"/>
              </a:rPr>
              <a:t>)</a:t>
            </a:r>
            <a:r>
              <a:rPr lang="en-US" altLang="en-US" sz="1700" dirty="0">
                <a:latin typeface="Calibri" panose="020F0502020204030204" pitchFamily="34" charset="0"/>
                <a:cs typeface="Calibri" panose="020F0502020204030204" pitchFamily="34" charset="0"/>
              </a:rPr>
              <a:t>”</a:t>
            </a:r>
            <a:endParaRPr lang="en-US" altLang="en-US" sz="1700" dirty="0">
              <a:latin typeface="Calibri" panose="020F0502020204030204" pitchFamily="34" charset="0"/>
              <a:ea typeface="Calibri" panose="020F0502020204030204" pitchFamily="34" charset="0"/>
            </a:endParaRPr>
          </a:p>
        </p:txBody>
      </p:sp>
      <p:sp>
        <p:nvSpPr>
          <p:cNvPr id="14340"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pic>
        <p:nvPicPr>
          <p:cNvPr id="14341" name="Picture 3"/>
          <p:cNvPicPr>
            <a:picLocks noChangeAspect="1"/>
          </p:cNvPicPr>
          <p:nvPr/>
        </p:nvPicPr>
        <p:blipFill>
          <a:blip r:embed="rId1"/>
          <a:stretch>
            <a:fillRect/>
          </a:stretch>
        </p:blipFill>
        <p:spPr>
          <a:xfrm>
            <a:off x="4694238" y="1428750"/>
            <a:ext cx="4425950" cy="3106738"/>
          </a:xfrm>
          <a:prstGeom prst="rect">
            <a:avLst/>
          </a:prstGeom>
          <a:noFill/>
          <a:ln w="9525">
            <a:noFill/>
          </a:ln>
        </p:spPr>
      </p:pic>
      <p:sp>
        <p:nvSpPr>
          <p:cNvPr id="14342" name="Rectangle 1"/>
          <p:cNvSpPr/>
          <p:nvPr/>
        </p:nvSpPr>
        <p:spPr>
          <a:xfrm>
            <a:off x="5254625" y="5513388"/>
            <a:ext cx="3422650" cy="646112"/>
          </a:xfrm>
          <a:prstGeom prst="rect">
            <a:avLst/>
          </a:prstGeom>
          <a:noFill/>
          <a:ln w="9525">
            <a:noFill/>
          </a:ln>
        </p:spPr>
        <p:txBody>
          <a:bodyPr wrap="none" lIns="0" tIns="0" rIns="0" bIns="0">
            <a:spAutoFit/>
          </a:bodyPr>
          <a:p>
            <a:r>
              <a:rPr lang="en-US" altLang="en-US" sz="1400" b="0" dirty="0">
                <a:solidFill>
                  <a:schemeClr val="accent2"/>
                </a:solidFill>
                <a:latin typeface="Arial" panose="020B0604020202020204" pitchFamily="34" charset="0"/>
              </a:rPr>
              <a:t>https://en.wikipedia.org/wiki/Design_smell</a:t>
            </a:r>
            <a:endParaRPr lang="en-US" altLang="en-US" sz="1400" b="0" dirty="0">
              <a:solidFill>
                <a:schemeClr val="accent2"/>
              </a:solidFill>
              <a:latin typeface="Arial" panose="020B0604020202020204" pitchFamily="34" charset="0"/>
            </a:endParaRPr>
          </a:p>
          <a:p>
            <a:r>
              <a:rPr lang="en-US" altLang="en-US" sz="1400" b="0" dirty="0">
                <a:solidFill>
                  <a:schemeClr val="accent2"/>
                </a:solidFill>
                <a:latin typeface="Arial" panose="020B0604020202020204" pitchFamily="34" charset="0"/>
              </a:rPr>
              <a:t>https://en.wikipedia.org/wiki/Technical_debt</a:t>
            </a:r>
            <a:endParaRPr lang="en-US" altLang="en-US" sz="1400" b="0" dirty="0">
              <a:solidFill>
                <a:schemeClr val="accent2"/>
              </a:solidFill>
              <a:latin typeface="Arial" panose="020B0604020202020204" pitchFamily="34" charset="0"/>
            </a:endParaRPr>
          </a:p>
          <a:p>
            <a:r>
              <a:rPr lang="en-US" altLang="en-US" sz="1400" b="0" dirty="0">
                <a:solidFill>
                  <a:schemeClr val="accent2"/>
                </a:solidFill>
                <a:latin typeface="Arial" panose="020B0604020202020204" pitchFamily="34" charset="0"/>
              </a:rPr>
              <a:t>https://en.wikipedia.org/wiki/Software_rot</a:t>
            </a:r>
            <a:endParaRPr lang="en-US" altLang="en-US" sz="1400" b="0" dirty="0">
              <a:solidFill>
                <a:schemeClr val="accent2"/>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4"/>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The Role of Software Engg. (1)</a:t>
            </a:r>
            <a:endParaRPr lang="en-US" altLang="zh-CN" dirty="0">
              <a:ea typeface="宋体" panose="02010600030101010101" pitchFamily="2" charset="-122"/>
            </a:endParaRPr>
          </a:p>
        </p:txBody>
      </p:sp>
      <p:sp>
        <p:nvSpPr>
          <p:cNvPr id="14339" name="Cloud"/>
          <p:cNvSpPr>
            <a:spLocks noChangeAspect="1" noEditPoints="1" noChangeArrowheads="1"/>
          </p:cNvSpPr>
          <p:nvPr/>
        </p:nvSpPr>
        <p:spPr bwMode="auto">
          <a:xfrm>
            <a:off x="6627813" y="3117850"/>
            <a:ext cx="1930400" cy="1293813"/>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ln>
          <a:effectLst>
            <a:outerShdw dist="53882" dir="2700000" algn="ctr" rotWithShape="0">
              <a:srgbClr val="808080"/>
            </a:outerShdw>
          </a:effectLst>
        </p:spPr>
        <p:txBody>
          <a:bodyPr tIns="457200" bIns="320040"/>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pic>
        <p:nvPicPr>
          <p:cNvPr id="15364" name="Picture 669" descr="MCj04119700000[1]"/>
          <p:cNvPicPr>
            <a:picLocks noChangeAspect="1"/>
          </p:cNvPicPr>
          <p:nvPr/>
        </p:nvPicPr>
        <p:blipFill>
          <a:blip r:embed="rId1"/>
          <a:stretch>
            <a:fillRect/>
          </a:stretch>
        </p:blipFill>
        <p:spPr>
          <a:xfrm>
            <a:off x="2738438" y="2144713"/>
            <a:ext cx="4595812" cy="3227387"/>
          </a:xfrm>
          <a:prstGeom prst="rect">
            <a:avLst/>
          </a:prstGeom>
          <a:noFill/>
          <a:ln w="9525">
            <a:noFill/>
          </a:ln>
        </p:spPr>
      </p:pic>
      <p:sp>
        <p:nvSpPr>
          <p:cNvPr id="14341" name="Cloud"/>
          <p:cNvSpPr>
            <a:spLocks noChangeAspect="1" noEditPoints="1" noChangeArrowheads="1"/>
          </p:cNvSpPr>
          <p:nvPr/>
        </p:nvSpPr>
        <p:spPr bwMode="auto">
          <a:xfrm>
            <a:off x="161925" y="3390900"/>
            <a:ext cx="3108325" cy="2082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0"/>
                </a:cubicBezTo>
                <a:cubicBezTo>
                  <a:pt x="475" y="16325"/>
                  <a:pt x="1451" y="17650"/>
                  <a:pt x="2655" y="17650"/>
                </a:cubicBezTo>
                <a:cubicBezTo>
                  <a:pt x="2739" y="17649"/>
                  <a:pt x="2824" y="17643"/>
                  <a:pt x="2909" y="17629"/>
                </a:cubicBezTo>
                <a:lnTo>
                  <a:pt x="2897" y="17649"/>
                </a:lnTo>
                <a:cubicBezTo>
                  <a:pt x="3585" y="19288"/>
                  <a:pt x="4863" y="20299"/>
                  <a:pt x="6247" y="20299"/>
                </a:cubicBezTo>
                <a:cubicBezTo>
                  <a:pt x="6947" y="20299"/>
                  <a:pt x="7635" y="20039"/>
                  <a:pt x="8235" y="19546"/>
                </a:cubicBezTo>
                <a:lnTo>
                  <a:pt x="8229" y="19550"/>
                </a:lnTo>
                <a:cubicBezTo>
                  <a:pt x="8855" y="20829"/>
                  <a:pt x="9908" y="21596"/>
                  <a:pt x="11036" y="21596"/>
                </a:cubicBezTo>
                <a:cubicBezTo>
                  <a:pt x="12523" y="21596"/>
                  <a:pt x="13836" y="20267"/>
                  <a:pt x="14267" y="18324"/>
                </a:cubicBezTo>
                <a:lnTo>
                  <a:pt x="14270" y="18350"/>
                </a:lnTo>
                <a:cubicBezTo>
                  <a:pt x="14730" y="18740"/>
                  <a:pt x="15260" y="18946"/>
                  <a:pt x="15802" y="18946"/>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lnTo>
                  <a:pt x="1949" y="7180"/>
                </a:lnTo>
                <a:close/>
              </a:path>
              <a:path w="21600" h="21600" fill="none" extrusionOk="0">
                <a:moveTo>
                  <a:pt x="1074" y="12702"/>
                </a:moveTo>
                <a:cubicBezTo>
                  <a:pt x="1407" y="12969"/>
                  <a:pt x="1786" y="13109"/>
                  <a:pt x="2172" y="13109"/>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bg1"/>
          </a:solidFill>
          <a:ln w="9525">
            <a:solidFill>
              <a:srgbClr val="000000"/>
            </a:solidFill>
            <a:miter lim="800000"/>
          </a:ln>
          <a:effectLst>
            <a:outerShdw dist="53882" dir="2700000" algn="ctr" rotWithShape="0">
              <a:srgbClr val="808080"/>
            </a:outerShdw>
          </a:effectLst>
        </p:spPr>
        <p:txBody>
          <a:bodyPr tIns="457200" bIns="320040"/>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Customer</a:t>
            </a: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6" name="WordArt 671"/>
          <p:cNvSpPr>
            <a:spLocks noChangeAspect="1" noTextEdit="1"/>
          </p:cNvSpPr>
          <p:nvPr/>
        </p:nvSpPr>
        <p:spPr>
          <a:xfrm rot="-734604">
            <a:off x="3387725" y="4216400"/>
            <a:ext cx="3113088" cy="568325"/>
          </a:xfrm>
          <a:prstGeom prst="rect">
            <a:avLst/>
          </a:prstGeom>
        </p:spPr>
        <p:txBody>
          <a:bodyPr wrap="none" fromWordArt="1">
            <a:prstTxWarp prst="textCascadeUp">
              <a:avLst>
                <a:gd name="adj" fmla="val 28569"/>
              </a:avLst>
            </a:prstTxWarp>
            <a:normAutofit/>
          </a:bodyPr>
          <a:p>
            <a:pPr algn="ctr"/>
            <a:r>
              <a:rPr lang="zh-CN" altLang="en-US" sz="1800" b="1">
                <a:ln w="9525" cap="flat" cmpd="sng">
                  <a:solidFill>
                    <a:srgbClr val="000000"/>
                  </a:solidFill>
                  <a:prstDash val="solid"/>
                  <a:headEnd type="none" w="med" len="med"/>
                  <a:tailEnd type="none" w="med" len="med"/>
                </a:ln>
                <a:solidFill>
                  <a:srgbClr val="000000"/>
                </a:solidFill>
                <a:latin typeface="Arial Black" panose="020B0A04020102020204" charset="0"/>
                <a:ea typeface="Arial Black" panose="020B0A04020102020204" charset="0"/>
              </a:rPr>
              <a:t>Software Engineering</a:t>
            </a:r>
            <a:endParaRPr lang="zh-CN" altLang="en-US" sz="1800" b="1">
              <a:ln w="9525" cap="flat" cmpd="sng">
                <a:solidFill>
                  <a:srgbClr val="000000"/>
                </a:solidFill>
                <a:prstDash val="solid"/>
                <a:headEnd type="none" w="med" len="med"/>
                <a:tailEnd type="none" w="med" len="med"/>
              </a:ln>
              <a:solidFill>
                <a:srgbClr val="000000"/>
              </a:solidFill>
              <a:latin typeface="Arial Black" panose="020B0A04020102020204" charset="0"/>
              <a:ea typeface="Arial Black" panose="020B0A04020102020204" charset="0"/>
            </a:endParaRPr>
          </a:p>
        </p:txBody>
      </p:sp>
      <p:sp>
        <p:nvSpPr>
          <p:cNvPr id="15367" name="Text Box 672"/>
          <p:cNvSpPr txBox="1"/>
          <p:nvPr/>
        </p:nvSpPr>
        <p:spPr>
          <a:xfrm>
            <a:off x="7094538" y="4443413"/>
            <a:ext cx="1377950" cy="274637"/>
          </a:xfrm>
          <a:prstGeom prst="rect">
            <a:avLst/>
          </a:prstGeom>
          <a:noFill/>
          <a:ln w="9525">
            <a:noFill/>
          </a:ln>
        </p:spPr>
        <p:txBody>
          <a:bodyPr wrap="none" lIns="9144" tIns="0" rIns="9144" bIns="0">
            <a:spAutoFit/>
          </a:bodyPr>
          <a:p>
            <a:pPr algn="ctr"/>
            <a:r>
              <a:rPr lang="en-US" altLang="zh-CN" sz="1800" dirty="0">
                <a:latin typeface="Arial" panose="020B0604020202020204" pitchFamily="34" charset="0"/>
                <a:ea typeface="宋体" panose="02010600030101010101" pitchFamily="2" charset="-122"/>
              </a:rPr>
              <a:t>Programmer</a:t>
            </a:r>
            <a:endParaRPr lang="en-US" altLang="zh-CN" sz="1800" dirty="0">
              <a:latin typeface="Arial" panose="020B0604020202020204" pitchFamily="34" charset="0"/>
              <a:ea typeface="宋体" panose="02010600030101010101" pitchFamily="2" charset="-122"/>
            </a:endParaRPr>
          </a:p>
        </p:txBody>
      </p:sp>
      <p:sp>
        <p:nvSpPr>
          <p:cNvPr id="15368" name="TextBox 1"/>
          <p:cNvSpPr txBox="1"/>
          <p:nvPr/>
        </p:nvSpPr>
        <p:spPr>
          <a:xfrm>
            <a:off x="501650" y="1584325"/>
            <a:ext cx="6205220" cy="368300"/>
          </a:xfrm>
          <a:prstGeom prst="rect">
            <a:avLst/>
          </a:prstGeom>
          <a:noFill/>
          <a:ln w="9525">
            <a:noFill/>
          </a:ln>
        </p:spPr>
        <p:txBody>
          <a:bodyPr wrap="none">
            <a:spAutoFit/>
          </a:bodyPr>
          <a:p>
            <a:r>
              <a:rPr lang="en-US" altLang="zh-CN" sz="1800" dirty="0">
                <a:latin typeface="Calibri" panose="020F0502020204030204" pitchFamily="34" charset="0"/>
                <a:ea typeface="宋体" panose="02010600030101010101" pitchFamily="2" charset="-122"/>
                <a:cs typeface="Calibri" panose="020F0502020204030204" pitchFamily="34" charset="0"/>
              </a:rPr>
              <a:t>A bridge from customer needs to programming implementation</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p:txBody>
      </p:sp>
      <p:sp>
        <p:nvSpPr>
          <p:cNvPr id="15369" name="TextBox 10"/>
          <p:cNvSpPr txBox="1"/>
          <p:nvPr/>
        </p:nvSpPr>
        <p:spPr>
          <a:xfrm>
            <a:off x="2516505" y="5681980"/>
            <a:ext cx="5722620" cy="983615"/>
          </a:xfrm>
          <a:prstGeom prst="rect">
            <a:avLst/>
          </a:prstGeom>
          <a:noFill/>
          <a:ln w="9525">
            <a:noFill/>
          </a:ln>
        </p:spPr>
        <p:txBody>
          <a:bodyPr wrap="square">
            <a:spAutoFit/>
          </a:bodyPr>
          <a:p>
            <a:r>
              <a:rPr lang="en-US" altLang="zh-CN" u="sng" dirty="0">
                <a:solidFill>
                  <a:srgbClr val="0070C0"/>
                </a:solidFill>
                <a:latin typeface="Calibri" panose="020F0502020204030204" pitchFamily="34" charset="0"/>
                <a:ea typeface="宋体" panose="02010600030101010101" pitchFamily="2" charset="-122"/>
                <a:cs typeface="Calibri" panose="020F0502020204030204" pitchFamily="34" charset="0"/>
              </a:rPr>
              <a:t>First Law </a:t>
            </a:r>
            <a:r>
              <a:rPr lang="en-US" altLang="zh-CN" u="sng" dirty="0">
                <a:latin typeface="Calibri" panose="020F0502020204030204" pitchFamily="34" charset="0"/>
                <a:ea typeface="宋体" panose="02010600030101010101" pitchFamily="2" charset="-122"/>
                <a:cs typeface="Calibri" panose="020F0502020204030204" pitchFamily="34" charset="0"/>
              </a:rPr>
              <a:t>of Software Engineering</a:t>
            </a:r>
            <a:endParaRPr lang="en-US" altLang="zh-CN" sz="1800" u="sng" dirty="0">
              <a:latin typeface="Calibri" panose="020F0502020204030204" pitchFamily="34" charset="0"/>
              <a:ea typeface="宋体" panose="02010600030101010101" pitchFamily="2" charset="-122"/>
              <a:cs typeface="Calibri" panose="020F0502020204030204" pitchFamily="34" charset="0"/>
            </a:endParaRPr>
          </a:p>
          <a:p>
            <a:r>
              <a:rPr lang="en-US" altLang="zh-CN" sz="1800" dirty="0">
                <a:latin typeface="Calibri" panose="020F0502020204030204" pitchFamily="34" charset="0"/>
                <a:ea typeface="宋体" panose="02010600030101010101" pitchFamily="2" charset="-122"/>
                <a:cs typeface="Calibri" panose="020F0502020204030204" pitchFamily="34" charset="0"/>
              </a:rPr>
              <a:t>Software engineer is willing to learn the problem domain</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a:p>
            <a:r>
              <a:rPr lang="en-US" altLang="zh-CN" sz="1600" dirty="0">
                <a:latin typeface="Calibri" panose="020F0502020204030204" pitchFamily="34" charset="0"/>
                <a:ea typeface="宋体" panose="02010600030101010101" pitchFamily="2" charset="-122"/>
                <a:cs typeface="Calibri" panose="020F0502020204030204" pitchFamily="34" charset="0"/>
              </a:rPr>
              <a:t>(problem cannot be solved without understanding it first)</a:t>
            </a:r>
            <a:endParaRPr lang="en-US" altLang="zh-CN" sz="1600" dirty="0">
              <a:latin typeface="Calibri" panose="020F0502020204030204" pitchFamily="34" charset="0"/>
              <a:ea typeface="宋体" panose="02010600030101010101" pitchFamily="2" charset="-122"/>
              <a:cs typeface="Calibri" panose="020F0502020204030204" pitchFamily="34" charset="0"/>
            </a:endParaRPr>
          </a:p>
        </p:txBody>
      </p:sp>
      <p:sp>
        <p:nvSpPr>
          <p:cNvPr id="15370"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itle 1"/>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The Role of Software Engg. (2)</a:t>
            </a:r>
            <a:endParaRPr lang="en-US" altLang="zh-CN" dirty="0">
              <a:ea typeface="宋体" panose="02010600030101010101" pitchFamily="2" charset="-122"/>
            </a:endParaRPr>
          </a:p>
        </p:txBody>
      </p:sp>
      <p:sp>
        <p:nvSpPr>
          <p:cNvPr id="16387"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pic>
        <p:nvPicPr>
          <p:cNvPr id="16388" name="Picture 2"/>
          <p:cNvPicPr>
            <a:picLocks noChangeAspect="1"/>
          </p:cNvPicPr>
          <p:nvPr/>
        </p:nvPicPr>
        <p:blipFill>
          <a:blip r:embed="rId1"/>
          <a:stretch>
            <a:fillRect/>
          </a:stretch>
        </p:blipFill>
        <p:spPr>
          <a:xfrm>
            <a:off x="692150" y="1528763"/>
            <a:ext cx="7756525" cy="5129212"/>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9D88381E-F981-451D-A694-9570F416401C}" type="slidenum">
              <a:rPr lang="en-US" smtClean="0"/>
            </a:fld>
            <a:endParaRPr lang="en-US"/>
          </a:p>
        </p:txBody>
      </p:sp>
      <p:pic>
        <p:nvPicPr>
          <p:cNvPr id="4098" name="Picture 2"/>
          <p:cNvPicPr>
            <a:picLocks noChangeAspect="1" noChangeArrowheads="1"/>
          </p:cNvPicPr>
          <p:nvPr/>
        </p:nvPicPr>
        <p:blipFill>
          <a:blip r:embed="rId1" cstate="print"/>
          <a:srcRect/>
          <a:stretch>
            <a:fillRect/>
          </a:stretch>
        </p:blipFill>
        <p:spPr bwMode="auto">
          <a:xfrm>
            <a:off x="755576" y="548680"/>
            <a:ext cx="7551737" cy="53721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9D88381E-F981-451D-A694-9570F416401C}" type="slidenum">
              <a:rPr lang="en-US" smtClean="0"/>
            </a:fld>
            <a:endParaRPr lang="en-US"/>
          </a:p>
        </p:txBody>
      </p:sp>
      <p:pic>
        <p:nvPicPr>
          <p:cNvPr id="5122" name="Picture 2"/>
          <p:cNvPicPr>
            <a:picLocks noChangeAspect="1" noChangeArrowheads="1"/>
          </p:cNvPicPr>
          <p:nvPr/>
        </p:nvPicPr>
        <p:blipFill>
          <a:blip r:embed="rId1" cstate="print"/>
          <a:srcRect/>
          <a:stretch>
            <a:fillRect/>
          </a:stretch>
        </p:blipFill>
        <p:spPr bwMode="auto">
          <a:xfrm>
            <a:off x="657225" y="752475"/>
            <a:ext cx="7827963" cy="53530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326390" y="116840"/>
            <a:ext cx="8555355" cy="791845"/>
          </a:xfrm>
        </p:spPr>
        <p:txBody>
          <a:bodyPr/>
          <a:lstStyle/>
          <a:p>
            <a:pPr eaLnBrk="1" hangingPunct="1"/>
            <a:r>
              <a:rPr lang="en-US" sz="4000" dirty="0" smtClean="0"/>
              <a:t>Intelligent Agents in the World</a:t>
            </a:r>
            <a:endParaRPr lang="en-US" sz="4000" dirty="0" smtClean="0"/>
          </a:p>
        </p:txBody>
      </p:sp>
      <p:graphicFrame>
        <p:nvGraphicFramePr>
          <p:cNvPr id="1026" name="Object 3"/>
          <p:cNvGraphicFramePr>
            <a:graphicFrameLocks noChangeAspect="1"/>
          </p:cNvGraphicFramePr>
          <p:nvPr/>
        </p:nvGraphicFramePr>
        <p:xfrm>
          <a:off x="684213" y="1844675"/>
          <a:ext cx="7410450" cy="4278313"/>
        </p:xfrm>
        <a:graphic>
          <a:graphicData uri="http://schemas.openxmlformats.org/presentationml/2006/ole">
            <mc:AlternateContent xmlns:mc="http://schemas.openxmlformats.org/markup-compatibility/2006">
              <mc:Choice xmlns:v="urn:schemas-microsoft-com:vml" Requires="v">
                <p:oleObj spid="_x0000_s1025" name="Photo Editor Photo" r:id="rId1" imgW="5676900" imgH="3276600" progId="">
                  <p:embed/>
                </p:oleObj>
              </mc:Choice>
              <mc:Fallback>
                <p:oleObj name="Photo Editor Photo" r:id="rId1" imgW="5676900" imgH="3276600" progId="">
                  <p:embed/>
                  <p:pic>
                    <p:nvPicPr>
                      <p:cNvPr id="0" name="图片 1024"/>
                      <p:cNvPicPr>
                        <a:picLocks noChangeAspect="1"/>
                      </p:cNvPicPr>
                      <p:nvPr/>
                    </p:nvPicPr>
                    <p:blipFill>
                      <a:blip r:embed="rId2"/>
                      <a:stretch>
                        <a:fillRect/>
                      </a:stretch>
                    </p:blipFill>
                    <p:spPr>
                      <a:xfrm>
                        <a:off x="684213" y="1844675"/>
                        <a:ext cx="7410450" cy="4278313"/>
                      </a:xfrm>
                      <a:prstGeom prst="rect">
                        <a:avLst/>
                      </a:prstGeom>
                      <a:noFill/>
                      <a:ln w="9525">
                        <a:noFill/>
                      </a:ln>
                    </p:spPr>
                  </p:pic>
                </p:oleObj>
              </mc:Fallback>
            </mc:AlternateContent>
          </a:graphicData>
        </a:graphic>
      </p:graphicFrame>
      <p:sp>
        <p:nvSpPr>
          <p:cNvPr id="224260" name="Text Box 4"/>
          <p:cNvSpPr txBox="1">
            <a:spLocks noChangeArrowheads="1"/>
          </p:cNvSpPr>
          <p:nvPr/>
        </p:nvSpPr>
        <p:spPr bwMode="auto">
          <a:xfrm>
            <a:off x="215686" y="4327525"/>
            <a:ext cx="2676951" cy="2308324"/>
          </a:xfrm>
          <a:prstGeom prst="rect">
            <a:avLst/>
          </a:prstGeom>
          <a:solidFill>
            <a:schemeClr val="bg1"/>
          </a:solidFill>
          <a:ln w="25400">
            <a:noFill/>
            <a:miter lim="800000"/>
          </a:ln>
        </p:spPr>
        <p:txBody>
          <a:bodyPr wrap="none">
            <a:spAutoFit/>
          </a:bodyPr>
          <a:lstStyle/>
          <a:p>
            <a:pPr algn="ctr">
              <a:lnSpc>
                <a:spcPct val="100000"/>
              </a:lnSpc>
              <a:spcBef>
                <a:spcPts val="0"/>
              </a:spcBef>
            </a:pPr>
            <a:r>
              <a:rPr lang="en-US" sz="1800" b="1" dirty="0">
                <a:solidFill>
                  <a:schemeClr val="accent2"/>
                </a:solidFill>
                <a:latin typeface="+mn-lt"/>
              </a:rPr>
              <a:t>Natural Language </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Understanding</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 </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Computer Vision</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Speech Recognition</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Physiological Sensing</a:t>
            </a:r>
            <a:endParaRPr lang="en-US" sz="1800" b="1" dirty="0">
              <a:solidFill>
                <a:schemeClr val="accent2"/>
              </a:solidFill>
              <a:latin typeface="+mn-lt"/>
            </a:endParaRPr>
          </a:p>
          <a:p>
            <a:pPr algn="ctr">
              <a:lnSpc>
                <a:spcPct val="100000"/>
              </a:lnSpc>
              <a:spcBef>
                <a:spcPts val="0"/>
              </a:spcBef>
            </a:pPr>
            <a:r>
              <a:rPr lang="en-US" sz="1800" b="1" dirty="0">
                <a:solidFill>
                  <a:schemeClr val="accent2"/>
                </a:solidFill>
                <a:latin typeface="+mn-lt"/>
              </a:rPr>
              <a:t>Mining of Interaction Logs</a:t>
            </a:r>
            <a:endParaRPr lang="en-US" sz="1800" b="1" dirty="0">
              <a:solidFill>
                <a:schemeClr val="accent2"/>
              </a:solidFill>
              <a:latin typeface="+mn-lt"/>
            </a:endParaRPr>
          </a:p>
        </p:txBody>
      </p:sp>
      <p:sp>
        <p:nvSpPr>
          <p:cNvPr id="2060" name="Text Box 7"/>
          <p:cNvSpPr txBox="1">
            <a:spLocks noChangeArrowheads="1"/>
          </p:cNvSpPr>
          <p:nvPr/>
        </p:nvSpPr>
        <p:spPr bwMode="auto">
          <a:xfrm>
            <a:off x="36211" y="908050"/>
            <a:ext cx="3056542" cy="707886"/>
          </a:xfrm>
          <a:prstGeom prst="rect">
            <a:avLst/>
          </a:prstGeom>
          <a:solidFill>
            <a:schemeClr val="bg1"/>
          </a:solidFill>
          <a:ln w="25400">
            <a:noFill/>
            <a:miter lim="800000"/>
          </a:ln>
        </p:spPr>
        <p:txBody>
          <a:bodyPr wrap="none">
            <a:spAutoFit/>
          </a:bodyPr>
          <a:lstStyle/>
          <a:p>
            <a:pPr algn="ctr">
              <a:lnSpc>
                <a:spcPct val="100000"/>
              </a:lnSpc>
              <a:spcBef>
                <a:spcPts val="0"/>
              </a:spcBef>
            </a:pPr>
            <a:r>
              <a:rPr lang="en-US" sz="2000" b="1" dirty="0">
                <a:solidFill>
                  <a:schemeClr val="accent2"/>
                </a:solidFill>
                <a:latin typeface="+mn-lt"/>
              </a:rPr>
              <a:t>Knowledge Representation</a:t>
            </a:r>
            <a:endParaRPr lang="en-US" sz="2000" b="1" dirty="0">
              <a:solidFill>
                <a:schemeClr val="accent2"/>
              </a:solidFill>
              <a:latin typeface="+mn-lt"/>
            </a:endParaRPr>
          </a:p>
          <a:p>
            <a:pPr algn="ctr">
              <a:lnSpc>
                <a:spcPct val="100000"/>
              </a:lnSpc>
              <a:spcBef>
                <a:spcPts val="0"/>
              </a:spcBef>
            </a:pPr>
            <a:r>
              <a:rPr lang="en-US" sz="2000" b="1" dirty="0">
                <a:solidFill>
                  <a:schemeClr val="accent2"/>
                </a:solidFill>
                <a:latin typeface="+mn-lt"/>
              </a:rPr>
              <a:t>Machine Learning</a:t>
            </a:r>
            <a:endParaRPr lang="en-US" sz="2000" b="1" dirty="0">
              <a:solidFill>
                <a:schemeClr val="accent2"/>
              </a:solidFill>
              <a:latin typeface="+mn-lt"/>
            </a:endParaRPr>
          </a:p>
        </p:txBody>
      </p:sp>
      <p:sp>
        <p:nvSpPr>
          <p:cNvPr id="224264" name="Text Box 8"/>
          <p:cNvSpPr txBox="1">
            <a:spLocks noChangeArrowheads="1"/>
          </p:cNvSpPr>
          <p:nvPr/>
        </p:nvSpPr>
        <p:spPr bwMode="auto">
          <a:xfrm>
            <a:off x="6300192" y="1772816"/>
            <a:ext cx="1891415" cy="707886"/>
          </a:xfrm>
          <a:prstGeom prst="rect">
            <a:avLst/>
          </a:prstGeom>
          <a:solidFill>
            <a:schemeClr val="bg1"/>
          </a:solidFill>
          <a:ln w="25400">
            <a:noFill/>
            <a:miter lim="800000"/>
          </a:ln>
        </p:spPr>
        <p:txBody>
          <a:bodyPr wrap="none">
            <a:spAutoFit/>
          </a:bodyPr>
          <a:lstStyle/>
          <a:p>
            <a:pPr algn="ctr">
              <a:lnSpc>
                <a:spcPct val="100000"/>
              </a:lnSpc>
              <a:spcBef>
                <a:spcPts val="0"/>
              </a:spcBef>
            </a:pPr>
            <a:r>
              <a:rPr lang="en-US" sz="2000" b="1" dirty="0">
                <a:solidFill>
                  <a:schemeClr val="accent2"/>
                </a:solidFill>
                <a:latin typeface="+mn-lt"/>
              </a:rPr>
              <a:t>Reasoning + </a:t>
            </a:r>
            <a:endParaRPr lang="en-US" sz="2000" b="1" dirty="0">
              <a:solidFill>
                <a:schemeClr val="accent2"/>
              </a:solidFill>
              <a:latin typeface="+mn-lt"/>
            </a:endParaRPr>
          </a:p>
          <a:p>
            <a:pPr algn="ctr">
              <a:lnSpc>
                <a:spcPct val="100000"/>
              </a:lnSpc>
              <a:spcBef>
                <a:spcPts val="0"/>
              </a:spcBef>
            </a:pPr>
            <a:r>
              <a:rPr lang="en-US" sz="2000" b="1" dirty="0">
                <a:solidFill>
                  <a:schemeClr val="accent2"/>
                </a:solidFill>
                <a:latin typeface="+mn-lt"/>
              </a:rPr>
              <a:t>Decision Theory</a:t>
            </a:r>
            <a:endParaRPr lang="en-US" sz="2000" b="1" dirty="0">
              <a:solidFill>
                <a:schemeClr val="accent2"/>
              </a:solidFill>
              <a:latin typeface="+mn-lt"/>
            </a:endParaRPr>
          </a:p>
        </p:txBody>
      </p:sp>
      <p:sp>
        <p:nvSpPr>
          <p:cNvPr id="1037" name="Text Box 11"/>
          <p:cNvSpPr txBox="1">
            <a:spLocks noChangeArrowheads="1"/>
          </p:cNvSpPr>
          <p:nvPr/>
        </p:nvSpPr>
        <p:spPr bwMode="auto">
          <a:xfrm>
            <a:off x="7236170" y="3573016"/>
            <a:ext cx="1907830" cy="2225225"/>
          </a:xfrm>
          <a:prstGeom prst="rect">
            <a:avLst/>
          </a:prstGeom>
          <a:solidFill>
            <a:schemeClr val="bg1"/>
          </a:solidFill>
          <a:ln w="9525">
            <a:noFill/>
            <a:miter lim="800000"/>
          </a:ln>
        </p:spPr>
        <p:txBody>
          <a:bodyPr wrap="square">
            <a:spAutoFit/>
          </a:bodyPr>
          <a:lstStyle/>
          <a:p>
            <a:pPr>
              <a:lnSpc>
                <a:spcPct val="110000"/>
              </a:lnSpc>
              <a:spcBef>
                <a:spcPts val="0"/>
              </a:spcBef>
            </a:pPr>
            <a:r>
              <a:rPr lang="en-US" sz="1800" dirty="0">
                <a:solidFill>
                  <a:schemeClr val="accent2"/>
                </a:solidFill>
                <a:latin typeface="+mn-lt"/>
              </a:rPr>
              <a:t>Natural Language </a:t>
            </a:r>
            <a:endParaRPr lang="en-US" sz="1800" dirty="0">
              <a:solidFill>
                <a:schemeClr val="accent2"/>
              </a:solidFill>
              <a:latin typeface="+mn-lt"/>
            </a:endParaRPr>
          </a:p>
          <a:p>
            <a:pPr>
              <a:lnSpc>
                <a:spcPct val="110000"/>
              </a:lnSpc>
              <a:spcBef>
                <a:spcPts val="0"/>
              </a:spcBef>
            </a:pPr>
            <a:r>
              <a:rPr lang="en-US" sz="1800" dirty="0" smtClean="0">
                <a:solidFill>
                  <a:schemeClr val="accent2"/>
                </a:solidFill>
                <a:latin typeface="+mn-lt"/>
              </a:rPr>
              <a:t>Generation</a:t>
            </a:r>
            <a:endParaRPr lang="en-US" sz="1800" dirty="0" smtClean="0">
              <a:solidFill>
                <a:schemeClr val="accent2"/>
              </a:solidFill>
              <a:latin typeface="+mn-lt"/>
            </a:endParaRPr>
          </a:p>
          <a:p>
            <a:pPr>
              <a:lnSpc>
                <a:spcPct val="110000"/>
              </a:lnSpc>
              <a:spcBef>
                <a:spcPts val="0"/>
              </a:spcBef>
            </a:pPr>
            <a:r>
              <a:rPr lang="en-US" altLang="zh-CN" sz="1800" dirty="0" smtClean="0">
                <a:solidFill>
                  <a:schemeClr val="accent2"/>
                </a:solidFill>
                <a:latin typeface="+mn-lt"/>
              </a:rPr>
              <a:t>+ </a:t>
            </a:r>
            <a:endParaRPr lang="en-US" altLang="zh-CN" sz="1800" dirty="0" smtClean="0">
              <a:solidFill>
                <a:schemeClr val="accent2"/>
              </a:solidFill>
              <a:latin typeface="+mn-lt"/>
            </a:endParaRPr>
          </a:p>
          <a:p>
            <a:pPr>
              <a:lnSpc>
                <a:spcPct val="110000"/>
              </a:lnSpc>
              <a:spcBef>
                <a:spcPts val="0"/>
              </a:spcBef>
            </a:pPr>
            <a:r>
              <a:rPr lang="en-US" altLang="zh-CN" sz="1800" dirty="0" smtClean="0">
                <a:solidFill>
                  <a:schemeClr val="accent2"/>
                </a:solidFill>
                <a:latin typeface="+mn-lt"/>
              </a:rPr>
              <a:t>Robotics</a:t>
            </a:r>
            <a:endParaRPr lang="en-US" altLang="zh-CN" sz="1800" dirty="0" smtClean="0">
              <a:solidFill>
                <a:schemeClr val="accent2"/>
              </a:solidFill>
              <a:latin typeface="+mn-lt"/>
            </a:endParaRPr>
          </a:p>
          <a:p>
            <a:pPr>
              <a:lnSpc>
                <a:spcPct val="110000"/>
              </a:lnSpc>
              <a:spcBef>
                <a:spcPts val="0"/>
              </a:spcBef>
            </a:pPr>
            <a:r>
              <a:rPr lang="en-US" altLang="zh-CN" sz="1800" dirty="0" smtClean="0">
                <a:solidFill>
                  <a:schemeClr val="accent2"/>
                </a:solidFill>
                <a:latin typeface="+mn-lt"/>
              </a:rPr>
              <a:t>Human Computer</a:t>
            </a:r>
            <a:endParaRPr lang="en-US" altLang="zh-CN" sz="1800" dirty="0" smtClean="0">
              <a:solidFill>
                <a:schemeClr val="accent2"/>
              </a:solidFill>
              <a:latin typeface="+mn-lt"/>
            </a:endParaRPr>
          </a:p>
          <a:p>
            <a:pPr>
              <a:lnSpc>
                <a:spcPct val="110000"/>
              </a:lnSpc>
              <a:spcBef>
                <a:spcPts val="0"/>
              </a:spcBef>
            </a:pPr>
            <a:r>
              <a:rPr lang="en-US" altLang="zh-CN" sz="1800" dirty="0" smtClean="0">
                <a:solidFill>
                  <a:schemeClr val="accent2"/>
                </a:solidFill>
                <a:latin typeface="+mn-lt"/>
              </a:rPr>
              <a:t>/Robot</a:t>
            </a:r>
            <a:endParaRPr lang="en-US" altLang="zh-CN" sz="1800" dirty="0" smtClean="0">
              <a:solidFill>
                <a:schemeClr val="accent2"/>
              </a:solidFill>
              <a:latin typeface="+mn-lt"/>
            </a:endParaRPr>
          </a:p>
          <a:p>
            <a:pPr>
              <a:lnSpc>
                <a:spcPct val="110000"/>
              </a:lnSpc>
              <a:spcBef>
                <a:spcPts val="0"/>
              </a:spcBef>
            </a:pPr>
            <a:r>
              <a:rPr lang="en-US" altLang="zh-CN" sz="1800" dirty="0" smtClean="0">
                <a:solidFill>
                  <a:schemeClr val="accent2"/>
                </a:solidFill>
                <a:latin typeface="+mn-lt"/>
              </a:rPr>
              <a:t>Interaction</a:t>
            </a:r>
            <a:endParaRPr lang="en-US" sz="2000" b="1" dirty="0">
              <a:solidFill>
                <a:schemeClr val="accent2"/>
              </a:solidFill>
            </a:endParaRPr>
          </a:p>
        </p:txBody>
      </p:sp>
      <p:sp>
        <p:nvSpPr>
          <p:cNvPr id="1032" name="TextBox 12"/>
          <p:cNvSpPr txBox="1">
            <a:spLocks noChangeArrowheads="1"/>
          </p:cNvSpPr>
          <p:nvPr/>
        </p:nvSpPr>
        <p:spPr bwMode="auto">
          <a:xfrm>
            <a:off x="3059113" y="1268413"/>
            <a:ext cx="1214437" cy="461962"/>
          </a:xfrm>
          <a:prstGeom prst="rect">
            <a:avLst/>
          </a:prstGeom>
          <a:noFill/>
          <a:ln w="9525">
            <a:noFill/>
            <a:miter lim="800000"/>
          </a:ln>
        </p:spPr>
        <p:txBody>
          <a:bodyPr wrap="none">
            <a:spAutoFit/>
          </a:bodyPr>
          <a:lstStyle/>
          <a:p>
            <a:r>
              <a:rPr lang="en-US" sz="2400">
                <a:latin typeface="Arial" panose="020B0604020202020204" pitchFamily="34" charset="0"/>
              </a:rPr>
              <a:t>abilities</a:t>
            </a:r>
            <a:endParaRPr lang="en-US" sz="2400">
              <a:latin typeface="Arial" panose="020B0604020202020204" pitchFamily="34" charset="0"/>
            </a:endParaRPr>
          </a:p>
        </p:txBody>
      </p:sp>
      <p:cxnSp>
        <p:nvCxnSpPr>
          <p:cNvPr id="15" name="Straight Arrow Connector 14"/>
          <p:cNvCxnSpPr/>
          <p:nvPr/>
        </p:nvCxnSpPr>
        <p:spPr>
          <a:xfrm rot="16200000" flipH="1">
            <a:off x="3383757" y="1593056"/>
            <a:ext cx="258762" cy="473075"/>
          </a:xfrm>
          <a:prstGeom prst="straightConnector1">
            <a:avLst/>
          </a:prstGeom>
          <a:ln w="69850">
            <a:solidFill>
              <a:srgbClr val="FF3300"/>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179388" y="1069975"/>
            <a:ext cx="4210050" cy="2820988"/>
          </a:xfrm>
          <a:custGeom>
            <a:avLst/>
            <a:gdLst>
              <a:gd name="connsiteX0" fmla="*/ 3398252 w 4209716"/>
              <a:gd name="connsiteY0" fmla="*/ 29410 h 2820736"/>
              <a:gd name="connsiteX1" fmla="*/ 2732505 w 4209716"/>
              <a:gd name="connsiteY1" fmla="*/ 446505 h 2820736"/>
              <a:gd name="connsiteX2" fmla="*/ 1713831 w 4209716"/>
              <a:gd name="connsiteY2" fmla="*/ 630989 h 2820736"/>
              <a:gd name="connsiteX3" fmla="*/ 310147 w 4209716"/>
              <a:gd name="connsiteY3" fmla="*/ 687137 h 2820736"/>
              <a:gd name="connsiteX4" fmla="*/ 213895 w 4209716"/>
              <a:gd name="connsiteY4" fmla="*/ 2090821 h 2820736"/>
              <a:gd name="connsiteX5" fmla="*/ 1593516 w 4209716"/>
              <a:gd name="connsiteY5" fmla="*/ 2700421 h 2820736"/>
              <a:gd name="connsiteX6" fmla="*/ 3269916 w 4209716"/>
              <a:gd name="connsiteY6" fmla="*/ 2604168 h 2820736"/>
              <a:gd name="connsiteX7" fmla="*/ 3542631 w 4209716"/>
              <a:gd name="connsiteY7" fmla="*/ 1401010 h 2820736"/>
              <a:gd name="connsiteX8" fmla="*/ 3478463 w 4209716"/>
              <a:gd name="connsiteY8" fmla="*/ 863600 h 2820736"/>
              <a:gd name="connsiteX9" fmla="*/ 3767221 w 4209716"/>
              <a:gd name="connsiteY9" fmla="*/ 695158 h 2820736"/>
              <a:gd name="connsiteX10" fmla="*/ 4055979 w 4209716"/>
              <a:gd name="connsiteY10" fmla="*/ 663073 h 2820736"/>
              <a:gd name="connsiteX11" fmla="*/ 4096084 w 4209716"/>
              <a:gd name="connsiteY11" fmla="*/ 270042 h 2820736"/>
              <a:gd name="connsiteX12" fmla="*/ 3398252 w 4209716"/>
              <a:gd name="connsiteY12" fmla="*/ 29410 h 282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9716" h="2820736">
                <a:moveTo>
                  <a:pt x="3398252" y="29410"/>
                </a:moveTo>
                <a:cubicBezTo>
                  <a:pt x="3170989" y="58820"/>
                  <a:pt x="3013242" y="346242"/>
                  <a:pt x="2732505" y="446505"/>
                </a:cubicBezTo>
                <a:cubicBezTo>
                  <a:pt x="2451768" y="546768"/>
                  <a:pt x="2117557" y="590884"/>
                  <a:pt x="1713831" y="630989"/>
                </a:cubicBezTo>
                <a:cubicBezTo>
                  <a:pt x="1310105" y="671094"/>
                  <a:pt x="560136" y="443832"/>
                  <a:pt x="310147" y="687137"/>
                </a:cubicBezTo>
                <a:cubicBezTo>
                  <a:pt x="60158" y="930442"/>
                  <a:pt x="0" y="1755274"/>
                  <a:pt x="213895" y="2090821"/>
                </a:cubicBezTo>
                <a:cubicBezTo>
                  <a:pt x="427790" y="2426368"/>
                  <a:pt x="1084179" y="2614863"/>
                  <a:pt x="1593516" y="2700421"/>
                </a:cubicBezTo>
                <a:cubicBezTo>
                  <a:pt x="2102853" y="2785979"/>
                  <a:pt x="2945064" y="2820736"/>
                  <a:pt x="3269916" y="2604168"/>
                </a:cubicBezTo>
                <a:cubicBezTo>
                  <a:pt x="3594768" y="2387600"/>
                  <a:pt x="3507873" y="1691105"/>
                  <a:pt x="3542631" y="1401010"/>
                </a:cubicBezTo>
                <a:cubicBezTo>
                  <a:pt x="3577389" y="1110915"/>
                  <a:pt x="3441031" y="981242"/>
                  <a:pt x="3478463" y="863600"/>
                </a:cubicBezTo>
                <a:cubicBezTo>
                  <a:pt x="3515895" y="745958"/>
                  <a:pt x="3670968" y="728579"/>
                  <a:pt x="3767221" y="695158"/>
                </a:cubicBezTo>
                <a:cubicBezTo>
                  <a:pt x="3863474" y="661737"/>
                  <a:pt x="4001169" y="733926"/>
                  <a:pt x="4055979" y="663073"/>
                </a:cubicBezTo>
                <a:cubicBezTo>
                  <a:pt x="4110789" y="592220"/>
                  <a:pt x="4209716" y="372979"/>
                  <a:pt x="4096084" y="270042"/>
                </a:cubicBezTo>
                <a:cubicBezTo>
                  <a:pt x="3982452" y="167105"/>
                  <a:pt x="3625515" y="0"/>
                  <a:pt x="3398252" y="29410"/>
                </a:cubicBezTo>
                <a:close/>
              </a:path>
            </a:pathLst>
          </a:custGeom>
          <a:noFill/>
          <a:ln w="349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60">
                                            <p:bg/>
                                          </p:spTgt>
                                        </p:tgtEl>
                                        <p:attrNameLst>
                                          <p:attrName>style.visibility</p:attrName>
                                        </p:attrNameLst>
                                      </p:cBhvr>
                                      <p:to>
                                        <p:strVal val="visible"/>
                                      </p:to>
                                    </p:set>
                                    <p:animEffect transition="in" filter="fade">
                                      <p:cBhvr>
                                        <p:cTn id="12" dur="2000"/>
                                        <p:tgtEl>
                                          <p:spTgt spid="2060">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60">
                                            <p:txEl>
                                              <p:pRg st="0" end="0"/>
                                            </p:txEl>
                                          </p:spTgt>
                                        </p:tgtEl>
                                        <p:attrNameLst>
                                          <p:attrName>style.visibility</p:attrName>
                                        </p:attrNameLst>
                                      </p:cBhvr>
                                      <p:to>
                                        <p:strVal val="visible"/>
                                      </p:to>
                                    </p:set>
                                    <p:animEffect transition="in" filter="fade">
                                      <p:cBhvr>
                                        <p:cTn id="15" dur="2000"/>
                                        <p:tgtEl>
                                          <p:spTgt spid="2060">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60">
                                            <p:txEl>
                                              <p:pRg st="1" end="1"/>
                                            </p:txEl>
                                          </p:spTgt>
                                        </p:tgtEl>
                                        <p:attrNameLst>
                                          <p:attrName>style.visibility</p:attrName>
                                        </p:attrNameLst>
                                      </p:cBhvr>
                                      <p:to>
                                        <p:strVal val="visible"/>
                                      </p:to>
                                    </p:set>
                                    <p:animEffect transition="in" filter="fade">
                                      <p:cBhvr>
                                        <p:cTn id="18" dur="2000"/>
                                        <p:tgtEl>
                                          <p:spTgt spid="2060">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4260">
                                            <p:bg/>
                                          </p:spTgt>
                                        </p:tgtEl>
                                        <p:attrNameLst>
                                          <p:attrName>style.visibility</p:attrName>
                                        </p:attrNameLst>
                                      </p:cBhvr>
                                      <p:to>
                                        <p:strVal val="visible"/>
                                      </p:to>
                                    </p:set>
                                    <p:animEffect transition="in" filter="fade">
                                      <p:cBhvr>
                                        <p:cTn id="23" dur="2000"/>
                                        <p:tgtEl>
                                          <p:spTgt spid="224260">
                                            <p:bg/>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4260">
                                            <p:txEl>
                                              <p:pRg st="0" end="0"/>
                                            </p:txEl>
                                          </p:spTgt>
                                        </p:tgtEl>
                                        <p:attrNameLst>
                                          <p:attrName>style.visibility</p:attrName>
                                        </p:attrNameLst>
                                      </p:cBhvr>
                                      <p:to>
                                        <p:strVal val="visible"/>
                                      </p:to>
                                    </p:set>
                                    <p:animEffect transition="in" filter="fade">
                                      <p:cBhvr>
                                        <p:cTn id="26" dur="2000"/>
                                        <p:tgtEl>
                                          <p:spTgt spid="224260">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4260">
                                            <p:txEl>
                                              <p:pRg st="1" end="1"/>
                                            </p:txEl>
                                          </p:spTgt>
                                        </p:tgtEl>
                                        <p:attrNameLst>
                                          <p:attrName>style.visibility</p:attrName>
                                        </p:attrNameLst>
                                      </p:cBhvr>
                                      <p:to>
                                        <p:strVal val="visible"/>
                                      </p:to>
                                    </p:set>
                                    <p:animEffect transition="in" filter="fade">
                                      <p:cBhvr>
                                        <p:cTn id="29" dur="2000"/>
                                        <p:tgtEl>
                                          <p:spTgt spid="224260">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4260">
                                            <p:txEl>
                                              <p:pRg st="2" end="2"/>
                                            </p:txEl>
                                          </p:spTgt>
                                        </p:tgtEl>
                                        <p:attrNameLst>
                                          <p:attrName>style.visibility</p:attrName>
                                        </p:attrNameLst>
                                      </p:cBhvr>
                                      <p:to>
                                        <p:strVal val="visible"/>
                                      </p:to>
                                    </p:set>
                                    <p:animEffect transition="in" filter="fade">
                                      <p:cBhvr>
                                        <p:cTn id="32" dur="2000"/>
                                        <p:tgtEl>
                                          <p:spTgt spid="224260">
                                            <p:txEl>
                                              <p:pRg st="2" end="2"/>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4260">
                                            <p:txEl>
                                              <p:pRg st="3" end="3"/>
                                            </p:txEl>
                                          </p:spTgt>
                                        </p:tgtEl>
                                        <p:attrNameLst>
                                          <p:attrName>style.visibility</p:attrName>
                                        </p:attrNameLst>
                                      </p:cBhvr>
                                      <p:to>
                                        <p:strVal val="visible"/>
                                      </p:to>
                                    </p:set>
                                    <p:animEffect transition="in" filter="fade">
                                      <p:cBhvr>
                                        <p:cTn id="35" dur="2000"/>
                                        <p:tgtEl>
                                          <p:spTgt spid="224260">
                                            <p:txEl>
                                              <p:pRg st="3" end="3"/>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4260">
                                            <p:txEl>
                                              <p:pRg st="4" end="4"/>
                                            </p:txEl>
                                          </p:spTgt>
                                        </p:tgtEl>
                                        <p:attrNameLst>
                                          <p:attrName>style.visibility</p:attrName>
                                        </p:attrNameLst>
                                      </p:cBhvr>
                                      <p:to>
                                        <p:strVal val="visible"/>
                                      </p:to>
                                    </p:set>
                                    <p:animEffect transition="in" filter="fade">
                                      <p:cBhvr>
                                        <p:cTn id="38" dur="2000"/>
                                        <p:tgtEl>
                                          <p:spTgt spid="224260">
                                            <p:txEl>
                                              <p:pRg st="4" end="4"/>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4260">
                                            <p:txEl>
                                              <p:pRg st="5" end="5"/>
                                            </p:txEl>
                                          </p:spTgt>
                                        </p:tgtEl>
                                        <p:attrNameLst>
                                          <p:attrName>style.visibility</p:attrName>
                                        </p:attrNameLst>
                                      </p:cBhvr>
                                      <p:to>
                                        <p:strVal val="visible"/>
                                      </p:to>
                                    </p:set>
                                    <p:animEffect transition="in" filter="fade">
                                      <p:cBhvr>
                                        <p:cTn id="41" dur="2000"/>
                                        <p:tgtEl>
                                          <p:spTgt spid="224260">
                                            <p:txEl>
                                              <p:pRg st="5" end="5"/>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4260">
                                            <p:txEl>
                                              <p:pRg st="6" end="6"/>
                                            </p:txEl>
                                          </p:spTgt>
                                        </p:tgtEl>
                                        <p:attrNameLst>
                                          <p:attrName>style.visibility</p:attrName>
                                        </p:attrNameLst>
                                      </p:cBhvr>
                                      <p:to>
                                        <p:strVal val="visible"/>
                                      </p:to>
                                    </p:set>
                                    <p:animEffect transition="in" filter="fade">
                                      <p:cBhvr>
                                        <p:cTn id="44" dur="2000"/>
                                        <p:tgtEl>
                                          <p:spTgt spid="224260">
                                            <p:txEl>
                                              <p:pRg st="6" end="6"/>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4260">
                                            <p:txEl>
                                              <p:pRg st="7" end="7"/>
                                            </p:txEl>
                                          </p:spTgt>
                                        </p:tgtEl>
                                        <p:attrNameLst>
                                          <p:attrName>style.visibility</p:attrName>
                                        </p:attrNameLst>
                                      </p:cBhvr>
                                      <p:to>
                                        <p:strVal val="visible"/>
                                      </p:to>
                                    </p:set>
                                    <p:animEffect transition="in" filter="fade">
                                      <p:cBhvr>
                                        <p:cTn id="47" dur="2000"/>
                                        <p:tgtEl>
                                          <p:spTgt spid="224260">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24264">
                                            <p:bg/>
                                          </p:spTgt>
                                        </p:tgtEl>
                                        <p:attrNameLst>
                                          <p:attrName>style.visibility</p:attrName>
                                        </p:attrNameLst>
                                      </p:cBhvr>
                                      <p:to>
                                        <p:strVal val="visible"/>
                                      </p:to>
                                    </p:set>
                                    <p:animEffect transition="in" filter="wipe(down)">
                                      <p:cBhvr>
                                        <p:cTn id="52" dur="500"/>
                                        <p:tgtEl>
                                          <p:spTgt spid="224264">
                                            <p:bg/>
                                          </p:spTgt>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24264">
                                            <p:txEl>
                                              <p:pRg st="0" end="0"/>
                                            </p:txEl>
                                          </p:spTgt>
                                        </p:tgtEl>
                                        <p:attrNameLst>
                                          <p:attrName>style.visibility</p:attrName>
                                        </p:attrNameLst>
                                      </p:cBhvr>
                                      <p:to>
                                        <p:strVal val="visible"/>
                                      </p:to>
                                    </p:set>
                                    <p:animEffect transition="in" filter="wipe(down)">
                                      <p:cBhvr>
                                        <p:cTn id="55" dur="500"/>
                                        <p:tgtEl>
                                          <p:spTgt spid="224264">
                                            <p:txEl>
                                              <p:pRg st="0" end="0"/>
                                            </p:tx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24264">
                                            <p:txEl>
                                              <p:pRg st="1" end="1"/>
                                            </p:txEl>
                                          </p:spTgt>
                                        </p:tgtEl>
                                        <p:attrNameLst>
                                          <p:attrName>style.visibility</p:attrName>
                                        </p:attrNameLst>
                                      </p:cBhvr>
                                      <p:to>
                                        <p:strVal val="visible"/>
                                      </p:to>
                                    </p:set>
                                    <p:animEffect transition="in" filter="wipe(down)">
                                      <p:cBhvr>
                                        <p:cTn id="58" dur="500"/>
                                        <p:tgtEl>
                                          <p:spTgt spid="224264">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037">
                                            <p:bg/>
                                          </p:spTgt>
                                        </p:tgtEl>
                                        <p:attrNameLst>
                                          <p:attrName>style.visibility</p:attrName>
                                        </p:attrNameLst>
                                      </p:cBhvr>
                                      <p:to>
                                        <p:strVal val="visible"/>
                                      </p:to>
                                    </p:set>
                                    <p:animEffect transition="in" filter="fade">
                                      <p:cBhvr>
                                        <p:cTn id="63" dur="2000"/>
                                        <p:tgtEl>
                                          <p:spTgt spid="1037">
                                            <p:bg/>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037">
                                            <p:txEl>
                                              <p:pRg st="0" end="0"/>
                                            </p:txEl>
                                          </p:spTgt>
                                        </p:tgtEl>
                                        <p:attrNameLst>
                                          <p:attrName>style.visibility</p:attrName>
                                        </p:attrNameLst>
                                      </p:cBhvr>
                                      <p:to>
                                        <p:strVal val="visible"/>
                                      </p:to>
                                    </p:set>
                                    <p:animEffect transition="in" filter="fade">
                                      <p:cBhvr>
                                        <p:cTn id="66" dur="2000"/>
                                        <p:tgtEl>
                                          <p:spTgt spid="1037">
                                            <p:txEl>
                                              <p:pRg st="0" end="0"/>
                                            </p:txEl>
                                          </p:spTgt>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037">
                                            <p:txEl>
                                              <p:pRg st="1" end="1"/>
                                            </p:txEl>
                                          </p:spTgt>
                                        </p:tgtEl>
                                        <p:attrNameLst>
                                          <p:attrName>style.visibility</p:attrName>
                                        </p:attrNameLst>
                                      </p:cBhvr>
                                      <p:to>
                                        <p:strVal val="visible"/>
                                      </p:to>
                                    </p:set>
                                    <p:animEffect transition="in" filter="fade">
                                      <p:cBhvr>
                                        <p:cTn id="69" dur="2000"/>
                                        <p:tgtEl>
                                          <p:spTgt spid="1037">
                                            <p:txEl>
                                              <p:pRg st="1" end="1"/>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037">
                                            <p:txEl>
                                              <p:pRg st="2" end="2"/>
                                            </p:txEl>
                                          </p:spTgt>
                                        </p:tgtEl>
                                        <p:attrNameLst>
                                          <p:attrName>style.visibility</p:attrName>
                                        </p:attrNameLst>
                                      </p:cBhvr>
                                      <p:to>
                                        <p:strVal val="visible"/>
                                      </p:to>
                                    </p:set>
                                    <p:animEffect transition="in" filter="fade">
                                      <p:cBhvr>
                                        <p:cTn id="72" dur="2000"/>
                                        <p:tgtEl>
                                          <p:spTgt spid="1037">
                                            <p:txEl>
                                              <p:pRg st="2" end="2"/>
                                            </p:txEl>
                                          </p:spTgt>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037">
                                            <p:txEl>
                                              <p:pRg st="3" end="3"/>
                                            </p:txEl>
                                          </p:spTgt>
                                        </p:tgtEl>
                                        <p:attrNameLst>
                                          <p:attrName>style.visibility</p:attrName>
                                        </p:attrNameLst>
                                      </p:cBhvr>
                                      <p:to>
                                        <p:strVal val="visible"/>
                                      </p:to>
                                    </p:set>
                                    <p:animEffect transition="in" filter="fade">
                                      <p:cBhvr>
                                        <p:cTn id="75" dur="2000"/>
                                        <p:tgtEl>
                                          <p:spTgt spid="1037">
                                            <p:txEl>
                                              <p:pRg st="3" end="3"/>
                                            </p:txEl>
                                          </p:spTgt>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037">
                                            <p:txEl>
                                              <p:pRg st="4" end="4"/>
                                            </p:txEl>
                                          </p:spTgt>
                                        </p:tgtEl>
                                        <p:attrNameLst>
                                          <p:attrName>style.visibility</p:attrName>
                                        </p:attrNameLst>
                                      </p:cBhvr>
                                      <p:to>
                                        <p:strVal val="visible"/>
                                      </p:to>
                                    </p:set>
                                    <p:animEffect transition="in" filter="fade">
                                      <p:cBhvr>
                                        <p:cTn id="78" dur="2000"/>
                                        <p:tgtEl>
                                          <p:spTgt spid="1037">
                                            <p:txEl>
                                              <p:pRg st="4" end="4"/>
                                            </p:txEl>
                                          </p:spTgt>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037">
                                            <p:txEl>
                                              <p:pRg st="5" end="5"/>
                                            </p:txEl>
                                          </p:spTgt>
                                        </p:tgtEl>
                                        <p:attrNameLst>
                                          <p:attrName>style.visibility</p:attrName>
                                        </p:attrNameLst>
                                      </p:cBhvr>
                                      <p:to>
                                        <p:strVal val="visible"/>
                                      </p:to>
                                    </p:set>
                                    <p:animEffect transition="in" filter="fade">
                                      <p:cBhvr>
                                        <p:cTn id="81" dur="2000"/>
                                        <p:tgtEl>
                                          <p:spTgt spid="1037">
                                            <p:txEl>
                                              <p:pRg st="5" end="5"/>
                                            </p:tx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037">
                                            <p:txEl>
                                              <p:pRg st="6" end="6"/>
                                            </p:txEl>
                                          </p:spTgt>
                                        </p:tgtEl>
                                        <p:attrNameLst>
                                          <p:attrName>style.visibility</p:attrName>
                                        </p:attrNameLst>
                                      </p:cBhvr>
                                      <p:to>
                                        <p:strVal val="visible"/>
                                      </p:to>
                                    </p:set>
                                    <p:animEffect transition="in" filter="fade">
                                      <p:cBhvr>
                                        <p:cTn id="84" dur="2000"/>
                                        <p:tgtEl>
                                          <p:spTgt spid="103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0" grpId="0" animBg="1" build="allAtOnce"/>
      <p:bldP spid="2060" grpId="0" animBg="1" build="allAtOnce"/>
      <p:bldP spid="224264" grpId="0" animBg="1" build="allAtOnce"/>
      <p:bldP spid="1037" grpId="0" animBg="1"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1"/>
          <p:cNvSpPr/>
          <p:nvPr/>
        </p:nvSpPr>
        <p:spPr>
          <a:xfrm>
            <a:off x="662570" y="314200"/>
            <a:ext cx="7819096" cy="295466"/>
          </a:xfrm>
          <a:prstGeom prst="rect">
            <a:avLst/>
          </a:prstGeom>
          <a:blipFill>
            <a:blip r:embed="rId1" cstate="print"/>
            <a:stretch>
              <a:fillRect/>
            </a:stretch>
          </a:blipFill>
        </p:spPr>
        <p:txBody>
          <a:bodyPr wrap="square" lIns="0" tIns="0" rIns="0" bIns="0" rtlCol="0">
            <a:spAutoFit/>
          </a:bodyPr>
          <a:lstStyle/>
          <a:p/>
        </p:txBody>
      </p:sp>
      <p:sp>
        <p:nvSpPr>
          <p:cNvPr id="3" name="object 3"/>
          <p:cNvSpPr txBox="1"/>
          <p:nvPr/>
        </p:nvSpPr>
        <p:spPr>
          <a:xfrm>
            <a:off x="466725" y="577215"/>
            <a:ext cx="8348980" cy="494030"/>
          </a:xfrm>
          <a:prstGeom prst="rect">
            <a:avLst/>
          </a:prstGeom>
        </p:spPr>
        <p:txBody>
          <a:bodyPr vert="horz" wrap="square" lIns="0" tIns="0" rIns="0" bIns="0" rtlCol="0">
            <a:spAutoFit/>
          </a:bodyPr>
          <a:lstStyle/>
          <a:p>
            <a:pPr>
              <a:lnSpc>
                <a:spcPts val="3855"/>
              </a:lnSpc>
              <a:spcBef>
                <a:spcPct val="0"/>
              </a:spcBef>
            </a:pPr>
            <a:r>
              <a:rPr sz="3200" spc="-15" dirty="0">
                <a:solidFill>
                  <a:srgbClr val="000000"/>
                </a:solidFill>
                <a:latin typeface="Calibri" panose="020F0502020204030204"/>
                <a:cs typeface="Calibri" panose="020F0502020204030204"/>
              </a:rPr>
              <a:t>Research</a:t>
            </a:r>
            <a:r>
              <a:rPr sz="3200" spc="-62" dirty="0">
                <a:solidFill>
                  <a:srgbClr val="000000"/>
                </a:solidFill>
                <a:latin typeface="Times New Roman" panose="02020603050405020304"/>
                <a:cs typeface="Times New Roman" panose="02020603050405020304"/>
              </a:rPr>
              <a:t> </a:t>
            </a:r>
            <a:r>
              <a:rPr sz="3200" dirty="0">
                <a:solidFill>
                  <a:srgbClr val="000000"/>
                </a:solidFill>
                <a:latin typeface="Calibri" panose="020F0502020204030204"/>
                <a:cs typeface="Calibri" panose="020F0502020204030204"/>
              </a:rPr>
              <a:t>methodology</a:t>
            </a:r>
            <a:r>
              <a:rPr lang="en-US" sz="3200" dirty="0">
                <a:solidFill>
                  <a:srgbClr val="000000"/>
                </a:solidFill>
                <a:latin typeface="Calibri" panose="020F0502020204030204"/>
                <a:cs typeface="Calibri" panose="020F0502020204030204"/>
              </a:rPr>
              <a:t> </a:t>
            </a:r>
            <a:r>
              <a:rPr sz="3200" spc="-10" dirty="0" err="1">
                <a:solidFill>
                  <a:srgbClr val="000000"/>
                </a:solidFill>
                <a:latin typeface="Calibri" panose="020F0502020204030204"/>
                <a:cs typeface="Calibri" panose="020F0502020204030204"/>
              </a:rPr>
              <a:t>accross</a:t>
            </a:r>
            <a:r>
              <a:rPr sz="3200" spc="-67" dirty="0">
                <a:solidFill>
                  <a:srgbClr val="000000"/>
                </a:solidFill>
                <a:latin typeface="Times New Roman" panose="02020603050405020304"/>
                <a:cs typeface="Times New Roman" panose="02020603050405020304"/>
              </a:rPr>
              <a:t> </a:t>
            </a:r>
            <a:r>
              <a:rPr sz="3200" dirty="0">
                <a:solidFill>
                  <a:srgbClr val="000000"/>
                </a:solidFill>
                <a:latin typeface="Calibri" panose="020F0502020204030204"/>
                <a:cs typeface="Calibri" panose="020F0502020204030204"/>
              </a:rPr>
              <a:t>the</a:t>
            </a:r>
            <a:r>
              <a:rPr sz="3200" dirty="0">
                <a:solidFill>
                  <a:srgbClr val="000000"/>
                </a:solidFill>
                <a:latin typeface="Times New Roman" panose="02020603050405020304"/>
                <a:cs typeface="Times New Roman" panose="02020603050405020304"/>
              </a:rPr>
              <a:t> </a:t>
            </a:r>
            <a:r>
              <a:rPr sz="3200" dirty="0">
                <a:solidFill>
                  <a:srgbClr val="000000"/>
                </a:solidFill>
                <a:latin typeface="Calibri" panose="020F0502020204030204"/>
                <a:cs typeface="Calibri" panose="020F0502020204030204"/>
              </a:rPr>
              <a:t>disciplines</a:t>
            </a:r>
            <a:endParaRPr sz="3200" dirty="0">
              <a:solidFill>
                <a:srgbClr val="000000"/>
              </a:solidFill>
              <a:latin typeface="Calibri" panose="020F0502020204030204"/>
              <a:cs typeface="Calibri" panose="020F0502020204030204"/>
            </a:endParaRPr>
          </a:p>
        </p:txBody>
      </p:sp>
      <p:sp>
        <p:nvSpPr>
          <p:cNvPr id="4" name="object 4"/>
          <p:cNvSpPr txBox="1"/>
          <p:nvPr/>
        </p:nvSpPr>
        <p:spPr>
          <a:xfrm>
            <a:off x="467544" y="1916832"/>
            <a:ext cx="7990656" cy="329565"/>
          </a:xfrm>
          <a:prstGeom prst="rect">
            <a:avLst/>
          </a:prstGeom>
        </p:spPr>
        <p:txBody>
          <a:bodyPr vert="horz" wrap="square" lIns="0" tIns="0" rIns="0" bIns="0" rtlCol="0">
            <a:spAutoFit/>
          </a:bodyPr>
          <a:lstStyle/>
          <a:p>
            <a:pPr algn="l">
              <a:lnSpc>
                <a:spcPts val="2570"/>
              </a:lnSpc>
              <a:spcBef>
                <a:spcPct val="0"/>
              </a:spcBef>
            </a:pPr>
            <a:r>
              <a:rPr sz="2800" b="0" dirty="0">
                <a:solidFill>
                  <a:srgbClr val="0070C0"/>
                </a:solidFill>
                <a:latin typeface="MBHRGQ+ArialMT"/>
                <a:cs typeface="MBHRGQ+ArialMT"/>
              </a:rPr>
              <a:t>•</a:t>
            </a:r>
            <a:r>
              <a:rPr sz="2800" b="0" spc="1105"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Do</a:t>
            </a:r>
            <a:r>
              <a:rPr sz="2800" b="0" spc="-51"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these</a:t>
            </a:r>
            <a:r>
              <a:rPr sz="2800" b="0" spc="-50"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disciplines</a:t>
            </a:r>
            <a:r>
              <a:rPr sz="2800" b="0" spc="-50" dirty="0">
                <a:solidFill>
                  <a:srgbClr val="0070C0"/>
                </a:solidFill>
                <a:latin typeface="Times New Roman" panose="02020603050405020304"/>
                <a:cs typeface="Times New Roman" panose="02020603050405020304"/>
              </a:rPr>
              <a:t> </a:t>
            </a:r>
            <a:r>
              <a:rPr sz="2800" b="0" spc="-13" dirty="0">
                <a:solidFill>
                  <a:srgbClr val="0070C0"/>
                </a:solidFill>
                <a:latin typeface="Calibri" panose="020F0502020204030204"/>
                <a:cs typeface="Calibri" panose="020F0502020204030204"/>
              </a:rPr>
              <a:t>have</a:t>
            </a:r>
            <a:r>
              <a:rPr sz="2800" b="0" spc="-36"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the</a:t>
            </a:r>
            <a:r>
              <a:rPr sz="2800" b="0" spc="-73"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same</a:t>
            </a:r>
            <a:r>
              <a:rPr sz="2800" b="0" spc="-60" dirty="0">
                <a:solidFill>
                  <a:srgbClr val="0070C0"/>
                </a:solidFill>
                <a:latin typeface="Times New Roman" panose="02020603050405020304"/>
                <a:cs typeface="Times New Roman" panose="02020603050405020304"/>
              </a:rPr>
              <a:t> </a:t>
            </a:r>
            <a:r>
              <a:rPr sz="2800" b="0" dirty="0">
                <a:solidFill>
                  <a:srgbClr val="0070C0"/>
                </a:solidFill>
                <a:latin typeface="Calibri" panose="020F0502020204030204"/>
                <a:cs typeface="Calibri" panose="020F0502020204030204"/>
              </a:rPr>
              <a:t>methodology?</a:t>
            </a:r>
            <a:endParaRPr sz="2800" b="0" dirty="0">
              <a:solidFill>
                <a:srgbClr val="0070C0"/>
              </a:solidFill>
              <a:latin typeface="Calibri" panose="020F0502020204030204"/>
              <a:cs typeface="Calibri" panose="020F0502020204030204"/>
            </a:endParaRPr>
          </a:p>
        </p:txBody>
      </p:sp>
      <p:sp>
        <p:nvSpPr>
          <p:cNvPr id="5" name="object 5"/>
          <p:cNvSpPr txBox="1"/>
          <p:nvPr/>
        </p:nvSpPr>
        <p:spPr>
          <a:xfrm>
            <a:off x="466090" y="2637155"/>
            <a:ext cx="8428990" cy="2493010"/>
          </a:xfrm>
          <a:prstGeom prst="rect">
            <a:avLst/>
          </a:prstGeom>
        </p:spPr>
        <p:txBody>
          <a:bodyPr vert="horz" wrap="square" lIns="0" tIns="0" rIns="0" bIns="0" rtlCol="0">
            <a:spAutoFit/>
          </a:bodyPr>
          <a:lstStyle/>
          <a:p>
            <a:pPr marL="144145" indent="-673100" algn="l">
              <a:lnSpc>
                <a:spcPct val="100000"/>
              </a:lnSpc>
              <a:spcBef>
                <a:spcPts val="600"/>
              </a:spcBef>
              <a:spcAft>
                <a:spcPts val="600"/>
              </a:spcAft>
            </a:pPr>
            <a:r>
              <a:rPr sz="2200" b="0" dirty="0">
                <a:solidFill>
                  <a:srgbClr val="000000"/>
                </a:solidFill>
                <a:latin typeface="+mn-lt"/>
                <a:cs typeface="MBHRGQ+ArialMT"/>
              </a:rPr>
              <a:t>–</a:t>
            </a:r>
            <a:r>
              <a:rPr sz="2200" b="0" spc="559" dirty="0">
                <a:solidFill>
                  <a:srgbClr val="000000"/>
                </a:solidFill>
                <a:latin typeface="+mn-lt"/>
                <a:cs typeface="Times New Roman" panose="02020603050405020304"/>
              </a:rPr>
              <a:t> </a:t>
            </a:r>
            <a:r>
              <a:rPr sz="2200" b="0" spc="-18" dirty="0">
                <a:solidFill>
                  <a:srgbClr val="000000"/>
                </a:solidFill>
                <a:latin typeface="+mn-lt"/>
                <a:cs typeface="Calibri" panose="020F0502020204030204"/>
              </a:rPr>
              <a:t>Technical</a:t>
            </a:r>
            <a:r>
              <a:rPr sz="2200" b="0" spc="-25" dirty="0">
                <a:solidFill>
                  <a:srgbClr val="000000"/>
                </a:solidFill>
                <a:latin typeface="+mn-lt"/>
                <a:cs typeface="Times New Roman" panose="02020603050405020304"/>
              </a:rPr>
              <a:t> </a:t>
            </a:r>
            <a:r>
              <a:rPr sz="2200" b="0" dirty="0">
                <a:solidFill>
                  <a:srgbClr val="000000"/>
                </a:solidFill>
                <a:latin typeface="+mn-lt"/>
                <a:cs typeface="Calibri" panose="020F0502020204030204"/>
              </a:rPr>
              <a:t>science?</a:t>
            </a:r>
            <a:r>
              <a:rPr sz="2200" b="0" dirty="0">
                <a:solidFill>
                  <a:srgbClr val="000000"/>
                </a:solidFill>
                <a:latin typeface="+mn-lt"/>
                <a:cs typeface="Times New Roman" panose="02020603050405020304"/>
              </a:rPr>
              <a:t> </a:t>
            </a:r>
            <a:r>
              <a:rPr sz="2200" b="0" dirty="0">
                <a:solidFill>
                  <a:srgbClr val="000000"/>
                </a:solidFill>
                <a:latin typeface="+mn-lt"/>
                <a:cs typeface="Calibri" panose="020F0502020204030204"/>
              </a:rPr>
              <a:t>Build</a:t>
            </a:r>
            <a:r>
              <a:rPr sz="2200" b="0" spc="-34" dirty="0">
                <a:solidFill>
                  <a:srgbClr val="000000"/>
                </a:solidFill>
                <a:latin typeface="+mn-lt"/>
                <a:cs typeface="Times New Roman" panose="02020603050405020304"/>
              </a:rPr>
              <a:t> </a:t>
            </a:r>
            <a:r>
              <a:rPr sz="2200" b="0" dirty="0">
                <a:solidFill>
                  <a:srgbClr val="000000"/>
                </a:solidFill>
                <a:latin typeface="+mn-lt"/>
                <a:cs typeface="Calibri" panose="020F0502020204030204"/>
              </a:rPr>
              <a:t>cool</a:t>
            </a:r>
            <a:r>
              <a:rPr sz="2200" b="0" spc="-43" dirty="0">
                <a:solidFill>
                  <a:srgbClr val="000000"/>
                </a:solidFill>
                <a:latin typeface="+mn-lt"/>
                <a:cs typeface="Times New Roman" panose="02020603050405020304"/>
              </a:rPr>
              <a:t> </a:t>
            </a:r>
            <a:r>
              <a:rPr sz="2200" b="0" spc="-9" dirty="0">
                <a:solidFill>
                  <a:srgbClr val="000000"/>
                </a:solidFill>
                <a:latin typeface="+mn-lt"/>
                <a:cs typeface="Calibri" panose="020F0502020204030204"/>
              </a:rPr>
              <a:t>stuff;</a:t>
            </a:r>
            <a:r>
              <a:rPr sz="2200" b="0" spc="-33" dirty="0">
                <a:solidFill>
                  <a:srgbClr val="000000"/>
                </a:solidFill>
                <a:latin typeface="+mn-lt"/>
                <a:cs typeface="Times New Roman" panose="02020603050405020304"/>
              </a:rPr>
              <a:t> </a:t>
            </a:r>
            <a:r>
              <a:rPr sz="2200" b="0" spc="-13" dirty="0">
                <a:solidFill>
                  <a:srgbClr val="000000"/>
                </a:solidFill>
                <a:latin typeface="+mn-lt"/>
                <a:cs typeface="Calibri" panose="020F0502020204030204"/>
              </a:rPr>
              <a:t>test</a:t>
            </a:r>
            <a:r>
              <a:rPr sz="2200" b="0" spc="-30" dirty="0">
                <a:solidFill>
                  <a:srgbClr val="000000"/>
                </a:solidFill>
                <a:latin typeface="+mn-lt"/>
                <a:cs typeface="Times New Roman" panose="02020603050405020304"/>
              </a:rPr>
              <a:t> </a:t>
            </a:r>
            <a:r>
              <a:rPr sz="2200" b="0" dirty="0">
                <a:solidFill>
                  <a:srgbClr val="000000"/>
                </a:solidFill>
                <a:latin typeface="+mn-lt"/>
                <a:cs typeface="Calibri" panose="020F0502020204030204"/>
              </a:rPr>
              <a:t>it;</a:t>
            </a:r>
            <a:r>
              <a:rPr sz="2200" b="0" spc="-13" dirty="0">
                <a:solidFill>
                  <a:srgbClr val="000000"/>
                </a:solidFill>
                <a:latin typeface="+mn-lt"/>
                <a:cs typeface="Times New Roman" panose="02020603050405020304"/>
              </a:rPr>
              <a:t> </a:t>
            </a:r>
            <a:r>
              <a:rPr sz="2200" b="0" spc="-15" dirty="0">
                <a:solidFill>
                  <a:srgbClr val="000000"/>
                </a:solidFill>
                <a:latin typeface="+mn-lt"/>
                <a:cs typeface="Calibri" panose="020F0502020204030204"/>
              </a:rPr>
              <a:t>iterate</a:t>
            </a:r>
            <a:endParaRPr sz="2200" b="0" spc="-15" dirty="0">
              <a:solidFill>
                <a:srgbClr val="000000"/>
              </a:solidFill>
              <a:latin typeface="+mn-lt"/>
              <a:cs typeface="Calibri" panose="020F0502020204030204"/>
            </a:endParaRPr>
          </a:p>
          <a:p>
            <a:pPr marL="144145" indent="-673100" algn="l">
              <a:lnSpc>
                <a:spcPct val="100000"/>
              </a:lnSpc>
              <a:spcBef>
                <a:spcPts val="600"/>
              </a:spcBef>
              <a:spcAft>
                <a:spcPts val="600"/>
              </a:spcAft>
            </a:pPr>
            <a:r>
              <a:rPr sz="2200" b="0" dirty="0">
                <a:solidFill>
                  <a:srgbClr val="000000"/>
                </a:solidFill>
                <a:latin typeface="+mn-lt"/>
                <a:cs typeface="MBHRGQ+ArialMT"/>
              </a:rPr>
              <a:t>–</a:t>
            </a:r>
            <a:r>
              <a:rPr sz="2200" b="0" spc="559" dirty="0">
                <a:solidFill>
                  <a:srgbClr val="000000"/>
                </a:solidFill>
                <a:latin typeface="+mn-lt"/>
                <a:cs typeface="Times New Roman" panose="02020603050405020304"/>
              </a:rPr>
              <a:t> </a:t>
            </a:r>
            <a:r>
              <a:rPr sz="2200" b="0" dirty="0">
                <a:solidFill>
                  <a:srgbClr val="000000"/>
                </a:solidFill>
                <a:latin typeface="+mn-lt"/>
                <a:cs typeface="Calibri" panose="020F0502020204030204"/>
              </a:rPr>
              <a:t>Social</a:t>
            </a:r>
            <a:r>
              <a:rPr sz="2200" b="0" spc="-29" dirty="0">
                <a:solidFill>
                  <a:srgbClr val="000000"/>
                </a:solidFill>
                <a:latin typeface="+mn-lt"/>
                <a:cs typeface="Times New Roman" panose="02020603050405020304"/>
              </a:rPr>
              <a:t> </a:t>
            </a:r>
            <a:r>
              <a:rPr sz="2200" b="0" dirty="0">
                <a:solidFill>
                  <a:srgbClr val="000000"/>
                </a:solidFill>
                <a:latin typeface="+mn-lt"/>
                <a:cs typeface="Calibri" panose="020F0502020204030204"/>
              </a:rPr>
              <a:t>science?</a:t>
            </a:r>
            <a:r>
              <a:rPr sz="2200" b="0" spc="-17" dirty="0">
                <a:solidFill>
                  <a:srgbClr val="000000"/>
                </a:solidFill>
                <a:latin typeface="+mn-lt"/>
                <a:cs typeface="Times New Roman" panose="02020603050405020304"/>
              </a:rPr>
              <a:t> </a:t>
            </a:r>
            <a:r>
              <a:rPr sz="2200" b="0" dirty="0">
                <a:solidFill>
                  <a:srgbClr val="000000"/>
                </a:solidFill>
                <a:latin typeface="+mn-lt"/>
                <a:cs typeface="Calibri" panose="020F0502020204030204"/>
              </a:rPr>
              <a:t>Observe</a:t>
            </a:r>
            <a:r>
              <a:rPr sz="2200" b="0" spc="-37" dirty="0">
                <a:solidFill>
                  <a:srgbClr val="000000"/>
                </a:solidFill>
                <a:latin typeface="+mn-lt"/>
                <a:cs typeface="Times New Roman" panose="02020603050405020304"/>
              </a:rPr>
              <a:t> </a:t>
            </a:r>
            <a:r>
              <a:rPr sz="2200" b="0" dirty="0">
                <a:solidFill>
                  <a:srgbClr val="000000"/>
                </a:solidFill>
                <a:latin typeface="+mn-lt"/>
                <a:cs typeface="Calibri" panose="020F0502020204030204"/>
              </a:rPr>
              <a:t>people,</a:t>
            </a:r>
            <a:r>
              <a:rPr sz="2200" b="0" spc="-41" dirty="0">
                <a:solidFill>
                  <a:srgbClr val="000000"/>
                </a:solidFill>
                <a:latin typeface="+mn-lt"/>
                <a:cs typeface="Times New Roman" panose="02020603050405020304"/>
              </a:rPr>
              <a:t> </a:t>
            </a:r>
            <a:r>
              <a:rPr sz="2200" b="0" dirty="0">
                <a:solidFill>
                  <a:srgbClr val="000000"/>
                </a:solidFill>
                <a:latin typeface="+mn-lt"/>
                <a:cs typeface="Calibri" panose="020F0502020204030204"/>
              </a:rPr>
              <a:t>interpret</a:t>
            </a:r>
            <a:r>
              <a:rPr sz="2200" b="0" spc="-18" dirty="0">
                <a:solidFill>
                  <a:srgbClr val="000000"/>
                </a:solidFill>
                <a:latin typeface="+mn-lt"/>
                <a:cs typeface="Times New Roman" panose="02020603050405020304"/>
              </a:rPr>
              <a:t> </a:t>
            </a:r>
            <a:r>
              <a:rPr sz="2200" b="0" dirty="0">
                <a:solidFill>
                  <a:srgbClr val="000000"/>
                </a:solidFill>
                <a:latin typeface="+mn-lt"/>
                <a:cs typeface="Calibri" panose="020F0502020204030204"/>
              </a:rPr>
              <a:t>what</a:t>
            </a:r>
            <a:r>
              <a:rPr sz="2200" b="0" spc="-54" dirty="0">
                <a:solidFill>
                  <a:srgbClr val="000000"/>
                </a:solidFill>
                <a:latin typeface="+mn-lt"/>
                <a:cs typeface="Times New Roman" panose="02020603050405020304"/>
              </a:rPr>
              <a:t> </a:t>
            </a:r>
            <a:r>
              <a:rPr sz="2200" b="0" dirty="0">
                <a:solidFill>
                  <a:srgbClr val="000000"/>
                </a:solidFill>
                <a:latin typeface="+mn-lt"/>
                <a:cs typeface="Calibri" panose="020F0502020204030204"/>
              </a:rPr>
              <a:t>they</a:t>
            </a:r>
            <a:r>
              <a:rPr sz="2200" b="0" spc="-47" dirty="0">
                <a:solidFill>
                  <a:srgbClr val="000000"/>
                </a:solidFill>
                <a:latin typeface="+mn-lt"/>
                <a:cs typeface="Times New Roman" panose="02020603050405020304"/>
              </a:rPr>
              <a:t> </a:t>
            </a:r>
            <a:r>
              <a:rPr sz="2200" b="0" dirty="0">
                <a:solidFill>
                  <a:srgbClr val="000000"/>
                </a:solidFill>
                <a:latin typeface="+mn-lt"/>
                <a:cs typeface="Calibri" panose="020F0502020204030204"/>
              </a:rPr>
              <a:t>do</a:t>
            </a:r>
            <a:r>
              <a:rPr sz="2200" b="0" spc="-42" dirty="0">
                <a:solidFill>
                  <a:srgbClr val="000000"/>
                </a:solidFill>
                <a:latin typeface="+mn-lt"/>
                <a:cs typeface="Times New Roman" panose="02020603050405020304"/>
              </a:rPr>
              <a:t> </a:t>
            </a:r>
            <a:r>
              <a:rPr sz="2200" b="0" dirty="0">
                <a:solidFill>
                  <a:srgbClr val="000000"/>
                </a:solidFill>
                <a:latin typeface="+mn-lt"/>
                <a:cs typeface="Calibri" panose="020F0502020204030204"/>
              </a:rPr>
              <a:t>or</a:t>
            </a:r>
            <a:r>
              <a:rPr sz="2200" b="0" spc="-41" dirty="0">
                <a:solidFill>
                  <a:srgbClr val="000000"/>
                </a:solidFill>
                <a:latin typeface="+mn-lt"/>
                <a:cs typeface="Times New Roman" panose="02020603050405020304"/>
              </a:rPr>
              <a:t> </a:t>
            </a:r>
            <a:r>
              <a:rPr sz="2200" b="0" spc="-10" dirty="0">
                <a:solidFill>
                  <a:srgbClr val="000000"/>
                </a:solidFill>
                <a:latin typeface="+mn-lt"/>
                <a:cs typeface="Calibri" panose="020F0502020204030204"/>
              </a:rPr>
              <a:t>say;</a:t>
            </a:r>
            <a:r>
              <a:rPr sz="2200" b="0" spc="-32" dirty="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or</a:t>
            </a:r>
            <a:r>
              <a:rPr lang="en-US" sz="2200" b="0" dirty="0" smtClean="0">
                <a:solidFill>
                  <a:srgbClr val="000000"/>
                </a:solidFill>
                <a:latin typeface="+mn-lt"/>
                <a:cs typeface="Calibri" panose="020F0502020204030204"/>
              </a:rPr>
              <a:t> </a:t>
            </a:r>
            <a:r>
              <a:rPr sz="2200" b="0" dirty="0" smtClean="0">
                <a:solidFill>
                  <a:srgbClr val="000000"/>
                </a:solidFill>
                <a:latin typeface="+mn-lt"/>
                <a:cs typeface="Calibri" panose="020F0502020204030204"/>
              </a:rPr>
              <a:t>select</a:t>
            </a:r>
            <a:r>
              <a:rPr sz="2200" b="0" spc="-42"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a</a:t>
            </a:r>
            <a:r>
              <a:rPr sz="2200" b="0" spc="-15"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sample,</a:t>
            </a:r>
            <a:r>
              <a:rPr sz="2200" b="0" spc="-15"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do</a:t>
            </a:r>
            <a:r>
              <a:rPr sz="2200" b="0" spc="-42"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a</a:t>
            </a:r>
            <a:r>
              <a:rPr sz="2200" b="0" spc="-43"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lot</a:t>
            </a:r>
            <a:r>
              <a:rPr sz="2200" b="0" spc="-41"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of</a:t>
            </a:r>
            <a:r>
              <a:rPr sz="2200" b="0" spc="-42" dirty="0" smtClean="0">
                <a:solidFill>
                  <a:srgbClr val="000000"/>
                </a:solidFill>
                <a:latin typeface="+mn-lt"/>
                <a:cs typeface="Times New Roman" panose="02020603050405020304"/>
              </a:rPr>
              <a:t> </a:t>
            </a:r>
            <a:r>
              <a:rPr sz="2200" b="0" dirty="0" smtClean="0">
                <a:solidFill>
                  <a:srgbClr val="000000"/>
                </a:solidFill>
                <a:latin typeface="+mn-lt"/>
                <a:cs typeface="Calibri" panose="020F0502020204030204"/>
              </a:rPr>
              <a:t>statistics;</a:t>
            </a:r>
            <a:r>
              <a:rPr sz="2200" b="0" dirty="0" smtClean="0">
                <a:solidFill>
                  <a:srgbClr val="000000"/>
                </a:solidFill>
                <a:latin typeface="+mn-lt"/>
                <a:cs typeface="Times New Roman" panose="02020603050405020304"/>
              </a:rPr>
              <a:t> </a:t>
            </a:r>
            <a:r>
              <a:rPr sz="2200" b="0" spc="-12" dirty="0" smtClean="0">
                <a:solidFill>
                  <a:srgbClr val="000000"/>
                </a:solidFill>
                <a:latin typeface="+mn-lt"/>
                <a:cs typeface="Calibri" panose="020F0502020204030204"/>
              </a:rPr>
              <a:t>iterate.</a:t>
            </a:r>
            <a:endParaRPr sz="2200" b="0" spc="-12" dirty="0" smtClean="0">
              <a:solidFill>
                <a:srgbClr val="000000"/>
              </a:solidFill>
              <a:latin typeface="+mn-lt"/>
              <a:cs typeface="Calibri" panose="020F0502020204030204"/>
            </a:endParaRPr>
          </a:p>
          <a:p>
            <a:pPr marL="144145" indent="-673100" algn="l">
              <a:lnSpc>
                <a:spcPct val="100000"/>
              </a:lnSpc>
              <a:spcBef>
                <a:spcPts val="600"/>
              </a:spcBef>
              <a:spcAft>
                <a:spcPts val="600"/>
              </a:spcAft>
            </a:pPr>
            <a:r>
              <a:rPr sz="2200" b="0" dirty="0" smtClean="0">
                <a:solidFill>
                  <a:srgbClr val="000000"/>
                </a:solidFill>
                <a:latin typeface="+mn-lt"/>
                <a:cs typeface="MBHRGQ+ArialMT"/>
              </a:rPr>
              <a:t>–</a:t>
            </a:r>
            <a:r>
              <a:rPr sz="2200" b="0" spc="559" dirty="0" smtClean="0">
                <a:solidFill>
                  <a:srgbClr val="000000"/>
                </a:solidFill>
                <a:latin typeface="+mn-lt"/>
                <a:cs typeface="Times New Roman" panose="02020603050405020304"/>
              </a:rPr>
              <a:t> </a:t>
            </a:r>
            <a:r>
              <a:rPr sz="2200" b="0" spc="-10" dirty="0">
                <a:solidFill>
                  <a:srgbClr val="000000"/>
                </a:solidFill>
                <a:latin typeface="+mn-lt"/>
                <a:cs typeface="Calibri" panose="020F0502020204030204"/>
              </a:rPr>
              <a:t>Physical</a:t>
            </a:r>
            <a:r>
              <a:rPr sz="2200" b="0" spc="-17" dirty="0">
                <a:solidFill>
                  <a:srgbClr val="000000"/>
                </a:solidFill>
                <a:latin typeface="+mn-lt"/>
                <a:cs typeface="Times New Roman" panose="02020603050405020304"/>
              </a:rPr>
              <a:t> </a:t>
            </a:r>
            <a:r>
              <a:rPr sz="2200" b="0" dirty="0">
                <a:solidFill>
                  <a:srgbClr val="000000"/>
                </a:solidFill>
                <a:latin typeface="+mn-lt"/>
                <a:cs typeface="Calibri" panose="020F0502020204030204"/>
              </a:rPr>
              <a:t>science?</a:t>
            </a:r>
            <a:r>
              <a:rPr sz="2200" b="0" spc="-15" dirty="0">
                <a:solidFill>
                  <a:srgbClr val="000000"/>
                </a:solidFill>
                <a:latin typeface="+mn-lt"/>
                <a:cs typeface="Times New Roman" panose="02020603050405020304"/>
              </a:rPr>
              <a:t> </a:t>
            </a:r>
            <a:r>
              <a:rPr sz="2200" b="0" dirty="0">
                <a:solidFill>
                  <a:srgbClr val="000000"/>
                </a:solidFill>
                <a:latin typeface="+mn-lt"/>
                <a:cs typeface="Calibri" panose="020F0502020204030204"/>
              </a:rPr>
              <a:t>Build</a:t>
            </a:r>
            <a:r>
              <a:rPr sz="2200" b="0" spc="-34" dirty="0">
                <a:solidFill>
                  <a:srgbClr val="000000"/>
                </a:solidFill>
                <a:latin typeface="+mn-lt"/>
                <a:cs typeface="Times New Roman" panose="02020603050405020304"/>
              </a:rPr>
              <a:t> </a:t>
            </a:r>
            <a:r>
              <a:rPr sz="2200" b="0" dirty="0">
                <a:solidFill>
                  <a:srgbClr val="000000"/>
                </a:solidFill>
                <a:latin typeface="+mn-lt"/>
                <a:cs typeface="Calibri" panose="020F0502020204030204"/>
              </a:rPr>
              <a:t>instruments,</a:t>
            </a:r>
            <a:r>
              <a:rPr sz="2200" b="0" dirty="0">
                <a:solidFill>
                  <a:srgbClr val="000000"/>
                </a:solidFill>
                <a:latin typeface="+mn-lt"/>
                <a:cs typeface="Times New Roman" panose="02020603050405020304"/>
              </a:rPr>
              <a:t> </a:t>
            </a:r>
            <a:r>
              <a:rPr sz="2200" b="0" dirty="0">
                <a:solidFill>
                  <a:srgbClr val="000000"/>
                </a:solidFill>
                <a:latin typeface="+mn-lt"/>
                <a:cs typeface="Calibri" panose="020F0502020204030204"/>
              </a:rPr>
              <a:t>create</a:t>
            </a:r>
            <a:r>
              <a:rPr sz="2200" b="0" spc="-32" dirty="0">
                <a:solidFill>
                  <a:srgbClr val="000000"/>
                </a:solidFill>
                <a:latin typeface="+mn-lt"/>
                <a:cs typeface="Times New Roman" panose="02020603050405020304"/>
              </a:rPr>
              <a:t> </a:t>
            </a:r>
            <a:r>
              <a:rPr sz="2200" b="0" dirty="0">
                <a:solidFill>
                  <a:srgbClr val="000000"/>
                </a:solidFill>
                <a:latin typeface="+mn-lt"/>
                <a:cs typeface="Calibri" panose="020F0502020204030204"/>
              </a:rPr>
              <a:t>phenomena,</a:t>
            </a:r>
            <a:r>
              <a:rPr sz="2200" b="0" spc="-41" dirty="0">
                <a:solidFill>
                  <a:srgbClr val="000000"/>
                </a:solidFill>
                <a:latin typeface="+mn-lt"/>
                <a:cs typeface="Times New Roman" panose="02020603050405020304"/>
              </a:rPr>
              <a:t> </a:t>
            </a:r>
            <a:r>
              <a:rPr sz="2200" b="0" spc="-9" dirty="0">
                <a:solidFill>
                  <a:srgbClr val="000000"/>
                </a:solidFill>
                <a:latin typeface="+mn-lt"/>
                <a:cs typeface="Calibri" panose="020F0502020204030204"/>
              </a:rPr>
              <a:t>analyze</a:t>
            </a:r>
            <a:r>
              <a:rPr sz="2200" b="0" spc="-23" dirty="0">
                <a:solidFill>
                  <a:srgbClr val="000000"/>
                </a:solidFill>
                <a:latin typeface="+mn-lt"/>
                <a:cs typeface="Times New Roman" panose="02020603050405020304"/>
              </a:rPr>
              <a:t> </a:t>
            </a:r>
            <a:r>
              <a:rPr sz="2200" b="0" spc="-9" dirty="0">
                <a:solidFill>
                  <a:srgbClr val="000000"/>
                </a:solidFill>
                <a:latin typeface="+mn-lt"/>
                <a:cs typeface="Calibri" panose="020F0502020204030204"/>
              </a:rPr>
              <a:t>data,</a:t>
            </a:r>
            <a:r>
              <a:rPr lang="en-US" sz="2200" b="0" spc="-9" dirty="0">
                <a:solidFill>
                  <a:srgbClr val="000000"/>
                </a:solidFill>
                <a:latin typeface="+mn-lt"/>
                <a:cs typeface="Calibri" panose="020F0502020204030204"/>
              </a:rPr>
              <a:t> </a:t>
            </a:r>
            <a:r>
              <a:rPr sz="2200" b="0" dirty="0">
                <a:solidFill>
                  <a:srgbClr val="000000"/>
                </a:solidFill>
                <a:latin typeface="+mn-lt"/>
                <a:cs typeface="Calibri" panose="020F0502020204030204"/>
              </a:rPr>
              <a:t>create</a:t>
            </a:r>
            <a:r>
              <a:rPr sz="2200" b="0" spc="-32" dirty="0">
                <a:solidFill>
                  <a:srgbClr val="000000"/>
                </a:solidFill>
                <a:latin typeface="+mn-lt"/>
                <a:cs typeface="Times New Roman" panose="02020603050405020304"/>
              </a:rPr>
              <a:t> </a:t>
            </a:r>
            <a:r>
              <a:rPr sz="2200" b="0" dirty="0">
                <a:solidFill>
                  <a:srgbClr val="000000"/>
                </a:solidFill>
                <a:latin typeface="+mn-lt"/>
                <a:cs typeface="Calibri" panose="020F0502020204030204"/>
              </a:rPr>
              <a:t>theories;</a:t>
            </a:r>
            <a:r>
              <a:rPr sz="2200" b="0" spc="-41" dirty="0">
                <a:solidFill>
                  <a:srgbClr val="000000"/>
                </a:solidFill>
                <a:latin typeface="+mn-lt"/>
                <a:cs typeface="Times New Roman" panose="02020603050405020304"/>
              </a:rPr>
              <a:t> </a:t>
            </a:r>
            <a:r>
              <a:rPr sz="2200" b="0" spc="-10" dirty="0">
                <a:solidFill>
                  <a:srgbClr val="000000"/>
                </a:solidFill>
                <a:latin typeface="+mn-lt"/>
                <a:cs typeface="Calibri" panose="020F0502020204030204"/>
              </a:rPr>
              <a:t>iterate.</a:t>
            </a:r>
            <a:endParaRPr sz="2200" b="0" spc="-10" dirty="0">
              <a:solidFill>
                <a:srgbClr val="000000"/>
              </a:solidFill>
              <a:latin typeface="+mn-lt"/>
              <a:cs typeface="Calibri" panose="020F0502020204030204"/>
            </a:endParaRPr>
          </a:p>
          <a:p>
            <a:pPr marL="144145" indent="-673100" algn="l">
              <a:lnSpc>
                <a:spcPct val="100000"/>
              </a:lnSpc>
              <a:spcBef>
                <a:spcPts val="600"/>
              </a:spcBef>
              <a:spcAft>
                <a:spcPts val="600"/>
              </a:spcAft>
            </a:pPr>
            <a:r>
              <a:rPr sz="2200" b="0" dirty="0">
                <a:solidFill>
                  <a:srgbClr val="000000"/>
                </a:solidFill>
                <a:latin typeface="+mn-lt"/>
                <a:cs typeface="MBHRGQ+ArialMT"/>
              </a:rPr>
              <a:t>–</a:t>
            </a:r>
            <a:r>
              <a:rPr sz="2200" b="0" spc="559" dirty="0">
                <a:solidFill>
                  <a:srgbClr val="000000"/>
                </a:solidFill>
                <a:latin typeface="+mn-lt"/>
                <a:cs typeface="Times New Roman" panose="02020603050405020304"/>
              </a:rPr>
              <a:t> </a:t>
            </a:r>
            <a:r>
              <a:rPr sz="2200" b="0" dirty="0">
                <a:solidFill>
                  <a:srgbClr val="000000"/>
                </a:solidFill>
                <a:latin typeface="+mn-lt"/>
                <a:cs typeface="Calibri" panose="020F0502020204030204"/>
              </a:rPr>
              <a:t>Mathematics?</a:t>
            </a:r>
            <a:r>
              <a:rPr sz="2200" b="0" spc="-43" dirty="0">
                <a:solidFill>
                  <a:srgbClr val="000000"/>
                </a:solidFill>
                <a:latin typeface="+mn-lt"/>
                <a:cs typeface="Times New Roman" panose="02020603050405020304"/>
              </a:rPr>
              <a:t> </a:t>
            </a:r>
            <a:r>
              <a:rPr sz="2200" b="0" dirty="0">
                <a:solidFill>
                  <a:srgbClr val="000000"/>
                </a:solidFill>
                <a:latin typeface="+mn-lt"/>
                <a:cs typeface="Calibri" panose="020F0502020204030204"/>
              </a:rPr>
              <a:t>Read,</a:t>
            </a:r>
            <a:r>
              <a:rPr sz="2200" b="0" spc="-34" dirty="0">
                <a:solidFill>
                  <a:srgbClr val="000000"/>
                </a:solidFill>
                <a:latin typeface="+mn-lt"/>
                <a:cs typeface="Times New Roman" panose="02020603050405020304"/>
              </a:rPr>
              <a:t> </a:t>
            </a:r>
            <a:r>
              <a:rPr sz="2200" b="0" dirty="0">
                <a:solidFill>
                  <a:srgbClr val="000000"/>
                </a:solidFill>
                <a:latin typeface="+mn-lt"/>
                <a:cs typeface="Calibri" panose="020F0502020204030204"/>
              </a:rPr>
              <a:t>think,</a:t>
            </a:r>
            <a:r>
              <a:rPr sz="2200" b="0" spc="-41" dirty="0">
                <a:solidFill>
                  <a:srgbClr val="000000"/>
                </a:solidFill>
                <a:latin typeface="+mn-lt"/>
                <a:cs typeface="Times New Roman" panose="02020603050405020304"/>
              </a:rPr>
              <a:t> </a:t>
            </a:r>
            <a:r>
              <a:rPr sz="2200" b="0" dirty="0">
                <a:solidFill>
                  <a:srgbClr val="000000"/>
                </a:solidFill>
                <a:latin typeface="+mn-lt"/>
                <a:cs typeface="Calibri" panose="020F0502020204030204"/>
              </a:rPr>
              <a:t>write,</a:t>
            </a:r>
            <a:r>
              <a:rPr sz="2200" b="0" spc="-41" dirty="0">
                <a:solidFill>
                  <a:srgbClr val="000000"/>
                </a:solidFill>
                <a:latin typeface="+mn-lt"/>
                <a:cs typeface="Times New Roman" panose="02020603050405020304"/>
              </a:rPr>
              <a:t> </a:t>
            </a:r>
            <a:r>
              <a:rPr sz="2200" b="0" dirty="0">
                <a:solidFill>
                  <a:srgbClr val="000000"/>
                </a:solidFill>
                <a:latin typeface="+mn-lt"/>
                <a:cs typeface="Calibri" panose="020F0502020204030204"/>
              </a:rPr>
              <a:t>think;</a:t>
            </a:r>
            <a:r>
              <a:rPr sz="2200" b="0" dirty="0">
                <a:solidFill>
                  <a:srgbClr val="000000"/>
                </a:solidFill>
                <a:latin typeface="+mn-lt"/>
                <a:cs typeface="Times New Roman" panose="02020603050405020304"/>
              </a:rPr>
              <a:t> </a:t>
            </a:r>
            <a:r>
              <a:rPr sz="2200" b="0" spc="-13" dirty="0">
                <a:solidFill>
                  <a:srgbClr val="000000"/>
                </a:solidFill>
                <a:latin typeface="+mn-lt"/>
                <a:cs typeface="Calibri" panose="020F0502020204030204"/>
              </a:rPr>
              <a:t>iterate.</a:t>
            </a:r>
            <a:endParaRPr sz="2200" b="0" spc="-13" dirty="0">
              <a:solidFill>
                <a:srgbClr val="000000"/>
              </a:solidFill>
              <a:latin typeface="+mn-lt"/>
              <a:cs typeface="Calibri" panose="020F0502020204030204"/>
            </a:endParaRPr>
          </a:p>
        </p:txBody>
      </p:sp>
      <p:sp>
        <p:nvSpPr>
          <p:cNvPr id="7" name="object 7"/>
          <p:cNvSpPr txBox="1"/>
          <p:nvPr/>
        </p:nvSpPr>
        <p:spPr>
          <a:xfrm>
            <a:off x="4161233" y="6163144"/>
            <a:ext cx="1017239" cy="166712"/>
          </a:xfrm>
          <a:prstGeom prst="rect">
            <a:avLst/>
          </a:prstGeom>
        </p:spPr>
        <p:txBody>
          <a:bodyPr vert="horz" wrap="square" lIns="0" tIns="0" rIns="0" bIns="0" rtlCol="0">
            <a:spAutoFit/>
          </a:bodyPr>
          <a:lstStyle/>
          <a:p>
            <a:pPr>
              <a:lnSpc>
                <a:spcPts val="1285"/>
              </a:lnSpc>
              <a:spcBef>
                <a:spcPct val="0"/>
              </a:spcBef>
            </a:pPr>
            <a:r>
              <a:rPr sz="1100" dirty="0">
                <a:solidFill>
                  <a:srgbClr val="898989"/>
                </a:solidFill>
                <a:latin typeface="Calibri" panose="020F0502020204030204"/>
                <a:cs typeface="Calibri" panose="020F0502020204030204"/>
              </a:rPr>
              <a:t>©</a:t>
            </a:r>
            <a:r>
              <a:rPr sz="1100" spc="-22" dirty="0">
                <a:solidFill>
                  <a:srgbClr val="898989"/>
                </a:solidFill>
                <a:latin typeface="Times New Roman" panose="02020603050405020304"/>
                <a:cs typeface="Times New Roman" panose="02020603050405020304"/>
              </a:rPr>
              <a:t> </a:t>
            </a:r>
            <a:r>
              <a:rPr sz="1100" dirty="0">
                <a:solidFill>
                  <a:srgbClr val="898989"/>
                </a:solidFill>
                <a:latin typeface="Calibri" panose="020F0502020204030204"/>
                <a:cs typeface="Calibri" panose="020F0502020204030204"/>
              </a:rPr>
              <a:t>R.J.</a:t>
            </a:r>
            <a:r>
              <a:rPr sz="1100" spc="-30" dirty="0">
                <a:solidFill>
                  <a:srgbClr val="898989"/>
                </a:solidFill>
                <a:latin typeface="Times New Roman" panose="02020603050405020304"/>
                <a:cs typeface="Times New Roman" panose="02020603050405020304"/>
              </a:rPr>
              <a:t> </a:t>
            </a:r>
            <a:r>
              <a:rPr sz="1100" dirty="0" err="1">
                <a:solidFill>
                  <a:srgbClr val="898989"/>
                </a:solidFill>
                <a:latin typeface="Calibri" panose="020F0502020204030204"/>
                <a:cs typeface="Calibri" panose="020F0502020204030204"/>
              </a:rPr>
              <a:t>Wieringa</a:t>
            </a:r>
            <a:endParaRPr sz="1100" dirty="0">
              <a:solidFill>
                <a:srgbClr val="898989"/>
              </a:solidFill>
              <a:latin typeface="Calibri" panose="020F0502020204030204"/>
              <a:cs typeface="Calibri" panose="020F050202020403020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
          <p:cNvSpPr/>
          <p:nvPr/>
        </p:nvSpPr>
        <p:spPr>
          <a:xfrm>
            <a:off x="653448" y="304518"/>
            <a:ext cx="7855587" cy="295466"/>
          </a:xfrm>
          <a:prstGeom prst="rect">
            <a:avLst/>
          </a:prstGeom>
          <a:blipFill>
            <a:blip r:embed="rId1" cstate="print"/>
            <a:stretch>
              <a:fillRect/>
            </a:stretch>
          </a:blipFill>
        </p:spPr>
        <p:txBody>
          <a:bodyPr wrap="square" lIns="0" tIns="0" rIns="0" bIns="0" rtlCol="0">
            <a:spAutoFit/>
          </a:bodyPr>
          <a:lstStyle/>
          <a:p/>
        </p:txBody>
      </p:sp>
      <p:sp>
        <p:nvSpPr>
          <p:cNvPr id="2" name="object 2"/>
          <p:cNvSpPr/>
          <p:nvPr/>
        </p:nvSpPr>
        <p:spPr>
          <a:xfrm>
            <a:off x="0" y="0"/>
            <a:ext cx="10860" cy="295466"/>
          </a:xfrm>
          <a:prstGeom prst="rect">
            <a:avLst/>
          </a:prstGeom>
          <a:blipFill>
            <a:blip r:embed="rId2" cstate="print"/>
            <a:stretch>
              <a:fillRect/>
            </a:stretch>
          </a:blipFill>
        </p:spPr>
        <p:txBody>
          <a:bodyPr wrap="square" lIns="0" tIns="0" rIns="0" bIns="0" rtlCol="0">
            <a:spAutoFit/>
          </a:bodyPr>
          <a:lstStyle/>
          <a:p/>
        </p:txBody>
      </p:sp>
      <p:sp>
        <p:nvSpPr>
          <p:cNvPr id="4" name="object 4"/>
          <p:cNvSpPr txBox="1"/>
          <p:nvPr/>
        </p:nvSpPr>
        <p:spPr>
          <a:xfrm>
            <a:off x="566420" y="457200"/>
            <a:ext cx="8432800" cy="603250"/>
          </a:xfrm>
          <a:prstGeom prst="rect">
            <a:avLst/>
          </a:prstGeom>
        </p:spPr>
        <p:txBody>
          <a:bodyPr vert="horz" wrap="square" lIns="0" tIns="0" rIns="0" bIns="0" rtlCol="0">
            <a:spAutoFit/>
          </a:bodyPr>
          <a:lstStyle/>
          <a:p>
            <a:pPr>
              <a:lnSpc>
                <a:spcPts val="4705"/>
              </a:lnSpc>
            </a:pPr>
            <a:r>
              <a:rPr lang="en-US" altLang="zh-CN" sz="4000" dirty="0" err="1" smtClean="0">
                <a:solidFill>
                  <a:srgbClr val="000000"/>
                </a:solidFill>
                <a:latin typeface="Calibri" panose="020F0502020204030204"/>
                <a:cs typeface="Calibri" panose="020F0502020204030204"/>
              </a:rPr>
              <a:t>Wieringa’s</a:t>
            </a:r>
            <a:r>
              <a:rPr sz="3900" spc="-79" dirty="0" smtClean="0">
                <a:solidFill>
                  <a:srgbClr val="000000"/>
                </a:solidFill>
                <a:latin typeface="Times New Roman" panose="02020603050405020304"/>
                <a:cs typeface="Times New Roman" panose="02020603050405020304"/>
              </a:rPr>
              <a:t> </a:t>
            </a:r>
            <a:r>
              <a:rPr lang="en-US" sz="3900" spc="-10" dirty="0">
                <a:solidFill>
                  <a:srgbClr val="000000"/>
                </a:solidFill>
                <a:latin typeface="Calibri" panose="020F0502020204030204"/>
                <a:cs typeface="Calibri" panose="020F0502020204030204"/>
              </a:rPr>
              <a:t>A</a:t>
            </a:r>
            <a:r>
              <a:rPr sz="3900" spc="-10" dirty="0">
                <a:solidFill>
                  <a:srgbClr val="000000"/>
                </a:solidFill>
                <a:latin typeface="Calibri" panose="020F0502020204030204"/>
                <a:cs typeface="Calibri" panose="020F0502020204030204"/>
              </a:rPr>
              <a:t>pproach</a:t>
            </a:r>
            <a:r>
              <a:rPr lang="en-US" sz="3900" spc="-10" dirty="0">
                <a:solidFill>
                  <a:srgbClr val="000000"/>
                </a:solidFill>
                <a:latin typeface="Calibri" panose="020F0502020204030204"/>
                <a:cs typeface="Calibri" panose="020F0502020204030204"/>
              </a:rPr>
              <a:t> on Desi</a:t>
            </a:r>
            <a:r>
              <a:rPr lang="en-US" sz="3900" spc="-10" dirty="0">
                <a:solidFill>
                  <a:srgbClr val="000000"/>
                </a:solidFill>
                <a:latin typeface="Calibri" panose="020F0502020204030204"/>
                <a:cs typeface="Calibri" panose="020F0502020204030204"/>
              </a:rPr>
              <a:t>gn Science</a:t>
            </a:r>
            <a:endParaRPr lang="en-US" sz="3900" spc="-10" dirty="0">
              <a:solidFill>
                <a:srgbClr val="000000"/>
              </a:solidFill>
              <a:latin typeface="Calibri" panose="020F0502020204030204"/>
              <a:cs typeface="Calibri" panose="020F0502020204030204"/>
            </a:endParaRPr>
          </a:p>
        </p:txBody>
      </p:sp>
      <p:sp>
        <p:nvSpPr>
          <p:cNvPr id="5" name="object 5"/>
          <p:cNvSpPr txBox="1"/>
          <p:nvPr/>
        </p:nvSpPr>
        <p:spPr>
          <a:xfrm>
            <a:off x="395605" y="1484630"/>
            <a:ext cx="8352790" cy="4026535"/>
          </a:xfrm>
          <a:prstGeom prst="rect">
            <a:avLst/>
          </a:prstGeom>
        </p:spPr>
        <p:txBody>
          <a:bodyPr vert="horz" wrap="square" lIns="0" tIns="0" rIns="0" bIns="0" rtlCol="0">
            <a:noAutofit/>
          </a:bodyPr>
          <a:lstStyle/>
          <a:p>
            <a:pPr algn="l">
              <a:lnSpc>
                <a:spcPct val="100000"/>
              </a:lnSpc>
              <a:spcBef>
                <a:spcPts val="600"/>
              </a:spcBef>
            </a:pPr>
            <a:r>
              <a:rPr sz="2800" b="0" dirty="0">
                <a:solidFill>
                  <a:srgbClr val="000000"/>
                </a:solidFill>
                <a:latin typeface="INQKCT+ArialMT"/>
                <a:cs typeface="INQKCT+ArialMT"/>
              </a:rPr>
              <a:t>•</a:t>
            </a:r>
            <a:r>
              <a:rPr sz="2800" b="0" spc="1105"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All</a:t>
            </a:r>
            <a:r>
              <a:rPr sz="2800" b="0" spc="-58" dirty="0">
                <a:solidFill>
                  <a:srgbClr val="000000"/>
                </a:solidFill>
                <a:latin typeface="Times New Roman" panose="02020603050405020304"/>
                <a:cs typeface="Times New Roman" panose="02020603050405020304"/>
              </a:rPr>
              <a:t> </a:t>
            </a:r>
            <a:r>
              <a:rPr sz="2800" b="0" spc="-9" dirty="0">
                <a:solidFill>
                  <a:srgbClr val="000000"/>
                </a:solidFill>
                <a:latin typeface="Calibri" panose="020F0502020204030204"/>
                <a:cs typeface="Calibri" panose="020F0502020204030204"/>
              </a:rPr>
              <a:t>research</a:t>
            </a:r>
            <a:r>
              <a:rPr sz="2800" b="0" spc="-31"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in</a:t>
            </a:r>
            <a:r>
              <a:rPr sz="2800" b="0" spc="-51"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all</a:t>
            </a:r>
            <a:r>
              <a:rPr sz="2800" b="0" spc="-64"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disciplines</a:t>
            </a:r>
            <a:r>
              <a:rPr sz="2800" b="0" spc="-50"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is</a:t>
            </a:r>
            <a:r>
              <a:rPr sz="2800" b="0" spc="-44" dirty="0">
                <a:solidFill>
                  <a:srgbClr val="000000"/>
                </a:solidFill>
                <a:latin typeface="Times New Roman" panose="02020603050405020304"/>
                <a:cs typeface="Times New Roman" panose="02020603050405020304"/>
              </a:rPr>
              <a:t> </a:t>
            </a:r>
            <a:r>
              <a:rPr sz="2800" b="0" dirty="0">
                <a:solidFill>
                  <a:srgbClr val="000000"/>
                </a:solidFill>
                <a:latin typeface="Calibri" panose="020F0502020204030204"/>
                <a:cs typeface="Calibri" panose="020F0502020204030204"/>
              </a:rPr>
              <a:t>problem‐solving</a:t>
            </a:r>
            <a:endParaRPr sz="2800" b="0" dirty="0">
              <a:solidFill>
                <a:srgbClr val="000000"/>
              </a:solidFill>
              <a:latin typeface="Calibri" panose="020F0502020204030204"/>
              <a:cs typeface="Calibri" panose="020F0502020204030204"/>
            </a:endParaRPr>
          </a:p>
          <a:p>
            <a:pPr marL="457200" indent="-457200" algn="l">
              <a:lnSpc>
                <a:spcPct val="100000"/>
              </a:lnSpc>
              <a:spcBef>
                <a:spcPts val="600"/>
              </a:spcBef>
              <a:buClrTx/>
              <a:buSzTx/>
              <a:buFont typeface="Arial" panose="020B0604020202020204" pitchFamily="34" charset="0"/>
              <a:buChar char="•"/>
            </a:pPr>
            <a:r>
              <a:rPr sz="2800" b="0" dirty="0">
                <a:solidFill>
                  <a:srgbClr val="0070C0"/>
                </a:solidFill>
                <a:latin typeface="Calibri" panose="020F0502020204030204" pitchFamily="34" charset="0"/>
                <a:cs typeface="Calibri" panose="020F0502020204030204" pitchFamily="34" charset="0"/>
                <a:sym typeface="+mn-ea"/>
              </a:rPr>
              <a:t>Design science is the design and investigation of artifacts in context</a:t>
            </a:r>
            <a:endParaRPr sz="2800" b="0" dirty="0">
              <a:solidFill>
                <a:srgbClr val="0070C0"/>
              </a:solidFill>
              <a:latin typeface="Calibri" panose="020F0502020204030204" pitchFamily="34" charset="0"/>
              <a:cs typeface="Calibri" panose="020F0502020204030204" pitchFamily="34" charset="0"/>
            </a:endParaRPr>
          </a:p>
          <a:p>
            <a:pPr algn="l">
              <a:lnSpc>
                <a:spcPct val="100000"/>
              </a:lnSpc>
              <a:spcBef>
                <a:spcPts val="600"/>
              </a:spcBef>
            </a:pPr>
            <a:r>
              <a:rPr sz="2400" b="0" dirty="0">
                <a:solidFill>
                  <a:srgbClr val="000000"/>
                </a:solidFill>
                <a:latin typeface="INQKCT+ArialMT"/>
                <a:cs typeface="INQKCT+ArialMT"/>
              </a:rPr>
              <a:t>•</a:t>
            </a:r>
            <a:r>
              <a:rPr sz="2400" b="0" spc="1105" dirty="0">
                <a:solidFill>
                  <a:srgbClr val="000000"/>
                </a:solidFill>
                <a:latin typeface="Times New Roman" panose="02020603050405020304"/>
                <a:cs typeface="Times New Roman" panose="02020603050405020304"/>
              </a:rPr>
              <a:t> </a:t>
            </a:r>
            <a:r>
              <a:rPr sz="2400" b="0" dirty="0">
                <a:solidFill>
                  <a:srgbClr val="000000"/>
                </a:solidFill>
                <a:latin typeface="Calibri" panose="020F0502020204030204"/>
                <a:cs typeface="Calibri" panose="020F0502020204030204"/>
              </a:rPr>
              <a:t>The</a:t>
            </a:r>
            <a:r>
              <a:rPr sz="2400" b="0" spc="-49" dirty="0">
                <a:solidFill>
                  <a:srgbClr val="000000"/>
                </a:solidFill>
                <a:latin typeface="Times New Roman" panose="02020603050405020304"/>
                <a:cs typeface="Times New Roman" panose="02020603050405020304"/>
              </a:rPr>
              <a:t> </a:t>
            </a:r>
            <a:r>
              <a:rPr sz="2400" b="0" dirty="0">
                <a:solidFill>
                  <a:srgbClr val="000000"/>
                </a:solidFill>
                <a:latin typeface="Calibri" panose="020F0502020204030204"/>
                <a:cs typeface="Calibri" panose="020F0502020204030204"/>
              </a:rPr>
              <a:t>problems</a:t>
            </a:r>
            <a:r>
              <a:rPr sz="2400" b="0" spc="-46" dirty="0">
                <a:solidFill>
                  <a:srgbClr val="000000"/>
                </a:solidFill>
                <a:latin typeface="Times New Roman" panose="02020603050405020304"/>
                <a:cs typeface="Times New Roman" panose="02020603050405020304"/>
              </a:rPr>
              <a:t> </a:t>
            </a:r>
            <a:r>
              <a:rPr sz="2400" b="0" dirty="0">
                <a:solidFill>
                  <a:srgbClr val="000000"/>
                </a:solidFill>
                <a:latin typeface="Calibri" panose="020F0502020204030204"/>
                <a:cs typeface="Calibri" panose="020F0502020204030204"/>
              </a:rPr>
              <a:t>in</a:t>
            </a:r>
            <a:r>
              <a:rPr sz="2400" b="0" spc="-50" dirty="0">
                <a:solidFill>
                  <a:srgbClr val="000000"/>
                </a:solidFill>
                <a:latin typeface="Times New Roman" panose="02020603050405020304"/>
                <a:cs typeface="Times New Roman" panose="02020603050405020304"/>
              </a:rPr>
              <a:t> </a:t>
            </a:r>
            <a:r>
              <a:rPr sz="2400" b="0" dirty="0">
                <a:solidFill>
                  <a:srgbClr val="0070C0"/>
                </a:solidFill>
                <a:latin typeface="Calibri" panose="020F0502020204030204"/>
                <a:cs typeface="Calibri" panose="020F0502020204030204"/>
              </a:rPr>
              <a:t>design</a:t>
            </a:r>
            <a:r>
              <a:rPr sz="2400" b="0" spc="-51" dirty="0">
                <a:solidFill>
                  <a:srgbClr val="0070C0"/>
                </a:solidFill>
                <a:latin typeface="Times New Roman" panose="02020603050405020304"/>
                <a:cs typeface="Times New Roman" panose="02020603050405020304"/>
              </a:rPr>
              <a:t> </a:t>
            </a:r>
            <a:r>
              <a:rPr sz="2400" b="0" dirty="0">
                <a:solidFill>
                  <a:srgbClr val="0070C0"/>
                </a:solidFill>
                <a:latin typeface="Calibri" panose="020F0502020204030204"/>
                <a:cs typeface="Calibri" panose="020F0502020204030204"/>
              </a:rPr>
              <a:t>science</a:t>
            </a:r>
            <a:r>
              <a:rPr sz="2400" b="0" spc="-49" dirty="0">
                <a:solidFill>
                  <a:srgbClr val="0070C0"/>
                </a:solidFill>
                <a:latin typeface="Times New Roman" panose="02020603050405020304"/>
                <a:cs typeface="Times New Roman" panose="02020603050405020304"/>
              </a:rPr>
              <a:t> </a:t>
            </a:r>
            <a:r>
              <a:rPr sz="2400" b="0" dirty="0">
                <a:solidFill>
                  <a:srgbClr val="0070C0"/>
                </a:solidFill>
                <a:latin typeface="Calibri" panose="020F0502020204030204"/>
                <a:cs typeface="Calibri" panose="020F0502020204030204"/>
              </a:rPr>
              <a:t>research</a:t>
            </a:r>
            <a:r>
              <a:rPr sz="2400" b="0" spc="-31" dirty="0">
                <a:solidFill>
                  <a:srgbClr val="0070C0"/>
                </a:solidFill>
                <a:latin typeface="Times New Roman" panose="02020603050405020304"/>
                <a:cs typeface="Times New Roman" panose="02020603050405020304"/>
              </a:rPr>
              <a:t> </a:t>
            </a:r>
            <a:r>
              <a:rPr sz="2400" b="0" spc="-13" dirty="0">
                <a:solidFill>
                  <a:srgbClr val="0070C0"/>
                </a:solidFill>
                <a:latin typeface="Calibri" panose="020F0502020204030204"/>
                <a:cs typeface="Calibri" panose="020F0502020204030204"/>
              </a:rPr>
              <a:t>are</a:t>
            </a:r>
            <a:r>
              <a:rPr sz="2400" b="0" spc="-36" dirty="0">
                <a:solidFill>
                  <a:srgbClr val="0070C0"/>
                </a:solidFill>
                <a:latin typeface="Times New Roman" panose="02020603050405020304"/>
                <a:cs typeface="Times New Roman" panose="02020603050405020304"/>
              </a:rPr>
              <a:t> </a:t>
            </a:r>
            <a:r>
              <a:rPr sz="2400" b="0" dirty="0">
                <a:solidFill>
                  <a:srgbClr val="0070C0"/>
                </a:solidFill>
                <a:latin typeface="Calibri" panose="020F0502020204030204"/>
                <a:cs typeface="Calibri" panose="020F0502020204030204"/>
              </a:rPr>
              <a:t>design</a:t>
            </a:r>
            <a:r>
              <a:rPr sz="2400" b="0" spc="-51" dirty="0">
                <a:solidFill>
                  <a:srgbClr val="0070C0"/>
                </a:solidFill>
                <a:latin typeface="Times New Roman" panose="02020603050405020304"/>
                <a:cs typeface="Times New Roman" panose="02020603050405020304"/>
              </a:rPr>
              <a:t> </a:t>
            </a:r>
            <a:r>
              <a:rPr sz="2400" b="0" dirty="0">
                <a:solidFill>
                  <a:srgbClr val="0070C0"/>
                </a:solidFill>
                <a:latin typeface="Calibri" panose="020F0502020204030204"/>
                <a:cs typeface="Calibri" panose="020F0502020204030204"/>
              </a:rPr>
              <a:t>problems</a:t>
            </a:r>
            <a:endParaRPr sz="2400" b="0" dirty="0">
              <a:solidFill>
                <a:srgbClr val="000000"/>
              </a:solidFill>
              <a:latin typeface="Calibri" panose="020F0502020204030204"/>
              <a:cs typeface="Calibri" panose="020F0502020204030204"/>
            </a:endParaRPr>
          </a:p>
          <a:p>
            <a:pPr marL="400685" algn="l">
              <a:lnSpc>
                <a:spcPct val="100000"/>
              </a:lnSpc>
              <a:spcBef>
                <a:spcPts val="600"/>
              </a:spcBef>
            </a:pPr>
            <a:r>
              <a:rPr sz="2200" b="0" dirty="0">
                <a:solidFill>
                  <a:srgbClr val="000000"/>
                </a:solidFill>
                <a:latin typeface="INQKCT+ArialMT"/>
                <a:cs typeface="INQKCT+ArialMT"/>
              </a:rPr>
              <a:t>–</a:t>
            </a:r>
            <a:r>
              <a:rPr sz="2200" b="0" spc="559" dirty="0">
                <a:solidFill>
                  <a:srgbClr val="000000"/>
                </a:solidFill>
                <a:latin typeface="Times New Roman" panose="02020603050405020304"/>
                <a:cs typeface="Times New Roman" panose="02020603050405020304"/>
              </a:rPr>
              <a:t> </a:t>
            </a:r>
            <a:r>
              <a:rPr sz="2200" b="0" dirty="0">
                <a:solidFill>
                  <a:srgbClr val="000000"/>
                </a:solidFill>
                <a:latin typeface="Calibri" panose="020F0502020204030204"/>
                <a:cs typeface="Calibri" panose="020F0502020204030204"/>
              </a:rPr>
              <a:t>Goal</a:t>
            </a:r>
            <a:r>
              <a:rPr sz="2200" b="0" spc="-42" dirty="0">
                <a:solidFill>
                  <a:srgbClr val="000000"/>
                </a:solidFill>
                <a:latin typeface="Times New Roman" panose="02020603050405020304"/>
                <a:cs typeface="Times New Roman" panose="02020603050405020304"/>
              </a:rPr>
              <a:t> </a:t>
            </a:r>
            <a:r>
              <a:rPr sz="2200" b="0" dirty="0">
                <a:solidFill>
                  <a:srgbClr val="000000"/>
                </a:solidFill>
                <a:latin typeface="Calibri" panose="020F0502020204030204"/>
                <a:cs typeface="Calibri" panose="020F0502020204030204"/>
              </a:rPr>
              <a:t>is</a:t>
            </a:r>
            <a:r>
              <a:rPr sz="2200" b="0" spc="-33" dirty="0">
                <a:solidFill>
                  <a:srgbClr val="000000"/>
                </a:solidFill>
                <a:latin typeface="Times New Roman" panose="02020603050405020304"/>
                <a:cs typeface="Times New Roman" panose="02020603050405020304"/>
              </a:rPr>
              <a:t> </a:t>
            </a:r>
            <a:r>
              <a:rPr sz="2200" b="0" spc="-12" dirty="0">
                <a:solidFill>
                  <a:srgbClr val="000000"/>
                </a:solidFill>
                <a:latin typeface="Calibri" panose="020F0502020204030204"/>
                <a:cs typeface="Calibri" panose="020F0502020204030204"/>
              </a:rPr>
              <a:t>to</a:t>
            </a:r>
            <a:r>
              <a:rPr sz="2200" b="0" spc="-29" dirty="0">
                <a:solidFill>
                  <a:srgbClr val="000000"/>
                </a:solidFill>
                <a:latin typeface="Times New Roman" panose="02020603050405020304"/>
                <a:cs typeface="Times New Roman" panose="02020603050405020304"/>
              </a:rPr>
              <a:t> </a:t>
            </a:r>
            <a:r>
              <a:rPr sz="2200" b="0" dirty="0">
                <a:solidFill>
                  <a:srgbClr val="000000"/>
                </a:solidFill>
                <a:latin typeface="Calibri" panose="020F0502020204030204"/>
                <a:cs typeface="Calibri" panose="020F0502020204030204"/>
              </a:rPr>
              <a:t>design</a:t>
            </a:r>
            <a:r>
              <a:rPr sz="2200" b="0" spc="-34" dirty="0">
                <a:solidFill>
                  <a:srgbClr val="000000"/>
                </a:solidFill>
                <a:latin typeface="Times New Roman" panose="02020603050405020304"/>
                <a:cs typeface="Times New Roman" panose="02020603050405020304"/>
              </a:rPr>
              <a:t> </a:t>
            </a:r>
            <a:r>
              <a:rPr sz="2200" b="0" dirty="0">
                <a:solidFill>
                  <a:srgbClr val="000000"/>
                </a:solidFill>
                <a:latin typeface="Calibri" panose="020F0502020204030204"/>
                <a:cs typeface="Calibri" panose="020F0502020204030204"/>
              </a:rPr>
              <a:t>something</a:t>
            </a:r>
            <a:r>
              <a:rPr sz="2200" b="0" spc="-32" dirty="0">
                <a:solidFill>
                  <a:srgbClr val="000000"/>
                </a:solidFill>
                <a:latin typeface="Times New Roman" panose="02020603050405020304"/>
                <a:cs typeface="Times New Roman" panose="02020603050405020304"/>
              </a:rPr>
              <a:t> </a:t>
            </a:r>
            <a:r>
              <a:rPr sz="2200" b="0" dirty="0" smtClean="0">
                <a:solidFill>
                  <a:srgbClr val="000000"/>
                </a:solidFill>
                <a:latin typeface="Calibri" panose="020F0502020204030204"/>
                <a:cs typeface="Calibri" panose="020F0502020204030204"/>
              </a:rPr>
              <a:t>useful</a:t>
            </a:r>
            <a:endParaRPr lang="en-US" sz="2200" b="0" dirty="0" smtClean="0">
              <a:solidFill>
                <a:srgbClr val="000000"/>
              </a:solidFill>
              <a:latin typeface="Calibri" panose="020F0502020204030204"/>
              <a:cs typeface="Calibri" panose="020F0502020204030204"/>
            </a:endParaRPr>
          </a:p>
          <a:p>
            <a:pPr marL="400685" algn="l">
              <a:lnSpc>
                <a:spcPct val="100000"/>
              </a:lnSpc>
              <a:spcBef>
                <a:spcPts val="600"/>
              </a:spcBef>
            </a:pPr>
            <a:r>
              <a:rPr lang="en-US" altLang="zh-CN" sz="2200" b="0" dirty="0" smtClean="0">
                <a:solidFill>
                  <a:srgbClr val="000000"/>
                </a:solidFill>
                <a:latin typeface="INQKCT+ArialMT"/>
                <a:cs typeface="INQKCT+ArialMT"/>
              </a:rPr>
              <a:t>–</a:t>
            </a:r>
            <a:r>
              <a:rPr lang="en-US" altLang="zh-CN" sz="2200" b="0" spc="559"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Research</a:t>
            </a:r>
            <a:r>
              <a:rPr lang="en-US" altLang="zh-CN" sz="2200" b="0" spc="-12"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method</a:t>
            </a:r>
            <a:r>
              <a:rPr lang="en-US" altLang="zh-CN" sz="2200" b="0" spc="-41"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is</a:t>
            </a:r>
            <a:r>
              <a:rPr lang="en-US" altLang="zh-CN" sz="2200" b="0" spc="-34"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the</a:t>
            </a:r>
            <a:r>
              <a:rPr lang="en-US" altLang="zh-CN" sz="2200" b="0" spc="-42"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design</a:t>
            </a:r>
            <a:r>
              <a:rPr lang="en-US" altLang="zh-CN" sz="2200" b="0" spc="-31" dirty="0" smtClean="0">
                <a:solidFill>
                  <a:srgbClr val="000000"/>
                </a:solidFill>
                <a:latin typeface="Times New Roman" panose="02020603050405020304"/>
                <a:cs typeface="Times New Roman" panose="02020603050405020304"/>
              </a:rPr>
              <a:t> </a:t>
            </a:r>
            <a:r>
              <a:rPr lang="en-US" altLang="zh-CN" sz="2200" b="0" dirty="0" smtClean="0">
                <a:solidFill>
                  <a:srgbClr val="000000"/>
                </a:solidFill>
                <a:latin typeface="Calibri" panose="020F0502020204030204"/>
                <a:cs typeface="Calibri" panose="020F0502020204030204"/>
              </a:rPr>
              <a:t>cycle</a:t>
            </a:r>
            <a:endParaRPr lang="en-US" altLang="zh-CN" sz="2200" b="0" dirty="0" smtClean="0">
              <a:solidFill>
                <a:srgbClr val="000000"/>
              </a:solidFill>
              <a:latin typeface="Calibri" panose="020F0502020204030204"/>
              <a:cs typeface="Calibri" panose="020F0502020204030204"/>
            </a:endParaRPr>
          </a:p>
          <a:p>
            <a:pPr algn="l">
              <a:lnSpc>
                <a:spcPct val="100000"/>
              </a:lnSpc>
              <a:spcBef>
                <a:spcPts val="600"/>
              </a:spcBef>
              <a:buClrTx/>
              <a:buSzTx/>
              <a:buFontTx/>
            </a:pPr>
            <a:r>
              <a:rPr sz="2400" b="0" dirty="0">
                <a:solidFill>
                  <a:srgbClr val="000000"/>
                </a:solidFill>
                <a:latin typeface="Calibri" panose="020F0502020204030204" pitchFamily="34" charset="0"/>
                <a:cs typeface="Calibri" panose="020F0502020204030204" pitchFamily="34" charset="0"/>
                <a:sym typeface="+mn-ea"/>
              </a:rPr>
              <a:t>• </a:t>
            </a:r>
            <a:r>
              <a:rPr lang="en-US" sz="2400" b="0" dirty="0">
                <a:solidFill>
                  <a:srgbClr val="000000"/>
                </a:solidFill>
                <a:latin typeface="Calibri" panose="020F0502020204030204" pitchFamily="34" charset="0"/>
                <a:cs typeface="Calibri" panose="020F0502020204030204" pitchFamily="34" charset="0"/>
                <a:sym typeface="+mn-ea"/>
              </a:rPr>
              <a:t> </a:t>
            </a:r>
            <a:r>
              <a:rPr sz="2400" b="0" dirty="0">
                <a:solidFill>
                  <a:srgbClr val="000000"/>
                </a:solidFill>
                <a:latin typeface="Calibri" panose="020F0502020204030204" pitchFamily="34" charset="0"/>
                <a:cs typeface="Calibri" panose="020F0502020204030204" pitchFamily="34" charset="0"/>
                <a:sym typeface="+mn-ea"/>
              </a:rPr>
              <a:t>The problems in </a:t>
            </a:r>
            <a:r>
              <a:rPr sz="2400" b="0" dirty="0">
                <a:solidFill>
                  <a:srgbClr val="0070C0"/>
                </a:solidFill>
                <a:latin typeface="Calibri" panose="020F0502020204030204" pitchFamily="34" charset="0"/>
                <a:cs typeface="Calibri" panose="020F0502020204030204" pitchFamily="34" charset="0"/>
                <a:sym typeface="+mn-ea"/>
              </a:rPr>
              <a:t>empirical research are knowledge questions</a:t>
            </a:r>
            <a:endParaRPr sz="2400" b="0" dirty="0">
              <a:solidFill>
                <a:srgbClr val="000000"/>
              </a:solidFill>
              <a:latin typeface="Calibri" panose="020F0502020204030204" pitchFamily="34" charset="0"/>
              <a:cs typeface="Calibri" panose="020F0502020204030204" pitchFamily="34" charset="0"/>
            </a:endParaRPr>
          </a:p>
          <a:p>
            <a:pPr marL="400685" algn="l">
              <a:lnSpc>
                <a:spcPct val="100000"/>
              </a:lnSpc>
              <a:spcBef>
                <a:spcPts val="600"/>
              </a:spcBef>
              <a:buClrTx/>
              <a:buSzTx/>
              <a:buNone/>
            </a:pPr>
            <a:r>
              <a:rPr sz="2200" b="0" dirty="0">
                <a:solidFill>
                  <a:srgbClr val="000000"/>
                </a:solidFill>
                <a:latin typeface="Calibri" panose="020F0502020204030204" pitchFamily="34" charset="0"/>
                <a:cs typeface="Calibri" panose="020F0502020204030204" pitchFamily="34" charset="0"/>
                <a:sym typeface="+mn-ea"/>
              </a:rPr>
              <a:t>–  Goal is to acquire theoretical knowledge</a:t>
            </a:r>
            <a:endParaRPr sz="2200" b="0" dirty="0">
              <a:solidFill>
                <a:srgbClr val="000000"/>
              </a:solidFill>
              <a:latin typeface="Calibri" panose="020F0502020204030204" pitchFamily="34" charset="0"/>
              <a:cs typeface="Calibri" panose="020F0502020204030204" pitchFamily="34" charset="0"/>
            </a:endParaRPr>
          </a:p>
          <a:p>
            <a:pPr marL="400685" algn="l">
              <a:lnSpc>
                <a:spcPct val="100000"/>
              </a:lnSpc>
              <a:spcBef>
                <a:spcPts val="600"/>
              </a:spcBef>
              <a:buClrTx/>
              <a:buSzTx/>
              <a:buNone/>
            </a:pPr>
            <a:r>
              <a:rPr sz="2200" b="0" dirty="0">
                <a:solidFill>
                  <a:srgbClr val="000000"/>
                </a:solidFill>
                <a:latin typeface="Calibri" panose="020F0502020204030204" pitchFamily="34" charset="0"/>
                <a:cs typeface="Calibri" panose="020F0502020204030204" pitchFamily="34" charset="0"/>
                <a:sym typeface="+mn-ea"/>
              </a:rPr>
              <a:t>–  Research method is the empirical cycle</a:t>
            </a:r>
            <a:endParaRPr sz="2200" b="0" dirty="0">
              <a:solidFill>
                <a:srgbClr val="000000"/>
              </a:solidFill>
              <a:latin typeface="Calibri" panose="020F0502020204030204" pitchFamily="34" charset="0"/>
              <a:cs typeface="Calibri" panose="020F0502020204030204" pitchFamily="34" charset="0"/>
            </a:endParaRPr>
          </a:p>
          <a:p>
            <a:pPr marL="400685">
              <a:lnSpc>
                <a:spcPts val="2140"/>
              </a:lnSpc>
              <a:spcBef>
                <a:spcPts val="525"/>
              </a:spcBef>
            </a:pPr>
            <a:endParaRPr lang="en-US" altLang="zh-CN" sz="1800" dirty="0" smtClean="0">
              <a:solidFill>
                <a:srgbClr val="000000"/>
              </a:solidFill>
              <a:latin typeface="Calibri" panose="020F0502020204030204"/>
              <a:cs typeface="Calibri" panose="020F0502020204030204"/>
            </a:endParaRPr>
          </a:p>
          <a:p>
            <a:pPr marL="400685">
              <a:lnSpc>
                <a:spcPts val="2140"/>
              </a:lnSpc>
              <a:spcBef>
                <a:spcPts val="525"/>
              </a:spcBef>
            </a:pPr>
            <a:endParaRPr sz="1800" dirty="0">
              <a:solidFill>
                <a:srgbClr val="000000"/>
              </a:solidFill>
              <a:latin typeface="Calibri" panose="020F0502020204030204"/>
              <a:cs typeface="Calibri" panose="020F0502020204030204"/>
            </a:endParaRPr>
          </a:p>
        </p:txBody>
      </p:sp>
      <p:sp>
        <p:nvSpPr>
          <p:cNvPr id="9" name="object 9"/>
          <p:cNvSpPr txBox="1"/>
          <p:nvPr/>
        </p:nvSpPr>
        <p:spPr>
          <a:xfrm>
            <a:off x="396240" y="5675630"/>
            <a:ext cx="8207375" cy="652780"/>
          </a:xfrm>
          <a:prstGeom prst="rect">
            <a:avLst/>
          </a:prstGeom>
        </p:spPr>
        <p:txBody>
          <a:bodyPr vert="horz" wrap="square" lIns="0" tIns="0" rIns="0" bIns="0" rtlCol="0">
            <a:spAutoFit/>
          </a:bodyPr>
          <a:lstStyle/>
          <a:p>
            <a:pPr>
              <a:lnSpc>
                <a:spcPts val="2570"/>
              </a:lnSpc>
              <a:spcBef>
                <a:spcPct val="0"/>
              </a:spcBef>
            </a:pPr>
            <a:r>
              <a:rPr sz="2100" dirty="0">
                <a:solidFill>
                  <a:srgbClr val="000000"/>
                </a:solidFill>
                <a:latin typeface="INQKCT+ArialMT"/>
                <a:cs typeface="INQKCT+ArialMT"/>
              </a:rPr>
              <a:t>•</a:t>
            </a:r>
            <a:r>
              <a:rPr sz="2100" spc="1105" dirty="0">
                <a:solidFill>
                  <a:srgbClr val="000000"/>
                </a:solidFill>
                <a:latin typeface="Times New Roman" panose="02020603050405020304"/>
                <a:cs typeface="Times New Roman" panose="02020603050405020304"/>
              </a:rPr>
              <a:t> </a:t>
            </a:r>
            <a:r>
              <a:rPr sz="2100" dirty="0" err="1">
                <a:solidFill>
                  <a:srgbClr val="000000"/>
                </a:solidFill>
                <a:latin typeface="Calibri" panose="020F0502020204030204"/>
                <a:cs typeface="Calibri" panose="020F0502020204030204"/>
              </a:rPr>
              <a:t>Wieringa</a:t>
            </a:r>
            <a:r>
              <a:rPr sz="2100" dirty="0">
                <a:solidFill>
                  <a:srgbClr val="000000"/>
                </a:solidFill>
                <a:latin typeface="Calibri" panose="020F0502020204030204"/>
                <a:cs typeface="Calibri" panose="020F0502020204030204"/>
              </a:rPr>
              <a:t>,</a:t>
            </a:r>
            <a:r>
              <a:rPr sz="2100" spc="-44" dirty="0">
                <a:solidFill>
                  <a:srgbClr val="000000"/>
                </a:solidFill>
                <a:latin typeface="Times New Roman" panose="02020603050405020304"/>
                <a:cs typeface="Times New Roman" panose="02020603050405020304"/>
              </a:rPr>
              <a:t> </a:t>
            </a:r>
            <a:r>
              <a:rPr sz="2100" dirty="0">
                <a:solidFill>
                  <a:srgbClr val="000000"/>
                </a:solidFill>
                <a:latin typeface="Calibri" panose="020F0502020204030204"/>
                <a:cs typeface="Calibri" panose="020F0502020204030204"/>
              </a:rPr>
              <a:t>R.J.</a:t>
            </a:r>
            <a:r>
              <a:rPr sz="2100" spc="-74" dirty="0">
                <a:solidFill>
                  <a:srgbClr val="000000"/>
                </a:solidFill>
                <a:latin typeface="Times New Roman" panose="02020603050405020304"/>
                <a:cs typeface="Times New Roman" panose="02020603050405020304"/>
              </a:rPr>
              <a:t> </a:t>
            </a:r>
            <a:r>
              <a:rPr sz="2100" dirty="0">
                <a:solidFill>
                  <a:srgbClr val="000000"/>
                </a:solidFill>
                <a:latin typeface="Calibri" panose="020F0502020204030204"/>
                <a:cs typeface="Calibri" panose="020F0502020204030204"/>
              </a:rPr>
              <a:t>(2014)</a:t>
            </a:r>
            <a:r>
              <a:rPr sz="2100" spc="-79" dirty="0">
                <a:solidFill>
                  <a:srgbClr val="000000"/>
                </a:solidFill>
                <a:latin typeface="Times New Roman" panose="02020603050405020304"/>
                <a:cs typeface="Times New Roman" panose="02020603050405020304"/>
              </a:rPr>
              <a:t> </a:t>
            </a:r>
            <a:r>
              <a:rPr sz="2100" u="sng" dirty="0">
                <a:solidFill>
                  <a:srgbClr val="3333FF"/>
                </a:solidFill>
                <a:latin typeface="Calibri" panose="020F0502020204030204"/>
                <a:cs typeface="Calibri" panose="020F0502020204030204"/>
              </a:rPr>
              <a:t>Design science methodology for information</a:t>
            </a:r>
            <a:endParaRPr sz="2100" u="sng" dirty="0">
              <a:solidFill>
                <a:srgbClr val="3333FF"/>
              </a:solidFill>
              <a:latin typeface="Calibri" panose="020F0502020204030204"/>
              <a:cs typeface="Calibri" panose="020F0502020204030204"/>
            </a:endParaRPr>
          </a:p>
          <a:p>
            <a:pPr marL="300355">
              <a:lnSpc>
                <a:spcPts val="2525"/>
              </a:lnSpc>
              <a:spcBef>
                <a:spcPct val="0"/>
              </a:spcBef>
            </a:pPr>
            <a:r>
              <a:rPr sz="2100" u="sng" dirty="0">
                <a:solidFill>
                  <a:srgbClr val="3333FF"/>
                </a:solidFill>
                <a:latin typeface="Calibri" panose="020F0502020204030204"/>
                <a:cs typeface="Calibri" panose="020F0502020204030204"/>
              </a:rPr>
              <a:t>systems and software engineering</a:t>
            </a:r>
            <a:r>
              <a:rPr sz="2100" dirty="0">
                <a:solidFill>
                  <a:srgbClr val="000000"/>
                </a:solidFill>
                <a:latin typeface="Calibri" panose="020F0502020204030204"/>
                <a:cs typeface="Calibri" panose="020F0502020204030204"/>
              </a:rPr>
              <a:t>. Springer</a:t>
            </a:r>
            <a:r>
              <a:rPr sz="2100" spc="-47" dirty="0">
                <a:solidFill>
                  <a:srgbClr val="000000"/>
                </a:solidFill>
                <a:latin typeface="Times New Roman" panose="02020603050405020304"/>
                <a:cs typeface="Times New Roman" panose="02020603050405020304"/>
              </a:rPr>
              <a:t> </a:t>
            </a:r>
            <a:r>
              <a:rPr sz="2100" spc="-21" dirty="0" err="1">
                <a:solidFill>
                  <a:srgbClr val="000000"/>
                </a:solidFill>
                <a:latin typeface="Calibri" panose="020F0502020204030204"/>
                <a:cs typeface="Calibri" panose="020F0502020204030204"/>
              </a:rPr>
              <a:t>Verlag</a:t>
            </a:r>
            <a:endParaRPr sz="2100" spc="-21" dirty="0">
              <a:solidFill>
                <a:srgbClr val="000000"/>
              </a:solidFill>
              <a:latin typeface="Calibri" panose="020F0502020204030204"/>
              <a:cs typeface="Calibri" panose="020F0502020204030204"/>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1"/>
          <p:cNvSpPr/>
          <p:nvPr/>
        </p:nvSpPr>
        <p:spPr>
          <a:xfrm>
            <a:off x="662570" y="314200"/>
            <a:ext cx="7819096" cy="295466"/>
          </a:xfrm>
          <a:prstGeom prst="rect">
            <a:avLst/>
          </a:prstGeom>
          <a:blipFill>
            <a:blip r:embed="rId1" cstate="print"/>
            <a:stretch>
              <a:fillRect/>
            </a:stretch>
          </a:blipFill>
        </p:spPr>
        <p:txBody>
          <a:bodyPr wrap="square" lIns="0" tIns="0" rIns="0" bIns="0" rtlCol="0">
            <a:spAutoFit/>
          </a:bodyPr>
          <a:lstStyle/>
          <a:p/>
        </p:txBody>
      </p:sp>
      <p:sp>
        <p:nvSpPr>
          <p:cNvPr id="7" name="object 7"/>
          <p:cNvSpPr txBox="1"/>
          <p:nvPr/>
        </p:nvSpPr>
        <p:spPr>
          <a:xfrm>
            <a:off x="4161233" y="6329514"/>
            <a:ext cx="1017239" cy="166712"/>
          </a:xfrm>
          <a:prstGeom prst="rect">
            <a:avLst/>
          </a:prstGeom>
        </p:spPr>
        <p:txBody>
          <a:bodyPr vert="horz" wrap="square" lIns="0" tIns="0" rIns="0" bIns="0" rtlCol="0">
            <a:spAutoFit/>
          </a:bodyPr>
          <a:lstStyle/>
          <a:p>
            <a:pPr>
              <a:lnSpc>
                <a:spcPts val="1285"/>
              </a:lnSpc>
              <a:spcBef>
                <a:spcPct val="0"/>
              </a:spcBef>
            </a:pPr>
            <a:r>
              <a:rPr sz="1100" dirty="0">
                <a:solidFill>
                  <a:srgbClr val="898989"/>
                </a:solidFill>
                <a:latin typeface="Calibri" panose="020F0502020204030204"/>
                <a:cs typeface="Calibri" panose="020F0502020204030204"/>
              </a:rPr>
              <a:t>©</a:t>
            </a:r>
            <a:r>
              <a:rPr sz="1100" spc="-22" dirty="0">
                <a:solidFill>
                  <a:srgbClr val="898989"/>
                </a:solidFill>
                <a:latin typeface="Times New Roman" panose="02020603050405020304"/>
                <a:cs typeface="Times New Roman" panose="02020603050405020304"/>
              </a:rPr>
              <a:t> </a:t>
            </a:r>
            <a:r>
              <a:rPr sz="1100" dirty="0">
                <a:solidFill>
                  <a:srgbClr val="898989"/>
                </a:solidFill>
                <a:latin typeface="Calibri" panose="020F0502020204030204"/>
                <a:cs typeface="Calibri" panose="020F0502020204030204"/>
              </a:rPr>
              <a:t>R.J.</a:t>
            </a:r>
            <a:r>
              <a:rPr sz="1100" spc="-30" dirty="0">
                <a:solidFill>
                  <a:srgbClr val="898989"/>
                </a:solidFill>
                <a:latin typeface="Times New Roman" panose="02020603050405020304"/>
                <a:cs typeface="Times New Roman" panose="02020603050405020304"/>
              </a:rPr>
              <a:t> </a:t>
            </a:r>
            <a:r>
              <a:rPr sz="1100" dirty="0" err="1">
                <a:solidFill>
                  <a:srgbClr val="898989"/>
                </a:solidFill>
                <a:latin typeface="Calibri" panose="020F0502020204030204"/>
                <a:cs typeface="Calibri" panose="020F0502020204030204"/>
              </a:rPr>
              <a:t>Wieringa</a:t>
            </a:r>
            <a:endParaRPr sz="1100" dirty="0">
              <a:solidFill>
                <a:srgbClr val="898989"/>
              </a:solidFill>
              <a:latin typeface="Calibri" panose="020F0502020204030204"/>
              <a:cs typeface="Calibri" panose="020F0502020204030204"/>
            </a:endParaRPr>
          </a:p>
        </p:txBody>
      </p:sp>
      <p:pic>
        <p:nvPicPr>
          <p:cNvPr id="2050" name="Picture 2"/>
          <p:cNvPicPr>
            <a:picLocks noChangeAspect="1" noChangeArrowheads="1"/>
          </p:cNvPicPr>
          <p:nvPr/>
        </p:nvPicPr>
        <p:blipFill>
          <a:blip r:embed="rId2" cstate="print"/>
          <a:srcRect/>
          <a:stretch>
            <a:fillRect/>
          </a:stretch>
        </p:blipFill>
        <p:spPr bwMode="auto">
          <a:xfrm>
            <a:off x="297180" y="314960"/>
            <a:ext cx="8623300" cy="5756275"/>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69"/>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Example: ATM Machine</a:t>
            </a:r>
            <a:endParaRPr lang="en-US" altLang="zh-CN" dirty="0">
              <a:ea typeface="宋体" panose="02010600030101010101" pitchFamily="2" charset="-122"/>
            </a:endParaRPr>
          </a:p>
        </p:txBody>
      </p:sp>
      <p:pic>
        <p:nvPicPr>
          <p:cNvPr id="17411" name="Picture 627"/>
          <p:cNvPicPr>
            <a:picLocks noChangeAspect="1"/>
          </p:cNvPicPr>
          <p:nvPr/>
        </p:nvPicPr>
        <p:blipFill>
          <a:blip r:embed="rId1"/>
          <a:stretch>
            <a:fillRect/>
          </a:stretch>
        </p:blipFill>
        <p:spPr>
          <a:xfrm>
            <a:off x="1150938" y="2209800"/>
            <a:ext cx="6921500" cy="4052888"/>
          </a:xfrm>
          <a:prstGeom prst="rect">
            <a:avLst/>
          </a:prstGeom>
          <a:noFill/>
          <a:ln w="9525">
            <a:noFill/>
          </a:ln>
        </p:spPr>
      </p:pic>
      <p:sp>
        <p:nvSpPr>
          <p:cNvPr id="17412" name="TextBox 5"/>
          <p:cNvSpPr txBox="1"/>
          <p:nvPr/>
        </p:nvSpPr>
        <p:spPr>
          <a:xfrm>
            <a:off x="501650" y="1584325"/>
            <a:ext cx="5097463" cy="369888"/>
          </a:xfrm>
          <a:prstGeom prst="rect">
            <a:avLst/>
          </a:prstGeom>
          <a:noFill/>
          <a:ln w="9525">
            <a:noFill/>
          </a:ln>
        </p:spPr>
        <p:txBody>
          <a:bodyPr wrap="none">
            <a:spAutoFit/>
          </a:bodyPr>
          <a:p>
            <a:r>
              <a:rPr lang="en-US" altLang="zh-CN" sz="1800" dirty="0">
                <a:latin typeface="Arial" panose="020B0604020202020204" pitchFamily="34" charset="0"/>
                <a:ea typeface="宋体" panose="02010600030101010101" pitchFamily="2" charset="-122"/>
              </a:rPr>
              <a:t>Understanding the money-machine problem:</a:t>
            </a:r>
            <a:endParaRPr lang="en-US" altLang="zh-CN" sz="1800" dirty="0">
              <a:latin typeface="Arial" panose="020B0604020202020204" pitchFamily="34" charset="0"/>
              <a:ea typeface="宋体" panose="02010600030101010101" pitchFamily="2" charset="-122"/>
            </a:endParaRPr>
          </a:p>
        </p:txBody>
      </p:sp>
      <p:sp>
        <p:nvSpPr>
          <p:cNvPr id="17413"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itle 3"/>
          <p:cNvSpPr>
            <a:spLocks noGrp="1"/>
          </p:cNvSpPr>
          <p:nvPr>
            <p:ph type="title"/>
          </p:nvPr>
        </p:nvSpPr>
        <p:spPr>
          <a:xfrm>
            <a:off x="220663" y="152400"/>
            <a:ext cx="8842375" cy="1143000"/>
          </a:xfrm>
        </p:spPr>
        <p:txBody>
          <a:bodyPr vert="horz" wrap="square" lIns="0" tIns="45720" rIns="0" bIns="45720" anchor="ctr" anchorCtr="0"/>
          <a:p>
            <a:r>
              <a:rPr lang="en-US" altLang="en-US" dirty="0"/>
              <a:t>Problem-solving Strategy</a:t>
            </a:r>
            <a:endParaRPr lang="en-US" altLang="en-US" dirty="0"/>
          </a:p>
        </p:txBody>
      </p:sp>
      <p:sp>
        <p:nvSpPr>
          <p:cNvPr id="5" name="Content Placeholder 4"/>
          <p:cNvSpPr>
            <a:spLocks noGrp="1"/>
          </p:cNvSpPr>
          <p:nvPr>
            <p:ph idx="1"/>
          </p:nvPr>
        </p:nvSpPr>
        <p:spPr>
          <a:xfrm>
            <a:off x="504825" y="1600200"/>
            <a:ext cx="8558213" cy="4457700"/>
          </a:xfrm>
        </p:spPr>
        <p:txBody>
          <a:bodyPr vert="horz" wrap="square" lIns="91440" tIns="45720" rIns="91440" bIns="45720" anchor="t" anchorCtr="0"/>
          <a:p>
            <a:pPr marL="0" indent="0">
              <a:spcBef>
                <a:spcPts val="1200"/>
              </a:spcBef>
              <a:buFont typeface="Wingdings" panose="05000000000000000000" pitchFamily="2" charset="2"/>
              <a:buNone/>
            </a:pPr>
            <a:r>
              <a:rPr lang="en-US" altLang="zh-CN" dirty="0">
                <a:solidFill>
                  <a:srgbClr val="0070C0"/>
                </a:solidFill>
                <a:ea typeface="宋体" panose="02010600030101010101" pitchFamily="2" charset="-122"/>
              </a:rPr>
              <a:t>Divide-and-conquer</a:t>
            </a:r>
            <a:r>
              <a:rPr lang="en-US" altLang="zh-CN" dirty="0">
                <a:ea typeface="宋体" panose="02010600030101010101" pitchFamily="2" charset="-122"/>
              </a:rPr>
              <a:t>:</a:t>
            </a:r>
            <a:endParaRPr lang="en-US" altLang="zh-CN" dirty="0">
              <a:ea typeface="宋体" panose="02010600030101010101" pitchFamily="2" charset="-122"/>
            </a:endParaRPr>
          </a:p>
          <a:p>
            <a:pPr marL="0" indent="0">
              <a:spcBef>
                <a:spcPts val="1200"/>
              </a:spcBef>
              <a:buChar char="•"/>
            </a:pPr>
            <a:r>
              <a:rPr lang="en-US" altLang="zh-CN" dirty="0">
                <a:ea typeface="宋体" panose="02010600030101010101" pitchFamily="2" charset="-122"/>
              </a:rPr>
              <a:t>Identify logical parts of the system that each solves a part of the problem</a:t>
            </a:r>
            <a:endParaRPr lang="en-US" altLang="zh-CN" dirty="0">
              <a:ea typeface="宋体" panose="02010600030101010101" pitchFamily="2" charset="-122"/>
            </a:endParaRPr>
          </a:p>
          <a:p>
            <a:pPr marL="0" indent="0">
              <a:spcBef>
                <a:spcPts val="1200"/>
              </a:spcBef>
              <a:buChar char="•"/>
            </a:pPr>
            <a:r>
              <a:rPr lang="en-US" altLang="zh-CN" dirty="0">
                <a:ea typeface="宋体" panose="02010600030101010101" pitchFamily="2" charset="-122"/>
              </a:rPr>
              <a:t>Easiest done with the help of a domain expert who already knows the steps in the process (“how it is currently done”)</a:t>
            </a:r>
            <a:endParaRPr lang="en-US" altLang="zh-CN" dirty="0">
              <a:ea typeface="宋体" panose="02010600030101010101" pitchFamily="2" charset="-122"/>
            </a:endParaRPr>
          </a:p>
          <a:p>
            <a:pPr marL="0" indent="0">
              <a:spcBef>
                <a:spcPts val="1200"/>
              </a:spcBef>
              <a:buChar char="•"/>
            </a:pPr>
            <a:r>
              <a:rPr lang="en-US" altLang="zh-CN" dirty="0">
                <a:ea typeface="宋体" panose="02010600030101010101" pitchFamily="2" charset="-122"/>
              </a:rPr>
              <a:t>Result:</a:t>
            </a:r>
            <a:br>
              <a:rPr lang="en-US" altLang="zh-CN" dirty="0">
                <a:ea typeface="宋体" panose="02010600030101010101" pitchFamily="2" charset="-122"/>
              </a:rPr>
            </a:br>
            <a:r>
              <a:rPr lang="en-US" altLang="zh-CN" dirty="0">
                <a:ea typeface="宋体" panose="02010600030101010101" pitchFamily="2" charset="-122"/>
              </a:rPr>
              <a:t>A Model of the Problem Domain</a:t>
            </a:r>
            <a:br>
              <a:rPr lang="en-US" altLang="zh-CN" dirty="0">
                <a:ea typeface="宋体" panose="02010600030101010101" pitchFamily="2" charset="-122"/>
              </a:rPr>
            </a:br>
            <a:r>
              <a:rPr lang="en-US" altLang="zh-CN" dirty="0">
                <a:ea typeface="宋体" panose="02010600030101010101" pitchFamily="2" charset="-122"/>
              </a:rPr>
              <a:t>(or “</a:t>
            </a:r>
            <a:r>
              <a:rPr lang="en-US" altLang="zh-CN" dirty="0">
                <a:solidFill>
                  <a:srgbClr val="C00000"/>
                </a:solidFill>
                <a:ea typeface="宋体" panose="02010600030101010101" pitchFamily="2" charset="-122"/>
              </a:rPr>
              <a:t>domain model</a:t>
            </a:r>
            <a:r>
              <a:rPr lang="en-US" altLang="zh-CN" dirty="0">
                <a:ea typeface="宋体" panose="02010600030101010101" pitchFamily="2" charset="-122"/>
              </a:rPr>
              <a:t>”)</a:t>
            </a:r>
            <a:endParaRPr lang="en-US" altLang="zh-CN" dirty="0">
              <a:ea typeface="宋体" panose="02010600030101010101" pitchFamily="2" charset="-122"/>
            </a:endParaRPr>
          </a:p>
          <a:p>
            <a:pPr marL="0" indent="0">
              <a:buChar char="•"/>
            </a:pPr>
            <a:endParaRPr lang="en-US" altLang="zh-CN" dirty="0">
              <a:ea typeface="宋体" panose="02010600030101010101" pitchFamily="2" charset="-122"/>
            </a:endParaRPr>
          </a:p>
        </p:txBody>
      </p:sp>
      <p:sp>
        <p:nvSpPr>
          <p:cNvPr id="18436"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charRg st="0" end="20"/>
                                            </p:txEl>
                                          </p:spTgt>
                                        </p:tgtEl>
                                        <p:attrNameLst>
                                          <p:attrName>style.visibility</p:attrName>
                                        </p:attrNameLst>
                                      </p:cBhvr>
                                      <p:to>
                                        <p:strVal val="visible"/>
                                      </p:to>
                                    </p:set>
                                    <p:animEffect transition="in" filter="wipe(down)">
                                      <p:cBhvr>
                                        <p:cTn id="7" dur="500"/>
                                        <p:tgtEl>
                                          <p:spTgt spid="5">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charRg st="20" end="96"/>
                                            </p:txEl>
                                          </p:spTgt>
                                        </p:tgtEl>
                                        <p:attrNameLst>
                                          <p:attrName>style.visibility</p:attrName>
                                        </p:attrNameLst>
                                      </p:cBhvr>
                                      <p:to>
                                        <p:strVal val="visible"/>
                                      </p:to>
                                    </p:set>
                                    <p:animEffect transition="in" filter="wipe(down)">
                                      <p:cBhvr>
                                        <p:cTn id="12" dur="500"/>
                                        <p:tgtEl>
                                          <p:spTgt spid="5">
                                            <p:txEl>
                                              <p:charRg st="20" end="9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charRg st="96" end="214"/>
                                            </p:txEl>
                                          </p:spTgt>
                                        </p:tgtEl>
                                        <p:attrNameLst>
                                          <p:attrName>style.visibility</p:attrName>
                                        </p:attrNameLst>
                                      </p:cBhvr>
                                      <p:to>
                                        <p:strVal val="visible"/>
                                      </p:to>
                                    </p:set>
                                    <p:animEffect transition="in" filter="wipe(down)">
                                      <p:cBhvr>
                                        <p:cTn id="17" dur="500"/>
                                        <p:tgtEl>
                                          <p:spTgt spid="5">
                                            <p:txEl>
                                              <p:charRg st="96" end="21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charRg st="214" end="272"/>
                                            </p:txEl>
                                          </p:spTgt>
                                        </p:tgtEl>
                                        <p:attrNameLst>
                                          <p:attrName>style.visibility</p:attrName>
                                        </p:attrNameLst>
                                      </p:cBhvr>
                                      <p:to>
                                        <p:strVal val="visible"/>
                                      </p:to>
                                    </p:set>
                                    <p:animEffect transition="in" filter="wipe(down)">
                                      <p:cBhvr>
                                        <p:cTn id="22" dur="500"/>
                                        <p:tgtEl>
                                          <p:spTgt spid="5">
                                            <p:txEl>
                                              <p:charRg st="214" end="2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How ATM Machine Might Work</a:t>
            </a:r>
            <a:endParaRPr lang="en-US" altLang="zh-CN" dirty="0">
              <a:ea typeface="宋体" panose="02010600030101010101" pitchFamily="2" charset="-122"/>
            </a:endParaRPr>
          </a:p>
        </p:txBody>
      </p:sp>
      <p:pic>
        <p:nvPicPr>
          <p:cNvPr id="19459" name="Picture 377"/>
          <p:cNvPicPr>
            <a:picLocks noChangeAspect="1"/>
          </p:cNvPicPr>
          <p:nvPr/>
        </p:nvPicPr>
        <p:blipFill>
          <a:blip r:embed="rId1"/>
          <a:stretch>
            <a:fillRect/>
          </a:stretch>
        </p:blipFill>
        <p:spPr>
          <a:xfrm>
            <a:off x="460375" y="1128713"/>
            <a:ext cx="8234363" cy="5672137"/>
          </a:xfrm>
          <a:prstGeom prst="rect">
            <a:avLst/>
          </a:prstGeom>
          <a:noFill/>
          <a:ln w="9525">
            <a:noFill/>
          </a:ln>
        </p:spPr>
      </p:pic>
      <p:sp>
        <p:nvSpPr>
          <p:cNvPr id="19460" name="TextBox 5"/>
          <p:cNvSpPr txBox="1"/>
          <p:nvPr/>
        </p:nvSpPr>
        <p:spPr>
          <a:xfrm>
            <a:off x="141288" y="1274763"/>
            <a:ext cx="2138362" cy="923925"/>
          </a:xfrm>
          <a:prstGeom prst="rect">
            <a:avLst/>
          </a:prstGeom>
          <a:solidFill>
            <a:schemeClr val="bg1"/>
          </a:solidFill>
          <a:ln w="28575" cap="flat" cmpd="sng">
            <a:solidFill>
              <a:srgbClr val="C00000"/>
            </a:solidFill>
            <a:prstDash val="solid"/>
            <a:miter/>
            <a:headEnd type="none" w="med" len="med"/>
            <a:tailEnd type="none" w="med" len="med"/>
          </a:ln>
        </p:spPr>
        <p:txBody>
          <a:bodyPr>
            <a:spAutoFit/>
          </a:bodyPr>
          <a:p>
            <a:r>
              <a:rPr lang="en-US" altLang="zh-CN" sz="1800" dirty="0">
                <a:latin typeface="Arial" panose="020B0604020202020204" pitchFamily="34" charset="0"/>
                <a:ea typeface="宋体" panose="02010600030101010101" pitchFamily="2" charset="-122"/>
              </a:rPr>
              <a:t>Domain model created with help of domain expert</a:t>
            </a:r>
            <a:endParaRPr lang="en-US" altLang="zh-CN" sz="1800" dirty="0">
              <a:latin typeface="Arial" panose="020B0604020202020204" pitchFamily="34" charset="0"/>
              <a:ea typeface="宋体" panose="02010600030101010101" pitchFamily="2" charset="-122"/>
            </a:endParaRPr>
          </a:p>
        </p:txBody>
      </p:sp>
      <p:sp>
        <p:nvSpPr>
          <p:cNvPr id="19461"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0" tIns="45720" rIns="0" bIns="45720" anchor="ctr" anchorCtr="0"/>
          <a:p>
            <a:pPr eaLnBrk="1" hangingPunct="1"/>
            <a:r>
              <a:rPr lang="en-US" altLang="zh-CN" sz="2400" dirty="0">
                <a:ea typeface="宋体" panose="02010600030101010101" pitchFamily="2" charset="-122"/>
              </a:rPr>
              <a:t>Cartoon Strip</a:t>
            </a:r>
            <a:r>
              <a:rPr lang="en-US" altLang="zh-CN" sz="4000" dirty="0">
                <a:ea typeface="宋体" panose="02010600030101010101" pitchFamily="2" charset="-122"/>
              </a:rPr>
              <a:t>: How ATM Machine Works</a:t>
            </a:r>
            <a:endParaRPr lang="en-US" altLang="zh-CN" sz="4000" dirty="0">
              <a:ea typeface="宋体" panose="02010600030101010101" pitchFamily="2" charset="-122"/>
            </a:endParaRPr>
          </a:p>
        </p:txBody>
      </p:sp>
      <p:pic>
        <p:nvPicPr>
          <p:cNvPr id="20483" name="Picture 81"/>
          <p:cNvPicPr>
            <a:picLocks noChangeAspect="1"/>
          </p:cNvPicPr>
          <p:nvPr/>
        </p:nvPicPr>
        <p:blipFill>
          <a:blip r:embed="rId1"/>
          <a:stretch>
            <a:fillRect/>
          </a:stretch>
        </p:blipFill>
        <p:spPr>
          <a:xfrm>
            <a:off x="993775" y="1873250"/>
            <a:ext cx="7185025" cy="4441825"/>
          </a:xfrm>
          <a:prstGeom prst="rect">
            <a:avLst/>
          </a:prstGeom>
          <a:noFill/>
          <a:ln w="9525">
            <a:noFill/>
          </a:ln>
        </p:spPr>
      </p:pic>
      <p:sp>
        <p:nvSpPr>
          <p:cNvPr id="20484"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Software Engineering Blueprints</a:t>
            </a:r>
            <a:endParaRPr lang="en-US" altLang="zh-CN" dirty="0">
              <a:ea typeface="宋体" panose="02010600030101010101" pitchFamily="2" charset="-122"/>
            </a:endParaRPr>
          </a:p>
        </p:txBody>
      </p:sp>
      <p:sp>
        <p:nvSpPr>
          <p:cNvPr id="21507" name="Content Placeholder 3"/>
          <p:cNvSpPr>
            <a:spLocks noGrp="1"/>
          </p:cNvSpPr>
          <p:nvPr>
            <p:ph idx="1"/>
          </p:nvPr>
        </p:nvSpPr>
        <p:spPr/>
        <p:txBody>
          <a:bodyPr vert="horz" wrap="square" lIns="91440" tIns="45720" rIns="91440" bIns="45720" anchor="t" anchorCtr="0"/>
          <a:p>
            <a:pPr eaLnBrk="1" hangingPunct="1">
              <a:spcBef>
                <a:spcPts val="2000"/>
              </a:spcBef>
              <a:buFont typeface="Wingdings" panose="05000000000000000000" pitchFamily="2" charset="2"/>
              <a:buChar char="Ø"/>
            </a:pPr>
            <a:r>
              <a:rPr lang="en-US" altLang="zh-CN" dirty="0">
                <a:ea typeface="宋体" panose="02010600030101010101" pitchFamily="2" charset="-122"/>
              </a:rPr>
              <a:t>Specifying software problems and solutions is like cartoon strip writing</a:t>
            </a:r>
            <a:endParaRPr lang="en-US" altLang="zh-CN" dirty="0">
              <a:ea typeface="宋体" panose="02010600030101010101" pitchFamily="2" charset="-122"/>
            </a:endParaRPr>
          </a:p>
          <a:p>
            <a:pPr eaLnBrk="1" hangingPunct="1">
              <a:spcBef>
                <a:spcPts val="2000"/>
              </a:spcBef>
              <a:buFont typeface="Wingdings" panose="05000000000000000000" pitchFamily="2" charset="2"/>
              <a:buChar char="Ø"/>
            </a:pPr>
            <a:r>
              <a:rPr lang="en-US" altLang="zh-CN" dirty="0">
                <a:ea typeface="宋体" panose="02010600030101010101" pitchFamily="2" charset="-122"/>
              </a:rPr>
              <a:t>Unfortunately, most of us are not artists, so we will use something less exciting:</a:t>
            </a:r>
            <a:br>
              <a:rPr lang="en-US" altLang="zh-CN" dirty="0">
                <a:ea typeface="宋体" panose="02010600030101010101" pitchFamily="2" charset="-122"/>
              </a:rPr>
            </a:br>
            <a:r>
              <a:rPr lang="en-US" altLang="zh-CN" dirty="0">
                <a:ea typeface="宋体" panose="02010600030101010101" pitchFamily="2" charset="-122"/>
              </a:rPr>
              <a:t>UML symbols</a:t>
            </a:r>
            <a:endParaRPr lang="en-US" altLang="zh-CN" dirty="0">
              <a:ea typeface="宋体" panose="02010600030101010101" pitchFamily="2" charset="-122"/>
            </a:endParaRPr>
          </a:p>
          <a:p>
            <a:pPr eaLnBrk="1" hangingPunct="1">
              <a:spcBef>
                <a:spcPts val="2000"/>
              </a:spcBef>
              <a:buFont typeface="Wingdings" panose="05000000000000000000" pitchFamily="2" charset="2"/>
              <a:buChar char="Ø"/>
            </a:pPr>
            <a:r>
              <a:rPr lang="en-US" altLang="zh-CN" dirty="0">
                <a:ea typeface="宋体" panose="02010600030101010101" pitchFamily="2" charset="-122"/>
              </a:rPr>
              <a:t>However …</a:t>
            </a:r>
            <a:endParaRPr lang="en-US" altLang="zh-CN" dirty="0">
              <a:ea typeface="宋体" panose="02010600030101010101" pitchFamily="2" charset="-122"/>
            </a:endParaRPr>
          </a:p>
        </p:txBody>
      </p:sp>
      <p:sp>
        <p:nvSpPr>
          <p:cNvPr id="21508"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p:txBody>
          <a:bodyPr vert="horz" wrap="square" lIns="0" tIns="45720" rIns="0" bIns="45720" anchor="ctr" anchorCtr="0"/>
          <a:p>
            <a:pPr eaLnBrk="1" hangingPunct="1"/>
            <a:r>
              <a:rPr lang="en-US" altLang="zh-CN" sz="3600" dirty="0">
                <a:solidFill>
                  <a:srgbClr val="0070C0"/>
                </a:solidFill>
                <a:ea typeface="宋体" panose="02010600030101010101" pitchFamily="2" charset="-122"/>
              </a:rPr>
              <a:t>Second Law</a:t>
            </a:r>
            <a:r>
              <a:rPr lang="en-US" altLang="zh-CN" sz="3600" dirty="0">
                <a:ea typeface="宋体" panose="02010600030101010101" pitchFamily="2" charset="-122"/>
              </a:rPr>
              <a:t> of Software Engineering</a:t>
            </a:r>
            <a:endParaRPr lang="en-US" altLang="zh-CN" sz="3600" dirty="0">
              <a:ea typeface="宋体" panose="02010600030101010101" pitchFamily="2" charset="-122"/>
            </a:endParaRPr>
          </a:p>
        </p:txBody>
      </p:sp>
      <p:sp>
        <p:nvSpPr>
          <p:cNvPr id="22531" name="Content Placeholder 3"/>
          <p:cNvSpPr>
            <a:spLocks noGrp="1"/>
          </p:cNvSpPr>
          <p:nvPr>
            <p:ph idx="1"/>
          </p:nvPr>
        </p:nvSpPr>
        <p:spPr/>
        <p:txBody>
          <a:bodyPr vert="horz" wrap="square" lIns="91440" tIns="45720" rIns="91440" bIns="45720" anchor="t" anchorCtr="0"/>
          <a:p>
            <a:pPr eaLnBrk="1" hangingPunct="1">
              <a:lnSpc>
                <a:spcPct val="150000"/>
              </a:lnSpc>
            </a:pPr>
            <a:r>
              <a:rPr lang="en-US" altLang="zh-CN" dirty="0">
                <a:solidFill>
                  <a:srgbClr val="00B0F0"/>
                </a:solidFill>
                <a:ea typeface="宋体" panose="02010600030101010101" pitchFamily="2" charset="-122"/>
              </a:rPr>
              <a:t>Software should be written for people first</a:t>
            </a:r>
            <a:endParaRPr lang="en-US" altLang="zh-CN" dirty="0">
              <a:solidFill>
                <a:srgbClr val="00B0F0"/>
              </a:solidFill>
              <a:ea typeface="宋体" panose="02010600030101010101" pitchFamily="2" charset="-122"/>
            </a:endParaRPr>
          </a:p>
          <a:p>
            <a:pPr lvl="1" eaLnBrk="1" hangingPunct="1">
              <a:lnSpc>
                <a:spcPct val="150000"/>
              </a:lnSpc>
            </a:pPr>
            <a:r>
              <a:rPr lang="en-US" altLang="zh-CN" dirty="0">
                <a:latin typeface="Comic Sans MS" panose="030F0702030302020204" pitchFamily="66" charset="0"/>
                <a:ea typeface="宋体" panose="02010600030101010101" pitchFamily="2" charset="-122"/>
              </a:rPr>
              <a:t>( Computers run software, but hardware quickly becomes outdated )</a:t>
            </a:r>
            <a:endParaRPr lang="en-US" altLang="zh-CN" dirty="0">
              <a:latin typeface="Comic Sans MS" panose="030F0702030302020204" pitchFamily="66" charset="0"/>
              <a:ea typeface="宋体" panose="02010600030101010101" pitchFamily="2" charset="-122"/>
            </a:endParaRPr>
          </a:p>
          <a:p>
            <a:pPr lvl="1" eaLnBrk="1" hangingPunct="1">
              <a:lnSpc>
                <a:spcPct val="150000"/>
              </a:lnSpc>
            </a:pPr>
            <a:r>
              <a:rPr lang="en-US" altLang="zh-CN" dirty="0">
                <a:latin typeface="Comic Sans MS" panose="030F0702030302020204" pitchFamily="66" charset="0"/>
                <a:ea typeface="宋体" panose="02010600030101010101" pitchFamily="2" charset="-122"/>
              </a:rPr>
              <a:t>Useful + good software lives long</a:t>
            </a:r>
            <a:endParaRPr lang="en-US" altLang="zh-CN" dirty="0">
              <a:latin typeface="Comic Sans MS" panose="030F0702030302020204" pitchFamily="66" charset="0"/>
              <a:ea typeface="宋体" panose="02010600030101010101" pitchFamily="2" charset="-122"/>
            </a:endParaRPr>
          </a:p>
          <a:p>
            <a:pPr lvl="1" eaLnBrk="1" hangingPunct="1">
              <a:lnSpc>
                <a:spcPct val="150000"/>
              </a:lnSpc>
            </a:pPr>
            <a:r>
              <a:rPr lang="en-US" altLang="zh-CN" dirty="0">
                <a:latin typeface="Comic Sans MS" panose="030F0702030302020204" pitchFamily="66" charset="0"/>
                <a:ea typeface="宋体" panose="02010600030101010101" pitchFamily="2" charset="-122"/>
              </a:rPr>
              <a:t>To nurture software, people must be able to understand it</a:t>
            </a:r>
            <a:endParaRPr lang="en-US" altLang="zh-CN" dirty="0">
              <a:latin typeface="Comic Sans MS" panose="030F0702030302020204" pitchFamily="66" charset="0"/>
              <a:ea typeface="宋体" panose="02010600030101010101" pitchFamily="2" charset="-122"/>
            </a:endParaRPr>
          </a:p>
          <a:p>
            <a:pPr eaLnBrk="1" hangingPunct="1">
              <a:lnSpc>
                <a:spcPct val="150000"/>
              </a:lnSpc>
            </a:pPr>
            <a:endParaRPr lang="en-US" altLang="zh-CN" dirty="0">
              <a:ea typeface="宋体" panose="02010600030101010101" pitchFamily="2" charset="-122"/>
            </a:endParaRPr>
          </a:p>
        </p:txBody>
      </p:sp>
      <p:sp>
        <p:nvSpPr>
          <p:cNvPr id="22532" name="Slide Number Placeholder 4"/>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Software Development Methods</a:t>
            </a:r>
            <a:endParaRPr lang="en-US" altLang="zh-CN" dirty="0">
              <a:ea typeface="宋体" panose="02010600030101010101" pitchFamily="2" charset="-122"/>
            </a:endParaRPr>
          </a:p>
        </p:txBody>
      </p:sp>
      <p:sp>
        <p:nvSpPr>
          <p:cNvPr id="16387" name="Content Placeholder 2"/>
          <p:cNvSpPr>
            <a:spLocks noGrp="1"/>
          </p:cNvSpPr>
          <p:nvPr>
            <p:ph idx="1"/>
          </p:nvPr>
        </p:nvSpPr>
        <p:spPr>
          <a:xfrm>
            <a:off x="369888" y="1600200"/>
            <a:ext cx="8774113" cy="47656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Method = work strategy</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mn-ea"/>
              </a:rPr>
              <a:t>The Feynman Problem-Solving Algorithm:</a:t>
            </a:r>
            <a:br>
              <a:rPr kumimoji="0" lang="en-US" altLang="zh-CN" sz="2000" b="0" i="0" u="none" strike="noStrike" kern="0" cap="none" spc="0" normalizeH="0" baseline="0" noProof="0" dirty="0" smtClean="0">
                <a:ln>
                  <a:noFill/>
                </a:ln>
                <a:solidFill>
                  <a:schemeClr val="tx1"/>
                </a:solidFill>
                <a:effectLst/>
                <a:uLnTx/>
                <a:uFillTx/>
                <a:latin typeface="+mn-lt"/>
                <a:ea typeface="+mn-ea"/>
              </a:rPr>
            </a:br>
            <a:r>
              <a:rPr kumimoji="0" lang="en-US" altLang="zh-CN" sz="2000" b="0" i="0" u="none" strike="noStrike" kern="0" cap="none" spc="0" normalizeH="0" baseline="0" noProof="0" dirty="0" smtClean="0">
                <a:ln>
                  <a:noFill/>
                </a:ln>
                <a:solidFill>
                  <a:schemeClr val="tx1"/>
                </a:solidFill>
                <a:effectLst/>
                <a:uLnTx/>
                <a:uFillTx/>
                <a:latin typeface="+mn-lt"/>
                <a:ea typeface="+mn-ea"/>
              </a:rPr>
              <a:t>(</a:t>
            </a:r>
            <a:r>
              <a:rPr kumimoji="0" lang="en-US" altLang="zh-CN" sz="2000" b="0" i="0" u="none" strike="noStrike" kern="0" cap="none" spc="0" normalizeH="0" baseline="0" noProof="0" dirty="0" err="1" smtClean="0">
                <a:ln>
                  <a:noFill/>
                </a:ln>
                <a:solidFill>
                  <a:schemeClr val="tx1"/>
                </a:solidFill>
                <a:effectLst/>
                <a:uLnTx/>
                <a:uFillTx/>
                <a:latin typeface="+mn-lt"/>
                <a:ea typeface="+mn-ea"/>
              </a:rPr>
              <a:t>i</a:t>
            </a:r>
            <a:r>
              <a:rPr kumimoji="0" lang="en-US" altLang="zh-CN" sz="2000" b="0" i="0" u="none" strike="noStrike" kern="0" cap="none" spc="0" normalizeH="0" baseline="0" noProof="0" dirty="0" smtClean="0">
                <a:ln>
                  <a:noFill/>
                </a:ln>
                <a:solidFill>
                  <a:schemeClr val="tx1"/>
                </a:solidFill>
                <a:effectLst/>
                <a:uLnTx/>
                <a:uFillTx/>
                <a:latin typeface="+mn-lt"/>
                <a:ea typeface="+mn-ea"/>
              </a:rPr>
              <a:t>) Write down the problem (ii) think very hard, and (iii) write down the answer.</a:t>
            </a:r>
            <a:endParaRPr kumimoji="0" lang="en-US" altLang="zh-CN" sz="2000" b="0"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Waterfall</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Unidirectional, finish this step before moving to the next</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Iterative + Incremental</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Develop increment of functionality, repeat in a feedback loop</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Ø"/>
              <a:defRPr/>
            </a:pPr>
            <a:r>
              <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Agile</a:t>
            </a:r>
            <a:endParaRPr kumimoji="0" lang="en-US" altLang="zh-CN" sz="28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1143000" marR="0" lvl="2" indent="-228600" algn="l" defTabSz="914400" rtl="0" eaLnBrk="1" fontAlgn="base" latinLnBrk="0" hangingPunct="1">
              <a:lnSpc>
                <a:spcPct val="100000"/>
              </a:lnSpc>
              <a:spcBef>
                <a:spcPct val="20000"/>
              </a:spcBef>
              <a:spcAft>
                <a:spcPct val="0"/>
              </a:spcAft>
              <a:buClrTx/>
              <a:buSzTx/>
              <a:buFont typeface="Wingdings" panose="05000000000000000000" pitchFamily="2" charset="2"/>
              <a:buChar char="§"/>
              <a:defRPr/>
            </a:pPr>
            <a:r>
              <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rPr>
              <a:t>User feedback essential; feedback loops on several levels of granularity</a:t>
            </a:r>
            <a:endParaRPr kumimoji="0" lang="en-US" altLang="zh-CN" sz="2000" b="0" i="0" u="none" strike="noStrike" kern="0" cap="none" spc="0" normalizeH="0" baseline="0" noProof="0" dirty="0" smtClean="0">
              <a:ln>
                <a:noFill/>
              </a:ln>
              <a:solidFill>
                <a:schemeClr val="tx1"/>
              </a:solidFill>
              <a:effectLst/>
              <a:uLnTx/>
              <a:uFillTx/>
              <a:latin typeface="+mn-lt"/>
              <a:ea typeface="宋体" panose="02010600030101010101" pitchFamily="2" charset="-122"/>
            </a:endParaRPr>
          </a:p>
        </p:txBody>
      </p:sp>
      <p:sp>
        <p:nvSpPr>
          <p:cNvPr id="23556" name="Slide Number Placeholder 3"/>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4"/>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Waterfall Method</a:t>
            </a:r>
            <a:endParaRPr lang="en-US" altLang="zh-CN" dirty="0">
              <a:ea typeface="宋体" panose="02010600030101010101" pitchFamily="2" charset="-122"/>
            </a:endParaRPr>
          </a:p>
        </p:txBody>
      </p:sp>
      <p:pic>
        <p:nvPicPr>
          <p:cNvPr id="24579" name="Picture 229"/>
          <p:cNvPicPr>
            <a:picLocks noChangeAspect="1"/>
          </p:cNvPicPr>
          <p:nvPr/>
        </p:nvPicPr>
        <p:blipFill>
          <a:blip r:embed="rId1"/>
          <a:stretch>
            <a:fillRect/>
          </a:stretch>
        </p:blipFill>
        <p:spPr>
          <a:xfrm>
            <a:off x="681038" y="1712913"/>
            <a:ext cx="7648575" cy="3983037"/>
          </a:xfrm>
          <a:prstGeom prst="rect">
            <a:avLst/>
          </a:prstGeom>
          <a:noFill/>
          <a:ln w="9525">
            <a:noFill/>
          </a:ln>
        </p:spPr>
      </p:pic>
      <p:sp>
        <p:nvSpPr>
          <p:cNvPr id="24580"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
        <p:nvSpPr>
          <p:cNvPr id="24581" name="Rectangle 5"/>
          <p:cNvSpPr/>
          <p:nvPr/>
        </p:nvSpPr>
        <p:spPr>
          <a:xfrm>
            <a:off x="303213" y="5835650"/>
            <a:ext cx="6278562" cy="829945"/>
          </a:xfrm>
          <a:prstGeom prst="rect">
            <a:avLst/>
          </a:prstGeom>
          <a:noFill/>
          <a:ln w="9525">
            <a:noFill/>
          </a:ln>
        </p:spPr>
        <p:txBody>
          <a:bodyPr>
            <a:spAutoFit/>
          </a:bodyPr>
          <a:p>
            <a:r>
              <a:rPr lang="en-US" altLang="zh-CN" dirty="0">
                <a:latin typeface="Calibri" panose="020F0502020204030204" pitchFamily="34" charset="0"/>
                <a:ea typeface="宋体" panose="02010600030101010101" pitchFamily="2" charset="-122"/>
                <a:cs typeface="Calibri" panose="020F0502020204030204" pitchFamily="34" charset="0"/>
              </a:rPr>
              <a:t>Unidirectional, no way back</a:t>
            </a:r>
            <a:br>
              <a:rPr lang="en-US" altLang="zh-CN" dirty="0">
                <a:latin typeface="Calibri" panose="020F0502020204030204" pitchFamily="34" charset="0"/>
                <a:ea typeface="宋体" panose="02010600030101010101" pitchFamily="2" charset="-122"/>
                <a:cs typeface="Calibri" panose="020F0502020204030204" pitchFamily="34" charset="0"/>
              </a:rPr>
            </a:br>
            <a:r>
              <a:rPr lang="en-US" altLang="zh-CN" dirty="0">
                <a:latin typeface="Calibri" panose="020F0502020204030204" pitchFamily="34" charset="0"/>
                <a:ea typeface="宋体" panose="02010600030101010101" pitchFamily="2" charset="-122"/>
                <a:cs typeface="Calibri" panose="020F0502020204030204" pitchFamily="34" charset="0"/>
              </a:rPr>
              <a:t>finish this step before moving to the next</a:t>
            </a:r>
            <a:endParaRPr lang="en-US" altLang="zh-CN" dirty="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UML – Language of Symbols</a:t>
            </a:r>
            <a:endParaRPr lang="en-US" altLang="zh-CN" dirty="0">
              <a:ea typeface="宋体" panose="02010600030101010101" pitchFamily="2" charset="-122"/>
            </a:endParaRPr>
          </a:p>
        </p:txBody>
      </p:sp>
      <p:pic>
        <p:nvPicPr>
          <p:cNvPr id="25603" name="Picture 183"/>
          <p:cNvPicPr>
            <a:picLocks noChangeAspect="1"/>
          </p:cNvPicPr>
          <p:nvPr/>
        </p:nvPicPr>
        <p:blipFill>
          <a:blip r:embed="rId1"/>
          <a:stretch>
            <a:fillRect/>
          </a:stretch>
        </p:blipFill>
        <p:spPr>
          <a:xfrm>
            <a:off x="160338" y="1776413"/>
            <a:ext cx="8745537" cy="4572000"/>
          </a:xfrm>
          <a:prstGeom prst="rect">
            <a:avLst/>
          </a:prstGeom>
          <a:noFill/>
          <a:ln w="9525">
            <a:noFill/>
          </a:ln>
        </p:spPr>
      </p:pic>
      <p:sp>
        <p:nvSpPr>
          <p:cNvPr id="25604"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
        <p:nvSpPr>
          <p:cNvPr id="25605" name="TextBox 2"/>
          <p:cNvSpPr txBox="1"/>
          <p:nvPr/>
        </p:nvSpPr>
        <p:spPr>
          <a:xfrm flipH="1">
            <a:off x="198438" y="1158875"/>
            <a:ext cx="4535805" cy="460375"/>
          </a:xfrm>
          <a:prstGeom prst="rect">
            <a:avLst/>
          </a:prstGeom>
          <a:solidFill>
            <a:schemeClr val="bg1"/>
          </a:solidFill>
          <a:ln w="9525">
            <a:noFill/>
          </a:ln>
        </p:spPr>
        <p:txBody>
          <a:bodyPr wrap="none">
            <a:spAutoFit/>
          </a:bodyPr>
          <a:p>
            <a:r>
              <a:rPr lang="en-US" altLang="zh-CN" dirty="0">
                <a:latin typeface="Calibri" panose="020F0502020204030204" pitchFamily="34" charset="0"/>
                <a:ea typeface="宋体" panose="02010600030101010101" pitchFamily="2" charset="-122"/>
                <a:cs typeface="Calibri" panose="020F0502020204030204" pitchFamily="34" charset="0"/>
              </a:rPr>
              <a:t>UML = Unified Modeling Language</a:t>
            </a:r>
            <a:endParaRPr lang="en-US" altLang="zh-CN" dirty="0">
              <a:latin typeface="Calibri" panose="020F0502020204030204" pitchFamily="34" charset="0"/>
              <a:ea typeface="宋体" panose="02010600030101010101" pitchFamily="2" charset="-122"/>
              <a:cs typeface="Calibri" panose="020F0502020204030204" pitchFamily="34" charset="0"/>
            </a:endParaRPr>
          </a:p>
        </p:txBody>
      </p:sp>
      <p:sp>
        <p:nvSpPr>
          <p:cNvPr id="25606" name="Rectangle 5"/>
          <p:cNvSpPr/>
          <p:nvPr/>
        </p:nvSpPr>
        <p:spPr>
          <a:xfrm>
            <a:off x="6413500" y="5718175"/>
            <a:ext cx="2551113" cy="730250"/>
          </a:xfrm>
          <a:prstGeom prst="rect">
            <a:avLst/>
          </a:prstGeom>
          <a:solidFill>
            <a:srgbClr val="CCFF99"/>
          </a:solidFill>
          <a:ln w="28575" cap="flat" cmpd="sng">
            <a:solidFill>
              <a:srgbClr val="C00000"/>
            </a:solidFill>
            <a:prstDash val="solid"/>
            <a:miter/>
            <a:headEnd type="none" w="med" len="med"/>
            <a:tailEnd type="none" w="med" len="med"/>
          </a:ln>
        </p:spPr>
        <p:txBody>
          <a:bodyPr wrap="none">
            <a:spAutoFit/>
          </a:bodyPr>
          <a:p>
            <a:r>
              <a:rPr lang="en-US" altLang="zh-CN" sz="2000" dirty="0">
                <a:latin typeface="Arial" panose="020B0604020202020204" pitchFamily="34" charset="0"/>
                <a:ea typeface="宋体" panose="02010600030101010101" pitchFamily="2" charset="-122"/>
              </a:rPr>
              <a:t>Online information:</a:t>
            </a:r>
            <a:endParaRPr lang="en-US" altLang="zh-CN" sz="2000" dirty="0">
              <a:latin typeface="Arial" panose="020B0604020202020204" pitchFamily="34" charset="0"/>
              <a:ea typeface="宋体" panose="02010600030101010101" pitchFamily="2" charset="-122"/>
            </a:endParaRPr>
          </a:p>
          <a:p>
            <a:r>
              <a:rPr lang="en-US" altLang="zh-CN" sz="2000" dirty="0">
                <a:solidFill>
                  <a:schemeClr val="accent2"/>
                </a:solidFill>
                <a:latin typeface="Arial" panose="020B0604020202020204" pitchFamily="34" charset="0"/>
                <a:ea typeface="宋体" panose="02010600030101010101" pitchFamily="2" charset="-122"/>
              </a:rPr>
              <a:t>http://www.uml.org</a:t>
            </a:r>
            <a:endParaRPr lang="en-US" altLang="zh-CN" sz="2000" dirty="0">
              <a:solidFill>
                <a:schemeClr val="accent2"/>
              </a:solidFill>
              <a:latin typeface="Arial" panose="020B0604020202020204" pitchFamily="3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p:txBody>
          <a:bodyPr vert="horz" wrap="square" lIns="0" tIns="45720" rIns="0" bIns="45720" anchor="ctr" anchorCtr="0"/>
          <a:p>
            <a:pPr eaLnBrk="1" hangingPunct="1"/>
            <a:r>
              <a:rPr lang="en-US" altLang="zh-CN" sz="4000" dirty="0">
                <a:ea typeface="宋体" panose="02010600030101010101" pitchFamily="2" charset="-122"/>
              </a:rPr>
              <a:t>Understanding the Problem Domain</a:t>
            </a:r>
            <a:endParaRPr lang="en-US" altLang="zh-CN" sz="4000" dirty="0">
              <a:ea typeface="宋体" panose="02010600030101010101" pitchFamily="2" charset="-122"/>
            </a:endParaRPr>
          </a:p>
        </p:txBody>
      </p:sp>
      <p:sp>
        <p:nvSpPr>
          <p:cNvPr id="26627" name="Content Placeholder 3"/>
          <p:cNvSpPr>
            <a:spLocks noGrp="1"/>
          </p:cNvSpPr>
          <p:nvPr>
            <p:ph idx="1"/>
          </p:nvPr>
        </p:nvSpPr>
        <p:spPr/>
        <p:txBody>
          <a:bodyPr vert="horz" wrap="square" lIns="91440" tIns="45720" rIns="91440" bIns="45720" anchor="t" anchorCtr="0"/>
          <a:p>
            <a:pPr eaLnBrk="1" hangingPunct="1">
              <a:lnSpc>
                <a:spcPct val="150000"/>
              </a:lnSpc>
            </a:pPr>
            <a:r>
              <a:rPr lang="en-US" altLang="zh-CN" dirty="0">
                <a:ea typeface="宋体" panose="02010600030101010101" pitchFamily="2" charset="-122"/>
              </a:rPr>
              <a:t>System to be developed</a:t>
            </a:r>
            <a:endParaRPr lang="en-US" altLang="zh-CN" dirty="0">
              <a:ea typeface="宋体" panose="02010600030101010101" pitchFamily="2" charset="-122"/>
            </a:endParaRPr>
          </a:p>
          <a:p>
            <a:pPr eaLnBrk="1" hangingPunct="1">
              <a:lnSpc>
                <a:spcPct val="150000"/>
              </a:lnSpc>
            </a:pPr>
            <a:r>
              <a:rPr lang="en-US" altLang="zh-CN" dirty="0">
                <a:ea typeface="宋体" panose="02010600030101010101" pitchFamily="2" charset="-122"/>
              </a:rPr>
              <a:t>Actors</a:t>
            </a:r>
            <a:endParaRPr lang="en-US" altLang="zh-CN" dirty="0">
              <a:ea typeface="宋体" panose="02010600030101010101" pitchFamily="2" charset="-122"/>
            </a:endParaRPr>
          </a:p>
          <a:p>
            <a:pPr lvl="1" eaLnBrk="1" hangingPunct="1">
              <a:lnSpc>
                <a:spcPct val="150000"/>
              </a:lnSpc>
            </a:pPr>
            <a:r>
              <a:rPr lang="en-US" altLang="zh-CN" dirty="0">
                <a:ea typeface="宋体" panose="02010600030101010101" pitchFamily="2" charset="-122"/>
              </a:rPr>
              <a:t>Agents external to the system</a:t>
            </a:r>
            <a:endParaRPr lang="en-US" altLang="zh-CN" dirty="0">
              <a:ea typeface="宋体" panose="02010600030101010101" pitchFamily="2" charset="-122"/>
            </a:endParaRPr>
          </a:p>
          <a:p>
            <a:pPr eaLnBrk="1" hangingPunct="1">
              <a:lnSpc>
                <a:spcPct val="150000"/>
              </a:lnSpc>
            </a:pPr>
            <a:r>
              <a:rPr lang="en-US" altLang="zh-CN" dirty="0">
                <a:ea typeface="宋体" panose="02010600030101010101" pitchFamily="2" charset="-122"/>
              </a:rPr>
              <a:t>Concepts/ Objects</a:t>
            </a:r>
            <a:endParaRPr lang="en-US" altLang="zh-CN" dirty="0">
              <a:ea typeface="宋体" panose="02010600030101010101" pitchFamily="2" charset="-122"/>
            </a:endParaRPr>
          </a:p>
          <a:p>
            <a:pPr lvl="1" eaLnBrk="1" hangingPunct="1">
              <a:lnSpc>
                <a:spcPct val="150000"/>
              </a:lnSpc>
            </a:pPr>
            <a:r>
              <a:rPr lang="en-US" altLang="zh-CN" dirty="0">
                <a:ea typeface="宋体" panose="02010600030101010101" pitchFamily="2" charset="-122"/>
              </a:rPr>
              <a:t>Agents working inside the system</a:t>
            </a:r>
            <a:endParaRPr lang="en-US" altLang="zh-CN" dirty="0">
              <a:ea typeface="宋体" panose="02010600030101010101" pitchFamily="2" charset="-122"/>
            </a:endParaRPr>
          </a:p>
          <a:p>
            <a:pPr eaLnBrk="1" hangingPunct="1">
              <a:lnSpc>
                <a:spcPct val="150000"/>
              </a:lnSpc>
            </a:pPr>
            <a:r>
              <a:rPr lang="en-US" altLang="zh-CN" dirty="0">
                <a:ea typeface="宋体" panose="02010600030101010101" pitchFamily="2" charset="-122"/>
              </a:rPr>
              <a:t>Use Cases</a:t>
            </a:r>
            <a:endParaRPr lang="en-US" altLang="zh-CN" dirty="0">
              <a:ea typeface="宋体" panose="02010600030101010101" pitchFamily="2" charset="-122"/>
            </a:endParaRPr>
          </a:p>
          <a:p>
            <a:pPr lvl="1" eaLnBrk="1" hangingPunct="1">
              <a:lnSpc>
                <a:spcPct val="150000"/>
              </a:lnSpc>
            </a:pPr>
            <a:r>
              <a:rPr lang="en-US" altLang="zh-CN" dirty="0">
                <a:ea typeface="宋体" panose="02010600030101010101" pitchFamily="2" charset="-122"/>
              </a:rPr>
              <a:t>Scenarios for using the system</a:t>
            </a:r>
            <a:endParaRPr lang="en-US" altLang="zh-CN" dirty="0">
              <a:ea typeface="宋体" panose="02010600030101010101" pitchFamily="2" charset="-122"/>
            </a:endParaRPr>
          </a:p>
        </p:txBody>
      </p:sp>
      <p:sp>
        <p:nvSpPr>
          <p:cNvPr id="26628"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3"/>
          <p:cNvSpPr>
            <a:spLocks noGrp="1"/>
          </p:cNvSpPr>
          <p:nvPr>
            <p:ph type="title"/>
          </p:nvPr>
        </p:nvSpPr>
        <p:spPr>
          <a:xfrm>
            <a:off x="220663" y="152400"/>
            <a:ext cx="8842375" cy="1143000"/>
          </a:xfrm>
        </p:spPr>
        <p:txBody>
          <a:bodyPr vert="horz" wrap="square" lIns="0" tIns="45720" rIns="0" bIns="45720" anchor="ctr" anchorCtr="0"/>
          <a:p>
            <a:r>
              <a:rPr lang="en-US" altLang="en-US" dirty="0"/>
              <a:t>How Much Diagramming?</a:t>
            </a:r>
            <a:endParaRPr lang="en-US" altLang="en-US" dirty="0"/>
          </a:p>
        </p:txBody>
      </p:sp>
      <p:sp>
        <p:nvSpPr>
          <p:cNvPr id="5" name="Content Placeholder 4"/>
          <p:cNvSpPr>
            <a:spLocks noGrp="1"/>
          </p:cNvSpPr>
          <p:nvPr>
            <p:ph idx="1"/>
          </p:nvPr>
        </p:nvSpPr>
        <p:spPr>
          <a:xfrm>
            <a:off x="150495" y="1600200"/>
            <a:ext cx="8912860" cy="5029200"/>
          </a:xfrm>
        </p:spPr>
        <p:txBody>
          <a:bodyPr vert="horz" wrap="square" lIns="91440" tIns="45720" rIns="91440" bIns="45720" numCol="1" anchor="t" anchorCtr="0" compatLnSpc="1">
            <a:normAutofit lnSpcReduction="10000"/>
          </a:bodyPr>
          <a:lstStyle/>
          <a:p>
            <a:pPr marL="342900" marR="0" lvl="0" indent="-342900" algn="l" defTabSz="914400" rtl="0" eaLnBrk="0" fontAlgn="base" latinLnBrk="0" hangingPunct="0">
              <a:lnSpc>
                <a:spcPct val="100000"/>
              </a:lnSpc>
              <a:spcBef>
                <a:spcPts val="600"/>
              </a:spcBef>
              <a:spcAft>
                <a:spcPct val="0"/>
              </a:spcAft>
              <a:buClrTx/>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Use </a:t>
            </a:r>
            <a:r>
              <a:rPr kumimoji="0" lang="en-US" altLang="zh-CN" sz="2400" b="1" i="0" u="none" strike="noStrike" kern="0" cap="none" spc="0" normalizeH="0" baseline="0" noProof="0" dirty="0" smtClean="0">
                <a:ln>
                  <a:noFill/>
                </a:ln>
                <a:solidFill>
                  <a:srgbClr val="C00000"/>
                </a:solidFill>
                <a:effectLst/>
                <a:uLnTx/>
                <a:uFillTx/>
                <a:latin typeface="+mn-lt"/>
                <a:ea typeface="宋体" panose="02010600030101010101" pitchFamily="2" charset="-122"/>
                <a:cs typeface="+mn-cs"/>
              </a:rPr>
              <a:t>informal</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ad-hoc, </a:t>
            </a:r>
            <a:r>
              <a:rPr kumimoji="0" lang="en-US" altLang="zh-CN" sz="2400" b="1" i="0" u="none" strike="noStrike" kern="0" cap="none" spc="0" normalizeH="0" baseline="0" noProof="0" dirty="0" smtClean="0">
                <a:ln>
                  <a:noFill/>
                </a:ln>
                <a:solidFill>
                  <a:srgbClr val="C00000"/>
                </a:solidFill>
                <a:effectLst/>
                <a:uLnTx/>
                <a:uFillTx/>
                <a:latin typeface="+mn-lt"/>
                <a:ea typeface="宋体" panose="02010600030101010101" pitchFamily="2" charset="-122"/>
                <a:cs typeface="+mn-cs"/>
              </a:rPr>
              <a:t>hand-drawn</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scruffy diagrams during early stages and within the development team</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Hand-drawing forces economizing and leads to low emotional investment</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1143000" marR="0" lvl="2" indent="-22860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Economizing focuses on the essential, most important considerations</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1600200" marR="0" lvl="3" indent="-228600" algn="l" defTabSz="914400" rtl="0" eaLnBrk="0" fontAlgn="base" latinLnBrk="0" hangingPunct="0">
              <a:lnSpc>
                <a:spcPct val="100000"/>
              </a:lnSpc>
              <a:spcBef>
                <a:spcPts val="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Prioritize substance over the form</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1143000" marR="0" lvl="2" indent="-22860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Not being invested facilitates critique and suggested modifications</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742950" marR="0" lvl="1" indent="-28575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Always take snapshot to preserve records for future</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342900" marR="0" lvl="0" indent="-342900" algn="l" defTabSz="914400" rtl="0" eaLnBrk="0" fontAlgn="base" latinLnBrk="0" hangingPunct="0">
              <a:lnSpc>
                <a:spcPct val="100000"/>
              </a:lnSpc>
              <a:spcBef>
                <a:spcPts val="600"/>
              </a:spcBef>
              <a:spcAft>
                <a:spcPct val="0"/>
              </a:spcAft>
              <a:buClrTx/>
              <a:buSzTx/>
              <a:buFontTx/>
              <a:buChar char="•"/>
              <a:defRPr/>
            </a:pP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Use </a:t>
            </a:r>
            <a:r>
              <a:rPr kumimoji="0" lang="en-US" altLang="zh-CN" sz="2400" b="1" i="0" u="none" strike="noStrike" kern="0" cap="none" spc="0" normalizeH="0" baseline="0" noProof="0" dirty="0" smtClean="0">
                <a:ln>
                  <a:noFill/>
                </a:ln>
                <a:solidFill>
                  <a:srgbClr val="C00000"/>
                </a:solidFill>
                <a:effectLst/>
                <a:uLnTx/>
                <a:uFillTx/>
                <a:latin typeface="+mn-lt"/>
                <a:ea typeface="宋体" panose="02010600030101010101" pitchFamily="2" charset="-122"/>
                <a:cs typeface="+mn-cs"/>
              </a:rPr>
              <a:t>standardized</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neat, </a:t>
            </a:r>
            <a:r>
              <a:rPr kumimoji="0" lang="en-US" altLang="zh-CN" sz="2400" b="1" i="0" u="none" strike="noStrike" kern="0" cap="none" spc="0" normalizeH="0" baseline="0" noProof="0" dirty="0" smtClean="0">
                <a:ln>
                  <a:noFill/>
                </a:ln>
                <a:solidFill>
                  <a:srgbClr val="C00000"/>
                </a:solidFill>
                <a:effectLst/>
                <a:uLnTx/>
                <a:uFillTx/>
                <a:latin typeface="+mn-lt"/>
                <a:ea typeface="宋体" panose="02010600030101010101" pitchFamily="2" charset="-122"/>
                <a:cs typeface="+mn-cs"/>
              </a:rPr>
              <a:t>computer-generated</a:t>
            </a:r>
            <a:r>
              <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rPr>
              <a:t> diagrams when consensus reached and designs have “stabilized”</a:t>
            </a:r>
            <a:endParaRPr kumimoji="0" lang="en-US" altLang="zh-CN" sz="2400" b="0" i="0" u="none" strike="noStrike" kern="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Standards like UML facilitate communication with broad range of stakeholders</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742950" marR="0" lvl="1" indent="-28575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But, invest effort to make neat and polished diagrams only when there is an agreement about the design, so this effort is worth doing</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a:p>
            <a:pPr marL="1143000" marR="0" lvl="2" indent="-228600" algn="l" defTabSz="914400" rtl="0" eaLnBrk="0" fontAlgn="base" latinLnBrk="0" hangingPunct="0">
              <a:lnSpc>
                <a:spcPct val="100000"/>
              </a:lnSpc>
              <a:spcBef>
                <a:spcPts val="600"/>
              </a:spcBef>
              <a:spcAft>
                <a:spcPct val="0"/>
              </a:spcAft>
              <a:buClrTx/>
              <a:buSzTx/>
              <a:buFontTx/>
              <a:buChar char="•"/>
              <a:defRPr/>
            </a:pPr>
            <a:r>
              <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rPr>
              <a:t>Invest in the form, only when the substance is worth such an investment</a:t>
            </a:r>
            <a:endParaRPr kumimoji="0" lang="en-US" altLang="zh-CN" sz="2000" b="0" i="0" u="none" strike="noStrike" kern="0" cap="none" spc="0" normalizeH="0" baseline="0" noProof="0" dirty="0" smtClean="0">
              <a:ln>
                <a:noFill/>
              </a:ln>
              <a:solidFill>
                <a:schemeClr val="tx1"/>
              </a:solidFill>
              <a:effectLst/>
              <a:uLnTx/>
              <a:uFillTx/>
              <a:latin typeface="Calibri" panose="020F0502020204030204" pitchFamily="34" charset="0"/>
              <a:ea typeface="宋体" panose="02010600030101010101" pitchFamily="2" charset="-122"/>
              <a:cs typeface="Calibri" panose="020F0502020204030204" pitchFamily="34" charset="0"/>
            </a:endParaRPr>
          </a:p>
        </p:txBody>
      </p:sp>
      <p:sp>
        <p:nvSpPr>
          <p:cNvPr id="27652"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ATM: Gallery of Players</a:t>
            </a:r>
            <a:endParaRPr lang="en-US" altLang="zh-CN" dirty="0">
              <a:ea typeface="宋体" panose="02010600030101010101" pitchFamily="2" charset="-122"/>
            </a:endParaRPr>
          </a:p>
        </p:txBody>
      </p:sp>
      <p:sp>
        <p:nvSpPr>
          <p:cNvPr id="28675" name="Text Box 287"/>
          <p:cNvSpPr txBox="1"/>
          <p:nvPr/>
        </p:nvSpPr>
        <p:spPr>
          <a:xfrm>
            <a:off x="1257300" y="5829300"/>
            <a:ext cx="1628775" cy="609600"/>
          </a:xfrm>
          <a:prstGeom prst="rect">
            <a:avLst/>
          </a:prstGeom>
          <a:noFill/>
          <a:ln w="9525">
            <a:noFill/>
          </a:ln>
        </p:spPr>
        <p:txBody>
          <a:bodyPr wrap="none" lIns="9144" tIns="0" rIns="9144" bIns="0">
            <a:spAutoFit/>
          </a:bodyPr>
          <a:p>
            <a:pPr algn="ctr"/>
            <a:r>
              <a:rPr lang="en-US" altLang="zh-CN" sz="4000" dirty="0">
                <a:latin typeface="Arial" panose="020B0604020202020204" pitchFamily="34" charset="0"/>
                <a:ea typeface="宋体" panose="02010600030101010101" pitchFamily="2" charset="-122"/>
              </a:rPr>
              <a:t>Actors</a:t>
            </a:r>
            <a:endParaRPr lang="en-US" altLang="zh-CN" sz="4000" dirty="0">
              <a:latin typeface="Arial" panose="020B0604020202020204" pitchFamily="34" charset="0"/>
              <a:ea typeface="宋体" panose="02010600030101010101" pitchFamily="2" charset="-122"/>
            </a:endParaRPr>
          </a:p>
        </p:txBody>
      </p:sp>
      <p:sp>
        <p:nvSpPr>
          <p:cNvPr id="28676" name="Text Box 291"/>
          <p:cNvSpPr txBox="1"/>
          <p:nvPr/>
        </p:nvSpPr>
        <p:spPr>
          <a:xfrm>
            <a:off x="3114675" y="5973763"/>
            <a:ext cx="5730875" cy="365125"/>
          </a:xfrm>
          <a:prstGeom prst="rect">
            <a:avLst/>
          </a:prstGeom>
          <a:noFill/>
          <a:ln w="9525">
            <a:noFill/>
          </a:ln>
        </p:spPr>
        <p:txBody>
          <a:bodyPr wrap="none" lIns="9144" tIns="0" rIns="9144" bIns="0">
            <a:spAutoFit/>
          </a:bodyPr>
          <a:p>
            <a:pPr algn="ctr"/>
            <a:r>
              <a:rPr lang="en-US" altLang="zh-CN" b="0" dirty="0">
                <a:latin typeface="Arial" panose="020B0604020202020204" pitchFamily="34" charset="0"/>
                <a:ea typeface="宋体" panose="02010600030101010101" pitchFamily="2" charset="-122"/>
              </a:rPr>
              <a:t>(Easy to identify because they are visible!)</a:t>
            </a:r>
            <a:endParaRPr lang="en-US" altLang="zh-CN" b="0" dirty="0">
              <a:latin typeface="Arial" panose="020B0604020202020204" pitchFamily="34" charset="0"/>
              <a:ea typeface="宋体" panose="02010600030101010101" pitchFamily="2" charset="-122"/>
            </a:endParaRPr>
          </a:p>
        </p:txBody>
      </p:sp>
      <p:pic>
        <p:nvPicPr>
          <p:cNvPr id="28677" name="Picture 292"/>
          <p:cNvPicPr>
            <a:picLocks noChangeAspect="1"/>
          </p:cNvPicPr>
          <p:nvPr/>
        </p:nvPicPr>
        <p:blipFill>
          <a:blip r:embed="rId1"/>
          <a:stretch>
            <a:fillRect/>
          </a:stretch>
        </p:blipFill>
        <p:spPr>
          <a:xfrm>
            <a:off x="495300" y="1973263"/>
            <a:ext cx="8151813" cy="3605212"/>
          </a:xfrm>
          <a:prstGeom prst="rect">
            <a:avLst/>
          </a:prstGeom>
          <a:noFill/>
          <a:ln w="9525">
            <a:noFill/>
          </a:ln>
        </p:spPr>
      </p:pic>
      <p:sp>
        <p:nvSpPr>
          <p:cNvPr id="28678"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Gallery of Workers + Things</a:t>
            </a:r>
            <a:endParaRPr lang="en-US" altLang="zh-CN" dirty="0">
              <a:ea typeface="宋体" panose="02010600030101010101" pitchFamily="2" charset="-122"/>
            </a:endParaRPr>
          </a:p>
        </p:txBody>
      </p:sp>
      <p:sp>
        <p:nvSpPr>
          <p:cNvPr id="29699" name="Text Box 163"/>
          <p:cNvSpPr txBox="1"/>
          <p:nvPr/>
        </p:nvSpPr>
        <p:spPr>
          <a:xfrm>
            <a:off x="396875" y="6073775"/>
            <a:ext cx="2101850" cy="549275"/>
          </a:xfrm>
          <a:prstGeom prst="rect">
            <a:avLst/>
          </a:prstGeom>
          <a:noFill/>
          <a:ln w="9525">
            <a:noFill/>
          </a:ln>
        </p:spPr>
        <p:txBody>
          <a:bodyPr wrap="none" lIns="9144" tIns="0" rIns="9144" bIns="0">
            <a:spAutoFit/>
          </a:bodyPr>
          <a:p>
            <a:r>
              <a:rPr lang="en-US" altLang="zh-CN" sz="3600" dirty="0">
                <a:latin typeface="Arial" panose="020B0604020202020204" pitchFamily="34" charset="0"/>
                <a:ea typeface="宋体" panose="02010600030101010101" pitchFamily="2" charset="-122"/>
              </a:rPr>
              <a:t>Concepts</a:t>
            </a:r>
            <a:endParaRPr lang="en-US" altLang="zh-CN" sz="3600" dirty="0">
              <a:latin typeface="Arial" panose="020B0604020202020204" pitchFamily="34" charset="0"/>
              <a:ea typeface="宋体" panose="02010600030101010101" pitchFamily="2" charset="-122"/>
            </a:endParaRPr>
          </a:p>
        </p:txBody>
      </p:sp>
      <p:sp>
        <p:nvSpPr>
          <p:cNvPr id="29700" name="Text Box 164"/>
          <p:cNvSpPr txBox="1"/>
          <p:nvPr/>
        </p:nvSpPr>
        <p:spPr>
          <a:xfrm>
            <a:off x="2614613" y="6194425"/>
            <a:ext cx="6127750" cy="304800"/>
          </a:xfrm>
          <a:prstGeom prst="rect">
            <a:avLst/>
          </a:prstGeom>
          <a:noFill/>
          <a:ln w="9525">
            <a:noFill/>
          </a:ln>
        </p:spPr>
        <p:txBody>
          <a:bodyPr wrap="none" lIns="9144" tIns="0" rIns="9144" bIns="0">
            <a:spAutoFit/>
          </a:bodyPr>
          <a:p>
            <a:r>
              <a:rPr lang="en-US" altLang="zh-CN" sz="2000" b="0" dirty="0">
                <a:latin typeface="Arial" panose="020B0604020202020204" pitchFamily="34" charset="0"/>
                <a:ea typeface="宋体" panose="02010600030101010101" pitchFamily="2" charset="-122"/>
              </a:rPr>
              <a:t>(Hard to identify because they are invisible/imaginary!)</a:t>
            </a:r>
            <a:endParaRPr lang="en-US" altLang="zh-CN" sz="2000" b="0" dirty="0">
              <a:latin typeface="Arial" panose="020B0604020202020204" pitchFamily="34" charset="0"/>
              <a:ea typeface="宋体" panose="02010600030101010101" pitchFamily="2" charset="-122"/>
            </a:endParaRPr>
          </a:p>
        </p:txBody>
      </p:sp>
      <p:pic>
        <p:nvPicPr>
          <p:cNvPr id="29701" name="Picture 215"/>
          <p:cNvPicPr>
            <a:picLocks noChangeAspect="1"/>
          </p:cNvPicPr>
          <p:nvPr/>
        </p:nvPicPr>
        <p:blipFill>
          <a:blip r:embed="rId1"/>
          <a:stretch>
            <a:fillRect/>
          </a:stretch>
        </p:blipFill>
        <p:spPr>
          <a:xfrm>
            <a:off x="1120775" y="1438275"/>
            <a:ext cx="7080250" cy="4521200"/>
          </a:xfrm>
          <a:prstGeom prst="rect">
            <a:avLst/>
          </a:prstGeom>
          <a:noFill/>
          <a:ln w="9525">
            <a:noFill/>
          </a:ln>
        </p:spPr>
      </p:pic>
      <p:sp>
        <p:nvSpPr>
          <p:cNvPr id="29702"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0" tIns="45720" rIns="0" bIns="45720" anchor="ctr" anchorCtr="0"/>
          <a:p>
            <a:pPr eaLnBrk="1" hangingPunct="1"/>
            <a:r>
              <a:rPr lang="en-US" altLang="zh-CN" sz="4000" dirty="0">
                <a:ea typeface="宋体" panose="02010600030101010101" pitchFamily="2" charset="-122"/>
              </a:rPr>
              <a:t>Use Case: Withdraw Cash</a:t>
            </a:r>
            <a:endParaRPr lang="en-US" altLang="zh-CN" sz="4000" dirty="0">
              <a:ea typeface="宋体" panose="02010600030101010101" pitchFamily="2" charset="-122"/>
            </a:endParaRPr>
          </a:p>
        </p:txBody>
      </p:sp>
      <p:pic>
        <p:nvPicPr>
          <p:cNvPr id="30723" name="Picture 44"/>
          <p:cNvPicPr>
            <a:picLocks noChangeAspect="1"/>
          </p:cNvPicPr>
          <p:nvPr/>
        </p:nvPicPr>
        <p:blipFill>
          <a:blip r:embed="rId1"/>
          <a:stretch>
            <a:fillRect/>
          </a:stretch>
        </p:blipFill>
        <p:spPr>
          <a:xfrm>
            <a:off x="1016000" y="1419225"/>
            <a:ext cx="7123113" cy="5278438"/>
          </a:xfrm>
          <a:prstGeom prst="rect">
            <a:avLst/>
          </a:prstGeom>
          <a:noFill/>
          <a:ln w="9525">
            <a:noFill/>
          </a:ln>
        </p:spPr>
      </p:pic>
      <p:sp>
        <p:nvSpPr>
          <p:cNvPr id="30724"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746" name="Picture 2"/>
          <p:cNvPicPr>
            <a:picLocks noChangeAspect="1"/>
          </p:cNvPicPr>
          <p:nvPr/>
        </p:nvPicPr>
        <p:blipFill>
          <a:blip r:embed="rId1"/>
          <a:stretch>
            <a:fillRect/>
          </a:stretch>
        </p:blipFill>
        <p:spPr>
          <a:xfrm>
            <a:off x="573088" y="1563688"/>
            <a:ext cx="7283450" cy="5060950"/>
          </a:xfrm>
          <a:prstGeom prst="rect">
            <a:avLst/>
          </a:prstGeom>
          <a:noFill/>
          <a:ln w="9525">
            <a:noFill/>
          </a:ln>
        </p:spPr>
      </p:pic>
      <p:sp>
        <p:nvSpPr>
          <p:cNvPr id="31747" name="Rectangle 3"/>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How ATM Machine Works (2)</a:t>
            </a:r>
            <a:endParaRPr lang="en-US" altLang="zh-CN" dirty="0">
              <a:ea typeface="宋体" panose="02010600030101010101" pitchFamily="2" charset="-122"/>
            </a:endParaRPr>
          </a:p>
        </p:txBody>
      </p:sp>
      <p:sp>
        <p:nvSpPr>
          <p:cNvPr id="31748" name="Text Box 4"/>
          <p:cNvSpPr txBox="1"/>
          <p:nvPr/>
        </p:nvSpPr>
        <p:spPr>
          <a:xfrm>
            <a:off x="3911600" y="1001713"/>
            <a:ext cx="1924050" cy="274637"/>
          </a:xfrm>
          <a:prstGeom prst="rect">
            <a:avLst/>
          </a:prstGeom>
          <a:solidFill>
            <a:schemeClr val="bg1"/>
          </a:solidFill>
          <a:ln w="9525">
            <a:noFill/>
          </a:ln>
        </p:spPr>
        <p:txBody>
          <a:bodyPr wrap="none" lIns="9144" tIns="0" rIns="9144" bIns="0">
            <a:spAutoFit/>
          </a:bodyPr>
          <a:p>
            <a:pPr algn="ctr"/>
            <a:r>
              <a:rPr lang="en-US" altLang="zh-CN" sz="1800" dirty="0">
                <a:latin typeface="Arial" panose="020B0604020202020204" pitchFamily="34" charset="0"/>
                <a:ea typeface="宋体" panose="02010600030101010101" pitchFamily="2" charset="-122"/>
              </a:rPr>
              <a:t>Domain Model (2)</a:t>
            </a:r>
            <a:endParaRPr lang="en-US" altLang="zh-CN" sz="1800" dirty="0">
              <a:latin typeface="Arial" panose="020B0604020202020204" pitchFamily="34" charset="0"/>
              <a:ea typeface="宋体" panose="02010600030101010101" pitchFamily="2" charset="-122"/>
            </a:endParaRPr>
          </a:p>
        </p:txBody>
      </p:sp>
      <p:sp>
        <p:nvSpPr>
          <p:cNvPr id="31749" name="Text Box 5"/>
          <p:cNvSpPr txBox="1">
            <a:spLocks noChangeAspect="1"/>
          </p:cNvSpPr>
          <p:nvPr/>
        </p:nvSpPr>
        <p:spPr>
          <a:xfrm>
            <a:off x="171450" y="1966913"/>
            <a:ext cx="1243013" cy="609600"/>
          </a:xfrm>
          <a:prstGeom prst="rect">
            <a:avLst/>
          </a:prstGeom>
          <a:solidFill>
            <a:schemeClr val="bg1"/>
          </a:solidFill>
          <a:ln w="9525">
            <a:noFill/>
          </a:ln>
        </p:spPr>
        <p:txBody>
          <a:bodyPr lIns="0" tIns="0" rIns="0" bIns="0">
            <a:spAutoFit/>
          </a:bodyPr>
          <a:p>
            <a:r>
              <a:rPr lang="en-US" altLang="zh-CN" sz="2000" b="0" dirty="0">
                <a:latin typeface="Arial" panose="020B0604020202020204" pitchFamily="34" charset="0"/>
                <a:ea typeface="宋体" panose="02010600030101010101" pitchFamily="2" charset="-122"/>
              </a:rPr>
              <a:t>Alternative solution</a:t>
            </a:r>
            <a:endParaRPr lang="en-US" altLang="zh-CN" sz="2000" b="0" dirty="0">
              <a:latin typeface="Arial" panose="020B060402020202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How ATM Machine Works (3)</a:t>
            </a:r>
            <a:endParaRPr lang="en-US" altLang="zh-CN" dirty="0">
              <a:ea typeface="宋体" panose="02010600030101010101" pitchFamily="2" charset="-122"/>
            </a:endParaRPr>
          </a:p>
        </p:txBody>
      </p:sp>
      <p:sp>
        <p:nvSpPr>
          <p:cNvPr id="32771" name="Text Box 3"/>
          <p:cNvSpPr txBox="1"/>
          <p:nvPr/>
        </p:nvSpPr>
        <p:spPr>
          <a:xfrm>
            <a:off x="3911600" y="1001713"/>
            <a:ext cx="1924050" cy="274637"/>
          </a:xfrm>
          <a:prstGeom prst="rect">
            <a:avLst/>
          </a:prstGeom>
          <a:solidFill>
            <a:schemeClr val="bg1"/>
          </a:solidFill>
          <a:ln w="9525">
            <a:noFill/>
          </a:ln>
        </p:spPr>
        <p:txBody>
          <a:bodyPr wrap="none" lIns="9144" tIns="0" rIns="9144" bIns="0">
            <a:spAutoFit/>
          </a:bodyPr>
          <a:p>
            <a:pPr algn="ctr"/>
            <a:r>
              <a:rPr lang="en-US" altLang="zh-CN" sz="1800" dirty="0">
                <a:latin typeface="Arial" panose="020B0604020202020204" pitchFamily="34" charset="0"/>
                <a:ea typeface="宋体" panose="02010600030101010101" pitchFamily="2" charset="-122"/>
              </a:rPr>
              <a:t>Domain Model (3)</a:t>
            </a:r>
            <a:endParaRPr lang="en-US" altLang="zh-CN" sz="1800" dirty="0">
              <a:latin typeface="Arial" panose="020B0604020202020204" pitchFamily="34" charset="0"/>
              <a:ea typeface="宋体" panose="02010600030101010101" pitchFamily="2" charset="-122"/>
            </a:endParaRPr>
          </a:p>
        </p:txBody>
      </p:sp>
      <p:pic>
        <p:nvPicPr>
          <p:cNvPr id="32772" name="Picture 4"/>
          <p:cNvPicPr>
            <a:picLocks noChangeAspect="1"/>
          </p:cNvPicPr>
          <p:nvPr/>
        </p:nvPicPr>
        <p:blipFill>
          <a:blip r:embed="rId1"/>
          <a:stretch>
            <a:fillRect/>
          </a:stretch>
        </p:blipFill>
        <p:spPr>
          <a:xfrm>
            <a:off x="573088" y="1563688"/>
            <a:ext cx="8358187" cy="5060950"/>
          </a:xfrm>
          <a:prstGeom prst="rect">
            <a:avLst/>
          </a:prstGeom>
          <a:noFill/>
          <a:ln w="9525">
            <a:noFill/>
          </a:ln>
        </p:spPr>
      </p:pic>
      <p:sp>
        <p:nvSpPr>
          <p:cNvPr id="32773" name="Text Box 5"/>
          <p:cNvSpPr txBox="1">
            <a:spLocks noChangeAspect="1"/>
          </p:cNvSpPr>
          <p:nvPr/>
        </p:nvSpPr>
        <p:spPr>
          <a:xfrm>
            <a:off x="171450" y="1966913"/>
            <a:ext cx="1243013" cy="609600"/>
          </a:xfrm>
          <a:prstGeom prst="rect">
            <a:avLst/>
          </a:prstGeom>
          <a:solidFill>
            <a:schemeClr val="bg1"/>
          </a:solidFill>
          <a:ln w="9525">
            <a:noFill/>
          </a:ln>
        </p:spPr>
        <p:txBody>
          <a:bodyPr lIns="0" tIns="0" rIns="0" bIns="0">
            <a:spAutoFit/>
          </a:bodyPr>
          <a:p>
            <a:r>
              <a:rPr lang="en-US" altLang="zh-CN" sz="2000" b="0" dirty="0">
                <a:latin typeface="Arial" panose="020B0604020202020204" pitchFamily="34" charset="0"/>
                <a:ea typeface="宋体" panose="02010600030101010101" pitchFamily="2" charset="-122"/>
              </a:rPr>
              <a:t>Alternative solution</a:t>
            </a:r>
            <a:endParaRPr lang="en-US" altLang="zh-CN" sz="2000" b="0" dirty="0">
              <a:latin typeface="Arial" panose="020B0604020202020204" pitchFamily="34" charset="0"/>
              <a:ea typeface="宋体" panose="02010600030101010101" pitchFamily="2" charset="-122"/>
            </a:endParaRPr>
          </a:p>
        </p:txBody>
      </p:sp>
      <p:sp>
        <p:nvSpPr>
          <p:cNvPr id="32774" name="Text Box 6"/>
          <p:cNvSpPr txBox="1">
            <a:spLocks noChangeAspect="1"/>
          </p:cNvSpPr>
          <p:nvPr/>
        </p:nvSpPr>
        <p:spPr>
          <a:xfrm>
            <a:off x="1606550" y="6286500"/>
            <a:ext cx="6415088" cy="430213"/>
          </a:xfrm>
          <a:prstGeom prst="rect">
            <a:avLst/>
          </a:prstGeom>
          <a:solidFill>
            <a:schemeClr val="bg1"/>
          </a:solidFill>
          <a:ln w="9525" cap="flat" cmpd="sng">
            <a:solidFill>
              <a:srgbClr val="FF0000"/>
            </a:solidFill>
            <a:prstDash val="solid"/>
            <a:miter/>
            <a:headEnd type="none" w="med" len="med"/>
            <a:tailEnd type="none" w="med" len="med"/>
          </a:ln>
        </p:spPr>
        <p:txBody>
          <a:bodyPr wrap="none" lIns="45720" tIns="0" rIns="45720" bIns="0">
            <a:spAutoFit/>
          </a:bodyPr>
          <a:p>
            <a:r>
              <a:rPr lang="en-US" altLang="zh-CN" sz="2800" b="0" dirty="0">
                <a:latin typeface="Calibri" panose="020F0502020204030204" pitchFamily="34" charset="0"/>
                <a:ea typeface="宋体" panose="02010600030101010101" pitchFamily="2" charset="-122"/>
              </a:rPr>
              <a:t>Which solution is the best or even feasible?</a:t>
            </a:r>
            <a:endParaRPr lang="en-US" altLang="zh-CN" sz="2800" b="0" dirty="0">
              <a:latin typeface="Calibri" panose="020F050202020403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Rube Goldberg Design</a:t>
            </a:r>
            <a:endParaRPr lang="en-US" altLang="zh-CN" dirty="0">
              <a:ea typeface="宋体" panose="02010600030101010101" pitchFamily="2" charset="-122"/>
            </a:endParaRPr>
          </a:p>
        </p:txBody>
      </p:sp>
      <p:sp>
        <p:nvSpPr>
          <p:cNvPr id="33795"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pic>
        <p:nvPicPr>
          <p:cNvPr id="33796" name="Picture 2" descr="rube-goldberg_piratesandrevolutionaries"/>
          <p:cNvPicPr>
            <a:picLocks noChangeAspect="1"/>
          </p:cNvPicPr>
          <p:nvPr/>
        </p:nvPicPr>
        <p:blipFill>
          <a:blip r:embed="rId1"/>
          <a:stretch>
            <a:fillRect/>
          </a:stretch>
        </p:blipFill>
        <p:spPr>
          <a:xfrm>
            <a:off x="0" y="2128838"/>
            <a:ext cx="9144000" cy="4016375"/>
          </a:xfrm>
          <a:prstGeom prst="rect">
            <a:avLst/>
          </a:prstGeom>
          <a:noFill/>
          <a:ln w="9525">
            <a:noFill/>
          </a:ln>
        </p:spPr>
      </p:pic>
      <p:sp>
        <p:nvSpPr>
          <p:cNvPr id="33797" name="Text Box 5"/>
          <p:cNvSpPr txBox="1">
            <a:spLocks noChangeAspect="1"/>
          </p:cNvSpPr>
          <p:nvPr/>
        </p:nvSpPr>
        <p:spPr>
          <a:xfrm>
            <a:off x="274638" y="1541463"/>
            <a:ext cx="2306637" cy="307975"/>
          </a:xfrm>
          <a:prstGeom prst="rect">
            <a:avLst/>
          </a:prstGeom>
          <a:solidFill>
            <a:schemeClr val="bg1"/>
          </a:solidFill>
          <a:ln w="9525">
            <a:noFill/>
          </a:ln>
        </p:spPr>
        <p:txBody>
          <a:bodyPr wrap="none" lIns="0" tIns="0" rIns="0" bIns="0">
            <a:spAutoFit/>
          </a:bodyPr>
          <a:p>
            <a:r>
              <a:rPr lang="en-US" altLang="zh-CN" sz="2000" b="0" dirty="0">
                <a:latin typeface="Arial" panose="020B0604020202020204" pitchFamily="34" charset="0"/>
                <a:ea typeface="宋体" panose="02010600030101010101" pitchFamily="2" charset="-122"/>
              </a:rPr>
              <a:t>Garage door opener</a:t>
            </a:r>
            <a:endParaRPr lang="en-US" altLang="zh-CN" sz="2000" b="0" dirty="0">
              <a:latin typeface="Arial" panose="020B060402020202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Actual Design</a:t>
            </a:r>
            <a:endParaRPr lang="en-US" altLang="zh-CN" dirty="0">
              <a:ea typeface="宋体" panose="02010600030101010101" pitchFamily="2" charset="-122"/>
            </a:endParaRPr>
          </a:p>
        </p:txBody>
      </p:sp>
      <p:sp>
        <p:nvSpPr>
          <p:cNvPr id="34819"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pic>
        <p:nvPicPr>
          <p:cNvPr id="34820" name="Picture 4"/>
          <p:cNvPicPr>
            <a:picLocks noChangeAspect="1"/>
          </p:cNvPicPr>
          <p:nvPr/>
        </p:nvPicPr>
        <p:blipFill>
          <a:blip r:embed="rId1"/>
          <a:stretch>
            <a:fillRect/>
          </a:stretch>
        </p:blipFill>
        <p:spPr>
          <a:xfrm>
            <a:off x="611188" y="1439863"/>
            <a:ext cx="7889875" cy="5334000"/>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3"/>
          <p:cNvSpPr>
            <a:spLocks noGrp="1"/>
          </p:cNvSpPr>
          <p:nvPr>
            <p:ph type="title"/>
          </p:nvPr>
        </p:nvSpPr>
        <p:spPr>
          <a:xfrm>
            <a:off x="220663" y="152400"/>
            <a:ext cx="8842375" cy="1143000"/>
          </a:xfrm>
        </p:spPr>
        <p:txBody>
          <a:bodyPr vert="horz" wrap="square" lIns="0" tIns="45720" rIns="0" bIns="45720" anchor="ctr" anchorCtr="0"/>
          <a:p>
            <a:r>
              <a:rPr lang="en-US" altLang="en-US" dirty="0"/>
              <a:t>Feasibility &amp; Quality of Designs</a:t>
            </a:r>
            <a:endParaRPr lang="en-US" altLang="en-US" dirty="0"/>
          </a:p>
        </p:txBody>
      </p:sp>
      <p:sp>
        <p:nvSpPr>
          <p:cNvPr id="35843" name="Content Placeholder 4"/>
          <p:cNvSpPr>
            <a:spLocks noGrp="1"/>
          </p:cNvSpPr>
          <p:nvPr>
            <p:ph idx="1"/>
          </p:nvPr>
        </p:nvSpPr>
        <p:spPr>
          <a:xfrm>
            <a:off x="504825" y="1600200"/>
            <a:ext cx="8558213" cy="4457700"/>
          </a:xfrm>
        </p:spPr>
        <p:txBody>
          <a:bodyPr vert="horz" wrap="square" lIns="91440" tIns="45720" rIns="91440" bIns="45720" anchor="t" anchorCtr="0"/>
          <a:p>
            <a:pPr>
              <a:spcBef>
                <a:spcPts val="1200"/>
              </a:spcBef>
            </a:pPr>
            <a:r>
              <a:rPr lang="en-US" altLang="en-US" dirty="0"/>
              <a:t>Judging feasibility or quality of a design requires great deal of domain knowledge</a:t>
            </a:r>
            <a:br>
              <a:rPr lang="en-US" altLang="en-US" dirty="0"/>
            </a:br>
            <a:r>
              <a:rPr lang="en-US" altLang="en-US" dirty="0"/>
              <a:t>(and commonsense knowledge!)</a:t>
            </a:r>
            <a:endParaRPr lang="en-US" altLang="en-US" dirty="0"/>
          </a:p>
        </p:txBody>
      </p:sp>
      <p:sp>
        <p:nvSpPr>
          <p:cNvPr id="35844"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3"/>
          <p:cNvSpPr>
            <a:spLocks noGrp="1"/>
          </p:cNvSpPr>
          <p:nvPr>
            <p:ph type="title"/>
          </p:nvPr>
        </p:nvSpPr>
        <p:spPr>
          <a:xfrm>
            <a:off x="220663" y="152400"/>
            <a:ext cx="8842375" cy="1143000"/>
          </a:xfrm>
        </p:spPr>
        <p:txBody>
          <a:bodyPr vert="horz" wrap="square" lIns="0" tIns="45720" rIns="0" bIns="45720" anchor="ctr" anchorCtr="0"/>
          <a:p>
            <a:pPr eaLnBrk="1" hangingPunct="1"/>
            <a:r>
              <a:rPr lang="en-US" altLang="en-US" dirty="0"/>
              <a:t>Software Measurement</a:t>
            </a:r>
            <a:endParaRPr lang="en-US" altLang="en-US" dirty="0"/>
          </a:p>
        </p:txBody>
      </p:sp>
      <p:sp>
        <p:nvSpPr>
          <p:cNvPr id="36867" name="Content Placeholder 4"/>
          <p:cNvSpPr>
            <a:spLocks noGrp="1"/>
          </p:cNvSpPr>
          <p:nvPr>
            <p:ph idx="1"/>
          </p:nvPr>
        </p:nvSpPr>
        <p:spPr>
          <a:xfrm>
            <a:off x="504825" y="1600200"/>
            <a:ext cx="8558213" cy="4457700"/>
          </a:xfrm>
        </p:spPr>
        <p:txBody>
          <a:bodyPr vert="horz" wrap="square" lIns="91440" tIns="45720" rIns="91440" bIns="45720" anchor="t" anchorCtr="0"/>
          <a:p>
            <a:pPr eaLnBrk="1" hangingPunct="1">
              <a:lnSpc>
                <a:spcPct val="150000"/>
              </a:lnSpc>
            </a:pPr>
            <a:r>
              <a:rPr lang="en-US" altLang="en-US" dirty="0"/>
              <a:t>What to measure?</a:t>
            </a:r>
            <a:endParaRPr lang="en-US" altLang="en-US" dirty="0"/>
          </a:p>
          <a:p>
            <a:pPr lvl="1" eaLnBrk="1" hangingPunct="1">
              <a:lnSpc>
                <a:spcPct val="150000"/>
              </a:lnSpc>
            </a:pPr>
            <a:r>
              <a:rPr lang="en-US" altLang="en-US" dirty="0">
                <a:latin typeface="Calibri" panose="020F0502020204030204" pitchFamily="34" charset="0"/>
                <a:cs typeface="Calibri" panose="020F0502020204030204" pitchFamily="34" charset="0"/>
              </a:rPr>
              <a:t>Project (developer’s work),</a:t>
            </a:r>
            <a:br>
              <a:rPr lang="en-US" altLang="en-US" dirty="0">
                <a:latin typeface="Calibri" panose="020F0502020204030204" pitchFamily="34" charset="0"/>
                <a:cs typeface="Calibri" panose="020F0502020204030204" pitchFamily="34" charset="0"/>
              </a:rPr>
            </a:br>
            <a:r>
              <a:rPr lang="en-US" altLang="en-US" dirty="0">
                <a:latin typeface="Calibri" panose="020F0502020204030204" pitchFamily="34" charset="0"/>
                <a:cs typeface="Calibri" panose="020F0502020204030204" pitchFamily="34" charset="0"/>
              </a:rPr>
              <a:t>for budgeting and scheduling</a:t>
            </a:r>
            <a:endParaRPr lang="en-US" altLang="en-US" dirty="0">
              <a:latin typeface="Calibri" panose="020F0502020204030204" pitchFamily="34" charset="0"/>
              <a:cs typeface="Calibri" panose="020F0502020204030204" pitchFamily="34" charset="0"/>
            </a:endParaRPr>
          </a:p>
          <a:p>
            <a:pPr lvl="1" eaLnBrk="1" hangingPunct="1">
              <a:lnSpc>
                <a:spcPct val="150000"/>
              </a:lnSpc>
            </a:pPr>
            <a:r>
              <a:rPr lang="en-US" altLang="en-US" dirty="0">
                <a:latin typeface="Calibri" panose="020F0502020204030204" pitchFamily="34" charset="0"/>
                <a:cs typeface="Calibri" panose="020F0502020204030204" pitchFamily="34" charset="0"/>
              </a:rPr>
              <a:t>Product,</a:t>
            </a:r>
            <a:br>
              <a:rPr lang="en-US" altLang="en-US" dirty="0">
                <a:latin typeface="Calibri" panose="020F0502020204030204" pitchFamily="34" charset="0"/>
                <a:cs typeface="Calibri" panose="020F0502020204030204" pitchFamily="34" charset="0"/>
              </a:rPr>
            </a:br>
            <a:r>
              <a:rPr lang="en-US" altLang="en-US" dirty="0">
                <a:latin typeface="Calibri" panose="020F0502020204030204" pitchFamily="34" charset="0"/>
                <a:cs typeface="Calibri" panose="020F0502020204030204" pitchFamily="34" charset="0"/>
              </a:rPr>
              <a:t>for quality assessment</a:t>
            </a:r>
            <a:endParaRPr lang="en-US" altLang="en-US" dirty="0">
              <a:latin typeface="Calibri" panose="020F0502020204030204" pitchFamily="34" charset="0"/>
              <a:cs typeface="Calibri" panose="020F0502020204030204" pitchFamily="34" charset="0"/>
            </a:endParaRPr>
          </a:p>
        </p:txBody>
      </p:sp>
      <p:sp>
        <p:nvSpPr>
          <p:cNvPr id="36868" name="Slide Number Placeholder 2"/>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7"/>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Formal hedge pruning</a:t>
            </a:r>
            <a:endParaRPr lang="en-US" altLang="zh-CN" dirty="0">
              <a:ea typeface="宋体" panose="02010600030101010101" pitchFamily="2" charset="-122"/>
            </a:endParaRPr>
          </a:p>
        </p:txBody>
      </p:sp>
      <p:pic>
        <p:nvPicPr>
          <p:cNvPr id="37891" name="Picture 167"/>
          <p:cNvPicPr>
            <a:picLocks noChangeAspect="1"/>
          </p:cNvPicPr>
          <p:nvPr/>
        </p:nvPicPr>
        <p:blipFill>
          <a:blip r:embed="rId1"/>
          <a:stretch>
            <a:fillRect/>
          </a:stretch>
        </p:blipFill>
        <p:spPr>
          <a:xfrm>
            <a:off x="6196013" y="1981200"/>
            <a:ext cx="2851150" cy="1008063"/>
          </a:xfrm>
          <a:prstGeom prst="rect">
            <a:avLst/>
          </a:prstGeom>
          <a:noFill/>
          <a:ln w="9525">
            <a:noFill/>
          </a:ln>
        </p:spPr>
      </p:pic>
      <p:pic>
        <p:nvPicPr>
          <p:cNvPr id="37892" name="Picture 168"/>
          <p:cNvPicPr>
            <a:picLocks noChangeAspect="1"/>
          </p:cNvPicPr>
          <p:nvPr/>
        </p:nvPicPr>
        <p:blipFill>
          <a:blip r:embed="rId2"/>
          <a:stretch>
            <a:fillRect/>
          </a:stretch>
        </p:blipFill>
        <p:spPr>
          <a:xfrm>
            <a:off x="6196013" y="5246688"/>
            <a:ext cx="2852737" cy="1430337"/>
          </a:xfrm>
          <a:prstGeom prst="rect">
            <a:avLst/>
          </a:prstGeom>
          <a:noFill/>
          <a:ln w="9525">
            <a:noFill/>
          </a:ln>
        </p:spPr>
      </p:pic>
      <p:sp>
        <p:nvSpPr>
          <p:cNvPr id="37893"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pic>
        <p:nvPicPr>
          <p:cNvPr id="37894" name="Picture 9"/>
          <p:cNvPicPr>
            <a:picLocks noChangeAspect="1"/>
          </p:cNvPicPr>
          <p:nvPr/>
        </p:nvPicPr>
        <p:blipFill>
          <a:blip r:embed="rId3"/>
          <a:stretch>
            <a:fillRect/>
          </a:stretch>
        </p:blipFill>
        <p:spPr>
          <a:xfrm>
            <a:off x="100013" y="1404938"/>
            <a:ext cx="6180137" cy="517207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4"/>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Sizing the Problem (1)</a:t>
            </a:r>
            <a:endParaRPr lang="en-US" altLang="zh-CN" dirty="0">
              <a:ea typeface="宋体" panose="02010600030101010101" pitchFamily="2" charset="-122"/>
            </a:endParaRPr>
          </a:p>
        </p:txBody>
      </p:sp>
      <p:sp>
        <p:nvSpPr>
          <p:cNvPr id="38915" name="Text Box 9"/>
          <p:cNvSpPr txBox="1"/>
          <p:nvPr/>
        </p:nvSpPr>
        <p:spPr>
          <a:xfrm>
            <a:off x="6757988" y="4195763"/>
            <a:ext cx="1857375"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10</a:t>
            </a:r>
            <a:endParaRPr lang="en-US" altLang="zh-CN" sz="2000" b="0" dirty="0">
              <a:latin typeface="Arial" panose="020B0604020202020204" pitchFamily="34" charset="0"/>
              <a:ea typeface="宋体" panose="02010600030101010101" pitchFamily="2" charset="-122"/>
            </a:endParaRPr>
          </a:p>
        </p:txBody>
      </p:sp>
      <p:sp>
        <p:nvSpPr>
          <p:cNvPr id="38916" name="Text Box 10"/>
          <p:cNvSpPr txBox="1"/>
          <p:nvPr/>
        </p:nvSpPr>
        <p:spPr>
          <a:xfrm>
            <a:off x="6757988" y="3781425"/>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7</a:t>
            </a:r>
            <a:endParaRPr lang="en-US" altLang="zh-CN" sz="2000" b="0" dirty="0">
              <a:latin typeface="Arial" panose="020B0604020202020204" pitchFamily="34" charset="0"/>
              <a:ea typeface="宋体" panose="02010600030101010101" pitchFamily="2" charset="-122"/>
            </a:endParaRPr>
          </a:p>
        </p:txBody>
      </p:sp>
      <p:sp>
        <p:nvSpPr>
          <p:cNvPr id="38917" name="Text Box 11"/>
          <p:cNvSpPr txBox="1"/>
          <p:nvPr/>
        </p:nvSpPr>
        <p:spPr>
          <a:xfrm>
            <a:off x="6757988" y="3367088"/>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4</a:t>
            </a:r>
            <a:endParaRPr lang="en-US" altLang="zh-CN" sz="2000" b="0" dirty="0">
              <a:latin typeface="Arial" panose="020B0604020202020204" pitchFamily="34" charset="0"/>
              <a:ea typeface="宋体" panose="02010600030101010101" pitchFamily="2" charset="-122"/>
            </a:endParaRPr>
          </a:p>
        </p:txBody>
      </p:sp>
      <p:sp>
        <p:nvSpPr>
          <p:cNvPr id="38918" name="Text Box 12"/>
          <p:cNvSpPr txBox="1"/>
          <p:nvPr/>
        </p:nvSpPr>
        <p:spPr>
          <a:xfrm>
            <a:off x="6757988" y="4610100"/>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3</a:t>
            </a:r>
            <a:endParaRPr lang="en-US" altLang="zh-CN" sz="2000" b="0" dirty="0">
              <a:latin typeface="Arial" panose="020B0604020202020204" pitchFamily="34" charset="0"/>
              <a:ea typeface="宋体" panose="02010600030101010101" pitchFamily="2" charset="-122"/>
            </a:endParaRPr>
          </a:p>
        </p:txBody>
      </p:sp>
      <p:sp>
        <p:nvSpPr>
          <p:cNvPr id="38919" name="Text Box 13"/>
          <p:cNvSpPr txBox="1"/>
          <p:nvPr/>
        </p:nvSpPr>
        <p:spPr>
          <a:xfrm>
            <a:off x="6757988" y="5024438"/>
            <a:ext cx="174783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 </a:t>
            </a:r>
            <a:r>
              <a:rPr lang="en-US" altLang="zh-CN" sz="2000" b="0" dirty="0">
                <a:latin typeface="Arial" panose="020B0604020202020204" pitchFamily="34" charset="0"/>
                <a:ea typeface="宋体" panose="02010600030101010101" pitchFamily="2" charset="-122"/>
              </a:rPr>
              <a:t>= 4</a:t>
            </a:r>
            <a:endParaRPr lang="en-US" altLang="zh-CN" sz="2000" b="0" dirty="0">
              <a:latin typeface="Arial" panose="020B0604020202020204" pitchFamily="34" charset="0"/>
              <a:ea typeface="宋体" panose="02010600030101010101" pitchFamily="2" charset="-122"/>
            </a:endParaRPr>
          </a:p>
        </p:txBody>
      </p:sp>
      <p:sp>
        <p:nvSpPr>
          <p:cNvPr id="38920" name="Text Box 14"/>
          <p:cNvSpPr txBox="1"/>
          <p:nvPr/>
        </p:nvSpPr>
        <p:spPr>
          <a:xfrm>
            <a:off x="6757988" y="5438775"/>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2</a:t>
            </a:r>
            <a:endParaRPr lang="en-US" altLang="zh-CN" sz="2000" b="0" dirty="0">
              <a:latin typeface="Arial" panose="020B0604020202020204" pitchFamily="34" charset="0"/>
              <a:ea typeface="宋体" panose="02010600030101010101" pitchFamily="2" charset="-122"/>
            </a:endParaRPr>
          </a:p>
        </p:txBody>
      </p:sp>
      <p:sp>
        <p:nvSpPr>
          <p:cNvPr id="38921" name="Text Box 15"/>
          <p:cNvSpPr txBox="1"/>
          <p:nvPr/>
        </p:nvSpPr>
        <p:spPr>
          <a:xfrm>
            <a:off x="6757988" y="5853113"/>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4</a:t>
            </a:r>
            <a:endParaRPr lang="en-US" altLang="zh-CN" sz="2000" b="0" dirty="0">
              <a:latin typeface="Arial" panose="020B0604020202020204" pitchFamily="34" charset="0"/>
              <a:ea typeface="宋体" panose="02010600030101010101" pitchFamily="2" charset="-122"/>
            </a:endParaRPr>
          </a:p>
        </p:txBody>
      </p:sp>
      <p:sp>
        <p:nvSpPr>
          <p:cNvPr id="38922" name="Text Box 16"/>
          <p:cNvSpPr txBox="1"/>
          <p:nvPr/>
        </p:nvSpPr>
        <p:spPr>
          <a:xfrm>
            <a:off x="6757988" y="6267450"/>
            <a:ext cx="1716087" cy="365125"/>
          </a:xfrm>
          <a:prstGeom prst="rect">
            <a:avLst/>
          </a:prstGeom>
          <a:noFill/>
          <a:ln w="9525">
            <a:noFill/>
          </a:ln>
        </p:spPr>
        <p:txBody>
          <a:bodyPr wrap="none" tIns="0" bIns="0">
            <a:spAutoFit/>
          </a:bodyPr>
          <a:p>
            <a:r>
              <a:rPr lang="en-US" altLang="zh-CN" sz="2000" b="0" dirty="0">
                <a:latin typeface="Arial" panose="020B0604020202020204" pitchFamily="34" charset="0"/>
                <a:ea typeface="宋体" panose="02010600030101010101" pitchFamily="2" charset="-122"/>
              </a:rPr>
              <a:t>Size(</a:t>
            </a:r>
            <a:r>
              <a:rPr lang="en-US" altLang="zh-CN" b="0" dirty="0">
                <a:latin typeface="Arial" panose="020B0604020202020204" pitchFamily="34" charset="0"/>
                <a:ea typeface="宋体" panose="02010600030101010101" pitchFamily="2" charset="-122"/>
              </a:rPr>
              <a:t> </a:t>
            </a:r>
            <a:r>
              <a:rPr lang="en-US" altLang="zh-CN" b="0" dirty="0">
                <a:latin typeface="Arial" panose="020B0604020202020204" pitchFamily="34" charset="0"/>
                <a:ea typeface="宋体" panose="02010600030101010101" pitchFamily="2" charset="-122"/>
                <a:sym typeface="Wingdings 2" panose="05020102010507070707" pitchFamily="18" charset="2"/>
              </a:rPr>
              <a:t></a:t>
            </a:r>
            <a:r>
              <a:rPr lang="en-US" altLang="zh-CN" b="0" dirty="0">
                <a:latin typeface="Arial" panose="020B0604020202020204" pitchFamily="34" charset="0"/>
                <a:ea typeface="宋体" panose="02010600030101010101" pitchFamily="2" charset="-122"/>
              </a:rPr>
              <a:t> </a:t>
            </a:r>
            <a:r>
              <a:rPr lang="en-US" altLang="zh-CN" sz="2000" b="0" dirty="0">
                <a:latin typeface="Arial" panose="020B0604020202020204" pitchFamily="34" charset="0"/>
                <a:ea typeface="宋体" panose="02010600030101010101" pitchFamily="2" charset="-122"/>
              </a:rPr>
              <a:t>) = 7</a:t>
            </a:r>
            <a:endParaRPr lang="en-US" altLang="zh-CN" sz="2000" b="0" dirty="0">
              <a:latin typeface="Arial" panose="020B0604020202020204" pitchFamily="34" charset="0"/>
              <a:ea typeface="宋体" panose="02010600030101010101" pitchFamily="2" charset="-122"/>
            </a:endParaRPr>
          </a:p>
        </p:txBody>
      </p:sp>
      <p:sp>
        <p:nvSpPr>
          <p:cNvPr id="38923" name="Text Box 17"/>
          <p:cNvSpPr txBox="1"/>
          <p:nvPr/>
        </p:nvSpPr>
        <p:spPr>
          <a:xfrm>
            <a:off x="6269038" y="2038350"/>
            <a:ext cx="2762250" cy="1187450"/>
          </a:xfrm>
          <a:prstGeom prst="rect">
            <a:avLst/>
          </a:prstGeom>
          <a:noFill/>
          <a:ln w="9525">
            <a:noFill/>
          </a:ln>
        </p:spPr>
        <p:txBody>
          <a:bodyPr lIns="45720" rIns="45720">
            <a:spAutoFit/>
          </a:bodyPr>
          <a:p>
            <a:r>
              <a:rPr lang="en-US" altLang="zh-CN" dirty="0">
                <a:latin typeface="Arial" panose="020B0604020202020204" pitchFamily="34" charset="0"/>
                <a:ea typeface="宋体" panose="02010600030101010101" pitchFamily="2" charset="-122"/>
              </a:rPr>
              <a:t>Step 2:</a:t>
            </a:r>
            <a:endParaRPr lang="en-US" altLang="zh-CN" dirty="0">
              <a:latin typeface="Arial" panose="020B0604020202020204" pitchFamily="34" charset="0"/>
              <a:ea typeface="宋体" panose="02010600030101010101" pitchFamily="2" charset="-122"/>
            </a:endParaRPr>
          </a:p>
          <a:p>
            <a:r>
              <a:rPr lang="en-US" altLang="zh-CN" dirty="0">
                <a:latin typeface="Arial" panose="020B0604020202020204" pitchFamily="34" charset="0"/>
                <a:ea typeface="宋体" panose="02010600030101010101" pitchFamily="2" charset="-122"/>
              </a:rPr>
              <a:t>Estimate </a:t>
            </a:r>
            <a:r>
              <a:rPr lang="en-US" altLang="zh-CN" i="1" dirty="0">
                <a:solidFill>
                  <a:srgbClr val="FF0000"/>
                </a:solidFill>
                <a:latin typeface="Arial" panose="020B0604020202020204" pitchFamily="34" charset="0"/>
                <a:ea typeface="宋体" panose="02010600030101010101" pitchFamily="2" charset="-122"/>
              </a:rPr>
              <a:t>relative</a:t>
            </a:r>
            <a:r>
              <a:rPr lang="en-US" altLang="zh-CN" dirty="0">
                <a:latin typeface="Arial" panose="020B0604020202020204" pitchFamily="34" charset="0"/>
                <a:ea typeface="宋体" panose="02010600030101010101" pitchFamily="2" charset="-122"/>
              </a:rPr>
              <a:t> sizes of all parts</a:t>
            </a:r>
            <a:endParaRPr lang="en-US" altLang="zh-CN" dirty="0">
              <a:latin typeface="Arial" panose="020B0604020202020204" pitchFamily="34" charset="0"/>
              <a:ea typeface="宋体" panose="02010600030101010101" pitchFamily="2" charset="-122"/>
            </a:endParaRPr>
          </a:p>
        </p:txBody>
      </p:sp>
      <p:sp>
        <p:nvSpPr>
          <p:cNvPr id="38924" name="Text Box 18"/>
          <p:cNvSpPr txBox="1"/>
          <p:nvPr/>
        </p:nvSpPr>
        <p:spPr>
          <a:xfrm>
            <a:off x="1390650" y="1374775"/>
            <a:ext cx="7640638" cy="457200"/>
          </a:xfrm>
          <a:prstGeom prst="rect">
            <a:avLst/>
          </a:prstGeom>
          <a:noFill/>
          <a:ln w="9525">
            <a:noFill/>
          </a:ln>
        </p:spPr>
        <p:txBody>
          <a:bodyPr wrap="none" lIns="45720" rIns="45720">
            <a:spAutoFit/>
          </a:bodyPr>
          <a:p>
            <a:pPr algn="r"/>
            <a:r>
              <a:rPr lang="en-US" altLang="zh-CN" dirty="0">
                <a:latin typeface="Arial" panose="020B0604020202020204" pitchFamily="34" charset="0"/>
                <a:ea typeface="宋体" panose="02010600030101010101" pitchFamily="2" charset="-122"/>
              </a:rPr>
              <a:t>Step 1: Divide the problem into </a:t>
            </a:r>
            <a:r>
              <a:rPr lang="en-US" altLang="zh-CN" i="1" dirty="0">
                <a:solidFill>
                  <a:srgbClr val="680000"/>
                </a:solidFill>
                <a:latin typeface="Arial" panose="020B0604020202020204" pitchFamily="34" charset="0"/>
                <a:ea typeface="宋体" panose="02010600030101010101" pitchFamily="2" charset="-122"/>
              </a:rPr>
              <a:t>small</a:t>
            </a:r>
            <a:r>
              <a:rPr lang="en-US" altLang="zh-CN" dirty="0">
                <a:latin typeface="Arial" panose="020B0604020202020204" pitchFamily="34" charset="0"/>
                <a:ea typeface="宋体" panose="02010600030101010101" pitchFamily="2" charset="-122"/>
              </a:rPr>
              <a:t> &amp; </a:t>
            </a:r>
            <a:r>
              <a:rPr lang="en-US" altLang="zh-CN" i="1" dirty="0">
                <a:solidFill>
                  <a:srgbClr val="680000"/>
                </a:solidFill>
                <a:latin typeface="Arial" panose="020B0604020202020204" pitchFamily="34" charset="0"/>
                <a:ea typeface="宋体" panose="02010600030101010101" pitchFamily="2" charset="-122"/>
              </a:rPr>
              <a:t>similar</a:t>
            </a:r>
            <a:r>
              <a:rPr lang="en-US" altLang="zh-CN" dirty="0">
                <a:latin typeface="Arial" panose="020B0604020202020204" pitchFamily="34" charset="0"/>
                <a:ea typeface="宋体" panose="02010600030101010101" pitchFamily="2" charset="-122"/>
              </a:rPr>
              <a:t> parts</a:t>
            </a:r>
            <a:endParaRPr lang="en-US" altLang="zh-CN" dirty="0">
              <a:latin typeface="Arial" panose="020B0604020202020204" pitchFamily="34" charset="0"/>
              <a:ea typeface="宋体" panose="02010600030101010101" pitchFamily="2" charset="-122"/>
            </a:endParaRPr>
          </a:p>
        </p:txBody>
      </p:sp>
      <p:pic>
        <p:nvPicPr>
          <p:cNvPr id="38925" name="Picture 22"/>
          <p:cNvPicPr>
            <a:picLocks noChangeAspect="1"/>
          </p:cNvPicPr>
          <p:nvPr/>
        </p:nvPicPr>
        <p:blipFill>
          <a:blip r:embed="rId1"/>
          <a:stretch>
            <a:fillRect/>
          </a:stretch>
        </p:blipFill>
        <p:spPr>
          <a:xfrm>
            <a:off x="138113" y="1741488"/>
            <a:ext cx="6051550" cy="461645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Sizing the Problem (2)</a:t>
            </a:r>
            <a:endParaRPr lang="en-US" altLang="zh-CN" dirty="0">
              <a:ea typeface="宋体" panose="02010600030101010101" pitchFamily="2" charset="-122"/>
            </a:endParaRPr>
          </a:p>
        </p:txBody>
      </p:sp>
      <p:sp>
        <p:nvSpPr>
          <p:cNvPr id="39939" name="Rectangle 3"/>
          <p:cNvSpPr>
            <a:spLocks noGrp="1"/>
          </p:cNvSpPr>
          <p:nvPr>
            <p:ph type="body"/>
          </p:nvPr>
        </p:nvSpPr>
        <p:spPr/>
        <p:txBody>
          <a:bodyPr vert="horz" wrap="square" lIns="91440" tIns="45720" rIns="91440" bIns="45720" anchor="t" anchorCtr="0"/>
          <a:p>
            <a:r>
              <a:rPr lang="en-US" altLang="zh-CN" dirty="0">
                <a:ea typeface="宋体" panose="02010600030101010101" pitchFamily="2" charset="-122"/>
              </a:rPr>
              <a:t>Step 3: Estimate the size of the total work</a:t>
            </a:r>
            <a:endParaRPr lang="en-US" altLang="zh-CN" dirty="0">
              <a:ea typeface="宋体" panose="02010600030101010101" pitchFamily="2" charset="-122"/>
            </a:endParaRPr>
          </a:p>
          <a:p>
            <a:pPr algn="ctr">
              <a:buNone/>
            </a:pPr>
            <a:r>
              <a:rPr lang="en-US" altLang="zh-CN" dirty="0">
                <a:latin typeface="Calibri" panose="020F0502020204030204" pitchFamily="34" charset="0"/>
                <a:ea typeface="宋体" panose="02010600030101010101" pitchFamily="2" charset="-122"/>
              </a:rPr>
              <a:t>Total size = </a:t>
            </a:r>
            <a:r>
              <a:rPr lang="en-US" altLang="zh-CN" dirty="0">
                <a:latin typeface="Calibri" panose="020F0502020204030204" pitchFamily="34" charset="0"/>
                <a:ea typeface="宋体" panose="02010600030101010101" pitchFamily="2" charset="-122"/>
                <a:sym typeface="Symbol" panose="05050102010706020507" pitchFamily="18" charset="2"/>
              </a:rPr>
              <a:t></a:t>
            </a:r>
            <a:r>
              <a:rPr lang="en-US" altLang="zh-CN" sz="4400" dirty="0">
                <a:latin typeface="Calibri" panose="020F0502020204030204" pitchFamily="34" charset="0"/>
                <a:ea typeface="宋体" panose="02010600030101010101" pitchFamily="2" charset="-122"/>
                <a:sym typeface="Symbol" panose="05050102010706020507" pitchFamily="18" charset="2"/>
              </a:rPr>
              <a:t></a:t>
            </a:r>
            <a:r>
              <a:rPr lang="en-US" altLang="zh-CN" dirty="0">
                <a:latin typeface="Calibri" panose="020F0502020204030204" pitchFamily="34" charset="0"/>
                <a:ea typeface="宋体" panose="02010600030101010101" pitchFamily="2" charset="-122"/>
                <a:sym typeface="Symbol" panose="05050102010706020507" pitchFamily="18" charset="2"/>
              </a:rPr>
              <a:t> </a:t>
            </a:r>
            <a:r>
              <a:rPr lang="en-US" altLang="zh-CN" dirty="0">
                <a:latin typeface="Calibri" panose="020F0502020204030204" pitchFamily="34" charset="0"/>
                <a:ea typeface="宋体" panose="02010600030101010101" pitchFamily="2" charset="-122"/>
              </a:rPr>
              <a:t>points-for-section </a:t>
            </a:r>
            <a:r>
              <a:rPr lang="en-US" altLang="zh-CN" b="1" i="1" dirty="0">
                <a:latin typeface="Calibri" panose="020F0502020204030204" pitchFamily="34" charset="0"/>
                <a:ea typeface="宋体" panose="02010600030101010101" pitchFamily="2" charset="-122"/>
              </a:rPr>
              <a:t>i</a:t>
            </a:r>
            <a:r>
              <a:rPr lang="en-US" altLang="zh-CN" dirty="0">
                <a:latin typeface="Calibri" panose="020F0502020204030204" pitchFamily="34" charset="0"/>
                <a:ea typeface="宋体" panose="02010600030101010101" pitchFamily="2" charset="-122"/>
              </a:rPr>
              <a:t>    (</a:t>
            </a:r>
            <a:r>
              <a:rPr lang="en-US" altLang="zh-CN" i="1" dirty="0">
                <a:latin typeface="Calibri" panose="020F0502020204030204" pitchFamily="34" charset="0"/>
                <a:ea typeface="宋体" panose="02010600030101010101" pitchFamily="2" charset="-122"/>
              </a:rPr>
              <a:t>i </a:t>
            </a:r>
            <a:r>
              <a:rPr lang="en-US" altLang="zh-CN" dirty="0">
                <a:latin typeface="Calibri" panose="020F0502020204030204" pitchFamily="34" charset="0"/>
                <a:ea typeface="宋体" panose="02010600030101010101" pitchFamily="2" charset="-122"/>
              </a:rPr>
              <a:t>= 1..N)</a:t>
            </a:r>
            <a:endParaRPr lang="en-US" altLang="zh-CN" dirty="0">
              <a:latin typeface="Calibri" panose="020F0502020204030204" pitchFamily="34" charset="0"/>
              <a:ea typeface="宋体" panose="02010600030101010101" pitchFamily="2" charset="-122"/>
            </a:endParaRPr>
          </a:p>
          <a:p>
            <a:pPr>
              <a:lnSpc>
                <a:spcPct val="200000"/>
              </a:lnSpc>
            </a:pPr>
            <a:r>
              <a:rPr lang="en-US" altLang="zh-CN" dirty="0">
                <a:ea typeface="宋体" panose="02010600030101010101" pitchFamily="2" charset="-122"/>
              </a:rPr>
              <a:t>Step 4: Estimate speed of work (velocity)</a:t>
            </a:r>
            <a:endParaRPr lang="en-US" altLang="zh-CN" dirty="0">
              <a:ea typeface="宋体" panose="02010600030101010101" pitchFamily="2" charset="-122"/>
            </a:endParaRPr>
          </a:p>
          <a:p>
            <a:pPr>
              <a:lnSpc>
                <a:spcPct val="200000"/>
              </a:lnSpc>
            </a:pPr>
            <a:r>
              <a:rPr lang="en-US" altLang="zh-CN" dirty="0">
                <a:ea typeface="宋体" panose="02010600030101010101" pitchFamily="2" charset="-122"/>
              </a:rPr>
              <a:t>Step 5: Estimate the work duration</a:t>
            </a:r>
            <a:endParaRPr lang="en-US" altLang="zh-CN" dirty="0">
              <a:ea typeface="宋体" panose="02010600030101010101" pitchFamily="2" charset="-122"/>
            </a:endParaRPr>
          </a:p>
          <a:p>
            <a:pPr>
              <a:lnSpc>
                <a:spcPct val="200000"/>
              </a:lnSpc>
              <a:buNone/>
            </a:pPr>
            <a:r>
              <a:rPr lang="en-US" altLang="zh-CN" dirty="0">
                <a:latin typeface="Calibri" panose="020F0502020204030204" pitchFamily="34" charset="0"/>
                <a:ea typeface="宋体" panose="02010600030101010101" pitchFamily="2" charset="-122"/>
              </a:rPr>
              <a:t>        Travel duration = </a:t>
            </a:r>
            <a:endParaRPr lang="en-US" altLang="zh-CN" dirty="0">
              <a:latin typeface="Calibri" panose="020F0502020204030204" pitchFamily="34" charset="0"/>
              <a:ea typeface="宋体" panose="02010600030101010101" pitchFamily="2" charset="-122"/>
            </a:endParaRPr>
          </a:p>
        </p:txBody>
      </p:sp>
      <p:grpSp>
        <p:nvGrpSpPr>
          <p:cNvPr id="39940" name="Group 7"/>
          <p:cNvGrpSpPr/>
          <p:nvPr/>
        </p:nvGrpSpPr>
        <p:grpSpPr>
          <a:xfrm>
            <a:off x="3838575" y="4791075"/>
            <a:ext cx="2255838" cy="1163638"/>
            <a:chOff x="2418" y="2454"/>
            <a:chExt cx="1421" cy="733"/>
          </a:xfrm>
        </p:grpSpPr>
        <p:sp>
          <p:nvSpPr>
            <p:cNvPr id="39941" name="Rectangle 4"/>
            <p:cNvSpPr/>
            <p:nvPr/>
          </p:nvSpPr>
          <p:spPr>
            <a:xfrm>
              <a:off x="2697" y="2454"/>
              <a:ext cx="917" cy="327"/>
            </a:xfrm>
            <a:prstGeom prst="rect">
              <a:avLst/>
            </a:prstGeom>
            <a:noFill/>
            <a:ln w="9525">
              <a:noFill/>
            </a:ln>
          </p:spPr>
          <p:txBody>
            <a:bodyPr wrap="none">
              <a:spAutoFit/>
            </a:bodyPr>
            <a:p>
              <a:r>
                <a:rPr lang="en-US" altLang="zh-CN" sz="2800" b="0" dirty="0">
                  <a:latin typeface="Calibri" panose="020F0502020204030204" pitchFamily="34" charset="0"/>
                  <a:ea typeface="宋体" panose="02010600030101010101" pitchFamily="2" charset="-122"/>
                </a:rPr>
                <a:t>Path size</a:t>
              </a:r>
              <a:endParaRPr lang="en-US" altLang="zh-CN" sz="2800" b="0" dirty="0">
                <a:latin typeface="Calibri" panose="020F0502020204030204" pitchFamily="34" charset="0"/>
                <a:ea typeface="宋体" panose="02010600030101010101" pitchFamily="2" charset="-122"/>
              </a:endParaRPr>
            </a:p>
          </p:txBody>
        </p:sp>
        <p:sp>
          <p:nvSpPr>
            <p:cNvPr id="39942" name="Rectangle 5"/>
            <p:cNvSpPr/>
            <p:nvPr/>
          </p:nvSpPr>
          <p:spPr>
            <a:xfrm>
              <a:off x="2418" y="2857"/>
              <a:ext cx="1413" cy="330"/>
            </a:xfrm>
            <a:prstGeom prst="rect">
              <a:avLst/>
            </a:prstGeom>
            <a:noFill/>
            <a:ln w="9525">
              <a:noFill/>
            </a:ln>
          </p:spPr>
          <p:txBody>
            <a:bodyPr wrap="none">
              <a:spAutoFit/>
            </a:bodyPr>
            <a:p>
              <a:r>
                <a:rPr lang="en-US" altLang="zh-CN" sz="2800" b="0" dirty="0">
                  <a:latin typeface="Calibri" panose="020F0502020204030204" pitchFamily="34" charset="0"/>
                  <a:ea typeface="宋体" panose="02010600030101010101" pitchFamily="2" charset="-122"/>
                </a:rPr>
                <a:t>Travel velocity</a:t>
              </a:r>
              <a:endParaRPr lang="en-US" altLang="zh-CN" sz="2800" b="0" dirty="0">
                <a:latin typeface="Calibri" panose="020F0502020204030204" pitchFamily="34" charset="0"/>
                <a:ea typeface="宋体" panose="02010600030101010101" pitchFamily="2" charset="-122"/>
              </a:endParaRPr>
            </a:p>
          </p:txBody>
        </p:sp>
        <p:sp>
          <p:nvSpPr>
            <p:cNvPr id="39943" name="Line 6"/>
            <p:cNvSpPr/>
            <p:nvPr/>
          </p:nvSpPr>
          <p:spPr>
            <a:xfrm>
              <a:off x="2474" y="2847"/>
              <a:ext cx="1365" cy="0"/>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Sizing the Problem (3)</a:t>
            </a:r>
            <a:endParaRPr lang="en-US" altLang="zh-CN" dirty="0">
              <a:ea typeface="宋体" panose="02010600030101010101" pitchFamily="2" charset="-122"/>
            </a:endParaRPr>
          </a:p>
        </p:txBody>
      </p:sp>
      <p:sp>
        <p:nvSpPr>
          <p:cNvPr id="40963" name="Rectangle 3"/>
          <p:cNvSpPr>
            <a:spLocks noGrp="1"/>
          </p:cNvSpPr>
          <p:nvPr>
            <p:ph type="body"/>
          </p:nvPr>
        </p:nvSpPr>
        <p:spPr/>
        <p:txBody>
          <a:bodyPr vert="horz" wrap="square" lIns="91440" tIns="45720" rIns="91440" bIns="45720" anchor="t" anchorCtr="0"/>
          <a:p>
            <a:pPr>
              <a:lnSpc>
                <a:spcPct val="150000"/>
              </a:lnSpc>
            </a:pPr>
            <a:r>
              <a:rPr lang="en-US" altLang="zh-CN" dirty="0">
                <a:ea typeface="宋体" panose="02010600030101010101" pitchFamily="2" charset="-122"/>
              </a:rPr>
              <a:t>Advantages:</a:t>
            </a:r>
            <a:endParaRPr lang="en-US" altLang="zh-CN" dirty="0">
              <a:ea typeface="宋体" panose="02010600030101010101" pitchFamily="2" charset="-122"/>
            </a:endParaRPr>
          </a:p>
          <a:p>
            <a:pPr lvl="1">
              <a:lnSpc>
                <a:spcPct val="150000"/>
              </a:lnSpc>
            </a:pPr>
            <a:r>
              <a:rPr lang="en-US" altLang="zh-CN" dirty="0">
                <a:ea typeface="宋体" panose="02010600030101010101" pitchFamily="2" charset="-122"/>
              </a:rPr>
              <a:t>Velocity estimate may need to be adjusted (based on observed progress)</a:t>
            </a:r>
            <a:endParaRPr lang="en-US" altLang="zh-CN" dirty="0">
              <a:ea typeface="宋体" panose="02010600030101010101" pitchFamily="2" charset="-122"/>
            </a:endParaRPr>
          </a:p>
          <a:p>
            <a:pPr lvl="1">
              <a:lnSpc>
                <a:spcPct val="150000"/>
              </a:lnSpc>
            </a:pPr>
            <a:r>
              <a:rPr lang="en-US" altLang="zh-CN" dirty="0">
                <a:ea typeface="宋体" panose="02010600030101010101" pitchFamily="2" charset="-122"/>
              </a:rPr>
              <a:t>However, the total duration can be computed quickly (provided that the </a:t>
            </a:r>
            <a:r>
              <a:rPr lang="en-US" altLang="zh-CN" i="1" dirty="0">
                <a:ea typeface="宋体" panose="02010600030101010101" pitchFamily="2" charset="-122"/>
              </a:rPr>
              <a:t>relative</a:t>
            </a:r>
            <a:r>
              <a:rPr lang="en-US" altLang="zh-CN" dirty="0">
                <a:ea typeface="宋体" panose="02010600030101010101" pitchFamily="2" charset="-122"/>
              </a:rPr>
              <a:t> size estimates of parts are accurate – easier to achieve if the parts are </a:t>
            </a:r>
            <a:r>
              <a:rPr lang="en-US" altLang="zh-CN" b="1" dirty="0">
                <a:ea typeface="宋体" panose="02010600030101010101" pitchFamily="2" charset="-122"/>
              </a:rPr>
              <a:t>small</a:t>
            </a:r>
            <a:r>
              <a:rPr lang="en-US" altLang="zh-CN" dirty="0">
                <a:ea typeface="宋体" panose="02010600030101010101" pitchFamily="2" charset="-122"/>
              </a:rPr>
              <a:t> and </a:t>
            </a:r>
            <a:r>
              <a:rPr lang="en-US" altLang="zh-CN" b="1" dirty="0">
                <a:ea typeface="宋体" panose="02010600030101010101" pitchFamily="2" charset="-122"/>
              </a:rPr>
              <a:t>similar-size</a:t>
            </a:r>
            <a:r>
              <a:rPr lang="en-US" altLang="zh-CN" dirty="0">
                <a:ea typeface="宋体" panose="02010600030101010101" pitchFamily="2" charset="-122"/>
              </a:rPr>
              <a:t>)</a:t>
            </a:r>
            <a:endParaRPr lang="en-US" altLang="zh-CN" dirty="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0" tIns="45720" rIns="0" bIns="45720" anchor="ctr" anchorCtr="0"/>
          <a:p>
            <a:pPr eaLnBrk="1" hangingPunct="1"/>
            <a:r>
              <a:rPr lang="en-US" altLang="en-US" dirty="0"/>
              <a:t>Exponential Cost of Estimation</a:t>
            </a:r>
            <a:endParaRPr lang="en-US" altLang="en-US" dirty="0"/>
          </a:p>
        </p:txBody>
      </p:sp>
      <p:grpSp>
        <p:nvGrpSpPr>
          <p:cNvPr id="41987" name="Group 16"/>
          <p:cNvGrpSpPr>
            <a:grpSpLocks noChangeAspect="1"/>
          </p:cNvGrpSpPr>
          <p:nvPr/>
        </p:nvGrpSpPr>
        <p:grpSpPr>
          <a:xfrm>
            <a:off x="2173288" y="1420813"/>
            <a:ext cx="4175125" cy="3324225"/>
            <a:chOff x="1369" y="1012"/>
            <a:chExt cx="2918" cy="2324"/>
          </a:xfrm>
        </p:grpSpPr>
        <p:sp>
          <p:nvSpPr>
            <p:cNvPr id="41990" name="Line 3"/>
            <p:cNvSpPr>
              <a:spLocks noChangeAspect="1"/>
            </p:cNvSpPr>
            <p:nvPr/>
          </p:nvSpPr>
          <p:spPr>
            <a:xfrm>
              <a:off x="1668" y="3107"/>
              <a:ext cx="2619" cy="0"/>
            </a:xfrm>
            <a:prstGeom prst="line">
              <a:avLst/>
            </a:prstGeom>
            <a:ln w="9525" cap="flat" cmpd="sng">
              <a:solidFill>
                <a:schemeClr val="tx1"/>
              </a:solidFill>
              <a:prstDash val="solid"/>
              <a:headEnd type="none" w="med" len="med"/>
              <a:tailEnd type="none" w="med" len="med"/>
            </a:ln>
          </p:spPr>
        </p:sp>
        <p:sp>
          <p:nvSpPr>
            <p:cNvPr id="41991" name="Line 4"/>
            <p:cNvSpPr>
              <a:spLocks noChangeAspect="1"/>
            </p:cNvSpPr>
            <p:nvPr/>
          </p:nvSpPr>
          <p:spPr>
            <a:xfrm flipV="1">
              <a:off x="1668" y="1178"/>
              <a:ext cx="0" cy="1929"/>
            </a:xfrm>
            <a:prstGeom prst="line">
              <a:avLst/>
            </a:prstGeom>
            <a:ln w="9525" cap="flat" cmpd="sng">
              <a:solidFill>
                <a:schemeClr val="tx1"/>
              </a:solidFill>
              <a:prstDash val="solid"/>
              <a:headEnd type="none" w="med" len="med"/>
              <a:tailEnd type="none" w="med" len="med"/>
            </a:ln>
          </p:spPr>
        </p:sp>
        <p:sp>
          <p:nvSpPr>
            <p:cNvPr id="41992" name="Freeform 5"/>
            <p:cNvSpPr>
              <a:spLocks noChangeAspect="1"/>
            </p:cNvSpPr>
            <p:nvPr/>
          </p:nvSpPr>
          <p:spPr>
            <a:xfrm>
              <a:off x="1758" y="1375"/>
              <a:ext cx="2510" cy="1728"/>
            </a:xfrm>
            <a:custGeom>
              <a:avLst/>
              <a:gdLst>
                <a:gd name="txL" fmla="*/ 0 w 1967"/>
                <a:gd name="txT" fmla="*/ 0 h 1564"/>
                <a:gd name="txR" fmla="*/ 1967 w 1967"/>
                <a:gd name="txB" fmla="*/ 1564 h 1564"/>
              </a:gdLst>
              <a:ahLst/>
              <a:cxnLst>
                <a:cxn ang="0">
                  <a:pos x="0" y="18905"/>
                </a:cxn>
                <a:cxn ang="0">
                  <a:pos x="871962" y="0"/>
                </a:cxn>
              </a:cxnLst>
              <a:rect l="txL" t="txT" r="txR" b="txB"/>
              <a:pathLst>
                <a:path w="1967" h="1564">
                  <a:moveTo>
                    <a:pt x="0" y="1564"/>
                  </a:moveTo>
                  <a:cubicBezTo>
                    <a:pt x="0" y="439"/>
                    <a:pt x="947" y="90"/>
                    <a:pt x="1967" y="0"/>
                  </a:cubicBezTo>
                </a:path>
              </a:pathLst>
            </a:custGeom>
            <a:no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1993" name="Line 6"/>
            <p:cNvSpPr>
              <a:spLocks noChangeAspect="1"/>
            </p:cNvSpPr>
            <p:nvPr/>
          </p:nvSpPr>
          <p:spPr>
            <a:xfrm>
              <a:off x="3314" y="3281"/>
              <a:ext cx="345" cy="0"/>
            </a:xfrm>
            <a:prstGeom prst="line">
              <a:avLst/>
            </a:prstGeom>
            <a:ln w="9525" cap="flat" cmpd="sng">
              <a:solidFill>
                <a:schemeClr val="tx1"/>
              </a:solidFill>
              <a:prstDash val="solid"/>
              <a:headEnd type="none" w="med" len="med"/>
              <a:tailEnd type="stealth" w="lg" len="lg"/>
            </a:ln>
          </p:spPr>
        </p:sp>
        <p:sp>
          <p:nvSpPr>
            <p:cNvPr id="41994" name="Text Box 7"/>
            <p:cNvSpPr txBox="1">
              <a:spLocks noChangeAspect="1"/>
            </p:cNvSpPr>
            <p:nvPr/>
          </p:nvSpPr>
          <p:spPr>
            <a:xfrm>
              <a:off x="2298" y="3165"/>
              <a:ext cx="963" cy="171"/>
            </a:xfrm>
            <a:prstGeom prst="rect">
              <a:avLst/>
            </a:prstGeom>
            <a:noFill/>
            <a:ln w="9525">
              <a:noFill/>
            </a:ln>
          </p:spPr>
          <p:txBody>
            <a:bodyPr wrap="none" lIns="0" tIns="0" rIns="0" bIns="0">
              <a:spAutoFit/>
            </a:bodyPr>
            <a:p>
              <a:r>
                <a:rPr lang="en-US" altLang="en-US" sz="1600" b="0" dirty="0">
                  <a:latin typeface="Arial" panose="020B0604020202020204" pitchFamily="34" charset="0"/>
                </a:rPr>
                <a:t>Estimation cost</a:t>
              </a:r>
              <a:endParaRPr lang="en-US" altLang="en-US" sz="1600" b="0" dirty="0">
                <a:latin typeface="Arial" panose="020B0604020202020204" pitchFamily="34" charset="0"/>
              </a:endParaRPr>
            </a:p>
          </p:txBody>
        </p:sp>
        <p:sp>
          <p:nvSpPr>
            <p:cNvPr id="41995" name="Line 8"/>
            <p:cNvSpPr>
              <a:spLocks noChangeAspect="1"/>
            </p:cNvSpPr>
            <p:nvPr/>
          </p:nvSpPr>
          <p:spPr>
            <a:xfrm flipH="1" flipV="1">
              <a:off x="1500" y="1300"/>
              <a:ext cx="0" cy="345"/>
            </a:xfrm>
            <a:prstGeom prst="line">
              <a:avLst/>
            </a:prstGeom>
            <a:ln w="9525" cap="flat" cmpd="sng">
              <a:solidFill>
                <a:schemeClr val="tx1"/>
              </a:solidFill>
              <a:prstDash val="solid"/>
              <a:headEnd type="none" w="med" len="med"/>
              <a:tailEnd type="stealth" w="lg" len="lg"/>
            </a:ln>
          </p:spPr>
        </p:sp>
        <p:sp>
          <p:nvSpPr>
            <p:cNvPr id="41996" name="Text Box 9"/>
            <p:cNvSpPr txBox="1">
              <a:spLocks noChangeAspect="1"/>
            </p:cNvSpPr>
            <p:nvPr/>
          </p:nvSpPr>
          <p:spPr>
            <a:xfrm rot="-5400000">
              <a:off x="819" y="2265"/>
              <a:ext cx="1270" cy="171"/>
            </a:xfrm>
            <a:prstGeom prst="rect">
              <a:avLst/>
            </a:prstGeom>
            <a:noFill/>
            <a:ln w="9525">
              <a:noFill/>
            </a:ln>
          </p:spPr>
          <p:txBody>
            <a:bodyPr wrap="none" lIns="0" tIns="0" rIns="0" bIns="0">
              <a:spAutoFit/>
            </a:bodyPr>
            <a:p>
              <a:r>
                <a:rPr lang="en-US" altLang="en-US" sz="1600" b="0" dirty="0">
                  <a:latin typeface="Arial" panose="020B0604020202020204" pitchFamily="34" charset="0"/>
                </a:rPr>
                <a:t>Estimation accuracy</a:t>
              </a:r>
              <a:endParaRPr lang="en-US" altLang="en-US" sz="1600" b="0" dirty="0">
                <a:latin typeface="Arial" panose="020B0604020202020204" pitchFamily="34" charset="0"/>
              </a:endParaRPr>
            </a:p>
          </p:txBody>
        </p:sp>
        <p:sp>
          <p:nvSpPr>
            <p:cNvPr id="41997" name="Text Box 10"/>
            <p:cNvSpPr txBox="1">
              <a:spLocks noChangeAspect="1"/>
            </p:cNvSpPr>
            <p:nvPr/>
          </p:nvSpPr>
          <p:spPr>
            <a:xfrm>
              <a:off x="1958" y="1012"/>
              <a:ext cx="363" cy="171"/>
            </a:xfrm>
            <a:prstGeom prst="rect">
              <a:avLst/>
            </a:prstGeom>
            <a:noFill/>
            <a:ln w="9525">
              <a:noFill/>
            </a:ln>
          </p:spPr>
          <p:txBody>
            <a:bodyPr wrap="none" lIns="0" tIns="0" rIns="0" bIns="0">
              <a:spAutoFit/>
            </a:bodyPr>
            <a:p>
              <a:r>
                <a:rPr lang="en-US" altLang="en-US" sz="1600" b="0" dirty="0">
                  <a:latin typeface="Arial" panose="020B0604020202020204" pitchFamily="34" charset="0"/>
                </a:rPr>
                <a:t>100%</a:t>
              </a:r>
              <a:endParaRPr lang="en-US" altLang="en-US" sz="1600" b="0" dirty="0">
                <a:latin typeface="Arial" panose="020B0604020202020204" pitchFamily="34" charset="0"/>
              </a:endParaRPr>
            </a:p>
          </p:txBody>
        </p:sp>
        <p:sp>
          <p:nvSpPr>
            <p:cNvPr id="41998" name="Line 11"/>
            <p:cNvSpPr>
              <a:spLocks noChangeAspect="1"/>
            </p:cNvSpPr>
            <p:nvPr/>
          </p:nvSpPr>
          <p:spPr>
            <a:xfrm>
              <a:off x="1668" y="1231"/>
              <a:ext cx="2619" cy="0"/>
            </a:xfrm>
            <a:prstGeom prst="line">
              <a:avLst/>
            </a:prstGeom>
            <a:ln w="9525" cap="flat" cmpd="sng">
              <a:solidFill>
                <a:schemeClr val="tx1"/>
              </a:solidFill>
              <a:prstDash val="lgDash"/>
              <a:headEnd type="none" w="med" len="med"/>
              <a:tailEnd type="none" w="med" len="med"/>
            </a:ln>
          </p:spPr>
        </p:sp>
      </p:grpSp>
      <p:sp>
        <p:nvSpPr>
          <p:cNvPr id="41988" name="Rectangle 12"/>
          <p:cNvSpPr/>
          <p:nvPr/>
        </p:nvSpPr>
        <p:spPr>
          <a:xfrm>
            <a:off x="539750" y="5092700"/>
            <a:ext cx="8039100" cy="1430338"/>
          </a:xfrm>
          <a:prstGeom prst="rect">
            <a:avLst/>
          </a:prstGeom>
          <a:noFill/>
          <a:ln w="9525">
            <a:noFill/>
          </a:ln>
        </p:spPr>
        <p:txBody>
          <a:bodyPr lIns="0" tIns="0" rIns="0" bIns="0">
            <a:spAutoFit/>
          </a:bodyPr>
          <a:p>
            <a:pPr>
              <a:lnSpc>
                <a:spcPct val="120000"/>
              </a:lnSpc>
              <a:spcAft>
                <a:spcPct val="40000"/>
              </a:spcAft>
              <a:buFont typeface="Wingdings" panose="05000000000000000000" pitchFamily="2" charset="2"/>
              <a:buChar char="q"/>
            </a:pPr>
            <a:r>
              <a:rPr lang="en-US" altLang="en-US" sz="1800" dirty="0">
                <a:latin typeface="Arial" panose="020B0604020202020204" pitchFamily="34" charset="0"/>
              </a:rPr>
              <a:t> Improving accuracy of estimation beyond a certain point requires huge cost and effort (known as the law of diminishing returns)</a:t>
            </a:r>
            <a:endParaRPr lang="en-US" altLang="en-US" sz="1800" dirty="0">
              <a:latin typeface="Arial" panose="020B0604020202020204" pitchFamily="34" charset="0"/>
            </a:endParaRPr>
          </a:p>
          <a:p>
            <a:pPr>
              <a:lnSpc>
                <a:spcPct val="120000"/>
              </a:lnSpc>
              <a:spcAft>
                <a:spcPct val="40000"/>
              </a:spcAft>
              <a:buFont typeface="Wingdings" panose="05000000000000000000" pitchFamily="2" charset="2"/>
              <a:buChar char="q"/>
            </a:pPr>
            <a:r>
              <a:rPr lang="en-US" altLang="en-US" sz="1800" dirty="0">
                <a:latin typeface="Arial" panose="020B0604020202020204" pitchFamily="34" charset="0"/>
              </a:rPr>
              <a:t> In the beginning of the curve, a modest effort investment yields huge gains in accuracy</a:t>
            </a:r>
            <a:endParaRPr lang="en-US" altLang="en-US" sz="1800" dirty="0">
              <a:latin typeface="Arial" panose="020B0604020202020204" pitchFamily="34" charset="0"/>
            </a:endParaRPr>
          </a:p>
        </p:txBody>
      </p:sp>
      <p:sp>
        <p:nvSpPr>
          <p:cNvPr id="41989"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p:txBody>
          <a:bodyPr vert="horz" wrap="square" lIns="0" tIns="45720" rIns="0" bIns="45720" anchor="ctr" anchorCtr="0"/>
          <a:p>
            <a:r>
              <a:rPr lang="en-US" altLang="en-US" dirty="0"/>
              <a:t>Estimation Error Over Time</a:t>
            </a:r>
            <a:endParaRPr lang="en-US" altLang="en-US" dirty="0"/>
          </a:p>
        </p:txBody>
      </p:sp>
      <p:sp>
        <p:nvSpPr>
          <p:cNvPr id="43011" name="Line 3"/>
          <p:cNvSpPr/>
          <p:nvPr/>
        </p:nvSpPr>
        <p:spPr>
          <a:xfrm>
            <a:off x="1433513" y="4862513"/>
            <a:ext cx="6399212" cy="0"/>
          </a:xfrm>
          <a:prstGeom prst="line">
            <a:avLst/>
          </a:prstGeom>
          <a:ln w="9525" cap="flat" cmpd="sng">
            <a:solidFill>
              <a:schemeClr val="tx1"/>
            </a:solidFill>
            <a:prstDash val="solid"/>
            <a:headEnd type="none" w="med" len="med"/>
            <a:tailEnd type="triangle" w="lg" len="med"/>
          </a:ln>
        </p:spPr>
      </p:sp>
      <p:sp>
        <p:nvSpPr>
          <p:cNvPr id="43012" name="Line 4"/>
          <p:cNvSpPr/>
          <p:nvPr/>
        </p:nvSpPr>
        <p:spPr>
          <a:xfrm flipH="1" flipV="1">
            <a:off x="1433513" y="2120900"/>
            <a:ext cx="0" cy="2741613"/>
          </a:xfrm>
          <a:prstGeom prst="line">
            <a:avLst/>
          </a:prstGeom>
          <a:ln w="9525" cap="flat" cmpd="sng">
            <a:solidFill>
              <a:schemeClr val="tx1"/>
            </a:solidFill>
            <a:prstDash val="solid"/>
            <a:headEnd type="none" w="med" len="med"/>
            <a:tailEnd type="triangle" w="lg" len="med"/>
          </a:ln>
        </p:spPr>
      </p:sp>
      <p:sp>
        <p:nvSpPr>
          <p:cNvPr id="43013" name="Text Box 5"/>
          <p:cNvSpPr txBox="1"/>
          <p:nvPr/>
        </p:nvSpPr>
        <p:spPr>
          <a:xfrm>
            <a:off x="7277100" y="4989513"/>
            <a:ext cx="533400" cy="274637"/>
          </a:xfrm>
          <a:prstGeom prst="rect">
            <a:avLst/>
          </a:prstGeom>
          <a:noFill/>
          <a:ln w="9525">
            <a:noFill/>
          </a:ln>
        </p:spPr>
        <p:txBody>
          <a:bodyPr wrap="none" lIns="0" tIns="0" rIns="0" bIns="0">
            <a:spAutoFit/>
          </a:bodyPr>
          <a:p>
            <a:pPr algn="ctr"/>
            <a:r>
              <a:rPr lang="en-US" altLang="en-US" sz="1800" dirty="0">
                <a:solidFill>
                  <a:schemeClr val="tx2"/>
                </a:solidFill>
                <a:latin typeface="Arial" panose="020B0604020202020204" pitchFamily="34" charset="0"/>
              </a:rPr>
              <a:t>Time</a:t>
            </a:r>
            <a:endParaRPr lang="en-US" altLang="en-US" sz="1800" dirty="0">
              <a:solidFill>
                <a:schemeClr val="tx2"/>
              </a:solidFill>
              <a:latin typeface="Arial" panose="020B0604020202020204" pitchFamily="34" charset="0"/>
            </a:endParaRPr>
          </a:p>
        </p:txBody>
      </p:sp>
      <p:sp>
        <p:nvSpPr>
          <p:cNvPr id="43014" name="Text Box 6"/>
          <p:cNvSpPr txBox="1"/>
          <p:nvPr/>
        </p:nvSpPr>
        <p:spPr>
          <a:xfrm>
            <a:off x="1571625" y="1976438"/>
            <a:ext cx="1168400" cy="549275"/>
          </a:xfrm>
          <a:prstGeom prst="rect">
            <a:avLst/>
          </a:prstGeom>
          <a:noFill/>
          <a:ln w="9525">
            <a:noFill/>
          </a:ln>
        </p:spPr>
        <p:txBody>
          <a:bodyPr wrap="none" lIns="0" tIns="0" rIns="0" bIns="0">
            <a:spAutoFit/>
          </a:bodyPr>
          <a:p>
            <a:r>
              <a:rPr lang="en-US" altLang="en-US" sz="1800" dirty="0">
                <a:solidFill>
                  <a:schemeClr val="tx2"/>
                </a:solidFill>
                <a:latin typeface="Arial" panose="020B0604020202020204" pitchFamily="34" charset="0"/>
              </a:rPr>
              <a:t>Estimation</a:t>
            </a:r>
            <a:endParaRPr lang="en-US" altLang="en-US" sz="1800" dirty="0">
              <a:solidFill>
                <a:schemeClr val="tx2"/>
              </a:solidFill>
              <a:latin typeface="Arial" panose="020B0604020202020204" pitchFamily="34" charset="0"/>
            </a:endParaRPr>
          </a:p>
          <a:p>
            <a:r>
              <a:rPr lang="en-US" altLang="en-US" sz="1800" dirty="0">
                <a:solidFill>
                  <a:schemeClr val="tx2"/>
                </a:solidFill>
                <a:latin typeface="Arial" panose="020B0604020202020204" pitchFamily="34" charset="0"/>
              </a:rPr>
              <a:t>error</a:t>
            </a:r>
            <a:endParaRPr lang="en-US" altLang="en-US" sz="1800" dirty="0">
              <a:solidFill>
                <a:schemeClr val="tx2"/>
              </a:solidFill>
              <a:latin typeface="Arial" panose="020B0604020202020204" pitchFamily="34" charset="0"/>
            </a:endParaRPr>
          </a:p>
        </p:txBody>
      </p:sp>
      <p:sp>
        <p:nvSpPr>
          <p:cNvPr id="43015" name="Line 7"/>
          <p:cNvSpPr/>
          <p:nvPr/>
        </p:nvSpPr>
        <p:spPr>
          <a:xfrm>
            <a:off x="5900738" y="4799013"/>
            <a:ext cx="0" cy="136525"/>
          </a:xfrm>
          <a:prstGeom prst="line">
            <a:avLst/>
          </a:prstGeom>
          <a:ln w="19050" cap="flat" cmpd="sng">
            <a:solidFill>
              <a:schemeClr val="tx1"/>
            </a:solidFill>
            <a:prstDash val="solid"/>
            <a:headEnd type="none" w="med" len="med"/>
            <a:tailEnd type="none" w="med" len="med"/>
          </a:ln>
        </p:spPr>
      </p:sp>
      <p:sp>
        <p:nvSpPr>
          <p:cNvPr id="43016" name="Text Box 8"/>
          <p:cNvSpPr txBox="1"/>
          <p:nvPr/>
        </p:nvSpPr>
        <p:spPr>
          <a:xfrm>
            <a:off x="5322888" y="4989513"/>
            <a:ext cx="1155700" cy="274637"/>
          </a:xfrm>
          <a:prstGeom prst="rect">
            <a:avLst/>
          </a:prstGeom>
          <a:noFill/>
          <a:ln w="9525">
            <a:noFill/>
          </a:ln>
        </p:spPr>
        <p:txBody>
          <a:bodyPr wrap="none" lIns="0" tIns="0" rIns="0" bIns="0">
            <a:spAutoFit/>
          </a:bodyPr>
          <a:p>
            <a:pPr algn="ctr"/>
            <a:r>
              <a:rPr lang="en-US" altLang="en-US" sz="1800" b="0" dirty="0">
                <a:solidFill>
                  <a:schemeClr val="tx2"/>
                </a:solidFill>
                <a:latin typeface="Arial" panose="020B0604020202020204" pitchFamily="34" charset="0"/>
              </a:rPr>
              <a:t>Completion</a:t>
            </a:r>
            <a:endParaRPr lang="en-US" altLang="en-US" sz="1800" b="0" dirty="0">
              <a:solidFill>
                <a:schemeClr val="tx2"/>
              </a:solidFill>
              <a:latin typeface="Arial" panose="020B0604020202020204" pitchFamily="34" charset="0"/>
            </a:endParaRPr>
          </a:p>
        </p:txBody>
      </p:sp>
      <p:sp>
        <p:nvSpPr>
          <p:cNvPr id="43017" name="Text Box 9"/>
          <p:cNvSpPr txBox="1"/>
          <p:nvPr/>
        </p:nvSpPr>
        <p:spPr>
          <a:xfrm>
            <a:off x="1204913" y="4989513"/>
            <a:ext cx="482600" cy="274637"/>
          </a:xfrm>
          <a:prstGeom prst="rect">
            <a:avLst/>
          </a:prstGeom>
          <a:noFill/>
          <a:ln w="9525">
            <a:noFill/>
          </a:ln>
        </p:spPr>
        <p:txBody>
          <a:bodyPr wrap="none" lIns="0" tIns="0" rIns="0" bIns="0">
            <a:spAutoFit/>
          </a:bodyPr>
          <a:p>
            <a:pPr algn="ctr"/>
            <a:r>
              <a:rPr lang="en-US" altLang="en-US" sz="1800" b="0" dirty="0">
                <a:solidFill>
                  <a:schemeClr val="tx2"/>
                </a:solidFill>
                <a:latin typeface="Arial" panose="020B0604020202020204" pitchFamily="34" charset="0"/>
              </a:rPr>
              <a:t>Start</a:t>
            </a:r>
            <a:endParaRPr lang="en-US" altLang="en-US" sz="1800" b="0" dirty="0">
              <a:solidFill>
                <a:schemeClr val="tx2"/>
              </a:solidFill>
              <a:latin typeface="Arial" panose="020B0604020202020204" pitchFamily="34" charset="0"/>
            </a:endParaRPr>
          </a:p>
        </p:txBody>
      </p:sp>
      <p:sp>
        <p:nvSpPr>
          <p:cNvPr id="43018" name="Freeform 10"/>
          <p:cNvSpPr/>
          <p:nvPr/>
        </p:nvSpPr>
        <p:spPr>
          <a:xfrm>
            <a:off x="1433513" y="2609850"/>
            <a:ext cx="4467225" cy="2251075"/>
          </a:xfrm>
          <a:custGeom>
            <a:avLst/>
            <a:gdLst>
              <a:gd name="txL" fmla="*/ 0 w 2814"/>
              <a:gd name="txT" fmla="*/ 0 h 1418"/>
              <a:gd name="txR" fmla="*/ 2814 w 2814"/>
              <a:gd name="txB" fmla="*/ 1418 h 1418"/>
            </a:gdLst>
            <a:ahLst/>
            <a:cxnLst>
              <a:cxn ang="0">
                <a:pos x="0" y="0"/>
              </a:cxn>
              <a:cxn ang="0">
                <a:pos x="2147483647" y="2147483647"/>
              </a:cxn>
            </a:cxnLst>
            <a:rect l="txL" t="txT" r="txR" b="txB"/>
            <a:pathLst>
              <a:path w="2814" h="1418">
                <a:moveTo>
                  <a:pt x="0" y="0"/>
                </a:moveTo>
                <a:cubicBezTo>
                  <a:pt x="604" y="803"/>
                  <a:pt x="1822" y="1391"/>
                  <a:pt x="2814" y="1418"/>
                </a:cubicBezTo>
              </a:path>
            </a:pathLst>
          </a:custGeom>
          <a:noFill/>
          <a:ln w="57150" cap="flat" cmpd="sng">
            <a:solidFill>
              <a:schemeClr val="accent2">
                <a:alpha val="100000"/>
              </a:schemeClr>
            </a:solidFill>
            <a:prstDash val="solid"/>
            <a:round/>
            <a:headEnd type="none" w="med" len="med"/>
            <a:tailEnd type="none" w="med" len="med"/>
          </a:ln>
        </p:spPr>
        <p:txBody>
          <a:bodyPr/>
          <a:p>
            <a:endParaRPr lang="zh-CN" altLang="en-US"/>
          </a:p>
        </p:txBody>
      </p:sp>
      <p:sp>
        <p:nvSpPr>
          <p:cNvPr id="43019" name="Text Box 11"/>
          <p:cNvSpPr txBox="1"/>
          <p:nvPr/>
        </p:nvSpPr>
        <p:spPr>
          <a:xfrm>
            <a:off x="1316038" y="6013450"/>
            <a:ext cx="6280150" cy="554038"/>
          </a:xfrm>
          <a:prstGeom prst="rect">
            <a:avLst/>
          </a:prstGeom>
          <a:noFill/>
          <a:ln w="9525">
            <a:noFill/>
          </a:ln>
        </p:spPr>
        <p:txBody>
          <a:bodyPr lIns="0" tIns="0" rIns="0" bIns="0">
            <a:spAutoFit/>
          </a:bodyPr>
          <a:p>
            <a:r>
              <a:rPr lang="en-US" altLang="en-US" sz="1800" b="0" dirty="0">
                <a:solidFill>
                  <a:schemeClr val="tx2"/>
                </a:solidFill>
                <a:latin typeface="Arial" panose="020B0604020202020204" pitchFamily="34" charset="0"/>
              </a:rPr>
              <a:t>Waterfall method </a:t>
            </a:r>
            <a:r>
              <a:rPr lang="en-US" altLang="en-US" sz="1800" b="0" i="1" dirty="0">
                <a:solidFill>
                  <a:schemeClr val="tx2"/>
                </a:solidFill>
                <a:latin typeface="Arial" panose="020B0604020202020204" pitchFamily="34" charset="0"/>
              </a:rPr>
              <a:t>cone of uncertainty</a:t>
            </a:r>
            <a:r>
              <a:rPr lang="en-US" altLang="en-US" sz="1800" b="0" dirty="0">
                <a:solidFill>
                  <a:schemeClr val="tx2"/>
                </a:solidFill>
                <a:latin typeface="Arial" panose="020B0604020202020204" pitchFamily="34" charset="0"/>
              </a:rPr>
              <a:t> starts high and </a:t>
            </a:r>
            <a:r>
              <a:rPr lang="en-US" altLang="en-US" sz="1800" b="0" i="1" dirty="0">
                <a:solidFill>
                  <a:schemeClr val="tx2"/>
                </a:solidFill>
                <a:latin typeface="Arial" panose="020B0604020202020204" pitchFamily="34" charset="0"/>
              </a:rPr>
              <a:t>gradually</a:t>
            </a:r>
            <a:r>
              <a:rPr lang="en-US" altLang="en-US" sz="1800" b="0" dirty="0">
                <a:solidFill>
                  <a:schemeClr val="tx2"/>
                </a:solidFill>
                <a:latin typeface="Arial" panose="020B0604020202020204" pitchFamily="34" charset="0"/>
              </a:rPr>
              <a:t> converges to zero as the project approaches completion.</a:t>
            </a:r>
            <a:endParaRPr lang="en-US" altLang="en-US" sz="1800" b="0" dirty="0">
              <a:solidFill>
                <a:schemeClr val="tx2"/>
              </a:solidFill>
              <a:latin typeface="Arial" panose="020B0604020202020204" pitchFamily="34" charset="0"/>
            </a:endParaRPr>
          </a:p>
        </p:txBody>
      </p:sp>
      <p:sp>
        <p:nvSpPr>
          <p:cNvPr id="43020" name="Text Box 12"/>
          <p:cNvSpPr txBox="1"/>
          <p:nvPr/>
        </p:nvSpPr>
        <p:spPr>
          <a:xfrm>
            <a:off x="1630363" y="4560888"/>
            <a:ext cx="1103312" cy="212725"/>
          </a:xfrm>
          <a:prstGeom prst="rect">
            <a:avLst/>
          </a:prstGeom>
          <a:noFill/>
          <a:ln w="9525">
            <a:noFill/>
          </a:ln>
        </p:spPr>
        <p:txBody>
          <a:bodyPr wrap="none" lIns="0" tIns="0" rIns="0" bIns="0">
            <a:spAutoFit/>
          </a:bodyPr>
          <a:p>
            <a:r>
              <a:rPr lang="en-US" altLang="en-US" sz="1400" b="0" dirty="0">
                <a:solidFill>
                  <a:schemeClr val="tx2"/>
                </a:solidFill>
                <a:latin typeface="Arial" panose="020B0604020202020204" pitchFamily="34" charset="0"/>
              </a:rPr>
              <a:t>Requirements</a:t>
            </a:r>
            <a:endParaRPr lang="en-US" altLang="en-US" sz="1400" b="0" dirty="0">
              <a:solidFill>
                <a:schemeClr val="tx2"/>
              </a:solidFill>
              <a:latin typeface="Arial" panose="020B0604020202020204" pitchFamily="34" charset="0"/>
            </a:endParaRPr>
          </a:p>
        </p:txBody>
      </p:sp>
      <p:sp>
        <p:nvSpPr>
          <p:cNvPr id="43021" name="Text Box 13"/>
          <p:cNvSpPr txBox="1"/>
          <p:nvPr/>
        </p:nvSpPr>
        <p:spPr>
          <a:xfrm>
            <a:off x="3079750" y="4560888"/>
            <a:ext cx="552450" cy="212725"/>
          </a:xfrm>
          <a:prstGeom prst="rect">
            <a:avLst/>
          </a:prstGeom>
          <a:noFill/>
          <a:ln w="9525">
            <a:noFill/>
          </a:ln>
        </p:spPr>
        <p:txBody>
          <a:bodyPr wrap="none" lIns="0" tIns="0" rIns="0" bIns="0">
            <a:spAutoFit/>
          </a:bodyPr>
          <a:p>
            <a:r>
              <a:rPr lang="en-US" altLang="en-US" sz="1400" b="0" dirty="0">
                <a:solidFill>
                  <a:schemeClr val="tx2"/>
                </a:solidFill>
                <a:latin typeface="Arial" panose="020B0604020202020204" pitchFamily="34" charset="0"/>
              </a:rPr>
              <a:t>Design</a:t>
            </a:r>
            <a:endParaRPr lang="en-US" altLang="en-US" sz="1400" b="0" dirty="0">
              <a:solidFill>
                <a:schemeClr val="tx2"/>
              </a:solidFill>
              <a:latin typeface="Arial" panose="020B0604020202020204" pitchFamily="34" charset="0"/>
            </a:endParaRPr>
          </a:p>
        </p:txBody>
      </p:sp>
      <p:sp>
        <p:nvSpPr>
          <p:cNvPr id="404494" name="Text Box 14"/>
          <p:cNvSpPr txBox="1">
            <a:spLocks noChangeArrowheads="1"/>
          </p:cNvSpPr>
          <p:nvPr/>
        </p:nvSpPr>
        <p:spPr bwMode="auto">
          <a:xfrm>
            <a:off x="3973513" y="4560888"/>
            <a:ext cx="1211263" cy="212725"/>
          </a:xfrm>
          <a:prstGeom prst="rect">
            <a:avLst/>
          </a:prstGeom>
          <a:noFill/>
          <a:ln>
            <a:noFill/>
          </a:ln>
          <a:effectLst/>
        </p:spPr>
        <p:txBody>
          <a:bodyPr wrap="none" lIns="0" tIns="0" rIns="0" bIns="0">
            <a:spAutoFit/>
          </a:bodyPr>
          <a:lstStyle/>
          <a:p>
            <a:pPr marR="0" defTabSz="914400">
              <a:buClrTx/>
              <a:buSzTx/>
              <a:buFontTx/>
              <a:buNone/>
              <a:defRPr/>
            </a:pPr>
            <a:r>
              <a:rPr kumimoji="0" lang="en-US" sz="1400"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mn-ea"/>
                <a:cs typeface="+mn-cs"/>
              </a:rPr>
              <a:t>Implementation</a:t>
            </a:r>
            <a:endParaRPr kumimoji="0" lang="en-US" sz="1400"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mn-ea"/>
              <a:cs typeface="+mn-cs"/>
            </a:endParaRPr>
          </a:p>
        </p:txBody>
      </p:sp>
      <p:sp>
        <p:nvSpPr>
          <p:cNvPr id="43023" name="Text Box 11"/>
          <p:cNvSpPr txBox="1"/>
          <p:nvPr/>
        </p:nvSpPr>
        <p:spPr>
          <a:xfrm>
            <a:off x="4633913" y="2044700"/>
            <a:ext cx="2705100" cy="430213"/>
          </a:xfrm>
          <a:prstGeom prst="rect">
            <a:avLst/>
          </a:prstGeom>
          <a:noFill/>
          <a:ln w="9525">
            <a:noFill/>
          </a:ln>
        </p:spPr>
        <p:txBody>
          <a:bodyPr wrap="none" lIns="0" tIns="0" rIns="0" bIns="0">
            <a:spAutoFit/>
          </a:bodyPr>
          <a:p>
            <a:r>
              <a:rPr lang="en-US" altLang="en-US" sz="2800" b="0" dirty="0">
                <a:solidFill>
                  <a:schemeClr val="tx2"/>
                </a:solidFill>
                <a:latin typeface="Arial" panose="020B0604020202020204" pitchFamily="34" charset="0"/>
              </a:rPr>
              <a:t>Waterfall Method</a:t>
            </a:r>
            <a:endParaRPr lang="en-US" altLang="en-US" sz="2800" b="0" dirty="0">
              <a:solidFill>
                <a:schemeClr val="tx2"/>
              </a:solidFill>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p:txBody>
          <a:bodyPr vert="horz" wrap="square" lIns="0" tIns="45720" rIns="0" bIns="45720" anchor="ctr" anchorCtr="0"/>
          <a:p>
            <a:r>
              <a:rPr lang="en-US" altLang="en-US" dirty="0"/>
              <a:t>Estimation Error Over Time</a:t>
            </a:r>
            <a:endParaRPr lang="en-US" altLang="en-US" dirty="0"/>
          </a:p>
        </p:txBody>
      </p:sp>
      <p:sp>
        <p:nvSpPr>
          <p:cNvPr id="44035" name="Text Box 11"/>
          <p:cNvSpPr txBox="1"/>
          <p:nvPr/>
        </p:nvSpPr>
        <p:spPr>
          <a:xfrm>
            <a:off x="1316038" y="6013450"/>
            <a:ext cx="6280150" cy="549275"/>
          </a:xfrm>
          <a:prstGeom prst="rect">
            <a:avLst/>
          </a:prstGeom>
          <a:noFill/>
          <a:ln w="9525">
            <a:noFill/>
          </a:ln>
        </p:spPr>
        <p:txBody>
          <a:bodyPr lIns="0" tIns="0" rIns="0" bIns="0">
            <a:spAutoFit/>
          </a:bodyPr>
          <a:p>
            <a:r>
              <a:rPr lang="en-US" altLang="en-US" sz="1800" b="0" dirty="0">
                <a:solidFill>
                  <a:schemeClr val="tx2"/>
                </a:solidFill>
                <a:latin typeface="Arial" panose="020B0604020202020204" pitchFamily="34" charset="0"/>
              </a:rPr>
              <a:t>Agile method </a:t>
            </a:r>
            <a:r>
              <a:rPr lang="en-US" altLang="en-US" sz="1800" b="0" i="1" dirty="0">
                <a:solidFill>
                  <a:schemeClr val="tx2"/>
                </a:solidFill>
                <a:latin typeface="Arial" panose="020B0604020202020204" pitchFamily="34" charset="0"/>
              </a:rPr>
              <a:t>cone of uncertainty</a:t>
            </a:r>
            <a:r>
              <a:rPr lang="en-US" altLang="en-US" sz="1800" b="0" dirty="0">
                <a:solidFill>
                  <a:schemeClr val="tx2"/>
                </a:solidFill>
                <a:latin typeface="Arial" panose="020B0604020202020204" pitchFamily="34" charset="0"/>
              </a:rPr>
              <a:t> starts high and </a:t>
            </a:r>
            <a:r>
              <a:rPr lang="en-US" altLang="en-US" sz="1800" b="0" i="1" dirty="0">
                <a:solidFill>
                  <a:schemeClr val="tx2"/>
                </a:solidFill>
                <a:latin typeface="Arial" panose="020B0604020202020204" pitchFamily="34" charset="0"/>
              </a:rPr>
              <a:t>in leaps </a:t>
            </a:r>
            <a:r>
              <a:rPr lang="en-US" altLang="en-US" sz="1800" b="0" dirty="0">
                <a:solidFill>
                  <a:schemeClr val="tx2"/>
                </a:solidFill>
                <a:latin typeface="Arial" panose="020B0604020202020204" pitchFamily="34" charset="0"/>
              </a:rPr>
              <a:t>converges to zero as the project approaches completion.</a:t>
            </a:r>
            <a:endParaRPr lang="en-US" altLang="en-US" sz="1800" b="0" dirty="0">
              <a:solidFill>
                <a:schemeClr val="tx2"/>
              </a:solidFill>
              <a:latin typeface="Arial" panose="020B0604020202020204" pitchFamily="34" charset="0"/>
            </a:endParaRPr>
          </a:p>
        </p:txBody>
      </p:sp>
      <p:pic>
        <p:nvPicPr>
          <p:cNvPr id="44036" name="Picture 1"/>
          <p:cNvPicPr>
            <a:picLocks noChangeAspect="1"/>
          </p:cNvPicPr>
          <p:nvPr/>
        </p:nvPicPr>
        <p:blipFill>
          <a:blip r:embed="rId1"/>
          <a:stretch>
            <a:fillRect/>
          </a:stretch>
        </p:blipFill>
        <p:spPr>
          <a:xfrm>
            <a:off x="1071563" y="1851025"/>
            <a:ext cx="6940550" cy="4137025"/>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1"/>
          <p:cNvSpPr>
            <a:spLocks noGrp="1"/>
          </p:cNvSpPr>
          <p:nvPr>
            <p:ph type="title"/>
          </p:nvPr>
        </p:nvSpPr>
        <p:spPr/>
        <p:txBody>
          <a:bodyPr vert="horz" wrap="square" lIns="0" tIns="45720" rIns="0" bIns="45720" anchor="ctr" anchorCtr="0"/>
          <a:p>
            <a:r>
              <a:rPr lang="en-US" altLang="en-US" dirty="0"/>
              <a:t>Agile Project Effort Estimation</a:t>
            </a:r>
            <a:endParaRPr lang="en-US" altLang="en-US" dirty="0"/>
          </a:p>
        </p:txBody>
      </p:sp>
      <p:sp>
        <p:nvSpPr>
          <p:cNvPr id="45059"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pic>
        <p:nvPicPr>
          <p:cNvPr id="45060" name="Picture 2"/>
          <p:cNvPicPr>
            <a:picLocks noChangeAspect="1"/>
          </p:cNvPicPr>
          <p:nvPr/>
        </p:nvPicPr>
        <p:blipFill>
          <a:blip r:embed="rId1"/>
          <a:stretch>
            <a:fillRect/>
          </a:stretch>
        </p:blipFill>
        <p:spPr>
          <a:xfrm>
            <a:off x="717550" y="1522413"/>
            <a:ext cx="7808913" cy="5084762"/>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539"/>
          <p:cNvPicPr>
            <a:picLocks noChangeAspect="1"/>
          </p:cNvPicPr>
          <p:nvPr/>
        </p:nvPicPr>
        <p:blipFill>
          <a:blip r:embed="rId1"/>
          <a:stretch>
            <a:fillRect/>
          </a:stretch>
        </p:blipFill>
        <p:spPr>
          <a:xfrm>
            <a:off x="206375" y="1538288"/>
            <a:ext cx="3244850" cy="2733675"/>
          </a:xfrm>
          <a:prstGeom prst="rect">
            <a:avLst/>
          </a:prstGeom>
          <a:noFill/>
          <a:ln w="9525">
            <a:noFill/>
          </a:ln>
        </p:spPr>
      </p:pic>
      <p:pic>
        <p:nvPicPr>
          <p:cNvPr id="46083" name="Picture 540"/>
          <p:cNvPicPr>
            <a:picLocks noChangeAspect="1"/>
          </p:cNvPicPr>
          <p:nvPr/>
        </p:nvPicPr>
        <p:blipFill>
          <a:blip r:embed="rId2"/>
          <a:stretch>
            <a:fillRect/>
          </a:stretch>
        </p:blipFill>
        <p:spPr>
          <a:xfrm>
            <a:off x="4565650" y="1222375"/>
            <a:ext cx="4057650" cy="3586163"/>
          </a:xfrm>
          <a:prstGeom prst="rect">
            <a:avLst/>
          </a:prstGeom>
          <a:noFill/>
          <a:ln w="9525">
            <a:noFill/>
          </a:ln>
        </p:spPr>
      </p:pic>
      <p:pic>
        <p:nvPicPr>
          <p:cNvPr id="46084" name="Picture 541"/>
          <p:cNvPicPr>
            <a:picLocks noChangeAspect="1"/>
          </p:cNvPicPr>
          <p:nvPr/>
        </p:nvPicPr>
        <p:blipFill>
          <a:blip r:embed="rId3"/>
          <a:stretch>
            <a:fillRect/>
          </a:stretch>
        </p:blipFill>
        <p:spPr>
          <a:xfrm>
            <a:off x="614363" y="4632325"/>
            <a:ext cx="7885112" cy="1858963"/>
          </a:xfrm>
          <a:prstGeom prst="rect">
            <a:avLst/>
          </a:prstGeom>
          <a:noFill/>
          <a:ln w="9525">
            <a:noFill/>
          </a:ln>
        </p:spPr>
      </p:pic>
      <p:sp>
        <p:nvSpPr>
          <p:cNvPr id="46085" name="Rectangle 542"/>
          <p:cNvSpPr>
            <a:spLocks noGrp="1"/>
          </p:cNvSpPr>
          <p:nvPr>
            <p:ph type="title"/>
          </p:nvPr>
        </p:nvSpPr>
        <p:spPr/>
        <p:txBody>
          <a:bodyPr vert="horz" wrap="square" lIns="0" tIns="45720" rIns="0" bIns="45720" anchor="ctr" anchorCtr="0"/>
          <a:p>
            <a:pPr eaLnBrk="1" hangingPunct="1"/>
            <a:r>
              <a:rPr lang="en-US" altLang="en-US" dirty="0"/>
              <a:t>Measuring Quality of Work</a:t>
            </a:r>
            <a:endParaRPr lang="en-US" altLang="en-US" dirty="0"/>
          </a:p>
        </p:txBody>
      </p:sp>
      <p:sp>
        <p:nvSpPr>
          <p:cNvPr id="46086"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AutoShape 78"/>
          <p:cNvSpPr>
            <a:spLocks noChangeAspect="1"/>
          </p:cNvSpPr>
          <p:nvPr/>
        </p:nvSpPr>
        <p:spPr>
          <a:xfrm rot="5400000" flipV="1">
            <a:off x="1790700" y="2398713"/>
            <a:ext cx="666750" cy="661987"/>
          </a:xfrm>
          <a:prstGeom prst="rightArrow">
            <a:avLst>
              <a:gd name="adj1" fmla="val 49675"/>
              <a:gd name="adj2" fmla="val 50033"/>
            </a:avLst>
          </a:prstGeom>
          <a:solidFill>
            <a:schemeClr val="folHlink"/>
          </a:solidFill>
          <a:ln w="3175" cap="flat" cmpd="sng">
            <a:solidFill>
              <a:schemeClr val="folHlink"/>
            </a:solidFill>
            <a:prstDash val="solid"/>
            <a:miter/>
            <a:headEnd type="none" w="med" len="med"/>
            <a:tailEnd type="none" w="med" len="med"/>
          </a:ln>
        </p:spPr>
        <p:txBody>
          <a:bodyPr wrap="none" anchor="ctr" anchorCtr="0"/>
          <a:p>
            <a:endParaRPr lang="en-US" altLang="en-US" dirty="0">
              <a:latin typeface="Arial" panose="020B0604020202020204" pitchFamily="34" charset="0"/>
            </a:endParaRPr>
          </a:p>
        </p:txBody>
      </p:sp>
      <p:sp>
        <p:nvSpPr>
          <p:cNvPr id="47107" name="Rectangle 4"/>
          <p:cNvSpPr>
            <a:spLocks noGrp="1"/>
          </p:cNvSpPr>
          <p:nvPr>
            <p:ph type="title"/>
          </p:nvPr>
        </p:nvSpPr>
        <p:spPr/>
        <p:txBody>
          <a:bodyPr vert="horz" wrap="square" lIns="0" tIns="45720" rIns="0" bIns="45720" anchor="ctr" anchorCtr="0"/>
          <a:p>
            <a:pPr eaLnBrk="1" hangingPunct="1"/>
            <a:r>
              <a:rPr lang="en-US" altLang="en-US" dirty="0"/>
              <a:t>Concept Maps</a:t>
            </a:r>
            <a:endParaRPr lang="en-US" altLang="en-US" dirty="0"/>
          </a:p>
        </p:txBody>
      </p:sp>
      <p:graphicFrame>
        <p:nvGraphicFramePr>
          <p:cNvPr id="47108" name="表格占位符 47107"/>
          <p:cNvGraphicFramePr/>
          <p:nvPr>
            <p:ph type="tbl" idx="1"/>
          </p:nvPr>
        </p:nvGraphicFramePr>
        <p:xfrm>
          <a:off x="250825" y="3128963"/>
          <a:ext cx="4722813" cy="2000250"/>
        </p:xfrm>
        <a:graphic>
          <a:graphicData uri="http://schemas.openxmlformats.org/drawingml/2006/table">
            <a:tbl>
              <a:tblPr/>
              <a:tblGrid>
                <a:gridCol w="1238250"/>
                <a:gridCol w="1038225"/>
                <a:gridCol w="1409700"/>
                <a:gridCol w="1036638"/>
              </a:tblGrid>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Proposition</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Concept</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Relation</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Concept</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1.</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I</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have</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friend</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2.</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friend</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engages in</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coding</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3.</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coding</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constructs a</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program</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4.</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program</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is</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new</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7140" name="Text Box 76"/>
          <p:cNvSpPr txBox="1"/>
          <p:nvPr/>
        </p:nvSpPr>
        <p:spPr>
          <a:xfrm>
            <a:off x="161925" y="2073275"/>
            <a:ext cx="5403850" cy="274638"/>
          </a:xfrm>
          <a:prstGeom prst="rect">
            <a:avLst/>
          </a:prstGeom>
          <a:noFill/>
          <a:ln w="9525">
            <a:noFill/>
          </a:ln>
        </p:spPr>
        <p:txBody>
          <a:bodyPr wrap="none" lIns="9144" tIns="0" rIns="9144" bIns="0">
            <a:spAutoFit/>
          </a:bodyPr>
          <a:p>
            <a:r>
              <a:rPr lang="en-US" altLang="en-US" sz="1800" dirty="0">
                <a:latin typeface="Arial" panose="020B0604020202020204" pitchFamily="34" charset="0"/>
              </a:rPr>
              <a:t>SENTENCE: “My friend is coding a new program”</a:t>
            </a:r>
            <a:endParaRPr lang="en-US" altLang="en-US" sz="1800" dirty="0">
              <a:latin typeface="Arial" panose="020B0604020202020204" pitchFamily="34" charset="0"/>
            </a:endParaRPr>
          </a:p>
        </p:txBody>
      </p:sp>
      <p:sp>
        <p:nvSpPr>
          <p:cNvPr id="47141" name="Text Box 77"/>
          <p:cNvSpPr txBox="1"/>
          <p:nvPr/>
        </p:nvSpPr>
        <p:spPr>
          <a:xfrm>
            <a:off x="769938" y="2468563"/>
            <a:ext cx="2708275" cy="244475"/>
          </a:xfrm>
          <a:prstGeom prst="rect">
            <a:avLst/>
          </a:prstGeom>
          <a:noFill/>
          <a:ln w="9525">
            <a:noFill/>
          </a:ln>
        </p:spPr>
        <p:txBody>
          <a:bodyPr wrap="none" lIns="9144" tIns="0" rIns="9144" bIns="0">
            <a:spAutoFit/>
          </a:bodyPr>
          <a:p>
            <a:pPr algn="ctr"/>
            <a:r>
              <a:rPr lang="en-US" altLang="en-US" sz="1600" dirty="0">
                <a:solidFill>
                  <a:srgbClr val="009900"/>
                </a:solidFill>
                <a:latin typeface="Arial" panose="020B0604020202020204" pitchFamily="34" charset="0"/>
              </a:rPr>
              <a:t>translated into propositions</a:t>
            </a:r>
            <a:endParaRPr lang="en-US" altLang="en-US" sz="1600" dirty="0">
              <a:solidFill>
                <a:srgbClr val="009900"/>
              </a:solidFill>
              <a:latin typeface="Arial" panose="020B0604020202020204" pitchFamily="34" charset="0"/>
            </a:endParaRPr>
          </a:p>
        </p:txBody>
      </p:sp>
      <p:grpSp>
        <p:nvGrpSpPr>
          <p:cNvPr id="47142" name="Group 79"/>
          <p:cNvGrpSpPr/>
          <p:nvPr/>
        </p:nvGrpSpPr>
        <p:grpSpPr>
          <a:xfrm>
            <a:off x="1190625" y="6148388"/>
            <a:ext cx="2584450" cy="268287"/>
            <a:chOff x="2572" y="1720"/>
            <a:chExt cx="1628" cy="169"/>
          </a:xfrm>
        </p:grpSpPr>
        <p:sp>
          <p:nvSpPr>
            <p:cNvPr id="47146" name="Text Box 80"/>
            <p:cNvSpPr txBox="1">
              <a:spLocks noChangeAspect="1"/>
            </p:cNvSpPr>
            <p:nvPr/>
          </p:nvSpPr>
          <p:spPr>
            <a:xfrm>
              <a:off x="2717" y="1720"/>
              <a:ext cx="1483" cy="116"/>
            </a:xfrm>
            <a:prstGeom prst="rect">
              <a:avLst/>
            </a:prstGeom>
            <a:noFill/>
            <a:ln w="9525">
              <a:noFill/>
            </a:ln>
          </p:spPr>
          <p:txBody>
            <a:bodyPr wrap="none" lIns="0" tIns="0" rIns="0" bIns="0">
              <a:spAutoFit/>
            </a:bodyPr>
            <a:p>
              <a:r>
                <a:rPr lang="en-US" altLang="en-US" sz="1200" b="0" dirty="0">
                  <a:latin typeface="Arial" panose="020B0604020202020204" pitchFamily="34" charset="0"/>
                </a:rPr>
                <a:t>Search the Web for Concept Maps</a:t>
              </a:r>
              <a:endParaRPr lang="en-US" altLang="en-US" sz="1200" b="0" dirty="0">
                <a:latin typeface="Arial" panose="020B0604020202020204" pitchFamily="34" charset="0"/>
              </a:endParaRPr>
            </a:p>
          </p:txBody>
        </p:sp>
        <p:grpSp>
          <p:nvGrpSpPr>
            <p:cNvPr id="47147" name="Group 81"/>
            <p:cNvGrpSpPr>
              <a:grpSpLocks noChangeAspect="1"/>
            </p:cNvGrpSpPr>
            <p:nvPr/>
          </p:nvGrpSpPr>
          <p:grpSpPr>
            <a:xfrm>
              <a:off x="2572" y="1720"/>
              <a:ext cx="104" cy="169"/>
              <a:chOff x="2668" y="1817"/>
              <a:chExt cx="205" cy="331"/>
            </a:xfrm>
          </p:grpSpPr>
          <p:sp>
            <p:nvSpPr>
              <p:cNvPr id="47148" name="AutoShape 82"/>
              <p:cNvSpPr>
                <a:spLocks noChangeAspect="1"/>
              </p:cNvSpPr>
              <p:nvPr/>
            </p:nvSpPr>
            <p:spPr>
              <a:xfrm rot="-4029181">
                <a:off x="2611" y="1961"/>
                <a:ext cx="244" cy="130"/>
              </a:xfrm>
              <a:prstGeom prst="rightArrow">
                <a:avLst>
                  <a:gd name="adj1" fmla="val 25601"/>
                  <a:gd name="adj2" fmla="val 125119"/>
                </a:avLst>
              </a:prstGeom>
              <a:solidFill>
                <a:schemeClr val="bg1"/>
              </a:solidFill>
              <a:ln w="9525" cap="flat" cmpd="sng">
                <a:solidFill>
                  <a:schemeClr val="tx1"/>
                </a:solidFill>
                <a:prstDash val="solid"/>
                <a:miter/>
                <a:headEnd type="none" w="med" len="med"/>
                <a:tailEnd type="none" w="med" len="med"/>
              </a:ln>
            </p:spPr>
            <p:txBody>
              <a:bodyPr wrap="none" anchor="ctr" anchorCtr="0"/>
              <a:p>
                <a:endParaRPr lang="en-US" altLang="en-US" sz="1200" dirty="0">
                  <a:latin typeface="Arial" panose="020B0604020202020204" pitchFamily="34" charset="0"/>
                </a:endParaRPr>
              </a:p>
            </p:txBody>
          </p:sp>
          <p:sp>
            <p:nvSpPr>
              <p:cNvPr id="47149" name="Freeform 83"/>
              <p:cNvSpPr>
                <a:spLocks noChangeAspect="1"/>
              </p:cNvSpPr>
              <p:nvPr/>
            </p:nvSpPr>
            <p:spPr>
              <a:xfrm>
                <a:off x="2719" y="1843"/>
                <a:ext cx="42" cy="41"/>
              </a:xfrm>
              <a:custGeom>
                <a:avLst/>
                <a:gdLst>
                  <a:gd name="txL" fmla="*/ 0 w 207"/>
                  <a:gd name="txT" fmla="*/ 0 h 207"/>
                  <a:gd name="txR" fmla="*/ 207 w 207"/>
                  <a:gd name="txB" fmla="*/ 207 h 207"/>
                </a:gdLst>
                <a:ahLst/>
                <a:cxnLst>
                  <a:cxn ang="0">
                    <a:pos x="0" y="0"/>
                  </a:cxn>
                  <a:cxn ang="0">
                    <a:pos x="0" y="0"/>
                  </a:cxn>
                </a:cxnLst>
                <a:rect l="txL" t="txT" r="txR" b="txB"/>
                <a:pathLst>
                  <a:path w="207" h="207">
                    <a:moveTo>
                      <a:pt x="207" y="207"/>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7150" name="Freeform 84"/>
              <p:cNvSpPr>
                <a:spLocks noChangeAspect="1"/>
              </p:cNvSpPr>
              <p:nvPr/>
            </p:nvSpPr>
            <p:spPr>
              <a:xfrm>
                <a:off x="2814" y="1908"/>
                <a:ext cx="59" cy="0"/>
              </a:xfrm>
              <a:custGeom>
                <a:avLst/>
                <a:gdLst>
                  <a:gd name="txL" fmla="*/ 0 w 293"/>
                  <a:gd name="txT" fmla="*/ 0 h 1"/>
                  <a:gd name="txR" fmla="*/ 293 w 293"/>
                  <a:gd name="txB" fmla="*/ 0 h 1"/>
                </a:gdLst>
                <a:ahLst/>
                <a:cxnLst>
                  <a:cxn ang="0">
                    <a:pos x="0" y="0"/>
                  </a:cxn>
                  <a:cxn ang="0">
                    <a:pos x="0" y="0"/>
                  </a:cxn>
                </a:cxnLst>
                <a:rect l="txL" t="txT" r="txR" b="txB"/>
                <a:pathLst>
                  <a:path w="293" h="1">
                    <a:moveTo>
                      <a:pt x="293" y="0"/>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7151" name="Freeform 85"/>
              <p:cNvSpPr>
                <a:spLocks noChangeAspect="1"/>
              </p:cNvSpPr>
              <p:nvPr/>
            </p:nvSpPr>
            <p:spPr>
              <a:xfrm>
                <a:off x="2806" y="1843"/>
                <a:ext cx="41" cy="41"/>
              </a:xfrm>
              <a:custGeom>
                <a:avLst/>
                <a:gdLst>
                  <a:gd name="txL" fmla="*/ 0 w 207"/>
                  <a:gd name="txT" fmla="*/ 0 h 207"/>
                  <a:gd name="txR" fmla="*/ 207 w 207"/>
                  <a:gd name="txB" fmla="*/ 207 h 207"/>
                </a:gdLst>
                <a:ahLst/>
                <a:cxnLst>
                  <a:cxn ang="0">
                    <a:pos x="0" y="0"/>
                  </a:cxn>
                  <a:cxn ang="0">
                    <a:pos x="0" y="0"/>
                  </a:cxn>
                </a:cxnLst>
                <a:rect l="txL" t="txT" r="txR" b="txB"/>
                <a:pathLst>
                  <a:path w="207" h="207">
                    <a:moveTo>
                      <a:pt x="0" y="207"/>
                    </a:moveTo>
                    <a:lnTo>
                      <a:pt x="207"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7152" name="Freeform 86"/>
              <p:cNvSpPr>
                <a:spLocks noChangeAspect="1"/>
              </p:cNvSpPr>
              <p:nvPr/>
            </p:nvSpPr>
            <p:spPr>
              <a:xfrm>
                <a:off x="2692" y="1908"/>
                <a:ext cx="59" cy="0"/>
              </a:xfrm>
              <a:custGeom>
                <a:avLst/>
                <a:gdLst>
                  <a:gd name="txL" fmla="*/ 0 w 293"/>
                  <a:gd name="txT" fmla="*/ 0 h 1"/>
                  <a:gd name="txR" fmla="*/ 293 w 293"/>
                  <a:gd name="txB" fmla="*/ 0 h 1"/>
                </a:gdLst>
                <a:ahLst/>
                <a:cxnLst>
                  <a:cxn ang="0">
                    <a:pos x="0" y="0"/>
                  </a:cxn>
                  <a:cxn ang="0">
                    <a:pos x="0" y="0"/>
                  </a:cxn>
                </a:cxnLst>
                <a:rect l="txL" t="txT" r="txR" b="txB"/>
                <a:pathLst>
                  <a:path w="293" h="1">
                    <a:moveTo>
                      <a:pt x="0" y="0"/>
                    </a:moveTo>
                    <a:lnTo>
                      <a:pt x="293"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7153" name="Freeform 87"/>
              <p:cNvSpPr>
                <a:spLocks noChangeAspect="1"/>
              </p:cNvSpPr>
              <p:nvPr/>
            </p:nvSpPr>
            <p:spPr>
              <a:xfrm>
                <a:off x="2806" y="1929"/>
                <a:ext cx="39" cy="42"/>
              </a:xfrm>
              <a:custGeom>
                <a:avLst/>
                <a:gdLst>
                  <a:gd name="txL" fmla="*/ 0 w 206"/>
                  <a:gd name="txT" fmla="*/ 0 h 206"/>
                  <a:gd name="txR" fmla="*/ 206 w 206"/>
                  <a:gd name="txB" fmla="*/ 206 h 206"/>
                </a:gdLst>
                <a:ahLst/>
                <a:cxnLst>
                  <a:cxn ang="0">
                    <a:pos x="0" y="0"/>
                  </a:cxn>
                  <a:cxn ang="0">
                    <a:pos x="0" y="0"/>
                  </a:cxn>
                </a:cxnLst>
                <a:rect l="txL" t="txT" r="txR" b="txB"/>
                <a:pathLst>
                  <a:path w="206" h="206">
                    <a:moveTo>
                      <a:pt x="0" y="0"/>
                    </a:moveTo>
                    <a:lnTo>
                      <a:pt x="206" y="206"/>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47154" name="Freeform 88"/>
              <p:cNvSpPr>
                <a:spLocks noChangeAspect="1"/>
              </p:cNvSpPr>
              <p:nvPr/>
            </p:nvSpPr>
            <p:spPr>
              <a:xfrm>
                <a:off x="2782" y="1817"/>
                <a:ext cx="0" cy="57"/>
              </a:xfrm>
              <a:custGeom>
                <a:avLst/>
                <a:gdLst>
                  <a:gd name="txL" fmla="*/ 0 w 1"/>
                  <a:gd name="txT" fmla="*/ 0 h 292"/>
                  <a:gd name="txR" fmla="*/ 0 w 1"/>
                  <a:gd name="txB" fmla="*/ 292 h 292"/>
                </a:gdLst>
                <a:ahLst/>
                <a:cxnLst>
                  <a:cxn ang="0">
                    <a:pos x="0" y="0"/>
                  </a:cxn>
                  <a:cxn ang="0">
                    <a:pos x="0" y="0"/>
                  </a:cxn>
                </a:cxnLst>
                <a:rect l="txL" t="txT" r="txR" b="txB"/>
                <a:pathLst>
                  <a:path w="1" h="292">
                    <a:moveTo>
                      <a:pt x="0" y="0"/>
                    </a:moveTo>
                    <a:lnTo>
                      <a:pt x="0" y="292"/>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pic>
        <p:nvPicPr>
          <p:cNvPr id="47143" name="Picture 89"/>
          <p:cNvPicPr>
            <a:picLocks noChangeAspect="1"/>
          </p:cNvPicPr>
          <p:nvPr/>
        </p:nvPicPr>
        <p:blipFill>
          <a:blip r:embed="rId1"/>
          <a:stretch>
            <a:fillRect/>
          </a:stretch>
        </p:blipFill>
        <p:spPr>
          <a:xfrm>
            <a:off x="5719763" y="2879725"/>
            <a:ext cx="2606675" cy="3590925"/>
          </a:xfrm>
          <a:prstGeom prst="rect">
            <a:avLst/>
          </a:prstGeom>
          <a:noFill/>
          <a:ln w="9525">
            <a:noFill/>
          </a:ln>
        </p:spPr>
      </p:pic>
      <p:sp>
        <p:nvSpPr>
          <p:cNvPr id="47144" name="Slide Number Placeholder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
        <p:nvSpPr>
          <p:cNvPr id="47145" name="Text Box 76"/>
          <p:cNvSpPr txBox="1"/>
          <p:nvPr/>
        </p:nvSpPr>
        <p:spPr>
          <a:xfrm>
            <a:off x="161925" y="1066800"/>
            <a:ext cx="4749800" cy="276225"/>
          </a:xfrm>
          <a:prstGeom prst="rect">
            <a:avLst/>
          </a:prstGeom>
          <a:noFill/>
          <a:ln w="9525">
            <a:noFill/>
          </a:ln>
        </p:spPr>
        <p:txBody>
          <a:bodyPr wrap="none" lIns="9144" tIns="0" rIns="9144" bIns="0">
            <a:spAutoFit/>
          </a:bodyPr>
          <a:p>
            <a:r>
              <a:rPr lang="en-US" altLang="en-US" sz="1800" dirty="0">
                <a:latin typeface="Arial" panose="020B0604020202020204" pitchFamily="34" charset="0"/>
              </a:rPr>
              <a:t>Useful tool for problem domain description</a:t>
            </a:r>
            <a:endParaRPr lang="en-US" altLang="en-US" sz="1800" dirty="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Estimation Error Over Time</a:t>
            </a:r>
            <a:endParaRPr lang="en-US" altLang="zh-CN" dirty="0">
              <a:ea typeface="宋体" panose="02010600030101010101" pitchFamily="2" charset="-122"/>
            </a:endParaRPr>
          </a:p>
        </p:txBody>
      </p:sp>
      <p:sp>
        <p:nvSpPr>
          <p:cNvPr id="48131" name="Line 3"/>
          <p:cNvSpPr/>
          <p:nvPr/>
        </p:nvSpPr>
        <p:spPr>
          <a:xfrm>
            <a:off x="1433513" y="4862513"/>
            <a:ext cx="6399212" cy="0"/>
          </a:xfrm>
          <a:prstGeom prst="line">
            <a:avLst/>
          </a:prstGeom>
          <a:ln w="9525" cap="flat" cmpd="sng">
            <a:solidFill>
              <a:schemeClr val="tx1"/>
            </a:solidFill>
            <a:prstDash val="solid"/>
            <a:headEnd type="none" w="med" len="med"/>
            <a:tailEnd type="triangle" w="lg" len="med"/>
          </a:ln>
        </p:spPr>
      </p:sp>
      <p:sp>
        <p:nvSpPr>
          <p:cNvPr id="48132" name="Line 4"/>
          <p:cNvSpPr/>
          <p:nvPr/>
        </p:nvSpPr>
        <p:spPr>
          <a:xfrm flipH="1" flipV="1">
            <a:off x="1433513" y="2120900"/>
            <a:ext cx="0" cy="2741613"/>
          </a:xfrm>
          <a:prstGeom prst="line">
            <a:avLst/>
          </a:prstGeom>
          <a:ln w="9525" cap="flat" cmpd="sng">
            <a:solidFill>
              <a:schemeClr val="tx1"/>
            </a:solidFill>
            <a:prstDash val="solid"/>
            <a:headEnd type="none" w="med" len="med"/>
            <a:tailEnd type="triangle" w="lg" len="med"/>
          </a:ln>
        </p:spPr>
      </p:sp>
      <p:sp>
        <p:nvSpPr>
          <p:cNvPr id="48133" name="Text Box 5"/>
          <p:cNvSpPr txBox="1"/>
          <p:nvPr/>
        </p:nvSpPr>
        <p:spPr>
          <a:xfrm>
            <a:off x="7277100" y="4989513"/>
            <a:ext cx="533400" cy="274637"/>
          </a:xfrm>
          <a:prstGeom prst="rect">
            <a:avLst/>
          </a:prstGeom>
          <a:noFill/>
          <a:ln w="9525">
            <a:noFill/>
          </a:ln>
        </p:spPr>
        <p:txBody>
          <a:bodyPr wrap="none" lIns="0" tIns="0" rIns="0" bIns="0">
            <a:spAutoFit/>
          </a:bodyPr>
          <a:p>
            <a:pPr algn="ctr"/>
            <a:r>
              <a:rPr lang="en-US" altLang="zh-CN" sz="1800" dirty="0">
                <a:solidFill>
                  <a:schemeClr val="tx2"/>
                </a:solidFill>
                <a:latin typeface="Arial" panose="020B0604020202020204" pitchFamily="34" charset="0"/>
                <a:ea typeface="宋体" panose="02010600030101010101" pitchFamily="2" charset="-122"/>
              </a:rPr>
              <a:t>Time</a:t>
            </a:r>
            <a:endParaRPr lang="en-US" altLang="zh-CN" sz="1800" dirty="0">
              <a:solidFill>
                <a:schemeClr val="tx2"/>
              </a:solidFill>
              <a:latin typeface="Arial" panose="020B0604020202020204" pitchFamily="34" charset="0"/>
              <a:ea typeface="宋体" panose="02010600030101010101" pitchFamily="2" charset="-122"/>
            </a:endParaRPr>
          </a:p>
        </p:txBody>
      </p:sp>
      <p:sp>
        <p:nvSpPr>
          <p:cNvPr id="48134" name="Text Box 6"/>
          <p:cNvSpPr txBox="1"/>
          <p:nvPr/>
        </p:nvSpPr>
        <p:spPr>
          <a:xfrm>
            <a:off x="1571625" y="1976438"/>
            <a:ext cx="1168400" cy="549275"/>
          </a:xfrm>
          <a:prstGeom prst="rect">
            <a:avLst/>
          </a:prstGeom>
          <a:noFill/>
          <a:ln w="9525">
            <a:noFill/>
          </a:ln>
        </p:spPr>
        <p:txBody>
          <a:bodyPr wrap="none" lIns="0" tIns="0" rIns="0" bIns="0">
            <a:spAutoFit/>
          </a:bodyPr>
          <a:p>
            <a:r>
              <a:rPr lang="en-US" altLang="zh-CN" sz="1800" dirty="0">
                <a:solidFill>
                  <a:schemeClr val="tx2"/>
                </a:solidFill>
                <a:latin typeface="Arial" panose="020B0604020202020204" pitchFamily="34" charset="0"/>
                <a:ea typeface="宋体" panose="02010600030101010101" pitchFamily="2" charset="-122"/>
              </a:rPr>
              <a:t>Estimation</a:t>
            </a:r>
            <a:endParaRPr lang="en-US" altLang="zh-CN" sz="1800" dirty="0">
              <a:solidFill>
                <a:schemeClr val="tx2"/>
              </a:solidFill>
              <a:latin typeface="Arial" panose="020B0604020202020204" pitchFamily="34" charset="0"/>
              <a:ea typeface="宋体" panose="02010600030101010101" pitchFamily="2" charset="-122"/>
            </a:endParaRPr>
          </a:p>
          <a:p>
            <a:r>
              <a:rPr lang="en-US" altLang="zh-CN" sz="1800" dirty="0">
                <a:solidFill>
                  <a:schemeClr val="tx2"/>
                </a:solidFill>
                <a:latin typeface="Arial" panose="020B0604020202020204" pitchFamily="34" charset="0"/>
                <a:ea typeface="宋体" panose="02010600030101010101" pitchFamily="2" charset="-122"/>
              </a:rPr>
              <a:t>error</a:t>
            </a:r>
            <a:endParaRPr lang="en-US" altLang="zh-CN" sz="1800" dirty="0">
              <a:solidFill>
                <a:schemeClr val="tx2"/>
              </a:solidFill>
              <a:latin typeface="Arial" panose="020B0604020202020204" pitchFamily="34" charset="0"/>
              <a:ea typeface="宋体" panose="02010600030101010101" pitchFamily="2" charset="-122"/>
            </a:endParaRPr>
          </a:p>
        </p:txBody>
      </p:sp>
      <p:sp>
        <p:nvSpPr>
          <p:cNvPr id="48135" name="Line 7"/>
          <p:cNvSpPr/>
          <p:nvPr/>
        </p:nvSpPr>
        <p:spPr>
          <a:xfrm>
            <a:off x="5900738" y="4799013"/>
            <a:ext cx="0" cy="136525"/>
          </a:xfrm>
          <a:prstGeom prst="line">
            <a:avLst/>
          </a:prstGeom>
          <a:ln w="19050" cap="flat" cmpd="sng">
            <a:solidFill>
              <a:schemeClr val="tx1"/>
            </a:solidFill>
            <a:prstDash val="solid"/>
            <a:headEnd type="none" w="med" len="med"/>
            <a:tailEnd type="none" w="med" len="med"/>
          </a:ln>
        </p:spPr>
      </p:sp>
      <p:sp>
        <p:nvSpPr>
          <p:cNvPr id="48136" name="Text Box 8"/>
          <p:cNvSpPr txBox="1"/>
          <p:nvPr/>
        </p:nvSpPr>
        <p:spPr>
          <a:xfrm>
            <a:off x="5322888" y="4989513"/>
            <a:ext cx="1155700" cy="274637"/>
          </a:xfrm>
          <a:prstGeom prst="rect">
            <a:avLst/>
          </a:prstGeom>
          <a:noFill/>
          <a:ln w="9525">
            <a:noFill/>
          </a:ln>
        </p:spPr>
        <p:txBody>
          <a:bodyPr wrap="none" lIns="0" tIns="0" rIns="0" bIns="0">
            <a:spAutoFit/>
          </a:bodyPr>
          <a:p>
            <a:pPr algn="ctr"/>
            <a:r>
              <a:rPr lang="en-US" altLang="zh-CN" sz="1800" b="0" dirty="0">
                <a:solidFill>
                  <a:schemeClr val="tx2"/>
                </a:solidFill>
                <a:latin typeface="Arial" panose="020B0604020202020204" pitchFamily="34" charset="0"/>
                <a:ea typeface="宋体" panose="02010600030101010101" pitchFamily="2" charset="-122"/>
              </a:rPr>
              <a:t>Completion</a:t>
            </a:r>
            <a:endParaRPr lang="en-US" altLang="zh-CN" sz="1800" b="0" dirty="0">
              <a:solidFill>
                <a:schemeClr val="tx2"/>
              </a:solidFill>
              <a:latin typeface="Arial" panose="020B0604020202020204" pitchFamily="34" charset="0"/>
              <a:ea typeface="宋体" panose="02010600030101010101" pitchFamily="2" charset="-122"/>
            </a:endParaRPr>
          </a:p>
        </p:txBody>
      </p:sp>
      <p:sp>
        <p:nvSpPr>
          <p:cNvPr id="48137" name="Text Box 9"/>
          <p:cNvSpPr txBox="1"/>
          <p:nvPr/>
        </p:nvSpPr>
        <p:spPr>
          <a:xfrm>
            <a:off x="1204913" y="4989513"/>
            <a:ext cx="482600" cy="274637"/>
          </a:xfrm>
          <a:prstGeom prst="rect">
            <a:avLst/>
          </a:prstGeom>
          <a:noFill/>
          <a:ln w="9525">
            <a:noFill/>
          </a:ln>
        </p:spPr>
        <p:txBody>
          <a:bodyPr wrap="none" lIns="0" tIns="0" rIns="0" bIns="0">
            <a:spAutoFit/>
          </a:bodyPr>
          <a:p>
            <a:pPr algn="ctr"/>
            <a:r>
              <a:rPr lang="en-US" altLang="zh-CN" sz="1800" b="0" dirty="0">
                <a:solidFill>
                  <a:schemeClr val="tx2"/>
                </a:solidFill>
                <a:latin typeface="Arial" panose="020B0604020202020204" pitchFamily="34" charset="0"/>
                <a:ea typeface="宋体" panose="02010600030101010101" pitchFamily="2" charset="-122"/>
              </a:rPr>
              <a:t>Start</a:t>
            </a:r>
            <a:endParaRPr lang="en-US" altLang="zh-CN" sz="1800" b="0" dirty="0">
              <a:solidFill>
                <a:schemeClr val="tx2"/>
              </a:solidFill>
              <a:latin typeface="Arial" panose="020B0604020202020204" pitchFamily="34" charset="0"/>
              <a:ea typeface="宋体" panose="02010600030101010101" pitchFamily="2" charset="-122"/>
            </a:endParaRPr>
          </a:p>
        </p:txBody>
      </p:sp>
      <p:sp>
        <p:nvSpPr>
          <p:cNvPr id="48138" name="Freeform 10"/>
          <p:cNvSpPr/>
          <p:nvPr/>
        </p:nvSpPr>
        <p:spPr>
          <a:xfrm>
            <a:off x="1433513" y="2609850"/>
            <a:ext cx="4467225" cy="2251075"/>
          </a:xfrm>
          <a:custGeom>
            <a:avLst/>
            <a:gdLst>
              <a:gd name="txL" fmla="*/ 0 w 2814"/>
              <a:gd name="txT" fmla="*/ 0 h 1418"/>
              <a:gd name="txR" fmla="*/ 2814 w 2814"/>
              <a:gd name="txB" fmla="*/ 1418 h 1418"/>
            </a:gdLst>
            <a:ahLst/>
            <a:cxnLst>
              <a:cxn ang="0">
                <a:pos x="0" y="0"/>
              </a:cxn>
              <a:cxn ang="0">
                <a:pos x="2147483647" y="2147483647"/>
              </a:cxn>
            </a:cxnLst>
            <a:rect l="txL" t="txT" r="txR" b="txB"/>
            <a:pathLst>
              <a:path w="2814" h="1418">
                <a:moveTo>
                  <a:pt x="0" y="0"/>
                </a:moveTo>
                <a:cubicBezTo>
                  <a:pt x="604" y="803"/>
                  <a:pt x="1822" y="1391"/>
                  <a:pt x="2814" y="1418"/>
                </a:cubicBezTo>
              </a:path>
            </a:pathLst>
          </a:custGeom>
          <a:noFill/>
          <a:ln w="57150" cap="flat" cmpd="sng">
            <a:solidFill>
              <a:schemeClr val="accent2">
                <a:alpha val="100000"/>
              </a:schemeClr>
            </a:solidFill>
            <a:prstDash val="solid"/>
            <a:round/>
            <a:headEnd type="none" w="med" len="med"/>
            <a:tailEnd type="none" w="med" len="med"/>
          </a:ln>
        </p:spPr>
        <p:txBody>
          <a:bodyPr/>
          <a:p>
            <a:endParaRPr lang="zh-CN" altLang="en-US"/>
          </a:p>
        </p:txBody>
      </p:sp>
      <p:sp>
        <p:nvSpPr>
          <p:cNvPr id="48139" name="Text Box 11"/>
          <p:cNvSpPr txBox="1"/>
          <p:nvPr/>
        </p:nvSpPr>
        <p:spPr>
          <a:xfrm>
            <a:off x="1316038" y="6013450"/>
            <a:ext cx="6280150" cy="549275"/>
          </a:xfrm>
          <a:prstGeom prst="rect">
            <a:avLst/>
          </a:prstGeom>
          <a:noFill/>
          <a:ln w="9525">
            <a:noFill/>
          </a:ln>
        </p:spPr>
        <p:txBody>
          <a:bodyPr lIns="0" tIns="0" rIns="0" bIns="0">
            <a:spAutoFit/>
          </a:bodyPr>
          <a:p>
            <a:r>
              <a:rPr lang="en-US" altLang="zh-CN" sz="1800" b="0" dirty="0">
                <a:solidFill>
                  <a:schemeClr val="tx2"/>
                </a:solidFill>
                <a:latin typeface="Arial" panose="020B0604020202020204" pitchFamily="34" charset="0"/>
                <a:ea typeface="宋体" panose="02010600030101010101" pitchFamily="2" charset="-122"/>
              </a:rPr>
              <a:t>The </a:t>
            </a:r>
            <a:r>
              <a:rPr lang="en-US" altLang="zh-CN" sz="1800" b="0" i="1" dirty="0">
                <a:solidFill>
                  <a:schemeClr val="tx2"/>
                </a:solidFill>
                <a:latin typeface="Arial" panose="020B0604020202020204" pitchFamily="34" charset="0"/>
                <a:ea typeface="宋体" panose="02010600030101010101" pitchFamily="2" charset="-122"/>
              </a:rPr>
              <a:t>cone of uncertainty</a:t>
            </a:r>
            <a:r>
              <a:rPr lang="en-US" altLang="zh-CN" sz="1800" b="0" dirty="0">
                <a:solidFill>
                  <a:schemeClr val="tx2"/>
                </a:solidFill>
                <a:latin typeface="Arial" panose="020B0604020202020204" pitchFamily="34" charset="0"/>
                <a:ea typeface="宋体" panose="02010600030101010101" pitchFamily="2" charset="-122"/>
              </a:rPr>
              <a:t> starts high and narrows down to zero as the project approaches completion.</a:t>
            </a:r>
            <a:endParaRPr lang="en-US" altLang="zh-CN" sz="1800" b="0" dirty="0">
              <a:solidFill>
                <a:schemeClr val="tx2"/>
              </a:solidFill>
              <a:latin typeface="Arial" panose="020B0604020202020204" pitchFamily="34" charset="0"/>
              <a:ea typeface="宋体" panose="02010600030101010101" pitchFamily="2" charset="-122"/>
            </a:endParaRPr>
          </a:p>
        </p:txBody>
      </p:sp>
      <p:sp>
        <p:nvSpPr>
          <p:cNvPr id="48140" name="Text Box 12"/>
          <p:cNvSpPr txBox="1"/>
          <p:nvPr/>
        </p:nvSpPr>
        <p:spPr>
          <a:xfrm>
            <a:off x="1630363" y="4560888"/>
            <a:ext cx="1103312" cy="212725"/>
          </a:xfrm>
          <a:prstGeom prst="rect">
            <a:avLst/>
          </a:prstGeom>
          <a:noFill/>
          <a:ln w="9525">
            <a:noFill/>
          </a:ln>
        </p:spPr>
        <p:txBody>
          <a:bodyPr wrap="none" lIns="0" tIns="0" rIns="0" bIns="0">
            <a:spAutoFit/>
          </a:bodyPr>
          <a:p>
            <a:r>
              <a:rPr lang="en-US" altLang="zh-CN" sz="1400" b="0" dirty="0">
                <a:solidFill>
                  <a:schemeClr val="tx2"/>
                </a:solidFill>
                <a:latin typeface="Arial" panose="020B0604020202020204" pitchFamily="34" charset="0"/>
                <a:ea typeface="宋体" panose="02010600030101010101" pitchFamily="2" charset="-122"/>
              </a:rPr>
              <a:t>Requirements</a:t>
            </a:r>
            <a:endParaRPr lang="en-US" altLang="zh-CN" sz="1400" b="0" dirty="0">
              <a:solidFill>
                <a:schemeClr val="tx2"/>
              </a:solidFill>
              <a:latin typeface="Arial" panose="020B0604020202020204" pitchFamily="34" charset="0"/>
              <a:ea typeface="宋体" panose="02010600030101010101" pitchFamily="2" charset="-122"/>
            </a:endParaRPr>
          </a:p>
        </p:txBody>
      </p:sp>
      <p:sp>
        <p:nvSpPr>
          <p:cNvPr id="48141" name="Text Box 13"/>
          <p:cNvSpPr txBox="1"/>
          <p:nvPr/>
        </p:nvSpPr>
        <p:spPr>
          <a:xfrm>
            <a:off x="3079750" y="4560888"/>
            <a:ext cx="552450" cy="212725"/>
          </a:xfrm>
          <a:prstGeom prst="rect">
            <a:avLst/>
          </a:prstGeom>
          <a:noFill/>
          <a:ln w="9525">
            <a:noFill/>
          </a:ln>
        </p:spPr>
        <p:txBody>
          <a:bodyPr wrap="none" lIns="0" tIns="0" rIns="0" bIns="0">
            <a:spAutoFit/>
          </a:bodyPr>
          <a:p>
            <a:r>
              <a:rPr lang="en-US" altLang="zh-CN" sz="1400" b="0" dirty="0">
                <a:solidFill>
                  <a:schemeClr val="tx2"/>
                </a:solidFill>
                <a:latin typeface="Arial" panose="020B0604020202020204" pitchFamily="34" charset="0"/>
                <a:ea typeface="宋体" panose="02010600030101010101" pitchFamily="2" charset="-122"/>
              </a:rPr>
              <a:t>Design</a:t>
            </a:r>
            <a:endParaRPr lang="en-US" altLang="zh-CN" sz="1400" b="0" dirty="0">
              <a:solidFill>
                <a:schemeClr val="tx2"/>
              </a:solidFill>
              <a:latin typeface="Arial" panose="020B0604020202020204" pitchFamily="34" charset="0"/>
              <a:ea typeface="宋体" panose="02010600030101010101" pitchFamily="2" charset="-122"/>
            </a:endParaRPr>
          </a:p>
        </p:txBody>
      </p:sp>
      <p:sp>
        <p:nvSpPr>
          <p:cNvPr id="404494" name="Text Box 14"/>
          <p:cNvSpPr txBox="1">
            <a:spLocks noChangeArrowheads="1"/>
          </p:cNvSpPr>
          <p:nvPr/>
        </p:nvSpPr>
        <p:spPr bwMode="auto">
          <a:xfrm>
            <a:off x="3973513" y="4560888"/>
            <a:ext cx="1211263" cy="212725"/>
          </a:xfrm>
          <a:prstGeom prst="rect">
            <a:avLst/>
          </a:prstGeom>
          <a:noFill/>
          <a:ln>
            <a:noFill/>
          </a:ln>
          <a:effectLst/>
        </p:spPr>
        <p:txBody>
          <a:bodyPr wrap="none" lIns="0" tIns="0" rIns="0" bIns="0">
            <a:spAutoFit/>
          </a:bodyPr>
          <a:lstStyle/>
          <a:p>
            <a:pPr marR="0" defTabSz="914400">
              <a:buClrTx/>
              <a:buSzTx/>
              <a:buFontTx/>
              <a:buNone/>
              <a:defRPr/>
            </a:pPr>
            <a:r>
              <a:rPr kumimoji="0" lang="en-US" sz="1400"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mn-ea"/>
                <a:cs typeface="+mn-cs"/>
              </a:rPr>
              <a:t>Implementation</a:t>
            </a:r>
            <a:endParaRPr kumimoji="0" lang="en-US" sz="1400"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p:txBody>
          <a:bodyPr vert="horz" wrap="square" lIns="0" tIns="45720" rIns="0" bIns="45720" anchor="ctr" anchorCtr="0"/>
          <a:p>
            <a:r>
              <a:rPr lang="en-US" altLang="zh-CN" dirty="0">
                <a:ea typeface="宋体" panose="02010600030101010101" pitchFamily="2" charset="-122"/>
              </a:rPr>
              <a:t>Agile Project Effort Estimation</a:t>
            </a:r>
            <a:endParaRPr lang="en-US" altLang="zh-CN" dirty="0">
              <a:ea typeface="宋体" panose="02010600030101010101" pitchFamily="2" charset="-122"/>
            </a:endParaRPr>
          </a:p>
        </p:txBody>
      </p:sp>
      <p:sp>
        <p:nvSpPr>
          <p:cNvPr id="49155" name="Slide Number Placeholder 2"/>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pic>
        <p:nvPicPr>
          <p:cNvPr id="49156" name="Picture 2"/>
          <p:cNvPicPr>
            <a:picLocks noChangeAspect="1"/>
          </p:cNvPicPr>
          <p:nvPr/>
        </p:nvPicPr>
        <p:blipFill>
          <a:blip r:embed="rId1"/>
          <a:stretch>
            <a:fillRect/>
          </a:stretch>
        </p:blipFill>
        <p:spPr>
          <a:xfrm>
            <a:off x="717550" y="1522413"/>
            <a:ext cx="7808913" cy="5084762"/>
          </a:xfrm>
          <a:prstGeom prst="rect">
            <a:avLst/>
          </a:prstGeom>
          <a:noFill/>
          <a:ln w="9525">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539"/>
          <p:cNvPicPr>
            <a:picLocks noChangeAspect="1"/>
          </p:cNvPicPr>
          <p:nvPr/>
        </p:nvPicPr>
        <p:blipFill>
          <a:blip r:embed="rId1"/>
          <a:stretch>
            <a:fillRect/>
          </a:stretch>
        </p:blipFill>
        <p:spPr>
          <a:xfrm>
            <a:off x="206375" y="1538288"/>
            <a:ext cx="3244850" cy="2733675"/>
          </a:xfrm>
          <a:prstGeom prst="rect">
            <a:avLst/>
          </a:prstGeom>
          <a:noFill/>
          <a:ln w="9525">
            <a:noFill/>
          </a:ln>
        </p:spPr>
      </p:pic>
      <p:pic>
        <p:nvPicPr>
          <p:cNvPr id="50179" name="Picture 540"/>
          <p:cNvPicPr>
            <a:picLocks noChangeAspect="1"/>
          </p:cNvPicPr>
          <p:nvPr/>
        </p:nvPicPr>
        <p:blipFill>
          <a:blip r:embed="rId2"/>
          <a:stretch>
            <a:fillRect/>
          </a:stretch>
        </p:blipFill>
        <p:spPr>
          <a:xfrm>
            <a:off x="4565650" y="1222375"/>
            <a:ext cx="4057650" cy="3586163"/>
          </a:xfrm>
          <a:prstGeom prst="rect">
            <a:avLst/>
          </a:prstGeom>
          <a:noFill/>
          <a:ln w="9525">
            <a:noFill/>
          </a:ln>
        </p:spPr>
      </p:pic>
      <p:pic>
        <p:nvPicPr>
          <p:cNvPr id="50180" name="Picture 541"/>
          <p:cNvPicPr>
            <a:picLocks noChangeAspect="1"/>
          </p:cNvPicPr>
          <p:nvPr/>
        </p:nvPicPr>
        <p:blipFill>
          <a:blip r:embed="rId3"/>
          <a:stretch>
            <a:fillRect/>
          </a:stretch>
        </p:blipFill>
        <p:spPr>
          <a:xfrm>
            <a:off x="614363" y="4632325"/>
            <a:ext cx="7885112" cy="1858963"/>
          </a:xfrm>
          <a:prstGeom prst="rect">
            <a:avLst/>
          </a:prstGeom>
          <a:noFill/>
          <a:ln w="9525">
            <a:noFill/>
          </a:ln>
        </p:spPr>
      </p:pic>
      <p:sp>
        <p:nvSpPr>
          <p:cNvPr id="50181" name="Rectangle 542"/>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Measuring Quality of Work</a:t>
            </a:r>
            <a:endParaRPr lang="en-US" altLang="zh-CN" dirty="0">
              <a:ea typeface="宋体" panose="02010600030101010101" pitchFamily="2" charset="-122"/>
            </a:endParaRPr>
          </a:p>
        </p:txBody>
      </p:sp>
      <p:sp>
        <p:nvSpPr>
          <p:cNvPr id="50182"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AutoShape 78"/>
          <p:cNvSpPr>
            <a:spLocks noChangeAspect="1"/>
          </p:cNvSpPr>
          <p:nvPr/>
        </p:nvSpPr>
        <p:spPr>
          <a:xfrm rot="5400000" flipV="1">
            <a:off x="1790700" y="2398713"/>
            <a:ext cx="666750" cy="661987"/>
          </a:xfrm>
          <a:prstGeom prst="rightArrow">
            <a:avLst>
              <a:gd name="adj1" fmla="val 49675"/>
              <a:gd name="adj2" fmla="val 50033"/>
            </a:avLst>
          </a:prstGeom>
          <a:solidFill>
            <a:schemeClr val="folHlink"/>
          </a:solidFill>
          <a:ln w="3175" cap="flat" cmpd="sng">
            <a:solidFill>
              <a:schemeClr val="folHlink"/>
            </a:solidFill>
            <a:prstDash val="solid"/>
            <a:miter/>
            <a:headEnd type="none" w="med" len="med"/>
            <a:tailEnd type="none" w="med" len="med"/>
          </a:ln>
        </p:spPr>
        <p:txBody>
          <a:bodyPr wrap="none" anchor="ctr" anchorCtr="0"/>
          <a:p>
            <a:endParaRPr lang="zh-CN" altLang="zh-CN" dirty="0">
              <a:latin typeface="Arial" panose="020B0604020202020204" pitchFamily="34" charset="0"/>
              <a:ea typeface="宋体" panose="02010600030101010101" pitchFamily="2" charset="-122"/>
            </a:endParaRPr>
          </a:p>
        </p:txBody>
      </p:sp>
      <p:sp>
        <p:nvSpPr>
          <p:cNvPr id="51203" name="Rectangle 4"/>
          <p:cNvSpPr>
            <a:spLocks noGrp="1"/>
          </p:cNvSpPr>
          <p:nvPr>
            <p:ph type="title"/>
          </p:nvPr>
        </p:nvSpPr>
        <p:spPr/>
        <p:txBody>
          <a:bodyPr vert="horz" wrap="square" lIns="0" tIns="45720" rIns="0" bIns="45720" anchor="ctr" anchorCtr="0"/>
          <a:p>
            <a:pPr eaLnBrk="1" hangingPunct="1"/>
            <a:r>
              <a:rPr lang="en-US" altLang="zh-CN" dirty="0">
                <a:ea typeface="宋体" panose="02010600030101010101" pitchFamily="2" charset="-122"/>
              </a:rPr>
              <a:t>Concept Maps</a:t>
            </a:r>
            <a:endParaRPr lang="en-US" altLang="zh-CN" dirty="0">
              <a:ea typeface="宋体" panose="02010600030101010101" pitchFamily="2" charset="-122"/>
            </a:endParaRPr>
          </a:p>
        </p:txBody>
      </p:sp>
      <p:graphicFrame>
        <p:nvGraphicFramePr>
          <p:cNvPr id="51204" name="表格占位符 51203"/>
          <p:cNvGraphicFramePr/>
          <p:nvPr>
            <p:ph type="tbl" idx="1"/>
          </p:nvPr>
        </p:nvGraphicFramePr>
        <p:xfrm>
          <a:off x="250825" y="3128963"/>
          <a:ext cx="4722813" cy="2000250"/>
        </p:xfrm>
        <a:graphic>
          <a:graphicData uri="http://schemas.openxmlformats.org/drawingml/2006/table">
            <a:tbl>
              <a:tblPr/>
              <a:tblGrid>
                <a:gridCol w="1238250"/>
                <a:gridCol w="1038225"/>
                <a:gridCol w="1409700"/>
                <a:gridCol w="1036638"/>
              </a:tblGrid>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Proposition</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Concept</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Relation</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Concept</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1.</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I</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have</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friend</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2.</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friend</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engages in</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coding</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3.</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coding</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constructs a</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program</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00050">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4.</a:t>
                      </a:r>
                      <a:endParaRPr lang="en-US" altLang="zh-CN" sz="1600" b="0" dirty="0">
                        <a:latin typeface="Comic Sans MS" panose="030F0702030302020204" pitchFamily="66"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program</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is</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eaLnBrk="1" hangingPunct="1">
                        <a:spcBef>
                          <a:spcPct val="20000"/>
                        </a:spcBef>
                        <a:buNone/>
                      </a:pPr>
                      <a:r>
                        <a:rPr lang="en-US" altLang="zh-CN" sz="1600" b="0" dirty="0">
                          <a:latin typeface="Comic Sans MS" panose="030F0702030302020204" pitchFamily="66" charset="0"/>
                          <a:ea typeface="宋体" panose="02010600030101010101" pitchFamily="2" charset="-122"/>
                        </a:rPr>
                        <a:t>new</a:t>
                      </a:r>
                      <a:endParaRPr lang="en-US" altLang="zh-CN" sz="1600" b="0" dirty="0">
                        <a:latin typeface="Comic Sans MS" panose="030F0702030302020204" pitchFamily="66"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51236" name="Text Box 76"/>
          <p:cNvSpPr txBox="1"/>
          <p:nvPr/>
        </p:nvSpPr>
        <p:spPr>
          <a:xfrm>
            <a:off x="161925" y="2073275"/>
            <a:ext cx="5403850" cy="274638"/>
          </a:xfrm>
          <a:prstGeom prst="rect">
            <a:avLst/>
          </a:prstGeom>
          <a:noFill/>
          <a:ln w="9525">
            <a:noFill/>
          </a:ln>
        </p:spPr>
        <p:txBody>
          <a:bodyPr wrap="none" lIns="9144" tIns="0" rIns="9144" bIns="0">
            <a:spAutoFit/>
          </a:bodyPr>
          <a:p>
            <a:r>
              <a:rPr lang="en-US" altLang="zh-CN" sz="1800" dirty="0">
                <a:latin typeface="Arial" panose="020B0604020202020204" pitchFamily="34" charset="0"/>
                <a:ea typeface="宋体" panose="02010600030101010101" pitchFamily="2" charset="-122"/>
              </a:rPr>
              <a:t>SENTENCE: “My friend is coding a new program”</a:t>
            </a:r>
            <a:endParaRPr lang="en-US" altLang="zh-CN" sz="1800" dirty="0">
              <a:latin typeface="Arial" panose="020B0604020202020204" pitchFamily="34" charset="0"/>
              <a:ea typeface="宋体" panose="02010600030101010101" pitchFamily="2" charset="-122"/>
            </a:endParaRPr>
          </a:p>
        </p:txBody>
      </p:sp>
      <p:sp>
        <p:nvSpPr>
          <p:cNvPr id="51237" name="Text Box 77"/>
          <p:cNvSpPr txBox="1"/>
          <p:nvPr/>
        </p:nvSpPr>
        <p:spPr>
          <a:xfrm>
            <a:off x="769938" y="2468563"/>
            <a:ext cx="2708275" cy="244475"/>
          </a:xfrm>
          <a:prstGeom prst="rect">
            <a:avLst/>
          </a:prstGeom>
          <a:noFill/>
          <a:ln w="9525">
            <a:noFill/>
          </a:ln>
        </p:spPr>
        <p:txBody>
          <a:bodyPr wrap="none" lIns="9144" tIns="0" rIns="9144" bIns="0">
            <a:spAutoFit/>
          </a:bodyPr>
          <a:p>
            <a:pPr algn="ctr"/>
            <a:r>
              <a:rPr lang="en-US" altLang="zh-CN" sz="1600" dirty="0">
                <a:solidFill>
                  <a:srgbClr val="009900"/>
                </a:solidFill>
                <a:latin typeface="Arial" panose="020B0604020202020204" pitchFamily="34" charset="0"/>
                <a:ea typeface="宋体" panose="02010600030101010101" pitchFamily="2" charset="-122"/>
              </a:rPr>
              <a:t>translated into propositions</a:t>
            </a:r>
            <a:endParaRPr lang="en-US" altLang="zh-CN" sz="1600" dirty="0">
              <a:solidFill>
                <a:srgbClr val="009900"/>
              </a:solidFill>
              <a:latin typeface="Arial" panose="020B0604020202020204" pitchFamily="34" charset="0"/>
              <a:ea typeface="宋体" panose="02010600030101010101" pitchFamily="2" charset="-122"/>
            </a:endParaRPr>
          </a:p>
        </p:txBody>
      </p:sp>
      <p:grpSp>
        <p:nvGrpSpPr>
          <p:cNvPr id="51238" name="Group 79"/>
          <p:cNvGrpSpPr/>
          <p:nvPr/>
        </p:nvGrpSpPr>
        <p:grpSpPr>
          <a:xfrm>
            <a:off x="1190625" y="6148388"/>
            <a:ext cx="2584450" cy="268287"/>
            <a:chOff x="2572" y="1720"/>
            <a:chExt cx="1628" cy="169"/>
          </a:xfrm>
        </p:grpSpPr>
        <p:sp>
          <p:nvSpPr>
            <p:cNvPr id="51242" name="Text Box 80"/>
            <p:cNvSpPr txBox="1">
              <a:spLocks noChangeAspect="1"/>
            </p:cNvSpPr>
            <p:nvPr/>
          </p:nvSpPr>
          <p:spPr>
            <a:xfrm>
              <a:off x="2717" y="1720"/>
              <a:ext cx="1483" cy="116"/>
            </a:xfrm>
            <a:prstGeom prst="rect">
              <a:avLst/>
            </a:prstGeom>
            <a:noFill/>
            <a:ln w="9525">
              <a:noFill/>
            </a:ln>
          </p:spPr>
          <p:txBody>
            <a:bodyPr wrap="none" lIns="0" tIns="0" rIns="0" bIns="0">
              <a:spAutoFit/>
            </a:bodyPr>
            <a:p>
              <a:r>
                <a:rPr lang="en-US" altLang="zh-CN" sz="1200" b="0" dirty="0">
                  <a:latin typeface="Arial" panose="020B0604020202020204" pitchFamily="34" charset="0"/>
                  <a:ea typeface="宋体" panose="02010600030101010101" pitchFamily="2" charset="-122"/>
                </a:rPr>
                <a:t>Search the Web for Concept Maps</a:t>
              </a:r>
              <a:endParaRPr lang="en-US" altLang="zh-CN" sz="1200" b="0" dirty="0">
                <a:latin typeface="Arial" panose="020B0604020202020204" pitchFamily="34" charset="0"/>
                <a:ea typeface="宋体" panose="02010600030101010101" pitchFamily="2" charset="-122"/>
              </a:endParaRPr>
            </a:p>
          </p:txBody>
        </p:sp>
        <p:grpSp>
          <p:nvGrpSpPr>
            <p:cNvPr id="51243" name="Group 81"/>
            <p:cNvGrpSpPr>
              <a:grpSpLocks noChangeAspect="1"/>
            </p:cNvGrpSpPr>
            <p:nvPr/>
          </p:nvGrpSpPr>
          <p:grpSpPr>
            <a:xfrm>
              <a:off x="2572" y="1720"/>
              <a:ext cx="104" cy="169"/>
              <a:chOff x="2668" y="1817"/>
              <a:chExt cx="205" cy="331"/>
            </a:xfrm>
          </p:grpSpPr>
          <p:sp>
            <p:nvSpPr>
              <p:cNvPr id="51244" name="AutoShape 82"/>
              <p:cNvSpPr>
                <a:spLocks noChangeAspect="1"/>
              </p:cNvSpPr>
              <p:nvPr/>
            </p:nvSpPr>
            <p:spPr>
              <a:xfrm rot="-4029181">
                <a:off x="2611" y="1961"/>
                <a:ext cx="244" cy="130"/>
              </a:xfrm>
              <a:prstGeom prst="rightArrow">
                <a:avLst>
                  <a:gd name="adj1" fmla="val 25601"/>
                  <a:gd name="adj2" fmla="val 125119"/>
                </a:avLst>
              </a:prstGeom>
              <a:solidFill>
                <a:schemeClr val="bg1"/>
              </a:solidFill>
              <a:ln w="9525" cap="flat" cmpd="sng">
                <a:solidFill>
                  <a:schemeClr val="tx1"/>
                </a:solidFill>
                <a:prstDash val="solid"/>
                <a:miter/>
                <a:headEnd type="none" w="med" len="med"/>
                <a:tailEnd type="none" w="med" len="med"/>
              </a:ln>
            </p:spPr>
            <p:txBody>
              <a:bodyPr wrap="none" anchor="ctr" anchorCtr="0"/>
              <a:p>
                <a:endParaRPr lang="zh-CN" altLang="zh-CN" sz="1200" dirty="0">
                  <a:latin typeface="Arial" panose="020B0604020202020204" pitchFamily="34" charset="0"/>
                  <a:ea typeface="宋体" panose="02010600030101010101" pitchFamily="2" charset="-122"/>
                </a:endParaRPr>
              </a:p>
            </p:txBody>
          </p:sp>
          <p:sp>
            <p:nvSpPr>
              <p:cNvPr id="51245" name="Freeform 83"/>
              <p:cNvSpPr>
                <a:spLocks noChangeAspect="1"/>
              </p:cNvSpPr>
              <p:nvPr/>
            </p:nvSpPr>
            <p:spPr>
              <a:xfrm>
                <a:off x="2719" y="1843"/>
                <a:ext cx="42" cy="41"/>
              </a:xfrm>
              <a:custGeom>
                <a:avLst/>
                <a:gdLst>
                  <a:gd name="txL" fmla="*/ 0 w 207"/>
                  <a:gd name="txT" fmla="*/ 0 h 207"/>
                  <a:gd name="txR" fmla="*/ 207 w 207"/>
                  <a:gd name="txB" fmla="*/ 207 h 207"/>
                </a:gdLst>
                <a:ahLst/>
                <a:cxnLst>
                  <a:cxn ang="0">
                    <a:pos x="0" y="0"/>
                  </a:cxn>
                  <a:cxn ang="0">
                    <a:pos x="0" y="0"/>
                  </a:cxn>
                </a:cxnLst>
                <a:rect l="txL" t="txT" r="txR" b="txB"/>
                <a:pathLst>
                  <a:path w="207" h="207">
                    <a:moveTo>
                      <a:pt x="207" y="207"/>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1246" name="Freeform 84"/>
              <p:cNvSpPr>
                <a:spLocks noChangeAspect="1"/>
              </p:cNvSpPr>
              <p:nvPr/>
            </p:nvSpPr>
            <p:spPr>
              <a:xfrm>
                <a:off x="2814" y="1908"/>
                <a:ext cx="59" cy="0"/>
              </a:xfrm>
              <a:custGeom>
                <a:avLst/>
                <a:gdLst>
                  <a:gd name="txL" fmla="*/ 0 w 293"/>
                  <a:gd name="txT" fmla="*/ 0 h 1"/>
                  <a:gd name="txR" fmla="*/ 293 w 293"/>
                  <a:gd name="txB" fmla="*/ 0 h 1"/>
                </a:gdLst>
                <a:ahLst/>
                <a:cxnLst>
                  <a:cxn ang="0">
                    <a:pos x="0" y="0"/>
                  </a:cxn>
                  <a:cxn ang="0">
                    <a:pos x="0" y="0"/>
                  </a:cxn>
                </a:cxnLst>
                <a:rect l="txL" t="txT" r="txR" b="txB"/>
                <a:pathLst>
                  <a:path w="293" h="1">
                    <a:moveTo>
                      <a:pt x="293" y="0"/>
                    </a:moveTo>
                    <a:lnTo>
                      <a:pt x="0"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1247" name="Freeform 85"/>
              <p:cNvSpPr>
                <a:spLocks noChangeAspect="1"/>
              </p:cNvSpPr>
              <p:nvPr/>
            </p:nvSpPr>
            <p:spPr>
              <a:xfrm>
                <a:off x="2806" y="1843"/>
                <a:ext cx="41" cy="41"/>
              </a:xfrm>
              <a:custGeom>
                <a:avLst/>
                <a:gdLst>
                  <a:gd name="txL" fmla="*/ 0 w 207"/>
                  <a:gd name="txT" fmla="*/ 0 h 207"/>
                  <a:gd name="txR" fmla="*/ 207 w 207"/>
                  <a:gd name="txB" fmla="*/ 207 h 207"/>
                </a:gdLst>
                <a:ahLst/>
                <a:cxnLst>
                  <a:cxn ang="0">
                    <a:pos x="0" y="0"/>
                  </a:cxn>
                  <a:cxn ang="0">
                    <a:pos x="0" y="0"/>
                  </a:cxn>
                </a:cxnLst>
                <a:rect l="txL" t="txT" r="txR" b="txB"/>
                <a:pathLst>
                  <a:path w="207" h="207">
                    <a:moveTo>
                      <a:pt x="0" y="207"/>
                    </a:moveTo>
                    <a:lnTo>
                      <a:pt x="207"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1248" name="Freeform 86"/>
              <p:cNvSpPr>
                <a:spLocks noChangeAspect="1"/>
              </p:cNvSpPr>
              <p:nvPr/>
            </p:nvSpPr>
            <p:spPr>
              <a:xfrm>
                <a:off x="2692" y="1908"/>
                <a:ext cx="59" cy="0"/>
              </a:xfrm>
              <a:custGeom>
                <a:avLst/>
                <a:gdLst>
                  <a:gd name="txL" fmla="*/ 0 w 293"/>
                  <a:gd name="txT" fmla="*/ 0 h 1"/>
                  <a:gd name="txR" fmla="*/ 293 w 293"/>
                  <a:gd name="txB" fmla="*/ 0 h 1"/>
                </a:gdLst>
                <a:ahLst/>
                <a:cxnLst>
                  <a:cxn ang="0">
                    <a:pos x="0" y="0"/>
                  </a:cxn>
                  <a:cxn ang="0">
                    <a:pos x="0" y="0"/>
                  </a:cxn>
                </a:cxnLst>
                <a:rect l="txL" t="txT" r="txR" b="txB"/>
                <a:pathLst>
                  <a:path w="293" h="1">
                    <a:moveTo>
                      <a:pt x="0" y="0"/>
                    </a:moveTo>
                    <a:lnTo>
                      <a:pt x="293" y="0"/>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1249" name="Freeform 87"/>
              <p:cNvSpPr>
                <a:spLocks noChangeAspect="1"/>
              </p:cNvSpPr>
              <p:nvPr/>
            </p:nvSpPr>
            <p:spPr>
              <a:xfrm>
                <a:off x="2806" y="1929"/>
                <a:ext cx="39" cy="42"/>
              </a:xfrm>
              <a:custGeom>
                <a:avLst/>
                <a:gdLst>
                  <a:gd name="txL" fmla="*/ 0 w 206"/>
                  <a:gd name="txT" fmla="*/ 0 h 206"/>
                  <a:gd name="txR" fmla="*/ 206 w 206"/>
                  <a:gd name="txB" fmla="*/ 206 h 206"/>
                </a:gdLst>
                <a:ahLst/>
                <a:cxnLst>
                  <a:cxn ang="0">
                    <a:pos x="0" y="0"/>
                  </a:cxn>
                  <a:cxn ang="0">
                    <a:pos x="0" y="0"/>
                  </a:cxn>
                </a:cxnLst>
                <a:rect l="txL" t="txT" r="txR" b="txB"/>
                <a:pathLst>
                  <a:path w="206" h="206">
                    <a:moveTo>
                      <a:pt x="0" y="0"/>
                    </a:moveTo>
                    <a:lnTo>
                      <a:pt x="206" y="206"/>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51250" name="Freeform 88"/>
              <p:cNvSpPr>
                <a:spLocks noChangeAspect="1"/>
              </p:cNvSpPr>
              <p:nvPr/>
            </p:nvSpPr>
            <p:spPr>
              <a:xfrm>
                <a:off x="2782" y="1817"/>
                <a:ext cx="0" cy="57"/>
              </a:xfrm>
              <a:custGeom>
                <a:avLst/>
                <a:gdLst>
                  <a:gd name="txL" fmla="*/ 0 w 1"/>
                  <a:gd name="txT" fmla="*/ 0 h 292"/>
                  <a:gd name="txR" fmla="*/ 0 w 1"/>
                  <a:gd name="txB" fmla="*/ 292 h 292"/>
                </a:gdLst>
                <a:ahLst/>
                <a:cxnLst>
                  <a:cxn ang="0">
                    <a:pos x="0" y="0"/>
                  </a:cxn>
                  <a:cxn ang="0">
                    <a:pos x="0" y="0"/>
                  </a:cxn>
                </a:cxnLst>
                <a:rect l="txL" t="txT" r="txR" b="txB"/>
                <a:pathLst>
                  <a:path w="1" h="292">
                    <a:moveTo>
                      <a:pt x="0" y="0"/>
                    </a:moveTo>
                    <a:lnTo>
                      <a:pt x="0" y="292"/>
                    </a:lnTo>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grpSp>
      </p:grpSp>
      <p:pic>
        <p:nvPicPr>
          <p:cNvPr id="51239" name="Picture 89"/>
          <p:cNvPicPr>
            <a:picLocks noChangeAspect="1"/>
          </p:cNvPicPr>
          <p:nvPr/>
        </p:nvPicPr>
        <p:blipFill>
          <a:blip r:embed="rId1"/>
          <a:stretch>
            <a:fillRect/>
          </a:stretch>
        </p:blipFill>
        <p:spPr>
          <a:xfrm>
            <a:off x="5719763" y="2879725"/>
            <a:ext cx="2606675" cy="3590925"/>
          </a:xfrm>
          <a:prstGeom prst="rect">
            <a:avLst/>
          </a:prstGeom>
          <a:noFill/>
          <a:ln w="9525">
            <a:noFill/>
          </a:ln>
        </p:spPr>
      </p:pic>
      <p:sp>
        <p:nvSpPr>
          <p:cNvPr id="51240" name="Slide Number Placeholder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zh-CN" sz="1400" b="0" dirty="0">
                <a:latin typeface="Times New Roman" panose="02020603050405020304" pitchFamily="18" charset="0"/>
                <a:ea typeface="宋体" panose="02010600030101010101" pitchFamily="2" charset="-122"/>
              </a:rPr>
            </a:fld>
            <a:endParaRPr lang="en-US" altLang="zh-CN" sz="1400" b="0" dirty="0">
              <a:latin typeface="Times New Roman" panose="02020603050405020304" pitchFamily="18" charset="0"/>
              <a:ea typeface="宋体" panose="02010600030101010101" pitchFamily="2" charset="-122"/>
            </a:endParaRPr>
          </a:p>
        </p:txBody>
      </p:sp>
      <p:sp>
        <p:nvSpPr>
          <p:cNvPr id="51241" name="Text Box 76"/>
          <p:cNvSpPr txBox="1"/>
          <p:nvPr/>
        </p:nvSpPr>
        <p:spPr>
          <a:xfrm>
            <a:off x="161925" y="1066800"/>
            <a:ext cx="4749800" cy="276225"/>
          </a:xfrm>
          <a:prstGeom prst="rect">
            <a:avLst/>
          </a:prstGeom>
          <a:noFill/>
          <a:ln w="9525">
            <a:noFill/>
          </a:ln>
        </p:spPr>
        <p:txBody>
          <a:bodyPr wrap="none" lIns="9144" tIns="0" rIns="9144" bIns="0">
            <a:spAutoFit/>
          </a:bodyPr>
          <a:p>
            <a:r>
              <a:rPr lang="en-US" altLang="zh-CN" sz="1800" dirty="0">
                <a:latin typeface="Arial" panose="020B0604020202020204" pitchFamily="34" charset="0"/>
                <a:ea typeface="宋体" panose="02010600030101010101" pitchFamily="2" charset="-122"/>
              </a:rPr>
              <a:t>Useful tool for problem domain description</a:t>
            </a:r>
            <a:endParaRPr lang="en-US" altLang="zh-CN" sz="1800" dirty="0">
              <a:latin typeface="Arial" panose="020B0604020202020204" pitchFamily="3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220663" y="152400"/>
            <a:ext cx="8842375" cy="1143000"/>
          </a:xfrm>
        </p:spPr>
        <p:txBody>
          <a:bodyPr vert="horz" wrap="square" lIns="0" tIns="45720" rIns="0" bIns="45720" anchor="ctr" anchorCtr="0"/>
          <a:p>
            <a:pPr eaLnBrk="1" hangingPunct="1"/>
            <a:r>
              <a:rPr lang="en-US" altLang="en-US" sz="4000" dirty="0"/>
              <a:t>Case Study: Home Access Control</a:t>
            </a:r>
            <a:endParaRPr lang="en-US" altLang="en-US" sz="4000" dirty="0"/>
          </a:p>
        </p:txBody>
      </p:sp>
      <p:sp>
        <p:nvSpPr>
          <p:cNvPr id="52227" name="Rectangle 138"/>
          <p:cNvSpPr>
            <a:spLocks noGrp="1"/>
          </p:cNvSpPr>
          <p:nvPr>
            <p:ph idx="1"/>
          </p:nvPr>
        </p:nvSpPr>
        <p:spPr>
          <a:xfrm>
            <a:off x="504825" y="1600200"/>
            <a:ext cx="8558213" cy="4457700"/>
          </a:xfrm>
        </p:spPr>
        <p:txBody>
          <a:bodyPr vert="horz" wrap="square" lIns="91440" tIns="45720" rIns="91440" bIns="45720" anchor="t" anchorCtr="0"/>
          <a:p>
            <a:pPr eaLnBrk="1" hangingPunct="1"/>
            <a:r>
              <a:rPr lang="en-US" altLang="en-US" dirty="0"/>
              <a:t>Objective: Design an electronic system for:</a:t>
            </a:r>
            <a:endParaRPr lang="en-US" altLang="en-US" dirty="0"/>
          </a:p>
          <a:p>
            <a:pPr lvl="1" eaLnBrk="1" hangingPunct="1"/>
            <a:r>
              <a:rPr lang="en-US" altLang="en-US" dirty="0">
                <a:latin typeface="Calibri" panose="020F0502020204030204" pitchFamily="34" charset="0"/>
                <a:cs typeface="Calibri" panose="020F0502020204030204" pitchFamily="34" charset="0"/>
              </a:rPr>
              <a:t>Home access control</a:t>
            </a:r>
            <a:endParaRPr lang="en-US" altLang="en-US" dirty="0">
              <a:latin typeface="Calibri" panose="020F0502020204030204" pitchFamily="34" charset="0"/>
              <a:cs typeface="Calibri" panose="020F0502020204030204" pitchFamily="34" charset="0"/>
            </a:endParaRPr>
          </a:p>
          <a:p>
            <a:pPr lvl="2" eaLnBrk="1" hangingPunct="1"/>
            <a:r>
              <a:rPr lang="en-US" altLang="en-US" dirty="0">
                <a:latin typeface="Calibri" panose="020F0502020204030204" pitchFamily="34" charset="0"/>
                <a:cs typeface="Calibri" panose="020F0502020204030204" pitchFamily="34" charset="0"/>
              </a:rPr>
              <a:t>Locks and lighting operation</a:t>
            </a:r>
            <a:endParaRPr lang="en-US" altLang="en-US" dirty="0">
              <a:latin typeface="Calibri" panose="020F0502020204030204" pitchFamily="34" charset="0"/>
              <a:cs typeface="Calibri" panose="020F0502020204030204" pitchFamily="34" charset="0"/>
            </a:endParaRPr>
          </a:p>
          <a:p>
            <a:pPr lvl="1" eaLnBrk="1" hangingPunct="1"/>
            <a:r>
              <a:rPr lang="en-US" altLang="en-US" dirty="0">
                <a:latin typeface="Calibri" panose="020F0502020204030204" pitchFamily="34" charset="0"/>
                <a:cs typeface="Calibri" panose="020F0502020204030204" pitchFamily="34" charset="0"/>
              </a:rPr>
              <a:t>Intrusion detection and warning</a:t>
            </a:r>
            <a:endParaRPr lang="en-US" altLang="en-US" dirty="0">
              <a:latin typeface="Calibri" panose="020F0502020204030204" pitchFamily="34" charset="0"/>
              <a:ea typeface="Calibri" panose="020F0502020204030204" pitchFamily="34" charset="0"/>
            </a:endParaRPr>
          </a:p>
        </p:txBody>
      </p:sp>
      <p:pic>
        <p:nvPicPr>
          <p:cNvPr id="52228" name="Picture 304"/>
          <p:cNvPicPr>
            <a:picLocks noChangeAspect="1"/>
          </p:cNvPicPr>
          <p:nvPr/>
        </p:nvPicPr>
        <p:blipFill>
          <a:blip r:embed="rId1"/>
          <a:stretch>
            <a:fillRect/>
          </a:stretch>
        </p:blipFill>
        <p:spPr>
          <a:xfrm>
            <a:off x="3716338" y="3422650"/>
            <a:ext cx="4818062" cy="3186113"/>
          </a:xfrm>
          <a:prstGeom prst="rect">
            <a:avLst/>
          </a:prstGeom>
          <a:noFill/>
          <a:ln w="9525">
            <a:noFill/>
          </a:ln>
        </p:spPr>
      </p:pic>
      <p:sp>
        <p:nvSpPr>
          <p:cNvPr id="52229" name="Slide Number Placeholder 1"/>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220663" y="152400"/>
            <a:ext cx="8842375" cy="1143000"/>
          </a:xfrm>
        </p:spPr>
        <p:txBody>
          <a:bodyPr vert="horz" wrap="square" lIns="0" tIns="45720" rIns="0" bIns="45720" anchor="ctr" anchorCtr="0"/>
          <a:p>
            <a:pPr eaLnBrk="1" hangingPunct="1"/>
            <a:r>
              <a:rPr lang="en-US" altLang="en-US" dirty="0"/>
              <a:t>Case Study – More Details</a:t>
            </a:r>
            <a:endParaRPr lang="en-US" altLang="en-US" dirty="0"/>
          </a:p>
        </p:txBody>
      </p:sp>
      <p:pic>
        <p:nvPicPr>
          <p:cNvPr id="53251" name="Picture 419"/>
          <p:cNvPicPr>
            <a:picLocks noChangeAspect="1"/>
          </p:cNvPicPr>
          <p:nvPr/>
        </p:nvPicPr>
        <p:blipFill>
          <a:blip r:embed="rId1"/>
          <a:stretch>
            <a:fillRect/>
          </a:stretch>
        </p:blipFill>
        <p:spPr>
          <a:xfrm>
            <a:off x="196850" y="1703388"/>
            <a:ext cx="3538538" cy="2339975"/>
          </a:xfrm>
          <a:prstGeom prst="rect">
            <a:avLst/>
          </a:prstGeom>
          <a:noFill/>
          <a:ln w="9525">
            <a:noFill/>
          </a:ln>
        </p:spPr>
      </p:pic>
      <p:pic>
        <p:nvPicPr>
          <p:cNvPr id="53252" name="Picture 420"/>
          <p:cNvPicPr>
            <a:picLocks noChangeAspect="1"/>
          </p:cNvPicPr>
          <p:nvPr/>
        </p:nvPicPr>
        <p:blipFill>
          <a:blip r:embed="rId2"/>
          <a:stretch>
            <a:fillRect/>
          </a:stretch>
        </p:blipFill>
        <p:spPr>
          <a:xfrm>
            <a:off x="3206750" y="2959100"/>
            <a:ext cx="5722938" cy="3600450"/>
          </a:xfrm>
          <a:prstGeom prst="rect">
            <a:avLst/>
          </a:prstGeom>
          <a:noFill/>
          <a:ln w="9525">
            <a:noFill/>
          </a:ln>
        </p:spPr>
      </p:pic>
      <p:sp>
        <p:nvSpPr>
          <p:cNvPr id="53253" name="Slide Number Placeholder 1"/>
          <p:cNvSpPr txBox="1">
            <a:spLocks noGrp="1"/>
          </p:cNvSpPr>
          <p:nvPr>
            <p:ph type="sldNum" sz="quarter" idx="4"/>
          </p:nvPr>
        </p:nvSpPr>
        <p:spPr>
          <a:xfrm>
            <a:off x="8602663" y="6437313"/>
            <a:ext cx="517525" cy="360362"/>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11"/>
          <p:cNvSpPr>
            <a:spLocks noGrp="1"/>
          </p:cNvSpPr>
          <p:nvPr>
            <p:ph type="title"/>
          </p:nvPr>
        </p:nvSpPr>
        <p:spPr/>
        <p:txBody>
          <a:bodyPr vert="horz" wrap="square" lIns="0" tIns="45720" rIns="0" bIns="45720" anchor="ctr" anchorCtr="0"/>
          <a:p>
            <a:pPr eaLnBrk="1" hangingPunct="1"/>
            <a:r>
              <a:rPr lang="en-US" altLang="en-US" dirty="0"/>
              <a:t>Know Your Problem</a:t>
            </a:r>
            <a:endParaRPr lang="en-US" altLang="en-US" dirty="0"/>
          </a:p>
        </p:txBody>
      </p:sp>
      <p:pic>
        <p:nvPicPr>
          <p:cNvPr id="54275" name="Picture 137"/>
          <p:cNvPicPr>
            <a:picLocks noChangeAspect="1"/>
          </p:cNvPicPr>
          <p:nvPr/>
        </p:nvPicPr>
        <p:blipFill>
          <a:blip r:embed="rId1"/>
          <a:stretch>
            <a:fillRect/>
          </a:stretch>
        </p:blipFill>
        <p:spPr>
          <a:xfrm>
            <a:off x="592138" y="1782763"/>
            <a:ext cx="2752725" cy="2039937"/>
          </a:xfrm>
          <a:prstGeom prst="rect">
            <a:avLst/>
          </a:prstGeom>
          <a:noFill/>
          <a:ln w="9525">
            <a:noFill/>
          </a:ln>
        </p:spPr>
      </p:pic>
      <p:pic>
        <p:nvPicPr>
          <p:cNvPr id="54276" name="Picture 138"/>
          <p:cNvPicPr>
            <a:picLocks noChangeAspect="1"/>
          </p:cNvPicPr>
          <p:nvPr/>
        </p:nvPicPr>
        <p:blipFill>
          <a:blip r:embed="rId2"/>
          <a:stretch>
            <a:fillRect/>
          </a:stretch>
        </p:blipFill>
        <p:spPr>
          <a:xfrm>
            <a:off x="3594100" y="1538288"/>
            <a:ext cx="2784475" cy="2203450"/>
          </a:xfrm>
          <a:prstGeom prst="rect">
            <a:avLst/>
          </a:prstGeom>
          <a:noFill/>
          <a:ln w="9525">
            <a:noFill/>
          </a:ln>
        </p:spPr>
      </p:pic>
      <p:sp>
        <p:nvSpPr>
          <p:cNvPr id="54277" name="Rectangle 139"/>
          <p:cNvSpPr/>
          <p:nvPr/>
        </p:nvSpPr>
        <p:spPr>
          <a:xfrm>
            <a:off x="215900" y="1231900"/>
            <a:ext cx="2325688" cy="368300"/>
          </a:xfrm>
          <a:prstGeom prst="rect">
            <a:avLst/>
          </a:prstGeom>
          <a:solidFill>
            <a:schemeClr val="bg1"/>
          </a:solidFill>
          <a:ln w="9525">
            <a:noFill/>
          </a:ln>
        </p:spPr>
        <p:txBody>
          <a:bodyPr wrap="none" lIns="9144" tIns="0" rIns="9144" bIns="0">
            <a:spAutoFit/>
          </a:bodyPr>
          <a:p>
            <a:r>
              <a:rPr lang="en-US" altLang="en-US" b="0" dirty="0">
                <a:solidFill>
                  <a:schemeClr val="tx2"/>
                </a:solidFill>
                <a:latin typeface="Calibri" panose="020F0502020204030204" pitchFamily="34" charset="0"/>
                <a:cs typeface="Calibri" panose="020F0502020204030204" pitchFamily="34" charset="0"/>
              </a:rPr>
              <a:t>Mortise Lock Parts</a:t>
            </a:r>
            <a:endParaRPr lang="en-US" altLang="en-US" b="0" dirty="0">
              <a:solidFill>
                <a:schemeClr val="tx2"/>
              </a:solidFill>
              <a:latin typeface="Calibri" panose="020F0502020204030204" pitchFamily="34" charset="0"/>
              <a:ea typeface="Calibri" panose="020F0502020204030204" pitchFamily="34" charset="0"/>
            </a:endParaRPr>
          </a:p>
        </p:txBody>
      </p:sp>
      <p:pic>
        <p:nvPicPr>
          <p:cNvPr id="54278" name="Picture 228"/>
          <p:cNvPicPr>
            <a:picLocks noChangeAspect="1"/>
          </p:cNvPicPr>
          <p:nvPr/>
        </p:nvPicPr>
        <p:blipFill>
          <a:blip r:embed="rId3"/>
          <a:stretch>
            <a:fillRect/>
          </a:stretch>
        </p:blipFill>
        <p:spPr>
          <a:xfrm>
            <a:off x="4913313" y="4152900"/>
            <a:ext cx="1952625" cy="2378075"/>
          </a:xfrm>
          <a:prstGeom prst="rect">
            <a:avLst/>
          </a:prstGeom>
          <a:noFill/>
          <a:ln w="9525">
            <a:noFill/>
          </a:ln>
        </p:spPr>
      </p:pic>
      <p:pic>
        <p:nvPicPr>
          <p:cNvPr id="54279" name="Picture 229"/>
          <p:cNvPicPr>
            <a:picLocks noChangeAspect="1"/>
          </p:cNvPicPr>
          <p:nvPr/>
        </p:nvPicPr>
        <p:blipFill>
          <a:blip r:embed="rId4"/>
          <a:stretch>
            <a:fillRect/>
          </a:stretch>
        </p:blipFill>
        <p:spPr>
          <a:xfrm>
            <a:off x="7135813" y="3511550"/>
            <a:ext cx="1746250" cy="3162300"/>
          </a:xfrm>
          <a:prstGeom prst="rect">
            <a:avLst/>
          </a:prstGeom>
          <a:noFill/>
          <a:ln w="9525">
            <a:noFill/>
          </a:ln>
        </p:spPr>
      </p:pic>
      <p:sp>
        <p:nvSpPr>
          <p:cNvPr id="54280"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p:txBody>
          <a:bodyPr vert="horz" wrap="square" lIns="0" tIns="45720" rIns="0" bIns="45720" anchor="ctr" anchorCtr="0"/>
          <a:p>
            <a:pPr eaLnBrk="1" hangingPunct="1"/>
            <a:r>
              <a:rPr lang="en-US" altLang="en-US" sz="3600" dirty="0"/>
              <a:t>Concept Map for Home Access Control</a:t>
            </a:r>
            <a:endParaRPr lang="en-US" altLang="en-US" sz="3600" dirty="0"/>
          </a:p>
        </p:txBody>
      </p:sp>
      <p:pic>
        <p:nvPicPr>
          <p:cNvPr id="55299" name="Picture 35"/>
          <p:cNvPicPr>
            <a:picLocks noChangeAspect="1"/>
          </p:cNvPicPr>
          <p:nvPr/>
        </p:nvPicPr>
        <p:blipFill>
          <a:blip r:embed="rId1"/>
          <a:stretch>
            <a:fillRect/>
          </a:stretch>
        </p:blipFill>
        <p:spPr>
          <a:xfrm>
            <a:off x="157163" y="2146300"/>
            <a:ext cx="8843962" cy="3125788"/>
          </a:xfrm>
          <a:prstGeom prst="rect">
            <a:avLst/>
          </a:prstGeom>
          <a:noFill/>
          <a:ln w="9525">
            <a:noFill/>
          </a:ln>
        </p:spPr>
      </p:pic>
      <p:sp>
        <p:nvSpPr>
          <p:cNvPr id="55300"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4"/>
          <p:cNvSpPr>
            <a:spLocks noGrp="1"/>
          </p:cNvSpPr>
          <p:nvPr>
            <p:ph type="title"/>
          </p:nvPr>
        </p:nvSpPr>
        <p:spPr/>
        <p:txBody>
          <a:bodyPr vert="horz" wrap="square" lIns="0" tIns="45720" rIns="0" bIns="45720" anchor="ctr" anchorCtr="0"/>
          <a:p>
            <a:pPr eaLnBrk="1" hangingPunct="1"/>
            <a:r>
              <a:rPr lang="en-US" altLang="en-US" dirty="0"/>
              <a:t>States and Transition Rules</a:t>
            </a:r>
            <a:endParaRPr lang="en-US" altLang="en-US" dirty="0"/>
          </a:p>
        </p:txBody>
      </p:sp>
      <p:grpSp>
        <p:nvGrpSpPr>
          <p:cNvPr id="56323" name="Group 13"/>
          <p:cNvGrpSpPr/>
          <p:nvPr/>
        </p:nvGrpSpPr>
        <p:grpSpPr>
          <a:xfrm>
            <a:off x="1990725" y="3365500"/>
            <a:ext cx="5202238" cy="449263"/>
            <a:chOff x="1230" y="1911"/>
            <a:chExt cx="3277" cy="283"/>
          </a:xfrm>
        </p:grpSpPr>
        <p:sp>
          <p:nvSpPr>
            <p:cNvPr id="56334" name="AutoShape 5"/>
            <p:cNvSpPr/>
            <p:nvPr/>
          </p:nvSpPr>
          <p:spPr>
            <a:xfrm>
              <a:off x="1230" y="1911"/>
              <a:ext cx="1096" cy="283"/>
            </a:xfrm>
            <a:prstGeom prst="roundRect">
              <a:avLst>
                <a:gd name="adj" fmla="val 16667"/>
              </a:avLst>
            </a:prstGeom>
            <a:solidFill>
              <a:schemeClr val="bg1"/>
            </a:solidFill>
            <a:ln w="19050" cap="flat" cmpd="sng">
              <a:solidFill>
                <a:schemeClr val="tx1"/>
              </a:solidFill>
              <a:prstDash val="solid"/>
              <a:headEnd type="none" w="med" len="med"/>
              <a:tailEnd type="none" w="med" len="med"/>
            </a:ln>
          </p:spPr>
          <p:txBody>
            <a:bodyPr wrap="none" lIns="0" tIns="91440" rIns="0" bIns="0"/>
            <a:p>
              <a:pPr algn="ctr"/>
              <a:r>
                <a:rPr lang="en-US" altLang="en-US" sz="1600" b="0" dirty="0">
                  <a:latin typeface="Calibri" panose="020F0502020204030204" pitchFamily="34" charset="0"/>
                  <a:cs typeface="Calibri" panose="020F0502020204030204" pitchFamily="34" charset="0"/>
                </a:rPr>
                <a:t>locked</a:t>
              </a:r>
              <a:endParaRPr lang="en-US" altLang="en-US" sz="1600" b="0" dirty="0">
                <a:latin typeface="Calibri" panose="020F0502020204030204" pitchFamily="34" charset="0"/>
                <a:ea typeface="Calibri" panose="020F0502020204030204" pitchFamily="34" charset="0"/>
              </a:endParaRPr>
            </a:p>
          </p:txBody>
        </p:sp>
        <p:sp>
          <p:nvSpPr>
            <p:cNvPr id="56335" name="AutoShape 6"/>
            <p:cNvSpPr/>
            <p:nvPr/>
          </p:nvSpPr>
          <p:spPr>
            <a:xfrm>
              <a:off x="3411" y="1911"/>
              <a:ext cx="1096" cy="283"/>
            </a:xfrm>
            <a:prstGeom prst="roundRect">
              <a:avLst>
                <a:gd name="adj" fmla="val 16667"/>
              </a:avLst>
            </a:prstGeom>
            <a:solidFill>
              <a:schemeClr val="bg1"/>
            </a:solidFill>
            <a:ln w="19050" cap="flat" cmpd="sng">
              <a:solidFill>
                <a:schemeClr val="tx1"/>
              </a:solidFill>
              <a:prstDash val="solid"/>
              <a:headEnd type="none" w="med" len="med"/>
              <a:tailEnd type="none" w="med" len="med"/>
            </a:ln>
          </p:spPr>
          <p:txBody>
            <a:bodyPr wrap="none" lIns="0" tIns="91440" rIns="0" bIns="0"/>
            <a:p>
              <a:pPr algn="ctr"/>
              <a:r>
                <a:rPr lang="en-US" altLang="en-US" sz="1600" b="0" dirty="0">
                  <a:latin typeface="Calibri" panose="020F0502020204030204" pitchFamily="34" charset="0"/>
                  <a:cs typeface="Calibri" panose="020F0502020204030204" pitchFamily="34" charset="0"/>
                </a:rPr>
                <a:t>unlocked</a:t>
              </a:r>
              <a:endParaRPr lang="en-US" altLang="en-US" sz="1600" b="0" dirty="0">
                <a:latin typeface="Calibri" panose="020F0502020204030204" pitchFamily="34" charset="0"/>
                <a:ea typeface="Calibri" panose="020F0502020204030204" pitchFamily="34" charset="0"/>
              </a:endParaRPr>
            </a:p>
          </p:txBody>
        </p:sp>
      </p:grpSp>
      <p:sp>
        <p:nvSpPr>
          <p:cNvPr id="56324" name="Text Box 8"/>
          <p:cNvSpPr txBox="1"/>
          <p:nvPr/>
        </p:nvSpPr>
        <p:spPr>
          <a:xfrm>
            <a:off x="3597275" y="2657475"/>
            <a:ext cx="2001838" cy="246063"/>
          </a:xfrm>
          <a:prstGeom prst="rect">
            <a:avLst/>
          </a:prstGeom>
          <a:noFill/>
          <a:ln w="9525">
            <a:noFill/>
          </a:ln>
        </p:spPr>
        <p:txBody>
          <a:bodyPr wrap="none" lIns="9144" tIns="0" rIns="9144" bIns="0">
            <a:spAutoFit/>
          </a:bodyPr>
          <a:p>
            <a:pPr algn="ctr"/>
            <a:r>
              <a:rPr lang="en-US" altLang="en-US" sz="1600" b="0" dirty="0">
                <a:latin typeface="Calibri" panose="020F0502020204030204" pitchFamily="34" charset="0"/>
                <a:cs typeface="Calibri" panose="020F0502020204030204" pitchFamily="34" charset="0"/>
              </a:rPr>
              <a:t>IF validKey THEN unlock</a:t>
            </a:r>
            <a:endParaRPr lang="en-US" altLang="en-US" sz="1600" b="0" dirty="0">
              <a:latin typeface="Calibri" panose="020F0502020204030204" pitchFamily="34" charset="0"/>
              <a:ea typeface="Calibri" panose="020F0502020204030204" pitchFamily="34" charset="0"/>
            </a:endParaRPr>
          </a:p>
        </p:txBody>
      </p:sp>
      <p:sp>
        <p:nvSpPr>
          <p:cNvPr id="56325" name="Text Box 9"/>
          <p:cNvSpPr txBox="1"/>
          <p:nvPr/>
        </p:nvSpPr>
        <p:spPr>
          <a:xfrm>
            <a:off x="3371850" y="4257675"/>
            <a:ext cx="2446338" cy="246063"/>
          </a:xfrm>
          <a:prstGeom prst="rect">
            <a:avLst/>
          </a:prstGeom>
          <a:noFill/>
          <a:ln w="9525">
            <a:noFill/>
          </a:ln>
        </p:spPr>
        <p:txBody>
          <a:bodyPr wrap="none" lIns="9144" tIns="0" rIns="9144" bIns="0">
            <a:spAutoFit/>
          </a:bodyPr>
          <a:p>
            <a:pPr algn="ctr"/>
            <a:r>
              <a:rPr lang="en-US" altLang="en-US" sz="1600" b="0" dirty="0">
                <a:latin typeface="Calibri" panose="020F0502020204030204" pitchFamily="34" charset="0"/>
                <a:cs typeface="Calibri" panose="020F0502020204030204" pitchFamily="34" charset="0"/>
              </a:rPr>
              <a:t>IF pushLockButton THEN lock</a:t>
            </a:r>
            <a:endParaRPr lang="en-US" altLang="en-US" sz="1600" b="0" dirty="0">
              <a:latin typeface="Calibri" panose="020F0502020204030204" pitchFamily="34" charset="0"/>
              <a:ea typeface="Calibri" panose="020F0502020204030204" pitchFamily="34" charset="0"/>
            </a:endParaRPr>
          </a:p>
        </p:txBody>
      </p:sp>
      <p:sp>
        <p:nvSpPr>
          <p:cNvPr id="56326" name="Arc 10"/>
          <p:cNvSpPr/>
          <p:nvPr/>
        </p:nvSpPr>
        <p:spPr>
          <a:xfrm>
            <a:off x="3519488" y="2894013"/>
            <a:ext cx="2146300" cy="914400"/>
          </a:xfrm>
          <a:custGeom>
            <a:avLst/>
            <a:gdLst>
              <a:gd name="txL" fmla="*/ 0 w 37418"/>
              <a:gd name="txT" fmla="*/ 0 h 21600"/>
              <a:gd name="txR" fmla="*/ 37418 w 37418"/>
              <a:gd name="txB" fmla="*/ 21600 h 21600"/>
            </a:gdLst>
            <a:ahLst/>
            <a:cxnLst>
              <a:cxn ang="0">
                <a:pos x="0" y="2147483647"/>
              </a:cxn>
              <a:cxn ang="0">
                <a:pos x="2147483647" y="2147483647"/>
              </a:cxn>
              <a:cxn ang="0">
                <a:pos x="2147483647" y="2147483647"/>
              </a:cxn>
            </a:cxnLst>
            <a:rect l="txL" t="txT" r="txR" b="txB"/>
            <a:pathLst>
              <a:path w="37418" h="21600" fill="none">
                <a:moveTo>
                  <a:pt x="-1" y="10808"/>
                </a:moveTo>
                <a:cubicBezTo>
                  <a:pt x="3856" y="4120"/>
                  <a:pt x="10990" y="0"/>
                  <a:pt x="18711" y="0"/>
                </a:cubicBezTo>
                <a:cubicBezTo>
                  <a:pt x="26428" y="0"/>
                  <a:pt x="33560" y="4117"/>
                  <a:pt x="37418" y="10801"/>
                </a:cubicBezTo>
              </a:path>
              <a:path w="37418" h="21600" stroke="0">
                <a:moveTo>
                  <a:pt x="-1" y="10808"/>
                </a:moveTo>
                <a:cubicBezTo>
                  <a:pt x="3856" y="4120"/>
                  <a:pt x="10990" y="0"/>
                  <a:pt x="18711" y="0"/>
                </a:cubicBezTo>
                <a:cubicBezTo>
                  <a:pt x="26428" y="0"/>
                  <a:pt x="33560" y="4117"/>
                  <a:pt x="37418" y="10801"/>
                </a:cubicBezTo>
                <a:lnTo>
                  <a:pt x="18711" y="21600"/>
                </a:lnTo>
                <a:lnTo>
                  <a:pt x="-1" y="10808"/>
                </a:lnTo>
                <a:close/>
              </a:path>
            </a:pathLst>
          </a:custGeom>
          <a:noFill/>
          <a:ln w="3175" cap="flat" cmpd="sng">
            <a:solidFill>
              <a:schemeClr val="tx1">
                <a:alpha val="100000"/>
              </a:schemeClr>
            </a:solidFill>
            <a:prstDash val="solid"/>
            <a:round/>
            <a:headEnd type="none" w="med" len="med"/>
            <a:tailEnd type="triangle" w="med" len="lg"/>
          </a:ln>
        </p:spPr>
        <p:txBody>
          <a:bodyPr/>
          <a:p>
            <a:endParaRPr lang="zh-CN" altLang="en-US"/>
          </a:p>
        </p:txBody>
      </p:sp>
      <p:sp>
        <p:nvSpPr>
          <p:cNvPr id="56327" name="Arc 11"/>
          <p:cNvSpPr/>
          <p:nvPr/>
        </p:nvSpPr>
        <p:spPr>
          <a:xfrm>
            <a:off x="3517900" y="3370263"/>
            <a:ext cx="2146300" cy="914400"/>
          </a:xfrm>
          <a:custGeom>
            <a:avLst/>
            <a:gdLst>
              <a:gd name="txL" fmla="*/ 0 w 37396"/>
              <a:gd name="txT" fmla="*/ 0 h 21600"/>
              <a:gd name="txR" fmla="*/ 37396 w 37396"/>
              <a:gd name="txB" fmla="*/ 21600 h 21600"/>
            </a:gdLst>
            <a:ahLst/>
            <a:cxnLst>
              <a:cxn ang="0">
                <a:pos x="2147483647" y="2147483647"/>
              </a:cxn>
              <a:cxn ang="0">
                <a:pos x="0" y="2147483647"/>
              </a:cxn>
              <a:cxn ang="0">
                <a:pos x="2147483647" y="0"/>
              </a:cxn>
            </a:cxnLst>
            <a:rect l="txL" t="txT" r="txR" b="txB"/>
            <a:pathLst>
              <a:path w="37396" h="21600" fill="none">
                <a:moveTo>
                  <a:pt x="37396" y="10817"/>
                </a:moveTo>
                <a:cubicBezTo>
                  <a:pt x="33535" y="17490"/>
                  <a:pt x="26409" y="21599"/>
                  <a:pt x="18700" y="21599"/>
                </a:cubicBezTo>
                <a:cubicBezTo>
                  <a:pt x="10987" y="21599"/>
                  <a:pt x="3860" y="17487"/>
                  <a:pt x="0" y="10810"/>
                </a:cubicBezTo>
              </a:path>
              <a:path w="37396" h="21600" stroke="0">
                <a:moveTo>
                  <a:pt x="37396" y="10817"/>
                </a:moveTo>
                <a:cubicBezTo>
                  <a:pt x="33535" y="17490"/>
                  <a:pt x="26409" y="21599"/>
                  <a:pt x="18700" y="21599"/>
                </a:cubicBezTo>
                <a:cubicBezTo>
                  <a:pt x="10987" y="21599"/>
                  <a:pt x="3860" y="17487"/>
                  <a:pt x="0" y="10810"/>
                </a:cubicBezTo>
                <a:lnTo>
                  <a:pt x="18700" y="0"/>
                </a:lnTo>
                <a:lnTo>
                  <a:pt x="37396" y="10817"/>
                </a:lnTo>
                <a:close/>
              </a:path>
            </a:pathLst>
          </a:custGeom>
          <a:noFill/>
          <a:ln w="3175" cap="flat" cmpd="sng">
            <a:solidFill>
              <a:schemeClr val="tx1">
                <a:alpha val="100000"/>
              </a:schemeClr>
            </a:solidFill>
            <a:prstDash val="solid"/>
            <a:round/>
            <a:headEnd type="none" w="med" len="med"/>
            <a:tailEnd type="triangle" w="med" len="lg"/>
          </a:ln>
        </p:spPr>
        <p:txBody>
          <a:bodyPr/>
          <a:p>
            <a:endParaRPr lang="zh-CN" altLang="en-US"/>
          </a:p>
        </p:txBody>
      </p:sp>
      <p:sp>
        <p:nvSpPr>
          <p:cNvPr id="56328" name="Arc 14"/>
          <p:cNvSpPr/>
          <p:nvPr/>
        </p:nvSpPr>
        <p:spPr>
          <a:xfrm>
            <a:off x="2809875" y="2874963"/>
            <a:ext cx="3565525" cy="1905000"/>
          </a:xfrm>
          <a:custGeom>
            <a:avLst/>
            <a:gdLst>
              <a:gd name="txL" fmla="*/ 0 w 37396"/>
              <a:gd name="txT" fmla="*/ 0 h 21600"/>
              <a:gd name="txR" fmla="*/ 37396 w 37396"/>
              <a:gd name="txB" fmla="*/ 21600 h 21600"/>
            </a:gdLst>
            <a:ahLst/>
            <a:cxnLst>
              <a:cxn ang="0">
                <a:pos x="2147483647" y="2147483647"/>
              </a:cxn>
              <a:cxn ang="0">
                <a:pos x="0" y="2147483647"/>
              </a:cxn>
              <a:cxn ang="0">
                <a:pos x="2147483647" y="0"/>
              </a:cxn>
            </a:cxnLst>
            <a:rect l="txL" t="txT" r="txR" b="txB"/>
            <a:pathLst>
              <a:path w="37396" h="21600" fill="none">
                <a:moveTo>
                  <a:pt x="37396" y="10817"/>
                </a:moveTo>
                <a:cubicBezTo>
                  <a:pt x="33535" y="17490"/>
                  <a:pt x="26409" y="21599"/>
                  <a:pt x="18700" y="21599"/>
                </a:cubicBezTo>
                <a:cubicBezTo>
                  <a:pt x="10987" y="21599"/>
                  <a:pt x="3860" y="17487"/>
                  <a:pt x="0" y="10810"/>
                </a:cubicBezTo>
              </a:path>
              <a:path w="37396" h="21600" stroke="0">
                <a:moveTo>
                  <a:pt x="37396" y="10817"/>
                </a:moveTo>
                <a:cubicBezTo>
                  <a:pt x="33535" y="17490"/>
                  <a:pt x="26409" y="21599"/>
                  <a:pt x="18700" y="21599"/>
                </a:cubicBezTo>
                <a:cubicBezTo>
                  <a:pt x="10987" y="21599"/>
                  <a:pt x="3860" y="17487"/>
                  <a:pt x="0" y="10810"/>
                </a:cubicBezTo>
                <a:lnTo>
                  <a:pt x="18700" y="0"/>
                </a:lnTo>
                <a:lnTo>
                  <a:pt x="37396" y="10817"/>
                </a:lnTo>
                <a:close/>
              </a:path>
            </a:pathLst>
          </a:custGeom>
          <a:noFill/>
          <a:ln w="3175" cap="flat" cmpd="sng">
            <a:solidFill>
              <a:schemeClr val="tx1">
                <a:alpha val="100000"/>
              </a:schemeClr>
            </a:solidFill>
            <a:prstDash val="solid"/>
            <a:round/>
            <a:headEnd type="none" w="med" len="med"/>
            <a:tailEnd type="triangle" w="med" len="lg"/>
          </a:ln>
        </p:spPr>
        <p:txBody>
          <a:bodyPr/>
          <a:p>
            <a:endParaRPr lang="zh-CN" altLang="en-US"/>
          </a:p>
        </p:txBody>
      </p:sp>
      <p:sp>
        <p:nvSpPr>
          <p:cNvPr id="56329" name="Text Box 15"/>
          <p:cNvSpPr txBox="1"/>
          <p:nvPr/>
        </p:nvSpPr>
        <p:spPr>
          <a:xfrm>
            <a:off x="1520825" y="4791075"/>
            <a:ext cx="6188075" cy="246063"/>
          </a:xfrm>
          <a:prstGeom prst="rect">
            <a:avLst/>
          </a:prstGeom>
          <a:noFill/>
          <a:ln w="9525">
            <a:noFill/>
          </a:ln>
        </p:spPr>
        <p:txBody>
          <a:bodyPr wrap="none" lIns="9144" tIns="0" rIns="9144" bIns="0">
            <a:spAutoFit/>
          </a:bodyPr>
          <a:p>
            <a:pPr algn="ctr"/>
            <a:r>
              <a:rPr lang="en-US" altLang="en-US" sz="1600" b="0" dirty="0">
                <a:latin typeface="Calibri" panose="020F0502020204030204" pitchFamily="34" charset="0"/>
                <a:cs typeface="Calibri" panose="020F0502020204030204" pitchFamily="34" charset="0"/>
              </a:rPr>
              <a:t>IF timeAfterUnlock ≥ max{ autoLockInterval, holdOpenInterval } THEN lock</a:t>
            </a:r>
            <a:endParaRPr lang="en-US" altLang="en-US" sz="1600" b="0" dirty="0">
              <a:latin typeface="Calibri" panose="020F0502020204030204" pitchFamily="34" charset="0"/>
              <a:ea typeface="Calibri" panose="020F0502020204030204" pitchFamily="34" charset="0"/>
            </a:endParaRPr>
          </a:p>
        </p:txBody>
      </p:sp>
      <p:sp>
        <p:nvSpPr>
          <p:cNvPr id="56330" name="Arc 17"/>
          <p:cNvSpPr/>
          <p:nvPr/>
        </p:nvSpPr>
        <p:spPr>
          <a:xfrm>
            <a:off x="2809875" y="2401888"/>
            <a:ext cx="3565525" cy="1901825"/>
          </a:xfrm>
          <a:custGeom>
            <a:avLst/>
            <a:gdLst>
              <a:gd name="txL" fmla="*/ 0 w 37418"/>
              <a:gd name="txT" fmla="*/ 0 h 21600"/>
              <a:gd name="txR" fmla="*/ 37418 w 37418"/>
              <a:gd name="txB" fmla="*/ 21600 h 21600"/>
            </a:gdLst>
            <a:ahLst/>
            <a:cxnLst>
              <a:cxn ang="0">
                <a:pos x="0" y="2147483647"/>
              </a:cxn>
              <a:cxn ang="0">
                <a:pos x="2147483647" y="2147483647"/>
              </a:cxn>
              <a:cxn ang="0">
                <a:pos x="2147483647" y="2147483647"/>
              </a:cxn>
            </a:cxnLst>
            <a:rect l="txL" t="txT" r="txR" b="txB"/>
            <a:pathLst>
              <a:path w="37418" h="21600" fill="none">
                <a:moveTo>
                  <a:pt x="-1" y="10808"/>
                </a:moveTo>
                <a:cubicBezTo>
                  <a:pt x="3856" y="4120"/>
                  <a:pt x="10990" y="0"/>
                  <a:pt x="18711" y="0"/>
                </a:cubicBezTo>
                <a:cubicBezTo>
                  <a:pt x="26428" y="0"/>
                  <a:pt x="33560" y="4117"/>
                  <a:pt x="37418" y="10801"/>
                </a:cubicBezTo>
              </a:path>
              <a:path w="37418" h="21600" stroke="0">
                <a:moveTo>
                  <a:pt x="-1" y="10808"/>
                </a:moveTo>
                <a:cubicBezTo>
                  <a:pt x="3856" y="4120"/>
                  <a:pt x="10990" y="0"/>
                  <a:pt x="18711" y="0"/>
                </a:cubicBezTo>
                <a:cubicBezTo>
                  <a:pt x="26428" y="0"/>
                  <a:pt x="33560" y="4117"/>
                  <a:pt x="37418" y="10801"/>
                </a:cubicBezTo>
                <a:lnTo>
                  <a:pt x="18711" y="21600"/>
                </a:lnTo>
                <a:lnTo>
                  <a:pt x="-1" y="10808"/>
                </a:lnTo>
                <a:close/>
              </a:path>
            </a:pathLst>
          </a:custGeom>
          <a:noFill/>
          <a:ln w="3175" cap="flat" cmpd="sng">
            <a:solidFill>
              <a:schemeClr val="tx1">
                <a:alpha val="100000"/>
              </a:schemeClr>
            </a:solidFill>
            <a:prstDash val="solid"/>
            <a:round/>
            <a:headEnd type="none" w="med" len="med"/>
            <a:tailEnd type="triangle" w="med" len="lg"/>
          </a:ln>
        </p:spPr>
        <p:txBody>
          <a:bodyPr/>
          <a:p>
            <a:endParaRPr lang="zh-CN" altLang="en-US"/>
          </a:p>
        </p:txBody>
      </p:sp>
      <p:sp>
        <p:nvSpPr>
          <p:cNvPr id="56331" name="Text Box 18"/>
          <p:cNvSpPr txBox="1"/>
          <p:nvPr/>
        </p:nvSpPr>
        <p:spPr>
          <a:xfrm>
            <a:off x="2635250" y="2162175"/>
            <a:ext cx="3930650" cy="246063"/>
          </a:xfrm>
          <a:prstGeom prst="rect">
            <a:avLst/>
          </a:prstGeom>
          <a:noFill/>
          <a:ln w="9525">
            <a:noFill/>
          </a:ln>
        </p:spPr>
        <p:txBody>
          <a:bodyPr wrap="none" lIns="9144" tIns="0" rIns="9144" bIns="0">
            <a:spAutoFit/>
          </a:bodyPr>
          <a:p>
            <a:pPr algn="ctr"/>
            <a:r>
              <a:rPr lang="en-US" altLang="en-US" sz="1600" b="0" dirty="0">
                <a:latin typeface="Calibri" panose="020F0502020204030204" pitchFamily="34" charset="0"/>
                <a:cs typeface="Calibri" panose="020F0502020204030204" pitchFamily="34" charset="0"/>
              </a:rPr>
              <a:t>IF validKey AND holdOpenInterval THEN unlock</a:t>
            </a:r>
            <a:endParaRPr lang="en-US" altLang="en-US" sz="1600" b="0" dirty="0">
              <a:latin typeface="Calibri" panose="020F0502020204030204" pitchFamily="34" charset="0"/>
              <a:ea typeface="Calibri" panose="020F0502020204030204" pitchFamily="34" charset="0"/>
            </a:endParaRPr>
          </a:p>
        </p:txBody>
      </p:sp>
      <p:sp>
        <p:nvSpPr>
          <p:cNvPr id="56332" name="Slide Number Placeholder 1"/>
          <p:cNvSpPr txBox="1">
            <a:spLocks noGrp="1"/>
          </p:cNvSpPr>
          <p:nvPr>
            <p:ph type="sldNum" sz="quarter" idx="4"/>
          </p:nvPr>
        </p:nvSpPr>
        <p:spPr>
          <a:xfrm>
            <a:off x="8674100" y="6392863"/>
            <a:ext cx="469900" cy="357187"/>
          </a:xfrm>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Arial" panose="020B0604020202020204" pitchFamily="34" charset="0"/>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1400" b="0" dirty="0">
                <a:latin typeface="Times New Roman" panose="02020603050405020304" pitchFamily="18" charset="0"/>
                <a:ea typeface="宋体" panose="02010600030101010101" pitchFamily="2" charset="-122"/>
              </a:rPr>
            </a:fld>
            <a:endParaRPr lang="en-US" altLang="en-US" sz="1400" b="0" dirty="0">
              <a:latin typeface="Times New Roman" panose="02020603050405020304" pitchFamily="18" charset="0"/>
              <a:ea typeface="宋体" panose="02010600030101010101" pitchFamily="2" charset="-122"/>
            </a:endParaRPr>
          </a:p>
        </p:txBody>
      </p:sp>
      <p:sp>
        <p:nvSpPr>
          <p:cNvPr id="56333" name="TextBox 2"/>
          <p:cNvSpPr txBox="1"/>
          <p:nvPr/>
        </p:nvSpPr>
        <p:spPr>
          <a:xfrm>
            <a:off x="417513" y="5919788"/>
            <a:ext cx="6634162" cy="400050"/>
          </a:xfrm>
          <a:prstGeom prst="rect">
            <a:avLst/>
          </a:prstGeom>
          <a:noFill/>
          <a:ln w="9525">
            <a:noFill/>
          </a:ln>
        </p:spPr>
        <p:txBody>
          <a:bodyPr wrap="none">
            <a:spAutoFit/>
          </a:bodyPr>
          <a:p>
            <a:r>
              <a:rPr lang="en-US" altLang="en-US" sz="2000" dirty="0">
                <a:latin typeface="Calibri" panose="020F0502020204030204" pitchFamily="34" charset="0"/>
                <a:ea typeface="Calibri" panose="020F0502020204030204" pitchFamily="34" charset="0"/>
              </a:rPr>
              <a:t>…</a:t>
            </a:r>
            <a:r>
              <a:rPr lang="en-US" altLang="en-US" sz="2000" dirty="0">
                <a:latin typeface="Calibri" panose="020F0502020204030204" pitchFamily="34" charset="0"/>
                <a:cs typeface="Calibri" panose="020F0502020204030204" pitchFamily="34" charset="0"/>
              </a:rPr>
              <a:t> what seemed a simple problem, now is becoming complex</a:t>
            </a:r>
            <a:endParaRPr lang="en-US" altLang="en-US" sz="2000" dirty="0">
              <a:latin typeface="Calibri" panose="020F0502020204030204" pitchFamily="34" charset="0"/>
              <a:ea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commondata" val="eyJoZGlkIjoiZTI3MzEzOWFkYWIyMzJmZWY3NTJiMTllNTNhYmFjYzkifQ=="/>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10367</Words>
  <Application>WPS 演示</Application>
  <PresentationFormat>全屏显示(4:3)</PresentationFormat>
  <Paragraphs>598</Paragraphs>
  <Slides>59</Slides>
  <Notes>38</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0</vt:i4>
      </vt:variant>
      <vt:variant>
        <vt:lpstr>幻灯片标题</vt:lpstr>
      </vt:variant>
      <vt:variant>
        <vt:i4>59</vt:i4>
      </vt:variant>
    </vt:vector>
  </HeadingPairs>
  <TitlesOfParts>
    <vt:vector size="80" baseType="lpstr">
      <vt:lpstr>Arial</vt:lpstr>
      <vt:lpstr>宋体</vt:lpstr>
      <vt:lpstr>Wingdings</vt:lpstr>
      <vt:lpstr>Times New Roman</vt:lpstr>
      <vt:lpstr>Comic Sans MS</vt:lpstr>
      <vt:lpstr>Verdana</vt:lpstr>
      <vt:lpstr>黑体</vt:lpstr>
      <vt:lpstr>Calibri</vt:lpstr>
      <vt:lpstr>等线 Light</vt:lpstr>
      <vt:lpstr>MS PGothic</vt:lpstr>
      <vt:lpstr>Symbol</vt:lpstr>
      <vt:lpstr>微软雅黑</vt:lpstr>
      <vt:lpstr>Arial Unicode MS</vt:lpstr>
      <vt:lpstr>Arial Black</vt:lpstr>
      <vt:lpstr>Calibri</vt:lpstr>
      <vt:lpstr>Times New Roman</vt:lpstr>
      <vt:lpstr>MBHRGQ+ArialMT</vt:lpstr>
      <vt:lpstr>Segoe Print</vt:lpstr>
      <vt:lpstr>INQKCT+ArialMT</vt:lpstr>
      <vt:lpstr>Wingdings 2</vt:lpstr>
      <vt:lpstr>Default Design</vt:lpstr>
      <vt:lpstr>PowerPoint 演示文稿</vt:lpstr>
      <vt:lpstr>Exercise 01: Review &amp; Preview (in 2 weeks)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Complexity Example: Scheduling Fence Construction Tasks</vt:lpstr>
      <vt:lpstr>More Complexity</vt:lpstr>
      <vt:lpstr>The Frog in Boiling Water</vt:lpstr>
      <vt:lpstr>The Role of Software Engg. (1)</vt:lpstr>
      <vt:lpstr>The Role of Software Engg. (2)</vt:lpstr>
      <vt:lpstr>PowerPoint 演示文稿</vt:lpstr>
      <vt:lpstr>PowerPoint 演示文稿</vt:lpstr>
      <vt:lpstr>Intelligent Agents in the World</vt:lpstr>
      <vt:lpstr>PowerPoint 演示文稿</vt:lpstr>
      <vt:lpstr>PowerPoint 演示文稿</vt:lpstr>
      <vt:lpstr>PowerPoint 演示文稿</vt:lpstr>
      <vt:lpstr>Example: ATM Machine</vt:lpstr>
      <vt:lpstr>Problem-solving Strategy</vt:lpstr>
      <vt:lpstr>How ATM Machine Might Work</vt:lpstr>
      <vt:lpstr>Cartoon Strip: How ATM Machine Works</vt:lpstr>
      <vt:lpstr>Software Engineering Blueprints</vt:lpstr>
      <vt:lpstr>Second Law of Software Engineering</vt:lpstr>
      <vt:lpstr>Software Development Methods</vt:lpstr>
      <vt:lpstr>Waterfall Method</vt:lpstr>
      <vt:lpstr>UML – Language of Symbols</vt:lpstr>
      <vt:lpstr>Understanding the Problem Domain</vt:lpstr>
      <vt:lpstr>How Much Diagramming?</vt:lpstr>
      <vt:lpstr>ATM: Gallery of Players</vt:lpstr>
      <vt:lpstr>Gallery of Workers + Things</vt:lpstr>
      <vt:lpstr>Use Case: Withdraw Cash</vt:lpstr>
      <vt:lpstr>How ATM Machine Works (2)</vt:lpstr>
      <vt:lpstr>How ATM Machine Works (3)</vt:lpstr>
      <vt:lpstr>Rube Goldberg Design</vt:lpstr>
      <vt:lpstr>Actual Design</vt:lpstr>
      <vt:lpstr>Feasibility &amp; Quality of Designs</vt:lpstr>
      <vt:lpstr>Software Measurement</vt:lpstr>
      <vt:lpstr>Formal hedge pruning</vt:lpstr>
      <vt:lpstr>Sizing the Problem (1)</vt:lpstr>
      <vt:lpstr>Sizing the Problem (2)</vt:lpstr>
      <vt:lpstr>Sizing the Problem (3)</vt:lpstr>
      <vt:lpstr>Exponential Cost of Estimation</vt:lpstr>
      <vt:lpstr>Estimation Error Over Time</vt:lpstr>
      <vt:lpstr>Estimation Error Over Time</vt:lpstr>
      <vt:lpstr>Agile Project Effort Estimation</vt:lpstr>
      <vt:lpstr>Measuring Quality of Work</vt:lpstr>
      <vt:lpstr>Concept Maps</vt:lpstr>
      <vt:lpstr>Estimation Error Over Time</vt:lpstr>
      <vt:lpstr>Agile Project Effort Estimation</vt:lpstr>
      <vt:lpstr>Measuring Quality of Work</vt:lpstr>
      <vt:lpstr>Concept Maps</vt:lpstr>
      <vt:lpstr>Case Study: Home Access Control</vt:lpstr>
      <vt:lpstr>Case Study – More Details</vt:lpstr>
      <vt:lpstr>Know Your Problem</vt:lpstr>
      <vt:lpstr>Concept Map for Home Access Control</vt:lpstr>
      <vt:lpstr>States and Transition Rules</vt:lpstr>
    </vt:vector>
  </TitlesOfParts>
  <Company>Rutgers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Lecture Slides</dc:title>
  <dc:creator>Ivan Marsic</dc:creator>
  <cp:keywords>software engineering, software development, object-oriented software engineeirng</cp:keywords>
  <dc:subject>lecture 1: Introduction</dc:subject>
  <cp:category>lecture slides, course materials</cp:category>
  <cp:lastModifiedBy>MX</cp:lastModifiedBy>
  <cp:revision>5074</cp:revision>
  <dcterms:created xsi:type="dcterms:W3CDTF">2003-05-20T05:14:00Z</dcterms:created>
  <dcterms:modified xsi:type="dcterms:W3CDTF">2026-03-10T07:59:11Z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16635F10E3554B44888AF8D2A24D5D53_13</vt:lpwstr>
  </property>
  <property fmtid="{D5CDD505-2E9C-101B-9397-08002B2CF9AE}" pid="3" name="KSOProductBuildVer">
    <vt:lpwstr>2052-12.1.0.23542</vt:lpwstr>
  </property>
</Properties>
</file>