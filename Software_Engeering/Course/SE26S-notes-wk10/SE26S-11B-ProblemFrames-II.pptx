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597" r:id="rId3"/>
    <p:sldId id="585" r:id="rId5"/>
    <p:sldId id="586" r:id="rId6"/>
    <p:sldId id="587" r:id="rId7"/>
    <p:sldId id="588" r:id="rId8"/>
    <p:sldId id="589" r:id="rId9"/>
    <p:sldId id="593" r:id="rId10"/>
    <p:sldId id="592" r:id="rId11"/>
    <p:sldId id="591" r:id="rId12"/>
    <p:sldId id="590" r:id="rId13"/>
    <p:sldId id="594" r:id="rId14"/>
    <p:sldId id="596" r:id="rId15"/>
  </p:sldIdLst>
  <p:sldSz cx="9144000" cy="6858000" type="screen4x3"/>
  <p:notesSz cx="7010400" cy="92964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33CCCC"/>
    <a:srgbClr val="FFFF00"/>
    <a:srgbClr val="DDDDDD"/>
    <a:srgbClr val="FF0000"/>
    <a:srgbClr val="74C2DA"/>
    <a:srgbClr val="81CAE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425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-17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>
              <a:defRPr sz="1200" smtClean="0"/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>
              <a:defRPr sz="1200" smtClean="0"/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>
              <a:defRPr sz="1200" smtClean="0"/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40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53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6550" y="1676400"/>
            <a:ext cx="4221163" cy="4587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0113" y="1676400"/>
            <a:ext cx="4222750" cy="4587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3075" y="152400"/>
            <a:ext cx="2168525" cy="61118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7500" y="152400"/>
            <a:ext cx="6353175" cy="611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52400"/>
            <a:ext cx="86741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36550" y="1676400"/>
            <a:ext cx="8596313" cy="4587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17500" y="152400"/>
            <a:ext cx="86741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36550" y="1676400"/>
            <a:ext cx="8596313" cy="45878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43938" y="6502400"/>
            <a:ext cx="468313" cy="323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547688"/>
            <a:ext cx="3019425" cy="179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5"/>
          <p:cNvSpPr/>
          <p:nvPr/>
        </p:nvSpPr>
        <p:spPr>
          <a:xfrm>
            <a:off x="1152525" y="2636838"/>
            <a:ext cx="7323138" cy="11636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182880" rIns="182880">
            <a:spAutoFit/>
          </a:bodyPr>
          <a:p>
            <a:pPr>
              <a:spcBef>
                <a:spcPct val="20000"/>
              </a:spcBef>
            </a:pPr>
            <a:r>
              <a:rPr lang="en-US" altLang="zh-CN" sz="3600" dirty="0">
                <a:latin typeface="Comic Sans MS" panose="030F0702030302020204" pitchFamily="66" charset="0"/>
                <a:ea typeface="宋体" panose="02010600030101010101" pitchFamily="2" charset="-122"/>
              </a:rPr>
              <a:t>Problem Frames II:</a:t>
            </a:r>
            <a:endParaRPr lang="en-US" altLang="zh-CN" sz="36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Decomposition, </a:t>
            </a:r>
            <a:r>
              <a:rPr lang="en-US" altLang="zh-CN" sz="2800" u="sng" dirty="0">
                <a:latin typeface="Comic Sans MS" panose="030F0702030302020204" pitchFamily="66" charset="0"/>
                <a:ea typeface="宋体" panose="02010600030101010101" pitchFamily="2" charset="-122"/>
              </a:rPr>
              <a:t>Modeling &amp; Recombination</a:t>
            </a:r>
            <a:endParaRPr lang="en-US" altLang="zh-CN" sz="2800" u="sng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52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3" name="矩形 5"/>
          <p:cNvSpPr/>
          <p:nvPr/>
        </p:nvSpPr>
        <p:spPr>
          <a:xfrm>
            <a:off x="742950" y="4151313"/>
            <a:ext cx="7467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200000"/>
              </a:lnSpc>
              <a:buNone/>
            </a:pPr>
            <a:r>
              <a:rPr lang="zh-CN" altLang="en-US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Topics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Problem Domain Modeling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Recombining Problem Frames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Typical System Requirements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03713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CN" sz="3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REQ-1</a:t>
            </a:r>
            <a:r>
              <a:rPr lang="en-US" altLang="zh-CN" sz="3000" dirty="0">
                <a:latin typeface="Calibri" panose="020F0502020204030204" pitchFamily="34" charset="0"/>
                <a:ea typeface="宋体" panose="02010600030101010101" pitchFamily="2" charset="-122"/>
              </a:rPr>
              <a:t>: Map input data to output data as said by given rules</a:t>
            </a:r>
            <a:endParaRPr lang="en-US" altLang="zh-CN" sz="3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CN" sz="3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REQ-2</a:t>
            </a:r>
            <a:r>
              <a:rPr lang="en-US" altLang="zh-CN" sz="3000" dirty="0">
                <a:latin typeface="Calibri" panose="020F0502020204030204" pitchFamily="34" charset="0"/>
                <a:ea typeface="宋体" panose="02010600030101010101" pitchFamily="2" charset="-122"/>
              </a:rPr>
              <a:t>: Allow repository (or </a:t>
            </a:r>
            <a:r>
              <a:rPr lang="en-US" altLang="zh-CN" sz="3000" i="1" dirty="0">
                <a:latin typeface="Calibri" panose="020F0502020204030204" pitchFamily="34" charset="0"/>
                <a:ea typeface="宋体" panose="02010600030101010101" pitchFamily="2" charset="-122"/>
              </a:rPr>
              <a:t>document</a:t>
            </a:r>
            <a:r>
              <a:rPr lang="en-US" altLang="zh-CN" sz="3000" dirty="0">
                <a:latin typeface="Calibri" panose="020F0502020204030204" pitchFamily="34" charset="0"/>
                <a:ea typeface="宋体" panose="02010600030101010101" pitchFamily="2" charset="-122"/>
              </a:rPr>
              <a:t>) editing,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where “repository” is a collection of data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CN" sz="3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REQ-3</a:t>
            </a:r>
            <a:r>
              <a:rPr lang="en-US" altLang="zh-CN" sz="3000" dirty="0">
                <a:latin typeface="Calibri" panose="020F0502020204030204" pitchFamily="34" charset="0"/>
                <a:ea typeface="宋体" panose="02010600030101010101" pitchFamily="2" charset="-122"/>
              </a:rPr>
              <a:t>: Automatically control a physical object/device</a:t>
            </a:r>
            <a:endParaRPr lang="en-US" altLang="zh-CN" sz="3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CN" sz="3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REQ-4</a:t>
            </a:r>
            <a:r>
              <a:rPr lang="en-US" altLang="zh-CN" sz="3000" dirty="0">
                <a:latin typeface="Calibri" panose="020F0502020204030204" pitchFamily="34" charset="0"/>
                <a:ea typeface="宋体" panose="02010600030101010101" pitchFamily="2" charset="-122"/>
              </a:rPr>
              <a:t>: Interactively control a physical object/device</a:t>
            </a:r>
            <a:endParaRPr lang="en-US" altLang="zh-CN" sz="3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zh-CN" sz="3000" b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REQ-5</a:t>
            </a:r>
            <a:r>
              <a:rPr lang="en-US" altLang="zh-CN" sz="3000" dirty="0">
                <a:latin typeface="Calibri" panose="020F0502020204030204" pitchFamily="34" charset="0"/>
                <a:ea typeface="宋体" panose="02010600030101010101" pitchFamily="2" charset="-122"/>
              </a:rPr>
              <a:t>: Monitor and display information about an object</a:t>
            </a:r>
            <a:endParaRPr lang="en-US" altLang="zh-CN" sz="3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101" name="Rectangle 4"/>
          <p:cNvSpPr/>
          <p:nvPr/>
        </p:nvSpPr>
        <p:spPr>
          <a:xfrm>
            <a:off x="6215063" y="4024313"/>
            <a:ext cx="2128837" cy="379412"/>
          </a:xfrm>
          <a:prstGeom prst="rect">
            <a:avLst/>
          </a:prstGeom>
          <a:solidFill>
            <a:srgbClr val="FFFFCC"/>
          </a:solidFill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1800" dirty="0">
                <a:latin typeface="Comic Sans MS" panose="030F0702030302020204" pitchFamily="66" charset="0"/>
                <a:ea typeface="宋体" panose="02010600030101010101" pitchFamily="2" charset="-122"/>
              </a:rPr>
              <a:t>Required Behavior</a:t>
            </a:r>
            <a:endParaRPr lang="en-US" altLang="zh-CN" sz="1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102" name="Rectangle 5"/>
          <p:cNvSpPr/>
          <p:nvPr/>
        </p:nvSpPr>
        <p:spPr>
          <a:xfrm>
            <a:off x="6170613" y="5083175"/>
            <a:ext cx="2435225" cy="379413"/>
          </a:xfrm>
          <a:prstGeom prst="rect">
            <a:avLst/>
          </a:prstGeom>
          <a:solidFill>
            <a:srgbClr val="FFFFCC"/>
          </a:solidFill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1800" dirty="0">
                <a:latin typeface="Comic Sans MS" panose="030F0702030302020204" pitchFamily="66" charset="0"/>
                <a:ea typeface="宋体" panose="02010600030101010101" pitchFamily="2" charset="-122"/>
              </a:rPr>
              <a:t>Commanded Behavior</a:t>
            </a:r>
            <a:endParaRPr lang="en-US" altLang="zh-CN" sz="1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103" name="Rectangle 6"/>
          <p:cNvSpPr/>
          <p:nvPr/>
        </p:nvSpPr>
        <p:spPr>
          <a:xfrm>
            <a:off x="6173788" y="6070600"/>
            <a:ext cx="2322512" cy="379413"/>
          </a:xfrm>
          <a:prstGeom prst="rect">
            <a:avLst/>
          </a:prstGeom>
          <a:solidFill>
            <a:srgbClr val="FFFFCC"/>
          </a:solidFill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1800" dirty="0">
                <a:latin typeface="Comic Sans MS" panose="030F0702030302020204" pitchFamily="66" charset="0"/>
                <a:ea typeface="宋体" panose="02010600030101010101" pitchFamily="2" charset="-122"/>
              </a:rPr>
              <a:t>Information Display</a:t>
            </a:r>
            <a:endParaRPr lang="en-US" altLang="zh-CN" sz="1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104" name="Rectangle 7"/>
          <p:cNvSpPr/>
          <p:nvPr/>
        </p:nvSpPr>
        <p:spPr>
          <a:xfrm>
            <a:off x="6229350" y="3184525"/>
            <a:ext cx="2232025" cy="379413"/>
          </a:xfrm>
          <a:prstGeom prst="rect">
            <a:avLst/>
          </a:prstGeom>
          <a:solidFill>
            <a:srgbClr val="FFFFCC"/>
          </a:solidFill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1800" dirty="0">
                <a:latin typeface="Comic Sans MS" panose="030F0702030302020204" pitchFamily="66" charset="0"/>
                <a:ea typeface="宋体" panose="02010600030101010101" pitchFamily="2" charset="-122"/>
              </a:rPr>
              <a:t>Simple Workpieces</a:t>
            </a:r>
            <a:endParaRPr lang="en-US" altLang="zh-CN" sz="1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105" name="Rectangle 8"/>
          <p:cNvSpPr/>
          <p:nvPr/>
        </p:nvSpPr>
        <p:spPr>
          <a:xfrm>
            <a:off x="6275388" y="2089150"/>
            <a:ext cx="1862137" cy="379413"/>
          </a:xfrm>
          <a:prstGeom prst="rect">
            <a:avLst/>
          </a:prstGeom>
          <a:solidFill>
            <a:srgbClr val="FFFFCC"/>
          </a:solidFill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1800" dirty="0">
                <a:latin typeface="Comic Sans MS" panose="030F0702030302020204" pitchFamily="66" charset="0"/>
                <a:ea typeface="宋体" panose="02010600030101010101" pitchFamily="2" charset="-122"/>
              </a:rPr>
              <a:t>Transformation</a:t>
            </a:r>
            <a:endParaRPr lang="en-US" altLang="zh-CN" sz="1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Slide Number Placeholder 4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12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Machine and Problem Domain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5124" name="Group 5"/>
          <p:cNvGrpSpPr/>
          <p:nvPr/>
        </p:nvGrpSpPr>
        <p:grpSpPr>
          <a:xfrm>
            <a:off x="2044700" y="4527550"/>
            <a:ext cx="4684713" cy="484188"/>
            <a:chOff x="1258" y="1436"/>
            <a:chExt cx="2951" cy="305"/>
          </a:xfrm>
        </p:grpSpPr>
        <p:cxnSp>
          <p:nvCxnSpPr>
            <p:cNvPr id="5150" name="AutoShape 6"/>
            <p:cNvCxnSpPr>
              <a:cxnSpLocks noChangeAspect="1"/>
              <a:stCxn id="5154" idx="3"/>
              <a:endCxn id="5158" idx="2"/>
            </p:cNvCxnSpPr>
            <p:nvPr/>
          </p:nvCxnSpPr>
          <p:spPr>
            <a:xfrm>
              <a:off x="1900" y="1589"/>
              <a:ext cx="202" cy="0"/>
            </a:xfrm>
            <a:prstGeom prst="straightConnector1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151" name="AutoShape 7"/>
            <p:cNvCxnSpPr>
              <a:cxnSpLocks noChangeAspect="1"/>
              <a:stCxn id="5159" idx="2"/>
              <a:endCxn id="5157" idx="3"/>
            </p:cNvCxnSpPr>
            <p:nvPr/>
          </p:nvCxnSpPr>
          <p:spPr>
            <a:xfrm flipH="1" flipV="1">
              <a:off x="3026" y="1588"/>
              <a:ext cx="184" cy="1"/>
            </a:xfrm>
            <a:prstGeom prst="straightConnector1">
              <a:avLst/>
            </a:prstGeom>
            <a:ln w="12700" cap="flat" cmpd="sng">
              <a:solidFill>
                <a:schemeClr val="tx1"/>
              </a:solidFill>
              <a:prstDash val="lgDash"/>
              <a:headEnd type="none" w="med" len="med"/>
              <a:tailEnd type="none" w="lg" len="lg"/>
            </a:ln>
          </p:spPr>
        </p:cxnSp>
        <p:cxnSp>
          <p:nvCxnSpPr>
            <p:cNvPr id="5152" name="AutoShape 8"/>
            <p:cNvCxnSpPr>
              <a:cxnSpLocks noChangeAspect="1"/>
              <a:stCxn id="5158" idx="6"/>
              <a:endCxn id="5155" idx="1"/>
            </p:cNvCxnSpPr>
            <p:nvPr/>
          </p:nvCxnSpPr>
          <p:spPr>
            <a:xfrm>
              <a:off x="2275" y="1589"/>
              <a:ext cx="211" cy="0"/>
            </a:xfrm>
            <a:prstGeom prst="straightConnector1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153" name="AutoShape 9"/>
            <p:cNvCxnSpPr>
              <a:cxnSpLocks noChangeAspect="1"/>
              <a:stCxn id="5156" idx="2"/>
              <a:endCxn id="5159" idx="6"/>
            </p:cNvCxnSpPr>
            <p:nvPr/>
          </p:nvCxnSpPr>
          <p:spPr>
            <a:xfrm flipH="1">
              <a:off x="3383" y="1589"/>
              <a:ext cx="184" cy="0"/>
            </a:xfrm>
            <a:prstGeom prst="straightConnector1">
              <a:avLst/>
            </a:prstGeom>
            <a:ln w="12700" cap="flat" cmpd="sng">
              <a:solidFill>
                <a:schemeClr val="tx1"/>
              </a:solidFill>
              <a:prstDash val="lgDash"/>
              <a:headEnd type="none" w="med" len="med"/>
              <a:tailEnd type="none" w="lg" len="lg"/>
            </a:ln>
          </p:spPr>
        </p:cxnSp>
        <p:sp>
          <p:nvSpPr>
            <p:cNvPr id="5154" name="Rectangle 10"/>
            <p:cNvSpPr/>
            <p:nvPr/>
          </p:nvSpPr>
          <p:spPr>
            <a:xfrm>
              <a:off x="1258" y="1436"/>
              <a:ext cx="633" cy="30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45720" rIns="45720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Software-to-be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(“Machine”)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5" name="Rectangle 11"/>
            <p:cNvSpPr/>
            <p:nvPr/>
          </p:nvSpPr>
          <p:spPr>
            <a:xfrm>
              <a:off x="2486" y="1436"/>
              <a:ext cx="459" cy="30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Problem Domain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6" name="Oval 12"/>
            <p:cNvSpPr/>
            <p:nvPr/>
          </p:nvSpPr>
          <p:spPr>
            <a:xfrm>
              <a:off x="3567" y="1436"/>
              <a:ext cx="642" cy="30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Requirement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7" name="AutoShape 13"/>
            <p:cNvSpPr/>
            <p:nvPr/>
          </p:nvSpPr>
          <p:spPr>
            <a:xfrm rot="-5400000">
              <a:off x="2943" y="1549"/>
              <a:ext cx="88" cy="78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58" name="Oval 14"/>
            <p:cNvSpPr>
              <a:spLocks noChangeAspect="1"/>
            </p:cNvSpPr>
            <p:nvPr/>
          </p:nvSpPr>
          <p:spPr>
            <a:xfrm>
              <a:off x="2102" y="1502"/>
              <a:ext cx="173" cy="17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9" name="Oval 15"/>
            <p:cNvSpPr>
              <a:spLocks noChangeAspect="1"/>
            </p:cNvSpPr>
            <p:nvPr/>
          </p:nvSpPr>
          <p:spPr>
            <a:xfrm>
              <a:off x="3210" y="1502"/>
              <a:ext cx="173" cy="17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5125" name="AutoShape 16"/>
          <p:cNvCxnSpPr>
            <a:cxnSpLocks noChangeAspect="1"/>
            <a:stCxn id="5129" idx="3"/>
            <a:endCxn id="5148" idx="2"/>
          </p:cNvCxnSpPr>
          <p:nvPr/>
        </p:nvCxnSpPr>
        <p:spPr>
          <a:xfrm>
            <a:off x="3016250" y="2522538"/>
            <a:ext cx="320675" cy="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126" name="AutoShape 17"/>
          <p:cNvCxnSpPr>
            <a:cxnSpLocks noChangeAspect="1"/>
            <a:stCxn id="5149" idx="2"/>
            <a:endCxn id="5147" idx="3"/>
          </p:cNvCxnSpPr>
          <p:nvPr/>
        </p:nvCxnSpPr>
        <p:spPr>
          <a:xfrm flipH="1" flipV="1">
            <a:off x="4803775" y="2520950"/>
            <a:ext cx="292100" cy="1588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5127" name="AutoShape 18"/>
          <p:cNvCxnSpPr>
            <a:cxnSpLocks noChangeAspect="1"/>
            <a:stCxn id="5148" idx="6"/>
            <a:endCxn id="5130" idx="1"/>
          </p:cNvCxnSpPr>
          <p:nvPr/>
        </p:nvCxnSpPr>
        <p:spPr>
          <a:xfrm>
            <a:off x="3611563" y="2522538"/>
            <a:ext cx="334962" cy="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128" name="AutoShape 19"/>
          <p:cNvCxnSpPr>
            <a:cxnSpLocks noChangeAspect="1"/>
            <a:stCxn id="5131" idx="2"/>
            <a:endCxn id="5149" idx="6"/>
          </p:cNvCxnSpPr>
          <p:nvPr/>
        </p:nvCxnSpPr>
        <p:spPr>
          <a:xfrm flipH="1">
            <a:off x="5370513" y="2522538"/>
            <a:ext cx="292100" cy="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sp>
        <p:nvSpPr>
          <p:cNvPr id="5129" name="Rectangle 20"/>
          <p:cNvSpPr/>
          <p:nvPr/>
        </p:nvSpPr>
        <p:spPr>
          <a:xfrm>
            <a:off x="1997075" y="2279650"/>
            <a:ext cx="1004888" cy="484188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45720" rIns="4572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Software-to-be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(“Machine”)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0" name="Rectangle 21"/>
          <p:cNvSpPr/>
          <p:nvPr/>
        </p:nvSpPr>
        <p:spPr>
          <a:xfrm>
            <a:off x="3946525" y="2279650"/>
            <a:ext cx="728663" cy="4841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Problem Domain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1" name="Oval 22"/>
          <p:cNvSpPr/>
          <p:nvPr/>
        </p:nvSpPr>
        <p:spPr>
          <a:xfrm>
            <a:off x="5662613" y="2279650"/>
            <a:ext cx="1019175" cy="484188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Requirement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2" name="Arc 23"/>
          <p:cNvSpPr/>
          <p:nvPr/>
        </p:nvSpPr>
        <p:spPr>
          <a:xfrm>
            <a:off x="3094038" y="4587875"/>
            <a:ext cx="150812" cy="374650"/>
          </a:xfrm>
          <a:custGeom>
            <a:avLst/>
            <a:gdLst>
              <a:gd name="txL" fmla="*/ 0 w 42948"/>
              <a:gd name="txT" fmla="*/ 0 h 43200"/>
              <a:gd name="txR" fmla="*/ 42948 w 42948"/>
              <a:gd name="txB" fmla="*/ 43200 h 43200"/>
            </a:gdLst>
            <a:ahLst/>
            <a:cxnLst>
              <a:cxn ang="0">
                <a:pos x="1859611" y="16232959"/>
              </a:cxn>
              <a:cxn ang="0">
                <a:pos x="1859562" y="11939740"/>
              </a:cxn>
              <a:cxn ang="0">
                <a:pos x="935254" y="14088981"/>
              </a:cxn>
            </a:cxnLst>
            <a:rect l="txL" t="txT" r="txR" b="txB"/>
            <a:pathLst>
              <a:path w="42948" h="43200" fill="none">
                <a:moveTo>
                  <a:pt x="42948" y="24887"/>
                </a:moveTo>
                <a:cubicBezTo>
                  <a:pt x="41326" y="35423"/>
                  <a:pt x="32260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57" y="0"/>
                  <a:pt x="41321" y="7772"/>
                  <a:pt x="42947" y="18304"/>
                </a:cubicBezTo>
              </a:path>
              <a:path w="42948" h="43200" stroke="0">
                <a:moveTo>
                  <a:pt x="42948" y="24887"/>
                </a:moveTo>
                <a:cubicBezTo>
                  <a:pt x="41326" y="35423"/>
                  <a:pt x="32260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57" y="0"/>
                  <a:pt x="41321" y="7772"/>
                  <a:pt x="42947" y="18304"/>
                </a:cubicBezTo>
                <a:lnTo>
                  <a:pt x="21600" y="21600"/>
                </a:lnTo>
                <a:lnTo>
                  <a:pt x="42948" y="24887"/>
                </a:lnTo>
                <a:close/>
              </a:path>
            </a:pathLst>
          </a:custGeom>
          <a:solidFill>
            <a:srgbClr val="FFFF99">
              <a:alpha val="70195"/>
            </a:srgbClr>
          </a:solidFill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33" name="Arc 24"/>
          <p:cNvSpPr>
            <a:spLocks noChangeAspect="1"/>
          </p:cNvSpPr>
          <p:nvPr/>
        </p:nvSpPr>
        <p:spPr>
          <a:xfrm flipH="1">
            <a:off x="3798888" y="4638675"/>
            <a:ext cx="109537" cy="273050"/>
          </a:xfrm>
          <a:custGeom>
            <a:avLst/>
            <a:gdLst>
              <a:gd name="txL" fmla="*/ 0 w 42799"/>
              <a:gd name="txT" fmla="*/ 0 h 43200"/>
              <a:gd name="txR" fmla="*/ 42799 w 42799"/>
              <a:gd name="txB" fmla="*/ 43200 h 43200"/>
            </a:gdLst>
            <a:ahLst/>
            <a:cxnLst>
              <a:cxn ang="0">
                <a:pos x="717187" y="6523796"/>
              </a:cxn>
              <a:cxn ang="0">
                <a:pos x="717489" y="4407766"/>
              </a:cxn>
              <a:cxn ang="0">
                <a:pos x="362108" y="5454173"/>
              </a:cxn>
            </a:cxnLst>
            <a:rect l="txL" t="txT" r="txR" b="txB"/>
            <a:pathLst>
              <a:path w="42799" h="43200" fill="none">
                <a:moveTo>
                  <a:pt x="42780" y="25835"/>
                </a:moveTo>
                <a:cubicBezTo>
                  <a:pt x="40761" y="35932"/>
                  <a:pt x="318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931" y="0"/>
                  <a:pt x="40816" y="7316"/>
                  <a:pt x="42798" y="17456"/>
                </a:cubicBezTo>
              </a:path>
              <a:path w="42799" h="43200" stroke="0">
                <a:moveTo>
                  <a:pt x="42780" y="25835"/>
                </a:moveTo>
                <a:cubicBezTo>
                  <a:pt x="40761" y="35932"/>
                  <a:pt x="318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931" y="0"/>
                  <a:pt x="40816" y="7316"/>
                  <a:pt x="42798" y="17456"/>
                </a:cubicBezTo>
                <a:lnTo>
                  <a:pt x="21600" y="21600"/>
                </a:lnTo>
                <a:lnTo>
                  <a:pt x="42780" y="25835"/>
                </a:lnTo>
                <a:close/>
              </a:path>
            </a:pathLst>
          </a:custGeom>
          <a:solidFill>
            <a:srgbClr val="FFFF99">
              <a:alpha val="70195"/>
            </a:srgbClr>
          </a:solidFill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34" name="Text Box 25"/>
          <p:cNvSpPr txBox="1">
            <a:spLocks noChangeAspect="1"/>
          </p:cNvSpPr>
          <p:nvPr/>
        </p:nvSpPr>
        <p:spPr>
          <a:xfrm>
            <a:off x="1997075" y="5318125"/>
            <a:ext cx="879475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Specification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5" name="Line 26"/>
          <p:cNvSpPr/>
          <p:nvPr/>
        </p:nvSpPr>
        <p:spPr>
          <a:xfrm flipH="1">
            <a:off x="2901950" y="4919663"/>
            <a:ext cx="217488" cy="433387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36" name="Line 27"/>
          <p:cNvSpPr/>
          <p:nvPr/>
        </p:nvSpPr>
        <p:spPr>
          <a:xfrm>
            <a:off x="3876675" y="4897438"/>
            <a:ext cx="217488" cy="433387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37" name="Text Box 28"/>
          <p:cNvSpPr txBox="1">
            <a:spLocks noChangeAspect="1"/>
          </p:cNvSpPr>
          <p:nvPr/>
        </p:nvSpPr>
        <p:spPr>
          <a:xfrm>
            <a:off x="3629025" y="5359400"/>
            <a:ext cx="1819275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Domain properties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seen by the software-to-be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8" name="Arc 29"/>
          <p:cNvSpPr>
            <a:spLocks noChangeAspect="1"/>
          </p:cNvSpPr>
          <p:nvPr/>
        </p:nvSpPr>
        <p:spPr>
          <a:xfrm flipV="1">
            <a:off x="4921250" y="4638675"/>
            <a:ext cx="109538" cy="273050"/>
          </a:xfrm>
          <a:custGeom>
            <a:avLst/>
            <a:gdLst>
              <a:gd name="txL" fmla="*/ 0 w 42937"/>
              <a:gd name="txT" fmla="*/ 0 h 43200"/>
              <a:gd name="txR" fmla="*/ 42937 w 42937"/>
              <a:gd name="txB" fmla="*/ 43200 h 43200"/>
            </a:gdLst>
            <a:ahLst/>
            <a:cxnLst>
              <a:cxn ang="0">
                <a:pos x="712208" y="6366994"/>
              </a:cxn>
              <a:cxn ang="0">
                <a:pos x="712904" y="4606233"/>
              </a:cxn>
              <a:cxn ang="0">
                <a:pos x="358633" y="5454173"/>
              </a:cxn>
            </a:cxnLst>
            <a:rect l="txL" t="txT" r="txR" b="txB"/>
            <a:pathLst>
              <a:path w="42937" h="43200" fill="none">
                <a:moveTo>
                  <a:pt x="42895" y="25215"/>
                </a:moveTo>
                <a:cubicBezTo>
                  <a:pt x="41132" y="35600"/>
                  <a:pt x="32134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32" y="0"/>
                  <a:pt x="41284" y="7738"/>
                  <a:pt x="42937" y="18241"/>
                </a:cubicBezTo>
              </a:path>
              <a:path w="42937" h="43200" stroke="0">
                <a:moveTo>
                  <a:pt x="42895" y="25215"/>
                </a:moveTo>
                <a:cubicBezTo>
                  <a:pt x="41132" y="35600"/>
                  <a:pt x="32134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32" y="0"/>
                  <a:pt x="41284" y="7738"/>
                  <a:pt x="42937" y="18241"/>
                </a:cubicBezTo>
                <a:lnTo>
                  <a:pt x="21600" y="21600"/>
                </a:lnTo>
                <a:lnTo>
                  <a:pt x="42895" y="25215"/>
                </a:lnTo>
                <a:close/>
              </a:path>
            </a:pathLst>
          </a:custGeom>
          <a:solidFill>
            <a:srgbClr val="FFFF99">
              <a:alpha val="70195"/>
            </a:srgbClr>
          </a:solidFill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39" name="Line 30"/>
          <p:cNvSpPr/>
          <p:nvPr/>
        </p:nvSpPr>
        <p:spPr>
          <a:xfrm flipH="1" flipV="1">
            <a:off x="4735513" y="4217988"/>
            <a:ext cx="217487" cy="433387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40" name="Text Box 31"/>
          <p:cNvSpPr txBox="1">
            <a:spLocks noChangeAspect="1"/>
          </p:cNvSpPr>
          <p:nvPr/>
        </p:nvSpPr>
        <p:spPr>
          <a:xfrm flipH="1">
            <a:off x="3498850" y="3870325"/>
            <a:ext cx="165735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Domain properties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seen by the requirement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41" name="Arc 32"/>
          <p:cNvSpPr/>
          <p:nvPr/>
        </p:nvSpPr>
        <p:spPr>
          <a:xfrm flipH="1">
            <a:off x="5456238" y="4587875"/>
            <a:ext cx="150812" cy="374650"/>
          </a:xfrm>
          <a:custGeom>
            <a:avLst/>
            <a:gdLst>
              <a:gd name="txL" fmla="*/ 0 w 42966"/>
              <a:gd name="txT" fmla="*/ 0 h 43200"/>
              <a:gd name="txR" fmla="*/ 42966 w 42966"/>
              <a:gd name="txB" fmla="*/ 43200 h 43200"/>
            </a:gdLst>
            <a:ahLst/>
            <a:cxnLst>
              <a:cxn ang="0">
                <a:pos x="1858053" y="16158653"/>
              </a:cxn>
              <a:cxn ang="0">
                <a:pos x="1855540" y="11781277"/>
              </a:cxn>
              <a:cxn ang="0">
                <a:pos x="934090" y="14088981"/>
              </a:cxn>
            </a:cxnLst>
            <a:rect l="txL" t="txT" r="txR" b="txB"/>
            <a:pathLst>
              <a:path w="42966" h="43200" fill="none">
                <a:moveTo>
                  <a:pt x="42965" y="24772"/>
                </a:moveTo>
                <a:cubicBezTo>
                  <a:pt x="41393" y="35360"/>
                  <a:pt x="32303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63" y="0"/>
                  <a:pt x="41177" y="7640"/>
                  <a:pt x="42908" y="18061"/>
                </a:cubicBezTo>
              </a:path>
              <a:path w="42966" h="43200" stroke="0">
                <a:moveTo>
                  <a:pt x="42965" y="24772"/>
                </a:moveTo>
                <a:cubicBezTo>
                  <a:pt x="41393" y="35360"/>
                  <a:pt x="32303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63" y="0"/>
                  <a:pt x="41177" y="7640"/>
                  <a:pt x="42908" y="18061"/>
                </a:cubicBezTo>
                <a:lnTo>
                  <a:pt x="21600" y="21600"/>
                </a:lnTo>
                <a:lnTo>
                  <a:pt x="42965" y="24772"/>
                </a:lnTo>
                <a:close/>
              </a:path>
            </a:pathLst>
          </a:custGeom>
          <a:solidFill>
            <a:srgbClr val="FFFF99">
              <a:alpha val="70195"/>
            </a:srgbClr>
          </a:solidFill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42" name="Text Box 33"/>
          <p:cNvSpPr txBox="1">
            <a:spLocks noChangeAspect="1"/>
          </p:cNvSpPr>
          <p:nvPr/>
        </p:nvSpPr>
        <p:spPr>
          <a:xfrm flipH="1">
            <a:off x="5821363" y="5316538"/>
            <a:ext cx="88741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Requirement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43" name="Line 34"/>
          <p:cNvSpPr/>
          <p:nvPr/>
        </p:nvSpPr>
        <p:spPr>
          <a:xfrm>
            <a:off x="5581650" y="4918075"/>
            <a:ext cx="217488" cy="433388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44" name="Text Box 35"/>
          <p:cNvSpPr txBox="1">
            <a:spLocks noChangeAspect="1"/>
          </p:cNvSpPr>
          <p:nvPr/>
        </p:nvSpPr>
        <p:spPr>
          <a:xfrm>
            <a:off x="2073275" y="5784850"/>
            <a:ext cx="2492375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a: specification interface phenomena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b: requirement interface phenomena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45" name="Text Box 36"/>
          <p:cNvSpPr txBox="1"/>
          <p:nvPr/>
        </p:nvSpPr>
        <p:spPr>
          <a:xfrm>
            <a:off x="1422400" y="2279650"/>
            <a:ext cx="246063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46" name="Text Box 37"/>
          <p:cNvSpPr txBox="1"/>
          <p:nvPr/>
        </p:nvSpPr>
        <p:spPr>
          <a:xfrm>
            <a:off x="1422400" y="4137025"/>
            <a:ext cx="257175" cy="24447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47" name="AutoShape 38"/>
          <p:cNvSpPr/>
          <p:nvPr/>
        </p:nvSpPr>
        <p:spPr>
          <a:xfrm rot="-5400000">
            <a:off x="4672013" y="2459038"/>
            <a:ext cx="139700" cy="123825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48" name="Oval 39"/>
          <p:cNvSpPr>
            <a:spLocks noChangeAspect="1"/>
          </p:cNvSpPr>
          <p:nvPr/>
        </p:nvSpPr>
        <p:spPr>
          <a:xfrm>
            <a:off x="3336925" y="2384425"/>
            <a:ext cx="274638" cy="274638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49" name="Oval 40"/>
          <p:cNvSpPr>
            <a:spLocks noChangeAspect="1"/>
          </p:cNvSpPr>
          <p:nvPr/>
        </p:nvSpPr>
        <p:spPr>
          <a:xfrm>
            <a:off x="5095875" y="2384425"/>
            <a:ext cx="274638" cy="274638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Slide Number Placeholder 4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614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Basic Frame 1: Required Behavior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cxnSp>
        <p:nvCxnSpPr>
          <p:cNvPr id="6148" name="AutoShape 5"/>
          <p:cNvCxnSpPr>
            <a:cxnSpLocks noChangeAspect="1"/>
            <a:stCxn id="6190" idx="3"/>
            <a:endCxn id="6151" idx="1"/>
          </p:cNvCxnSpPr>
          <p:nvPr/>
        </p:nvCxnSpPr>
        <p:spPr>
          <a:xfrm>
            <a:off x="2855913" y="2443163"/>
            <a:ext cx="985837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9" name="AutoShape 6"/>
          <p:cNvCxnSpPr>
            <a:cxnSpLocks noChangeAspect="1"/>
            <a:stCxn id="6152" idx="2"/>
            <a:endCxn id="6151" idx="3"/>
          </p:cNvCxnSpPr>
          <p:nvPr/>
        </p:nvCxnSpPr>
        <p:spPr>
          <a:xfrm flipH="1">
            <a:off x="4770438" y="2443163"/>
            <a:ext cx="96837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grpSp>
        <p:nvGrpSpPr>
          <p:cNvPr id="6150" name="Group 7"/>
          <p:cNvGrpSpPr>
            <a:grpSpLocks noChangeAspect="1"/>
          </p:cNvGrpSpPr>
          <p:nvPr/>
        </p:nvGrpSpPr>
        <p:grpSpPr>
          <a:xfrm>
            <a:off x="1914525" y="2206625"/>
            <a:ext cx="941388" cy="473075"/>
            <a:chOff x="1499" y="1740"/>
            <a:chExt cx="744" cy="374"/>
          </a:xfrm>
        </p:grpSpPr>
        <p:sp>
          <p:nvSpPr>
            <p:cNvPr id="6190" name="Rectangle 8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Control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91" name="Rectangle 9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92" name="Line 10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1" name="Rectangle 11"/>
          <p:cNvSpPr>
            <a:spLocks noChangeAspect="1"/>
          </p:cNvSpPr>
          <p:nvPr/>
        </p:nvSpPr>
        <p:spPr>
          <a:xfrm>
            <a:off x="3841750" y="2206625"/>
            <a:ext cx="928688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Controlled domain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Oval 12"/>
          <p:cNvSpPr>
            <a:spLocks noChangeAspect="1"/>
          </p:cNvSpPr>
          <p:nvPr/>
        </p:nvSpPr>
        <p:spPr>
          <a:xfrm>
            <a:off x="5738813" y="2206625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Required behavior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Text Box 13"/>
          <p:cNvSpPr txBox="1">
            <a:spLocks noChangeAspect="1"/>
          </p:cNvSpPr>
          <p:nvPr/>
        </p:nvSpPr>
        <p:spPr>
          <a:xfrm>
            <a:off x="3111500" y="2195513"/>
            <a:ext cx="46672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CS!C1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Text Box 14"/>
          <p:cNvSpPr txBox="1">
            <a:spLocks noChangeAspect="1"/>
          </p:cNvSpPr>
          <p:nvPr/>
        </p:nvSpPr>
        <p:spPr>
          <a:xfrm>
            <a:off x="5141913" y="2195513"/>
            <a:ext cx="21272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5" name="Text Box 15"/>
          <p:cNvSpPr txBox="1">
            <a:spLocks noChangeAspect="1"/>
          </p:cNvSpPr>
          <p:nvPr/>
        </p:nvSpPr>
        <p:spPr>
          <a:xfrm>
            <a:off x="3106738" y="2490788"/>
            <a:ext cx="47466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CD!C2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6" name="Rectangle 16"/>
          <p:cNvSpPr/>
          <p:nvPr/>
        </p:nvSpPr>
        <p:spPr>
          <a:xfrm>
            <a:off x="4587875" y="2497138"/>
            <a:ext cx="182563" cy="1825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7" name="AutoShape 17"/>
          <p:cNvCxnSpPr>
            <a:cxnSpLocks noChangeAspect="1"/>
            <a:stCxn id="6187" idx="3"/>
            <a:endCxn id="6160" idx="1"/>
          </p:cNvCxnSpPr>
          <p:nvPr/>
        </p:nvCxnSpPr>
        <p:spPr>
          <a:xfrm>
            <a:off x="2855913" y="4929188"/>
            <a:ext cx="985837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58" name="AutoShape 18"/>
          <p:cNvCxnSpPr>
            <a:cxnSpLocks noChangeAspect="1"/>
            <a:stCxn id="6161" idx="2"/>
            <a:endCxn id="6160" idx="3"/>
          </p:cNvCxnSpPr>
          <p:nvPr/>
        </p:nvCxnSpPr>
        <p:spPr>
          <a:xfrm flipH="1">
            <a:off x="4770438" y="4929188"/>
            <a:ext cx="96837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grpSp>
        <p:nvGrpSpPr>
          <p:cNvPr id="6159" name="Group 19"/>
          <p:cNvGrpSpPr>
            <a:grpSpLocks noChangeAspect="1"/>
          </p:cNvGrpSpPr>
          <p:nvPr/>
        </p:nvGrpSpPr>
        <p:grpSpPr>
          <a:xfrm>
            <a:off x="1914525" y="4692650"/>
            <a:ext cx="941388" cy="473075"/>
            <a:chOff x="1499" y="1740"/>
            <a:chExt cx="744" cy="374"/>
          </a:xfrm>
        </p:grpSpPr>
        <p:sp>
          <p:nvSpPr>
            <p:cNvPr id="6187" name="Rectangle 20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Broker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88" name="Rectangle 21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89" name="Line 22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60" name="Rectangle 23"/>
          <p:cNvSpPr>
            <a:spLocks noChangeAspect="1"/>
          </p:cNvSpPr>
          <p:nvPr/>
        </p:nvSpPr>
        <p:spPr>
          <a:xfrm>
            <a:off x="3841750" y="4692650"/>
            <a:ext cx="928688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   Stock exchange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1" name="Oval 24"/>
          <p:cNvSpPr>
            <a:spLocks noChangeAspect="1"/>
          </p:cNvSpPr>
          <p:nvPr/>
        </p:nvSpPr>
        <p:spPr>
          <a:xfrm>
            <a:off x="5738813" y="4692650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Order handling rules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2" name="Text Box 25"/>
          <p:cNvSpPr txBox="1">
            <a:spLocks noChangeAspect="1"/>
          </p:cNvSpPr>
          <p:nvPr/>
        </p:nvSpPr>
        <p:spPr>
          <a:xfrm>
            <a:off x="3292475" y="4681538"/>
            <a:ext cx="1031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3" name="Text Box 26"/>
          <p:cNvSpPr txBox="1">
            <a:spLocks noChangeAspect="1"/>
          </p:cNvSpPr>
          <p:nvPr/>
        </p:nvSpPr>
        <p:spPr>
          <a:xfrm>
            <a:off x="5195888" y="4681538"/>
            <a:ext cx="1031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4" name="Rectangle 27"/>
          <p:cNvSpPr/>
          <p:nvPr/>
        </p:nvSpPr>
        <p:spPr>
          <a:xfrm>
            <a:off x="4587875" y="4983163"/>
            <a:ext cx="182563" cy="1825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5" name="Text Box 28"/>
          <p:cNvSpPr txBox="1">
            <a:spLocks noChangeAspect="1"/>
          </p:cNvSpPr>
          <p:nvPr/>
        </p:nvSpPr>
        <p:spPr>
          <a:xfrm>
            <a:off x="287338" y="3751263"/>
            <a:ext cx="37147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Example: Execute a Trading order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6" name="Text Box 29"/>
          <p:cNvSpPr txBox="1">
            <a:spLocks noChangeAspect="1"/>
          </p:cNvSpPr>
          <p:nvPr/>
        </p:nvSpPr>
        <p:spPr>
          <a:xfrm>
            <a:off x="2127250" y="4287838"/>
            <a:ext cx="51752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Software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7" name="Text Box 30"/>
          <p:cNvSpPr txBox="1">
            <a:spLocks noChangeAspect="1"/>
          </p:cNvSpPr>
          <p:nvPr/>
        </p:nvSpPr>
        <p:spPr>
          <a:xfrm>
            <a:off x="4008438" y="4287838"/>
            <a:ext cx="595312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Controlled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Domain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8" name="Text Box 31"/>
          <p:cNvSpPr txBox="1">
            <a:spLocks noChangeAspect="1"/>
          </p:cNvSpPr>
          <p:nvPr/>
        </p:nvSpPr>
        <p:spPr>
          <a:xfrm>
            <a:off x="5981700" y="4287838"/>
            <a:ext cx="531813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Required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Behavior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9" name="Text Box 32"/>
          <p:cNvSpPr txBox="1">
            <a:spLocks noChangeAspect="1"/>
          </p:cNvSpPr>
          <p:nvPr/>
        </p:nvSpPr>
        <p:spPr>
          <a:xfrm>
            <a:off x="5113338" y="5338763"/>
            <a:ext cx="208915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b: SE! {Place[i], Cancel[i],       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Executed[i], Expired[i]}  [C3]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0" name="Text Box 33"/>
          <p:cNvSpPr txBox="1">
            <a:spLocks noChangeAspect="1"/>
          </p:cNvSpPr>
          <p:nvPr/>
        </p:nvSpPr>
        <p:spPr>
          <a:xfrm>
            <a:off x="1317625" y="5338763"/>
            <a:ext cx="2170113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a: BS! {Execute[i]}               [C1]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1" name="Text Box 34"/>
          <p:cNvSpPr txBox="1">
            <a:spLocks noChangeAspect="1"/>
          </p:cNvSpPr>
          <p:nvPr/>
        </p:nvSpPr>
        <p:spPr>
          <a:xfrm>
            <a:off x="1317625" y="5595938"/>
            <a:ext cx="28463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SE! {PriceQuotes, Ack[i], Failed[i]}  [C2]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2" name="Rectangle 35"/>
          <p:cNvSpPr/>
          <p:nvPr/>
        </p:nvSpPr>
        <p:spPr>
          <a:xfrm>
            <a:off x="6723063" y="2976563"/>
            <a:ext cx="2157412" cy="134302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73" name="Rectangle 36"/>
          <p:cNvSpPr/>
          <p:nvPr/>
        </p:nvSpPr>
        <p:spPr>
          <a:xfrm>
            <a:off x="6742113" y="2994025"/>
            <a:ext cx="2120900" cy="1306513"/>
          </a:xfrm>
          <a:prstGeom prst="rect">
            <a:avLst/>
          </a:prstGeom>
          <a:solidFill>
            <a:srgbClr val="FFFFCC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74" name="Rectangle 37"/>
          <p:cNvSpPr>
            <a:spLocks noChangeAspect="1"/>
          </p:cNvSpPr>
          <p:nvPr/>
        </p:nvSpPr>
        <p:spPr>
          <a:xfrm>
            <a:off x="6826250" y="3048000"/>
            <a:ext cx="146050" cy="1460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/>
            <a:r>
              <a:rPr lang="en-US" altLang="zh-CN" sz="8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5" name="Text Box 38"/>
          <p:cNvSpPr txBox="1">
            <a:spLocks noChangeAspect="1"/>
          </p:cNvSpPr>
          <p:nvPr/>
        </p:nvSpPr>
        <p:spPr>
          <a:xfrm>
            <a:off x="7064375" y="3054350"/>
            <a:ext cx="781050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Causal domain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6" name="Text Box 39"/>
          <p:cNvSpPr txBox="1">
            <a:spLocks noChangeAspect="1"/>
          </p:cNvSpPr>
          <p:nvPr/>
        </p:nvSpPr>
        <p:spPr>
          <a:xfrm>
            <a:off x="7104063" y="2879725"/>
            <a:ext cx="339725" cy="1365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45720" tIns="0" rIns="45720" bIns="0">
            <a:spAutoFit/>
          </a:bodyPr>
          <a:p>
            <a:r>
              <a:rPr lang="en-US" altLang="zh-CN" sz="900" b="1" dirty="0">
                <a:latin typeface="Arial" panose="020B0604020202020204" pitchFamily="34" charset="0"/>
                <a:ea typeface="宋体" panose="02010600030101010101" pitchFamily="2" charset="-122"/>
              </a:rPr>
              <a:t>Key:</a:t>
            </a:r>
            <a:endParaRPr lang="en-US" altLang="zh-CN" sz="9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7" name="Rectangle 40"/>
          <p:cNvSpPr>
            <a:spLocks noChangeAspect="1"/>
          </p:cNvSpPr>
          <p:nvPr/>
        </p:nvSpPr>
        <p:spPr>
          <a:xfrm>
            <a:off x="6826250" y="3260725"/>
            <a:ext cx="146050" cy="1460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/>
            <a:r>
              <a:rPr lang="en-US" altLang="zh-CN" sz="8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8" name="Text Box 41"/>
          <p:cNvSpPr txBox="1">
            <a:spLocks noChangeAspect="1"/>
          </p:cNvSpPr>
          <p:nvPr/>
        </p:nvSpPr>
        <p:spPr>
          <a:xfrm>
            <a:off x="7064375" y="3267075"/>
            <a:ext cx="869950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Biddable domain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9" name="Rectangle 42"/>
          <p:cNvSpPr>
            <a:spLocks noChangeAspect="1"/>
          </p:cNvSpPr>
          <p:nvPr/>
        </p:nvSpPr>
        <p:spPr>
          <a:xfrm>
            <a:off x="6826250" y="3473450"/>
            <a:ext cx="146050" cy="1460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algn="ctr"/>
            <a:r>
              <a:rPr lang="en-US" altLang="zh-CN" sz="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sz="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80" name="Text Box 43"/>
          <p:cNvSpPr txBox="1">
            <a:spLocks noChangeAspect="1"/>
          </p:cNvSpPr>
          <p:nvPr/>
        </p:nvSpPr>
        <p:spPr>
          <a:xfrm>
            <a:off x="7064375" y="3479800"/>
            <a:ext cx="781050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Lexical domain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81" name="Text Box 44"/>
          <p:cNvSpPr txBox="1">
            <a:spLocks noChangeAspect="1"/>
          </p:cNvSpPr>
          <p:nvPr/>
        </p:nvSpPr>
        <p:spPr>
          <a:xfrm>
            <a:off x="7064375" y="3692525"/>
            <a:ext cx="1009650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Causal phenomena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82" name="Text Box 45"/>
          <p:cNvSpPr txBox="1">
            <a:spLocks noChangeAspect="1"/>
          </p:cNvSpPr>
          <p:nvPr/>
        </p:nvSpPr>
        <p:spPr>
          <a:xfrm>
            <a:off x="7064375" y="3905250"/>
            <a:ext cx="368300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Events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83" name="Text Box 46"/>
          <p:cNvSpPr txBox="1">
            <a:spLocks noChangeAspect="1"/>
          </p:cNvSpPr>
          <p:nvPr/>
        </p:nvSpPr>
        <p:spPr>
          <a:xfrm>
            <a:off x="7064375" y="4116388"/>
            <a:ext cx="1758950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Symbolic requirement phenomena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84" name="Text Box 47"/>
          <p:cNvSpPr txBox="1">
            <a:spLocks noChangeAspect="1"/>
          </p:cNvSpPr>
          <p:nvPr/>
        </p:nvSpPr>
        <p:spPr>
          <a:xfrm>
            <a:off x="6826250" y="3692525"/>
            <a:ext cx="206375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[C</a:t>
            </a:r>
            <a:r>
              <a:rPr lang="en-US" altLang="zh-CN" sz="2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85" name="Text Box 48"/>
          <p:cNvSpPr txBox="1">
            <a:spLocks noChangeAspect="1"/>
          </p:cNvSpPr>
          <p:nvPr/>
        </p:nvSpPr>
        <p:spPr>
          <a:xfrm>
            <a:off x="6826250" y="3905250"/>
            <a:ext cx="200025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[E</a:t>
            </a:r>
            <a:r>
              <a:rPr lang="en-US" altLang="zh-CN" sz="2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86" name="Text Box 49"/>
          <p:cNvSpPr txBox="1">
            <a:spLocks noChangeAspect="1"/>
          </p:cNvSpPr>
          <p:nvPr/>
        </p:nvSpPr>
        <p:spPr>
          <a:xfrm>
            <a:off x="6826250" y="4116388"/>
            <a:ext cx="200025" cy="1365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</a:rPr>
              <a:t>[Y</a:t>
            </a:r>
            <a:r>
              <a:rPr lang="en-US" altLang="zh-CN" sz="2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9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endParaRPr lang="en-US" altLang="zh-CN" sz="900" dirty="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Notation Syntax</a:t>
            </a:r>
            <a:br>
              <a:rPr lang="en-US" altLang="zh-CN" sz="4000" dirty="0">
                <a:ea typeface="宋体" panose="02010600030101010101" pitchFamily="2" charset="-122"/>
              </a:rPr>
            </a:br>
            <a:r>
              <a:rPr lang="en-US" altLang="zh-CN" sz="4000" dirty="0">
                <a:ea typeface="宋体" panose="02010600030101010101" pitchFamily="2" charset="-122"/>
              </a:rPr>
              <a:t>for Shared Phenomena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1435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C  – causal domain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predictable causal relationships among its causal phenomena</a:t>
            </a:r>
            <a:b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such as physical laws or business contracts or social norms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B  – biddable domain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usually people: unpredictable, incoercible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X  – lexical domain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a physical representation of data (i.e., symbolic phenomena)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[C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] -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causal phenomena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events, states;  directly produced or controlled by an entity;</a:t>
            </a:r>
            <a:b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can give rise to other phenomena in turn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[E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] -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events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[Y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] –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symbolic requirement phenomena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values, and truths and states relating only values;</a:t>
            </a:r>
            <a:b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symbolize other phenomena and relationships among them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4"/>
          <p:cNvSpPr>
            <a:spLocks noChangeAspect="1"/>
          </p:cNvSpPr>
          <p:nvPr/>
        </p:nvSpPr>
        <p:spPr>
          <a:xfrm>
            <a:off x="858838" y="1641475"/>
            <a:ext cx="365125" cy="3651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" name="Rectangle 5"/>
          <p:cNvSpPr>
            <a:spLocks noChangeAspect="1"/>
          </p:cNvSpPr>
          <p:nvPr/>
        </p:nvSpPr>
        <p:spPr>
          <a:xfrm>
            <a:off x="858838" y="2678113"/>
            <a:ext cx="365125" cy="3651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" name="Rectangle 6"/>
          <p:cNvSpPr>
            <a:spLocks noChangeAspect="1"/>
          </p:cNvSpPr>
          <p:nvPr/>
        </p:nvSpPr>
        <p:spPr>
          <a:xfrm>
            <a:off x="858838" y="3449638"/>
            <a:ext cx="365125" cy="3651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" name="Rectangle 7"/>
          <p:cNvSpPr>
            <a:spLocks noChangeAspect="1"/>
          </p:cNvSpPr>
          <p:nvPr/>
        </p:nvSpPr>
        <p:spPr>
          <a:xfrm>
            <a:off x="7723188" y="1731963"/>
            <a:ext cx="928687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Causal domain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7" name="Rectangle 8"/>
          <p:cNvSpPr/>
          <p:nvPr/>
        </p:nvSpPr>
        <p:spPr>
          <a:xfrm>
            <a:off x="8469313" y="2022475"/>
            <a:ext cx="182562" cy="1825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8" name="Rectangle 9"/>
          <p:cNvSpPr>
            <a:spLocks noChangeAspect="1"/>
          </p:cNvSpPr>
          <p:nvPr/>
        </p:nvSpPr>
        <p:spPr>
          <a:xfrm>
            <a:off x="7723188" y="2687638"/>
            <a:ext cx="928687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Biddable domain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9" name="Rectangle 10"/>
          <p:cNvSpPr/>
          <p:nvPr/>
        </p:nvSpPr>
        <p:spPr>
          <a:xfrm>
            <a:off x="8469313" y="2978150"/>
            <a:ext cx="182562" cy="1825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0" name="Rectangle 11"/>
          <p:cNvSpPr>
            <a:spLocks noChangeAspect="1"/>
          </p:cNvSpPr>
          <p:nvPr/>
        </p:nvSpPr>
        <p:spPr>
          <a:xfrm>
            <a:off x="7723188" y="3624263"/>
            <a:ext cx="928687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Lexical domain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1" name="Rectangle 12"/>
          <p:cNvSpPr/>
          <p:nvPr/>
        </p:nvSpPr>
        <p:spPr>
          <a:xfrm>
            <a:off x="8469313" y="3914775"/>
            <a:ext cx="182562" cy="1825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82" name="Group 25"/>
          <p:cNvGrpSpPr/>
          <p:nvPr/>
        </p:nvGrpSpPr>
        <p:grpSpPr>
          <a:xfrm>
            <a:off x="6815138" y="5145088"/>
            <a:ext cx="1962150" cy="1157287"/>
            <a:chOff x="4293" y="3241"/>
            <a:chExt cx="1236" cy="729"/>
          </a:xfrm>
        </p:grpSpPr>
        <p:sp>
          <p:nvSpPr>
            <p:cNvPr id="7184" name="Line 15"/>
            <p:cNvSpPr/>
            <p:nvPr/>
          </p:nvSpPr>
          <p:spPr>
            <a:xfrm>
              <a:off x="4466" y="3529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5" name="Line 16"/>
            <p:cNvSpPr/>
            <p:nvPr/>
          </p:nvSpPr>
          <p:spPr>
            <a:xfrm>
              <a:off x="4984" y="3529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6" name="Oval 17"/>
            <p:cNvSpPr>
              <a:spLocks noChangeAspect="1"/>
            </p:cNvSpPr>
            <p:nvPr/>
          </p:nvSpPr>
          <p:spPr>
            <a:xfrm>
              <a:off x="4754" y="3414"/>
              <a:ext cx="230" cy="23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/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7" name="Freeform 18"/>
            <p:cNvSpPr/>
            <p:nvPr/>
          </p:nvSpPr>
          <p:spPr>
            <a:xfrm>
              <a:off x="4293" y="3241"/>
              <a:ext cx="173" cy="576"/>
            </a:xfrm>
            <a:custGeom>
              <a:avLst/>
              <a:gdLst>
                <a:gd name="txL" fmla="*/ 0 w 576"/>
                <a:gd name="txT" fmla="*/ 0 h 576"/>
                <a:gd name="txR" fmla="*/ 576 w 576"/>
                <a:gd name="txB" fmla="*/ 576 h 576"/>
              </a:gdLst>
              <a:ahLst/>
              <a:cxnLst>
                <a:cxn ang="0">
                  <a:pos x="0" y="0"/>
                </a:cxn>
                <a:cxn ang="0">
                  <a:pos x="16" y="0"/>
                </a:cxn>
                <a:cxn ang="0">
                  <a:pos x="16" y="576"/>
                </a:cxn>
                <a:cxn ang="0">
                  <a:pos x="0" y="576"/>
                </a:cxn>
              </a:cxnLst>
              <a:rect l="txL" t="txT" r="txR" b="txB"/>
              <a:pathLst>
                <a:path w="576" h="576">
                  <a:moveTo>
                    <a:pt x="0" y="0"/>
                  </a:moveTo>
                  <a:lnTo>
                    <a:pt x="576" y="0"/>
                  </a:lnTo>
                  <a:lnTo>
                    <a:pt x="576" y="576"/>
                  </a:lnTo>
                  <a:lnTo>
                    <a:pt x="0" y="576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8" name="Freeform 19"/>
            <p:cNvSpPr/>
            <p:nvPr/>
          </p:nvSpPr>
          <p:spPr>
            <a:xfrm>
              <a:off x="5272" y="3241"/>
              <a:ext cx="173" cy="576"/>
            </a:xfrm>
            <a:custGeom>
              <a:avLst/>
              <a:gdLst>
                <a:gd name="txL" fmla="*/ 0 w 576"/>
                <a:gd name="txT" fmla="*/ 0 h 576"/>
                <a:gd name="txR" fmla="*/ 576 w 576"/>
                <a:gd name="txB" fmla="*/ 576 h 576"/>
              </a:gdLst>
              <a:ahLst/>
              <a:cxnLst>
                <a:cxn ang="0">
                  <a:pos x="16" y="0"/>
                </a:cxn>
                <a:cxn ang="0">
                  <a:pos x="0" y="0"/>
                </a:cxn>
                <a:cxn ang="0">
                  <a:pos x="0" y="576"/>
                </a:cxn>
                <a:cxn ang="0">
                  <a:pos x="16" y="576"/>
                </a:cxn>
              </a:cxnLst>
              <a:rect l="txL" t="txT" r="txR" b="txB"/>
              <a:pathLst>
                <a:path w="576" h="576">
                  <a:moveTo>
                    <a:pt x="576" y="0"/>
                  </a:moveTo>
                  <a:lnTo>
                    <a:pt x="0" y="0"/>
                  </a:lnTo>
                  <a:lnTo>
                    <a:pt x="0" y="576"/>
                  </a:lnTo>
                  <a:lnTo>
                    <a:pt x="576" y="576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9" name="Text Box 20"/>
            <p:cNvSpPr txBox="1">
              <a:spLocks noChangeAspect="1"/>
            </p:cNvSpPr>
            <p:nvPr/>
          </p:nvSpPr>
          <p:spPr>
            <a:xfrm rot="-5400000">
              <a:off x="4177" y="3472"/>
              <a:ext cx="373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Machine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0" name="Text Box 21"/>
            <p:cNvSpPr txBox="1">
              <a:spLocks noChangeAspect="1"/>
            </p:cNvSpPr>
            <p:nvPr/>
          </p:nvSpPr>
          <p:spPr>
            <a:xfrm rot="-5400000">
              <a:off x="5230" y="3414"/>
              <a:ext cx="36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pPr algn="ctr"/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Problem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Domain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1" name="Text Box 22"/>
            <p:cNvSpPr txBox="1">
              <a:spLocks noChangeAspect="1"/>
            </p:cNvSpPr>
            <p:nvPr/>
          </p:nvSpPr>
          <p:spPr>
            <a:xfrm>
              <a:off x="4708" y="3740"/>
              <a:ext cx="45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4" tIns="0" rIns="9144" bIns="0">
              <a:spAutoFit/>
            </a:bodyPr>
            <a:p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a: M ! E1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r>
                <a: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rPr>
                <a:t>    PD ! C2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83" name="Line 23"/>
          <p:cNvSpPr/>
          <p:nvPr/>
        </p:nvSpPr>
        <p:spPr>
          <a:xfrm>
            <a:off x="7723188" y="3624263"/>
            <a:ext cx="0" cy="474662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9120188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Basic Frame 2: Commanded Behavior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cxnSp>
        <p:nvCxnSpPr>
          <p:cNvPr id="8196" name="AutoShape 3"/>
          <p:cNvCxnSpPr>
            <a:cxnSpLocks noChangeAspect="1"/>
            <a:stCxn id="8197" idx="0"/>
            <a:endCxn id="8240" idx="3"/>
          </p:cNvCxnSpPr>
          <p:nvPr/>
        </p:nvCxnSpPr>
        <p:spPr>
          <a:xfrm flipH="1" flipV="1">
            <a:off x="4770438" y="19605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sp>
        <p:nvSpPr>
          <p:cNvPr id="8197" name="Freeform 4"/>
          <p:cNvSpPr/>
          <p:nvPr/>
        </p:nvSpPr>
        <p:spPr>
          <a:xfrm flipH="1">
            <a:off x="5788025" y="2393950"/>
            <a:ext cx="123825" cy="204788"/>
          </a:xfrm>
          <a:custGeom>
            <a:avLst/>
            <a:gdLst>
              <a:gd name="txL" fmla="*/ 0 w 231"/>
              <a:gd name="txT" fmla="*/ 0 h 321"/>
              <a:gd name="txR" fmla="*/ 231 w 231"/>
              <a:gd name="txB" fmla="*/ 321 h 321"/>
            </a:gdLst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txL" t="txT" r="txR" b="txB"/>
            <a:pathLst>
              <a:path w="231" h="321">
                <a:moveTo>
                  <a:pt x="231" y="0"/>
                </a:moveTo>
                <a:lnTo>
                  <a:pt x="0" y="0"/>
                </a:lnTo>
                <a:lnTo>
                  <a:pt x="0" y="321"/>
                </a:lnTo>
                <a:lnTo>
                  <a:pt x="231" y="321"/>
                </a:lnTo>
              </a:path>
            </a:pathLst>
          </a:custGeom>
          <a:noFill/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8198" name="AutoShape 5"/>
          <p:cNvCxnSpPr>
            <a:cxnSpLocks noChangeAspect="1"/>
            <a:stCxn id="8197" idx="3"/>
            <a:endCxn id="8238" idx="3"/>
          </p:cNvCxnSpPr>
          <p:nvPr/>
        </p:nvCxnSpPr>
        <p:spPr>
          <a:xfrm flipH="1">
            <a:off x="4770438" y="25987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8199" name="AutoShape 6"/>
          <p:cNvCxnSpPr>
            <a:cxnSpLocks noChangeAspect="1"/>
            <a:stCxn id="8200" idx="0"/>
            <a:endCxn id="8240" idx="1"/>
          </p:cNvCxnSpPr>
          <p:nvPr/>
        </p:nvCxnSpPr>
        <p:spPr>
          <a:xfrm flipV="1">
            <a:off x="2859088" y="19605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0" name="Freeform 7"/>
          <p:cNvSpPr/>
          <p:nvPr/>
        </p:nvSpPr>
        <p:spPr>
          <a:xfrm>
            <a:off x="2735263" y="2393950"/>
            <a:ext cx="123825" cy="204788"/>
          </a:xfrm>
          <a:custGeom>
            <a:avLst/>
            <a:gdLst>
              <a:gd name="txL" fmla="*/ 0 w 231"/>
              <a:gd name="txT" fmla="*/ 0 h 321"/>
              <a:gd name="txR" fmla="*/ 231 w 231"/>
              <a:gd name="txB" fmla="*/ 321 h 321"/>
            </a:gdLst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txL" t="txT" r="txR" b="txB"/>
            <a:pathLst>
              <a:path w="231" h="321">
                <a:moveTo>
                  <a:pt x="231" y="0"/>
                </a:moveTo>
                <a:lnTo>
                  <a:pt x="0" y="0"/>
                </a:lnTo>
                <a:lnTo>
                  <a:pt x="0" y="321"/>
                </a:lnTo>
                <a:lnTo>
                  <a:pt x="231" y="321"/>
                </a:lnTo>
              </a:path>
            </a:pathLst>
          </a:custGeom>
          <a:noFill/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8201" name="AutoShape 8"/>
          <p:cNvCxnSpPr>
            <a:cxnSpLocks noChangeAspect="1"/>
            <a:stCxn id="8200" idx="3"/>
            <a:endCxn id="8238" idx="1"/>
          </p:cNvCxnSpPr>
          <p:nvPr/>
        </p:nvCxnSpPr>
        <p:spPr>
          <a:xfrm>
            <a:off x="2859088" y="25987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202" name="Group 9"/>
          <p:cNvGrpSpPr>
            <a:grpSpLocks noChangeAspect="1"/>
          </p:cNvGrpSpPr>
          <p:nvPr/>
        </p:nvGrpSpPr>
        <p:grpSpPr>
          <a:xfrm>
            <a:off x="1914525" y="2259013"/>
            <a:ext cx="941388" cy="473075"/>
            <a:chOff x="1499" y="1740"/>
            <a:chExt cx="744" cy="374"/>
          </a:xfrm>
        </p:grpSpPr>
        <p:sp>
          <p:nvSpPr>
            <p:cNvPr id="8242" name="Rectangle 10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Control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43" name="Rectangle 11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44" name="Line 12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03" name="Oval 13"/>
          <p:cNvSpPr>
            <a:spLocks noChangeAspect="1"/>
          </p:cNvSpPr>
          <p:nvPr/>
        </p:nvSpPr>
        <p:spPr>
          <a:xfrm>
            <a:off x="5738813" y="22590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Command behavior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4" name="Text Box 14"/>
          <p:cNvSpPr txBox="1">
            <a:spLocks noChangeAspect="1"/>
          </p:cNvSpPr>
          <p:nvPr/>
        </p:nvSpPr>
        <p:spPr>
          <a:xfrm>
            <a:off x="3024188" y="1724025"/>
            <a:ext cx="466725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CS!C1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5" name="Text Box 15"/>
          <p:cNvSpPr txBox="1">
            <a:spLocks noChangeAspect="1"/>
          </p:cNvSpPr>
          <p:nvPr/>
        </p:nvSpPr>
        <p:spPr>
          <a:xfrm>
            <a:off x="5230813" y="1954213"/>
            <a:ext cx="21272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6" name="Text Box 16"/>
          <p:cNvSpPr txBox="1">
            <a:spLocks noChangeAspect="1"/>
          </p:cNvSpPr>
          <p:nvPr/>
        </p:nvSpPr>
        <p:spPr>
          <a:xfrm>
            <a:off x="3024188" y="1931988"/>
            <a:ext cx="47466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CD!C2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7" name="Text Box 17"/>
          <p:cNvSpPr txBox="1">
            <a:spLocks noChangeAspect="1"/>
          </p:cNvSpPr>
          <p:nvPr/>
        </p:nvSpPr>
        <p:spPr>
          <a:xfrm>
            <a:off x="3292475" y="4503738"/>
            <a:ext cx="1031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8" name="Text Box 18"/>
          <p:cNvSpPr txBox="1">
            <a:spLocks noChangeAspect="1"/>
          </p:cNvSpPr>
          <p:nvPr/>
        </p:nvSpPr>
        <p:spPr>
          <a:xfrm>
            <a:off x="5195888" y="4503738"/>
            <a:ext cx="1031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9" name="Text Box 19"/>
          <p:cNvSpPr txBox="1">
            <a:spLocks noChangeAspect="1"/>
          </p:cNvSpPr>
          <p:nvPr/>
        </p:nvSpPr>
        <p:spPr>
          <a:xfrm>
            <a:off x="287338" y="3751263"/>
            <a:ext cx="34353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Example: Place a Trading order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0" name="Text Box 20"/>
          <p:cNvSpPr txBox="1">
            <a:spLocks noChangeAspect="1"/>
          </p:cNvSpPr>
          <p:nvPr/>
        </p:nvSpPr>
        <p:spPr>
          <a:xfrm>
            <a:off x="1916113" y="4567238"/>
            <a:ext cx="93980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Control software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1" name="Text Box 21"/>
          <p:cNvSpPr txBox="1">
            <a:spLocks noChangeAspect="1"/>
          </p:cNvSpPr>
          <p:nvPr/>
        </p:nvSpPr>
        <p:spPr>
          <a:xfrm>
            <a:off x="3784600" y="4033838"/>
            <a:ext cx="1044575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Controlled domain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2" name="Text Box 22"/>
          <p:cNvSpPr txBox="1">
            <a:spLocks noChangeAspect="1"/>
          </p:cNvSpPr>
          <p:nvPr/>
        </p:nvSpPr>
        <p:spPr>
          <a:xfrm>
            <a:off x="5946775" y="4414838"/>
            <a:ext cx="6032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Command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behavior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3" name="Text Box 23"/>
          <p:cNvSpPr txBox="1">
            <a:spLocks noChangeAspect="1"/>
          </p:cNvSpPr>
          <p:nvPr/>
        </p:nvSpPr>
        <p:spPr>
          <a:xfrm>
            <a:off x="5248275" y="6151563"/>
            <a:ext cx="2081213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c: TR! {Place[i], Cancel[i],       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Executed[i], Expired[i]}  [Y3]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4" name="Text Box 24"/>
          <p:cNvSpPr txBox="1">
            <a:spLocks noChangeAspect="1"/>
          </p:cNvSpPr>
          <p:nvPr/>
        </p:nvSpPr>
        <p:spPr>
          <a:xfrm>
            <a:off x="1508125" y="6151563"/>
            <a:ext cx="171767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a: TS! {Create[i]}       [E1]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5" name="Text Box 25"/>
          <p:cNvSpPr txBox="1">
            <a:spLocks noChangeAspect="1"/>
          </p:cNvSpPr>
          <p:nvPr/>
        </p:nvSpPr>
        <p:spPr>
          <a:xfrm>
            <a:off x="1508125" y="6408738"/>
            <a:ext cx="235743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b: TR! {PriceQuotes, Place[i]}  [Y2]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16" name="Group 26"/>
          <p:cNvGrpSpPr/>
          <p:nvPr/>
        </p:nvGrpSpPr>
        <p:grpSpPr>
          <a:xfrm>
            <a:off x="3841750" y="1724025"/>
            <a:ext cx="928688" cy="473075"/>
            <a:chOff x="2420" y="1390"/>
            <a:chExt cx="585" cy="298"/>
          </a:xfrm>
        </p:grpSpPr>
        <p:sp>
          <p:nvSpPr>
            <p:cNvPr id="8240" name="Rectangle 27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Controlled domain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41" name="Rectangle 28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217" name="Group 29"/>
          <p:cNvGrpSpPr/>
          <p:nvPr/>
        </p:nvGrpSpPr>
        <p:grpSpPr>
          <a:xfrm>
            <a:off x="3841750" y="2794000"/>
            <a:ext cx="928688" cy="473075"/>
            <a:chOff x="2420" y="1390"/>
            <a:chExt cx="585" cy="298"/>
          </a:xfrm>
        </p:grpSpPr>
        <p:sp>
          <p:nvSpPr>
            <p:cNvPr id="8238" name="Rectangle 30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Operator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39" name="Rectangle 31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18" name="Text Box 32"/>
          <p:cNvSpPr txBox="1">
            <a:spLocks noChangeAspect="1"/>
          </p:cNvSpPr>
          <p:nvPr/>
        </p:nvSpPr>
        <p:spPr>
          <a:xfrm>
            <a:off x="3019425" y="2890838"/>
            <a:ext cx="468313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OP!E4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19" name="Text Box 33"/>
          <p:cNvSpPr txBox="1">
            <a:spLocks noChangeAspect="1"/>
          </p:cNvSpPr>
          <p:nvPr/>
        </p:nvSpPr>
        <p:spPr>
          <a:xfrm>
            <a:off x="5233988" y="2878138"/>
            <a:ext cx="204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E4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8220" name="AutoShape 34"/>
          <p:cNvCxnSpPr>
            <a:cxnSpLocks noChangeAspect="1"/>
            <a:endCxn id="8233" idx="3"/>
          </p:cNvCxnSpPr>
          <p:nvPr/>
        </p:nvCxnSpPr>
        <p:spPr>
          <a:xfrm flipH="1" flipV="1">
            <a:off x="4770438" y="45513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cxnSp>
        <p:nvCxnSpPr>
          <p:cNvPr id="8221" name="AutoShape 35"/>
          <p:cNvCxnSpPr>
            <a:cxnSpLocks noChangeAspect="1"/>
            <a:endCxn id="8231" idx="3"/>
          </p:cNvCxnSpPr>
          <p:nvPr/>
        </p:nvCxnSpPr>
        <p:spPr>
          <a:xfrm flipH="1">
            <a:off x="4770438" y="51895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8222" name="AutoShape 36"/>
          <p:cNvCxnSpPr>
            <a:cxnSpLocks noChangeAspect="1"/>
            <a:endCxn id="8233" idx="1"/>
          </p:cNvCxnSpPr>
          <p:nvPr/>
        </p:nvCxnSpPr>
        <p:spPr>
          <a:xfrm flipV="1">
            <a:off x="2859088" y="45513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23" name="AutoShape 37"/>
          <p:cNvCxnSpPr>
            <a:cxnSpLocks noChangeAspect="1"/>
            <a:endCxn id="8231" idx="1"/>
          </p:cNvCxnSpPr>
          <p:nvPr/>
        </p:nvCxnSpPr>
        <p:spPr>
          <a:xfrm>
            <a:off x="2859088" y="51895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224" name="Group 38"/>
          <p:cNvGrpSpPr>
            <a:grpSpLocks noChangeAspect="1"/>
          </p:cNvGrpSpPr>
          <p:nvPr/>
        </p:nvGrpSpPr>
        <p:grpSpPr>
          <a:xfrm>
            <a:off x="1914525" y="4849813"/>
            <a:ext cx="941388" cy="473075"/>
            <a:chOff x="1499" y="1740"/>
            <a:chExt cx="744" cy="374"/>
          </a:xfrm>
        </p:grpSpPr>
        <p:sp>
          <p:nvSpPr>
            <p:cNvPr id="8235" name="Rectangle 39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36" name="Rectangle 40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37" name="Line 41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25" name="Oval 42"/>
          <p:cNvSpPr>
            <a:spLocks noChangeAspect="1"/>
          </p:cNvSpPr>
          <p:nvPr/>
        </p:nvSpPr>
        <p:spPr>
          <a:xfrm>
            <a:off x="5738813" y="48498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26" name="Group 43"/>
          <p:cNvGrpSpPr/>
          <p:nvPr/>
        </p:nvGrpSpPr>
        <p:grpSpPr>
          <a:xfrm>
            <a:off x="3841750" y="4314825"/>
            <a:ext cx="928688" cy="473075"/>
            <a:chOff x="2420" y="1390"/>
            <a:chExt cx="585" cy="298"/>
          </a:xfrm>
        </p:grpSpPr>
        <p:sp>
          <p:nvSpPr>
            <p:cNvPr id="8233" name="Rectangle 44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34" name="Rectangle 45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227" name="Group 46"/>
          <p:cNvGrpSpPr/>
          <p:nvPr/>
        </p:nvGrpSpPr>
        <p:grpSpPr>
          <a:xfrm>
            <a:off x="3841750" y="5384800"/>
            <a:ext cx="928688" cy="473075"/>
            <a:chOff x="2420" y="1390"/>
            <a:chExt cx="585" cy="298"/>
          </a:xfrm>
        </p:grpSpPr>
        <p:sp>
          <p:nvSpPr>
            <p:cNvPr id="8231" name="Rectangle 47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32" name="Rectangle 48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28" name="Text Box 49"/>
          <p:cNvSpPr txBox="1">
            <a:spLocks noChangeAspect="1"/>
          </p:cNvSpPr>
          <p:nvPr/>
        </p:nvSpPr>
        <p:spPr>
          <a:xfrm>
            <a:off x="4048125" y="5953125"/>
            <a:ext cx="517525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Operator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29" name="Text Box 50"/>
          <p:cNvSpPr txBox="1">
            <a:spLocks noChangeAspect="1"/>
          </p:cNvSpPr>
          <p:nvPr/>
        </p:nvSpPr>
        <p:spPr>
          <a:xfrm>
            <a:off x="3295650" y="5470525"/>
            <a:ext cx="95250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30" name="Text Box 51"/>
          <p:cNvSpPr txBox="1">
            <a:spLocks noChangeAspect="1"/>
          </p:cNvSpPr>
          <p:nvPr/>
        </p:nvSpPr>
        <p:spPr>
          <a:xfrm>
            <a:off x="5199063" y="5470525"/>
            <a:ext cx="95250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317500" y="152400"/>
            <a:ext cx="8675688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Basic Frame 3: Information Display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cxnSp>
        <p:nvCxnSpPr>
          <p:cNvPr id="9220" name="AutoShape 3"/>
          <p:cNvCxnSpPr>
            <a:cxnSpLocks noChangeAspect="1"/>
            <a:stCxn id="9221" idx="0"/>
            <a:endCxn id="9262" idx="3"/>
          </p:cNvCxnSpPr>
          <p:nvPr/>
        </p:nvCxnSpPr>
        <p:spPr>
          <a:xfrm flipH="1" flipV="1">
            <a:off x="4770438" y="19605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sp>
        <p:nvSpPr>
          <p:cNvPr id="9221" name="Freeform 4"/>
          <p:cNvSpPr/>
          <p:nvPr/>
        </p:nvSpPr>
        <p:spPr>
          <a:xfrm flipH="1">
            <a:off x="5788025" y="2393950"/>
            <a:ext cx="123825" cy="204788"/>
          </a:xfrm>
          <a:custGeom>
            <a:avLst/>
            <a:gdLst>
              <a:gd name="txL" fmla="*/ 0 w 231"/>
              <a:gd name="txT" fmla="*/ 0 h 321"/>
              <a:gd name="txR" fmla="*/ 231 w 231"/>
              <a:gd name="txB" fmla="*/ 321 h 321"/>
            </a:gdLst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txL" t="txT" r="txR" b="txB"/>
            <a:pathLst>
              <a:path w="231" h="321">
                <a:moveTo>
                  <a:pt x="231" y="0"/>
                </a:moveTo>
                <a:lnTo>
                  <a:pt x="0" y="0"/>
                </a:lnTo>
                <a:lnTo>
                  <a:pt x="0" y="321"/>
                </a:lnTo>
                <a:lnTo>
                  <a:pt x="231" y="321"/>
                </a:lnTo>
              </a:path>
            </a:pathLst>
          </a:custGeom>
          <a:noFill/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9222" name="AutoShape 5"/>
          <p:cNvCxnSpPr>
            <a:cxnSpLocks noChangeAspect="1"/>
            <a:stCxn id="9221" idx="3"/>
            <a:endCxn id="9260" idx="3"/>
          </p:cNvCxnSpPr>
          <p:nvPr/>
        </p:nvCxnSpPr>
        <p:spPr>
          <a:xfrm flipH="1">
            <a:off x="4770438" y="25987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9223" name="AutoShape 6"/>
          <p:cNvCxnSpPr>
            <a:cxnSpLocks noChangeAspect="1"/>
            <a:stCxn id="9264" idx="0"/>
            <a:endCxn id="9262" idx="1"/>
          </p:cNvCxnSpPr>
          <p:nvPr/>
        </p:nvCxnSpPr>
        <p:spPr>
          <a:xfrm flipV="1">
            <a:off x="2859088" y="19605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" name="AutoShape 7"/>
          <p:cNvCxnSpPr>
            <a:cxnSpLocks noChangeAspect="1"/>
            <a:stCxn id="9264" idx="3"/>
            <a:endCxn id="9260" idx="1"/>
          </p:cNvCxnSpPr>
          <p:nvPr/>
        </p:nvCxnSpPr>
        <p:spPr>
          <a:xfrm>
            <a:off x="2859088" y="25987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25" name="Group 8"/>
          <p:cNvGrpSpPr/>
          <p:nvPr/>
        </p:nvGrpSpPr>
        <p:grpSpPr>
          <a:xfrm>
            <a:off x="1812925" y="2259013"/>
            <a:ext cx="1046163" cy="473075"/>
            <a:chOff x="1142" y="1423"/>
            <a:chExt cx="659" cy="298"/>
          </a:xfrm>
        </p:grpSpPr>
        <p:sp>
          <p:nvSpPr>
            <p:cNvPr id="9264" name="Freeform 9"/>
            <p:cNvSpPr/>
            <p:nvPr/>
          </p:nvSpPr>
          <p:spPr>
            <a:xfrm>
              <a:off x="1723" y="1508"/>
              <a:ext cx="78" cy="129"/>
            </a:xfrm>
            <a:custGeom>
              <a:avLst/>
              <a:gdLst>
                <a:gd name="txL" fmla="*/ 0 w 231"/>
                <a:gd name="txT" fmla="*/ 0 h 321"/>
                <a:gd name="txR" fmla="*/ 231 w 231"/>
                <a:gd name="txB" fmla="*/ 321 h 321"/>
              </a:gdLst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1"/>
                </a:cxn>
                <a:cxn ang="0">
                  <a:pos x="9" y="21"/>
                </a:cxn>
              </a:cxnLst>
              <a:rect l="txL" t="txT" r="txR" b="txB"/>
              <a:pathLst>
                <a:path w="231" h="321">
                  <a:moveTo>
                    <a:pt x="231" y="0"/>
                  </a:moveTo>
                  <a:lnTo>
                    <a:pt x="0" y="0"/>
                  </a:lnTo>
                  <a:lnTo>
                    <a:pt x="0" y="321"/>
                  </a:lnTo>
                  <a:lnTo>
                    <a:pt x="231" y="321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5" name="Rectangle 10"/>
            <p:cNvSpPr>
              <a:spLocks noChangeAspect="1"/>
            </p:cNvSpPr>
            <p:nvPr/>
          </p:nvSpPr>
          <p:spPr>
            <a:xfrm>
              <a:off x="1276" y="1423"/>
              <a:ext cx="523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Information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66" name="Rectangle 11"/>
            <p:cNvSpPr>
              <a:spLocks noChangeAspect="1"/>
            </p:cNvSpPr>
            <p:nvPr/>
          </p:nvSpPr>
          <p:spPr>
            <a:xfrm>
              <a:off x="1142" y="1423"/>
              <a:ext cx="134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67" name="Line 12"/>
            <p:cNvSpPr>
              <a:spLocks noChangeAspect="1"/>
            </p:cNvSpPr>
            <p:nvPr/>
          </p:nvSpPr>
          <p:spPr>
            <a:xfrm>
              <a:off x="1209" y="1423"/>
              <a:ext cx="0" cy="2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226" name="Oval 13"/>
          <p:cNvSpPr>
            <a:spLocks noChangeAspect="1"/>
          </p:cNvSpPr>
          <p:nvPr/>
        </p:nvSpPr>
        <p:spPr>
          <a:xfrm>
            <a:off x="5738813" y="22590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Display ~ Real world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7" name="Text Box 14"/>
          <p:cNvSpPr txBox="1">
            <a:spLocks noChangeAspect="1"/>
          </p:cNvSpPr>
          <p:nvPr/>
        </p:nvSpPr>
        <p:spPr>
          <a:xfrm>
            <a:off x="5230813" y="1954213"/>
            <a:ext cx="21272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8" name="Text Box 15"/>
          <p:cNvSpPr txBox="1">
            <a:spLocks noChangeAspect="1"/>
          </p:cNvSpPr>
          <p:nvPr/>
        </p:nvSpPr>
        <p:spPr>
          <a:xfrm>
            <a:off x="2947988" y="1954213"/>
            <a:ext cx="5095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RW!C1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9" name="Text Box 16"/>
          <p:cNvSpPr txBox="1">
            <a:spLocks noChangeAspect="1"/>
          </p:cNvSpPr>
          <p:nvPr/>
        </p:nvSpPr>
        <p:spPr>
          <a:xfrm>
            <a:off x="3292475" y="4503738"/>
            <a:ext cx="1031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0" name="Text Box 17"/>
          <p:cNvSpPr txBox="1">
            <a:spLocks noChangeAspect="1"/>
          </p:cNvSpPr>
          <p:nvPr/>
        </p:nvSpPr>
        <p:spPr>
          <a:xfrm>
            <a:off x="5199063" y="4503738"/>
            <a:ext cx="95250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1" name="Text Box 18"/>
          <p:cNvSpPr txBox="1">
            <a:spLocks noChangeAspect="1"/>
          </p:cNvSpPr>
          <p:nvPr/>
        </p:nvSpPr>
        <p:spPr>
          <a:xfrm>
            <a:off x="287338" y="3751263"/>
            <a:ext cx="34353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Example: Place a Trading order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2" name="Text Box 19"/>
          <p:cNvSpPr txBox="1">
            <a:spLocks noChangeAspect="1"/>
          </p:cNvSpPr>
          <p:nvPr/>
        </p:nvSpPr>
        <p:spPr>
          <a:xfrm>
            <a:off x="2060575" y="4414838"/>
            <a:ext cx="650875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Information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software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3" name="Text Box 20"/>
          <p:cNvSpPr txBox="1">
            <a:spLocks noChangeAspect="1"/>
          </p:cNvSpPr>
          <p:nvPr/>
        </p:nvSpPr>
        <p:spPr>
          <a:xfrm>
            <a:off x="3998913" y="4033838"/>
            <a:ext cx="617537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Real world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4" name="Text Box 21"/>
          <p:cNvSpPr txBox="1">
            <a:spLocks noChangeAspect="1"/>
          </p:cNvSpPr>
          <p:nvPr/>
        </p:nvSpPr>
        <p:spPr>
          <a:xfrm>
            <a:off x="5938838" y="4414838"/>
            <a:ext cx="617537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Display ~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Real world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5" name="Text Box 22"/>
          <p:cNvSpPr txBox="1">
            <a:spLocks noChangeAspect="1"/>
          </p:cNvSpPr>
          <p:nvPr/>
        </p:nvSpPr>
        <p:spPr>
          <a:xfrm>
            <a:off x="5248275" y="6151563"/>
            <a:ext cx="2081213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c: TR! {Place[i], Cancel[i],       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Executed[i], Expired[i]}  [Y3]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6" name="Text Box 23"/>
          <p:cNvSpPr txBox="1">
            <a:spLocks noChangeAspect="1"/>
          </p:cNvSpPr>
          <p:nvPr/>
        </p:nvSpPr>
        <p:spPr>
          <a:xfrm>
            <a:off x="1508125" y="6151563"/>
            <a:ext cx="171767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a: TS! {Create[i]}       [E1]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7" name="Text Box 24"/>
          <p:cNvSpPr txBox="1">
            <a:spLocks noChangeAspect="1"/>
          </p:cNvSpPr>
          <p:nvPr/>
        </p:nvSpPr>
        <p:spPr>
          <a:xfrm>
            <a:off x="1508125" y="6408738"/>
            <a:ext cx="235743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b: TR! {PriceQuotes, Place[i]}  [Y2]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238" name="Group 25"/>
          <p:cNvGrpSpPr/>
          <p:nvPr/>
        </p:nvGrpSpPr>
        <p:grpSpPr>
          <a:xfrm>
            <a:off x="3841750" y="1724025"/>
            <a:ext cx="928688" cy="473075"/>
            <a:chOff x="2420" y="1390"/>
            <a:chExt cx="585" cy="298"/>
          </a:xfrm>
        </p:grpSpPr>
        <p:sp>
          <p:nvSpPr>
            <p:cNvPr id="9262" name="Rectangle 26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Real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world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63" name="Rectangle 27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239" name="Group 28"/>
          <p:cNvGrpSpPr/>
          <p:nvPr/>
        </p:nvGrpSpPr>
        <p:grpSpPr>
          <a:xfrm>
            <a:off x="3841750" y="2794000"/>
            <a:ext cx="928688" cy="473075"/>
            <a:chOff x="2420" y="1390"/>
            <a:chExt cx="585" cy="298"/>
          </a:xfrm>
        </p:grpSpPr>
        <p:sp>
          <p:nvSpPr>
            <p:cNvPr id="9260" name="Rectangle 29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Display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61" name="Rectangle 30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40" name="Text Box 31"/>
          <p:cNvSpPr txBox="1">
            <a:spLocks noChangeAspect="1"/>
          </p:cNvSpPr>
          <p:nvPr/>
        </p:nvSpPr>
        <p:spPr>
          <a:xfrm>
            <a:off x="3057525" y="2890838"/>
            <a:ext cx="392113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IS!E2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41" name="Text Box 32"/>
          <p:cNvSpPr txBox="1">
            <a:spLocks noChangeAspect="1"/>
          </p:cNvSpPr>
          <p:nvPr/>
        </p:nvSpPr>
        <p:spPr>
          <a:xfrm>
            <a:off x="5233988" y="2878138"/>
            <a:ext cx="204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Y4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9242" name="AutoShape 33"/>
          <p:cNvCxnSpPr>
            <a:cxnSpLocks noChangeAspect="1"/>
            <a:endCxn id="9255" idx="3"/>
          </p:cNvCxnSpPr>
          <p:nvPr/>
        </p:nvCxnSpPr>
        <p:spPr>
          <a:xfrm flipH="1" flipV="1">
            <a:off x="4770438" y="45513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cxnSp>
        <p:nvCxnSpPr>
          <p:cNvPr id="9243" name="AutoShape 34"/>
          <p:cNvCxnSpPr>
            <a:cxnSpLocks noChangeAspect="1"/>
            <a:endCxn id="9253" idx="3"/>
          </p:cNvCxnSpPr>
          <p:nvPr/>
        </p:nvCxnSpPr>
        <p:spPr>
          <a:xfrm flipH="1">
            <a:off x="4770438" y="51895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9244" name="AutoShape 35"/>
          <p:cNvCxnSpPr>
            <a:cxnSpLocks noChangeAspect="1"/>
            <a:endCxn id="9255" idx="1"/>
          </p:cNvCxnSpPr>
          <p:nvPr/>
        </p:nvCxnSpPr>
        <p:spPr>
          <a:xfrm flipV="1">
            <a:off x="2859088" y="45513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45" name="AutoShape 36"/>
          <p:cNvCxnSpPr>
            <a:cxnSpLocks noChangeAspect="1"/>
            <a:endCxn id="9253" idx="1"/>
          </p:cNvCxnSpPr>
          <p:nvPr/>
        </p:nvCxnSpPr>
        <p:spPr>
          <a:xfrm>
            <a:off x="2859088" y="51895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46" name="Group 37"/>
          <p:cNvGrpSpPr>
            <a:grpSpLocks noChangeAspect="1"/>
          </p:cNvGrpSpPr>
          <p:nvPr/>
        </p:nvGrpSpPr>
        <p:grpSpPr>
          <a:xfrm>
            <a:off x="1914525" y="4849813"/>
            <a:ext cx="941388" cy="473075"/>
            <a:chOff x="1499" y="1740"/>
            <a:chExt cx="744" cy="374"/>
          </a:xfrm>
        </p:grpSpPr>
        <p:sp>
          <p:nvSpPr>
            <p:cNvPr id="9257" name="Rectangle 38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8" name="Rectangle 39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59" name="Line 40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247" name="Oval 41"/>
          <p:cNvSpPr>
            <a:spLocks noChangeAspect="1"/>
          </p:cNvSpPr>
          <p:nvPr/>
        </p:nvSpPr>
        <p:spPr>
          <a:xfrm>
            <a:off x="5738813" y="48498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248" name="Group 42"/>
          <p:cNvGrpSpPr/>
          <p:nvPr/>
        </p:nvGrpSpPr>
        <p:grpSpPr>
          <a:xfrm>
            <a:off x="3841750" y="4314825"/>
            <a:ext cx="928688" cy="473075"/>
            <a:chOff x="2420" y="1390"/>
            <a:chExt cx="585" cy="298"/>
          </a:xfrm>
        </p:grpSpPr>
        <p:sp>
          <p:nvSpPr>
            <p:cNvPr id="9255" name="Rectangle 43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6" name="Rectangle 44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249" name="Group 45"/>
          <p:cNvGrpSpPr/>
          <p:nvPr/>
        </p:nvGrpSpPr>
        <p:grpSpPr>
          <a:xfrm>
            <a:off x="3841750" y="5384800"/>
            <a:ext cx="928688" cy="473075"/>
            <a:chOff x="2420" y="1390"/>
            <a:chExt cx="585" cy="298"/>
          </a:xfrm>
        </p:grpSpPr>
        <p:sp>
          <p:nvSpPr>
            <p:cNvPr id="9253" name="Rectangle 46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4" name="Rectangle 47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50" name="Text Box 48"/>
          <p:cNvSpPr txBox="1">
            <a:spLocks noChangeAspect="1"/>
          </p:cNvSpPr>
          <p:nvPr/>
        </p:nvSpPr>
        <p:spPr>
          <a:xfrm>
            <a:off x="4089400" y="5953125"/>
            <a:ext cx="434975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Display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51" name="Text Box 49"/>
          <p:cNvSpPr txBox="1">
            <a:spLocks noChangeAspect="1"/>
          </p:cNvSpPr>
          <p:nvPr/>
        </p:nvSpPr>
        <p:spPr>
          <a:xfrm>
            <a:off x="3292475" y="5470525"/>
            <a:ext cx="10318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52" name="Text Box 50"/>
          <p:cNvSpPr txBox="1">
            <a:spLocks noChangeAspect="1"/>
          </p:cNvSpPr>
          <p:nvPr/>
        </p:nvSpPr>
        <p:spPr>
          <a:xfrm>
            <a:off x="5195888" y="5470525"/>
            <a:ext cx="103187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cxnSp>
        <p:nvCxnSpPr>
          <p:cNvPr id="10243" name="AutoShape 2"/>
          <p:cNvCxnSpPr>
            <a:cxnSpLocks noChangeAspect="1"/>
            <a:stCxn id="10244" idx="0"/>
            <a:endCxn id="10281" idx="3"/>
          </p:cNvCxnSpPr>
          <p:nvPr/>
        </p:nvCxnSpPr>
        <p:spPr>
          <a:xfrm flipH="1" flipV="1">
            <a:off x="4770438" y="19605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sp>
        <p:nvSpPr>
          <p:cNvPr id="10244" name="Freeform 3"/>
          <p:cNvSpPr/>
          <p:nvPr/>
        </p:nvSpPr>
        <p:spPr>
          <a:xfrm flipH="1">
            <a:off x="5788025" y="2393950"/>
            <a:ext cx="123825" cy="204788"/>
          </a:xfrm>
          <a:custGeom>
            <a:avLst/>
            <a:gdLst>
              <a:gd name="txL" fmla="*/ 0 w 231"/>
              <a:gd name="txT" fmla="*/ 0 h 321"/>
              <a:gd name="txR" fmla="*/ 231 w 231"/>
              <a:gd name="txB" fmla="*/ 321 h 321"/>
            </a:gdLst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txL" t="txT" r="txR" b="txB"/>
            <a:pathLst>
              <a:path w="231" h="321">
                <a:moveTo>
                  <a:pt x="231" y="0"/>
                </a:moveTo>
                <a:lnTo>
                  <a:pt x="0" y="0"/>
                </a:lnTo>
                <a:lnTo>
                  <a:pt x="0" y="321"/>
                </a:lnTo>
                <a:lnTo>
                  <a:pt x="231" y="321"/>
                </a:lnTo>
              </a:path>
            </a:pathLst>
          </a:custGeom>
          <a:noFill/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10245" name="AutoShape 4"/>
          <p:cNvCxnSpPr>
            <a:cxnSpLocks noChangeAspect="1"/>
            <a:stCxn id="10244" idx="3"/>
            <a:endCxn id="10289" idx="3"/>
          </p:cNvCxnSpPr>
          <p:nvPr/>
        </p:nvCxnSpPr>
        <p:spPr>
          <a:xfrm flipH="1">
            <a:off x="4770438" y="25987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10246" name="AutoShape 5"/>
          <p:cNvCxnSpPr>
            <a:cxnSpLocks noChangeAspect="1"/>
            <a:stCxn id="10291" idx="0"/>
            <a:endCxn id="10283" idx="1"/>
          </p:cNvCxnSpPr>
          <p:nvPr/>
        </p:nvCxnSpPr>
        <p:spPr>
          <a:xfrm flipV="1">
            <a:off x="2859088" y="19605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47" name="AutoShape 6"/>
          <p:cNvCxnSpPr>
            <a:cxnSpLocks noChangeAspect="1"/>
            <a:stCxn id="10291" idx="3"/>
            <a:endCxn id="10289" idx="1"/>
          </p:cNvCxnSpPr>
          <p:nvPr/>
        </p:nvCxnSpPr>
        <p:spPr>
          <a:xfrm>
            <a:off x="2859088" y="25987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248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Basic Frame 4: Simple Workpieces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grpSp>
        <p:nvGrpSpPr>
          <p:cNvPr id="10249" name="Group 8"/>
          <p:cNvGrpSpPr/>
          <p:nvPr/>
        </p:nvGrpSpPr>
        <p:grpSpPr>
          <a:xfrm>
            <a:off x="1914525" y="2259013"/>
            <a:ext cx="944563" cy="473075"/>
            <a:chOff x="1206" y="1423"/>
            <a:chExt cx="595" cy="298"/>
          </a:xfrm>
        </p:grpSpPr>
        <p:sp>
          <p:nvSpPr>
            <p:cNvPr id="10291" name="Freeform 9"/>
            <p:cNvSpPr/>
            <p:nvPr/>
          </p:nvSpPr>
          <p:spPr>
            <a:xfrm>
              <a:off x="1723" y="1508"/>
              <a:ext cx="78" cy="129"/>
            </a:xfrm>
            <a:custGeom>
              <a:avLst/>
              <a:gdLst>
                <a:gd name="txL" fmla="*/ 0 w 231"/>
                <a:gd name="txT" fmla="*/ 0 h 321"/>
                <a:gd name="txR" fmla="*/ 231 w 231"/>
                <a:gd name="txB" fmla="*/ 321 h 321"/>
              </a:gdLst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1"/>
                </a:cxn>
                <a:cxn ang="0">
                  <a:pos x="9" y="21"/>
                </a:cxn>
              </a:cxnLst>
              <a:rect l="txL" t="txT" r="txR" b="txB"/>
              <a:pathLst>
                <a:path w="231" h="321">
                  <a:moveTo>
                    <a:pt x="231" y="0"/>
                  </a:moveTo>
                  <a:lnTo>
                    <a:pt x="0" y="0"/>
                  </a:lnTo>
                  <a:lnTo>
                    <a:pt x="0" y="321"/>
                  </a:lnTo>
                  <a:lnTo>
                    <a:pt x="231" y="321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292" name="Group 10"/>
            <p:cNvGrpSpPr>
              <a:grpSpLocks noChangeAspect="1"/>
            </p:cNvGrpSpPr>
            <p:nvPr/>
          </p:nvGrpSpPr>
          <p:grpSpPr>
            <a:xfrm>
              <a:off x="1206" y="1423"/>
              <a:ext cx="593" cy="298"/>
              <a:chOff x="1499" y="1740"/>
              <a:chExt cx="744" cy="374"/>
            </a:xfrm>
          </p:grpSpPr>
          <p:sp>
            <p:nvSpPr>
              <p:cNvPr id="10293" name="Rectangle 11"/>
              <p:cNvSpPr>
                <a:spLocks noChangeAspect="1"/>
              </p:cNvSpPr>
              <p:nvPr/>
            </p:nvSpPr>
            <p:spPr>
              <a:xfrm>
                <a:off x="1667" y="1740"/>
                <a:ext cx="576" cy="37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Editing tool</a:t>
                </a:r>
                <a:endPara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4" name="Rectangle 12"/>
              <p:cNvSpPr>
                <a:spLocks noChangeAspect="1"/>
              </p:cNvSpPr>
              <p:nvPr/>
            </p:nvSpPr>
            <p:spPr>
              <a:xfrm>
                <a:off x="1499" y="1740"/>
                <a:ext cx="168" cy="37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95" name="Line 13"/>
              <p:cNvSpPr>
                <a:spLocks noChangeAspect="1"/>
              </p:cNvSpPr>
              <p:nvPr/>
            </p:nvSpPr>
            <p:spPr>
              <a:xfrm>
                <a:off x="1583" y="1740"/>
                <a:ext cx="0" cy="37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250" name="Oval 14"/>
          <p:cNvSpPr>
            <a:spLocks noChangeAspect="1"/>
          </p:cNvSpPr>
          <p:nvPr/>
        </p:nvSpPr>
        <p:spPr>
          <a:xfrm>
            <a:off x="5738813" y="22590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Command effects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1" name="Text Box 15"/>
          <p:cNvSpPr txBox="1">
            <a:spLocks noChangeAspect="1"/>
          </p:cNvSpPr>
          <p:nvPr/>
        </p:nvSpPr>
        <p:spPr>
          <a:xfrm>
            <a:off x="2938463" y="1724025"/>
            <a:ext cx="442912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ET!E1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2" name="Text Box 16"/>
          <p:cNvSpPr txBox="1">
            <a:spLocks noChangeAspect="1"/>
          </p:cNvSpPr>
          <p:nvPr/>
        </p:nvSpPr>
        <p:spPr>
          <a:xfrm>
            <a:off x="5233988" y="1954213"/>
            <a:ext cx="204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Y3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3" name="Text Box 17"/>
          <p:cNvSpPr txBox="1">
            <a:spLocks noChangeAspect="1"/>
          </p:cNvSpPr>
          <p:nvPr/>
        </p:nvSpPr>
        <p:spPr>
          <a:xfrm>
            <a:off x="2938463" y="1931988"/>
            <a:ext cx="493712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WP!Y2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4" name="Text Box 18"/>
          <p:cNvSpPr txBox="1">
            <a:spLocks noChangeAspect="1"/>
          </p:cNvSpPr>
          <p:nvPr/>
        </p:nvSpPr>
        <p:spPr>
          <a:xfrm>
            <a:off x="3292475" y="4503738"/>
            <a:ext cx="1031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5" name="Text Box 19"/>
          <p:cNvSpPr txBox="1">
            <a:spLocks noChangeAspect="1"/>
          </p:cNvSpPr>
          <p:nvPr/>
        </p:nvSpPr>
        <p:spPr>
          <a:xfrm>
            <a:off x="5199063" y="4503738"/>
            <a:ext cx="95250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6" name="Text Box 20"/>
          <p:cNvSpPr txBox="1">
            <a:spLocks noChangeAspect="1"/>
          </p:cNvSpPr>
          <p:nvPr/>
        </p:nvSpPr>
        <p:spPr>
          <a:xfrm>
            <a:off x="287338" y="3751263"/>
            <a:ext cx="34353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Example: Place a Trading order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7" name="Text Box 21"/>
          <p:cNvSpPr txBox="1">
            <a:spLocks noChangeAspect="1"/>
          </p:cNvSpPr>
          <p:nvPr/>
        </p:nvSpPr>
        <p:spPr>
          <a:xfrm>
            <a:off x="2063750" y="4567238"/>
            <a:ext cx="64293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Editing tool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8" name="Text Box 22"/>
          <p:cNvSpPr txBox="1">
            <a:spLocks noChangeAspect="1"/>
          </p:cNvSpPr>
          <p:nvPr/>
        </p:nvSpPr>
        <p:spPr>
          <a:xfrm>
            <a:off x="3965575" y="4033838"/>
            <a:ext cx="68103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Workpieces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9" name="Text Box 23"/>
          <p:cNvSpPr txBox="1">
            <a:spLocks noChangeAspect="1"/>
          </p:cNvSpPr>
          <p:nvPr/>
        </p:nvSpPr>
        <p:spPr>
          <a:xfrm>
            <a:off x="5946775" y="4414838"/>
            <a:ext cx="60325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Command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effects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0" name="Text Box 24"/>
          <p:cNvSpPr txBox="1">
            <a:spLocks noChangeAspect="1"/>
          </p:cNvSpPr>
          <p:nvPr/>
        </p:nvSpPr>
        <p:spPr>
          <a:xfrm>
            <a:off x="5248275" y="6151563"/>
            <a:ext cx="2081213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c: TR! {Place[i], Cancel[i],       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Executed[i], Expired[i]}  [Y3]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1" name="Text Box 25"/>
          <p:cNvSpPr txBox="1">
            <a:spLocks noChangeAspect="1"/>
          </p:cNvSpPr>
          <p:nvPr/>
        </p:nvSpPr>
        <p:spPr>
          <a:xfrm>
            <a:off x="1508125" y="6151563"/>
            <a:ext cx="171767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a: TS! {Create[i]}       [E1]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2" name="Text Box 26"/>
          <p:cNvSpPr txBox="1">
            <a:spLocks noChangeAspect="1"/>
          </p:cNvSpPr>
          <p:nvPr/>
        </p:nvSpPr>
        <p:spPr>
          <a:xfrm>
            <a:off x="1508125" y="6408738"/>
            <a:ext cx="235743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b: TR! {PriceQuotes, Place[i]}  [Y2]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263" name="Group 27"/>
          <p:cNvGrpSpPr/>
          <p:nvPr/>
        </p:nvGrpSpPr>
        <p:grpSpPr>
          <a:xfrm>
            <a:off x="3841750" y="2794000"/>
            <a:ext cx="928688" cy="473075"/>
            <a:chOff x="2420" y="1390"/>
            <a:chExt cx="585" cy="298"/>
          </a:xfrm>
        </p:grpSpPr>
        <p:sp>
          <p:nvSpPr>
            <p:cNvPr id="10289" name="Rectangle 28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User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90" name="Rectangle 29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64" name="Text Box 30"/>
          <p:cNvSpPr txBox="1">
            <a:spLocks noChangeAspect="1"/>
          </p:cNvSpPr>
          <p:nvPr/>
        </p:nvSpPr>
        <p:spPr>
          <a:xfrm>
            <a:off x="3024188" y="2890838"/>
            <a:ext cx="458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US!E3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5" name="Text Box 31"/>
          <p:cNvSpPr txBox="1">
            <a:spLocks noChangeAspect="1"/>
          </p:cNvSpPr>
          <p:nvPr/>
        </p:nvSpPr>
        <p:spPr>
          <a:xfrm>
            <a:off x="5233988" y="2878138"/>
            <a:ext cx="204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266" name="AutoShape 32"/>
          <p:cNvCxnSpPr>
            <a:cxnSpLocks noChangeAspect="1"/>
            <a:endCxn id="10278" idx="3"/>
          </p:cNvCxnSpPr>
          <p:nvPr/>
        </p:nvCxnSpPr>
        <p:spPr>
          <a:xfrm flipH="1" flipV="1">
            <a:off x="4770438" y="4552950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cxnSp>
        <p:nvCxnSpPr>
          <p:cNvPr id="10267" name="AutoShape 33"/>
          <p:cNvCxnSpPr>
            <a:cxnSpLocks noChangeAspect="1"/>
            <a:endCxn id="10284" idx="3"/>
          </p:cNvCxnSpPr>
          <p:nvPr/>
        </p:nvCxnSpPr>
        <p:spPr>
          <a:xfrm flipH="1">
            <a:off x="4770438" y="51895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10268" name="AutoShape 34"/>
          <p:cNvCxnSpPr>
            <a:cxnSpLocks noChangeAspect="1"/>
            <a:endCxn id="10280" idx="1"/>
          </p:cNvCxnSpPr>
          <p:nvPr/>
        </p:nvCxnSpPr>
        <p:spPr>
          <a:xfrm flipV="1">
            <a:off x="2859088" y="4552950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69" name="AutoShape 35"/>
          <p:cNvCxnSpPr>
            <a:cxnSpLocks noChangeAspect="1"/>
            <a:endCxn id="10284" idx="1"/>
          </p:cNvCxnSpPr>
          <p:nvPr/>
        </p:nvCxnSpPr>
        <p:spPr>
          <a:xfrm>
            <a:off x="2859088" y="51895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270" name="Group 36"/>
          <p:cNvGrpSpPr>
            <a:grpSpLocks noChangeAspect="1"/>
          </p:cNvGrpSpPr>
          <p:nvPr/>
        </p:nvGrpSpPr>
        <p:grpSpPr>
          <a:xfrm>
            <a:off x="1914525" y="4849813"/>
            <a:ext cx="941388" cy="473075"/>
            <a:chOff x="1499" y="1740"/>
            <a:chExt cx="744" cy="374"/>
          </a:xfrm>
        </p:grpSpPr>
        <p:sp>
          <p:nvSpPr>
            <p:cNvPr id="10286" name="Rectangle 37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Trading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7" name="Rectangle 38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88" name="Line 39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271" name="Oval 40"/>
          <p:cNvSpPr>
            <a:spLocks noChangeAspect="1"/>
          </p:cNvSpPr>
          <p:nvPr/>
        </p:nvSpPr>
        <p:spPr>
          <a:xfrm>
            <a:off x="5738813" y="48498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Order placing rules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272" name="Group 41"/>
          <p:cNvGrpSpPr/>
          <p:nvPr/>
        </p:nvGrpSpPr>
        <p:grpSpPr>
          <a:xfrm>
            <a:off x="3841750" y="5384800"/>
            <a:ext cx="928688" cy="473075"/>
            <a:chOff x="2420" y="1390"/>
            <a:chExt cx="585" cy="298"/>
          </a:xfrm>
        </p:grpSpPr>
        <p:sp>
          <p:nvSpPr>
            <p:cNvPr id="10284" name="Rectangle 42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Trader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5" name="Rectangle 43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73" name="Text Box 44"/>
          <p:cNvSpPr txBox="1">
            <a:spLocks noChangeAspect="1"/>
          </p:cNvSpPr>
          <p:nvPr/>
        </p:nvSpPr>
        <p:spPr>
          <a:xfrm>
            <a:off x="4162425" y="5953125"/>
            <a:ext cx="287338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User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4" name="Text Box 45"/>
          <p:cNvSpPr txBox="1">
            <a:spLocks noChangeAspect="1"/>
          </p:cNvSpPr>
          <p:nvPr/>
        </p:nvSpPr>
        <p:spPr>
          <a:xfrm>
            <a:off x="3292475" y="5470525"/>
            <a:ext cx="10318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5" name="Text Box 46"/>
          <p:cNvSpPr txBox="1">
            <a:spLocks noChangeAspect="1"/>
          </p:cNvSpPr>
          <p:nvPr/>
        </p:nvSpPr>
        <p:spPr>
          <a:xfrm>
            <a:off x="5195888" y="5470525"/>
            <a:ext cx="103187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276" name="Group 47"/>
          <p:cNvGrpSpPr/>
          <p:nvPr/>
        </p:nvGrpSpPr>
        <p:grpSpPr>
          <a:xfrm>
            <a:off x="3841750" y="1722438"/>
            <a:ext cx="928688" cy="474662"/>
            <a:chOff x="2354" y="1085"/>
            <a:chExt cx="585" cy="299"/>
          </a:xfrm>
        </p:grpSpPr>
        <p:sp>
          <p:nvSpPr>
            <p:cNvPr id="10281" name="Rectangle 48"/>
            <p:cNvSpPr>
              <a:spLocks noChangeAspect="1"/>
            </p:cNvSpPr>
            <p:nvPr/>
          </p:nvSpPr>
          <p:spPr>
            <a:xfrm>
              <a:off x="2420" y="1086"/>
              <a:ext cx="519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Ins="274320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Work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pieces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2" name="Rectangle 49"/>
            <p:cNvSpPr/>
            <p:nvPr/>
          </p:nvSpPr>
          <p:spPr>
            <a:xfrm>
              <a:off x="2824" y="1269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3" name="Rectangle 50"/>
            <p:cNvSpPr/>
            <p:nvPr/>
          </p:nvSpPr>
          <p:spPr>
            <a:xfrm>
              <a:off x="2354" y="1085"/>
              <a:ext cx="66" cy="2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277" name="Group 51"/>
          <p:cNvGrpSpPr/>
          <p:nvPr/>
        </p:nvGrpSpPr>
        <p:grpSpPr>
          <a:xfrm>
            <a:off x="3841750" y="4314825"/>
            <a:ext cx="928688" cy="474663"/>
            <a:chOff x="2354" y="1085"/>
            <a:chExt cx="585" cy="299"/>
          </a:xfrm>
        </p:grpSpPr>
        <p:sp>
          <p:nvSpPr>
            <p:cNvPr id="10278" name="Rectangle 52"/>
            <p:cNvSpPr>
              <a:spLocks noChangeAspect="1"/>
            </p:cNvSpPr>
            <p:nvPr/>
          </p:nvSpPr>
          <p:spPr>
            <a:xfrm>
              <a:off x="2420" y="1086"/>
              <a:ext cx="519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Ins="274320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Trading order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9" name="Rectangle 53"/>
            <p:cNvSpPr/>
            <p:nvPr/>
          </p:nvSpPr>
          <p:spPr>
            <a:xfrm>
              <a:off x="2824" y="1269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0" name="Rectangle 54"/>
            <p:cNvSpPr/>
            <p:nvPr/>
          </p:nvSpPr>
          <p:spPr>
            <a:xfrm>
              <a:off x="2354" y="1085"/>
              <a:ext cx="66" cy="2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317500" y="152400"/>
            <a:ext cx="8675688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Basic Frame 5: Transformation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cxnSp>
        <p:nvCxnSpPr>
          <p:cNvPr id="11268" name="AutoShape 3"/>
          <p:cNvCxnSpPr>
            <a:cxnSpLocks noChangeAspect="1"/>
            <a:stCxn id="11269" idx="0"/>
            <a:endCxn id="11310" idx="3"/>
          </p:cNvCxnSpPr>
          <p:nvPr/>
        </p:nvCxnSpPr>
        <p:spPr>
          <a:xfrm flipH="1" flipV="1">
            <a:off x="4770438" y="19605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sp>
        <p:nvSpPr>
          <p:cNvPr id="11269" name="Freeform 4"/>
          <p:cNvSpPr/>
          <p:nvPr/>
        </p:nvSpPr>
        <p:spPr>
          <a:xfrm flipH="1">
            <a:off x="5788025" y="2393950"/>
            <a:ext cx="123825" cy="204788"/>
          </a:xfrm>
          <a:custGeom>
            <a:avLst/>
            <a:gdLst>
              <a:gd name="txL" fmla="*/ 0 w 231"/>
              <a:gd name="txT" fmla="*/ 0 h 321"/>
              <a:gd name="txR" fmla="*/ 231 w 231"/>
              <a:gd name="txB" fmla="*/ 321 h 321"/>
            </a:gdLst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txL" t="txT" r="txR" b="txB"/>
            <a:pathLst>
              <a:path w="231" h="321">
                <a:moveTo>
                  <a:pt x="231" y="0"/>
                </a:moveTo>
                <a:lnTo>
                  <a:pt x="0" y="0"/>
                </a:lnTo>
                <a:lnTo>
                  <a:pt x="0" y="321"/>
                </a:lnTo>
                <a:lnTo>
                  <a:pt x="231" y="321"/>
                </a:lnTo>
              </a:path>
            </a:pathLst>
          </a:custGeom>
          <a:noFill/>
          <a:ln w="31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11270" name="AutoShape 5"/>
          <p:cNvCxnSpPr>
            <a:cxnSpLocks noChangeAspect="1"/>
            <a:stCxn id="11269" idx="3"/>
            <a:endCxn id="11308" idx="3"/>
          </p:cNvCxnSpPr>
          <p:nvPr/>
        </p:nvCxnSpPr>
        <p:spPr>
          <a:xfrm flipH="1">
            <a:off x="4770438" y="25987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11271" name="AutoShape 6"/>
          <p:cNvCxnSpPr>
            <a:cxnSpLocks noChangeAspect="1"/>
            <a:stCxn id="11312" idx="0"/>
            <a:endCxn id="11310" idx="1"/>
          </p:cNvCxnSpPr>
          <p:nvPr/>
        </p:nvCxnSpPr>
        <p:spPr>
          <a:xfrm flipV="1">
            <a:off x="2859088" y="19605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2" name="AutoShape 7"/>
          <p:cNvCxnSpPr>
            <a:cxnSpLocks noChangeAspect="1"/>
            <a:stCxn id="11312" idx="3"/>
            <a:endCxn id="11308" idx="1"/>
          </p:cNvCxnSpPr>
          <p:nvPr/>
        </p:nvCxnSpPr>
        <p:spPr>
          <a:xfrm>
            <a:off x="2859088" y="25987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273" name="Group 8"/>
          <p:cNvGrpSpPr/>
          <p:nvPr/>
        </p:nvGrpSpPr>
        <p:grpSpPr>
          <a:xfrm>
            <a:off x="1866900" y="2259013"/>
            <a:ext cx="992188" cy="473075"/>
            <a:chOff x="1176" y="1423"/>
            <a:chExt cx="625" cy="298"/>
          </a:xfrm>
        </p:grpSpPr>
        <p:sp>
          <p:nvSpPr>
            <p:cNvPr id="11312" name="Freeform 9"/>
            <p:cNvSpPr/>
            <p:nvPr/>
          </p:nvSpPr>
          <p:spPr>
            <a:xfrm>
              <a:off x="1723" y="1508"/>
              <a:ext cx="78" cy="129"/>
            </a:xfrm>
            <a:custGeom>
              <a:avLst/>
              <a:gdLst>
                <a:gd name="txL" fmla="*/ 0 w 231"/>
                <a:gd name="txT" fmla="*/ 0 h 321"/>
                <a:gd name="txR" fmla="*/ 231 w 231"/>
                <a:gd name="txB" fmla="*/ 321 h 321"/>
              </a:gdLst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1"/>
                </a:cxn>
                <a:cxn ang="0">
                  <a:pos x="9" y="21"/>
                </a:cxn>
              </a:cxnLst>
              <a:rect l="txL" t="txT" r="txR" b="txB"/>
              <a:pathLst>
                <a:path w="231" h="321">
                  <a:moveTo>
                    <a:pt x="231" y="0"/>
                  </a:moveTo>
                  <a:lnTo>
                    <a:pt x="0" y="0"/>
                  </a:lnTo>
                  <a:lnTo>
                    <a:pt x="0" y="321"/>
                  </a:lnTo>
                  <a:lnTo>
                    <a:pt x="231" y="321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13" name="Rectangle 10"/>
            <p:cNvSpPr>
              <a:spLocks noChangeAspect="1"/>
            </p:cNvSpPr>
            <p:nvPr/>
          </p:nvSpPr>
          <p:spPr>
            <a:xfrm>
              <a:off x="1310" y="1423"/>
              <a:ext cx="489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Transform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14" name="Rectangle 11"/>
            <p:cNvSpPr>
              <a:spLocks noChangeAspect="1"/>
            </p:cNvSpPr>
            <p:nvPr/>
          </p:nvSpPr>
          <p:spPr>
            <a:xfrm>
              <a:off x="1176" y="1423"/>
              <a:ext cx="134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15" name="Line 12"/>
            <p:cNvSpPr>
              <a:spLocks noChangeAspect="1"/>
            </p:cNvSpPr>
            <p:nvPr/>
          </p:nvSpPr>
          <p:spPr>
            <a:xfrm>
              <a:off x="1243" y="1423"/>
              <a:ext cx="0" cy="2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274" name="Oval 13"/>
          <p:cNvSpPr>
            <a:spLocks noChangeAspect="1"/>
          </p:cNvSpPr>
          <p:nvPr/>
        </p:nvSpPr>
        <p:spPr>
          <a:xfrm>
            <a:off x="5738813" y="22590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IO relation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5" name="Text Box 14"/>
          <p:cNvSpPr txBox="1">
            <a:spLocks noChangeAspect="1"/>
          </p:cNvSpPr>
          <p:nvPr/>
        </p:nvSpPr>
        <p:spPr>
          <a:xfrm>
            <a:off x="5233988" y="1954213"/>
            <a:ext cx="204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Y3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6" name="Text Box 15"/>
          <p:cNvSpPr txBox="1">
            <a:spLocks noChangeAspect="1"/>
          </p:cNvSpPr>
          <p:nvPr/>
        </p:nvSpPr>
        <p:spPr>
          <a:xfrm>
            <a:off x="3024188" y="1954213"/>
            <a:ext cx="400050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IN!Y1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7" name="Text Box 16"/>
          <p:cNvSpPr txBox="1">
            <a:spLocks noChangeAspect="1"/>
          </p:cNvSpPr>
          <p:nvPr/>
        </p:nvSpPr>
        <p:spPr>
          <a:xfrm>
            <a:off x="3292475" y="4503738"/>
            <a:ext cx="10318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8" name="Text Box 17"/>
          <p:cNvSpPr txBox="1">
            <a:spLocks noChangeAspect="1"/>
          </p:cNvSpPr>
          <p:nvPr/>
        </p:nvSpPr>
        <p:spPr>
          <a:xfrm>
            <a:off x="5199063" y="4503738"/>
            <a:ext cx="95250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9" name="Text Box 18"/>
          <p:cNvSpPr txBox="1">
            <a:spLocks noChangeAspect="1"/>
          </p:cNvSpPr>
          <p:nvPr/>
        </p:nvSpPr>
        <p:spPr>
          <a:xfrm>
            <a:off x="287338" y="3751263"/>
            <a:ext cx="34353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Example: Place a Trading order</a:t>
            </a:r>
            <a:endParaRPr lang="en-US" altLang="zh-CN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0" name="Text Box 19"/>
          <p:cNvSpPr txBox="1">
            <a:spLocks noChangeAspect="1"/>
          </p:cNvSpPr>
          <p:nvPr/>
        </p:nvSpPr>
        <p:spPr>
          <a:xfrm>
            <a:off x="1833563" y="4567238"/>
            <a:ext cx="1109662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Transform software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1" name="Text Box 20"/>
          <p:cNvSpPr txBox="1">
            <a:spLocks noChangeAspect="1"/>
          </p:cNvSpPr>
          <p:nvPr/>
        </p:nvSpPr>
        <p:spPr>
          <a:xfrm>
            <a:off x="4125913" y="4033838"/>
            <a:ext cx="36195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Inputs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2" name="Text Box 21"/>
          <p:cNvSpPr txBox="1">
            <a:spLocks noChangeAspect="1"/>
          </p:cNvSpPr>
          <p:nvPr/>
        </p:nvSpPr>
        <p:spPr>
          <a:xfrm>
            <a:off x="5948363" y="4567238"/>
            <a:ext cx="601662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IO relation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3" name="Text Box 22"/>
          <p:cNvSpPr txBox="1">
            <a:spLocks noChangeAspect="1"/>
          </p:cNvSpPr>
          <p:nvPr/>
        </p:nvSpPr>
        <p:spPr>
          <a:xfrm>
            <a:off x="5248275" y="6151563"/>
            <a:ext cx="2081213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c: TR! {Place[i], Cancel[i],       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Executed[i], Expired[i]}  [Y3]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4" name="Text Box 23"/>
          <p:cNvSpPr txBox="1">
            <a:spLocks noChangeAspect="1"/>
          </p:cNvSpPr>
          <p:nvPr/>
        </p:nvSpPr>
        <p:spPr>
          <a:xfrm>
            <a:off x="1508125" y="6151563"/>
            <a:ext cx="1717675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a: TS! {Create[i]}       [E1]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5" name="Text Box 24"/>
          <p:cNvSpPr txBox="1">
            <a:spLocks noChangeAspect="1"/>
          </p:cNvSpPr>
          <p:nvPr/>
        </p:nvSpPr>
        <p:spPr>
          <a:xfrm>
            <a:off x="1508125" y="6408738"/>
            <a:ext cx="2357438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b: TR! {PriceQuotes, Place[i]}  [Y2]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286" name="Group 25"/>
          <p:cNvGrpSpPr/>
          <p:nvPr/>
        </p:nvGrpSpPr>
        <p:grpSpPr>
          <a:xfrm>
            <a:off x="3841750" y="1724025"/>
            <a:ext cx="928688" cy="473075"/>
            <a:chOff x="2420" y="1390"/>
            <a:chExt cx="585" cy="298"/>
          </a:xfrm>
        </p:grpSpPr>
        <p:sp>
          <p:nvSpPr>
            <p:cNvPr id="11310" name="Rectangle 26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Inputs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11" name="Rectangle 27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287" name="Group 28"/>
          <p:cNvGrpSpPr/>
          <p:nvPr/>
        </p:nvGrpSpPr>
        <p:grpSpPr>
          <a:xfrm>
            <a:off x="3841750" y="2794000"/>
            <a:ext cx="928688" cy="473075"/>
            <a:chOff x="2420" y="1390"/>
            <a:chExt cx="585" cy="298"/>
          </a:xfrm>
        </p:grpSpPr>
        <p:sp>
          <p:nvSpPr>
            <p:cNvPr id="11308" name="Rectangle 29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Outputs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9" name="Rectangle 30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88" name="Text Box 31"/>
          <p:cNvSpPr txBox="1">
            <a:spLocks noChangeAspect="1"/>
          </p:cNvSpPr>
          <p:nvPr/>
        </p:nvSpPr>
        <p:spPr>
          <a:xfrm>
            <a:off x="3032125" y="2890838"/>
            <a:ext cx="442913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TS!Y2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89" name="Text Box 32"/>
          <p:cNvSpPr txBox="1">
            <a:spLocks noChangeAspect="1"/>
          </p:cNvSpPr>
          <p:nvPr/>
        </p:nvSpPr>
        <p:spPr>
          <a:xfrm>
            <a:off x="5233988" y="2878138"/>
            <a:ext cx="204787" cy="1825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Y4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1290" name="AutoShape 33"/>
          <p:cNvCxnSpPr>
            <a:cxnSpLocks noChangeAspect="1"/>
            <a:endCxn id="11303" idx="3"/>
          </p:cNvCxnSpPr>
          <p:nvPr/>
        </p:nvCxnSpPr>
        <p:spPr>
          <a:xfrm flipH="1" flipV="1">
            <a:off x="4770438" y="4551363"/>
            <a:ext cx="1017587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</p:cxnSp>
      <p:cxnSp>
        <p:nvCxnSpPr>
          <p:cNvPr id="11291" name="AutoShape 34"/>
          <p:cNvCxnSpPr>
            <a:cxnSpLocks noChangeAspect="1"/>
            <a:endCxn id="11301" idx="3"/>
          </p:cNvCxnSpPr>
          <p:nvPr/>
        </p:nvCxnSpPr>
        <p:spPr>
          <a:xfrm flipH="1">
            <a:off x="4770438" y="5189538"/>
            <a:ext cx="1017587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lgDash"/>
            <a:headEnd type="none" w="med" len="med"/>
            <a:tailEnd type="none" w="lg" len="lg"/>
          </a:ln>
        </p:spPr>
      </p:cxnSp>
      <p:cxnSp>
        <p:nvCxnSpPr>
          <p:cNvPr id="11292" name="AutoShape 35"/>
          <p:cNvCxnSpPr>
            <a:cxnSpLocks noChangeAspect="1"/>
            <a:endCxn id="11303" idx="1"/>
          </p:cNvCxnSpPr>
          <p:nvPr/>
        </p:nvCxnSpPr>
        <p:spPr>
          <a:xfrm flipV="1">
            <a:off x="2859088" y="4551363"/>
            <a:ext cx="982662" cy="4333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93" name="AutoShape 36"/>
          <p:cNvCxnSpPr>
            <a:cxnSpLocks noChangeAspect="1"/>
            <a:endCxn id="11301" idx="1"/>
          </p:cNvCxnSpPr>
          <p:nvPr/>
        </p:nvCxnSpPr>
        <p:spPr>
          <a:xfrm>
            <a:off x="2859088" y="5189538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294" name="Group 37"/>
          <p:cNvGrpSpPr>
            <a:grpSpLocks noChangeAspect="1"/>
          </p:cNvGrpSpPr>
          <p:nvPr/>
        </p:nvGrpSpPr>
        <p:grpSpPr>
          <a:xfrm>
            <a:off x="1914525" y="4849813"/>
            <a:ext cx="941388" cy="473075"/>
            <a:chOff x="1499" y="1740"/>
            <a:chExt cx="744" cy="374"/>
          </a:xfrm>
        </p:grpSpPr>
        <p:sp>
          <p:nvSpPr>
            <p:cNvPr id="11305" name="Rectangle 38"/>
            <p:cNvSpPr>
              <a:spLocks noChangeAspect="1"/>
            </p:cNvSpPr>
            <p:nvPr/>
          </p:nvSpPr>
          <p:spPr>
            <a:xfrm>
              <a:off x="1667" y="1740"/>
              <a:ext cx="576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6" name="Rectangle 39"/>
            <p:cNvSpPr>
              <a:spLocks noChangeAspect="1"/>
            </p:cNvSpPr>
            <p:nvPr/>
          </p:nvSpPr>
          <p:spPr>
            <a:xfrm>
              <a:off x="1499" y="1740"/>
              <a:ext cx="168" cy="37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7" name="Line 40"/>
            <p:cNvSpPr>
              <a:spLocks noChangeAspect="1"/>
            </p:cNvSpPr>
            <p:nvPr/>
          </p:nvSpPr>
          <p:spPr>
            <a:xfrm>
              <a:off x="1583" y="1740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295" name="Oval 41"/>
          <p:cNvSpPr>
            <a:spLocks noChangeAspect="1"/>
          </p:cNvSpPr>
          <p:nvPr/>
        </p:nvSpPr>
        <p:spPr>
          <a:xfrm>
            <a:off x="5738813" y="4849813"/>
            <a:ext cx="1019175" cy="47307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296" name="Group 42"/>
          <p:cNvGrpSpPr/>
          <p:nvPr/>
        </p:nvGrpSpPr>
        <p:grpSpPr>
          <a:xfrm>
            <a:off x="3841750" y="4314825"/>
            <a:ext cx="928688" cy="473075"/>
            <a:chOff x="2420" y="1390"/>
            <a:chExt cx="585" cy="298"/>
          </a:xfrm>
        </p:grpSpPr>
        <p:sp>
          <p:nvSpPr>
            <p:cNvPr id="11303" name="Rectangle 43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4" name="Rectangle 44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297" name="Group 45"/>
          <p:cNvGrpSpPr/>
          <p:nvPr/>
        </p:nvGrpSpPr>
        <p:grpSpPr>
          <a:xfrm>
            <a:off x="3841750" y="5384800"/>
            <a:ext cx="928688" cy="473075"/>
            <a:chOff x="2420" y="1390"/>
            <a:chExt cx="585" cy="298"/>
          </a:xfrm>
        </p:grpSpPr>
        <p:sp>
          <p:nvSpPr>
            <p:cNvPr id="11301" name="Rectangle 46"/>
            <p:cNvSpPr>
              <a:spLocks noChangeAspect="1"/>
            </p:cNvSpPr>
            <p:nvPr/>
          </p:nvSpPr>
          <p:spPr>
            <a:xfrm>
              <a:off x="2420" y="1390"/>
              <a:ext cx="585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2" name="Rectangle 47"/>
            <p:cNvSpPr/>
            <p:nvPr/>
          </p:nvSpPr>
          <p:spPr>
            <a:xfrm>
              <a:off x="2890" y="1573"/>
              <a:ext cx="115" cy="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98" name="Text Box 48"/>
          <p:cNvSpPr txBox="1">
            <a:spLocks noChangeAspect="1"/>
          </p:cNvSpPr>
          <p:nvPr/>
        </p:nvSpPr>
        <p:spPr>
          <a:xfrm>
            <a:off x="4076700" y="5953125"/>
            <a:ext cx="460375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000" i="1" dirty="0">
                <a:latin typeface="Arial" panose="020B0604020202020204" pitchFamily="34" charset="0"/>
                <a:ea typeface="宋体" panose="02010600030101010101" pitchFamily="2" charset="-122"/>
              </a:rPr>
              <a:t>Outputs</a:t>
            </a:r>
            <a:endParaRPr lang="en-US" altLang="zh-CN" sz="1000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99" name="Text Box 49"/>
          <p:cNvSpPr txBox="1">
            <a:spLocks noChangeAspect="1"/>
          </p:cNvSpPr>
          <p:nvPr/>
        </p:nvSpPr>
        <p:spPr>
          <a:xfrm>
            <a:off x="3292475" y="5470525"/>
            <a:ext cx="103188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00" name="Text Box 50"/>
          <p:cNvSpPr txBox="1">
            <a:spLocks noChangeAspect="1"/>
          </p:cNvSpPr>
          <p:nvPr/>
        </p:nvSpPr>
        <p:spPr>
          <a:xfrm>
            <a:off x="5195888" y="5470525"/>
            <a:ext cx="103187" cy="182563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Example: Personal Health Monitoring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REQ1: keep track of person’s data (vital signs, activities, food, etc.)	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Information Display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 or 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Simple Workpieces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 when user enters food data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REQ2: Calculate statistics of the data</a:t>
            </a:r>
            <a:b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 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Transformation?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 but also 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Model Building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 in real time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REQ3: Allow the user to query for trends and issues	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Model Operating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REQ4: Propose a fitness regime suitable for this user		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Information Display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 or [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</a:rPr>
              <a:t>Model Operating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]?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3314" name="AutoShape 6"/>
          <p:cNvCxnSpPr>
            <a:cxnSpLocks noChangeAspect="1"/>
            <a:stCxn id="13323" idx="3"/>
            <a:endCxn id="13327" idx="0"/>
          </p:cNvCxnSpPr>
          <p:nvPr/>
        </p:nvCxnSpPr>
        <p:spPr>
          <a:xfrm>
            <a:off x="5456238" y="2851150"/>
            <a:ext cx="1730375" cy="2984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315" name="AutoShape 6"/>
          <p:cNvCxnSpPr>
            <a:cxnSpLocks noChangeAspect="1"/>
            <a:stCxn id="13324" idx="3"/>
            <a:endCxn id="13327" idx="2"/>
          </p:cNvCxnSpPr>
          <p:nvPr/>
        </p:nvCxnSpPr>
        <p:spPr>
          <a:xfrm flipV="1">
            <a:off x="5456238" y="3622675"/>
            <a:ext cx="1730375" cy="2984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316" name="AutoShape 6"/>
          <p:cNvCxnSpPr>
            <a:cxnSpLocks noChangeAspect="1"/>
            <a:stCxn id="13326" idx="3"/>
            <a:endCxn id="13334" idx="1"/>
          </p:cNvCxnSpPr>
          <p:nvPr/>
        </p:nvCxnSpPr>
        <p:spPr>
          <a:xfrm>
            <a:off x="1963738" y="3386138"/>
            <a:ext cx="588962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3317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Personal Health Monitoring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8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8643938" y="6502400"/>
            <a:ext cx="468312" cy="32385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cxnSp>
        <p:nvCxnSpPr>
          <p:cNvPr id="13319" name="AutoShape 6"/>
          <p:cNvCxnSpPr>
            <a:cxnSpLocks noChangeAspect="1"/>
            <a:stCxn id="13332" idx="0"/>
            <a:endCxn id="13323" idx="1"/>
          </p:cNvCxnSpPr>
          <p:nvPr/>
        </p:nvCxnSpPr>
        <p:spPr>
          <a:xfrm flipV="1">
            <a:off x="3544888" y="2851150"/>
            <a:ext cx="982662" cy="433388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320" name="AutoShape 7"/>
          <p:cNvCxnSpPr>
            <a:cxnSpLocks noChangeAspect="1"/>
            <a:stCxn id="13332" idx="3"/>
            <a:endCxn id="13324" idx="1"/>
          </p:cNvCxnSpPr>
          <p:nvPr/>
        </p:nvCxnSpPr>
        <p:spPr>
          <a:xfrm>
            <a:off x="3544888" y="3489325"/>
            <a:ext cx="982662" cy="4318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3321" name="Group 8"/>
          <p:cNvGrpSpPr/>
          <p:nvPr/>
        </p:nvGrpSpPr>
        <p:grpSpPr>
          <a:xfrm>
            <a:off x="2552700" y="3149600"/>
            <a:ext cx="992188" cy="473075"/>
            <a:chOff x="1176" y="1423"/>
            <a:chExt cx="625" cy="298"/>
          </a:xfrm>
        </p:grpSpPr>
        <p:sp>
          <p:nvSpPr>
            <p:cNvPr id="13332" name="Freeform 9"/>
            <p:cNvSpPr/>
            <p:nvPr/>
          </p:nvSpPr>
          <p:spPr>
            <a:xfrm>
              <a:off x="1723" y="1508"/>
              <a:ext cx="78" cy="129"/>
            </a:xfrm>
            <a:custGeom>
              <a:avLst/>
              <a:gdLst>
                <a:gd name="txL" fmla="*/ 0 w 231"/>
                <a:gd name="txT" fmla="*/ 0 h 321"/>
                <a:gd name="txR" fmla="*/ 231 w 231"/>
                <a:gd name="txB" fmla="*/ 321 h 321"/>
              </a:gdLst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1"/>
                </a:cxn>
                <a:cxn ang="0">
                  <a:pos x="9" y="21"/>
                </a:cxn>
              </a:cxnLst>
              <a:rect l="txL" t="txT" r="txR" b="txB"/>
              <a:pathLst>
                <a:path w="231" h="321">
                  <a:moveTo>
                    <a:pt x="231" y="0"/>
                  </a:moveTo>
                  <a:lnTo>
                    <a:pt x="0" y="0"/>
                  </a:lnTo>
                  <a:lnTo>
                    <a:pt x="0" y="321"/>
                  </a:lnTo>
                  <a:lnTo>
                    <a:pt x="231" y="321"/>
                  </a:lnTo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3" name="Rectangle 10"/>
            <p:cNvSpPr>
              <a:spLocks noChangeAspect="1"/>
            </p:cNvSpPr>
            <p:nvPr/>
          </p:nvSpPr>
          <p:spPr>
            <a:xfrm>
              <a:off x="1310" y="1423"/>
              <a:ext cx="489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1000" dirty="0">
                  <a:latin typeface="Arial" panose="020B0604020202020204" pitchFamily="34" charset="0"/>
                  <a:ea typeface="宋体" panose="02010600030101010101" pitchFamily="2" charset="-122"/>
                </a:rPr>
                <a:t>Monitoring Software</a:t>
              </a:r>
              <a:endParaRPr lang="en-US" altLang="zh-CN" sz="1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34" name="Rectangle 11"/>
            <p:cNvSpPr>
              <a:spLocks noChangeAspect="1"/>
            </p:cNvSpPr>
            <p:nvPr/>
          </p:nvSpPr>
          <p:spPr>
            <a:xfrm>
              <a:off x="1176" y="1423"/>
              <a:ext cx="134" cy="29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5" name="Line 12"/>
            <p:cNvSpPr>
              <a:spLocks noChangeAspect="1"/>
            </p:cNvSpPr>
            <p:nvPr/>
          </p:nvSpPr>
          <p:spPr>
            <a:xfrm>
              <a:off x="1243" y="1423"/>
              <a:ext cx="0" cy="2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322" name="Text Box 15"/>
          <p:cNvSpPr txBox="1">
            <a:spLocks noChangeAspect="1"/>
          </p:cNvSpPr>
          <p:nvPr/>
        </p:nvSpPr>
        <p:spPr>
          <a:xfrm>
            <a:off x="3887788" y="2844800"/>
            <a:ext cx="96837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3" name="Rectangle 26"/>
          <p:cNvSpPr>
            <a:spLocks noChangeAspect="1"/>
          </p:cNvSpPr>
          <p:nvPr/>
        </p:nvSpPr>
        <p:spPr>
          <a:xfrm>
            <a:off x="4527550" y="2614613"/>
            <a:ext cx="928688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BP Sensor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4" name="Rectangle 29"/>
          <p:cNvSpPr>
            <a:spLocks noChangeAspect="1"/>
          </p:cNvSpPr>
          <p:nvPr/>
        </p:nvSpPr>
        <p:spPr>
          <a:xfrm>
            <a:off x="4527550" y="3684588"/>
            <a:ext cx="928688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HR Sensor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5" name="Text Box 31"/>
          <p:cNvSpPr txBox="1">
            <a:spLocks noChangeAspect="1"/>
          </p:cNvSpPr>
          <p:nvPr/>
        </p:nvSpPr>
        <p:spPr>
          <a:xfrm>
            <a:off x="3887788" y="3781425"/>
            <a:ext cx="10477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6" name="Rectangle 29"/>
          <p:cNvSpPr>
            <a:spLocks noChangeAspect="1"/>
          </p:cNvSpPr>
          <p:nvPr/>
        </p:nvSpPr>
        <p:spPr>
          <a:xfrm>
            <a:off x="1035050" y="3149600"/>
            <a:ext cx="928688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User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7" name="Rectangle 29"/>
          <p:cNvSpPr>
            <a:spLocks noChangeAspect="1"/>
          </p:cNvSpPr>
          <p:nvPr/>
        </p:nvSpPr>
        <p:spPr>
          <a:xfrm>
            <a:off x="6723063" y="3149600"/>
            <a:ext cx="928687" cy="473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000" dirty="0">
                <a:latin typeface="Arial" panose="020B0604020202020204" pitchFamily="34" charset="0"/>
                <a:ea typeface="宋体" panose="02010600030101010101" pitchFamily="2" charset="-122"/>
              </a:rPr>
              <a:t>Person’s Body</a:t>
            </a:r>
            <a:endParaRPr lang="en-US" altLang="zh-CN" sz="1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8" name="Text Box 15"/>
          <p:cNvSpPr txBox="1">
            <a:spLocks noChangeAspect="1"/>
          </p:cNvSpPr>
          <p:nvPr/>
        </p:nvSpPr>
        <p:spPr>
          <a:xfrm>
            <a:off x="6064250" y="2695575"/>
            <a:ext cx="103188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9" name="Text Box 31"/>
          <p:cNvSpPr txBox="1">
            <a:spLocks noChangeAspect="1"/>
          </p:cNvSpPr>
          <p:nvPr/>
        </p:nvSpPr>
        <p:spPr>
          <a:xfrm>
            <a:off x="6064250" y="3875088"/>
            <a:ext cx="103188" cy="1857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30" name="Text Box 31"/>
          <p:cNvSpPr txBox="1">
            <a:spLocks noChangeAspect="1"/>
          </p:cNvSpPr>
          <p:nvPr/>
        </p:nvSpPr>
        <p:spPr>
          <a:xfrm>
            <a:off x="2263775" y="3124200"/>
            <a:ext cx="1031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31" name="Text Box 31"/>
          <p:cNvSpPr txBox="1">
            <a:spLocks noChangeAspect="1"/>
          </p:cNvSpPr>
          <p:nvPr/>
        </p:nvSpPr>
        <p:spPr>
          <a:xfrm>
            <a:off x="931863" y="4772025"/>
            <a:ext cx="6638925" cy="1384300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>
              <a:buNone/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a = blood vessel pressure (upper right arm)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b = pulse (upper right arm)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c = blood pressure values (systolic/diastolic) measured every </a:t>
            </a:r>
            <a:r>
              <a:rPr lang="en-US" altLang="zh-CN" sz="1800" i="1" dirty="0">
                <a:latin typeface="Calibri" panose="020F050202020403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 minutes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d = heart rate values, measure every </a:t>
            </a:r>
            <a:r>
              <a:rPr lang="en-US" altLang="zh-CN" sz="1800" i="1" dirty="0">
                <a:latin typeface="Calibri" panose="020F050202020403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 minutes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</a:rPr>
              <a:t>e = querying commands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4256</Words>
  <Application>WPS 演示</Application>
  <PresentationFormat>全屏显示(4:3)</PresentationFormat>
  <Paragraphs>484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Comic Sans MS</vt:lpstr>
      <vt:lpstr>Verdana</vt:lpstr>
      <vt:lpstr>黑体</vt:lpstr>
      <vt:lpstr>Calibri</vt:lpstr>
      <vt:lpstr>Symbol</vt:lpstr>
      <vt:lpstr>微软雅黑</vt:lpstr>
      <vt:lpstr>Arial Unicode MS</vt:lpstr>
      <vt:lpstr>Default Design</vt:lpstr>
      <vt:lpstr>PowerPoint 演示文稿</vt:lpstr>
      <vt:lpstr>Topics</vt:lpstr>
      <vt:lpstr>Typical System Requirements</vt:lpstr>
      <vt:lpstr>Machine and Problem Domain</vt:lpstr>
      <vt:lpstr>Basic Frame 1: Required Behavior</vt:lpstr>
      <vt:lpstr>Notation Syntax for Shared Phenomena</vt:lpstr>
      <vt:lpstr>Basic Frame 2: Commanded Behavior</vt:lpstr>
      <vt:lpstr>Basic Frame 3: Information Display</vt:lpstr>
      <vt:lpstr>Basic Frame 4: Simple Workpieces</vt:lpstr>
      <vt:lpstr>Basic Frame 5: Transformation</vt:lpstr>
      <vt:lpstr>Example: Personal Health Monitoring</vt:lpstr>
      <vt:lpstr>Personal Health Monitoring</vt:lpstr>
    </vt:vector>
  </TitlesOfParts>
  <Company>Rutgers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engineeirng, requirements, system specification</cp:keywords>
  <dc:subject>lecture 13: Problem Frames, Part 2</dc:subject>
  <cp:category>lecture slides, course materials</cp:category>
  <cp:lastModifiedBy>MX</cp:lastModifiedBy>
  <cp:revision>3862</cp:revision>
  <dcterms:created xsi:type="dcterms:W3CDTF">2003-05-20T05:14:00Z</dcterms:created>
  <dcterms:modified xsi:type="dcterms:W3CDTF">2026-05-12T03:31:15Z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FF324415B6234F4C90734A522D5BEF18_13</vt:lpwstr>
  </property>
  <property fmtid="{D5CDD505-2E9C-101B-9397-08002B2CF9AE}" pid="3" name="KSOProductBuildVer">
    <vt:lpwstr>2052-12.1.0.23542</vt:lpwstr>
  </property>
</Properties>
</file>