
<file path=[Content_Types].xml><?xml version="1.0" encoding="utf-8"?>
<Types xmlns="http://schemas.openxmlformats.org/package/2006/content-types">
  <Default Extension="jpeg" ContentType="image/jpeg"/>
  <Default Extension="JPG" ContentType="image/.jp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0" r:id="rId3"/>
    <p:sldId id="257" r:id="rId5"/>
    <p:sldId id="293" r:id="rId6"/>
    <p:sldId id="287" r:id="rId7"/>
    <p:sldId id="290" r:id="rId8"/>
    <p:sldId id="291" r:id="rId9"/>
    <p:sldId id="292" r:id="rId10"/>
    <p:sldId id="295" r:id="rId11"/>
    <p:sldId id="267" r:id="rId12"/>
    <p:sldId id="288" r:id="rId13"/>
    <p:sldId id="299" r:id="rId14"/>
    <p:sldId id="294" r:id="rId15"/>
    <p:sldId id="270" r:id="rId16"/>
    <p:sldId id="271" r:id="rId17"/>
    <p:sldId id="265" r:id="rId18"/>
    <p:sldId id="268" r:id="rId19"/>
    <p:sldId id="272" r:id="rId20"/>
    <p:sldId id="273" r:id="rId21"/>
    <p:sldId id="274" r:id="rId22"/>
    <p:sldId id="275" r:id="rId23"/>
    <p:sldId id="296" r:id="rId24"/>
    <p:sldId id="286" r:id="rId25"/>
    <p:sldId id="284" r:id="rId26"/>
    <p:sldId id="298" r:id="rId27"/>
    <p:sldId id="276" r:id="rId28"/>
    <p:sldId id="297" r:id="rId29"/>
    <p:sldId id="261" r:id="rId30"/>
    <p:sldId id="281" r:id="rId31"/>
    <p:sldId id="277" r:id="rId32"/>
    <p:sldId id="282" r:id="rId33"/>
    <p:sldId id="278" r:id="rId34"/>
    <p:sldId id="283" r:id="rId35"/>
    <p:sldId id="279" r:id="rId3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800000"/>
    <a:srgbClr val="FF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706"/>
  </p:normalViewPr>
  <p:slideViewPr>
    <p:cSldViewPr snapToGrid="0" showGuides="1">
      <p:cViewPr varScale="1">
        <p:scale>
          <a:sx n="106" d="100"/>
          <a:sy n="106" d="100"/>
        </p:scale>
        <p:origin x="-175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
            <a:pPr lvl="0" eaLnBrk="1" hangingPunct="1">
              <a:buNone/>
            </a:pPr>
            <a:endParaRPr lang="en-US" altLang="en-US" sz="1200" dirty="0"/>
          </a:p>
        </p:txBody>
      </p:sp>
      <p:sp>
        <p:nvSpPr>
          <p:cNvPr id="1638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
            <a:pPr lvl="0" algn="r" eaLnBrk="1" hangingPunct="1">
              <a:buNone/>
            </a:pPr>
            <a:endParaRPr lang="en-US" altLang="en-US" sz="1200" dirty="0"/>
          </a:p>
        </p:txBody>
      </p:sp>
      <p:sp>
        <p:nvSpPr>
          <p:cNvPr id="3789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Click to edit Master text styles</a:t>
            </a:r>
            <a:endPar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Second level</a:t>
            </a:r>
            <a:endPar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Third level</a:t>
            </a:r>
            <a:endPar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Fourth level</a:t>
            </a:r>
            <a:endPar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Fifth level</a:t>
            </a:r>
            <a:endPar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639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
            <a:pPr lvl="0" eaLnBrk="1" hangingPunct="1">
              <a:buNone/>
            </a:pPr>
            <a:endParaRPr lang="en-US" altLang="en-US" sz="1200" dirty="0"/>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38915" name="Rectangle 2"/>
          <p:cNvSpPr>
            <a:spLocks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Slide Image Placeholder 1"/>
          <p:cNvSpPr>
            <a:spLocks noGrp="1" noRot="1" noChangeAspect="1" noTextEdit="1"/>
          </p:cNvSpPr>
          <p:nvPr>
            <p:ph type="sldImg"/>
          </p:nvPr>
        </p:nvSpPr>
        <p:spPr/>
      </p:sp>
      <p:sp>
        <p:nvSpPr>
          <p:cNvPr id="39939" name="Notes Placeholder 2"/>
          <p:cNvSpPr>
            <a:spLocks noGrp="1"/>
          </p:cNvSpPr>
          <p:nvPr>
            <p:ph type="body" idx="1"/>
          </p:nvPr>
        </p:nvSpPr>
        <p:spPr/>
        <p:txBody>
          <a:bodyPr wrap="square" lIns="91440" tIns="45720" rIns="91440" bIns="45720" anchor="t" anchorCtr="0"/>
          <a:p>
            <a:pPr lvl="0"/>
            <a:r>
              <a:rPr lang="en-US" altLang="en-US" dirty="0"/>
              <a:t>Concern: can the entered number have more digits than a valid keycode? If yes, which digits are considered? What if the user attempted using invalid keys and gave up before reaching the limit? Can the automatic locking be disabled if needed? What if the door is not shut when the lock is being armed?</a:t>
            </a:r>
            <a:endParaRPr lang="en-US" altLang="en-US" dirty="0"/>
          </a:p>
        </p:txBody>
      </p:sp>
      <p:sp>
        <p:nvSpPr>
          <p:cNvPr id="3994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0963"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0964" name="Rectangle 2"/>
          <p:cNvSpPr>
            <a:spLocks noTextEdit="1"/>
          </p:cNvSpPr>
          <p:nvPr>
            <p:ph type="sldImg"/>
          </p:nvPr>
        </p:nvSpPr>
        <p:spPr>
          <a:xfrm>
            <a:off x="1130300" y="674688"/>
            <a:ext cx="4597400" cy="3448050"/>
          </a:xfrm>
        </p:spPr>
      </p:sp>
      <p:sp>
        <p:nvSpPr>
          <p:cNvPr id="40965"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1987" name="Rectangle 2"/>
          <p:cNvSpPr>
            <a:spLocks noTextEdit="1"/>
          </p:cNvSpPr>
          <p:nvPr>
            <p:ph type="sldImg"/>
          </p:nvPr>
        </p:nvSpPr>
        <p:spPr/>
      </p:sp>
      <p:sp>
        <p:nvSpPr>
          <p:cNvPr id="41988"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3011"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3012" name="Rectangle 2"/>
          <p:cNvSpPr>
            <a:spLocks noTextEdit="1"/>
          </p:cNvSpPr>
          <p:nvPr>
            <p:ph type="sldImg"/>
          </p:nvPr>
        </p:nvSpPr>
        <p:spPr>
          <a:xfrm>
            <a:off x="1130300" y="674688"/>
            <a:ext cx="4597400" cy="3448050"/>
          </a:xfrm>
        </p:spPr>
      </p:sp>
      <p:sp>
        <p:nvSpPr>
          <p:cNvPr id="43013"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4035"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4036" name="Rectangle 2"/>
          <p:cNvSpPr>
            <a:spLocks noTextEdit="1"/>
          </p:cNvSpPr>
          <p:nvPr>
            <p:ph type="sldImg"/>
          </p:nvPr>
        </p:nvSpPr>
        <p:spPr>
          <a:xfrm>
            <a:off x="1130300" y="674688"/>
            <a:ext cx="4597400" cy="3448050"/>
          </a:xfrm>
        </p:spPr>
      </p:sp>
      <p:sp>
        <p:nvSpPr>
          <p:cNvPr id="44037"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5059"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5060" name="Rectangle 2"/>
          <p:cNvSpPr>
            <a:spLocks noTextEdit="1"/>
          </p:cNvSpPr>
          <p:nvPr>
            <p:ph type="sldImg"/>
          </p:nvPr>
        </p:nvSpPr>
        <p:spPr>
          <a:xfrm>
            <a:off x="1130300" y="674688"/>
            <a:ext cx="4597400" cy="3448050"/>
          </a:xfrm>
        </p:spPr>
      </p:sp>
      <p:sp>
        <p:nvSpPr>
          <p:cNvPr id="45061"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r>
              <a:rPr lang="en-US" altLang="en-US" dirty="0"/>
              <a:t>http://en.wikipedia.org/wiki/Problem_Frames_Approach</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Slide Image Placeholder 1"/>
          <p:cNvSpPr>
            <a:spLocks noGrp="1" noRot="1" noChangeAspect="1" noTextEdit="1"/>
          </p:cNvSpPr>
          <p:nvPr>
            <p:ph type="sldImg"/>
          </p:nvPr>
        </p:nvSpPr>
        <p:spPr/>
      </p:sp>
      <p:sp>
        <p:nvSpPr>
          <p:cNvPr id="46083" name="Notes Placeholder 2"/>
          <p:cNvSpPr>
            <a:spLocks noGrp="1"/>
          </p:cNvSpPr>
          <p:nvPr>
            <p:ph type="body" idx="1"/>
          </p:nvPr>
        </p:nvSpPr>
        <p:spPr/>
        <p:txBody>
          <a:bodyPr wrap="square" lIns="91440" tIns="45720" rIns="91440" bIns="45720" anchor="t" anchorCtr="0"/>
          <a:p>
            <a:pPr lvl="0"/>
            <a:r>
              <a:rPr lang="en-US" altLang="en-US" dirty="0"/>
              <a:t>The key point is not so much about the specific symbols, but rather about the concepts and issues that need to be symbolized/represented regardless of the visual language that is used.</a:t>
            </a:r>
            <a:endParaRPr lang="en-US" altLang="en-US" dirty="0"/>
          </a:p>
        </p:txBody>
      </p:sp>
      <p:sp>
        <p:nvSpPr>
          <p:cNvPr id="4608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7107"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7108" name="Rectangle 2"/>
          <p:cNvSpPr>
            <a:spLocks noTextEdit="1"/>
          </p:cNvSpPr>
          <p:nvPr>
            <p:ph type="sldImg"/>
          </p:nvPr>
        </p:nvSpPr>
        <p:spPr>
          <a:xfrm>
            <a:off x="1130300" y="674688"/>
            <a:ext cx="4597400" cy="3448050"/>
          </a:xfrm>
        </p:spPr>
      </p:sp>
      <p:sp>
        <p:nvSpPr>
          <p:cNvPr id="47109"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8131"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8132" name="Rectangle 2"/>
          <p:cNvSpPr>
            <a:spLocks noTextEdit="1"/>
          </p:cNvSpPr>
          <p:nvPr>
            <p:ph type="sldImg"/>
          </p:nvPr>
        </p:nvSpPr>
        <p:spPr>
          <a:xfrm>
            <a:off x="1130300" y="674688"/>
            <a:ext cx="4597400" cy="3448050"/>
          </a:xfrm>
        </p:spPr>
      </p:sp>
      <p:sp>
        <p:nvSpPr>
          <p:cNvPr id="48133"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49155"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9156" name="Rectangle 2"/>
          <p:cNvSpPr>
            <a:spLocks noTextEdit="1"/>
          </p:cNvSpPr>
          <p:nvPr>
            <p:ph type="sldImg"/>
          </p:nvPr>
        </p:nvSpPr>
        <p:spPr>
          <a:xfrm>
            <a:off x="1130300" y="674688"/>
            <a:ext cx="4597400" cy="3448050"/>
          </a:xfrm>
        </p:spPr>
      </p:sp>
      <p:sp>
        <p:nvSpPr>
          <p:cNvPr id="49157"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0179"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0180" name="Rectangle 2"/>
          <p:cNvSpPr>
            <a:spLocks noTextEdit="1"/>
          </p:cNvSpPr>
          <p:nvPr>
            <p:ph type="sldImg"/>
          </p:nvPr>
        </p:nvSpPr>
        <p:spPr>
          <a:xfrm>
            <a:off x="1130300" y="674688"/>
            <a:ext cx="4597400" cy="3448050"/>
          </a:xfrm>
        </p:spPr>
      </p:sp>
      <p:sp>
        <p:nvSpPr>
          <p:cNvPr id="50181"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r>
              <a:rPr lang="en-US" altLang="en-US" dirty="0"/>
              <a:t>Required behavior frame concern: To describe precisely (1) how the controlled domain currently behaves; (2) the desired behavior for the domain, as stated by the requirement; and, (3) what the machine (software-to-be) will be able to observe about the domain state, by way of the sensors that will be used in the system-to-be.</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1203" name="Rectangle 2"/>
          <p:cNvSpPr>
            <a:spLocks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2227"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2228" name="Rectangle 2"/>
          <p:cNvSpPr>
            <a:spLocks noTextEdit="1"/>
          </p:cNvSpPr>
          <p:nvPr>
            <p:ph type="sldImg"/>
          </p:nvPr>
        </p:nvSpPr>
        <p:spPr>
          <a:xfrm>
            <a:off x="1130300" y="674688"/>
            <a:ext cx="4597400" cy="3448050"/>
          </a:xfrm>
        </p:spPr>
      </p:sp>
      <p:sp>
        <p:nvSpPr>
          <p:cNvPr id="52229"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3251"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3252" name="Rectangle 2"/>
          <p:cNvSpPr>
            <a:spLocks noTextEdit="1"/>
          </p:cNvSpPr>
          <p:nvPr>
            <p:ph type="sldImg"/>
          </p:nvPr>
        </p:nvSpPr>
        <p:spPr>
          <a:xfrm>
            <a:off x="1130300" y="674688"/>
            <a:ext cx="4597400" cy="3448050"/>
          </a:xfrm>
        </p:spPr>
      </p:sp>
      <p:sp>
        <p:nvSpPr>
          <p:cNvPr id="53253"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spcBef>
                <a:spcPct val="0"/>
              </a:spcBef>
            </a:pPr>
            <a:r>
              <a:rPr lang="en-US" altLang="en-US" dirty="0"/>
              <a:t>Commanded behavior frame concern: To identify (1) all the commands that will be possible in the envisioned system-to-be; (2) the commands that will be supported or allowed under different scenarios; and, (3) what should happen if the user tries to execute a command that is not supported/allowed under the current scenario.</a:t>
            </a:r>
            <a:endParaRPr lang="en-US" altLang="en-US" dirty="0"/>
          </a:p>
          <a:p>
            <a:pPr lvl="0" eaLnBrk="1" hangingPunct="1">
              <a:spcBef>
                <a:spcPct val="0"/>
              </a:spcBef>
            </a:pPr>
            <a:r>
              <a:rPr lang="en-US" altLang="en-US" dirty="0"/>
              <a:t>“Sensible commands” are commands that make sense in a given context. This is part of a requirement, not part of domain description because the notion of “sensible” is defined by people rather than being inherent to the domain. The domain will not necessarily “reject” unreasonable commands. [Jackson PF-2001, p.115]</a:t>
            </a: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4275" name="Rectangle 2"/>
          <p:cNvSpPr>
            <a:spLocks noTextEdit="1"/>
          </p:cNvSpPr>
          <p:nvPr>
            <p:ph type="sldImg"/>
          </p:nvPr>
        </p:nvSpPr>
        <p:spPr/>
      </p:sp>
      <p:sp>
        <p:nvSpPr>
          <p:cNvPr id="54276"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5299"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5300" name="Rectangle 2"/>
          <p:cNvSpPr>
            <a:spLocks noTextEdit="1"/>
          </p:cNvSpPr>
          <p:nvPr>
            <p:ph type="sldImg"/>
          </p:nvPr>
        </p:nvSpPr>
        <p:spPr>
          <a:xfrm>
            <a:off x="1130300" y="674688"/>
            <a:ext cx="4597400" cy="3448050"/>
          </a:xfrm>
        </p:spPr>
      </p:sp>
      <p:sp>
        <p:nvSpPr>
          <p:cNvPr id="55301"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6323"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6324" name="Rectangle 2"/>
          <p:cNvSpPr>
            <a:spLocks noTextEdit="1"/>
          </p:cNvSpPr>
          <p:nvPr>
            <p:ph type="sldImg"/>
          </p:nvPr>
        </p:nvSpPr>
        <p:spPr>
          <a:xfrm>
            <a:off x="1130300" y="674688"/>
            <a:ext cx="4597400" cy="3448050"/>
          </a:xfrm>
        </p:spPr>
      </p:sp>
      <p:sp>
        <p:nvSpPr>
          <p:cNvPr id="56325"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spcBef>
                <a:spcPct val="0"/>
              </a:spcBef>
            </a:pPr>
            <a:r>
              <a:rPr lang="en-US" altLang="en-US" dirty="0"/>
              <a:t>Information display frame concern: To identify (1) the information that the machine will be able to observe from the problem domain, by way of the sensors that will be used in the system-to-be; (2) the information that needs to be displayed, as stated by the requirement; and, (3) the transformations needed to process the raw observed information to obtain displayable information.</a:t>
            </a: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7347"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7348" name="Rectangle 2"/>
          <p:cNvSpPr>
            <a:spLocks noTextEdit="1"/>
          </p:cNvSpPr>
          <p:nvPr>
            <p:ph type="sldImg"/>
          </p:nvPr>
        </p:nvSpPr>
        <p:spPr>
          <a:xfrm>
            <a:off x="1130300" y="674688"/>
            <a:ext cx="4597400" cy="3448050"/>
          </a:xfrm>
        </p:spPr>
      </p:sp>
      <p:sp>
        <p:nvSpPr>
          <p:cNvPr id="57349"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8371"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8372" name="Rectangle 2"/>
          <p:cNvSpPr>
            <a:spLocks noTextEdit="1"/>
          </p:cNvSpPr>
          <p:nvPr>
            <p:ph type="sldImg"/>
          </p:nvPr>
        </p:nvSpPr>
        <p:spPr>
          <a:xfrm>
            <a:off x="1130300" y="674688"/>
            <a:ext cx="4597400" cy="3448050"/>
          </a:xfrm>
        </p:spPr>
      </p:sp>
      <p:sp>
        <p:nvSpPr>
          <p:cNvPr id="58373"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spcBef>
                <a:spcPct val="0"/>
              </a:spcBef>
            </a:pPr>
            <a:r>
              <a:rPr lang="en-US" altLang="en-US" dirty="0"/>
              <a:t>Simple editing frame concern: To describe precisely (1) the data structures of the workpieces; (2) all the commands that will be possible in the envisioned system-to-be; (3) the commands that will be supported or allowed under different scenarios; and, (4) what should happen if the user tries to execute a command that is not supported/allowed under the current scenario.</a:t>
            </a:r>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9395"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9396" name="Rectangle 2"/>
          <p:cNvSpPr>
            <a:spLocks noTextEdit="1"/>
          </p:cNvSpPr>
          <p:nvPr>
            <p:ph type="sldImg"/>
          </p:nvPr>
        </p:nvSpPr>
        <p:spPr>
          <a:xfrm>
            <a:off x="1130300" y="674688"/>
            <a:ext cx="4597400" cy="3448050"/>
          </a:xfrm>
        </p:spPr>
      </p:sp>
      <p:sp>
        <p:nvSpPr>
          <p:cNvPr id="59397"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60419" name="Rectangle 7"/>
          <p:cNvSpPr txBox="1">
            <a:spLocks noGrp="1"/>
          </p:cNvSpPr>
          <p:nvPr/>
        </p:nvSpPr>
        <p:spPr>
          <a:xfrm>
            <a:off x="3876675" y="8694738"/>
            <a:ext cx="2981325" cy="449262"/>
          </a:xfrm>
          <a:prstGeom prst="rect">
            <a:avLst/>
          </a:prstGeom>
          <a:noFill/>
          <a:ln w="9525">
            <a:noFill/>
          </a:ln>
        </p:spPr>
        <p:txBody>
          <a:bodyPr lIns="89730" tIns="44865" rIns="89730" bIns="44865" anchor="b" anchorCtr="0"/>
          <a:p>
            <a:pPr lvl="0" algn="r" defTabSz="897255" eaLnBrk="1" hangingPunct="1"/>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60420" name="Rectangle 2"/>
          <p:cNvSpPr>
            <a:spLocks noTextEdit="1"/>
          </p:cNvSpPr>
          <p:nvPr>
            <p:ph type="sldImg"/>
          </p:nvPr>
        </p:nvSpPr>
        <p:spPr>
          <a:xfrm>
            <a:off x="1130300" y="674688"/>
            <a:ext cx="4597400" cy="3448050"/>
          </a:xfrm>
        </p:spPr>
      </p:sp>
      <p:sp>
        <p:nvSpPr>
          <p:cNvPr id="60421" name="Rectangle 3"/>
          <p:cNvSpPr>
            <a:spLocks noGrp="1"/>
          </p:cNvSpPr>
          <p:nvPr>
            <p:ph type="body" idx="1"/>
          </p:nvPr>
        </p:nvSpPr>
        <p:spPr>
          <a:xfrm>
            <a:off x="893763" y="4346575"/>
            <a:ext cx="5070475" cy="4122738"/>
          </a:xfrm>
        </p:spPr>
        <p:txBody>
          <a:bodyPr wrap="square" lIns="89730" tIns="44865" rIns="89730" bIns="44865" anchor="t" anchorCtr="0"/>
          <a:p>
            <a:pPr lvl="0" eaLnBrk="1" hangingPunct="1">
              <a:spcBef>
                <a:spcPct val="0"/>
              </a:spcBef>
            </a:pPr>
            <a:r>
              <a:rPr lang="en-US" altLang="en-US" dirty="0"/>
              <a:t>Transformation frame concern: To describe precisely (1) the data structures of the input data and output data; (2) how each data structure will be traversed (travelled over); and, (3) how each element of the input data structure will be mapped/transformed to obtain the corresponding element in the output data structure.</a:t>
            </a:r>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日期占位符 3"/>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5" name="页脚占位符 4"/>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3094" y="136525"/>
            <a:ext cx="8858250" cy="1143000"/>
          </a:xfrm>
        </p:spPr>
        <p:txBody>
          <a:bodyPr/>
          <a:lstStyle>
            <a:lvl1pPr>
              <a:defRPr sz="4000">
                <a:latin typeface="Arial Rounded MT Bold" panose="020F070403050403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2588" y="1600200"/>
            <a:ext cx="8728756" cy="4825093"/>
          </a:xfrm>
        </p:spPr>
        <p:txBody>
          <a:bodyPr/>
          <a:lstStyle>
            <a:lvl1pPr marL="342900" indent="-342900">
              <a:buClr>
                <a:srgbClr val="800000"/>
              </a:buClr>
              <a:buFont typeface="Wingdings" panose="05000000000000000000" pitchFamily="2" charset="2"/>
              <a:buChar char="q"/>
              <a:defRPr>
                <a:latin typeface="AvantGarde Bk BT" pitchFamily="34" charset="0"/>
              </a:defRPr>
            </a:lvl1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8" name="Rectangle 4"/>
          <p:cNvSpPr>
            <a:spLocks noGrp="1" noChangeArrowheads="1"/>
          </p:cNvSpPr>
          <p:nvPr>
            <p:ph type="dt" sz="half" idx="2"/>
          </p:nvPr>
        </p:nvSpPr>
        <p:spPr bwMode="auto">
          <a:xfrm>
            <a:off x="457200" y="6530975"/>
            <a:ext cx="2133600" cy="304800"/>
          </a:xfrm>
          <a:prstGeom prst="rect">
            <a:avLst/>
          </a:prstGeom>
        </p:spPr>
        <p:txBody>
          <a:bodyPr vert="horz" wrap="square" lIns="91440" tIns="45720" rIns="91440" bIns="45720" numCol="1" anchor="t" anchorCtr="0" compatLnSpc="1"/>
          <a:p>
            <a:pPr eaLnBrk="1" hangingPunct="1">
              <a:buNone/>
            </a:pPr>
            <a:endParaRPr lang="en-US" altLang="en-US" dirty="0"/>
          </a:p>
        </p:txBody>
      </p:sp>
      <p:sp>
        <p:nvSpPr>
          <p:cNvPr id="9" name="Rectangle 5"/>
          <p:cNvSpPr>
            <a:spLocks noGrp="1" noChangeArrowheads="1"/>
          </p:cNvSpPr>
          <p:nvPr>
            <p:ph type="ftr" sz="quarter" idx="3"/>
          </p:nvPr>
        </p:nvSpPr>
        <p:spPr bwMode="auto">
          <a:xfrm>
            <a:off x="3124200" y="6530975"/>
            <a:ext cx="4632325" cy="304800"/>
          </a:xfrm>
          <a:prstGeom prst="rect">
            <a:avLst/>
          </a:prstGeom>
        </p:spPr>
        <p:txBody>
          <a:bodyPr vert="horz" wrap="square" lIns="91440" tIns="45720" rIns="91440" bIns="45720" numCol="1" anchor="t" anchorCtr="0" compatLnSpc="1"/>
          <a:p>
            <a:pPr algn="ctr" eaLnBrk="1" hangingPunct="1">
              <a:buNone/>
            </a:pPr>
            <a:endParaRPr lang="en-US" altLang="en-US" dirty="0"/>
          </a:p>
        </p:txBody>
      </p:sp>
      <p:sp>
        <p:nvSpPr>
          <p:cNvPr id="10" name="Rectangle 6"/>
          <p:cNvSpPr>
            <a:spLocks noGrp="1" noChangeArrowheads="1"/>
          </p:cNvSpPr>
          <p:nvPr>
            <p:ph type="sldNum" sz="quarter" idx="4"/>
          </p:nvPr>
        </p:nvSpPr>
        <p:spPr bwMode="auto">
          <a:xfrm>
            <a:off x="8442325" y="6534150"/>
            <a:ext cx="668338" cy="3048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日期占位符 3"/>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5" name="页脚占位符 4"/>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129088"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738688" y="1600200"/>
            <a:ext cx="4129087"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日期占位符 4"/>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6" name="页脚占位符 5"/>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日期占位符 6"/>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8" name="页脚占位符 7"/>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21" y="136525"/>
            <a:ext cx="8850084" cy="1143000"/>
          </a:xfrm>
        </p:spPr>
        <p:txBody>
          <a:bodyPr/>
          <a:lstStyle>
            <a:lvl1pPr>
              <a:defRPr sz="4000">
                <a:latin typeface="Arial Rounded MT Bold" panose="020F0704030504030204" pitchFamily="34" charset="0"/>
              </a:defRPr>
            </a:lvl1pPr>
          </a:lstStyle>
          <a:p>
            <a:r>
              <a:rPr lang="en-US" dirty="0" smtClean="0"/>
              <a:t>Click to edit Master title style</a:t>
            </a:r>
            <a:endParaRPr lang="en-US" dirty="0"/>
          </a:p>
        </p:txBody>
      </p:sp>
      <p:sp>
        <p:nvSpPr>
          <p:cNvPr id="8" name="Rectangle 4"/>
          <p:cNvSpPr>
            <a:spLocks noGrp="1" noChangeArrowheads="1"/>
          </p:cNvSpPr>
          <p:nvPr>
            <p:ph type="dt" sz="half" idx="2"/>
          </p:nvPr>
        </p:nvSpPr>
        <p:spPr bwMode="auto">
          <a:xfrm>
            <a:off x="457200" y="6530975"/>
            <a:ext cx="2133600" cy="304800"/>
          </a:xfrm>
          <a:prstGeom prst="rect">
            <a:avLst/>
          </a:prstGeom>
        </p:spPr>
        <p:txBody>
          <a:bodyPr vert="horz" wrap="square" lIns="91440" tIns="45720" rIns="91440" bIns="45720" numCol="1" anchor="t" anchorCtr="0" compatLnSpc="1"/>
          <a:p>
            <a:pPr eaLnBrk="1" hangingPunct="1">
              <a:buNone/>
            </a:pPr>
            <a:endParaRPr lang="en-US" altLang="en-US" dirty="0"/>
          </a:p>
        </p:txBody>
      </p:sp>
      <p:sp>
        <p:nvSpPr>
          <p:cNvPr id="9" name="Rectangle 5"/>
          <p:cNvSpPr>
            <a:spLocks noGrp="1" noChangeArrowheads="1"/>
          </p:cNvSpPr>
          <p:nvPr>
            <p:ph type="ftr" sz="quarter" idx="3"/>
          </p:nvPr>
        </p:nvSpPr>
        <p:spPr bwMode="auto">
          <a:xfrm>
            <a:off x="3124200" y="6530975"/>
            <a:ext cx="4632325" cy="304800"/>
          </a:xfrm>
          <a:prstGeom prst="rect">
            <a:avLst/>
          </a:prstGeom>
        </p:spPr>
        <p:txBody>
          <a:bodyPr vert="horz" wrap="square" lIns="91440" tIns="45720" rIns="91440" bIns="45720" numCol="1" anchor="t" anchorCtr="0" compatLnSpc="1"/>
          <a:p>
            <a:pPr algn="ctr" eaLnBrk="1" hangingPunct="1">
              <a:buNone/>
            </a:pPr>
            <a:endParaRPr lang="en-US" altLang="en-US" dirty="0"/>
          </a:p>
        </p:txBody>
      </p:sp>
      <p:sp>
        <p:nvSpPr>
          <p:cNvPr id="10" name="Rectangle 6"/>
          <p:cNvSpPr>
            <a:spLocks noGrp="1" noChangeArrowheads="1"/>
          </p:cNvSpPr>
          <p:nvPr>
            <p:ph type="sldNum" sz="quarter" idx="4"/>
          </p:nvPr>
        </p:nvSpPr>
        <p:spPr bwMode="auto">
          <a:xfrm>
            <a:off x="8442325" y="6534150"/>
            <a:ext cx="668338" cy="3048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3" name="页脚占位符 2"/>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6" name="页脚占位符 5"/>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6" name="页脚占位符 5"/>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5" name="页脚占位符 4"/>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3550" y="136525"/>
            <a:ext cx="2143125" cy="59896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2588" y="136525"/>
            <a:ext cx="6278562" cy="59896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eaLnBrk="1" hangingPunct="1">
              <a:buNone/>
            </a:pPr>
            <a:endParaRPr lang="en-US" altLang="en-US" dirty="0">
              <a:latin typeface="Arial" panose="020B0604020202020204" pitchFamily="34" charset="0"/>
            </a:endParaRPr>
          </a:p>
        </p:txBody>
      </p:sp>
      <p:sp>
        <p:nvSpPr>
          <p:cNvPr id="5" name="页脚占位符 4"/>
          <p:cNvSpPr>
            <a:spLocks noGrp="1"/>
          </p:cNvSpPr>
          <p:nvPr>
            <p:ph type="ftr" sz="quarter" idx="11"/>
          </p:nvPr>
        </p:nvSpPr>
        <p:spPr/>
        <p:txBody>
          <a:bodyPr/>
          <a:p>
            <a:pPr lvl="0" eaLnBrk="1" hangingPunct="1">
              <a:buNone/>
            </a:pPr>
            <a:endParaRPr lang="en-US" altLang="en-US"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382588" y="136525"/>
            <a:ext cx="8574087"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Rectangle 3"/>
          <p:cNvSpPr>
            <a:spLocks noGrp="1"/>
          </p:cNvSpPr>
          <p:nvPr>
            <p:ph type="body" idx="1"/>
          </p:nvPr>
        </p:nvSpPr>
        <p:spPr>
          <a:xfrm>
            <a:off x="382588" y="1600200"/>
            <a:ext cx="8574087"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a:defRPr sz="1400"/>
            </a:lvl1pPr>
          </a:lstStyle>
          <a:p>
            <a:pPr lvl="0" eaLnBrk="1" hangingPunct="1">
              <a:buNone/>
            </a:pPr>
            <a:endParaRPr lang="en-US" altLang="en-US" dirty="0">
              <a:latin typeface="Arial" panose="020B0604020202020204" pitchFamily="34"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a:defRPr sz="1400"/>
            </a:lvl1pPr>
          </a:lstStyle>
          <a:p>
            <a:pPr lvl="0" eaLnBrk="1" hangingPunct="1">
              <a:buNone/>
            </a:pPr>
            <a:endParaRPr lang="en-US" altLang="en-US" dirty="0">
              <a:latin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2133600"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1031" name="Line 7"/>
          <p:cNvSpPr>
            <a:spLocks noChangeShapeType="1"/>
          </p:cNvSpPr>
          <p:nvPr/>
        </p:nvSpPr>
        <p:spPr bwMode="auto">
          <a:xfrm>
            <a:off x="0" y="1371600"/>
            <a:ext cx="9144000" cy="0"/>
          </a:xfrm>
          <a:prstGeom prst="line">
            <a:avLst/>
          </a:prstGeom>
          <a:noFill/>
          <a:ln w="57150">
            <a:solidFill>
              <a:schemeClr val="tx1"/>
            </a:solid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anose="030F0702030302020204" pitchFamily="66"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Comic Sans MS" panose="030F0702030302020204" pitchFamily="66"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Comic Sans MS" panose="030F0702030302020204" pitchFamily="66"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Comic Sans MS" panose="030F0702030302020204" pitchFamily="66" charset="0"/>
          <a:cs typeface="Arial" panose="020B0604020202020204" pitchFamily="34" charset="0"/>
        </a:defRPr>
      </a:lvl5pPr>
      <a:lvl6pPr marL="457200" algn="ctr" rtl="0" fontAlgn="base">
        <a:spcBef>
          <a:spcPct val="0"/>
        </a:spcBef>
        <a:spcAft>
          <a:spcPct val="0"/>
        </a:spcAft>
        <a:defRPr sz="4400">
          <a:solidFill>
            <a:schemeClr val="tx2"/>
          </a:solidFill>
          <a:latin typeface="Comic Sans MS" panose="030F0702030302020204" pitchFamily="66" charset="0"/>
          <a:cs typeface="Arial" panose="020B0604020202020204" pitchFamily="34" charset="0"/>
        </a:defRPr>
      </a:lvl6pPr>
      <a:lvl7pPr marL="914400" algn="ctr" rtl="0" fontAlgn="base">
        <a:spcBef>
          <a:spcPct val="0"/>
        </a:spcBef>
        <a:spcAft>
          <a:spcPct val="0"/>
        </a:spcAft>
        <a:defRPr sz="4400">
          <a:solidFill>
            <a:schemeClr val="tx2"/>
          </a:solidFill>
          <a:latin typeface="Comic Sans MS" panose="030F0702030302020204" pitchFamily="66" charset="0"/>
          <a:cs typeface="Arial" panose="020B0604020202020204" pitchFamily="34" charset="0"/>
        </a:defRPr>
      </a:lvl7pPr>
      <a:lvl8pPr marL="1371600" algn="ctr" rtl="0" fontAlgn="base">
        <a:spcBef>
          <a:spcPct val="0"/>
        </a:spcBef>
        <a:spcAft>
          <a:spcPct val="0"/>
        </a:spcAft>
        <a:defRPr sz="4400">
          <a:solidFill>
            <a:schemeClr val="tx2"/>
          </a:solidFill>
          <a:latin typeface="Comic Sans MS" panose="030F0702030302020204" pitchFamily="66" charset="0"/>
          <a:cs typeface="Arial" panose="020B0604020202020204" pitchFamily="34" charset="0"/>
        </a:defRPr>
      </a:lvl8pPr>
      <a:lvl9pPr marL="1828800" algn="ctr" rtl="0" fontAlgn="base">
        <a:spcBef>
          <a:spcPct val="0"/>
        </a:spcBef>
        <a:spcAft>
          <a:spcPct val="0"/>
        </a:spcAft>
        <a:defRPr sz="4400">
          <a:solidFill>
            <a:schemeClr val="tx2"/>
          </a:solidFill>
          <a:latin typeface="Comic Sans MS" panose="030F0702030302020204" pitchFamily="66"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8" name="Picture 4"/>
          <p:cNvPicPr>
            <a:picLocks noChangeAspect="1"/>
          </p:cNvPicPr>
          <p:nvPr/>
        </p:nvPicPr>
        <p:blipFill>
          <a:blip r:embed="rId1"/>
          <a:stretch>
            <a:fillRect/>
          </a:stretch>
        </p:blipFill>
        <p:spPr>
          <a:xfrm>
            <a:off x="568325" y="547688"/>
            <a:ext cx="3019425" cy="1797050"/>
          </a:xfrm>
          <a:prstGeom prst="rect">
            <a:avLst/>
          </a:prstGeom>
          <a:noFill/>
          <a:ln w="9525">
            <a:noFill/>
          </a:ln>
        </p:spPr>
      </p:pic>
      <p:sp>
        <p:nvSpPr>
          <p:cNvPr id="4099" name="Rectangle 5"/>
          <p:cNvSpPr/>
          <p:nvPr/>
        </p:nvSpPr>
        <p:spPr>
          <a:xfrm>
            <a:off x="1152525" y="2636838"/>
            <a:ext cx="7323138" cy="1163637"/>
          </a:xfrm>
          <a:prstGeom prst="rect">
            <a:avLst/>
          </a:prstGeom>
          <a:solidFill>
            <a:srgbClr val="FFFF99"/>
          </a:solidFill>
          <a:ln w="9525">
            <a:noFill/>
          </a:ln>
        </p:spPr>
        <p:txBody>
          <a:bodyPr lIns="182880" rIns="182880">
            <a:spAutoFit/>
          </a:bodyPr>
          <a:p>
            <a:pPr eaLnBrk="1" hangingPunct="1">
              <a:spcBef>
                <a:spcPct val="20000"/>
              </a:spcBef>
            </a:pPr>
            <a:r>
              <a:rPr lang="en-US" altLang="zh-CN" sz="3600" dirty="0">
                <a:latin typeface="Comic Sans MS" panose="030F0702030302020204" pitchFamily="66" charset="0"/>
                <a:ea typeface="宋体" panose="02010600030101010101" pitchFamily="2" charset="-122"/>
              </a:rPr>
              <a:t>Problem Frames</a:t>
            </a:r>
            <a:endParaRPr lang="en-US" altLang="zh-CN" sz="3600" dirty="0">
              <a:latin typeface="Comic Sans MS" panose="030F0702030302020204" pitchFamily="66" charset="0"/>
              <a:ea typeface="宋体" panose="02010600030101010101" pitchFamily="2" charset="-122"/>
            </a:endParaRPr>
          </a:p>
          <a:p>
            <a:pPr eaLnBrk="1" hangingPunct="1">
              <a:spcBef>
                <a:spcPct val="20000"/>
              </a:spcBef>
            </a:pPr>
            <a:r>
              <a:rPr lang="en-US" altLang="zh-CN" sz="2800" dirty="0">
                <a:latin typeface="Comic Sans MS" panose="030F0702030302020204" pitchFamily="66" charset="0"/>
                <a:ea typeface="宋体" panose="02010600030101010101" pitchFamily="2" charset="-122"/>
              </a:rPr>
              <a:t>Decomposition, Modeling &amp; Recombination</a:t>
            </a:r>
            <a:endParaRPr lang="en-US" altLang="zh-CN" sz="2800" dirty="0">
              <a:latin typeface="Comic Sans MS" panose="030F0702030302020204" pitchFamily="66" charset="0"/>
              <a:ea typeface="宋体" panose="02010600030101010101" pitchFamily="2" charset="-122"/>
            </a:endParaRPr>
          </a:p>
        </p:txBody>
      </p:sp>
      <p:sp>
        <p:nvSpPr>
          <p:cNvPr id="4100" name="Line 6"/>
          <p:cNvSpPr/>
          <p:nvPr/>
        </p:nvSpPr>
        <p:spPr>
          <a:xfrm>
            <a:off x="0" y="1371600"/>
            <a:ext cx="9144000" cy="0"/>
          </a:xfrm>
          <a:prstGeom prst="line">
            <a:avLst/>
          </a:prstGeom>
          <a:ln w="57150" cap="flat" cmpd="sng">
            <a:solidFill>
              <a:srgbClr val="00FF00"/>
            </a:solidFill>
            <a:prstDash val="solid"/>
            <a:headEnd type="none" w="med" len="med"/>
            <a:tailEnd type="none" w="med" len="med"/>
          </a:ln>
        </p:spPr>
      </p:sp>
      <p:sp>
        <p:nvSpPr>
          <p:cNvPr id="4101" name="矩形 5"/>
          <p:cNvSpPr/>
          <p:nvPr/>
        </p:nvSpPr>
        <p:spPr>
          <a:xfrm>
            <a:off x="742950" y="4151313"/>
            <a:ext cx="7467600" cy="2030095"/>
          </a:xfrm>
          <a:prstGeom prst="rect">
            <a:avLst/>
          </a:prstGeom>
          <a:noFill/>
          <a:ln w="9525">
            <a:noFill/>
          </a:ln>
        </p:spPr>
        <p:txBody>
          <a:bodyPr>
            <a:spAutoFit/>
          </a:bodyPr>
          <a:p>
            <a:pPr eaLnBrk="1" hangingPunct="1">
              <a:lnSpc>
                <a:spcPct val="200000"/>
              </a:lnSpc>
              <a:buNone/>
            </a:pPr>
            <a:r>
              <a:rPr lang="zh-CN" altLang="en-US" dirty="0">
                <a:solidFill>
                  <a:srgbClr val="002060"/>
                </a:solidFill>
                <a:latin typeface="Verdana" panose="020B0604030504040204" pitchFamily="34" charset="0"/>
                <a:ea typeface="黑体" panose="02010609060101010101" pitchFamily="49" charset="-122"/>
              </a:rPr>
              <a:t>何明昕  </a:t>
            </a:r>
            <a:r>
              <a:rPr lang="en-US" altLang="zh-CN" dirty="0">
                <a:solidFill>
                  <a:srgbClr val="002060"/>
                </a:solidFill>
                <a:latin typeface="Comic Sans MS" panose="030F0702030302020204" pitchFamily="66" charset="0"/>
                <a:ea typeface="黑体" panose="02010609060101010101" pitchFamily="49" charset="-122"/>
              </a:rPr>
              <a:t>HE Mingxin, Max</a:t>
            </a:r>
            <a:endParaRPr lang="en-US" altLang="zh-CN" dirty="0">
              <a:solidFill>
                <a:srgbClr val="002060"/>
              </a:solidFill>
              <a:latin typeface="Comic Sans MS" panose="030F0702030302020204" pitchFamily="66" charset="0"/>
              <a:ea typeface="黑体" panose="02010609060101010101" pitchFamily="49" charset="-122"/>
            </a:endParaRPr>
          </a:p>
          <a:p>
            <a:pPr eaLnBrk="1" hangingPunct="1">
              <a:buNone/>
            </a:pPr>
            <a:r>
              <a:rPr lang="en-US" altLang="zh-CN" dirty="0">
                <a:solidFill>
                  <a:srgbClr val="002060"/>
                </a:solidFill>
                <a:latin typeface="Verdana" panose="020B0604030504040204" pitchFamily="34" charset="0"/>
                <a:ea typeface="黑体" panose="02010609060101010101" pitchFamily="49" charset="-122"/>
              </a:rPr>
              <a:t>Send your email to </a:t>
            </a:r>
            <a:r>
              <a:rPr lang="en-US" altLang="zh-CN" dirty="0">
                <a:solidFill>
                  <a:srgbClr val="7030A0"/>
                </a:solidFill>
                <a:latin typeface="Verdana" panose="020B0604030504040204" pitchFamily="34" charset="0"/>
                <a:ea typeface="黑体" panose="02010609060101010101" pitchFamily="49" charset="-122"/>
              </a:rPr>
              <a:t>c.max@yeah.net</a:t>
            </a:r>
            <a:r>
              <a:rPr lang="en-US" altLang="zh-CN" dirty="0">
                <a:solidFill>
                  <a:srgbClr val="002060"/>
                </a:solidFill>
                <a:latin typeface="Verdana" panose="020B0604030504040204" pitchFamily="34" charset="0"/>
                <a:ea typeface="黑体" panose="02010609060101010101" pitchFamily="49" charset="-122"/>
              </a:rPr>
              <a:t>  with</a:t>
            </a:r>
            <a:endParaRPr lang="en-US" altLang="zh-CN" dirty="0">
              <a:solidFill>
                <a:srgbClr val="002060"/>
              </a:solidFill>
              <a:latin typeface="Verdana" panose="020B0604030504040204" pitchFamily="34" charset="0"/>
              <a:ea typeface="黑体" panose="02010609060101010101" pitchFamily="49" charset="-122"/>
            </a:endParaRPr>
          </a:p>
          <a:p>
            <a:pPr eaLnBrk="1" hangingPunct="1">
              <a:buNone/>
            </a:pPr>
            <a:r>
              <a:rPr lang="en-US" altLang="zh-CN" dirty="0">
                <a:solidFill>
                  <a:srgbClr val="002060"/>
                </a:solidFill>
                <a:latin typeface="Verdana" panose="020B0604030504040204" pitchFamily="34" charset="0"/>
                <a:ea typeface="黑体" panose="02010609060101010101" pitchFamily="49" charset="-122"/>
              </a:rPr>
              <a:t>a subject like:  </a:t>
            </a:r>
            <a:r>
              <a:rPr lang="en-US" altLang="zh-CN" dirty="0">
                <a:solidFill>
                  <a:srgbClr val="002060"/>
                </a:solidFill>
                <a:latin typeface="Comic Sans MS" panose="030F0702030302020204" pitchFamily="66" charset="0"/>
                <a:ea typeface="黑体" panose="02010609060101010101" pitchFamily="49" charset="-122"/>
              </a:rPr>
              <a:t>SE</a:t>
            </a:r>
            <a:r>
              <a:rPr lang="en-US" altLang="zh-CN" i="1" dirty="0">
                <a:solidFill>
                  <a:srgbClr val="002060"/>
                </a:solidFill>
                <a:latin typeface="Comic Sans MS" panose="030F0702030302020204" pitchFamily="66" charset="0"/>
                <a:ea typeface="黑体" panose="02010609060101010101" pitchFamily="49" charset="-122"/>
              </a:rPr>
              <a:t>345-Andy: On What </a:t>
            </a:r>
            <a:r>
              <a:rPr lang="en-US" altLang="zh-CN" i="1" dirty="0">
                <a:solidFill>
                  <a:srgbClr val="002060"/>
                </a:solidFill>
                <a:latin typeface="Verdana" panose="020B0604030504040204" pitchFamily="34" charset="0"/>
                <a:ea typeface="黑体" panose="02010609060101010101" pitchFamily="49" charset="-122"/>
              </a:rPr>
              <a:t>…</a:t>
            </a:r>
            <a:endParaRPr lang="en-US" altLang="zh-CN" i="1" dirty="0">
              <a:solidFill>
                <a:srgbClr val="002060"/>
              </a:solidFill>
              <a:latin typeface="Verdana" panose="020B0604030504040204" pitchFamily="34" charset="0"/>
              <a:ea typeface="黑体" panose="02010609060101010101" pitchFamily="49" charset="-122"/>
            </a:endParaRPr>
          </a:p>
          <a:p>
            <a:pPr eaLnBrk="1" hangingPunct="1">
              <a:lnSpc>
                <a:spcPct val="200000"/>
              </a:lnSpc>
              <a:buNone/>
            </a:pPr>
            <a:r>
              <a:rPr lang="en-US" altLang="zh-CN" dirty="0">
                <a:solidFill>
                  <a:srgbClr val="002060"/>
                </a:solidFill>
                <a:latin typeface="Verdana" panose="020B0604030504040204" pitchFamily="34" charset="0"/>
                <a:ea typeface="黑体" panose="02010609060101010101" pitchFamily="49" charset="-122"/>
              </a:rPr>
              <a:t>Download from </a:t>
            </a:r>
            <a:r>
              <a:rPr lang="en-US" altLang="zh-CN" dirty="0">
                <a:solidFill>
                  <a:srgbClr val="7030A0"/>
                </a:solidFill>
                <a:latin typeface="Verdana" panose="020B0604030504040204" pitchFamily="34" charset="0"/>
                <a:ea typeface="黑体" panose="02010609060101010101" pitchFamily="49" charset="-122"/>
              </a:rPr>
              <a:t>c.program@yeah.net</a:t>
            </a:r>
            <a:endParaRPr lang="en-US" altLang="zh-CN" dirty="0">
              <a:solidFill>
                <a:srgbClr val="FF0000"/>
              </a:solidFill>
              <a:latin typeface="Verdana" panose="020B0604030504040204" pitchFamily="34" charset="0"/>
              <a:ea typeface="黑体" panose="02010609060101010101" pitchFamily="49" charset="-122"/>
            </a:endParaRPr>
          </a:p>
          <a:p>
            <a:pPr eaLnBrk="1" hangingPunct="1">
              <a:buNone/>
            </a:pPr>
            <a:r>
              <a:rPr lang="en-US" altLang="zh-CN" dirty="0">
                <a:solidFill>
                  <a:srgbClr val="002060"/>
                </a:solidFill>
                <a:latin typeface="Verdana" panose="020B0604030504040204" pitchFamily="34" charset="0"/>
                <a:ea typeface="黑体" panose="02010609060101010101" pitchFamily="49" charset="-122"/>
              </a:rPr>
              <a:t>/</a:t>
            </a:r>
            <a:r>
              <a:rPr lang="zh-CN" altLang="en-US" dirty="0">
                <a:solidFill>
                  <a:srgbClr val="002060"/>
                </a:solidFill>
                <a:latin typeface="Verdana" panose="020B0604030504040204" pitchFamily="34" charset="0"/>
                <a:ea typeface="黑体" panose="02010609060101010101" pitchFamily="49" charset="-122"/>
              </a:rPr>
              <a:t>文件中心</a:t>
            </a:r>
            <a:r>
              <a:rPr lang="en-US" altLang="zh-CN" dirty="0">
                <a:solidFill>
                  <a:srgbClr val="002060"/>
                </a:solidFill>
                <a:latin typeface="Verdana" panose="020B0604030504040204" pitchFamily="34" charset="0"/>
                <a:ea typeface="宋体" panose="02010600030101010101" pitchFamily="2" charset="-122"/>
              </a:rPr>
              <a:t>/</a:t>
            </a:r>
            <a:r>
              <a:rPr lang="zh-CN" altLang="en-US" dirty="0">
                <a:solidFill>
                  <a:srgbClr val="002060"/>
                </a:solidFill>
                <a:latin typeface="Verdana" panose="020B0604030504040204" pitchFamily="34" charset="0"/>
                <a:ea typeface="黑体" panose="02010609060101010101" pitchFamily="49" charset="-122"/>
              </a:rPr>
              <a:t>网盘</a:t>
            </a:r>
            <a:r>
              <a:rPr lang="en-US" altLang="zh-CN" dirty="0">
                <a:solidFill>
                  <a:srgbClr val="002060"/>
                </a:solidFill>
                <a:latin typeface="Verdana" panose="020B0604030504040204" pitchFamily="34" charset="0"/>
                <a:ea typeface="宋体" panose="02010600030101010101" pitchFamily="2" charset="-122"/>
              </a:rPr>
              <a:t>/SoftwareEngineering26S</a:t>
            </a:r>
            <a:endParaRPr lang="en-US" altLang="zh-CN" dirty="0">
              <a:solidFill>
                <a:srgbClr val="002060"/>
              </a:solidFill>
              <a:latin typeface="Verdana" panose="020B060403050404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252413" y="136525"/>
            <a:ext cx="8858250"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Topics</a:t>
            </a:r>
            <a:endParaRPr lang="en-US" altLang="en-US" kern="1200" dirty="0">
              <a:latin typeface="Arial Rounded MT Bold" panose="020F0704030504030204" pitchFamily="34" charset="0"/>
              <a:ea typeface="+mj-ea"/>
              <a:cs typeface="+mj-cs"/>
            </a:endParaRPr>
          </a:p>
        </p:txBody>
      </p:sp>
      <p:sp>
        <p:nvSpPr>
          <p:cNvPr id="5123" name="Rectangle 3"/>
          <p:cNvSpPr>
            <a:spLocks noGrp="1"/>
          </p:cNvSpPr>
          <p:nvPr>
            <p:ph idx="1"/>
          </p:nvPr>
        </p:nvSpPr>
        <p:spPr>
          <a:xfrm>
            <a:off x="382588" y="1600200"/>
            <a:ext cx="8005762" cy="4824413"/>
          </a:xfrm>
        </p:spPr>
        <p:txBody>
          <a:bodyPr vert="horz" wrap="square" lIns="91440" tIns="45720" rIns="91440" bIns="45720" anchor="t" anchorCtr="0"/>
          <a:p>
            <a:pPr eaLnBrk="1" hangingPunct="1">
              <a:buClr>
                <a:srgbClr val="800000"/>
              </a:buClr>
            </a:pPr>
            <a:r>
              <a:rPr lang="en-US" altLang="en-US" kern="1200" dirty="0">
                <a:latin typeface="Calibri" panose="020F0502020204030204" pitchFamily="34" charset="0"/>
                <a:ea typeface="+mn-ea"/>
                <a:cs typeface="Calibri" panose="020F0502020204030204" pitchFamily="34" charset="0"/>
              </a:rPr>
              <a:t>Typical System Requirements and Problems	→	Analysis Reuse</a:t>
            </a:r>
            <a:endParaRPr lang="en-US" altLang="en-US" kern="1200" dirty="0">
              <a:latin typeface="Calibri" panose="020F0502020204030204" pitchFamily="34" charset="0"/>
              <a:ea typeface="+mn-ea"/>
              <a:cs typeface="Calibri" panose="020F0502020204030204" pitchFamily="34" charset="0"/>
            </a:endParaRPr>
          </a:p>
          <a:p>
            <a:pPr eaLnBrk="1" hangingPunct="1">
              <a:buClr>
                <a:srgbClr val="800000"/>
              </a:buClr>
            </a:pPr>
            <a:r>
              <a:rPr lang="en-US" altLang="en-US" kern="1200" dirty="0">
                <a:latin typeface="Calibri" panose="020F0502020204030204" pitchFamily="34" charset="0"/>
                <a:ea typeface="+mn-ea"/>
                <a:cs typeface="Calibri" panose="020F0502020204030204" pitchFamily="34" charset="0"/>
              </a:rPr>
              <a:t>Five Problem Frames:</a:t>
            </a:r>
            <a:endParaRPr lang="en-US" altLang="en-US" kern="1200" dirty="0">
              <a:latin typeface="Calibri" panose="020F0502020204030204" pitchFamily="34" charset="0"/>
              <a:ea typeface="+mn-ea"/>
              <a:cs typeface="Calibri" panose="020F0502020204030204" pitchFamily="34" charset="0"/>
            </a:endParaRPr>
          </a:p>
          <a:p>
            <a:pPr lvl="2" eaLnBrk="1" hangingPunct="1">
              <a:buChar char="•"/>
            </a:pPr>
            <a:r>
              <a:rPr lang="en-US" altLang="en-US" dirty="0">
                <a:latin typeface="Calibri" panose="020F0502020204030204" pitchFamily="34" charset="0"/>
                <a:cs typeface="Calibri" panose="020F0502020204030204" pitchFamily="34" charset="0"/>
              </a:rPr>
              <a:t>Transformation</a:t>
            </a:r>
            <a:endParaRPr lang="en-US" altLang="en-US" dirty="0">
              <a:latin typeface="Calibri" panose="020F0502020204030204" pitchFamily="34" charset="0"/>
              <a:cs typeface="Calibri" panose="020F0502020204030204" pitchFamily="34" charset="0"/>
            </a:endParaRPr>
          </a:p>
          <a:p>
            <a:pPr lvl="2" eaLnBrk="1" hangingPunct="1">
              <a:buChar char="•"/>
            </a:pPr>
            <a:r>
              <a:rPr lang="en-US" altLang="en-US" dirty="0">
                <a:latin typeface="Calibri" panose="020F0502020204030204" pitchFamily="34" charset="0"/>
                <a:cs typeface="Calibri" panose="020F0502020204030204" pitchFamily="34" charset="0"/>
              </a:rPr>
              <a:t>Simple Editing (a.k.a. “Simple Workpieces”)</a:t>
            </a:r>
            <a:endParaRPr lang="en-US" altLang="en-US" dirty="0">
              <a:latin typeface="Calibri" panose="020F0502020204030204" pitchFamily="34" charset="0"/>
              <a:cs typeface="Calibri" panose="020F0502020204030204" pitchFamily="34" charset="0"/>
            </a:endParaRPr>
          </a:p>
          <a:p>
            <a:pPr lvl="2" eaLnBrk="1" hangingPunct="1">
              <a:buChar char="•"/>
            </a:pPr>
            <a:r>
              <a:rPr lang="en-US" altLang="en-US" dirty="0">
                <a:latin typeface="Calibri" panose="020F0502020204030204" pitchFamily="34" charset="0"/>
                <a:cs typeface="Calibri" panose="020F0502020204030204" pitchFamily="34" charset="0"/>
              </a:rPr>
              <a:t>Required Behavior</a:t>
            </a:r>
            <a:endParaRPr lang="en-US" altLang="en-US" dirty="0">
              <a:latin typeface="Calibri" panose="020F0502020204030204" pitchFamily="34" charset="0"/>
              <a:cs typeface="Calibri" panose="020F0502020204030204" pitchFamily="34" charset="0"/>
            </a:endParaRPr>
          </a:p>
          <a:p>
            <a:pPr lvl="2" eaLnBrk="1" hangingPunct="1">
              <a:buChar char="•"/>
            </a:pPr>
            <a:r>
              <a:rPr lang="en-US" altLang="en-US" dirty="0">
                <a:latin typeface="Calibri" panose="020F0502020204030204" pitchFamily="34" charset="0"/>
                <a:cs typeface="Calibri" panose="020F0502020204030204" pitchFamily="34" charset="0"/>
              </a:rPr>
              <a:t>Information Display</a:t>
            </a:r>
            <a:endParaRPr lang="en-US" altLang="en-US" dirty="0">
              <a:latin typeface="Calibri" panose="020F0502020204030204" pitchFamily="34" charset="0"/>
              <a:cs typeface="Calibri" panose="020F0502020204030204" pitchFamily="34" charset="0"/>
            </a:endParaRPr>
          </a:p>
          <a:p>
            <a:pPr lvl="2" eaLnBrk="1" hangingPunct="1">
              <a:buChar char="•"/>
            </a:pPr>
            <a:r>
              <a:rPr lang="en-US" altLang="en-US" dirty="0">
                <a:latin typeface="Calibri" panose="020F0502020204030204" pitchFamily="34" charset="0"/>
                <a:cs typeface="Calibri" panose="020F0502020204030204" pitchFamily="34" charset="0"/>
              </a:rPr>
              <a:t>Commanded Behavior</a:t>
            </a:r>
            <a:endParaRPr lang="en-US" altLang="en-US" dirty="0">
              <a:latin typeface="Calibri" panose="020F0502020204030204" pitchFamily="34" charset="0"/>
              <a:cs typeface="Calibri" panose="020F0502020204030204" pitchFamily="34" charset="0"/>
            </a:endParaRPr>
          </a:p>
          <a:p>
            <a:pPr eaLnBrk="1" hangingPunct="1">
              <a:buClr>
                <a:srgbClr val="800000"/>
              </a:buClr>
            </a:pPr>
            <a:r>
              <a:rPr lang="en-US" altLang="en-US" kern="1200" dirty="0">
                <a:latin typeface="Calibri" panose="020F0502020204030204" pitchFamily="34" charset="0"/>
                <a:ea typeface="+mn-ea"/>
                <a:cs typeface="Calibri" panose="020F0502020204030204" pitchFamily="34" charset="0"/>
              </a:rPr>
              <a:t>Frame Concern</a:t>
            </a:r>
            <a:endParaRPr lang="en-US" altLang="en-US" kern="1200" dirty="0">
              <a:latin typeface="Calibri" panose="020F0502020204030204" pitchFamily="34" charset="0"/>
              <a:ea typeface="Calibri" panose="020F0502020204030204" pitchFamily="34" charset="0"/>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title"/>
          </p:nvPr>
        </p:nvSpPr>
        <p:spPr>
          <a:xfrm>
            <a:off x="252413" y="136525"/>
            <a:ext cx="8858250" cy="1143000"/>
          </a:xfrm>
        </p:spPr>
        <p:txBody>
          <a:bodyPr vert="horz" wrap="square" lIns="91440" tIns="45720" rIns="91440" bIns="45720" anchor="ctr" anchorCtr="0"/>
          <a:p>
            <a:r>
              <a:rPr lang="en-US" altLang="en-US" kern="1200" dirty="0">
                <a:latin typeface="Arial Rounded MT Bold" panose="020F0704030504030204" pitchFamily="34" charset="0"/>
                <a:ea typeface="+mj-ea"/>
                <a:cs typeface="+mj-cs"/>
              </a:rPr>
              <a:t>Why Problem Frames?</a:t>
            </a:r>
            <a:endParaRPr lang="en-US" altLang="en-US" kern="1200" dirty="0">
              <a:latin typeface="Arial Rounded MT Bold" panose="020F0704030504030204" pitchFamily="34" charset="0"/>
              <a:ea typeface="+mj-ea"/>
              <a:cs typeface="+mj-cs"/>
            </a:endParaRPr>
          </a:p>
        </p:txBody>
      </p:sp>
      <p:sp>
        <p:nvSpPr>
          <p:cNvPr id="3" name="Content Placeholder 2"/>
          <p:cNvSpPr>
            <a:spLocks noGrp="1"/>
          </p:cNvSpPr>
          <p:nvPr>
            <p:ph idx="1"/>
          </p:nvPr>
        </p:nvSpPr>
        <p:spPr>
          <a:xfrm>
            <a:off x="382588" y="1600200"/>
            <a:ext cx="8728075" cy="4824413"/>
          </a:xfrm>
        </p:spPr>
        <p:txBody>
          <a:bodyPr vert="horz" wrap="square" lIns="91440" tIns="45720" rIns="91440" bIns="45720" numCol="1" anchor="t" anchorCtr="0" compatLnSpc="1">
            <a:normAutofit fontScale="92500" lnSpcReduction="20000"/>
          </a:bodyPr>
          <a:lstStyle/>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Because the best way to start solving your problem is by understanding it first</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Problem frames help us analyze and understand the problem that we are to solve</a:t>
            </a:r>
            <a:endParaRPr kumimoji="0" lang="en-US" sz="28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ts val="2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Problem frames are the building blocks of SE problems</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They are the most basic types of system requirements</a:t>
            </a:r>
            <a:endParaRPr kumimoji="0" lang="en-US" sz="28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ts val="2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Purpose: problem frames allow </a:t>
            </a:r>
            <a:r>
              <a:rPr kumimoji="0" lang="en-US" sz="3200" b="1" i="1" u="none" strike="noStrike" kern="1200" cap="none" spc="0" normalizeH="0" baseline="0" noProof="0" dirty="0" smtClean="0">
                <a:ln>
                  <a:noFill/>
                </a:ln>
                <a:solidFill>
                  <a:srgbClr val="800000"/>
                </a:solidFill>
                <a:effectLst/>
                <a:uLnTx/>
                <a:uFillTx/>
                <a:latin typeface="Calibri" panose="020F0502020204030204" pitchFamily="34" charset="0"/>
                <a:ea typeface="+mn-ea"/>
                <a:cs typeface="Calibri" panose="020F0502020204030204" pitchFamily="34" charset="0"/>
              </a:rPr>
              <a:t>reuse</a:t>
            </a:r>
            <a:r>
              <a:rPr kumimoji="0" lang="en-US" sz="3200" b="0" i="0" u="none" strike="noStrike" kern="1200" cap="none" spc="0" normalizeH="0" baseline="0" noProof="0" dirty="0" smtClean="0">
                <a:ln>
                  <a:noFill/>
                </a:ln>
                <a:solidFill>
                  <a:srgbClr val="800000"/>
                </a:solidFill>
                <a:effectLst/>
                <a:uLnTx/>
                <a:uFillTx/>
                <a:latin typeface="Calibri" panose="020F0502020204030204" pitchFamily="34" charset="0"/>
                <a:ea typeface="+mn-ea"/>
                <a:cs typeface="Calibri" panose="020F0502020204030204" pitchFamily="34" charset="0"/>
              </a:rPr>
              <a:t> </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of existing </a:t>
            </a:r>
            <a:r>
              <a:rPr kumimoji="0" lang="en-US" sz="3200" b="0" i="0" u="none" strike="noStrike" kern="1200" cap="none" spc="0" normalizeH="0" baseline="0" noProof="0" dirty="0" smtClean="0">
                <a:ln>
                  <a:noFill/>
                </a:ln>
                <a:solidFill>
                  <a:srgbClr val="800000"/>
                </a:solidFill>
                <a:effectLst/>
                <a:uLnTx/>
                <a:uFillTx/>
                <a:latin typeface="Calibri" panose="020F0502020204030204" pitchFamily="34" charset="0"/>
                <a:ea typeface="+mn-ea"/>
                <a:cs typeface="Calibri" panose="020F0502020204030204" pitchFamily="34" charset="0"/>
              </a:rPr>
              <a:t>generic analyses of typical problems</a:t>
            </a:r>
            <a:endParaRPr kumimoji="0" lang="en-US" sz="3200" b="0" i="0" u="none" strike="noStrike" kern="1200" cap="none" spc="0" normalizeH="0" baseline="0" noProof="0" dirty="0" smtClean="0">
              <a:ln>
                <a:noFill/>
              </a:ln>
              <a:solidFill>
                <a:srgbClr val="800000"/>
              </a:solidFill>
              <a:effectLst/>
              <a:uLnTx/>
              <a:uFillTx/>
              <a:latin typeface="Calibri" panose="020F0502020204030204" pitchFamily="34" charset="0"/>
              <a:ea typeface="+mn-ea"/>
              <a:cs typeface="Calibri" panose="020F0502020204030204" pitchFamily="34" charset="0"/>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sz="28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Benefits: speed up the analysis and make the result more correct and complete</a:t>
            </a:r>
            <a:endParaRPr kumimoji="0" lang="en-US" sz="28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3"/>
          <p:cNvSpPr>
            <a:spLocks noGrp="1"/>
          </p:cNvSpPr>
          <p:nvPr>
            <p:ph type="title"/>
          </p:nvPr>
        </p:nvSpPr>
        <p:spPr>
          <a:xfrm>
            <a:off x="252413" y="136525"/>
            <a:ext cx="8858250"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Software Engineering Problem</a:t>
            </a:r>
            <a:endParaRPr lang="en-US" altLang="en-US" kern="1200" dirty="0">
              <a:latin typeface="Arial Rounded MT Bold" panose="020F0704030504030204" pitchFamily="34" charset="0"/>
              <a:ea typeface="+mj-ea"/>
              <a:cs typeface="+mj-cs"/>
            </a:endParaRPr>
          </a:p>
        </p:txBody>
      </p:sp>
      <p:sp>
        <p:nvSpPr>
          <p:cNvPr id="20" name="Content Placeholder 19"/>
          <p:cNvSpPr>
            <a:spLocks noGrp="1"/>
          </p:cNvSpPr>
          <p:nvPr>
            <p:ph idx="1"/>
          </p:nvPr>
        </p:nvSpPr>
        <p:spPr>
          <a:xfrm>
            <a:off x="312738" y="1600200"/>
            <a:ext cx="8831263" cy="2100263"/>
          </a:xfrm>
        </p:spPr>
        <p:txBody>
          <a:bodyPr vert="horz" wrap="square" lIns="91440" tIns="45720" rIns="91440" bIns="45720" numCol="1" anchor="t" anchorCtr="0" compatLnSpc="1">
            <a:normAutofit fontScale="92500"/>
          </a:bodyPr>
          <a:lstStyle/>
          <a:p>
            <a:pPr marL="342900" marR="0" lvl="0" indent="-342900" algn="l" defTabSz="914400" rtl="0" eaLnBrk="1" fontAlgn="base" latinLnBrk="0" hangingPunct="1">
              <a:lnSpc>
                <a:spcPct val="100000"/>
              </a:lnSpc>
              <a:spcBef>
                <a:spcPts val="12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rgbClr val="C00000"/>
                </a:solidFill>
                <a:effectLst/>
                <a:uLnTx/>
                <a:uFillTx/>
                <a:latin typeface="Calibri" panose="020F0502020204030204" pitchFamily="34" charset="0"/>
                <a:ea typeface="+mn-ea"/>
                <a:cs typeface="Calibri" panose="020F0502020204030204" pitchFamily="34" charset="0"/>
              </a:rPr>
              <a:t>User</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has business goals in the problem domain</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base" latinLnBrk="0" hangingPunct="1">
              <a:lnSpc>
                <a:spcPct val="100000"/>
              </a:lnSpc>
              <a:spcBef>
                <a:spcPts val="12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rgbClr val="C00000"/>
                </a:solidFill>
                <a:effectLst/>
                <a:uLnTx/>
                <a:uFillTx/>
                <a:latin typeface="Calibri" panose="020F0502020204030204" pitchFamily="34" charset="0"/>
                <a:ea typeface="+mn-ea"/>
                <a:cs typeface="Calibri" panose="020F0502020204030204" pitchFamily="34" charset="0"/>
              </a:rPr>
              <a:t>System-to-be</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will help the user achieve these goals</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base" latinLnBrk="0" hangingPunct="1">
              <a:lnSpc>
                <a:spcPct val="100000"/>
              </a:lnSpc>
              <a:spcBef>
                <a:spcPts val="12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rgbClr val="C00000"/>
                </a:solidFill>
                <a:effectLst/>
                <a:uLnTx/>
                <a:uFillTx/>
                <a:latin typeface="Calibri" panose="020F0502020204030204" pitchFamily="34" charset="0"/>
                <a:ea typeface="+mn-ea"/>
                <a:cs typeface="Calibri" panose="020F0502020204030204" pitchFamily="34" charset="0"/>
              </a:rPr>
              <a:t>Problem domain </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can be </a:t>
            </a:r>
            <a:r>
              <a:rPr kumimoji="0" lang="en-US" sz="3200" b="0" i="1"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imagined</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or </a:t>
            </a:r>
            <a:r>
              <a:rPr kumimoji="0" lang="en-US" sz="3200" b="0" i="1"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physical world</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7172" name="Rectangle 6"/>
          <p:cNvSpPr>
            <a:spLocks noChangeAspect="1"/>
          </p:cNvSpPr>
          <p:nvPr/>
        </p:nvSpPr>
        <p:spPr>
          <a:xfrm>
            <a:off x="2090738" y="4021138"/>
            <a:ext cx="1050925" cy="669925"/>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nvGrpSpPr>
          <p:cNvPr id="7173" name="Group 7"/>
          <p:cNvGrpSpPr>
            <a:grpSpLocks noChangeAspect="1"/>
          </p:cNvGrpSpPr>
          <p:nvPr/>
        </p:nvGrpSpPr>
        <p:grpSpPr>
          <a:xfrm>
            <a:off x="700088" y="3827463"/>
            <a:ext cx="527050" cy="1060450"/>
            <a:chOff x="4713" y="1095"/>
            <a:chExt cx="251" cy="501"/>
          </a:xfrm>
        </p:grpSpPr>
        <p:sp>
          <p:nvSpPr>
            <p:cNvPr id="7187" name="Freeform 8"/>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7188" name="Oval 9"/>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
        <p:nvSpPr>
          <p:cNvPr id="7174" name="Text Box 10"/>
          <p:cNvSpPr txBox="1">
            <a:spLocks noChangeAspect="1"/>
          </p:cNvSpPr>
          <p:nvPr/>
        </p:nvSpPr>
        <p:spPr>
          <a:xfrm>
            <a:off x="774700" y="4989513"/>
            <a:ext cx="377825" cy="215900"/>
          </a:xfrm>
          <a:prstGeom prst="rect">
            <a:avLst/>
          </a:prstGeom>
          <a:noFill/>
          <a:ln w="9525">
            <a:noFill/>
          </a:ln>
        </p:spPr>
        <p:txBody>
          <a:bodyPr wrap="none" lIns="0" tIns="0" rIns="0" bIns="0">
            <a:spAutoFit/>
          </a:bodyPr>
          <a:p>
            <a:pPr algn="ctr" eaLnBrk="1" hangingPunct="1"/>
            <a:r>
              <a:rPr lang="en-US" altLang="en-US" sz="1400" dirty="0">
                <a:latin typeface="Arial" panose="020B0604020202020204" pitchFamily="34" charset="0"/>
              </a:rPr>
              <a:t>User</a:t>
            </a:r>
            <a:endParaRPr lang="en-US" altLang="en-US" sz="1400" dirty="0">
              <a:latin typeface="Arial" panose="020B0604020202020204" pitchFamily="34" charset="0"/>
            </a:endParaRPr>
          </a:p>
        </p:txBody>
      </p:sp>
      <p:sp>
        <p:nvSpPr>
          <p:cNvPr id="7175" name="Text Box 11"/>
          <p:cNvSpPr txBox="1">
            <a:spLocks noChangeAspect="1"/>
          </p:cNvSpPr>
          <p:nvPr/>
        </p:nvSpPr>
        <p:spPr>
          <a:xfrm>
            <a:off x="2082800" y="3733800"/>
            <a:ext cx="1065213" cy="215900"/>
          </a:xfrm>
          <a:prstGeom prst="rect">
            <a:avLst/>
          </a:prstGeom>
          <a:noFill/>
          <a:ln w="9525">
            <a:noFill/>
          </a:ln>
        </p:spPr>
        <p:txBody>
          <a:bodyPr wrap="none" lIns="0" tIns="0" rIns="0" bIns="0">
            <a:spAutoFit/>
          </a:bodyPr>
          <a:p>
            <a:pPr algn="ctr" eaLnBrk="1" hangingPunct="1"/>
            <a:r>
              <a:rPr lang="en-US" altLang="en-US" sz="1400" dirty="0">
                <a:latin typeface="Arial" panose="020B0604020202020204" pitchFamily="34" charset="0"/>
              </a:rPr>
              <a:t>System-to-be</a:t>
            </a:r>
            <a:endParaRPr lang="en-US" altLang="en-US" sz="1400" dirty="0">
              <a:latin typeface="Arial" panose="020B0604020202020204" pitchFamily="34" charset="0"/>
            </a:endParaRPr>
          </a:p>
        </p:txBody>
      </p:sp>
      <p:grpSp>
        <p:nvGrpSpPr>
          <p:cNvPr id="7176" name="Group 24"/>
          <p:cNvGrpSpPr>
            <a:grpSpLocks noChangeAspect="1"/>
          </p:cNvGrpSpPr>
          <p:nvPr/>
        </p:nvGrpSpPr>
        <p:grpSpPr>
          <a:xfrm>
            <a:off x="1319213" y="4148138"/>
            <a:ext cx="625475" cy="412750"/>
            <a:chOff x="2720" y="2068"/>
            <a:chExt cx="563" cy="478"/>
          </a:xfrm>
        </p:grpSpPr>
        <p:sp>
          <p:nvSpPr>
            <p:cNvPr id="7185" name="Line 25"/>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7186" name="Line 26"/>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sp>
        <p:nvSpPr>
          <p:cNvPr id="7177" name="Freeform 12"/>
          <p:cNvSpPr>
            <a:spLocks noChangeAspect="1"/>
          </p:cNvSpPr>
          <p:nvPr/>
        </p:nvSpPr>
        <p:spPr>
          <a:xfrm>
            <a:off x="1941513" y="5627688"/>
            <a:ext cx="1349375" cy="768350"/>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7178" name="Text Box 11"/>
          <p:cNvSpPr txBox="1">
            <a:spLocks noChangeAspect="1"/>
          </p:cNvSpPr>
          <p:nvPr/>
        </p:nvSpPr>
        <p:spPr>
          <a:xfrm>
            <a:off x="1939925" y="6427788"/>
            <a:ext cx="1333500" cy="215900"/>
          </a:xfrm>
          <a:prstGeom prst="rect">
            <a:avLst/>
          </a:prstGeom>
          <a:noFill/>
          <a:ln w="9525">
            <a:noFill/>
          </a:ln>
        </p:spPr>
        <p:txBody>
          <a:bodyPr wrap="none" lIns="0" tIns="0" rIns="0" bIns="0">
            <a:spAutoFit/>
          </a:bodyPr>
          <a:p>
            <a:pPr algn="ctr" eaLnBrk="1" hangingPunct="1"/>
            <a:r>
              <a:rPr lang="en-US" altLang="en-US" sz="1400" dirty="0">
                <a:latin typeface="Arial" panose="020B0604020202020204" pitchFamily="34" charset="0"/>
              </a:rPr>
              <a:t>Problem Domain</a:t>
            </a:r>
            <a:endParaRPr lang="en-US" altLang="en-US" sz="1400" dirty="0">
              <a:latin typeface="Arial" panose="020B0604020202020204" pitchFamily="34" charset="0"/>
            </a:endParaRPr>
          </a:p>
        </p:txBody>
      </p:sp>
      <p:grpSp>
        <p:nvGrpSpPr>
          <p:cNvPr id="7179" name="Group 24"/>
          <p:cNvGrpSpPr>
            <a:grpSpLocks noChangeAspect="1"/>
          </p:cNvGrpSpPr>
          <p:nvPr/>
        </p:nvGrpSpPr>
        <p:grpSpPr>
          <a:xfrm rot="-5400000" flipH="1">
            <a:off x="2303463" y="4953000"/>
            <a:ext cx="625475" cy="412750"/>
            <a:chOff x="2720" y="2068"/>
            <a:chExt cx="563" cy="478"/>
          </a:xfrm>
        </p:grpSpPr>
        <p:sp>
          <p:nvSpPr>
            <p:cNvPr id="7183" name="Line 25"/>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7184" name="Line 26"/>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cxnSp>
        <p:nvCxnSpPr>
          <p:cNvPr id="7180" name="Straight Arrow Connector 21"/>
          <p:cNvCxnSpPr/>
          <p:nvPr/>
        </p:nvCxnSpPr>
        <p:spPr>
          <a:xfrm>
            <a:off x="1384300" y="5097463"/>
            <a:ext cx="477838" cy="646112"/>
          </a:xfrm>
          <a:prstGeom prst="straightConnector1">
            <a:avLst/>
          </a:prstGeom>
          <a:ln w="12700" cap="flat" cmpd="sng">
            <a:solidFill>
              <a:schemeClr val="tx1"/>
            </a:solidFill>
            <a:prstDash val="dash"/>
            <a:headEnd type="none" w="med" len="med"/>
            <a:tailEnd type="triangle" w="lg" len="med"/>
          </a:ln>
        </p:spPr>
      </p:cxnSp>
      <p:sp>
        <p:nvSpPr>
          <p:cNvPr id="23" name="Text Box 10"/>
          <p:cNvSpPr txBox="1">
            <a:spLocks noChangeAspect="1" noChangeArrowheads="1"/>
          </p:cNvSpPr>
          <p:nvPr/>
        </p:nvSpPr>
        <p:spPr bwMode="auto">
          <a:xfrm>
            <a:off x="5016500" y="3733800"/>
            <a:ext cx="3940175" cy="1436688"/>
          </a:xfrm>
          <a:prstGeom prst="rect">
            <a:avLst/>
          </a:prstGeom>
          <a:noFill/>
          <a:ln>
            <a:noFill/>
          </a:ln>
          <a:effectLst/>
        </p:spPr>
        <p:txBody>
          <a:bodyPr>
            <a:normAutofit fontScale="92500" lnSpcReduction="10000"/>
          </a:bodyPr>
          <a:lstStyle>
            <a:lvl1pPr marL="342900" indent="-342900" eaLnBrk="1" hangingPunct="1">
              <a:spcBef>
                <a:spcPts val="1200"/>
              </a:spcBef>
              <a:buClr>
                <a:srgbClr val="800000"/>
              </a:buClr>
              <a:buFont typeface="Wingdings" panose="05000000000000000000" pitchFamily="2" charset="2"/>
              <a:buChar char="q"/>
              <a:defRPr sz="3200">
                <a:solidFill>
                  <a:srgbClr val="C00000"/>
                </a:solidFill>
                <a:latin typeface="AvantGarde Bk BT" pitchFamily="34" charset="0"/>
                <a:cs typeface="+mn-cs"/>
              </a:defRPr>
            </a:lvl1pPr>
            <a:lvl2pPr marL="742950" indent="-285750">
              <a:spcBef>
                <a:spcPct val="20000"/>
              </a:spcBef>
              <a:buChar char="–"/>
              <a:defRPr sz="2800">
                <a:cs typeface="+mn-cs"/>
              </a:defRPr>
            </a:lvl2pPr>
            <a:lvl3pPr marL="1143000" indent="-228600">
              <a:spcBef>
                <a:spcPct val="20000"/>
              </a:spcBef>
              <a:buChar char="•"/>
              <a:defRPr sz="2400">
                <a:cs typeface="+mn-cs"/>
              </a:defRPr>
            </a:lvl3pPr>
            <a:lvl4pPr marL="1600200" indent="-228600">
              <a:spcBef>
                <a:spcPct val="20000"/>
              </a:spcBef>
              <a:buChar char="–"/>
              <a:defRPr sz="2000">
                <a:latin typeface="Times New Roman" panose="02020603050405020304" pitchFamily="18" charset="0"/>
                <a:cs typeface="Times New Roman" panose="02020603050405020304" pitchFamily="18" charset="0"/>
              </a:defRPr>
            </a:lvl4pPr>
            <a:lvl5pPr marL="2057400" indent="-228600">
              <a:spcBef>
                <a:spcPct val="20000"/>
              </a:spcBef>
              <a:buChar char="»"/>
              <a:defRPr sz="2000">
                <a:latin typeface="Times New Roman" panose="02020603050405020304" pitchFamily="18" charset="0"/>
                <a:cs typeface="Times New Roman" panose="02020603050405020304" pitchFamily="18"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342900" marR="0" lvl="0" indent="-342900" algn="l" defTabSz="914400" rtl="0" eaLnBrk="1" fontAlgn="base" latinLnBrk="0" hangingPunct="1">
              <a:lnSpc>
                <a:spcPct val="100000"/>
              </a:lnSpc>
              <a:spcBef>
                <a:spcPts val="1200"/>
              </a:spcBef>
              <a:spcAft>
                <a:spcPct val="0"/>
              </a:spcAft>
              <a:buClr>
                <a:srgbClr val="800000"/>
              </a:buClr>
              <a:buSzTx/>
              <a:buFont typeface="Wingdings" panose="05000000000000000000" pitchFamily="2" charset="2"/>
              <a:buChar char="q"/>
              <a:defRPr/>
            </a:pPr>
            <a:r>
              <a:rPr kumimoji="0" lang="en-US" altLang="en-US" sz="3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User’s business goals determine the system requirements</a:t>
            </a:r>
            <a:endParaRPr kumimoji="0" lang="en-US" altLang="en-US" sz="3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7182" name="Text Box 11"/>
          <p:cNvSpPr txBox="1">
            <a:spLocks noChangeAspect="1"/>
          </p:cNvSpPr>
          <p:nvPr/>
        </p:nvSpPr>
        <p:spPr>
          <a:xfrm>
            <a:off x="674688" y="5521325"/>
            <a:ext cx="955675" cy="200025"/>
          </a:xfrm>
          <a:prstGeom prst="rect">
            <a:avLst/>
          </a:prstGeom>
          <a:noFill/>
          <a:ln w="9525">
            <a:noFill/>
          </a:ln>
        </p:spPr>
        <p:txBody>
          <a:bodyPr wrap="none" lIns="0" tIns="0" rIns="0" bIns="0">
            <a:spAutoFit/>
          </a:bodyPr>
          <a:p>
            <a:pPr algn="r" eaLnBrk="1" hangingPunct="1"/>
            <a:r>
              <a:rPr lang="en-US" altLang="en-US" sz="1300" i="1" dirty="0">
                <a:latin typeface="Arial" panose="020B0604020202020204" pitchFamily="34" charset="0"/>
              </a:rPr>
              <a:t>Requirement</a:t>
            </a:r>
            <a:endParaRPr lang="en-US" altLang="en-US" sz="1300" i="1"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Oval 5"/>
          <p:cNvSpPr/>
          <p:nvPr/>
        </p:nvSpPr>
        <p:spPr>
          <a:xfrm>
            <a:off x="1566863" y="2500313"/>
            <a:ext cx="3806825" cy="1855787"/>
          </a:xfrm>
          <a:prstGeom prst="ellipse">
            <a:avLst/>
          </a:prstGeom>
          <a:solidFill>
            <a:srgbClr val="F1FCAE"/>
          </a:solidFill>
          <a:ln w="9525" cap="flat" cmpd="sng">
            <a:solidFill>
              <a:schemeClr val="tx1"/>
            </a:solidFill>
            <a:prstDash val="solid"/>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cxnSp>
        <p:nvCxnSpPr>
          <p:cNvPr id="29" name="Straight Connector 28"/>
          <p:cNvCxnSpPr/>
          <p:nvPr/>
        </p:nvCxnSpPr>
        <p:spPr>
          <a:xfrm flipH="1" flipV="1">
            <a:off x="3038475" y="4129088"/>
            <a:ext cx="371475" cy="314325"/>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sp>
        <p:nvSpPr>
          <p:cNvPr id="8196" name="Oval 7"/>
          <p:cNvSpPr/>
          <p:nvPr/>
        </p:nvSpPr>
        <p:spPr>
          <a:xfrm>
            <a:off x="4435475" y="2498725"/>
            <a:ext cx="3806825" cy="1855788"/>
          </a:xfrm>
          <a:prstGeom prst="ellipse">
            <a:avLst/>
          </a:prstGeom>
          <a:solidFill>
            <a:srgbClr val="FFFF99">
              <a:alpha val="59999"/>
            </a:srgbClr>
          </a:solidFill>
          <a:ln w="9525" cap="flat" cmpd="sng">
            <a:solidFill>
              <a:schemeClr val="tx1"/>
            </a:solidFill>
            <a:prstDash val="solid"/>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cxnSp>
        <p:nvCxnSpPr>
          <p:cNvPr id="31" name="Straight Connector 30"/>
          <p:cNvCxnSpPr/>
          <p:nvPr/>
        </p:nvCxnSpPr>
        <p:spPr>
          <a:xfrm flipH="1">
            <a:off x="6442075" y="4113213"/>
            <a:ext cx="341313" cy="29845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flipH="1" flipV="1">
            <a:off x="1905000" y="2800350"/>
            <a:ext cx="438150" cy="284163"/>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sp>
        <p:nvSpPr>
          <p:cNvPr id="8199" name="Rectangle 4"/>
          <p:cNvSpPr>
            <a:spLocks noGrp="1"/>
          </p:cNvSpPr>
          <p:nvPr>
            <p:ph type="title" idx="4294967295"/>
          </p:nvPr>
        </p:nvSpPr>
        <p:spPr/>
        <p:txBody>
          <a:bodyPr vert="horz" wrap="square" lIns="0" tIns="45720" rIns="0" bIns="45720" anchor="ctr" anchorCtr="0"/>
          <a:p>
            <a:pPr eaLnBrk="1" hangingPunct="1"/>
            <a:r>
              <a:rPr lang="en-US" altLang="en-US" dirty="0"/>
              <a:t>Requirements and Specification</a:t>
            </a:r>
            <a:endParaRPr lang="en-US" altLang="en-US" dirty="0"/>
          </a:p>
        </p:txBody>
      </p:sp>
      <p:sp>
        <p:nvSpPr>
          <p:cNvPr id="8200" name="Text Box 6"/>
          <p:cNvSpPr txBox="1">
            <a:spLocks noChangeAspect="1"/>
          </p:cNvSpPr>
          <p:nvPr/>
        </p:nvSpPr>
        <p:spPr>
          <a:xfrm flipH="1">
            <a:off x="1566863" y="1749425"/>
            <a:ext cx="2220912" cy="365125"/>
          </a:xfrm>
          <a:prstGeom prst="rect">
            <a:avLst/>
          </a:prstGeom>
          <a:noFill/>
          <a:ln w="9525">
            <a:noFill/>
          </a:ln>
        </p:spPr>
        <p:txBody>
          <a:bodyPr wrap="none" lIns="9144" tIns="0" rIns="9144" bIns="0">
            <a:spAutoFit/>
          </a:bodyPr>
          <a:p>
            <a:pPr eaLnBrk="1" hangingPunct="1"/>
            <a:r>
              <a:rPr lang="en-US" altLang="en-US" sz="2400" dirty="0">
                <a:latin typeface="Comic Sans MS" panose="030F0702030302020204" pitchFamily="66" charset="0"/>
              </a:rPr>
              <a:t>Problem domain</a:t>
            </a:r>
            <a:endParaRPr lang="en-US" altLang="en-US" sz="2400" dirty="0">
              <a:latin typeface="Comic Sans MS" panose="030F0702030302020204" pitchFamily="66" charset="0"/>
            </a:endParaRPr>
          </a:p>
        </p:txBody>
      </p:sp>
      <p:sp>
        <p:nvSpPr>
          <p:cNvPr id="8201" name="Text Box 8"/>
          <p:cNvSpPr txBox="1">
            <a:spLocks noChangeAspect="1"/>
          </p:cNvSpPr>
          <p:nvPr/>
        </p:nvSpPr>
        <p:spPr>
          <a:xfrm flipH="1">
            <a:off x="4565650" y="3160713"/>
            <a:ext cx="701675" cy="488950"/>
          </a:xfrm>
          <a:prstGeom prst="rect">
            <a:avLst/>
          </a:prstGeom>
          <a:noFill/>
          <a:ln w="9525">
            <a:noFill/>
          </a:ln>
        </p:spPr>
        <p:txBody>
          <a:bodyPr wrap="none" lIns="9144" tIns="0" rIns="9144" bIns="0">
            <a:spAutoFit/>
          </a:bodyPr>
          <a:p>
            <a:pPr eaLnBrk="1" hangingPunct="1"/>
            <a:r>
              <a:rPr lang="en-US" altLang="en-US" sz="1600" dirty="0">
                <a:latin typeface="Comic Sans MS" panose="030F0702030302020204" pitchFamily="66" charset="0"/>
              </a:rPr>
              <a:t>Specifi</a:t>
            </a:r>
            <a:br>
              <a:rPr lang="en-US" altLang="en-US" sz="1600" dirty="0">
                <a:latin typeface="Comic Sans MS" panose="030F0702030302020204" pitchFamily="66" charset="0"/>
              </a:rPr>
            </a:br>
            <a:r>
              <a:rPr lang="en-US" altLang="en-US" sz="1600" dirty="0">
                <a:latin typeface="Comic Sans MS" panose="030F0702030302020204" pitchFamily="66" charset="0"/>
              </a:rPr>
              <a:t>cation</a:t>
            </a:r>
            <a:endParaRPr lang="en-US" altLang="en-US" sz="1600" dirty="0">
              <a:latin typeface="Comic Sans MS" panose="030F0702030302020204" pitchFamily="66" charset="0"/>
            </a:endParaRPr>
          </a:p>
        </p:txBody>
      </p:sp>
      <p:grpSp>
        <p:nvGrpSpPr>
          <p:cNvPr id="8202" name="Group 9"/>
          <p:cNvGrpSpPr>
            <a:grpSpLocks noChangeAspect="1"/>
          </p:cNvGrpSpPr>
          <p:nvPr/>
        </p:nvGrpSpPr>
        <p:grpSpPr>
          <a:xfrm>
            <a:off x="4643438" y="4930775"/>
            <a:ext cx="520700" cy="1039813"/>
            <a:chOff x="4713" y="1095"/>
            <a:chExt cx="251" cy="501"/>
          </a:xfrm>
        </p:grpSpPr>
        <p:sp>
          <p:nvSpPr>
            <p:cNvPr id="8220" name="Freeform 10"/>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8221" name="Oval 11"/>
            <p:cNvSpPr>
              <a:spLocks noChangeAspect="1"/>
            </p:cNvSpPr>
            <p:nvPr/>
          </p:nvSpPr>
          <p:spPr>
            <a:xfrm>
              <a:off x="4788" y="1095"/>
              <a:ext cx="100" cy="100"/>
            </a:xfrm>
            <a:prstGeom prst="ellipse">
              <a:avLst/>
            </a:prstGeom>
            <a:solidFill>
              <a:schemeClr val="bg1"/>
            </a:solidFill>
            <a:ln w="635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8203" name="Group 12"/>
          <p:cNvGrpSpPr/>
          <p:nvPr/>
        </p:nvGrpSpPr>
        <p:grpSpPr>
          <a:xfrm>
            <a:off x="855663" y="2255838"/>
            <a:ext cx="438150" cy="1108075"/>
            <a:chOff x="4569" y="1520"/>
            <a:chExt cx="276" cy="698"/>
          </a:xfrm>
        </p:grpSpPr>
        <p:sp>
          <p:nvSpPr>
            <p:cNvPr id="8218" name="Oval 13"/>
            <p:cNvSpPr>
              <a:spLocks noChangeAspect="1"/>
            </p:cNvSpPr>
            <p:nvPr/>
          </p:nvSpPr>
          <p:spPr>
            <a:xfrm>
              <a:off x="4646" y="1520"/>
              <a:ext cx="122" cy="129"/>
            </a:xfrm>
            <a:prstGeom prst="ellipse">
              <a:avLst/>
            </a:prstGeom>
            <a:solidFill>
              <a:schemeClr val="bg1"/>
            </a:solidFill>
            <a:ln w="635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8219" name="Freeform 14"/>
            <p:cNvSpPr>
              <a:spLocks noChangeAspect="1"/>
            </p:cNvSpPr>
            <p:nvPr/>
          </p:nvSpPr>
          <p:spPr>
            <a:xfrm>
              <a:off x="4569" y="1667"/>
              <a:ext cx="276" cy="551"/>
            </a:xfrm>
            <a:custGeom>
              <a:avLst/>
              <a:gdLst>
                <a:gd name="txL" fmla="*/ 0 w 1101"/>
                <a:gd name="txT" fmla="*/ 0 h 2202"/>
                <a:gd name="txR" fmla="*/ 1101 w 1101"/>
                <a:gd name="txB" fmla="*/ 2202 h 22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1" h="2202">
                  <a:moveTo>
                    <a:pt x="88" y="2"/>
                  </a:moveTo>
                  <a:cubicBezTo>
                    <a:pt x="40" y="2"/>
                    <a:pt x="0" y="47"/>
                    <a:pt x="0" y="93"/>
                  </a:cubicBezTo>
                  <a:lnTo>
                    <a:pt x="0" y="960"/>
                  </a:lnTo>
                  <a:cubicBezTo>
                    <a:pt x="18" y="1079"/>
                    <a:pt x="165" y="1053"/>
                    <a:pt x="165" y="960"/>
                  </a:cubicBezTo>
                  <a:lnTo>
                    <a:pt x="163" y="224"/>
                  </a:lnTo>
                  <a:cubicBezTo>
                    <a:pt x="163" y="185"/>
                    <a:pt x="216" y="185"/>
                    <a:pt x="216" y="222"/>
                  </a:cubicBezTo>
                  <a:lnTo>
                    <a:pt x="216" y="2016"/>
                  </a:lnTo>
                  <a:cubicBezTo>
                    <a:pt x="216" y="2192"/>
                    <a:pt x="490" y="2202"/>
                    <a:pt x="490" y="2015"/>
                  </a:cubicBezTo>
                  <a:lnTo>
                    <a:pt x="490" y="1071"/>
                  </a:lnTo>
                  <a:cubicBezTo>
                    <a:pt x="502" y="987"/>
                    <a:pt x="600" y="998"/>
                    <a:pt x="607" y="1070"/>
                  </a:cubicBezTo>
                  <a:lnTo>
                    <a:pt x="607" y="2015"/>
                  </a:lnTo>
                  <a:cubicBezTo>
                    <a:pt x="607" y="2198"/>
                    <a:pt x="879" y="2198"/>
                    <a:pt x="879" y="2013"/>
                  </a:cubicBezTo>
                  <a:lnTo>
                    <a:pt x="877" y="222"/>
                  </a:lnTo>
                  <a:cubicBezTo>
                    <a:pt x="877" y="185"/>
                    <a:pt x="934" y="185"/>
                    <a:pt x="934" y="222"/>
                  </a:cubicBezTo>
                  <a:lnTo>
                    <a:pt x="934" y="960"/>
                  </a:lnTo>
                  <a:cubicBezTo>
                    <a:pt x="954" y="1076"/>
                    <a:pt x="1089" y="1058"/>
                    <a:pt x="1101" y="962"/>
                  </a:cubicBezTo>
                  <a:lnTo>
                    <a:pt x="1101" y="93"/>
                  </a:lnTo>
                  <a:cubicBezTo>
                    <a:pt x="1101" y="27"/>
                    <a:pt x="1044" y="0"/>
                    <a:pt x="1011" y="2"/>
                  </a:cubicBezTo>
                  <a:lnTo>
                    <a:pt x="88" y="2"/>
                  </a:lnTo>
                  <a:close/>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grpSp>
      <p:sp>
        <p:nvSpPr>
          <p:cNvPr id="8204" name="Text Box 16"/>
          <p:cNvSpPr txBox="1">
            <a:spLocks noChangeAspect="1"/>
          </p:cNvSpPr>
          <p:nvPr/>
        </p:nvSpPr>
        <p:spPr>
          <a:xfrm flipH="1">
            <a:off x="730250" y="3435350"/>
            <a:ext cx="692150" cy="182563"/>
          </a:xfrm>
          <a:prstGeom prst="rect">
            <a:avLst/>
          </a:prstGeom>
          <a:noFill/>
          <a:ln w="9525">
            <a:noFill/>
          </a:ln>
        </p:spPr>
        <p:txBody>
          <a:bodyPr wrap="none" lIns="9144" tIns="0" rIns="9144" bIns="0">
            <a:spAutoFit/>
          </a:bodyPr>
          <a:p>
            <a:pPr algn="ctr" eaLnBrk="1" hangingPunct="1"/>
            <a:r>
              <a:rPr lang="en-US" altLang="en-US" sz="1200" dirty="0">
                <a:latin typeface="Comic Sans MS" panose="030F0702030302020204" pitchFamily="66" charset="0"/>
              </a:rPr>
              <a:t>Customer</a:t>
            </a:r>
            <a:endParaRPr lang="en-US" altLang="en-US" sz="1200" dirty="0">
              <a:latin typeface="Comic Sans MS" panose="030F0702030302020204" pitchFamily="66" charset="0"/>
            </a:endParaRPr>
          </a:p>
        </p:txBody>
      </p:sp>
      <p:sp>
        <p:nvSpPr>
          <p:cNvPr id="8205" name="Text Box 17"/>
          <p:cNvSpPr txBox="1">
            <a:spLocks noChangeAspect="1"/>
          </p:cNvSpPr>
          <p:nvPr/>
        </p:nvSpPr>
        <p:spPr>
          <a:xfrm flipH="1">
            <a:off x="4227513" y="6070600"/>
            <a:ext cx="1358900" cy="182563"/>
          </a:xfrm>
          <a:prstGeom prst="rect">
            <a:avLst/>
          </a:prstGeom>
          <a:noFill/>
          <a:ln w="9525">
            <a:noFill/>
          </a:ln>
        </p:spPr>
        <p:txBody>
          <a:bodyPr wrap="none" lIns="9144" tIns="0" rIns="9144" bIns="0">
            <a:spAutoFit/>
          </a:bodyPr>
          <a:p>
            <a:pPr algn="ctr" eaLnBrk="1" hangingPunct="1"/>
            <a:r>
              <a:rPr lang="en-US" altLang="en-US" sz="1200" dirty="0">
                <a:latin typeface="Comic Sans MS" panose="030F0702030302020204" pitchFamily="66" charset="0"/>
              </a:rPr>
              <a:t>Software Engineer</a:t>
            </a:r>
            <a:endParaRPr lang="en-US" altLang="en-US" sz="1200" dirty="0">
              <a:latin typeface="Comic Sans MS" panose="030F0702030302020204" pitchFamily="66" charset="0"/>
            </a:endParaRPr>
          </a:p>
        </p:txBody>
      </p:sp>
      <p:sp>
        <p:nvSpPr>
          <p:cNvPr id="8206" name="Line 22"/>
          <p:cNvSpPr/>
          <p:nvPr/>
        </p:nvSpPr>
        <p:spPr>
          <a:xfrm>
            <a:off x="1395413" y="2463800"/>
            <a:ext cx="1079500" cy="704850"/>
          </a:xfrm>
          <a:prstGeom prst="line">
            <a:avLst/>
          </a:prstGeom>
          <a:ln w="57150" cap="flat" cmpd="sng">
            <a:solidFill>
              <a:schemeClr val="tx1"/>
            </a:solidFill>
            <a:prstDash val="solid"/>
            <a:headEnd type="none" w="med" len="med"/>
            <a:tailEnd type="stealth" w="lg" len="lg"/>
          </a:ln>
        </p:spPr>
      </p:sp>
      <p:sp>
        <p:nvSpPr>
          <p:cNvPr id="8207" name="Text Box 15"/>
          <p:cNvSpPr txBox="1">
            <a:spLocks noChangeAspect="1"/>
          </p:cNvSpPr>
          <p:nvPr/>
        </p:nvSpPr>
        <p:spPr>
          <a:xfrm flipH="1">
            <a:off x="1408113" y="2595563"/>
            <a:ext cx="693737" cy="182562"/>
          </a:xfrm>
          <a:prstGeom prst="rect">
            <a:avLst/>
          </a:prstGeom>
          <a:solidFill>
            <a:schemeClr val="bg1"/>
          </a:solidFill>
          <a:ln w="9525">
            <a:noFill/>
          </a:ln>
        </p:spPr>
        <p:txBody>
          <a:bodyPr wrap="none" lIns="9144" tIns="0" rIns="9144" bIns="0">
            <a:spAutoFit/>
          </a:bodyPr>
          <a:p>
            <a:pPr eaLnBrk="1" hangingPunct="1"/>
            <a:r>
              <a:rPr lang="en-US" altLang="en-US" sz="1200" dirty="0">
                <a:latin typeface="Arial" panose="020B0604020202020204" pitchFamily="34" charset="0"/>
              </a:rPr>
              <a:t>Describes</a:t>
            </a:r>
            <a:endParaRPr lang="en-US" altLang="en-US" sz="1200" dirty="0">
              <a:latin typeface="Arial" panose="020B0604020202020204" pitchFamily="34" charset="0"/>
            </a:endParaRPr>
          </a:p>
        </p:txBody>
      </p:sp>
      <p:sp>
        <p:nvSpPr>
          <p:cNvPr id="8208" name="Text Box 23"/>
          <p:cNvSpPr txBox="1">
            <a:spLocks noChangeAspect="1"/>
          </p:cNvSpPr>
          <p:nvPr/>
        </p:nvSpPr>
        <p:spPr>
          <a:xfrm flipH="1">
            <a:off x="2532063" y="3282950"/>
            <a:ext cx="1304925" cy="244475"/>
          </a:xfrm>
          <a:prstGeom prst="rect">
            <a:avLst/>
          </a:prstGeom>
          <a:noFill/>
          <a:ln w="9525">
            <a:noFill/>
          </a:ln>
        </p:spPr>
        <p:txBody>
          <a:bodyPr wrap="none" lIns="9144" tIns="0" rIns="9144" bIns="0">
            <a:spAutoFit/>
          </a:bodyPr>
          <a:p>
            <a:pPr eaLnBrk="1" hangingPunct="1"/>
            <a:r>
              <a:rPr lang="en-US" altLang="en-US" sz="1600" dirty="0">
                <a:latin typeface="Comic Sans MS" panose="030F0702030302020204" pitchFamily="66" charset="0"/>
              </a:rPr>
              <a:t>Requirements</a:t>
            </a:r>
            <a:endParaRPr lang="en-US" altLang="en-US" sz="1600" dirty="0">
              <a:latin typeface="Comic Sans MS" panose="030F0702030302020204" pitchFamily="66" charset="0"/>
            </a:endParaRPr>
          </a:p>
        </p:txBody>
      </p:sp>
      <p:sp>
        <p:nvSpPr>
          <p:cNvPr id="8209" name="Text Box 24"/>
          <p:cNvSpPr txBox="1">
            <a:spLocks noChangeAspect="1"/>
          </p:cNvSpPr>
          <p:nvPr/>
        </p:nvSpPr>
        <p:spPr>
          <a:xfrm flipH="1">
            <a:off x="5886450" y="3282950"/>
            <a:ext cx="1735138" cy="246063"/>
          </a:xfrm>
          <a:prstGeom prst="rect">
            <a:avLst/>
          </a:prstGeom>
          <a:noFill/>
          <a:ln w="9525">
            <a:noFill/>
          </a:ln>
        </p:spPr>
        <p:txBody>
          <a:bodyPr wrap="none" lIns="9144" tIns="0" rIns="9144" bIns="0">
            <a:spAutoFit/>
          </a:bodyPr>
          <a:p>
            <a:pPr algn="ctr" eaLnBrk="1" hangingPunct="1"/>
            <a:r>
              <a:rPr lang="en-US" altLang="en-US" sz="1600" dirty="0">
                <a:latin typeface="Comic Sans MS" panose="030F0702030302020204" pitchFamily="66" charset="0"/>
              </a:rPr>
              <a:t>Program (System)</a:t>
            </a:r>
            <a:endParaRPr lang="en-US" altLang="en-US" sz="1600" dirty="0">
              <a:latin typeface="Comic Sans MS" panose="030F0702030302020204" pitchFamily="66" charset="0"/>
            </a:endParaRPr>
          </a:p>
        </p:txBody>
      </p:sp>
      <p:sp>
        <p:nvSpPr>
          <p:cNvPr id="8210" name="Text Box 25"/>
          <p:cNvSpPr txBox="1">
            <a:spLocks noChangeAspect="1"/>
          </p:cNvSpPr>
          <p:nvPr/>
        </p:nvSpPr>
        <p:spPr>
          <a:xfrm flipH="1">
            <a:off x="4333875" y="1749425"/>
            <a:ext cx="3910013" cy="365125"/>
          </a:xfrm>
          <a:prstGeom prst="rect">
            <a:avLst/>
          </a:prstGeom>
          <a:noFill/>
          <a:ln w="9525">
            <a:noFill/>
          </a:ln>
        </p:spPr>
        <p:txBody>
          <a:bodyPr wrap="none" lIns="9144" tIns="0" rIns="9144" bIns="0">
            <a:spAutoFit/>
          </a:bodyPr>
          <a:p>
            <a:pPr algn="r" eaLnBrk="1" hangingPunct="1"/>
            <a:r>
              <a:rPr lang="en-US" altLang="en-US" sz="2400" dirty="0">
                <a:latin typeface="Comic Sans MS" panose="030F0702030302020204" pitchFamily="66" charset="0"/>
              </a:rPr>
              <a:t>Software (Solution) domain</a:t>
            </a:r>
            <a:endParaRPr lang="en-US" altLang="en-US" sz="2400" dirty="0">
              <a:latin typeface="Comic Sans MS" panose="030F0702030302020204" pitchFamily="66" charset="0"/>
            </a:endParaRPr>
          </a:p>
        </p:txBody>
      </p:sp>
      <p:sp>
        <p:nvSpPr>
          <p:cNvPr id="8211" name="Line 20"/>
          <p:cNvSpPr/>
          <p:nvPr/>
        </p:nvSpPr>
        <p:spPr>
          <a:xfrm flipH="1" flipV="1">
            <a:off x="2924175" y="4035425"/>
            <a:ext cx="1328738" cy="1116013"/>
          </a:xfrm>
          <a:prstGeom prst="line">
            <a:avLst/>
          </a:prstGeom>
          <a:ln w="57150" cap="flat" cmpd="sng">
            <a:solidFill>
              <a:schemeClr val="tx1"/>
            </a:solidFill>
            <a:prstDash val="solid"/>
            <a:headEnd type="none" w="med" len="med"/>
            <a:tailEnd type="stealth" w="lg" len="lg"/>
          </a:ln>
        </p:spPr>
      </p:sp>
      <p:sp>
        <p:nvSpPr>
          <p:cNvPr id="8212" name="Line 27"/>
          <p:cNvSpPr/>
          <p:nvPr/>
        </p:nvSpPr>
        <p:spPr>
          <a:xfrm flipV="1">
            <a:off x="5556250" y="4035425"/>
            <a:ext cx="1328738" cy="1116013"/>
          </a:xfrm>
          <a:prstGeom prst="line">
            <a:avLst/>
          </a:prstGeom>
          <a:ln w="57150" cap="flat" cmpd="sng">
            <a:solidFill>
              <a:schemeClr val="tx1"/>
            </a:solidFill>
            <a:prstDash val="solid"/>
            <a:headEnd type="none" w="med" len="med"/>
            <a:tailEnd type="stealth" w="lg" len="lg"/>
          </a:ln>
        </p:spPr>
      </p:sp>
      <p:sp>
        <p:nvSpPr>
          <p:cNvPr id="8213" name="Text Box 18"/>
          <p:cNvSpPr txBox="1">
            <a:spLocks noChangeAspect="1"/>
          </p:cNvSpPr>
          <p:nvPr/>
        </p:nvSpPr>
        <p:spPr>
          <a:xfrm flipH="1">
            <a:off x="3530600" y="4772025"/>
            <a:ext cx="635000" cy="182563"/>
          </a:xfrm>
          <a:prstGeom prst="rect">
            <a:avLst/>
          </a:prstGeom>
          <a:solidFill>
            <a:schemeClr val="bg1"/>
          </a:solidFill>
          <a:ln w="9525">
            <a:noFill/>
          </a:ln>
        </p:spPr>
        <p:txBody>
          <a:bodyPr wrap="none" lIns="9144" tIns="0" rIns="9144" bIns="0">
            <a:spAutoFit/>
          </a:bodyPr>
          <a:p>
            <a:pPr eaLnBrk="1" hangingPunct="1"/>
            <a:r>
              <a:rPr lang="en-US" altLang="en-US" sz="1200" dirty="0">
                <a:latin typeface="Arial" panose="020B0604020202020204" pitchFamily="34" charset="0"/>
              </a:rPr>
              <a:t>Analyzes</a:t>
            </a:r>
            <a:endParaRPr lang="en-US" altLang="en-US" sz="1200" dirty="0">
              <a:latin typeface="Arial" panose="020B0604020202020204" pitchFamily="34" charset="0"/>
            </a:endParaRPr>
          </a:p>
        </p:txBody>
      </p:sp>
      <p:sp>
        <p:nvSpPr>
          <p:cNvPr id="8214" name="Text Box 29"/>
          <p:cNvSpPr txBox="1">
            <a:spLocks noChangeAspect="1"/>
          </p:cNvSpPr>
          <p:nvPr/>
        </p:nvSpPr>
        <p:spPr>
          <a:xfrm flipH="1">
            <a:off x="5680075" y="4772025"/>
            <a:ext cx="650875" cy="182563"/>
          </a:xfrm>
          <a:prstGeom prst="rect">
            <a:avLst/>
          </a:prstGeom>
          <a:solidFill>
            <a:schemeClr val="bg1"/>
          </a:solidFill>
          <a:ln w="9525">
            <a:noFill/>
          </a:ln>
        </p:spPr>
        <p:txBody>
          <a:bodyPr wrap="none" lIns="9144" tIns="0" rIns="9144" bIns="0">
            <a:spAutoFit/>
          </a:bodyPr>
          <a:p>
            <a:pPr eaLnBrk="1" hangingPunct="1"/>
            <a:r>
              <a:rPr lang="en-US" altLang="en-US" sz="1200" dirty="0">
                <a:latin typeface="Arial" panose="020B0604020202020204" pitchFamily="34" charset="0"/>
              </a:rPr>
              <a:t>Develops</a:t>
            </a:r>
            <a:endParaRPr lang="en-US" altLang="en-US" sz="1200" dirty="0">
              <a:latin typeface="Arial" panose="020B0604020202020204" pitchFamily="34" charset="0"/>
            </a:endParaRPr>
          </a:p>
        </p:txBody>
      </p:sp>
      <p:cxnSp>
        <p:nvCxnSpPr>
          <p:cNvPr id="30" name="Straight Connector 29"/>
          <p:cNvCxnSpPr/>
          <p:nvPr/>
        </p:nvCxnSpPr>
        <p:spPr>
          <a:xfrm flipH="1" flipV="1">
            <a:off x="4903788" y="3856038"/>
            <a:ext cx="0" cy="27305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sp>
        <p:nvSpPr>
          <p:cNvPr id="8216" name="Line 21"/>
          <p:cNvSpPr/>
          <p:nvPr/>
        </p:nvSpPr>
        <p:spPr>
          <a:xfrm flipV="1">
            <a:off x="4903788" y="3651250"/>
            <a:ext cx="0" cy="1096963"/>
          </a:xfrm>
          <a:prstGeom prst="line">
            <a:avLst/>
          </a:prstGeom>
          <a:ln w="57150" cap="flat" cmpd="sng">
            <a:solidFill>
              <a:schemeClr val="tx1"/>
            </a:solidFill>
            <a:prstDash val="solid"/>
            <a:headEnd type="none" w="med" len="med"/>
            <a:tailEnd type="stealth" w="lg" len="lg"/>
          </a:ln>
        </p:spPr>
      </p:sp>
      <p:sp>
        <p:nvSpPr>
          <p:cNvPr id="8217" name="Text Box 19"/>
          <p:cNvSpPr txBox="1">
            <a:spLocks noChangeAspect="1"/>
          </p:cNvSpPr>
          <p:nvPr/>
        </p:nvSpPr>
        <p:spPr>
          <a:xfrm flipH="1">
            <a:off x="4589463" y="4321175"/>
            <a:ext cx="635000" cy="182563"/>
          </a:xfrm>
          <a:prstGeom prst="rect">
            <a:avLst/>
          </a:prstGeom>
          <a:solidFill>
            <a:schemeClr val="bg1"/>
          </a:solidFill>
          <a:ln w="9525">
            <a:noFill/>
          </a:ln>
        </p:spPr>
        <p:txBody>
          <a:bodyPr wrap="none" lIns="9144" tIns="0" rIns="9144" bIns="0">
            <a:spAutoFit/>
          </a:bodyPr>
          <a:p>
            <a:pPr algn="ctr" eaLnBrk="1" hangingPunct="1"/>
            <a:r>
              <a:rPr lang="en-US" altLang="en-US" sz="1200" dirty="0">
                <a:latin typeface="Arial" panose="020B0604020202020204" pitchFamily="34" charset="0"/>
              </a:rPr>
              <a:t>Specifies</a:t>
            </a:r>
            <a:endParaRPr lang="en-US" altLang="en-US" sz="12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4"/>
          <p:cNvSpPr>
            <a:spLocks noGrp="1"/>
          </p:cNvSpPr>
          <p:nvPr>
            <p:ph type="title"/>
          </p:nvPr>
        </p:nvSpPr>
        <p:spPr>
          <a:xfrm>
            <a:off x="269875" y="136525"/>
            <a:ext cx="8850313"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Problem Domain:</a:t>
            </a:r>
            <a:br>
              <a:rPr lang="en-US" altLang="en-US" kern="1200" dirty="0">
                <a:latin typeface="Arial Rounded MT Bold" panose="020F0704030504030204" pitchFamily="34" charset="0"/>
                <a:ea typeface="+mj-ea"/>
                <a:cs typeface="+mj-cs"/>
              </a:rPr>
            </a:br>
            <a:r>
              <a:rPr lang="en-US" altLang="en-US" kern="1200" dirty="0">
                <a:latin typeface="Arial Rounded MT Bold" panose="020F0704030504030204" pitchFamily="34" charset="0"/>
                <a:ea typeface="+mj-ea"/>
                <a:cs typeface="+mj-cs"/>
              </a:rPr>
              <a:t>How Electronic Lock Works</a:t>
            </a:r>
            <a:endParaRPr lang="en-US" altLang="en-US" kern="1200" dirty="0">
              <a:latin typeface="Arial Rounded MT Bold" panose="020F0704030504030204" pitchFamily="34" charset="0"/>
              <a:ea typeface="+mj-ea"/>
              <a:cs typeface="+mj-cs"/>
            </a:endParaRPr>
          </a:p>
        </p:txBody>
      </p:sp>
      <p:sp>
        <p:nvSpPr>
          <p:cNvPr id="9219" name="Freeform 5"/>
          <p:cNvSpPr/>
          <p:nvPr/>
        </p:nvSpPr>
        <p:spPr>
          <a:xfrm>
            <a:off x="2212975" y="4006850"/>
            <a:ext cx="3352800" cy="304800"/>
          </a:xfrm>
          <a:custGeom>
            <a:avLst/>
            <a:gdLst>
              <a:gd name="txL" fmla="*/ 0 w 2112"/>
              <a:gd name="txT" fmla="*/ 0 h 192"/>
              <a:gd name="txR" fmla="*/ 2112 w 2112"/>
              <a:gd name="txB" fmla="*/ 192 h 192"/>
            </a:gdLst>
            <a:ahLst/>
            <a:cxnLst>
              <a:cxn ang="0">
                <a:pos x="0" y="2147483647"/>
              </a:cxn>
              <a:cxn ang="0">
                <a:pos x="2147483647" y="2147483647"/>
              </a:cxn>
              <a:cxn ang="0">
                <a:pos x="2147483647" y="0"/>
              </a:cxn>
              <a:cxn ang="0">
                <a:pos x="2147483647" y="0"/>
              </a:cxn>
              <a:cxn ang="0">
                <a:pos x="2147483647" y="2147483647"/>
              </a:cxn>
              <a:cxn ang="0">
                <a:pos x="2147483647" y="2147483647"/>
              </a:cxn>
            </a:cxnLst>
            <a:rect l="txL" t="txT" r="txR" b="txB"/>
            <a:pathLst>
              <a:path w="2112" h="192">
                <a:moveTo>
                  <a:pt x="0" y="192"/>
                </a:moveTo>
                <a:lnTo>
                  <a:pt x="720" y="192"/>
                </a:lnTo>
                <a:lnTo>
                  <a:pt x="720" y="0"/>
                </a:lnTo>
                <a:lnTo>
                  <a:pt x="1824" y="0"/>
                </a:lnTo>
                <a:lnTo>
                  <a:pt x="1824" y="192"/>
                </a:lnTo>
                <a:lnTo>
                  <a:pt x="2112" y="192"/>
                </a:lnTo>
              </a:path>
            </a:pathLst>
          </a:custGeom>
          <a:solidFill>
            <a:srgbClr val="FFFF99">
              <a:alpha val="100000"/>
            </a:srgbClr>
          </a:solidFill>
          <a:ln w="28575" cap="flat" cmpd="sng">
            <a:solidFill>
              <a:schemeClr val="tx1">
                <a:alpha val="100000"/>
              </a:schemeClr>
            </a:solidFill>
            <a:prstDash val="solid"/>
            <a:round/>
            <a:headEnd type="none" w="med" len="med"/>
            <a:tailEnd type="none" w="med" len="med"/>
          </a:ln>
        </p:spPr>
        <p:txBody>
          <a:bodyPr/>
          <a:p>
            <a:endParaRPr lang="zh-CN" altLang="en-US"/>
          </a:p>
        </p:txBody>
      </p:sp>
      <p:grpSp>
        <p:nvGrpSpPr>
          <p:cNvPr id="9220" name="Group 6"/>
          <p:cNvGrpSpPr/>
          <p:nvPr/>
        </p:nvGrpSpPr>
        <p:grpSpPr>
          <a:xfrm>
            <a:off x="1198563" y="2185988"/>
            <a:ext cx="806450" cy="706437"/>
            <a:chOff x="1341" y="1595"/>
            <a:chExt cx="508" cy="445"/>
          </a:xfrm>
        </p:grpSpPr>
        <p:sp>
          <p:nvSpPr>
            <p:cNvPr id="9237" name="Freeform 7"/>
            <p:cNvSpPr>
              <a:spLocks noChangeAspect="1"/>
            </p:cNvSpPr>
            <p:nvPr/>
          </p:nvSpPr>
          <p:spPr>
            <a:xfrm flipH="1">
              <a:off x="1638" y="1744"/>
              <a:ext cx="162" cy="198"/>
            </a:xfrm>
            <a:custGeom>
              <a:avLst/>
              <a:gdLst>
                <a:gd name="txL" fmla="*/ 0 w 383"/>
                <a:gd name="txT" fmla="*/ 0 h 469"/>
                <a:gd name="txR" fmla="*/ 383 w 383"/>
                <a:gd name="txB" fmla="*/ 469 h 46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3" h="469">
                  <a:moveTo>
                    <a:pt x="2" y="456"/>
                  </a:moveTo>
                  <a:cubicBezTo>
                    <a:pt x="0" y="442"/>
                    <a:pt x="3" y="402"/>
                    <a:pt x="7" y="371"/>
                  </a:cubicBezTo>
                  <a:cubicBezTo>
                    <a:pt x="11" y="340"/>
                    <a:pt x="18" y="304"/>
                    <a:pt x="29" y="271"/>
                  </a:cubicBezTo>
                  <a:cubicBezTo>
                    <a:pt x="40" y="238"/>
                    <a:pt x="56" y="206"/>
                    <a:pt x="76" y="175"/>
                  </a:cubicBezTo>
                  <a:cubicBezTo>
                    <a:pt x="96" y="144"/>
                    <a:pt x="123" y="110"/>
                    <a:pt x="151" y="85"/>
                  </a:cubicBezTo>
                  <a:cubicBezTo>
                    <a:pt x="179" y="60"/>
                    <a:pt x="211" y="38"/>
                    <a:pt x="245" y="24"/>
                  </a:cubicBezTo>
                  <a:cubicBezTo>
                    <a:pt x="279" y="10"/>
                    <a:pt x="335" y="0"/>
                    <a:pt x="357" y="0"/>
                  </a:cubicBezTo>
                  <a:cubicBezTo>
                    <a:pt x="379" y="0"/>
                    <a:pt x="383" y="19"/>
                    <a:pt x="379" y="23"/>
                  </a:cubicBezTo>
                  <a:cubicBezTo>
                    <a:pt x="375" y="27"/>
                    <a:pt x="355" y="18"/>
                    <a:pt x="331" y="23"/>
                  </a:cubicBezTo>
                  <a:cubicBezTo>
                    <a:pt x="307" y="28"/>
                    <a:pt x="265" y="35"/>
                    <a:pt x="235" y="50"/>
                  </a:cubicBezTo>
                  <a:cubicBezTo>
                    <a:pt x="205" y="65"/>
                    <a:pt x="175" y="90"/>
                    <a:pt x="151" y="113"/>
                  </a:cubicBezTo>
                  <a:cubicBezTo>
                    <a:pt x="127" y="136"/>
                    <a:pt x="107" y="162"/>
                    <a:pt x="89" y="191"/>
                  </a:cubicBezTo>
                  <a:cubicBezTo>
                    <a:pt x="71" y="220"/>
                    <a:pt x="55" y="256"/>
                    <a:pt x="44" y="289"/>
                  </a:cubicBezTo>
                  <a:cubicBezTo>
                    <a:pt x="33" y="322"/>
                    <a:pt x="27" y="360"/>
                    <a:pt x="23" y="388"/>
                  </a:cubicBezTo>
                  <a:cubicBezTo>
                    <a:pt x="19" y="416"/>
                    <a:pt x="24" y="447"/>
                    <a:pt x="21" y="458"/>
                  </a:cubicBezTo>
                  <a:cubicBezTo>
                    <a:pt x="18" y="469"/>
                    <a:pt x="5" y="466"/>
                    <a:pt x="2" y="456"/>
                  </a:cubicBezTo>
                  <a:close/>
                </a:path>
              </a:pathLst>
            </a:custGeom>
            <a:solidFill>
              <a:schemeClr val="tx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9238" name="Oval 8"/>
            <p:cNvSpPr>
              <a:spLocks noChangeAspect="1"/>
            </p:cNvSpPr>
            <p:nvPr/>
          </p:nvSpPr>
          <p:spPr>
            <a:xfrm flipH="1">
              <a:off x="1741" y="1909"/>
              <a:ext cx="108" cy="131"/>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39" name="Oval 9"/>
            <p:cNvSpPr>
              <a:spLocks noChangeAspect="1"/>
            </p:cNvSpPr>
            <p:nvPr/>
          </p:nvSpPr>
          <p:spPr>
            <a:xfrm flipH="1">
              <a:off x="1748" y="1917"/>
              <a:ext cx="94" cy="114"/>
            </a:xfrm>
            <a:prstGeom prst="ellipse">
              <a:avLst/>
            </a:prstGeom>
            <a:solidFill>
              <a:schemeClr val="bg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40" name="Rectangle 10"/>
            <p:cNvSpPr>
              <a:spLocks noChangeAspect="1"/>
            </p:cNvSpPr>
            <p:nvPr/>
          </p:nvSpPr>
          <p:spPr>
            <a:xfrm flipH="1">
              <a:off x="1751" y="1945"/>
              <a:ext cx="90" cy="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41" name="Rectangle 11"/>
            <p:cNvSpPr>
              <a:spLocks noChangeAspect="1"/>
            </p:cNvSpPr>
            <p:nvPr/>
          </p:nvSpPr>
          <p:spPr>
            <a:xfrm rot="-5400000">
              <a:off x="1467" y="1791"/>
              <a:ext cx="110" cy="363"/>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42" name="Rectangle 12"/>
            <p:cNvSpPr>
              <a:spLocks noChangeAspect="1"/>
            </p:cNvSpPr>
            <p:nvPr/>
          </p:nvSpPr>
          <p:spPr>
            <a:xfrm rot="-5400000">
              <a:off x="1474" y="1799"/>
              <a:ext cx="96" cy="347"/>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43" name="Freeform 13"/>
            <p:cNvSpPr>
              <a:spLocks noChangeAspect="1"/>
            </p:cNvSpPr>
            <p:nvPr/>
          </p:nvSpPr>
          <p:spPr>
            <a:xfrm>
              <a:off x="1387" y="1595"/>
              <a:ext cx="271" cy="300"/>
            </a:xfrm>
            <a:custGeom>
              <a:avLst/>
              <a:gdLst>
                <a:gd name="txL" fmla="*/ 0 w 622"/>
                <a:gd name="txT" fmla="*/ 0 h 688"/>
                <a:gd name="txR" fmla="*/ 622 w 622"/>
                <a:gd name="txB" fmla="*/ 688 h 6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22" h="688">
                  <a:moveTo>
                    <a:pt x="0" y="0"/>
                  </a:moveTo>
                  <a:lnTo>
                    <a:pt x="0" y="633"/>
                  </a:lnTo>
                  <a:lnTo>
                    <a:pt x="174" y="633"/>
                  </a:lnTo>
                  <a:lnTo>
                    <a:pt x="229" y="688"/>
                  </a:lnTo>
                  <a:lnTo>
                    <a:pt x="394" y="688"/>
                  </a:lnTo>
                  <a:lnTo>
                    <a:pt x="450" y="633"/>
                  </a:lnTo>
                  <a:lnTo>
                    <a:pt x="622" y="633"/>
                  </a:lnTo>
                  <a:lnTo>
                    <a:pt x="622" y="0"/>
                  </a:lnTo>
                  <a:lnTo>
                    <a:pt x="0" y="0"/>
                  </a:lnTo>
                  <a:close/>
                </a:path>
              </a:pathLst>
            </a:custGeom>
            <a:solidFill>
              <a:schemeClr val="tx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9244" name="Freeform 14"/>
            <p:cNvSpPr>
              <a:spLocks noChangeAspect="1"/>
            </p:cNvSpPr>
            <p:nvPr/>
          </p:nvSpPr>
          <p:spPr>
            <a:xfrm>
              <a:off x="1394" y="1603"/>
              <a:ext cx="257" cy="284"/>
            </a:xfrm>
            <a:custGeom>
              <a:avLst/>
              <a:gdLst>
                <a:gd name="txL" fmla="*/ 0 w 622"/>
                <a:gd name="txT" fmla="*/ 0 h 688"/>
                <a:gd name="txR" fmla="*/ 622 w 622"/>
                <a:gd name="txB" fmla="*/ 688 h 6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22" h="688">
                  <a:moveTo>
                    <a:pt x="0" y="0"/>
                  </a:moveTo>
                  <a:lnTo>
                    <a:pt x="0" y="633"/>
                  </a:lnTo>
                  <a:lnTo>
                    <a:pt x="174" y="633"/>
                  </a:lnTo>
                  <a:lnTo>
                    <a:pt x="229" y="688"/>
                  </a:lnTo>
                  <a:lnTo>
                    <a:pt x="394" y="688"/>
                  </a:lnTo>
                  <a:lnTo>
                    <a:pt x="450" y="633"/>
                  </a:lnTo>
                  <a:lnTo>
                    <a:pt x="622" y="633"/>
                  </a:lnTo>
                  <a:lnTo>
                    <a:pt x="622" y="0"/>
                  </a:lnTo>
                  <a:lnTo>
                    <a:pt x="0" y="0"/>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9245" name="Rectangle 15"/>
            <p:cNvSpPr>
              <a:spLocks noChangeAspect="1"/>
            </p:cNvSpPr>
            <p:nvPr/>
          </p:nvSpPr>
          <p:spPr>
            <a:xfrm>
              <a:off x="1492" y="1865"/>
              <a:ext cx="61" cy="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46" name="Freeform 16"/>
            <p:cNvSpPr>
              <a:spLocks noChangeAspect="1"/>
            </p:cNvSpPr>
            <p:nvPr/>
          </p:nvSpPr>
          <p:spPr>
            <a:xfrm>
              <a:off x="1424" y="1637"/>
              <a:ext cx="196" cy="193"/>
            </a:xfrm>
            <a:custGeom>
              <a:avLst/>
              <a:gdLst>
                <a:gd name="txL" fmla="*/ 0 w 464"/>
                <a:gd name="txT" fmla="*/ 0 h 458"/>
                <a:gd name="txR" fmla="*/ 464 w 464"/>
                <a:gd name="txB" fmla="*/ 458 h 45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4" h="458">
                  <a:moveTo>
                    <a:pt x="0" y="29"/>
                  </a:moveTo>
                  <a:lnTo>
                    <a:pt x="30" y="0"/>
                  </a:lnTo>
                  <a:lnTo>
                    <a:pt x="434" y="0"/>
                  </a:lnTo>
                  <a:lnTo>
                    <a:pt x="464" y="30"/>
                  </a:lnTo>
                  <a:lnTo>
                    <a:pt x="464" y="430"/>
                  </a:lnTo>
                  <a:lnTo>
                    <a:pt x="437" y="458"/>
                  </a:lnTo>
                  <a:lnTo>
                    <a:pt x="29" y="458"/>
                  </a:lnTo>
                  <a:lnTo>
                    <a:pt x="0" y="430"/>
                  </a:lnTo>
                  <a:lnTo>
                    <a:pt x="0" y="29"/>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9247" name="Rectangle 17"/>
            <p:cNvSpPr>
              <a:spLocks noChangeAspect="1"/>
            </p:cNvSpPr>
            <p:nvPr/>
          </p:nvSpPr>
          <p:spPr>
            <a:xfrm>
              <a:off x="1554" y="1960"/>
              <a:ext cx="101" cy="1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grpSp>
          <p:nvGrpSpPr>
            <p:cNvPr id="9248" name="Group 18"/>
            <p:cNvGrpSpPr>
              <a:grpSpLocks noChangeAspect="1"/>
            </p:cNvGrpSpPr>
            <p:nvPr/>
          </p:nvGrpSpPr>
          <p:grpSpPr>
            <a:xfrm>
              <a:off x="1362" y="1938"/>
              <a:ext cx="129" cy="71"/>
              <a:chOff x="4142" y="3658"/>
              <a:chExt cx="336" cy="185"/>
            </a:xfrm>
          </p:grpSpPr>
          <p:sp>
            <p:nvSpPr>
              <p:cNvPr id="9249" name="Oval 19"/>
              <p:cNvSpPr>
                <a:spLocks noChangeAspect="1"/>
              </p:cNvSpPr>
              <p:nvPr/>
            </p:nvSpPr>
            <p:spPr>
              <a:xfrm>
                <a:off x="4143"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0" name="Oval 20"/>
              <p:cNvSpPr>
                <a:spLocks noChangeAspect="1"/>
              </p:cNvSpPr>
              <p:nvPr/>
            </p:nvSpPr>
            <p:spPr>
              <a:xfrm>
                <a:off x="4239"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1" name="Oval 21"/>
              <p:cNvSpPr>
                <a:spLocks noChangeAspect="1"/>
              </p:cNvSpPr>
              <p:nvPr/>
            </p:nvSpPr>
            <p:spPr>
              <a:xfrm>
                <a:off x="4336"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2" name="Oval 22"/>
              <p:cNvSpPr>
                <a:spLocks noChangeAspect="1"/>
              </p:cNvSpPr>
              <p:nvPr/>
            </p:nvSpPr>
            <p:spPr>
              <a:xfrm>
                <a:off x="4432"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3" name="Oval 23"/>
              <p:cNvSpPr>
                <a:spLocks noChangeAspect="1"/>
              </p:cNvSpPr>
              <p:nvPr/>
            </p:nvSpPr>
            <p:spPr>
              <a:xfrm>
                <a:off x="4143"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4" name="Oval 24"/>
              <p:cNvSpPr>
                <a:spLocks noChangeAspect="1"/>
              </p:cNvSpPr>
              <p:nvPr/>
            </p:nvSpPr>
            <p:spPr>
              <a:xfrm>
                <a:off x="4239"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5" name="Oval 25"/>
              <p:cNvSpPr>
                <a:spLocks noChangeAspect="1"/>
              </p:cNvSpPr>
              <p:nvPr/>
            </p:nvSpPr>
            <p:spPr>
              <a:xfrm>
                <a:off x="4336"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6" name="Oval 26"/>
              <p:cNvSpPr>
                <a:spLocks noChangeAspect="1"/>
              </p:cNvSpPr>
              <p:nvPr/>
            </p:nvSpPr>
            <p:spPr>
              <a:xfrm>
                <a:off x="4432"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7" name="Oval 27"/>
              <p:cNvSpPr>
                <a:spLocks noChangeAspect="1"/>
              </p:cNvSpPr>
              <p:nvPr/>
            </p:nvSpPr>
            <p:spPr>
              <a:xfrm>
                <a:off x="4142"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8" name="Oval 28"/>
              <p:cNvSpPr>
                <a:spLocks noChangeAspect="1"/>
              </p:cNvSpPr>
              <p:nvPr/>
            </p:nvSpPr>
            <p:spPr>
              <a:xfrm>
                <a:off x="4238"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59" name="Oval 29"/>
              <p:cNvSpPr>
                <a:spLocks noChangeAspect="1"/>
              </p:cNvSpPr>
              <p:nvPr/>
            </p:nvSpPr>
            <p:spPr>
              <a:xfrm>
                <a:off x="4335"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9260" name="Oval 30"/>
              <p:cNvSpPr>
                <a:spLocks noChangeAspect="1"/>
              </p:cNvSpPr>
              <p:nvPr/>
            </p:nvSpPr>
            <p:spPr>
              <a:xfrm>
                <a:off x="4431"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grpSp>
      </p:grpSp>
      <p:sp>
        <p:nvSpPr>
          <p:cNvPr id="9221" name="Text Box 31"/>
          <p:cNvSpPr txBox="1"/>
          <p:nvPr/>
        </p:nvSpPr>
        <p:spPr>
          <a:xfrm>
            <a:off x="1146175" y="2941638"/>
            <a:ext cx="685800" cy="182562"/>
          </a:xfrm>
          <a:prstGeom prst="rect">
            <a:avLst/>
          </a:prstGeom>
          <a:noFill/>
          <a:ln w="9525">
            <a:noFill/>
          </a:ln>
        </p:spPr>
        <p:txBody>
          <a:bodyPr wrap="none" lIns="9144" tIns="0" rIns="9144" bIns="0">
            <a:spAutoFit/>
          </a:bodyPr>
          <a:p>
            <a:pPr algn="ctr"/>
            <a:r>
              <a:rPr lang="en-US" altLang="en-US" sz="1200" dirty="0">
                <a:solidFill>
                  <a:srgbClr val="000000"/>
                </a:solidFill>
                <a:latin typeface="Arial" panose="020B0604020202020204" pitchFamily="34" charset="0"/>
              </a:rPr>
              <a:t>Computer</a:t>
            </a:r>
            <a:endParaRPr lang="en-US" altLang="en-US" sz="1200" dirty="0">
              <a:solidFill>
                <a:srgbClr val="000000"/>
              </a:solidFill>
              <a:latin typeface="Arial" panose="020B0604020202020204" pitchFamily="34" charset="0"/>
            </a:endParaRPr>
          </a:p>
        </p:txBody>
      </p:sp>
      <p:sp>
        <p:nvSpPr>
          <p:cNvPr id="9222" name="Freeform 32"/>
          <p:cNvSpPr/>
          <p:nvPr/>
        </p:nvSpPr>
        <p:spPr>
          <a:xfrm>
            <a:off x="2117725" y="2398713"/>
            <a:ext cx="3368675" cy="320675"/>
          </a:xfrm>
          <a:custGeom>
            <a:avLst/>
            <a:gdLst>
              <a:gd name="txL" fmla="*/ 0 w 2122"/>
              <a:gd name="txT" fmla="*/ 0 h 202"/>
              <a:gd name="txR" fmla="*/ 2122 w 2122"/>
              <a:gd name="txB" fmla="*/ 202 h 202"/>
            </a:gdLst>
            <a:ahLst/>
            <a:cxnLst>
              <a:cxn ang="0">
                <a:pos x="0" y="2147483647"/>
              </a:cxn>
              <a:cxn ang="0">
                <a:pos x="2147483647" y="2147483647"/>
              </a:cxn>
              <a:cxn ang="0">
                <a:pos x="2147483647" y="2147483647"/>
              </a:cxn>
              <a:cxn ang="0">
                <a:pos x="2147483647" y="2147483647"/>
              </a:cxn>
              <a:cxn ang="0">
                <a:pos x="2147483647" y="2147483647"/>
              </a:cxn>
            </a:cxnLst>
            <a:rect l="txL" t="txT" r="txR" b="txB"/>
            <a:pathLst>
              <a:path w="2122" h="202">
                <a:moveTo>
                  <a:pt x="0" y="156"/>
                </a:moveTo>
                <a:cubicBezTo>
                  <a:pt x="404" y="166"/>
                  <a:pt x="258" y="192"/>
                  <a:pt x="758" y="111"/>
                </a:cubicBezTo>
                <a:cubicBezTo>
                  <a:pt x="1258" y="30"/>
                  <a:pt x="1651" y="172"/>
                  <a:pt x="1192" y="187"/>
                </a:cubicBezTo>
                <a:cubicBezTo>
                  <a:pt x="733" y="202"/>
                  <a:pt x="1041" y="0"/>
                  <a:pt x="1334" y="15"/>
                </a:cubicBezTo>
                <a:cubicBezTo>
                  <a:pt x="1627" y="30"/>
                  <a:pt x="1713" y="101"/>
                  <a:pt x="2122" y="10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pic>
        <p:nvPicPr>
          <p:cNvPr id="9223" name="Picture 33"/>
          <p:cNvPicPr>
            <a:picLocks noChangeAspect="1"/>
          </p:cNvPicPr>
          <p:nvPr/>
        </p:nvPicPr>
        <p:blipFill>
          <a:blip r:embed="rId1"/>
          <a:stretch>
            <a:fillRect/>
          </a:stretch>
        </p:blipFill>
        <p:spPr>
          <a:xfrm>
            <a:off x="5705475" y="2119313"/>
            <a:ext cx="682625" cy="830262"/>
          </a:xfrm>
          <a:prstGeom prst="rect">
            <a:avLst/>
          </a:prstGeom>
          <a:noFill/>
          <a:ln w="9525">
            <a:noFill/>
          </a:ln>
        </p:spPr>
      </p:pic>
      <p:sp>
        <p:nvSpPr>
          <p:cNvPr id="9224" name="Text Box 34"/>
          <p:cNvSpPr txBox="1"/>
          <p:nvPr/>
        </p:nvSpPr>
        <p:spPr>
          <a:xfrm>
            <a:off x="5876925" y="3021013"/>
            <a:ext cx="339725" cy="182562"/>
          </a:xfrm>
          <a:prstGeom prst="rect">
            <a:avLst/>
          </a:prstGeom>
          <a:noFill/>
          <a:ln w="9525">
            <a:noFill/>
          </a:ln>
        </p:spPr>
        <p:txBody>
          <a:bodyPr wrap="none" lIns="9144" tIns="0" rIns="9144" bIns="0">
            <a:spAutoFit/>
          </a:bodyPr>
          <a:p>
            <a:pPr algn="ctr"/>
            <a:r>
              <a:rPr lang="en-US" altLang="en-US" sz="1200" dirty="0">
                <a:solidFill>
                  <a:srgbClr val="000000"/>
                </a:solidFill>
                <a:latin typeface="Arial" panose="020B0604020202020204" pitchFamily="34" charset="0"/>
              </a:rPr>
              <a:t>Lock</a:t>
            </a:r>
            <a:endParaRPr lang="en-US" altLang="en-US" sz="1200" dirty="0">
              <a:solidFill>
                <a:srgbClr val="000000"/>
              </a:solidFill>
              <a:latin typeface="Arial" panose="020B0604020202020204" pitchFamily="34" charset="0"/>
            </a:endParaRPr>
          </a:p>
        </p:txBody>
      </p:sp>
      <p:sp>
        <p:nvSpPr>
          <p:cNvPr id="9225" name="Text Box 35"/>
          <p:cNvSpPr txBox="1"/>
          <p:nvPr/>
        </p:nvSpPr>
        <p:spPr>
          <a:xfrm>
            <a:off x="1298575" y="3757613"/>
            <a:ext cx="576263"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Voltage:</a:t>
            </a:r>
            <a:endParaRPr lang="en-US" altLang="en-US" sz="1200" dirty="0">
              <a:solidFill>
                <a:srgbClr val="000000"/>
              </a:solidFill>
              <a:latin typeface="Arial" panose="020B0604020202020204" pitchFamily="34" charset="0"/>
            </a:endParaRPr>
          </a:p>
        </p:txBody>
      </p:sp>
      <p:sp>
        <p:nvSpPr>
          <p:cNvPr id="9226" name="Text Box 36"/>
          <p:cNvSpPr txBox="1"/>
          <p:nvPr/>
        </p:nvSpPr>
        <p:spPr>
          <a:xfrm>
            <a:off x="2765425" y="3868738"/>
            <a:ext cx="400050"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HIGH</a:t>
            </a:r>
            <a:endParaRPr lang="en-US" altLang="en-US" sz="1200" dirty="0">
              <a:solidFill>
                <a:srgbClr val="000000"/>
              </a:solidFill>
              <a:latin typeface="Arial" panose="020B0604020202020204" pitchFamily="34" charset="0"/>
            </a:endParaRPr>
          </a:p>
        </p:txBody>
      </p:sp>
      <p:sp>
        <p:nvSpPr>
          <p:cNvPr id="9227" name="Text Box 37"/>
          <p:cNvSpPr txBox="1"/>
          <p:nvPr/>
        </p:nvSpPr>
        <p:spPr>
          <a:xfrm>
            <a:off x="1698625" y="4173538"/>
            <a:ext cx="366713"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LOW</a:t>
            </a:r>
            <a:endParaRPr lang="en-US" altLang="en-US" sz="1200" dirty="0">
              <a:solidFill>
                <a:srgbClr val="000000"/>
              </a:solidFill>
              <a:latin typeface="Arial" panose="020B0604020202020204" pitchFamily="34" charset="0"/>
            </a:endParaRPr>
          </a:p>
        </p:txBody>
      </p:sp>
      <p:sp>
        <p:nvSpPr>
          <p:cNvPr id="9228" name="Text Box 38"/>
          <p:cNvSpPr txBox="1"/>
          <p:nvPr/>
        </p:nvSpPr>
        <p:spPr>
          <a:xfrm>
            <a:off x="2398713" y="4471988"/>
            <a:ext cx="762000"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armed</a:t>
            </a:r>
            <a:endParaRPr lang="en-US" altLang="en-US" sz="1200" i="1" dirty="0">
              <a:solidFill>
                <a:srgbClr val="000000"/>
              </a:solidFill>
              <a:latin typeface="Arial" panose="020B0604020202020204" pitchFamily="34" charset="0"/>
            </a:endParaRPr>
          </a:p>
        </p:txBody>
      </p:sp>
      <p:sp>
        <p:nvSpPr>
          <p:cNvPr id="9229" name="Text Box 39"/>
          <p:cNvSpPr txBox="1"/>
          <p:nvPr/>
        </p:nvSpPr>
        <p:spPr>
          <a:xfrm>
            <a:off x="3657600" y="4471988"/>
            <a:ext cx="955675"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disarmed</a:t>
            </a:r>
            <a:endParaRPr lang="en-US" altLang="en-US" sz="1200" i="1" dirty="0">
              <a:solidFill>
                <a:srgbClr val="000000"/>
              </a:solidFill>
              <a:latin typeface="Arial" panose="020B0604020202020204" pitchFamily="34" charset="0"/>
            </a:endParaRPr>
          </a:p>
        </p:txBody>
      </p:sp>
      <p:sp>
        <p:nvSpPr>
          <p:cNvPr id="9230" name="Text Box 40"/>
          <p:cNvSpPr txBox="1"/>
          <p:nvPr/>
        </p:nvSpPr>
        <p:spPr>
          <a:xfrm>
            <a:off x="5213350" y="4471988"/>
            <a:ext cx="762000"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armed</a:t>
            </a:r>
            <a:endParaRPr lang="en-US" altLang="en-US" sz="1200" i="1" dirty="0">
              <a:solidFill>
                <a:srgbClr val="000000"/>
              </a:solidFill>
              <a:latin typeface="Arial" panose="020B0604020202020204" pitchFamily="34" charset="0"/>
            </a:endParaRPr>
          </a:p>
        </p:txBody>
      </p:sp>
      <p:sp>
        <p:nvSpPr>
          <p:cNvPr id="9231" name="Text Box 41"/>
          <p:cNvSpPr txBox="1"/>
          <p:nvPr/>
        </p:nvSpPr>
        <p:spPr>
          <a:xfrm>
            <a:off x="973138" y="5251450"/>
            <a:ext cx="6723062" cy="1420813"/>
          </a:xfrm>
          <a:prstGeom prst="rect">
            <a:avLst/>
          </a:prstGeom>
          <a:noFill/>
          <a:ln w="9525">
            <a:noFill/>
          </a:ln>
        </p:spPr>
        <p:txBody>
          <a:bodyPr wrap="none" lIns="9144" tIns="0" rIns="9144" bIns="0">
            <a:spAutoFit/>
          </a:bodyPr>
          <a:p>
            <a:r>
              <a:rPr lang="en-US" altLang="en-US" dirty="0">
                <a:solidFill>
                  <a:srgbClr val="000000"/>
                </a:solidFill>
                <a:latin typeface="Calibri" panose="020F0502020204030204" pitchFamily="34" charset="0"/>
                <a:cs typeface="Calibri" panose="020F0502020204030204" pitchFamily="34" charset="0"/>
              </a:rPr>
              <a:t>The behavior of the system-to-be determined not only by user’s actions</a:t>
            </a:r>
            <a:br>
              <a:rPr lang="en-US" altLang="en-US" dirty="0">
                <a:solidFill>
                  <a:srgbClr val="000000"/>
                </a:solidFill>
                <a:latin typeface="Calibri" panose="020F0502020204030204" pitchFamily="34" charset="0"/>
                <a:cs typeface="Calibri" panose="020F0502020204030204" pitchFamily="34" charset="0"/>
              </a:rPr>
            </a:br>
            <a:r>
              <a:rPr lang="en-US" altLang="en-US" dirty="0">
                <a:solidFill>
                  <a:srgbClr val="000000"/>
                </a:solidFill>
                <a:latin typeface="Calibri" panose="020F0502020204030204" pitchFamily="34" charset="0"/>
                <a:cs typeface="Calibri" panose="020F0502020204030204" pitchFamily="34" charset="0"/>
              </a:rPr>
              <a:t>but also by the context (“situation”).</a:t>
            </a:r>
            <a:endParaRPr lang="en-US" altLang="en-US" dirty="0">
              <a:solidFill>
                <a:srgbClr val="000000"/>
              </a:solidFill>
              <a:latin typeface="Calibri" panose="020F0502020204030204" pitchFamily="34" charset="0"/>
              <a:cs typeface="Calibri" panose="020F0502020204030204" pitchFamily="34" charset="0"/>
            </a:endParaRPr>
          </a:p>
          <a:p>
            <a:pPr>
              <a:spcBef>
                <a:spcPts val="1000"/>
              </a:spcBef>
            </a:pPr>
            <a:r>
              <a:rPr lang="en-US" altLang="en-US" sz="1600" dirty="0">
                <a:solidFill>
                  <a:srgbClr val="000000"/>
                </a:solidFill>
                <a:latin typeface="Calibri" panose="020F0502020204030204" pitchFamily="34" charset="0"/>
                <a:cs typeface="Calibri" panose="020F0502020204030204" pitchFamily="34" charset="0"/>
              </a:rPr>
              <a:t>E.g., what in case of power failure?</a:t>
            </a:r>
            <a:endParaRPr lang="en-US" altLang="en-US" sz="1600" dirty="0">
              <a:solidFill>
                <a:srgbClr val="000000"/>
              </a:solidFill>
              <a:latin typeface="Calibri" panose="020F0502020204030204" pitchFamily="34" charset="0"/>
              <a:cs typeface="Calibri" panose="020F0502020204030204" pitchFamily="34" charset="0"/>
            </a:endParaRPr>
          </a:p>
          <a:p>
            <a:r>
              <a:rPr lang="en-US" altLang="en-US" sz="1600" dirty="0">
                <a:solidFill>
                  <a:srgbClr val="000000"/>
                </a:solidFill>
                <a:latin typeface="Calibri" panose="020F0502020204030204" pitchFamily="34" charset="0"/>
                <a:cs typeface="Calibri" panose="020F0502020204030204" pitchFamily="34" charset="0"/>
              </a:rPr>
              <a:t>- By default armed</a:t>
            </a:r>
            <a:endParaRPr lang="en-US" altLang="en-US" sz="1600" dirty="0">
              <a:solidFill>
                <a:srgbClr val="000000"/>
              </a:solidFill>
              <a:latin typeface="Calibri" panose="020F0502020204030204" pitchFamily="34" charset="0"/>
              <a:cs typeface="Calibri" panose="020F0502020204030204" pitchFamily="34" charset="0"/>
            </a:endParaRPr>
          </a:p>
          <a:p>
            <a:r>
              <a:rPr lang="en-US" altLang="en-US" sz="1600" dirty="0">
                <a:solidFill>
                  <a:srgbClr val="000000"/>
                </a:solidFill>
                <a:latin typeface="Calibri" panose="020F0502020204030204" pitchFamily="34" charset="0"/>
                <a:cs typeface="Calibri" panose="020F0502020204030204" pitchFamily="34" charset="0"/>
              </a:rPr>
              <a:t>- By default disarmed (e.g., fire exit)</a:t>
            </a:r>
            <a:endParaRPr lang="en-US" altLang="en-US" sz="1600" dirty="0">
              <a:solidFill>
                <a:srgbClr val="000000"/>
              </a:solidFill>
              <a:latin typeface="Calibri" panose="020F0502020204030204" pitchFamily="34" charset="0"/>
              <a:ea typeface="Calibri" panose="020F0502020204030204" pitchFamily="34" charset="0"/>
            </a:endParaRPr>
          </a:p>
        </p:txBody>
      </p:sp>
      <p:sp>
        <p:nvSpPr>
          <p:cNvPr id="2" name="Right Brace 1"/>
          <p:cNvSpPr/>
          <p:nvPr/>
        </p:nvSpPr>
        <p:spPr>
          <a:xfrm>
            <a:off x="5905500" y="3868738"/>
            <a:ext cx="212725" cy="522288"/>
          </a:xfrm>
          <a:prstGeom prst="rightBrace">
            <a:avLst>
              <a:gd name="adj1" fmla="val 7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233" name="Text Box 36"/>
          <p:cNvSpPr txBox="1"/>
          <p:nvPr/>
        </p:nvSpPr>
        <p:spPr>
          <a:xfrm>
            <a:off x="6221413" y="3890963"/>
            <a:ext cx="2425700" cy="368300"/>
          </a:xfrm>
          <a:prstGeom prst="rect">
            <a:avLst/>
          </a:prstGeom>
          <a:noFill/>
          <a:ln w="9525">
            <a:noFill/>
          </a:ln>
        </p:spPr>
        <p:txBody>
          <a:bodyPr lIns="9144" tIns="0" rIns="9144" bIns="0">
            <a:spAutoFit/>
          </a:bodyPr>
          <a:p>
            <a:r>
              <a:rPr lang="en-US" altLang="en-US" sz="1200" dirty="0">
                <a:solidFill>
                  <a:srgbClr val="C00000"/>
                </a:solidFill>
                <a:latin typeface="Arial" panose="020B0604020202020204" pitchFamily="34" charset="0"/>
              </a:rPr>
              <a:t>Physical domain (lock) description; used in specification</a:t>
            </a:r>
            <a:endParaRPr lang="en-US" altLang="en-US" sz="1200" dirty="0">
              <a:solidFill>
                <a:srgbClr val="C00000"/>
              </a:solidFill>
              <a:latin typeface="Arial" panose="020B0604020202020204" pitchFamily="34" charset="0"/>
            </a:endParaRPr>
          </a:p>
        </p:txBody>
      </p:sp>
      <p:sp>
        <p:nvSpPr>
          <p:cNvPr id="42" name="Right Brace 41"/>
          <p:cNvSpPr/>
          <p:nvPr/>
        </p:nvSpPr>
        <p:spPr>
          <a:xfrm>
            <a:off x="6175375" y="4356100"/>
            <a:ext cx="212725" cy="522288"/>
          </a:xfrm>
          <a:prstGeom prst="rightBrace">
            <a:avLst>
              <a:gd name="adj1" fmla="val 7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235" name="Text Box 36"/>
          <p:cNvSpPr txBox="1"/>
          <p:nvPr/>
        </p:nvSpPr>
        <p:spPr>
          <a:xfrm>
            <a:off x="6491288" y="4432300"/>
            <a:ext cx="1633537" cy="554038"/>
          </a:xfrm>
          <a:prstGeom prst="rect">
            <a:avLst/>
          </a:prstGeom>
          <a:noFill/>
          <a:ln w="9525">
            <a:noFill/>
          </a:ln>
        </p:spPr>
        <p:txBody>
          <a:bodyPr lIns="9144" tIns="0" rIns="9144" bIns="0">
            <a:spAutoFit/>
          </a:bodyPr>
          <a:p>
            <a:r>
              <a:rPr lang="en-US" altLang="en-US" sz="1200" dirty="0">
                <a:solidFill>
                  <a:srgbClr val="C00000"/>
                </a:solidFill>
                <a:latin typeface="Arial" panose="020B0604020202020204" pitchFamily="34" charset="0"/>
              </a:rPr>
              <a:t>Semantic meaning defined by user’s goals; used in requirements</a:t>
            </a:r>
            <a:endParaRPr lang="en-US" altLang="en-US" sz="1200" dirty="0">
              <a:solidFill>
                <a:srgbClr val="C00000"/>
              </a:solidFill>
              <a:latin typeface="Arial" panose="020B0604020202020204" pitchFamily="34" charset="0"/>
            </a:endParaRPr>
          </a:p>
        </p:txBody>
      </p:sp>
      <p:sp>
        <p:nvSpPr>
          <p:cNvPr id="9236" name="Text Box 52"/>
          <p:cNvSpPr txBox="1"/>
          <p:nvPr/>
        </p:nvSpPr>
        <p:spPr>
          <a:xfrm>
            <a:off x="6880225" y="2024063"/>
            <a:ext cx="2176463" cy="1370012"/>
          </a:xfrm>
          <a:prstGeom prst="rect">
            <a:avLst/>
          </a:prstGeom>
          <a:noFill/>
          <a:ln w="9525">
            <a:noFill/>
          </a:ln>
        </p:spPr>
        <p:txBody>
          <a:bodyPr lIns="0" tIns="0" rIns="0" bIns="0">
            <a:spAutoFit/>
          </a:bodyPr>
          <a:p>
            <a:pPr eaLnBrk="1" hangingPunct="1"/>
            <a:r>
              <a:rPr lang="en-US" altLang="en-US" sz="1400" dirty="0">
                <a:latin typeface="Arial" panose="020B0604020202020204" pitchFamily="34" charset="0"/>
              </a:rPr>
              <a:t>We may need separate descriptions/models of door vs. lock.</a:t>
            </a:r>
            <a:endParaRPr lang="en-US" altLang="en-US" sz="1400" dirty="0">
              <a:latin typeface="Arial" panose="020B0604020202020204" pitchFamily="34" charset="0"/>
            </a:endParaRPr>
          </a:p>
          <a:p>
            <a:pPr eaLnBrk="1" hangingPunct="1">
              <a:spcBef>
                <a:spcPts val="600"/>
              </a:spcBef>
            </a:pPr>
            <a:r>
              <a:rPr lang="en-US" altLang="en-US" sz="1400" dirty="0">
                <a:latin typeface="Arial" panose="020B0604020202020204" pitchFamily="34" charset="0"/>
              </a:rPr>
              <a:t>Door state is what the user cares about; lock is one way of achieving it.</a:t>
            </a:r>
            <a:endParaRPr lang="en-US" altLang="en-US" sz="14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5"/>
          <p:cNvSpPr txBox="1"/>
          <p:nvPr/>
        </p:nvSpPr>
        <p:spPr>
          <a:xfrm>
            <a:off x="5959475" y="5434013"/>
            <a:ext cx="2805113" cy="1122362"/>
          </a:xfrm>
          <a:prstGeom prst="rect">
            <a:avLst/>
          </a:prstGeom>
          <a:noFill/>
          <a:ln w="22225" cap="flat" cmpd="sng">
            <a:solidFill>
              <a:srgbClr val="FFC000"/>
            </a:solidFill>
            <a:prstDash val="solid"/>
            <a:miter/>
            <a:headEnd type="none" w="med" len="med"/>
            <a:tailEnd type="none" w="med" len="med"/>
          </a:ln>
        </p:spPr>
        <p:txBody>
          <a:bodyPr lIns="45720" tIns="0" rIns="0" bIns="0">
            <a:spAutoFit/>
          </a:bodyPr>
          <a:p>
            <a:pPr eaLnBrk="1" hangingPunct="1"/>
            <a:r>
              <a:rPr lang="en-US" altLang="en-US" sz="2600" dirty="0">
                <a:latin typeface="Arial" panose="020B0604020202020204" pitchFamily="34" charset="0"/>
              </a:rPr>
              <a:t>Concern:</a:t>
            </a:r>
            <a:endParaRPr lang="en-US" altLang="en-US" sz="2600" dirty="0">
              <a:latin typeface="Arial" panose="020B0604020202020204" pitchFamily="34" charset="0"/>
            </a:endParaRPr>
          </a:p>
          <a:p>
            <a:pPr eaLnBrk="1" hangingPunct="1"/>
            <a:endParaRPr lang="en-US" altLang="en-US" sz="500" dirty="0">
              <a:latin typeface="Arial" panose="020B0604020202020204" pitchFamily="34" charset="0"/>
            </a:endParaRPr>
          </a:p>
          <a:p>
            <a:pPr eaLnBrk="1" hangingPunct="1"/>
            <a:r>
              <a:rPr lang="en-US" altLang="en-US" sz="1400" dirty="0">
                <a:latin typeface="Arial" panose="020B0604020202020204" pitchFamily="34" charset="0"/>
              </a:rPr>
              <a:t>It is not obvious that this is the only or even “correct” solution to the requirement-posed problem.</a:t>
            </a:r>
            <a:endParaRPr lang="en-US" altLang="en-US" sz="1400" dirty="0">
              <a:latin typeface="Arial" panose="020B0604020202020204" pitchFamily="34" charset="0"/>
            </a:endParaRPr>
          </a:p>
        </p:txBody>
      </p:sp>
      <p:sp>
        <p:nvSpPr>
          <p:cNvPr id="10243" name="Rectangle 4"/>
          <p:cNvSpPr>
            <a:spLocks noGrp="1"/>
          </p:cNvSpPr>
          <p:nvPr>
            <p:ph type="title"/>
          </p:nvPr>
        </p:nvSpPr>
        <p:spPr>
          <a:xfrm>
            <a:off x="269875" y="136525"/>
            <a:ext cx="8850313" cy="1143000"/>
          </a:xfrm>
        </p:spPr>
        <p:txBody>
          <a:bodyPr vert="horz" wrap="square" lIns="91440" tIns="45720" rIns="91440" bIns="45720" anchor="ctr" anchorCtr="0"/>
          <a:p>
            <a:pPr eaLnBrk="1" hangingPunct="1"/>
            <a:r>
              <a:rPr lang="en-US" altLang="en-US" sz="3600" kern="1200" dirty="0">
                <a:latin typeface="Arial Rounded MT Bold" panose="020F0704030504030204" pitchFamily="34" charset="0"/>
                <a:ea typeface="+mj-ea"/>
                <a:cs typeface="+mj-cs"/>
              </a:rPr>
              <a:t>Analyst’s Task: </a:t>
            </a:r>
            <a:r>
              <a:rPr lang="en-US" altLang="en-US" kern="1200" dirty="0">
                <a:latin typeface="Arial Rounded MT Bold" panose="020F0704030504030204" pitchFamily="34" charset="0"/>
                <a:ea typeface="+mj-ea"/>
                <a:cs typeface="+mj-cs"/>
              </a:rPr>
              <a:t>Three Descriptions</a:t>
            </a:r>
            <a:endParaRPr lang="en-US" altLang="en-US" kern="1200" dirty="0">
              <a:latin typeface="Arial Rounded MT Bold" panose="020F0704030504030204" pitchFamily="34" charset="0"/>
              <a:ea typeface="+mj-ea"/>
              <a:cs typeface="+mj-cs"/>
            </a:endParaRPr>
          </a:p>
        </p:txBody>
      </p:sp>
      <p:sp>
        <p:nvSpPr>
          <p:cNvPr id="10244" name="Text Box 5"/>
          <p:cNvSpPr txBox="1"/>
          <p:nvPr/>
        </p:nvSpPr>
        <p:spPr>
          <a:xfrm>
            <a:off x="131763" y="2116138"/>
            <a:ext cx="2562225" cy="1563687"/>
          </a:xfrm>
          <a:prstGeom prst="rect">
            <a:avLst/>
          </a:prstGeom>
          <a:noFill/>
          <a:ln w="9525">
            <a:noFill/>
          </a:ln>
        </p:spPr>
        <p:txBody>
          <a:bodyPr lIns="0" tIns="0" rIns="0" bIns="0">
            <a:spAutoFit/>
          </a:bodyPr>
          <a:p>
            <a:pPr eaLnBrk="1" hangingPunct="1"/>
            <a:r>
              <a:rPr lang="en-US" altLang="en-US" sz="2600" dirty="0">
                <a:latin typeface="Arial" panose="020B0604020202020204" pitchFamily="34" charset="0"/>
              </a:rPr>
              <a:t>What user wants:</a:t>
            </a:r>
            <a:endParaRPr lang="en-US" altLang="en-US" sz="2600" dirty="0">
              <a:latin typeface="Arial" panose="020B0604020202020204" pitchFamily="34" charset="0"/>
            </a:endParaRPr>
          </a:p>
          <a:p>
            <a:pPr eaLnBrk="1" hangingPunct="1"/>
            <a:endParaRPr lang="en-US" altLang="en-US" sz="1400" dirty="0">
              <a:latin typeface="Arial" panose="020B0604020202020204" pitchFamily="34" charset="0"/>
            </a:endParaRPr>
          </a:p>
          <a:p>
            <a:pPr eaLnBrk="1" hangingPunct="1"/>
            <a:r>
              <a:rPr lang="en-US" altLang="en-US" sz="1400" dirty="0">
                <a:latin typeface="Arial" panose="020B0604020202020204" pitchFamily="34" charset="0"/>
              </a:rPr>
              <a:t>When valid keycode entered + Unlock pressed, open the lock;</a:t>
            </a:r>
            <a:endParaRPr lang="en-US" altLang="en-US" sz="1400" dirty="0">
              <a:latin typeface="Arial" panose="020B0604020202020204" pitchFamily="34" charset="0"/>
            </a:endParaRPr>
          </a:p>
          <a:p>
            <a:pPr eaLnBrk="1" hangingPunct="1">
              <a:spcBef>
                <a:spcPct val="40000"/>
              </a:spcBef>
            </a:pPr>
            <a:r>
              <a:rPr lang="en-US" altLang="en-US" sz="1400" dirty="0">
                <a:latin typeface="Arial" panose="020B0604020202020204" pitchFamily="34" charset="0"/>
              </a:rPr>
              <a:t>Automatically lock after a period of time.</a:t>
            </a:r>
            <a:endParaRPr lang="en-US" altLang="en-US" sz="1400" dirty="0">
              <a:latin typeface="Arial" panose="020B0604020202020204" pitchFamily="34" charset="0"/>
            </a:endParaRPr>
          </a:p>
        </p:txBody>
      </p:sp>
      <p:sp>
        <p:nvSpPr>
          <p:cNvPr id="10245" name="Text Box 6"/>
          <p:cNvSpPr txBox="1"/>
          <p:nvPr/>
        </p:nvSpPr>
        <p:spPr>
          <a:xfrm>
            <a:off x="131763" y="1481138"/>
            <a:ext cx="1974850" cy="304800"/>
          </a:xfrm>
          <a:prstGeom prst="rect">
            <a:avLst/>
          </a:prstGeom>
          <a:solidFill>
            <a:srgbClr val="FFFF99"/>
          </a:solidFill>
          <a:ln w="9525">
            <a:noFill/>
          </a:ln>
        </p:spPr>
        <p:txBody>
          <a:bodyPr wrap="none" lIns="0" tIns="0" rIns="0" bIns="0">
            <a:spAutoFit/>
          </a:bodyPr>
          <a:p>
            <a:pPr eaLnBrk="1" hangingPunct="1"/>
            <a:r>
              <a:rPr lang="en-US" altLang="en-US" sz="2000" dirty="0">
                <a:latin typeface="Arial" panose="020B0604020202020204" pitchFamily="34" charset="0"/>
              </a:rPr>
              <a:t>The </a:t>
            </a:r>
            <a:r>
              <a:rPr lang="en-US" altLang="en-US" sz="2000" b="1" i="1" dirty="0">
                <a:latin typeface="Arial" panose="020B0604020202020204" pitchFamily="34" charset="0"/>
              </a:rPr>
              <a:t>requirement</a:t>
            </a:r>
            <a:endParaRPr lang="en-US" altLang="en-US" sz="2000" b="1" i="1" dirty="0">
              <a:latin typeface="Arial" panose="020B0604020202020204" pitchFamily="34" charset="0"/>
            </a:endParaRPr>
          </a:p>
        </p:txBody>
      </p:sp>
      <p:sp>
        <p:nvSpPr>
          <p:cNvPr id="10246" name="Text Box 7"/>
          <p:cNvSpPr txBox="1"/>
          <p:nvPr/>
        </p:nvSpPr>
        <p:spPr>
          <a:xfrm>
            <a:off x="3006725" y="1798638"/>
            <a:ext cx="2482850" cy="304800"/>
          </a:xfrm>
          <a:prstGeom prst="rect">
            <a:avLst/>
          </a:prstGeom>
          <a:solidFill>
            <a:srgbClr val="FFFF99"/>
          </a:solidFill>
          <a:ln w="9525">
            <a:noFill/>
          </a:ln>
        </p:spPr>
        <p:txBody>
          <a:bodyPr wrap="none" lIns="0" tIns="0" rIns="0" bIns="0">
            <a:spAutoFit/>
          </a:bodyPr>
          <a:p>
            <a:pPr eaLnBrk="1" hangingPunct="1"/>
            <a:r>
              <a:rPr lang="en-US" altLang="en-US" sz="2000" dirty="0">
                <a:latin typeface="Arial" panose="020B0604020202020204" pitchFamily="34" charset="0"/>
              </a:rPr>
              <a:t>The </a:t>
            </a:r>
            <a:r>
              <a:rPr lang="en-US" altLang="en-US" sz="2000" b="1" i="1" dirty="0">
                <a:latin typeface="Arial" panose="020B0604020202020204" pitchFamily="34" charset="0"/>
              </a:rPr>
              <a:t>problem domain</a:t>
            </a:r>
            <a:endParaRPr lang="en-US" altLang="en-US" sz="2000" b="1" i="1" dirty="0">
              <a:latin typeface="Arial" panose="020B0604020202020204" pitchFamily="34" charset="0"/>
            </a:endParaRPr>
          </a:p>
        </p:txBody>
      </p:sp>
      <p:sp>
        <p:nvSpPr>
          <p:cNvPr id="10247" name="Text Box 8"/>
          <p:cNvSpPr txBox="1"/>
          <p:nvPr/>
        </p:nvSpPr>
        <p:spPr>
          <a:xfrm>
            <a:off x="6773863" y="2116138"/>
            <a:ext cx="2058987" cy="304800"/>
          </a:xfrm>
          <a:prstGeom prst="rect">
            <a:avLst/>
          </a:prstGeom>
          <a:solidFill>
            <a:srgbClr val="FFFF99"/>
          </a:solidFill>
          <a:ln w="9525">
            <a:noFill/>
          </a:ln>
        </p:spPr>
        <p:txBody>
          <a:bodyPr wrap="none" lIns="0" tIns="0" rIns="0" bIns="0">
            <a:spAutoFit/>
          </a:bodyPr>
          <a:p>
            <a:pPr eaLnBrk="1" hangingPunct="1"/>
            <a:r>
              <a:rPr lang="en-US" altLang="en-US" sz="2000" dirty="0">
                <a:latin typeface="Arial" panose="020B0604020202020204" pitchFamily="34" charset="0"/>
              </a:rPr>
              <a:t>The </a:t>
            </a:r>
            <a:r>
              <a:rPr lang="en-US" altLang="en-US" sz="2000" b="1" i="1" dirty="0">
                <a:latin typeface="Arial" panose="020B0604020202020204" pitchFamily="34" charset="0"/>
              </a:rPr>
              <a:t>specification</a:t>
            </a:r>
            <a:endParaRPr lang="en-US" altLang="en-US" sz="2000" b="1" i="1" dirty="0">
              <a:latin typeface="Arial" panose="020B0604020202020204" pitchFamily="34" charset="0"/>
            </a:endParaRPr>
          </a:p>
        </p:txBody>
      </p:sp>
      <p:sp>
        <p:nvSpPr>
          <p:cNvPr id="10248" name="Text Box 9"/>
          <p:cNvSpPr txBox="1"/>
          <p:nvPr/>
        </p:nvSpPr>
        <p:spPr>
          <a:xfrm>
            <a:off x="6035675" y="2744788"/>
            <a:ext cx="3001963" cy="2481262"/>
          </a:xfrm>
          <a:prstGeom prst="rect">
            <a:avLst/>
          </a:prstGeom>
          <a:noFill/>
          <a:ln w="9525">
            <a:noFill/>
          </a:ln>
        </p:spPr>
        <p:txBody>
          <a:bodyPr lIns="0" tIns="0" rIns="0" bIns="0">
            <a:spAutoFit/>
          </a:bodyPr>
          <a:p>
            <a:pPr eaLnBrk="1" hangingPunct="1"/>
            <a:r>
              <a:rPr lang="en-US" altLang="en-US" sz="2600" dirty="0">
                <a:latin typeface="Arial" panose="020B0604020202020204" pitchFamily="34" charset="0"/>
              </a:rPr>
              <a:t>What software-to-be will do (at interface):</a:t>
            </a:r>
            <a:endParaRPr lang="en-US" altLang="en-US" sz="2600" dirty="0">
              <a:latin typeface="Arial" panose="020B0604020202020204" pitchFamily="34" charset="0"/>
            </a:endParaRPr>
          </a:p>
          <a:p>
            <a:pPr eaLnBrk="1" hangingPunct="1"/>
            <a:endParaRPr lang="en-US" altLang="en-US" sz="1400" dirty="0">
              <a:latin typeface="Arial" panose="020B0604020202020204" pitchFamily="34" charset="0"/>
            </a:endParaRPr>
          </a:p>
          <a:p>
            <a:pPr eaLnBrk="1" hangingPunct="1"/>
            <a:r>
              <a:rPr lang="en-US" altLang="en-US" sz="1400" dirty="0">
                <a:latin typeface="Arial" panose="020B0604020202020204" pitchFamily="34" charset="0"/>
              </a:rPr>
              <a:t>If entered number matches one of stored numbers + Button-1 pressed, put HIGH voltage on Output-port-1;</a:t>
            </a:r>
            <a:endParaRPr lang="en-US" altLang="en-US" sz="1400" dirty="0">
              <a:latin typeface="Arial" panose="020B0604020202020204" pitchFamily="34" charset="0"/>
            </a:endParaRPr>
          </a:p>
          <a:p>
            <a:pPr eaLnBrk="1" hangingPunct="1">
              <a:spcBef>
                <a:spcPct val="40000"/>
              </a:spcBef>
            </a:pPr>
            <a:r>
              <a:rPr lang="en-US" altLang="en-US" sz="1400" dirty="0">
                <a:latin typeface="Arial" panose="020B0604020202020204" pitchFamily="34" charset="0"/>
              </a:rPr>
              <a:t>Start a timer countdown;</a:t>
            </a:r>
            <a:endParaRPr lang="en-US" altLang="en-US" sz="1400" dirty="0">
              <a:latin typeface="Arial" panose="020B0604020202020204" pitchFamily="34" charset="0"/>
            </a:endParaRPr>
          </a:p>
          <a:p>
            <a:pPr eaLnBrk="1" hangingPunct="1">
              <a:spcBef>
                <a:spcPct val="40000"/>
              </a:spcBef>
            </a:pPr>
            <a:r>
              <a:rPr lang="en-US" altLang="en-US" sz="1400" dirty="0">
                <a:latin typeface="Arial" panose="020B0604020202020204" pitchFamily="34" charset="0"/>
              </a:rPr>
              <a:t>When the timer expires,</a:t>
            </a:r>
            <a:br>
              <a:rPr lang="en-US" altLang="en-US" sz="1400" dirty="0">
                <a:latin typeface="Arial" panose="020B0604020202020204" pitchFamily="34" charset="0"/>
              </a:rPr>
            </a:br>
            <a:r>
              <a:rPr lang="en-US" altLang="en-US" sz="1400" dirty="0">
                <a:latin typeface="Arial" panose="020B0604020202020204" pitchFamily="34" charset="0"/>
              </a:rPr>
              <a:t>put LOW voltage on Output-port-1.</a:t>
            </a:r>
            <a:endParaRPr lang="en-US" altLang="en-US" sz="1400" dirty="0">
              <a:latin typeface="Arial" panose="020B0604020202020204" pitchFamily="34" charset="0"/>
            </a:endParaRPr>
          </a:p>
        </p:txBody>
      </p:sp>
      <p:sp>
        <p:nvSpPr>
          <p:cNvPr id="10249" name="Freeform 10"/>
          <p:cNvSpPr>
            <a:spLocks noChangeAspect="1"/>
          </p:cNvSpPr>
          <p:nvPr/>
        </p:nvSpPr>
        <p:spPr>
          <a:xfrm rot="-1724579" flipH="1">
            <a:off x="4545013" y="5154613"/>
            <a:ext cx="92075" cy="92075"/>
          </a:xfrm>
          <a:custGeom>
            <a:avLst/>
            <a:gdLst>
              <a:gd name="txL" fmla="*/ 0 w 294"/>
              <a:gd name="txT" fmla="*/ 0 h 294"/>
              <a:gd name="txR" fmla="*/ 294 w 294"/>
              <a:gd name="txB" fmla="*/ 294 h 294"/>
            </a:gdLst>
            <a:ahLst/>
            <a:cxnLst>
              <a:cxn ang="0">
                <a:pos x="0" y="2147483647"/>
              </a:cxn>
              <a:cxn ang="0">
                <a:pos x="2147483647" y="2147483647"/>
              </a:cxn>
              <a:cxn ang="0">
                <a:pos x="0" y="0"/>
              </a:cxn>
            </a:cxnLst>
            <a:rect l="txL" t="txT" r="txR" b="txB"/>
            <a:pathLst>
              <a:path w="294" h="294">
                <a:moveTo>
                  <a:pt x="0" y="294"/>
                </a:moveTo>
                <a:lnTo>
                  <a:pt x="294" y="147"/>
                </a:lnTo>
                <a:lnTo>
                  <a:pt x="0" y="0"/>
                </a:ln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cxnSp>
        <p:nvCxnSpPr>
          <p:cNvPr id="10250" name="AutoShape 13"/>
          <p:cNvCxnSpPr>
            <a:cxnSpLocks noChangeAspect="1"/>
            <a:stCxn id="10251" idx="4"/>
            <a:endCxn id="10255" idx="1"/>
          </p:cNvCxnSpPr>
          <p:nvPr/>
        </p:nvCxnSpPr>
        <p:spPr>
          <a:xfrm>
            <a:off x="4084638" y="3344863"/>
            <a:ext cx="0" cy="304800"/>
          </a:xfrm>
          <a:prstGeom prst="straightConnector1">
            <a:avLst/>
          </a:prstGeom>
          <a:ln w="6350" cap="flat" cmpd="sng">
            <a:solidFill>
              <a:schemeClr val="tx1"/>
            </a:solidFill>
            <a:prstDash val="solid"/>
            <a:headEnd type="none" w="med" len="med"/>
            <a:tailEnd type="none" w="lg" len="lg"/>
          </a:ln>
        </p:spPr>
      </p:cxnSp>
      <p:sp>
        <p:nvSpPr>
          <p:cNvPr id="10251" name="Oval 14"/>
          <p:cNvSpPr>
            <a:spLocks noChangeAspect="1"/>
          </p:cNvSpPr>
          <p:nvPr/>
        </p:nvSpPr>
        <p:spPr>
          <a:xfrm>
            <a:off x="4016375" y="3208338"/>
            <a:ext cx="136525" cy="136525"/>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10252" name="AutoShape 15"/>
          <p:cNvSpPr/>
          <p:nvPr/>
        </p:nvSpPr>
        <p:spPr>
          <a:xfrm>
            <a:off x="3627438" y="3663950"/>
            <a:ext cx="914400" cy="411163"/>
          </a:xfrm>
          <a:prstGeom prst="roundRect">
            <a:avLst>
              <a:gd name="adj" fmla="val 22667"/>
            </a:avLst>
          </a:prstGeom>
          <a:solidFill>
            <a:schemeClr val="bg1"/>
          </a:solidFill>
          <a:ln w="12700" cap="flat" cmpd="sng">
            <a:solidFill>
              <a:schemeClr val="tx1"/>
            </a:solidFill>
            <a:prstDash val="solid"/>
            <a:headEnd type="none" w="med" len="med"/>
            <a:tailEnd type="none" w="med" len="med"/>
          </a:ln>
        </p:spPr>
        <p:txBody>
          <a:bodyPr wrap="none" anchor="ctr" anchorCtr="0"/>
          <a:p>
            <a:pPr algn="ctr" eaLnBrk="1" hangingPunct="1"/>
            <a:r>
              <a:rPr lang="en-US" altLang="en-US" sz="1100" dirty="0">
                <a:latin typeface="Arial" panose="020B0604020202020204" pitchFamily="34" charset="0"/>
              </a:rPr>
              <a:t>Armed</a:t>
            </a:r>
            <a:endParaRPr lang="en-US" altLang="en-US" sz="1100" dirty="0">
              <a:latin typeface="Arial" panose="020B0604020202020204" pitchFamily="34" charset="0"/>
            </a:endParaRPr>
          </a:p>
        </p:txBody>
      </p:sp>
      <p:sp>
        <p:nvSpPr>
          <p:cNvPr id="10253" name="Text Box 16"/>
          <p:cNvSpPr txBox="1">
            <a:spLocks noChangeAspect="1"/>
          </p:cNvSpPr>
          <p:nvPr/>
        </p:nvSpPr>
        <p:spPr>
          <a:xfrm>
            <a:off x="4394200" y="4483100"/>
            <a:ext cx="330200" cy="122238"/>
          </a:xfrm>
          <a:prstGeom prst="rect">
            <a:avLst/>
          </a:prstGeom>
          <a:noFill/>
          <a:ln w="9525">
            <a:noFill/>
          </a:ln>
        </p:spPr>
        <p:txBody>
          <a:bodyPr wrap="none" lIns="9144" tIns="0" rIns="9144" bIns="0">
            <a:spAutoFit/>
          </a:bodyPr>
          <a:p>
            <a:pPr eaLnBrk="1" hangingPunct="1"/>
            <a:r>
              <a:rPr lang="en-US" altLang="en-US" sz="800" dirty="0">
                <a:latin typeface="Arial" panose="020B0604020202020204" pitchFamily="34" charset="0"/>
              </a:rPr>
              <a:t>HIGH /</a:t>
            </a:r>
            <a:endParaRPr lang="en-US" altLang="en-US" sz="800" dirty="0">
              <a:latin typeface="Arial" panose="020B0604020202020204" pitchFamily="34" charset="0"/>
            </a:endParaRPr>
          </a:p>
        </p:txBody>
      </p:sp>
      <p:sp>
        <p:nvSpPr>
          <p:cNvPr id="10254" name="AutoShape 17"/>
          <p:cNvSpPr/>
          <p:nvPr/>
        </p:nvSpPr>
        <p:spPr>
          <a:xfrm>
            <a:off x="3627438" y="5013325"/>
            <a:ext cx="914400" cy="411163"/>
          </a:xfrm>
          <a:prstGeom prst="roundRect">
            <a:avLst>
              <a:gd name="adj" fmla="val 22667"/>
            </a:avLst>
          </a:prstGeom>
          <a:solidFill>
            <a:schemeClr val="bg1"/>
          </a:solidFill>
          <a:ln w="12700" cap="flat" cmpd="sng">
            <a:solidFill>
              <a:schemeClr val="tx1"/>
            </a:solidFill>
            <a:prstDash val="solid"/>
            <a:headEnd type="none" w="med" len="med"/>
            <a:tailEnd type="none" w="med" len="med"/>
          </a:ln>
        </p:spPr>
        <p:txBody>
          <a:bodyPr wrap="none" anchor="ctr" anchorCtr="0"/>
          <a:p>
            <a:pPr algn="ctr" eaLnBrk="1" hangingPunct="1"/>
            <a:r>
              <a:rPr lang="en-US" altLang="en-US" sz="1100" dirty="0">
                <a:latin typeface="Arial" panose="020B0604020202020204" pitchFamily="34" charset="0"/>
              </a:rPr>
              <a:t>Disarmed</a:t>
            </a:r>
            <a:endParaRPr lang="en-US" altLang="en-US" sz="1100" dirty="0">
              <a:latin typeface="Arial" panose="020B0604020202020204" pitchFamily="34" charset="0"/>
            </a:endParaRPr>
          </a:p>
        </p:txBody>
      </p:sp>
      <p:sp>
        <p:nvSpPr>
          <p:cNvPr id="10255" name="Freeform 18"/>
          <p:cNvSpPr>
            <a:spLocks noChangeAspect="1"/>
          </p:cNvSpPr>
          <p:nvPr/>
        </p:nvSpPr>
        <p:spPr>
          <a:xfrm>
            <a:off x="4038600" y="3557588"/>
            <a:ext cx="92075" cy="92075"/>
          </a:xfrm>
          <a:custGeom>
            <a:avLst/>
            <a:gdLst>
              <a:gd name="txL" fmla="*/ 0 w 294"/>
              <a:gd name="txT" fmla="*/ 0 h 294"/>
              <a:gd name="txR" fmla="*/ 294 w 294"/>
              <a:gd name="txB" fmla="*/ 294 h 294"/>
            </a:gdLst>
            <a:ahLst/>
            <a:cxnLst>
              <a:cxn ang="0">
                <a:pos x="0" y="0"/>
              </a:cxn>
              <a:cxn ang="0">
                <a:pos x="2147483647" y="2147483647"/>
              </a:cxn>
              <a:cxn ang="0">
                <a:pos x="2147483647" y="0"/>
              </a:cxn>
            </a:cxnLst>
            <a:rect l="txL" t="txT" r="txR" b="txB"/>
            <a:pathLst>
              <a:path w="294" h="294">
                <a:moveTo>
                  <a:pt x="0" y="0"/>
                </a:moveTo>
                <a:lnTo>
                  <a:pt x="147" y="294"/>
                </a:lnTo>
                <a:lnTo>
                  <a:pt x="294" y="0"/>
                </a:ln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cxnSp>
        <p:nvCxnSpPr>
          <p:cNvPr id="10256" name="AutoShape 21"/>
          <p:cNvCxnSpPr>
            <a:stCxn id="10252" idx="3"/>
            <a:endCxn id="10254" idx="3"/>
          </p:cNvCxnSpPr>
          <p:nvPr/>
        </p:nvCxnSpPr>
        <p:spPr>
          <a:xfrm>
            <a:off x="4541838" y="3870325"/>
            <a:ext cx="1587" cy="1349375"/>
          </a:xfrm>
          <a:prstGeom prst="curvedConnector3">
            <a:avLst>
              <a:gd name="adj1" fmla="val 14400005"/>
            </a:avLst>
          </a:prstGeom>
          <a:ln w="6350" cap="flat" cmpd="sng">
            <a:solidFill>
              <a:schemeClr val="tx1"/>
            </a:solidFill>
            <a:prstDash val="solid"/>
            <a:headEnd type="none" w="med" len="med"/>
            <a:tailEnd type="none" w="lg" len="lg"/>
          </a:ln>
        </p:spPr>
      </p:cxnSp>
      <p:cxnSp>
        <p:nvCxnSpPr>
          <p:cNvPr id="10257" name="AutoShape 22"/>
          <p:cNvCxnSpPr>
            <a:stCxn id="10254" idx="1"/>
            <a:endCxn id="10252" idx="1"/>
          </p:cNvCxnSpPr>
          <p:nvPr/>
        </p:nvCxnSpPr>
        <p:spPr>
          <a:xfrm rot="-10800000" flipH="1">
            <a:off x="3627438" y="3870325"/>
            <a:ext cx="1587" cy="1349375"/>
          </a:xfrm>
          <a:prstGeom prst="curvedConnector3">
            <a:avLst>
              <a:gd name="adj1" fmla="val -14400005"/>
            </a:avLst>
          </a:prstGeom>
          <a:ln w="6350" cap="flat" cmpd="sng">
            <a:solidFill>
              <a:schemeClr val="tx1"/>
            </a:solidFill>
            <a:prstDash val="solid"/>
            <a:headEnd type="none" w="med" len="med"/>
            <a:tailEnd type="none" w="lg" len="lg"/>
          </a:ln>
        </p:spPr>
      </p:cxnSp>
      <p:sp>
        <p:nvSpPr>
          <p:cNvPr id="10258" name="Freeform 23"/>
          <p:cNvSpPr>
            <a:spLocks noChangeAspect="1"/>
          </p:cNvSpPr>
          <p:nvPr/>
        </p:nvSpPr>
        <p:spPr>
          <a:xfrm rot="-1724579" flipV="1">
            <a:off x="3535363" y="3844925"/>
            <a:ext cx="92075" cy="92075"/>
          </a:xfrm>
          <a:custGeom>
            <a:avLst/>
            <a:gdLst>
              <a:gd name="txL" fmla="*/ 0 w 294"/>
              <a:gd name="txT" fmla="*/ 0 h 294"/>
              <a:gd name="txR" fmla="*/ 294 w 294"/>
              <a:gd name="txB" fmla="*/ 294 h 294"/>
            </a:gdLst>
            <a:ahLst/>
            <a:cxnLst>
              <a:cxn ang="0">
                <a:pos x="0" y="2147483647"/>
              </a:cxn>
              <a:cxn ang="0">
                <a:pos x="2147483647" y="2147483647"/>
              </a:cxn>
              <a:cxn ang="0">
                <a:pos x="0" y="0"/>
              </a:cxn>
            </a:cxnLst>
            <a:rect l="txL" t="txT" r="txR" b="txB"/>
            <a:pathLst>
              <a:path w="294" h="294">
                <a:moveTo>
                  <a:pt x="0" y="294"/>
                </a:moveTo>
                <a:lnTo>
                  <a:pt x="294" y="147"/>
                </a:lnTo>
                <a:lnTo>
                  <a:pt x="0" y="0"/>
                </a:ln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0259" name="Text Box 24"/>
          <p:cNvSpPr txBox="1">
            <a:spLocks noChangeAspect="1"/>
          </p:cNvSpPr>
          <p:nvPr/>
        </p:nvSpPr>
        <p:spPr>
          <a:xfrm>
            <a:off x="3006725" y="4459288"/>
            <a:ext cx="307975" cy="122237"/>
          </a:xfrm>
          <a:prstGeom prst="rect">
            <a:avLst/>
          </a:prstGeom>
          <a:noFill/>
          <a:ln w="9525">
            <a:noFill/>
          </a:ln>
        </p:spPr>
        <p:txBody>
          <a:bodyPr wrap="none" lIns="9144" tIns="0" rIns="9144" bIns="0">
            <a:spAutoFit/>
          </a:bodyPr>
          <a:p>
            <a:pPr eaLnBrk="1" hangingPunct="1"/>
            <a:r>
              <a:rPr lang="en-US" altLang="en-US" sz="800" dirty="0">
                <a:latin typeface="Arial" panose="020B0604020202020204" pitchFamily="34" charset="0"/>
              </a:rPr>
              <a:t>LOW /</a:t>
            </a:r>
            <a:endParaRPr lang="en-US" altLang="en-US" sz="800" dirty="0">
              <a:latin typeface="Arial" panose="020B0604020202020204" pitchFamily="34" charset="0"/>
            </a:endParaRPr>
          </a:p>
        </p:txBody>
      </p:sp>
      <p:pic>
        <p:nvPicPr>
          <p:cNvPr id="10260" name="Picture 25"/>
          <p:cNvPicPr>
            <a:picLocks noChangeAspect="1"/>
          </p:cNvPicPr>
          <p:nvPr/>
        </p:nvPicPr>
        <p:blipFill>
          <a:blip r:embed="rId1"/>
          <a:stretch>
            <a:fillRect/>
          </a:stretch>
        </p:blipFill>
        <p:spPr>
          <a:xfrm>
            <a:off x="3789363" y="5554663"/>
            <a:ext cx="682625" cy="830262"/>
          </a:xfrm>
          <a:prstGeom prst="rect">
            <a:avLst/>
          </a:prstGeom>
          <a:noFill/>
          <a:ln w="9525">
            <a:noFill/>
          </a:ln>
        </p:spPr>
      </p:pic>
      <p:sp>
        <p:nvSpPr>
          <p:cNvPr id="10261" name="Text Box 9"/>
          <p:cNvSpPr txBox="1"/>
          <p:nvPr/>
        </p:nvSpPr>
        <p:spPr>
          <a:xfrm>
            <a:off x="3008313" y="2328863"/>
            <a:ext cx="2771775" cy="800100"/>
          </a:xfrm>
          <a:prstGeom prst="rect">
            <a:avLst/>
          </a:prstGeom>
          <a:noFill/>
          <a:ln w="9525">
            <a:noFill/>
          </a:ln>
        </p:spPr>
        <p:txBody>
          <a:bodyPr lIns="0" tIns="0" rIns="0" bIns="0">
            <a:spAutoFit/>
          </a:bodyPr>
          <a:p>
            <a:pPr eaLnBrk="1" hangingPunct="1"/>
            <a:r>
              <a:rPr lang="en-US" altLang="en-US" sz="2600" dirty="0">
                <a:latin typeface="Arial" panose="020B0604020202020204" pitchFamily="34" charset="0"/>
              </a:rPr>
              <a:t>How problem domain behaves:</a:t>
            </a:r>
            <a:endParaRPr lang="en-US" altLang="en-US" sz="2600" dirty="0">
              <a:latin typeface="Arial" panose="020B0604020202020204" pitchFamily="34" charset="0"/>
            </a:endParaRPr>
          </a:p>
        </p:txBody>
      </p:sp>
      <p:sp>
        <p:nvSpPr>
          <p:cNvPr id="10262" name="Text Box 24"/>
          <p:cNvSpPr txBox="1">
            <a:spLocks noChangeAspect="1"/>
          </p:cNvSpPr>
          <p:nvPr/>
        </p:nvSpPr>
        <p:spPr>
          <a:xfrm>
            <a:off x="2598738" y="5832475"/>
            <a:ext cx="1071562" cy="123825"/>
          </a:xfrm>
          <a:prstGeom prst="rect">
            <a:avLst/>
          </a:prstGeom>
          <a:noFill/>
          <a:ln w="9525">
            <a:noFill/>
          </a:ln>
        </p:spPr>
        <p:txBody>
          <a:bodyPr wrap="none" lIns="9144" tIns="0" rIns="9144" bIns="0">
            <a:spAutoFit/>
          </a:bodyPr>
          <a:p>
            <a:pPr eaLnBrk="1" hangingPunct="1"/>
            <a:r>
              <a:rPr lang="en-US" altLang="en-US" sz="800" dirty="0">
                <a:latin typeface="Arial" panose="020B0604020202020204" pitchFamily="34" charset="0"/>
              </a:rPr>
              <a:t>Electromechanical lock</a:t>
            </a:r>
            <a:endParaRPr lang="en-US" altLang="en-US" sz="800" dirty="0">
              <a:latin typeface="Arial" panose="020B0604020202020204" pitchFamily="34" charset="0"/>
            </a:endParaRPr>
          </a:p>
        </p:txBody>
      </p:sp>
      <p:sp>
        <p:nvSpPr>
          <p:cNvPr id="2" name="Freeform 1"/>
          <p:cNvSpPr/>
          <p:nvPr/>
        </p:nvSpPr>
        <p:spPr>
          <a:xfrm>
            <a:off x="1109663" y="3792538"/>
            <a:ext cx="4879975" cy="2692400"/>
          </a:xfrm>
          <a:custGeom>
            <a:avLst/>
            <a:gdLst>
              <a:gd name="connsiteX0" fmla="*/ 4852086 w 4852086"/>
              <a:gd name="connsiteY0" fmla="*/ 2660821 h 2660821"/>
              <a:gd name="connsiteX1" fmla="*/ 345989 w 4852086"/>
              <a:gd name="connsiteY1" fmla="*/ 2405448 h 2660821"/>
              <a:gd name="connsiteX2" fmla="*/ 0 w 4852086"/>
              <a:gd name="connsiteY2" fmla="*/ 0 h 2660821"/>
              <a:gd name="connsiteX0-1" fmla="*/ 4852086 w 4852086"/>
              <a:gd name="connsiteY0-2" fmla="*/ 2660821 h 2660821"/>
              <a:gd name="connsiteX1-3" fmla="*/ 345989 w 4852086"/>
              <a:gd name="connsiteY1-4" fmla="*/ 2405448 h 2660821"/>
              <a:gd name="connsiteX2-5" fmla="*/ 0 w 4852086"/>
              <a:gd name="connsiteY2-6" fmla="*/ 0 h 2660821"/>
              <a:gd name="connsiteX0-7" fmla="*/ 4945471 w 4945471"/>
              <a:gd name="connsiteY0-8" fmla="*/ 2660821 h 2660821"/>
              <a:gd name="connsiteX1-9" fmla="*/ 439374 w 4945471"/>
              <a:gd name="connsiteY1-10" fmla="*/ 2405448 h 2660821"/>
              <a:gd name="connsiteX2-11" fmla="*/ 93385 w 4945471"/>
              <a:gd name="connsiteY2-12" fmla="*/ 0 h 2660821"/>
              <a:gd name="connsiteX0-13" fmla="*/ 4915255 w 4915255"/>
              <a:gd name="connsiteY0-14" fmla="*/ 2660821 h 2660821"/>
              <a:gd name="connsiteX1-15" fmla="*/ 409158 w 4915255"/>
              <a:gd name="connsiteY1-16" fmla="*/ 2405448 h 2660821"/>
              <a:gd name="connsiteX2-17" fmla="*/ 63169 w 4915255"/>
              <a:gd name="connsiteY2-18" fmla="*/ 0 h 2660821"/>
              <a:gd name="connsiteX0-19" fmla="*/ 4861529 w 4861529"/>
              <a:gd name="connsiteY0-20" fmla="*/ 2660821 h 2660821"/>
              <a:gd name="connsiteX1-21" fmla="*/ 355432 w 4861529"/>
              <a:gd name="connsiteY1-22" fmla="*/ 2405448 h 2660821"/>
              <a:gd name="connsiteX2-23" fmla="*/ 215389 w 4861529"/>
              <a:gd name="connsiteY2-24" fmla="*/ 0 h 2660821"/>
              <a:gd name="connsiteX0-25" fmla="*/ 4879802 w 4879802"/>
              <a:gd name="connsiteY0-26" fmla="*/ 2660821 h 2660821"/>
              <a:gd name="connsiteX1-27" fmla="*/ 373705 w 4879802"/>
              <a:gd name="connsiteY1-28" fmla="*/ 2405448 h 2660821"/>
              <a:gd name="connsiteX2-29" fmla="*/ 233662 w 4879802"/>
              <a:gd name="connsiteY2-30" fmla="*/ 0 h 2660821"/>
              <a:gd name="connsiteX0-31" fmla="*/ 4879802 w 4879802"/>
              <a:gd name="connsiteY0-32" fmla="*/ 2660821 h 2691663"/>
              <a:gd name="connsiteX1-33" fmla="*/ 373705 w 4879802"/>
              <a:gd name="connsiteY1-34" fmla="*/ 2405448 h 2691663"/>
              <a:gd name="connsiteX2-35" fmla="*/ 233662 w 4879802"/>
              <a:gd name="connsiteY2-36" fmla="*/ 0 h 2691663"/>
            </a:gdLst>
            <a:ahLst/>
            <a:cxnLst>
              <a:cxn ang="0">
                <a:pos x="connsiteX0-1" y="connsiteY0-2"/>
              </a:cxn>
              <a:cxn ang="0">
                <a:pos x="connsiteX1-3" y="connsiteY1-4"/>
              </a:cxn>
              <a:cxn ang="0">
                <a:pos x="connsiteX2-5" y="connsiteY2-6"/>
              </a:cxn>
            </a:cxnLst>
            <a:rect l="l" t="t" r="r" b="b"/>
            <a:pathLst>
              <a:path w="4879802" h="2691663">
                <a:moveTo>
                  <a:pt x="4879802" y="2660821"/>
                </a:moveTo>
                <a:cubicBezTo>
                  <a:pt x="2413943" y="2732216"/>
                  <a:pt x="1189251" y="2692399"/>
                  <a:pt x="373705" y="2405448"/>
                </a:cubicBezTo>
                <a:cubicBezTo>
                  <a:pt x="-441841" y="2118497"/>
                  <a:pt x="348992" y="801816"/>
                  <a:pt x="233662" y="0"/>
                </a:cubicBezTo>
              </a:path>
            </a:pathLst>
          </a:custGeom>
          <a:noFill/>
          <a:ln>
            <a:solidFill>
              <a:srgbClr val="C000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Freeform 2"/>
          <p:cNvSpPr/>
          <p:nvPr/>
        </p:nvSpPr>
        <p:spPr>
          <a:xfrm>
            <a:off x="7764463" y="5300663"/>
            <a:ext cx="495300" cy="560388"/>
          </a:xfrm>
          <a:custGeom>
            <a:avLst/>
            <a:gdLst>
              <a:gd name="connsiteX0" fmla="*/ 0 w 321276"/>
              <a:gd name="connsiteY0" fmla="*/ 584886 h 584886"/>
              <a:gd name="connsiteX1" fmla="*/ 321276 w 321276"/>
              <a:gd name="connsiteY1" fmla="*/ 0 h 584886"/>
              <a:gd name="connsiteX0-1" fmla="*/ 222 w 321498"/>
              <a:gd name="connsiteY0-2" fmla="*/ 584886 h 584886"/>
              <a:gd name="connsiteX1-3" fmla="*/ 321498 w 321498"/>
              <a:gd name="connsiteY1-4" fmla="*/ 0 h 584886"/>
              <a:gd name="connsiteX0-5" fmla="*/ 49 w 575913"/>
              <a:gd name="connsiteY0-6" fmla="*/ 584886 h 584886"/>
              <a:gd name="connsiteX1-7" fmla="*/ 321325 w 575913"/>
              <a:gd name="connsiteY1-8" fmla="*/ 0 h 584886"/>
              <a:gd name="connsiteX0-9" fmla="*/ 52 w 500984"/>
              <a:gd name="connsiteY0-10" fmla="*/ 560172 h 560172"/>
              <a:gd name="connsiteX1-11" fmla="*/ 230712 w 500984"/>
              <a:gd name="connsiteY1-12" fmla="*/ 0 h 560172"/>
              <a:gd name="connsiteX0-13" fmla="*/ 3079 w 494868"/>
              <a:gd name="connsiteY0-14" fmla="*/ 560172 h 560172"/>
              <a:gd name="connsiteX1-15" fmla="*/ 233739 w 494868"/>
              <a:gd name="connsiteY1-16" fmla="*/ 0 h 560172"/>
            </a:gdLst>
            <a:ahLst/>
            <a:cxnLst>
              <a:cxn ang="0">
                <a:pos x="connsiteX0-1" y="connsiteY0-2"/>
              </a:cxn>
              <a:cxn ang="0">
                <a:pos x="connsiteX1-3" y="connsiteY1-4"/>
              </a:cxn>
            </a:cxnLst>
            <a:rect l="l" t="t" r="r" b="b"/>
            <a:pathLst>
              <a:path w="494868" h="560172">
                <a:moveTo>
                  <a:pt x="3079" y="560172"/>
                </a:moveTo>
                <a:cubicBezTo>
                  <a:pt x="-62824" y="365210"/>
                  <a:pt x="958668" y="606854"/>
                  <a:pt x="233739" y="0"/>
                </a:cubicBezTo>
              </a:path>
            </a:pathLst>
          </a:custGeom>
          <a:noFill/>
          <a:ln>
            <a:solidFill>
              <a:srgbClr val="C000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Cross 3"/>
          <p:cNvSpPr>
            <a:spLocks noChangeAspect="1"/>
          </p:cNvSpPr>
          <p:nvPr/>
        </p:nvSpPr>
        <p:spPr>
          <a:xfrm>
            <a:off x="2259013" y="1533525"/>
            <a:ext cx="549275" cy="549275"/>
          </a:xfrm>
          <a:prstGeom prst="plus">
            <a:avLst>
              <a:gd name="adj" fmla="val 4121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5" name="Notched Right Arrow 4"/>
          <p:cNvSpPr/>
          <p:nvPr/>
        </p:nvSpPr>
        <p:spPr>
          <a:xfrm rot="783348">
            <a:off x="5607050" y="1890713"/>
            <a:ext cx="977900" cy="484188"/>
          </a:xfrm>
          <a:prstGeom prst="notchedRightArrow">
            <a:avLst>
              <a:gd name="adj1" fmla="val 2620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0267" name="Text Box 35"/>
          <p:cNvSpPr txBox="1"/>
          <p:nvPr/>
        </p:nvSpPr>
        <p:spPr>
          <a:xfrm>
            <a:off x="166688" y="6565900"/>
            <a:ext cx="7229475" cy="215900"/>
          </a:xfrm>
          <a:prstGeom prst="rect">
            <a:avLst/>
          </a:prstGeom>
          <a:noFill/>
          <a:ln w="9525">
            <a:noFill/>
          </a:ln>
        </p:spPr>
        <p:txBody>
          <a:bodyPr wrap="none" lIns="9144" tIns="0" rIns="9144" bIns="0">
            <a:spAutoFit/>
          </a:bodyPr>
          <a:p>
            <a:r>
              <a:rPr lang="en-US" altLang="en-US" sz="1400" dirty="0">
                <a:solidFill>
                  <a:srgbClr val="000000"/>
                </a:solidFill>
                <a:latin typeface="Arial" panose="020B0604020202020204" pitchFamily="34" charset="0"/>
              </a:rPr>
              <a:t>Problem Frames tell us what each description should contain and how to verify the concern.</a:t>
            </a:r>
            <a:endParaRPr lang="en-US" altLang="en-US" sz="1400" dirty="0">
              <a:solidFill>
                <a:srgbClr val="00000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2"/>
          <p:cNvSpPr>
            <a:spLocks noGrp="1"/>
          </p:cNvSpPr>
          <p:nvPr>
            <p:ph type="title"/>
          </p:nvPr>
        </p:nvSpPr>
        <p:spPr>
          <a:xfrm>
            <a:off x="252413" y="136525"/>
            <a:ext cx="8858250" cy="1143000"/>
          </a:xfrm>
        </p:spPr>
        <p:txBody>
          <a:bodyPr vert="horz" wrap="square" lIns="91440" tIns="45720" rIns="91440" bIns="45720" anchor="ctr" anchorCtr="0"/>
          <a:p>
            <a:r>
              <a:rPr lang="en-US" altLang="en-US" kern="1200" dirty="0">
                <a:latin typeface="Arial Rounded MT Bold" panose="020F0704030504030204" pitchFamily="34" charset="0"/>
                <a:ea typeface="+mj-ea"/>
                <a:cs typeface="+mj-cs"/>
              </a:rPr>
              <a:t>Problem Framing</a:t>
            </a:r>
            <a:endParaRPr lang="en-US" altLang="en-US" kern="1200" dirty="0">
              <a:latin typeface="Arial Rounded MT Bold" panose="020F0704030504030204" pitchFamily="34" charset="0"/>
              <a:ea typeface="+mj-ea"/>
              <a:cs typeface="+mj-cs"/>
            </a:endParaRPr>
          </a:p>
        </p:txBody>
      </p:sp>
      <p:sp>
        <p:nvSpPr>
          <p:cNvPr id="11267" name="Content Placeholder 3"/>
          <p:cNvSpPr>
            <a:spLocks noGrp="1"/>
          </p:cNvSpPr>
          <p:nvPr>
            <p:ph idx="1"/>
          </p:nvPr>
        </p:nvSpPr>
        <p:spPr>
          <a:xfrm>
            <a:off x="382588" y="1600200"/>
            <a:ext cx="8728075" cy="4824413"/>
          </a:xfrm>
        </p:spPr>
        <p:txBody>
          <a:bodyPr vert="horz" wrap="square" lIns="91440" tIns="45720" rIns="91440" bIns="45720" anchor="t" anchorCtr="0"/>
          <a:p>
            <a:pPr>
              <a:lnSpc>
                <a:spcPct val="90000"/>
              </a:lnSpc>
              <a:buClr>
                <a:srgbClr val="800000"/>
              </a:buClr>
            </a:pPr>
            <a:r>
              <a:rPr lang="en-US" altLang="zh-CN" kern="1200" dirty="0">
                <a:latin typeface="Calibri" panose="020F0502020204030204" pitchFamily="34" charset="0"/>
                <a:ea typeface="宋体" panose="02010600030101010101" pitchFamily="2" charset="-122"/>
                <a:cs typeface="+mn-cs"/>
              </a:rPr>
              <a:t>Problem framing means dividing the problem at its “seams” into smaller sub-problems</a:t>
            </a:r>
            <a:endParaRPr lang="en-US" altLang="zh-CN" kern="1200" dirty="0">
              <a:latin typeface="Calibri" panose="020F0502020204030204" pitchFamily="34" charset="0"/>
              <a:ea typeface="宋体" panose="02010600030101010101" pitchFamily="2" charset="-122"/>
              <a:cs typeface="+mn-cs"/>
            </a:endParaRPr>
          </a:p>
          <a:p>
            <a:pPr lvl="1">
              <a:lnSpc>
                <a:spcPct val="90000"/>
              </a:lnSpc>
              <a:buChar char="–"/>
            </a:pPr>
            <a:r>
              <a:rPr lang="en-US" altLang="zh-CN" dirty="0">
                <a:latin typeface="Calibri" panose="020F0502020204030204" pitchFamily="34" charset="0"/>
                <a:ea typeface="宋体" panose="02010600030101010101" pitchFamily="2" charset="-122"/>
              </a:rPr>
              <a:t>The difficulty is in recognizing the “seams”</a:t>
            </a:r>
            <a:endParaRPr lang="en-US" altLang="zh-CN" dirty="0">
              <a:latin typeface="Calibri" panose="020F0502020204030204" pitchFamily="34" charset="0"/>
              <a:ea typeface="宋体" panose="02010600030101010101" pitchFamily="2" charset="-122"/>
            </a:endParaRPr>
          </a:p>
          <a:p>
            <a:pPr>
              <a:lnSpc>
                <a:spcPct val="90000"/>
              </a:lnSpc>
              <a:spcBef>
                <a:spcPts val="1700"/>
              </a:spcBef>
              <a:buClr>
                <a:srgbClr val="800000"/>
              </a:buClr>
            </a:pPr>
            <a:r>
              <a:rPr lang="en-US" altLang="zh-CN" b="1" kern="1200" dirty="0">
                <a:solidFill>
                  <a:srgbClr val="800000"/>
                </a:solidFill>
                <a:latin typeface="Calibri" panose="020F0502020204030204" pitchFamily="34" charset="0"/>
                <a:ea typeface="宋体" panose="02010600030101010101" pitchFamily="2" charset="-122"/>
                <a:cs typeface="+mn-cs"/>
              </a:rPr>
              <a:t>Problem frames</a:t>
            </a:r>
            <a:r>
              <a:rPr lang="en-US" altLang="zh-CN" kern="1200" dirty="0">
                <a:solidFill>
                  <a:srgbClr val="800000"/>
                </a:solidFill>
                <a:latin typeface="Calibri" panose="020F0502020204030204" pitchFamily="34" charset="0"/>
                <a:ea typeface="宋体" panose="02010600030101010101" pitchFamily="2" charset="-122"/>
                <a:cs typeface="+mn-cs"/>
              </a:rPr>
              <a:t> </a:t>
            </a:r>
            <a:r>
              <a:rPr lang="en-US" altLang="zh-CN" kern="1200" dirty="0">
                <a:latin typeface="Calibri" panose="020F0502020204030204" pitchFamily="34" charset="0"/>
                <a:ea typeface="宋体" panose="02010600030101010101" pitchFamily="2" charset="-122"/>
                <a:cs typeface="+mn-cs"/>
              </a:rPr>
              <a:t>are derived from commonly occurring software requirements</a:t>
            </a:r>
            <a:endParaRPr lang="en-US" altLang="zh-CN" kern="1200" dirty="0">
              <a:latin typeface="Calibri" panose="020F0502020204030204" pitchFamily="34" charset="0"/>
              <a:ea typeface="宋体" panose="02010600030101010101" pitchFamily="2" charset="-122"/>
              <a:cs typeface="+mn-cs"/>
            </a:endParaRPr>
          </a:p>
          <a:p>
            <a:pPr lvl="1">
              <a:lnSpc>
                <a:spcPct val="90000"/>
              </a:lnSpc>
              <a:buChar char="–"/>
            </a:pPr>
            <a:r>
              <a:rPr lang="en-US" altLang="zh-CN" dirty="0">
                <a:latin typeface="Calibri" panose="020F0502020204030204" pitchFamily="34" charset="0"/>
                <a:ea typeface="宋体" panose="02010600030101010101" pitchFamily="2" charset="-122"/>
              </a:rPr>
              <a:t>They afford ready-made </a:t>
            </a:r>
            <a:r>
              <a:rPr lang="en-US" altLang="zh-CN" b="1" dirty="0">
                <a:solidFill>
                  <a:srgbClr val="800000"/>
                </a:solidFill>
                <a:latin typeface="Calibri" panose="020F0502020204030204" pitchFamily="34" charset="0"/>
                <a:ea typeface="宋体" panose="02010600030101010101" pitchFamily="2" charset="-122"/>
              </a:rPr>
              <a:t>templates</a:t>
            </a:r>
            <a:r>
              <a:rPr lang="en-US" altLang="zh-CN" dirty="0">
                <a:solidFill>
                  <a:srgbClr val="800000"/>
                </a:solidFill>
                <a:latin typeface="Calibri" panose="020F0502020204030204" pitchFamily="34" charset="0"/>
                <a:ea typeface="宋体" panose="02010600030101010101" pitchFamily="2" charset="-122"/>
              </a:rPr>
              <a:t> </a:t>
            </a:r>
            <a:r>
              <a:rPr lang="en-US" altLang="zh-CN" dirty="0">
                <a:latin typeface="Calibri" panose="020F0502020204030204" pitchFamily="34" charset="0"/>
                <a:ea typeface="宋体" panose="02010600030101010101" pitchFamily="2" charset="-122"/>
              </a:rPr>
              <a:t>for requirements analysis and system specification</a:t>
            </a:r>
            <a:endParaRPr lang="en-US" altLang="zh-CN" dirty="0">
              <a:latin typeface="Calibri" panose="020F0502020204030204" pitchFamily="34" charset="0"/>
              <a:ea typeface="宋体" panose="02010600030101010101" pitchFamily="2" charset="-122"/>
            </a:endParaRPr>
          </a:p>
          <a:p>
            <a:pPr lvl="1">
              <a:lnSpc>
                <a:spcPct val="90000"/>
              </a:lnSpc>
              <a:buChar char="–"/>
            </a:pPr>
            <a:r>
              <a:rPr lang="en-US" altLang="zh-CN" dirty="0">
                <a:latin typeface="Calibri" panose="020F0502020204030204" pitchFamily="34" charset="0"/>
                <a:ea typeface="宋体" panose="02010600030101010101" pitchFamily="2" charset="-122"/>
              </a:rPr>
              <a:t>We look for such basic problems to help us discover the  “seams” of our problem</a:t>
            </a:r>
            <a:endParaRPr lang="en-US" altLang="zh-CN" dirty="0">
              <a:latin typeface="Calibri" panose="020F0502020204030204" pitchFamily="34" charset="0"/>
              <a:ea typeface="宋体" panose="02010600030101010101" pitchFamily="2" charset="-122"/>
            </a:endParaRPr>
          </a:p>
          <a:p>
            <a:pPr>
              <a:lnSpc>
                <a:spcPct val="90000"/>
              </a:lnSpc>
              <a:buClr>
                <a:srgbClr val="800000"/>
              </a:buClr>
            </a:pPr>
            <a:endParaRPr lang="en-US" altLang="zh-CN" kern="1200" dirty="0">
              <a:latin typeface="AvantGarde Bk BT" pitchFamily="34" charset="0"/>
              <a:ea typeface="宋体" panose="02010600030101010101" pitchFamily="2" charset="-122"/>
              <a:cs typeface="+mn-cs"/>
            </a:endParaRPr>
          </a:p>
        </p:txBody>
      </p:sp>
      <p:grpSp>
        <p:nvGrpSpPr>
          <p:cNvPr id="11268" name="Group 39"/>
          <p:cNvGrpSpPr>
            <a:grpSpLocks noChangeAspect="1"/>
          </p:cNvGrpSpPr>
          <p:nvPr/>
        </p:nvGrpSpPr>
        <p:grpSpPr>
          <a:xfrm>
            <a:off x="7402513" y="263525"/>
            <a:ext cx="671512" cy="976313"/>
            <a:chOff x="4508" y="100"/>
            <a:chExt cx="423" cy="615"/>
          </a:xfrm>
        </p:grpSpPr>
        <p:sp>
          <p:nvSpPr>
            <p:cNvPr id="11287" name="Freeform 5"/>
            <p:cNvSpPr>
              <a:spLocks noChangeAspect="1"/>
            </p:cNvSpPr>
            <p:nvPr/>
          </p:nvSpPr>
          <p:spPr>
            <a:xfrm>
              <a:off x="4529" y="100"/>
              <a:ext cx="381" cy="575"/>
            </a:xfrm>
            <a:custGeom>
              <a:avLst/>
              <a:gdLst>
                <a:gd name="txL" fmla="*/ 0 w 763"/>
                <a:gd name="txT" fmla="*/ 0 h 1149"/>
                <a:gd name="txR" fmla="*/ 763 w 763"/>
                <a:gd name="txB" fmla="*/ 1149 h 1149"/>
              </a:gdLst>
              <a:ahLst/>
              <a:cxnLst>
                <a:cxn ang="0">
                  <a:pos x="0" y="2"/>
                </a:cxn>
                <a:cxn ang="0">
                  <a:pos x="0" y="2"/>
                </a:cxn>
                <a:cxn ang="0">
                  <a:pos x="0" y="1"/>
                </a:cxn>
                <a:cxn ang="0">
                  <a:pos x="0" y="0"/>
                </a:cxn>
                <a:cxn ang="0">
                  <a:pos x="0" y="1"/>
                </a:cxn>
                <a:cxn ang="0">
                  <a:pos x="0" y="2"/>
                </a:cxn>
              </a:cxnLst>
              <a:rect l="txL" t="txT" r="txR" b="txB"/>
              <a:pathLst>
                <a:path w="763" h="1149">
                  <a:moveTo>
                    <a:pt x="0" y="1149"/>
                  </a:moveTo>
                  <a:lnTo>
                    <a:pt x="763" y="1149"/>
                  </a:lnTo>
                  <a:lnTo>
                    <a:pt x="763" y="310"/>
                  </a:lnTo>
                  <a:cubicBezTo>
                    <a:pt x="763" y="172"/>
                    <a:pt x="624" y="0"/>
                    <a:pt x="382" y="0"/>
                  </a:cubicBezTo>
                  <a:cubicBezTo>
                    <a:pt x="140" y="0"/>
                    <a:pt x="0" y="174"/>
                    <a:pt x="0" y="310"/>
                  </a:cubicBezTo>
                  <a:lnTo>
                    <a:pt x="0" y="1149"/>
                  </a:lnTo>
                  <a:close/>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grpSp>
          <p:nvGrpSpPr>
            <p:cNvPr id="11288" name="Group 6"/>
            <p:cNvGrpSpPr>
              <a:grpSpLocks noChangeAspect="1"/>
            </p:cNvGrpSpPr>
            <p:nvPr/>
          </p:nvGrpSpPr>
          <p:grpSpPr>
            <a:xfrm>
              <a:off x="4553" y="478"/>
              <a:ext cx="333" cy="175"/>
              <a:chOff x="1331" y="1226"/>
              <a:chExt cx="666" cy="349"/>
            </a:xfrm>
          </p:grpSpPr>
          <p:sp>
            <p:nvSpPr>
              <p:cNvPr id="11297" name="Rectangle 7"/>
              <p:cNvSpPr>
                <a:spLocks noChangeAspect="1"/>
              </p:cNvSpPr>
              <p:nvPr/>
            </p:nvSpPr>
            <p:spPr>
              <a:xfrm>
                <a:off x="1331" y="1226"/>
                <a:ext cx="307" cy="349"/>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98" name="Rectangle 8"/>
              <p:cNvSpPr>
                <a:spLocks noChangeAspect="1"/>
              </p:cNvSpPr>
              <p:nvPr/>
            </p:nvSpPr>
            <p:spPr>
              <a:xfrm>
                <a:off x="1690" y="1226"/>
                <a:ext cx="307" cy="349"/>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11289" name="Group 9"/>
            <p:cNvGrpSpPr>
              <a:grpSpLocks noChangeAspect="1"/>
            </p:cNvGrpSpPr>
            <p:nvPr/>
          </p:nvGrpSpPr>
          <p:grpSpPr>
            <a:xfrm>
              <a:off x="4553" y="127"/>
              <a:ext cx="333" cy="128"/>
              <a:chOff x="1331" y="524"/>
              <a:chExt cx="666" cy="256"/>
            </a:xfrm>
          </p:grpSpPr>
          <p:sp>
            <p:nvSpPr>
              <p:cNvPr id="11295" name="Freeform 10"/>
              <p:cNvSpPr>
                <a:spLocks noChangeAspect="1"/>
              </p:cNvSpPr>
              <p:nvPr/>
            </p:nvSpPr>
            <p:spPr>
              <a:xfrm>
                <a:off x="1331" y="524"/>
                <a:ext cx="307" cy="256"/>
              </a:xfrm>
              <a:custGeom>
                <a:avLst/>
                <a:gdLst>
                  <a:gd name="txL" fmla="*/ 0 w 307"/>
                  <a:gd name="txT" fmla="*/ 0 h 256"/>
                  <a:gd name="txR" fmla="*/ 307 w 307"/>
                  <a:gd name="txB" fmla="*/ 256 h 256"/>
                </a:gdLst>
                <a:ahLst/>
                <a:cxnLst>
                  <a:cxn ang="0">
                    <a:pos x="307" y="256"/>
                  </a:cxn>
                  <a:cxn ang="0">
                    <a:pos x="307" y="0"/>
                  </a:cxn>
                  <a:cxn ang="0">
                    <a:pos x="0" y="256"/>
                  </a:cxn>
                  <a:cxn ang="0">
                    <a:pos x="307" y="256"/>
                  </a:cxn>
                </a:cxnLst>
                <a:rect l="txL" t="txT" r="txR" b="txB"/>
                <a:pathLst>
                  <a:path w="307" h="256">
                    <a:moveTo>
                      <a:pt x="307" y="256"/>
                    </a:moveTo>
                    <a:lnTo>
                      <a:pt x="307" y="0"/>
                    </a:lnTo>
                    <a:cubicBezTo>
                      <a:pt x="139" y="12"/>
                      <a:pt x="12" y="115"/>
                      <a:pt x="0" y="256"/>
                    </a:cubicBezTo>
                    <a:lnTo>
                      <a:pt x="307" y="256"/>
                    </a:lnTo>
                    <a:close/>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1296" name="Freeform 11"/>
              <p:cNvSpPr>
                <a:spLocks noChangeAspect="1"/>
              </p:cNvSpPr>
              <p:nvPr/>
            </p:nvSpPr>
            <p:spPr>
              <a:xfrm flipH="1">
                <a:off x="1690" y="524"/>
                <a:ext cx="307" cy="256"/>
              </a:xfrm>
              <a:custGeom>
                <a:avLst/>
                <a:gdLst>
                  <a:gd name="txL" fmla="*/ 0 w 307"/>
                  <a:gd name="txT" fmla="*/ 0 h 256"/>
                  <a:gd name="txR" fmla="*/ 307 w 307"/>
                  <a:gd name="txB" fmla="*/ 256 h 256"/>
                </a:gdLst>
                <a:ahLst/>
                <a:cxnLst>
                  <a:cxn ang="0">
                    <a:pos x="307" y="256"/>
                  </a:cxn>
                  <a:cxn ang="0">
                    <a:pos x="307" y="0"/>
                  </a:cxn>
                  <a:cxn ang="0">
                    <a:pos x="0" y="256"/>
                  </a:cxn>
                  <a:cxn ang="0">
                    <a:pos x="307" y="256"/>
                  </a:cxn>
                </a:cxnLst>
                <a:rect l="txL" t="txT" r="txR" b="txB"/>
                <a:pathLst>
                  <a:path w="307" h="256">
                    <a:moveTo>
                      <a:pt x="307" y="256"/>
                    </a:moveTo>
                    <a:lnTo>
                      <a:pt x="307" y="0"/>
                    </a:lnTo>
                    <a:cubicBezTo>
                      <a:pt x="139" y="12"/>
                      <a:pt x="12" y="115"/>
                      <a:pt x="0" y="256"/>
                    </a:cubicBezTo>
                    <a:lnTo>
                      <a:pt x="307" y="256"/>
                    </a:lnTo>
                    <a:close/>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11290" name="Group 12"/>
            <p:cNvGrpSpPr>
              <a:grpSpLocks noChangeAspect="1"/>
            </p:cNvGrpSpPr>
            <p:nvPr/>
          </p:nvGrpSpPr>
          <p:grpSpPr>
            <a:xfrm>
              <a:off x="4553" y="279"/>
              <a:ext cx="333" cy="175"/>
              <a:chOff x="1333" y="824"/>
              <a:chExt cx="666" cy="349"/>
            </a:xfrm>
          </p:grpSpPr>
          <p:sp>
            <p:nvSpPr>
              <p:cNvPr id="11293" name="Rectangle 13"/>
              <p:cNvSpPr>
                <a:spLocks noChangeAspect="1"/>
              </p:cNvSpPr>
              <p:nvPr/>
            </p:nvSpPr>
            <p:spPr>
              <a:xfrm>
                <a:off x="1333" y="824"/>
                <a:ext cx="307" cy="349"/>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94" name="Rectangle 14"/>
              <p:cNvSpPr>
                <a:spLocks noChangeAspect="1"/>
              </p:cNvSpPr>
              <p:nvPr/>
            </p:nvSpPr>
            <p:spPr>
              <a:xfrm>
                <a:off x="1692" y="824"/>
                <a:ext cx="307" cy="349"/>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
          <p:nvSpPr>
            <p:cNvPr id="11291" name="Rectangle 15"/>
            <p:cNvSpPr>
              <a:spLocks noChangeAspect="1"/>
            </p:cNvSpPr>
            <p:nvPr/>
          </p:nvSpPr>
          <p:spPr>
            <a:xfrm>
              <a:off x="4508" y="690"/>
              <a:ext cx="423" cy="25"/>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92" name="AutoShape 16"/>
            <p:cNvSpPr>
              <a:spLocks noChangeAspect="1"/>
            </p:cNvSpPr>
            <p:nvPr/>
          </p:nvSpPr>
          <p:spPr>
            <a:xfrm flipV="1">
              <a:off x="4509" y="675"/>
              <a:ext cx="421" cy="15"/>
            </a:xfrm>
            <a:custGeom>
              <a:avLst/>
              <a:gdLst>
                <a:gd name="txL" fmla="*/ 2360 w 21600"/>
                <a:gd name="txT" fmla="*/ 2880 h 21600"/>
                <a:gd name="txR" fmla="*/ 19240 w 21600"/>
                <a:gd name="txB" fmla="*/ 18720 h 21600"/>
              </a:gdLst>
              <a:ahLst/>
              <a:cxnLst>
                <a:cxn ang="0">
                  <a:pos x="0" y="0"/>
                </a:cxn>
                <a:cxn ang="0">
                  <a:pos x="0" y="0"/>
                </a:cxn>
                <a:cxn ang="0">
                  <a:pos x="0" y="0"/>
                </a:cxn>
                <a:cxn ang="0">
                  <a:pos x="0" y="0"/>
                </a:cxn>
              </a:cxnLst>
              <a:rect l="txL" t="txT" r="txR" b="txB"/>
              <a:pathLst>
                <a:path w="21600" h="21600">
                  <a:moveTo>
                    <a:pt x="0" y="0"/>
                  </a:moveTo>
                  <a:lnTo>
                    <a:pt x="1076" y="21600"/>
                  </a:lnTo>
                  <a:lnTo>
                    <a:pt x="20524" y="21600"/>
                  </a:lnTo>
                  <a:lnTo>
                    <a:pt x="21600" y="0"/>
                  </a:lnTo>
                  <a:lnTo>
                    <a:pt x="0" y="0"/>
                  </a:lnTo>
                  <a:close/>
                </a:path>
              </a:pathLst>
            </a:custGeom>
            <a:noFill/>
            <a:ln w="3175" cap="flat" cmpd="sng">
              <a:solidFill>
                <a:schemeClr val="tx1">
                  <a:alpha val="100000"/>
                </a:schemeClr>
              </a:solidFill>
              <a:prstDash val="solid"/>
              <a:miter lim="800000"/>
              <a:headEnd type="none" w="med" len="med"/>
              <a:tailEnd type="none" w="med" len="med"/>
            </a:ln>
          </p:spPr>
          <p:txBody>
            <a:bodyPr/>
            <a:p>
              <a:endParaRPr lang="zh-CN" altLang="en-US"/>
            </a:p>
          </p:txBody>
        </p:sp>
      </p:grpSp>
      <p:grpSp>
        <p:nvGrpSpPr>
          <p:cNvPr id="11269" name="Group 37"/>
          <p:cNvGrpSpPr>
            <a:grpSpLocks noChangeAspect="1"/>
          </p:cNvGrpSpPr>
          <p:nvPr/>
        </p:nvGrpSpPr>
        <p:grpSpPr>
          <a:xfrm>
            <a:off x="336550" y="388938"/>
            <a:ext cx="684213" cy="850900"/>
            <a:chOff x="201" y="179"/>
            <a:chExt cx="431" cy="536"/>
          </a:xfrm>
        </p:grpSpPr>
        <p:sp>
          <p:nvSpPr>
            <p:cNvPr id="11281" name="Rectangle 18"/>
            <p:cNvSpPr>
              <a:spLocks noChangeAspect="1"/>
            </p:cNvSpPr>
            <p:nvPr/>
          </p:nvSpPr>
          <p:spPr>
            <a:xfrm>
              <a:off x="223" y="179"/>
              <a:ext cx="387" cy="496"/>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nvGrpSpPr>
            <p:cNvPr id="11282" name="Group 19"/>
            <p:cNvGrpSpPr>
              <a:grpSpLocks noChangeAspect="1"/>
            </p:cNvGrpSpPr>
            <p:nvPr/>
          </p:nvGrpSpPr>
          <p:grpSpPr>
            <a:xfrm>
              <a:off x="247" y="204"/>
              <a:ext cx="339" cy="446"/>
              <a:chOff x="1295" y="2094"/>
              <a:chExt cx="677" cy="892"/>
            </a:xfrm>
          </p:grpSpPr>
          <p:sp>
            <p:nvSpPr>
              <p:cNvPr id="11285" name="Rectangle 20"/>
              <p:cNvSpPr>
                <a:spLocks noChangeAspect="1"/>
              </p:cNvSpPr>
              <p:nvPr/>
            </p:nvSpPr>
            <p:spPr>
              <a:xfrm>
                <a:off x="1295" y="2094"/>
                <a:ext cx="315" cy="892"/>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86" name="Rectangle 21"/>
              <p:cNvSpPr>
                <a:spLocks noChangeAspect="1"/>
              </p:cNvSpPr>
              <p:nvPr/>
            </p:nvSpPr>
            <p:spPr>
              <a:xfrm>
                <a:off x="1657" y="2094"/>
                <a:ext cx="315" cy="892"/>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
          <p:nvSpPr>
            <p:cNvPr id="11283" name="Rectangle 22"/>
            <p:cNvSpPr>
              <a:spLocks noChangeAspect="1"/>
            </p:cNvSpPr>
            <p:nvPr/>
          </p:nvSpPr>
          <p:spPr>
            <a:xfrm>
              <a:off x="201" y="690"/>
              <a:ext cx="431" cy="25"/>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84" name="AutoShape 23"/>
            <p:cNvSpPr>
              <a:spLocks noChangeAspect="1"/>
            </p:cNvSpPr>
            <p:nvPr/>
          </p:nvSpPr>
          <p:spPr>
            <a:xfrm flipV="1">
              <a:off x="202" y="675"/>
              <a:ext cx="430" cy="15"/>
            </a:xfrm>
            <a:custGeom>
              <a:avLst/>
              <a:gdLst>
                <a:gd name="txL" fmla="*/ 2361 w 21600"/>
                <a:gd name="txT" fmla="*/ 2880 h 21600"/>
                <a:gd name="txR" fmla="*/ 19239 w 21600"/>
                <a:gd name="txB" fmla="*/ 18720 h 21600"/>
              </a:gdLst>
              <a:ahLst/>
              <a:cxnLst>
                <a:cxn ang="0">
                  <a:pos x="0" y="0"/>
                </a:cxn>
                <a:cxn ang="0">
                  <a:pos x="0" y="0"/>
                </a:cxn>
                <a:cxn ang="0">
                  <a:pos x="0" y="0"/>
                </a:cxn>
                <a:cxn ang="0">
                  <a:pos x="0" y="0"/>
                </a:cxn>
              </a:cxnLst>
              <a:rect l="txL" t="txT" r="txR" b="txB"/>
              <a:pathLst>
                <a:path w="21600" h="21600">
                  <a:moveTo>
                    <a:pt x="0" y="0"/>
                  </a:moveTo>
                  <a:lnTo>
                    <a:pt x="1076" y="21600"/>
                  </a:lnTo>
                  <a:lnTo>
                    <a:pt x="20524" y="21600"/>
                  </a:lnTo>
                  <a:lnTo>
                    <a:pt x="21600" y="0"/>
                  </a:lnTo>
                  <a:lnTo>
                    <a:pt x="0" y="0"/>
                  </a:lnTo>
                  <a:close/>
                </a:path>
              </a:pathLst>
            </a:custGeom>
            <a:noFill/>
            <a:ln w="3175" cap="flat" cmpd="sng">
              <a:solidFill>
                <a:schemeClr val="tx1">
                  <a:alpha val="100000"/>
                </a:schemeClr>
              </a:solidFill>
              <a:prstDash val="solid"/>
              <a:miter lim="800000"/>
              <a:headEnd type="none" w="med" len="med"/>
              <a:tailEnd type="none" w="med" len="med"/>
            </a:ln>
          </p:spPr>
          <p:txBody>
            <a:bodyPr/>
            <a:p>
              <a:endParaRPr lang="zh-CN" altLang="en-US"/>
            </a:p>
          </p:txBody>
        </p:sp>
      </p:grpSp>
      <p:grpSp>
        <p:nvGrpSpPr>
          <p:cNvPr id="11270" name="Group 38"/>
          <p:cNvGrpSpPr>
            <a:grpSpLocks noChangeAspect="1"/>
          </p:cNvGrpSpPr>
          <p:nvPr/>
        </p:nvGrpSpPr>
        <p:grpSpPr>
          <a:xfrm>
            <a:off x="1290638" y="388938"/>
            <a:ext cx="600075" cy="850900"/>
            <a:chOff x="802" y="179"/>
            <a:chExt cx="378" cy="536"/>
          </a:xfrm>
        </p:grpSpPr>
        <p:sp>
          <p:nvSpPr>
            <p:cNvPr id="11271" name="Rectangle 25"/>
            <p:cNvSpPr>
              <a:spLocks noChangeAspect="1"/>
            </p:cNvSpPr>
            <p:nvPr/>
          </p:nvSpPr>
          <p:spPr>
            <a:xfrm>
              <a:off x="824" y="179"/>
              <a:ext cx="335" cy="496"/>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nvGrpSpPr>
            <p:cNvPr id="11272" name="Group 26"/>
            <p:cNvGrpSpPr>
              <a:grpSpLocks noChangeAspect="1"/>
            </p:cNvGrpSpPr>
            <p:nvPr/>
          </p:nvGrpSpPr>
          <p:grpSpPr>
            <a:xfrm>
              <a:off x="849" y="205"/>
              <a:ext cx="284" cy="444"/>
              <a:chOff x="346" y="2098"/>
              <a:chExt cx="568" cy="888"/>
            </a:xfrm>
          </p:grpSpPr>
          <p:sp>
            <p:nvSpPr>
              <p:cNvPr id="11275" name="Rectangle 27"/>
              <p:cNvSpPr>
                <a:spLocks noChangeAspect="1"/>
              </p:cNvSpPr>
              <p:nvPr/>
            </p:nvSpPr>
            <p:spPr>
              <a:xfrm>
                <a:off x="346" y="2411"/>
                <a:ext cx="26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76" name="Rectangle 28"/>
              <p:cNvSpPr>
                <a:spLocks noChangeAspect="1"/>
              </p:cNvSpPr>
              <p:nvPr/>
            </p:nvSpPr>
            <p:spPr>
              <a:xfrm>
                <a:off x="660" y="2411"/>
                <a:ext cx="25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77" name="Rectangle 29"/>
              <p:cNvSpPr>
                <a:spLocks noChangeAspect="1"/>
              </p:cNvSpPr>
              <p:nvPr/>
            </p:nvSpPr>
            <p:spPr>
              <a:xfrm>
                <a:off x="346" y="2098"/>
                <a:ext cx="26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78" name="Rectangle 30"/>
              <p:cNvSpPr>
                <a:spLocks noChangeAspect="1"/>
              </p:cNvSpPr>
              <p:nvPr/>
            </p:nvSpPr>
            <p:spPr>
              <a:xfrm>
                <a:off x="660" y="2098"/>
                <a:ext cx="25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79" name="Rectangle 31"/>
              <p:cNvSpPr>
                <a:spLocks noChangeAspect="1"/>
              </p:cNvSpPr>
              <p:nvPr/>
            </p:nvSpPr>
            <p:spPr>
              <a:xfrm>
                <a:off x="346" y="2725"/>
                <a:ext cx="26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80" name="Rectangle 32"/>
              <p:cNvSpPr>
                <a:spLocks noChangeAspect="1"/>
              </p:cNvSpPr>
              <p:nvPr/>
            </p:nvSpPr>
            <p:spPr>
              <a:xfrm>
                <a:off x="660" y="2725"/>
                <a:ext cx="254" cy="261"/>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
          <p:nvSpPr>
            <p:cNvPr id="11273" name="Rectangle 34"/>
            <p:cNvSpPr>
              <a:spLocks noChangeAspect="1"/>
            </p:cNvSpPr>
            <p:nvPr/>
          </p:nvSpPr>
          <p:spPr>
            <a:xfrm>
              <a:off x="802" y="690"/>
              <a:ext cx="378" cy="25"/>
            </a:xfrm>
            <a:prstGeom prst="rect">
              <a:avLst/>
            </a:prstGeom>
            <a:noFill/>
            <a:ln w="3175" cap="flat" cmpd="sng">
              <a:solidFill>
                <a:schemeClr val="tx1"/>
              </a:solidFill>
              <a:prstDash val="solid"/>
              <a:miter/>
              <a:headEnd type="none" w="med" len="med"/>
              <a:tailEnd type="none" w="med" len="med"/>
            </a:ln>
          </p:spPr>
          <p:txBody>
            <a:bodyPr anchor="ctr" anchorCtr="0">
              <a:spAutoFit/>
            </a:bodyPr>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1274" name="AutoShape 35"/>
            <p:cNvSpPr>
              <a:spLocks noChangeAspect="1"/>
            </p:cNvSpPr>
            <p:nvPr/>
          </p:nvSpPr>
          <p:spPr>
            <a:xfrm flipV="1">
              <a:off x="803" y="675"/>
              <a:ext cx="376" cy="15"/>
            </a:xfrm>
            <a:custGeom>
              <a:avLst/>
              <a:gdLst>
                <a:gd name="txL" fmla="*/ 2413 w 21600"/>
                <a:gd name="txT" fmla="*/ 2880 h 21600"/>
                <a:gd name="txR" fmla="*/ 19187 w 21600"/>
                <a:gd name="txB" fmla="*/ 18720 h 21600"/>
              </a:gdLst>
              <a:ahLst/>
              <a:cxnLst>
                <a:cxn ang="0">
                  <a:pos x="0" y="0"/>
                </a:cxn>
                <a:cxn ang="0">
                  <a:pos x="0" y="0"/>
                </a:cxn>
                <a:cxn ang="0">
                  <a:pos x="0" y="0"/>
                </a:cxn>
                <a:cxn ang="0">
                  <a:pos x="0" y="0"/>
                </a:cxn>
              </a:cxnLst>
              <a:rect l="txL" t="txT" r="txR" b="txB"/>
              <a:pathLst>
                <a:path w="21600" h="21600">
                  <a:moveTo>
                    <a:pt x="0" y="0"/>
                  </a:moveTo>
                  <a:lnTo>
                    <a:pt x="1217" y="21600"/>
                  </a:lnTo>
                  <a:lnTo>
                    <a:pt x="20383" y="21600"/>
                  </a:lnTo>
                  <a:lnTo>
                    <a:pt x="21600" y="0"/>
                  </a:lnTo>
                  <a:lnTo>
                    <a:pt x="0" y="0"/>
                  </a:lnTo>
                  <a:close/>
                </a:path>
              </a:pathLst>
            </a:custGeom>
            <a:noFill/>
            <a:ln w="3175" cap="flat" cmpd="sng">
              <a:solidFill>
                <a:schemeClr val="tx1">
                  <a:alpha val="100000"/>
                </a:schemeClr>
              </a:solidFill>
              <a:prstDash val="solid"/>
              <a:miter lim="800000"/>
              <a:headEnd type="none" w="med" len="med"/>
              <a:tailEnd type="none" w="med" len="med"/>
            </a:ln>
          </p:spPr>
          <p:txBody>
            <a:bodyPr/>
            <a:p>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rapezoid 2"/>
          <p:cNvSpPr/>
          <p:nvPr/>
        </p:nvSpPr>
        <p:spPr>
          <a:xfrm flipV="1">
            <a:off x="2160588" y="2720975"/>
            <a:ext cx="6702425" cy="731838"/>
          </a:xfrm>
          <a:prstGeom prst="trapezoid">
            <a:avLst>
              <a:gd name="adj" fmla="val 91667"/>
            </a:avLst>
          </a:prstGeom>
          <a:gradFill flip="none" rotWithShape="1">
            <a:gsLst>
              <a:gs pos="0">
                <a:schemeClr val="tx1"/>
              </a:gs>
              <a:gs pos="29000">
                <a:schemeClr val="bg1">
                  <a:lumMod val="8500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291" name="Rectangle 2"/>
          <p:cNvSpPr/>
          <p:nvPr/>
        </p:nvSpPr>
        <p:spPr>
          <a:xfrm>
            <a:off x="3654425" y="5330825"/>
            <a:ext cx="3446463" cy="1262063"/>
          </a:xfrm>
          <a:prstGeom prst="rect">
            <a:avLst/>
          </a:prstGeom>
          <a:solidFill>
            <a:schemeClr val="bg1"/>
          </a:solidFill>
          <a:ln w="34925" cap="flat" cmpd="dbl">
            <a:solidFill>
              <a:schemeClr val="tx1"/>
            </a:solidFill>
            <a:prstDash val="solid"/>
            <a:miter/>
            <a:headEnd type="none" w="med" len="med"/>
            <a:tailEnd type="none" w="med" len="med"/>
          </a:ln>
        </p:spPr>
        <p:txBody>
          <a:bodyPr wrap="none" anchor="ctr" anchorCtr="0">
            <a:spAutoFit/>
          </a:bodyPr>
          <a:p>
            <a:pPr eaLnBrk="1" hangingPunct="1"/>
            <a:endParaRPr lang="en-US" altLang="en-US" dirty="0">
              <a:latin typeface="Arial" panose="020B0604020202020204" pitchFamily="34" charset="0"/>
            </a:endParaRPr>
          </a:p>
        </p:txBody>
      </p:sp>
      <p:cxnSp>
        <p:nvCxnSpPr>
          <p:cNvPr id="12292" name="AutoShape 40"/>
          <p:cNvCxnSpPr>
            <a:cxnSpLocks noChangeAspect="1"/>
            <a:stCxn id="12330" idx="3"/>
            <a:endCxn id="12317" idx="1"/>
          </p:cNvCxnSpPr>
          <p:nvPr/>
        </p:nvCxnSpPr>
        <p:spPr>
          <a:xfrm flipV="1">
            <a:off x="6713538" y="5370513"/>
            <a:ext cx="477837" cy="398462"/>
          </a:xfrm>
          <a:prstGeom prst="straightConnector1">
            <a:avLst/>
          </a:prstGeom>
          <a:ln w="38100" cap="flat" cmpd="sng">
            <a:solidFill>
              <a:schemeClr val="bg1"/>
            </a:solidFill>
            <a:prstDash val="solid"/>
            <a:headEnd type="none" w="med" len="med"/>
            <a:tailEnd type="none" w="med" len="med"/>
          </a:ln>
        </p:spPr>
      </p:cxnSp>
      <p:cxnSp>
        <p:nvCxnSpPr>
          <p:cNvPr id="12293" name="AutoShape 40"/>
          <p:cNvCxnSpPr>
            <a:cxnSpLocks noChangeAspect="1"/>
            <a:stCxn id="12330" idx="3"/>
            <a:endCxn id="12317" idx="1"/>
          </p:cNvCxnSpPr>
          <p:nvPr/>
        </p:nvCxnSpPr>
        <p:spPr>
          <a:xfrm flipV="1">
            <a:off x="6713538" y="5370513"/>
            <a:ext cx="477837" cy="398462"/>
          </a:xfrm>
          <a:prstGeom prst="straightConnector1">
            <a:avLst/>
          </a:prstGeom>
          <a:ln w="12700" cap="flat" cmpd="sng">
            <a:solidFill>
              <a:schemeClr val="tx1"/>
            </a:solidFill>
            <a:prstDash val="solid"/>
            <a:headEnd type="none" w="med" len="med"/>
            <a:tailEnd type="none" w="med" len="med"/>
          </a:ln>
        </p:spPr>
      </p:cxnSp>
      <p:cxnSp>
        <p:nvCxnSpPr>
          <p:cNvPr id="12294" name="AutoShape 20"/>
          <p:cNvCxnSpPr>
            <a:cxnSpLocks noChangeAspect="1"/>
            <a:stCxn id="12337" idx="0"/>
            <a:endCxn id="12311" idx="1"/>
          </p:cNvCxnSpPr>
          <p:nvPr/>
        </p:nvCxnSpPr>
        <p:spPr>
          <a:xfrm flipH="1" flipV="1">
            <a:off x="5697538" y="4852988"/>
            <a:ext cx="73025" cy="739775"/>
          </a:xfrm>
          <a:prstGeom prst="straightConnector1">
            <a:avLst/>
          </a:prstGeom>
          <a:ln w="38100" cap="flat" cmpd="sng">
            <a:solidFill>
              <a:schemeClr val="bg1"/>
            </a:solidFill>
            <a:prstDash val="solid"/>
            <a:headEnd type="none" w="med" len="med"/>
            <a:tailEnd type="none" w="med" len="med"/>
          </a:ln>
        </p:spPr>
      </p:cxnSp>
      <p:cxnSp>
        <p:nvCxnSpPr>
          <p:cNvPr id="12295" name="AutoShape 22"/>
          <p:cNvCxnSpPr>
            <a:cxnSpLocks noChangeAspect="1"/>
            <a:stCxn id="12337" idx="3"/>
            <a:endCxn id="12312" idx="1"/>
          </p:cNvCxnSpPr>
          <p:nvPr/>
        </p:nvCxnSpPr>
        <p:spPr>
          <a:xfrm flipV="1">
            <a:off x="5883275" y="5192713"/>
            <a:ext cx="598488" cy="447675"/>
          </a:xfrm>
          <a:prstGeom prst="straightConnector1">
            <a:avLst/>
          </a:prstGeom>
          <a:ln w="38100" cap="flat" cmpd="sng">
            <a:solidFill>
              <a:schemeClr val="bg1"/>
            </a:solidFill>
            <a:prstDash val="solid"/>
            <a:headEnd type="none" w="med" len="med"/>
            <a:tailEnd type="none" w="med" len="med"/>
          </a:ln>
        </p:spPr>
      </p:cxnSp>
      <p:cxnSp>
        <p:nvCxnSpPr>
          <p:cNvPr id="12296" name="AutoShape 20"/>
          <p:cNvCxnSpPr>
            <a:stCxn id="12337" idx="0"/>
            <a:endCxn id="12311" idx="1"/>
          </p:cNvCxnSpPr>
          <p:nvPr/>
        </p:nvCxnSpPr>
        <p:spPr>
          <a:xfrm flipH="1" flipV="1">
            <a:off x="5697538" y="4852988"/>
            <a:ext cx="73025" cy="739775"/>
          </a:xfrm>
          <a:prstGeom prst="straightConnector1">
            <a:avLst/>
          </a:prstGeom>
          <a:ln w="12700" cap="flat" cmpd="sng">
            <a:solidFill>
              <a:schemeClr val="tx1"/>
            </a:solidFill>
            <a:prstDash val="solid"/>
            <a:headEnd type="none" w="med" len="med"/>
            <a:tailEnd type="none" w="med" len="med"/>
          </a:ln>
        </p:spPr>
      </p:cxnSp>
      <p:cxnSp>
        <p:nvCxnSpPr>
          <p:cNvPr id="12297" name="AutoShape 22"/>
          <p:cNvCxnSpPr>
            <a:stCxn id="12337" idx="3"/>
            <a:endCxn id="12312" idx="1"/>
          </p:cNvCxnSpPr>
          <p:nvPr/>
        </p:nvCxnSpPr>
        <p:spPr>
          <a:xfrm flipV="1">
            <a:off x="5883275" y="5192713"/>
            <a:ext cx="598488" cy="447675"/>
          </a:xfrm>
          <a:prstGeom prst="straightConnector1">
            <a:avLst/>
          </a:prstGeom>
          <a:ln w="12700" cap="flat" cmpd="sng">
            <a:solidFill>
              <a:schemeClr val="tx1"/>
            </a:solidFill>
            <a:prstDash val="solid"/>
            <a:headEnd type="none" w="med" len="med"/>
            <a:tailEnd type="none" w="med" len="med"/>
          </a:ln>
        </p:spPr>
      </p:cxnSp>
      <p:cxnSp>
        <p:nvCxnSpPr>
          <p:cNvPr id="12298" name="AutoShape 31"/>
          <p:cNvCxnSpPr>
            <a:cxnSpLocks noChangeAspect="1"/>
            <a:stCxn id="12328" idx="3"/>
            <a:endCxn id="12314" idx="1"/>
          </p:cNvCxnSpPr>
          <p:nvPr/>
        </p:nvCxnSpPr>
        <p:spPr>
          <a:xfrm flipH="1" flipV="1">
            <a:off x="4938713" y="4856163"/>
            <a:ext cx="1587" cy="620712"/>
          </a:xfrm>
          <a:prstGeom prst="straightConnector1">
            <a:avLst/>
          </a:prstGeom>
          <a:ln w="38100" cap="flat" cmpd="sng">
            <a:solidFill>
              <a:schemeClr val="bg1"/>
            </a:solidFill>
            <a:prstDash val="solid"/>
            <a:headEnd type="none" w="med" len="med"/>
            <a:tailEnd type="none" w="med" len="med"/>
          </a:ln>
        </p:spPr>
      </p:cxnSp>
      <p:cxnSp>
        <p:nvCxnSpPr>
          <p:cNvPr id="12299" name="AutoShape 8"/>
          <p:cNvCxnSpPr>
            <a:cxnSpLocks noChangeAspect="1"/>
            <a:stCxn id="12328" idx="3"/>
            <a:endCxn id="12314" idx="1"/>
          </p:cNvCxnSpPr>
          <p:nvPr/>
        </p:nvCxnSpPr>
        <p:spPr>
          <a:xfrm flipH="1" flipV="1">
            <a:off x="4938713" y="4856163"/>
            <a:ext cx="1587" cy="620712"/>
          </a:xfrm>
          <a:prstGeom prst="straightConnector1">
            <a:avLst/>
          </a:prstGeom>
          <a:ln w="12700" cap="flat" cmpd="sng">
            <a:solidFill>
              <a:schemeClr val="tx1"/>
            </a:solidFill>
            <a:prstDash val="solid"/>
            <a:headEnd type="none" w="med" len="med"/>
            <a:tailEnd type="none" w="med" len="med"/>
          </a:ln>
        </p:spPr>
      </p:cxnSp>
      <p:cxnSp>
        <p:nvCxnSpPr>
          <p:cNvPr id="12300" name="AutoShape 8"/>
          <p:cNvCxnSpPr>
            <a:cxnSpLocks noChangeAspect="1"/>
            <a:stCxn id="12327" idx="3"/>
            <a:endCxn id="12305" idx="1"/>
          </p:cNvCxnSpPr>
          <p:nvPr/>
        </p:nvCxnSpPr>
        <p:spPr>
          <a:xfrm flipH="1" flipV="1">
            <a:off x="3929063" y="4903788"/>
            <a:ext cx="188912" cy="590550"/>
          </a:xfrm>
          <a:prstGeom prst="straightConnector1">
            <a:avLst/>
          </a:prstGeom>
          <a:ln w="38100" cap="flat" cmpd="sng">
            <a:solidFill>
              <a:schemeClr val="bg1"/>
            </a:solidFill>
            <a:prstDash val="solid"/>
            <a:headEnd type="none" w="med" len="med"/>
            <a:tailEnd type="none" w="med" len="med"/>
          </a:ln>
        </p:spPr>
      </p:cxnSp>
      <p:cxnSp>
        <p:nvCxnSpPr>
          <p:cNvPr id="12301" name="AutoShape 8"/>
          <p:cNvCxnSpPr>
            <a:cxnSpLocks noChangeAspect="1"/>
            <a:stCxn id="12327" idx="3"/>
            <a:endCxn id="12305" idx="1"/>
          </p:cNvCxnSpPr>
          <p:nvPr/>
        </p:nvCxnSpPr>
        <p:spPr>
          <a:xfrm flipH="1" flipV="1">
            <a:off x="3929063" y="4903788"/>
            <a:ext cx="188912" cy="590550"/>
          </a:xfrm>
          <a:prstGeom prst="straightConnector1">
            <a:avLst/>
          </a:prstGeom>
          <a:ln w="12700" cap="flat" cmpd="sng">
            <a:solidFill>
              <a:schemeClr val="tx1"/>
            </a:solidFill>
            <a:prstDash val="solid"/>
            <a:headEnd type="none" w="med" len="med"/>
            <a:tailEnd type="none" w="med" len="med"/>
          </a:ln>
        </p:spPr>
      </p:cxnSp>
      <p:sp>
        <p:nvSpPr>
          <p:cNvPr id="12302" name="Rectangle 6"/>
          <p:cNvSpPr>
            <a:spLocks noGrp="1"/>
          </p:cNvSpPr>
          <p:nvPr>
            <p:ph type="title" idx="4294967295"/>
          </p:nvPr>
        </p:nvSpPr>
        <p:spPr/>
        <p:txBody>
          <a:bodyPr vert="horz" wrap="square" lIns="0" tIns="45720" rIns="0" bIns="45720" anchor="ctr" anchorCtr="0"/>
          <a:p>
            <a:pPr eaLnBrk="1" hangingPunct="1"/>
            <a:r>
              <a:rPr lang="en-US" altLang="en-US" dirty="0"/>
              <a:t>Complex Problem Decomposition</a:t>
            </a:r>
            <a:endParaRPr lang="en-US" altLang="en-US" dirty="0"/>
          </a:p>
        </p:txBody>
      </p:sp>
      <p:sp>
        <p:nvSpPr>
          <p:cNvPr id="12303" name="Text Box 79"/>
          <p:cNvSpPr txBox="1"/>
          <p:nvPr/>
        </p:nvSpPr>
        <p:spPr>
          <a:xfrm>
            <a:off x="2162175" y="1793875"/>
            <a:ext cx="246063" cy="244475"/>
          </a:xfrm>
          <a:prstGeom prst="rect">
            <a:avLst/>
          </a:prstGeom>
          <a:noFill/>
          <a:ln w="9525">
            <a:noFill/>
          </a:ln>
        </p:spPr>
        <p:txBody>
          <a:bodyPr wrap="none" lIns="9144" tIns="0" rIns="9144" bIns="0">
            <a:spAutoFit/>
          </a:bodyPr>
          <a:p>
            <a:pPr algn="ctr" eaLnBrk="1" hangingPunct="1"/>
            <a:r>
              <a:rPr lang="en-US" altLang="en-US" sz="1600" dirty="0">
                <a:latin typeface="Times New Roman" panose="02020603050405020304" pitchFamily="18" charset="0"/>
              </a:rPr>
              <a:t>(a)</a:t>
            </a:r>
            <a:endParaRPr lang="en-US" altLang="en-US" sz="1600" dirty="0">
              <a:latin typeface="Times New Roman" panose="02020603050405020304" pitchFamily="18" charset="0"/>
            </a:endParaRPr>
          </a:p>
        </p:txBody>
      </p:sp>
      <p:cxnSp>
        <p:nvCxnSpPr>
          <p:cNvPr id="12304" name="AutoShape 9"/>
          <p:cNvCxnSpPr>
            <a:cxnSpLocks noChangeAspect="1"/>
            <a:stCxn id="12306" idx="2"/>
            <a:endCxn id="12305" idx="3"/>
          </p:cNvCxnSpPr>
          <p:nvPr/>
        </p:nvCxnSpPr>
        <p:spPr>
          <a:xfrm>
            <a:off x="3563938" y="3743325"/>
            <a:ext cx="192087" cy="609600"/>
          </a:xfrm>
          <a:prstGeom prst="straightConnector1">
            <a:avLst/>
          </a:prstGeom>
          <a:ln w="12700" cap="flat" cmpd="sng">
            <a:solidFill>
              <a:schemeClr val="tx1"/>
            </a:solidFill>
            <a:prstDash val="lgDash"/>
            <a:headEnd type="none" w="med" len="med"/>
            <a:tailEnd type="triangle" w="med" len="med"/>
          </a:ln>
        </p:spPr>
      </p:cxnSp>
      <p:sp>
        <p:nvSpPr>
          <p:cNvPr id="12305" name="Rectangle 14"/>
          <p:cNvSpPr>
            <a:spLocks noChangeAspect="1"/>
          </p:cNvSpPr>
          <p:nvPr/>
        </p:nvSpPr>
        <p:spPr>
          <a:xfrm rot="-6449465">
            <a:off x="3554413" y="4441825"/>
            <a:ext cx="577850" cy="374650"/>
          </a:xfrm>
          <a:prstGeom prst="rect">
            <a:avLst/>
          </a:prstGeom>
          <a:solidFill>
            <a:schemeClr val="bg1"/>
          </a:solidFill>
          <a:ln w="6350" cap="flat" cmpd="sng">
            <a:solidFill>
              <a:schemeClr val="tx1"/>
            </a:solidFill>
            <a:prstDash val="solid"/>
            <a:miter/>
            <a:headEnd type="none" w="med" len="med"/>
            <a:tailEnd type="none" w="med" len="med"/>
          </a:ln>
        </p:spPr>
        <p:txBody>
          <a:bodyPr anchor="ctr" anchorCtr="0"/>
          <a:p>
            <a:pPr algn="ctr" eaLnBrk="1" hangingPunct="1"/>
            <a:r>
              <a:rPr lang="en-US" altLang="en-US" sz="800" dirty="0">
                <a:latin typeface="Arial" panose="020B0604020202020204" pitchFamily="34" charset="0"/>
              </a:rPr>
              <a:t>Domain</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A</a:t>
            </a:r>
            <a:endParaRPr lang="en-US" altLang="en-US" sz="800" dirty="0">
              <a:latin typeface="Arial" panose="020B0604020202020204" pitchFamily="34" charset="0"/>
            </a:endParaRPr>
          </a:p>
        </p:txBody>
      </p:sp>
      <p:sp>
        <p:nvSpPr>
          <p:cNvPr id="12306" name="Oval 15"/>
          <p:cNvSpPr>
            <a:spLocks noChangeAspect="1"/>
          </p:cNvSpPr>
          <p:nvPr/>
        </p:nvSpPr>
        <p:spPr>
          <a:xfrm rot="-6449465">
            <a:off x="3040063" y="3171825"/>
            <a:ext cx="806450" cy="374650"/>
          </a:xfrm>
          <a:prstGeom prst="ellipse">
            <a:avLst/>
          </a:prstGeom>
          <a:solidFill>
            <a:schemeClr val="bg1"/>
          </a:solidFill>
          <a:ln w="6350" cap="flat" cmpd="sng">
            <a:solidFill>
              <a:schemeClr val="tx1"/>
            </a:solidFill>
            <a:prstDash val="lgDash"/>
            <a:headEnd type="none" w="med" len="med"/>
            <a:tailEnd type="none" w="med" len="med"/>
          </a:ln>
        </p:spPr>
        <p:txBody>
          <a:bodyPr wrap="none" lIns="0" tIns="64008" rIns="0" bIns="0" anchor="ctr" anchorCtr="0"/>
          <a:p>
            <a:pPr algn="ctr" eaLnBrk="1" hangingPunct="1"/>
            <a:r>
              <a:rPr lang="en-US" altLang="en-US" sz="800" dirty="0">
                <a:latin typeface="Arial" panose="020B0604020202020204" pitchFamily="34" charset="0"/>
              </a:rPr>
              <a:t>Requirement</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i</a:t>
            </a:r>
            <a:endParaRPr lang="en-US" altLang="en-US" sz="800" dirty="0">
              <a:latin typeface="Arial" panose="020B0604020202020204" pitchFamily="34" charset="0"/>
            </a:endParaRPr>
          </a:p>
        </p:txBody>
      </p:sp>
      <p:cxnSp>
        <p:nvCxnSpPr>
          <p:cNvPr id="12307" name="AutoShape 17"/>
          <p:cNvCxnSpPr>
            <a:cxnSpLocks noChangeAspect="1"/>
            <a:stCxn id="12308" idx="0"/>
            <a:endCxn id="12311" idx="3"/>
          </p:cNvCxnSpPr>
          <p:nvPr/>
        </p:nvCxnSpPr>
        <p:spPr>
          <a:xfrm flipH="1">
            <a:off x="5926138" y="3624263"/>
            <a:ext cx="681037" cy="700087"/>
          </a:xfrm>
          <a:prstGeom prst="straightConnector1">
            <a:avLst/>
          </a:prstGeom>
          <a:ln w="12700" cap="flat" cmpd="sng">
            <a:solidFill>
              <a:schemeClr val="tx1"/>
            </a:solidFill>
            <a:prstDash val="lgDash"/>
            <a:headEnd type="none" w="med" len="med"/>
            <a:tailEnd type="triangle" w="med" len="med"/>
          </a:ln>
        </p:spPr>
      </p:cxnSp>
      <p:sp>
        <p:nvSpPr>
          <p:cNvPr id="12308" name="Freeform 18"/>
          <p:cNvSpPr>
            <a:spLocks noChangeAspect="1"/>
          </p:cNvSpPr>
          <p:nvPr/>
        </p:nvSpPr>
        <p:spPr>
          <a:xfrm rot="-3994687" flipH="1">
            <a:off x="6621463" y="3595688"/>
            <a:ext cx="100012" cy="163512"/>
          </a:xfrm>
          <a:custGeom>
            <a:avLst/>
            <a:gdLst>
              <a:gd name="txL" fmla="*/ 0 w 231"/>
              <a:gd name="txT" fmla="*/ 0 h 321"/>
              <a:gd name="txR" fmla="*/ 231 w 231"/>
              <a:gd name="txB" fmla="*/ 321 h 321"/>
            </a:gdLst>
            <a:ahLst/>
            <a:cxnLst>
              <a:cxn ang="0">
                <a:pos x="2147483647" y="0"/>
              </a:cxn>
              <a:cxn ang="0">
                <a:pos x="0" y="0"/>
              </a:cxn>
              <a:cxn ang="0">
                <a:pos x="0" y="2147483647"/>
              </a:cxn>
              <a:cxn ang="0">
                <a:pos x="2147483647" y="2147483647"/>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12309" name="AutoShape 19"/>
          <p:cNvCxnSpPr>
            <a:cxnSpLocks noChangeAspect="1"/>
            <a:stCxn id="12308" idx="3"/>
            <a:endCxn id="12312" idx="3"/>
          </p:cNvCxnSpPr>
          <p:nvPr/>
        </p:nvCxnSpPr>
        <p:spPr>
          <a:xfrm>
            <a:off x="6654800" y="3644900"/>
            <a:ext cx="55563" cy="1019175"/>
          </a:xfrm>
          <a:prstGeom prst="straightConnector1">
            <a:avLst/>
          </a:prstGeom>
          <a:ln w="12700" cap="flat" cmpd="sng">
            <a:solidFill>
              <a:schemeClr val="tx1"/>
            </a:solidFill>
            <a:prstDash val="lgDash"/>
            <a:headEnd type="none" w="med" len="med"/>
            <a:tailEnd type="none" w="lg" len="lg"/>
          </a:ln>
        </p:spPr>
      </p:cxnSp>
      <p:sp>
        <p:nvSpPr>
          <p:cNvPr id="12310" name="Oval 27"/>
          <p:cNvSpPr>
            <a:spLocks noChangeAspect="1"/>
          </p:cNvSpPr>
          <p:nvPr/>
        </p:nvSpPr>
        <p:spPr>
          <a:xfrm rot="-3994687">
            <a:off x="6389688" y="3197225"/>
            <a:ext cx="815975" cy="377825"/>
          </a:xfrm>
          <a:prstGeom prst="ellipse">
            <a:avLst/>
          </a:prstGeom>
          <a:solidFill>
            <a:schemeClr val="bg1"/>
          </a:solidFill>
          <a:ln w="6350" cap="flat" cmpd="sng">
            <a:solidFill>
              <a:schemeClr val="tx1"/>
            </a:solidFill>
            <a:prstDash val="lgDash"/>
            <a:headEnd type="none" w="med" len="med"/>
            <a:tailEnd type="none" w="med" len="med"/>
          </a:ln>
        </p:spPr>
        <p:txBody>
          <a:bodyPr wrap="none" lIns="0" tIns="64008" rIns="0" bIns="0" anchor="ctr" anchorCtr="0"/>
          <a:p>
            <a:pPr algn="ctr" eaLnBrk="1" hangingPunct="1"/>
            <a:r>
              <a:rPr lang="en-US" altLang="en-US" sz="800" dirty="0">
                <a:latin typeface="Arial" panose="020B0604020202020204" pitchFamily="34" charset="0"/>
              </a:rPr>
              <a:t>Requirement</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iii</a:t>
            </a:r>
            <a:endParaRPr lang="en-US" altLang="en-US" sz="800" dirty="0">
              <a:latin typeface="Arial" panose="020B0604020202020204" pitchFamily="34" charset="0"/>
            </a:endParaRPr>
          </a:p>
        </p:txBody>
      </p:sp>
      <p:sp>
        <p:nvSpPr>
          <p:cNvPr id="12311" name="Rectangle 28"/>
          <p:cNvSpPr/>
          <p:nvPr/>
        </p:nvSpPr>
        <p:spPr>
          <a:xfrm rot="-3994687">
            <a:off x="5522913" y="4397375"/>
            <a:ext cx="576262" cy="379413"/>
          </a:xfrm>
          <a:prstGeom prst="rect">
            <a:avLst/>
          </a:prstGeom>
          <a:solidFill>
            <a:schemeClr val="bg1"/>
          </a:solidFill>
          <a:ln w="6350" cap="flat" cmpd="sng">
            <a:solidFill>
              <a:schemeClr val="tx1"/>
            </a:solidFill>
            <a:prstDash val="solid"/>
            <a:miter/>
            <a:headEnd type="none" w="med" len="med"/>
            <a:tailEnd type="none" w="med" len="med"/>
          </a:ln>
        </p:spPr>
        <p:txBody>
          <a:bodyPr anchor="ctr" anchorCtr="0"/>
          <a:p>
            <a:pPr algn="ctr" eaLnBrk="1" hangingPunct="1"/>
            <a:r>
              <a:rPr lang="en-US" altLang="en-US" sz="800" dirty="0">
                <a:latin typeface="Arial" panose="020B0604020202020204" pitchFamily="34" charset="0"/>
              </a:rPr>
              <a:t>Domain</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C</a:t>
            </a:r>
            <a:endParaRPr lang="en-US" altLang="en-US" sz="800" dirty="0">
              <a:latin typeface="Arial" panose="020B0604020202020204" pitchFamily="34" charset="0"/>
            </a:endParaRPr>
          </a:p>
        </p:txBody>
      </p:sp>
      <p:sp>
        <p:nvSpPr>
          <p:cNvPr id="12312" name="Rectangle 29"/>
          <p:cNvSpPr/>
          <p:nvPr/>
        </p:nvSpPr>
        <p:spPr>
          <a:xfrm rot="-3994687">
            <a:off x="6307138" y="4737100"/>
            <a:ext cx="576262" cy="379413"/>
          </a:xfrm>
          <a:prstGeom prst="rect">
            <a:avLst/>
          </a:prstGeom>
          <a:solidFill>
            <a:schemeClr val="bg1"/>
          </a:solidFill>
          <a:ln w="6350" cap="flat" cmpd="sng">
            <a:solidFill>
              <a:schemeClr val="tx1"/>
            </a:solidFill>
            <a:prstDash val="solid"/>
            <a:miter/>
            <a:headEnd type="none" w="med" len="med"/>
            <a:tailEnd type="none" w="med" len="med"/>
          </a:ln>
        </p:spPr>
        <p:txBody>
          <a:bodyPr anchor="ctr" anchorCtr="0"/>
          <a:p>
            <a:pPr algn="ctr" eaLnBrk="1" hangingPunct="1"/>
            <a:r>
              <a:rPr lang="en-US" altLang="en-US" sz="800" dirty="0">
                <a:latin typeface="Arial" panose="020B0604020202020204" pitchFamily="34" charset="0"/>
              </a:rPr>
              <a:t>Domain</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D</a:t>
            </a:r>
            <a:endParaRPr lang="en-US" altLang="en-US" sz="800" dirty="0">
              <a:latin typeface="Arial" panose="020B0604020202020204" pitchFamily="34" charset="0"/>
            </a:endParaRPr>
          </a:p>
        </p:txBody>
      </p:sp>
      <p:cxnSp>
        <p:nvCxnSpPr>
          <p:cNvPr id="12313" name="AutoShape 32"/>
          <p:cNvCxnSpPr>
            <a:cxnSpLocks noChangeAspect="1"/>
            <a:stCxn id="12315" idx="2"/>
            <a:endCxn id="12314" idx="3"/>
          </p:cNvCxnSpPr>
          <p:nvPr/>
        </p:nvCxnSpPr>
        <p:spPr>
          <a:xfrm>
            <a:off x="4938713" y="3638550"/>
            <a:ext cx="0" cy="639763"/>
          </a:xfrm>
          <a:prstGeom prst="straightConnector1">
            <a:avLst/>
          </a:prstGeom>
          <a:ln w="12700" cap="flat" cmpd="sng">
            <a:solidFill>
              <a:schemeClr val="tx1"/>
            </a:solidFill>
            <a:prstDash val="lgDash"/>
            <a:headEnd type="none" w="med" len="med"/>
            <a:tailEnd type="triangle" w="med" len="med"/>
          </a:ln>
        </p:spPr>
      </p:cxnSp>
      <p:sp>
        <p:nvSpPr>
          <p:cNvPr id="12314" name="Rectangle 37"/>
          <p:cNvSpPr>
            <a:spLocks noChangeAspect="1"/>
          </p:cNvSpPr>
          <p:nvPr/>
        </p:nvSpPr>
        <p:spPr>
          <a:xfrm rot="-5400000">
            <a:off x="4649788" y="4379913"/>
            <a:ext cx="577850" cy="374650"/>
          </a:xfrm>
          <a:prstGeom prst="rect">
            <a:avLst/>
          </a:prstGeom>
          <a:solidFill>
            <a:schemeClr val="bg1"/>
          </a:solidFill>
          <a:ln w="6350" cap="flat" cmpd="sng">
            <a:solidFill>
              <a:schemeClr val="tx1"/>
            </a:solidFill>
            <a:prstDash val="solid"/>
            <a:miter/>
            <a:headEnd type="none" w="med" len="med"/>
            <a:tailEnd type="none" w="med" len="med"/>
          </a:ln>
        </p:spPr>
        <p:txBody>
          <a:bodyPr anchor="ctr" anchorCtr="0"/>
          <a:p>
            <a:pPr algn="ctr" eaLnBrk="1" hangingPunct="1"/>
            <a:r>
              <a:rPr lang="en-US" altLang="en-US" sz="800" dirty="0">
                <a:latin typeface="Arial" panose="020B0604020202020204" pitchFamily="34" charset="0"/>
              </a:rPr>
              <a:t>Domain</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B</a:t>
            </a:r>
            <a:endParaRPr lang="en-US" altLang="en-US" sz="800" dirty="0">
              <a:latin typeface="Arial" panose="020B0604020202020204" pitchFamily="34" charset="0"/>
            </a:endParaRPr>
          </a:p>
        </p:txBody>
      </p:sp>
      <p:sp>
        <p:nvSpPr>
          <p:cNvPr id="12315" name="Oval 38"/>
          <p:cNvSpPr>
            <a:spLocks noChangeAspect="1"/>
          </p:cNvSpPr>
          <p:nvPr/>
        </p:nvSpPr>
        <p:spPr>
          <a:xfrm rot="-5400000">
            <a:off x="4535488" y="3048000"/>
            <a:ext cx="806450" cy="374650"/>
          </a:xfrm>
          <a:prstGeom prst="ellipse">
            <a:avLst/>
          </a:prstGeom>
          <a:solidFill>
            <a:schemeClr val="bg1"/>
          </a:solidFill>
          <a:ln w="6350" cap="flat" cmpd="sng">
            <a:solidFill>
              <a:schemeClr val="tx1"/>
            </a:solidFill>
            <a:prstDash val="lgDash"/>
            <a:headEnd type="none" w="med" len="med"/>
            <a:tailEnd type="none" w="med" len="med"/>
          </a:ln>
        </p:spPr>
        <p:txBody>
          <a:bodyPr wrap="none" lIns="0" tIns="64008" rIns="0" bIns="0" anchor="ctr" anchorCtr="0"/>
          <a:p>
            <a:pPr algn="ctr" eaLnBrk="1" hangingPunct="1"/>
            <a:r>
              <a:rPr lang="en-US" altLang="en-US" sz="800" dirty="0">
                <a:latin typeface="Arial" panose="020B0604020202020204" pitchFamily="34" charset="0"/>
              </a:rPr>
              <a:t>Requirement</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ii</a:t>
            </a:r>
            <a:endParaRPr lang="en-US" altLang="en-US" sz="800" dirty="0">
              <a:latin typeface="Arial" panose="020B0604020202020204" pitchFamily="34" charset="0"/>
            </a:endParaRPr>
          </a:p>
        </p:txBody>
      </p:sp>
      <p:cxnSp>
        <p:nvCxnSpPr>
          <p:cNvPr id="12316" name="AutoShape 41"/>
          <p:cNvCxnSpPr>
            <a:cxnSpLocks noChangeAspect="1"/>
            <a:stCxn id="12318" idx="2"/>
            <a:endCxn id="12317" idx="3"/>
          </p:cNvCxnSpPr>
          <p:nvPr/>
        </p:nvCxnSpPr>
        <p:spPr>
          <a:xfrm flipH="1">
            <a:off x="7634288" y="4589463"/>
            <a:ext cx="490537" cy="411162"/>
          </a:xfrm>
          <a:prstGeom prst="straightConnector1">
            <a:avLst/>
          </a:prstGeom>
          <a:ln w="12700" cap="flat" cmpd="sng">
            <a:solidFill>
              <a:schemeClr val="tx1"/>
            </a:solidFill>
            <a:prstDash val="lgDash"/>
            <a:headEnd type="none" w="med" len="med"/>
            <a:tailEnd type="triangle" w="med" len="med"/>
          </a:ln>
        </p:spPr>
      </p:cxnSp>
      <p:sp>
        <p:nvSpPr>
          <p:cNvPr id="12317" name="Rectangle 46"/>
          <p:cNvSpPr>
            <a:spLocks noChangeAspect="1"/>
          </p:cNvSpPr>
          <p:nvPr/>
        </p:nvSpPr>
        <p:spPr>
          <a:xfrm rot="-2400000">
            <a:off x="7124700" y="4999038"/>
            <a:ext cx="577850" cy="374650"/>
          </a:xfrm>
          <a:prstGeom prst="rect">
            <a:avLst/>
          </a:prstGeom>
          <a:solidFill>
            <a:schemeClr val="bg1"/>
          </a:solidFill>
          <a:ln w="6350" cap="flat" cmpd="sng">
            <a:solidFill>
              <a:schemeClr val="tx1"/>
            </a:solidFill>
            <a:prstDash val="solid"/>
            <a:miter/>
            <a:headEnd type="none" w="med" len="med"/>
            <a:tailEnd type="none" w="med" len="med"/>
          </a:ln>
        </p:spPr>
        <p:txBody>
          <a:bodyPr anchor="ctr" anchorCtr="0"/>
          <a:p>
            <a:pPr algn="ctr" eaLnBrk="1" hangingPunct="1"/>
            <a:r>
              <a:rPr lang="en-US" altLang="en-US" sz="800" dirty="0">
                <a:latin typeface="Arial" panose="020B0604020202020204" pitchFamily="34" charset="0"/>
              </a:rPr>
              <a:t>Domain</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E</a:t>
            </a:r>
            <a:endParaRPr lang="en-US" altLang="en-US" sz="800" dirty="0">
              <a:latin typeface="Arial" panose="020B0604020202020204" pitchFamily="34" charset="0"/>
            </a:endParaRPr>
          </a:p>
        </p:txBody>
      </p:sp>
      <p:sp>
        <p:nvSpPr>
          <p:cNvPr id="12318" name="Oval 47"/>
          <p:cNvSpPr>
            <a:spLocks noChangeAspect="1"/>
          </p:cNvSpPr>
          <p:nvPr/>
        </p:nvSpPr>
        <p:spPr>
          <a:xfrm rot="-2400000">
            <a:off x="8031163" y="4143375"/>
            <a:ext cx="806450" cy="374650"/>
          </a:xfrm>
          <a:prstGeom prst="ellipse">
            <a:avLst/>
          </a:prstGeom>
          <a:solidFill>
            <a:schemeClr val="bg1"/>
          </a:solidFill>
          <a:ln w="6350" cap="flat" cmpd="sng">
            <a:solidFill>
              <a:schemeClr val="tx1"/>
            </a:solidFill>
            <a:prstDash val="lgDash"/>
            <a:headEnd type="none" w="med" len="med"/>
            <a:tailEnd type="none" w="med" len="med"/>
          </a:ln>
        </p:spPr>
        <p:txBody>
          <a:bodyPr wrap="none" lIns="0" tIns="64008" rIns="0" bIns="0" anchor="ctr" anchorCtr="0"/>
          <a:p>
            <a:pPr algn="ctr" eaLnBrk="1" hangingPunct="1"/>
            <a:r>
              <a:rPr lang="en-US" altLang="en-US" sz="800" dirty="0">
                <a:latin typeface="Arial" panose="020B0604020202020204" pitchFamily="34" charset="0"/>
              </a:rPr>
              <a:t>Requirement</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iv</a:t>
            </a:r>
            <a:endParaRPr lang="en-US" altLang="en-US" sz="800" dirty="0">
              <a:latin typeface="Arial" panose="020B0604020202020204" pitchFamily="34" charset="0"/>
            </a:endParaRPr>
          </a:p>
        </p:txBody>
      </p:sp>
      <p:sp>
        <p:nvSpPr>
          <p:cNvPr id="12319" name="Text Box 80"/>
          <p:cNvSpPr txBox="1"/>
          <p:nvPr/>
        </p:nvSpPr>
        <p:spPr>
          <a:xfrm>
            <a:off x="2162175" y="5505450"/>
            <a:ext cx="257175" cy="244475"/>
          </a:xfrm>
          <a:prstGeom prst="rect">
            <a:avLst/>
          </a:prstGeom>
          <a:noFill/>
          <a:ln w="9525">
            <a:noFill/>
          </a:ln>
        </p:spPr>
        <p:txBody>
          <a:bodyPr wrap="none" lIns="9144" tIns="0" rIns="9144" bIns="0">
            <a:spAutoFit/>
          </a:bodyPr>
          <a:p>
            <a:pPr algn="ctr" eaLnBrk="1" hangingPunct="1"/>
            <a:r>
              <a:rPr lang="en-US" altLang="en-US" sz="1600" dirty="0">
                <a:latin typeface="Times New Roman" panose="02020603050405020304" pitchFamily="18" charset="0"/>
              </a:rPr>
              <a:t>(b)</a:t>
            </a:r>
            <a:endParaRPr lang="en-US" altLang="en-US" sz="1600" dirty="0">
              <a:latin typeface="Times New Roman" panose="02020603050405020304" pitchFamily="18" charset="0"/>
            </a:endParaRPr>
          </a:p>
        </p:txBody>
      </p:sp>
      <p:sp>
        <p:nvSpPr>
          <p:cNvPr id="12320" name="Line 81"/>
          <p:cNvSpPr/>
          <p:nvPr/>
        </p:nvSpPr>
        <p:spPr>
          <a:xfrm>
            <a:off x="2160588" y="2720975"/>
            <a:ext cx="6700837" cy="0"/>
          </a:xfrm>
          <a:prstGeom prst="line">
            <a:avLst/>
          </a:prstGeom>
          <a:ln w="3175" cap="flat" cmpd="sng">
            <a:solidFill>
              <a:schemeClr val="tx1"/>
            </a:solidFill>
            <a:prstDash val="solid"/>
            <a:headEnd type="none" w="med" len="med"/>
            <a:tailEnd type="none" w="med" len="med"/>
          </a:ln>
        </p:spPr>
      </p:sp>
      <p:cxnSp>
        <p:nvCxnSpPr>
          <p:cNvPr id="12321" name="AutoShape 3"/>
          <p:cNvCxnSpPr>
            <a:cxnSpLocks noChangeAspect="1"/>
            <a:stCxn id="12323" idx="3"/>
            <a:endCxn id="12324" idx="1"/>
          </p:cNvCxnSpPr>
          <p:nvPr/>
        </p:nvCxnSpPr>
        <p:spPr>
          <a:xfrm>
            <a:off x="4283075" y="1916113"/>
            <a:ext cx="696913" cy="0"/>
          </a:xfrm>
          <a:prstGeom prst="straightConnector1">
            <a:avLst/>
          </a:prstGeom>
          <a:ln w="12700" cap="flat" cmpd="sng">
            <a:solidFill>
              <a:schemeClr val="tx1"/>
            </a:solidFill>
            <a:prstDash val="solid"/>
            <a:headEnd type="none" w="med" len="med"/>
            <a:tailEnd type="none" w="med" len="med"/>
          </a:ln>
        </p:spPr>
      </p:cxnSp>
      <p:cxnSp>
        <p:nvCxnSpPr>
          <p:cNvPr id="12322" name="AutoShape 4"/>
          <p:cNvCxnSpPr>
            <a:cxnSpLocks noChangeAspect="1"/>
            <a:stCxn id="12325" idx="2"/>
            <a:endCxn id="12326" idx="3"/>
          </p:cNvCxnSpPr>
          <p:nvPr/>
        </p:nvCxnSpPr>
        <p:spPr>
          <a:xfrm flipH="1">
            <a:off x="6043613" y="1916113"/>
            <a:ext cx="547687" cy="1587"/>
          </a:xfrm>
          <a:prstGeom prst="straightConnector1">
            <a:avLst/>
          </a:prstGeom>
          <a:ln w="12700" cap="flat" cmpd="sng">
            <a:solidFill>
              <a:schemeClr val="tx1"/>
            </a:solidFill>
            <a:prstDash val="lgDash"/>
            <a:headEnd type="none" w="med" len="med"/>
            <a:tailEnd type="none" w="lg" len="lg"/>
          </a:ln>
        </p:spPr>
      </p:cxnSp>
      <p:sp>
        <p:nvSpPr>
          <p:cNvPr id="12323" name="Rectangle 6"/>
          <p:cNvSpPr/>
          <p:nvPr/>
        </p:nvSpPr>
        <p:spPr>
          <a:xfrm>
            <a:off x="3140075" y="1673225"/>
            <a:ext cx="1143000" cy="484188"/>
          </a:xfrm>
          <a:prstGeom prst="rect">
            <a:avLst/>
          </a:prstGeom>
          <a:solidFill>
            <a:schemeClr val="bg1"/>
          </a:solidFill>
          <a:ln w="28575" cap="flat" cmpd="dbl">
            <a:solidFill>
              <a:schemeClr val="tx1"/>
            </a:solidFill>
            <a:prstDash val="solid"/>
            <a:miter/>
            <a:headEnd type="none" w="med" len="med"/>
            <a:tailEnd type="none" w="med" len="med"/>
          </a:ln>
        </p:spPr>
        <p:txBody>
          <a:bodyPr lIns="45720" rIns="45720" anchor="ctr" anchorCtr="0"/>
          <a:p>
            <a:pPr algn="ctr" eaLnBrk="1" hangingPunct="1"/>
            <a:r>
              <a:rPr lang="en-US" altLang="en-US" sz="1000" dirty="0">
                <a:latin typeface="Arial" panose="020B0604020202020204" pitchFamily="34" charset="0"/>
              </a:rPr>
              <a:t>Software-to-be</a:t>
            </a:r>
            <a:endParaRPr lang="en-US" altLang="en-US" sz="1000" dirty="0">
              <a:latin typeface="Arial" panose="020B0604020202020204" pitchFamily="34" charset="0"/>
            </a:endParaRPr>
          </a:p>
        </p:txBody>
      </p:sp>
      <p:sp>
        <p:nvSpPr>
          <p:cNvPr id="12324" name="Rectangle 9"/>
          <p:cNvSpPr/>
          <p:nvPr/>
        </p:nvSpPr>
        <p:spPr>
          <a:xfrm>
            <a:off x="4979988" y="1673225"/>
            <a:ext cx="914400" cy="48418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sp>
        <p:nvSpPr>
          <p:cNvPr id="12325" name="Oval 10"/>
          <p:cNvSpPr/>
          <p:nvPr/>
        </p:nvSpPr>
        <p:spPr>
          <a:xfrm>
            <a:off x="6591300" y="1641475"/>
            <a:ext cx="1189038" cy="547688"/>
          </a:xfrm>
          <a:prstGeom prst="ellipse">
            <a:avLst/>
          </a:prstGeom>
          <a:solidFill>
            <a:schemeClr val="bg1"/>
          </a:solidFill>
          <a:ln w="9525" cap="flat" cmpd="sng">
            <a:solidFill>
              <a:schemeClr val="tx1"/>
            </a:solidFill>
            <a:prstDash val="lgDash"/>
            <a:headEnd type="none" w="med" len="med"/>
            <a:tailEnd type="none" w="med" len="med"/>
          </a:ln>
        </p:spPr>
        <p:txBody>
          <a:bodyPr wrap="none" lIns="0" tIns="0" rIns="0" bIns="91440" anchor="ctr" anchorCtr="0"/>
          <a:p>
            <a:pPr algn="ctr" eaLnBrk="1" hangingPunct="1"/>
            <a:r>
              <a:rPr lang="en-US" altLang="en-US" sz="1000" dirty="0">
                <a:latin typeface="Arial" panose="020B0604020202020204" pitchFamily="34" charset="0"/>
              </a:rPr>
              <a:t>Business Goal</a:t>
            </a:r>
            <a:endParaRPr lang="en-US" altLang="en-US" sz="1000" dirty="0">
              <a:latin typeface="Arial" panose="020B0604020202020204" pitchFamily="34" charset="0"/>
            </a:endParaRPr>
          </a:p>
          <a:p>
            <a:pPr algn="ctr" eaLnBrk="1" hangingPunct="1"/>
            <a:r>
              <a:rPr lang="en-US" altLang="en-US" sz="900" dirty="0">
                <a:latin typeface="Arial" panose="020B0604020202020204" pitchFamily="34" charset="0"/>
              </a:rPr>
              <a:t>(User’s Requirement)</a:t>
            </a:r>
            <a:endParaRPr lang="en-US" altLang="en-US" sz="900" dirty="0">
              <a:latin typeface="Arial" panose="020B0604020202020204" pitchFamily="34" charset="0"/>
            </a:endParaRPr>
          </a:p>
        </p:txBody>
      </p:sp>
      <p:sp>
        <p:nvSpPr>
          <p:cNvPr id="12326" name="AutoShape 53"/>
          <p:cNvSpPr/>
          <p:nvPr/>
        </p:nvSpPr>
        <p:spPr>
          <a:xfrm rot="-5400000">
            <a:off x="5905500" y="1846263"/>
            <a:ext cx="134938" cy="138112"/>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anchor="ctr" anchorCtr="0">
            <a:spAutoFit/>
          </a:bodyPr>
          <a:p>
            <a:pPr eaLnBrk="1" hangingPunct="1"/>
            <a:endParaRPr lang="en-US" altLang="en-US" dirty="0">
              <a:latin typeface="Arial" panose="020B0604020202020204" pitchFamily="34" charset="0"/>
            </a:endParaRPr>
          </a:p>
        </p:txBody>
      </p:sp>
      <p:sp>
        <p:nvSpPr>
          <p:cNvPr id="12327" name="Rectangle 57"/>
          <p:cNvSpPr/>
          <p:nvPr/>
        </p:nvSpPr>
        <p:spPr>
          <a:xfrm rot="-6420000">
            <a:off x="3894138" y="5626100"/>
            <a:ext cx="639762" cy="374650"/>
          </a:xfrm>
          <a:prstGeom prst="rect">
            <a:avLst/>
          </a:prstGeom>
          <a:solidFill>
            <a:schemeClr val="bg1"/>
          </a:solidFill>
          <a:ln w="28575" cap="flat" cmpd="dbl">
            <a:solidFill>
              <a:schemeClr val="tx1"/>
            </a:solidFill>
            <a:prstDash val="solid"/>
            <a:miter/>
            <a:headEnd type="none" w="med" len="med"/>
            <a:tailEnd type="none" w="med" len="med"/>
          </a:ln>
        </p:spPr>
        <p:txBody>
          <a:bodyPr lIns="45720" rIns="45720" anchor="ctr" anchorCtr="0"/>
          <a:p>
            <a:pPr algn="ctr" eaLnBrk="1" hangingPunct="1"/>
            <a:r>
              <a:rPr lang="en-US" altLang="en-US" sz="800" dirty="0">
                <a:latin typeface="Arial" panose="020B0604020202020204" pitchFamily="34" charset="0"/>
              </a:rPr>
              <a:t>Subsystem</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1</a:t>
            </a:r>
            <a:endParaRPr lang="en-US" altLang="en-US" sz="800" dirty="0">
              <a:latin typeface="Arial" panose="020B0604020202020204" pitchFamily="34" charset="0"/>
            </a:endParaRPr>
          </a:p>
        </p:txBody>
      </p:sp>
      <p:sp>
        <p:nvSpPr>
          <p:cNvPr id="12328" name="Rectangle 59"/>
          <p:cNvSpPr/>
          <p:nvPr/>
        </p:nvSpPr>
        <p:spPr>
          <a:xfrm rot="-5400000">
            <a:off x="4618038" y="5621338"/>
            <a:ext cx="639762" cy="374650"/>
          </a:xfrm>
          <a:prstGeom prst="rect">
            <a:avLst/>
          </a:prstGeom>
          <a:solidFill>
            <a:schemeClr val="bg1"/>
          </a:solidFill>
          <a:ln w="28575" cap="flat" cmpd="dbl">
            <a:solidFill>
              <a:schemeClr val="tx1"/>
            </a:solidFill>
            <a:prstDash val="solid"/>
            <a:miter/>
            <a:headEnd type="none" w="med" len="med"/>
            <a:tailEnd type="none" w="med" len="med"/>
          </a:ln>
        </p:spPr>
        <p:txBody>
          <a:bodyPr lIns="45720" rIns="45720" anchor="ctr" anchorCtr="0"/>
          <a:p>
            <a:pPr algn="ctr" eaLnBrk="1" hangingPunct="1"/>
            <a:r>
              <a:rPr lang="en-US" altLang="en-US" sz="800" dirty="0">
                <a:latin typeface="Arial" panose="020B0604020202020204" pitchFamily="34" charset="0"/>
              </a:rPr>
              <a:t>Subsystem</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2</a:t>
            </a:r>
            <a:endParaRPr lang="en-US" altLang="en-US" sz="800" dirty="0">
              <a:latin typeface="Arial" panose="020B0604020202020204" pitchFamily="34" charset="0"/>
            </a:endParaRPr>
          </a:p>
        </p:txBody>
      </p:sp>
      <p:sp>
        <p:nvSpPr>
          <p:cNvPr id="12329" name="Text Box 80"/>
          <p:cNvSpPr txBox="1"/>
          <p:nvPr/>
        </p:nvSpPr>
        <p:spPr>
          <a:xfrm>
            <a:off x="3711575" y="6335713"/>
            <a:ext cx="1025525" cy="184150"/>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Software-to-be</a:t>
            </a:r>
            <a:endParaRPr lang="en-US" altLang="en-US" sz="1200" dirty="0">
              <a:latin typeface="Arial" panose="020B0604020202020204" pitchFamily="34" charset="0"/>
            </a:endParaRPr>
          </a:p>
        </p:txBody>
      </p:sp>
      <p:sp>
        <p:nvSpPr>
          <p:cNvPr id="12330" name="Rectangle 66"/>
          <p:cNvSpPr/>
          <p:nvPr/>
        </p:nvSpPr>
        <p:spPr>
          <a:xfrm rot="-2400000">
            <a:off x="6138863" y="5797550"/>
            <a:ext cx="639762" cy="374650"/>
          </a:xfrm>
          <a:prstGeom prst="rect">
            <a:avLst/>
          </a:prstGeom>
          <a:solidFill>
            <a:schemeClr val="bg1"/>
          </a:solidFill>
          <a:ln w="28575" cap="flat" cmpd="dbl">
            <a:solidFill>
              <a:schemeClr val="tx1"/>
            </a:solidFill>
            <a:prstDash val="solid"/>
            <a:miter/>
            <a:headEnd type="none" w="med" len="med"/>
            <a:tailEnd type="none" w="med" len="med"/>
          </a:ln>
        </p:spPr>
        <p:txBody>
          <a:bodyPr lIns="45720" rIns="45720" anchor="ctr" anchorCtr="0"/>
          <a:p>
            <a:pPr algn="ctr" eaLnBrk="1" hangingPunct="1"/>
            <a:r>
              <a:rPr lang="en-US" altLang="en-US" sz="800" dirty="0">
                <a:latin typeface="Arial" panose="020B0604020202020204" pitchFamily="34" charset="0"/>
              </a:rPr>
              <a:t>Subsystem</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4</a:t>
            </a:r>
            <a:endParaRPr lang="en-US" altLang="en-US" sz="800" dirty="0">
              <a:latin typeface="Arial" panose="020B0604020202020204" pitchFamily="34" charset="0"/>
            </a:endParaRPr>
          </a:p>
        </p:txBody>
      </p:sp>
      <p:grpSp>
        <p:nvGrpSpPr>
          <p:cNvPr id="12331" name="Group 71"/>
          <p:cNvGrpSpPr/>
          <p:nvPr/>
        </p:nvGrpSpPr>
        <p:grpSpPr>
          <a:xfrm>
            <a:off x="5516563" y="5589588"/>
            <a:ext cx="374650" cy="639762"/>
            <a:chOff x="3475" y="3521"/>
            <a:chExt cx="236" cy="403"/>
          </a:xfrm>
        </p:grpSpPr>
        <p:sp>
          <p:nvSpPr>
            <p:cNvPr id="12337" name="Freeform 65"/>
            <p:cNvSpPr/>
            <p:nvPr/>
          </p:nvSpPr>
          <p:spPr>
            <a:xfrm rot="-4020000">
              <a:off x="3643" y="3517"/>
              <a:ext cx="40" cy="7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576" y="0"/>
                  </a:moveTo>
                  <a:lnTo>
                    <a:pt x="0" y="0"/>
                  </a:lnTo>
                  <a:lnTo>
                    <a:pt x="0" y="576"/>
                  </a:lnTo>
                  <a:lnTo>
                    <a:pt x="576" y="576"/>
                  </a:lnTo>
                </a:path>
              </a:pathLst>
            </a:custGeom>
            <a:solidFill>
              <a:schemeClr val="bg1">
                <a:alpha val="100000"/>
              </a:schemeClr>
            </a:solidFill>
            <a:ln w="28575" cap="flat" cmpd="dbl">
              <a:solidFill>
                <a:schemeClr val="tx1">
                  <a:alpha val="100000"/>
                </a:schemeClr>
              </a:solidFill>
              <a:prstDash val="solid"/>
              <a:miter lim="800000"/>
              <a:headEnd type="none" w="med" len="med"/>
              <a:tailEnd type="none" w="med" len="med"/>
            </a:ln>
          </p:spPr>
          <p:txBody>
            <a:bodyPr/>
            <a:p>
              <a:endParaRPr lang="zh-CN" altLang="en-US"/>
            </a:p>
          </p:txBody>
        </p:sp>
        <p:sp>
          <p:nvSpPr>
            <p:cNvPr id="12338" name="Rectangle 62"/>
            <p:cNvSpPr/>
            <p:nvPr/>
          </p:nvSpPr>
          <p:spPr>
            <a:xfrm rot="-4020000">
              <a:off x="3391" y="3604"/>
              <a:ext cx="403" cy="236"/>
            </a:xfrm>
            <a:prstGeom prst="rect">
              <a:avLst/>
            </a:prstGeom>
            <a:solidFill>
              <a:schemeClr val="bg1"/>
            </a:solidFill>
            <a:ln w="28575" cap="flat" cmpd="dbl">
              <a:solidFill>
                <a:schemeClr val="tx1"/>
              </a:solidFill>
              <a:prstDash val="solid"/>
              <a:miter/>
              <a:headEnd type="none" w="med" len="med"/>
              <a:tailEnd type="none" w="med" len="med"/>
            </a:ln>
          </p:spPr>
          <p:txBody>
            <a:bodyPr lIns="45720" rIns="45720" anchor="ctr" anchorCtr="0"/>
            <a:p>
              <a:pPr algn="ctr" eaLnBrk="1" hangingPunct="1"/>
              <a:r>
                <a:rPr lang="en-US" altLang="en-US" sz="800" dirty="0">
                  <a:latin typeface="Arial" panose="020B0604020202020204" pitchFamily="34" charset="0"/>
                </a:rPr>
                <a:t>Subsystem</a:t>
              </a:r>
              <a:endParaRPr lang="en-US" altLang="en-US" sz="800" dirty="0">
                <a:latin typeface="Arial" panose="020B0604020202020204" pitchFamily="34" charset="0"/>
              </a:endParaRPr>
            </a:p>
            <a:p>
              <a:pPr algn="ctr" eaLnBrk="1" hangingPunct="1"/>
              <a:r>
                <a:rPr lang="en-US" altLang="en-US" sz="800" dirty="0">
                  <a:latin typeface="Arial" panose="020B0604020202020204" pitchFamily="34" charset="0"/>
                </a:rPr>
                <a:t>3</a:t>
              </a:r>
              <a:endParaRPr lang="en-US" altLang="en-US" sz="800" dirty="0">
                <a:latin typeface="Arial" panose="020B0604020202020204" pitchFamily="34" charset="0"/>
              </a:endParaRPr>
            </a:p>
          </p:txBody>
        </p:sp>
      </p:grpSp>
      <p:sp>
        <p:nvSpPr>
          <p:cNvPr id="12332" name="Freeform 73"/>
          <p:cNvSpPr>
            <a:spLocks noChangeAspect="1"/>
          </p:cNvSpPr>
          <p:nvPr/>
        </p:nvSpPr>
        <p:spPr>
          <a:xfrm>
            <a:off x="5524500" y="2609850"/>
            <a:ext cx="271463" cy="311150"/>
          </a:xfrm>
          <a:custGeom>
            <a:avLst/>
            <a:gdLst>
              <a:gd name="txL" fmla="*/ 0 w 1629"/>
              <a:gd name="txT" fmla="*/ 0 h 1868"/>
              <a:gd name="txR" fmla="*/ 1629 w 1629"/>
              <a:gd name="txB" fmla="*/ 1868 h 1868"/>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1629" h="1868">
                <a:moveTo>
                  <a:pt x="0" y="3"/>
                </a:moveTo>
                <a:cubicBezTo>
                  <a:pt x="75" y="198"/>
                  <a:pt x="357" y="1017"/>
                  <a:pt x="417" y="1188"/>
                </a:cubicBezTo>
                <a:cubicBezTo>
                  <a:pt x="230" y="1189"/>
                  <a:pt x="57" y="1185"/>
                  <a:pt x="54" y="1215"/>
                </a:cubicBezTo>
                <a:cubicBezTo>
                  <a:pt x="429" y="1539"/>
                  <a:pt x="666" y="1731"/>
                  <a:pt x="825" y="1868"/>
                </a:cubicBezTo>
                <a:cubicBezTo>
                  <a:pt x="951" y="1809"/>
                  <a:pt x="1224" y="1542"/>
                  <a:pt x="1629" y="1209"/>
                </a:cubicBezTo>
                <a:cubicBezTo>
                  <a:pt x="1566" y="1185"/>
                  <a:pt x="1422" y="1199"/>
                  <a:pt x="1203" y="1191"/>
                </a:cubicBezTo>
                <a:cubicBezTo>
                  <a:pt x="1371" y="624"/>
                  <a:pt x="1443" y="414"/>
                  <a:pt x="1572" y="15"/>
                </a:cubicBezTo>
                <a:cubicBezTo>
                  <a:pt x="777" y="15"/>
                  <a:pt x="219" y="0"/>
                  <a:pt x="0" y="3"/>
                </a:cubicBezTo>
                <a:close/>
              </a:path>
            </a:pathLst>
          </a:custGeom>
          <a:solidFill>
            <a:schemeClr val="tx1">
              <a:alpha val="100000"/>
            </a:schemeClr>
          </a:solidFill>
          <a:ln w="12700" cap="flat" cmpd="sng">
            <a:solidFill>
              <a:schemeClr val="bg1">
                <a:alpha val="100000"/>
              </a:schemeClr>
            </a:solidFill>
            <a:prstDash val="solid"/>
            <a:round/>
            <a:headEnd type="none" w="med" len="med"/>
            <a:tailEnd type="none" w="med" len="med"/>
          </a:ln>
        </p:spPr>
        <p:txBody>
          <a:bodyPr/>
          <a:p>
            <a:endParaRPr lang="zh-CN" altLang="en-US"/>
          </a:p>
        </p:txBody>
      </p:sp>
      <p:sp>
        <p:nvSpPr>
          <p:cNvPr id="12333" name="Text Box 80"/>
          <p:cNvSpPr txBox="1"/>
          <p:nvPr/>
        </p:nvSpPr>
        <p:spPr>
          <a:xfrm>
            <a:off x="5819775" y="2497138"/>
            <a:ext cx="1339850" cy="152400"/>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Problem decomposition</a:t>
            </a:r>
            <a:endParaRPr lang="en-US" altLang="en-US" sz="1000" dirty="0">
              <a:latin typeface="Arial" panose="020B0604020202020204" pitchFamily="34" charset="0"/>
            </a:endParaRPr>
          </a:p>
        </p:txBody>
      </p:sp>
      <p:sp>
        <p:nvSpPr>
          <p:cNvPr id="12334" name="Text Box 41"/>
          <p:cNvSpPr txBox="1"/>
          <p:nvPr/>
        </p:nvSpPr>
        <p:spPr>
          <a:xfrm>
            <a:off x="130175" y="2492375"/>
            <a:ext cx="2863850" cy="2492375"/>
          </a:xfrm>
          <a:prstGeom prst="rect">
            <a:avLst/>
          </a:prstGeom>
          <a:noFill/>
          <a:ln w="9525">
            <a:noFill/>
          </a:ln>
        </p:spPr>
        <p:txBody>
          <a:bodyPr lIns="9144" tIns="0" rIns="9144" bIns="0">
            <a:spAutoFit/>
          </a:bodyPr>
          <a:p>
            <a:r>
              <a:rPr lang="en-US" altLang="en-US" dirty="0">
                <a:solidFill>
                  <a:srgbClr val="000000"/>
                </a:solidFill>
                <a:latin typeface="Calibri" panose="020F0502020204030204" pitchFamily="34" charset="0"/>
                <a:cs typeface="Calibri" panose="020F0502020204030204" pitchFamily="34" charset="0"/>
              </a:rPr>
              <a:t>Frame Approach:</a:t>
            </a:r>
            <a:endParaRPr lang="en-US" altLang="en-US" dirty="0">
              <a:solidFill>
                <a:srgbClr val="000000"/>
              </a:solidFill>
              <a:latin typeface="Calibri" panose="020F0502020204030204" pitchFamily="34" charset="0"/>
              <a:cs typeface="Calibri" panose="020F0502020204030204" pitchFamily="34" charset="0"/>
            </a:endParaRPr>
          </a:p>
          <a:p>
            <a:r>
              <a:rPr lang="en-US" altLang="en-US" dirty="0">
                <a:solidFill>
                  <a:srgbClr val="000000"/>
                </a:solidFill>
                <a:latin typeface="Calibri" panose="020F0502020204030204" pitchFamily="34" charset="0"/>
                <a:cs typeface="Calibri" panose="020F0502020204030204" pitchFamily="34" charset="0"/>
              </a:rPr>
              <a:t>Split the big “black box” into several smaller “black boxes”, each addressing a subset of the requirements and representing a mini-project.</a:t>
            </a:r>
            <a:endParaRPr lang="en-US" altLang="en-US" dirty="0">
              <a:solidFill>
                <a:srgbClr val="000000"/>
              </a:solidFill>
              <a:latin typeface="Calibri" panose="020F0502020204030204" pitchFamily="34" charset="0"/>
              <a:cs typeface="Calibri" panose="020F0502020204030204" pitchFamily="34" charset="0"/>
            </a:endParaRPr>
          </a:p>
          <a:p>
            <a:r>
              <a:rPr lang="en-US" altLang="en-US" dirty="0">
                <a:solidFill>
                  <a:srgbClr val="000000"/>
                </a:solidFill>
                <a:latin typeface="Calibri" panose="020F0502020204030204" pitchFamily="34" charset="0"/>
                <a:cs typeface="Calibri" panose="020F0502020204030204" pitchFamily="34" charset="0"/>
              </a:rPr>
              <a:t>During the analysis, we consider each subproblem separately.</a:t>
            </a:r>
            <a:endParaRPr lang="en-US" altLang="en-US" dirty="0">
              <a:solidFill>
                <a:srgbClr val="000000"/>
              </a:solidFill>
              <a:latin typeface="Calibri" panose="020F0502020204030204" pitchFamily="34" charset="0"/>
              <a:ea typeface="Calibri" panose="020F0502020204030204" pitchFamily="34" charset="0"/>
            </a:endParaRPr>
          </a:p>
        </p:txBody>
      </p:sp>
      <p:sp>
        <p:nvSpPr>
          <p:cNvPr id="2" name="Freeform 1"/>
          <p:cNvSpPr/>
          <p:nvPr/>
        </p:nvSpPr>
        <p:spPr>
          <a:xfrm>
            <a:off x="2786063" y="2255838"/>
            <a:ext cx="628650" cy="652463"/>
          </a:xfrm>
          <a:custGeom>
            <a:avLst/>
            <a:gdLst>
              <a:gd name="connsiteX0" fmla="*/ 0 w 627017"/>
              <a:gd name="connsiteY0" fmla="*/ 653143 h 653143"/>
              <a:gd name="connsiteX1" fmla="*/ 627017 w 627017"/>
              <a:gd name="connsiteY1" fmla="*/ 0 h 653143"/>
              <a:gd name="connsiteX0-1" fmla="*/ 0 w 628121"/>
              <a:gd name="connsiteY0-2" fmla="*/ 653143 h 653143"/>
              <a:gd name="connsiteX1-3" fmla="*/ 627017 w 628121"/>
              <a:gd name="connsiteY1-4" fmla="*/ 0 h 653143"/>
              <a:gd name="connsiteX0-5" fmla="*/ 0 w 628986"/>
              <a:gd name="connsiteY0-6" fmla="*/ 653143 h 653143"/>
              <a:gd name="connsiteX1-7" fmla="*/ 627017 w 628986"/>
              <a:gd name="connsiteY1-8" fmla="*/ 0 h 653143"/>
              <a:gd name="connsiteX0-9" fmla="*/ 0 w 627268"/>
              <a:gd name="connsiteY0-10" fmla="*/ 653143 h 653143"/>
              <a:gd name="connsiteX1-11" fmla="*/ 627017 w 627268"/>
              <a:gd name="connsiteY1-12" fmla="*/ 0 h 653143"/>
            </a:gdLst>
            <a:ahLst/>
            <a:cxnLst>
              <a:cxn ang="0">
                <a:pos x="connsiteX0-1" y="connsiteY0-2"/>
              </a:cxn>
              <a:cxn ang="0">
                <a:pos x="connsiteX1-3" y="connsiteY1-4"/>
              </a:cxn>
            </a:cxnLst>
            <a:rect l="l" t="t" r="r" b="b"/>
            <a:pathLst>
              <a:path w="627268" h="653143">
                <a:moveTo>
                  <a:pt x="0" y="653143"/>
                </a:moveTo>
                <a:cubicBezTo>
                  <a:pt x="418012" y="653143"/>
                  <a:pt x="635726" y="426719"/>
                  <a:pt x="627017" y="0"/>
                </a:cubicBezTo>
              </a:path>
            </a:pathLst>
          </a:custGeom>
          <a:noFill/>
          <a:ln w="19050">
            <a:solidFill>
              <a:srgbClr val="C00000"/>
            </a:solidFill>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9" name="Freeform 48"/>
          <p:cNvSpPr/>
          <p:nvPr/>
        </p:nvSpPr>
        <p:spPr>
          <a:xfrm>
            <a:off x="2733675" y="3213100"/>
            <a:ext cx="806450" cy="2690813"/>
          </a:xfrm>
          <a:custGeom>
            <a:avLst/>
            <a:gdLst>
              <a:gd name="connsiteX0" fmla="*/ 0 w 627017"/>
              <a:gd name="connsiteY0" fmla="*/ 653143 h 653143"/>
              <a:gd name="connsiteX1" fmla="*/ 627017 w 627017"/>
              <a:gd name="connsiteY1" fmla="*/ 0 h 653143"/>
              <a:gd name="connsiteX0-1" fmla="*/ 0 w 628121"/>
              <a:gd name="connsiteY0-2" fmla="*/ 653143 h 653143"/>
              <a:gd name="connsiteX1-3" fmla="*/ 627017 w 628121"/>
              <a:gd name="connsiteY1-4" fmla="*/ 0 h 653143"/>
              <a:gd name="connsiteX0-5" fmla="*/ 0 w 628986"/>
              <a:gd name="connsiteY0-6" fmla="*/ 653143 h 653143"/>
              <a:gd name="connsiteX1-7" fmla="*/ 627017 w 628986"/>
              <a:gd name="connsiteY1-8" fmla="*/ 0 h 653143"/>
              <a:gd name="connsiteX0-9" fmla="*/ 0 w 627268"/>
              <a:gd name="connsiteY0-10" fmla="*/ 653143 h 653143"/>
              <a:gd name="connsiteX1-11" fmla="*/ 627017 w 627268"/>
              <a:gd name="connsiteY1-12" fmla="*/ 0 h 653143"/>
              <a:gd name="connsiteX0-13" fmla="*/ 0 w 557709"/>
              <a:gd name="connsiteY0-14" fmla="*/ 0 h 2731071"/>
              <a:gd name="connsiteX1-15" fmla="*/ 557349 w 557709"/>
              <a:gd name="connsiteY1-16" fmla="*/ 2690948 h 2731071"/>
              <a:gd name="connsiteX0-17" fmla="*/ 0 w 557603"/>
              <a:gd name="connsiteY0-18" fmla="*/ 0 h 2736337"/>
              <a:gd name="connsiteX1-19" fmla="*/ 301127 w 557603"/>
              <a:gd name="connsiteY1-20" fmla="*/ 1516043 h 2736337"/>
              <a:gd name="connsiteX2" fmla="*/ 557349 w 557603"/>
              <a:gd name="connsiteY2" fmla="*/ 2690948 h 2736337"/>
              <a:gd name="connsiteX0-21" fmla="*/ 0 w 557603"/>
              <a:gd name="connsiteY0-22" fmla="*/ 0 h 2736337"/>
              <a:gd name="connsiteX1-23" fmla="*/ 301127 w 557603"/>
              <a:gd name="connsiteY1-24" fmla="*/ 1516043 h 2736337"/>
              <a:gd name="connsiteX2-25" fmla="*/ 557349 w 557603"/>
              <a:gd name="connsiteY2-26" fmla="*/ 2690948 h 2736337"/>
              <a:gd name="connsiteX0-27" fmla="*/ 0 w 557413"/>
              <a:gd name="connsiteY0-28" fmla="*/ 0 h 2774121"/>
              <a:gd name="connsiteX1-29" fmla="*/ 301127 w 557413"/>
              <a:gd name="connsiteY1-30" fmla="*/ 1516043 h 2774121"/>
              <a:gd name="connsiteX2-31" fmla="*/ 557349 w 557413"/>
              <a:gd name="connsiteY2-32" fmla="*/ 2690948 h 2774121"/>
              <a:gd name="connsiteX0-33" fmla="*/ 292655 w 850004"/>
              <a:gd name="connsiteY0-34" fmla="*/ 0 h 2690948"/>
              <a:gd name="connsiteX1-35" fmla="*/ 593782 w 850004"/>
              <a:gd name="connsiteY1-36" fmla="*/ 1516043 h 2690948"/>
              <a:gd name="connsiteX2-37" fmla="*/ 850004 w 850004"/>
              <a:gd name="connsiteY2-38" fmla="*/ 2690948 h 2690948"/>
              <a:gd name="connsiteX0-39" fmla="*/ 292655 w 850004"/>
              <a:gd name="connsiteY0-40" fmla="*/ 0 h 2690948"/>
              <a:gd name="connsiteX1-41" fmla="*/ 593782 w 850004"/>
              <a:gd name="connsiteY1-42" fmla="*/ 1516043 h 2690948"/>
              <a:gd name="connsiteX2-43" fmla="*/ 850004 w 850004"/>
              <a:gd name="connsiteY2-44" fmla="*/ 2690948 h 2690948"/>
              <a:gd name="connsiteX0-45" fmla="*/ 46141 w 629615"/>
              <a:gd name="connsiteY0-46" fmla="*/ 0 h 2690948"/>
              <a:gd name="connsiteX1-47" fmla="*/ 373393 w 629615"/>
              <a:gd name="connsiteY1-48" fmla="*/ 1516043 h 2690948"/>
              <a:gd name="connsiteX2-49" fmla="*/ 629615 w 629615"/>
              <a:gd name="connsiteY2-50" fmla="*/ 2690948 h 2690948"/>
              <a:gd name="connsiteX0-51" fmla="*/ 175265 w 758739"/>
              <a:gd name="connsiteY0-52" fmla="*/ 0 h 2690948"/>
              <a:gd name="connsiteX1-53" fmla="*/ 502517 w 758739"/>
              <a:gd name="connsiteY1-54" fmla="*/ 1516043 h 2690948"/>
              <a:gd name="connsiteX2-55" fmla="*/ 758739 w 758739"/>
              <a:gd name="connsiteY2-56" fmla="*/ 2690948 h 2690948"/>
              <a:gd name="connsiteX0-57" fmla="*/ 222536 w 806010"/>
              <a:gd name="connsiteY0-58" fmla="*/ 0 h 2690948"/>
              <a:gd name="connsiteX1-59" fmla="*/ 549788 w 806010"/>
              <a:gd name="connsiteY1-60" fmla="*/ 1516043 h 2690948"/>
              <a:gd name="connsiteX2-61" fmla="*/ 806010 w 806010"/>
              <a:gd name="connsiteY2-62" fmla="*/ 2690948 h 2690948"/>
            </a:gdLst>
            <a:ahLst/>
            <a:cxnLst>
              <a:cxn ang="0">
                <a:pos x="connsiteX0-1" y="connsiteY0-2"/>
              </a:cxn>
              <a:cxn ang="0">
                <a:pos x="connsiteX1-3" y="connsiteY1-4"/>
              </a:cxn>
              <a:cxn ang="0">
                <a:pos x="connsiteX2-25" y="connsiteY2-26"/>
              </a:cxn>
            </a:cxnLst>
            <a:rect l="l" t="t" r="r" b="b"/>
            <a:pathLst>
              <a:path w="806010" h="2690948">
                <a:moveTo>
                  <a:pt x="222536" y="0"/>
                </a:moveTo>
                <a:cubicBezTo>
                  <a:pt x="432381" y="34960"/>
                  <a:pt x="896679" y="971758"/>
                  <a:pt x="549788" y="1516043"/>
                </a:cubicBezTo>
                <a:cubicBezTo>
                  <a:pt x="202897" y="2060328"/>
                  <a:pt x="-613487" y="2682239"/>
                  <a:pt x="806010" y="2690948"/>
                </a:cubicBezTo>
              </a:path>
            </a:pathLst>
          </a:custGeom>
          <a:noFill/>
          <a:ln w="19050">
            <a:solidFill>
              <a:srgbClr val="C00000"/>
            </a:solidFill>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5"/>
          <p:cNvSpPr/>
          <p:nvPr/>
        </p:nvSpPr>
        <p:spPr>
          <a:xfrm>
            <a:off x="3527425" y="1295400"/>
            <a:ext cx="4144963" cy="1762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grpSp>
        <p:nvGrpSpPr>
          <p:cNvPr id="13315" name="Group 74"/>
          <p:cNvGrpSpPr>
            <a:grpSpLocks noChangeAspect="1"/>
          </p:cNvGrpSpPr>
          <p:nvPr/>
        </p:nvGrpSpPr>
        <p:grpSpPr>
          <a:xfrm>
            <a:off x="1509713" y="3951288"/>
            <a:ext cx="263525" cy="530225"/>
            <a:chOff x="4713" y="1095"/>
            <a:chExt cx="251" cy="501"/>
          </a:xfrm>
        </p:grpSpPr>
        <p:sp>
          <p:nvSpPr>
            <p:cNvPr id="125" name="Freeform 75"/>
            <p:cNvSpPr>
              <a:spLocks noChangeAspect="1"/>
            </p:cNvSpPr>
            <p:nvPr/>
          </p:nvSpPr>
          <p:spPr bwMode="auto">
            <a:xfrm>
              <a:off x="4713" y="1194"/>
              <a:ext cx="251" cy="402"/>
            </a:xfrm>
            <a:custGeom>
              <a:avLst/>
              <a:gdLst>
                <a:gd name="T0" fmla="*/ 0 w 251"/>
                <a:gd name="T1" fmla="*/ 138 h 402"/>
                <a:gd name="T2" fmla="*/ 47 w 251"/>
                <a:gd name="T3" fmla="*/ 0 h 402"/>
                <a:gd name="T4" fmla="*/ 114 w 251"/>
                <a:gd name="T5" fmla="*/ 6 h 402"/>
                <a:gd name="T6" fmla="*/ 143 w 251"/>
                <a:gd name="T7" fmla="*/ 6 h 402"/>
                <a:gd name="T8" fmla="*/ 209 w 251"/>
                <a:gd name="T9" fmla="*/ 2 h 402"/>
                <a:gd name="T10" fmla="*/ 251 w 251"/>
                <a:gd name="T11" fmla="*/ 134 h 402"/>
                <a:gd name="T12" fmla="*/ 221 w 251"/>
                <a:gd name="T13" fmla="*/ 150 h 402"/>
                <a:gd name="T14" fmla="*/ 186 w 251"/>
                <a:gd name="T15" fmla="*/ 47 h 402"/>
                <a:gd name="T16" fmla="*/ 186 w 251"/>
                <a:gd name="T17" fmla="*/ 180 h 402"/>
                <a:gd name="T18" fmla="*/ 233 w 251"/>
                <a:gd name="T19" fmla="*/ 402 h 402"/>
                <a:gd name="T20" fmla="*/ 186 w 251"/>
                <a:gd name="T21" fmla="*/ 402 h 402"/>
                <a:gd name="T22" fmla="*/ 128 w 251"/>
                <a:gd name="T23" fmla="*/ 210 h 402"/>
                <a:gd name="T24" fmla="*/ 69 w 251"/>
                <a:gd name="T25" fmla="*/ 402 h 402"/>
                <a:gd name="T26" fmla="*/ 24 w 251"/>
                <a:gd name="T27" fmla="*/ 402 h 402"/>
                <a:gd name="T28" fmla="*/ 69 w 251"/>
                <a:gd name="T29" fmla="*/ 174 h 402"/>
                <a:gd name="T30" fmla="*/ 69 w 251"/>
                <a:gd name="T31" fmla="*/ 45 h 402"/>
                <a:gd name="T32" fmla="*/ 35 w 251"/>
                <a:gd name="T33" fmla="*/ 150 h 402"/>
                <a:gd name="T34" fmla="*/ 0 w 251"/>
                <a:gd name="T35" fmla="*/ 138 h 4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solidFill>
            <a:ln w="12700" cmpd="sng">
              <a:solidFill>
                <a:schemeClr val="tx1">
                  <a:lumMod val="50000"/>
                  <a:lumOff val="50000"/>
                </a:schemeClr>
              </a:solidFill>
              <a:prstDash val="sysDot"/>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26" name="Oval 76"/>
            <p:cNvSpPr>
              <a:spLocks noChangeAspect="1" noChangeArrowheads="1"/>
            </p:cNvSpPr>
            <p:nvPr/>
          </p:nvSpPr>
          <p:spPr bwMode="auto">
            <a:xfrm>
              <a:off x="4789" y="1095"/>
              <a:ext cx="100" cy="100"/>
            </a:xfrm>
            <a:prstGeom prst="ellipse">
              <a:avLst/>
            </a:prstGeom>
            <a:solidFill>
              <a:schemeClr val="bg1"/>
            </a:solidFill>
            <a:ln w="12700">
              <a:solidFill>
                <a:schemeClr val="tx1">
                  <a:lumMod val="50000"/>
                  <a:lumOff val="50000"/>
                </a:schemeClr>
              </a:solidFill>
              <a:prstDash val="sysDot"/>
              <a:round/>
            </a:ln>
            <a:effectLst/>
          </p:spPr>
          <p:txBody>
            <a:bodyPr wrap="none" anchor="ctr"/>
            <a:p>
              <a:pPr eaLnBrk="1" hangingPunct="1">
                <a:buNone/>
              </a:pPr>
              <a:endParaRPr lang="en-US" altLang="en-US" sz="2400" dirty="0">
                <a:latin typeface="Arial" panose="020B0604020202020204" pitchFamily="34" charset="0"/>
              </a:endParaRPr>
            </a:p>
          </p:txBody>
        </p:sp>
      </p:grpSp>
      <p:sp>
        <p:nvSpPr>
          <p:cNvPr id="13316" name="Slide Number Placeholder 4"/>
          <p:cNvSpPr txBox="1">
            <a:spLocks noGrp="1"/>
          </p:cNvSpPr>
          <p:nvPr>
            <p:ph type="sldNum" sz="quarter" idx="4"/>
          </p:nvPr>
        </p:nvSpPr>
        <p:spPr>
          <a:xfrm>
            <a:off x="6929438" y="6248400"/>
            <a:ext cx="21336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latin typeface="Times New Roman" panose="02020603050405020304" pitchFamily="18" charset="0"/>
              </a:rPr>
            </a:fld>
            <a:endParaRPr lang="en-US" altLang="en-US" sz="1400" dirty="0">
              <a:latin typeface="Times New Roman" panose="02020603050405020304" pitchFamily="18" charset="0"/>
            </a:endParaRPr>
          </a:p>
        </p:txBody>
      </p:sp>
      <p:sp>
        <p:nvSpPr>
          <p:cNvPr id="13317" name="Rectangle 24"/>
          <p:cNvSpPr>
            <a:spLocks noGrp="1"/>
          </p:cNvSpPr>
          <p:nvPr>
            <p:ph type="title"/>
          </p:nvPr>
        </p:nvSpPr>
        <p:spPr>
          <a:xfrm>
            <a:off x="269875" y="136525"/>
            <a:ext cx="8850313"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Typical Software Eng. Problems</a:t>
            </a:r>
            <a:endParaRPr lang="en-US" altLang="en-US" kern="1200" dirty="0">
              <a:latin typeface="Arial Rounded MT Bold" panose="020F0704030504030204" pitchFamily="34" charset="0"/>
              <a:ea typeface="+mj-ea"/>
              <a:cs typeface="+mj-cs"/>
            </a:endParaRPr>
          </a:p>
        </p:txBody>
      </p:sp>
      <p:sp>
        <p:nvSpPr>
          <p:cNvPr id="13318" name="Text Box 70"/>
          <p:cNvSpPr txBox="1">
            <a:spLocks noChangeAspect="1"/>
          </p:cNvSpPr>
          <p:nvPr/>
        </p:nvSpPr>
        <p:spPr>
          <a:xfrm>
            <a:off x="265113" y="1470025"/>
            <a:ext cx="2997200" cy="369888"/>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1.</a:t>
            </a:r>
            <a:r>
              <a:rPr lang="en-US" altLang="en-US" sz="1200" dirty="0">
                <a:latin typeface="Arial" panose="020B0604020202020204" pitchFamily="34" charset="0"/>
              </a:rPr>
              <a:t> User works with computer system</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    (problem domain is “virtual”, not physical)</a:t>
            </a:r>
            <a:endParaRPr lang="en-US" altLang="en-US" sz="1200" dirty="0">
              <a:latin typeface="Arial" panose="020B0604020202020204" pitchFamily="34" charset="0"/>
            </a:endParaRPr>
          </a:p>
        </p:txBody>
      </p:sp>
      <p:sp>
        <p:nvSpPr>
          <p:cNvPr id="13319" name="Text Box 71"/>
          <p:cNvSpPr txBox="1">
            <a:spLocks noChangeAspect="1"/>
          </p:cNvSpPr>
          <p:nvPr/>
        </p:nvSpPr>
        <p:spPr>
          <a:xfrm>
            <a:off x="265113" y="3698875"/>
            <a:ext cx="4070350" cy="369888"/>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2.</a:t>
            </a:r>
            <a:r>
              <a:rPr lang="en-US" altLang="en-US" sz="1200" dirty="0">
                <a:latin typeface="Arial" panose="020B0604020202020204" pitchFamily="34" charset="0"/>
              </a:rPr>
              <a:t> Computer system controls the (physical) problem domain</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    (user not involved)</a:t>
            </a:r>
            <a:endParaRPr lang="en-US" altLang="en-US" sz="1200" dirty="0">
              <a:latin typeface="Arial" panose="020B0604020202020204" pitchFamily="34" charset="0"/>
            </a:endParaRPr>
          </a:p>
        </p:txBody>
      </p:sp>
      <p:sp>
        <p:nvSpPr>
          <p:cNvPr id="13320" name="Text Box 72"/>
          <p:cNvSpPr txBox="1">
            <a:spLocks noChangeAspect="1"/>
          </p:cNvSpPr>
          <p:nvPr/>
        </p:nvSpPr>
        <p:spPr>
          <a:xfrm>
            <a:off x="265113" y="4856163"/>
            <a:ext cx="2979737" cy="369887"/>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3.</a:t>
            </a:r>
            <a:r>
              <a:rPr lang="en-US" altLang="en-US" sz="1200" dirty="0">
                <a:latin typeface="Arial" panose="020B0604020202020204" pitchFamily="34" charset="0"/>
              </a:rPr>
              <a:t> Computer system intermediates between</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    the user and the problem domain</a:t>
            </a:r>
            <a:endParaRPr lang="en-US" altLang="en-US" sz="1200" dirty="0">
              <a:latin typeface="Arial" panose="020B0604020202020204" pitchFamily="34" charset="0"/>
            </a:endParaRPr>
          </a:p>
        </p:txBody>
      </p:sp>
      <p:grpSp>
        <p:nvGrpSpPr>
          <p:cNvPr id="13321" name="Group 74"/>
          <p:cNvGrpSpPr>
            <a:grpSpLocks noChangeAspect="1"/>
          </p:cNvGrpSpPr>
          <p:nvPr/>
        </p:nvGrpSpPr>
        <p:grpSpPr>
          <a:xfrm>
            <a:off x="1504950" y="2095500"/>
            <a:ext cx="263525" cy="530225"/>
            <a:chOff x="4713" y="1095"/>
            <a:chExt cx="251" cy="501"/>
          </a:xfrm>
        </p:grpSpPr>
        <p:sp>
          <p:nvSpPr>
            <p:cNvPr id="13447" name="Freeform 75"/>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48" name="Oval 76"/>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22" name="Text Box 77"/>
          <p:cNvSpPr txBox="1">
            <a:spLocks noChangeAspect="1"/>
          </p:cNvSpPr>
          <p:nvPr/>
        </p:nvSpPr>
        <p:spPr>
          <a:xfrm>
            <a:off x="1501775" y="2678113"/>
            <a:ext cx="268288"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sp>
        <p:nvSpPr>
          <p:cNvPr id="13323" name="Freeform 83"/>
          <p:cNvSpPr>
            <a:spLocks noChangeAspect="1"/>
          </p:cNvSpPr>
          <p:nvPr/>
        </p:nvSpPr>
        <p:spPr>
          <a:xfrm>
            <a:off x="3108325" y="5438775"/>
            <a:ext cx="674688" cy="384175"/>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324" name="Rectangle 84"/>
          <p:cNvSpPr>
            <a:spLocks noChangeAspect="1"/>
          </p:cNvSpPr>
          <p:nvPr/>
        </p:nvSpPr>
        <p:spPr>
          <a:xfrm>
            <a:off x="2174875" y="5462588"/>
            <a:ext cx="525463" cy="33655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nvGrpSpPr>
          <p:cNvPr id="13325" name="Group 85"/>
          <p:cNvGrpSpPr>
            <a:grpSpLocks noChangeAspect="1"/>
          </p:cNvGrpSpPr>
          <p:nvPr/>
        </p:nvGrpSpPr>
        <p:grpSpPr>
          <a:xfrm>
            <a:off x="1504950" y="5365750"/>
            <a:ext cx="263525" cy="530225"/>
            <a:chOff x="4713" y="1095"/>
            <a:chExt cx="251" cy="501"/>
          </a:xfrm>
        </p:grpSpPr>
        <p:sp>
          <p:nvSpPr>
            <p:cNvPr id="13445" name="Freeform 86"/>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46" name="Oval 87"/>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26" name="Text Box 88"/>
          <p:cNvSpPr txBox="1">
            <a:spLocks noChangeAspect="1"/>
          </p:cNvSpPr>
          <p:nvPr/>
        </p:nvSpPr>
        <p:spPr>
          <a:xfrm>
            <a:off x="1501775" y="5948363"/>
            <a:ext cx="268288"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sp>
        <p:nvSpPr>
          <p:cNvPr id="13327" name="Text Box 89"/>
          <p:cNvSpPr txBox="1">
            <a:spLocks noChangeAspect="1"/>
          </p:cNvSpPr>
          <p:nvPr/>
        </p:nvSpPr>
        <p:spPr>
          <a:xfrm>
            <a:off x="2228850" y="5948363"/>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sp>
        <p:nvSpPr>
          <p:cNvPr id="13328" name="Text Box 90"/>
          <p:cNvSpPr txBox="1">
            <a:spLocks noChangeAspect="1"/>
          </p:cNvSpPr>
          <p:nvPr/>
        </p:nvSpPr>
        <p:spPr>
          <a:xfrm>
            <a:off x="2987675" y="5948363"/>
            <a:ext cx="920750"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grpSp>
        <p:nvGrpSpPr>
          <p:cNvPr id="13329" name="Group 91"/>
          <p:cNvGrpSpPr>
            <a:grpSpLocks noChangeAspect="1"/>
          </p:cNvGrpSpPr>
          <p:nvPr/>
        </p:nvGrpSpPr>
        <p:grpSpPr>
          <a:xfrm>
            <a:off x="1814513" y="2257425"/>
            <a:ext cx="312737" cy="206375"/>
            <a:chOff x="2720" y="2068"/>
            <a:chExt cx="563" cy="478"/>
          </a:xfrm>
        </p:grpSpPr>
        <p:sp>
          <p:nvSpPr>
            <p:cNvPr id="13443" name="Line 92"/>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44" name="Line 93"/>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grpSp>
        <p:nvGrpSpPr>
          <p:cNvPr id="13330" name="Group 97"/>
          <p:cNvGrpSpPr>
            <a:grpSpLocks noChangeAspect="1"/>
          </p:cNvGrpSpPr>
          <p:nvPr/>
        </p:nvGrpSpPr>
        <p:grpSpPr>
          <a:xfrm>
            <a:off x="1814513" y="5526088"/>
            <a:ext cx="312737" cy="206375"/>
            <a:chOff x="2720" y="2068"/>
            <a:chExt cx="563" cy="478"/>
          </a:xfrm>
        </p:grpSpPr>
        <p:sp>
          <p:nvSpPr>
            <p:cNvPr id="13441" name="Line 98"/>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42" name="Line 99"/>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grpSp>
        <p:nvGrpSpPr>
          <p:cNvPr id="13331" name="Group 100"/>
          <p:cNvGrpSpPr>
            <a:grpSpLocks noChangeAspect="1"/>
          </p:cNvGrpSpPr>
          <p:nvPr/>
        </p:nvGrpSpPr>
        <p:grpSpPr>
          <a:xfrm>
            <a:off x="2747963" y="5526088"/>
            <a:ext cx="312737" cy="206375"/>
            <a:chOff x="2720" y="2068"/>
            <a:chExt cx="563" cy="478"/>
          </a:xfrm>
        </p:grpSpPr>
        <p:sp>
          <p:nvSpPr>
            <p:cNvPr id="13439" name="Line 101"/>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40" name="Line 102"/>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sp>
        <p:nvSpPr>
          <p:cNvPr id="13332" name="Line 169"/>
          <p:cNvSpPr/>
          <p:nvPr/>
        </p:nvSpPr>
        <p:spPr>
          <a:xfrm>
            <a:off x="265113" y="3578225"/>
            <a:ext cx="8501062" cy="0"/>
          </a:xfrm>
          <a:prstGeom prst="line">
            <a:avLst/>
          </a:prstGeom>
          <a:ln w="9525" cap="flat" cmpd="sng">
            <a:solidFill>
              <a:schemeClr val="tx1"/>
            </a:solidFill>
            <a:prstDash val="solid"/>
            <a:headEnd type="none" w="med" len="med"/>
            <a:tailEnd type="none" w="med" len="med"/>
          </a:ln>
        </p:spPr>
      </p:sp>
      <p:sp>
        <p:nvSpPr>
          <p:cNvPr id="13333" name="Line 170"/>
          <p:cNvSpPr/>
          <p:nvPr/>
        </p:nvSpPr>
        <p:spPr>
          <a:xfrm>
            <a:off x="265113" y="4719638"/>
            <a:ext cx="8501062" cy="0"/>
          </a:xfrm>
          <a:prstGeom prst="line">
            <a:avLst/>
          </a:prstGeom>
          <a:ln w="9525" cap="flat" cmpd="sng">
            <a:solidFill>
              <a:schemeClr val="tx1"/>
            </a:solidFill>
            <a:prstDash val="solid"/>
            <a:headEnd type="none" w="med" len="med"/>
            <a:tailEnd type="none" w="med" len="med"/>
          </a:ln>
        </p:spPr>
      </p:sp>
      <p:sp>
        <p:nvSpPr>
          <p:cNvPr id="13334" name="Text Box 107"/>
          <p:cNvSpPr txBox="1">
            <a:spLocks noChangeAspect="1"/>
          </p:cNvSpPr>
          <p:nvPr/>
        </p:nvSpPr>
        <p:spPr>
          <a:xfrm>
            <a:off x="6007100" y="3335338"/>
            <a:ext cx="268288"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grpSp>
        <p:nvGrpSpPr>
          <p:cNvPr id="13335" name="Group 109"/>
          <p:cNvGrpSpPr>
            <a:grpSpLocks noChangeAspect="1"/>
          </p:cNvGrpSpPr>
          <p:nvPr/>
        </p:nvGrpSpPr>
        <p:grpSpPr>
          <a:xfrm>
            <a:off x="6319838" y="2922588"/>
            <a:ext cx="312737" cy="206375"/>
            <a:chOff x="2720" y="2068"/>
            <a:chExt cx="563" cy="478"/>
          </a:xfrm>
        </p:grpSpPr>
        <p:sp>
          <p:nvSpPr>
            <p:cNvPr id="13437" name="Line 110"/>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38" name="Line 111"/>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grpSp>
        <p:nvGrpSpPr>
          <p:cNvPr id="13336" name="Group 112"/>
          <p:cNvGrpSpPr>
            <a:grpSpLocks noChangeAspect="1"/>
          </p:cNvGrpSpPr>
          <p:nvPr/>
        </p:nvGrpSpPr>
        <p:grpSpPr>
          <a:xfrm>
            <a:off x="7616825" y="2833688"/>
            <a:ext cx="549275" cy="415925"/>
            <a:chOff x="521" y="2366"/>
            <a:chExt cx="1172" cy="880"/>
          </a:xfrm>
        </p:grpSpPr>
        <p:sp>
          <p:nvSpPr>
            <p:cNvPr id="13434" name="AutoShape 113"/>
            <p:cNvSpPr>
              <a:spLocks noChangeAspect="1"/>
            </p:cNvSpPr>
            <p:nvPr/>
          </p:nvSpPr>
          <p:spPr>
            <a:xfrm>
              <a:off x="521" y="2366"/>
              <a:ext cx="1172" cy="880"/>
            </a:xfrm>
            <a:prstGeom prst="can">
              <a:avLst>
                <a:gd name="adj" fmla="val 26704"/>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sp>
          <p:nvSpPr>
            <p:cNvPr id="13435" name="Arc 114"/>
            <p:cNvSpPr>
              <a:spLocks noChangeAspect="1"/>
            </p:cNvSpPr>
            <p:nvPr/>
          </p:nvSpPr>
          <p:spPr>
            <a:xfrm>
              <a:off x="522" y="2539"/>
              <a:ext cx="1169" cy="121"/>
            </a:xfrm>
            <a:custGeom>
              <a:avLst/>
              <a:gdLst>
                <a:gd name="txL" fmla="*/ 0 w 43200"/>
                <a:gd name="txT" fmla="*/ 0 h 21780"/>
                <a:gd name="txR" fmla="*/ 43200 w 43200"/>
                <a:gd name="txB" fmla="*/ 21780 h 21780"/>
              </a:gdLst>
              <a:ahLst/>
              <a:cxnLst>
                <a:cxn ang="0">
                  <a:pos x="0" y="0"/>
                </a:cxn>
                <a:cxn ang="0">
                  <a:pos x="0" y="0"/>
                </a:cxn>
                <a:cxn ang="0">
                  <a:pos x="0" y="0"/>
                </a:cxn>
              </a:cxnLst>
              <a:rect l="txL" t="txT" r="txR" b="txB"/>
              <a:pathLst>
                <a:path w="43200" h="21780" fill="none">
                  <a:moveTo>
                    <a:pt x="43199" y="-1"/>
                  </a:moveTo>
                  <a:cubicBezTo>
                    <a:pt x="43199" y="59"/>
                    <a:pt x="43200" y="119"/>
                    <a:pt x="43200" y="180"/>
                  </a:cubicBezTo>
                  <a:cubicBezTo>
                    <a:pt x="43200" y="12109"/>
                    <a:pt x="33529" y="21780"/>
                    <a:pt x="21600" y="21780"/>
                  </a:cubicBezTo>
                  <a:cubicBezTo>
                    <a:pt x="9705" y="21779"/>
                    <a:pt x="49" y="12164"/>
                    <a:pt x="0" y="269"/>
                  </a:cubicBezTo>
                </a:path>
                <a:path w="43200" h="21780" stroke="0">
                  <a:moveTo>
                    <a:pt x="43199" y="-1"/>
                  </a:moveTo>
                  <a:cubicBezTo>
                    <a:pt x="43199" y="59"/>
                    <a:pt x="43200" y="119"/>
                    <a:pt x="43200" y="180"/>
                  </a:cubicBezTo>
                  <a:cubicBezTo>
                    <a:pt x="43200" y="12109"/>
                    <a:pt x="33529" y="21780"/>
                    <a:pt x="21600" y="21780"/>
                  </a:cubicBezTo>
                  <a:cubicBezTo>
                    <a:pt x="9705" y="21779"/>
                    <a:pt x="49" y="12164"/>
                    <a:pt x="0" y="269"/>
                  </a:cubicBezTo>
                  <a:lnTo>
                    <a:pt x="21600" y="180"/>
                  </a:lnTo>
                  <a:lnTo>
                    <a:pt x="43199" y="-1"/>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3436" name="Arc 115"/>
            <p:cNvSpPr>
              <a:spLocks noChangeAspect="1"/>
            </p:cNvSpPr>
            <p:nvPr/>
          </p:nvSpPr>
          <p:spPr>
            <a:xfrm>
              <a:off x="522" y="2598"/>
              <a:ext cx="1169" cy="121"/>
            </a:xfrm>
            <a:custGeom>
              <a:avLst/>
              <a:gdLst>
                <a:gd name="txL" fmla="*/ 0 w 43200"/>
                <a:gd name="txT" fmla="*/ 0 h 21780"/>
                <a:gd name="txR" fmla="*/ 43200 w 43200"/>
                <a:gd name="txB" fmla="*/ 21780 h 21780"/>
              </a:gdLst>
              <a:ahLst/>
              <a:cxnLst>
                <a:cxn ang="0">
                  <a:pos x="0" y="0"/>
                </a:cxn>
                <a:cxn ang="0">
                  <a:pos x="0" y="0"/>
                </a:cxn>
                <a:cxn ang="0">
                  <a:pos x="0" y="0"/>
                </a:cxn>
              </a:cxnLst>
              <a:rect l="txL" t="txT" r="txR" b="txB"/>
              <a:pathLst>
                <a:path w="43200" h="21780" fill="none">
                  <a:moveTo>
                    <a:pt x="43199" y="-1"/>
                  </a:moveTo>
                  <a:cubicBezTo>
                    <a:pt x="43199" y="59"/>
                    <a:pt x="43200" y="119"/>
                    <a:pt x="43200" y="180"/>
                  </a:cubicBezTo>
                  <a:cubicBezTo>
                    <a:pt x="43200" y="12109"/>
                    <a:pt x="33529" y="21780"/>
                    <a:pt x="21600" y="21780"/>
                  </a:cubicBezTo>
                  <a:cubicBezTo>
                    <a:pt x="9705" y="21779"/>
                    <a:pt x="49" y="12164"/>
                    <a:pt x="0" y="269"/>
                  </a:cubicBezTo>
                </a:path>
                <a:path w="43200" h="21780" stroke="0">
                  <a:moveTo>
                    <a:pt x="43199" y="-1"/>
                  </a:moveTo>
                  <a:cubicBezTo>
                    <a:pt x="43199" y="59"/>
                    <a:pt x="43200" y="119"/>
                    <a:pt x="43200" y="180"/>
                  </a:cubicBezTo>
                  <a:cubicBezTo>
                    <a:pt x="43200" y="12109"/>
                    <a:pt x="33529" y="21780"/>
                    <a:pt x="21600" y="21780"/>
                  </a:cubicBezTo>
                  <a:cubicBezTo>
                    <a:pt x="9705" y="21779"/>
                    <a:pt x="49" y="12164"/>
                    <a:pt x="0" y="269"/>
                  </a:cubicBezTo>
                  <a:lnTo>
                    <a:pt x="21600" y="180"/>
                  </a:lnTo>
                  <a:lnTo>
                    <a:pt x="43199" y="-1"/>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sp>
        <p:nvSpPr>
          <p:cNvPr id="13337" name="Text Box 116"/>
          <p:cNvSpPr txBox="1">
            <a:spLocks noChangeAspect="1"/>
          </p:cNvSpPr>
          <p:nvPr/>
        </p:nvSpPr>
        <p:spPr>
          <a:xfrm>
            <a:off x="7586663" y="3322638"/>
            <a:ext cx="611187" cy="153987"/>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Repository</a:t>
            </a:r>
            <a:endParaRPr lang="en-US" altLang="en-US" sz="1000" dirty="0">
              <a:latin typeface="Arial" panose="020B0604020202020204" pitchFamily="34" charset="0"/>
            </a:endParaRPr>
          </a:p>
        </p:txBody>
      </p:sp>
      <p:sp>
        <p:nvSpPr>
          <p:cNvPr id="13338" name="Freeform 117"/>
          <p:cNvSpPr>
            <a:spLocks noChangeAspect="1"/>
          </p:cNvSpPr>
          <p:nvPr/>
        </p:nvSpPr>
        <p:spPr>
          <a:xfrm>
            <a:off x="7612063" y="5084763"/>
            <a:ext cx="676275" cy="384175"/>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339" name="Rectangle 118"/>
          <p:cNvSpPr>
            <a:spLocks noChangeAspect="1"/>
          </p:cNvSpPr>
          <p:nvPr/>
        </p:nvSpPr>
        <p:spPr>
          <a:xfrm>
            <a:off x="6678613" y="5108575"/>
            <a:ext cx="525462" cy="33655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nvGrpSpPr>
          <p:cNvPr id="13340" name="Group 119"/>
          <p:cNvGrpSpPr>
            <a:grpSpLocks noChangeAspect="1"/>
          </p:cNvGrpSpPr>
          <p:nvPr/>
        </p:nvGrpSpPr>
        <p:grpSpPr>
          <a:xfrm>
            <a:off x="6008688" y="5011738"/>
            <a:ext cx="263525" cy="530225"/>
            <a:chOff x="4713" y="1095"/>
            <a:chExt cx="251" cy="501"/>
          </a:xfrm>
        </p:grpSpPr>
        <p:sp>
          <p:nvSpPr>
            <p:cNvPr id="13432" name="Freeform 120"/>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33" name="Oval 121"/>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41" name="Text Box 122"/>
          <p:cNvSpPr txBox="1">
            <a:spLocks noChangeAspect="1"/>
          </p:cNvSpPr>
          <p:nvPr/>
        </p:nvSpPr>
        <p:spPr>
          <a:xfrm>
            <a:off x="6007100" y="5576888"/>
            <a:ext cx="268288"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sp>
        <p:nvSpPr>
          <p:cNvPr id="13342" name="Text Box 123"/>
          <p:cNvSpPr txBox="1">
            <a:spLocks noChangeAspect="1"/>
          </p:cNvSpPr>
          <p:nvPr/>
        </p:nvSpPr>
        <p:spPr>
          <a:xfrm>
            <a:off x="6732588" y="5576888"/>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sp>
        <p:nvSpPr>
          <p:cNvPr id="13343" name="Text Box 124"/>
          <p:cNvSpPr txBox="1">
            <a:spLocks noChangeAspect="1"/>
          </p:cNvSpPr>
          <p:nvPr/>
        </p:nvSpPr>
        <p:spPr>
          <a:xfrm>
            <a:off x="7491413" y="5576888"/>
            <a:ext cx="920750"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sp>
        <p:nvSpPr>
          <p:cNvPr id="13344" name="Line 125"/>
          <p:cNvSpPr>
            <a:spLocks noChangeAspect="1"/>
          </p:cNvSpPr>
          <p:nvPr/>
        </p:nvSpPr>
        <p:spPr>
          <a:xfrm flipH="1">
            <a:off x="6321425" y="5276850"/>
            <a:ext cx="309563" cy="0"/>
          </a:xfrm>
          <a:prstGeom prst="line">
            <a:avLst/>
          </a:prstGeom>
          <a:ln w="9525" cap="flat" cmpd="sng">
            <a:solidFill>
              <a:schemeClr val="tx1"/>
            </a:solidFill>
            <a:prstDash val="solid"/>
            <a:headEnd type="none" w="med" len="med"/>
            <a:tailEnd type="triangle" w="lg" len="med"/>
          </a:ln>
        </p:spPr>
      </p:sp>
      <p:sp>
        <p:nvSpPr>
          <p:cNvPr id="13345" name="Line 126"/>
          <p:cNvSpPr>
            <a:spLocks noChangeAspect="1"/>
          </p:cNvSpPr>
          <p:nvPr/>
        </p:nvSpPr>
        <p:spPr>
          <a:xfrm flipH="1">
            <a:off x="7254875" y="5276850"/>
            <a:ext cx="309563" cy="0"/>
          </a:xfrm>
          <a:prstGeom prst="line">
            <a:avLst/>
          </a:prstGeom>
          <a:ln w="9525" cap="flat" cmpd="sng">
            <a:solidFill>
              <a:schemeClr val="tx1"/>
            </a:solidFill>
            <a:prstDash val="solid"/>
            <a:headEnd type="none" w="med" len="med"/>
            <a:tailEnd type="triangle" w="lg" len="med"/>
          </a:ln>
        </p:spPr>
      </p:sp>
      <p:sp>
        <p:nvSpPr>
          <p:cNvPr id="13346" name="Freeform 127"/>
          <p:cNvSpPr>
            <a:spLocks noChangeAspect="1"/>
          </p:cNvSpPr>
          <p:nvPr/>
        </p:nvSpPr>
        <p:spPr>
          <a:xfrm>
            <a:off x="7612063" y="6178550"/>
            <a:ext cx="676275" cy="384175"/>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347" name="Rectangle 128"/>
          <p:cNvSpPr>
            <a:spLocks noChangeAspect="1"/>
          </p:cNvSpPr>
          <p:nvPr/>
        </p:nvSpPr>
        <p:spPr>
          <a:xfrm>
            <a:off x="6678613" y="6202363"/>
            <a:ext cx="527050" cy="33655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nvGrpSpPr>
          <p:cNvPr id="13348" name="Group 129"/>
          <p:cNvGrpSpPr>
            <a:grpSpLocks noChangeAspect="1"/>
          </p:cNvGrpSpPr>
          <p:nvPr/>
        </p:nvGrpSpPr>
        <p:grpSpPr>
          <a:xfrm>
            <a:off x="6008688" y="6105525"/>
            <a:ext cx="265112" cy="530225"/>
            <a:chOff x="4713" y="1095"/>
            <a:chExt cx="251" cy="501"/>
          </a:xfrm>
        </p:grpSpPr>
        <p:sp>
          <p:nvSpPr>
            <p:cNvPr id="13430" name="Freeform 130"/>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31" name="Oval 131"/>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49" name="Text Box 132"/>
          <p:cNvSpPr txBox="1">
            <a:spLocks noChangeAspect="1"/>
          </p:cNvSpPr>
          <p:nvPr/>
        </p:nvSpPr>
        <p:spPr>
          <a:xfrm>
            <a:off x="6007100" y="6670675"/>
            <a:ext cx="268288"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sp>
        <p:nvSpPr>
          <p:cNvPr id="13350" name="Text Box 133"/>
          <p:cNvSpPr txBox="1">
            <a:spLocks noChangeAspect="1"/>
          </p:cNvSpPr>
          <p:nvPr/>
        </p:nvSpPr>
        <p:spPr>
          <a:xfrm>
            <a:off x="6734175" y="6670675"/>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sp>
        <p:nvSpPr>
          <p:cNvPr id="13351" name="Text Box 134"/>
          <p:cNvSpPr txBox="1">
            <a:spLocks noChangeAspect="1"/>
          </p:cNvSpPr>
          <p:nvPr/>
        </p:nvSpPr>
        <p:spPr>
          <a:xfrm>
            <a:off x="7493000" y="6669088"/>
            <a:ext cx="920750"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grpSp>
        <p:nvGrpSpPr>
          <p:cNvPr id="13352" name="Group 135"/>
          <p:cNvGrpSpPr>
            <a:grpSpLocks noChangeAspect="1"/>
          </p:cNvGrpSpPr>
          <p:nvPr/>
        </p:nvGrpSpPr>
        <p:grpSpPr>
          <a:xfrm>
            <a:off x="6319838" y="6267450"/>
            <a:ext cx="312737" cy="204788"/>
            <a:chOff x="2720" y="2068"/>
            <a:chExt cx="563" cy="478"/>
          </a:xfrm>
        </p:grpSpPr>
        <p:sp>
          <p:nvSpPr>
            <p:cNvPr id="13428" name="Line 136"/>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29" name="Line 137"/>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grpSp>
        <p:nvGrpSpPr>
          <p:cNvPr id="13353" name="Group 138"/>
          <p:cNvGrpSpPr>
            <a:grpSpLocks noChangeAspect="1"/>
          </p:cNvGrpSpPr>
          <p:nvPr/>
        </p:nvGrpSpPr>
        <p:grpSpPr>
          <a:xfrm>
            <a:off x="7251700" y="6267450"/>
            <a:ext cx="312738" cy="204788"/>
            <a:chOff x="2720" y="2068"/>
            <a:chExt cx="563" cy="478"/>
          </a:xfrm>
        </p:grpSpPr>
        <p:sp>
          <p:nvSpPr>
            <p:cNvPr id="13426" name="Line 139"/>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27" name="Line 140"/>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sp>
        <p:nvSpPr>
          <p:cNvPr id="13354" name="Text Box 144"/>
          <p:cNvSpPr txBox="1">
            <a:spLocks noChangeAspect="1"/>
          </p:cNvSpPr>
          <p:nvPr/>
        </p:nvSpPr>
        <p:spPr>
          <a:xfrm>
            <a:off x="7537450" y="1635125"/>
            <a:ext cx="385763" cy="153988"/>
          </a:xfrm>
          <a:prstGeom prst="rect">
            <a:avLst/>
          </a:prstGeom>
          <a:noFill/>
          <a:ln w="9525">
            <a:noFill/>
          </a:ln>
        </p:spPr>
        <p:txBody>
          <a:bodyPr wrap="none" lIns="9144" tIns="0" rIns="9144" bIns="0">
            <a:spAutoFit/>
          </a:bodyPr>
          <a:p>
            <a:pPr algn="ctr" eaLnBrk="1" hangingPunct="1"/>
            <a:r>
              <a:rPr lang="en-US" altLang="en-US" sz="1000" dirty="0">
                <a:latin typeface="Arial" panose="020B0604020202020204" pitchFamily="34" charset="0"/>
              </a:rPr>
              <a:t>IN doc</a:t>
            </a:r>
            <a:endParaRPr lang="en-US" altLang="en-US" sz="1000" dirty="0">
              <a:latin typeface="Arial" panose="020B0604020202020204" pitchFamily="34" charset="0"/>
            </a:endParaRPr>
          </a:p>
        </p:txBody>
      </p:sp>
      <p:sp>
        <p:nvSpPr>
          <p:cNvPr id="13355" name="Line 145"/>
          <p:cNvSpPr/>
          <p:nvPr/>
        </p:nvSpPr>
        <p:spPr>
          <a:xfrm flipH="1">
            <a:off x="7264400" y="1552575"/>
            <a:ext cx="274638" cy="155575"/>
          </a:xfrm>
          <a:prstGeom prst="line">
            <a:avLst/>
          </a:prstGeom>
          <a:ln w="12700" cap="flat" cmpd="sng">
            <a:solidFill>
              <a:schemeClr val="tx1"/>
            </a:solidFill>
            <a:prstDash val="dash"/>
            <a:headEnd type="none" w="med" len="med"/>
            <a:tailEnd type="triangle" w="lg" len="med"/>
          </a:ln>
        </p:spPr>
      </p:sp>
      <p:sp>
        <p:nvSpPr>
          <p:cNvPr id="13356" name="Line 146"/>
          <p:cNvSpPr/>
          <p:nvPr/>
        </p:nvSpPr>
        <p:spPr>
          <a:xfrm>
            <a:off x="7277100" y="1831975"/>
            <a:ext cx="411163" cy="155575"/>
          </a:xfrm>
          <a:prstGeom prst="line">
            <a:avLst/>
          </a:prstGeom>
          <a:ln w="9525" cap="flat" cmpd="sng">
            <a:solidFill>
              <a:schemeClr val="tx1"/>
            </a:solidFill>
            <a:prstDash val="solid"/>
            <a:headEnd type="none" w="med" len="med"/>
            <a:tailEnd type="triangle" w="lg" len="med"/>
          </a:ln>
        </p:spPr>
      </p:sp>
      <p:sp>
        <p:nvSpPr>
          <p:cNvPr id="13357" name="Text Box 171"/>
          <p:cNvSpPr txBox="1">
            <a:spLocks noChangeAspect="1"/>
          </p:cNvSpPr>
          <p:nvPr/>
        </p:nvSpPr>
        <p:spPr>
          <a:xfrm>
            <a:off x="3570288" y="1323975"/>
            <a:ext cx="4057650" cy="184150"/>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1.a)</a:t>
            </a:r>
            <a:r>
              <a:rPr lang="en-US" altLang="en-US" sz="1200" dirty="0">
                <a:latin typeface="Arial" panose="020B0604020202020204" pitchFamily="34" charset="0"/>
              </a:rPr>
              <a:t> System transforms input document to output document</a:t>
            </a:r>
            <a:endParaRPr lang="en-US" altLang="en-US" sz="1200" dirty="0">
              <a:latin typeface="Arial" panose="020B0604020202020204" pitchFamily="34" charset="0"/>
            </a:endParaRPr>
          </a:p>
        </p:txBody>
      </p:sp>
      <p:sp>
        <p:nvSpPr>
          <p:cNvPr id="13358" name="Text Box 172"/>
          <p:cNvSpPr txBox="1">
            <a:spLocks noChangeAspect="1"/>
          </p:cNvSpPr>
          <p:nvPr/>
        </p:nvSpPr>
        <p:spPr>
          <a:xfrm>
            <a:off x="4341813" y="2413000"/>
            <a:ext cx="3305175" cy="184150"/>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1.b)</a:t>
            </a:r>
            <a:r>
              <a:rPr lang="en-US" altLang="en-US" sz="1200" dirty="0">
                <a:latin typeface="Arial" panose="020B0604020202020204" pitchFamily="34" charset="0"/>
              </a:rPr>
              <a:t> User edits information stored in a repository</a:t>
            </a:r>
            <a:endParaRPr lang="en-US" altLang="en-US" sz="1200" dirty="0">
              <a:latin typeface="Arial" panose="020B0604020202020204" pitchFamily="34" charset="0"/>
            </a:endParaRPr>
          </a:p>
        </p:txBody>
      </p:sp>
      <p:sp>
        <p:nvSpPr>
          <p:cNvPr id="13359" name="Text Box 173"/>
          <p:cNvSpPr txBox="1">
            <a:spLocks noChangeAspect="1"/>
          </p:cNvSpPr>
          <p:nvPr/>
        </p:nvSpPr>
        <p:spPr>
          <a:xfrm>
            <a:off x="4341813" y="4783138"/>
            <a:ext cx="4598987" cy="184150"/>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3.a)</a:t>
            </a:r>
            <a:r>
              <a:rPr lang="en-US" altLang="en-US" sz="1200" dirty="0">
                <a:latin typeface="Arial" panose="020B0604020202020204" pitchFamily="34" charset="0"/>
              </a:rPr>
              <a:t> System observes the problem domain and displays information</a:t>
            </a:r>
            <a:endParaRPr lang="en-US" altLang="en-US" sz="1200" dirty="0">
              <a:latin typeface="Arial" panose="020B0604020202020204" pitchFamily="34" charset="0"/>
            </a:endParaRPr>
          </a:p>
        </p:txBody>
      </p:sp>
      <p:sp>
        <p:nvSpPr>
          <p:cNvPr id="13360" name="Text Box 174"/>
          <p:cNvSpPr txBox="1">
            <a:spLocks noChangeAspect="1"/>
          </p:cNvSpPr>
          <p:nvPr/>
        </p:nvSpPr>
        <p:spPr>
          <a:xfrm>
            <a:off x="4341813" y="5870575"/>
            <a:ext cx="4721225" cy="184150"/>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3.b)</a:t>
            </a:r>
            <a:r>
              <a:rPr lang="en-US" altLang="en-US" sz="1200" dirty="0">
                <a:latin typeface="Arial" panose="020B0604020202020204" pitchFamily="34" charset="0"/>
              </a:rPr>
              <a:t> System controls the problem domain as commanded by the user</a:t>
            </a:r>
            <a:endParaRPr lang="en-US" altLang="en-US" sz="1200" dirty="0">
              <a:latin typeface="Arial" panose="020B0604020202020204" pitchFamily="34" charset="0"/>
            </a:endParaRPr>
          </a:p>
        </p:txBody>
      </p:sp>
      <p:sp>
        <p:nvSpPr>
          <p:cNvPr id="13361" name="Line 175"/>
          <p:cNvSpPr/>
          <p:nvPr/>
        </p:nvSpPr>
        <p:spPr>
          <a:xfrm>
            <a:off x="4195763" y="2365375"/>
            <a:ext cx="4570412" cy="0"/>
          </a:xfrm>
          <a:prstGeom prst="line">
            <a:avLst/>
          </a:prstGeom>
          <a:ln w="3175" cap="flat" cmpd="sng">
            <a:solidFill>
              <a:schemeClr val="tx1"/>
            </a:solidFill>
            <a:prstDash val="solid"/>
            <a:headEnd type="none" w="med" len="med"/>
            <a:tailEnd type="none" w="med" len="med"/>
          </a:ln>
        </p:spPr>
      </p:sp>
      <p:sp>
        <p:nvSpPr>
          <p:cNvPr id="13362" name="Line 176"/>
          <p:cNvSpPr/>
          <p:nvPr/>
        </p:nvSpPr>
        <p:spPr>
          <a:xfrm>
            <a:off x="4195763" y="5829300"/>
            <a:ext cx="4570412" cy="0"/>
          </a:xfrm>
          <a:prstGeom prst="line">
            <a:avLst/>
          </a:prstGeom>
          <a:ln w="3175" cap="flat" cmpd="sng">
            <a:solidFill>
              <a:schemeClr val="tx1"/>
            </a:solidFill>
            <a:prstDash val="solid"/>
            <a:headEnd type="none" w="med" len="med"/>
            <a:tailEnd type="none" w="med" len="med"/>
          </a:ln>
        </p:spPr>
      </p:sp>
      <p:sp>
        <p:nvSpPr>
          <p:cNvPr id="13363" name="Rectangle 111"/>
          <p:cNvSpPr/>
          <p:nvPr/>
        </p:nvSpPr>
        <p:spPr>
          <a:xfrm>
            <a:off x="3095625" y="2895600"/>
            <a:ext cx="2730500" cy="396875"/>
          </a:xfrm>
          <a:prstGeom prst="rect">
            <a:avLst/>
          </a:prstGeom>
          <a:solidFill>
            <a:srgbClr val="FFFFCC"/>
          </a:solidFill>
          <a:ln w="12700" cap="flat" cmpd="sng">
            <a:solidFill>
              <a:srgbClr val="FF0000"/>
            </a:solidFill>
            <a:prstDash val="solid"/>
            <a:miter/>
            <a:headEnd type="none" w="med" len="med"/>
            <a:tailEnd type="none" w="med" len="med"/>
          </a:ln>
        </p:spPr>
        <p:txBody>
          <a:bodyPr lIns="45720" tIns="9144" rIns="45720" bIns="9144">
            <a:spAutoFit/>
          </a:bodyPr>
          <a:p>
            <a:pPr eaLnBrk="1" hangingPunct="1"/>
            <a:r>
              <a:rPr lang="en-US" altLang="en-US" sz="1200" dirty="0">
                <a:latin typeface="Arial" panose="020B0604020202020204" pitchFamily="34" charset="0"/>
              </a:rPr>
              <a:t>REQ-2: Allow repository editing, where “repository” is a collection of data</a:t>
            </a:r>
            <a:endParaRPr lang="en-US" altLang="en-US" sz="1200" dirty="0">
              <a:latin typeface="Arial" panose="020B0604020202020204" pitchFamily="34" charset="0"/>
            </a:endParaRPr>
          </a:p>
        </p:txBody>
      </p:sp>
      <p:sp>
        <p:nvSpPr>
          <p:cNvPr id="13364" name="Rectangle 112"/>
          <p:cNvSpPr/>
          <p:nvPr/>
        </p:nvSpPr>
        <p:spPr>
          <a:xfrm>
            <a:off x="4445000" y="3937000"/>
            <a:ext cx="2108200" cy="387350"/>
          </a:xfrm>
          <a:prstGeom prst="rect">
            <a:avLst/>
          </a:prstGeom>
          <a:solidFill>
            <a:srgbClr val="FFFFCC"/>
          </a:solidFill>
          <a:ln w="12700" cap="flat" cmpd="sng">
            <a:solidFill>
              <a:srgbClr val="FF0000"/>
            </a:solidFill>
            <a:prstDash val="solid"/>
            <a:miter/>
            <a:headEnd type="none" w="med" len="med"/>
            <a:tailEnd type="none" w="med" len="med"/>
          </a:ln>
        </p:spPr>
        <p:txBody>
          <a:bodyPr lIns="45720" tIns="9144" rIns="45720" bIns="9144">
            <a:spAutoFit/>
          </a:bodyPr>
          <a:p>
            <a:pPr eaLnBrk="1" hangingPunct="1"/>
            <a:r>
              <a:rPr lang="en-US" altLang="en-US" sz="1200" dirty="0">
                <a:latin typeface="Arial" panose="020B0604020202020204" pitchFamily="34" charset="0"/>
              </a:rPr>
              <a:t>REQ-3: Autonomously control a physical object/device</a:t>
            </a:r>
            <a:endParaRPr lang="en-US" altLang="en-US" sz="1200" dirty="0">
              <a:latin typeface="Arial" panose="020B0604020202020204" pitchFamily="34" charset="0"/>
            </a:endParaRPr>
          </a:p>
        </p:txBody>
      </p:sp>
      <p:sp>
        <p:nvSpPr>
          <p:cNvPr id="13365" name="Rectangle 113"/>
          <p:cNvSpPr/>
          <p:nvPr/>
        </p:nvSpPr>
        <p:spPr>
          <a:xfrm>
            <a:off x="3902075" y="5162550"/>
            <a:ext cx="1984375" cy="396875"/>
          </a:xfrm>
          <a:prstGeom prst="rect">
            <a:avLst/>
          </a:prstGeom>
          <a:solidFill>
            <a:srgbClr val="FFFFCC"/>
          </a:solidFill>
          <a:ln w="12700" cap="flat" cmpd="sng">
            <a:solidFill>
              <a:srgbClr val="FF0000"/>
            </a:solidFill>
            <a:prstDash val="solid"/>
            <a:miter/>
            <a:headEnd type="none" w="med" len="med"/>
            <a:tailEnd type="none" w="med" len="med"/>
          </a:ln>
        </p:spPr>
        <p:txBody>
          <a:bodyPr lIns="45720" tIns="9144" rIns="45720" bIns="9144">
            <a:spAutoFit/>
          </a:bodyPr>
          <a:p>
            <a:pPr eaLnBrk="1" hangingPunct="1"/>
            <a:r>
              <a:rPr lang="en-US" altLang="en-US" sz="1200" dirty="0">
                <a:latin typeface="Arial" panose="020B0604020202020204" pitchFamily="34" charset="0"/>
              </a:rPr>
              <a:t>REQ-5: Monitor and display information about an object</a:t>
            </a:r>
            <a:endParaRPr lang="en-US" altLang="en-US" sz="1200" dirty="0">
              <a:latin typeface="Arial" panose="020B0604020202020204" pitchFamily="34" charset="0"/>
            </a:endParaRPr>
          </a:p>
        </p:txBody>
      </p:sp>
      <p:sp>
        <p:nvSpPr>
          <p:cNvPr id="13366" name="Rectangle 114"/>
          <p:cNvSpPr/>
          <p:nvPr/>
        </p:nvSpPr>
        <p:spPr>
          <a:xfrm>
            <a:off x="3797300" y="6278563"/>
            <a:ext cx="1974850" cy="396875"/>
          </a:xfrm>
          <a:prstGeom prst="rect">
            <a:avLst/>
          </a:prstGeom>
          <a:solidFill>
            <a:srgbClr val="FFFFCC"/>
          </a:solidFill>
          <a:ln w="12700" cap="flat" cmpd="sng">
            <a:solidFill>
              <a:srgbClr val="FF0000"/>
            </a:solidFill>
            <a:prstDash val="solid"/>
            <a:miter/>
            <a:headEnd type="none" w="med" len="med"/>
            <a:tailEnd type="none" w="med" len="med"/>
          </a:ln>
        </p:spPr>
        <p:txBody>
          <a:bodyPr lIns="45720" tIns="9144" rIns="45720" bIns="9144">
            <a:spAutoFit/>
          </a:bodyPr>
          <a:p>
            <a:pPr eaLnBrk="1" hangingPunct="1"/>
            <a:r>
              <a:rPr lang="en-US" altLang="en-US" sz="1200" dirty="0">
                <a:latin typeface="Arial" panose="020B0604020202020204" pitchFamily="34" charset="0"/>
              </a:rPr>
              <a:t>REQ-4: Interactively control a physical object/device</a:t>
            </a:r>
            <a:endParaRPr lang="en-US" altLang="en-US" sz="1200" dirty="0">
              <a:latin typeface="Arial" panose="020B0604020202020204" pitchFamily="34" charset="0"/>
            </a:endParaRPr>
          </a:p>
        </p:txBody>
      </p:sp>
      <p:sp>
        <p:nvSpPr>
          <p:cNvPr id="13367" name="Freeform 79"/>
          <p:cNvSpPr>
            <a:spLocks noChangeAspect="1"/>
          </p:cNvSpPr>
          <p:nvPr/>
        </p:nvSpPr>
        <p:spPr>
          <a:xfrm>
            <a:off x="3108325" y="2168525"/>
            <a:ext cx="674688" cy="384175"/>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dash"/>
            <a:round/>
            <a:headEnd type="none" w="med" len="med"/>
            <a:tailEnd type="none" w="med" len="med"/>
          </a:ln>
        </p:spPr>
        <p:txBody>
          <a:bodyPr/>
          <a:p>
            <a:endParaRPr lang="zh-CN" altLang="en-US"/>
          </a:p>
        </p:txBody>
      </p:sp>
      <p:sp>
        <p:nvSpPr>
          <p:cNvPr id="13368" name="Rectangle 80"/>
          <p:cNvSpPr>
            <a:spLocks noChangeAspect="1"/>
          </p:cNvSpPr>
          <p:nvPr/>
        </p:nvSpPr>
        <p:spPr>
          <a:xfrm>
            <a:off x="2176463" y="2192338"/>
            <a:ext cx="525462" cy="33496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sp>
        <p:nvSpPr>
          <p:cNvPr id="13369" name="Text Box 81"/>
          <p:cNvSpPr txBox="1">
            <a:spLocks noChangeAspect="1"/>
          </p:cNvSpPr>
          <p:nvPr/>
        </p:nvSpPr>
        <p:spPr>
          <a:xfrm>
            <a:off x="2228850" y="2620963"/>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sp>
        <p:nvSpPr>
          <p:cNvPr id="13370" name="Text Box 82"/>
          <p:cNvSpPr txBox="1">
            <a:spLocks noChangeAspect="1"/>
          </p:cNvSpPr>
          <p:nvPr/>
        </p:nvSpPr>
        <p:spPr>
          <a:xfrm>
            <a:off x="2987675" y="2620963"/>
            <a:ext cx="920750"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grpSp>
        <p:nvGrpSpPr>
          <p:cNvPr id="13371" name="Group 94"/>
          <p:cNvGrpSpPr>
            <a:grpSpLocks noChangeAspect="1"/>
          </p:cNvGrpSpPr>
          <p:nvPr/>
        </p:nvGrpSpPr>
        <p:grpSpPr>
          <a:xfrm>
            <a:off x="2747963" y="2257425"/>
            <a:ext cx="312737" cy="206375"/>
            <a:chOff x="2720" y="2068"/>
            <a:chExt cx="563" cy="478"/>
          </a:xfrm>
        </p:grpSpPr>
        <p:sp>
          <p:nvSpPr>
            <p:cNvPr id="13424" name="Line 95"/>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25" name="Line 96"/>
            <p:cNvSpPr>
              <a:spLocks noChangeAspect="1"/>
            </p:cNvSpPr>
            <p:nvPr/>
          </p:nvSpPr>
          <p:spPr>
            <a:xfrm flipH="1">
              <a:off x="2724" y="2546"/>
              <a:ext cx="559" cy="0"/>
            </a:xfrm>
            <a:prstGeom prst="line">
              <a:avLst/>
            </a:prstGeom>
            <a:ln w="12700" cap="flat" cmpd="sng">
              <a:solidFill>
                <a:schemeClr val="tx1"/>
              </a:solidFill>
              <a:prstDash val="dash"/>
              <a:headEnd type="none" w="med" len="med"/>
              <a:tailEnd type="triangle" w="lg" len="med"/>
            </a:ln>
          </p:spPr>
        </p:sp>
      </p:grpSp>
      <p:sp>
        <p:nvSpPr>
          <p:cNvPr id="13372" name="Rectangle 110"/>
          <p:cNvSpPr/>
          <p:nvPr/>
        </p:nvSpPr>
        <p:spPr>
          <a:xfrm>
            <a:off x="3330575" y="1651000"/>
            <a:ext cx="2300288" cy="396875"/>
          </a:xfrm>
          <a:prstGeom prst="rect">
            <a:avLst/>
          </a:prstGeom>
          <a:solidFill>
            <a:srgbClr val="FFFFCC"/>
          </a:solidFill>
          <a:ln w="12700" cap="flat" cmpd="sng">
            <a:solidFill>
              <a:srgbClr val="FF0000"/>
            </a:solidFill>
            <a:prstDash val="solid"/>
            <a:miter/>
            <a:headEnd type="none" w="med" len="med"/>
            <a:tailEnd type="none" w="med" len="med"/>
          </a:ln>
        </p:spPr>
        <p:txBody>
          <a:bodyPr lIns="45720" tIns="9144" rIns="45720" bIns="9144">
            <a:spAutoFit/>
          </a:bodyPr>
          <a:p>
            <a:pPr eaLnBrk="1" hangingPunct="1"/>
            <a:r>
              <a:rPr lang="en-US" altLang="en-US" sz="1200" dirty="0">
                <a:latin typeface="Arial" panose="020B0604020202020204" pitchFamily="34" charset="0"/>
              </a:rPr>
              <a:t>REQ-1: Map input data to output data as said by given rules</a:t>
            </a:r>
            <a:endParaRPr lang="en-US" altLang="en-US" sz="1200" dirty="0">
              <a:latin typeface="Arial" panose="020B0604020202020204" pitchFamily="34" charset="0"/>
            </a:endParaRPr>
          </a:p>
        </p:txBody>
      </p:sp>
      <p:sp>
        <p:nvSpPr>
          <p:cNvPr id="127" name="Text Box 77"/>
          <p:cNvSpPr txBox="1">
            <a:spLocks noChangeAspect="1" noChangeArrowheads="1"/>
          </p:cNvSpPr>
          <p:nvPr/>
        </p:nvSpPr>
        <p:spPr bwMode="auto">
          <a:xfrm>
            <a:off x="1506538" y="4533900"/>
            <a:ext cx="268288" cy="152400"/>
          </a:xfrm>
          <a:prstGeom prst="rect">
            <a:avLst/>
          </a:prstGeom>
          <a:noFill/>
          <a:ln>
            <a:noFill/>
          </a:ln>
          <a:effectLst/>
        </p:spPr>
        <p:txBody>
          <a:bodyPr wrap="none" lIns="0" tIns="0" rIns="0" bIns="0">
            <a:spAutoFit/>
          </a:bodyPr>
          <a:lstStyle>
            <a:lvl1pPr>
              <a:spcBef>
                <a:spcPct val="20000"/>
              </a:spcBef>
              <a:buChar char="•"/>
              <a:defRPr sz="3200">
                <a:solidFill>
                  <a:schemeClr val="tx1"/>
                </a:solidFill>
                <a:latin typeface="Comic Sans MS" panose="030F0702030302020204" pitchFamily="66"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000" b="0" i="0" u="none" strike="noStrike" kern="1200" cap="none" spc="0" normalizeH="0" baseline="0" noProof="0" dirty="0" smtClean="0">
                <a:ln>
                  <a:noFill/>
                </a:ln>
                <a:solidFill>
                  <a:schemeClr val="bg1">
                    <a:lumMod val="65000"/>
                  </a:schemeClr>
                </a:solidFill>
                <a:effectLst/>
                <a:uLnTx/>
                <a:uFillTx/>
                <a:latin typeface="Arial" panose="020B0604020202020204" pitchFamily="34" charset="0"/>
                <a:ea typeface="+mn-ea"/>
                <a:cs typeface="Arial" panose="020B0604020202020204" pitchFamily="34" charset="0"/>
              </a:rPr>
              <a:t>User</a:t>
            </a:r>
            <a:endParaRPr kumimoji="0" lang="en-US" altLang="en-US" sz="1000" b="0" i="0" u="none" strike="noStrike" kern="1200" cap="none" spc="0" normalizeH="0" baseline="0" noProof="0" dirty="0" smtClean="0">
              <a:ln>
                <a:noFill/>
              </a:ln>
              <a:solidFill>
                <a:schemeClr val="bg1">
                  <a:lumMod val="65000"/>
                </a:schemeClr>
              </a:solidFill>
              <a:effectLst/>
              <a:uLnTx/>
              <a:uFillTx/>
              <a:latin typeface="Arial" panose="020B0604020202020204" pitchFamily="34" charset="0"/>
              <a:ea typeface="+mn-ea"/>
              <a:cs typeface="Arial" panose="020B0604020202020204" pitchFamily="34" charset="0"/>
            </a:endParaRPr>
          </a:p>
        </p:txBody>
      </p:sp>
      <p:grpSp>
        <p:nvGrpSpPr>
          <p:cNvPr id="13374" name="Group 91"/>
          <p:cNvGrpSpPr>
            <a:grpSpLocks noChangeAspect="1"/>
          </p:cNvGrpSpPr>
          <p:nvPr/>
        </p:nvGrpSpPr>
        <p:grpSpPr>
          <a:xfrm>
            <a:off x="1819275" y="4113213"/>
            <a:ext cx="312738" cy="206375"/>
            <a:chOff x="2720" y="2068"/>
            <a:chExt cx="563" cy="478"/>
          </a:xfrm>
        </p:grpSpPr>
        <p:sp>
          <p:nvSpPr>
            <p:cNvPr id="129" name="Line 92"/>
            <p:cNvSpPr>
              <a:spLocks noChangeAspect="1" noChangeShapeType="1"/>
            </p:cNvSpPr>
            <p:nvPr/>
          </p:nvSpPr>
          <p:spPr bwMode="auto">
            <a:xfrm>
              <a:off x="2720" y="2068"/>
              <a:ext cx="560" cy="0"/>
            </a:xfrm>
            <a:prstGeom prst="line">
              <a:avLst/>
            </a:prstGeom>
            <a:noFill/>
            <a:ln w="9525">
              <a:solidFill>
                <a:schemeClr val="bg1">
                  <a:lumMod val="85000"/>
                </a:schemeClr>
              </a:solidFill>
              <a:prstDash val="dash"/>
              <a:round/>
              <a:tailEnd type="triangle" w="lg"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30" name="Line 93"/>
            <p:cNvSpPr>
              <a:spLocks noChangeAspect="1" noChangeShapeType="1"/>
            </p:cNvSpPr>
            <p:nvPr/>
          </p:nvSpPr>
          <p:spPr bwMode="auto">
            <a:xfrm flipH="1">
              <a:off x="2723" y="2546"/>
              <a:ext cx="560" cy="0"/>
            </a:xfrm>
            <a:prstGeom prst="line">
              <a:avLst/>
            </a:prstGeom>
            <a:noFill/>
            <a:ln w="9525">
              <a:solidFill>
                <a:schemeClr val="bg1">
                  <a:lumMod val="85000"/>
                </a:schemeClr>
              </a:solidFill>
              <a:prstDash val="dash"/>
              <a:round/>
              <a:tailEnd type="triangle" w="lg"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grpSp>
      <p:sp>
        <p:nvSpPr>
          <p:cNvPr id="13375" name="Freeform 79"/>
          <p:cNvSpPr>
            <a:spLocks noChangeAspect="1"/>
          </p:cNvSpPr>
          <p:nvPr/>
        </p:nvSpPr>
        <p:spPr>
          <a:xfrm>
            <a:off x="3113088" y="4024313"/>
            <a:ext cx="674687" cy="384175"/>
          </a:xfrm>
          <a:custGeom>
            <a:avLst/>
            <a:gdLst>
              <a:gd name="txL" fmla="*/ 0 w 4330"/>
              <a:gd name="txT" fmla="*/ 0 h 2460"/>
              <a:gd name="txR" fmla="*/ 4330 w 4330"/>
              <a:gd name="txB" fmla="*/ 2460 h 246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330" h="2460">
                <a:moveTo>
                  <a:pt x="2831" y="2081"/>
                </a:moveTo>
                <a:cubicBezTo>
                  <a:pt x="2749" y="2127"/>
                  <a:pt x="2651" y="2206"/>
                  <a:pt x="2541" y="2239"/>
                </a:cubicBezTo>
                <a:cubicBezTo>
                  <a:pt x="2431" y="2272"/>
                  <a:pt x="2076" y="2384"/>
                  <a:pt x="1892" y="2375"/>
                </a:cubicBezTo>
                <a:cubicBezTo>
                  <a:pt x="1708" y="2366"/>
                  <a:pt x="1258" y="2460"/>
                  <a:pt x="748" y="2215"/>
                </a:cubicBezTo>
                <a:cubicBezTo>
                  <a:pt x="237" y="1971"/>
                  <a:pt x="207" y="1569"/>
                  <a:pt x="104" y="1402"/>
                </a:cubicBezTo>
                <a:cubicBezTo>
                  <a:pt x="0" y="1235"/>
                  <a:pt x="238" y="653"/>
                  <a:pt x="370" y="455"/>
                </a:cubicBezTo>
                <a:cubicBezTo>
                  <a:pt x="502" y="257"/>
                  <a:pt x="610" y="252"/>
                  <a:pt x="824" y="146"/>
                </a:cubicBezTo>
                <a:cubicBezTo>
                  <a:pt x="1038" y="40"/>
                  <a:pt x="1277" y="79"/>
                  <a:pt x="1508" y="88"/>
                </a:cubicBezTo>
                <a:cubicBezTo>
                  <a:pt x="1739" y="97"/>
                  <a:pt x="1882" y="194"/>
                  <a:pt x="2135" y="190"/>
                </a:cubicBezTo>
                <a:cubicBezTo>
                  <a:pt x="2548" y="79"/>
                  <a:pt x="2919" y="0"/>
                  <a:pt x="3055" y="21"/>
                </a:cubicBezTo>
                <a:cubicBezTo>
                  <a:pt x="3191" y="41"/>
                  <a:pt x="3502" y="9"/>
                  <a:pt x="3865" y="227"/>
                </a:cubicBezTo>
                <a:cubicBezTo>
                  <a:pt x="4227" y="445"/>
                  <a:pt x="4174" y="648"/>
                  <a:pt x="4252" y="778"/>
                </a:cubicBezTo>
                <a:cubicBezTo>
                  <a:pt x="4330" y="908"/>
                  <a:pt x="4313" y="1172"/>
                  <a:pt x="4220" y="1370"/>
                </a:cubicBezTo>
                <a:cubicBezTo>
                  <a:pt x="4199" y="1694"/>
                  <a:pt x="3819" y="1830"/>
                  <a:pt x="3696" y="1971"/>
                </a:cubicBezTo>
                <a:cubicBezTo>
                  <a:pt x="3572" y="2111"/>
                  <a:pt x="2935" y="2161"/>
                  <a:pt x="2831" y="2081"/>
                </a:cubicBez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376" name="Rectangle 80"/>
          <p:cNvSpPr>
            <a:spLocks noChangeAspect="1"/>
          </p:cNvSpPr>
          <p:nvPr/>
        </p:nvSpPr>
        <p:spPr>
          <a:xfrm>
            <a:off x="2181225" y="4049713"/>
            <a:ext cx="525463" cy="33496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sp>
        <p:nvSpPr>
          <p:cNvPr id="13377" name="Text Box 81"/>
          <p:cNvSpPr txBox="1">
            <a:spLocks noChangeAspect="1"/>
          </p:cNvSpPr>
          <p:nvPr/>
        </p:nvSpPr>
        <p:spPr>
          <a:xfrm>
            <a:off x="2233613" y="4476750"/>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sp>
        <p:nvSpPr>
          <p:cNvPr id="13378" name="Text Box 82"/>
          <p:cNvSpPr txBox="1">
            <a:spLocks noChangeAspect="1"/>
          </p:cNvSpPr>
          <p:nvPr/>
        </p:nvSpPr>
        <p:spPr>
          <a:xfrm>
            <a:off x="2992438" y="4476750"/>
            <a:ext cx="920750"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grpSp>
        <p:nvGrpSpPr>
          <p:cNvPr id="13379" name="Group 94"/>
          <p:cNvGrpSpPr>
            <a:grpSpLocks noChangeAspect="1"/>
          </p:cNvGrpSpPr>
          <p:nvPr/>
        </p:nvGrpSpPr>
        <p:grpSpPr>
          <a:xfrm>
            <a:off x="2752725" y="4113213"/>
            <a:ext cx="312738" cy="206375"/>
            <a:chOff x="2720" y="2068"/>
            <a:chExt cx="563" cy="478"/>
          </a:xfrm>
        </p:grpSpPr>
        <p:sp>
          <p:nvSpPr>
            <p:cNvPr id="13420" name="Line 95"/>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21" name="Line 96"/>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sp>
        <p:nvSpPr>
          <p:cNvPr id="13380" name="Rectangle 118"/>
          <p:cNvSpPr>
            <a:spLocks noChangeAspect="1"/>
          </p:cNvSpPr>
          <p:nvPr/>
        </p:nvSpPr>
        <p:spPr>
          <a:xfrm>
            <a:off x="6680200" y="2857500"/>
            <a:ext cx="525463" cy="33655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nvGrpSpPr>
          <p:cNvPr id="13381" name="Group 119"/>
          <p:cNvGrpSpPr>
            <a:grpSpLocks noChangeAspect="1"/>
          </p:cNvGrpSpPr>
          <p:nvPr/>
        </p:nvGrpSpPr>
        <p:grpSpPr>
          <a:xfrm>
            <a:off x="6010275" y="2776538"/>
            <a:ext cx="263525" cy="530225"/>
            <a:chOff x="4713" y="1095"/>
            <a:chExt cx="251" cy="501"/>
          </a:xfrm>
        </p:grpSpPr>
        <p:sp>
          <p:nvSpPr>
            <p:cNvPr id="13418" name="Freeform 120"/>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19" name="Oval 121"/>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82" name="Text Box 123"/>
          <p:cNvSpPr txBox="1">
            <a:spLocks noChangeAspect="1"/>
          </p:cNvSpPr>
          <p:nvPr/>
        </p:nvSpPr>
        <p:spPr>
          <a:xfrm>
            <a:off x="6734175" y="3325813"/>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grpSp>
        <p:nvGrpSpPr>
          <p:cNvPr id="13383" name="Group 109"/>
          <p:cNvGrpSpPr>
            <a:grpSpLocks noChangeAspect="1"/>
          </p:cNvGrpSpPr>
          <p:nvPr/>
        </p:nvGrpSpPr>
        <p:grpSpPr>
          <a:xfrm>
            <a:off x="7254875" y="2922588"/>
            <a:ext cx="312738" cy="206375"/>
            <a:chOff x="2720" y="2068"/>
            <a:chExt cx="563" cy="478"/>
          </a:xfrm>
        </p:grpSpPr>
        <p:sp>
          <p:nvSpPr>
            <p:cNvPr id="13416" name="Line 110"/>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17" name="Line 111"/>
            <p:cNvSpPr>
              <a:spLocks noChangeAspect="1"/>
            </p:cNvSpPr>
            <p:nvPr/>
          </p:nvSpPr>
          <p:spPr>
            <a:xfrm flipH="1">
              <a:off x="2724" y="2546"/>
              <a:ext cx="559" cy="0"/>
            </a:xfrm>
            <a:prstGeom prst="line">
              <a:avLst/>
            </a:prstGeom>
            <a:ln w="12700" cap="flat" cmpd="sng">
              <a:solidFill>
                <a:schemeClr val="tx1"/>
              </a:solidFill>
              <a:prstDash val="dash"/>
              <a:headEnd type="none" w="med" len="med"/>
              <a:tailEnd type="triangle" w="lg" len="med"/>
            </a:ln>
          </p:spPr>
        </p:sp>
      </p:grpSp>
      <p:sp>
        <p:nvSpPr>
          <p:cNvPr id="13384" name="Text Box 144"/>
          <p:cNvSpPr txBox="1">
            <a:spLocks noChangeAspect="1"/>
          </p:cNvSpPr>
          <p:nvPr/>
        </p:nvSpPr>
        <p:spPr>
          <a:xfrm>
            <a:off x="7599363" y="2182813"/>
            <a:ext cx="525462" cy="152400"/>
          </a:xfrm>
          <a:prstGeom prst="rect">
            <a:avLst/>
          </a:prstGeom>
          <a:noFill/>
          <a:ln w="9525">
            <a:noFill/>
          </a:ln>
        </p:spPr>
        <p:txBody>
          <a:bodyPr wrap="none" lIns="9144" tIns="0" rIns="9144" bIns="0">
            <a:spAutoFit/>
          </a:bodyPr>
          <a:p>
            <a:pPr algn="ctr" eaLnBrk="1" hangingPunct="1"/>
            <a:r>
              <a:rPr lang="en-US" altLang="en-US" sz="1000" dirty="0">
                <a:latin typeface="Arial" panose="020B0604020202020204" pitchFamily="34" charset="0"/>
              </a:rPr>
              <a:t>OUT doc</a:t>
            </a:r>
            <a:endParaRPr lang="en-US" altLang="en-US" sz="1000" dirty="0">
              <a:latin typeface="Arial" panose="020B0604020202020204" pitchFamily="34" charset="0"/>
            </a:endParaRPr>
          </a:p>
        </p:txBody>
      </p:sp>
      <p:grpSp>
        <p:nvGrpSpPr>
          <p:cNvPr id="13385" name="Group 147"/>
          <p:cNvGrpSpPr>
            <a:grpSpLocks noChangeAspect="1"/>
          </p:cNvGrpSpPr>
          <p:nvPr/>
        </p:nvGrpSpPr>
        <p:grpSpPr>
          <a:xfrm>
            <a:off x="7747000" y="1844675"/>
            <a:ext cx="228600" cy="330200"/>
            <a:chOff x="1385" y="2750"/>
            <a:chExt cx="576" cy="752"/>
          </a:xfrm>
        </p:grpSpPr>
        <p:sp>
          <p:nvSpPr>
            <p:cNvPr id="13406" name="Freeform 148"/>
            <p:cNvSpPr>
              <a:spLocks noChangeAspect="1"/>
            </p:cNvSpPr>
            <p:nvPr/>
          </p:nvSpPr>
          <p:spPr>
            <a:xfrm>
              <a:off x="1385" y="2750"/>
              <a:ext cx="576" cy="752"/>
            </a:xfrm>
            <a:custGeom>
              <a:avLst/>
              <a:gdLst>
                <a:gd name="txL" fmla="*/ 0 w 918"/>
                <a:gd name="txT" fmla="*/ 0 h 1191"/>
                <a:gd name="txR" fmla="*/ 918 w 918"/>
                <a:gd name="txB" fmla="*/ 1191 h 1191"/>
              </a:gdLst>
              <a:ahLst/>
              <a:cxnLst>
                <a:cxn ang="0">
                  <a:pos x="0" y="0"/>
                </a:cxn>
                <a:cxn ang="0">
                  <a:pos x="1" y="0"/>
                </a:cxn>
                <a:cxn ang="0">
                  <a:pos x="1" y="1"/>
                </a:cxn>
                <a:cxn ang="0">
                  <a:pos x="1" y="1"/>
                </a:cxn>
                <a:cxn ang="0">
                  <a:pos x="1" y="1"/>
                </a:cxn>
                <a:cxn ang="0">
                  <a:pos x="1" y="1"/>
                </a:cxn>
                <a:cxn ang="0">
                  <a:pos x="1" y="1"/>
                </a:cxn>
                <a:cxn ang="0">
                  <a:pos x="1" y="1"/>
                </a:cxn>
                <a:cxn ang="0">
                  <a:pos x="0" y="1"/>
                </a:cxn>
                <a:cxn ang="0">
                  <a:pos x="0" y="0"/>
                </a:cxn>
              </a:cxnLst>
              <a:rect l="txL" t="txT" r="txR" b="txB"/>
              <a:pathLst>
                <a:path w="918" h="1191">
                  <a:moveTo>
                    <a:pt x="0" y="0"/>
                  </a:moveTo>
                  <a:lnTo>
                    <a:pt x="768" y="0"/>
                  </a:lnTo>
                  <a:lnTo>
                    <a:pt x="768" y="156"/>
                  </a:lnTo>
                  <a:lnTo>
                    <a:pt x="855" y="156"/>
                  </a:lnTo>
                  <a:lnTo>
                    <a:pt x="768" y="69"/>
                  </a:lnTo>
                  <a:lnTo>
                    <a:pt x="768" y="3"/>
                  </a:lnTo>
                  <a:lnTo>
                    <a:pt x="918" y="153"/>
                  </a:lnTo>
                  <a:lnTo>
                    <a:pt x="918" y="1191"/>
                  </a:lnTo>
                  <a:lnTo>
                    <a:pt x="0" y="1191"/>
                  </a:lnTo>
                  <a:lnTo>
                    <a:pt x="0" y="0"/>
                  </a:lnTo>
                  <a:close/>
                </a:path>
              </a:pathLst>
            </a:custGeom>
            <a:solidFill>
              <a:srgbClr val="000000">
                <a:alpha val="100000"/>
              </a:srgbClr>
            </a:solidFill>
            <a:ln w="3175">
              <a:noFill/>
            </a:ln>
          </p:spPr>
          <p:txBody>
            <a:bodyPr/>
            <a:p>
              <a:endParaRPr lang="zh-CN" altLang="en-US"/>
            </a:p>
          </p:txBody>
        </p:sp>
        <p:sp>
          <p:nvSpPr>
            <p:cNvPr id="13407" name="Freeform 149"/>
            <p:cNvSpPr>
              <a:spLocks noChangeAspect="1"/>
            </p:cNvSpPr>
            <p:nvPr/>
          </p:nvSpPr>
          <p:spPr>
            <a:xfrm>
              <a:off x="1414" y="2779"/>
              <a:ext cx="518" cy="694"/>
            </a:xfrm>
            <a:custGeom>
              <a:avLst/>
              <a:gdLst>
                <a:gd name="txL" fmla="*/ 0 w 518"/>
                <a:gd name="txT" fmla="*/ 0 h 694"/>
                <a:gd name="txR" fmla="*/ 518 w 518"/>
                <a:gd name="txB" fmla="*/ 694 h 694"/>
              </a:gdLst>
              <a:ahLst/>
              <a:cxnLst>
                <a:cxn ang="0">
                  <a:pos x="0" y="0"/>
                </a:cxn>
                <a:cxn ang="0">
                  <a:pos x="430" y="1"/>
                </a:cxn>
                <a:cxn ang="0">
                  <a:pos x="430" y="94"/>
                </a:cxn>
                <a:cxn ang="0">
                  <a:pos x="518" y="94"/>
                </a:cxn>
                <a:cxn ang="0">
                  <a:pos x="518" y="694"/>
                </a:cxn>
                <a:cxn ang="0">
                  <a:pos x="0" y="694"/>
                </a:cxn>
                <a:cxn ang="0">
                  <a:pos x="0" y="0"/>
                </a:cxn>
              </a:cxnLst>
              <a:rect l="txL" t="txT" r="txR" b="txB"/>
              <a:pathLst>
                <a:path w="518" h="694">
                  <a:moveTo>
                    <a:pt x="0" y="0"/>
                  </a:moveTo>
                  <a:lnTo>
                    <a:pt x="430" y="1"/>
                  </a:lnTo>
                  <a:lnTo>
                    <a:pt x="430" y="94"/>
                  </a:lnTo>
                  <a:lnTo>
                    <a:pt x="518" y="94"/>
                  </a:lnTo>
                  <a:lnTo>
                    <a:pt x="518" y="694"/>
                  </a:lnTo>
                  <a:lnTo>
                    <a:pt x="0" y="694"/>
                  </a:lnTo>
                  <a:lnTo>
                    <a:pt x="0" y="0"/>
                  </a:lnTo>
                  <a:close/>
                </a:path>
              </a:pathLst>
            </a:custGeom>
            <a:solidFill>
              <a:srgbClr val="FFFFFF">
                <a:alpha val="100000"/>
              </a:srgbClr>
            </a:solidFill>
            <a:ln w="3175">
              <a:noFill/>
            </a:ln>
          </p:spPr>
          <p:txBody>
            <a:bodyPr/>
            <a:p>
              <a:endParaRPr lang="zh-CN" altLang="en-US"/>
            </a:p>
          </p:txBody>
        </p:sp>
        <p:sp>
          <p:nvSpPr>
            <p:cNvPr id="13408" name="Rectangle 150"/>
            <p:cNvSpPr>
              <a:spLocks noChangeAspect="1"/>
            </p:cNvSpPr>
            <p:nvPr/>
          </p:nvSpPr>
          <p:spPr>
            <a:xfrm>
              <a:off x="1482" y="2863"/>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09" name="Rectangle 151"/>
            <p:cNvSpPr>
              <a:spLocks noChangeAspect="1"/>
            </p:cNvSpPr>
            <p:nvPr/>
          </p:nvSpPr>
          <p:spPr>
            <a:xfrm>
              <a:off x="1482" y="2934"/>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0" name="Rectangle 152"/>
            <p:cNvSpPr>
              <a:spLocks noChangeAspect="1"/>
            </p:cNvSpPr>
            <p:nvPr/>
          </p:nvSpPr>
          <p:spPr>
            <a:xfrm>
              <a:off x="1482" y="3005"/>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1" name="Rectangle 153"/>
            <p:cNvSpPr>
              <a:spLocks noChangeAspect="1"/>
            </p:cNvSpPr>
            <p:nvPr/>
          </p:nvSpPr>
          <p:spPr>
            <a:xfrm>
              <a:off x="1482" y="3079"/>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2" name="Rectangle 154"/>
            <p:cNvSpPr>
              <a:spLocks noChangeAspect="1"/>
            </p:cNvSpPr>
            <p:nvPr/>
          </p:nvSpPr>
          <p:spPr>
            <a:xfrm>
              <a:off x="1482" y="3147"/>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3" name="Rectangle 155"/>
            <p:cNvSpPr>
              <a:spLocks noChangeAspect="1"/>
            </p:cNvSpPr>
            <p:nvPr/>
          </p:nvSpPr>
          <p:spPr>
            <a:xfrm>
              <a:off x="1482" y="3218"/>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4" name="Rectangle 156"/>
            <p:cNvSpPr>
              <a:spLocks noChangeAspect="1"/>
            </p:cNvSpPr>
            <p:nvPr/>
          </p:nvSpPr>
          <p:spPr>
            <a:xfrm>
              <a:off x="1482" y="3292"/>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15" name="Rectangle 157"/>
            <p:cNvSpPr>
              <a:spLocks noChangeAspect="1"/>
            </p:cNvSpPr>
            <p:nvPr/>
          </p:nvSpPr>
          <p:spPr>
            <a:xfrm>
              <a:off x="1482" y="3360"/>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grpSp>
      <p:sp>
        <p:nvSpPr>
          <p:cNvPr id="13386" name="Text Box 107"/>
          <p:cNvSpPr txBox="1">
            <a:spLocks noChangeAspect="1"/>
          </p:cNvSpPr>
          <p:nvPr/>
        </p:nvSpPr>
        <p:spPr>
          <a:xfrm>
            <a:off x="6002338" y="2144713"/>
            <a:ext cx="268287"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grpSp>
        <p:nvGrpSpPr>
          <p:cNvPr id="13387" name="Group 109"/>
          <p:cNvGrpSpPr>
            <a:grpSpLocks noChangeAspect="1"/>
          </p:cNvGrpSpPr>
          <p:nvPr/>
        </p:nvGrpSpPr>
        <p:grpSpPr>
          <a:xfrm>
            <a:off x="6315075" y="1731963"/>
            <a:ext cx="312738" cy="206375"/>
            <a:chOff x="2720" y="2068"/>
            <a:chExt cx="563" cy="478"/>
          </a:xfrm>
        </p:grpSpPr>
        <p:sp>
          <p:nvSpPr>
            <p:cNvPr id="13404" name="Line 110"/>
            <p:cNvSpPr>
              <a:spLocks noChangeAspect="1"/>
            </p:cNvSpPr>
            <p:nvPr/>
          </p:nvSpPr>
          <p:spPr>
            <a:xfrm>
              <a:off x="2720" y="2068"/>
              <a:ext cx="559" cy="0"/>
            </a:xfrm>
            <a:prstGeom prst="line">
              <a:avLst/>
            </a:prstGeom>
            <a:ln w="9525" cap="flat" cmpd="sng">
              <a:solidFill>
                <a:schemeClr val="tx1"/>
              </a:solidFill>
              <a:prstDash val="solid"/>
              <a:headEnd type="none" w="med" len="med"/>
              <a:tailEnd type="triangle" w="lg" len="med"/>
            </a:ln>
          </p:spPr>
        </p:sp>
        <p:sp>
          <p:nvSpPr>
            <p:cNvPr id="13405" name="Line 111"/>
            <p:cNvSpPr>
              <a:spLocks noChangeAspect="1"/>
            </p:cNvSpPr>
            <p:nvPr/>
          </p:nvSpPr>
          <p:spPr>
            <a:xfrm flipH="1">
              <a:off x="2724" y="2546"/>
              <a:ext cx="559" cy="0"/>
            </a:xfrm>
            <a:prstGeom prst="line">
              <a:avLst/>
            </a:prstGeom>
            <a:ln w="9525" cap="flat" cmpd="sng">
              <a:solidFill>
                <a:schemeClr val="tx1"/>
              </a:solidFill>
              <a:prstDash val="solid"/>
              <a:headEnd type="none" w="med" len="med"/>
              <a:tailEnd type="triangle" w="lg" len="med"/>
            </a:ln>
          </p:spPr>
        </p:sp>
      </p:grpSp>
      <p:sp>
        <p:nvSpPr>
          <p:cNvPr id="13388" name="Rectangle 118"/>
          <p:cNvSpPr>
            <a:spLocks noChangeAspect="1"/>
          </p:cNvSpPr>
          <p:nvPr/>
        </p:nvSpPr>
        <p:spPr>
          <a:xfrm>
            <a:off x="6675438" y="1666875"/>
            <a:ext cx="525462" cy="33655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nvGrpSpPr>
          <p:cNvPr id="13389" name="Group 119"/>
          <p:cNvGrpSpPr>
            <a:grpSpLocks noChangeAspect="1"/>
          </p:cNvGrpSpPr>
          <p:nvPr/>
        </p:nvGrpSpPr>
        <p:grpSpPr>
          <a:xfrm>
            <a:off x="6005513" y="1585913"/>
            <a:ext cx="263525" cy="530225"/>
            <a:chOff x="4713" y="1095"/>
            <a:chExt cx="251" cy="501"/>
          </a:xfrm>
        </p:grpSpPr>
        <p:sp>
          <p:nvSpPr>
            <p:cNvPr id="13402" name="Freeform 120"/>
            <p:cNvSpPr>
              <a:spLocks noChangeAspect="1"/>
            </p:cNvSpPr>
            <p:nvPr/>
          </p:nvSpPr>
          <p:spPr>
            <a:xfrm>
              <a:off x="4713" y="1194"/>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3403" name="Oval 121"/>
            <p:cNvSpPr>
              <a:spLocks noChangeAspect="1"/>
            </p:cNvSpPr>
            <p:nvPr/>
          </p:nvSpPr>
          <p:spPr>
            <a:xfrm>
              <a:off x="4788" y="1095"/>
              <a:ext cx="100" cy="100"/>
            </a:xfrm>
            <a:prstGeom prst="ellipse">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endParaRPr lang="en-US" altLang="en-US" sz="2400" dirty="0">
                <a:latin typeface="Arial" panose="020B0604020202020204" pitchFamily="34" charset="0"/>
              </a:endParaRPr>
            </a:p>
          </p:txBody>
        </p:sp>
      </p:grpSp>
      <p:sp>
        <p:nvSpPr>
          <p:cNvPr id="13390" name="Text Box 123"/>
          <p:cNvSpPr txBox="1">
            <a:spLocks noChangeAspect="1"/>
          </p:cNvSpPr>
          <p:nvPr/>
        </p:nvSpPr>
        <p:spPr>
          <a:xfrm>
            <a:off x="6729413" y="2135188"/>
            <a:ext cx="422275" cy="152400"/>
          </a:xfrm>
          <a:prstGeom prst="rect">
            <a:avLst/>
          </a:prstGeom>
          <a:noFill/>
          <a:ln w="9525">
            <a:noFill/>
          </a:ln>
        </p:spPr>
        <p:txBody>
          <a:bodyPr wrap="none" lIns="0" tIns="0" rIns="0" bIns="0">
            <a:spAutoFit/>
          </a:bodyPr>
          <a:p>
            <a:pPr algn="ctr" eaLnBrk="1" hangingPunct="1"/>
            <a:r>
              <a:rPr lang="en-US" altLang="en-US" sz="1000" dirty="0">
                <a:latin typeface="Arial" panose="020B0604020202020204" pitchFamily="34" charset="0"/>
              </a:rPr>
              <a:t>System</a:t>
            </a:r>
            <a:endParaRPr lang="en-US" altLang="en-US" sz="1000" dirty="0">
              <a:latin typeface="Arial" panose="020B0604020202020204" pitchFamily="34" charset="0"/>
            </a:endParaRPr>
          </a:p>
        </p:txBody>
      </p:sp>
      <p:grpSp>
        <p:nvGrpSpPr>
          <p:cNvPr id="13391" name="Group 147"/>
          <p:cNvGrpSpPr>
            <a:grpSpLocks noChangeAspect="1"/>
          </p:cNvGrpSpPr>
          <p:nvPr/>
        </p:nvGrpSpPr>
        <p:grpSpPr>
          <a:xfrm>
            <a:off x="7615238" y="1296988"/>
            <a:ext cx="228600" cy="330200"/>
            <a:chOff x="1385" y="2750"/>
            <a:chExt cx="576" cy="752"/>
          </a:xfrm>
        </p:grpSpPr>
        <p:sp>
          <p:nvSpPr>
            <p:cNvPr id="13392" name="Freeform 148"/>
            <p:cNvSpPr>
              <a:spLocks noChangeAspect="1"/>
            </p:cNvSpPr>
            <p:nvPr/>
          </p:nvSpPr>
          <p:spPr>
            <a:xfrm>
              <a:off x="1385" y="2750"/>
              <a:ext cx="576" cy="752"/>
            </a:xfrm>
            <a:custGeom>
              <a:avLst/>
              <a:gdLst>
                <a:gd name="txL" fmla="*/ 0 w 918"/>
                <a:gd name="txT" fmla="*/ 0 h 1191"/>
                <a:gd name="txR" fmla="*/ 918 w 918"/>
                <a:gd name="txB" fmla="*/ 1191 h 1191"/>
              </a:gdLst>
              <a:ahLst/>
              <a:cxnLst>
                <a:cxn ang="0">
                  <a:pos x="0" y="0"/>
                </a:cxn>
                <a:cxn ang="0">
                  <a:pos x="1" y="0"/>
                </a:cxn>
                <a:cxn ang="0">
                  <a:pos x="1" y="1"/>
                </a:cxn>
                <a:cxn ang="0">
                  <a:pos x="1" y="1"/>
                </a:cxn>
                <a:cxn ang="0">
                  <a:pos x="1" y="1"/>
                </a:cxn>
                <a:cxn ang="0">
                  <a:pos x="1" y="1"/>
                </a:cxn>
                <a:cxn ang="0">
                  <a:pos x="1" y="1"/>
                </a:cxn>
                <a:cxn ang="0">
                  <a:pos x="1" y="1"/>
                </a:cxn>
                <a:cxn ang="0">
                  <a:pos x="0" y="1"/>
                </a:cxn>
                <a:cxn ang="0">
                  <a:pos x="0" y="0"/>
                </a:cxn>
              </a:cxnLst>
              <a:rect l="txL" t="txT" r="txR" b="txB"/>
              <a:pathLst>
                <a:path w="918" h="1191">
                  <a:moveTo>
                    <a:pt x="0" y="0"/>
                  </a:moveTo>
                  <a:lnTo>
                    <a:pt x="768" y="0"/>
                  </a:lnTo>
                  <a:lnTo>
                    <a:pt x="768" y="156"/>
                  </a:lnTo>
                  <a:lnTo>
                    <a:pt x="855" y="156"/>
                  </a:lnTo>
                  <a:lnTo>
                    <a:pt x="768" y="69"/>
                  </a:lnTo>
                  <a:lnTo>
                    <a:pt x="768" y="3"/>
                  </a:lnTo>
                  <a:lnTo>
                    <a:pt x="918" y="153"/>
                  </a:lnTo>
                  <a:lnTo>
                    <a:pt x="918" y="1191"/>
                  </a:lnTo>
                  <a:lnTo>
                    <a:pt x="0" y="1191"/>
                  </a:lnTo>
                  <a:lnTo>
                    <a:pt x="0" y="0"/>
                  </a:lnTo>
                  <a:close/>
                </a:path>
              </a:pathLst>
            </a:custGeom>
            <a:solidFill>
              <a:srgbClr val="000000">
                <a:alpha val="100000"/>
              </a:srgbClr>
            </a:solidFill>
            <a:ln w="3175">
              <a:noFill/>
            </a:ln>
          </p:spPr>
          <p:txBody>
            <a:bodyPr/>
            <a:p>
              <a:endParaRPr lang="zh-CN" altLang="en-US"/>
            </a:p>
          </p:txBody>
        </p:sp>
        <p:sp>
          <p:nvSpPr>
            <p:cNvPr id="13393" name="Freeform 149"/>
            <p:cNvSpPr>
              <a:spLocks noChangeAspect="1"/>
            </p:cNvSpPr>
            <p:nvPr/>
          </p:nvSpPr>
          <p:spPr>
            <a:xfrm>
              <a:off x="1414" y="2779"/>
              <a:ext cx="518" cy="694"/>
            </a:xfrm>
            <a:custGeom>
              <a:avLst/>
              <a:gdLst>
                <a:gd name="txL" fmla="*/ 0 w 518"/>
                <a:gd name="txT" fmla="*/ 0 h 694"/>
                <a:gd name="txR" fmla="*/ 518 w 518"/>
                <a:gd name="txB" fmla="*/ 694 h 694"/>
              </a:gdLst>
              <a:ahLst/>
              <a:cxnLst>
                <a:cxn ang="0">
                  <a:pos x="0" y="0"/>
                </a:cxn>
                <a:cxn ang="0">
                  <a:pos x="430" y="1"/>
                </a:cxn>
                <a:cxn ang="0">
                  <a:pos x="430" y="94"/>
                </a:cxn>
                <a:cxn ang="0">
                  <a:pos x="518" y="94"/>
                </a:cxn>
                <a:cxn ang="0">
                  <a:pos x="518" y="694"/>
                </a:cxn>
                <a:cxn ang="0">
                  <a:pos x="0" y="694"/>
                </a:cxn>
                <a:cxn ang="0">
                  <a:pos x="0" y="0"/>
                </a:cxn>
              </a:cxnLst>
              <a:rect l="txL" t="txT" r="txR" b="txB"/>
              <a:pathLst>
                <a:path w="518" h="694">
                  <a:moveTo>
                    <a:pt x="0" y="0"/>
                  </a:moveTo>
                  <a:lnTo>
                    <a:pt x="430" y="1"/>
                  </a:lnTo>
                  <a:lnTo>
                    <a:pt x="430" y="94"/>
                  </a:lnTo>
                  <a:lnTo>
                    <a:pt x="518" y="94"/>
                  </a:lnTo>
                  <a:lnTo>
                    <a:pt x="518" y="694"/>
                  </a:lnTo>
                  <a:lnTo>
                    <a:pt x="0" y="694"/>
                  </a:lnTo>
                  <a:lnTo>
                    <a:pt x="0" y="0"/>
                  </a:lnTo>
                  <a:close/>
                </a:path>
              </a:pathLst>
            </a:custGeom>
            <a:solidFill>
              <a:srgbClr val="FFFFFF">
                <a:alpha val="100000"/>
              </a:srgbClr>
            </a:solidFill>
            <a:ln w="3175">
              <a:noFill/>
            </a:ln>
          </p:spPr>
          <p:txBody>
            <a:bodyPr/>
            <a:p>
              <a:endParaRPr lang="zh-CN" altLang="en-US"/>
            </a:p>
          </p:txBody>
        </p:sp>
        <p:sp>
          <p:nvSpPr>
            <p:cNvPr id="13394" name="Rectangle 150"/>
            <p:cNvSpPr>
              <a:spLocks noChangeAspect="1"/>
            </p:cNvSpPr>
            <p:nvPr/>
          </p:nvSpPr>
          <p:spPr>
            <a:xfrm>
              <a:off x="1482" y="2863"/>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395" name="Rectangle 151"/>
            <p:cNvSpPr>
              <a:spLocks noChangeAspect="1"/>
            </p:cNvSpPr>
            <p:nvPr/>
          </p:nvSpPr>
          <p:spPr>
            <a:xfrm>
              <a:off x="1482" y="2934"/>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396" name="Rectangle 152"/>
            <p:cNvSpPr>
              <a:spLocks noChangeAspect="1"/>
            </p:cNvSpPr>
            <p:nvPr/>
          </p:nvSpPr>
          <p:spPr>
            <a:xfrm>
              <a:off x="1482" y="3005"/>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397" name="Rectangle 153"/>
            <p:cNvSpPr>
              <a:spLocks noChangeAspect="1"/>
            </p:cNvSpPr>
            <p:nvPr/>
          </p:nvSpPr>
          <p:spPr>
            <a:xfrm>
              <a:off x="1482" y="3079"/>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398" name="Rectangle 154"/>
            <p:cNvSpPr>
              <a:spLocks noChangeAspect="1"/>
            </p:cNvSpPr>
            <p:nvPr/>
          </p:nvSpPr>
          <p:spPr>
            <a:xfrm>
              <a:off x="1482" y="3147"/>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399" name="Rectangle 155"/>
            <p:cNvSpPr>
              <a:spLocks noChangeAspect="1"/>
            </p:cNvSpPr>
            <p:nvPr/>
          </p:nvSpPr>
          <p:spPr>
            <a:xfrm>
              <a:off x="1482" y="3218"/>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00" name="Rectangle 156"/>
            <p:cNvSpPr>
              <a:spLocks noChangeAspect="1"/>
            </p:cNvSpPr>
            <p:nvPr/>
          </p:nvSpPr>
          <p:spPr>
            <a:xfrm>
              <a:off x="1482" y="3292"/>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sp>
          <p:nvSpPr>
            <p:cNvPr id="13401" name="Rectangle 157"/>
            <p:cNvSpPr>
              <a:spLocks noChangeAspect="1"/>
            </p:cNvSpPr>
            <p:nvPr/>
          </p:nvSpPr>
          <p:spPr>
            <a:xfrm>
              <a:off x="1482" y="3360"/>
              <a:ext cx="328" cy="39"/>
            </a:xfrm>
            <a:prstGeom prst="rect">
              <a:avLst/>
            </a:prstGeom>
            <a:solidFill>
              <a:srgbClr val="000000"/>
            </a:solidFill>
            <a:ln w="3175">
              <a:noFill/>
            </a:ln>
          </p:spPr>
          <p:txBody>
            <a:bodyPr wrap="none" anchor="ctr" anchorCtr="0"/>
            <a:p>
              <a:pPr eaLnBrk="1" hangingPunct="1"/>
              <a:endParaRPr lang="en-US" altLang="en-US" sz="2400" dirty="0">
                <a:latin typeface="Arial" panose="020B0604020202020204" pitchFamily="34"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reeform 3"/>
          <p:cNvSpPr/>
          <p:nvPr/>
        </p:nvSpPr>
        <p:spPr>
          <a:xfrm>
            <a:off x="1858963" y="2003425"/>
            <a:ext cx="0" cy="2286000"/>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31750">
            <a:solidFill>
              <a:schemeClr val="tx1">
                <a:lumMod val="50000"/>
                <a:lumOff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39" name="Title 1"/>
          <p:cNvSpPr>
            <a:spLocks noGrp="1"/>
          </p:cNvSpPr>
          <p:nvPr>
            <p:ph type="title"/>
          </p:nvPr>
        </p:nvSpPr>
        <p:spPr>
          <a:xfrm>
            <a:off x="252413" y="136525"/>
            <a:ext cx="8858250" cy="1143000"/>
          </a:xfrm>
        </p:spPr>
        <p:txBody>
          <a:bodyPr vert="horz" wrap="square" lIns="91440" tIns="45720" rIns="91440" bIns="45720" anchor="ctr" anchorCtr="0"/>
          <a:p>
            <a:r>
              <a:rPr lang="en-US" altLang="en-US" kern="1200" dirty="0">
                <a:latin typeface="Arial Rounded MT Bold" panose="020F0704030504030204" pitchFamily="34" charset="0"/>
                <a:ea typeface="+mj-ea"/>
                <a:cs typeface="+mj-cs"/>
              </a:rPr>
              <a:t>5-dimensional Problem Space</a:t>
            </a:r>
            <a:endParaRPr lang="en-US" altLang="en-US" kern="1200" dirty="0">
              <a:latin typeface="Arial Rounded MT Bold" panose="020F0704030504030204" pitchFamily="34" charset="0"/>
              <a:ea typeface="+mj-ea"/>
              <a:cs typeface="+mj-cs"/>
            </a:endParaRPr>
          </a:p>
        </p:txBody>
      </p:sp>
      <p:sp>
        <p:nvSpPr>
          <p:cNvPr id="35" name="Content Placeholder 34"/>
          <p:cNvSpPr>
            <a:spLocks noGrp="1"/>
          </p:cNvSpPr>
          <p:nvPr>
            <p:ph idx="1"/>
          </p:nvPr>
        </p:nvSpPr>
        <p:spPr>
          <a:xfrm>
            <a:off x="4068763" y="1600200"/>
            <a:ext cx="4846638" cy="4457700"/>
          </a:xfrm>
        </p:spPr>
        <p:txBody>
          <a:bodyPr vert="horz" wrap="square" lIns="91440" tIns="45720" rIns="91440" bIns="45720" numCol="1" anchor="t" anchorCtr="0" compatLnSpc="1">
            <a:normAutofit fontScale="70000" lnSpcReduction="20000"/>
          </a:bodyPr>
          <a:lstStyle/>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The five elementary problem types represent the coordinate system of the problem space</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ts val="1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The “axis” projections represent the degree to which the whole problem contains a </a:t>
            </a:r>
            <a:r>
              <a:rPr kumimoji="0" lang="en-US" sz="3200" b="0" i="0" u="none" strike="noStrike" kern="1200" cap="none" spc="0" normalizeH="0" baseline="0" noProof="0" dirty="0" err="1" smtClean="0">
                <a:ln>
                  <a:noFill/>
                </a:ln>
                <a:solidFill>
                  <a:schemeClr val="tx1"/>
                </a:solidFill>
                <a:effectLst/>
                <a:uLnTx/>
                <a:uFillTx/>
                <a:latin typeface="Calibri" panose="020F0502020204030204" pitchFamily="34" charset="0"/>
                <a:ea typeface="+mn-ea"/>
                <a:cs typeface="Calibri" panose="020F0502020204030204" pitchFamily="34" charset="0"/>
              </a:rPr>
              <a:t>subproblem</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of this type</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ts val="1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Each </a:t>
            </a:r>
            <a:r>
              <a:rPr kumimoji="0" lang="en-US" sz="3200" b="0" i="0" u="none" strike="noStrike" kern="1200" cap="none" spc="0" normalizeH="0" baseline="0" noProof="0" dirty="0" err="1" smtClean="0">
                <a:ln>
                  <a:noFill/>
                </a:ln>
                <a:solidFill>
                  <a:schemeClr val="tx1"/>
                </a:solidFill>
                <a:effectLst/>
                <a:uLnTx/>
                <a:uFillTx/>
                <a:latin typeface="Calibri" panose="020F0502020204030204" pitchFamily="34" charset="0"/>
                <a:ea typeface="+mn-ea"/>
                <a:cs typeface="Calibri" panose="020F0502020204030204" pitchFamily="34" charset="0"/>
              </a:rPr>
              <a:t>subproblem</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can be analyzed independently and eventually recombined into the whole problem</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ts val="1000"/>
              </a:spcBef>
              <a:spcAft>
                <a:spcPct val="0"/>
              </a:spcAft>
              <a:buClr>
                <a:srgbClr val="800000"/>
              </a:buClr>
              <a:buSzTx/>
              <a:buFont typeface="Wingdings" panose="05000000000000000000" pitchFamily="2" charset="2"/>
              <a:buChar char="q"/>
              <a:defRPr/>
            </a:pP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The structure of the solution should be selected to fit the problem structure</a:t>
            </a:r>
            <a:endParaRPr kumimoji="0" lang="en-US" sz="3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14341" name="Slide Number Placeholder 2"/>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latin typeface="Times New Roman" panose="02020603050405020304" pitchFamily="18" charset="0"/>
              </a:rPr>
            </a:fld>
            <a:endParaRPr lang="en-US" altLang="en-US" sz="1400" dirty="0">
              <a:latin typeface="Times New Roman" panose="02020603050405020304" pitchFamily="18" charset="0"/>
            </a:endParaRPr>
          </a:p>
        </p:txBody>
      </p:sp>
      <p:sp>
        <p:nvSpPr>
          <p:cNvPr id="6" name="Freeform 5"/>
          <p:cNvSpPr/>
          <p:nvPr/>
        </p:nvSpPr>
        <p:spPr>
          <a:xfrm>
            <a:off x="1851025" y="2460625"/>
            <a:ext cx="1828800" cy="1828800"/>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31750">
            <a:solidFill>
              <a:schemeClr val="tx1">
                <a:lumMod val="50000"/>
                <a:lumOff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Freeform 6"/>
          <p:cNvSpPr/>
          <p:nvPr/>
        </p:nvSpPr>
        <p:spPr>
          <a:xfrm flipH="1" flipV="1">
            <a:off x="212725" y="4289425"/>
            <a:ext cx="1646238" cy="639763"/>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31750">
            <a:solidFill>
              <a:schemeClr val="tx1">
                <a:lumMod val="50000"/>
                <a:lumOff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Freeform 7"/>
          <p:cNvSpPr/>
          <p:nvPr/>
        </p:nvSpPr>
        <p:spPr>
          <a:xfrm flipV="1">
            <a:off x="1851025" y="4289425"/>
            <a:ext cx="1828800" cy="914400"/>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31750">
            <a:solidFill>
              <a:schemeClr val="tx1">
                <a:lumMod val="50000"/>
                <a:lumOff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45" name="Text Box 3"/>
          <p:cNvSpPr txBox="1"/>
          <p:nvPr/>
        </p:nvSpPr>
        <p:spPr>
          <a:xfrm rot="-5400000">
            <a:off x="-330200" y="2852738"/>
            <a:ext cx="1455738" cy="369887"/>
          </a:xfrm>
          <a:prstGeom prst="rect">
            <a:avLst/>
          </a:prstGeom>
          <a:noFill/>
          <a:ln w="9525">
            <a:noFill/>
          </a:ln>
        </p:spPr>
        <p:txBody>
          <a:bodyPr wrap="none" lIns="0" tIns="0" rIns="0" bIns="0">
            <a:spAutoFit/>
          </a:bodyPr>
          <a:p>
            <a:pPr eaLnBrk="1" hangingPunct="1"/>
            <a:r>
              <a:rPr lang="en-US" altLang="en-US" sz="1200" dirty="0">
                <a:latin typeface="Arial" panose="020B0604020202020204" pitchFamily="34" charset="0"/>
              </a:rPr>
              <a:t>Autonomous control</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(“Required behavior”)</a:t>
            </a:r>
            <a:endParaRPr lang="en-US" altLang="en-US" sz="1200" dirty="0">
              <a:latin typeface="Arial" panose="020B0604020202020204" pitchFamily="34" charset="0"/>
            </a:endParaRPr>
          </a:p>
        </p:txBody>
      </p:sp>
      <p:sp>
        <p:nvSpPr>
          <p:cNvPr id="14346" name="Text Box 3"/>
          <p:cNvSpPr txBox="1"/>
          <p:nvPr/>
        </p:nvSpPr>
        <p:spPr>
          <a:xfrm rot="-1289703">
            <a:off x="203200" y="4803775"/>
            <a:ext cx="1285875" cy="184150"/>
          </a:xfrm>
          <a:prstGeom prst="rect">
            <a:avLst/>
          </a:prstGeom>
          <a:noFill/>
          <a:ln w="9525">
            <a:noFill/>
          </a:ln>
        </p:spPr>
        <p:txBody>
          <a:bodyPr wrap="none" lIns="0" tIns="0" rIns="0" bIns="0">
            <a:spAutoFit/>
          </a:bodyPr>
          <a:p>
            <a:pPr eaLnBrk="1" hangingPunct="1"/>
            <a:r>
              <a:rPr lang="en-US" altLang="en-US" sz="1200" dirty="0">
                <a:latin typeface="Arial" panose="020B0604020202020204" pitchFamily="34" charset="0"/>
              </a:rPr>
              <a:t>Information display</a:t>
            </a:r>
            <a:endParaRPr lang="en-US" altLang="en-US" sz="1200" dirty="0">
              <a:latin typeface="Arial" panose="020B0604020202020204" pitchFamily="34" charset="0"/>
            </a:endParaRPr>
          </a:p>
        </p:txBody>
      </p:sp>
      <p:sp>
        <p:nvSpPr>
          <p:cNvPr id="15" name="Freeform 14"/>
          <p:cNvSpPr>
            <a:spLocks noChangeAspect="1"/>
          </p:cNvSpPr>
          <p:nvPr/>
        </p:nvSpPr>
        <p:spPr>
          <a:xfrm flipV="1">
            <a:off x="1862138" y="2606675"/>
            <a:ext cx="296863" cy="277813"/>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19050">
            <a:solidFill>
              <a:schemeClr val="tx1"/>
            </a:solidFill>
            <a:prstDash val="lgDash"/>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reeform 15"/>
          <p:cNvSpPr/>
          <p:nvPr/>
        </p:nvSpPr>
        <p:spPr>
          <a:xfrm flipH="1">
            <a:off x="2274888" y="3036888"/>
            <a:ext cx="266700" cy="1598613"/>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19050">
            <a:solidFill>
              <a:schemeClr val="tx1"/>
            </a:solidFill>
            <a:prstDash val="lgDash"/>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Freeform 16"/>
          <p:cNvSpPr>
            <a:spLocks noChangeAspect="1"/>
          </p:cNvSpPr>
          <p:nvPr/>
        </p:nvSpPr>
        <p:spPr>
          <a:xfrm>
            <a:off x="1322388" y="2987675"/>
            <a:ext cx="796925" cy="608013"/>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19050">
            <a:solidFill>
              <a:schemeClr val="tx1"/>
            </a:solidFill>
            <a:prstDash val="lgDash"/>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Freeform 17"/>
          <p:cNvSpPr>
            <a:spLocks noChangeAspect="1"/>
          </p:cNvSpPr>
          <p:nvPr/>
        </p:nvSpPr>
        <p:spPr>
          <a:xfrm flipH="1">
            <a:off x="630238" y="2814638"/>
            <a:ext cx="1228725" cy="1474788"/>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31750">
            <a:solidFill>
              <a:schemeClr val="tx1">
                <a:lumMod val="50000"/>
                <a:lumOff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21" name="Straight Connector 20"/>
          <p:cNvCxnSpPr/>
          <p:nvPr/>
        </p:nvCxnSpPr>
        <p:spPr>
          <a:xfrm>
            <a:off x="1036638" y="4530725"/>
            <a:ext cx="60325" cy="128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1241425" y="3516313"/>
            <a:ext cx="127000" cy="14446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798638" y="2593975"/>
            <a:ext cx="15081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998788" y="2974975"/>
            <a:ext cx="109538" cy="12382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2498725" y="4560888"/>
            <a:ext cx="119063" cy="15081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32"/>
          <p:cNvSpPr>
            <a:spLocks noChangeAspect="1"/>
          </p:cNvSpPr>
          <p:nvPr/>
        </p:nvSpPr>
        <p:spPr>
          <a:xfrm flipV="1">
            <a:off x="2368550" y="2990850"/>
            <a:ext cx="704850" cy="71438"/>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19050">
            <a:solidFill>
              <a:schemeClr val="tx1"/>
            </a:solidFill>
            <a:prstDash val="lgDash"/>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Freeform 33"/>
          <p:cNvSpPr>
            <a:spLocks noChangeAspect="1"/>
          </p:cNvSpPr>
          <p:nvPr/>
        </p:nvSpPr>
        <p:spPr>
          <a:xfrm flipH="1" flipV="1">
            <a:off x="1089025" y="3017838"/>
            <a:ext cx="1087438" cy="1565275"/>
          </a:xfrm>
          <a:custGeom>
            <a:avLst/>
            <a:gdLst>
              <a:gd name="connsiteX0" fmla="*/ 0 w 43543"/>
              <a:gd name="connsiteY0" fmla="*/ 2447109 h 2447109"/>
              <a:gd name="connsiteX1" fmla="*/ 43543 w 43543"/>
              <a:gd name="connsiteY1" fmla="*/ 0 h 2447109"/>
            </a:gdLst>
            <a:ahLst/>
            <a:cxnLst>
              <a:cxn ang="0">
                <a:pos x="connsiteX0" y="connsiteY0"/>
              </a:cxn>
              <a:cxn ang="0">
                <a:pos x="connsiteX1" y="connsiteY1"/>
              </a:cxn>
            </a:cxnLst>
            <a:rect l="l" t="t" r="r" b="b"/>
            <a:pathLst>
              <a:path w="43543" h="2447109">
                <a:moveTo>
                  <a:pt x="0" y="2447109"/>
                </a:moveTo>
                <a:lnTo>
                  <a:pt x="43543" y="0"/>
                </a:lnTo>
              </a:path>
            </a:pathLst>
          </a:custGeom>
          <a:noFill/>
          <a:ln w="19050">
            <a:solidFill>
              <a:schemeClr val="tx1"/>
            </a:solidFill>
            <a:prstDash val="lgDash"/>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58" name="Text Box 3"/>
          <p:cNvSpPr txBox="1"/>
          <p:nvPr/>
        </p:nvSpPr>
        <p:spPr>
          <a:xfrm rot="-5400000">
            <a:off x="809625" y="2546350"/>
            <a:ext cx="1484313" cy="368300"/>
          </a:xfrm>
          <a:prstGeom prst="rect">
            <a:avLst/>
          </a:prstGeom>
          <a:solidFill>
            <a:schemeClr val="bg1">
              <a:alpha val="70195"/>
            </a:schemeClr>
          </a:solidFill>
          <a:ln w="9525">
            <a:noFill/>
          </a:ln>
        </p:spPr>
        <p:txBody>
          <a:bodyPr wrap="none" lIns="0" tIns="0" rIns="0" bIns="0">
            <a:spAutoFit/>
          </a:bodyPr>
          <a:p>
            <a:pPr algn="ctr" eaLnBrk="1" hangingPunct="1"/>
            <a:r>
              <a:rPr lang="en-US" altLang="en-US" sz="1200" dirty="0">
                <a:latin typeface="Arial" panose="020B0604020202020204" pitchFamily="34" charset="0"/>
              </a:rPr>
              <a:t>Simple editing</a:t>
            </a:r>
            <a:endParaRPr lang="en-US" altLang="en-US" sz="1200" dirty="0">
              <a:latin typeface="Arial" panose="020B0604020202020204" pitchFamily="34" charset="0"/>
            </a:endParaRPr>
          </a:p>
          <a:p>
            <a:pPr algn="ctr" eaLnBrk="1" hangingPunct="1"/>
            <a:r>
              <a:rPr lang="en-US" altLang="en-US" sz="1200" dirty="0">
                <a:latin typeface="Arial" panose="020B0604020202020204" pitchFamily="34" charset="0"/>
              </a:rPr>
              <a:t>(“Simple workpieces”)</a:t>
            </a:r>
            <a:endParaRPr lang="en-US" altLang="en-US" sz="1200" dirty="0">
              <a:latin typeface="Arial" panose="020B0604020202020204" pitchFamily="34" charset="0"/>
            </a:endParaRPr>
          </a:p>
        </p:txBody>
      </p:sp>
      <p:sp>
        <p:nvSpPr>
          <p:cNvPr id="14359" name="Text Box 3"/>
          <p:cNvSpPr txBox="1"/>
          <p:nvPr/>
        </p:nvSpPr>
        <p:spPr>
          <a:xfrm rot="-2700000">
            <a:off x="2351088" y="2679700"/>
            <a:ext cx="1347787" cy="185738"/>
          </a:xfrm>
          <a:prstGeom prst="rect">
            <a:avLst/>
          </a:prstGeom>
          <a:solidFill>
            <a:schemeClr val="bg1">
              <a:alpha val="70195"/>
            </a:schemeClr>
          </a:solidFill>
          <a:ln w="9525">
            <a:noFill/>
          </a:ln>
        </p:spPr>
        <p:txBody>
          <a:bodyPr wrap="none" lIns="0" tIns="0" rIns="0" bIns="0">
            <a:spAutoFit/>
          </a:bodyPr>
          <a:p>
            <a:pPr eaLnBrk="1" hangingPunct="1"/>
            <a:r>
              <a:rPr lang="en-US" altLang="en-US" sz="1200" dirty="0">
                <a:latin typeface="Arial" panose="020B0604020202020204" pitchFamily="34" charset="0"/>
              </a:rPr>
              <a:t>Data transformation</a:t>
            </a:r>
            <a:endParaRPr lang="en-US" altLang="en-US" sz="1200" dirty="0">
              <a:latin typeface="Arial" panose="020B0604020202020204" pitchFamily="34" charset="0"/>
            </a:endParaRPr>
          </a:p>
        </p:txBody>
      </p:sp>
      <p:sp>
        <p:nvSpPr>
          <p:cNvPr id="14360" name="Text Box 3"/>
          <p:cNvSpPr txBox="1"/>
          <p:nvPr/>
        </p:nvSpPr>
        <p:spPr>
          <a:xfrm rot="1526642">
            <a:off x="2168525" y="4362450"/>
            <a:ext cx="1711325" cy="369888"/>
          </a:xfrm>
          <a:prstGeom prst="rect">
            <a:avLst/>
          </a:prstGeom>
          <a:solidFill>
            <a:schemeClr val="bg1">
              <a:alpha val="70195"/>
            </a:schemeClr>
          </a:solidFill>
          <a:ln w="9525">
            <a:noFill/>
          </a:ln>
        </p:spPr>
        <p:txBody>
          <a:bodyPr wrap="none" lIns="0" tIns="0" rIns="0" bIns="0">
            <a:spAutoFit/>
          </a:bodyPr>
          <a:p>
            <a:pPr algn="r" eaLnBrk="1" hangingPunct="1"/>
            <a:r>
              <a:rPr lang="en-US" altLang="en-US" sz="1200" dirty="0">
                <a:latin typeface="Arial" panose="020B0604020202020204" pitchFamily="34" charset="0"/>
              </a:rPr>
              <a:t>Manual control</a:t>
            </a:r>
            <a:endParaRPr lang="en-US" altLang="en-US" sz="1200" dirty="0">
              <a:latin typeface="Arial" panose="020B0604020202020204" pitchFamily="34" charset="0"/>
            </a:endParaRPr>
          </a:p>
          <a:p>
            <a:pPr algn="r" eaLnBrk="1" hangingPunct="1"/>
            <a:r>
              <a:rPr lang="en-US" altLang="en-US" sz="1200" dirty="0">
                <a:latin typeface="Arial" panose="020B0604020202020204" pitchFamily="34" charset="0"/>
              </a:rPr>
              <a:t>(“Commanded behavior”)</a:t>
            </a:r>
            <a:endParaRPr lang="en-US" altLang="en-US" sz="1200" dirty="0">
              <a:latin typeface="Arial" panose="020B0604020202020204" pitchFamily="34" charset="0"/>
            </a:endParaRPr>
          </a:p>
        </p:txBody>
      </p:sp>
      <p:sp>
        <p:nvSpPr>
          <p:cNvPr id="37" name="Freeform 36"/>
          <p:cNvSpPr/>
          <p:nvPr/>
        </p:nvSpPr>
        <p:spPr>
          <a:xfrm>
            <a:off x="2403475" y="2590800"/>
            <a:ext cx="271463" cy="233363"/>
          </a:xfrm>
          <a:custGeom>
            <a:avLst/>
            <a:gdLst>
              <a:gd name="connsiteX0" fmla="*/ 139338 w 139338"/>
              <a:gd name="connsiteY0" fmla="*/ 0 h 531223"/>
              <a:gd name="connsiteX1" fmla="*/ 0 w 139338"/>
              <a:gd name="connsiteY1" fmla="*/ 531223 h 531223"/>
              <a:gd name="connsiteX0-1" fmla="*/ 139338 w 139338"/>
              <a:gd name="connsiteY0-2" fmla="*/ 0 h 531223"/>
              <a:gd name="connsiteX1-3" fmla="*/ 0 w 139338"/>
              <a:gd name="connsiteY1-4" fmla="*/ 531223 h 531223"/>
              <a:gd name="connsiteX0-5" fmla="*/ 269967 w 269967"/>
              <a:gd name="connsiteY0-6" fmla="*/ 0 h 496389"/>
              <a:gd name="connsiteX1-7" fmla="*/ 0 w 269967"/>
              <a:gd name="connsiteY1-8" fmla="*/ 496389 h 496389"/>
              <a:gd name="connsiteX0-9" fmla="*/ 269967 w 269967"/>
              <a:gd name="connsiteY0-10" fmla="*/ 0 h 304801"/>
              <a:gd name="connsiteX1-11" fmla="*/ 0 w 269967"/>
              <a:gd name="connsiteY1-12" fmla="*/ 304801 h 304801"/>
              <a:gd name="connsiteX0-13" fmla="*/ 269967 w 269967"/>
              <a:gd name="connsiteY0-14" fmla="*/ 0 h 304801"/>
              <a:gd name="connsiteX1-15" fmla="*/ 0 w 269967"/>
              <a:gd name="connsiteY1-16" fmla="*/ 304801 h 304801"/>
              <a:gd name="connsiteX0-17" fmla="*/ 269967 w 269967"/>
              <a:gd name="connsiteY0-18" fmla="*/ 0 h 304801"/>
              <a:gd name="connsiteX1-19" fmla="*/ 0 w 269967"/>
              <a:gd name="connsiteY1-20" fmla="*/ 304801 h 304801"/>
            </a:gdLst>
            <a:ahLst/>
            <a:cxnLst>
              <a:cxn ang="0">
                <a:pos x="connsiteX0-1" y="connsiteY0-2"/>
              </a:cxn>
              <a:cxn ang="0">
                <a:pos x="connsiteX1-3" y="connsiteY1-4"/>
              </a:cxn>
            </a:cxnLst>
            <a:rect l="l" t="t" r="r" b="b"/>
            <a:pathLst>
              <a:path w="269967" h="304801">
                <a:moveTo>
                  <a:pt x="269967" y="0"/>
                </a:moveTo>
                <a:cubicBezTo>
                  <a:pt x="232230" y="246743"/>
                  <a:pt x="194491" y="275772"/>
                  <a:pt x="0" y="304801"/>
                </a:cubicBezTo>
              </a:path>
            </a:pathLst>
          </a:custGeom>
          <a:noFill/>
          <a:ln w="952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62" name="Text Box 3"/>
          <p:cNvSpPr txBox="1"/>
          <p:nvPr/>
        </p:nvSpPr>
        <p:spPr>
          <a:xfrm>
            <a:off x="2247900" y="2044700"/>
            <a:ext cx="679450" cy="554038"/>
          </a:xfrm>
          <a:prstGeom prst="rect">
            <a:avLst/>
          </a:prstGeom>
          <a:solidFill>
            <a:schemeClr val="bg1">
              <a:alpha val="70195"/>
            </a:schemeClr>
          </a:solidFill>
          <a:ln w="9525" cap="flat" cmpd="sng">
            <a:solidFill>
              <a:schemeClr val="tx1"/>
            </a:solidFill>
            <a:prstDash val="solid"/>
            <a:miter/>
            <a:headEnd type="none" w="med" len="med"/>
            <a:tailEnd type="none" w="med" len="med"/>
          </a:ln>
        </p:spPr>
        <p:txBody>
          <a:bodyPr wrap="none" lIns="45720" tIns="0" rIns="27432" bIns="0">
            <a:spAutoFit/>
          </a:bodyPr>
          <a:p>
            <a:pPr eaLnBrk="1" hangingPunct="1"/>
            <a:r>
              <a:rPr lang="en-US" altLang="en-US" sz="1200" dirty="0">
                <a:latin typeface="Arial" panose="020B0604020202020204" pitchFamily="34" charset="0"/>
              </a:rPr>
              <a:t>Software</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problem</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to solve</a:t>
            </a:r>
            <a:endParaRPr lang="en-US" altLang="en-US" sz="1200" dirty="0">
              <a:latin typeface="Arial" panose="020B0604020202020204" pitchFamily="34" charset="0"/>
            </a:endParaRPr>
          </a:p>
        </p:txBody>
      </p:sp>
      <p:sp>
        <p:nvSpPr>
          <p:cNvPr id="28" name="Oval 27"/>
          <p:cNvSpPr>
            <a:spLocks noChangeAspect="1"/>
          </p:cNvSpPr>
          <p:nvPr/>
        </p:nvSpPr>
        <p:spPr>
          <a:xfrm>
            <a:off x="2101850" y="2786063"/>
            <a:ext cx="274638" cy="274638"/>
          </a:xfrm>
          <a:prstGeom prst="ellipse">
            <a:avLst/>
          </a:prstGeom>
          <a:solidFill>
            <a:schemeClr val="accent1">
              <a:lumMod val="75000"/>
            </a:schemeClr>
          </a:solidFill>
          <a:ln w="127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2"/>
          <p:cNvSpPr>
            <a:spLocks noGrp="1"/>
          </p:cNvSpPr>
          <p:nvPr>
            <p:ph type="title"/>
          </p:nvPr>
        </p:nvSpPr>
        <p:spPr>
          <a:xfrm>
            <a:off x="252413" y="136525"/>
            <a:ext cx="8858250" cy="1143000"/>
          </a:xfrm>
        </p:spPr>
        <p:txBody>
          <a:bodyPr vert="horz" wrap="square" lIns="91440" tIns="45720" rIns="91440" bIns="45720" anchor="ctr" anchorCtr="0"/>
          <a:p>
            <a:r>
              <a:rPr lang="en-US" altLang="en-US" kern="1200" dirty="0">
                <a:latin typeface="Arial Rounded MT Bold" panose="020F0704030504030204" pitchFamily="34" charset="0"/>
                <a:ea typeface="+mj-ea"/>
                <a:cs typeface="+mj-cs"/>
              </a:rPr>
              <a:t>Typical System Requirements</a:t>
            </a:r>
            <a:endParaRPr lang="en-US" altLang="en-US" kern="1200" dirty="0">
              <a:latin typeface="Arial Rounded MT Bold" panose="020F0704030504030204" pitchFamily="34" charset="0"/>
              <a:ea typeface="+mj-ea"/>
              <a:cs typeface="+mj-cs"/>
            </a:endParaRPr>
          </a:p>
        </p:txBody>
      </p:sp>
      <p:sp>
        <p:nvSpPr>
          <p:cNvPr id="4" name="Content Placeholder 3"/>
          <p:cNvSpPr>
            <a:spLocks noGrp="1"/>
          </p:cNvSpPr>
          <p:nvPr>
            <p:ph idx="1"/>
          </p:nvPr>
        </p:nvSpPr>
        <p:spPr>
          <a:xfrm>
            <a:off x="382588" y="1600200"/>
            <a:ext cx="8728075" cy="4824413"/>
          </a:xfrm>
        </p:spPr>
        <p:txBody>
          <a:bodyPr vert="horz" wrap="square" lIns="91440" tIns="45720" rIns="91440" bIns="45720" numCol="1" anchor="t" anchorCtr="0" compatLnSpc="1">
            <a:normAutofit fontScale="85000" lnSpcReduction="10000"/>
          </a:bodyPr>
          <a:lstStyle/>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1" i="0" u="none" strike="noStrike" kern="1200" cap="none" spc="0" normalizeH="0" baseline="0" noProof="0" dirty="0" smtClean="0">
                <a:ln>
                  <a:noFill/>
                </a:ln>
                <a:solidFill>
                  <a:srgbClr val="C00000"/>
                </a:solidFill>
                <a:effectLst/>
                <a:uLnTx/>
                <a:uFillTx/>
                <a:latin typeface="Calibri" panose="020F0502020204030204" pitchFamily="34" charset="0"/>
                <a:ea typeface="+mn-ea"/>
                <a:cs typeface="Calibri" panose="020F0502020204030204" pitchFamily="34" charset="0"/>
              </a:rPr>
              <a:t>REQ-1</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Map input data to output data as said by given rules</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REQ-2</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Allow repository (or document) editing, where “repository” is a collection of data</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REQ-3</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Autonomously control a physical object/device</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REQ-4</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Interactively control a physical object/device</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Char char="q"/>
              <a:defRPr/>
            </a:pPr>
            <a:r>
              <a:rPr kumimoji="0" lang="en-US" sz="32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REQ-5</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Monitor and display information about an object</a:t>
            </a:r>
            <a:endPar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0" fontAlgn="base" latinLnBrk="0" hangingPunct="0">
              <a:lnSpc>
                <a:spcPct val="100000"/>
              </a:lnSpc>
              <a:spcBef>
                <a:spcPts val="1200"/>
              </a:spcBef>
              <a:spcAft>
                <a:spcPct val="0"/>
              </a:spcAft>
              <a:buClr>
                <a:srgbClr val="800000"/>
              </a:buClr>
              <a:buSzTx/>
              <a:buFontTx/>
              <a:buNone/>
              <a:defRPr/>
            </a:pPr>
            <a:r>
              <a:rPr kumimoji="0" lang="en-US" sz="3200" b="0" i="0" u="sng"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Critical insight</a:t>
            </a:r>
            <a:r>
              <a:rPr kumimoji="0" lang="en-US" sz="3200" b="0" i="0" u="none" strike="noStrike" kern="1200" cap="none" spc="0" normalizeH="0" baseline="0" noProof="0" dirty="0" smtClean="0">
                <a:ln>
                  <a:noFill/>
                </a:ln>
                <a:solidFill>
                  <a:schemeClr val="tx1"/>
                </a:solidFill>
                <a:effectLst/>
                <a:uLnTx/>
                <a:uFillTx/>
                <a:latin typeface="Calibri" panose="020F0502020204030204" pitchFamily="34" charset="0"/>
                <a:ea typeface="+mn-ea"/>
                <a:cs typeface="Calibri" panose="020F0502020204030204" pitchFamily="34" charset="0"/>
              </a:rPr>
              <a:t>: there are known approaches for analyzing each of these requirement types, including the information that should be specified for each type</a:t>
            </a:r>
            <a:endParaRPr kumimoji="0" lang="en-US" sz="3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a:spLocks noGrp="1"/>
          </p:cNvSpPr>
          <p:nvPr>
            <p:ph type="title" idx="4294967295"/>
          </p:nvPr>
        </p:nvSpPr>
        <p:spPr/>
        <p:txBody>
          <a:bodyPr vert="horz" wrap="square" lIns="0" tIns="45720" rIns="0" bIns="45720" anchor="ctr" anchorCtr="0"/>
          <a:p>
            <a:pPr eaLnBrk="1" hangingPunct="1"/>
            <a:r>
              <a:rPr lang="en-US" altLang="en-US" dirty="0"/>
              <a:t>Example: Problem Decomposition</a:t>
            </a:r>
            <a:endParaRPr lang="en-US" altLang="en-US" dirty="0"/>
          </a:p>
        </p:txBody>
      </p:sp>
      <p:sp>
        <p:nvSpPr>
          <p:cNvPr id="16387" name="Rectangle 4"/>
          <p:cNvSpPr>
            <a:spLocks noChangeAspect="1"/>
          </p:cNvSpPr>
          <p:nvPr/>
        </p:nvSpPr>
        <p:spPr>
          <a:xfrm>
            <a:off x="1573213" y="2436813"/>
            <a:ext cx="5942012" cy="3690937"/>
          </a:xfrm>
          <a:prstGeom prst="rect">
            <a:avLst/>
          </a:prstGeom>
          <a:no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388" name="Text Box 5"/>
          <p:cNvSpPr txBox="1">
            <a:spLocks noChangeAspect="1"/>
          </p:cNvSpPr>
          <p:nvPr/>
        </p:nvSpPr>
        <p:spPr>
          <a:xfrm>
            <a:off x="2047875" y="2382838"/>
            <a:ext cx="906463" cy="106362"/>
          </a:xfrm>
          <a:prstGeom prst="rect">
            <a:avLst/>
          </a:prstGeom>
          <a:solidFill>
            <a:schemeClr val="bg1"/>
          </a:solidFill>
          <a:ln w="9525">
            <a:noFill/>
          </a:ln>
        </p:spPr>
        <p:txBody>
          <a:bodyPr wrap="none" lIns="45720" tIns="0" rIns="45720" bIns="0">
            <a:spAutoFit/>
          </a:bodyPr>
          <a:p>
            <a:pPr eaLnBrk="1" hangingPunct="1"/>
            <a:r>
              <a:rPr lang="en-US" altLang="en-US" sz="700" dirty="0">
                <a:latin typeface="Arial" panose="020B0604020202020204" pitchFamily="34" charset="0"/>
              </a:rPr>
              <a:t>PROBLEM DOMAIN</a:t>
            </a:r>
            <a:endParaRPr lang="en-US" altLang="en-US" sz="700" dirty="0">
              <a:latin typeface="Arial" panose="020B0604020202020204" pitchFamily="34" charset="0"/>
            </a:endParaRPr>
          </a:p>
        </p:txBody>
      </p:sp>
      <p:sp>
        <p:nvSpPr>
          <p:cNvPr id="16389" name="Text Box 6"/>
          <p:cNvSpPr txBox="1">
            <a:spLocks noChangeAspect="1"/>
          </p:cNvSpPr>
          <p:nvPr/>
        </p:nvSpPr>
        <p:spPr>
          <a:xfrm>
            <a:off x="2944813" y="5189538"/>
            <a:ext cx="1066800" cy="182562"/>
          </a:xfrm>
          <a:prstGeom prst="rect">
            <a:avLst/>
          </a:prstGeom>
          <a:noFill/>
          <a:ln w="9525">
            <a:noFill/>
          </a:ln>
        </p:spPr>
        <p:txBody>
          <a:bodyPr wrap="none" lIns="0" tIns="0" rIns="0" bIns="0">
            <a:spAutoFit/>
          </a:bodyPr>
          <a:p>
            <a:pPr algn="ctr" eaLnBrk="1" hangingPunct="1"/>
            <a:r>
              <a:rPr lang="en-US" altLang="en-US" sz="1200" b="1" dirty="0">
                <a:latin typeface="Arial" panose="020B0604020202020204" pitchFamily="34" charset="0"/>
              </a:rPr>
              <a:t>Software-to-be</a:t>
            </a:r>
            <a:endParaRPr lang="en-US" altLang="en-US" sz="1200" b="1" dirty="0">
              <a:latin typeface="Arial" panose="020B0604020202020204" pitchFamily="34" charset="0"/>
            </a:endParaRPr>
          </a:p>
        </p:txBody>
      </p:sp>
      <p:sp>
        <p:nvSpPr>
          <p:cNvPr id="16390" name="AutoShape 8"/>
          <p:cNvSpPr>
            <a:spLocks noChangeAspect="1"/>
          </p:cNvSpPr>
          <p:nvPr/>
        </p:nvSpPr>
        <p:spPr>
          <a:xfrm>
            <a:off x="3011488" y="4106863"/>
            <a:ext cx="1028700" cy="1028700"/>
          </a:xfrm>
          <a:prstGeom prst="cube">
            <a:avLst>
              <a:gd name="adj" fmla="val 25000"/>
            </a:avLst>
          </a:prstGeom>
          <a:solidFill>
            <a:schemeClr val="bg1"/>
          </a:solidFill>
          <a:ln w="285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nvGrpSpPr>
          <p:cNvPr id="16391" name="Group 18"/>
          <p:cNvGrpSpPr>
            <a:grpSpLocks noChangeAspect="1"/>
          </p:cNvGrpSpPr>
          <p:nvPr/>
        </p:nvGrpSpPr>
        <p:grpSpPr>
          <a:xfrm>
            <a:off x="6138863" y="4549775"/>
            <a:ext cx="509587" cy="401638"/>
            <a:chOff x="1344" y="3042"/>
            <a:chExt cx="423" cy="335"/>
          </a:xfrm>
        </p:grpSpPr>
        <p:sp>
          <p:nvSpPr>
            <p:cNvPr id="16513" name="Freeform 19"/>
            <p:cNvSpPr>
              <a:spLocks noChangeAspect="1"/>
            </p:cNvSpPr>
            <p:nvPr/>
          </p:nvSpPr>
          <p:spPr>
            <a:xfrm>
              <a:off x="1344" y="3042"/>
              <a:ext cx="287" cy="335"/>
            </a:xfrm>
            <a:custGeom>
              <a:avLst/>
              <a:gdLst>
                <a:gd name="txL" fmla="*/ 0 w 2377"/>
                <a:gd name="txT" fmla="*/ 0 h 2777"/>
                <a:gd name="txR" fmla="*/ 2377 w 2377"/>
                <a:gd name="txB" fmla="*/ 2777 h 277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77" h="2777">
                  <a:moveTo>
                    <a:pt x="416" y="0"/>
                  </a:moveTo>
                  <a:cubicBezTo>
                    <a:pt x="347" y="24"/>
                    <a:pt x="355" y="309"/>
                    <a:pt x="288" y="456"/>
                  </a:cubicBezTo>
                  <a:cubicBezTo>
                    <a:pt x="221" y="603"/>
                    <a:pt x="21" y="607"/>
                    <a:pt x="16" y="880"/>
                  </a:cubicBezTo>
                  <a:cubicBezTo>
                    <a:pt x="11" y="1153"/>
                    <a:pt x="251" y="1801"/>
                    <a:pt x="256" y="2096"/>
                  </a:cubicBezTo>
                  <a:cubicBezTo>
                    <a:pt x="261" y="2391"/>
                    <a:pt x="0" y="2536"/>
                    <a:pt x="48" y="2648"/>
                  </a:cubicBezTo>
                  <a:cubicBezTo>
                    <a:pt x="96" y="2760"/>
                    <a:pt x="325" y="2777"/>
                    <a:pt x="544" y="2768"/>
                  </a:cubicBezTo>
                  <a:cubicBezTo>
                    <a:pt x="763" y="2759"/>
                    <a:pt x="1087" y="2692"/>
                    <a:pt x="1360" y="2592"/>
                  </a:cubicBezTo>
                  <a:cubicBezTo>
                    <a:pt x="1633" y="2492"/>
                    <a:pt x="2025" y="2293"/>
                    <a:pt x="2184" y="2168"/>
                  </a:cubicBezTo>
                  <a:cubicBezTo>
                    <a:pt x="2343" y="2043"/>
                    <a:pt x="2377" y="1937"/>
                    <a:pt x="2312" y="1840"/>
                  </a:cubicBezTo>
                  <a:cubicBezTo>
                    <a:pt x="2247" y="1743"/>
                    <a:pt x="1967" y="1814"/>
                    <a:pt x="1792" y="1584"/>
                  </a:cubicBezTo>
                  <a:cubicBezTo>
                    <a:pt x="1617" y="1354"/>
                    <a:pt x="1436" y="669"/>
                    <a:pt x="1264" y="456"/>
                  </a:cubicBezTo>
                  <a:cubicBezTo>
                    <a:pt x="1092" y="243"/>
                    <a:pt x="901" y="380"/>
                    <a:pt x="760" y="304"/>
                  </a:cubicBezTo>
                  <a:cubicBezTo>
                    <a:pt x="619" y="228"/>
                    <a:pt x="488" y="63"/>
                    <a:pt x="416" y="0"/>
                  </a:cubicBez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514" name="Oval 20"/>
            <p:cNvSpPr>
              <a:spLocks noChangeAspect="1"/>
            </p:cNvSpPr>
            <p:nvPr/>
          </p:nvSpPr>
          <p:spPr>
            <a:xfrm rot="-1089134">
              <a:off x="1357" y="3283"/>
              <a:ext cx="263" cy="67"/>
            </a:xfrm>
            <a:prstGeom prst="ellipse">
              <a:avLst/>
            </a:prstGeom>
            <a:solidFill>
              <a:srgbClr val="B2B2B2"/>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515" name="Freeform 21"/>
            <p:cNvSpPr>
              <a:spLocks noChangeAspect="1"/>
            </p:cNvSpPr>
            <p:nvPr/>
          </p:nvSpPr>
          <p:spPr>
            <a:xfrm>
              <a:off x="1372" y="3251"/>
              <a:ext cx="204" cy="73"/>
            </a:xfrm>
            <a:custGeom>
              <a:avLst/>
              <a:gdLst>
                <a:gd name="txL" fmla="*/ 0 w 1688"/>
                <a:gd name="txT" fmla="*/ 0 h 600"/>
                <a:gd name="txR" fmla="*/ 1688 w 1688"/>
                <a:gd name="txB" fmla="*/ 600 h 600"/>
              </a:gdLst>
              <a:ahLst/>
              <a:cxnLst>
                <a:cxn ang="0">
                  <a:pos x="0" y="0"/>
                </a:cxn>
                <a:cxn ang="0">
                  <a:pos x="0" y="0"/>
                </a:cxn>
                <a:cxn ang="0">
                  <a:pos x="0" y="0"/>
                </a:cxn>
                <a:cxn ang="0">
                  <a:pos x="0" y="0"/>
                </a:cxn>
                <a:cxn ang="0">
                  <a:pos x="0" y="0"/>
                </a:cxn>
              </a:cxnLst>
              <a:rect l="txL" t="txT" r="txR" b="txB"/>
              <a:pathLst>
                <a:path w="1688" h="600">
                  <a:moveTo>
                    <a:pt x="0" y="600"/>
                  </a:moveTo>
                  <a:cubicBezTo>
                    <a:pt x="57" y="563"/>
                    <a:pt x="211" y="447"/>
                    <a:pt x="344" y="376"/>
                  </a:cubicBezTo>
                  <a:cubicBezTo>
                    <a:pt x="477" y="305"/>
                    <a:pt x="644" y="231"/>
                    <a:pt x="800" y="176"/>
                  </a:cubicBezTo>
                  <a:cubicBezTo>
                    <a:pt x="956" y="121"/>
                    <a:pt x="1132" y="77"/>
                    <a:pt x="1280" y="48"/>
                  </a:cubicBezTo>
                  <a:cubicBezTo>
                    <a:pt x="1428" y="19"/>
                    <a:pt x="1603" y="10"/>
                    <a:pt x="1688" y="0"/>
                  </a:cubicBezTo>
                </a:path>
              </a:pathLst>
            </a:custGeom>
            <a:noFill/>
            <a:ln w="9525" cap="flat" cmpd="sng">
              <a:solidFill>
                <a:srgbClr val="5F5F5F">
                  <a:alpha val="100000"/>
                </a:srgbClr>
              </a:solidFill>
              <a:prstDash val="solid"/>
              <a:round/>
              <a:headEnd type="none" w="med" len="med"/>
              <a:tailEnd type="none" w="med" len="med"/>
            </a:ln>
          </p:spPr>
          <p:txBody>
            <a:bodyPr/>
            <a:p>
              <a:endParaRPr lang="zh-CN" altLang="en-US"/>
            </a:p>
          </p:txBody>
        </p:sp>
        <p:sp>
          <p:nvSpPr>
            <p:cNvPr id="16516" name="Freeform 22"/>
            <p:cNvSpPr>
              <a:spLocks noChangeAspect="1"/>
            </p:cNvSpPr>
            <p:nvPr/>
          </p:nvSpPr>
          <p:spPr>
            <a:xfrm>
              <a:off x="1450" y="3291"/>
              <a:ext cx="15" cy="31"/>
            </a:xfrm>
            <a:custGeom>
              <a:avLst/>
              <a:gdLst>
                <a:gd name="txL" fmla="*/ 0 w 123"/>
                <a:gd name="txT" fmla="*/ 0 h 254"/>
                <a:gd name="txR" fmla="*/ 123 w 123"/>
                <a:gd name="txB" fmla="*/ 254 h 254"/>
              </a:gdLst>
              <a:ahLst/>
              <a:cxnLst>
                <a:cxn ang="0">
                  <a:pos x="0" y="0"/>
                </a:cxn>
                <a:cxn ang="0">
                  <a:pos x="0" y="0"/>
                </a:cxn>
                <a:cxn ang="0">
                  <a:pos x="0" y="0"/>
                </a:cxn>
                <a:cxn ang="0">
                  <a:pos x="0" y="0"/>
                </a:cxn>
                <a:cxn ang="0">
                  <a:pos x="0" y="0"/>
                </a:cxn>
              </a:cxnLst>
              <a:rect l="txL" t="txT" r="txR" b="txB"/>
              <a:pathLst>
                <a:path w="123" h="254">
                  <a:moveTo>
                    <a:pt x="2" y="254"/>
                  </a:moveTo>
                  <a:lnTo>
                    <a:pt x="0" y="45"/>
                  </a:lnTo>
                  <a:lnTo>
                    <a:pt x="123" y="0"/>
                  </a:lnTo>
                  <a:lnTo>
                    <a:pt x="122" y="238"/>
                  </a:lnTo>
                  <a:lnTo>
                    <a:pt x="2" y="254"/>
                  </a:lnTo>
                  <a:close/>
                </a:path>
              </a:pathLst>
            </a:custGeom>
            <a:solidFill>
              <a:schemeClr val="tx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517" name="Oval 23"/>
            <p:cNvSpPr>
              <a:spLocks noChangeAspect="1"/>
            </p:cNvSpPr>
            <p:nvPr/>
          </p:nvSpPr>
          <p:spPr>
            <a:xfrm>
              <a:off x="1433" y="3318"/>
              <a:ext cx="53" cy="5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518" name="Freeform 24"/>
            <p:cNvSpPr>
              <a:spLocks noChangeAspect="1"/>
            </p:cNvSpPr>
            <p:nvPr/>
          </p:nvSpPr>
          <p:spPr>
            <a:xfrm>
              <a:off x="1635" y="3114"/>
              <a:ext cx="38" cy="86"/>
            </a:xfrm>
            <a:custGeom>
              <a:avLst/>
              <a:gdLst>
                <a:gd name="txL" fmla="*/ 0 w 312"/>
                <a:gd name="txT" fmla="*/ 0 h 708"/>
                <a:gd name="txR" fmla="*/ 312 w 312"/>
                <a:gd name="txB" fmla="*/ 708 h 708"/>
              </a:gdLst>
              <a:ahLst/>
              <a:cxnLst>
                <a:cxn ang="0">
                  <a:pos x="0" y="0"/>
                </a:cxn>
                <a:cxn ang="0">
                  <a:pos x="0" y="0"/>
                </a:cxn>
                <a:cxn ang="0">
                  <a:pos x="0" y="0"/>
                </a:cxn>
                <a:cxn ang="0">
                  <a:pos x="0" y="0"/>
                </a:cxn>
              </a:cxnLst>
              <a:rect l="txL" t="txT" r="txR" b="txB"/>
              <a:pathLst>
                <a:path w="312" h="708">
                  <a:moveTo>
                    <a:pt x="0" y="630"/>
                  </a:moveTo>
                  <a:lnTo>
                    <a:pt x="312" y="0"/>
                  </a:lnTo>
                  <a:lnTo>
                    <a:pt x="156" y="708"/>
                  </a:lnTo>
                  <a:lnTo>
                    <a:pt x="0" y="630"/>
                  </a:lnTo>
                  <a:close/>
                </a:path>
              </a:pathLst>
            </a:custGeom>
            <a:solidFill>
              <a:schemeClr val="tx1">
                <a:alpha val="100000"/>
              </a:schemeClr>
            </a:solidFill>
            <a:ln w="9525">
              <a:noFill/>
            </a:ln>
          </p:spPr>
          <p:txBody>
            <a:bodyPr/>
            <a:p>
              <a:endParaRPr lang="zh-CN" altLang="en-US"/>
            </a:p>
          </p:txBody>
        </p:sp>
        <p:sp>
          <p:nvSpPr>
            <p:cNvPr id="16519" name="Freeform 25"/>
            <p:cNvSpPr>
              <a:spLocks noChangeAspect="1"/>
            </p:cNvSpPr>
            <p:nvPr/>
          </p:nvSpPr>
          <p:spPr>
            <a:xfrm>
              <a:off x="1663" y="3159"/>
              <a:ext cx="82" cy="77"/>
            </a:xfrm>
            <a:custGeom>
              <a:avLst/>
              <a:gdLst>
                <a:gd name="txL" fmla="*/ 0 w 678"/>
                <a:gd name="txT" fmla="*/ 0 h 642"/>
                <a:gd name="txR" fmla="*/ 678 w 678"/>
                <a:gd name="txB" fmla="*/ 642 h 642"/>
              </a:gdLst>
              <a:ahLst/>
              <a:cxnLst>
                <a:cxn ang="0">
                  <a:pos x="0" y="0"/>
                </a:cxn>
                <a:cxn ang="0">
                  <a:pos x="0" y="0"/>
                </a:cxn>
                <a:cxn ang="0">
                  <a:pos x="0" y="0"/>
                </a:cxn>
                <a:cxn ang="0">
                  <a:pos x="0" y="0"/>
                </a:cxn>
              </a:cxnLst>
              <a:rect l="txL" t="txT" r="txR" b="txB"/>
              <a:pathLst>
                <a:path w="678" h="642">
                  <a:moveTo>
                    <a:pt x="0" y="492"/>
                  </a:moveTo>
                  <a:lnTo>
                    <a:pt x="678" y="0"/>
                  </a:lnTo>
                  <a:lnTo>
                    <a:pt x="114" y="642"/>
                  </a:lnTo>
                  <a:lnTo>
                    <a:pt x="0" y="492"/>
                  </a:lnTo>
                  <a:close/>
                </a:path>
              </a:pathLst>
            </a:custGeom>
            <a:solidFill>
              <a:schemeClr val="tx1">
                <a:alpha val="100000"/>
              </a:schemeClr>
            </a:solidFill>
            <a:ln w="9525">
              <a:noFill/>
            </a:ln>
          </p:spPr>
          <p:txBody>
            <a:bodyPr/>
            <a:p>
              <a:endParaRPr lang="zh-CN" altLang="en-US"/>
            </a:p>
          </p:txBody>
        </p:sp>
        <p:sp>
          <p:nvSpPr>
            <p:cNvPr id="16520" name="Freeform 26"/>
            <p:cNvSpPr>
              <a:spLocks noChangeAspect="1"/>
            </p:cNvSpPr>
            <p:nvPr/>
          </p:nvSpPr>
          <p:spPr>
            <a:xfrm>
              <a:off x="1681" y="3242"/>
              <a:ext cx="86" cy="41"/>
            </a:xfrm>
            <a:custGeom>
              <a:avLst/>
              <a:gdLst>
                <a:gd name="txL" fmla="*/ 0 w 714"/>
                <a:gd name="txT" fmla="*/ 0 h 342"/>
                <a:gd name="txR" fmla="*/ 714 w 714"/>
                <a:gd name="txB" fmla="*/ 342 h 342"/>
              </a:gdLst>
              <a:ahLst/>
              <a:cxnLst>
                <a:cxn ang="0">
                  <a:pos x="0" y="0"/>
                </a:cxn>
                <a:cxn ang="0">
                  <a:pos x="0" y="0"/>
                </a:cxn>
                <a:cxn ang="0">
                  <a:pos x="0" y="0"/>
                </a:cxn>
                <a:cxn ang="0">
                  <a:pos x="0" y="0"/>
                </a:cxn>
              </a:cxnLst>
              <a:rect l="txL" t="txT" r="txR" b="txB"/>
              <a:pathLst>
                <a:path w="714" h="342">
                  <a:moveTo>
                    <a:pt x="0" y="144"/>
                  </a:moveTo>
                  <a:lnTo>
                    <a:pt x="714" y="0"/>
                  </a:lnTo>
                  <a:lnTo>
                    <a:pt x="12" y="342"/>
                  </a:lnTo>
                  <a:lnTo>
                    <a:pt x="0" y="144"/>
                  </a:lnTo>
                  <a:close/>
                </a:path>
              </a:pathLst>
            </a:custGeom>
            <a:solidFill>
              <a:schemeClr val="tx1">
                <a:alpha val="100000"/>
              </a:schemeClr>
            </a:solidFill>
            <a:ln w="9525">
              <a:noFill/>
            </a:ln>
          </p:spPr>
          <p:txBody>
            <a:bodyPr/>
            <a:p>
              <a:endParaRPr lang="zh-CN" altLang="en-US"/>
            </a:p>
          </p:txBody>
        </p:sp>
      </p:grpSp>
      <p:grpSp>
        <p:nvGrpSpPr>
          <p:cNvPr id="16392" name="Group 27"/>
          <p:cNvGrpSpPr>
            <a:grpSpLocks noChangeAspect="1"/>
          </p:cNvGrpSpPr>
          <p:nvPr/>
        </p:nvGrpSpPr>
        <p:grpSpPr>
          <a:xfrm>
            <a:off x="2039938" y="3149600"/>
            <a:ext cx="360362" cy="157163"/>
            <a:chOff x="1031" y="1346"/>
            <a:chExt cx="691" cy="301"/>
          </a:xfrm>
        </p:grpSpPr>
        <p:sp>
          <p:nvSpPr>
            <p:cNvPr id="16510" name="Oval 28"/>
            <p:cNvSpPr>
              <a:spLocks noChangeAspect="1"/>
            </p:cNvSpPr>
            <p:nvPr/>
          </p:nvSpPr>
          <p:spPr>
            <a:xfrm>
              <a:off x="1073" y="1474"/>
              <a:ext cx="45" cy="45"/>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511" name="Arc 29"/>
            <p:cNvSpPr>
              <a:spLocks noChangeAspect="1"/>
            </p:cNvSpPr>
            <p:nvPr/>
          </p:nvSpPr>
          <p:spPr>
            <a:xfrm>
              <a:off x="1031" y="1346"/>
              <a:ext cx="294" cy="301"/>
            </a:xfrm>
            <a:custGeom>
              <a:avLst/>
              <a:gdLst>
                <a:gd name="txL" fmla="*/ 0 w 42199"/>
                <a:gd name="txT" fmla="*/ 0 h 43200"/>
                <a:gd name="txR" fmla="*/ 42199 w 42199"/>
                <a:gd name="txB" fmla="*/ 43200 h 43200"/>
              </a:gdLst>
              <a:ahLst/>
              <a:cxnLst>
                <a:cxn ang="0">
                  <a:pos x="0" y="0"/>
                </a:cxn>
                <a:cxn ang="0">
                  <a:pos x="0" y="0"/>
                </a:cxn>
                <a:cxn ang="0">
                  <a:pos x="0" y="0"/>
                </a:cxn>
              </a:cxnLst>
              <a:rect l="txL" t="txT" r="txR" b="txB"/>
              <a:pathLst>
                <a:path w="42199" h="43200" fill="none">
                  <a:moveTo>
                    <a:pt x="42198" y="28099"/>
                  </a:moveTo>
                  <a:cubicBezTo>
                    <a:pt x="39362" y="37088"/>
                    <a:pt x="31025" y="43199"/>
                    <a:pt x="21600" y="43199"/>
                  </a:cubicBezTo>
                  <a:cubicBezTo>
                    <a:pt x="9670" y="43200"/>
                    <a:pt x="0" y="33529"/>
                    <a:pt x="0" y="21600"/>
                  </a:cubicBezTo>
                  <a:cubicBezTo>
                    <a:pt x="0" y="9670"/>
                    <a:pt x="9670" y="0"/>
                    <a:pt x="21600" y="0"/>
                  </a:cubicBezTo>
                  <a:cubicBezTo>
                    <a:pt x="30873" y="0"/>
                    <a:pt x="39111" y="5918"/>
                    <a:pt x="42070" y="14707"/>
                  </a:cubicBezTo>
                </a:path>
                <a:path w="42199" h="43200" stroke="0">
                  <a:moveTo>
                    <a:pt x="42198" y="28099"/>
                  </a:moveTo>
                  <a:cubicBezTo>
                    <a:pt x="39362" y="37088"/>
                    <a:pt x="31025" y="43199"/>
                    <a:pt x="21600" y="43199"/>
                  </a:cubicBezTo>
                  <a:cubicBezTo>
                    <a:pt x="9670" y="43200"/>
                    <a:pt x="0" y="33529"/>
                    <a:pt x="0" y="21600"/>
                  </a:cubicBezTo>
                  <a:cubicBezTo>
                    <a:pt x="0" y="9670"/>
                    <a:pt x="9670" y="0"/>
                    <a:pt x="21600" y="0"/>
                  </a:cubicBezTo>
                  <a:cubicBezTo>
                    <a:pt x="30873" y="0"/>
                    <a:pt x="39111" y="5918"/>
                    <a:pt x="42070" y="14707"/>
                  </a:cubicBezTo>
                  <a:lnTo>
                    <a:pt x="21600" y="21600"/>
                  </a:lnTo>
                  <a:lnTo>
                    <a:pt x="42198" y="28099"/>
                  </a:lnTo>
                  <a:close/>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512" name="Freeform 30"/>
            <p:cNvSpPr>
              <a:spLocks noChangeAspect="1"/>
            </p:cNvSpPr>
            <p:nvPr/>
          </p:nvSpPr>
          <p:spPr>
            <a:xfrm>
              <a:off x="1324" y="1397"/>
              <a:ext cx="398" cy="190"/>
            </a:xfrm>
            <a:custGeom>
              <a:avLst/>
              <a:gdLst>
                <a:gd name="txL" fmla="*/ 0 w 792"/>
                <a:gd name="txT" fmla="*/ 0 h 378"/>
                <a:gd name="txR" fmla="*/ 792 w 792"/>
                <a:gd name="txB" fmla="*/ 378 h 378"/>
              </a:gdLst>
              <a:ahLst/>
              <a:cxnLst>
                <a:cxn ang="0">
                  <a:pos x="0" y="1"/>
                </a:cxn>
                <a:cxn ang="0">
                  <a:pos x="1" y="1"/>
                </a:cxn>
                <a:cxn ang="0">
                  <a:pos x="1" y="1"/>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rect l="txL" t="txT" r="txR" b="txB"/>
              <a:pathLst>
                <a:path w="792" h="378">
                  <a:moveTo>
                    <a:pt x="0" y="102"/>
                  </a:moveTo>
                  <a:lnTo>
                    <a:pt x="22" y="102"/>
                  </a:lnTo>
                  <a:lnTo>
                    <a:pt x="22" y="24"/>
                  </a:lnTo>
                  <a:lnTo>
                    <a:pt x="47" y="0"/>
                  </a:lnTo>
                  <a:lnTo>
                    <a:pt x="87" y="0"/>
                  </a:lnTo>
                  <a:lnTo>
                    <a:pt x="107" y="21"/>
                  </a:lnTo>
                  <a:lnTo>
                    <a:pt x="107" y="99"/>
                  </a:lnTo>
                  <a:lnTo>
                    <a:pt x="128" y="120"/>
                  </a:lnTo>
                  <a:lnTo>
                    <a:pt x="744" y="120"/>
                  </a:lnTo>
                  <a:lnTo>
                    <a:pt x="792" y="193"/>
                  </a:lnTo>
                  <a:lnTo>
                    <a:pt x="728" y="265"/>
                  </a:lnTo>
                  <a:lnTo>
                    <a:pt x="487" y="265"/>
                  </a:lnTo>
                  <a:lnTo>
                    <a:pt x="453" y="209"/>
                  </a:lnTo>
                  <a:lnTo>
                    <a:pt x="421" y="265"/>
                  </a:lnTo>
                  <a:lnTo>
                    <a:pt x="255" y="265"/>
                  </a:lnTo>
                  <a:lnTo>
                    <a:pt x="224" y="227"/>
                  </a:lnTo>
                  <a:lnTo>
                    <a:pt x="200" y="265"/>
                  </a:lnTo>
                  <a:lnTo>
                    <a:pt x="128" y="265"/>
                  </a:lnTo>
                  <a:lnTo>
                    <a:pt x="108" y="287"/>
                  </a:lnTo>
                  <a:lnTo>
                    <a:pt x="107" y="354"/>
                  </a:lnTo>
                  <a:lnTo>
                    <a:pt x="83" y="378"/>
                  </a:lnTo>
                  <a:lnTo>
                    <a:pt x="44" y="378"/>
                  </a:lnTo>
                  <a:lnTo>
                    <a:pt x="23" y="356"/>
                  </a:lnTo>
                  <a:lnTo>
                    <a:pt x="23" y="287"/>
                  </a:lnTo>
                  <a:lnTo>
                    <a:pt x="2" y="287"/>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16393" name="Group 31"/>
          <p:cNvGrpSpPr>
            <a:grpSpLocks noChangeAspect="1"/>
          </p:cNvGrpSpPr>
          <p:nvPr/>
        </p:nvGrpSpPr>
        <p:grpSpPr>
          <a:xfrm>
            <a:off x="5576888" y="2493963"/>
            <a:ext cx="268287" cy="411162"/>
            <a:chOff x="834" y="1840"/>
            <a:chExt cx="464" cy="710"/>
          </a:xfrm>
        </p:grpSpPr>
        <p:sp>
          <p:nvSpPr>
            <p:cNvPr id="16502" name="AutoShape 32"/>
            <p:cNvSpPr>
              <a:spLocks noChangeAspect="1"/>
            </p:cNvSpPr>
            <p:nvPr/>
          </p:nvSpPr>
          <p:spPr>
            <a:xfrm>
              <a:off x="984" y="2165"/>
              <a:ext cx="164" cy="385"/>
            </a:xfrm>
            <a:prstGeom prst="roundRect">
              <a:avLst>
                <a:gd name="adj" fmla="val 50000"/>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503" name="Freeform 33"/>
            <p:cNvSpPr>
              <a:spLocks noChangeAspect="1"/>
            </p:cNvSpPr>
            <p:nvPr/>
          </p:nvSpPr>
          <p:spPr>
            <a:xfrm>
              <a:off x="872" y="2039"/>
              <a:ext cx="388" cy="338"/>
            </a:xfrm>
            <a:custGeom>
              <a:avLst/>
              <a:gdLst>
                <a:gd name="txL" fmla="*/ 0 w 1597"/>
                <a:gd name="txT" fmla="*/ 0 h 1390"/>
                <a:gd name="txR" fmla="*/ 1597 w 1597"/>
                <a:gd name="txB" fmla="*/ 1390 h 13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597" h="1390">
                  <a:moveTo>
                    <a:pt x="461" y="1390"/>
                  </a:moveTo>
                  <a:cubicBezTo>
                    <a:pt x="459" y="1365"/>
                    <a:pt x="468" y="1291"/>
                    <a:pt x="449" y="1240"/>
                  </a:cubicBezTo>
                  <a:cubicBezTo>
                    <a:pt x="430" y="1189"/>
                    <a:pt x="403" y="1145"/>
                    <a:pt x="349" y="1081"/>
                  </a:cubicBezTo>
                  <a:cubicBezTo>
                    <a:pt x="295" y="1017"/>
                    <a:pt x="175" y="932"/>
                    <a:pt x="123" y="856"/>
                  </a:cubicBezTo>
                  <a:cubicBezTo>
                    <a:pt x="71" y="780"/>
                    <a:pt x="0" y="753"/>
                    <a:pt x="36" y="625"/>
                  </a:cubicBezTo>
                  <a:cubicBezTo>
                    <a:pt x="72" y="497"/>
                    <a:pt x="140" y="178"/>
                    <a:pt x="339" y="89"/>
                  </a:cubicBezTo>
                  <a:cubicBezTo>
                    <a:pt x="538" y="0"/>
                    <a:pt x="1027" y="0"/>
                    <a:pt x="1230" y="89"/>
                  </a:cubicBezTo>
                  <a:cubicBezTo>
                    <a:pt x="1433" y="178"/>
                    <a:pt x="1517" y="497"/>
                    <a:pt x="1557" y="625"/>
                  </a:cubicBezTo>
                  <a:cubicBezTo>
                    <a:pt x="1597" y="753"/>
                    <a:pt x="1524" y="782"/>
                    <a:pt x="1472" y="857"/>
                  </a:cubicBezTo>
                  <a:cubicBezTo>
                    <a:pt x="1420" y="932"/>
                    <a:pt x="1301" y="1015"/>
                    <a:pt x="1246" y="1078"/>
                  </a:cubicBezTo>
                  <a:cubicBezTo>
                    <a:pt x="1191" y="1141"/>
                    <a:pt x="1163" y="1186"/>
                    <a:pt x="1144" y="1238"/>
                  </a:cubicBezTo>
                  <a:cubicBezTo>
                    <a:pt x="1125" y="1290"/>
                    <a:pt x="1135" y="1358"/>
                    <a:pt x="1132" y="1390"/>
                  </a:cubicBezTo>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504" name="Arc 34"/>
            <p:cNvSpPr>
              <a:spLocks noChangeAspect="1"/>
            </p:cNvSpPr>
            <p:nvPr/>
          </p:nvSpPr>
          <p:spPr>
            <a:xfrm>
              <a:off x="834" y="1840"/>
              <a:ext cx="464" cy="431"/>
            </a:xfrm>
            <a:custGeom>
              <a:avLst/>
              <a:gdLst>
                <a:gd name="txL" fmla="*/ 0 w 43200"/>
                <a:gd name="txT" fmla="*/ 0 h 38701"/>
                <a:gd name="txR" fmla="*/ 43200 w 43200"/>
                <a:gd name="txB" fmla="*/ 38701 h 38701"/>
              </a:gdLst>
              <a:ahLst/>
              <a:cxnLst>
                <a:cxn ang="0">
                  <a:pos x="0" y="0"/>
                </a:cxn>
                <a:cxn ang="0">
                  <a:pos x="0" y="0"/>
                </a:cxn>
                <a:cxn ang="0">
                  <a:pos x="0" y="0"/>
                </a:cxn>
              </a:cxnLst>
              <a:rect l="txL" t="txT" r="txR" b="txB"/>
              <a:pathLst>
                <a:path w="43200" h="38701" fill="none">
                  <a:moveTo>
                    <a:pt x="8299" y="38618"/>
                  </a:moveTo>
                  <a:cubicBezTo>
                    <a:pt x="3061" y="34525"/>
                    <a:pt x="0" y="28247"/>
                    <a:pt x="0" y="21600"/>
                  </a:cubicBezTo>
                  <a:cubicBezTo>
                    <a:pt x="0" y="9670"/>
                    <a:pt x="9670" y="0"/>
                    <a:pt x="21600" y="0"/>
                  </a:cubicBezTo>
                  <a:cubicBezTo>
                    <a:pt x="33529" y="0"/>
                    <a:pt x="43200" y="9670"/>
                    <a:pt x="43200" y="21600"/>
                  </a:cubicBezTo>
                  <a:cubicBezTo>
                    <a:pt x="43199" y="28294"/>
                    <a:pt x="40095" y="34611"/>
                    <a:pt x="34795" y="38701"/>
                  </a:cubicBezTo>
                </a:path>
                <a:path w="43200" h="38701" stroke="0">
                  <a:moveTo>
                    <a:pt x="8299" y="38618"/>
                  </a:moveTo>
                  <a:cubicBezTo>
                    <a:pt x="3061" y="34525"/>
                    <a:pt x="0" y="28247"/>
                    <a:pt x="0" y="21600"/>
                  </a:cubicBezTo>
                  <a:cubicBezTo>
                    <a:pt x="0" y="9670"/>
                    <a:pt x="9670" y="0"/>
                    <a:pt x="21600" y="0"/>
                  </a:cubicBezTo>
                  <a:cubicBezTo>
                    <a:pt x="33529" y="0"/>
                    <a:pt x="43200" y="9670"/>
                    <a:pt x="43200" y="21600"/>
                  </a:cubicBezTo>
                  <a:cubicBezTo>
                    <a:pt x="43199" y="28294"/>
                    <a:pt x="40095" y="34611"/>
                    <a:pt x="34795" y="38701"/>
                  </a:cubicBezTo>
                  <a:lnTo>
                    <a:pt x="21600" y="21600"/>
                  </a:lnTo>
                  <a:lnTo>
                    <a:pt x="8299" y="38618"/>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505" name="Freeform 35"/>
            <p:cNvSpPr>
              <a:spLocks noChangeAspect="1"/>
            </p:cNvSpPr>
            <p:nvPr/>
          </p:nvSpPr>
          <p:spPr>
            <a:xfrm>
              <a:off x="970" y="2145"/>
              <a:ext cx="192" cy="165"/>
            </a:xfrm>
            <a:custGeom>
              <a:avLst/>
              <a:gdLst>
                <a:gd name="txL" fmla="*/ 0 w 792"/>
                <a:gd name="txT" fmla="*/ 0 h 676"/>
                <a:gd name="txR" fmla="*/ 792 w 792"/>
                <a:gd name="txB" fmla="*/ 676 h 67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92" h="676">
                  <a:moveTo>
                    <a:pt x="267" y="673"/>
                  </a:moveTo>
                  <a:lnTo>
                    <a:pt x="205" y="358"/>
                  </a:lnTo>
                  <a:lnTo>
                    <a:pt x="0" y="0"/>
                  </a:lnTo>
                  <a:lnTo>
                    <a:pt x="189" y="129"/>
                  </a:lnTo>
                  <a:lnTo>
                    <a:pt x="298" y="3"/>
                  </a:lnTo>
                  <a:lnTo>
                    <a:pt x="427" y="121"/>
                  </a:lnTo>
                  <a:lnTo>
                    <a:pt x="525" y="1"/>
                  </a:lnTo>
                  <a:lnTo>
                    <a:pt x="619" y="115"/>
                  </a:lnTo>
                  <a:lnTo>
                    <a:pt x="792" y="1"/>
                  </a:lnTo>
                  <a:lnTo>
                    <a:pt x="562" y="379"/>
                  </a:lnTo>
                  <a:lnTo>
                    <a:pt x="514" y="676"/>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6506" name="Line 36"/>
            <p:cNvSpPr>
              <a:spLocks noChangeAspect="1"/>
            </p:cNvSpPr>
            <p:nvPr/>
          </p:nvSpPr>
          <p:spPr>
            <a:xfrm>
              <a:off x="984" y="2362"/>
              <a:ext cx="164" cy="0"/>
            </a:xfrm>
            <a:prstGeom prst="line">
              <a:avLst/>
            </a:prstGeom>
            <a:ln w="9525" cap="flat" cmpd="sng">
              <a:solidFill>
                <a:schemeClr val="tx1"/>
              </a:solidFill>
              <a:prstDash val="solid"/>
              <a:headEnd type="none" w="med" len="med"/>
              <a:tailEnd type="none" w="med" len="med"/>
            </a:ln>
          </p:spPr>
        </p:sp>
        <p:sp>
          <p:nvSpPr>
            <p:cNvPr id="16507" name="Line 37"/>
            <p:cNvSpPr>
              <a:spLocks noChangeAspect="1"/>
            </p:cNvSpPr>
            <p:nvPr/>
          </p:nvSpPr>
          <p:spPr>
            <a:xfrm>
              <a:off x="984" y="2397"/>
              <a:ext cx="164" cy="0"/>
            </a:xfrm>
            <a:prstGeom prst="line">
              <a:avLst/>
            </a:prstGeom>
            <a:ln w="9525" cap="flat" cmpd="sng">
              <a:solidFill>
                <a:schemeClr val="tx1"/>
              </a:solidFill>
              <a:prstDash val="solid"/>
              <a:headEnd type="none" w="med" len="med"/>
              <a:tailEnd type="none" w="med" len="med"/>
            </a:ln>
          </p:spPr>
        </p:sp>
        <p:sp>
          <p:nvSpPr>
            <p:cNvPr id="16508" name="Line 38"/>
            <p:cNvSpPr>
              <a:spLocks noChangeAspect="1"/>
            </p:cNvSpPr>
            <p:nvPr/>
          </p:nvSpPr>
          <p:spPr>
            <a:xfrm>
              <a:off x="984" y="2432"/>
              <a:ext cx="164" cy="0"/>
            </a:xfrm>
            <a:prstGeom prst="line">
              <a:avLst/>
            </a:prstGeom>
            <a:ln w="9525" cap="flat" cmpd="sng">
              <a:solidFill>
                <a:schemeClr val="tx1"/>
              </a:solidFill>
              <a:prstDash val="solid"/>
              <a:headEnd type="none" w="med" len="med"/>
              <a:tailEnd type="none" w="med" len="med"/>
            </a:ln>
          </p:spPr>
        </p:sp>
        <p:sp>
          <p:nvSpPr>
            <p:cNvPr id="16509" name="Line 39"/>
            <p:cNvSpPr>
              <a:spLocks noChangeAspect="1"/>
            </p:cNvSpPr>
            <p:nvPr/>
          </p:nvSpPr>
          <p:spPr>
            <a:xfrm>
              <a:off x="984" y="2467"/>
              <a:ext cx="164" cy="0"/>
            </a:xfrm>
            <a:prstGeom prst="line">
              <a:avLst/>
            </a:prstGeom>
            <a:ln w="9525" cap="flat" cmpd="sng">
              <a:solidFill>
                <a:schemeClr val="tx1"/>
              </a:solidFill>
              <a:prstDash val="solid"/>
              <a:headEnd type="none" w="med" len="med"/>
              <a:tailEnd type="none" w="med" len="med"/>
            </a:ln>
          </p:spPr>
        </p:sp>
      </p:grpSp>
      <p:grpSp>
        <p:nvGrpSpPr>
          <p:cNvPr id="16394" name="Group 40"/>
          <p:cNvGrpSpPr>
            <a:grpSpLocks noChangeAspect="1"/>
          </p:cNvGrpSpPr>
          <p:nvPr/>
        </p:nvGrpSpPr>
        <p:grpSpPr>
          <a:xfrm>
            <a:off x="1651000" y="3138488"/>
            <a:ext cx="373063" cy="746125"/>
            <a:chOff x="5070" y="1110"/>
            <a:chExt cx="251" cy="501"/>
          </a:xfrm>
        </p:grpSpPr>
        <p:sp>
          <p:nvSpPr>
            <p:cNvPr id="16500" name="Freeform 41"/>
            <p:cNvSpPr>
              <a:spLocks noChangeAspect="1"/>
            </p:cNvSpPr>
            <p:nvPr/>
          </p:nvSpPr>
          <p:spPr>
            <a:xfrm>
              <a:off x="5070" y="1209"/>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501" name="Oval 42"/>
            <p:cNvSpPr>
              <a:spLocks noChangeAspect="1"/>
            </p:cNvSpPr>
            <p:nvPr/>
          </p:nvSpPr>
          <p:spPr>
            <a:xfrm>
              <a:off x="5145" y="1110"/>
              <a:ext cx="100" cy="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16395" name="Group 43"/>
          <p:cNvGrpSpPr>
            <a:grpSpLocks noChangeAspect="1"/>
          </p:cNvGrpSpPr>
          <p:nvPr/>
        </p:nvGrpSpPr>
        <p:grpSpPr>
          <a:xfrm>
            <a:off x="5294313" y="2749550"/>
            <a:ext cx="258762" cy="422275"/>
            <a:chOff x="2625" y="1853"/>
            <a:chExt cx="682" cy="1117"/>
          </a:xfrm>
        </p:grpSpPr>
        <p:sp>
          <p:nvSpPr>
            <p:cNvPr id="16483" name="AutoShape 44"/>
            <p:cNvSpPr>
              <a:spLocks noChangeAspect="1"/>
            </p:cNvSpPr>
            <p:nvPr/>
          </p:nvSpPr>
          <p:spPr>
            <a:xfrm rot="5400000">
              <a:off x="2407" y="2070"/>
              <a:ext cx="1117" cy="682"/>
            </a:xfrm>
            <a:prstGeom prst="parallelogram">
              <a:avLst>
                <a:gd name="adj" fmla="val 22572"/>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84" name="AutoShape 45"/>
            <p:cNvSpPr>
              <a:spLocks noChangeAspect="1"/>
            </p:cNvSpPr>
            <p:nvPr/>
          </p:nvSpPr>
          <p:spPr>
            <a:xfrm rot="5400000">
              <a:off x="2452" y="2111"/>
              <a:ext cx="1028" cy="608"/>
            </a:xfrm>
            <a:prstGeom prst="parallelogram">
              <a:avLst>
                <a:gd name="adj" fmla="val 22364"/>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85" name="AutoShape 46"/>
            <p:cNvSpPr>
              <a:spLocks noChangeAspect="1"/>
            </p:cNvSpPr>
            <p:nvPr/>
          </p:nvSpPr>
          <p:spPr>
            <a:xfrm rot="5400000">
              <a:off x="2478" y="2142"/>
              <a:ext cx="958" cy="552"/>
            </a:xfrm>
            <a:prstGeom prst="parallelogram">
              <a:avLst>
                <a:gd name="adj" fmla="val 22641"/>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86" name="Line 47"/>
            <p:cNvSpPr>
              <a:spLocks noChangeAspect="1"/>
            </p:cNvSpPr>
            <p:nvPr/>
          </p:nvSpPr>
          <p:spPr>
            <a:xfrm flipH="1" flipV="1">
              <a:off x="2663" y="1901"/>
              <a:ext cx="18" cy="37"/>
            </a:xfrm>
            <a:prstGeom prst="line">
              <a:avLst/>
            </a:prstGeom>
            <a:ln w="3175" cap="flat" cmpd="sng">
              <a:solidFill>
                <a:schemeClr val="tx1"/>
              </a:solidFill>
              <a:prstDash val="solid"/>
              <a:headEnd type="none" w="med" len="med"/>
              <a:tailEnd type="none" w="med" len="med"/>
            </a:ln>
          </p:spPr>
        </p:sp>
        <p:sp>
          <p:nvSpPr>
            <p:cNvPr id="16487" name="Line 48"/>
            <p:cNvSpPr>
              <a:spLocks noChangeAspect="1"/>
            </p:cNvSpPr>
            <p:nvPr/>
          </p:nvSpPr>
          <p:spPr>
            <a:xfrm flipH="1">
              <a:off x="3233" y="2035"/>
              <a:ext cx="36" cy="29"/>
            </a:xfrm>
            <a:prstGeom prst="line">
              <a:avLst/>
            </a:prstGeom>
            <a:ln w="3175" cap="flat" cmpd="sng">
              <a:solidFill>
                <a:schemeClr val="tx1"/>
              </a:solidFill>
              <a:prstDash val="solid"/>
              <a:headEnd type="none" w="med" len="med"/>
              <a:tailEnd type="none" w="med" len="med"/>
            </a:ln>
          </p:spPr>
        </p:sp>
        <p:sp>
          <p:nvSpPr>
            <p:cNvPr id="16488" name="Line 49"/>
            <p:cNvSpPr>
              <a:spLocks noChangeAspect="1"/>
            </p:cNvSpPr>
            <p:nvPr/>
          </p:nvSpPr>
          <p:spPr>
            <a:xfrm flipH="1" flipV="1">
              <a:off x="3233" y="2897"/>
              <a:ext cx="35" cy="30"/>
            </a:xfrm>
            <a:prstGeom prst="line">
              <a:avLst/>
            </a:prstGeom>
            <a:ln w="3175" cap="flat" cmpd="sng">
              <a:solidFill>
                <a:schemeClr val="tx1"/>
              </a:solidFill>
              <a:prstDash val="solid"/>
              <a:headEnd type="none" w="med" len="med"/>
              <a:tailEnd type="none" w="med" len="med"/>
            </a:ln>
          </p:spPr>
        </p:sp>
        <p:sp>
          <p:nvSpPr>
            <p:cNvPr id="16489" name="Line 50"/>
            <p:cNvSpPr>
              <a:spLocks noChangeAspect="1"/>
            </p:cNvSpPr>
            <p:nvPr/>
          </p:nvSpPr>
          <p:spPr>
            <a:xfrm flipH="1">
              <a:off x="2661" y="2773"/>
              <a:ext cx="19" cy="20"/>
            </a:xfrm>
            <a:prstGeom prst="line">
              <a:avLst/>
            </a:prstGeom>
            <a:ln w="3175" cap="flat" cmpd="sng">
              <a:solidFill>
                <a:schemeClr val="tx1"/>
              </a:solidFill>
              <a:prstDash val="solid"/>
              <a:headEnd type="none" w="med" len="med"/>
              <a:tailEnd type="none" w="med" len="med"/>
            </a:ln>
          </p:spPr>
        </p:sp>
        <p:sp>
          <p:nvSpPr>
            <p:cNvPr id="16490" name="Oval 51"/>
            <p:cNvSpPr>
              <a:spLocks noChangeAspect="1"/>
            </p:cNvSpPr>
            <p:nvPr/>
          </p:nvSpPr>
          <p:spPr>
            <a:xfrm rot="-2112466">
              <a:off x="2917" y="2086"/>
              <a:ext cx="72" cy="89"/>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91" name="Line 52"/>
            <p:cNvSpPr>
              <a:spLocks noChangeAspect="1"/>
            </p:cNvSpPr>
            <p:nvPr/>
          </p:nvSpPr>
          <p:spPr>
            <a:xfrm flipV="1">
              <a:off x="2916" y="2115"/>
              <a:ext cx="71" cy="27"/>
            </a:xfrm>
            <a:prstGeom prst="line">
              <a:avLst/>
            </a:prstGeom>
            <a:ln w="3175" cap="flat" cmpd="sng">
              <a:solidFill>
                <a:schemeClr val="tx1"/>
              </a:solidFill>
              <a:prstDash val="solid"/>
              <a:headEnd type="none" w="med" len="med"/>
              <a:tailEnd type="none" w="med" len="med"/>
            </a:ln>
          </p:spPr>
        </p:sp>
        <p:sp>
          <p:nvSpPr>
            <p:cNvPr id="16492" name="Oval 53"/>
            <p:cNvSpPr>
              <a:spLocks noChangeAspect="1"/>
            </p:cNvSpPr>
            <p:nvPr/>
          </p:nvSpPr>
          <p:spPr>
            <a:xfrm rot="-2112466">
              <a:off x="2917" y="2654"/>
              <a:ext cx="72" cy="89"/>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93" name="Line 54"/>
            <p:cNvSpPr>
              <a:spLocks noChangeAspect="1"/>
            </p:cNvSpPr>
            <p:nvPr/>
          </p:nvSpPr>
          <p:spPr>
            <a:xfrm>
              <a:off x="2927" y="2660"/>
              <a:ext cx="53" cy="74"/>
            </a:xfrm>
            <a:prstGeom prst="line">
              <a:avLst/>
            </a:prstGeom>
            <a:ln w="3175" cap="flat" cmpd="sng">
              <a:solidFill>
                <a:schemeClr val="tx1"/>
              </a:solidFill>
              <a:prstDash val="solid"/>
              <a:headEnd type="none" w="med" len="med"/>
              <a:tailEnd type="none" w="med" len="med"/>
            </a:ln>
          </p:spPr>
        </p:sp>
        <p:sp>
          <p:nvSpPr>
            <p:cNvPr id="16494" name="AutoShape 55"/>
            <p:cNvSpPr>
              <a:spLocks noChangeAspect="1"/>
            </p:cNvSpPr>
            <p:nvPr/>
          </p:nvSpPr>
          <p:spPr>
            <a:xfrm rot="5400000">
              <a:off x="2798" y="2343"/>
              <a:ext cx="326" cy="130"/>
            </a:xfrm>
            <a:prstGeom prst="parallelogram">
              <a:avLst>
                <a:gd name="adj" fmla="val 26145"/>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95" name="Freeform 56"/>
            <p:cNvSpPr>
              <a:spLocks noChangeAspect="1"/>
            </p:cNvSpPr>
            <p:nvPr/>
          </p:nvSpPr>
          <p:spPr>
            <a:xfrm>
              <a:off x="2758" y="2253"/>
              <a:ext cx="147" cy="315"/>
            </a:xfrm>
            <a:custGeom>
              <a:avLst/>
              <a:gdLst>
                <a:gd name="txL" fmla="*/ 0 w 147"/>
                <a:gd name="txT" fmla="*/ 0 h 315"/>
                <a:gd name="txR" fmla="*/ 147 w 147"/>
                <a:gd name="txB" fmla="*/ 315 h 315"/>
              </a:gdLst>
              <a:ahLst/>
              <a:cxnLst>
                <a:cxn ang="0">
                  <a:pos x="145" y="291"/>
                </a:cxn>
                <a:cxn ang="0">
                  <a:pos x="130" y="252"/>
                </a:cxn>
                <a:cxn ang="0">
                  <a:pos x="28" y="315"/>
                </a:cxn>
                <a:cxn ang="0">
                  <a:pos x="0" y="230"/>
                </a:cxn>
                <a:cxn ang="0">
                  <a:pos x="100" y="146"/>
                </a:cxn>
                <a:cxn ang="0">
                  <a:pos x="94" y="78"/>
                </a:cxn>
                <a:cxn ang="0">
                  <a:pos x="147" y="0"/>
                </a:cxn>
              </a:cxnLst>
              <a:rect l="txL" t="txT" r="txR" b="txB"/>
              <a:pathLst>
                <a:path w="147" h="315">
                  <a:moveTo>
                    <a:pt x="145" y="291"/>
                  </a:moveTo>
                  <a:lnTo>
                    <a:pt x="130" y="252"/>
                  </a:lnTo>
                  <a:lnTo>
                    <a:pt x="28" y="315"/>
                  </a:lnTo>
                  <a:lnTo>
                    <a:pt x="0" y="230"/>
                  </a:lnTo>
                  <a:lnTo>
                    <a:pt x="100" y="146"/>
                  </a:lnTo>
                  <a:lnTo>
                    <a:pt x="94" y="78"/>
                  </a:lnTo>
                  <a:lnTo>
                    <a:pt x="147" y="0"/>
                  </a:lnTo>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96" name="Freeform 57"/>
            <p:cNvSpPr>
              <a:spLocks noChangeAspect="1"/>
            </p:cNvSpPr>
            <p:nvPr/>
          </p:nvSpPr>
          <p:spPr>
            <a:xfrm>
              <a:off x="2879" y="2280"/>
              <a:ext cx="147" cy="315"/>
            </a:xfrm>
            <a:custGeom>
              <a:avLst/>
              <a:gdLst>
                <a:gd name="txL" fmla="*/ 0 w 147"/>
                <a:gd name="txT" fmla="*/ 0 h 315"/>
                <a:gd name="txR" fmla="*/ 147 w 147"/>
                <a:gd name="txB" fmla="*/ 315 h 315"/>
              </a:gdLst>
              <a:ahLst/>
              <a:cxnLst>
                <a:cxn ang="0">
                  <a:pos x="145" y="291"/>
                </a:cxn>
                <a:cxn ang="0">
                  <a:pos x="130" y="252"/>
                </a:cxn>
                <a:cxn ang="0">
                  <a:pos x="28" y="315"/>
                </a:cxn>
                <a:cxn ang="0">
                  <a:pos x="0" y="230"/>
                </a:cxn>
                <a:cxn ang="0">
                  <a:pos x="100" y="146"/>
                </a:cxn>
                <a:cxn ang="0">
                  <a:pos x="94" y="78"/>
                </a:cxn>
                <a:cxn ang="0">
                  <a:pos x="147" y="0"/>
                </a:cxn>
              </a:cxnLst>
              <a:rect l="txL" t="txT" r="txR" b="txB"/>
              <a:pathLst>
                <a:path w="147" h="315">
                  <a:moveTo>
                    <a:pt x="145" y="291"/>
                  </a:moveTo>
                  <a:lnTo>
                    <a:pt x="130" y="252"/>
                  </a:lnTo>
                  <a:lnTo>
                    <a:pt x="28" y="315"/>
                  </a:lnTo>
                  <a:lnTo>
                    <a:pt x="0" y="230"/>
                  </a:lnTo>
                  <a:lnTo>
                    <a:pt x="100" y="146"/>
                  </a:lnTo>
                  <a:lnTo>
                    <a:pt x="94" y="78"/>
                  </a:lnTo>
                  <a:lnTo>
                    <a:pt x="147" y="0"/>
                  </a:lnTo>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16497" name="AutoShape 58"/>
            <p:cNvCxnSpPr>
              <a:cxnSpLocks noChangeAspect="1"/>
              <a:stCxn id="16495" idx="5"/>
              <a:endCxn id="16496" idx="5"/>
            </p:cNvCxnSpPr>
            <p:nvPr/>
          </p:nvCxnSpPr>
          <p:spPr>
            <a:xfrm>
              <a:off x="2852" y="2331"/>
              <a:ext cx="121" cy="27"/>
            </a:xfrm>
            <a:prstGeom prst="straightConnector1">
              <a:avLst/>
            </a:prstGeom>
            <a:ln w="3175" cap="flat" cmpd="sng">
              <a:solidFill>
                <a:schemeClr val="tx1"/>
              </a:solidFill>
              <a:prstDash val="solid"/>
              <a:headEnd type="none" w="med" len="med"/>
              <a:tailEnd type="none" w="med" len="med"/>
            </a:ln>
          </p:spPr>
        </p:cxnSp>
        <p:cxnSp>
          <p:nvCxnSpPr>
            <p:cNvPr id="16498" name="AutoShape 59"/>
            <p:cNvCxnSpPr>
              <a:cxnSpLocks noChangeAspect="1"/>
              <a:stCxn id="16495" idx="4"/>
              <a:endCxn id="16496" idx="4"/>
            </p:cNvCxnSpPr>
            <p:nvPr/>
          </p:nvCxnSpPr>
          <p:spPr>
            <a:xfrm>
              <a:off x="2858" y="2399"/>
              <a:ext cx="121" cy="27"/>
            </a:xfrm>
            <a:prstGeom prst="straightConnector1">
              <a:avLst/>
            </a:prstGeom>
            <a:ln w="3175" cap="flat" cmpd="sng">
              <a:solidFill>
                <a:schemeClr val="tx1"/>
              </a:solidFill>
              <a:prstDash val="solid"/>
              <a:headEnd type="none" w="med" len="med"/>
              <a:tailEnd type="none" w="med" len="med"/>
            </a:ln>
          </p:spPr>
        </p:cxnSp>
        <p:sp>
          <p:nvSpPr>
            <p:cNvPr id="16499" name="Freeform 60"/>
            <p:cNvSpPr>
              <a:spLocks noChangeAspect="1"/>
            </p:cNvSpPr>
            <p:nvPr/>
          </p:nvSpPr>
          <p:spPr>
            <a:xfrm>
              <a:off x="2757" y="2484"/>
              <a:ext cx="150" cy="113"/>
            </a:xfrm>
            <a:custGeom>
              <a:avLst/>
              <a:gdLst>
                <a:gd name="txL" fmla="*/ 0 w 150"/>
                <a:gd name="txT" fmla="*/ 0 h 113"/>
                <a:gd name="txR" fmla="*/ 150 w 150"/>
                <a:gd name="txB" fmla="*/ 113 h 113"/>
              </a:gdLst>
              <a:ahLst/>
              <a:cxnLst>
                <a:cxn ang="0">
                  <a:pos x="0" y="0"/>
                </a:cxn>
                <a:cxn ang="0">
                  <a:pos x="122" y="26"/>
                </a:cxn>
                <a:cxn ang="0">
                  <a:pos x="150" y="113"/>
                </a:cxn>
                <a:cxn ang="0">
                  <a:pos x="29" y="86"/>
                </a:cxn>
                <a:cxn ang="0">
                  <a:pos x="0" y="0"/>
                </a:cxn>
              </a:cxnLst>
              <a:rect l="txL" t="txT" r="txR" b="txB"/>
              <a:pathLst>
                <a:path w="150" h="113">
                  <a:moveTo>
                    <a:pt x="0" y="0"/>
                  </a:moveTo>
                  <a:lnTo>
                    <a:pt x="122" y="26"/>
                  </a:lnTo>
                  <a:lnTo>
                    <a:pt x="150" y="113"/>
                  </a:lnTo>
                  <a:lnTo>
                    <a:pt x="29" y="86"/>
                  </a:lnTo>
                  <a:lnTo>
                    <a:pt x="0" y="0"/>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grpSp>
      <p:pic>
        <p:nvPicPr>
          <p:cNvPr id="16396" name="Picture 61"/>
          <p:cNvPicPr>
            <a:picLocks noChangeAspect="1"/>
          </p:cNvPicPr>
          <p:nvPr/>
        </p:nvPicPr>
        <p:blipFill>
          <a:blip r:embed="rId1"/>
          <a:stretch>
            <a:fillRect/>
          </a:stretch>
        </p:blipFill>
        <p:spPr>
          <a:xfrm flipH="1">
            <a:off x="6683375" y="2824163"/>
            <a:ext cx="760413" cy="1377950"/>
          </a:xfrm>
          <a:prstGeom prst="rect">
            <a:avLst/>
          </a:prstGeom>
          <a:noFill/>
          <a:ln w="9525">
            <a:noFill/>
          </a:ln>
        </p:spPr>
      </p:pic>
      <p:grpSp>
        <p:nvGrpSpPr>
          <p:cNvPr id="16397" name="Group 62"/>
          <p:cNvGrpSpPr>
            <a:grpSpLocks noChangeAspect="1"/>
          </p:cNvGrpSpPr>
          <p:nvPr/>
        </p:nvGrpSpPr>
        <p:grpSpPr>
          <a:xfrm>
            <a:off x="2724150" y="2625725"/>
            <a:ext cx="577850" cy="471488"/>
            <a:chOff x="4432" y="2356"/>
            <a:chExt cx="844" cy="685"/>
          </a:xfrm>
        </p:grpSpPr>
        <p:sp>
          <p:nvSpPr>
            <p:cNvPr id="16476" name="AutoShape 63"/>
            <p:cNvSpPr>
              <a:spLocks noChangeAspect="1"/>
            </p:cNvSpPr>
            <p:nvPr/>
          </p:nvSpPr>
          <p:spPr>
            <a:xfrm>
              <a:off x="4432" y="2740"/>
              <a:ext cx="678" cy="301"/>
            </a:xfrm>
            <a:prstGeom prst="sun">
              <a:avLst>
                <a:gd name="adj" fmla="val 25000"/>
              </a:avLst>
            </a:prstGeom>
            <a:solidFill>
              <a:schemeClr val="bg1"/>
            </a:solidFill>
            <a:ln w="6350"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77" name="Line 64"/>
            <p:cNvSpPr>
              <a:spLocks noChangeAspect="1"/>
            </p:cNvSpPr>
            <p:nvPr/>
          </p:nvSpPr>
          <p:spPr>
            <a:xfrm>
              <a:off x="4448" y="2623"/>
              <a:ext cx="242" cy="242"/>
            </a:xfrm>
            <a:prstGeom prst="line">
              <a:avLst/>
            </a:prstGeom>
            <a:ln w="3175" cap="flat" cmpd="sng">
              <a:solidFill>
                <a:schemeClr val="tx1"/>
              </a:solidFill>
              <a:prstDash val="solid"/>
              <a:headEnd type="none" w="med" len="med"/>
              <a:tailEnd type="none" w="sm" len="lg"/>
            </a:ln>
          </p:spPr>
        </p:sp>
        <p:sp>
          <p:nvSpPr>
            <p:cNvPr id="16478" name="Line 65"/>
            <p:cNvSpPr>
              <a:spLocks noChangeAspect="1"/>
            </p:cNvSpPr>
            <p:nvPr/>
          </p:nvSpPr>
          <p:spPr>
            <a:xfrm>
              <a:off x="4514" y="2555"/>
              <a:ext cx="242" cy="242"/>
            </a:xfrm>
            <a:prstGeom prst="line">
              <a:avLst/>
            </a:prstGeom>
            <a:ln w="3175" cap="flat" cmpd="sng">
              <a:solidFill>
                <a:schemeClr val="tx1"/>
              </a:solidFill>
              <a:prstDash val="solid"/>
              <a:headEnd type="none" w="med" len="med"/>
              <a:tailEnd type="none" w="sm" len="lg"/>
            </a:ln>
          </p:spPr>
        </p:sp>
        <p:sp>
          <p:nvSpPr>
            <p:cNvPr id="16479" name="Freeform 66"/>
            <p:cNvSpPr>
              <a:spLocks noChangeAspect="1"/>
            </p:cNvSpPr>
            <p:nvPr/>
          </p:nvSpPr>
          <p:spPr>
            <a:xfrm>
              <a:off x="4884" y="2376"/>
              <a:ext cx="372" cy="366"/>
            </a:xfrm>
            <a:custGeom>
              <a:avLst/>
              <a:gdLst>
                <a:gd name="txL" fmla="*/ 0 w 372"/>
                <a:gd name="txT" fmla="*/ 0 h 366"/>
                <a:gd name="txR" fmla="*/ 372 w 372"/>
                <a:gd name="txB" fmla="*/ 366 h 366"/>
              </a:gdLst>
              <a:ahLst/>
              <a:cxnLst>
                <a:cxn ang="0">
                  <a:pos x="0" y="366"/>
                </a:cxn>
                <a:cxn ang="0">
                  <a:pos x="78" y="257"/>
                </a:cxn>
                <a:cxn ang="0">
                  <a:pos x="241" y="282"/>
                </a:cxn>
                <a:cxn ang="0">
                  <a:pos x="92" y="91"/>
                </a:cxn>
                <a:cxn ang="0">
                  <a:pos x="275" y="169"/>
                </a:cxn>
                <a:cxn ang="0">
                  <a:pos x="203" y="62"/>
                </a:cxn>
                <a:cxn ang="0">
                  <a:pos x="311" y="74"/>
                </a:cxn>
                <a:cxn ang="0">
                  <a:pos x="372" y="0"/>
                </a:cxn>
              </a:cxnLst>
              <a:rect l="txL" t="txT" r="txR" b="txB"/>
              <a:pathLst>
                <a:path w="372" h="366">
                  <a:moveTo>
                    <a:pt x="0" y="366"/>
                  </a:moveTo>
                  <a:cubicBezTo>
                    <a:pt x="12" y="348"/>
                    <a:pt x="38" y="270"/>
                    <a:pt x="78" y="257"/>
                  </a:cubicBezTo>
                  <a:cubicBezTo>
                    <a:pt x="118" y="243"/>
                    <a:pt x="239" y="310"/>
                    <a:pt x="241" y="282"/>
                  </a:cubicBezTo>
                  <a:cubicBezTo>
                    <a:pt x="243" y="255"/>
                    <a:pt x="86" y="109"/>
                    <a:pt x="92" y="91"/>
                  </a:cubicBezTo>
                  <a:cubicBezTo>
                    <a:pt x="98" y="74"/>
                    <a:pt x="257" y="173"/>
                    <a:pt x="275" y="169"/>
                  </a:cubicBezTo>
                  <a:cubicBezTo>
                    <a:pt x="293" y="165"/>
                    <a:pt x="197" y="78"/>
                    <a:pt x="203" y="62"/>
                  </a:cubicBezTo>
                  <a:cubicBezTo>
                    <a:pt x="209" y="46"/>
                    <a:pt x="283" y="84"/>
                    <a:pt x="311" y="74"/>
                  </a:cubicBezTo>
                  <a:cubicBezTo>
                    <a:pt x="339" y="64"/>
                    <a:pt x="359" y="15"/>
                    <a:pt x="372" y="0"/>
                  </a:cubicBezTo>
                </a:path>
              </a:pathLst>
            </a:custGeom>
            <a:noFill/>
            <a:ln w="3175" cap="flat" cmpd="sng">
              <a:solidFill>
                <a:schemeClr val="tx1">
                  <a:alpha val="100000"/>
                </a:schemeClr>
              </a:solidFill>
              <a:prstDash val="solid"/>
              <a:round/>
              <a:headEnd type="none" w="med" len="med"/>
              <a:tailEnd type="none" w="sm" len="sm"/>
            </a:ln>
          </p:spPr>
          <p:txBody>
            <a:bodyPr/>
            <a:p>
              <a:endParaRPr lang="zh-CN" altLang="en-US"/>
            </a:p>
          </p:txBody>
        </p:sp>
        <p:sp>
          <p:nvSpPr>
            <p:cNvPr id="16480" name="AutoShape 67"/>
            <p:cNvSpPr>
              <a:spLocks noChangeAspect="1"/>
            </p:cNvSpPr>
            <p:nvPr/>
          </p:nvSpPr>
          <p:spPr>
            <a:xfrm rot="8040000">
              <a:off x="4758" y="2773"/>
              <a:ext cx="35" cy="84"/>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81" name="AutoShape 68"/>
            <p:cNvSpPr>
              <a:spLocks noChangeAspect="1"/>
            </p:cNvSpPr>
            <p:nvPr/>
          </p:nvSpPr>
          <p:spPr>
            <a:xfrm rot="1980000">
              <a:off x="5241" y="2356"/>
              <a:ext cx="35" cy="33"/>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82" name="AutoShape 69"/>
            <p:cNvSpPr>
              <a:spLocks noChangeAspect="1"/>
            </p:cNvSpPr>
            <p:nvPr/>
          </p:nvSpPr>
          <p:spPr>
            <a:xfrm rot="8040000">
              <a:off x="4690" y="2840"/>
              <a:ext cx="35" cy="84"/>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16398" name="Group 73"/>
          <p:cNvGrpSpPr>
            <a:grpSpLocks noChangeAspect="1"/>
          </p:cNvGrpSpPr>
          <p:nvPr/>
        </p:nvGrpSpPr>
        <p:grpSpPr>
          <a:xfrm>
            <a:off x="5464175" y="5246688"/>
            <a:ext cx="938213" cy="688975"/>
            <a:chOff x="2277" y="1709"/>
            <a:chExt cx="691" cy="506"/>
          </a:xfrm>
        </p:grpSpPr>
        <p:sp>
          <p:nvSpPr>
            <p:cNvPr id="16450" name="Freeform 74"/>
            <p:cNvSpPr>
              <a:spLocks noChangeAspect="1"/>
            </p:cNvSpPr>
            <p:nvPr/>
          </p:nvSpPr>
          <p:spPr>
            <a:xfrm>
              <a:off x="2840" y="2077"/>
              <a:ext cx="128" cy="46"/>
            </a:xfrm>
            <a:custGeom>
              <a:avLst/>
              <a:gdLst>
                <a:gd name="txL" fmla="*/ 0 w 319"/>
                <a:gd name="txT" fmla="*/ 0 h 114"/>
                <a:gd name="txR" fmla="*/ 319 w 319"/>
                <a:gd name="txB" fmla="*/ 114 h 114"/>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319" h="114">
                  <a:moveTo>
                    <a:pt x="14" y="71"/>
                  </a:moveTo>
                  <a:cubicBezTo>
                    <a:pt x="27" y="55"/>
                    <a:pt x="67" y="21"/>
                    <a:pt x="102" y="11"/>
                  </a:cubicBezTo>
                  <a:cubicBezTo>
                    <a:pt x="137" y="1"/>
                    <a:pt x="188" y="0"/>
                    <a:pt x="222" y="8"/>
                  </a:cubicBezTo>
                  <a:cubicBezTo>
                    <a:pt x="256" y="16"/>
                    <a:pt x="297" y="46"/>
                    <a:pt x="308" y="62"/>
                  </a:cubicBezTo>
                  <a:cubicBezTo>
                    <a:pt x="319" y="78"/>
                    <a:pt x="313" y="100"/>
                    <a:pt x="290" y="107"/>
                  </a:cubicBezTo>
                  <a:cubicBezTo>
                    <a:pt x="267" y="114"/>
                    <a:pt x="211" y="106"/>
                    <a:pt x="167" y="106"/>
                  </a:cubicBezTo>
                  <a:cubicBezTo>
                    <a:pt x="123" y="106"/>
                    <a:pt x="52" y="112"/>
                    <a:pt x="26" y="107"/>
                  </a:cubicBezTo>
                  <a:cubicBezTo>
                    <a:pt x="0" y="102"/>
                    <a:pt x="1" y="87"/>
                    <a:pt x="14" y="71"/>
                  </a:cubicBezTo>
                  <a:close/>
                </a:path>
              </a:pathLst>
            </a:custGeom>
            <a:solidFill>
              <a:schemeClr val="folHlink">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51" name="Freeform 75"/>
            <p:cNvSpPr>
              <a:spLocks noChangeAspect="1"/>
            </p:cNvSpPr>
            <p:nvPr/>
          </p:nvSpPr>
          <p:spPr>
            <a:xfrm>
              <a:off x="2842" y="2091"/>
              <a:ext cx="120" cy="31"/>
            </a:xfrm>
            <a:custGeom>
              <a:avLst/>
              <a:gdLst>
                <a:gd name="txL" fmla="*/ 0 w 301"/>
                <a:gd name="txT" fmla="*/ 0 h 77"/>
                <a:gd name="txR" fmla="*/ 301 w 301"/>
                <a:gd name="txB" fmla="*/ 77 h 7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01" h="77">
                  <a:moveTo>
                    <a:pt x="8" y="45"/>
                  </a:moveTo>
                  <a:cubicBezTo>
                    <a:pt x="20" y="34"/>
                    <a:pt x="62" y="12"/>
                    <a:pt x="92" y="6"/>
                  </a:cubicBezTo>
                  <a:cubicBezTo>
                    <a:pt x="122" y="0"/>
                    <a:pt x="161" y="4"/>
                    <a:pt x="191" y="10"/>
                  </a:cubicBezTo>
                  <a:cubicBezTo>
                    <a:pt x="221" y="16"/>
                    <a:pt x="255" y="41"/>
                    <a:pt x="271" y="43"/>
                  </a:cubicBezTo>
                  <a:cubicBezTo>
                    <a:pt x="287" y="45"/>
                    <a:pt x="285" y="25"/>
                    <a:pt x="290" y="25"/>
                  </a:cubicBezTo>
                  <a:cubicBezTo>
                    <a:pt x="295" y="25"/>
                    <a:pt x="301" y="35"/>
                    <a:pt x="299" y="43"/>
                  </a:cubicBezTo>
                  <a:cubicBezTo>
                    <a:pt x="297" y="51"/>
                    <a:pt x="299" y="67"/>
                    <a:pt x="275" y="72"/>
                  </a:cubicBezTo>
                  <a:cubicBezTo>
                    <a:pt x="251" y="77"/>
                    <a:pt x="181" y="75"/>
                    <a:pt x="154" y="73"/>
                  </a:cubicBezTo>
                  <a:cubicBezTo>
                    <a:pt x="127" y="71"/>
                    <a:pt x="136" y="62"/>
                    <a:pt x="113" y="61"/>
                  </a:cubicBezTo>
                  <a:cubicBezTo>
                    <a:pt x="90" y="60"/>
                    <a:pt x="34" y="70"/>
                    <a:pt x="17" y="67"/>
                  </a:cubicBezTo>
                  <a:cubicBezTo>
                    <a:pt x="0" y="64"/>
                    <a:pt x="10" y="50"/>
                    <a:pt x="8" y="45"/>
                  </a:cubicBez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52" name="Freeform 76"/>
            <p:cNvSpPr>
              <a:spLocks noChangeAspect="1"/>
            </p:cNvSpPr>
            <p:nvPr/>
          </p:nvSpPr>
          <p:spPr>
            <a:xfrm>
              <a:off x="2310" y="2056"/>
              <a:ext cx="287" cy="75"/>
            </a:xfrm>
            <a:custGeom>
              <a:avLst/>
              <a:gdLst>
                <a:gd name="txL" fmla="*/ 0 w 717"/>
                <a:gd name="txT" fmla="*/ 0 h 187"/>
                <a:gd name="txR" fmla="*/ 717 w 717"/>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17" h="187">
                  <a:moveTo>
                    <a:pt x="180" y="21"/>
                  </a:moveTo>
                  <a:lnTo>
                    <a:pt x="196" y="52"/>
                  </a:lnTo>
                  <a:lnTo>
                    <a:pt x="100" y="58"/>
                  </a:lnTo>
                  <a:lnTo>
                    <a:pt x="1" y="90"/>
                  </a:lnTo>
                  <a:lnTo>
                    <a:pt x="0" y="124"/>
                  </a:lnTo>
                  <a:lnTo>
                    <a:pt x="111" y="121"/>
                  </a:lnTo>
                  <a:lnTo>
                    <a:pt x="109" y="144"/>
                  </a:lnTo>
                  <a:lnTo>
                    <a:pt x="159" y="178"/>
                  </a:lnTo>
                  <a:lnTo>
                    <a:pt x="202" y="187"/>
                  </a:lnTo>
                  <a:lnTo>
                    <a:pt x="343" y="147"/>
                  </a:lnTo>
                  <a:lnTo>
                    <a:pt x="484" y="121"/>
                  </a:lnTo>
                  <a:lnTo>
                    <a:pt x="618" y="117"/>
                  </a:lnTo>
                  <a:lnTo>
                    <a:pt x="717" y="123"/>
                  </a:lnTo>
                  <a:lnTo>
                    <a:pt x="714" y="79"/>
                  </a:lnTo>
                  <a:lnTo>
                    <a:pt x="606" y="39"/>
                  </a:lnTo>
                  <a:lnTo>
                    <a:pt x="499" y="28"/>
                  </a:lnTo>
                  <a:lnTo>
                    <a:pt x="531" y="0"/>
                  </a:lnTo>
                  <a:lnTo>
                    <a:pt x="334" y="18"/>
                  </a:lnTo>
                  <a:lnTo>
                    <a:pt x="180" y="21"/>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53" name="Freeform 77"/>
            <p:cNvSpPr>
              <a:spLocks noChangeAspect="1"/>
            </p:cNvSpPr>
            <p:nvPr/>
          </p:nvSpPr>
          <p:spPr>
            <a:xfrm>
              <a:off x="2355" y="2084"/>
              <a:ext cx="234" cy="39"/>
            </a:xfrm>
            <a:custGeom>
              <a:avLst/>
              <a:gdLst>
                <a:gd name="txL" fmla="*/ 0 w 584"/>
                <a:gd name="txT" fmla="*/ 0 h 98"/>
                <a:gd name="txR" fmla="*/ 584 w 584"/>
                <a:gd name="txB" fmla="*/ 98 h 98"/>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584" h="98">
                  <a:moveTo>
                    <a:pt x="0" y="11"/>
                  </a:moveTo>
                  <a:lnTo>
                    <a:pt x="26" y="29"/>
                  </a:lnTo>
                  <a:lnTo>
                    <a:pt x="21" y="57"/>
                  </a:lnTo>
                  <a:lnTo>
                    <a:pt x="60" y="72"/>
                  </a:lnTo>
                  <a:lnTo>
                    <a:pt x="92" y="98"/>
                  </a:lnTo>
                  <a:lnTo>
                    <a:pt x="221" y="33"/>
                  </a:lnTo>
                  <a:lnTo>
                    <a:pt x="395" y="0"/>
                  </a:lnTo>
                  <a:lnTo>
                    <a:pt x="584" y="11"/>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454" name="Freeform 78"/>
            <p:cNvSpPr>
              <a:spLocks noChangeAspect="1"/>
            </p:cNvSpPr>
            <p:nvPr/>
          </p:nvSpPr>
          <p:spPr>
            <a:xfrm>
              <a:off x="2335" y="2130"/>
              <a:ext cx="534" cy="85"/>
            </a:xfrm>
            <a:custGeom>
              <a:avLst/>
              <a:gdLst>
                <a:gd name="txL" fmla="*/ 0 w 1334"/>
                <a:gd name="txT" fmla="*/ 0 h 213"/>
                <a:gd name="txR" fmla="*/ 1334 w 1334"/>
                <a:gd name="txB" fmla="*/ 213 h 213"/>
              </a:gdLst>
              <a:ahLst/>
              <a:cxnLst>
                <a:cxn ang="0">
                  <a:pos x="0" y="0"/>
                </a:cxn>
                <a:cxn ang="0">
                  <a:pos x="0" y="0"/>
                </a:cxn>
                <a:cxn ang="0">
                  <a:pos x="0" y="0"/>
                </a:cxn>
                <a:cxn ang="0">
                  <a:pos x="0" y="0"/>
                </a:cxn>
                <a:cxn ang="0">
                  <a:pos x="0" y="0"/>
                </a:cxn>
                <a:cxn ang="0">
                  <a:pos x="0" y="0"/>
                </a:cxn>
                <a:cxn ang="0">
                  <a:pos x="0" y="0"/>
                </a:cxn>
              </a:cxnLst>
              <a:rect l="txL" t="txT" r="txR" b="txB"/>
              <a:pathLst>
                <a:path w="1334" h="213">
                  <a:moveTo>
                    <a:pt x="6" y="24"/>
                  </a:moveTo>
                  <a:lnTo>
                    <a:pt x="0" y="63"/>
                  </a:lnTo>
                  <a:lnTo>
                    <a:pt x="117" y="213"/>
                  </a:lnTo>
                  <a:lnTo>
                    <a:pt x="1334" y="39"/>
                  </a:lnTo>
                  <a:lnTo>
                    <a:pt x="1334" y="0"/>
                  </a:lnTo>
                  <a:lnTo>
                    <a:pt x="125" y="164"/>
                  </a:lnTo>
                  <a:lnTo>
                    <a:pt x="6" y="24"/>
                  </a:lnTo>
                  <a:close/>
                </a:path>
              </a:pathLst>
            </a:custGeom>
            <a:solidFill>
              <a:schemeClr val="bg2">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55" name="Freeform 79"/>
            <p:cNvSpPr>
              <a:spLocks noChangeAspect="1"/>
            </p:cNvSpPr>
            <p:nvPr/>
          </p:nvSpPr>
          <p:spPr>
            <a:xfrm>
              <a:off x="2337" y="2091"/>
              <a:ext cx="531" cy="104"/>
            </a:xfrm>
            <a:custGeom>
              <a:avLst/>
              <a:gdLst>
                <a:gd name="txL" fmla="*/ 0 w 1325"/>
                <a:gd name="txT" fmla="*/ 0 h 261"/>
                <a:gd name="txR" fmla="*/ 1325 w 1325"/>
                <a:gd name="txB" fmla="*/ 261 h 261"/>
              </a:gdLst>
              <a:ahLst/>
              <a:cxnLst>
                <a:cxn ang="0">
                  <a:pos x="0" y="0"/>
                </a:cxn>
                <a:cxn ang="0">
                  <a:pos x="0" y="0"/>
                </a:cxn>
                <a:cxn ang="0">
                  <a:pos x="0" y="0"/>
                </a:cxn>
                <a:cxn ang="0">
                  <a:pos x="0" y="0"/>
                </a:cxn>
                <a:cxn ang="0">
                  <a:pos x="0" y="0"/>
                </a:cxn>
              </a:cxnLst>
              <a:rect l="txL" t="txT" r="txR" b="txB"/>
              <a:pathLst>
                <a:path w="1325" h="261">
                  <a:moveTo>
                    <a:pt x="0" y="121"/>
                  </a:moveTo>
                  <a:lnTo>
                    <a:pt x="1085" y="0"/>
                  </a:lnTo>
                  <a:lnTo>
                    <a:pt x="1325" y="97"/>
                  </a:lnTo>
                  <a:lnTo>
                    <a:pt x="119" y="261"/>
                  </a:lnTo>
                  <a:lnTo>
                    <a:pt x="0" y="121"/>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56" name="Line 80"/>
            <p:cNvSpPr>
              <a:spLocks noChangeAspect="1"/>
            </p:cNvSpPr>
            <p:nvPr/>
          </p:nvSpPr>
          <p:spPr>
            <a:xfrm flipV="1">
              <a:off x="2392" y="2122"/>
              <a:ext cx="424" cy="52"/>
            </a:xfrm>
            <a:prstGeom prst="line">
              <a:avLst/>
            </a:prstGeom>
            <a:ln w="9525" cap="flat" cmpd="sng">
              <a:solidFill>
                <a:schemeClr val="tx1"/>
              </a:solidFill>
              <a:prstDash val="solid"/>
              <a:headEnd type="none" w="med" len="med"/>
              <a:tailEnd type="none" w="med" len="med"/>
            </a:ln>
          </p:spPr>
        </p:sp>
        <p:sp>
          <p:nvSpPr>
            <p:cNvPr id="16457" name="Freeform 81"/>
            <p:cNvSpPr>
              <a:spLocks noChangeAspect="1"/>
            </p:cNvSpPr>
            <p:nvPr/>
          </p:nvSpPr>
          <p:spPr>
            <a:xfrm>
              <a:off x="2383" y="2112"/>
              <a:ext cx="412" cy="49"/>
            </a:xfrm>
            <a:custGeom>
              <a:avLst/>
              <a:gdLst>
                <a:gd name="txL" fmla="*/ 0 w 1031"/>
                <a:gd name="txT" fmla="*/ 0 h 123"/>
                <a:gd name="txR" fmla="*/ 1031 w 1031"/>
                <a:gd name="txB" fmla="*/ 123 h 123"/>
              </a:gdLst>
              <a:ahLst/>
              <a:cxnLst>
                <a:cxn ang="0">
                  <a:pos x="0" y="0"/>
                </a:cxn>
                <a:cxn ang="0">
                  <a:pos x="0" y="0"/>
                </a:cxn>
              </a:cxnLst>
              <a:rect l="txL" t="txT" r="txR" b="txB"/>
              <a:pathLst>
                <a:path w="1031" h="123">
                  <a:moveTo>
                    <a:pt x="0" y="123"/>
                  </a:moveTo>
                  <a:lnTo>
                    <a:pt x="1031"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458" name="Freeform 82"/>
            <p:cNvSpPr>
              <a:spLocks noChangeAspect="1"/>
            </p:cNvSpPr>
            <p:nvPr/>
          </p:nvSpPr>
          <p:spPr>
            <a:xfrm>
              <a:off x="2373" y="2102"/>
              <a:ext cx="402" cy="49"/>
            </a:xfrm>
            <a:custGeom>
              <a:avLst/>
              <a:gdLst>
                <a:gd name="txL" fmla="*/ 0 w 1005"/>
                <a:gd name="txT" fmla="*/ 0 h 122"/>
                <a:gd name="txR" fmla="*/ 1005 w 1005"/>
                <a:gd name="txB" fmla="*/ 122 h 122"/>
              </a:gdLst>
              <a:ahLst/>
              <a:cxnLst>
                <a:cxn ang="0">
                  <a:pos x="0" y="0"/>
                </a:cxn>
                <a:cxn ang="0">
                  <a:pos x="0" y="0"/>
                </a:cxn>
              </a:cxnLst>
              <a:rect l="txL" t="txT" r="txR" b="txB"/>
              <a:pathLst>
                <a:path w="1005" h="122">
                  <a:moveTo>
                    <a:pt x="0" y="122"/>
                  </a:moveTo>
                  <a:lnTo>
                    <a:pt x="1005"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459" name="Freeform 83"/>
            <p:cNvSpPr>
              <a:spLocks noChangeAspect="1"/>
            </p:cNvSpPr>
            <p:nvPr/>
          </p:nvSpPr>
          <p:spPr>
            <a:xfrm>
              <a:off x="2557" y="1785"/>
              <a:ext cx="237" cy="304"/>
            </a:xfrm>
            <a:custGeom>
              <a:avLst/>
              <a:gdLst>
                <a:gd name="txL" fmla="*/ 0 w 593"/>
                <a:gd name="txT" fmla="*/ 0 h 759"/>
                <a:gd name="txR" fmla="*/ 593 w 593"/>
                <a:gd name="txB" fmla="*/ 759 h 759"/>
              </a:gdLst>
              <a:ahLst/>
              <a:cxnLst>
                <a:cxn ang="0">
                  <a:pos x="0" y="0"/>
                </a:cxn>
                <a:cxn ang="0">
                  <a:pos x="0" y="0"/>
                </a:cxn>
                <a:cxn ang="0">
                  <a:pos x="0" y="0"/>
                </a:cxn>
                <a:cxn ang="0">
                  <a:pos x="0" y="0"/>
                </a:cxn>
                <a:cxn ang="0">
                  <a:pos x="0" y="0"/>
                </a:cxn>
                <a:cxn ang="0">
                  <a:pos x="0" y="0"/>
                </a:cxn>
                <a:cxn ang="0">
                  <a:pos x="0" y="0"/>
                </a:cxn>
              </a:cxnLst>
              <a:rect l="txL" t="txT" r="txR" b="txB"/>
              <a:pathLst>
                <a:path w="593" h="759">
                  <a:moveTo>
                    <a:pt x="0" y="657"/>
                  </a:moveTo>
                  <a:lnTo>
                    <a:pt x="246" y="759"/>
                  </a:lnTo>
                  <a:lnTo>
                    <a:pt x="593" y="726"/>
                  </a:lnTo>
                  <a:lnTo>
                    <a:pt x="579" y="7"/>
                  </a:lnTo>
                  <a:lnTo>
                    <a:pt x="236" y="0"/>
                  </a:lnTo>
                  <a:lnTo>
                    <a:pt x="2" y="16"/>
                  </a:lnTo>
                  <a:lnTo>
                    <a:pt x="0" y="657"/>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0" name="Freeform 84"/>
            <p:cNvSpPr>
              <a:spLocks noChangeAspect="1"/>
            </p:cNvSpPr>
            <p:nvPr/>
          </p:nvSpPr>
          <p:spPr>
            <a:xfrm>
              <a:off x="2662" y="1785"/>
              <a:ext cx="124" cy="301"/>
            </a:xfrm>
            <a:custGeom>
              <a:avLst/>
              <a:gdLst>
                <a:gd name="txL" fmla="*/ 0 w 310"/>
                <a:gd name="txT" fmla="*/ 0 h 753"/>
                <a:gd name="txR" fmla="*/ 310 w 310"/>
                <a:gd name="txB" fmla="*/ 753 h 753"/>
              </a:gdLst>
              <a:ahLst/>
              <a:cxnLst>
                <a:cxn ang="0">
                  <a:pos x="0" y="0"/>
                </a:cxn>
                <a:cxn ang="0">
                  <a:pos x="0" y="0"/>
                </a:cxn>
                <a:cxn ang="0">
                  <a:pos x="0" y="0"/>
                </a:cxn>
                <a:cxn ang="0">
                  <a:pos x="0" y="0"/>
                </a:cxn>
                <a:cxn ang="0">
                  <a:pos x="0" y="0"/>
                </a:cxn>
                <a:cxn ang="0">
                  <a:pos x="0" y="0"/>
                </a:cxn>
                <a:cxn ang="0">
                  <a:pos x="0" y="0"/>
                </a:cxn>
              </a:cxnLst>
              <a:rect l="txL" t="txT" r="txR" b="txB"/>
              <a:pathLst>
                <a:path w="310" h="753">
                  <a:moveTo>
                    <a:pt x="0" y="0"/>
                  </a:moveTo>
                  <a:lnTo>
                    <a:pt x="4" y="549"/>
                  </a:lnTo>
                  <a:lnTo>
                    <a:pt x="31" y="753"/>
                  </a:lnTo>
                  <a:lnTo>
                    <a:pt x="297" y="728"/>
                  </a:lnTo>
                  <a:lnTo>
                    <a:pt x="310" y="516"/>
                  </a:lnTo>
                  <a:lnTo>
                    <a:pt x="307" y="6"/>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1" name="Freeform 85"/>
            <p:cNvSpPr>
              <a:spLocks noChangeAspect="1"/>
            </p:cNvSpPr>
            <p:nvPr/>
          </p:nvSpPr>
          <p:spPr>
            <a:xfrm>
              <a:off x="2666" y="1793"/>
              <a:ext cx="117" cy="75"/>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292929">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2" name="Freeform 86"/>
            <p:cNvSpPr>
              <a:spLocks noChangeAspect="1"/>
            </p:cNvSpPr>
            <p:nvPr/>
          </p:nvSpPr>
          <p:spPr>
            <a:xfrm>
              <a:off x="2671" y="1799"/>
              <a:ext cx="106" cy="27"/>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3" name="Freeform 87"/>
            <p:cNvSpPr>
              <a:spLocks noChangeAspect="1"/>
            </p:cNvSpPr>
            <p:nvPr/>
          </p:nvSpPr>
          <p:spPr>
            <a:xfrm>
              <a:off x="2671" y="1833"/>
              <a:ext cx="107" cy="27"/>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4" name="Freeform 88"/>
            <p:cNvSpPr>
              <a:spLocks noChangeAspect="1"/>
            </p:cNvSpPr>
            <p:nvPr/>
          </p:nvSpPr>
          <p:spPr>
            <a:xfrm>
              <a:off x="2683" y="1879"/>
              <a:ext cx="78" cy="40"/>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292929">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5" name="AutoShape 89"/>
            <p:cNvSpPr>
              <a:spLocks noChangeAspect="1"/>
            </p:cNvSpPr>
            <p:nvPr/>
          </p:nvSpPr>
          <p:spPr>
            <a:xfrm>
              <a:off x="2725" y="1942"/>
              <a:ext cx="19" cy="50"/>
            </a:xfrm>
            <a:prstGeom prst="roundRect">
              <a:avLst>
                <a:gd name="adj" fmla="val 45653"/>
              </a:avLst>
            </a:prstGeom>
            <a:solidFill>
              <a:schemeClr val="bg2"/>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66" name="AutoShape 90"/>
            <p:cNvSpPr>
              <a:spLocks noChangeAspect="1"/>
            </p:cNvSpPr>
            <p:nvPr/>
          </p:nvSpPr>
          <p:spPr>
            <a:xfrm>
              <a:off x="2729" y="1948"/>
              <a:ext cx="12" cy="39"/>
            </a:xfrm>
            <a:prstGeom prst="roundRect">
              <a:avLst>
                <a:gd name="adj" fmla="val 45653"/>
              </a:avLst>
            </a:prstGeom>
            <a:solidFill>
              <a:srgbClr val="333333"/>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67" name="AutoShape 91"/>
            <p:cNvSpPr>
              <a:spLocks noChangeAspect="1"/>
            </p:cNvSpPr>
            <p:nvPr/>
          </p:nvSpPr>
          <p:spPr>
            <a:xfrm rot="-5577168">
              <a:off x="2703" y="1953"/>
              <a:ext cx="48" cy="110"/>
            </a:xfrm>
            <a:prstGeom prst="moon">
              <a:avLst>
                <a:gd name="adj" fmla="val 24551"/>
              </a:avLst>
            </a:prstGeom>
            <a:solidFill>
              <a:schemeClr val="bg2"/>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68" name="Freeform 92"/>
            <p:cNvSpPr>
              <a:spLocks noChangeAspect="1"/>
            </p:cNvSpPr>
            <p:nvPr/>
          </p:nvSpPr>
          <p:spPr>
            <a:xfrm>
              <a:off x="2277" y="1709"/>
              <a:ext cx="372" cy="355"/>
            </a:xfrm>
            <a:custGeom>
              <a:avLst/>
              <a:gdLst>
                <a:gd name="txL" fmla="*/ 0 w 929"/>
                <a:gd name="txT" fmla="*/ 0 h 888"/>
                <a:gd name="txR" fmla="*/ 929 w 929"/>
                <a:gd name="txB" fmla="*/ 888 h 8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9" h="888">
                  <a:moveTo>
                    <a:pt x="33" y="0"/>
                  </a:moveTo>
                  <a:lnTo>
                    <a:pt x="0" y="31"/>
                  </a:lnTo>
                  <a:lnTo>
                    <a:pt x="56" y="888"/>
                  </a:lnTo>
                  <a:lnTo>
                    <a:pt x="389" y="886"/>
                  </a:lnTo>
                  <a:lnTo>
                    <a:pt x="627" y="867"/>
                  </a:lnTo>
                  <a:lnTo>
                    <a:pt x="929" y="813"/>
                  </a:lnTo>
                  <a:lnTo>
                    <a:pt x="915" y="363"/>
                  </a:lnTo>
                  <a:lnTo>
                    <a:pt x="887" y="69"/>
                  </a:lnTo>
                  <a:lnTo>
                    <a:pt x="33"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69" name="Freeform 93"/>
            <p:cNvSpPr>
              <a:spLocks noChangeAspect="1"/>
            </p:cNvSpPr>
            <p:nvPr/>
          </p:nvSpPr>
          <p:spPr>
            <a:xfrm>
              <a:off x="2291" y="1715"/>
              <a:ext cx="77" cy="316"/>
            </a:xfrm>
            <a:custGeom>
              <a:avLst/>
              <a:gdLst>
                <a:gd name="txL" fmla="*/ 0 w 192"/>
                <a:gd name="txT" fmla="*/ 0 h 790"/>
                <a:gd name="txR" fmla="*/ 192 w 192"/>
                <a:gd name="txB" fmla="*/ 790 h 790"/>
              </a:gdLst>
              <a:ahLst/>
              <a:cxnLst>
                <a:cxn ang="0">
                  <a:pos x="0" y="0"/>
                </a:cxn>
                <a:cxn ang="0">
                  <a:pos x="0" y="0"/>
                </a:cxn>
                <a:cxn ang="0">
                  <a:pos x="0" y="0"/>
                </a:cxn>
              </a:cxnLst>
              <a:rect l="txL" t="txT" r="txR" b="txB"/>
              <a:pathLst>
                <a:path w="192" h="790">
                  <a:moveTo>
                    <a:pt x="38" y="790"/>
                  </a:moveTo>
                  <a:lnTo>
                    <a:pt x="0" y="0"/>
                  </a:lnTo>
                  <a:lnTo>
                    <a:pt x="192" y="3"/>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470" name="Freeform 94"/>
            <p:cNvSpPr>
              <a:spLocks noChangeAspect="1"/>
            </p:cNvSpPr>
            <p:nvPr/>
          </p:nvSpPr>
          <p:spPr>
            <a:xfrm>
              <a:off x="2327" y="1750"/>
              <a:ext cx="296" cy="252"/>
            </a:xfrm>
            <a:custGeom>
              <a:avLst/>
              <a:gdLst>
                <a:gd name="txL" fmla="*/ 0 w 737"/>
                <a:gd name="txT" fmla="*/ 0 h 629"/>
                <a:gd name="txR" fmla="*/ 737 w 737"/>
                <a:gd name="txB" fmla="*/ 629 h 629"/>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737" h="629">
                  <a:moveTo>
                    <a:pt x="0" y="0"/>
                  </a:moveTo>
                  <a:lnTo>
                    <a:pt x="15" y="375"/>
                  </a:lnTo>
                  <a:lnTo>
                    <a:pt x="15" y="629"/>
                  </a:lnTo>
                  <a:lnTo>
                    <a:pt x="737" y="581"/>
                  </a:lnTo>
                  <a:lnTo>
                    <a:pt x="731" y="321"/>
                  </a:lnTo>
                  <a:lnTo>
                    <a:pt x="710" y="41"/>
                  </a:lnTo>
                  <a:lnTo>
                    <a:pt x="434" y="18"/>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71" name="Freeform 95"/>
            <p:cNvSpPr>
              <a:spLocks noChangeAspect="1"/>
            </p:cNvSpPr>
            <p:nvPr/>
          </p:nvSpPr>
          <p:spPr>
            <a:xfrm>
              <a:off x="2485" y="2027"/>
              <a:ext cx="13"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72" name="Freeform 96"/>
            <p:cNvSpPr>
              <a:spLocks noChangeAspect="1"/>
            </p:cNvSpPr>
            <p:nvPr/>
          </p:nvSpPr>
          <p:spPr>
            <a:xfrm>
              <a:off x="2582" y="2018"/>
              <a:ext cx="12"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73" name="Freeform 97"/>
            <p:cNvSpPr>
              <a:spLocks noChangeAspect="1"/>
            </p:cNvSpPr>
            <p:nvPr/>
          </p:nvSpPr>
          <p:spPr>
            <a:xfrm>
              <a:off x="2518" y="2028"/>
              <a:ext cx="13" cy="7"/>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74" name="Freeform 98"/>
            <p:cNvSpPr>
              <a:spLocks noChangeAspect="1"/>
            </p:cNvSpPr>
            <p:nvPr/>
          </p:nvSpPr>
          <p:spPr>
            <a:xfrm>
              <a:off x="2505" y="2026"/>
              <a:ext cx="7"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6475" name="Line 99"/>
            <p:cNvSpPr>
              <a:spLocks noChangeAspect="1"/>
            </p:cNvSpPr>
            <p:nvPr/>
          </p:nvSpPr>
          <p:spPr>
            <a:xfrm>
              <a:off x="2652" y="1784"/>
              <a:ext cx="4" cy="206"/>
            </a:xfrm>
            <a:prstGeom prst="line">
              <a:avLst/>
            </a:prstGeom>
            <a:ln w="9525" cap="flat" cmpd="sng">
              <a:solidFill>
                <a:schemeClr val="tx1"/>
              </a:solidFill>
              <a:prstDash val="solid"/>
              <a:headEnd type="none" w="med" len="med"/>
              <a:tailEnd type="none" w="med" len="med"/>
            </a:ln>
          </p:spPr>
        </p:sp>
      </p:grpSp>
      <p:sp>
        <p:nvSpPr>
          <p:cNvPr id="16399" name="Text Box 105"/>
          <p:cNvSpPr txBox="1">
            <a:spLocks noChangeAspect="1"/>
          </p:cNvSpPr>
          <p:nvPr/>
        </p:nvSpPr>
        <p:spPr>
          <a:xfrm>
            <a:off x="1651000" y="3971925"/>
            <a:ext cx="527050" cy="136525"/>
          </a:xfrm>
          <a:prstGeom prst="rect">
            <a:avLst/>
          </a:prstGeom>
          <a:noFill/>
          <a:ln w="9525">
            <a:noFill/>
          </a:ln>
        </p:spPr>
        <p:txBody>
          <a:bodyPr wrap="none" lIns="0" tIns="0" rIns="0" bIns="0">
            <a:spAutoFit/>
          </a:bodyPr>
          <a:p>
            <a:pPr eaLnBrk="1" hangingPunct="1"/>
            <a:r>
              <a:rPr lang="en-US" altLang="en-US" sz="900" dirty="0">
                <a:latin typeface="Arial" panose="020B0604020202020204" pitchFamily="34" charset="0"/>
              </a:rPr>
              <a:t>(1) Tenant</a:t>
            </a:r>
            <a:endParaRPr lang="en-US" altLang="en-US" sz="900" dirty="0">
              <a:latin typeface="Arial" panose="020B0604020202020204" pitchFamily="34" charset="0"/>
            </a:endParaRPr>
          </a:p>
        </p:txBody>
      </p:sp>
      <p:sp>
        <p:nvSpPr>
          <p:cNvPr id="16400" name="Text Box 106"/>
          <p:cNvSpPr txBox="1">
            <a:spLocks noChangeAspect="1"/>
          </p:cNvSpPr>
          <p:nvPr/>
        </p:nvSpPr>
        <p:spPr>
          <a:xfrm>
            <a:off x="5465763" y="4052888"/>
            <a:ext cx="406400"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(4) List of valid keys</a:t>
            </a:r>
            <a:endParaRPr lang="en-US" altLang="en-US" sz="700" dirty="0">
              <a:latin typeface="Arial" panose="020B0604020202020204" pitchFamily="34" charset="0"/>
            </a:endParaRPr>
          </a:p>
        </p:txBody>
      </p:sp>
      <p:grpSp>
        <p:nvGrpSpPr>
          <p:cNvPr id="16401" name="Group 107"/>
          <p:cNvGrpSpPr>
            <a:grpSpLocks noChangeAspect="1"/>
          </p:cNvGrpSpPr>
          <p:nvPr/>
        </p:nvGrpSpPr>
        <p:grpSpPr>
          <a:xfrm>
            <a:off x="5607050" y="3876675"/>
            <a:ext cx="125413" cy="125413"/>
            <a:chOff x="1062" y="3264"/>
            <a:chExt cx="576" cy="576"/>
          </a:xfrm>
        </p:grpSpPr>
        <p:sp>
          <p:nvSpPr>
            <p:cNvPr id="16445" name="Rectangle 108"/>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46" name="Line 109"/>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6447" name="Line 110"/>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6448" name="Line 111"/>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6449" name="Line 112"/>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6402" name="Text Box 113"/>
          <p:cNvSpPr txBox="1">
            <a:spLocks noChangeAspect="1"/>
          </p:cNvSpPr>
          <p:nvPr/>
        </p:nvSpPr>
        <p:spPr>
          <a:xfrm>
            <a:off x="6942138" y="4238625"/>
            <a:ext cx="412750" cy="136525"/>
          </a:xfrm>
          <a:prstGeom prst="rect">
            <a:avLst/>
          </a:prstGeom>
          <a:noFill/>
          <a:ln w="9525">
            <a:noFill/>
          </a:ln>
        </p:spPr>
        <p:txBody>
          <a:bodyPr wrap="none" lIns="0" tIns="0" rIns="0" bIns="0">
            <a:spAutoFit/>
          </a:bodyPr>
          <a:p>
            <a:pPr algn="ctr" eaLnBrk="1" hangingPunct="1"/>
            <a:r>
              <a:rPr lang="en-US" altLang="en-US" sz="900" dirty="0">
                <a:latin typeface="Arial" panose="020B0604020202020204" pitchFamily="34" charset="0"/>
              </a:rPr>
              <a:t>(3) Lock</a:t>
            </a:r>
            <a:endParaRPr lang="en-US" altLang="en-US" sz="900" dirty="0">
              <a:latin typeface="Arial" panose="020B0604020202020204" pitchFamily="34" charset="0"/>
            </a:endParaRPr>
          </a:p>
        </p:txBody>
      </p:sp>
      <p:sp>
        <p:nvSpPr>
          <p:cNvPr id="16403" name="Text Box 114"/>
          <p:cNvSpPr txBox="1">
            <a:spLocks noChangeAspect="1"/>
          </p:cNvSpPr>
          <p:nvPr/>
        </p:nvSpPr>
        <p:spPr>
          <a:xfrm>
            <a:off x="2695575" y="3146425"/>
            <a:ext cx="633413"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(6) Photosensor</a:t>
            </a:r>
            <a:endParaRPr lang="en-US" altLang="en-US" sz="700" dirty="0">
              <a:latin typeface="Arial" panose="020B0604020202020204" pitchFamily="34" charset="0"/>
            </a:endParaRPr>
          </a:p>
        </p:txBody>
      </p:sp>
      <p:sp>
        <p:nvSpPr>
          <p:cNvPr id="16404" name="Text Box 115"/>
          <p:cNvSpPr txBox="1">
            <a:spLocks noChangeAspect="1"/>
          </p:cNvSpPr>
          <p:nvPr/>
        </p:nvSpPr>
        <p:spPr>
          <a:xfrm>
            <a:off x="5465763" y="3219450"/>
            <a:ext cx="327025"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(7) Light</a:t>
            </a:r>
            <a:endParaRPr lang="en-US" altLang="en-US" sz="700" dirty="0">
              <a:latin typeface="Arial" panose="020B0604020202020204" pitchFamily="34" charset="0"/>
            </a:endParaRPr>
          </a:p>
        </p:txBody>
      </p:sp>
      <p:sp>
        <p:nvSpPr>
          <p:cNvPr id="16405" name="Text Box 116"/>
          <p:cNvSpPr txBox="1">
            <a:spLocks noChangeAspect="1"/>
          </p:cNvSpPr>
          <p:nvPr/>
        </p:nvSpPr>
        <p:spPr>
          <a:xfrm>
            <a:off x="6116638" y="4979988"/>
            <a:ext cx="528637" cy="106362"/>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(8) Alarm bell</a:t>
            </a:r>
            <a:endParaRPr lang="en-US" altLang="en-US" sz="700" dirty="0">
              <a:latin typeface="Arial" panose="020B0604020202020204" pitchFamily="34" charset="0"/>
            </a:endParaRPr>
          </a:p>
        </p:txBody>
      </p:sp>
      <p:sp>
        <p:nvSpPr>
          <p:cNvPr id="16406" name="Text Box 117"/>
          <p:cNvSpPr txBox="1">
            <a:spLocks noChangeAspect="1"/>
          </p:cNvSpPr>
          <p:nvPr/>
        </p:nvSpPr>
        <p:spPr>
          <a:xfrm>
            <a:off x="5575300" y="5948363"/>
            <a:ext cx="857250" cy="106362"/>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(9) Desktop computer</a:t>
            </a:r>
            <a:endParaRPr lang="en-US" altLang="en-US" sz="700" dirty="0">
              <a:latin typeface="Arial" panose="020B0604020202020204" pitchFamily="34" charset="0"/>
            </a:endParaRPr>
          </a:p>
        </p:txBody>
      </p:sp>
      <p:grpSp>
        <p:nvGrpSpPr>
          <p:cNvPr id="16407" name="Group 122"/>
          <p:cNvGrpSpPr>
            <a:grpSpLocks noChangeAspect="1"/>
          </p:cNvGrpSpPr>
          <p:nvPr/>
        </p:nvGrpSpPr>
        <p:grpSpPr>
          <a:xfrm>
            <a:off x="1651000" y="4770438"/>
            <a:ext cx="312738" cy="790575"/>
            <a:chOff x="4569" y="1520"/>
            <a:chExt cx="276" cy="698"/>
          </a:xfrm>
        </p:grpSpPr>
        <p:sp>
          <p:nvSpPr>
            <p:cNvPr id="16443" name="Oval 123"/>
            <p:cNvSpPr>
              <a:spLocks noChangeAspect="1"/>
            </p:cNvSpPr>
            <p:nvPr/>
          </p:nvSpPr>
          <p:spPr>
            <a:xfrm>
              <a:off x="4646" y="1520"/>
              <a:ext cx="122" cy="129"/>
            </a:xfrm>
            <a:prstGeom prst="ellipse">
              <a:avLst/>
            </a:prstGeom>
            <a:solidFill>
              <a:schemeClr val="bg1"/>
            </a:solidFill>
            <a:ln w="635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44" name="Freeform 124"/>
            <p:cNvSpPr>
              <a:spLocks noChangeAspect="1"/>
            </p:cNvSpPr>
            <p:nvPr/>
          </p:nvSpPr>
          <p:spPr>
            <a:xfrm>
              <a:off x="4569" y="1667"/>
              <a:ext cx="276" cy="551"/>
            </a:xfrm>
            <a:custGeom>
              <a:avLst/>
              <a:gdLst>
                <a:gd name="txL" fmla="*/ 0 w 1101"/>
                <a:gd name="txT" fmla="*/ 0 h 2202"/>
                <a:gd name="txR" fmla="*/ 1101 w 1101"/>
                <a:gd name="txB" fmla="*/ 2202 h 22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1" h="2202">
                  <a:moveTo>
                    <a:pt x="88" y="2"/>
                  </a:moveTo>
                  <a:cubicBezTo>
                    <a:pt x="40" y="2"/>
                    <a:pt x="0" y="47"/>
                    <a:pt x="0" y="93"/>
                  </a:cubicBezTo>
                  <a:lnTo>
                    <a:pt x="0" y="960"/>
                  </a:lnTo>
                  <a:cubicBezTo>
                    <a:pt x="18" y="1079"/>
                    <a:pt x="165" y="1053"/>
                    <a:pt x="165" y="960"/>
                  </a:cubicBezTo>
                  <a:lnTo>
                    <a:pt x="163" y="224"/>
                  </a:lnTo>
                  <a:cubicBezTo>
                    <a:pt x="163" y="185"/>
                    <a:pt x="216" y="185"/>
                    <a:pt x="216" y="222"/>
                  </a:cubicBezTo>
                  <a:lnTo>
                    <a:pt x="216" y="2016"/>
                  </a:lnTo>
                  <a:cubicBezTo>
                    <a:pt x="216" y="2192"/>
                    <a:pt x="490" y="2202"/>
                    <a:pt x="490" y="2015"/>
                  </a:cubicBezTo>
                  <a:lnTo>
                    <a:pt x="490" y="1071"/>
                  </a:lnTo>
                  <a:cubicBezTo>
                    <a:pt x="502" y="987"/>
                    <a:pt x="600" y="998"/>
                    <a:pt x="607" y="1070"/>
                  </a:cubicBezTo>
                  <a:lnTo>
                    <a:pt x="607" y="2015"/>
                  </a:lnTo>
                  <a:cubicBezTo>
                    <a:pt x="607" y="2198"/>
                    <a:pt x="879" y="2198"/>
                    <a:pt x="879" y="2013"/>
                  </a:cubicBezTo>
                  <a:lnTo>
                    <a:pt x="877" y="222"/>
                  </a:lnTo>
                  <a:cubicBezTo>
                    <a:pt x="877" y="185"/>
                    <a:pt x="934" y="185"/>
                    <a:pt x="934" y="222"/>
                  </a:cubicBezTo>
                  <a:lnTo>
                    <a:pt x="934" y="960"/>
                  </a:lnTo>
                  <a:cubicBezTo>
                    <a:pt x="954" y="1076"/>
                    <a:pt x="1089" y="1058"/>
                    <a:pt x="1101" y="962"/>
                  </a:cubicBezTo>
                  <a:lnTo>
                    <a:pt x="1101" y="93"/>
                  </a:lnTo>
                  <a:cubicBezTo>
                    <a:pt x="1101" y="27"/>
                    <a:pt x="1044" y="0"/>
                    <a:pt x="1011" y="2"/>
                  </a:cubicBezTo>
                  <a:lnTo>
                    <a:pt x="88" y="2"/>
                  </a:lnTo>
                  <a:close/>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grpSp>
      <p:sp>
        <p:nvSpPr>
          <p:cNvPr id="16408" name="Text Box 125"/>
          <p:cNvSpPr txBox="1">
            <a:spLocks noChangeAspect="1"/>
          </p:cNvSpPr>
          <p:nvPr/>
        </p:nvSpPr>
        <p:spPr>
          <a:xfrm>
            <a:off x="1651000" y="5616575"/>
            <a:ext cx="615950" cy="136525"/>
          </a:xfrm>
          <a:prstGeom prst="rect">
            <a:avLst/>
          </a:prstGeom>
          <a:noFill/>
          <a:ln w="9525">
            <a:noFill/>
          </a:ln>
        </p:spPr>
        <p:txBody>
          <a:bodyPr wrap="none" lIns="0" tIns="0" rIns="0" bIns="0">
            <a:spAutoFit/>
          </a:bodyPr>
          <a:p>
            <a:pPr eaLnBrk="1" hangingPunct="1"/>
            <a:r>
              <a:rPr lang="en-US" altLang="en-US" sz="900" dirty="0">
                <a:latin typeface="Arial" panose="020B0604020202020204" pitchFamily="34" charset="0"/>
              </a:rPr>
              <a:t>(2) Landlord</a:t>
            </a:r>
            <a:endParaRPr lang="en-US" altLang="en-US" sz="900" dirty="0">
              <a:latin typeface="Arial" panose="020B0604020202020204" pitchFamily="34" charset="0"/>
            </a:endParaRPr>
          </a:p>
        </p:txBody>
      </p:sp>
      <p:sp>
        <p:nvSpPr>
          <p:cNvPr id="16409" name="Text Box 126"/>
          <p:cNvSpPr txBox="1">
            <a:spLocks noChangeAspect="1"/>
          </p:cNvSpPr>
          <p:nvPr/>
        </p:nvSpPr>
        <p:spPr>
          <a:xfrm>
            <a:off x="2098675" y="3346450"/>
            <a:ext cx="287338"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(3) Key</a:t>
            </a:r>
            <a:endParaRPr lang="en-US" altLang="en-US" sz="700" dirty="0">
              <a:latin typeface="Arial" panose="020B0604020202020204" pitchFamily="34" charset="0"/>
            </a:endParaRPr>
          </a:p>
        </p:txBody>
      </p:sp>
      <p:sp>
        <p:nvSpPr>
          <p:cNvPr id="16410" name="Text Box 127"/>
          <p:cNvSpPr txBox="1">
            <a:spLocks noChangeAspect="1"/>
          </p:cNvSpPr>
          <p:nvPr/>
        </p:nvSpPr>
        <p:spPr>
          <a:xfrm>
            <a:off x="4325938" y="3000375"/>
            <a:ext cx="474662"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(5) Device preferences</a:t>
            </a:r>
            <a:endParaRPr lang="en-US" altLang="en-US" sz="700" dirty="0">
              <a:latin typeface="Arial" panose="020B0604020202020204" pitchFamily="34" charset="0"/>
            </a:endParaRPr>
          </a:p>
        </p:txBody>
      </p:sp>
      <p:grpSp>
        <p:nvGrpSpPr>
          <p:cNvPr id="16411" name="Group 128"/>
          <p:cNvGrpSpPr>
            <a:grpSpLocks noChangeAspect="1"/>
          </p:cNvGrpSpPr>
          <p:nvPr/>
        </p:nvGrpSpPr>
        <p:grpSpPr>
          <a:xfrm>
            <a:off x="4500563" y="2824163"/>
            <a:ext cx="125412" cy="125412"/>
            <a:chOff x="1062" y="3264"/>
            <a:chExt cx="576" cy="576"/>
          </a:xfrm>
        </p:grpSpPr>
        <p:sp>
          <p:nvSpPr>
            <p:cNvPr id="16438" name="Rectangle 129"/>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39" name="Line 130"/>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6440" name="Line 131"/>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6441" name="Line 132"/>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6442" name="Line 133"/>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6412" name="Text Box 134"/>
          <p:cNvSpPr txBox="1">
            <a:spLocks noChangeAspect="1"/>
          </p:cNvSpPr>
          <p:nvPr/>
        </p:nvSpPr>
        <p:spPr>
          <a:xfrm>
            <a:off x="6924675" y="5821363"/>
            <a:ext cx="496888"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(10) Tenant accounts</a:t>
            </a:r>
            <a:endParaRPr lang="en-US" altLang="en-US" sz="700" dirty="0">
              <a:latin typeface="Arial" panose="020B0604020202020204" pitchFamily="34" charset="0"/>
            </a:endParaRPr>
          </a:p>
        </p:txBody>
      </p:sp>
      <p:grpSp>
        <p:nvGrpSpPr>
          <p:cNvPr id="16413" name="Group 135"/>
          <p:cNvGrpSpPr>
            <a:grpSpLocks noChangeAspect="1"/>
          </p:cNvGrpSpPr>
          <p:nvPr/>
        </p:nvGrpSpPr>
        <p:grpSpPr>
          <a:xfrm>
            <a:off x="7110413" y="5646738"/>
            <a:ext cx="125412" cy="125412"/>
            <a:chOff x="1062" y="3264"/>
            <a:chExt cx="576" cy="576"/>
          </a:xfrm>
        </p:grpSpPr>
        <p:sp>
          <p:nvSpPr>
            <p:cNvPr id="16433" name="Rectangle 136"/>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34" name="Line 137"/>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6435" name="Line 138"/>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6436" name="Line 139"/>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6437" name="Line 140"/>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6414" name="Text Box 141"/>
          <p:cNvSpPr txBox="1">
            <a:spLocks noChangeAspect="1"/>
          </p:cNvSpPr>
          <p:nvPr/>
        </p:nvSpPr>
        <p:spPr>
          <a:xfrm>
            <a:off x="6942138" y="5002213"/>
            <a:ext cx="439737"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(11) Log of accesses</a:t>
            </a:r>
            <a:endParaRPr lang="en-US" altLang="en-US" sz="700" dirty="0">
              <a:latin typeface="Arial" panose="020B0604020202020204" pitchFamily="34" charset="0"/>
            </a:endParaRPr>
          </a:p>
        </p:txBody>
      </p:sp>
      <p:grpSp>
        <p:nvGrpSpPr>
          <p:cNvPr id="16415" name="Group 142"/>
          <p:cNvGrpSpPr>
            <a:grpSpLocks noChangeAspect="1"/>
          </p:cNvGrpSpPr>
          <p:nvPr/>
        </p:nvGrpSpPr>
        <p:grpSpPr>
          <a:xfrm>
            <a:off x="7099300" y="4826000"/>
            <a:ext cx="125413" cy="125413"/>
            <a:chOff x="1062" y="3264"/>
            <a:chExt cx="576" cy="576"/>
          </a:xfrm>
        </p:grpSpPr>
        <p:sp>
          <p:nvSpPr>
            <p:cNvPr id="16428" name="Rectangle 143"/>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6429" name="Line 144"/>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6430" name="Line 145"/>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6431" name="Line 146"/>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6432" name="Line 147"/>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6416" name="Freeform 148"/>
          <p:cNvSpPr>
            <a:spLocks noChangeAspect="1"/>
          </p:cNvSpPr>
          <p:nvPr/>
        </p:nvSpPr>
        <p:spPr>
          <a:xfrm>
            <a:off x="2047875" y="5195888"/>
            <a:ext cx="2574925" cy="671512"/>
          </a:xfrm>
          <a:custGeom>
            <a:avLst/>
            <a:gdLst>
              <a:gd name="txL" fmla="*/ 0 w 1839"/>
              <a:gd name="txT" fmla="*/ 0 h 493"/>
              <a:gd name="txR" fmla="*/ 1839 w 1839"/>
              <a:gd name="txB" fmla="*/ 493 h 493"/>
            </a:gdLst>
            <a:ahLst/>
            <a:cxnLst>
              <a:cxn ang="0">
                <a:pos x="0" y="0"/>
              </a:cxn>
              <a:cxn ang="0">
                <a:pos x="2147483647" y="2147483647"/>
              </a:cxn>
            </a:cxnLst>
            <a:rect l="txL" t="txT" r="txR" b="txB"/>
            <a:pathLst>
              <a:path w="1839" h="493">
                <a:moveTo>
                  <a:pt x="0" y="0"/>
                </a:moveTo>
                <a:cubicBezTo>
                  <a:pt x="299" y="311"/>
                  <a:pt x="1446" y="493"/>
                  <a:pt x="1839" y="416"/>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17" name="Freeform 149"/>
          <p:cNvSpPr>
            <a:spLocks noChangeAspect="1"/>
          </p:cNvSpPr>
          <p:nvPr/>
        </p:nvSpPr>
        <p:spPr>
          <a:xfrm>
            <a:off x="2243138" y="3548063"/>
            <a:ext cx="2297112" cy="466725"/>
          </a:xfrm>
          <a:custGeom>
            <a:avLst/>
            <a:gdLst>
              <a:gd name="txL" fmla="*/ 0 w 1689"/>
              <a:gd name="txT" fmla="*/ 0 h 343"/>
              <a:gd name="txR" fmla="*/ 1689 w 1689"/>
              <a:gd name="txB" fmla="*/ 343 h 343"/>
            </a:gdLst>
            <a:ahLst/>
            <a:cxnLst>
              <a:cxn ang="0">
                <a:pos x="2147483647" y="2147483647"/>
              </a:cxn>
              <a:cxn ang="0">
                <a:pos x="0" y="0"/>
              </a:cxn>
            </a:cxnLst>
            <a:rect l="txL" t="txT" r="txR" b="txB"/>
            <a:pathLst>
              <a:path w="1689" h="343">
                <a:moveTo>
                  <a:pt x="1689" y="144"/>
                </a:moveTo>
                <a:cubicBezTo>
                  <a:pt x="1241" y="116"/>
                  <a:pt x="316" y="343"/>
                  <a:pt x="0" y="0"/>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18" name="Freeform 150"/>
          <p:cNvSpPr>
            <a:spLocks noChangeAspect="1"/>
          </p:cNvSpPr>
          <p:nvPr/>
        </p:nvSpPr>
        <p:spPr>
          <a:xfrm>
            <a:off x="5081588" y="3563938"/>
            <a:ext cx="1752600" cy="195262"/>
          </a:xfrm>
          <a:custGeom>
            <a:avLst/>
            <a:gdLst>
              <a:gd name="txL" fmla="*/ 0 w 1267"/>
              <a:gd name="txT" fmla="*/ 0 h 144"/>
              <a:gd name="txR" fmla="*/ 1267 w 1267"/>
              <a:gd name="txB" fmla="*/ 144 h 144"/>
            </a:gdLst>
            <a:ahLst/>
            <a:cxnLst>
              <a:cxn ang="0">
                <a:pos x="0" y="2147483647"/>
              </a:cxn>
              <a:cxn ang="0">
                <a:pos x="2147483647" y="2147483647"/>
              </a:cxn>
            </a:cxnLst>
            <a:rect l="txL" t="txT" r="txR" b="txB"/>
            <a:pathLst>
              <a:path w="1267" h="144">
                <a:moveTo>
                  <a:pt x="0" y="66"/>
                </a:moveTo>
                <a:cubicBezTo>
                  <a:pt x="504" y="0"/>
                  <a:pt x="830" y="144"/>
                  <a:pt x="1267" y="66"/>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19" name="Freeform 151"/>
          <p:cNvSpPr>
            <a:spLocks noChangeAspect="1"/>
          </p:cNvSpPr>
          <p:nvPr/>
        </p:nvSpPr>
        <p:spPr>
          <a:xfrm>
            <a:off x="3278188" y="2871788"/>
            <a:ext cx="366712" cy="169862"/>
          </a:xfrm>
          <a:custGeom>
            <a:avLst/>
            <a:gdLst>
              <a:gd name="txL" fmla="*/ 0 w 270"/>
              <a:gd name="txT" fmla="*/ 0 h 125"/>
              <a:gd name="txR" fmla="*/ 270 w 270"/>
              <a:gd name="txB" fmla="*/ 125 h 125"/>
            </a:gdLst>
            <a:ahLst/>
            <a:cxnLst>
              <a:cxn ang="0">
                <a:pos x="0" y="0"/>
              </a:cxn>
              <a:cxn ang="0">
                <a:pos x="2147483647" y="2147483647"/>
              </a:cxn>
            </a:cxnLst>
            <a:rect l="txL" t="txT" r="txR" b="txB"/>
            <a:pathLst>
              <a:path w="270" h="125">
                <a:moveTo>
                  <a:pt x="0" y="0"/>
                </a:moveTo>
                <a:cubicBezTo>
                  <a:pt x="153" y="4"/>
                  <a:pt x="219" y="125"/>
                  <a:pt x="270" y="111"/>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0" name="Freeform 152"/>
          <p:cNvSpPr>
            <a:spLocks noChangeAspect="1"/>
          </p:cNvSpPr>
          <p:nvPr/>
        </p:nvSpPr>
        <p:spPr>
          <a:xfrm>
            <a:off x="4060825" y="2635250"/>
            <a:ext cx="1422400" cy="296863"/>
          </a:xfrm>
          <a:custGeom>
            <a:avLst/>
            <a:gdLst>
              <a:gd name="txL" fmla="*/ 0 w 1045"/>
              <a:gd name="txT" fmla="*/ 0 h 218"/>
              <a:gd name="txR" fmla="*/ 1045 w 1045"/>
              <a:gd name="txB" fmla="*/ 218 h 218"/>
            </a:gdLst>
            <a:ahLst/>
            <a:cxnLst>
              <a:cxn ang="0">
                <a:pos x="0" y="2147483647"/>
              </a:cxn>
              <a:cxn ang="0">
                <a:pos x="2147483647" y="2147483647"/>
              </a:cxn>
            </a:cxnLst>
            <a:rect l="txL" t="txT" r="txR" b="txB"/>
            <a:pathLst>
              <a:path w="1045" h="218">
                <a:moveTo>
                  <a:pt x="0" y="218"/>
                </a:moveTo>
                <a:cubicBezTo>
                  <a:pt x="302" y="28"/>
                  <a:pt x="779" y="0"/>
                  <a:pt x="1045" y="39"/>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1" name="Freeform 153"/>
          <p:cNvSpPr>
            <a:spLocks noChangeAspect="1"/>
          </p:cNvSpPr>
          <p:nvPr/>
        </p:nvSpPr>
        <p:spPr>
          <a:xfrm>
            <a:off x="4972050" y="5580063"/>
            <a:ext cx="430213" cy="106362"/>
          </a:xfrm>
          <a:custGeom>
            <a:avLst/>
            <a:gdLst>
              <a:gd name="txL" fmla="*/ 0 w 289"/>
              <a:gd name="txT" fmla="*/ 0 h 78"/>
              <a:gd name="txR" fmla="*/ 289 w 289"/>
              <a:gd name="txB" fmla="*/ 78 h 78"/>
            </a:gdLst>
            <a:ahLst/>
            <a:cxnLst>
              <a:cxn ang="0">
                <a:pos x="0" y="2147483647"/>
              </a:cxn>
              <a:cxn ang="0">
                <a:pos x="2147483647" y="2147483647"/>
              </a:cxn>
            </a:cxnLst>
            <a:rect l="txL" t="txT" r="txR" b="txB"/>
            <a:pathLst>
              <a:path w="289" h="78">
                <a:moveTo>
                  <a:pt x="0" y="78"/>
                </a:moveTo>
                <a:cubicBezTo>
                  <a:pt x="131" y="0"/>
                  <a:pt x="171" y="67"/>
                  <a:pt x="289" y="8"/>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2" name="Freeform 154"/>
          <p:cNvSpPr>
            <a:spLocks noChangeAspect="1"/>
          </p:cNvSpPr>
          <p:nvPr/>
        </p:nvSpPr>
        <p:spPr>
          <a:xfrm>
            <a:off x="5081588" y="3592513"/>
            <a:ext cx="1935162" cy="1347787"/>
          </a:xfrm>
          <a:custGeom>
            <a:avLst/>
            <a:gdLst>
              <a:gd name="txL" fmla="*/ 0 w 1423"/>
              <a:gd name="txT" fmla="*/ 0 h 991"/>
              <a:gd name="txR" fmla="*/ 1423 w 1423"/>
              <a:gd name="txB" fmla="*/ 991 h 991"/>
            </a:gdLst>
            <a:ahLst/>
            <a:cxnLst>
              <a:cxn ang="0">
                <a:pos x="0" y="2147483647"/>
              </a:cxn>
              <a:cxn ang="0">
                <a:pos x="2147483647" y="2147483647"/>
              </a:cxn>
            </a:cxnLst>
            <a:rect l="txL" t="txT" r="txR" b="txB"/>
            <a:pathLst>
              <a:path w="1423" h="991">
                <a:moveTo>
                  <a:pt x="0" y="68"/>
                </a:moveTo>
                <a:cubicBezTo>
                  <a:pt x="1240" y="0"/>
                  <a:pt x="1113" y="991"/>
                  <a:pt x="1423" y="94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3" name="Freeform 155"/>
          <p:cNvSpPr>
            <a:spLocks noChangeAspect="1"/>
          </p:cNvSpPr>
          <p:nvPr/>
        </p:nvSpPr>
        <p:spPr>
          <a:xfrm>
            <a:off x="6245225" y="5511800"/>
            <a:ext cx="712788" cy="234950"/>
          </a:xfrm>
          <a:custGeom>
            <a:avLst/>
            <a:gdLst>
              <a:gd name="txL" fmla="*/ 0 w 524"/>
              <a:gd name="txT" fmla="*/ 0 h 217"/>
              <a:gd name="txR" fmla="*/ 524 w 524"/>
              <a:gd name="txB" fmla="*/ 217 h 217"/>
            </a:gdLst>
            <a:ahLst/>
            <a:cxnLst>
              <a:cxn ang="0">
                <a:pos x="0" y="0"/>
              </a:cxn>
              <a:cxn ang="0">
                <a:pos x="2147483647" y="2147483647"/>
              </a:cxn>
            </a:cxnLst>
            <a:rect l="txL" t="txT" r="txR" b="txB"/>
            <a:pathLst>
              <a:path w="524" h="217">
                <a:moveTo>
                  <a:pt x="0" y="0"/>
                </a:moveTo>
                <a:cubicBezTo>
                  <a:pt x="270" y="10"/>
                  <a:pt x="294" y="190"/>
                  <a:pt x="524" y="21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4" name="Freeform 156"/>
          <p:cNvSpPr>
            <a:spLocks noChangeAspect="1"/>
          </p:cNvSpPr>
          <p:nvPr/>
        </p:nvSpPr>
        <p:spPr>
          <a:xfrm>
            <a:off x="5797550" y="4708525"/>
            <a:ext cx="303213" cy="112713"/>
          </a:xfrm>
          <a:custGeom>
            <a:avLst/>
            <a:gdLst>
              <a:gd name="txL" fmla="*/ 0 w 223"/>
              <a:gd name="txT" fmla="*/ 0 h 83"/>
              <a:gd name="txR" fmla="*/ 223 w 223"/>
              <a:gd name="txB" fmla="*/ 83 h 83"/>
            </a:gdLst>
            <a:ahLst/>
            <a:cxnLst>
              <a:cxn ang="0">
                <a:pos x="0" y="2147483647"/>
              </a:cxn>
              <a:cxn ang="0">
                <a:pos x="2147483647" y="2147483647"/>
              </a:cxn>
            </a:cxnLst>
            <a:rect l="txL" t="txT" r="txR" b="txB"/>
            <a:pathLst>
              <a:path w="223" h="83">
                <a:moveTo>
                  <a:pt x="0" y="33"/>
                </a:moveTo>
                <a:cubicBezTo>
                  <a:pt x="117" y="0"/>
                  <a:pt x="188" y="83"/>
                  <a:pt x="223" y="5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5" name="Freeform 157"/>
          <p:cNvSpPr>
            <a:spLocks noChangeAspect="1"/>
          </p:cNvSpPr>
          <p:nvPr/>
        </p:nvSpPr>
        <p:spPr>
          <a:xfrm>
            <a:off x="5081588" y="3716338"/>
            <a:ext cx="434975" cy="247650"/>
          </a:xfrm>
          <a:custGeom>
            <a:avLst/>
            <a:gdLst>
              <a:gd name="txL" fmla="*/ 0 w 270"/>
              <a:gd name="txT" fmla="*/ 0 h 125"/>
              <a:gd name="txR" fmla="*/ 270 w 270"/>
              <a:gd name="txB" fmla="*/ 125 h 125"/>
            </a:gdLst>
            <a:ahLst/>
            <a:cxnLst>
              <a:cxn ang="0">
                <a:pos x="0" y="0"/>
              </a:cxn>
              <a:cxn ang="0">
                <a:pos x="2147483647" y="2147483647"/>
              </a:cxn>
            </a:cxnLst>
            <a:rect l="txL" t="txT" r="txR" b="txB"/>
            <a:pathLst>
              <a:path w="270" h="125">
                <a:moveTo>
                  <a:pt x="0" y="0"/>
                </a:moveTo>
                <a:cubicBezTo>
                  <a:pt x="153" y="4"/>
                  <a:pt x="219" y="125"/>
                  <a:pt x="270" y="111"/>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6426" name="Text Box 169"/>
          <p:cNvSpPr txBox="1">
            <a:spLocks noChangeAspect="1"/>
          </p:cNvSpPr>
          <p:nvPr/>
        </p:nvSpPr>
        <p:spPr>
          <a:xfrm>
            <a:off x="47625" y="1084263"/>
            <a:ext cx="2608263" cy="1249362"/>
          </a:xfrm>
          <a:prstGeom prst="rect">
            <a:avLst/>
          </a:prstGeom>
          <a:solidFill>
            <a:schemeClr val="bg1"/>
          </a:solidFill>
          <a:ln w="57150" cap="flat" cmpd="sng">
            <a:solidFill>
              <a:srgbClr val="00FF00"/>
            </a:solidFill>
            <a:prstDash val="solid"/>
            <a:miter/>
            <a:headEnd type="none" w="med" len="med"/>
            <a:tailEnd type="none" w="med" len="med"/>
          </a:ln>
        </p:spPr>
        <p:txBody>
          <a:bodyPr wrap="none">
            <a:spAutoFit/>
          </a:bodyPr>
          <a:p>
            <a:pPr eaLnBrk="1" hangingPunct="1"/>
            <a:r>
              <a:rPr lang="en-US" altLang="en-US" sz="800" dirty="0">
                <a:latin typeface="Arial" panose="020B0604020202020204" pitchFamily="34" charset="0"/>
              </a:rPr>
              <a:t>REQ1: Keep door locked and auto-lock</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REQ2: Lock when “LOCK” pressed</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REQ3: Unlock when valid key provided</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REQ4: Allow mistakes but prevent dictionary attacks</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REQ5: Maintain a history log</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REQ6: Adding/removing users at runtime</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REQ7: Configuring device activation preferences</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REQ8: Inspecting the access history</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REQ9: Filing inquiries</a:t>
            </a:r>
            <a:endParaRPr lang="en-US" altLang="en-US" sz="800" dirty="0">
              <a:latin typeface="Arial" panose="020B0604020202020204" pitchFamily="34" charset="0"/>
            </a:endParaRPr>
          </a:p>
        </p:txBody>
      </p:sp>
      <p:sp>
        <p:nvSpPr>
          <p:cNvPr id="16427" name="Rectangle 170"/>
          <p:cNvSpPr/>
          <p:nvPr/>
        </p:nvSpPr>
        <p:spPr>
          <a:xfrm>
            <a:off x="3127375" y="6415088"/>
            <a:ext cx="5459413" cy="307975"/>
          </a:xfrm>
          <a:prstGeom prst="rect">
            <a:avLst/>
          </a:prstGeom>
          <a:noFill/>
          <a:ln w="9525">
            <a:noFill/>
          </a:ln>
        </p:spPr>
        <p:txBody>
          <a:bodyPr wrap="none" lIns="0" tIns="0" rIns="0" bIns="0">
            <a:spAutoFit/>
          </a:bodyPr>
          <a:p>
            <a:pPr algn="r" eaLnBrk="1" hangingPunct="1"/>
            <a:r>
              <a:rPr lang="en-US" altLang="en-US" sz="2000" dirty="0">
                <a:solidFill>
                  <a:schemeClr val="tx2"/>
                </a:solidFill>
                <a:latin typeface="AvantGarde Bk BT" pitchFamily="34" charset="0"/>
              </a:rPr>
              <a:t>Difficult to consider the whole system at once…</a:t>
            </a:r>
            <a:endParaRPr lang="en-US" altLang="en-US" sz="2000" dirty="0">
              <a:solidFill>
                <a:schemeClr val="tx2"/>
              </a:solidFill>
              <a:latin typeface="AvantGarde Bk BT"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p:nvPr/>
        </p:nvSpPr>
        <p:spPr>
          <a:xfrm>
            <a:off x="4521200" y="1939925"/>
            <a:ext cx="950913" cy="401638"/>
          </a:xfrm>
          <a:prstGeom prst="rect">
            <a:avLst/>
          </a:prstGeom>
          <a:solidFill>
            <a:srgbClr val="FFCC00"/>
          </a:solidFill>
          <a:ln w="3175" cap="flat" cmpd="sng">
            <a:solidFill>
              <a:schemeClr val="tx1"/>
            </a:solidFill>
            <a:prstDash val="solid"/>
            <a:miter/>
            <a:headEnd type="none" w="med" len="med"/>
            <a:tailEnd type="none" w="med" len="med"/>
          </a:ln>
        </p:spPr>
        <p:txBody>
          <a:bodyPr lIns="27432" tIns="0" rIns="27432" bIns="0"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11" name="Rectangle 3"/>
          <p:cNvSpPr>
            <a:spLocks noGrp="1"/>
          </p:cNvSpPr>
          <p:nvPr>
            <p:ph type="title" idx="4294967295"/>
          </p:nvPr>
        </p:nvSpPr>
        <p:spPr/>
        <p:txBody>
          <a:bodyPr vert="horz" wrap="square" lIns="0" tIns="45720" rIns="0" bIns="45720" anchor="ctr" anchorCtr="0"/>
          <a:p>
            <a:pPr eaLnBrk="1" hangingPunct="1"/>
            <a:r>
              <a:rPr lang="en-US" altLang="en-US" dirty="0"/>
              <a:t>Example: Problem Decomposition</a:t>
            </a:r>
            <a:endParaRPr lang="en-US" altLang="en-US" dirty="0"/>
          </a:p>
        </p:txBody>
      </p:sp>
      <p:sp>
        <p:nvSpPr>
          <p:cNvPr id="17412" name="Rectangle 4"/>
          <p:cNvSpPr>
            <a:spLocks noChangeAspect="1"/>
          </p:cNvSpPr>
          <p:nvPr/>
        </p:nvSpPr>
        <p:spPr>
          <a:xfrm>
            <a:off x="1573213" y="2436813"/>
            <a:ext cx="5942012" cy="3690937"/>
          </a:xfrm>
          <a:prstGeom prst="rect">
            <a:avLst/>
          </a:prstGeom>
          <a:no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13" name="Text Box 5"/>
          <p:cNvSpPr txBox="1">
            <a:spLocks noChangeAspect="1"/>
          </p:cNvSpPr>
          <p:nvPr/>
        </p:nvSpPr>
        <p:spPr>
          <a:xfrm>
            <a:off x="2047875" y="2382838"/>
            <a:ext cx="906463" cy="106362"/>
          </a:xfrm>
          <a:prstGeom prst="rect">
            <a:avLst/>
          </a:prstGeom>
          <a:solidFill>
            <a:schemeClr val="bg1"/>
          </a:solidFill>
          <a:ln w="9525">
            <a:noFill/>
          </a:ln>
        </p:spPr>
        <p:txBody>
          <a:bodyPr wrap="none" lIns="45720" tIns="0" rIns="45720" bIns="0">
            <a:spAutoFit/>
          </a:bodyPr>
          <a:p>
            <a:pPr eaLnBrk="1" hangingPunct="1"/>
            <a:r>
              <a:rPr lang="en-US" altLang="en-US" sz="700" dirty="0">
                <a:latin typeface="Arial" panose="020B0604020202020204" pitchFamily="34" charset="0"/>
              </a:rPr>
              <a:t>PROBLEM DOMAIN</a:t>
            </a:r>
            <a:endParaRPr lang="en-US" altLang="en-US" sz="700" dirty="0">
              <a:latin typeface="Arial" panose="020B0604020202020204" pitchFamily="34" charset="0"/>
            </a:endParaRPr>
          </a:p>
        </p:txBody>
      </p:sp>
      <p:sp>
        <p:nvSpPr>
          <p:cNvPr id="17414" name="Text Box 6"/>
          <p:cNvSpPr txBox="1">
            <a:spLocks noChangeAspect="1"/>
          </p:cNvSpPr>
          <p:nvPr/>
        </p:nvSpPr>
        <p:spPr>
          <a:xfrm>
            <a:off x="2944813" y="5189538"/>
            <a:ext cx="1066800" cy="182562"/>
          </a:xfrm>
          <a:prstGeom prst="rect">
            <a:avLst/>
          </a:prstGeom>
          <a:noFill/>
          <a:ln w="9525">
            <a:noFill/>
          </a:ln>
        </p:spPr>
        <p:txBody>
          <a:bodyPr wrap="none" lIns="0" tIns="0" rIns="0" bIns="0">
            <a:spAutoFit/>
          </a:bodyPr>
          <a:p>
            <a:pPr algn="ctr" eaLnBrk="1" hangingPunct="1"/>
            <a:r>
              <a:rPr lang="en-US" altLang="en-US" sz="1200" b="1" dirty="0">
                <a:latin typeface="Arial" panose="020B0604020202020204" pitchFamily="34" charset="0"/>
              </a:rPr>
              <a:t>Software-to-be</a:t>
            </a:r>
            <a:endParaRPr lang="en-US" altLang="en-US" sz="1200" b="1" dirty="0">
              <a:latin typeface="Arial" panose="020B0604020202020204" pitchFamily="34" charset="0"/>
            </a:endParaRPr>
          </a:p>
        </p:txBody>
      </p:sp>
      <p:grpSp>
        <p:nvGrpSpPr>
          <p:cNvPr id="17415" name="Group 7"/>
          <p:cNvGrpSpPr>
            <a:grpSpLocks noChangeAspect="1"/>
          </p:cNvGrpSpPr>
          <p:nvPr/>
        </p:nvGrpSpPr>
        <p:grpSpPr>
          <a:xfrm>
            <a:off x="3009900" y="3975100"/>
            <a:ext cx="1031875" cy="1162050"/>
            <a:chOff x="1589" y="3012"/>
            <a:chExt cx="758" cy="854"/>
          </a:xfrm>
        </p:grpSpPr>
        <p:sp>
          <p:nvSpPr>
            <p:cNvPr id="17569" name="AutoShape 8"/>
            <p:cNvSpPr>
              <a:spLocks noChangeAspect="1"/>
            </p:cNvSpPr>
            <p:nvPr/>
          </p:nvSpPr>
          <p:spPr>
            <a:xfrm>
              <a:off x="1590" y="3109"/>
              <a:ext cx="756" cy="756"/>
            </a:xfrm>
            <a:prstGeom prst="cube">
              <a:avLst>
                <a:gd name="adj" fmla="val 25000"/>
              </a:avLst>
            </a:prstGeom>
            <a:solidFill>
              <a:schemeClr val="bg1"/>
            </a:solidFill>
            <a:ln w="285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0" name="AutoShape 9"/>
            <p:cNvSpPr>
              <a:spLocks noChangeAspect="1"/>
            </p:cNvSpPr>
            <p:nvPr/>
          </p:nvSpPr>
          <p:spPr>
            <a:xfrm>
              <a:off x="1620" y="3659"/>
              <a:ext cx="516" cy="169"/>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1" name="AutoShape 10"/>
            <p:cNvSpPr>
              <a:spLocks noChangeAspect="1"/>
            </p:cNvSpPr>
            <p:nvPr/>
          </p:nvSpPr>
          <p:spPr>
            <a:xfrm>
              <a:off x="1650" y="3395"/>
              <a:ext cx="277" cy="343"/>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2" name="AutoShape 11"/>
            <p:cNvSpPr>
              <a:spLocks noChangeAspect="1"/>
            </p:cNvSpPr>
            <p:nvPr/>
          </p:nvSpPr>
          <p:spPr>
            <a:xfrm>
              <a:off x="1690" y="3130"/>
              <a:ext cx="193" cy="376"/>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3" name="AutoShape 12"/>
            <p:cNvSpPr>
              <a:spLocks noChangeAspect="1"/>
            </p:cNvSpPr>
            <p:nvPr/>
          </p:nvSpPr>
          <p:spPr>
            <a:xfrm>
              <a:off x="1899" y="3012"/>
              <a:ext cx="277" cy="343"/>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4" name="AutoShape 13"/>
            <p:cNvSpPr>
              <a:spLocks noChangeAspect="1"/>
            </p:cNvSpPr>
            <p:nvPr/>
          </p:nvSpPr>
          <p:spPr>
            <a:xfrm>
              <a:off x="2010" y="3131"/>
              <a:ext cx="277" cy="242"/>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5" name="Freeform 14"/>
            <p:cNvSpPr>
              <a:spLocks noChangeAspect="1"/>
            </p:cNvSpPr>
            <p:nvPr/>
          </p:nvSpPr>
          <p:spPr>
            <a:xfrm rot="5400000">
              <a:off x="1873" y="3393"/>
              <a:ext cx="757" cy="188"/>
            </a:xfrm>
            <a:custGeom>
              <a:avLst/>
              <a:gdLst>
                <a:gd name="txL" fmla="*/ 0 w 1527"/>
                <a:gd name="txT" fmla="*/ 0 h 381"/>
                <a:gd name="txR" fmla="*/ 1527 w 1527"/>
                <a:gd name="txB" fmla="*/ 381 h 381"/>
              </a:gdLst>
              <a:ahLst/>
              <a:cxnLst>
                <a:cxn ang="0">
                  <a:pos x="0" y="0"/>
                </a:cxn>
                <a:cxn ang="0">
                  <a:pos x="1" y="0"/>
                </a:cxn>
                <a:cxn ang="0">
                  <a:pos x="1" y="0"/>
                </a:cxn>
                <a:cxn ang="0">
                  <a:pos x="0" y="0"/>
                </a:cxn>
                <a:cxn ang="0">
                  <a:pos x="0" y="0"/>
                </a:cxn>
              </a:cxnLst>
              <a:rect l="txL" t="txT" r="txR" b="txB"/>
              <a:pathLst>
                <a:path w="1527" h="381">
                  <a:moveTo>
                    <a:pt x="0" y="0"/>
                  </a:moveTo>
                  <a:lnTo>
                    <a:pt x="1145" y="0"/>
                  </a:lnTo>
                  <a:lnTo>
                    <a:pt x="1527" y="381"/>
                  </a:lnTo>
                  <a:lnTo>
                    <a:pt x="381" y="381"/>
                  </a:lnTo>
                  <a:lnTo>
                    <a:pt x="0" y="0"/>
                  </a:lnTo>
                  <a:close/>
                </a:path>
              </a:pathLst>
            </a:custGeom>
            <a:solidFill>
              <a:srgbClr val="C0C0C0">
                <a:alpha val="100000"/>
              </a:srgbClr>
            </a:solid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17576" name="AutoShape 15"/>
            <p:cNvSpPr>
              <a:spLocks noChangeAspect="1"/>
            </p:cNvSpPr>
            <p:nvPr/>
          </p:nvSpPr>
          <p:spPr>
            <a:xfrm>
              <a:off x="2010" y="3131"/>
              <a:ext cx="276" cy="243"/>
            </a:xfrm>
            <a:prstGeom prst="cube">
              <a:avLst>
                <a:gd name="adj" fmla="val 25000"/>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7" name="AutoShape 16"/>
            <p:cNvSpPr>
              <a:spLocks noChangeAspect="1"/>
            </p:cNvSpPr>
            <p:nvPr/>
          </p:nvSpPr>
          <p:spPr>
            <a:xfrm>
              <a:off x="1937" y="3390"/>
              <a:ext cx="143" cy="444"/>
            </a:xfrm>
            <a:prstGeom prst="cube">
              <a:avLst>
                <a:gd name="adj" fmla="val 25000"/>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78" name="Freeform 17"/>
            <p:cNvSpPr>
              <a:spLocks noChangeAspect="1"/>
            </p:cNvSpPr>
            <p:nvPr/>
          </p:nvSpPr>
          <p:spPr>
            <a:xfrm>
              <a:off x="1589" y="3107"/>
              <a:ext cx="758" cy="758"/>
            </a:xfrm>
            <a:custGeom>
              <a:avLst/>
              <a:gdLst>
                <a:gd name="txL" fmla="*/ 0 w 1528"/>
                <a:gd name="txT" fmla="*/ 0 h 1528"/>
                <a:gd name="txR" fmla="*/ 1528 w 1528"/>
                <a:gd name="txB" fmla="*/ 1528 h 1528"/>
              </a:gdLst>
              <a:ahLst/>
              <a:cxnLst>
                <a:cxn ang="0">
                  <a:pos x="1" y="0"/>
                </a:cxn>
                <a:cxn ang="0">
                  <a:pos x="1" y="0"/>
                </a:cxn>
                <a:cxn ang="0">
                  <a:pos x="0" y="0"/>
                </a:cxn>
                <a:cxn ang="0">
                  <a:pos x="0" y="1"/>
                </a:cxn>
                <a:cxn ang="0">
                  <a:pos x="1" y="1"/>
                </a:cxn>
                <a:cxn ang="0">
                  <a:pos x="1" y="0"/>
                </a:cxn>
              </a:cxnLst>
              <a:rect l="txL" t="txT" r="txR" b="txB"/>
              <a:pathLst>
                <a:path w="1528" h="1528">
                  <a:moveTo>
                    <a:pt x="1528" y="0"/>
                  </a:moveTo>
                  <a:lnTo>
                    <a:pt x="1144" y="382"/>
                  </a:lnTo>
                  <a:lnTo>
                    <a:pt x="0" y="382"/>
                  </a:lnTo>
                  <a:lnTo>
                    <a:pt x="0" y="1528"/>
                  </a:lnTo>
                  <a:lnTo>
                    <a:pt x="1144" y="1528"/>
                  </a:lnTo>
                  <a:lnTo>
                    <a:pt x="1144" y="384"/>
                  </a:ln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17416" name="Group 18"/>
          <p:cNvGrpSpPr>
            <a:grpSpLocks noChangeAspect="1"/>
          </p:cNvGrpSpPr>
          <p:nvPr/>
        </p:nvGrpSpPr>
        <p:grpSpPr>
          <a:xfrm>
            <a:off x="6138863" y="4549775"/>
            <a:ext cx="509587" cy="401638"/>
            <a:chOff x="1344" y="3042"/>
            <a:chExt cx="423" cy="335"/>
          </a:xfrm>
        </p:grpSpPr>
        <p:sp>
          <p:nvSpPr>
            <p:cNvPr id="17561" name="Freeform 19"/>
            <p:cNvSpPr>
              <a:spLocks noChangeAspect="1"/>
            </p:cNvSpPr>
            <p:nvPr/>
          </p:nvSpPr>
          <p:spPr>
            <a:xfrm>
              <a:off x="1344" y="3042"/>
              <a:ext cx="287" cy="335"/>
            </a:xfrm>
            <a:custGeom>
              <a:avLst/>
              <a:gdLst>
                <a:gd name="txL" fmla="*/ 0 w 2377"/>
                <a:gd name="txT" fmla="*/ 0 h 2777"/>
                <a:gd name="txR" fmla="*/ 2377 w 2377"/>
                <a:gd name="txB" fmla="*/ 2777 h 277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377" h="2777">
                  <a:moveTo>
                    <a:pt x="416" y="0"/>
                  </a:moveTo>
                  <a:cubicBezTo>
                    <a:pt x="347" y="24"/>
                    <a:pt x="355" y="309"/>
                    <a:pt x="288" y="456"/>
                  </a:cubicBezTo>
                  <a:cubicBezTo>
                    <a:pt x="221" y="603"/>
                    <a:pt x="21" y="607"/>
                    <a:pt x="16" y="880"/>
                  </a:cubicBezTo>
                  <a:cubicBezTo>
                    <a:pt x="11" y="1153"/>
                    <a:pt x="251" y="1801"/>
                    <a:pt x="256" y="2096"/>
                  </a:cubicBezTo>
                  <a:cubicBezTo>
                    <a:pt x="261" y="2391"/>
                    <a:pt x="0" y="2536"/>
                    <a:pt x="48" y="2648"/>
                  </a:cubicBezTo>
                  <a:cubicBezTo>
                    <a:pt x="96" y="2760"/>
                    <a:pt x="325" y="2777"/>
                    <a:pt x="544" y="2768"/>
                  </a:cubicBezTo>
                  <a:cubicBezTo>
                    <a:pt x="763" y="2759"/>
                    <a:pt x="1087" y="2692"/>
                    <a:pt x="1360" y="2592"/>
                  </a:cubicBezTo>
                  <a:cubicBezTo>
                    <a:pt x="1633" y="2492"/>
                    <a:pt x="2025" y="2293"/>
                    <a:pt x="2184" y="2168"/>
                  </a:cubicBezTo>
                  <a:cubicBezTo>
                    <a:pt x="2343" y="2043"/>
                    <a:pt x="2377" y="1937"/>
                    <a:pt x="2312" y="1840"/>
                  </a:cubicBezTo>
                  <a:cubicBezTo>
                    <a:pt x="2247" y="1743"/>
                    <a:pt x="1967" y="1814"/>
                    <a:pt x="1792" y="1584"/>
                  </a:cubicBezTo>
                  <a:cubicBezTo>
                    <a:pt x="1617" y="1354"/>
                    <a:pt x="1436" y="669"/>
                    <a:pt x="1264" y="456"/>
                  </a:cubicBezTo>
                  <a:cubicBezTo>
                    <a:pt x="1092" y="243"/>
                    <a:pt x="901" y="380"/>
                    <a:pt x="760" y="304"/>
                  </a:cubicBezTo>
                  <a:cubicBezTo>
                    <a:pt x="619" y="228"/>
                    <a:pt x="488" y="63"/>
                    <a:pt x="416" y="0"/>
                  </a:cubicBez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62" name="Oval 20"/>
            <p:cNvSpPr>
              <a:spLocks noChangeAspect="1"/>
            </p:cNvSpPr>
            <p:nvPr/>
          </p:nvSpPr>
          <p:spPr>
            <a:xfrm rot="-1089134">
              <a:off x="1357" y="3283"/>
              <a:ext cx="263" cy="67"/>
            </a:xfrm>
            <a:prstGeom prst="ellipse">
              <a:avLst/>
            </a:prstGeom>
            <a:solidFill>
              <a:srgbClr val="B2B2B2"/>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63" name="Freeform 21"/>
            <p:cNvSpPr>
              <a:spLocks noChangeAspect="1"/>
            </p:cNvSpPr>
            <p:nvPr/>
          </p:nvSpPr>
          <p:spPr>
            <a:xfrm>
              <a:off x="1372" y="3251"/>
              <a:ext cx="204" cy="73"/>
            </a:xfrm>
            <a:custGeom>
              <a:avLst/>
              <a:gdLst>
                <a:gd name="txL" fmla="*/ 0 w 1688"/>
                <a:gd name="txT" fmla="*/ 0 h 600"/>
                <a:gd name="txR" fmla="*/ 1688 w 1688"/>
                <a:gd name="txB" fmla="*/ 600 h 600"/>
              </a:gdLst>
              <a:ahLst/>
              <a:cxnLst>
                <a:cxn ang="0">
                  <a:pos x="0" y="0"/>
                </a:cxn>
                <a:cxn ang="0">
                  <a:pos x="0" y="0"/>
                </a:cxn>
                <a:cxn ang="0">
                  <a:pos x="0" y="0"/>
                </a:cxn>
                <a:cxn ang="0">
                  <a:pos x="0" y="0"/>
                </a:cxn>
                <a:cxn ang="0">
                  <a:pos x="0" y="0"/>
                </a:cxn>
              </a:cxnLst>
              <a:rect l="txL" t="txT" r="txR" b="txB"/>
              <a:pathLst>
                <a:path w="1688" h="600">
                  <a:moveTo>
                    <a:pt x="0" y="600"/>
                  </a:moveTo>
                  <a:cubicBezTo>
                    <a:pt x="57" y="563"/>
                    <a:pt x="211" y="447"/>
                    <a:pt x="344" y="376"/>
                  </a:cubicBezTo>
                  <a:cubicBezTo>
                    <a:pt x="477" y="305"/>
                    <a:pt x="644" y="231"/>
                    <a:pt x="800" y="176"/>
                  </a:cubicBezTo>
                  <a:cubicBezTo>
                    <a:pt x="956" y="121"/>
                    <a:pt x="1132" y="77"/>
                    <a:pt x="1280" y="48"/>
                  </a:cubicBezTo>
                  <a:cubicBezTo>
                    <a:pt x="1428" y="19"/>
                    <a:pt x="1603" y="10"/>
                    <a:pt x="1688" y="0"/>
                  </a:cubicBezTo>
                </a:path>
              </a:pathLst>
            </a:custGeom>
            <a:noFill/>
            <a:ln w="9525" cap="flat" cmpd="sng">
              <a:solidFill>
                <a:srgbClr val="5F5F5F">
                  <a:alpha val="100000"/>
                </a:srgbClr>
              </a:solidFill>
              <a:prstDash val="solid"/>
              <a:round/>
              <a:headEnd type="none" w="med" len="med"/>
              <a:tailEnd type="none" w="med" len="med"/>
            </a:ln>
          </p:spPr>
          <p:txBody>
            <a:bodyPr/>
            <a:p>
              <a:endParaRPr lang="zh-CN" altLang="en-US"/>
            </a:p>
          </p:txBody>
        </p:sp>
        <p:sp>
          <p:nvSpPr>
            <p:cNvPr id="17564" name="Freeform 22"/>
            <p:cNvSpPr>
              <a:spLocks noChangeAspect="1"/>
            </p:cNvSpPr>
            <p:nvPr/>
          </p:nvSpPr>
          <p:spPr>
            <a:xfrm>
              <a:off x="1450" y="3291"/>
              <a:ext cx="15" cy="31"/>
            </a:xfrm>
            <a:custGeom>
              <a:avLst/>
              <a:gdLst>
                <a:gd name="txL" fmla="*/ 0 w 123"/>
                <a:gd name="txT" fmla="*/ 0 h 254"/>
                <a:gd name="txR" fmla="*/ 123 w 123"/>
                <a:gd name="txB" fmla="*/ 254 h 254"/>
              </a:gdLst>
              <a:ahLst/>
              <a:cxnLst>
                <a:cxn ang="0">
                  <a:pos x="0" y="0"/>
                </a:cxn>
                <a:cxn ang="0">
                  <a:pos x="0" y="0"/>
                </a:cxn>
                <a:cxn ang="0">
                  <a:pos x="0" y="0"/>
                </a:cxn>
                <a:cxn ang="0">
                  <a:pos x="0" y="0"/>
                </a:cxn>
                <a:cxn ang="0">
                  <a:pos x="0" y="0"/>
                </a:cxn>
              </a:cxnLst>
              <a:rect l="txL" t="txT" r="txR" b="txB"/>
              <a:pathLst>
                <a:path w="123" h="254">
                  <a:moveTo>
                    <a:pt x="2" y="254"/>
                  </a:moveTo>
                  <a:lnTo>
                    <a:pt x="0" y="45"/>
                  </a:lnTo>
                  <a:lnTo>
                    <a:pt x="123" y="0"/>
                  </a:lnTo>
                  <a:lnTo>
                    <a:pt x="122" y="238"/>
                  </a:lnTo>
                  <a:lnTo>
                    <a:pt x="2" y="254"/>
                  </a:lnTo>
                  <a:close/>
                </a:path>
              </a:pathLst>
            </a:custGeom>
            <a:solidFill>
              <a:schemeClr val="tx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65" name="Oval 23"/>
            <p:cNvSpPr>
              <a:spLocks noChangeAspect="1"/>
            </p:cNvSpPr>
            <p:nvPr/>
          </p:nvSpPr>
          <p:spPr>
            <a:xfrm>
              <a:off x="1433" y="3318"/>
              <a:ext cx="53" cy="5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66" name="Freeform 24"/>
            <p:cNvSpPr>
              <a:spLocks noChangeAspect="1"/>
            </p:cNvSpPr>
            <p:nvPr/>
          </p:nvSpPr>
          <p:spPr>
            <a:xfrm>
              <a:off x="1635" y="3114"/>
              <a:ext cx="38" cy="86"/>
            </a:xfrm>
            <a:custGeom>
              <a:avLst/>
              <a:gdLst>
                <a:gd name="txL" fmla="*/ 0 w 312"/>
                <a:gd name="txT" fmla="*/ 0 h 708"/>
                <a:gd name="txR" fmla="*/ 312 w 312"/>
                <a:gd name="txB" fmla="*/ 708 h 708"/>
              </a:gdLst>
              <a:ahLst/>
              <a:cxnLst>
                <a:cxn ang="0">
                  <a:pos x="0" y="0"/>
                </a:cxn>
                <a:cxn ang="0">
                  <a:pos x="0" y="0"/>
                </a:cxn>
                <a:cxn ang="0">
                  <a:pos x="0" y="0"/>
                </a:cxn>
                <a:cxn ang="0">
                  <a:pos x="0" y="0"/>
                </a:cxn>
              </a:cxnLst>
              <a:rect l="txL" t="txT" r="txR" b="txB"/>
              <a:pathLst>
                <a:path w="312" h="708">
                  <a:moveTo>
                    <a:pt x="0" y="630"/>
                  </a:moveTo>
                  <a:lnTo>
                    <a:pt x="312" y="0"/>
                  </a:lnTo>
                  <a:lnTo>
                    <a:pt x="156" y="708"/>
                  </a:lnTo>
                  <a:lnTo>
                    <a:pt x="0" y="630"/>
                  </a:lnTo>
                  <a:close/>
                </a:path>
              </a:pathLst>
            </a:custGeom>
            <a:solidFill>
              <a:schemeClr val="tx1">
                <a:alpha val="100000"/>
              </a:schemeClr>
            </a:solidFill>
            <a:ln w="9525">
              <a:noFill/>
            </a:ln>
          </p:spPr>
          <p:txBody>
            <a:bodyPr/>
            <a:p>
              <a:endParaRPr lang="zh-CN" altLang="en-US"/>
            </a:p>
          </p:txBody>
        </p:sp>
        <p:sp>
          <p:nvSpPr>
            <p:cNvPr id="17567" name="Freeform 25"/>
            <p:cNvSpPr>
              <a:spLocks noChangeAspect="1"/>
            </p:cNvSpPr>
            <p:nvPr/>
          </p:nvSpPr>
          <p:spPr>
            <a:xfrm>
              <a:off x="1663" y="3159"/>
              <a:ext cx="82" cy="77"/>
            </a:xfrm>
            <a:custGeom>
              <a:avLst/>
              <a:gdLst>
                <a:gd name="txL" fmla="*/ 0 w 678"/>
                <a:gd name="txT" fmla="*/ 0 h 642"/>
                <a:gd name="txR" fmla="*/ 678 w 678"/>
                <a:gd name="txB" fmla="*/ 642 h 642"/>
              </a:gdLst>
              <a:ahLst/>
              <a:cxnLst>
                <a:cxn ang="0">
                  <a:pos x="0" y="0"/>
                </a:cxn>
                <a:cxn ang="0">
                  <a:pos x="0" y="0"/>
                </a:cxn>
                <a:cxn ang="0">
                  <a:pos x="0" y="0"/>
                </a:cxn>
                <a:cxn ang="0">
                  <a:pos x="0" y="0"/>
                </a:cxn>
              </a:cxnLst>
              <a:rect l="txL" t="txT" r="txR" b="txB"/>
              <a:pathLst>
                <a:path w="678" h="642">
                  <a:moveTo>
                    <a:pt x="0" y="492"/>
                  </a:moveTo>
                  <a:lnTo>
                    <a:pt x="678" y="0"/>
                  </a:lnTo>
                  <a:lnTo>
                    <a:pt x="114" y="642"/>
                  </a:lnTo>
                  <a:lnTo>
                    <a:pt x="0" y="492"/>
                  </a:lnTo>
                  <a:close/>
                </a:path>
              </a:pathLst>
            </a:custGeom>
            <a:solidFill>
              <a:schemeClr val="tx1">
                <a:alpha val="100000"/>
              </a:schemeClr>
            </a:solidFill>
            <a:ln w="9525">
              <a:noFill/>
            </a:ln>
          </p:spPr>
          <p:txBody>
            <a:bodyPr/>
            <a:p>
              <a:endParaRPr lang="zh-CN" altLang="en-US"/>
            </a:p>
          </p:txBody>
        </p:sp>
        <p:sp>
          <p:nvSpPr>
            <p:cNvPr id="17568" name="Freeform 26"/>
            <p:cNvSpPr>
              <a:spLocks noChangeAspect="1"/>
            </p:cNvSpPr>
            <p:nvPr/>
          </p:nvSpPr>
          <p:spPr>
            <a:xfrm>
              <a:off x="1681" y="3242"/>
              <a:ext cx="86" cy="41"/>
            </a:xfrm>
            <a:custGeom>
              <a:avLst/>
              <a:gdLst>
                <a:gd name="txL" fmla="*/ 0 w 714"/>
                <a:gd name="txT" fmla="*/ 0 h 342"/>
                <a:gd name="txR" fmla="*/ 714 w 714"/>
                <a:gd name="txB" fmla="*/ 342 h 342"/>
              </a:gdLst>
              <a:ahLst/>
              <a:cxnLst>
                <a:cxn ang="0">
                  <a:pos x="0" y="0"/>
                </a:cxn>
                <a:cxn ang="0">
                  <a:pos x="0" y="0"/>
                </a:cxn>
                <a:cxn ang="0">
                  <a:pos x="0" y="0"/>
                </a:cxn>
                <a:cxn ang="0">
                  <a:pos x="0" y="0"/>
                </a:cxn>
              </a:cxnLst>
              <a:rect l="txL" t="txT" r="txR" b="txB"/>
              <a:pathLst>
                <a:path w="714" h="342">
                  <a:moveTo>
                    <a:pt x="0" y="144"/>
                  </a:moveTo>
                  <a:lnTo>
                    <a:pt x="714" y="0"/>
                  </a:lnTo>
                  <a:lnTo>
                    <a:pt x="12" y="342"/>
                  </a:lnTo>
                  <a:lnTo>
                    <a:pt x="0" y="144"/>
                  </a:lnTo>
                  <a:close/>
                </a:path>
              </a:pathLst>
            </a:custGeom>
            <a:solidFill>
              <a:schemeClr val="tx1">
                <a:alpha val="100000"/>
              </a:schemeClr>
            </a:solidFill>
            <a:ln w="9525">
              <a:noFill/>
            </a:ln>
          </p:spPr>
          <p:txBody>
            <a:bodyPr/>
            <a:p>
              <a:endParaRPr lang="zh-CN" altLang="en-US"/>
            </a:p>
          </p:txBody>
        </p:sp>
      </p:grpSp>
      <p:grpSp>
        <p:nvGrpSpPr>
          <p:cNvPr id="17417" name="Group 27"/>
          <p:cNvGrpSpPr>
            <a:grpSpLocks noChangeAspect="1"/>
          </p:cNvGrpSpPr>
          <p:nvPr/>
        </p:nvGrpSpPr>
        <p:grpSpPr>
          <a:xfrm>
            <a:off x="2039938" y="3149600"/>
            <a:ext cx="360362" cy="157163"/>
            <a:chOff x="1031" y="1346"/>
            <a:chExt cx="691" cy="301"/>
          </a:xfrm>
        </p:grpSpPr>
        <p:sp>
          <p:nvSpPr>
            <p:cNvPr id="17558" name="Oval 28"/>
            <p:cNvSpPr>
              <a:spLocks noChangeAspect="1"/>
            </p:cNvSpPr>
            <p:nvPr/>
          </p:nvSpPr>
          <p:spPr>
            <a:xfrm>
              <a:off x="1073" y="1474"/>
              <a:ext cx="45" cy="45"/>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59" name="Arc 29"/>
            <p:cNvSpPr>
              <a:spLocks noChangeAspect="1"/>
            </p:cNvSpPr>
            <p:nvPr/>
          </p:nvSpPr>
          <p:spPr>
            <a:xfrm>
              <a:off x="1031" y="1346"/>
              <a:ext cx="294" cy="301"/>
            </a:xfrm>
            <a:custGeom>
              <a:avLst/>
              <a:gdLst>
                <a:gd name="txL" fmla="*/ 0 w 42199"/>
                <a:gd name="txT" fmla="*/ 0 h 43200"/>
                <a:gd name="txR" fmla="*/ 42199 w 42199"/>
                <a:gd name="txB" fmla="*/ 43200 h 43200"/>
              </a:gdLst>
              <a:ahLst/>
              <a:cxnLst>
                <a:cxn ang="0">
                  <a:pos x="0" y="0"/>
                </a:cxn>
                <a:cxn ang="0">
                  <a:pos x="0" y="0"/>
                </a:cxn>
                <a:cxn ang="0">
                  <a:pos x="0" y="0"/>
                </a:cxn>
              </a:cxnLst>
              <a:rect l="txL" t="txT" r="txR" b="txB"/>
              <a:pathLst>
                <a:path w="42199" h="43200" fill="none">
                  <a:moveTo>
                    <a:pt x="42198" y="28099"/>
                  </a:moveTo>
                  <a:cubicBezTo>
                    <a:pt x="39362" y="37088"/>
                    <a:pt x="31025" y="43199"/>
                    <a:pt x="21600" y="43199"/>
                  </a:cubicBezTo>
                  <a:cubicBezTo>
                    <a:pt x="9670" y="43200"/>
                    <a:pt x="0" y="33529"/>
                    <a:pt x="0" y="21600"/>
                  </a:cubicBezTo>
                  <a:cubicBezTo>
                    <a:pt x="0" y="9670"/>
                    <a:pt x="9670" y="0"/>
                    <a:pt x="21600" y="0"/>
                  </a:cubicBezTo>
                  <a:cubicBezTo>
                    <a:pt x="30873" y="0"/>
                    <a:pt x="39111" y="5918"/>
                    <a:pt x="42070" y="14707"/>
                  </a:cubicBezTo>
                </a:path>
                <a:path w="42199" h="43200" stroke="0">
                  <a:moveTo>
                    <a:pt x="42198" y="28099"/>
                  </a:moveTo>
                  <a:cubicBezTo>
                    <a:pt x="39362" y="37088"/>
                    <a:pt x="31025" y="43199"/>
                    <a:pt x="21600" y="43199"/>
                  </a:cubicBezTo>
                  <a:cubicBezTo>
                    <a:pt x="9670" y="43200"/>
                    <a:pt x="0" y="33529"/>
                    <a:pt x="0" y="21600"/>
                  </a:cubicBezTo>
                  <a:cubicBezTo>
                    <a:pt x="0" y="9670"/>
                    <a:pt x="9670" y="0"/>
                    <a:pt x="21600" y="0"/>
                  </a:cubicBezTo>
                  <a:cubicBezTo>
                    <a:pt x="30873" y="0"/>
                    <a:pt x="39111" y="5918"/>
                    <a:pt x="42070" y="14707"/>
                  </a:cubicBezTo>
                  <a:lnTo>
                    <a:pt x="21600" y="21600"/>
                  </a:lnTo>
                  <a:lnTo>
                    <a:pt x="42198" y="28099"/>
                  </a:lnTo>
                  <a:close/>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60" name="Freeform 30"/>
            <p:cNvSpPr>
              <a:spLocks noChangeAspect="1"/>
            </p:cNvSpPr>
            <p:nvPr/>
          </p:nvSpPr>
          <p:spPr>
            <a:xfrm>
              <a:off x="1324" y="1397"/>
              <a:ext cx="398" cy="190"/>
            </a:xfrm>
            <a:custGeom>
              <a:avLst/>
              <a:gdLst>
                <a:gd name="txL" fmla="*/ 0 w 792"/>
                <a:gd name="txT" fmla="*/ 0 h 378"/>
                <a:gd name="txR" fmla="*/ 792 w 792"/>
                <a:gd name="txB" fmla="*/ 378 h 378"/>
              </a:gdLst>
              <a:ahLst/>
              <a:cxnLst>
                <a:cxn ang="0">
                  <a:pos x="0" y="1"/>
                </a:cxn>
                <a:cxn ang="0">
                  <a:pos x="1" y="1"/>
                </a:cxn>
                <a:cxn ang="0">
                  <a:pos x="1" y="1"/>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rect l="txL" t="txT" r="txR" b="txB"/>
              <a:pathLst>
                <a:path w="792" h="378">
                  <a:moveTo>
                    <a:pt x="0" y="102"/>
                  </a:moveTo>
                  <a:lnTo>
                    <a:pt x="22" y="102"/>
                  </a:lnTo>
                  <a:lnTo>
                    <a:pt x="22" y="24"/>
                  </a:lnTo>
                  <a:lnTo>
                    <a:pt x="47" y="0"/>
                  </a:lnTo>
                  <a:lnTo>
                    <a:pt x="87" y="0"/>
                  </a:lnTo>
                  <a:lnTo>
                    <a:pt x="107" y="21"/>
                  </a:lnTo>
                  <a:lnTo>
                    <a:pt x="107" y="99"/>
                  </a:lnTo>
                  <a:lnTo>
                    <a:pt x="128" y="120"/>
                  </a:lnTo>
                  <a:lnTo>
                    <a:pt x="744" y="120"/>
                  </a:lnTo>
                  <a:lnTo>
                    <a:pt x="792" y="193"/>
                  </a:lnTo>
                  <a:lnTo>
                    <a:pt x="728" y="265"/>
                  </a:lnTo>
                  <a:lnTo>
                    <a:pt x="487" y="265"/>
                  </a:lnTo>
                  <a:lnTo>
                    <a:pt x="453" y="209"/>
                  </a:lnTo>
                  <a:lnTo>
                    <a:pt x="421" y="265"/>
                  </a:lnTo>
                  <a:lnTo>
                    <a:pt x="255" y="265"/>
                  </a:lnTo>
                  <a:lnTo>
                    <a:pt x="224" y="227"/>
                  </a:lnTo>
                  <a:lnTo>
                    <a:pt x="200" y="265"/>
                  </a:lnTo>
                  <a:lnTo>
                    <a:pt x="128" y="265"/>
                  </a:lnTo>
                  <a:lnTo>
                    <a:pt x="108" y="287"/>
                  </a:lnTo>
                  <a:lnTo>
                    <a:pt x="107" y="354"/>
                  </a:lnTo>
                  <a:lnTo>
                    <a:pt x="83" y="378"/>
                  </a:lnTo>
                  <a:lnTo>
                    <a:pt x="44" y="378"/>
                  </a:lnTo>
                  <a:lnTo>
                    <a:pt x="23" y="356"/>
                  </a:lnTo>
                  <a:lnTo>
                    <a:pt x="23" y="287"/>
                  </a:lnTo>
                  <a:lnTo>
                    <a:pt x="2" y="287"/>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17418" name="Group 31"/>
          <p:cNvGrpSpPr>
            <a:grpSpLocks noChangeAspect="1"/>
          </p:cNvGrpSpPr>
          <p:nvPr/>
        </p:nvGrpSpPr>
        <p:grpSpPr>
          <a:xfrm>
            <a:off x="5576888" y="2493963"/>
            <a:ext cx="268287" cy="411162"/>
            <a:chOff x="834" y="1840"/>
            <a:chExt cx="464" cy="710"/>
          </a:xfrm>
        </p:grpSpPr>
        <p:sp>
          <p:nvSpPr>
            <p:cNvPr id="17550" name="AutoShape 32"/>
            <p:cNvSpPr>
              <a:spLocks noChangeAspect="1"/>
            </p:cNvSpPr>
            <p:nvPr/>
          </p:nvSpPr>
          <p:spPr>
            <a:xfrm>
              <a:off x="984" y="2165"/>
              <a:ext cx="164" cy="385"/>
            </a:xfrm>
            <a:prstGeom prst="roundRect">
              <a:avLst>
                <a:gd name="adj" fmla="val 50000"/>
              </a:avLst>
            </a:prstGeom>
            <a:solidFill>
              <a:schemeClr val="bg1"/>
            </a:solidFill>
            <a:ln w="1270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51" name="Freeform 33"/>
            <p:cNvSpPr>
              <a:spLocks noChangeAspect="1"/>
            </p:cNvSpPr>
            <p:nvPr/>
          </p:nvSpPr>
          <p:spPr>
            <a:xfrm>
              <a:off x="872" y="2039"/>
              <a:ext cx="388" cy="338"/>
            </a:xfrm>
            <a:custGeom>
              <a:avLst/>
              <a:gdLst>
                <a:gd name="txL" fmla="*/ 0 w 1597"/>
                <a:gd name="txT" fmla="*/ 0 h 1390"/>
                <a:gd name="txR" fmla="*/ 1597 w 1597"/>
                <a:gd name="txB" fmla="*/ 1390 h 139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597" h="1390">
                  <a:moveTo>
                    <a:pt x="461" y="1390"/>
                  </a:moveTo>
                  <a:cubicBezTo>
                    <a:pt x="459" y="1365"/>
                    <a:pt x="468" y="1291"/>
                    <a:pt x="449" y="1240"/>
                  </a:cubicBezTo>
                  <a:cubicBezTo>
                    <a:pt x="430" y="1189"/>
                    <a:pt x="403" y="1145"/>
                    <a:pt x="349" y="1081"/>
                  </a:cubicBezTo>
                  <a:cubicBezTo>
                    <a:pt x="295" y="1017"/>
                    <a:pt x="175" y="932"/>
                    <a:pt x="123" y="856"/>
                  </a:cubicBezTo>
                  <a:cubicBezTo>
                    <a:pt x="71" y="780"/>
                    <a:pt x="0" y="753"/>
                    <a:pt x="36" y="625"/>
                  </a:cubicBezTo>
                  <a:cubicBezTo>
                    <a:pt x="72" y="497"/>
                    <a:pt x="140" y="178"/>
                    <a:pt x="339" y="89"/>
                  </a:cubicBezTo>
                  <a:cubicBezTo>
                    <a:pt x="538" y="0"/>
                    <a:pt x="1027" y="0"/>
                    <a:pt x="1230" y="89"/>
                  </a:cubicBezTo>
                  <a:cubicBezTo>
                    <a:pt x="1433" y="178"/>
                    <a:pt x="1517" y="497"/>
                    <a:pt x="1557" y="625"/>
                  </a:cubicBezTo>
                  <a:cubicBezTo>
                    <a:pt x="1597" y="753"/>
                    <a:pt x="1524" y="782"/>
                    <a:pt x="1472" y="857"/>
                  </a:cubicBezTo>
                  <a:cubicBezTo>
                    <a:pt x="1420" y="932"/>
                    <a:pt x="1301" y="1015"/>
                    <a:pt x="1246" y="1078"/>
                  </a:cubicBezTo>
                  <a:cubicBezTo>
                    <a:pt x="1191" y="1141"/>
                    <a:pt x="1163" y="1186"/>
                    <a:pt x="1144" y="1238"/>
                  </a:cubicBezTo>
                  <a:cubicBezTo>
                    <a:pt x="1125" y="1290"/>
                    <a:pt x="1135" y="1358"/>
                    <a:pt x="1132" y="1390"/>
                  </a:cubicBezTo>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552" name="Arc 34"/>
            <p:cNvSpPr>
              <a:spLocks noChangeAspect="1"/>
            </p:cNvSpPr>
            <p:nvPr/>
          </p:nvSpPr>
          <p:spPr>
            <a:xfrm>
              <a:off x="834" y="1840"/>
              <a:ext cx="464" cy="431"/>
            </a:xfrm>
            <a:custGeom>
              <a:avLst/>
              <a:gdLst>
                <a:gd name="txL" fmla="*/ 0 w 43200"/>
                <a:gd name="txT" fmla="*/ 0 h 38701"/>
                <a:gd name="txR" fmla="*/ 43200 w 43200"/>
                <a:gd name="txB" fmla="*/ 38701 h 38701"/>
              </a:gdLst>
              <a:ahLst/>
              <a:cxnLst>
                <a:cxn ang="0">
                  <a:pos x="0" y="0"/>
                </a:cxn>
                <a:cxn ang="0">
                  <a:pos x="0" y="0"/>
                </a:cxn>
                <a:cxn ang="0">
                  <a:pos x="0" y="0"/>
                </a:cxn>
              </a:cxnLst>
              <a:rect l="txL" t="txT" r="txR" b="txB"/>
              <a:pathLst>
                <a:path w="43200" h="38701" fill="none">
                  <a:moveTo>
                    <a:pt x="8299" y="38618"/>
                  </a:moveTo>
                  <a:cubicBezTo>
                    <a:pt x="3061" y="34525"/>
                    <a:pt x="0" y="28247"/>
                    <a:pt x="0" y="21600"/>
                  </a:cubicBezTo>
                  <a:cubicBezTo>
                    <a:pt x="0" y="9670"/>
                    <a:pt x="9670" y="0"/>
                    <a:pt x="21600" y="0"/>
                  </a:cubicBezTo>
                  <a:cubicBezTo>
                    <a:pt x="33529" y="0"/>
                    <a:pt x="43200" y="9670"/>
                    <a:pt x="43200" y="21600"/>
                  </a:cubicBezTo>
                  <a:cubicBezTo>
                    <a:pt x="43199" y="28294"/>
                    <a:pt x="40095" y="34611"/>
                    <a:pt x="34795" y="38701"/>
                  </a:cubicBezTo>
                </a:path>
                <a:path w="43200" h="38701" stroke="0">
                  <a:moveTo>
                    <a:pt x="8299" y="38618"/>
                  </a:moveTo>
                  <a:cubicBezTo>
                    <a:pt x="3061" y="34525"/>
                    <a:pt x="0" y="28247"/>
                    <a:pt x="0" y="21600"/>
                  </a:cubicBezTo>
                  <a:cubicBezTo>
                    <a:pt x="0" y="9670"/>
                    <a:pt x="9670" y="0"/>
                    <a:pt x="21600" y="0"/>
                  </a:cubicBezTo>
                  <a:cubicBezTo>
                    <a:pt x="33529" y="0"/>
                    <a:pt x="43200" y="9670"/>
                    <a:pt x="43200" y="21600"/>
                  </a:cubicBezTo>
                  <a:cubicBezTo>
                    <a:pt x="43199" y="28294"/>
                    <a:pt x="40095" y="34611"/>
                    <a:pt x="34795" y="38701"/>
                  </a:cubicBezTo>
                  <a:lnTo>
                    <a:pt x="21600" y="21600"/>
                  </a:lnTo>
                  <a:lnTo>
                    <a:pt x="8299" y="38618"/>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53" name="Freeform 35"/>
            <p:cNvSpPr>
              <a:spLocks noChangeAspect="1"/>
            </p:cNvSpPr>
            <p:nvPr/>
          </p:nvSpPr>
          <p:spPr>
            <a:xfrm>
              <a:off x="970" y="2145"/>
              <a:ext cx="192" cy="165"/>
            </a:xfrm>
            <a:custGeom>
              <a:avLst/>
              <a:gdLst>
                <a:gd name="txL" fmla="*/ 0 w 792"/>
                <a:gd name="txT" fmla="*/ 0 h 676"/>
                <a:gd name="txR" fmla="*/ 792 w 792"/>
                <a:gd name="txB" fmla="*/ 676 h 676"/>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92" h="676">
                  <a:moveTo>
                    <a:pt x="267" y="673"/>
                  </a:moveTo>
                  <a:lnTo>
                    <a:pt x="205" y="358"/>
                  </a:lnTo>
                  <a:lnTo>
                    <a:pt x="0" y="0"/>
                  </a:lnTo>
                  <a:lnTo>
                    <a:pt x="189" y="129"/>
                  </a:lnTo>
                  <a:lnTo>
                    <a:pt x="298" y="3"/>
                  </a:lnTo>
                  <a:lnTo>
                    <a:pt x="427" y="121"/>
                  </a:lnTo>
                  <a:lnTo>
                    <a:pt x="525" y="1"/>
                  </a:lnTo>
                  <a:lnTo>
                    <a:pt x="619" y="115"/>
                  </a:lnTo>
                  <a:lnTo>
                    <a:pt x="792" y="1"/>
                  </a:lnTo>
                  <a:lnTo>
                    <a:pt x="562" y="379"/>
                  </a:lnTo>
                  <a:lnTo>
                    <a:pt x="514" y="676"/>
                  </a:lnTo>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7554" name="Line 36"/>
            <p:cNvSpPr>
              <a:spLocks noChangeAspect="1"/>
            </p:cNvSpPr>
            <p:nvPr/>
          </p:nvSpPr>
          <p:spPr>
            <a:xfrm>
              <a:off x="984" y="2362"/>
              <a:ext cx="164" cy="0"/>
            </a:xfrm>
            <a:prstGeom prst="line">
              <a:avLst/>
            </a:prstGeom>
            <a:ln w="9525" cap="flat" cmpd="sng">
              <a:solidFill>
                <a:schemeClr val="tx1"/>
              </a:solidFill>
              <a:prstDash val="solid"/>
              <a:headEnd type="none" w="med" len="med"/>
              <a:tailEnd type="none" w="med" len="med"/>
            </a:ln>
          </p:spPr>
        </p:sp>
        <p:sp>
          <p:nvSpPr>
            <p:cNvPr id="17555" name="Line 37"/>
            <p:cNvSpPr>
              <a:spLocks noChangeAspect="1"/>
            </p:cNvSpPr>
            <p:nvPr/>
          </p:nvSpPr>
          <p:spPr>
            <a:xfrm>
              <a:off x="984" y="2397"/>
              <a:ext cx="164" cy="0"/>
            </a:xfrm>
            <a:prstGeom prst="line">
              <a:avLst/>
            </a:prstGeom>
            <a:ln w="9525" cap="flat" cmpd="sng">
              <a:solidFill>
                <a:schemeClr val="tx1"/>
              </a:solidFill>
              <a:prstDash val="solid"/>
              <a:headEnd type="none" w="med" len="med"/>
              <a:tailEnd type="none" w="med" len="med"/>
            </a:ln>
          </p:spPr>
        </p:sp>
        <p:sp>
          <p:nvSpPr>
            <p:cNvPr id="17556" name="Line 38"/>
            <p:cNvSpPr>
              <a:spLocks noChangeAspect="1"/>
            </p:cNvSpPr>
            <p:nvPr/>
          </p:nvSpPr>
          <p:spPr>
            <a:xfrm>
              <a:off x="984" y="2432"/>
              <a:ext cx="164" cy="0"/>
            </a:xfrm>
            <a:prstGeom prst="line">
              <a:avLst/>
            </a:prstGeom>
            <a:ln w="9525" cap="flat" cmpd="sng">
              <a:solidFill>
                <a:schemeClr val="tx1"/>
              </a:solidFill>
              <a:prstDash val="solid"/>
              <a:headEnd type="none" w="med" len="med"/>
              <a:tailEnd type="none" w="med" len="med"/>
            </a:ln>
          </p:spPr>
        </p:sp>
        <p:sp>
          <p:nvSpPr>
            <p:cNvPr id="17557" name="Line 39"/>
            <p:cNvSpPr>
              <a:spLocks noChangeAspect="1"/>
            </p:cNvSpPr>
            <p:nvPr/>
          </p:nvSpPr>
          <p:spPr>
            <a:xfrm>
              <a:off x="984" y="2467"/>
              <a:ext cx="164" cy="0"/>
            </a:xfrm>
            <a:prstGeom prst="line">
              <a:avLst/>
            </a:prstGeom>
            <a:ln w="9525" cap="flat" cmpd="sng">
              <a:solidFill>
                <a:schemeClr val="tx1"/>
              </a:solidFill>
              <a:prstDash val="solid"/>
              <a:headEnd type="none" w="med" len="med"/>
              <a:tailEnd type="none" w="med" len="med"/>
            </a:ln>
          </p:spPr>
        </p:sp>
      </p:grpSp>
      <p:grpSp>
        <p:nvGrpSpPr>
          <p:cNvPr id="17419" name="Group 40"/>
          <p:cNvGrpSpPr>
            <a:grpSpLocks noChangeAspect="1"/>
          </p:cNvGrpSpPr>
          <p:nvPr/>
        </p:nvGrpSpPr>
        <p:grpSpPr>
          <a:xfrm>
            <a:off x="1651000" y="3138488"/>
            <a:ext cx="373063" cy="746125"/>
            <a:chOff x="5070" y="1110"/>
            <a:chExt cx="251" cy="501"/>
          </a:xfrm>
        </p:grpSpPr>
        <p:sp>
          <p:nvSpPr>
            <p:cNvPr id="17548" name="Freeform 41"/>
            <p:cNvSpPr>
              <a:spLocks noChangeAspect="1"/>
            </p:cNvSpPr>
            <p:nvPr/>
          </p:nvSpPr>
          <p:spPr>
            <a:xfrm>
              <a:off x="5070" y="1209"/>
              <a:ext cx="251" cy="402"/>
            </a:xfrm>
            <a:custGeom>
              <a:avLst/>
              <a:gdLst>
                <a:gd name="txL" fmla="*/ 0 w 251"/>
                <a:gd name="txT" fmla="*/ 0 h 402"/>
                <a:gd name="txR" fmla="*/ 251 w 251"/>
                <a:gd name="txB" fmla="*/ 402 h 402"/>
              </a:gdLst>
              <a:ahLst/>
              <a:cxnLst>
                <a:cxn ang="0">
                  <a:pos x="0" y="138"/>
                </a:cxn>
                <a:cxn ang="0">
                  <a:pos x="47" y="0"/>
                </a:cxn>
                <a:cxn ang="0">
                  <a:pos x="114" y="6"/>
                </a:cxn>
                <a:cxn ang="0">
                  <a:pos x="143" y="6"/>
                </a:cxn>
                <a:cxn ang="0">
                  <a:pos x="209" y="2"/>
                </a:cxn>
                <a:cxn ang="0">
                  <a:pos x="251" y="134"/>
                </a:cxn>
                <a:cxn ang="0">
                  <a:pos x="221" y="150"/>
                </a:cxn>
                <a:cxn ang="0">
                  <a:pos x="186" y="47"/>
                </a:cxn>
                <a:cxn ang="0">
                  <a:pos x="186" y="180"/>
                </a:cxn>
                <a:cxn ang="0">
                  <a:pos x="233" y="402"/>
                </a:cxn>
                <a:cxn ang="0">
                  <a:pos x="186" y="402"/>
                </a:cxn>
                <a:cxn ang="0">
                  <a:pos x="128" y="210"/>
                </a:cxn>
                <a:cxn ang="0">
                  <a:pos x="69" y="402"/>
                </a:cxn>
                <a:cxn ang="0">
                  <a:pos x="24" y="402"/>
                </a:cxn>
                <a:cxn ang="0">
                  <a:pos x="69" y="174"/>
                </a:cxn>
                <a:cxn ang="0">
                  <a:pos x="69" y="45"/>
                </a:cxn>
                <a:cxn ang="0">
                  <a:pos x="35" y="150"/>
                </a:cxn>
                <a:cxn ang="0">
                  <a:pos x="0" y="138"/>
                </a:cxn>
              </a:cxnLst>
              <a:rect l="txL" t="txT" r="txR" b="txB"/>
              <a:pathLst>
                <a:path w="251" h="402">
                  <a:moveTo>
                    <a:pt x="0" y="138"/>
                  </a:moveTo>
                  <a:lnTo>
                    <a:pt x="47" y="0"/>
                  </a:lnTo>
                  <a:lnTo>
                    <a:pt x="114" y="6"/>
                  </a:lnTo>
                  <a:lnTo>
                    <a:pt x="143" y="6"/>
                  </a:lnTo>
                  <a:lnTo>
                    <a:pt x="209" y="2"/>
                  </a:lnTo>
                  <a:lnTo>
                    <a:pt x="251" y="134"/>
                  </a:lnTo>
                  <a:lnTo>
                    <a:pt x="221" y="150"/>
                  </a:lnTo>
                  <a:lnTo>
                    <a:pt x="186" y="47"/>
                  </a:lnTo>
                  <a:lnTo>
                    <a:pt x="186" y="180"/>
                  </a:lnTo>
                  <a:lnTo>
                    <a:pt x="233" y="402"/>
                  </a:lnTo>
                  <a:lnTo>
                    <a:pt x="186" y="402"/>
                  </a:lnTo>
                  <a:lnTo>
                    <a:pt x="128" y="210"/>
                  </a:lnTo>
                  <a:lnTo>
                    <a:pt x="69" y="402"/>
                  </a:lnTo>
                  <a:lnTo>
                    <a:pt x="24" y="402"/>
                  </a:lnTo>
                  <a:lnTo>
                    <a:pt x="69" y="174"/>
                  </a:lnTo>
                  <a:lnTo>
                    <a:pt x="69" y="45"/>
                  </a:lnTo>
                  <a:lnTo>
                    <a:pt x="35" y="150"/>
                  </a:lnTo>
                  <a:lnTo>
                    <a:pt x="0" y="138"/>
                  </a:ln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49" name="Oval 42"/>
            <p:cNvSpPr>
              <a:spLocks noChangeAspect="1"/>
            </p:cNvSpPr>
            <p:nvPr/>
          </p:nvSpPr>
          <p:spPr>
            <a:xfrm>
              <a:off x="5145" y="1110"/>
              <a:ext cx="100" cy="1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17420" name="Group 43"/>
          <p:cNvGrpSpPr>
            <a:grpSpLocks noChangeAspect="1"/>
          </p:cNvGrpSpPr>
          <p:nvPr/>
        </p:nvGrpSpPr>
        <p:grpSpPr>
          <a:xfrm>
            <a:off x="5294313" y="2749550"/>
            <a:ext cx="258762" cy="422275"/>
            <a:chOff x="2625" y="1853"/>
            <a:chExt cx="682" cy="1117"/>
          </a:xfrm>
        </p:grpSpPr>
        <p:sp>
          <p:nvSpPr>
            <p:cNvPr id="17531" name="AutoShape 44"/>
            <p:cNvSpPr>
              <a:spLocks noChangeAspect="1"/>
            </p:cNvSpPr>
            <p:nvPr/>
          </p:nvSpPr>
          <p:spPr>
            <a:xfrm rot="5400000">
              <a:off x="2407" y="2070"/>
              <a:ext cx="1117" cy="682"/>
            </a:xfrm>
            <a:prstGeom prst="parallelogram">
              <a:avLst>
                <a:gd name="adj" fmla="val 22572"/>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32" name="AutoShape 45"/>
            <p:cNvSpPr>
              <a:spLocks noChangeAspect="1"/>
            </p:cNvSpPr>
            <p:nvPr/>
          </p:nvSpPr>
          <p:spPr>
            <a:xfrm rot="5400000">
              <a:off x="2452" y="2111"/>
              <a:ext cx="1028" cy="608"/>
            </a:xfrm>
            <a:prstGeom prst="parallelogram">
              <a:avLst>
                <a:gd name="adj" fmla="val 22364"/>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33" name="AutoShape 46"/>
            <p:cNvSpPr>
              <a:spLocks noChangeAspect="1"/>
            </p:cNvSpPr>
            <p:nvPr/>
          </p:nvSpPr>
          <p:spPr>
            <a:xfrm rot="5400000">
              <a:off x="2478" y="2142"/>
              <a:ext cx="958" cy="552"/>
            </a:xfrm>
            <a:prstGeom prst="parallelogram">
              <a:avLst>
                <a:gd name="adj" fmla="val 22641"/>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34" name="Line 47"/>
            <p:cNvSpPr>
              <a:spLocks noChangeAspect="1"/>
            </p:cNvSpPr>
            <p:nvPr/>
          </p:nvSpPr>
          <p:spPr>
            <a:xfrm flipH="1" flipV="1">
              <a:off x="2663" y="1901"/>
              <a:ext cx="18" cy="37"/>
            </a:xfrm>
            <a:prstGeom prst="line">
              <a:avLst/>
            </a:prstGeom>
            <a:ln w="3175" cap="flat" cmpd="sng">
              <a:solidFill>
                <a:schemeClr val="tx1"/>
              </a:solidFill>
              <a:prstDash val="solid"/>
              <a:headEnd type="none" w="med" len="med"/>
              <a:tailEnd type="none" w="med" len="med"/>
            </a:ln>
          </p:spPr>
        </p:sp>
        <p:sp>
          <p:nvSpPr>
            <p:cNvPr id="17535" name="Line 48"/>
            <p:cNvSpPr>
              <a:spLocks noChangeAspect="1"/>
            </p:cNvSpPr>
            <p:nvPr/>
          </p:nvSpPr>
          <p:spPr>
            <a:xfrm flipH="1">
              <a:off x="3233" y="2035"/>
              <a:ext cx="36" cy="29"/>
            </a:xfrm>
            <a:prstGeom prst="line">
              <a:avLst/>
            </a:prstGeom>
            <a:ln w="3175" cap="flat" cmpd="sng">
              <a:solidFill>
                <a:schemeClr val="tx1"/>
              </a:solidFill>
              <a:prstDash val="solid"/>
              <a:headEnd type="none" w="med" len="med"/>
              <a:tailEnd type="none" w="med" len="med"/>
            </a:ln>
          </p:spPr>
        </p:sp>
        <p:sp>
          <p:nvSpPr>
            <p:cNvPr id="17536" name="Line 49"/>
            <p:cNvSpPr>
              <a:spLocks noChangeAspect="1"/>
            </p:cNvSpPr>
            <p:nvPr/>
          </p:nvSpPr>
          <p:spPr>
            <a:xfrm flipH="1" flipV="1">
              <a:off x="3233" y="2897"/>
              <a:ext cx="35" cy="30"/>
            </a:xfrm>
            <a:prstGeom prst="line">
              <a:avLst/>
            </a:prstGeom>
            <a:ln w="3175" cap="flat" cmpd="sng">
              <a:solidFill>
                <a:schemeClr val="tx1"/>
              </a:solidFill>
              <a:prstDash val="solid"/>
              <a:headEnd type="none" w="med" len="med"/>
              <a:tailEnd type="none" w="med" len="med"/>
            </a:ln>
          </p:spPr>
        </p:sp>
        <p:sp>
          <p:nvSpPr>
            <p:cNvPr id="17537" name="Line 50"/>
            <p:cNvSpPr>
              <a:spLocks noChangeAspect="1"/>
            </p:cNvSpPr>
            <p:nvPr/>
          </p:nvSpPr>
          <p:spPr>
            <a:xfrm flipH="1">
              <a:off x="2661" y="2773"/>
              <a:ext cx="19" cy="20"/>
            </a:xfrm>
            <a:prstGeom prst="line">
              <a:avLst/>
            </a:prstGeom>
            <a:ln w="3175" cap="flat" cmpd="sng">
              <a:solidFill>
                <a:schemeClr val="tx1"/>
              </a:solidFill>
              <a:prstDash val="solid"/>
              <a:headEnd type="none" w="med" len="med"/>
              <a:tailEnd type="none" w="med" len="med"/>
            </a:ln>
          </p:spPr>
        </p:sp>
        <p:sp>
          <p:nvSpPr>
            <p:cNvPr id="17538" name="Oval 51"/>
            <p:cNvSpPr>
              <a:spLocks noChangeAspect="1"/>
            </p:cNvSpPr>
            <p:nvPr/>
          </p:nvSpPr>
          <p:spPr>
            <a:xfrm rot="-2112466">
              <a:off x="2917" y="2086"/>
              <a:ext cx="72" cy="89"/>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39" name="Line 52"/>
            <p:cNvSpPr>
              <a:spLocks noChangeAspect="1"/>
            </p:cNvSpPr>
            <p:nvPr/>
          </p:nvSpPr>
          <p:spPr>
            <a:xfrm flipV="1">
              <a:off x="2916" y="2115"/>
              <a:ext cx="71" cy="27"/>
            </a:xfrm>
            <a:prstGeom prst="line">
              <a:avLst/>
            </a:prstGeom>
            <a:ln w="3175" cap="flat" cmpd="sng">
              <a:solidFill>
                <a:schemeClr val="tx1"/>
              </a:solidFill>
              <a:prstDash val="solid"/>
              <a:headEnd type="none" w="med" len="med"/>
              <a:tailEnd type="none" w="med" len="med"/>
            </a:ln>
          </p:spPr>
        </p:sp>
        <p:sp>
          <p:nvSpPr>
            <p:cNvPr id="17540" name="Oval 53"/>
            <p:cNvSpPr>
              <a:spLocks noChangeAspect="1"/>
            </p:cNvSpPr>
            <p:nvPr/>
          </p:nvSpPr>
          <p:spPr>
            <a:xfrm rot="-2112466">
              <a:off x="2917" y="2654"/>
              <a:ext cx="72" cy="89"/>
            </a:xfrm>
            <a:prstGeom prst="ellipse">
              <a:avLst/>
            </a:prstGeom>
            <a:no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41" name="Line 54"/>
            <p:cNvSpPr>
              <a:spLocks noChangeAspect="1"/>
            </p:cNvSpPr>
            <p:nvPr/>
          </p:nvSpPr>
          <p:spPr>
            <a:xfrm>
              <a:off x="2927" y="2660"/>
              <a:ext cx="53" cy="74"/>
            </a:xfrm>
            <a:prstGeom prst="line">
              <a:avLst/>
            </a:prstGeom>
            <a:ln w="3175" cap="flat" cmpd="sng">
              <a:solidFill>
                <a:schemeClr val="tx1"/>
              </a:solidFill>
              <a:prstDash val="solid"/>
              <a:headEnd type="none" w="med" len="med"/>
              <a:tailEnd type="none" w="med" len="med"/>
            </a:ln>
          </p:spPr>
        </p:sp>
        <p:sp>
          <p:nvSpPr>
            <p:cNvPr id="17542" name="AutoShape 55"/>
            <p:cNvSpPr>
              <a:spLocks noChangeAspect="1"/>
            </p:cNvSpPr>
            <p:nvPr/>
          </p:nvSpPr>
          <p:spPr>
            <a:xfrm rot="5400000">
              <a:off x="2798" y="2343"/>
              <a:ext cx="326" cy="130"/>
            </a:xfrm>
            <a:prstGeom prst="parallelogram">
              <a:avLst>
                <a:gd name="adj" fmla="val 26145"/>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43" name="Freeform 56"/>
            <p:cNvSpPr>
              <a:spLocks noChangeAspect="1"/>
            </p:cNvSpPr>
            <p:nvPr/>
          </p:nvSpPr>
          <p:spPr>
            <a:xfrm>
              <a:off x="2758" y="2253"/>
              <a:ext cx="147" cy="315"/>
            </a:xfrm>
            <a:custGeom>
              <a:avLst/>
              <a:gdLst>
                <a:gd name="txL" fmla="*/ 0 w 147"/>
                <a:gd name="txT" fmla="*/ 0 h 315"/>
                <a:gd name="txR" fmla="*/ 147 w 147"/>
                <a:gd name="txB" fmla="*/ 315 h 315"/>
              </a:gdLst>
              <a:ahLst/>
              <a:cxnLst>
                <a:cxn ang="0">
                  <a:pos x="145" y="291"/>
                </a:cxn>
                <a:cxn ang="0">
                  <a:pos x="130" y="252"/>
                </a:cxn>
                <a:cxn ang="0">
                  <a:pos x="28" y="315"/>
                </a:cxn>
                <a:cxn ang="0">
                  <a:pos x="0" y="230"/>
                </a:cxn>
                <a:cxn ang="0">
                  <a:pos x="100" y="146"/>
                </a:cxn>
                <a:cxn ang="0">
                  <a:pos x="94" y="78"/>
                </a:cxn>
                <a:cxn ang="0">
                  <a:pos x="147" y="0"/>
                </a:cxn>
              </a:cxnLst>
              <a:rect l="txL" t="txT" r="txR" b="txB"/>
              <a:pathLst>
                <a:path w="147" h="315">
                  <a:moveTo>
                    <a:pt x="145" y="291"/>
                  </a:moveTo>
                  <a:lnTo>
                    <a:pt x="130" y="252"/>
                  </a:lnTo>
                  <a:lnTo>
                    <a:pt x="28" y="315"/>
                  </a:lnTo>
                  <a:lnTo>
                    <a:pt x="0" y="230"/>
                  </a:lnTo>
                  <a:lnTo>
                    <a:pt x="100" y="146"/>
                  </a:lnTo>
                  <a:lnTo>
                    <a:pt x="94" y="78"/>
                  </a:lnTo>
                  <a:lnTo>
                    <a:pt x="147" y="0"/>
                  </a:lnTo>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44" name="Freeform 57"/>
            <p:cNvSpPr>
              <a:spLocks noChangeAspect="1"/>
            </p:cNvSpPr>
            <p:nvPr/>
          </p:nvSpPr>
          <p:spPr>
            <a:xfrm>
              <a:off x="2879" y="2280"/>
              <a:ext cx="147" cy="315"/>
            </a:xfrm>
            <a:custGeom>
              <a:avLst/>
              <a:gdLst>
                <a:gd name="txL" fmla="*/ 0 w 147"/>
                <a:gd name="txT" fmla="*/ 0 h 315"/>
                <a:gd name="txR" fmla="*/ 147 w 147"/>
                <a:gd name="txB" fmla="*/ 315 h 315"/>
              </a:gdLst>
              <a:ahLst/>
              <a:cxnLst>
                <a:cxn ang="0">
                  <a:pos x="145" y="291"/>
                </a:cxn>
                <a:cxn ang="0">
                  <a:pos x="130" y="252"/>
                </a:cxn>
                <a:cxn ang="0">
                  <a:pos x="28" y="315"/>
                </a:cxn>
                <a:cxn ang="0">
                  <a:pos x="0" y="230"/>
                </a:cxn>
                <a:cxn ang="0">
                  <a:pos x="100" y="146"/>
                </a:cxn>
                <a:cxn ang="0">
                  <a:pos x="94" y="78"/>
                </a:cxn>
                <a:cxn ang="0">
                  <a:pos x="147" y="0"/>
                </a:cxn>
              </a:cxnLst>
              <a:rect l="txL" t="txT" r="txR" b="txB"/>
              <a:pathLst>
                <a:path w="147" h="315">
                  <a:moveTo>
                    <a:pt x="145" y="291"/>
                  </a:moveTo>
                  <a:lnTo>
                    <a:pt x="130" y="252"/>
                  </a:lnTo>
                  <a:lnTo>
                    <a:pt x="28" y="315"/>
                  </a:lnTo>
                  <a:lnTo>
                    <a:pt x="0" y="230"/>
                  </a:lnTo>
                  <a:lnTo>
                    <a:pt x="100" y="146"/>
                  </a:lnTo>
                  <a:lnTo>
                    <a:pt x="94" y="78"/>
                  </a:lnTo>
                  <a:lnTo>
                    <a:pt x="147" y="0"/>
                  </a:lnTo>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17545" name="AutoShape 58"/>
            <p:cNvCxnSpPr>
              <a:cxnSpLocks noChangeAspect="1"/>
              <a:stCxn id="17543" idx="5"/>
              <a:endCxn id="17544" idx="5"/>
            </p:cNvCxnSpPr>
            <p:nvPr/>
          </p:nvCxnSpPr>
          <p:spPr>
            <a:xfrm>
              <a:off x="2852" y="2331"/>
              <a:ext cx="121" cy="27"/>
            </a:xfrm>
            <a:prstGeom prst="straightConnector1">
              <a:avLst/>
            </a:prstGeom>
            <a:ln w="3175" cap="flat" cmpd="sng">
              <a:solidFill>
                <a:schemeClr val="tx1"/>
              </a:solidFill>
              <a:prstDash val="solid"/>
              <a:headEnd type="none" w="med" len="med"/>
              <a:tailEnd type="none" w="med" len="med"/>
            </a:ln>
          </p:spPr>
        </p:cxnSp>
        <p:cxnSp>
          <p:nvCxnSpPr>
            <p:cNvPr id="17546" name="AutoShape 59"/>
            <p:cNvCxnSpPr>
              <a:cxnSpLocks noChangeAspect="1"/>
              <a:stCxn id="17543" idx="4"/>
              <a:endCxn id="17544" idx="4"/>
            </p:cNvCxnSpPr>
            <p:nvPr/>
          </p:nvCxnSpPr>
          <p:spPr>
            <a:xfrm>
              <a:off x="2858" y="2399"/>
              <a:ext cx="121" cy="27"/>
            </a:xfrm>
            <a:prstGeom prst="straightConnector1">
              <a:avLst/>
            </a:prstGeom>
            <a:ln w="3175" cap="flat" cmpd="sng">
              <a:solidFill>
                <a:schemeClr val="tx1"/>
              </a:solidFill>
              <a:prstDash val="solid"/>
              <a:headEnd type="none" w="med" len="med"/>
              <a:tailEnd type="none" w="med" len="med"/>
            </a:ln>
          </p:spPr>
        </p:cxnSp>
        <p:sp>
          <p:nvSpPr>
            <p:cNvPr id="17547" name="Freeform 60"/>
            <p:cNvSpPr>
              <a:spLocks noChangeAspect="1"/>
            </p:cNvSpPr>
            <p:nvPr/>
          </p:nvSpPr>
          <p:spPr>
            <a:xfrm>
              <a:off x="2757" y="2484"/>
              <a:ext cx="150" cy="113"/>
            </a:xfrm>
            <a:custGeom>
              <a:avLst/>
              <a:gdLst>
                <a:gd name="txL" fmla="*/ 0 w 150"/>
                <a:gd name="txT" fmla="*/ 0 h 113"/>
                <a:gd name="txR" fmla="*/ 150 w 150"/>
                <a:gd name="txB" fmla="*/ 113 h 113"/>
              </a:gdLst>
              <a:ahLst/>
              <a:cxnLst>
                <a:cxn ang="0">
                  <a:pos x="0" y="0"/>
                </a:cxn>
                <a:cxn ang="0">
                  <a:pos x="122" y="26"/>
                </a:cxn>
                <a:cxn ang="0">
                  <a:pos x="150" y="113"/>
                </a:cxn>
                <a:cxn ang="0">
                  <a:pos x="29" y="86"/>
                </a:cxn>
                <a:cxn ang="0">
                  <a:pos x="0" y="0"/>
                </a:cxn>
              </a:cxnLst>
              <a:rect l="txL" t="txT" r="txR" b="txB"/>
              <a:pathLst>
                <a:path w="150" h="113">
                  <a:moveTo>
                    <a:pt x="0" y="0"/>
                  </a:moveTo>
                  <a:lnTo>
                    <a:pt x="122" y="26"/>
                  </a:lnTo>
                  <a:lnTo>
                    <a:pt x="150" y="113"/>
                  </a:lnTo>
                  <a:lnTo>
                    <a:pt x="29" y="86"/>
                  </a:lnTo>
                  <a:lnTo>
                    <a:pt x="0" y="0"/>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grpSp>
      <p:pic>
        <p:nvPicPr>
          <p:cNvPr id="17421" name="Picture 61"/>
          <p:cNvPicPr>
            <a:picLocks noChangeAspect="1"/>
          </p:cNvPicPr>
          <p:nvPr/>
        </p:nvPicPr>
        <p:blipFill>
          <a:blip r:embed="rId1"/>
          <a:stretch>
            <a:fillRect/>
          </a:stretch>
        </p:blipFill>
        <p:spPr>
          <a:xfrm flipH="1">
            <a:off x="6683375" y="2824163"/>
            <a:ext cx="760413" cy="1377950"/>
          </a:xfrm>
          <a:prstGeom prst="rect">
            <a:avLst/>
          </a:prstGeom>
          <a:noFill/>
          <a:ln w="9525">
            <a:noFill/>
          </a:ln>
        </p:spPr>
      </p:pic>
      <p:grpSp>
        <p:nvGrpSpPr>
          <p:cNvPr id="17422" name="Group 62"/>
          <p:cNvGrpSpPr>
            <a:grpSpLocks noChangeAspect="1"/>
          </p:cNvGrpSpPr>
          <p:nvPr/>
        </p:nvGrpSpPr>
        <p:grpSpPr>
          <a:xfrm>
            <a:off x="2724150" y="2625725"/>
            <a:ext cx="577850" cy="471488"/>
            <a:chOff x="4432" y="2356"/>
            <a:chExt cx="844" cy="685"/>
          </a:xfrm>
        </p:grpSpPr>
        <p:sp>
          <p:nvSpPr>
            <p:cNvPr id="17524" name="AutoShape 63"/>
            <p:cNvSpPr>
              <a:spLocks noChangeAspect="1"/>
            </p:cNvSpPr>
            <p:nvPr/>
          </p:nvSpPr>
          <p:spPr>
            <a:xfrm>
              <a:off x="4432" y="2740"/>
              <a:ext cx="678" cy="301"/>
            </a:xfrm>
            <a:prstGeom prst="sun">
              <a:avLst>
                <a:gd name="adj" fmla="val 25000"/>
              </a:avLst>
            </a:prstGeom>
            <a:solidFill>
              <a:schemeClr val="bg1"/>
            </a:solidFill>
            <a:ln w="6350"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25" name="Line 64"/>
            <p:cNvSpPr>
              <a:spLocks noChangeAspect="1"/>
            </p:cNvSpPr>
            <p:nvPr/>
          </p:nvSpPr>
          <p:spPr>
            <a:xfrm>
              <a:off x="4448" y="2623"/>
              <a:ext cx="242" cy="242"/>
            </a:xfrm>
            <a:prstGeom prst="line">
              <a:avLst/>
            </a:prstGeom>
            <a:ln w="3175" cap="flat" cmpd="sng">
              <a:solidFill>
                <a:schemeClr val="tx1"/>
              </a:solidFill>
              <a:prstDash val="solid"/>
              <a:headEnd type="none" w="med" len="med"/>
              <a:tailEnd type="none" w="sm" len="lg"/>
            </a:ln>
          </p:spPr>
        </p:sp>
        <p:sp>
          <p:nvSpPr>
            <p:cNvPr id="17526" name="Line 65"/>
            <p:cNvSpPr>
              <a:spLocks noChangeAspect="1"/>
            </p:cNvSpPr>
            <p:nvPr/>
          </p:nvSpPr>
          <p:spPr>
            <a:xfrm>
              <a:off x="4514" y="2555"/>
              <a:ext cx="242" cy="242"/>
            </a:xfrm>
            <a:prstGeom prst="line">
              <a:avLst/>
            </a:prstGeom>
            <a:ln w="3175" cap="flat" cmpd="sng">
              <a:solidFill>
                <a:schemeClr val="tx1"/>
              </a:solidFill>
              <a:prstDash val="solid"/>
              <a:headEnd type="none" w="med" len="med"/>
              <a:tailEnd type="none" w="sm" len="lg"/>
            </a:ln>
          </p:spPr>
        </p:sp>
        <p:sp>
          <p:nvSpPr>
            <p:cNvPr id="17527" name="Freeform 66"/>
            <p:cNvSpPr>
              <a:spLocks noChangeAspect="1"/>
            </p:cNvSpPr>
            <p:nvPr/>
          </p:nvSpPr>
          <p:spPr>
            <a:xfrm>
              <a:off x="4884" y="2376"/>
              <a:ext cx="372" cy="366"/>
            </a:xfrm>
            <a:custGeom>
              <a:avLst/>
              <a:gdLst>
                <a:gd name="txL" fmla="*/ 0 w 372"/>
                <a:gd name="txT" fmla="*/ 0 h 366"/>
                <a:gd name="txR" fmla="*/ 372 w 372"/>
                <a:gd name="txB" fmla="*/ 366 h 366"/>
              </a:gdLst>
              <a:ahLst/>
              <a:cxnLst>
                <a:cxn ang="0">
                  <a:pos x="0" y="366"/>
                </a:cxn>
                <a:cxn ang="0">
                  <a:pos x="78" y="257"/>
                </a:cxn>
                <a:cxn ang="0">
                  <a:pos x="241" y="282"/>
                </a:cxn>
                <a:cxn ang="0">
                  <a:pos x="92" y="91"/>
                </a:cxn>
                <a:cxn ang="0">
                  <a:pos x="275" y="169"/>
                </a:cxn>
                <a:cxn ang="0">
                  <a:pos x="203" y="62"/>
                </a:cxn>
                <a:cxn ang="0">
                  <a:pos x="311" y="74"/>
                </a:cxn>
                <a:cxn ang="0">
                  <a:pos x="372" y="0"/>
                </a:cxn>
              </a:cxnLst>
              <a:rect l="txL" t="txT" r="txR" b="txB"/>
              <a:pathLst>
                <a:path w="372" h="366">
                  <a:moveTo>
                    <a:pt x="0" y="366"/>
                  </a:moveTo>
                  <a:cubicBezTo>
                    <a:pt x="12" y="348"/>
                    <a:pt x="38" y="270"/>
                    <a:pt x="78" y="257"/>
                  </a:cubicBezTo>
                  <a:cubicBezTo>
                    <a:pt x="118" y="243"/>
                    <a:pt x="239" y="310"/>
                    <a:pt x="241" y="282"/>
                  </a:cubicBezTo>
                  <a:cubicBezTo>
                    <a:pt x="243" y="255"/>
                    <a:pt x="86" y="109"/>
                    <a:pt x="92" y="91"/>
                  </a:cubicBezTo>
                  <a:cubicBezTo>
                    <a:pt x="98" y="74"/>
                    <a:pt x="257" y="173"/>
                    <a:pt x="275" y="169"/>
                  </a:cubicBezTo>
                  <a:cubicBezTo>
                    <a:pt x="293" y="165"/>
                    <a:pt x="197" y="78"/>
                    <a:pt x="203" y="62"/>
                  </a:cubicBezTo>
                  <a:cubicBezTo>
                    <a:pt x="209" y="46"/>
                    <a:pt x="283" y="84"/>
                    <a:pt x="311" y="74"/>
                  </a:cubicBezTo>
                  <a:cubicBezTo>
                    <a:pt x="339" y="64"/>
                    <a:pt x="359" y="15"/>
                    <a:pt x="372" y="0"/>
                  </a:cubicBezTo>
                </a:path>
              </a:pathLst>
            </a:custGeom>
            <a:noFill/>
            <a:ln w="3175" cap="flat" cmpd="sng">
              <a:solidFill>
                <a:schemeClr val="tx1">
                  <a:alpha val="100000"/>
                </a:schemeClr>
              </a:solidFill>
              <a:prstDash val="solid"/>
              <a:round/>
              <a:headEnd type="none" w="med" len="med"/>
              <a:tailEnd type="none" w="sm" len="sm"/>
            </a:ln>
          </p:spPr>
          <p:txBody>
            <a:bodyPr/>
            <a:p>
              <a:endParaRPr lang="zh-CN" altLang="en-US"/>
            </a:p>
          </p:txBody>
        </p:sp>
        <p:sp>
          <p:nvSpPr>
            <p:cNvPr id="17528" name="AutoShape 67"/>
            <p:cNvSpPr>
              <a:spLocks noChangeAspect="1"/>
            </p:cNvSpPr>
            <p:nvPr/>
          </p:nvSpPr>
          <p:spPr>
            <a:xfrm rot="8040000">
              <a:off x="4758" y="2773"/>
              <a:ext cx="35" cy="84"/>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29" name="AutoShape 68"/>
            <p:cNvSpPr>
              <a:spLocks noChangeAspect="1"/>
            </p:cNvSpPr>
            <p:nvPr/>
          </p:nvSpPr>
          <p:spPr>
            <a:xfrm rot="1980000">
              <a:off x="5241" y="2356"/>
              <a:ext cx="35" cy="33"/>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30" name="AutoShape 69"/>
            <p:cNvSpPr>
              <a:spLocks noChangeAspect="1"/>
            </p:cNvSpPr>
            <p:nvPr/>
          </p:nvSpPr>
          <p:spPr>
            <a:xfrm rot="8040000">
              <a:off x="4690" y="2840"/>
              <a:ext cx="35" cy="84"/>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
        <p:nvSpPr>
          <p:cNvPr id="17423" name="AutoShape 70"/>
          <p:cNvSpPr>
            <a:spLocks noChangeAspect="1"/>
          </p:cNvSpPr>
          <p:nvPr/>
        </p:nvSpPr>
        <p:spPr>
          <a:xfrm>
            <a:off x="3730625" y="2698750"/>
            <a:ext cx="263525" cy="511175"/>
          </a:xfrm>
          <a:prstGeom prst="cube">
            <a:avLst>
              <a:gd name="adj" fmla="val 25000"/>
            </a:avLst>
          </a:prstGeom>
          <a:solidFill>
            <a:srgbClr val="F1FCAE"/>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24" name="AutoShape 71"/>
          <p:cNvSpPr>
            <a:spLocks noChangeAspect="1"/>
          </p:cNvSpPr>
          <p:nvPr/>
        </p:nvSpPr>
        <p:spPr>
          <a:xfrm>
            <a:off x="4625975" y="3535363"/>
            <a:ext cx="376238" cy="465137"/>
          </a:xfrm>
          <a:prstGeom prst="cube">
            <a:avLst>
              <a:gd name="adj" fmla="val 25000"/>
            </a:avLst>
          </a:prstGeom>
          <a:solidFill>
            <a:srgbClr val="F1FCAE"/>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25" name="AutoShape 72"/>
          <p:cNvSpPr>
            <a:spLocks noChangeAspect="1"/>
          </p:cNvSpPr>
          <p:nvPr/>
        </p:nvSpPr>
        <p:spPr>
          <a:xfrm>
            <a:off x="4705350" y="5289550"/>
            <a:ext cx="195263" cy="603250"/>
          </a:xfrm>
          <a:prstGeom prst="cube">
            <a:avLst>
              <a:gd name="adj" fmla="val 25000"/>
            </a:avLst>
          </a:prstGeom>
          <a:solidFill>
            <a:srgbClr val="F1FCAE"/>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nvGrpSpPr>
          <p:cNvPr id="17426" name="Group 73"/>
          <p:cNvGrpSpPr>
            <a:grpSpLocks noChangeAspect="1"/>
          </p:cNvGrpSpPr>
          <p:nvPr/>
        </p:nvGrpSpPr>
        <p:grpSpPr>
          <a:xfrm>
            <a:off x="5464175" y="5246688"/>
            <a:ext cx="938213" cy="688975"/>
            <a:chOff x="2277" y="1709"/>
            <a:chExt cx="691" cy="506"/>
          </a:xfrm>
        </p:grpSpPr>
        <p:sp>
          <p:nvSpPr>
            <p:cNvPr id="17498" name="Freeform 74"/>
            <p:cNvSpPr>
              <a:spLocks noChangeAspect="1"/>
            </p:cNvSpPr>
            <p:nvPr/>
          </p:nvSpPr>
          <p:spPr>
            <a:xfrm>
              <a:off x="2840" y="2077"/>
              <a:ext cx="128" cy="46"/>
            </a:xfrm>
            <a:custGeom>
              <a:avLst/>
              <a:gdLst>
                <a:gd name="txL" fmla="*/ 0 w 319"/>
                <a:gd name="txT" fmla="*/ 0 h 114"/>
                <a:gd name="txR" fmla="*/ 319 w 319"/>
                <a:gd name="txB" fmla="*/ 114 h 114"/>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319" h="114">
                  <a:moveTo>
                    <a:pt x="14" y="71"/>
                  </a:moveTo>
                  <a:cubicBezTo>
                    <a:pt x="27" y="55"/>
                    <a:pt x="67" y="21"/>
                    <a:pt x="102" y="11"/>
                  </a:cubicBezTo>
                  <a:cubicBezTo>
                    <a:pt x="137" y="1"/>
                    <a:pt x="188" y="0"/>
                    <a:pt x="222" y="8"/>
                  </a:cubicBezTo>
                  <a:cubicBezTo>
                    <a:pt x="256" y="16"/>
                    <a:pt x="297" y="46"/>
                    <a:pt x="308" y="62"/>
                  </a:cubicBezTo>
                  <a:cubicBezTo>
                    <a:pt x="319" y="78"/>
                    <a:pt x="313" y="100"/>
                    <a:pt x="290" y="107"/>
                  </a:cubicBezTo>
                  <a:cubicBezTo>
                    <a:pt x="267" y="114"/>
                    <a:pt x="211" y="106"/>
                    <a:pt x="167" y="106"/>
                  </a:cubicBezTo>
                  <a:cubicBezTo>
                    <a:pt x="123" y="106"/>
                    <a:pt x="52" y="112"/>
                    <a:pt x="26" y="107"/>
                  </a:cubicBezTo>
                  <a:cubicBezTo>
                    <a:pt x="0" y="102"/>
                    <a:pt x="1" y="87"/>
                    <a:pt x="14" y="71"/>
                  </a:cubicBezTo>
                  <a:close/>
                </a:path>
              </a:pathLst>
            </a:custGeom>
            <a:solidFill>
              <a:schemeClr val="folHlink">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499" name="Freeform 75"/>
            <p:cNvSpPr>
              <a:spLocks noChangeAspect="1"/>
            </p:cNvSpPr>
            <p:nvPr/>
          </p:nvSpPr>
          <p:spPr>
            <a:xfrm>
              <a:off x="2842" y="2091"/>
              <a:ext cx="120" cy="31"/>
            </a:xfrm>
            <a:custGeom>
              <a:avLst/>
              <a:gdLst>
                <a:gd name="txL" fmla="*/ 0 w 301"/>
                <a:gd name="txT" fmla="*/ 0 h 77"/>
                <a:gd name="txR" fmla="*/ 301 w 301"/>
                <a:gd name="txB" fmla="*/ 77 h 7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01" h="77">
                  <a:moveTo>
                    <a:pt x="8" y="45"/>
                  </a:moveTo>
                  <a:cubicBezTo>
                    <a:pt x="20" y="34"/>
                    <a:pt x="62" y="12"/>
                    <a:pt x="92" y="6"/>
                  </a:cubicBezTo>
                  <a:cubicBezTo>
                    <a:pt x="122" y="0"/>
                    <a:pt x="161" y="4"/>
                    <a:pt x="191" y="10"/>
                  </a:cubicBezTo>
                  <a:cubicBezTo>
                    <a:pt x="221" y="16"/>
                    <a:pt x="255" y="41"/>
                    <a:pt x="271" y="43"/>
                  </a:cubicBezTo>
                  <a:cubicBezTo>
                    <a:pt x="287" y="45"/>
                    <a:pt x="285" y="25"/>
                    <a:pt x="290" y="25"/>
                  </a:cubicBezTo>
                  <a:cubicBezTo>
                    <a:pt x="295" y="25"/>
                    <a:pt x="301" y="35"/>
                    <a:pt x="299" y="43"/>
                  </a:cubicBezTo>
                  <a:cubicBezTo>
                    <a:pt x="297" y="51"/>
                    <a:pt x="299" y="67"/>
                    <a:pt x="275" y="72"/>
                  </a:cubicBezTo>
                  <a:cubicBezTo>
                    <a:pt x="251" y="77"/>
                    <a:pt x="181" y="75"/>
                    <a:pt x="154" y="73"/>
                  </a:cubicBezTo>
                  <a:cubicBezTo>
                    <a:pt x="127" y="71"/>
                    <a:pt x="136" y="62"/>
                    <a:pt x="113" y="61"/>
                  </a:cubicBezTo>
                  <a:cubicBezTo>
                    <a:pt x="90" y="60"/>
                    <a:pt x="34" y="70"/>
                    <a:pt x="17" y="67"/>
                  </a:cubicBezTo>
                  <a:cubicBezTo>
                    <a:pt x="0" y="64"/>
                    <a:pt x="10" y="50"/>
                    <a:pt x="8" y="45"/>
                  </a:cubicBez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0" name="Freeform 76"/>
            <p:cNvSpPr>
              <a:spLocks noChangeAspect="1"/>
            </p:cNvSpPr>
            <p:nvPr/>
          </p:nvSpPr>
          <p:spPr>
            <a:xfrm>
              <a:off x="2310" y="2056"/>
              <a:ext cx="287" cy="75"/>
            </a:xfrm>
            <a:custGeom>
              <a:avLst/>
              <a:gdLst>
                <a:gd name="txL" fmla="*/ 0 w 717"/>
                <a:gd name="txT" fmla="*/ 0 h 187"/>
                <a:gd name="txR" fmla="*/ 717 w 717"/>
                <a:gd name="txB" fmla="*/ 187 h 187"/>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717" h="187">
                  <a:moveTo>
                    <a:pt x="180" y="21"/>
                  </a:moveTo>
                  <a:lnTo>
                    <a:pt x="196" y="52"/>
                  </a:lnTo>
                  <a:lnTo>
                    <a:pt x="100" y="58"/>
                  </a:lnTo>
                  <a:lnTo>
                    <a:pt x="1" y="90"/>
                  </a:lnTo>
                  <a:lnTo>
                    <a:pt x="0" y="124"/>
                  </a:lnTo>
                  <a:lnTo>
                    <a:pt x="111" y="121"/>
                  </a:lnTo>
                  <a:lnTo>
                    <a:pt x="109" y="144"/>
                  </a:lnTo>
                  <a:lnTo>
                    <a:pt x="159" y="178"/>
                  </a:lnTo>
                  <a:lnTo>
                    <a:pt x="202" y="187"/>
                  </a:lnTo>
                  <a:lnTo>
                    <a:pt x="343" y="147"/>
                  </a:lnTo>
                  <a:lnTo>
                    <a:pt x="484" y="121"/>
                  </a:lnTo>
                  <a:lnTo>
                    <a:pt x="618" y="117"/>
                  </a:lnTo>
                  <a:lnTo>
                    <a:pt x="717" y="123"/>
                  </a:lnTo>
                  <a:lnTo>
                    <a:pt x="714" y="79"/>
                  </a:lnTo>
                  <a:lnTo>
                    <a:pt x="606" y="39"/>
                  </a:lnTo>
                  <a:lnTo>
                    <a:pt x="499" y="28"/>
                  </a:lnTo>
                  <a:lnTo>
                    <a:pt x="531" y="0"/>
                  </a:lnTo>
                  <a:lnTo>
                    <a:pt x="334" y="18"/>
                  </a:lnTo>
                  <a:lnTo>
                    <a:pt x="180" y="21"/>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1" name="Freeform 77"/>
            <p:cNvSpPr>
              <a:spLocks noChangeAspect="1"/>
            </p:cNvSpPr>
            <p:nvPr/>
          </p:nvSpPr>
          <p:spPr>
            <a:xfrm>
              <a:off x="2355" y="2084"/>
              <a:ext cx="234" cy="39"/>
            </a:xfrm>
            <a:custGeom>
              <a:avLst/>
              <a:gdLst>
                <a:gd name="txL" fmla="*/ 0 w 584"/>
                <a:gd name="txT" fmla="*/ 0 h 98"/>
                <a:gd name="txR" fmla="*/ 584 w 584"/>
                <a:gd name="txB" fmla="*/ 98 h 98"/>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584" h="98">
                  <a:moveTo>
                    <a:pt x="0" y="11"/>
                  </a:moveTo>
                  <a:lnTo>
                    <a:pt x="26" y="29"/>
                  </a:lnTo>
                  <a:lnTo>
                    <a:pt x="21" y="57"/>
                  </a:lnTo>
                  <a:lnTo>
                    <a:pt x="60" y="72"/>
                  </a:lnTo>
                  <a:lnTo>
                    <a:pt x="92" y="98"/>
                  </a:lnTo>
                  <a:lnTo>
                    <a:pt x="221" y="33"/>
                  </a:lnTo>
                  <a:lnTo>
                    <a:pt x="395" y="0"/>
                  </a:lnTo>
                  <a:lnTo>
                    <a:pt x="584" y="11"/>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2" name="Freeform 78"/>
            <p:cNvSpPr>
              <a:spLocks noChangeAspect="1"/>
            </p:cNvSpPr>
            <p:nvPr/>
          </p:nvSpPr>
          <p:spPr>
            <a:xfrm>
              <a:off x="2335" y="2130"/>
              <a:ext cx="534" cy="85"/>
            </a:xfrm>
            <a:custGeom>
              <a:avLst/>
              <a:gdLst>
                <a:gd name="txL" fmla="*/ 0 w 1334"/>
                <a:gd name="txT" fmla="*/ 0 h 213"/>
                <a:gd name="txR" fmla="*/ 1334 w 1334"/>
                <a:gd name="txB" fmla="*/ 213 h 213"/>
              </a:gdLst>
              <a:ahLst/>
              <a:cxnLst>
                <a:cxn ang="0">
                  <a:pos x="0" y="0"/>
                </a:cxn>
                <a:cxn ang="0">
                  <a:pos x="0" y="0"/>
                </a:cxn>
                <a:cxn ang="0">
                  <a:pos x="0" y="0"/>
                </a:cxn>
                <a:cxn ang="0">
                  <a:pos x="0" y="0"/>
                </a:cxn>
                <a:cxn ang="0">
                  <a:pos x="0" y="0"/>
                </a:cxn>
                <a:cxn ang="0">
                  <a:pos x="0" y="0"/>
                </a:cxn>
                <a:cxn ang="0">
                  <a:pos x="0" y="0"/>
                </a:cxn>
              </a:cxnLst>
              <a:rect l="txL" t="txT" r="txR" b="txB"/>
              <a:pathLst>
                <a:path w="1334" h="213">
                  <a:moveTo>
                    <a:pt x="6" y="24"/>
                  </a:moveTo>
                  <a:lnTo>
                    <a:pt x="0" y="63"/>
                  </a:lnTo>
                  <a:lnTo>
                    <a:pt x="117" y="213"/>
                  </a:lnTo>
                  <a:lnTo>
                    <a:pt x="1334" y="39"/>
                  </a:lnTo>
                  <a:lnTo>
                    <a:pt x="1334" y="0"/>
                  </a:lnTo>
                  <a:lnTo>
                    <a:pt x="125" y="164"/>
                  </a:lnTo>
                  <a:lnTo>
                    <a:pt x="6" y="24"/>
                  </a:lnTo>
                  <a:close/>
                </a:path>
              </a:pathLst>
            </a:custGeom>
            <a:solidFill>
              <a:schemeClr val="bg2">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3" name="Freeform 79"/>
            <p:cNvSpPr>
              <a:spLocks noChangeAspect="1"/>
            </p:cNvSpPr>
            <p:nvPr/>
          </p:nvSpPr>
          <p:spPr>
            <a:xfrm>
              <a:off x="2337" y="2091"/>
              <a:ext cx="531" cy="104"/>
            </a:xfrm>
            <a:custGeom>
              <a:avLst/>
              <a:gdLst>
                <a:gd name="txL" fmla="*/ 0 w 1325"/>
                <a:gd name="txT" fmla="*/ 0 h 261"/>
                <a:gd name="txR" fmla="*/ 1325 w 1325"/>
                <a:gd name="txB" fmla="*/ 261 h 261"/>
              </a:gdLst>
              <a:ahLst/>
              <a:cxnLst>
                <a:cxn ang="0">
                  <a:pos x="0" y="0"/>
                </a:cxn>
                <a:cxn ang="0">
                  <a:pos x="0" y="0"/>
                </a:cxn>
                <a:cxn ang="0">
                  <a:pos x="0" y="0"/>
                </a:cxn>
                <a:cxn ang="0">
                  <a:pos x="0" y="0"/>
                </a:cxn>
                <a:cxn ang="0">
                  <a:pos x="0" y="0"/>
                </a:cxn>
              </a:cxnLst>
              <a:rect l="txL" t="txT" r="txR" b="txB"/>
              <a:pathLst>
                <a:path w="1325" h="261">
                  <a:moveTo>
                    <a:pt x="0" y="121"/>
                  </a:moveTo>
                  <a:lnTo>
                    <a:pt x="1085" y="0"/>
                  </a:lnTo>
                  <a:lnTo>
                    <a:pt x="1325" y="97"/>
                  </a:lnTo>
                  <a:lnTo>
                    <a:pt x="119" y="261"/>
                  </a:lnTo>
                  <a:lnTo>
                    <a:pt x="0" y="121"/>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4" name="Line 80"/>
            <p:cNvSpPr>
              <a:spLocks noChangeAspect="1"/>
            </p:cNvSpPr>
            <p:nvPr/>
          </p:nvSpPr>
          <p:spPr>
            <a:xfrm flipV="1">
              <a:off x="2392" y="2122"/>
              <a:ext cx="424" cy="52"/>
            </a:xfrm>
            <a:prstGeom prst="line">
              <a:avLst/>
            </a:prstGeom>
            <a:ln w="9525" cap="flat" cmpd="sng">
              <a:solidFill>
                <a:schemeClr val="tx1"/>
              </a:solidFill>
              <a:prstDash val="solid"/>
              <a:headEnd type="none" w="med" len="med"/>
              <a:tailEnd type="none" w="med" len="med"/>
            </a:ln>
          </p:spPr>
        </p:sp>
        <p:sp>
          <p:nvSpPr>
            <p:cNvPr id="17505" name="Freeform 81"/>
            <p:cNvSpPr>
              <a:spLocks noChangeAspect="1"/>
            </p:cNvSpPr>
            <p:nvPr/>
          </p:nvSpPr>
          <p:spPr>
            <a:xfrm>
              <a:off x="2383" y="2112"/>
              <a:ext cx="412" cy="49"/>
            </a:xfrm>
            <a:custGeom>
              <a:avLst/>
              <a:gdLst>
                <a:gd name="txL" fmla="*/ 0 w 1031"/>
                <a:gd name="txT" fmla="*/ 0 h 123"/>
                <a:gd name="txR" fmla="*/ 1031 w 1031"/>
                <a:gd name="txB" fmla="*/ 123 h 123"/>
              </a:gdLst>
              <a:ahLst/>
              <a:cxnLst>
                <a:cxn ang="0">
                  <a:pos x="0" y="0"/>
                </a:cxn>
                <a:cxn ang="0">
                  <a:pos x="0" y="0"/>
                </a:cxn>
              </a:cxnLst>
              <a:rect l="txL" t="txT" r="txR" b="txB"/>
              <a:pathLst>
                <a:path w="1031" h="123">
                  <a:moveTo>
                    <a:pt x="0" y="123"/>
                  </a:moveTo>
                  <a:lnTo>
                    <a:pt x="1031"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6" name="Freeform 82"/>
            <p:cNvSpPr>
              <a:spLocks noChangeAspect="1"/>
            </p:cNvSpPr>
            <p:nvPr/>
          </p:nvSpPr>
          <p:spPr>
            <a:xfrm>
              <a:off x="2373" y="2102"/>
              <a:ext cx="402" cy="49"/>
            </a:xfrm>
            <a:custGeom>
              <a:avLst/>
              <a:gdLst>
                <a:gd name="txL" fmla="*/ 0 w 1005"/>
                <a:gd name="txT" fmla="*/ 0 h 122"/>
                <a:gd name="txR" fmla="*/ 1005 w 1005"/>
                <a:gd name="txB" fmla="*/ 122 h 122"/>
              </a:gdLst>
              <a:ahLst/>
              <a:cxnLst>
                <a:cxn ang="0">
                  <a:pos x="0" y="0"/>
                </a:cxn>
                <a:cxn ang="0">
                  <a:pos x="0" y="0"/>
                </a:cxn>
              </a:cxnLst>
              <a:rect l="txL" t="txT" r="txR" b="txB"/>
              <a:pathLst>
                <a:path w="1005" h="122">
                  <a:moveTo>
                    <a:pt x="0" y="122"/>
                  </a:moveTo>
                  <a:lnTo>
                    <a:pt x="1005"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07" name="Freeform 83"/>
            <p:cNvSpPr>
              <a:spLocks noChangeAspect="1"/>
            </p:cNvSpPr>
            <p:nvPr/>
          </p:nvSpPr>
          <p:spPr>
            <a:xfrm>
              <a:off x="2557" y="1785"/>
              <a:ext cx="237" cy="304"/>
            </a:xfrm>
            <a:custGeom>
              <a:avLst/>
              <a:gdLst>
                <a:gd name="txL" fmla="*/ 0 w 593"/>
                <a:gd name="txT" fmla="*/ 0 h 759"/>
                <a:gd name="txR" fmla="*/ 593 w 593"/>
                <a:gd name="txB" fmla="*/ 759 h 759"/>
              </a:gdLst>
              <a:ahLst/>
              <a:cxnLst>
                <a:cxn ang="0">
                  <a:pos x="0" y="0"/>
                </a:cxn>
                <a:cxn ang="0">
                  <a:pos x="0" y="0"/>
                </a:cxn>
                <a:cxn ang="0">
                  <a:pos x="0" y="0"/>
                </a:cxn>
                <a:cxn ang="0">
                  <a:pos x="0" y="0"/>
                </a:cxn>
                <a:cxn ang="0">
                  <a:pos x="0" y="0"/>
                </a:cxn>
                <a:cxn ang="0">
                  <a:pos x="0" y="0"/>
                </a:cxn>
                <a:cxn ang="0">
                  <a:pos x="0" y="0"/>
                </a:cxn>
              </a:cxnLst>
              <a:rect l="txL" t="txT" r="txR" b="txB"/>
              <a:pathLst>
                <a:path w="593" h="759">
                  <a:moveTo>
                    <a:pt x="0" y="657"/>
                  </a:moveTo>
                  <a:lnTo>
                    <a:pt x="246" y="759"/>
                  </a:lnTo>
                  <a:lnTo>
                    <a:pt x="593" y="726"/>
                  </a:lnTo>
                  <a:lnTo>
                    <a:pt x="579" y="7"/>
                  </a:lnTo>
                  <a:lnTo>
                    <a:pt x="236" y="0"/>
                  </a:lnTo>
                  <a:lnTo>
                    <a:pt x="2" y="16"/>
                  </a:lnTo>
                  <a:lnTo>
                    <a:pt x="0" y="657"/>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8" name="Freeform 84"/>
            <p:cNvSpPr>
              <a:spLocks noChangeAspect="1"/>
            </p:cNvSpPr>
            <p:nvPr/>
          </p:nvSpPr>
          <p:spPr>
            <a:xfrm>
              <a:off x="2662" y="1785"/>
              <a:ext cx="124" cy="301"/>
            </a:xfrm>
            <a:custGeom>
              <a:avLst/>
              <a:gdLst>
                <a:gd name="txL" fmla="*/ 0 w 310"/>
                <a:gd name="txT" fmla="*/ 0 h 753"/>
                <a:gd name="txR" fmla="*/ 310 w 310"/>
                <a:gd name="txB" fmla="*/ 753 h 753"/>
              </a:gdLst>
              <a:ahLst/>
              <a:cxnLst>
                <a:cxn ang="0">
                  <a:pos x="0" y="0"/>
                </a:cxn>
                <a:cxn ang="0">
                  <a:pos x="0" y="0"/>
                </a:cxn>
                <a:cxn ang="0">
                  <a:pos x="0" y="0"/>
                </a:cxn>
                <a:cxn ang="0">
                  <a:pos x="0" y="0"/>
                </a:cxn>
                <a:cxn ang="0">
                  <a:pos x="0" y="0"/>
                </a:cxn>
                <a:cxn ang="0">
                  <a:pos x="0" y="0"/>
                </a:cxn>
                <a:cxn ang="0">
                  <a:pos x="0" y="0"/>
                </a:cxn>
              </a:cxnLst>
              <a:rect l="txL" t="txT" r="txR" b="txB"/>
              <a:pathLst>
                <a:path w="310" h="753">
                  <a:moveTo>
                    <a:pt x="0" y="0"/>
                  </a:moveTo>
                  <a:lnTo>
                    <a:pt x="4" y="549"/>
                  </a:lnTo>
                  <a:lnTo>
                    <a:pt x="31" y="753"/>
                  </a:lnTo>
                  <a:lnTo>
                    <a:pt x="297" y="728"/>
                  </a:lnTo>
                  <a:lnTo>
                    <a:pt x="310" y="516"/>
                  </a:lnTo>
                  <a:lnTo>
                    <a:pt x="307" y="6"/>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09" name="Freeform 85"/>
            <p:cNvSpPr>
              <a:spLocks noChangeAspect="1"/>
            </p:cNvSpPr>
            <p:nvPr/>
          </p:nvSpPr>
          <p:spPr>
            <a:xfrm>
              <a:off x="2666" y="1793"/>
              <a:ext cx="117" cy="75"/>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292929">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0" name="Freeform 86"/>
            <p:cNvSpPr>
              <a:spLocks noChangeAspect="1"/>
            </p:cNvSpPr>
            <p:nvPr/>
          </p:nvSpPr>
          <p:spPr>
            <a:xfrm>
              <a:off x="2671" y="1799"/>
              <a:ext cx="106" cy="27"/>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1" name="Freeform 87"/>
            <p:cNvSpPr>
              <a:spLocks noChangeAspect="1"/>
            </p:cNvSpPr>
            <p:nvPr/>
          </p:nvSpPr>
          <p:spPr>
            <a:xfrm>
              <a:off x="2671" y="1833"/>
              <a:ext cx="107" cy="27"/>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2" name="Freeform 88"/>
            <p:cNvSpPr>
              <a:spLocks noChangeAspect="1"/>
            </p:cNvSpPr>
            <p:nvPr/>
          </p:nvSpPr>
          <p:spPr>
            <a:xfrm>
              <a:off x="2683" y="1879"/>
              <a:ext cx="78" cy="40"/>
            </a:xfrm>
            <a:custGeom>
              <a:avLst/>
              <a:gdLst>
                <a:gd name="txL" fmla="*/ 0 w 293"/>
                <a:gd name="txT" fmla="*/ 0 h 186"/>
                <a:gd name="txR" fmla="*/ 293 w 293"/>
                <a:gd name="txB" fmla="*/ 186 h 186"/>
              </a:gdLst>
              <a:ahLst/>
              <a:cxnLst>
                <a:cxn ang="0">
                  <a:pos x="0" y="0"/>
                </a:cxn>
                <a:cxn ang="0">
                  <a:pos x="0" y="0"/>
                </a:cxn>
                <a:cxn ang="0">
                  <a:pos x="0" y="0"/>
                </a:cxn>
                <a:cxn ang="0">
                  <a:pos x="0" y="0"/>
                </a:cxn>
                <a:cxn ang="0">
                  <a:pos x="0" y="0"/>
                </a:cxn>
              </a:cxnLst>
              <a:rect l="txL" t="txT" r="txR" b="txB"/>
              <a:pathLst>
                <a:path w="293" h="186">
                  <a:moveTo>
                    <a:pt x="0" y="0"/>
                  </a:moveTo>
                  <a:lnTo>
                    <a:pt x="0" y="186"/>
                  </a:lnTo>
                  <a:lnTo>
                    <a:pt x="293" y="178"/>
                  </a:lnTo>
                  <a:lnTo>
                    <a:pt x="291" y="7"/>
                  </a:lnTo>
                  <a:lnTo>
                    <a:pt x="0" y="0"/>
                  </a:lnTo>
                  <a:close/>
                </a:path>
              </a:pathLst>
            </a:custGeom>
            <a:solidFill>
              <a:srgbClr val="292929">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3" name="AutoShape 89"/>
            <p:cNvSpPr>
              <a:spLocks noChangeAspect="1"/>
            </p:cNvSpPr>
            <p:nvPr/>
          </p:nvSpPr>
          <p:spPr>
            <a:xfrm>
              <a:off x="2725" y="1942"/>
              <a:ext cx="19" cy="50"/>
            </a:xfrm>
            <a:prstGeom prst="roundRect">
              <a:avLst>
                <a:gd name="adj" fmla="val 45653"/>
              </a:avLst>
            </a:prstGeom>
            <a:solidFill>
              <a:schemeClr val="bg2"/>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14" name="AutoShape 90"/>
            <p:cNvSpPr>
              <a:spLocks noChangeAspect="1"/>
            </p:cNvSpPr>
            <p:nvPr/>
          </p:nvSpPr>
          <p:spPr>
            <a:xfrm>
              <a:off x="2729" y="1948"/>
              <a:ext cx="12" cy="39"/>
            </a:xfrm>
            <a:prstGeom prst="roundRect">
              <a:avLst>
                <a:gd name="adj" fmla="val 45653"/>
              </a:avLst>
            </a:prstGeom>
            <a:solidFill>
              <a:srgbClr val="333333"/>
            </a:solidFill>
            <a:ln w="3175"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15" name="AutoShape 91"/>
            <p:cNvSpPr>
              <a:spLocks noChangeAspect="1"/>
            </p:cNvSpPr>
            <p:nvPr/>
          </p:nvSpPr>
          <p:spPr>
            <a:xfrm rot="-5577168">
              <a:off x="2703" y="1953"/>
              <a:ext cx="48" cy="110"/>
            </a:xfrm>
            <a:prstGeom prst="moon">
              <a:avLst>
                <a:gd name="adj" fmla="val 24551"/>
              </a:avLst>
            </a:prstGeom>
            <a:solidFill>
              <a:schemeClr val="bg2"/>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516" name="Freeform 92"/>
            <p:cNvSpPr>
              <a:spLocks noChangeAspect="1"/>
            </p:cNvSpPr>
            <p:nvPr/>
          </p:nvSpPr>
          <p:spPr>
            <a:xfrm>
              <a:off x="2277" y="1709"/>
              <a:ext cx="372" cy="355"/>
            </a:xfrm>
            <a:custGeom>
              <a:avLst/>
              <a:gdLst>
                <a:gd name="txL" fmla="*/ 0 w 929"/>
                <a:gd name="txT" fmla="*/ 0 h 888"/>
                <a:gd name="txR" fmla="*/ 929 w 929"/>
                <a:gd name="txB" fmla="*/ 888 h 8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929" h="888">
                  <a:moveTo>
                    <a:pt x="33" y="0"/>
                  </a:moveTo>
                  <a:lnTo>
                    <a:pt x="0" y="31"/>
                  </a:lnTo>
                  <a:lnTo>
                    <a:pt x="56" y="888"/>
                  </a:lnTo>
                  <a:lnTo>
                    <a:pt x="389" y="886"/>
                  </a:lnTo>
                  <a:lnTo>
                    <a:pt x="627" y="867"/>
                  </a:lnTo>
                  <a:lnTo>
                    <a:pt x="929" y="813"/>
                  </a:lnTo>
                  <a:lnTo>
                    <a:pt x="915" y="363"/>
                  </a:lnTo>
                  <a:lnTo>
                    <a:pt x="887" y="69"/>
                  </a:lnTo>
                  <a:lnTo>
                    <a:pt x="33" y="0"/>
                  </a:lnTo>
                  <a:close/>
                </a:path>
              </a:pathLst>
            </a:custGeom>
            <a:solidFill>
              <a:srgbClr val="5F5F5F">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7" name="Freeform 93"/>
            <p:cNvSpPr>
              <a:spLocks noChangeAspect="1"/>
            </p:cNvSpPr>
            <p:nvPr/>
          </p:nvSpPr>
          <p:spPr>
            <a:xfrm>
              <a:off x="2291" y="1715"/>
              <a:ext cx="77" cy="316"/>
            </a:xfrm>
            <a:custGeom>
              <a:avLst/>
              <a:gdLst>
                <a:gd name="txL" fmla="*/ 0 w 192"/>
                <a:gd name="txT" fmla="*/ 0 h 790"/>
                <a:gd name="txR" fmla="*/ 192 w 192"/>
                <a:gd name="txB" fmla="*/ 790 h 790"/>
              </a:gdLst>
              <a:ahLst/>
              <a:cxnLst>
                <a:cxn ang="0">
                  <a:pos x="0" y="0"/>
                </a:cxn>
                <a:cxn ang="0">
                  <a:pos x="0" y="0"/>
                </a:cxn>
                <a:cxn ang="0">
                  <a:pos x="0" y="0"/>
                </a:cxn>
              </a:cxnLst>
              <a:rect l="txL" t="txT" r="txR" b="txB"/>
              <a:pathLst>
                <a:path w="192" h="790">
                  <a:moveTo>
                    <a:pt x="38" y="790"/>
                  </a:moveTo>
                  <a:lnTo>
                    <a:pt x="0" y="0"/>
                  </a:lnTo>
                  <a:lnTo>
                    <a:pt x="192" y="3"/>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7518" name="Freeform 94"/>
            <p:cNvSpPr>
              <a:spLocks noChangeAspect="1"/>
            </p:cNvSpPr>
            <p:nvPr/>
          </p:nvSpPr>
          <p:spPr>
            <a:xfrm>
              <a:off x="2327" y="1750"/>
              <a:ext cx="296" cy="252"/>
            </a:xfrm>
            <a:custGeom>
              <a:avLst/>
              <a:gdLst>
                <a:gd name="txL" fmla="*/ 0 w 737"/>
                <a:gd name="txT" fmla="*/ 0 h 629"/>
                <a:gd name="txR" fmla="*/ 737 w 737"/>
                <a:gd name="txB" fmla="*/ 629 h 629"/>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737" h="629">
                  <a:moveTo>
                    <a:pt x="0" y="0"/>
                  </a:moveTo>
                  <a:lnTo>
                    <a:pt x="15" y="375"/>
                  </a:lnTo>
                  <a:lnTo>
                    <a:pt x="15" y="629"/>
                  </a:lnTo>
                  <a:lnTo>
                    <a:pt x="737" y="581"/>
                  </a:lnTo>
                  <a:lnTo>
                    <a:pt x="731" y="321"/>
                  </a:lnTo>
                  <a:lnTo>
                    <a:pt x="710" y="41"/>
                  </a:lnTo>
                  <a:lnTo>
                    <a:pt x="434" y="18"/>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19" name="Freeform 95"/>
            <p:cNvSpPr>
              <a:spLocks noChangeAspect="1"/>
            </p:cNvSpPr>
            <p:nvPr/>
          </p:nvSpPr>
          <p:spPr>
            <a:xfrm>
              <a:off x="2485" y="2027"/>
              <a:ext cx="13"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20" name="Freeform 96"/>
            <p:cNvSpPr>
              <a:spLocks noChangeAspect="1"/>
            </p:cNvSpPr>
            <p:nvPr/>
          </p:nvSpPr>
          <p:spPr>
            <a:xfrm>
              <a:off x="2582" y="2018"/>
              <a:ext cx="12"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21" name="Freeform 97"/>
            <p:cNvSpPr>
              <a:spLocks noChangeAspect="1"/>
            </p:cNvSpPr>
            <p:nvPr/>
          </p:nvSpPr>
          <p:spPr>
            <a:xfrm>
              <a:off x="2518" y="2028"/>
              <a:ext cx="13" cy="7"/>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22" name="Freeform 98"/>
            <p:cNvSpPr>
              <a:spLocks noChangeAspect="1"/>
            </p:cNvSpPr>
            <p:nvPr/>
          </p:nvSpPr>
          <p:spPr>
            <a:xfrm>
              <a:off x="2505" y="2026"/>
              <a:ext cx="7" cy="12"/>
            </a:xfrm>
            <a:custGeom>
              <a:avLst/>
              <a:gdLst>
                <a:gd name="txL" fmla="*/ 0 w 32"/>
                <a:gd name="txT" fmla="*/ 0 h 30"/>
                <a:gd name="txR" fmla="*/ 32 w 32"/>
                <a:gd name="txB" fmla="*/ 30 h 30"/>
              </a:gdLst>
              <a:ahLst/>
              <a:cxnLst>
                <a:cxn ang="0">
                  <a:pos x="0" y="0"/>
                </a:cxn>
                <a:cxn ang="0">
                  <a:pos x="0" y="0"/>
                </a:cxn>
                <a:cxn ang="0">
                  <a:pos x="0" y="0"/>
                </a:cxn>
                <a:cxn ang="0">
                  <a:pos x="0" y="0"/>
                </a:cxn>
                <a:cxn ang="0">
                  <a:pos x="0" y="0"/>
                </a:cxn>
              </a:cxnLst>
              <a:rect l="txL" t="txT" r="txR" b="txB"/>
              <a:pathLst>
                <a:path w="32" h="30">
                  <a:moveTo>
                    <a:pt x="0" y="0"/>
                  </a:moveTo>
                  <a:lnTo>
                    <a:pt x="0" y="30"/>
                  </a:lnTo>
                  <a:lnTo>
                    <a:pt x="32" y="30"/>
                  </a:lnTo>
                  <a:lnTo>
                    <a:pt x="32" y="0"/>
                  </a:lnTo>
                  <a:lnTo>
                    <a:pt x="0" y="0"/>
                  </a:lnTo>
                  <a:close/>
                </a:path>
              </a:pathLst>
            </a:custGeom>
            <a:solidFill>
              <a:srgbClr val="EAEAEA">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7523" name="Line 99"/>
            <p:cNvSpPr>
              <a:spLocks noChangeAspect="1"/>
            </p:cNvSpPr>
            <p:nvPr/>
          </p:nvSpPr>
          <p:spPr>
            <a:xfrm>
              <a:off x="2652" y="1784"/>
              <a:ext cx="4" cy="206"/>
            </a:xfrm>
            <a:prstGeom prst="line">
              <a:avLst/>
            </a:prstGeom>
            <a:ln w="9525" cap="flat" cmpd="sng">
              <a:solidFill>
                <a:schemeClr val="tx1"/>
              </a:solidFill>
              <a:prstDash val="solid"/>
              <a:headEnd type="none" w="med" len="med"/>
              <a:tailEnd type="none" w="med" len="med"/>
            </a:ln>
          </p:spPr>
        </p:sp>
      </p:grpSp>
      <p:sp>
        <p:nvSpPr>
          <p:cNvPr id="17427" name="Line 100"/>
          <p:cNvSpPr>
            <a:spLocks noChangeAspect="1"/>
          </p:cNvSpPr>
          <p:nvPr/>
        </p:nvSpPr>
        <p:spPr>
          <a:xfrm flipH="1" flipV="1">
            <a:off x="3576638" y="4933950"/>
            <a:ext cx="1062037" cy="654050"/>
          </a:xfrm>
          <a:prstGeom prst="line">
            <a:avLst/>
          </a:prstGeom>
          <a:ln w="9525" cap="flat" cmpd="sng">
            <a:solidFill>
              <a:schemeClr val="tx1"/>
            </a:solidFill>
            <a:prstDash val="dash"/>
            <a:headEnd type="triangle" w="med" len="med"/>
            <a:tailEnd type="none" w="med" len="med"/>
          </a:ln>
        </p:spPr>
      </p:sp>
      <p:sp>
        <p:nvSpPr>
          <p:cNvPr id="17428" name="Line 101"/>
          <p:cNvSpPr>
            <a:spLocks noChangeAspect="1"/>
          </p:cNvSpPr>
          <p:nvPr/>
        </p:nvSpPr>
        <p:spPr>
          <a:xfrm flipH="1" flipV="1">
            <a:off x="3916363" y="4344988"/>
            <a:ext cx="1354137" cy="468312"/>
          </a:xfrm>
          <a:prstGeom prst="line">
            <a:avLst/>
          </a:prstGeom>
          <a:ln w="9525" cap="flat" cmpd="sng">
            <a:solidFill>
              <a:schemeClr val="tx1"/>
            </a:solidFill>
            <a:prstDash val="dash"/>
            <a:headEnd type="triangle" w="med" len="med"/>
            <a:tailEnd type="none" w="med" len="med"/>
          </a:ln>
        </p:spPr>
      </p:sp>
      <p:sp>
        <p:nvSpPr>
          <p:cNvPr id="17429" name="Line 102"/>
          <p:cNvSpPr>
            <a:spLocks noChangeAspect="1"/>
          </p:cNvSpPr>
          <p:nvPr/>
        </p:nvSpPr>
        <p:spPr>
          <a:xfrm flipH="1">
            <a:off x="3748088" y="3825875"/>
            <a:ext cx="785812" cy="257175"/>
          </a:xfrm>
          <a:prstGeom prst="line">
            <a:avLst/>
          </a:prstGeom>
          <a:ln w="9525" cap="flat" cmpd="sng">
            <a:solidFill>
              <a:schemeClr val="tx1"/>
            </a:solidFill>
            <a:prstDash val="dash"/>
            <a:headEnd type="triangle" w="med" len="med"/>
            <a:tailEnd type="none" w="med" len="med"/>
          </a:ln>
        </p:spPr>
      </p:sp>
      <p:sp>
        <p:nvSpPr>
          <p:cNvPr id="17430" name="Line 103"/>
          <p:cNvSpPr>
            <a:spLocks noChangeAspect="1"/>
          </p:cNvSpPr>
          <p:nvPr/>
        </p:nvSpPr>
        <p:spPr>
          <a:xfrm flipH="1">
            <a:off x="3290888" y="3421063"/>
            <a:ext cx="419100" cy="744537"/>
          </a:xfrm>
          <a:prstGeom prst="line">
            <a:avLst/>
          </a:prstGeom>
          <a:ln w="9525" cap="flat" cmpd="sng">
            <a:solidFill>
              <a:schemeClr val="tx1"/>
            </a:solidFill>
            <a:prstDash val="dash"/>
            <a:headEnd type="triangle" w="med" len="med"/>
            <a:tailEnd type="none" w="med" len="med"/>
          </a:ln>
        </p:spPr>
      </p:sp>
      <p:sp>
        <p:nvSpPr>
          <p:cNvPr id="17431" name="AutoShape 104"/>
          <p:cNvSpPr>
            <a:spLocks noChangeAspect="1"/>
          </p:cNvSpPr>
          <p:nvPr/>
        </p:nvSpPr>
        <p:spPr>
          <a:xfrm>
            <a:off x="5360988" y="4592638"/>
            <a:ext cx="377825" cy="331787"/>
          </a:xfrm>
          <a:prstGeom prst="cube">
            <a:avLst>
              <a:gd name="adj" fmla="val 25000"/>
            </a:avLst>
          </a:prstGeom>
          <a:solidFill>
            <a:srgbClr val="F1FCAE"/>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32" name="Text Box 105"/>
          <p:cNvSpPr txBox="1">
            <a:spLocks noChangeAspect="1"/>
          </p:cNvSpPr>
          <p:nvPr/>
        </p:nvSpPr>
        <p:spPr>
          <a:xfrm>
            <a:off x="1651000" y="3971925"/>
            <a:ext cx="527050" cy="136525"/>
          </a:xfrm>
          <a:prstGeom prst="rect">
            <a:avLst/>
          </a:prstGeom>
          <a:noFill/>
          <a:ln w="9525">
            <a:noFill/>
          </a:ln>
        </p:spPr>
        <p:txBody>
          <a:bodyPr wrap="none" lIns="0" tIns="0" rIns="0" bIns="0">
            <a:spAutoFit/>
          </a:bodyPr>
          <a:p>
            <a:pPr eaLnBrk="1" hangingPunct="1"/>
            <a:r>
              <a:rPr lang="en-US" altLang="en-US" sz="900" dirty="0">
                <a:latin typeface="Arial" panose="020B0604020202020204" pitchFamily="34" charset="0"/>
              </a:rPr>
              <a:t>(1) Tenant</a:t>
            </a:r>
            <a:endParaRPr lang="en-US" altLang="en-US" sz="900" dirty="0">
              <a:latin typeface="Arial" panose="020B0604020202020204" pitchFamily="34" charset="0"/>
            </a:endParaRPr>
          </a:p>
        </p:txBody>
      </p:sp>
      <p:sp>
        <p:nvSpPr>
          <p:cNvPr id="17433" name="Text Box 106"/>
          <p:cNvSpPr txBox="1">
            <a:spLocks noChangeAspect="1"/>
          </p:cNvSpPr>
          <p:nvPr/>
        </p:nvSpPr>
        <p:spPr>
          <a:xfrm>
            <a:off x="5465763" y="4052888"/>
            <a:ext cx="406400"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(4) List of valid keys</a:t>
            </a:r>
            <a:endParaRPr lang="en-US" altLang="en-US" sz="700" dirty="0">
              <a:latin typeface="Arial" panose="020B0604020202020204" pitchFamily="34" charset="0"/>
            </a:endParaRPr>
          </a:p>
        </p:txBody>
      </p:sp>
      <p:grpSp>
        <p:nvGrpSpPr>
          <p:cNvPr id="17434" name="Group 107"/>
          <p:cNvGrpSpPr>
            <a:grpSpLocks noChangeAspect="1"/>
          </p:cNvGrpSpPr>
          <p:nvPr/>
        </p:nvGrpSpPr>
        <p:grpSpPr>
          <a:xfrm>
            <a:off x="5607050" y="3876675"/>
            <a:ext cx="125413" cy="125413"/>
            <a:chOff x="1062" y="3264"/>
            <a:chExt cx="576" cy="576"/>
          </a:xfrm>
        </p:grpSpPr>
        <p:sp>
          <p:nvSpPr>
            <p:cNvPr id="17493" name="Rectangle 108"/>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94" name="Line 109"/>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7495" name="Line 110"/>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7496" name="Line 111"/>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7497" name="Line 112"/>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7435" name="Text Box 113"/>
          <p:cNvSpPr txBox="1">
            <a:spLocks noChangeAspect="1"/>
          </p:cNvSpPr>
          <p:nvPr/>
        </p:nvSpPr>
        <p:spPr>
          <a:xfrm>
            <a:off x="6942138" y="4238625"/>
            <a:ext cx="412750" cy="136525"/>
          </a:xfrm>
          <a:prstGeom prst="rect">
            <a:avLst/>
          </a:prstGeom>
          <a:noFill/>
          <a:ln w="9525">
            <a:noFill/>
          </a:ln>
        </p:spPr>
        <p:txBody>
          <a:bodyPr wrap="none" lIns="0" tIns="0" rIns="0" bIns="0">
            <a:spAutoFit/>
          </a:bodyPr>
          <a:p>
            <a:pPr algn="ctr" eaLnBrk="1" hangingPunct="1"/>
            <a:r>
              <a:rPr lang="en-US" altLang="en-US" sz="900" dirty="0">
                <a:latin typeface="Arial" panose="020B0604020202020204" pitchFamily="34" charset="0"/>
              </a:rPr>
              <a:t>(3) Lock</a:t>
            </a:r>
            <a:endParaRPr lang="en-US" altLang="en-US" sz="900" dirty="0">
              <a:latin typeface="Arial" panose="020B0604020202020204" pitchFamily="34" charset="0"/>
            </a:endParaRPr>
          </a:p>
        </p:txBody>
      </p:sp>
      <p:sp>
        <p:nvSpPr>
          <p:cNvPr id="17436" name="Text Box 114"/>
          <p:cNvSpPr txBox="1">
            <a:spLocks noChangeAspect="1"/>
          </p:cNvSpPr>
          <p:nvPr/>
        </p:nvSpPr>
        <p:spPr>
          <a:xfrm>
            <a:off x="2695575" y="3146425"/>
            <a:ext cx="633413"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(6) Photosensor</a:t>
            </a:r>
            <a:endParaRPr lang="en-US" altLang="en-US" sz="700" dirty="0">
              <a:latin typeface="Arial" panose="020B0604020202020204" pitchFamily="34" charset="0"/>
            </a:endParaRPr>
          </a:p>
        </p:txBody>
      </p:sp>
      <p:sp>
        <p:nvSpPr>
          <p:cNvPr id="17437" name="Text Box 115"/>
          <p:cNvSpPr txBox="1">
            <a:spLocks noChangeAspect="1"/>
          </p:cNvSpPr>
          <p:nvPr/>
        </p:nvSpPr>
        <p:spPr>
          <a:xfrm>
            <a:off x="5465763" y="3219450"/>
            <a:ext cx="327025"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(7) Light</a:t>
            </a:r>
            <a:endParaRPr lang="en-US" altLang="en-US" sz="700" dirty="0">
              <a:latin typeface="Arial" panose="020B0604020202020204" pitchFamily="34" charset="0"/>
            </a:endParaRPr>
          </a:p>
        </p:txBody>
      </p:sp>
      <p:sp>
        <p:nvSpPr>
          <p:cNvPr id="17438" name="Text Box 116"/>
          <p:cNvSpPr txBox="1">
            <a:spLocks noChangeAspect="1"/>
          </p:cNvSpPr>
          <p:nvPr/>
        </p:nvSpPr>
        <p:spPr>
          <a:xfrm>
            <a:off x="6116638" y="4979988"/>
            <a:ext cx="528637" cy="106362"/>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(8) Alarm bell</a:t>
            </a:r>
            <a:endParaRPr lang="en-US" altLang="en-US" sz="700" dirty="0">
              <a:latin typeface="Arial" panose="020B0604020202020204" pitchFamily="34" charset="0"/>
            </a:endParaRPr>
          </a:p>
        </p:txBody>
      </p:sp>
      <p:sp>
        <p:nvSpPr>
          <p:cNvPr id="17439" name="Text Box 117"/>
          <p:cNvSpPr txBox="1">
            <a:spLocks noChangeAspect="1"/>
          </p:cNvSpPr>
          <p:nvPr/>
        </p:nvSpPr>
        <p:spPr>
          <a:xfrm>
            <a:off x="5575300" y="5948363"/>
            <a:ext cx="857250" cy="106362"/>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(9) Desktop computer</a:t>
            </a:r>
            <a:endParaRPr lang="en-US" altLang="en-US" sz="700" dirty="0">
              <a:latin typeface="Arial" panose="020B0604020202020204" pitchFamily="34" charset="0"/>
            </a:endParaRPr>
          </a:p>
        </p:txBody>
      </p:sp>
      <p:sp>
        <p:nvSpPr>
          <p:cNvPr id="17440" name="Text Box 118"/>
          <p:cNvSpPr txBox="1">
            <a:spLocks noChangeAspect="1"/>
          </p:cNvSpPr>
          <p:nvPr/>
        </p:nvSpPr>
        <p:spPr>
          <a:xfrm>
            <a:off x="3565525" y="3265488"/>
            <a:ext cx="595313" cy="122237"/>
          </a:xfrm>
          <a:prstGeom prst="rect">
            <a:avLst/>
          </a:prstGeom>
          <a:noFill/>
          <a:ln w="9525">
            <a:noFill/>
          </a:ln>
        </p:spPr>
        <p:txBody>
          <a:bodyPr wrap="none" lIns="0" tIns="0" rIns="0" bIns="0">
            <a:spAutoFit/>
          </a:bodyPr>
          <a:p>
            <a:pPr algn="ctr" eaLnBrk="1" hangingPunct="1"/>
            <a:r>
              <a:rPr lang="en-US" altLang="en-US" sz="800" dirty="0">
                <a:latin typeface="Arial" panose="020B0604020202020204" pitchFamily="34" charset="0"/>
              </a:rPr>
              <a:t>Subsystem-2</a:t>
            </a:r>
            <a:endParaRPr lang="en-US" altLang="en-US" sz="800" dirty="0">
              <a:latin typeface="Arial" panose="020B0604020202020204" pitchFamily="34" charset="0"/>
            </a:endParaRPr>
          </a:p>
        </p:txBody>
      </p:sp>
      <p:sp>
        <p:nvSpPr>
          <p:cNvPr id="17441" name="Text Box 119"/>
          <p:cNvSpPr txBox="1">
            <a:spLocks noChangeAspect="1"/>
          </p:cNvSpPr>
          <p:nvPr/>
        </p:nvSpPr>
        <p:spPr>
          <a:xfrm>
            <a:off x="4516438" y="4056063"/>
            <a:ext cx="595312" cy="122237"/>
          </a:xfrm>
          <a:prstGeom prst="rect">
            <a:avLst/>
          </a:prstGeom>
          <a:noFill/>
          <a:ln w="9525">
            <a:noFill/>
          </a:ln>
        </p:spPr>
        <p:txBody>
          <a:bodyPr wrap="none" lIns="0" tIns="0" rIns="0" bIns="0">
            <a:spAutoFit/>
          </a:bodyPr>
          <a:p>
            <a:pPr algn="ctr" eaLnBrk="1" hangingPunct="1"/>
            <a:r>
              <a:rPr lang="en-US" altLang="en-US" sz="800" dirty="0">
                <a:latin typeface="Arial" panose="020B0604020202020204" pitchFamily="34" charset="0"/>
              </a:rPr>
              <a:t>Subsystem-1</a:t>
            </a:r>
            <a:endParaRPr lang="en-US" altLang="en-US" sz="800" dirty="0">
              <a:latin typeface="Arial" panose="020B0604020202020204" pitchFamily="34" charset="0"/>
            </a:endParaRPr>
          </a:p>
        </p:txBody>
      </p:sp>
      <p:sp>
        <p:nvSpPr>
          <p:cNvPr id="17442" name="Text Box 120"/>
          <p:cNvSpPr txBox="1">
            <a:spLocks noChangeAspect="1"/>
          </p:cNvSpPr>
          <p:nvPr/>
        </p:nvSpPr>
        <p:spPr>
          <a:xfrm>
            <a:off x="5251450" y="4976813"/>
            <a:ext cx="595313" cy="122237"/>
          </a:xfrm>
          <a:prstGeom prst="rect">
            <a:avLst/>
          </a:prstGeom>
          <a:noFill/>
          <a:ln w="9525">
            <a:noFill/>
          </a:ln>
        </p:spPr>
        <p:txBody>
          <a:bodyPr wrap="none" lIns="0" tIns="0" rIns="0" bIns="0">
            <a:spAutoFit/>
          </a:bodyPr>
          <a:p>
            <a:pPr algn="ctr" eaLnBrk="1" hangingPunct="1"/>
            <a:r>
              <a:rPr lang="en-US" altLang="en-US" sz="800" dirty="0">
                <a:latin typeface="Arial" panose="020B0604020202020204" pitchFamily="34" charset="0"/>
              </a:rPr>
              <a:t>Subsystem-3</a:t>
            </a:r>
            <a:endParaRPr lang="en-US" altLang="en-US" sz="800" dirty="0">
              <a:latin typeface="Arial" panose="020B0604020202020204" pitchFamily="34" charset="0"/>
            </a:endParaRPr>
          </a:p>
        </p:txBody>
      </p:sp>
      <p:sp>
        <p:nvSpPr>
          <p:cNvPr id="17443" name="Text Box 121"/>
          <p:cNvSpPr txBox="1">
            <a:spLocks noChangeAspect="1"/>
          </p:cNvSpPr>
          <p:nvPr/>
        </p:nvSpPr>
        <p:spPr>
          <a:xfrm>
            <a:off x="4189413" y="5956300"/>
            <a:ext cx="595312" cy="122238"/>
          </a:xfrm>
          <a:prstGeom prst="rect">
            <a:avLst/>
          </a:prstGeom>
          <a:noFill/>
          <a:ln w="9525">
            <a:noFill/>
          </a:ln>
        </p:spPr>
        <p:txBody>
          <a:bodyPr wrap="none" lIns="0" tIns="0" rIns="0" bIns="0">
            <a:spAutoFit/>
          </a:bodyPr>
          <a:p>
            <a:pPr algn="ctr" eaLnBrk="1" hangingPunct="1"/>
            <a:r>
              <a:rPr lang="en-US" altLang="en-US" sz="800" dirty="0">
                <a:latin typeface="Arial" panose="020B0604020202020204" pitchFamily="34" charset="0"/>
              </a:rPr>
              <a:t>Subsystem-4</a:t>
            </a:r>
            <a:endParaRPr lang="en-US" altLang="en-US" sz="800" dirty="0">
              <a:latin typeface="Arial" panose="020B0604020202020204" pitchFamily="34" charset="0"/>
            </a:endParaRPr>
          </a:p>
        </p:txBody>
      </p:sp>
      <p:grpSp>
        <p:nvGrpSpPr>
          <p:cNvPr id="17444" name="Group 122"/>
          <p:cNvGrpSpPr>
            <a:grpSpLocks noChangeAspect="1"/>
          </p:cNvGrpSpPr>
          <p:nvPr/>
        </p:nvGrpSpPr>
        <p:grpSpPr>
          <a:xfrm>
            <a:off x="1651000" y="4770438"/>
            <a:ext cx="312738" cy="790575"/>
            <a:chOff x="4569" y="1520"/>
            <a:chExt cx="276" cy="698"/>
          </a:xfrm>
        </p:grpSpPr>
        <p:sp>
          <p:nvSpPr>
            <p:cNvPr id="17491" name="Oval 123"/>
            <p:cNvSpPr>
              <a:spLocks noChangeAspect="1"/>
            </p:cNvSpPr>
            <p:nvPr/>
          </p:nvSpPr>
          <p:spPr>
            <a:xfrm>
              <a:off x="4646" y="1520"/>
              <a:ext cx="122" cy="129"/>
            </a:xfrm>
            <a:prstGeom prst="ellipse">
              <a:avLst/>
            </a:prstGeom>
            <a:solidFill>
              <a:schemeClr val="bg1"/>
            </a:solidFill>
            <a:ln w="6350" cap="flat" cmpd="sng">
              <a:solidFill>
                <a:schemeClr val="tx1"/>
              </a:solidFill>
              <a:prstDash val="solid"/>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92" name="Freeform 124"/>
            <p:cNvSpPr>
              <a:spLocks noChangeAspect="1"/>
            </p:cNvSpPr>
            <p:nvPr/>
          </p:nvSpPr>
          <p:spPr>
            <a:xfrm>
              <a:off x="4569" y="1667"/>
              <a:ext cx="276" cy="551"/>
            </a:xfrm>
            <a:custGeom>
              <a:avLst/>
              <a:gdLst>
                <a:gd name="txL" fmla="*/ 0 w 1101"/>
                <a:gd name="txT" fmla="*/ 0 h 2202"/>
                <a:gd name="txR" fmla="*/ 1101 w 1101"/>
                <a:gd name="txB" fmla="*/ 2202 h 2202"/>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1101" h="2202">
                  <a:moveTo>
                    <a:pt x="88" y="2"/>
                  </a:moveTo>
                  <a:cubicBezTo>
                    <a:pt x="40" y="2"/>
                    <a:pt x="0" y="47"/>
                    <a:pt x="0" y="93"/>
                  </a:cubicBezTo>
                  <a:lnTo>
                    <a:pt x="0" y="960"/>
                  </a:lnTo>
                  <a:cubicBezTo>
                    <a:pt x="18" y="1079"/>
                    <a:pt x="165" y="1053"/>
                    <a:pt x="165" y="960"/>
                  </a:cubicBezTo>
                  <a:lnTo>
                    <a:pt x="163" y="224"/>
                  </a:lnTo>
                  <a:cubicBezTo>
                    <a:pt x="163" y="185"/>
                    <a:pt x="216" y="185"/>
                    <a:pt x="216" y="222"/>
                  </a:cubicBezTo>
                  <a:lnTo>
                    <a:pt x="216" y="2016"/>
                  </a:lnTo>
                  <a:cubicBezTo>
                    <a:pt x="216" y="2192"/>
                    <a:pt x="490" y="2202"/>
                    <a:pt x="490" y="2015"/>
                  </a:cubicBezTo>
                  <a:lnTo>
                    <a:pt x="490" y="1071"/>
                  </a:lnTo>
                  <a:cubicBezTo>
                    <a:pt x="502" y="987"/>
                    <a:pt x="600" y="998"/>
                    <a:pt x="607" y="1070"/>
                  </a:cubicBezTo>
                  <a:lnTo>
                    <a:pt x="607" y="2015"/>
                  </a:lnTo>
                  <a:cubicBezTo>
                    <a:pt x="607" y="2198"/>
                    <a:pt x="879" y="2198"/>
                    <a:pt x="879" y="2013"/>
                  </a:cubicBezTo>
                  <a:lnTo>
                    <a:pt x="877" y="222"/>
                  </a:lnTo>
                  <a:cubicBezTo>
                    <a:pt x="877" y="185"/>
                    <a:pt x="934" y="185"/>
                    <a:pt x="934" y="222"/>
                  </a:cubicBezTo>
                  <a:lnTo>
                    <a:pt x="934" y="960"/>
                  </a:lnTo>
                  <a:cubicBezTo>
                    <a:pt x="954" y="1076"/>
                    <a:pt x="1089" y="1058"/>
                    <a:pt x="1101" y="962"/>
                  </a:cubicBezTo>
                  <a:lnTo>
                    <a:pt x="1101" y="93"/>
                  </a:lnTo>
                  <a:cubicBezTo>
                    <a:pt x="1101" y="27"/>
                    <a:pt x="1044" y="0"/>
                    <a:pt x="1011" y="2"/>
                  </a:cubicBezTo>
                  <a:lnTo>
                    <a:pt x="88" y="2"/>
                  </a:lnTo>
                  <a:close/>
                </a:path>
              </a:pathLst>
            </a:custGeom>
            <a:solidFill>
              <a:schemeClr val="bg1">
                <a:alpha val="100000"/>
              </a:schemeClr>
            </a:solidFill>
            <a:ln w="6350" cap="flat" cmpd="sng">
              <a:solidFill>
                <a:schemeClr val="tx1">
                  <a:alpha val="100000"/>
                </a:schemeClr>
              </a:solidFill>
              <a:prstDash val="solid"/>
              <a:round/>
              <a:headEnd type="none" w="med" len="med"/>
              <a:tailEnd type="none" w="med" len="med"/>
            </a:ln>
          </p:spPr>
          <p:txBody>
            <a:bodyPr/>
            <a:p>
              <a:endParaRPr lang="zh-CN" altLang="en-US"/>
            </a:p>
          </p:txBody>
        </p:sp>
      </p:grpSp>
      <p:sp>
        <p:nvSpPr>
          <p:cNvPr id="17445" name="Text Box 125"/>
          <p:cNvSpPr txBox="1">
            <a:spLocks noChangeAspect="1"/>
          </p:cNvSpPr>
          <p:nvPr/>
        </p:nvSpPr>
        <p:spPr>
          <a:xfrm>
            <a:off x="1651000" y="5616575"/>
            <a:ext cx="615950" cy="136525"/>
          </a:xfrm>
          <a:prstGeom prst="rect">
            <a:avLst/>
          </a:prstGeom>
          <a:noFill/>
          <a:ln w="9525">
            <a:noFill/>
          </a:ln>
        </p:spPr>
        <p:txBody>
          <a:bodyPr wrap="none" lIns="0" tIns="0" rIns="0" bIns="0">
            <a:spAutoFit/>
          </a:bodyPr>
          <a:p>
            <a:pPr eaLnBrk="1" hangingPunct="1"/>
            <a:r>
              <a:rPr lang="en-US" altLang="en-US" sz="900" dirty="0">
                <a:latin typeface="Arial" panose="020B0604020202020204" pitchFamily="34" charset="0"/>
              </a:rPr>
              <a:t>(2) Landlord</a:t>
            </a:r>
            <a:endParaRPr lang="en-US" altLang="en-US" sz="900" dirty="0">
              <a:latin typeface="Arial" panose="020B0604020202020204" pitchFamily="34" charset="0"/>
            </a:endParaRPr>
          </a:p>
        </p:txBody>
      </p:sp>
      <p:sp>
        <p:nvSpPr>
          <p:cNvPr id="17446" name="Text Box 126"/>
          <p:cNvSpPr txBox="1">
            <a:spLocks noChangeAspect="1"/>
          </p:cNvSpPr>
          <p:nvPr/>
        </p:nvSpPr>
        <p:spPr>
          <a:xfrm>
            <a:off x="2098675" y="3346450"/>
            <a:ext cx="287338" cy="106363"/>
          </a:xfrm>
          <a:prstGeom prst="rect">
            <a:avLst/>
          </a:prstGeom>
          <a:noFill/>
          <a:ln w="9525">
            <a:noFill/>
          </a:ln>
        </p:spPr>
        <p:txBody>
          <a:bodyPr wrap="none" lIns="0" tIns="0" rIns="0" bIns="0">
            <a:spAutoFit/>
          </a:bodyPr>
          <a:p>
            <a:pPr algn="ctr" eaLnBrk="1" hangingPunct="1"/>
            <a:r>
              <a:rPr lang="en-US" altLang="en-US" sz="700" dirty="0">
                <a:latin typeface="Arial" panose="020B0604020202020204" pitchFamily="34" charset="0"/>
              </a:rPr>
              <a:t>(3) Key</a:t>
            </a:r>
            <a:endParaRPr lang="en-US" altLang="en-US" sz="700" dirty="0">
              <a:latin typeface="Arial" panose="020B0604020202020204" pitchFamily="34" charset="0"/>
            </a:endParaRPr>
          </a:p>
        </p:txBody>
      </p:sp>
      <p:sp>
        <p:nvSpPr>
          <p:cNvPr id="17447" name="Text Box 127"/>
          <p:cNvSpPr txBox="1">
            <a:spLocks noChangeAspect="1"/>
          </p:cNvSpPr>
          <p:nvPr/>
        </p:nvSpPr>
        <p:spPr>
          <a:xfrm>
            <a:off x="4325938" y="3000375"/>
            <a:ext cx="474662"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(5) Device preferences</a:t>
            </a:r>
            <a:endParaRPr lang="en-US" altLang="en-US" sz="700" dirty="0">
              <a:latin typeface="Arial" panose="020B0604020202020204" pitchFamily="34" charset="0"/>
            </a:endParaRPr>
          </a:p>
        </p:txBody>
      </p:sp>
      <p:grpSp>
        <p:nvGrpSpPr>
          <p:cNvPr id="17448" name="Group 128"/>
          <p:cNvGrpSpPr>
            <a:grpSpLocks noChangeAspect="1"/>
          </p:cNvGrpSpPr>
          <p:nvPr/>
        </p:nvGrpSpPr>
        <p:grpSpPr>
          <a:xfrm>
            <a:off x="4500563" y="2824163"/>
            <a:ext cx="125412" cy="125412"/>
            <a:chOff x="1062" y="3264"/>
            <a:chExt cx="576" cy="576"/>
          </a:xfrm>
        </p:grpSpPr>
        <p:sp>
          <p:nvSpPr>
            <p:cNvPr id="17486" name="Rectangle 129"/>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87" name="Line 130"/>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7488" name="Line 131"/>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7489" name="Line 132"/>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7490" name="Line 133"/>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7449" name="Text Box 134"/>
          <p:cNvSpPr txBox="1">
            <a:spLocks noChangeAspect="1"/>
          </p:cNvSpPr>
          <p:nvPr/>
        </p:nvSpPr>
        <p:spPr>
          <a:xfrm>
            <a:off x="6924675" y="5821363"/>
            <a:ext cx="496888"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(10) Tenant accounts</a:t>
            </a:r>
            <a:endParaRPr lang="en-US" altLang="en-US" sz="700" dirty="0">
              <a:latin typeface="Arial" panose="020B0604020202020204" pitchFamily="34" charset="0"/>
            </a:endParaRPr>
          </a:p>
        </p:txBody>
      </p:sp>
      <p:grpSp>
        <p:nvGrpSpPr>
          <p:cNvPr id="17450" name="Group 135"/>
          <p:cNvGrpSpPr>
            <a:grpSpLocks noChangeAspect="1"/>
          </p:cNvGrpSpPr>
          <p:nvPr/>
        </p:nvGrpSpPr>
        <p:grpSpPr>
          <a:xfrm>
            <a:off x="7110413" y="5646738"/>
            <a:ext cx="125412" cy="125412"/>
            <a:chOff x="1062" y="3264"/>
            <a:chExt cx="576" cy="576"/>
          </a:xfrm>
        </p:grpSpPr>
        <p:sp>
          <p:nvSpPr>
            <p:cNvPr id="17481" name="Rectangle 136"/>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82" name="Line 137"/>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7483" name="Line 138"/>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7484" name="Line 139"/>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7485" name="Line 140"/>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7451" name="Text Box 141"/>
          <p:cNvSpPr txBox="1">
            <a:spLocks noChangeAspect="1"/>
          </p:cNvSpPr>
          <p:nvPr/>
        </p:nvSpPr>
        <p:spPr>
          <a:xfrm>
            <a:off x="6942138" y="5002213"/>
            <a:ext cx="439737" cy="212725"/>
          </a:xfrm>
          <a:prstGeom prst="rect">
            <a:avLst/>
          </a:prstGeom>
          <a:noFill/>
          <a:ln w="9525">
            <a:noFill/>
          </a:ln>
        </p:spPr>
        <p:txBody>
          <a:bodyPr lIns="0" tIns="0" rIns="0" bIns="0">
            <a:spAutoFit/>
          </a:bodyPr>
          <a:p>
            <a:pPr algn="ctr" eaLnBrk="1" hangingPunct="1"/>
            <a:r>
              <a:rPr lang="en-US" altLang="en-US" sz="700" dirty="0">
                <a:latin typeface="Arial" panose="020B0604020202020204" pitchFamily="34" charset="0"/>
              </a:rPr>
              <a:t>(11) Log of accesses</a:t>
            </a:r>
            <a:endParaRPr lang="en-US" altLang="en-US" sz="700" dirty="0">
              <a:latin typeface="Arial" panose="020B0604020202020204" pitchFamily="34" charset="0"/>
            </a:endParaRPr>
          </a:p>
        </p:txBody>
      </p:sp>
      <p:grpSp>
        <p:nvGrpSpPr>
          <p:cNvPr id="17452" name="Group 142"/>
          <p:cNvGrpSpPr>
            <a:grpSpLocks noChangeAspect="1"/>
          </p:cNvGrpSpPr>
          <p:nvPr/>
        </p:nvGrpSpPr>
        <p:grpSpPr>
          <a:xfrm>
            <a:off x="7099300" y="4826000"/>
            <a:ext cx="125413" cy="125413"/>
            <a:chOff x="1062" y="3264"/>
            <a:chExt cx="576" cy="576"/>
          </a:xfrm>
        </p:grpSpPr>
        <p:sp>
          <p:nvSpPr>
            <p:cNvPr id="17476" name="Rectangle 143"/>
            <p:cNvSpPr>
              <a:spLocks noChangeAspect="1"/>
            </p:cNvSpPr>
            <p:nvPr/>
          </p:nvSpPr>
          <p:spPr>
            <a:xfrm>
              <a:off x="1062" y="3264"/>
              <a:ext cx="576"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77" name="Line 144"/>
            <p:cNvSpPr>
              <a:spLocks noChangeAspect="1"/>
            </p:cNvSpPr>
            <p:nvPr/>
          </p:nvSpPr>
          <p:spPr>
            <a:xfrm>
              <a:off x="1062" y="3552"/>
              <a:ext cx="576" cy="0"/>
            </a:xfrm>
            <a:prstGeom prst="line">
              <a:avLst/>
            </a:prstGeom>
            <a:ln w="3175" cap="flat" cmpd="sng">
              <a:solidFill>
                <a:schemeClr val="tx1"/>
              </a:solidFill>
              <a:prstDash val="solid"/>
              <a:headEnd type="none" w="med" len="med"/>
              <a:tailEnd type="none" w="med" len="med"/>
            </a:ln>
          </p:spPr>
        </p:sp>
        <p:sp>
          <p:nvSpPr>
            <p:cNvPr id="17478" name="Line 145"/>
            <p:cNvSpPr>
              <a:spLocks noChangeAspect="1"/>
            </p:cNvSpPr>
            <p:nvPr/>
          </p:nvSpPr>
          <p:spPr>
            <a:xfrm>
              <a:off x="1062" y="3408"/>
              <a:ext cx="576" cy="0"/>
            </a:xfrm>
            <a:prstGeom prst="line">
              <a:avLst/>
            </a:prstGeom>
            <a:ln w="3175" cap="flat" cmpd="sng">
              <a:solidFill>
                <a:schemeClr val="tx1"/>
              </a:solidFill>
              <a:prstDash val="solid"/>
              <a:headEnd type="none" w="med" len="med"/>
              <a:tailEnd type="none" w="med" len="med"/>
            </a:ln>
          </p:spPr>
        </p:sp>
        <p:sp>
          <p:nvSpPr>
            <p:cNvPr id="17479" name="Line 146"/>
            <p:cNvSpPr>
              <a:spLocks noChangeAspect="1"/>
            </p:cNvSpPr>
            <p:nvPr/>
          </p:nvSpPr>
          <p:spPr>
            <a:xfrm>
              <a:off x="1062" y="3696"/>
              <a:ext cx="576" cy="0"/>
            </a:xfrm>
            <a:prstGeom prst="line">
              <a:avLst/>
            </a:prstGeom>
            <a:ln w="3175" cap="flat" cmpd="sng">
              <a:solidFill>
                <a:schemeClr val="tx1"/>
              </a:solidFill>
              <a:prstDash val="solid"/>
              <a:headEnd type="none" w="med" len="med"/>
              <a:tailEnd type="none" w="med" len="med"/>
            </a:ln>
          </p:spPr>
        </p:sp>
        <p:sp>
          <p:nvSpPr>
            <p:cNvPr id="17480" name="Line 147"/>
            <p:cNvSpPr>
              <a:spLocks noChangeAspect="1"/>
            </p:cNvSpPr>
            <p:nvPr/>
          </p:nvSpPr>
          <p:spPr>
            <a:xfrm>
              <a:off x="1350" y="3264"/>
              <a:ext cx="0" cy="576"/>
            </a:xfrm>
            <a:prstGeom prst="line">
              <a:avLst/>
            </a:prstGeom>
            <a:ln w="3175" cap="flat" cmpd="sng">
              <a:solidFill>
                <a:schemeClr val="tx1"/>
              </a:solidFill>
              <a:prstDash val="solid"/>
              <a:headEnd type="none" w="med" len="med"/>
              <a:tailEnd type="none" w="med" len="med"/>
            </a:ln>
          </p:spPr>
        </p:sp>
      </p:grpSp>
      <p:sp>
        <p:nvSpPr>
          <p:cNvPr id="17453" name="Freeform 148"/>
          <p:cNvSpPr>
            <a:spLocks noChangeAspect="1"/>
          </p:cNvSpPr>
          <p:nvPr/>
        </p:nvSpPr>
        <p:spPr>
          <a:xfrm>
            <a:off x="2047875" y="5195888"/>
            <a:ext cx="2574925" cy="671512"/>
          </a:xfrm>
          <a:custGeom>
            <a:avLst/>
            <a:gdLst>
              <a:gd name="txL" fmla="*/ 0 w 1839"/>
              <a:gd name="txT" fmla="*/ 0 h 493"/>
              <a:gd name="txR" fmla="*/ 1839 w 1839"/>
              <a:gd name="txB" fmla="*/ 493 h 493"/>
            </a:gdLst>
            <a:ahLst/>
            <a:cxnLst>
              <a:cxn ang="0">
                <a:pos x="0" y="0"/>
              </a:cxn>
              <a:cxn ang="0">
                <a:pos x="2147483647" y="2147483647"/>
              </a:cxn>
            </a:cxnLst>
            <a:rect l="txL" t="txT" r="txR" b="txB"/>
            <a:pathLst>
              <a:path w="1839" h="493">
                <a:moveTo>
                  <a:pt x="0" y="0"/>
                </a:moveTo>
                <a:cubicBezTo>
                  <a:pt x="299" y="311"/>
                  <a:pt x="1446" y="493"/>
                  <a:pt x="1839" y="416"/>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4" name="Freeform 149"/>
          <p:cNvSpPr>
            <a:spLocks noChangeAspect="1"/>
          </p:cNvSpPr>
          <p:nvPr/>
        </p:nvSpPr>
        <p:spPr>
          <a:xfrm>
            <a:off x="2243138" y="3548063"/>
            <a:ext cx="2297112" cy="466725"/>
          </a:xfrm>
          <a:custGeom>
            <a:avLst/>
            <a:gdLst>
              <a:gd name="txL" fmla="*/ 0 w 1689"/>
              <a:gd name="txT" fmla="*/ 0 h 343"/>
              <a:gd name="txR" fmla="*/ 1689 w 1689"/>
              <a:gd name="txB" fmla="*/ 343 h 343"/>
            </a:gdLst>
            <a:ahLst/>
            <a:cxnLst>
              <a:cxn ang="0">
                <a:pos x="2147483647" y="2147483647"/>
              </a:cxn>
              <a:cxn ang="0">
                <a:pos x="0" y="0"/>
              </a:cxn>
            </a:cxnLst>
            <a:rect l="txL" t="txT" r="txR" b="txB"/>
            <a:pathLst>
              <a:path w="1689" h="343">
                <a:moveTo>
                  <a:pt x="1689" y="144"/>
                </a:moveTo>
                <a:cubicBezTo>
                  <a:pt x="1241" y="116"/>
                  <a:pt x="316" y="343"/>
                  <a:pt x="0" y="0"/>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5" name="Freeform 150"/>
          <p:cNvSpPr>
            <a:spLocks noChangeAspect="1"/>
          </p:cNvSpPr>
          <p:nvPr/>
        </p:nvSpPr>
        <p:spPr>
          <a:xfrm>
            <a:off x="5081588" y="3563938"/>
            <a:ext cx="1752600" cy="195262"/>
          </a:xfrm>
          <a:custGeom>
            <a:avLst/>
            <a:gdLst>
              <a:gd name="txL" fmla="*/ 0 w 1267"/>
              <a:gd name="txT" fmla="*/ 0 h 144"/>
              <a:gd name="txR" fmla="*/ 1267 w 1267"/>
              <a:gd name="txB" fmla="*/ 144 h 144"/>
            </a:gdLst>
            <a:ahLst/>
            <a:cxnLst>
              <a:cxn ang="0">
                <a:pos x="0" y="2147483647"/>
              </a:cxn>
              <a:cxn ang="0">
                <a:pos x="2147483647" y="2147483647"/>
              </a:cxn>
            </a:cxnLst>
            <a:rect l="txL" t="txT" r="txR" b="txB"/>
            <a:pathLst>
              <a:path w="1267" h="144">
                <a:moveTo>
                  <a:pt x="0" y="66"/>
                </a:moveTo>
                <a:cubicBezTo>
                  <a:pt x="504" y="0"/>
                  <a:pt x="830" y="144"/>
                  <a:pt x="1267" y="66"/>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6" name="Freeform 151"/>
          <p:cNvSpPr>
            <a:spLocks noChangeAspect="1"/>
          </p:cNvSpPr>
          <p:nvPr/>
        </p:nvSpPr>
        <p:spPr>
          <a:xfrm>
            <a:off x="3278188" y="2871788"/>
            <a:ext cx="366712" cy="169862"/>
          </a:xfrm>
          <a:custGeom>
            <a:avLst/>
            <a:gdLst>
              <a:gd name="txL" fmla="*/ 0 w 270"/>
              <a:gd name="txT" fmla="*/ 0 h 125"/>
              <a:gd name="txR" fmla="*/ 270 w 270"/>
              <a:gd name="txB" fmla="*/ 125 h 125"/>
            </a:gdLst>
            <a:ahLst/>
            <a:cxnLst>
              <a:cxn ang="0">
                <a:pos x="0" y="0"/>
              </a:cxn>
              <a:cxn ang="0">
                <a:pos x="2147483647" y="2147483647"/>
              </a:cxn>
            </a:cxnLst>
            <a:rect l="txL" t="txT" r="txR" b="txB"/>
            <a:pathLst>
              <a:path w="270" h="125">
                <a:moveTo>
                  <a:pt x="0" y="0"/>
                </a:moveTo>
                <a:cubicBezTo>
                  <a:pt x="153" y="4"/>
                  <a:pt x="219" y="125"/>
                  <a:pt x="270" y="111"/>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7" name="Freeform 152"/>
          <p:cNvSpPr>
            <a:spLocks noChangeAspect="1"/>
          </p:cNvSpPr>
          <p:nvPr/>
        </p:nvSpPr>
        <p:spPr>
          <a:xfrm>
            <a:off x="4060825" y="2635250"/>
            <a:ext cx="1422400" cy="296863"/>
          </a:xfrm>
          <a:custGeom>
            <a:avLst/>
            <a:gdLst>
              <a:gd name="txL" fmla="*/ 0 w 1045"/>
              <a:gd name="txT" fmla="*/ 0 h 218"/>
              <a:gd name="txR" fmla="*/ 1045 w 1045"/>
              <a:gd name="txB" fmla="*/ 218 h 218"/>
            </a:gdLst>
            <a:ahLst/>
            <a:cxnLst>
              <a:cxn ang="0">
                <a:pos x="0" y="2147483647"/>
              </a:cxn>
              <a:cxn ang="0">
                <a:pos x="2147483647" y="2147483647"/>
              </a:cxn>
            </a:cxnLst>
            <a:rect l="txL" t="txT" r="txR" b="txB"/>
            <a:pathLst>
              <a:path w="1045" h="218">
                <a:moveTo>
                  <a:pt x="0" y="218"/>
                </a:moveTo>
                <a:cubicBezTo>
                  <a:pt x="302" y="28"/>
                  <a:pt x="779" y="0"/>
                  <a:pt x="1045" y="39"/>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8" name="Freeform 153"/>
          <p:cNvSpPr>
            <a:spLocks noChangeAspect="1"/>
          </p:cNvSpPr>
          <p:nvPr/>
        </p:nvSpPr>
        <p:spPr>
          <a:xfrm>
            <a:off x="4972050" y="5580063"/>
            <a:ext cx="430213" cy="106362"/>
          </a:xfrm>
          <a:custGeom>
            <a:avLst/>
            <a:gdLst>
              <a:gd name="txL" fmla="*/ 0 w 289"/>
              <a:gd name="txT" fmla="*/ 0 h 78"/>
              <a:gd name="txR" fmla="*/ 289 w 289"/>
              <a:gd name="txB" fmla="*/ 78 h 78"/>
            </a:gdLst>
            <a:ahLst/>
            <a:cxnLst>
              <a:cxn ang="0">
                <a:pos x="0" y="2147483647"/>
              </a:cxn>
              <a:cxn ang="0">
                <a:pos x="2147483647" y="2147483647"/>
              </a:cxn>
            </a:cxnLst>
            <a:rect l="txL" t="txT" r="txR" b="txB"/>
            <a:pathLst>
              <a:path w="289" h="78">
                <a:moveTo>
                  <a:pt x="0" y="78"/>
                </a:moveTo>
                <a:cubicBezTo>
                  <a:pt x="131" y="0"/>
                  <a:pt x="171" y="67"/>
                  <a:pt x="289" y="8"/>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59" name="Freeform 154"/>
          <p:cNvSpPr>
            <a:spLocks noChangeAspect="1"/>
          </p:cNvSpPr>
          <p:nvPr/>
        </p:nvSpPr>
        <p:spPr>
          <a:xfrm>
            <a:off x="5081588" y="3592513"/>
            <a:ext cx="1935162" cy="1347787"/>
          </a:xfrm>
          <a:custGeom>
            <a:avLst/>
            <a:gdLst>
              <a:gd name="txL" fmla="*/ 0 w 1423"/>
              <a:gd name="txT" fmla="*/ 0 h 991"/>
              <a:gd name="txR" fmla="*/ 1423 w 1423"/>
              <a:gd name="txB" fmla="*/ 991 h 991"/>
            </a:gdLst>
            <a:ahLst/>
            <a:cxnLst>
              <a:cxn ang="0">
                <a:pos x="0" y="2147483647"/>
              </a:cxn>
              <a:cxn ang="0">
                <a:pos x="2147483647" y="2147483647"/>
              </a:cxn>
            </a:cxnLst>
            <a:rect l="txL" t="txT" r="txR" b="txB"/>
            <a:pathLst>
              <a:path w="1423" h="991">
                <a:moveTo>
                  <a:pt x="0" y="68"/>
                </a:moveTo>
                <a:cubicBezTo>
                  <a:pt x="1240" y="0"/>
                  <a:pt x="1113" y="991"/>
                  <a:pt x="1423" y="94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60" name="Freeform 155"/>
          <p:cNvSpPr>
            <a:spLocks noChangeAspect="1"/>
          </p:cNvSpPr>
          <p:nvPr/>
        </p:nvSpPr>
        <p:spPr>
          <a:xfrm>
            <a:off x="6245225" y="5511800"/>
            <a:ext cx="712788" cy="234950"/>
          </a:xfrm>
          <a:custGeom>
            <a:avLst/>
            <a:gdLst>
              <a:gd name="txL" fmla="*/ 0 w 524"/>
              <a:gd name="txT" fmla="*/ 0 h 217"/>
              <a:gd name="txR" fmla="*/ 524 w 524"/>
              <a:gd name="txB" fmla="*/ 217 h 217"/>
            </a:gdLst>
            <a:ahLst/>
            <a:cxnLst>
              <a:cxn ang="0">
                <a:pos x="0" y="0"/>
              </a:cxn>
              <a:cxn ang="0">
                <a:pos x="2147483647" y="2147483647"/>
              </a:cxn>
            </a:cxnLst>
            <a:rect l="txL" t="txT" r="txR" b="txB"/>
            <a:pathLst>
              <a:path w="524" h="217">
                <a:moveTo>
                  <a:pt x="0" y="0"/>
                </a:moveTo>
                <a:cubicBezTo>
                  <a:pt x="270" y="10"/>
                  <a:pt x="294" y="190"/>
                  <a:pt x="524" y="21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61" name="Freeform 156"/>
          <p:cNvSpPr>
            <a:spLocks noChangeAspect="1"/>
          </p:cNvSpPr>
          <p:nvPr/>
        </p:nvSpPr>
        <p:spPr>
          <a:xfrm>
            <a:off x="5797550" y="4708525"/>
            <a:ext cx="303213" cy="112713"/>
          </a:xfrm>
          <a:custGeom>
            <a:avLst/>
            <a:gdLst>
              <a:gd name="txL" fmla="*/ 0 w 223"/>
              <a:gd name="txT" fmla="*/ 0 h 83"/>
              <a:gd name="txR" fmla="*/ 223 w 223"/>
              <a:gd name="txB" fmla="*/ 83 h 83"/>
            </a:gdLst>
            <a:ahLst/>
            <a:cxnLst>
              <a:cxn ang="0">
                <a:pos x="0" y="2147483647"/>
              </a:cxn>
              <a:cxn ang="0">
                <a:pos x="2147483647" y="2147483647"/>
              </a:cxn>
            </a:cxnLst>
            <a:rect l="txL" t="txT" r="txR" b="txB"/>
            <a:pathLst>
              <a:path w="223" h="83">
                <a:moveTo>
                  <a:pt x="0" y="33"/>
                </a:moveTo>
                <a:cubicBezTo>
                  <a:pt x="117" y="0"/>
                  <a:pt x="188" y="83"/>
                  <a:pt x="223" y="57"/>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62" name="Freeform 157"/>
          <p:cNvSpPr>
            <a:spLocks noChangeAspect="1"/>
          </p:cNvSpPr>
          <p:nvPr/>
        </p:nvSpPr>
        <p:spPr>
          <a:xfrm>
            <a:off x="5081588" y="3716338"/>
            <a:ext cx="434975" cy="247650"/>
          </a:xfrm>
          <a:custGeom>
            <a:avLst/>
            <a:gdLst>
              <a:gd name="txL" fmla="*/ 0 w 270"/>
              <a:gd name="txT" fmla="*/ 0 h 125"/>
              <a:gd name="txR" fmla="*/ 270 w 270"/>
              <a:gd name="txB" fmla="*/ 125 h 125"/>
            </a:gdLst>
            <a:ahLst/>
            <a:cxnLst>
              <a:cxn ang="0">
                <a:pos x="0" y="0"/>
              </a:cxn>
              <a:cxn ang="0">
                <a:pos x="2147483647" y="2147483647"/>
              </a:cxn>
            </a:cxnLst>
            <a:rect l="txL" t="txT" r="txR" b="txB"/>
            <a:pathLst>
              <a:path w="270" h="125">
                <a:moveTo>
                  <a:pt x="0" y="0"/>
                </a:moveTo>
                <a:cubicBezTo>
                  <a:pt x="153" y="4"/>
                  <a:pt x="219" y="125"/>
                  <a:pt x="270" y="111"/>
                </a:cubicBezTo>
              </a:path>
            </a:pathLst>
          </a:custGeom>
          <a:noFill/>
          <a:ln w="6350" cap="flat" cmpd="sng">
            <a:solidFill>
              <a:schemeClr val="tx1">
                <a:alpha val="100000"/>
              </a:schemeClr>
            </a:solidFill>
            <a:prstDash val="solid"/>
            <a:round/>
            <a:headEnd type="none" w="med" len="med"/>
            <a:tailEnd type="none" w="med" len="med"/>
          </a:ln>
        </p:spPr>
        <p:txBody>
          <a:bodyPr/>
          <a:p>
            <a:endParaRPr lang="zh-CN" altLang="en-US"/>
          </a:p>
        </p:txBody>
      </p:sp>
      <p:sp>
        <p:nvSpPr>
          <p:cNvPr id="17463" name="Rectangle 158"/>
          <p:cNvSpPr/>
          <p:nvPr/>
        </p:nvSpPr>
        <p:spPr>
          <a:xfrm>
            <a:off x="4540250" y="1957388"/>
            <a:ext cx="914400" cy="365125"/>
          </a:xfrm>
          <a:prstGeom prst="rect">
            <a:avLst/>
          </a:prstGeom>
          <a:solidFill>
            <a:srgbClr val="FFFFCC"/>
          </a:solidFill>
          <a:ln w="3175" cap="flat" cmpd="sng">
            <a:solidFill>
              <a:schemeClr val="tx1"/>
            </a:solidFill>
            <a:prstDash val="solid"/>
            <a:miter/>
            <a:headEnd type="none" w="med" len="med"/>
            <a:tailEnd type="none" w="med" len="med"/>
          </a:ln>
        </p:spPr>
        <p:txBody>
          <a:bodyPr lIns="27432" tIns="0" rIns="27432" bIns="0" anchor="ctr" anchorCtr="0"/>
          <a:p>
            <a:pPr algn="ctr" eaLnBrk="1" hangingPunct="1"/>
            <a:r>
              <a:rPr lang="en-US" altLang="en-US" sz="900" dirty="0">
                <a:latin typeface="Arial" panose="020B0604020202020204" pitchFamily="34" charset="0"/>
              </a:rPr>
              <a:t>REQ1, REQ2, REQ3, REQ4</a:t>
            </a:r>
            <a:endParaRPr lang="en-US" altLang="en-US" sz="900" dirty="0">
              <a:latin typeface="Arial" panose="020B0604020202020204" pitchFamily="34" charset="0"/>
            </a:endParaRPr>
          </a:p>
        </p:txBody>
      </p:sp>
      <p:sp>
        <p:nvSpPr>
          <p:cNvPr id="17464" name="Rectangle 159"/>
          <p:cNvSpPr/>
          <p:nvPr/>
        </p:nvSpPr>
        <p:spPr>
          <a:xfrm>
            <a:off x="3397250" y="2055813"/>
            <a:ext cx="530225" cy="255587"/>
          </a:xfrm>
          <a:prstGeom prst="rect">
            <a:avLst/>
          </a:prstGeom>
          <a:solidFill>
            <a:srgbClr val="FFCC00"/>
          </a:solidFill>
          <a:ln w="3175" cap="flat" cmpd="sng">
            <a:solidFill>
              <a:schemeClr val="tx1"/>
            </a:solidFill>
            <a:prstDash val="solid"/>
            <a:miter/>
            <a:headEnd type="none" w="med" len="med"/>
            <a:tailEnd type="none" w="med" len="med"/>
          </a:ln>
        </p:spPr>
        <p:txBody>
          <a:bodyPr lIns="27432" tIns="0" rIns="27432" bIns="0"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65" name="Rectangle 160"/>
          <p:cNvSpPr/>
          <p:nvPr/>
        </p:nvSpPr>
        <p:spPr>
          <a:xfrm>
            <a:off x="3416300" y="2073275"/>
            <a:ext cx="493713" cy="219075"/>
          </a:xfrm>
          <a:prstGeom prst="rect">
            <a:avLst/>
          </a:prstGeom>
          <a:solidFill>
            <a:srgbClr val="FFFFCC"/>
          </a:solidFill>
          <a:ln w="3175" cap="flat" cmpd="sng">
            <a:solidFill>
              <a:schemeClr val="tx1"/>
            </a:solidFill>
            <a:prstDash val="solid"/>
            <a:miter/>
            <a:headEnd type="none" w="med" len="med"/>
            <a:tailEnd type="none" w="med" len="med"/>
          </a:ln>
        </p:spPr>
        <p:txBody>
          <a:bodyPr lIns="27432" tIns="0" rIns="27432" bIns="0" anchor="ctr" anchorCtr="0"/>
          <a:p>
            <a:pPr algn="ctr" eaLnBrk="1" hangingPunct="1"/>
            <a:r>
              <a:rPr lang="en-US" altLang="en-US" sz="900" dirty="0">
                <a:latin typeface="Arial" panose="020B0604020202020204" pitchFamily="34" charset="0"/>
              </a:rPr>
              <a:t>REQ3</a:t>
            </a:r>
            <a:endParaRPr lang="en-US" altLang="en-US" sz="900" dirty="0">
              <a:latin typeface="Arial" panose="020B0604020202020204" pitchFamily="34" charset="0"/>
            </a:endParaRPr>
          </a:p>
        </p:txBody>
      </p:sp>
      <p:sp>
        <p:nvSpPr>
          <p:cNvPr id="17466" name="Rectangle 161"/>
          <p:cNvSpPr/>
          <p:nvPr/>
        </p:nvSpPr>
        <p:spPr>
          <a:xfrm>
            <a:off x="3073400" y="5856288"/>
            <a:ext cx="950913" cy="401637"/>
          </a:xfrm>
          <a:prstGeom prst="rect">
            <a:avLst/>
          </a:prstGeom>
          <a:solidFill>
            <a:srgbClr val="FFCC00"/>
          </a:solidFill>
          <a:ln w="3175" cap="flat" cmpd="sng">
            <a:solidFill>
              <a:schemeClr val="tx1"/>
            </a:solidFill>
            <a:prstDash val="solid"/>
            <a:miter/>
            <a:headEnd type="none" w="med" len="med"/>
            <a:tailEnd type="none" w="med" len="med"/>
          </a:ln>
        </p:spPr>
        <p:txBody>
          <a:bodyPr lIns="27432" tIns="0" rIns="27432" bIns="0"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67" name="Rectangle 162"/>
          <p:cNvSpPr/>
          <p:nvPr/>
        </p:nvSpPr>
        <p:spPr>
          <a:xfrm>
            <a:off x="3092450" y="5873750"/>
            <a:ext cx="914400" cy="365125"/>
          </a:xfrm>
          <a:prstGeom prst="rect">
            <a:avLst/>
          </a:prstGeom>
          <a:solidFill>
            <a:srgbClr val="FFFFCC"/>
          </a:solidFill>
          <a:ln w="3175" cap="flat" cmpd="sng">
            <a:solidFill>
              <a:schemeClr val="tx1"/>
            </a:solidFill>
            <a:prstDash val="solid"/>
            <a:miter/>
            <a:headEnd type="none" w="med" len="med"/>
            <a:tailEnd type="none" w="med" len="med"/>
          </a:ln>
        </p:spPr>
        <p:txBody>
          <a:bodyPr lIns="27432" tIns="0" rIns="27432" bIns="0" anchor="ctr" anchorCtr="0"/>
          <a:p>
            <a:pPr algn="ctr" eaLnBrk="1" hangingPunct="1"/>
            <a:r>
              <a:rPr lang="en-US" altLang="en-US" sz="900" dirty="0">
                <a:latin typeface="Arial" panose="020B0604020202020204" pitchFamily="34" charset="0"/>
              </a:rPr>
              <a:t>REQ5, REQ7, REQ8, REQ9</a:t>
            </a:r>
            <a:endParaRPr lang="en-US" altLang="en-US" sz="900" dirty="0">
              <a:latin typeface="Arial" panose="020B0604020202020204" pitchFamily="34" charset="0"/>
            </a:endParaRPr>
          </a:p>
        </p:txBody>
      </p:sp>
      <p:sp>
        <p:nvSpPr>
          <p:cNvPr id="17468" name="Rectangle 163"/>
          <p:cNvSpPr/>
          <p:nvPr/>
        </p:nvSpPr>
        <p:spPr>
          <a:xfrm>
            <a:off x="4471988" y="4802188"/>
            <a:ext cx="530225" cy="255587"/>
          </a:xfrm>
          <a:prstGeom prst="rect">
            <a:avLst/>
          </a:prstGeom>
          <a:solidFill>
            <a:srgbClr val="FFCC00"/>
          </a:solidFill>
          <a:ln w="3175" cap="flat" cmpd="sng">
            <a:solidFill>
              <a:schemeClr val="tx1"/>
            </a:solidFill>
            <a:prstDash val="solid"/>
            <a:miter/>
            <a:headEnd type="none" w="med" len="med"/>
            <a:tailEnd type="none" w="med" len="med"/>
          </a:ln>
        </p:spPr>
        <p:txBody>
          <a:bodyPr lIns="27432" tIns="0" rIns="27432" bIns="0"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17469" name="Rectangle 164"/>
          <p:cNvSpPr/>
          <p:nvPr/>
        </p:nvSpPr>
        <p:spPr>
          <a:xfrm>
            <a:off x="4491038" y="4819650"/>
            <a:ext cx="493712" cy="219075"/>
          </a:xfrm>
          <a:prstGeom prst="rect">
            <a:avLst/>
          </a:prstGeom>
          <a:solidFill>
            <a:srgbClr val="FFFFCC"/>
          </a:solidFill>
          <a:ln w="3175" cap="flat" cmpd="sng">
            <a:solidFill>
              <a:schemeClr val="tx1"/>
            </a:solidFill>
            <a:prstDash val="solid"/>
            <a:miter/>
            <a:headEnd type="none" w="med" len="med"/>
            <a:tailEnd type="none" w="med" len="med"/>
          </a:ln>
        </p:spPr>
        <p:txBody>
          <a:bodyPr lIns="27432" tIns="0" rIns="27432" bIns="0" anchor="ctr" anchorCtr="0"/>
          <a:p>
            <a:pPr algn="ctr" eaLnBrk="1" hangingPunct="1"/>
            <a:r>
              <a:rPr lang="en-US" altLang="en-US" sz="900" dirty="0">
                <a:latin typeface="Arial" panose="020B0604020202020204" pitchFamily="34" charset="0"/>
              </a:rPr>
              <a:t>REQ4</a:t>
            </a:r>
            <a:endParaRPr lang="en-US" altLang="en-US" sz="900" dirty="0">
              <a:latin typeface="Arial" panose="020B0604020202020204" pitchFamily="34" charset="0"/>
            </a:endParaRPr>
          </a:p>
        </p:txBody>
      </p:sp>
      <p:sp>
        <p:nvSpPr>
          <p:cNvPr id="17470" name="Line 165"/>
          <p:cNvSpPr/>
          <p:nvPr/>
        </p:nvSpPr>
        <p:spPr>
          <a:xfrm flipV="1">
            <a:off x="4930775" y="4841875"/>
            <a:ext cx="528638" cy="146050"/>
          </a:xfrm>
          <a:prstGeom prst="line">
            <a:avLst/>
          </a:prstGeom>
          <a:ln w="9525" cap="flat" cmpd="sng">
            <a:solidFill>
              <a:schemeClr val="tx1"/>
            </a:solidFill>
            <a:prstDash val="solid"/>
            <a:headEnd type="oval" w="med" len="med"/>
            <a:tailEnd type="oval" w="med" len="med"/>
          </a:ln>
        </p:spPr>
      </p:sp>
      <p:sp>
        <p:nvSpPr>
          <p:cNvPr id="17471" name="Line 166"/>
          <p:cNvSpPr/>
          <p:nvPr/>
        </p:nvSpPr>
        <p:spPr>
          <a:xfrm flipH="1">
            <a:off x="3944938" y="5759450"/>
            <a:ext cx="830262" cy="203200"/>
          </a:xfrm>
          <a:prstGeom prst="line">
            <a:avLst/>
          </a:prstGeom>
          <a:ln w="9525" cap="flat" cmpd="sng">
            <a:solidFill>
              <a:schemeClr val="tx1"/>
            </a:solidFill>
            <a:prstDash val="solid"/>
            <a:headEnd type="oval" w="med" len="med"/>
            <a:tailEnd type="oval" w="med" len="med"/>
          </a:ln>
        </p:spPr>
      </p:sp>
      <p:sp>
        <p:nvSpPr>
          <p:cNvPr id="17472" name="Line 167"/>
          <p:cNvSpPr/>
          <p:nvPr/>
        </p:nvSpPr>
        <p:spPr>
          <a:xfrm>
            <a:off x="3667125" y="2274888"/>
            <a:ext cx="134938" cy="600075"/>
          </a:xfrm>
          <a:prstGeom prst="line">
            <a:avLst/>
          </a:prstGeom>
          <a:ln w="9525" cap="flat" cmpd="sng">
            <a:solidFill>
              <a:schemeClr val="tx1"/>
            </a:solidFill>
            <a:prstDash val="solid"/>
            <a:headEnd type="oval" w="med" len="med"/>
            <a:tailEnd type="oval" w="med" len="med"/>
          </a:ln>
        </p:spPr>
      </p:sp>
      <p:sp>
        <p:nvSpPr>
          <p:cNvPr id="17473" name="Line 168"/>
          <p:cNvSpPr/>
          <p:nvPr/>
        </p:nvSpPr>
        <p:spPr>
          <a:xfrm flipH="1">
            <a:off x="4781550" y="2300288"/>
            <a:ext cx="234950" cy="1439862"/>
          </a:xfrm>
          <a:prstGeom prst="line">
            <a:avLst/>
          </a:prstGeom>
          <a:ln w="9525" cap="flat" cmpd="sng">
            <a:solidFill>
              <a:schemeClr val="tx1"/>
            </a:solidFill>
            <a:prstDash val="solid"/>
            <a:headEnd type="oval" w="med" len="med"/>
            <a:tailEnd type="oval" w="med" len="med"/>
          </a:ln>
        </p:spPr>
      </p:sp>
      <p:sp>
        <p:nvSpPr>
          <p:cNvPr id="17474" name="Text Box 169"/>
          <p:cNvSpPr txBox="1">
            <a:spLocks noChangeAspect="1"/>
          </p:cNvSpPr>
          <p:nvPr/>
        </p:nvSpPr>
        <p:spPr>
          <a:xfrm>
            <a:off x="47625" y="1084263"/>
            <a:ext cx="2608263" cy="1249362"/>
          </a:xfrm>
          <a:prstGeom prst="rect">
            <a:avLst/>
          </a:prstGeom>
          <a:solidFill>
            <a:schemeClr val="bg1"/>
          </a:solidFill>
          <a:ln w="57150" cap="flat" cmpd="sng">
            <a:solidFill>
              <a:srgbClr val="00FF00"/>
            </a:solidFill>
            <a:prstDash val="solid"/>
            <a:miter/>
            <a:headEnd type="none" w="med" len="med"/>
            <a:tailEnd type="none" w="med" len="med"/>
          </a:ln>
        </p:spPr>
        <p:txBody>
          <a:bodyPr wrap="none">
            <a:spAutoFit/>
          </a:bodyPr>
          <a:p>
            <a:pPr eaLnBrk="1" hangingPunct="1"/>
            <a:r>
              <a:rPr lang="en-US" altLang="en-US" sz="800" dirty="0">
                <a:latin typeface="Arial" panose="020B0604020202020204" pitchFamily="34" charset="0"/>
              </a:rPr>
              <a:t>REQ1: Keep door locked and auto-lock</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REQ2: Lock when “LOCK” pressed</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REQ3: Unlock when valid key provided</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REQ4: Allow mistakes but prevent dictionary attacks</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REQ5: Maintain a history log</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REQ6: Adding/removing users at runtime</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REQ7: Configuring device activation preferences</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REQ8: Inspecting the access history</a:t>
            </a:r>
            <a:endParaRPr lang="en-US" altLang="en-US" sz="800" dirty="0">
              <a:latin typeface="Arial" panose="020B0604020202020204" pitchFamily="34" charset="0"/>
            </a:endParaRPr>
          </a:p>
          <a:p>
            <a:pPr eaLnBrk="1" hangingPunct="1"/>
            <a:r>
              <a:rPr lang="en-US" altLang="en-US" sz="800" dirty="0">
                <a:latin typeface="Arial" panose="020B0604020202020204" pitchFamily="34" charset="0"/>
              </a:rPr>
              <a:t>REQ9: Filing inquiries</a:t>
            </a:r>
            <a:endParaRPr lang="en-US" altLang="en-US" sz="800" dirty="0">
              <a:latin typeface="Arial" panose="020B0604020202020204" pitchFamily="34" charset="0"/>
            </a:endParaRPr>
          </a:p>
        </p:txBody>
      </p:sp>
      <p:sp>
        <p:nvSpPr>
          <p:cNvPr id="17475" name="Rectangle 170"/>
          <p:cNvSpPr/>
          <p:nvPr/>
        </p:nvSpPr>
        <p:spPr>
          <a:xfrm>
            <a:off x="2514600" y="6415088"/>
            <a:ext cx="6249988" cy="304800"/>
          </a:xfrm>
          <a:prstGeom prst="rect">
            <a:avLst/>
          </a:prstGeom>
          <a:noFill/>
          <a:ln w="9525">
            <a:noFill/>
          </a:ln>
        </p:spPr>
        <p:txBody>
          <a:bodyPr wrap="none" lIns="0" tIns="0" rIns="0" bIns="0">
            <a:spAutoFit/>
          </a:bodyPr>
          <a:p>
            <a:pPr eaLnBrk="1" hangingPunct="1"/>
            <a:r>
              <a:rPr lang="en-US" altLang="en-US" sz="2000" dirty="0">
                <a:solidFill>
                  <a:schemeClr val="tx2"/>
                </a:solidFill>
                <a:latin typeface="AvantGarde Bk BT" pitchFamily="34" charset="0"/>
                <a:sym typeface="Symbol" panose="05050102010706020507" pitchFamily="18" charset="2"/>
              </a:rPr>
              <a:t> </a:t>
            </a:r>
            <a:r>
              <a:rPr lang="en-US" altLang="en-US" sz="2000" dirty="0">
                <a:solidFill>
                  <a:schemeClr val="tx2"/>
                </a:solidFill>
                <a:latin typeface="AvantGarde Bk BT" pitchFamily="34" charset="0"/>
              </a:rPr>
              <a:t>Decompose the system based on its requirements</a:t>
            </a:r>
            <a:endParaRPr lang="en-US" altLang="en-US" sz="2000" dirty="0">
              <a:solidFill>
                <a:schemeClr val="tx2"/>
              </a:solidFill>
              <a:latin typeface="AvantGarde Bk BT"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Freeform 68"/>
          <p:cNvSpPr/>
          <p:nvPr/>
        </p:nvSpPr>
        <p:spPr>
          <a:xfrm>
            <a:off x="6338888" y="5665788"/>
            <a:ext cx="777875" cy="406400"/>
          </a:xfrm>
          <a:custGeom>
            <a:avLst/>
            <a:gdLst>
              <a:gd name="txL" fmla="*/ 0 w 490"/>
              <a:gd name="txT" fmla="*/ 0 h 256"/>
              <a:gd name="txR" fmla="*/ 490 w 490"/>
              <a:gd name="txB" fmla="*/ 256 h 256"/>
            </a:gdLst>
            <a:ahLst/>
            <a:cxnLst>
              <a:cxn ang="0">
                <a:pos x="0" y="2147483647"/>
              </a:cxn>
              <a:cxn ang="0">
                <a:pos x="2147483647" y="2147483647"/>
              </a:cxn>
              <a:cxn ang="0">
                <a:pos x="2147483647" y="2147483647"/>
              </a:cxn>
            </a:cxnLst>
            <a:rect l="txL" t="txT" r="txR" b="txB"/>
            <a:pathLst>
              <a:path w="490" h="256">
                <a:moveTo>
                  <a:pt x="0" y="163"/>
                </a:moveTo>
                <a:cubicBezTo>
                  <a:pt x="228" y="162"/>
                  <a:pt x="198" y="0"/>
                  <a:pt x="344" y="9"/>
                </a:cubicBezTo>
                <a:cubicBezTo>
                  <a:pt x="490" y="18"/>
                  <a:pt x="480" y="210"/>
                  <a:pt x="421" y="256"/>
                </a:cubicBezTo>
              </a:path>
            </a:pathLst>
          </a:custGeom>
          <a:noFill/>
          <a:ln w="28575" cap="flat" cmpd="sng">
            <a:solidFill>
              <a:srgbClr val="FF0000">
                <a:alpha val="100000"/>
              </a:srgbClr>
            </a:solidFill>
            <a:prstDash val="solid"/>
            <a:round/>
            <a:headEnd type="none" w="med" len="med"/>
            <a:tailEnd type="triangle" w="lg" len="lg"/>
          </a:ln>
        </p:spPr>
        <p:txBody>
          <a:bodyPr/>
          <a:p>
            <a:endParaRPr lang="zh-CN" altLang="en-US"/>
          </a:p>
        </p:txBody>
      </p:sp>
      <p:sp>
        <p:nvSpPr>
          <p:cNvPr id="18435" name="Freeform 71"/>
          <p:cNvSpPr/>
          <p:nvPr/>
        </p:nvSpPr>
        <p:spPr>
          <a:xfrm>
            <a:off x="6273800" y="5829300"/>
            <a:ext cx="63500" cy="182563"/>
          </a:xfrm>
          <a:custGeom>
            <a:avLst/>
            <a:gdLst>
              <a:gd name="txL" fmla="*/ 0 w 576"/>
              <a:gd name="txT" fmla="*/ 0 h 576"/>
              <a:gd name="txR" fmla="*/ 576 w 576"/>
              <a:gd name="txB" fmla="*/ 576 h 576"/>
            </a:gdLst>
            <a:ahLst/>
            <a:cxnLst>
              <a:cxn ang="0">
                <a:pos x="0" y="0"/>
              </a:cxn>
              <a:cxn ang="0">
                <a:pos x="2147483647" y="0"/>
              </a:cxn>
              <a:cxn ang="0">
                <a:pos x="2147483647" y="2147483647"/>
              </a:cxn>
              <a:cxn ang="0">
                <a:pos x="0" y="2147483647"/>
              </a:cxn>
            </a:cxnLst>
            <a:rect l="txL" t="txT" r="txR" b="txB"/>
            <a:pathLst>
              <a:path w="576" h="576">
                <a:moveTo>
                  <a:pt x="0" y="0"/>
                </a:moveTo>
                <a:lnTo>
                  <a:pt x="576" y="0"/>
                </a:lnTo>
                <a:lnTo>
                  <a:pt x="576" y="576"/>
                </a:lnTo>
                <a:lnTo>
                  <a:pt x="0" y="576"/>
                </a:lnTo>
              </a:path>
            </a:pathLst>
          </a:custGeom>
          <a:solidFill>
            <a:schemeClr val="bg1">
              <a:alpha val="100000"/>
            </a:schemeClr>
          </a:solidFill>
          <a:ln w="6350" cap="flat" cmpd="sng">
            <a:solidFill>
              <a:srgbClr val="FF0000">
                <a:alpha val="100000"/>
              </a:srgbClr>
            </a:solidFill>
            <a:prstDash val="solid"/>
            <a:round/>
            <a:headEnd type="none" w="med" len="med"/>
            <a:tailEnd type="none" w="med" len="med"/>
          </a:ln>
        </p:spPr>
        <p:txBody>
          <a:bodyPr/>
          <a:p>
            <a:endParaRPr lang="zh-CN" altLang="en-US"/>
          </a:p>
        </p:txBody>
      </p:sp>
      <p:sp>
        <p:nvSpPr>
          <p:cNvPr id="18436" name="Freeform 66"/>
          <p:cNvSpPr/>
          <p:nvPr/>
        </p:nvSpPr>
        <p:spPr>
          <a:xfrm>
            <a:off x="914400" y="5518150"/>
            <a:ext cx="973138" cy="776288"/>
          </a:xfrm>
          <a:custGeom>
            <a:avLst/>
            <a:gdLst>
              <a:gd name="txL" fmla="*/ 0 w 613"/>
              <a:gd name="txT" fmla="*/ 0 h 489"/>
              <a:gd name="txR" fmla="*/ 613 w 613"/>
              <a:gd name="txB" fmla="*/ 489 h 489"/>
            </a:gdLst>
            <a:ahLst/>
            <a:cxnLst>
              <a:cxn ang="0">
                <a:pos x="2147483647" y="2147483647"/>
              </a:cxn>
              <a:cxn ang="0">
                <a:pos x="2147483647" y="2147483647"/>
              </a:cxn>
              <a:cxn ang="0">
                <a:pos x="2147483647" y="2147483647"/>
              </a:cxn>
            </a:cxnLst>
            <a:rect l="txL" t="txT" r="txR" b="txB"/>
            <a:pathLst>
              <a:path w="613" h="489">
                <a:moveTo>
                  <a:pt x="613" y="129"/>
                </a:moveTo>
                <a:cubicBezTo>
                  <a:pt x="432" y="155"/>
                  <a:pt x="298" y="0"/>
                  <a:pt x="149" y="139"/>
                </a:cubicBezTo>
                <a:cubicBezTo>
                  <a:pt x="0" y="278"/>
                  <a:pt x="139" y="479"/>
                  <a:pt x="247" y="489"/>
                </a:cubicBezTo>
              </a:path>
            </a:pathLst>
          </a:custGeom>
          <a:noFill/>
          <a:ln w="28575" cap="flat" cmpd="sng">
            <a:solidFill>
              <a:srgbClr val="FF0000">
                <a:alpha val="100000"/>
              </a:srgbClr>
            </a:solidFill>
            <a:prstDash val="solid"/>
            <a:round/>
            <a:headEnd type="none" w="med" len="med"/>
            <a:tailEnd type="triangle" w="lg" len="lg"/>
          </a:ln>
        </p:spPr>
        <p:txBody>
          <a:bodyPr/>
          <a:p>
            <a:endParaRPr lang="zh-CN" altLang="en-US"/>
          </a:p>
        </p:txBody>
      </p:sp>
      <p:sp>
        <p:nvSpPr>
          <p:cNvPr id="18437" name="Freeform 70"/>
          <p:cNvSpPr/>
          <p:nvPr/>
        </p:nvSpPr>
        <p:spPr>
          <a:xfrm>
            <a:off x="1889125" y="5637213"/>
            <a:ext cx="63500" cy="182562"/>
          </a:xfrm>
          <a:custGeom>
            <a:avLst/>
            <a:gdLst>
              <a:gd name="txL" fmla="*/ 0 w 576"/>
              <a:gd name="txT" fmla="*/ 0 h 576"/>
              <a:gd name="txR" fmla="*/ 576 w 576"/>
              <a:gd name="txB" fmla="*/ 576 h 576"/>
            </a:gdLst>
            <a:ahLst/>
            <a:cxnLst>
              <a:cxn ang="0">
                <a:pos x="2147483647" y="0"/>
              </a:cxn>
              <a:cxn ang="0">
                <a:pos x="0" y="0"/>
              </a:cxn>
              <a:cxn ang="0">
                <a:pos x="0" y="2147483647"/>
              </a:cxn>
              <a:cxn ang="0">
                <a:pos x="2147483647" y="2147483647"/>
              </a:cxn>
            </a:cxnLst>
            <a:rect l="txL" t="txT" r="txR" b="txB"/>
            <a:pathLst>
              <a:path w="576" h="576">
                <a:moveTo>
                  <a:pt x="576" y="0"/>
                </a:moveTo>
                <a:lnTo>
                  <a:pt x="0" y="0"/>
                </a:lnTo>
                <a:lnTo>
                  <a:pt x="0" y="576"/>
                </a:lnTo>
                <a:lnTo>
                  <a:pt x="576" y="576"/>
                </a:lnTo>
              </a:path>
            </a:pathLst>
          </a:custGeom>
          <a:solidFill>
            <a:schemeClr val="bg1">
              <a:alpha val="100000"/>
            </a:schemeClr>
          </a:solidFill>
          <a:ln w="6350" cap="flat" cmpd="sng">
            <a:solidFill>
              <a:srgbClr val="FF0000">
                <a:alpha val="100000"/>
              </a:srgbClr>
            </a:solidFill>
            <a:prstDash val="solid"/>
            <a:round/>
            <a:headEnd type="none" w="med" len="med"/>
            <a:tailEnd type="none" w="med" len="med"/>
          </a:ln>
        </p:spPr>
        <p:txBody>
          <a:bodyPr/>
          <a:p>
            <a:endParaRPr lang="zh-CN" altLang="en-US"/>
          </a:p>
        </p:txBody>
      </p:sp>
      <p:grpSp>
        <p:nvGrpSpPr>
          <p:cNvPr id="18438" name="Group 64"/>
          <p:cNvGrpSpPr/>
          <p:nvPr/>
        </p:nvGrpSpPr>
        <p:grpSpPr>
          <a:xfrm>
            <a:off x="1892300" y="4375150"/>
            <a:ext cx="4684713" cy="484188"/>
            <a:chOff x="1243" y="1901"/>
            <a:chExt cx="2951" cy="305"/>
          </a:xfrm>
        </p:grpSpPr>
        <p:cxnSp>
          <p:nvCxnSpPr>
            <p:cNvPr id="18473" name="AutoShape 4"/>
            <p:cNvCxnSpPr>
              <a:cxnSpLocks noChangeAspect="1"/>
              <a:stCxn id="18477" idx="2"/>
              <a:endCxn id="18481" idx="3"/>
            </p:cNvCxnSpPr>
            <p:nvPr/>
          </p:nvCxnSpPr>
          <p:spPr>
            <a:xfrm flipH="1">
              <a:off x="3017" y="2054"/>
              <a:ext cx="178" cy="1"/>
            </a:xfrm>
            <a:prstGeom prst="straightConnector1">
              <a:avLst/>
            </a:prstGeom>
            <a:ln w="12700" cap="flat" cmpd="sng">
              <a:solidFill>
                <a:schemeClr val="tx1"/>
              </a:solidFill>
              <a:prstDash val="lgDash"/>
              <a:headEnd type="none" w="med" len="med"/>
              <a:tailEnd type="none" w="lg" len="lg"/>
            </a:ln>
          </p:spPr>
        </p:cxnSp>
        <p:cxnSp>
          <p:nvCxnSpPr>
            <p:cNvPr id="18474" name="AutoShape 57"/>
            <p:cNvCxnSpPr>
              <a:cxnSpLocks noChangeAspect="1"/>
              <a:stCxn id="18482" idx="2"/>
              <a:endCxn id="18477" idx="6"/>
            </p:cNvCxnSpPr>
            <p:nvPr/>
          </p:nvCxnSpPr>
          <p:spPr>
            <a:xfrm flipH="1">
              <a:off x="3368" y="2054"/>
              <a:ext cx="187" cy="0"/>
            </a:xfrm>
            <a:prstGeom prst="straightConnector1">
              <a:avLst/>
            </a:prstGeom>
            <a:ln w="12700" cap="flat" cmpd="sng">
              <a:solidFill>
                <a:schemeClr val="tx1"/>
              </a:solidFill>
              <a:prstDash val="lgDash"/>
              <a:headEnd type="none" w="med" len="med"/>
              <a:tailEnd type="none" w="lg" len="lg"/>
            </a:ln>
          </p:spPr>
        </p:cxnSp>
        <p:cxnSp>
          <p:nvCxnSpPr>
            <p:cNvPr id="18475" name="AutoShape 56"/>
            <p:cNvCxnSpPr>
              <a:stCxn id="18478" idx="3"/>
              <a:endCxn id="18479" idx="2"/>
            </p:cNvCxnSpPr>
            <p:nvPr/>
          </p:nvCxnSpPr>
          <p:spPr>
            <a:xfrm>
              <a:off x="1885" y="2054"/>
              <a:ext cx="202" cy="0"/>
            </a:xfrm>
            <a:prstGeom prst="straightConnector1">
              <a:avLst/>
            </a:prstGeom>
            <a:ln w="12700" cap="flat" cmpd="sng">
              <a:solidFill>
                <a:schemeClr val="tx1"/>
              </a:solidFill>
              <a:prstDash val="solid"/>
              <a:headEnd type="none" w="med" len="med"/>
              <a:tailEnd type="none" w="med" len="med"/>
            </a:ln>
          </p:spPr>
        </p:cxnSp>
        <p:cxnSp>
          <p:nvCxnSpPr>
            <p:cNvPr id="18476" name="AutoShape 57"/>
            <p:cNvCxnSpPr>
              <a:stCxn id="18479" idx="6"/>
              <a:endCxn id="18480" idx="1"/>
            </p:cNvCxnSpPr>
            <p:nvPr/>
          </p:nvCxnSpPr>
          <p:spPr>
            <a:xfrm>
              <a:off x="2260" y="2054"/>
              <a:ext cx="209" cy="0"/>
            </a:xfrm>
            <a:prstGeom prst="straightConnector1">
              <a:avLst/>
            </a:prstGeom>
            <a:ln w="12700" cap="flat" cmpd="sng">
              <a:solidFill>
                <a:schemeClr val="tx1"/>
              </a:solidFill>
              <a:prstDash val="solid"/>
              <a:headEnd type="none" w="med" len="med"/>
              <a:tailEnd type="none" w="med" len="med"/>
            </a:ln>
          </p:spPr>
        </p:cxnSp>
        <p:sp>
          <p:nvSpPr>
            <p:cNvPr id="18477" name="Oval 58"/>
            <p:cNvSpPr>
              <a:spLocks noChangeAspect="1"/>
            </p:cNvSpPr>
            <p:nvPr/>
          </p:nvSpPr>
          <p:spPr>
            <a:xfrm>
              <a:off x="3195" y="1967"/>
              <a:ext cx="173" cy="173"/>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18478" name="Rectangle 59"/>
            <p:cNvSpPr/>
            <p:nvPr/>
          </p:nvSpPr>
          <p:spPr>
            <a:xfrm>
              <a:off x="1243" y="1901"/>
              <a:ext cx="633" cy="305"/>
            </a:xfrm>
            <a:prstGeom prst="rect">
              <a:avLst/>
            </a:prstGeom>
            <a:solidFill>
              <a:schemeClr val="bg1"/>
            </a:solidFill>
            <a:ln w="28575" cap="flat" cmpd="dbl">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Software-to-be</a:t>
              </a:r>
              <a:endParaRPr lang="en-US" altLang="en-US" sz="1000" dirty="0">
                <a:latin typeface="Arial" panose="020B0604020202020204" pitchFamily="34" charset="0"/>
              </a:endParaRPr>
            </a:p>
          </p:txBody>
        </p:sp>
        <p:sp>
          <p:nvSpPr>
            <p:cNvPr id="18479" name="Oval 60"/>
            <p:cNvSpPr>
              <a:spLocks noChangeAspect="1"/>
            </p:cNvSpPr>
            <p:nvPr/>
          </p:nvSpPr>
          <p:spPr>
            <a:xfrm>
              <a:off x="2087" y="1967"/>
              <a:ext cx="173" cy="173"/>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18480" name="Rectangle 61"/>
            <p:cNvSpPr/>
            <p:nvPr/>
          </p:nvSpPr>
          <p:spPr>
            <a:xfrm>
              <a:off x="2469" y="1901"/>
              <a:ext cx="461" cy="305"/>
            </a:xfrm>
            <a:prstGeom prst="rect">
              <a:avLst/>
            </a:prstGeom>
            <a:solidFill>
              <a:schemeClr val="bg1"/>
            </a:solidFill>
            <a:ln w="9525" cap="flat" cmpd="sng">
              <a:solidFill>
                <a:schemeClr val="tx1"/>
              </a:solidFill>
              <a:prstDash val="solid"/>
              <a:miter/>
              <a:headEnd type="none" w="med" len="med"/>
              <a:tailEnd type="none" w="med" len="med"/>
            </a:ln>
          </p:spPr>
          <p:txBody>
            <a:bodyPr lIns="0" rIns="0" anchor="ctr" anchorCtr="0"/>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sp>
          <p:nvSpPr>
            <p:cNvPr id="18481" name="AutoShape 62"/>
            <p:cNvSpPr/>
            <p:nvPr/>
          </p:nvSpPr>
          <p:spPr>
            <a:xfrm rot="-5400000">
              <a:off x="2931" y="2013"/>
              <a:ext cx="89" cy="81"/>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18482" name="Oval 63"/>
            <p:cNvSpPr/>
            <p:nvPr/>
          </p:nvSpPr>
          <p:spPr>
            <a:xfrm>
              <a:off x="3555" y="1901"/>
              <a:ext cx="639" cy="305"/>
            </a:xfrm>
            <a:prstGeom prst="ellipse">
              <a:avLst/>
            </a:prstGeom>
            <a:solidFill>
              <a:schemeClr val="bg1"/>
            </a:solidFill>
            <a:ln w="9525" cap="flat" cmpd="sng">
              <a:solidFill>
                <a:schemeClr val="tx1"/>
              </a:solidFill>
              <a:prstDash val="lgDash"/>
              <a:headEnd type="none" w="med" len="med"/>
              <a:tailEnd type="none" w="med" len="med"/>
            </a:ln>
          </p:spPr>
          <p:txBody>
            <a:bodyPr wrap="none" tIns="0" bIns="0" anchor="ctr" anchorCtr="0"/>
            <a:p>
              <a:pPr algn="ctr" eaLnBrk="1" hangingPunct="1"/>
              <a:r>
                <a:rPr lang="en-US" altLang="en-US" sz="1000" dirty="0">
                  <a:latin typeface="Arial" panose="020B0604020202020204" pitchFamily="34" charset="0"/>
                </a:rPr>
                <a:t>Business Goal</a:t>
              </a:r>
              <a:endParaRPr lang="en-US" altLang="en-US" sz="1000" dirty="0">
                <a:latin typeface="Arial" panose="020B0604020202020204" pitchFamily="34" charset="0"/>
              </a:endParaRPr>
            </a:p>
          </p:txBody>
        </p:sp>
      </p:grpSp>
      <p:cxnSp>
        <p:nvCxnSpPr>
          <p:cNvPr id="18439" name="AutoShape 4"/>
          <p:cNvCxnSpPr>
            <a:cxnSpLocks noChangeAspect="1"/>
            <a:stCxn id="18459" idx="2"/>
            <a:endCxn id="18463" idx="3"/>
          </p:cNvCxnSpPr>
          <p:nvPr/>
        </p:nvCxnSpPr>
        <p:spPr>
          <a:xfrm flipH="1">
            <a:off x="4660900" y="2370138"/>
            <a:ext cx="282575" cy="1587"/>
          </a:xfrm>
          <a:prstGeom prst="straightConnector1">
            <a:avLst/>
          </a:prstGeom>
          <a:ln w="12700" cap="flat" cmpd="sng">
            <a:solidFill>
              <a:schemeClr val="tx1"/>
            </a:solidFill>
            <a:prstDash val="lgDash"/>
            <a:headEnd type="none" w="med" len="med"/>
            <a:tailEnd type="none" w="lg" len="lg"/>
          </a:ln>
        </p:spPr>
      </p:cxnSp>
      <p:cxnSp>
        <p:nvCxnSpPr>
          <p:cNvPr id="18440" name="AutoShape 57"/>
          <p:cNvCxnSpPr>
            <a:cxnSpLocks noChangeAspect="1"/>
            <a:stCxn id="18464" idx="2"/>
            <a:endCxn id="18459" idx="6"/>
          </p:cNvCxnSpPr>
          <p:nvPr/>
        </p:nvCxnSpPr>
        <p:spPr>
          <a:xfrm flipH="1">
            <a:off x="5218113" y="2370138"/>
            <a:ext cx="296862" cy="0"/>
          </a:xfrm>
          <a:prstGeom prst="straightConnector1">
            <a:avLst/>
          </a:prstGeom>
          <a:ln w="12700" cap="flat" cmpd="sng">
            <a:solidFill>
              <a:schemeClr val="tx1"/>
            </a:solidFill>
            <a:prstDash val="lgDash"/>
            <a:headEnd type="none" w="med" len="med"/>
            <a:tailEnd type="none" w="lg" len="lg"/>
          </a:ln>
        </p:spPr>
      </p:cxnSp>
      <p:cxnSp>
        <p:nvCxnSpPr>
          <p:cNvPr id="18441" name="AutoShape 49"/>
          <p:cNvCxnSpPr>
            <a:stCxn id="18460" idx="3"/>
            <a:endCxn id="18461" idx="2"/>
          </p:cNvCxnSpPr>
          <p:nvPr/>
        </p:nvCxnSpPr>
        <p:spPr>
          <a:xfrm>
            <a:off x="2863850" y="2370138"/>
            <a:ext cx="320675" cy="0"/>
          </a:xfrm>
          <a:prstGeom prst="straightConnector1">
            <a:avLst/>
          </a:prstGeom>
          <a:ln w="12700" cap="flat" cmpd="sng">
            <a:solidFill>
              <a:schemeClr val="tx1"/>
            </a:solidFill>
            <a:prstDash val="solid"/>
            <a:headEnd type="none" w="med" len="med"/>
            <a:tailEnd type="none" w="med" len="med"/>
          </a:ln>
        </p:spPr>
      </p:cxnSp>
      <p:cxnSp>
        <p:nvCxnSpPr>
          <p:cNvPr id="18442" name="AutoShape 50"/>
          <p:cNvCxnSpPr>
            <a:stCxn id="18461" idx="6"/>
            <a:endCxn id="18462" idx="1"/>
          </p:cNvCxnSpPr>
          <p:nvPr/>
        </p:nvCxnSpPr>
        <p:spPr>
          <a:xfrm>
            <a:off x="3459163" y="2370138"/>
            <a:ext cx="331787" cy="0"/>
          </a:xfrm>
          <a:prstGeom prst="straightConnector1">
            <a:avLst/>
          </a:prstGeom>
          <a:ln w="12700" cap="flat" cmpd="sng">
            <a:solidFill>
              <a:schemeClr val="tx1"/>
            </a:solidFill>
            <a:prstDash val="solid"/>
            <a:headEnd type="none" w="med" len="med"/>
            <a:tailEnd type="none" w="med" len="med"/>
          </a:ln>
        </p:spPr>
      </p:cxnSp>
      <p:sp>
        <p:nvSpPr>
          <p:cNvPr id="18443" name="Rectangle 2"/>
          <p:cNvSpPr>
            <a:spLocks noGrp="1"/>
          </p:cNvSpPr>
          <p:nvPr>
            <p:ph type="title" idx="4294967295"/>
          </p:nvPr>
        </p:nvSpPr>
        <p:spPr/>
        <p:txBody>
          <a:bodyPr vert="horz" wrap="square" lIns="0" tIns="45720" rIns="0" bIns="45720" anchor="ctr" anchorCtr="0"/>
          <a:p>
            <a:pPr eaLnBrk="1" hangingPunct="1"/>
            <a:r>
              <a:rPr lang="en-US" altLang="en-US" dirty="0"/>
              <a:t>Problem and Solution Domain</a:t>
            </a:r>
            <a:endParaRPr lang="en-US" altLang="en-US" dirty="0"/>
          </a:p>
        </p:txBody>
      </p:sp>
      <p:sp>
        <p:nvSpPr>
          <p:cNvPr id="18444" name="Arc 19"/>
          <p:cNvSpPr/>
          <p:nvPr/>
        </p:nvSpPr>
        <p:spPr>
          <a:xfrm>
            <a:off x="2941638" y="4435475"/>
            <a:ext cx="150812" cy="374650"/>
          </a:xfrm>
          <a:custGeom>
            <a:avLst/>
            <a:gdLst>
              <a:gd name="txL" fmla="*/ 0 w 42948"/>
              <a:gd name="txT" fmla="*/ 0 h 43200"/>
              <a:gd name="txR" fmla="*/ 42948 w 42948"/>
              <a:gd name="txB" fmla="*/ 43200 h 43200"/>
            </a:gdLst>
            <a:ahLst/>
            <a:cxnLst>
              <a:cxn ang="0">
                <a:pos x="2147483647" y="2147483647"/>
              </a:cxn>
              <a:cxn ang="0">
                <a:pos x="2147483647" y="2147483647"/>
              </a:cxn>
              <a:cxn ang="0">
                <a:pos x="2147483647" y="2147483647"/>
              </a:cxn>
            </a:cxnLst>
            <a:rect l="txL" t="txT" r="txR" b="txB"/>
            <a:pathLst>
              <a:path w="42948" h="43200" fill="none">
                <a:moveTo>
                  <a:pt x="42948" y="24887"/>
                </a:moveTo>
                <a:cubicBezTo>
                  <a:pt x="41326" y="35423"/>
                  <a:pt x="32260" y="43199"/>
                  <a:pt x="21600" y="43199"/>
                </a:cubicBezTo>
                <a:cubicBezTo>
                  <a:pt x="9670" y="43200"/>
                  <a:pt x="0" y="33529"/>
                  <a:pt x="0" y="21600"/>
                </a:cubicBezTo>
                <a:cubicBezTo>
                  <a:pt x="0" y="9670"/>
                  <a:pt x="9670" y="0"/>
                  <a:pt x="21600" y="0"/>
                </a:cubicBezTo>
                <a:cubicBezTo>
                  <a:pt x="32257" y="0"/>
                  <a:pt x="41321" y="7772"/>
                  <a:pt x="42947" y="18304"/>
                </a:cubicBezTo>
              </a:path>
              <a:path w="42948" h="43200" stroke="0">
                <a:moveTo>
                  <a:pt x="42948" y="24887"/>
                </a:moveTo>
                <a:cubicBezTo>
                  <a:pt x="41326" y="35423"/>
                  <a:pt x="32260" y="43199"/>
                  <a:pt x="21600" y="43199"/>
                </a:cubicBezTo>
                <a:cubicBezTo>
                  <a:pt x="9670" y="43200"/>
                  <a:pt x="0" y="33529"/>
                  <a:pt x="0" y="21600"/>
                </a:cubicBezTo>
                <a:cubicBezTo>
                  <a:pt x="0" y="9670"/>
                  <a:pt x="9670" y="0"/>
                  <a:pt x="21600" y="0"/>
                </a:cubicBezTo>
                <a:cubicBezTo>
                  <a:pt x="32257" y="0"/>
                  <a:pt x="41321" y="7772"/>
                  <a:pt x="42947" y="18304"/>
                </a:cubicBezTo>
                <a:lnTo>
                  <a:pt x="21600" y="21600"/>
                </a:lnTo>
                <a:lnTo>
                  <a:pt x="42948" y="24887"/>
                </a:lnTo>
                <a:close/>
              </a:path>
            </a:pathLst>
          </a:custGeom>
          <a:solidFill>
            <a:srgbClr val="FFFF99">
              <a:alpha val="70195"/>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8445" name="Arc 20"/>
          <p:cNvSpPr>
            <a:spLocks noChangeAspect="1"/>
          </p:cNvSpPr>
          <p:nvPr/>
        </p:nvSpPr>
        <p:spPr>
          <a:xfrm flipH="1">
            <a:off x="3646488" y="4486275"/>
            <a:ext cx="109537" cy="273050"/>
          </a:xfrm>
          <a:custGeom>
            <a:avLst/>
            <a:gdLst>
              <a:gd name="txL" fmla="*/ 0 w 42799"/>
              <a:gd name="txT" fmla="*/ 0 h 43200"/>
              <a:gd name="txR" fmla="*/ 42799 w 42799"/>
              <a:gd name="txB" fmla="*/ 43200 h 43200"/>
            </a:gdLst>
            <a:ahLst/>
            <a:cxnLst>
              <a:cxn ang="0">
                <a:pos x="515848664" y="2147483647"/>
              </a:cxn>
              <a:cxn ang="0">
                <a:pos x="516066187" y="2147483647"/>
              </a:cxn>
              <a:cxn ang="0">
                <a:pos x="260452381" y="2147483647"/>
              </a:cxn>
            </a:cxnLst>
            <a:rect l="txL" t="txT" r="txR" b="txB"/>
            <a:pathLst>
              <a:path w="42799" h="43200" fill="none">
                <a:moveTo>
                  <a:pt x="42780" y="25835"/>
                </a:moveTo>
                <a:cubicBezTo>
                  <a:pt x="40761" y="35932"/>
                  <a:pt x="31896" y="43199"/>
                  <a:pt x="21600" y="43199"/>
                </a:cubicBezTo>
                <a:cubicBezTo>
                  <a:pt x="9670" y="43200"/>
                  <a:pt x="0" y="33529"/>
                  <a:pt x="0" y="21600"/>
                </a:cubicBezTo>
                <a:cubicBezTo>
                  <a:pt x="0" y="9670"/>
                  <a:pt x="9670" y="0"/>
                  <a:pt x="21600" y="0"/>
                </a:cubicBezTo>
                <a:cubicBezTo>
                  <a:pt x="31931" y="0"/>
                  <a:pt x="40816" y="7316"/>
                  <a:pt x="42798" y="17456"/>
                </a:cubicBezTo>
              </a:path>
              <a:path w="42799" h="43200" stroke="0">
                <a:moveTo>
                  <a:pt x="42780" y="25835"/>
                </a:moveTo>
                <a:cubicBezTo>
                  <a:pt x="40761" y="35932"/>
                  <a:pt x="31896" y="43199"/>
                  <a:pt x="21600" y="43199"/>
                </a:cubicBezTo>
                <a:cubicBezTo>
                  <a:pt x="9670" y="43200"/>
                  <a:pt x="0" y="33529"/>
                  <a:pt x="0" y="21600"/>
                </a:cubicBezTo>
                <a:cubicBezTo>
                  <a:pt x="0" y="9670"/>
                  <a:pt x="9670" y="0"/>
                  <a:pt x="21600" y="0"/>
                </a:cubicBezTo>
                <a:cubicBezTo>
                  <a:pt x="31931" y="0"/>
                  <a:pt x="40816" y="7316"/>
                  <a:pt x="42798" y="17456"/>
                </a:cubicBezTo>
                <a:lnTo>
                  <a:pt x="21600" y="21600"/>
                </a:lnTo>
                <a:lnTo>
                  <a:pt x="42780" y="25835"/>
                </a:lnTo>
                <a:close/>
              </a:path>
            </a:pathLst>
          </a:custGeom>
          <a:solidFill>
            <a:srgbClr val="FFFF99">
              <a:alpha val="70195"/>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8446" name="Text Box 21"/>
          <p:cNvSpPr txBox="1">
            <a:spLocks noChangeAspect="1"/>
          </p:cNvSpPr>
          <p:nvPr/>
        </p:nvSpPr>
        <p:spPr>
          <a:xfrm>
            <a:off x="1844675" y="5165725"/>
            <a:ext cx="879475" cy="182563"/>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Specification</a:t>
            </a:r>
            <a:endParaRPr lang="en-US" altLang="en-US" sz="1200" dirty="0">
              <a:latin typeface="Arial" panose="020B0604020202020204" pitchFamily="34" charset="0"/>
            </a:endParaRPr>
          </a:p>
        </p:txBody>
      </p:sp>
      <p:sp>
        <p:nvSpPr>
          <p:cNvPr id="18447" name="Line 22"/>
          <p:cNvSpPr/>
          <p:nvPr/>
        </p:nvSpPr>
        <p:spPr>
          <a:xfrm flipH="1">
            <a:off x="2749550" y="4767263"/>
            <a:ext cx="217488" cy="433387"/>
          </a:xfrm>
          <a:prstGeom prst="line">
            <a:avLst/>
          </a:prstGeom>
          <a:ln w="3175" cap="flat" cmpd="sng">
            <a:solidFill>
              <a:schemeClr val="tx1"/>
            </a:solidFill>
            <a:prstDash val="solid"/>
            <a:headEnd type="none" w="med" len="med"/>
            <a:tailEnd type="none" w="med" len="med"/>
          </a:ln>
        </p:spPr>
      </p:sp>
      <p:sp>
        <p:nvSpPr>
          <p:cNvPr id="18448" name="Line 23"/>
          <p:cNvSpPr/>
          <p:nvPr/>
        </p:nvSpPr>
        <p:spPr>
          <a:xfrm>
            <a:off x="3724275" y="4745038"/>
            <a:ext cx="217488" cy="433387"/>
          </a:xfrm>
          <a:prstGeom prst="line">
            <a:avLst/>
          </a:prstGeom>
          <a:ln w="3175" cap="flat" cmpd="sng">
            <a:solidFill>
              <a:schemeClr val="tx1"/>
            </a:solidFill>
            <a:prstDash val="solid"/>
            <a:headEnd type="none" w="med" len="med"/>
            <a:tailEnd type="none" w="med" len="med"/>
          </a:ln>
        </p:spPr>
      </p:sp>
      <p:sp>
        <p:nvSpPr>
          <p:cNvPr id="18449" name="Text Box 24"/>
          <p:cNvSpPr txBox="1">
            <a:spLocks noChangeAspect="1"/>
          </p:cNvSpPr>
          <p:nvPr/>
        </p:nvSpPr>
        <p:spPr>
          <a:xfrm>
            <a:off x="3476625" y="5207000"/>
            <a:ext cx="1979613" cy="365125"/>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Domain properties</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sensed by the software-to-be</a:t>
            </a:r>
            <a:endParaRPr lang="en-US" altLang="en-US" sz="1200" dirty="0">
              <a:latin typeface="Arial" panose="020B0604020202020204" pitchFamily="34" charset="0"/>
            </a:endParaRPr>
          </a:p>
        </p:txBody>
      </p:sp>
      <p:sp>
        <p:nvSpPr>
          <p:cNvPr id="18450" name="Arc 25"/>
          <p:cNvSpPr>
            <a:spLocks noChangeAspect="1"/>
          </p:cNvSpPr>
          <p:nvPr/>
        </p:nvSpPr>
        <p:spPr>
          <a:xfrm flipV="1">
            <a:off x="4768850" y="4486275"/>
            <a:ext cx="109538" cy="273050"/>
          </a:xfrm>
          <a:custGeom>
            <a:avLst/>
            <a:gdLst>
              <a:gd name="txL" fmla="*/ 0 w 42937"/>
              <a:gd name="txT" fmla="*/ 0 h 43200"/>
              <a:gd name="txR" fmla="*/ 42937 w 42937"/>
              <a:gd name="txB" fmla="*/ 43200 h 43200"/>
            </a:gdLst>
            <a:ahLst/>
            <a:cxnLst>
              <a:cxn ang="0">
                <a:pos x="500884139" y="2147483647"/>
              </a:cxn>
              <a:cxn ang="0">
                <a:pos x="501374283" y="2147483647"/>
              </a:cxn>
              <a:cxn ang="0">
                <a:pos x="252221249" y="2147483647"/>
              </a:cxn>
            </a:cxnLst>
            <a:rect l="txL" t="txT" r="txR" b="txB"/>
            <a:pathLst>
              <a:path w="42937" h="43200" fill="none">
                <a:moveTo>
                  <a:pt x="42895" y="25215"/>
                </a:moveTo>
                <a:cubicBezTo>
                  <a:pt x="41132" y="35600"/>
                  <a:pt x="32134" y="43199"/>
                  <a:pt x="21600" y="43199"/>
                </a:cubicBezTo>
                <a:cubicBezTo>
                  <a:pt x="9670" y="43200"/>
                  <a:pt x="0" y="33529"/>
                  <a:pt x="0" y="21600"/>
                </a:cubicBezTo>
                <a:cubicBezTo>
                  <a:pt x="0" y="9670"/>
                  <a:pt x="9670" y="0"/>
                  <a:pt x="21600" y="0"/>
                </a:cubicBezTo>
                <a:cubicBezTo>
                  <a:pt x="32232" y="0"/>
                  <a:pt x="41284" y="7738"/>
                  <a:pt x="42937" y="18241"/>
                </a:cubicBezTo>
              </a:path>
              <a:path w="42937" h="43200" stroke="0">
                <a:moveTo>
                  <a:pt x="42895" y="25215"/>
                </a:moveTo>
                <a:cubicBezTo>
                  <a:pt x="41132" y="35600"/>
                  <a:pt x="32134" y="43199"/>
                  <a:pt x="21600" y="43199"/>
                </a:cubicBezTo>
                <a:cubicBezTo>
                  <a:pt x="9670" y="43200"/>
                  <a:pt x="0" y="33529"/>
                  <a:pt x="0" y="21600"/>
                </a:cubicBezTo>
                <a:cubicBezTo>
                  <a:pt x="0" y="9670"/>
                  <a:pt x="9670" y="0"/>
                  <a:pt x="21600" y="0"/>
                </a:cubicBezTo>
                <a:cubicBezTo>
                  <a:pt x="32232" y="0"/>
                  <a:pt x="41284" y="7738"/>
                  <a:pt x="42937" y="18241"/>
                </a:cubicBezTo>
                <a:lnTo>
                  <a:pt x="21600" y="21600"/>
                </a:lnTo>
                <a:lnTo>
                  <a:pt x="42895" y="25215"/>
                </a:lnTo>
                <a:close/>
              </a:path>
            </a:pathLst>
          </a:custGeom>
          <a:solidFill>
            <a:srgbClr val="FFFF99">
              <a:alpha val="70195"/>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8451" name="Line 26"/>
          <p:cNvSpPr/>
          <p:nvPr/>
        </p:nvSpPr>
        <p:spPr>
          <a:xfrm flipH="1" flipV="1">
            <a:off x="4583113" y="4065588"/>
            <a:ext cx="217487" cy="433387"/>
          </a:xfrm>
          <a:prstGeom prst="line">
            <a:avLst/>
          </a:prstGeom>
          <a:ln w="3175" cap="flat" cmpd="sng">
            <a:solidFill>
              <a:schemeClr val="tx1"/>
            </a:solidFill>
            <a:prstDash val="solid"/>
            <a:headEnd type="none" w="med" len="med"/>
            <a:tailEnd type="none" w="med" len="med"/>
          </a:ln>
        </p:spPr>
      </p:sp>
      <p:sp>
        <p:nvSpPr>
          <p:cNvPr id="18452" name="Text Box 27"/>
          <p:cNvSpPr txBox="1">
            <a:spLocks noChangeAspect="1"/>
          </p:cNvSpPr>
          <p:nvPr/>
        </p:nvSpPr>
        <p:spPr>
          <a:xfrm flipH="1">
            <a:off x="3346450" y="3717925"/>
            <a:ext cx="2052638" cy="365125"/>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Domain properties</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envisioned by the requirement</a:t>
            </a:r>
            <a:endParaRPr lang="en-US" altLang="en-US" sz="1200" dirty="0">
              <a:latin typeface="Arial" panose="020B0604020202020204" pitchFamily="34" charset="0"/>
            </a:endParaRPr>
          </a:p>
        </p:txBody>
      </p:sp>
      <p:sp>
        <p:nvSpPr>
          <p:cNvPr id="18453" name="Arc 28"/>
          <p:cNvSpPr/>
          <p:nvPr/>
        </p:nvSpPr>
        <p:spPr>
          <a:xfrm flipH="1">
            <a:off x="5303838" y="4435475"/>
            <a:ext cx="150812" cy="374650"/>
          </a:xfrm>
          <a:custGeom>
            <a:avLst/>
            <a:gdLst>
              <a:gd name="txL" fmla="*/ 0 w 42966"/>
              <a:gd name="txT" fmla="*/ 0 h 43200"/>
              <a:gd name="txR" fmla="*/ 42966 w 42966"/>
              <a:gd name="txB" fmla="*/ 43200 h 43200"/>
            </a:gdLst>
            <a:ahLst/>
            <a:cxnLst>
              <a:cxn ang="0">
                <a:pos x="2147483647" y="2147483647"/>
              </a:cxn>
              <a:cxn ang="0">
                <a:pos x="2147483647" y="2147483647"/>
              </a:cxn>
              <a:cxn ang="0">
                <a:pos x="2147483647" y="2147483647"/>
              </a:cxn>
            </a:cxnLst>
            <a:rect l="txL" t="txT" r="txR" b="txB"/>
            <a:pathLst>
              <a:path w="42966" h="43200" fill="none">
                <a:moveTo>
                  <a:pt x="42965" y="24772"/>
                </a:moveTo>
                <a:cubicBezTo>
                  <a:pt x="41393" y="35360"/>
                  <a:pt x="32303" y="43199"/>
                  <a:pt x="21600" y="43199"/>
                </a:cubicBezTo>
                <a:cubicBezTo>
                  <a:pt x="9670" y="43200"/>
                  <a:pt x="0" y="33529"/>
                  <a:pt x="0" y="21600"/>
                </a:cubicBezTo>
                <a:cubicBezTo>
                  <a:pt x="0" y="9670"/>
                  <a:pt x="9670" y="0"/>
                  <a:pt x="21600" y="0"/>
                </a:cubicBezTo>
                <a:cubicBezTo>
                  <a:pt x="32163" y="0"/>
                  <a:pt x="41177" y="7640"/>
                  <a:pt x="42908" y="18061"/>
                </a:cubicBezTo>
              </a:path>
              <a:path w="42966" h="43200" stroke="0">
                <a:moveTo>
                  <a:pt x="42965" y="24772"/>
                </a:moveTo>
                <a:cubicBezTo>
                  <a:pt x="41393" y="35360"/>
                  <a:pt x="32303" y="43199"/>
                  <a:pt x="21600" y="43199"/>
                </a:cubicBezTo>
                <a:cubicBezTo>
                  <a:pt x="9670" y="43200"/>
                  <a:pt x="0" y="33529"/>
                  <a:pt x="0" y="21600"/>
                </a:cubicBezTo>
                <a:cubicBezTo>
                  <a:pt x="0" y="9670"/>
                  <a:pt x="9670" y="0"/>
                  <a:pt x="21600" y="0"/>
                </a:cubicBezTo>
                <a:cubicBezTo>
                  <a:pt x="32163" y="0"/>
                  <a:pt x="41177" y="7640"/>
                  <a:pt x="42908" y="18061"/>
                </a:cubicBezTo>
                <a:lnTo>
                  <a:pt x="21600" y="21600"/>
                </a:lnTo>
                <a:lnTo>
                  <a:pt x="42965" y="24772"/>
                </a:lnTo>
                <a:close/>
              </a:path>
            </a:pathLst>
          </a:custGeom>
          <a:solidFill>
            <a:srgbClr val="FFFF99">
              <a:alpha val="70195"/>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18454" name="Text Box 29"/>
          <p:cNvSpPr txBox="1">
            <a:spLocks noChangeAspect="1"/>
          </p:cNvSpPr>
          <p:nvPr/>
        </p:nvSpPr>
        <p:spPr>
          <a:xfrm flipH="1">
            <a:off x="5668963" y="5164138"/>
            <a:ext cx="887412"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Requirement</a:t>
            </a:r>
            <a:endParaRPr lang="en-US" altLang="en-US" sz="1200" dirty="0">
              <a:latin typeface="Arial" panose="020B0604020202020204" pitchFamily="34" charset="0"/>
            </a:endParaRPr>
          </a:p>
        </p:txBody>
      </p:sp>
      <p:sp>
        <p:nvSpPr>
          <p:cNvPr id="18455" name="Line 30"/>
          <p:cNvSpPr/>
          <p:nvPr/>
        </p:nvSpPr>
        <p:spPr>
          <a:xfrm>
            <a:off x="5429250" y="4765675"/>
            <a:ext cx="217488" cy="433388"/>
          </a:xfrm>
          <a:prstGeom prst="line">
            <a:avLst/>
          </a:prstGeom>
          <a:ln w="3175" cap="flat" cmpd="sng">
            <a:solidFill>
              <a:schemeClr val="tx1"/>
            </a:solidFill>
            <a:prstDash val="solid"/>
            <a:headEnd type="none" w="med" len="med"/>
            <a:tailEnd type="none" w="med" len="med"/>
          </a:ln>
        </p:spPr>
      </p:sp>
      <p:sp>
        <p:nvSpPr>
          <p:cNvPr id="18456" name="Text Box 31"/>
          <p:cNvSpPr txBox="1">
            <a:spLocks noChangeAspect="1"/>
          </p:cNvSpPr>
          <p:nvPr/>
        </p:nvSpPr>
        <p:spPr>
          <a:xfrm>
            <a:off x="1938338" y="5632450"/>
            <a:ext cx="4359275" cy="365125"/>
          </a:xfrm>
          <a:prstGeom prst="rect">
            <a:avLst/>
          </a:prstGeom>
          <a:noFill/>
          <a:ln w="9525">
            <a:noFill/>
          </a:ln>
        </p:spPr>
        <p:txBody>
          <a:bodyPr wrap="none" lIns="9144" tIns="0" rIns="9144" bIns="0">
            <a:spAutoFit/>
          </a:bodyPr>
          <a:p>
            <a:pPr eaLnBrk="1" hangingPunct="1"/>
            <a:r>
              <a:rPr lang="en-US" altLang="en-US" sz="1200" b="1" dirty="0">
                <a:latin typeface="Arial" panose="020B0604020202020204" pitchFamily="34" charset="0"/>
              </a:rPr>
              <a:t>a</a:t>
            </a:r>
            <a:r>
              <a:rPr lang="en-US" altLang="en-US" sz="1200" dirty="0">
                <a:latin typeface="Arial" panose="020B0604020202020204" pitchFamily="34" charset="0"/>
              </a:rPr>
              <a:t>: specification interface phenomena (system inputs/outputs)</a:t>
            </a:r>
            <a:endParaRPr lang="en-US" altLang="en-US" sz="1200" dirty="0">
              <a:latin typeface="Arial" panose="020B0604020202020204" pitchFamily="34" charset="0"/>
            </a:endParaRPr>
          </a:p>
          <a:p>
            <a:pPr eaLnBrk="1" hangingPunct="1"/>
            <a:r>
              <a:rPr lang="en-US" altLang="en-US" sz="1200" b="1" dirty="0">
                <a:latin typeface="Arial" panose="020B0604020202020204" pitchFamily="34" charset="0"/>
              </a:rPr>
              <a:t>b</a:t>
            </a:r>
            <a:r>
              <a:rPr lang="en-US" altLang="en-US" sz="1200" dirty="0">
                <a:latin typeface="Arial" panose="020B0604020202020204" pitchFamily="34" charset="0"/>
              </a:rPr>
              <a:t>: requirement interface phenomena (user goals and interaction)</a:t>
            </a:r>
            <a:endParaRPr lang="en-US" altLang="en-US" sz="1200" dirty="0">
              <a:latin typeface="Arial" panose="020B0604020202020204" pitchFamily="34" charset="0"/>
            </a:endParaRPr>
          </a:p>
        </p:txBody>
      </p:sp>
      <p:sp>
        <p:nvSpPr>
          <p:cNvPr id="18457" name="Text Box 32"/>
          <p:cNvSpPr txBox="1"/>
          <p:nvPr/>
        </p:nvSpPr>
        <p:spPr>
          <a:xfrm>
            <a:off x="1270000" y="2127250"/>
            <a:ext cx="246063" cy="244475"/>
          </a:xfrm>
          <a:prstGeom prst="rect">
            <a:avLst/>
          </a:prstGeom>
          <a:noFill/>
          <a:ln w="9525">
            <a:noFill/>
          </a:ln>
        </p:spPr>
        <p:txBody>
          <a:bodyPr wrap="none" lIns="9144" tIns="0" rIns="9144" bIns="0">
            <a:spAutoFit/>
          </a:bodyPr>
          <a:p>
            <a:pPr algn="ctr" eaLnBrk="1" hangingPunct="1"/>
            <a:r>
              <a:rPr lang="en-US" altLang="en-US" sz="1600" dirty="0">
                <a:latin typeface="Times New Roman" panose="02020603050405020304" pitchFamily="18" charset="0"/>
              </a:rPr>
              <a:t>(a)</a:t>
            </a:r>
            <a:endParaRPr lang="en-US" altLang="en-US" sz="1600" dirty="0">
              <a:latin typeface="Times New Roman" panose="02020603050405020304" pitchFamily="18" charset="0"/>
            </a:endParaRPr>
          </a:p>
        </p:txBody>
      </p:sp>
      <p:sp>
        <p:nvSpPr>
          <p:cNvPr id="18458" name="Text Box 33"/>
          <p:cNvSpPr txBox="1"/>
          <p:nvPr/>
        </p:nvSpPr>
        <p:spPr>
          <a:xfrm>
            <a:off x="1270000" y="3984625"/>
            <a:ext cx="257175" cy="244475"/>
          </a:xfrm>
          <a:prstGeom prst="rect">
            <a:avLst/>
          </a:prstGeom>
          <a:noFill/>
          <a:ln w="9525">
            <a:noFill/>
          </a:ln>
        </p:spPr>
        <p:txBody>
          <a:bodyPr wrap="none" lIns="9144" tIns="0" rIns="9144" bIns="0">
            <a:spAutoFit/>
          </a:bodyPr>
          <a:p>
            <a:pPr algn="ctr" eaLnBrk="1" hangingPunct="1"/>
            <a:r>
              <a:rPr lang="en-US" altLang="en-US" sz="1600" dirty="0">
                <a:latin typeface="Times New Roman" panose="02020603050405020304" pitchFamily="18" charset="0"/>
              </a:rPr>
              <a:t>(b)</a:t>
            </a:r>
            <a:endParaRPr lang="en-US" altLang="en-US" sz="1600" dirty="0">
              <a:latin typeface="Times New Roman" panose="02020603050405020304" pitchFamily="18" charset="0"/>
            </a:endParaRPr>
          </a:p>
        </p:txBody>
      </p:sp>
      <p:sp>
        <p:nvSpPr>
          <p:cNvPr id="18459" name="Oval 45"/>
          <p:cNvSpPr>
            <a:spLocks noChangeAspect="1"/>
          </p:cNvSpPr>
          <p:nvPr/>
        </p:nvSpPr>
        <p:spPr>
          <a:xfrm>
            <a:off x="4943475" y="2232025"/>
            <a:ext cx="274638" cy="274638"/>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18460" name="Rectangle 40"/>
          <p:cNvSpPr/>
          <p:nvPr/>
        </p:nvSpPr>
        <p:spPr>
          <a:xfrm>
            <a:off x="1844675" y="2127250"/>
            <a:ext cx="1004888" cy="484188"/>
          </a:xfrm>
          <a:prstGeom prst="rect">
            <a:avLst/>
          </a:prstGeom>
          <a:solidFill>
            <a:schemeClr val="bg1"/>
          </a:solidFill>
          <a:ln w="28575" cap="flat" cmpd="dbl">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Software-to-be</a:t>
            </a:r>
            <a:endParaRPr lang="en-US" altLang="en-US" sz="1000" dirty="0">
              <a:latin typeface="Arial" panose="020B0604020202020204" pitchFamily="34" charset="0"/>
            </a:endParaRPr>
          </a:p>
        </p:txBody>
      </p:sp>
      <p:sp>
        <p:nvSpPr>
          <p:cNvPr id="18461" name="Oval 43"/>
          <p:cNvSpPr>
            <a:spLocks noChangeAspect="1"/>
          </p:cNvSpPr>
          <p:nvPr/>
        </p:nvSpPr>
        <p:spPr>
          <a:xfrm>
            <a:off x="3184525" y="2232025"/>
            <a:ext cx="274638" cy="274638"/>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18462" name="Rectangle 48"/>
          <p:cNvSpPr/>
          <p:nvPr/>
        </p:nvSpPr>
        <p:spPr>
          <a:xfrm>
            <a:off x="3790950" y="2127250"/>
            <a:ext cx="731838" cy="484188"/>
          </a:xfrm>
          <a:prstGeom prst="rect">
            <a:avLst/>
          </a:prstGeom>
          <a:solidFill>
            <a:schemeClr val="bg1"/>
          </a:solidFill>
          <a:ln w="9525" cap="flat" cmpd="sng">
            <a:solidFill>
              <a:schemeClr val="tx1"/>
            </a:solidFill>
            <a:prstDash val="solid"/>
            <a:miter/>
            <a:headEnd type="none" w="med" len="med"/>
            <a:tailEnd type="none" w="med" len="med"/>
          </a:ln>
        </p:spPr>
        <p:txBody>
          <a:bodyPr lIns="0" rIns="0" anchor="ctr" anchorCtr="0"/>
          <a:p>
            <a:pPr algn="ctr" eaLnBrk="1" hangingPunct="1"/>
            <a:r>
              <a:rPr lang="en-US" altLang="en-US" sz="1000" dirty="0">
                <a:latin typeface="Arial" panose="020B0604020202020204" pitchFamily="34" charset="0"/>
              </a:rPr>
              <a:t>Problem Domain</a:t>
            </a:r>
            <a:endParaRPr lang="en-US" altLang="en-US" sz="1000" dirty="0">
              <a:latin typeface="Arial" panose="020B0604020202020204" pitchFamily="34" charset="0"/>
            </a:endParaRPr>
          </a:p>
        </p:txBody>
      </p:sp>
      <p:sp>
        <p:nvSpPr>
          <p:cNvPr id="18463" name="AutoShape 51"/>
          <p:cNvSpPr/>
          <p:nvPr/>
        </p:nvSpPr>
        <p:spPr>
          <a:xfrm rot="-5400000">
            <a:off x="4524375" y="2305050"/>
            <a:ext cx="141288" cy="128588"/>
          </a:xfrm>
          <a:prstGeom prst="triangle">
            <a:avLst>
              <a:gd name="adj" fmla="val 50000"/>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18464" name="Oval 52"/>
          <p:cNvSpPr/>
          <p:nvPr/>
        </p:nvSpPr>
        <p:spPr>
          <a:xfrm>
            <a:off x="5514975" y="2127250"/>
            <a:ext cx="1014413" cy="484188"/>
          </a:xfrm>
          <a:prstGeom prst="ellipse">
            <a:avLst/>
          </a:prstGeom>
          <a:solidFill>
            <a:schemeClr val="bg1"/>
          </a:solidFill>
          <a:ln w="9525" cap="flat" cmpd="sng">
            <a:solidFill>
              <a:schemeClr val="tx1"/>
            </a:solidFill>
            <a:prstDash val="lgDash"/>
            <a:headEnd type="none" w="med" len="med"/>
            <a:tailEnd type="none" w="med" len="med"/>
          </a:ln>
        </p:spPr>
        <p:txBody>
          <a:bodyPr wrap="none" tIns="0" bIns="0" anchor="ctr" anchorCtr="0"/>
          <a:p>
            <a:pPr algn="ctr" eaLnBrk="1" hangingPunct="1"/>
            <a:r>
              <a:rPr lang="en-US" altLang="en-US" sz="1000" dirty="0">
                <a:latin typeface="Arial" panose="020B0604020202020204" pitchFamily="34" charset="0"/>
              </a:rPr>
              <a:t>Business Goal</a:t>
            </a:r>
            <a:endParaRPr lang="en-US" altLang="en-US" sz="1000" dirty="0">
              <a:latin typeface="Arial" panose="020B0604020202020204" pitchFamily="34" charset="0"/>
            </a:endParaRPr>
          </a:p>
        </p:txBody>
      </p:sp>
      <p:sp>
        <p:nvSpPr>
          <p:cNvPr id="18465" name="Text Box 29"/>
          <p:cNvSpPr txBox="1">
            <a:spLocks noChangeAspect="1"/>
          </p:cNvSpPr>
          <p:nvPr/>
        </p:nvSpPr>
        <p:spPr>
          <a:xfrm flipH="1">
            <a:off x="1343025" y="6118225"/>
            <a:ext cx="2755900" cy="488950"/>
          </a:xfrm>
          <a:prstGeom prst="rect">
            <a:avLst/>
          </a:prstGeom>
          <a:noFill/>
          <a:ln w="9525">
            <a:noFill/>
          </a:ln>
        </p:spPr>
        <p:txBody>
          <a:bodyPr lIns="9144" tIns="0" rIns="9144" bIns="0">
            <a:spAutoFit/>
          </a:bodyPr>
          <a:p>
            <a:pPr eaLnBrk="1" hangingPunct="1"/>
            <a:r>
              <a:rPr lang="en-US" altLang="en-US" sz="800" dirty="0">
                <a:latin typeface="Arial" panose="020B0604020202020204" pitchFamily="34" charset="0"/>
              </a:rPr>
              <a:t>Description of what actually happens in the problem domain versus in what form it will appear as system input;</a:t>
            </a:r>
            <a:br>
              <a:rPr lang="en-US" altLang="en-US" sz="800" dirty="0">
                <a:latin typeface="Arial" panose="020B0604020202020204" pitchFamily="34" charset="0"/>
              </a:rPr>
            </a:br>
            <a:r>
              <a:rPr lang="en-US" altLang="en-US" sz="800" dirty="0">
                <a:latin typeface="Arial" panose="020B0604020202020204" pitchFamily="34" charset="0"/>
              </a:rPr>
              <a:t>as well as what output will the system issue versus what should happens in the problem domain. </a:t>
            </a:r>
            <a:endParaRPr lang="en-US" altLang="en-US" sz="800" dirty="0">
              <a:latin typeface="Arial" panose="020B0604020202020204" pitchFamily="34" charset="0"/>
            </a:endParaRPr>
          </a:p>
        </p:txBody>
      </p:sp>
      <p:sp>
        <p:nvSpPr>
          <p:cNvPr id="18466" name="Text Box 29"/>
          <p:cNvSpPr txBox="1">
            <a:spLocks noChangeAspect="1"/>
          </p:cNvSpPr>
          <p:nvPr/>
        </p:nvSpPr>
        <p:spPr>
          <a:xfrm flipH="1">
            <a:off x="4956175" y="6178550"/>
            <a:ext cx="2346325" cy="366713"/>
          </a:xfrm>
          <a:prstGeom prst="rect">
            <a:avLst/>
          </a:prstGeom>
          <a:noFill/>
          <a:ln w="9525">
            <a:noFill/>
          </a:ln>
        </p:spPr>
        <p:txBody>
          <a:bodyPr lIns="9144" tIns="0" rIns="9144" bIns="0">
            <a:spAutoFit/>
          </a:bodyPr>
          <a:p>
            <a:pPr eaLnBrk="1" hangingPunct="1"/>
            <a:r>
              <a:rPr lang="en-US" altLang="en-US" sz="800" dirty="0">
                <a:latin typeface="Arial" panose="020B0604020202020204" pitchFamily="34" charset="0"/>
              </a:rPr>
              <a:t>Description of what the user is trying to achieve in the problem domain and how is the user supposed to interact with the system to make it happen. </a:t>
            </a:r>
            <a:endParaRPr lang="en-US" altLang="en-US" sz="800" dirty="0">
              <a:latin typeface="Arial" panose="020B0604020202020204" pitchFamily="34" charset="0"/>
            </a:endParaRPr>
          </a:p>
        </p:txBody>
      </p:sp>
      <p:sp>
        <p:nvSpPr>
          <p:cNvPr id="18467" name="Text Box 27"/>
          <p:cNvSpPr txBox="1">
            <a:spLocks noChangeAspect="1"/>
          </p:cNvSpPr>
          <p:nvPr/>
        </p:nvSpPr>
        <p:spPr>
          <a:xfrm flipH="1">
            <a:off x="3717925" y="1720850"/>
            <a:ext cx="863600" cy="182563"/>
          </a:xfrm>
          <a:prstGeom prst="rect">
            <a:avLst/>
          </a:prstGeom>
          <a:noFill/>
          <a:ln w="9525">
            <a:noFill/>
          </a:ln>
        </p:spPr>
        <p:txBody>
          <a:bodyPr wrap="none" lIns="9144" tIns="0" rIns="9144" bIns="0">
            <a:spAutoFit/>
          </a:bodyPr>
          <a:p>
            <a:pPr eaLnBrk="1" hangingPunct="1"/>
            <a:r>
              <a:rPr lang="en-US" altLang="en-US" sz="1200" dirty="0">
                <a:solidFill>
                  <a:schemeClr val="hlink"/>
                </a:solidFill>
                <a:latin typeface="Arial" panose="020B0604020202020204" pitchFamily="34" charset="0"/>
              </a:rPr>
              <a:t>This is </a:t>
            </a:r>
            <a:r>
              <a:rPr lang="en-US" altLang="en-US" sz="1200" i="1" dirty="0">
                <a:solidFill>
                  <a:schemeClr val="hlink"/>
                </a:solidFill>
                <a:latin typeface="Arial" panose="020B0604020202020204" pitchFamily="34" charset="0"/>
              </a:rPr>
              <a:t>given</a:t>
            </a:r>
            <a:endParaRPr lang="en-US" altLang="en-US" sz="1200" dirty="0">
              <a:solidFill>
                <a:schemeClr val="hlink"/>
              </a:solidFill>
              <a:latin typeface="Arial" panose="020B0604020202020204" pitchFamily="34" charset="0"/>
            </a:endParaRPr>
          </a:p>
        </p:txBody>
      </p:sp>
      <p:sp>
        <p:nvSpPr>
          <p:cNvPr id="18468" name="Text Box 27"/>
          <p:cNvSpPr txBox="1">
            <a:spLocks noChangeAspect="1"/>
          </p:cNvSpPr>
          <p:nvPr/>
        </p:nvSpPr>
        <p:spPr>
          <a:xfrm flipH="1">
            <a:off x="5483225" y="1720850"/>
            <a:ext cx="1879600" cy="182563"/>
          </a:xfrm>
          <a:prstGeom prst="rect">
            <a:avLst/>
          </a:prstGeom>
          <a:noFill/>
          <a:ln w="9525">
            <a:noFill/>
          </a:ln>
        </p:spPr>
        <p:txBody>
          <a:bodyPr wrap="none" lIns="9144" tIns="0" rIns="9144" bIns="0">
            <a:spAutoFit/>
          </a:bodyPr>
          <a:p>
            <a:pPr eaLnBrk="1" hangingPunct="1"/>
            <a:r>
              <a:rPr lang="en-US" altLang="en-US" sz="1200" dirty="0">
                <a:solidFill>
                  <a:schemeClr val="hlink"/>
                </a:solidFill>
                <a:latin typeface="Arial" panose="020B0604020202020204" pitchFamily="34" charset="0"/>
              </a:rPr>
              <a:t>This is a </a:t>
            </a:r>
            <a:r>
              <a:rPr lang="en-US" altLang="en-US" sz="1200" i="1" dirty="0">
                <a:solidFill>
                  <a:schemeClr val="hlink"/>
                </a:solidFill>
                <a:latin typeface="Arial" panose="020B0604020202020204" pitchFamily="34" charset="0"/>
              </a:rPr>
              <a:t>condition to satisfy</a:t>
            </a:r>
            <a:endParaRPr lang="en-US" altLang="en-US" sz="1200" dirty="0">
              <a:solidFill>
                <a:schemeClr val="hlink"/>
              </a:solidFill>
              <a:latin typeface="Arial" panose="020B0604020202020204" pitchFamily="34" charset="0"/>
            </a:endParaRPr>
          </a:p>
        </p:txBody>
      </p:sp>
      <p:sp>
        <p:nvSpPr>
          <p:cNvPr id="18469" name="Text Box 27"/>
          <p:cNvSpPr txBox="1">
            <a:spLocks noChangeAspect="1"/>
          </p:cNvSpPr>
          <p:nvPr/>
        </p:nvSpPr>
        <p:spPr>
          <a:xfrm flipH="1">
            <a:off x="1817688" y="1720850"/>
            <a:ext cx="1379537" cy="365125"/>
          </a:xfrm>
          <a:prstGeom prst="rect">
            <a:avLst/>
          </a:prstGeom>
          <a:noFill/>
          <a:ln w="9525">
            <a:noFill/>
          </a:ln>
        </p:spPr>
        <p:txBody>
          <a:bodyPr wrap="none" lIns="9144" tIns="0" rIns="9144" bIns="0">
            <a:spAutoFit/>
          </a:bodyPr>
          <a:p>
            <a:pPr eaLnBrk="1" hangingPunct="1"/>
            <a:r>
              <a:rPr lang="en-US" altLang="en-US" sz="1200" dirty="0">
                <a:solidFill>
                  <a:schemeClr val="hlink"/>
                </a:solidFill>
                <a:latin typeface="Arial" panose="020B0604020202020204" pitchFamily="34" charset="0"/>
              </a:rPr>
              <a:t>This we need to </a:t>
            </a:r>
            <a:r>
              <a:rPr lang="en-US" altLang="en-US" sz="1200" i="1" dirty="0">
                <a:solidFill>
                  <a:schemeClr val="hlink"/>
                </a:solidFill>
                <a:latin typeface="Arial" panose="020B0604020202020204" pitchFamily="34" charset="0"/>
              </a:rPr>
              <a:t>find</a:t>
            </a:r>
            <a:endParaRPr lang="en-US" altLang="en-US" sz="1200" dirty="0">
              <a:solidFill>
                <a:schemeClr val="hlink"/>
              </a:solidFill>
              <a:latin typeface="Arial" panose="020B0604020202020204" pitchFamily="34" charset="0"/>
            </a:endParaRPr>
          </a:p>
          <a:p>
            <a:pPr eaLnBrk="1" hangingPunct="1"/>
            <a:r>
              <a:rPr lang="en-US" altLang="en-US" sz="1200" dirty="0">
                <a:solidFill>
                  <a:schemeClr val="hlink"/>
                </a:solidFill>
                <a:latin typeface="Arial" panose="020B0604020202020204" pitchFamily="34" charset="0"/>
              </a:rPr>
              <a:t>(solution)</a:t>
            </a:r>
            <a:endParaRPr lang="en-US" altLang="en-US" sz="1200" dirty="0">
              <a:solidFill>
                <a:schemeClr val="hlink"/>
              </a:solidFill>
              <a:latin typeface="Arial" panose="020B0604020202020204" pitchFamily="34" charset="0"/>
            </a:endParaRPr>
          </a:p>
        </p:txBody>
      </p:sp>
      <p:sp>
        <p:nvSpPr>
          <p:cNvPr id="18470" name="Freeform 75"/>
          <p:cNvSpPr/>
          <p:nvPr/>
        </p:nvSpPr>
        <p:spPr>
          <a:xfrm>
            <a:off x="1571625" y="1828800"/>
            <a:ext cx="203200" cy="296863"/>
          </a:xfrm>
          <a:custGeom>
            <a:avLst/>
            <a:gdLst>
              <a:gd name="txL" fmla="*/ 0 w 128"/>
              <a:gd name="txT" fmla="*/ 0 h 187"/>
              <a:gd name="txR" fmla="*/ 128 w 128"/>
              <a:gd name="txB" fmla="*/ 187 h 187"/>
            </a:gdLst>
            <a:ahLst/>
            <a:cxnLst>
              <a:cxn ang="0">
                <a:pos x="2147483647" y="0"/>
              </a:cxn>
              <a:cxn ang="0">
                <a:pos x="2147483647" y="2147483647"/>
              </a:cxn>
            </a:cxnLst>
            <a:rect l="txL" t="txT" r="txR" b="txB"/>
            <a:pathLst>
              <a:path w="128" h="187">
                <a:moveTo>
                  <a:pt x="128" y="0"/>
                </a:moveTo>
                <a:cubicBezTo>
                  <a:pt x="0" y="46"/>
                  <a:pt x="56" y="116"/>
                  <a:pt x="123" y="187"/>
                </a:cubicBezTo>
              </a:path>
            </a:pathLst>
          </a:custGeom>
          <a:noFill/>
          <a:ln w="9525" cap="flat" cmpd="sng">
            <a:solidFill>
              <a:schemeClr val="hlink">
                <a:alpha val="100000"/>
              </a:schemeClr>
            </a:solidFill>
            <a:prstDash val="solid"/>
            <a:round/>
            <a:headEnd type="none" w="med" len="med"/>
            <a:tailEnd type="triangle" w="med" len="med"/>
          </a:ln>
        </p:spPr>
        <p:txBody>
          <a:bodyPr/>
          <a:p>
            <a:endParaRPr lang="zh-CN" altLang="en-US"/>
          </a:p>
        </p:txBody>
      </p:sp>
      <p:sp>
        <p:nvSpPr>
          <p:cNvPr id="18471" name="Freeform 76"/>
          <p:cNvSpPr/>
          <p:nvPr/>
        </p:nvSpPr>
        <p:spPr>
          <a:xfrm>
            <a:off x="3505200" y="1828800"/>
            <a:ext cx="203200" cy="296863"/>
          </a:xfrm>
          <a:custGeom>
            <a:avLst/>
            <a:gdLst>
              <a:gd name="txL" fmla="*/ 0 w 128"/>
              <a:gd name="txT" fmla="*/ 0 h 187"/>
              <a:gd name="txR" fmla="*/ 128 w 128"/>
              <a:gd name="txB" fmla="*/ 187 h 187"/>
            </a:gdLst>
            <a:ahLst/>
            <a:cxnLst>
              <a:cxn ang="0">
                <a:pos x="2147483647" y="0"/>
              </a:cxn>
              <a:cxn ang="0">
                <a:pos x="2147483647" y="2147483647"/>
              </a:cxn>
            </a:cxnLst>
            <a:rect l="txL" t="txT" r="txR" b="txB"/>
            <a:pathLst>
              <a:path w="128" h="187">
                <a:moveTo>
                  <a:pt x="128" y="0"/>
                </a:moveTo>
                <a:cubicBezTo>
                  <a:pt x="0" y="46"/>
                  <a:pt x="56" y="116"/>
                  <a:pt x="123" y="187"/>
                </a:cubicBezTo>
              </a:path>
            </a:pathLst>
          </a:custGeom>
          <a:noFill/>
          <a:ln w="9525" cap="flat" cmpd="sng">
            <a:solidFill>
              <a:schemeClr val="hlink">
                <a:alpha val="100000"/>
              </a:schemeClr>
            </a:solidFill>
            <a:prstDash val="solid"/>
            <a:round/>
            <a:headEnd type="none" w="med" len="med"/>
            <a:tailEnd type="triangle" w="med" len="med"/>
          </a:ln>
        </p:spPr>
        <p:txBody>
          <a:bodyPr/>
          <a:p>
            <a:endParaRPr lang="zh-CN" altLang="en-US"/>
          </a:p>
        </p:txBody>
      </p:sp>
      <p:sp>
        <p:nvSpPr>
          <p:cNvPr id="18472" name="Freeform 77"/>
          <p:cNvSpPr/>
          <p:nvPr/>
        </p:nvSpPr>
        <p:spPr>
          <a:xfrm>
            <a:off x="5294313" y="1828800"/>
            <a:ext cx="203200" cy="296863"/>
          </a:xfrm>
          <a:custGeom>
            <a:avLst/>
            <a:gdLst>
              <a:gd name="txL" fmla="*/ 0 w 128"/>
              <a:gd name="txT" fmla="*/ 0 h 187"/>
              <a:gd name="txR" fmla="*/ 128 w 128"/>
              <a:gd name="txB" fmla="*/ 187 h 187"/>
            </a:gdLst>
            <a:ahLst/>
            <a:cxnLst>
              <a:cxn ang="0">
                <a:pos x="2147483647" y="0"/>
              </a:cxn>
              <a:cxn ang="0">
                <a:pos x="2147483647" y="2147483647"/>
              </a:cxn>
            </a:cxnLst>
            <a:rect l="txL" t="txT" r="txR" b="txB"/>
            <a:pathLst>
              <a:path w="128" h="187">
                <a:moveTo>
                  <a:pt x="128" y="0"/>
                </a:moveTo>
                <a:cubicBezTo>
                  <a:pt x="0" y="46"/>
                  <a:pt x="56" y="116"/>
                  <a:pt x="123" y="187"/>
                </a:cubicBezTo>
              </a:path>
            </a:pathLst>
          </a:custGeom>
          <a:noFill/>
          <a:ln w="9525" cap="flat" cmpd="sng">
            <a:solidFill>
              <a:schemeClr val="hlink">
                <a:alpha val="100000"/>
              </a:schemeClr>
            </a:solidFill>
            <a:prstDash val="solid"/>
            <a:round/>
            <a:headEnd type="none" w="med" len="med"/>
            <a:tailEnd type="triangle" w="med" len="med"/>
          </a:ln>
        </p:spPr>
        <p:txBody>
          <a:bodyPr/>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252413" y="136525"/>
            <a:ext cx="8858250"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Notation Syntax</a:t>
            </a:r>
            <a:br>
              <a:rPr lang="en-US" altLang="en-US" kern="1200" dirty="0">
                <a:latin typeface="Arial Rounded MT Bold" panose="020F0704030504030204" pitchFamily="34" charset="0"/>
                <a:ea typeface="+mj-ea"/>
                <a:cs typeface="+mj-cs"/>
              </a:rPr>
            </a:br>
            <a:r>
              <a:rPr lang="en-US" altLang="en-US" kern="1200" dirty="0">
                <a:latin typeface="Arial Rounded MT Bold" panose="020F0704030504030204" pitchFamily="34" charset="0"/>
                <a:ea typeface="+mj-ea"/>
                <a:cs typeface="+mj-cs"/>
              </a:rPr>
              <a:t>for Problem Frames</a:t>
            </a:r>
            <a:endParaRPr lang="en-US" altLang="en-US" kern="1200" dirty="0">
              <a:latin typeface="Arial Rounded MT Bold" panose="020F0704030504030204" pitchFamily="34" charset="0"/>
              <a:ea typeface="+mj-ea"/>
              <a:cs typeface="+mj-cs"/>
            </a:endParaRPr>
          </a:p>
        </p:txBody>
      </p:sp>
      <p:sp>
        <p:nvSpPr>
          <p:cNvPr id="19459" name="Rectangle 3"/>
          <p:cNvSpPr>
            <a:spLocks noGrp="1"/>
          </p:cNvSpPr>
          <p:nvPr>
            <p:ph idx="1"/>
          </p:nvPr>
        </p:nvSpPr>
        <p:spPr>
          <a:xfrm>
            <a:off x="382588" y="1600200"/>
            <a:ext cx="8728075" cy="4824413"/>
          </a:xfrm>
        </p:spPr>
        <p:txBody>
          <a:bodyPr vert="horz" wrap="square" lIns="91440" tIns="45720" rIns="91440" bIns="45720" anchor="t" anchorCtr="0"/>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 C  </a:t>
            </a:r>
            <a:r>
              <a:rPr lang="en-US" altLang="en-US" sz="2400" kern="1200" dirty="0">
                <a:latin typeface="Calibri" panose="020F0502020204030204" pitchFamily="34" charset="0"/>
                <a:ea typeface="+mn-ea"/>
                <a:cs typeface="Calibri" panose="020F0502020204030204" pitchFamily="34" charset="0"/>
              </a:rPr>
              <a:t>– causal domain</a:t>
            </a:r>
            <a:endParaRPr lang="en-US" altLang="en-US" sz="2400" kern="1200" dirty="0">
              <a:latin typeface="Calibri" panose="020F0502020204030204" pitchFamily="34" charset="0"/>
              <a:ea typeface="+mn-ea"/>
              <a:cs typeface="Calibri" panose="020F0502020204030204" pitchFamily="34" charset="0"/>
            </a:endParaRPr>
          </a:p>
          <a:p>
            <a:pPr lvl="2" eaLnBrk="1" hangingPunct="1">
              <a:lnSpc>
                <a:spcPct val="90000"/>
              </a:lnSpc>
              <a:buChar char="•"/>
            </a:pPr>
            <a:r>
              <a:rPr lang="en-US" altLang="en-US" sz="1600" dirty="0">
                <a:latin typeface="Calibri" panose="020F0502020204030204" pitchFamily="34" charset="0"/>
                <a:cs typeface="Calibri" panose="020F0502020204030204" pitchFamily="34" charset="0"/>
              </a:rPr>
              <a:t>predictable causal relationships among its causal phenomena</a:t>
            </a:r>
            <a:br>
              <a:rPr lang="en-US" altLang="en-US" sz="1600" dirty="0">
                <a:latin typeface="Calibri" panose="020F0502020204030204" pitchFamily="34" charset="0"/>
                <a:cs typeface="Calibri" panose="020F0502020204030204" pitchFamily="34" charset="0"/>
              </a:rPr>
            </a:br>
            <a:r>
              <a:rPr lang="en-US" altLang="en-US" sz="1600" dirty="0">
                <a:latin typeface="Calibri" panose="020F0502020204030204" pitchFamily="34" charset="0"/>
                <a:cs typeface="Calibri" panose="020F0502020204030204" pitchFamily="34" charset="0"/>
              </a:rPr>
              <a:t>such as physical laws or business contracts or social norms</a:t>
            </a:r>
            <a:endParaRPr lang="en-US" altLang="en-US" sz="1600" dirty="0">
              <a:latin typeface="Calibri" panose="020F0502020204030204" pitchFamily="34" charset="0"/>
              <a:cs typeface="Calibri" panose="020F0502020204030204" pitchFamily="34" charset="0"/>
            </a:endParaRPr>
          </a:p>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 B  </a:t>
            </a:r>
            <a:r>
              <a:rPr lang="en-US" altLang="en-US" sz="2400" kern="1200" dirty="0">
                <a:latin typeface="Calibri" panose="020F0502020204030204" pitchFamily="34" charset="0"/>
                <a:ea typeface="+mn-ea"/>
                <a:cs typeface="Calibri" panose="020F0502020204030204" pitchFamily="34" charset="0"/>
              </a:rPr>
              <a:t>– biddable domain</a:t>
            </a:r>
            <a:endParaRPr lang="en-US" altLang="en-US" sz="2400" kern="1200" dirty="0">
              <a:latin typeface="Calibri" panose="020F0502020204030204" pitchFamily="34" charset="0"/>
              <a:ea typeface="+mn-ea"/>
              <a:cs typeface="Calibri" panose="020F0502020204030204" pitchFamily="34" charset="0"/>
            </a:endParaRPr>
          </a:p>
          <a:p>
            <a:pPr lvl="2" eaLnBrk="1" hangingPunct="1">
              <a:lnSpc>
                <a:spcPct val="90000"/>
              </a:lnSpc>
              <a:buChar char="•"/>
            </a:pPr>
            <a:r>
              <a:rPr lang="en-US" altLang="en-US" sz="1800" dirty="0">
                <a:latin typeface="Calibri" panose="020F0502020204030204" pitchFamily="34" charset="0"/>
                <a:cs typeface="Calibri" panose="020F0502020204030204" pitchFamily="34" charset="0"/>
              </a:rPr>
              <a:t>usually people: unpredictable, incoercible</a:t>
            </a:r>
            <a:endParaRPr lang="en-US" altLang="en-US" sz="1800" dirty="0">
              <a:latin typeface="Calibri" panose="020F0502020204030204" pitchFamily="34" charset="0"/>
              <a:cs typeface="Calibri" panose="020F0502020204030204" pitchFamily="34" charset="0"/>
            </a:endParaRPr>
          </a:p>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 X  </a:t>
            </a:r>
            <a:r>
              <a:rPr lang="en-US" altLang="en-US" sz="2400" kern="1200" dirty="0">
                <a:latin typeface="Calibri" panose="020F0502020204030204" pitchFamily="34" charset="0"/>
                <a:ea typeface="+mn-ea"/>
                <a:cs typeface="Calibri" panose="020F0502020204030204" pitchFamily="34" charset="0"/>
              </a:rPr>
              <a:t>– lexical domain</a:t>
            </a:r>
            <a:endParaRPr lang="en-US" altLang="en-US" sz="2400" kern="1200" dirty="0">
              <a:latin typeface="Calibri" panose="020F0502020204030204" pitchFamily="34" charset="0"/>
              <a:ea typeface="+mn-ea"/>
              <a:cs typeface="Calibri" panose="020F0502020204030204" pitchFamily="34" charset="0"/>
            </a:endParaRPr>
          </a:p>
          <a:p>
            <a:pPr lvl="2" eaLnBrk="1" hangingPunct="1">
              <a:lnSpc>
                <a:spcPct val="90000"/>
              </a:lnSpc>
              <a:buChar char="•"/>
            </a:pPr>
            <a:r>
              <a:rPr lang="en-US" altLang="en-US" sz="1600" dirty="0">
                <a:latin typeface="Calibri" panose="020F0502020204030204" pitchFamily="34" charset="0"/>
                <a:cs typeface="Calibri" panose="020F0502020204030204" pitchFamily="34" charset="0"/>
              </a:rPr>
              <a:t>a physical representation of data (i.e., symbolic phenomena)</a:t>
            </a:r>
            <a:endParaRPr lang="en-US" altLang="en-US" sz="1600" dirty="0">
              <a:latin typeface="Calibri" panose="020F0502020204030204" pitchFamily="34" charset="0"/>
              <a:cs typeface="Calibri" panose="020F0502020204030204" pitchFamily="34" charset="0"/>
            </a:endParaRPr>
          </a:p>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[C</a:t>
            </a:r>
            <a:r>
              <a:rPr lang="en-US" altLang="en-US" sz="28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b="1" kern="1200" dirty="0">
                <a:latin typeface="Calibri" panose="020F0502020204030204" pitchFamily="34" charset="0"/>
                <a:ea typeface="+mn-ea"/>
                <a:cs typeface="Calibri" panose="020F0502020204030204" pitchFamily="34" charset="0"/>
              </a:rPr>
              <a:t>c</a:t>
            </a:r>
            <a:r>
              <a:rPr lang="en-US" altLang="en-US" sz="2400" kern="1200" dirty="0">
                <a:latin typeface="Calibri" panose="020F0502020204030204" pitchFamily="34" charset="0"/>
                <a:ea typeface="+mn-ea"/>
                <a:cs typeface="Calibri" panose="020F0502020204030204" pitchFamily="34" charset="0"/>
              </a:rPr>
              <a:t>ausal phenomena</a:t>
            </a:r>
            <a:endParaRPr lang="en-US" altLang="en-US" sz="2400" kern="1200" dirty="0">
              <a:latin typeface="Calibri" panose="020F0502020204030204" pitchFamily="34" charset="0"/>
              <a:ea typeface="+mn-ea"/>
              <a:cs typeface="Calibri" panose="020F0502020204030204" pitchFamily="34" charset="0"/>
            </a:endParaRPr>
          </a:p>
          <a:p>
            <a:pPr lvl="2" eaLnBrk="1" hangingPunct="1">
              <a:lnSpc>
                <a:spcPct val="90000"/>
              </a:lnSpc>
              <a:buChar char="•"/>
            </a:pPr>
            <a:r>
              <a:rPr lang="en-US" altLang="en-US" sz="1800" dirty="0">
                <a:latin typeface="Calibri" panose="020F0502020204030204" pitchFamily="34" charset="0"/>
                <a:cs typeface="Calibri" panose="020F0502020204030204" pitchFamily="34" charset="0"/>
              </a:rPr>
              <a:t>events, states;  directly produced or controlled by an entity;</a:t>
            </a:r>
            <a:br>
              <a:rPr lang="en-US" altLang="en-US" sz="1800" dirty="0">
                <a:latin typeface="Calibri" panose="020F0502020204030204" pitchFamily="34" charset="0"/>
                <a:cs typeface="Calibri" panose="020F0502020204030204" pitchFamily="34" charset="0"/>
              </a:rPr>
            </a:br>
            <a:r>
              <a:rPr lang="en-US" altLang="en-US" sz="1800" dirty="0">
                <a:latin typeface="Calibri" panose="020F0502020204030204" pitchFamily="34" charset="0"/>
                <a:cs typeface="Calibri" panose="020F0502020204030204" pitchFamily="34" charset="0"/>
              </a:rPr>
              <a:t>can give rise to other phenomena in turn</a:t>
            </a:r>
            <a:endParaRPr lang="en-US" altLang="en-US" sz="1800" dirty="0">
              <a:latin typeface="Calibri" panose="020F0502020204030204" pitchFamily="34" charset="0"/>
              <a:cs typeface="Calibri" panose="020F0502020204030204" pitchFamily="34" charset="0"/>
            </a:endParaRPr>
          </a:p>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[E</a:t>
            </a:r>
            <a:r>
              <a:rPr lang="en-US" altLang="en-US" sz="28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b="1" kern="1200" dirty="0">
                <a:latin typeface="Calibri" panose="020F0502020204030204" pitchFamily="34" charset="0"/>
                <a:ea typeface="+mn-ea"/>
                <a:cs typeface="Calibri" panose="020F0502020204030204" pitchFamily="34" charset="0"/>
              </a:rPr>
              <a:t>e</a:t>
            </a:r>
            <a:r>
              <a:rPr lang="en-US" altLang="en-US" sz="2400" kern="1200" dirty="0">
                <a:latin typeface="Calibri" panose="020F0502020204030204" pitchFamily="34" charset="0"/>
                <a:ea typeface="+mn-ea"/>
                <a:cs typeface="Calibri" panose="020F0502020204030204" pitchFamily="34" charset="0"/>
              </a:rPr>
              <a:t>vents</a:t>
            </a:r>
            <a:endParaRPr lang="en-US" altLang="en-US" sz="2400" kern="1200" dirty="0">
              <a:latin typeface="Calibri" panose="020F0502020204030204" pitchFamily="34" charset="0"/>
              <a:ea typeface="+mn-ea"/>
              <a:cs typeface="Calibri" panose="020F0502020204030204" pitchFamily="34" charset="0"/>
            </a:endParaRPr>
          </a:p>
          <a:p>
            <a:pPr eaLnBrk="1" hangingPunct="1">
              <a:lnSpc>
                <a:spcPct val="90000"/>
              </a:lnSpc>
              <a:buClr>
                <a:srgbClr val="800000"/>
              </a:buClr>
            </a:pPr>
            <a:r>
              <a:rPr lang="en-US" altLang="en-US" sz="2800" kern="1200" dirty="0">
                <a:latin typeface="Calibri" panose="020F0502020204030204" pitchFamily="34" charset="0"/>
                <a:ea typeface="+mn-ea"/>
                <a:cs typeface="Calibri" panose="020F0502020204030204" pitchFamily="34" charset="0"/>
              </a:rPr>
              <a:t>[Y</a:t>
            </a:r>
            <a:r>
              <a:rPr lang="en-US" altLang="en-US" sz="28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kern="1200" dirty="0">
                <a:latin typeface="Calibri" panose="020F0502020204030204" pitchFamily="34" charset="0"/>
                <a:ea typeface="+mn-ea"/>
                <a:cs typeface="Calibri" panose="020F0502020204030204" pitchFamily="34" charset="0"/>
                <a:sym typeface="Symbol" panose="05050102010706020507" pitchFamily="18" charset="2"/>
              </a:rPr>
              <a:t>– </a:t>
            </a:r>
            <a:r>
              <a:rPr lang="en-US" altLang="en-US" sz="2400" kern="1200" dirty="0">
                <a:latin typeface="Calibri" panose="020F0502020204030204" pitchFamily="34" charset="0"/>
                <a:ea typeface="+mn-ea"/>
                <a:cs typeface="Calibri" panose="020F0502020204030204" pitchFamily="34" charset="0"/>
              </a:rPr>
              <a:t>s</a:t>
            </a:r>
            <a:r>
              <a:rPr lang="en-US" altLang="en-US" sz="2400" b="1" kern="1200" dirty="0">
                <a:latin typeface="Calibri" panose="020F0502020204030204" pitchFamily="34" charset="0"/>
                <a:ea typeface="+mn-ea"/>
                <a:cs typeface="Calibri" panose="020F0502020204030204" pitchFamily="34" charset="0"/>
              </a:rPr>
              <a:t>y</a:t>
            </a:r>
            <a:r>
              <a:rPr lang="en-US" altLang="en-US" sz="2400" kern="1200" dirty="0">
                <a:latin typeface="Calibri" panose="020F0502020204030204" pitchFamily="34" charset="0"/>
                <a:ea typeface="+mn-ea"/>
                <a:cs typeface="Calibri" panose="020F0502020204030204" pitchFamily="34" charset="0"/>
              </a:rPr>
              <a:t>mbolic requirement phenomena</a:t>
            </a:r>
            <a:endParaRPr lang="en-US" altLang="en-US" sz="2400" kern="1200" dirty="0">
              <a:latin typeface="Calibri" panose="020F0502020204030204" pitchFamily="34" charset="0"/>
              <a:ea typeface="+mn-ea"/>
              <a:cs typeface="Calibri" panose="020F0502020204030204" pitchFamily="34" charset="0"/>
            </a:endParaRPr>
          </a:p>
          <a:p>
            <a:pPr lvl="2" eaLnBrk="1" hangingPunct="1">
              <a:lnSpc>
                <a:spcPct val="90000"/>
              </a:lnSpc>
            </a:pPr>
            <a:r>
              <a:rPr lang="en-US" altLang="en-US" sz="1600" dirty="0">
                <a:latin typeface="Calibri" panose="020F0502020204030204" pitchFamily="34" charset="0"/>
                <a:cs typeface="Calibri" panose="020F0502020204030204" pitchFamily="34" charset="0"/>
              </a:rPr>
              <a:t>values, and truths and states relating only values;</a:t>
            </a:r>
            <a:br>
              <a:rPr lang="en-US" altLang="en-US" sz="1600" dirty="0">
                <a:latin typeface="Calibri" panose="020F0502020204030204" pitchFamily="34" charset="0"/>
                <a:cs typeface="Calibri" panose="020F0502020204030204" pitchFamily="34" charset="0"/>
              </a:rPr>
            </a:br>
            <a:r>
              <a:rPr lang="en-US" altLang="en-US" sz="1600" dirty="0">
                <a:latin typeface="Calibri" panose="020F0502020204030204" pitchFamily="34" charset="0"/>
                <a:cs typeface="Calibri" panose="020F0502020204030204" pitchFamily="34" charset="0"/>
              </a:rPr>
              <a:t>symbolize other phenomena and relationships among them</a:t>
            </a:r>
            <a:endParaRPr lang="en-US" altLang="en-US" sz="1600" dirty="0">
              <a:latin typeface="Calibri" panose="020F0502020204030204" pitchFamily="34" charset="0"/>
              <a:ea typeface="Calibri" panose="020F0502020204030204" pitchFamily="34" charset="0"/>
            </a:endParaRPr>
          </a:p>
        </p:txBody>
      </p:sp>
      <p:sp>
        <p:nvSpPr>
          <p:cNvPr id="19460" name="Rectangle 4"/>
          <p:cNvSpPr>
            <a:spLocks noChangeAspect="1"/>
          </p:cNvSpPr>
          <p:nvPr/>
        </p:nvSpPr>
        <p:spPr>
          <a:xfrm>
            <a:off x="858838" y="1641475"/>
            <a:ext cx="365125" cy="365125"/>
          </a:xfrm>
          <a:prstGeom prst="rect">
            <a:avLst/>
          </a:prstGeom>
          <a:noFill/>
          <a:ln w="1905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Times New Roman" panose="02020603050405020304" pitchFamily="18" charset="0"/>
            </a:endParaRPr>
          </a:p>
        </p:txBody>
      </p:sp>
      <p:sp>
        <p:nvSpPr>
          <p:cNvPr id="19461" name="Rectangle 5"/>
          <p:cNvSpPr>
            <a:spLocks noChangeAspect="1"/>
          </p:cNvSpPr>
          <p:nvPr/>
        </p:nvSpPr>
        <p:spPr>
          <a:xfrm>
            <a:off x="858838" y="2598738"/>
            <a:ext cx="365125" cy="365125"/>
          </a:xfrm>
          <a:prstGeom prst="rect">
            <a:avLst/>
          </a:prstGeom>
          <a:noFill/>
          <a:ln w="1905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Times New Roman" panose="02020603050405020304" pitchFamily="18" charset="0"/>
            </a:endParaRPr>
          </a:p>
        </p:txBody>
      </p:sp>
      <p:sp>
        <p:nvSpPr>
          <p:cNvPr id="19462" name="Rectangle 6"/>
          <p:cNvSpPr>
            <a:spLocks noChangeAspect="1"/>
          </p:cNvSpPr>
          <p:nvPr/>
        </p:nvSpPr>
        <p:spPr>
          <a:xfrm>
            <a:off x="858838" y="3370263"/>
            <a:ext cx="365125" cy="365125"/>
          </a:xfrm>
          <a:prstGeom prst="rect">
            <a:avLst/>
          </a:prstGeom>
          <a:noFill/>
          <a:ln w="19050" cap="flat" cmpd="sng">
            <a:solidFill>
              <a:schemeClr val="tx1"/>
            </a:solidFill>
            <a:prstDash val="solid"/>
            <a:miter/>
            <a:headEnd type="none" w="med" len="med"/>
            <a:tailEnd type="none" w="med" len="med"/>
          </a:ln>
        </p:spPr>
        <p:txBody>
          <a:bodyPr wrap="none" anchor="ctr" anchorCtr="0"/>
          <a:p>
            <a:pPr eaLnBrk="1" hangingPunct="1"/>
            <a:endParaRPr lang="en-US" altLang="en-US" sz="2400" dirty="0">
              <a:latin typeface="Times New Roman" panose="02020603050405020304" pitchFamily="18" charset="0"/>
            </a:endParaRPr>
          </a:p>
        </p:txBody>
      </p:sp>
      <p:sp>
        <p:nvSpPr>
          <p:cNvPr id="19463" name="Rectangle 7"/>
          <p:cNvSpPr>
            <a:spLocks noChangeAspect="1"/>
          </p:cNvSpPr>
          <p:nvPr/>
        </p:nvSpPr>
        <p:spPr>
          <a:xfrm>
            <a:off x="7723188" y="1731963"/>
            <a:ext cx="928687"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Causal domain</a:t>
            </a:r>
            <a:endParaRPr lang="en-US" altLang="en-US" sz="1000" dirty="0">
              <a:latin typeface="Arial" panose="020B0604020202020204" pitchFamily="34" charset="0"/>
            </a:endParaRPr>
          </a:p>
        </p:txBody>
      </p:sp>
      <p:sp>
        <p:nvSpPr>
          <p:cNvPr id="19464" name="Rectangle 8"/>
          <p:cNvSpPr/>
          <p:nvPr/>
        </p:nvSpPr>
        <p:spPr>
          <a:xfrm>
            <a:off x="8469313" y="2022475"/>
            <a:ext cx="182562" cy="1825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
        <p:nvSpPr>
          <p:cNvPr id="19465" name="Rectangle 9"/>
          <p:cNvSpPr>
            <a:spLocks noChangeAspect="1"/>
          </p:cNvSpPr>
          <p:nvPr/>
        </p:nvSpPr>
        <p:spPr>
          <a:xfrm>
            <a:off x="7723188" y="2687638"/>
            <a:ext cx="928687"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Biddable domain</a:t>
            </a:r>
            <a:endParaRPr lang="en-US" altLang="en-US" sz="1000" dirty="0">
              <a:latin typeface="Arial" panose="020B0604020202020204" pitchFamily="34" charset="0"/>
            </a:endParaRPr>
          </a:p>
        </p:txBody>
      </p:sp>
      <p:sp>
        <p:nvSpPr>
          <p:cNvPr id="19466" name="Rectangle 10"/>
          <p:cNvSpPr/>
          <p:nvPr/>
        </p:nvSpPr>
        <p:spPr>
          <a:xfrm>
            <a:off x="8469313" y="2978150"/>
            <a:ext cx="182562" cy="1825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sp>
        <p:nvSpPr>
          <p:cNvPr id="19467" name="Rectangle 11"/>
          <p:cNvSpPr>
            <a:spLocks noChangeAspect="1"/>
          </p:cNvSpPr>
          <p:nvPr/>
        </p:nvSpPr>
        <p:spPr>
          <a:xfrm>
            <a:off x="7723188" y="3624263"/>
            <a:ext cx="928687"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Lexical domain</a:t>
            </a:r>
            <a:endParaRPr lang="en-US" altLang="en-US" sz="1000" dirty="0">
              <a:latin typeface="Arial" panose="020B0604020202020204" pitchFamily="34" charset="0"/>
            </a:endParaRPr>
          </a:p>
        </p:txBody>
      </p:sp>
      <p:sp>
        <p:nvSpPr>
          <p:cNvPr id="19468" name="Rectangle 12"/>
          <p:cNvSpPr/>
          <p:nvPr/>
        </p:nvSpPr>
        <p:spPr>
          <a:xfrm>
            <a:off x="8469313" y="3914775"/>
            <a:ext cx="182562" cy="1825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grpSp>
        <p:nvGrpSpPr>
          <p:cNvPr id="19469" name="Group 25"/>
          <p:cNvGrpSpPr/>
          <p:nvPr/>
        </p:nvGrpSpPr>
        <p:grpSpPr>
          <a:xfrm>
            <a:off x="6815138" y="5145088"/>
            <a:ext cx="1962150" cy="1162050"/>
            <a:chOff x="4293" y="3241"/>
            <a:chExt cx="1236" cy="732"/>
          </a:xfrm>
        </p:grpSpPr>
        <p:sp>
          <p:nvSpPr>
            <p:cNvPr id="19475" name="Line 15"/>
            <p:cNvSpPr/>
            <p:nvPr/>
          </p:nvSpPr>
          <p:spPr>
            <a:xfrm>
              <a:off x="4466" y="3529"/>
              <a:ext cx="288" cy="0"/>
            </a:xfrm>
            <a:prstGeom prst="line">
              <a:avLst/>
            </a:prstGeom>
            <a:ln w="19050" cap="flat" cmpd="sng">
              <a:solidFill>
                <a:schemeClr val="tx1"/>
              </a:solidFill>
              <a:prstDash val="solid"/>
              <a:headEnd type="none" w="med" len="med"/>
              <a:tailEnd type="none" w="med" len="med"/>
            </a:ln>
          </p:spPr>
        </p:sp>
        <p:sp>
          <p:nvSpPr>
            <p:cNvPr id="19476" name="Line 16"/>
            <p:cNvSpPr/>
            <p:nvPr/>
          </p:nvSpPr>
          <p:spPr>
            <a:xfrm>
              <a:off x="4984" y="3529"/>
              <a:ext cx="288" cy="0"/>
            </a:xfrm>
            <a:prstGeom prst="line">
              <a:avLst/>
            </a:prstGeom>
            <a:ln w="19050" cap="flat" cmpd="sng">
              <a:solidFill>
                <a:schemeClr val="tx1"/>
              </a:solidFill>
              <a:prstDash val="solid"/>
              <a:headEnd type="none" w="med" len="med"/>
              <a:tailEnd type="none" w="med" len="med"/>
            </a:ln>
          </p:spPr>
        </p:sp>
        <p:sp>
          <p:nvSpPr>
            <p:cNvPr id="19477" name="Oval 17"/>
            <p:cNvSpPr>
              <a:spLocks noChangeAspect="1"/>
            </p:cNvSpPr>
            <p:nvPr/>
          </p:nvSpPr>
          <p:spPr>
            <a:xfrm>
              <a:off x="4754" y="3414"/>
              <a:ext cx="230" cy="230"/>
            </a:xfrm>
            <a:prstGeom prst="ellipse">
              <a:avLst/>
            </a:prstGeom>
            <a:solidFill>
              <a:schemeClr val="bg1"/>
            </a:solidFill>
            <a:ln w="19050"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19478" name="Freeform 18"/>
            <p:cNvSpPr/>
            <p:nvPr/>
          </p:nvSpPr>
          <p:spPr>
            <a:xfrm>
              <a:off x="4293" y="3241"/>
              <a:ext cx="173" cy="576"/>
            </a:xfrm>
            <a:custGeom>
              <a:avLst/>
              <a:gdLst>
                <a:gd name="txL" fmla="*/ 0 w 576"/>
                <a:gd name="txT" fmla="*/ 0 h 576"/>
                <a:gd name="txR" fmla="*/ 576 w 576"/>
                <a:gd name="txB" fmla="*/ 576 h 576"/>
              </a:gdLst>
              <a:ahLst/>
              <a:cxnLst>
                <a:cxn ang="0">
                  <a:pos x="0" y="0"/>
                </a:cxn>
                <a:cxn ang="0">
                  <a:pos x="0" y="0"/>
                </a:cxn>
                <a:cxn ang="0">
                  <a:pos x="0" y="576"/>
                </a:cxn>
                <a:cxn ang="0">
                  <a:pos x="0" y="576"/>
                </a:cxn>
              </a:cxnLst>
              <a:rect l="txL" t="txT" r="txR" b="txB"/>
              <a:pathLst>
                <a:path w="576" h="576">
                  <a:moveTo>
                    <a:pt x="0" y="0"/>
                  </a:moveTo>
                  <a:lnTo>
                    <a:pt x="576" y="0"/>
                  </a:lnTo>
                  <a:lnTo>
                    <a:pt x="576" y="576"/>
                  </a:lnTo>
                  <a:lnTo>
                    <a:pt x="0" y="576"/>
                  </a:lnTo>
                </a:path>
              </a:pathLst>
            </a:custGeom>
            <a:solidFill>
              <a:schemeClr val="bg1">
                <a:alpha val="100000"/>
              </a:schemeClr>
            </a:solidFill>
            <a:ln w="28575" cap="flat" cmpd="dbl">
              <a:solidFill>
                <a:schemeClr val="tx1">
                  <a:alpha val="100000"/>
                </a:schemeClr>
              </a:solidFill>
              <a:prstDash val="solid"/>
              <a:round/>
              <a:headEnd type="none" w="med" len="med"/>
              <a:tailEnd type="none" w="med" len="med"/>
            </a:ln>
          </p:spPr>
          <p:txBody>
            <a:bodyPr/>
            <a:p>
              <a:endParaRPr lang="zh-CN" altLang="en-US"/>
            </a:p>
          </p:txBody>
        </p:sp>
        <p:sp>
          <p:nvSpPr>
            <p:cNvPr id="19479" name="Freeform 19"/>
            <p:cNvSpPr/>
            <p:nvPr/>
          </p:nvSpPr>
          <p:spPr>
            <a:xfrm>
              <a:off x="5272" y="3241"/>
              <a:ext cx="173" cy="576"/>
            </a:xfrm>
            <a:custGeom>
              <a:avLst/>
              <a:gdLst>
                <a:gd name="txL" fmla="*/ 0 w 576"/>
                <a:gd name="txT" fmla="*/ 0 h 576"/>
                <a:gd name="txR" fmla="*/ 576 w 576"/>
                <a:gd name="txB" fmla="*/ 576 h 576"/>
              </a:gdLst>
              <a:ahLst/>
              <a:cxnLst>
                <a:cxn ang="0">
                  <a:pos x="0" y="0"/>
                </a:cxn>
                <a:cxn ang="0">
                  <a:pos x="0" y="0"/>
                </a:cxn>
                <a:cxn ang="0">
                  <a:pos x="0" y="576"/>
                </a:cxn>
                <a:cxn ang="0">
                  <a:pos x="0" y="576"/>
                </a:cxn>
              </a:cxnLst>
              <a:rect l="txL" t="txT" r="txR" b="txB"/>
              <a:pathLst>
                <a:path w="576" h="576">
                  <a:moveTo>
                    <a:pt x="576" y="0"/>
                  </a:moveTo>
                  <a:lnTo>
                    <a:pt x="0" y="0"/>
                  </a:lnTo>
                  <a:lnTo>
                    <a:pt x="0" y="576"/>
                  </a:lnTo>
                  <a:lnTo>
                    <a:pt x="576" y="576"/>
                  </a:lnTo>
                </a:path>
              </a:pathLst>
            </a:custGeom>
            <a:solidFill>
              <a:schemeClr val="bg1">
                <a:alpha val="100000"/>
              </a:schemeClr>
            </a:solid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19480" name="Text Box 20"/>
            <p:cNvSpPr txBox="1">
              <a:spLocks noChangeAspect="1"/>
            </p:cNvSpPr>
            <p:nvPr/>
          </p:nvSpPr>
          <p:spPr>
            <a:xfrm rot="-5400000">
              <a:off x="4195" y="3470"/>
              <a:ext cx="335" cy="116"/>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System</a:t>
              </a:r>
              <a:endParaRPr lang="en-US" altLang="en-US" sz="1200" dirty="0">
                <a:latin typeface="Arial" panose="020B0604020202020204" pitchFamily="34" charset="0"/>
              </a:endParaRPr>
            </a:p>
          </p:txBody>
        </p:sp>
        <p:sp>
          <p:nvSpPr>
            <p:cNvPr id="19481" name="Text Box 21"/>
            <p:cNvSpPr txBox="1">
              <a:spLocks noChangeAspect="1"/>
            </p:cNvSpPr>
            <p:nvPr/>
          </p:nvSpPr>
          <p:spPr>
            <a:xfrm rot="-5400000">
              <a:off x="5230" y="3414"/>
              <a:ext cx="368" cy="230"/>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Problem</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Domain</a:t>
              </a:r>
              <a:endParaRPr lang="en-US" altLang="en-US" sz="1200" dirty="0">
                <a:latin typeface="Arial" panose="020B0604020202020204" pitchFamily="34" charset="0"/>
              </a:endParaRPr>
            </a:p>
          </p:txBody>
        </p:sp>
        <p:sp>
          <p:nvSpPr>
            <p:cNvPr id="19482" name="Text Box 22"/>
            <p:cNvSpPr txBox="1">
              <a:spLocks noChangeAspect="1"/>
            </p:cNvSpPr>
            <p:nvPr/>
          </p:nvSpPr>
          <p:spPr>
            <a:xfrm>
              <a:off x="4708" y="3740"/>
              <a:ext cx="460" cy="233"/>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S ! E1</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    PD ! C2</a:t>
              </a:r>
              <a:endParaRPr lang="en-US" altLang="en-US" sz="1200" dirty="0">
                <a:latin typeface="Arial" panose="020B0604020202020204" pitchFamily="34" charset="0"/>
              </a:endParaRPr>
            </a:p>
          </p:txBody>
        </p:sp>
      </p:grpSp>
      <p:sp>
        <p:nvSpPr>
          <p:cNvPr id="19470" name="Line 23"/>
          <p:cNvSpPr/>
          <p:nvPr/>
        </p:nvSpPr>
        <p:spPr>
          <a:xfrm>
            <a:off x="7723188" y="3624263"/>
            <a:ext cx="0" cy="474662"/>
          </a:xfrm>
          <a:prstGeom prst="line">
            <a:avLst/>
          </a:prstGeom>
          <a:ln w="38100" cap="flat" cmpd="dbl">
            <a:solidFill>
              <a:schemeClr val="tx1"/>
            </a:solidFill>
            <a:prstDash val="solid"/>
            <a:headEnd type="none" w="med" len="med"/>
            <a:tailEnd type="none" w="med" len="med"/>
          </a:ln>
        </p:spPr>
      </p:sp>
      <p:sp>
        <p:nvSpPr>
          <p:cNvPr id="19471" name="Oval 24"/>
          <p:cNvSpPr/>
          <p:nvPr/>
        </p:nvSpPr>
        <p:spPr>
          <a:xfrm>
            <a:off x="6775450" y="5738813"/>
            <a:ext cx="296863" cy="152400"/>
          </a:xfrm>
          <a:prstGeom prst="ellipse">
            <a:avLst/>
          </a:prstGeom>
          <a:noFill/>
          <a:ln w="9525" cap="flat" cmpd="sng">
            <a:solidFill>
              <a:srgbClr val="FF0000"/>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19472" name="Freeform 25"/>
          <p:cNvSpPr/>
          <p:nvPr/>
        </p:nvSpPr>
        <p:spPr>
          <a:xfrm>
            <a:off x="7075488" y="5792788"/>
            <a:ext cx="582612" cy="139700"/>
          </a:xfrm>
          <a:custGeom>
            <a:avLst/>
            <a:gdLst>
              <a:gd name="txL" fmla="*/ 0 w 367"/>
              <a:gd name="txT" fmla="*/ 0 h 88"/>
              <a:gd name="txR" fmla="*/ 367 w 367"/>
              <a:gd name="txB" fmla="*/ 88 h 88"/>
            </a:gdLst>
            <a:ahLst/>
            <a:cxnLst>
              <a:cxn ang="0">
                <a:pos x="0" y="2147483647"/>
              </a:cxn>
              <a:cxn ang="0">
                <a:pos x="2147483647" y="2147483647"/>
              </a:cxn>
              <a:cxn ang="0">
                <a:pos x="2147483647" y="2147483647"/>
              </a:cxn>
            </a:cxnLst>
            <a:rect l="txL" t="txT" r="txR" b="txB"/>
            <a:pathLst>
              <a:path w="367" h="88">
                <a:moveTo>
                  <a:pt x="0" y="19"/>
                </a:moveTo>
                <a:cubicBezTo>
                  <a:pt x="90" y="9"/>
                  <a:pt x="132" y="88"/>
                  <a:pt x="183" y="49"/>
                </a:cubicBezTo>
                <a:cubicBezTo>
                  <a:pt x="234" y="10"/>
                  <a:pt x="322" y="0"/>
                  <a:pt x="367" y="84"/>
                </a:cubicBezTo>
              </a:path>
            </a:pathLst>
          </a:custGeom>
          <a:noFill/>
          <a:ln w="9525" cap="flat" cmpd="sng">
            <a:solidFill>
              <a:srgbClr val="FF0000">
                <a:alpha val="100000"/>
              </a:srgbClr>
            </a:solidFill>
            <a:prstDash val="solid"/>
            <a:round/>
            <a:headEnd type="none" w="med" len="med"/>
            <a:tailEnd type="triangle" w="med" len="med"/>
          </a:ln>
        </p:spPr>
        <p:txBody>
          <a:bodyPr/>
          <a:p>
            <a:endParaRPr lang="zh-CN" altLang="en-US"/>
          </a:p>
        </p:txBody>
      </p:sp>
      <p:sp>
        <p:nvSpPr>
          <p:cNvPr id="19473" name="Oval 26"/>
          <p:cNvSpPr/>
          <p:nvPr/>
        </p:nvSpPr>
        <p:spPr>
          <a:xfrm>
            <a:off x="8399463" y="5762625"/>
            <a:ext cx="403225" cy="165100"/>
          </a:xfrm>
          <a:prstGeom prst="ellipse">
            <a:avLst/>
          </a:prstGeom>
          <a:noFill/>
          <a:ln w="9525" cap="flat" cmpd="sng">
            <a:solidFill>
              <a:srgbClr val="FF0000"/>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19474" name="Freeform 27"/>
          <p:cNvSpPr/>
          <p:nvPr/>
        </p:nvSpPr>
        <p:spPr>
          <a:xfrm>
            <a:off x="7756525" y="5927725"/>
            <a:ext cx="852488" cy="647700"/>
          </a:xfrm>
          <a:custGeom>
            <a:avLst/>
            <a:gdLst>
              <a:gd name="txL" fmla="*/ 0 w 537"/>
              <a:gd name="txT" fmla="*/ 0 h 408"/>
              <a:gd name="txR" fmla="*/ 537 w 537"/>
              <a:gd name="txB" fmla="*/ 408 h 408"/>
            </a:gdLst>
            <a:ahLst/>
            <a:cxnLst>
              <a:cxn ang="0">
                <a:pos x="2147483647" y="0"/>
              </a:cxn>
              <a:cxn ang="0">
                <a:pos x="2147483647" y="2147483647"/>
              </a:cxn>
              <a:cxn ang="0">
                <a:pos x="0" y="2147483647"/>
              </a:cxn>
            </a:cxnLst>
            <a:rect l="txL" t="txT" r="txR" b="txB"/>
            <a:pathLst>
              <a:path w="537" h="408">
                <a:moveTo>
                  <a:pt x="537" y="0"/>
                </a:moveTo>
                <a:cubicBezTo>
                  <a:pt x="537" y="249"/>
                  <a:pt x="393" y="109"/>
                  <a:pt x="367" y="231"/>
                </a:cubicBezTo>
                <a:cubicBezTo>
                  <a:pt x="341" y="353"/>
                  <a:pt x="90" y="408"/>
                  <a:pt x="0" y="244"/>
                </a:cubicBezTo>
              </a:path>
            </a:pathLst>
          </a:custGeom>
          <a:noFill/>
          <a:ln w="9525" cap="flat" cmpd="sng">
            <a:solidFill>
              <a:srgbClr val="FF0000">
                <a:alpha val="100000"/>
              </a:srgbClr>
            </a:solidFill>
            <a:prstDash val="solid"/>
            <a:round/>
            <a:headEnd type="none" w="med" len="med"/>
            <a:tailEnd type="triangle" w="med" len="med"/>
          </a:ln>
        </p:spPr>
        <p:txBody>
          <a:bodyPr/>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252413" y="136525"/>
            <a:ext cx="8858250" cy="1143000"/>
          </a:xfrm>
        </p:spPr>
        <p:txBody>
          <a:bodyPr vert="horz" wrap="square" lIns="0" tIns="45720" rIns="0" bIns="45720" anchor="ctr" anchorCtr="0"/>
          <a:p>
            <a:pPr eaLnBrk="1" hangingPunct="1"/>
            <a:r>
              <a:rPr lang="en-US" altLang="en-US" kern="1200" dirty="0">
                <a:latin typeface="Arial Rounded MT Bold" panose="020F0704030504030204" pitchFamily="34" charset="0"/>
                <a:ea typeface="+mj-ea"/>
                <a:cs typeface="+mj-cs"/>
              </a:rPr>
              <a:t>Example: Problem Decomposition</a:t>
            </a:r>
            <a:endParaRPr lang="en-US" altLang="en-US" kern="1200" dirty="0">
              <a:latin typeface="Arial Rounded MT Bold" panose="020F0704030504030204" pitchFamily="34" charset="0"/>
              <a:ea typeface="+mj-ea"/>
              <a:cs typeface="+mj-cs"/>
            </a:endParaRPr>
          </a:p>
        </p:txBody>
      </p:sp>
      <p:sp>
        <p:nvSpPr>
          <p:cNvPr id="20483" name="Rectangle 3"/>
          <p:cNvSpPr>
            <a:spLocks noGrp="1"/>
          </p:cNvSpPr>
          <p:nvPr>
            <p:ph idx="1"/>
          </p:nvPr>
        </p:nvSpPr>
        <p:spPr>
          <a:xfrm>
            <a:off x="382588" y="1600200"/>
            <a:ext cx="8728075" cy="4824413"/>
          </a:xfrm>
        </p:spPr>
        <p:txBody>
          <a:bodyPr vert="horz" wrap="square" lIns="91440" tIns="45720" rIns="91440" bIns="45720" anchor="t" anchorCtr="0"/>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REQ1: keep door locked and auto-lock</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REQ2: lock when “LOCK” pressed</a:t>
            </a:r>
            <a:endParaRPr lang="en-US" altLang="en-US" sz="2000" kern="1200" dirty="0">
              <a:latin typeface="Calibri" panose="020F0502020204030204" pitchFamily="34" charset="0"/>
              <a:ea typeface="+mn-ea"/>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REQ3: unlock when valid key provided</a:t>
            </a:r>
            <a:endParaRPr lang="en-US" altLang="en-US" sz="2000" kern="1200" dirty="0">
              <a:latin typeface="Calibri" panose="020F0502020204030204" pitchFamily="34" charset="0"/>
              <a:ea typeface="+mn-ea"/>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REQ4: allow mistakes but prevent dictionary attacks</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REQ5: maintain a history log</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REQ6: adding/removing users at runtime</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REQ7: configuring device activation preferences</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REQ8: inspecting the access history</a:t>
            </a:r>
            <a:endParaRPr lang="en-US" altLang="en-US" sz="2000" kern="1200" dirty="0">
              <a:latin typeface="Calibri" panose="020F0502020204030204" pitchFamily="34" charset="0"/>
              <a:ea typeface="+mn-ea"/>
              <a:cs typeface="Calibri" panose="020F0502020204030204" pitchFamily="34" charset="0"/>
            </a:endParaRPr>
          </a:p>
          <a:p>
            <a:pPr lvl="1" eaLnBrk="1" hangingPunct="1">
              <a:lnSpc>
                <a:spcPct val="80000"/>
              </a:lnSpc>
              <a:buNone/>
            </a:pPr>
            <a:endParaRPr lang="en-US" altLang="en-US" sz="2000" dirty="0">
              <a:latin typeface="Calibri" panose="020F0502020204030204" pitchFamily="34" charset="0"/>
              <a:cs typeface="Calibri" panose="020F0502020204030204" pitchFamily="34" charset="0"/>
            </a:endParaRPr>
          </a:p>
          <a:p>
            <a:pPr eaLnBrk="1" hangingPunct="1">
              <a:lnSpc>
                <a:spcPct val="80000"/>
              </a:lnSpc>
              <a:buClr>
                <a:srgbClr val="800000"/>
              </a:buClr>
            </a:pPr>
            <a:r>
              <a:rPr lang="en-US" altLang="en-US" sz="2000" kern="1200" dirty="0">
                <a:latin typeface="Calibri" panose="020F0502020204030204" pitchFamily="34" charset="0"/>
                <a:ea typeface="+mn-ea"/>
                <a:cs typeface="Calibri" panose="020F0502020204030204" pitchFamily="34" charset="0"/>
              </a:rPr>
              <a:t>REQ9: filing inquiries</a:t>
            </a:r>
            <a:endParaRPr lang="en-US" altLang="en-US" sz="2000" kern="1200" dirty="0">
              <a:latin typeface="Calibri" panose="020F0502020204030204" pitchFamily="34" charset="0"/>
              <a:ea typeface="Calibri" panose="020F0502020204030204" pitchFamily="34" charset="0"/>
              <a:cs typeface="+mn-cs"/>
            </a:endParaRPr>
          </a:p>
        </p:txBody>
      </p:sp>
      <p:sp>
        <p:nvSpPr>
          <p:cNvPr id="20484" name="Rectangle 6"/>
          <p:cNvSpPr/>
          <p:nvPr/>
        </p:nvSpPr>
        <p:spPr>
          <a:xfrm>
            <a:off x="5748338" y="1582738"/>
            <a:ext cx="2128837"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Required Behavior</a:t>
            </a:r>
            <a:endParaRPr lang="en-US" altLang="en-US" dirty="0">
              <a:latin typeface="Comic Sans MS" panose="030F0702030302020204" pitchFamily="66" charset="0"/>
            </a:endParaRPr>
          </a:p>
        </p:txBody>
      </p:sp>
      <p:sp>
        <p:nvSpPr>
          <p:cNvPr id="20485" name="Rectangle 7"/>
          <p:cNvSpPr/>
          <p:nvPr/>
        </p:nvSpPr>
        <p:spPr>
          <a:xfrm>
            <a:off x="5829300" y="2298700"/>
            <a:ext cx="2435225" cy="379413"/>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Commanded Behavior</a:t>
            </a:r>
            <a:endParaRPr lang="en-US" altLang="en-US" dirty="0">
              <a:latin typeface="Comic Sans MS" panose="030F0702030302020204" pitchFamily="66" charset="0"/>
            </a:endParaRPr>
          </a:p>
        </p:txBody>
      </p:sp>
      <p:sp>
        <p:nvSpPr>
          <p:cNvPr id="20486" name="Rectangle 8"/>
          <p:cNvSpPr/>
          <p:nvPr/>
        </p:nvSpPr>
        <p:spPr>
          <a:xfrm>
            <a:off x="4502150" y="3382963"/>
            <a:ext cx="4306888"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Information Display (</a:t>
            </a:r>
            <a:r>
              <a:rPr lang="en-US" altLang="en-US" sz="1200" dirty="0">
                <a:latin typeface="Comic Sans MS" panose="030F0702030302020204" pitchFamily="66" charset="0"/>
              </a:rPr>
              <a:t>database is the “display”</a:t>
            </a:r>
            <a:r>
              <a:rPr lang="en-US" altLang="en-US" dirty="0">
                <a:latin typeface="Comic Sans MS" panose="030F0702030302020204" pitchFamily="66" charset="0"/>
              </a:rPr>
              <a:t>)</a:t>
            </a:r>
            <a:endParaRPr lang="en-US" altLang="en-US" dirty="0">
              <a:latin typeface="Comic Sans MS" panose="030F0702030302020204" pitchFamily="66" charset="0"/>
            </a:endParaRPr>
          </a:p>
        </p:txBody>
      </p:sp>
      <p:sp>
        <p:nvSpPr>
          <p:cNvPr id="20487" name="Rectangle 9"/>
          <p:cNvSpPr/>
          <p:nvPr/>
        </p:nvSpPr>
        <p:spPr>
          <a:xfrm>
            <a:off x="6831013" y="4652963"/>
            <a:ext cx="1730375" cy="369887"/>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Simple Editing</a:t>
            </a:r>
            <a:endParaRPr lang="en-US" altLang="en-US" dirty="0">
              <a:latin typeface="Comic Sans MS" panose="030F0702030302020204" pitchFamily="66" charset="0"/>
            </a:endParaRPr>
          </a:p>
        </p:txBody>
      </p:sp>
      <p:sp>
        <p:nvSpPr>
          <p:cNvPr id="20488" name="Rectangle 10"/>
          <p:cNvSpPr/>
          <p:nvPr/>
        </p:nvSpPr>
        <p:spPr>
          <a:xfrm>
            <a:off x="5465763" y="5291138"/>
            <a:ext cx="2322512"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Information Display</a:t>
            </a:r>
            <a:endParaRPr lang="en-US" altLang="en-US" dirty="0">
              <a:latin typeface="Comic Sans MS" panose="030F0702030302020204" pitchFamily="66" charset="0"/>
            </a:endParaRPr>
          </a:p>
        </p:txBody>
      </p:sp>
      <p:sp>
        <p:nvSpPr>
          <p:cNvPr id="20489" name="Rectangle 11"/>
          <p:cNvSpPr/>
          <p:nvPr/>
        </p:nvSpPr>
        <p:spPr>
          <a:xfrm>
            <a:off x="3681413" y="5940425"/>
            <a:ext cx="1730375" cy="369888"/>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Simple Editing</a:t>
            </a:r>
            <a:endParaRPr lang="en-US" altLang="en-US" dirty="0">
              <a:latin typeface="Comic Sans MS" panose="030F0702030302020204" pitchFamily="66" charset="0"/>
            </a:endParaRPr>
          </a:p>
        </p:txBody>
      </p:sp>
      <p:sp>
        <p:nvSpPr>
          <p:cNvPr id="20490" name="Rectangle 12"/>
          <p:cNvSpPr/>
          <p:nvPr/>
        </p:nvSpPr>
        <p:spPr>
          <a:xfrm>
            <a:off x="6027738" y="4008438"/>
            <a:ext cx="1730375" cy="369887"/>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Simple Editing</a:t>
            </a:r>
            <a:endParaRPr lang="en-US" altLang="en-US" dirty="0">
              <a:latin typeface="Comic Sans MS" panose="030F0702030302020204" pitchFamily="66" charset="0"/>
            </a:endParaRPr>
          </a:p>
        </p:txBody>
      </p:sp>
      <p:sp>
        <p:nvSpPr>
          <p:cNvPr id="20491" name="Rectangle 13"/>
          <p:cNvSpPr/>
          <p:nvPr/>
        </p:nvSpPr>
        <p:spPr>
          <a:xfrm>
            <a:off x="149225" y="1187450"/>
            <a:ext cx="3573463" cy="336550"/>
          </a:xfrm>
          <a:prstGeom prst="rect">
            <a:avLst/>
          </a:prstGeom>
          <a:solidFill>
            <a:schemeClr val="bg1"/>
          </a:solid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 ]</a:t>
            </a:r>
            <a:endParaRPr lang="en-US" altLang="en-US" sz="1600" dirty="0">
              <a:solidFill>
                <a:srgbClr val="777777"/>
              </a:solidFill>
              <a:latin typeface="Comic Sans MS" panose="030F0702030302020204" pitchFamily="66"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252413" y="136525"/>
            <a:ext cx="8858250" cy="1143000"/>
          </a:xfrm>
        </p:spPr>
        <p:txBody>
          <a:bodyPr vert="horz" wrap="square" lIns="0" tIns="45720" rIns="0" bIns="45720" anchor="ctr" anchorCtr="0"/>
          <a:p>
            <a:pPr eaLnBrk="1" hangingPunct="1"/>
            <a:r>
              <a:rPr lang="en-US" altLang="en-US" kern="1200" dirty="0">
                <a:latin typeface="Arial Rounded MT Bold" panose="020F0704030504030204" pitchFamily="34" charset="0"/>
                <a:ea typeface="+mj-ea"/>
                <a:cs typeface="+mj-cs"/>
              </a:rPr>
              <a:t>Example: Problem Decomposition</a:t>
            </a:r>
            <a:endParaRPr lang="en-US" altLang="en-US" kern="1200" dirty="0">
              <a:latin typeface="Arial Rounded MT Bold" panose="020F0704030504030204" pitchFamily="34" charset="0"/>
              <a:ea typeface="+mj-ea"/>
              <a:cs typeface="+mj-cs"/>
            </a:endParaRPr>
          </a:p>
        </p:txBody>
      </p:sp>
      <p:sp>
        <p:nvSpPr>
          <p:cNvPr id="21507" name="Rectangle 3"/>
          <p:cNvSpPr>
            <a:spLocks noGrp="1"/>
          </p:cNvSpPr>
          <p:nvPr>
            <p:ph idx="1"/>
          </p:nvPr>
        </p:nvSpPr>
        <p:spPr>
          <a:xfrm>
            <a:off x="415925" y="1530350"/>
            <a:ext cx="8728075" cy="4824413"/>
          </a:xfrm>
        </p:spPr>
        <p:txBody>
          <a:bodyPr vert="horz" wrap="square" lIns="91440" tIns="45720" rIns="91440" bIns="45720" anchor="t" anchorCtr="0"/>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REQ1: view market prices and volumes</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exchange, display</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REQ2: place a trade</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investor, tradable-securities, pending-trades</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REQ3: execute trades when conditions matched</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exchange, pending-trades</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REQ4: generate periodic report</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portfolio, report</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REQ5: generate leaderboard</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all-portfolios, leaderboard</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REQ6: view leaderboard</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leaderboard, display</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REQ7: start a trading group/clique</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buChar char="–"/>
            </a:pPr>
            <a:r>
              <a:rPr lang="en-US" altLang="en-US" sz="1800" dirty="0">
                <a:latin typeface="Calibri" panose="020F0502020204030204" pitchFamily="34" charset="0"/>
                <a:cs typeface="Calibri" panose="020F0502020204030204" pitchFamily="34" charset="0"/>
              </a:rPr>
              <a:t>Domains: investor, group</a:t>
            </a:r>
            <a:endParaRPr lang="en-US" altLang="en-US" sz="1800" dirty="0">
              <a:latin typeface="Calibri" panose="020F0502020204030204" pitchFamily="34" charset="0"/>
              <a:cs typeface="Calibri" panose="020F0502020204030204" pitchFamily="34" charset="0"/>
            </a:endParaRPr>
          </a:p>
          <a:p>
            <a:pPr eaLnBrk="1" hangingPunct="1">
              <a:spcBef>
                <a:spcPts val="300"/>
              </a:spcBef>
              <a:buClr>
                <a:srgbClr val="800000"/>
              </a:buClr>
            </a:pPr>
            <a:r>
              <a:rPr lang="en-US" altLang="en-US" sz="1800" kern="1200" dirty="0">
                <a:latin typeface="Calibri" panose="020F0502020204030204" pitchFamily="34" charset="0"/>
                <a:ea typeface="+mn-ea"/>
                <a:cs typeface="Calibri" panose="020F0502020204030204" pitchFamily="34" charset="0"/>
              </a:rPr>
              <a:t>REQ8: invite to a trading group/clique</a:t>
            </a:r>
            <a:endParaRPr lang="en-US" altLang="en-US" sz="1800" kern="1200" dirty="0">
              <a:latin typeface="Calibri" panose="020F0502020204030204" pitchFamily="34" charset="0"/>
              <a:ea typeface="+mn-ea"/>
              <a:cs typeface="Calibri" panose="020F0502020204030204" pitchFamily="34" charset="0"/>
            </a:endParaRPr>
          </a:p>
          <a:p>
            <a:pPr lvl="1" eaLnBrk="1" hangingPunct="1">
              <a:spcBef>
                <a:spcPts val="300"/>
              </a:spcBef>
            </a:pPr>
            <a:r>
              <a:rPr lang="en-US" altLang="en-US" sz="1800" dirty="0">
                <a:latin typeface="Calibri" panose="020F0502020204030204" pitchFamily="34" charset="0"/>
                <a:cs typeface="Calibri" panose="020F0502020204030204" pitchFamily="34" charset="0"/>
              </a:rPr>
              <a:t>Domains: investor, friends, group</a:t>
            </a:r>
            <a:endParaRPr lang="en-US" altLang="en-US" sz="1800" dirty="0">
              <a:latin typeface="Calibri" panose="020F0502020204030204" pitchFamily="34" charset="0"/>
              <a:ea typeface="Calibri" panose="020F0502020204030204" pitchFamily="34" charset="0"/>
            </a:endParaRPr>
          </a:p>
        </p:txBody>
      </p:sp>
      <p:sp>
        <p:nvSpPr>
          <p:cNvPr id="21508" name="Rectangle 4"/>
          <p:cNvSpPr/>
          <p:nvPr/>
        </p:nvSpPr>
        <p:spPr>
          <a:xfrm>
            <a:off x="5792788" y="2898775"/>
            <a:ext cx="2128837" cy="379413"/>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Required Behavior</a:t>
            </a:r>
            <a:endParaRPr lang="en-US" altLang="en-US" dirty="0">
              <a:latin typeface="Comic Sans MS" panose="030F0702030302020204" pitchFamily="66" charset="0"/>
            </a:endParaRPr>
          </a:p>
        </p:txBody>
      </p:sp>
      <p:sp>
        <p:nvSpPr>
          <p:cNvPr id="21509" name="Rectangle 5"/>
          <p:cNvSpPr/>
          <p:nvPr/>
        </p:nvSpPr>
        <p:spPr>
          <a:xfrm>
            <a:off x="5740400" y="6091238"/>
            <a:ext cx="2435225"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Commanded Behavior</a:t>
            </a:r>
            <a:endParaRPr lang="en-US" altLang="en-US" dirty="0">
              <a:latin typeface="Comic Sans MS" panose="030F0702030302020204" pitchFamily="66" charset="0"/>
            </a:endParaRPr>
          </a:p>
        </p:txBody>
      </p:sp>
      <p:sp>
        <p:nvSpPr>
          <p:cNvPr id="21510" name="Rectangle 7"/>
          <p:cNvSpPr/>
          <p:nvPr/>
        </p:nvSpPr>
        <p:spPr>
          <a:xfrm>
            <a:off x="5030788" y="2173288"/>
            <a:ext cx="1730375" cy="369887"/>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Simple Editing</a:t>
            </a:r>
            <a:endParaRPr lang="en-US" altLang="en-US" dirty="0">
              <a:latin typeface="Comic Sans MS" panose="030F0702030302020204" pitchFamily="66" charset="0"/>
            </a:endParaRPr>
          </a:p>
        </p:txBody>
      </p:sp>
      <p:sp>
        <p:nvSpPr>
          <p:cNvPr id="21511" name="Rectangle 8"/>
          <p:cNvSpPr/>
          <p:nvPr/>
        </p:nvSpPr>
        <p:spPr>
          <a:xfrm>
            <a:off x="4600575" y="4808538"/>
            <a:ext cx="2322513"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Information Display</a:t>
            </a:r>
            <a:endParaRPr lang="en-US" altLang="en-US" dirty="0">
              <a:latin typeface="Comic Sans MS" panose="030F0702030302020204" pitchFamily="66" charset="0"/>
            </a:endParaRPr>
          </a:p>
        </p:txBody>
      </p:sp>
      <p:sp>
        <p:nvSpPr>
          <p:cNvPr id="21512" name="Rectangle 9"/>
          <p:cNvSpPr/>
          <p:nvPr/>
        </p:nvSpPr>
        <p:spPr>
          <a:xfrm>
            <a:off x="5370513" y="5449888"/>
            <a:ext cx="1730375" cy="369887"/>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Simple Editing</a:t>
            </a:r>
            <a:endParaRPr lang="en-US" altLang="en-US" dirty="0">
              <a:latin typeface="Comic Sans MS" panose="030F0702030302020204" pitchFamily="66" charset="0"/>
            </a:endParaRPr>
          </a:p>
        </p:txBody>
      </p:sp>
      <p:sp>
        <p:nvSpPr>
          <p:cNvPr id="21513" name="Rectangle 11"/>
          <p:cNvSpPr/>
          <p:nvPr/>
        </p:nvSpPr>
        <p:spPr>
          <a:xfrm>
            <a:off x="5775325" y="1573213"/>
            <a:ext cx="2322513"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Information Display</a:t>
            </a:r>
            <a:endParaRPr lang="en-US" altLang="en-US" dirty="0">
              <a:latin typeface="Comic Sans MS" panose="030F0702030302020204" pitchFamily="66" charset="0"/>
            </a:endParaRPr>
          </a:p>
        </p:txBody>
      </p:sp>
      <p:sp>
        <p:nvSpPr>
          <p:cNvPr id="21514" name="Rectangle 12"/>
          <p:cNvSpPr/>
          <p:nvPr/>
        </p:nvSpPr>
        <p:spPr>
          <a:xfrm>
            <a:off x="4767263" y="3529013"/>
            <a:ext cx="1862137" cy="379412"/>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Transformation</a:t>
            </a:r>
            <a:endParaRPr lang="en-US" altLang="en-US" dirty="0">
              <a:latin typeface="Comic Sans MS" panose="030F0702030302020204" pitchFamily="66" charset="0"/>
            </a:endParaRPr>
          </a:p>
        </p:txBody>
      </p:sp>
      <p:sp>
        <p:nvSpPr>
          <p:cNvPr id="21515" name="Rectangle 13"/>
          <p:cNvSpPr/>
          <p:nvPr/>
        </p:nvSpPr>
        <p:spPr>
          <a:xfrm>
            <a:off x="5000625" y="4175125"/>
            <a:ext cx="1862138" cy="379413"/>
          </a:xfrm>
          <a:prstGeom prst="rect">
            <a:avLst/>
          </a:prstGeom>
          <a:solidFill>
            <a:srgbClr val="FFFFCC"/>
          </a:solidFill>
          <a:ln w="12700" cap="flat" cmpd="sng">
            <a:solidFill>
              <a:srgbClr val="FF0000"/>
            </a:solidFill>
            <a:prstDash val="solid"/>
            <a:miter/>
            <a:headEnd type="none" w="med" len="med"/>
            <a:tailEnd type="none" w="med" len="med"/>
          </a:ln>
        </p:spPr>
        <p:txBody>
          <a:bodyPr wrap="none">
            <a:spAutoFit/>
          </a:bodyPr>
          <a:p>
            <a:pPr eaLnBrk="1" hangingPunct="1"/>
            <a:r>
              <a:rPr lang="en-US" altLang="en-US" dirty="0">
                <a:latin typeface="Comic Sans MS" panose="030F0702030302020204" pitchFamily="66" charset="0"/>
              </a:rPr>
              <a:t>Transformation</a:t>
            </a:r>
            <a:endParaRPr lang="en-US" altLang="en-US" dirty="0">
              <a:latin typeface="Comic Sans MS" panose="030F0702030302020204" pitchFamily="66" charset="0"/>
            </a:endParaRPr>
          </a:p>
        </p:txBody>
      </p:sp>
      <p:sp>
        <p:nvSpPr>
          <p:cNvPr id="21516" name="Rectangle 14"/>
          <p:cNvSpPr/>
          <p:nvPr/>
        </p:nvSpPr>
        <p:spPr>
          <a:xfrm>
            <a:off x="149225" y="1187450"/>
            <a:ext cx="4432300" cy="336550"/>
          </a:xfrm>
          <a:prstGeom prst="rect">
            <a:avLst/>
          </a:prstGeom>
          <a:solidFill>
            <a:schemeClr val="bg1"/>
          </a:solid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2: Investment Fantasy League ]</a:t>
            </a:r>
            <a:endParaRPr lang="en-US" altLang="en-US" sz="1600" dirty="0">
              <a:solidFill>
                <a:srgbClr val="777777"/>
              </a:solidFill>
              <a:latin typeface="Comic Sans MS" panose="030F07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2530" name="AutoShape 17"/>
          <p:cNvCxnSpPr>
            <a:cxnSpLocks noChangeAspect="1"/>
            <a:stCxn id="22534" idx="3"/>
            <a:endCxn id="22543" idx="1"/>
          </p:cNvCxnSpPr>
          <p:nvPr/>
        </p:nvCxnSpPr>
        <p:spPr>
          <a:xfrm>
            <a:off x="2870200" y="4929188"/>
            <a:ext cx="971550" cy="0"/>
          </a:xfrm>
          <a:prstGeom prst="straightConnector1">
            <a:avLst/>
          </a:prstGeom>
          <a:ln w="19050" cap="flat" cmpd="sng">
            <a:solidFill>
              <a:schemeClr val="tx1"/>
            </a:solidFill>
            <a:prstDash val="solid"/>
            <a:headEnd type="none" w="med" len="med"/>
            <a:tailEnd type="none" w="med" len="med"/>
          </a:ln>
        </p:spPr>
      </p:cxnSp>
      <p:cxnSp>
        <p:nvCxnSpPr>
          <p:cNvPr id="22531" name="AutoShape 3"/>
          <p:cNvCxnSpPr>
            <a:cxnSpLocks noChangeAspect="1"/>
            <a:stCxn id="22535" idx="3"/>
            <a:endCxn id="22537" idx="1"/>
          </p:cNvCxnSpPr>
          <p:nvPr/>
        </p:nvCxnSpPr>
        <p:spPr>
          <a:xfrm>
            <a:off x="2870200" y="2444750"/>
            <a:ext cx="971550" cy="0"/>
          </a:xfrm>
          <a:prstGeom prst="straightConnector1">
            <a:avLst/>
          </a:prstGeom>
          <a:ln w="19050" cap="flat" cmpd="sng">
            <a:solidFill>
              <a:schemeClr val="tx1"/>
            </a:solidFill>
            <a:prstDash val="solid"/>
            <a:headEnd type="none" w="med" len="med"/>
            <a:tailEnd type="none" w="med" len="med"/>
          </a:ln>
        </p:spPr>
      </p:cxnSp>
      <p:cxnSp>
        <p:nvCxnSpPr>
          <p:cNvPr id="22532" name="AutoShape 4"/>
          <p:cNvCxnSpPr>
            <a:cxnSpLocks noChangeAspect="1"/>
            <a:stCxn id="22538" idx="2"/>
            <a:endCxn id="22537" idx="3"/>
          </p:cNvCxnSpPr>
          <p:nvPr/>
        </p:nvCxnSpPr>
        <p:spPr>
          <a:xfrm flipH="1">
            <a:off x="4770438" y="2444750"/>
            <a:ext cx="968375" cy="0"/>
          </a:xfrm>
          <a:prstGeom prst="straightConnector1">
            <a:avLst/>
          </a:prstGeom>
          <a:ln w="19050" cap="flat" cmpd="sng">
            <a:solidFill>
              <a:schemeClr val="tx1"/>
            </a:solidFill>
            <a:prstDash val="lgDash"/>
            <a:headEnd type="none" w="med" len="med"/>
            <a:tailEnd type="triangle" w="lg" len="lg"/>
          </a:ln>
        </p:spPr>
      </p:cxnSp>
      <p:cxnSp>
        <p:nvCxnSpPr>
          <p:cNvPr id="22533" name="AutoShape 18"/>
          <p:cNvCxnSpPr>
            <a:cxnSpLocks noChangeAspect="1"/>
            <a:stCxn id="22544" idx="2"/>
            <a:endCxn id="22543" idx="3"/>
          </p:cNvCxnSpPr>
          <p:nvPr/>
        </p:nvCxnSpPr>
        <p:spPr>
          <a:xfrm flipH="1">
            <a:off x="4770438" y="4929188"/>
            <a:ext cx="968375" cy="0"/>
          </a:xfrm>
          <a:prstGeom prst="straightConnector1">
            <a:avLst/>
          </a:prstGeom>
          <a:ln w="19050" cap="flat" cmpd="sng">
            <a:solidFill>
              <a:schemeClr val="tx1"/>
            </a:solidFill>
            <a:prstDash val="lgDash"/>
            <a:headEnd type="none" w="med" len="med"/>
            <a:tailEnd type="triangle" w="lg" len="lg"/>
          </a:ln>
        </p:spPr>
      </p:cxnSp>
      <p:sp>
        <p:nvSpPr>
          <p:cNvPr id="22534" name="Rectangle 54"/>
          <p:cNvSpPr/>
          <p:nvPr/>
        </p:nvSpPr>
        <p:spPr>
          <a:xfrm>
            <a:off x="2079625" y="4691063"/>
            <a:ext cx="776288" cy="474662"/>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Broker Software</a:t>
            </a:r>
            <a:endParaRPr lang="en-US" altLang="en-US" sz="1000" dirty="0">
              <a:latin typeface="Arial" panose="020B0604020202020204" pitchFamily="34" charset="0"/>
            </a:endParaRPr>
          </a:p>
        </p:txBody>
      </p:sp>
      <p:sp>
        <p:nvSpPr>
          <p:cNvPr id="22535" name="Rectangle 52"/>
          <p:cNvSpPr/>
          <p:nvPr/>
        </p:nvSpPr>
        <p:spPr>
          <a:xfrm>
            <a:off x="2079625" y="2206625"/>
            <a:ext cx="776288" cy="474663"/>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Control Software</a:t>
            </a:r>
            <a:endParaRPr lang="en-US" altLang="en-US" sz="1000" dirty="0">
              <a:latin typeface="Arial" panose="020B0604020202020204" pitchFamily="34" charset="0"/>
            </a:endParaRPr>
          </a:p>
        </p:txBody>
      </p:sp>
      <p:sp>
        <p:nvSpPr>
          <p:cNvPr id="22536" name="Rectangle 2"/>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200" kern="1200" dirty="0">
                <a:latin typeface="Arial Rounded MT Bold" panose="020F0704030504030204" pitchFamily="34" charset="0"/>
                <a:ea typeface="+mj-ea"/>
                <a:cs typeface="+mj-cs"/>
              </a:rPr>
              <a:t>Basic Frame 1: </a:t>
            </a:r>
            <a:r>
              <a:rPr lang="en-US" altLang="en-US" kern="1200" dirty="0">
                <a:latin typeface="Arial Rounded MT Bold" panose="020F0704030504030204" pitchFamily="34" charset="0"/>
                <a:ea typeface="+mj-ea"/>
                <a:cs typeface="+mj-cs"/>
              </a:rPr>
              <a:t>Required Behavior</a:t>
            </a:r>
            <a:endParaRPr lang="en-US" altLang="en-US" kern="1200" dirty="0">
              <a:latin typeface="Arial Rounded MT Bold" panose="020F0704030504030204" pitchFamily="34" charset="0"/>
              <a:ea typeface="+mj-ea"/>
              <a:cs typeface="+mj-cs"/>
            </a:endParaRPr>
          </a:p>
        </p:txBody>
      </p:sp>
      <p:sp>
        <p:nvSpPr>
          <p:cNvPr id="22537" name="Rectangle 9"/>
          <p:cNvSpPr>
            <a:spLocks noChangeAspect="1"/>
          </p:cNvSpPr>
          <p:nvPr/>
        </p:nvSpPr>
        <p:spPr>
          <a:xfrm>
            <a:off x="3841750" y="2208213"/>
            <a:ext cx="928688"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Controlled Domain</a:t>
            </a:r>
            <a:endParaRPr lang="en-US" altLang="en-US" sz="1000" dirty="0">
              <a:latin typeface="Arial" panose="020B0604020202020204" pitchFamily="34" charset="0"/>
            </a:endParaRPr>
          </a:p>
        </p:txBody>
      </p:sp>
      <p:sp>
        <p:nvSpPr>
          <p:cNvPr id="22538" name="Oval 10"/>
          <p:cNvSpPr>
            <a:spLocks noChangeAspect="1"/>
          </p:cNvSpPr>
          <p:nvPr/>
        </p:nvSpPr>
        <p:spPr>
          <a:xfrm>
            <a:off x="5738813" y="22082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Required Behavior</a:t>
            </a:r>
            <a:endParaRPr lang="en-US" altLang="en-US" sz="1000" dirty="0">
              <a:latin typeface="Arial" panose="020B0604020202020204" pitchFamily="34" charset="0"/>
            </a:endParaRPr>
          </a:p>
        </p:txBody>
      </p:sp>
      <p:sp>
        <p:nvSpPr>
          <p:cNvPr id="22539" name="Text Box 11"/>
          <p:cNvSpPr txBox="1">
            <a:spLocks noChangeAspect="1"/>
          </p:cNvSpPr>
          <p:nvPr/>
        </p:nvSpPr>
        <p:spPr>
          <a:xfrm>
            <a:off x="3111500" y="2195513"/>
            <a:ext cx="466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CS!C1</a:t>
            </a:r>
            <a:endParaRPr lang="en-US" altLang="en-US" sz="1200" dirty="0">
              <a:latin typeface="Arial" panose="020B0604020202020204" pitchFamily="34" charset="0"/>
            </a:endParaRPr>
          </a:p>
        </p:txBody>
      </p:sp>
      <p:sp>
        <p:nvSpPr>
          <p:cNvPr id="22540" name="Text Box 12"/>
          <p:cNvSpPr txBox="1">
            <a:spLocks noChangeAspect="1"/>
          </p:cNvSpPr>
          <p:nvPr/>
        </p:nvSpPr>
        <p:spPr>
          <a:xfrm>
            <a:off x="5141913" y="2195513"/>
            <a:ext cx="212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C3</a:t>
            </a:r>
            <a:endParaRPr lang="en-US" altLang="en-US" sz="1200" dirty="0">
              <a:latin typeface="Arial" panose="020B0604020202020204" pitchFamily="34" charset="0"/>
            </a:endParaRPr>
          </a:p>
        </p:txBody>
      </p:sp>
      <p:sp>
        <p:nvSpPr>
          <p:cNvPr id="22541" name="Text Box 14"/>
          <p:cNvSpPr txBox="1">
            <a:spLocks noChangeAspect="1"/>
          </p:cNvSpPr>
          <p:nvPr/>
        </p:nvSpPr>
        <p:spPr>
          <a:xfrm>
            <a:off x="3106738" y="2490788"/>
            <a:ext cx="474662"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CD!C2</a:t>
            </a:r>
            <a:endParaRPr lang="en-US" altLang="en-US" sz="1200" dirty="0">
              <a:latin typeface="Arial" panose="020B0604020202020204" pitchFamily="34" charset="0"/>
            </a:endParaRPr>
          </a:p>
        </p:txBody>
      </p:sp>
      <p:sp>
        <p:nvSpPr>
          <p:cNvPr id="22542" name="Rectangle 15"/>
          <p:cNvSpPr/>
          <p:nvPr/>
        </p:nvSpPr>
        <p:spPr>
          <a:xfrm>
            <a:off x="4587875" y="2497138"/>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
        <p:nvSpPr>
          <p:cNvPr id="22543" name="Rectangle 23"/>
          <p:cNvSpPr>
            <a:spLocks noChangeAspect="1"/>
          </p:cNvSpPr>
          <p:nvPr/>
        </p:nvSpPr>
        <p:spPr>
          <a:xfrm>
            <a:off x="3841750" y="4692650"/>
            <a:ext cx="928688"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eaLnBrk="1" hangingPunct="1"/>
            <a:r>
              <a:rPr lang="en-US" altLang="en-US" sz="1000" dirty="0">
                <a:latin typeface="Arial" panose="020B0604020202020204" pitchFamily="34" charset="0"/>
              </a:rPr>
              <a:t>   Stock Exchange</a:t>
            </a:r>
            <a:endParaRPr lang="en-US" altLang="en-US" sz="1000" dirty="0">
              <a:latin typeface="Arial" panose="020B0604020202020204" pitchFamily="34" charset="0"/>
            </a:endParaRPr>
          </a:p>
        </p:txBody>
      </p:sp>
      <p:sp>
        <p:nvSpPr>
          <p:cNvPr id="22544" name="Oval 24"/>
          <p:cNvSpPr/>
          <p:nvPr/>
        </p:nvSpPr>
        <p:spPr>
          <a:xfrm>
            <a:off x="5738813" y="4692650"/>
            <a:ext cx="1096962" cy="473075"/>
          </a:xfrm>
          <a:prstGeom prst="ellipse">
            <a:avLst/>
          </a:prstGeom>
          <a:solidFill>
            <a:schemeClr val="bg1"/>
          </a:solidFill>
          <a:ln w="9525" cap="flat" cmpd="sng">
            <a:solidFill>
              <a:schemeClr val="tx1"/>
            </a:solidFill>
            <a:prstDash val="lgDash"/>
            <a:headEnd type="none" w="med" len="med"/>
            <a:tailEnd type="none" w="med" len="med"/>
          </a:ln>
        </p:spPr>
        <p:txBody>
          <a:bodyPr wrap="none" lIns="0" tIns="0" rIns="0" bIns="0" anchor="ctr" anchorCtr="0"/>
          <a:p>
            <a:pPr algn="ctr" eaLnBrk="1" hangingPunct="1"/>
            <a:r>
              <a:rPr lang="en-US" altLang="en-US" sz="1000" dirty="0">
                <a:latin typeface="Arial" panose="020B0604020202020204" pitchFamily="34" charset="0"/>
              </a:rPr>
              <a:t>Trading order</a:t>
            </a:r>
            <a:br>
              <a:rPr lang="en-US" altLang="en-US" sz="1000" dirty="0">
                <a:latin typeface="Arial" panose="020B0604020202020204" pitchFamily="34" charset="0"/>
              </a:rPr>
            </a:br>
            <a:r>
              <a:rPr lang="en-US" altLang="en-US" sz="1000" dirty="0">
                <a:latin typeface="Arial" panose="020B0604020202020204" pitchFamily="34" charset="0"/>
              </a:rPr>
              <a:t>handling rules</a:t>
            </a:r>
            <a:endParaRPr lang="en-US" altLang="en-US" sz="1000" dirty="0">
              <a:latin typeface="Arial" panose="020B0604020202020204" pitchFamily="34" charset="0"/>
            </a:endParaRPr>
          </a:p>
        </p:txBody>
      </p:sp>
      <p:sp>
        <p:nvSpPr>
          <p:cNvPr id="22545" name="Rectangle 28"/>
          <p:cNvSpPr/>
          <p:nvPr/>
        </p:nvSpPr>
        <p:spPr>
          <a:xfrm>
            <a:off x="4587875" y="4983163"/>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
        <p:nvSpPr>
          <p:cNvPr id="22546" name="Text Box 30"/>
          <p:cNvSpPr txBox="1">
            <a:spLocks noChangeAspect="1"/>
          </p:cNvSpPr>
          <p:nvPr/>
        </p:nvSpPr>
        <p:spPr>
          <a:xfrm>
            <a:off x="287338" y="3751263"/>
            <a:ext cx="4645025" cy="369887"/>
          </a:xfrm>
          <a:prstGeom prst="rect">
            <a:avLst/>
          </a:prstGeom>
          <a:noFill/>
          <a:ln w="9525">
            <a:noFill/>
          </a:ln>
        </p:spPr>
        <p:txBody>
          <a:bodyPr wrap="none" lIns="9144" tIns="0" rIns="9144" bIns="0">
            <a:spAutoFit/>
          </a:bodyPr>
          <a:p>
            <a:pPr eaLnBrk="1" hangingPunct="1"/>
            <a:r>
              <a:rPr lang="en-US" altLang="en-US" sz="2400" dirty="0">
                <a:latin typeface="AvantGarde Bk BT" pitchFamily="34" charset="0"/>
              </a:rPr>
              <a:t>Example: Execute a Trading order</a:t>
            </a:r>
            <a:endParaRPr lang="en-US" altLang="en-US" sz="2400" dirty="0">
              <a:latin typeface="AvantGarde Bk BT" pitchFamily="34" charset="0"/>
            </a:endParaRPr>
          </a:p>
        </p:txBody>
      </p:sp>
      <p:sp>
        <p:nvSpPr>
          <p:cNvPr id="22547" name="Text Box 31"/>
          <p:cNvSpPr txBox="1">
            <a:spLocks noChangeAspect="1"/>
          </p:cNvSpPr>
          <p:nvPr/>
        </p:nvSpPr>
        <p:spPr>
          <a:xfrm>
            <a:off x="2127250" y="4287838"/>
            <a:ext cx="517525"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Control</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Software</a:t>
            </a:r>
            <a:endParaRPr lang="en-US" altLang="en-US" sz="1000" i="1" dirty="0">
              <a:latin typeface="Arial" panose="020B0604020202020204" pitchFamily="34" charset="0"/>
            </a:endParaRPr>
          </a:p>
        </p:txBody>
      </p:sp>
      <p:sp>
        <p:nvSpPr>
          <p:cNvPr id="22548" name="Text Box 32"/>
          <p:cNvSpPr txBox="1">
            <a:spLocks noChangeAspect="1"/>
          </p:cNvSpPr>
          <p:nvPr/>
        </p:nvSpPr>
        <p:spPr>
          <a:xfrm>
            <a:off x="4008438" y="4287838"/>
            <a:ext cx="595312"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Controlled</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Domain</a:t>
            </a:r>
            <a:endParaRPr lang="en-US" altLang="en-US" sz="1000" i="1" dirty="0">
              <a:latin typeface="Arial" panose="020B0604020202020204" pitchFamily="34" charset="0"/>
            </a:endParaRPr>
          </a:p>
        </p:txBody>
      </p:sp>
      <p:sp>
        <p:nvSpPr>
          <p:cNvPr id="22549" name="Text Box 33"/>
          <p:cNvSpPr txBox="1">
            <a:spLocks noChangeAspect="1"/>
          </p:cNvSpPr>
          <p:nvPr/>
        </p:nvSpPr>
        <p:spPr>
          <a:xfrm>
            <a:off x="5981700" y="4287838"/>
            <a:ext cx="531813"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Required</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Behavior</a:t>
            </a:r>
            <a:endParaRPr lang="en-US" altLang="en-US" sz="1000" i="1" dirty="0">
              <a:latin typeface="Arial" panose="020B0604020202020204" pitchFamily="34" charset="0"/>
            </a:endParaRPr>
          </a:p>
        </p:txBody>
      </p:sp>
      <p:sp>
        <p:nvSpPr>
          <p:cNvPr id="22550" name="Text Box 34"/>
          <p:cNvSpPr txBox="1">
            <a:spLocks noChangeAspect="1"/>
          </p:cNvSpPr>
          <p:nvPr/>
        </p:nvSpPr>
        <p:spPr>
          <a:xfrm>
            <a:off x="4678363" y="5338763"/>
            <a:ext cx="2528887" cy="369887"/>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 SE! {Submit[i], Revoke[i],       [C3]</a:t>
            </a:r>
            <a:endParaRPr lang="en-US" altLang="en-US" sz="1200" dirty="0">
              <a:latin typeface="Arial" panose="020B0604020202020204" pitchFamily="34" charset="0"/>
            </a:endParaRPr>
          </a:p>
          <a:p>
            <a:pPr eaLnBrk="1" hangingPunct="1"/>
            <a:r>
              <a:rPr lang="en-US" altLang="en-US" sz="1000" dirty="0">
                <a:latin typeface="Arial" panose="020B0604020202020204" pitchFamily="34" charset="0"/>
              </a:rPr>
              <a:t>     </a:t>
            </a:r>
            <a:r>
              <a:rPr lang="en-US" altLang="en-US" sz="1200" dirty="0">
                <a:latin typeface="Arial" panose="020B0604020202020204" pitchFamily="34" charset="0"/>
              </a:rPr>
              <a:t>Fulfilled[i], Failed[i], Expired[i]}</a:t>
            </a:r>
            <a:endParaRPr lang="en-US" altLang="en-US" sz="1200" dirty="0">
              <a:latin typeface="Arial" panose="020B0604020202020204" pitchFamily="34" charset="0"/>
            </a:endParaRPr>
          </a:p>
        </p:txBody>
      </p:sp>
      <p:sp>
        <p:nvSpPr>
          <p:cNvPr id="22551" name="Text Box 36"/>
          <p:cNvSpPr txBox="1">
            <a:spLocks noChangeAspect="1"/>
          </p:cNvSpPr>
          <p:nvPr/>
        </p:nvSpPr>
        <p:spPr>
          <a:xfrm>
            <a:off x="1317625" y="5338763"/>
            <a:ext cx="2846388"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BS! {Execute[i], Cancel[i]}               [C1]</a:t>
            </a:r>
            <a:endParaRPr lang="en-US" altLang="en-US" sz="1200" dirty="0">
              <a:latin typeface="Arial" panose="020B0604020202020204" pitchFamily="34" charset="0"/>
            </a:endParaRPr>
          </a:p>
        </p:txBody>
      </p:sp>
      <p:sp>
        <p:nvSpPr>
          <p:cNvPr id="22552" name="Text Box 37"/>
          <p:cNvSpPr txBox="1">
            <a:spLocks noChangeAspect="1"/>
          </p:cNvSpPr>
          <p:nvPr/>
        </p:nvSpPr>
        <p:spPr>
          <a:xfrm>
            <a:off x="1317625" y="5595938"/>
            <a:ext cx="2846388" cy="182562"/>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     </a:t>
            </a:r>
            <a:r>
              <a:rPr lang="en-US" altLang="en-US" sz="1200" dirty="0">
                <a:latin typeface="Arial" panose="020B0604020202020204" pitchFamily="34" charset="0"/>
              </a:rPr>
              <a:t>SE! {PriceQuotes, Ack[i], Failed[i]}  [C2]</a:t>
            </a:r>
            <a:endParaRPr lang="en-US" altLang="en-US" sz="1200" dirty="0">
              <a:latin typeface="Arial" panose="020B0604020202020204" pitchFamily="34" charset="0"/>
            </a:endParaRPr>
          </a:p>
        </p:txBody>
      </p:sp>
      <p:grpSp>
        <p:nvGrpSpPr>
          <p:cNvPr id="22553" name="Group 51"/>
          <p:cNvGrpSpPr/>
          <p:nvPr/>
        </p:nvGrpSpPr>
        <p:grpSpPr>
          <a:xfrm>
            <a:off x="6723063" y="2879725"/>
            <a:ext cx="2157412" cy="1230313"/>
            <a:chOff x="4235" y="1814"/>
            <a:chExt cx="1359" cy="775"/>
          </a:xfrm>
        </p:grpSpPr>
        <p:sp>
          <p:nvSpPr>
            <p:cNvPr id="22563" name="Rectangle 38"/>
            <p:cNvSpPr/>
            <p:nvPr/>
          </p:nvSpPr>
          <p:spPr>
            <a:xfrm>
              <a:off x="4235" y="1875"/>
              <a:ext cx="1359" cy="714"/>
            </a:xfrm>
            <a:prstGeom prst="rect">
              <a:avLst/>
            </a:prstGeom>
            <a:no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22564" name="Rectangle 39"/>
            <p:cNvSpPr/>
            <p:nvPr/>
          </p:nvSpPr>
          <p:spPr>
            <a:xfrm>
              <a:off x="4247" y="1886"/>
              <a:ext cx="1336" cy="691"/>
            </a:xfrm>
            <a:prstGeom prst="rect">
              <a:avLst/>
            </a:prstGeom>
            <a:solidFill>
              <a:srgbClr val="FFFFCC"/>
            </a:solidFill>
            <a:ln w="317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22565" name="Rectangle 40"/>
            <p:cNvSpPr>
              <a:spLocks noChangeAspect="1"/>
            </p:cNvSpPr>
            <p:nvPr/>
          </p:nvSpPr>
          <p:spPr>
            <a:xfrm>
              <a:off x="4300" y="1920"/>
              <a:ext cx="92" cy="92"/>
            </a:xfrm>
            <a:prstGeom prst="rect">
              <a:avLst/>
            </a:prstGeom>
            <a:solidFill>
              <a:schemeClr val="bg1"/>
            </a:solidFill>
            <a:ln w="9525" cap="flat" cmpd="sng">
              <a:solidFill>
                <a:schemeClr val="tx1"/>
              </a:solidFill>
              <a:prstDash val="solid"/>
              <a:miter/>
              <a:headEnd type="none" w="med" len="med"/>
              <a:tailEnd type="none" w="med" len="med"/>
            </a:ln>
          </p:spPr>
          <p:txBody>
            <a:bodyPr wrap="none" lIns="0" tIns="0" rIns="0" bIns="0" anchor="ctr" anchorCtr="0"/>
            <a:p>
              <a:pPr algn="ctr" eaLnBrk="1" hangingPunct="1"/>
              <a:r>
                <a:rPr lang="en-US" altLang="en-US" sz="800" dirty="0">
                  <a:latin typeface="Arial" panose="020B0604020202020204" pitchFamily="34" charset="0"/>
                </a:rPr>
                <a:t>C</a:t>
              </a:r>
              <a:endParaRPr lang="en-US" altLang="en-US" sz="800" dirty="0">
                <a:latin typeface="Arial" panose="020B0604020202020204" pitchFamily="34" charset="0"/>
              </a:endParaRPr>
            </a:p>
          </p:txBody>
        </p:sp>
        <p:sp>
          <p:nvSpPr>
            <p:cNvPr id="22566" name="Text Box 41"/>
            <p:cNvSpPr txBox="1">
              <a:spLocks noChangeAspect="1"/>
            </p:cNvSpPr>
            <p:nvPr/>
          </p:nvSpPr>
          <p:spPr>
            <a:xfrm>
              <a:off x="4450" y="1924"/>
              <a:ext cx="492"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Causal domain</a:t>
              </a:r>
              <a:endParaRPr lang="en-US" altLang="en-US" sz="900" dirty="0">
                <a:latin typeface="Arial" panose="020B0604020202020204" pitchFamily="34" charset="0"/>
              </a:endParaRPr>
            </a:p>
          </p:txBody>
        </p:sp>
        <p:sp>
          <p:nvSpPr>
            <p:cNvPr id="22567" name="Rectangle 42"/>
            <p:cNvSpPr>
              <a:spLocks noChangeAspect="1"/>
            </p:cNvSpPr>
            <p:nvPr/>
          </p:nvSpPr>
          <p:spPr>
            <a:xfrm>
              <a:off x="4300" y="2054"/>
              <a:ext cx="92" cy="92"/>
            </a:xfrm>
            <a:prstGeom prst="rect">
              <a:avLst/>
            </a:prstGeom>
            <a:solidFill>
              <a:schemeClr val="bg1"/>
            </a:solidFill>
            <a:ln w="9525" cap="flat" cmpd="sng">
              <a:solidFill>
                <a:schemeClr val="tx1"/>
              </a:solidFill>
              <a:prstDash val="solid"/>
              <a:miter/>
              <a:headEnd type="none" w="med" len="med"/>
              <a:tailEnd type="none" w="med" len="med"/>
            </a:ln>
          </p:spPr>
          <p:txBody>
            <a:bodyPr wrap="none" lIns="0" tIns="0" rIns="0" bIns="0" anchor="ctr" anchorCtr="0"/>
            <a:p>
              <a:pPr algn="ctr" eaLnBrk="1" hangingPunct="1"/>
              <a:r>
                <a:rPr lang="en-US" altLang="en-US" sz="800" dirty="0">
                  <a:latin typeface="Arial" panose="020B0604020202020204" pitchFamily="34" charset="0"/>
                </a:rPr>
                <a:t>X</a:t>
              </a:r>
              <a:endParaRPr lang="en-US" altLang="en-US" sz="800" dirty="0">
                <a:latin typeface="Arial" panose="020B0604020202020204" pitchFamily="34" charset="0"/>
              </a:endParaRPr>
            </a:p>
          </p:txBody>
        </p:sp>
        <p:sp>
          <p:nvSpPr>
            <p:cNvPr id="22568" name="Text Box 43"/>
            <p:cNvSpPr txBox="1">
              <a:spLocks noChangeAspect="1"/>
            </p:cNvSpPr>
            <p:nvPr/>
          </p:nvSpPr>
          <p:spPr>
            <a:xfrm>
              <a:off x="4450" y="2058"/>
              <a:ext cx="492"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Lexical domain</a:t>
              </a:r>
              <a:endParaRPr lang="en-US" altLang="en-US" sz="900" dirty="0">
                <a:latin typeface="Arial" panose="020B0604020202020204" pitchFamily="34" charset="0"/>
              </a:endParaRPr>
            </a:p>
          </p:txBody>
        </p:sp>
        <p:sp>
          <p:nvSpPr>
            <p:cNvPr id="22569" name="Text Box 44"/>
            <p:cNvSpPr txBox="1">
              <a:spLocks noChangeAspect="1"/>
            </p:cNvSpPr>
            <p:nvPr/>
          </p:nvSpPr>
          <p:spPr>
            <a:xfrm>
              <a:off x="4450" y="2192"/>
              <a:ext cx="636"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Causal phenomena</a:t>
              </a:r>
              <a:endParaRPr lang="en-US" altLang="en-US" sz="900" dirty="0">
                <a:latin typeface="Arial" panose="020B0604020202020204" pitchFamily="34" charset="0"/>
              </a:endParaRPr>
            </a:p>
          </p:txBody>
        </p:sp>
        <p:sp>
          <p:nvSpPr>
            <p:cNvPr id="22570" name="Text Box 45"/>
            <p:cNvSpPr txBox="1">
              <a:spLocks noChangeAspect="1"/>
            </p:cNvSpPr>
            <p:nvPr/>
          </p:nvSpPr>
          <p:spPr>
            <a:xfrm>
              <a:off x="4450" y="2326"/>
              <a:ext cx="232"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Events</a:t>
              </a:r>
              <a:endParaRPr lang="en-US" altLang="en-US" sz="900" dirty="0">
                <a:latin typeface="Arial" panose="020B0604020202020204" pitchFamily="34" charset="0"/>
              </a:endParaRPr>
            </a:p>
          </p:txBody>
        </p:sp>
        <p:sp>
          <p:nvSpPr>
            <p:cNvPr id="22571" name="Text Box 46"/>
            <p:cNvSpPr txBox="1">
              <a:spLocks noChangeAspect="1"/>
            </p:cNvSpPr>
            <p:nvPr/>
          </p:nvSpPr>
          <p:spPr>
            <a:xfrm>
              <a:off x="4450" y="2459"/>
              <a:ext cx="1108"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Symbolic requirement phenomena</a:t>
              </a:r>
              <a:endParaRPr lang="en-US" altLang="en-US" sz="900" dirty="0">
                <a:latin typeface="Arial" panose="020B0604020202020204" pitchFamily="34" charset="0"/>
              </a:endParaRPr>
            </a:p>
          </p:txBody>
        </p:sp>
        <p:sp>
          <p:nvSpPr>
            <p:cNvPr id="22572" name="Text Box 47"/>
            <p:cNvSpPr txBox="1">
              <a:spLocks noChangeAspect="1"/>
            </p:cNvSpPr>
            <p:nvPr/>
          </p:nvSpPr>
          <p:spPr>
            <a:xfrm>
              <a:off x="4300" y="2192"/>
              <a:ext cx="130"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[C</a:t>
              </a:r>
              <a:r>
                <a:rPr lang="en-US" altLang="en-US" sz="200" dirty="0">
                  <a:latin typeface="Arial" panose="020B0604020202020204" pitchFamily="34" charset="0"/>
                </a:rPr>
                <a:t> </a:t>
              </a:r>
              <a:r>
                <a:rPr lang="en-US" altLang="en-US" sz="900" dirty="0">
                  <a:latin typeface="Arial" panose="020B0604020202020204" pitchFamily="34" charset="0"/>
                  <a:sym typeface="Symbol" panose="05050102010706020507" pitchFamily="18" charset="2"/>
                </a:rPr>
                <a:t></a:t>
              </a:r>
              <a:r>
                <a:rPr lang="en-US" altLang="en-US" sz="200" dirty="0">
                  <a:latin typeface="Arial" panose="020B0604020202020204" pitchFamily="34" charset="0"/>
                  <a:sym typeface="Symbol" panose="05050102010706020507" pitchFamily="18" charset="2"/>
                </a:rPr>
                <a:t> </a:t>
              </a:r>
              <a:r>
                <a:rPr lang="en-US" altLang="en-US" sz="900" dirty="0">
                  <a:latin typeface="Arial" panose="020B0604020202020204" pitchFamily="34" charset="0"/>
                  <a:sym typeface="Symbol" panose="05050102010706020507" pitchFamily="18" charset="2"/>
                </a:rPr>
                <a:t>]</a:t>
              </a:r>
              <a:endParaRPr lang="en-US" altLang="en-US" sz="900" dirty="0">
                <a:latin typeface="Arial" panose="020B0604020202020204" pitchFamily="34" charset="0"/>
                <a:sym typeface="Symbol" panose="05050102010706020507" pitchFamily="18" charset="2"/>
              </a:endParaRPr>
            </a:p>
          </p:txBody>
        </p:sp>
        <p:sp>
          <p:nvSpPr>
            <p:cNvPr id="22573" name="Text Box 48"/>
            <p:cNvSpPr txBox="1">
              <a:spLocks noChangeAspect="1"/>
            </p:cNvSpPr>
            <p:nvPr/>
          </p:nvSpPr>
          <p:spPr>
            <a:xfrm>
              <a:off x="4300" y="2326"/>
              <a:ext cx="126"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[E</a:t>
              </a:r>
              <a:r>
                <a:rPr lang="en-US" altLang="en-US" sz="200" dirty="0">
                  <a:latin typeface="Arial" panose="020B0604020202020204" pitchFamily="34" charset="0"/>
                </a:rPr>
                <a:t> </a:t>
              </a:r>
              <a:r>
                <a:rPr lang="en-US" altLang="en-US" sz="900" dirty="0">
                  <a:latin typeface="Arial" panose="020B0604020202020204" pitchFamily="34" charset="0"/>
                  <a:sym typeface="Symbol" panose="05050102010706020507" pitchFamily="18" charset="2"/>
                </a:rPr>
                <a:t></a:t>
              </a:r>
              <a:r>
                <a:rPr lang="en-US" altLang="en-US" sz="200" dirty="0">
                  <a:latin typeface="Arial" panose="020B0604020202020204" pitchFamily="34" charset="0"/>
                  <a:sym typeface="Symbol" panose="05050102010706020507" pitchFamily="18" charset="2"/>
                </a:rPr>
                <a:t> </a:t>
              </a:r>
              <a:r>
                <a:rPr lang="en-US" altLang="en-US" sz="900" dirty="0">
                  <a:latin typeface="Arial" panose="020B0604020202020204" pitchFamily="34" charset="0"/>
                  <a:sym typeface="Symbol" panose="05050102010706020507" pitchFamily="18" charset="2"/>
                </a:rPr>
                <a:t>]</a:t>
              </a:r>
              <a:endParaRPr lang="en-US" altLang="en-US" sz="900" dirty="0">
                <a:latin typeface="Arial" panose="020B0604020202020204" pitchFamily="34" charset="0"/>
                <a:sym typeface="Symbol" panose="05050102010706020507" pitchFamily="18" charset="2"/>
              </a:endParaRPr>
            </a:p>
          </p:txBody>
        </p:sp>
        <p:sp>
          <p:nvSpPr>
            <p:cNvPr id="22574" name="Text Box 49"/>
            <p:cNvSpPr txBox="1">
              <a:spLocks noChangeAspect="1"/>
            </p:cNvSpPr>
            <p:nvPr/>
          </p:nvSpPr>
          <p:spPr>
            <a:xfrm>
              <a:off x="4300" y="2459"/>
              <a:ext cx="126" cy="86"/>
            </a:xfrm>
            <a:prstGeom prst="rect">
              <a:avLst/>
            </a:prstGeom>
            <a:noFill/>
            <a:ln w="9525">
              <a:noFill/>
            </a:ln>
          </p:spPr>
          <p:txBody>
            <a:bodyPr wrap="none" lIns="9144" tIns="0" rIns="9144" bIns="0">
              <a:spAutoFit/>
            </a:bodyPr>
            <a:p>
              <a:pPr eaLnBrk="1" hangingPunct="1"/>
              <a:r>
                <a:rPr lang="en-US" altLang="en-US" sz="900" dirty="0">
                  <a:latin typeface="Arial" panose="020B0604020202020204" pitchFamily="34" charset="0"/>
                </a:rPr>
                <a:t>[Y</a:t>
              </a:r>
              <a:r>
                <a:rPr lang="en-US" altLang="en-US" sz="200" dirty="0">
                  <a:latin typeface="Arial" panose="020B0604020202020204" pitchFamily="34" charset="0"/>
                </a:rPr>
                <a:t> </a:t>
              </a:r>
              <a:r>
                <a:rPr lang="en-US" altLang="en-US" sz="900" dirty="0">
                  <a:latin typeface="Arial" panose="020B0604020202020204" pitchFamily="34" charset="0"/>
                  <a:sym typeface="Symbol" panose="05050102010706020507" pitchFamily="18" charset="2"/>
                </a:rPr>
                <a:t></a:t>
              </a:r>
              <a:r>
                <a:rPr lang="en-US" altLang="en-US" sz="200" dirty="0">
                  <a:latin typeface="Arial" panose="020B0604020202020204" pitchFamily="34" charset="0"/>
                  <a:sym typeface="Symbol" panose="05050102010706020507" pitchFamily="18" charset="2"/>
                </a:rPr>
                <a:t> </a:t>
              </a:r>
              <a:r>
                <a:rPr lang="en-US" altLang="en-US" sz="900" dirty="0">
                  <a:latin typeface="Arial" panose="020B0604020202020204" pitchFamily="34" charset="0"/>
                  <a:sym typeface="Symbol" panose="05050102010706020507" pitchFamily="18" charset="2"/>
                </a:rPr>
                <a:t>]</a:t>
              </a:r>
              <a:endParaRPr lang="en-US" altLang="en-US" sz="900" dirty="0">
                <a:latin typeface="Arial" panose="020B0604020202020204" pitchFamily="34" charset="0"/>
                <a:sym typeface="Symbol" panose="05050102010706020507" pitchFamily="18" charset="2"/>
              </a:endParaRPr>
            </a:p>
          </p:txBody>
        </p:sp>
        <p:sp>
          <p:nvSpPr>
            <p:cNvPr id="22575" name="Text Box 50"/>
            <p:cNvSpPr txBox="1">
              <a:spLocks noChangeAspect="1"/>
            </p:cNvSpPr>
            <p:nvPr/>
          </p:nvSpPr>
          <p:spPr>
            <a:xfrm>
              <a:off x="4475" y="1814"/>
              <a:ext cx="214" cy="86"/>
            </a:xfrm>
            <a:prstGeom prst="rect">
              <a:avLst/>
            </a:prstGeom>
            <a:solidFill>
              <a:schemeClr val="bg1"/>
            </a:solidFill>
            <a:ln w="9525">
              <a:noFill/>
            </a:ln>
          </p:spPr>
          <p:txBody>
            <a:bodyPr wrap="none" lIns="45720" tIns="0" rIns="45720" bIns="0">
              <a:spAutoFit/>
            </a:bodyPr>
            <a:p>
              <a:pPr eaLnBrk="1" hangingPunct="1"/>
              <a:r>
                <a:rPr lang="en-US" altLang="en-US" sz="900" b="1" dirty="0">
                  <a:latin typeface="Arial" panose="020B0604020202020204" pitchFamily="34" charset="0"/>
                </a:rPr>
                <a:t>Key:</a:t>
              </a:r>
              <a:endParaRPr lang="en-US" altLang="en-US" sz="900" b="1" dirty="0">
                <a:latin typeface="Arial" panose="020B0604020202020204" pitchFamily="34" charset="0"/>
              </a:endParaRPr>
            </a:p>
          </p:txBody>
        </p:sp>
      </p:grpSp>
      <p:sp>
        <p:nvSpPr>
          <p:cNvPr id="22554" name="Freeform 48"/>
          <p:cNvSpPr/>
          <p:nvPr/>
        </p:nvSpPr>
        <p:spPr>
          <a:xfrm>
            <a:off x="2155825" y="2251075"/>
            <a:ext cx="274638" cy="373063"/>
          </a:xfrm>
          <a:custGeom>
            <a:avLst/>
            <a:gdLst>
              <a:gd name="txL" fmla="*/ 0 w 173"/>
              <a:gd name="txT" fmla="*/ 0 h 235"/>
              <a:gd name="txR" fmla="*/ 173 w 173"/>
              <a:gd name="txB" fmla="*/ 235 h 235"/>
            </a:gdLst>
            <a:ahLst/>
            <a:cxnLst>
              <a:cxn ang="0">
                <a:pos x="2147483647" y="2147483647"/>
              </a:cxn>
              <a:cxn ang="0">
                <a:pos x="2147483647" y="2147483647"/>
              </a:cxn>
              <a:cxn ang="0">
                <a:pos x="2147483647" y="2147483647"/>
              </a:cxn>
              <a:cxn ang="0">
                <a:pos x="2147483647" y="2147483647"/>
              </a:cxn>
            </a:cxnLst>
            <a:rect l="txL" t="txT" r="txR" b="txB"/>
            <a:pathLst>
              <a:path w="173" h="235">
                <a:moveTo>
                  <a:pt x="93" y="21"/>
                </a:moveTo>
                <a:cubicBezTo>
                  <a:pt x="13" y="42"/>
                  <a:pt x="0" y="199"/>
                  <a:pt x="42" y="217"/>
                </a:cubicBezTo>
                <a:cubicBezTo>
                  <a:pt x="84" y="235"/>
                  <a:pt x="113" y="178"/>
                  <a:pt x="86" y="130"/>
                </a:cubicBezTo>
                <a:cubicBezTo>
                  <a:pt x="134" y="141"/>
                  <a:pt x="173" y="0"/>
                  <a:pt x="93" y="21"/>
                </a:cubicBezTo>
                <a:close/>
              </a:path>
            </a:pathLst>
          </a:custGeom>
          <a:noFill/>
          <a:ln w="9525" cap="flat" cmpd="sng">
            <a:solidFill>
              <a:srgbClr val="FF0000">
                <a:alpha val="100000"/>
              </a:srgbClr>
            </a:solidFill>
            <a:prstDash val="solid"/>
            <a:round/>
            <a:headEnd type="none" w="med" len="med"/>
            <a:tailEnd type="none" w="med" len="med"/>
          </a:ln>
        </p:spPr>
        <p:txBody>
          <a:bodyPr/>
          <a:p>
            <a:endParaRPr lang="zh-CN" altLang="en-US"/>
          </a:p>
        </p:txBody>
      </p:sp>
      <p:sp>
        <p:nvSpPr>
          <p:cNvPr id="22555" name="Freeform 49"/>
          <p:cNvSpPr/>
          <p:nvPr/>
        </p:nvSpPr>
        <p:spPr>
          <a:xfrm>
            <a:off x="2287588" y="2057400"/>
            <a:ext cx="900112" cy="227013"/>
          </a:xfrm>
          <a:custGeom>
            <a:avLst/>
            <a:gdLst>
              <a:gd name="txL" fmla="*/ 0 w 567"/>
              <a:gd name="txT" fmla="*/ 0 h 143"/>
              <a:gd name="txR" fmla="*/ 567 w 567"/>
              <a:gd name="txB" fmla="*/ 143 h 143"/>
            </a:gdLst>
            <a:ahLst/>
            <a:cxnLst>
              <a:cxn ang="0">
                <a:pos x="2147483647" y="2147483647"/>
              </a:cxn>
              <a:cxn ang="0">
                <a:pos x="2147483647" y="0"/>
              </a:cxn>
              <a:cxn ang="0">
                <a:pos x="2147483647" y="2147483647"/>
              </a:cxn>
            </a:cxnLst>
            <a:rect l="txL" t="txT" r="txR" b="txB"/>
            <a:pathLst>
              <a:path w="567" h="143">
                <a:moveTo>
                  <a:pt x="10" y="143"/>
                </a:moveTo>
                <a:cubicBezTo>
                  <a:pt x="0" y="38"/>
                  <a:pt x="104" y="0"/>
                  <a:pt x="270" y="0"/>
                </a:cubicBezTo>
                <a:cubicBezTo>
                  <a:pt x="436" y="0"/>
                  <a:pt x="533" y="11"/>
                  <a:pt x="567" y="98"/>
                </a:cubicBezTo>
              </a:path>
            </a:pathLst>
          </a:custGeom>
          <a:noFill/>
          <a:ln w="9525" cap="flat" cmpd="sng">
            <a:solidFill>
              <a:srgbClr val="FF0000">
                <a:alpha val="100000"/>
              </a:srgbClr>
            </a:solidFill>
            <a:prstDash val="solid"/>
            <a:round/>
            <a:headEnd type="none" w="med" len="med"/>
            <a:tailEnd type="triangle" w="med" len="med"/>
          </a:ln>
        </p:spPr>
        <p:txBody>
          <a:bodyPr/>
          <a:p>
            <a:endParaRPr lang="zh-CN" altLang="en-US"/>
          </a:p>
        </p:txBody>
      </p:sp>
      <p:sp>
        <p:nvSpPr>
          <p:cNvPr id="22556" name="Freeform 50"/>
          <p:cNvSpPr/>
          <p:nvPr/>
        </p:nvSpPr>
        <p:spPr>
          <a:xfrm>
            <a:off x="3913188" y="2233613"/>
            <a:ext cx="292100" cy="382587"/>
          </a:xfrm>
          <a:custGeom>
            <a:avLst/>
            <a:gdLst>
              <a:gd name="txL" fmla="*/ 0 w 184"/>
              <a:gd name="txT" fmla="*/ 0 h 241"/>
              <a:gd name="txR" fmla="*/ 184 w 184"/>
              <a:gd name="txB" fmla="*/ 241 h 241"/>
            </a:gdLst>
            <a:ahLst/>
            <a:cxnLst>
              <a:cxn ang="0">
                <a:pos x="2147483647" y="2147483647"/>
              </a:cxn>
              <a:cxn ang="0">
                <a:pos x="2147483647" y="2147483647"/>
              </a:cxn>
              <a:cxn ang="0">
                <a:pos x="2147483647" y="2147483647"/>
              </a:cxn>
              <a:cxn ang="0">
                <a:pos x="2147483647" y="2147483647"/>
              </a:cxn>
            </a:cxnLst>
            <a:rect l="txL" t="txT" r="txR" b="txB"/>
            <a:pathLst>
              <a:path w="184" h="241">
                <a:moveTo>
                  <a:pt x="51" y="53"/>
                </a:moveTo>
                <a:cubicBezTo>
                  <a:pt x="0" y="106"/>
                  <a:pt x="97" y="241"/>
                  <a:pt x="141" y="227"/>
                </a:cubicBezTo>
                <a:cubicBezTo>
                  <a:pt x="184" y="213"/>
                  <a:pt x="178" y="120"/>
                  <a:pt x="115" y="137"/>
                </a:cubicBezTo>
                <a:cubicBezTo>
                  <a:pt x="160" y="92"/>
                  <a:pt x="102" y="0"/>
                  <a:pt x="51" y="53"/>
                </a:cubicBezTo>
                <a:close/>
              </a:path>
            </a:pathLst>
          </a:custGeom>
          <a:noFill/>
          <a:ln w="9525" cap="flat" cmpd="sng">
            <a:solidFill>
              <a:srgbClr val="FF0000">
                <a:alpha val="100000"/>
              </a:srgbClr>
            </a:solidFill>
            <a:prstDash val="solid"/>
            <a:round/>
            <a:headEnd type="none" w="med" len="med"/>
            <a:tailEnd type="none" w="med" len="med"/>
          </a:ln>
        </p:spPr>
        <p:txBody>
          <a:bodyPr/>
          <a:p>
            <a:endParaRPr lang="zh-CN" altLang="en-US"/>
          </a:p>
        </p:txBody>
      </p:sp>
      <p:sp>
        <p:nvSpPr>
          <p:cNvPr id="22557" name="Freeform 51"/>
          <p:cNvSpPr/>
          <p:nvPr/>
        </p:nvSpPr>
        <p:spPr>
          <a:xfrm>
            <a:off x="3224213" y="2598738"/>
            <a:ext cx="920750" cy="227012"/>
          </a:xfrm>
          <a:custGeom>
            <a:avLst/>
            <a:gdLst>
              <a:gd name="txL" fmla="*/ 0 w 580"/>
              <a:gd name="txT" fmla="*/ 0 h 143"/>
              <a:gd name="txR" fmla="*/ 580 w 580"/>
              <a:gd name="txB" fmla="*/ 143 h 143"/>
            </a:gdLst>
            <a:ahLst/>
            <a:cxnLst>
              <a:cxn ang="0">
                <a:pos x="2147483647" y="0"/>
              </a:cxn>
              <a:cxn ang="0">
                <a:pos x="2147483647" y="2147483647"/>
              </a:cxn>
              <a:cxn ang="0">
                <a:pos x="0" y="2147483647"/>
              </a:cxn>
            </a:cxnLst>
            <a:rect l="txL" t="txT" r="txR" b="txB"/>
            <a:pathLst>
              <a:path w="580" h="143">
                <a:moveTo>
                  <a:pt x="570" y="0"/>
                </a:moveTo>
                <a:cubicBezTo>
                  <a:pt x="580" y="105"/>
                  <a:pt x="476" y="143"/>
                  <a:pt x="310" y="143"/>
                </a:cubicBezTo>
                <a:cubicBezTo>
                  <a:pt x="144" y="143"/>
                  <a:pt x="38" y="142"/>
                  <a:pt x="0" y="46"/>
                </a:cubicBezTo>
              </a:path>
            </a:pathLst>
          </a:custGeom>
          <a:noFill/>
          <a:ln w="9525" cap="flat" cmpd="sng">
            <a:solidFill>
              <a:srgbClr val="FF0000">
                <a:alpha val="100000"/>
              </a:srgbClr>
            </a:solidFill>
            <a:prstDash val="solid"/>
            <a:round/>
            <a:headEnd type="none" w="med" len="med"/>
            <a:tailEnd type="triangle" w="med" len="med"/>
          </a:ln>
        </p:spPr>
        <p:txBody>
          <a:bodyPr/>
          <a:p>
            <a:endParaRPr lang="zh-CN" altLang="en-US"/>
          </a:p>
        </p:txBody>
      </p:sp>
      <p:sp>
        <p:nvSpPr>
          <p:cNvPr id="22558" name="Oval 55"/>
          <p:cNvSpPr>
            <a:spLocks noChangeAspect="1"/>
          </p:cNvSpPr>
          <p:nvPr/>
        </p:nvSpPr>
        <p:spPr>
          <a:xfrm>
            <a:off x="3184525" y="4791075"/>
            <a:ext cx="274638" cy="274638"/>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22559" name="Oval 56"/>
          <p:cNvSpPr>
            <a:spLocks noChangeAspect="1"/>
          </p:cNvSpPr>
          <p:nvPr/>
        </p:nvSpPr>
        <p:spPr>
          <a:xfrm>
            <a:off x="5181600" y="4791075"/>
            <a:ext cx="274638" cy="274638"/>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22560" name="Text Box 57"/>
          <p:cNvSpPr txBox="1"/>
          <p:nvPr/>
        </p:nvSpPr>
        <p:spPr>
          <a:xfrm>
            <a:off x="3114675" y="1841500"/>
            <a:ext cx="844550"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System outputs to the environment</a:t>
            </a:r>
            <a:endParaRPr lang="en-US" altLang="en-US" sz="800" dirty="0">
              <a:latin typeface="Arial" panose="020B0604020202020204" pitchFamily="34" charset="0"/>
            </a:endParaRPr>
          </a:p>
        </p:txBody>
      </p:sp>
      <p:sp>
        <p:nvSpPr>
          <p:cNvPr id="22561" name="Text Box 58"/>
          <p:cNvSpPr txBox="1"/>
          <p:nvPr/>
        </p:nvSpPr>
        <p:spPr>
          <a:xfrm>
            <a:off x="2874963" y="2868613"/>
            <a:ext cx="892175"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Environment inputs to the system </a:t>
            </a:r>
            <a:endParaRPr lang="en-US" altLang="en-US" sz="800" dirty="0">
              <a:latin typeface="Arial" panose="020B0604020202020204" pitchFamily="34" charset="0"/>
            </a:endParaRPr>
          </a:p>
        </p:txBody>
      </p:sp>
      <p:sp>
        <p:nvSpPr>
          <p:cNvPr id="22562" name="Text Box 59"/>
          <p:cNvSpPr txBox="1"/>
          <p:nvPr/>
        </p:nvSpPr>
        <p:spPr>
          <a:xfrm>
            <a:off x="4903788" y="1928813"/>
            <a:ext cx="1238250"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Description of the domain’s required behavior </a:t>
            </a:r>
            <a:endParaRPr lang="en-US" altLang="en-US" sz="800"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4" name="Group 52"/>
          <p:cNvGrpSpPr/>
          <p:nvPr/>
        </p:nvGrpSpPr>
        <p:grpSpPr>
          <a:xfrm>
            <a:off x="392113" y="1474788"/>
            <a:ext cx="5241925" cy="2851150"/>
            <a:chOff x="247" y="929"/>
            <a:chExt cx="3302" cy="1796"/>
          </a:xfrm>
        </p:grpSpPr>
        <p:sp>
          <p:nvSpPr>
            <p:cNvPr id="23561" name="Freeform 6"/>
            <p:cNvSpPr>
              <a:spLocks noChangeAspect="1"/>
            </p:cNvSpPr>
            <p:nvPr/>
          </p:nvSpPr>
          <p:spPr>
            <a:xfrm>
              <a:off x="299" y="975"/>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rgbClr val="DDDDDD">
                <a:alpha val="100000"/>
              </a:srgbClr>
            </a:solidFill>
            <a:ln w="3175" cap="flat" cmpd="sng">
              <a:solidFill>
                <a:srgbClr val="DDDDDD">
                  <a:alpha val="100000"/>
                </a:srgbClr>
              </a:solidFill>
              <a:prstDash val="solid"/>
              <a:round/>
              <a:headEnd type="none" w="med" len="med"/>
              <a:tailEnd type="none" w="med" len="med"/>
            </a:ln>
          </p:spPr>
          <p:txBody>
            <a:bodyPr/>
            <a:p>
              <a:endParaRPr lang="zh-CN" altLang="en-US"/>
            </a:p>
          </p:txBody>
        </p:sp>
        <p:sp>
          <p:nvSpPr>
            <p:cNvPr id="23562" name="Freeform 7"/>
            <p:cNvSpPr>
              <a:spLocks noChangeAspect="1"/>
            </p:cNvSpPr>
            <p:nvPr/>
          </p:nvSpPr>
          <p:spPr>
            <a:xfrm>
              <a:off x="247" y="929"/>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563" name="Freeform 8"/>
            <p:cNvSpPr>
              <a:spLocks noChangeAspect="1"/>
            </p:cNvSpPr>
            <p:nvPr/>
          </p:nvSpPr>
          <p:spPr>
            <a:xfrm>
              <a:off x="268" y="1157"/>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4" name="Freeform 9"/>
            <p:cNvSpPr>
              <a:spLocks noChangeAspect="1"/>
            </p:cNvSpPr>
            <p:nvPr/>
          </p:nvSpPr>
          <p:spPr>
            <a:xfrm>
              <a:off x="263" y="13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5" name="Freeform 10"/>
            <p:cNvSpPr>
              <a:spLocks noChangeAspect="1"/>
            </p:cNvSpPr>
            <p:nvPr/>
          </p:nvSpPr>
          <p:spPr>
            <a:xfrm>
              <a:off x="258" y="1641"/>
              <a:ext cx="3233" cy="21"/>
            </a:xfrm>
            <a:custGeom>
              <a:avLst/>
              <a:gdLst>
                <a:gd name="txL" fmla="*/ 0 w 3049"/>
                <a:gd name="txT" fmla="*/ 0 h 26"/>
                <a:gd name="txR" fmla="*/ 3049 w 3049"/>
                <a:gd name="txB" fmla="*/ 26 h 26"/>
              </a:gdLst>
              <a:ahLst/>
              <a:cxnLst>
                <a:cxn ang="0">
                  <a:pos x="46" y="2"/>
                </a:cxn>
                <a:cxn ang="0">
                  <a:pos x="777" y="2"/>
                </a:cxn>
                <a:cxn ang="0">
                  <a:pos x="4710" y="2"/>
                </a:cxn>
                <a:cxn ang="0">
                  <a:pos x="5392"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6" name="Freeform 11"/>
            <p:cNvSpPr>
              <a:spLocks noChangeAspect="1"/>
            </p:cNvSpPr>
            <p:nvPr/>
          </p:nvSpPr>
          <p:spPr>
            <a:xfrm>
              <a:off x="258" y="1788"/>
              <a:ext cx="3233" cy="23"/>
            </a:xfrm>
            <a:custGeom>
              <a:avLst/>
              <a:gdLst>
                <a:gd name="txL" fmla="*/ 0 w 3049"/>
                <a:gd name="txT" fmla="*/ 0 h 26"/>
                <a:gd name="txR" fmla="*/ 3049 w 3049"/>
                <a:gd name="txB" fmla="*/ 26 h 26"/>
              </a:gdLst>
              <a:ahLst/>
              <a:cxnLst>
                <a:cxn ang="0">
                  <a:pos x="46" y="6"/>
                </a:cxn>
                <a:cxn ang="0">
                  <a:pos x="777" y="7"/>
                </a:cxn>
                <a:cxn ang="0">
                  <a:pos x="4710" y="3"/>
                </a:cxn>
                <a:cxn ang="0">
                  <a:pos x="5392" y="4"/>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7" name="Freeform 12"/>
            <p:cNvSpPr>
              <a:spLocks noChangeAspect="1"/>
            </p:cNvSpPr>
            <p:nvPr/>
          </p:nvSpPr>
          <p:spPr>
            <a:xfrm>
              <a:off x="263" y="2102"/>
              <a:ext cx="3232" cy="19"/>
            </a:xfrm>
            <a:custGeom>
              <a:avLst/>
              <a:gdLst>
                <a:gd name="txL" fmla="*/ 0 w 3049"/>
                <a:gd name="txT" fmla="*/ 0 h 26"/>
                <a:gd name="txR" fmla="*/ 3049 w 3049"/>
                <a:gd name="txB" fmla="*/ 26 h 26"/>
              </a:gdLst>
              <a:ahLst/>
              <a:cxnLst>
                <a:cxn ang="0">
                  <a:pos x="46" y="1"/>
                </a:cxn>
                <a:cxn ang="0">
                  <a:pos x="776" y="1"/>
                </a:cxn>
                <a:cxn ang="0">
                  <a:pos x="4696" y="1"/>
                </a:cxn>
                <a:cxn ang="0">
                  <a:pos x="5375" y="1"/>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8" name="Freeform 13"/>
            <p:cNvSpPr>
              <a:spLocks noChangeAspect="1"/>
            </p:cNvSpPr>
            <p:nvPr/>
          </p:nvSpPr>
          <p:spPr>
            <a:xfrm>
              <a:off x="268" y="22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69" name="Freeform 14"/>
            <p:cNvSpPr>
              <a:spLocks noChangeAspect="1"/>
            </p:cNvSpPr>
            <p:nvPr/>
          </p:nvSpPr>
          <p:spPr>
            <a:xfrm>
              <a:off x="268" y="23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70" name="Freeform 46"/>
            <p:cNvSpPr>
              <a:spLocks noChangeAspect="1"/>
            </p:cNvSpPr>
            <p:nvPr/>
          </p:nvSpPr>
          <p:spPr>
            <a:xfrm>
              <a:off x="258" y="14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71" name="Freeform 47"/>
            <p:cNvSpPr>
              <a:spLocks noChangeAspect="1"/>
            </p:cNvSpPr>
            <p:nvPr/>
          </p:nvSpPr>
          <p:spPr>
            <a:xfrm>
              <a:off x="276" y="195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3572" name="Freeform 49"/>
            <p:cNvSpPr>
              <a:spLocks noChangeAspect="1"/>
            </p:cNvSpPr>
            <p:nvPr/>
          </p:nvSpPr>
          <p:spPr>
            <a:xfrm>
              <a:off x="271" y="2530"/>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grpSp>
      <p:sp>
        <p:nvSpPr>
          <p:cNvPr id="31747" name="Rectangle 4"/>
          <p:cNvSpPr>
            <a:spLocks noGrp="1" noChangeArrowheads="1"/>
          </p:cNvSpPr>
          <p:nvPr>
            <p:ph type="title"/>
          </p:nvPr>
        </p:nvSpPr>
        <p:spPr>
          <a:xfrm>
            <a:off x="269875" y="136525"/>
            <a:ext cx="8850313" cy="1143000"/>
          </a:xfrm>
        </p:spPr>
        <p:txBody>
          <a:bodyPr vert="horz" wrap="square" lIns="0" tIns="45720" rIns="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Required Behavior</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 Frame Concern Checklist</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23556" name="Text Box 15"/>
          <p:cNvSpPr txBox="1"/>
          <p:nvPr/>
        </p:nvSpPr>
        <p:spPr>
          <a:xfrm>
            <a:off x="654050" y="1514475"/>
            <a:ext cx="4951413" cy="2720975"/>
          </a:xfrm>
          <a:prstGeom prst="rect">
            <a:avLst/>
          </a:prstGeom>
          <a:noFill/>
          <a:ln w="9525">
            <a:noFill/>
          </a:ln>
        </p:spPr>
        <p:txBody>
          <a:bodyPr wrap="none">
            <a:spAutoFit/>
          </a:bodyPr>
          <a:p>
            <a:pPr eaLnBrk="1" hangingPunct="1"/>
            <a:r>
              <a:rPr lang="en-US" altLang="en-US" sz="1600" b="1" dirty="0">
                <a:latin typeface="Comic Sans MS" panose="030F0702030302020204" pitchFamily="66" charset="0"/>
              </a:rPr>
              <a:t>Required Behavior Frame Checklist</a:t>
            </a:r>
            <a:endParaRPr lang="en-US" altLang="en-US" sz="1600" b="1" dirty="0">
              <a:latin typeface="Comic Sans MS" panose="030F0702030302020204" pitchFamily="66" charset="0"/>
            </a:endParaRPr>
          </a:p>
          <a:p>
            <a:pPr eaLnBrk="1" hangingPunct="1">
              <a:lnSpc>
                <a:spcPct val="70000"/>
              </a:lnSpc>
            </a:pPr>
            <a:endParaRPr lang="en-US" altLang="en-US" sz="1200" dirty="0">
              <a:latin typeface="Comic Sans MS" panose="030F0702030302020204" pitchFamily="66" charset="0"/>
            </a:endParaRPr>
          </a:p>
          <a:p>
            <a:pPr eaLnBrk="1" hangingPunct="1">
              <a:buFont typeface="Wingdings" panose="05000000000000000000" pitchFamily="2" charset="2"/>
              <a:buChar char="q"/>
            </a:pPr>
            <a:r>
              <a:rPr lang="en-US" altLang="en-US" sz="1200" dirty="0">
                <a:latin typeface="Comic Sans MS" panose="030F0702030302020204" pitchFamily="66" charset="0"/>
              </a:rPr>
              <a:t> Frame requirement:  Autonomously control an object (“domain”)</a:t>
            </a:r>
            <a:endParaRPr lang="en-US" altLang="en-US" sz="1200" dirty="0">
              <a:latin typeface="Comic Sans MS" panose="030F0702030302020204" pitchFamily="66" charset="0"/>
            </a:endParaRPr>
          </a:p>
          <a:p>
            <a:pPr marL="50165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Describe the business goals to be achieved</a:t>
            </a:r>
            <a:endParaRPr lang="en-US" altLang="en-US" sz="1200" dirty="0">
              <a:latin typeface="Comic Sans MS" panose="030F0702030302020204" pitchFamily="66" charset="0"/>
            </a:endParaRPr>
          </a:p>
          <a:p>
            <a:pPr eaLnBrk="1" hangingPunct="1">
              <a:buFont typeface="Wingdings" panose="05000000000000000000" pitchFamily="2" charset="2"/>
              <a:buChar char="q"/>
            </a:pPr>
            <a:r>
              <a:rPr lang="en-US" altLang="en-US" sz="1200" dirty="0">
                <a:solidFill>
                  <a:srgbClr val="680000"/>
                </a:solidFill>
                <a:latin typeface="Comic Sans MS" panose="030F0702030302020204" pitchFamily="66" charset="0"/>
              </a:rPr>
              <a:t> Description</a:t>
            </a:r>
            <a:r>
              <a:rPr lang="en-US" altLang="en-US" sz="1200" dirty="0">
                <a:latin typeface="Comic Sans MS" panose="030F0702030302020204" pitchFamily="66" charset="0"/>
              </a:rPr>
              <a:t> of the controlled domain:</a:t>
            </a:r>
            <a:endParaRPr lang="en-US" altLang="en-US" sz="1200" dirty="0">
              <a:latin typeface="Comic Sans MS" panose="030F0702030302020204" pitchFamily="66" charset="0"/>
            </a:endParaRPr>
          </a:p>
          <a:p>
            <a:pPr marL="50165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Describe the (relevant) behavioral rules of the domain</a:t>
            </a:r>
            <a:endParaRPr lang="en-US" altLang="en-US" sz="1200" dirty="0">
              <a:latin typeface="Comic Sans MS" panose="030F0702030302020204" pitchFamily="66" charset="0"/>
            </a:endParaRPr>
          </a:p>
          <a:p>
            <a:pPr eaLnBrk="1" hangingPunct="1">
              <a:spcBef>
                <a:spcPct val="50000"/>
              </a:spcBef>
              <a:buFont typeface="Wingdings" panose="05000000000000000000" pitchFamily="2" charset="2"/>
              <a:buChar char="q"/>
            </a:pPr>
            <a:r>
              <a:rPr lang="en-US" altLang="en-US" sz="1200" dirty="0">
                <a:solidFill>
                  <a:srgbClr val="680000"/>
                </a:solidFill>
                <a:latin typeface="Comic Sans MS" panose="030F0702030302020204" pitchFamily="66" charset="0"/>
              </a:rPr>
              <a:t> Specification </a:t>
            </a:r>
            <a:r>
              <a:rPr lang="en-US" altLang="en-US" sz="1200" dirty="0">
                <a:latin typeface="Comic Sans MS" panose="030F0702030302020204" pitchFamily="66" charset="0"/>
              </a:rPr>
              <a:t>of the system-to-be:</a:t>
            </a:r>
            <a:endParaRPr lang="en-US" altLang="en-US" sz="1200" dirty="0">
              <a:latin typeface="Comic Sans MS" panose="030F0702030302020204" pitchFamily="66" charset="0"/>
            </a:endParaRPr>
          </a:p>
          <a:p>
            <a:pPr marL="50165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What inputs the system will receive and outputs produce</a:t>
            </a:r>
            <a:endParaRPr lang="en-US" altLang="en-US" sz="900" dirty="0">
              <a:latin typeface="Comic Sans MS" panose="030F0702030302020204" pitchFamily="66" charset="0"/>
            </a:endParaRPr>
          </a:p>
          <a:p>
            <a:pPr eaLnBrk="1" hangingPunct="1">
              <a:spcBef>
                <a:spcPct val="50000"/>
              </a:spcBef>
              <a:buFont typeface="Wingdings" panose="05000000000000000000" pitchFamily="2" charset="2"/>
              <a:buChar char="q"/>
            </a:pPr>
            <a:r>
              <a:rPr lang="en-US" altLang="en-US" sz="1200" dirty="0">
                <a:latin typeface="Comic Sans MS" panose="030F0702030302020204" pitchFamily="66" charset="0"/>
              </a:rPr>
              <a:t> Capabilities of the available “</a:t>
            </a:r>
            <a:r>
              <a:rPr lang="en-US" altLang="en-US" sz="1200" dirty="0">
                <a:solidFill>
                  <a:srgbClr val="680000"/>
                </a:solidFill>
                <a:latin typeface="Comic Sans MS" panose="030F0702030302020204" pitchFamily="66" charset="0"/>
              </a:rPr>
              <a:t>sensors</a:t>
            </a:r>
            <a:r>
              <a:rPr lang="en-US" altLang="en-US" sz="1200" dirty="0">
                <a:latin typeface="Comic Sans MS" panose="030F0702030302020204" pitchFamily="66" charset="0"/>
              </a:rPr>
              <a:t>” (inputs):</a:t>
            </a:r>
            <a:endParaRPr lang="en-US" altLang="en-US" sz="1200" dirty="0">
              <a:latin typeface="Comic Sans MS" panose="030F0702030302020204" pitchFamily="66" charset="0"/>
            </a:endParaRPr>
          </a:p>
          <a:p>
            <a:pPr marL="50165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Sensed parameters: type, sampling rate, precision, …</a:t>
            </a:r>
            <a:endParaRPr lang="en-US" altLang="en-US" sz="1200" dirty="0">
              <a:latin typeface="Comic Sans MS" panose="030F0702030302020204" pitchFamily="66" charset="0"/>
            </a:endParaRPr>
          </a:p>
          <a:p>
            <a:pPr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 Capabilities of available “actuators” (outputs):</a:t>
            </a:r>
            <a:endParaRPr lang="en-US" altLang="en-US" sz="1200" dirty="0">
              <a:latin typeface="Comic Sans MS" panose="030F0702030302020204" pitchFamily="66" charset="0"/>
            </a:endParaRPr>
          </a:p>
          <a:p>
            <a:pPr marL="50165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Actuation parameters: type, acting rate, strength, …</a:t>
            </a:r>
            <a:endParaRPr lang="en-US" altLang="en-US" sz="1200" dirty="0">
              <a:latin typeface="Comic Sans MS" panose="030F0702030302020204" pitchFamily="66" charset="0"/>
            </a:endParaRPr>
          </a:p>
        </p:txBody>
      </p:sp>
      <p:sp>
        <p:nvSpPr>
          <p:cNvPr id="23557" name="Text Box 21"/>
          <p:cNvSpPr txBox="1">
            <a:spLocks noChangeAspect="1"/>
          </p:cNvSpPr>
          <p:nvPr/>
        </p:nvSpPr>
        <p:spPr>
          <a:xfrm>
            <a:off x="409575" y="4695825"/>
            <a:ext cx="7891463" cy="2120900"/>
          </a:xfrm>
          <a:prstGeom prst="rect">
            <a:avLst/>
          </a:prstGeom>
          <a:noFill/>
          <a:ln w="9525">
            <a:noFill/>
          </a:ln>
        </p:spPr>
        <p:txBody>
          <a:bodyPr wrap="none" lIns="9144" tIns="0" rIns="9144" bIns="0">
            <a:spAutoFit/>
          </a:bodyPr>
          <a:p>
            <a:pPr eaLnBrk="1" hangingPunct="1"/>
            <a:r>
              <a:rPr lang="en-US" altLang="en-US" sz="1200" u="sng" dirty="0">
                <a:latin typeface="Comic Sans MS" panose="030F0702030302020204" pitchFamily="66" charset="0"/>
              </a:rPr>
              <a:t>Business goal for REQ1</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The lock will be armed electronically and periodically checked that it remains so until explicitly disarmed</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If the user unlocks, but forgets to lock, the lock will be automatically disarmed after a specified interval</a:t>
            </a:r>
            <a:endParaRPr lang="en-US" altLang="en-US" sz="1200" dirty="0">
              <a:latin typeface="Comic Sans MS" panose="030F0702030302020204" pitchFamily="66" charset="0"/>
            </a:endParaRPr>
          </a:p>
          <a:p>
            <a:pPr eaLnBrk="1" hangingPunct="1">
              <a:spcBef>
                <a:spcPts val="725"/>
              </a:spcBef>
            </a:pPr>
            <a:r>
              <a:rPr lang="en-US" altLang="en-US" sz="1200" u="sng" dirty="0">
                <a:latin typeface="Comic Sans MS" panose="030F0702030302020204" pitchFamily="66" charset="0"/>
              </a:rPr>
              <a:t>Description of the electromechanical lock (problem domain)</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A low or none voltage keeps the latch extended (“armed”);</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A high voltage causes mechanical retraction of the latch (“disarmed”) and remains retracted until low voltage.</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Capabilities of available “sensors”</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The lock device will report current status when queried via USB protocol, using a command</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Capabilities of available “actuators”</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The lock device’s latch will extend or retract, as commanded via USB protocol, using a command</a:t>
            </a:r>
            <a:endParaRPr lang="en-US" altLang="en-US" sz="1200" dirty="0">
              <a:latin typeface="Comic Sans MS" panose="030F0702030302020204" pitchFamily="66" charset="0"/>
            </a:endParaRPr>
          </a:p>
        </p:txBody>
      </p:sp>
      <p:sp>
        <p:nvSpPr>
          <p:cNvPr id="23558" name="Rectangle 51"/>
          <p:cNvSpPr/>
          <p:nvPr/>
        </p:nvSpPr>
        <p:spPr>
          <a:xfrm>
            <a:off x="201613" y="4359275"/>
            <a:ext cx="7439025" cy="336550"/>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 — REQ1: keep door locked and auto-lock ]</a:t>
            </a:r>
            <a:endParaRPr lang="en-US" altLang="en-US" sz="1600" dirty="0">
              <a:solidFill>
                <a:srgbClr val="777777"/>
              </a:solidFill>
              <a:latin typeface="Comic Sans MS" panose="030F0702030302020204" pitchFamily="66" charset="0"/>
            </a:endParaRPr>
          </a:p>
        </p:txBody>
      </p:sp>
      <p:sp>
        <p:nvSpPr>
          <p:cNvPr id="23559" name="Text Box 36"/>
          <p:cNvSpPr txBox="1">
            <a:spLocks noChangeAspect="1"/>
          </p:cNvSpPr>
          <p:nvPr/>
        </p:nvSpPr>
        <p:spPr>
          <a:xfrm>
            <a:off x="5748338" y="2289175"/>
            <a:ext cx="3359150" cy="831850"/>
          </a:xfrm>
          <a:prstGeom prst="rect">
            <a:avLst/>
          </a:prstGeom>
          <a:noFill/>
          <a:ln w="9525">
            <a:noFill/>
          </a:ln>
        </p:spPr>
        <p:txBody>
          <a:bodyPr lIns="9144" tIns="0" rIns="9144" bIns="0">
            <a:spAutoFit/>
          </a:bodyPr>
          <a:p>
            <a:pPr eaLnBrk="1" hangingPunct="1"/>
            <a:r>
              <a:rPr lang="en-US" altLang="en-US" dirty="0">
                <a:latin typeface="AvantGarde Bk BT" pitchFamily="34" charset="0"/>
              </a:rPr>
              <a:t>What the three descriptions of a “Required Behavior” Frame should contain</a:t>
            </a:r>
            <a:endParaRPr lang="en-US" altLang="en-US" dirty="0">
              <a:latin typeface="AvantGarde Bk BT" pitchFamily="34" charset="0"/>
            </a:endParaRPr>
          </a:p>
        </p:txBody>
      </p:sp>
      <p:sp>
        <p:nvSpPr>
          <p:cNvPr id="2" name="Freeform 1"/>
          <p:cNvSpPr/>
          <p:nvPr/>
        </p:nvSpPr>
        <p:spPr>
          <a:xfrm>
            <a:off x="5824538" y="1827213"/>
            <a:ext cx="1624013" cy="409575"/>
          </a:xfrm>
          <a:custGeom>
            <a:avLst/>
            <a:gdLst>
              <a:gd name="connsiteX0" fmla="*/ 1802167 w 1802167"/>
              <a:gd name="connsiteY0" fmla="*/ 408373 h 408373"/>
              <a:gd name="connsiteX1" fmla="*/ 1438183 w 1802167"/>
              <a:gd name="connsiteY1" fmla="*/ 0 h 408373"/>
              <a:gd name="connsiteX2" fmla="*/ 0 w 1802167"/>
              <a:gd name="connsiteY2" fmla="*/ 177553 h 408373"/>
              <a:gd name="connsiteX0-1" fmla="*/ 1802167 w 1802193"/>
              <a:gd name="connsiteY0-2" fmla="*/ 408373 h 408373"/>
              <a:gd name="connsiteX1-3" fmla="*/ 1438183 w 1802193"/>
              <a:gd name="connsiteY1-4" fmla="*/ 0 h 408373"/>
              <a:gd name="connsiteX2-5" fmla="*/ 0 w 1802193"/>
              <a:gd name="connsiteY2-6" fmla="*/ 177553 h 408373"/>
              <a:gd name="connsiteX0-7" fmla="*/ 1802167 w 1815671"/>
              <a:gd name="connsiteY0-8" fmla="*/ 416689 h 416689"/>
              <a:gd name="connsiteX1-9" fmla="*/ 1438183 w 1815671"/>
              <a:gd name="connsiteY1-10" fmla="*/ 8316 h 416689"/>
              <a:gd name="connsiteX2-11" fmla="*/ 0 w 1815671"/>
              <a:gd name="connsiteY2-12" fmla="*/ 185869 h 416689"/>
              <a:gd name="connsiteX0-13" fmla="*/ 1802167 w 1802225"/>
              <a:gd name="connsiteY0-14" fmla="*/ 419376 h 419376"/>
              <a:gd name="connsiteX1-15" fmla="*/ 1438183 w 1802225"/>
              <a:gd name="connsiteY1-16" fmla="*/ 11003 h 419376"/>
              <a:gd name="connsiteX2-17" fmla="*/ 0 w 1802225"/>
              <a:gd name="connsiteY2-18" fmla="*/ 188556 h 419376"/>
              <a:gd name="connsiteX0-19" fmla="*/ 1802167 w 1802225"/>
              <a:gd name="connsiteY0-20" fmla="*/ 417583 h 417583"/>
              <a:gd name="connsiteX1-21" fmla="*/ 1438183 w 1802225"/>
              <a:gd name="connsiteY1-22" fmla="*/ 9210 h 417583"/>
              <a:gd name="connsiteX2-23" fmla="*/ 0 w 1802225"/>
              <a:gd name="connsiteY2-24" fmla="*/ 186763 h 417583"/>
              <a:gd name="connsiteX0-25" fmla="*/ 1802167 w 1802236"/>
              <a:gd name="connsiteY0-26" fmla="*/ 410002 h 410002"/>
              <a:gd name="connsiteX1-27" fmla="*/ 1438183 w 1802236"/>
              <a:gd name="connsiteY1-28" fmla="*/ 1629 h 410002"/>
              <a:gd name="connsiteX2-29" fmla="*/ 0 w 1802236"/>
              <a:gd name="connsiteY2-30" fmla="*/ 179182 h 410002"/>
            </a:gdLst>
            <a:ahLst/>
            <a:cxnLst>
              <a:cxn ang="0">
                <a:pos x="connsiteX0-1" y="connsiteY0-2"/>
              </a:cxn>
              <a:cxn ang="0">
                <a:pos x="connsiteX1-3" y="connsiteY1-4"/>
              </a:cxn>
              <a:cxn ang="0">
                <a:pos x="connsiteX2-5" y="connsiteY2-6"/>
              </a:cxn>
            </a:cxnLst>
            <a:rect l="l" t="t" r="r" b="b"/>
            <a:pathLst>
              <a:path w="1802236" h="410002">
                <a:moveTo>
                  <a:pt x="1802167" y="410002"/>
                </a:moveTo>
                <a:cubicBezTo>
                  <a:pt x="1805126" y="211735"/>
                  <a:pt x="1713390" y="22344"/>
                  <a:pt x="1438183" y="1629"/>
                </a:cubicBezTo>
                <a:cubicBezTo>
                  <a:pt x="1162976" y="-19086"/>
                  <a:pt x="1100831" y="164386"/>
                  <a:pt x="0" y="179182"/>
                </a:cubicBezTo>
              </a:path>
            </a:pathLst>
          </a:custGeom>
          <a:noFill/>
          <a:ln w="19050">
            <a:solidFill>
              <a:srgbClr val="C000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Arc 2"/>
          <p:cNvSpPr/>
          <p:nvPr/>
        </p:nvSpPr>
        <p:spPr>
          <a:xfrm>
            <a:off x="304800" y="3221038"/>
            <a:ext cx="4397375" cy="2124075"/>
          </a:xfrm>
          <a:prstGeom prst="arc">
            <a:avLst>
              <a:gd name="adj1" fmla="val 16262250"/>
              <a:gd name="adj2" fmla="val 4530683"/>
            </a:avLst>
          </a:prstGeom>
          <a:noFill/>
          <a:ln w="3175">
            <a:solidFill>
              <a:schemeClr val="tx1"/>
            </a:solidFill>
            <a:round/>
            <a:headEnd type="arrow" w="lg" len="lg"/>
            <a:tailEnd type="none"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7" name="Arc 36"/>
          <p:cNvSpPr/>
          <p:nvPr/>
        </p:nvSpPr>
        <p:spPr>
          <a:xfrm>
            <a:off x="304800" y="3221038"/>
            <a:ext cx="2209800" cy="2146300"/>
          </a:xfrm>
          <a:prstGeom prst="arc">
            <a:avLst>
              <a:gd name="adj1" fmla="val 6214765"/>
              <a:gd name="adj2" fmla="val 16172014"/>
            </a:avLst>
          </a:prstGeom>
          <a:noFill/>
          <a:ln w="3175">
            <a:solidFill>
              <a:schemeClr val="tx1"/>
            </a:solidFill>
            <a:round/>
            <a:tailEnd type="arrow" w="lg" len="lg"/>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cxnSp>
        <p:nvCxnSpPr>
          <p:cNvPr id="24580" name="AutoShape 9"/>
          <p:cNvCxnSpPr>
            <a:cxnSpLocks noChangeAspect="1"/>
            <a:stCxn id="24585" idx="2"/>
            <a:endCxn id="24587" idx="0"/>
          </p:cNvCxnSpPr>
          <p:nvPr/>
        </p:nvCxnSpPr>
        <p:spPr>
          <a:xfrm>
            <a:off x="1963738" y="3482975"/>
            <a:ext cx="1587" cy="1381125"/>
          </a:xfrm>
          <a:prstGeom prst="straightConnector1">
            <a:avLst/>
          </a:prstGeom>
          <a:ln w="3175" cap="flat" cmpd="sng">
            <a:solidFill>
              <a:schemeClr val="tx1"/>
            </a:solidFill>
            <a:prstDash val="solid"/>
            <a:headEnd type="none" w="med" len="med"/>
            <a:tailEnd type="arrow" w="lg" len="lg"/>
          </a:ln>
        </p:spPr>
      </p:cxnSp>
      <p:sp>
        <p:nvSpPr>
          <p:cNvPr id="24581" name="Slide Number Placeholder 4"/>
          <p:cNvSpPr txBox="1">
            <a:spLocks noGrp="1"/>
          </p:cNvSpPr>
          <p:nvPr>
            <p:ph type="sldNum" sz="quarter" idx="4"/>
          </p:nvPr>
        </p:nvSpPr>
        <p:spPr>
          <a:xfrm>
            <a:off x="6929438" y="6248400"/>
            <a:ext cx="21336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latin typeface="Times New Roman" panose="02020603050405020304" pitchFamily="18" charset="0"/>
              </a:rPr>
            </a:fld>
            <a:endParaRPr lang="en-US" altLang="en-US" sz="1400" dirty="0">
              <a:latin typeface="Times New Roman" panose="02020603050405020304" pitchFamily="18" charset="0"/>
            </a:endParaRPr>
          </a:p>
        </p:txBody>
      </p:sp>
      <p:cxnSp>
        <p:nvCxnSpPr>
          <p:cNvPr id="24582" name="AutoShape 10"/>
          <p:cNvCxnSpPr>
            <a:cxnSpLocks noChangeAspect="1"/>
            <a:stCxn id="24584" idx="4"/>
            <a:endCxn id="24585" idx="0"/>
          </p:cNvCxnSpPr>
          <p:nvPr/>
        </p:nvCxnSpPr>
        <p:spPr>
          <a:xfrm flipH="1">
            <a:off x="1963738" y="2497138"/>
            <a:ext cx="0" cy="460375"/>
          </a:xfrm>
          <a:prstGeom prst="straightConnector1">
            <a:avLst/>
          </a:prstGeom>
          <a:ln w="3175" cap="flat" cmpd="sng">
            <a:solidFill>
              <a:schemeClr val="tx1"/>
            </a:solidFill>
            <a:prstDash val="solid"/>
            <a:headEnd type="none" w="med" len="med"/>
            <a:tailEnd type="arrow" w="lg" len="lg"/>
          </a:ln>
        </p:spPr>
      </p:cxnSp>
      <p:sp>
        <p:nvSpPr>
          <p:cNvPr id="24583" name="Rectangle 16"/>
          <p:cNvSpPr>
            <a:spLocks noChangeAspect="1"/>
          </p:cNvSpPr>
          <p:nvPr/>
        </p:nvSpPr>
        <p:spPr>
          <a:xfrm>
            <a:off x="322263" y="4202113"/>
            <a:ext cx="1277937" cy="153987"/>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after autoLockInterval/</a:t>
            </a:r>
            <a:endParaRPr lang="en-US" altLang="en-US" sz="1000" dirty="0">
              <a:latin typeface="Arial" panose="020B0604020202020204" pitchFamily="34" charset="0"/>
            </a:endParaRPr>
          </a:p>
        </p:txBody>
      </p:sp>
      <p:sp>
        <p:nvSpPr>
          <p:cNvPr id="24584" name="Oval 19"/>
          <p:cNvSpPr>
            <a:spLocks noChangeAspect="1"/>
          </p:cNvSpPr>
          <p:nvPr/>
        </p:nvSpPr>
        <p:spPr>
          <a:xfrm>
            <a:off x="1865313" y="2301875"/>
            <a:ext cx="196850" cy="195263"/>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sz="2400" b="1" dirty="0">
              <a:latin typeface="Arial" panose="020B0604020202020204" pitchFamily="34" charset="0"/>
            </a:endParaRPr>
          </a:p>
        </p:txBody>
      </p:sp>
      <p:sp>
        <p:nvSpPr>
          <p:cNvPr id="24585" name="AutoShape 23"/>
          <p:cNvSpPr>
            <a:spLocks noChangeAspect="1"/>
          </p:cNvSpPr>
          <p:nvPr/>
        </p:nvSpPr>
        <p:spPr>
          <a:xfrm>
            <a:off x="1411288" y="2957513"/>
            <a:ext cx="1103312" cy="525462"/>
          </a:xfrm>
          <a:prstGeom prst="roundRect">
            <a:avLst>
              <a:gd name="adj" fmla="val 22667"/>
            </a:avLst>
          </a:prstGeom>
          <a:solidFill>
            <a:schemeClr val="bg1"/>
          </a:solidFill>
          <a:ln w="19050" cap="flat" cmpd="sng">
            <a:solidFill>
              <a:schemeClr val="tx1"/>
            </a:solidFill>
            <a:prstDash val="solid"/>
            <a:headEnd type="none" w="med" len="med"/>
            <a:tailEnd type="none" w="med" len="med"/>
          </a:ln>
        </p:spPr>
        <p:txBody>
          <a:bodyPr wrap="none" anchor="ctr" anchorCtr="0"/>
          <a:p>
            <a:pPr algn="ctr" eaLnBrk="1" hangingPunct="1"/>
            <a:r>
              <a:rPr lang="en-US" altLang="en-US" sz="1400" dirty="0">
                <a:latin typeface="Arial" panose="020B0604020202020204" pitchFamily="34" charset="0"/>
              </a:rPr>
              <a:t>Locked</a:t>
            </a:r>
            <a:endParaRPr lang="en-US" altLang="en-US" sz="1400" dirty="0">
              <a:latin typeface="Arial" panose="020B0604020202020204" pitchFamily="34" charset="0"/>
            </a:endParaRPr>
          </a:p>
        </p:txBody>
      </p:sp>
      <p:sp>
        <p:nvSpPr>
          <p:cNvPr id="24586" name="Text Box 26"/>
          <p:cNvSpPr txBox="1">
            <a:spLocks noChangeAspect="1"/>
          </p:cNvSpPr>
          <p:nvPr/>
        </p:nvSpPr>
        <p:spPr>
          <a:xfrm>
            <a:off x="2000250" y="4005263"/>
            <a:ext cx="1701800" cy="153987"/>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“Unlock” pressed [valid-key] / </a:t>
            </a:r>
            <a:endParaRPr lang="en-US" altLang="en-US" sz="1000" dirty="0">
              <a:latin typeface="Arial" panose="020B0604020202020204" pitchFamily="34" charset="0"/>
            </a:endParaRPr>
          </a:p>
        </p:txBody>
      </p:sp>
      <p:sp>
        <p:nvSpPr>
          <p:cNvPr id="24587" name="AutoShape 28"/>
          <p:cNvSpPr>
            <a:spLocks noChangeAspect="1"/>
          </p:cNvSpPr>
          <p:nvPr/>
        </p:nvSpPr>
        <p:spPr>
          <a:xfrm>
            <a:off x="1163638" y="4864100"/>
            <a:ext cx="1603375" cy="960438"/>
          </a:xfrm>
          <a:prstGeom prst="roundRect">
            <a:avLst>
              <a:gd name="adj" fmla="val 9366"/>
            </a:avLst>
          </a:prstGeom>
          <a:solidFill>
            <a:schemeClr val="bg1"/>
          </a:solidFill>
          <a:ln w="19050" cap="flat" cmpd="sng">
            <a:solidFill>
              <a:schemeClr val="tx1"/>
            </a:solidFill>
            <a:prstDash val="solid"/>
            <a:headEnd type="none" w="med" len="med"/>
            <a:tailEnd type="none" w="med" len="med"/>
          </a:ln>
        </p:spPr>
        <p:txBody>
          <a:bodyPr wrap="none" tIns="27432" bIns="0"/>
          <a:p>
            <a:pPr eaLnBrk="1" hangingPunct="1"/>
            <a:r>
              <a:rPr lang="en-US" altLang="en-US" sz="1000" dirty="0">
                <a:latin typeface="Arial" panose="020B0604020202020204" pitchFamily="34" charset="0"/>
              </a:rPr>
              <a:t>        </a:t>
            </a:r>
            <a:r>
              <a:rPr lang="en-US" altLang="en-US" sz="1400" dirty="0">
                <a:latin typeface="Arial" panose="020B0604020202020204" pitchFamily="34" charset="0"/>
              </a:rPr>
              <a:t>Unlocked</a:t>
            </a:r>
            <a:endParaRPr lang="en-US" altLang="en-US" sz="1400" dirty="0">
              <a:latin typeface="Arial" panose="020B0604020202020204" pitchFamily="34" charset="0"/>
            </a:endParaRPr>
          </a:p>
          <a:p>
            <a:pPr eaLnBrk="1" hangingPunct="1"/>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entry: start autoLock timer</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do: countdown</a:t>
            </a:r>
            <a:endParaRPr lang="en-US" altLang="en-US" sz="1000" dirty="0">
              <a:latin typeface="Arial" panose="020B0604020202020204" pitchFamily="34" charset="0"/>
            </a:endParaRPr>
          </a:p>
        </p:txBody>
      </p:sp>
      <p:sp>
        <p:nvSpPr>
          <p:cNvPr id="24588" name="Line 29"/>
          <p:cNvSpPr>
            <a:spLocks noChangeAspect="1"/>
          </p:cNvSpPr>
          <p:nvPr/>
        </p:nvSpPr>
        <p:spPr>
          <a:xfrm>
            <a:off x="1163638" y="5253038"/>
            <a:ext cx="1603375" cy="0"/>
          </a:xfrm>
          <a:prstGeom prst="line">
            <a:avLst/>
          </a:prstGeom>
          <a:ln w="3175" cap="flat" cmpd="sng">
            <a:solidFill>
              <a:schemeClr val="tx1"/>
            </a:solidFill>
            <a:prstDash val="solid"/>
            <a:headEnd type="none" w="med" len="med"/>
            <a:tailEnd type="none" w="med" len="med"/>
          </a:ln>
        </p:spPr>
      </p:sp>
      <p:sp>
        <p:nvSpPr>
          <p:cNvPr id="20484" name="Rectangle 5"/>
          <p:cNvSpPr>
            <a:spLocks noGrp="1" noChangeArrowheads="1"/>
          </p:cNvSpPr>
          <p:nvPr>
            <p:ph type="title"/>
          </p:nvPr>
        </p:nvSpPr>
        <p:spPr>
          <a:xfrm>
            <a:off x="269875" y="136525"/>
            <a:ext cx="8850313" cy="1143000"/>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Requirement:				</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REQ1 - keep door locked and auto-lock </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24590" name="Text Box 35"/>
          <p:cNvSpPr txBox="1">
            <a:spLocks noChangeAspect="1"/>
          </p:cNvSpPr>
          <p:nvPr/>
        </p:nvSpPr>
        <p:spPr>
          <a:xfrm>
            <a:off x="3833813" y="6053138"/>
            <a:ext cx="4543425" cy="609600"/>
          </a:xfrm>
          <a:prstGeom prst="rect">
            <a:avLst/>
          </a:prstGeom>
          <a:noFill/>
          <a:ln w="9525">
            <a:noFill/>
          </a:ln>
        </p:spPr>
        <p:txBody>
          <a:bodyPr lIns="9144" tIns="0" rIns="9144" bIns="0">
            <a:spAutoFit/>
          </a:bodyPr>
          <a:p>
            <a:pPr eaLnBrk="1" hangingPunct="1"/>
            <a:r>
              <a:rPr lang="en-US" altLang="en-US" sz="2000" dirty="0">
                <a:solidFill>
                  <a:schemeClr val="accent2"/>
                </a:solidFill>
                <a:latin typeface="Comic Sans MS" panose="030F0702030302020204" pitchFamily="66" charset="0"/>
              </a:rPr>
              <a:t>Need “entry” and “do” state activities for countdown timers</a:t>
            </a:r>
            <a:endParaRPr lang="en-US" altLang="en-US" sz="2000" dirty="0">
              <a:solidFill>
                <a:schemeClr val="accent2"/>
              </a:solidFill>
              <a:latin typeface="Comic Sans MS" panose="030F0702030302020204" pitchFamily="66" charset="0"/>
            </a:endParaRPr>
          </a:p>
        </p:txBody>
      </p:sp>
      <p:sp>
        <p:nvSpPr>
          <p:cNvPr id="24591" name="Freeform 36"/>
          <p:cNvSpPr/>
          <p:nvPr/>
        </p:nvSpPr>
        <p:spPr>
          <a:xfrm>
            <a:off x="1749425" y="5697538"/>
            <a:ext cx="1952625" cy="1047750"/>
          </a:xfrm>
          <a:custGeom>
            <a:avLst/>
            <a:gdLst>
              <a:gd name="txL" fmla="*/ 0 w 1230"/>
              <a:gd name="txT" fmla="*/ 0 h 660"/>
              <a:gd name="txR" fmla="*/ 1230 w 1230"/>
              <a:gd name="txB" fmla="*/ 660 h 660"/>
            </a:gdLst>
            <a:ahLst/>
            <a:cxnLst>
              <a:cxn ang="0">
                <a:pos x="2147483647" y="2147483647"/>
              </a:cxn>
              <a:cxn ang="0">
                <a:pos x="2147483647" y="0"/>
              </a:cxn>
            </a:cxnLst>
            <a:rect l="txL" t="txT" r="txR" b="txB"/>
            <a:pathLst>
              <a:path w="1230" h="660">
                <a:moveTo>
                  <a:pt x="1230" y="426"/>
                </a:moveTo>
                <a:cubicBezTo>
                  <a:pt x="670" y="343"/>
                  <a:pt x="0" y="660"/>
                  <a:pt x="94" y="0"/>
                </a:cubicBezTo>
              </a:path>
            </a:pathLst>
          </a:custGeom>
          <a:noFill/>
          <a:ln w="6350" cap="flat" cmpd="sng">
            <a:solidFill>
              <a:schemeClr val="accent2">
                <a:alpha val="100000"/>
              </a:schemeClr>
            </a:solidFill>
            <a:prstDash val="dash"/>
            <a:round/>
            <a:headEnd type="none" w="med" len="med"/>
            <a:tailEnd type="triangle" w="lg" len="med"/>
          </a:ln>
        </p:spPr>
        <p:txBody>
          <a:bodyPr/>
          <a:p>
            <a:endParaRPr lang="zh-CN" altLang="en-US"/>
          </a:p>
        </p:txBody>
      </p:sp>
      <p:sp>
        <p:nvSpPr>
          <p:cNvPr id="24592" name="Text Box 26"/>
          <p:cNvSpPr txBox="1">
            <a:spLocks noChangeAspect="1"/>
          </p:cNvSpPr>
          <p:nvPr/>
        </p:nvSpPr>
        <p:spPr>
          <a:xfrm>
            <a:off x="3576638" y="4568825"/>
            <a:ext cx="933450" cy="153988"/>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“Lock” pressed /</a:t>
            </a:r>
            <a:endParaRPr lang="en-US" altLang="en-US" sz="1000"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4"/>
          <p:cNvSpPr>
            <a:spLocks noGrp="1" noChangeArrowheads="1"/>
          </p:cNvSpPr>
          <p:nvPr>
            <p:ph type="title"/>
          </p:nvPr>
        </p:nvSpPr>
        <p:spPr>
          <a:xfrm>
            <a:off x="269875" y="136525"/>
            <a:ext cx="8850313" cy="1143000"/>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Problem Domain Properties:</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How Electronic Lock Works</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25603" name="Freeform 5"/>
          <p:cNvSpPr/>
          <p:nvPr/>
        </p:nvSpPr>
        <p:spPr>
          <a:xfrm>
            <a:off x="2212975" y="4006850"/>
            <a:ext cx="3352800" cy="304800"/>
          </a:xfrm>
          <a:custGeom>
            <a:avLst/>
            <a:gdLst>
              <a:gd name="txL" fmla="*/ 0 w 2112"/>
              <a:gd name="txT" fmla="*/ 0 h 192"/>
              <a:gd name="txR" fmla="*/ 2112 w 2112"/>
              <a:gd name="txB" fmla="*/ 192 h 192"/>
            </a:gdLst>
            <a:ahLst/>
            <a:cxnLst>
              <a:cxn ang="0">
                <a:pos x="0" y="2147483647"/>
              </a:cxn>
              <a:cxn ang="0">
                <a:pos x="2147483647" y="2147483647"/>
              </a:cxn>
              <a:cxn ang="0">
                <a:pos x="2147483647" y="0"/>
              </a:cxn>
              <a:cxn ang="0">
                <a:pos x="2147483647" y="0"/>
              </a:cxn>
              <a:cxn ang="0">
                <a:pos x="2147483647" y="2147483647"/>
              </a:cxn>
              <a:cxn ang="0">
                <a:pos x="2147483647" y="2147483647"/>
              </a:cxn>
            </a:cxnLst>
            <a:rect l="txL" t="txT" r="txR" b="txB"/>
            <a:pathLst>
              <a:path w="2112" h="192">
                <a:moveTo>
                  <a:pt x="0" y="192"/>
                </a:moveTo>
                <a:lnTo>
                  <a:pt x="720" y="192"/>
                </a:lnTo>
                <a:lnTo>
                  <a:pt x="720" y="0"/>
                </a:lnTo>
                <a:lnTo>
                  <a:pt x="1824" y="0"/>
                </a:lnTo>
                <a:lnTo>
                  <a:pt x="1824" y="192"/>
                </a:lnTo>
                <a:lnTo>
                  <a:pt x="2112" y="192"/>
                </a:lnTo>
              </a:path>
            </a:pathLst>
          </a:custGeom>
          <a:solidFill>
            <a:srgbClr val="FFFF99">
              <a:alpha val="100000"/>
            </a:srgbClr>
          </a:solidFill>
          <a:ln w="28575" cap="flat" cmpd="sng">
            <a:solidFill>
              <a:schemeClr val="tx1">
                <a:alpha val="100000"/>
              </a:schemeClr>
            </a:solidFill>
            <a:prstDash val="solid"/>
            <a:round/>
            <a:headEnd type="none" w="med" len="med"/>
            <a:tailEnd type="none" w="med" len="med"/>
          </a:ln>
        </p:spPr>
        <p:txBody>
          <a:bodyPr/>
          <a:p>
            <a:endParaRPr lang="zh-CN" altLang="en-US"/>
          </a:p>
        </p:txBody>
      </p:sp>
      <p:grpSp>
        <p:nvGrpSpPr>
          <p:cNvPr id="25604" name="Group 6"/>
          <p:cNvGrpSpPr/>
          <p:nvPr/>
        </p:nvGrpSpPr>
        <p:grpSpPr>
          <a:xfrm>
            <a:off x="1198563" y="2185988"/>
            <a:ext cx="806450" cy="706437"/>
            <a:chOff x="1341" y="1595"/>
            <a:chExt cx="508" cy="445"/>
          </a:xfrm>
        </p:grpSpPr>
        <p:sp>
          <p:nvSpPr>
            <p:cNvPr id="25619" name="Freeform 7"/>
            <p:cNvSpPr>
              <a:spLocks noChangeAspect="1"/>
            </p:cNvSpPr>
            <p:nvPr/>
          </p:nvSpPr>
          <p:spPr>
            <a:xfrm flipH="1">
              <a:off x="1638" y="1744"/>
              <a:ext cx="162" cy="198"/>
            </a:xfrm>
            <a:custGeom>
              <a:avLst/>
              <a:gdLst>
                <a:gd name="txL" fmla="*/ 0 w 383"/>
                <a:gd name="txT" fmla="*/ 0 h 469"/>
                <a:gd name="txR" fmla="*/ 383 w 383"/>
                <a:gd name="txB" fmla="*/ 469 h 469"/>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383" h="469">
                  <a:moveTo>
                    <a:pt x="2" y="456"/>
                  </a:moveTo>
                  <a:cubicBezTo>
                    <a:pt x="0" y="442"/>
                    <a:pt x="3" y="402"/>
                    <a:pt x="7" y="371"/>
                  </a:cubicBezTo>
                  <a:cubicBezTo>
                    <a:pt x="11" y="340"/>
                    <a:pt x="18" y="304"/>
                    <a:pt x="29" y="271"/>
                  </a:cubicBezTo>
                  <a:cubicBezTo>
                    <a:pt x="40" y="238"/>
                    <a:pt x="56" y="206"/>
                    <a:pt x="76" y="175"/>
                  </a:cubicBezTo>
                  <a:cubicBezTo>
                    <a:pt x="96" y="144"/>
                    <a:pt x="123" y="110"/>
                    <a:pt x="151" y="85"/>
                  </a:cubicBezTo>
                  <a:cubicBezTo>
                    <a:pt x="179" y="60"/>
                    <a:pt x="211" y="38"/>
                    <a:pt x="245" y="24"/>
                  </a:cubicBezTo>
                  <a:cubicBezTo>
                    <a:pt x="279" y="10"/>
                    <a:pt x="335" y="0"/>
                    <a:pt x="357" y="0"/>
                  </a:cubicBezTo>
                  <a:cubicBezTo>
                    <a:pt x="379" y="0"/>
                    <a:pt x="383" y="19"/>
                    <a:pt x="379" y="23"/>
                  </a:cubicBezTo>
                  <a:cubicBezTo>
                    <a:pt x="375" y="27"/>
                    <a:pt x="355" y="18"/>
                    <a:pt x="331" y="23"/>
                  </a:cubicBezTo>
                  <a:cubicBezTo>
                    <a:pt x="307" y="28"/>
                    <a:pt x="265" y="35"/>
                    <a:pt x="235" y="50"/>
                  </a:cubicBezTo>
                  <a:cubicBezTo>
                    <a:pt x="205" y="65"/>
                    <a:pt x="175" y="90"/>
                    <a:pt x="151" y="113"/>
                  </a:cubicBezTo>
                  <a:cubicBezTo>
                    <a:pt x="127" y="136"/>
                    <a:pt x="107" y="162"/>
                    <a:pt x="89" y="191"/>
                  </a:cubicBezTo>
                  <a:cubicBezTo>
                    <a:pt x="71" y="220"/>
                    <a:pt x="55" y="256"/>
                    <a:pt x="44" y="289"/>
                  </a:cubicBezTo>
                  <a:cubicBezTo>
                    <a:pt x="33" y="322"/>
                    <a:pt x="27" y="360"/>
                    <a:pt x="23" y="388"/>
                  </a:cubicBezTo>
                  <a:cubicBezTo>
                    <a:pt x="19" y="416"/>
                    <a:pt x="24" y="447"/>
                    <a:pt x="21" y="458"/>
                  </a:cubicBezTo>
                  <a:cubicBezTo>
                    <a:pt x="18" y="469"/>
                    <a:pt x="5" y="466"/>
                    <a:pt x="2" y="456"/>
                  </a:cubicBezTo>
                  <a:close/>
                </a:path>
              </a:pathLst>
            </a:custGeom>
            <a:solidFill>
              <a:schemeClr val="tx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25620" name="Oval 8"/>
            <p:cNvSpPr>
              <a:spLocks noChangeAspect="1"/>
            </p:cNvSpPr>
            <p:nvPr/>
          </p:nvSpPr>
          <p:spPr>
            <a:xfrm flipH="1">
              <a:off x="1741" y="1909"/>
              <a:ext cx="108" cy="131"/>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1" name="Oval 9"/>
            <p:cNvSpPr>
              <a:spLocks noChangeAspect="1"/>
            </p:cNvSpPr>
            <p:nvPr/>
          </p:nvSpPr>
          <p:spPr>
            <a:xfrm flipH="1">
              <a:off x="1748" y="1917"/>
              <a:ext cx="94" cy="114"/>
            </a:xfrm>
            <a:prstGeom prst="ellipse">
              <a:avLst/>
            </a:prstGeom>
            <a:solidFill>
              <a:schemeClr val="bg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2" name="Rectangle 10"/>
            <p:cNvSpPr>
              <a:spLocks noChangeAspect="1"/>
            </p:cNvSpPr>
            <p:nvPr/>
          </p:nvSpPr>
          <p:spPr>
            <a:xfrm flipH="1">
              <a:off x="1751" y="1945"/>
              <a:ext cx="90" cy="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3" name="Rectangle 11"/>
            <p:cNvSpPr>
              <a:spLocks noChangeAspect="1"/>
            </p:cNvSpPr>
            <p:nvPr/>
          </p:nvSpPr>
          <p:spPr>
            <a:xfrm rot="-5400000">
              <a:off x="1467" y="1791"/>
              <a:ext cx="110" cy="363"/>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4" name="Rectangle 12"/>
            <p:cNvSpPr>
              <a:spLocks noChangeAspect="1"/>
            </p:cNvSpPr>
            <p:nvPr/>
          </p:nvSpPr>
          <p:spPr>
            <a:xfrm rot="-5400000">
              <a:off x="1474" y="1799"/>
              <a:ext cx="96" cy="347"/>
            </a:xfrm>
            <a:prstGeom prst="rect">
              <a:avLst/>
            </a:prstGeom>
            <a:solidFill>
              <a:schemeClr val="bg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5" name="Freeform 13"/>
            <p:cNvSpPr>
              <a:spLocks noChangeAspect="1"/>
            </p:cNvSpPr>
            <p:nvPr/>
          </p:nvSpPr>
          <p:spPr>
            <a:xfrm>
              <a:off x="1387" y="1595"/>
              <a:ext cx="271" cy="300"/>
            </a:xfrm>
            <a:custGeom>
              <a:avLst/>
              <a:gdLst>
                <a:gd name="txL" fmla="*/ 0 w 622"/>
                <a:gd name="txT" fmla="*/ 0 h 688"/>
                <a:gd name="txR" fmla="*/ 622 w 622"/>
                <a:gd name="txB" fmla="*/ 688 h 6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22" h="688">
                  <a:moveTo>
                    <a:pt x="0" y="0"/>
                  </a:moveTo>
                  <a:lnTo>
                    <a:pt x="0" y="633"/>
                  </a:lnTo>
                  <a:lnTo>
                    <a:pt x="174" y="633"/>
                  </a:lnTo>
                  <a:lnTo>
                    <a:pt x="229" y="688"/>
                  </a:lnTo>
                  <a:lnTo>
                    <a:pt x="394" y="688"/>
                  </a:lnTo>
                  <a:lnTo>
                    <a:pt x="450" y="633"/>
                  </a:lnTo>
                  <a:lnTo>
                    <a:pt x="622" y="633"/>
                  </a:lnTo>
                  <a:lnTo>
                    <a:pt x="622" y="0"/>
                  </a:lnTo>
                  <a:lnTo>
                    <a:pt x="0" y="0"/>
                  </a:lnTo>
                  <a:close/>
                </a:path>
              </a:pathLst>
            </a:custGeom>
            <a:solidFill>
              <a:schemeClr val="tx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25626" name="Freeform 14"/>
            <p:cNvSpPr>
              <a:spLocks noChangeAspect="1"/>
            </p:cNvSpPr>
            <p:nvPr/>
          </p:nvSpPr>
          <p:spPr>
            <a:xfrm>
              <a:off x="1394" y="1603"/>
              <a:ext cx="257" cy="284"/>
            </a:xfrm>
            <a:custGeom>
              <a:avLst/>
              <a:gdLst>
                <a:gd name="txL" fmla="*/ 0 w 622"/>
                <a:gd name="txT" fmla="*/ 0 h 688"/>
                <a:gd name="txR" fmla="*/ 622 w 622"/>
                <a:gd name="txB" fmla="*/ 688 h 68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22" h="688">
                  <a:moveTo>
                    <a:pt x="0" y="0"/>
                  </a:moveTo>
                  <a:lnTo>
                    <a:pt x="0" y="633"/>
                  </a:lnTo>
                  <a:lnTo>
                    <a:pt x="174" y="633"/>
                  </a:lnTo>
                  <a:lnTo>
                    <a:pt x="229" y="688"/>
                  </a:lnTo>
                  <a:lnTo>
                    <a:pt x="394" y="688"/>
                  </a:lnTo>
                  <a:lnTo>
                    <a:pt x="450" y="633"/>
                  </a:lnTo>
                  <a:lnTo>
                    <a:pt x="622" y="633"/>
                  </a:lnTo>
                  <a:lnTo>
                    <a:pt x="622" y="0"/>
                  </a:lnTo>
                  <a:lnTo>
                    <a:pt x="0" y="0"/>
                  </a:lnTo>
                  <a:close/>
                </a:path>
              </a:pathLst>
            </a:custGeom>
            <a:solidFill>
              <a:schemeClr val="bg1">
                <a:alpha val="100000"/>
              </a:scheme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25627" name="Rectangle 15"/>
            <p:cNvSpPr>
              <a:spLocks noChangeAspect="1"/>
            </p:cNvSpPr>
            <p:nvPr/>
          </p:nvSpPr>
          <p:spPr>
            <a:xfrm>
              <a:off x="1492" y="1865"/>
              <a:ext cx="61" cy="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28" name="Freeform 16"/>
            <p:cNvSpPr>
              <a:spLocks noChangeAspect="1"/>
            </p:cNvSpPr>
            <p:nvPr/>
          </p:nvSpPr>
          <p:spPr>
            <a:xfrm>
              <a:off x="1424" y="1637"/>
              <a:ext cx="196" cy="193"/>
            </a:xfrm>
            <a:custGeom>
              <a:avLst/>
              <a:gdLst>
                <a:gd name="txL" fmla="*/ 0 w 464"/>
                <a:gd name="txT" fmla="*/ 0 h 458"/>
                <a:gd name="txR" fmla="*/ 464 w 464"/>
                <a:gd name="txB" fmla="*/ 458 h 458"/>
              </a:gdLst>
              <a:ahLst/>
              <a:cxnLst>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464" h="458">
                  <a:moveTo>
                    <a:pt x="0" y="29"/>
                  </a:moveTo>
                  <a:lnTo>
                    <a:pt x="30" y="0"/>
                  </a:lnTo>
                  <a:lnTo>
                    <a:pt x="434" y="0"/>
                  </a:lnTo>
                  <a:lnTo>
                    <a:pt x="464" y="30"/>
                  </a:lnTo>
                  <a:lnTo>
                    <a:pt x="464" y="430"/>
                  </a:lnTo>
                  <a:lnTo>
                    <a:pt x="437" y="458"/>
                  </a:lnTo>
                  <a:lnTo>
                    <a:pt x="29" y="458"/>
                  </a:lnTo>
                  <a:lnTo>
                    <a:pt x="0" y="430"/>
                  </a:lnTo>
                  <a:lnTo>
                    <a:pt x="0" y="29"/>
                  </a:lnTo>
                  <a:close/>
                </a:path>
              </a:pathLst>
            </a:custGeom>
            <a:solidFill>
              <a:srgbClr val="333333">
                <a:alpha val="100000"/>
              </a:srgbClr>
            </a:solid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25629" name="Rectangle 17"/>
            <p:cNvSpPr>
              <a:spLocks noChangeAspect="1"/>
            </p:cNvSpPr>
            <p:nvPr/>
          </p:nvSpPr>
          <p:spPr>
            <a:xfrm>
              <a:off x="1554" y="1960"/>
              <a:ext cx="101" cy="17"/>
            </a:xfrm>
            <a:prstGeom prst="rect">
              <a:avLst/>
            </a:prstGeom>
            <a:solidFill>
              <a:schemeClr val="tx1"/>
            </a:solidFill>
            <a:ln w="317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grpSp>
          <p:nvGrpSpPr>
            <p:cNvPr id="25630" name="Group 18"/>
            <p:cNvGrpSpPr>
              <a:grpSpLocks noChangeAspect="1"/>
            </p:cNvGrpSpPr>
            <p:nvPr/>
          </p:nvGrpSpPr>
          <p:grpSpPr>
            <a:xfrm>
              <a:off x="1362" y="1938"/>
              <a:ext cx="129" cy="71"/>
              <a:chOff x="4142" y="3658"/>
              <a:chExt cx="336" cy="185"/>
            </a:xfrm>
          </p:grpSpPr>
          <p:sp>
            <p:nvSpPr>
              <p:cNvPr id="25631" name="Oval 19"/>
              <p:cNvSpPr>
                <a:spLocks noChangeAspect="1"/>
              </p:cNvSpPr>
              <p:nvPr/>
            </p:nvSpPr>
            <p:spPr>
              <a:xfrm>
                <a:off x="4143"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2" name="Oval 20"/>
              <p:cNvSpPr>
                <a:spLocks noChangeAspect="1"/>
              </p:cNvSpPr>
              <p:nvPr/>
            </p:nvSpPr>
            <p:spPr>
              <a:xfrm>
                <a:off x="4239"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3" name="Oval 21"/>
              <p:cNvSpPr>
                <a:spLocks noChangeAspect="1"/>
              </p:cNvSpPr>
              <p:nvPr/>
            </p:nvSpPr>
            <p:spPr>
              <a:xfrm>
                <a:off x="4336"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4" name="Oval 22"/>
              <p:cNvSpPr>
                <a:spLocks noChangeAspect="1"/>
              </p:cNvSpPr>
              <p:nvPr/>
            </p:nvSpPr>
            <p:spPr>
              <a:xfrm>
                <a:off x="4432" y="372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5" name="Oval 23"/>
              <p:cNvSpPr>
                <a:spLocks noChangeAspect="1"/>
              </p:cNvSpPr>
              <p:nvPr/>
            </p:nvSpPr>
            <p:spPr>
              <a:xfrm>
                <a:off x="4143"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6" name="Oval 24"/>
              <p:cNvSpPr>
                <a:spLocks noChangeAspect="1"/>
              </p:cNvSpPr>
              <p:nvPr/>
            </p:nvSpPr>
            <p:spPr>
              <a:xfrm>
                <a:off x="4239"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7" name="Oval 25"/>
              <p:cNvSpPr>
                <a:spLocks noChangeAspect="1"/>
              </p:cNvSpPr>
              <p:nvPr/>
            </p:nvSpPr>
            <p:spPr>
              <a:xfrm>
                <a:off x="4336"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8" name="Oval 26"/>
              <p:cNvSpPr>
                <a:spLocks noChangeAspect="1"/>
              </p:cNvSpPr>
              <p:nvPr/>
            </p:nvSpPr>
            <p:spPr>
              <a:xfrm>
                <a:off x="4432" y="3658"/>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39" name="Oval 27"/>
              <p:cNvSpPr>
                <a:spLocks noChangeAspect="1"/>
              </p:cNvSpPr>
              <p:nvPr/>
            </p:nvSpPr>
            <p:spPr>
              <a:xfrm>
                <a:off x="4142"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40" name="Oval 28"/>
              <p:cNvSpPr>
                <a:spLocks noChangeAspect="1"/>
              </p:cNvSpPr>
              <p:nvPr/>
            </p:nvSpPr>
            <p:spPr>
              <a:xfrm>
                <a:off x="4238"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41" name="Oval 29"/>
              <p:cNvSpPr>
                <a:spLocks noChangeAspect="1"/>
              </p:cNvSpPr>
              <p:nvPr/>
            </p:nvSpPr>
            <p:spPr>
              <a:xfrm>
                <a:off x="4335"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5642" name="Oval 30"/>
              <p:cNvSpPr>
                <a:spLocks noChangeAspect="1"/>
              </p:cNvSpPr>
              <p:nvPr/>
            </p:nvSpPr>
            <p:spPr>
              <a:xfrm>
                <a:off x="4431" y="3797"/>
                <a:ext cx="46" cy="46"/>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grpSp>
      </p:grpSp>
      <p:sp>
        <p:nvSpPr>
          <p:cNvPr id="25605" name="Text Box 31"/>
          <p:cNvSpPr txBox="1"/>
          <p:nvPr/>
        </p:nvSpPr>
        <p:spPr>
          <a:xfrm>
            <a:off x="1146175" y="2941638"/>
            <a:ext cx="685800" cy="182562"/>
          </a:xfrm>
          <a:prstGeom prst="rect">
            <a:avLst/>
          </a:prstGeom>
          <a:noFill/>
          <a:ln w="9525">
            <a:noFill/>
          </a:ln>
        </p:spPr>
        <p:txBody>
          <a:bodyPr wrap="none" lIns="9144" tIns="0" rIns="9144" bIns="0">
            <a:spAutoFit/>
          </a:bodyPr>
          <a:p>
            <a:pPr algn="ctr"/>
            <a:r>
              <a:rPr lang="en-US" altLang="en-US" sz="1200" dirty="0">
                <a:solidFill>
                  <a:srgbClr val="000000"/>
                </a:solidFill>
                <a:latin typeface="Arial" panose="020B0604020202020204" pitchFamily="34" charset="0"/>
              </a:rPr>
              <a:t>Computer</a:t>
            </a:r>
            <a:endParaRPr lang="en-US" altLang="en-US" sz="1200" dirty="0">
              <a:solidFill>
                <a:srgbClr val="000000"/>
              </a:solidFill>
              <a:latin typeface="Arial" panose="020B0604020202020204" pitchFamily="34" charset="0"/>
            </a:endParaRPr>
          </a:p>
        </p:txBody>
      </p:sp>
      <p:sp>
        <p:nvSpPr>
          <p:cNvPr id="25606" name="Freeform 32"/>
          <p:cNvSpPr/>
          <p:nvPr/>
        </p:nvSpPr>
        <p:spPr>
          <a:xfrm>
            <a:off x="2117725" y="2398713"/>
            <a:ext cx="3368675" cy="320675"/>
          </a:xfrm>
          <a:custGeom>
            <a:avLst/>
            <a:gdLst>
              <a:gd name="txL" fmla="*/ 0 w 2122"/>
              <a:gd name="txT" fmla="*/ 0 h 202"/>
              <a:gd name="txR" fmla="*/ 2122 w 2122"/>
              <a:gd name="txB" fmla="*/ 202 h 202"/>
            </a:gdLst>
            <a:ahLst/>
            <a:cxnLst>
              <a:cxn ang="0">
                <a:pos x="0" y="2147483647"/>
              </a:cxn>
              <a:cxn ang="0">
                <a:pos x="2147483647" y="2147483647"/>
              </a:cxn>
              <a:cxn ang="0">
                <a:pos x="2147483647" y="2147483647"/>
              </a:cxn>
              <a:cxn ang="0">
                <a:pos x="2147483647" y="2147483647"/>
              </a:cxn>
              <a:cxn ang="0">
                <a:pos x="2147483647" y="2147483647"/>
              </a:cxn>
            </a:cxnLst>
            <a:rect l="txL" t="txT" r="txR" b="txB"/>
            <a:pathLst>
              <a:path w="2122" h="202">
                <a:moveTo>
                  <a:pt x="0" y="156"/>
                </a:moveTo>
                <a:cubicBezTo>
                  <a:pt x="404" y="166"/>
                  <a:pt x="258" y="192"/>
                  <a:pt x="758" y="111"/>
                </a:cubicBezTo>
                <a:cubicBezTo>
                  <a:pt x="1258" y="30"/>
                  <a:pt x="1651" y="172"/>
                  <a:pt x="1192" y="187"/>
                </a:cubicBezTo>
                <a:cubicBezTo>
                  <a:pt x="733" y="202"/>
                  <a:pt x="1041" y="0"/>
                  <a:pt x="1334" y="15"/>
                </a:cubicBezTo>
                <a:cubicBezTo>
                  <a:pt x="1627" y="30"/>
                  <a:pt x="1713" y="101"/>
                  <a:pt x="2122" y="10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pic>
        <p:nvPicPr>
          <p:cNvPr id="25607" name="Picture 33"/>
          <p:cNvPicPr>
            <a:picLocks noChangeAspect="1"/>
          </p:cNvPicPr>
          <p:nvPr/>
        </p:nvPicPr>
        <p:blipFill>
          <a:blip r:embed="rId1"/>
          <a:stretch>
            <a:fillRect/>
          </a:stretch>
        </p:blipFill>
        <p:spPr>
          <a:xfrm>
            <a:off x="5705475" y="2119313"/>
            <a:ext cx="682625" cy="830262"/>
          </a:xfrm>
          <a:prstGeom prst="rect">
            <a:avLst/>
          </a:prstGeom>
          <a:noFill/>
          <a:ln w="9525">
            <a:noFill/>
          </a:ln>
        </p:spPr>
      </p:pic>
      <p:sp>
        <p:nvSpPr>
          <p:cNvPr id="25608" name="Text Box 34"/>
          <p:cNvSpPr txBox="1"/>
          <p:nvPr/>
        </p:nvSpPr>
        <p:spPr>
          <a:xfrm>
            <a:off x="5876925" y="3021013"/>
            <a:ext cx="339725" cy="182562"/>
          </a:xfrm>
          <a:prstGeom prst="rect">
            <a:avLst/>
          </a:prstGeom>
          <a:noFill/>
          <a:ln w="9525">
            <a:noFill/>
          </a:ln>
        </p:spPr>
        <p:txBody>
          <a:bodyPr wrap="none" lIns="9144" tIns="0" rIns="9144" bIns="0">
            <a:spAutoFit/>
          </a:bodyPr>
          <a:p>
            <a:pPr algn="ctr"/>
            <a:r>
              <a:rPr lang="en-US" altLang="en-US" sz="1200" dirty="0">
                <a:solidFill>
                  <a:srgbClr val="000000"/>
                </a:solidFill>
                <a:latin typeface="Arial" panose="020B0604020202020204" pitchFamily="34" charset="0"/>
              </a:rPr>
              <a:t>Lock</a:t>
            </a:r>
            <a:endParaRPr lang="en-US" altLang="en-US" sz="1200" dirty="0">
              <a:solidFill>
                <a:srgbClr val="000000"/>
              </a:solidFill>
              <a:latin typeface="Arial" panose="020B0604020202020204" pitchFamily="34" charset="0"/>
            </a:endParaRPr>
          </a:p>
        </p:txBody>
      </p:sp>
      <p:sp>
        <p:nvSpPr>
          <p:cNvPr id="25609" name="Text Box 35"/>
          <p:cNvSpPr txBox="1"/>
          <p:nvPr/>
        </p:nvSpPr>
        <p:spPr>
          <a:xfrm>
            <a:off x="1298575" y="3757613"/>
            <a:ext cx="576263"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Voltage:</a:t>
            </a:r>
            <a:endParaRPr lang="en-US" altLang="en-US" sz="1200" dirty="0">
              <a:solidFill>
                <a:srgbClr val="000000"/>
              </a:solidFill>
              <a:latin typeface="Arial" panose="020B0604020202020204" pitchFamily="34" charset="0"/>
            </a:endParaRPr>
          </a:p>
        </p:txBody>
      </p:sp>
      <p:sp>
        <p:nvSpPr>
          <p:cNvPr id="25610" name="Text Box 36"/>
          <p:cNvSpPr txBox="1"/>
          <p:nvPr/>
        </p:nvSpPr>
        <p:spPr>
          <a:xfrm>
            <a:off x="2765425" y="3868738"/>
            <a:ext cx="400050"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HIGH</a:t>
            </a:r>
            <a:endParaRPr lang="en-US" altLang="en-US" sz="1200" dirty="0">
              <a:solidFill>
                <a:srgbClr val="000000"/>
              </a:solidFill>
              <a:latin typeface="Arial" panose="020B0604020202020204" pitchFamily="34" charset="0"/>
            </a:endParaRPr>
          </a:p>
        </p:txBody>
      </p:sp>
      <p:sp>
        <p:nvSpPr>
          <p:cNvPr id="25611" name="Text Box 37"/>
          <p:cNvSpPr txBox="1"/>
          <p:nvPr/>
        </p:nvSpPr>
        <p:spPr>
          <a:xfrm>
            <a:off x="1698625" y="4173538"/>
            <a:ext cx="366713" cy="182562"/>
          </a:xfrm>
          <a:prstGeom prst="rect">
            <a:avLst/>
          </a:prstGeom>
          <a:noFill/>
          <a:ln w="9525">
            <a:noFill/>
          </a:ln>
        </p:spPr>
        <p:txBody>
          <a:bodyPr wrap="none" lIns="9144" tIns="0" rIns="9144" bIns="0">
            <a:spAutoFit/>
          </a:bodyPr>
          <a:p>
            <a:r>
              <a:rPr lang="en-US" altLang="en-US" sz="1200" dirty="0">
                <a:solidFill>
                  <a:srgbClr val="000000"/>
                </a:solidFill>
                <a:latin typeface="Arial" panose="020B0604020202020204" pitchFamily="34" charset="0"/>
              </a:rPr>
              <a:t>LOW</a:t>
            </a:r>
            <a:endParaRPr lang="en-US" altLang="en-US" sz="1200" dirty="0">
              <a:solidFill>
                <a:srgbClr val="000000"/>
              </a:solidFill>
              <a:latin typeface="Arial" panose="020B0604020202020204" pitchFamily="34" charset="0"/>
            </a:endParaRPr>
          </a:p>
        </p:txBody>
      </p:sp>
      <p:sp>
        <p:nvSpPr>
          <p:cNvPr id="25612" name="Text Box 38"/>
          <p:cNvSpPr txBox="1"/>
          <p:nvPr/>
        </p:nvSpPr>
        <p:spPr>
          <a:xfrm>
            <a:off x="2398713" y="4471988"/>
            <a:ext cx="762000"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armed</a:t>
            </a:r>
            <a:endParaRPr lang="en-US" altLang="en-US" sz="1200" i="1" dirty="0">
              <a:solidFill>
                <a:srgbClr val="000000"/>
              </a:solidFill>
              <a:latin typeface="Arial" panose="020B0604020202020204" pitchFamily="34" charset="0"/>
            </a:endParaRPr>
          </a:p>
        </p:txBody>
      </p:sp>
      <p:sp>
        <p:nvSpPr>
          <p:cNvPr id="25613" name="Text Box 39"/>
          <p:cNvSpPr txBox="1"/>
          <p:nvPr/>
        </p:nvSpPr>
        <p:spPr>
          <a:xfrm>
            <a:off x="3657600" y="4471988"/>
            <a:ext cx="955675"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disarmed</a:t>
            </a:r>
            <a:endParaRPr lang="en-US" altLang="en-US" sz="1200" i="1" dirty="0">
              <a:solidFill>
                <a:srgbClr val="000000"/>
              </a:solidFill>
              <a:latin typeface="Arial" panose="020B0604020202020204" pitchFamily="34" charset="0"/>
            </a:endParaRPr>
          </a:p>
        </p:txBody>
      </p:sp>
      <p:sp>
        <p:nvSpPr>
          <p:cNvPr id="25614" name="Text Box 40"/>
          <p:cNvSpPr txBox="1"/>
          <p:nvPr/>
        </p:nvSpPr>
        <p:spPr>
          <a:xfrm>
            <a:off x="5213350" y="4471988"/>
            <a:ext cx="762000" cy="182562"/>
          </a:xfrm>
          <a:prstGeom prst="rect">
            <a:avLst/>
          </a:prstGeom>
          <a:noFill/>
          <a:ln w="9525">
            <a:noFill/>
          </a:ln>
        </p:spPr>
        <p:txBody>
          <a:bodyPr wrap="none" lIns="9144" tIns="0" rIns="9144" bIns="0">
            <a:spAutoFit/>
          </a:bodyPr>
          <a:p>
            <a:r>
              <a:rPr lang="en-US" altLang="en-US" sz="1200" i="1" dirty="0">
                <a:solidFill>
                  <a:srgbClr val="000000"/>
                </a:solidFill>
                <a:latin typeface="Arial" panose="020B0604020202020204" pitchFamily="34" charset="0"/>
              </a:rPr>
              <a:t>lock armed</a:t>
            </a:r>
            <a:endParaRPr lang="en-US" altLang="en-US" sz="1200" i="1" dirty="0">
              <a:solidFill>
                <a:srgbClr val="000000"/>
              </a:solidFill>
              <a:latin typeface="Arial" panose="020B0604020202020204" pitchFamily="34" charset="0"/>
            </a:endParaRPr>
          </a:p>
        </p:txBody>
      </p:sp>
      <p:sp>
        <p:nvSpPr>
          <p:cNvPr id="25615" name="Text Box 41"/>
          <p:cNvSpPr txBox="1"/>
          <p:nvPr/>
        </p:nvSpPr>
        <p:spPr>
          <a:xfrm>
            <a:off x="1200150" y="5757863"/>
            <a:ext cx="3651250" cy="830262"/>
          </a:xfrm>
          <a:prstGeom prst="rect">
            <a:avLst/>
          </a:prstGeom>
          <a:noFill/>
          <a:ln w="9525">
            <a:noFill/>
          </a:ln>
        </p:spPr>
        <p:txBody>
          <a:bodyPr wrap="none" lIns="9144" tIns="0" rIns="9144" bIns="0">
            <a:spAutoFit/>
          </a:bodyPr>
          <a:p>
            <a:r>
              <a:rPr lang="en-US" altLang="en-US" dirty="0">
                <a:solidFill>
                  <a:srgbClr val="000000"/>
                </a:solidFill>
                <a:latin typeface="AvantGarde Bk BT" pitchFamily="34" charset="0"/>
              </a:rPr>
              <a:t>What in case of power failure?</a:t>
            </a:r>
            <a:endParaRPr lang="en-US" altLang="en-US" dirty="0">
              <a:solidFill>
                <a:srgbClr val="000000"/>
              </a:solidFill>
              <a:latin typeface="AvantGarde Bk BT" pitchFamily="34" charset="0"/>
            </a:endParaRPr>
          </a:p>
          <a:p>
            <a:r>
              <a:rPr lang="en-US" altLang="en-US" dirty="0">
                <a:solidFill>
                  <a:srgbClr val="000000"/>
                </a:solidFill>
                <a:latin typeface="AvantGarde Bk BT" pitchFamily="34" charset="0"/>
              </a:rPr>
              <a:t>- By default armed</a:t>
            </a:r>
            <a:endParaRPr lang="en-US" altLang="en-US" dirty="0">
              <a:solidFill>
                <a:srgbClr val="000000"/>
              </a:solidFill>
              <a:latin typeface="AvantGarde Bk BT" pitchFamily="34" charset="0"/>
            </a:endParaRPr>
          </a:p>
          <a:p>
            <a:r>
              <a:rPr lang="en-US" altLang="en-US" dirty="0">
                <a:solidFill>
                  <a:srgbClr val="000000"/>
                </a:solidFill>
                <a:latin typeface="AvantGarde Bk BT" pitchFamily="34" charset="0"/>
              </a:rPr>
              <a:t>- By default disarmed (e.g., fire exit)</a:t>
            </a:r>
            <a:endParaRPr lang="en-US" altLang="en-US" dirty="0">
              <a:solidFill>
                <a:srgbClr val="000000"/>
              </a:solidFill>
              <a:latin typeface="AvantGarde Bk BT" pitchFamily="34" charset="0"/>
            </a:endParaRPr>
          </a:p>
        </p:txBody>
      </p:sp>
      <p:sp>
        <p:nvSpPr>
          <p:cNvPr id="25616" name="Text Box 35"/>
          <p:cNvSpPr txBox="1"/>
          <p:nvPr/>
        </p:nvSpPr>
        <p:spPr>
          <a:xfrm>
            <a:off x="6659563" y="3614738"/>
            <a:ext cx="2297112" cy="922337"/>
          </a:xfrm>
          <a:prstGeom prst="rect">
            <a:avLst/>
          </a:prstGeom>
          <a:noFill/>
          <a:ln w="9525">
            <a:noFill/>
          </a:ln>
        </p:spPr>
        <p:txBody>
          <a:bodyPr lIns="9144" tIns="0" rIns="9144" bIns="0">
            <a:spAutoFit/>
          </a:bodyPr>
          <a:p>
            <a:r>
              <a:rPr lang="en-US" altLang="en-US" sz="1200" dirty="0">
                <a:solidFill>
                  <a:srgbClr val="000000"/>
                </a:solidFill>
                <a:latin typeface="Arial" panose="020B0604020202020204" pitchFamily="34" charset="0"/>
              </a:rPr>
              <a:t>The system-to-be will set one of its output lines to “high voltage”, but only the human user will know the semantic meaning of this action (i.e., “disarm the lock”)</a:t>
            </a:r>
            <a:endParaRPr lang="en-US" altLang="en-US" sz="1200" dirty="0">
              <a:solidFill>
                <a:srgbClr val="000000"/>
              </a:solidFill>
              <a:latin typeface="Arial" panose="020B0604020202020204" pitchFamily="34" charset="0"/>
            </a:endParaRPr>
          </a:p>
        </p:txBody>
      </p:sp>
      <p:sp>
        <p:nvSpPr>
          <p:cNvPr id="25617" name="Text Box 35"/>
          <p:cNvSpPr txBox="1"/>
          <p:nvPr/>
        </p:nvSpPr>
        <p:spPr>
          <a:xfrm>
            <a:off x="5776913" y="5495925"/>
            <a:ext cx="3143250" cy="1292225"/>
          </a:xfrm>
          <a:prstGeom prst="rect">
            <a:avLst/>
          </a:prstGeom>
          <a:noFill/>
          <a:ln w="9525">
            <a:noFill/>
          </a:ln>
        </p:spPr>
        <p:txBody>
          <a:bodyPr lIns="9144" tIns="0" rIns="9144" bIns="0">
            <a:spAutoFit/>
          </a:bodyPr>
          <a:p>
            <a:r>
              <a:rPr lang="en-US" altLang="en-US" sz="1200" dirty="0">
                <a:solidFill>
                  <a:srgbClr val="000000"/>
                </a:solidFill>
                <a:latin typeface="Arial" panose="020B0604020202020204" pitchFamily="34" charset="0"/>
              </a:rPr>
              <a:t>This information is not given.</a:t>
            </a:r>
            <a:endParaRPr lang="en-US" altLang="en-US" sz="1200" dirty="0">
              <a:solidFill>
                <a:srgbClr val="000000"/>
              </a:solidFill>
              <a:latin typeface="Arial" panose="020B0604020202020204" pitchFamily="34" charset="0"/>
            </a:endParaRPr>
          </a:p>
          <a:p>
            <a:r>
              <a:rPr lang="en-US" altLang="en-US" sz="1200" dirty="0">
                <a:solidFill>
                  <a:srgbClr val="000000"/>
                </a:solidFill>
                <a:latin typeface="Arial" panose="020B0604020202020204" pitchFamily="34" charset="0"/>
              </a:rPr>
              <a:t>These are deliberate decisions that the developer needs to make, based on understanding of the problem domain.</a:t>
            </a:r>
            <a:br>
              <a:rPr lang="en-US" altLang="en-US" sz="1200" dirty="0">
                <a:solidFill>
                  <a:srgbClr val="000000"/>
                </a:solidFill>
                <a:latin typeface="Arial" panose="020B0604020202020204" pitchFamily="34" charset="0"/>
              </a:rPr>
            </a:br>
            <a:r>
              <a:rPr lang="en-US" altLang="en-US" sz="1200" dirty="0">
                <a:solidFill>
                  <a:srgbClr val="000000"/>
                </a:solidFill>
                <a:latin typeface="Arial" panose="020B0604020202020204" pitchFamily="34" charset="0"/>
              </a:rPr>
              <a:t>It is not enough to consider how the physical device behaves; we may also need to consider state laws, public safety policies, etc.</a:t>
            </a:r>
            <a:endParaRPr lang="en-US" altLang="en-US" sz="1200" dirty="0">
              <a:solidFill>
                <a:srgbClr val="000000"/>
              </a:solidFill>
              <a:latin typeface="Arial" panose="020B0604020202020204" pitchFamily="34" charset="0"/>
            </a:endParaRPr>
          </a:p>
        </p:txBody>
      </p:sp>
      <p:sp>
        <p:nvSpPr>
          <p:cNvPr id="2" name="Right Brace 1"/>
          <p:cNvSpPr/>
          <p:nvPr/>
        </p:nvSpPr>
        <p:spPr>
          <a:xfrm>
            <a:off x="5176838" y="5719763"/>
            <a:ext cx="455613" cy="914400"/>
          </a:xfrm>
          <a:prstGeom prst="rightBrace">
            <a:avLst>
              <a:gd name="adj1" fmla="val 40586"/>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400" name="Freeform 56"/>
          <p:cNvSpPr/>
          <p:nvPr/>
        </p:nvSpPr>
        <p:spPr bwMode="auto">
          <a:xfrm>
            <a:off x="1227138" y="2679700"/>
            <a:ext cx="4684713" cy="873125"/>
          </a:xfrm>
          <a:custGeom>
            <a:avLst/>
            <a:gdLst>
              <a:gd name="T0" fmla="*/ 0 w 2951"/>
              <a:gd name="T1" fmla="*/ 550 h 550"/>
              <a:gd name="T2" fmla="*/ 531 w 2951"/>
              <a:gd name="T3" fmla="*/ 0 h 550"/>
              <a:gd name="T4" fmla="*/ 1026 w 2951"/>
              <a:gd name="T5" fmla="*/ 0 h 550"/>
              <a:gd name="T6" fmla="*/ 2951 w 2951"/>
              <a:gd name="T7" fmla="*/ 550 h 550"/>
              <a:gd name="connsiteX0" fmla="*/ 0 w 10000"/>
              <a:gd name="connsiteY0" fmla="*/ 10000 h 10000"/>
              <a:gd name="connsiteX1" fmla="*/ 1799 w 10000"/>
              <a:gd name="connsiteY1" fmla="*/ 0 h 10000"/>
              <a:gd name="connsiteX2" fmla="*/ 3477 w 10000"/>
              <a:gd name="connsiteY2" fmla="*/ 0 h 10000"/>
              <a:gd name="connsiteX3" fmla="*/ 1000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799" y="0"/>
                </a:lnTo>
                <a:lnTo>
                  <a:pt x="3477" y="0"/>
                </a:lnTo>
                <a:cubicBezTo>
                  <a:pt x="2750" y="9654"/>
                  <a:pt x="7826" y="6667"/>
                  <a:pt x="10000" y="10000"/>
                </a:cubicBezTo>
              </a:path>
            </a:pathLst>
          </a:custGeom>
          <a:gradFill rotWithShape="1">
            <a:gsLst>
              <a:gs pos="0">
                <a:schemeClr val="bg1">
                  <a:gamma/>
                  <a:shade val="0"/>
                  <a:invGamma/>
                </a:schemeClr>
              </a:gs>
              <a:gs pos="100000">
                <a:schemeClr val="bg1"/>
              </a:gs>
            </a:gsLst>
            <a:lin ang="5400000" scaled="1"/>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6627" name="Rectangle 55"/>
          <p:cNvSpPr/>
          <p:nvPr/>
        </p:nvSpPr>
        <p:spPr>
          <a:xfrm>
            <a:off x="1235075" y="3560763"/>
            <a:ext cx="4676775" cy="2879725"/>
          </a:xfrm>
          <a:prstGeom prst="rect">
            <a:avLst/>
          </a:prstGeom>
          <a:noFill/>
          <a:ln w="9525"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cxnSp>
        <p:nvCxnSpPr>
          <p:cNvPr id="26628" name="AutoShape 37"/>
          <p:cNvCxnSpPr>
            <a:stCxn id="26651" idx="1"/>
            <a:endCxn id="26659" idx="2"/>
          </p:cNvCxnSpPr>
          <p:nvPr/>
        </p:nvCxnSpPr>
        <p:spPr>
          <a:xfrm rot="10800000">
            <a:off x="2370138" y="4884738"/>
            <a:ext cx="473075" cy="866775"/>
          </a:xfrm>
          <a:prstGeom prst="bentConnector2">
            <a:avLst/>
          </a:prstGeom>
          <a:ln w="6350" cap="flat" cmpd="sng">
            <a:solidFill>
              <a:schemeClr val="tx1"/>
            </a:solidFill>
            <a:prstDash val="solid"/>
            <a:miter/>
            <a:headEnd type="none" w="med" len="med"/>
            <a:tailEnd type="none" w="med" len="med"/>
          </a:ln>
        </p:spPr>
      </p:cxnSp>
      <p:cxnSp>
        <p:nvCxnSpPr>
          <p:cNvPr id="26629" name="AutoShape 38"/>
          <p:cNvCxnSpPr>
            <a:stCxn id="26651" idx="3"/>
            <a:endCxn id="26653" idx="2"/>
          </p:cNvCxnSpPr>
          <p:nvPr/>
        </p:nvCxnSpPr>
        <p:spPr>
          <a:xfrm flipV="1">
            <a:off x="4032250" y="4884738"/>
            <a:ext cx="501650" cy="866775"/>
          </a:xfrm>
          <a:prstGeom prst="bentConnector2">
            <a:avLst/>
          </a:prstGeom>
          <a:ln w="6350" cap="flat" cmpd="sng">
            <a:solidFill>
              <a:schemeClr val="tx1"/>
            </a:solidFill>
            <a:prstDash val="solid"/>
            <a:miter/>
            <a:headEnd type="none" w="med" len="med"/>
            <a:tailEnd type="none" w="med" len="med"/>
          </a:ln>
        </p:spPr>
      </p:cxnSp>
      <p:sp>
        <p:nvSpPr>
          <p:cNvPr id="35846" name="Rectangle 4"/>
          <p:cNvSpPr>
            <a:spLocks noGrp="1" noChangeArrowheads="1"/>
          </p:cNvSpPr>
          <p:nvPr>
            <p:ph type="title"/>
          </p:nvPr>
        </p:nvSpPr>
        <p:spPr>
          <a:xfrm>
            <a:off x="269875" y="136525"/>
            <a:ext cx="8850313" cy="1143000"/>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Required Behavior</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 Domain Model -</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grpSp>
        <p:nvGrpSpPr>
          <p:cNvPr id="26631" name="Group 13"/>
          <p:cNvGrpSpPr/>
          <p:nvPr/>
        </p:nvGrpSpPr>
        <p:grpSpPr>
          <a:xfrm>
            <a:off x="1978025" y="3744913"/>
            <a:ext cx="1233488" cy="914400"/>
            <a:chOff x="2501" y="1829"/>
            <a:chExt cx="749" cy="576"/>
          </a:xfrm>
        </p:grpSpPr>
        <p:sp>
          <p:nvSpPr>
            <p:cNvPr id="26663" name="Rectangle 14"/>
            <p:cNvSpPr/>
            <p:nvPr/>
          </p:nvSpPr>
          <p:spPr>
            <a:xfrm>
              <a:off x="2501"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6664" name="Line 15"/>
            <p:cNvSpPr/>
            <p:nvPr/>
          </p:nvSpPr>
          <p:spPr>
            <a:xfrm>
              <a:off x="2501" y="2016"/>
              <a:ext cx="749" cy="0"/>
            </a:xfrm>
            <a:prstGeom prst="line">
              <a:avLst/>
            </a:prstGeom>
            <a:ln w="3175" cap="flat" cmpd="sng">
              <a:solidFill>
                <a:schemeClr val="tx1"/>
              </a:solidFill>
              <a:prstDash val="solid"/>
              <a:headEnd type="none" w="med" len="med"/>
              <a:tailEnd type="none" w="med" len="med"/>
            </a:ln>
          </p:spPr>
        </p:sp>
      </p:grpSp>
      <p:grpSp>
        <p:nvGrpSpPr>
          <p:cNvPr id="26632" name="Group 16"/>
          <p:cNvGrpSpPr/>
          <p:nvPr/>
        </p:nvGrpSpPr>
        <p:grpSpPr>
          <a:xfrm>
            <a:off x="1865313" y="3857625"/>
            <a:ext cx="1233487" cy="914400"/>
            <a:chOff x="2501" y="1829"/>
            <a:chExt cx="749" cy="576"/>
          </a:xfrm>
        </p:grpSpPr>
        <p:sp>
          <p:nvSpPr>
            <p:cNvPr id="26661" name="Rectangle 17"/>
            <p:cNvSpPr/>
            <p:nvPr/>
          </p:nvSpPr>
          <p:spPr>
            <a:xfrm>
              <a:off x="2501"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6662" name="Line 18"/>
            <p:cNvSpPr/>
            <p:nvPr/>
          </p:nvSpPr>
          <p:spPr>
            <a:xfrm>
              <a:off x="2501" y="2016"/>
              <a:ext cx="749" cy="0"/>
            </a:xfrm>
            <a:prstGeom prst="line">
              <a:avLst/>
            </a:prstGeom>
            <a:ln w="3175" cap="flat" cmpd="sng">
              <a:solidFill>
                <a:schemeClr val="tx1"/>
              </a:solidFill>
              <a:prstDash val="solid"/>
              <a:headEnd type="none" w="med" len="med"/>
              <a:tailEnd type="none" w="med" len="med"/>
            </a:ln>
          </p:spPr>
        </p:sp>
      </p:grpSp>
      <p:grpSp>
        <p:nvGrpSpPr>
          <p:cNvPr id="26633" name="Group 22"/>
          <p:cNvGrpSpPr/>
          <p:nvPr/>
        </p:nvGrpSpPr>
        <p:grpSpPr>
          <a:xfrm>
            <a:off x="1752600" y="3970338"/>
            <a:ext cx="1233488" cy="914400"/>
            <a:chOff x="1526" y="1829"/>
            <a:chExt cx="749" cy="576"/>
          </a:xfrm>
        </p:grpSpPr>
        <p:sp>
          <p:nvSpPr>
            <p:cNvPr id="26659" name="Rectangle 6"/>
            <p:cNvSpPr/>
            <p:nvPr/>
          </p:nvSpPr>
          <p:spPr>
            <a:xfrm>
              <a:off x="1526"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tIns="73152" rIns="0" bIns="0"/>
            <a:p>
              <a:pPr eaLnBrk="1" hangingPunct="1"/>
              <a:r>
                <a:rPr lang="en-US" altLang="en-US" sz="1000" dirty="0">
                  <a:latin typeface="Arial" panose="020B0604020202020204" pitchFamily="34" charset="0"/>
                </a:rPr>
                <a:t>Sensor1 Descriptor</a:t>
              </a:r>
              <a:endParaRPr lang="en-US" altLang="en-US" sz="1000" dirty="0">
                <a:latin typeface="Arial" panose="020B0604020202020204" pitchFamily="34" charset="0"/>
              </a:endParaRPr>
            </a:p>
            <a:p>
              <a:pPr eaLnBrk="1" hangingPunct="1"/>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sampling Rate</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precision</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a:t>
              </a:r>
              <a:endParaRPr lang="en-US" altLang="en-US" sz="1000" dirty="0">
                <a:latin typeface="Arial" panose="020B0604020202020204" pitchFamily="34" charset="0"/>
              </a:endParaRPr>
            </a:p>
          </p:txBody>
        </p:sp>
        <p:sp>
          <p:nvSpPr>
            <p:cNvPr id="26660" name="Line 7"/>
            <p:cNvSpPr/>
            <p:nvPr/>
          </p:nvSpPr>
          <p:spPr>
            <a:xfrm>
              <a:off x="1526" y="2016"/>
              <a:ext cx="749" cy="0"/>
            </a:xfrm>
            <a:prstGeom prst="line">
              <a:avLst/>
            </a:prstGeom>
            <a:ln w="3175" cap="flat" cmpd="sng">
              <a:solidFill>
                <a:schemeClr val="tx1"/>
              </a:solidFill>
              <a:prstDash val="solid"/>
              <a:headEnd type="none" w="med" len="med"/>
              <a:tailEnd type="none" w="med" len="med"/>
            </a:ln>
          </p:spPr>
        </p:sp>
      </p:grpSp>
      <p:grpSp>
        <p:nvGrpSpPr>
          <p:cNvPr id="26634" name="Group 24"/>
          <p:cNvGrpSpPr/>
          <p:nvPr/>
        </p:nvGrpSpPr>
        <p:grpSpPr>
          <a:xfrm>
            <a:off x="4095750" y="3744913"/>
            <a:ext cx="1325563" cy="914400"/>
            <a:chOff x="2501" y="1829"/>
            <a:chExt cx="749" cy="576"/>
          </a:xfrm>
        </p:grpSpPr>
        <p:sp>
          <p:nvSpPr>
            <p:cNvPr id="26657" name="Rectangle 25"/>
            <p:cNvSpPr/>
            <p:nvPr/>
          </p:nvSpPr>
          <p:spPr>
            <a:xfrm>
              <a:off x="2501"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6658" name="Line 26"/>
            <p:cNvSpPr/>
            <p:nvPr/>
          </p:nvSpPr>
          <p:spPr>
            <a:xfrm>
              <a:off x="2501" y="2016"/>
              <a:ext cx="749" cy="0"/>
            </a:xfrm>
            <a:prstGeom prst="line">
              <a:avLst/>
            </a:prstGeom>
            <a:ln w="3175" cap="flat" cmpd="sng">
              <a:solidFill>
                <a:schemeClr val="tx1"/>
              </a:solidFill>
              <a:prstDash val="solid"/>
              <a:headEnd type="none" w="med" len="med"/>
              <a:tailEnd type="none" w="med" len="med"/>
            </a:ln>
          </p:spPr>
        </p:sp>
      </p:grpSp>
      <p:grpSp>
        <p:nvGrpSpPr>
          <p:cNvPr id="26635" name="Group 27"/>
          <p:cNvGrpSpPr/>
          <p:nvPr/>
        </p:nvGrpSpPr>
        <p:grpSpPr>
          <a:xfrm>
            <a:off x="3983038" y="3857625"/>
            <a:ext cx="1325562" cy="914400"/>
            <a:chOff x="2501" y="1829"/>
            <a:chExt cx="749" cy="576"/>
          </a:xfrm>
        </p:grpSpPr>
        <p:sp>
          <p:nvSpPr>
            <p:cNvPr id="26655" name="Rectangle 28"/>
            <p:cNvSpPr/>
            <p:nvPr/>
          </p:nvSpPr>
          <p:spPr>
            <a:xfrm>
              <a:off x="2501"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anchor="ctr" anchorCtr="0"/>
            <a:p>
              <a:pPr eaLnBrk="1" hangingPunct="1"/>
              <a:endParaRPr lang="en-US" altLang="en-US" dirty="0">
                <a:latin typeface="Arial" panose="020B0604020202020204" pitchFamily="34" charset="0"/>
              </a:endParaRPr>
            </a:p>
          </p:txBody>
        </p:sp>
        <p:sp>
          <p:nvSpPr>
            <p:cNvPr id="26656" name="Line 29"/>
            <p:cNvSpPr/>
            <p:nvPr/>
          </p:nvSpPr>
          <p:spPr>
            <a:xfrm>
              <a:off x="2501" y="2016"/>
              <a:ext cx="749" cy="0"/>
            </a:xfrm>
            <a:prstGeom prst="line">
              <a:avLst/>
            </a:prstGeom>
            <a:ln w="3175" cap="flat" cmpd="sng">
              <a:solidFill>
                <a:schemeClr val="tx1"/>
              </a:solidFill>
              <a:prstDash val="solid"/>
              <a:headEnd type="none" w="med" len="med"/>
              <a:tailEnd type="none" w="med" len="med"/>
            </a:ln>
          </p:spPr>
        </p:sp>
      </p:grpSp>
      <p:grpSp>
        <p:nvGrpSpPr>
          <p:cNvPr id="26636" name="Group 30"/>
          <p:cNvGrpSpPr/>
          <p:nvPr/>
        </p:nvGrpSpPr>
        <p:grpSpPr>
          <a:xfrm>
            <a:off x="3870325" y="3970338"/>
            <a:ext cx="1325563" cy="914400"/>
            <a:chOff x="1526" y="1829"/>
            <a:chExt cx="749" cy="576"/>
          </a:xfrm>
        </p:grpSpPr>
        <p:sp>
          <p:nvSpPr>
            <p:cNvPr id="26653" name="Rectangle 31"/>
            <p:cNvSpPr/>
            <p:nvPr/>
          </p:nvSpPr>
          <p:spPr>
            <a:xfrm>
              <a:off x="1526"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tIns="73152" rIns="0" bIns="0"/>
            <a:p>
              <a:pPr eaLnBrk="1" hangingPunct="1"/>
              <a:r>
                <a:rPr lang="en-US" altLang="en-US" sz="1000" dirty="0">
                  <a:latin typeface="Arial" panose="020B0604020202020204" pitchFamily="34" charset="0"/>
                </a:rPr>
                <a:t>Actuator1 Descriptor</a:t>
              </a:r>
              <a:endParaRPr lang="en-US" altLang="en-US" sz="1000" dirty="0">
                <a:latin typeface="Arial" panose="020B0604020202020204" pitchFamily="34" charset="0"/>
              </a:endParaRPr>
            </a:p>
            <a:p>
              <a:pPr eaLnBrk="1" hangingPunct="1"/>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acting Rate</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magnitude</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a:t>
              </a:r>
              <a:endParaRPr lang="en-US" altLang="en-US" sz="1000" dirty="0">
                <a:latin typeface="Arial" panose="020B0604020202020204" pitchFamily="34" charset="0"/>
              </a:endParaRPr>
            </a:p>
          </p:txBody>
        </p:sp>
        <p:sp>
          <p:nvSpPr>
            <p:cNvPr id="26654" name="Line 32"/>
            <p:cNvSpPr/>
            <p:nvPr/>
          </p:nvSpPr>
          <p:spPr>
            <a:xfrm>
              <a:off x="1526" y="2016"/>
              <a:ext cx="749" cy="0"/>
            </a:xfrm>
            <a:prstGeom prst="line">
              <a:avLst/>
            </a:prstGeom>
            <a:ln w="3175" cap="flat" cmpd="sng">
              <a:solidFill>
                <a:schemeClr val="tx1"/>
              </a:solidFill>
              <a:prstDash val="solid"/>
              <a:headEnd type="none" w="med" len="med"/>
              <a:tailEnd type="none" w="med" len="med"/>
            </a:ln>
          </p:spPr>
        </p:sp>
      </p:grpSp>
      <p:grpSp>
        <p:nvGrpSpPr>
          <p:cNvPr id="26637" name="Group 34"/>
          <p:cNvGrpSpPr/>
          <p:nvPr/>
        </p:nvGrpSpPr>
        <p:grpSpPr>
          <a:xfrm>
            <a:off x="2843213" y="5294313"/>
            <a:ext cx="1189037" cy="914400"/>
            <a:chOff x="1526" y="1829"/>
            <a:chExt cx="749" cy="576"/>
          </a:xfrm>
        </p:grpSpPr>
        <p:sp>
          <p:nvSpPr>
            <p:cNvPr id="26651" name="Rectangle 35"/>
            <p:cNvSpPr/>
            <p:nvPr/>
          </p:nvSpPr>
          <p:spPr>
            <a:xfrm>
              <a:off x="1526" y="1829"/>
              <a:ext cx="749" cy="576"/>
            </a:xfrm>
            <a:prstGeom prst="rect">
              <a:avLst/>
            </a:prstGeom>
            <a:solidFill>
              <a:srgbClr val="FFFFCC"/>
            </a:solidFill>
            <a:ln w="6350" cap="flat" cmpd="sng">
              <a:solidFill>
                <a:schemeClr val="tx1"/>
              </a:solidFill>
              <a:prstDash val="solid"/>
              <a:miter/>
              <a:headEnd type="none" w="med" len="med"/>
              <a:tailEnd type="none" w="med" len="med"/>
            </a:ln>
          </p:spPr>
          <p:txBody>
            <a:bodyPr wrap="none" tIns="73152" rIns="0" bIns="0"/>
            <a:p>
              <a:pPr eaLnBrk="1" hangingPunct="1"/>
              <a:r>
                <a:rPr lang="en-US" altLang="en-US" sz="1000" dirty="0">
                  <a:latin typeface="Arial" panose="020B0604020202020204" pitchFamily="34" charset="0"/>
                </a:rPr>
                <a:t>     Control Rule</a:t>
              </a:r>
              <a:endParaRPr lang="en-US" altLang="en-US" sz="1000" dirty="0">
                <a:latin typeface="Arial" panose="020B0604020202020204" pitchFamily="34" charset="0"/>
              </a:endParaRPr>
            </a:p>
            <a:p>
              <a:pPr eaLnBrk="1" hangingPunct="1"/>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constraint 1</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constraint 2</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a:t>
              </a:r>
              <a:endParaRPr lang="en-US" altLang="en-US" sz="1000" dirty="0">
                <a:latin typeface="Arial" panose="020B0604020202020204" pitchFamily="34" charset="0"/>
              </a:endParaRPr>
            </a:p>
          </p:txBody>
        </p:sp>
        <p:sp>
          <p:nvSpPr>
            <p:cNvPr id="26652" name="Line 36"/>
            <p:cNvSpPr/>
            <p:nvPr/>
          </p:nvSpPr>
          <p:spPr>
            <a:xfrm>
              <a:off x="1526" y="2016"/>
              <a:ext cx="749" cy="0"/>
            </a:xfrm>
            <a:prstGeom prst="line">
              <a:avLst/>
            </a:prstGeom>
            <a:ln w="3175" cap="flat" cmpd="sng">
              <a:solidFill>
                <a:schemeClr val="tx1"/>
              </a:solidFill>
              <a:prstDash val="solid"/>
              <a:headEnd type="none" w="med" len="med"/>
              <a:tailEnd type="none" w="med" len="med"/>
            </a:ln>
          </p:spPr>
        </p:sp>
      </p:grpSp>
      <p:cxnSp>
        <p:nvCxnSpPr>
          <p:cNvPr id="26638" name="AutoShape 3"/>
          <p:cNvCxnSpPr>
            <a:cxnSpLocks noChangeAspect="1"/>
            <a:stCxn id="26640" idx="3"/>
            <a:endCxn id="26641" idx="1"/>
          </p:cNvCxnSpPr>
          <p:nvPr/>
        </p:nvCxnSpPr>
        <p:spPr>
          <a:xfrm>
            <a:off x="2870200" y="2444750"/>
            <a:ext cx="971550" cy="0"/>
          </a:xfrm>
          <a:prstGeom prst="straightConnector1">
            <a:avLst/>
          </a:prstGeom>
          <a:ln w="19050" cap="flat" cmpd="sng">
            <a:solidFill>
              <a:schemeClr val="tx1"/>
            </a:solidFill>
            <a:prstDash val="solid"/>
            <a:headEnd type="none" w="med" len="med"/>
            <a:tailEnd type="none" w="med" len="med"/>
          </a:ln>
        </p:spPr>
      </p:cxnSp>
      <p:cxnSp>
        <p:nvCxnSpPr>
          <p:cNvPr id="26639" name="AutoShape 4"/>
          <p:cNvCxnSpPr>
            <a:cxnSpLocks noChangeAspect="1"/>
            <a:stCxn id="26642" idx="2"/>
            <a:endCxn id="26641" idx="3"/>
          </p:cNvCxnSpPr>
          <p:nvPr/>
        </p:nvCxnSpPr>
        <p:spPr>
          <a:xfrm flipH="1">
            <a:off x="4770438" y="2444750"/>
            <a:ext cx="968375" cy="0"/>
          </a:xfrm>
          <a:prstGeom prst="straightConnector1">
            <a:avLst/>
          </a:prstGeom>
          <a:ln w="19050" cap="flat" cmpd="sng">
            <a:solidFill>
              <a:schemeClr val="tx1"/>
            </a:solidFill>
            <a:prstDash val="lgDash"/>
            <a:headEnd type="none" w="med" len="med"/>
            <a:tailEnd type="triangle" w="lg" len="lg"/>
          </a:ln>
        </p:spPr>
      </p:cxnSp>
      <p:sp>
        <p:nvSpPr>
          <p:cNvPr id="26640" name="Rectangle 41"/>
          <p:cNvSpPr/>
          <p:nvPr/>
        </p:nvSpPr>
        <p:spPr>
          <a:xfrm>
            <a:off x="2079625" y="2206625"/>
            <a:ext cx="776288" cy="474663"/>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Control Software</a:t>
            </a:r>
            <a:endParaRPr lang="en-US" altLang="en-US" sz="1000" dirty="0">
              <a:latin typeface="Arial" panose="020B0604020202020204" pitchFamily="34" charset="0"/>
            </a:endParaRPr>
          </a:p>
        </p:txBody>
      </p:sp>
      <p:sp>
        <p:nvSpPr>
          <p:cNvPr id="26641" name="Rectangle 9"/>
          <p:cNvSpPr>
            <a:spLocks noChangeAspect="1"/>
          </p:cNvSpPr>
          <p:nvPr/>
        </p:nvSpPr>
        <p:spPr>
          <a:xfrm>
            <a:off x="3841750" y="2208213"/>
            <a:ext cx="928688"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Controlled Domain</a:t>
            </a:r>
            <a:endParaRPr lang="en-US" altLang="en-US" sz="1000" dirty="0">
              <a:latin typeface="Arial" panose="020B0604020202020204" pitchFamily="34" charset="0"/>
            </a:endParaRPr>
          </a:p>
        </p:txBody>
      </p:sp>
      <p:sp>
        <p:nvSpPr>
          <p:cNvPr id="26642" name="Oval 10"/>
          <p:cNvSpPr>
            <a:spLocks noChangeAspect="1"/>
          </p:cNvSpPr>
          <p:nvPr/>
        </p:nvSpPr>
        <p:spPr>
          <a:xfrm>
            <a:off x="5738813" y="22082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Required Behavior</a:t>
            </a:r>
            <a:endParaRPr lang="en-US" altLang="en-US" sz="1000" dirty="0">
              <a:latin typeface="Arial" panose="020B0604020202020204" pitchFamily="34" charset="0"/>
            </a:endParaRPr>
          </a:p>
        </p:txBody>
      </p:sp>
      <p:sp>
        <p:nvSpPr>
          <p:cNvPr id="26643" name="Text Box 11"/>
          <p:cNvSpPr txBox="1">
            <a:spLocks noChangeAspect="1"/>
          </p:cNvSpPr>
          <p:nvPr/>
        </p:nvSpPr>
        <p:spPr>
          <a:xfrm>
            <a:off x="3111500" y="2195513"/>
            <a:ext cx="466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CS!C1</a:t>
            </a:r>
            <a:endParaRPr lang="en-US" altLang="en-US" sz="1200" dirty="0">
              <a:latin typeface="Arial" panose="020B0604020202020204" pitchFamily="34" charset="0"/>
            </a:endParaRPr>
          </a:p>
        </p:txBody>
      </p:sp>
      <p:sp>
        <p:nvSpPr>
          <p:cNvPr id="26644" name="Text Box 12"/>
          <p:cNvSpPr txBox="1">
            <a:spLocks noChangeAspect="1"/>
          </p:cNvSpPr>
          <p:nvPr/>
        </p:nvSpPr>
        <p:spPr>
          <a:xfrm>
            <a:off x="5141913" y="2195513"/>
            <a:ext cx="212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C3</a:t>
            </a:r>
            <a:endParaRPr lang="en-US" altLang="en-US" sz="1200" dirty="0">
              <a:latin typeface="Arial" panose="020B0604020202020204" pitchFamily="34" charset="0"/>
            </a:endParaRPr>
          </a:p>
        </p:txBody>
      </p:sp>
      <p:sp>
        <p:nvSpPr>
          <p:cNvPr id="26645" name="Text Box 14"/>
          <p:cNvSpPr txBox="1">
            <a:spLocks noChangeAspect="1"/>
          </p:cNvSpPr>
          <p:nvPr/>
        </p:nvSpPr>
        <p:spPr>
          <a:xfrm>
            <a:off x="3106738" y="2490788"/>
            <a:ext cx="474662"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CD!C2</a:t>
            </a:r>
            <a:endParaRPr lang="en-US" altLang="en-US" sz="1200" dirty="0">
              <a:latin typeface="Arial" panose="020B0604020202020204" pitchFamily="34" charset="0"/>
            </a:endParaRPr>
          </a:p>
        </p:txBody>
      </p:sp>
      <p:sp>
        <p:nvSpPr>
          <p:cNvPr id="26646" name="Rectangle 15"/>
          <p:cNvSpPr/>
          <p:nvPr/>
        </p:nvSpPr>
        <p:spPr>
          <a:xfrm>
            <a:off x="4587875" y="2497138"/>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
        <p:nvSpPr>
          <p:cNvPr id="26647" name="Text Box 52"/>
          <p:cNvSpPr txBox="1"/>
          <p:nvPr/>
        </p:nvSpPr>
        <p:spPr>
          <a:xfrm>
            <a:off x="3114675" y="1841500"/>
            <a:ext cx="844550"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System outputs to the environment</a:t>
            </a:r>
            <a:endParaRPr lang="en-US" altLang="en-US" sz="800" dirty="0">
              <a:latin typeface="Arial" panose="020B0604020202020204" pitchFamily="34" charset="0"/>
            </a:endParaRPr>
          </a:p>
        </p:txBody>
      </p:sp>
      <p:sp>
        <p:nvSpPr>
          <p:cNvPr id="26648" name="Text Box 53"/>
          <p:cNvSpPr txBox="1"/>
          <p:nvPr/>
        </p:nvSpPr>
        <p:spPr>
          <a:xfrm>
            <a:off x="2874963" y="2749550"/>
            <a:ext cx="892175"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Environment inputs to the system </a:t>
            </a:r>
            <a:endParaRPr lang="en-US" altLang="en-US" sz="800" dirty="0">
              <a:latin typeface="Arial" panose="020B0604020202020204" pitchFamily="34" charset="0"/>
            </a:endParaRPr>
          </a:p>
        </p:txBody>
      </p:sp>
      <p:sp>
        <p:nvSpPr>
          <p:cNvPr id="26649" name="Text Box 54"/>
          <p:cNvSpPr txBox="1"/>
          <p:nvPr/>
        </p:nvSpPr>
        <p:spPr>
          <a:xfrm>
            <a:off x="4903788" y="1928813"/>
            <a:ext cx="1238250" cy="244475"/>
          </a:xfrm>
          <a:prstGeom prst="rect">
            <a:avLst/>
          </a:prstGeom>
          <a:noFill/>
          <a:ln w="9525">
            <a:noFill/>
          </a:ln>
        </p:spPr>
        <p:txBody>
          <a:bodyPr lIns="0" tIns="0" rIns="0" bIns="0">
            <a:spAutoFit/>
          </a:bodyPr>
          <a:p>
            <a:pPr eaLnBrk="1" hangingPunct="1"/>
            <a:r>
              <a:rPr lang="en-US" altLang="en-US" sz="800" dirty="0">
                <a:latin typeface="Arial" panose="020B0604020202020204" pitchFamily="34" charset="0"/>
              </a:rPr>
              <a:t>Description of the domain’s required behavior </a:t>
            </a:r>
            <a:endParaRPr lang="en-US" altLang="en-US" sz="800" dirty="0">
              <a:latin typeface="Arial" panose="020B0604020202020204" pitchFamily="34" charset="0"/>
            </a:endParaRPr>
          </a:p>
        </p:txBody>
      </p:sp>
      <p:sp>
        <p:nvSpPr>
          <p:cNvPr id="26650" name="Text Box 52"/>
          <p:cNvSpPr txBox="1"/>
          <p:nvPr/>
        </p:nvSpPr>
        <p:spPr>
          <a:xfrm>
            <a:off x="6429375" y="3349625"/>
            <a:ext cx="2651125" cy="1384300"/>
          </a:xfrm>
          <a:prstGeom prst="rect">
            <a:avLst/>
          </a:prstGeom>
          <a:noFill/>
          <a:ln w="9525">
            <a:noFill/>
          </a:ln>
        </p:spPr>
        <p:txBody>
          <a:bodyPr lIns="0" tIns="0" rIns="0" bIns="0">
            <a:spAutoFit/>
          </a:bodyPr>
          <a:p>
            <a:pPr eaLnBrk="1" hangingPunct="1"/>
            <a:r>
              <a:rPr lang="en-US" altLang="en-US" dirty="0">
                <a:latin typeface="Calibri" panose="020F0502020204030204" pitchFamily="34" charset="0"/>
                <a:cs typeface="Calibri" panose="020F0502020204030204" pitchFamily="34" charset="0"/>
              </a:rPr>
              <a:t>Problem Frame checklist helps with identifying the conceptual software objects during Object-Oriented Analysis</a:t>
            </a:r>
            <a:endParaRPr lang="en-US" altLang="en-US" dirty="0">
              <a:latin typeface="Calibri" panose="020F0502020204030204" pitchFamily="34" charset="0"/>
              <a:ea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200" kern="1200" dirty="0">
                <a:latin typeface="Arial Rounded MT Bold" panose="020F0704030504030204" pitchFamily="34" charset="0"/>
                <a:ea typeface="+mj-ea"/>
                <a:cs typeface="+mj-cs"/>
              </a:rPr>
              <a:t>Basic Frame 2: </a:t>
            </a:r>
            <a:r>
              <a:rPr lang="en-US" altLang="en-US" kern="1200" dirty="0">
                <a:latin typeface="Arial Rounded MT Bold" panose="020F0704030504030204" pitchFamily="34" charset="0"/>
                <a:ea typeface="+mj-ea"/>
                <a:cs typeface="+mj-cs"/>
              </a:rPr>
              <a:t>Commanded Behavior</a:t>
            </a:r>
            <a:endParaRPr lang="en-US" altLang="en-US" kern="1200" dirty="0">
              <a:latin typeface="Arial Rounded MT Bold" panose="020F0704030504030204" pitchFamily="34" charset="0"/>
              <a:ea typeface="+mj-ea"/>
              <a:cs typeface="+mj-cs"/>
            </a:endParaRPr>
          </a:p>
        </p:txBody>
      </p:sp>
      <p:cxnSp>
        <p:nvCxnSpPr>
          <p:cNvPr id="27651" name="AutoShape 55"/>
          <p:cNvCxnSpPr>
            <a:cxnSpLocks noChangeAspect="1"/>
            <a:stCxn id="27652" idx="0"/>
            <a:endCxn id="27692" idx="3"/>
          </p:cNvCxnSpPr>
          <p:nvPr/>
        </p:nvCxnSpPr>
        <p:spPr>
          <a:xfrm flipH="1" flipV="1">
            <a:off x="4770438" y="1960563"/>
            <a:ext cx="1017587" cy="433387"/>
          </a:xfrm>
          <a:prstGeom prst="straightConnector1">
            <a:avLst/>
          </a:prstGeom>
          <a:ln w="19050" cap="flat" cmpd="sng">
            <a:solidFill>
              <a:schemeClr val="tx1"/>
            </a:solidFill>
            <a:prstDash val="lgDash"/>
            <a:headEnd type="none" w="med" len="med"/>
            <a:tailEnd type="triangle" w="lg" len="lg"/>
          </a:ln>
        </p:spPr>
      </p:cxnSp>
      <p:sp>
        <p:nvSpPr>
          <p:cNvPr id="27652" name="Freeform 56"/>
          <p:cNvSpPr/>
          <p:nvPr/>
        </p:nvSpPr>
        <p:spPr>
          <a:xfrm flipH="1">
            <a:off x="5788025" y="2393950"/>
            <a:ext cx="123825" cy="204788"/>
          </a:xfrm>
          <a:custGeom>
            <a:avLst/>
            <a:gdLst>
              <a:gd name="txL" fmla="*/ 0 w 231"/>
              <a:gd name="txT" fmla="*/ 0 h 321"/>
              <a:gd name="txR" fmla="*/ 231 w 231"/>
              <a:gd name="txB" fmla="*/ 321 h 321"/>
            </a:gdLst>
            <a:ahLst/>
            <a:cxnLst>
              <a:cxn ang="0">
                <a:pos x="2147483647" y="0"/>
              </a:cxn>
              <a:cxn ang="0">
                <a:pos x="0" y="0"/>
              </a:cxn>
              <a:cxn ang="0">
                <a:pos x="0" y="2147483647"/>
              </a:cxn>
              <a:cxn ang="0">
                <a:pos x="2147483647" y="2147483647"/>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27653" name="AutoShape 57"/>
          <p:cNvCxnSpPr>
            <a:cxnSpLocks noChangeAspect="1"/>
            <a:stCxn id="27652" idx="3"/>
            <a:endCxn id="27690" idx="3"/>
          </p:cNvCxnSpPr>
          <p:nvPr/>
        </p:nvCxnSpPr>
        <p:spPr>
          <a:xfrm flipH="1">
            <a:off x="4770438" y="2598738"/>
            <a:ext cx="1017587" cy="431800"/>
          </a:xfrm>
          <a:prstGeom prst="straightConnector1">
            <a:avLst/>
          </a:prstGeom>
          <a:ln w="19050" cap="flat" cmpd="sng">
            <a:solidFill>
              <a:schemeClr val="tx1"/>
            </a:solidFill>
            <a:prstDash val="lgDash"/>
            <a:headEnd type="none" w="med" len="med"/>
            <a:tailEnd type="none" w="lg" len="lg"/>
          </a:ln>
        </p:spPr>
      </p:cxnSp>
      <p:cxnSp>
        <p:nvCxnSpPr>
          <p:cNvPr id="27654" name="AutoShape 58"/>
          <p:cNvCxnSpPr>
            <a:cxnSpLocks noChangeAspect="1"/>
            <a:stCxn id="27655" idx="0"/>
            <a:endCxn id="27692" idx="1"/>
          </p:cNvCxnSpPr>
          <p:nvPr/>
        </p:nvCxnSpPr>
        <p:spPr>
          <a:xfrm flipV="1">
            <a:off x="2859088" y="1960563"/>
            <a:ext cx="982662" cy="433387"/>
          </a:xfrm>
          <a:prstGeom prst="straightConnector1">
            <a:avLst/>
          </a:prstGeom>
          <a:ln w="19050" cap="flat" cmpd="sng">
            <a:solidFill>
              <a:schemeClr val="tx1"/>
            </a:solidFill>
            <a:prstDash val="solid"/>
            <a:headEnd type="none" w="med" len="med"/>
            <a:tailEnd type="none" w="med" len="med"/>
          </a:ln>
        </p:spPr>
      </p:cxnSp>
      <p:sp>
        <p:nvSpPr>
          <p:cNvPr id="27655" name="Freeform 59"/>
          <p:cNvSpPr/>
          <p:nvPr/>
        </p:nvSpPr>
        <p:spPr>
          <a:xfrm>
            <a:off x="2735263" y="2393950"/>
            <a:ext cx="123825" cy="204788"/>
          </a:xfrm>
          <a:custGeom>
            <a:avLst/>
            <a:gdLst>
              <a:gd name="txL" fmla="*/ 0 w 231"/>
              <a:gd name="txT" fmla="*/ 0 h 321"/>
              <a:gd name="txR" fmla="*/ 231 w 231"/>
              <a:gd name="txB" fmla="*/ 321 h 321"/>
            </a:gdLst>
            <a:ahLst/>
            <a:cxnLst>
              <a:cxn ang="0">
                <a:pos x="2147483647" y="0"/>
              </a:cxn>
              <a:cxn ang="0">
                <a:pos x="0" y="0"/>
              </a:cxn>
              <a:cxn ang="0">
                <a:pos x="0" y="2147483647"/>
              </a:cxn>
              <a:cxn ang="0">
                <a:pos x="2147483647" y="2147483647"/>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27656" name="AutoShape 60"/>
          <p:cNvCxnSpPr>
            <a:cxnSpLocks noChangeAspect="1"/>
            <a:stCxn id="27655" idx="3"/>
            <a:endCxn id="27690" idx="1"/>
          </p:cNvCxnSpPr>
          <p:nvPr/>
        </p:nvCxnSpPr>
        <p:spPr>
          <a:xfrm>
            <a:off x="2859088" y="2598738"/>
            <a:ext cx="982662" cy="431800"/>
          </a:xfrm>
          <a:prstGeom prst="straightConnector1">
            <a:avLst/>
          </a:prstGeom>
          <a:ln w="19050" cap="flat" cmpd="sng">
            <a:solidFill>
              <a:schemeClr val="tx1"/>
            </a:solidFill>
            <a:prstDash val="solid"/>
            <a:headEnd type="none" w="med" len="med"/>
            <a:tailEnd type="none" w="med" len="med"/>
          </a:ln>
        </p:spPr>
      </p:cxnSp>
      <p:sp>
        <p:nvSpPr>
          <p:cNvPr id="27657" name="Rectangle 62"/>
          <p:cNvSpPr/>
          <p:nvPr/>
        </p:nvSpPr>
        <p:spPr>
          <a:xfrm>
            <a:off x="1941513" y="2259013"/>
            <a:ext cx="914400" cy="473075"/>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Control software</a:t>
            </a:r>
            <a:endParaRPr lang="en-US" altLang="en-US" sz="1000" dirty="0">
              <a:latin typeface="Arial" panose="020B0604020202020204" pitchFamily="34" charset="0"/>
            </a:endParaRPr>
          </a:p>
        </p:txBody>
      </p:sp>
      <p:sp>
        <p:nvSpPr>
          <p:cNvPr id="27658" name="Oval 65"/>
          <p:cNvSpPr>
            <a:spLocks noChangeAspect="1"/>
          </p:cNvSpPr>
          <p:nvPr/>
        </p:nvSpPr>
        <p:spPr>
          <a:xfrm>
            <a:off x="5738813" y="22590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Command behaviors</a:t>
            </a:r>
            <a:endParaRPr lang="en-US" altLang="en-US" sz="1000" dirty="0">
              <a:latin typeface="Arial" panose="020B0604020202020204" pitchFamily="34" charset="0"/>
            </a:endParaRPr>
          </a:p>
        </p:txBody>
      </p:sp>
      <p:sp>
        <p:nvSpPr>
          <p:cNvPr id="27659" name="Text Box 66"/>
          <p:cNvSpPr txBox="1">
            <a:spLocks noChangeAspect="1"/>
          </p:cNvSpPr>
          <p:nvPr/>
        </p:nvSpPr>
        <p:spPr>
          <a:xfrm>
            <a:off x="3024188" y="1724025"/>
            <a:ext cx="466725" cy="182563"/>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CS!C1</a:t>
            </a:r>
            <a:endParaRPr lang="en-US" altLang="en-US" sz="1200" dirty="0">
              <a:latin typeface="Arial" panose="020B0604020202020204" pitchFamily="34" charset="0"/>
            </a:endParaRPr>
          </a:p>
        </p:txBody>
      </p:sp>
      <p:sp>
        <p:nvSpPr>
          <p:cNvPr id="27660" name="Text Box 67"/>
          <p:cNvSpPr txBox="1">
            <a:spLocks noChangeAspect="1"/>
          </p:cNvSpPr>
          <p:nvPr/>
        </p:nvSpPr>
        <p:spPr>
          <a:xfrm>
            <a:off x="5230813" y="1954213"/>
            <a:ext cx="212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C3</a:t>
            </a:r>
            <a:endParaRPr lang="en-US" altLang="en-US" sz="1200" dirty="0">
              <a:latin typeface="Arial" panose="020B0604020202020204" pitchFamily="34" charset="0"/>
            </a:endParaRPr>
          </a:p>
        </p:txBody>
      </p:sp>
      <p:sp>
        <p:nvSpPr>
          <p:cNvPr id="27661" name="Text Box 68"/>
          <p:cNvSpPr txBox="1">
            <a:spLocks noChangeAspect="1"/>
          </p:cNvSpPr>
          <p:nvPr/>
        </p:nvSpPr>
        <p:spPr>
          <a:xfrm>
            <a:off x="3024188" y="1931988"/>
            <a:ext cx="474662"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CD!C2</a:t>
            </a:r>
            <a:endParaRPr lang="en-US" altLang="en-US" sz="1200" dirty="0">
              <a:latin typeface="Arial" panose="020B0604020202020204" pitchFamily="34" charset="0"/>
            </a:endParaRPr>
          </a:p>
        </p:txBody>
      </p:sp>
      <p:sp>
        <p:nvSpPr>
          <p:cNvPr id="27662" name="Text Box 69"/>
          <p:cNvSpPr txBox="1">
            <a:spLocks noChangeAspect="1"/>
          </p:cNvSpPr>
          <p:nvPr/>
        </p:nvSpPr>
        <p:spPr>
          <a:xfrm>
            <a:off x="3292475" y="4503738"/>
            <a:ext cx="103188"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27663" name="Text Box 70"/>
          <p:cNvSpPr txBox="1">
            <a:spLocks noChangeAspect="1"/>
          </p:cNvSpPr>
          <p:nvPr/>
        </p:nvSpPr>
        <p:spPr>
          <a:xfrm>
            <a:off x="5195888" y="4503738"/>
            <a:ext cx="1031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27664" name="Text Box 71"/>
          <p:cNvSpPr txBox="1">
            <a:spLocks noChangeAspect="1"/>
          </p:cNvSpPr>
          <p:nvPr/>
        </p:nvSpPr>
        <p:spPr>
          <a:xfrm>
            <a:off x="287338" y="3603625"/>
            <a:ext cx="4572000" cy="368300"/>
          </a:xfrm>
          <a:prstGeom prst="rect">
            <a:avLst/>
          </a:prstGeom>
          <a:noFill/>
          <a:ln w="9525">
            <a:noFill/>
          </a:ln>
        </p:spPr>
        <p:txBody>
          <a:bodyPr wrap="none" lIns="9144" tIns="0" rIns="9144" bIns="0">
            <a:spAutoFit/>
          </a:bodyPr>
          <a:p>
            <a:pPr eaLnBrk="1" hangingPunct="1"/>
            <a:r>
              <a:rPr lang="en-US" altLang="en-US" sz="2400" dirty="0">
                <a:latin typeface="AvantGarde Bk BT" pitchFamily="34" charset="0"/>
              </a:rPr>
              <a:t>Example:  Submit a Trading order</a:t>
            </a:r>
            <a:endParaRPr lang="en-US" altLang="en-US" sz="2400" dirty="0">
              <a:latin typeface="AvantGarde Bk BT" pitchFamily="34" charset="0"/>
            </a:endParaRPr>
          </a:p>
        </p:txBody>
      </p:sp>
      <p:sp>
        <p:nvSpPr>
          <p:cNvPr id="27665" name="Text Box 72"/>
          <p:cNvSpPr txBox="1">
            <a:spLocks noChangeAspect="1"/>
          </p:cNvSpPr>
          <p:nvPr/>
        </p:nvSpPr>
        <p:spPr>
          <a:xfrm>
            <a:off x="1916113" y="4567238"/>
            <a:ext cx="939800"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Control software</a:t>
            </a:r>
            <a:endParaRPr lang="en-US" altLang="en-US" sz="1000" i="1" dirty="0">
              <a:latin typeface="Arial" panose="020B0604020202020204" pitchFamily="34" charset="0"/>
            </a:endParaRPr>
          </a:p>
        </p:txBody>
      </p:sp>
      <p:sp>
        <p:nvSpPr>
          <p:cNvPr id="27666" name="Text Box 73"/>
          <p:cNvSpPr txBox="1">
            <a:spLocks noChangeAspect="1"/>
          </p:cNvSpPr>
          <p:nvPr/>
        </p:nvSpPr>
        <p:spPr>
          <a:xfrm>
            <a:off x="3784600" y="4033838"/>
            <a:ext cx="1044575"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Controlled domain</a:t>
            </a:r>
            <a:endParaRPr lang="en-US" altLang="en-US" sz="1000" i="1" dirty="0">
              <a:latin typeface="Arial" panose="020B0604020202020204" pitchFamily="34" charset="0"/>
            </a:endParaRPr>
          </a:p>
        </p:txBody>
      </p:sp>
      <p:sp>
        <p:nvSpPr>
          <p:cNvPr id="27667" name="Text Box 74"/>
          <p:cNvSpPr txBox="1">
            <a:spLocks noChangeAspect="1"/>
          </p:cNvSpPr>
          <p:nvPr/>
        </p:nvSpPr>
        <p:spPr>
          <a:xfrm>
            <a:off x="5946775" y="4414838"/>
            <a:ext cx="603250"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Command</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behavior</a:t>
            </a:r>
            <a:endParaRPr lang="en-US" altLang="en-US" sz="1000" i="1" dirty="0">
              <a:latin typeface="Arial" panose="020B0604020202020204" pitchFamily="34" charset="0"/>
            </a:endParaRPr>
          </a:p>
        </p:txBody>
      </p:sp>
      <p:sp>
        <p:nvSpPr>
          <p:cNvPr id="27668" name="Text Box 75"/>
          <p:cNvSpPr txBox="1">
            <a:spLocks noChangeAspect="1"/>
          </p:cNvSpPr>
          <p:nvPr/>
        </p:nvSpPr>
        <p:spPr>
          <a:xfrm>
            <a:off x="5240338" y="6151563"/>
            <a:ext cx="2089150" cy="365125"/>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c: TR! {Submit[i], Cancel[i],      </a:t>
            </a:r>
            <a:endParaRPr lang="en-US" altLang="en-US" sz="1200" dirty="0">
              <a:latin typeface="Arial" panose="020B0604020202020204" pitchFamily="34" charset="0"/>
            </a:endParaRPr>
          </a:p>
          <a:p>
            <a:pPr algn="r" eaLnBrk="1" hangingPunct="1"/>
            <a:r>
              <a:rPr lang="en-US" altLang="en-US" sz="1200" dirty="0">
                <a:latin typeface="Arial" panose="020B0604020202020204" pitchFamily="34" charset="0"/>
              </a:rPr>
              <a:t>Executed[i], Expired[i]}  [Y3]</a:t>
            </a:r>
            <a:endParaRPr lang="en-US" altLang="en-US" sz="1200" dirty="0">
              <a:latin typeface="Arial" panose="020B0604020202020204" pitchFamily="34" charset="0"/>
            </a:endParaRPr>
          </a:p>
        </p:txBody>
      </p:sp>
      <p:sp>
        <p:nvSpPr>
          <p:cNvPr id="27669" name="Text Box 76"/>
          <p:cNvSpPr txBox="1">
            <a:spLocks noChangeAspect="1"/>
          </p:cNvSpPr>
          <p:nvPr/>
        </p:nvSpPr>
        <p:spPr>
          <a:xfrm>
            <a:off x="1508125" y="6151563"/>
            <a:ext cx="1717675"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TS! {Create[i]}       [E1]</a:t>
            </a:r>
            <a:endParaRPr lang="en-US" altLang="en-US" sz="1200" dirty="0">
              <a:latin typeface="Arial" panose="020B0604020202020204" pitchFamily="34" charset="0"/>
            </a:endParaRPr>
          </a:p>
        </p:txBody>
      </p:sp>
      <p:sp>
        <p:nvSpPr>
          <p:cNvPr id="27670" name="Text Box 77"/>
          <p:cNvSpPr txBox="1">
            <a:spLocks noChangeAspect="1"/>
          </p:cNvSpPr>
          <p:nvPr/>
        </p:nvSpPr>
        <p:spPr>
          <a:xfrm>
            <a:off x="1508125" y="6408738"/>
            <a:ext cx="2451100"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 TR! {PriceQuotes, Submit[i]}  [Y2]</a:t>
            </a:r>
            <a:endParaRPr lang="en-US" altLang="en-US" sz="1200" dirty="0">
              <a:latin typeface="Arial" panose="020B0604020202020204" pitchFamily="34" charset="0"/>
            </a:endParaRPr>
          </a:p>
        </p:txBody>
      </p:sp>
      <p:grpSp>
        <p:nvGrpSpPr>
          <p:cNvPr id="27671" name="Group 78"/>
          <p:cNvGrpSpPr/>
          <p:nvPr/>
        </p:nvGrpSpPr>
        <p:grpSpPr>
          <a:xfrm>
            <a:off x="3841750" y="1724025"/>
            <a:ext cx="928688" cy="473075"/>
            <a:chOff x="2420" y="1390"/>
            <a:chExt cx="585" cy="298"/>
          </a:xfrm>
        </p:grpSpPr>
        <p:sp>
          <p:nvSpPr>
            <p:cNvPr id="27692" name="Rectangle 79"/>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Controlled domain</a:t>
              </a:r>
              <a:endParaRPr lang="en-US" altLang="en-US" sz="1000" dirty="0">
                <a:latin typeface="Arial" panose="020B0604020202020204" pitchFamily="34" charset="0"/>
              </a:endParaRPr>
            </a:p>
          </p:txBody>
        </p:sp>
        <p:sp>
          <p:nvSpPr>
            <p:cNvPr id="27693" name="Rectangle 80"/>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grpSp>
        <p:nvGrpSpPr>
          <p:cNvPr id="27672" name="Group 81"/>
          <p:cNvGrpSpPr/>
          <p:nvPr/>
        </p:nvGrpSpPr>
        <p:grpSpPr>
          <a:xfrm>
            <a:off x="3841750" y="2794000"/>
            <a:ext cx="928688" cy="473075"/>
            <a:chOff x="2420" y="1390"/>
            <a:chExt cx="585" cy="298"/>
          </a:xfrm>
        </p:grpSpPr>
        <p:sp>
          <p:nvSpPr>
            <p:cNvPr id="27690" name="Rectangle 82"/>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Operator</a:t>
              </a:r>
              <a:endParaRPr lang="en-US" altLang="en-US" sz="1000" dirty="0">
                <a:latin typeface="Arial" panose="020B0604020202020204" pitchFamily="34" charset="0"/>
              </a:endParaRPr>
            </a:p>
          </p:txBody>
        </p:sp>
        <p:sp>
          <p:nvSpPr>
            <p:cNvPr id="27691" name="Rectangle 83"/>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grpSp>
      <p:sp>
        <p:nvSpPr>
          <p:cNvPr id="27673" name="Text Box 84"/>
          <p:cNvSpPr txBox="1">
            <a:spLocks noChangeAspect="1"/>
          </p:cNvSpPr>
          <p:nvPr/>
        </p:nvSpPr>
        <p:spPr>
          <a:xfrm>
            <a:off x="3019425" y="2890838"/>
            <a:ext cx="468313"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OP!E4</a:t>
            </a:r>
            <a:endParaRPr lang="en-US" altLang="en-US" sz="1200" dirty="0">
              <a:latin typeface="Arial" panose="020B0604020202020204" pitchFamily="34" charset="0"/>
            </a:endParaRPr>
          </a:p>
        </p:txBody>
      </p:sp>
      <p:sp>
        <p:nvSpPr>
          <p:cNvPr id="27674" name="Text Box 85"/>
          <p:cNvSpPr txBox="1">
            <a:spLocks noChangeAspect="1"/>
          </p:cNvSpPr>
          <p:nvPr/>
        </p:nvSpPr>
        <p:spPr>
          <a:xfrm>
            <a:off x="5233988" y="2878138"/>
            <a:ext cx="2047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E4</a:t>
            </a:r>
            <a:endParaRPr lang="en-US" altLang="en-US" sz="1200" dirty="0">
              <a:latin typeface="Arial" panose="020B0604020202020204" pitchFamily="34" charset="0"/>
            </a:endParaRPr>
          </a:p>
        </p:txBody>
      </p:sp>
      <p:cxnSp>
        <p:nvCxnSpPr>
          <p:cNvPr id="27675" name="AutoShape 86"/>
          <p:cNvCxnSpPr>
            <a:cxnSpLocks noChangeAspect="1"/>
            <a:endCxn id="27688" idx="3"/>
          </p:cNvCxnSpPr>
          <p:nvPr/>
        </p:nvCxnSpPr>
        <p:spPr>
          <a:xfrm flipH="1" flipV="1">
            <a:off x="4770438" y="4551363"/>
            <a:ext cx="1017587" cy="433387"/>
          </a:xfrm>
          <a:prstGeom prst="straightConnector1">
            <a:avLst/>
          </a:prstGeom>
          <a:ln w="19050" cap="flat" cmpd="sng">
            <a:solidFill>
              <a:schemeClr val="tx1"/>
            </a:solidFill>
            <a:prstDash val="lgDash"/>
            <a:headEnd type="none" w="med" len="med"/>
            <a:tailEnd type="triangle" w="lg" len="lg"/>
          </a:ln>
        </p:spPr>
      </p:cxnSp>
      <p:cxnSp>
        <p:nvCxnSpPr>
          <p:cNvPr id="27676" name="AutoShape 87"/>
          <p:cNvCxnSpPr>
            <a:cxnSpLocks noChangeAspect="1"/>
            <a:endCxn id="27686" idx="3"/>
          </p:cNvCxnSpPr>
          <p:nvPr/>
        </p:nvCxnSpPr>
        <p:spPr>
          <a:xfrm flipH="1">
            <a:off x="4770438" y="5189538"/>
            <a:ext cx="1017587" cy="431800"/>
          </a:xfrm>
          <a:prstGeom prst="straightConnector1">
            <a:avLst/>
          </a:prstGeom>
          <a:ln w="19050" cap="flat" cmpd="sng">
            <a:solidFill>
              <a:schemeClr val="tx1"/>
            </a:solidFill>
            <a:prstDash val="lgDash"/>
            <a:headEnd type="none" w="med" len="med"/>
            <a:tailEnd type="none" w="lg" len="lg"/>
          </a:ln>
        </p:spPr>
      </p:cxnSp>
      <p:cxnSp>
        <p:nvCxnSpPr>
          <p:cNvPr id="27677" name="AutoShape 88"/>
          <p:cNvCxnSpPr>
            <a:cxnSpLocks noChangeAspect="1"/>
            <a:endCxn id="27688" idx="1"/>
          </p:cNvCxnSpPr>
          <p:nvPr/>
        </p:nvCxnSpPr>
        <p:spPr>
          <a:xfrm flipV="1">
            <a:off x="2859088" y="4551363"/>
            <a:ext cx="982662" cy="433387"/>
          </a:xfrm>
          <a:prstGeom prst="straightConnector1">
            <a:avLst/>
          </a:prstGeom>
          <a:ln w="19050" cap="flat" cmpd="sng">
            <a:solidFill>
              <a:schemeClr val="tx1"/>
            </a:solidFill>
            <a:prstDash val="solid"/>
            <a:headEnd type="none" w="med" len="med"/>
            <a:tailEnd type="none" w="med" len="med"/>
          </a:ln>
        </p:spPr>
      </p:cxnSp>
      <p:cxnSp>
        <p:nvCxnSpPr>
          <p:cNvPr id="27678" name="AutoShape 89"/>
          <p:cNvCxnSpPr>
            <a:cxnSpLocks noChangeAspect="1"/>
            <a:endCxn id="27686" idx="1"/>
          </p:cNvCxnSpPr>
          <p:nvPr/>
        </p:nvCxnSpPr>
        <p:spPr>
          <a:xfrm>
            <a:off x="2859088" y="5189538"/>
            <a:ext cx="982662" cy="431800"/>
          </a:xfrm>
          <a:prstGeom prst="straightConnector1">
            <a:avLst/>
          </a:prstGeom>
          <a:ln w="19050" cap="flat" cmpd="sng">
            <a:solidFill>
              <a:schemeClr val="tx1"/>
            </a:solidFill>
            <a:prstDash val="solid"/>
            <a:headEnd type="none" w="med" len="med"/>
            <a:tailEnd type="none" w="med" len="med"/>
          </a:ln>
        </p:spPr>
      </p:cxnSp>
      <p:sp>
        <p:nvSpPr>
          <p:cNvPr id="27679" name="Oval 94"/>
          <p:cNvSpPr>
            <a:spLocks noChangeAspect="1"/>
          </p:cNvSpPr>
          <p:nvPr/>
        </p:nvSpPr>
        <p:spPr>
          <a:xfrm>
            <a:off x="5738813" y="48498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D</a:t>
            </a:r>
            <a:endParaRPr lang="en-US" altLang="en-US" sz="1000" dirty="0">
              <a:latin typeface="Arial" panose="020B0604020202020204" pitchFamily="34" charset="0"/>
            </a:endParaRPr>
          </a:p>
        </p:txBody>
      </p:sp>
      <p:grpSp>
        <p:nvGrpSpPr>
          <p:cNvPr id="27680" name="Group 95"/>
          <p:cNvGrpSpPr/>
          <p:nvPr/>
        </p:nvGrpSpPr>
        <p:grpSpPr>
          <a:xfrm>
            <a:off x="3841750" y="4314825"/>
            <a:ext cx="928688" cy="473075"/>
            <a:chOff x="2420" y="1390"/>
            <a:chExt cx="585" cy="298"/>
          </a:xfrm>
        </p:grpSpPr>
        <p:sp>
          <p:nvSpPr>
            <p:cNvPr id="27688" name="Rectangle 96"/>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A</a:t>
              </a:r>
              <a:endParaRPr lang="en-US" altLang="en-US" sz="1000" dirty="0">
                <a:latin typeface="Arial" panose="020B0604020202020204" pitchFamily="34" charset="0"/>
              </a:endParaRPr>
            </a:p>
          </p:txBody>
        </p:sp>
        <p:sp>
          <p:nvSpPr>
            <p:cNvPr id="27689" name="Rectangle 97"/>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grpSp>
        <p:nvGrpSpPr>
          <p:cNvPr id="27681" name="Group 98"/>
          <p:cNvGrpSpPr/>
          <p:nvPr/>
        </p:nvGrpSpPr>
        <p:grpSpPr>
          <a:xfrm>
            <a:off x="3841750" y="5384800"/>
            <a:ext cx="928688" cy="473075"/>
            <a:chOff x="2420" y="1390"/>
            <a:chExt cx="585" cy="298"/>
          </a:xfrm>
        </p:grpSpPr>
        <p:sp>
          <p:nvSpPr>
            <p:cNvPr id="27686" name="Rectangle 99"/>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sp>
          <p:nvSpPr>
            <p:cNvPr id="27687" name="Rectangle 100"/>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grpSp>
      <p:sp>
        <p:nvSpPr>
          <p:cNvPr id="27682" name="Text Box 101"/>
          <p:cNvSpPr txBox="1">
            <a:spLocks noChangeAspect="1"/>
          </p:cNvSpPr>
          <p:nvPr/>
        </p:nvSpPr>
        <p:spPr>
          <a:xfrm>
            <a:off x="4048125" y="5953125"/>
            <a:ext cx="517525"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Operator</a:t>
            </a:r>
            <a:endParaRPr lang="en-US" altLang="en-US" sz="1000" i="1" dirty="0">
              <a:latin typeface="Arial" panose="020B0604020202020204" pitchFamily="34" charset="0"/>
            </a:endParaRPr>
          </a:p>
        </p:txBody>
      </p:sp>
      <p:sp>
        <p:nvSpPr>
          <p:cNvPr id="27683" name="Text Box 102"/>
          <p:cNvSpPr txBox="1">
            <a:spLocks noChangeAspect="1"/>
          </p:cNvSpPr>
          <p:nvPr/>
        </p:nvSpPr>
        <p:spPr>
          <a:xfrm>
            <a:off x="3295650" y="5470525"/>
            <a:ext cx="95250"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a:t>
            </a:r>
            <a:endParaRPr lang="en-US" altLang="en-US" sz="1200" dirty="0">
              <a:latin typeface="Arial" panose="020B0604020202020204" pitchFamily="34" charset="0"/>
            </a:endParaRPr>
          </a:p>
        </p:txBody>
      </p:sp>
      <p:sp>
        <p:nvSpPr>
          <p:cNvPr id="27684" name="Text Box 103"/>
          <p:cNvSpPr txBox="1">
            <a:spLocks noChangeAspect="1"/>
          </p:cNvSpPr>
          <p:nvPr/>
        </p:nvSpPr>
        <p:spPr>
          <a:xfrm>
            <a:off x="5199063" y="5470525"/>
            <a:ext cx="95250"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a:t>
            </a:r>
            <a:endParaRPr lang="en-US" altLang="en-US" sz="1200" dirty="0">
              <a:latin typeface="Arial" panose="020B0604020202020204" pitchFamily="34" charset="0"/>
            </a:endParaRPr>
          </a:p>
        </p:txBody>
      </p:sp>
      <p:sp>
        <p:nvSpPr>
          <p:cNvPr id="27685" name="Rectangle 62"/>
          <p:cNvSpPr/>
          <p:nvPr/>
        </p:nvSpPr>
        <p:spPr>
          <a:xfrm>
            <a:off x="1941513" y="4849813"/>
            <a:ext cx="914400" cy="473075"/>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8674" name="Group 19"/>
          <p:cNvGrpSpPr/>
          <p:nvPr/>
        </p:nvGrpSpPr>
        <p:grpSpPr>
          <a:xfrm>
            <a:off x="392113" y="1474788"/>
            <a:ext cx="5241925" cy="2851150"/>
            <a:chOff x="247" y="929"/>
            <a:chExt cx="3302" cy="1796"/>
          </a:xfrm>
        </p:grpSpPr>
        <p:sp>
          <p:nvSpPr>
            <p:cNvPr id="28680" name="Freeform 20"/>
            <p:cNvSpPr>
              <a:spLocks noChangeAspect="1"/>
            </p:cNvSpPr>
            <p:nvPr/>
          </p:nvSpPr>
          <p:spPr>
            <a:xfrm>
              <a:off x="299" y="975"/>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rgbClr val="DDDDDD">
                <a:alpha val="100000"/>
              </a:srgbClr>
            </a:solidFill>
            <a:ln w="3175" cap="flat" cmpd="sng">
              <a:solidFill>
                <a:srgbClr val="DDDDDD">
                  <a:alpha val="100000"/>
                </a:srgbClr>
              </a:solidFill>
              <a:prstDash val="solid"/>
              <a:round/>
              <a:headEnd type="none" w="med" len="med"/>
              <a:tailEnd type="none" w="med" len="med"/>
            </a:ln>
          </p:spPr>
          <p:txBody>
            <a:bodyPr/>
            <a:p>
              <a:endParaRPr lang="zh-CN" altLang="en-US"/>
            </a:p>
          </p:txBody>
        </p:sp>
        <p:sp>
          <p:nvSpPr>
            <p:cNvPr id="28681" name="Freeform 21"/>
            <p:cNvSpPr>
              <a:spLocks noChangeAspect="1"/>
            </p:cNvSpPr>
            <p:nvPr/>
          </p:nvSpPr>
          <p:spPr>
            <a:xfrm>
              <a:off x="247" y="929"/>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8682" name="Freeform 22"/>
            <p:cNvSpPr>
              <a:spLocks noChangeAspect="1"/>
            </p:cNvSpPr>
            <p:nvPr/>
          </p:nvSpPr>
          <p:spPr>
            <a:xfrm>
              <a:off x="268" y="1157"/>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3" name="Freeform 23"/>
            <p:cNvSpPr>
              <a:spLocks noChangeAspect="1"/>
            </p:cNvSpPr>
            <p:nvPr/>
          </p:nvSpPr>
          <p:spPr>
            <a:xfrm>
              <a:off x="263" y="13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4" name="Freeform 24"/>
            <p:cNvSpPr>
              <a:spLocks noChangeAspect="1"/>
            </p:cNvSpPr>
            <p:nvPr/>
          </p:nvSpPr>
          <p:spPr>
            <a:xfrm>
              <a:off x="258" y="1641"/>
              <a:ext cx="3233" cy="21"/>
            </a:xfrm>
            <a:custGeom>
              <a:avLst/>
              <a:gdLst>
                <a:gd name="txL" fmla="*/ 0 w 3049"/>
                <a:gd name="txT" fmla="*/ 0 h 26"/>
                <a:gd name="txR" fmla="*/ 3049 w 3049"/>
                <a:gd name="txB" fmla="*/ 26 h 26"/>
              </a:gdLst>
              <a:ahLst/>
              <a:cxnLst>
                <a:cxn ang="0">
                  <a:pos x="46" y="2"/>
                </a:cxn>
                <a:cxn ang="0">
                  <a:pos x="777" y="2"/>
                </a:cxn>
                <a:cxn ang="0">
                  <a:pos x="4710" y="2"/>
                </a:cxn>
                <a:cxn ang="0">
                  <a:pos x="5392"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5" name="Freeform 25"/>
            <p:cNvSpPr>
              <a:spLocks noChangeAspect="1"/>
            </p:cNvSpPr>
            <p:nvPr/>
          </p:nvSpPr>
          <p:spPr>
            <a:xfrm>
              <a:off x="258" y="1788"/>
              <a:ext cx="3233" cy="23"/>
            </a:xfrm>
            <a:custGeom>
              <a:avLst/>
              <a:gdLst>
                <a:gd name="txL" fmla="*/ 0 w 3049"/>
                <a:gd name="txT" fmla="*/ 0 h 26"/>
                <a:gd name="txR" fmla="*/ 3049 w 3049"/>
                <a:gd name="txB" fmla="*/ 26 h 26"/>
              </a:gdLst>
              <a:ahLst/>
              <a:cxnLst>
                <a:cxn ang="0">
                  <a:pos x="46" y="6"/>
                </a:cxn>
                <a:cxn ang="0">
                  <a:pos x="777" y="7"/>
                </a:cxn>
                <a:cxn ang="0">
                  <a:pos x="4710" y="3"/>
                </a:cxn>
                <a:cxn ang="0">
                  <a:pos x="5392" y="4"/>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6" name="Freeform 26"/>
            <p:cNvSpPr>
              <a:spLocks noChangeAspect="1"/>
            </p:cNvSpPr>
            <p:nvPr/>
          </p:nvSpPr>
          <p:spPr>
            <a:xfrm>
              <a:off x="263" y="2102"/>
              <a:ext cx="3232" cy="19"/>
            </a:xfrm>
            <a:custGeom>
              <a:avLst/>
              <a:gdLst>
                <a:gd name="txL" fmla="*/ 0 w 3049"/>
                <a:gd name="txT" fmla="*/ 0 h 26"/>
                <a:gd name="txR" fmla="*/ 3049 w 3049"/>
                <a:gd name="txB" fmla="*/ 26 h 26"/>
              </a:gdLst>
              <a:ahLst/>
              <a:cxnLst>
                <a:cxn ang="0">
                  <a:pos x="46" y="1"/>
                </a:cxn>
                <a:cxn ang="0">
                  <a:pos x="776" y="1"/>
                </a:cxn>
                <a:cxn ang="0">
                  <a:pos x="4696" y="1"/>
                </a:cxn>
                <a:cxn ang="0">
                  <a:pos x="5375" y="1"/>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7" name="Freeform 27"/>
            <p:cNvSpPr>
              <a:spLocks noChangeAspect="1"/>
            </p:cNvSpPr>
            <p:nvPr/>
          </p:nvSpPr>
          <p:spPr>
            <a:xfrm>
              <a:off x="268" y="22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8" name="Freeform 28"/>
            <p:cNvSpPr>
              <a:spLocks noChangeAspect="1"/>
            </p:cNvSpPr>
            <p:nvPr/>
          </p:nvSpPr>
          <p:spPr>
            <a:xfrm>
              <a:off x="268" y="23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89" name="Freeform 29"/>
            <p:cNvSpPr>
              <a:spLocks noChangeAspect="1"/>
            </p:cNvSpPr>
            <p:nvPr/>
          </p:nvSpPr>
          <p:spPr>
            <a:xfrm>
              <a:off x="258" y="14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90" name="Freeform 30"/>
            <p:cNvSpPr>
              <a:spLocks noChangeAspect="1"/>
            </p:cNvSpPr>
            <p:nvPr/>
          </p:nvSpPr>
          <p:spPr>
            <a:xfrm>
              <a:off x="276" y="195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28691" name="Freeform 31"/>
            <p:cNvSpPr>
              <a:spLocks noChangeAspect="1"/>
            </p:cNvSpPr>
            <p:nvPr/>
          </p:nvSpPr>
          <p:spPr>
            <a:xfrm>
              <a:off x="271" y="2530"/>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grpSp>
      <p:sp>
        <p:nvSpPr>
          <p:cNvPr id="36867" name="Rectangle 2"/>
          <p:cNvSpPr>
            <a:spLocks noGrp="1" noChangeArrowheads="1"/>
          </p:cNvSpPr>
          <p:nvPr>
            <p:ph type="title"/>
          </p:nvPr>
        </p:nvSpPr>
        <p:spPr>
          <a:xfrm>
            <a:off x="269875" y="136525"/>
            <a:ext cx="8850313" cy="1143000"/>
          </a:xfrm>
        </p:spPr>
        <p:txBody>
          <a:bodyPr vert="horz" wrap="square" lIns="0" tIns="45720" rIns="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t>Commanded</a:t>
            </a: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 Behavior</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 Frame Concern Checklist</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28676" name="Text Box 13"/>
          <p:cNvSpPr txBox="1"/>
          <p:nvPr/>
        </p:nvSpPr>
        <p:spPr>
          <a:xfrm>
            <a:off x="654050" y="1514475"/>
            <a:ext cx="4900613" cy="2239963"/>
          </a:xfrm>
          <a:prstGeom prst="rect">
            <a:avLst/>
          </a:prstGeom>
          <a:noFill/>
          <a:ln w="9525">
            <a:noFill/>
          </a:ln>
        </p:spPr>
        <p:txBody>
          <a:bodyPr wrap="none">
            <a:spAutoFit/>
          </a:bodyPr>
          <a:p>
            <a:pPr eaLnBrk="1" hangingPunct="1"/>
            <a:r>
              <a:rPr lang="en-US" altLang="en-US" sz="1600" b="1" dirty="0">
                <a:latin typeface="Comic Sans MS" panose="030F0702030302020204" pitchFamily="66" charset="0"/>
              </a:rPr>
              <a:t>Commanded Behavior Frame Checklist</a:t>
            </a:r>
            <a:endParaRPr lang="en-US" altLang="en-US" sz="1600" b="1" dirty="0">
              <a:latin typeface="Comic Sans MS" panose="030F0702030302020204" pitchFamily="66" charset="0"/>
            </a:endParaRPr>
          </a:p>
          <a:p>
            <a:pPr eaLnBrk="1" hangingPunct="1">
              <a:lnSpc>
                <a:spcPct val="70000"/>
              </a:lnSpc>
            </a:pPr>
            <a:endParaRPr lang="en-US" altLang="en-US" sz="1200" dirty="0">
              <a:latin typeface="Comic Sans MS" panose="030F0702030302020204" pitchFamily="66" charset="0"/>
            </a:endParaRPr>
          </a:p>
          <a:p>
            <a:pPr eaLnBrk="1" hangingPunct="1">
              <a:buFont typeface="Wingdings" panose="05000000000000000000" pitchFamily="2" charset="2"/>
              <a:buChar char="q"/>
            </a:pPr>
            <a:r>
              <a:rPr lang="en-US" altLang="en-US" sz="1200" dirty="0">
                <a:latin typeface="Comic Sans MS" panose="030F0702030302020204" pitchFamily="66" charset="0"/>
              </a:rPr>
              <a:t>Requested user commands:</a:t>
            </a:r>
            <a:endParaRPr lang="en-US" altLang="en-US" sz="1200" dirty="0">
              <a:latin typeface="Comic Sans MS" panose="030F0702030302020204" pitchFamily="66" charset="0"/>
            </a:endParaRPr>
          </a:p>
          <a:p>
            <a:pPr marL="41148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List of desired user commands and their parameters</a:t>
            </a:r>
            <a:endParaRPr lang="en-US" altLang="en-US" sz="1200" dirty="0">
              <a:latin typeface="Comic Sans MS" panose="030F0702030302020204" pitchFamily="66" charset="0"/>
            </a:endParaRPr>
          </a:p>
          <a:p>
            <a:pPr eaLnBrk="1" hangingPunct="1">
              <a:spcBef>
                <a:spcPct val="50000"/>
              </a:spcBef>
              <a:buFont typeface="Wingdings" panose="05000000000000000000" pitchFamily="2" charset="2"/>
              <a:buChar char="q"/>
            </a:pPr>
            <a:r>
              <a:rPr lang="en-US" altLang="en-US" sz="1200" dirty="0">
                <a:latin typeface="Comic Sans MS" panose="030F0702030302020204" pitchFamily="66" charset="0"/>
              </a:rPr>
              <a:t>Command applicability under different scenarios:</a:t>
            </a:r>
            <a:endParaRPr lang="en-US" altLang="en-US" sz="1200" dirty="0">
              <a:latin typeface="Comic Sans MS" panose="030F0702030302020204" pitchFamily="66" charset="0"/>
            </a:endParaRPr>
          </a:p>
          <a:p>
            <a:pPr marL="41148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Description of scenarios for which each command</a:t>
            </a:r>
            <a:br>
              <a:rPr lang="en-US" altLang="en-US" sz="1200" dirty="0">
                <a:latin typeface="Comic Sans MS" panose="030F0702030302020204" pitchFamily="66" charset="0"/>
              </a:rPr>
            </a:br>
            <a:r>
              <a:rPr lang="en-US" altLang="en-US" sz="1200" dirty="0">
                <a:latin typeface="Comic Sans MS" panose="030F0702030302020204" pitchFamily="66" charset="0"/>
              </a:rPr>
              <a:t>is applicable</a:t>
            </a:r>
            <a:endParaRPr lang="en-US" altLang="en-US" sz="900" dirty="0">
              <a:latin typeface="Comic Sans MS" panose="030F0702030302020204" pitchFamily="66" charset="0"/>
            </a:endParaRPr>
          </a:p>
          <a:p>
            <a:pPr eaLnBrk="1" hangingPunct="1">
              <a:spcBef>
                <a:spcPct val="50000"/>
              </a:spcBef>
              <a:buFont typeface="Wingdings" panose="05000000000000000000" pitchFamily="2" charset="2"/>
              <a:buChar char="q"/>
            </a:pPr>
            <a:r>
              <a:rPr lang="en-US" altLang="en-US" sz="1200" dirty="0">
                <a:latin typeface="Comic Sans MS" panose="030F0702030302020204" pitchFamily="66" charset="0"/>
              </a:rPr>
              <a:t>Consequences of unacceptable commands:</a:t>
            </a:r>
            <a:endParaRPr lang="en-US" altLang="en-US" sz="1200" dirty="0">
              <a:latin typeface="Comic Sans MS" panose="030F0702030302020204" pitchFamily="66" charset="0"/>
            </a:endParaRPr>
          </a:p>
          <a:p>
            <a:pPr marL="411480" lvl="1" indent="-228600" eaLnBrk="1" hangingPunct="1">
              <a:spcBef>
                <a:spcPct val="20000"/>
              </a:spcBef>
              <a:buSzPct val="80000"/>
              <a:buFont typeface="Wingdings" panose="05000000000000000000" pitchFamily="2" charset="2"/>
              <a:buChar char="o"/>
            </a:pPr>
            <a:r>
              <a:rPr lang="en-US" altLang="en-US" sz="1200" dirty="0">
                <a:latin typeface="Comic Sans MS" panose="030F0702030302020204" pitchFamily="66" charset="0"/>
              </a:rPr>
              <a:t>What should happen if the user tries to execute a command</a:t>
            </a:r>
            <a:br>
              <a:rPr lang="en-US" altLang="en-US" sz="1200" dirty="0">
                <a:latin typeface="Comic Sans MS" panose="030F0702030302020204" pitchFamily="66" charset="0"/>
              </a:rPr>
            </a:br>
            <a:r>
              <a:rPr lang="en-US" altLang="en-US" sz="1200" dirty="0">
                <a:latin typeface="Comic Sans MS" panose="030F0702030302020204" pitchFamily="66" charset="0"/>
              </a:rPr>
              <a:t>that is not supported or not allowed in the current scenario</a:t>
            </a:r>
            <a:endParaRPr lang="en-US" altLang="en-US" sz="1200" dirty="0">
              <a:latin typeface="Comic Sans MS" panose="030F0702030302020204" pitchFamily="66" charset="0"/>
            </a:endParaRPr>
          </a:p>
        </p:txBody>
      </p:sp>
      <p:sp>
        <p:nvSpPr>
          <p:cNvPr id="28677" name="Rectangle 17"/>
          <p:cNvSpPr/>
          <p:nvPr/>
        </p:nvSpPr>
        <p:spPr>
          <a:xfrm>
            <a:off x="166688" y="4330700"/>
            <a:ext cx="8909050" cy="825500"/>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 —	REQ2: ℓock when “LOCK” pressed</a:t>
            </a:r>
            <a:endParaRPr lang="en-US" altLang="en-US" sz="1600" dirty="0">
              <a:solidFill>
                <a:srgbClr val="777777"/>
              </a:solidFill>
              <a:latin typeface="Comic Sans MS" panose="030F0702030302020204" pitchFamily="66" charset="0"/>
            </a:endParaRPr>
          </a:p>
          <a:p>
            <a:pPr eaLnBrk="1" hangingPunct="1"/>
            <a:r>
              <a:rPr lang="en-US" altLang="en-US" sz="1600" dirty="0">
                <a:solidFill>
                  <a:srgbClr val="777777"/>
                </a:solidFill>
                <a:latin typeface="Comic Sans MS" panose="030F0702030302020204" pitchFamily="66" charset="0"/>
              </a:rPr>
              <a:t>				REQ3: unlock when valid key provided</a:t>
            </a:r>
            <a:endParaRPr lang="en-US" altLang="en-US" sz="1600" dirty="0">
              <a:solidFill>
                <a:srgbClr val="777777"/>
              </a:solidFill>
              <a:latin typeface="Comic Sans MS" panose="030F0702030302020204" pitchFamily="66" charset="0"/>
            </a:endParaRPr>
          </a:p>
          <a:p>
            <a:pPr eaLnBrk="1" hangingPunct="1"/>
            <a:r>
              <a:rPr lang="en-US" altLang="en-US" sz="1600" dirty="0">
                <a:solidFill>
                  <a:srgbClr val="777777"/>
                </a:solidFill>
                <a:latin typeface="Comic Sans MS" panose="030F0702030302020204" pitchFamily="66" charset="0"/>
              </a:rPr>
              <a:t>				REQ4: allow mistakes but prevent dictionary attacks]</a:t>
            </a:r>
            <a:endParaRPr lang="en-US" altLang="en-US" sz="1600" dirty="0">
              <a:solidFill>
                <a:srgbClr val="777777"/>
              </a:solidFill>
              <a:latin typeface="Comic Sans MS" panose="030F0702030302020204" pitchFamily="66" charset="0"/>
            </a:endParaRPr>
          </a:p>
        </p:txBody>
      </p:sp>
      <p:sp>
        <p:nvSpPr>
          <p:cNvPr id="28678" name="Text Box 18"/>
          <p:cNvSpPr txBox="1">
            <a:spLocks noChangeAspect="1"/>
          </p:cNvSpPr>
          <p:nvPr/>
        </p:nvSpPr>
        <p:spPr>
          <a:xfrm>
            <a:off x="409575" y="5076825"/>
            <a:ext cx="8201025" cy="1644650"/>
          </a:xfrm>
          <a:prstGeom prst="rect">
            <a:avLst/>
          </a:prstGeom>
          <a:noFill/>
          <a:ln w="9525">
            <a:noFill/>
          </a:ln>
        </p:spPr>
        <p:txBody>
          <a:bodyPr wrap="none" lIns="9144" tIns="0" rIns="9144" bIns="0">
            <a:spAutoFit/>
          </a:bodyPr>
          <a:p>
            <a:pPr eaLnBrk="1" hangingPunct="1"/>
            <a:r>
              <a:rPr lang="en-US" altLang="en-US" sz="1200" u="sng" dirty="0">
                <a:latin typeface="Comic Sans MS" panose="030F0702030302020204" pitchFamily="66" charset="0"/>
              </a:rPr>
              <a:t>Requested user commands (REQ2, REQ3)</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Lock, Unlock(key, door-ID)</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Command applicability under different scenarios (REQ2 - REQ4)</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Lock has no restrictions (always applicable)</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Unlock applicable only if numOfAttemps </a:t>
            </a:r>
            <a:r>
              <a:rPr lang="en-US" altLang="en-US" sz="1200" dirty="0">
                <a:latin typeface="Comic Sans MS" panose="030F0702030302020204" pitchFamily="66" charset="0"/>
                <a:sym typeface="Symbol" panose="05050102010706020507" pitchFamily="18" charset="2"/>
              </a:rPr>
              <a:t> </a:t>
            </a:r>
            <a:r>
              <a:rPr lang="en-US" altLang="en-US" sz="1200" dirty="0">
                <a:latin typeface="Comic Sans MS" panose="030F0702030302020204" pitchFamily="66" charset="0"/>
              </a:rPr>
              <a:t>maxNumOfAttempts</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Consequences of unacceptable commands (REQ4)</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When entered key does not correspond to the door-ID, increment numOfAttemps (block if &gt; maxNumOfAttempts)</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When not applicable, Unlock will be ignored</a:t>
            </a:r>
            <a:endParaRPr lang="en-US" altLang="en-US" sz="1200" dirty="0">
              <a:latin typeface="Comic Sans MS" panose="030F0702030302020204" pitchFamily="66" charset="0"/>
            </a:endParaRPr>
          </a:p>
        </p:txBody>
      </p:sp>
      <p:sp>
        <p:nvSpPr>
          <p:cNvPr id="28679" name="Text Box 33"/>
          <p:cNvSpPr txBox="1">
            <a:spLocks noChangeAspect="1"/>
          </p:cNvSpPr>
          <p:nvPr/>
        </p:nvSpPr>
        <p:spPr>
          <a:xfrm>
            <a:off x="6110288" y="1506538"/>
            <a:ext cx="2787650" cy="1077912"/>
          </a:xfrm>
          <a:prstGeom prst="rect">
            <a:avLst/>
          </a:prstGeom>
          <a:noFill/>
          <a:ln w="19050" cap="flat" cmpd="sng">
            <a:solidFill>
              <a:srgbClr val="FFFF99"/>
            </a:solidFill>
            <a:prstDash val="solid"/>
            <a:miter/>
            <a:headEnd type="none" w="med" len="med"/>
            <a:tailEnd type="none" w="med" len="med"/>
          </a:ln>
        </p:spPr>
        <p:txBody>
          <a:bodyPr lIns="9144" tIns="0" rIns="9144" bIns="0">
            <a:spAutoFit/>
          </a:bodyPr>
          <a:p>
            <a:pPr eaLnBrk="1" hangingPunct="1"/>
            <a:r>
              <a:rPr lang="en-US" altLang="en-US" sz="1400" dirty="0">
                <a:latin typeface="AvantGarde Bk BT" pitchFamily="34" charset="0"/>
              </a:rPr>
              <a:t>Document what the user will be able to do and how the system will help them do, or what the user should not do and how the system will prevent these actions</a:t>
            </a:r>
            <a:endParaRPr lang="en-US" altLang="en-US" sz="1400" dirty="0">
              <a:latin typeface="AvantGarde Bk BT"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Freeform 7"/>
          <p:cNvSpPr/>
          <p:nvPr/>
        </p:nvSpPr>
        <p:spPr>
          <a:xfrm>
            <a:off x="573088" y="3187700"/>
            <a:ext cx="825500" cy="2163763"/>
          </a:xfrm>
          <a:custGeom>
            <a:avLst/>
            <a:gdLst>
              <a:gd name="txL" fmla="*/ 0 w 825454"/>
              <a:gd name="txT" fmla="*/ 0 h 2164983"/>
              <a:gd name="txR" fmla="*/ 825454 w 825454"/>
              <a:gd name="txB" fmla="*/ 2164983 h 2164983"/>
            </a:gdLst>
            <a:ahLst/>
            <a:cxnLst>
              <a:cxn ang="0">
                <a:pos x="825684" y="2158886"/>
              </a:cxn>
              <a:cxn ang="0">
                <a:pos x="2" y="1052906"/>
              </a:cxn>
              <a:cxn ang="0">
                <a:pos x="825684" y="0"/>
              </a:cxn>
            </a:cxnLst>
            <a:rect l="txL" t="txT" r="txR" b="txB"/>
            <a:pathLst>
              <a:path w="825454" h="2164983">
                <a:moveTo>
                  <a:pt x="825454" y="2164976"/>
                </a:moveTo>
                <a:cubicBezTo>
                  <a:pt x="377219" y="2167217"/>
                  <a:pt x="-837" y="1685365"/>
                  <a:pt x="2" y="1055875"/>
                </a:cubicBezTo>
                <a:cubicBezTo>
                  <a:pt x="841" y="426385"/>
                  <a:pt x="372737" y="16810"/>
                  <a:pt x="825454" y="0"/>
                </a:cubicBezTo>
              </a:path>
            </a:pathLst>
          </a:custGeom>
          <a:noFill/>
          <a:ln w="3175" cap="flat" cmpd="sng">
            <a:solidFill>
              <a:schemeClr val="tx1">
                <a:alpha val="100000"/>
              </a:schemeClr>
            </a:solidFill>
            <a:prstDash val="solid"/>
            <a:round/>
            <a:headEnd type="none" w="med" len="med"/>
            <a:tailEnd type="arrow" w="lg" len="lg"/>
          </a:ln>
        </p:spPr>
        <p:txBody>
          <a:bodyPr/>
          <a:p>
            <a:endParaRPr lang="zh-CN" altLang="en-US"/>
          </a:p>
        </p:txBody>
      </p:sp>
      <p:sp>
        <p:nvSpPr>
          <p:cNvPr id="29699" name="Slide Number Placeholder 4"/>
          <p:cNvSpPr txBox="1">
            <a:spLocks noGrp="1"/>
          </p:cNvSpPr>
          <p:nvPr>
            <p:ph type="sldNum" sz="quarter" idx="4"/>
          </p:nvPr>
        </p:nvSpPr>
        <p:spPr>
          <a:xfrm>
            <a:off x="6929438" y="6248400"/>
            <a:ext cx="21336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dirty="0">
                <a:latin typeface="Times New Roman" panose="02020603050405020304" pitchFamily="18" charset="0"/>
              </a:rPr>
            </a:fld>
            <a:endParaRPr lang="en-US" altLang="en-US" sz="1400" dirty="0">
              <a:latin typeface="Times New Roman" panose="02020603050405020304" pitchFamily="18" charset="0"/>
            </a:endParaRPr>
          </a:p>
        </p:txBody>
      </p:sp>
      <p:sp>
        <p:nvSpPr>
          <p:cNvPr id="29700" name="Arc 2"/>
          <p:cNvSpPr/>
          <p:nvPr/>
        </p:nvSpPr>
        <p:spPr>
          <a:xfrm>
            <a:off x="2527300" y="3717925"/>
            <a:ext cx="2120900" cy="1631950"/>
          </a:xfrm>
          <a:custGeom>
            <a:avLst/>
            <a:gdLst>
              <a:gd name="txL" fmla="*/ 0 w 21638"/>
              <a:gd name="txT" fmla="*/ 0 h 21638"/>
              <a:gd name="txR" fmla="*/ 21638 w 21638"/>
              <a:gd name="txB" fmla="*/ 21638 h 21638"/>
            </a:gdLst>
            <a:ahLst/>
            <a:cxnLst>
              <a:cxn ang="0">
                <a:pos x="2147483647" y="0"/>
              </a:cxn>
              <a:cxn ang="0">
                <a:pos x="0" y="2147483647"/>
              </a:cxn>
              <a:cxn ang="0">
                <a:pos x="2147483647" y="2147483647"/>
              </a:cxn>
            </a:cxnLst>
            <a:rect l="txL" t="txT" r="txR" b="txB"/>
            <a:pathLst>
              <a:path w="21638" h="21638" fill="none">
                <a:moveTo>
                  <a:pt x="21637" y="0"/>
                </a:moveTo>
                <a:cubicBezTo>
                  <a:pt x="21637" y="12"/>
                  <a:pt x="21638" y="25"/>
                  <a:pt x="21638" y="38"/>
                </a:cubicBezTo>
                <a:cubicBezTo>
                  <a:pt x="21638" y="11967"/>
                  <a:pt x="11967" y="21638"/>
                  <a:pt x="38" y="21638"/>
                </a:cubicBezTo>
                <a:cubicBezTo>
                  <a:pt x="25" y="21638"/>
                  <a:pt x="12" y="21637"/>
                  <a:pt x="0" y="21637"/>
                </a:cubicBezTo>
              </a:path>
              <a:path w="21638" h="21638" stroke="0">
                <a:moveTo>
                  <a:pt x="21637" y="0"/>
                </a:moveTo>
                <a:cubicBezTo>
                  <a:pt x="21637" y="12"/>
                  <a:pt x="21638" y="25"/>
                  <a:pt x="21638" y="38"/>
                </a:cubicBezTo>
                <a:cubicBezTo>
                  <a:pt x="21638" y="11967"/>
                  <a:pt x="11967" y="21638"/>
                  <a:pt x="38" y="21638"/>
                </a:cubicBezTo>
                <a:cubicBezTo>
                  <a:pt x="25" y="21638"/>
                  <a:pt x="12" y="21637"/>
                  <a:pt x="0" y="21637"/>
                </a:cubicBezTo>
                <a:lnTo>
                  <a:pt x="38" y="38"/>
                </a:lnTo>
                <a:lnTo>
                  <a:pt x="21637" y="0"/>
                </a:lnTo>
                <a:close/>
              </a:path>
            </a:pathLst>
          </a:custGeom>
          <a:noFill/>
          <a:ln w="3175" cap="flat" cmpd="sng">
            <a:solidFill>
              <a:schemeClr val="tx1">
                <a:alpha val="100000"/>
              </a:schemeClr>
            </a:solidFill>
            <a:prstDash val="solid"/>
            <a:round/>
            <a:headEnd type="none" w="med" len="med"/>
            <a:tailEnd type="arrow" w="lg" len="lg"/>
          </a:ln>
        </p:spPr>
        <p:txBody>
          <a:bodyPr/>
          <a:p>
            <a:endParaRPr lang="zh-CN" altLang="en-US"/>
          </a:p>
        </p:txBody>
      </p:sp>
      <p:sp>
        <p:nvSpPr>
          <p:cNvPr id="29701" name="Line 3"/>
          <p:cNvSpPr>
            <a:spLocks noChangeAspect="1"/>
          </p:cNvSpPr>
          <p:nvPr/>
        </p:nvSpPr>
        <p:spPr>
          <a:xfrm>
            <a:off x="2514600" y="3084513"/>
            <a:ext cx="1322388" cy="0"/>
          </a:xfrm>
          <a:prstGeom prst="line">
            <a:avLst/>
          </a:prstGeom>
          <a:ln w="3175" cap="flat" cmpd="sng">
            <a:solidFill>
              <a:schemeClr val="tx1"/>
            </a:solidFill>
            <a:prstDash val="solid"/>
            <a:headEnd type="none" w="med" len="med"/>
            <a:tailEnd type="arrow" w="lg" len="lg"/>
          </a:ln>
        </p:spPr>
      </p:sp>
      <p:sp>
        <p:nvSpPr>
          <p:cNvPr id="29702" name="Line 4"/>
          <p:cNvSpPr>
            <a:spLocks noChangeAspect="1"/>
          </p:cNvSpPr>
          <p:nvPr/>
        </p:nvSpPr>
        <p:spPr>
          <a:xfrm flipH="1" flipV="1">
            <a:off x="2514600" y="3354388"/>
            <a:ext cx="1325563" cy="0"/>
          </a:xfrm>
          <a:prstGeom prst="line">
            <a:avLst/>
          </a:prstGeom>
          <a:ln w="3175" cap="flat" cmpd="sng">
            <a:solidFill>
              <a:schemeClr val="tx1"/>
            </a:solidFill>
            <a:prstDash val="solid"/>
            <a:headEnd type="none" w="med" len="med"/>
            <a:tailEnd type="arrow" w="lg" len="lg"/>
          </a:ln>
        </p:spPr>
      </p:sp>
      <p:sp>
        <p:nvSpPr>
          <p:cNvPr id="29703" name="Arc 8"/>
          <p:cNvSpPr>
            <a:spLocks noChangeAspect="1"/>
          </p:cNvSpPr>
          <p:nvPr/>
        </p:nvSpPr>
        <p:spPr>
          <a:xfrm>
            <a:off x="5445125" y="3182938"/>
            <a:ext cx="2543175" cy="1119187"/>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175" cap="flat" cmpd="sng">
            <a:solidFill>
              <a:schemeClr val="tx1">
                <a:alpha val="100000"/>
              </a:schemeClr>
            </a:solidFill>
            <a:prstDash val="solid"/>
            <a:round/>
            <a:headEnd type="none" w="med" len="med"/>
            <a:tailEnd type="arrow" w="lg" len="lg"/>
          </a:ln>
        </p:spPr>
        <p:txBody>
          <a:bodyPr/>
          <a:p>
            <a:endParaRPr lang="zh-CN" altLang="en-US"/>
          </a:p>
        </p:txBody>
      </p:sp>
      <p:cxnSp>
        <p:nvCxnSpPr>
          <p:cNvPr id="29704" name="AutoShape 9"/>
          <p:cNvCxnSpPr>
            <a:cxnSpLocks noChangeAspect="1"/>
            <a:stCxn id="29717" idx="2"/>
            <a:endCxn id="29726" idx="0"/>
          </p:cNvCxnSpPr>
          <p:nvPr/>
        </p:nvCxnSpPr>
        <p:spPr>
          <a:xfrm flipH="1">
            <a:off x="1963738" y="3482975"/>
            <a:ext cx="0" cy="1603375"/>
          </a:xfrm>
          <a:prstGeom prst="straightConnector1">
            <a:avLst/>
          </a:prstGeom>
          <a:ln w="3175" cap="flat" cmpd="sng">
            <a:solidFill>
              <a:schemeClr val="tx1"/>
            </a:solidFill>
            <a:prstDash val="solid"/>
            <a:headEnd type="none" w="med" len="med"/>
            <a:tailEnd type="arrow" w="lg" len="lg"/>
          </a:ln>
        </p:spPr>
      </p:cxnSp>
      <p:cxnSp>
        <p:nvCxnSpPr>
          <p:cNvPr id="29705" name="AutoShape 10"/>
          <p:cNvCxnSpPr>
            <a:cxnSpLocks noChangeAspect="1"/>
            <a:stCxn id="29713" idx="4"/>
            <a:endCxn id="29717" idx="0"/>
          </p:cNvCxnSpPr>
          <p:nvPr/>
        </p:nvCxnSpPr>
        <p:spPr>
          <a:xfrm>
            <a:off x="1963738" y="2497138"/>
            <a:ext cx="0" cy="449262"/>
          </a:xfrm>
          <a:prstGeom prst="straightConnector1">
            <a:avLst/>
          </a:prstGeom>
          <a:ln w="3175" cap="flat" cmpd="sng">
            <a:solidFill>
              <a:schemeClr val="tx1"/>
            </a:solidFill>
            <a:prstDash val="solid"/>
            <a:headEnd type="none" w="med" len="med"/>
            <a:tailEnd type="arrow" w="lg" len="lg"/>
          </a:ln>
        </p:spPr>
      </p:cxnSp>
      <p:cxnSp>
        <p:nvCxnSpPr>
          <p:cNvPr id="29706" name="AutoShape 11"/>
          <p:cNvCxnSpPr>
            <a:cxnSpLocks noChangeAspect="1"/>
            <a:stCxn id="29716" idx="2"/>
            <a:endCxn id="29714" idx="0"/>
          </p:cNvCxnSpPr>
          <p:nvPr/>
        </p:nvCxnSpPr>
        <p:spPr>
          <a:xfrm>
            <a:off x="7991475" y="4841875"/>
            <a:ext cx="0" cy="339725"/>
          </a:xfrm>
          <a:prstGeom prst="straightConnector1">
            <a:avLst/>
          </a:prstGeom>
          <a:ln w="3175" cap="flat" cmpd="sng">
            <a:solidFill>
              <a:schemeClr val="tx1"/>
            </a:solidFill>
            <a:prstDash val="solid"/>
            <a:headEnd type="none" w="med" len="med"/>
            <a:tailEnd type="arrow" w="lg" len="lg"/>
          </a:ln>
        </p:spPr>
      </p:cxnSp>
      <p:sp>
        <p:nvSpPr>
          <p:cNvPr id="29707" name="Text Box 12"/>
          <p:cNvSpPr txBox="1">
            <a:spLocks noChangeAspect="1"/>
          </p:cNvSpPr>
          <p:nvPr/>
        </p:nvSpPr>
        <p:spPr>
          <a:xfrm>
            <a:off x="3970338" y="2155825"/>
            <a:ext cx="2949575" cy="304800"/>
          </a:xfrm>
          <a:prstGeom prst="rect">
            <a:avLst/>
          </a:prstGeom>
          <a:noFill/>
          <a:ln w="9525">
            <a:noFill/>
          </a:ln>
        </p:spPr>
        <p:txBody>
          <a:bodyPr wrap="none" lIns="9144" tIns="0" rIns="9144" bIns="0">
            <a:spAutoFit/>
          </a:bodyPr>
          <a:p>
            <a:pPr algn="ctr" eaLnBrk="1" hangingPunct="1"/>
            <a:r>
              <a:rPr lang="en-US" altLang="en-US" sz="1000" dirty="0">
                <a:latin typeface="Arial" panose="020B0604020202020204" pitchFamily="34" charset="0"/>
              </a:rPr>
              <a:t>invalid-key [numOfAttemps </a:t>
            </a:r>
            <a:r>
              <a:rPr lang="en-US" altLang="en-US" sz="1000" dirty="0">
                <a:latin typeface="Arial" panose="020B0604020202020204" pitchFamily="34" charset="0"/>
                <a:sym typeface="Symbol" panose="05050102010706020507" pitchFamily="18" charset="2"/>
              </a:rPr>
              <a:t> </a:t>
            </a:r>
            <a:r>
              <a:rPr lang="en-US" altLang="en-US" sz="1000" dirty="0">
                <a:latin typeface="Arial" panose="020B0604020202020204" pitchFamily="34" charset="0"/>
              </a:rPr>
              <a:t>maxNumOfAttempts] / </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signal-failure</a:t>
            </a:r>
            <a:endParaRPr lang="en-US" altLang="en-US" sz="1000" dirty="0">
              <a:latin typeface="Arial" panose="020B0604020202020204" pitchFamily="34" charset="0"/>
            </a:endParaRPr>
          </a:p>
        </p:txBody>
      </p:sp>
      <p:sp>
        <p:nvSpPr>
          <p:cNvPr id="29708" name="Text Box 13"/>
          <p:cNvSpPr txBox="1">
            <a:spLocks noChangeAspect="1"/>
          </p:cNvSpPr>
          <p:nvPr/>
        </p:nvSpPr>
        <p:spPr>
          <a:xfrm>
            <a:off x="2779713" y="2695575"/>
            <a:ext cx="736600" cy="304800"/>
          </a:xfrm>
          <a:prstGeom prst="rect">
            <a:avLst/>
          </a:prstGeom>
          <a:noFill/>
          <a:ln w="9525">
            <a:noFill/>
          </a:ln>
        </p:spPr>
        <p:txBody>
          <a:bodyPr wrap="none" lIns="9144" tIns="0" rIns="9144" bIns="0">
            <a:spAutoFit/>
          </a:bodyPr>
          <a:p>
            <a:pPr algn="ctr" eaLnBrk="1" hangingPunct="1"/>
            <a:r>
              <a:rPr lang="en-US" altLang="en-US" sz="1000" dirty="0">
                <a:latin typeface="Arial" panose="020B0604020202020204" pitchFamily="34" charset="0"/>
              </a:rPr>
              <a:t>invalid-key / </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signal-failure</a:t>
            </a:r>
            <a:endParaRPr lang="en-US" altLang="en-US" sz="1000" dirty="0">
              <a:latin typeface="Arial" panose="020B0604020202020204" pitchFamily="34" charset="0"/>
            </a:endParaRPr>
          </a:p>
        </p:txBody>
      </p:sp>
      <p:sp>
        <p:nvSpPr>
          <p:cNvPr id="29709" name="Text Box 14"/>
          <p:cNvSpPr txBox="1">
            <a:spLocks noChangeAspect="1"/>
          </p:cNvSpPr>
          <p:nvPr/>
        </p:nvSpPr>
        <p:spPr>
          <a:xfrm>
            <a:off x="5816600" y="2840038"/>
            <a:ext cx="2316163" cy="457200"/>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invalid-key</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[numOfAttemps </a:t>
            </a:r>
            <a:r>
              <a:rPr lang="en-US" altLang="en-US" sz="1000" dirty="0">
                <a:latin typeface="Arial" panose="020B0604020202020204" pitchFamily="34" charset="0"/>
                <a:sym typeface="Symbol" panose="05050102010706020507" pitchFamily="18" charset="2"/>
              </a:rPr>
              <a:t> </a:t>
            </a:r>
            <a:r>
              <a:rPr lang="en-US" altLang="en-US" sz="1000" dirty="0">
                <a:latin typeface="Arial" panose="020B0604020202020204" pitchFamily="34" charset="0"/>
              </a:rPr>
              <a:t>maxNumOfAttempts] / </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                        sound-alarm</a:t>
            </a:r>
            <a:endParaRPr lang="en-US" altLang="en-US" sz="1000" dirty="0">
              <a:latin typeface="Arial" panose="020B0604020202020204" pitchFamily="34" charset="0"/>
            </a:endParaRPr>
          </a:p>
        </p:txBody>
      </p:sp>
      <p:sp>
        <p:nvSpPr>
          <p:cNvPr id="29710" name="Arc 15"/>
          <p:cNvSpPr>
            <a:spLocks noChangeAspect="1"/>
          </p:cNvSpPr>
          <p:nvPr/>
        </p:nvSpPr>
        <p:spPr>
          <a:xfrm>
            <a:off x="4208463" y="2378075"/>
            <a:ext cx="865187" cy="379413"/>
          </a:xfrm>
          <a:custGeom>
            <a:avLst/>
            <a:gdLst>
              <a:gd name="txL" fmla="*/ 0 w 43200"/>
              <a:gd name="txT" fmla="*/ 0 h 32718"/>
              <a:gd name="txR" fmla="*/ 43200 w 43200"/>
              <a:gd name="txB" fmla="*/ 32718 h 32718"/>
            </a:gdLst>
            <a:ahLst/>
            <a:cxnLst>
              <a:cxn ang="0">
                <a:pos x="2147483647" y="581319302"/>
              </a:cxn>
              <a:cxn ang="0">
                <a:pos x="2147483647" y="581319302"/>
              </a:cxn>
              <a:cxn ang="0">
                <a:pos x="2147483647" y="384201133"/>
              </a:cxn>
            </a:cxnLst>
            <a:rect l="txL" t="txT" r="txR" b="txB"/>
            <a:pathLst>
              <a:path w="43200" h="32718" fill="none">
                <a:moveTo>
                  <a:pt x="3064" y="32691"/>
                </a:moveTo>
                <a:cubicBezTo>
                  <a:pt x="1059" y="29339"/>
                  <a:pt x="0" y="25506"/>
                  <a:pt x="0" y="21600"/>
                </a:cubicBezTo>
                <a:cubicBezTo>
                  <a:pt x="0" y="9670"/>
                  <a:pt x="9670" y="0"/>
                  <a:pt x="21600" y="0"/>
                </a:cubicBezTo>
                <a:cubicBezTo>
                  <a:pt x="33529" y="0"/>
                  <a:pt x="43200" y="9670"/>
                  <a:pt x="43200" y="21600"/>
                </a:cubicBezTo>
                <a:cubicBezTo>
                  <a:pt x="43200" y="25516"/>
                  <a:pt x="42134" y="29359"/>
                  <a:pt x="40118" y="32717"/>
                </a:cubicBezTo>
              </a:path>
              <a:path w="43200" h="32718" stroke="0">
                <a:moveTo>
                  <a:pt x="3064" y="32691"/>
                </a:moveTo>
                <a:cubicBezTo>
                  <a:pt x="1059" y="29339"/>
                  <a:pt x="0" y="25506"/>
                  <a:pt x="0" y="21600"/>
                </a:cubicBezTo>
                <a:cubicBezTo>
                  <a:pt x="0" y="9670"/>
                  <a:pt x="9670" y="0"/>
                  <a:pt x="21600" y="0"/>
                </a:cubicBezTo>
                <a:cubicBezTo>
                  <a:pt x="33529" y="0"/>
                  <a:pt x="43200" y="9670"/>
                  <a:pt x="43200" y="21600"/>
                </a:cubicBezTo>
                <a:cubicBezTo>
                  <a:pt x="43200" y="25516"/>
                  <a:pt x="42134" y="29359"/>
                  <a:pt x="40118" y="32717"/>
                </a:cubicBezTo>
                <a:lnTo>
                  <a:pt x="21600" y="21600"/>
                </a:lnTo>
                <a:lnTo>
                  <a:pt x="3064" y="32691"/>
                </a:lnTo>
                <a:close/>
              </a:path>
            </a:pathLst>
          </a:custGeom>
          <a:noFill/>
          <a:ln w="3175" cap="flat" cmpd="sng">
            <a:solidFill>
              <a:schemeClr val="tx1">
                <a:alpha val="100000"/>
              </a:schemeClr>
            </a:solidFill>
            <a:prstDash val="solid"/>
            <a:round/>
            <a:headEnd type="none" w="med" len="med"/>
            <a:tailEnd type="none" w="lg" len="lg"/>
          </a:ln>
        </p:spPr>
        <p:txBody>
          <a:bodyPr/>
          <a:p>
            <a:endParaRPr lang="zh-CN" altLang="en-US"/>
          </a:p>
        </p:txBody>
      </p:sp>
      <p:sp>
        <p:nvSpPr>
          <p:cNvPr id="29711" name="Rectangle 16"/>
          <p:cNvSpPr>
            <a:spLocks noChangeAspect="1"/>
          </p:cNvSpPr>
          <p:nvPr/>
        </p:nvSpPr>
        <p:spPr>
          <a:xfrm>
            <a:off x="617538" y="4148138"/>
            <a:ext cx="935037" cy="153987"/>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“Lock” pressed /</a:t>
            </a:r>
            <a:endParaRPr lang="en-US" altLang="en-US" sz="1000" dirty="0">
              <a:latin typeface="Arial" panose="020B0604020202020204" pitchFamily="34" charset="0"/>
            </a:endParaRPr>
          </a:p>
        </p:txBody>
      </p:sp>
      <p:sp>
        <p:nvSpPr>
          <p:cNvPr id="29712" name="Text Box 18"/>
          <p:cNvSpPr txBox="1">
            <a:spLocks noChangeAspect="1"/>
          </p:cNvSpPr>
          <p:nvPr/>
        </p:nvSpPr>
        <p:spPr>
          <a:xfrm>
            <a:off x="2498725" y="3398838"/>
            <a:ext cx="1314450" cy="458787"/>
          </a:xfrm>
          <a:prstGeom prst="rect">
            <a:avLst/>
          </a:prstGeom>
          <a:noFill/>
          <a:ln w="9525">
            <a:noFill/>
          </a:ln>
        </p:spPr>
        <p:txBody>
          <a:bodyPr wrap="none" lIns="9144" tIns="0" rIns="9144" bIns="0">
            <a:spAutoFit/>
          </a:bodyPr>
          <a:p>
            <a:pPr algn="ctr" eaLnBrk="1" hangingPunct="1"/>
            <a:r>
              <a:rPr lang="en-US" altLang="en-US" sz="1000" dirty="0">
                <a:latin typeface="Arial" panose="020B0604020202020204" pitchFamily="34" charset="0"/>
              </a:rPr>
              <a:t>timer-expired /</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signal-reset,</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set numOfAttemps := 0</a:t>
            </a:r>
            <a:endParaRPr lang="en-US" altLang="en-US" sz="1000" dirty="0">
              <a:latin typeface="Arial" panose="020B0604020202020204" pitchFamily="34" charset="0"/>
            </a:endParaRPr>
          </a:p>
        </p:txBody>
      </p:sp>
      <p:sp>
        <p:nvSpPr>
          <p:cNvPr id="29713" name="Oval 19"/>
          <p:cNvSpPr>
            <a:spLocks noChangeAspect="1"/>
          </p:cNvSpPr>
          <p:nvPr/>
        </p:nvSpPr>
        <p:spPr>
          <a:xfrm>
            <a:off x="1865313" y="2301875"/>
            <a:ext cx="196850" cy="195263"/>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sz="2400" b="1" dirty="0">
              <a:latin typeface="Arial" panose="020B0604020202020204" pitchFamily="34" charset="0"/>
            </a:endParaRPr>
          </a:p>
        </p:txBody>
      </p:sp>
      <p:sp>
        <p:nvSpPr>
          <p:cNvPr id="29714" name="Oval 20"/>
          <p:cNvSpPr>
            <a:spLocks noChangeAspect="1"/>
          </p:cNvSpPr>
          <p:nvPr/>
        </p:nvSpPr>
        <p:spPr>
          <a:xfrm>
            <a:off x="7859713" y="5181600"/>
            <a:ext cx="263525" cy="263525"/>
          </a:xfrm>
          <a:prstGeom prst="ellipse">
            <a:avLst/>
          </a:prstGeom>
          <a:solidFill>
            <a:schemeClr val="bg1"/>
          </a:solidFill>
          <a:ln w="6350" cap="flat" cmpd="sng">
            <a:solidFill>
              <a:schemeClr val="tx1"/>
            </a:solidFill>
            <a:prstDash val="solid"/>
            <a:headEnd type="none" w="med" len="med"/>
            <a:tailEnd type="none" w="med" len="med"/>
          </a:ln>
        </p:spPr>
        <p:txBody>
          <a:bodyPr wrap="none" anchor="ctr" anchorCtr="0"/>
          <a:p>
            <a:pPr eaLnBrk="1" hangingPunct="1"/>
            <a:endParaRPr lang="en-US" altLang="en-US" sz="2400" b="1" dirty="0">
              <a:latin typeface="Arial" panose="020B0604020202020204" pitchFamily="34" charset="0"/>
            </a:endParaRPr>
          </a:p>
        </p:txBody>
      </p:sp>
      <p:sp>
        <p:nvSpPr>
          <p:cNvPr id="29715" name="Oval 21"/>
          <p:cNvSpPr>
            <a:spLocks noChangeAspect="1"/>
          </p:cNvSpPr>
          <p:nvPr/>
        </p:nvSpPr>
        <p:spPr>
          <a:xfrm>
            <a:off x="7893050" y="5216525"/>
            <a:ext cx="195263" cy="196850"/>
          </a:xfrm>
          <a:prstGeom prst="ellipse">
            <a:avLst/>
          </a:prstGeom>
          <a:solidFill>
            <a:schemeClr val="tx1"/>
          </a:solidFill>
          <a:ln w="3175" cap="flat" cmpd="sng">
            <a:solidFill>
              <a:schemeClr val="tx1"/>
            </a:solidFill>
            <a:prstDash val="solid"/>
            <a:headEnd type="none" w="med" len="med"/>
            <a:tailEnd type="none" w="med" len="med"/>
          </a:ln>
        </p:spPr>
        <p:txBody>
          <a:bodyPr wrap="none" anchor="ctr" anchorCtr="0"/>
          <a:p>
            <a:pPr eaLnBrk="1" hangingPunct="1"/>
            <a:endParaRPr lang="en-US" altLang="en-US" sz="2400" b="1" dirty="0">
              <a:latin typeface="Arial" panose="020B0604020202020204" pitchFamily="34" charset="0"/>
            </a:endParaRPr>
          </a:p>
        </p:txBody>
      </p:sp>
      <p:sp>
        <p:nvSpPr>
          <p:cNvPr id="29716" name="AutoShape 22"/>
          <p:cNvSpPr>
            <a:spLocks noChangeAspect="1"/>
          </p:cNvSpPr>
          <p:nvPr/>
        </p:nvSpPr>
        <p:spPr>
          <a:xfrm>
            <a:off x="7515225" y="4305300"/>
            <a:ext cx="950913" cy="527050"/>
          </a:xfrm>
          <a:prstGeom prst="roundRect">
            <a:avLst>
              <a:gd name="adj" fmla="val 22667"/>
            </a:avLst>
          </a:prstGeom>
          <a:solidFill>
            <a:schemeClr val="bg1"/>
          </a:solidFill>
          <a:ln w="19050" cap="flat" cmpd="sng">
            <a:solidFill>
              <a:schemeClr val="tx1"/>
            </a:solidFill>
            <a:prstDash val="solid"/>
            <a:headEnd type="none" w="med" len="med"/>
            <a:tailEnd type="none" w="med" len="med"/>
          </a:ln>
        </p:spPr>
        <p:txBody>
          <a:bodyPr wrap="none" anchor="ctr" anchorCtr="0"/>
          <a:p>
            <a:pPr algn="ctr" eaLnBrk="1" hangingPunct="1"/>
            <a:r>
              <a:rPr lang="en-US" altLang="en-US" sz="1400" dirty="0">
                <a:latin typeface="Arial" panose="020B0604020202020204" pitchFamily="34" charset="0"/>
              </a:rPr>
              <a:t>Blocked</a:t>
            </a:r>
            <a:endParaRPr lang="en-US" altLang="en-US" sz="1400" dirty="0">
              <a:latin typeface="Arial" panose="020B0604020202020204" pitchFamily="34" charset="0"/>
            </a:endParaRPr>
          </a:p>
        </p:txBody>
      </p:sp>
      <p:sp>
        <p:nvSpPr>
          <p:cNvPr id="29717" name="AutoShape 23"/>
          <p:cNvSpPr>
            <a:spLocks noChangeAspect="1"/>
          </p:cNvSpPr>
          <p:nvPr/>
        </p:nvSpPr>
        <p:spPr>
          <a:xfrm>
            <a:off x="1411288" y="2957513"/>
            <a:ext cx="1103312" cy="525462"/>
          </a:xfrm>
          <a:prstGeom prst="roundRect">
            <a:avLst>
              <a:gd name="adj" fmla="val 22667"/>
            </a:avLst>
          </a:prstGeom>
          <a:solidFill>
            <a:schemeClr val="bg1"/>
          </a:solidFill>
          <a:ln w="19050" cap="flat" cmpd="sng">
            <a:solidFill>
              <a:schemeClr val="tx1"/>
            </a:solidFill>
            <a:prstDash val="solid"/>
            <a:headEnd type="none" w="med" len="med"/>
            <a:tailEnd type="none" w="med" len="med"/>
          </a:ln>
        </p:spPr>
        <p:txBody>
          <a:bodyPr wrap="none" anchor="ctr" anchorCtr="0"/>
          <a:p>
            <a:pPr algn="ctr" eaLnBrk="1" hangingPunct="1"/>
            <a:r>
              <a:rPr lang="en-US" altLang="en-US" sz="1400" dirty="0">
                <a:latin typeface="Arial" panose="020B0604020202020204" pitchFamily="34" charset="0"/>
              </a:rPr>
              <a:t>Locked</a:t>
            </a:r>
            <a:endParaRPr lang="en-US" altLang="en-US" sz="1400" dirty="0">
              <a:latin typeface="Arial" panose="020B0604020202020204" pitchFamily="34" charset="0"/>
            </a:endParaRPr>
          </a:p>
        </p:txBody>
      </p:sp>
      <p:sp>
        <p:nvSpPr>
          <p:cNvPr id="29718" name="AutoShape 24"/>
          <p:cNvSpPr>
            <a:spLocks noChangeAspect="1"/>
          </p:cNvSpPr>
          <p:nvPr/>
        </p:nvSpPr>
        <p:spPr>
          <a:xfrm>
            <a:off x="3841750" y="2757488"/>
            <a:ext cx="1603375" cy="960437"/>
          </a:xfrm>
          <a:prstGeom prst="roundRect">
            <a:avLst>
              <a:gd name="adj" fmla="val 9366"/>
            </a:avLst>
          </a:prstGeom>
          <a:solidFill>
            <a:schemeClr val="bg1"/>
          </a:solidFill>
          <a:ln w="19050" cap="flat" cmpd="sng">
            <a:solidFill>
              <a:schemeClr val="tx1"/>
            </a:solidFill>
            <a:prstDash val="solid"/>
            <a:headEnd type="none" w="med" len="med"/>
            <a:tailEnd type="none" w="med" len="med"/>
          </a:ln>
        </p:spPr>
        <p:txBody>
          <a:bodyPr wrap="none" tIns="27432" bIns="0"/>
          <a:p>
            <a:pPr eaLnBrk="1" hangingPunct="1"/>
            <a:r>
              <a:rPr lang="en-US" altLang="en-US" sz="1000" dirty="0">
                <a:latin typeface="Arial" panose="020B0604020202020204" pitchFamily="34" charset="0"/>
              </a:rPr>
              <a:t>        </a:t>
            </a:r>
            <a:r>
              <a:rPr lang="en-US" altLang="en-US" sz="1400" dirty="0">
                <a:latin typeface="Arial" panose="020B0604020202020204" pitchFamily="34" charset="0"/>
              </a:rPr>
              <a:t>Accepting</a:t>
            </a:r>
            <a:endParaRPr lang="en-US" altLang="en-US" sz="1400" dirty="0">
              <a:latin typeface="Arial" panose="020B0604020202020204" pitchFamily="34" charset="0"/>
            </a:endParaRPr>
          </a:p>
          <a:p>
            <a:pPr eaLnBrk="1" hangingPunct="1"/>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entry: start quit timer</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do: countdown</a:t>
            </a:r>
            <a:endParaRPr lang="en-US" altLang="en-US" sz="1000" dirty="0">
              <a:latin typeface="Arial" panose="020B0604020202020204" pitchFamily="34" charset="0"/>
            </a:endParaRPr>
          </a:p>
        </p:txBody>
      </p:sp>
      <p:sp>
        <p:nvSpPr>
          <p:cNvPr id="29719" name="Line 25"/>
          <p:cNvSpPr>
            <a:spLocks noChangeAspect="1"/>
          </p:cNvSpPr>
          <p:nvPr/>
        </p:nvSpPr>
        <p:spPr>
          <a:xfrm>
            <a:off x="3841750" y="3146425"/>
            <a:ext cx="1603375" cy="0"/>
          </a:xfrm>
          <a:prstGeom prst="line">
            <a:avLst/>
          </a:prstGeom>
          <a:ln w="3175" cap="flat" cmpd="sng">
            <a:solidFill>
              <a:schemeClr val="tx1"/>
            </a:solidFill>
            <a:prstDash val="solid"/>
            <a:headEnd type="none" w="med" len="med"/>
            <a:tailEnd type="none" w="med" len="med"/>
          </a:ln>
        </p:spPr>
      </p:sp>
      <p:sp>
        <p:nvSpPr>
          <p:cNvPr id="29720" name="Text Box 26"/>
          <p:cNvSpPr txBox="1">
            <a:spLocks noChangeAspect="1"/>
          </p:cNvSpPr>
          <p:nvPr/>
        </p:nvSpPr>
        <p:spPr>
          <a:xfrm>
            <a:off x="2008188" y="4311650"/>
            <a:ext cx="849312" cy="304800"/>
          </a:xfrm>
          <a:prstGeom prst="rect">
            <a:avLst/>
          </a:prstGeom>
          <a:noFill/>
          <a:ln w="9525">
            <a:noFill/>
          </a:ln>
        </p:spPr>
        <p:txBody>
          <a:bodyPr wrap="none" lIns="9144" tIns="0" rIns="9144" bIns="0">
            <a:spAutoFit/>
          </a:bodyPr>
          <a:p>
            <a:pPr eaLnBrk="1" hangingPunct="1"/>
            <a:r>
              <a:rPr lang="en-US" altLang="en-US" sz="1000" dirty="0">
                <a:latin typeface="Arial" panose="020B0604020202020204" pitchFamily="34" charset="0"/>
              </a:rPr>
              <a:t>valid-key / </a:t>
            </a:r>
            <a:endParaRPr lang="en-US" altLang="en-US" sz="1000" dirty="0">
              <a:latin typeface="Arial" panose="020B0604020202020204" pitchFamily="34" charset="0"/>
            </a:endParaRPr>
          </a:p>
          <a:p>
            <a:pPr eaLnBrk="1" hangingPunct="1"/>
            <a:r>
              <a:rPr lang="en-US" altLang="en-US" sz="1000" dirty="0">
                <a:latin typeface="Arial" panose="020B0604020202020204" pitchFamily="34" charset="0"/>
              </a:rPr>
              <a:t>signal-success</a:t>
            </a:r>
            <a:endParaRPr lang="en-US" altLang="en-US" sz="1000" dirty="0">
              <a:latin typeface="Arial" panose="020B0604020202020204" pitchFamily="34" charset="0"/>
            </a:endParaRPr>
          </a:p>
        </p:txBody>
      </p:sp>
      <p:sp>
        <p:nvSpPr>
          <p:cNvPr id="29721" name="Text Box 27"/>
          <p:cNvSpPr txBox="1">
            <a:spLocks noChangeAspect="1"/>
          </p:cNvSpPr>
          <p:nvPr/>
        </p:nvSpPr>
        <p:spPr>
          <a:xfrm>
            <a:off x="4146550" y="4549775"/>
            <a:ext cx="1057275" cy="304800"/>
          </a:xfrm>
          <a:prstGeom prst="rect">
            <a:avLst/>
          </a:prstGeom>
          <a:noFill/>
          <a:ln w="9525">
            <a:noFill/>
          </a:ln>
        </p:spPr>
        <p:txBody>
          <a:bodyPr lIns="9144" tIns="0" rIns="9144" bIns="0">
            <a:spAutoFit/>
          </a:bodyPr>
          <a:p>
            <a:pPr algn="ctr" eaLnBrk="1" hangingPunct="1"/>
            <a:r>
              <a:rPr lang="en-US" altLang="en-US" sz="1000" dirty="0">
                <a:latin typeface="Arial" panose="020B0604020202020204" pitchFamily="34" charset="0"/>
              </a:rPr>
              <a:t>valid-key / </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signal-success</a:t>
            </a:r>
            <a:endParaRPr lang="en-US" altLang="en-US" sz="1000" dirty="0">
              <a:latin typeface="Arial" panose="020B0604020202020204" pitchFamily="34" charset="0"/>
            </a:endParaRPr>
          </a:p>
        </p:txBody>
      </p:sp>
      <p:sp>
        <p:nvSpPr>
          <p:cNvPr id="29722" name="Freeform 37"/>
          <p:cNvSpPr/>
          <p:nvPr/>
        </p:nvSpPr>
        <p:spPr>
          <a:xfrm>
            <a:off x="4852988" y="3543300"/>
            <a:ext cx="1697037" cy="2373313"/>
          </a:xfrm>
          <a:custGeom>
            <a:avLst/>
            <a:gdLst>
              <a:gd name="txL" fmla="*/ 0 w 1069"/>
              <a:gd name="txT" fmla="*/ 0 h 1495"/>
              <a:gd name="txR" fmla="*/ 1069 w 1069"/>
              <a:gd name="txB" fmla="*/ 1495 h 1495"/>
            </a:gdLst>
            <a:ahLst/>
            <a:cxnLst>
              <a:cxn ang="0">
                <a:pos x="2147483647" y="2147483647"/>
              </a:cxn>
              <a:cxn ang="0">
                <a:pos x="0" y="0"/>
              </a:cxn>
            </a:cxnLst>
            <a:rect l="txL" t="txT" r="txR" b="txB"/>
            <a:pathLst>
              <a:path w="1069" h="1495">
                <a:moveTo>
                  <a:pt x="510" y="1495"/>
                </a:moveTo>
                <a:cubicBezTo>
                  <a:pt x="493" y="1097"/>
                  <a:pt x="1069" y="471"/>
                  <a:pt x="0" y="0"/>
                </a:cubicBezTo>
              </a:path>
            </a:pathLst>
          </a:custGeom>
          <a:noFill/>
          <a:ln w="6350" cap="flat" cmpd="sng">
            <a:solidFill>
              <a:schemeClr val="accent2">
                <a:alpha val="100000"/>
              </a:schemeClr>
            </a:solidFill>
            <a:prstDash val="dash"/>
            <a:round/>
            <a:headEnd type="none" w="med" len="med"/>
            <a:tailEnd type="triangle" w="lg" len="med"/>
          </a:ln>
        </p:spPr>
        <p:txBody>
          <a:bodyPr/>
          <a:p>
            <a:endParaRPr lang="zh-CN" altLang="en-US"/>
          </a:p>
        </p:txBody>
      </p:sp>
      <p:sp>
        <p:nvSpPr>
          <p:cNvPr id="20484" name="Rectangle 5"/>
          <p:cNvSpPr>
            <a:spLocks noGrp="1" noChangeArrowheads="1"/>
          </p:cNvSpPr>
          <p:nvPr>
            <p:ph type="title"/>
          </p:nvPr>
        </p:nvSpPr>
        <p:spPr>
          <a:xfrm>
            <a:off x="269875" y="136525"/>
            <a:ext cx="8850313" cy="1143000"/>
          </a:xfrm>
        </p:spPr>
        <p:txBody>
          <a:bodyPr vert="horz" wrap="square" lIns="91440" tIns="45720" rIns="9144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Requirement:				</a:t>
            </a:r>
            <a:br>
              <a:rPr kumimoji="0" lang="en-US" altLang="en-US" sz="4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br>
            <a:r>
              <a:rPr kumimoji="0" lang="en-US" altLang="en-US" sz="2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REQ3, REQ4, REQ5 - unlock when valid key provided but allow few mistakes </a:t>
            </a:r>
            <a:endParaRPr kumimoji="0" lang="en-US" altLang="en-US" sz="20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29724" name="Text Box 35"/>
          <p:cNvSpPr txBox="1">
            <a:spLocks noChangeAspect="1"/>
          </p:cNvSpPr>
          <p:nvPr/>
        </p:nvSpPr>
        <p:spPr>
          <a:xfrm>
            <a:off x="3833813" y="6053138"/>
            <a:ext cx="4543425" cy="609600"/>
          </a:xfrm>
          <a:prstGeom prst="rect">
            <a:avLst/>
          </a:prstGeom>
          <a:noFill/>
          <a:ln w="9525">
            <a:noFill/>
          </a:ln>
        </p:spPr>
        <p:txBody>
          <a:bodyPr lIns="9144" tIns="0" rIns="9144" bIns="0">
            <a:spAutoFit/>
          </a:bodyPr>
          <a:p>
            <a:pPr eaLnBrk="1" hangingPunct="1"/>
            <a:r>
              <a:rPr lang="en-US" altLang="en-US" sz="2000" dirty="0">
                <a:solidFill>
                  <a:schemeClr val="accent2"/>
                </a:solidFill>
                <a:latin typeface="Comic Sans MS" panose="030F0702030302020204" pitchFamily="66" charset="0"/>
              </a:rPr>
              <a:t>Need “entry” and “do” state activities for countdown timer</a:t>
            </a:r>
            <a:endParaRPr lang="en-US" altLang="en-US" sz="2000" dirty="0">
              <a:solidFill>
                <a:schemeClr val="accent2"/>
              </a:solidFill>
              <a:latin typeface="Comic Sans MS" panose="030F0702030302020204" pitchFamily="66" charset="0"/>
            </a:endParaRPr>
          </a:p>
        </p:txBody>
      </p:sp>
      <p:sp>
        <p:nvSpPr>
          <p:cNvPr id="29725" name="Freeform 1"/>
          <p:cNvSpPr/>
          <p:nvPr/>
        </p:nvSpPr>
        <p:spPr>
          <a:xfrm rot="6976131">
            <a:off x="5005388" y="2630488"/>
            <a:ext cx="111125" cy="128587"/>
          </a:xfrm>
          <a:custGeom>
            <a:avLst/>
            <a:gdLst>
              <a:gd name="txL" fmla="*/ 0 w 111918"/>
              <a:gd name="txT" fmla="*/ 0 h 128588"/>
              <a:gd name="txR" fmla="*/ 111918 w 111918"/>
              <a:gd name="txB" fmla="*/ 128588 h 128588"/>
            </a:gdLst>
            <a:ahLst/>
            <a:cxnLst>
              <a:cxn ang="0">
                <a:pos x="2297" y="0"/>
              </a:cxn>
              <a:cxn ang="0">
                <a:pos x="108009" y="66675"/>
              </a:cxn>
              <a:cxn ang="0">
                <a:pos x="0" y="128588"/>
              </a:cxn>
            </a:cxnLst>
            <a:rect l="txL" t="txT" r="txR" b="txB"/>
            <a:pathLst>
              <a:path w="111918" h="128588">
                <a:moveTo>
                  <a:pt x="2381" y="0"/>
                </a:moveTo>
                <a:lnTo>
                  <a:pt x="111918" y="66675"/>
                </a:lnTo>
                <a:lnTo>
                  <a:pt x="0" y="128588"/>
                </a:lnTo>
              </a:path>
            </a:pathLst>
          </a:custGeom>
          <a:noFill/>
          <a:ln w="3175" cap="flat" cmpd="sng">
            <a:solidFill>
              <a:schemeClr val="tx1">
                <a:alpha val="100000"/>
              </a:schemeClr>
            </a:solidFill>
            <a:prstDash val="solid"/>
            <a:round/>
            <a:headEnd type="none" w="med" len="med"/>
            <a:tailEnd type="none" w="lg" len="lg"/>
          </a:ln>
        </p:spPr>
        <p:txBody>
          <a:bodyPr/>
          <a:p>
            <a:endParaRPr lang="zh-CN" altLang="en-US"/>
          </a:p>
        </p:txBody>
      </p:sp>
      <p:sp>
        <p:nvSpPr>
          <p:cNvPr id="29726" name="AutoShape 23"/>
          <p:cNvSpPr>
            <a:spLocks noChangeAspect="1"/>
          </p:cNvSpPr>
          <p:nvPr/>
        </p:nvSpPr>
        <p:spPr>
          <a:xfrm>
            <a:off x="1411288" y="5086350"/>
            <a:ext cx="1103312" cy="525463"/>
          </a:xfrm>
          <a:prstGeom prst="roundRect">
            <a:avLst>
              <a:gd name="adj" fmla="val 22667"/>
            </a:avLst>
          </a:prstGeom>
          <a:solidFill>
            <a:schemeClr val="bg1"/>
          </a:solidFill>
          <a:ln w="19050" cap="flat" cmpd="sng">
            <a:solidFill>
              <a:schemeClr val="tx1"/>
            </a:solidFill>
            <a:prstDash val="solid"/>
            <a:headEnd type="none" w="med" len="med"/>
            <a:tailEnd type="none" w="med" len="med"/>
          </a:ln>
        </p:spPr>
        <p:txBody>
          <a:bodyPr wrap="none" anchor="ctr" anchorCtr="0"/>
          <a:p>
            <a:pPr algn="ctr" eaLnBrk="1" hangingPunct="1"/>
            <a:r>
              <a:rPr lang="en-US" altLang="en-US" sz="1400" dirty="0">
                <a:latin typeface="Arial" panose="020B0604020202020204" pitchFamily="34" charset="0"/>
              </a:rPr>
              <a:t>Unlocked</a:t>
            </a:r>
            <a:endParaRPr lang="en-US" altLang="en-US" sz="140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4"/>
          <p:cNvSpPr>
            <a:spLocks noGrp="1"/>
          </p:cNvSpPr>
          <p:nvPr>
            <p:ph type="title"/>
          </p:nvPr>
        </p:nvSpPr>
        <p:spPr>
          <a:xfrm>
            <a:off x="269875" y="136525"/>
            <a:ext cx="8850313" cy="1143000"/>
          </a:xfrm>
        </p:spPr>
        <p:txBody>
          <a:bodyPr vert="horz" wrap="square" lIns="91440" tIns="45720" rIns="91440" bIns="45720" anchor="ctr" anchorCtr="0"/>
          <a:p>
            <a:pPr eaLnBrk="1" hangingPunct="1"/>
            <a:r>
              <a:rPr lang="en-US" altLang="en-US" kern="1200" dirty="0">
                <a:latin typeface="Arial Rounded MT Bold" panose="020F0704030504030204" pitchFamily="34" charset="0"/>
                <a:ea typeface="+mj-ea"/>
                <a:cs typeface="+mj-cs"/>
              </a:rPr>
              <a:t>Safe Home Access</a:t>
            </a:r>
            <a:endParaRPr lang="en-US" altLang="en-US" kern="1200" dirty="0">
              <a:latin typeface="Arial Rounded MT Bold" panose="020F0704030504030204" pitchFamily="34" charset="0"/>
              <a:ea typeface="+mj-ea"/>
              <a:cs typeface="+mj-cs"/>
            </a:endParaRPr>
          </a:p>
        </p:txBody>
      </p:sp>
      <p:cxnSp>
        <p:nvCxnSpPr>
          <p:cNvPr id="30723" name="AutoShape 5"/>
          <p:cNvCxnSpPr>
            <a:cxnSpLocks noChangeAspect="1"/>
            <a:stCxn id="30759" idx="0"/>
            <a:endCxn id="30734" idx="3"/>
          </p:cNvCxnSpPr>
          <p:nvPr/>
        </p:nvCxnSpPr>
        <p:spPr>
          <a:xfrm flipH="1">
            <a:off x="4773613" y="3122613"/>
            <a:ext cx="1016000" cy="434975"/>
          </a:xfrm>
          <a:prstGeom prst="straightConnector1">
            <a:avLst/>
          </a:prstGeom>
          <a:ln w="19050" cap="flat" cmpd="sng">
            <a:solidFill>
              <a:schemeClr val="tx1"/>
            </a:solidFill>
            <a:prstDash val="lgDash"/>
            <a:headEnd type="none" w="med" len="med"/>
            <a:tailEnd type="triangle" w="lg" len="lg"/>
          </a:ln>
        </p:spPr>
      </p:cxnSp>
      <p:cxnSp>
        <p:nvCxnSpPr>
          <p:cNvPr id="30724" name="AutoShape 8"/>
          <p:cNvCxnSpPr>
            <a:cxnSpLocks noChangeAspect="1"/>
            <a:stCxn id="30762" idx="3"/>
            <a:endCxn id="30734" idx="1"/>
          </p:cNvCxnSpPr>
          <p:nvPr/>
        </p:nvCxnSpPr>
        <p:spPr>
          <a:xfrm>
            <a:off x="2859088" y="3125788"/>
            <a:ext cx="982662" cy="431800"/>
          </a:xfrm>
          <a:prstGeom prst="straightConnector1">
            <a:avLst/>
          </a:prstGeom>
          <a:ln w="19050" cap="flat" cmpd="sng">
            <a:solidFill>
              <a:schemeClr val="tx1"/>
            </a:solidFill>
            <a:prstDash val="solid"/>
            <a:headEnd type="none" w="med" len="med"/>
            <a:tailEnd type="none" w="med" len="med"/>
          </a:ln>
        </p:spPr>
      </p:cxnSp>
      <p:cxnSp>
        <p:nvCxnSpPr>
          <p:cNvPr id="30725" name="AutoShape 3"/>
          <p:cNvCxnSpPr>
            <a:cxnSpLocks noChangeAspect="1"/>
            <a:stCxn id="30759" idx="3"/>
            <a:endCxn id="30732" idx="3"/>
          </p:cNvCxnSpPr>
          <p:nvPr/>
        </p:nvCxnSpPr>
        <p:spPr>
          <a:xfrm flipH="1" flipV="1">
            <a:off x="4773613" y="2489200"/>
            <a:ext cx="1016000" cy="431800"/>
          </a:xfrm>
          <a:prstGeom prst="straightConnector1">
            <a:avLst/>
          </a:prstGeom>
          <a:ln w="19050" cap="flat" cmpd="sng">
            <a:solidFill>
              <a:schemeClr val="tx1"/>
            </a:solidFill>
            <a:prstDash val="lgDash"/>
            <a:headEnd type="none" w="med" len="med"/>
            <a:tailEnd type="none" w="lg" len="lg"/>
          </a:ln>
        </p:spPr>
      </p:cxnSp>
      <p:cxnSp>
        <p:nvCxnSpPr>
          <p:cNvPr id="30726" name="AutoShape 6"/>
          <p:cNvCxnSpPr>
            <a:cxnSpLocks noChangeAspect="1"/>
            <a:stCxn id="30762" idx="0"/>
            <a:endCxn id="30732" idx="1"/>
          </p:cNvCxnSpPr>
          <p:nvPr/>
        </p:nvCxnSpPr>
        <p:spPr>
          <a:xfrm flipV="1">
            <a:off x="2859088" y="2489200"/>
            <a:ext cx="982662" cy="434975"/>
          </a:xfrm>
          <a:prstGeom prst="straightConnector1">
            <a:avLst/>
          </a:prstGeom>
          <a:ln w="19050" cap="flat" cmpd="sng">
            <a:solidFill>
              <a:schemeClr val="tx1"/>
            </a:solidFill>
            <a:prstDash val="solid"/>
            <a:headEnd type="none" w="med" len="med"/>
            <a:tailEnd type="none" w="med" len="med"/>
          </a:ln>
        </p:spPr>
      </p:cxnSp>
      <p:sp>
        <p:nvSpPr>
          <p:cNvPr id="30727" name="Text Box 15"/>
          <p:cNvSpPr txBox="1">
            <a:spLocks noChangeAspect="1"/>
          </p:cNvSpPr>
          <p:nvPr/>
        </p:nvSpPr>
        <p:spPr>
          <a:xfrm>
            <a:off x="5113338" y="2481263"/>
            <a:ext cx="450850"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TN!Y3</a:t>
            </a:r>
            <a:endParaRPr lang="en-US" altLang="en-US" sz="1200" dirty="0">
              <a:latin typeface="Arial" panose="020B0604020202020204" pitchFamily="34" charset="0"/>
            </a:endParaRPr>
          </a:p>
        </p:txBody>
      </p:sp>
      <p:sp>
        <p:nvSpPr>
          <p:cNvPr id="30728" name="Text Box 16"/>
          <p:cNvSpPr txBox="1">
            <a:spLocks noChangeAspect="1"/>
          </p:cNvSpPr>
          <p:nvPr/>
        </p:nvSpPr>
        <p:spPr>
          <a:xfrm>
            <a:off x="3033713" y="2473325"/>
            <a:ext cx="450850" cy="182563"/>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TN!Y1</a:t>
            </a:r>
            <a:endParaRPr lang="en-US" altLang="en-US" sz="1200" dirty="0">
              <a:latin typeface="Arial" panose="020B0604020202020204" pitchFamily="34" charset="0"/>
            </a:endParaRPr>
          </a:p>
        </p:txBody>
      </p:sp>
      <p:sp>
        <p:nvSpPr>
          <p:cNvPr id="30729" name="Text Box 32"/>
          <p:cNvSpPr txBox="1">
            <a:spLocks noChangeAspect="1"/>
          </p:cNvSpPr>
          <p:nvPr/>
        </p:nvSpPr>
        <p:spPr>
          <a:xfrm>
            <a:off x="3043238" y="3394075"/>
            <a:ext cx="441325" cy="182563"/>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LC!Y2</a:t>
            </a:r>
            <a:endParaRPr lang="en-US" altLang="en-US" sz="1200" dirty="0">
              <a:latin typeface="Arial" panose="020B0604020202020204" pitchFamily="34" charset="0"/>
            </a:endParaRPr>
          </a:p>
        </p:txBody>
      </p:sp>
      <p:sp>
        <p:nvSpPr>
          <p:cNvPr id="30730" name="Text Box 33"/>
          <p:cNvSpPr txBox="1">
            <a:spLocks noChangeAspect="1"/>
          </p:cNvSpPr>
          <p:nvPr/>
        </p:nvSpPr>
        <p:spPr>
          <a:xfrm>
            <a:off x="5118100" y="3405188"/>
            <a:ext cx="4413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LD!Y4</a:t>
            </a:r>
            <a:endParaRPr lang="en-US" altLang="en-US" sz="1200" dirty="0">
              <a:latin typeface="Arial" panose="020B0604020202020204" pitchFamily="34" charset="0"/>
            </a:endParaRPr>
          </a:p>
        </p:txBody>
      </p:sp>
      <p:grpSp>
        <p:nvGrpSpPr>
          <p:cNvPr id="30731" name="Group 13"/>
          <p:cNvGrpSpPr/>
          <p:nvPr/>
        </p:nvGrpSpPr>
        <p:grpSpPr>
          <a:xfrm>
            <a:off x="2079625" y="2786063"/>
            <a:ext cx="779463" cy="474662"/>
            <a:chOff x="1310" y="1423"/>
            <a:chExt cx="491" cy="299"/>
          </a:xfrm>
        </p:grpSpPr>
        <p:sp>
          <p:nvSpPr>
            <p:cNvPr id="30761" name="Rectangle 10"/>
            <p:cNvSpPr>
              <a:spLocks noChangeAspect="1"/>
            </p:cNvSpPr>
            <p:nvPr/>
          </p:nvSpPr>
          <p:spPr>
            <a:xfrm>
              <a:off x="1310" y="1423"/>
              <a:ext cx="489"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Transform software</a:t>
              </a:r>
              <a:endParaRPr lang="en-US" altLang="en-US" sz="1000" dirty="0">
                <a:latin typeface="Arial" panose="020B0604020202020204" pitchFamily="34" charset="0"/>
              </a:endParaRPr>
            </a:p>
          </p:txBody>
        </p:sp>
        <p:sp>
          <p:nvSpPr>
            <p:cNvPr id="30762" name="Freeform 15"/>
            <p:cNvSpPr/>
            <p:nvPr/>
          </p:nvSpPr>
          <p:spPr>
            <a:xfrm>
              <a:off x="1720" y="1510"/>
              <a:ext cx="81" cy="12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576" y="0"/>
                  </a:moveTo>
                  <a:lnTo>
                    <a:pt x="0" y="0"/>
                  </a:lnTo>
                  <a:lnTo>
                    <a:pt x="0" y="576"/>
                  </a:lnTo>
                  <a:lnTo>
                    <a:pt x="576" y="576"/>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0763" name="Rectangle 16"/>
            <p:cNvSpPr/>
            <p:nvPr/>
          </p:nvSpPr>
          <p:spPr>
            <a:xfrm>
              <a:off x="1312" y="1423"/>
              <a:ext cx="489" cy="299"/>
            </a:xfrm>
            <a:prstGeom prst="rect">
              <a:avLst/>
            </a:prstGeom>
            <a:solidFill>
              <a:schemeClr val="bg1"/>
            </a:solidFill>
            <a:ln w="2857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Lock Ctrl Software</a:t>
              </a:r>
              <a:endParaRPr lang="en-US" altLang="en-US" sz="1000" dirty="0">
                <a:latin typeface="Arial" panose="020B0604020202020204" pitchFamily="34" charset="0"/>
              </a:endParaRPr>
            </a:p>
          </p:txBody>
        </p:sp>
      </p:grpSp>
      <p:sp>
        <p:nvSpPr>
          <p:cNvPr id="30732" name="Rectangle 18"/>
          <p:cNvSpPr/>
          <p:nvPr/>
        </p:nvSpPr>
        <p:spPr>
          <a:xfrm>
            <a:off x="3841750" y="2251075"/>
            <a:ext cx="931863" cy="474663"/>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Tenant</a:t>
            </a:r>
            <a:endParaRPr lang="en-US" altLang="en-US" sz="1000" dirty="0">
              <a:latin typeface="Arial" panose="020B0604020202020204" pitchFamily="34" charset="0"/>
            </a:endParaRPr>
          </a:p>
        </p:txBody>
      </p:sp>
      <p:sp>
        <p:nvSpPr>
          <p:cNvPr id="30733" name="Rectangle 12"/>
          <p:cNvSpPr/>
          <p:nvPr/>
        </p:nvSpPr>
        <p:spPr>
          <a:xfrm>
            <a:off x="4591050" y="2543175"/>
            <a:ext cx="182563" cy="1825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sp>
        <p:nvSpPr>
          <p:cNvPr id="30734" name="Rectangle 22"/>
          <p:cNvSpPr/>
          <p:nvPr/>
        </p:nvSpPr>
        <p:spPr>
          <a:xfrm>
            <a:off x="3841750" y="3319463"/>
            <a:ext cx="931863" cy="474662"/>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Lock</a:t>
            </a:r>
            <a:br>
              <a:rPr lang="en-US" altLang="en-US" sz="1000" dirty="0">
                <a:latin typeface="Arial" panose="020B0604020202020204" pitchFamily="34" charset="0"/>
              </a:rPr>
            </a:br>
            <a:r>
              <a:rPr lang="en-US" altLang="en-US" sz="1000" dirty="0">
                <a:latin typeface="Arial" panose="020B0604020202020204" pitchFamily="34" charset="0"/>
              </a:rPr>
              <a:t>Device</a:t>
            </a:r>
            <a:endParaRPr lang="en-US" altLang="en-US" sz="1000" dirty="0">
              <a:latin typeface="Arial" panose="020B0604020202020204" pitchFamily="34" charset="0"/>
            </a:endParaRPr>
          </a:p>
        </p:txBody>
      </p:sp>
      <p:sp>
        <p:nvSpPr>
          <p:cNvPr id="30735" name="Rectangle 12"/>
          <p:cNvSpPr/>
          <p:nvPr/>
        </p:nvSpPr>
        <p:spPr>
          <a:xfrm>
            <a:off x="4591050" y="3611563"/>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nvGrpSpPr>
          <p:cNvPr id="30736" name="Group 25"/>
          <p:cNvGrpSpPr/>
          <p:nvPr/>
        </p:nvGrpSpPr>
        <p:grpSpPr>
          <a:xfrm>
            <a:off x="5738813" y="2786063"/>
            <a:ext cx="1019175" cy="473075"/>
            <a:chOff x="3615" y="1423"/>
            <a:chExt cx="642" cy="298"/>
          </a:xfrm>
        </p:grpSpPr>
        <p:sp>
          <p:nvSpPr>
            <p:cNvPr id="30759" name="Freeform 26"/>
            <p:cNvSpPr/>
            <p:nvPr/>
          </p:nvSpPr>
          <p:spPr>
            <a:xfrm>
              <a:off x="3647" y="1508"/>
              <a:ext cx="46" cy="12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0" y="576"/>
                  </a:moveTo>
                  <a:lnTo>
                    <a:pt x="576" y="576"/>
                  </a:lnTo>
                  <a:lnTo>
                    <a:pt x="576" y="0"/>
                  </a:lnTo>
                  <a:lnTo>
                    <a:pt x="0" y="0"/>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0760" name="Oval 13"/>
            <p:cNvSpPr>
              <a:spLocks noChangeAspect="1"/>
            </p:cNvSpPr>
            <p:nvPr/>
          </p:nvSpPr>
          <p:spPr>
            <a:xfrm>
              <a:off x="3615" y="1423"/>
              <a:ext cx="642" cy="298"/>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Open door</a:t>
              </a:r>
              <a:endParaRPr lang="en-US" altLang="en-US" sz="1000" dirty="0">
                <a:latin typeface="Arial" panose="020B0604020202020204" pitchFamily="34" charset="0"/>
              </a:endParaRPr>
            </a:p>
          </p:txBody>
        </p:sp>
      </p:grpSp>
      <p:cxnSp>
        <p:nvCxnSpPr>
          <p:cNvPr id="30737" name="AutoShape 5"/>
          <p:cNvCxnSpPr>
            <a:cxnSpLocks noChangeAspect="1"/>
            <a:stCxn id="30754" idx="0"/>
            <a:endCxn id="30748" idx="3"/>
          </p:cNvCxnSpPr>
          <p:nvPr/>
        </p:nvCxnSpPr>
        <p:spPr>
          <a:xfrm flipH="1">
            <a:off x="4773613" y="5430838"/>
            <a:ext cx="1016000" cy="434975"/>
          </a:xfrm>
          <a:prstGeom prst="straightConnector1">
            <a:avLst/>
          </a:prstGeom>
          <a:ln w="19050" cap="flat" cmpd="sng">
            <a:solidFill>
              <a:schemeClr val="tx1"/>
            </a:solidFill>
            <a:prstDash val="lgDash"/>
            <a:headEnd type="none" w="med" len="med"/>
            <a:tailEnd type="triangle" w="lg" len="lg"/>
          </a:ln>
        </p:spPr>
      </p:cxnSp>
      <p:cxnSp>
        <p:nvCxnSpPr>
          <p:cNvPr id="30738" name="AutoShape 8"/>
          <p:cNvCxnSpPr>
            <a:cxnSpLocks noChangeAspect="1"/>
            <a:stCxn id="30757" idx="3"/>
            <a:endCxn id="30748" idx="1"/>
          </p:cNvCxnSpPr>
          <p:nvPr/>
        </p:nvCxnSpPr>
        <p:spPr>
          <a:xfrm>
            <a:off x="2859088" y="5434013"/>
            <a:ext cx="982662" cy="431800"/>
          </a:xfrm>
          <a:prstGeom prst="straightConnector1">
            <a:avLst/>
          </a:prstGeom>
          <a:ln w="19050" cap="flat" cmpd="sng">
            <a:solidFill>
              <a:schemeClr val="tx1"/>
            </a:solidFill>
            <a:prstDash val="solid"/>
            <a:headEnd type="none" w="med" len="med"/>
            <a:tailEnd type="none" w="med" len="med"/>
          </a:ln>
        </p:spPr>
      </p:cxnSp>
      <p:cxnSp>
        <p:nvCxnSpPr>
          <p:cNvPr id="30739" name="AutoShape 3"/>
          <p:cNvCxnSpPr>
            <a:cxnSpLocks noChangeAspect="1"/>
            <a:stCxn id="30754" idx="3"/>
            <a:endCxn id="30746" idx="3"/>
          </p:cNvCxnSpPr>
          <p:nvPr/>
        </p:nvCxnSpPr>
        <p:spPr>
          <a:xfrm flipH="1" flipV="1">
            <a:off x="4773613" y="4797425"/>
            <a:ext cx="1016000" cy="431800"/>
          </a:xfrm>
          <a:prstGeom prst="straightConnector1">
            <a:avLst/>
          </a:prstGeom>
          <a:ln w="19050" cap="flat" cmpd="sng">
            <a:solidFill>
              <a:schemeClr val="tx1"/>
            </a:solidFill>
            <a:prstDash val="lgDash"/>
            <a:headEnd type="none" w="med" len="med"/>
            <a:tailEnd type="none" w="lg" len="lg"/>
          </a:ln>
        </p:spPr>
      </p:cxnSp>
      <p:cxnSp>
        <p:nvCxnSpPr>
          <p:cNvPr id="30740" name="AutoShape 6"/>
          <p:cNvCxnSpPr>
            <a:cxnSpLocks noChangeAspect="1"/>
            <a:stCxn id="30757" idx="0"/>
            <a:endCxn id="30746" idx="1"/>
          </p:cNvCxnSpPr>
          <p:nvPr/>
        </p:nvCxnSpPr>
        <p:spPr>
          <a:xfrm flipV="1">
            <a:off x="2859088" y="4797425"/>
            <a:ext cx="982662" cy="434975"/>
          </a:xfrm>
          <a:prstGeom prst="straightConnector1">
            <a:avLst/>
          </a:prstGeom>
          <a:ln w="19050" cap="flat" cmpd="sng">
            <a:solidFill>
              <a:schemeClr val="tx1"/>
            </a:solidFill>
            <a:prstDash val="solid"/>
            <a:headEnd type="none" w="med" len="med"/>
            <a:tailEnd type="none" w="med" len="med"/>
          </a:ln>
        </p:spPr>
      </p:cxnSp>
      <p:sp>
        <p:nvSpPr>
          <p:cNvPr id="30741" name="Text Box 15"/>
          <p:cNvSpPr txBox="1">
            <a:spLocks noChangeAspect="1"/>
          </p:cNvSpPr>
          <p:nvPr/>
        </p:nvSpPr>
        <p:spPr>
          <a:xfrm>
            <a:off x="5129213" y="4781550"/>
            <a:ext cx="468312" cy="182563"/>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BG!Y3</a:t>
            </a:r>
            <a:endParaRPr lang="en-US" altLang="en-US" sz="1200" dirty="0">
              <a:latin typeface="Arial" panose="020B0604020202020204" pitchFamily="34" charset="0"/>
            </a:endParaRPr>
          </a:p>
        </p:txBody>
      </p:sp>
      <p:sp>
        <p:nvSpPr>
          <p:cNvPr id="30742" name="Text Box 16"/>
          <p:cNvSpPr txBox="1">
            <a:spLocks noChangeAspect="1"/>
          </p:cNvSpPr>
          <p:nvPr/>
        </p:nvSpPr>
        <p:spPr>
          <a:xfrm>
            <a:off x="3016250" y="4781550"/>
            <a:ext cx="468313" cy="182563"/>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BG!Y1</a:t>
            </a:r>
            <a:endParaRPr lang="en-US" altLang="en-US" sz="1200" dirty="0">
              <a:latin typeface="Arial" panose="020B0604020202020204" pitchFamily="34" charset="0"/>
            </a:endParaRPr>
          </a:p>
        </p:txBody>
      </p:sp>
      <p:sp>
        <p:nvSpPr>
          <p:cNvPr id="30743" name="Text Box 32"/>
          <p:cNvSpPr txBox="1">
            <a:spLocks noChangeAspect="1"/>
          </p:cNvSpPr>
          <p:nvPr/>
        </p:nvSpPr>
        <p:spPr>
          <a:xfrm>
            <a:off x="3008313" y="5702300"/>
            <a:ext cx="476250" cy="182563"/>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MS!Y2</a:t>
            </a:r>
            <a:endParaRPr lang="en-US" altLang="en-US" sz="1200" dirty="0">
              <a:latin typeface="Arial" panose="020B0604020202020204" pitchFamily="34" charset="0"/>
            </a:endParaRPr>
          </a:p>
        </p:txBody>
      </p:sp>
      <p:sp>
        <p:nvSpPr>
          <p:cNvPr id="30744" name="Text Box 33"/>
          <p:cNvSpPr txBox="1">
            <a:spLocks noChangeAspect="1"/>
          </p:cNvSpPr>
          <p:nvPr/>
        </p:nvSpPr>
        <p:spPr>
          <a:xfrm>
            <a:off x="5129213" y="5702300"/>
            <a:ext cx="433387" cy="182563"/>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AL!Y4</a:t>
            </a:r>
            <a:endParaRPr lang="en-US" altLang="en-US" sz="1200" dirty="0">
              <a:latin typeface="Arial" panose="020B0604020202020204" pitchFamily="34" charset="0"/>
            </a:endParaRPr>
          </a:p>
        </p:txBody>
      </p:sp>
      <p:grpSp>
        <p:nvGrpSpPr>
          <p:cNvPr id="30745" name="Group 36"/>
          <p:cNvGrpSpPr/>
          <p:nvPr/>
        </p:nvGrpSpPr>
        <p:grpSpPr>
          <a:xfrm>
            <a:off x="2079625" y="5094288"/>
            <a:ext cx="779463" cy="474662"/>
            <a:chOff x="1310" y="1423"/>
            <a:chExt cx="491" cy="299"/>
          </a:xfrm>
        </p:grpSpPr>
        <p:sp>
          <p:nvSpPr>
            <p:cNvPr id="30756" name="Rectangle 10"/>
            <p:cNvSpPr>
              <a:spLocks noChangeAspect="1"/>
            </p:cNvSpPr>
            <p:nvPr/>
          </p:nvSpPr>
          <p:spPr>
            <a:xfrm>
              <a:off x="1310" y="1423"/>
              <a:ext cx="489"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Transform software</a:t>
              </a:r>
              <a:endParaRPr lang="en-US" altLang="en-US" sz="1000" dirty="0">
                <a:latin typeface="Arial" panose="020B0604020202020204" pitchFamily="34" charset="0"/>
              </a:endParaRPr>
            </a:p>
          </p:txBody>
        </p:sp>
        <p:sp>
          <p:nvSpPr>
            <p:cNvPr id="30757" name="Freeform 38"/>
            <p:cNvSpPr/>
            <p:nvPr/>
          </p:nvSpPr>
          <p:spPr>
            <a:xfrm>
              <a:off x="1720" y="1510"/>
              <a:ext cx="81" cy="12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576" y="0"/>
                  </a:moveTo>
                  <a:lnTo>
                    <a:pt x="0" y="0"/>
                  </a:lnTo>
                  <a:lnTo>
                    <a:pt x="0" y="576"/>
                  </a:lnTo>
                  <a:lnTo>
                    <a:pt x="576" y="576"/>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0758" name="Rectangle 39"/>
            <p:cNvSpPr/>
            <p:nvPr/>
          </p:nvSpPr>
          <p:spPr>
            <a:xfrm>
              <a:off x="1312" y="1423"/>
              <a:ext cx="489" cy="299"/>
            </a:xfrm>
            <a:prstGeom prst="rect">
              <a:avLst/>
            </a:prstGeom>
            <a:solidFill>
              <a:schemeClr val="bg1"/>
            </a:solidFill>
            <a:ln w="2857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Monitor Software</a:t>
              </a:r>
              <a:endParaRPr lang="en-US" altLang="en-US" sz="1000" dirty="0">
                <a:latin typeface="Arial" panose="020B0604020202020204" pitchFamily="34" charset="0"/>
              </a:endParaRPr>
            </a:p>
          </p:txBody>
        </p:sp>
      </p:grpSp>
      <p:sp>
        <p:nvSpPr>
          <p:cNvPr id="30746" name="Rectangle 40"/>
          <p:cNvSpPr/>
          <p:nvPr/>
        </p:nvSpPr>
        <p:spPr>
          <a:xfrm>
            <a:off x="3841750" y="4559300"/>
            <a:ext cx="931863" cy="474663"/>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Burglar</a:t>
            </a:r>
            <a:endParaRPr lang="en-US" altLang="en-US" sz="1000" dirty="0">
              <a:latin typeface="Arial" panose="020B0604020202020204" pitchFamily="34" charset="0"/>
            </a:endParaRPr>
          </a:p>
        </p:txBody>
      </p:sp>
      <p:sp>
        <p:nvSpPr>
          <p:cNvPr id="30747" name="Rectangle 12"/>
          <p:cNvSpPr/>
          <p:nvPr/>
        </p:nvSpPr>
        <p:spPr>
          <a:xfrm>
            <a:off x="4591050" y="4851400"/>
            <a:ext cx="182563" cy="18256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sp>
        <p:nvSpPr>
          <p:cNvPr id="30748" name="Rectangle 42"/>
          <p:cNvSpPr/>
          <p:nvPr/>
        </p:nvSpPr>
        <p:spPr>
          <a:xfrm>
            <a:off x="3841750" y="5627688"/>
            <a:ext cx="931863" cy="474662"/>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Alarm</a:t>
            </a:r>
            <a:endParaRPr lang="en-US" altLang="en-US" sz="1000" dirty="0">
              <a:latin typeface="Arial" panose="020B0604020202020204" pitchFamily="34" charset="0"/>
            </a:endParaRPr>
          </a:p>
        </p:txBody>
      </p:sp>
      <p:sp>
        <p:nvSpPr>
          <p:cNvPr id="30749" name="Rectangle 12"/>
          <p:cNvSpPr/>
          <p:nvPr/>
        </p:nvSpPr>
        <p:spPr>
          <a:xfrm>
            <a:off x="4591050" y="5919788"/>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nvGrpSpPr>
          <p:cNvPr id="30750" name="Group 44"/>
          <p:cNvGrpSpPr/>
          <p:nvPr/>
        </p:nvGrpSpPr>
        <p:grpSpPr>
          <a:xfrm>
            <a:off x="5738813" y="5094288"/>
            <a:ext cx="1019175" cy="473075"/>
            <a:chOff x="3615" y="1423"/>
            <a:chExt cx="642" cy="298"/>
          </a:xfrm>
        </p:grpSpPr>
        <p:sp>
          <p:nvSpPr>
            <p:cNvPr id="30754" name="Freeform 45"/>
            <p:cNvSpPr/>
            <p:nvPr/>
          </p:nvSpPr>
          <p:spPr>
            <a:xfrm>
              <a:off x="3647" y="1508"/>
              <a:ext cx="46" cy="12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0" y="576"/>
                  </a:moveTo>
                  <a:lnTo>
                    <a:pt x="576" y="576"/>
                  </a:lnTo>
                  <a:lnTo>
                    <a:pt x="576" y="0"/>
                  </a:lnTo>
                  <a:lnTo>
                    <a:pt x="0" y="0"/>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0755" name="Oval 13"/>
            <p:cNvSpPr>
              <a:spLocks noChangeAspect="1"/>
            </p:cNvSpPr>
            <p:nvPr/>
          </p:nvSpPr>
          <p:spPr>
            <a:xfrm>
              <a:off x="3615" y="1423"/>
              <a:ext cx="642" cy="298"/>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Alarm on dict. attack</a:t>
              </a:r>
              <a:endParaRPr lang="en-US" altLang="en-US" sz="1000" dirty="0">
                <a:latin typeface="Arial" panose="020B0604020202020204" pitchFamily="34" charset="0"/>
              </a:endParaRPr>
            </a:p>
          </p:txBody>
        </p:sp>
      </p:grpSp>
      <p:sp>
        <p:nvSpPr>
          <p:cNvPr id="30751" name="Text Box 32"/>
          <p:cNvSpPr txBox="1">
            <a:spLocks noChangeAspect="1"/>
          </p:cNvSpPr>
          <p:nvPr/>
        </p:nvSpPr>
        <p:spPr>
          <a:xfrm>
            <a:off x="182563" y="1295400"/>
            <a:ext cx="4792662" cy="182563"/>
          </a:xfrm>
          <a:prstGeom prst="rect">
            <a:avLst/>
          </a:prstGeom>
          <a:solidFill>
            <a:schemeClr val="bg1"/>
          </a:solidFill>
          <a:ln w="9525">
            <a:noFill/>
          </a:ln>
        </p:spPr>
        <p:txBody>
          <a:bodyPr wrap="none" lIns="9144" tIns="0" rIns="9144" bIns="0">
            <a:spAutoFit/>
          </a:bodyPr>
          <a:p>
            <a:pPr eaLnBrk="1" hangingPunct="1"/>
            <a:r>
              <a:rPr lang="en-US" altLang="en-US" sz="1200" dirty="0">
                <a:latin typeface="Arial" panose="020B0604020202020204" pitchFamily="34" charset="0"/>
              </a:rPr>
              <a:t>Requirement: Unlock the door for tenant and alarm on dictionary attack</a:t>
            </a:r>
            <a:endParaRPr lang="en-US" altLang="en-US" sz="1200" dirty="0">
              <a:latin typeface="Arial" panose="020B0604020202020204" pitchFamily="34" charset="0"/>
            </a:endParaRPr>
          </a:p>
        </p:txBody>
      </p:sp>
      <p:sp>
        <p:nvSpPr>
          <p:cNvPr id="30752" name="Text Box 32"/>
          <p:cNvSpPr txBox="1">
            <a:spLocks noChangeAspect="1"/>
          </p:cNvSpPr>
          <p:nvPr/>
        </p:nvSpPr>
        <p:spPr>
          <a:xfrm>
            <a:off x="128588" y="1973263"/>
            <a:ext cx="3871912" cy="246062"/>
          </a:xfrm>
          <a:prstGeom prst="rect">
            <a:avLst/>
          </a:prstGeom>
          <a:solidFill>
            <a:schemeClr val="bg1"/>
          </a:solidFill>
          <a:ln w="9525">
            <a:noFill/>
          </a:ln>
        </p:spPr>
        <p:txBody>
          <a:bodyPr wrap="none" lIns="9144" tIns="0" rIns="9144" bIns="0">
            <a:spAutoFit/>
          </a:bodyPr>
          <a:p>
            <a:pPr eaLnBrk="1" hangingPunct="1"/>
            <a:r>
              <a:rPr lang="en-US" altLang="en-US" sz="1600" dirty="0">
                <a:latin typeface="AvantGarde Bk BT" pitchFamily="34" charset="0"/>
              </a:rPr>
              <a:t>Requirement 1: Unlock the door for tenant</a:t>
            </a:r>
            <a:endParaRPr lang="en-US" altLang="en-US" sz="1600" dirty="0">
              <a:latin typeface="AvantGarde Bk BT" pitchFamily="34" charset="0"/>
            </a:endParaRPr>
          </a:p>
        </p:txBody>
      </p:sp>
      <p:sp>
        <p:nvSpPr>
          <p:cNvPr id="30753" name="Text Box 32"/>
          <p:cNvSpPr txBox="1">
            <a:spLocks noChangeAspect="1"/>
          </p:cNvSpPr>
          <p:nvPr/>
        </p:nvSpPr>
        <p:spPr>
          <a:xfrm>
            <a:off x="128588" y="4281488"/>
            <a:ext cx="3921125" cy="246062"/>
          </a:xfrm>
          <a:prstGeom prst="rect">
            <a:avLst/>
          </a:prstGeom>
          <a:solidFill>
            <a:schemeClr val="bg1"/>
          </a:solidFill>
          <a:ln w="9525">
            <a:noFill/>
          </a:ln>
        </p:spPr>
        <p:txBody>
          <a:bodyPr wrap="none" lIns="9144" tIns="0" rIns="9144" bIns="0">
            <a:spAutoFit/>
          </a:bodyPr>
          <a:p>
            <a:pPr eaLnBrk="1" hangingPunct="1"/>
            <a:r>
              <a:rPr lang="en-US" altLang="en-US" sz="1600" dirty="0">
                <a:latin typeface="AvantGarde Bk BT" pitchFamily="34" charset="0"/>
              </a:rPr>
              <a:t>Requirement 2: Alarm on dictionary attack</a:t>
            </a:r>
            <a:endParaRPr lang="en-US" altLang="en-US" sz="1600" dirty="0">
              <a:latin typeface="AvantGarde Bk BT"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200" kern="1200" dirty="0">
                <a:latin typeface="Arial Rounded MT Bold" panose="020F0704030504030204" pitchFamily="34" charset="0"/>
                <a:ea typeface="+mj-ea"/>
                <a:cs typeface="+mj-cs"/>
              </a:rPr>
              <a:t>Basic Frame 3:</a:t>
            </a:r>
            <a:r>
              <a:rPr lang="en-US" altLang="en-US" kern="1200" dirty="0">
                <a:latin typeface="Arial Rounded MT Bold" panose="020F0704030504030204" pitchFamily="34" charset="0"/>
                <a:ea typeface="+mj-ea"/>
                <a:cs typeface="+mj-cs"/>
              </a:rPr>
              <a:t> Information Display</a:t>
            </a:r>
            <a:endParaRPr lang="en-US" altLang="en-US" kern="1200" dirty="0">
              <a:latin typeface="Arial Rounded MT Bold" panose="020F0704030504030204" pitchFamily="34" charset="0"/>
              <a:ea typeface="+mj-ea"/>
              <a:cs typeface="+mj-cs"/>
            </a:endParaRPr>
          </a:p>
        </p:txBody>
      </p:sp>
      <p:cxnSp>
        <p:nvCxnSpPr>
          <p:cNvPr id="31747" name="AutoShape 3"/>
          <p:cNvCxnSpPr>
            <a:cxnSpLocks noChangeAspect="1"/>
            <a:stCxn id="31748" idx="0"/>
            <a:endCxn id="31789" idx="3"/>
          </p:cNvCxnSpPr>
          <p:nvPr/>
        </p:nvCxnSpPr>
        <p:spPr>
          <a:xfrm flipH="1" flipV="1">
            <a:off x="4770438" y="1960563"/>
            <a:ext cx="1017587" cy="433387"/>
          </a:xfrm>
          <a:prstGeom prst="straightConnector1">
            <a:avLst/>
          </a:prstGeom>
          <a:ln w="19050" cap="flat" cmpd="sng">
            <a:solidFill>
              <a:schemeClr val="tx1"/>
            </a:solidFill>
            <a:prstDash val="lgDash"/>
            <a:headEnd type="none" w="med" len="med"/>
            <a:tailEnd type="triangle" w="lg" len="lg"/>
          </a:ln>
        </p:spPr>
      </p:cxnSp>
      <p:sp>
        <p:nvSpPr>
          <p:cNvPr id="31748" name="Freeform 4"/>
          <p:cNvSpPr/>
          <p:nvPr/>
        </p:nvSpPr>
        <p:spPr>
          <a:xfrm flipH="1">
            <a:off x="5788025" y="2393950"/>
            <a:ext cx="123825" cy="204788"/>
          </a:xfrm>
          <a:custGeom>
            <a:avLst/>
            <a:gdLst>
              <a:gd name="txL" fmla="*/ 0 w 231"/>
              <a:gd name="txT" fmla="*/ 0 h 321"/>
              <a:gd name="txR" fmla="*/ 231 w 231"/>
              <a:gd name="txB" fmla="*/ 321 h 321"/>
            </a:gdLst>
            <a:ahLst/>
            <a:cxnLst>
              <a:cxn ang="0">
                <a:pos x="2147483647" y="0"/>
              </a:cxn>
              <a:cxn ang="0">
                <a:pos x="0" y="0"/>
              </a:cxn>
              <a:cxn ang="0">
                <a:pos x="0" y="2147483647"/>
              </a:cxn>
              <a:cxn ang="0">
                <a:pos x="2147483647" y="2147483647"/>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31749" name="AutoShape 5"/>
          <p:cNvCxnSpPr>
            <a:cxnSpLocks noChangeAspect="1"/>
            <a:stCxn id="31748" idx="3"/>
            <a:endCxn id="31787" idx="3"/>
          </p:cNvCxnSpPr>
          <p:nvPr/>
        </p:nvCxnSpPr>
        <p:spPr>
          <a:xfrm flipH="1">
            <a:off x="4770438" y="2598738"/>
            <a:ext cx="1017587" cy="431800"/>
          </a:xfrm>
          <a:prstGeom prst="straightConnector1">
            <a:avLst/>
          </a:prstGeom>
          <a:ln w="19050" cap="flat" cmpd="sng">
            <a:solidFill>
              <a:schemeClr val="tx1"/>
            </a:solidFill>
            <a:prstDash val="lgDash"/>
            <a:headEnd type="none" w="med" len="med"/>
            <a:tailEnd type="none" w="lg" len="lg"/>
          </a:ln>
        </p:spPr>
      </p:cxnSp>
      <p:cxnSp>
        <p:nvCxnSpPr>
          <p:cNvPr id="31750" name="AutoShape 6"/>
          <p:cNvCxnSpPr>
            <a:cxnSpLocks noChangeAspect="1"/>
            <a:stCxn id="31791" idx="0"/>
            <a:endCxn id="31789" idx="1"/>
          </p:cNvCxnSpPr>
          <p:nvPr/>
        </p:nvCxnSpPr>
        <p:spPr>
          <a:xfrm flipV="1">
            <a:off x="2859088" y="1960563"/>
            <a:ext cx="982662" cy="433387"/>
          </a:xfrm>
          <a:prstGeom prst="straightConnector1">
            <a:avLst/>
          </a:prstGeom>
          <a:ln w="19050" cap="flat" cmpd="sng">
            <a:solidFill>
              <a:schemeClr val="tx1"/>
            </a:solidFill>
            <a:prstDash val="solid"/>
            <a:headEnd type="none" w="med" len="med"/>
            <a:tailEnd type="none" w="med" len="med"/>
          </a:ln>
        </p:spPr>
      </p:cxnSp>
      <p:cxnSp>
        <p:nvCxnSpPr>
          <p:cNvPr id="31751" name="AutoShape 8"/>
          <p:cNvCxnSpPr>
            <a:cxnSpLocks noChangeAspect="1"/>
            <a:stCxn id="31791" idx="3"/>
            <a:endCxn id="31787" idx="1"/>
          </p:cNvCxnSpPr>
          <p:nvPr/>
        </p:nvCxnSpPr>
        <p:spPr>
          <a:xfrm>
            <a:off x="2859088" y="2598738"/>
            <a:ext cx="982662" cy="431800"/>
          </a:xfrm>
          <a:prstGeom prst="straightConnector1">
            <a:avLst/>
          </a:prstGeom>
          <a:ln w="19050" cap="flat" cmpd="sng">
            <a:solidFill>
              <a:schemeClr val="tx1"/>
            </a:solidFill>
            <a:prstDash val="solid"/>
            <a:headEnd type="none" w="med" len="med"/>
            <a:tailEnd type="none" w="med" len="med"/>
          </a:ln>
        </p:spPr>
      </p:cxnSp>
      <p:grpSp>
        <p:nvGrpSpPr>
          <p:cNvPr id="31752" name="Group 55"/>
          <p:cNvGrpSpPr/>
          <p:nvPr/>
        </p:nvGrpSpPr>
        <p:grpSpPr>
          <a:xfrm>
            <a:off x="1812925" y="2259013"/>
            <a:ext cx="1046163" cy="473075"/>
            <a:chOff x="1142" y="1423"/>
            <a:chExt cx="659" cy="298"/>
          </a:xfrm>
        </p:grpSpPr>
        <p:sp>
          <p:nvSpPr>
            <p:cNvPr id="31791" name="Freeform 7"/>
            <p:cNvSpPr/>
            <p:nvPr/>
          </p:nvSpPr>
          <p:spPr>
            <a:xfrm>
              <a:off x="1723" y="1508"/>
              <a:ext cx="78" cy="129"/>
            </a:xfrm>
            <a:custGeom>
              <a:avLst/>
              <a:gdLst>
                <a:gd name="txL" fmla="*/ 0 w 231"/>
                <a:gd name="txT" fmla="*/ 0 h 321"/>
                <a:gd name="txR" fmla="*/ 231 w 231"/>
                <a:gd name="txB" fmla="*/ 321 h 321"/>
              </a:gdLst>
              <a:ahLst/>
              <a:cxnLst>
                <a:cxn ang="0">
                  <a:pos x="0" y="0"/>
                </a:cxn>
                <a:cxn ang="0">
                  <a:pos x="0" y="0"/>
                </a:cxn>
                <a:cxn ang="0">
                  <a:pos x="0" y="0"/>
                </a:cxn>
                <a:cxn ang="0">
                  <a:pos x="0" y="0"/>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1792" name="Rectangle 10"/>
            <p:cNvSpPr>
              <a:spLocks noChangeAspect="1"/>
            </p:cNvSpPr>
            <p:nvPr/>
          </p:nvSpPr>
          <p:spPr>
            <a:xfrm>
              <a:off x="1276" y="1423"/>
              <a:ext cx="523"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Information software</a:t>
              </a:r>
              <a:endParaRPr lang="en-US" altLang="en-US" sz="1000" dirty="0">
                <a:latin typeface="Arial" panose="020B0604020202020204" pitchFamily="34" charset="0"/>
              </a:endParaRPr>
            </a:p>
          </p:txBody>
        </p:sp>
        <p:sp>
          <p:nvSpPr>
            <p:cNvPr id="31793" name="Rectangle 11"/>
            <p:cNvSpPr>
              <a:spLocks noChangeAspect="1"/>
            </p:cNvSpPr>
            <p:nvPr/>
          </p:nvSpPr>
          <p:spPr>
            <a:xfrm>
              <a:off x="1142" y="1423"/>
              <a:ext cx="134" cy="29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31794" name="Line 12"/>
            <p:cNvSpPr>
              <a:spLocks noChangeAspect="1"/>
            </p:cNvSpPr>
            <p:nvPr/>
          </p:nvSpPr>
          <p:spPr>
            <a:xfrm>
              <a:off x="1209" y="1423"/>
              <a:ext cx="0" cy="298"/>
            </a:xfrm>
            <a:prstGeom prst="line">
              <a:avLst/>
            </a:prstGeom>
            <a:ln w="9525" cap="flat" cmpd="sng">
              <a:solidFill>
                <a:schemeClr val="tx1"/>
              </a:solidFill>
              <a:prstDash val="solid"/>
              <a:headEnd type="none" w="med" len="med"/>
              <a:tailEnd type="none" w="med" len="med"/>
            </a:ln>
          </p:spPr>
        </p:sp>
      </p:grpSp>
      <p:sp>
        <p:nvSpPr>
          <p:cNvPr id="31753" name="Oval 13"/>
          <p:cNvSpPr>
            <a:spLocks noChangeAspect="1"/>
          </p:cNvSpPr>
          <p:nvPr/>
        </p:nvSpPr>
        <p:spPr>
          <a:xfrm>
            <a:off x="5738813" y="22590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Display ~ Real world</a:t>
            </a:r>
            <a:endParaRPr lang="en-US" altLang="en-US" sz="1000" dirty="0">
              <a:latin typeface="Arial" panose="020B0604020202020204" pitchFamily="34" charset="0"/>
            </a:endParaRPr>
          </a:p>
        </p:txBody>
      </p:sp>
      <p:sp>
        <p:nvSpPr>
          <p:cNvPr id="31754" name="Text Box 15"/>
          <p:cNvSpPr txBox="1">
            <a:spLocks noChangeAspect="1"/>
          </p:cNvSpPr>
          <p:nvPr/>
        </p:nvSpPr>
        <p:spPr>
          <a:xfrm>
            <a:off x="5230813" y="1954213"/>
            <a:ext cx="212725"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C3</a:t>
            </a:r>
            <a:endParaRPr lang="en-US" altLang="en-US" sz="1200" dirty="0">
              <a:latin typeface="Arial" panose="020B0604020202020204" pitchFamily="34" charset="0"/>
            </a:endParaRPr>
          </a:p>
        </p:txBody>
      </p:sp>
      <p:sp>
        <p:nvSpPr>
          <p:cNvPr id="31755" name="Text Box 16"/>
          <p:cNvSpPr txBox="1">
            <a:spLocks noChangeAspect="1"/>
          </p:cNvSpPr>
          <p:nvPr/>
        </p:nvSpPr>
        <p:spPr>
          <a:xfrm>
            <a:off x="2947988" y="1954213"/>
            <a:ext cx="509587"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RW!C1</a:t>
            </a:r>
            <a:endParaRPr lang="en-US" altLang="en-US" sz="1200" dirty="0">
              <a:latin typeface="Arial" panose="020B0604020202020204" pitchFamily="34" charset="0"/>
            </a:endParaRPr>
          </a:p>
        </p:txBody>
      </p:sp>
      <p:sp>
        <p:nvSpPr>
          <p:cNvPr id="31756" name="Text Box 17"/>
          <p:cNvSpPr txBox="1">
            <a:spLocks noChangeAspect="1"/>
          </p:cNvSpPr>
          <p:nvPr/>
        </p:nvSpPr>
        <p:spPr>
          <a:xfrm>
            <a:off x="3292475" y="4503738"/>
            <a:ext cx="103188"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31757" name="Text Box 18"/>
          <p:cNvSpPr txBox="1">
            <a:spLocks noChangeAspect="1"/>
          </p:cNvSpPr>
          <p:nvPr/>
        </p:nvSpPr>
        <p:spPr>
          <a:xfrm>
            <a:off x="5199063" y="4503738"/>
            <a:ext cx="95250"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a:t>
            </a:r>
            <a:endParaRPr lang="en-US" altLang="en-US" sz="1200" dirty="0">
              <a:latin typeface="Arial" panose="020B0604020202020204" pitchFamily="34" charset="0"/>
            </a:endParaRPr>
          </a:p>
        </p:txBody>
      </p:sp>
      <p:sp>
        <p:nvSpPr>
          <p:cNvPr id="31758" name="Text Box 19"/>
          <p:cNvSpPr txBox="1">
            <a:spLocks noChangeAspect="1"/>
          </p:cNvSpPr>
          <p:nvPr/>
        </p:nvSpPr>
        <p:spPr>
          <a:xfrm>
            <a:off x="287338" y="3646488"/>
            <a:ext cx="3916362" cy="369887"/>
          </a:xfrm>
          <a:prstGeom prst="rect">
            <a:avLst/>
          </a:prstGeom>
          <a:noFill/>
          <a:ln w="9525">
            <a:noFill/>
          </a:ln>
        </p:spPr>
        <p:txBody>
          <a:bodyPr wrap="none" lIns="9144" tIns="0" rIns="9144" bIns="0">
            <a:spAutoFit/>
          </a:bodyPr>
          <a:p>
            <a:pPr eaLnBrk="1" hangingPunct="1"/>
            <a:r>
              <a:rPr lang="en-US" altLang="en-US" sz="2400" dirty="0">
                <a:latin typeface="Calibri" panose="020F0502020204030204" pitchFamily="34" charset="0"/>
                <a:cs typeface="Calibri" panose="020F0502020204030204" pitchFamily="34" charset="0"/>
              </a:rPr>
              <a:t>Example:  Place a Trading order</a:t>
            </a:r>
            <a:endParaRPr lang="en-US" altLang="en-US" sz="2400" dirty="0">
              <a:latin typeface="Calibri" panose="020F0502020204030204" pitchFamily="34" charset="0"/>
              <a:ea typeface="Calibri" panose="020F0502020204030204" pitchFamily="34" charset="0"/>
            </a:endParaRPr>
          </a:p>
        </p:txBody>
      </p:sp>
      <p:sp>
        <p:nvSpPr>
          <p:cNvPr id="31759" name="Text Box 20"/>
          <p:cNvSpPr txBox="1">
            <a:spLocks noChangeAspect="1"/>
          </p:cNvSpPr>
          <p:nvPr/>
        </p:nvSpPr>
        <p:spPr>
          <a:xfrm>
            <a:off x="2060575" y="4414838"/>
            <a:ext cx="650875"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Information</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software</a:t>
            </a:r>
            <a:endParaRPr lang="en-US" altLang="en-US" sz="1000" i="1" dirty="0">
              <a:latin typeface="Arial" panose="020B0604020202020204" pitchFamily="34" charset="0"/>
            </a:endParaRPr>
          </a:p>
        </p:txBody>
      </p:sp>
      <p:sp>
        <p:nvSpPr>
          <p:cNvPr id="31760" name="Text Box 21"/>
          <p:cNvSpPr txBox="1">
            <a:spLocks noChangeAspect="1"/>
          </p:cNvSpPr>
          <p:nvPr/>
        </p:nvSpPr>
        <p:spPr>
          <a:xfrm>
            <a:off x="3998913" y="4033838"/>
            <a:ext cx="617537"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Real world</a:t>
            </a:r>
            <a:endParaRPr lang="en-US" altLang="en-US" sz="1000" i="1" dirty="0">
              <a:latin typeface="Arial" panose="020B0604020202020204" pitchFamily="34" charset="0"/>
            </a:endParaRPr>
          </a:p>
        </p:txBody>
      </p:sp>
      <p:sp>
        <p:nvSpPr>
          <p:cNvPr id="31761" name="Text Box 22"/>
          <p:cNvSpPr txBox="1">
            <a:spLocks noChangeAspect="1"/>
          </p:cNvSpPr>
          <p:nvPr/>
        </p:nvSpPr>
        <p:spPr>
          <a:xfrm>
            <a:off x="5938838" y="4414838"/>
            <a:ext cx="617537"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Display ~</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Real world</a:t>
            </a:r>
            <a:endParaRPr lang="en-US" altLang="en-US" sz="1000" i="1" dirty="0">
              <a:latin typeface="Arial" panose="020B0604020202020204" pitchFamily="34" charset="0"/>
            </a:endParaRPr>
          </a:p>
        </p:txBody>
      </p:sp>
      <p:sp>
        <p:nvSpPr>
          <p:cNvPr id="31762" name="Text Box 23"/>
          <p:cNvSpPr txBox="1">
            <a:spLocks noChangeAspect="1"/>
          </p:cNvSpPr>
          <p:nvPr/>
        </p:nvSpPr>
        <p:spPr>
          <a:xfrm>
            <a:off x="5248275" y="6151563"/>
            <a:ext cx="2081213" cy="365125"/>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c: TR! {Place[i], Cancel[i],        </a:t>
            </a:r>
            <a:endParaRPr lang="en-US" altLang="en-US" sz="1200" dirty="0">
              <a:latin typeface="Arial" panose="020B0604020202020204" pitchFamily="34" charset="0"/>
            </a:endParaRPr>
          </a:p>
          <a:p>
            <a:pPr algn="r" eaLnBrk="1" hangingPunct="1"/>
            <a:r>
              <a:rPr lang="en-US" altLang="en-US" sz="1200" dirty="0">
                <a:latin typeface="Arial" panose="020B0604020202020204" pitchFamily="34" charset="0"/>
              </a:rPr>
              <a:t>Executed[i], Expired[i]}  [Y3]</a:t>
            </a:r>
            <a:endParaRPr lang="en-US" altLang="en-US" sz="1200" dirty="0">
              <a:latin typeface="Arial" panose="020B0604020202020204" pitchFamily="34" charset="0"/>
            </a:endParaRPr>
          </a:p>
        </p:txBody>
      </p:sp>
      <p:sp>
        <p:nvSpPr>
          <p:cNvPr id="31763" name="Text Box 24"/>
          <p:cNvSpPr txBox="1">
            <a:spLocks noChangeAspect="1"/>
          </p:cNvSpPr>
          <p:nvPr/>
        </p:nvSpPr>
        <p:spPr>
          <a:xfrm>
            <a:off x="1508125" y="6151563"/>
            <a:ext cx="1717675"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TS! {Create[i]}       [E1]</a:t>
            </a:r>
            <a:endParaRPr lang="en-US" altLang="en-US" sz="1200" dirty="0">
              <a:latin typeface="Arial" panose="020B0604020202020204" pitchFamily="34" charset="0"/>
            </a:endParaRPr>
          </a:p>
        </p:txBody>
      </p:sp>
      <p:sp>
        <p:nvSpPr>
          <p:cNvPr id="31764" name="Text Box 25"/>
          <p:cNvSpPr txBox="1">
            <a:spLocks noChangeAspect="1"/>
          </p:cNvSpPr>
          <p:nvPr/>
        </p:nvSpPr>
        <p:spPr>
          <a:xfrm>
            <a:off x="1508125" y="6408738"/>
            <a:ext cx="2357438"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 TR! {PriceQuotes, Place[i]}  [Y2]</a:t>
            </a:r>
            <a:endParaRPr lang="en-US" altLang="en-US" sz="1200" dirty="0">
              <a:latin typeface="Arial" panose="020B0604020202020204" pitchFamily="34" charset="0"/>
            </a:endParaRPr>
          </a:p>
        </p:txBody>
      </p:sp>
      <p:grpSp>
        <p:nvGrpSpPr>
          <p:cNvPr id="31765" name="Group 26"/>
          <p:cNvGrpSpPr/>
          <p:nvPr/>
        </p:nvGrpSpPr>
        <p:grpSpPr>
          <a:xfrm>
            <a:off x="3841750" y="1724025"/>
            <a:ext cx="928688" cy="473075"/>
            <a:chOff x="2420" y="1390"/>
            <a:chExt cx="585" cy="298"/>
          </a:xfrm>
        </p:grpSpPr>
        <p:sp>
          <p:nvSpPr>
            <p:cNvPr id="31789" name="Rectangle 27"/>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Real</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world</a:t>
              </a:r>
              <a:endParaRPr lang="en-US" altLang="en-US" sz="1000" dirty="0">
                <a:latin typeface="Arial" panose="020B0604020202020204" pitchFamily="34" charset="0"/>
              </a:endParaRPr>
            </a:p>
          </p:txBody>
        </p:sp>
        <p:sp>
          <p:nvSpPr>
            <p:cNvPr id="31790" name="Rectangle 28"/>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grpSp>
        <p:nvGrpSpPr>
          <p:cNvPr id="31766" name="Group 29"/>
          <p:cNvGrpSpPr/>
          <p:nvPr/>
        </p:nvGrpSpPr>
        <p:grpSpPr>
          <a:xfrm>
            <a:off x="3841750" y="2794000"/>
            <a:ext cx="928688" cy="473075"/>
            <a:chOff x="2420" y="1390"/>
            <a:chExt cx="585" cy="298"/>
          </a:xfrm>
        </p:grpSpPr>
        <p:sp>
          <p:nvSpPr>
            <p:cNvPr id="31787" name="Rectangle 30"/>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Display</a:t>
              </a:r>
              <a:endParaRPr lang="en-US" altLang="en-US" sz="1000" dirty="0">
                <a:latin typeface="Arial" panose="020B0604020202020204" pitchFamily="34" charset="0"/>
              </a:endParaRPr>
            </a:p>
          </p:txBody>
        </p:sp>
        <p:sp>
          <p:nvSpPr>
            <p:cNvPr id="31788" name="Rectangle 31"/>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sp>
        <p:nvSpPr>
          <p:cNvPr id="31767" name="Text Box 32"/>
          <p:cNvSpPr txBox="1">
            <a:spLocks noChangeAspect="1"/>
          </p:cNvSpPr>
          <p:nvPr/>
        </p:nvSpPr>
        <p:spPr>
          <a:xfrm>
            <a:off x="3057525" y="2890838"/>
            <a:ext cx="392113"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IS!E2</a:t>
            </a:r>
            <a:endParaRPr lang="en-US" altLang="en-US" sz="1200" dirty="0">
              <a:latin typeface="Arial" panose="020B0604020202020204" pitchFamily="34" charset="0"/>
            </a:endParaRPr>
          </a:p>
        </p:txBody>
      </p:sp>
      <p:sp>
        <p:nvSpPr>
          <p:cNvPr id="31768" name="Text Box 33"/>
          <p:cNvSpPr txBox="1">
            <a:spLocks noChangeAspect="1"/>
          </p:cNvSpPr>
          <p:nvPr/>
        </p:nvSpPr>
        <p:spPr>
          <a:xfrm>
            <a:off x="5233988" y="2878138"/>
            <a:ext cx="2047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Y4</a:t>
            </a:r>
            <a:endParaRPr lang="en-US" altLang="en-US" sz="1200" dirty="0">
              <a:latin typeface="Arial" panose="020B0604020202020204" pitchFamily="34" charset="0"/>
            </a:endParaRPr>
          </a:p>
        </p:txBody>
      </p:sp>
      <p:cxnSp>
        <p:nvCxnSpPr>
          <p:cNvPr id="31769" name="AutoShape 34"/>
          <p:cNvCxnSpPr>
            <a:cxnSpLocks noChangeAspect="1"/>
            <a:endCxn id="31782" idx="3"/>
          </p:cNvCxnSpPr>
          <p:nvPr/>
        </p:nvCxnSpPr>
        <p:spPr>
          <a:xfrm flipH="1" flipV="1">
            <a:off x="4770438" y="4551363"/>
            <a:ext cx="1017587" cy="433387"/>
          </a:xfrm>
          <a:prstGeom prst="straightConnector1">
            <a:avLst/>
          </a:prstGeom>
          <a:ln w="19050" cap="flat" cmpd="sng">
            <a:solidFill>
              <a:schemeClr val="tx1"/>
            </a:solidFill>
            <a:prstDash val="lgDash"/>
            <a:headEnd type="none" w="med" len="med"/>
            <a:tailEnd type="triangle" w="lg" len="lg"/>
          </a:ln>
        </p:spPr>
      </p:cxnSp>
      <p:cxnSp>
        <p:nvCxnSpPr>
          <p:cNvPr id="31770" name="AutoShape 35"/>
          <p:cNvCxnSpPr>
            <a:cxnSpLocks noChangeAspect="1"/>
            <a:endCxn id="31780" idx="3"/>
          </p:cNvCxnSpPr>
          <p:nvPr/>
        </p:nvCxnSpPr>
        <p:spPr>
          <a:xfrm flipH="1">
            <a:off x="4770438" y="5189538"/>
            <a:ext cx="1017587" cy="431800"/>
          </a:xfrm>
          <a:prstGeom prst="straightConnector1">
            <a:avLst/>
          </a:prstGeom>
          <a:ln w="19050" cap="flat" cmpd="sng">
            <a:solidFill>
              <a:schemeClr val="tx1"/>
            </a:solidFill>
            <a:prstDash val="lgDash"/>
            <a:headEnd type="none" w="med" len="med"/>
            <a:tailEnd type="none" w="lg" len="lg"/>
          </a:ln>
        </p:spPr>
      </p:cxnSp>
      <p:cxnSp>
        <p:nvCxnSpPr>
          <p:cNvPr id="31771" name="AutoShape 36"/>
          <p:cNvCxnSpPr>
            <a:cxnSpLocks noChangeAspect="1"/>
            <a:endCxn id="31782" idx="1"/>
          </p:cNvCxnSpPr>
          <p:nvPr/>
        </p:nvCxnSpPr>
        <p:spPr>
          <a:xfrm flipV="1">
            <a:off x="2859088" y="4551363"/>
            <a:ext cx="982662" cy="433387"/>
          </a:xfrm>
          <a:prstGeom prst="straightConnector1">
            <a:avLst/>
          </a:prstGeom>
          <a:ln w="19050" cap="flat" cmpd="sng">
            <a:solidFill>
              <a:schemeClr val="tx1"/>
            </a:solidFill>
            <a:prstDash val="solid"/>
            <a:headEnd type="none" w="med" len="med"/>
            <a:tailEnd type="none" w="med" len="med"/>
          </a:ln>
        </p:spPr>
      </p:cxnSp>
      <p:cxnSp>
        <p:nvCxnSpPr>
          <p:cNvPr id="31772" name="AutoShape 37"/>
          <p:cNvCxnSpPr>
            <a:cxnSpLocks noChangeAspect="1"/>
            <a:endCxn id="31780" idx="1"/>
          </p:cNvCxnSpPr>
          <p:nvPr/>
        </p:nvCxnSpPr>
        <p:spPr>
          <a:xfrm>
            <a:off x="2859088" y="5189538"/>
            <a:ext cx="982662" cy="431800"/>
          </a:xfrm>
          <a:prstGeom prst="straightConnector1">
            <a:avLst/>
          </a:prstGeom>
          <a:ln w="19050" cap="flat" cmpd="sng">
            <a:solidFill>
              <a:schemeClr val="tx1"/>
            </a:solidFill>
            <a:prstDash val="solid"/>
            <a:headEnd type="none" w="med" len="med"/>
            <a:tailEnd type="none" w="med" len="med"/>
          </a:ln>
        </p:spPr>
      </p:cxnSp>
      <p:grpSp>
        <p:nvGrpSpPr>
          <p:cNvPr id="31773" name="Group 38"/>
          <p:cNvGrpSpPr>
            <a:grpSpLocks noChangeAspect="1"/>
          </p:cNvGrpSpPr>
          <p:nvPr/>
        </p:nvGrpSpPr>
        <p:grpSpPr>
          <a:xfrm>
            <a:off x="1914525" y="4849813"/>
            <a:ext cx="941388" cy="473075"/>
            <a:chOff x="1499" y="1740"/>
            <a:chExt cx="744" cy="374"/>
          </a:xfrm>
        </p:grpSpPr>
        <p:sp>
          <p:nvSpPr>
            <p:cNvPr id="31784" name="Rectangle 39"/>
            <p:cNvSpPr>
              <a:spLocks noChangeAspect="1"/>
            </p:cNvSpPr>
            <p:nvPr/>
          </p:nvSpPr>
          <p:spPr>
            <a:xfrm>
              <a:off x="1667" y="1740"/>
              <a:ext cx="576" cy="374"/>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sp>
          <p:nvSpPr>
            <p:cNvPr id="31785" name="Rectangle 40"/>
            <p:cNvSpPr>
              <a:spLocks noChangeAspect="1"/>
            </p:cNvSpPr>
            <p:nvPr/>
          </p:nvSpPr>
          <p:spPr>
            <a:xfrm>
              <a:off x="1499" y="1740"/>
              <a:ext cx="168" cy="3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31786" name="Line 41"/>
            <p:cNvSpPr>
              <a:spLocks noChangeAspect="1"/>
            </p:cNvSpPr>
            <p:nvPr/>
          </p:nvSpPr>
          <p:spPr>
            <a:xfrm>
              <a:off x="1583" y="1740"/>
              <a:ext cx="0" cy="374"/>
            </a:xfrm>
            <a:prstGeom prst="line">
              <a:avLst/>
            </a:prstGeom>
            <a:ln w="9525" cap="flat" cmpd="sng">
              <a:solidFill>
                <a:schemeClr val="tx1"/>
              </a:solidFill>
              <a:prstDash val="solid"/>
              <a:headEnd type="none" w="med" len="med"/>
              <a:tailEnd type="none" w="med" len="med"/>
            </a:ln>
          </p:spPr>
        </p:sp>
      </p:grpSp>
      <p:sp>
        <p:nvSpPr>
          <p:cNvPr id="31774" name="Oval 42"/>
          <p:cNvSpPr>
            <a:spLocks noChangeAspect="1"/>
          </p:cNvSpPr>
          <p:nvPr/>
        </p:nvSpPr>
        <p:spPr>
          <a:xfrm>
            <a:off x="5738813" y="48498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D</a:t>
            </a:r>
            <a:endParaRPr lang="en-US" altLang="en-US" sz="1000" dirty="0">
              <a:latin typeface="Arial" panose="020B0604020202020204" pitchFamily="34" charset="0"/>
            </a:endParaRPr>
          </a:p>
        </p:txBody>
      </p:sp>
      <p:grpSp>
        <p:nvGrpSpPr>
          <p:cNvPr id="31775" name="Group 43"/>
          <p:cNvGrpSpPr/>
          <p:nvPr/>
        </p:nvGrpSpPr>
        <p:grpSpPr>
          <a:xfrm>
            <a:off x="3841750" y="4314825"/>
            <a:ext cx="928688" cy="473075"/>
            <a:chOff x="2420" y="1390"/>
            <a:chExt cx="585" cy="298"/>
          </a:xfrm>
        </p:grpSpPr>
        <p:sp>
          <p:nvSpPr>
            <p:cNvPr id="31782" name="Rectangle 44"/>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A</a:t>
              </a:r>
              <a:endParaRPr lang="en-US" altLang="en-US" sz="1000" dirty="0">
                <a:latin typeface="Arial" panose="020B0604020202020204" pitchFamily="34" charset="0"/>
              </a:endParaRPr>
            </a:p>
          </p:txBody>
        </p:sp>
        <p:sp>
          <p:nvSpPr>
            <p:cNvPr id="31783" name="Rectangle 45"/>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grpSp>
        <p:nvGrpSpPr>
          <p:cNvPr id="31776" name="Group 46"/>
          <p:cNvGrpSpPr/>
          <p:nvPr/>
        </p:nvGrpSpPr>
        <p:grpSpPr>
          <a:xfrm>
            <a:off x="3841750" y="5384800"/>
            <a:ext cx="928688" cy="473075"/>
            <a:chOff x="2420" y="1390"/>
            <a:chExt cx="585" cy="298"/>
          </a:xfrm>
        </p:grpSpPr>
        <p:sp>
          <p:nvSpPr>
            <p:cNvPr id="31780" name="Rectangle 47"/>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sp>
          <p:nvSpPr>
            <p:cNvPr id="31781" name="Rectangle 48"/>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C</a:t>
              </a:r>
              <a:endParaRPr lang="en-US" altLang="en-US" sz="1000" dirty="0">
                <a:latin typeface="Arial" panose="020B0604020202020204" pitchFamily="34" charset="0"/>
              </a:endParaRPr>
            </a:p>
          </p:txBody>
        </p:sp>
      </p:grpSp>
      <p:sp>
        <p:nvSpPr>
          <p:cNvPr id="31777" name="Text Box 49"/>
          <p:cNvSpPr txBox="1">
            <a:spLocks noChangeAspect="1"/>
          </p:cNvSpPr>
          <p:nvPr/>
        </p:nvSpPr>
        <p:spPr>
          <a:xfrm>
            <a:off x="4089400" y="5953125"/>
            <a:ext cx="434975"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Display</a:t>
            </a:r>
            <a:endParaRPr lang="en-US" altLang="en-US" sz="1000" i="1" dirty="0">
              <a:latin typeface="Arial" panose="020B0604020202020204" pitchFamily="34" charset="0"/>
            </a:endParaRPr>
          </a:p>
        </p:txBody>
      </p:sp>
      <p:sp>
        <p:nvSpPr>
          <p:cNvPr id="31778" name="Text Box 50"/>
          <p:cNvSpPr txBox="1">
            <a:spLocks noChangeAspect="1"/>
          </p:cNvSpPr>
          <p:nvPr/>
        </p:nvSpPr>
        <p:spPr>
          <a:xfrm>
            <a:off x="3292475" y="5470525"/>
            <a:ext cx="103188"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31779" name="Text Box 51"/>
          <p:cNvSpPr txBox="1">
            <a:spLocks noChangeAspect="1"/>
          </p:cNvSpPr>
          <p:nvPr/>
        </p:nvSpPr>
        <p:spPr>
          <a:xfrm>
            <a:off x="5195888" y="5470525"/>
            <a:ext cx="103187"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d</a:t>
            </a:r>
            <a:endParaRPr lang="en-US" altLang="en-US" sz="120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70" name="Group 45"/>
          <p:cNvGrpSpPr/>
          <p:nvPr/>
        </p:nvGrpSpPr>
        <p:grpSpPr>
          <a:xfrm>
            <a:off x="392113" y="1474788"/>
            <a:ext cx="5241925" cy="2851150"/>
            <a:chOff x="247" y="929"/>
            <a:chExt cx="3302" cy="1796"/>
          </a:xfrm>
        </p:grpSpPr>
        <p:sp>
          <p:nvSpPr>
            <p:cNvPr id="32776" name="Freeform 46"/>
            <p:cNvSpPr>
              <a:spLocks noChangeAspect="1"/>
            </p:cNvSpPr>
            <p:nvPr/>
          </p:nvSpPr>
          <p:spPr>
            <a:xfrm>
              <a:off x="299" y="975"/>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rgbClr val="DDDDDD">
                <a:alpha val="100000"/>
              </a:srgbClr>
            </a:solidFill>
            <a:ln w="3175" cap="flat" cmpd="sng">
              <a:solidFill>
                <a:srgbClr val="DDDDDD">
                  <a:alpha val="100000"/>
                </a:srgbClr>
              </a:solidFill>
              <a:prstDash val="solid"/>
              <a:round/>
              <a:headEnd type="none" w="med" len="med"/>
              <a:tailEnd type="none" w="med" len="med"/>
            </a:ln>
          </p:spPr>
          <p:txBody>
            <a:bodyPr/>
            <a:p>
              <a:endParaRPr lang="zh-CN" altLang="en-US"/>
            </a:p>
          </p:txBody>
        </p:sp>
        <p:sp>
          <p:nvSpPr>
            <p:cNvPr id="32777" name="Freeform 47"/>
            <p:cNvSpPr>
              <a:spLocks noChangeAspect="1"/>
            </p:cNvSpPr>
            <p:nvPr/>
          </p:nvSpPr>
          <p:spPr>
            <a:xfrm>
              <a:off x="247" y="929"/>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2778" name="Freeform 48"/>
            <p:cNvSpPr>
              <a:spLocks noChangeAspect="1"/>
            </p:cNvSpPr>
            <p:nvPr/>
          </p:nvSpPr>
          <p:spPr>
            <a:xfrm>
              <a:off x="268" y="1157"/>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79" name="Freeform 49"/>
            <p:cNvSpPr>
              <a:spLocks noChangeAspect="1"/>
            </p:cNvSpPr>
            <p:nvPr/>
          </p:nvSpPr>
          <p:spPr>
            <a:xfrm>
              <a:off x="263" y="13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0" name="Freeform 50"/>
            <p:cNvSpPr>
              <a:spLocks noChangeAspect="1"/>
            </p:cNvSpPr>
            <p:nvPr/>
          </p:nvSpPr>
          <p:spPr>
            <a:xfrm>
              <a:off x="258" y="1641"/>
              <a:ext cx="3233" cy="21"/>
            </a:xfrm>
            <a:custGeom>
              <a:avLst/>
              <a:gdLst>
                <a:gd name="txL" fmla="*/ 0 w 3049"/>
                <a:gd name="txT" fmla="*/ 0 h 26"/>
                <a:gd name="txR" fmla="*/ 3049 w 3049"/>
                <a:gd name="txB" fmla="*/ 26 h 26"/>
              </a:gdLst>
              <a:ahLst/>
              <a:cxnLst>
                <a:cxn ang="0">
                  <a:pos x="46" y="2"/>
                </a:cxn>
                <a:cxn ang="0">
                  <a:pos x="777" y="2"/>
                </a:cxn>
                <a:cxn ang="0">
                  <a:pos x="4710" y="2"/>
                </a:cxn>
                <a:cxn ang="0">
                  <a:pos x="5392"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1" name="Freeform 51"/>
            <p:cNvSpPr>
              <a:spLocks noChangeAspect="1"/>
            </p:cNvSpPr>
            <p:nvPr/>
          </p:nvSpPr>
          <p:spPr>
            <a:xfrm>
              <a:off x="258" y="1788"/>
              <a:ext cx="3233" cy="23"/>
            </a:xfrm>
            <a:custGeom>
              <a:avLst/>
              <a:gdLst>
                <a:gd name="txL" fmla="*/ 0 w 3049"/>
                <a:gd name="txT" fmla="*/ 0 h 26"/>
                <a:gd name="txR" fmla="*/ 3049 w 3049"/>
                <a:gd name="txB" fmla="*/ 26 h 26"/>
              </a:gdLst>
              <a:ahLst/>
              <a:cxnLst>
                <a:cxn ang="0">
                  <a:pos x="46" y="6"/>
                </a:cxn>
                <a:cxn ang="0">
                  <a:pos x="777" y="7"/>
                </a:cxn>
                <a:cxn ang="0">
                  <a:pos x="4710" y="3"/>
                </a:cxn>
                <a:cxn ang="0">
                  <a:pos x="5392" y="4"/>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2" name="Freeform 52"/>
            <p:cNvSpPr>
              <a:spLocks noChangeAspect="1"/>
            </p:cNvSpPr>
            <p:nvPr/>
          </p:nvSpPr>
          <p:spPr>
            <a:xfrm>
              <a:off x="263" y="2102"/>
              <a:ext cx="3232" cy="19"/>
            </a:xfrm>
            <a:custGeom>
              <a:avLst/>
              <a:gdLst>
                <a:gd name="txL" fmla="*/ 0 w 3049"/>
                <a:gd name="txT" fmla="*/ 0 h 26"/>
                <a:gd name="txR" fmla="*/ 3049 w 3049"/>
                <a:gd name="txB" fmla="*/ 26 h 26"/>
              </a:gdLst>
              <a:ahLst/>
              <a:cxnLst>
                <a:cxn ang="0">
                  <a:pos x="46" y="1"/>
                </a:cxn>
                <a:cxn ang="0">
                  <a:pos x="776" y="1"/>
                </a:cxn>
                <a:cxn ang="0">
                  <a:pos x="4696" y="1"/>
                </a:cxn>
                <a:cxn ang="0">
                  <a:pos x="5375" y="1"/>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3" name="Freeform 53"/>
            <p:cNvSpPr>
              <a:spLocks noChangeAspect="1"/>
            </p:cNvSpPr>
            <p:nvPr/>
          </p:nvSpPr>
          <p:spPr>
            <a:xfrm>
              <a:off x="268" y="22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4" name="Freeform 54"/>
            <p:cNvSpPr>
              <a:spLocks noChangeAspect="1"/>
            </p:cNvSpPr>
            <p:nvPr/>
          </p:nvSpPr>
          <p:spPr>
            <a:xfrm>
              <a:off x="268" y="23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5" name="Freeform 55"/>
            <p:cNvSpPr>
              <a:spLocks noChangeAspect="1"/>
            </p:cNvSpPr>
            <p:nvPr/>
          </p:nvSpPr>
          <p:spPr>
            <a:xfrm>
              <a:off x="258" y="14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6" name="Freeform 56"/>
            <p:cNvSpPr>
              <a:spLocks noChangeAspect="1"/>
            </p:cNvSpPr>
            <p:nvPr/>
          </p:nvSpPr>
          <p:spPr>
            <a:xfrm>
              <a:off x="276" y="195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2787" name="Freeform 57"/>
            <p:cNvSpPr>
              <a:spLocks noChangeAspect="1"/>
            </p:cNvSpPr>
            <p:nvPr/>
          </p:nvSpPr>
          <p:spPr>
            <a:xfrm>
              <a:off x="271" y="2530"/>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grpSp>
      <p:sp>
        <p:nvSpPr>
          <p:cNvPr id="38915" name="Rectangle 2"/>
          <p:cNvSpPr>
            <a:spLocks noGrp="1" noChangeArrowheads="1"/>
          </p:cNvSpPr>
          <p:nvPr>
            <p:ph type="title"/>
          </p:nvPr>
        </p:nvSpPr>
        <p:spPr>
          <a:xfrm>
            <a:off x="269875" y="136525"/>
            <a:ext cx="8850313" cy="1143000"/>
          </a:xfrm>
        </p:spPr>
        <p:txBody>
          <a:bodyPr vert="horz" wrap="square" lIns="0" tIns="45720" rIns="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t>Information Visualization</a:t>
            </a:r>
            <a:b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br>
            <a:r>
              <a:rPr kumimoji="0" lang="en-US" altLang="en-US" sz="32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t>- </a:t>
            </a:r>
            <a:r>
              <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Frame Concern Checklist</a:t>
            </a:r>
            <a:endParaRPr kumimoji="0" lang="en-US" altLang="en-US" sz="32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32772" name="Text Box 41"/>
          <p:cNvSpPr txBox="1"/>
          <p:nvPr/>
        </p:nvSpPr>
        <p:spPr>
          <a:xfrm>
            <a:off x="644525" y="1504950"/>
            <a:ext cx="4868863" cy="2593975"/>
          </a:xfrm>
          <a:prstGeom prst="rect">
            <a:avLst/>
          </a:prstGeom>
          <a:noFill/>
          <a:ln w="9525">
            <a:noFill/>
          </a:ln>
        </p:spPr>
        <p:txBody>
          <a:bodyPr wrap="none">
            <a:spAutoFit/>
          </a:bodyPr>
          <a:p>
            <a:pPr eaLnBrk="1" hangingPunct="1"/>
            <a:r>
              <a:rPr lang="en-US" altLang="en-US" sz="1600" b="1" dirty="0">
                <a:latin typeface="Calibri" panose="020F0502020204030204" pitchFamily="34" charset="0"/>
                <a:cs typeface="Calibri" panose="020F0502020204030204" pitchFamily="34" charset="0"/>
              </a:rPr>
              <a:t>Information Display Frame Checklist</a:t>
            </a:r>
            <a:endParaRPr lang="en-US" altLang="en-US" sz="1600" b="1" dirty="0">
              <a:latin typeface="Calibri" panose="020F0502020204030204" pitchFamily="34" charset="0"/>
              <a:cs typeface="Calibri" panose="020F0502020204030204" pitchFamily="34" charset="0"/>
            </a:endParaRPr>
          </a:p>
          <a:p>
            <a:pPr eaLnBrk="1" hangingPunct="1">
              <a:lnSpc>
                <a:spcPct val="70000"/>
              </a:lnSpc>
            </a:pPr>
            <a:endParaRPr lang="en-US" altLang="en-US" sz="1200" dirty="0">
              <a:latin typeface="Calibri" panose="020F0502020204030204" pitchFamily="34" charset="0"/>
              <a:cs typeface="Calibri" panose="020F0502020204030204" pitchFamily="34" charset="0"/>
            </a:endParaRPr>
          </a:p>
          <a:p>
            <a:pPr eaLnBrk="1" hangingPunct="1">
              <a:buFont typeface="Wingdings" panose="05000000000000000000" pitchFamily="2" charset="2"/>
              <a:buChar char="q"/>
            </a:pPr>
            <a:r>
              <a:rPr lang="en-US" altLang="en-US" sz="1400" dirty="0">
                <a:latin typeface="Calibri" panose="020F0502020204030204" pitchFamily="34" charset="0"/>
                <a:cs typeface="Calibri" panose="020F0502020204030204" pitchFamily="34" charset="0"/>
              </a:rPr>
              <a:t>Required information to observe:</a:t>
            </a:r>
            <a:endParaRPr lang="en-US" altLang="en-US" sz="1400" dirty="0">
              <a:latin typeface="Calibri" panose="020F0502020204030204" pitchFamily="34" charset="0"/>
              <a:cs typeface="Calibri" panose="020F0502020204030204" pitchFamily="34" charset="0"/>
            </a:endParaRPr>
          </a:p>
          <a:p>
            <a:pPr marL="501650" lvl="1" indent="-228600" eaLnBrk="1" hangingPunct="1">
              <a:spcBef>
                <a:spcPct val="20000"/>
              </a:spcBef>
              <a:buSzPct val="80000"/>
              <a:buFont typeface="Wingdings" panose="05000000000000000000" pitchFamily="2" charset="2"/>
              <a:buChar char="o"/>
            </a:pPr>
            <a:r>
              <a:rPr lang="en-US" altLang="en-US" sz="1400" dirty="0">
                <a:latin typeface="Calibri" panose="020F0502020204030204" pitchFamily="34" charset="0"/>
                <a:cs typeface="Calibri" panose="020F0502020204030204" pitchFamily="34" charset="0"/>
              </a:rPr>
              <a:t>Capabilities of available “sensors”</a:t>
            </a:r>
            <a:endParaRPr lang="en-US" altLang="en-US" sz="1400" dirty="0">
              <a:latin typeface="Calibri" panose="020F0502020204030204" pitchFamily="34" charset="0"/>
              <a:cs typeface="Calibri" panose="020F0502020204030204" pitchFamily="34" charset="0"/>
            </a:endParaRPr>
          </a:p>
          <a:p>
            <a:pPr eaLnBrk="1" hangingPunct="1">
              <a:spcBef>
                <a:spcPts val="1800"/>
              </a:spcBef>
              <a:buFont typeface="Wingdings" panose="05000000000000000000" pitchFamily="2" charset="2"/>
              <a:buChar char="q"/>
            </a:pPr>
            <a:r>
              <a:rPr lang="en-US" altLang="en-US" sz="1400" dirty="0">
                <a:latin typeface="Calibri" panose="020F0502020204030204" pitchFamily="34" charset="0"/>
                <a:cs typeface="Calibri" panose="020F0502020204030204" pitchFamily="34" charset="0"/>
              </a:rPr>
              <a:t>Required information to visualize:</a:t>
            </a:r>
            <a:endParaRPr lang="en-US" altLang="en-US" sz="1400" dirty="0">
              <a:latin typeface="Calibri" panose="020F0502020204030204" pitchFamily="34" charset="0"/>
              <a:cs typeface="Calibri" panose="020F0502020204030204" pitchFamily="34" charset="0"/>
            </a:endParaRPr>
          </a:p>
          <a:p>
            <a:pPr marL="501650" lvl="1" indent="-228600" eaLnBrk="1" hangingPunct="1">
              <a:spcBef>
                <a:spcPct val="20000"/>
              </a:spcBef>
              <a:buSzPct val="80000"/>
              <a:buFont typeface="Wingdings" panose="05000000000000000000" pitchFamily="2" charset="2"/>
              <a:buChar char="o"/>
            </a:pPr>
            <a:r>
              <a:rPr lang="en-US" altLang="en-US" sz="1400" dirty="0">
                <a:latin typeface="Calibri" panose="020F0502020204030204" pitchFamily="34" charset="0"/>
                <a:cs typeface="Calibri" panose="020F0502020204030204" pitchFamily="34" charset="0"/>
              </a:rPr>
              <a:t>Visualization description</a:t>
            </a:r>
            <a:endParaRPr lang="en-US" altLang="en-US" sz="1400" dirty="0">
              <a:latin typeface="Calibri" panose="020F0502020204030204" pitchFamily="34" charset="0"/>
              <a:cs typeface="Calibri" panose="020F0502020204030204" pitchFamily="34" charset="0"/>
            </a:endParaRPr>
          </a:p>
          <a:p>
            <a:pPr eaLnBrk="1" hangingPunct="1">
              <a:spcBef>
                <a:spcPts val="2000"/>
              </a:spcBef>
              <a:buFont typeface="Wingdings" panose="05000000000000000000" pitchFamily="2" charset="2"/>
              <a:buChar char="q"/>
            </a:pPr>
            <a:r>
              <a:rPr lang="en-US" altLang="en-US" sz="1400" dirty="0">
                <a:latin typeface="Calibri" panose="020F0502020204030204" pitchFamily="34" charset="0"/>
                <a:cs typeface="Calibri" panose="020F0502020204030204" pitchFamily="34" charset="0"/>
              </a:rPr>
              <a:t>Rules for visualization of the observed information:</a:t>
            </a:r>
            <a:endParaRPr lang="en-US" altLang="en-US" sz="1400" dirty="0">
              <a:latin typeface="Calibri" panose="020F0502020204030204" pitchFamily="34" charset="0"/>
              <a:cs typeface="Calibri" panose="020F0502020204030204" pitchFamily="34" charset="0"/>
            </a:endParaRPr>
          </a:p>
          <a:p>
            <a:pPr marL="501650" lvl="1" indent="-228600" eaLnBrk="1" hangingPunct="1">
              <a:spcBef>
                <a:spcPct val="20000"/>
              </a:spcBef>
              <a:buSzPct val="80000"/>
              <a:buFont typeface="Wingdings" panose="05000000000000000000" pitchFamily="2" charset="2"/>
              <a:buChar char="o"/>
            </a:pPr>
            <a:r>
              <a:rPr lang="en-US" altLang="en-US" sz="1400" dirty="0">
                <a:latin typeface="Calibri" panose="020F0502020204030204" pitchFamily="34" charset="0"/>
                <a:cs typeface="Calibri" panose="020F0502020204030204" pitchFamily="34" charset="0"/>
              </a:rPr>
              <a:t>The transformations needed to process the raw observed</a:t>
            </a:r>
            <a:br>
              <a:rPr lang="en-US" altLang="en-US" sz="1400" dirty="0">
                <a:latin typeface="Calibri" panose="020F0502020204030204" pitchFamily="34" charset="0"/>
                <a:cs typeface="Calibri" panose="020F0502020204030204" pitchFamily="34" charset="0"/>
              </a:rPr>
            </a:br>
            <a:r>
              <a:rPr lang="en-US" altLang="en-US" sz="1400" dirty="0">
                <a:latin typeface="Calibri" panose="020F0502020204030204" pitchFamily="34" charset="0"/>
                <a:cs typeface="Calibri" panose="020F0502020204030204" pitchFamily="34" charset="0"/>
              </a:rPr>
              <a:t>information to obtain displayable information</a:t>
            </a:r>
            <a:endParaRPr lang="en-US" altLang="en-US" sz="1400" dirty="0">
              <a:latin typeface="Calibri" panose="020F0502020204030204" pitchFamily="34" charset="0"/>
              <a:ea typeface="Calibri" panose="020F0502020204030204" pitchFamily="34" charset="0"/>
            </a:endParaRPr>
          </a:p>
        </p:txBody>
      </p:sp>
      <p:sp>
        <p:nvSpPr>
          <p:cNvPr id="32773" name="Text Box 42"/>
          <p:cNvSpPr txBox="1">
            <a:spLocks noChangeAspect="1"/>
          </p:cNvSpPr>
          <p:nvPr/>
        </p:nvSpPr>
        <p:spPr>
          <a:xfrm>
            <a:off x="409575" y="5076825"/>
            <a:ext cx="5094288" cy="1279525"/>
          </a:xfrm>
          <a:prstGeom prst="rect">
            <a:avLst/>
          </a:prstGeom>
          <a:noFill/>
          <a:ln w="9525">
            <a:noFill/>
          </a:ln>
        </p:spPr>
        <p:txBody>
          <a:bodyPr wrap="none" lIns="9144" tIns="0" rIns="9144" bIns="0">
            <a:spAutoFit/>
          </a:bodyPr>
          <a:p>
            <a:pPr eaLnBrk="1" hangingPunct="1"/>
            <a:r>
              <a:rPr lang="en-US" altLang="en-US" sz="1200" u="sng" dirty="0">
                <a:latin typeface="Comic Sans MS" panose="030F0702030302020204" pitchFamily="66" charset="0"/>
              </a:rPr>
              <a:t>Information to observe for REQ8</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Database records of past accesses</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Required information to visualize for REQ8</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Access information will be displayed as stored, without post-processing</a:t>
            </a:r>
            <a:endParaRPr lang="en-US" altLang="en-US" sz="1200" dirty="0">
              <a:latin typeface="Comic Sans MS" panose="030F0702030302020204" pitchFamily="66" charset="0"/>
            </a:endParaRPr>
          </a:p>
          <a:p>
            <a:pPr eaLnBrk="1" hangingPunct="1">
              <a:spcBef>
                <a:spcPct val="50000"/>
              </a:spcBef>
            </a:pPr>
            <a:r>
              <a:rPr lang="en-US" altLang="en-US" sz="1200" u="sng" dirty="0">
                <a:latin typeface="Comic Sans MS" panose="030F0702030302020204" pitchFamily="66" charset="0"/>
              </a:rPr>
              <a:t>Rules for visualization for REQ8</a:t>
            </a:r>
            <a:r>
              <a:rPr lang="en-US" altLang="en-US" sz="1200" dirty="0">
                <a:latin typeface="Comic Sans MS" panose="030F0702030302020204" pitchFamily="66" charset="0"/>
              </a:rPr>
              <a:t>:</a:t>
            </a:r>
            <a:endParaRPr lang="en-US" altLang="en-US" sz="1200" dirty="0">
              <a:latin typeface="Comic Sans MS" panose="030F0702030302020204" pitchFamily="66" charset="0"/>
            </a:endParaRPr>
          </a:p>
          <a:p>
            <a:pPr eaLnBrk="1" hangingPunct="1"/>
            <a:r>
              <a:rPr lang="en-US" altLang="en-US" sz="1200" dirty="0">
                <a:latin typeface="Comic Sans MS" panose="030F0702030302020204" pitchFamily="66" charset="0"/>
              </a:rPr>
              <a:t>Render the result of the query as an HTML table</a:t>
            </a:r>
            <a:endParaRPr lang="en-US" altLang="en-US" sz="1200" dirty="0">
              <a:latin typeface="Comic Sans MS" panose="030F0702030302020204" pitchFamily="66" charset="0"/>
            </a:endParaRPr>
          </a:p>
        </p:txBody>
      </p:sp>
      <p:sp>
        <p:nvSpPr>
          <p:cNvPr id="32774" name="Rectangle 43"/>
          <p:cNvSpPr/>
          <p:nvPr/>
        </p:nvSpPr>
        <p:spPr>
          <a:xfrm>
            <a:off x="201613" y="4608513"/>
            <a:ext cx="7308850" cy="336550"/>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 — REQ8: inspecting the access history ]</a:t>
            </a:r>
            <a:endParaRPr lang="en-US" altLang="en-US" sz="1600" dirty="0">
              <a:solidFill>
                <a:srgbClr val="777777"/>
              </a:solidFill>
              <a:latin typeface="Comic Sans MS" panose="030F0702030302020204" pitchFamily="66" charset="0"/>
            </a:endParaRPr>
          </a:p>
        </p:txBody>
      </p:sp>
      <p:sp>
        <p:nvSpPr>
          <p:cNvPr id="32775" name="Rectangle 44"/>
          <p:cNvSpPr/>
          <p:nvPr/>
        </p:nvSpPr>
        <p:spPr>
          <a:xfrm>
            <a:off x="5621338" y="2228850"/>
            <a:ext cx="3436937" cy="825500"/>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a:t>
            </a:r>
            <a:endParaRPr lang="en-US" altLang="en-US" sz="1600" dirty="0">
              <a:solidFill>
                <a:srgbClr val="777777"/>
              </a:solidFill>
              <a:latin typeface="Comic Sans MS" panose="030F0702030302020204" pitchFamily="66" charset="0"/>
            </a:endParaRPr>
          </a:p>
          <a:p>
            <a:pPr eaLnBrk="1" hangingPunct="1"/>
            <a:r>
              <a:rPr lang="en-US" altLang="en-US" sz="1600" dirty="0">
                <a:solidFill>
                  <a:srgbClr val="777777"/>
                </a:solidFill>
                <a:latin typeface="Comic Sans MS" panose="030F0702030302020204" pitchFamily="66" charset="0"/>
              </a:rPr>
              <a:t> — REQ5: maintain a history log</a:t>
            </a:r>
            <a:endParaRPr lang="en-US" altLang="en-US" sz="1600" dirty="0">
              <a:solidFill>
                <a:srgbClr val="777777"/>
              </a:solidFill>
              <a:latin typeface="Comic Sans MS" panose="030F0702030302020204" pitchFamily="66" charset="0"/>
            </a:endParaRPr>
          </a:p>
          <a:p>
            <a:pPr eaLnBrk="1" hangingPunct="1"/>
            <a:r>
              <a:rPr lang="en-US" altLang="en-US" sz="1600" dirty="0">
                <a:solidFill>
                  <a:srgbClr val="777777"/>
                </a:solidFill>
                <a:latin typeface="Comic Sans MS" panose="030F0702030302020204" pitchFamily="66" charset="0"/>
              </a:rPr>
              <a:t>     (database is the “display”) ]</a:t>
            </a:r>
            <a:endParaRPr lang="en-US" altLang="en-US" sz="1600" dirty="0">
              <a:solidFill>
                <a:srgbClr val="777777"/>
              </a:solidFill>
              <a:latin typeface="Comic Sans MS" panose="030F0702030302020204" pitchFamily="66"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33794" name="AutoShape 4"/>
          <p:cNvCxnSpPr>
            <a:cxnSpLocks noChangeAspect="1"/>
            <a:stCxn id="33795" idx="0"/>
            <a:endCxn id="33832" idx="3"/>
          </p:cNvCxnSpPr>
          <p:nvPr/>
        </p:nvCxnSpPr>
        <p:spPr>
          <a:xfrm flipH="1" flipV="1">
            <a:off x="4770438" y="1960563"/>
            <a:ext cx="1017587" cy="433387"/>
          </a:xfrm>
          <a:prstGeom prst="straightConnector1">
            <a:avLst/>
          </a:prstGeom>
          <a:ln w="19050" cap="flat" cmpd="sng">
            <a:solidFill>
              <a:schemeClr val="tx1"/>
            </a:solidFill>
            <a:prstDash val="lgDash"/>
            <a:headEnd type="none" w="med" len="med"/>
            <a:tailEnd type="triangle" w="lg" len="lg"/>
          </a:ln>
        </p:spPr>
      </p:cxnSp>
      <p:sp>
        <p:nvSpPr>
          <p:cNvPr id="33795" name="Freeform 41"/>
          <p:cNvSpPr/>
          <p:nvPr/>
        </p:nvSpPr>
        <p:spPr>
          <a:xfrm flipH="1">
            <a:off x="5788025" y="2393950"/>
            <a:ext cx="123825" cy="204788"/>
          </a:xfrm>
          <a:custGeom>
            <a:avLst/>
            <a:gdLst>
              <a:gd name="txL" fmla="*/ 0 w 231"/>
              <a:gd name="txT" fmla="*/ 0 h 321"/>
              <a:gd name="txR" fmla="*/ 231 w 231"/>
              <a:gd name="txB" fmla="*/ 321 h 321"/>
            </a:gdLst>
            <a:ahLst/>
            <a:cxnLst>
              <a:cxn ang="0">
                <a:pos x="2147483647" y="0"/>
              </a:cxn>
              <a:cxn ang="0">
                <a:pos x="0" y="0"/>
              </a:cxn>
              <a:cxn ang="0">
                <a:pos x="0" y="2147483647"/>
              </a:cxn>
              <a:cxn ang="0">
                <a:pos x="2147483647" y="2147483647"/>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cxnSp>
        <p:nvCxnSpPr>
          <p:cNvPr id="33796" name="AutoShape 42"/>
          <p:cNvCxnSpPr>
            <a:cxnSpLocks noChangeAspect="1"/>
            <a:stCxn id="33795" idx="3"/>
            <a:endCxn id="33840" idx="3"/>
          </p:cNvCxnSpPr>
          <p:nvPr/>
        </p:nvCxnSpPr>
        <p:spPr>
          <a:xfrm flipH="1">
            <a:off x="4770438" y="2598738"/>
            <a:ext cx="1017587" cy="431800"/>
          </a:xfrm>
          <a:prstGeom prst="straightConnector1">
            <a:avLst/>
          </a:prstGeom>
          <a:ln w="19050" cap="flat" cmpd="sng">
            <a:solidFill>
              <a:schemeClr val="tx1"/>
            </a:solidFill>
            <a:prstDash val="lgDash"/>
            <a:headEnd type="none" w="med" len="med"/>
            <a:tailEnd type="none" w="lg" len="lg"/>
          </a:ln>
        </p:spPr>
      </p:cxnSp>
      <p:cxnSp>
        <p:nvCxnSpPr>
          <p:cNvPr id="33797" name="AutoShape 3"/>
          <p:cNvCxnSpPr>
            <a:cxnSpLocks noChangeAspect="1"/>
            <a:stCxn id="33842" idx="0"/>
            <a:endCxn id="33834" idx="1"/>
          </p:cNvCxnSpPr>
          <p:nvPr/>
        </p:nvCxnSpPr>
        <p:spPr>
          <a:xfrm flipV="1">
            <a:off x="2859088" y="1960563"/>
            <a:ext cx="982662" cy="433387"/>
          </a:xfrm>
          <a:prstGeom prst="straightConnector1">
            <a:avLst/>
          </a:prstGeom>
          <a:ln w="19050" cap="flat" cmpd="sng">
            <a:solidFill>
              <a:schemeClr val="tx1"/>
            </a:solidFill>
            <a:prstDash val="solid"/>
            <a:headEnd type="none" w="med" len="med"/>
            <a:tailEnd type="none" w="med" len="med"/>
          </a:ln>
        </p:spPr>
      </p:cxnSp>
      <p:cxnSp>
        <p:nvCxnSpPr>
          <p:cNvPr id="33798" name="AutoShape 40"/>
          <p:cNvCxnSpPr>
            <a:cxnSpLocks noChangeAspect="1"/>
            <a:stCxn id="33842" idx="3"/>
            <a:endCxn id="33840" idx="1"/>
          </p:cNvCxnSpPr>
          <p:nvPr/>
        </p:nvCxnSpPr>
        <p:spPr>
          <a:xfrm>
            <a:off x="2859088" y="2598738"/>
            <a:ext cx="982662" cy="431800"/>
          </a:xfrm>
          <a:prstGeom prst="straightConnector1">
            <a:avLst/>
          </a:prstGeom>
          <a:ln w="19050" cap="flat" cmpd="sng">
            <a:solidFill>
              <a:schemeClr val="tx1"/>
            </a:solidFill>
            <a:prstDash val="solid"/>
            <a:headEnd type="none" w="med" len="med"/>
            <a:tailEnd type="none" w="med" len="med"/>
          </a:ln>
        </p:spPr>
      </p:cxnSp>
      <p:sp>
        <p:nvSpPr>
          <p:cNvPr id="33799" name="Rectangle 2"/>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200" kern="1200" dirty="0">
                <a:latin typeface="Arial Rounded MT Bold" panose="020F0704030504030204" pitchFamily="34" charset="0"/>
                <a:ea typeface="+mj-ea"/>
                <a:cs typeface="+mj-cs"/>
              </a:rPr>
              <a:t>Basic Frame 4:</a:t>
            </a:r>
            <a:r>
              <a:rPr lang="en-US" altLang="en-US" kern="1200" dirty="0">
                <a:latin typeface="Arial Rounded MT Bold" panose="020F0704030504030204" pitchFamily="34" charset="0"/>
                <a:ea typeface="+mj-ea"/>
                <a:cs typeface="+mj-cs"/>
              </a:rPr>
              <a:t> Simple Editing</a:t>
            </a:r>
            <a:endParaRPr lang="en-US" altLang="en-US" kern="1200" dirty="0">
              <a:latin typeface="Arial Rounded MT Bold" panose="020F0704030504030204" pitchFamily="34" charset="0"/>
              <a:ea typeface="+mj-ea"/>
              <a:cs typeface="+mj-cs"/>
            </a:endParaRPr>
          </a:p>
        </p:txBody>
      </p:sp>
      <p:grpSp>
        <p:nvGrpSpPr>
          <p:cNvPr id="33800" name="Group 65"/>
          <p:cNvGrpSpPr/>
          <p:nvPr/>
        </p:nvGrpSpPr>
        <p:grpSpPr>
          <a:xfrm>
            <a:off x="1914525" y="2259013"/>
            <a:ext cx="944563" cy="473075"/>
            <a:chOff x="1206" y="1423"/>
            <a:chExt cx="595" cy="298"/>
          </a:xfrm>
        </p:grpSpPr>
        <p:sp>
          <p:nvSpPr>
            <p:cNvPr id="33842" name="Freeform 39"/>
            <p:cNvSpPr/>
            <p:nvPr/>
          </p:nvSpPr>
          <p:spPr>
            <a:xfrm>
              <a:off x="1723" y="1508"/>
              <a:ext cx="78" cy="129"/>
            </a:xfrm>
            <a:custGeom>
              <a:avLst/>
              <a:gdLst>
                <a:gd name="txL" fmla="*/ 0 w 231"/>
                <a:gd name="txT" fmla="*/ 0 h 321"/>
                <a:gd name="txR" fmla="*/ 231 w 231"/>
                <a:gd name="txB" fmla="*/ 321 h 321"/>
              </a:gdLst>
              <a:ahLst/>
              <a:cxnLst>
                <a:cxn ang="0">
                  <a:pos x="0" y="0"/>
                </a:cxn>
                <a:cxn ang="0">
                  <a:pos x="0" y="0"/>
                </a:cxn>
                <a:cxn ang="0">
                  <a:pos x="0" y="0"/>
                </a:cxn>
                <a:cxn ang="0">
                  <a:pos x="0" y="0"/>
                </a:cxn>
              </a:cxnLst>
              <a:rect l="txL" t="txT" r="txR" b="txB"/>
              <a:pathLst>
                <a:path w="231" h="321">
                  <a:moveTo>
                    <a:pt x="231" y="0"/>
                  </a:moveTo>
                  <a:lnTo>
                    <a:pt x="0" y="0"/>
                  </a:lnTo>
                  <a:lnTo>
                    <a:pt x="0" y="321"/>
                  </a:lnTo>
                  <a:lnTo>
                    <a:pt x="231" y="321"/>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grpSp>
          <p:nvGrpSpPr>
            <p:cNvPr id="33843" name="Group 5"/>
            <p:cNvGrpSpPr>
              <a:grpSpLocks noChangeAspect="1"/>
            </p:cNvGrpSpPr>
            <p:nvPr/>
          </p:nvGrpSpPr>
          <p:grpSpPr>
            <a:xfrm>
              <a:off x="1206" y="1423"/>
              <a:ext cx="593" cy="298"/>
              <a:chOff x="1499" y="1740"/>
              <a:chExt cx="744" cy="374"/>
            </a:xfrm>
          </p:grpSpPr>
          <p:sp>
            <p:nvSpPr>
              <p:cNvPr id="33844" name="Rectangle 6"/>
              <p:cNvSpPr>
                <a:spLocks noChangeAspect="1"/>
              </p:cNvSpPr>
              <p:nvPr/>
            </p:nvSpPr>
            <p:spPr>
              <a:xfrm>
                <a:off x="1667" y="1740"/>
                <a:ext cx="576" cy="374"/>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Editing tool</a:t>
                </a:r>
                <a:endParaRPr lang="en-US" altLang="en-US" sz="1000" dirty="0">
                  <a:latin typeface="Arial" panose="020B0604020202020204" pitchFamily="34" charset="0"/>
                </a:endParaRPr>
              </a:p>
            </p:txBody>
          </p:sp>
          <p:sp>
            <p:nvSpPr>
              <p:cNvPr id="33845" name="Rectangle 7"/>
              <p:cNvSpPr>
                <a:spLocks noChangeAspect="1"/>
              </p:cNvSpPr>
              <p:nvPr/>
            </p:nvSpPr>
            <p:spPr>
              <a:xfrm>
                <a:off x="1499" y="1740"/>
                <a:ext cx="168" cy="3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33846" name="Line 8"/>
              <p:cNvSpPr>
                <a:spLocks noChangeAspect="1"/>
              </p:cNvSpPr>
              <p:nvPr/>
            </p:nvSpPr>
            <p:spPr>
              <a:xfrm>
                <a:off x="1583" y="1740"/>
                <a:ext cx="0" cy="374"/>
              </a:xfrm>
              <a:prstGeom prst="line">
                <a:avLst/>
              </a:prstGeom>
              <a:ln w="9525" cap="flat" cmpd="sng">
                <a:solidFill>
                  <a:schemeClr val="tx1"/>
                </a:solidFill>
                <a:prstDash val="solid"/>
                <a:headEnd type="none" w="med" len="med"/>
                <a:tailEnd type="none" w="med" len="med"/>
              </a:ln>
            </p:spPr>
          </p:sp>
        </p:grpSp>
      </p:grpSp>
      <p:sp>
        <p:nvSpPr>
          <p:cNvPr id="33801" name="Oval 10"/>
          <p:cNvSpPr>
            <a:spLocks noChangeAspect="1"/>
          </p:cNvSpPr>
          <p:nvPr/>
        </p:nvSpPr>
        <p:spPr>
          <a:xfrm>
            <a:off x="5738813" y="22590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Command effects</a:t>
            </a:r>
            <a:endParaRPr lang="en-US" altLang="en-US" sz="1000" dirty="0">
              <a:latin typeface="Arial" panose="020B0604020202020204" pitchFamily="34" charset="0"/>
            </a:endParaRPr>
          </a:p>
        </p:txBody>
      </p:sp>
      <p:sp>
        <p:nvSpPr>
          <p:cNvPr id="33802" name="Text Box 11"/>
          <p:cNvSpPr txBox="1">
            <a:spLocks noChangeAspect="1"/>
          </p:cNvSpPr>
          <p:nvPr/>
        </p:nvSpPr>
        <p:spPr>
          <a:xfrm>
            <a:off x="2938463" y="1724025"/>
            <a:ext cx="442912"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ET!E1</a:t>
            </a:r>
            <a:endParaRPr lang="en-US" altLang="en-US" sz="1200" dirty="0">
              <a:latin typeface="Arial" panose="020B0604020202020204" pitchFamily="34" charset="0"/>
            </a:endParaRPr>
          </a:p>
        </p:txBody>
      </p:sp>
      <p:sp>
        <p:nvSpPr>
          <p:cNvPr id="33803" name="Text Box 12"/>
          <p:cNvSpPr txBox="1">
            <a:spLocks noChangeAspect="1"/>
          </p:cNvSpPr>
          <p:nvPr/>
        </p:nvSpPr>
        <p:spPr>
          <a:xfrm>
            <a:off x="5233988" y="1954213"/>
            <a:ext cx="2047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Y3</a:t>
            </a:r>
            <a:endParaRPr lang="en-US" altLang="en-US" sz="1200" dirty="0">
              <a:latin typeface="Arial" panose="020B0604020202020204" pitchFamily="34" charset="0"/>
            </a:endParaRPr>
          </a:p>
        </p:txBody>
      </p:sp>
      <p:sp>
        <p:nvSpPr>
          <p:cNvPr id="33804" name="Text Box 13"/>
          <p:cNvSpPr txBox="1">
            <a:spLocks noChangeAspect="1"/>
          </p:cNvSpPr>
          <p:nvPr/>
        </p:nvSpPr>
        <p:spPr>
          <a:xfrm>
            <a:off x="2938463" y="1931988"/>
            <a:ext cx="493712"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WP!Y2</a:t>
            </a:r>
            <a:endParaRPr lang="en-US" altLang="en-US" sz="1200" dirty="0">
              <a:latin typeface="Arial" panose="020B0604020202020204" pitchFamily="34" charset="0"/>
            </a:endParaRPr>
          </a:p>
        </p:txBody>
      </p:sp>
      <p:sp>
        <p:nvSpPr>
          <p:cNvPr id="33805" name="Text Box 23"/>
          <p:cNvSpPr txBox="1">
            <a:spLocks noChangeAspect="1"/>
          </p:cNvSpPr>
          <p:nvPr/>
        </p:nvSpPr>
        <p:spPr>
          <a:xfrm>
            <a:off x="3292475" y="4503738"/>
            <a:ext cx="103188"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33806" name="Text Box 24"/>
          <p:cNvSpPr txBox="1">
            <a:spLocks noChangeAspect="1"/>
          </p:cNvSpPr>
          <p:nvPr/>
        </p:nvSpPr>
        <p:spPr>
          <a:xfrm>
            <a:off x="5199063" y="4503738"/>
            <a:ext cx="95250"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c</a:t>
            </a:r>
            <a:endParaRPr lang="en-US" altLang="en-US" sz="1200" dirty="0">
              <a:latin typeface="Arial" panose="020B0604020202020204" pitchFamily="34" charset="0"/>
            </a:endParaRPr>
          </a:p>
        </p:txBody>
      </p:sp>
      <p:sp>
        <p:nvSpPr>
          <p:cNvPr id="33807" name="Text Box 26"/>
          <p:cNvSpPr txBox="1">
            <a:spLocks noChangeAspect="1"/>
          </p:cNvSpPr>
          <p:nvPr/>
        </p:nvSpPr>
        <p:spPr>
          <a:xfrm>
            <a:off x="287338" y="3673475"/>
            <a:ext cx="4414837" cy="368300"/>
          </a:xfrm>
          <a:prstGeom prst="rect">
            <a:avLst/>
          </a:prstGeom>
          <a:noFill/>
          <a:ln w="9525">
            <a:noFill/>
          </a:ln>
        </p:spPr>
        <p:txBody>
          <a:bodyPr wrap="none" lIns="9144" tIns="0" rIns="9144" bIns="0">
            <a:spAutoFit/>
          </a:bodyPr>
          <a:p>
            <a:pPr eaLnBrk="1" hangingPunct="1"/>
            <a:r>
              <a:rPr lang="en-US" altLang="en-US" sz="2400" dirty="0">
                <a:latin typeface="AvantGarde Bk BT" pitchFamily="34" charset="0"/>
              </a:rPr>
              <a:t>Example:  Place a Trading order</a:t>
            </a:r>
            <a:endParaRPr lang="en-US" altLang="en-US" sz="2400" dirty="0">
              <a:latin typeface="AvantGarde Bk BT" pitchFamily="34" charset="0"/>
            </a:endParaRPr>
          </a:p>
        </p:txBody>
      </p:sp>
      <p:sp>
        <p:nvSpPr>
          <p:cNvPr id="33808" name="Text Box 27"/>
          <p:cNvSpPr txBox="1">
            <a:spLocks noChangeAspect="1"/>
          </p:cNvSpPr>
          <p:nvPr/>
        </p:nvSpPr>
        <p:spPr>
          <a:xfrm>
            <a:off x="2063750" y="4567238"/>
            <a:ext cx="642938"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Editing tool</a:t>
            </a:r>
            <a:endParaRPr lang="en-US" altLang="en-US" sz="1000" i="1" dirty="0">
              <a:latin typeface="Arial" panose="020B0604020202020204" pitchFamily="34" charset="0"/>
            </a:endParaRPr>
          </a:p>
        </p:txBody>
      </p:sp>
      <p:sp>
        <p:nvSpPr>
          <p:cNvPr id="33809" name="Text Box 28"/>
          <p:cNvSpPr txBox="1">
            <a:spLocks noChangeAspect="1"/>
          </p:cNvSpPr>
          <p:nvPr/>
        </p:nvSpPr>
        <p:spPr>
          <a:xfrm>
            <a:off x="3965575" y="4033838"/>
            <a:ext cx="681038"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Workpieces</a:t>
            </a:r>
            <a:endParaRPr lang="en-US" altLang="en-US" sz="1000" i="1" dirty="0">
              <a:latin typeface="Arial" panose="020B0604020202020204" pitchFamily="34" charset="0"/>
            </a:endParaRPr>
          </a:p>
        </p:txBody>
      </p:sp>
      <p:sp>
        <p:nvSpPr>
          <p:cNvPr id="33810" name="Text Box 29"/>
          <p:cNvSpPr txBox="1">
            <a:spLocks noChangeAspect="1"/>
          </p:cNvSpPr>
          <p:nvPr/>
        </p:nvSpPr>
        <p:spPr>
          <a:xfrm>
            <a:off x="5946775" y="4414838"/>
            <a:ext cx="603250" cy="3048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Command</a:t>
            </a:r>
            <a:endParaRPr lang="en-US" altLang="en-US" sz="1000" i="1" dirty="0">
              <a:latin typeface="Arial" panose="020B0604020202020204" pitchFamily="34" charset="0"/>
            </a:endParaRPr>
          </a:p>
          <a:p>
            <a:pPr algn="ctr" eaLnBrk="1" hangingPunct="1"/>
            <a:r>
              <a:rPr lang="en-US" altLang="en-US" sz="1000" i="1" dirty="0">
                <a:latin typeface="Arial" panose="020B0604020202020204" pitchFamily="34" charset="0"/>
              </a:rPr>
              <a:t>effects</a:t>
            </a:r>
            <a:endParaRPr lang="en-US" altLang="en-US" sz="1000" i="1" dirty="0">
              <a:latin typeface="Arial" panose="020B0604020202020204" pitchFamily="34" charset="0"/>
            </a:endParaRPr>
          </a:p>
        </p:txBody>
      </p:sp>
      <p:sp>
        <p:nvSpPr>
          <p:cNvPr id="33811" name="Text Box 30"/>
          <p:cNvSpPr txBox="1">
            <a:spLocks noChangeAspect="1"/>
          </p:cNvSpPr>
          <p:nvPr/>
        </p:nvSpPr>
        <p:spPr>
          <a:xfrm>
            <a:off x="5248275" y="6151563"/>
            <a:ext cx="2081213" cy="365125"/>
          </a:xfrm>
          <a:prstGeom prst="rect">
            <a:avLst/>
          </a:prstGeom>
          <a:noFill/>
          <a:ln w="9525">
            <a:noFill/>
          </a:ln>
        </p:spPr>
        <p:txBody>
          <a:bodyPr wrap="none" lIns="9144" tIns="0" rIns="9144" bIns="0">
            <a:spAutoFit/>
          </a:bodyPr>
          <a:p>
            <a:pPr algn="r" eaLnBrk="1" hangingPunct="1"/>
            <a:r>
              <a:rPr lang="en-US" altLang="en-US" sz="1200" dirty="0">
                <a:latin typeface="Arial" panose="020B0604020202020204" pitchFamily="34" charset="0"/>
              </a:rPr>
              <a:t>c: TR! {Place[i], Cancel[i],        </a:t>
            </a:r>
            <a:endParaRPr lang="en-US" altLang="en-US" sz="1200" dirty="0">
              <a:latin typeface="Arial" panose="020B0604020202020204" pitchFamily="34" charset="0"/>
            </a:endParaRPr>
          </a:p>
          <a:p>
            <a:pPr algn="r" eaLnBrk="1" hangingPunct="1"/>
            <a:r>
              <a:rPr lang="en-US" altLang="en-US" sz="1200" dirty="0">
                <a:latin typeface="Arial" panose="020B0604020202020204" pitchFamily="34" charset="0"/>
              </a:rPr>
              <a:t>Executed[i], Expired[i]}  [Y3]</a:t>
            </a:r>
            <a:endParaRPr lang="en-US" altLang="en-US" sz="1200" dirty="0">
              <a:latin typeface="Arial" panose="020B0604020202020204" pitchFamily="34" charset="0"/>
            </a:endParaRPr>
          </a:p>
        </p:txBody>
      </p:sp>
      <p:sp>
        <p:nvSpPr>
          <p:cNvPr id="33812" name="Text Box 31"/>
          <p:cNvSpPr txBox="1">
            <a:spLocks noChangeAspect="1"/>
          </p:cNvSpPr>
          <p:nvPr/>
        </p:nvSpPr>
        <p:spPr>
          <a:xfrm>
            <a:off x="1508125" y="6151563"/>
            <a:ext cx="1717675"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TS! {Create[i]}       [E1]</a:t>
            </a:r>
            <a:endParaRPr lang="en-US" altLang="en-US" sz="1200" dirty="0">
              <a:latin typeface="Arial" panose="020B0604020202020204" pitchFamily="34" charset="0"/>
            </a:endParaRPr>
          </a:p>
        </p:txBody>
      </p:sp>
      <p:sp>
        <p:nvSpPr>
          <p:cNvPr id="33813" name="Text Box 32"/>
          <p:cNvSpPr txBox="1">
            <a:spLocks noChangeAspect="1"/>
          </p:cNvSpPr>
          <p:nvPr/>
        </p:nvSpPr>
        <p:spPr>
          <a:xfrm>
            <a:off x="1508125" y="6408738"/>
            <a:ext cx="2357438"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 TR! {PriceQuotes, Place[i]}  [Y2]</a:t>
            </a:r>
            <a:endParaRPr lang="en-US" altLang="en-US" sz="1200" dirty="0">
              <a:latin typeface="Arial" panose="020B0604020202020204" pitchFamily="34" charset="0"/>
            </a:endParaRPr>
          </a:p>
        </p:txBody>
      </p:sp>
      <p:grpSp>
        <p:nvGrpSpPr>
          <p:cNvPr id="33814" name="Group 34"/>
          <p:cNvGrpSpPr/>
          <p:nvPr/>
        </p:nvGrpSpPr>
        <p:grpSpPr>
          <a:xfrm>
            <a:off x="3841750" y="2794000"/>
            <a:ext cx="928688" cy="473075"/>
            <a:chOff x="2420" y="1390"/>
            <a:chExt cx="585" cy="298"/>
          </a:xfrm>
        </p:grpSpPr>
        <p:sp>
          <p:nvSpPr>
            <p:cNvPr id="33840" name="Rectangle 35"/>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User</a:t>
              </a:r>
              <a:endParaRPr lang="en-US" altLang="en-US" sz="1000" dirty="0">
                <a:latin typeface="Arial" panose="020B0604020202020204" pitchFamily="34" charset="0"/>
              </a:endParaRPr>
            </a:p>
          </p:txBody>
        </p:sp>
        <p:sp>
          <p:nvSpPr>
            <p:cNvPr id="33841" name="Rectangle 36"/>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grpSp>
      <p:sp>
        <p:nvSpPr>
          <p:cNvPr id="33815" name="Text Box 43"/>
          <p:cNvSpPr txBox="1">
            <a:spLocks noChangeAspect="1"/>
          </p:cNvSpPr>
          <p:nvPr/>
        </p:nvSpPr>
        <p:spPr>
          <a:xfrm>
            <a:off x="3024188" y="2890838"/>
            <a:ext cx="4587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US!E3</a:t>
            </a:r>
            <a:endParaRPr lang="en-US" altLang="en-US" sz="1200" dirty="0">
              <a:latin typeface="Arial" panose="020B0604020202020204" pitchFamily="34" charset="0"/>
            </a:endParaRPr>
          </a:p>
        </p:txBody>
      </p:sp>
      <p:sp>
        <p:nvSpPr>
          <p:cNvPr id="33816" name="Text Box 44"/>
          <p:cNvSpPr txBox="1">
            <a:spLocks noChangeAspect="1"/>
          </p:cNvSpPr>
          <p:nvPr/>
        </p:nvSpPr>
        <p:spPr>
          <a:xfrm>
            <a:off x="5233988" y="2878138"/>
            <a:ext cx="204787"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E3</a:t>
            </a:r>
            <a:endParaRPr lang="en-US" altLang="en-US" sz="1200" dirty="0">
              <a:latin typeface="Arial" panose="020B0604020202020204" pitchFamily="34" charset="0"/>
            </a:endParaRPr>
          </a:p>
        </p:txBody>
      </p:sp>
      <p:cxnSp>
        <p:nvCxnSpPr>
          <p:cNvPr id="33817" name="AutoShape 45"/>
          <p:cNvCxnSpPr>
            <a:cxnSpLocks noChangeAspect="1"/>
            <a:endCxn id="33829" idx="3"/>
          </p:cNvCxnSpPr>
          <p:nvPr/>
        </p:nvCxnSpPr>
        <p:spPr>
          <a:xfrm flipH="1" flipV="1">
            <a:off x="4770438" y="4552950"/>
            <a:ext cx="1017587" cy="431800"/>
          </a:xfrm>
          <a:prstGeom prst="straightConnector1">
            <a:avLst/>
          </a:prstGeom>
          <a:ln w="19050" cap="flat" cmpd="sng">
            <a:solidFill>
              <a:schemeClr val="tx1"/>
            </a:solidFill>
            <a:prstDash val="lgDash"/>
            <a:headEnd type="none" w="med" len="med"/>
            <a:tailEnd type="triangle" w="lg" len="lg"/>
          </a:ln>
        </p:spPr>
      </p:cxnSp>
      <p:cxnSp>
        <p:nvCxnSpPr>
          <p:cNvPr id="33818" name="AutoShape 46"/>
          <p:cNvCxnSpPr>
            <a:cxnSpLocks noChangeAspect="1"/>
            <a:endCxn id="33835" idx="3"/>
          </p:cNvCxnSpPr>
          <p:nvPr/>
        </p:nvCxnSpPr>
        <p:spPr>
          <a:xfrm flipH="1">
            <a:off x="4770438" y="5189538"/>
            <a:ext cx="1017587" cy="431800"/>
          </a:xfrm>
          <a:prstGeom prst="straightConnector1">
            <a:avLst/>
          </a:prstGeom>
          <a:ln w="19050" cap="flat" cmpd="sng">
            <a:solidFill>
              <a:schemeClr val="tx1"/>
            </a:solidFill>
            <a:prstDash val="lgDash"/>
            <a:headEnd type="none" w="med" len="med"/>
            <a:tailEnd type="none" w="lg" len="lg"/>
          </a:ln>
        </p:spPr>
      </p:cxnSp>
      <p:cxnSp>
        <p:nvCxnSpPr>
          <p:cNvPr id="33819" name="AutoShape 47"/>
          <p:cNvCxnSpPr>
            <a:cxnSpLocks noChangeAspect="1"/>
            <a:endCxn id="33831" idx="1"/>
          </p:cNvCxnSpPr>
          <p:nvPr/>
        </p:nvCxnSpPr>
        <p:spPr>
          <a:xfrm flipV="1">
            <a:off x="2859088" y="4552950"/>
            <a:ext cx="982662" cy="431800"/>
          </a:xfrm>
          <a:prstGeom prst="straightConnector1">
            <a:avLst/>
          </a:prstGeom>
          <a:ln w="19050" cap="flat" cmpd="sng">
            <a:solidFill>
              <a:schemeClr val="tx1"/>
            </a:solidFill>
            <a:prstDash val="solid"/>
            <a:headEnd type="none" w="med" len="med"/>
            <a:tailEnd type="none" w="med" len="med"/>
          </a:ln>
        </p:spPr>
      </p:cxnSp>
      <p:cxnSp>
        <p:nvCxnSpPr>
          <p:cNvPr id="33820" name="AutoShape 48"/>
          <p:cNvCxnSpPr>
            <a:cxnSpLocks noChangeAspect="1"/>
            <a:endCxn id="33835" idx="1"/>
          </p:cNvCxnSpPr>
          <p:nvPr/>
        </p:nvCxnSpPr>
        <p:spPr>
          <a:xfrm>
            <a:off x="2859088" y="5189538"/>
            <a:ext cx="982662" cy="431800"/>
          </a:xfrm>
          <a:prstGeom prst="straightConnector1">
            <a:avLst/>
          </a:prstGeom>
          <a:ln w="19050" cap="flat" cmpd="sng">
            <a:solidFill>
              <a:schemeClr val="tx1"/>
            </a:solidFill>
            <a:prstDash val="solid"/>
            <a:headEnd type="none" w="med" len="med"/>
            <a:tailEnd type="none" w="med" len="med"/>
          </a:ln>
        </p:spPr>
      </p:cxnSp>
      <p:grpSp>
        <p:nvGrpSpPr>
          <p:cNvPr id="33821" name="Group 49"/>
          <p:cNvGrpSpPr>
            <a:grpSpLocks noChangeAspect="1"/>
          </p:cNvGrpSpPr>
          <p:nvPr/>
        </p:nvGrpSpPr>
        <p:grpSpPr>
          <a:xfrm>
            <a:off x="1914525" y="4849813"/>
            <a:ext cx="941388" cy="473075"/>
            <a:chOff x="1499" y="1740"/>
            <a:chExt cx="744" cy="374"/>
          </a:xfrm>
        </p:grpSpPr>
        <p:sp>
          <p:nvSpPr>
            <p:cNvPr id="33837" name="Rectangle 50"/>
            <p:cNvSpPr>
              <a:spLocks noChangeAspect="1"/>
            </p:cNvSpPr>
            <p:nvPr/>
          </p:nvSpPr>
          <p:spPr>
            <a:xfrm>
              <a:off x="1667" y="1740"/>
              <a:ext cx="576" cy="374"/>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Trading software</a:t>
              </a:r>
              <a:endParaRPr lang="en-US" altLang="en-US" sz="1000" dirty="0">
                <a:latin typeface="Arial" panose="020B0604020202020204" pitchFamily="34" charset="0"/>
              </a:endParaRPr>
            </a:p>
          </p:txBody>
        </p:sp>
        <p:sp>
          <p:nvSpPr>
            <p:cNvPr id="33838" name="Rectangle 51"/>
            <p:cNvSpPr>
              <a:spLocks noChangeAspect="1"/>
            </p:cNvSpPr>
            <p:nvPr/>
          </p:nvSpPr>
          <p:spPr>
            <a:xfrm>
              <a:off x="1499" y="1740"/>
              <a:ext cx="168" cy="3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sp>
          <p:nvSpPr>
            <p:cNvPr id="33839" name="Line 52"/>
            <p:cNvSpPr>
              <a:spLocks noChangeAspect="1"/>
            </p:cNvSpPr>
            <p:nvPr/>
          </p:nvSpPr>
          <p:spPr>
            <a:xfrm>
              <a:off x="1583" y="1740"/>
              <a:ext cx="0" cy="374"/>
            </a:xfrm>
            <a:prstGeom prst="line">
              <a:avLst/>
            </a:prstGeom>
            <a:ln w="9525" cap="flat" cmpd="sng">
              <a:solidFill>
                <a:schemeClr val="tx1"/>
              </a:solidFill>
              <a:prstDash val="solid"/>
              <a:headEnd type="none" w="med" len="med"/>
              <a:tailEnd type="none" w="med" len="med"/>
            </a:ln>
          </p:spPr>
        </p:sp>
      </p:grpSp>
      <p:sp>
        <p:nvSpPr>
          <p:cNvPr id="33822" name="Oval 53"/>
          <p:cNvSpPr>
            <a:spLocks noChangeAspect="1"/>
          </p:cNvSpPr>
          <p:nvPr/>
        </p:nvSpPr>
        <p:spPr>
          <a:xfrm>
            <a:off x="5738813" y="48498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Order placing rules</a:t>
            </a:r>
            <a:endParaRPr lang="en-US" altLang="en-US" sz="1000" dirty="0">
              <a:latin typeface="Arial" panose="020B0604020202020204" pitchFamily="34" charset="0"/>
            </a:endParaRPr>
          </a:p>
        </p:txBody>
      </p:sp>
      <p:grpSp>
        <p:nvGrpSpPr>
          <p:cNvPr id="33823" name="Group 57"/>
          <p:cNvGrpSpPr/>
          <p:nvPr/>
        </p:nvGrpSpPr>
        <p:grpSpPr>
          <a:xfrm>
            <a:off x="3841750" y="5384800"/>
            <a:ext cx="928688" cy="473075"/>
            <a:chOff x="2420" y="1390"/>
            <a:chExt cx="585" cy="298"/>
          </a:xfrm>
        </p:grpSpPr>
        <p:sp>
          <p:nvSpPr>
            <p:cNvPr id="33835" name="Rectangle 58"/>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Trader</a:t>
              </a:r>
              <a:endParaRPr lang="en-US" altLang="en-US" sz="1000" dirty="0">
                <a:latin typeface="Arial" panose="020B0604020202020204" pitchFamily="34" charset="0"/>
              </a:endParaRPr>
            </a:p>
          </p:txBody>
        </p:sp>
        <p:sp>
          <p:nvSpPr>
            <p:cNvPr id="33836" name="Rectangle 59"/>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B</a:t>
              </a:r>
              <a:endParaRPr lang="en-US" altLang="en-US" sz="1000" dirty="0">
                <a:latin typeface="Arial" panose="020B0604020202020204" pitchFamily="34" charset="0"/>
              </a:endParaRPr>
            </a:p>
          </p:txBody>
        </p:sp>
      </p:grpSp>
      <p:sp>
        <p:nvSpPr>
          <p:cNvPr id="33824" name="Text Box 61"/>
          <p:cNvSpPr txBox="1">
            <a:spLocks noChangeAspect="1"/>
          </p:cNvSpPr>
          <p:nvPr/>
        </p:nvSpPr>
        <p:spPr>
          <a:xfrm>
            <a:off x="4162425" y="5953125"/>
            <a:ext cx="287338"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User</a:t>
            </a:r>
            <a:endParaRPr lang="en-US" altLang="en-US" sz="1000" i="1" dirty="0">
              <a:latin typeface="Arial" panose="020B0604020202020204" pitchFamily="34" charset="0"/>
            </a:endParaRPr>
          </a:p>
        </p:txBody>
      </p:sp>
      <p:sp>
        <p:nvSpPr>
          <p:cNvPr id="33825" name="Text Box 62"/>
          <p:cNvSpPr txBox="1">
            <a:spLocks noChangeAspect="1"/>
          </p:cNvSpPr>
          <p:nvPr/>
        </p:nvSpPr>
        <p:spPr>
          <a:xfrm>
            <a:off x="3292475" y="5470525"/>
            <a:ext cx="103188"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33826" name="Text Box 63"/>
          <p:cNvSpPr txBox="1">
            <a:spLocks noChangeAspect="1"/>
          </p:cNvSpPr>
          <p:nvPr/>
        </p:nvSpPr>
        <p:spPr>
          <a:xfrm>
            <a:off x="5195888" y="5470525"/>
            <a:ext cx="103187" cy="182563"/>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d</a:t>
            </a:r>
            <a:endParaRPr lang="en-US" altLang="en-US" sz="1200" dirty="0">
              <a:latin typeface="Arial" panose="020B0604020202020204" pitchFamily="34" charset="0"/>
            </a:endParaRPr>
          </a:p>
        </p:txBody>
      </p:sp>
      <p:grpSp>
        <p:nvGrpSpPr>
          <p:cNvPr id="33827" name="Group 71"/>
          <p:cNvGrpSpPr/>
          <p:nvPr/>
        </p:nvGrpSpPr>
        <p:grpSpPr>
          <a:xfrm>
            <a:off x="3841750" y="1722438"/>
            <a:ext cx="928688" cy="474662"/>
            <a:chOff x="2354" y="1085"/>
            <a:chExt cx="585" cy="299"/>
          </a:xfrm>
        </p:grpSpPr>
        <p:sp>
          <p:nvSpPr>
            <p:cNvPr id="33832" name="Rectangle 9"/>
            <p:cNvSpPr>
              <a:spLocks noChangeAspect="1"/>
            </p:cNvSpPr>
            <p:nvPr/>
          </p:nvSpPr>
          <p:spPr>
            <a:xfrm>
              <a:off x="2420" y="1086"/>
              <a:ext cx="519" cy="298"/>
            </a:xfrm>
            <a:prstGeom prst="rect">
              <a:avLst/>
            </a:prstGeom>
            <a:solidFill>
              <a:schemeClr val="bg1"/>
            </a:solidFill>
            <a:ln w="9525" cap="flat" cmpd="sng">
              <a:solidFill>
                <a:schemeClr val="tx1"/>
              </a:solidFill>
              <a:prstDash val="solid"/>
              <a:miter/>
              <a:headEnd type="none" w="med" len="med"/>
              <a:tailEnd type="none" w="med" len="med"/>
            </a:ln>
          </p:spPr>
          <p:txBody>
            <a:bodyPr rIns="274320" anchor="ctr" anchorCtr="0"/>
            <a:p>
              <a:pPr algn="ctr" eaLnBrk="1" hangingPunct="1"/>
              <a:r>
                <a:rPr lang="en-US" altLang="en-US" sz="1000" dirty="0">
                  <a:latin typeface="Arial" panose="020B0604020202020204" pitchFamily="34" charset="0"/>
                </a:rPr>
                <a:t>Work</a:t>
              </a:r>
              <a:endParaRPr lang="en-US" altLang="en-US" sz="1000" dirty="0">
                <a:latin typeface="Arial" panose="020B0604020202020204" pitchFamily="34" charset="0"/>
              </a:endParaRPr>
            </a:p>
            <a:p>
              <a:pPr algn="ctr" eaLnBrk="1" hangingPunct="1"/>
              <a:r>
                <a:rPr lang="en-US" altLang="en-US" sz="1000" dirty="0">
                  <a:latin typeface="Arial" panose="020B0604020202020204" pitchFamily="34" charset="0"/>
                </a:rPr>
                <a:t>pieces</a:t>
              </a:r>
              <a:endParaRPr lang="en-US" altLang="en-US" sz="1000" dirty="0">
                <a:latin typeface="Arial" panose="020B0604020202020204" pitchFamily="34" charset="0"/>
              </a:endParaRPr>
            </a:p>
          </p:txBody>
        </p:sp>
        <p:sp>
          <p:nvSpPr>
            <p:cNvPr id="33833" name="Rectangle 14"/>
            <p:cNvSpPr/>
            <p:nvPr/>
          </p:nvSpPr>
          <p:spPr>
            <a:xfrm>
              <a:off x="2824" y="1269"/>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sp>
          <p:nvSpPr>
            <p:cNvPr id="33834" name="Rectangle 64"/>
            <p:cNvSpPr/>
            <p:nvPr/>
          </p:nvSpPr>
          <p:spPr>
            <a:xfrm>
              <a:off x="2354" y="1085"/>
              <a:ext cx="66" cy="29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grpSp>
        <p:nvGrpSpPr>
          <p:cNvPr id="33828" name="Group 72"/>
          <p:cNvGrpSpPr/>
          <p:nvPr/>
        </p:nvGrpSpPr>
        <p:grpSpPr>
          <a:xfrm>
            <a:off x="3841750" y="4314825"/>
            <a:ext cx="928688" cy="474663"/>
            <a:chOff x="2354" y="1085"/>
            <a:chExt cx="585" cy="299"/>
          </a:xfrm>
        </p:grpSpPr>
        <p:sp>
          <p:nvSpPr>
            <p:cNvPr id="33829" name="Rectangle 73"/>
            <p:cNvSpPr>
              <a:spLocks noChangeAspect="1"/>
            </p:cNvSpPr>
            <p:nvPr/>
          </p:nvSpPr>
          <p:spPr>
            <a:xfrm>
              <a:off x="2420" y="1086"/>
              <a:ext cx="519" cy="298"/>
            </a:xfrm>
            <a:prstGeom prst="rect">
              <a:avLst/>
            </a:prstGeom>
            <a:solidFill>
              <a:schemeClr val="bg1"/>
            </a:solidFill>
            <a:ln w="9525" cap="flat" cmpd="sng">
              <a:solidFill>
                <a:schemeClr val="tx1"/>
              </a:solidFill>
              <a:prstDash val="solid"/>
              <a:miter/>
              <a:headEnd type="none" w="med" len="med"/>
              <a:tailEnd type="none" w="med" len="med"/>
            </a:ln>
          </p:spPr>
          <p:txBody>
            <a:bodyPr rIns="274320" anchor="ctr" anchorCtr="0"/>
            <a:p>
              <a:pPr algn="ctr" eaLnBrk="1" hangingPunct="1"/>
              <a:r>
                <a:rPr lang="en-US" altLang="en-US" sz="1000" dirty="0">
                  <a:latin typeface="Arial" panose="020B0604020202020204" pitchFamily="34" charset="0"/>
                </a:rPr>
                <a:t>Trading order</a:t>
              </a:r>
              <a:endParaRPr lang="en-US" altLang="en-US" sz="1000" dirty="0">
                <a:latin typeface="Arial" panose="020B0604020202020204" pitchFamily="34" charset="0"/>
              </a:endParaRPr>
            </a:p>
          </p:txBody>
        </p:sp>
        <p:sp>
          <p:nvSpPr>
            <p:cNvPr id="33830" name="Rectangle 74"/>
            <p:cNvSpPr/>
            <p:nvPr/>
          </p:nvSpPr>
          <p:spPr>
            <a:xfrm>
              <a:off x="2824" y="1269"/>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sp>
          <p:nvSpPr>
            <p:cNvPr id="33831" name="Rectangle 75"/>
            <p:cNvSpPr/>
            <p:nvPr/>
          </p:nvSpPr>
          <p:spPr>
            <a:xfrm>
              <a:off x="2354" y="1085"/>
              <a:ext cx="66" cy="29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buFont typeface="Wingdings" panose="05000000000000000000" pitchFamily="2" charset="2"/>
                <a:buChar char="q"/>
              </a:pPr>
              <a:endParaRPr lang="en-US" altLang="en-US" sz="1200" dirty="0">
                <a:latin typeface="Comic Sans MS" panose="030F0702030302020204" pitchFamily="66"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8" name="Group 18"/>
          <p:cNvGrpSpPr/>
          <p:nvPr/>
        </p:nvGrpSpPr>
        <p:grpSpPr>
          <a:xfrm>
            <a:off x="392113" y="1474788"/>
            <a:ext cx="5241925" cy="2851150"/>
            <a:chOff x="247" y="929"/>
            <a:chExt cx="3302" cy="1796"/>
          </a:xfrm>
        </p:grpSpPr>
        <p:sp>
          <p:nvSpPr>
            <p:cNvPr id="34824" name="Freeform 19"/>
            <p:cNvSpPr>
              <a:spLocks noChangeAspect="1"/>
            </p:cNvSpPr>
            <p:nvPr/>
          </p:nvSpPr>
          <p:spPr>
            <a:xfrm>
              <a:off x="299" y="975"/>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rgbClr val="DDDDDD">
                <a:alpha val="100000"/>
              </a:srgbClr>
            </a:solidFill>
            <a:ln w="3175" cap="flat" cmpd="sng">
              <a:solidFill>
                <a:srgbClr val="DDDDDD">
                  <a:alpha val="100000"/>
                </a:srgbClr>
              </a:solidFill>
              <a:prstDash val="solid"/>
              <a:round/>
              <a:headEnd type="none" w="med" len="med"/>
              <a:tailEnd type="none" w="med" len="med"/>
            </a:ln>
          </p:spPr>
          <p:txBody>
            <a:bodyPr/>
            <a:p>
              <a:endParaRPr lang="zh-CN" altLang="en-US"/>
            </a:p>
          </p:txBody>
        </p:sp>
        <p:sp>
          <p:nvSpPr>
            <p:cNvPr id="34825" name="Freeform 20"/>
            <p:cNvSpPr>
              <a:spLocks noChangeAspect="1"/>
            </p:cNvSpPr>
            <p:nvPr/>
          </p:nvSpPr>
          <p:spPr>
            <a:xfrm>
              <a:off x="247" y="929"/>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4826" name="Freeform 21"/>
            <p:cNvSpPr>
              <a:spLocks noChangeAspect="1"/>
            </p:cNvSpPr>
            <p:nvPr/>
          </p:nvSpPr>
          <p:spPr>
            <a:xfrm>
              <a:off x="268" y="1157"/>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27" name="Freeform 22"/>
            <p:cNvSpPr>
              <a:spLocks noChangeAspect="1"/>
            </p:cNvSpPr>
            <p:nvPr/>
          </p:nvSpPr>
          <p:spPr>
            <a:xfrm>
              <a:off x="263" y="13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28" name="Freeform 23"/>
            <p:cNvSpPr>
              <a:spLocks noChangeAspect="1"/>
            </p:cNvSpPr>
            <p:nvPr/>
          </p:nvSpPr>
          <p:spPr>
            <a:xfrm>
              <a:off x="258" y="1641"/>
              <a:ext cx="3233" cy="21"/>
            </a:xfrm>
            <a:custGeom>
              <a:avLst/>
              <a:gdLst>
                <a:gd name="txL" fmla="*/ 0 w 3049"/>
                <a:gd name="txT" fmla="*/ 0 h 26"/>
                <a:gd name="txR" fmla="*/ 3049 w 3049"/>
                <a:gd name="txB" fmla="*/ 26 h 26"/>
              </a:gdLst>
              <a:ahLst/>
              <a:cxnLst>
                <a:cxn ang="0">
                  <a:pos x="46" y="2"/>
                </a:cxn>
                <a:cxn ang="0">
                  <a:pos x="777" y="2"/>
                </a:cxn>
                <a:cxn ang="0">
                  <a:pos x="4710" y="2"/>
                </a:cxn>
                <a:cxn ang="0">
                  <a:pos x="5392"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29" name="Freeform 24"/>
            <p:cNvSpPr>
              <a:spLocks noChangeAspect="1"/>
            </p:cNvSpPr>
            <p:nvPr/>
          </p:nvSpPr>
          <p:spPr>
            <a:xfrm>
              <a:off x="258" y="1788"/>
              <a:ext cx="3233" cy="23"/>
            </a:xfrm>
            <a:custGeom>
              <a:avLst/>
              <a:gdLst>
                <a:gd name="txL" fmla="*/ 0 w 3049"/>
                <a:gd name="txT" fmla="*/ 0 h 26"/>
                <a:gd name="txR" fmla="*/ 3049 w 3049"/>
                <a:gd name="txB" fmla="*/ 26 h 26"/>
              </a:gdLst>
              <a:ahLst/>
              <a:cxnLst>
                <a:cxn ang="0">
                  <a:pos x="46" y="6"/>
                </a:cxn>
                <a:cxn ang="0">
                  <a:pos x="777" y="7"/>
                </a:cxn>
                <a:cxn ang="0">
                  <a:pos x="4710" y="3"/>
                </a:cxn>
                <a:cxn ang="0">
                  <a:pos x="5392" y="4"/>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0" name="Freeform 25"/>
            <p:cNvSpPr>
              <a:spLocks noChangeAspect="1"/>
            </p:cNvSpPr>
            <p:nvPr/>
          </p:nvSpPr>
          <p:spPr>
            <a:xfrm>
              <a:off x="263" y="2102"/>
              <a:ext cx="3232" cy="19"/>
            </a:xfrm>
            <a:custGeom>
              <a:avLst/>
              <a:gdLst>
                <a:gd name="txL" fmla="*/ 0 w 3049"/>
                <a:gd name="txT" fmla="*/ 0 h 26"/>
                <a:gd name="txR" fmla="*/ 3049 w 3049"/>
                <a:gd name="txB" fmla="*/ 26 h 26"/>
              </a:gdLst>
              <a:ahLst/>
              <a:cxnLst>
                <a:cxn ang="0">
                  <a:pos x="46" y="1"/>
                </a:cxn>
                <a:cxn ang="0">
                  <a:pos x="776" y="1"/>
                </a:cxn>
                <a:cxn ang="0">
                  <a:pos x="4696" y="1"/>
                </a:cxn>
                <a:cxn ang="0">
                  <a:pos x="5375" y="1"/>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1" name="Freeform 26"/>
            <p:cNvSpPr>
              <a:spLocks noChangeAspect="1"/>
            </p:cNvSpPr>
            <p:nvPr/>
          </p:nvSpPr>
          <p:spPr>
            <a:xfrm>
              <a:off x="268" y="22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2" name="Freeform 27"/>
            <p:cNvSpPr>
              <a:spLocks noChangeAspect="1"/>
            </p:cNvSpPr>
            <p:nvPr/>
          </p:nvSpPr>
          <p:spPr>
            <a:xfrm>
              <a:off x="268" y="23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3" name="Freeform 28"/>
            <p:cNvSpPr>
              <a:spLocks noChangeAspect="1"/>
            </p:cNvSpPr>
            <p:nvPr/>
          </p:nvSpPr>
          <p:spPr>
            <a:xfrm>
              <a:off x="258" y="14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4" name="Freeform 29"/>
            <p:cNvSpPr>
              <a:spLocks noChangeAspect="1"/>
            </p:cNvSpPr>
            <p:nvPr/>
          </p:nvSpPr>
          <p:spPr>
            <a:xfrm>
              <a:off x="276" y="195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4835" name="Freeform 30"/>
            <p:cNvSpPr>
              <a:spLocks noChangeAspect="1"/>
            </p:cNvSpPr>
            <p:nvPr/>
          </p:nvSpPr>
          <p:spPr>
            <a:xfrm>
              <a:off x="271" y="2530"/>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grpSp>
      <p:sp>
        <p:nvSpPr>
          <p:cNvPr id="34819" name="Rectangle 2"/>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600" kern="1200" dirty="0">
                <a:solidFill>
                  <a:schemeClr val="tx1"/>
                </a:solidFill>
                <a:latin typeface="Arial Rounded MT Bold" panose="020F0704030504030204" pitchFamily="34" charset="0"/>
                <a:ea typeface="+mj-ea"/>
                <a:cs typeface="+mj-cs"/>
              </a:rPr>
              <a:t>Simple Editing</a:t>
            </a:r>
            <a:br>
              <a:rPr lang="en-US" altLang="en-US" sz="4300" kern="1200" dirty="0">
                <a:solidFill>
                  <a:schemeClr val="tx1"/>
                </a:solidFill>
                <a:latin typeface="Arial Rounded MT Bold" panose="020F0704030504030204" pitchFamily="34" charset="0"/>
                <a:ea typeface="+mj-ea"/>
                <a:cs typeface="+mj-cs"/>
              </a:rPr>
            </a:br>
            <a:r>
              <a:rPr lang="en-US" altLang="en-US" sz="2900" kern="1200" dirty="0">
                <a:solidFill>
                  <a:schemeClr val="tx1"/>
                </a:solidFill>
                <a:latin typeface="Arial Rounded MT Bold" panose="020F0704030504030204" pitchFamily="34" charset="0"/>
                <a:ea typeface="+mj-ea"/>
                <a:cs typeface="+mj-cs"/>
              </a:rPr>
              <a:t>- </a:t>
            </a:r>
            <a:r>
              <a:rPr lang="en-US" altLang="en-US" sz="2900" kern="1200" dirty="0">
                <a:latin typeface="Arial Rounded MT Bold" panose="020F0704030504030204" pitchFamily="34" charset="0"/>
                <a:ea typeface="+mj-ea"/>
                <a:cs typeface="+mj-cs"/>
              </a:rPr>
              <a:t>Frame Concern Checklist</a:t>
            </a:r>
            <a:endParaRPr lang="en-US" altLang="en-US" sz="2900" kern="1200" dirty="0">
              <a:latin typeface="Arial Rounded MT Bold" panose="020F0704030504030204" pitchFamily="34" charset="0"/>
              <a:ea typeface="+mj-ea"/>
              <a:cs typeface="+mj-cs"/>
            </a:endParaRPr>
          </a:p>
        </p:txBody>
      </p:sp>
      <p:sp>
        <p:nvSpPr>
          <p:cNvPr id="34820" name="Text Box 14"/>
          <p:cNvSpPr txBox="1"/>
          <p:nvPr/>
        </p:nvSpPr>
        <p:spPr>
          <a:xfrm>
            <a:off x="434975" y="1531938"/>
            <a:ext cx="5213350" cy="2554287"/>
          </a:xfrm>
          <a:prstGeom prst="rect">
            <a:avLst/>
          </a:prstGeom>
          <a:noFill/>
          <a:ln w="9525">
            <a:noFill/>
          </a:ln>
        </p:spPr>
        <p:txBody>
          <a:bodyPr wrap="none">
            <a:spAutoFit/>
          </a:bodyPr>
          <a:p>
            <a:pPr eaLnBrk="1" hangingPunct="1"/>
            <a:r>
              <a:rPr lang="en-US" altLang="en-US" sz="1600" b="1" dirty="0">
                <a:latin typeface="Calibri" panose="020F0502020204030204" pitchFamily="34" charset="0"/>
                <a:cs typeface="Calibri" panose="020F0502020204030204" pitchFamily="34" charset="0"/>
              </a:rPr>
              <a:t>Simple Editing Frame Checklist</a:t>
            </a:r>
            <a:endParaRPr lang="en-US" altLang="en-US" sz="1600" b="1" dirty="0">
              <a:latin typeface="Calibri" panose="020F0502020204030204" pitchFamily="34" charset="0"/>
              <a:cs typeface="Calibri" panose="020F0502020204030204" pitchFamily="34" charset="0"/>
            </a:endParaRPr>
          </a:p>
          <a:p>
            <a:pPr eaLnBrk="1" hangingPunct="1">
              <a:lnSpc>
                <a:spcPct val="70000"/>
              </a:lnSpc>
            </a:pPr>
            <a:endParaRPr lang="en-US" altLang="en-US" sz="1200" dirty="0">
              <a:latin typeface="Calibri" panose="020F0502020204030204" pitchFamily="34" charset="0"/>
              <a:cs typeface="Calibri" panose="020F0502020204030204" pitchFamily="34" charset="0"/>
            </a:endParaRPr>
          </a:p>
          <a:p>
            <a:pPr eaLnBrk="1" hangingPunct="1">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Data structures: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Data types of elements (“workpieces”) of the document</a:t>
            </a:r>
            <a:endParaRPr lang="en-US" altLang="en-US" sz="1200" dirty="0">
              <a:latin typeface="Calibri" panose="020F0502020204030204" pitchFamily="34" charset="0"/>
              <a:cs typeface="Calibri" panose="020F0502020204030204" pitchFamily="34" charset="0"/>
            </a:endParaRPr>
          </a:p>
          <a:p>
            <a:pPr eaLnBrk="1" hangingPunct="1">
              <a:spcBef>
                <a:spcPct val="50000"/>
              </a:spcBef>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Requested commands: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List of all possible user commands and their parameters</a:t>
            </a:r>
            <a:endParaRPr lang="en-US" altLang="en-US" sz="1200" dirty="0">
              <a:latin typeface="Calibri" panose="020F0502020204030204" pitchFamily="34" charset="0"/>
              <a:cs typeface="Calibri" panose="020F0502020204030204" pitchFamily="34" charset="0"/>
            </a:endParaRPr>
          </a:p>
          <a:p>
            <a:pPr eaLnBrk="1" hangingPunct="1">
              <a:spcBef>
                <a:spcPct val="50000"/>
              </a:spcBef>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Command applicability under different scenarios: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For each command, exactly describe the preconditions for execution</a:t>
            </a:r>
            <a:endParaRPr lang="en-US" altLang="en-US" sz="900" dirty="0">
              <a:latin typeface="Calibri" panose="020F0502020204030204" pitchFamily="34" charset="0"/>
              <a:cs typeface="Calibri" panose="020F0502020204030204" pitchFamily="34" charset="0"/>
            </a:endParaRPr>
          </a:p>
          <a:p>
            <a:pPr eaLnBrk="1" hangingPunct="1">
              <a:spcBef>
                <a:spcPct val="50000"/>
              </a:spcBef>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Consequences of unacceptable commands: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What should system do if the user tries to execute</a:t>
            </a:r>
            <a:br>
              <a:rPr lang="en-US" altLang="en-US" sz="1200" dirty="0">
                <a:latin typeface="Calibri" panose="020F0502020204030204" pitchFamily="34" charset="0"/>
                <a:cs typeface="Calibri" panose="020F0502020204030204" pitchFamily="34" charset="0"/>
              </a:rPr>
            </a:br>
            <a:r>
              <a:rPr lang="en-US" altLang="en-US" sz="1200" dirty="0">
                <a:latin typeface="Calibri" panose="020F0502020204030204" pitchFamily="34" charset="0"/>
                <a:cs typeface="Calibri" panose="020F0502020204030204" pitchFamily="34" charset="0"/>
              </a:rPr>
              <a:t>a command that is not supported/allowed under the current scenario</a:t>
            </a:r>
            <a:endParaRPr lang="en-US" altLang="en-US" sz="1200" dirty="0">
              <a:latin typeface="Calibri" panose="020F0502020204030204" pitchFamily="34" charset="0"/>
              <a:ea typeface="Calibri" panose="020F0502020204030204" pitchFamily="34" charset="0"/>
            </a:endParaRPr>
          </a:p>
        </p:txBody>
      </p:sp>
      <p:sp>
        <p:nvSpPr>
          <p:cNvPr id="34821" name="Text Box 15"/>
          <p:cNvSpPr txBox="1">
            <a:spLocks noChangeAspect="1"/>
          </p:cNvSpPr>
          <p:nvPr/>
        </p:nvSpPr>
        <p:spPr>
          <a:xfrm>
            <a:off x="427038" y="4795838"/>
            <a:ext cx="6931025" cy="1938337"/>
          </a:xfrm>
          <a:prstGeom prst="rect">
            <a:avLst/>
          </a:prstGeom>
          <a:noFill/>
          <a:ln w="9525">
            <a:noFill/>
          </a:ln>
        </p:spPr>
        <p:txBody>
          <a:bodyPr wrap="none" lIns="9144" tIns="0" rIns="9144" bIns="0">
            <a:spAutoFit/>
          </a:bodyPr>
          <a:p>
            <a:pPr eaLnBrk="1" hangingPunct="1"/>
            <a:r>
              <a:rPr lang="en-US" altLang="en-US" sz="1400" u="sng" dirty="0">
                <a:latin typeface="Calibri" panose="020F0502020204030204" pitchFamily="34" charset="0"/>
                <a:cs typeface="Calibri" panose="020F0502020204030204" pitchFamily="34" charset="0"/>
              </a:rPr>
              <a:t>Data structures for REQ6</a:t>
            </a:r>
            <a:r>
              <a:rPr lang="en-US" altLang="en-US" sz="1400" dirty="0">
                <a:latin typeface="Calibri" panose="020F0502020204030204" pitchFamily="34" charset="0"/>
                <a:cs typeface="Calibri" panose="020F0502020204030204" pitchFamily="34" charset="0"/>
              </a:rPr>
              <a:t>:</a:t>
            </a:r>
            <a:endParaRPr lang="en-US" altLang="en-US" sz="1400" dirty="0">
              <a:latin typeface="Calibri" panose="020F0502020204030204" pitchFamily="34" charset="0"/>
              <a:cs typeface="Calibri" panose="020F0502020204030204" pitchFamily="34" charset="0"/>
            </a:endParaRPr>
          </a:p>
          <a:p>
            <a:pPr eaLnBrk="1" hangingPunct="1"/>
            <a:r>
              <a:rPr lang="en-US" altLang="en-US" sz="1400" dirty="0">
                <a:latin typeface="Calibri" panose="020F0502020204030204" pitchFamily="34" charset="0"/>
                <a:cs typeface="Calibri" panose="020F0502020204030204" pitchFamily="34" charset="0"/>
              </a:rPr>
              <a:t>Database tables for each user, containing name, demographics, apartment number, keycode, </a:t>
            </a:r>
            <a:r>
              <a:rPr lang="en-US" altLang="en-US" sz="1400" dirty="0">
                <a:latin typeface="Calibri" panose="020F0502020204030204" pitchFamily="34" charset="0"/>
                <a:ea typeface="Calibri" panose="020F0502020204030204" pitchFamily="34" charset="0"/>
              </a:rPr>
              <a:t>…</a:t>
            </a:r>
            <a:endParaRPr lang="en-US" altLang="en-US" sz="1400" dirty="0">
              <a:latin typeface="Calibri" panose="020F0502020204030204" pitchFamily="34" charset="0"/>
              <a:cs typeface="Calibri" panose="020F0502020204030204" pitchFamily="34" charset="0"/>
            </a:endParaRPr>
          </a:p>
          <a:p>
            <a:pPr eaLnBrk="1" hangingPunct="1">
              <a:spcBef>
                <a:spcPct val="50000"/>
              </a:spcBef>
            </a:pPr>
            <a:r>
              <a:rPr lang="en-US" altLang="en-US" sz="1400" u="sng" dirty="0">
                <a:latin typeface="Calibri" panose="020F0502020204030204" pitchFamily="34" charset="0"/>
                <a:cs typeface="Calibri" panose="020F0502020204030204" pitchFamily="34" charset="0"/>
              </a:rPr>
              <a:t>Requested commands for REQ6</a:t>
            </a:r>
            <a:r>
              <a:rPr lang="en-US" altLang="en-US" sz="1400" dirty="0">
                <a:latin typeface="Calibri" panose="020F0502020204030204" pitchFamily="34" charset="0"/>
                <a:cs typeface="Calibri" panose="020F0502020204030204" pitchFamily="34" charset="0"/>
              </a:rPr>
              <a:t>:</a:t>
            </a:r>
            <a:endParaRPr lang="en-US" altLang="en-US" sz="1400" dirty="0">
              <a:latin typeface="Calibri" panose="020F0502020204030204" pitchFamily="34" charset="0"/>
              <a:cs typeface="Calibri" panose="020F0502020204030204" pitchFamily="34" charset="0"/>
            </a:endParaRPr>
          </a:p>
          <a:p>
            <a:pPr eaLnBrk="1" hangingPunct="1"/>
            <a:r>
              <a:rPr lang="en-US" altLang="en-US" sz="1400" dirty="0">
                <a:latin typeface="Calibri" panose="020F0502020204030204" pitchFamily="34" charset="0"/>
                <a:cs typeface="Calibri" panose="020F0502020204030204" pitchFamily="34" charset="0"/>
              </a:rPr>
              <a:t>Add new tenant</a:t>
            </a:r>
            <a:endParaRPr lang="en-US" altLang="en-US" sz="1400" dirty="0">
              <a:latin typeface="Calibri" panose="020F0502020204030204" pitchFamily="34" charset="0"/>
              <a:cs typeface="Calibri" panose="020F0502020204030204" pitchFamily="34" charset="0"/>
            </a:endParaRPr>
          </a:p>
          <a:p>
            <a:pPr eaLnBrk="1" hangingPunct="1"/>
            <a:r>
              <a:rPr lang="en-US" altLang="en-US" sz="1400" dirty="0">
                <a:latin typeface="Calibri" panose="020F0502020204030204" pitchFamily="34" charset="0"/>
                <a:cs typeface="Calibri" panose="020F0502020204030204" pitchFamily="34" charset="0"/>
              </a:rPr>
              <a:t>Modify information of existing tenant</a:t>
            </a:r>
            <a:endParaRPr lang="en-US" altLang="en-US" sz="1400" dirty="0">
              <a:latin typeface="Calibri" panose="020F0502020204030204" pitchFamily="34" charset="0"/>
              <a:cs typeface="Calibri" panose="020F0502020204030204" pitchFamily="34" charset="0"/>
            </a:endParaRPr>
          </a:p>
          <a:p>
            <a:pPr eaLnBrk="1" hangingPunct="1"/>
            <a:r>
              <a:rPr lang="en-US" altLang="en-US" sz="1400" dirty="0">
                <a:latin typeface="Calibri" panose="020F0502020204030204" pitchFamily="34" charset="0"/>
                <a:cs typeface="Calibri" panose="020F0502020204030204" pitchFamily="34" charset="0"/>
              </a:rPr>
              <a:t>Move tenant to a past-tenants table (no permanent deletion allowed)</a:t>
            </a:r>
            <a:endParaRPr lang="en-US" altLang="en-US" sz="1400" dirty="0">
              <a:latin typeface="Calibri" panose="020F0502020204030204" pitchFamily="34" charset="0"/>
              <a:cs typeface="Calibri" panose="020F0502020204030204" pitchFamily="34" charset="0"/>
            </a:endParaRPr>
          </a:p>
          <a:p>
            <a:pPr eaLnBrk="1" hangingPunct="1">
              <a:spcBef>
                <a:spcPct val="50000"/>
              </a:spcBef>
            </a:pPr>
            <a:r>
              <a:rPr lang="en-US" altLang="en-US" sz="1400" u="sng" dirty="0">
                <a:latin typeface="Calibri" panose="020F0502020204030204" pitchFamily="34" charset="0"/>
                <a:cs typeface="Calibri" panose="020F0502020204030204" pitchFamily="34" charset="0"/>
              </a:rPr>
              <a:t>Command applicability under different scenarios</a:t>
            </a:r>
            <a:r>
              <a:rPr lang="en-US" altLang="en-US" sz="1400" dirty="0">
                <a:latin typeface="Calibri" panose="020F0502020204030204" pitchFamily="34" charset="0"/>
                <a:cs typeface="Calibri" panose="020F0502020204030204" pitchFamily="34" charset="0"/>
              </a:rPr>
              <a:t>:</a:t>
            </a:r>
            <a:endParaRPr lang="en-US" altLang="en-US" sz="1400" dirty="0">
              <a:latin typeface="Calibri" panose="020F0502020204030204" pitchFamily="34" charset="0"/>
              <a:cs typeface="Calibri" panose="020F0502020204030204" pitchFamily="34" charset="0"/>
            </a:endParaRPr>
          </a:p>
          <a:p>
            <a:pPr eaLnBrk="1" hangingPunct="1"/>
            <a:r>
              <a:rPr lang="en-US" altLang="en-US" sz="1400" dirty="0">
                <a:latin typeface="Calibri" panose="020F0502020204030204" pitchFamily="34" charset="0"/>
                <a:cs typeface="Calibri" panose="020F0502020204030204" pitchFamily="34" charset="0"/>
              </a:rPr>
              <a:t>Applicable for a user type Landlord</a:t>
            </a:r>
            <a:endParaRPr lang="en-US" altLang="en-US" sz="1400" dirty="0">
              <a:latin typeface="Calibri" panose="020F0502020204030204" pitchFamily="34" charset="0"/>
              <a:ea typeface="Calibri" panose="020F0502020204030204" pitchFamily="34" charset="0"/>
            </a:endParaRPr>
          </a:p>
        </p:txBody>
      </p:sp>
      <p:sp>
        <p:nvSpPr>
          <p:cNvPr id="34822" name="Rectangle 16"/>
          <p:cNvSpPr/>
          <p:nvPr/>
        </p:nvSpPr>
        <p:spPr>
          <a:xfrm>
            <a:off x="201613" y="4424363"/>
            <a:ext cx="7737475" cy="336550"/>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 — REQ6: adding/removing users at runtime ]</a:t>
            </a:r>
            <a:endParaRPr lang="en-US" altLang="en-US" sz="1600" dirty="0">
              <a:solidFill>
                <a:srgbClr val="777777"/>
              </a:solidFill>
              <a:latin typeface="Comic Sans MS" panose="030F0702030302020204" pitchFamily="66" charset="0"/>
            </a:endParaRPr>
          </a:p>
        </p:txBody>
      </p:sp>
      <p:sp>
        <p:nvSpPr>
          <p:cNvPr id="34823" name="Rectangle 17"/>
          <p:cNvSpPr/>
          <p:nvPr/>
        </p:nvSpPr>
        <p:spPr>
          <a:xfrm>
            <a:off x="5567363" y="1946275"/>
            <a:ext cx="3436937" cy="581025"/>
          </a:xfrm>
          <a:prstGeom prst="rect">
            <a:avLst/>
          </a:prstGeom>
          <a:noFill/>
          <a:ln w="9525">
            <a:noFill/>
          </a:ln>
        </p:spPr>
        <p:txBody>
          <a:bodyPr wrap="none">
            <a:spAutoFit/>
          </a:bodyPr>
          <a:p>
            <a:pPr eaLnBrk="1" hangingPunct="1"/>
            <a:r>
              <a:rPr lang="en-US" altLang="en-US" sz="1600" dirty="0">
                <a:solidFill>
                  <a:srgbClr val="777777"/>
                </a:solidFill>
                <a:latin typeface="Comic Sans MS" panose="030F0702030302020204" pitchFamily="66" charset="0"/>
              </a:rPr>
              <a:t>[ Case Study 1: Safe Home Access</a:t>
            </a:r>
            <a:endParaRPr lang="en-US" altLang="en-US" sz="1600" dirty="0">
              <a:solidFill>
                <a:srgbClr val="777777"/>
              </a:solidFill>
              <a:latin typeface="Comic Sans MS" panose="030F0702030302020204" pitchFamily="66" charset="0"/>
            </a:endParaRPr>
          </a:p>
          <a:p>
            <a:pPr eaLnBrk="1" hangingPunct="1"/>
            <a:r>
              <a:rPr lang="en-US" altLang="en-US" sz="1600" dirty="0">
                <a:solidFill>
                  <a:srgbClr val="777777"/>
                </a:solidFill>
                <a:latin typeface="Comic Sans MS" panose="030F0702030302020204" pitchFamily="66" charset="0"/>
              </a:rPr>
              <a:t> — REQ9: filing inquiries ]</a:t>
            </a:r>
            <a:endParaRPr lang="en-US" altLang="en-US" sz="1600" dirty="0">
              <a:solidFill>
                <a:srgbClr val="777777"/>
              </a:solidFill>
              <a:latin typeface="Comic Sans MS" panose="030F0702030302020204" pitchFamily="66"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35842" name="AutoShape 5"/>
          <p:cNvCxnSpPr>
            <a:cxnSpLocks noChangeAspect="1"/>
            <a:stCxn id="35878" idx="0"/>
            <a:endCxn id="35880" idx="3"/>
          </p:cNvCxnSpPr>
          <p:nvPr/>
        </p:nvCxnSpPr>
        <p:spPr>
          <a:xfrm flipH="1">
            <a:off x="4773613" y="2595563"/>
            <a:ext cx="1016000" cy="434975"/>
          </a:xfrm>
          <a:prstGeom prst="straightConnector1">
            <a:avLst/>
          </a:prstGeom>
          <a:ln w="19050" cap="flat" cmpd="sng">
            <a:solidFill>
              <a:schemeClr val="tx1"/>
            </a:solidFill>
            <a:prstDash val="lgDash"/>
            <a:headEnd type="none" w="med" len="med"/>
            <a:tailEnd type="none" w="lg" len="lg"/>
          </a:ln>
        </p:spPr>
      </p:cxnSp>
      <p:cxnSp>
        <p:nvCxnSpPr>
          <p:cNvPr id="35843" name="AutoShape 8"/>
          <p:cNvCxnSpPr>
            <a:cxnSpLocks noChangeAspect="1"/>
            <a:stCxn id="35872" idx="3"/>
            <a:endCxn id="35880" idx="1"/>
          </p:cNvCxnSpPr>
          <p:nvPr/>
        </p:nvCxnSpPr>
        <p:spPr>
          <a:xfrm>
            <a:off x="2859088" y="2598738"/>
            <a:ext cx="982662" cy="431800"/>
          </a:xfrm>
          <a:prstGeom prst="straightConnector1">
            <a:avLst/>
          </a:prstGeom>
          <a:ln w="19050" cap="flat" cmpd="sng">
            <a:solidFill>
              <a:schemeClr val="tx1"/>
            </a:solidFill>
            <a:prstDash val="solid"/>
            <a:headEnd type="none" w="med" len="med"/>
            <a:tailEnd type="none" w="med" len="med"/>
          </a:ln>
        </p:spPr>
      </p:cxnSp>
      <p:cxnSp>
        <p:nvCxnSpPr>
          <p:cNvPr id="35844" name="AutoShape 3"/>
          <p:cNvCxnSpPr>
            <a:cxnSpLocks noChangeAspect="1"/>
            <a:stCxn id="35878" idx="3"/>
            <a:endCxn id="35883" idx="3"/>
          </p:cNvCxnSpPr>
          <p:nvPr/>
        </p:nvCxnSpPr>
        <p:spPr>
          <a:xfrm flipH="1" flipV="1">
            <a:off x="4773613" y="1962150"/>
            <a:ext cx="1016000" cy="431800"/>
          </a:xfrm>
          <a:prstGeom prst="straightConnector1">
            <a:avLst/>
          </a:prstGeom>
          <a:ln w="19050" cap="flat" cmpd="sng">
            <a:solidFill>
              <a:schemeClr val="tx1"/>
            </a:solidFill>
            <a:prstDash val="lgDash"/>
            <a:headEnd type="none" w="med" len="med"/>
            <a:tailEnd type="triangle" w="lg" len="lg"/>
          </a:ln>
        </p:spPr>
      </p:cxnSp>
      <p:cxnSp>
        <p:nvCxnSpPr>
          <p:cNvPr id="35845" name="AutoShape 6"/>
          <p:cNvCxnSpPr>
            <a:cxnSpLocks noChangeAspect="1"/>
            <a:stCxn id="35872" idx="0"/>
            <a:endCxn id="35883" idx="1"/>
          </p:cNvCxnSpPr>
          <p:nvPr/>
        </p:nvCxnSpPr>
        <p:spPr>
          <a:xfrm flipV="1">
            <a:off x="2859088" y="1962150"/>
            <a:ext cx="982662" cy="434975"/>
          </a:xfrm>
          <a:prstGeom prst="straightConnector1">
            <a:avLst/>
          </a:prstGeom>
          <a:ln w="19050" cap="flat" cmpd="sng">
            <a:solidFill>
              <a:schemeClr val="tx1"/>
            </a:solidFill>
            <a:prstDash val="solid"/>
            <a:headEnd type="none" w="med" len="med"/>
            <a:tailEnd type="none" w="med" len="med"/>
          </a:ln>
        </p:spPr>
      </p:cxnSp>
      <p:sp>
        <p:nvSpPr>
          <p:cNvPr id="35846" name="Rectangle 2"/>
          <p:cNvSpPr>
            <a:spLocks noGrp="1"/>
          </p:cNvSpPr>
          <p:nvPr>
            <p:ph type="title"/>
          </p:nvPr>
        </p:nvSpPr>
        <p:spPr>
          <a:xfrm>
            <a:off x="269875" y="136525"/>
            <a:ext cx="8850313" cy="1143000"/>
          </a:xfrm>
        </p:spPr>
        <p:txBody>
          <a:bodyPr vert="horz" wrap="square" lIns="0" tIns="45720" rIns="0" bIns="45720" anchor="ctr" anchorCtr="0"/>
          <a:p>
            <a:pPr eaLnBrk="1" hangingPunct="1"/>
            <a:r>
              <a:rPr lang="en-US" altLang="en-US" sz="3200" kern="1200" dirty="0">
                <a:latin typeface="Arial Rounded MT Bold" panose="020F0704030504030204" pitchFamily="34" charset="0"/>
                <a:ea typeface="+mj-ea"/>
                <a:cs typeface="+mj-cs"/>
              </a:rPr>
              <a:t>Basic Frame 5:</a:t>
            </a:r>
            <a:r>
              <a:rPr lang="en-US" altLang="en-US" kern="1200" dirty="0">
                <a:latin typeface="Arial Rounded MT Bold" panose="020F0704030504030204" pitchFamily="34" charset="0"/>
                <a:ea typeface="+mj-ea"/>
                <a:cs typeface="+mj-cs"/>
              </a:rPr>
              <a:t> Transformation</a:t>
            </a:r>
            <a:endParaRPr lang="en-US" altLang="en-US" kern="1200" dirty="0">
              <a:latin typeface="Arial Rounded MT Bold" panose="020F0704030504030204" pitchFamily="34" charset="0"/>
              <a:ea typeface="+mj-ea"/>
              <a:cs typeface="+mj-cs"/>
            </a:endParaRPr>
          </a:p>
        </p:txBody>
      </p:sp>
      <p:sp>
        <p:nvSpPr>
          <p:cNvPr id="35847" name="Text Box 15"/>
          <p:cNvSpPr txBox="1">
            <a:spLocks noChangeAspect="1"/>
          </p:cNvSpPr>
          <p:nvPr/>
        </p:nvSpPr>
        <p:spPr>
          <a:xfrm>
            <a:off x="5138738" y="1954213"/>
            <a:ext cx="400050"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IN!Y3</a:t>
            </a:r>
            <a:endParaRPr lang="en-US" altLang="en-US" sz="1200" dirty="0">
              <a:latin typeface="Arial" panose="020B0604020202020204" pitchFamily="34" charset="0"/>
            </a:endParaRPr>
          </a:p>
        </p:txBody>
      </p:sp>
      <p:sp>
        <p:nvSpPr>
          <p:cNvPr id="35848" name="Text Box 16"/>
          <p:cNvSpPr txBox="1">
            <a:spLocks noChangeAspect="1"/>
          </p:cNvSpPr>
          <p:nvPr/>
        </p:nvSpPr>
        <p:spPr>
          <a:xfrm>
            <a:off x="3024188" y="1954213"/>
            <a:ext cx="400050"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IN!Y1</a:t>
            </a:r>
            <a:endParaRPr lang="en-US" altLang="en-US" sz="1200" dirty="0">
              <a:latin typeface="Arial" panose="020B0604020202020204" pitchFamily="34" charset="0"/>
            </a:endParaRPr>
          </a:p>
        </p:txBody>
      </p:sp>
      <p:sp>
        <p:nvSpPr>
          <p:cNvPr id="35849" name="Text Box 19"/>
          <p:cNvSpPr txBox="1">
            <a:spLocks noChangeAspect="1"/>
          </p:cNvSpPr>
          <p:nvPr/>
        </p:nvSpPr>
        <p:spPr>
          <a:xfrm>
            <a:off x="287338" y="3751263"/>
            <a:ext cx="4552950" cy="274637"/>
          </a:xfrm>
          <a:prstGeom prst="rect">
            <a:avLst/>
          </a:prstGeom>
          <a:noFill/>
          <a:ln w="9525">
            <a:noFill/>
          </a:ln>
        </p:spPr>
        <p:txBody>
          <a:bodyPr wrap="none" lIns="9144" tIns="0" rIns="9144" bIns="0">
            <a:spAutoFit/>
          </a:bodyPr>
          <a:p>
            <a:pPr eaLnBrk="1" hangingPunct="1"/>
            <a:r>
              <a:rPr lang="en-US" altLang="en-US" b="1" dirty="0">
                <a:latin typeface="Arial" panose="020B0604020202020204" pitchFamily="34" charset="0"/>
              </a:rPr>
              <a:t>Example: REQ4 - generate periodic report</a:t>
            </a:r>
            <a:endParaRPr lang="en-US" altLang="en-US" b="1" dirty="0">
              <a:latin typeface="Arial" panose="020B0604020202020204" pitchFamily="34" charset="0"/>
            </a:endParaRPr>
          </a:p>
        </p:txBody>
      </p:sp>
      <p:sp>
        <p:nvSpPr>
          <p:cNvPr id="35850" name="Text Box 20"/>
          <p:cNvSpPr txBox="1">
            <a:spLocks noChangeAspect="1"/>
          </p:cNvSpPr>
          <p:nvPr/>
        </p:nvSpPr>
        <p:spPr>
          <a:xfrm>
            <a:off x="1824038" y="4646613"/>
            <a:ext cx="1130300"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Transform Software</a:t>
            </a:r>
            <a:endParaRPr lang="en-US" altLang="en-US" sz="1000" i="1" dirty="0">
              <a:latin typeface="Arial" panose="020B0604020202020204" pitchFamily="34" charset="0"/>
            </a:endParaRPr>
          </a:p>
        </p:txBody>
      </p:sp>
      <p:sp>
        <p:nvSpPr>
          <p:cNvPr id="35851" name="Text Box 21"/>
          <p:cNvSpPr txBox="1">
            <a:spLocks noChangeAspect="1"/>
          </p:cNvSpPr>
          <p:nvPr/>
        </p:nvSpPr>
        <p:spPr>
          <a:xfrm>
            <a:off x="4125913" y="4113213"/>
            <a:ext cx="361950"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Inputs</a:t>
            </a:r>
            <a:endParaRPr lang="en-US" altLang="en-US" sz="1000" i="1" dirty="0">
              <a:latin typeface="Arial" panose="020B0604020202020204" pitchFamily="34" charset="0"/>
            </a:endParaRPr>
          </a:p>
        </p:txBody>
      </p:sp>
      <p:sp>
        <p:nvSpPr>
          <p:cNvPr id="35852" name="Text Box 22"/>
          <p:cNvSpPr txBox="1">
            <a:spLocks noChangeAspect="1"/>
          </p:cNvSpPr>
          <p:nvPr/>
        </p:nvSpPr>
        <p:spPr>
          <a:xfrm>
            <a:off x="5907088" y="4646613"/>
            <a:ext cx="685800"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I/O Relation</a:t>
            </a:r>
            <a:endParaRPr lang="en-US" altLang="en-US" sz="1000" i="1" dirty="0">
              <a:latin typeface="Arial" panose="020B0604020202020204" pitchFamily="34" charset="0"/>
            </a:endParaRPr>
          </a:p>
        </p:txBody>
      </p:sp>
      <p:sp>
        <p:nvSpPr>
          <p:cNvPr id="35853" name="Text Box 23"/>
          <p:cNvSpPr txBox="1">
            <a:spLocks noChangeAspect="1"/>
          </p:cNvSpPr>
          <p:nvPr/>
        </p:nvSpPr>
        <p:spPr>
          <a:xfrm>
            <a:off x="5260975" y="6151563"/>
            <a:ext cx="2119313" cy="365125"/>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c: IP! {Stock[i], Balance}	[Y3]</a:t>
            </a:r>
            <a:endParaRPr lang="en-US" altLang="en-US" sz="1200" dirty="0">
              <a:latin typeface="Arial" panose="020B0604020202020204" pitchFamily="34" charset="0"/>
            </a:endParaRPr>
          </a:p>
          <a:p>
            <a:pPr eaLnBrk="1" hangingPunct="1"/>
            <a:r>
              <a:rPr lang="en-US" altLang="en-US" sz="1200" dirty="0">
                <a:latin typeface="Arial" panose="020B0604020202020204" pitchFamily="34" charset="0"/>
              </a:rPr>
              <a:t>d: PR! {Line Data}	[Y4]</a:t>
            </a:r>
            <a:endParaRPr lang="en-US" altLang="en-US" sz="1200" dirty="0">
              <a:latin typeface="Arial" panose="020B0604020202020204" pitchFamily="34" charset="0"/>
            </a:endParaRPr>
          </a:p>
        </p:txBody>
      </p:sp>
      <p:sp>
        <p:nvSpPr>
          <p:cNvPr id="35854" name="Text Box 24"/>
          <p:cNvSpPr txBox="1">
            <a:spLocks noChangeAspect="1"/>
          </p:cNvSpPr>
          <p:nvPr/>
        </p:nvSpPr>
        <p:spPr>
          <a:xfrm>
            <a:off x="1508125" y="6151563"/>
            <a:ext cx="2662238"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a: IP! {Shares[i], Price[i], Balance}  [Y1]</a:t>
            </a:r>
            <a:endParaRPr lang="en-US" altLang="en-US" sz="1200" dirty="0">
              <a:latin typeface="Arial" panose="020B0604020202020204" pitchFamily="34" charset="0"/>
            </a:endParaRPr>
          </a:p>
        </p:txBody>
      </p:sp>
      <p:sp>
        <p:nvSpPr>
          <p:cNvPr id="35855" name="Text Box 25"/>
          <p:cNvSpPr txBox="1">
            <a:spLocks noChangeAspect="1"/>
          </p:cNvSpPr>
          <p:nvPr/>
        </p:nvSpPr>
        <p:spPr>
          <a:xfrm>
            <a:off x="1508125" y="6408738"/>
            <a:ext cx="2676525" cy="182562"/>
          </a:xfrm>
          <a:prstGeom prst="rect">
            <a:avLst/>
          </a:prstGeom>
          <a:noFill/>
          <a:ln w="9525">
            <a:noFill/>
          </a:ln>
        </p:spPr>
        <p:txBody>
          <a:bodyPr wrap="none" lIns="9144" tIns="0" rIns="9144" bIns="0">
            <a:spAutoFit/>
          </a:bodyPr>
          <a:p>
            <a:pPr eaLnBrk="1" hangingPunct="1"/>
            <a:r>
              <a:rPr lang="en-US" altLang="en-US" sz="1200" dirty="0">
                <a:latin typeface="Arial" panose="020B0604020202020204" pitchFamily="34" charset="0"/>
              </a:rPr>
              <a:t>b: RG! {Report Line, Char}	             [Y2]</a:t>
            </a:r>
            <a:endParaRPr lang="en-US" altLang="en-US" sz="1200" dirty="0">
              <a:latin typeface="Arial" panose="020B0604020202020204" pitchFamily="34" charset="0"/>
            </a:endParaRPr>
          </a:p>
        </p:txBody>
      </p:sp>
      <p:sp>
        <p:nvSpPr>
          <p:cNvPr id="35856" name="Text Box 32"/>
          <p:cNvSpPr txBox="1">
            <a:spLocks noChangeAspect="1"/>
          </p:cNvSpPr>
          <p:nvPr/>
        </p:nvSpPr>
        <p:spPr>
          <a:xfrm>
            <a:off x="3032125" y="2890838"/>
            <a:ext cx="442913"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TS!Y2</a:t>
            </a:r>
            <a:endParaRPr lang="en-US" altLang="en-US" sz="1200" dirty="0">
              <a:latin typeface="Arial" panose="020B0604020202020204" pitchFamily="34" charset="0"/>
            </a:endParaRPr>
          </a:p>
        </p:txBody>
      </p:sp>
      <p:sp>
        <p:nvSpPr>
          <p:cNvPr id="35857" name="Text Box 33"/>
          <p:cNvSpPr txBox="1">
            <a:spLocks noChangeAspect="1"/>
          </p:cNvSpPr>
          <p:nvPr/>
        </p:nvSpPr>
        <p:spPr>
          <a:xfrm>
            <a:off x="5100638" y="2878138"/>
            <a:ext cx="476250" cy="182562"/>
          </a:xfrm>
          <a:prstGeom prst="rect">
            <a:avLst/>
          </a:prstGeom>
          <a:noFill/>
          <a:ln w="9525">
            <a:noFill/>
          </a:ln>
        </p:spPr>
        <p:txBody>
          <a:bodyPr wrap="none" lIns="9144" tIns="0" rIns="9144" bIns="0">
            <a:spAutoFit/>
          </a:bodyPr>
          <a:p>
            <a:pPr algn="ctr" eaLnBrk="1" hangingPunct="1"/>
            <a:r>
              <a:rPr lang="en-US" altLang="en-US" sz="1200" dirty="0">
                <a:latin typeface="Arial" panose="020B0604020202020204" pitchFamily="34" charset="0"/>
              </a:rPr>
              <a:t>OU!Y4</a:t>
            </a:r>
            <a:endParaRPr lang="en-US" altLang="en-US" sz="1200" dirty="0">
              <a:latin typeface="Arial" panose="020B0604020202020204" pitchFamily="34" charset="0"/>
            </a:endParaRPr>
          </a:p>
        </p:txBody>
      </p:sp>
      <p:cxnSp>
        <p:nvCxnSpPr>
          <p:cNvPr id="35858" name="AutoShape 34"/>
          <p:cNvCxnSpPr>
            <a:cxnSpLocks noChangeAspect="1"/>
            <a:endCxn id="35886" idx="3"/>
          </p:cNvCxnSpPr>
          <p:nvPr/>
        </p:nvCxnSpPr>
        <p:spPr>
          <a:xfrm flipH="1" flipV="1">
            <a:off x="4770438" y="4551363"/>
            <a:ext cx="1017587" cy="433387"/>
          </a:xfrm>
          <a:prstGeom prst="straightConnector1">
            <a:avLst/>
          </a:prstGeom>
          <a:ln w="19050" cap="flat" cmpd="sng">
            <a:solidFill>
              <a:schemeClr val="tx1"/>
            </a:solidFill>
            <a:prstDash val="lgDash"/>
            <a:headEnd type="none" w="med" len="med"/>
            <a:tailEnd type="triangle" w="lg" len="lg"/>
          </a:ln>
        </p:spPr>
      </p:cxnSp>
      <p:cxnSp>
        <p:nvCxnSpPr>
          <p:cNvPr id="35859" name="AutoShape 35"/>
          <p:cNvCxnSpPr>
            <a:cxnSpLocks noChangeAspect="1"/>
            <a:endCxn id="35864" idx="3"/>
          </p:cNvCxnSpPr>
          <p:nvPr/>
        </p:nvCxnSpPr>
        <p:spPr>
          <a:xfrm flipH="1">
            <a:off x="4770438" y="5189538"/>
            <a:ext cx="1017587" cy="431800"/>
          </a:xfrm>
          <a:prstGeom prst="straightConnector1">
            <a:avLst/>
          </a:prstGeom>
          <a:ln w="19050" cap="flat" cmpd="sng">
            <a:solidFill>
              <a:schemeClr val="tx1"/>
            </a:solidFill>
            <a:prstDash val="lgDash"/>
            <a:headEnd type="none" w="med" len="med"/>
            <a:tailEnd type="none" w="lg" len="lg"/>
          </a:ln>
        </p:spPr>
      </p:cxnSp>
      <p:cxnSp>
        <p:nvCxnSpPr>
          <p:cNvPr id="35860" name="AutoShape 36"/>
          <p:cNvCxnSpPr>
            <a:cxnSpLocks noChangeAspect="1"/>
            <a:endCxn id="35886" idx="1"/>
          </p:cNvCxnSpPr>
          <p:nvPr/>
        </p:nvCxnSpPr>
        <p:spPr>
          <a:xfrm flipV="1">
            <a:off x="2859088" y="4551363"/>
            <a:ext cx="982662" cy="433387"/>
          </a:xfrm>
          <a:prstGeom prst="straightConnector1">
            <a:avLst/>
          </a:prstGeom>
          <a:ln w="19050" cap="flat" cmpd="sng">
            <a:solidFill>
              <a:schemeClr val="tx1"/>
            </a:solidFill>
            <a:prstDash val="solid"/>
            <a:headEnd type="none" w="med" len="med"/>
            <a:tailEnd type="none" w="med" len="med"/>
          </a:ln>
        </p:spPr>
      </p:cxnSp>
      <p:cxnSp>
        <p:nvCxnSpPr>
          <p:cNvPr id="35861" name="AutoShape 37"/>
          <p:cNvCxnSpPr>
            <a:cxnSpLocks noChangeAspect="1"/>
            <a:endCxn id="35864" idx="1"/>
          </p:cNvCxnSpPr>
          <p:nvPr/>
        </p:nvCxnSpPr>
        <p:spPr>
          <a:xfrm>
            <a:off x="2859088" y="5189538"/>
            <a:ext cx="982662" cy="431800"/>
          </a:xfrm>
          <a:prstGeom prst="straightConnector1">
            <a:avLst/>
          </a:prstGeom>
          <a:ln w="19050" cap="flat" cmpd="sng">
            <a:solidFill>
              <a:schemeClr val="tx1"/>
            </a:solidFill>
            <a:prstDash val="solid"/>
            <a:headEnd type="none" w="med" len="med"/>
            <a:tailEnd type="none" w="med" len="med"/>
          </a:ln>
        </p:spPr>
      </p:cxnSp>
      <p:sp>
        <p:nvSpPr>
          <p:cNvPr id="35862" name="Oval 42"/>
          <p:cNvSpPr>
            <a:spLocks noChangeAspect="1"/>
          </p:cNvSpPr>
          <p:nvPr/>
        </p:nvSpPr>
        <p:spPr>
          <a:xfrm>
            <a:off x="5738813" y="4849813"/>
            <a:ext cx="1019175" cy="473075"/>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Reporting rules</a:t>
            </a:r>
            <a:endParaRPr lang="en-US" altLang="en-US" sz="1000" dirty="0">
              <a:latin typeface="Arial" panose="020B0604020202020204" pitchFamily="34" charset="0"/>
            </a:endParaRPr>
          </a:p>
        </p:txBody>
      </p:sp>
      <p:grpSp>
        <p:nvGrpSpPr>
          <p:cNvPr id="35863" name="Group 43"/>
          <p:cNvGrpSpPr/>
          <p:nvPr/>
        </p:nvGrpSpPr>
        <p:grpSpPr>
          <a:xfrm>
            <a:off x="3841750" y="4314825"/>
            <a:ext cx="928688" cy="473075"/>
            <a:chOff x="2420" y="1390"/>
            <a:chExt cx="585" cy="298"/>
          </a:xfrm>
        </p:grpSpPr>
        <p:sp>
          <p:nvSpPr>
            <p:cNvPr id="35886" name="Rectangle 44"/>
            <p:cNvSpPr>
              <a:spLocks noChangeAspect="1"/>
            </p:cNvSpPr>
            <p:nvPr/>
          </p:nvSpPr>
          <p:spPr>
            <a:xfrm>
              <a:off x="2420" y="1390"/>
              <a:ext cx="585" cy="298"/>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Investment Portfolio</a:t>
              </a:r>
              <a:endParaRPr lang="en-US" altLang="en-US" sz="1000" dirty="0">
                <a:latin typeface="Arial" panose="020B0604020202020204" pitchFamily="34" charset="0"/>
              </a:endParaRPr>
            </a:p>
          </p:txBody>
        </p:sp>
        <p:sp>
          <p:nvSpPr>
            <p:cNvPr id="35887" name="Rectangle 45"/>
            <p:cNvSpPr/>
            <p:nvPr/>
          </p:nvSpPr>
          <p:spPr>
            <a:xfrm>
              <a:off x="2890" y="157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grpSp>
      <p:sp>
        <p:nvSpPr>
          <p:cNvPr id="35864" name="Rectangle 47"/>
          <p:cNvSpPr>
            <a:spLocks noChangeAspect="1"/>
          </p:cNvSpPr>
          <p:nvPr/>
        </p:nvSpPr>
        <p:spPr>
          <a:xfrm>
            <a:off x="3841750" y="5384800"/>
            <a:ext cx="928688"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Periodic Report</a:t>
            </a:r>
            <a:endParaRPr lang="en-US" altLang="en-US" sz="1000" dirty="0">
              <a:latin typeface="Arial" panose="020B0604020202020204" pitchFamily="34" charset="0"/>
            </a:endParaRPr>
          </a:p>
        </p:txBody>
      </p:sp>
      <p:sp>
        <p:nvSpPr>
          <p:cNvPr id="35865" name="Rectangle 48"/>
          <p:cNvSpPr/>
          <p:nvPr/>
        </p:nvSpPr>
        <p:spPr>
          <a:xfrm>
            <a:off x="4587875" y="5675313"/>
            <a:ext cx="182563" cy="18256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sp>
        <p:nvSpPr>
          <p:cNvPr id="35866" name="Text Box 49"/>
          <p:cNvSpPr txBox="1">
            <a:spLocks noChangeAspect="1"/>
          </p:cNvSpPr>
          <p:nvPr/>
        </p:nvSpPr>
        <p:spPr>
          <a:xfrm>
            <a:off x="4076700" y="5905500"/>
            <a:ext cx="460375" cy="152400"/>
          </a:xfrm>
          <a:prstGeom prst="rect">
            <a:avLst/>
          </a:prstGeom>
          <a:noFill/>
          <a:ln w="9525">
            <a:noFill/>
          </a:ln>
        </p:spPr>
        <p:txBody>
          <a:bodyPr wrap="none" lIns="9144" tIns="0" rIns="9144" bIns="0">
            <a:spAutoFit/>
          </a:bodyPr>
          <a:p>
            <a:pPr algn="ctr" eaLnBrk="1" hangingPunct="1"/>
            <a:r>
              <a:rPr lang="en-US" altLang="en-US" sz="1000" i="1" dirty="0">
                <a:latin typeface="Arial" panose="020B0604020202020204" pitchFamily="34" charset="0"/>
              </a:rPr>
              <a:t>Outputs</a:t>
            </a:r>
            <a:endParaRPr lang="en-US" altLang="en-US" sz="1000" i="1" dirty="0">
              <a:latin typeface="Arial" panose="020B0604020202020204" pitchFamily="34" charset="0"/>
            </a:endParaRPr>
          </a:p>
        </p:txBody>
      </p:sp>
      <p:sp>
        <p:nvSpPr>
          <p:cNvPr id="35867" name="Oval 53"/>
          <p:cNvSpPr>
            <a:spLocks noChangeAspect="1"/>
          </p:cNvSpPr>
          <p:nvPr/>
        </p:nvSpPr>
        <p:spPr>
          <a:xfrm>
            <a:off x="3211513" y="4618038"/>
            <a:ext cx="274637" cy="274637"/>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a</a:t>
            </a:r>
            <a:endParaRPr lang="en-US" altLang="en-US" sz="1200" dirty="0">
              <a:latin typeface="Arial" panose="020B0604020202020204" pitchFamily="34" charset="0"/>
            </a:endParaRPr>
          </a:p>
        </p:txBody>
      </p:sp>
      <p:sp>
        <p:nvSpPr>
          <p:cNvPr id="35868" name="Oval 54"/>
          <p:cNvSpPr>
            <a:spLocks noChangeAspect="1"/>
          </p:cNvSpPr>
          <p:nvPr/>
        </p:nvSpPr>
        <p:spPr>
          <a:xfrm>
            <a:off x="3211513" y="5256213"/>
            <a:ext cx="274637" cy="274637"/>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b</a:t>
            </a:r>
            <a:endParaRPr lang="en-US" altLang="en-US" sz="1200" dirty="0">
              <a:latin typeface="Arial" panose="020B0604020202020204" pitchFamily="34" charset="0"/>
            </a:endParaRPr>
          </a:p>
        </p:txBody>
      </p:sp>
      <p:sp>
        <p:nvSpPr>
          <p:cNvPr id="35869" name="Oval 55"/>
          <p:cNvSpPr>
            <a:spLocks noChangeAspect="1"/>
          </p:cNvSpPr>
          <p:nvPr/>
        </p:nvSpPr>
        <p:spPr>
          <a:xfrm>
            <a:off x="5116513" y="4618038"/>
            <a:ext cx="274637" cy="274637"/>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c</a:t>
            </a:r>
            <a:endParaRPr lang="en-US" altLang="en-US" sz="1200" dirty="0">
              <a:latin typeface="Arial" panose="020B0604020202020204" pitchFamily="34" charset="0"/>
            </a:endParaRPr>
          </a:p>
        </p:txBody>
      </p:sp>
      <p:sp>
        <p:nvSpPr>
          <p:cNvPr id="35870" name="Oval 56"/>
          <p:cNvSpPr>
            <a:spLocks noChangeAspect="1"/>
          </p:cNvSpPr>
          <p:nvPr/>
        </p:nvSpPr>
        <p:spPr>
          <a:xfrm>
            <a:off x="5116513" y="5272088"/>
            <a:ext cx="274637" cy="274637"/>
          </a:xfrm>
          <a:prstGeom prst="ellipse">
            <a:avLst/>
          </a:prstGeom>
          <a:solidFill>
            <a:schemeClr val="bg1"/>
          </a:solidFill>
          <a:ln w="9525" cap="flat" cmpd="sng">
            <a:solidFill>
              <a:schemeClr val="tx1"/>
            </a:solidFill>
            <a:prstDash val="solid"/>
            <a:headEnd type="none" w="med" len="med"/>
            <a:tailEnd type="none" w="med" len="med"/>
          </a:ln>
        </p:spPr>
        <p:txBody>
          <a:bodyPr wrap="none" lIns="0" tIns="0" rIns="0" bIns="0" anchor="ctr" anchorCtr="0"/>
          <a:p>
            <a:pPr algn="ctr" eaLnBrk="1" hangingPunct="1"/>
            <a:r>
              <a:rPr lang="en-US" altLang="en-US" sz="1200" dirty="0">
                <a:latin typeface="Arial" panose="020B0604020202020204" pitchFamily="34" charset="0"/>
              </a:rPr>
              <a:t>d</a:t>
            </a:r>
            <a:endParaRPr lang="en-US" altLang="en-US" sz="1200" dirty="0">
              <a:latin typeface="Arial" panose="020B0604020202020204" pitchFamily="34" charset="0"/>
            </a:endParaRPr>
          </a:p>
        </p:txBody>
      </p:sp>
      <p:sp>
        <p:nvSpPr>
          <p:cNvPr id="35871" name="Rectangle 10"/>
          <p:cNvSpPr>
            <a:spLocks noChangeAspect="1"/>
          </p:cNvSpPr>
          <p:nvPr/>
        </p:nvSpPr>
        <p:spPr>
          <a:xfrm>
            <a:off x="2079625" y="2259013"/>
            <a:ext cx="776288" cy="4730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en-US" altLang="en-US" sz="1000" dirty="0">
                <a:latin typeface="Arial" panose="020B0604020202020204" pitchFamily="34" charset="0"/>
              </a:rPr>
              <a:t>Transform software</a:t>
            </a:r>
            <a:endParaRPr lang="en-US" altLang="en-US" sz="1000" dirty="0">
              <a:latin typeface="Arial" panose="020B0604020202020204" pitchFamily="34" charset="0"/>
            </a:endParaRPr>
          </a:p>
        </p:txBody>
      </p:sp>
      <p:sp>
        <p:nvSpPr>
          <p:cNvPr id="35872" name="Freeform 62"/>
          <p:cNvSpPr/>
          <p:nvPr/>
        </p:nvSpPr>
        <p:spPr>
          <a:xfrm>
            <a:off x="2730500" y="2397125"/>
            <a:ext cx="128588" cy="201613"/>
          </a:xfrm>
          <a:custGeom>
            <a:avLst/>
            <a:gdLst>
              <a:gd name="txL" fmla="*/ 0 w 576"/>
              <a:gd name="txT" fmla="*/ 0 h 576"/>
              <a:gd name="txR" fmla="*/ 576 w 576"/>
              <a:gd name="txB" fmla="*/ 576 h 576"/>
            </a:gdLst>
            <a:ahLst/>
            <a:cxnLst>
              <a:cxn ang="0">
                <a:pos x="0" y="0"/>
              </a:cxn>
              <a:cxn ang="0">
                <a:pos x="0" y="0"/>
              </a:cxn>
              <a:cxn ang="0">
                <a:pos x="0" y="2147483647"/>
              </a:cxn>
              <a:cxn ang="0">
                <a:pos x="0" y="2147483647"/>
              </a:cxn>
            </a:cxnLst>
            <a:rect l="txL" t="txT" r="txR" b="txB"/>
            <a:pathLst>
              <a:path w="576" h="576">
                <a:moveTo>
                  <a:pt x="576" y="0"/>
                </a:moveTo>
                <a:lnTo>
                  <a:pt x="0" y="0"/>
                </a:lnTo>
                <a:lnTo>
                  <a:pt x="0" y="576"/>
                </a:lnTo>
                <a:lnTo>
                  <a:pt x="576" y="576"/>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5873" name="Rectangle 58"/>
          <p:cNvSpPr/>
          <p:nvPr/>
        </p:nvSpPr>
        <p:spPr>
          <a:xfrm>
            <a:off x="2082800" y="2259013"/>
            <a:ext cx="776288" cy="474662"/>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Transform Software</a:t>
            </a:r>
            <a:endParaRPr lang="en-US" altLang="en-US" sz="1000" dirty="0">
              <a:latin typeface="Arial" panose="020B0604020202020204" pitchFamily="34" charset="0"/>
            </a:endParaRPr>
          </a:p>
        </p:txBody>
      </p:sp>
      <p:grpSp>
        <p:nvGrpSpPr>
          <p:cNvPr id="35874" name="Group 71"/>
          <p:cNvGrpSpPr/>
          <p:nvPr/>
        </p:nvGrpSpPr>
        <p:grpSpPr>
          <a:xfrm>
            <a:off x="3841750" y="1724025"/>
            <a:ext cx="931863" cy="474663"/>
            <a:chOff x="2420" y="1086"/>
            <a:chExt cx="587" cy="299"/>
          </a:xfrm>
        </p:grpSpPr>
        <p:sp>
          <p:nvSpPr>
            <p:cNvPr id="35883" name="Rectangle 67"/>
            <p:cNvSpPr/>
            <p:nvPr/>
          </p:nvSpPr>
          <p:spPr>
            <a:xfrm>
              <a:off x="2420" y="1086"/>
              <a:ext cx="587" cy="299"/>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Inputs</a:t>
              </a:r>
              <a:endParaRPr lang="en-US" altLang="en-US" sz="1000" dirty="0">
                <a:latin typeface="Arial" panose="020B0604020202020204" pitchFamily="34" charset="0"/>
              </a:endParaRPr>
            </a:p>
          </p:txBody>
        </p:sp>
        <p:sp>
          <p:nvSpPr>
            <p:cNvPr id="35884" name="Rectangle 12"/>
            <p:cNvSpPr/>
            <p:nvPr/>
          </p:nvSpPr>
          <p:spPr>
            <a:xfrm>
              <a:off x="2892" y="1270"/>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sp>
          <p:nvSpPr>
            <p:cNvPr id="35885" name="Line 69"/>
            <p:cNvSpPr/>
            <p:nvPr/>
          </p:nvSpPr>
          <p:spPr>
            <a:xfrm>
              <a:off x="2420" y="1086"/>
              <a:ext cx="0" cy="299"/>
            </a:xfrm>
            <a:prstGeom prst="line">
              <a:avLst/>
            </a:prstGeom>
            <a:ln w="38100" cap="flat" cmpd="dbl">
              <a:solidFill>
                <a:schemeClr val="tx1"/>
              </a:solidFill>
              <a:prstDash val="solid"/>
              <a:headEnd type="none" w="med" len="med"/>
              <a:tailEnd type="none" w="med" len="med"/>
            </a:ln>
          </p:spPr>
        </p:sp>
      </p:grpSp>
      <p:grpSp>
        <p:nvGrpSpPr>
          <p:cNvPr id="35875" name="Group 78"/>
          <p:cNvGrpSpPr/>
          <p:nvPr/>
        </p:nvGrpSpPr>
        <p:grpSpPr>
          <a:xfrm>
            <a:off x="3841750" y="2792413"/>
            <a:ext cx="931863" cy="474662"/>
            <a:chOff x="2420" y="1759"/>
            <a:chExt cx="587" cy="299"/>
          </a:xfrm>
        </p:grpSpPr>
        <p:sp>
          <p:nvSpPr>
            <p:cNvPr id="35880" name="Rectangle 73"/>
            <p:cNvSpPr/>
            <p:nvPr/>
          </p:nvSpPr>
          <p:spPr>
            <a:xfrm>
              <a:off x="2420" y="1759"/>
              <a:ext cx="587" cy="299"/>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Outputs</a:t>
              </a:r>
              <a:endParaRPr lang="en-US" altLang="en-US" sz="1000" dirty="0">
                <a:latin typeface="Arial" panose="020B0604020202020204" pitchFamily="34" charset="0"/>
              </a:endParaRPr>
            </a:p>
          </p:txBody>
        </p:sp>
        <p:sp>
          <p:nvSpPr>
            <p:cNvPr id="35881" name="Rectangle 12"/>
            <p:cNvSpPr/>
            <p:nvPr/>
          </p:nvSpPr>
          <p:spPr>
            <a:xfrm>
              <a:off x="2892" y="1943"/>
              <a:ext cx="115" cy="115"/>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en-US" sz="1000" dirty="0">
                  <a:latin typeface="Arial" panose="020B0604020202020204" pitchFamily="34" charset="0"/>
                </a:rPr>
                <a:t>X</a:t>
              </a:r>
              <a:endParaRPr lang="en-US" altLang="en-US" sz="1000" dirty="0">
                <a:latin typeface="Arial" panose="020B0604020202020204" pitchFamily="34" charset="0"/>
              </a:endParaRPr>
            </a:p>
          </p:txBody>
        </p:sp>
        <p:sp>
          <p:nvSpPr>
            <p:cNvPr id="35882" name="Line 75"/>
            <p:cNvSpPr/>
            <p:nvPr/>
          </p:nvSpPr>
          <p:spPr>
            <a:xfrm>
              <a:off x="2420" y="1759"/>
              <a:ext cx="0" cy="299"/>
            </a:xfrm>
            <a:prstGeom prst="line">
              <a:avLst/>
            </a:prstGeom>
            <a:ln w="38100" cap="flat" cmpd="dbl">
              <a:solidFill>
                <a:schemeClr val="tx1"/>
              </a:solidFill>
              <a:prstDash val="solid"/>
              <a:headEnd type="none" w="med" len="med"/>
              <a:tailEnd type="none" w="med" len="med"/>
            </a:ln>
          </p:spPr>
        </p:sp>
      </p:grpSp>
      <p:grpSp>
        <p:nvGrpSpPr>
          <p:cNvPr id="35876" name="Group 79"/>
          <p:cNvGrpSpPr/>
          <p:nvPr/>
        </p:nvGrpSpPr>
        <p:grpSpPr>
          <a:xfrm>
            <a:off x="5738813" y="2259013"/>
            <a:ext cx="1019175" cy="473075"/>
            <a:chOff x="3615" y="1423"/>
            <a:chExt cx="642" cy="298"/>
          </a:xfrm>
        </p:grpSpPr>
        <p:sp>
          <p:nvSpPr>
            <p:cNvPr id="35878" name="Freeform 77"/>
            <p:cNvSpPr/>
            <p:nvPr/>
          </p:nvSpPr>
          <p:spPr>
            <a:xfrm>
              <a:off x="3647" y="1508"/>
              <a:ext cx="46" cy="127"/>
            </a:xfrm>
            <a:custGeom>
              <a:avLst/>
              <a:gdLst>
                <a:gd name="txL" fmla="*/ 0 w 576"/>
                <a:gd name="txT" fmla="*/ 0 h 576"/>
                <a:gd name="txR" fmla="*/ 576 w 576"/>
                <a:gd name="txB" fmla="*/ 576 h 576"/>
              </a:gdLst>
              <a:ahLst/>
              <a:cxnLst>
                <a:cxn ang="0">
                  <a:pos x="0" y="0"/>
                </a:cxn>
                <a:cxn ang="0">
                  <a:pos x="0" y="0"/>
                </a:cxn>
                <a:cxn ang="0">
                  <a:pos x="0" y="0"/>
                </a:cxn>
                <a:cxn ang="0">
                  <a:pos x="0" y="0"/>
                </a:cxn>
              </a:cxnLst>
              <a:rect l="txL" t="txT" r="txR" b="txB"/>
              <a:pathLst>
                <a:path w="576" h="576">
                  <a:moveTo>
                    <a:pt x="0" y="576"/>
                  </a:moveTo>
                  <a:lnTo>
                    <a:pt x="576" y="576"/>
                  </a:lnTo>
                  <a:lnTo>
                    <a:pt x="576" y="0"/>
                  </a:lnTo>
                  <a:lnTo>
                    <a:pt x="0" y="0"/>
                  </a:lnTo>
                </a:path>
              </a:pathLst>
            </a:custGeom>
            <a:noFill/>
            <a:ln w="3175" cap="flat" cmpd="sng">
              <a:solidFill>
                <a:schemeClr val="tx1">
                  <a:alpha val="100000"/>
                </a:schemeClr>
              </a:solidFill>
              <a:prstDash val="solid"/>
              <a:round/>
              <a:headEnd type="none" w="med" len="med"/>
              <a:tailEnd type="none" w="med" len="med"/>
            </a:ln>
          </p:spPr>
          <p:txBody>
            <a:bodyPr/>
            <a:p>
              <a:endParaRPr lang="zh-CN" altLang="en-US"/>
            </a:p>
          </p:txBody>
        </p:sp>
        <p:sp>
          <p:nvSpPr>
            <p:cNvPr id="35879" name="Oval 13"/>
            <p:cNvSpPr>
              <a:spLocks noChangeAspect="1"/>
            </p:cNvSpPr>
            <p:nvPr/>
          </p:nvSpPr>
          <p:spPr>
            <a:xfrm>
              <a:off x="3615" y="1423"/>
              <a:ext cx="642" cy="298"/>
            </a:xfrm>
            <a:prstGeom prst="ellipse">
              <a:avLst/>
            </a:prstGeom>
            <a:solidFill>
              <a:schemeClr val="bg1"/>
            </a:solidFill>
            <a:ln w="9525" cap="flat" cmpd="sng">
              <a:solidFill>
                <a:schemeClr val="tx1"/>
              </a:solidFill>
              <a:prstDash val="lgDash"/>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I/O Relation</a:t>
              </a:r>
              <a:endParaRPr lang="en-US" altLang="en-US" sz="1000" dirty="0">
                <a:latin typeface="Arial" panose="020B0604020202020204" pitchFamily="34" charset="0"/>
              </a:endParaRPr>
            </a:p>
          </p:txBody>
        </p:sp>
      </p:grpSp>
      <p:sp>
        <p:nvSpPr>
          <p:cNvPr id="35877" name="Rectangle 52"/>
          <p:cNvSpPr/>
          <p:nvPr/>
        </p:nvSpPr>
        <p:spPr>
          <a:xfrm>
            <a:off x="2079625" y="4848225"/>
            <a:ext cx="776288" cy="474663"/>
          </a:xfrm>
          <a:prstGeom prst="rect">
            <a:avLst/>
          </a:prstGeom>
          <a:solidFill>
            <a:schemeClr val="bg1"/>
          </a:solidFill>
          <a:ln w="28575" cap="flat" cmpd="dbl">
            <a:solidFill>
              <a:schemeClr val="tx1"/>
            </a:solidFill>
            <a:prstDash val="solid"/>
            <a:miter/>
            <a:headEnd type="none" w="med" len="med"/>
            <a:tailEnd type="none" w="med" len="med"/>
          </a:ln>
        </p:spPr>
        <p:txBody>
          <a:bodyPr lIns="0" tIns="0" rIns="0" bIns="0" anchor="ctr" anchorCtr="0"/>
          <a:p>
            <a:pPr algn="ctr" eaLnBrk="1" hangingPunct="1"/>
            <a:r>
              <a:rPr lang="en-US" altLang="en-US" sz="1000" dirty="0">
                <a:latin typeface="Arial" panose="020B0604020202020204" pitchFamily="34" charset="0"/>
              </a:rPr>
              <a:t>Report Generator</a:t>
            </a:r>
            <a:endParaRPr lang="en-US" altLang="en-US" sz="1000" dirty="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6866" name="Group 16"/>
          <p:cNvGrpSpPr/>
          <p:nvPr/>
        </p:nvGrpSpPr>
        <p:grpSpPr>
          <a:xfrm>
            <a:off x="392113" y="1474788"/>
            <a:ext cx="5241925" cy="2851150"/>
            <a:chOff x="247" y="929"/>
            <a:chExt cx="3302" cy="1796"/>
          </a:xfrm>
        </p:grpSpPr>
        <p:sp>
          <p:nvSpPr>
            <p:cNvPr id="36869" name="Freeform 17"/>
            <p:cNvSpPr>
              <a:spLocks noChangeAspect="1"/>
            </p:cNvSpPr>
            <p:nvPr/>
          </p:nvSpPr>
          <p:spPr>
            <a:xfrm>
              <a:off x="299" y="975"/>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rgbClr val="DDDDDD">
                <a:alpha val="100000"/>
              </a:srgbClr>
            </a:solidFill>
            <a:ln w="3175" cap="flat" cmpd="sng">
              <a:solidFill>
                <a:srgbClr val="DDDDDD">
                  <a:alpha val="100000"/>
                </a:srgbClr>
              </a:solidFill>
              <a:prstDash val="solid"/>
              <a:round/>
              <a:headEnd type="none" w="med" len="med"/>
              <a:tailEnd type="none" w="med" len="med"/>
            </a:ln>
          </p:spPr>
          <p:txBody>
            <a:bodyPr/>
            <a:p>
              <a:endParaRPr lang="zh-CN" altLang="en-US"/>
            </a:p>
          </p:txBody>
        </p:sp>
        <p:sp>
          <p:nvSpPr>
            <p:cNvPr id="36870" name="Freeform 18"/>
            <p:cNvSpPr>
              <a:spLocks noChangeAspect="1"/>
            </p:cNvSpPr>
            <p:nvPr/>
          </p:nvSpPr>
          <p:spPr>
            <a:xfrm>
              <a:off x="247" y="929"/>
              <a:ext cx="3250" cy="1750"/>
            </a:xfrm>
            <a:custGeom>
              <a:avLst/>
              <a:gdLst>
                <a:gd name="txL" fmla="*/ 0 w 2033"/>
                <a:gd name="txT" fmla="*/ 0 h 1095"/>
                <a:gd name="txR" fmla="*/ 2033 w 2033"/>
                <a:gd name="txB" fmla="*/ 1095 h 1095"/>
              </a:gdLst>
              <a:ahLst/>
              <a:cxnLst>
                <a:cxn ang="0">
                  <a:pos x="1114" y="1114"/>
                </a:cxn>
                <a:cxn ang="0">
                  <a:pos x="0" y="59690"/>
                </a:cxn>
                <a:cxn ang="0">
                  <a:pos x="895" y="117042"/>
                </a:cxn>
                <a:cxn ang="0">
                  <a:pos x="124406" y="117742"/>
                </a:cxn>
                <a:cxn ang="0">
                  <a:pos x="220180" y="116991"/>
                </a:cxn>
                <a:cxn ang="0">
                  <a:pos x="219293" y="56189"/>
                </a:cxn>
                <a:cxn ang="0">
                  <a:pos x="219744" y="219"/>
                </a:cxn>
                <a:cxn ang="0">
                  <a:pos x="100323" y="137"/>
                </a:cxn>
                <a:cxn ang="0">
                  <a:pos x="1114" y="1114"/>
                </a:cxn>
              </a:cxnLst>
              <a:rect l="txL" t="txT" r="txR" b="txB"/>
              <a:pathLst>
                <a:path w="2033" h="1095">
                  <a:moveTo>
                    <a:pt x="10" y="10"/>
                  </a:moveTo>
                  <a:cubicBezTo>
                    <a:pt x="20" y="129"/>
                    <a:pt x="0" y="371"/>
                    <a:pt x="0" y="549"/>
                  </a:cubicBezTo>
                  <a:cubicBezTo>
                    <a:pt x="0" y="727"/>
                    <a:pt x="23" y="988"/>
                    <a:pt x="8" y="1077"/>
                  </a:cubicBezTo>
                  <a:cubicBezTo>
                    <a:pt x="298" y="1095"/>
                    <a:pt x="806" y="1083"/>
                    <a:pt x="1141" y="1083"/>
                  </a:cubicBezTo>
                  <a:cubicBezTo>
                    <a:pt x="1476" y="1083"/>
                    <a:pt x="1754" y="1065"/>
                    <a:pt x="2020" y="1076"/>
                  </a:cubicBezTo>
                  <a:cubicBezTo>
                    <a:pt x="2033" y="918"/>
                    <a:pt x="2013" y="696"/>
                    <a:pt x="2012" y="517"/>
                  </a:cubicBezTo>
                  <a:cubicBezTo>
                    <a:pt x="2011" y="338"/>
                    <a:pt x="2027" y="138"/>
                    <a:pt x="2016" y="2"/>
                  </a:cubicBezTo>
                  <a:cubicBezTo>
                    <a:pt x="1744" y="4"/>
                    <a:pt x="1254" y="0"/>
                    <a:pt x="920" y="1"/>
                  </a:cubicBezTo>
                  <a:cubicBezTo>
                    <a:pt x="586" y="2"/>
                    <a:pt x="200" y="8"/>
                    <a:pt x="10" y="1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6871" name="Freeform 19"/>
            <p:cNvSpPr>
              <a:spLocks noChangeAspect="1"/>
            </p:cNvSpPr>
            <p:nvPr/>
          </p:nvSpPr>
          <p:spPr>
            <a:xfrm>
              <a:off x="268" y="1157"/>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2" name="Freeform 20"/>
            <p:cNvSpPr>
              <a:spLocks noChangeAspect="1"/>
            </p:cNvSpPr>
            <p:nvPr/>
          </p:nvSpPr>
          <p:spPr>
            <a:xfrm>
              <a:off x="263" y="13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3" name="Freeform 21"/>
            <p:cNvSpPr>
              <a:spLocks noChangeAspect="1"/>
            </p:cNvSpPr>
            <p:nvPr/>
          </p:nvSpPr>
          <p:spPr>
            <a:xfrm>
              <a:off x="258" y="1641"/>
              <a:ext cx="3233" cy="21"/>
            </a:xfrm>
            <a:custGeom>
              <a:avLst/>
              <a:gdLst>
                <a:gd name="txL" fmla="*/ 0 w 3049"/>
                <a:gd name="txT" fmla="*/ 0 h 26"/>
                <a:gd name="txR" fmla="*/ 3049 w 3049"/>
                <a:gd name="txB" fmla="*/ 26 h 26"/>
              </a:gdLst>
              <a:ahLst/>
              <a:cxnLst>
                <a:cxn ang="0">
                  <a:pos x="46" y="2"/>
                </a:cxn>
                <a:cxn ang="0">
                  <a:pos x="777" y="2"/>
                </a:cxn>
                <a:cxn ang="0">
                  <a:pos x="4710" y="2"/>
                </a:cxn>
                <a:cxn ang="0">
                  <a:pos x="5392"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4" name="Freeform 22"/>
            <p:cNvSpPr>
              <a:spLocks noChangeAspect="1"/>
            </p:cNvSpPr>
            <p:nvPr/>
          </p:nvSpPr>
          <p:spPr>
            <a:xfrm>
              <a:off x="258" y="1788"/>
              <a:ext cx="3233" cy="23"/>
            </a:xfrm>
            <a:custGeom>
              <a:avLst/>
              <a:gdLst>
                <a:gd name="txL" fmla="*/ 0 w 3049"/>
                <a:gd name="txT" fmla="*/ 0 h 26"/>
                <a:gd name="txR" fmla="*/ 3049 w 3049"/>
                <a:gd name="txB" fmla="*/ 26 h 26"/>
              </a:gdLst>
              <a:ahLst/>
              <a:cxnLst>
                <a:cxn ang="0">
                  <a:pos x="46" y="6"/>
                </a:cxn>
                <a:cxn ang="0">
                  <a:pos x="777" y="7"/>
                </a:cxn>
                <a:cxn ang="0">
                  <a:pos x="4710" y="3"/>
                </a:cxn>
                <a:cxn ang="0">
                  <a:pos x="5392" y="4"/>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5" name="Freeform 23"/>
            <p:cNvSpPr>
              <a:spLocks noChangeAspect="1"/>
            </p:cNvSpPr>
            <p:nvPr/>
          </p:nvSpPr>
          <p:spPr>
            <a:xfrm>
              <a:off x="263" y="2102"/>
              <a:ext cx="3232" cy="19"/>
            </a:xfrm>
            <a:custGeom>
              <a:avLst/>
              <a:gdLst>
                <a:gd name="txL" fmla="*/ 0 w 3049"/>
                <a:gd name="txT" fmla="*/ 0 h 26"/>
                <a:gd name="txR" fmla="*/ 3049 w 3049"/>
                <a:gd name="txB" fmla="*/ 26 h 26"/>
              </a:gdLst>
              <a:ahLst/>
              <a:cxnLst>
                <a:cxn ang="0">
                  <a:pos x="46" y="1"/>
                </a:cxn>
                <a:cxn ang="0">
                  <a:pos x="776" y="1"/>
                </a:cxn>
                <a:cxn ang="0">
                  <a:pos x="4696" y="1"/>
                </a:cxn>
                <a:cxn ang="0">
                  <a:pos x="5375" y="1"/>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6" name="Freeform 24"/>
            <p:cNvSpPr>
              <a:spLocks noChangeAspect="1"/>
            </p:cNvSpPr>
            <p:nvPr/>
          </p:nvSpPr>
          <p:spPr>
            <a:xfrm>
              <a:off x="268" y="223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7" name="Freeform 25"/>
            <p:cNvSpPr>
              <a:spLocks noChangeAspect="1"/>
            </p:cNvSpPr>
            <p:nvPr/>
          </p:nvSpPr>
          <p:spPr>
            <a:xfrm>
              <a:off x="268" y="23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8" name="Freeform 26"/>
            <p:cNvSpPr>
              <a:spLocks noChangeAspect="1"/>
            </p:cNvSpPr>
            <p:nvPr/>
          </p:nvSpPr>
          <p:spPr>
            <a:xfrm>
              <a:off x="258" y="1482"/>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79" name="Freeform 27"/>
            <p:cNvSpPr>
              <a:spLocks noChangeAspect="1"/>
            </p:cNvSpPr>
            <p:nvPr/>
          </p:nvSpPr>
          <p:spPr>
            <a:xfrm>
              <a:off x="276" y="1955"/>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sp>
          <p:nvSpPr>
            <p:cNvPr id="36880" name="Freeform 28"/>
            <p:cNvSpPr>
              <a:spLocks noChangeAspect="1"/>
            </p:cNvSpPr>
            <p:nvPr/>
          </p:nvSpPr>
          <p:spPr>
            <a:xfrm>
              <a:off x="271" y="2530"/>
              <a:ext cx="3232" cy="21"/>
            </a:xfrm>
            <a:custGeom>
              <a:avLst/>
              <a:gdLst>
                <a:gd name="txL" fmla="*/ 0 w 3049"/>
                <a:gd name="txT" fmla="*/ 0 h 26"/>
                <a:gd name="txR" fmla="*/ 3049 w 3049"/>
                <a:gd name="txB" fmla="*/ 26 h 26"/>
              </a:gdLst>
              <a:ahLst/>
              <a:cxnLst>
                <a:cxn ang="0">
                  <a:pos x="46" y="2"/>
                </a:cxn>
                <a:cxn ang="0">
                  <a:pos x="776" y="2"/>
                </a:cxn>
                <a:cxn ang="0">
                  <a:pos x="4696" y="2"/>
                </a:cxn>
                <a:cxn ang="0">
                  <a:pos x="5375" y="2"/>
                </a:cxn>
              </a:cxnLst>
              <a:rect l="txL" t="txT" r="txR" b="txB"/>
              <a:pathLst>
                <a:path w="3049" h="26">
                  <a:moveTo>
                    <a:pt x="25" y="19"/>
                  </a:moveTo>
                  <a:cubicBezTo>
                    <a:pt x="94" y="20"/>
                    <a:pt x="0" y="26"/>
                    <a:pt x="433" y="23"/>
                  </a:cubicBezTo>
                  <a:cubicBezTo>
                    <a:pt x="866" y="20"/>
                    <a:pt x="2193" y="6"/>
                    <a:pt x="2621" y="3"/>
                  </a:cubicBezTo>
                  <a:cubicBezTo>
                    <a:pt x="3049" y="0"/>
                    <a:pt x="2922" y="6"/>
                    <a:pt x="3001" y="7"/>
                  </a:cubicBezTo>
                </a:path>
              </a:pathLst>
            </a:custGeom>
            <a:noFill/>
            <a:ln w="12700" cap="flat" cmpd="sng">
              <a:solidFill>
                <a:srgbClr val="B2B2B2">
                  <a:alpha val="100000"/>
                </a:srgbClr>
              </a:solidFill>
              <a:prstDash val="solid"/>
              <a:round/>
              <a:headEnd type="none" w="med" len="med"/>
              <a:tailEnd type="none" w="med" len="med"/>
            </a:ln>
          </p:spPr>
          <p:txBody>
            <a:bodyPr/>
            <a:p>
              <a:endParaRPr lang="zh-CN" altLang="en-US"/>
            </a:p>
          </p:txBody>
        </p:sp>
      </p:grpSp>
      <p:sp>
        <p:nvSpPr>
          <p:cNvPr id="48131" name="Rectangle 2"/>
          <p:cNvSpPr>
            <a:spLocks noGrp="1" noChangeArrowheads="1"/>
          </p:cNvSpPr>
          <p:nvPr>
            <p:ph type="title"/>
          </p:nvPr>
        </p:nvSpPr>
        <p:spPr>
          <a:xfrm>
            <a:off x="269875" y="136525"/>
            <a:ext cx="8850313" cy="1143000"/>
          </a:xfrm>
        </p:spPr>
        <p:txBody>
          <a:bodyPr vert="horz" wrap="square" lIns="0" tIns="45720" rIns="0" bIns="4572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t>Transformation</a:t>
            </a:r>
            <a:b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br>
            <a:r>
              <a:rPr kumimoji="0" lang="en-US" altLang="en-US" sz="4000" b="0" i="0" u="none" strike="noStrike" kern="1200" cap="none" spc="0" normalizeH="0" baseline="0" noProof="0" dirty="0" smtClean="0">
                <a:ln>
                  <a:noFill/>
                </a:ln>
                <a:solidFill>
                  <a:schemeClr val="tx1"/>
                </a:solidFill>
                <a:effectLst/>
                <a:uLnTx/>
                <a:uFillTx/>
                <a:latin typeface="Arial Rounded MT Bold" panose="020F0704030504030204" pitchFamily="34" charset="0"/>
                <a:ea typeface="+mj-ea"/>
                <a:cs typeface="+mj-cs"/>
              </a:rPr>
              <a:t>- </a:t>
            </a:r>
            <a:r>
              <a:rPr kumimoji="0" lang="en-US" altLang="en-US" sz="36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rPr>
              <a:t>Frame Concern Checklist</a:t>
            </a:r>
            <a:endParaRPr kumimoji="0" lang="en-US" altLang="en-US" sz="3600" b="0" i="0" u="none" strike="noStrike" kern="1200" cap="none" spc="0" normalizeH="0" baseline="0" noProof="0" dirty="0" smtClean="0">
              <a:ln>
                <a:noFill/>
              </a:ln>
              <a:solidFill>
                <a:schemeClr val="tx2"/>
              </a:solidFill>
              <a:effectLst/>
              <a:uLnTx/>
              <a:uFillTx/>
              <a:latin typeface="Arial Rounded MT Bold" panose="020F0704030504030204" pitchFamily="34" charset="0"/>
              <a:ea typeface="+mj-ea"/>
              <a:cs typeface="+mj-cs"/>
            </a:endParaRPr>
          </a:p>
        </p:txBody>
      </p:sp>
      <p:sp>
        <p:nvSpPr>
          <p:cNvPr id="36868" name="Text Box 15"/>
          <p:cNvSpPr txBox="1"/>
          <p:nvPr/>
        </p:nvSpPr>
        <p:spPr>
          <a:xfrm>
            <a:off x="442913" y="1531938"/>
            <a:ext cx="5156200" cy="1871662"/>
          </a:xfrm>
          <a:prstGeom prst="rect">
            <a:avLst/>
          </a:prstGeom>
          <a:noFill/>
          <a:ln w="9525">
            <a:noFill/>
          </a:ln>
        </p:spPr>
        <p:txBody>
          <a:bodyPr wrap="none">
            <a:spAutoFit/>
          </a:bodyPr>
          <a:p>
            <a:pPr eaLnBrk="1" hangingPunct="1"/>
            <a:r>
              <a:rPr lang="en-US" altLang="en-US" sz="1600" b="1" dirty="0">
                <a:latin typeface="Calibri" panose="020F0502020204030204" pitchFamily="34" charset="0"/>
                <a:cs typeface="Calibri" panose="020F0502020204030204" pitchFamily="34" charset="0"/>
              </a:rPr>
              <a:t>Transformation Frame Checklist</a:t>
            </a:r>
            <a:endParaRPr lang="en-US" altLang="en-US" sz="1600" b="1" dirty="0">
              <a:latin typeface="Calibri" panose="020F0502020204030204" pitchFamily="34" charset="0"/>
              <a:cs typeface="Calibri" panose="020F0502020204030204" pitchFamily="34" charset="0"/>
            </a:endParaRPr>
          </a:p>
          <a:p>
            <a:pPr eaLnBrk="1" hangingPunct="1">
              <a:lnSpc>
                <a:spcPct val="70000"/>
              </a:lnSpc>
            </a:pPr>
            <a:endParaRPr lang="en-US" altLang="en-US" sz="1200" dirty="0">
              <a:latin typeface="Calibri" panose="020F0502020204030204" pitchFamily="34" charset="0"/>
              <a:cs typeface="Calibri" panose="020F0502020204030204" pitchFamily="34" charset="0"/>
            </a:endParaRPr>
          </a:p>
          <a:p>
            <a:pPr eaLnBrk="1" hangingPunct="1">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Input &amp; output data structures: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Data types of elements of the input document &amp; of output doc</a:t>
            </a:r>
            <a:endParaRPr lang="en-US" altLang="en-US" sz="1200" dirty="0">
              <a:latin typeface="Calibri" panose="020F0502020204030204" pitchFamily="34" charset="0"/>
              <a:cs typeface="Calibri" panose="020F0502020204030204" pitchFamily="34" charset="0"/>
            </a:endParaRPr>
          </a:p>
          <a:p>
            <a:pPr eaLnBrk="1" hangingPunct="1">
              <a:spcBef>
                <a:spcPct val="50000"/>
              </a:spcBef>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Traversal rules for data structures: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E.g., breadth-first or depth-first</a:t>
            </a:r>
            <a:endParaRPr lang="en-US" altLang="en-US" sz="900" dirty="0">
              <a:latin typeface="Calibri" panose="020F0502020204030204" pitchFamily="34" charset="0"/>
              <a:cs typeface="Calibri" panose="020F0502020204030204" pitchFamily="34" charset="0"/>
            </a:endParaRPr>
          </a:p>
          <a:p>
            <a:pPr eaLnBrk="1" hangingPunct="1">
              <a:spcBef>
                <a:spcPct val="50000"/>
              </a:spcBef>
              <a:buFont typeface="Wingdings" panose="05000000000000000000" pitchFamily="2" charset="2"/>
              <a:buChar char="q"/>
            </a:pPr>
            <a:r>
              <a:rPr lang="en-US" altLang="en-US" sz="1200" dirty="0">
                <a:latin typeface="Calibri" panose="020F0502020204030204" pitchFamily="34" charset="0"/>
                <a:cs typeface="Calibri" panose="020F0502020204030204" pitchFamily="34" charset="0"/>
              </a:rPr>
              <a:t>Mapping rules for elements of data structures:</a:t>
            </a:r>
            <a:endParaRPr lang="en-US" altLang="en-US" sz="1200" dirty="0">
              <a:latin typeface="Calibri" panose="020F0502020204030204" pitchFamily="34" charset="0"/>
              <a:cs typeface="Calibri" panose="020F0502020204030204" pitchFamily="34" charset="0"/>
            </a:endParaRPr>
          </a:p>
          <a:p>
            <a:pPr marL="685800" lvl="1" indent="-228600" eaLnBrk="1" hangingPunct="1">
              <a:spcBef>
                <a:spcPct val="20000"/>
              </a:spcBef>
              <a:buSzPct val="80000"/>
              <a:buFont typeface="Wingdings" panose="05000000000000000000" pitchFamily="2" charset="2"/>
              <a:buChar char="o"/>
            </a:pPr>
            <a:r>
              <a:rPr lang="en-US" altLang="en-US" sz="1200" dirty="0">
                <a:latin typeface="Calibri" panose="020F0502020204030204" pitchFamily="34" charset="0"/>
                <a:cs typeface="Calibri" panose="020F0502020204030204" pitchFamily="34" charset="0"/>
              </a:rPr>
              <a:t>How an input element is mapped/transformed to an output element</a:t>
            </a:r>
            <a:endParaRPr lang="en-US" altLang="en-US" sz="1200" dirty="0">
              <a:latin typeface="Calibri" panose="020F0502020204030204" pitchFamily="34" charset="0"/>
              <a:ea typeface="Calibri" panose="020F050202020403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Arial"/>
      </a:majorFont>
      <a:minorFont>
        <a:latin typeface="Comic Sans MS"/>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18366</Words>
  <Application>WPS 演示</Application>
  <PresentationFormat>全屏显示(4:3)</PresentationFormat>
  <Paragraphs>1191</Paragraphs>
  <Slides>33</Slides>
  <Notes>22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33</vt:i4>
      </vt:variant>
    </vt:vector>
  </HeadingPairs>
  <TitlesOfParts>
    <vt:vector size="49" baseType="lpstr">
      <vt:lpstr>Arial</vt:lpstr>
      <vt:lpstr>宋体</vt:lpstr>
      <vt:lpstr>Wingdings</vt:lpstr>
      <vt:lpstr>Comic Sans MS</vt:lpstr>
      <vt:lpstr>Times New Roman</vt:lpstr>
      <vt:lpstr>Arial Rounded MT Bold</vt:lpstr>
      <vt:lpstr>AvantGarde Bk BT</vt:lpstr>
      <vt:lpstr>Segoe Print</vt:lpstr>
      <vt:lpstr>Verdana</vt:lpstr>
      <vt:lpstr>黑体</vt:lpstr>
      <vt:lpstr>Calibri</vt:lpstr>
      <vt:lpstr>微软雅黑</vt:lpstr>
      <vt:lpstr>Arial Unicode MS</vt:lpstr>
      <vt:lpstr>Symbol</vt:lpstr>
      <vt:lpstr>Liorah BT Std Regular</vt:lpstr>
      <vt:lpstr>Default Design</vt:lpstr>
      <vt:lpstr>PowerPoint 演示文稿</vt:lpstr>
      <vt:lpstr>Topics</vt:lpstr>
      <vt:lpstr>Why Problem Frames?</vt:lpstr>
      <vt:lpstr>Software Engineering Problem</vt:lpstr>
      <vt:lpstr>Requirements and Specification</vt:lpstr>
      <vt:lpstr>Problem Domain: How Electronic Lock Works</vt:lpstr>
      <vt:lpstr>Analyst’s Task: Three Descriptions</vt:lpstr>
      <vt:lpstr>Problem Framing</vt:lpstr>
      <vt:lpstr>Complex Problem Decomposition</vt:lpstr>
      <vt:lpstr>Typical Software Eng. Problems</vt:lpstr>
      <vt:lpstr>5-dimensional Problem Space</vt:lpstr>
      <vt:lpstr>Typical System Requirements</vt:lpstr>
      <vt:lpstr>Example: Problem Decomposition</vt:lpstr>
      <vt:lpstr>Example: Problem Decomposition</vt:lpstr>
      <vt:lpstr>Problem and Solution Domain</vt:lpstr>
      <vt:lpstr>Notation Syntax for Problem Frames</vt:lpstr>
      <vt:lpstr>Example: Problem Decomposition</vt:lpstr>
      <vt:lpstr>Example: Problem Decomposition</vt:lpstr>
      <vt:lpstr>Basic Frame 1: Required Behavior</vt:lpstr>
      <vt:lpstr>Required Behavior - Frame Concern Checklist</vt:lpstr>
      <vt:lpstr>Requirement:				 REQ1 - keep door locked and auto-lock </vt:lpstr>
      <vt:lpstr>Problem Domain Properties: How Electronic Lock Works</vt:lpstr>
      <vt:lpstr>Required Behavior - Domain Model -</vt:lpstr>
      <vt:lpstr>Basic Frame 2: Commanded Behavior</vt:lpstr>
      <vt:lpstr>Commanded Behavior - Frame Concern Checklist</vt:lpstr>
      <vt:lpstr>Requirement:				 REQ3, REQ4, REQ5 - unlock when valid key provided but allow few mistakes </vt:lpstr>
      <vt:lpstr>Safe Home Access</vt:lpstr>
      <vt:lpstr>Basic Frame 3: Information Display</vt:lpstr>
      <vt:lpstr>Information Visualization - Frame Concern Checklist</vt:lpstr>
      <vt:lpstr>Basic Frame 4: Simple Editing</vt:lpstr>
      <vt:lpstr>Simple Editing - Frame Concern Checklist</vt:lpstr>
      <vt:lpstr>Basic Frame 5: Transformation</vt:lpstr>
      <vt:lpstr>Transformation - Frame Concern Checklist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Lecture Slides</dc:title>
  <dc:creator>Ivan Marsic</dc:creator>
  <cp:keywords>software engineering, software development, object-oriented software engineeirng, requirements, system specification</cp:keywords>
  <dc:subject>lecture 12: Problem Frames</dc:subject>
  <cp:category>lecture slides, course materials</cp:category>
  <cp:lastModifiedBy>MX</cp:lastModifiedBy>
  <cp:revision>176</cp:revision>
  <dcterms:created xsi:type="dcterms:W3CDTF">2013-03-10T19:45:00Z</dcterms:created>
  <dcterms:modified xsi:type="dcterms:W3CDTF">2026-05-12T03:29:49Z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22A75E8E087E4C299B963059CF9AC86F_13</vt:lpwstr>
  </property>
  <property fmtid="{D5CDD505-2E9C-101B-9397-08002B2CF9AE}" pid="3" name="KSOProductBuildVer">
    <vt:lpwstr>2052-12.1.0.23542</vt:lpwstr>
  </property>
</Properties>
</file>