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71"/>
  </p:notesMasterIdLst>
  <p:sldIdLst>
    <p:sldId id="709" r:id="rId5"/>
    <p:sldId id="707" r:id="rId6"/>
    <p:sldId id="698" r:id="rId7"/>
    <p:sldId id="699" r:id="rId8"/>
    <p:sldId id="659" r:id="rId9"/>
    <p:sldId id="660" r:id="rId10"/>
    <p:sldId id="508" r:id="rId11"/>
    <p:sldId id="506" r:id="rId12"/>
    <p:sldId id="507" r:id="rId13"/>
    <p:sldId id="647" r:id="rId14"/>
    <p:sldId id="661" r:id="rId15"/>
    <p:sldId id="630" r:id="rId16"/>
    <p:sldId id="631" r:id="rId17"/>
    <p:sldId id="700" r:id="rId18"/>
    <p:sldId id="701" r:id="rId19"/>
    <p:sldId id="697" r:id="rId20"/>
    <p:sldId id="628" r:id="rId21"/>
    <p:sldId id="646" r:id="rId22"/>
    <p:sldId id="651" r:id="rId23"/>
    <p:sldId id="652" r:id="rId24"/>
    <p:sldId id="653" r:id="rId25"/>
    <p:sldId id="648" r:id="rId26"/>
    <p:sldId id="649" r:id="rId27"/>
    <p:sldId id="491" r:id="rId28"/>
    <p:sldId id="493" r:id="rId29"/>
    <p:sldId id="494" r:id="rId30"/>
    <p:sldId id="655" r:id="rId31"/>
    <p:sldId id="710" r:id="rId32"/>
    <p:sldId id="265" r:id="rId33"/>
    <p:sldId id="266" r:id="rId34"/>
    <p:sldId id="267" r:id="rId35"/>
    <p:sldId id="268" r:id="rId36"/>
    <p:sldId id="269" r:id="rId37"/>
    <p:sldId id="270" r:id="rId38"/>
    <p:sldId id="665" r:id="rId39"/>
    <p:sldId id="666" r:id="rId40"/>
    <p:sldId id="667" r:id="rId41"/>
    <p:sldId id="668" r:id="rId42"/>
    <p:sldId id="669" r:id="rId43"/>
    <p:sldId id="670" r:id="rId44"/>
    <p:sldId id="671" r:id="rId45"/>
    <p:sldId id="672" r:id="rId46"/>
    <p:sldId id="673" r:id="rId47"/>
    <p:sldId id="674" r:id="rId48"/>
    <p:sldId id="675" r:id="rId49"/>
    <p:sldId id="676" r:id="rId50"/>
    <p:sldId id="677" r:id="rId51"/>
    <p:sldId id="678" r:id="rId52"/>
    <p:sldId id="679" r:id="rId53"/>
    <p:sldId id="680" r:id="rId54"/>
    <p:sldId id="681" r:id="rId55"/>
    <p:sldId id="682" r:id="rId56"/>
    <p:sldId id="683" r:id="rId57"/>
    <p:sldId id="684" r:id="rId58"/>
    <p:sldId id="685" r:id="rId59"/>
    <p:sldId id="686" r:id="rId60"/>
    <p:sldId id="687" r:id="rId61"/>
    <p:sldId id="688" r:id="rId62"/>
    <p:sldId id="689" r:id="rId63"/>
    <p:sldId id="690" r:id="rId64"/>
    <p:sldId id="691" r:id="rId65"/>
    <p:sldId id="692" r:id="rId66"/>
    <p:sldId id="693" r:id="rId67"/>
    <p:sldId id="694" r:id="rId68"/>
    <p:sldId id="695" r:id="rId69"/>
    <p:sldId id="696" r:id="rId70"/>
  </p:sldIdLst>
  <p:sldSz cx="9144000" cy="6858000" type="screen4x3"/>
  <p:notesSz cx="7315200" cy="9601200"/>
  <p:defaultTextStyle>
    <a:defPPr>
      <a:defRPr lang="zh-CN"/>
    </a:defPPr>
    <a:lvl1pPr algn="l" rtl="0" fontAlgn="base">
      <a:spcBef>
        <a:spcPct val="0"/>
      </a:spcBef>
      <a:spcAft>
        <a:spcPct val="0"/>
      </a:spcAft>
      <a:buFont typeface="Arial" panose="020B0604020202020204" pitchFamily="34" charset="0"/>
      <a:defRPr sz="2400" b="1" kern="1200">
        <a:solidFill>
          <a:schemeClr val="tx2"/>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2400" b="1" kern="1200">
        <a:solidFill>
          <a:schemeClr val="tx2"/>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2400" b="1" kern="1200">
        <a:solidFill>
          <a:schemeClr val="tx2"/>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2400" b="1" kern="1200">
        <a:solidFill>
          <a:schemeClr val="tx2"/>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2400" b="1" kern="1200">
        <a:solidFill>
          <a:schemeClr val="tx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chemeClr val="tx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chemeClr val="tx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chemeClr val="tx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chemeClr val="tx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374" autoAdjust="0"/>
    <p:restoredTop sz="94660"/>
  </p:normalViewPr>
  <p:slideViewPr>
    <p:cSldViewPr>
      <p:cViewPr>
        <p:scale>
          <a:sx n="100" d="100"/>
          <a:sy n="100" d="100"/>
        </p:scale>
        <p:origin x="-2436" y="-234"/>
      </p:cViewPr>
      <p:guideLst>
        <p:guide orient="horz" pos="2160"/>
        <p:guide pos="2880"/>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notesMaster" Target="notesMasters/notesMaster1.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Master" Target="slideMasters/slideMaster3.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46434" name="Rectangle 2"/>
          <p:cNvSpPr>
            <a:spLocks noGrp="1" noRot="1" noChangeAspect="1" noChangeArrowheads="1"/>
          </p:cNvSpPr>
          <p:nvPr>
            <p:ph type="sldImg" idx="2"/>
          </p:nvPr>
        </p:nvSpPr>
        <p:spPr bwMode="auto">
          <a:xfrm>
            <a:off x="1120775" y="790575"/>
            <a:ext cx="4876800" cy="3459163"/>
          </a:xfrm>
          <a:prstGeom prst="rect">
            <a:avLst/>
          </a:prstGeom>
          <a:noFill/>
          <a:ln w="9525">
            <a:noFill/>
            <a:miter lim="800000"/>
          </a:ln>
        </p:spPr>
      </p:sp>
      <p:sp>
        <p:nvSpPr>
          <p:cNvPr id="6147" name="Rectangle 3"/>
          <p:cNvSpPr>
            <a:spLocks noGrp="1" noChangeArrowheads="1"/>
          </p:cNvSpPr>
          <p:nvPr>
            <p:ph type="body" sz="quarter" idx="3"/>
          </p:nvPr>
        </p:nvSpPr>
        <p:spPr bwMode="auto">
          <a:xfrm>
            <a:off x="574675" y="4608513"/>
            <a:ext cx="6165850" cy="4149725"/>
          </a:xfrm>
          <a:prstGeom prst="rect">
            <a:avLst/>
          </a:prstGeom>
          <a:noFill/>
          <a:ln w="9525">
            <a:noFill/>
            <a:miter lim="800000"/>
          </a:ln>
        </p:spPr>
        <p:txBody>
          <a:bodyPr vert="horz" wrap="square" lIns="91440" tIns="45720" rIns="91440" bIns="45720" numCol="1" anchor="t" anchorCtr="0" compatLnSpc="1"/>
          <a:lstStyle/>
          <a:p>
            <a:pPr lvl="0"/>
            <a:r>
              <a:rPr lang="zh-CN" noProof="0" smtClean="0"/>
              <a:t>单击此处编辑母版文本样式</a:t>
            </a:r>
            <a:endParaRPr lang="zh-CN" noProof="0" smtClean="0"/>
          </a:p>
          <a:p>
            <a:pPr lvl="1"/>
            <a:r>
              <a:rPr lang="zh-CN" noProof="0" smtClean="0"/>
              <a:t>第二级</a:t>
            </a:r>
            <a:endParaRPr lang="zh-CN" noProof="0" smtClean="0"/>
          </a:p>
          <a:p>
            <a:pPr lvl="2"/>
            <a:r>
              <a:rPr lang="zh-CN" noProof="0" smtClean="0"/>
              <a:t>第三级</a:t>
            </a:r>
            <a:endParaRPr lang="zh-CN" noProof="0" smtClean="0"/>
          </a:p>
          <a:p>
            <a:pPr lvl="3"/>
            <a:r>
              <a:rPr lang="zh-CN" noProof="0" smtClean="0"/>
              <a:t>第四级</a:t>
            </a:r>
            <a:endParaRPr lang="zh-CN" noProof="0" smtClean="0"/>
          </a:p>
          <a:p>
            <a:pPr lvl="4"/>
            <a:r>
              <a:rPr lang="zh-CN" noProof="0" smtClean="0"/>
              <a:t>第五级</a:t>
            </a:r>
            <a:endParaRPr lang="zh-CN" noProof="0" smtClean="0"/>
          </a:p>
        </p:txBody>
      </p:sp>
      <p:sp>
        <p:nvSpPr>
          <p:cNvPr id="6148" name="Rectangle 4"/>
          <p:cNvSpPr>
            <a:spLocks noGrp="1" noChangeArrowheads="1"/>
          </p:cNvSpPr>
          <p:nvPr>
            <p:ph type="hdr" sz="quarter"/>
          </p:nvPr>
        </p:nvSpPr>
        <p:spPr bwMode="auto">
          <a:xfrm>
            <a:off x="0" y="0"/>
            <a:ext cx="3171825" cy="479425"/>
          </a:xfrm>
          <a:prstGeom prst="rect">
            <a:avLst/>
          </a:prstGeom>
          <a:noFill/>
          <a:ln w="9525">
            <a:noFill/>
            <a:miter lim="800000"/>
          </a:ln>
        </p:spPr>
        <p:txBody>
          <a:bodyPr vert="horz" wrap="square" lIns="91440" tIns="45720" rIns="91440" bIns="45720" numCol="1" anchor="t" anchorCtr="0" compatLnSpc="1"/>
          <a:lstStyle>
            <a:lvl1pPr>
              <a:defRPr sz="1200"/>
            </a:lvl1pPr>
          </a:lstStyle>
          <a:p>
            <a:pPr>
              <a:defRPr/>
            </a:pPr>
            <a:endParaRPr lang="zh-CN" altLang="zh-CN"/>
          </a:p>
        </p:txBody>
      </p:sp>
      <p:sp>
        <p:nvSpPr>
          <p:cNvPr id="6149" name="Rectangle 5"/>
          <p:cNvSpPr>
            <a:spLocks noGrp="1" noChangeArrowheads="1"/>
          </p:cNvSpPr>
          <p:nvPr>
            <p:ph type="dt" idx="1"/>
          </p:nvPr>
        </p:nvSpPr>
        <p:spPr bwMode="auto">
          <a:xfrm>
            <a:off x="4143375" y="0"/>
            <a:ext cx="3171825" cy="479425"/>
          </a:xfrm>
          <a:prstGeom prst="rect">
            <a:avLst/>
          </a:prstGeom>
          <a:noFill/>
          <a:ln w="9525">
            <a:noFill/>
            <a:miter lim="800000"/>
          </a:ln>
        </p:spPr>
        <p:txBody>
          <a:bodyPr vert="horz" wrap="square" lIns="91440" tIns="45720" rIns="91440" bIns="45720" numCol="1" anchor="t" anchorCtr="0" compatLnSpc="1"/>
          <a:lstStyle>
            <a:lvl1pPr algn="r">
              <a:defRPr sz="1200"/>
            </a:lvl1pPr>
          </a:lstStyle>
          <a:p>
            <a:pPr>
              <a:defRPr/>
            </a:pPr>
            <a:fld id="{2685A0BB-1530-497E-BE2B-D2FB6F8B329E}" type="datetimeFigureOut">
              <a:rPr lang="zh-CN" altLang="en-US"/>
            </a:fld>
            <a:endParaRPr lang="zh-CN" altLang="zh-CN"/>
          </a:p>
        </p:txBody>
      </p:sp>
      <p:sp>
        <p:nvSpPr>
          <p:cNvPr id="6150" name="Rectangle 6"/>
          <p:cNvSpPr>
            <a:spLocks noGrp="1" noChangeArrowheads="1"/>
          </p:cNvSpPr>
          <p:nvPr>
            <p:ph type="ftr" sz="quarter" idx="4"/>
          </p:nvPr>
        </p:nvSpPr>
        <p:spPr bwMode="auto">
          <a:xfrm>
            <a:off x="0" y="9120188"/>
            <a:ext cx="3171825" cy="481012"/>
          </a:xfrm>
          <a:prstGeom prst="rect">
            <a:avLst/>
          </a:prstGeom>
          <a:noFill/>
          <a:ln w="9525">
            <a:noFill/>
            <a:miter lim="800000"/>
          </a:ln>
        </p:spPr>
        <p:txBody>
          <a:bodyPr vert="horz" wrap="square" lIns="91440" tIns="45720" rIns="91440" bIns="45720" numCol="1" anchor="t" anchorCtr="0" compatLnSpc="1"/>
          <a:lstStyle>
            <a:lvl1pPr>
              <a:defRPr sz="1200"/>
            </a:lvl1pPr>
          </a:lstStyle>
          <a:p>
            <a:pPr>
              <a:defRPr/>
            </a:pPr>
            <a:endParaRPr lang="zh-CN" altLang="zh-CN"/>
          </a:p>
        </p:txBody>
      </p:sp>
      <p:sp>
        <p:nvSpPr>
          <p:cNvPr id="6151" name="Rectangle 7"/>
          <p:cNvSpPr>
            <a:spLocks noGrp="1" noChangeArrowheads="1"/>
          </p:cNvSpPr>
          <p:nvPr>
            <p:ph type="sldNum" sz="quarter" idx="5"/>
          </p:nvPr>
        </p:nvSpPr>
        <p:spPr bwMode="auto">
          <a:xfrm>
            <a:off x="4143375" y="9120188"/>
            <a:ext cx="3171825" cy="481012"/>
          </a:xfrm>
          <a:prstGeom prst="rect">
            <a:avLst/>
          </a:prstGeom>
          <a:noFill/>
          <a:ln w="9525">
            <a:noFill/>
            <a:miter lim="800000"/>
          </a:ln>
        </p:spPr>
        <p:txBody>
          <a:bodyPr vert="horz" wrap="square" lIns="91440" tIns="45720" rIns="91440" bIns="45720" numCol="1" anchor="t" anchorCtr="0" compatLnSpc="1"/>
          <a:lstStyle>
            <a:lvl1pPr algn="r">
              <a:defRPr sz="1200"/>
            </a:lvl1pPr>
          </a:lstStyle>
          <a:p>
            <a:pPr>
              <a:defRPr/>
            </a:pPr>
            <a:fld id="{FC3F21EC-2C01-4CF0-B83A-CB715D5C35C2}" type="slidenum">
              <a:rPr lang="zh-CN" altLang="zh-CN"/>
            </a:fld>
            <a:endParaRPr lang="zh-CN" altLang="zh-CN"/>
          </a:p>
        </p:txBody>
      </p:sp>
    </p:spTree>
  </p:cSld>
  <p:clrMap bg1="dk2" tx1="lt1" bg2="dk1" tx2="lt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60969731-BE8C-4240-ABEF-B83459771EE8}" type="slidenum">
              <a:rPr lang="zh-CN" altLang="zh-CN"/>
            </a:fld>
            <a:endParaRPr lang="zh-CN"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95ED7183-0DF0-4480-AEF8-31E15993B679}" type="slidenum">
              <a:rPr lang="zh-CN" altLang="zh-CN"/>
            </a:fld>
            <a:endParaRPr lang="zh-CN"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FC8A0D6C-C602-4FDA-83ED-50AFBF792BE0}" type="slidenum">
              <a:rPr lang="zh-CN" altLang="zh-CN"/>
            </a:fld>
            <a:endParaRPr lang="zh-CN"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28613" y="1941513"/>
            <a:ext cx="402748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508500" y="1941513"/>
            <a:ext cx="402907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endParaRPr lang="zh-CN" altLang="zh-CN"/>
          </a:p>
        </p:txBody>
      </p:sp>
      <p:sp>
        <p:nvSpPr>
          <p:cNvPr id="6" name="Rectangle 8"/>
          <p:cNvSpPr>
            <a:spLocks noGrp="1" noChangeArrowheads="1"/>
          </p:cNvSpPr>
          <p:nvPr>
            <p:ph type="ftr" sz="quarter" idx="11"/>
          </p:nvPr>
        </p:nvSpPr>
        <p:spPr/>
        <p:txBody>
          <a:bodyPr/>
          <a:lstStyle>
            <a:lvl1pPr>
              <a:defRPr/>
            </a:lvl1pPr>
          </a:lstStyle>
          <a:p>
            <a:pPr>
              <a:defRPr/>
            </a:pPr>
            <a:endParaRPr lang="zh-CN" altLang="zh-CN"/>
          </a:p>
        </p:txBody>
      </p:sp>
      <p:sp>
        <p:nvSpPr>
          <p:cNvPr id="7" name="Rectangle 9"/>
          <p:cNvSpPr>
            <a:spLocks noGrp="1" noChangeArrowheads="1"/>
          </p:cNvSpPr>
          <p:nvPr>
            <p:ph type="sldNum" sz="quarter" idx="12"/>
          </p:nvPr>
        </p:nvSpPr>
        <p:spPr/>
        <p:txBody>
          <a:bodyPr/>
          <a:lstStyle>
            <a:lvl1pPr>
              <a:defRPr/>
            </a:lvl1pPr>
          </a:lstStyle>
          <a:p>
            <a:pPr>
              <a:defRPr/>
            </a:pPr>
            <a:fld id="{F8BE6781-A182-4F17-91A5-A7E37F282783}" type="slidenum">
              <a:rPr lang="zh-CN" altLang="zh-CN"/>
            </a:fld>
            <a:endParaRPr lang="zh-CN"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endParaRPr lang="zh-CN" altLang="zh-CN"/>
          </a:p>
        </p:txBody>
      </p:sp>
      <p:sp>
        <p:nvSpPr>
          <p:cNvPr id="8" name="Rectangle 8"/>
          <p:cNvSpPr>
            <a:spLocks noGrp="1" noChangeArrowheads="1"/>
          </p:cNvSpPr>
          <p:nvPr>
            <p:ph type="ftr" sz="quarter" idx="11"/>
          </p:nvPr>
        </p:nvSpPr>
        <p:spPr/>
        <p:txBody>
          <a:bodyPr/>
          <a:lstStyle>
            <a:lvl1pPr>
              <a:defRPr/>
            </a:lvl1pPr>
          </a:lstStyle>
          <a:p>
            <a:pPr>
              <a:defRPr/>
            </a:pPr>
            <a:endParaRPr lang="zh-CN" altLang="zh-CN"/>
          </a:p>
        </p:txBody>
      </p:sp>
      <p:sp>
        <p:nvSpPr>
          <p:cNvPr id="9" name="Rectangle 9"/>
          <p:cNvSpPr>
            <a:spLocks noGrp="1" noChangeArrowheads="1"/>
          </p:cNvSpPr>
          <p:nvPr>
            <p:ph type="sldNum" sz="quarter" idx="12"/>
          </p:nvPr>
        </p:nvSpPr>
        <p:spPr/>
        <p:txBody>
          <a:bodyPr/>
          <a:lstStyle>
            <a:lvl1pPr>
              <a:defRPr/>
            </a:lvl1pPr>
          </a:lstStyle>
          <a:p>
            <a:pPr>
              <a:defRPr/>
            </a:pPr>
            <a:fld id="{2A922579-7C2B-4056-8049-17A08B382FE8}" type="slidenum">
              <a:rPr lang="zh-CN" altLang="zh-CN"/>
            </a:fld>
            <a:endParaRPr lang="zh-CN"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endParaRPr lang="zh-CN" altLang="zh-CN"/>
          </a:p>
        </p:txBody>
      </p:sp>
      <p:sp>
        <p:nvSpPr>
          <p:cNvPr id="4" name="Rectangle 8"/>
          <p:cNvSpPr>
            <a:spLocks noGrp="1" noChangeArrowheads="1"/>
          </p:cNvSpPr>
          <p:nvPr>
            <p:ph type="ftr" sz="quarter" idx="11"/>
          </p:nvPr>
        </p:nvSpPr>
        <p:spPr/>
        <p:txBody>
          <a:bodyPr/>
          <a:lstStyle>
            <a:lvl1pPr>
              <a:defRPr/>
            </a:lvl1pPr>
          </a:lstStyle>
          <a:p>
            <a:pPr>
              <a:defRPr/>
            </a:pPr>
            <a:endParaRPr lang="zh-CN" altLang="zh-CN"/>
          </a:p>
        </p:txBody>
      </p:sp>
      <p:sp>
        <p:nvSpPr>
          <p:cNvPr id="5" name="Rectangle 9"/>
          <p:cNvSpPr>
            <a:spLocks noGrp="1" noChangeArrowheads="1"/>
          </p:cNvSpPr>
          <p:nvPr>
            <p:ph type="sldNum" sz="quarter" idx="12"/>
          </p:nvPr>
        </p:nvSpPr>
        <p:spPr/>
        <p:txBody>
          <a:bodyPr/>
          <a:lstStyle>
            <a:lvl1pPr>
              <a:defRPr/>
            </a:lvl1pPr>
          </a:lstStyle>
          <a:p>
            <a:pPr>
              <a:defRPr/>
            </a:pPr>
            <a:fld id="{E3B55C2F-594F-45D1-AFA2-E9E820898DCD}" type="slidenum">
              <a:rPr lang="zh-CN" altLang="zh-CN"/>
            </a:fld>
            <a:endParaRPr lang="zh-CN"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endParaRPr lang="zh-CN" altLang="zh-CN"/>
          </a:p>
        </p:txBody>
      </p:sp>
      <p:sp>
        <p:nvSpPr>
          <p:cNvPr id="3" name="Rectangle 8"/>
          <p:cNvSpPr>
            <a:spLocks noGrp="1" noChangeArrowheads="1"/>
          </p:cNvSpPr>
          <p:nvPr>
            <p:ph type="ftr" sz="quarter" idx="11"/>
          </p:nvPr>
        </p:nvSpPr>
        <p:spPr/>
        <p:txBody>
          <a:bodyPr/>
          <a:lstStyle>
            <a:lvl1pPr>
              <a:defRPr/>
            </a:lvl1pPr>
          </a:lstStyle>
          <a:p>
            <a:pPr>
              <a:defRPr/>
            </a:pPr>
            <a:endParaRPr lang="zh-CN" altLang="zh-CN"/>
          </a:p>
        </p:txBody>
      </p:sp>
      <p:sp>
        <p:nvSpPr>
          <p:cNvPr id="4" name="Rectangle 9"/>
          <p:cNvSpPr>
            <a:spLocks noGrp="1" noChangeArrowheads="1"/>
          </p:cNvSpPr>
          <p:nvPr>
            <p:ph type="sldNum" sz="quarter" idx="12"/>
          </p:nvPr>
        </p:nvSpPr>
        <p:spPr/>
        <p:txBody>
          <a:bodyPr/>
          <a:lstStyle>
            <a:lvl1pPr>
              <a:defRPr/>
            </a:lvl1pPr>
          </a:lstStyle>
          <a:p>
            <a:pPr>
              <a:defRPr/>
            </a:pPr>
            <a:fld id="{D11A5F50-12BF-430A-815C-7CA5F6F27E5F}" type="slidenum">
              <a:rPr lang="zh-CN" altLang="zh-CN"/>
            </a:fld>
            <a:endParaRPr lang="zh-CN"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endParaRPr lang="zh-CN" altLang="zh-CN"/>
          </a:p>
        </p:txBody>
      </p:sp>
      <p:sp>
        <p:nvSpPr>
          <p:cNvPr id="6" name="Rectangle 8"/>
          <p:cNvSpPr>
            <a:spLocks noGrp="1" noChangeArrowheads="1"/>
          </p:cNvSpPr>
          <p:nvPr>
            <p:ph type="ftr" sz="quarter" idx="11"/>
          </p:nvPr>
        </p:nvSpPr>
        <p:spPr/>
        <p:txBody>
          <a:bodyPr/>
          <a:lstStyle>
            <a:lvl1pPr>
              <a:defRPr/>
            </a:lvl1pPr>
          </a:lstStyle>
          <a:p>
            <a:pPr>
              <a:defRPr/>
            </a:pPr>
            <a:endParaRPr lang="zh-CN" altLang="zh-CN"/>
          </a:p>
        </p:txBody>
      </p:sp>
      <p:sp>
        <p:nvSpPr>
          <p:cNvPr id="7" name="Rectangle 9"/>
          <p:cNvSpPr>
            <a:spLocks noGrp="1" noChangeArrowheads="1"/>
          </p:cNvSpPr>
          <p:nvPr>
            <p:ph type="sldNum" sz="quarter" idx="12"/>
          </p:nvPr>
        </p:nvSpPr>
        <p:spPr/>
        <p:txBody>
          <a:bodyPr/>
          <a:lstStyle>
            <a:lvl1pPr>
              <a:defRPr/>
            </a:lvl1pPr>
          </a:lstStyle>
          <a:p>
            <a:pPr>
              <a:defRPr/>
            </a:pPr>
            <a:fld id="{84E1B503-C4A1-4B83-AB5E-F2F6E392C75A}" type="slidenum">
              <a:rPr lang="zh-CN" altLang="zh-CN"/>
            </a:fld>
            <a:endParaRPr lang="zh-CN"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endParaRPr lang="zh-CN" altLang="zh-CN"/>
          </a:p>
        </p:txBody>
      </p:sp>
      <p:sp>
        <p:nvSpPr>
          <p:cNvPr id="6" name="Rectangle 8"/>
          <p:cNvSpPr>
            <a:spLocks noGrp="1" noChangeArrowheads="1"/>
          </p:cNvSpPr>
          <p:nvPr>
            <p:ph type="ftr" sz="quarter" idx="11"/>
          </p:nvPr>
        </p:nvSpPr>
        <p:spPr/>
        <p:txBody>
          <a:bodyPr/>
          <a:lstStyle>
            <a:lvl1pPr>
              <a:defRPr/>
            </a:lvl1pPr>
          </a:lstStyle>
          <a:p>
            <a:pPr>
              <a:defRPr/>
            </a:pPr>
            <a:endParaRPr lang="zh-CN" altLang="zh-CN"/>
          </a:p>
        </p:txBody>
      </p:sp>
      <p:sp>
        <p:nvSpPr>
          <p:cNvPr id="7" name="Rectangle 9"/>
          <p:cNvSpPr>
            <a:spLocks noGrp="1" noChangeArrowheads="1"/>
          </p:cNvSpPr>
          <p:nvPr>
            <p:ph type="sldNum" sz="quarter" idx="12"/>
          </p:nvPr>
        </p:nvSpPr>
        <p:spPr/>
        <p:txBody>
          <a:bodyPr/>
          <a:lstStyle>
            <a:lvl1pPr>
              <a:defRPr/>
            </a:lvl1pPr>
          </a:lstStyle>
          <a:p>
            <a:pPr>
              <a:defRPr/>
            </a:pPr>
            <a:fld id="{B6D27040-D070-4DBA-B493-7044572135B4}" type="slidenum">
              <a:rPr lang="zh-CN" altLang="zh-CN"/>
            </a:fld>
            <a:endParaRPr lang="zh-CN"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70A46AE9-4D3B-4504-B3BF-335C9407EA41}" type="slidenum">
              <a:rPr lang="zh-CN" altLang="zh-CN"/>
            </a:fld>
            <a:endParaRPr lang="zh-CN"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6088" y="722313"/>
            <a:ext cx="2159000" cy="5334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17500" y="722313"/>
            <a:ext cx="6326188" cy="5334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7216719A-F9FD-4077-96BD-C2DABF2AFB24}" type="slidenum">
              <a:rPr lang="zh-CN" altLang="zh-CN"/>
            </a:fld>
            <a:endParaRPr lang="zh-CN"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01C7FE8E-6831-4854-8E50-389A0FC19AE1}" type="slidenum">
              <a:rPr lang="zh-CN" altLang="zh-CN"/>
            </a:fld>
            <a:endParaRPr lang="zh-CN"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5D3F0C8F-C0FF-4856-83CE-6C00D5956140}" type="slidenum">
              <a:rPr lang="zh-CN" altLang="zh-CN"/>
            </a:fld>
            <a:endParaRPr lang="zh-CN"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93DA2BCB-478C-4ED7-A094-7AAA0FF334A9}" type="slidenum">
              <a:rPr lang="zh-CN" altLang="zh-CN"/>
            </a:fld>
            <a:endParaRPr lang="zh-CN"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28613" y="1941513"/>
            <a:ext cx="402748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508500" y="1941513"/>
            <a:ext cx="402907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endParaRPr lang="zh-CN" altLang="zh-CN"/>
          </a:p>
        </p:txBody>
      </p:sp>
      <p:sp>
        <p:nvSpPr>
          <p:cNvPr id="6" name="Rectangle 8"/>
          <p:cNvSpPr>
            <a:spLocks noGrp="1" noChangeArrowheads="1"/>
          </p:cNvSpPr>
          <p:nvPr>
            <p:ph type="ftr" sz="quarter" idx="11"/>
          </p:nvPr>
        </p:nvSpPr>
        <p:spPr/>
        <p:txBody>
          <a:bodyPr/>
          <a:lstStyle>
            <a:lvl1pPr>
              <a:defRPr/>
            </a:lvl1pPr>
          </a:lstStyle>
          <a:p>
            <a:pPr>
              <a:defRPr/>
            </a:pPr>
            <a:endParaRPr lang="zh-CN" altLang="zh-CN"/>
          </a:p>
        </p:txBody>
      </p:sp>
      <p:sp>
        <p:nvSpPr>
          <p:cNvPr id="7" name="Rectangle 9"/>
          <p:cNvSpPr>
            <a:spLocks noGrp="1" noChangeArrowheads="1"/>
          </p:cNvSpPr>
          <p:nvPr>
            <p:ph type="sldNum" sz="quarter" idx="12"/>
          </p:nvPr>
        </p:nvSpPr>
        <p:spPr/>
        <p:txBody>
          <a:bodyPr/>
          <a:lstStyle>
            <a:lvl1pPr>
              <a:defRPr/>
            </a:lvl1pPr>
          </a:lstStyle>
          <a:p>
            <a:pPr>
              <a:defRPr/>
            </a:pPr>
            <a:fld id="{BE09B864-A8E2-4A36-B146-90F90E624BB7}" type="slidenum">
              <a:rPr lang="zh-CN" altLang="zh-CN"/>
            </a:fld>
            <a:endParaRPr lang="zh-CN"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endParaRPr lang="zh-CN" altLang="zh-CN"/>
          </a:p>
        </p:txBody>
      </p:sp>
      <p:sp>
        <p:nvSpPr>
          <p:cNvPr id="8" name="Rectangle 8"/>
          <p:cNvSpPr>
            <a:spLocks noGrp="1" noChangeArrowheads="1"/>
          </p:cNvSpPr>
          <p:nvPr>
            <p:ph type="ftr" sz="quarter" idx="11"/>
          </p:nvPr>
        </p:nvSpPr>
        <p:spPr/>
        <p:txBody>
          <a:bodyPr/>
          <a:lstStyle>
            <a:lvl1pPr>
              <a:defRPr/>
            </a:lvl1pPr>
          </a:lstStyle>
          <a:p>
            <a:pPr>
              <a:defRPr/>
            </a:pPr>
            <a:endParaRPr lang="zh-CN" altLang="zh-CN"/>
          </a:p>
        </p:txBody>
      </p:sp>
      <p:sp>
        <p:nvSpPr>
          <p:cNvPr id="9" name="Rectangle 9"/>
          <p:cNvSpPr>
            <a:spLocks noGrp="1" noChangeArrowheads="1"/>
          </p:cNvSpPr>
          <p:nvPr>
            <p:ph type="sldNum" sz="quarter" idx="12"/>
          </p:nvPr>
        </p:nvSpPr>
        <p:spPr/>
        <p:txBody>
          <a:bodyPr/>
          <a:lstStyle>
            <a:lvl1pPr>
              <a:defRPr/>
            </a:lvl1pPr>
          </a:lstStyle>
          <a:p>
            <a:pPr>
              <a:defRPr/>
            </a:pPr>
            <a:fld id="{E2BBBFF3-CBC7-4DA9-AA5A-C3FB28B35715}" type="slidenum">
              <a:rPr lang="zh-CN" altLang="zh-CN"/>
            </a:fld>
            <a:endParaRPr lang="zh-CN"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endParaRPr lang="zh-CN" altLang="zh-CN"/>
          </a:p>
        </p:txBody>
      </p:sp>
      <p:sp>
        <p:nvSpPr>
          <p:cNvPr id="4" name="Rectangle 8"/>
          <p:cNvSpPr>
            <a:spLocks noGrp="1" noChangeArrowheads="1"/>
          </p:cNvSpPr>
          <p:nvPr>
            <p:ph type="ftr" sz="quarter" idx="11"/>
          </p:nvPr>
        </p:nvSpPr>
        <p:spPr/>
        <p:txBody>
          <a:bodyPr/>
          <a:lstStyle>
            <a:lvl1pPr>
              <a:defRPr/>
            </a:lvl1pPr>
          </a:lstStyle>
          <a:p>
            <a:pPr>
              <a:defRPr/>
            </a:pPr>
            <a:endParaRPr lang="zh-CN" altLang="zh-CN"/>
          </a:p>
        </p:txBody>
      </p:sp>
      <p:sp>
        <p:nvSpPr>
          <p:cNvPr id="5" name="Rectangle 9"/>
          <p:cNvSpPr>
            <a:spLocks noGrp="1" noChangeArrowheads="1"/>
          </p:cNvSpPr>
          <p:nvPr>
            <p:ph type="sldNum" sz="quarter" idx="12"/>
          </p:nvPr>
        </p:nvSpPr>
        <p:spPr/>
        <p:txBody>
          <a:bodyPr/>
          <a:lstStyle>
            <a:lvl1pPr>
              <a:defRPr/>
            </a:lvl1pPr>
          </a:lstStyle>
          <a:p>
            <a:pPr>
              <a:defRPr/>
            </a:pPr>
            <a:fld id="{B6040CFB-3DD5-4190-B831-B0B7FD021567}" type="slidenum">
              <a:rPr lang="zh-CN" altLang="zh-CN"/>
            </a:fld>
            <a:endParaRPr lang="zh-CN"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endParaRPr lang="zh-CN" altLang="zh-CN"/>
          </a:p>
        </p:txBody>
      </p:sp>
      <p:sp>
        <p:nvSpPr>
          <p:cNvPr id="3" name="Rectangle 8"/>
          <p:cNvSpPr>
            <a:spLocks noGrp="1" noChangeArrowheads="1"/>
          </p:cNvSpPr>
          <p:nvPr>
            <p:ph type="ftr" sz="quarter" idx="11"/>
          </p:nvPr>
        </p:nvSpPr>
        <p:spPr/>
        <p:txBody>
          <a:bodyPr/>
          <a:lstStyle>
            <a:lvl1pPr>
              <a:defRPr/>
            </a:lvl1pPr>
          </a:lstStyle>
          <a:p>
            <a:pPr>
              <a:defRPr/>
            </a:pPr>
            <a:endParaRPr lang="zh-CN" altLang="zh-CN"/>
          </a:p>
        </p:txBody>
      </p:sp>
      <p:sp>
        <p:nvSpPr>
          <p:cNvPr id="4" name="Rectangle 9"/>
          <p:cNvSpPr>
            <a:spLocks noGrp="1" noChangeArrowheads="1"/>
          </p:cNvSpPr>
          <p:nvPr>
            <p:ph type="sldNum" sz="quarter" idx="12"/>
          </p:nvPr>
        </p:nvSpPr>
        <p:spPr/>
        <p:txBody>
          <a:bodyPr/>
          <a:lstStyle>
            <a:lvl1pPr>
              <a:defRPr/>
            </a:lvl1pPr>
          </a:lstStyle>
          <a:p>
            <a:pPr>
              <a:defRPr/>
            </a:pPr>
            <a:fld id="{685A2EA7-2D14-46D3-B731-922B6DA4EC31}" type="slidenum">
              <a:rPr lang="zh-CN" altLang="zh-CN"/>
            </a:fld>
            <a:endParaRPr lang="zh-CN"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endParaRPr lang="zh-CN" altLang="zh-CN"/>
          </a:p>
        </p:txBody>
      </p:sp>
      <p:sp>
        <p:nvSpPr>
          <p:cNvPr id="6" name="Rectangle 8"/>
          <p:cNvSpPr>
            <a:spLocks noGrp="1" noChangeArrowheads="1"/>
          </p:cNvSpPr>
          <p:nvPr>
            <p:ph type="ftr" sz="quarter" idx="11"/>
          </p:nvPr>
        </p:nvSpPr>
        <p:spPr/>
        <p:txBody>
          <a:bodyPr/>
          <a:lstStyle>
            <a:lvl1pPr>
              <a:defRPr/>
            </a:lvl1pPr>
          </a:lstStyle>
          <a:p>
            <a:pPr>
              <a:defRPr/>
            </a:pPr>
            <a:endParaRPr lang="zh-CN" altLang="zh-CN"/>
          </a:p>
        </p:txBody>
      </p:sp>
      <p:sp>
        <p:nvSpPr>
          <p:cNvPr id="7" name="Rectangle 9"/>
          <p:cNvSpPr>
            <a:spLocks noGrp="1" noChangeArrowheads="1"/>
          </p:cNvSpPr>
          <p:nvPr>
            <p:ph type="sldNum" sz="quarter" idx="12"/>
          </p:nvPr>
        </p:nvSpPr>
        <p:spPr/>
        <p:txBody>
          <a:bodyPr/>
          <a:lstStyle>
            <a:lvl1pPr>
              <a:defRPr/>
            </a:lvl1pPr>
          </a:lstStyle>
          <a:p>
            <a:pPr>
              <a:defRPr/>
            </a:pPr>
            <a:fld id="{4B3EC4B0-76F1-4E1B-8036-E257CD7EFC6D}" type="slidenum">
              <a:rPr lang="zh-CN" altLang="zh-CN"/>
            </a:fld>
            <a:endParaRPr lang="zh-CN"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endParaRPr lang="zh-CN" altLang="zh-CN"/>
          </a:p>
        </p:txBody>
      </p:sp>
      <p:sp>
        <p:nvSpPr>
          <p:cNvPr id="6" name="Rectangle 8"/>
          <p:cNvSpPr>
            <a:spLocks noGrp="1" noChangeArrowheads="1"/>
          </p:cNvSpPr>
          <p:nvPr>
            <p:ph type="ftr" sz="quarter" idx="11"/>
          </p:nvPr>
        </p:nvSpPr>
        <p:spPr/>
        <p:txBody>
          <a:bodyPr/>
          <a:lstStyle>
            <a:lvl1pPr>
              <a:defRPr/>
            </a:lvl1pPr>
          </a:lstStyle>
          <a:p>
            <a:pPr>
              <a:defRPr/>
            </a:pPr>
            <a:endParaRPr lang="zh-CN" altLang="zh-CN"/>
          </a:p>
        </p:txBody>
      </p:sp>
      <p:sp>
        <p:nvSpPr>
          <p:cNvPr id="7" name="Rectangle 9"/>
          <p:cNvSpPr>
            <a:spLocks noGrp="1" noChangeArrowheads="1"/>
          </p:cNvSpPr>
          <p:nvPr>
            <p:ph type="sldNum" sz="quarter" idx="12"/>
          </p:nvPr>
        </p:nvSpPr>
        <p:spPr/>
        <p:txBody>
          <a:bodyPr/>
          <a:lstStyle>
            <a:lvl1pPr>
              <a:defRPr/>
            </a:lvl1pPr>
          </a:lstStyle>
          <a:p>
            <a:pPr>
              <a:defRPr/>
            </a:pPr>
            <a:fld id="{D01DD2A3-9DDB-4A96-A9C7-B2E6E2F60A63}" type="slidenum">
              <a:rPr lang="zh-CN" altLang="zh-CN"/>
            </a:fld>
            <a:endParaRPr lang="zh-CN"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294707BC-77DE-4634-BE0E-FA829E0664CD}" type="slidenum">
              <a:rPr lang="zh-CN" altLang="zh-CN"/>
            </a:fld>
            <a:endParaRPr lang="zh-CN"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6088" y="722313"/>
            <a:ext cx="2159000" cy="5334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17500" y="722313"/>
            <a:ext cx="6326188" cy="5334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endParaRPr lang="zh-CN" altLang="zh-CN"/>
          </a:p>
        </p:txBody>
      </p:sp>
      <p:sp>
        <p:nvSpPr>
          <p:cNvPr id="5" name="Rectangle 8"/>
          <p:cNvSpPr>
            <a:spLocks noGrp="1" noChangeArrowheads="1"/>
          </p:cNvSpPr>
          <p:nvPr>
            <p:ph type="ftr" sz="quarter" idx="11"/>
          </p:nvPr>
        </p:nvSpPr>
        <p:spPr/>
        <p:txBody>
          <a:bodyPr/>
          <a:lstStyle>
            <a:lvl1pPr>
              <a:defRPr/>
            </a:lvl1pPr>
          </a:lstStyle>
          <a:p>
            <a:pPr>
              <a:defRPr/>
            </a:pPr>
            <a:endParaRPr lang="zh-CN" altLang="zh-CN"/>
          </a:p>
        </p:txBody>
      </p:sp>
      <p:sp>
        <p:nvSpPr>
          <p:cNvPr id="6" name="Rectangle 9"/>
          <p:cNvSpPr>
            <a:spLocks noGrp="1" noChangeArrowheads="1"/>
          </p:cNvSpPr>
          <p:nvPr>
            <p:ph type="sldNum" sz="quarter" idx="12"/>
          </p:nvPr>
        </p:nvSpPr>
        <p:spPr/>
        <p:txBody>
          <a:bodyPr/>
          <a:lstStyle>
            <a:lvl1pPr>
              <a:defRPr/>
            </a:lvl1pPr>
          </a:lstStyle>
          <a:p>
            <a:pPr>
              <a:defRPr/>
            </a:pPr>
            <a:fld id="{E62B88BE-5FC7-4D2F-9FD4-D9A473E5D44E}" type="slidenum">
              <a:rPr lang="zh-CN" altLang="zh-CN"/>
            </a:fld>
            <a:endParaRPr lang="zh-CN"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C995E5C2-7EA1-4A27-878F-D80059D6A6B0}" type="datetimeFigureOut">
              <a:rPr lang="zh-CN" altLang="en-US"/>
            </a:fld>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70778A8F-4303-44C6-81AE-69448AED501B}" type="slidenum">
              <a:rPr lang="zh-CN" altLang="zh-CN"/>
            </a:fld>
            <a:endParaRPr lang="zh-CN"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9C047258-65B7-4778-A130-85EF1E1E75A3}" type="datetimeFigureOut">
              <a:rPr lang="zh-CN" altLang="en-US"/>
            </a:fld>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E100CB24-5F1C-4B0A-BD32-C96F1C2C6A6E}" type="slidenum">
              <a:rPr lang="zh-CN" altLang="zh-CN"/>
            </a:fld>
            <a:endParaRPr lang="zh-CN"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fld id="{5F962A2F-5755-4A0F-ADD6-20B0EDB8E40F}" type="datetimeFigureOut">
              <a:rPr lang="zh-CN" altLang="en-US"/>
            </a:fld>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18F3A517-B956-4D65-B171-81532E43AF0C}" type="slidenum">
              <a:rPr lang="zh-CN" altLang="zh-CN"/>
            </a:fld>
            <a:endParaRPr lang="zh-CN"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8D6D16DE-8A7E-476A-B6E7-0848C81B0924}" type="datetimeFigureOut">
              <a:rPr lang="zh-CN" altLang="en-US"/>
            </a:fld>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pPr>
              <a:defRPr/>
            </a:pPr>
            <a:fld id="{C543BF47-DFFC-47E6-9982-A1688A00F5F4}" type="slidenum">
              <a:rPr lang="zh-CN" altLang="zh-CN"/>
            </a:fld>
            <a:endParaRPr lang="zh-CN"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fld id="{C9157E08-4C70-46F2-9AEA-FF55016F5EC1}" type="datetimeFigureOut">
              <a:rPr lang="zh-CN" altLang="en-US"/>
            </a:fld>
            <a:endParaRPr lang="zh-CN" altLang="zh-CN"/>
          </a:p>
        </p:txBody>
      </p:sp>
      <p:sp>
        <p:nvSpPr>
          <p:cNvPr id="8" name="Rectangle 5"/>
          <p:cNvSpPr>
            <a:spLocks noGrp="1" noChangeArrowheads="1"/>
          </p:cNvSpPr>
          <p:nvPr>
            <p:ph type="ftr" sz="quarter" idx="11"/>
          </p:nvPr>
        </p:nvSpPr>
        <p:spPr/>
        <p:txBody>
          <a:bodyPr/>
          <a:lstStyle>
            <a:lvl1pPr>
              <a:defRPr/>
            </a:lvl1pPr>
          </a:lstStyle>
          <a:p>
            <a:pPr>
              <a:defRPr/>
            </a:pPr>
            <a:endParaRPr lang="zh-CN" altLang="zh-CN"/>
          </a:p>
        </p:txBody>
      </p:sp>
      <p:sp>
        <p:nvSpPr>
          <p:cNvPr id="9" name="Rectangle 6"/>
          <p:cNvSpPr>
            <a:spLocks noGrp="1" noChangeArrowheads="1"/>
          </p:cNvSpPr>
          <p:nvPr>
            <p:ph type="sldNum" sz="quarter" idx="12"/>
          </p:nvPr>
        </p:nvSpPr>
        <p:spPr/>
        <p:txBody>
          <a:bodyPr/>
          <a:lstStyle>
            <a:lvl1pPr>
              <a:defRPr/>
            </a:lvl1pPr>
          </a:lstStyle>
          <a:p>
            <a:pPr>
              <a:defRPr/>
            </a:pPr>
            <a:fld id="{6E10FACE-B43F-41DA-BFF9-1558DA3B819B}" type="slidenum">
              <a:rPr lang="zh-CN" altLang="zh-CN"/>
            </a:fld>
            <a:endParaRPr lang="zh-CN"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fld id="{A1D5FD11-6828-4A3E-A118-2CBF4EC513FB}" type="datetimeFigureOut">
              <a:rPr lang="zh-CN" altLang="en-US"/>
            </a:fld>
            <a:endParaRPr lang="zh-CN" altLang="zh-CN"/>
          </a:p>
        </p:txBody>
      </p:sp>
      <p:sp>
        <p:nvSpPr>
          <p:cNvPr id="4" name="Rectangle 5"/>
          <p:cNvSpPr>
            <a:spLocks noGrp="1" noChangeArrowheads="1"/>
          </p:cNvSpPr>
          <p:nvPr>
            <p:ph type="ftr" sz="quarter" idx="11"/>
          </p:nvPr>
        </p:nvSpPr>
        <p:spPr/>
        <p:txBody>
          <a:bodyPr/>
          <a:lstStyle>
            <a:lvl1pPr>
              <a:defRPr/>
            </a:lvl1pPr>
          </a:lstStyle>
          <a:p>
            <a:pPr>
              <a:defRPr/>
            </a:pPr>
            <a:endParaRPr lang="zh-CN" altLang="zh-CN"/>
          </a:p>
        </p:txBody>
      </p:sp>
      <p:sp>
        <p:nvSpPr>
          <p:cNvPr id="5" name="Rectangle 6"/>
          <p:cNvSpPr>
            <a:spLocks noGrp="1" noChangeArrowheads="1"/>
          </p:cNvSpPr>
          <p:nvPr>
            <p:ph type="sldNum" sz="quarter" idx="12"/>
          </p:nvPr>
        </p:nvSpPr>
        <p:spPr/>
        <p:txBody>
          <a:bodyPr/>
          <a:lstStyle>
            <a:lvl1pPr>
              <a:defRPr/>
            </a:lvl1pPr>
          </a:lstStyle>
          <a:p>
            <a:pPr>
              <a:defRPr/>
            </a:pPr>
            <a:fld id="{2B326222-6641-4A17-860D-35F6A4B2F877}" type="slidenum">
              <a:rPr lang="zh-CN" altLang="zh-CN"/>
            </a:fld>
            <a:endParaRPr lang="zh-CN"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ABDC0E8A-CCAC-4FD6-A339-43453258EACC}" type="datetimeFigureOut">
              <a:rPr lang="zh-CN" altLang="en-US"/>
            </a:fld>
            <a:endParaRPr lang="zh-CN" altLang="zh-CN"/>
          </a:p>
        </p:txBody>
      </p:sp>
      <p:sp>
        <p:nvSpPr>
          <p:cNvPr id="3" name="Rectangle 5"/>
          <p:cNvSpPr>
            <a:spLocks noGrp="1" noChangeArrowheads="1"/>
          </p:cNvSpPr>
          <p:nvPr>
            <p:ph type="ftr" sz="quarter" idx="11"/>
          </p:nvPr>
        </p:nvSpPr>
        <p:spPr/>
        <p:txBody>
          <a:bodyPr/>
          <a:lstStyle>
            <a:lvl1pPr>
              <a:defRPr/>
            </a:lvl1pPr>
          </a:lstStyle>
          <a:p>
            <a:pPr>
              <a:defRPr/>
            </a:pPr>
            <a:endParaRPr lang="zh-CN" altLang="zh-CN"/>
          </a:p>
        </p:txBody>
      </p:sp>
      <p:sp>
        <p:nvSpPr>
          <p:cNvPr id="4" name="Rectangle 6"/>
          <p:cNvSpPr>
            <a:spLocks noGrp="1" noChangeArrowheads="1"/>
          </p:cNvSpPr>
          <p:nvPr>
            <p:ph type="sldNum" sz="quarter" idx="12"/>
          </p:nvPr>
        </p:nvSpPr>
        <p:spPr/>
        <p:txBody>
          <a:bodyPr/>
          <a:lstStyle>
            <a:lvl1pPr>
              <a:defRPr/>
            </a:lvl1pPr>
          </a:lstStyle>
          <a:p>
            <a:pPr>
              <a:defRPr/>
            </a:pPr>
            <a:fld id="{30941688-946B-4C89-9AEF-8CECF6280681}" type="slidenum">
              <a:rPr lang="zh-CN" altLang="zh-CN"/>
            </a:fld>
            <a:endParaRPr lang="zh-CN"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fld id="{567E81A3-24F5-47BC-B985-76C4C52B93D6}" type="datetimeFigureOut">
              <a:rPr lang="zh-CN" altLang="en-US"/>
            </a:fld>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pPr>
              <a:defRPr/>
            </a:pPr>
            <a:fld id="{4B8E5B63-DA10-41F0-8AFE-1B99C6D48F7B}" type="slidenum">
              <a:rPr lang="zh-CN" altLang="zh-CN"/>
            </a:fld>
            <a:endParaRPr lang="zh-CN"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fld id="{266B7724-5B11-4D80-863C-D7C66D4766C9}" type="datetimeFigureOut">
              <a:rPr lang="zh-CN" altLang="en-US"/>
            </a:fld>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pPr>
              <a:defRPr/>
            </a:pPr>
            <a:fld id="{869B86C3-3BCD-4222-BF2F-8DF4527B28B3}" type="slidenum">
              <a:rPr lang="zh-CN" altLang="zh-CN"/>
            </a:fld>
            <a:endParaRPr lang="zh-CN"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24E5E24D-7C9B-42F2-B299-E78E6D34B876}" type="datetimeFigureOut">
              <a:rPr lang="zh-CN" altLang="en-US"/>
            </a:fld>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6907C432-59E3-4194-9C95-0F6D7A5FE09F}" type="slidenum">
              <a:rPr lang="zh-CN" altLang="zh-CN"/>
            </a:fld>
            <a:endParaRPr lang="zh-CN"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1C3B38CA-E39C-4C0A-86F7-96440F9B4228}" type="datetimeFigureOut">
              <a:rPr lang="zh-CN" altLang="en-US"/>
            </a:fld>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7A5CCB4E-A9AD-469A-8955-55B237F39B36}" type="slidenum">
              <a:rPr lang="zh-CN" altLang="zh-CN"/>
            </a:fld>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2.png"/><Relationship Id="rId12" Type="http://schemas.openxmlformats.org/officeDocument/2006/relationships/image" Target="../media/image3.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chemeClr val="bg2"/>
            </a:gs>
            <a:gs pos="100000">
              <a:schemeClr val="bg1"/>
            </a:gs>
          </a:gsLst>
          <a:path path="rect">
            <a:fillToRect r="100000" b="100000"/>
          </a:path>
        </a:gradFill>
        <a:effectLst/>
      </p:bgPr>
    </p:bg>
    <p:spTree>
      <p:nvGrpSpPr>
        <p:cNvPr id="1" name=""/>
        <p:cNvGrpSpPr/>
        <p:nvPr/>
      </p:nvGrpSpPr>
      <p:grpSpPr>
        <a:xfrm>
          <a:off x="0" y="0"/>
          <a:ext cx="0" cy="0"/>
          <a:chOff x="0" y="0"/>
          <a:chExt cx="0" cy="0"/>
        </a:xfrm>
      </p:grpSpPr>
      <p:grpSp>
        <p:nvGrpSpPr>
          <p:cNvPr id="12290" name="Group 2"/>
          <p:cNvGrpSpPr>
            <a:grpSpLocks noChangeAspect="1"/>
          </p:cNvGrpSpPr>
          <p:nvPr/>
        </p:nvGrpSpPr>
        <p:grpSpPr bwMode="auto">
          <a:xfrm>
            <a:off x="-1588" y="1636713"/>
            <a:ext cx="9142413" cy="4618037"/>
            <a:chOff x="0" y="0"/>
            <a:chExt cx="5763" cy="2909"/>
          </a:xfrm>
        </p:grpSpPr>
        <p:pic>
          <p:nvPicPr>
            <p:cNvPr id="12296" name="Picture 3" descr="D:\FRONTPAGE THEMES\ARTSY\ARTHSEPA.PNG"/>
            <p:cNvPicPr>
              <a:picLocks noChangeAspect="1" noChangeArrowheads="1"/>
            </p:cNvPicPr>
            <p:nvPr/>
          </p:nvPicPr>
          <p:blipFill>
            <a:blip r:embed="rId12" cstate="print"/>
            <a:srcRect/>
            <a:stretch>
              <a:fillRect/>
            </a:stretch>
          </p:blipFill>
          <p:spPr bwMode="auto">
            <a:xfrm>
              <a:off x="3783" y="2862"/>
              <a:ext cx="1980" cy="47"/>
            </a:xfrm>
            <a:prstGeom prst="rect">
              <a:avLst/>
            </a:prstGeom>
            <a:noFill/>
            <a:ln w="9525">
              <a:noFill/>
              <a:miter lim="800000"/>
              <a:headEnd/>
              <a:tailEnd/>
            </a:ln>
          </p:spPr>
        </p:pic>
        <p:pic>
          <p:nvPicPr>
            <p:cNvPr id="12297" name="Picture 4" descr="P:\!Themes\Artsy\Arthsepa.gif"/>
            <p:cNvPicPr>
              <a:picLocks noChangeAspect="1" noChangeArrowheads="1"/>
            </p:cNvPicPr>
            <p:nvPr/>
          </p:nvPicPr>
          <p:blipFill>
            <a:blip r:embed="rId13" cstate="print"/>
            <a:srcRect/>
            <a:stretch>
              <a:fillRect/>
            </a:stretch>
          </p:blipFill>
          <p:spPr bwMode="auto">
            <a:xfrm>
              <a:off x="0" y="0"/>
              <a:ext cx="2832" cy="61"/>
            </a:xfrm>
            <a:prstGeom prst="rect">
              <a:avLst/>
            </a:prstGeom>
            <a:noFill/>
            <a:ln w="9525">
              <a:noFill/>
              <a:miter lim="800000"/>
              <a:headEnd/>
              <a:tailEnd/>
            </a:ln>
          </p:spPr>
        </p:pic>
      </p:grpSp>
      <p:sp>
        <p:nvSpPr>
          <p:cNvPr id="12291" name="Rectangle 5"/>
          <p:cNvSpPr>
            <a:spLocks noGrp="1" noChangeArrowheads="1"/>
          </p:cNvSpPr>
          <p:nvPr>
            <p:ph type="title"/>
          </p:nvPr>
        </p:nvSpPr>
        <p:spPr bwMode="auto">
          <a:xfrm>
            <a:off x="317500" y="722313"/>
            <a:ext cx="8637588" cy="762000"/>
          </a:xfrm>
          <a:prstGeom prst="rect">
            <a:avLst/>
          </a:prstGeom>
          <a:noFill/>
          <a:ln w="9525">
            <a:noFill/>
            <a:miter lim="800000"/>
          </a:ln>
        </p:spPr>
        <p:txBody>
          <a:bodyPr vert="horz" wrap="square" lIns="91440" tIns="45720" rIns="91440" bIns="45720" numCol="1" anchor="b" anchorCtr="0" compatLnSpc="1">
            <a:spAutoFit/>
          </a:bodyPr>
          <a:lstStyle/>
          <a:p>
            <a:pPr lvl="0"/>
            <a:r>
              <a:rPr lang="zh-CN" smtClean="0"/>
              <a:t>单击此处编辑母版标题样式</a:t>
            </a:r>
            <a:endParaRPr lang="zh-CN" smtClean="0"/>
          </a:p>
        </p:txBody>
      </p:sp>
      <p:sp>
        <p:nvSpPr>
          <p:cNvPr id="12292" name="Rectangle 6"/>
          <p:cNvSpPr>
            <a:spLocks noGrp="1" noChangeArrowheads="1"/>
          </p:cNvSpPr>
          <p:nvPr>
            <p:ph type="body" idx="1"/>
          </p:nvPr>
        </p:nvSpPr>
        <p:spPr bwMode="auto">
          <a:xfrm>
            <a:off x="328613" y="1941513"/>
            <a:ext cx="8208962" cy="4114800"/>
          </a:xfrm>
          <a:prstGeom prst="rect">
            <a:avLst/>
          </a:prstGeom>
          <a:noFill/>
          <a:ln w="9525">
            <a:noFill/>
            <a:miter lim="800000"/>
          </a:ln>
        </p:spPr>
        <p:txBody>
          <a:bodyPr vert="horz" wrap="square" lIns="91440" tIns="45720" rIns="91440" bIns="45720" numCol="1" anchor="t" anchorCtr="0" compatLnSpc="1"/>
          <a:lstStyle/>
          <a:p>
            <a:pPr lvl="0"/>
            <a:r>
              <a:rPr lang="zh-CN" smtClean="0"/>
              <a:t>单击此处编辑母版文本样式</a:t>
            </a:r>
            <a:endParaRPr lang="zh-CN" smtClean="0"/>
          </a:p>
          <a:p>
            <a:pPr lvl="1"/>
            <a:r>
              <a:rPr lang="zh-CN" smtClean="0"/>
              <a:t>第二级</a:t>
            </a:r>
            <a:endParaRPr lang="zh-CN" smtClean="0"/>
          </a:p>
          <a:p>
            <a:pPr lvl="2"/>
            <a:r>
              <a:rPr lang="zh-CN" smtClean="0"/>
              <a:t>第三级</a:t>
            </a:r>
            <a:endParaRPr lang="zh-CN" smtClean="0"/>
          </a:p>
          <a:p>
            <a:pPr lvl="3"/>
            <a:r>
              <a:rPr lang="zh-CN" smtClean="0"/>
              <a:t>第四级</a:t>
            </a:r>
            <a:endParaRPr lang="zh-CN" smtClean="0"/>
          </a:p>
          <a:p>
            <a:pPr lvl="4"/>
            <a:r>
              <a:rPr lang="zh-CN" smtClean="0"/>
              <a:t>第五级</a:t>
            </a:r>
            <a:endParaRPr lang="zh-CN" smtClean="0"/>
          </a:p>
        </p:txBody>
      </p:sp>
      <p:sp>
        <p:nvSpPr>
          <p:cNvPr id="1031" name="Rectangle 7"/>
          <p:cNvSpPr>
            <a:spLocks noGrp="1" noChangeArrowheads="1"/>
          </p:cNvSpPr>
          <p:nvPr>
            <p:ph type="dt" sz="half" idx="2"/>
          </p:nvPr>
        </p:nvSpPr>
        <p:spPr bwMode="auto">
          <a:xfrm>
            <a:off x="3433763" y="6343650"/>
            <a:ext cx="1905000" cy="457200"/>
          </a:xfrm>
          <a:prstGeom prst="rect">
            <a:avLst/>
          </a:prstGeom>
          <a:noFill/>
          <a:ln w="9525">
            <a:noFill/>
            <a:miter lim="800000"/>
          </a:ln>
        </p:spPr>
        <p:txBody>
          <a:bodyPr vert="horz" wrap="square" lIns="91440" tIns="45720" rIns="91440" bIns="45720" numCol="1" anchor="b" anchorCtr="0" compatLnSpc="1"/>
          <a:lstStyle>
            <a:lvl1pPr algn="ctr">
              <a:defRPr sz="1400" b="0">
                <a:solidFill>
                  <a:schemeClr val="tx1"/>
                </a:solidFill>
                <a:latin typeface="+mn-lt"/>
              </a:defRPr>
            </a:lvl1pPr>
          </a:lstStyle>
          <a:p>
            <a:pPr>
              <a:defRPr/>
            </a:pPr>
            <a:endParaRPr lang="zh-CN" altLang="zh-CN"/>
          </a:p>
        </p:txBody>
      </p:sp>
      <p:sp>
        <p:nvSpPr>
          <p:cNvPr id="1032" name="Rectangle 8"/>
          <p:cNvSpPr>
            <a:spLocks noGrp="1" noChangeArrowheads="1"/>
          </p:cNvSpPr>
          <p:nvPr>
            <p:ph type="ftr" sz="quarter" idx="3"/>
          </p:nvPr>
        </p:nvSpPr>
        <p:spPr bwMode="auto">
          <a:xfrm>
            <a:off x="6108700" y="6343650"/>
            <a:ext cx="2895600" cy="457200"/>
          </a:xfrm>
          <a:prstGeom prst="rect">
            <a:avLst/>
          </a:prstGeom>
          <a:noFill/>
          <a:ln w="9525">
            <a:noFill/>
            <a:miter lim="800000"/>
          </a:ln>
        </p:spPr>
        <p:txBody>
          <a:bodyPr vert="horz" wrap="square" lIns="91440" tIns="45720" rIns="91440" bIns="45720" numCol="1" anchor="b" anchorCtr="0" compatLnSpc="1"/>
          <a:lstStyle>
            <a:lvl1pPr algn="r">
              <a:defRPr sz="1400" b="0">
                <a:solidFill>
                  <a:schemeClr val="tx1"/>
                </a:solidFill>
                <a:latin typeface="+mn-lt"/>
              </a:defRPr>
            </a:lvl1pPr>
          </a:lstStyle>
          <a:p>
            <a:pPr>
              <a:defRPr/>
            </a:pPr>
            <a:endParaRPr lang="zh-CN" altLang="zh-CN"/>
          </a:p>
        </p:txBody>
      </p:sp>
      <p:sp>
        <p:nvSpPr>
          <p:cNvPr id="1033" name="Rectangle 9"/>
          <p:cNvSpPr>
            <a:spLocks noGrp="1" noChangeArrowheads="1"/>
          </p:cNvSpPr>
          <p:nvPr>
            <p:ph type="sldNum" sz="quarter" idx="4"/>
          </p:nvPr>
        </p:nvSpPr>
        <p:spPr bwMode="auto">
          <a:xfrm>
            <a:off x="146050" y="6361113"/>
            <a:ext cx="1905000" cy="457200"/>
          </a:xfrm>
          <a:prstGeom prst="rect">
            <a:avLst/>
          </a:prstGeom>
          <a:noFill/>
          <a:ln w="9525">
            <a:noFill/>
            <a:miter lim="800000"/>
          </a:ln>
        </p:spPr>
        <p:txBody>
          <a:bodyPr vert="horz" wrap="square" lIns="91440" tIns="45720" rIns="91440" bIns="45720" numCol="1" anchor="b" anchorCtr="0" compatLnSpc="1"/>
          <a:lstStyle>
            <a:lvl1pPr>
              <a:defRPr b="0">
                <a:solidFill>
                  <a:schemeClr val="tx1"/>
                </a:solidFill>
                <a:latin typeface="+mn-lt"/>
              </a:defRPr>
            </a:lvl1pPr>
          </a:lstStyle>
          <a:p>
            <a:pPr>
              <a:defRPr/>
            </a:pPr>
            <a:fld id="{1683C554-B7B8-4192-BC5E-CAA17E9B3BB2}" type="slidenum">
              <a:rPr lang="zh-CN" altLang="zh-CN"/>
            </a:fld>
            <a:endParaRPr lang="zh-CN"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CCFF33"/>
        </a:buClr>
        <a:buSzPct val="7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FF33"/>
        </a:buClr>
        <a:buSzPct val="7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CCFF33"/>
        </a:buClr>
        <a:buSzPct val="7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5pPr>
      <a:lvl6pPr marL="25146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6pPr>
      <a:lvl7pPr marL="29718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7pPr>
      <a:lvl8pPr marL="34290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8pPr>
      <a:lvl9pPr marL="38862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chemeClr val="bg2"/>
            </a:gs>
            <a:gs pos="100000">
              <a:schemeClr val="bg1"/>
            </a:gs>
          </a:gsLst>
          <a:path path="rect">
            <a:fillToRect r="100000" b="100000"/>
          </a:path>
        </a:gradFill>
        <a:effectLst/>
      </p:bgPr>
    </p:bg>
    <p:spTree>
      <p:nvGrpSpPr>
        <p:cNvPr id="1" name=""/>
        <p:cNvGrpSpPr/>
        <p:nvPr/>
      </p:nvGrpSpPr>
      <p:grpSpPr>
        <a:xfrm>
          <a:off x="0" y="0"/>
          <a:ext cx="0" cy="0"/>
          <a:chOff x="0" y="0"/>
          <a:chExt cx="0" cy="0"/>
        </a:xfrm>
      </p:grpSpPr>
      <p:grpSp>
        <p:nvGrpSpPr>
          <p:cNvPr id="13314" name="Group 2"/>
          <p:cNvGrpSpPr>
            <a:grpSpLocks noChangeAspect="1"/>
          </p:cNvGrpSpPr>
          <p:nvPr userDrawn="1"/>
        </p:nvGrpSpPr>
        <p:grpSpPr bwMode="auto">
          <a:xfrm>
            <a:off x="0" y="0"/>
            <a:ext cx="9144000" cy="3365500"/>
            <a:chOff x="0" y="0"/>
            <a:chExt cx="5760" cy="2120"/>
          </a:xfrm>
        </p:grpSpPr>
        <p:pic>
          <p:nvPicPr>
            <p:cNvPr id="13320" name="Picture 3" descr="D:\FRONTPAGE THEMES\ARTSY\ARTBANNA.PNG"/>
            <p:cNvPicPr>
              <a:picLocks noChangeAspect="1" noChangeArrowheads="1"/>
            </p:cNvPicPr>
            <p:nvPr userDrawn="1"/>
          </p:nvPicPr>
          <p:blipFill>
            <a:blip r:embed="rId12" cstate="print"/>
            <a:srcRect l="8125"/>
            <a:stretch>
              <a:fillRect/>
            </a:stretch>
          </p:blipFill>
          <p:spPr bwMode="auto">
            <a:xfrm>
              <a:off x="0" y="0"/>
              <a:ext cx="5760" cy="576"/>
            </a:xfrm>
            <a:prstGeom prst="rect">
              <a:avLst/>
            </a:prstGeom>
            <a:noFill/>
            <a:ln w="9525">
              <a:noFill/>
              <a:miter lim="800000"/>
              <a:headEnd/>
              <a:tailEnd/>
            </a:ln>
          </p:spPr>
        </p:pic>
        <p:pic>
          <p:nvPicPr>
            <p:cNvPr id="13321" name="Picture 4" descr="P:\!Themes\Artsy\Arthsepa.gif"/>
            <p:cNvPicPr>
              <a:picLocks noChangeAspect="1" noChangeArrowheads="1"/>
            </p:cNvPicPr>
            <p:nvPr userDrawn="1"/>
          </p:nvPicPr>
          <p:blipFill>
            <a:blip r:embed="rId13" cstate="print"/>
            <a:srcRect/>
            <a:stretch>
              <a:fillRect/>
            </a:stretch>
          </p:blipFill>
          <p:spPr bwMode="auto">
            <a:xfrm>
              <a:off x="2688" y="2059"/>
              <a:ext cx="2832" cy="61"/>
            </a:xfrm>
            <a:prstGeom prst="rect">
              <a:avLst/>
            </a:prstGeom>
            <a:noFill/>
            <a:ln w="9525">
              <a:noFill/>
              <a:miter lim="800000"/>
              <a:headEnd/>
              <a:tailEnd/>
            </a:ln>
          </p:spPr>
        </p:pic>
      </p:grpSp>
      <p:sp>
        <p:nvSpPr>
          <p:cNvPr id="13315" name="Rectangle 5"/>
          <p:cNvSpPr>
            <a:spLocks noGrp="1" noChangeArrowheads="1"/>
          </p:cNvSpPr>
          <p:nvPr>
            <p:ph type="title"/>
          </p:nvPr>
        </p:nvSpPr>
        <p:spPr bwMode="auto">
          <a:xfrm>
            <a:off x="317500" y="722313"/>
            <a:ext cx="8637588" cy="762000"/>
          </a:xfrm>
          <a:prstGeom prst="rect">
            <a:avLst/>
          </a:prstGeom>
          <a:noFill/>
          <a:ln w="9525">
            <a:noFill/>
            <a:miter lim="800000"/>
          </a:ln>
        </p:spPr>
        <p:txBody>
          <a:bodyPr vert="horz" wrap="square" lIns="91440" tIns="45720" rIns="91440" bIns="45720" numCol="1" anchor="b" anchorCtr="0" compatLnSpc="1">
            <a:spAutoFit/>
          </a:bodyPr>
          <a:lstStyle/>
          <a:p>
            <a:pPr lvl="0"/>
            <a:r>
              <a:rPr lang="zh-CN" smtClean="0"/>
              <a:t>单击此处编辑母版标题样式</a:t>
            </a:r>
            <a:endParaRPr lang="zh-CN" smtClean="0"/>
          </a:p>
        </p:txBody>
      </p:sp>
      <p:sp>
        <p:nvSpPr>
          <p:cNvPr id="13316" name="Rectangle 6"/>
          <p:cNvSpPr>
            <a:spLocks noGrp="1" noChangeArrowheads="1"/>
          </p:cNvSpPr>
          <p:nvPr>
            <p:ph type="body" idx="1"/>
          </p:nvPr>
        </p:nvSpPr>
        <p:spPr bwMode="auto">
          <a:xfrm>
            <a:off x="328613" y="1941513"/>
            <a:ext cx="8208962" cy="4114800"/>
          </a:xfrm>
          <a:prstGeom prst="rect">
            <a:avLst/>
          </a:prstGeom>
          <a:noFill/>
          <a:ln w="9525">
            <a:noFill/>
            <a:miter lim="800000"/>
          </a:ln>
        </p:spPr>
        <p:txBody>
          <a:bodyPr vert="horz" wrap="square" lIns="91440" tIns="45720" rIns="91440" bIns="45720" numCol="1" anchor="t" anchorCtr="0" compatLnSpc="1"/>
          <a:lstStyle/>
          <a:p>
            <a:pPr lvl="0"/>
            <a:r>
              <a:rPr lang="zh-CN" smtClean="0"/>
              <a:t>单击此处编辑母版文本样式</a:t>
            </a:r>
            <a:endParaRPr lang="zh-CN" smtClean="0"/>
          </a:p>
          <a:p>
            <a:pPr lvl="1"/>
            <a:r>
              <a:rPr lang="zh-CN" smtClean="0"/>
              <a:t>第二级</a:t>
            </a:r>
            <a:endParaRPr lang="zh-CN" smtClean="0"/>
          </a:p>
          <a:p>
            <a:pPr lvl="2"/>
            <a:r>
              <a:rPr lang="zh-CN" smtClean="0"/>
              <a:t>第三级</a:t>
            </a:r>
            <a:endParaRPr lang="zh-CN" smtClean="0"/>
          </a:p>
          <a:p>
            <a:pPr lvl="3"/>
            <a:r>
              <a:rPr lang="zh-CN" smtClean="0"/>
              <a:t>第四级</a:t>
            </a:r>
            <a:endParaRPr lang="zh-CN" smtClean="0"/>
          </a:p>
          <a:p>
            <a:pPr lvl="4"/>
            <a:r>
              <a:rPr lang="zh-CN" smtClean="0"/>
              <a:t>第五级</a:t>
            </a:r>
            <a:endParaRPr lang="zh-CN" smtClean="0"/>
          </a:p>
        </p:txBody>
      </p:sp>
      <p:sp>
        <p:nvSpPr>
          <p:cNvPr id="2055" name="Rectangle 7"/>
          <p:cNvSpPr>
            <a:spLocks noGrp="1" noChangeArrowheads="1"/>
          </p:cNvSpPr>
          <p:nvPr>
            <p:ph type="dt" sz="half" idx="2"/>
          </p:nvPr>
        </p:nvSpPr>
        <p:spPr bwMode="auto">
          <a:xfrm>
            <a:off x="3359150" y="6343650"/>
            <a:ext cx="1905000" cy="457200"/>
          </a:xfrm>
          <a:prstGeom prst="rect">
            <a:avLst/>
          </a:prstGeom>
          <a:noFill/>
          <a:ln w="9525">
            <a:noFill/>
            <a:miter lim="800000"/>
          </a:ln>
        </p:spPr>
        <p:txBody>
          <a:bodyPr vert="horz" wrap="square" lIns="91440" tIns="45720" rIns="91440" bIns="45720" numCol="1" anchor="b" anchorCtr="0" compatLnSpc="1"/>
          <a:lstStyle>
            <a:lvl1pPr algn="ctr">
              <a:defRPr sz="1400" b="0">
                <a:solidFill>
                  <a:schemeClr val="tx1"/>
                </a:solidFill>
                <a:latin typeface="+mn-lt"/>
              </a:defRPr>
            </a:lvl1pPr>
          </a:lstStyle>
          <a:p>
            <a:pPr>
              <a:defRPr/>
            </a:pPr>
            <a:endParaRPr lang="zh-CN" altLang="zh-CN"/>
          </a:p>
        </p:txBody>
      </p:sp>
      <p:sp>
        <p:nvSpPr>
          <p:cNvPr id="2056" name="Rectangle 8"/>
          <p:cNvSpPr>
            <a:spLocks noGrp="1" noChangeArrowheads="1"/>
          </p:cNvSpPr>
          <p:nvPr>
            <p:ph type="ftr" sz="quarter" idx="3"/>
          </p:nvPr>
        </p:nvSpPr>
        <p:spPr bwMode="auto">
          <a:xfrm>
            <a:off x="6019800" y="6343650"/>
            <a:ext cx="2895600" cy="457200"/>
          </a:xfrm>
          <a:prstGeom prst="rect">
            <a:avLst/>
          </a:prstGeom>
          <a:noFill/>
          <a:ln w="9525">
            <a:noFill/>
            <a:miter lim="800000"/>
          </a:ln>
        </p:spPr>
        <p:txBody>
          <a:bodyPr vert="horz" wrap="square" lIns="91440" tIns="45720" rIns="91440" bIns="45720" numCol="1" anchor="b" anchorCtr="0" compatLnSpc="1"/>
          <a:lstStyle>
            <a:lvl1pPr algn="r">
              <a:defRPr sz="1400" b="0">
                <a:solidFill>
                  <a:schemeClr val="tx1"/>
                </a:solidFill>
                <a:latin typeface="+mn-lt"/>
              </a:defRPr>
            </a:lvl1pPr>
          </a:lstStyle>
          <a:p>
            <a:pPr>
              <a:defRPr/>
            </a:pPr>
            <a:endParaRPr lang="zh-CN" altLang="zh-CN"/>
          </a:p>
        </p:txBody>
      </p:sp>
      <p:sp>
        <p:nvSpPr>
          <p:cNvPr id="2057" name="Rectangle 9"/>
          <p:cNvSpPr>
            <a:spLocks noGrp="1" noChangeArrowheads="1"/>
          </p:cNvSpPr>
          <p:nvPr>
            <p:ph type="sldNum" sz="quarter" idx="4"/>
          </p:nvPr>
        </p:nvSpPr>
        <p:spPr bwMode="auto">
          <a:xfrm>
            <a:off x="125413" y="6361113"/>
            <a:ext cx="1905000" cy="457200"/>
          </a:xfrm>
          <a:prstGeom prst="rect">
            <a:avLst/>
          </a:prstGeom>
          <a:noFill/>
          <a:ln w="9525">
            <a:noFill/>
            <a:miter lim="800000"/>
          </a:ln>
        </p:spPr>
        <p:txBody>
          <a:bodyPr vert="horz" wrap="square" lIns="91440" tIns="45720" rIns="91440" bIns="45720" numCol="1" anchor="b" anchorCtr="0" compatLnSpc="1"/>
          <a:lstStyle>
            <a:lvl1pPr>
              <a:defRPr b="0">
                <a:solidFill>
                  <a:schemeClr val="tx1"/>
                </a:solidFill>
                <a:latin typeface="+mn-lt"/>
              </a:defRPr>
            </a:lvl1pPr>
          </a:lstStyle>
          <a:p>
            <a:pPr>
              <a:defRPr/>
            </a:pPr>
            <a:fld id="{39921E96-311B-47FC-8DC1-A08BF430BC0D}" type="slidenum">
              <a:rPr lang="zh-CN" altLang="zh-CN"/>
            </a:fld>
            <a:endParaRPr lang="zh-CN" altLang="zh-CN"/>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CCFF33"/>
        </a:buClr>
        <a:buSzPct val="7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CCFF33"/>
        </a:buClr>
        <a:buSzPct val="7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CCFF33"/>
        </a:buClr>
        <a:buSzPct val="7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5pPr>
      <a:lvl6pPr marL="25146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6pPr>
      <a:lvl7pPr marL="29718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7pPr>
      <a:lvl8pPr marL="34290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8pPr>
      <a:lvl9pPr marL="3886200" indent="-228600" algn="l" rtl="0" eaLnBrk="0" fontAlgn="base" hangingPunct="0">
        <a:spcBef>
          <a:spcPct val="20000"/>
        </a:spcBef>
        <a:spcAft>
          <a:spcPct val="0"/>
        </a:spcAft>
        <a:buClr>
          <a:srgbClr val="CCFF33"/>
        </a:buClr>
        <a:buSzPct val="7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685800" y="609600"/>
            <a:ext cx="7772400" cy="1143000"/>
          </a:xfrm>
          <a:prstGeom prst="rect">
            <a:avLst/>
          </a:prstGeom>
          <a:noFill/>
          <a:ln w="9525">
            <a:noFill/>
            <a:miter lim="800000"/>
          </a:ln>
        </p:spPr>
        <p:txBody>
          <a:bodyPr vert="horz" wrap="square" lIns="91440" tIns="45720" rIns="91440" bIns="45720" numCol="1" anchor="ctr" anchorCtr="0" compatLnSpc="1"/>
          <a:lstStyle/>
          <a:p>
            <a:pPr lvl="0"/>
            <a:r>
              <a:rPr lang="zh-CN" altLang="zh-CN" smtClean="0"/>
              <a:t>Click to edit Master title style</a:t>
            </a:r>
            <a:endParaRPr lang="zh-CN" altLang="zh-CN" smtClean="0"/>
          </a:p>
        </p:txBody>
      </p:sp>
      <p:sp>
        <p:nvSpPr>
          <p:cNvPr id="15363" name="Rectangle 3"/>
          <p:cNvSpPr>
            <a:spLocks noGrp="1" noChangeArrowheads="1"/>
          </p:cNvSpPr>
          <p:nvPr>
            <p:ph type="body" idx="1"/>
          </p:nvPr>
        </p:nvSpPr>
        <p:spPr bwMode="auto">
          <a:xfrm>
            <a:off x="685800" y="1981200"/>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zh-CN" smtClean="0"/>
              <a:t>Click to edit Master text styles</a:t>
            </a:r>
            <a:endParaRPr lang="zh-CN" altLang="zh-CN" smtClean="0"/>
          </a:p>
          <a:p>
            <a:pPr lvl="1"/>
            <a:r>
              <a:rPr lang="zh-CN" altLang="zh-CN" smtClean="0"/>
              <a:t>Second level</a:t>
            </a:r>
            <a:endParaRPr lang="zh-CN" altLang="zh-CN" smtClean="0"/>
          </a:p>
          <a:p>
            <a:pPr lvl="2"/>
            <a:r>
              <a:rPr lang="zh-CN" altLang="zh-CN" smtClean="0"/>
              <a:t>Third level</a:t>
            </a:r>
            <a:endParaRPr lang="zh-CN" altLang="zh-CN" smtClean="0"/>
          </a:p>
          <a:p>
            <a:pPr lvl="3"/>
            <a:r>
              <a:rPr lang="zh-CN" altLang="zh-CN" smtClean="0"/>
              <a:t>Fourth level</a:t>
            </a:r>
            <a:endParaRPr lang="zh-CN" altLang="zh-CN" smtClean="0"/>
          </a:p>
          <a:p>
            <a:pPr lvl="4"/>
            <a:r>
              <a:rPr lang="zh-CN" altLang="zh-CN" smtClean="0"/>
              <a:t>Fifth level</a:t>
            </a:r>
            <a:endParaRPr lang="zh-CN" altLang="zh-CN" smtClean="0"/>
          </a:p>
        </p:txBody>
      </p:sp>
      <p:sp>
        <p:nvSpPr>
          <p:cNvPr id="5124"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400"/>
            </a:lvl1pPr>
          </a:lstStyle>
          <a:p>
            <a:pPr>
              <a:defRPr/>
            </a:pPr>
            <a:fld id="{A0714E7D-CC36-4E6B-B4E2-5C4893077863}" type="datetimeFigureOut">
              <a:rPr lang="zh-CN" altLang="en-US"/>
            </a:fld>
            <a:endParaRPr lang="zh-CN" altLang="zh-CN"/>
          </a:p>
        </p:txBody>
      </p:sp>
      <p:sp>
        <p:nvSpPr>
          <p:cNvPr id="5125"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0" hangingPunct="0">
              <a:defRPr sz="1400"/>
            </a:lvl1pPr>
          </a:lstStyle>
          <a:p>
            <a:pPr>
              <a:defRPr/>
            </a:pPr>
            <a:endParaRPr lang="zh-CN" altLang="zh-CN"/>
          </a:p>
        </p:txBody>
      </p:sp>
      <p:sp>
        <p:nvSpPr>
          <p:cNvPr id="5126"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400"/>
            </a:lvl1pPr>
          </a:lstStyle>
          <a:p>
            <a:pPr>
              <a:defRPr/>
            </a:pPr>
            <a:fld id="{9BC03137-3D1B-4258-AE5F-B89E4CDAFAD9}" type="slidenum">
              <a:rPr lang="zh-CN" altLang="zh-CN"/>
            </a:fld>
            <a:endParaRPr lang="zh-CN"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cs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cs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cs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cs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cs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cs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cs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cs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wmf"/></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wmf"/></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wm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idx="4294967295"/>
          </p:nvPr>
        </p:nvSpPr>
        <p:spPr>
          <a:xfrm>
            <a:off x="990694" y="1905040"/>
            <a:ext cx="7772400" cy="1015663"/>
          </a:xfrm>
        </p:spPr>
        <p:txBody>
          <a:bodyPr/>
          <a:lstStyle/>
          <a:p>
            <a:pPr algn="r" eaLnBrk="1" hangingPunct="1"/>
            <a:r>
              <a:rPr lang="en-US" altLang="zh-CN" sz="6000" dirty="0" smtClean="0">
                <a:latin typeface="Calibri" panose="020F0502020204030204" pitchFamily="34" charset="0"/>
                <a:ea typeface="黑体" panose="02010609060101010101" pitchFamily="49" charset="-122"/>
              </a:rPr>
              <a:t>Architecture Design</a:t>
            </a:r>
            <a:endParaRPr lang="zh-CN" sz="6000" dirty="0" smtClean="0">
              <a:latin typeface="Calibri" panose="020F0502020204030204" pitchFamily="34" charset="0"/>
              <a:ea typeface="黑体" panose="02010609060101010101" pitchFamily="49" charset="-122"/>
            </a:endParaRPr>
          </a:p>
        </p:txBody>
      </p:sp>
      <p:sp>
        <p:nvSpPr>
          <p:cNvPr id="17411" name="Rectangle 3"/>
          <p:cNvSpPr>
            <a:spLocks noGrp="1" noChangeArrowheads="1"/>
          </p:cNvSpPr>
          <p:nvPr>
            <p:ph type="subTitle" idx="4294967295"/>
          </p:nvPr>
        </p:nvSpPr>
        <p:spPr>
          <a:xfrm>
            <a:off x="76200" y="3733792"/>
            <a:ext cx="8763000" cy="2755908"/>
          </a:xfrm>
        </p:spPr>
        <p:txBody>
          <a:bodyPr/>
          <a:lstStyle/>
          <a:p>
            <a:pPr marL="0" indent="0" algn="r" eaLnBrk="1" hangingPunct="1">
              <a:buFont typeface="Wingdings" panose="05000000000000000000" pitchFamily="2" charset="2"/>
              <a:buNone/>
            </a:pPr>
            <a:r>
              <a:rPr lang="zh-CN" dirty="0" smtClean="0">
                <a:latin typeface="Calibri" panose="020F0502020204030204" pitchFamily="34" charset="0"/>
                <a:ea typeface="黑体" panose="02010609060101010101" pitchFamily="49" charset="-122"/>
              </a:rPr>
              <a:t>何明昕</a:t>
            </a:r>
            <a:r>
              <a:rPr lang="zh-CN" dirty="0" smtClean="0">
                <a:latin typeface="Calibri" panose="020F0502020204030204" pitchFamily="34" charset="0"/>
              </a:rPr>
              <a:t>   </a:t>
            </a:r>
            <a:r>
              <a:rPr lang="zh-CN" altLang="zh-CN" dirty="0" smtClean="0">
                <a:latin typeface="Calibri" panose="020F0502020204030204" pitchFamily="34" charset="0"/>
              </a:rPr>
              <a:t>He Mingxin, Max</a:t>
            </a:r>
            <a:endParaRPr lang="zh-CN" altLang="zh-CN" dirty="0" smtClean="0">
              <a:latin typeface="Calibri" panose="020F0502020204030204" pitchFamily="34" charset="0"/>
            </a:endParaRPr>
          </a:p>
          <a:p>
            <a:pPr marL="0" indent="0" algn="r" eaLnBrk="1" hangingPunct="1">
              <a:buFont typeface="Wingdings" panose="05000000000000000000" pitchFamily="2" charset="2"/>
              <a:buNone/>
            </a:pPr>
            <a:r>
              <a:rPr lang="zh-CN" altLang="zh-CN" dirty="0" smtClean="0">
                <a:latin typeface="Calibri" panose="020F0502020204030204" pitchFamily="34" charset="0"/>
              </a:rPr>
              <a:t>Email: </a:t>
            </a:r>
            <a:r>
              <a:rPr lang="en-US" altLang="zh-CN" dirty="0" smtClean="0">
                <a:latin typeface="Calibri" panose="020F0502020204030204" pitchFamily="34" charset="0"/>
              </a:rPr>
              <a:t>c.max</a:t>
            </a:r>
            <a:r>
              <a:rPr lang="zh-CN" altLang="zh-CN" dirty="0" smtClean="0">
                <a:latin typeface="Calibri" panose="020F0502020204030204" pitchFamily="34" charset="0"/>
              </a:rPr>
              <a:t> @ yeah.net   (</a:t>
            </a:r>
            <a:r>
              <a:rPr lang="zh-CN" dirty="0" smtClean="0">
                <a:latin typeface="Calibri" panose="020F0502020204030204" pitchFamily="34" charset="0"/>
              </a:rPr>
              <a:t>课程专用</a:t>
            </a:r>
            <a:r>
              <a:rPr lang="zh-CN" altLang="zh-CN" dirty="0" smtClean="0">
                <a:latin typeface="Calibri" panose="020F0502020204030204" pitchFamily="34" charset="0"/>
              </a:rPr>
              <a:t>)</a:t>
            </a:r>
            <a:endParaRPr lang="zh-CN" altLang="zh-CN" dirty="0" smtClean="0">
              <a:latin typeface="Calibri" panose="020F0502020204030204" pitchFamily="34" charset="0"/>
            </a:endParaRPr>
          </a:p>
          <a:p>
            <a:pPr marL="0" indent="0" algn="r" eaLnBrk="1" hangingPunct="1">
              <a:buFont typeface="Wingdings" panose="05000000000000000000" pitchFamily="2" charset="2"/>
              <a:buNone/>
            </a:pPr>
            <a:r>
              <a:rPr lang="zh-CN" dirty="0" smtClean="0">
                <a:latin typeface="Calibri" panose="020F0502020204030204" pitchFamily="34" charset="0"/>
              </a:rPr>
              <a:t>下载邮箱</a:t>
            </a:r>
            <a:r>
              <a:rPr lang="zh-CN" altLang="zh-CN" dirty="0" smtClean="0">
                <a:latin typeface="Calibri" panose="020F0502020204030204" pitchFamily="34" charset="0"/>
              </a:rPr>
              <a:t>: </a:t>
            </a:r>
            <a:r>
              <a:rPr lang="en-US" altLang="zh-CN" dirty="0" err="1" smtClean="0">
                <a:latin typeface="Calibri" panose="020F0502020204030204" pitchFamily="34" charset="0"/>
              </a:rPr>
              <a:t>c.program</a:t>
            </a:r>
            <a:r>
              <a:rPr lang="zh-CN" altLang="zh-CN" dirty="0" smtClean="0">
                <a:latin typeface="Calibri" panose="020F0502020204030204" pitchFamily="34" charset="0"/>
              </a:rPr>
              <a:t>@ yeah.net</a:t>
            </a:r>
            <a:endParaRPr lang="zh-CN" altLang="zh-CN"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1" cstate="print"/>
          <a:srcRect/>
          <a:stretch>
            <a:fillRect/>
          </a:stretch>
        </p:blipFill>
        <p:spPr bwMode="auto">
          <a:xfrm>
            <a:off x="0" y="-3175"/>
            <a:ext cx="9139238" cy="6861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5362" name="Title 1"/>
          <p:cNvSpPr>
            <a:spLocks noGrp="1"/>
          </p:cNvSpPr>
          <p:nvPr>
            <p:ph type="title" idx="4294967295"/>
          </p:nvPr>
        </p:nvSpPr>
        <p:spPr>
          <a:xfrm>
            <a:off x="381110" y="228684"/>
            <a:ext cx="8637588" cy="762000"/>
          </a:xfrm>
        </p:spPr>
        <p:txBody>
          <a:bodyPr/>
          <a:lstStyle/>
          <a:p>
            <a:pPr eaLnBrk="1" hangingPunct="1"/>
            <a:r>
              <a:rPr lang="en-US" altLang="zh-CN" dirty="0" smtClean="0">
                <a:solidFill>
                  <a:srgbClr val="002060"/>
                </a:solidFill>
                <a:latin typeface="Comic Sans MS" panose="030F0702030302020204" pitchFamily="66" charset="0"/>
                <a:ea typeface="宋体" panose="02010600030101010101" pitchFamily="2" charset="-122"/>
              </a:rPr>
              <a:t>Software engineering</a:t>
            </a:r>
            <a:endParaRPr lang="en-US" altLang="zh-CN" dirty="0" smtClean="0">
              <a:solidFill>
                <a:srgbClr val="002060"/>
              </a:solidFill>
              <a:latin typeface="Comic Sans MS" panose="030F0702030302020204" pitchFamily="66" charset="0"/>
              <a:ea typeface="宋体" panose="02010600030101010101" pitchFamily="2" charset="-122"/>
            </a:endParaRPr>
          </a:p>
        </p:txBody>
      </p:sp>
      <p:sp>
        <p:nvSpPr>
          <p:cNvPr id="15363" name="Content Placeholder 2"/>
          <p:cNvSpPr>
            <a:spLocks noGrp="1" noChangeArrowheads="1"/>
          </p:cNvSpPr>
          <p:nvPr>
            <p:ph idx="4294967295"/>
          </p:nvPr>
        </p:nvSpPr>
        <p:spPr>
          <a:xfrm>
            <a:off x="228714" y="1295456"/>
            <a:ext cx="8458194" cy="5105266"/>
          </a:xfrm>
        </p:spPr>
        <p:txBody>
          <a:bodyPr/>
          <a:lstStyle/>
          <a:p>
            <a:pPr eaLnBrk="1" hangingPunct="1">
              <a:spcBef>
                <a:spcPts val="600"/>
              </a:spcBef>
              <a:spcAft>
                <a:spcPts val="600"/>
              </a:spcAft>
              <a:buFont typeface="Wingdings" panose="05000000000000000000" pitchFamily="2" charset="2"/>
              <a:buChar char="²"/>
            </a:pPr>
            <a:r>
              <a:rPr lang="en-US" altLang="zh-CN" sz="2800" dirty="0" smtClean="0">
                <a:solidFill>
                  <a:srgbClr val="002060"/>
                </a:solidFill>
                <a:latin typeface="Calibri" panose="020F0502020204030204" pitchFamily="34" charset="0"/>
                <a:ea typeface="宋体" panose="02010600030101010101" pitchFamily="2" charset="-122"/>
                <a:cs typeface="Arial" panose="020B0604020202020204" pitchFamily="34" charset="0"/>
              </a:rPr>
              <a:t>Software engineering is an engineering discipline that is concerned with all aspects of software production from the early stages of system specification through to maintaining the system after it has gone into use.</a:t>
            </a:r>
            <a:endParaRPr lang="en-US" altLang="zh-CN" sz="2800" dirty="0" smtClean="0">
              <a:solidFill>
                <a:srgbClr val="002060"/>
              </a:solidFill>
              <a:latin typeface="Calibri" panose="020F0502020204030204" pitchFamily="34" charset="0"/>
              <a:ea typeface="宋体" panose="02010600030101010101" pitchFamily="2" charset="-122"/>
              <a:cs typeface="Arial" panose="020B0604020202020204" pitchFamily="34" charset="0"/>
            </a:endParaRPr>
          </a:p>
          <a:p>
            <a:pPr eaLnBrk="1" hangingPunct="1">
              <a:spcBef>
                <a:spcPts val="600"/>
              </a:spcBef>
              <a:spcAft>
                <a:spcPts val="600"/>
              </a:spcAft>
              <a:buFont typeface="Wingdings" panose="05000000000000000000" pitchFamily="2" charset="2"/>
              <a:buChar char="²"/>
            </a:pPr>
            <a:r>
              <a:rPr lang="en-US" altLang="zh-CN" sz="2800" dirty="0" smtClean="0">
                <a:solidFill>
                  <a:srgbClr val="002060"/>
                </a:solidFill>
                <a:latin typeface="Calibri" panose="020F0502020204030204" pitchFamily="34" charset="0"/>
                <a:ea typeface="宋体" panose="02010600030101010101" pitchFamily="2" charset="-122"/>
                <a:cs typeface="Arial" panose="020B0604020202020204" pitchFamily="34" charset="0"/>
              </a:rPr>
              <a:t>Engineering discipline</a:t>
            </a:r>
            <a:endParaRPr lang="en-US" altLang="zh-CN" sz="2800" dirty="0" smtClean="0">
              <a:solidFill>
                <a:srgbClr val="002060"/>
              </a:solidFill>
              <a:latin typeface="Calibri" panose="020F0502020204030204" pitchFamily="34" charset="0"/>
              <a:ea typeface="宋体" panose="02010600030101010101" pitchFamily="2" charset="-122"/>
              <a:cs typeface="Arial" panose="020B0604020202020204" pitchFamily="34" charset="0"/>
            </a:endParaRPr>
          </a:p>
          <a:p>
            <a:pPr lvl="1" eaLnBrk="1" hangingPunct="1">
              <a:spcBef>
                <a:spcPts val="300"/>
              </a:spcBef>
              <a:spcAft>
                <a:spcPts val="300"/>
              </a:spcAft>
              <a:buFont typeface="Wingdings" panose="05000000000000000000" pitchFamily="2" charset="2"/>
              <a:buChar char="§"/>
            </a:pPr>
            <a:r>
              <a:rPr lang="en-US" altLang="zh-CN" sz="2400" dirty="0" smtClean="0">
                <a:solidFill>
                  <a:srgbClr val="46424D"/>
                </a:solidFill>
                <a:latin typeface="Calibri" panose="020F0502020204030204" pitchFamily="34" charset="0"/>
                <a:ea typeface="宋体" panose="02010600030101010101" pitchFamily="2" charset="-122"/>
                <a:cs typeface="Arial" panose="020B0604020202020204" pitchFamily="34" charset="0"/>
              </a:rPr>
              <a:t>Using appropriate theories and methods to solve problems bearing in mind organizational and financial constraints.</a:t>
            </a:r>
            <a:endParaRPr lang="en-US" altLang="zh-CN" sz="2400" dirty="0" smtClean="0">
              <a:solidFill>
                <a:srgbClr val="46424D"/>
              </a:solidFill>
              <a:latin typeface="Calibri" panose="020F0502020204030204" pitchFamily="34" charset="0"/>
              <a:ea typeface="宋体" panose="02010600030101010101" pitchFamily="2" charset="-122"/>
              <a:cs typeface="Arial" panose="020B0604020202020204" pitchFamily="34" charset="0"/>
            </a:endParaRPr>
          </a:p>
          <a:p>
            <a:pPr eaLnBrk="1" hangingPunct="1">
              <a:spcBef>
                <a:spcPts val="600"/>
              </a:spcBef>
              <a:spcAft>
                <a:spcPts val="600"/>
              </a:spcAft>
              <a:buFont typeface="Wingdings" panose="05000000000000000000" pitchFamily="2" charset="2"/>
              <a:buChar char="²"/>
            </a:pPr>
            <a:r>
              <a:rPr lang="en-US" altLang="zh-CN" sz="2800" dirty="0" smtClean="0">
                <a:solidFill>
                  <a:srgbClr val="002060"/>
                </a:solidFill>
                <a:latin typeface="Calibri" panose="020F0502020204030204" pitchFamily="34" charset="0"/>
                <a:ea typeface="宋体" panose="02010600030101010101" pitchFamily="2" charset="-122"/>
                <a:cs typeface="Arial" panose="020B0604020202020204" pitchFamily="34" charset="0"/>
              </a:rPr>
              <a:t>All aspects of software production</a:t>
            </a:r>
            <a:endParaRPr lang="en-US" altLang="zh-CN" sz="2800" dirty="0" smtClean="0">
              <a:solidFill>
                <a:srgbClr val="002060"/>
              </a:solidFill>
              <a:latin typeface="Calibri" panose="020F0502020204030204" pitchFamily="34" charset="0"/>
              <a:ea typeface="宋体" panose="02010600030101010101" pitchFamily="2" charset="-122"/>
              <a:cs typeface="Arial" panose="020B0604020202020204" pitchFamily="34" charset="0"/>
            </a:endParaRPr>
          </a:p>
          <a:p>
            <a:pPr lvl="1" eaLnBrk="1" hangingPunct="1">
              <a:spcBef>
                <a:spcPts val="300"/>
              </a:spcBef>
              <a:spcAft>
                <a:spcPts val="300"/>
              </a:spcAft>
              <a:buFont typeface="Wingdings" panose="05000000000000000000" pitchFamily="2" charset="2"/>
              <a:buChar char="§"/>
            </a:pPr>
            <a:r>
              <a:rPr lang="en-US" altLang="zh-CN" sz="2400" dirty="0" smtClean="0">
                <a:solidFill>
                  <a:srgbClr val="46424D"/>
                </a:solidFill>
                <a:latin typeface="Calibri" panose="020F0502020204030204" pitchFamily="34" charset="0"/>
                <a:ea typeface="宋体" panose="02010600030101010101" pitchFamily="2" charset="-122"/>
                <a:cs typeface="Arial" panose="020B0604020202020204" pitchFamily="34" charset="0"/>
              </a:rPr>
              <a:t>Not just technical process of development. Also project management and the development of tools, methods etc. to support software production.</a:t>
            </a:r>
            <a:endParaRPr lang="en-US" altLang="zh-CN" sz="2400" dirty="0" smtClean="0">
              <a:solidFill>
                <a:srgbClr val="46424D"/>
              </a:solidFill>
              <a:latin typeface="Calibri" panose="020F0502020204030204" pitchFamily="34" charset="0"/>
              <a:ea typeface="宋体" panose="0201060003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7410" name="Title 1"/>
          <p:cNvSpPr>
            <a:spLocks noGrp="1"/>
          </p:cNvSpPr>
          <p:nvPr>
            <p:ph type="title" idx="4294967295"/>
          </p:nvPr>
        </p:nvSpPr>
        <p:spPr>
          <a:xfrm>
            <a:off x="762100" y="304882"/>
            <a:ext cx="7494498" cy="762000"/>
          </a:xfrm>
        </p:spPr>
        <p:txBody>
          <a:bodyPr/>
          <a:lstStyle/>
          <a:p>
            <a:pPr eaLnBrk="1" hangingPunct="1"/>
            <a:r>
              <a:rPr lang="en-US" altLang="zh-CN" dirty="0" smtClean="0">
                <a:solidFill>
                  <a:srgbClr val="002060"/>
                </a:solidFill>
                <a:latin typeface="Comic Sans MS" panose="030F0702030302020204" pitchFamily="66" charset="0"/>
                <a:ea typeface="宋体" panose="02010600030101010101" pitchFamily="2" charset="-122"/>
              </a:rPr>
              <a:t>Software process activities</a:t>
            </a:r>
            <a:endParaRPr lang="en-US" altLang="zh-CN" dirty="0" smtClean="0">
              <a:solidFill>
                <a:srgbClr val="002060"/>
              </a:solidFill>
              <a:latin typeface="Comic Sans MS" panose="030F0702030302020204" pitchFamily="66" charset="0"/>
              <a:ea typeface="宋体" panose="02010600030101010101" pitchFamily="2" charset="-122"/>
            </a:endParaRPr>
          </a:p>
        </p:txBody>
      </p:sp>
      <p:sp>
        <p:nvSpPr>
          <p:cNvPr id="17411" name="Content Placeholder 2"/>
          <p:cNvSpPr>
            <a:spLocks noGrp="1" noChangeArrowheads="1"/>
          </p:cNvSpPr>
          <p:nvPr>
            <p:ph idx="4294967295"/>
          </p:nvPr>
        </p:nvSpPr>
        <p:spPr>
          <a:xfrm>
            <a:off x="304912" y="1600248"/>
            <a:ext cx="8457978" cy="4525963"/>
          </a:xfrm>
        </p:spPr>
        <p:txBody>
          <a:bodyPr/>
          <a:lstStyle/>
          <a:p>
            <a:pPr eaLnBrk="1" hangingPunct="1">
              <a:spcBef>
                <a:spcPts val="600"/>
              </a:spcBef>
              <a:spcAft>
                <a:spcPts val="600"/>
              </a:spcAft>
              <a:buFont typeface="Wingdings" panose="05000000000000000000" pitchFamily="2" charset="2"/>
              <a:buChar char="²"/>
            </a:pPr>
            <a:r>
              <a:rPr lang="en-GB" altLang="en-US" sz="2800" dirty="0" smtClean="0">
                <a:solidFill>
                  <a:srgbClr val="46424D"/>
                </a:solidFill>
                <a:latin typeface="Calibri" panose="020F0502020204030204" pitchFamily="34" charset="0"/>
                <a:cs typeface="Arial" panose="020B0604020202020204" pitchFamily="34" charset="0"/>
              </a:rPr>
              <a:t>Software </a:t>
            </a:r>
            <a:r>
              <a:rPr lang="en-GB" altLang="en-US" sz="2800" dirty="0" smtClean="0">
                <a:solidFill>
                  <a:srgbClr val="C00000"/>
                </a:solidFill>
                <a:latin typeface="Calibri" panose="020F0502020204030204" pitchFamily="34" charset="0"/>
                <a:cs typeface="Arial" panose="020B0604020202020204" pitchFamily="34" charset="0"/>
              </a:rPr>
              <a:t>specification</a:t>
            </a:r>
            <a:r>
              <a:rPr lang="en-GB" altLang="en-US" sz="2800" dirty="0" smtClean="0">
                <a:solidFill>
                  <a:srgbClr val="46424D"/>
                </a:solidFill>
                <a:latin typeface="Calibri" panose="020F0502020204030204" pitchFamily="34" charset="0"/>
                <a:cs typeface="Arial" panose="020B0604020202020204" pitchFamily="34" charset="0"/>
              </a:rPr>
              <a:t>, where customers and engineers define the software that is to be produced and the constraints on its operation.</a:t>
            </a:r>
            <a:endParaRPr lang="en-GB" altLang="en-US" sz="2800" dirty="0" smtClean="0">
              <a:solidFill>
                <a:srgbClr val="46424D"/>
              </a:solidFill>
              <a:latin typeface="Calibri" panose="020F0502020204030204" pitchFamily="34" charset="0"/>
              <a:cs typeface="Arial" panose="020B0604020202020204" pitchFamily="34" charset="0"/>
            </a:endParaRPr>
          </a:p>
          <a:p>
            <a:pPr eaLnBrk="1" hangingPunct="1">
              <a:spcBef>
                <a:spcPts val="600"/>
              </a:spcBef>
              <a:spcAft>
                <a:spcPts val="600"/>
              </a:spcAft>
              <a:buFont typeface="Wingdings" panose="05000000000000000000" pitchFamily="2" charset="2"/>
              <a:buChar char="²"/>
            </a:pPr>
            <a:r>
              <a:rPr lang="en-GB" altLang="en-US" sz="2800" dirty="0" smtClean="0">
                <a:solidFill>
                  <a:srgbClr val="46424D"/>
                </a:solidFill>
                <a:latin typeface="Calibri" panose="020F0502020204030204" pitchFamily="34" charset="0"/>
                <a:cs typeface="Arial" panose="020B0604020202020204" pitchFamily="34" charset="0"/>
              </a:rPr>
              <a:t>Software </a:t>
            </a:r>
            <a:r>
              <a:rPr lang="en-GB" altLang="en-US" sz="2800" dirty="0" smtClean="0">
                <a:solidFill>
                  <a:srgbClr val="C00000"/>
                </a:solidFill>
                <a:latin typeface="Calibri" panose="020F0502020204030204" pitchFamily="34" charset="0"/>
                <a:cs typeface="Arial" panose="020B0604020202020204" pitchFamily="34" charset="0"/>
              </a:rPr>
              <a:t>development</a:t>
            </a:r>
            <a:r>
              <a:rPr lang="en-GB" altLang="en-US" sz="2800" dirty="0" smtClean="0">
                <a:solidFill>
                  <a:srgbClr val="46424D"/>
                </a:solidFill>
                <a:latin typeface="Calibri" panose="020F0502020204030204" pitchFamily="34" charset="0"/>
                <a:cs typeface="Arial" panose="020B0604020202020204" pitchFamily="34" charset="0"/>
              </a:rPr>
              <a:t>, where the software is designed and programmed.</a:t>
            </a:r>
            <a:endParaRPr lang="en-GB" altLang="en-US" sz="2800" dirty="0" smtClean="0">
              <a:solidFill>
                <a:srgbClr val="46424D"/>
              </a:solidFill>
              <a:latin typeface="Calibri" panose="020F0502020204030204" pitchFamily="34" charset="0"/>
              <a:cs typeface="Arial" panose="020B0604020202020204" pitchFamily="34" charset="0"/>
            </a:endParaRPr>
          </a:p>
          <a:p>
            <a:pPr eaLnBrk="1" hangingPunct="1">
              <a:spcBef>
                <a:spcPts val="600"/>
              </a:spcBef>
              <a:spcAft>
                <a:spcPts val="600"/>
              </a:spcAft>
              <a:buFont typeface="Wingdings" panose="05000000000000000000" pitchFamily="2" charset="2"/>
              <a:buChar char="²"/>
            </a:pPr>
            <a:r>
              <a:rPr lang="en-GB" altLang="en-US" sz="2800" dirty="0" smtClean="0">
                <a:solidFill>
                  <a:srgbClr val="46424D"/>
                </a:solidFill>
                <a:latin typeface="Calibri" panose="020F0502020204030204" pitchFamily="34" charset="0"/>
                <a:cs typeface="Arial" panose="020B0604020202020204" pitchFamily="34" charset="0"/>
              </a:rPr>
              <a:t>Software </a:t>
            </a:r>
            <a:r>
              <a:rPr lang="en-GB" altLang="en-US" sz="2800" dirty="0" smtClean="0">
                <a:solidFill>
                  <a:srgbClr val="C00000"/>
                </a:solidFill>
                <a:latin typeface="Calibri" panose="020F0502020204030204" pitchFamily="34" charset="0"/>
                <a:cs typeface="Arial" panose="020B0604020202020204" pitchFamily="34" charset="0"/>
              </a:rPr>
              <a:t>validation</a:t>
            </a:r>
            <a:r>
              <a:rPr lang="en-GB" altLang="en-US" sz="2800" dirty="0" smtClean="0">
                <a:solidFill>
                  <a:srgbClr val="46424D"/>
                </a:solidFill>
                <a:latin typeface="Calibri" panose="020F0502020204030204" pitchFamily="34" charset="0"/>
                <a:cs typeface="Arial" panose="020B0604020202020204" pitchFamily="34" charset="0"/>
              </a:rPr>
              <a:t>, where the software is checked to ensure that it is what the customer requires.</a:t>
            </a:r>
            <a:endParaRPr lang="en-GB" altLang="en-US" sz="2800" dirty="0" smtClean="0">
              <a:solidFill>
                <a:srgbClr val="46424D"/>
              </a:solidFill>
              <a:latin typeface="Calibri" panose="020F0502020204030204" pitchFamily="34" charset="0"/>
              <a:cs typeface="Arial" panose="020B0604020202020204" pitchFamily="34" charset="0"/>
            </a:endParaRPr>
          </a:p>
          <a:p>
            <a:pPr eaLnBrk="1" hangingPunct="1">
              <a:spcBef>
                <a:spcPts val="600"/>
              </a:spcBef>
              <a:spcAft>
                <a:spcPts val="600"/>
              </a:spcAft>
              <a:buFont typeface="Wingdings" panose="05000000000000000000" pitchFamily="2" charset="2"/>
              <a:buChar char="²"/>
            </a:pPr>
            <a:r>
              <a:rPr lang="en-GB" altLang="en-US" sz="2800" dirty="0" smtClean="0">
                <a:solidFill>
                  <a:srgbClr val="46424D"/>
                </a:solidFill>
                <a:latin typeface="Calibri" panose="020F0502020204030204" pitchFamily="34" charset="0"/>
                <a:cs typeface="Arial" panose="020B0604020202020204" pitchFamily="34" charset="0"/>
              </a:rPr>
              <a:t>Software </a:t>
            </a:r>
            <a:r>
              <a:rPr lang="en-GB" altLang="en-US" sz="2800" dirty="0" smtClean="0">
                <a:solidFill>
                  <a:srgbClr val="C00000"/>
                </a:solidFill>
                <a:latin typeface="Calibri" panose="020F0502020204030204" pitchFamily="34" charset="0"/>
                <a:cs typeface="Arial" panose="020B0604020202020204" pitchFamily="34" charset="0"/>
              </a:rPr>
              <a:t>evolution</a:t>
            </a:r>
            <a:r>
              <a:rPr lang="en-GB" altLang="en-US" sz="2800" dirty="0" smtClean="0">
                <a:solidFill>
                  <a:srgbClr val="46424D"/>
                </a:solidFill>
                <a:latin typeface="Calibri" panose="020F0502020204030204" pitchFamily="34" charset="0"/>
                <a:cs typeface="Arial" panose="020B0604020202020204" pitchFamily="34" charset="0"/>
              </a:rPr>
              <a:t>, where the software is modified to reflect changing customer and market requirements.</a:t>
            </a:r>
            <a:endParaRPr lang="en-GB" altLang="en-US" sz="2800" dirty="0" smtClean="0">
              <a:solidFill>
                <a:srgbClr val="46424D"/>
              </a:solidFill>
              <a:latin typeface="Calibri" panose="020F0502020204030204" pitchFamily="34" charset="0"/>
              <a:cs typeface="Arial" panose="020B0604020202020204" pitchFamily="34" charset="0"/>
            </a:endParaRPr>
          </a:p>
          <a:p>
            <a:pPr eaLnBrk="1" hangingPunct="1">
              <a:spcBef>
                <a:spcPts val="600"/>
              </a:spcBef>
              <a:spcAft>
                <a:spcPts val="600"/>
              </a:spcAft>
              <a:buFont typeface="Wingdings" panose="05000000000000000000" pitchFamily="2" charset="2"/>
              <a:buChar char="²"/>
            </a:pPr>
            <a:endParaRPr lang="en-US" altLang="zh-CN" sz="2800" dirty="0" smtClean="0">
              <a:solidFill>
                <a:srgbClr val="46424D"/>
              </a:solidFill>
              <a:ea typeface="宋体" panose="02010600030101010101" pitchFamily="2"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7308" y="533476"/>
            <a:ext cx="5387309" cy="830997"/>
          </a:xfrm>
          <a:prstGeom prst="rect">
            <a:avLst/>
          </a:prstGeom>
        </p:spPr>
        <p:txBody>
          <a:bodyPr wrap="none">
            <a:spAutoFit/>
          </a:bodyPr>
          <a:lstStyle/>
          <a:p>
            <a:r>
              <a:rPr lang="en-US" altLang="zh-CN" sz="4800" b="0" dirty="0" smtClean="0">
                <a:latin typeface="Calibri" panose="020F0502020204030204" pitchFamily="34" charset="0"/>
              </a:rPr>
              <a:t>Software is Complex</a:t>
            </a:r>
            <a:endParaRPr lang="zh-CN" altLang="en-US" sz="4800" b="0" dirty="0">
              <a:latin typeface="Calibri" panose="020F0502020204030204" pitchFamily="34" charset="0"/>
            </a:endParaRPr>
          </a:p>
        </p:txBody>
      </p:sp>
      <p:sp>
        <p:nvSpPr>
          <p:cNvPr id="3" name="矩形 2"/>
          <p:cNvSpPr/>
          <p:nvPr/>
        </p:nvSpPr>
        <p:spPr>
          <a:xfrm>
            <a:off x="609704" y="2133633"/>
            <a:ext cx="8229384" cy="3046988"/>
          </a:xfrm>
          <a:prstGeom prst="rect">
            <a:avLst/>
          </a:prstGeom>
        </p:spPr>
        <p:txBody>
          <a:bodyPr wrap="square">
            <a:spAutoFit/>
          </a:bodyPr>
          <a:lstStyle/>
          <a:p>
            <a:pPr>
              <a:lnSpc>
                <a:spcPct val="200000"/>
              </a:lnSpc>
            </a:pPr>
            <a:r>
              <a:rPr lang="en-US" altLang="zh-CN" b="0" dirty="0" smtClean="0">
                <a:latin typeface="Comic Sans MS" panose="030F0702030302020204" pitchFamily="66" charset="0"/>
              </a:rPr>
              <a:t>Complex (</a:t>
            </a:r>
            <a:r>
              <a:rPr lang="zh-CN" altLang="en-US" b="0" dirty="0" smtClean="0">
                <a:latin typeface="Comic Sans MS" panose="030F0702030302020204" pitchFamily="66" charset="0"/>
              </a:rPr>
              <a:t>错综复杂的</a:t>
            </a:r>
            <a:r>
              <a:rPr lang="en-US" altLang="zh-CN" b="0" dirty="0" smtClean="0">
                <a:latin typeface="Comic Sans MS" panose="030F0702030302020204" pitchFamily="66" charset="0"/>
              </a:rPr>
              <a:t>) </a:t>
            </a:r>
            <a:r>
              <a:rPr lang="en-US" altLang="zh-CN" b="0" dirty="0" smtClean="0">
                <a:latin typeface="Comic Sans MS" panose="030F0702030302020204" pitchFamily="66" charset="0"/>
                <a:sym typeface="Symbol" panose="05050102010706020507" pitchFamily="18" charset="2"/>
              </a:rPr>
              <a:t> complicated (</a:t>
            </a:r>
            <a:r>
              <a:rPr lang="zh-CN" altLang="en-US" b="0" dirty="0" smtClean="0">
                <a:latin typeface="Comic Sans MS" panose="030F0702030302020204" pitchFamily="66" charset="0"/>
                <a:sym typeface="Symbol" panose="05050102010706020507" pitchFamily="18" charset="2"/>
              </a:rPr>
              <a:t>复杂难懂的</a:t>
            </a:r>
            <a:r>
              <a:rPr lang="en-US" altLang="zh-CN" b="0" dirty="0" smtClean="0">
                <a:latin typeface="Comic Sans MS" panose="030F0702030302020204" pitchFamily="66" charset="0"/>
                <a:sym typeface="Symbol" panose="05050102010706020507" pitchFamily="18" charset="2"/>
              </a:rPr>
              <a:t>)</a:t>
            </a:r>
            <a:endParaRPr lang="en-US" altLang="zh-CN" b="0" dirty="0" smtClean="0">
              <a:latin typeface="Comic Sans MS" panose="030F0702030302020204" pitchFamily="66" charset="0"/>
              <a:sym typeface="Symbol" panose="05050102010706020507" pitchFamily="18" charset="2"/>
            </a:endParaRPr>
          </a:p>
          <a:p>
            <a:pPr>
              <a:lnSpc>
                <a:spcPct val="150000"/>
              </a:lnSpc>
              <a:spcBef>
                <a:spcPct val="100000"/>
              </a:spcBef>
            </a:pPr>
            <a:r>
              <a:rPr lang="en-US" altLang="zh-CN" b="0" dirty="0" smtClean="0">
                <a:latin typeface="Comic Sans MS" panose="030F0702030302020204" pitchFamily="66" charset="0"/>
                <a:sym typeface="Symbol" panose="05050102010706020507" pitchFamily="18" charset="2"/>
              </a:rPr>
              <a:t>Complex = composed of many simple parts</a:t>
            </a:r>
            <a:br>
              <a:rPr lang="en-US" altLang="zh-CN" b="0" dirty="0" smtClean="0">
                <a:latin typeface="Comic Sans MS" panose="030F0702030302020204" pitchFamily="66" charset="0"/>
                <a:sym typeface="Symbol" panose="05050102010706020507" pitchFamily="18" charset="2"/>
              </a:rPr>
            </a:br>
            <a:r>
              <a:rPr lang="en-US" altLang="zh-CN" b="0" dirty="0" smtClean="0">
                <a:latin typeface="Comic Sans MS" panose="030F0702030302020204" pitchFamily="66" charset="0"/>
                <a:sym typeface="Symbol" panose="05050102010706020507" pitchFamily="18" charset="2"/>
              </a:rPr>
              <a:t>                    related to one another</a:t>
            </a:r>
            <a:endParaRPr lang="en-US" altLang="zh-CN" b="0" dirty="0" smtClean="0">
              <a:latin typeface="Comic Sans MS" panose="030F0702030302020204" pitchFamily="66" charset="0"/>
              <a:sym typeface="Symbol" panose="05050102010706020507" pitchFamily="18" charset="2"/>
            </a:endParaRPr>
          </a:p>
          <a:p>
            <a:pPr>
              <a:lnSpc>
                <a:spcPct val="200000"/>
              </a:lnSpc>
            </a:pPr>
            <a:r>
              <a:rPr lang="en-US" altLang="zh-CN" b="0" dirty="0" smtClean="0">
                <a:latin typeface="Comic Sans MS" panose="030F0702030302020204" pitchFamily="66" charset="0"/>
                <a:sym typeface="Symbol" panose="05050102010706020507" pitchFamily="18" charset="2"/>
              </a:rPr>
              <a:t>Complicated = not well understood, or explained</a:t>
            </a:r>
            <a:endParaRPr lang="en-US" altLang="zh-CN" b="0" dirty="0" smtClean="0">
              <a:latin typeface="Comic Sans MS" panose="030F0702030302020204" pitchFamily="66" charset="0"/>
              <a:sym typeface="Symbol" panose="05050102010706020507" pitchFamily="18" charset="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110" y="0"/>
            <a:ext cx="6706195" cy="1569660"/>
          </a:xfrm>
          <a:prstGeom prst="rect">
            <a:avLst/>
          </a:prstGeom>
        </p:spPr>
        <p:txBody>
          <a:bodyPr wrap="square">
            <a:spAutoFit/>
          </a:bodyPr>
          <a:lstStyle/>
          <a:p>
            <a:r>
              <a:rPr lang="en-US" altLang="zh-CN" sz="4800" b="0" dirty="0" smtClean="0">
                <a:latin typeface="Calibri" panose="020F0502020204030204" pitchFamily="34" charset="0"/>
              </a:rPr>
              <a:t>Software Engineering is</a:t>
            </a:r>
            <a:endParaRPr lang="en-US" altLang="zh-CN" sz="4800" b="0" dirty="0" smtClean="0">
              <a:latin typeface="Calibri" panose="020F0502020204030204" pitchFamily="34" charset="0"/>
            </a:endParaRPr>
          </a:p>
          <a:p>
            <a:r>
              <a:rPr lang="en-US" altLang="zh-CN" sz="4800" b="0" dirty="0" smtClean="0">
                <a:latin typeface="Calibri" panose="020F0502020204030204" pitchFamily="34" charset="0"/>
              </a:rPr>
              <a:t>Complex and Complicated</a:t>
            </a:r>
            <a:endParaRPr lang="zh-CN" altLang="en-US" sz="4800" b="0" dirty="0">
              <a:latin typeface="Calibri" panose="020F0502020204030204" pitchFamily="34" charset="0"/>
            </a:endParaRPr>
          </a:p>
        </p:txBody>
      </p:sp>
      <p:sp>
        <p:nvSpPr>
          <p:cNvPr id="3" name="矩形 2"/>
          <p:cNvSpPr/>
          <p:nvPr/>
        </p:nvSpPr>
        <p:spPr>
          <a:xfrm>
            <a:off x="152516" y="1905040"/>
            <a:ext cx="8991484" cy="4690515"/>
          </a:xfrm>
          <a:prstGeom prst="rect">
            <a:avLst/>
          </a:prstGeom>
        </p:spPr>
        <p:txBody>
          <a:bodyPr wrap="square">
            <a:spAutoFit/>
          </a:bodyPr>
          <a:lstStyle/>
          <a:p>
            <a:pPr marL="457200" indent="-457200">
              <a:lnSpc>
                <a:spcPct val="120000"/>
              </a:lnSpc>
              <a:spcBef>
                <a:spcPts val="1800"/>
              </a:spcBef>
              <a:buAutoNum type="arabicParenR"/>
            </a:pPr>
            <a:r>
              <a:rPr lang="zh-CN" altLang="en-US" sz="2800" b="0" dirty="0" smtClean="0">
                <a:solidFill>
                  <a:schemeClr val="accent1">
                    <a:lumMod val="20000"/>
                    <a:lumOff val="80000"/>
                  </a:schemeClr>
                </a:solidFill>
                <a:latin typeface="Comic Sans MS" panose="030F0702030302020204" pitchFamily="66" charset="0"/>
                <a:ea typeface="黑体" panose="02010609060101010101" pitchFamily="49" charset="-122"/>
              </a:rPr>
              <a:t>软件规模增长带来要素数量增长，熵增长必然导致混乱（热力学第三定律）</a:t>
            </a:r>
            <a:endParaRPr lang="en-US" altLang="zh-CN" sz="2800" b="0" dirty="0" smtClean="0">
              <a:solidFill>
                <a:schemeClr val="accent1">
                  <a:lumMod val="20000"/>
                  <a:lumOff val="80000"/>
                </a:schemeClr>
              </a:solidFill>
              <a:latin typeface="Comic Sans MS" panose="030F0702030302020204" pitchFamily="66" charset="0"/>
              <a:ea typeface="黑体" panose="02010609060101010101" pitchFamily="49" charset="-122"/>
            </a:endParaRPr>
          </a:p>
          <a:p>
            <a:pPr marL="457200" indent="-457200">
              <a:lnSpc>
                <a:spcPct val="120000"/>
              </a:lnSpc>
              <a:spcBef>
                <a:spcPts val="1800"/>
              </a:spcBef>
              <a:buAutoNum type="arabicParenR"/>
            </a:pPr>
            <a:r>
              <a:rPr lang="zh-CN" altLang="en-US"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准确定义需求很难（用户通常不知道要什么，只知道不要什么），需求蔓延是软件项目失败的首要原因</a:t>
            </a:r>
            <a:endParaRPr lang="en-US" altLang="zh-CN"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endParaRPr>
          </a:p>
          <a:p>
            <a:pPr marL="457200" indent="-457200">
              <a:lnSpc>
                <a:spcPct val="120000"/>
              </a:lnSpc>
              <a:spcBef>
                <a:spcPts val="1800"/>
              </a:spcBef>
              <a:buAutoNum type="arabicParenR"/>
            </a:pPr>
            <a:r>
              <a:rPr lang="zh-CN" altLang="en-US"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不同的设计可以实现同样的功能</a:t>
            </a:r>
            <a:r>
              <a:rPr lang="en-US" altLang="zh-CN"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a:t>
            </a:r>
            <a:r>
              <a:rPr lang="zh-CN" altLang="en-US"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系统结构</a:t>
            </a:r>
            <a:r>
              <a:rPr lang="en-US" altLang="zh-CN"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a:t>
            </a:r>
            <a:r>
              <a:rPr lang="zh-CN" altLang="en-US"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行为</a:t>
            </a:r>
            <a:r>
              <a:rPr lang="en-US" altLang="zh-CN"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a:t>
            </a:r>
            <a:r>
              <a:rPr lang="zh-CN" altLang="en-US"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功能的关系），判断一个设计是否是好的设计很难（</a:t>
            </a:r>
            <a:r>
              <a:rPr lang="en-US" altLang="zh-CN"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Conway’s law: </a:t>
            </a:r>
            <a:r>
              <a:rPr lang="zh-CN" altLang="en-US"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软件的结构倾向于与开发团队的组织架构具相似性</a:t>
            </a:r>
            <a:r>
              <a:rPr lang="en-US" altLang="zh-CN"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rPr>
              <a:t>)</a:t>
            </a:r>
            <a:endParaRPr lang="en-US" altLang="zh-CN" sz="2800" b="0" dirty="0" smtClean="0">
              <a:solidFill>
                <a:schemeClr val="accent1">
                  <a:lumMod val="20000"/>
                  <a:lumOff val="80000"/>
                </a:schemeClr>
              </a:solidFill>
              <a:latin typeface="Comic Sans MS" panose="030F0702030302020204" pitchFamily="66" charset="0"/>
              <a:ea typeface="黑体" panose="02010609060101010101" pitchFamily="49" charset="-122"/>
              <a:sym typeface="Symbol" panose="05050102010706020507" pitchFamily="18" charset="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1" cstate="print"/>
          <a:srcRect/>
          <a:stretch>
            <a:fillRect/>
          </a:stretch>
        </p:blipFill>
        <p:spPr bwMode="auto">
          <a:xfrm>
            <a:off x="3312000" y="3048010"/>
            <a:ext cx="2362200" cy="847725"/>
          </a:xfrm>
          <a:prstGeom prst="rect">
            <a:avLst/>
          </a:prstGeom>
          <a:noFill/>
          <a:ln w="9525">
            <a:noFill/>
            <a:miter lim="800000"/>
            <a:headEnd/>
            <a:tailEnd/>
          </a:ln>
        </p:spPr>
      </p:pic>
      <p:pic>
        <p:nvPicPr>
          <p:cNvPr id="3077" name="Picture 5"/>
          <p:cNvPicPr>
            <a:picLocks noChangeAspect="1" noChangeArrowheads="1"/>
          </p:cNvPicPr>
          <p:nvPr/>
        </p:nvPicPr>
        <p:blipFill>
          <a:blip r:embed="rId2" cstate="print"/>
          <a:srcRect/>
          <a:stretch>
            <a:fillRect/>
          </a:stretch>
        </p:blipFill>
        <p:spPr bwMode="auto">
          <a:xfrm>
            <a:off x="3429030" y="1371654"/>
            <a:ext cx="2324100" cy="771525"/>
          </a:xfrm>
          <a:prstGeom prst="rect">
            <a:avLst/>
          </a:prstGeom>
          <a:noFill/>
          <a:ln w="9525">
            <a:noFill/>
            <a:miter lim="800000"/>
            <a:headEnd/>
            <a:tailEnd/>
          </a:ln>
        </p:spPr>
      </p:pic>
      <p:pic>
        <p:nvPicPr>
          <p:cNvPr id="3078" name="Picture 6"/>
          <p:cNvPicPr>
            <a:picLocks noChangeAspect="1" noChangeArrowheads="1"/>
          </p:cNvPicPr>
          <p:nvPr/>
        </p:nvPicPr>
        <p:blipFill>
          <a:blip r:embed="rId3" cstate="print"/>
          <a:srcRect/>
          <a:stretch>
            <a:fillRect/>
          </a:stretch>
        </p:blipFill>
        <p:spPr bwMode="auto">
          <a:xfrm>
            <a:off x="3780000" y="4571970"/>
            <a:ext cx="2286000" cy="5810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blinds(horizontal)">
                                      <p:cBhvr>
                                        <p:cTn id="7" dur="500"/>
                                        <p:tgtEl>
                                          <p:spTgt spid="30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blinds(horizontal)">
                                      <p:cBhvr>
                                        <p:cTn id="12"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2286060" y="609674"/>
            <a:ext cx="4648200" cy="1657350"/>
          </a:xfrm>
          <a:prstGeom prst="rect">
            <a:avLst/>
          </a:prstGeom>
          <a:noFill/>
          <a:ln w="9525">
            <a:noFill/>
            <a:miter lim="800000"/>
            <a:headEnd/>
            <a:tailEnd/>
          </a:ln>
        </p:spPr>
      </p:pic>
      <p:pic>
        <p:nvPicPr>
          <p:cNvPr id="1029" name="Picture 5"/>
          <p:cNvPicPr>
            <a:picLocks noChangeAspect="1" noChangeArrowheads="1"/>
          </p:cNvPicPr>
          <p:nvPr/>
        </p:nvPicPr>
        <p:blipFill>
          <a:blip r:embed="rId2" cstate="print"/>
          <a:srcRect/>
          <a:stretch>
            <a:fillRect/>
          </a:stretch>
        </p:blipFill>
        <p:spPr bwMode="auto">
          <a:xfrm>
            <a:off x="3200436" y="4952960"/>
            <a:ext cx="2600325" cy="1123950"/>
          </a:xfrm>
          <a:prstGeom prst="rect">
            <a:avLst/>
          </a:prstGeom>
          <a:noFill/>
          <a:ln w="9525">
            <a:noFill/>
            <a:miter lim="800000"/>
            <a:headEnd/>
            <a:tailEnd/>
          </a:ln>
        </p:spPr>
      </p:pic>
      <p:pic>
        <p:nvPicPr>
          <p:cNvPr id="1030" name="Picture 6"/>
          <p:cNvPicPr>
            <a:picLocks noChangeAspect="1" noChangeArrowheads="1"/>
          </p:cNvPicPr>
          <p:nvPr/>
        </p:nvPicPr>
        <p:blipFill>
          <a:blip r:embed="rId3" cstate="print"/>
          <a:srcRect/>
          <a:stretch>
            <a:fillRect/>
          </a:stretch>
        </p:blipFill>
        <p:spPr bwMode="auto">
          <a:xfrm>
            <a:off x="2857500" y="2843213"/>
            <a:ext cx="3429000" cy="1171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blinds(horizontal)">
                                      <p:cBhvr>
                                        <p:cTn id="7" dur="500"/>
                                        <p:tgtEl>
                                          <p:spTgt spid="10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9"/>
                                        </p:tgtEl>
                                        <p:attrNameLst>
                                          <p:attrName>style.visibility</p:attrName>
                                        </p:attrNameLst>
                                      </p:cBhvr>
                                      <p:to>
                                        <p:strVal val="visible"/>
                                      </p:to>
                                    </p:set>
                                    <p:animEffect transition="in" filter="blinds(horizontal)">
                                      <p:cBhvr>
                                        <p:cTn id="12" dur="5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1" cstate="print"/>
          <a:srcRect/>
          <a:stretch>
            <a:fillRect/>
          </a:stretch>
        </p:blipFill>
        <p:spPr bwMode="auto">
          <a:xfrm>
            <a:off x="3962416" y="3733792"/>
            <a:ext cx="4857750" cy="2819400"/>
          </a:xfrm>
          <a:prstGeom prst="rect">
            <a:avLst/>
          </a:prstGeom>
          <a:noFill/>
          <a:ln w="9525">
            <a:solidFill>
              <a:schemeClr val="accent1"/>
            </a:solidFill>
            <a:miter lim="800000"/>
            <a:headEnd/>
            <a:tailEnd/>
          </a:ln>
        </p:spPr>
      </p:pic>
      <p:pic>
        <p:nvPicPr>
          <p:cNvPr id="2052" name="Picture 4"/>
          <p:cNvPicPr>
            <a:picLocks noChangeAspect="1" noChangeArrowheads="1"/>
          </p:cNvPicPr>
          <p:nvPr/>
        </p:nvPicPr>
        <p:blipFill>
          <a:blip r:embed="rId2" cstate="print"/>
          <a:srcRect/>
          <a:stretch>
            <a:fillRect/>
          </a:stretch>
        </p:blipFill>
        <p:spPr bwMode="auto">
          <a:xfrm>
            <a:off x="457308" y="381080"/>
            <a:ext cx="4629150" cy="2743200"/>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additive="base">
                                        <p:cTn id="7" dur="500" fill="hold"/>
                                        <p:tgtEl>
                                          <p:spTgt spid="2051"/>
                                        </p:tgtEl>
                                        <p:attrNameLst>
                                          <p:attrName>ppt_x</p:attrName>
                                        </p:attrNameLst>
                                      </p:cBhvr>
                                      <p:tavLst>
                                        <p:tav tm="0">
                                          <p:val>
                                            <p:strVal val="#ppt_x"/>
                                          </p:val>
                                        </p:tav>
                                        <p:tav tm="100000">
                                          <p:val>
                                            <p:strVal val="#ppt_x"/>
                                          </p:val>
                                        </p:tav>
                                      </p:tavLst>
                                    </p:anim>
                                    <p:anim calcmode="lin" valueType="num">
                                      <p:cBhvr additive="base">
                                        <p:cTn id="8"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304912" y="609674"/>
            <a:ext cx="3505108" cy="707886"/>
          </a:xfrm>
        </p:spPr>
        <p:txBody>
          <a:bodyPr/>
          <a:lstStyle/>
          <a:p>
            <a:pPr eaLnBrk="1" hangingPunct="1"/>
            <a:r>
              <a:rPr lang="en-US" altLang="zh-CN" sz="4000" dirty="0" smtClean="0">
                <a:latin typeface="Calibri" panose="020F0502020204030204" pitchFamily="34" charset="0"/>
                <a:ea typeface="黑体" panose="02010609060101010101" pitchFamily="49" charset="-122"/>
              </a:rPr>
              <a:t>Critical Thinking</a:t>
            </a:r>
            <a:endParaRPr lang="zh-CN" altLang="zh-CN" sz="4000" dirty="0" smtClean="0">
              <a:latin typeface="Calibri" panose="020F0502020204030204" pitchFamily="34" charset="0"/>
              <a:ea typeface="黑体" panose="02010609060101010101" pitchFamily="49" charset="-122"/>
            </a:endParaRPr>
          </a:p>
        </p:txBody>
      </p:sp>
      <p:sp>
        <p:nvSpPr>
          <p:cNvPr id="27651" name="Rectangle 3"/>
          <p:cNvSpPr>
            <a:spLocks noGrp="1" noChangeArrowheads="1"/>
          </p:cNvSpPr>
          <p:nvPr>
            <p:ph type="body" idx="4294967295"/>
          </p:nvPr>
        </p:nvSpPr>
        <p:spPr>
          <a:xfrm>
            <a:off x="533506" y="2209832"/>
            <a:ext cx="3276514" cy="4267088"/>
          </a:xfrm>
        </p:spPr>
        <p:txBody>
          <a:bodyPr/>
          <a:lstStyle/>
          <a:p>
            <a:pPr eaLnBrk="1" hangingPunct="1"/>
            <a:r>
              <a:rPr lang="zh-CN" altLang="en-US" sz="2400" dirty="0" smtClean="0">
                <a:latin typeface="Calibri" panose="020F0502020204030204" pitchFamily="34" charset="0"/>
                <a:ea typeface="黑体" panose="02010609060101010101" pitchFamily="49" charset="-122"/>
              </a:rPr>
              <a:t>批判性思维</a:t>
            </a:r>
            <a:endParaRPr lang="en-US" altLang="zh-CN" sz="2400" dirty="0" smtClean="0">
              <a:latin typeface="Calibri" panose="020F0502020204030204" pitchFamily="34" charset="0"/>
              <a:ea typeface="黑体" panose="02010609060101010101" pitchFamily="49" charset="-122"/>
            </a:endParaRPr>
          </a:p>
          <a:p>
            <a:pPr eaLnBrk="1" hangingPunct="1">
              <a:buNone/>
            </a:pPr>
            <a:r>
              <a:rPr lang="zh-CN" altLang="en-US" sz="2400" dirty="0" smtClean="0">
                <a:latin typeface="Calibri" panose="020F0502020204030204" pitchFamily="34" charset="0"/>
                <a:ea typeface="黑体" panose="02010609060101010101" pitchFamily="49" charset="-122"/>
              </a:rPr>
              <a:t>     关键性思考</a:t>
            </a:r>
            <a:endParaRPr lang="en-US" altLang="zh-CN" sz="2400" dirty="0" smtClean="0">
              <a:latin typeface="Calibri" panose="020F0502020204030204" pitchFamily="34" charset="0"/>
              <a:ea typeface="黑体" panose="02010609060101010101" pitchFamily="49" charset="-122"/>
            </a:endParaRPr>
          </a:p>
          <a:p>
            <a:pPr eaLnBrk="1" hangingPunct="1">
              <a:buNone/>
            </a:pPr>
            <a:r>
              <a:rPr lang="zh-CN" altLang="en-US" sz="2400" dirty="0" smtClean="0">
                <a:latin typeface="Calibri" panose="020F0502020204030204" pitchFamily="34" charset="0"/>
                <a:ea typeface="黑体" panose="02010609060101010101" pitchFamily="49" charset="-122"/>
              </a:rPr>
              <a:t>     建设性思考</a:t>
            </a:r>
            <a:endParaRPr lang="en-US" altLang="zh-CN" sz="2400" dirty="0" smtClean="0">
              <a:latin typeface="Calibri" panose="020F0502020204030204" pitchFamily="34" charset="0"/>
              <a:ea typeface="黑体" panose="02010609060101010101" pitchFamily="49" charset="-122"/>
            </a:endParaRPr>
          </a:p>
          <a:p>
            <a:pPr eaLnBrk="1" hangingPunct="1"/>
            <a:endParaRPr lang="en-US" altLang="zh-CN" sz="2400" dirty="0" smtClean="0">
              <a:latin typeface="Calibri" panose="020F0502020204030204" pitchFamily="34" charset="0"/>
              <a:ea typeface="黑体" panose="02010609060101010101" pitchFamily="49" charset="-122"/>
            </a:endParaRPr>
          </a:p>
          <a:p>
            <a:pPr eaLnBrk="1" hangingPunct="1"/>
            <a:r>
              <a:rPr lang="en-US" altLang="zh-CN" sz="2400" dirty="0" smtClean="0">
                <a:latin typeface="Calibri" panose="020F0502020204030204" pitchFamily="34" charset="0"/>
                <a:ea typeface="黑体" panose="02010609060101010101" pitchFamily="49" charset="-122"/>
              </a:rPr>
              <a:t>Critical Observing: </a:t>
            </a:r>
            <a:endParaRPr lang="en-US" altLang="zh-CN" sz="2400" dirty="0" smtClean="0">
              <a:latin typeface="Calibri" panose="020F0502020204030204" pitchFamily="34" charset="0"/>
              <a:ea typeface="黑体" panose="02010609060101010101" pitchFamily="49" charset="-122"/>
            </a:endParaRPr>
          </a:p>
          <a:p>
            <a:pPr eaLnBrk="1" hangingPunct="1">
              <a:buNone/>
            </a:pPr>
            <a:r>
              <a:rPr lang="en-US" altLang="zh-CN" sz="2400" dirty="0" smtClean="0">
                <a:latin typeface="Calibri" panose="020F0502020204030204" pitchFamily="34" charset="0"/>
                <a:ea typeface="黑体" panose="02010609060101010101" pitchFamily="49" charset="-122"/>
              </a:rPr>
              <a:t>     </a:t>
            </a:r>
            <a:r>
              <a:rPr lang="zh-CN" altLang="en-US" sz="2400" dirty="0" smtClean="0">
                <a:latin typeface="Calibri" panose="020F0502020204030204" pitchFamily="34" charset="0"/>
                <a:ea typeface="黑体" panose="02010609060101010101" pitchFamily="49" charset="-122"/>
              </a:rPr>
              <a:t>建设性观察</a:t>
            </a:r>
            <a:endParaRPr lang="en-US" altLang="zh-CN" sz="2400" dirty="0" smtClean="0">
              <a:latin typeface="Calibri" panose="020F0502020204030204" pitchFamily="34" charset="0"/>
              <a:ea typeface="黑体" panose="02010609060101010101" pitchFamily="49" charset="-122"/>
            </a:endParaRPr>
          </a:p>
          <a:p>
            <a:pPr eaLnBrk="1" hangingPunct="1"/>
            <a:endParaRPr lang="en-US" altLang="zh-CN" sz="2400" b="1" dirty="0" smtClean="0">
              <a:latin typeface="Calibri" panose="020F0502020204030204" pitchFamily="34" charset="0"/>
              <a:ea typeface="黑体" panose="02010609060101010101" pitchFamily="49" charset="-122"/>
              <a:cs typeface="Courier New" panose="02070309020205020404" pitchFamily="49" charset="0"/>
            </a:endParaRPr>
          </a:p>
          <a:p>
            <a:pPr eaLnBrk="1" hangingPunct="1"/>
            <a:r>
              <a:rPr lang="zh-CN" altLang="en-US" sz="2400" dirty="0" smtClean="0">
                <a:solidFill>
                  <a:schemeClr val="accent6">
                    <a:lumMod val="60000"/>
                    <a:lumOff val="40000"/>
                  </a:schemeClr>
                </a:solidFill>
                <a:latin typeface="Calibri" panose="020F0502020204030204" pitchFamily="34" charset="0"/>
                <a:ea typeface="黑体" panose="02010609060101010101" pitchFamily="49" charset="-122"/>
                <a:cs typeface="Courier New" panose="02070309020205020404" pitchFamily="49" charset="0"/>
              </a:rPr>
              <a:t>系统化认知问题 </a:t>
            </a:r>
            <a:r>
              <a:rPr lang="zh-CN" altLang="en-US" sz="2400" dirty="0" smtClean="0">
                <a:latin typeface="Calibri" panose="020F0502020204030204" pitchFamily="34" charset="0"/>
                <a:ea typeface="黑体" panose="02010609060101010101" pitchFamily="49" charset="-122"/>
                <a:cs typeface="Courier New" panose="02070309020205020404" pitchFamily="49" charset="0"/>
              </a:rPr>
              <a:t>与</a:t>
            </a:r>
            <a:endParaRPr lang="en-US" altLang="zh-CN" sz="2400" dirty="0" smtClean="0">
              <a:latin typeface="Calibri" panose="020F0502020204030204" pitchFamily="34" charset="0"/>
              <a:ea typeface="黑体" panose="02010609060101010101" pitchFamily="49" charset="-122"/>
              <a:cs typeface="Courier New" panose="02070309020205020404" pitchFamily="49" charset="0"/>
            </a:endParaRPr>
          </a:p>
          <a:p>
            <a:pPr eaLnBrk="1" hangingPunct="1">
              <a:buNone/>
            </a:pPr>
            <a:r>
              <a:rPr lang="en-US" altLang="zh-CN" sz="2400" dirty="0" smtClean="0">
                <a:solidFill>
                  <a:srgbClr val="00B0F0"/>
                </a:solidFill>
                <a:latin typeface="Calibri" panose="020F0502020204030204" pitchFamily="34" charset="0"/>
                <a:ea typeface="黑体" panose="02010609060101010101" pitchFamily="49" charset="-122"/>
                <a:cs typeface="Courier New" panose="02070309020205020404" pitchFamily="49" charset="0"/>
              </a:rPr>
              <a:t>     </a:t>
            </a:r>
            <a:r>
              <a:rPr lang="zh-CN" altLang="en-US" sz="2400" dirty="0" smtClean="0">
                <a:solidFill>
                  <a:srgbClr val="00B0F0"/>
                </a:solidFill>
                <a:latin typeface="Calibri" panose="020F0502020204030204" pitchFamily="34" charset="0"/>
                <a:ea typeface="黑体" panose="02010609060101010101" pitchFamily="49" charset="-122"/>
                <a:cs typeface="Courier New" panose="02070309020205020404" pitchFamily="49" charset="0"/>
              </a:rPr>
              <a:t>构建解决方案</a:t>
            </a:r>
            <a:r>
              <a:rPr lang="zh-CN" altLang="en-US" sz="2400" dirty="0" smtClean="0">
                <a:latin typeface="Calibri" panose="020F0502020204030204" pitchFamily="34" charset="0"/>
                <a:ea typeface="黑体" panose="02010609060101010101" pitchFamily="49" charset="-122"/>
                <a:cs typeface="Courier New" panose="02070309020205020404" pitchFamily="49" charset="0"/>
              </a:rPr>
              <a:t>的能力</a:t>
            </a:r>
            <a:endParaRPr lang="zh-CN" altLang="zh-CN" sz="2400" dirty="0" smtClean="0">
              <a:latin typeface="Calibri" panose="020F0502020204030204" pitchFamily="34" charset="0"/>
              <a:cs typeface="Courier New" panose="02070309020205020404" pitchFamily="49" charset="0"/>
            </a:endParaRPr>
          </a:p>
        </p:txBody>
      </p:sp>
      <p:pic>
        <p:nvPicPr>
          <p:cNvPr id="53250" name="Picture 2"/>
          <p:cNvPicPr>
            <a:picLocks noChangeAspect="1" noChangeArrowheads="1"/>
          </p:cNvPicPr>
          <p:nvPr/>
        </p:nvPicPr>
        <p:blipFill>
          <a:blip r:embed="rId1" cstate="print"/>
          <a:srcRect/>
          <a:stretch>
            <a:fillRect/>
          </a:stretch>
        </p:blipFill>
        <p:spPr bwMode="auto">
          <a:xfrm>
            <a:off x="4137013" y="0"/>
            <a:ext cx="5006987" cy="68579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533506" y="287254"/>
            <a:ext cx="8229384" cy="1015663"/>
          </a:xfrm>
        </p:spPr>
        <p:txBody>
          <a:bodyPr/>
          <a:lstStyle/>
          <a:p>
            <a:pPr eaLnBrk="1" hangingPunct="1"/>
            <a:r>
              <a:rPr lang="en-US" altLang="zh-CN" sz="6000" dirty="0" smtClean="0">
                <a:latin typeface="Calibri" panose="020F0502020204030204" pitchFamily="34" charset="0"/>
                <a:ea typeface="黑体" panose="02010609060101010101" pitchFamily="49" charset="-122"/>
              </a:rPr>
              <a:t>SEMAT </a:t>
            </a:r>
            <a:r>
              <a:rPr lang="en-US" altLang="zh-CN" dirty="0" smtClean="0">
                <a:latin typeface="Calibri" panose="020F0502020204030204" pitchFamily="34" charset="0"/>
                <a:ea typeface="黑体" panose="02010609060101010101" pitchFamily="49" charset="-122"/>
              </a:rPr>
              <a:t>         http://semat.org</a:t>
            </a:r>
            <a:endParaRPr lang="zh-CN" altLang="zh-CN" b="1" dirty="0" smtClean="0">
              <a:latin typeface="Calibri" panose="020F0502020204030204" pitchFamily="34" charset="0"/>
              <a:ea typeface="黑体" panose="02010609060101010101" pitchFamily="49" charset="-122"/>
            </a:endParaRPr>
          </a:p>
        </p:txBody>
      </p:sp>
      <p:sp>
        <p:nvSpPr>
          <p:cNvPr id="27651" name="Rectangle 3"/>
          <p:cNvSpPr>
            <a:spLocks noGrp="1" noChangeArrowheads="1"/>
          </p:cNvSpPr>
          <p:nvPr>
            <p:ph type="body" idx="4294967295"/>
          </p:nvPr>
        </p:nvSpPr>
        <p:spPr>
          <a:xfrm>
            <a:off x="76319" y="1905040"/>
            <a:ext cx="9067681" cy="4114800"/>
          </a:xfrm>
        </p:spPr>
        <p:txBody>
          <a:bodyPr/>
          <a:lstStyle/>
          <a:p>
            <a:pPr eaLnBrk="1" hangingPunct="1"/>
            <a:endParaRPr lang="zh-CN" altLang="zh-CN" dirty="0" smtClean="0">
              <a:ea typeface="黑体" panose="02010609060101010101" pitchFamily="49" charset="-122"/>
            </a:endParaRPr>
          </a:p>
          <a:p>
            <a:pPr eaLnBrk="1" hangingPunct="1"/>
            <a:r>
              <a:rPr lang="en-US" altLang="zh-CN" dirty="0" smtClean="0">
                <a:latin typeface="Calibri" panose="020F0502020204030204" pitchFamily="34" charset="0"/>
                <a:ea typeface="黑体" panose="02010609060101010101" pitchFamily="49" charset="-122"/>
              </a:rPr>
              <a:t>SEMAT (</a:t>
            </a:r>
            <a:r>
              <a:rPr lang="en-US" altLang="zh-CN" dirty="0" smtClean="0">
                <a:solidFill>
                  <a:srgbClr val="FFC000"/>
                </a:solidFill>
                <a:latin typeface="Calibri" panose="020F0502020204030204" pitchFamily="34" charset="0"/>
                <a:ea typeface="黑体" panose="02010609060101010101" pitchFamily="49" charset="-122"/>
              </a:rPr>
              <a:t>Software Engineering Method and Theory</a:t>
            </a:r>
            <a:r>
              <a:rPr lang="en-US" altLang="zh-CN" dirty="0" smtClean="0">
                <a:latin typeface="Calibri" panose="020F0502020204030204" pitchFamily="34" charset="0"/>
                <a:ea typeface="黑体" panose="02010609060101010101" pitchFamily="49" charset="-122"/>
              </a:rPr>
              <a:t>) drives a process to </a:t>
            </a:r>
            <a:r>
              <a:rPr lang="en-US" altLang="zh-CN" dirty="0" err="1" smtClean="0">
                <a:latin typeface="Calibri" panose="020F0502020204030204" pitchFamily="34" charset="0"/>
                <a:ea typeface="黑体" panose="02010609060101010101" pitchFamily="49" charset="-122"/>
              </a:rPr>
              <a:t>refound</a:t>
            </a:r>
            <a:r>
              <a:rPr lang="en-US" altLang="zh-CN" dirty="0" smtClean="0">
                <a:latin typeface="Calibri" panose="020F0502020204030204" pitchFamily="34" charset="0"/>
                <a:ea typeface="黑体" panose="02010609060101010101" pitchFamily="49" charset="-122"/>
              </a:rPr>
              <a:t> software engineering based on a solid theory, proven principles and best practices.</a:t>
            </a:r>
            <a:endParaRPr lang="zh-CN" altLang="zh-CN" b="1" dirty="0" smtClean="0">
              <a:latin typeface="Calibri" panose="020F0502020204030204" pitchFamily="34" charset="0"/>
              <a:cs typeface="Courier New" panose="02070309020205020404" pitchFamily="49" charset="0"/>
            </a:endParaRPr>
          </a:p>
          <a:p>
            <a:pPr eaLnBrk="1" hangingPunct="1">
              <a:buFont typeface="Wingdings" panose="05000000000000000000" pitchFamily="2" charset="2"/>
              <a:buNone/>
            </a:pPr>
            <a:endParaRPr lang="zh-CN" altLang="zh-CN" b="1" dirty="0" smtClean="0">
              <a:latin typeface="Courier New" panose="02070309020205020404" pitchFamily="49" charset="0"/>
              <a:cs typeface="Courier New" panose="02070309020205020404" pitchFamily="49" charset="0"/>
            </a:endParaRPr>
          </a:p>
          <a:p>
            <a:pPr eaLnBrk="1" hangingPunct="1">
              <a:buFont typeface="Wingdings" panose="05000000000000000000" pitchFamily="2" charset="2"/>
              <a:buNone/>
            </a:pPr>
            <a:endParaRPr lang="zh-CN" altLang="zh-CN"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1" cstate="print"/>
          <a:srcRect/>
          <a:stretch>
            <a:fillRect/>
          </a:stretch>
        </p:blipFill>
        <p:spPr bwMode="auto">
          <a:xfrm>
            <a:off x="0" y="990600"/>
            <a:ext cx="9144000" cy="5867400"/>
          </a:xfrm>
          <a:prstGeom prst="rect">
            <a:avLst/>
          </a:prstGeom>
          <a:noFill/>
          <a:ln w="9525">
            <a:noFill/>
            <a:miter lim="800000"/>
            <a:headEnd/>
            <a:tailEnd/>
          </a:ln>
        </p:spPr>
      </p:pic>
      <p:sp>
        <p:nvSpPr>
          <p:cNvPr id="31747" name="矩形 2"/>
          <p:cNvSpPr>
            <a:spLocks noChangeArrowheads="1"/>
          </p:cNvSpPr>
          <p:nvPr/>
        </p:nvSpPr>
        <p:spPr bwMode="auto">
          <a:xfrm>
            <a:off x="152400" y="0"/>
            <a:ext cx="8991600" cy="954088"/>
          </a:xfrm>
          <a:prstGeom prst="rect">
            <a:avLst/>
          </a:prstGeom>
          <a:noFill/>
          <a:ln w="9525">
            <a:noFill/>
            <a:miter lim="800000"/>
          </a:ln>
        </p:spPr>
        <p:txBody>
          <a:bodyPr>
            <a:spAutoFit/>
          </a:bodyPr>
          <a:lstStyle/>
          <a:p>
            <a:r>
              <a:rPr lang="en-US" altLang="zh-CN" b="0">
                <a:latin typeface="Verdana" panose="020B0604030504040204" pitchFamily="34" charset="0"/>
              </a:rPr>
              <a:t>The Essence of Software Engineering:</a:t>
            </a:r>
            <a:endParaRPr lang="en-US" altLang="zh-CN" b="0">
              <a:latin typeface="Verdana" panose="020B0604030504040204" pitchFamily="34" charset="0"/>
            </a:endParaRPr>
          </a:p>
          <a:p>
            <a:r>
              <a:rPr lang="en-US" altLang="zh-CN" b="0">
                <a:latin typeface="Verdana" panose="020B0604030504040204" pitchFamily="34" charset="0"/>
              </a:rPr>
              <a:t>The </a:t>
            </a:r>
            <a:r>
              <a:rPr lang="en-US" altLang="zh-CN" sz="3200" b="0">
                <a:latin typeface="Verdana" panose="020B0604030504040204" pitchFamily="34" charset="0"/>
              </a:rPr>
              <a:t>SEMAT</a:t>
            </a:r>
            <a:r>
              <a:rPr lang="en-US" altLang="zh-CN" b="0">
                <a:latin typeface="Verdana" panose="020B0604030504040204" pitchFamily="34" charset="0"/>
              </a:rPr>
              <a:t> Kernel                         By Ivar Jacobson</a:t>
            </a:r>
            <a:endParaRPr lang="zh-CN" altLang="en-US" b="0">
              <a:latin typeface="Verdana" panose="020B060403050404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1" cstate="print"/>
          <a:srcRect/>
          <a:stretch>
            <a:fillRect/>
          </a:stretch>
        </p:blipFill>
        <p:spPr bwMode="auto">
          <a:xfrm>
            <a:off x="76200" y="863600"/>
            <a:ext cx="9067800" cy="5994400"/>
          </a:xfrm>
          <a:prstGeom prst="rect">
            <a:avLst/>
          </a:prstGeom>
          <a:noFill/>
          <a:ln w="9525">
            <a:noFill/>
            <a:miter lim="800000"/>
            <a:headEnd/>
            <a:tailEnd/>
          </a:ln>
        </p:spPr>
      </p:pic>
      <p:sp>
        <p:nvSpPr>
          <p:cNvPr id="32771" name="矩形 2"/>
          <p:cNvSpPr>
            <a:spLocks noChangeArrowheads="1"/>
          </p:cNvSpPr>
          <p:nvPr/>
        </p:nvSpPr>
        <p:spPr bwMode="auto">
          <a:xfrm>
            <a:off x="381000" y="76200"/>
            <a:ext cx="4730750" cy="584200"/>
          </a:xfrm>
          <a:prstGeom prst="rect">
            <a:avLst/>
          </a:prstGeom>
          <a:noFill/>
          <a:ln w="9525">
            <a:noFill/>
            <a:miter lim="800000"/>
          </a:ln>
        </p:spPr>
        <p:txBody>
          <a:bodyPr wrap="none">
            <a:spAutoFit/>
          </a:bodyPr>
          <a:lstStyle/>
          <a:p>
            <a:r>
              <a:rPr lang="en-US" altLang="zh-CN" b="0" dirty="0">
                <a:latin typeface="Verdana" panose="020B0604030504040204" pitchFamily="34" charset="0"/>
              </a:rPr>
              <a:t>The </a:t>
            </a:r>
            <a:r>
              <a:rPr lang="en-US" altLang="zh-CN" sz="3200" b="0" dirty="0">
                <a:latin typeface="Verdana" panose="020B0604030504040204" pitchFamily="34" charset="0"/>
              </a:rPr>
              <a:t>SEMAT</a:t>
            </a:r>
            <a:r>
              <a:rPr lang="en-US" altLang="zh-CN" b="0" dirty="0">
                <a:latin typeface="Verdana" panose="020B0604030504040204" pitchFamily="34" charset="0"/>
              </a:rPr>
              <a:t> Kernel  (cont.) </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body" idx="1"/>
          </p:nvPr>
        </p:nvSpPr>
        <p:spPr>
          <a:xfrm>
            <a:off x="304800" y="609600"/>
            <a:ext cx="8534288" cy="5943518"/>
          </a:xfrm>
        </p:spPr>
        <p:txBody>
          <a:bodyPr/>
          <a:lstStyle/>
          <a:p>
            <a:pPr algn="just">
              <a:lnSpc>
                <a:spcPct val="90000"/>
              </a:lnSpc>
              <a:buFont typeface="Wingdings" panose="05000000000000000000" pitchFamily="2" charset="2"/>
              <a:buNone/>
            </a:pPr>
            <a:r>
              <a:rPr lang="zh-CN" altLang="en-US" sz="4000" dirty="0">
                <a:solidFill>
                  <a:schemeClr val="tx2"/>
                </a:solidFill>
                <a:ea typeface="黑体" panose="02010609060101010101" pitchFamily="49" charset="-122"/>
              </a:rPr>
              <a:t>软件</a:t>
            </a:r>
            <a:r>
              <a:rPr lang="en-US" altLang="zh-CN" sz="4000" dirty="0">
                <a:solidFill>
                  <a:schemeClr val="tx2"/>
                </a:solidFill>
                <a:ea typeface="黑体" panose="02010609060101010101" pitchFamily="49" charset="-122"/>
              </a:rPr>
              <a:t>(</a:t>
            </a:r>
            <a:r>
              <a:rPr lang="zh-CN" altLang="en-US" sz="4000" dirty="0">
                <a:solidFill>
                  <a:schemeClr val="tx2"/>
                </a:solidFill>
                <a:ea typeface="黑体" panose="02010609060101010101" pitchFamily="49" charset="-122"/>
              </a:rPr>
              <a:t>程序</a:t>
            </a:r>
            <a:r>
              <a:rPr lang="en-US" altLang="zh-CN" sz="4000" dirty="0">
                <a:solidFill>
                  <a:schemeClr val="tx2"/>
                </a:solidFill>
                <a:ea typeface="黑体" panose="02010609060101010101" pitchFamily="49" charset="-122"/>
              </a:rPr>
              <a:t>)</a:t>
            </a:r>
            <a:r>
              <a:rPr lang="zh-CN" altLang="en-US" sz="4000" dirty="0">
                <a:solidFill>
                  <a:schemeClr val="tx2"/>
                </a:solidFill>
                <a:ea typeface="黑体" panose="02010609060101010101" pitchFamily="49" charset="-122"/>
              </a:rPr>
              <a:t>的三项</a:t>
            </a:r>
            <a:r>
              <a:rPr lang="zh-CN" altLang="en-US" sz="4000" dirty="0" smtClean="0">
                <a:solidFill>
                  <a:schemeClr val="tx2"/>
                </a:solidFill>
                <a:ea typeface="黑体" panose="02010609060101010101" pitchFamily="49" charset="-122"/>
              </a:rPr>
              <a:t>职责</a:t>
            </a:r>
            <a:r>
              <a:rPr lang="en-US" altLang="zh-CN" sz="4000" dirty="0" smtClean="0">
                <a:solidFill>
                  <a:schemeClr val="tx2"/>
                </a:solidFill>
                <a:latin typeface="Calibri" panose="020F0502020204030204" pitchFamily="34" charset="0"/>
                <a:ea typeface="黑体" panose="02010609060101010101" pitchFamily="49" charset="-122"/>
              </a:rPr>
              <a:t>(Robert Martin)</a:t>
            </a:r>
            <a:endParaRPr lang="zh-CN" altLang="en-US" sz="4000" dirty="0">
              <a:ea typeface="黑体" panose="02010609060101010101" pitchFamily="49" charset="-122"/>
            </a:endParaRPr>
          </a:p>
          <a:p>
            <a:pPr algn="just">
              <a:lnSpc>
                <a:spcPct val="90000"/>
              </a:lnSpc>
              <a:buFont typeface="Wingdings" panose="05000000000000000000" pitchFamily="2" charset="2"/>
              <a:buNone/>
            </a:pPr>
            <a:endParaRPr lang="zh-CN" altLang="en-US" sz="2800" dirty="0">
              <a:ea typeface="黑体" panose="02010609060101010101" pitchFamily="49" charset="-122"/>
            </a:endParaRPr>
          </a:p>
          <a:p>
            <a:pPr algn="just">
              <a:spcBef>
                <a:spcPct val="40000"/>
              </a:spcBef>
              <a:buFont typeface="Wingdings" panose="05000000000000000000" pitchFamily="2" charset="2"/>
              <a:buNone/>
            </a:pPr>
            <a:r>
              <a:rPr lang="zh-CN" altLang="en-US" sz="2800" dirty="0">
                <a:ea typeface="黑体" panose="02010609060101010101" pitchFamily="49" charset="-122"/>
              </a:rPr>
              <a:t>第一个职责是它要有效运行满足用户需要的功能。这也是该模块得以存在的原因。</a:t>
            </a:r>
            <a:endParaRPr lang="zh-CN" altLang="en-US" sz="2800" dirty="0">
              <a:ea typeface="黑体" panose="02010609060101010101" pitchFamily="49" charset="-122"/>
            </a:endParaRPr>
          </a:p>
          <a:p>
            <a:pPr algn="just">
              <a:spcBef>
                <a:spcPct val="40000"/>
              </a:spcBef>
              <a:buFont typeface="Wingdings" panose="05000000000000000000" pitchFamily="2" charset="2"/>
              <a:buNone/>
            </a:pPr>
            <a:r>
              <a:rPr lang="zh-CN" altLang="en-US" sz="2800" dirty="0">
                <a:solidFill>
                  <a:srgbClr val="FFCCCC"/>
                </a:solidFill>
                <a:ea typeface="黑体" panose="02010609060101010101" pitchFamily="49" charset="-122"/>
              </a:rPr>
              <a:t>第二个职责是它要应对变化。几乎所有的模块在它们的生命周期中都要变化，开发者有责任保证这种改变应该尽可能地简单。一个难以改变的模块，即使能够工作，也需要对它进行修正。</a:t>
            </a:r>
            <a:endParaRPr lang="zh-CN" altLang="en-US" sz="2800" dirty="0">
              <a:solidFill>
                <a:srgbClr val="FFCCCC"/>
              </a:solidFill>
              <a:ea typeface="黑体" panose="02010609060101010101" pitchFamily="49" charset="-122"/>
            </a:endParaRPr>
          </a:p>
          <a:p>
            <a:pPr algn="just">
              <a:spcBef>
                <a:spcPct val="40000"/>
              </a:spcBef>
              <a:buFont typeface="Wingdings" panose="05000000000000000000" pitchFamily="2" charset="2"/>
              <a:buNone/>
            </a:pPr>
            <a:r>
              <a:rPr lang="zh-CN" altLang="en-US" sz="2800" dirty="0">
                <a:ea typeface="黑体" panose="02010609060101010101" pitchFamily="49" charset="-122"/>
              </a:rPr>
              <a:t>第三个职责是要和阅读它的人进行沟通。对该模块不熟悉的开发人员应该能够比较容易地阅读并理解它。一个无法进行沟通的模块也是拙劣的，同样需要对它进行修正。</a:t>
            </a:r>
            <a:endParaRPr lang="zh-CN" altLang="en-US" sz="2800" dirty="0">
              <a:ea typeface="黑体" panose="02010609060101010101" pitchFamily="49"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1026"/>
          <p:cNvSpPr>
            <a:spLocks noGrp="1" noChangeArrowheads="1"/>
          </p:cNvSpPr>
          <p:nvPr>
            <p:ph type="body" idx="1"/>
          </p:nvPr>
        </p:nvSpPr>
        <p:spPr>
          <a:xfrm>
            <a:off x="762000" y="609674"/>
            <a:ext cx="7162800" cy="3581326"/>
          </a:xfrm>
        </p:spPr>
        <p:txBody>
          <a:bodyPr/>
          <a:lstStyle/>
          <a:p>
            <a:pPr algn="just">
              <a:buFont typeface="Wingdings" panose="05000000000000000000" pitchFamily="2" charset="2"/>
              <a:buNone/>
            </a:pPr>
            <a:r>
              <a:rPr lang="zh-CN" altLang="en-US" sz="4000" dirty="0">
                <a:solidFill>
                  <a:schemeClr val="tx2"/>
                </a:solidFill>
                <a:ea typeface="黑体" panose="02010609060101010101" pitchFamily="49" charset="-122"/>
              </a:rPr>
              <a:t>好的软件</a:t>
            </a:r>
            <a:r>
              <a:rPr lang="en-US" altLang="zh-CN" sz="4000" dirty="0">
                <a:solidFill>
                  <a:schemeClr val="tx2"/>
                </a:solidFill>
                <a:ea typeface="黑体" panose="02010609060101010101" pitchFamily="49" charset="-122"/>
              </a:rPr>
              <a:t>(</a:t>
            </a:r>
            <a:r>
              <a:rPr lang="zh-CN" altLang="en-US" sz="4000" dirty="0">
                <a:solidFill>
                  <a:schemeClr val="tx2"/>
                </a:solidFill>
                <a:ea typeface="黑体" panose="02010609060101010101" pitchFamily="49" charset="-122"/>
              </a:rPr>
              <a:t>程序</a:t>
            </a:r>
            <a:r>
              <a:rPr lang="en-US" altLang="zh-CN" sz="4000" dirty="0">
                <a:solidFill>
                  <a:schemeClr val="tx2"/>
                </a:solidFill>
                <a:ea typeface="黑体" panose="02010609060101010101" pitchFamily="49" charset="-122"/>
              </a:rPr>
              <a:t>)</a:t>
            </a:r>
            <a:r>
              <a:rPr lang="zh-CN" altLang="en-US" sz="4000" dirty="0">
                <a:solidFill>
                  <a:schemeClr val="tx2"/>
                </a:solidFill>
                <a:ea typeface="黑体" panose="02010609060101010101" pitchFamily="49" charset="-122"/>
              </a:rPr>
              <a:t>的特征：</a:t>
            </a:r>
            <a:endParaRPr lang="zh-CN" altLang="en-US" sz="4000" dirty="0">
              <a:solidFill>
                <a:schemeClr val="tx2"/>
              </a:solidFill>
              <a:ea typeface="黑体" panose="02010609060101010101" pitchFamily="49" charset="-122"/>
            </a:endParaRPr>
          </a:p>
          <a:p>
            <a:pPr algn="just">
              <a:buFont typeface="Wingdings" panose="05000000000000000000" pitchFamily="2" charset="2"/>
              <a:buNone/>
            </a:pPr>
            <a:endParaRPr lang="zh-CN" altLang="en-US" sz="4000" dirty="0">
              <a:solidFill>
                <a:schemeClr val="tx2"/>
              </a:solidFill>
              <a:ea typeface="黑体" panose="02010609060101010101" pitchFamily="49" charset="-122"/>
            </a:endParaRPr>
          </a:p>
          <a:p>
            <a:pPr algn="just">
              <a:lnSpc>
                <a:spcPts val="2000"/>
              </a:lnSpc>
              <a:spcBef>
                <a:spcPts val="0"/>
              </a:spcBef>
              <a:buFont typeface="Wingdings" panose="05000000000000000000" pitchFamily="2" charset="2"/>
              <a:buNone/>
            </a:pPr>
            <a:endParaRPr lang="en-US" altLang="zh-CN" dirty="0" smtClean="0">
              <a:ea typeface="黑体" panose="02010609060101010101" pitchFamily="49" charset="-122"/>
            </a:endParaRPr>
          </a:p>
          <a:p>
            <a:pPr algn="just">
              <a:lnSpc>
                <a:spcPct val="120000"/>
              </a:lnSpc>
              <a:buFont typeface="Wingdings" panose="05000000000000000000" pitchFamily="2" charset="2"/>
              <a:buNone/>
            </a:pPr>
            <a:r>
              <a:rPr lang="zh-CN" altLang="en-US" dirty="0" smtClean="0">
                <a:ea typeface="黑体" panose="02010609060101010101" pitchFamily="49" charset="-122"/>
              </a:rPr>
              <a:t>第一</a:t>
            </a:r>
            <a:r>
              <a:rPr lang="zh-CN" altLang="en-US" dirty="0">
                <a:ea typeface="黑体" panose="02010609060101010101" pitchFamily="49" charset="-122"/>
              </a:rPr>
              <a:t>：能正确有效地运行；</a:t>
            </a:r>
            <a:endParaRPr lang="zh-CN" altLang="en-US" dirty="0">
              <a:ea typeface="黑体" panose="02010609060101010101" pitchFamily="49" charset="-122"/>
            </a:endParaRPr>
          </a:p>
          <a:p>
            <a:pPr algn="just">
              <a:lnSpc>
                <a:spcPct val="120000"/>
              </a:lnSpc>
              <a:buFont typeface="Wingdings" panose="05000000000000000000" pitchFamily="2" charset="2"/>
              <a:buNone/>
            </a:pPr>
            <a:r>
              <a:rPr lang="zh-CN" altLang="en-US" dirty="0">
                <a:ea typeface="黑体" panose="02010609060101010101" pitchFamily="49" charset="-122"/>
              </a:rPr>
              <a:t>第二：能容易地扩展和修改；</a:t>
            </a:r>
            <a:endParaRPr lang="zh-CN" altLang="en-US" dirty="0">
              <a:ea typeface="黑体" panose="02010609060101010101" pitchFamily="49" charset="-122"/>
            </a:endParaRPr>
          </a:p>
          <a:p>
            <a:pPr algn="just">
              <a:lnSpc>
                <a:spcPct val="120000"/>
              </a:lnSpc>
              <a:buFont typeface="Wingdings" panose="05000000000000000000" pitchFamily="2" charset="2"/>
              <a:buNone/>
            </a:pPr>
            <a:r>
              <a:rPr lang="zh-CN" altLang="en-US" dirty="0">
                <a:ea typeface="黑体" panose="02010609060101010101" pitchFamily="49" charset="-122"/>
              </a:rPr>
              <a:t>第三：能容易地与人沟通</a:t>
            </a:r>
            <a:r>
              <a:rPr lang="en-US" altLang="zh-CN" dirty="0">
                <a:ea typeface="黑体" panose="02010609060101010101" pitchFamily="49" charset="-122"/>
              </a:rPr>
              <a:t>(</a:t>
            </a:r>
            <a:r>
              <a:rPr lang="zh-CN" altLang="en-US" dirty="0">
                <a:ea typeface="黑体" panose="02010609060101010101" pitchFamily="49" charset="-122"/>
              </a:rPr>
              <a:t>便于交流</a:t>
            </a:r>
            <a:r>
              <a:rPr lang="en-US" altLang="zh-CN" dirty="0">
                <a:ea typeface="黑体" panose="02010609060101010101" pitchFamily="49" charset="-122"/>
              </a:rPr>
              <a:t>)</a:t>
            </a:r>
            <a:r>
              <a:rPr lang="zh-CN" altLang="en-US" dirty="0">
                <a:ea typeface="黑体" panose="02010609060101010101" pitchFamily="49" charset="-122"/>
              </a:rPr>
              <a:t>。</a:t>
            </a:r>
            <a:endParaRPr lang="zh-CN" altLang="en-US" dirty="0">
              <a:ea typeface="黑体" panose="02010609060101010101" pitchFamily="49" charset="-122"/>
            </a:endParaRPr>
          </a:p>
          <a:p>
            <a:pPr algn="just">
              <a:buFont typeface="Wingdings" panose="05000000000000000000" pitchFamily="2" charset="2"/>
              <a:buNone/>
            </a:pPr>
            <a:endParaRPr lang="zh-CN" altLang="en-US" dirty="0">
              <a:ea typeface="黑体" panose="02010609060101010101" pitchFamily="49" charset="-122"/>
            </a:endParaRPr>
          </a:p>
          <a:p>
            <a:pPr algn="just">
              <a:buFont typeface="Wingdings" panose="05000000000000000000" pitchFamily="2" charset="2"/>
              <a:buNone/>
            </a:pPr>
            <a:endParaRPr lang="en-US" altLang="zh-CN" dirty="0">
              <a:ea typeface="黑体" panose="02010609060101010101" pitchFamily="49"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4338" name="Title 1"/>
          <p:cNvSpPr>
            <a:spLocks noGrp="1"/>
          </p:cNvSpPr>
          <p:nvPr>
            <p:ph type="title" idx="4294967295"/>
          </p:nvPr>
        </p:nvSpPr>
        <p:spPr>
          <a:xfrm>
            <a:off x="457308" y="228684"/>
            <a:ext cx="8305800" cy="646331"/>
          </a:xfrm>
        </p:spPr>
        <p:txBody>
          <a:bodyPr/>
          <a:lstStyle/>
          <a:p>
            <a:pPr eaLnBrk="1" hangingPunct="1"/>
            <a:r>
              <a:rPr lang="en-GB" altLang="en-US" sz="3600" dirty="0" smtClean="0">
                <a:solidFill>
                  <a:srgbClr val="002060"/>
                </a:solidFill>
                <a:latin typeface="Comic Sans MS" panose="030F0702030302020204" pitchFamily="66" charset="0"/>
              </a:rPr>
              <a:t>Essential attributes of good software</a:t>
            </a:r>
            <a:endParaRPr lang="zh-CN" altLang="en-US" sz="3600" dirty="0" smtClean="0">
              <a:solidFill>
                <a:srgbClr val="002060"/>
              </a:solidFill>
              <a:latin typeface="Comic Sans MS" panose="030F0702030302020204" pitchFamily="66" charset="0"/>
              <a:ea typeface="宋体" panose="02010600030101010101" pitchFamily="2" charset="-122"/>
            </a:endParaRPr>
          </a:p>
        </p:txBody>
      </p:sp>
      <p:graphicFrame>
        <p:nvGraphicFramePr>
          <p:cNvPr id="11269" name="Group 5"/>
          <p:cNvGraphicFramePr>
            <a:graphicFrameLocks noGrp="1"/>
          </p:cNvGraphicFramePr>
          <p:nvPr/>
        </p:nvGraphicFramePr>
        <p:xfrm>
          <a:off x="838298" y="1066862"/>
          <a:ext cx="7485063" cy="5574720"/>
        </p:xfrm>
        <a:graphic>
          <a:graphicData uri="http://schemas.openxmlformats.org/drawingml/2006/table">
            <a:tbl>
              <a:tblPr/>
              <a:tblGrid>
                <a:gridCol w="1600200"/>
                <a:gridCol w="5884863"/>
              </a:tblGrid>
              <a:tr h="496888">
                <a:tc>
                  <a:txBody>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400" b="1"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rPr>
                        <a:t>Product characteristic</a:t>
                      </a:r>
                      <a:endParaRPr kumimoji="0" lang="en-GB" altLang="en-US" sz="1400" b="1"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endParaRPr>
                    </a:p>
                  </a:txBody>
                  <a:tcPr marL="54610" marR="54610" marT="91440" marB="91440"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800" b="1"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rPr>
                        <a:t>Description</a:t>
                      </a:r>
                      <a:endParaRPr kumimoji="0" lang="en-GB" altLang="en-US" sz="1800" b="1"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endParaRPr>
                    </a:p>
                  </a:txBody>
                  <a:tcPr marL="54610" marR="54610" marT="91440" marB="91440" anchor="ctr"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tr>
              <a:tr h="946150">
                <a:tc>
                  <a:txBody>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600" b="0" i="0" u="none" strike="noStrike" cap="none" normalizeH="0" baseline="0" dirty="0" smtClean="0">
                          <a:ln>
                            <a:noFill/>
                          </a:ln>
                          <a:solidFill>
                            <a:srgbClr val="000000"/>
                          </a:solidFill>
                          <a:effectLst/>
                          <a:latin typeface="Comic Sans MS" panose="030F0702030302020204" pitchFamily="66" charset="0"/>
                          <a:ea typeface="MS PGothic" panose="020B0600070205080204" pitchFamily="34" charset="-128"/>
                          <a:cs typeface="Arial" panose="020B0604020202020204" pitchFamily="34" charset="0"/>
                        </a:rPr>
                        <a:t>Maintainability</a:t>
                      </a:r>
                      <a:endParaRPr kumimoji="0" lang="en-GB" altLang="en-US" sz="1600" b="0" i="0" u="none" strike="noStrike" cap="none" normalizeH="0" baseline="0" dirty="0" smtClean="0">
                        <a:ln>
                          <a:noFill/>
                        </a:ln>
                        <a:solidFill>
                          <a:srgbClr val="000000"/>
                        </a:solidFill>
                        <a:effectLst/>
                        <a:latin typeface="Comic Sans MS" panose="030F0702030302020204" pitchFamily="66" charset="0"/>
                        <a:ea typeface="MS PGothic" panose="020B0600070205080204" pitchFamily="34" charset="-128"/>
                        <a:cs typeface="Arial" panose="020B0604020202020204" pitchFamily="34" charset="0"/>
                      </a:endParaRPr>
                    </a:p>
                  </a:txBody>
                  <a:tcPr marL="54610" marR="54610" marT="0" marB="91440" anchor="ctr"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800" b="0" i="0" u="none" strike="noStrike" cap="none" normalizeH="0" baseline="0" dirty="0" smtClean="0">
                          <a:ln>
                            <a:noFill/>
                          </a:ln>
                          <a:solidFill>
                            <a:srgbClr val="000000"/>
                          </a:solidFill>
                          <a:effectLst/>
                          <a:latin typeface="Calibri" panose="020F0502020204030204" pitchFamily="34" charset="0"/>
                          <a:ea typeface="MS PGothic" panose="020B0600070205080204" pitchFamily="34" charset="-128"/>
                          <a:cs typeface="Arial" panose="020B0604020202020204" pitchFamily="34" charset="0"/>
                        </a:rPr>
                        <a:t>Software should be written in such a way so that it can evolve to meet the changing needs of customers. This is a critical attribute because software change is an inevitable requirement of a changing business environment.</a:t>
                      </a:r>
                      <a:endParaRPr kumimoji="0" lang="en-GB" altLang="en-US" sz="1800" b="0" i="0" u="none" strike="noStrike" cap="none" normalizeH="0" baseline="0" dirty="0" smtClean="0">
                        <a:ln>
                          <a:noFill/>
                        </a:ln>
                        <a:solidFill>
                          <a:srgbClr val="000000"/>
                        </a:solidFill>
                        <a:effectLst/>
                        <a:latin typeface="Calibri" panose="020F0502020204030204" pitchFamily="34" charset="0"/>
                        <a:ea typeface="MS PGothic" panose="020B0600070205080204" pitchFamily="34" charset="-128"/>
                        <a:cs typeface="Arial" panose="020B0604020202020204" pitchFamily="34" charset="0"/>
                      </a:endParaRPr>
                    </a:p>
                  </a:txBody>
                  <a:tcPr marL="108000" marR="108000" marT="72000" marB="72000" anchor="ctr"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r>
              <a:tr h="1402056">
                <a:tc>
                  <a:txBody>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600" b="0"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rPr>
                        <a:t>Dependability </a:t>
                      </a:r>
                      <a:endParaRPr kumimoji="0" lang="en-GB" altLang="en-US" sz="1600" b="0"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endParaRPr>
                    </a:p>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600" b="0"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rPr>
                        <a:t>and security</a:t>
                      </a:r>
                      <a:endParaRPr kumimoji="0" lang="en-GB" altLang="en-US" sz="1600" b="0"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endParaRPr>
                    </a:p>
                  </a:txBody>
                  <a:tcPr marL="54610" marR="54610" marT="0" marB="91440" anchor="ctr"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800" b="0" i="0" u="none" strike="noStrike" cap="none" normalizeH="0" baseline="0" dirty="0" smtClean="0">
                          <a:ln>
                            <a:noFill/>
                          </a:ln>
                          <a:solidFill>
                            <a:srgbClr val="FFFFFF"/>
                          </a:solidFill>
                          <a:effectLst/>
                          <a:latin typeface="Calibri" panose="020F0502020204030204" pitchFamily="34" charset="0"/>
                          <a:ea typeface="MS PGothic" panose="020B0600070205080204" pitchFamily="34" charset="-128"/>
                          <a:cs typeface="Arial" panose="020B0604020202020204" pitchFamily="34" charset="0"/>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kumimoji="0" lang="en-GB" altLang="en-US" sz="1800" b="0" i="0" u="none" strike="noStrike" cap="none" normalizeH="0" baseline="0" dirty="0" smtClean="0">
                        <a:ln>
                          <a:noFill/>
                        </a:ln>
                        <a:solidFill>
                          <a:srgbClr val="FFFFFF"/>
                        </a:solidFill>
                        <a:effectLst/>
                        <a:latin typeface="Calibri" panose="020F0502020204030204" pitchFamily="34" charset="0"/>
                        <a:ea typeface="MS PGothic" panose="020B0600070205080204" pitchFamily="34" charset="-128"/>
                        <a:cs typeface="Arial" panose="020B0604020202020204" pitchFamily="34" charset="0"/>
                      </a:endParaRPr>
                    </a:p>
                  </a:txBody>
                  <a:tcPr marL="108000" marR="108000" marT="72000" marB="72000"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r>
              <a:tr h="858838">
                <a:tc>
                  <a:txBody>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600" b="0" i="0" u="none" strike="noStrike" cap="none" normalizeH="0" baseline="0" dirty="0" smtClean="0">
                          <a:ln>
                            <a:noFill/>
                          </a:ln>
                          <a:solidFill>
                            <a:srgbClr val="000000"/>
                          </a:solidFill>
                          <a:effectLst/>
                          <a:latin typeface="Comic Sans MS" panose="030F0702030302020204" pitchFamily="66" charset="0"/>
                          <a:ea typeface="MS PGothic" panose="020B0600070205080204" pitchFamily="34" charset="-128"/>
                          <a:cs typeface="Arial" panose="020B0604020202020204" pitchFamily="34" charset="0"/>
                        </a:rPr>
                        <a:t>Efficiency</a:t>
                      </a:r>
                      <a:endParaRPr kumimoji="0" lang="en-GB" altLang="en-US" sz="1600" b="0" i="0" u="none" strike="noStrike" cap="none" normalizeH="0" baseline="0" dirty="0" smtClean="0">
                        <a:ln>
                          <a:noFill/>
                        </a:ln>
                        <a:solidFill>
                          <a:srgbClr val="000000"/>
                        </a:solidFill>
                        <a:effectLst/>
                        <a:latin typeface="Comic Sans MS" panose="030F0702030302020204" pitchFamily="66" charset="0"/>
                        <a:ea typeface="MS PGothic" panose="020B0600070205080204" pitchFamily="34" charset="-128"/>
                        <a:cs typeface="Arial" panose="020B0604020202020204" pitchFamily="34" charset="0"/>
                      </a:endParaRPr>
                    </a:p>
                  </a:txBody>
                  <a:tcPr marL="54610" marR="54610" marT="0" marB="91440" anchor="ctr"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800" b="0" i="0" u="none" strike="noStrike" cap="none" normalizeH="0" baseline="0" dirty="0" smtClean="0">
                          <a:ln>
                            <a:noFill/>
                          </a:ln>
                          <a:solidFill>
                            <a:srgbClr val="000000"/>
                          </a:solidFill>
                          <a:effectLst/>
                          <a:latin typeface="Calibri" panose="020F0502020204030204" pitchFamily="34" charset="0"/>
                          <a:ea typeface="MS PGothic" panose="020B0600070205080204" pitchFamily="34" charset="-128"/>
                          <a:cs typeface="Arial" panose="020B0604020202020204" pitchFamily="34" charset="0"/>
                        </a:rPr>
                        <a:t>Software should not make wasteful use of system resources such as memory and processor cycles. Efficiency therefore includes responsiveness, processing time, memory utilisation, etc.</a:t>
                      </a:r>
                      <a:endParaRPr kumimoji="0" lang="en-GB" altLang="en-US" sz="1800" b="0" i="0" u="none" strike="noStrike" cap="none" normalizeH="0" baseline="0" dirty="0" smtClean="0">
                        <a:ln>
                          <a:noFill/>
                        </a:ln>
                        <a:solidFill>
                          <a:srgbClr val="000000"/>
                        </a:solidFill>
                        <a:effectLst/>
                        <a:latin typeface="Calibri" panose="020F0502020204030204" pitchFamily="34" charset="0"/>
                        <a:ea typeface="MS PGothic" panose="020B0600070205080204" pitchFamily="34" charset="-128"/>
                        <a:cs typeface="Arial" panose="020B0604020202020204" pitchFamily="34" charset="0"/>
                      </a:endParaRPr>
                    </a:p>
                  </a:txBody>
                  <a:tcPr marL="108000" marR="108000" marT="72000" marB="72000"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r>
              <a:tr h="731838">
                <a:tc>
                  <a:txBody>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pPr>
                      <a:r>
                        <a:rPr kumimoji="0" lang="en-GB" altLang="en-US" sz="1600" b="0"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rPr>
                        <a:t>Acceptability</a:t>
                      </a:r>
                      <a:endParaRPr kumimoji="0" lang="en-GB" altLang="en-US" sz="1600" b="0" i="0" u="none" strike="noStrike" cap="none" normalizeH="0" baseline="0" dirty="0" smtClean="0">
                        <a:ln>
                          <a:noFill/>
                        </a:ln>
                        <a:solidFill>
                          <a:srgbClr val="FFFFFF"/>
                        </a:solidFill>
                        <a:effectLst/>
                        <a:latin typeface="Comic Sans MS" panose="030F0702030302020204" pitchFamily="66" charset="0"/>
                        <a:ea typeface="MS PGothic" panose="020B0600070205080204" pitchFamily="34" charset="-128"/>
                        <a:cs typeface="Arial" panose="020B0604020202020204" pitchFamily="34" charset="0"/>
                      </a:endParaRPr>
                    </a:p>
                  </a:txBody>
                  <a:tcPr marL="54610" marR="54610" marT="0" marB="91440" anchor="ctr"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457200" rtl="0" eaLnBrk="1" fontAlgn="ctr" latinLnBrk="0" hangingPunct="1">
                        <a:lnSpc>
                          <a:spcPct val="100000"/>
                        </a:lnSpc>
                        <a:spcBef>
                          <a:spcPts val="600"/>
                        </a:spcBef>
                        <a:spcAft>
                          <a:spcPct val="0"/>
                        </a:spcAft>
                        <a:buClrTx/>
                        <a:buSzTx/>
                        <a:buFont typeface="Arial" panose="020B0604020202020204" pitchFamily="34" charset="0"/>
                        <a:buNone/>
                      </a:pPr>
                      <a:r>
                        <a:rPr kumimoji="0" lang="en-GB" altLang="en-US" sz="1800" b="0" i="0" u="none" strike="noStrike" cap="none" normalizeH="0" baseline="0" dirty="0" smtClean="0">
                          <a:ln>
                            <a:noFill/>
                          </a:ln>
                          <a:solidFill>
                            <a:srgbClr val="FFFFFF"/>
                          </a:solidFill>
                          <a:effectLst/>
                          <a:latin typeface="Calibri" panose="020F0502020204030204" pitchFamily="34" charset="0"/>
                          <a:ea typeface="MS PGothic" panose="020B0600070205080204" pitchFamily="34" charset="-128"/>
                          <a:cs typeface="Arial" panose="020B0604020202020204" pitchFamily="34" charset="0"/>
                        </a:rPr>
                        <a:t>Software must be acceptable to the type of users for which it is designed. This means that it must be understandable, usable and compatible with other systems that they use. </a:t>
                      </a:r>
                      <a:endParaRPr kumimoji="0" lang="en-GB" altLang="en-US" sz="1800" b="0" i="0" u="none" strike="noStrike" cap="none" normalizeH="0" baseline="0" dirty="0" smtClean="0">
                        <a:ln>
                          <a:noFill/>
                        </a:ln>
                        <a:solidFill>
                          <a:srgbClr val="FFFFFF"/>
                        </a:solidFill>
                        <a:effectLst/>
                        <a:latin typeface="Calibri" panose="020F0502020204030204" pitchFamily="34" charset="0"/>
                        <a:ea typeface="MS PGothic" panose="020B0600070205080204" pitchFamily="34" charset="-128"/>
                        <a:cs typeface="Arial" panose="020B0604020202020204" pitchFamily="34" charset="0"/>
                      </a:endParaRPr>
                    </a:p>
                  </a:txBody>
                  <a:tcPr marL="108000" marR="108000" marT="72000" marB="72000" anchor="ctr"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1" cstate="print"/>
          <a:srcRect/>
          <a:stretch>
            <a:fillRect/>
          </a:stretch>
        </p:blipFill>
        <p:spPr bwMode="auto">
          <a:xfrm>
            <a:off x="-17463" y="0"/>
            <a:ext cx="9180513"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Picture 3"/>
          <p:cNvPicPr>
            <a:picLocks noChangeAspect="1" noChangeArrowheads="1"/>
          </p:cNvPicPr>
          <p:nvPr/>
        </p:nvPicPr>
        <p:blipFill>
          <a:blip r:embed="rId1" cstate="print"/>
          <a:srcRect/>
          <a:stretch>
            <a:fillRect/>
          </a:stretch>
        </p:blipFill>
        <p:spPr bwMode="auto">
          <a:xfrm>
            <a:off x="0" y="0"/>
            <a:ext cx="9144000" cy="6858000"/>
          </a:xfrm>
          <a:prstGeom prst="rect">
            <a:avLst/>
          </a:prstGeom>
          <a:noFill/>
          <a:ln w="9525" cmpd="sng">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6610" name="Picture 2"/>
          <p:cNvPicPr>
            <a:picLocks noChangeAspect="1" noChangeArrowheads="1"/>
          </p:cNvPicPr>
          <p:nvPr/>
        </p:nvPicPr>
        <p:blipFill>
          <a:blip r:embed="rId1"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634" name="Picture 2"/>
          <p:cNvPicPr>
            <a:picLocks noChangeAspect="1" noChangeArrowheads="1"/>
          </p:cNvPicPr>
          <p:nvPr/>
        </p:nvPicPr>
        <p:blipFill>
          <a:blip r:embed="rId1"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658" name="Picture 2"/>
          <p:cNvPicPr>
            <a:picLocks noChangeAspect="1" noChangeArrowheads="1"/>
          </p:cNvPicPr>
          <p:nvPr/>
        </p:nvPicPr>
        <p:blipFill>
          <a:blip r:embed="rId1" cstate="print"/>
          <a:srcRect/>
          <a:stretch>
            <a:fillRect/>
          </a:stretch>
        </p:blipFill>
        <p:spPr bwMode="auto">
          <a:xfrm>
            <a:off x="9525" y="4763"/>
            <a:ext cx="9124950" cy="6848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194562" name="Picture 2"/>
          <p:cNvPicPr>
            <a:picLocks noChangeAspect="1" noChangeArrowheads="1"/>
          </p:cNvPicPr>
          <p:nvPr/>
        </p:nvPicPr>
        <p:blipFill>
          <a:blip r:embed="rId1" cstate="print"/>
          <a:srcRect/>
          <a:stretch>
            <a:fillRect/>
          </a:stretch>
        </p:blipFill>
        <p:spPr bwMode="auto">
          <a:xfrm>
            <a:off x="0" y="424693"/>
            <a:ext cx="9144000" cy="60086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193539" name="Picture 3"/>
          <p:cNvPicPr>
            <a:picLocks noChangeAspect="1" noChangeArrowheads="1"/>
          </p:cNvPicPr>
          <p:nvPr/>
        </p:nvPicPr>
        <p:blipFill>
          <a:blip r:embed="rId1" cstate="print"/>
          <a:srcRect/>
          <a:stretch>
            <a:fillRect/>
          </a:stretch>
        </p:blipFill>
        <p:spPr bwMode="auto">
          <a:xfrm>
            <a:off x="0" y="676275"/>
            <a:ext cx="9163050" cy="5505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304912" y="533476"/>
            <a:ext cx="8637588" cy="830997"/>
          </a:xfrm>
        </p:spPr>
        <p:txBody>
          <a:bodyPr/>
          <a:lstStyle/>
          <a:p>
            <a:pPr eaLnBrk="1" hangingPunct="1"/>
            <a:r>
              <a:rPr lang="zh-CN" altLang="zh-CN" sz="4800" dirty="0" smtClean="0">
                <a:latin typeface="Calibri" panose="020F0502020204030204" pitchFamily="34" charset="0"/>
              </a:rPr>
              <a:t>What is Analysis</a:t>
            </a:r>
            <a:r>
              <a:rPr lang="en-US" altLang="zh-CN" sz="4800" dirty="0" smtClean="0">
                <a:latin typeface="Calibri" panose="020F0502020204030204" pitchFamily="34" charset="0"/>
              </a:rPr>
              <a:t>?</a:t>
            </a:r>
            <a:endParaRPr lang="zh-CN" altLang="zh-CN" sz="4800" dirty="0" smtClean="0">
              <a:latin typeface="Calibri" panose="020F0502020204030204" pitchFamily="34" charset="0"/>
            </a:endParaRPr>
          </a:p>
        </p:txBody>
      </p:sp>
      <p:sp>
        <p:nvSpPr>
          <p:cNvPr id="34819" name="Rectangle 3"/>
          <p:cNvSpPr>
            <a:spLocks noGrp="1" noChangeArrowheads="1"/>
          </p:cNvSpPr>
          <p:nvPr>
            <p:ph type="body" idx="4294967295"/>
          </p:nvPr>
        </p:nvSpPr>
        <p:spPr>
          <a:xfrm>
            <a:off x="328613" y="1941512"/>
            <a:ext cx="8208962" cy="4611605"/>
          </a:xfrm>
        </p:spPr>
        <p:txBody>
          <a:bodyPr/>
          <a:lstStyle/>
          <a:p>
            <a:pPr eaLnBrk="1" hangingPunct="1"/>
            <a:r>
              <a:rPr lang="zh-CN" altLang="zh-CN" dirty="0" smtClean="0">
                <a:latin typeface="Calibri" panose="020F0502020204030204" pitchFamily="34" charset="0"/>
              </a:rPr>
              <a:t>Analysis is a broad term.  In Software development, we are primarily concerned with two forms of analysis.</a:t>
            </a:r>
            <a:endParaRPr lang="zh-CN" altLang="zh-CN" dirty="0" smtClean="0">
              <a:latin typeface="Calibri" panose="020F0502020204030204" pitchFamily="34" charset="0"/>
            </a:endParaRPr>
          </a:p>
          <a:p>
            <a:pPr eaLnBrk="1" hangingPunct="1"/>
            <a:r>
              <a:rPr lang="zh-CN" altLang="zh-CN" dirty="0" smtClean="0">
                <a:latin typeface="Calibri" panose="020F0502020204030204" pitchFamily="34" charset="0"/>
              </a:rPr>
              <a:t>Requirements Analysis is discovering the requirements that a system must meet in order to be successful.</a:t>
            </a:r>
            <a:endParaRPr lang="zh-CN" altLang="zh-CN" dirty="0" smtClean="0">
              <a:latin typeface="Calibri" panose="020F0502020204030204" pitchFamily="34" charset="0"/>
            </a:endParaRPr>
          </a:p>
          <a:p>
            <a:pPr eaLnBrk="1" hangingPunct="1"/>
            <a:r>
              <a:rPr lang="zh-CN" altLang="zh-CN" dirty="0" smtClean="0">
                <a:latin typeface="Calibri" panose="020F0502020204030204" pitchFamily="34" charset="0"/>
              </a:rPr>
              <a:t>Object Analysis is investigating the object in a domain to discover information important to meet the requirements.</a:t>
            </a:r>
            <a:endParaRPr lang="zh-CN" altLang="zh-CN" dirty="0" smtClean="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819">
                                            <p:txEl>
                                              <p:pRg st="1" end="1"/>
                                            </p:txEl>
                                          </p:spTgt>
                                        </p:tgtEl>
                                        <p:attrNameLst>
                                          <p:attrName>style.visibility</p:attrName>
                                        </p:attrNameLst>
                                      </p:cBhvr>
                                      <p:to>
                                        <p:strVal val="visible"/>
                                      </p:to>
                                    </p:set>
                                    <p:anim calcmode="lin" valueType="num">
                                      <p:cBhvr additive="base">
                                        <p:cTn id="13" dur="500" fill="hold"/>
                                        <p:tgtEl>
                                          <p:spTgt spid="348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8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819">
                                            <p:txEl>
                                              <p:pRg st="2" end="2"/>
                                            </p:txEl>
                                          </p:spTgt>
                                        </p:tgtEl>
                                        <p:attrNameLst>
                                          <p:attrName>style.visibility</p:attrName>
                                        </p:attrNameLst>
                                      </p:cBhvr>
                                      <p:to>
                                        <p:strVal val="visible"/>
                                      </p:to>
                                    </p:set>
                                    <p:anim calcmode="lin" valueType="num">
                                      <p:cBhvr additive="base">
                                        <p:cTn id="19" dur="500" fill="hold"/>
                                        <p:tgtEl>
                                          <p:spTgt spid="348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81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p:txBody>
          <a:bodyPr/>
          <a:lstStyle/>
          <a:p>
            <a:pPr eaLnBrk="1" hangingPunct="1"/>
            <a:r>
              <a:rPr lang="zh-CN" altLang="zh-CN" dirty="0" smtClean="0"/>
              <a:t>What is Design?</a:t>
            </a:r>
            <a:endParaRPr lang="zh-CN" altLang="zh-CN" dirty="0" smtClean="0"/>
          </a:p>
        </p:txBody>
      </p:sp>
      <p:sp>
        <p:nvSpPr>
          <p:cNvPr id="36867" name="Rectangle 3"/>
          <p:cNvSpPr>
            <a:spLocks noGrp="1" noChangeArrowheads="1"/>
          </p:cNvSpPr>
          <p:nvPr>
            <p:ph type="body" idx="4294967295"/>
          </p:nvPr>
        </p:nvSpPr>
        <p:spPr/>
        <p:txBody>
          <a:bodyPr/>
          <a:lstStyle/>
          <a:p>
            <a:pPr eaLnBrk="1" hangingPunct="1"/>
            <a:r>
              <a:rPr lang="zh-CN" altLang="zh-CN" dirty="0" smtClean="0">
                <a:latin typeface="Calibri" panose="020F0502020204030204" pitchFamily="34" charset="0"/>
              </a:rPr>
              <a:t>Design emphasizes a </a:t>
            </a:r>
            <a:r>
              <a:rPr lang="zh-CN" altLang="zh-CN" dirty="0" smtClean="0">
                <a:solidFill>
                  <a:srgbClr val="FFC000"/>
                </a:solidFill>
                <a:latin typeface="Calibri" panose="020F0502020204030204" pitchFamily="34" charset="0"/>
              </a:rPr>
              <a:t>conceptual solution </a:t>
            </a:r>
            <a:r>
              <a:rPr lang="zh-CN" altLang="zh-CN" dirty="0" smtClean="0">
                <a:latin typeface="Calibri" panose="020F0502020204030204" pitchFamily="34" charset="0"/>
              </a:rPr>
              <a:t>that fulfills the requirements.  A design is not an implementation, although a good design can be implemented when it is complete.</a:t>
            </a:r>
            <a:endParaRPr lang="zh-CN" altLang="zh-CN" dirty="0" smtClean="0">
              <a:latin typeface="Calibri" panose="020F0502020204030204" pitchFamily="34" charset="0"/>
            </a:endParaRPr>
          </a:p>
          <a:p>
            <a:pPr eaLnBrk="1" hangingPunct="1"/>
            <a:r>
              <a:rPr lang="zh-CN" altLang="zh-CN" dirty="0" smtClean="0">
                <a:latin typeface="Calibri" panose="020F0502020204030204" pitchFamily="34" charset="0"/>
              </a:rPr>
              <a:t>There are subsets of design, including architectural design, object design, and database design.</a:t>
            </a:r>
            <a:endParaRPr lang="zh-CN" altLang="zh-CN" dirty="0" smtClean="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additive="base">
                                        <p:cTn id="13"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381110" y="457278"/>
            <a:ext cx="8637588" cy="830997"/>
          </a:xfrm>
        </p:spPr>
        <p:txBody>
          <a:bodyPr/>
          <a:lstStyle/>
          <a:p>
            <a:pPr eaLnBrk="1" hangingPunct="1"/>
            <a:r>
              <a:rPr lang="zh-CN" altLang="zh-CN" sz="4800" dirty="0" smtClean="0">
                <a:latin typeface="Calibri" panose="020F0502020204030204" pitchFamily="34" charset="0"/>
              </a:rPr>
              <a:t>Analysis and Design</a:t>
            </a:r>
            <a:endParaRPr lang="zh-CN" altLang="zh-CN" sz="4800" dirty="0" smtClean="0">
              <a:latin typeface="Calibri" panose="020F0502020204030204" pitchFamily="34" charset="0"/>
            </a:endParaRPr>
          </a:p>
        </p:txBody>
      </p:sp>
      <p:sp>
        <p:nvSpPr>
          <p:cNvPr id="37891" name="Rectangle 3"/>
          <p:cNvSpPr>
            <a:spLocks noGrp="1" noChangeArrowheads="1"/>
          </p:cNvSpPr>
          <p:nvPr>
            <p:ph type="body" idx="4294967295"/>
          </p:nvPr>
        </p:nvSpPr>
        <p:spPr>
          <a:xfrm>
            <a:off x="328612" y="1941512"/>
            <a:ext cx="8586673" cy="4383011"/>
          </a:xfrm>
        </p:spPr>
        <p:txBody>
          <a:bodyPr/>
          <a:lstStyle/>
          <a:p>
            <a:pPr eaLnBrk="1" hangingPunct="1">
              <a:buNone/>
            </a:pPr>
            <a:r>
              <a:rPr lang="en-US" altLang="zh-CN" sz="4400" dirty="0" smtClean="0">
                <a:latin typeface="Calibri" panose="020F0502020204030204" pitchFamily="34" charset="0"/>
              </a:rPr>
              <a:t>Focus on Make decisions (choices)</a:t>
            </a:r>
            <a:endParaRPr lang="en-US" altLang="zh-CN" sz="4400" dirty="0" smtClean="0">
              <a:latin typeface="Calibri" panose="020F0502020204030204" pitchFamily="34" charset="0"/>
            </a:endParaRPr>
          </a:p>
          <a:p>
            <a:pPr eaLnBrk="1" hangingPunct="1"/>
            <a:r>
              <a:rPr lang="zh-CN" altLang="zh-CN" sz="4400" dirty="0" smtClean="0">
                <a:latin typeface="Calibri" panose="020F0502020204030204" pitchFamily="34" charset="0"/>
              </a:rPr>
              <a:t>Analysis</a:t>
            </a:r>
            <a:endParaRPr lang="zh-CN" altLang="zh-CN" sz="4400" dirty="0" smtClean="0">
              <a:latin typeface="Calibri" panose="020F0502020204030204" pitchFamily="34" charset="0"/>
            </a:endParaRPr>
          </a:p>
          <a:p>
            <a:pPr lvl="1" eaLnBrk="1" hangingPunct="1"/>
            <a:r>
              <a:rPr lang="en-US" altLang="zh-CN" sz="4000" i="1" dirty="0" smtClean="0">
                <a:latin typeface="Calibri" panose="020F0502020204030204" pitchFamily="34" charset="0"/>
              </a:rPr>
              <a:t> </a:t>
            </a:r>
            <a:r>
              <a:rPr lang="zh-CN" altLang="zh-CN" sz="4000" i="1" dirty="0" smtClean="0">
                <a:latin typeface="Calibri" panose="020F0502020204030204" pitchFamily="34" charset="0"/>
              </a:rPr>
              <a:t>do the right thing</a:t>
            </a:r>
            <a:r>
              <a:rPr lang="en-US" altLang="zh-CN" sz="4000" i="1" dirty="0" smtClean="0">
                <a:latin typeface="Calibri" panose="020F0502020204030204" pitchFamily="34" charset="0"/>
              </a:rPr>
              <a:t>s</a:t>
            </a:r>
            <a:endParaRPr lang="zh-CN" altLang="zh-CN" sz="4000" i="1" dirty="0" smtClean="0">
              <a:latin typeface="Calibri" panose="020F0502020204030204" pitchFamily="34" charset="0"/>
            </a:endParaRPr>
          </a:p>
          <a:p>
            <a:pPr eaLnBrk="1" hangingPunct="1"/>
            <a:r>
              <a:rPr lang="zh-CN" altLang="zh-CN" sz="4400" dirty="0" smtClean="0">
                <a:latin typeface="Calibri" panose="020F0502020204030204" pitchFamily="34" charset="0"/>
              </a:rPr>
              <a:t>Design</a:t>
            </a:r>
            <a:endParaRPr lang="zh-CN" altLang="zh-CN" sz="4400" dirty="0" smtClean="0">
              <a:latin typeface="Calibri" panose="020F0502020204030204" pitchFamily="34" charset="0"/>
            </a:endParaRPr>
          </a:p>
          <a:p>
            <a:pPr lvl="1" eaLnBrk="1" hangingPunct="1"/>
            <a:r>
              <a:rPr lang="en-US" altLang="zh-CN" sz="4000" i="1" dirty="0" smtClean="0">
                <a:latin typeface="Calibri" panose="020F0502020204030204" pitchFamily="34" charset="0"/>
              </a:rPr>
              <a:t> </a:t>
            </a:r>
            <a:r>
              <a:rPr lang="zh-CN" altLang="zh-CN" sz="4000" i="1" dirty="0" smtClean="0">
                <a:latin typeface="Calibri" panose="020F0502020204030204" pitchFamily="34" charset="0"/>
              </a:rPr>
              <a:t>Do the thing</a:t>
            </a:r>
            <a:r>
              <a:rPr lang="en-US" altLang="zh-CN" sz="4000" i="1" dirty="0" smtClean="0">
                <a:latin typeface="Calibri" panose="020F0502020204030204" pitchFamily="34" charset="0"/>
              </a:rPr>
              <a:t>s</a:t>
            </a:r>
            <a:r>
              <a:rPr lang="zh-CN" altLang="zh-CN" sz="4000" i="1" dirty="0" smtClean="0">
                <a:latin typeface="Calibri" panose="020F0502020204030204" pitchFamily="34" charset="0"/>
              </a:rPr>
              <a:t> right</a:t>
            </a:r>
            <a:endParaRPr lang="zh-CN" altLang="zh-CN" sz="4000" i="1" dirty="0" smtClean="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1">
                                            <p:txEl>
                                              <p:pRg st="1" end="1"/>
                                            </p:txEl>
                                          </p:spTgt>
                                        </p:tgtEl>
                                        <p:attrNameLst>
                                          <p:attrName>style.visibility</p:attrName>
                                        </p:attrNameLst>
                                      </p:cBhvr>
                                      <p:to>
                                        <p:strVal val="visible"/>
                                      </p:to>
                                    </p:set>
                                    <p:anim calcmode="lin" valueType="num">
                                      <p:cBhvr additive="base">
                                        <p:cTn id="13"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 calcmode="lin" valueType="num">
                                      <p:cBhvr additive="base">
                                        <p:cTn id="17"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78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7891">
                                            <p:txEl>
                                              <p:pRg st="3" end="3"/>
                                            </p:txEl>
                                          </p:spTgt>
                                        </p:tgtEl>
                                        <p:attrNameLst>
                                          <p:attrName>style.visibility</p:attrName>
                                        </p:attrNameLst>
                                      </p:cBhvr>
                                      <p:to>
                                        <p:strVal val="visible"/>
                                      </p:to>
                                    </p:set>
                                    <p:anim calcmode="lin" valueType="num">
                                      <p:cBhvr additive="base">
                                        <p:cTn id="23"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891">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7891">
                                            <p:txEl>
                                              <p:pRg st="4" end="4"/>
                                            </p:txEl>
                                          </p:spTgt>
                                        </p:tgtEl>
                                        <p:attrNameLst>
                                          <p:attrName>style.visibility</p:attrName>
                                        </p:attrNameLst>
                                      </p:cBhvr>
                                      <p:to>
                                        <p:strVal val="visible"/>
                                      </p:to>
                                    </p:set>
                                    <p:anim calcmode="lin" valueType="num">
                                      <p:cBhvr additive="base">
                                        <p:cTn id="27" dur="500" fill="hold"/>
                                        <p:tgtEl>
                                          <p:spTgt spid="3789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789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1026"/>
          <p:cNvSpPr>
            <a:spLocks noGrp="1" noChangeArrowheads="1"/>
          </p:cNvSpPr>
          <p:nvPr>
            <p:ph type="title"/>
          </p:nvPr>
        </p:nvSpPr>
        <p:spPr>
          <a:xfrm>
            <a:off x="609600" y="533400"/>
            <a:ext cx="7239000" cy="701675"/>
          </a:xfrm>
        </p:spPr>
        <p:txBody>
          <a:bodyPr/>
          <a:lstStyle/>
          <a:p>
            <a:r>
              <a:rPr lang="zh-CN" altLang="en-US" sz="4000">
                <a:ea typeface="黑体" panose="02010609060101010101" pitchFamily="49" charset="-122"/>
              </a:rPr>
              <a:t>软件设计的五个层面：</a:t>
            </a:r>
            <a:endParaRPr lang="zh-CN" altLang="en-US" sz="4000">
              <a:ea typeface="黑体" panose="02010609060101010101" pitchFamily="49" charset="-122"/>
            </a:endParaRPr>
          </a:p>
        </p:txBody>
      </p:sp>
      <p:sp>
        <p:nvSpPr>
          <p:cNvPr id="244739" name="Rectangle 1027"/>
          <p:cNvSpPr>
            <a:spLocks noGrp="1" noChangeArrowheads="1"/>
          </p:cNvSpPr>
          <p:nvPr>
            <p:ph type="body" idx="1"/>
          </p:nvPr>
        </p:nvSpPr>
        <p:spPr>
          <a:xfrm>
            <a:off x="685800" y="2209800"/>
            <a:ext cx="7620000" cy="3429000"/>
          </a:xfrm>
        </p:spPr>
        <p:txBody>
          <a:bodyPr/>
          <a:lstStyle/>
          <a:p>
            <a:pPr marL="609600" indent="-609600" algn="just">
              <a:spcBef>
                <a:spcPct val="40000"/>
              </a:spcBef>
              <a:buFont typeface="Symbol" panose="05050102010706020507" pitchFamily="18" charset="2"/>
              <a:buAutoNum type="arabicParenR"/>
            </a:pPr>
            <a:r>
              <a:rPr lang="zh-CN" altLang="en-US" dirty="0">
                <a:solidFill>
                  <a:schemeClr val="tx2"/>
                </a:solidFill>
                <a:latin typeface="Tahoma" panose="020B0604030504040204" pitchFamily="34" charset="0"/>
                <a:ea typeface="黑体" panose="02010609060101010101" pitchFamily="49" charset="-122"/>
              </a:rPr>
              <a:t>产品</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服务市场架构设计</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定位与设想</a:t>
            </a:r>
            <a:r>
              <a:rPr lang="en-US" altLang="zh-CN" dirty="0">
                <a:solidFill>
                  <a:schemeClr val="tx2"/>
                </a:solidFill>
                <a:latin typeface="Tahoma" panose="020B0604030504040204" pitchFamily="34" charset="0"/>
                <a:ea typeface="黑体" panose="02010609060101010101" pitchFamily="49" charset="-122"/>
              </a:rPr>
              <a:t>)</a:t>
            </a:r>
            <a:endParaRPr lang="en-US" altLang="zh-CN" dirty="0">
              <a:solidFill>
                <a:schemeClr val="tx2"/>
              </a:solidFill>
              <a:latin typeface="Tahoma" panose="020B0604030504040204" pitchFamily="34" charset="0"/>
              <a:ea typeface="黑体" panose="02010609060101010101" pitchFamily="49" charset="-122"/>
            </a:endParaRPr>
          </a:p>
          <a:p>
            <a:pPr marL="609600" indent="-609600" algn="just">
              <a:spcBef>
                <a:spcPct val="40000"/>
              </a:spcBef>
              <a:buFont typeface="Symbol" panose="05050102010706020507" pitchFamily="18" charset="2"/>
              <a:buAutoNum type="arabicParenR"/>
            </a:pPr>
            <a:r>
              <a:rPr lang="zh-CN" altLang="en-US" dirty="0">
                <a:solidFill>
                  <a:schemeClr val="tx2"/>
                </a:solidFill>
                <a:latin typeface="Tahoma" panose="020B0604030504040204" pitchFamily="34" charset="0"/>
                <a:ea typeface="黑体" panose="02010609060101010101" pitchFamily="49" charset="-122"/>
              </a:rPr>
              <a:t>系统</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软件</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架构设计</a:t>
            </a:r>
            <a:endParaRPr lang="zh-CN" altLang="en-US" dirty="0">
              <a:solidFill>
                <a:schemeClr val="tx2"/>
              </a:solidFill>
              <a:latin typeface="Tahoma" panose="020B0604030504040204" pitchFamily="34" charset="0"/>
              <a:ea typeface="黑体" panose="02010609060101010101" pitchFamily="49" charset="-122"/>
            </a:endParaRPr>
          </a:p>
          <a:p>
            <a:pPr marL="609600" indent="-609600" algn="just">
              <a:spcBef>
                <a:spcPct val="40000"/>
              </a:spcBef>
              <a:buFont typeface="Symbol" panose="05050102010706020507" pitchFamily="18" charset="2"/>
              <a:buAutoNum type="arabicParenR"/>
            </a:pPr>
            <a:r>
              <a:rPr lang="zh-CN" altLang="en-US" dirty="0">
                <a:solidFill>
                  <a:schemeClr val="tx2"/>
                </a:solidFill>
                <a:latin typeface="Tahoma" panose="020B0604030504040204" pitchFamily="34" charset="0"/>
                <a:ea typeface="黑体" panose="02010609060101010101" pitchFamily="49" charset="-122"/>
              </a:rPr>
              <a:t>软件边界</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界面或接口</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设计</a:t>
            </a:r>
            <a:endParaRPr lang="zh-CN" altLang="en-US" dirty="0">
              <a:solidFill>
                <a:schemeClr val="tx2"/>
              </a:solidFill>
              <a:latin typeface="Tahoma" panose="020B0604030504040204" pitchFamily="34" charset="0"/>
              <a:ea typeface="黑体" panose="02010609060101010101" pitchFamily="49" charset="-122"/>
            </a:endParaRPr>
          </a:p>
          <a:p>
            <a:pPr marL="609600" indent="-609600" algn="just">
              <a:spcBef>
                <a:spcPct val="40000"/>
              </a:spcBef>
              <a:buFont typeface="Symbol" panose="05050102010706020507" pitchFamily="18" charset="2"/>
              <a:buAutoNum type="arabicParenR"/>
            </a:pPr>
            <a:r>
              <a:rPr lang="zh-CN" altLang="en-US" dirty="0">
                <a:solidFill>
                  <a:schemeClr val="tx2"/>
                </a:solidFill>
                <a:latin typeface="Tahoma" panose="020B0604030504040204" pitchFamily="34" charset="0"/>
                <a:ea typeface="黑体" panose="02010609060101010101" pitchFamily="49" charset="-122"/>
              </a:rPr>
              <a:t>信息</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数据</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结构及存取设计</a:t>
            </a:r>
            <a:endParaRPr lang="zh-CN" altLang="en-US" dirty="0">
              <a:solidFill>
                <a:schemeClr val="tx2"/>
              </a:solidFill>
              <a:latin typeface="Tahoma" panose="020B0604030504040204" pitchFamily="34" charset="0"/>
              <a:ea typeface="黑体" panose="02010609060101010101" pitchFamily="49" charset="-122"/>
            </a:endParaRPr>
          </a:p>
          <a:p>
            <a:pPr marL="609600" indent="-609600" algn="just">
              <a:spcBef>
                <a:spcPct val="40000"/>
              </a:spcBef>
              <a:buFont typeface="Symbol" panose="05050102010706020507" pitchFamily="18" charset="2"/>
              <a:buAutoNum type="arabicParenR"/>
            </a:pPr>
            <a:r>
              <a:rPr lang="zh-CN" altLang="en-US" dirty="0">
                <a:solidFill>
                  <a:schemeClr val="tx2"/>
                </a:solidFill>
                <a:latin typeface="Tahoma" panose="020B0604030504040204" pitchFamily="34" charset="0"/>
                <a:ea typeface="黑体" panose="02010609060101010101" pitchFamily="49" charset="-122"/>
              </a:rPr>
              <a:t>业务逻辑</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处理</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计算</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设计</a:t>
            </a:r>
            <a:endParaRPr lang="zh-CN" altLang="en-US" dirty="0">
              <a:solidFill>
                <a:schemeClr val="tx2"/>
              </a:solidFill>
              <a:latin typeface="Tahoma" panose="020B060403050404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 calcmode="lin" valueType="num">
                                      <p:cBhvr additive="base">
                                        <p:cTn id="7" dur="500" fill="hold"/>
                                        <p:tgtEl>
                                          <p:spTgt spid="2447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47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4739">
                                            <p:txEl>
                                              <p:pRg st="1" end="1"/>
                                            </p:txEl>
                                          </p:spTgt>
                                        </p:tgtEl>
                                        <p:attrNameLst>
                                          <p:attrName>style.visibility</p:attrName>
                                        </p:attrNameLst>
                                      </p:cBhvr>
                                      <p:to>
                                        <p:strVal val="visible"/>
                                      </p:to>
                                    </p:set>
                                    <p:anim calcmode="lin" valueType="num">
                                      <p:cBhvr additive="base">
                                        <p:cTn id="13" dur="500" fill="hold"/>
                                        <p:tgtEl>
                                          <p:spTgt spid="2447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47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4739">
                                            <p:txEl>
                                              <p:pRg st="2" end="2"/>
                                            </p:txEl>
                                          </p:spTgt>
                                        </p:tgtEl>
                                        <p:attrNameLst>
                                          <p:attrName>style.visibility</p:attrName>
                                        </p:attrNameLst>
                                      </p:cBhvr>
                                      <p:to>
                                        <p:strVal val="visible"/>
                                      </p:to>
                                    </p:set>
                                    <p:anim calcmode="lin" valueType="num">
                                      <p:cBhvr additive="base">
                                        <p:cTn id="19" dur="500" fill="hold"/>
                                        <p:tgtEl>
                                          <p:spTgt spid="2447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47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4739">
                                            <p:txEl>
                                              <p:pRg st="3" end="3"/>
                                            </p:txEl>
                                          </p:spTgt>
                                        </p:tgtEl>
                                        <p:attrNameLst>
                                          <p:attrName>style.visibility</p:attrName>
                                        </p:attrNameLst>
                                      </p:cBhvr>
                                      <p:to>
                                        <p:strVal val="visible"/>
                                      </p:to>
                                    </p:set>
                                    <p:anim calcmode="lin" valueType="num">
                                      <p:cBhvr additive="base">
                                        <p:cTn id="25" dur="500" fill="hold"/>
                                        <p:tgtEl>
                                          <p:spTgt spid="2447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47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4739">
                                            <p:txEl>
                                              <p:pRg st="4" end="4"/>
                                            </p:txEl>
                                          </p:spTgt>
                                        </p:tgtEl>
                                        <p:attrNameLst>
                                          <p:attrName>style.visibility</p:attrName>
                                        </p:attrNameLst>
                                      </p:cBhvr>
                                      <p:to>
                                        <p:strVal val="visible"/>
                                      </p:to>
                                    </p:set>
                                    <p:anim calcmode="lin" valueType="num">
                                      <p:cBhvr additive="base">
                                        <p:cTn id="31" dur="500" fill="hold"/>
                                        <p:tgtEl>
                                          <p:spTgt spid="2447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473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1026"/>
          <p:cNvSpPr>
            <a:spLocks noGrp="1" noChangeArrowheads="1"/>
          </p:cNvSpPr>
          <p:nvPr>
            <p:ph type="title"/>
          </p:nvPr>
        </p:nvSpPr>
        <p:spPr>
          <a:xfrm>
            <a:off x="609600" y="528320"/>
            <a:ext cx="7239000" cy="706755"/>
          </a:xfrm>
        </p:spPr>
        <p:txBody>
          <a:bodyPr/>
          <a:lstStyle/>
          <a:p>
            <a:r>
              <a:rPr lang="en-US" altLang="zh-CN" sz="4000">
                <a:ea typeface="黑体" panose="02010609060101010101" pitchFamily="49" charset="-122"/>
              </a:rPr>
              <a:t>4+1</a:t>
            </a:r>
            <a:r>
              <a:rPr lang="zh-CN" altLang="en-US" sz="4000">
                <a:ea typeface="黑体" panose="02010609060101010101" pitchFamily="49" charset="-122"/>
              </a:rPr>
              <a:t>商业</a:t>
            </a:r>
            <a:r>
              <a:rPr lang="zh-CN" altLang="en-US" sz="4000">
                <a:ea typeface="黑体" panose="02010609060101010101" pitchFamily="49" charset="-122"/>
              </a:rPr>
              <a:t>模式</a:t>
            </a:r>
            <a:endParaRPr lang="zh-CN" altLang="en-US" sz="4000">
              <a:ea typeface="黑体" panose="02010609060101010101" pitchFamily="49" charset="-122"/>
            </a:endParaRPr>
          </a:p>
        </p:txBody>
      </p:sp>
      <p:sp>
        <p:nvSpPr>
          <p:cNvPr id="244739" name="Rectangle 1027"/>
          <p:cNvSpPr>
            <a:spLocks noGrp="1" noChangeArrowheads="1"/>
          </p:cNvSpPr>
          <p:nvPr>
            <p:ph type="body" idx="1"/>
          </p:nvPr>
        </p:nvSpPr>
        <p:spPr>
          <a:xfrm>
            <a:off x="685800" y="2209800"/>
            <a:ext cx="7620000" cy="3429000"/>
          </a:xfrm>
        </p:spPr>
        <p:txBody>
          <a:bodyPr/>
          <a:lstStyle/>
          <a:p>
            <a:pPr marL="609600" indent="-609600" algn="just">
              <a:spcBef>
                <a:spcPct val="40000"/>
              </a:spcBef>
              <a:buFont typeface="Symbol" panose="05050102010706020507" pitchFamily="18" charset="2"/>
              <a:buAutoNum type="arabicParenR"/>
            </a:pPr>
            <a:r>
              <a:rPr lang="zh-CN" altLang="en-US" dirty="0">
                <a:solidFill>
                  <a:schemeClr val="tx2"/>
                </a:solidFill>
                <a:latin typeface="Tahoma" panose="020B0604030504040204" pitchFamily="34" charset="0"/>
                <a:ea typeface="黑体" panose="02010609060101010101" pitchFamily="49" charset="-122"/>
              </a:rPr>
              <a:t>产品</a:t>
            </a:r>
            <a:r>
              <a:rPr lang="en-US" altLang="zh-CN" dirty="0">
                <a:solidFill>
                  <a:schemeClr val="tx2"/>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服务的客户</a:t>
            </a:r>
            <a:r>
              <a:rPr lang="zh-CN" altLang="en-US" dirty="0">
                <a:solidFill>
                  <a:schemeClr val="tx2"/>
                </a:solidFill>
                <a:latin typeface="Tahoma" panose="020B0604030504040204" pitchFamily="34" charset="0"/>
                <a:ea typeface="黑体" panose="02010609060101010101" pitchFamily="49" charset="-122"/>
              </a:rPr>
              <a:t>价值</a:t>
            </a:r>
            <a:endParaRPr lang="zh-CN" altLang="en-US" dirty="0">
              <a:solidFill>
                <a:schemeClr val="tx2"/>
              </a:solidFill>
              <a:latin typeface="Tahoma" panose="020B0604030504040204" pitchFamily="34" charset="0"/>
              <a:ea typeface="黑体" panose="02010609060101010101" pitchFamily="49" charset="-122"/>
            </a:endParaRPr>
          </a:p>
          <a:p>
            <a:pPr marL="609600" indent="-609600" algn="just">
              <a:spcBef>
                <a:spcPct val="40000"/>
              </a:spcBef>
              <a:buFont typeface="Symbol" panose="05050102010706020507" pitchFamily="18" charset="2"/>
              <a:buAutoNum type="arabicParenR"/>
            </a:pPr>
            <a:r>
              <a:rPr lang="zh-CN" altLang="en-US" dirty="0">
                <a:solidFill>
                  <a:schemeClr val="tx2"/>
                </a:solidFill>
                <a:latin typeface="Tahoma" panose="020B0604030504040204" pitchFamily="34" charset="0"/>
                <a:ea typeface="黑体" panose="02010609060101010101" pitchFamily="49" charset="-122"/>
              </a:rPr>
              <a:t>组织与</a:t>
            </a:r>
            <a:r>
              <a:rPr lang="zh-CN" altLang="en-US" dirty="0">
                <a:solidFill>
                  <a:schemeClr val="tx2"/>
                </a:solidFill>
                <a:latin typeface="Tahoma" panose="020B0604030504040204" pitchFamily="34" charset="0"/>
                <a:ea typeface="黑体" panose="02010609060101010101" pitchFamily="49" charset="-122"/>
              </a:rPr>
              <a:t>流程</a:t>
            </a:r>
            <a:endParaRPr lang="zh-CN" altLang="en-US" dirty="0">
              <a:solidFill>
                <a:schemeClr val="tx2"/>
              </a:solidFill>
              <a:latin typeface="Tahoma" panose="020B0604030504040204" pitchFamily="34" charset="0"/>
              <a:ea typeface="黑体" panose="02010609060101010101" pitchFamily="49" charset="-122"/>
            </a:endParaRPr>
          </a:p>
          <a:p>
            <a:pPr marL="609600" indent="-609600" algn="just">
              <a:spcBef>
                <a:spcPct val="40000"/>
              </a:spcBef>
              <a:buFont typeface="Symbol" panose="05050102010706020507" pitchFamily="18" charset="2"/>
              <a:buAutoNum type="arabicParenR"/>
            </a:pPr>
            <a:r>
              <a:rPr lang="zh-CN" altLang="en-US" dirty="0">
                <a:solidFill>
                  <a:schemeClr val="tx2"/>
                </a:solidFill>
                <a:latin typeface="Tahoma" panose="020B0604030504040204" pitchFamily="34" charset="0"/>
                <a:ea typeface="黑体" panose="02010609060101010101" pitchFamily="49" charset="-122"/>
              </a:rPr>
              <a:t>关键</a:t>
            </a:r>
            <a:r>
              <a:rPr lang="zh-CN" altLang="en-US" dirty="0">
                <a:solidFill>
                  <a:schemeClr val="tx2"/>
                </a:solidFill>
                <a:latin typeface="Tahoma" panose="020B0604030504040204" pitchFamily="34" charset="0"/>
                <a:ea typeface="黑体" panose="02010609060101010101" pitchFamily="49" charset="-122"/>
              </a:rPr>
              <a:t>资源</a:t>
            </a:r>
            <a:endParaRPr lang="zh-CN" altLang="en-US" dirty="0">
              <a:solidFill>
                <a:schemeClr val="tx2"/>
              </a:solidFill>
              <a:latin typeface="Tahoma" panose="020B0604030504040204" pitchFamily="34" charset="0"/>
              <a:ea typeface="黑体" panose="02010609060101010101" pitchFamily="49" charset="-122"/>
            </a:endParaRPr>
          </a:p>
          <a:p>
            <a:pPr marL="609600" indent="-609600" algn="just">
              <a:spcBef>
                <a:spcPct val="40000"/>
              </a:spcBef>
              <a:buFont typeface="Symbol" panose="05050102010706020507" pitchFamily="18" charset="2"/>
              <a:buAutoNum type="arabicParenR"/>
            </a:pPr>
            <a:r>
              <a:rPr lang="zh-CN" altLang="en-US" dirty="0">
                <a:solidFill>
                  <a:schemeClr val="tx2"/>
                </a:solidFill>
                <a:latin typeface="Tahoma" panose="020B0604030504040204" pitchFamily="34" charset="0"/>
                <a:ea typeface="黑体" panose="02010609060101010101" pitchFamily="49" charset="-122"/>
              </a:rPr>
              <a:t>收入</a:t>
            </a:r>
            <a:r>
              <a:rPr lang="zh-CN" altLang="en-US" dirty="0">
                <a:solidFill>
                  <a:schemeClr val="tx2"/>
                </a:solidFill>
                <a:latin typeface="Tahoma" panose="020B0604030504040204" pitchFamily="34" charset="0"/>
                <a:ea typeface="黑体" panose="02010609060101010101" pitchFamily="49" charset="-122"/>
              </a:rPr>
              <a:t>模式</a:t>
            </a:r>
            <a:endParaRPr lang="zh-CN" altLang="en-US" dirty="0">
              <a:solidFill>
                <a:schemeClr val="tx2"/>
              </a:solidFill>
              <a:latin typeface="Tahoma" panose="020B0604030504040204" pitchFamily="34" charset="0"/>
              <a:ea typeface="黑体" panose="02010609060101010101" pitchFamily="49" charset="-122"/>
            </a:endParaRPr>
          </a:p>
          <a:p>
            <a:pPr marL="0" indent="0" algn="just">
              <a:spcBef>
                <a:spcPct val="40000"/>
              </a:spcBef>
              <a:buFont typeface="Symbol" panose="05050102010706020507" pitchFamily="18" charset="2"/>
              <a:buNone/>
            </a:pPr>
            <a:r>
              <a:rPr lang="en-US" altLang="zh-CN" sz="2400" dirty="0">
                <a:solidFill>
                  <a:srgbClr val="92D050"/>
                </a:solidFill>
                <a:latin typeface="Tahoma" panose="020B0604030504040204" pitchFamily="34" charset="0"/>
                <a:ea typeface="黑体" panose="02010609060101010101" pitchFamily="49" charset="-122"/>
              </a:rPr>
              <a:t>+1</a:t>
            </a:r>
            <a:r>
              <a:rPr lang="zh-CN" altLang="en-US" sz="2400" dirty="0">
                <a:solidFill>
                  <a:srgbClr val="92D050"/>
                </a:solidFill>
                <a:latin typeface="Tahoma" panose="020B0604030504040204" pitchFamily="34" charset="0"/>
                <a:ea typeface="黑体" panose="02010609060101010101" pitchFamily="49" charset="-122"/>
              </a:rPr>
              <a:t>）</a:t>
            </a:r>
            <a:r>
              <a:rPr lang="zh-CN" altLang="en-US" dirty="0">
                <a:solidFill>
                  <a:schemeClr val="tx2"/>
                </a:solidFill>
                <a:latin typeface="Tahoma" panose="020B0604030504040204" pitchFamily="34" charset="0"/>
                <a:ea typeface="黑体" panose="02010609060101010101" pitchFamily="49" charset="-122"/>
              </a:rPr>
              <a:t>以</a:t>
            </a:r>
            <a:r>
              <a:rPr lang="en-US" altLang="zh-CN" dirty="0">
                <a:solidFill>
                  <a:schemeClr val="tx2"/>
                </a:solidFill>
                <a:latin typeface="Tahoma" panose="020B0604030504040204" pitchFamily="34" charset="0"/>
                <a:ea typeface="黑体" panose="02010609060101010101" pitchFamily="49" charset="-122"/>
              </a:rPr>
              <a:t>IT</a:t>
            </a:r>
            <a:r>
              <a:rPr lang="zh-CN" altLang="en-US" dirty="0">
                <a:solidFill>
                  <a:schemeClr val="tx2"/>
                </a:solidFill>
                <a:latin typeface="Tahoma" panose="020B0604030504040204" pitchFamily="34" charset="0"/>
                <a:ea typeface="黑体" panose="02010609060101010101" pitchFamily="49" charset="-122"/>
              </a:rPr>
              <a:t>为基础的基础</a:t>
            </a:r>
            <a:r>
              <a:rPr lang="zh-CN" altLang="en-US" dirty="0">
                <a:solidFill>
                  <a:schemeClr val="tx2"/>
                </a:solidFill>
                <a:latin typeface="Tahoma" panose="020B0604030504040204" pitchFamily="34" charset="0"/>
                <a:ea typeface="黑体" panose="02010609060101010101" pitchFamily="49" charset="-122"/>
              </a:rPr>
              <a:t>设施</a:t>
            </a:r>
            <a:endParaRPr lang="zh-CN" altLang="en-US" dirty="0">
              <a:solidFill>
                <a:schemeClr val="tx2"/>
              </a:solidFill>
              <a:latin typeface="Tahoma" panose="020B060403050404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 calcmode="lin" valueType="num">
                                      <p:cBhvr additive="base">
                                        <p:cTn id="7" dur="500" fill="hold"/>
                                        <p:tgtEl>
                                          <p:spTgt spid="2447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47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4739">
                                            <p:txEl>
                                              <p:pRg st="1" end="1"/>
                                            </p:txEl>
                                          </p:spTgt>
                                        </p:tgtEl>
                                        <p:attrNameLst>
                                          <p:attrName>style.visibility</p:attrName>
                                        </p:attrNameLst>
                                      </p:cBhvr>
                                      <p:to>
                                        <p:strVal val="visible"/>
                                      </p:to>
                                    </p:set>
                                    <p:anim calcmode="lin" valueType="num">
                                      <p:cBhvr additive="base">
                                        <p:cTn id="13" dur="500" fill="hold"/>
                                        <p:tgtEl>
                                          <p:spTgt spid="2447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47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4739">
                                            <p:txEl>
                                              <p:pRg st="2" end="2"/>
                                            </p:txEl>
                                          </p:spTgt>
                                        </p:tgtEl>
                                        <p:attrNameLst>
                                          <p:attrName>style.visibility</p:attrName>
                                        </p:attrNameLst>
                                      </p:cBhvr>
                                      <p:to>
                                        <p:strVal val="visible"/>
                                      </p:to>
                                    </p:set>
                                    <p:anim calcmode="lin" valueType="num">
                                      <p:cBhvr additive="base">
                                        <p:cTn id="19" dur="500" fill="hold"/>
                                        <p:tgtEl>
                                          <p:spTgt spid="2447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47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4739">
                                            <p:txEl>
                                              <p:pRg st="3" end="3"/>
                                            </p:txEl>
                                          </p:spTgt>
                                        </p:tgtEl>
                                        <p:attrNameLst>
                                          <p:attrName>style.visibility</p:attrName>
                                        </p:attrNameLst>
                                      </p:cBhvr>
                                      <p:to>
                                        <p:strVal val="visible"/>
                                      </p:to>
                                    </p:set>
                                    <p:anim calcmode="lin" valueType="num">
                                      <p:cBhvr additive="base">
                                        <p:cTn id="25" dur="500" fill="hold"/>
                                        <p:tgtEl>
                                          <p:spTgt spid="2447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47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4739">
                                            <p:txEl>
                                              <p:pRg st="4" end="4"/>
                                            </p:txEl>
                                          </p:spTgt>
                                        </p:tgtEl>
                                        <p:attrNameLst>
                                          <p:attrName>style.visibility</p:attrName>
                                        </p:attrNameLst>
                                      </p:cBhvr>
                                      <p:to>
                                        <p:strVal val="visible"/>
                                      </p:to>
                                    </p:set>
                                    <p:anim calcmode="lin" valueType="num">
                                      <p:cBhvr additive="base">
                                        <p:cTn id="31" dur="500" fill="hold"/>
                                        <p:tgtEl>
                                          <p:spTgt spid="2447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473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ctrTitle" idx="4294967295"/>
          </p:nvPr>
        </p:nvSpPr>
        <p:spPr>
          <a:xfrm>
            <a:off x="381110" y="4343376"/>
            <a:ext cx="8610494" cy="1200329"/>
          </a:xfrm>
        </p:spPr>
        <p:txBody>
          <a:bodyPr/>
          <a:lstStyle/>
          <a:p>
            <a:pPr eaLnBrk="1" hangingPunct="1"/>
            <a:r>
              <a:rPr lang="zh-CN" altLang="zh-CN" sz="3600" dirty="0" smtClean="0"/>
              <a:t>Applying UML and</a:t>
            </a:r>
            <a:r>
              <a:rPr lang="en-US" altLang="zh-CN" sz="3600" dirty="0" smtClean="0"/>
              <a:t> </a:t>
            </a:r>
            <a:r>
              <a:rPr lang="zh-CN" altLang="zh-CN" sz="3600" dirty="0" smtClean="0"/>
              <a:t>Patterns in OOA/OOD</a:t>
            </a:r>
            <a:endParaRPr lang="zh-CN" altLang="zh-CN" sz="3600" dirty="0" smtClean="0"/>
          </a:p>
        </p:txBody>
      </p:sp>
      <p:sp>
        <p:nvSpPr>
          <p:cNvPr id="52227" name="Rectangle 3"/>
          <p:cNvSpPr>
            <a:spLocks noGrp="1" noChangeArrowheads="1"/>
          </p:cNvSpPr>
          <p:nvPr>
            <p:ph type="subTitle" idx="4294967295"/>
          </p:nvPr>
        </p:nvSpPr>
        <p:spPr>
          <a:xfrm>
            <a:off x="381110" y="1905040"/>
            <a:ext cx="8559800" cy="1143000"/>
          </a:xfrm>
        </p:spPr>
        <p:txBody>
          <a:bodyPr/>
          <a:lstStyle/>
          <a:p>
            <a:pPr marL="0" indent="0" algn="r" eaLnBrk="1" hangingPunct="1">
              <a:buFont typeface="Wingdings" panose="05000000000000000000" pitchFamily="2" charset="2"/>
              <a:buNone/>
            </a:pPr>
            <a:r>
              <a:rPr lang="zh-CN" altLang="zh-CN" sz="4800" dirty="0" smtClean="0">
                <a:latin typeface="Calibri" panose="020F0502020204030204" pitchFamily="34" charset="0"/>
              </a:rPr>
              <a:t>What is a good object design?</a:t>
            </a:r>
            <a:endParaRPr lang="zh-CN" altLang="zh-CN" sz="4800" dirty="0" smtClean="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box(in)">
                                      <p:cBhvr>
                                        <p:cTn id="7" dur="500"/>
                                        <p:tgtEl>
                                          <p:spTgt spid="5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p:txBody>
          <a:bodyPr/>
          <a:lstStyle/>
          <a:p>
            <a:pPr eaLnBrk="1" hangingPunct="1"/>
            <a:r>
              <a:rPr lang="zh-CN" altLang="zh-CN" smtClean="0"/>
              <a:t>Applying UML</a:t>
            </a:r>
            <a:endParaRPr lang="zh-CN" altLang="zh-CN" smtClean="0"/>
          </a:p>
        </p:txBody>
      </p:sp>
      <p:sp>
        <p:nvSpPr>
          <p:cNvPr id="53251" name="Rectangle 3"/>
          <p:cNvSpPr>
            <a:spLocks noGrp="1" noChangeArrowheads="1"/>
          </p:cNvSpPr>
          <p:nvPr>
            <p:ph type="body" idx="4294967295"/>
          </p:nvPr>
        </p:nvSpPr>
        <p:spPr/>
        <p:txBody>
          <a:bodyPr/>
          <a:lstStyle/>
          <a:p>
            <a:pPr eaLnBrk="1" hangingPunct="1"/>
            <a:r>
              <a:rPr lang="zh-CN" altLang="zh-CN" smtClean="0"/>
              <a:t>UML is just a standard diagramming notation.  It is just a tool, not a skill that is valuable in itself.  Knowing UML helps you communicate with others in creating software, but the real work in this course is learning Object-Oriented Analysis and Design, not how to draw diagrams.</a:t>
            </a:r>
            <a:endParaRPr lang="zh-CN" altLang="zh-CN"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304912" y="533476"/>
            <a:ext cx="8637588" cy="830997"/>
          </a:xfrm>
        </p:spPr>
        <p:txBody>
          <a:bodyPr/>
          <a:lstStyle/>
          <a:p>
            <a:pPr eaLnBrk="1" hangingPunct="1"/>
            <a:r>
              <a:rPr lang="zh-CN" altLang="zh-CN" sz="4800" dirty="0" smtClean="0">
                <a:latin typeface="Calibri" panose="020F0502020204030204" pitchFamily="34" charset="0"/>
              </a:rPr>
              <a:t>Assigning Responsibilities</a:t>
            </a:r>
            <a:endParaRPr lang="zh-CN" altLang="zh-CN" sz="4800" dirty="0" smtClean="0">
              <a:latin typeface="Calibri" panose="020F0502020204030204" pitchFamily="34" charset="0"/>
            </a:endParaRPr>
          </a:p>
        </p:txBody>
      </p:sp>
      <p:sp>
        <p:nvSpPr>
          <p:cNvPr id="54275" name="Rectangle 3"/>
          <p:cNvSpPr>
            <a:spLocks noGrp="1" noChangeArrowheads="1"/>
          </p:cNvSpPr>
          <p:nvPr>
            <p:ph type="body" idx="4294967295"/>
          </p:nvPr>
        </p:nvSpPr>
        <p:spPr>
          <a:xfrm>
            <a:off x="304912" y="2057436"/>
            <a:ext cx="8510475" cy="4114800"/>
          </a:xfrm>
        </p:spPr>
        <p:txBody>
          <a:bodyPr/>
          <a:lstStyle/>
          <a:p>
            <a:pPr eaLnBrk="1" hangingPunct="1">
              <a:lnSpc>
                <a:spcPct val="120000"/>
              </a:lnSpc>
              <a:spcBef>
                <a:spcPts val="1800"/>
              </a:spcBef>
            </a:pPr>
            <a:r>
              <a:rPr lang="zh-CN" altLang="zh-CN" dirty="0" smtClean="0">
                <a:latin typeface="Calibri" panose="020F0502020204030204" pitchFamily="34" charset="0"/>
              </a:rPr>
              <a:t>The most important skill in Object-Oriented Analysis and Design is assigning responsibilities to objects.  That determines how objects interact and what classes should perform what operations.</a:t>
            </a:r>
            <a:endParaRPr lang="zh-CN" altLang="zh-CN"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381110" y="533476"/>
            <a:ext cx="8457978" cy="830997"/>
          </a:xfrm>
        </p:spPr>
        <p:txBody>
          <a:bodyPr/>
          <a:lstStyle/>
          <a:p>
            <a:pPr eaLnBrk="1" hangingPunct="1"/>
            <a:r>
              <a:rPr lang="zh-CN" altLang="zh-CN" sz="4800" dirty="0" smtClean="0">
                <a:latin typeface="Calibri" panose="020F0502020204030204" pitchFamily="34" charset="0"/>
              </a:rPr>
              <a:t>Design Patterns</a:t>
            </a:r>
            <a:endParaRPr lang="zh-CN" altLang="zh-CN" sz="4800" dirty="0" smtClean="0">
              <a:latin typeface="Calibri" panose="020F0502020204030204" pitchFamily="34" charset="0"/>
            </a:endParaRPr>
          </a:p>
        </p:txBody>
      </p:sp>
      <p:sp>
        <p:nvSpPr>
          <p:cNvPr id="55299" name="Rectangle 3"/>
          <p:cNvSpPr>
            <a:spLocks noGrp="1" noChangeArrowheads="1"/>
          </p:cNvSpPr>
          <p:nvPr>
            <p:ph type="body" idx="4294967295"/>
          </p:nvPr>
        </p:nvSpPr>
        <p:spPr>
          <a:xfrm>
            <a:off x="228714" y="1941513"/>
            <a:ext cx="8534176" cy="4114800"/>
          </a:xfrm>
        </p:spPr>
        <p:txBody>
          <a:bodyPr/>
          <a:lstStyle/>
          <a:p>
            <a:pPr eaLnBrk="1" hangingPunct="1">
              <a:lnSpc>
                <a:spcPct val="120000"/>
              </a:lnSpc>
              <a:spcBef>
                <a:spcPts val="1800"/>
              </a:spcBef>
            </a:pPr>
            <a:r>
              <a:rPr lang="zh-CN" altLang="zh-CN" dirty="0" smtClean="0">
                <a:latin typeface="Calibri" panose="020F0502020204030204" pitchFamily="34" charset="0"/>
              </a:rPr>
              <a:t>Certain tried-and-true solutions to design problems have been expressed as principles of best practice, often in the form of </a:t>
            </a:r>
            <a:r>
              <a:rPr lang="zh-CN" altLang="zh-CN" b="1" i="1" dirty="0" smtClean="0">
                <a:latin typeface="Calibri" panose="020F0502020204030204" pitchFamily="34" charset="0"/>
              </a:rPr>
              <a:t>Design Patterns</a:t>
            </a:r>
            <a:r>
              <a:rPr lang="zh-CN" altLang="zh-CN" dirty="0" smtClean="0">
                <a:latin typeface="Calibri" panose="020F0502020204030204" pitchFamily="34" charset="0"/>
              </a:rPr>
              <a:t>.</a:t>
            </a:r>
            <a:endParaRPr lang="zh-CN" altLang="zh-CN" dirty="0" smtClean="0">
              <a:latin typeface="Calibri" panose="020F0502020204030204" pitchFamily="34" charset="0"/>
            </a:endParaRPr>
          </a:p>
          <a:p>
            <a:pPr eaLnBrk="1" hangingPunct="1">
              <a:lnSpc>
                <a:spcPct val="120000"/>
              </a:lnSpc>
              <a:spcBef>
                <a:spcPts val="1800"/>
              </a:spcBef>
            </a:pPr>
            <a:r>
              <a:rPr lang="zh-CN" altLang="zh-CN" dirty="0" smtClean="0">
                <a:latin typeface="Calibri" panose="020F0502020204030204" pitchFamily="34" charset="0"/>
              </a:rPr>
              <a:t>A Design Pattern is a named problem solution formula that apply excellent design principles.</a:t>
            </a:r>
            <a:endParaRPr lang="zh-CN" altLang="zh-CN"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506412" y="457278"/>
            <a:ext cx="8637588" cy="830997"/>
          </a:xfrm>
        </p:spPr>
        <p:txBody>
          <a:bodyPr/>
          <a:lstStyle/>
          <a:p>
            <a:pPr eaLnBrk="1" hangingPunct="1"/>
            <a:r>
              <a:rPr lang="zh-CN" altLang="zh-CN" sz="4800" dirty="0" smtClean="0">
                <a:latin typeface="Calibri" panose="020F0502020204030204" pitchFamily="34" charset="0"/>
              </a:rPr>
              <a:t>Requirements Analysis</a:t>
            </a:r>
            <a:endParaRPr lang="zh-CN" altLang="zh-CN" sz="4800" dirty="0" smtClean="0">
              <a:latin typeface="Calibri" panose="020F0502020204030204" pitchFamily="34" charset="0"/>
            </a:endParaRPr>
          </a:p>
        </p:txBody>
      </p:sp>
      <p:sp>
        <p:nvSpPr>
          <p:cNvPr id="56323" name="Rectangle 3"/>
          <p:cNvSpPr>
            <a:spLocks noGrp="1" noChangeArrowheads="1"/>
          </p:cNvSpPr>
          <p:nvPr>
            <p:ph type="body" idx="4294967295"/>
          </p:nvPr>
        </p:nvSpPr>
        <p:spPr>
          <a:xfrm>
            <a:off x="328613" y="1941512"/>
            <a:ext cx="8208962" cy="4611605"/>
          </a:xfrm>
        </p:spPr>
        <p:txBody>
          <a:bodyPr/>
          <a:lstStyle/>
          <a:p>
            <a:pPr eaLnBrk="1" hangingPunct="1">
              <a:spcBef>
                <a:spcPts val="1800"/>
              </a:spcBef>
            </a:pPr>
            <a:r>
              <a:rPr lang="zh-CN" altLang="zh-CN" dirty="0" smtClean="0">
                <a:latin typeface="Calibri" panose="020F0502020204030204" pitchFamily="34" charset="0"/>
              </a:rPr>
              <a:t>All Software Analysis and Design is preceded by the analysis of requirements.</a:t>
            </a:r>
            <a:endParaRPr lang="zh-CN" altLang="zh-CN" dirty="0" smtClean="0">
              <a:latin typeface="Calibri" panose="020F0502020204030204" pitchFamily="34" charset="0"/>
            </a:endParaRPr>
          </a:p>
          <a:p>
            <a:pPr eaLnBrk="1" hangingPunct="1">
              <a:spcBef>
                <a:spcPts val="1800"/>
              </a:spcBef>
            </a:pPr>
            <a:r>
              <a:rPr lang="zh-CN" altLang="zh-CN" dirty="0" smtClean="0">
                <a:latin typeface="Calibri" panose="020F0502020204030204" pitchFamily="34" charset="0"/>
              </a:rPr>
              <a:t>One of the basic principles of good design is to </a:t>
            </a:r>
            <a:r>
              <a:rPr lang="zh-CN" altLang="zh-CN" dirty="0" smtClean="0">
                <a:solidFill>
                  <a:schemeClr val="accent2"/>
                </a:solidFill>
                <a:latin typeface="Calibri" panose="020F0502020204030204" pitchFamily="34" charset="0"/>
              </a:rPr>
              <a:t>defer decisions as long as possible.</a:t>
            </a:r>
            <a:r>
              <a:rPr lang="zh-CN" altLang="zh-CN" dirty="0" smtClean="0">
                <a:latin typeface="Calibri" panose="020F0502020204030204" pitchFamily="34" charset="0"/>
              </a:rPr>
              <a:t> The more you know before you make a design decision, the more likely it will be that the decision is a good one.</a:t>
            </a:r>
            <a:endParaRPr lang="zh-CN" altLang="zh-CN" dirty="0" smtClean="0">
              <a:latin typeface="Calibri" panose="020F0502020204030204" pitchFamily="34" charset="0"/>
            </a:endParaRPr>
          </a:p>
          <a:p>
            <a:pPr eaLnBrk="1" hangingPunct="1">
              <a:spcBef>
                <a:spcPts val="1800"/>
              </a:spcBef>
            </a:pPr>
            <a:r>
              <a:rPr lang="zh-CN" altLang="zh-CN" dirty="0" smtClean="0">
                <a:latin typeface="Calibri" panose="020F0502020204030204" pitchFamily="34" charset="0"/>
              </a:rPr>
              <a:t>TFCL: </a:t>
            </a:r>
            <a:r>
              <a:rPr lang="zh-CN" altLang="zh-CN" b="1" i="1" dirty="0" smtClean="0">
                <a:solidFill>
                  <a:srgbClr val="FFC000"/>
                </a:solidFill>
                <a:latin typeface="Calibri" panose="020F0502020204030204" pitchFamily="34" charset="0"/>
              </a:rPr>
              <a:t>Think First, Code Later!</a:t>
            </a:r>
            <a:endParaRPr lang="zh-CN" altLang="zh-CN" b="1" i="1" dirty="0" smtClean="0">
              <a:solidFill>
                <a:srgbClr val="FFC000"/>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a:xfrm>
            <a:off x="457308" y="457278"/>
            <a:ext cx="8229384" cy="830997"/>
          </a:xfrm>
        </p:spPr>
        <p:txBody>
          <a:bodyPr/>
          <a:lstStyle/>
          <a:p>
            <a:pPr eaLnBrk="1" hangingPunct="1"/>
            <a:r>
              <a:rPr lang="zh-CN" altLang="zh-CN" sz="4800" dirty="0" smtClean="0">
                <a:latin typeface="Calibri" panose="020F0502020204030204" pitchFamily="34" charset="0"/>
              </a:rPr>
              <a:t>Use Cases</a:t>
            </a:r>
            <a:endParaRPr lang="zh-CN" altLang="zh-CN" sz="4800" dirty="0" smtClean="0">
              <a:latin typeface="Calibri" panose="020F0502020204030204" pitchFamily="34" charset="0"/>
            </a:endParaRPr>
          </a:p>
        </p:txBody>
      </p:sp>
      <p:sp>
        <p:nvSpPr>
          <p:cNvPr id="57347" name="Rectangle 3"/>
          <p:cNvSpPr>
            <a:spLocks noGrp="1" noChangeArrowheads="1"/>
          </p:cNvSpPr>
          <p:nvPr>
            <p:ph type="body" idx="4294967295"/>
          </p:nvPr>
        </p:nvSpPr>
        <p:spPr>
          <a:xfrm>
            <a:off x="457307" y="2133633"/>
            <a:ext cx="8080267" cy="3922679"/>
          </a:xfrm>
        </p:spPr>
        <p:txBody>
          <a:bodyPr/>
          <a:lstStyle/>
          <a:p>
            <a:pPr eaLnBrk="1" hangingPunct="1">
              <a:lnSpc>
                <a:spcPct val="110000"/>
              </a:lnSpc>
            </a:pPr>
            <a:r>
              <a:rPr lang="zh-CN" altLang="zh-CN" dirty="0" smtClean="0">
                <a:latin typeface="Calibri" panose="020F0502020204030204" pitchFamily="34" charset="0"/>
              </a:rPr>
              <a:t>Writing Use Cases is not a specifically Object Oriented practice.  But it is a best practice for elaborating and understanding requirements.  So we will study Use Cases.</a:t>
            </a:r>
            <a:endParaRPr lang="zh-CN" altLang="zh-CN"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308" y="685872"/>
            <a:ext cx="8573978" cy="762000"/>
          </a:xfrm>
        </p:spPr>
        <p:txBody>
          <a:bodyPr/>
          <a:lstStyle/>
          <a:p>
            <a:pPr eaLnBrk="1" hangingPunct="1"/>
            <a:r>
              <a:rPr lang="zh-CN" altLang="zh-CN" dirty="0" smtClean="0">
                <a:latin typeface="Calibri" panose="020F0502020204030204" pitchFamily="34" charset="0"/>
              </a:rPr>
              <a:t>Definition</a:t>
            </a:r>
            <a:r>
              <a:rPr lang="en-US" altLang="zh-CN" dirty="0" smtClean="0">
                <a:latin typeface="Calibri" panose="020F0502020204030204" pitchFamily="34" charset="0"/>
              </a:rPr>
              <a:t> of Software </a:t>
            </a:r>
            <a:r>
              <a:rPr lang="zh-CN" altLang="zh-CN" dirty="0" smtClean="0">
                <a:latin typeface="Calibri" panose="020F0502020204030204" pitchFamily="34" charset="0"/>
              </a:rPr>
              <a:t>Architecture </a:t>
            </a:r>
            <a:endParaRPr lang="en-US" altLang="zh-CN" dirty="0" smtClean="0"/>
          </a:p>
        </p:txBody>
      </p:sp>
      <p:sp>
        <p:nvSpPr>
          <p:cNvPr id="16387" name="Rectangle 3"/>
          <p:cNvSpPr>
            <a:spLocks noGrp="1" noChangeArrowheads="1"/>
          </p:cNvSpPr>
          <p:nvPr>
            <p:ph type="body" idx="1"/>
          </p:nvPr>
        </p:nvSpPr>
        <p:spPr/>
        <p:txBody>
          <a:bodyPr/>
          <a:lstStyle/>
          <a:p>
            <a:pPr eaLnBrk="1" hangingPunct="1">
              <a:lnSpc>
                <a:spcPct val="110000"/>
              </a:lnSpc>
              <a:spcBef>
                <a:spcPts val="1800"/>
              </a:spcBef>
            </a:pPr>
            <a:r>
              <a:rPr lang="zh-CN" altLang="zh-CN" dirty="0" smtClean="0">
                <a:latin typeface="Calibri" panose="020F0502020204030204" pitchFamily="34" charset="0"/>
              </a:rPr>
              <a:t>Software Architecture:There are various forms of it. But the common theme is that it has to do with large scale-the Big Ideas in the forces, organization, styles, patterns, responsibilities, collaborations, connections and motivations of a system and major subsystems.</a:t>
            </a:r>
            <a:endParaRPr lang="zh-CN" altLang="zh-CN" dirty="0" smtClean="0">
              <a:latin typeface="Calibri" panose="020F0502020204030204" pitchFamily="34" charset="0"/>
            </a:endParaRPr>
          </a:p>
          <a:p>
            <a:pPr eaLnBrk="1" hangingPunct="1">
              <a:buFont typeface="Wingdings" panose="05000000000000000000" pitchFamily="2" charset="2"/>
              <a:buNone/>
            </a:pPr>
            <a:endParaRPr lang="zh-CN" altLang="zh-CN" dirty="0" smtClean="0"/>
          </a:p>
          <a:p>
            <a:pPr eaLnBrk="1" hangingPunct="1"/>
            <a:endParaRPr lang="en-US" altLang="zh-CN"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81110" y="533476"/>
            <a:ext cx="8561390" cy="762000"/>
          </a:xfrm>
        </p:spPr>
        <p:txBody>
          <a:bodyPr/>
          <a:lstStyle/>
          <a:p>
            <a:pPr eaLnBrk="1" hangingPunct="1"/>
            <a:r>
              <a:rPr lang="zh-CN" altLang="en-US" dirty="0" smtClean="0">
                <a:ea typeface="黑体" panose="02010609060101010101" pitchFamily="49" charset="-122"/>
              </a:rPr>
              <a:t>软件架构</a:t>
            </a:r>
            <a:endParaRPr lang="zh-CN" altLang="en-US" dirty="0" smtClean="0">
              <a:ea typeface="黑体" panose="02010609060101010101" pitchFamily="49" charset="-122"/>
            </a:endParaRPr>
          </a:p>
        </p:txBody>
      </p:sp>
      <p:sp>
        <p:nvSpPr>
          <p:cNvPr id="17411" name="Rectangle 3"/>
          <p:cNvSpPr>
            <a:spLocks noGrp="1" noChangeArrowheads="1"/>
          </p:cNvSpPr>
          <p:nvPr>
            <p:ph type="body" idx="1"/>
          </p:nvPr>
        </p:nvSpPr>
        <p:spPr/>
        <p:txBody>
          <a:bodyPr/>
          <a:lstStyle/>
          <a:p>
            <a:pPr eaLnBrk="1" hangingPunct="1">
              <a:lnSpc>
                <a:spcPct val="110000"/>
              </a:lnSpc>
              <a:spcBef>
                <a:spcPts val="1800"/>
              </a:spcBef>
            </a:pPr>
            <a:r>
              <a:rPr lang="zh-CN" altLang="en-US" dirty="0" smtClean="0">
                <a:ea typeface="黑体" panose="02010609060101010101" pitchFamily="49" charset="-122"/>
              </a:rPr>
              <a:t>软件架构 = {</a:t>
            </a:r>
            <a:r>
              <a:rPr lang="en-US" altLang="en-US" dirty="0" smtClean="0">
                <a:ea typeface="黑体" panose="02010609060101010101" pitchFamily="49" charset="-122"/>
              </a:rPr>
              <a:t> </a:t>
            </a:r>
            <a:r>
              <a:rPr lang="zh-CN" altLang="en-US" dirty="0" smtClean="0">
                <a:ea typeface="黑体" panose="02010609060101010101" pitchFamily="49" charset="-122"/>
              </a:rPr>
              <a:t>结构元 (</a:t>
            </a:r>
            <a:r>
              <a:rPr lang="zh-CN" altLang="zh-CN" dirty="0" smtClean="0">
                <a:ea typeface="黑体" panose="02010609060101010101" pitchFamily="49" charset="-122"/>
              </a:rPr>
              <a:t>Elements), </a:t>
            </a:r>
            <a:r>
              <a:rPr lang="en-US" altLang="zh-CN" dirty="0" smtClean="0">
                <a:ea typeface="黑体" panose="02010609060101010101" pitchFamily="49" charset="-122"/>
              </a:rPr>
              <a:t> </a:t>
            </a:r>
            <a:r>
              <a:rPr lang="zh-CN" altLang="en-US" dirty="0" smtClean="0">
                <a:ea typeface="黑体" panose="02010609060101010101" pitchFamily="49" charset="-122"/>
              </a:rPr>
              <a:t>结构型(</a:t>
            </a:r>
            <a:r>
              <a:rPr lang="zh-CN" altLang="zh-CN" dirty="0" smtClean="0">
                <a:ea typeface="黑体" panose="02010609060101010101" pitchFamily="49" charset="-122"/>
              </a:rPr>
              <a:t>Forms), </a:t>
            </a:r>
            <a:r>
              <a:rPr lang="en-US" altLang="zh-CN" dirty="0" smtClean="0">
                <a:ea typeface="黑体" panose="02010609060101010101" pitchFamily="49" charset="-122"/>
              </a:rPr>
              <a:t> </a:t>
            </a:r>
            <a:r>
              <a:rPr lang="zh-CN" altLang="en-US" dirty="0" smtClean="0">
                <a:ea typeface="黑体" panose="02010609060101010101" pitchFamily="49" charset="-122"/>
              </a:rPr>
              <a:t>结构理 (</a:t>
            </a:r>
            <a:r>
              <a:rPr lang="zh-CN" altLang="zh-CN" dirty="0" smtClean="0">
                <a:ea typeface="黑体" panose="02010609060101010101" pitchFamily="49" charset="-122"/>
              </a:rPr>
              <a:t>Rationale) }</a:t>
            </a:r>
            <a:endParaRPr lang="zh-CN" altLang="zh-CN" dirty="0" smtClean="0">
              <a:ea typeface="黑体" panose="02010609060101010101" pitchFamily="49" charset="-122"/>
            </a:endParaRPr>
          </a:p>
          <a:p>
            <a:pPr eaLnBrk="1" hangingPunct="1">
              <a:lnSpc>
                <a:spcPct val="110000"/>
              </a:lnSpc>
              <a:spcBef>
                <a:spcPts val="1800"/>
              </a:spcBef>
            </a:pPr>
            <a:r>
              <a:rPr lang="zh-CN" altLang="en-US" dirty="0" smtClean="0">
                <a:ea typeface="黑体" panose="02010609060101010101" pitchFamily="49" charset="-122"/>
              </a:rPr>
              <a:t>即软件架构是由若干具特定结构形按结构理组合起来的结构元的集合。</a:t>
            </a:r>
            <a:endParaRPr lang="zh-CN" altLang="en-US" dirty="0" smtClean="0">
              <a:ea typeface="黑体" panose="02010609060101010101" pitchFamily="49" charset="-122"/>
            </a:endParaRPr>
          </a:p>
          <a:p>
            <a:pPr eaLnBrk="1" hangingPunct="1">
              <a:lnSpc>
                <a:spcPct val="110000"/>
              </a:lnSpc>
              <a:spcBef>
                <a:spcPts val="1800"/>
              </a:spcBef>
            </a:pPr>
            <a:r>
              <a:rPr lang="zh-CN" altLang="en-US" dirty="0" smtClean="0">
                <a:ea typeface="黑体" panose="02010609060101010101" pitchFamily="49" charset="-122"/>
              </a:rPr>
              <a:t>结构元包括处理元、数据元和连接元</a:t>
            </a:r>
            <a:endParaRPr lang="zh-CN" altLang="en-US" dirty="0" smtClean="0">
              <a:ea typeface="黑体" panose="02010609060101010101" pitchFamily="49"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912" y="609674"/>
            <a:ext cx="8637588" cy="762000"/>
          </a:xfrm>
        </p:spPr>
        <p:txBody>
          <a:bodyPr/>
          <a:lstStyle/>
          <a:p>
            <a:pPr eaLnBrk="1" hangingPunct="1"/>
            <a:r>
              <a:rPr lang="zh-CN" altLang="zh-CN" dirty="0" smtClean="0"/>
              <a:t>Definition variance</a:t>
            </a:r>
            <a:endParaRPr lang="en-US" altLang="zh-CN" dirty="0" smtClean="0"/>
          </a:p>
        </p:txBody>
      </p:sp>
      <p:sp>
        <p:nvSpPr>
          <p:cNvPr id="18435" name="Rectangle 3"/>
          <p:cNvSpPr>
            <a:spLocks noGrp="1" noChangeArrowheads="1"/>
          </p:cNvSpPr>
          <p:nvPr>
            <p:ph type="body" idx="1"/>
          </p:nvPr>
        </p:nvSpPr>
        <p:spPr>
          <a:xfrm>
            <a:off x="328613" y="1941513"/>
            <a:ext cx="8510587" cy="4114800"/>
          </a:xfrm>
        </p:spPr>
        <p:txBody>
          <a:bodyPr/>
          <a:lstStyle/>
          <a:p>
            <a:pPr eaLnBrk="1" hangingPunct="1">
              <a:lnSpc>
                <a:spcPct val="110000"/>
              </a:lnSpc>
              <a:spcBef>
                <a:spcPts val="1800"/>
              </a:spcBef>
            </a:pPr>
            <a:r>
              <a:rPr lang="zh-CN" altLang="zh-CN" dirty="0" smtClean="0">
                <a:latin typeface="Calibri" panose="020F0502020204030204" pitchFamily="34" charset="0"/>
              </a:rPr>
              <a:t>In software development, architecture is thought of as both noun and a verb.</a:t>
            </a:r>
            <a:endParaRPr lang="zh-CN" altLang="zh-CN" dirty="0" smtClean="0">
              <a:latin typeface="Calibri" panose="020F0502020204030204" pitchFamily="34" charset="0"/>
            </a:endParaRPr>
          </a:p>
          <a:p>
            <a:pPr eaLnBrk="1" hangingPunct="1">
              <a:lnSpc>
                <a:spcPct val="110000"/>
              </a:lnSpc>
              <a:spcBef>
                <a:spcPts val="1800"/>
              </a:spcBef>
            </a:pPr>
            <a:r>
              <a:rPr lang="zh-CN" altLang="zh-CN" dirty="0" smtClean="0">
                <a:latin typeface="Calibri" panose="020F0502020204030204" pitchFamily="34" charset="0"/>
              </a:rPr>
              <a:t>As a noun, the architecture includes the organization and  structure of the major elements of the system.</a:t>
            </a:r>
            <a:endParaRPr lang="zh-CN" altLang="zh-CN" dirty="0" smtClean="0">
              <a:latin typeface="Calibri" panose="020F0502020204030204" pitchFamily="34" charset="0"/>
            </a:endParaRPr>
          </a:p>
          <a:p>
            <a:pPr eaLnBrk="1" hangingPunct="1">
              <a:lnSpc>
                <a:spcPct val="110000"/>
              </a:lnSpc>
              <a:spcBef>
                <a:spcPts val="1800"/>
              </a:spcBef>
            </a:pPr>
            <a:r>
              <a:rPr lang="zh-CN" altLang="zh-CN" dirty="0" smtClean="0">
                <a:latin typeface="Calibri" panose="020F0502020204030204" pitchFamily="34" charset="0"/>
              </a:rPr>
              <a:t>As a verb, architecture is part investigation and part design work.</a:t>
            </a:r>
            <a:endParaRPr lang="zh-CN" altLang="zh-CN" dirty="0" smtClean="0">
              <a:latin typeface="Calibri" panose="020F0502020204030204" pitchFamily="34" charset="0"/>
            </a:endParaRPr>
          </a:p>
          <a:p>
            <a:pPr eaLnBrk="1" hangingPunct="1">
              <a:buFont typeface="Wingdings" panose="05000000000000000000" pitchFamily="2" charset="2"/>
              <a:buNone/>
            </a:pPr>
            <a:endParaRPr lang="en-US" altLang="zh-CN" sz="2800"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388203"/>
            <a:ext cx="7302500" cy="830997"/>
          </a:xfrm>
        </p:spPr>
        <p:txBody>
          <a:bodyPr/>
          <a:lstStyle/>
          <a:p>
            <a:pPr eaLnBrk="1" hangingPunct="1"/>
            <a:r>
              <a:rPr lang="zh-CN" altLang="zh-CN" sz="4800" dirty="0" smtClean="0">
                <a:latin typeface="Calibri" panose="020F0502020204030204" pitchFamily="34" charset="0"/>
              </a:rPr>
              <a:t>Definition</a:t>
            </a:r>
            <a:endParaRPr lang="en-US" altLang="zh-CN" sz="4800" dirty="0" smtClean="0">
              <a:latin typeface="Calibri" panose="020F0502020204030204" pitchFamily="34" charset="0"/>
            </a:endParaRPr>
          </a:p>
        </p:txBody>
      </p:sp>
      <p:sp>
        <p:nvSpPr>
          <p:cNvPr id="19459" name="Rectangle 3"/>
          <p:cNvSpPr>
            <a:spLocks noGrp="1" noChangeArrowheads="1"/>
          </p:cNvSpPr>
          <p:nvPr>
            <p:ph type="body" idx="1"/>
          </p:nvPr>
        </p:nvSpPr>
        <p:spPr/>
        <p:txBody>
          <a:bodyPr/>
          <a:lstStyle/>
          <a:p>
            <a:pPr eaLnBrk="1" hangingPunct="1">
              <a:lnSpc>
                <a:spcPct val="110000"/>
              </a:lnSpc>
              <a:spcBef>
                <a:spcPts val="1800"/>
              </a:spcBef>
            </a:pPr>
            <a:r>
              <a:rPr lang="zh-CN" altLang="zh-CN" dirty="0" smtClean="0">
                <a:latin typeface="Calibri" panose="020F0502020204030204" pitchFamily="34" charset="0"/>
              </a:rPr>
              <a:t>Architectural investigation: involves functional and non-functional requirements that have impact on system design.</a:t>
            </a:r>
            <a:endParaRPr lang="zh-CN" altLang="zh-CN" dirty="0" smtClean="0">
              <a:latin typeface="Calibri" panose="020F0502020204030204" pitchFamily="34" charset="0"/>
            </a:endParaRPr>
          </a:p>
          <a:p>
            <a:pPr eaLnBrk="1" hangingPunct="1">
              <a:lnSpc>
                <a:spcPct val="110000"/>
              </a:lnSpc>
              <a:spcBef>
                <a:spcPts val="1800"/>
              </a:spcBef>
            </a:pPr>
            <a:r>
              <a:rPr lang="zh-CN" altLang="zh-CN" dirty="0" smtClean="0">
                <a:latin typeface="Calibri" panose="020F0502020204030204" pitchFamily="34" charset="0"/>
              </a:rPr>
              <a:t>Some of these are: Market trends, performance, cost and points of evolution.</a:t>
            </a:r>
            <a:endParaRPr lang="zh-CN" altLang="zh-CN" dirty="0" smtClean="0">
              <a:latin typeface="Calibri" panose="020F0502020204030204" pitchFamily="34" charset="0"/>
            </a:endParaRPr>
          </a:p>
          <a:p>
            <a:pPr eaLnBrk="1" hangingPunct="1">
              <a:lnSpc>
                <a:spcPct val="110000"/>
              </a:lnSpc>
              <a:spcBef>
                <a:spcPts val="1800"/>
              </a:spcBef>
            </a:pPr>
            <a:r>
              <a:rPr lang="zh-CN" altLang="zh-CN" dirty="0" smtClean="0">
                <a:latin typeface="Calibri" panose="020F0502020204030204" pitchFamily="34" charset="0"/>
              </a:rPr>
              <a:t>Architectural Design: is the resolution of these requirements in the design of software.</a:t>
            </a:r>
            <a:endParaRPr lang="zh-CN" altLang="zh-CN" dirty="0" smtClean="0">
              <a:latin typeface="Calibri" panose="020F0502020204030204" pitchFamily="34" charset="0"/>
            </a:endParaRPr>
          </a:p>
          <a:p>
            <a:pPr eaLnBrk="1" hangingPunct="1">
              <a:buFont typeface="Wingdings" panose="05000000000000000000" pitchFamily="2" charset="2"/>
              <a:buNone/>
            </a:pPr>
            <a:endParaRPr lang="en-US" altLang="zh-CN" sz="28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17500" y="52388"/>
            <a:ext cx="7302500" cy="1431925"/>
          </a:xfrm>
        </p:spPr>
        <p:txBody>
          <a:bodyPr/>
          <a:lstStyle/>
          <a:p>
            <a:pPr eaLnBrk="1" hangingPunct="1"/>
            <a:r>
              <a:rPr lang="zh-CN" altLang="zh-CN" smtClean="0"/>
              <a:t>Architectural Dimension and Views in UP</a:t>
            </a:r>
            <a:endParaRPr lang="en-US" altLang="zh-CN" smtClean="0"/>
          </a:p>
        </p:txBody>
      </p:sp>
      <p:sp>
        <p:nvSpPr>
          <p:cNvPr id="20483" name="Rectangle 3"/>
          <p:cNvSpPr>
            <a:spLocks noGrp="1" noChangeArrowheads="1"/>
          </p:cNvSpPr>
          <p:nvPr>
            <p:ph type="body" idx="1"/>
          </p:nvPr>
        </p:nvSpPr>
        <p:spPr/>
        <p:txBody>
          <a:bodyPr/>
          <a:lstStyle/>
          <a:p>
            <a:pPr eaLnBrk="1" hangingPunct="1">
              <a:lnSpc>
                <a:spcPct val="110000"/>
              </a:lnSpc>
              <a:spcBef>
                <a:spcPts val="1800"/>
              </a:spcBef>
              <a:buNone/>
            </a:pPr>
            <a:r>
              <a:rPr lang="zh-CN" altLang="zh-CN" sz="2800" dirty="0" smtClean="0">
                <a:latin typeface="Calibri" panose="020F0502020204030204" pitchFamily="34" charset="0"/>
              </a:rPr>
              <a:t>The common dimensions are:</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The logical architecture, describes the system in terms of its conceptual organization in layers, packages, classes, interfaces and subsystems.</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The deployment architecture, describes the system in terms of the allocation of process to processing unit and network configurations.</a:t>
            </a:r>
            <a:endParaRPr lang="zh-CN" altLang="zh-CN" sz="2800" dirty="0" smtClean="0">
              <a:latin typeface="Calibri" panose="020F0502020204030204" pitchFamily="34" charset="0"/>
            </a:endParaRPr>
          </a:p>
          <a:p>
            <a:pPr eaLnBrk="1" hangingPunct="1"/>
            <a:endParaRPr lang="en-US" altLang="zh-CN" sz="2800"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06413" y="0"/>
            <a:ext cx="7189787" cy="609674"/>
          </a:xfrm>
        </p:spPr>
        <p:txBody>
          <a:bodyPr/>
          <a:lstStyle/>
          <a:p>
            <a:pPr eaLnBrk="1" hangingPunct="1"/>
            <a:r>
              <a:rPr lang="en-US" altLang="zh-CN" sz="3200" dirty="0" smtClean="0">
                <a:solidFill>
                  <a:schemeClr val="bg2"/>
                </a:solidFill>
                <a:ea typeface="黑体" panose="02010609060101010101" pitchFamily="49" charset="-122"/>
              </a:rPr>
              <a:t>Fig. 13.1  UP</a:t>
            </a:r>
            <a:r>
              <a:rPr lang="zh-CN" altLang="en-US" sz="3200" dirty="0" smtClean="0">
                <a:solidFill>
                  <a:schemeClr val="bg2"/>
                </a:solidFill>
                <a:ea typeface="黑体" panose="02010609060101010101" pitchFamily="49" charset="-122"/>
              </a:rPr>
              <a:t>制品相互影响示例  </a:t>
            </a:r>
            <a:r>
              <a:rPr lang="en-US" altLang="zh-CN" sz="3200" dirty="0" smtClean="0">
                <a:solidFill>
                  <a:schemeClr val="bg2"/>
                </a:solidFill>
                <a:ea typeface="黑体" panose="02010609060101010101" pitchFamily="49" charset="-122"/>
              </a:rPr>
              <a:t>(p146)</a:t>
            </a:r>
            <a:endParaRPr lang="en-US" altLang="zh-CN" sz="3200" dirty="0" smtClean="0">
              <a:solidFill>
                <a:schemeClr val="bg2"/>
              </a:solidFill>
              <a:ea typeface="黑体" panose="02010609060101010101" pitchFamily="49" charset="-122"/>
            </a:endParaRPr>
          </a:p>
        </p:txBody>
      </p:sp>
      <p:pic>
        <p:nvPicPr>
          <p:cNvPr id="21507" name="Picture 4" descr="artifact relationships"/>
          <p:cNvPicPr>
            <a:picLocks noChangeAspect="1" noChangeArrowheads="1"/>
          </p:cNvPicPr>
          <p:nvPr/>
        </p:nvPicPr>
        <p:blipFill>
          <a:blip r:embed="rId1" cstate="print"/>
          <a:srcRect/>
          <a:stretch>
            <a:fillRect/>
          </a:stretch>
        </p:blipFill>
        <p:spPr bwMode="auto">
          <a:xfrm>
            <a:off x="457308" y="647480"/>
            <a:ext cx="8253454" cy="62105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81110" y="533476"/>
            <a:ext cx="8637588" cy="830997"/>
          </a:xfrm>
        </p:spPr>
        <p:txBody>
          <a:bodyPr/>
          <a:lstStyle/>
          <a:p>
            <a:pPr eaLnBrk="1" hangingPunct="1"/>
            <a:r>
              <a:rPr lang="zh-CN" altLang="zh-CN" sz="4800" dirty="0" smtClean="0">
                <a:latin typeface="Calibri" panose="020F0502020204030204" pitchFamily="34" charset="0"/>
              </a:rPr>
              <a:t>Package Diagrams</a:t>
            </a:r>
            <a:endParaRPr lang="en-US" altLang="zh-CN" sz="4800" dirty="0" smtClean="0">
              <a:latin typeface="Calibri" panose="020F0502020204030204" pitchFamily="34" charset="0"/>
            </a:endParaRPr>
          </a:p>
        </p:txBody>
      </p:sp>
      <p:sp>
        <p:nvSpPr>
          <p:cNvPr id="22531" name="Rectangle 3"/>
          <p:cNvSpPr>
            <a:spLocks noGrp="1" noChangeArrowheads="1"/>
          </p:cNvSpPr>
          <p:nvPr>
            <p:ph type="body" idx="1"/>
          </p:nvPr>
        </p:nvSpPr>
        <p:spPr/>
        <p:txBody>
          <a:bodyPr/>
          <a:lstStyle/>
          <a:p>
            <a:pPr eaLnBrk="1" hangingPunct="1">
              <a:lnSpc>
                <a:spcPct val="110000"/>
              </a:lnSpc>
              <a:spcBef>
                <a:spcPts val="1800"/>
              </a:spcBef>
            </a:pPr>
            <a:r>
              <a:rPr lang="zh-CN" altLang="zh-CN" sz="2800" dirty="0" smtClean="0">
                <a:latin typeface="Calibri" panose="020F0502020204030204" pitchFamily="34" charset="0"/>
              </a:rPr>
              <a:t>UML Package Diagrams are often used to show the contents of components, which are often packages in the Java sense.</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Each package represents a namespace.</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Packages, as components, can be nested inside other packages.</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zh-CN" smtClean="0"/>
              <a:t>Package Diagram</a:t>
            </a:r>
            <a:endParaRPr lang="en-US" altLang="zh-CN" smtClean="0"/>
          </a:p>
        </p:txBody>
      </p:sp>
      <p:sp>
        <p:nvSpPr>
          <p:cNvPr id="23555" name="Rectangle 3"/>
          <p:cNvSpPr>
            <a:spLocks noChangeArrowheads="1"/>
          </p:cNvSpPr>
          <p:nvPr/>
        </p:nvSpPr>
        <p:spPr bwMode="auto">
          <a:xfrm>
            <a:off x="457200" y="2971800"/>
            <a:ext cx="4572000" cy="1600200"/>
          </a:xfrm>
          <a:prstGeom prst="rect">
            <a:avLst/>
          </a:prstGeom>
          <a:noFill/>
          <a:ln w="38100">
            <a:solidFill>
              <a:schemeClr val="tx1"/>
            </a:solidFill>
            <a:miter lim="800000"/>
          </a:ln>
        </p:spPr>
        <p:txBody>
          <a:bodyPr wrap="none" anchor="ctr"/>
          <a:lstStyle/>
          <a:p>
            <a:endParaRPr lang="zh-CN" altLang="en-US"/>
          </a:p>
        </p:txBody>
      </p:sp>
      <p:sp>
        <p:nvSpPr>
          <p:cNvPr id="23556" name="Rectangle 4"/>
          <p:cNvSpPr>
            <a:spLocks noChangeArrowheads="1"/>
          </p:cNvSpPr>
          <p:nvPr/>
        </p:nvSpPr>
        <p:spPr bwMode="auto">
          <a:xfrm>
            <a:off x="5791200" y="2971800"/>
            <a:ext cx="2590800" cy="1600200"/>
          </a:xfrm>
          <a:prstGeom prst="rect">
            <a:avLst/>
          </a:prstGeom>
          <a:noFill/>
          <a:ln w="38100">
            <a:solidFill>
              <a:schemeClr val="tx1"/>
            </a:solidFill>
            <a:miter lim="800000"/>
          </a:ln>
        </p:spPr>
        <p:txBody>
          <a:bodyPr wrap="none" anchor="ctr"/>
          <a:lstStyle/>
          <a:p>
            <a:endParaRPr lang="zh-CN" altLang="en-US"/>
          </a:p>
        </p:txBody>
      </p:sp>
      <p:sp>
        <p:nvSpPr>
          <p:cNvPr id="23557" name="Rectangle 5"/>
          <p:cNvSpPr>
            <a:spLocks noChangeArrowheads="1"/>
          </p:cNvSpPr>
          <p:nvPr/>
        </p:nvSpPr>
        <p:spPr bwMode="auto">
          <a:xfrm>
            <a:off x="457200" y="2590800"/>
            <a:ext cx="1219200" cy="381000"/>
          </a:xfrm>
          <a:prstGeom prst="rect">
            <a:avLst/>
          </a:prstGeom>
          <a:noFill/>
          <a:ln w="38100">
            <a:solidFill>
              <a:schemeClr val="tx1"/>
            </a:solidFill>
            <a:miter lim="800000"/>
          </a:ln>
        </p:spPr>
        <p:txBody>
          <a:bodyPr wrap="none" anchor="ctr"/>
          <a:lstStyle/>
          <a:p>
            <a:endParaRPr lang="zh-CN" altLang="en-US"/>
          </a:p>
        </p:txBody>
      </p:sp>
      <p:sp>
        <p:nvSpPr>
          <p:cNvPr id="23558" name="Rectangle 6"/>
          <p:cNvSpPr>
            <a:spLocks noChangeArrowheads="1"/>
          </p:cNvSpPr>
          <p:nvPr/>
        </p:nvSpPr>
        <p:spPr bwMode="auto">
          <a:xfrm>
            <a:off x="5791200" y="2590800"/>
            <a:ext cx="1219200" cy="381000"/>
          </a:xfrm>
          <a:prstGeom prst="rect">
            <a:avLst/>
          </a:prstGeom>
          <a:noFill/>
          <a:ln w="38100">
            <a:solidFill>
              <a:schemeClr val="tx1"/>
            </a:solidFill>
            <a:miter lim="800000"/>
          </a:ln>
        </p:spPr>
        <p:txBody>
          <a:bodyPr wrap="none" anchor="ctr"/>
          <a:lstStyle/>
          <a:p>
            <a:endParaRPr lang="zh-CN" altLang="en-US"/>
          </a:p>
        </p:txBody>
      </p:sp>
      <p:grpSp>
        <p:nvGrpSpPr>
          <p:cNvPr id="2" name="Group 7"/>
          <p:cNvGrpSpPr/>
          <p:nvPr/>
        </p:nvGrpSpPr>
        <p:grpSpPr bwMode="auto">
          <a:xfrm>
            <a:off x="685800" y="3276600"/>
            <a:ext cx="1600200" cy="914400"/>
            <a:chOff x="0" y="0"/>
            <a:chExt cx="1008" cy="576"/>
          </a:xfrm>
        </p:grpSpPr>
        <p:sp>
          <p:nvSpPr>
            <p:cNvPr id="23572" name="Rectangle 8"/>
            <p:cNvSpPr>
              <a:spLocks noChangeArrowheads="1"/>
            </p:cNvSpPr>
            <p:nvPr/>
          </p:nvSpPr>
          <p:spPr bwMode="auto">
            <a:xfrm>
              <a:off x="0" y="144"/>
              <a:ext cx="1008" cy="432"/>
            </a:xfrm>
            <a:prstGeom prst="rect">
              <a:avLst/>
            </a:prstGeom>
            <a:noFill/>
            <a:ln w="28575">
              <a:solidFill>
                <a:schemeClr val="tx1"/>
              </a:solidFill>
              <a:miter lim="800000"/>
            </a:ln>
          </p:spPr>
          <p:txBody>
            <a:bodyPr wrap="none" anchor="ctr"/>
            <a:lstStyle/>
            <a:p>
              <a:endParaRPr lang="zh-CN" altLang="en-US"/>
            </a:p>
          </p:txBody>
        </p:sp>
        <p:sp>
          <p:nvSpPr>
            <p:cNvPr id="23573" name="Rectangle 9"/>
            <p:cNvSpPr>
              <a:spLocks noChangeArrowheads="1"/>
            </p:cNvSpPr>
            <p:nvPr/>
          </p:nvSpPr>
          <p:spPr bwMode="auto">
            <a:xfrm>
              <a:off x="0" y="0"/>
              <a:ext cx="432" cy="144"/>
            </a:xfrm>
            <a:prstGeom prst="rect">
              <a:avLst/>
            </a:prstGeom>
            <a:noFill/>
            <a:ln w="28575">
              <a:solidFill>
                <a:schemeClr val="tx1"/>
              </a:solidFill>
              <a:miter lim="800000"/>
            </a:ln>
          </p:spPr>
          <p:txBody>
            <a:bodyPr wrap="none" anchor="ctr"/>
            <a:lstStyle/>
            <a:p>
              <a:endParaRPr lang="zh-CN" altLang="en-US"/>
            </a:p>
          </p:txBody>
        </p:sp>
      </p:grpSp>
      <p:grpSp>
        <p:nvGrpSpPr>
          <p:cNvPr id="3" name="Group 10"/>
          <p:cNvGrpSpPr/>
          <p:nvPr/>
        </p:nvGrpSpPr>
        <p:grpSpPr bwMode="auto">
          <a:xfrm>
            <a:off x="3124200" y="3276600"/>
            <a:ext cx="1600200" cy="914400"/>
            <a:chOff x="0" y="0"/>
            <a:chExt cx="1008" cy="576"/>
          </a:xfrm>
        </p:grpSpPr>
        <p:sp>
          <p:nvSpPr>
            <p:cNvPr id="23570" name="Rectangle 11"/>
            <p:cNvSpPr>
              <a:spLocks noChangeArrowheads="1"/>
            </p:cNvSpPr>
            <p:nvPr/>
          </p:nvSpPr>
          <p:spPr bwMode="auto">
            <a:xfrm>
              <a:off x="0" y="144"/>
              <a:ext cx="1008" cy="432"/>
            </a:xfrm>
            <a:prstGeom prst="rect">
              <a:avLst/>
            </a:prstGeom>
            <a:noFill/>
            <a:ln w="28575">
              <a:solidFill>
                <a:schemeClr val="tx1"/>
              </a:solidFill>
              <a:miter lim="800000"/>
            </a:ln>
          </p:spPr>
          <p:txBody>
            <a:bodyPr wrap="none" anchor="ctr"/>
            <a:lstStyle/>
            <a:p>
              <a:endParaRPr lang="zh-CN" altLang="en-US"/>
            </a:p>
          </p:txBody>
        </p:sp>
        <p:sp>
          <p:nvSpPr>
            <p:cNvPr id="23571" name="Rectangle 12"/>
            <p:cNvSpPr>
              <a:spLocks noChangeArrowheads="1"/>
            </p:cNvSpPr>
            <p:nvPr/>
          </p:nvSpPr>
          <p:spPr bwMode="auto">
            <a:xfrm>
              <a:off x="0" y="0"/>
              <a:ext cx="432" cy="144"/>
            </a:xfrm>
            <a:prstGeom prst="rect">
              <a:avLst/>
            </a:prstGeom>
            <a:noFill/>
            <a:ln w="28575">
              <a:solidFill>
                <a:schemeClr val="tx1"/>
              </a:solidFill>
              <a:miter lim="800000"/>
            </a:ln>
          </p:spPr>
          <p:txBody>
            <a:bodyPr wrap="none" anchor="ctr"/>
            <a:lstStyle/>
            <a:p>
              <a:endParaRPr lang="zh-CN" altLang="en-US"/>
            </a:p>
          </p:txBody>
        </p:sp>
      </p:grpSp>
      <p:grpSp>
        <p:nvGrpSpPr>
          <p:cNvPr id="4" name="Group 13"/>
          <p:cNvGrpSpPr/>
          <p:nvPr/>
        </p:nvGrpSpPr>
        <p:grpSpPr bwMode="auto">
          <a:xfrm>
            <a:off x="6172200" y="3276600"/>
            <a:ext cx="1600200" cy="914400"/>
            <a:chOff x="0" y="0"/>
            <a:chExt cx="1008" cy="576"/>
          </a:xfrm>
        </p:grpSpPr>
        <p:sp>
          <p:nvSpPr>
            <p:cNvPr id="23568" name="Rectangle 14"/>
            <p:cNvSpPr>
              <a:spLocks noChangeArrowheads="1"/>
            </p:cNvSpPr>
            <p:nvPr/>
          </p:nvSpPr>
          <p:spPr bwMode="auto">
            <a:xfrm>
              <a:off x="0" y="144"/>
              <a:ext cx="1008" cy="432"/>
            </a:xfrm>
            <a:prstGeom prst="rect">
              <a:avLst/>
            </a:prstGeom>
            <a:noFill/>
            <a:ln w="28575">
              <a:solidFill>
                <a:schemeClr val="tx1"/>
              </a:solidFill>
              <a:miter lim="800000"/>
            </a:ln>
          </p:spPr>
          <p:txBody>
            <a:bodyPr wrap="none" anchor="ctr"/>
            <a:lstStyle/>
            <a:p>
              <a:endParaRPr lang="zh-CN" altLang="en-US"/>
            </a:p>
          </p:txBody>
        </p:sp>
        <p:sp>
          <p:nvSpPr>
            <p:cNvPr id="23569" name="Rectangle 15"/>
            <p:cNvSpPr>
              <a:spLocks noChangeArrowheads="1"/>
            </p:cNvSpPr>
            <p:nvPr/>
          </p:nvSpPr>
          <p:spPr bwMode="auto">
            <a:xfrm>
              <a:off x="0" y="0"/>
              <a:ext cx="432" cy="144"/>
            </a:xfrm>
            <a:prstGeom prst="rect">
              <a:avLst/>
            </a:prstGeom>
            <a:noFill/>
            <a:ln w="28575">
              <a:solidFill>
                <a:schemeClr val="tx1"/>
              </a:solidFill>
              <a:miter lim="800000"/>
            </a:ln>
          </p:spPr>
          <p:txBody>
            <a:bodyPr wrap="none" anchor="ctr"/>
            <a:lstStyle/>
            <a:p>
              <a:endParaRPr lang="zh-CN" altLang="en-US"/>
            </a:p>
          </p:txBody>
        </p:sp>
      </p:grpSp>
      <p:sp>
        <p:nvSpPr>
          <p:cNvPr id="23562" name="Text Box 16"/>
          <p:cNvSpPr txBox="1">
            <a:spLocks noChangeArrowheads="1"/>
          </p:cNvSpPr>
          <p:nvPr/>
        </p:nvSpPr>
        <p:spPr bwMode="auto">
          <a:xfrm>
            <a:off x="685800" y="2590800"/>
            <a:ext cx="409575" cy="336550"/>
          </a:xfrm>
          <a:prstGeom prst="rect">
            <a:avLst/>
          </a:prstGeom>
          <a:noFill/>
          <a:ln w="9525">
            <a:noFill/>
            <a:miter lim="800000"/>
          </a:ln>
        </p:spPr>
        <p:txBody>
          <a:bodyPr wrap="none">
            <a:spAutoFit/>
          </a:bodyPr>
          <a:lstStyle/>
          <a:p>
            <a:pPr eaLnBrk="0" hangingPunct="0"/>
            <a:r>
              <a:rPr lang="zh-CN" altLang="zh-CN" sz="1600" b="1"/>
              <a:t>UI</a:t>
            </a:r>
            <a:endParaRPr lang="en-US" altLang="zh-CN" sz="1600" b="1"/>
          </a:p>
        </p:txBody>
      </p:sp>
      <p:sp>
        <p:nvSpPr>
          <p:cNvPr id="23563" name="Text Box 17"/>
          <p:cNvSpPr txBox="1">
            <a:spLocks noChangeArrowheads="1"/>
          </p:cNvSpPr>
          <p:nvPr/>
        </p:nvSpPr>
        <p:spPr bwMode="auto">
          <a:xfrm>
            <a:off x="5943600" y="2590800"/>
            <a:ext cx="873125" cy="336550"/>
          </a:xfrm>
          <a:prstGeom prst="rect">
            <a:avLst/>
          </a:prstGeom>
          <a:noFill/>
          <a:ln w="9525">
            <a:noFill/>
            <a:miter lim="800000"/>
          </a:ln>
        </p:spPr>
        <p:txBody>
          <a:bodyPr wrap="none">
            <a:spAutoFit/>
          </a:bodyPr>
          <a:lstStyle/>
          <a:p>
            <a:pPr eaLnBrk="0" hangingPunct="0"/>
            <a:r>
              <a:rPr lang="zh-CN" altLang="zh-CN" sz="1600" b="1"/>
              <a:t>Domain</a:t>
            </a:r>
            <a:endParaRPr lang="en-US" altLang="zh-CN" sz="1600" b="1"/>
          </a:p>
        </p:txBody>
      </p:sp>
      <p:sp>
        <p:nvSpPr>
          <p:cNvPr id="23564" name="Text Box 18"/>
          <p:cNvSpPr txBox="1">
            <a:spLocks noChangeArrowheads="1"/>
          </p:cNvSpPr>
          <p:nvPr/>
        </p:nvSpPr>
        <p:spPr bwMode="auto">
          <a:xfrm>
            <a:off x="990600" y="3657600"/>
            <a:ext cx="714375" cy="336550"/>
          </a:xfrm>
          <a:prstGeom prst="rect">
            <a:avLst/>
          </a:prstGeom>
          <a:noFill/>
          <a:ln w="9525">
            <a:noFill/>
            <a:miter lim="800000"/>
          </a:ln>
        </p:spPr>
        <p:txBody>
          <a:bodyPr wrap="none">
            <a:spAutoFit/>
          </a:bodyPr>
          <a:lstStyle/>
          <a:p>
            <a:pPr eaLnBrk="0" hangingPunct="0"/>
            <a:r>
              <a:rPr lang="zh-CN" altLang="zh-CN" sz="1600" b="1"/>
              <a:t>Swing</a:t>
            </a:r>
            <a:endParaRPr lang="en-US" altLang="zh-CN" sz="1600" b="1"/>
          </a:p>
        </p:txBody>
      </p:sp>
      <p:sp>
        <p:nvSpPr>
          <p:cNvPr id="23565" name="Text Box 19"/>
          <p:cNvSpPr txBox="1">
            <a:spLocks noChangeArrowheads="1"/>
          </p:cNvSpPr>
          <p:nvPr/>
        </p:nvSpPr>
        <p:spPr bwMode="auto">
          <a:xfrm>
            <a:off x="3429000" y="3657600"/>
            <a:ext cx="590550" cy="336550"/>
          </a:xfrm>
          <a:prstGeom prst="rect">
            <a:avLst/>
          </a:prstGeom>
          <a:noFill/>
          <a:ln w="9525">
            <a:noFill/>
            <a:miter lim="800000"/>
          </a:ln>
        </p:spPr>
        <p:txBody>
          <a:bodyPr wrap="none">
            <a:spAutoFit/>
          </a:bodyPr>
          <a:lstStyle/>
          <a:p>
            <a:pPr eaLnBrk="0" hangingPunct="0"/>
            <a:r>
              <a:rPr lang="zh-CN" altLang="zh-CN" sz="1600" b="1"/>
              <a:t>Web</a:t>
            </a:r>
            <a:endParaRPr lang="en-US" altLang="zh-CN" sz="1600" b="1"/>
          </a:p>
        </p:txBody>
      </p:sp>
      <p:sp>
        <p:nvSpPr>
          <p:cNvPr id="23566" name="Text Box 20"/>
          <p:cNvSpPr txBox="1">
            <a:spLocks noChangeArrowheads="1"/>
          </p:cNvSpPr>
          <p:nvPr/>
        </p:nvSpPr>
        <p:spPr bwMode="auto">
          <a:xfrm>
            <a:off x="6477000" y="3657600"/>
            <a:ext cx="625475" cy="336550"/>
          </a:xfrm>
          <a:prstGeom prst="rect">
            <a:avLst/>
          </a:prstGeom>
          <a:noFill/>
          <a:ln w="9525">
            <a:noFill/>
            <a:miter lim="800000"/>
          </a:ln>
        </p:spPr>
        <p:txBody>
          <a:bodyPr wrap="none">
            <a:spAutoFit/>
          </a:bodyPr>
          <a:lstStyle/>
          <a:p>
            <a:pPr eaLnBrk="0" hangingPunct="0"/>
            <a:r>
              <a:rPr lang="zh-CN" altLang="zh-CN" sz="1600" b="1"/>
              <a:t>Sales</a:t>
            </a:r>
            <a:endParaRPr lang="en-US" altLang="zh-CN" sz="1600" b="1"/>
          </a:p>
        </p:txBody>
      </p:sp>
      <p:sp>
        <p:nvSpPr>
          <p:cNvPr id="23567" name="Line 21"/>
          <p:cNvSpPr>
            <a:spLocks noChangeShapeType="1"/>
          </p:cNvSpPr>
          <p:nvPr/>
        </p:nvSpPr>
        <p:spPr bwMode="auto">
          <a:xfrm>
            <a:off x="5029200" y="3581400"/>
            <a:ext cx="1143000" cy="152400"/>
          </a:xfrm>
          <a:prstGeom prst="line">
            <a:avLst/>
          </a:prstGeom>
          <a:noFill/>
          <a:ln w="12700">
            <a:solidFill>
              <a:schemeClr val="tx1"/>
            </a:solidFill>
            <a:prstDash val="lgDash"/>
            <a:round/>
            <a:tailEnd type="triangle" w="med" len="med"/>
          </a:ln>
        </p:spPr>
        <p:txBody>
          <a:bodyPr wrap="none"/>
          <a:lstStyle/>
          <a:p>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zh-CN" smtClean="0"/>
              <a:t>What is a layer?</a:t>
            </a:r>
            <a:endParaRPr lang="en-US" altLang="zh-CN" smtClean="0"/>
          </a:p>
        </p:txBody>
      </p:sp>
      <p:sp>
        <p:nvSpPr>
          <p:cNvPr id="24579" name="Rectangle 3"/>
          <p:cNvSpPr>
            <a:spLocks noGrp="1" noChangeArrowheads="1"/>
          </p:cNvSpPr>
          <p:nvPr>
            <p:ph type="body" idx="1"/>
          </p:nvPr>
        </p:nvSpPr>
        <p:spPr>
          <a:xfrm>
            <a:off x="328613" y="2057435"/>
            <a:ext cx="8208962" cy="3998877"/>
          </a:xfrm>
        </p:spPr>
        <p:txBody>
          <a:bodyPr/>
          <a:lstStyle/>
          <a:p>
            <a:pPr eaLnBrk="1" hangingPunct="1">
              <a:lnSpc>
                <a:spcPct val="110000"/>
              </a:lnSpc>
              <a:spcBef>
                <a:spcPts val="1800"/>
              </a:spcBef>
            </a:pPr>
            <a:r>
              <a:rPr lang="zh-CN" altLang="en-US" sz="2800" dirty="0" smtClean="0">
                <a:latin typeface="Calibri" panose="020F0502020204030204" pitchFamily="34" charset="0"/>
              </a:rPr>
              <a:t>“</a:t>
            </a:r>
            <a:r>
              <a:rPr lang="zh-CN" altLang="zh-CN" sz="2800" dirty="0" smtClean="0">
                <a:latin typeface="Calibri" panose="020F0502020204030204" pitchFamily="34" charset="0"/>
              </a:rPr>
              <a:t>A layer is a coarse grained grouping of classes packages or subsystems that has cohesive responsibility for a major aspect of the system.”</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Higher layers call upon the services of lower layers.</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5602" name="Picture 4" descr="Layers-POS1"/>
          <p:cNvPicPr>
            <a:picLocks noChangeAspect="1" noChangeArrowheads="1"/>
          </p:cNvPicPr>
          <p:nvPr/>
        </p:nvPicPr>
        <p:blipFill>
          <a:blip r:embed="rId1" cstate="print"/>
          <a:srcRect/>
          <a:stretch>
            <a:fillRect/>
          </a:stretch>
        </p:blipFill>
        <p:spPr bwMode="auto">
          <a:xfrm>
            <a:off x="1295400" y="1066800"/>
            <a:ext cx="6400800" cy="5489575"/>
          </a:xfrm>
          <a:prstGeom prst="rect">
            <a:avLst/>
          </a:prstGeom>
          <a:noFill/>
          <a:ln w="9525">
            <a:noFill/>
            <a:miter lim="800000"/>
            <a:headEnd/>
            <a:tailEnd/>
          </a:ln>
        </p:spPr>
      </p:pic>
      <p:sp>
        <p:nvSpPr>
          <p:cNvPr id="25603" name="Rectangle 5"/>
          <p:cNvSpPr>
            <a:spLocks noChangeArrowheads="1"/>
          </p:cNvSpPr>
          <p:nvPr/>
        </p:nvSpPr>
        <p:spPr bwMode="auto">
          <a:xfrm>
            <a:off x="914400" y="152400"/>
            <a:ext cx="7086600" cy="579438"/>
          </a:xfrm>
          <a:prstGeom prst="rect">
            <a:avLst/>
          </a:prstGeom>
          <a:noFill/>
          <a:ln w="9525">
            <a:noFill/>
            <a:miter lim="800000"/>
          </a:ln>
        </p:spPr>
        <p:txBody>
          <a:bodyPr wrap="none">
            <a:spAutoFit/>
          </a:bodyPr>
          <a:lstStyle/>
          <a:p>
            <a:r>
              <a:rPr lang="en-US" altLang="zh-CN" sz="3200">
                <a:solidFill>
                  <a:schemeClr val="bg2"/>
                </a:solidFill>
                <a:latin typeface="Arial" panose="020B0604020202020204" pitchFamily="34" charset="0"/>
                <a:ea typeface="黑体" panose="02010609060101010101" pitchFamily="49" charset="-122"/>
              </a:rPr>
              <a:t>Fig. 13.2  UML</a:t>
            </a:r>
            <a:r>
              <a:rPr lang="zh-CN" altLang="en-US" sz="3200">
                <a:solidFill>
                  <a:schemeClr val="bg2"/>
                </a:solidFill>
                <a:latin typeface="Arial" panose="020B0604020202020204" pitchFamily="34" charset="0"/>
                <a:ea typeface="黑体" panose="02010609060101010101" pitchFamily="49" charset="-122"/>
              </a:rPr>
              <a:t>包图所表示的层  </a:t>
            </a:r>
            <a:r>
              <a:rPr lang="en-US" altLang="zh-CN" sz="3200">
                <a:solidFill>
                  <a:schemeClr val="bg2"/>
                </a:solidFill>
                <a:latin typeface="Arial" panose="020B0604020202020204" pitchFamily="34" charset="0"/>
                <a:ea typeface="黑体" panose="02010609060101010101" pitchFamily="49" charset="-122"/>
              </a:rPr>
              <a:t>(p147)</a:t>
            </a:r>
            <a:endParaRPr lang="en-US" altLang="zh-CN" sz="3200">
              <a:solidFill>
                <a:schemeClr val="bg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6626" name="Picture 4" descr="PD-containment 1"/>
          <p:cNvPicPr>
            <a:picLocks noChangeAspect="1" noChangeArrowheads="1"/>
          </p:cNvPicPr>
          <p:nvPr/>
        </p:nvPicPr>
        <p:blipFill>
          <a:blip r:embed="rId1" cstate="print"/>
          <a:srcRect/>
          <a:stretch>
            <a:fillRect/>
          </a:stretch>
        </p:blipFill>
        <p:spPr bwMode="auto">
          <a:xfrm>
            <a:off x="457200" y="1447800"/>
            <a:ext cx="8229600" cy="4540250"/>
          </a:xfrm>
          <a:prstGeom prst="rect">
            <a:avLst/>
          </a:prstGeom>
          <a:noFill/>
          <a:ln w="9525">
            <a:noFill/>
            <a:miter lim="800000"/>
            <a:headEnd/>
            <a:tailEnd/>
          </a:ln>
        </p:spPr>
      </p:pic>
      <p:sp>
        <p:nvSpPr>
          <p:cNvPr id="26627" name="Rectangle 5"/>
          <p:cNvSpPr>
            <a:spLocks noChangeArrowheads="1"/>
          </p:cNvSpPr>
          <p:nvPr/>
        </p:nvSpPr>
        <p:spPr bwMode="auto">
          <a:xfrm>
            <a:off x="914400" y="152400"/>
            <a:ext cx="7493000" cy="579438"/>
          </a:xfrm>
          <a:prstGeom prst="rect">
            <a:avLst/>
          </a:prstGeom>
          <a:noFill/>
          <a:ln w="9525">
            <a:noFill/>
            <a:miter lim="800000"/>
          </a:ln>
        </p:spPr>
        <p:txBody>
          <a:bodyPr wrap="none">
            <a:spAutoFit/>
          </a:bodyPr>
          <a:lstStyle/>
          <a:p>
            <a:r>
              <a:rPr lang="en-US" altLang="zh-CN" sz="3200" dirty="0">
                <a:solidFill>
                  <a:schemeClr val="bg2"/>
                </a:solidFill>
                <a:latin typeface="Arial" panose="020B0604020202020204" pitchFamily="34" charset="0"/>
                <a:ea typeface="黑体" panose="02010609060101010101" pitchFamily="49" charset="-122"/>
              </a:rPr>
              <a:t>Fig. 13.3  </a:t>
            </a:r>
            <a:r>
              <a:rPr lang="zh-CN" altLang="en-US" sz="3200" dirty="0">
                <a:solidFill>
                  <a:schemeClr val="bg2"/>
                </a:solidFill>
                <a:latin typeface="Arial" panose="020B0604020202020204" pitchFamily="34" charset="0"/>
                <a:ea typeface="黑体" panose="02010609060101010101" pitchFamily="49" charset="-122"/>
              </a:rPr>
              <a:t>嵌套包的另一</a:t>
            </a:r>
            <a:r>
              <a:rPr lang="en-US" altLang="zh-CN" sz="3200" dirty="0">
                <a:solidFill>
                  <a:schemeClr val="bg2"/>
                </a:solidFill>
                <a:latin typeface="Arial" panose="020B0604020202020204" pitchFamily="34" charset="0"/>
                <a:ea typeface="黑体" panose="02010609060101010101" pitchFamily="49" charset="-122"/>
              </a:rPr>
              <a:t>UML</a:t>
            </a:r>
            <a:r>
              <a:rPr lang="zh-CN" altLang="en-US" sz="3200" dirty="0">
                <a:solidFill>
                  <a:schemeClr val="bg2"/>
                </a:solidFill>
                <a:latin typeface="Arial" panose="020B0604020202020204" pitchFamily="34" charset="0"/>
                <a:ea typeface="黑体" panose="02010609060101010101" pitchFamily="49" charset="-122"/>
              </a:rPr>
              <a:t>表示  </a:t>
            </a:r>
            <a:r>
              <a:rPr lang="en-US" altLang="zh-CN" sz="3200" dirty="0">
                <a:solidFill>
                  <a:schemeClr val="bg2"/>
                </a:solidFill>
                <a:latin typeface="Arial" panose="020B0604020202020204" pitchFamily="34" charset="0"/>
                <a:ea typeface="黑体" panose="02010609060101010101" pitchFamily="49" charset="-122"/>
              </a:rPr>
              <a:t>(p148)</a:t>
            </a:r>
            <a:endParaRPr lang="en-US" altLang="zh-CN" sz="3200" dirty="0">
              <a:solidFill>
                <a:schemeClr val="bg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17500" y="52388"/>
            <a:ext cx="7302500" cy="1431925"/>
          </a:xfrm>
        </p:spPr>
        <p:txBody>
          <a:bodyPr/>
          <a:lstStyle/>
          <a:p>
            <a:pPr eaLnBrk="1" hangingPunct="1"/>
            <a:r>
              <a:rPr lang="zh-CN" altLang="zh-CN" smtClean="0"/>
              <a:t>Architectural Patterns and Pattern Categories</a:t>
            </a:r>
            <a:endParaRPr lang="en-US" altLang="zh-CN" smtClean="0"/>
          </a:p>
        </p:txBody>
      </p:sp>
      <p:sp>
        <p:nvSpPr>
          <p:cNvPr id="27651" name="Rectangle 3"/>
          <p:cNvSpPr>
            <a:spLocks noGrp="1" noChangeArrowheads="1"/>
          </p:cNvSpPr>
          <p:nvPr>
            <p:ph type="body" idx="1"/>
          </p:nvPr>
        </p:nvSpPr>
        <p:spPr/>
        <p:txBody>
          <a:bodyPr/>
          <a:lstStyle/>
          <a:p>
            <a:pPr eaLnBrk="1" hangingPunct="1">
              <a:lnSpc>
                <a:spcPct val="110000"/>
              </a:lnSpc>
              <a:spcBef>
                <a:spcPts val="1800"/>
              </a:spcBef>
            </a:pPr>
            <a:r>
              <a:rPr lang="zh-CN" altLang="zh-CN" sz="2800" dirty="0" smtClean="0">
                <a:latin typeface="Calibri" panose="020F0502020204030204" pitchFamily="34" charset="0"/>
              </a:rPr>
              <a:t>Architectural patterns: Relates to large-scale design and typically applied during the early iterations(in elaboration phase).</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Design patterns: Relates to small and medium-scale design of objects and frameworks.</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Idioms: Relates to language or implementation-oriented low-level design solutions.</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533506" y="457278"/>
            <a:ext cx="8485192" cy="830997"/>
          </a:xfrm>
        </p:spPr>
        <p:txBody>
          <a:bodyPr/>
          <a:lstStyle/>
          <a:p>
            <a:pPr eaLnBrk="1" hangingPunct="1"/>
            <a:r>
              <a:rPr lang="zh-CN" altLang="zh-CN" sz="4800" dirty="0" smtClean="0">
                <a:latin typeface="Calibri" panose="020F0502020204030204" pitchFamily="34" charset="0"/>
              </a:rPr>
              <a:t>Architectural Pattern:</a:t>
            </a:r>
            <a:r>
              <a:rPr lang="en-US" altLang="zh-CN" sz="4800" dirty="0" smtClean="0">
                <a:latin typeface="Calibri" panose="020F0502020204030204" pitchFamily="34" charset="0"/>
              </a:rPr>
              <a:t> </a:t>
            </a:r>
            <a:r>
              <a:rPr lang="zh-CN" altLang="zh-CN" sz="4800" dirty="0" smtClean="0">
                <a:latin typeface="Calibri" panose="020F0502020204030204" pitchFamily="34" charset="0"/>
              </a:rPr>
              <a:t>Layers</a:t>
            </a:r>
            <a:endParaRPr lang="en-US" altLang="zh-CN" sz="4800" dirty="0" smtClean="0">
              <a:latin typeface="Calibri" panose="020F0502020204030204" pitchFamily="34" charset="0"/>
            </a:endParaRPr>
          </a:p>
        </p:txBody>
      </p:sp>
      <p:sp>
        <p:nvSpPr>
          <p:cNvPr id="28675" name="Rectangle 3"/>
          <p:cNvSpPr>
            <a:spLocks noGrp="1" noChangeArrowheads="1"/>
          </p:cNvSpPr>
          <p:nvPr>
            <p:ph type="body" idx="1"/>
          </p:nvPr>
        </p:nvSpPr>
        <p:spPr>
          <a:xfrm>
            <a:off x="457307" y="1905040"/>
            <a:ext cx="8229385" cy="4571880"/>
          </a:xfrm>
        </p:spPr>
        <p:txBody>
          <a:bodyPr/>
          <a:lstStyle/>
          <a:p>
            <a:pPr eaLnBrk="1" hangingPunct="1">
              <a:lnSpc>
                <a:spcPct val="110000"/>
              </a:lnSpc>
              <a:spcBef>
                <a:spcPts val="1200"/>
              </a:spcBef>
              <a:buNone/>
            </a:pPr>
            <a:r>
              <a:rPr lang="zh-CN" altLang="zh-CN" sz="2800" dirty="0" smtClean="0">
                <a:latin typeface="Calibri" panose="020F0502020204030204" pitchFamily="34" charset="0"/>
              </a:rPr>
              <a:t>Idea behind Layer patterns:</a:t>
            </a:r>
            <a:endParaRPr lang="zh-CN" altLang="zh-CN" sz="2800" dirty="0" smtClean="0">
              <a:latin typeface="Calibri" panose="020F0502020204030204" pitchFamily="34" charset="0"/>
            </a:endParaRPr>
          </a:p>
          <a:p>
            <a:pPr eaLnBrk="1" hangingPunct="1">
              <a:lnSpc>
                <a:spcPct val="110000"/>
              </a:lnSpc>
              <a:spcBef>
                <a:spcPts val="1200"/>
              </a:spcBef>
            </a:pPr>
            <a:r>
              <a:rPr lang="zh-CN" altLang="zh-CN" sz="2800" dirty="0" smtClean="0">
                <a:latin typeface="Calibri" panose="020F0502020204030204" pitchFamily="34" charset="0"/>
              </a:rPr>
              <a:t>Organize the large-scale logical structure of a system into discrete layers of distinct, related responsibilities with a clean, cohesive separation of concerns such that the “lower” layers are low-level and general services, and the higher layers are more application specific.</a:t>
            </a:r>
            <a:endParaRPr lang="zh-CN" altLang="zh-CN" sz="2800" dirty="0" smtClean="0">
              <a:latin typeface="Calibri" panose="020F0502020204030204" pitchFamily="34" charset="0"/>
            </a:endParaRPr>
          </a:p>
          <a:p>
            <a:pPr eaLnBrk="1" hangingPunct="1">
              <a:lnSpc>
                <a:spcPct val="110000"/>
              </a:lnSpc>
              <a:spcBef>
                <a:spcPts val="1200"/>
              </a:spcBef>
            </a:pPr>
            <a:r>
              <a:rPr lang="zh-CN" altLang="zh-CN" sz="2800" dirty="0" smtClean="0">
                <a:latin typeface="Calibri" panose="020F0502020204030204" pitchFamily="34" charset="0"/>
              </a:rPr>
              <a:t>Collaboration and coupling is from higher to lower layers.</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17500" y="457277"/>
            <a:ext cx="8521588" cy="761981"/>
          </a:xfrm>
        </p:spPr>
        <p:txBody>
          <a:bodyPr/>
          <a:lstStyle/>
          <a:p>
            <a:pPr eaLnBrk="1" hangingPunct="1"/>
            <a:r>
              <a:rPr lang="zh-CN" altLang="zh-CN" sz="4000" dirty="0" smtClean="0">
                <a:latin typeface="Calibri" panose="020F0502020204030204" pitchFamily="34" charset="0"/>
              </a:rPr>
              <a:t>Inter-Layer and Inter-Package Coupling</a:t>
            </a:r>
            <a:endParaRPr lang="en-US" altLang="zh-CN" sz="4000" dirty="0" smtClean="0">
              <a:latin typeface="Calibri" panose="020F0502020204030204" pitchFamily="34" charset="0"/>
            </a:endParaRPr>
          </a:p>
        </p:txBody>
      </p:sp>
      <p:sp>
        <p:nvSpPr>
          <p:cNvPr id="29699" name="Rectangle 3"/>
          <p:cNvSpPr>
            <a:spLocks noGrp="1" noChangeArrowheads="1"/>
          </p:cNvSpPr>
          <p:nvPr>
            <p:ph type="body" idx="1"/>
          </p:nvPr>
        </p:nvSpPr>
        <p:spPr/>
        <p:txBody>
          <a:bodyPr/>
          <a:lstStyle/>
          <a:p>
            <a:pPr eaLnBrk="1" hangingPunct="1">
              <a:lnSpc>
                <a:spcPct val="110000"/>
              </a:lnSpc>
              <a:spcBef>
                <a:spcPts val="1800"/>
              </a:spcBef>
            </a:pPr>
            <a:r>
              <a:rPr lang="zh-CN" altLang="zh-CN" dirty="0" smtClean="0">
                <a:latin typeface="Calibri" panose="020F0502020204030204" pitchFamily="34" charset="0"/>
              </a:rPr>
              <a:t>It is informative to include a diagram in the logical view that shows the coupling between the layers and packages.</a:t>
            </a:r>
            <a:endParaRPr lang="zh-CN" altLang="zh-CN" dirty="0" smtClean="0">
              <a:latin typeface="Calibri" panose="020F0502020204030204" pitchFamily="34" charset="0"/>
            </a:endParaRPr>
          </a:p>
          <a:p>
            <a:pPr eaLnBrk="1" hangingPunct="1">
              <a:lnSpc>
                <a:spcPct val="110000"/>
              </a:lnSpc>
              <a:spcBef>
                <a:spcPts val="1800"/>
              </a:spcBef>
            </a:pPr>
            <a:r>
              <a:rPr lang="zh-CN" altLang="zh-CN" dirty="0" smtClean="0">
                <a:latin typeface="Calibri" panose="020F0502020204030204" pitchFamily="34" charset="0"/>
              </a:rPr>
              <a:t>Following figure shows the coupling.</a:t>
            </a:r>
            <a:endParaRPr lang="en-US" altLang="zh-CN"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30722" name="Picture 4" descr="Layers-POS2"/>
          <p:cNvPicPr>
            <a:picLocks noChangeAspect="1" noChangeArrowheads="1"/>
          </p:cNvPicPr>
          <p:nvPr/>
        </p:nvPicPr>
        <p:blipFill>
          <a:blip r:embed="rId1" cstate="print"/>
          <a:srcRect/>
          <a:stretch>
            <a:fillRect/>
          </a:stretch>
        </p:blipFill>
        <p:spPr bwMode="auto">
          <a:xfrm>
            <a:off x="990600" y="1004888"/>
            <a:ext cx="7162800" cy="5619750"/>
          </a:xfrm>
          <a:prstGeom prst="rect">
            <a:avLst/>
          </a:prstGeom>
          <a:noFill/>
          <a:ln w="9525">
            <a:noFill/>
            <a:miter lim="800000"/>
            <a:headEnd/>
            <a:tailEnd/>
          </a:ln>
        </p:spPr>
      </p:pic>
      <p:sp>
        <p:nvSpPr>
          <p:cNvPr id="30723" name="Rectangle 5"/>
          <p:cNvSpPr>
            <a:spLocks noChangeArrowheads="1"/>
          </p:cNvSpPr>
          <p:nvPr/>
        </p:nvSpPr>
        <p:spPr bwMode="auto">
          <a:xfrm>
            <a:off x="419100" y="201613"/>
            <a:ext cx="8442325" cy="519112"/>
          </a:xfrm>
          <a:prstGeom prst="rect">
            <a:avLst/>
          </a:prstGeom>
          <a:noFill/>
          <a:ln w="9525">
            <a:noFill/>
            <a:miter lim="800000"/>
          </a:ln>
        </p:spPr>
        <p:txBody>
          <a:bodyPr wrap="none">
            <a:spAutoFit/>
          </a:bodyPr>
          <a:lstStyle/>
          <a:p>
            <a:r>
              <a:rPr lang="en-US" altLang="zh-CN" sz="2800">
                <a:solidFill>
                  <a:schemeClr val="bg2"/>
                </a:solidFill>
                <a:latin typeface="Arial" panose="020B0604020202020204" pitchFamily="34" charset="0"/>
                <a:ea typeface="黑体" panose="02010609060101010101" pitchFamily="49" charset="-122"/>
              </a:rPr>
              <a:t>Fig. 34.2  </a:t>
            </a:r>
            <a:r>
              <a:rPr lang="zh-CN" altLang="zh-CN" sz="2800">
                <a:solidFill>
                  <a:schemeClr val="bg2"/>
                </a:solidFill>
                <a:latin typeface="Arial" panose="020B0604020202020204" pitchFamily="34" charset="0"/>
                <a:ea typeface="黑体" panose="02010609060101010101" pitchFamily="49" charset="-122"/>
              </a:rPr>
              <a:t>Partial coupling between Packages</a:t>
            </a:r>
            <a:r>
              <a:rPr lang="en-US" altLang="zh-CN" sz="2800">
                <a:solidFill>
                  <a:schemeClr val="bg2"/>
                </a:solidFill>
                <a:latin typeface="Arial" panose="020B0604020202020204" pitchFamily="34" charset="0"/>
                <a:ea typeface="黑体" panose="02010609060101010101" pitchFamily="49" charset="-122"/>
              </a:rPr>
              <a:t> (p405)</a:t>
            </a:r>
            <a:endParaRPr lang="en-US" altLang="zh-CN" sz="2800">
              <a:solidFill>
                <a:schemeClr val="bg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8714" y="457277"/>
            <a:ext cx="8915286" cy="838179"/>
          </a:xfrm>
        </p:spPr>
        <p:txBody>
          <a:bodyPr/>
          <a:lstStyle/>
          <a:p>
            <a:pPr eaLnBrk="1" hangingPunct="1"/>
            <a:r>
              <a:rPr lang="zh-CN" altLang="zh-CN" sz="4000" dirty="0" smtClean="0">
                <a:latin typeface="Calibri" panose="020F0502020204030204" pitchFamily="34" charset="0"/>
              </a:rPr>
              <a:t>Inter-Layer and Inter-Package Interaction</a:t>
            </a:r>
            <a:endParaRPr lang="en-US" altLang="zh-CN" sz="4000" dirty="0" smtClean="0">
              <a:latin typeface="Calibri" panose="020F0502020204030204" pitchFamily="34" charset="0"/>
            </a:endParaRPr>
          </a:p>
        </p:txBody>
      </p:sp>
      <p:sp>
        <p:nvSpPr>
          <p:cNvPr id="31747" name="Rectangle 3"/>
          <p:cNvSpPr>
            <a:spLocks noGrp="1" noChangeArrowheads="1"/>
          </p:cNvSpPr>
          <p:nvPr>
            <p:ph type="body" idx="1"/>
          </p:nvPr>
        </p:nvSpPr>
        <p:spPr>
          <a:xfrm>
            <a:off x="381000" y="1905040"/>
            <a:ext cx="8208963" cy="4038560"/>
          </a:xfrm>
        </p:spPr>
        <p:txBody>
          <a:bodyPr/>
          <a:lstStyle/>
          <a:p>
            <a:pPr eaLnBrk="1" hangingPunct="1">
              <a:lnSpc>
                <a:spcPct val="110000"/>
              </a:lnSpc>
              <a:spcBef>
                <a:spcPts val="1800"/>
              </a:spcBef>
            </a:pPr>
            <a:r>
              <a:rPr lang="zh-CN" altLang="zh-CN" sz="2800" dirty="0" smtClean="0">
                <a:latin typeface="Calibri" panose="020F0502020204030204" pitchFamily="34" charset="0"/>
              </a:rPr>
              <a:t>Emphasizes the dynamics of how objects across the layers connect and communicate.</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The interaction diagram focuses on the logical view and on the collaborations between the layers and package boundaries.</a:t>
            </a:r>
            <a:endParaRPr lang="zh-CN" altLang="zh-CN" sz="2800" dirty="0" smtClean="0">
              <a:latin typeface="Calibri" panose="020F0502020204030204" pitchFamily="34" charset="0"/>
            </a:endParaRPr>
          </a:p>
          <a:p>
            <a:pPr eaLnBrk="1" hangingPunct="1">
              <a:buFont typeface="Wingdings" panose="05000000000000000000" pitchFamily="2" charset="2"/>
              <a:buNone/>
            </a:pPr>
            <a:endParaRPr lang="en-US" altLang="zh-CN"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17500" y="160874"/>
            <a:ext cx="7302500" cy="1323439"/>
          </a:xfrm>
        </p:spPr>
        <p:txBody>
          <a:bodyPr/>
          <a:lstStyle/>
          <a:p>
            <a:pPr eaLnBrk="1" hangingPunct="1"/>
            <a:r>
              <a:rPr lang="zh-CN" altLang="zh-CN" sz="4000" dirty="0" smtClean="0">
                <a:latin typeface="Calibri" panose="020F0502020204030204" pitchFamily="34" charset="0"/>
              </a:rPr>
              <a:t>Logical vs. Process and Deployment of Architecture</a:t>
            </a:r>
            <a:endParaRPr lang="en-US" altLang="zh-CN" sz="4000" dirty="0" smtClean="0">
              <a:latin typeface="Calibri" panose="020F0502020204030204" pitchFamily="34" charset="0"/>
            </a:endParaRPr>
          </a:p>
        </p:txBody>
      </p:sp>
      <p:sp>
        <p:nvSpPr>
          <p:cNvPr id="32771" name="Rectangle 3"/>
          <p:cNvSpPr>
            <a:spLocks noGrp="1" noChangeArrowheads="1"/>
          </p:cNvSpPr>
          <p:nvPr>
            <p:ph type="body" idx="4294967295"/>
          </p:nvPr>
        </p:nvSpPr>
        <p:spPr>
          <a:xfrm>
            <a:off x="381000" y="1981238"/>
            <a:ext cx="8534286" cy="4038562"/>
          </a:xfrm>
        </p:spPr>
        <p:txBody>
          <a:bodyPr/>
          <a:lstStyle/>
          <a:p>
            <a:pPr eaLnBrk="1" hangingPunct="1">
              <a:lnSpc>
                <a:spcPct val="110000"/>
              </a:lnSpc>
              <a:spcBef>
                <a:spcPts val="1800"/>
              </a:spcBef>
            </a:pPr>
            <a:r>
              <a:rPr lang="zh-CN" altLang="zh-CN" sz="2800" dirty="0" smtClean="0">
                <a:latin typeface="Calibri" panose="020F0502020204030204" pitchFamily="34" charset="0"/>
              </a:rPr>
              <a:t>Architectural Layers are a logical view of the architecture</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They are not a deployment view of elements to process.</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Depending on platform, all layers could be deployed within the same process on same node.</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Or across many computers.</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17500" y="533475"/>
            <a:ext cx="8673984" cy="761981"/>
          </a:xfrm>
        </p:spPr>
        <p:txBody>
          <a:bodyPr/>
          <a:lstStyle/>
          <a:p>
            <a:pPr eaLnBrk="1" hangingPunct="1"/>
            <a:r>
              <a:rPr lang="zh-CN" altLang="zh-CN" sz="4000" dirty="0" smtClean="0">
                <a:latin typeface="Calibri" panose="020F0502020204030204" pitchFamily="34" charset="0"/>
              </a:rPr>
              <a:t>Terminology:Tier, Layers, and Partitions</a:t>
            </a:r>
            <a:endParaRPr lang="en-US" altLang="zh-CN" sz="4000" dirty="0" smtClean="0">
              <a:latin typeface="Calibri" panose="020F0502020204030204" pitchFamily="34" charset="0"/>
            </a:endParaRPr>
          </a:p>
        </p:txBody>
      </p:sp>
      <p:sp>
        <p:nvSpPr>
          <p:cNvPr id="33795" name="Rectangle 3"/>
          <p:cNvSpPr>
            <a:spLocks noGrp="1" noChangeArrowheads="1"/>
          </p:cNvSpPr>
          <p:nvPr>
            <p:ph type="body" idx="1"/>
          </p:nvPr>
        </p:nvSpPr>
        <p:spPr>
          <a:xfrm>
            <a:off x="328613" y="1941513"/>
            <a:ext cx="8208962" cy="3468635"/>
          </a:xfrm>
        </p:spPr>
        <p:txBody>
          <a:bodyPr/>
          <a:lstStyle/>
          <a:p>
            <a:pPr eaLnBrk="1" hangingPunct="1">
              <a:lnSpc>
                <a:spcPct val="110000"/>
              </a:lnSpc>
              <a:spcBef>
                <a:spcPts val="1800"/>
              </a:spcBef>
            </a:pPr>
            <a:r>
              <a:rPr lang="zh-CN" altLang="zh-CN" sz="2800" dirty="0" smtClean="0">
                <a:latin typeface="Calibri" panose="020F0502020204030204" pitchFamily="34" charset="0"/>
              </a:rPr>
              <a:t>Tier relates to physical processing node or clusters of node, such as “client tier”.</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Layers of an architecture represent the vertical slices</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Partitions represents a horizontal division of relatively parallel subsystems of a layer.</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34818" name="Picture 4" descr="Layers-Basic Def"/>
          <p:cNvPicPr>
            <a:picLocks noChangeAspect="1" noChangeArrowheads="1"/>
          </p:cNvPicPr>
          <p:nvPr/>
        </p:nvPicPr>
        <p:blipFill>
          <a:blip r:embed="rId1" cstate="print"/>
          <a:srcRect/>
          <a:stretch>
            <a:fillRect/>
          </a:stretch>
        </p:blipFill>
        <p:spPr bwMode="auto">
          <a:xfrm>
            <a:off x="533400" y="838200"/>
            <a:ext cx="8001000" cy="5926138"/>
          </a:xfrm>
          <a:prstGeom prst="rect">
            <a:avLst/>
          </a:prstGeom>
          <a:noFill/>
          <a:ln w="9525">
            <a:noFill/>
            <a:miter lim="800000"/>
            <a:headEnd/>
            <a:tailEnd/>
          </a:ln>
        </p:spPr>
      </p:pic>
      <p:sp>
        <p:nvSpPr>
          <p:cNvPr id="34819" name="Rectangle 6"/>
          <p:cNvSpPr>
            <a:spLocks noChangeArrowheads="1"/>
          </p:cNvSpPr>
          <p:nvPr/>
        </p:nvSpPr>
        <p:spPr bwMode="auto">
          <a:xfrm>
            <a:off x="644525" y="152400"/>
            <a:ext cx="7854950" cy="579438"/>
          </a:xfrm>
          <a:prstGeom prst="rect">
            <a:avLst/>
          </a:prstGeom>
          <a:noFill/>
          <a:ln w="9525">
            <a:noFill/>
            <a:miter lim="800000"/>
          </a:ln>
        </p:spPr>
        <p:txBody>
          <a:bodyPr>
            <a:spAutoFit/>
          </a:bodyPr>
          <a:lstStyle/>
          <a:p>
            <a:r>
              <a:rPr lang="en-US" altLang="zh-CN" sz="3200">
                <a:solidFill>
                  <a:schemeClr val="bg2"/>
                </a:solidFill>
                <a:latin typeface="Arial" panose="020B0604020202020204" pitchFamily="34" charset="0"/>
                <a:ea typeface="黑体" panose="02010609060101010101" pitchFamily="49" charset="-122"/>
              </a:rPr>
              <a:t>Fig. 13.4  </a:t>
            </a:r>
            <a:r>
              <a:rPr lang="zh-CN" altLang="en-US" sz="3200">
                <a:solidFill>
                  <a:schemeClr val="bg2"/>
                </a:solidFill>
                <a:latin typeface="Arial" panose="020B0604020202020204" pitchFamily="34" charset="0"/>
                <a:ea typeface="黑体" panose="02010609060101010101" pitchFamily="49" charset="-122"/>
              </a:rPr>
              <a:t>信息系统逻辑架构常见层  </a:t>
            </a:r>
            <a:r>
              <a:rPr lang="en-US" altLang="zh-CN" sz="3200">
                <a:solidFill>
                  <a:schemeClr val="bg2"/>
                </a:solidFill>
                <a:latin typeface="Arial" panose="020B0604020202020204" pitchFamily="34" charset="0"/>
                <a:ea typeface="黑体" panose="02010609060101010101" pitchFamily="49" charset="-122"/>
              </a:rPr>
              <a:t>(p150)</a:t>
            </a:r>
            <a:endParaRPr lang="en-US" altLang="zh-CN" sz="3200">
              <a:solidFill>
                <a:schemeClr val="bg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35842" name="Picture 4" descr="Layers 3"/>
          <p:cNvPicPr>
            <a:picLocks noChangeAspect="1" noChangeArrowheads="1"/>
          </p:cNvPicPr>
          <p:nvPr/>
        </p:nvPicPr>
        <p:blipFill>
          <a:blip r:embed="rId1" cstate="print"/>
          <a:srcRect/>
          <a:stretch>
            <a:fillRect/>
          </a:stretch>
        </p:blipFill>
        <p:spPr bwMode="auto">
          <a:xfrm>
            <a:off x="457200" y="1725613"/>
            <a:ext cx="8229600" cy="3406775"/>
          </a:xfrm>
          <a:prstGeom prst="rect">
            <a:avLst/>
          </a:prstGeom>
          <a:noFill/>
          <a:ln w="9525">
            <a:noFill/>
            <a:miter lim="800000"/>
            <a:headEnd/>
            <a:tailEnd/>
          </a:ln>
        </p:spPr>
      </p:pic>
      <p:sp>
        <p:nvSpPr>
          <p:cNvPr id="35843" name="Rectangle 6"/>
          <p:cNvSpPr>
            <a:spLocks noChangeArrowheads="1"/>
          </p:cNvSpPr>
          <p:nvPr/>
        </p:nvSpPr>
        <p:spPr bwMode="auto">
          <a:xfrm>
            <a:off x="838200" y="533400"/>
            <a:ext cx="7854950" cy="579438"/>
          </a:xfrm>
          <a:prstGeom prst="rect">
            <a:avLst/>
          </a:prstGeom>
          <a:noFill/>
          <a:ln w="9525">
            <a:noFill/>
            <a:miter lim="800000"/>
          </a:ln>
        </p:spPr>
        <p:txBody>
          <a:bodyPr>
            <a:spAutoFit/>
          </a:bodyPr>
          <a:lstStyle/>
          <a:p>
            <a:r>
              <a:rPr lang="en-US" altLang="zh-CN" sz="3200">
                <a:solidFill>
                  <a:schemeClr val="bg2"/>
                </a:solidFill>
                <a:latin typeface="Arial" panose="020B0604020202020204" pitchFamily="34" charset="0"/>
                <a:ea typeface="黑体" panose="02010609060101010101" pitchFamily="49" charset="-122"/>
              </a:rPr>
              <a:t>Fig. 13.6  </a:t>
            </a:r>
            <a:r>
              <a:rPr lang="zh-CN" altLang="en-US" sz="3200">
                <a:solidFill>
                  <a:schemeClr val="bg2"/>
                </a:solidFill>
                <a:latin typeface="Arial" panose="020B0604020202020204" pitchFamily="34" charset="0"/>
                <a:ea typeface="黑体" panose="02010609060101010101" pitchFamily="49" charset="-122"/>
              </a:rPr>
              <a:t>层和分区  </a:t>
            </a:r>
            <a:r>
              <a:rPr lang="en-US" altLang="zh-CN" sz="3200">
                <a:solidFill>
                  <a:schemeClr val="bg2"/>
                </a:solidFill>
                <a:latin typeface="Arial" panose="020B0604020202020204" pitchFamily="34" charset="0"/>
                <a:ea typeface="黑体" panose="02010609060101010101" pitchFamily="49" charset="-122"/>
              </a:rPr>
              <a:t>(p153)</a:t>
            </a:r>
            <a:endParaRPr lang="en-US" altLang="zh-CN" sz="3200">
              <a:solidFill>
                <a:schemeClr val="bg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317500" y="200561"/>
            <a:ext cx="8216900" cy="1323439"/>
          </a:xfrm>
        </p:spPr>
        <p:txBody>
          <a:bodyPr/>
          <a:lstStyle/>
          <a:p>
            <a:pPr eaLnBrk="1" hangingPunct="1"/>
            <a:r>
              <a:rPr lang="zh-CN" altLang="zh-CN" sz="4000" dirty="0" smtClean="0">
                <a:latin typeface="Calibri" panose="020F0502020204030204" pitchFamily="34" charset="0"/>
              </a:rPr>
              <a:t>How do we design application logic with objects?</a:t>
            </a:r>
            <a:endParaRPr lang="en-US" altLang="zh-CN" sz="4000" dirty="0" smtClean="0">
              <a:latin typeface="Calibri" panose="020F0502020204030204" pitchFamily="34" charset="0"/>
            </a:endParaRPr>
          </a:p>
        </p:txBody>
      </p:sp>
      <p:sp>
        <p:nvSpPr>
          <p:cNvPr id="36867" name="Rectangle 3"/>
          <p:cNvSpPr>
            <a:spLocks noGrp="1" noChangeArrowheads="1"/>
          </p:cNvSpPr>
          <p:nvPr>
            <p:ph type="body" idx="1"/>
          </p:nvPr>
        </p:nvSpPr>
        <p:spPr>
          <a:xfrm>
            <a:off x="228600" y="1905040"/>
            <a:ext cx="8686800" cy="4190960"/>
          </a:xfrm>
        </p:spPr>
        <p:txBody>
          <a:bodyPr/>
          <a:lstStyle/>
          <a:p>
            <a:pPr eaLnBrk="1" hangingPunct="1">
              <a:lnSpc>
                <a:spcPct val="110000"/>
              </a:lnSpc>
              <a:spcBef>
                <a:spcPts val="1800"/>
              </a:spcBef>
            </a:pPr>
            <a:r>
              <a:rPr lang="zh-CN" altLang="zh-CN" sz="2800" dirty="0" smtClean="0">
                <a:latin typeface="Calibri" panose="020F0502020204030204" pitchFamily="34" charset="0"/>
              </a:rPr>
              <a:t>We could create one class and put all logic in it, but that violates the whole spirit of object orientation.</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We create software objects with names drawn from the real world, and assign application logic responsibilities to them.</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It takes a lot of skill and experience to do a good job of choosing objects and assigning responsibilities.</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04912" y="533476"/>
            <a:ext cx="7302500" cy="707886"/>
          </a:xfrm>
        </p:spPr>
        <p:txBody>
          <a:bodyPr/>
          <a:lstStyle/>
          <a:p>
            <a:pPr eaLnBrk="1" hangingPunct="1"/>
            <a:r>
              <a:rPr lang="zh-CN" altLang="zh-CN" sz="4000" dirty="0" smtClean="0">
                <a:latin typeface="Calibri" panose="020F0502020204030204" pitchFamily="34" charset="0"/>
              </a:rPr>
              <a:t>Domain Layer and Domain Model</a:t>
            </a:r>
            <a:endParaRPr lang="en-US" altLang="zh-CN" sz="4000" dirty="0" smtClean="0">
              <a:latin typeface="Calibri" panose="020F0502020204030204" pitchFamily="34" charset="0"/>
            </a:endParaRPr>
          </a:p>
        </p:txBody>
      </p:sp>
      <p:sp>
        <p:nvSpPr>
          <p:cNvPr id="37891" name="Rectangle 3"/>
          <p:cNvSpPr>
            <a:spLocks noGrp="1" noChangeArrowheads="1"/>
          </p:cNvSpPr>
          <p:nvPr>
            <p:ph type="body" idx="1"/>
          </p:nvPr>
        </p:nvSpPr>
        <p:spPr/>
        <p:txBody>
          <a:bodyPr/>
          <a:lstStyle/>
          <a:p>
            <a:pPr eaLnBrk="1" hangingPunct="1">
              <a:lnSpc>
                <a:spcPct val="110000"/>
              </a:lnSpc>
              <a:spcBef>
                <a:spcPts val="1800"/>
              </a:spcBef>
            </a:pPr>
            <a:r>
              <a:rPr lang="zh-CN" altLang="zh-CN" sz="2800" dirty="0" smtClean="0">
                <a:latin typeface="Calibri" panose="020F0502020204030204" pitchFamily="34" charset="0"/>
              </a:rPr>
              <a:t>These are not the same thing. Domain model shows the real world, while the Domain layer shows the software architecture.</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But the Domain model inspires the Domain layer, and is the source of many of the concept, especially class names.</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Do not confuse the problem with the solution.</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38914" name="Picture 4" descr="Low representational gap"/>
          <p:cNvPicPr>
            <a:picLocks noChangeAspect="1" noChangeArrowheads="1"/>
          </p:cNvPicPr>
          <p:nvPr/>
        </p:nvPicPr>
        <p:blipFill>
          <a:blip r:embed="rId1" cstate="print"/>
          <a:srcRect/>
          <a:stretch>
            <a:fillRect/>
          </a:stretch>
        </p:blipFill>
        <p:spPr bwMode="auto">
          <a:xfrm>
            <a:off x="685800" y="1069975"/>
            <a:ext cx="7848600" cy="5062538"/>
          </a:xfrm>
          <a:prstGeom prst="rect">
            <a:avLst/>
          </a:prstGeom>
          <a:noFill/>
          <a:ln w="9525">
            <a:noFill/>
            <a:miter lim="800000"/>
            <a:headEnd/>
            <a:tailEnd/>
          </a:ln>
        </p:spPr>
      </p:pic>
      <p:sp>
        <p:nvSpPr>
          <p:cNvPr id="38915" name="Rectangle 6"/>
          <p:cNvSpPr>
            <a:spLocks noChangeArrowheads="1"/>
          </p:cNvSpPr>
          <p:nvPr/>
        </p:nvSpPr>
        <p:spPr bwMode="auto">
          <a:xfrm>
            <a:off x="762000" y="304800"/>
            <a:ext cx="7854950" cy="579438"/>
          </a:xfrm>
          <a:prstGeom prst="rect">
            <a:avLst/>
          </a:prstGeom>
          <a:noFill/>
          <a:ln w="9525">
            <a:noFill/>
            <a:miter lim="800000"/>
          </a:ln>
        </p:spPr>
        <p:txBody>
          <a:bodyPr>
            <a:spAutoFit/>
          </a:bodyPr>
          <a:lstStyle/>
          <a:p>
            <a:r>
              <a:rPr lang="en-US" altLang="zh-CN" sz="3200">
                <a:solidFill>
                  <a:schemeClr val="bg2"/>
                </a:solidFill>
                <a:latin typeface="Arial" panose="020B0604020202020204" pitchFamily="34" charset="0"/>
                <a:ea typeface="黑体" panose="02010609060101010101" pitchFamily="49" charset="-122"/>
              </a:rPr>
              <a:t>Fig. 13.5  </a:t>
            </a:r>
            <a:r>
              <a:rPr lang="zh-CN" altLang="en-US" sz="3200">
                <a:solidFill>
                  <a:schemeClr val="bg2"/>
                </a:solidFill>
                <a:latin typeface="Arial" panose="020B0604020202020204" pitchFamily="34" charset="0"/>
                <a:ea typeface="黑体" panose="02010609060101010101" pitchFamily="49" charset="-122"/>
              </a:rPr>
              <a:t>领域层和领域模型的关系  </a:t>
            </a:r>
            <a:r>
              <a:rPr lang="en-US" altLang="zh-CN" sz="3200">
                <a:solidFill>
                  <a:schemeClr val="bg2"/>
                </a:solidFill>
                <a:latin typeface="Arial" panose="020B0604020202020204" pitchFamily="34" charset="0"/>
                <a:ea typeface="黑体" panose="02010609060101010101" pitchFamily="49" charset="-122"/>
              </a:rPr>
              <a:t>(p152)</a:t>
            </a:r>
            <a:endParaRPr lang="en-US" altLang="zh-CN" sz="3200">
              <a:solidFill>
                <a:schemeClr val="bg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304912" y="685872"/>
            <a:ext cx="8637588" cy="707886"/>
          </a:xfrm>
        </p:spPr>
        <p:txBody>
          <a:bodyPr/>
          <a:lstStyle/>
          <a:p>
            <a:pPr eaLnBrk="1" hangingPunct="1"/>
            <a:r>
              <a:rPr lang="zh-CN" altLang="zh-CN" sz="4000" dirty="0" smtClean="0">
                <a:latin typeface="Calibri" panose="020F0502020204030204" pitchFamily="34" charset="0"/>
              </a:rPr>
              <a:t>Information Systems</a:t>
            </a:r>
            <a:endParaRPr lang="en-US" altLang="zh-CN" sz="4000" dirty="0" smtClean="0">
              <a:latin typeface="Calibri" panose="020F0502020204030204" pitchFamily="34" charset="0"/>
            </a:endParaRPr>
          </a:p>
        </p:txBody>
      </p:sp>
      <p:sp>
        <p:nvSpPr>
          <p:cNvPr id="39939" name="Rectangle 3"/>
          <p:cNvSpPr>
            <a:spLocks noGrp="1" noChangeArrowheads="1"/>
          </p:cNvSpPr>
          <p:nvPr>
            <p:ph type="body" idx="1"/>
          </p:nvPr>
        </p:nvSpPr>
        <p:spPr/>
        <p:txBody>
          <a:bodyPr/>
          <a:lstStyle/>
          <a:p>
            <a:pPr eaLnBrk="1" hangingPunct="1">
              <a:spcBef>
                <a:spcPts val="1200"/>
              </a:spcBef>
            </a:pPr>
            <a:r>
              <a:rPr lang="zh-CN" altLang="zh-CN" sz="2800" dirty="0" smtClean="0">
                <a:latin typeface="Calibri" panose="020F0502020204030204" pitchFamily="34" charset="0"/>
              </a:rPr>
              <a:t>In IS layered architecture was known as three-tier architecture.</a:t>
            </a:r>
            <a:endParaRPr lang="zh-CN" altLang="zh-CN" sz="2800" dirty="0" smtClean="0">
              <a:latin typeface="Calibri" panose="020F0502020204030204" pitchFamily="34" charset="0"/>
            </a:endParaRPr>
          </a:p>
          <a:p>
            <a:pPr eaLnBrk="1" hangingPunct="1">
              <a:spcBef>
                <a:spcPts val="1200"/>
              </a:spcBef>
            </a:pPr>
            <a:r>
              <a:rPr lang="zh-CN" altLang="zh-CN" sz="2800" dirty="0" smtClean="0">
                <a:latin typeface="Calibri" panose="020F0502020204030204" pitchFamily="34" charset="0"/>
              </a:rPr>
              <a:t>A three-tier architecture has interface, Application logic and a storage.</a:t>
            </a:r>
            <a:endParaRPr lang="zh-CN" altLang="zh-CN" sz="2800" dirty="0" smtClean="0">
              <a:latin typeface="Calibri" panose="020F0502020204030204" pitchFamily="34" charset="0"/>
            </a:endParaRPr>
          </a:p>
          <a:p>
            <a:pPr eaLnBrk="1" hangingPunct="1">
              <a:spcBef>
                <a:spcPts val="1200"/>
              </a:spcBef>
            </a:pPr>
            <a:r>
              <a:rPr lang="zh-CN" altLang="zh-CN" sz="2800" dirty="0" smtClean="0">
                <a:latin typeface="Calibri" panose="020F0502020204030204" pitchFamily="34" charset="0"/>
              </a:rPr>
              <a:t>The singular quality of 3-tier architecture is:</a:t>
            </a:r>
            <a:endParaRPr lang="zh-CN" altLang="zh-CN" sz="2800" dirty="0" smtClean="0">
              <a:latin typeface="Calibri" panose="020F0502020204030204" pitchFamily="34" charset="0"/>
            </a:endParaRPr>
          </a:p>
          <a:p>
            <a:pPr eaLnBrk="1" hangingPunct="1">
              <a:spcBef>
                <a:spcPts val="1200"/>
              </a:spcBef>
            </a:pPr>
            <a:r>
              <a:rPr lang="zh-CN" altLang="zh-CN" sz="2800" dirty="0" smtClean="0">
                <a:latin typeface="Calibri" panose="020F0502020204030204" pitchFamily="34" charset="0"/>
              </a:rPr>
              <a:t>Separation of the application logic into distinct logical middle tier of software.</a:t>
            </a:r>
            <a:endParaRPr lang="zh-CN" altLang="zh-CN" sz="2800" dirty="0" smtClean="0">
              <a:latin typeface="Calibri" panose="020F0502020204030204" pitchFamily="34" charset="0"/>
            </a:endParaRPr>
          </a:p>
          <a:p>
            <a:pPr eaLnBrk="1" hangingPunct="1">
              <a:spcBef>
                <a:spcPts val="1200"/>
              </a:spcBef>
            </a:pPr>
            <a:r>
              <a:rPr lang="zh-CN" altLang="zh-CN" sz="2800" dirty="0" smtClean="0">
                <a:latin typeface="Calibri" panose="020F0502020204030204" pitchFamily="34" charset="0"/>
              </a:rPr>
              <a:t>The interface tier is relatively free of application processing.</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17500" y="776427"/>
            <a:ext cx="8637588" cy="707886"/>
          </a:xfrm>
        </p:spPr>
        <p:txBody>
          <a:bodyPr/>
          <a:lstStyle/>
          <a:p>
            <a:pPr eaLnBrk="1" hangingPunct="1"/>
            <a:r>
              <a:rPr lang="zh-CN" altLang="zh-CN" sz="4000" dirty="0" smtClean="0">
                <a:latin typeface="Calibri" panose="020F0502020204030204" pitchFamily="34" charset="0"/>
              </a:rPr>
              <a:t>Information Systems(cont..)</a:t>
            </a:r>
            <a:endParaRPr lang="en-US" altLang="zh-CN" sz="4000" dirty="0" smtClean="0">
              <a:latin typeface="Calibri" panose="020F0502020204030204" pitchFamily="34" charset="0"/>
            </a:endParaRPr>
          </a:p>
        </p:txBody>
      </p:sp>
      <p:sp>
        <p:nvSpPr>
          <p:cNvPr id="40963" name="Rectangle 3"/>
          <p:cNvSpPr>
            <a:spLocks noGrp="1" noChangeArrowheads="1"/>
          </p:cNvSpPr>
          <p:nvPr>
            <p:ph type="body" idx="1"/>
          </p:nvPr>
        </p:nvSpPr>
        <p:spPr/>
        <p:txBody>
          <a:bodyPr/>
          <a:lstStyle/>
          <a:p>
            <a:pPr eaLnBrk="1" hangingPunct="1">
              <a:lnSpc>
                <a:spcPct val="110000"/>
              </a:lnSpc>
              <a:spcBef>
                <a:spcPts val="1800"/>
              </a:spcBef>
            </a:pPr>
            <a:r>
              <a:rPr lang="zh-CN" altLang="zh-CN" sz="2800" dirty="0" smtClean="0">
                <a:latin typeface="Calibri" panose="020F0502020204030204" pitchFamily="34" charset="0"/>
              </a:rPr>
              <a:t>The middle tier communicates with the back-end storage layer.</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The following is an example of 3-tier architecture.</a:t>
            </a:r>
            <a:endParaRPr lang="zh-CN" altLang="zh-CN" sz="2800" dirty="0" smtClean="0">
              <a:latin typeface="Calibri" panose="020F0502020204030204" pitchFamily="34" charset="0"/>
            </a:endParaRPr>
          </a:p>
          <a:p>
            <a:pPr eaLnBrk="1" hangingPunct="1">
              <a:buFont typeface="Wingdings" panose="05000000000000000000" pitchFamily="2" charset="2"/>
              <a:buNone/>
            </a:pPr>
            <a:endParaRPr lang="en-US" altLang="zh-CN" sz="2800" dirty="0"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41986" name="Picture 4" descr="Three-tier1"/>
          <p:cNvPicPr>
            <a:picLocks noChangeAspect="1" noChangeArrowheads="1"/>
          </p:cNvPicPr>
          <p:nvPr/>
        </p:nvPicPr>
        <p:blipFill>
          <a:blip r:embed="rId1" cstate="print"/>
          <a:srcRect/>
          <a:stretch>
            <a:fillRect/>
          </a:stretch>
        </p:blipFill>
        <p:spPr bwMode="auto">
          <a:xfrm>
            <a:off x="990600" y="1884363"/>
            <a:ext cx="7086600" cy="3989387"/>
          </a:xfrm>
          <a:prstGeom prst="rect">
            <a:avLst/>
          </a:prstGeom>
          <a:noFill/>
          <a:ln w="9525">
            <a:noFill/>
            <a:miter lim="800000"/>
            <a:headEnd/>
            <a:tailEnd/>
          </a:ln>
        </p:spPr>
      </p:pic>
      <p:sp>
        <p:nvSpPr>
          <p:cNvPr id="41987" name="Rectangle 5"/>
          <p:cNvSpPr>
            <a:spLocks noChangeArrowheads="1"/>
          </p:cNvSpPr>
          <p:nvPr/>
        </p:nvSpPr>
        <p:spPr bwMode="auto">
          <a:xfrm>
            <a:off x="644525" y="381000"/>
            <a:ext cx="7854950" cy="579438"/>
          </a:xfrm>
          <a:prstGeom prst="rect">
            <a:avLst/>
          </a:prstGeom>
          <a:noFill/>
          <a:ln w="9525">
            <a:noFill/>
            <a:miter lim="800000"/>
          </a:ln>
        </p:spPr>
        <p:txBody>
          <a:bodyPr>
            <a:spAutoFit/>
          </a:bodyPr>
          <a:lstStyle/>
          <a:p>
            <a:r>
              <a:rPr lang="en-US" altLang="zh-CN" sz="3200">
                <a:solidFill>
                  <a:schemeClr val="bg2"/>
                </a:solidFill>
                <a:latin typeface="Arial" panose="020B0604020202020204" pitchFamily="34" charset="0"/>
                <a:ea typeface="黑体" panose="02010609060101010101" pitchFamily="49" charset="-122"/>
              </a:rPr>
              <a:t>Fig. 34.11  </a:t>
            </a:r>
            <a:r>
              <a:rPr lang="zh-CN" altLang="en-US" sz="3200">
                <a:solidFill>
                  <a:schemeClr val="bg2"/>
                </a:solidFill>
                <a:latin typeface="Arial" panose="020B0604020202020204" pitchFamily="34" charset="0"/>
                <a:ea typeface="黑体" panose="02010609060101010101" pitchFamily="49" charset="-122"/>
              </a:rPr>
              <a:t>三层架构经典视图  </a:t>
            </a:r>
            <a:r>
              <a:rPr lang="en-US" altLang="zh-CN" sz="3200">
                <a:solidFill>
                  <a:schemeClr val="bg2"/>
                </a:solidFill>
                <a:latin typeface="Arial" panose="020B0604020202020204" pitchFamily="34" charset="0"/>
                <a:ea typeface="黑体" panose="02010609060101010101" pitchFamily="49" charset="-122"/>
              </a:rPr>
              <a:t>(p413)</a:t>
            </a:r>
            <a:endParaRPr lang="en-US" altLang="zh-CN" sz="3200">
              <a:solidFill>
                <a:schemeClr val="bg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43010" name="Picture 4" descr="Deployments of 3 tiers"/>
          <p:cNvPicPr>
            <a:picLocks noChangeAspect="1" noChangeArrowheads="1"/>
          </p:cNvPicPr>
          <p:nvPr/>
        </p:nvPicPr>
        <p:blipFill>
          <a:blip r:embed="rId1" cstate="print"/>
          <a:srcRect/>
          <a:stretch>
            <a:fillRect/>
          </a:stretch>
        </p:blipFill>
        <p:spPr bwMode="auto">
          <a:xfrm>
            <a:off x="533400" y="1828800"/>
            <a:ext cx="7886700" cy="3730625"/>
          </a:xfrm>
          <a:prstGeom prst="rect">
            <a:avLst/>
          </a:prstGeom>
          <a:noFill/>
          <a:ln w="9525">
            <a:noFill/>
            <a:miter lim="800000"/>
            <a:headEnd/>
            <a:tailEnd/>
          </a:ln>
        </p:spPr>
      </p:pic>
      <p:sp>
        <p:nvSpPr>
          <p:cNvPr id="43011" name="Rectangle 5"/>
          <p:cNvSpPr>
            <a:spLocks noChangeArrowheads="1"/>
          </p:cNvSpPr>
          <p:nvPr/>
        </p:nvSpPr>
        <p:spPr bwMode="auto">
          <a:xfrm>
            <a:off x="438150" y="381000"/>
            <a:ext cx="8267700" cy="1066800"/>
          </a:xfrm>
          <a:prstGeom prst="rect">
            <a:avLst/>
          </a:prstGeom>
          <a:noFill/>
          <a:ln w="9525">
            <a:noFill/>
            <a:miter lim="800000"/>
          </a:ln>
        </p:spPr>
        <p:txBody>
          <a:bodyPr>
            <a:spAutoFit/>
          </a:bodyPr>
          <a:lstStyle/>
          <a:p>
            <a:r>
              <a:rPr lang="en-US" altLang="zh-CN" sz="3200">
                <a:solidFill>
                  <a:schemeClr val="bg2"/>
                </a:solidFill>
                <a:latin typeface="Arial" panose="020B0604020202020204" pitchFamily="34" charset="0"/>
                <a:ea typeface="黑体" panose="02010609060101010101" pitchFamily="49" charset="-122"/>
              </a:rPr>
              <a:t>Fig. 34.12  </a:t>
            </a:r>
            <a:r>
              <a:rPr lang="zh-CN" altLang="en-US" sz="3200">
                <a:solidFill>
                  <a:schemeClr val="bg2"/>
                </a:solidFill>
                <a:latin typeface="Arial" panose="020B0604020202020204" pitchFamily="34" charset="0"/>
                <a:ea typeface="黑体" panose="02010609060101010101" pitchFamily="49" charset="-122"/>
              </a:rPr>
              <a:t>三层结构布署在两层</a:t>
            </a:r>
            <a:r>
              <a:rPr lang="en-US" altLang="zh-CN" sz="3200">
                <a:solidFill>
                  <a:schemeClr val="bg2"/>
                </a:solidFill>
                <a:latin typeface="Arial" panose="020B0604020202020204" pitchFamily="34" charset="0"/>
                <a:ea typeface="黑体" panose="02010609060101010101" pitchFamily="49" charset="-122"/>
              </a:rPr>
              <a:t>/</a:t>
            </a:r>
            <a:r>
              <a:rPr lang="zh-CN" altLang="en-US" sz="3200">
                <a:solidFill>
                  <a:schemeClr val="bg2"/>
                </a:solidFill>
                <a:latin typeface="Arial" panose="020B0604020202020204" pitchFamily="34" charset="0"/>
                <a:ea typeface="黑体" panose="02010609060101010101" pitchFamily="49" charset="-122"/>
              </a:rPr>
              <a:t>三层物理架构上  </a:t>
            </a:r>
            <a:r>
              <a:rPr lang="en-US" altLang="zh-CN" sz="3200">
                <a:solidFill>
                  <a:schemeClr val="bg2"/>
                </a:solidFill>
                <a:latin typeface="Arial" panose="020B0604020202020204" pitchFamily="34" charset="0"/>
                <a:ea typeface="黑体" panose="02010609060101010101" pitchFamily="49" charset="-122"/>
              </a:rPr>
              <a:t>(p414)</a:t>
            </a:r>
            <a:endParaRPr lang="en-US" altLang="zh-CN" sz="3200">
              <a:solidFill>
                <a:schemeClr val="bg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506412" y="609674"/>
            <a:ext cx="8256478" cy="707886"/>
          </a:xfrm>
        </p:spPr>
        <p:txBody>
          <a:bodyPr/>
          <a:lstStyle/>
          <a:p>
            <a:pPr eaLnBrk="1" hangingPunct="1"/>
            <a:r>
              <a:rPr lang="zh-CN" altLang="zh-CN" sz="4000" dirty="0" smtClean="0">
                <a:latin typeface="Calibri" panose="020F0502020204030204" pitchFamily="34" charset="0"/>
              </a:rPr>
              <a:t>Two-tier Design</a:t>
            </a:r>
            <a:endParaRPr lang="en-US" altLang="zh-CN" sz="4000" dirty="0" smtClean="0">
              <a:latin typeface="Calibri" panose="020F0502020204030204" pitchFamily="34" charset="0"/>
            </a:endParaRPr>
          </a:p>
        </p:txBody>
      </p:sp>
      <p:sp>
        <p:nvSpPr>
          <p:cNvPr id="44035" name="Rectangle 3"/>
          <p:cNvSpPr>
            <a:spLocks noGrp="1" noChangeArrowheads="1"/>
          </p:cNvSpPr>
          <p:nvPr>
            <p:ph type="body" idx="1"/>
          </p:nvPr>
        </p:nvSpPr>
        <p:spPr/>
        <p:txBody>
          <a:bodyPr/>
          <a:lstStyle/>
          <a:p>
            <a:pPr eaLnBrk="1" hangingPunct="1">
              <a:lnSpc>
                <a:spcPct val="110000"/>
              </a:lnSpc>
              <a:spcBef>
                <a:spcPts val="1800"/>
              </a:spcBef>
            </a:pPr>
            <a:r>
              <a:rPr lang="zh-CN" altLang="zh-CN" dirty="0" smtClean="0">
                <a:latin typeface="Calibri" panose="020F0502020204030204" pitchFamily="34" charset="0"/>
              </a:rPr>
              <a:t>In this design, the application logic is placed within window definitions, which read and writes directly to database.</a:t>
            </a:r>
            <a:endParaRPr lang="zh-CN" altLang="zh-CN" dirty="0" smtClean="0">
              <a:latin typeface="Calibri" panose="020F0502020204030204" pitchFamily="34" charset="0"/>
            </a:endParaRPr>
          </a:p>
          <a:p>
            <a:pPr eaLnBrk="1" hangingPunct="1">
              <a:lnSpc>
                <a:spcPct val="110000"/>
              </a:lnSpc>
              <a:spcBef>
                <a:spcPts val="1800"/>
              </a:spcBef>
            </a:pPr>
            <a:r>
              <a:rPr lang="zh-CN" altLang="zh-CN" dirty="0" smtClean="0">
                <a:latin typeface="Calibri" panose="020F0502020204030204" pitchFamily="34" charset="0"/>
              </a:rPr>
              <a:t>There is no middle tier that separates out the application logic.</a:t>
            </a:r>
            <a:endParaRPr lang="zh-CN" altLang="zh-CN" dirty="0" smtClean="0">
              <a:latin typeface="Calibri" panose="020F0502020204030204" pitchFamily="34" charset="0"/>
            </a:endParaRPr>
          </a:p>
          <a:p>
            <a:pPr eaLnBrk="1" hangingPunct="1">
              <a:buFont typeface="Wingdings" panose="05000000000000000000" pitchFamily="2" charset="2"/>
              <a:buNone/>
            </a:pPr>
            <a:endParaRPr lang="en-US" altLang="zh-CN" sz="2800" dirty="0" smtClean="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308" y="548119"/>
            <a:ext cx="8305582" cy="707886"/>
          </a:xfrm>
        </p:spPr>
        <p:txBody>
          <a:bodyPr/>
          <a:lstStyle/>
          <a:p>
            <a:pPr eaLnBrk="1" hangingPunct="1"/>
            <a:r>
              <a:rPr lang="zh-CN" altLang="zh-CN" sz="4000" dirty="0" smtClean="0">
                <a:latin typeface="Calibri" panose="020F0502020204030204" pitchFamily="34" charset="0"/>
              </a:rPr>
              <a:t>The Model-View Separation</a:t>
            </a:r>
            <a:r>
              <a:rPr lang="en-US" altLang="zh-CN" sz="4000" dirty="0" smtClean="0">
                <a:latin typeface="Calibri" panose="020F0502020204030204" pitchFamily="34" charset="0"/>
              </a:rPr>
              <a:t> </a:t>
            </a:r>
            <a:r>
              <a:rPr lang="zh-CN" altLang="zh-CN" sz="4000" dirty="0" smtClean="0">
                <a:latin typeface="Calibri" panose="020F0502020204030204" pitchFamily="34" charset="0"/>
              </a:rPr>
              <a:t>Principle</a:t>
            </a:r>
            <a:endParaRPr lang="en-US" altLang="zh-CN" sz="4000" dirty="0" smtClean="0">
              <a:latin typeface="Calibri" panose="020F0502020204030204" pitchFamily="34" charset="0"/>
            </a:endParaRPr>
          </a:p>
        </p:txBody>
      </p:sp>
      <p:sp>
        <p:nvSpPr>
          <p:cNvPr id="45059" name="Rectangle 3"/>
          <p:cNvSpPr>
            <a:spLocks noGrp="1" noChangeArrowheads="1"/>
          </p:cNvSpPr>
          <p:nvPr>
            <p:ph type="body" idx="1"/>
          </p:nvPr>
        </p:nvSpPr>
        <p:spPr>
          <a:xfrm>
            <a:off x="328613" y="1981237"/>
            <a:ext cx="8208962" cy="4190891"/>
          </a:xfrm>
        </p:spPr>
        <p:txBody>
          <a:bodyPr/>
          <a:lstStyle/>
          <a:p>
            <a:pPr eaLnBrk="1" hangingPunct="1">
              <a:lnSpc>
                <a:spcPct val="110000"/>
              </a:lnSpc>
              <a:spcBef>
                <a:spcPts val="1800"/>
              </a:spcBef>
            </a:pPr>
            <a:r>
              <a:rPr lang="zh-CN" altLang="zh-CN" dirty="0" smtClean="0">
                <a:latin typeface="Calibri" panose="020F0502020204030204" pitchFamily="34" charset="0"/>
              </a:rPr>
              <a:t>The principle states that model(domain) objects should not have direct knowledge of view(presentation) objects.</a:t>
            </a:r>
            <a:endParaRPr lang="zh-CN" altLang="zh-CN" dirty="0" smtClean="0">
              <a:latin typeface="Calibri" panose="020F0502020204030204" pitchFamily="34" charset="0"/>
            </a:endParaRPr>
          </a:p>
          <a:p>
            <a:pPr eaLnBrk="1" hangingPunct="1">
              <a:lnSpc>
                <a:spcPct val="110000"/>
              </a:lnSpc>
              <a:spcBef>
                <a:spcPts val="1800"/>
              </a:spcBef>
            </a:pPr>
            <a:r>
              <a:rPr lang="zh-CN" altLang="zh-CN" dirty="0" smtClean="0">
                <a:latin typeface="Calibri" panose="020F0502020204030204" pitchFamily="34" charset="0"/>
              </a:rPr>
              <a:t>Furthermore, the domain classes should encapsulate the information and behavior related to application logic.</a:t>
            </a:r>
            <a:endParaRPr lang="zh-CN" altLang="zh-CN" dirty="0" smtClean="0">
              <a:latin typeface="Calibri" panose="020F0502020204030204" pitchFamily="34" charset="0"/>
            </a:endParaRPr>
          </a:p>
          <a:p>
            <a:pPr eaLnBrk="1" hangingPunct="1">
              <a:buFont typeface="Wingdings" panose="05000000000000000000" pitchFamily="2" charset="2"/>
              <a:buNone/>
            </a:pPr>
            <a:endParaRPr lang="en-US" altLang="zh-CN" sz="2800" dirty="0" smtClean="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317500" y="587570"/>
            <a:ext cx="8673984" cy="707886"/>
          </a:xfrm>
        </p:spPr>
        <p:txBody>
          <a:bodyPr/>
          <a:lstStyle/>
          <a:p>
            <a:pPr eaLnBrk="1" hangingPunct="1"/>
            <a:r>
              <a:rPr lang="zh-CN" altLang="zh-CN" sz="4000" dirty="0" smtClean="0">
                <a:latin typeface="Calibri" panose="020F0502020204030204" pitchFamily="34" charset="0"/>
              </a:rPr>
              <a:t>Need for Model-View separation</a:t>
            </a:r>
            <a:endParaRPr lang="en-US" altLang="zh-CN" sz="4000" dirty="0" smtClean="0">
              <a:latin typeface="Calibri" panose="020F0502020204030204" pitchFamily="34" charset="0"/>
            </a:endParaRPr>
          </a:p>
        </p:txBody>
      </p:sp>
      <p:sp>
        <p:nvSpPr>
          <p:cNvPr id="46083" name="Rectangle 3"/>
          <p:cNvSpPr>
            <a:spLocks noGrp="1" noChangeArrowheads="1"/>
          </p:cNvSpPr>
          <p:nvPr>
            <p:ph type="body" idx="1"/>
          </p:nvPr>
        </p:nvSpPr>
        <p:spPr/>
        <p:txBody>
          <a:bodyPr/>
          <a:lstStyle/>
          <a:p>
            <a:pPr eaLnBrk="1" hangingPunct="1">
              <a:lnSpc>
                <a:spcPct val="105000"/>
              </a:lnSpc>
              <a:spcBef>
                <a:spcPts val="1200"/>
              </a:spcBef>
            </a:pPr>
            <a:r>
              <a:rPr lang="zh-CN" altLang="zh-CN" sz="2800" dirty="0" smtClean="0">
                <a:latin typeface="Calibri" panose="020F0502020204030204" pitchFamily="34" charset="0"/>
              </a:rPr>
              <a:t>To support cohesive model definitions that focus on the domain process, rather than on interfaces.</a:t>
            </a:r>
            <a:endParaRPr lang="zh-CN" altLang="zh-CN" sz="2800" dirty="0" smtClean="0">
              <a:latin typeface="Calibri" panose="020F0502020204030204" pitchFamily="34" charset="0"/>
            </a:endParaRPr>
          </a:p>
          <a:p>
            <a:pPr eaLnBrk="1" hangingPunct="1">
              <a:lnSpc>
                <a:spcPct val="105000"/>
              </a:lnSpc>
              <a:spcBef>
                <a:spcPts val="1200"/>
              </a:spcBef>
            </a:pPr>
            <a:r>
              <a:rPr lang="zh-CN" altLang="zh-CN" sz="2800" dirty="0" smtClean="0">
                <a:latin typeface="Calibri" panose="020F0502020204030204" pitchFamily="34" charset="0"/>
              </a:rPr>
              <a:t>To allow separate development of the model and user interface layers.</a:t>
            </a:r>
            <a:endParaRPr lang="zh-CN" altLang="zh-CN" sz="2800" dirty="0" smtClean="0">
              <a:latin typeface="Calibri" panose="020F0502020204030204" pitchFamily="34" charset="0"/>
            </a:endParaRPr>
          </a:p>
          <a:p>
            <a:pPr eaLnBrk="1" hangingPunct="1">
              <a:lnSpc>
                <a:spcPct val="105000"/>
              </a:lnSpc>
              <a:spcBef>
                <a:spcPts val="1200"/>
              </a:spcBef>
            </a:pPr>
            <a:r>
              <a:rPr lang="zh-CN" altLang="zh-CN" sz="2800" dirty="0" smtClean="0">
                <a:latin typeface="Calibri" panose="020F0502020204030204" pitchFamily="34" charset="0"/>
              </a:rPr>
              <a:t>To minimize the impact of requirements changes in the interface upon the domain layer.</a:t>
            </a:r>
            <a:endParaRPr lang="zh-CN" altLang="zh-CN" sz="2800" dirty="0" smtClean="0">
              <a:latin typeface="Calibri" panose="020F0502020204030204" pitchFamily="34" charset="0"/>
            </a:endParaRPr>
          </a:p>
          <a:p>
            <a:pPr eaLnBrk="1" hangingPunct="1">
              <a:lnSpc>
                <a:spcPct val="105000"/>
              </a:lnSpc>
              <a:spcBef>
                <a:spcPts val="1200"/>
              </a:spcBef>
            </a:pPr>
            <a:r>
              <a:rPr lang="zh-CN" altLang="zh-CN" sz="2800" dirty="0" smtClean="0">
                <a:latin typeface="Calibri" panose="020F0502020204030204" pitchFamily="34" charset="0"/>
              </a:rPr>
              <a:t>To allow new views to be easily connected to an existing domain layer, without affecting the domain layer.</a:t>
            </a:r>
            <a:endParaRPr lang="en-US" altLang="zh-CN" sz="2800" dirty="0" smtClean="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06412" y="685872"/>
            <a:ext cx="8637588" cy="707886"/>
          </a:xfrm>
        </p:spPr>
        <p:txBody>
          <a:bodyPr/>
          <a:lstStyle/>
          <a:p>
            <a:pPr eaLnBrk="1" hangingPunct="1"/>
            <a:r>
              <a:rPr lang="zh-CN" altLang="zh-CN" sz="4000" dirty="0" smtClean="0">
                <a:latin typeface="Calibri" panose="020F0502020204030204" pitchFamily="34" charset="0"/>
              </a:rPr>
              <a:t>Continue..</a:t>
            </a:r>
            <a:endParaRPr lang="en-US" altLang="zh-CN" sz="4000" dirty="0" smtClean="0">
              <a:latin typeface="Calibri" panose="020F0502020204030204" pitchFamily="34" charset="0"/>
            </a:endParaRPr>
          </a:p>
        </p:txBody>
      </p:sp>
      <p:sp>
        <p:nvSpPr>
          <p:cNvPr id="47107" name="Rectangle 3"/>
          <p:cNvSpPr>
            <a:spLocks noGrp="1" noChangeArrowheads="1"/>
          </p:cNvSpPr>
          <p:nvPr>
            <p:ph type="body" idx="1"/>
          </p:nvPr>
        </p:nvSpPr>
        <p:spPr/>
        <p:txBody>
          <a:bodyPr/>
          <a:lstStyle/>
          <a:p>
            <a:pPr eaLnBrk="1" hangingPunct="1">
              <a:lnSpc>
                <a:spcPct val="110000"/>
              </a:lnSpc>
              <a:spcBef>
                <a:spcPts val="1800"/>
              </a:spcBef>
            </a:pPr>
            <a:r>
              <a:rPr lang="zh-CN" altLang="zh-CN" sz="2800" dirty="0" smtClean="0">
                <a:latin typeface="Calibri" panose="020F0502020204030204" pitchFamily="34" charset="0"/>
              </a:rPr>
              <a:t>To allow multiple simultaneous views on the same model object.</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To allow execution of the model layer independent of the user interface layer</a:t>
            </a:r>
            <a:endParaRPr lang="zh-CN" altLang="zh-CN" sz="2800" dirty="0" smtClean="0">
              <a:latin typeface="Calibri" panose="020F0502020204030204" pitchFamily="34" charset="0"/>
            </a:endParaRPr>
          </a:p>
          <a:p>
            <a:pPr eaLnBrk="1" hangingPunct="1">
              <a:lnSpc>
                <a:spcPct val="110000"/>
              </a:lnSpc>
              <a:spcBef>
                <a:spcPts val="1800"/>
              </a:spcBef>
            </a:pPr>
            <a:r>
              <a:rPr lang="zh-CN" altLang="zh-CN" sz="2800" dirty="0" smtClean="0">
                <a:latin typeface="Calibri" panose="020F0502020204030204" pitchFamily="34" charset="0"/>
              </a:rPr>
              <a:t>To allow easy porting of the model layer to another user interface framework.</a:t>
            </a:r>
            <a:endParaRPr lang="zh-CN" altLang="zh-CN" sz="2800" dirty="0" smtClean="0">
              <a:latin typeface="Calibri" panose="020F0502020204030204" pitchFamily="34" charset="0"/>
            </a:endParaRPr>
          </a:p>
          <a:p>
            <a:pPr eaLnBrk="1" hangingPunct="1">
              <a:buFont typeface="Wingdings" panose="05000000000000000000" pitchFamily="2" charset="2"/>
              <a:buNone/>
            </a:pPr>
            <a:endParaRPr lang="en-US" altLang="zh-CN" sz="2800" dirty="0" smtClean="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48130" name="Picture 4" descr="PD-layers+sys ops"/>
          <p:cNvPicPr>
            <a:picLocks noChangeAspect="1" noChangeArrowheads="1"/>
          </p:cNvPicPr>
          <p:nvPr/>
        </p:nvPicPr>
        <p:blipFill>
          <a:blip r:embed="rId1" cstate="print"/>
          <a:srcRect/>
          <a:stretch>
            <a:fillRect/>
          </a:stretch>
        </p:blipFill>
        <p:spPr bwMode="auto">
          <a:xfrm>
            <a:off x="152400" y="1284288"/>
            <a:ext cx="8763000" cy="4827587"/>
          </a:xfrm>
          <a:prstGeom prst="rect">
            <a:avLst/>
          </a:prstGeom>
          <a:noFill/>
          <a:ln w="9525">
            <a:noFill/>
            <a:miter lim="800000"/>
            <a:headEnd/>
            <a:tailEnd/>
          </a:ln>
        </p:spPr>
      </p:pic>
      <p:sp>
        <p:nvSpPr>
          <p:cNvPr id="48131" name="Rectangle 6"/>
          <p:cNvSpPr>
            <a:spLocks noChangeArrowheads="1"/>
          </p:cNvSpPr>
          <p:nvPr/>
        </p:nvSpPr>
        <p:spPr bwMode="auto">
          <a:xfrm>
            <a:off x="762000" y="304800"/>
            <a:ext cx="7854950" cy="579438"/>
          </a:xfrm>
          <a:prstGeom prst="rect">
            <a:avLst/>
          </a:prstGeom>
          <a:noFill/>
          <a:ln w="9525">
            <a:noFill/>
            <a:miter lim="800000"/>
          </a:ln>
        </p:spPr>
        <p:txBody>
          <a:bodyPr>
            <a:spAutoFit/>
          </a:bodyPr>
          <a:lstStyle/>
          <a:p>
            <a:r>
              <a:rPr lang="en-US" altLang="zh-CN" sz="3200">
                <a:solidFill>
                  <a:schemeClr val="bg2"/>
                </a:solidFill>
                <a:latin typeface="Arial" panose="020B0604020202020204" pitchFamily="34" charset="0"/>
                <a:ea typeface="黑体" panose="02010609060101010101" pitchFamily="49" charset="-122"/>
              </a:rPr>
              <a:t>Fig. 13.8  SSD</a:t>
            </a:r>
            <a:r>
              <a:rPr lang="zh-CN" altLang="en-US" sz="3200">
                <a:solidFill>
                  <a:schemeClr val="bg2"/>
                </a:solidFill>
                <a:latin typeface="Arial" panose="020B0604020202020204" pitchFamily="34" charset="0"/>
                <a:ea typeface="黑体" panose="02010609060101010101" pitchFamily="49" charset="-122"/>
              </a:rPr>
              <a:t>和层间系统操作  </a:t>
            </a:r>
            <a:r>
              <a:rPr lang="en-US" altLang="zh-CN" sz="3200">
                <a:solidFill>
                  <a:schemeClr val="bg2"/>
                </a:solidFill>
                <a:latin typeface="Arial" panose="020B0604020202020204" pitchFamily="34" charset="0"/>
                <a:ea typeface="黑体" panose="02010609060101010101" pitchFamily="49" charset="-122"/>
              </a:rPr>
              <a:t>(p155)</a:t>
            </a:r>
            <a:endParaRPr lang="en-US" altLang="zh-CN" sz="3200">
              <a:solidFill>
                <a:schemeClr val="bg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rtsy">
  <a:themeElements>
    <a:clrScheme name="Artsy 1">
      <a:dk1>
        <a:srgbClr val="000000"/>
      </a:dk1>
      <a:lt1>
        <a:srgbClr val="FFFFCC"/>
      </a:lt1>
      <a:dk2>
        <a:srgbClr val="4D4D4D"/>
      </a:dk2>
      <a:lt2>
        <a:srgbClr val="FFCC00"/>
      </a:lt2>
      <a:accent1>
        <a:srgbClr val="808000"/>
      </a:accent1>
      <a:accent2>
        <a:srgbClr val="CC9900"/>
      </a:accent2>
      <a:accent3>
        <a:srgbClr val="B2B2B2"/>
      </a:accent3>
      <a:accent4>
        <a:srgbClr val="DADAAE"/>
      </a:accent4>
      <a:accent5>
        <a:srgbClr val="C0C0AA"/>
      </a:accent5>
      <a:accent6>
        <a:srgbClr val="B98A00"/>
      </a:accent6>
      <a:hlink>
        <a:srgbClr val="CC6600"/>
      </a:hlink>
      <a:folHlink>
        <a:srgbClr val="969696"/>
      </a:folHlink>
    </a:clrScheme>
    <a:fontScheme name="Artsy">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defRPr>
        </a:defPPr>
      </a:lstStyle>
    </a:lnDef>
  </a:objectDefaults>
  <a:extraClrSchemeLst>
    <a:extraClrScheme>
      <a:clrScheme name="Artsy 1">
        <a:dk1>
          <a:srgbClr val="000000"/>
        </a:dk1>
        <a:lt1>
          <a:srgbClr val="FFFFCC"/>
        </a:lt1>
        <a:dk2>
          <a:srgbClr val="4D4D4D"/>
        </a:dk2>
        <a:lt2>
          <a:srgbClr val="FFCC00"/>
        </a:lt2>
        <a:accent1>
          <a:srgbClr val="808000"/>
        </a:accent1>
        <a:accent2>
          <a:srgbClr val="CC9900"/>
        </a:accent2>
        <a:accent3>
          <a:srgbClr val="B2B2B2"/>
        </a:accent3>
        <a:accent4>
          <a:srgbClr val="DADAAE"/>
        </a:accent4>
        <a:accent5>
          <a:srgbClr val="C0C0AA"/>
        </a:accent5>
        <a:accent6>
          <a:srgbClr val="B98A00"/>
        </a:accent6>
        <a:hlink>
          <a:srgbClr val="CC6600"/>
        </a:hlink>
        <a:folHlink>
          <a:srgbClr val="969696"/>
        </a:folHlink>
      </a:clrScheme>
      <a:clrMap bg1="dk2" tx1="lt1" bg2="dk1" tx2="lt2" accent1="accent1" accent2="accent2" accent3="accent3" accent4="accent4" accent5="accent5" accent6="accent6" hlink="hlink" folHlink="folHlink"/>
    </a:extraClrScheme>
    <a:extraClrScheme>
      <a:clrScheme name="Artsy 2">
        <a:dk1>
          <a:srgbClr val="660033"/>
        </a:dk1>
        <a:lt1>
          <a:srgbClr val="FFFFFF"/>
        </a:lt1>
        <a:dk2>
          <a:srgbClr val="B60009"/>
        </a:dk2>
        <a:lt2>
          <a:srgbClr val="B2B2B2"/>
        </a:lt2>
        <a:accent1>
          <a:srgbClr val="CCCC00"/>
        </a:accent1>
        <a:accent2>
          <a:srgbClr val="DE9ABC"/>
        </a:accent2>
        <a:accent3>
          <a:srgbClr val="FFFFFF"/>
        </a:accent3>
        <a:accent4>
          <a:srgbClr val="56002A"/>
        </a:accent4>
        <a:accent5>
          <a:srgbClr val="E2E2AA"/>
        </a:accent5>
        <a:accent6>
          <a:srgbClr val="C98BAA"/>
        </a:accent6>
        <a:hlink>
          <a:srgbClr val="FFAFAF"/>
        </a:hlink>
        <a:folHlink>
          <a:srgbClr val="969696"/>
        </a:folHlink>
      </a:clrScheme>
      <a:clrMap bg1="lt1" tx1="dk1" bg2="lt2" tx2="dk2" accent1="accent1" accent2="accent2" accent3="accent3" accent4="accent4" accent5="accent5" accent6="accent6" hlink="hlink" folHlink="folHlink"/>
    </a:extraClrScheme>
    <a:extraClrScheme>
      <a:clrScheme name="Artsy 3">
        <a:dk1>
          <a:srgbClr val="000000"/>
        </a:dk1>
        <a:lt1>
          <a:srgbClr val="FFFFFF"/>
        </a:lt1>
        <a:dk2>
          <a:srgbClr val="000000"/>
        </a:dk2>
        <a:lt2>
          <a:srgbClr val="B2B2B2"/>
        </a:lt2>
        <a:accent1>
          <a:srgbClr val="C0C0C0"/>
        </a:accent1>
        <a:accent2>
          <a:srgbClr val="DDDDDD"/>
        </a:accent2>
        <a:accent3>
          <a:srgbClr val="FFFFFF"/>
        </a:accent3>
        <a:accent4>
          <a:srgbClr val="000000"/>
        </a:accent4>
        <a:accent5>
          <a:srgbClr val="DCDCDC"/>
        </a:accent5>
        <a:accent6>
          <a:srgbClr val="C8C8C8"/>
        </a:accent6>
        <a:hlink>
          <a:srgbClr val="808080"/>
        </a:hlink>
        <a:folHlink>
          <a:srgbClr val="969696"/>
        </a:folHlink>
      </a:clrScheme>
      <a:clrMap bg1="lt1" tx1="dk1" bg2="lt2" tx2="dk2" accent1="accent1" accent2="accent2" accent3="accent3" accent4="accent4" accent5="accent5" accent6="accent6" hlink="hlink" folHlink="folHlink"/>
    </a:extraClrScheme>
    <a:extraClrScheme>
      <a:clrScheme name="Artsy 4">
        <a:dk1>
          <a:srgbClr val="2C2C42"/>
        </a:dk1>
        <a:lt1>
          <a:srgbClr val="FFFFCC"/>
        </a:lt1>
        <a:dk2>
          <a:srgbClr val="666699"/>
        </a:dk2>
        <a:lt2>
          <a:srgbClr val="FFCC00"/>
        </a:lt2>
        <a:accent1>
          <a:srgbClr val="FF9933"/>
        </a:accent1>
        <a:accent2>
          <a:srgbClr val="808000"/>
        </a:accent2>
        <a:accent3>
          <a:srgbClr val="B8B8CA"/>
        </a:accent3>
        <a:accent4>
          <a:srgbClr val="DADAAE"/>
        </a:accent4>
        <a:accent5>
          <a:srgbClr val="FFCAAD"/>
        </a:accent5>
        <a:accent6>
          <a:srgbClr val="737300"/>
        </a:accent6>
        <a:hlink>
          <a:srgbClr val="CC6600"/>
        </a:hlink>
        <a:folHlink>
          <a:srgbClr val="333399"/>
        </a:folHlink>
      </a:clrScheme>
      <a:clrMap bg1="dk2" tx1="lt1" bg2="dk1" tx2="lt2" accent1="accent1" accent2="accent2" accent3="accent3" accent4="accent4" accent5="accent5" accent6="accent6" hlink="hlink" folHlink="folHlink"/>
    </a:extraClrScheme>
    <a:extraClrScheme>
      <a:clrScheme name="Artsy 5">
        <a:dk1>
          <a:srgbClr val="50000F"/>
        </a:dk1>
        <a:lt1>
          <a:srgbClr val="FFCC00"/>
        </a:lt1>
        <a:dk2>
          <a:srgbClr val="800000"/>
        </a:dk2>
        <a:lt2>
          <a:srgbClr val="FFFFCC"/>
        </a:lt2>
        <a:accent1>
          <a:srgbClr val="808000"/>
        </a:accent1>
        <a:accent2>
          <a:srgbClr val="993366"/>
        </a:accent2>
        <a:accent3>
          <a:srgbClr val="C0AAAA"/>
        </a:accent3>
        <a:accent4>
          <a:srgbClr val="DAAE00"/>
        </a:accent4>
        <a:accent5>
          <a:srgbClr val="C0C0AA"/>
        </a:accent5>
        <a:accent6>
          <a:srgbClr val="8A2D5C"/>
        </a:accent6>
        <a:hlink>
          <a:srgbClr val="FF5050"/>
        </a:hlink>
        <a:folHlink>
          <a:srgbClr val="993300"/>
        </a:folHlink>
      </a:clrScheme>
      <a:clrMap bg1="dk2" tx1="lt1" bg2="dk1" tx2="lt2" accent1="accent1" accent2="accent2" accent3="accent3" accent4="accent4" accent5="accent5" accent6="accent6" hlink="hlink" folHlink="folHlink"/>
    </a:extraClrScheme>
    <a:extraClrScheme>
      <a:clrScheme name="Artsy 6">
        <a:dk1>
          <a:srgbClr val="333300"/>
        </a:dk1>
        <a:lt1>
          <a:srgbClr val="FFCC00"/>
        </a:lt1>
        <a:dk2>
          <a:srgbClr val="666633"/>
        </a:dk2>
        <a:lt2>
          <a:srgbClr val="FFFFCC"/>
        </a:lt2>
        <a:accent1>
          <a:srgbClr val="8F7401"/>
        </a:accent1>
        <a:accent2>
          <a:srgbClr val="CC6600"/>
        </a:accent2>
        <a:accent3>
          <a:srgbClr val="B8B8AD"/>
        </a:accent3>
        <a:accent4>
          <a:srgbClr val="DAAE00"/>
        </a:accent4>
        <a:accent5>
          <a:srgbClr val="C6BCAA"/>
        </a:accent5>
        <a:accent6>
          <a:srgbClr val="B95C00"/>
        </a:accent6>
        <a:hlink>
          <a:srgbClr val="666699"/>
        </a:hlink>
        <a:folHlink>
          <a:srgbClr val="808000"/>
        </a:folHlink>
      </a:clrScheme>
      <a:clrMap bg1="dk2" tx1="lt1" bg2="dk1" tx2="lt2" accent1="accent1" accent2="accent2" accent3="accent3" accent4="accent4" accent5="accent5" accent6="accent6" hlink="hlink" folHlink="folHlink"/>
    </a:extraClrScheme>
    <a:extraClrScheme>
      <a:clrScheme name="Artsy 7">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Artsy">
  <a:themeElements>
    <a:clrScheme name="1_Artsy 1">
      <a:dk1>
        <a:srgbClr val="000000"/>
      </a:dk1>
      <a:lt1>
        <a:srgbClr val="FFFFCC"/>
      </a:lt1>
      <a:dk2>
        <a:srgbClr val="4D4D4D"/>
      </a:dk2>
      <a:lt2>
        <a:srgbClr val="FFCC00"/>
      </a:lt2>
      <a:accent1>
        <a:srgbClr val="808000"/>
      </a:accent1>
      <a:accent2>
        <a:srgbClr val="CC9900"/>
      </a:accent2>
      <a:accent3>
        <a:srgbClr val="B2B2B2"/>
      </a:accent3>
      <a:accent4>
        <a:srgbClr val="DADAAE"/>
      </a:accent4>
      <a:accent5>
        <a:srgbClr val="C0C0AA"/>
      </a:accent5>
      <a:accent6>
        <a:srgbClr val="B98A00"/>
      </a:accent6>
      <a:hlink>
        <a:srgbClr val="CC6600"/>
      </a:hlink>
      <a:folHlink>
        <a:srgbClr val="969696"/>
      </a:folHlink>
    </a:clrScheme>
    <a:fontScheme name="1_Artsy">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defRPr>
        </a:defPPr>
      </a:lstStyle>
    </a:lnDef>
  </a:objectDefaults>
  <a:extraClrSchemeLst>
    <a:extraClrScheme>
      <a:clrScheme name="1_Artsy 1">
        <a:dk1>
          <a:srgbClr val="000000"/>
        </a:dk1>
        <a:lt1>
          <a:srgbClr val="FFFFCC"/>
        </a:lt1>
        <a:dk2>
          <a:srgbClr val="4D4D4D"/>
        </a:dk2>
        <a:lt2>
          <a:srgbClr val="FFCC00"/>
        </a:lt2>
        <a:accent1>
          <a:srgbClr val="808000"/>
        </a:accent1>
        <a:accent2>
          <a:srgbClr val="CC9900"/>
        </a:accent2>
        <a:accent3>
          <a:srgbClr val="B2B2B2"/>
        </a:accent3>
        <a:accent4>
          <a:srgbClr val="DADAAE"/>
        </a:accent4>
        <a:accent5>
          <a:srgbClr val="C0C0AA"/>
        </a:accent5>
        <a:accent6>
          <a:srgbClr val="B98A00"/>
        </a:accent6>
        <a:hlink>
          <a:srgbClr val="CC6600"/>
        </a:hlink>
        <a:folHlink>
          <a:srgbClr val="969696"/>
        </a:folHlink>
      </a:clrScheme>
      <a:clrMap bg1="dk2" tx1="lt1" bg2="dk1" tx2="lt2" accent1="accent1" accent2="accent2" accent3="accent3" accent4="accent4" accent5="accent5" accent6="accent6" hlink="hlink" folHlink="folHlink"/>
    </a:extraClrScheme>
    <a:extraClrScheme>
      <a:clrScheme name="1_Artsy 2">
        <a:dk1>
          <a:srgbClr val="660033"/>
        </a:dk1>
        <a:lt1>
          <a:srgbClr val="FFFFFF"/>
        </a:lt1>
        <a:dk2>
          <a:srgbClr val="B60009"/>
        </a:dk2>
        <a:lt2>
          <a:srgbClr val="B2B2B2"/>
        </a:lt2>
        <a:accent1>
          <a:srgbClr val="CCCC00"/>
        </a:accent1>
        <a:accent2>
          <a:srgbClr val="DE9ABC"/>
        </a:accent2>
        <a:accent3>
          <a:srgbClr val="FFFFFF"/>
        </a:accent3>
        <a:accent4>
          <a:srgbClr val="56002A"/>
        </a:accent4>
        <a:accent5>
          <a:srgbClr val="E2E2AA"/>
        </a:accent5>
        <a:accent6>
          <a:srgbClr val="C98BAA"/>
        </a:accent6>
        <a:hlink>
          <a:srgbClr val="FFAFAF"/>
        </a:hlink>
        <a:folHlink>
          <a:srgbClr val="969696"/>
        </a:folHlink>
      </a:clrScheme>
      <a:clrMap bg1="lt1" tx1="dk1" bg2="lt2" tx2="dk2" accent1="accent1" accent2="accent2" accent3="accent3" accent4="accent4" accent5="accent5" accent6="accent6" hlink="hlink" folHlink="folHlink"/>
    </a:extraClrScheme>
    <a:extraClrScheme>
      <a:clrScheme name="1_Artsy 3">
        <a:dk1>
          <a:srgbClr val="000000"/>
        </a:dk1>
        <a:lt1>
          <a:srgbClr val="FFFFFF"/>
        </a:lt1>
        <a:dk2>
          <a:srgbClr val="000000"/>
        </a:dk2>
        <a:lt2>
          <a:srgbClr val="B2B2B2"/>
        </a:lt2>
        <a:accent1>
          <a:srgbClr val="C0C0C0"/>
        </a:accent1>
        <a:accent2>
          <a:srgbClr val="DDDDDD"/>
        </a:accent2>
        <a:accent3>
          <a:srgbClr val="FFFFFF"/>
        </a:accent3>
        <a:accent4>
          <a:srgbClr val="000000"/>
        </a:accent4>
        <a:accent5>
          <a:srgbClr val="DCDCDC"/>
        </a:accent5>
        <a:accent6>
          <a:srgbClr val="C8C8C8"/>
        </a:accent6>
        <a:hlink>
          <a:srgbClr val="808080"/>
        </a:hlink>
        <a:folHlink>
          <a:srgbClr val="969696"/>
        </a:folHlink>
      </a:clrScheme>
      <a:clrMap bg1="lt1" tx1="dk1" bg2="lt2" tx2="dk2" accent1="accent1" accent2="accent2" accent3="accent3" accent4="accent4" accent5="accent5" accent6="accent6" hlink="hlink" folHlink="folHlink"/>
    </a:extraClrScheme>
    <a:extraClrScheme>
      <a:clrScheme name="1_Artsy 4">
        <a:dk1>
          <a:srgbClr val="2C2C42"/>
        </a:dk1>
        <a:lt1>
          <a:srgbClr val="FFFFCC"/>
        </a:lt1>
        <a:dk2>
          <a:srgbClr val="666699"/>
        </a:dk2>
        <a:lt2>
          <a:srgbClr val="FFCC00"/>
        </a:lt2>
        <a:accent1>
          <a:srgbClr val="FF9933"/>
        </a:accent1>
        <a:accent2>
          <a:srgbClr val="808000"/>
        </a:accent2>
        <a:accent3>
          <a:srgbClr val="B8B8CA"/>
        </a:accent3>
        <a:accent4>
          <a:srgbClr val="DADAAE"/>
        </a:accent4>
        <a:accent5>
          <a:srgbClr val="FFCAAD"/>
        </a:accent5>
        <a:accent6>
          <a:srgbClr val="737300"/>
        </a:accent6>
        <a:hlink>
          <a:srgbClr val="CC6600"/>
        </a:hlink>
        <a:folHlink>
          <a:srgbClr val="333399"/>
        </a:folHlink>
      </a:clrScheme>
      <a:clrMap bg1="dk2" tx1="lt1" bg2="dk1" tx2="lt2" accent1="accent1" accent2="accent2" accent3="accent3" accent4="accent4" accent5="accent5" accent6="accent6" hlink="hlink" folHlink="folHlink"/>
    </a:extraClrScheme>
    <a:extraClrScheme>
      <a:clrScheme name="1_Artsy 5">
        <a:dk1>
          <a:srgbClr val="50000F"/>
        </a:dk1>
        <a:lt1>
          <a:srgbClr val="FFCC00"/>
        </a:lt1>
        <a:dk2>
          <a:srgbClr val="800000"/>
        </a:dk2>
        <a:lt2>
          <a:srgbClr val="FFFFCC"/>
        </a:lt2>
        <a:accent1>
          <a:srgbClr val="808000"/>
        </a:accent1>
        <a:accent2>
          <a:srgbClr val="993366"/>
        </a:accent2>
        <a:accent3>
          <a:srgbClr val="C0AAAA"/>
        </a:accent3>
        <a:accent4>
          <a:srgbClr val="DAAE00"/>
        </a:accent4>
        <a:accent5>
          <a:srgbClr val="C0C0AA"/>
        </a:accent5>
        <a:accent6>
          <a:srgbClr val="8A2D5C"/>
        </a:accent6>
        <a:hlink>
          <a:srgbClr val="FF5050"/>
        </a:hlink>
        <a:folHlink>
          <a:srgbClr val="993300"/>
        </a:folHlink>
      </a:clrScheme>
      <a:clrMap bg1="dk2" tx1="lt1" bg2="dk1" tx2="lt2" accent1="accent1" accent2="accent2" accent3="accent3" accent4="accent4" accent5="accent5" accent6="accent6" hlink="hlink" folHlink="folHlink"/>
    </a:extraClrScheme>
    <a:extraClrScheme>
      <a:clrScheme name="1_Artsy 6">
        <a:dk1>
          <a:srgbClr val="333300"/>
        </a:dk1>
        <a:lt1>
          <a:srgbClr val="FFCC00"/>
        </a:lt1>
        <a:dk2>
          <a:srgbClr val="666633"/>
        </a:dk2>
        <a:lt2>
          <a:srgbClr val="FFFFCC"/>
        </a:lt2>
        <a:accent1>
          <a:srgbClr val="8F7401"/>
        </a:accent1>
        <a:accent2>
          <a:srgbClr val="CC6600"/>
        </a:accent2>
        <a:accent3>
          <a:srgbClr val="B8B8AD"/>
        </a:accent3>
        <a:accent4>
          <a:srgbClr val="DAAE00"/>
        </a:accent4>
        <a:accent5>
          <a:srgbClr val="C6BCAA"/>
        </a:accent5>
        <a:accent6>
          <a:srgbClr val="B95C00"/>
        </a:accent6>
        <a:hlink>
          <a:srgbClr val="666699"/>
        </a:hlink>
        <a:folHlink>
          <a:srgbClr val="808000"/>
        </a:folHlink>
      </a:clrScheme>
      <a:clrMap bg1="dk2" tx1="lt1" bg2="dk1" tx2="lt2" accent1="accent1" accent2="accent2" accent3="accent3" accent4="accent4" accent5="accent5" accent6="accent6" hlink="hlink" folHlink="folHlink"/>
    </a:extraClrScheme>
    <a:extraClrScheme>
      <a:clrScheme name="1_Artsy 7">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CC"/>
      </a:lt1>
      <a:dk2>
        <a:srgbClr val="4D4D4D"/>
      </a:dk2>
      <a:lt2>
        <a:srgbClr val="FFCC00"/>
      </a:lt2>
      <a:accent1>
        <a:srgbClr val="808000"/>
      </a:accent1>
      <a:accent2>
        <a:srgbClr val="CC9900"/>
      </a:accent2>
      <a:accent3>
        <a:srgbClr val="B2B2B2"/>
      </a:accent3>
      <a:accent4>
        <a:srgbClr val="DADAAE"/>
      </a:accent4>
      <a:accent5>
        <a:srgbClr val="C0C0AA"/>
      </a:accent5>
      <a:accent6>
        <a:srgbClr val="B98A00"/>
      </a:accent6>
      <a:hlink>
        <a:srgbClr val="CC6600"/>
      </a:hlink>
      <a:folHlink>
        <a:srgbClr val="96969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Designs\Artsy.pot</Template>
  <TotalTime>0</TotalTime>
  <Words>11347</Words>
  <Application>WPS 演示</Application>
  <PresentationFormat>全屏显示(4:3)</PresentationFormat>
  <Paragraphs>322</Paragraphs>
  <Slides>66</Slides>
  <Notes>0</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66</vt:i4>
      </vt:variant>
    </vt:vector>
  </HeadingPairs>
  <TitlesOfParts>
    <vt:vector size="83" baseType="lpstr">
      <vt:lpstr>Arial</vt:lpstr>
      <vt:lpstr>宋体</vt:lpstr>
      <vt:lpstr>Wingdings</vt:lpstr>
      <vt:lpstr>Times New Roman</vt:lpstr>
      <vt:lpstr>Calibri</vt:lpstr>
      <vt:lpstr>黑体</vt:lpstr>
      <vt:lpstr>Comic Sans MS</vt:lpstr>
      <vt:lpstr>Symbol</vt:lpstr>
      <vt:lpstr>Courier New</vt:lpstr>
      <vt:lpstr>微软雅黑</vt:lpstr>
      <vt:lpstr>Arial Unicode MS</vt:lpstr>
      <vt:lpstr>Verdana</vt:lpstr>
      <vt:lpstr>MS PGothic</vt:lpstr>
      <vt:lpstr>Tahoma</vt:lpstr>
      <vt:lpstr>Artsy</vt:lpstr>
      <vt:lpstr>1_Artsy</vt:lpstr>
      <vt:lpstr>Default Design</vt:lpstr>
      <vt:lpstr>Architecture Design</vt:lpstr>
      <vt:lpstr>PowerPoint 演示文稿</vt:lpstr>
      <vt:lpstr>Software engineering</vt:lpstr>
      <vt:lpstr>Software process activities</vt:lpstr>
      <vt:lpstr>PowerPoint 演示文稿</vt:lpstr>
      <vt:lpstr>PowerPoint 演示文稿</vt:lpstr>
      <vt:lpstr>PowerPoint 演示文稿</vt:lpstr>
      <vt:lpstr>PowerPoint 演示文稿</vt:lpstr>
      <vt:lpstr>PowerPoint 演示文稿</vt:lpstr>
      <vt:lpstr>Critical Thinking</vt:lpstr>
      <vt:lpstr>SEMAT          http://semat.org</vt:lpstr>
      <vt:lpstr>PowerPoint 演示文稿</vt:lpstr>
      <vt:lpstr>PowerPoint 演示文稿</vt:lpstr>
      <vt:lpstr>PowerPoint 演示文稿</vt:lpstr>
      <vt:lpstr>PowerPoint 演示文稿</vt:lpstr>
      <vt:lpstr>Essential attributes of good software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What is Analysis?</vt:lpstr>
      <vt:lpstr>What is Design?</vt:lpstr>
      <vt:lpstr>Analysis and Design</vt:lpstr>
      <vt:lpstr>软件设计的五个层面：</vt:lpstr>
      <vt:lpstr>软件设计的五个层面：</vt:lpstr>
      <vt:lpstr>Applying UML and Patterns in OOA/OOD</vt:lpstr>
      <vt:lpstr>Applying UML</vt:lpstr>
      <vt:lpstr>Assigning Responsibilities</vt:lpstr>
      <vt:lpstr>Design Patterns</vt:lpstr>
      <vt:lpstr>Requirements Analysis</vt:lpstr>
      <vt:lpstr>Use Cases</vt:lpstr>
      <vt:lpstr>Definition of Software Architecture </vt:lpstr>
      <vt:lpstr>软件架构</vt:lpstr>
      <vt:lpstr>Definition variance</vt:lpstr>
      <vt:lpstr>Definition</vt:lpstr>
      <vt:lpstr>Architectural Dimension and Views in UP</vt:lpstr>
      <vt:lpstr>Fig. 13.1  UP制品相互影响示例  (p146)</vt:lpstr>
      <vt:lpstr>Package Diagrams</vt:lpstr>
      <vt:lpstr>Package Diagram</vt:lpstr>
      <vt:lpstr>What is a layer?</vt:lpstr>
      <vt:lpstr>PowerPoint 演示文稿</vt:lpstr>
      <vt:lpstr>PowerPoint 演示文稿</vt:lpstr>
      <vt:lpstr>Architectural Patterns and Pattern Categories</vt:lpstr>
      <vt:lpstr>Architectural Pattern: Layers</vt:lpstr>
      <vt:lpstr>Inter-Layer and Inter-Package Coupling</vt:lpstr>
      <vt:lpstr>PowerPoint 演示文稿</vt:lpstr>
      <vt:lpstr>Inter-Layer and Inter-Package Interaction</vt:lpstr>
      <vt:lpstr>Logical vs. Process and Deployment of Architecture</vt:lpstr>
      <vt:lpstr>Terminology:Tier, Layers, and Partitions</vt:lpstr>
      <vt:lpstr>PowerPoint 演示文稿</vt:lpstr>
      <vt:lpstr>PowerPoint 演示文稿</vt:lpstr>
      <vt:lpstr>How do we design application logic with objects?</vt:lpstr>
      <vt:lpstr>Domain Layer and Domain Model</vt:lpstr>
      <vt:lpstr>PowerPoint 演示文稿</vt:lpstr>
      <vt:lpstr>Information Systems</vt:lpstr>
      <vt:lpstr>Information Systems(cont..)</vt:lpstr>
      <vt:lpstr>PowerPoint 演示文稿</vt:lpstr>
      <vt:lpstr>PowerPoint 演示文稿</vt:lpstr>
      <vt:lpstr>Two-tier Design</vt:lpstr>
      <vt:lpstr>The Model-View Separation Principle</vt:lpstr>
      <vt:lpstr>Need for Model-View separation</vt:lpstr>
      <vt:lpstr>Continue..</vt:lpstr>
      <vt:lpstr>PowerPoint 演示文稿</vt:lpstr>
    </vt:vector>
  </TitlesOfParts>
  <Company>NJIT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Analysis and Design</dc:title>
  <dc:creator>George Blank</dc:creator>
  <cp:lastModifiedBy>MX</cp:lastModifiedBy>
  <cp:revision>127</cp:revision>
  <dcterms:created xsi:type="dcterms:W3CDTF">2003-01-21T14:48:00Z</dcterms:created>
  <dcterms:modified xsi:type="dcterms:W3CDTF">2025-11-24T01:22:14Z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2ABD66C31824492CA6215F7CB47046BB_12</vt:lpwstr>
  </property>
</Properties>
</file>