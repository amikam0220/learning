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582" r:id="rId3"/>
    <p:sldId id="550" r:id="rId5"/>
    <p:sldId id="576" r:id="rId6"/>
    <p:sldId id="583" r:id="rId7"/>
    <p:sldId id="568" r:id="rId8"/>
    <p:sldId id="578" r:id="rId9"/>
    <p:sldId id="565" r:id="rId10"/>
    <p:sldId id="567" r:id="rId11"/>
    <p:sldId id="399" r:id="rId12"/>
    <p:sldId id="572" r:id="rId13"/>
    <p:sldId id="569" r:id="rId14"/>
    <p:sldId id="570" r:id="rId15"/>
    <p:sldId id="566" r:id="rId16"/>
    <p:sldId id="265" r:id="rId17"/>
    <p:sldId id="571" r:id="rId18"/>
    <p:sldId id="573" r:id="rId19"/>
    <p:sldId id="579" r:id="rId20"/>
    <p:sldId id="580" r:id="rId21"/>
    <p:sldId id="581" r:id="rId22"/>
    <p:sldId id="577" r:id="rId23"/>
  </p:sldIdLst>
  <p:sldSz cx="9144000" cy="6858000" type="screen4x3"/>
  <p:notesSz cx="7010400" cy="9296400"/>
  <p:custDataLst>
    <p:tags r:id="rId28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FFCC"/>
    <a:srgbClr val="F1FCAE"/>
    <a:srgbClr val="680000"/>
    <a:srgbClr val="D4ACAC"/>
    <a:srgbClr val="C98D8D"/>
    <a:srgbClr val="B76969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3"/>
  </p:normalViewPr>
  <p:slideViewPr>
    <p:cSldViewPr snapToGrid="0" showGuides="1">
      <p:cViewPr varScale="1">
        <p:scale>
          <a:sx n="106" d="100"/>
          <a:sy n="106" d="100"/>
        </p:scale>
        <p:origin x="-175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7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defTabSz="932180" eaLnBrk="1" hangingPunct="1">
              <a:defRPr sz="1200" b="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 defTabSz="932180" eaLnBrk="1" hangingPunct="1">
              <a:defRPr sz="1200" b="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defTabSz="932180" eaLnBrk="1" hangingPunct="1">
              <a:defRPr sz="1200" b="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/>
          <a:p>
            <a:pPr lvl="0" algn="r" defTabSz="932180" eaLnBrk="1" hangingPunct="1">
              <a:buNone/>
            </a:pPr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4580" name="Rectangle 4"/>
          <p:cNvSpPr>
            <a:spLocks noTextEdit="1"/>
          </p:cNvSpPr>
          <p:nvPr>
            <p:ph type="sldImg" idx="2"/>
          </p:nvPr>
        </p:nvSpPr>
        <p:spPr>
          <a:xfrm>
            <a:off x="1168400" y="685800"/>
            <a:ext cx="4673600" cy="3505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9600"/>
            <a:ext cx="51816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2662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2765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en-US" altLang="en-US" dirty="0"/>
              <a:t>We built an undue complexity into the Controller while striving to preserve high degree of specialization for all other objects. [[ Note: GUI aspects are treated separately. ]]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2867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2969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latin typeface="Arial Rounded MT Bold" panose="020F07040305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600199"/>
            <a:ext cx="8410575" cy="4874079"/>
          </a:xfrm>
        </p:spPr>
        <p:txBody>
          <a:bodyPr/>
          <a:lstStyle>
            <a:lvl1pPr marL="342900" indent="-342900">
              <a:buClr>
                <a:srgbClr val="680000"/>
              </a:buClr>
              <a:buFont typeface="Wingdings" panose="05000000000000000000" pitchFamily="2" charset="2"/>
              <a:buChar char="q"/>
              <a:defRPr>
                <a:latin typeface="AvantGarde Bk BT" panose="020B0402020202020204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564313"/>
            <a:ext cx="1905000" cy="2460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64313"/>
            <a:ext cx="2895600" cy="2460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9163" y="6564313"/>
            <a:ext cx="523875" cy="2460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latin typeface="Arial Rounded MT Bold" panose="020F07040305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825" y="1600200"/>
            <a:ext cx="4129088" cy="4457700"/>
          </a:xfrm>
        </p:spPr>
        <p:txBody>
          <a:bodyPr/>
          <a:lstStyle>
            <a:lvl1pPr marL="342900" indent="-342900">
              <a:buClr>
                <a:srgbClr val="680000"/>
              </a:buClr>
              <a:buFont typeface="Wingdings" panose="05000000000000000000" pitchFamily="2" charset="2"/>
              <a:buChar char="q"/>
              <a:defRPr sz="2800">
                <a:latin typeface="AvantGarde Bk BT" panose="020B0402020202020204" pitchFamily="34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6313" y="1600200"/>
            <a:ext cx="4129087" cy="4457700"/>
          </a:xfrm>
        </p:spPr>
        <p:txBody>
          <a:bodyPr/>
          <a:lstStyle>
            <a:lvl1pPr marL="342900" indent="-342900">
              <a:buClr>
                <a:srgbClr val="680000"/>
              </a:buClr>
              <a:buFont typeface="Wingdings" panose="05000000000000000000" pitchFamily="2" charset="2"/>
              <a:buChar char="q"/>
              <a:defRPr sz="2800">
                <a:latin typeface="AvantGarde Bk BT" panose="020B0402020202020204" pitchFamily="34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latin typeface="Arial Rounded MT Bold" panose="020F07040305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523038"/>
            <a:ext cx="1905000" cy="2873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23038"/>
            <a:ext cx="2895600" cy="2873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9163" y="6523038"/>
            <a:ext cx="523875" cy="2873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0375" y="152400"/>
            <a:ext cx="2143125" cy="59055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276975" cy="59055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72500" cy="1143000"/>
          </a:xfrm>
          <a:prstGeom prst="rect">
            <a:avLst/>
          </a:prstGeom>
          <a:noFill/>
          <a:ln w="9525">
            <a:noFill/>
          </a:ln>
        </p:spPr>
        <p:txBody>
          <a:bodyPr lIns="0" rIns="0"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>
          <a:xfrm>
            <a:off x="504825" y="1600200"/>
            <a:ext cx="8410575" cy="44577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9163" y="6353175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0" y="13716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12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25" y="547688"/>
            <a:ext cx="3019425" cy="1797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3" name="Rectangle 5"/>
          <p:cNvSpPr/>
          <p:nvPr/>
        </p:nvSpPr>
        <p:spPr>
          <a:xfrm>
            <a:off x="896938" y="2684463"/>
            <a:ext cx="7685087" cy="646112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lIns="182880" rIns="182880">
            <a:spAutoFit/>
          </a:bodyPr>
          <a:p>
            <a:pPr algn="ctr" eaLnBrk="1" hangingPunct="1">
              <a:spcBef>
                <a:spcPct val="20000"/>
              </a:spcBef>
            </a:pPr>
            <a:r>
              <a:rPr lang="en-US" altLang="zh-CN" sz="3600" b="0" dirty="0">
                <a:latin typeface="Comic Sans MS" panose="030F0702030302020204" pitchFamily="66" charset="0"/>
                <a:ea typeface="宋体" panose="02010600030101010101" pitchFamily="2" charset="-122"/>
              </a:rPr>
              <a:t>Object Oriented Design Principles</a:t>
            </a:r>
            <a:endParaRPr lang="en-US" altLang="zh-CN" sz="3600" b="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5124" name="Line 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ln w="5715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5" name="矩形 5"/>
          <p:cNvSpPr/>
          <p:nvPr/>
        </p:nvSpPr>
        <p:spPr>
          <a:xfrm>
            <a:off x="735013" y="3505200"/>
            <a:ext cx="7467600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200000"/>
              </a:lnSpc>
              <a:buNone/>
            </a:pPr>
            <a:r>
              <a:rPr lang="zh-CN" altLang="en-US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Max</a:t>
            </a:r>
            <a:endParaRPr lang="en-US" altLang="zh-CN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b="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</a:t>
            </a:r>
            <a:r>
              <a:rPr lang="en-US" altLang="zh-CN" b="0" i="1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345-Andy: On What </a:t>
            </a:r>
            <a:r>
              <a:rPr lang="en-US" altLang="zh-CN" b="0" i="1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b="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/SoftwareEngineering26S</a:t>
            </a:r>
            <a:endParaRPr lang="en-US" altLang="zh-CN" b="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7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0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Topics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504825" y="1416050"/>
            <a:ext cx="8410575" cy="5441950"/>
          </a:xfrm>
        </p:spPr>
        <p:txBody>
          <a:bodyPr vert="horz" wrap="square" lIns="91440" tIns="45720" rIns="91440" bIns="45720" numCol="1" anchor="t" anchorCtr="0" compatLnSpc="1">
            <a:normAutofit fontScale="6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SOLID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Design Principles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en.wikipedia.org/wiki/SOLID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Composition over inheritance (aka Composite reuse principle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)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https://en.wikipedia.org/wiki/Composition_over_inheritance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Don't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Repeat Yourself - DRY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https://en.wikipedia.org/wiki/Don%27t_repeat_yourself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Inversion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of Control -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IoC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(aka Hollywood Principle)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https://en.wikipedia.org/wiki/Inversion_of_control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You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Aren't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Gonna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Need It - YAGNI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https://en.wikipedia.org/wiki/You_aren%27t_gonna_need_it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Law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of Demeter -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LoD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(aka Principle of Least Knowledge)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https://en.wikipedia.org/wiki/Law_of_Demeter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Principle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of Least Astonishment -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PoLA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https://en.wikipedia.org/wiki/Principle_of_least_astonishment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Minimum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Viable Product - MVP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http://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en.wikipedia.org/wiki/Minimum_viable_product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26" name="Object 6"/>
          <p:cNvGraphicFramePr>
            <a:graphicFrameLocks noChangeAspect="1"/>
          </p:cNvGraphicFramePr>
          <p:nvPr/>
        </p:nvGraphicFramePr>
        <p:xfrm>
          <a:off x="8054975" y="981075"/>
          <a:ext cx="985838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856615" imgH="831850" progId="Visio.Drawing.6">
                  <p:embed/>
                </p:oleObj>
              </mc:Choice>
              <mc:Fallback>
                <p:oleObj name="" r:id="rId1" imgW="856615" imgH="831850" progId="Visio.Drawing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54975" y="981075"/>
                        <a:ext cx="985838" cy="957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SOLID Design Principles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588" y="1512888"/>
            <a:ext cx="8712200" cy="5106988"/>
          </a:xfrm>
        </p:spPr>
        <p:txBody>
          <a:bodyPr vert="horz" wrap="square" lIns="91440" tIns="45720" rIns="91440" bIns="45720" numCol="1" anchor="t" anchorCtr="0" compatLnSpc="1">
            <a:normAutofit fontScale="6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68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3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Software </a:t>
            </a:r>
            <a:r>
              <a:rPr kumimoji="0" lang="en-US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inevitably changes/evolves </a:t>
            </a:r>
            <a:r>
              <a:rPr kumimoji="0" lang="en-US" sz="3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over time (maintenance, upgrade)</a:t>
            </a:r>
            <a:endParaRPr kumimoji="0" lang="en-US" sz="33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ingle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responsibility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principle (SRP)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Every class </a:t>
            </a:r>
            <a:r>
              <a:rPr kumimoji="0" 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should have </a:t>
            </a: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only one </a:t>
            </a:r>
            <a:r>
              <a:rPr kumimoji="0" 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reason </a:t>
            </a: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to be changed</a:t>
            </a:r>
            <a:endParaRPr kumimoji="0" lang="en-US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kumimoji="0" 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class "A" has two responsibilities, create </a:t>
            </a: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new classes </a:t>
            </a:r>
            <a:r>
              <a:rPr kumimoji="0" 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"B" and "C" </a:t>
            </a: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to handle </a:t>
            </a:r>
            <a:r>
              <a:rPr kumimoji="0" 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each </a:t>
            </a: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responsibility in </a:t>
            </a:r>
            <a:r>
              <a:rPr kumimoji="0" 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isolation, and then compose "A" out of "B" and "C</a:t>
            </a: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endParaRPr kumimoji="0" lang="en-US" sz="2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pen/closed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principle (OCP)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Every class should be open for extension (derivative classes), but closed for modification (fixed interfaces)</a:t>
            </a:r>
            <a:endParaRPr kumimoji="0" lang="en-US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Put the system parts that are likely to change into implementations (i.e. concrete classes) and define interfaces around the parts that are unlikely to change (e.g. abstract base classes)</a:t>
            </a:r>
            <a:endParaRPr kumimoji="0" lang="en-US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iskov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substitution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principle (LSP)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Every implementation of an interface needs to fully comply with the requirements of this interface (requirements determined by its clients!)</a:t>
            </a:r>
            <a:endParaRPr kumimoji="0" lang="en-US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Any algorithm that works on the interface, should continue to work for any substitute implementation</a:t>
            </a:r>
            <a:endParaRPr kumimoji="0" lang="en-US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48" name="Slide Number Placeholder 3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SOLID Design Principles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588" y="1512888"/>
            <a:ext cx="8712200" cy="5106988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68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3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Software </a:t>
            </a:r>
            <a:r>
              <a:rPr kumimoji="0" lang="en-US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inevitably changes/evolves </a:t>
            </a:r>
            <a:r>
              <a:rPr kumimoji="0" lang="en-US" sz="3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over time (maintenance, upgrade)</a:t>
            </a:r>
            <a:endParaRPr kumimoji="0" lang="en-US" sz="33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nterface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segregation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principle (ISP)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Keep interfaces as small as possible, to avoid unnecessary dependencies</a:t>
            </a:r>
            <a:endParaRPr kumimoji="0" lang="en-US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Ideally, it should be possible to understand any part of the code in isolation, without needing to look up the rest of the system code</a:t>
            </a:r>
            <a:endParaRPr kumimoji="0" lang="en-US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ependency inversion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principle (DIP)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Instead of having concrete implementations communicate directly (and depend on each other), decouple them by formalizing their communication interface as an abstract interface based on the needs of the higher-level class</a:t>
            </a:r>
            <a:endParaRPr kumimoji="0" lang="en-US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Slide Number Placeholder 4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23038"/>
            <a:ext cx="523875" cy="28733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>
          <a:xfrm>
            <a:off x="381000" y="100013"/>
            <a:ext cx="8572500" cy="928687"/>
          </a:xfrm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sz="2400" dirty="0">
                <a:latin typeface="Arial Rounded MT Bold" panose="020F0704030504030204" pitchFamily="34" charset="0"/>
                <a:ea typeface="+mj-ea"/>
                <a:cs typeface="+mj-cs"/>
              </a:rPr>
              <a:t>… is this a good design?</a:t>
            </a:r>
            <a:br>
              <a:rPr lang="en-US" altLang="en-US" sz="2400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Unlock Use Case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pic>
        <p:nvPicPr>
          <p:cNvPr id="8196" name="Picture 4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100" y="1081088"/>
            <a:ext cx="6526213" cy="5610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7" name="Text Box 54"/>
          <p:cNvSpPr txBox="1"/>
          <p:nvPr/>
        </p:nvSpPr>
        <p:spPr>
          <a:xfrm>
            <a:off x="355600" y="3717925"/>
            <a:ext cx="338138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dirty="0">
                <a:latin typeface="Arial" panose="020B0604020202020204" pitchFamily="34" charset="0"/>
              </a:rPr>
              <a:t>Time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grpSp>
        <p:nvGrpSpPr>
          <p:cNvPr id="8198" name="Group 55"/>
          <p:cNvGrpSpPr>
            <a:grpSpLocks noChangeAspect="1"/>
          </p:cNvGrpSpPr>
          <p:nvPr/>
        </p:nvGrpSpPr>
        <p:grpSpPr>
          <a:xfrm rot="5400000">
            <a:off x="22225" y="4413250"/>
            <a:ext cx="1004888" cy="155575"/>
            <a:chOff x="2009" y="3184"/>
            <a:chExt cx="3110" cy="479"/>
          </a:xfrm>
        </p:grpSpPr>
        <p:sp>
          <p:nvSpPr>
            <p:cNvPr id="8199" name="Freeform 56"/>
            <p:cNvSpPr>
              <a:spLocks noChangeAspect="1"/>
            </p:cNvSpPr>
            <p:nvPr/>
          </p:nvSpPr>
          <p:spPr>
            <a:xfrm>
              <a:off x="2565" y="3224"/>
              <a:ext cx="287" cy="176"/>
            </a:xfrm>
            <a:custGeom>
              <a:avLst/>
              <a:gdLst>
                <a:gd name="txL" fmla="*/ 0 w 287"/>
                <a:gd name="txT" fmla="*/ 0 h 176"/>
                <a:gd name="txR" fmla="*/ 287 w 287"/>
                <a:gd name="txB" fmla="*/ 176 h 176"/>
              </a:gdLst>
              <a:ahLst/>
              <a:cxnLst>
                <a:cxn ang="0">
                  <a:pos x="28" y="56"/>
                </a:cxn>
                <a:cxn ang="0">
                  <a:pos x="97" y="34"/>
                </a:cxn>
                <a:cxn ang="0">
                  <a:pos x="287" y="176"/>
                </a:cxn>
                <a:cxn ang="0">
                  <a:pos x="184" y="176"/>
                </a:cxn>
                <a:cxn ang="0">
                  <a:pos x="28" y="56"/>
                </a:cxn>
              </a:cxnLst>
              <a:rect l="txL" t="txT" r="txR" b="txB"/>
              <a:pathLst>
                <a:path w="287" h="176">
                  <a:moveTo>
                    <a:pt x="28" y="56"/>
                  </a:moveTo>
                  <a:cubicBezTo>
                    <a:pt x="0" y="24"/>
                    <a:pt x="72" y="0"/>
                    <a:pt x="97" y="34"/>
                  </a:cubicBezTo>
                  <a:cubicBezTo>
                    <a:pt x="122" y="68"/>
                    <a:pt x="193" y="131"/>
                    <a:pt x="287" y="176"/>
                  </a:cubicBezTo>
                  <a:lnTo>
                    <a:pt x="184" y="176"/>
                  </a:lnTo>
                  <a:cubicBezTo>
                    <a:pt x="136" y="148"/>
                    <a:pt x="56" y="88"/>
                    <a:pt x="28" y="56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0" name="Freeform 57"/>
            <p:cNvSpPr>
              <a:spLocks noChangeAspect="1"/>
            </p:cNvSpPr>
            <p:nvPr/>
          </p:nvSpPr>
          <p:spPr>
            <a:xfrm>
              <a:off x="2009" y="3184"/>
              <a:ext cx="302" cy="216"/>
            </a:xfrm>
            <a:custGeom>
              <a:avLst/>
              <a:gdLst>
                <a:gd name="txL" fmla="*/ 0 w 302"/>
                <a:gd name="txT" fmla="*/ 0 h 216"/>
                <a:gd name="txR" fmla="*/ 302 w 302"/>
                <a:gd name="txB" fmla="*/ 216 h 216"/>
              </a:gdLst>
              <a:ahLst/>
              <a:cxnLst>
                <a:cxn ang="0">
                  <a:pos x="24" y="38"/>
                </a:cxn>
                <a:cxn ang="0">
                  <a:pos x="96" y="27"/>
                </a:cxn>
                <a:cxn ang="0">
                  <a:pos x="302" y="216"/>
                </a:cxn>
                <a:cxn ang="0">
                  <a:pos x="224" y="216"/>
                </a:cxn>
                <a:cxn ang="0">
                  <a:pos x="24" y="38"/>
                </a:cxn>
              </a:cxnLst>
              <a:rect l="txL" t="txT" r="txR" b="txB"/>
              <a:pathLst>
                <a:path w="302" h="216">
                  <a:moveTo>
                    <a:pt x="24" y="38"/>
                  </a:moveTo>
                  <a:cubicBezTo>
                    <a:pt x="0" y="6"/>
                    <a:pt x="86" y="0"/>
                    <a:pt x="96" y="27"/>
                  </a:cubicBezTo>
                  <a:cubicBezTo>
                    <a:pt x="136" y="106"/>
                    <a:pt x="231" y="182"/>
                    <a:pt x="302" y="216"/>
                  </a:cubicBezTo>
                  <a:lnTo>
                    <a:pt x="224" y="216"/>
                  </a:lnTo>
                  <a:cubicBezTo>
                    <a:pt x="149" y="171"/>
                    <a:pt x="95" y="125"/>
                    <a:pt x="24" y="38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1" name="Freeform 58"/>
            <p:cNvSpPr>
              <a:spLocks noChangeAspect="1"/>
            </p:cNvSpPr>
            <p:nvPr/>
          </p:nvSpPr>
          <p:spPr>
            <a:xfrm>
              <a:off x="2122" y="3195"/>
              <a:ext cx="264" cy="205"/>
            </a:xfrm>
            <a:custGeom>
              <a:avLst/>
              <a:gdLst>
                <a:gd name="txL" fmla="*/ 0 w 264"/>
                <a:gd name="txT" fmla="*/ 0 h 205"/>
                <a:gd name="txR" fmla="*/ 264 w 264"/>
                <a:gd name="txB" fmla="*/ 205 h 205"/>
              </a:gdLst>
              <a:ahLst/>
              <a:cxnLst>
                <a:cxn ang="0">
                  <a:pos x="102" y="61"/>
                </a:cxn>
                <a:cxn ang="0">
                  <a:pos x="24" y="76"/>
                </a:cxn>
                <a:cxn ang="0">
                  <a:pos x="189" y="205"/>
                </a:cxn>
                <a:cxn ang="0">
                  <a:pos x="264" y="205"/>
                </a:cxn>
                <a:cxn ang="0">
                  <a:pos x="102" y="61"/>
                </a:cxn>
              </a:cxnLst>
              <a:rect l="txL" t="txT" r="txR" b="txB"/>
              <a:pathLst>
                <a:path w="264" h="205">
                  <a:moveTo>
                    <a:pt x="102" y="61"/>
                  </a:moveTo>
                  <a:cubicBezTo>
                    <a:pt x="58" y="0"/>
                    <a:pt x="0" y="41"/>
                    <a:pt x="24" y="76"/>
                  </a:cubicBezTo>
                  <a:cubicBezTo>
                    <a:pt x="48" y="111"/>
                    <a:pt x="136" y="183"/>
                    <a:pt x="189" y="205"/>
                  </a:cubicBezTo>
                  <a:lnTo>
                    <a:pt x="264" y="205"/>
                  </a:lnTo>
                  <a:cubicBezTo>
                    <a:pt x="189" y="160"/>
                    <a:pt x="163" y="142"/>
                    <a:pt x="102" y="61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2" name="Freeform 59"/>
            <p:cNvSpPr>
              <a:spLocks noChangeAspect="1"/>
            </p:cNvSpPr>
            <p:nvPr/>
          </p:nvSpPr>
          <p:spPr>
            <a:xfrm>
              <a:off x="2212" y="3205"/>
              <a:ext cx="252" cy="195"/>
            </a:xfrm>
            <a:custGeom>
              <a:avLst/>
              <a:gdLst>
                <a:gd name="txL" fmla="*/ 0 w 252"/>
                <a:gd name="txT" fmla="*/ 0 h 195"/>
                <a:gd name="txR" fmla="*/ 252 w 252"/>
                <a:gd name="txB" fmla="*/ 195 h 195"/>
              </a:gdLst>
              <a:ahLst/>
              <a:cxnLst>
                <a:cxn ang="0">
                  <a:pos x="12" y="51"/>
                </a:cxn>
                <a:cxn ang="0">
                  <a:pos x="73" y="38"/>
                </a:cxn>
                <a:cxn ang="0">
                  <a:pos x="252" y="195"/>
                </a:cxn>
                <a:cxn ang="0">
                  <a:pos x="174" y="195"/>
                </a:cxn>
                <a:cxn ang="0">
                  <a:pos x="12" y="51"/>
                </a:cxn>
              </a:cxnLst>
              <a:rect l="txL" t="txT" r="txR" b="txB"/>
              <a:pathLst>
                <a:path w="252" h="195">
                  <a:moveTo>
                    <a:pt x="12" y="51"/>
                  </a:moveTo>
                  <a:cubicBezTo>
                    <a:pt x="0" y="29"/>
                    <a:pt x="55" y="0"/>
                    <a:pt x="73" y="38"/>
                  </a:cubicBezTo>
                  <a:cubicBezTo>
                    <a:pt x="91" y="76"/>
                    <a:pt x="199" y="173"/>
                    <a:pt x="252" y="195"/>
                  </a:cubicBezTo>
                  <a:lnTo>
                    <a:pt x="174" y="195"/>
                  </a:lnTo>
                  <a:cubicBezTo>
                    <a:pt x="99" y="150"/>
                    <a:pt x="73" y="132"/>
                    <a:pt x="12" y="51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3" name="Freeform 60"/>
            <p:cNvSpPr>
              <a:spLocks noChangeAspect="1"/>
            </p:cNvSpPr>
            <p:nvPr/>
          </p:nvSpPr>
          <p:spPr>
            <a:xfrm>
              <a:off x="2290" y="3213"/>
              <a:ext cx="255" cy="187"/>
            </a:xfrm>
            <a:custGeom>
              <a:avLst/>
              <a:gdLst>
                <a:gd name="txL" fmla="*/ 0 w 255"/>
                <a:gd name="txT" fmla="*/ 0 h 187"/>
                <a:gd name="txR" fmla="*/ 255 w 255"/>
                <a:gd name="txB" fmla="*/ 187 h 187"/>
              </a:gdLst>
              <a:ahLst/>
              <a:cxnLst>
                <a:cxn ang="0">
                  <a:pos x="103" y="52"/>
                </a:cxn>
                <a:cxn ang="0">
                  <a:pos x="33" y="78"/>
                </a:cxn>
                <a:cxn ang="0">
                  <a:pos x="174" y="187"/>
                </a:cxn>
                <a:cxn ang="0">
                  <a:pos x="255" y="187"/>
                </a:cxn>
                <a:cxn ang="0">
                  <a:pos x="103" y="52"/>
                </a:cxn>
              </a:cxnLst>
              <a:rect l="txL" t="txT" r="txR" b="txB"/>
              <a:pathLst>
                <a:path w="255" h="187">
                  <a:moveTo>
                    <a:pt x="103" y="52"/>
                  </a:moveTo>
                  <a:cubicBezTo>
                    <a:pt x="75" y="0"/>
                    <a:pt x="0" y="45"/>
                    <a:pt x="33" y="78"/>
                  </a:cubicBezTo>
                  <a:cubicBezTo>
                    <a:pt x="66" y="111"/>
                    <a:pt x="115" y="156"/>
                    <a:pt x="174" y="187"/>
                  </a:cubicBezTo>
                  <a:lnTo>
                    <a:pt x="255" y="187"/>
                  </a:lnTo>
                  <a:cubicBezTo>
                    <a:pt x="204" y="150"/>
                    <a:pt x="164" y="133"/>
                    <a:pt x="103" y="52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4" name="Freeform 61"/>
            <p:cNvSpPr>
              <a:spLocks noChangeAspect="1"/>
            </p:cNvSpPr>
            <p:nvPr/>
          </p:nvSpPr>
          <p:spPr>
            <a:xfrm>
              <a:off x="2381" y="3205"/>
              <a:ext cx="267" cy="195"/>
            </a:xfrm>
            <a:custGeom>
              <a:avLst/>
              <a:gdLst>
                <a:gd name="txL" fmla="*/ 0 w 267"/>
                <a:gd name="txT" fmla="*/ 0 h 195"/>
                <a:gd name="txR" fmla="*/ 267 w 267"/>
                <a:gd name="txB" fmla="*/ 195 h 195"/>
              </a:gdLst>
              <a:ahLst/>
              <a:cxnLst>
                <a:cxn ang="0">
                  <a:pos x="23" y="77"/>
                </a:cxn>
                <a:cxn ang="0">
                  <a:pos x="119" y="62"/>
                </a:cxn>
                <a:cxn ang="0">
                  <a:pos x="267" y="195"/>
                </a:cxn>
                <a:cxn ang="0">
                  <a:pos x="164" y="195"/>
                </a:cxn>
                <a:cxn ang="0">
                  <a:pos x="23" y="77"/>
                </a:cxn>
              </a:cxnLst>
              <a:rect l="txL" t="txT" r="txR" b="txB"/>
              <a:pathLst>
                <a:path w="267" h="195">
                  <a:moveTo>
                    <a:pt x="23" y="77"/>
                  </a:moveTo>
                  <a:cubicBezTo>
                    <a:pt x="0" y="42"/>
                    <a:pt x="80" y="0"/>
                    <a:pt x="119" y="62"/>
                  </a:cubicBezTo>
                  <a:cubicBezTo>
                    <a:pt x="158" y="124"/>
                    <a:pt x="228" y="167"/>
                    <a:pt x="267" y="195"/>
                  </a:cubicBezTo>
                  <a:lnTo>
                    <a:pt x="164" y="195"/>
                  </a:lnTo>
                  <a:cubicBezTo>
                    <a:pt x="107" y="162"/>
                    <a:pt x="53" y="113"/>
                    <a:pt x="23" y="77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5" name="Freeform 62"/>
            <p:cNvSpPr>
              <a:spLocks noChangeAspect="1"/>
            </p:cNvSpPr>
            <p:nvPr/>
          </p:nvSpPr>
          <p:spPr>
            <a:xfrm>
              <a:off x="2480" y="3204"/>
              <a:ext cx="269" cy="196"/>
            </a:xfrm>
            <a:custGeom>
              <a:avLst/>
              <a:gdLst>
                <a:gd name="txL" fmla="*/ 0 w 269"/>
                <a:gd name="txT" fmla="*/ 0 h 196"/>
                <a:gd name="txR" fmla="*/ 269 w 269"/>
                <a:gd name="txB" fmla="*/ 196 h 196"/>
              </a:gdLst>
              <a:ahLst/>
              <a:cxnLst>
                <a:cxn ang="0">
                  <a:pos x="84" y="39"/>
                </a:cxn>
                <a:cxn ang="0">
                  <a:pos x="20" y="63"/>
                </a:cxn>
                <a:cxn ang="0">
                  <a:pos x="168" y="196"/>
                </a:cxn>
                <a:cxn ang="0">
                  <a:pos x="269" y="196"/>
                </a:cxn>
                <a:cxn ang="0">
                  <a:pos x="84" y="39"/>
                </a:cxn>
              </a:cxnLst>
              <a:rect l="txL" t="txT" r="txR" b="txB"/>
              <a:pathLst>
                <a:path w="269" h="196">
                  <a:moveTo>
                    <a:pt x="84" y="39"/>
                  </a:moveTo>
                  <a:cubicBezTo>
                    <a:pt x="66" y="0"/>
                    <a:pt x="0" y="33"/>
                    <a:pt x="20" y="63"/>
                  </a:cubicBezTo>
                  <a:cubicBezTo>
                    <a:pt x="59" y="125"/>
                    <a:pt x="129" y="168"/>
                    <a:pt x="168" y="196"/>
                  </a:cubicBezTo>
                  <a:lnTo>
                    <a:pt x="269" y="196"/>
                  </a:lnTo>
                  <a:cubicBezTo>
                    <a:pt x="212" y="163"/>
                    <a:pt x="102" y="78"/>
                    <a:pt x="84" y="39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6" name="Freeform 63"/>
            <p:cNvSpPr>
              <a:spLocks noChangeAspect="1"/>
            </p:cNvSpPr>
            <p:nvPr/>
          </p:nvSpPr>
          <p:spPr>
            <a:xfrm flipV="1">
              <a:off x="2565" y="3447"/>
              <a:ext cx="287" cy="176"/>
            </a:xfrm>
            <a:custGeom>
              <a:avLst/>
              <a:gdLst>
                <a:gd name="txL" fmla="*/ 0 w 287"/>
                <a:gd name="txT" fmla="*/ 0 h 176"/>
                <a:gd name="txR" fmla="*/ 287 w 287"/>
                <a:gd name="txB" fmla="*/ 176 h 176"/>
              </a:gdLst>
              <a:ahLst/>
              <a:cxnLst>
                <a:cxn ang="0">
                  <a:pos x="28" y="56"/>
                </a:cxn>
                <a:cxn ang="0">
                  <a:pos x="97" y="34"/>
                </a:cxn>
                <a:cxn ang="0">
                  <a:pos x="287" y="176"/>
                </a:cxn>
                <a:cxn ang="0">
                  <a:pos x="184" y="176"/>
                </a:cxn>
                <a:cxn ang="0">
                  <a:pos x="28" y="56"/>
                </a:cxn>
              </a:cxnLst>
              <a:rect l="txL" t="txT" r="txR" b="txB"/>
              <a:pathLst>
                <a:path w="287" h="176">
                  <a:moveTo>
                    <a:pt x="28" y="56"/>
                  </a:moveTo>
                  <a:cubicBezTo>
                    <a:pt x="0" y="24"/>
                    <a:pt x="72" y="0"/>
                    <a:pt x="97" y="34"/>
                  </a:cubicBezTo>
                  <a:cubicBezTo>
                    <a:pt x="122" y="68"/>
                    <a:pt x="193" y="131"/>
                    <a:pt x="287" y="176"/>
                  </a:cubicBezTo>
                  <a:lnTo>
                    <a:pt x="184" y="176"/>
                  </a:lnTo>
                  <a:cubicBezTo>
                    <a:pt x="136" y="148"/>
                    <a:pt x="56" y="88"/>
                    <a:pt x="28" y="56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7" name="Freeform 64"/>
            <p:cNvSpPr>
              <a:spLocks noChangeAspect="1"/>
            </p:cNvSpPr>
            <p:nvPr/>
          </p:nvSpPr>
          <p:spPr>
            <a:xfrm flipV="1">
              <a:off x="2009" y="3447"/>
              <a:ext cx="302" cy="216"/>
            </a:xfrm>
            <a:custGeom>
              <a:avLst/>
              <a:gdLst>
                <a:gd name="txL" fmla="*/ 0 w 302"/>
                <a:gd name="txT" fmla="*/ 0 h 216"/>
                <a:gd name="txR" fmla="*/ 302 w 302"/>
                <a:gd name="txB" fmla="*/ 216 h 216"/>
              </a:gdLst>
              <a:ahLst/>
              <a:cxnLst>
                <a:cxn ang="0">
                  <a:pos x="24" y="38"/>
                </a:cxn>
                <a:cxn ang="0">
                  <a:pos x="96" y="27"/>
                </a:cxn>
                <a:cxn ang="0">
                  <a:pos x="302" y="216"/>
                </a:cxn>
                <a:cxn ang="0">
                  <a:pos x="224" y="216"/>
                </a:cxn>
                <a:cxn ang="0">
                  <a:pos x="24" y="38"/>
                </a:cxn>
              </a:cxnLst>
              <a:rect l="txL" t="txT" r="txR" b="txB"/>
              <a:pathLst>
                <a:path w="302" h="216">
                  <a:moveTo>
                    <a:pt x="24" y="38"/>
                  </a:moveTo>
                  <a:cubicBezTo>
                    <a:pt x="0" y="6"/>
                    <a:pt x="86" y="0"/>
                    <a:pt x="96" y="27"/>
                  </a:cubicBezTo>
                  <a:cubicBezTo>
                    <a:pt x="136" y="106"/>
                    <a:pt x="231" y="182"/>
                    <a:pt x="302" y="216"/>
                  </a:cubicBezTo>
                  <a:lnTo>
                    <a:pt x="224" y="216"/>
                  </a:lnTo>
                  <a:cubicBezTo>
                    <a:pt x="149" y="171"/>
                    <a:pt x="95" y="125"/>
                    <a:pt x="24" y="38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8" name="Freeform 65"/>
            <p:cNvSpPr>
              <a:spLocks noChangeAspect="1"/>
            </p:cNvSpPr>
            <p:nvPr/>
          </p:nvSpPr>
          <p:spPr>
            <a:xfrm flipV="1">
              <a:off x="2122" y="3447"/>
              <a:ext cx="264" cy="205"/>
            </a:xfrm>
            <a:custGeom>
              <a:avLst/>
              <a:gdLst>
                <a:gd name="txL" fmla="*/ 0 w 264"/>
                <a:gd name="txT" fmla="*/ 0 h 205"/>
                <a:gd name="txR" fmla="*/ 264 w 264"/>
                <a:gd name="txB" fmla="*/ 205 h 205"/>
              </a:gdLst>
              <a:ahLst/>
              <a:cxnLst>
                <a:cxn ang="0">
                  <a:pos x="102" y="61"/>
                </a:cxn>
                <a:cxn ang="0">
                  <a:pos x="24" y="76"/>
                </a:cxn>
                <a:cxn ang="0">
                  <a:pos x="189" y="205"/>
                </a:cxn>
                <a:cxn ang="0">
                  <a:pos x="264" y="205"/>
                </a:cxn>
                <a:cxn ang="0">
                  <a:pos x="102" y="61"/>
                </a:cxn>
              </a:cxnLst>
              <a:rect l="txL" t="txT" r="txR" b="txB"/>
              <a:pathLst>
                <a:path w="264" h="205">
                  <a:moveTo>
                    <a:pt x="102" y="61"/>
                  </a:moveTo>
                  <a:cubicBezTo>
                    <a:pt x="58" y="0"/>
                    <a:pt x="0" y="41"/>
                    <a:pt x="24" y="76"/>
                  </a:cubicBezTo>
                  <a:cubicBezTo>
                    <a:pt x="48" y="111"/>
                    <a:pt x="136" y="183"/>
                    <a:pt x="189" y="205"/>
                  </a:cubicBezTo>
                  <a:lnTo>
                    <a:pt x="264" y="205"/>
                  </a:lnTo>
                  <a:cubicBezTo>
                    <a:pt x="189" y="160"/>
                    <a:pt x="163" y="142"/>
                    <a:pt x="102" y="61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9" name="Freeform 66"/>
            <p:cNvSpPr>
              <a:spLocks noChangeAspect="1"/>
            </p:cNvSpPr>
            <p:nvPr/>
          </p:nvSpPr>
          <p:spPr>
            <a:xfrm flipV="1">
              <a:off x="2212" y="3447"/>
              <a:ext cx="252" cy="195"/>
            </a:xfrm>
            <a:custGeom>
              <a:avLst/>
              <a:gdLst>
                <a:gd name="txL" fmla="*/ 0 w 252"/>
                <a:gd name="txT" fmla="*/ 0 h 195"/>
                <a:gd name="txR" fmla="*/ 252 w 252"/>
                <a:gd name="txB" fmla="*/ 195 h 195"/>
              </a:gdLst>
              <a:ahLst/>
              <a:cxnLst>
                <a:cxn ang="0">
                  <a:pos x="12" y="51"/>
                </a:cxn>
                <a:cxn ang="0">
                  <a:pos x="73" y="38"/>
                </a:cxn>
                <a:cxn ang="0">
                  <a:pos x="252" y="195"/>
                </a:cxn>
                <a:cxn ang="0">
                  <a:pos x="174" y="195"/>
                </a:cxn>
                <a:cxn ang="0">
                  <a:pos x="12" y="51"/>
                </a:cxn>
              </a:cxnLst>
              <a:rect l="txL" t="txT" r="txR" b="txB"/>
              <a:pathLst>
                <a:path w="252" h="195">
                  <a:moveTo>
                    <a:pt x="12" y="51"/>
                  </a:moveTo>
                  <a:cubicBezTo>
                    <a:pt x="0" y="29"/>
                    <a:pt x="55" y="0"/>
                    <a:pt x="73" y="38"/>
                  </a:cubicBezTo>
                  <a:cubicBezTo>
                    <a:pt x="91" y="76"/>
                    <a:pt x="199" y="173"/>
                    <a:pt x="252" y="195"/>
                  </a:cubicBezTo>
                  <a:lnTo>
                    <a:pt x="174" y="195"/>
                  </a:lnTo>
                  <a:cubicBezTo>
                    <a:pt x="99" y="150"/>
                    <a:pt x="73" y="132"/>
                    <a:pt x="12" y="51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0" name="Freeform 67"/>
            <p:cNvSpPr>
              <a:spLocks noChangeAspect="1"/>
            </p:cNvSpPr>
            <p:nvPr/>
          </p:nvSpPr>
          <p:spPr>
            <a:xfrm flipV="1">
              <a:off x="2290" y="3447"/>
              <a:ext cx="255" cy="187"/>
            </a:xfrm>
            <a:custGeom>
              <a:avLst/>
              <a:gdLst>
                <a:gd name="txL" fmla="*/ 0 w 255"/>
                <a:gd name="txT" fmla="*/ 0 h 187"/>
                <a:gd name="txR" fmla="*/ 255 w 255"/>
                <a:gd name="txB" fmla="*/ 187 h 187"/>
              </a:gdLst>
              <a:ahLst/>
              <a:cxnLst>
                <a:cxn ang="0">
                  <a:pos x="103" y="52"/>
                </a:cxn>
                <a:cxn ang="0">
                  <a:pos x="33" y="78"/>
                </a:cxn>
                <a:cxn ang="0">
                  <a:pos x="174" y="187"/>
                </a:cxn>
                <a:cxn ang="0">
                  <a:pos x="255" y="187"/>
                </a:cxn>
                <a:cxn ang="0">
                  <a:pos x="103" y="52"/>
                </a:cxn>
              </a:cxnLst>
              <a:rect l="txL" t="txT" r="txR" b="txB"/>
              <a:pathLst>
                <a:path w="255" h="187">
                  <a:moveTo>
                    <a:pt x="103" y="52"/>
                  </a:moveTo>
                  <a:cubicBezTo>
                    <a:pt x="75" y="0"/>
                    <a:pt x="0" y="45"/>
                    <a:pt x="33" y="78"/>
                  </a:cubicBezTo>
                  <a:cubicBezTo>
                    <a:pt x="66" y="111"/>
                    <a:pt x="115" y="156"/>
                    <a:pt x="174" y="187"/>
                  </a:cubicBezTo>
                  <a:lnTo>
                    <a:pt x="255" y="187"/>
                  </a:lnTo>
                  <a:cubicBezTo>
                    <a:pt x="204" y="150"/>
                    <a:pt x="164" y="133"/>
                    <a:pt x="103" y="52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1" name="Freeform 68"/>
            <p:cNvSpPr>
              <a:spLocks noChangeAspect="1"/>
            </p:cNvSpPr>
            <p:nvPr/>
          </p:nvSpPr>
          <p:spPr>
            <a:xfrm flipV="1">
              <a:off x="2381" y="3447"/>
              <a:ext cx="267" cy="195"/>
            </a:xfrm>
            <a:custGeom>
              <a:avLst/>
              <a:gdLst>
                <a:gd name="txL" fmla="*/ 0 w 267"/>
                <a:gd name="txT" fmla="*/ 0 h 195"/>
                <a:gd name="txR" fmla="*/ 267 w 267"/>
                <a:gd name="txB" fmla="*/ 195 h 195"/>
              </a:gdLst>
              <a:ahLst/>
              <a:cxnLst>
                <a:cxn ang="0">
                  <a:pos x="23" y="77"/>
                </a:cxn>
                <a:cxn ang="0">
                  <a:pos x="119" y="62"/>
                </a:cxn>
                <a:cxn ang="0">
                  <a:pos x="267" y="195"/>
                </a:cxn>
                <a:cxn ang="0">
                  <a:pos x="164" y="195"/>
                </a:cxn>
                <a:cxn ang="0">
                  <a:pos x="23" y="77"/>
                </a:cxn>
              </a:cxnLst>
              <a:rect l="txL" t="txT" r="txR" b="txB"/>
              <a:pathLst>
                <a:path w="267" h="195">
                  <a:moveTo>
                    <a:pt x="23" y="77"/>
                  </a:moveTo>
                  <a:cubicBezTo>
                    <a:pt x="0" y="42"/>
                    <a:pt x="80" y="0"/>
                    <a:pt x="119" y="62"/>
                  </a:cubicBezTo>
                  <a:cubicBezTo>
                    <a:pt x="158" y="124"/>
                    <a:pt x="228" y="167"/>
                    <a:pt x="267" y="195"/>
                  </a:cubicBezTo>
                  <a:lnTo>
                    <a:pt x="164" y="195"/>
                  </a:lnTo>
                  <a:cubicBezTo>
                    <a:pt x="107" y="162"/>
                    <a:pt x="53" y="113"/>
                    <a:pt x="23" y="77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2" name="Freeform 69"/>
            <p:cNvSpPr>
              <a:spLocks noChangeAspect="1"/>
            </p:cNvSpPr>
            <p:nvPr/>
          </p:nvSpPr>
          <p:spPr>
            <a:xfrm flipV="1">
              <a:off x="2480" y="3447"/>
              <a:ext cx="269" cy="196"/>
            </a:xfrm>
            <a:custGeom>
              <a:avLst/>
              <a:gdLst>
                <a:gd name="txL" fmla="*/ 0 w 269"/>
                <a:gd name="txT" fmla="*/ 0 h 196"/>
                <a:gd name="txR" fmla="*/ 269 w 269"/>
                <a:gd name="txB" fmla="*/ 196 h 196"/>
              </a:gdLst>
              <a:ahLst/>
              <a:cxnLst>
                <a:cxn ang="0">
                  <a:pos x="84" y="39"/>
                </a:cxn>
                <a:cxn ang="0">
                  <a:pos x="20" y="63"/>
                </a:cxn>
                <a:cxn ang="0">
                  <a:pos x="168" y="196"/>
                </a:cxn>
                <a:cxn ang="0">
                  <a:pos x="269" y="196"/>
                </a:cxn>
                <a:cxn ang="0">
                  <a:pos x="84" y="39"/>
                </a:cxn>
              </a:cxnLst>
              <a:rect l="txL" t="txT" r="txR" b="txB"/>
              <a:pathLst>
                <a:path w="269" h="196">
                  <a:moveTo>
                    <a:pt x="84" y="39"/>
                  </a:moveTo>
                  <a:cubicBezTo>
                    <a:pt x="66" y="0"/>
                    <a:pt x="0" y="33"/>
                    <a:pt x="20" y="63"/>
                  </a:cubicBezTo>
                  <a:cubicBezTo>
                    <a:pt x="59" y="125"/>
                    <a:pt x="129" y="168"/>
                    <a:pt x="168" y="196"/>
                  </a:cubicBezTo>
                  <a:lnTo>
                    <a:pt x="269" y="196"/>
                  </a:lnTo>
                  <a:cubicBezTo>
                    <a:pt x="212" y="163"/>
                    <a:pt x="102" y="78"/>
                    <a:pt x="84" y="39"/>
                  </a:cubicBezTo>
                  <a:close/>
                </a:path>
              </a:pathLst>
            </a:custGeom>
            <a:solidFill>
              <a:srgbClr val="FFFFCC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3" name="Rectangle 70"/>
            <p:cNvSpPr>
              <a:spLocks noChangeAspect="1"/>
            </p:cNvSpPr>
            <p:nvPr/>
          </p:nvSpPr>
          <p:spPr>
            <a:xfrm>
              <a:off x="2226" y="3401"/>
              <a:ext cx="2298" cy="46"/>
            </a:xfrm>
            <a:prstGeom prst="rect">
              <a:avLst/>
            </a:prstGeom>
            <a:solidFill>
              <a:schemeClr val="bg1"/>
            </a:solidFill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214" name="Freeform 71"/>
            <p:cNvSpPr>
              <a:spLocks noChangeAspect="1"/>
            </p:cNvSpPr>
            <p:nvPr/>
          </p:nvSpPr>
          <p:spPr>
            <a:xfrm>
              <a:off x="4570" y="3394"/>
              <a:ext cx="218" cy="60"/>
            </a:xfrm>
            <a:custGeom>
              <a:avLst/>
              <a:gdLst>
                <a:gd name="txL" fmla="*/ 0 w 218"/>
                <a:gd name="txT" fmla="*/ 0 h 60"/>
                <a:gd name="txR" fmla="*/ 218 w 218"/>
                <a:gd name="txB" fmla="*/ 60 h 60"/>
              </a:gdLst>
              <a:ahLst/>
              <a:cxnLst>
                <a:cxn ang="0">
                  <a:pos x="0" y="5"/>
                </a:cxn>
                <a:cxn ang="0">
                  <a:pos x="184" y="0"/>
                </a:cxn>
                <a:cxn ang="0">
                  <a:pos x="218" y="29"/>
                </a:cxn>
                <a:cxn ang="0">
                  <a:pos x="183" y="60"/>
                </a:cxn>
                <a:cxn ang="0">
                  <a:pos x="0" y="53"/>
                </a:cxn>
                <a:cxn ang="0">
                  <a:pos x="0" y="5"/>
                </a:cxn>
              </a:cxnLst>
              <a:rect l="txL" t="txT" r="txR" b="txB"/>
              <a:pathLst>
                <a:path w="218" h="60">
                  <a:moveTo>
                    <a:pt x="0" y="5"/>
                  </a:moveTo>
                  <a:lnTo>
                    <a:pt x="184" y="0"/>
                  </a:lnTo>
                  <a:lnTo>
                    <a:pt x="218" y="29"/>
                  </a:lnTo>
                  <a:lnTo>
                    <a:pt x="183" y="60"/>
                  </a:lnTo>
                  <a:lnTo>
                    <a:pt x="0" y="5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DDDDDD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5" name="Freeform 72"/>
            <p:cNvSpPr>
              <a:spLocks noChangeAspect="1"/>
            </p:cNvSpPr>
            <p:nvPr/>
          </p:nvSpPr>
          <p:spPr>
            <a:xfrm>
              <a:off x="4648" y="3280"/>
              <a:ext cx="471" cy="289"/>
            </a:xfrm>
            <a:custGeom>
              <a:avLst/>
              <a:gdLst>
                <a:gd name="txL" fmla="*/ 0 w 235"/>
                <a:gd name="txT" fmla="*/ 0 h 144"/>
                <a:gd name="txR" fmla="*/ 235 w 235"/>
                <a:gd name="txB" fmla="*/ 144 h 144"/>
              </a:gdLst>
              <a:ahLst/>
              <a:cxnLst>
                <a:cxn ang="0">
                  <a:pos x="0" y="0"/>
                </a:cxn>
                <a:cxn ang="0">
                  <a:pos x="245794" y="75014"/>
                </a:cxn>
                <a:cxn ang="0">
                  <a:pos x="0" y="152642"/>
                </a:cxn>
                <a:cxn ang="0">
                  <a:pos x="73129" y="75014"/>
                </a:cxn>
                <a:cxn ang="0">
                  <a:pos x="0" y="0"/>
                </a:cxn>
              </a:cxnLst>
              <a:rect l="txL" t="txT" r="txR" b="txB"/>
              <a:pathLst>
                <a:path w="235" h="144">
                  <a:moveTo>
                    <a:pt x="0" y="0"/>
                  </a:moveTo>
                  <a:cubicBezTo>
                    <a:pt x="70" y="36"/>
                    <a:pt x="177" y="70"/>
                    <a:pt x="235" y="71"/>
                  </a:cubicBezTo>
                  <a:cubicBezTo>
                    <a:pt x="177" y="77"/>
                    <a:pt x="70" y="106"/>
                    <a:pt x="0" y="144"/>
                  </a:cubicBezTo>
                  <a:cubicBezTo>
                    <a:pt x="13" y="118"/>
                    <a:pt x="43" y="96"/>
                    <a:pt x="70" y="71"/>
                  </a:cubicBezTo>
                  <a:cubicBezTo>
                    <a:pt x="42" y="51"/>
                    <a:pt x="13" y="19"/>
                    <a:pt x="0" y="0"/>
                  </a:cubicBezTo>
                  <a:close/>
                </a:path>
              </a:pathLst>
            </a:custGeom>
            <a:solidFill>
              <a:srgbClr val="DDDDDD">
                <a:alpha val="100000"/>
              </a:srgb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6" name="AutoShape 73"/>
            <p:cNvSpPr>
              <a:spLocks noChangeAspect="1"/>
            </p:cNvSpPr>
            <p:nvPr/>
          </p:nvSpPr>
          <p:spPr>
            <a:xfrm>
              <a:off x="4524" y="3390"/>
              <a:ext cx="46" cy="69"/>
            </a:xfrm>
            <a:prstGeom prst="roundRect">
              <a:avLst>
                <a:gd name="adj" fmla="val 41796"/>
              </a:avLst>
            </a:prstGeom>
            <a:solidFill>
              <a:srgbClr val="DDDDDD"/>
            </a:solidFill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218" name="Group 275"/>
          <p:cNvGrpSpPr/>
          <p:nvPr/>
        </p:nvGrpSpPr>
        <p:grpSpPr>
          <a:xfrm>
            <a:off x="4089400" y="2763838"/>
            <a:ext cx="1112838" cy="627062"/>
            <a:chOff x="2576" y="1741"/>
            <a:chExt cx="701" cy="395"/>
          </a:xfrm>
        </p:grpSpPr>
        <p:sp>
          <p:nvSpPr>
            <p:cNvPr id="9272" name="Freeform 274"/>
            <p:cNvSpPr/>
            <p:nvPr/>
          </p:nvSpPr>
          <p:spPr>
            <a:xfrm>
              <a:off x="2576" y="1761"/>
              <a:ext cx="694" cy="375"/>
            </a:xfrm>
            <a:custGeom>
              <a:avLst/>
              <a:gdLst>
                <a:gd name="txL" fmla="*/ 0 w 694"/>
                <a:gd name="txT" fmla="*/ 0 h 375"/>
                <a:gd name="txR" fmla="*/ 694 w 694"/>
                <a:gd name="txB" fmla="*/ 375 h 375"/>
              </a:gdLst>
              <a:ahLst/>
              <a:cxnLst>
                <a:cxn ang="0">
                  <a:pos x="0" y="375"/>
                </a:cxn>
                <a:cxn ang="0">
                  <a:pos x="379" y="375"/>
                </a:cxn>
                <a:cxn ang="0">
                  <a:pos x="379" y="0"/>
                </a:cxn>
                <a:cxn ang="0">
                  <a:pos x="694" y="0"/>
                </a:cxn>
              </a:cxnLst>
              <a:rect l="txL" t="txT" r="txR" b="txB"/>
              <a:pathLst>
                <a:path w="694" h="375">
                  <a:moveTo>
                    <a:pt x="0" y="375"/>
                  </a:moveTo>
                  <a:lnTo>
                    <a:pt x="379" y="375"/>
                  </a:lnTo>
                  <a:lnTo>
                    <a:pt x="379" y="0"/>
                  </a:lnTo>
                  <a:lnTo>
                    <a:pt x="694" y="0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73" name="Freeform 271"/>
            <p:cNvSpPr>
              <a:spLocks noChangeAspect="1"/>
            </p:cNvSpPr>
            <p:nvPr/>
          </p:nvSpPr>
          <p:spPr>
            <a:xfrm flipH="1">
              <a:off x="3242" y="1741"/>
              <a:ext cx="35" cy="39"/>
            </a:xfrm>
            <a:custGeom>
              <a:avLst/>
              <a:gdLst>
                <a:gd name="txL" fmla="*/ 0 w 46"/>
                <a:gd name="txT" fmla="*/ 0 h 46"/>
                <a:gd name="txR" fmla="*/ 46 w 46"/>
                <a:gd name="txB" fmla="*/ 46 h 46"/>
              </a:gdLst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2" y="7"/>
                </a:cxn>
              </a:cxnLst>
              <a:rect l="txL" t="txT" r="txR" b="txB"/>
              <a:pathLst>
                <a:path w="46" h="46">
                  <a:moveTo>
                    <a:pt x="46" y="0"/>
                  </a:moveTo>
                  <a:lnTo>
                    <a:pt x="0" y="23"/>
                  </a:lnTo>
                  <a:lnTo>
                    <a:pt x="46" y="46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219" name="Group 268"/>
          <p:cNvGrpSpPr/>
          <p:nvPr/>
        </p:nvGrpSpPr>
        <p:grpSpPr>
          <a:xfrm>
            <a:off x="1263650" y="3738563"/>
            <a:ext cx="941388" cy="1541462"/>
            <a:chOff x="796" y="2355"/>
            <a:chExt cx="593" cy="971"/>
          </a:xfrm>
        </p:grpSpPr>
        <p:sp>
          <p:nvSpPr>
            <p:cNvPr id="9270" name="Freeform 250"/>
            <p:cNvSpPr/>
            <p:nvPr/>
          </p:nvSpPr>
          <p:spPr>
            <a:xfrm>
              <a:off x="816" y="2355"/>
              <a:ext cx="573" cy="968"/>
            </a:xfrm>
            <a:custGeom>
              <a:avLst/>
              <a:gdLst>
                <a:gd name="txL" fmla="*/ 0 w 573"/>
                <a:gd name="txT" fmla="*/ 0 h 968"/>
                <a:gd name="txR" fmla="*/ 573 w 573"/>
                <a:gd name="txB" fmla="*/ 968 h 968"/>
              </a:gdLst>
              <a:ahLst/>
              <a:cxnLst>
                <a:cxn ang="0">
                  <a:pos x="0" y="968"/>
                </a:cxn>
                <a:cxn ang="0">
                  <a:pos x="0" y="0"/>
                </a:cxn>
                <a:cxn ang="0">
                  <a:pos x="573" y="0"/>
                </a:cxn>
              </a:cxnLst>
              <a:rect l="txL" t="txT" r="txR" b="txB"/>
              <a:pathLst>
                <a:path w="573" h="968">
                  <a:moveTo>
                    <a:pt x="0" y="968"/>
                  </a:moveTo>
                  <a:lnTo>
                    <a:pt x="0" y="0"/>
                  </a:lnTo>
                  <a:lnTo>
                    <a:pt x="573" y="0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71" name="Freeform 251"/>
            <p:cNvSpPr>
              <a:spLocks noChangeAspect="1"/>
            </p:cNvSpPr>
            <p:nvPr/>
          </p:nvSpPr>
          <p:spPr>
            <a:xfrm rot="5400000" flipH="1">
              <a:off x="798" y="3289"/>
              <a:ext cx="35" cy="39"/>
            </a:xfrm>
            <a:custGeom>
              <a:avLst/>
              <a:gdLst>
                <a:gd name="txL" fmla="*/ 0 w 46"/>
                <a:gd name="txT" fmla="*/ 0 h 46"/>
                <a:gd name="txR" fmla="*/ 46 w 46"/>
                <a:gd name="txB" fmla="*/ 46 h 46"/>
              </a:gdLst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2" y="7"/>
                </a:cxn>
              </a:cxnLst>
              <a:rect l="txL" t="txT" r="txR" b="txB"/>
              <a:pathLst>
                <a:path w="46" h="46">
                  <a:moveTo>
                    <a:pt x="46" y="0"/>
                  </a:moveTo>
                  <a:lnTo>
                    <a:pt x="0" y="23"/>
                  </a:lnTo>
                  <a:lnTo>
                    <a:pt x="46" y="46"/>
                  </a:lnTo>
                </a:path>
              </a:pathLst>
            </a:custGeom>
            <a:noFill/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220" name="Group 265"/>
          <p:cNvGrpSpPr/>
          <p:nvPr/>
        </p:nvGrpSpPr>
        <p:grpSpPr>
          <a:xfrm>
            <a:off x="3143250" y="4310063"/>
            <a:ext cx="747713" cy="547687"/>
            <a:chOff x="1980" y="2715"/>
            <a:chExt cx="471" cy="345"/>
          </a:xfrm>
        </p:grpSpPr>
        <p:sp>
          <p:nvSpPr>
            <p:cNvPr id="9268" name="Freeform 262"/>
            <p:cNvSpPr/>
            <p:nvPr/>
          </p:nvSpPr>
          <p:spPr>
            <a:xfrm>
              <a:off x="1980" y="2715"/>
              <a:ext cx="452" cy="340"/>
            </a:xfrm>
            <a:custGeom>
              <a:avLst/>
              <a:gdLst>
                <a:gd name="txL" fmla="*/ 0 w 453"/>
                <a:gd name="txT" fmla="*/ 0 h 343"/>
                <a:gd name="txR" fmla="*/ 453 w 453"/>
                <a:gd name="txB" fmla="*/ 343 h 343"/>
              </a:gdLst>
              <a:ahLst/>
              <a:cxnLst>
                <a:cxn ang="0">
                  <a:pos x="442" y="310"/>
                </a:cxn>
                <a:cxn ang="0">
                  <a:pos x="442" y="147"/>
                </a:cxn>
                <a:cxn ang="0">
                  <a:pos x="0" y="147"/>
                </a:cxn>
                <a:cxn ang="0">
                  <a:pos x="0" y="0"/>
                </a:cxn>
              </a:cxnLst>
              <a:rect l="txL" t="txT" r="txR" b="txB"/>
              <a:pathLst>
                <a:path w="453" h="343">
                  <a:moveTo>
                    <a:pt x="453" y="343"/>
                  </a:moveTo>
                  <a:lnTo>
                    <a:pt x="453" y="158"/>
                  </a:lnTo>
                  <a:lnTo>
                    <a:pt x="0" y="158"/>
                  </a:lnTo>
                  <a:lnTo>
                    <a:pt x="0" y="0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69" name="Freeform 263"/>
            <p:cNvSpPr>
              <a:spLocks noChangeAspect="1"/>
            </p:cNvSpPr>
            <p:nvPr/>
          </p:nvSpPr>
          <p:spPr>
            <a:xfrm rot="5400000" flipH="1">
              <a:off x="2414" y="3023"/>
              <a:ext cx="35" cy="39"/>
            </a:xfrm>
            <a:custGeom>
              <a:avLst/>
              <a:gdLst>
                <a:gd name="txL" fmla="*/ 0 w 46"/>
                <a:gd name="txT" fmla="*/ 0 h 46"/>
                <a:gd name="txR" fmla="*/ 46 w 46"/>
                <a:gd name="txB" fmla="*/ 46 h 46"/>
              </a:gdLst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2" y="7"/>
                </a:cxn>
              </a:cxnLst>
              <a:rect l="txL" t="txT" r="txR" b="txB"/>
              <a:pathLst>
                <a:path w="46" h="46">
                  <a:moveTo>
                    <a:pt x="46" y="0"/>
                  </a:moveTo>
                  <a:lnTo>
                    <a:pt x="0" y="23"/>
                  </a:lnTo>
                  <a:lnTo>
                    <a:pt x="46" y="46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221" name="Group 261"/>
          <p:cNvGrpSpPr/>
          <p:nvPr/>
        </p:nvGrpSpPr>
        <p:grpSpPr>
          <a:xfrm>
            <a:off x="7847013" y="2846388"/>
            <a:ext cx="292100" cy="1490662"/>
            <a:chOff x="4943" y="1793"/>
            <a:chExt cx="184" cy="939"/>
          </a:xfrm>
        </p:grpSpPr>
        <p:sp>
          <p:nvSpPr>
            <p:cNvPr id="9266" name="Freeform 257"/>
            <p:cNvSpPr/>
            <p:nvPr/>
          </p:nvSpPr>
          <p:spPr>
            <a:xfrm>
              <a:off x="4943" y="1794"/>
              <a:ext cx="163" cy="938"/>
            </a:xfrm>
            <a:custGeom>
              <a:avLst/>
              <a:gdLst>
                <a:gd name="txL" fmla="*/ 0 w 154"/>
                <a:gd name="txT" fmla="*/ 0 h 938"/>
                <a:gd name="txR" fmla="*/ 154 w 154"/>
                <a:gd name="txB" fmla="*/ 938 h 938"/>
              </a:gdLst>
              <a:ahLst/>
              <a:cxnLst>
                <a:cxn ang="0">
                  <a:pos x="288" y="0"/>
                </a:cxn>
                <a:cxn ang="0">
                  <a:pos x="288" y="938"/>
                </a:cxn>
                <a:cxn ang="0">
                  <a:pos x="0" y="938"/>
                </a:cxn>
              </a:cxnLst>
              <a:rect l="txL" t="txT" r="txR" b="txB"/>
              <a:pathLst>
                <a:path w="154" h="938">
                  <a:moveTo>
                    <a:pt x="154" y="0"/>
                  </a:moveTo>
                  <a:lnTo>
                    <a:pt x="154" y="938"/>
                  </a:lnTo>
                  <a:lnTo>
                    <a:pt x="0" y="938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67" name="Freeform 258"/>
            <p:cNvSpPr>
              <a:spLocks noChangeAspect="1"/>
            </p:cNvSpPr>
            <p:nvPr/>
          </p:nvSpPr>
          <p:spPr>
            <a:xfrm rot="-5400000" flipH="1">
              <a:off x="5090" y="1791"/>
              <a:ext cx="35" cy="39"/>
            </a:xfrm>
            <a:custGeom>
              <a:avLst/>
              <a:gdLst>
                <a:gd name="txL" fmla="*/ 0 w 46"/>
                <a:gd name="txT" fmla="*/ 0 h 46"/>
                <a:gd name="txR" fmla="*/ 46 w 46"/>
                <a:gd name="txB" fmla="*/ 46 h 46"/>
              </a:gdLst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2" y="7"/>
                </a:cxn>
              </a:cxnLst>
              <a:rect l="txL" t="txT" r="txR" b="txB"/>
              <a:pathLst>
                <a:path w="46" h="46">
                  <a:moveTo>
                    <a:pt x="46" y="0"/>
                  </a:moveTo>
                  <a:lnTo>
                    <a:pt x="0" y="23"/>
                  </a:lnTo>
                  <a:lnTo>
                    <a:pt x="46" y="46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222" name="Group 259"/>
          <p:cNvGrpSpPr/>
          <p:nvPr/>
        </p:nvGrpSpPr>
        <p:grpSpPr>
          <a:xfrm>
            <a:off x="4089400" y="3743325"/>
            <a:ext cx="1454150" cy="627063"/>
            <a:chOff x="2576" y="2358"/>
            <a:chExt cx="916" cy="395"/>
          </a:xfrm>
        </p:grpSpPr>
        <p:sp>
          <p:nvSpPr>
            <p:cNvPr id="9264" name="Freeform 254"/>
            <p:cNvSpPr/>
            <p:nvPr/>
          </p:nvSpPr>
          <p:spPr>
            <a:xfrm>
              <a:off x="2576" y="2358"/>
              <a:ext cx="912" cy="375"/>
            </a:xfrm>
            <a:custGeom>
              <a:avLst/>
              <a:gdLst>
                <a:gd name="txL" fmla="*/ 0 w 912"/>
                <a:gd name="txT" fmla="*/ 0 h 375"/>
                <a:gd name="txR" fmla="*/ 912 w 912"/>
                <a:gd name="txB" fmla="*/ 375 h 375"/>
              </a:gdLst>
              <a:ahLst/>
              <a:cxnLst>
                <a:cxn ang="0">
                  <a:pos x="912" y="375"/>
                </a:cxn>
                <a:cxn ang="0">
                  <a:pos x="375" y="375"/>
                </a:cxn>
                <a:cxn ang="0">
                  <a:pos x="375" y="0"/>
                </a:cxn>
                <a:cxn ang="0">
                  <a:pos x="0" y="0"/>
                </a:cxn>
              </a:cxnLst>
              <a:rect l="txL" t="txT" r="txR" b="txB"/>
              <a:pathLst>
                <a:path w="912" h="375">
                  <a:moveTo>
                    <a:pt x="912" y="375"/>
                  </a:moveTo>
                  <a:lnTo>
                    <a:pt x="375" y="375"/>
                  </a:lnTo>
                  <a:lnTo>
                    <a:pt x="375" y="0"/>
                  </a:lnTo>
                  <a:lnTo>
                    <a:pt x="0" y="0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65" name="Freeform 255"/>
            <p:cNvSpPr>
              <a:spLocks noChangeAspect="1"/>
            </p:cNvSpPr>
            <p:nvPr/>
          </p:nvSpPr>
          <p:spPr>
            <a:xfrm flipH="1">
              <a:off x="3457" y="2714"/>
              <a:ext cx="35" cy="39"/>
            </a:xfrm>
            <a:custGeom>
              <a:avLst/>
              <a:gdLst>
                <a:gd name="txL" fmla="*/ 0 w 46"/>
                <a:gd name="txT" fmla="*/ 0 h 46"/>
                <a:gd name="txR" fmla="*/ 46 w 46"/>
                <a:gd name="txB" fmla="*/ 46 h 46"/>
              </a:gdLst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2" y="7"/>
                </a:cxn>
              </a:cxnLst>
              <a:rect l="txL" t="txT" r="txR" b="txB"/>
              <a:pathLst>
                <a:path w="46" h="46">
                  <a:moveTo>
                    <a:pt x="46" y="0"/>
                  </a:moveTo>
                  <a:lnTo>
                    <a:pt x="0" y="23"/>
                  </a:lnTo>
                  <a:lnTo>
                    <a:pt x="46" y="46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223" name="Group 253"/>
          <p:cNvGrpSpPr/>
          <p:nvPr/>
        </p:nvGrpSpPr>
        <p:grpSpPr>
          <a:xfrm>
            <a:off x="3117850" y="2846388"/>
            <a:ext cx="61913" cy="433387"/>
            <a:chOff x="1964" y="1793"/>
            <a:chExt cx="39" cy="273"/>
          </a:xfrm>
        </p:grpSpPr>
        <p:sp>
          <p:nvSpPr>
            <p:cNvPr id="9262" name="Line 173"/>
            <p:cNvSpPr/>
            <p:nvPr/>
          </p:nvSpPr>
          <p:spPr>
            <a:xfrm flipV="1">
              <a:off x="1983" y="1795"/>
              <a:ext cx="0" cy="271"/>
            </a:xfrm>
            <a:prstGeom prst="line">
              <a:avLst/>
            </a:prstGeom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9263" name="Freeform 252"/>
            <p:cNvSpPr>
              <a:spLocks noChangeAspect="1"/>
            </p:cNvSpPr>
            <p:nvPr/>
          </p:nvSpPr>
          <p:spPr>
            <a:xfrm rot="-5400000" flipH="1">
              <a:off x="1966" y="1791"/>
              <a:ext cx="35" cy="39"/>
            </a:xfrm>
            <a:custGeom>
              <a:avLst/>
              <a:gdLst>
                <a:gd name="txL" fmla="*/ 0 w 46"/>
                <a:gd name="txT" fmla="*/ 0 h 46"/>
                <a:gd name="txR" fmla="*/ 46 w 46"/>
                <a:gd name="txB" fmla="*/ 46 h 46"/>
              </a:gdLst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2" y="7"/>
                </a:cxn>
              </a:cxnLst>
              <a:rect l="txL" t="txT" r="txR" b="txB"/>
              <a:pathLst>
                <a:path w="46" h="46">
                  <a:moveTo>
                    <a:pt x="46" y="0"/>
                  </a:moveTo>
                  <a:lnTo>
                    <a:pt x="0" y="23"/>
                  </a:lnTo>
                  <a:lnTo>
                    <a:pt x="46" y="46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9224" name="Line 153"/>
          <p:cNvSpPr/>
          <p:nvPr/>
        </p:nvSpPr>
        <p:spPr>
          <a:xfrm>
            <a:off x="6688138" y="2573338"/>
            <a:ext cx="639762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5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Class Diagram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9226" name="Rectangle 27"/>
          <p:cNvSpPr/>
          <p:nvPr/>
        </p:nvSpPr>
        <p:spPr>
          <a:xfrm>
            <a:off x="5561013" y="4044950"/>
            <a:ext cx="2286000" cy="758825"/>
          </a:xfrm>
          <a:prstGeom prst="rect">
            <a:avLst/>
          </a:prstGeom>
          <a:solidFill>
            <a:srgbClr val="FFFFCC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45720" rIns="0" bIns="0"/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                      KeyChecker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+  checkKey(k : Key) : boolean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–  compare(k : Key, sk : Key) : boolean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27" name="Line 28"/>
          <p:cNvSpPr/>
          <p:nvPr/>
        </p:nvSpPr>
        <p:spPr>
          <a:xfrm>
            <a:off x="5561013" y="4289425"/>
            <a:ext cx="2286000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8" name="Line 69"/>
          <p:cNvSpPr/>
          <p:nvPr/>
        </p:nvSpPr>
        <p:spPr>
          <a:xfrm>
            <a:off x="5561013" y="4381500"/>
            <a:ext cx="2286000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9" name="Rectangle 37"/>
          <p:cNvSpPr/>
          <p:nvPr/>
        </p:nvSpPr>
        <p:spPr>
          <a:xfrm>
            <a:off x="5214938" y="2224088"/>
            <a:ext cx="1471612" cy="882650"/>
          </a:xfrm>
          <a:prstGeom prst="rect">
            <a:avLst/>
          </a:prstGeom>
          <a:solidFill>
            <a:srgbClr val="FFFFCC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rIns="0" bIns="0"/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               Key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altLang="en-US" sz="1000" b="0" dirty="0">
                <a:latin typeface="Arial" panose="020B0604020202020204" pitchFamily="34" charset="0"/>
              </a:rPr>
              <a:t>  code_ : string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altLang="en-US" sz="1000" b="0" dirty="0">
                <a:latin typeface="Arial" panose="020B0604020202020204" pitchFamily="34" charset="0"/>
              </a:rPr>
              <a:t>  timestamp_ : long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altLang="en-US" sz="1000" b="0" dirty="0">
                <a:latin typeface="Arial" panose="020B0604020202020204" pitchFamily="34" charset="0"/>
              </a:rPr>
              <a:t>  doorLocation_ : string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30" name="Line 71"/>
          <p:cNvSpPr/>
          <p:nvPr/>
        </p:nvSpPr>
        <p:spPr>
          <a:xfrm>
            <a:off x="5214938" y="2470150"/>
            <a:ext cx="1471612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31" name="Line 72"/>
          <p:cNvSpPr/>
          <p:nvPr/>
        </p:nvSpPr>
        <p:spPr>
          <a:xfrm>
            <a:off x="5214938" y="2978150"/>
            <a:ext cx="1471612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32" name="Rectangle 95"/>
          <p:cNvSpPr/>
          <p:nvPr/>
        </p:nvSpPr>
        <p:spPr>
          <a:xfrm>
            <a:off x="7570788" y="2224088"/>
            <a:ext cx="1069975" cy="609600"/>
          </a:xfrm>
          <a:prstGeom prst="rect">
            <a:avLst/>
          </a:prstGeom>
          <a:solidFill>
            <a:srgbClr val="FFFFCC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45720" rIns="0" bIns="0"/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     KeyStorage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+  getNext() : Key 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33" name="Line 96"/>
          <p:cNvSpPr/>
          <p:nvPr/>
        </p:nvSpPr>
        <p:spPr>
          <a:xfrm flipH="1" flipV="1">
            <a:off x="7570788" y="2466975"/>
            <a:ext cx="106997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34" name="Line 100"/>
          <p:cNvSpPr/>
          <p:nvPr/>
        </p:nvSpPr>
        <p:spPr>
          <a:xfrm>
            <a:off x="7570788" y="2560638"/>
            <a:ext cx="106997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35" name="Rectangle 120"/>
          <p:cNvSpPr/>
          <p:nvPr/>
        </p:nvSpPr>
        <p:spPr>
          <a:xfrm>
            <a:off x="530225" y="5295900"/>
            <a:ext cx="1527175" cy="609600"/>
          </a:xfrm>
          <a:prstGeom prst="rect">
            <a:avLst/>
          </a:prstGeom>
          <a:solidFill>
            <a:srgbClr val="FFFFCC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45720" rIns="0" bIns="0"/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              KeyReader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+  acquireKey() : Key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36" name="Line 121"/>
          <p:cNvSpPr/>
          <p:nvPr/>
        </p:nvSpPr>
        <p:spPr>
          <a:xfrm>
            <a:off x="530225" y="5540375"/>
            <a:ext cx="152717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37" name="Line 125"/>
          <p:cNvSpPr/>
          <p:nvPr/>
        </p:nvSpPr>
        <p:spPr>
          <a:xfrm>
            <a:off x="530225" y="5632450"/>
            <a:ext cx="152717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38" name="Rectangle 6"/>
          <p:cNvSpPr/>
          <p:nvPr/>
        </p:nvSpPr>
        <p:spPr>
          <a:xfrm>
            <a:off x="2206625" y="3278188"/>
            <a:ext cx="1882775" cy="1033462"/>
          </a:xfrm>
          <a:prstGeom prst="rect">
            <a:avLst/>
          </a:prstGeom>
          <a:solidFill>
            <a:srgbClr val="FFFFCC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rIns="0" bIns="0"/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                Controller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#  numOfAttemps_ : long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#  maxNumOfAttempts_ : long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+  enterKey(k : Key)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–  denyMoreAttempts()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39" name="Line 7"/>
          <p:cNvSpPr/>
          <p:nvPr/>
        </p:nvSpPr>
        <p:spPr>
          <a:xfrm>
            <a:off x="2206625" y="3522663"/>
            <a:ext cx="188277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40" name="Line 8"/>
          <p:cNvSpPr/>
          <p:nvPr/>
        </p:nvSpPr>
        <p:spPr>
          <a:xfrm>
            <a:off x="2206625" y="3890963"/>
            <a:ext cx="188277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41" name="Text Box 145"/>
          <p:cNvSpPr txBox="1"/>
          <p:nvPr/>
        </p:nvSpPr>
        <p:spPr>
          <a:xfrm>
            <a:off x="1108075" y="5033963"/>
            <a:ext cx="88900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1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42" name="Text Box 148"/>
          <p:cNvSpPr txBox="1"/>
          <p:nvPr/>
        </p:nvSpPr>
        <p:spPr>
          <a:xfrm>
            <a:off x="2971800" y="2900363"/>
            <a:ext cx="88900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1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43" name="Text Box 149"/>
          <p:cNvSpPr txBox="1"/>
          <p:nvPr/>
        </p:nvSpPr>
        <p:spPr>
          <a:xfrm>
            <a:off x="3228975" y="2900363"/>
            <a:ext cx="398463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sensor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44" name="Text Box 152"/>
          <p:cNvSpPr txBox="1"/>
          <p:nvPr/>
        </p:nvSpPr>
        <p:spPr>
          <a:xfrm>
            <a:off x="1393825" y="5033963"/>
            <a:ext cx="387350" cy="15398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reader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45" name="Text Box 154"/>
          <p:cNvSpPr txBox="1"/>
          <p:nvPr/>
        </p:nvSpPr>
        <p:spPr>
          <a:xfrm>
            <a:off x="7399338" y="2351088"/>
            <a:ext cx="88900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1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46" name="Text Box 155"/>
          <p:cNvSpPr txBox="1"/>
          <p:nvPr/>
        </p:nvSpPr>
        <p:spPr>
          <a:xfrm>
            <a:off x="6743700" y="2386013"/>
            <a:ext cx="207963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1..*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47" name="Text Box 156"/>
          <p:cNvSpPr txBox="1"/>
          <p:nvPr/>
        </p:nvSpPr>
        <p:spPr>
          <a:xfrm>
            <a:off x="7480300" y="2894013"/>
            <a:ext cx="560388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validKeys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48" name="Text Box 158"/>
          <p:cNvSpPr txBox="1"/>
          <p:nvPr/>
        </p:nvSpPr>
        <p:spPr>
          <a:xfrm>
            <a:off x="8213725" y="2890838"/>
            <a:ext cx="88900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1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49" name="Text Box 144"/>
          <p:cNvSpPr txBox="1"/>
          <p:nvPr/>
        </p:nvSpPr>
        <p:spPr>
          <a:xfrm>
            <a:off x="3578225" y="4605338"/>
            <a:ext cx="209550" cy="15398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r" eaLnBrk="1" hangingPunct="1"/>
            <a:r>
              <a:rPr lang="en-US" altLang="en-US" sz="1000" b="0" dirty="0">
                <a:latin typeface="Arial" panose="020B0604020202020204" pitchFamily="34" charset="0"/>
              </a:rPr>
              <a:t>1..*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50" name="Text Box 151"/>
          <p:cNvSpPr txBox="1"/>
          <p:nvPr/>
        </p:nvSpPr>
        <p:spPr>
          <a:xfrm>
            <a:off x="3956050" y="4605338"/>
            <a:ext cx="420688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devCtrl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51" name="Rectangle 13"/>
          <p:cNvSpPr/>
          <p:nvPr/>
        </p:nvSpPr>
        <p:spPr>
          <a:xfrm>
            <a:off x="2808288" y="4873625"/>
            <a:ext cx="2101850" cy="1031875"/>
          </a:xfrm>
          <a:prstGeom prst="rect">
            <a:avLst/>
          </a:prstGeom>
          <a:solidFill>
            <a:srgbClr val="FFFFCC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rIns="0" bIns="0"/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                   DeviceCtrl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#  devStatuses_ : Vector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+  activate(dev : string) : boolean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+  deactivate(dev :string) : boolean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+  getStatus(dev : string) : Object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52" name="Line 163"/>
          <p:cNvSpPr/>
          <p:nvPr/>
        </p:nvSpPr>
        <p:spPr>
          <a:xfrm>
            <a:off x="2808288" y="5119688"/>
            <a:ext cx="2101850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53" name="Line 164"/>
          <p:cNvSpPr/>
          <p:nvPr/>
        </p:nvSpPr>
        <p:spPr>
          <a:xfrm>
            <a:off x="2808288" y="5340350"/>
            <a:ext cx="2101850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54" name="AutoShape 180"/>
          <p:cNvSpPr>
            <a:spLocks noChangeAspect="1"/>
          </p:cNvSpPr>
          <p:nvPr/>
        </p:nvSpPr>
        <p:spPr>
          <a:xfrm rot="5400000">
            <a:off x="7380288" y="2451100"/>
            <a:ext cx="128587" cy="246063"/>
          </a:xfrm>
          <a:prstGeom prst="diamond">
            <a:avLst/>
          </a:prstGeom>
          <a:solidFill>
            <a:schemeClr val="bg1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9255" name="Rectangle 191"/>
          <p:cNvSpPr/>
          <p:nvPr/>
        </p:nvSpPr>
        <p:spPr>
          <a:xfrm>
            <a:off x="2436813" y="2224088"/>
            <a:ext cx="1425575" cy="609600"/>
          </a:xfrm>
          <a:prstGeom prst="rect">
            <a:avLst/>
          </a:prstGeom>
          <a:solidFill>
            <a:srgbClr val="FFFFCC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45720" rIns="0" bIns="0"/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        PhotoSObsrv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+  isDaylight() : boolean 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56" name="Line 192"/>
          <p:cNvSpPr/>
          <p:nvPr/>
        </p:nvSpPr>
        <p:spPr>
          <a:xfrm>
            <a:off x="2436813" y="2468563"/>
            <a:ext cx="142557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57" name="Line 193"/>
          <p:cNvSpPr/>
          <p:nvPr/>
        </p:nvSpPr>
        <p:spPr>
          <a:xfrm>
            <a:off x="2436813" y="2560638"/>
            <a:ext cx="142557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58" name="Text Box 194"/>
          <p:cNvSpPr txBox="1"/>
          <p:nvPr/>
        </p:nvSpPr>
        <p:spPr>
          <a:xfrm>
            <a:off x="5403850" y="4138613"/>
            <a:ext cx="88900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1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59" name="Text Box 195"/>
          <p:cNvSpPr txBox="1"/>
          <p:nvPr/>
        </p:nvSpPr>
        <p:spPr>
          <a:xfrm>
            <a:off x="5064125" y="4405313"/>
            <a:ext cx="461963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r" eaLnBrk="1" hangingPunct="1"/>
            <a:r>
              <a:rPr lang="en-US" altLang="en-US" sz="1000" b="0" dirty="0">
                <a:latin typeface="Arial" panose="020B0604020202020204" pitchFamily="34" charset="0"/>
              </a:rPr>
              <a:t>checker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60" name="Text Box 272"/>
          <p:cNvSpPr txBox="1"/>
          <p:nvPr/>
        </p:nvSpPr>
        <p:spPr>
          <a:xfrm>
            <a:off x="5046663" y="2582863"/>
            <a:ext cx="88900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1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9261" name="Text Box 273"/>
          <p:cNvSpPr txBox="1"/>
          <p:nvPr/>
        </p:nvSpPr>
        <p:spPr>
          <a:xfrm>
            <a:off x="5051425" y="2849563"/>
            <a:ext cx="82550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r" eaLnBrk="1" hangingPunct="1"/>
            <a:r>
              <a:rPr lang="en-US" altLang="en-US" sz="1000" b="0" dirty="0">
                <a:latin typeface="Arial" panose="020B0604020202020204" pitchFamily="34" charset="0"/>
              </a:rPr>
              <a:t>k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Purpose of Design Principles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4873625"/>
          </a:xfrm>
        </p:spPr>
        <p:txBody>
          <a:bodyPr vert="horz" wrap="square" lIns="91440" tIns="45720" rIns="91440" bIns="45720" anchor="t" anchorCtr="0"/>
          <a:p>
            <a:pPr>
              <a:buClr>
                <a:srgbClr val="680000"/>
              </a:buClr>
            </a:pPr>
            <a:r>
              <a:rPr lang="en-US" altLang="en-US" b="1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Principles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are used to </a:t>
            </a:r>
            <a:r>
              <a:rPr lang="en-US" altLang="en-US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diagnose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problems with designs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buClr>
                <a:srgbClr val="680000"/>
              </a:buClr>
            </a:pPr>
            <a:r>
              <a:rPr lang="en-US" altLang="en-US" b="1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Patterns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are used to </a:t>
            </a:r>
            <a:r>
              <a:rPr lang="en-US" altLang="en-US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address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the problems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10244" name="Slide Number Placeholder 3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Examples of Software Change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5257800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What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could change in the home access system: means of user authentication and the controlled devices. These sources of change are independent, so one should not affect the code for the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other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Scenario #1: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replace numeric-code based keys with magnetic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card or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RFID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chip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What part of the system needs to be replaced?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What is the “interface” seen by the rest of the system that needs to remain invariant?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Scenario #2: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same as above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Policy for handling dictionary attacks becomes inadequate: what kind of attack can be mounted by an adversary in case of magnetic or RFID codes?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What policy (or policies) are appropriate for this scenario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68" name="Slide Number Placeholder 3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2290" name="Straight Arrow Connector 99"/>
          <p:cNvCxnSpPr>
            <a:stCxn id="12312" idx="2"/>
            <a:endCxn id="12319" idx="0"/>
          </p:cNvCxnSpPr>
          <p:nvPr/>
        </p:nvCxnSpPr>
        <p:spPr>
          <a:xfrm>
            <a:off x="6078538" y="4140200"/>
            <a:ext cx="0" cy="45720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ysDash"/>
            <a:headEnd type="none" w="med" len="med"/>
            <a:tailEnd type="arrow" w="lg" len="lg"/>
          </a:ln>
        </p:spPr>
      </p:cxnSp>
      <p:sp>
        <p:nvSpPr>
          <p:cNvPr id="12291" name="Rectangle 92"/>
          <p:cNvSpPr/>
          <p:nvPr/>
        </p:nvSpPr>
        <p:spPr>
          <a:xfrm>
            <a:off x="7516813" y="4630738"/>
            <a:ext cx="1463675" cy="73025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eaLnBrk="1" hangingPunct="1"/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2292" name="Rectangle 93"/>
          <p:cNvSpPr/>
          <p:nvPr/>
        </p:nvSpPr>
        <p:spPr>
          <a:xfrm>
            <a:off x="7439025" y="4708525"/>
            <a:ext cx="1463675" cy="73183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eaLnBrk="1" hangingPunct="1"/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2293" name="Rectangle 94"/>
          <p:cNvSpPr/>
          <p:nvPr/>
        </p:nvSpPr>
        <p:spPr>
          <a:xfrm>
            <a:off x="7361238" y="4786313"/>
            <a:ext cx="1462087" cy="73183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Device Driver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cxnSp>
        <p:nvCxnSpPr>
          <p:cNvPr id="12294" name="Straight Arrow Connector 95"/>
          <p:cNvCxnSpPr>
            <a:endCxn id="12292" idx="0"/>
          </p:cNvCxnSpPr>
          <p:nvPr/>
        </p:nvCxnSpPr>
        <p:spPr>
          <a:xfrm>
            <a:off x="8169275" y="4295775"/>
            <a:ext cx="1588" cy="4127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ysDash"/>
            <a:headEnd type="none" w="med" len="med"/>
            <a:tailEnd type="arrow" w="lg" len="lg"/>
          </a:ln>
        </p:spPr>
      </p:cxnSp>
      <p:cxnSp>
        <p:nvCxnSpPr>
          <p:cNvPr id="12295" name="Straight Arrow Connector 89"/>
          <p:cNvCxnSpPr>
            <a:stCxn id="12305" idx="2"/>
            <a:endCxn id="12318" idx="0"/>
          </p:cNvCxnSpPr>
          <p:nvPr/>
        </p:nvCxnSpPr>
        <p:spPr>
          <a:xfrm>
            <a:off x="2751138" y="4141788"/>
            <a:ext cx="0" cy="455612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ysDash"/>
            <a:headEnd type="none" w="med" len="med"/>
            <a:tailEnd type="arrow" w="lg" len="lg"/>
          </a:ln>
        </p:spPr>
      </p:cxnSp>
      <p:sp>
        <p:nvSpPr>
          <p:cNvPr id="12296" name="Rectangle 65"/>
          <p:cNvSpPr/>
          <p:nvPr/>
        </p:nvSpPr>
        <p:spPr>
          <a:xfrm>
            <a:off x="7516813" y="3408363"/>
            <a:ext cx="1463675" cy="73183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eaLnBrk="1" hangingPunct="1"/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2297" name="Rectangle 64"/>
          <p:cNvSpPr/>
          <p:nvPr/>
        </p:nvSpPr>
        <p:spPr>
          <a:xfrm>
            <a:off x="7439025" y="3486150"/>
            <a:ext cx="1463675" cy="73183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eaLnBrk="1" hangingPunct="1"/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2298" name="Slide Number Placeholder 4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23038"/>
            <a:ext cx="523875" cy="28733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2299" name="Rectangle 34"/>
          <p:cNvSpPr/>
          <p:nvPr/>
        </p:nvSpPr>
        <p:spPr>
          <a:xfrm>
            <a:off x="244475" y="2374900"/>
            <a:ext cx="1514475" cy="4302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dirty="0">
                <a:latin typeface="Arial" panose="020B0604020202020204" pitchFamily="34" charset="0"/>
              </a:rPr>
              <a:t>Policy</a:t>
            </a:r>
            <a:r>
              <a:rPr lang="en-US" altLang="en-US" sz="1400" b="0" dirty="0">
                <a:latin typeface="Arial" panose="020B0604020202020204" pitchFamily="34" charset="0"/>
              </a:rPr>
              <a:t> Layer for</a:t>
            </a:r>
            <a:endParaRPr lang="en-US" altLang="en-US" sz="1400" dirty="0">
              <a:solidFill>
                <a:srgbClr val="680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Safe Home Access</a:t>
            </a:r>
            <a:endParaRPr lang="en-US" altLang="en-US" sz="1400" dirty="0">
              <a:solidFill>
                <a:srgbClr val="680000"/>
              </a:solidFill>
              <a:latin typeface="Arial" panose="020B0604020202020204" pitchFamily="34" charset="0"/>
            </a:endParaRPr>
          </a:p>
        </p:txBody>
      </p:sp>
      <p:sp>
        <p:nvSpPr>
          <p:cNvPr id="12300" name="Rectangle 38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Dependencies for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Ordinary Layered Style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2301" name="Rectangle 34"/>
          <p:cNvSpPr/>
          <p:nvPr/>
        </p:nvSpPr>
        <p:spPr>
          <a:xfrm>
            <a:off x="244475" y="3560763"/>
            <a:ext cx="1728788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dirty="0">
                <a:latin typeface="Arial" panose="020B0604020202020204" pitchFamily="34" charset="0"/>
              </a:rPr>
              <a:t>Mechanism</a:t>
            </a:r>
            <a:r>
              <a:rPr lang="en-US" altLang="en-US" sz="1400" b="0" dirty="0">
                <a:latin typeface="Arial" panose="020B0604020202020204" pitchFamily="34" charset="0"/>
              </a:rPr>
              <a:t> Layer for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Safe Home Access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12302" name="Rectangle 34"/>
          <p:cNvSpPr/>
          <p:nvPr/>
        </p:nvSpPr>
        <p:spPr>
          <a:xfrm>
            <a:off x="244475" y="4745038"/>
            <a:ext cx="1514475" cy="4302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dirty="0">
                <a:latin typeface="Arial" panose="020B0604020202020204" pitchFamily="34" charset="0"/>
              </a:rPr>
              <a:t>Utility</a:t>
            </a:r>
            <a:r>
              <a:rPr lang="en-US" altLang="en-US" sz="1400" b="0" dirty="0">
                <a:latin typeface="Arial" panose="020B0604020202020204" pitchFamily="34" charset="0"/>
              </a:rPr>
              <a:t> Layer for</a:t>
            </a:r>
            <a:endParaRPr lang="en-US" altLang="en-US" sz="1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Safe Home Access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12303" name="Rectangle 61"/>
          <p:cNvSpPr/>
          <p:nvPr/>
        </p:nvSpPr>
        <p:spPr>
          <a:xfrm>
            <a:off x="7361238" y="3565525"/>
            <a:ext cx="1462087" cy="73025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Device Controller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cxnSp>
        <p:nvCxnSpPr>
          <p:cNvPr id="12304" name="Straight Arrow Connector 9"/>
          <p:cNvCxnSpPr>
            <a:stCxn id="12317" idx="2"/>
            <a:endCxn id="12297" idx="0"/>
          </p:cNvCxnSpPr>
          <p:nvPr/>
        </p:nvCxnSpPr>
        <p:spPr>
          <a:xfrm>
            <a:off x="8169275" y="2955925"/>
            <a:ext cx="1588" cy="5302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ysDash"/>
            <a:headEnd type="none" w="med" len="med"/>
            <a:tailEnd type="arrow" w="lg" len="lg"/>
          </a:ln>
        </p:spPr>
      </p:cxnSp>
      <p:sp>
        <p:nvSpPr>
          <p:cNvPr id="12305" name="Rectangle 58"/>
          <p:cNvSpPr/>
          <p:nvPr/>
        </p:nvSpPr>
        <p:spPr>
          <a:xfrm>
            <a:off x="2020888" y="3411538"/>
            <a:ext cx="1462087" cy="73025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Key Descriptor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2306" name="Rectangle 59"/>
          <p:cNvSpPr/>
          <p:nvPr/>
        </p:nvSpPr>
        <p:spPr>
          <a:xfrm>
            <a:off x="3683000" y="3411538"/>
            <a:ext cx="1463675" cy="73025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Key Validator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cxnSp>
        <p:nvCxnSpPr>
          <p:cNvPr id="12307" name="Straight Arrow Connector 73"/>
          <p:cNvCxnSpPr>
            <a:stCxn id="12299" idx="2"/>
            <a:endCxn id="12301" idx="0"/>
          </p:cNvCxnSpPr>
          <p:nvPr/>
        </p:nvCxnSpPr>
        <p:spPr>
          <a:xfrm>
            <a:off x="1001713" y="2805113"/>
            <a:ext cx="106362" cy="7556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ysDash"/>
            <a:headEnd type="none" w="med" len="med"/>
            <a:tailEnd type="arrow" w="lg" len="lg"/>
          </a:ln>
        </p:spPr>
      </p:cxnSp>
      <p:sp>
        <p:nvSpPr>
          <p:cNvPr id="12308" name="Rectangle 34"/>
          <p:cNvSpPr/>
          <p:nvPr/>
        </p:nvSpPr>
        <p:spPr>
          <a:xfrm>
            <a:off x="187325" y="3048000"/>
            <a:ext cx="808038" cy="184150"/>
          </a:xfrm>
          <a:prstGeom prst="rect">
            <a:avLst/>
          </a:prstGeom>
          <a:solidFill>
            <a:srgbClr val="F1FCAE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algn="r" eaLnBrk="1" hangingPunct="1"/>
            <a:r>
              <a:rPr lang="en-US" altLang="en-US" sz="1200" b="0" dirty="0">
                <a:latin typeface="Arial" panose="020B0604020202020204" pitchFamily="34" charset="0"/>
              </a:rPr>
              <a:t>depends-on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cxnSp>
        <p:nvCxnSpPr>
          <p:cNvPr id="12309" name="Straight Arrow Connector 77"/>
          <p:cNvCxnSpPr>
            <a:stCxn id="12301" idx="2"/>
            <a:endCxn id="12302" idx="0"/>
          </p:cNvCxnSpPr>
          <p:nvPr/>
        </p:nvCxnSpPr>
        <p:spPr>
          <a:xfrm flipH="1">
            <a:off x="1001713" y="3992563"/>
            <a:ext cx="106362" cy="7524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ysDash"/>
            <a:headEnd type="none" w="med" len="med"/>
            <a:tailEnd type="arrow" w="lg" len="lg"/>
          </a:ln>
        </p:spPr>
      </p:cxnSp>
      <p:sp>
        <p:nvSpPr>
          <p:cNvPr id="12310" name="Rectangle 34"/>
          <p:cNvSpPr/>
          <p:nvPr/>
        </p:nvSpPr>
        <p:spPr>
          <a:xfrm>
            <a:off x="187325" y="4232275"/>
            <a:ext cx="808038" cy="185738"/>
          </a:xfrm>
          <a:prstGeom prst="rect">
            <a:avLst/>
          </a:prstGeom>
          <a:solidFill>
            <a:srgbClr val="F1FCAE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algn="r" eaLnBrk="1" hangingPunct="1"/>
            <a:r>
              <a:rPr lang="en-US" altLang="en-US" sz="1200" b="0" dirty="0">
                <a:latin typeface="Arial" panose="020B0604020202020204" pitchFamily="34" charset="0"/>
              </a:rPr>
              <a:t>depends-on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2311" name="Rectangle 34"/>
          <p:cNvSpPr/>
          <p:nvPr/>
        </p:nvSpPr>
        <p:spPr>
          <a:xfrm>
            <a:off x="5365750" y="2509838"/>
            <a:ext cx="2657475" cy="7397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200" b="0" dirty="0">
                <a:latin typeface="Arial" panose="020B0604020202020204" pitchFamily="34" charset="0"/>
              </a:rPr>
              <a:t>What is needed:</a:t>
            </a:r>
            <a:endParaRPr lang="en-US" altLang="en-US" sz="12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200" b="0" dirty="0">
                <a:latin typeface="Arial" panose="020B0604020202020204" pitchFamily="34" charset="0"/>
              </a:rPr>
              <a:t> - User’s identifier (“key”)</a:t>
            </a:r>
            <a:endParaRPr lang="en-US" altLang="en-US" sz="12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200" b="0" dirty="0">
                <a:latin typeface="Arial" panose="020B0604020202020204" pitchFamily="34" charset="0"/>
              </a:rPr>
              <a:t> - Set of valid keys</a:t>
            </a:r>
            <a:endParaRPr lang="en-US" altLang="en-US" sz="12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200" b="0" dirty="0">
                <a:latin typeface="Arial" panose="020B0604020202020204" pitchFamily="34" charset="0"/>
              </a:rPr>
              <a:t> - Mechanism to validate the user’s key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2312" name="Rectangle 83"/>
          <p:cNvSpPr/>
          <p:nvPr/>
        </p:nvSpPr>
        <p:spPr>
          <a:xfrm>
            <a:off x="5346700" y="3408363"/>
            <a:ext cx="1463675" cy="73183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Valid Keys Storage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cxnSp>
        <p:nvCxnSpPr>
          <p:cNvPr id="12313" name="Straight Arrow Connector 5"/>
          <p:cNvCxnSpPr>
            <a:stCxn id="12316" idx="2"/>
            <a:endCxn id="12305" idx="0"/>
          </p:cNvCxnSpPr>
          <p:nvPr/>
        </p:nvCxnSpPr>
        <p:spPr>
          <a:xfrm flipH="1">
            <a:off x="2751138" y="2955925"/>
            <a:ext cx="1358900" cy="455613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ysDash"/>
            <a:headEnd type="none" w="med" len="med"/>
            <a:tailEnd type="arrow" w="lg" len="lg"/>
          </a:ln>
        </p:spPr>
      </p:cxnSp>
      <p:cxnSp>
        <p:nvCxnSpPr>
          <p:cNvPr id="12314" name="Straight Arrow Connector 7"/>
          <p:cNvCxnSpPr>
            <a:stCxn id="12316" idx="2"/>
            <a:endCxn id="12306" idx="0"/>
          </p:cNvCxnSpPr>
          <p:nvPr/>
        </p:nvCxnSpPr>
        <p:spPr>
          <a:xfrm>
            <a:off x="4110038" y="2955925"/>
            <a:ext cx="304800" cy="455613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ysDash"/>
            <a:headEnd type="none" w="med" len="med"/>
            <a:tailEnd type="arrow" w="lg" len="lg"/>
          </a:ln>
        </p:spPr>
      </p:cxnSp>
      <p:cxnSp>
        <p:nvCxnSpPr>
          <p:cNvPr id="12315" name="Straight Arrow Connector 82"/>
          <p:cNvCxnSpPr>
            <a:stCxn id="12316" idx="2"/>
            <a:endCxn id="12312" idx="0"/>
          </p:cNvCxnSpPr>
          <p:nvPr/>
        </p:nvCxnSpPr>
        <p:spPr>
          <a:xfrm>
            <a:off x="4110038" y="2955925"/>
            <a:ext cx="1968500" cy="452438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ysDash"/>
            <a:headEnd type="none" w="med" len="med"/>
            <a:tailEnd type="arrow" w="lg" len="lg"/>
          </a:ln>
        </p:spPr>
      </p:cxnSp>
      <p:sp>
        <p:nvSpPr>
          <p:cNvPr id="12316" name="Rectangle 1"/>
          <p:cNvSpPr/>
          <p:nvPr/>
        </p:nvSpPr>
        <p:spPr>
          <a:xfrm>
            <a:off x="3378200" y="2224088"/>
            <a:ext cx="1463675" cy="73183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User Authenticator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2317" name="Rectangle 85"/>
          <p:cNvSpPr/>
          <p:nvPr/>
        </p:nvSpPr>
        <p:spPr>
          <a:xfrm>
            <a:off x="7437438" y="2224088"/>
            <a:ext cx="1462087" cy="73183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Arrival Manager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2318" name="Rectangle 88"/>
          <p:cNvSpPr/>
          <p:nvPr/>
        </p:nvSpPr>
        <p:spPr>
          <a:xfrm>
            <a:off x="2020888" y="4597400"/>
            <a:ext cx="1462087" cy="73183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Key Reader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2319" name="Rectangle 100"/>
          <p:cNvSpPr/>
          <p:nvPr/>
        </p:nvSpPr>
        <p:spPr>
          <a:xfrm>
            <a:off x="5346700" y="4597400"/>
            <a:ext cx="1463675" cy="73183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File or Database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2320" name="Text Box 76"/>
          <p:cNvSpPr txBox="1"/>
          <p:nvPr/>
        </p:nvSpPr>
        <p:spPr>
          <a:xfrm>
            <a:off x="103188" y="5883275"/>
            <a:ext cx="8651875" cy="914400"/>
          </a:xfrm>
          <a:prstGeom prst="rect">
            <a:avLst/>
          </a:prstGeom>
          <a:noFill/>
          <a:ln w="9525">
            <a:noFill/>
          </a:ln>
        </p:spPr>
        <p:txBody>
          <a:bodyPr lIns="9144" tIns="0" rIns="9144" bIns="0">
            <a:spAutoFit/>
          </a:bodyPr>
          <a:p>
            <a:pPr marL="285750" indent="-285750" eaLnBrk="1" hangingPunct="1">
              <a:lnSpc>
                <a:spcPct val="110000"/>
              </a:lnSpc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800" b="0" dirty="0">
                <a:latin typeface="Arial" panose="020B0604020202020204" pitchFamily="34" charset="0"/>
              </a:rPr>
              <a:t>Note the dependencies from </a:t>
            </a:r>
            <a:r>
              <a:rPr lang="en-US" altLang="en-US" sz="1800" b="0" i="1" dirty="0">
                <a:latin typeface="Arial" panose="020B0604020202020204" pitchFamily="34" charset="0"/>
              </a:rPr>
              <a:t>top to bottom</a:t>
            </a:r>
            <a:endParaRPr lang="en-US" altLang="en-US" sz="1800" b="0" i="1" dirty="0">
              <a:latin typeface="Arial" panose="020B0604020202020204" pitchFamily="34" charset="0"/>
            </a:endParaRPr>
          </a:p>
          <a:p>
            <a:pPr marL="285750" indent="-285750" eaLnBrk="1" hangingPunct="1">
              <a:lnSpc>
                <a:spcPct val="110000"/>
              </a:lnSpc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800" b="0" dirty="0">
                <a:latin typeface="Arial" panose="020B0604020202020204" pitchFamily="34" charset="0"/>
              </a:rPr>
              <a:t>That is, higher-level modules depend on the lower-level modules</a:t>
            </a:r>
            <a:endParaRPr lang="en-US" altLang="en-US" sz="1800" b="0" dirty="0">
              <a:latin typeface="Arial" panose="020B0604020202020204" pitchFamily="34" charset="0"/>
            </a:endParaRPr>
          </a:p>
          <a:p>
            <a:pPr marL="285750" indent="-285750" eaLnBrk="1" hangingPunct="1">
              <a:lnSpc>
                <a:spcPct val="110000"/>
              </a:lnSpc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800" b="0" dirty="0">
                <a:latin typeface="Arial" panose="020B0604020202020204" pitchFamily="34" charset="0"/>
                <a:sym typeface="Wingdings" panose="05000000000000000000" pitchFamily="2" charset="2"/>
              </a:rPr>
              <a:t> Any changes in lower-level modules may propagate up to the higher levels</a:t>
            </a:r>
            <a:endParaRPr lang="en-US" altLang="en-US" sz="1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3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Need </a:t>
            </a:r>
            <a:r>
              <a:rPr lang="en-US" altLang="en-US" i="1" dirty="0">
                <a:latin typeface="Arial Rounded MT Bold" panose="020F0704030504030204" pitchFamily="34" charset="0"/>
                <a:ea typeface="+mj-ea"/>
                <a:cs typeface="+mj-cs"/>
              </a:rPr>
              <a:t>Inverted</a:t>
            </a: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 Dependencies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3315" name="Content Placeholder 4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4873625"/>
          </a:xfrm>
        </p:spPr>
        <p:txBody>
          <a:bodyPr vert="horz" wrap="square" lIns="91440" tIns="45720" rIns="91440" bIns="45720" anchor="t" anchorCtr="0"/>
          <a:p>
            <a:pPr>
              <a:spcBef>
                <a:spcPts val="12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Low-level modules are more likely to change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High-level modules are more likely to remain stable: they implement the business policies, which is the purpose of the system and is unlikely to change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Dependency Inversion Principle (DIP)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13316" name="Slide Number Placeholder 2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Slide Number Placeholder 4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23038"/>
            <a:ext cx="523875" cy="28733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4339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Example Business Policy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&amp; Mechanism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4340" name="Rectangle 5"/>
          <p:cNvSpPr/>
          <p:nvPr/>
        </p:nvSpPr>
        <p:spPr>
          <a:xfrm>
            <a:off x="352425" y="1973263"/>
            <a:ext cx="7851775" cy="25860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IF key </a:t>
            </a:r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</a:t>
            </a:r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ValidKeys THEN disarm lock and turn lights on</a:t>
            </a:r>
            <a:endParaRPr lang="en-US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ELSE</a:t>
            </a:r>
            <a:endParaRPr lang="en-US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increment failed-attempts-counter</a:t>
            </a:r>
            <a:endParaRPr lang="en-US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IF failed-attempts-counter equals maximum number allowed</a:t>
            </a:r>
            <a:endParaRPr lang="en-US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       THEN block further attempts and raise alarm</a:t>
            </a:r>
            <a:endParaRPr lang="en-US" altLang="en-US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4341" name="Line 6"/>
          <p:cNvSpPr/>
          <p:nvPr/>
        </p:nvSpPr>
        <p:spPr>
          <a:xfrm>
            <a:off x="352425" y="1776413"/>
            <a:ext cx="84550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2" name="Line 7"/>
          <p:cNvSpPr/>
          <p:nvPr/>
        </p:nvSpPr>
        <p:spPr>
          <a:xfrm>
            <a:off x="352425" y="4776788"/>
            <a:ext cx="84550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4343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425" y="5210175"/>
            <a:ext cx="2390775" cy="13128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itle 3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Safe Home Access Policy Level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5363" name="Content Placeholder 4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4873625"/>
          </a:xfrm>
        </p:spPr>
        <p:txBody>
          <a:bodyPr vert="horz" wrap="square" lIns="91440" tIns="45720" rIns="91440" bIns="45720" anchor="t" anchorCtr="0"/>
          <a:p>
            <a:pPr>
              <a:buClr>
                <a:srgbClr val="680000"/>
              </a:buClr>
            </a:pPr>
            <a:r>
              <a:rPr lang="en-US" altLang="en-US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Detailed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statement of the problem: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Read the numeric code typed-in by the user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Validate the code, and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Set the voltage high to disarm the lock, turn on the light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680000"/>
              </a:buClr>
            </a:pPr>
            <a:r>
              <a:rPr lang="en-US" altLang="en-US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Abstract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statement of the problem: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Acquire the user code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Validate the code, and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Enable access and assist user’s arrival activties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5364" name="Slide Number Placeholder 2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Dependency Inversion Principle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4873625"/>
          </a:xfrm>
        </p:spPr>
        <p:txBody>
          <a:bodyPr vert="horz" wrap="square" lIns="91440" tIns="45720" rIns="91440" bIns="45720" anchor="t" anchorCtr="0"/>
          <a:p>
            <a:pPr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Instead of high-level module (policy) depending on low-level module (mechanism/service/utility):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High-level module defines its desired interface for the low-level service (i.e., high-level depends on itself-defined interface)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Lower-level module depends on (implements) the interface defined by the high-level module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 </a:t>
            </a:r>
            <a:r>
              <a:rPr lang="en-US" altLang="en-US" i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Dependency inversion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b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</a:b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    (from low to high, instead the opposite)</a:t>
            </a:r>
            <a:endParaRPr lang="en-US" altLang="en-US" i="1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6388" name="Slide Number Placeholder 3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3"/>
          <p:cNvSpPr>
            <a:spLocks noChangeAspect="1"/>
          </p:cNvSpPr>
          <p:nvPr/>
        </p:nvSpPr>
        <p:spPr>
          <a:xfrm>
            <a:off x="2427288" y="4384675"/>
            <a:ext cx="5175250" cy="1444625"/>
          </a:xfrm>
          <a:prstGeom prst="rect">
            <a:avLst/>
          </a:prstGeom>
          <a:solidFill>
            <a:schemeClr val="bg1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en-US" altLang="en-US" b="0" dirty="0">
              <a:latin typeface="Arial" panose="020B0604020202020204" pitchFamily="34" charset="0"/>
            </a:endParaRPr>
          </a:p>
        </p:txBody>
      </p:sp>
      <p:sp>
        <p:nvSpPr>
          <p:cNvPr id="17411" name="AutoShape 4"/>
          <p:cNvSpPr>
            <a:spLocks noChangeAspect="1"/>
          </p:cNvSpPr>
          <p:nvPr/>
        </p:nvSpPr>
        <p:spPr>
          <a:xfrm flipV="1">
            <a:off x="2427288" y="4002088"/>
            <a:ext cx="2022475" cy="382587"/>
          </a:xfrm>
          <a:custGeom>
            <a:avLst/>
            <a:gdLst>
              <a:gd name="txL" fmla="*/ 3841 w 21600"/>
              <a:gd name="txT" fmla="*/ 3841 h 21600"/>
              <a:gd name="txR" fmla="*/ 17759 w 21600"/>
              <a:gd name="txB" fmla="*/ 17759 h 21600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21600" h="21600">
                <a:moveTo>
                  <a:pt x="0" y="0"/>
                </a:moveTo>
                <a:lnTo>
                  <a:pt x="4082" y="21600"/>
                </a:lnTo>
                <a:lnTo>
                  <a:pt x="17518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ln w="158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7412" name="Rectangle 3"/>
          <p:cNvSpPr>
            <a:spLocks noChangeAspect="1"/>
          </p:cNvSpPr>
          <p:nvPr/>
        </p:nvSpPr>
        <p:spPr>
          <a:xfrm>
            <a:off x="2427288" y="2265363"/>
            <a:ext cx="5175250" cy="1446212"/>
          </a:xfrm>
          <a:prstGeom prst="rect">
            <a:avLst/>
          </a:prstGeom>
          <a:solidFill>
            <a:schemeClr val="bg1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en-US" altLang="en-US" b="0" dirty="0">
              <a:latin typeface="Arial" panose="020B0604020202020204" pitchFamily="34" charset="0"/>
            </a:endParaRPr>
          </a:p>
        </p:txBody>
      </p:sp>
      <p:grpSp>
        <p:nvGrpSpPr>
          <p:cNvPr id="17413" name="Group 2"/>
          <p:cNvGrpSpPr/>
          <p:nvPr/>
        </p:nvGrpSpPr>
        <p:grpSpPr>
          <a:xfrm>
            <a:off x="5580063" y="2468563"/>
            <a:ext cx="1462087" cy="877887"/>
            <a:chOff x="3257822" y="2798534"/>
            <a:chExt cx="1809750" cy="877824"/>
          </a:xfrm>
        </p:grpSpPr>
        <p:sp>
          <p:nvSpPr>
            <p:cNvPr id="17445" name="Rectangle 118"/>
            <p:cNvSpPr/>
            <p:nvPr/>
          </p:nvSpPr>
          <p:spPr>
            <a:xfrm>
              <a:off x="3257822" y="2798534"/>
              <a:ext cx="1809750" cy="877824"/>
            </a:xfrm>
            <a:prstGeom prst="rect">
              <a:avLst/>
            </a:prstGeom>
            <a:solidFill>
              <a:srgbClr val="FFFFCC"/>
            </a:solidFill>
            <a:ln w="63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18288" rIns="0" bIns="0"/>
            <a:p>
              <a:pPr algn="ctr"/>
              <a:r>
                <a:rPr lang="en-US" altLang="en-US" sz="1000" b="0" dirty="0">
                  <a:latin typeface="Arial" panose="020B0604020202020204" pitchFamily="34" charset="0"/>
                </a:rPr>
                <a:t>«interface»</a:t>
              </a:r>
              <a:endParaRPr lang="en-US" altLang="en-US" sz="1000" b="0" dirty="0">
                <a:latin typeface="Arial" panose="020B0604020202020204" pitchFamily="34" charset="0"/>
              </a:endParaRPr>
            </a:p>
            <a:p>
              <a:pPr algn="ctr"/>
              <a:r>
                <a:rPr lang="en-US" altLang="en-US" sz="1000" b="0" dirty="0">
                  <a:latin typeface="Arial" panose="020B0604020202020204" pitchFamily="34" charset="0"/>
                </a:rPr>
                <a:t>PolicyServiceInterface</a:t>
              </a:r>
              <a:endParaRPr lang="en-US" altLang="en-US" sz="1000" b="0" dirty="0">
                <a:latin typeface="Arial" panose="020B0604020202020204" pitchFamily="34" charset="0"/>
              </a:endParaRPr>
            </a:p>
          </p:txBody>
        </p:sp>
        <p:sp>
          <p:nvSpPr>
            <p:cNvPr id="17446" name="Line 119"/>
            <p:cNvSpPr/>
            <p:nvPr/>
          </p:nvSpPr>
          <p:spPr>
            <a:xfrm>
              <a:off x="3257822" y="3198521"/>
              <a:ext cx="1809750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47" name="Line 120"/>
            <p:cNvSpPr/>
            <p:nvPr/>
          </p:nvSpPr>
          <p:spPr>
            <a:xfrm>
              <a:off x="3257822" y="3376208"/>
              <a:ext cx="1809750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7414" name="Slide Number Placeholder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174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Dependency Inversion Pattern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7416" name="Text Box 225"/>
          <p:cNvSpPr txBox="1"/>
          <p:nvPr/>
        </p:nvSpPr>
        <p:spPr>
          <a:xfrm>
            <a:off x="85725" y="1514475"/>
            <a:ext cx="2057400" cy="30797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2000" b="0" dirty="0">
                <a:latin typeface="Arial" panose="020B0604020202020204" pitchFamily="34" charset="0"/>
              </a:rPr>
              <a:t>Package diagram</a:t>
            </a:r>
            <a:endParaRPr lang="en-US" altLang="en-US" sz="2000" b="0" dirty="0">
              <a:latin typeface="Arial" panose="020B0604020202020204" pitchFamily="34" charset="0"/>
            </a:endParaRPr>
          </a:p>
        </p:txBody>
      </p:sp>
      <p:sp>
        <p:nvSpPr>
          <p:cNvPr id="17417" name="Text Box 226"/>
          <p:cNvSpPr txBox="1"/>
          <p:nvPr/>
        </p:nvSpPr>
        <p:spPr>
          <a:xfrm>
            <a:off x="5311775" y="1819275"/>
            <a:ext cx="2274888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Defined by policy-package owner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7418" name="AutoShape 4"/>
          <p:cNvSpPr>
            <a:spLocks noChangeAspect="1"/>
          </p:cNvSpPr>
          <p:nvPr/>
        </p:nvSpPr>
        <p:spPr>
          <a:xfrm flipV="1">
            <a:off x="2427288" y="1884363"/>
            <a:ext cx="2022475" cy="381000"/>
          </a:xfrm>
          <a:custGeom>
            <a:avLst/>
            <a:gdLst>
              <a:gd name="txL" fmla="*/ 3841 w 21600"/>
              <a:gd name="txT" fmla="*/ 3841 h 21600"/>
              <a:gd name="txR" fmla="*/ 17759 w 21600"/>
              <a:gd name="txB" fmla="*/ 17759 h 21600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21600" h="21600">
                <a:moveTo>
                  <a:pt x="0" y="0"/>
                </a:moveTo>
                <a:lnTo>
                  <a:pt x="4082" y="21600"/>
                </a:lnTo>
                <a:lnTo>
                  <a:pt x="17518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ln w="158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7419" name="Rectangle 24"/>
          <p:cNvSpPr/>
          <p:nvPr/>
        </p:nvSpPr>
        <p:spPr>
          <a:xfrm>
            <a:off x="2870200" y="1976438"/>
            <a:ext cx="1136650" cy="18573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en-US" sz="1200" dirty="0">
                <a:latin typeface="Arial" panose="020B0604020202020204" pitchFamily="34" charset="0"/>
              </a:rPr>
              <a:t>Policy Package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17420" name="Freeform 46"/>
          <p:cNvSpPr/>
          <p:nvPr/>
        </p:nvSpPr>
        <p:spPr>
          <a:xfrm>
            <a:off x="6454775" y="2025650"/>
            <a:ext cx="347663" cy="414338"/>
          </a:xfrm>
          <a:custGeom>
            <a:avLst/>
            <a:gdLst>
              <a:gd name="txL" fmla="*/ 0 w 219"/>
              <a:gd name="txT" fmla="*/ 0 h 261"/>
              <a:gd name="txR" fmla="*/ 219 w 219"/>
              <a:gd name="txB" fmla="*/ 261 h 261"/>
            </a:gdLst>
            <a:ahLst/>
            <a:cxnLst>
              <a:cxn ang="0">
                <a:pos x="2147483647" y="0"/>
              </a:cxn>
              <a:cxn ang="0">
                <a:pos x="0" y="2147483647"/>
              </a:cxn>
            </a:cxnLst>
            <a:rect l="txL" t="txT" r="txR" b="txB"/>
            <a:pathLst>
              <a:path w="219" h="261">
                <a:moveTo>
                  <a:pt x="175" y="0"/>
                </a:moveTo>
                <a:cubicBezTo>
                  <a:pt x="219" y="195"/>
                  <a:pt x="39" y="90"/>
                  <a:pt x="0" y="261"/>
                </a:cubicBezTo>
              </a:path>
            </a:pathLst>
          </a:custGeom>
          <a:noFill/>
          <a:ln w="28575" cap="flat" cmpd="sng">
            <a:solidFill>
              <a:schemeClr val="bg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cxnSp>
        <p:nvCxnSpPr>
          <p:cNvPr id="17421" name="AutoShape 57"/>
          <p:cNvCxnSpPr>
            <a:stCxn id="17423" idx="3"/>
            <a:endCxn id="17439" idx="0"/>
          </p:cNvCxnSpPr>
          <p:nvPr/>
        </p:nvCxnSpPr>
        <p:spPr>
          <a:xfrm>
            <a:off x="6310313" y="3516313"/>
            <a:ext cx="0" cy="1211262"/>
          </a:xfrm>
          <a:prstGeom prst="straightConnector1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7422" name="Group 3"/>
          <p:cNvGrpSpPr/>
          <p:nvPr/>
        </p:nvGrpSpPr>
        <p:grpSpPr>
          <a:xfrm>
            <a:off x="2624138" y="2624138"/>
            <a:ext cx="1463675" cy="722312"/>
            <a:chOff x="1718582" y="2954046"/>
            <a:chExt cx="1463040" cy="722312"/>
          </a:xfrm>
        </p:grpSpPr>
        <p:sp>
          <p:nvSpPr>
            <p:cNvPr id="17442" name="Rectangle 29"/>
            <p:cNvSpPr/>
            <p:nvPr/>
          </p:nvSpPr>
          <p:spPr>
            <a:xfrm>
              <a:off x="1718582" y="2954046"/>
              <a:ext cx="1463040" cy="722312"/>
            </a:xfrm>
            <a:prstGeom prst="rect">
              <a:avLst/>
            </a:prstGeom>
            <a:solidFill>
              <a:srgbClr val="FFFFCC"/>
            </a:solidFill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rIns="0" bIns="0"/>
            <a:p>
              <a:r>
                <a:rPr lang="en-US" altLang="en-US" sz="1000" b="0" dirty="0">
                  <a:latin typeface="Arial" panose="020B0604020202020204" pitchFamily="34" charset="0"/>
                </a:rPr>
                <a:t>client : PolicyClass</a:t>
              </a:r>
              <a:endParaRPr lang="en-US" altLang="en-US" sz="1000" b="0" dirty="0">
                <a:latin typeface="Arial" panose="020B0604020202020204" pitchFamily="34" charset="0"/>
              </a:endParaRPr>
            </a:p>
            <a:p>
              <a:endParaRPr lang="en-US" altLang="en-US" sz="1000" b="0" dirty="0">
                <a:latin typeface="Arial" panose="020B0604020202020204" pitchFamily="34" charset="0"/>
              </a:endParaRPr>
            </a:p>
          </p:txBody>
        </p:sp>
        <p:sp>
          <p:nvSpPr>
            <p:cNvPr id="17443" name="Line 30"/>
            <p:cNvSpPr/>
            <p:nvPr/>
          </p:nvSpPr>
          <p:spPr>
            <a:xfrm>
              <a:off x="1718582" y="3198521"/>
              <a:ext cx="1463040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44" name="Line 31"/>
            <p:cNvSpPr/>
            <p:nvPr/>
          </p:nvSpPr>
          <p:spPr>
            <a:xfrm>
              <a:off x="1718582" y="3376208"/>
              <a:ext cx="1463040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7423" name="AutoShape 42"/>
          <p:cNvSpPr/>
          <p:nvPr/>
        </p:nvSpPr>
        <p:spPr>
          <a:xfrm>
            <a:off x="6234113" y="3363913"/>
            <a:ext cx="152400" cy="1524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7424" name="Freeform 64"/>
          <p:cNvSpPr/>
          <p:nvPr/>
        </p:nvSpPr>
        <p:spPr>
          <a:xfrm>
            <a:off x="6454775" y="2025650"/>
            <a:ext cx="347663" cy="414338"/>
          </a:xfrm>
          <a:custGeom>
            <a:avLst/>
            <a:gdLst>
              <a:gd name="txL" fmla="*/ 0 w 219"/>
              <a:gd name="txT" fmla="*/ 0 h 261"/>
              <a:gd name="txR" fmla="*/ 219 w 219"/>
              <a:gd name="txB" fmla="*/ 261 h 261"/>
            </a:gdLst>
            <a:ahLst/>
            <a:cxnLst>
              <a:cxn ang="0">
                <a:pos x="2147483647" y="0"/>
              </a:cxn>
              <a:cxn ang="0">
                <a:pos x="0" y="2147483647"/>
              </a:cxn>
            </a:cxnLst>
            <a:rect l="txL" t="txT" r="txR" b="txB"/>
            <a:pathLst>
              <a:path w="219" h="261">
                <a:moveTo>
                  <a:pt x="175" y="0"/>
                </a:moveTo>
                <a:cubicBezTo>
                  <a:pt x="219" y="195"/>
                  <a:pt x="39" y="90"/>
                  <a:pt x="0" y="261"/>
                </a:cubicBezTo>
              </a:path>
            </a:pathLst>
          </a:custGeom>
          <a:noFill/>
          <a:ln w="31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7425" name="Line 15"/>
          <p:cNvSpPr/>
          <p:nvPr/>
        </p:nvSpPr>
        <p:spPr>
          <a:xfrm flipV="1">
            <a:off x="4092575" y="2938463"/>
            <a:ext cx="1487488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grpSp>
        <p:nvGrpSpPr>
          <p:cNvPr id="17426" name="Group 4"/>
          <p:cNvGrpSpPr/>
          <p:nvPr/>
        </p:nvGrpSpPr>
        <p:grpSpPr>
          <a:xfrm>
            <a:off x="5487988" y="4727575"/>
            <a:ext cx="1646237" cy="722313"/>
            <a:chOff x="4018552" y="5130439"/>
            <a:chExt cx="1463040" cy="722312"/>
          </a:xfrm>
        </p:grpSpPr>
        <p:sp>
          <p:nvSpPr>
            <p:cNvPr id="17439" name="Rectangle 29"/>
            <p:cNvSpPr/>
            <p:nvPr/>
          </p:nvSpPr>
          <p:spPr>
            <a:xfrm>
              <a:off x="4018552" y="5130439"/>
              <a:ext cx="1463040" cy="722312"/>
            </a:xfrm>
            <a:prstGeom prst="rect">
              <a:avLst/>
            </a:prstGeom>
            <a:solidFill>
              <a:srgbClr val="FFFFCC"/>
            </a:solidFill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64008" rIns="0" bIns="0"/>
            <a:p>
              <a:r>
                <a:rPr lang="en-US" altLang="en-US" sz="1000" b="0" dirty="0">
                  <a:latin typeface="Arial" panose="020B0604020202020204" pitchFamily="34" charset="0"/>
                </a:rPr>
                <a:t>server : PolicyServiceClass</a:t>
              </a:r>
              <a:endParaRPr lang="en-US" altLang="en-US" sz="1000" b="0" dirty="0">
                <a:latin typeface="Arial" panose="020B0604020202020204" pitchFamily="34" charset="0"/>
              </a:endParaRPr>
            </a:p>
            <a:p>
              <a:endParaRPr lang="en-US" altLang="en-US" sz="1000" b="0" dirty="0">
                <a:latin typeface="Arial" panose="020B0604020202020204" pitchFamily="34" charset="0"/>
              </a:endParaRPr>
            </a:p>
          </p:txBody>
        </p:sp>
        <p:sp>
          <p:nvSpPr>
            <p:cNvPr id="17440" name="Line 30"/>
            <p:cNvSpPr/>
            <p:nvPr/>
          </p:nvSpPr>
          <p:spPr>
            <a:xfrm>
              <a:off x="4018552" y="5374914"/>
              <a:ext cx="1463040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41" name="Line 31"/>
            <p:cNvSpPr/>
            <p:nvPr/>
          </p:nvSpPr>
          <p:spPr>
            <a:xfrm>
              <a:off x="4018552" y="5552601"/>
              <a:ext cx="1463040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7427" name="Text Box 226"/>
          <p:cNvSpPr txBox="1"/>
          <p:nvPr/>
        </p:nvSpPr>
        <p:spPr>
          <a:xfrm>
            <a:off x="4451350" y="2538413"/>
            <a:ext cx="763588" cy="33813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1100" b="0" dirty="0">
                <a:latin typeface="Arial" panose="020B0604020202020204" pitchFamily="34" charset="0"/>
              </a:rPr>
              <a:t>depends-on</a:t>
            </a:r>
            <a:endParaRPr lang="en-US" altLang="en-US" sz="1100" b="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100" b="0" dirty="0">
                <a:latin typeface="Arial" panose="020B0604020202020204" pitchFamily="34" charset="0"/>
              </a:rPr>
              <a:t>(«uses»)</a:t>
            </a:r>
            <a:endParaRPr lang="en-US" altLang="en-US" sz="1100" b="0" dirty="0">
              <a:latin typeface="Arial" panose="020B0604020202020204" pitchFamily="34" charset="0"/>
            </a:endParaRPr>
          </a:p>
        </p:txBody>
      </p:sp>
      <p:sp>
        <p:nvSpPr>
          <p:cNvPr id="17428" name="Text Box 226"/>
          <p:cNvSpPr txBox="1"/>
          <p:nvPr/>
        </p:nvSpPr>
        <p:spPr>
          <a:xfrm>
            <a:off x="6378575" y="3857625"/>
            <a:ext cx="989013" cy="338138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1100" b="0" dirty="0">
                <a:latin typeface="Arial" panose="020B0604020202020204" pitchFamily="34" charset="0"/>
              </a:rPr>
              <a:t>depends-on</a:t>
            </a:r>
            <a:endParaRPr lang="en-US" altLang="en-US" sz="1100" b="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100" b="0" dirty="0">
                <a:latin typeface="Arial" panose="020B0604020202020204" pitchFamily="34" charset="0"/>
              </a:rPr>
              <a:t>(«implements»)</a:t>
            </a:r>
            <a:endParaRPr lang="en-US" altLang="en-US" sz="1100" b="0" dirty="0">
              <a:latin typeface="Arial" panose="020B0604020202020204" pitchFamily="34" charset="0"/>
            </a:endParaRPr>
          </a:p>
        </p:txBody>
      </p:sp>
      <p:sp>
        <p:nvSpPr>
          <p:cNvPr id="17429" name="Rectangle 24"/>
          <p:cNvSpPr/>
          <p:nvPr/>
        </p:nvSpPr>
        <p:spPr>
          <a:xfrm>
            <a:off x="2695575" y="4095750"/>
            <a:ext cx="1520825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en-US" sz="1200" dirty="0">
                <a:latin typeface="Arial" panose="020B0604020202020204" pitchFamily="34" charset="0"/>
              </a:rPr>
              <a:t>Mechanism Package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17430" name="Text Box 76"/>
          <p:cNvSpPr txBox="1"/>
          <p:nvPr/>
        </p:nvSpPr>
        <p:spPr>
          <a:xfrm>
            <a:off x="103188" y="5883275"/>
            <a:ext cx="8651875" cy="812800"/>
          </a:xfrm>
          <a:prstGeom prst="rect">
            <a:avLst/>
          </a:prstGeom>
          <a:noFill/>
          <a:ln w="9525">
            <a:noFill/>
          </a:ln>
        </p:spPr>
        <p:txBody>
          <a:bodyPr lIns="9144" tIns="0" rIns="9144" bIns="0">
            <a:spAutoFit/>
          </a:bodyPr>
          <a:p>
            <a:pPr marL="285750" indent="-285750" eaLnBrk="1" hangingPunct="1">
              <a:lnSpc>
                <a:spcPct val="110000"/>
              </a:lnSpc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Note the dependencies from </a:t>
            </a:r>
            <a:r>
              <a:rPr lang="en-US" alt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bottom to top</a:t>
            </a:r>
            <a:endParaRPr lang="en-US" altLang="en-US" sz="16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1" hangingPunct="1">
              <a:lnSpc>
                <a:spcPct val="110000"/>
              </a:lnSpc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Both Policy Class and Policy Service Class </a:t>
            </a:r>
            <a:r>
              <a:rPr lang="en-US" altLang="en-US" sz="1600" b="0" i="1" dirty="0">
                <a:latin typeface="Calibri" panose="020F0502020204030204" pitchFamily="34" charset="0"/>
                <a:cs typeface="Calibri" panose="020F0502020204030204" pitchFamily="34" charset="0"/>
              </a:rPr>
              <a:t>depend</a:t>
            </a: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 on Policy Service Interface</a:t>
            </a:r>
            <a:b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but the former </a:t>
            </a:r>
            <a:r>
              <a:rPr lang="en-US" altLang="en-US" sz="1600" b="0" i="1" dirty="0">
                <a:latin typeface="Calibri" panose="020F0502020204030204" pitchFamily="34" charset="0"/>
                <a:cs typeface="Calibri" panose="020F0502020204030204" pitchFamily="34" charset="0"/>
              </a:rPr>
              <a:t>uses</a:t>
            </a: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 (and </a:t>
            </a:r>
            <a:r>
              <a:rPr lang="en-US" altLang="en-US" sz="1600" b="0" i="1" dirty="0">
                <a:latin typeface="Calibri" panose="020F0502020204030204" pitchFamily="34" charset="0"/>
                <a:cs typeface="Calibri" panose="020F0502020204030204" pitchFamily="34" charset="0"/>
              </a:rPr>
              <a:t>defines</a:t>
            </a: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) the interface and the latter </a:t>
            </a:r>
            <a:r>
              <a:rPr lang="en-US" altLang="en-US" sz="1600" b="0" i="1" dirty="0">
                <a:latin typeface="Calibri" panose="020F0502020204030204" pitchFamily="34" charset="0"/>
                <a:cs typeface="Calibri" panose="020F0502020204030204" pitchFamily="34" charset="0"/>
              </a:rPr>
              <a:t>implements</a:t>
            </a: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 the interface</a:t>
            </a:r>
            <a:endParaRPr lang="en-US" altLang="en-US" sz="16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pSp>
        <p:nvGrpSpPr>
          <p:cNvPr id="17431" name="Group 84"/>
          <p:cNvGrpSpPr>
            <a:grpSpLocks noChangeAspect="1"/>
          </p:cNvGrpSpPr>
          <p:nvPr/>
        </p:nvGrpSpPr>
        <p:grpSpPr>
          <a:xfrm>
            <a:off x="1363663" y="2170113"/>
            <a:ext cx="546100" cy="1281112"/>
            <a:chOff x="4960619" y="3536834"/>
            <a:chExt cx="1242336" cy="2918714"/>
          </a:xfrm>
        </p:grpSpPr>
        <p:sp>
          <p:nvSpPr>
            <p:cNvPr id="17437" name="Oval 11"/>
            <p:cNvSpPr>
              <a:spLocks noChangeAspect="1"/>
            </p:cNvSpPr>
            <p:nvPr/>
          </p:nvSpPr>
          <p:spPr>
            <a:xfrm>
              <a:off x="5288873" y="3536834"/>
              <a:ext cx="544933" cy="545190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438" name="Freeform 10"/>
            <p:cNvSpPr>
              <a:spLocks noChangeAspect="1"/>
            </p:cNvSpPr>
            <p:nvPr/>
          </p:nvSpPr>
          <p:spPr>
            <a:xfrm>
              <a:off x="4960619" y="4131696"/>
              <a:ext cx="1242336" cy="2323852"/>
            </a:xfrm>
            <a:custGeom>
              <a:avLst/>
              <a:gdLst>
                <a:gd name="txL" fmla="*/ 0 w 10004"/>
                <a:gd name="txT" fmla="*/ 0 h 10318"/>
                <a:gd name="txR" fmla="*/ 10004 w 10004"/>
                <a:gd name="txB" fmla="*/ 10318 h 10318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004" h="10318">
                  <a:moveTo>
                    <a:pt x="1" y="4466"/>
                  </a:moveTo>
                  <a:lnTo>
                    <a:pt x="780" y="1548"/>
                  </a:lnTo>
                  <a:cubicBezTo>
                    <a:pt x="1044" y="490"/>
                    <a:pt x="1901" y="66"/>
                    <a:pt x="3240" y="1"/>
                  </a:cubicBezTo>
                  <a:lnTo>
                    <a:pt x="6756" y="1"/>
                  </a:lnTo>
                  <a:cubicBezTo>
                    <a:pt x="8157" y="-7"/>
                    <a:pt x="8865" y="494"/>
                    <a:pt x="9154" y="1322"/>
                  </a:cubicBezTo>
                  <a:lnTo>
                    <a:pt x="9999" y="4368"/>
                  </a:lnTo>
                  <a:cubicBezTo>
                    <a:pt x="10045" y="4671"/>
                    <a:pt x="9786" y="4867"/>
                    <a:pt x="9257" y="4916"/>
                  </a:cubicBezTo>
                  <a:cubicBezTo>
                    <a:pt x="8728" y="4965"/>
                    <a:pt x="8364" y="4841"/>
                    <a:pt x="8204" y="4470"/>
                  </a:cubicBezTo>
                  <a:lnTo>
                    <a:pt x="7590" y="1775"/>
                  </a:lnTo>
                  <a:cubicBezTo>
                    <a:pt x="7544" y="1691"/>
                    <a:pt x="7345" y="1617"/>
                    <a:pt x="7357" y="1778"/>
                  </a:cubicBezTo>
                  <a:cubicBezTo>
                    <a:pt x="7363" y="2759"/>
                    <a:pt x="7313" y="3094"/>
                    <a:pt x="7319" y="4076"/>
                  </a:cubicBezTo>
                  <a:cubicBezTo>
                    <a:pt x="7483" y="5924"/>
                    <a:pt x="7646" y="7686"/>
                    <a:pt x="7810" y="9534"/>
                  </a:cubicBezTo>
                  <a:cubicBezTo>
                    <a:pt x="7832" y="10101"/>
                    <a:pt x="6920" y="10277"/>
                    <a:pt x="6516" y="10275"/>
                  </a:cubicBezTo>
                  <a:cubicBezTo>
                    <a:pt x="6112" y="10273"/>
                    <a:pt x="5434" y="10180"/>
                    <a:pt x="5383" y="9524"/>
                  </a:cubicBezTo>
                  <a:cubicBezTo>
                    <a:pt x="5268" y="7988"/>
                    <a:pt x="5154" y="6451"/>
                    <a:pt x="5039" y="4915"/>
                  </a:cubicBezTo>
                  <a:cubicBezTo>
                    <a:pt x="5043" y="4729"/>
                    <a:pt x="4828" y="4726"/>
                    <a:pt x="4832" y="4919"/>
                  </a:cubicBezTo>
                  <a:cubicBezTo>
                    <a:pt x="4730" y="6454"/>
                    <a:pt x="4742" y="7999"/>
                    <a:pt x="4640" y="9534"/>
                  </a:cubicBezTo>
                  <a:cubicBezTo>
                    <a:pt x="4614" y="10119"/>
                    <a:pt x="3821" y="10309"/>
                    <a:pt x="3409" y="10318"/>
                  </a:cubicBezTo>
                  <a:cubicBezTo>
                    <a:pt x="2997" y="10327"/>
                    <a:pt x="2165" y="10191"/>
                    <a:pt x="2167" y="9588"/>
                  </a:cubicBezTo>
                  <a:cubicBezTo>
                    <a:pt x="2352" y="7744"/>
                    <a:pt x="2519" y="6028"/>
                    <a:pt x="2704" y="4184"/>
                  </a:cubicBezTo>
                  <a:cubicBezTo>
                    <a:pt x="2703" y="3004"/>
                    <a:pt x="2644" y="2912"/>
                    <a:pt x="2643" y="1732"/>
                  </a:cubicBezTo>
                  <a:cubicBezTo>
                    <a:pt x="2639" y="1663"/>
                    <a:pt x="2517" y="1568"/>
                    <a:pt x="2453" y="1759"/>
                  </a:cubicBezTo>
                  <a:cubicBezTo>
                    <a:pt x="2263" y="2804"/>
                    <a:pt x="1977" y="3446"/>
                    <a:pt x="1786" y="4491"/>
                  </a:cubicBezTo>
                  <a:cubicBezTo>
                    <a:pt x="1636" y="4858"/>
                    <a:pt x="1177" y="4934"/>
                    <a:pt x="782" y="4936"/>
                  </a:cubicBezTo>
                  <a:cubicBezTo>
                    <a:pt x="387" y="4938"/>
                    <a:pt x="-26" y="4707"/>
                    <a:pt x="1" y="4466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7432" name="Text Box 103"/>
          <p:cNvSpPr txBox="1">
            <a:spLocks noChangeAspect="1"/>
          </p:cNvSpPr>
          <p:nvPr/>
        </p:nvSpPr>
        <p:spPr>
          <a:xfrm>
            <a:off x="1276350" y="3506788"/>
            <a:ext cx="760413" cy="1698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100" b="0" dirty="0">
                <a:latin typeface="Arial" panose="020B0604020202020204" pitchFamily="34" charset="0"/>
              </a:rPr>
              <a:t>developer </a:t>
            </a:r>
            <a:r>
              <a:rPr lang="en-US" altLang="en-US" sz="1100" dirty="0">
                <a:latin typeface="Arial" panose="020B0604020202020204" pitchFamily="34" charset="0"/>
              </a:rPr>
              <a:t>A</a:t>
            </a:r>
            <a:endParaRPr lang="en-US" altLang="en-US" sz="1100" dirty="0">
              <a:latin typeface="Arial" panose="020B0604020202020204" pitchFamily="34" charset="0"/>
            </a:endParaRPr>
          </a:p>
        </p:txBody>
      </p:sp>
      <p:grpSp>
        <p:nvGrpSpPr>
          <p:cNvPr id="17433" name="Group 84"/>
          <p:cNvGrpSpPr>
            <a:grpSpLocks noChangeAspect="1"/>
          </p:cNvGrpSpPr>
          <p:nvPr/>
        </p:nvGrpSpPr>
        <p:grpSpPr>
          <a:xfrm>
            <a:off x="1360488" y="4205288"/>
            <a:ext cx="546100" cy="1279525"/>
            <a:chOff x="4960619" y="3536834"/>
            <a:chExt cx="1242336" cy="2918714"/>
          </a:xfrm>
        </p:grpSpPr>
        <p:sp>
          <p:nvSpPr>
            <p:cNvPr id="17435" name="Oval 11"/>
            <p:cNvSpPr>
              <a:spLocks noChangeAspect="1"/>
            </p:cNvSpPr>
            <p:nvPr/>
          </p:nvSpPr>
          <p:spPr>
            <a:xfrm>
              <a:off x="5288873" y="3536834"/>
              <a:ext cx="544933" cy="545190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436" name="Freeform 10"/>
            <p:cNvSpPr>
              <a:spLocks noChangeAspect="1"/>
            </p:cNvSpPr>
            <p:nvPr/>
          </p:nvSpPr>
          <p:spPr>
            <a:xfrm>
              <a:off x="4960619" y="4131696"/>
              <a:ext cx="1242336" cy="2323852"/>
            </a:xfrm>
            <a:custGeom>
              <a:avLst/>
              <a:gdLst>
                <a:gd name="txL" fmla="*/ 0 w 10004"/>
                <a:gd name="txT" fmla="*/ 0 h 10318"/>
                <a:gd name="txR" fmla="*/ 10004 w 10004"/>
                <a:gd name="txB" fmla="*/ 10318 h 10318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004" h="10318">
                  <a:moveTo>
                    <a:pt x="1" y="4466"/>
                  </a:moveTo>
                  <a:lnTo>
                    <a:pt x="780" y="1548"/>
                  </a:lnTo>
                  <a:cubicBezTo>
                    <a:pt x="1044" y="490"/>
                    <a:pt x="1901" y="66"/>
                    <a:pt x="3240" y="1"/>
                  </a:cubicBezTo>
                  <a:lnTo>
                    <a:pt x="6756" y="1"/>
                  </a:lnTo>
                  <a:cubicBezTo>
                    <a:pt x="8157" y="-7"/>
                    <a:pt x="8865" y="494"/>
                    <a:pt x="9154" y="1322"/>
                  </a:cubicBezTo>
                  <a:lnTo>
                    <a:pt x="9999" y="4368"/>
                  </a:lnTo>
                  <a:cubicBezTo>
                    <a:pt x="10045" y="4671"/>
                    <a:pt x="9786" y="4867"/>
                    <a:pt x="9257" y="4916"/>
                  </a:cubicBezTo>
                  <a:cubicBezTo>
                    <a:pt x="8728" y="4965"/>
                    <a:pt x="8364" y="4841"/>
                    <a:pt x="8204" y="4470"/>
                  </a:cubicBezTo>
                  <a:lnTo>
                    <a:pt x="7590" y="1775"/>
                  </a:lnTo>
                  <a:cubicBezTo>
                    <a:pt x="7544" y="1691"/>
                    <a:pt x="7345" y="1617"/>
                    <a:pt x="7357" y="1778"/>
                  </a:cubicBezTo>
                  <a:cubicBezTo>
                    <a:pt x="7363" y="2759"/>
                    <a:pt x="7313" y="3094"/>
                    <a:pt x="7319" y="4076"/>
                  </a:cubicBezTo>
                  <a:cubicBezTo>
                    <a:pt x="7483" y="5924"/>
                    <a:pt x="7646" y="7686"/>
                    <a:pt x="7810" y="9534"/>
                  </a:cubicBezTo>
                  <a:cubicBezTo>
                    <a:pt x="7832" y="10101"/>
                    <a:pt x="6920" y="10277"/>
                    <a:pt x="6516" y="10275"/>
                  </a:cubicBezTo>
                  <a:cubicBezTo>
                    <a:pt x="6112" y="10273"/>
                    <a:pt x="5434" y="10180"/>
                    <a:pt x="5383" y="9524"/>
                  </a:cubicBezTo>
                  <a:cubicBezTo>
                    <a:pt x="5268" y="7988"/>
                    <a:pt x="5154" y="6451"/>
                    <a:pt x="5039" y="4915"/>
                  </a:cubicBezTo>
                  <a:cubicBezTo>
                    <a:pt x="5043" y="4729"/>
                    <a:pt x="4828" y="4726"/>
                    <a:pt x="4832" y="4919"/>
                  </a:cubicBezTo>
                  <a:cubicBezTo>
                    <a:pt x="4730" y="6454"/>
                    <a:pt x="4742" y="7999"/>
                    <a:pt x="4640" y="9534"/>
                  </a:cubicBezTo>
                  <a:cubicBezTo>
                    <a:pt x="4614" y="10119"/>
                    <a:pt x="3821" y="10309"/>
                    <a:pt x="3409" y="10318"/>
                  </a:cubicBezTo>
                  <a:cubicBezTo>
                    <a:pt x="2997" y="10327"/>
                    <a:pt x="2165" y="10191"/>
                    <a:pt x="2167" y="9588"/>
                  </a:cubicBezTo>
                  <a:cubicBezTo>
                    <a:pt x="2352" y="7744"/>
                    <a:pt x="2519" y="6028"/>
                    <a:pt x="2704" y="4184"/>
                  </a:cubicBezTo>
                  <a:cubicBezTo>
                    <a:pt x="2703" y="3004"/>
                    <a:pt x="2644" y="2912"/>
                    <a:pt x="2643" y="1732"/>
                  </a:cubicBezTo>
                  <a:cubicBezTo>
                    <a:pt x="2639" y="1663"/>
                    <a:pt x="2517" y="1568"/>
                    <a:pt x="2453" y="1759"/>
                  </a:cubicBezTo>
                  <a:cubicBezTo>
                    <a:pt x="2263" y="2804"/>
                    <a:pt x="1977" y="3446"/>
                    <a:pt x="1786" y="4491"/>
                  </a:cubicBezTo>
                  <a:cubicBezTo>
                    <a:pt x="1636" y="4858"/>
                    <a:pt x="1177" y="4934"/>
                    <a:pt x="782" y="4936"/>
                  </a:cubicBezTo>
                  <a:cubicBezTo>
                    <a:pt x="387" y="4938"/>
                    <a:pt x="-26" y="4707"/>
                    <a:pt x="1" y="4466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7434" name="Text Box 103"/>
          <p:cNvSpPr txBox="1">
            <a:spLocks noChangeAspect="1"/>
          </p:cNvSpPr>
          <p:nvPr/>
        </p:nvSpPr>
        <p:spPr>
          <a:xfrm>
            <a:off x="1271588" y="5540375"/>
            <a:ext cx="762000" cy="1698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100" b="0" dirty="0">
                <a:latin typeface="Arial" panose="020B0604020202020204" pitchFamily="34" charset="0"/>
              </a:rPr>
              <a:t>developer </a:t>
            </a:r>
            <a:r>
              <a:rPr lang="en-US" altLang="en-US" sz="1100" dirty="0">
                <a:latin typeface="Arial" panose="020B0604020202020204" pitchFamily="34" charset="0"/>
              </a:rPr>
              <a:t>B</a:t>
            </a:r>
            <a:endParaRPr lang="en-US" altLang="en-US" sz="11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sz="3200" dirty="0">
                <a:latin typeface="Arial Rounded MT Bold" panose="020F0704030504030204" pitchFamily="34" charset="0"/>
                <a:ea typeface="+mj-ea"/>
                <a:cs typeface="+mj-cs"/>
              </a:rPr>
              <a:t>Additional Object: </a:t>
            </a: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Intruder Detector?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5257800"/>
          </a:xfrm>
        </p:spPr>
        <p:txBody>
          <a:bodyPr vert="horz" wrap="square" lIns="91440" tIns="45720" rIns="91440" bIns="45720" anchor="t" anchorCtr="0"/>
          <a:p>
            <a:pPr>
              <a:buClr>
                <a:srgbClr val="680000"/>
              </a:buClr>
            </a:pP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Based on an invalid key decides an intruder</a:t>
            </a:r>
            <a:endParaRPr lang="en-US" altLang="zh-CN" sz="22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>
              <a:buClr>
                <a:srgbClr val="680000"/>
              </a:buClr>
            </a:pP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However, the notion of a “dictionary attack” may not make sense for non-numeric keys, not acquired from a keypad</a:t>
            </a:r>
            <a:endParaRPr lang="en-US" altLang="zh-CN" sz="22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>
              <a:buClr>
                <a:srgbClr val="680000"/>
              </a:buClr>
            </a:pP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If the “key” is a magnetic-card code, it cannot be assumed that the user made a mistake and should be given another try</a:t>
            </a:r>
            <a:endParaRPr lang="en-US" altLang="zh-CN" sz="22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lvl="1">
              <a:buChar char="–"/>
            </a:pPr>
            <a: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</a:rPr>
              <a:t>If a key is transmitted wirelessly, it may be intercepted and reproduced</a:t>
            </a:r>
            <a:endParaRPr lang="en-US" altLang="zh-CN" sz="19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buClr>
                <a:srgbClr val="680000"/>
              </a:buClr>
            </a:pP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What if the “key” is user’s fingerprint or another biometric feature?</a:t>
            </a:r>
            <a:endParaRPr lang="en-US" altLang="zh-CN" sz="22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lvl="1">
              <a:buChar char="–"/>
            </a:pPr>
            <a: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</a:rPr>
              <a:t>A biometric identifier could be faked, although also user may have dirty or greasy fingers which would prevent correct fingerprint-based identification</a:t>
            </a:r>
            <a:b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</a:rPr>
              <a:t>or user’s face may not be properly illuminated…</a:t>
            </a:r>
            <a:endParaRPr lang="en-US" altLang="zh-CN" sz="19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buClr>
                <a:srgbClr val="680000"/>
              </a:buClr>
            </a:pP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 </a:t>
            </a: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Need a new intruder-detection mechanism …</a:t>
            </a:r>
            <a:endParaRPr lang="en-US" altLang="zh-CN" sz="22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6" name="Slide Number Placeholder 3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Examples of Software Change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5029200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What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could change in the home access system: means of user authentication and the controlled devices. These sources of change are independent, so one should not affect the code for the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other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Scenario #1: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replace numeric-code based keys with magnetic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card or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RFID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chip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What part of the system needs to be replaced?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What is the “interface” seen by the rest of the system that needs to remain invariant?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Scenario #2: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same as above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Policy for handling dictionary attacks becomes inadequate: what kind of attack can be mounted by an adversary in case of magnetic or RFID codes?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What policy (or policies) are appropriate for this scenario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460" name="Slide Number Placeholder 3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0482" name="Group 275"/>
          <p:cNvGrpSpPr/>
          <p:nvPr/>
        </p:nvGrpSpPr>
        <p:grpSpPr>
          <a:xfrm>
            <a:off x="4089400" y="2763838"/>
            <a:ext cx="1112838" cy="627062"/>
            <a:chOff x="2576" y="1741"/>
            <a:chExt cx="701" cy="395"/>
          </a:xfrm>
        </p:grpSpPr>
        <p:sp>
          <p:nvSpPr>
            <p:cNvPr id="20528" name="Freeform 274"/>
            <p:cNvSpPr/>
            <p:nvPr/>
          </p:nvSpPr>
          <p:spPr>
            <a:xfrm>
              <a:off x="2576" y="1761"/>
              <a:ext cx="694" cy="375"/>
            </a:xfrm>
            <a:custGeom>
              <a:avLst/>
              <a:gdLst>
                <a:gd name="txL" fmla="*/ 0 w 694"/>
                <a:gd name="txT" fmla="*/ 0 h 375"/>
                <a:gd name="txR" fmla="*/ 694 w 694"/>
                <a:gd name="txB" fmla="*/ 375 h 375"/>
              </a:gdLst>
              <a:ahLst/>
              <a:cxnLst>
                <a:cxn ang="0">
                  <a:pos x="0" y="375"/>
                </a:cxn>
                <a:cxn ang="0">
                  <a:pos x="379" y="375"/>
                </a:cxn>
                <a:cxn ang="0">
                  <a:pos x="379" y="0"/>
                </a:cxn>
                <a:cxn ang="0">
                  <a:pos x="694" y="0"/>
                </a:cxn>
              </a:cxnLst>
              <a:rect l="txL" t="txT" r="txR" b="txB"/>
              <a:pathLst>
                <a:path w="694" h="375">
                  <a:moveTo>
                    <a:pt x="0" y="375"/>
                  </a:moveTo>
                  <a:lnTo>
                    <a:pt x="379" y="375"/>
                  </a:lnTo>
                  <a:lnTo>
                    <a:pt x="379" y="0"/>
                  </a:lnTo>
                  <a:lnTo>
                    <a:pt x="694" y="0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9" name="Freeform 271"/>
            <p:cNvSpPr>
              <a:spLocks noChangeAspect="1"/>
            </p:cNvSpPr>
            <p:nvPr/>
          </p:nvSpPr>
          <p:spPr>
            <a:xfrm flipH="1">
              <a:off x="3242" y="1741"/>
              <a:ext cx="35" cy="39"/>
            </a:xfrm>
            <a:custGeom>
              <a:avLst/>
              <a:gdLst>
                <a:gd name="txL" fmla="*/ 0 w 46"/>
                <a:gd name="txT" fmla="*/ 0 h 46"/>
                <a:gd name="txR" fmla="*/ 46 w 46"/>
                <a:gd name="txB" fmla="*/ 46 h 46"/>
              </a:gdLst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2" y="7"/>
                </a:cxn>
              </a:cxnLst>
              <a:rect l="txL" t="txT" r="txR" b="txB"/>
              <a:pathLst>
                <a:path w="46" h="46">
                  <a:moveTo>
                    <a:pt x="46" y="0"/>
                  </a:moveTo>
                  <a:lnTo>
                    <a:pt x="0" y="23"/>
                  </a:lnTo>
                  <a:lnTo>
                    <a:pt x="46" y="46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483" name="Group 268"/>
          <p:cNvGrpSpPr/>
          <p:nvPr/>
        </p:nvGrpSpPr>
        <p:grpSpPr>
          <a:xfrm>
            <a:off x="1263650" y="3738563"/>
            <a:ext cx="941388" cy="1541462"/>
            <a:chOff x="796" y="2355"/>
            <a:chExt cx="593" cy="971"/>
          </a:xfrm>
        </p:grpSpPr>
        <p:sp>
          <p:nvSpPr>
            <p:cNvPr id="20526" name="Freeform 250"/>
            <p:cNvSpPr/>
            <p:nvPr/>
          </p:nvSpPr>
          <p:spPr>
            <a:xfrm>
              <a:off x="816" y="2355"/>
              <a:ext cx="573" cy="968"/>
            </a:xfrm>
            <a:custGeom>
              <a:avLst/>
              <a:gdLst>
                <a:gd name="txL" fmla="*/ 0 w 573"/>
                <a:gd name="txT" fmla="*/ 0 h 968"/>
                <a:gd name="txR" fmla="*/ 573 w 573"/>
                <a:gd name="txB" fmla="*/ 968 h 968"/>
              </a:gdLst>
              <a:ahLst/>
              <a:cxnLst>
                <a:cxn ang="0">
                  <a:pos x="0" y="968"/>
                </a:cxn>
                <a:cxn ang="0">
                  <a:pos x="0" y="0"/>
                </a:cxn>
                <a:cxn ang="0">
                  <a:pos x="573" y="0"/>
                </a:cxn>
              </a:cxnLst>
              <a:rect l="txL" t="txT" r="txR" b="txB"/>
              <a:pathLst>
                <a:path w="573" h="968">
                  <a:moveTo>
                    <a:pt x="0" y="968"/>
                  </a:moveTo>
                  <a:lnTo>
                    <a:pt x="0" y="0"/>
                  </a:lnTo>
                  <a:lnTo>
                    <a:pt x="573" y="0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7" name="Freeform 251"/>
            <p:cNvSpPr>
              <a:spLocks noChangeAspect="1"/>
            </p:cNvSpPr>
            <p:nvPr/>
          </p:nvSpPr>
          <p:spPr>
            <a:xfrm rot="5400000" flipH="1">
              <a:off x="798" y="3289"/>
              <a:ext cx="35" cy="39"/>
            </a:xfrm>
            <a:custGeom>
              <a:avLst/>
              <a:gdLst>
                <a:gd name="txL" fmla="*/ 0 w 46"/>
                <a:gd name="txT" fmla="*/ 0 h 46"/>
                <a:gd name="txR" fmla="*/ 46 w 46"/>
                <a:gd name="txB" fmla="*/ 46 h 46"/>
              </a:gdLst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2" y="7"/>
                </a:cxn>
              </a:cxnLst>
              <a:rect l="txL" t="txT" r="txR" b="txB"/>
              <a:pathLst>
                <a:path w="46" h="46">
                  <a:moveTo>
                    <a:pt x="46" y="0"/>
                  </a:moveTo>
                  <a:lnTo>
                    <a:pt x="0" y="23"/>
                  </a:lnTo>
                  <a:lnTo>
                    <a:pt x="46" y="46"/>
                  </a:lnTo>
                </a:path>
              </a:pathLst>
            </a:custGeom>
            <a:noFill/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484" name="Group 265"/>
          <p:cNvGrpSpPr/>
          <p:nvPr/>
        </p:nvGrpSpPr>
        <p:grpSpPr>
          <a:xfrm>
            <a:off x="3143250" y="4310063"/>
            <a:ext cx="747713" cy="547687"/>
            <a:chOff x="1980" y="2715"/>
            <a:chExt cx="471" cy="345"/>
          </a:xfrm>
        </p:grpSpPr>
        <p:sp>
          <p:nvSpPr>
            <p:cNvPr id="20524" name="Freeform 262"/>
            <p:cNvSpPr/>
            <p:nvPr/>
          </p:nvSpPr>
          <p:spPr>
            <a:xfrm>
              <a:off x="1980" y="2715"/>
              <a:ext cx="452" cy="340"/>
            </a:xfrm>
            <a:custGeom>
              <a:avLst/>
              <a:gdLst>
                <a:gd name="txL" fmla="*/ 0 w 453"/>
                <a:gd name="txT" fmla="*/ 0 h 343"/>
                <a:gd name="txR" fmla="*/ 453 w 453"/>
                <a:gd name="txB" fmla="*/ 343 h 343"/>
              </a:gdLst>
              <a:ahLst/>
              <a:cxnLst>
                <a:cxn ang="0">
                  <a:pos x="442" y="310"/>
                </a:cxn>
                <a:cxn ang="0">
                  <a:pos x="442" y="147"/>
                </a:cxn>
                <a:cxn ang="0">
                  <a:pos x="0" y="147"/>
                </a:cxn>
                <a:cxn ang="0">
                  <a:pos x="0" y="0"/>
                </a:cxn>
              </a:cxnLst>
              <a:rect l="txL" t="txT" r="txR" b="txB"/>
              <a:pathLst>
                <a:path w="453" h="343">
                  <a:moveTo>
                    <a:pt x="453" y="343"/>
                  </a:moveTo>
                  <a:lnTo>
                    <a:pt x="453" y="158"/>
                  </a:lnTo>
                  <a:lnTo>
                    <a:pt x="0" y="158"/>
                  </a:lnTo>
                  <a:lnTo>
                    <a:pt x="0" y="0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5" name="Freeform 263"/>
            <p:cNvSpPr>
              <a:spLocks noChangeAspect="1"/>
            </p:cNvSpPr>
            <p:nvPr/>
          </p:nvSpPr>
          <p:spPr>
            <a:xfrm rot="5400000" flipH="1">
              <a:off x="2414" y="3023"/>
              <a:ext cx="35" cy="39"/>
            </a:xfrm>
            <a:custGeom>
              <a:avLst/>
              <a:gdLst>
                <a:gd name="txL" fmla="*/ 0 w 46"/>
                <a:gd name="txT" fmla="*/ 0 h 46"/>
                <a:gd name="txR" fmla="*/ 46 w 46"/>
                <a:gd name="txB" fmla="*/ 46 h 46"/>
              </a:gdLst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2" y="7"/>
                </a:cxn>
              </a:cxnLst>
              <a:rect l="txL" t="txT" r="txR" b="txB"/>
              <a:pathLst>
                <a:path w="46" h="46">
                  <a:moveTo>
                    <a:pt x="46" y="0"/>
                  </a:moveTo>
                  <a:lnTo>
                    <a:pt x="0" y="23"/>
                  </a:lnTo>
                  <a:lnTo>
                    <a:pt x="46" y="46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485" name="Group 261"/>
          <p:cNvGrpSpPr/>
          <p:nvPr/>
        </p:nvGrpSpPr>
        <p:grpSpPr>
          <a:xfrm>
            <a:off x="7847013" y="2846388"/>
            <a:ext cx="292100" cy="1490662"/>
            <a:chOff x="4943" y="1793"/>
            <a:chExt cx="184" cy="939"/>
          </a:xfrm>
        </p:grpSpPr>
        <p:sp>
          <p:nvSpPr>
            <p:cNvPr id="20522" name="Freeform 257"/>
            <p:cNvSpPr/>
            <p:nvPr/>
          </p:nvSpPr>
          <p:spPr>
            <a:xfrm>
              <a:off x="4943" y="1794"/>
              <a:ext cx="163" cy="938"/>
            </a:xfrm>
            <a:custGeom>
              <a:avLst/>
              <a:gdLst>
                <a:gd name="txL" fmla="*/ 0 w 154"/>
                <a:gd name="txT" fmla="*/ 0 h 938"/>
                <a:gd name="txR" fmla="*/ 154 w 154"/>
                <a:gd name="txB" fmla="*/ 938 h 938"/>
              </a:gdLst>
              <a:ahLst/>
              <a:cxnLst>
                <a:cxn ang="0">
                  <a:pos x="288" y="0"/>
                </a:cxn>
                <a:cxn ang="0">
                  <a:pos x="288" y="938"/>
                </a:cxn>
                <a:cxn ang="0">
                  <a:pos x="0" y="938"/>
                </a:cxn>
              </a:cxnLst>
              <a:rect l="txL" t="txT" r="txR" b="txB"/>
              <a:pathLst>
                <a:path w="154" h="938">
                  <a:moveTo>
                    <a:pt x="154" y="0"/>
                  </a:moveTo>
                  <a:lnTo>
                    <a:pt x="154" y="938"/>
                  </a:lnTo>
                  <a:lnTo>
                    <a:pt x="0" y="938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3" name="Freeform 258"/>
            <p:cNvSpPr>
              <a:spLocks noChangeAspect="1"/>
            </p:cNvSpPr>
            <p:nvPr/>
          </p:nvSpPr>
          <p:spPr>
            <a:xfrm rot="-5400000" flipH="1">
              <a:off x="5090" y="1791"/>
              <a:ext cx="35" cy="39"/>
            </a:xfrm>
            <a:custGeom>
              <a:avLst/>
              <a:gdLst>
                <a:gd name="txL" fmla="*/ 0 w 46"/>
                <a:gd name="txT" fmla="*/ 0 h 46"/>
                <a:gd name="txR" fmla="*/ 46 w 46"/>
                <a:gd name="txB" fmla="*/ 46 h 46"/>
              </a:gdLst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2" y="7"/>
                </a:cxn>
              </a:cxnLst>
              <a:rect l="txL" t="txT" r="txR" b="txB"/>
              <a:pathLst>
                <a:path w="46" h="46">
                  <a:moveTo>
                    <a:pt x="46" y="0"/>
                  </a:moveTo>
                  <a:lnTo>
                    <a:pt x="0" y="23"/>
                  </a:lnTo>
                  <a:lnTo>
                    <a:pt x="46" y="46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486" name="Group 259"/>
          <p:cNvGrpSpPr/>
          <p:nvPr/>
        </p:nvGrpSpPr>
        <p:grpSpPr>
          <a:xfrm>
            <a:off x="4089400" y="3743325"/>
            <a:ext cx="1454150" cy="627063"/>
            <a:chOff x="2576" y="2358"/>
            <a:chExt cx="916" cy="395"/>
          </a:xfrm>
        </p:grpSpPr>
        <p:sp>
          <p:nvSpPr>
            <p:cNvPr id="20520" name="Freeform 254"/>
            <p:cNvSpPr/>
            <p:nvPr/>
          </p:nvSpPr>
          <p:spPr>
            <a:xfrm>
              <a:off x="2576" y="2358"/>
              <a:ext cx="912" cy="375"/>
            </a:xfrm>
            <a:custGeom>
              <a:avLst/>
              <a:gdLst>
                <a:gd name="txL" fmla="*/ 0 w 912"/>
                <a:gd name="txT" fmla="*/ 0 h 375"/>
                <a:gd name="txR" fmla="*/ 912 w 912"/>
                <a:gd name="txB" fmla="*/ 375 h 375"/>
              </a:gdLst>
              <a:ahLst/>
              <a:cxnLst>
                <a:cxn ang="0">
                  <a:pos x="912" y="375"/>
                </a:cxn>
                <a:cxn ang="0">
                  <a:pos x="375" y="375"/>
                </a:cxn>
                <a:cxn ang="0">
                  <a:pos x="375" y="0"/>
                </a:cxn>
                <a:cxn ang="0">
                  <a:pos x="0" y="0"/>
                </a:cxn>
              </a:cxnLst>
              <a:rect l="txL" t="txT" r="txR" b="txB"/>
              <a:pathLst>
                <a:path w="912" h="375">
                  <a:moveTo>
                    <a:pt x="912" y="375"/>
                  </a:moveTo>
                  <a:lnTo>
                    <a:pt x="375" y="375"/>
                  </a:lnTo>
                  <a:lnTo>
                    <a:pt x="375" y="0"/>
                  </a:lnTo>
                  <a:lnTo>
                    <a:pt x="0" y="0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1" name="Freeform 255"/>
            <p:cNvSpPr>
              <a:spLocks noChangeAspect="1"/>
            </p:cNvSpPr>
            <p:nvPr/>
          </p:nvSpPr>
          <p:spPr>
            <a:xfrm flipH="1">
              <a:off x="3457" y="2714"/>
              <a:ext cx="35" cy="39"/>
            </a:xfrm>
            <a:custGeom>
              <a:avLst/>
              <a:gdLst>
                <a:gd name="txL" fmla="*/ 0 w 46"/>
                <a:gd name="txT" fmla="*/ 0 h 46"/>
                <a:gd name="txR" fmla="*/ 46 w 46"/>
                <a:gd name="txB" fmla="*/ 46 h 46"/>
              </a:gdLst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2" y="7"/>
                </a:cxn>
              </a:cxnLst>
              <a:rect l="txL" t="txT" r="txR" b="txB"/>
              <a:pathLst>
                <a:path w="46" h="46">
                  <a:moveTo>
                    <a:pt x="46" y="0"/>
                  </a:moveTo>
                  <a:lnTo>
                    <a:pt x="0" y="23"/>
                  </a:lnTo>
                  <a:lnTo>
                    <a:pt x="46" y="46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487" name="Group 253"/>
          <p:cNvGrpSpPr/>
          <p:nvPr/>
        </p:nvGrpSpPr>
        <p:grpSpPr>
          <a:xfrm>
            <a:off x="3117850" y="2846388"/>
            <a:ext cx="61913" cy="433387"/>
            <a:chOff x="1964" y="1793"/>
            <a:chExt cx="39" cy="273"/>
          </a:xfrm>
        </p:grpSpPr>
        <p:sp>
          <p:nvSpPr>
            <p:cNvPr id="20518" name="Line 173"/>
            <p:cNvSpPr/>
            <p:nvPr/>
          </p:nvSpPr>
          <p:spPr>
            <a:xfrm flipV="1">
              <a:off x="1983" y="1795"/>
              <a:ext cx="0" cy="271"/>
            </a:xfrm>
            <a:prstGeom prst="line">
              <a:avLst/>
            </a:prstGeom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19" name="Freeform 252"/>
            <p:cNvSpPr>
              <a:spLocks noChangeAspect="1"/>
            </p:cNvSpPr>
            <p:nvPr/>
          </p:nvSpPr>
          <p:spPr>
            <a:xfrm rot="-5400000" flipH="1">
              <a:off x="1966" y="1791"/>
              <a:ext cx="35" cy="39"/>
            </a:xfrm>
            <a:custGeom>
              <a:avLst/>
              <a:gdLst>
                <a:gd name="txL" fmla="*/ 0 w 46"/>
                <a:gd name="txT" fmla="*/ 0 h 46"/>
                <a:gd name="txR" fmla="*/ 46 w 46"/>
                <a:gd name="txB" fmla="*/ 46 h 46"/>
              </a:gdLst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2" y="7"/>
                </a:cxn>
              </a:cxnLst>
              <a:rect l="txL" t="txT" r="txR" b="txB"/>
              <a:pathLst>
                <a:path w="46" h="46">
                  <a:moveTo>
                    <a:pt x="46" y="0"/>
                  </a:moveTo>
                  <a:lnTo>
                    <a:pt x="0" y="23"/>
                  </a:lnTo>
                  <a:lnTo>
                    <a:pt x="46" y="46"/>
                  </a:ln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0488" name="Line 153"/>
          <p:cNvSpPr/>
          <p:nvPr/>
        </p:nvSpPr>
        <p:spPr>
          <a:xfrm>
            <a:off x="6688138" y="2573338"/>
            <a:ext cx="639762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9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… where is the “interface”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when the ID mechanism changes?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0490" name="Rectangle 27"/>
          <p:cNvSpPr/>
          <p:nvPr/>
        </p:nvSpPr>
        <p:spPr>
          <a:xfrm>
            <a:off x="5561013" y="4044950"/>
            <a:ext cx="2286000" cy="758825"/>
          </a:xfrm>
          <a:prstGeom prst="rect">
            <a:avLst/>
          </a:prstGeom>
          <a:solidFill>
            <a:srgbClr val="FFFFCC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45720" rIns="0" bIns="0"/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                      KeyChecker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+  checkKey(k : Key) : boolean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–  compare(k : Key, sk : Key) : boolean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20491" name="Line 28"/>
          <p:cNvSpPr/>
          <p:nvPr/>
        </p:nvSpPr>
        <p:spPr>
          <a:xfrm>
            <a:off x="5561013" y="4289425"/>
            <a:ext cx="2286000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92" name="Line 69"/>
          <p:cNvSpPr/>
          <p:nvPr/>
        </p:nvSpPr>
        <p:spPr>
          <a:xfrm>
            <a:off x="5561013" y="4381500"/>
            <a:ext cx="2286000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93" name="Rectangle 37"/>
          <p:cNvSpPr/>
          <p:nvPr/>
        </p:nvSpPr>
        <p:spPr>
          <a:xfrm>
            <a:off x="5214938" y="2224088"/>
            <a:ext cx="1471612" cy="882650"/>
          </a:xfrm>
          <a:prstGeom prst="rect">
            <a:avLst/>
          </a:prstGeom>
          <a:solidFill>
            <a:srgbClr val="FFFFCC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rIns="0" bIns="0"/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               Key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altLang="en-US" sz="1000" b="0" dirty="0">
                <a:latin typeface="Arial" panose="020B0604020202020204" pitchFamily="34" charset="0"/>
              </a:rPr>
              <a:t>  code_ : string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altLang="en-US" sz="1000" b="0" dirty="0">
                <a:latin typeface="Arial" panose="020B0604020202020204" pitchFamily="34" charset="0"/>
              </a:rPr>
              <a:t>  timestamp_ : long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altLang="en-US" sz="1000" b="0" dirty="0">
                <a:latin typeface="Arial" panose="020B0604020202020204" pitchFamily="34" charset="0"/>
              </a:rPr>
              <a:t>  doorLocation_ : string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20494" name="Line 71"/>
          <p:cNvSpPr/>
          <p:nvPr/>
        </p:nvSpPr>
        <p:spPr>
          <a:xfrm>
            <a:off x="5214938" y="2470150"/>
            <a:ext cx="1471612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95" name="Line 72"/>
          <p:cNvSpPr/>
          <p:nvPr/>
        </p:nvSpPr>
        <p:spPr>
          <a:xfrm>
            <a:off x="5214938" y="2978150"/>
            <a:ext cx="1471612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96" name="Rectangle 95"/>
          <p:cNvSpPr/>
          <p:nvPr/>
        </p:nvSpPr>
        <p:spPr>
          <a:xfrm>
            <a:off x="7570788" y="2224088"/>
            <a:ext cx="1069975" cy="609600"/>
          </a:xfrm>
          <a:prstGeom prst="rect">
            <a:avLst/>
          </a:prstGeom>
          <a:solidFill>
            <a:srgbClr val="FFFFCC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45720" rIns="0" bIns="0"/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     KeyStorage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+  getNext() : Key 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20497" name="Line 96"/>
          <p:cNvSpPr/>
          <p:nvPr/>
        </p:nvSpPr>
        <p:spPr>
          <a:xfrm flipH="1" flipV="1">
            <a:off x="7570788" y="2466975"/>
            <a:ext cx="106997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98" name="Line 100"/>
          <p:cNvSpPr/>
          <p:nvPr/>
        </p:nvSpPr>
        <p:spPr>
          <a:xfrm>
            <a:off x="7570788" y="2560638"/>
            <a:ext cx="106997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99" name="Rectangle 120"/>
          <p:cNvSpPr/>
          <p:nvPr/>
        </p:nvSpPr>
        <p:spPr>
          <a:xfrm>
            <a:off x="530225" y="5295900"/>
            <a:ext cx="1527175" cy="609600"/>
          </a:xfrm>
          <a:prstGeom prst="rect">
            <a:avLst/>
          </a:prstGeom>
          <a:solidFill>
            <a:srgbClr val="FFFFCC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45720" rIns="0" bIns="0"/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              KeyReader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+  acquireKey() : Key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20500" name="Line 121"/>
          <p:cNvSpPr/>
          <p:nvPr/>
        </p:nvSpPr>
        <p:spPr>
          <a:xfrm>
            <a:off x="530225" y="5540375"/>
            <a:ext cx="152717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01" name="Line 125"/>
          <p:cNvSpPr/>
          <p:nvPr/>
        </p:nvSpPr>
        <p:spPr>
          <a:xfrm>
            <a:off x="530225" y="5632450"/>
            <a:ext cx="152717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02" name="Rectangle 6"/>
          <p:cNvSpPr/>
          <p:nvPr/>
        </p:nvSpPr>
        <p:spPr>
          <a:xfrm>
            <a:off x="2206625" y="3278188"/>
            <a:ext cx="1882775" cy="1033462"/>
          </a:xfrm>
          <a:prstGeom prst="rect">
            <a:avLst/>
          </a:prstGeom>
          <a:solidFill>
            <a:srgbClr val="FFFFCC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rIns="0" bIns="0"/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                Controller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#  numOfAttemps_ : long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#  maxNumOfAttempts_ : long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+  enterKey(k : Key)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–  denyMoreAttempts()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20503" name="Line 7"/>
          <p:cNvSpPr/>
          <p:nvPr/>
        </p:nvSpPr>
        <p:spPr>
          <a:xfrm>
            <a:off x="2206625" y="3522663"/>
            <a:ext cx="188277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04" name="Line 8"/>
          <p:cNvSpPr/>
          <p:nvPr/>
        </p:nvSpPr>
        <p:spPr>
          <a:xfrm>
            <a:off x="2206625" y="3890963"/>
            <a:ext cx="188277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05" name="Text Box 149"/>
          <p:cNvSpPr txBox="1"/>
          <p:nvPr/>
        </p:nvSpPr>
        <p:spPr>
          <a:xfrm>
            <a:off x="3228975" y="2900363"/>
            <a:ext cx="398463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sensor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20506" name="Text Box 152"/>
          <p:cNvSpPr txBox="1"/>
          <p:nvPr/>
        </p:nvSpPr>
        <p:spPr>
          <a:xfrm>
            <a:off x="1393825" y="5033963"/>
            <a:ext cx="387350" cy="15398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reader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20507" name="Text Box 156"/>
          <p:cNvSpPr txBox="1"/>
          <p:nvPr/>
        </p:nvSpPr>
        <p:spPr>
          <a:xfrm>
            <a:off x="7480300" y="2894013"/>
            <a:ext cx="560388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validKeys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20508" name="Text Box 151"/>
          <p:cNvSpPr txBox="1"/>
          <p:nvPr/>
        </p:nvSpPr>
        <p:spPr>
          <a:xfrm>
            <a:off x="3956050" y="4605338"/>
            <a:ext cx="420688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devCtrl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20509" name="Rectangle 13"/>
          <p:cNvSpPr/>
          <p:nvPr/>
        </p:nvSpPr>
        <p:spPr>
          <a:xfrm>
            <a:off x="2808288" y="4873625"/>
            <a:ext cx="2101850" cy="1031875"/>
          </a:xfrm>
          <a:prstGeom prst="rect">
            <a:avLst/>
          </a:prstGeom>
          <a:solidFill>
            <a:srgbClr val="FFFFCC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rIns="0" bIns="0"/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                   DeviceCtrl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#  devStatuses_ : Vector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4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+  activate(dev : string) : boolean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+  deactivate(dev :string) : boolean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+  getStatus(dev : string) : Object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20510" name="Line 163"/>
          <p:cNvSpPr/>
          <p:nvPr/>
        </p:nvSpPr>
        <p:spPr>
          <a:xfrm>
            <a:off x="2808288" y="5119688"/>
            <a:ext cx="2101850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11" name="Line 164"/>
          <p:cNvSpPr/>
          <p:nvPr/>
        </p:nvSpPr>
        <p:spPr>
          <a:xfrm>
            <a:off x="2808288" y="5340350"/>
            <a:ext cx="2101850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12" name="AutoShape 180"/>
          <p:cNvSpPr>
            <a:spLocks noChangeAspect="1"/>
          </p:cNvSpPr>
          <p:nvPr/>
        </p:nvSpPr>
        <p:spPr>
          <a:xfrm rot="5400000">
            <a:off x="7380288" y="2451100"/>
            <a:ext cx="128587" cy="246063"/>
          </a:xfrm>
          <a:prstGeom prst="diamond">
            <a:avLst/>
          </a:prstGeom>
          <a:solidFill>
            <a:schemeClr val="bg1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0513" name="Rectangle 191"/>
          <p:cNvSpPr/>
          <p:nvPr/>
        </p:nvSpPr>
        <p:spPr>
          <a:xfrm>
            <a:off x="2436813" y="2224088"/>
            <a:ext cx="1425575" cy="609600"/>
          </a:xfrm>
          <a:prstGeom prst="rect">
            <a:avLst/>
          </a:prstGeom>
          <a:solidFill>
            <a:srgbClr val="FFFFCC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45720" rIns="0" bIns="0"/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        PhotoSObsrv</a:t>
            </a:r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1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000" b="0" dirty="0">
                <a:latin typeface="Arial" panose="020B0604020202020204" pitchFamily="34" charset="0"/>
              </a:rPr>
              <a:t>+  isDaylight() : boolean 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20514" name="Line 192"/>
          <p:cNvSpPr/>
          <p:nvPr/>
        </p:nvSpPr>
        <p:spPr>
          <a:xfrm>
            <a:off x="2436813" y="2468563"/>
            <a:ext cx="142557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15" name="Line 193"/>
          <p:cNvSpPr/>
          <p:nvPr/>
        </p:nvSpPr>
        <p:spPr>
          <a:xfrm>
            <a:off x="2436813" y="2560638"/>
            <a:ext cx="1425575" cy="0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16" name="Text Box 195"/>
          <p:cNvSpPr txBox="1"/>
          <p:nvPr/>
        </p:nvSpPr>
        <p:spPr>
          <a:xfrm>
            <a:off x="5064125" y="4405313"/>
            <a:ext cx="461963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r" eaLnBrk="1" hangingPunct="1"/>
            <a:r>
              <a:rPr lang="en-US" altLang="en-US" sz="1000" b="0" dirty="0">
                <a:latin typeface="Arial" panose="020B0604020202020204" pitchFamily="34" charset="0"/>
              </a:rPr>
              <a:t>checker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  <p:sp>
        <p:nvSpPr>
          <p:cNvPr id="20517" name="Text Box 273"/>
          <p:cNvSpPr txBox="1"/>
          <p:nvPr/>
        </p:nvSpPr>
        <p:spPr>
          <a:xfrm>
            <a:off x="5051425" y="2849563"/>
            <a:ext cx="82550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r" eaLnBrk="1" hangingPunct="1"/>
            <a:r>
              <a:rPr lang="en-US" altLang="en-US" sz="1000" b="0" dirty="0">
                <a:latin typeface="Arial" panose="020B0604020202020204" pitchFamily="34" charset="0"/>
              </a:rPr>
              <a:t>k</a:t>
            </a:r>
            <a:endParaRPr lang="en-US" altLang="en-US" sz="10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3"/>
          <p:cNvSpPr>
            <a:spLocks noChangeAspect="1"/>
          </p:cNvSpPr>
          <p:nvPr/>
        </p:nvSpPr>
        <p:spPr>
          <a:xfrm>
            <a:off x="2427288" y="4384675"/>
            <a:ext cx="5175250" cy="1444625"/>
          </a:xfrm>
          <a:prstGeom prst="rect">
            <a:avLst/>
          </a:prstGeom>
          <a:solidFill>
            <a:schemeClr val="bg1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en-US" altLang="en-US" b="0" dirty="0">
              <a:latin typeface="Arial" panose="020B0604020202020204" pitchFamily="34" charset="0"/>
            </a:endParaRPr>
          </a:p>
        </p:txBody>
      </p:sp>
      <p:sp>
        <p:nvSpPr>
          <p:cNvPr id="21507" name="Line 15"/>
          <p:cNvSpPr/>
          <p:nvPr/>
        </p:nvSpPr>
        <p:spPr>
          <a:xfrm flipH="1" flipV="1">
            <a:off x="4432300" y="5076825"/>
            <a:ext cx="1192213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21508" name="AutoShape 4"/>
          <p:cNvSpPr>
            <a:spLocks noChangeAspect="1"/>
          </p:cNvSpPr>
          <p:nvPr/>
        </p:nvSpPr>
        <p:spPr>
          <a:xfrm flipV="1">
            <a:off x="2427288" y="4002088"/>
            <a:ext cx="2022475" cy="382587"/>
          </a:xfrm>
          <a:custGeom>
            <a:avLst/>
            <a:gdLst>
              <a:gd name="txL" fmla="*/ 3841 w 21600"/>
              <a:gd name="txT" fmla="*/ 3841 h 21600"/>
              <a:gd name="txR" fmla="*/ 17759 w 21600"/>
              <a:gd name="txB" fmla="*/ 17759 h 21600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21600" h="21600">
                <a:moveTo>
                  <a:pt x="0" y="0"/>
                </a:moveTo>
                <a:lnTo>
                  <a:pt x="4082" y="21600"/>
                </a:lnTo>
                <a:lnTo>
                  <a:pt x="17518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ln w="158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509" name="Rectangle 3"/>
          <p:cNvSpPr>
            <a:spLocks noChangeAspect="1"/>
          </p:cNvSpPr>
          <p:nvPr/>
        </p:nvSpPr>
        <p:spPr>
          <a:xfrm>
            <a:off x="2427288" y="2265363"/>
            <a:ext cx="5175250" cy="1446212"/>
          </a:xfrm>
          <a:prstGeom prst="rect">
            <a:avLst/>
          </a:prstGeom>
          <a:solidFill>
            <a:schemeClr val="bg1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en-US" altLang="en-US" b="0" dirty="0">
              <a:latin typeface="Arial" panose="020B0604020202020204" pitchFamily="34" charset="0"/>
            </a:endParaRPr>
          </a:p>
        </p:txBody>
      </p:sp>
      <p:grpSp>
        <p:nvGrpSpPr>
          <p:cNvPr id="21510" name="Group 2"/>
          <p:cNvGrpSpPr/>
          <p:nvPr/>
        </p:nvGrpSpPr>
        <p:grpSpPr>
          <a:xfrm>
            <a:off x="5580063" y="2468563"/>
            <a:ext cx="1646237" cy="877887"/>
            <a:chOff x="3257822" y="2798534"/>
            <a:chExt cx="1809750" cy="877824"/>
          </a:xfrm>
        </p:grpSpPr>
        <p:sp>
          <p:nvSpPr>
            <p:cNvPr id="21549" name="Rectangle 118"/>
            <p:cNvSpPr/>
            <p:nvPr/>
          </p:nvSpPr>
          <p:spPr>
            <a:xfrm>
              <a:off x="3257822" y="2798534"/>
              <a:ext cx="1809750" cy="877824"/>
            </a:xfrm>
            <a:prstGeom prst="rect">
              <a:avLst/>
            </a:prstGeom>
            <a:solidFill>
              <a:srgbClr val="CCFFCC"/>
            </a:solidFill>
            <a:ln w="222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18288" rIns="0" bIns="0"/>
            <a:p>
              <a:pPr algn="ctr"/>
              <a:r>
                <a:rPr lang="en-US" altLang="en-US" sz="1000" b="0" dirty="0">
                  <a:latin typeface="Arial" panose="020B0604020202020204" pitchFamily="34" charset="0"/>
                </a:rPr>
                <a:t>«interface»</a:t>
              </a:r>
              <a:endParaRPr lang="en-US" altLang="en-US" sz="1000" b="0" dirty="0">
                <a:latin typeface="Arial" panose="020B0604020202020204" pitchFamily="34" charset="0"/>
              </a:endParaRPr>
            </a:p>
            <a:p>
              <a:pPr algn="ctr"/>
              <a:r>
                <a:rPr lang="en-US" altLang="en-US" sz="1000" b="0" dirty="0">
                  <a:latin typeface="Arial" panose="020B0604020202020204" pitchFamily="34" charset="0"/>
                </a:rPr>
                <a:t>KeyValidityCheckInterface</a:t>
              </a:r>
              <a:endParaRPr lang="en-US" altLang="en-US" sz="1000" b="0" dirty="0">
                <a:latin typeface="Arial" panose="020B0604020202020204" pitchFamily="34" charset="0"/>
              </a:endParaRPr>
            </a:p>
            <a:p>
              <a:pPr algn="ctr"/>
              <a:endParaRPr lang="en-US" altLang="en-US" sz="1000" b="0" dirty="0">
                <a:latin typeface="Arial" panose="020B0604020202020204" pitchFamily="34" charset="0"/>
              </a:endParaRPr>
            </a:p>
            <a:p>
              <a:pPr algn="ctr"/>
              <a:endParaRPr lang="en-US" altLang="en-US" sz="1000" b="0" dirty="0">
                <a:latin typeface="Arial" panose="020B0604020202020204" pitchFamily="34" charset="0"/>
              </a:endParaRPr>
            </a:p>
            <a:p>
              <a:pPr algn="ctr"/>
              <a:r>
                <a:rPr lang="en-US" altLang="en-US" sz="1000" b="0" dirty="0">
                  <a:latin typeface="Arial" panose="020B0604020202020204" pitchFamily="34" charset="0"/>
                </a:rPr>
                <a:t>checkKey(k: Key) : Enum</a:t>
              </a:r>
              <a:endParaRPr lang="en-US" altLang="en-US" sz="1000" b="0" dirty="0">
                <a:latin typeface="Arial" panose="020B0604020202020204" pitchFamily="34" charset="0"/>
              </a:endParaRPr>
            </a:p>
          </p:txBody>
        </p:sp>
        <p:sp>
          <p:nvSpPr>
            <p:cNvPr id="21550" name="Line 119"/>
            <p:cNvSpPr/>
            <p:nvPr/>
          </p:nvSpPr>
          <p:spPr>
            <a:xfrm>
              <a:off x="3257822" y="3198521"/>
              <a:ext cx="1809750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51" name="Line 120"/>
            <p:cNvSpPr/>
            <p:nvPr/>
          </p:nvSpPr>
          <p:spPr>
            <a:xfrm>
              <a:off x="3257822" y="3376208"/>
              <a:ext cx="1809750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1511" name="Slide Number Placeholder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  <p:sp>
        <p:nvSpPr>
          <p:cNvPr id="2151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Dependency Inversion Pattern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1513" name="Text Box 225"/>
          <p:cNvSpPr txBox="1"/>
          <p:nvPr/>
        </p:nvSpPr>
        <p:spPr>
          <a:xfrm>
            <a:off x="85725" y="1514475"/>
            <a:ext cx="1770063" cy="30797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Package diagram</a:t>
            </a:r>
            <a:endParaRPr lang="en-US" altLang="en-US" sz="20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1514" name="AutoShape 4"/>
          <p:cNvSpPr>
            <a:spLocks noChangeAspect="1"/>
          </p:cNvSpPr>
          <p:nvPr/>
        </p:nvSpPr>
        <p:spPr>
          <a:xfrm flipV="1">
            <a:off x="2427288" y="1884363"/>
            <a:ext cx="2022475" cy="381000"/>
          </a:xfrm>
          <a:custGeom>
            <a:avLst/>
            <a:gdLst>
              <a:gd name="txL" fmla="*/ 3841 w 21600"/>
              <a:gd name="txT" fmla="*/ 3841 h 21600"/>
              <a:gd name="txR" fmla="*/ 17759 w 21600"/>
              <a:gd name="txB" fmla="*/ 17759 h 21600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21600" h="21600">
                <a:moveTo>
                  <a:pt x="0" y="0"/>
                </a:moveTo>
                <a:lnTo>
                  <a:pt x="4082" y="21600"/>
                </a:lnTo>
                <a:lnTo>
                  <a:pt x="17518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ln w="158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515" name="Rectangle 24"/>
          <p:cNvSpPr/>
          <p:nvPr/>
        </p:nvSpPr>
        <p:spPr>
          <a:xfrm>
            <a:off x="2870200" y="1976438"/>
            <a:ext cx="1136650" cy="18573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en-US" sz="1200" dirty="0">
                <a:latin typeface="Arial" panose="020B0604020202020204" pitchFamily="34" charset="0"/>
              </a:rPr>
              <a:t>Policy Package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cxnSp>
        <p:nvCxnSpPr>
          <p:cNvPr id="21516" name="AutoShape 57"/>
          <p:cNvCxnSpPr/>
          <p:nvPr/>
        </p:nvCxnSpPr>
        <p:spPr>
          <a:xfrm>
            <a:off x="6402388" y="3516313"/>
            <a:ext cx="0" cy="1211262"/>
          </a:xfrm>
          <a:prstGeom prst="straightConnector1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21517" name="Group 3"/>
          <p:cNvGrpSpPr/>
          <p:nvPr/>
        </p:nvGrpSpPr>
        <p:grpSpPr>
          <a:xfrm>
            <a:off x="2624138" y="2624138"/>
            <a:ext cx="1646237" cy="722312"/>
            <a:chOff x="1718581" y="2954046"/>
            <a:chExt cx="1645206" cy="722312"/>
          </a:xfrm>
        </p:grpSpPr>
        <p:sp>
          <p:nvSpPr>
            <p:cNvPr id="21546" name="Rectangle 29"/>
            <p:cNvSpPr/>
            <p:nvPr/>
          </p:nvSpPr>
          <p:spPr>
            <a:xfrm>
              <a:off x="1718581" y="2954046"/>
              <a:ext cx="1645206" cy="722312"/>
            </a:xfrm>
            <a:prstGeom prst="rect">
              <a:avLst/>
            </a:prstGeom>
            <a:solidFill>
              <a:srgbClr val="FFFFCC"/>
            </a:solidFill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rIns="0" bIns="0"/>
            <a:p>
              <a:r>
                <a:rPr lang="en-US" altLang="en-US" sz="1000" b="0" dirty="0">
                  <a:latin typeface="Arial" panose="020B0604020202020204" pitchFamily="34" charset="0"/>
                </a:rPr>
                <a:t>client : DoorPolicyControl</a:t>
              </a:r>
              <a:endParaRPr lang="en-US" altLang="en-US" sz="1000" b="0" dirty="0">
                <a:latin typeface="Arial" panose="020B0604020202020204" pitchFamily="34" charset="0"/>
              </a:endParaRPr>
            </a:p>
            <a:p>
              <a:endParaRPr lang="en-US" altLang="en-US" sz="1000" b="0" dirty="0">
                <a:latin typeface="Arial" panose="020B0604020202020204" pitchFamily="34" charset="0"/>
              </a:endParaRPr>
            </a:p>
          </p:txBody>
        </p:sp>
        <p:sp>
          <p:nvSpPr>
            <p:cNvPr id="21547" name="Line 30"/>
            <p:cNvSpPr/>
            <p:nvPr/>
          </p:nvSpPr>
          <p:spPr>
            <a:xfrm>
              <a:off x="1718581" y="3198521"/>
              <a:ext cx="1645206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8" name="Line 31"/>
            <p:cNvSpPr/>
            <p:nvPr/>
          </p:nvSpPr>
          <p:spPr>
            <a:xfrm>
              <a:off x="1718581" y="3376208"/>
              <a:ext cx="1645206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1518" name="AutoShape 42"/>
          <p:cNvSpPr/>
          <p:nvPr/>
        </p:nvSpPr>
        <p:spPr>
          <a:xfrm>
            <a:off x="6326188" y="3363913"/>
            <a:ext cx="152400" cy="1524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1519" name="Line 15"/>
          <p:cNvSpPr/>
          <p:nvPr/>
        </p:nvSpPr>
        <p:spPr>
          <a:xfrm flipV="1">
            <a:off x="4270375" y="2938463"/>
            <a:ext cx="1298575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21520" name="Text Box 226"/>
          <p:cNvSpPr txBox="1"/>
          <p:nvPr/>
        </p:nvSpPr>
        <p:spPr>
          <a:xfrm>
            <a:off x="4451350" y="2538413"/>
            <a:ext cx="763588" cy="33813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1100" b="0" dirty="0">
                <a:latin typeface="Arial" panose="020B0604020202020204" pitchFamily="34" charset="0"/>
              </a:rPr>
              <a:t>depends-on</a:t>
            </a:r>
            <a:endParaRPr lang="en-US" altLang="en-US" sz="1100" b="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100" b="0" dirty="0">
                <a:latin typeface="Arial" panose="020B0604020202020204" pitchFamily="34" charset="0"/>
              </a:rPr>
              <a:t>(«uses»)</a:t>
            </a:r>
            <a:endParaRPr lang="en-US" altLang="en-US" sz="1100" b="0" dirty="0">
              <a:latin typeface="Arial" panose="020B0604020202020204" pitchFamily="34" charset="0"/>
            </a:endParaRPr>
          </a:p>
        </p:txBody>
      </p:sp>
      <p:sp>
        <p:nvSpPr>
          <p:cNvPr id="21521" name="Text Box 226"/>
          <p:cNvSpPr txBox="1"/>
          <p:nvPr/>
        </p:nvSpPr>
        <p:spPr>
          <a:xfrm>
            <a:off x="6491288" y="3857625"/>
            <a:ext cx="989012" cy="338138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1100" b="0" dirty="0">
                <a:latin typeface="Arial" panose="020B0604020202020204" pitchFamily="34" charset="0"/>
              </a:rPr>
              <a:t>depends-on</a:t>
            </a:r>
            <a:endParaRPr lang="en-US" altLang="en-US" sz="1100" b="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100" b="0" dirty="0">
                <a:latin typeface="Arial" panose="020B0604020202020204" pitchFamily="34" charset="0"/>
              </a:rPr>
              <a:t>(«implements»)</a:t>
            </a:r>
            <a:endParaRPr lang="en-US" altLang="en-US" sz="1100" b="0" dirty="0">
              <a:latin typeface="Arial" panose="020B0604020202020204" pitchFamily="34" charset="0"/>
            </a:endParaRPr>
          </a:p>
        </p:txBody>
      </p:sp>
      <p:sp>
        <p:nvSpPr>
          <p:cNvPr id="21522" name="Rectangle 24"/>
          <p:cNvSpPr/>
          <p:nvPr/>
        </p:nvSpPr>
        <p:spPr>
          <a:xfrm>
            <a:off x="2695575" y="4095750"/>
            <a:ext cx="1520825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en-US" sz="1200" dirty="0">
                <a:latin typeface="Arial" panose="020B0604020202020204" pitchFamily="34" charset="0"/>
              </a:rPr>
              <a:t>Mechanism Package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21523" name="Text Box 76"/>
          <p:cNvSpPr txBox="1"/>
          <p:nvPr/>
        </p:nvSpPr>
        <p:spPr>
          <a:xfrm>
            <a:off x="103188" y="5995988"/>
            <a:ext cx="8651875" cy="601662"/>
          </a:xfrm>
          <a:prstGeom prst="rect">
            <a:avLst/>
          </a:prstGeom>
          <a:noFill/>
          <a:ln w="9525">
            <a:noFill/>
          </a:ln>
        </p:spPr>
        <p:txBody>
          <a:bodyPr lIns="9144" tIns="0" rIns="9144" bIns="0">
            <a:spAutoFit/>
          </a:bodyPr>
          <a:p>
            <a:pPr marL="285750" indent="-285750" eaLnBrk="1" hangingPunct="1">
              <a:lnSpc>
                <a:spcPct val="110000"/>
              </a:lnSpc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Previous solution:  Intrusion detection mechanism was entangled with door policy and hidden</a:t>
            </a:r>
            <a:endParaRPr lang="en-US" altLang="en-US" sz="16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1" hangingPunct="1">
              <a:lnSpc>
                <a:spcPct val="150000"/>
              </a:lnSpc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Current solution:  Intrusion detection </a:t>
            </a:r>
            <a:r>
              <a:rPr lang="en-US" alt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mechanism</a:t>
            </a: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 moved from Policy Level to Mechanism Level</a:t>
            </a:r>
            <a:endParaRPr lang="en-US" altLang="en-US" sz="16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pSp>
        <p:nvGrpSpPr>
          <p:cNvPr id="21524" name="Group 84"/>
          <p:cNvGrpSpPr>
            <a:grpSpLocks noChangeAspect="1"/>
          </p:cNvGrpSpPr>
          <p:nvPr/>
        </p:nvGrpSpPr>
        <p:grpSpPr>
          <a:xfrm>
            <a:off x="1363663" y="2170113"/>
            <a:ext cx="546100" cy="1281112"/>
            <a:chOff x="4960619" y="3536834"/>
            <a:chExt cx="1242336" cy="2918714"/>
          </a:xfrm>
        </p:grpSpPr>
        <p:sp>
          <p:nvSpPr>
            <p:cNvPr id="21544" name="Oval 11"/>
            <p:cNvSpPr>
              <a:spLocks noChangeAspect="1"/>
            </p:cNvSpPr>
            <p:nvPr/>
          </p:nvSpPr>
          <p:spPr>
            <a:xfrm>
              <a:off x="5288873" y="3536834"/>
              <a:ext cx="544933" cy="545190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545" name="Freeform 10"/>
            <p:cNvSpPr>
              <a:spLocks noChangeAspect="1"/>
            </p:cNvSpPr>
            <p:nvPr/>
          </p:nvSpPr>
          <p:spPr>
            <a:xfrm>
              <a:off x="4960619" y="4131696"/>
              <a:ext cx="1242336" cy="2323852"/>
            </a:xfrm>
            <a:custGeom>
              <a:avLst/>
              <a:gdLst>
                <a:gd name="txL" fmla="*/ 0 w 10004"/>
                <a:gd name="txT" fmla="*/ 0 h 10318"/>
                <a:gd name="txR" fmla="*/ 10004 w 10004"/>
                <a:gd name="txB" fmla="*/ 10318 h 10318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004" h="10318">
                  <a:moveTo>
                    <a:pt x="1" y="4466"/>
                  </a:moveTo>
                  <a:lnTo>
                    <a:pt x="780" y="1548"/>
                  </a:lnTo>
                  <a:cubicBezTo>
                    <a:pt x="1044" y="490"/>
                    <a:pt x="1901" y="66"/>
                    <a:pt x="3240" y="1"/>
                  </a:cubicBezTo>
                  <a:lnTo>
                    <a:pt x="6756" y="1"/>
                  </a:lnTo>
                  <a:cubicBezTo>
                    <a:pt x="8157" y="-7"/>
                    <a:pt x="8865" y="494"/>
                    <a:pt x="9154" y="1322"/>
                  </a:cubicBezTo>
                  <a:lnTo>
                    <a:pt x="9999" y="4368"/>
                  </a:lnTo>
                  <a:cubicBezTo>
                    <a:pt x="10045" y="4671"/>
                    <a:pt x="9786" y="4867"/>
                    <a:pt x="9257" y="4916"/>
                  </a:cubicBezTo>
                  <a:cubicBezTo>
                    <a:pt x="8728" y="4965"/>
                    <a:pt x="8364" y="4841"/>
                    <a:pt x="8204" y="4470"/>
                  </a:cubicBezTo>
                  <a:lnTo>
                    <a:pt x="7590" y="1775"/>
                  </a:lnTo>
                  <a:cubicBezTo>
                    <a:pt x="7544" y="1691"/>
                    <a:pt x="7345" y="1617"/>
                    <a:pt x="7357" y="1778"/>
                  </a:cubicBezTo>
                  <a:cubicBezTo>
                    <a:pt x="7363" y="2759"/>
                    <a:pt x="7313" y="3094"/>
                    <a:pt x="7319" y="4076"/>
                  </a:cubicBezTo>
                  <a:cubicBezTo>
                    <a:pt x="7483" y="5924"/>
                    <a:pt x="7646" y="7686"/>
                    <a:pt x="7810" y="9534"/>
                  </a:cubicBezTo>
                  <a:cubicBezTo>
                    <a:pt x="7832" y="10101"/>
                    <a:pt x="6920" y="10277"/>
                    <a:pt x="6516" y="10275"/>
                  </a:cubicBezTo>
                  <a:cubicBezTo>
                    <a:pt x="6112" y="10273"/>
                    <a:pt x="5434" y="10180"/>
                    <a:pt x="5383" y="9524"/>
                  </a:cubicBezTo>
                  <a:cubicBezTo>
                    <a:pt x="5268" y="7988"/>
                    <a:pt x="5154" y="6451"/>
                    <a:pt x="5039" y="4915"/>
                  </a:cubicBezTo>
                  <a:cubicBezTo>
                    <a:pt x="5043" y="4729"/>
                    <a:pt x="4828" y="4726"/>
                    <a:pt x="4832" y="4919"/>
                  </a:cubicBezTo>
                  <a:cubicBezTo>
                    <a:pt x="4730" y="6454"/>
                    <a:pt x="4742" y="7999"/>
                    <a:pt x="4640" y="9534"/>
                  </a:cubicBezTo>
                  <a:cubicBezTo>
                    <a:pt x="4614" y="10119"/>
                    <a:pt x="3821" y="10309"/>
                    <a:pt x="3409" y="10318"/>
                  </a:cubicBezTo>
                  <a:cubicBezTo>
                    <a:pt x="2997" y="10327"/>
                    <a:pt x="2165" y="10191"/>
                    <a:pt x="2167" y="9588"/>
                  </a:cubicBezTo>
                  <a:cubicBezTo>
                    <a:pt x="2352" y="7744"/>
                    <a:pt x="2519" y="6028"/>
                    <a:pt x="2704" y="4184"/>
                  </a:cubicBezTo>
                  <a:cubicBezTo>
                    <a:pt x="2703" y="3004"/>
                    <a:pt x="2644" y="2912"/>
                    <a:pt x="2643" y="1732"/>
                  </a:cubicBezTo>
                  <a:cubicBezTo>
                    <a:pt x="2639" y="1663"/>
                    <a:pt x="2517" y="1568"/>
                    <a:pt x="2453" y="1759"/>
                  </a:cubicBezTo>
                  <a:cubicBezTo>
                    <a:pt x="2263" y="2804"/>
                    <a:pt x="1977" y="3446"/>
                    <a:pt x="1786" y="4491"/>
                  </a:cubicBezTo>
                  <a:cubicBezTo>
                    <a:pt x="1636" y="4858"/>
                    <a:pt x="1177" y="4934"/>
                    <a:pt x="782" y="4936"/>
                  </a:cubicBezTo>
                  <a:cubicBezTo>
                    <a:pt x="387" y="4938"/>
                    <a:pt x="-26" y="4707"/>
                    <a:pt x="1" y="4466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1525" name="Text Box 103"/>
          <p:cNvSpPr txBox="1">
            <a:spLocks noChangeAspect="1"/>
          </p:cNvSpPr>
          <p:nvPr/>
        </p:nvSpPr>
        <p:spPr>
          <a:xfrm>
            <a:off x="1276350" y="3506788"/>
            <a:ext cx="760413" cy="1698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100" b="0" dirty="0">
                <a:latin typeface="Arial" panose="020B0604020202020204" pitchFamily="34" charset="0"/>
              </a:rPr>
              <a:t>developer </a:t>
            </a:r>
            <a:r>
              <a:rPr lang="en-US" altLang="en-US" sz="1100" dirty="0">
                <a:latin typeface="Arial" panose="020B0604020202020204" pitchFamily="34" charset="0"/>
              </a:rPr>
              <a:t>A</a:t>
            </a:r>
            <a:endParaRPr lang="en-US" altLang="en-US" sz="1100" dirty="0">
              <a:latin typeface="Arial" panose="020B0604020202020204" pitchFamily="34" charset="0"/>
            </a:endParaRPr>
          </a:p>
        </p:txBody>
      </p:sp>
      <p:grpSp>
        <p:nvGrpSpPr>
          <p:cNvPr id="21526" name="Group 84"/>
          <p:cNvGrpSpPr>
            <a:grpSpLocks noChangeAspect="1"/>
          </p:cNvGrpSpPr>
          <p:nvPr/>
        </p:nvGrpSpPr>
        <p:grpSpPr>
          <a:xfrm>
            <a:off x="1360488" y="4205288"/>
            <a:ext cx="546100" cy="1279525"/>
            <a:chOff x="4960619" y="3536834"/>
            <a:chExt cx="1242336" cy="2918714"/>
          </a:xfrm>
        </p:grpSpPr>
        <p:sp>
          <p:nvSpPr>
            <p:cNvPr id="21542" name="Oval 11"/>
            <p:cNvSpPr>
              <a:spLocks noChangeAspect="1"/>
            </p:cNvSpPr>
            <p:nvPr/>
          </p:nvSpPr>
          <p:spPr>
            <a:xfrm>
              <a:off x="5288873" y="3536834"/>
              <a:ext cx="544933" cy="545190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1543" name="Freeform 10"/>
            <p:cNvSpPr>
              <a:spLocks noChangeAspect="1"/>
            </p:cNvSpPr>
            <p:nvPr/>
          </p:nvSpPr>
          <p:spPr>
            <a:xfrm>
              <a:off x="4960619" y="4131696"/>
              <a:ext cx="1242336" cy="2323852"/>
            </a:xfrm>
            <a:custGeom>
              <a:avLst/>
              <a:gdLst>
                <a:gd name="txL" fmla="*/ 0 w 10004"/>
                <a:gd name="txT" fmla="*/ 0 h 10318"/>
                <a:gd name="txR" fmla="*/ 10004 w 10004"/>
                <a:gd name="txB" fmla="*/ 10318 h 10318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004" h="10318">
                  <a:moveTo>
                    <a:pt x="1" y="4466"/>
                  </a:moveTo>
                  <a:lnTo>
                    <a:pt x="780" y="1548"/>
                  </a:lnTo>
                  <a:cubicBezTo>
                    <a:pt x="1044" y="490"/>
                    <a:pt x="1901" y="66"/>
                    <a:pt x="3240" y="1"/>
                  </a:cubicBezTo>
                  <a:lnTo>
                    <a:pt x="6756" y="1"/>
                  </a:lnTo>
                  <a:cubicBezTo>
                    <a:pt x="8157" y="-7"/>
                    <a:pt x="8865" y="494"/>
                    <a:pt x="9154" y="1322"/>
                  </a:cubicBezTo>
                  <a:lnTo>
                    <a:pt x="9999" y="4368"/>
                  </a:lnTo>
                  <a:cubicBezTo>
                    <a:pt x="10045" y="4671"/>
                    <a:pt x="9786" y="4867"/>
                    <a:pt x="9257" y="4916"/>
                  </a:cubicBezTo>
                  <a:cubicBezTo>
                    <a:pt x="8728" y="4965"/>
                    <a:pt x="8364" y="4841"/>
                    <a:pt x="8204" y="4470"/>
                  </a:cubicBezTo>
                  <a:lnTo>
                    <a:pt x="7590" y="1775"/>
                  </a:lnTo>
                  <a:cubicBezTo>
                    <a:pt x="7544" y="1691"/>
                    <a:pt x="7345" y="1617"/>
                    <a:pt x="7357" y="1778"/>
                  </a:cubicBezTo>
                  <a:cubicBezTo>
                    <a:pt x="7363" y="2759"/>
                    <a:pt x="7313" y="3094"/>
                    <a:pt x="7319" y="4076"/>
                  </a:cubicBezTo>
                  <a:cubicBezTo>
                    <a:pt x="7483" y="5924"/>
                    <a:pt x="7646" y="7686"/>
                    <a:pt x="7810" y="9534"/>
                  </a:cubicBezTo>
                  <a:cubicBezTo>
                    <a:pt x="7832" y="10101"/>
                    <a:pt x="6920" y="10277"/>
                    <a:pt x="6516" y="10275"/>
                  </a:cubicBezTo>
                  <a:cubicBezTo>
                    <a:pt x="6112" y="10273"/>
                    <a:pt x="5434" y="10180"/>
                    <a:pt x="5383" y="9524"/>
                  </a:cubicBezTo>
                  <a:cubicBezTo>
                    <a:pt x="5268" y="7988"/>
                    <a:pt x="5154" y="6451"/>
                    <a:pt x="5039" y="4915"/>
                  </a:cubicBezTo>
                  <a:cubicBezTo>
                    <a:pt x="5043" y="4729"/>
                    <a:pt x="4828" y="4726"/>
                    <a:pt x="4832" y="4919"/>
                  </a:cubicBezTo>
                  <a:cubicBezTo>
                    <a:pt x="4730" y="6454"/>
                    <a:pt x="4742" y="7999"/>
                    <a:pt x="4640" y="9534"/>
                  </a:cubicBezTo>
                  <a:cubicBezTo>
                    <a:pt x="4614" y="10119"/>
                    <a:pt x="3821" y="10309"/>
                    <a:pt x="3409" y="10318"/>
                  </a:cubicBezTo>
                  <a:cubicBezTo>
                    <a:pt x="2997" y="10327"/>
                    <a:pt x="2165" y="10191"/>
                    <a:pt x="2167" y="9588"/>
                  </a:cubicBezTo>
                  <a:cubicBezTo>
                    <a:pt x="2352" y="7744"/>
                    <a:pt x="2519" y="6028"/>
                    <a:pt x="2704" y="4184"/>
                  </a:cubicBezTo>
                  <a:cubicBezTo>
                    <a:pt x="2703" y="3004"/>
                    <a:pt x="2644" y="2912"/>
                    <a:pt x="2643" y="1732"/>
                  </a:cubicBezTo>
                  <a:cubicBezTo>
                    <a:pt x="2639" y="1663"/>
                    <a:pt x="2517" y="1568"/>
                    <a:pt x="2453" y="1759"/>
                  </a:cubicBezTo>
                  <a:cubicBezTo>
                    <a:pt x="2263" y="2804"/>
                    <a:pt x="1977" y="3446"/>
                    <a:pt x="1786" y="4491"/>
                  </a:cubicBezTo>
                  <a:cubicBezTo>
                    <a:pt x="1636" y="4858"/>
                    <a:pt x="1177" y="4934"/>
                    <a:pt x="782" y="4936"/>
                  </a:cubicBezTo>
                  <a:cubicBezTo>
                    <a:pt x="387" y="4938"/>
                    <a:pt x="-26" y="4707"/>
                    <a:pt x="1" y="4466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1527" name="Text Box 103"/>
          <p:cNvSpPr txBox="1">
            <a:spLocks noChangeAspect="1"/>
          </p:cNvSpPr>
          <p:nvPr/>
        </p:nvSpPr>
        <p:spPr>
          <a:xfrm>
            <a:off x="1271588" y="5540375"/>
            <a:ext cx="762000" cy="1698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100" b="0" dirty="0">
                <a:latin typeface="Arial" panose="020B0604020202020204" pitchFamily="34" charset="0"/>
              </a:rPr>
              <a:t>developer </a:t>
            </a:r>
            <a:r>
              <a:rPr lang="en-US" altLang="en-US" sz="1100" dirty="0">
                <a:latin typeface="Arial" panose="020B0604020202020204" pitchFamily="34" charset="0"/>
              </a:rPr>
              <a:t>B</a:t>
            </a:r>
            <a:endParaRPr lang="en-US" altLang="en-US" sz="1100" dirty="0">
              <a:latin typeface="Arial" panose="020B0604020202020204" pitchFamily="34" charset="0"/>
            </a:endParaRPr>
          </a:p>
        </p:txBody>
      </p:sp>
      <p:cxnSp>
        <p:nvCxnSpPr>
          <p:cNvPr id="21528" name="Straight Arrow Connector 2"/>
          <p:cNvCxnSpPr/>
          <p:nvPr/>
        </p:nvCxnSpPr>
        <p:spPr>
          <a:xfrm flipV="1">
            <a:off x="7137400" y="2876550"/>
            <a:ext cx="738188" cy="352425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sysDash"/>
            <a:headEnd type="none" w="med" len="med"/>
            <a:tailEnd type="stealth" w="lg" len="lg"/>
          </a:ln>
        </p:spPr>
      </p:cxnSp>
      <p:sp>
        <p:nvSpPr>
          <p:cNvPr id="21529" name="Text Box 226"/>
          <p:cNvSpPr txBox="1"/>
          <p:nvPr/>
        </p:nvSpPr>
        <p:spPr>
          <a:xfrm>
            <a:off x="7967663" y="2727325"/>
            <a:ext cx="641350" cy="554038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1200" b="0" dirty="0">
                <a:latin typeface="Arial" panose="020B0604020202020204" pitchFamily="34" charset="0"/>
              </a:rPr>
              <a:t>- valid</a:t>
            </a:r>
            <a:endParaRPr lang="en-US" altLang="en-US" sz="12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200" b="0" dirty="0">
                <a:latin typeface="Arial" panose="020B0604020202020204" pitchFamily="34" charset="0"/>
              </a:rPr>
              <a:t>- invalid</a:t>
            </a:r>
            <a:endParaRPr lang="en-US" altLang="en-US" sz="12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200" b="0" dirty="0">
                <a:latin typeface="Arial" panose="020B0604020202020204" pitchFamily="34" charset="0"/>
              </a:rPr>
              <a:t>- intruder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cxnSp>
        <p:nvCxnSpPr>
          <p:cNvPr id="21530" name="Straight Connector 5"/>
          <p:cNvCxnSpPr/>
          <p:nvPr/>
        </p:nvCxnSpPr>
        <p:spPr>
          <a:xfrm>
            <a:off x="1906588" y="6665913"/>
            <a:ext cx="6510337" cy="4762"/>
          </a:xfrm>
          <a:prstGeom prst="line">
            <a:avLst/>
          </a:prstGeom>
          <a:ln w="317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1531" name="Straight Connector 2"/>
          <p:cNvCxnSpPr/>
          <p:nvPr/>
        </p:nvCxnSpPr>
        <p:spPr>
          <a:xfrm>
            <a:off x="6088063" y="2265363"/>
            <a:ext cx="361950" cy="0"/>
          </a:xfrm>
          <a:prstGeom prst="line">
            <a:avLst/>
          </a:prstGeom>
          <a:ln w="5715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1532" name="Freeform 64"/>
          <p:cNvSpPr/>
          <p:nvPr/>
        </p:nvSpPr>
        <p:spPr>
          <a:xfrm>
            <a:off x="5675313" y="2073275"/>
            <a:ext cx="779462" cy="366713"/>
          </a:xfrm>
          <a:custGeom>
            <a:avLst/>
            <a:gdLst>
              <a:gd name="txL" fmla="*/ 0 w 11250"/>
              <a:gd name="txT" fmla="*/ 0 h 10489"/>
              <a:gd name="txR" fmla="*/ 11250 w 11250"/>
              <a:gd name="txB" fmla="*/ 10489 h 10489"/>
            </a:gdLst>
            <a:ahLst/>
            <a:cxnLst>
              <a:cxn ang="0">
                <a:pos x="5986199" y="0"/>
              </a:cxn>
              <a:cxn ang="0">
                <a:pos x="1444315840" y="311444211"/>
              </a:cxn>
              <a:cxn ang="0">
                <a:pos x="2147483647" y="447497935"/>
              </a:cxn>
            </a:cxnLst>
            <a:rect l="txL" t="txT" r="txR" b="txB"/>
            <a:pathLst>
              <a:path w="11250" h="10489">
                <a:moveTo>
                  <a:pt x="18" y="0"/>
                </a:moveTo>
                <a:cubicBezTo>
                  <a:pt x="17" y="3708"/>
                  <a:pt x="-520" y="10442"/>
                  <a:pt x="4344" y="7300"/>
                </a:cubicBezTo>
                <a:cubicBezTo>
                  <a:pt x="9208" y="4158"/>
                  <a:pt x="10349" y="1943"/>
                  <a:pt x="11250" y="10489"/>
                </a:cubicBezTo>
              </a:path>
            </a:pathLst>
          </a:custGeom>
          <a:noFill/>
          <a:ln w="63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533" name="Text Box 226"/>
          <p:cNvSpPr txBox="1"/>
          <p:nvPr/>
        </p:nvSpPr>
        <p:spPr>
          <a:xfrm>
            <a:off x="5311775" y="1819275"/>
            <a:ext cx="2274888" cy="369888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Defined by policy-package owner</a:t>
            </a:r>
            <a:endParaRPr lang="en-US" altLang="en-US" sz="1200" b="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200" b="0" dirty="0">
                <a:latin typeface="Arial" panose="020B0604020202020204" pitchFamily="34" charset="0"/>
              </a:rPr>
              <a:t>(developer </a:t>
            </a:r>
            <a:r>
              <a:rPr lang="en-US" altLang="en-US" sz="1200" dirty="0">
                <a:latin typeface="Arial" panose="020B0604020202020204" pitchFamily="34" charset="0"/>
              </a:rPr>
              <a:t>A</a:t>
            </a:r>
            <a:r>
              <a:rPr lang="en-US" altLang="en-US" sz="1200" b="0" dirty="0">
                <a:latin typeface="Arial" panose="020B0604020202020204" pitchFamily="34" charset="0"/>
              </a:rPr>
              <a:t>)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grpSp>
        <p:nvGrpSpPr>
          <p:cNvPr id="21534" name="Group 4"/>
          <p:cNvGrpSpPr/>
          <p:nvPr/>
        </p:nvGrpSpPr>
        <p:grpSpPr>
          <a:xfrm>
            <a:off x="5624513" y="4727575"/>
            <a:ext cx="1692275" cy="722313"/>
            <a:chOff x="4018552" y="5130439"/>
            <a:chExt cx="1463040" cy="722312"/>
          </a:xfrm>
        </p:grpSpPr>
        <p:sp>
          <p:nvSpPr>
            <p:cNvPr id="21539" name="Rectangle 29"/>
            <p:cNvSpPr/>
            <p:nvPr/>
          </p:nvSpPr>
          <p:spPr>
            <a:xfrm>
              <a:off x="4018552" y="5130439"/>
              <a:ext cx="1463040" cy="722312"/>
            </a:xfrm>
            <a:prstGeom prst="rect">
              <a:avLst/>
            </a:prstGeom>
            <a:solidFill>
              <a:srgbClr val="FFFFCC"/>
            </a:solidFill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rIns="0" bIns="0"/>
            <a:p>
              <a:r>
                <a:rPr lang="en-US" altLang="en-US" sz="1000" b="0" dirty="0">
                  <a:latin typeface="Arial" panose="020B0604020202020204" pitchFamily="34" charset="0"/>
                </a:rPr>
                <a:t>server : KeyValidityChecker</a:t>
              </a:r>
              <a:endParaRPr lang="en-US" altLang="en-US" sz="1000" b="0" dirty="0">
                <a:latin typeface="Arial" panose="020B0604020202020204" pitchFamily="34" charset="0"/>
              </a:endParaRPr>
            </a:p>
            <a:p>
              <a:endParaRPr lang="en-US" altLang="en-US" sz="1000" b="0" dirty="0">
                <a:latin typeface="Arial" panose="020B0604020202020204" pitchFamily="34" charset="0"/>
              </a:endParaRPr>
            </a:p>
            <a:p>
              <a:endParaRPr lang="en-US" altLang="en-US" sz="1000" b="0" dirty="0">
                <a:latin typeface="Arial" panose="020B0604020202020204" pitchFamily="34" charset="0"/>
              </a:endParaRPr>
            </a:p>
            <a:p>
              <a:r>
                <a:rPr lang="en-US" altLang="en-US" sz="1000" b="0" dirty="0">
                  <a:latin typeface="Arial" panose="020B0604020202020204" pitchFamily="34" charset="0"/>
                </a:rPr>
                <a:t>checkKey(k: Key) : Enum</a:t>
              </a:r>
              <a:endParaRPr lang="en-US" altLang="en-US" sz="1000" b="0" dirty="0">
                <a:latin typeface="Arial" panose="020B0604020202020204" pitchFamily="34" charset="0"/>
              </a:endParaRPr>
            </a:p>
            <a:p>
              <a:endParaRPr lang="en-US" altLang="en-US" sz="1000" b="0" dirty="0">
                <a:latin typeface="Arial" panose="020B0604020202020204" pitchFamily="34" charset="0"/>
              </a:endParaRPr>
            </a:p>
          </p:txBody>
        </p:sp>
        <p:sp>
          <p:nvSpPr>
            <p:cNvPr id="21540" name="Line 30"/>
            <p:cNvSpPr/>
            <p:nvPr/>
          </p:nvSpPr>
          <p:spPr>
            <a:xfrm>
              <a:off x="4018552" y="5374914"/>
              <a:ext cx="1463040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1" name="Line 31"/>
            <p:cNvSpPr/>
            <p:nvPr/>
          </p:nvSpPr>
          <p:spPr>
            <a:xfrm>
              <a:off x="4018552" y="5552601"/>
              <a:ext cx="1463040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1535" name="Group 4"/>
          <p:cNvGrpSpPr/>
          <p:nvPr/>
        </p:nvGrpSpPr>
        <p:grpSpPr>
          <a:xfrm>
            <a:off x="2695575" y="4732338"/>
            <a:ext cx="1736725" cy="722312"/>
            <a:chOff x="4018552" y="5130439"/>
            <a:chExt cx="1463040" cy="722312"/>
          </a:xfrm>
        </p:grpSpPr>
        <p:sp>
          <p:nvSpPr>
            <p:cNvPr id="21536" name="Rectangle 29"/>
            <p:cNvSpPr/>
            <p:nvPr/>
          </p:nvSpPr>
          <p:spPr>
            <a:xfrm>
              <a:off x="4018552" y="5130439"/>
              <a:ext cx="1463040" cy="722312"/>
            </a:xfrm>
            <a:prstGeom prst="rect">
              <a:avLst/>
            </a:prstGeom>
            <a:solidFill>
              <a:srgbClr val="FFFFCC"/>
            </a:solidFill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rIns="0" bIns="0"/>
            <a:p>
              <a:r>
                <a:rPr lang="en-US" altLang="en-US" sz="1000" b="0" dirty="0">
                  <a:latin typeface="Arial" panose="020B0604020202020204" pitchFamily="34" charset="0"/>
                </a:rPr>
                <a:t>helper : IntrusionDetector</a:t>
              </a:r>
              <a:endParaRPr lang="en-US" altLang="en-US" sz="1000" b="0" dirty="0">
                <a:latin typeface="Arial" panose="020B0604020202020204" pitchFamily="34" charset="0"/>
              </a:endParaRPr>
            </a:p>
            <a:p>
              <a:endParaRPr lang="en-US" altLang="en-US" sz="1000" b="0" dirty="0">
                <a:latin typeface="Arial" panose="020B0604020202020204" pitchFamily="34" charset="0"/>
              </a:endParaRPr>
            </a:p>
            <a:p>
              <a:endParaRPr lang="en-US" altLang="en-US" sz="1000" b="0" dirty="0">
                <a:latin typeface="Arial" panose="020B0604020202020204" pitchFamily="34" charset="0"/>
              </a:endParaRPr>
            </a:p>
            <a:p>
              <a:r>
                <a:rPr lang="en-US" altLang="en-US" sz="1000" b="0" dirty="0">
                  <a:latin typeface="Arial" panose="020B0604020202020204" pitchFamily="34" charset="0"/>
                </a:rPr>
                <a:t>checkIntrusion(k: Key) : Bool</a:t>
              </a:r>
              <a:endParaRPr lang="en-US" altLang="en-US" sz="1000" b="0" dirty="0">
                <a:latin typeface="Arial" panose="020B0604020202020204" pitchFamily="34" charset="0"/>
              </a:endParaRPr>
            </a:p>
            <a:p>
              <a:endParaRPr lang="en-US" altLang="en-US" sz="1000" b="0" dirty="0">
                <a:latin typeface="Arial" panose="020B0604020202020204" pitchFamily="34" charset="0"/>
              </a:endParaRPr>
            </a:p>
          </p:txBody>
        </p:sp>
        <p:sp>
          <p:nvSpPr>
            <p:cNvPr id="21537" name="Line 30"/>
            <p:cNvSpPr/>
            <p:nvPr/>
          </p:nvSpPr>
          <p:spPr>
            <a:xfrm>
              <a:off x="4018552" y="5374914"/>
              <a:ext cx="1463040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8" name="Line 31"/>
            <p:cNvSpPr/>
            <p:nvPr/>
          </p:nvSpPr>
          <p:spPr>
            <a:xfrm>
              <a:off x="4018552" y="5552601"/>
              <a:ext cx="1463040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Liskov Substitution Principle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4873625"/>
          </a:xfrm>
        </p:spPr>
        <p:txBody>
          <a:bodyPr vert="horz" wrap="square" lIns="91440" tIns="45720" rIns="91440" bIns="45720" anchor="t" anchorCtr="0"/>
          <a:p>
            <a:pPr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Every implementation of an interface needs to fully comply with the requirements of this interface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Any algorithm that works on the interface, should continue to work for any substitute implementation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22532" name="Slide Number Placeholder 3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itle 3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Liskov Substitution Principle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4873625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This principle is often misinterpreted that the two objects are equivalent if they provide the same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API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However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, the API is a program-level interface that does not capture the 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of the object’s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methods, attributes, nor its dependency graph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API cannot represent the preconditions,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postconditions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, invariants, etc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An object’s LSP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substitute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must ensure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that the physical aspects for resource footprint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do not affect the rest of the system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Dependency graph of the substituted object must be completely replaced with the dependency graph of its substitute object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556" name="Slide Number Placeholder 2"/>
          <p:cNvSpPr txBox="1">
            <a:spLocks noGrp="1"/>
          </p:cNvSpPr>
          <p:nvPr>
            <p:ph type="sldNum" sz="quarter" idx="4"/>
          </p:nvPr>
        </p:nvSpPr>
        <p:spPr>
          <a:xfrm>
            <a:off x="8539163" y="6564313"/>
            <a:ext cx="523875" cy="246062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b="0" dirty="0">
                <a:latin typeface="Times New Roman" panose="02020603050405020304" pitchFamily="18" charset="0"/>
              </a:rPr>
            </a:fld>
            <a:endParaRPr lang="en-US" altLang="en-US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TI3MzEzOWFkYWIyMzJmZWY3NTJiMTllNTNhYmFjYzkifQ=="/>
</p:tagLst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9588</Words>
  <Application>WPS 演示</Application>
  <PresentationFormat>全屏显示(4:3)</PresentationFormat>
  <Paragraphs>412</Paragraphs>
  <Slides>20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Arial</vt:lpstr>
      <vt:lpstr>宋体</vt:lpstr>
      <vt:lpstr>Wingdings</vt:lpstr>
      <vt:lpstr>Times New Roman</vt:lpstr>
      <vt:lpstr>Comic Sans MS</vt:lpstr>
      <vt:lpstr>Arial Rounded MT Bold</vt:lpstr>
      <vt:lpstr>AvantGarde Bk BT</vt:lpstr>
      <vt:lpstr>Yu Gothic UI Semilight</vt:lpstr>
      <vt:lpstr>Verdana</vt:lpstr>
      <vt:lpstr>黑体</vt:lpstr>
      <vt:lpstr>Calibri</vt:lpstr>
      <vt:lpstr>微软雅黑</vt:lpstr>
      <vt:lpstr>Arial Unicode MS</vt:lpstr>
      <vt:lpstr>Symbol</vt:lpstr>
      <vt:lpstr>Default Design</vt:lpstr>
      <vt:lpstr>Visio.Drawing.6</vt:lpstr>
      <vt:lpstr>PowerPoint 演示文稿</vt:lpstr>
      <vt:lpstr>Topics</vt:lpstr>
      <vt:lpstr>SOLID Design Principles</vt:lpstr>
      <vt:lpstr>SOLID Design Principles</vt:lpstr>
      <vt:lpstr>… is this a good design? Unlock Use Case</vt:lpstr>
      <vt:lpstr>Class Diagram</vt:lpstr>
      <vt:lpstr>Purpose of Design Principles</vt:lpstr>
      <vt:lpstr>Examples of Software Change</vt:lpstr>
      <vt:lpstr>Dependencies for Ordinary Layered Style</vt:lpstr>
      <vt:lpstr>Need Inverted Dependencies</vt:lpstr>
      <vt:lpstr>Example Business Policy &amp; Mechanism</vt:lpstr>
      <vt:lpstr>Safe Home Access Policy Level</vt:lpstr>
      <vt:lpstr>Dependency Inversion Principle</vt:lpstr>
      <vt:lpstr>Dependency Inversion Pattern</vt:lpstr>
      <vt:lpstr>Additional Object: Intruder Detector?</vt:lpstr>
      <vt:lpstr>Examples of Software Change</vt:lpstr>
      <vt:lpstr>… where is the “interface” when the ID mechanism changes?</vt:lpstr>
      <vt:lpstr>Dependency Inversion Pattern</vt:lpstr>
      <vt:lpstr>Liskov Substitution Principle</vt:lpstr>
      <vt:lpstr>Liskov Substitution Principle</vt:lpstr>
    </vt:vector>
  </TitlesOfParts>
  <Company>Rutgers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Lecture Slides</dc:title>
  <dc:creator>Ivan Marsic</dc:creator>
  <cp:keywords>software engineering, software development, object-oriented software engineeirng, OOD</cp:keywords>
  <dc:subject>lecture 10: Object-Oriented Design Principles</dc:subject>
  <cp:category>lecture slides, course materials</cp:category>
  <cp:lastModifiedBy>MX</cp:lastModifiedBy>
  <cp:revision>5122</cp:revision>
  <dcterms:created xsi:type="dcterms:W3CDTF">2003-05-20T05:14:00Z</dcterms:created>
  <dcterms:modified xsi:type="dcterms:W3CDTF">2026-04-04T07:40:01Z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BFD6F44C8A7C408E9829401A7FF2E3E8_13</vt:lpwstr>
  </property>
  <property fmtid="{D5CDD505-2E9C-101B-9397-08002B2CF9AE}" pid="3" name="KSOProductBuildVer">
    <vt:lpwstr>2052-12.1.0.23542</vt:lpwstr>
  </property>
</Properties>
</file>