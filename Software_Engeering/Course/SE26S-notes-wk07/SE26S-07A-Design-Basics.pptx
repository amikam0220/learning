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567" r:id="rId3"/>
    <p:sldId id="550" r:id="rId5"/>
    <p:sldId id="399" r:id="rId6"/>
    <p:sldId id="265" r:id="rId7"/>
    <p:sldId id="514" r:id="rId8"/>
    <p:sldId id="551" r:id="rId9"/>
    <p:sldId id="564" r:id="rId10"/>
    <p:sldId id="398" r:id="rId11"/>
    <p:sldId id="561" r:id="rId12"/>
    <p:sldId id="557" r:id="rId13"/>
    <p:sldId id="560" r:id="rId14"/>
    <p:sldId id="562" r:id="rId15"/>
    <p:sldId id="563" r:id="rId16"/>
    <p:sldId id="558" r:id="rId17"/>
    <p:sldId id="556" r:id="rId18"/>
    <p:sldId id="552" r:id="rId19"/>
    <p:sldId id="565" r:id="rId20"/>
    <p:sldId id="490" r:id="rId21"/>
    <p:sldId id="553" r:id="rId22"/>
    <p:sldId id="263" r:id="rId23"/>
    <p:sldId id="267" r:id="rId24"/>
    <p:sldId id="268" r:id="rId25"/>
    <p:sldId id="566" r:id="rId26"/>
    <p:sldId id="301" r:id="rId27"/>
    <p:sldId id="559" r:id="rId28"/>
    <p:sldId id="555" r:id="rId29"/>
    <p:sldId id="291" r:id="rId30"/>
    <p:sldId id="548" r:id="rId31"/>
    <p:sldId id="568" r:id="rId32"/>
  </p:sldIdLst>
  <p:sldSz cx="9144000" cy="6858000" type="screen4x3"/>
  <p:notesSz cx="7010400" cy="9296400"/>
  <p:custDataLst>
    <p:tags r:id="rId37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0000"/>
    <a:srgbClr val="EAEAFA"/>
    <a:srgbClr val="F9FEDA"/>
    <a:srgbClr val="F1FCAE"/>
    <a:srgbClr val="D4ACAC"/>
    <a:srgbClr val="C98D8D"/>
    <a:srgbClr val="B76969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3"/>
  </p:normalViewPr>
  <p:slideViewPr>
    <p:cSldViewPr snapToGrid="0" showGuides="1">
      <p:cViewPr varScale="1">
        <p:scale>
          <a:sx n="106" d="100"/>
          <a:sy n="106" d="100"/>
        </p:scale>
        <p:origin x="-175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7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defTabSz="932180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 defTabSz="932180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defTabSz="932180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p>
            <a:pPr lvl="0" algn="r" defTabSz="932180" eaLnBrk="1" hangingPunct="1">
              <a:buNone/>
            </a:pPr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796" name="Rectangle 4"/>
          <p:cNvSpPr>
            <a:spLocks noTextEdit="1"/>
          </p:cNvSpPr>
          <p:nvPr>
            <p:ph type="sldImg" idx="2"/>
          </p:nvPr>
        </p:nvSpPr>
        <p:spPr>
          <a:xfrm>
            <a:off x="1168400" y="685800"/>
            <a:ext cx="4673600" cy="3505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816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en-US" altLang="en-US" dirty="0"/>
              <a:t>We built an undue complexity into the Controller while striving to preserve high degree of specialization for all other objects. [[ Note: GUI aspects are treated separately. ]]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29" y="152400"/>
            <a:ext cx="8932409" cy="1143000"/>
          </a:xfrm>
        </p:spPr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600199"/>
            <a:ext cx="8410575" cy="4874079"/>
          </a:xfrm>
        </p:spPr>
        <p:txBody>
          <a:bodyPr/>
          <a:lstStyle>
            <a:lvl1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>
                <a:latin typeface="AvantGarde Bk BT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564313"/>
            <a:ext cx="1905000" cy="2460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64313"/>
            <a:ext cx="2895600" cy="2460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9163" y="6564313"/>
            <a:ext cx="523875" cy="2460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129088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6313" y="1600200"/>
            <a:ext cx="4129087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64" y="152400"/>
            <a:ext cx="9021536" cy="1143000"/>
          </a:xfrm>
        </p:spPr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523038"/>
            <a:ext cx="1905000" cy="2873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23038"/>
            <a:ext cx="2895600" cy="2873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9163" y="6523038"/>
            <a:ext cx="523875" cy="2873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0375" y="152400"/>
            <a:ext cx="2143125" cy="59055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276975" cy="59055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72500" cy="1143000"/>
          </a:xfrm>
          <a:prstGeom prst="rect">
            <a:avLst/>
          </a:prstGeom>
          <a:noFill/>
          <a:ln w="9525">
            <a:noFill/>
          </a:ln>
        </p:spPr>
        <p:txBody>
          <a:bodyPr lIns="0" rIns="0"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504825" y="1600200"/>
            <a:ext cx="8410575" cy="4457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9163" y="6353175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wmf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wmf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7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" y="547688"/>
            <a:ext cx="3019425" cy="1797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Rectangle 5"/>
          <p:cNvSpPr/>
          <p:nvPr/>
        </p:nvSpPr>
        <p:spPr>
          <a:xfrm>
            <a:off x="1169988" y="2684463"/>
            <a:ext cx="7620000" cy="646112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lIns="182880" rIns="182880">
            <a:spAutoFit/>
          </a:bodyPr>
          <a:p>
            <a:pPr algn="ctr" eaLnBrk="1" hangingPunct="1">
              <a:spcBef>
                <a:spcPct val="20000"/>
              </a:spcBef>
            </a:pPr>
            <a:r>
              <a:rPr lang="en-US" altLang="zh-CN" sz="3600" b="0" dirty="0">
                <a:latin typeface="Comic Sans MS" panose="030F0702030302020204" pitchFamily="66" charset="0"/>
                <a:ea typeface="宋体" panose="02010600030101010101" pitchFamily="2" charset="-122"/>
              </a:rPr>
              <a:t>Object Oriented Design - Basics</a:t>
            </a:r>
            <a:endParaRPr lang="en-US" altLang="zh-CN" sz="3600" b="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7172" name="Line 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3" name="矩形 5"/>
          <p:cNvSpPr/>
          <p:nvPr/>
        </p:nvSpPr>
        <p:spPr>
          <a:xfrm>
            <a:off x="735013" y="3505200"/>
            <a:ext cx="74676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200000"/>
              </a:lnSpc>
              <a:buNone/>
            </a:pP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b="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b="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345-Andy: On What </a:t>
            </a:r>
            <a:r>
              <a:rPr lang="en-US" altLang="zh-CN" b="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b="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028" name="Rectangle 2"/>
          <p:cNvSpPr>
            <a:spLocks noGrp="1"/>
          </p:cNvSpPr>
          <p:nvPr>
            <p:ph type="title"/>
          </p:nvPr>
        </p:nvSpPr>
        <p:spPr>
          <a:xfrm>
            <a:off x="130175" y="152400"/>
            <a:ext cx="8932863" cy="1143000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Topics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029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873625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Gluing the Modules from Analysis Stage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Assigning responsibilities for actions of use-case plans to modules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Design Principles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Expert Doer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High Cohesion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Low Coupling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Business Policies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Class Diagram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8054975" y="981075"/>
          <a:ext cx="985838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56615" imgH="831850" progId="Visio.Drawing.6">
                  <p:embed/>
                </p:oleObj>
              </mc:Choice>
              <mc:Fallback>
                <p:oleObj name="" r:id="rId1" imgW="856615" imgH="831850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54975" y="981075"/>
                        <a:ext cx="985838" cy="957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grpSp>
        <p:nvGrpSpPr>
          <p:cNvPr id="8195" name="Group 39"/>
          <p:cNvGrpSpPr/>
          <p:nvPr/>
        </p:nvGrpSpPr>
        <p:grpSpPr>
          <a:xfrm>
            <a:off x="2297113" y="2147888"/>
            <a:ext cx="4230687" cy="3455987"/>
            <a:chOff x="356" y="1331"/>
            <a:chExt cx="2665" cy="2177"/>
          </a:xfrm>
        </p:grpSpPr>
        <p:sp>
          <p:nvSpPr>
            <p:cNvPr id="8219" name="Line 24"/>
            <p:cNvSpPr/>
            <p:nvPr/>
          </p:nvSpPr>
          <p:spPr>
            <a:xfrm>
              <a:off x="644" y="1927"/>
              <a:ext cx="0" cy="1581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8220" name="Line 4"/>
            <p:cNvSpPr/>
            <p:nvPr/>
          </p:nvSpPr>
          <p:spPr>
            <a:xfrm>
              <a:off x="1696" y="1773"/>
              <a:ext cx="0" cy="1733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8221" name="Line 31"/>
            <p:cNvSpPr/>
            <p:nvPr/>
          </p:nvSpPr>
          <p:spPr>
            <a:xfrm>
              <a:off x="2736" y="1927"/>
              <a:ext cx="0" cy="1581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8222" name="Text Box 5"/>
            <p:cNvSpPr txBox="1"/>
            <p:nvPr/>
          </p:nvSpPr>
          <p:spPr>
            <a:xfrm>
              <a:off x="781" y="1913"/>
              <a:ext cx="859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select function(“unlock")</a:t>
              </a:r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8223" name="Rectangle 6"/>
            <p:cNvSpPr/>
            <p:nvPr/>
          </p:nvSpPr>
          <p:spPr>
            <a:xfrm>
              <a:off x="1408" y="1584"/>
              <a:ext cx="576" cy="186"/>
            </a:xfrm>
            <a:prstGeom prst="rect">
              <a:avLst/>
            </a:prstGeom>
            <a:solidFill>
              <a:srgbClr val="FFFFCC"/>
            </a:solidFill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rIns="0" bIns="0"/>
            <a:p>
              <a:pPr algn="ctr" eaLnBrk="1" hangingPunct="1"/>
              <a:r>
                <a:rPr lang="en-US" altLang="en-US" sz="1200" b="0" u="sng" dirty="0">
                  <a:latin typeface="Arial" panose="020B0604020202020204" pitchFamily="34" charset="0"/>
                </a:rPr>
                <a:t>: System</a:t>
              </a:r>
              <a:endParaRPr lang="en-US" altLang="en-US" sz="1200" b="0" u="sng" dirty="0">
                <a:latin typeface="Arial" panose="020B0604020202020204" pitchFamily="34" charset="0"/>
              </a:endParaRPr>
            </a:p>
          </p:txBody>
        </p:sp>
        <p:grpSp>
          <p:nvGrpSpPr>
            <p:cNvPr id="8224" name="Group 7"/>
            <p:cNvGrpSpPr>
              <a:grpSpLocks noChangeAspect="1"/>
            </p:cNvGrpSpPr>
            <p:nvPr/>
          </p:nvGrpSpPr>
          <p:grpSpPr>
            <a:xfrm>
              <a:off x="556" y="1331"/>
              <a:ext cx="179" cy="313"/>
              <a:chOff x="2295" y="8577"/>
              <a:chExt cx="600" cy="1053"/>
            </a:xfrm>
          </p:grpSpPr>
          <p:sp>
            <p:nvSpPr>
              <p:cNvPr id="8245" name="Oval 8"/>
              <p:cNvSpPr>
                <a:spLocks noChangeAspect="1"/>
              </p:cNvSpPr>
              <p:nvPr/>
            </p:nvSpPr>
            <p:spPr>
              <a:xfrm>
                <a:off x="2413" y="8577"/>
                <a:ext cx="360" cy="354"/>
              </a:xfrm>
              <a:prstGeom prst="ellipse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246" name="Line 9"/>
              <p:cNvSpPr>
                <a:spLocks noChangeAspect="1"/>
              </p:cNvSpPr>
              <p:nvPr/>
            </p:nvSpPr>
            <p:spPr>
              <a:xfrm>
                <a:off x="2595" y="8943"/>
                <a:ext cx="0" cy="392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47" name="Line 10"/>
              <p:cNvSpPr>
                <a:spLocks noChangeAspect="1"/>
              </p:cNvSpPr>
              <p:nvPr/>
            </p:nvSpPr>
            <p:spPr>
              <a:xfrm rot="-5400000">
                <a:off x="2595" y="8939"/>
                <a:ext cx="0" cy="40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48" name="Freeform 11"/>
              <p:cNvSpPr>
                <a:spLocks noChangeAspect="1"/>
              </p:cNvSpPr>
              <p:nvPr/>
            </p:nvSpPr>
            <p:spPr>
              <a:xfrm>
                <a:off x="2295" y="9335"/>
                <a:ext cx="600" cy="295"/>
              </a:xfrm>
              <a:custGeom>
                <a:avLst/>
                <a:gdLst>
                  <a:gd name="txL" fmla="*/ 0 w 288"/>
                  <a:gd name="txT" fmla="*/ 0 h 144"/>
                  <a:gd name="txR" fmla="*/ 288 w 288"/>
                  <a:gd name="txB" fmla="*/ 144 h 144"/>
                </a:gdLst>
                <a:ahLst/>
                <a:cxnLst>
                  <a:cxn ang="0">
                    <a:pos x="0" y="3298917"/>
                  </a:cxn>
                  <a:cxn ang="0">
                    <a:pos x="4178553" y="0"/>
                  </a:cxn>
                  <a:cxn ang="0">
                    <a:pos x="8355744" y="3298917"/>
                  </a:cxn>
                </a:cxnLst>
                <a:rect l="txL" t="txT" r="txR" b="txB"/>
                <a:pathLst>
                  <a:path w="288" h="144">
                    <a:moveTo>
                      <a:pt x="0" y="144"/>
                    </a:moveTo>
                    <a:lnTo>
                      <a:pt x="144" y="0"/>
                    </a:lnTo>
                    <a:lnTo>
                      <a:pt x="288" y="144"/>
                    </a:lnTo>
                  </a:path>
                </a:pathLst>
              </a:cu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225" name="Text Box 12"/>
            <p:cNvSpPr txBox="1"/>
            <p:nvPr/>
          </p:nvSpPr>
          <p:spPr>
            <a:xfrm>
              <a:off x="356" y="1661"/>
              <a:ext cx="57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User</a:t>
              </a:r>
              <a:endParaRPr lang="en-US" altLang="en-US" sz="1400" b="0" dirty="0">
                <a:latin typeface="Arial" panose="020B0604020202020204" pitchFamily="34" charset="0"/>
              </a:endParaRPr>
            </a:p>
            <a:p>
              <a:pPr algn="ctr" eaLnBrk="1" hangingPunct="1"/>
              <a:r>
                <a:rPr lang="en-US" altLang="en-US" sz="1000" b="0" dirty="0">
                  <a:latin typeface="Arial" panose="020B0604020202020204" pitchFamily="34" charset="0"/>
                  <a:cs typeface="Arial" panose="020B0604020202020204" pitchFamily="34" charset="0"/>
                  <a:sym typeface="MT Extra" panose="05050102010205020202" pitchFamily="18" charset="2"/>
                </a:rPr>
                <a:t>«</a:t>
              </a:r>
              <a:r>
                <a:rPr lang="en-US" altLang="en-US" sz="1000" b="0" dirty="0">
                  <a:latin typeface="Arial" panose="020B0604020202020204" pitchFamily="34" charset="0"/>
                  <a:sym typeface="MT Extra" panose="05050102010205020202" pitchFamily="18" charset="2"/>
                </a:rPr>
                <a:t>initiating actor</a:t>
              </a:r>
              <a:r>
                <a:rPr lang="en-US" altLang="en-US" sz="1000" b="0" dirty="0">
                  <a:latin typeface="Arial" panose="020B0604020202020204" pitchFamily="34" charset="0"/>
                  <a:cs typeface="Arial" panose="020B0604020202020204" pitchFamily="34" charset="0"/>
                  <a:sym typeface="MT Extra" panose="05050102010205020202" pitchFamily="18" charset="2"/>
                </a:rPr>
                <a:t>»</a:t>
              </a:r>
              <a:endParaRPr lang="en-US" altLang="en-US" sz="1000" b="0" dirty="0">
                <a:latin typeface="Arial" panose="020B0604020202020204" pitchFamily="34" charset="0"/>
                <a:ea typeface="Arial" panose="020B0604020202020204" pitchFamily="34" charset="0"/>
                <a:sym typeface="MT Extra" panose="05050102010205020202" pitchFamily="18" charset="2"/>
              </a:endParaRPr>
            </a:p>
          </p:txBody>
        </p:sp>
        <p:sp>
          <p:nvSpPr>
            <p:cNvPr id="8226" name="Line 13"/>
            <p:cNvSpPr>
              <a:spLocks noChangeAspect="1"/>
            </p:cNvSpPr>
            <p:nvPr/>
          </p:nvSpPr>
          <p:spPr>
            <a:xfrm>
              <a:off x="657" y="2026"/>
              <a:ext cx="1025" cy="1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8227" name="Line 14"/>
            <p:cNvSpPr>
              <a:spLocks noChangeAspect="1"/>
            </p:cNvSpPr>
            <p:nvPr/>
          </p:nvSpPr>
          <p:spPr>
            <a:xfrm flipH="1">
              <a:off x="665" y="2250"/>
              <a:ext cx="1025" cy="1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</p:sp>
        <p:sp>
          <p:nvSpPr>
            <p:cNvPr id="8228" name="Text Box 15"/>
            <p:cNvSpPr txBox="1"/>
            <p:nvPr/>
          </p:nvSpPr>
          <p:spPr>
            <a:xfrm>
              <a:off x="884" y="2145"/>
              <a:ext cx="653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prompt for the key</a:t>
              </a:r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8229" name="Text Box 16"/>
            <p:cNvSpPr txBox="1"/>
            <p:nvPr/>
          </p:nvSpPr>
          <p:spPr>
            <a:xfrm>
              <a:off x="1040" y="2393"/>
              <a:ext cx="339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enter key</a:t>
              </a:r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8230" name="Line 17"/>
            <p:cNvSpPr>
              <a:spLocks noChangeAspect="1"/>
            </p:cNvSpPr>
            <p:nvPr/>
          </p:nvSpPr>
          <p:spPr>
            <a:xfrm>
              <a:off x="657" y="2506"/>
              <a:ext cx="1025" cy="1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8231" name="Freeform 18"/>
            <p:cNvSpPr/>
            <p:nvPr/>
          </p:nvSpPr>
          <p:spPr>
            <a:xfrm>
              <a:off x="1709" y="2582"/>
              <a:ext cx="336" cy="198"/>
            </a:xfrm>
            <a:custGeom>
              <a:avLst/>
              <a:gdLst>
                <a:gd name="txL" fmla="*/ 0 w 336"/>
                <a:gd name="txT" fmla="*/ 0 h 240"/>
                <a:gd name="txR" fmla="*/ 336 w 336"/>
                <a:gd name="txB" fmla="*/ 240 h 240"/>
              </a:gdLst>
              <a:ahLst/>
              <a:cxnLst>
                <a:cxn ang="0">
                  <a:pos x="0" y="0"/>
                </a:cxn>
                <a:cxn ang="0">
                  <a:pos x="336" y="0"/>
                </a:cxn>
                <a:cxn ang="0">
                  <a:pos x="336" y="17"/>
                </a:cxn>
                <a:cxn ang="0">
                  <a:pos x="0" y="17"/>
                </a:cxn>
              </a:cxnLst>
              <a:rect l="txL" t="txT" r="txR" b="txB"/>
              <a:pathLst>
                <a:path w="336" h="240">
                  <a:moveTo>
                    <a:pt x="0" y="0"/>
                  </a:moveTo>
                  <a:lnTo>
                    <a:pt x="336" y="0"/>
                  </a:lnTo>
                  <a:lnTo>
                    <a:pt x="336" y="240"/>
                  </a:lnTo>
                  <a:lnTo>
                    <a:pt x="0" y="240"/>
                  </a:lnTo>
                </a:path>
              </a:pathLst>
            </a:custGeom>
            <a:noFill/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32" name="Text Box 19"/>
            <p:cNvSpPr txBox="1"/>
            <p:nvPr/>
          </p:nvSpPr>
          <p:spPr>
            <a:xfrm>
              <a:off x="1760" y="2459"/>
              <a:ext cx="349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verify key</a:t>
              </a:r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8233" name="Line 20"/>
            <p:cNvSpPr>
              <a:spLocks noChangeAspect="1"/>
            </p:cNvSpPr>
            <p:nvPr/>
          </p:nvSpPr>
          <p:spPr>
            <a:xfrm flipH="1">
              <a:off x="665" y="2916"/>
              <a:ext cx="1025" cy="1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</p:sp>
        <p:sp>
          <p:nvSpPr>
            <p:cNvPr id="8234" name="Text Box 21"/>
            <p:cNvSpPr txBox="1"/>
            <p:nvPr/>
          </p:nvSpPr>
          <p:spPr>
            <a:xfrm>
              <a:off x="732" y="2799"/>
              <a:ext cx="958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signal: valid key, lock open</a:t>
              </a:r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8235" name="Freeform 22"/>
            <p:cNvSpPr/>
            <p:nvPr/>
          </p:nvSpPr>
          <p:spPr>
            <a:xfrm>
              <a:off x="1709" y="3086"/>
              <a:ext cx="336" cy="198"/>
            </a:xfrm>
            <a:custGeom>
              <a:avLst/>
              <a:gdLst>
                <a:gd name="txL" fmla="*/ 0 w 336"/>
                <a:gd name="txT" fmla="*/ 0 h 240"/>
                <a:gd name="txR" fmla="*/ 336 w 336"/>
                <a:gd name="txB" fmla="*/ 240 h 240"/>
              </a:gdLst>
              <a:ahLst/>
              <a:cxnLst>
                <a:cxn ang="0">
                  <a:pos x="0" y="0"/>
                </a:cxn>
                <a:cxn ang="0">
                  <a:pos x="336" y="0"/>
                </a:cxn>
                <a:cxn ang="0">
                  <a:pos x="336" y="17"/>
                </a:cxn>
                <a:cxn ang="0">
                  <a:pos x="0" y="17"/>
                </a:cxn>
              </a:cxnLst>
              <a:rect l="txL" t="txT" r="txR" b="txB"/>
              <a:pathLst>
                <a:path w="336" h="240">
                  <a:moveTo>
                    <a:pt x="0" y="0"/>
                  </a:moveTo>
                  <a:lnTo>
                    <a:pt x="336" y="0"/>
                  </a:lnTo>
                  <a:lnTo>
                    <a:pt x="336" y="240"/>
                  </a:lnTo>
                  <a:lnTo>
                    <a:pt x="0" y="240"/>
                  </a:lnTo>
                </a:path>
              </a:pathLst>
            </a:custGeom>
            <a:noFill/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36" name="Text Box 23"/>
            <p:cNvSpPr txBox="1"/>
            <p:nvPr/>
          </p:nvSpPr>
          <p:spPr>
            <a:xfrm>
              <a:off x="1760" y="2879"/>
              <a:ext cx="55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open the lock,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pPr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turn on the light</a:t>
              </a:r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grpSp>
          <p:nvGrpSpPr>
            <p:cNvPr id="8237" name="Group 25"/>
            <p:cNvGrpSpPr>
              <a:grpSpLocks noChangeAspect="1"/>
            </p:cNvGrpSpPr>
            <p:nvPr/>
          </p:nvGrpSpPr>
          <p:grpSpPr>
            <a:xfrm>
              <a:off x="2647" y="1331"/>
              <a:ext cx="179" cy="313"/>
              <a:chOff x="2295" y="8577"/>
              <a:chExt cx="600" cy="1053"/>
            </a:xfrm>
          </p:grpSpPr>
          <p:sp>
            <p:nvSpPr>
              <p:cNvPr id="8241" name="Oval 26"/>
              <p:cNvSpPr>
                <a:spLocks noChangeAspect="1"/>
              </p:cNvSpPr>
              <p:nvPr/>
            </p:nvSpPr>
            <p:spPr>
              <a:xfrm>
                <a:off x="2413" y="8577"/>
                <a:ext cx="360" cy="354"/>
              </a:xfrm>
              <a:prstGeom prst="ellipse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242" name="Line 27"/>
              <p:cNvSpPr>
                <a:spLocks noChangeAspect="1"/>
              </p:cNvSpPr>
              <p:nvPr/>
            </p:nvSpPr>
            <p:spPr>
              <a:xfrm>
                <a:off x="2595" y="8943"/>
                <a:ext cx="0" cy="392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43" name="Line 28"/>
              <p:cNvSpPr>
                <a:spLocks noChangeAspect="1"/>
              </p:cNvSpPr>
              <p:nvPr/>
            </p:nvSpPr>
            <p:spPr>
              <a:xfrm rot="-5400000">
                <a:off x="2595" y="8939"/>
                <a:ext cx="0" cy="40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44" name="Freeform 29"/>
              <p:cNvSpPr>
                <a:spLocks noChangeAspect="1"/>
              </p:cNvSpPr>
              <p:nvPr/>
            </p:nvSpPr>
            <p:spPr>
              <a:xfrm>
                <a:off x="2295" y="9335"/>
                <a:ext cx="600" cy="295"/>
              </a:xfrm>
              <a:custGeom>
                <a:avLst/>
                <a:gdLst>
                  <a:gd name="txL" fmla="*/ 0 w 288"/>
                  <a:gd name="txT" fmla="*/ 0 h 144"/>
                  <a:gd name="txR" fmla="*/ 288 w 288"/>
                  <a:gd name="txB" fmla="*/ 144 h 144"/>
                </a:gdLst>
                <a:ahLst/>
                <a:cxnLst>
                  <a:cxn ang="0">
                    <a:pos x="0" y="3298917"/>
                  </a:cxn>
                  <a:cxn ang="0">
                    <a:pos x="4178553" y="0"/>
                  </a:cxn>
                  <a:cxn ang="0">
                    <a:pos x="8355744" y="3298917"/>
                  </a:cxn>
                </a:cxnLst>
                <a:rect l="txL" t="txT" r="txR" b="txB"/>
                <a:pathLst>
                  <a:path w="288" h="144">
                    <a:moveTo>
                      <a:pt x="0" y="144"/>
                    </a:moveTo>
                    <a:lnTo>
                      <a:pt x="144" y="0"/>
                    </a:lnTo>
                    <a:lnTo>
                      <a:pt x="288" y="144"/>
                    </a:lnTo>
                  </a:path>
                </a:pathLst>
              </a:cu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238" name="Text Box 30"/>
            <p:cNvSpPr txBox="1"/>
            <p:nvPr/>
          </p:nvSpPr>
          <p:spPr>
            <a:xfrm>
              <a:off x="2452" y="1661"/>
              <a:ext cx="56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algn="ctr" eaLnBrk="1" hangingPunct="1"/>
              <a:r>
                <a:rPr lang="en-US" altLang="en-US" sz="1400" b="0" dirty="0">
                  <a:latin typeface="Arial" panose="020B0604020202020204" pitchFamily="34" charset="0"/>
                </a:rPr>
                <a:t>Timer</a:t>
              </a:r>
              <a:endParaRPr lang="en-US" altLang="en-US" sz="1400" b="0" dirty="0">
                <a:latin typeface="Arial" panose="020B0604020202020204" pitchFamily="34" charset="0"/>
              </a:endParaRPr>
            </a:p>
            <a:p>
              <a:pPr algn="ctr" eaLnBrk="1" hangingPunct="1"/>
              <a:r>
                <a:rPr lang="en-US" altLang="en-US" sz="1000" b="0" dirty="0">
                  <a:latin typeface="Arial" panose="020B0604020202020204" pitchFamily="34" charset="0"/>
                  <a:cs typeface="Arial" panose="020B0604020202020204" pitchFamily="34" charset="0"/>
                  <a:sym typeface="MT Extra" panose="05050102010205020202" pitchFamily="18" charset="2"/>
                </a:rPr>
                <a:t>«</a:t>
              </a:r>
              <a:r>
                <a:rPr lang="en-US" altLang="en-US" sz="1000" b="0" dirty="0">
                  <a:latin typeface="Arial" panose="020B0604020202020204" pitchFamily="34" charset="0"/>
                  <a:sym typeface="MT Extra" panose="05050102010205020202" pitchFamily="18" charset="2"/>
                </a:rPr>
                <a:t>offstage actor</a:t>
              </a:r>
              <a:r>
                <a:rPr lang="en-US" altLang="en-US" sz="1000" b="0" dirty="0">
                  <a:latin typeface="Arial" panose="020B0604020202020204" pitchFamily="34" charset="0"/>
                  <a:cs typeface="Arial" panose="020B0604020202020204" pitchFamily="34" charset="0"/>
                  <a:sym typeface="MT Extra" panose="05050102010205020202" pitchFamily="18" charset="2"/>
                </a:rPr>
                <a:t>»</a:t>
              </a:r>
              <a:endParaRPr lang="en-US" altLang="en-US" sz="1400" b="0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8239" name="Text Box 32"/>
            <p:cNvSpPr txBox="1"/>
            <p:nvPr/>
          </p:nvSpPr>
          <p:spPr>
            <a:xfrm>
              <a:off x="1923" y="3353"/>
              <a:ext cx="585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start ("duration“)</a:t>
              </a:r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8240" name="Line 33"/>
            <p:cNvSpPr>
              <a:spLocks noChangeAspect="1"/>
            </p:cNvSpPr>
            <p:nvPr/>
          </p:nvSpPr>
          <p:spPr>
            <a:xfrm>
              <a:off x="1697" y="3466"/>
              <a:ext cx="1042" cy="1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</p:sp>
      </p:grpSp>
      <p:sp>
        <p:nvSpPr>
          <p:cNvPr id="8196" name="Rectangle 2"/>
          <p:cNvSpPr/>
          <p:nvPr/>
        </p:nvSpPr>
        <p:spPr>
          <a:xfrm>
            <a:off x="481013" y="5935663"/>
            <a:ext cx="8499475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en-US" sz="2000" b="0" dirty="0">
                <a:latin typeface="Arial" panose="020B0604020202020204" pitchFamily="34" charset="0"/>
              </a:rPr>
              <a:t>System Sequence Diagrams represent interactions between the </a:t>
            </a:r>
            <a:r>
              <a:rPr lang="en-US" altLang="en-US" sz="2000" dirty="0">
                <a:solidFill>
                  <a:srgbClr val="680000"/>
                </a:solidFill>
                <a:latin typeface="Arial" panose="020B0604020202020204" pitchFamily="34" charset="0"/>
              </a:rPr>
              <a:t>actors</a:t>
            </a:r>
            <a:endParaRPr lang="en-US" altLang="en-US" sz="2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2000" b="0" dirty="0">
                <a:latin typeface="Arial" panose="020B0604020202020204" pitchFamily="34" charset="0"/>
              </a:rPr>
              <a:t>					(the system is also an “actor”)</a:t>
            </a:r>
            <a:endParaRPr lang="en-US" altLang="en-US" sz="2000" b="0" dirty="0">
              <a:latin typeface="Arial" panose="020B0604020202020204" pitchFamily="34" charset="0"/>
            </a:endParaRPr>
          </a:p>
        </p:txBody>
      </p:sp>
      <p:sp>
        <p:nvSpPr>
          <p:cNvPr id="8197" name="Rectangle 34"/>
          <p:cNvSpPr/>
          <p:nvPr/>
        </p:nvSpPr>
        <p:spPr>
          <a:xfrm>
            <a:off x="125413" y="1447800"/>
            <a:ext cx="881221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en-US" sz="2000" b="0" dirty="0">
                <a:latin typeface="Arial" panose="020B0604020202020204" pitchFamily="34" charset="0"/>
              </a:rPr>
              <a:t>We already worked with interaction diagrams:   System Sequence Diagrams</a:t>
            </a:r>
            <a:endParaRPr lang="en-US" altLang="en-US" sz="200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sp>
        <p:nvSpPr>
          <p:cNvPr id="8198" name="Rectangle 38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System Sequence Diagrams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8199" name="Text Box 54"/>
          <p:cNvSpPr txBox="1"/>
          <p:nvPr/>
        </p:nvSpPr>
        <p:spPr>
          <a:xfrm>
            <a:off x="1103313" y="3565525"/>
            <a:ext cx="338137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dirty="0">
                <a:latin typeface="Arial" panose="020B0604020202020204" pitchFamily="34" charset="0"/>
              </a:rPr>
              <a:t>Time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grpSp>
        <p:nvGrpSpPr>
          <p:cNvPr id="8200" name="Group 55"/>
          <p:cNvGrpSpPr>
            <a:grpSpLocks noChangeAspect="1"/>
          </p:cNvGrpSpPr>
          <p:nvPr/>
        </p:nvGrpSpPr>
        <p:grpSpPr>
          <a:xfrm rot="5400000">
            <a:off x="769938" y="4259263"/>
            <a:ext cx="1004887" cy="155575"/>
            <a:chOff x="2009" y="3184"/>
            <a:chExt cx="3110" cy="479"/>
          </a:xfrm>
        </p:grpSpPr>
        <p:sp>
          <p:nvSpPr>
            <p:cNvPr id="8201" name="Freeform 56"/>
            <p:cNvSpPr>
              <a:spLocks noChangeAspect="1"/>
            </p:cNvSpPr>
            <p:nvPr/>
          </p:nvSpPr>
          <p:spPr>
            <a:xfrm>
              <a:off x="2565" y="3224"/>
              <a:ext cx="287" cy="176"/>
            </a:xfrm>
            <a:custGeom>
              <a:avLst/>
              <a:gdLst>
                <a:gd name="txL" fmla="*/ 0 w 287"/>
                <a:gd name="txT" fmla="*/ 0 h 176"/>
                <a:gd name="txR" fmla="*/ 287 w 287"/>
                <a:gd name="txB" fmla="*/ 176 h 176"/>
              </a:gdLst>
              <a:ahLst/>
              <a:cxnLst>
                <a:cxn ang="0">
                  <a:pos x="28" y="56"/>
                </a:cxn>
                <a:cxn ang="0">
                  <a:pos x="97" y="34"/>
                </a:cxn>
                <a:cxn ang="0">
                  <a:pos x="287" y="176"/>
                </a:cxn>
                <a:cxn ang="0">
                  <a:pos x="184" y="176"/>
                </a:cxn>
                <a:cxn ang="0">
                  <a:pos x="28" y="56"/>
                </a:cxn>
              </a:cxnLst>
              <a:rect l="txL" t="txT" r="txR" b="txB"/>
              <a:pathLst>
                <a:path w="287" h="176">
                  <a:moveTo>
                    <a:pt x="28" y="56"/>
                  </a:moveTo>
                  <a:cubicBezTo>
                    <a:pt x="0" y="24"/>
                    <a:pt x="72" y="0"/>
                    <a:pt x="97" y="34"/>
                  </a:cubicBezTo>
                  <a:cubicBezTo>
                    <a:pt x="122" y="68"/>
                    <a:pt x="193" y="131"/>
                    <a:pt x="287" y="176"/>
                  </a:cubicBezTo>
                  <a:lnTo>
                    <a:pt x="184" y="176"/>
                  </a:lnTo>
                  <a:cubicBezTo>
                    <a:pt x="136" y="148"/>
                    <a:pt x="56" y="88"/>
                    <a:pt x="28" y="56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2" name="Freeform 57"/>
            <p:cNvSpPr>
              <a:spLocks noChangeAspect="1"/>
            </p:cNvSpPr>
            <p:nvPr/>
          </p:nvSpPr>
          <p:spPr>
            <a:xfrm>
              <a:off x="2009" y="3184"/>
              <a:ext cx="302" cy="216"/>
            </a:xfrm>
            <a:custGeom>
              <a:avLst/>
              <a:gdLst>
                <a:gd name="txL" fmla="*/ 0 w 302"/>
                <a:gd name="txT" fmla="*/ 0 h 216"/>
                <a:gd name="txR" fmla="*/ 302 w 302"/>
                <a:gd name="txB" fmla="*/ 216 h 216"/>
              </a:gdLst>
              <a:ahLst/>
              <a:cxnLst>
                <a:cxn ang="0">
                  <a:pos x="24" y="38"/>
                </a:cxn>
                <a:cxn ang="0">
                  <a:pos x="96" y="27"/>
                </a:cxn>
                <a:cxn ang="0">
                  <a:pos x="302" y="216"/>
                </a:cxn>
                <a:cxn ang="0">
                  <a:pos x="224" y="216"/>
                </a:cxn>
                <a:cxn ang="0">
                  <a:pos x="24" y="38"/>
                </a:cxn>
              </a:cxnLst>
              <a:rect l="txL" t="txT" r="txR" b="txB"/>
              <a:pathLst>
                <a:path w="302" h="216">
                  <a:moveTo>
                    <a:pt x="24" y="38"/>
                  </a:moveTo>
                  <a:cubicBezTo>
                    <a:pt x="0" y="6"/>
                    <a:pt x="86" y="0"/>
                    <a:pt x="96" y="27"/>
                  </a:cubicBezTo>
                  <a:cubicBezTo>
                    <a:pt x="136" y="106"/>
                    <a:pt x="231" y="182"/>
                    <a:pt x="302" y="216"/>
                  </a:cubicBezTo>
                  <a:lnTo>
                    <a:pt x="224" y="216"/>
                  </a:lnTo>
                  <a:cubicBezTo>
                    <a:pt x="149" y="171"/>
                    <a:pt x="95" y="125"/>
                    <a:pt x="24" y="38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3" name="Freeform 58"/>
            <p:cNvSpPr>
              <a:spLocks noChangeAspect="1"/>
            </p:cNvSpPr>
            <p:nvPr/>
          </p:nvSpPr>
          <p:spPr>
            <a:xfrm>
              <a:off x="2122" y="3195"/>
              <a:ext cx="264" cy="205"/>
            </a:xfrm>
            <a:custGeom>
              <a:avLst/>
              <a:gdLst>
                <a:gd name="txL" fmla="*/ 0 w 264"/>
                <a:gd name="txT" fmla="*/ 0 h 205"/>
                <a:gd name="txR" fmla="*/ 264 w 264"/>
                <a:gd name="txB" fmla="*/ 205 h 205"/>
              </a:gdLst>
              <a:ahLst/>
              <a:cxnLst>
                <a:cxn ang="0">
                  <a:pos x="102" y="61"/>
                </a:cxn>
                <a:cxn ang="0">
                  <a:pos x="24" y="76"/>
                </a:cxn>
                <a:cxn ang="0">
                  <a:pos x="189" y="205"/>
                </a:cxn>
                <a:cxn ang="0">
                  <a:pos x="264" y="205"/>
                </a:cxn>
                <a:cxn ang="0">
                  <a:pos x="102" y="61"/>
                </a:cxn>
              </a:cxnLst>
              <a:rect l="txL" t="txT" r="txR" b="txB"/>
              <a:pathLst>
                <a:path w="264" h="205">
                  <a:moveTo>
                    <a:pt x="102" y="61"/>
                  </a:moveTo>
                  <a:cubicBezTo>
                    <a:pt x="58" y="0"/>
                    <a:pt x="0" y="41"/>
                    <a:pt x="24" y="76"/>
                  </a:cubicBezTo>
                  <a:cubicBezTo>
                    <a:pt x="48" y="111"/>
                    <a:pt x="136" y="183"/>
                    <a:pt x="189" y="205"/>
                  </a:cubicBezTo>
                  <a:lnTo>
                    <a:pt x="264" y="205"/>
                  </a:lnTo>
                  <a:cubicBezTo>
                    <a:pt x="189" y="160"/>
                    <a:pt x="163" y="142"/>
                    <a:pt x="102" y="6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4" name="Freeform 59"/>
            <p:cNvSpPr>
              <a:spLocks noChangeAspect="1"/>
            </p:cNvSpPr>
            <p:nvPr/>
          </p:nvSpPr>
          <p:spPr>
            <a:xfrm>
              <a:off x="2212" y="3205"/>
              <a:ext cx="252" cy="195"/>
            </a:xfrm>
            <a:custGeom>
              <a:avLst/>
              <a:gdLst>
                <a:gd name="txL" fmla="*/ 0 w 252"/>
                <a:gd name="txT" fmla="*/ 0 h 195"/>
                <a:gd name="txR" fmla="*/ 252 w 252"/>
                <a:gd name="txB" fmla="*/ 195 h 195"/>
              </a:gdLst>
              <a:ahLst/>
              <a:cxnLst>
                <a:cxn ang="0">
                  <a:pos x="12" y="51"/>
                </a:cxn>
                <a:cxn ang="0">
                  <a:pos x="73" y="38"/>
                </a:cxn>
                <a:cxn ang="0">
                  <a:pos x="252" y="195"/>
                </a:cxn>
                <a:cxn ang="0">
                  <a:pos x="174" y="195"/>
                </a:cxn>
                <a:cxn ang="0">
                  <a:pos x="12" y="51"/>
                </a:cxn>
              </a:cxnLst>
              <a:rect l="txL" t="txT" r="txR" b="txB"/>
              <a:pathLst>
                <a:path w="252" h="195">
                  <a:moveTo>
                    <a:pt x="12" y="51"/>
                  </a:moveTo>
                  <a:cubicBezTo>
                    <a:pt x="0" y="29"/>
                    <a:pt x="55" y="0"/>
                    <a:pt x="73" y="38"/>
                  </a:cubicBezTo>
                  <a:cubicBezTo>
                    <a:pt x="91" y="76"/>
                    <a:pt x="199" y="173"/>
                    <a:pt x="252" y="195"/>
                  </a:cubicBezTo>
                  <a:lnTo>
                    <a:pt x="174" y="195"/>
                  </a:lnTo>
                  <a:cubicBezTo>
                    <a:pt x="99" y="150"/>
                    <a:pt x="73" y="132"/>
                    <a:pt x="12" y="5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5" name="Freeform 60"/>
            <p:cNvSpPr>
              <a:spLocks noChangeAspect="1"/>
            </p:cNvSpPr>
            <p:nvPr/>
          </p:nvSpPr>
          <p:spPr>
            <a:xfrm>
              <a:off x="2290" y="3213"/>
              <a:ext cx="255" cy="187"/>
            </a:xfrm>
            <a:custGeom>
              <a:avLst/>
              <a:gdLst>
                <a:gd name="txL" fmla="*/ 0 w 255"/>
                <a:gd name="txT" fmla="*/ 0 h 187"/>
                <a:gd name="txR" fmla="*/ 255 w 255"/>
                <a:gd name="txB" fmla="*/ 187 h 187"/>
              </a:gdLst>
              <a:ahLst/>
              <a:cxnLst>
                <a:cxn ang="0">
                  <a:pos x="103" y="52"/>
                </a:cxn>
                <a:cxn ang="0">
                  <a:pos x="33" y="78"/>
                </a:cxn>
                <a:cxn ang="0">
                  <a:pos x="174" y="187"/>
                </a:cxn>
                <a:cxn ang="0">
                  <a:pos x="255" y="187"/>
                </a:cxn>
                <a:cxn ang="0">
                  <a:pos x="103" y="52"/>
                </a:cxn>
              </a:cxnLst>
              <a:rect l="txL" t="txT" r="txR" b="txB"/>
              <a:pathLst>
                <a:path w="255" h="187">
                  <a:moveTo>
                    <a:pt x="103" y="52"/>
                  </a:moveTo>
                  <a:cubicBezTo>
                    <a:pt x="75" y="0"/>
                    <a:pt x="0" y="45"/>
                    <a:pt x="33" y="78"/>
                  </a:cubicBezTo>
                  <a:cubicBezTo>
                    <a:pt x="66" y="111"/>
                    <a:pt x="115" y="156"/>
                    <a:pt x="174" y="187"/>
                  </a:cubicBezTo>
                  <a:lnTo>
                    <a:pt x="255" y="187"/>
                  </a:lnTo>
                  <a:cubicBezTo>
                    <a:pt x="204" y="150"/>
                    <a:pt x="164" y="133"/>
                    <a:pt x="103" y="52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6" name="Freeform 61"/>
            <p:cNvSpPr>
              <a:spLocks noChangeAspect="1"/>
            </p:cNvSpPr>
            <p:nvPr/>
          </p:nvSpPr>
          <p:spPr>
            <a:xfrm>
              <a:off x="2381" y="3205"/>
              <a:ext cx="267" cy="195"/>
            </a:xfrm>
            <a:custGeom>
              <a:avLst/>
              <a:gdLst>
                <a:gd name="txL" fmla="*/ 0 w 267"/>
                <a:gd name="txT" fmla="*/ 0 h 195"/>
                <a:gd name="txR" fmla="*/ 267 w 267"/>
                <a:gd name="txB" fmla="*/ 195 h 195"/>
              </a:gdLst>
              <a:ahLst/>
              <a:cxnLst>
                <a:cxn ang="0">
                  <a:pos x="23" y="77"/>
                </a:cxn>
                <a:cxn ang="0">
                  <a:pos x="119" y="62"/>
                </a:cxn>
                <a:cxn ang="0">
                  <a:pos x="267" y="195"/>
                </a:cxn>
                <a:cxn ang="0">
                  <a:pos x="164" y="195"/>
                </a:cxn>
                <a:cxn ang="0">
                  <a:pos x="23" y="77"/>
                </a:cxn>
              </a:cxnLst>
              <a:rect l="txL" t="txT" r="txR" b="txB"/>
              <a:pathLst>
                <a:path w="267" h="195">
                  <a:moveTo>
                    <a:pt x="23" y="77"/>
                  </a:moveTo>
                  <a:cubicBezTo>
                    <a:pt x="0" y="42"/>
                    <a:pt x="80" y="0"/>
                    <a:pt x="119" y="62"/>
                  </a:cubicBezTo>
                  <a:cubicBezTo>
                    <a:pt x="158" y="124"/>
                    <a:pt x="228" y="167"/>
                    <a:pt x="267" y="195"/>
                  </a:cubicBezTo>
                  <a:lnTo>
                    <a:pt x="164" y="195"/>
                  </a:lnTo>
                  <a:cubicBezTo>
                    <a:pt x="107" y="162"/>
                    <a:pt x="53" y="113"/>
                    <a:pt x="23" y="77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7" name="Freeform 62"/>
            <p:cNvSpPr>
              <a:spLocks noChangeAspect="1"/>
            </p:cNvSpPr>
            <p:nvPr/>
          </p:nvSpPr>
          <p:spPr>
            <a:xfrm>
              <a:off x="2480" y="3204"/>
              <a:ext cx="269" cy="196"/>
            </a:xfrm>
            <a:custGeom>
              <a:avLst/>
              <a:gdLst>
                <a:gd name="txL" fmla="*/ 0 w 269"/>
                <a:gd name="txT" fmla="*/ 0 h 196"/>
                <a:gd name="txR" fmla="*/ 269 w 269"/>
                <a:gd name="txB" fmla="*/ 196 h 196"/>
              </a:gdLst>
              <a:ahLst/>
              <a:cxnLst>
                <a:cxn ang="0">
                  <a:pos x="84" y="39"/>
                </a:cxn>
                <a:cxn ang="0">
                  <a:pos x="20" y="63"/>
                </a:cxn>
                <a:cxn ang="0">
                  <a:pos x="168" y="196"/>
                </a:cxn>
                <a:cxn ang="0">
                  <a:pos x="269" y="196"/>
                </a:cxn>
                <a:cxn ang="0">
                  <a:pos x="84" y="39"/>
                </a:cxn>
              </a:cxnLst>
              <a:rect l="txL" t="txT" r="txR" b="txB"/>
              <a:pathLst>
                <a:path w="269" h="196">
                  <a:moveTo>
                    <a:pt x="84" y="39"/>
                  </a:moveTo>
                  <a:cubicBezTo>
                    <a:pt x="66" y="0"/>
                    <a:pt x="0" y="33"/>
                    <a:pt x="20" y="63"/>
                  </a:cubicBezTo>
                  <a:cubicBezTo>
                    <a:pt x="59" y="125"/>
                    <a:pt x="129" y="168"/>
                    <a:pt x="168" y="196"/>
                  </a:cubicBezTo>
                  <a:lnTo>
                    <a:pt x="269" y="196"/>
                  </a:lnTo>
                  <a:cubicBezTo>
                    <a:pt x="212" y="163"/>
                    <a:pt x="102" y="78"/>
                    <a:pt x="84" y="39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8" name="Freeform 63"/>
            <p:cNvSpPr>
              <a:spLocks noChangeAspect="1"/>
            </p:cNvSpPr>
            <p:nvPr/>
          </p:nvSpPr>
          <p:spPr>
            <a:xfrm flipV="1">
              <a:off x="2565" y="3447"/>
              <a:ext cx="287" cy="176"/>
            </a:xfrm>
            <a:custGeom>
              <a:avLst/>
              <a:gdLst>
                <a:gd name="txL" fmla="*/ 0 w 287"/>
                <a:gd name="txT" fmla="*/ 0 h 176"/>
                <a:gd name="txR" fmla="*/ 287 w 287"/>
                <a:gd name="txB" fmla="*/ 176 h 176"/>
              </a:gdLst>
              <a:ahLst/>
              <a:cxnLst>
                <a:cxn ang="0">
                  <a:pos x="28" y="56"/>
                </a:cxn>
                <a:cxn ang="0">
                  <a:pos x="97" y="34"/>
                </a:cxn>
                <a:cxn ang="0">
                  <a:pos x="287" y="176"/>
                </a:cxn>
                <a:cxn ang="0">
                  <a:pos x="184" y="176"/>
                </a:cxn>
                <a:cxn ang="0">
                  <a:pos x="28" y="56"/>
                </a:cxn>
              </a:cxnLst>
              <a:rect l="txL" t="txT" r="txR" b="txB"/>
              <a:pathLst>
                <a:path w="287" h="176">
                  <a:moveTo>
                    <a:pt x="28" y="56"/>
                  </a:moveTo>
                  <a:cubicBezTo>
                    <a:pt x="0" y="24"/>
                    <a:pt x="72" y="0"/>
                    <a:pt x="97" y="34"/>
                  </a:cubicBezTo>
                  <a:cubicBezTo>
                    <a:pt x="122" y="68"/>
                    <a:pt x="193" y="131"/>
                    <a:pt x="287" y="176"/>
                  </a:cubicBezTo>
                  <a:lnTo>
                    <a:pt x="184" y="176"/>
                  </a:lnTo>
                  <a:cubicBezTo>
                    <a:pt x="136" y="148"/>
                    <a:pt x="56" y="88"/>
                    <a:pt x="28" y="56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9" name="Freeform 64"/>
            <p:cNvSpPr>
              <a:spLocks noChangeAspect="1"/>
            </p:cNvSpPr>
            <p:nvPr/>
          </p:nvSpPr>
          <p:spPr>
            <a:xfrm flipV="1">
              <a:off x="2009" y="3447"/>
              <a:ext cx="302" cy="216"/>
            </a:xfrm>
            <a:custGeom>
              <a:avLst/>
              <a:gdLst>
                <a:gd name="txL" fmla="*/ 0 w 302"/>
                <a:gd name="txT" fmla="*/ 0 h 216"/>
                <a:gd name="txR" fmla="*/ 302 w 302"/>
                <a:gd name="txB" fmla="*/ 216 h 216"/>
              </a:gdLst>
              <a:ahLst/>
              <a:cxnLst>
                <a:cxn ang="0">
                  <a:pos x="24" y="38"/>
                </a:cxn>
                <a:cxn ang="0">
                  <a:pos x="96" y="27"/>
                </a:cxn>
                <a:cxn ang="0">
                  <a:pos x="302" y="216"/>
                </a:cxn>
                <a:cxn ang="0">
                  <a:pos x="224" y="216"/>
                </a:cxn>
                <a:cxn ang="0">
                  <a:pos x="24" y="38"/>
                </a:cxn>
              </a:cxnLst>
              <a:rect l="txL" t="txT" r="txR" b="txB"/>
              <a:pathLst>
                <a:path w="302" h="216">
                  <a:moveTo>
                    <a:pt x="24" y="38"/>
                  </a:moveTo>
                  <a:cubicBezTo>
                    <a:pt x="0" y="6"/>
                    <a:pt x="86" y="0"/>
                    <a:pt x="96" y="27"/>
                  </a:cubicBezTo>
                  <a:cubicBezTo>
                    <a:pt x="136" y="106"/>
                    <a:pt x="231" y="182"/>
                    <a:pt x="302" y="216"/>
                  </a:cubicBezTo>
                  <a:lnTo>
                    <a:pt x="224" y="216"/>
                  </a:lnTo>
                  <a:cubicBezTo>
                    <a:pt x="149" y="171"/>
                    <a:pt x="95" y="125"/>
                    <a:pt x="24" y="38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0" name="Freeform 65"/>
            <p:cNvSpPr>
              <a:spLocks noChangeAspect="1"/>
            </p:cNvSpPr>
            <p:nvPr/>
          </p:nvSpPr>
          <p:spPr>
            <a:xfrm flipV="1">
              <a:off x="2122" y="3447"/>
              <a:ext cx="264" cy="205"/>
            </a:xfrm>
            <a:custGeom>
              <a:avLst/>
              <a:gdLst>
                <a:gd name="txL" fmla="*/ 0 w 264"/>
                <a:gd name="txT" fmla="*/ 0 h 205"/>
                <a:gd name="txR" fmla="*/ 264 w 264"/>
                <a:gd name="txB" fmla="*/ 205 h 205"/>
              </a:gdLst>
              <a:ahLst/>
              <a:cxnLst>
                <a:cxn ang="0">
                  <a:pos x="102" y="61"/>
                </a:cxn>
                <a:cxn ang="0">
                  <a:pos x="24" y="76"/>
                </a:cxn>
                <a:cxn ang="0">
                  <a:pos x="189" y="205"/>
                </a:cxn>
                <a:cxn ang="0">
                  <a:pos x="264" y="205"/>
                </a:cxn>
                <a:cxn ang="0">
                  <a:pos x="102" y="61"/>
                </a:cxn>
              </a:cxnLst>
              <a:rect l="txL" t="txT" r="txR" b="txB"/>
              <a:pathLst>
                <a:path w="264" h="205">
                  <a:moveTo>
                    <a:pt x="102" y="61"/>
                  </a:moveTo>
                  <a:cubicBezTo>
                    <a:pt x="58" y="0"/>
                    <a:pt x="0" y="41"/>
                    <a:pt x="24" y="76"/>
                  </a:cubicBezTo>
                  <a:cubicBezTo>
                    <a:pt x="48" y="111"/>
                    <a:pt x="136" y="183"/>
                    <a:pt x="189" y="205"/>
                  </a:cubicBezTo>
                  <a:lnTo>
                    <a:pt x="264" y="205"/>
                  </a:lnTo>
                  <a:cubicBezTo>
                    <a:pt x="189" y="160"/>
                    <a:pt x="163" y="142"/>
                    <a:pt x="102" y="6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1" name="Freeform 66"/>
            <p:cNvSpPr>
              <a:spLocks noChangeAspect="1"/>
            </p:cNvSpPr>
            <p:nvPr/>
          </p:nvSpPr>
          <p:spPr>
            <a:xfrm flipV="1">
              <a:off x="2212" y="3447"/>
              <a:ext cx="252" cy="195"/>
            </a:xfrm>
            <a:custGeom>
              <a:avLst/>
              <a:gdLst>
                <a:gd name="txL" fmla="*/ 0 w 252"/>
                <a:gd name="txT" fmla="*/ 0 h 195"/>
                <a:gd name="txR" fmla="*/ 252 w 252"/>
                <a:gd name="txB" fmla="*/ 195 h 195"/>
              </a:gdLst>
              <a:ahLst/>
              <a:cxnLst>
                <a:cxn ang="0">
                  <a:pos x="12" y="51"/>
                </a:cxn>
                <a:cxn ang="0">
                  <a:pos x="73" y="38"/>
                </a:cxn>
                <a:cxn ang="0">
                  <a:pos x="252" y="195"/>
                </a:cxn>
                <a:cxn ang="0">
                  <a:pos x="174" y="195"/>
                </a:cxn>
                <a:cxn ang="0">
                  <a:pos x="12" y="51"/>
                </a:cxn>
              </a:cxnLst>
              <a:rect l="txL" t="txT" r="txR" b="txB"/>
              <a:pathLst>
                <a:path w="252" h="195">
                  <a:moveTo>
                    <a:pt x="12" y="51"/>
                  </a:moveTo>
                  <a:cubicBezTo>
                    <a:pt x="0" y="29"/>
                    <a:pt x="55" y="0"/>
                    <a:pt x="73" y="38"/>
                  </a:cubicBezTo>
                  <a:cubicBezTo>
                    <a:pt x="91" y="76"/>
                    <a:pt x="199" y="173"/>
                    <a:pt x="252" y="195"/>
                  </a:cubicBezTo>
                  <a:lnTo>
                    <a:pt x="174" y="195"/>
                  </a:lnTo>
                  <a:cubicBezTo>
                    <a:pt x="99" y="150"/>
                    <a:pt x="73" y="132"/>
                    <a:pt x="12" y="5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2" name="Freeform 67"/>
            <p:cNvSpPr>
              <a:spLocks noChangeAspect="1"/>
            </p:cNvSpPr>
            <p:nvPr/>
          </p:nvSpPr>
          <p:spPr>
            <a:xfrm flipV="1">
              <a:off x="2290" y="3447"/>
              <a:ext cx="255" cy="187"/>
            </a:xfrm>
            <a:custGeom>
              <a:avLst/>
              <a:gdLst>
                <a:gd name="txL" fmla="*/ 0 w 255"/>
                <a:gd name="txT" fmla="*/ 0 h 187"/>
                <a:gd name="txR" fmla="*/ 255 w 255"/>
                <a:gd name="txB" fmla="*/ 187 h 187"/>
              </a:gdLst>
              <a:ahLst/>
              <a:cxnLst>
                <a:cxn ang="0">
                  <a:pos x="103" y="52"/>
                </a:cxn>
                <a:cxn ang="0">
                  <a:pos x="33" y="78"/>
                </a:cxn>
                <a:cxn ang="0">
                  <a:pos x="174" y="187"/>
                </a:cxn>
                <a:cxn ang="0">
                  <a:pos x="255" y="187"/>
                </a:cxn>
                <a:cxn ang="0">
                  <a:pos x="103" y="52"/>
                </a:cxn>
              </a:cxnLst>
              <a:rect l="txL" t="txT" r="txR" b="txB"/>
              <a:pathLst>
                <a:path w="255" h="187">
                  <a:moveTo>
                    <a:pt x="103" y="52"/>
                  </a:moveTo>
                  <a:cubicBezTo>
                    <a:pt x="75" y="0"/>
                    <a:pt x="0" y="45"/>
                    <a:pt x="33" y="78"/>
                  </a:cubicBezTo>
                  <a:cubicBezTo>
                    <a:pt x="66" y="111"/>
                    <a:pt x="115" y="156"/>
                    <a:pt x="174" y="187"/>
                  </a:cubicBezTo>
                  <a:lnTo>
                    <a:pt x="255" y="187"/>
                  </a:lnTo>
                  <a:cubicBezTo>
                    <a:pt x="204" y="150"/>
                    <a:pt x="164" y="133"/>
                    <a:pt x="103" y="52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3" name="Freeform 68"/>
            <p:cNvSpPr>
              <a:spLocks noChangeAspect="1"/>
            </p:cNvSpPr>
            <p:nvPr/>
          </p:nvSpPr>
          <p:spPr>
            <a:xfrm flipV="1">
              <a:off x="2381" y="3447"/>
              <a:ext cx="267" cy="195"/>
            </a:xfrm>
            <a:custGeom>
              <a:avLst/>
              <a:gdLst>
                <a:gd name="txL" fmla="*/ 0 w 267"/>
                <a:gd name="txT" fmla="*/ 0 h 195"/>
                <a:gd name="txR" fmla="*/ 267 w 267"/>
                <a:gd name="txB" fmla="*/ 195 h 195"/>
              </a:gdLst>
              <a:ahLst/>
              <a:cxnLst>
                <a:cxn ang="0">
                  <a:pos x="23" y="77"/>
                </a:cxn>
                <a:cxn ang="0">
                  <a:pos x="119" y="62"/>
                </a:cxn>
                <a:cxn ang="0">
                  <a:pos x="267" y="195"/>
                </a:cxn>
                <a:cxn ang="0">
                  <a:pos x="164" y="195"/>
                </a:cxn>
                <a:cxn ang="0">
                  <a:pos x="23" y="77"/>
                </a:cxn>
              </a:cxnLst>
              <a:rect l="txL" t="txT" r="txR" b="txB"/>
              <a:pathLst>
                <a:path w="267" h="195">
                  <a:moveTo>
                    <a:pt x="23" y="77"/>
                  </a:moveTo>
                  <a:cubicBezTo>
                    <a:pt x="0" y="42"/>
                    <a:pt x="80" y="0"/>
                    <a:pt x="119" y="62"/>
                  </a:cubicBezTo>
                  <a:cubicBezTo>
                    <a:pt x="158" y="124"/>
                    <a:pt x="228" y="167"/>
                    <a:pt x="267" y="195"/>
                  </a:cubicBezTo>
                  <a:lnTo>
                    <a:pt x="164" y="195"/>
                  </a:lnTo>
                  <a:cubicBezTo>
                    <a:pt x="107" y="162"/>
                    <a:pt x="53" y="113"/>
                    <a:pt x="23" y="77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4" name="Freeform 69"/>
            <p:cNvSpPr>
              <a:spLocks noChangeAspect="1"/>
            </p:cNvSpPr>
            <p:nvPr/>
          </p:nvSpPr>
          <p:spPr>
            <a:xfrm flipV="1">
              <a:off x="2480" y="3447"/>
              <a:ext cx="269" cy="196"/>
            </a:xfrm>
            <a:custGeom>
              <a:avLst/>
              <a:gdLst>
                <a:gd name="txL" fmla="*/ 0 w 269"/>
                <a:gd name="txT" fmla="*/ 0 h 196"/>
                <a:gd name="txR" fmla="*/ 269 w 269"/>
                <a:gd name="txB" fmla="*/ 196 h 196"/>
              </a:gdLst>
              <a:ahLst/>
              <a:cxnLst>
                <a:cxn ang="0">
                  <a:pos x="84" y="39"/>
                </a:cxn>
                <a:cxn ang="0">
                  <a:pos x="20" y="63"/>
                </a:cxn>
                <a:cxn ang="0">
                  <a:pos x="168" y="196"/>
                </a:cxn>
                <a:cxn ang="0">
                  <a:pos x="269" y="196"/>
                </a:cxn>
                <a:cxn ang="0">
                  <a:pos x="84" y="39"/>
                </a:cxn>
              </a:cxnLst>
              <a:rect l="txL" t="txT" r="txR" b="txB"/>
              <a:pathLst>
                <a:path w="269" h="196">
                  <a:moveTo>
                    <a:pt x="84" y="39"/>
                  </a:moveTo>
                  <a:cubicBezTo>
                    <a:pt x="66" y="0"/>
                    <a:pt x="0" y="33"/>
                    <a:pt x="20" y="63"/>
                  </a:cubicBezTo>
                  <a:cubicBezTo>
                    <a:pt x="59" y="125"/>
                    <a:pt x="129" y="168"/>
                    <a:pt x="168" y="196"/>
                  </a:cubicBezTo>
                  <a:lnTo>
                    <a:pt x="269" y="196"/>
                  </a:lnTo>
                  <a:cubicBezTo>
                    <a:pt x="212" y="163"/>
                    <a:pt x="102" y="78"/>
                    <a:pt x="84" y="39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5" name="Rectangle 70"/>
            <p:cNvSpPr>
              <a:spLocks noChangeAspect="1"/>
            </p:cNvSpPr>
            <p:nvPr/>
          </p:nvSpPr>
          <p:spPr>
            <a:xfrm>
              <a:off x="2226" y="3401"/>
              <a:ext cx="2298" cy="46"/>
            </a:xfrm>
            <a:prstGeom prst="rect">
              <a:avLst/>
            </a:prstGeom>
            <a:solidFill>
              <a:schemeClr val="bg1"/>
            </a:solidFill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16" name="Freeform 71"/>
            <p:cNvSpPr>
              <a:spLocks noChangeAspect="1"/>
            </p:cNvSpPr>
            <p:nvPr/>
          </p:nvSpPr>
          <p:spPr>
            <a:xfrm>
              <a:off x="4570" y="3394"/>
              <a:ext cx="218" cy="60"/>
            </a:xfrm>
            <a:custGeom>
              <a:avLst/>
              <a:gdLst>
                <a:gd name="txL" fmla="*/ 0 w 218"/>
                <a:gd name="txT" fmla="*/ 0 h 60"/>
                <a:gd name="txR" fmla="*/ 218 w 218"/>
                <a:gd name="txB" fmla="*/ 60 h 60"/>
              </a:gdLst>
              <a:ahLst/>
              <a:cxnLst>
                <a:cxn ang="0">
                  <a:pos x="0" y="5"/>
                </a:cxn>
                <a:cxn ang="0">
                  <a:pos x="184" y="0"/>
                </a:cxn>
                <a:cxn ang="0">
                  <a:pos x="218" y="29"/>
                </a:cxn>
                <a:cxn ang="0">
                  <a:pos x="183" y="60"/>
                </a:cxn>
                <a:cxn ang="0">
                  <a:pos x="0" y="53"/>
                </a:cxn>
                <a:cxn ang="0">
                  <a:pos x="0" y="5"/>
                </a:cxn>
              </a:cxnLst>
              <a:rect l="txL" t="txT" r="txR" b="txB"/>
              <a:pathLst>
                <a:path w="218" h="60">
                  <a:moveTo>
                    <a:pt x="0" y="5"/>
                  </a:moveTo>
                  <a:lnTo>
                    <a:pt x="184" y="0"/>
                  </a:lnTo>
                  <a:lnTo>
                    <a:pt x="218" y="29"/>
                  </a:lnTo>
                  <a:lnTo>
                    <a:pt x="183" y="60"/>
                  </a:lnTo>
                  <a:lnTo>
                    <a:pt x="0" y="5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7" name="Freeform 72"/>
            <p:cNvSpPr>
              <a:spLocks noChangeAspect="1"/>
            </p:cNvSpPr>
            <p:nvPr/>
          </p:nvSpPr>
          <p:spPr>
            <a:xfrm>
              <a:off x="4648" y="3280"/>
              <a:ext cx="471" cy="289"/>
            </a:xfrm>
            <a:custGeom>
              <a:avLst/>
              <a:gdLst>
                <a:gd name="txL" fmla="*/ 0 w 235"/>
                <a:gd name="txT" fmla="*/ 0 h 144"/>
                <a:gd name="txR" fmla="*/ 235 w 235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3966281" y="1216979"/>
                </a:cxn>
                <a:cxn ang="0">
                  <a:pos x="0" y="2476369"/>
                </a:cxn>
                <a:cxn ang="0">
                  <a:pos x="1180054" y="1216979"/>
                </a:cxn>
                <a:cxn ang="0">
                  <a:pos x="0" y="0"/>
                </a:cxn>
              </a:cxnLst>
              <a:rect l="txL" t="txT" r="txR" b="txB"/>
              <a:pathLst>
                <a:path w="235" h="144">
                  <a:moveTo>
                    <a:pt x="0" y="0"/>
                  </a:moveTo>
                  <a:cubicBezTo>
                    <a:pt x="70" y="36"/>
                    <a:pt x="177" y="70"/>
                    <a:pt x="235" y="71"/>
                  </a:cubicBezTo>
                  <a:cubicBezTo>
                    <a:pt x="177" y="77"/>
                    <a:pt x="70" y="106"/>
                    <a:pt x="0" y="144"/>
                  </a:cubicBezTo>
                  <a:cubicBezTo>
                    <a:pt x="13" y="118"/>
                    <a:pt x="43" y="96"/>
                    <a:pt x="70" y="71"/>
                  </a:cubicBezTo>
                  <a:cubicBezTo>
                    <a:pt x="42" y="51"/>
                    <a:pt x="13" y="19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8" name="AutoShape 73"/>
            <p:cNvSpPr>
              <a:spLocks noChangeAspect="1"/>
            </p:cNvSpPr>
            <p:nvPr/>
          </p:nvSpPr>
          <p:spPr>
            <a:xfrm>
              <a:off x="4524" y="3390"/>
              <a:ext cx="46" cy="69"/>
            </a:xfrm>
            <a:prstGeom prst="roundRect">
              <a:avLst>
                <a:gd name="adj" fmla="val 41796"/>
              </a:avLst>
            </a:prstGeom>
            <a:solidFill>
              <a:srgbClr val="DDDDDD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Slide Number Placeholder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/>
              <a:t>Design: Object Interactions</a:t>
            </a:r>
            <a:endParaRPr lang="en-US" altLang="en-US" dirty="0"/>
          </a:p>
        </p:txBody>
      </p:sp>
      <p:sp>
        <p:nvSpPr>
          <p:cNvPr id="9220" name="Text Box 220"/>
          <p:cNvSpPr txBox="1"/>
          <p:nvPr/>
        </p:nvSpPr>
        <p:spPr>
          <a:xfrm>
            <a:off x="419100" y="6003925"/>
            <a:ext cx="8543925" cy="692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>
              <a:spcBef>
                <a:spcPct val="50000"/>
              </a:spcBef>
              <a:buChar char="•"/>
            </a:pPr>
            <a:r>
              <a:rPr lang="en-US" altLang="en-US" sz="1800" b="0" dirty="0">
                <a:latin typeface="Arial" panose="020B0604020202020204" pitchFamily="34" charset="0"/>
              </a:rPr>
              <a:t> System Sequence Diagrams represent interactions of </a:t>
            </a:r>
            <a:r>
              <a:rPr lang="en-US" altLang="en-US" sz="1800" dirty="0">
                <a:solidFill>
                  <a:srgbClr val="680000"/>
                </a:solidFill>
                <a:latin typeface="Arial" panose="020B0604020202020204" pitchFamily="34" charset="0"/>
              </a:rPr>
              <a:t>external actors</a:t>
            </a:r>
            <a:endParaRPr lang="en-US" altLang="en-US" sz="1800" b="0" dirty="0">
              <a:solidFill>
                <a:srgbClr val="68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har char="•"/>
            </a:pPr>
            <a:r>
              <a:rPr lang="en-US" altLang="en-US" sz="1800" b="0" dirty="0">
                <a:latin typeface="Arial" panose="020B0604020202020204" pitchFamily="34" charset="0"/>
              </a:rPr>
              <a:t> Module Sequence Diagrams represent interactions of </a:t>
            </a:r>
            <a:r>
              <a:rPr lang="en-US" altLang="en-US" sz="1800" dirty="0">
                <a:solidFill>
                  <a:srgbClr val="680000"/>
                </a:solidFill>
                <a:latin typeface="Arial" panose="020B0604020202020204" pitchFamily="34" charset="0"/>
              </a:rPr>
              <a:t>modules inside the system</a:t>
            </a:r>
            <a:endParaRPr lang="en-US" altLang="en-US" sz="180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pic>
        <p:nvPicPr>
          <p:cNvPr id="9221" name="Picture 2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9288" y="2178050"/>
            <a:ext cx="4110037" cy="3505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Picture 2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" y="3214688"/>
            <a:ext cx="3302000" cy="2425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3" name="AutoShape 224"/>
          <p:cNvSpPr/>
          <p:nvPr/>
        </p:nvSpPr>
        <p:spPr>
          <a:xfrm rot="-338582">
            <a:off x="3552825" y="3105150"/>
            <a:ext cx="776288" cy="819150"/>
          </a:xfrm>
          <a:custGeom>
            <a:avLst/>
            <a:gdLst>
              <a:gd name="txL" fmla="*/ 3375 w 21600"/>
              <a:gd name="txT" fmla="*/ 5400 h 21600"/>
              <a:gd name="txR" fmla="*/ 16565 w 21600"/>
              <a:gd name="txB" fmla="*/ 16200 h 21600"/>
            </a:gdLst>
            <a:ahLst/>
            <a:cxnLst>
              <a:cxn ang="17694720">
                <a:pos x="2147483647" y="0"/>
              </a:cxn>
              <a:cxn ang="11796480">
                <a:pos x="0" y="2147483647"/>
              </a:cxn>
              <a:cxn ang="589824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1600" h="21600">
                <a:moveTo>
                  <a:pt x="11529" y="0"/>
                </a:moveTo>
                <a:lnTo>
                  <a:pt x="11529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529" y="16200"/>
                </a:lnTo>
                <a:lnTo>
                  <a:pt x="11529" y="21600"/>
                </a:lnTo>
                <a:lnTo>
                  <a:pt x="21600" y="10800"/>
                </a:lnTo>
                <a:lnTo>
                  <a:pt x="11529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EAEAEA">
              <a:alpha val="100000"/>
            </a:srgb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224" name="Text Box 225"/>
          <p:cNvSpPr txBox="1"/>
          <p:nvPr/>
        </p:nvSpPr>
        <p:spPr>
          <a:xfrm>
            <a:off x="884238" y="2622550"/>
            <a:ext cx="2490787" cy="2444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600" b="0" dirty="0">
                <a:latin typeface="Arial" panose="020B0604020202020204" pitchFamily="34" charset="0"/>
              </a:rPr>
              <a:t>System Sequence Diagram</a:t>
            </a:r>
            <a:endParaRPr lang="en-US" altLang="en-US" sz="1600" b="0" dirty="0">
              <a:latin typeface="Arial" panose="020B0604020202020204" pitchFamily="34" charset="0"/>
            </a:endParaRPr>
          </a:p>
        </p:txBody>
      </p:sp>
      <p:sp>
        <p:nvSpPr>
          <p:cNvPr id="9225" name="Text Box 226"/>
          <p:cNvSpPr txBox="1"/>
          <p:nvPr/>
        </p:nvSpPr>
        <p:spPr>
          <a:xfrm>
            <a:off x="5649913" y="1552575"/>
            <a:ext cx="1755775" cy="48895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600" b="0" dirty="0">
                <a:latin typeface="Arial" panose="020B0604020202020204" pitchFamily="34" charset="0"/>
              </a:rPr>
              <a:t>Design</a:t>
            </a:r>
            <a:endParaRPr lang="en-US" altLang="en-US" sz="1600" b="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600" b="0" dirty="0">
                <a:latin typeface="Arial" panose="020B0604020202020204" pitchFamily="34" charset="0"/>
              </a:rPr>
              <a:t>Sequence Diagram</a:t>
            </a:r>
            <a:endParaRPr lang="en-US" altLang="en-US" sz="16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1"/>
          <p:cNvSpPr/>
          <p:nvPr/>
        </p:nvSpPr>
        <p:spPr>
          <a:xfrm>
            <a:off x="625475" y="1793875"/>
            <a:ext cx="7161213" cy="3756025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243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0244" name="Rectangle 1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Metaphor for Software Design: “Connecting the Dots” </a:t>
            </a:r>
            <a:r>
              <a:rPr lang="en-US" altLang="en-US" sz="2000" dirty="0">
                <a:latin typeface="Arial Rounded MT Bold" panose="020F0704030504030204" pitchFamily="34" charset="0"/>
                <a:ea typeface="+mj-ea"/>
                <a:cs typeface="+mj-cs"/>
              </a:rPr>
              <a:t>within the System Box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pic>
        <p:nvPicPr>
          <p:cNvPr id="10245" name="Picture 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8" y="1793875"/>
            <a:ext cx="8937625" cy="3621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6" name="Text Box 76"/>
          <p:cNvSpPr txBox="1"/>
          <p:nvPr/>
        </p:nvSpPr>
        <p:spPr>
          <a:xfrm>
            <a:off x="103188" y="5883275"/>
            <a:ext cx="8651875" cy="812800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>
              <a:lnSpc>
                <a:spcPct val="110000"/>
              </a:lnSpc>
            </a:pPr>
            <a:r>
              <a:rPr lang="en-US" altLang="en-US" sz="1600" b="0" dirty="0">
                <a:latin typeface="Arial" panose="020B0604020202020204" pitchFamily="34" charset="0"/>
              </a:rPr>
              <a:t>We start System Sequence Diagrams (which show only actors and the system as a “black box”) to design the internal behavior using concept modules from the Domain Model</a:t>
            </a:r>
            <a:br>
              <a:rPr lang="en-US" altLang="en-US" sz="1600" b="0" dirty="0">
                <a:latin typeface="Arial" panose="020B0604020202020204" pitchFamily="34" charset="0"/>
              </a:rPr>
            </a:br>
            <a:r>
              <a:rPr lang="en-US" altLang="en-US" sz="1600" b="0" dirty="0">
                <a:latin typeface="Arial" panose="020B0604020202020204" pitchFamily="34" charset="0"/>
              </a:rPr>
              <a:t>and modify or introduce new modules, as needed to make the given system function work.</a:t>
            </a:r>
            <a:endParaRPr lang="en-US" altLang="en-US" sz="1600" b="0" dirty="0">
              <a:latin typeface="Arial" panose="020B0604020202020204" pitchFamily="34" charset="0"/>
            </a:endParaRPr>
          </a:p>
        </p:txBody>
      </p:sp>
      <p:sp>
        <p:nvSpPr>
          <p:cNvPr id="10247" name="Text Box 76"/>
          <p:cNvSpPr txBox="1"/>
          <p:nvPr/>
        </p:nvSpPr>
        <p:spPr>
          <a:xfrm>
            <a:off x="1841500" y="1674813"/>
            <a:ext cx="922338" cy="2381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tIns="0" bIns="0">
            <a:spAutoFit/>
          </a:bodyPr>
          <a:p>
            <a:pPr eaLnBrk="1" hangingPunct="1">
              <a:lnSpc>
                <a:spcPct val="110000"/>
              </a:lnSpc>
            </a:pPr>
            <a:r>
              <a:rPr lang="en-US" altLang="en-US" sz="1400" b="0" dirty="0">
                <a:latin typeface="Arial" panose="020B0604020202020204" pitchFamily="34" charset="0"/>
              </a:rPr>
              <a:t>SYSTEM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130175" y="152400"/>
            <a:ext cx="8932863" cy="1143000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Types of Object Responsibilities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8736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rgbClr val="680000"/>
              </a:buClr>
            </a:pPr>
            <a:r>
              <a:rPr lang="en-US" altLang="en-US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Knowing responsibility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Memorizing data values, collections, or references to other objects, represented as attributes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rgbClr val="680000"/>
              </a:buClr>
            </a:pPr>
            <a:r>
              <a:rPr lang="en-US" altLang="en-US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Doing responsibility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Performing computations, data processing, control of physical devices, etc., represented as methods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rgbClr val="680000"/>
              </a:buClr>
            </a:pPr>
            <a:r>
              <a:rPr lang="en-US" altLang="en-US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Delegation responsibility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Delegating subtasks to object’s  </a:t>
            </a:r>
            <a:r>
              <a:rPr lang="en-US" altLang="en-US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dependencies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represented as sending messages (</a:t>
            </a: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method invocation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)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229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 …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2292" name="Rectangle 5"/>
          <p:cNvSpPr/>
          <p:nvPr/>
        </p:nvSpPr>
        <p:spPr>
          <a:xfrm>
            <a:off x="295275" y="1671638"/>
            <a:ext cx="7593013" cy="3079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Delegation responsibilities identified for the system function “enter key”:</a:t>
            </a:r>
            <a:endParaRPr lang="en-US" altLang="en-US" sz="2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9488" y="2357438"/>
          <a:ext cx="7096125" cy="2828928"/>
        </p:xfrm>
        <a:graphic>
          <a:graphicData uri="http://schemas.openxmlformats.org/drawingml/2006/table">
            <a:tbl>
              <a:tblPr/>
              <a:tblGrid>
                <a:gridCol w="7096125"/>
              </a:tblGrid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Responsibility Description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Send message to Key Checker to validate the key entered by the user.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FFBA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Send message to a DeviceCtrl to disarm the lock device.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FFBA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Send message to a DeviceCtrl to switch the light bulb on.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FFBA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Send message to PhotoObserver to report whether daylight is sensed.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FFBA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Send message to a DeviceCtrl to sound the alarm bell.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FFB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Rectangle 2"/>
          <p:cNvSpPr>
            <a:spLocks noGrp="1"/>
          </p:cNvSpPr>
          <p:nvPr>
            <p:ph type="title"/>
          </p:nvPr>
        </p:nvSpPr>
        <p:spPr>
          <a:xfrm>
            <a:off x="130175" y="152400"/>
            <a:ext cx="8932863" cy="1143000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Assigning Responsibilities: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Design Diagramming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052" name="Content Placeholder 1"/>
          <p:cNvSpPr>
            <a:spLocks noGrp="1"/>
          </p:cNvSpPr>
          <p:nvPr>
            <p:ph idx="1"/>
          </p:nvPr>
        </p:nvSpPr>
        <p:spPr>
          <a:xfrm>
            <a:off x="452438" y="5026025"/>
            <a:ext cx="8410575" cy="1831975"/>
          </a:xfrm>
        </p:spPr>
        <p:txBody>
          <a:bodyPr vert="horz" wrap="square" lIns="91440" tIns="45720" rIns="91440" bIns="45720" anchor="t" anchorCtr="0"/>
          <a:p>
            <a:pPr>
              <a:spcBef>
                <a:spcPts val="400"/>
              </a:spcBef>
              <a:buClr>
                <a:srgbClr val="680000"/>
              </a:buClr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Two purposes of design diagrams: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lvl="1" indent="-457200">
              <a:spcBef>
                <a:spcPts val="400"/>
              </a:spcBef>
              <a:buFont typeface="Comic Sans MS" panose="030F0702030302020204" pitchFamily="66" charset="0"/>
              <a:buAutoNum type="alphaLcParenR"/>
            </a:pPr>
            <a:r>
              <a:rPr lang="en-US" altLang="zh-CN" sz="1700" dirty="0">
                <a:latin typeface="Calibri" panose="020F0502020204030204" pitchFamily="34" charset="0"/>
                <a:ea typeface="宋体" panose="02010600030101010101" pitchFamily="2" charset="-122"/>
              </a:rPr>
              <a:t>Communication tool, during the creative process </a:t>
            </a:r>
            <a:r>
              <a:rPr lang="en-US" altLang="zh-CN" sz="1700" dirty="0">
                <a:latin typeface="Calibri" panose="020F0502020204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1700" dirty="0">
                <a:latin typeface="Calibri" panose="020F0502020204030204" pitchFamily="34" charset="0"/>
                <a:ea typeface="宋体" panose="02010600030101010101" pitchFamily="2" charset="-122"/>
              </a:rPr>
              <a:t>use hand drawings and take an image by phone camera (</a:t>
            </a:r>
            <a:r>
              <a:rPr lang="en-US" altLang="zh-CN" sz="14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don’t waste time on polishing something until you’re feel confident that you reached a good design</a:t>
            </a:r>
            <a:r>
              <a:rPr lang="en-US" altLang="zh-CN" sz="1700" dirty="0">
                <a:latin typeface="Calibri" panose="020F0502020204030204" pitchFamily="34" charset="0"/>
                <a:ea typeface="宋体" panose="02010600030101010101" pitchFamily="2" charset="-122"/>
              </a:rPr>
              <a:t>)</a:t>
            </a:r>
            <a:endParaRPr lang="en-US" altLang="zh-CN" sz="17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914400" lvl="1" indent="-457200">
              <a:spcBef>
                <a:spcPts val="400"/>
              </a:spcBef>
              <a:buFont typeface="Comic Sans MS" panose="030F0702030302020204" pitchFamily="66" charset="0"/>
              <a:buAutoNum type="alphaLcParenR"/>
            </a:pPr>
            <a:r>
              <a:rPr lang="en-US" altLang="zh-CN" sz="1700" dirty="0">
                <a:latin typeface="Calibri" panose="020F0502020204030204" pitchFamily="34" charset="0"/>
                <a:ea typeface="宋体" panose="02010600030101010101" pitchFamily="2" charset="-122"/>
              </a:rPr>
              <a:t>Specification tool for documentation </a:t>
            </a:r>
            <a:r>
              <a:rPr lang="en-US" altLang="zh-CN" sz="1700" dirty="0">
                <a:latin typeface="Calibri" panose="020F0502020204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 use UML design tools to produce presentable and professional-looking diagrams</a:t>
            </a:r>
            <a:endParaRPr lang="en-US" altLang="zh-CN" sz="17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053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054" name="Text Box 21"/>
          <p:cNvSpPr txBox="1"/>
          <p:nvPr/>
        </p:nvSpPr>
        <p:spPr>
          <a:xfrm>
            <a:off x="334963" y="4349750"/>
            <a:ext cx="29305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en-US" sz="1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(a) Hand-drawn during creation</a:t>
            </a:r>
            <a:endParaRPr lang="en-US" altLang="en-US" sz="1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5" name="Text Box 22"/>
          <p:cNvSpPr txBox="1"/>
          <p:nvPr/>
        </p:nvSpPr>
        <p:spPr>
          <a:xfrm>
            <a:off x="5294313" y="4349750"/>
            <a:ext cx="2776537" cy="554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en-US" sz="1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(b) Computer-based UML</a:t>
            </a:r>
            <a:br>
              <a:rPr lang="en-US" altLang="en-US" sz="1800" b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altLang="en-US" sz="1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specification of the design</a:t>
            </a:r>
            <a:endParaRPr lang="en-US" altLang="en-US" sz="1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050" name="Object 40"/>
          <p:cNvGraphicFramePr>
            <a:graphicFrameLocks noChangeAspect="1"/>
          </p:cNvGraphicFramePr>
          <p:nvPr/>
        </p:nvGraphicFramePr>
        <p:xfrm>
          <a:off x="8094663" y="88900"/>
          <a:ext cx="985837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56615" imgH="831850" progId="Visio.Drawing.6">
                  <p:embed/>
                </p:oleObj>
              </mc:Choice>
              <mc:Fallback>
                <p:oleObj name="" r:id="rId1" imgW="856615" imgH="831850" progId="Visio.Drawing.6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94663" y="88900"/>
                        <a:ext cx="985837" cy="957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6" name="Picture 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13" y="2133600"/>
            <a:ext cx="3268662" cy="1774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3" y="2133600"/>
            <a:ext cx="4565650" cy="1539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Gluing the Modules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2400" dirty="0">
                <a:latin typeface="Arial Rounded MT Bold" panose="020F0704030504030204" pitchFamily="34" charset="0"/>
                <a:ea typeface="+mj-ea"/>
                <a:cs typeface="+mj-cs"/>
              </a:rPr>
              <a:t>(“Connecting the Dots”)</a:t>
            </a:r>
            <a:endParaRPr lang="en-US" altLang="en-US" sz="2400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3315" name="Text Box 5"/>
          <p:cNvSpPr txBox="1"/>
          <p:nvPr/>
        </p:nvSpPr>
        <p:spPr>
          <a:xfrm>
            <a:off x="401638" y="1811338"/>
            <a:ext cx="3560762" cy="150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u="sng" dirty="0">
                <a:latin typeface="Calibri" panose="020F0502020204030204" pitchFamily="34" charset="0"/>
                <a:cs typeface="Calibri" panose="020F0502020204030204" pitchFamily="34" charset="0"/>
              </a:rPr>
              <a:t>Use Case UC-1:	</a:t>
            </a:r>
            <a:r>
              <a:rPr lang="en-US" altLang="en-US" sz="1400" u="sng" dirty="0">
                <a:latin typeface="Calibri" panose="020F0502020204030204" pitchFamily="34" charset="0"/>
                <a:cs typeface="Calibri" panose="020F0502020204030204" pitchFamily="34" charset="0"/>
              </a:rPr>
              <a:t>Unlock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(plan of action):</a:t>
            </a:r>
            <a:endParaRPr lang="en-US" altLang="en-US" sz="14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1. User enters the key code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2. System verifies that the key is valid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3. System signals the key validity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4. System controls: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(a) LockDevice to disarm the lock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(b) LightSwitch to turn the light on</a:t>
            </a:r>
            <a:endParaRPr lang="en-US" altLang="en-US" sz="14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316" name="Text Box 6"/>
          <p:cNvSpPr txBox="1"/>
          <p:nvPr/>
        </p:nvSpPr>
        <p:spPr>
          <a:xfrm>
            <a:off x="138113" y="1160463"/>
            <a:ext cx="2413000" cy="4270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800" b="0" dirty="0">
                <a:latin typeface="Arial" panose="020B0604020202020204" pitchFamily="34" charset="0"/>
              </a:rPr>
              <a:t>Starting Points:</a:t>
            </a:r>
            <a:endParaRPr lang="en-US" altLang="en-US" sz="2800" b="0" dirty="0">
              <a:latin typeface="Arial" panose="020B0604020202020204" pitchFamily="34" charset="0"/>
            </a:endParaRPr>
          </a:p>
        </p:txBody>
      </p:sp>
      <p:sp>
        <p:nvSpPr>
          <p:cNvPr id="13317" name="Text Box 8"/>
          <p:cNvSpPr txBox="1"/>
          <p:nvPr/>
        </p:nvSpPr>
        <p:spPr>
          <a:xfrm>
            <a:off x="4657725" y="1379538"/>
            <a:ext cx="36004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u="sng" dirty="0">
                <a:latin typeface="Arial" panose="020B0604020202020204" pitchFamily="34" charset="0"/>
              </a:rPr>
              <a:t>Domain Model from UC-1</a:t>
            </a:r>
            <a:r>
              <a:rPr lang="en-US" altLang="en-US" sz="1400" b="0" dirty="0">
                <a:latin typeface="Arial" panose="020B0604020202020204" pitchFamily="34" charset="0"/>
              </a:rPr>
              <a:t> (concept modules):</a:t>
            </a:r>
            <a:endParaRPr lang="en-US" altLang="en-US" sz="1400" u="sng" dirty="0">
              <a:latin typeface="Arial" panose="020B0604020202020204" pitchFamily="34" charset="0"/>
            </a:endParaRPr>
          </a:p>
        </p:txBody>
      </p:sp>
      <p:pic>
        <p:nvPicPr>
          <p:cNvPr id="13318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5925" y="1630363"/>
            <a:ext cx="4845050" cy="2119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8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5925" y="1630363"/>
            <a:ext cx="4845050" cy="2119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Rectangle 10"/>
          <p:cNvSpPr/>
          <p:nvPr/>
        </p:nvSpPr>
        <p:spPr>
          <a:xfrm>
            <a:off x="4197350" y="1417638"/>
            <a:ext cx="4873625" cy="2332037"/>
          </a:xfrm>
          <a:prstGeom prst="rect">
            <a:avLst/>
          </a:prstGeom>
          <a:solidFill>
            <a:srgbClr val="FFFFFF">
              <a:alpha val="70195"/>
            </a:srgbClr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lum bright="19000"/>
          </a:blip>
          <a:stretch>
            <a:fillRect/>
          </a:stretch>
        </p:blipFill>
        <p:spPr>
          <a:xfrm>
            <a:off x="5918655" y="4983072"/>
            <a:ext cx="3121623" cy="1701129"/>
          </a:xfrm>
          <a:prstGeom prst="rect">
            <a:avLst/>
          </a:prstGeom>
        </p:spPr>
      </p:pic>
      <p:sp>
        <p:nvSpPr>
          <p:cNvPr id="3" name="Rectangle 4"/>
          <p:cNvSpPr>
            <a:spLocks noGrp="1" noChangeArrowheads="1"/>
          </p:cNvSpPr>
          <p:nvPr>
            <p:ph type="title"/>
          </p:nvPr>
        </p:nvSpPr>
        <p:spPr>
          <a:xfrm>
            <a:off x="122238" y="152400"/>
            <a:ext cx="9021763" cy="1143000"/>
          </a:xfrm>
        </p:spPr>
        <p:txBody>
          <a:bodyPr vert="horz" wrap="square" lIns="0" tIns="45720" rIns="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Gluing the Modules by Plan Walkthrough</a:t>
            </a:r>
            <a:endParaRPr kumimoji="0" lang="en-US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4342" name="Text Box 5"/>
          <p:cNvSpPr txBox="1"/>
          <p:nvPr/>
        </p:nvSpPr>
        <p:spPr>
          <a:xfrm>
            <a:off x="401638" y="1811338"/>
            <a:ext cx="3560762" cy="150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u="sng" dirty="0">
                <a:latin typeface="Calibri" panose="020F0502020204030204" pitchFamily="34" charset="0"/>
                <a:cs typeface="Calibri" panose="020F0502020204030204" pitchFamily="34" charset="0"/>
              </a:rPr>
              <a:t>Use Case UC-1:	</a:t>
            </a:r>
            <a:r>
              <a:rPr lang="en-US" altLang="en-US" sz="1400" u="sng" dirty="0">
                <a:latin typeface="Calibri" panose="020F0502020204030204" pitchFamily="34" charset="0"/>
                <a:cs typeface="Calibri" panose="020F0502020204030204" pitchFamily="34" charset="0"/>
              </a:rPr>
              <a:t>Unlock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(plan of action):</a:t>
            </a:r>
            <a:endParaRPr lang="en-US" altLang="en-US" sz="14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1. User enters the key code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2. System verifies that the key is valid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3. System signals the key validity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4. System controls: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(a) LockDevice to disarm the lock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(b) LightSwitch to turn the light on</a:t>
            </a:r>
            <a:endParaRPr lang="en-US" altLang="en-US" sz="14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4343" name="Text Box 6"/>
          <p:cNvSpPr txBox="1"/>
          <p:nvPr/>
        </p:nvSpPr>
        <p:spPr>
          <a:xfrm>
            <a:off x="138113" y="1160463"/>
            <a:ext cx="2413000" cy="4270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800" b="0" dirty="0">
                <a:latin typeface="Arial" panose="020B0604020202020204" pitchFamily="34" charset="0"/>
              </a:rPr>
              <a:t>Starting Points:</a:t>
            </a:r>
            <a:endParaRPr lang="en-US" altLang="en-US" sz="2800" b="0" dirty="0">
              <a:latin typeface="Arial" panose="020B0604020202020204" pitchFamily="34" charset="0"/>
            </a:endParaRPr>
          </a:p>
        </p:txBody>
      </p:sp>
      <p:sp>
        <p:nvSpPr>
          <p:cNvPr id="14344" name="Text Box 8"/>
          <p:cNvSpPr txBox="1"/>
          <p:nvPr/>
        </p:nvSpPr>
        <p:spPr>
          <a:xfrm>
            <a:off x="4657725" y="1379538"/>
            <a:ext cx="36893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u="sng" dirty="0">
                <a:latin typeface="Arial" panose="020B0604020202020204" pitchFamily="34" charset="0"/>
              </a:rPr>
              <a:t>Domain Model from UC-1</a:t>
            </a:r>
            <a:r>
              <a:rPr lang="en-US" altLang="en-US" sz="1400" b="0" dirty="0">
                <a:latin typeface="Arial" panose="020B0604020202020204" pitchFamily="34" charset="0"/>
              </a:rPr>
              <a:t> (concept modules):</a:t>
            </a:r>
            <a:endParaRPr lang="en-US" altLang="en-US" sz="1400" u="sng" dirty="0">
              <a:latin typeface="Arial" panose="020B0604020202020204" pitchFamily="34" charset="0"/>
            </a:endParaRPr>
          </a:p>
        </p:txBody>
      </p:sp>
      <p:sp>
        <p:nvSpPr>
          <p:cNvPr id="14345" name="Text Box 9"/>
          <p:cNvSpPr txBox="1"/>
          <p:nvPr/>
        </p:nvSpPr>
        <p:spPr>
          <a:xfrm>
            <a:off x="569913" y="4244975"/>
            <a:ext cx="1757362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chemeClr val="accent2"/>
                </a:solidFill>
                <a:latin typeface="Arial" panose="020B0604020202020204" pitchFamily="34" charset="0"/>
              </a:rPr>
              <a:t>Q: who handles this data?</a:t>
            </a:r>
            <a:endParaRPr lang="en-US" altLang="en-US" sz="12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4346" name="Text Box 10"/>
          <p:cNvSpPr txBox="1"/>
          <p:nvPr/>
        </p:nvSpPr>
        <p:spPr>
          <a:xfrm>
            <a:off x="958850" y="4594225"/>
            <a:ext cx="2462213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Interface objects and Controller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4347" name="Freeform 11"/>
          <p:cNvSpPr/>
          <p:nvPr/>
        </p:nvSpPr>
        <p:spPr>
          <a:xfrm>
            <a:off x="265113" y="2192338"/>
            <a:ext cx="652462" cy="2513012"/>
          </a:xfrm>
          <a:custGeom>
            <a:avLst/>
            <a:gdLst>
              <a:gd name="txL" fmla="*/ 0 w 411"/>
              <a:gd name="txT" fmla="*/ 0 h 1151"/>
              <a:gd name="txR" fmla="*/ 411 w 411"/>
              <a:gd name="txB" fmla="*/ 1151 h 1151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411" h="1151">
                <a:moveTo>
                  <a:pt x="80" y="0"/>
                </a:moveTo>
                <a:cubicBezTo>
                  <a:pt x="16" y="66"/>
                  <a:pt x="0" y="106"/>
                  <a:pt x="37" y="553"/>
                </a:cubicBezTo>
                <a:cubicBezTo>
                  <a:pt x="74" y="1000"/>
                  <a:pt x="145" y="1146"/>
                  <a:pt x="411" y="1151"/>
                </a:cubicBezTo>
              </a:path>
            </a:pathLst>
          </a:custGeom>
          <a:noFill/>
          <a:ln w="9525" cap="flat" cmpd="sng">
            <a:solidFill>
              <a:srgbClr val="68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348" name="Text Box 12"/>
          <p:cNvSpPr txBox="1"/>
          <p:nvPr/>
        </p:nvSpPr>
        <p:spPr>
          <a:xfrm>
            <a:off x="671513" y="5026025"/>
            <a:ext cx="3702050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chemeClr val="accent2"/>
                </a:solidFill>
                <a:latin typeface="Arial" panose="020B0604020202020204" pitchFamily="34" charset="0"/>
              </a:rPr>
              <a:t>Q: who performs the verification? Based on what data?</a:t>
            </a:r>
            <a:endParaRPr lang="en-US" altLang="en-US" sz="12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4349" name="Text Box 13"/>
          <p:cNvSpPr txBox="1"/>
          <p:nvPr/>
        </p:nvSpPr>
        <p:spPr>
          <a:xfrm>
            <a:off x="1347788" y="5349875"/>
            <a:ext cx="4975225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Key Checker, based on entered key-code and stored valid keys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4350" name="Freeform 14"/>
          <p:cNvSpPr/>
          <p:nvPr/>
        </p:nvSpPr>
        <p:spPr>
          <a:xfrm>
            <a:off x="198438" y="2373313"/>
            <a:ext cx="1108075" cy="3087687"/>
          </a:xfrm>
          <a:custGeom>
            <a:avLst/>
            <a:gdLst>
              <a:gd name="txL" fmla="*/ 0 w 698"/>
              <a:gd name="txT" fmla="*/ 0 h 1487"/>
              <a:gd name="txR" fmla="*/ 698 w 698"/>
              <a:gd name="txB" fmla="*/ 1487 h 1487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698" h="1487">
                <a:moveTo>
                  <a:pt x="113" y="0"/>
                </a:moveTo>
                <a:cubicBezTo>
                  <a:pt x="0" y="86"/>
                  <a:pt x="0" y="137"/>
                  <a:pt x="58" y="708"/>
                </a:cubicBezTo>
                <a:cubicBezTo>
                  <a:pt x="116" y="1279"/>
                  <a:pt x="293" y="1486"/>
                  <a:pt x="698" y="1487"/>
                </a:cubicBezTo>
              </a:path>
            </a:pathLst>
          </a:custGeom>
          <a:noFill/>
          <a:ln w="9525" cap="flat" cmpd="sng">
            <a:solidFill>
              <a:srgbClr val="68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351" name="Text Box 16"/>
          <p:cNvSpPr txBox="1"/>
          <p:nvPr/>
        </p:nvSpPr>
        <p:spPr>
          <a:xfrm rot="-1200000">
            <a:off x="4286250" y="4397375"/>
            <a:ext cx="1041400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rgbClr val="680000"/>
                </a:solidFill>
                <a:latin typeface="Arial" panose="020B0604020202020204" pitchFamily="34" charset="0"/>
              </a:rPr>
              <a:t>send message:</a:t>
            </a:r>
            <a:endParaRPr lang="en-US" altLang="en-US" sz="1200" b="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sp>
        <p:nvSpPr>
          <p:cNvPr id="16401" name="Text Box 22"/>
          <p:cNvSpPr txBox="1">
            <a:spLocks noChangeArrowheads="1"/>
          </p:cNvSpPr>
          <p:nvPr/>
        </p:nvSpPr>
        <p:spPr bwMode="auto">
          <a:xfrm>
            <a:off x="530225" y="3473450"/>
            <a:ext cx="5924550" cy="6778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Scenario Walkthrough: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for mapping a Use Case plan-of-action to the Domain Model</a:t>
            </a:r>
            <a:endParaRPr kumimoji="0" lang="en-US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53" name="Freeform 26"/>
          <p:cNvSpPr/>
          <p:nvPr/>
        </p:nvSpPr>
        <p:spPr>
          <a:xfrm>
            <a:off x="2328863" y="4716463"/>
            <a:ext cx="2555875" cy="879475"/>
          </a:xfrm>
          <a:custGeom>
            <a:avLst/>
            <a:gdLst>
              <a:gd name="txL" fmla="*/ 0 w 1610"/>
              <a:gd name="txT" fmla="*/ 0 h 554"/>
              <a:gd name="txR" fmla="*/ 1610 w 1610"/>
              <a:gd name="txB" fmla="*/ 554 h 554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610" h="554">
                <a:moveTo>
                  <a:pt x="757" y="0"/>
                </a:moveTo>
                <a:cubicBezTo>
                  <a:pt x="1114" y="0"/>
                  <a:pt x="1610" y="0"/>
                  <a:pt x="1530" y="277"/>
                </a:cubicBezTo>
                <a:cubicBezTo>
                  <a:pt x="1450" y="554"/>
                  <a:pt x="384" y="213"/>
                  <a:pt x="0" y="405"/>
                </a:cubicBezTo>
              </a:path>
            </a:pathLst>
          </a:custGeom>
          <a:noFill/>
          <a:ln w="19050" cap="flat" cmpd="sng">
            <a:solidFill>
              <a:srgbClr val="680000">
                <a:alpha val="100000"/>
              </a:srgbClr>
            </a:solidFill>
            <a:prstDash val="sysDot"/>
            <a:round/>
            <a:headEnd type="none" w="med" len="med"/>
            <a:tailEnd type="triangle" w="lg" len="lg"/>
          </a:ln>
        </p:spPr>
        <p:txBody>
          <a:bodyPr/>
          <a:p>
            <a:endParaRPr lang="zh-CN" altLang="en-US"/>
          </a:p>
        </p:txBody>
      </p:sp>
      <p:sp>
        <p:nvSpPr>
          <p:cNvPr id="14354" name="Freeform 28"/>
          <p:cNvSpPr/>
          <p:nvPr/>
        </p:nvSpPr>
        <p:spPr>
          <a:xfrm>
            <a:off x="4422775" y="5132388"/>
            <a:ext cx="2041525" cy="815975"/>
          </a:xfrm>
          <a:custGeom>
            <a:avLst/>
            <a:gdLst>
              <a:gd name="txL" fmla="*/ 0 w 16084"/>
              <a:gd name="txT" fmla="*/ 0 h 10100"/>
              <a:gd name="txR" fmla="*/ 16084 w 16084"/>
              <a:gd name="txB" fmla="*/ 10100 h 10100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6084" h="10100">
                <a:moveTo>
                  <a:pt x="0" y="100"/>
                </a:moveTo>
                <a:cubicBezTo>
                  <a:pt x="13131" y="-548"/>
                  <a:pt x="16066" y="2093"/>
                  <a:pt x="16084" y="4419"/>
                </a:cubicBezTo>
                <a:cubicBezTo>
                  <a:pt x="16102" y="6745"/>
                  <a:pt x="15518" y="9644"/>
                  <a:pt x="9403" y="10100"/>
                </a:cubicBezTo>
              </a:path>
            </a:pathLst>
          </a:custGeom>
          <a:noFill/>
          <a:ln w="19050" cap="flat" cmpd="sng">
            <a:solidFill>
              <a:srgbClr val="680000">
                <a:alpha val="100000"/>
              </a:srgbClr>
            </a:solidFill>
            <a:prstDash val="sysDot"/>
            <a:round/>
            <a:headEnd type="none" w="med" len="med"/>
            <a:tailEnd type="triangle" w="lg" len="lg"/>
          </a:ln>
        </p:spPr>
        <p:txBody>
          <a:bodyPr/>
          <a:p>
            <a:endParaRPr lang="zh-CN" altLang="en-US"/>
          </a:p>
        </p:txBody>
      </p:sp>
      <p:sp>
        <p:nvSpPr>
          <p:cNvPr id="14355" name="Text Box 27"/>
          <p:cNvSpPr txBox="1"/>
          <p:nvPr/>
        </p:nvSpPr>
        <p:spPr>
          <a:xfrm>
            <a:off x="5043488" y="4914900"/>
            <a:ext cx="801687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rgbClr val="680000"/>
                </a:solidFill>
                <a:latin typeface="Arial" panose="020B0604020202020204" pitchFamily="34" charset="0"/>
              </a:rPr>
              <a:t>return value</a:t>
            </a:r>
            <a:endParaRPr lang="en-US" altLang="en-US" sz="1200" b="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sp>
        <p:nvSpPr>
          <p:cNvPr id="14356" name="Text Box 8"/>
          <p:cNvSpPr txBox="1"/>
          <p:nvPr/>
        </p:nvSpPr>
        <p:spPr>
          <a:xfrm>
            <a:off x="3692525" y="6459538"/>
            <a:ext cx="2373313" cy="306387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Design Sequence Diagram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cxnSp>
        <p:nvCxnSpPr>
          <p:cNvPr id="14357" name="Straight Arrow Connector 3"/>
          <p:cNvCxnSpPr/>
          <p:nvPr/>
        </p:nvCxnSpPr>
        <p:spPr>
          <a:xfrm flipV="1">
            <a:off x="6065838" y="6200775"/>
            <a:ext cx="325437" cy="258763"/>
          </a:xfrm>
          <a:prstGeom prst="straightConnector1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stealth" w="lg" len="lg"/>
          </a:ln>
        </p:spPr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lum contrast="40000"/>
          </a:blip>
          <a:stretch>
            <a:fillRect/>
          </a:stretch>
        </p:blipFill>
        <p:spPr>
          <a:xfrm>
            <a:off x="6742142" y="2916966"/>
            <a:ext cx="2351965" cy="1752232"/>
          </a:xfrm>
          <a:prstGeom prst="rect">
            <a:avLst/>
          </a:prstGeom>
        </p:spPr>
      </p:pic>
      <p:sp>
        <p:nvSpPr>
          <p:cNvPr id="14359" name="Freeform 203"/>
          <p:cNvSpPr>
            <a:spLocks noChangeAspect="1"/>
          </p:cNvSpPr>
          <p:nvPr/>
        </p:nvSpPr>
        <p:spPr>
          <a:xfrm>
            <a:off x="7918450" y="4495800"/>
            <a:ext cx="271463" cy="311150"/>
          </a:xfrm>
          <a:custGeom>
            <a:avLst/>
            <a:gdLst>
              <a:gd name="txL" fmla="*/ 0 w 1629"/>
              <a:gd name="txT" fmla="*/ 0 h 1868"/>
              <a:gd name="txR" fmla="*/ 1629 w 1629"/>
              <a:gd name="txB" fmla="*/ 1868 h 1868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629" h="1868">
                <a:moveTo>
                  <a:pt x="0" y="3"/>
                </a:moveTo>
                <a:cubicBezTo>
                  <a:pt x="75" y="198"/>
                  <a:pt x="357" y="1017"/>
                  <a:pt x="417" y="1188"/>
                </a:cubicBezTo>
                <a:cubicBezTo>
                  <a:pt x="230" y="1189"/>
                  <a:pt x="57" y="1185"/>
                  <a:pt x="54" y="1215"/>
                </a:cubicBezTo>
                <a:cubicBezTo>
                  <a:pt x="429" y="1539"/>
                  <a:pt x="666" y="1731"/>
                  <a:pt x="825" y="1868"/>
                </a:cubicBezTo>
                <a:cubicBezTo>
                  <a:pt x="951" y="1809"/>
                  <a:pt x="1224" y="1542"/>
                  <a:pt x="1629" y="1209"/>
                </a:cubicBezTo>
                <a:cubicBezTo>
                  <a:pt x="1566" y="1185"/>
                  <a:pt x="1422" y="1199"/>
                  <a:pt x="1203" y="1191"/>
                </a:cubicBezTo>
                <a:cubicBezTo>
                  <a:pt x="1371" y="624"/>
                  <a:pt x="1443" y="414"/>
                  <a:pt x="1572" y="15"/>
                </a:cubicBezTo>
                <a:cubicBezTo>
                  <a:pt x="777" y="15"/>
                  <a:pt x="219" y="0"/>
                  <a:pt x="0" y="3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3175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360" name="Freeform 204"/>
          <p:cNvSpPr>
            <a:spLocks noChangeAspect="1"/>
          </p:cNvSpPr>
          <p:nvPr/>
        </p:nvSpPr>
        <p:spPr>
          <a:xfrm rot="-1525974">
            <a:off x="6286500" y="4271963"/>
            <a:ext cx="307975" cy="257175"/>
          </a:xfrm>
          <a:custGeom>
            <a:avLst/>
            <a:gdLst>
              <a:gd name="txL" fmla="*/ 0 w 1851"/>
              <a:gd name="txT" fmla="*/ 0 h 1539"/>
              <a:gd name="txR" fmla="*/ 1851 w 1851"/>
              <a:gd name="txB" fmla="*/ 1539 h 1539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851" h="1539">
                <a:moveTo>
                  <a:pt x="0" y="1539"/>
                </a:moveTo>
                <a:cubicBezTo>
                  <a:pt x="423" y="1401"/>
                  <a:pt x="1146" y="1134"/>
                  <a:pt x="1224" y="1128"/>
                </a:cubicBezTo>
                <a:cubicBezTo>
                  <a:pt x="1239" y="1257"/>
                  <a:pt x="1224" y="1458"/>
                  <a:pt x="1239" y="1536"/>
                </a:cubicBezTo>
                <a:cubicBezTo>
                  <a:pt x="1395" y="1326"/>
                  <a:pt x="1560" y="1134"/>
                  <a:pt x="1851" y="747"/>
                </a:cubicBezTo>
                <a:cubicBezTo>
                  <a:pt x="1548" y="360"/>
                  <a:pt x="1287" y="69"/>
                  <a:pt x="1224" y="0"/>
                </a:cubicBezTo>
                <a:cubicBezTo>
                  <a:pt x="1215" y="45"/>
                  <a:pt x="1236" y="294"/>
                  <a:pt x="1224" y="369"/>
                </a:cubicBezTo>
                <a:cubicBezTo>
                  <a:pt x="1080" y="315"/>
                  <a:pt x="249" y="117"/>
                  <a:pt x="3" y="30"/>
                </a:cubicBezTo>
                <a:cubicBezTo>
                  <a:pt x="6" y="369"/>
                  <a:pt x="27" y="981"/>
                  <a:pt x="0" y="1539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3175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361" name="Text Box 16"/>
          <p:cNvSpPr txBox="1"/>
          <p:nvPr/>
        </p:nvSpPr>
        <p:spPr>
          <a:xfrm rot="-1200000">
            <a:off x="4621213" y="4502150"/>
            <a:ext cx="844550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rgbClr val="680000"/>
                </a:solidFill>
                <a:latin typeface="Arial" panose="020B0604020202020204" pitchFamily="34" charset="0"/>
              </a:rPr>
              <a:t>checkKey(k)</a:t>
            </a:r>
            <a:endParaRPr lang="en-US" altLang="en-US" sz="1200" b="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Mapping Actions to Modules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5363" name="Text Box 5"/>
          <p:cNvSpPr txBox="1"/>
          <p:nvPr/>
        </p:nvSpPr>
        <p:spPr>
          <a:xfrm>
            <a:off x="401638" y="1811338"/>
            <a:ext cx="3560762" cy="150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u="sng" dirty="0">
                <a:latin typeface="Calibri" panose="020F0502020204030204" pitchFamily="34" charset="0"/>
                <a:cs typeface="Calibri" panose="020F0502020204030204" pitchFamily="34" charset="0"/>
              </a:rPr>
              <a:t>Use Case UC-1:	</a:t>
            </a:r>
            <a:r>
              <a:rPr lang="en-US" altLang="en-US" sz="1400" u="sng" dirty="0">
                <a:latin typeface="Calibri" panose="020F0502020204030204" pitchFamily="34" charset="0"/>
                <a:cs typeface="Calibri" panose="020F0502020204030204" pitchFamily="34" charset="0"/>
              </a:rPr>
              <a:t>Unlock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(plan of action):</a:t>
            </a:r>
            <a:endParaRPr lang="en-US" altLang="en-US" sz="14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1. User enters the key code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2. System verifies that the key is valid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3. System signals the key validity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4. System controls: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(a) LockDevice to disarm the lock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(b) LightSwitch to turn the light on</a:t>
            </a:r>
            <a:endParaRPr lang="en-US" altLang="en-US" sz="14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364" name="Text Box 6"/>
          <p:cNvSpPr txBox="1"/>
          <p:nvPr/>
        </p:nvSpPr>
        <p:spPr>
          <a:xfrm>
            <a:off x="138113" y="1160463"/>
            <a:ext cx="2413000" cy="4270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800" b="0" dirty="0">
                <a:latin typeface="Arial" panose="020B0604020202020204" pitchFamily="34" charset="0"/>
              </a:rPr>
              <a:t>Starting Points:</a:t>
            </a:r>
            <a:endParaRPr lang="en-US" altLang="en-US" sz="2800" b="0" dirty="0">
              <a:latin typeface="Arial" panose="020B0604020202020204" pitchFamily="34" charset="0"/>
            </a:endParaRPr>
          </a:p>
        </p:txBody>
      </p:sp>
      <p:sp>
        <p:nvSpPr>
          <p:cNvPr id="15365" name="Text Box 8"/>
          <p:cNvSpPr txBox="1"/>
          <p:nvPr/>
        </p:nvSpPr>
        <p:spPr>
          <a:xfrm>
            <a:off x="4657725" y="1379538"/>
            <a:ext cx="36004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u="sng" dirty="0">
                <a:latin typeface="Arial" panose="020B0604020202020204" pitchFamily="34" charset="0"/>
              </a:rPr>
              <a:t>Domain Model from UC-1</a:t>
            </a:r>
            <a:r>
              <a:rPr lang="en-US" altLang="en-US" sz="1400" b="0" dirty="0">
                <a:latin typeface="Arial" panose="020B0604020202020204" pitchFamily="34" charset="0"/>
              </a:rPr>
              <a:t> (concept modules):</a:t>
            </a:r>
            <a:endParaRPr lang="en-US" altLang="en-US" sz="1400" u="sng" dirty="0">
              <a:latin typeface="Arial" panose="020B0604020202020204" pitchFamily="34" charset="0"/>
            </a:endParaRPr>
          </a:p>
        </p:txBody>
      </p:sp>
      <p:sp>
        <p:nvSpPr>
          <p:cNvPr id="15366" name="Text Box 9"/>
          <p:cNvSpPr txBox="1"/>
          <p:nvPr/>
        </p:nvSpPr>
        <p:spPr>
          <a:xfrm>
            <a:off x="569913" y="4244975"/>
            <a:ext cx="1757362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chemeClr val="accent2"/>
                </a:solidFill>
                <a:latin typeface="Arial" panose="020B0604020202020204" pitchFamily="34" charset="0"/>
              </a:rPr>
              <a:t>Q: who handles this data?</a:t>
            </a:r>
            <a:endParaRPr lang="en-US" altLang="en-US" sz="12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5367" name="Text Box 10"/>
          <p:cNvSpPr txBox="1"/>
          <p:nvPr/>
        </p:nvSpPr>
        <p:spPr>
          <a:xfrm>
            <a:off x="958850" y="4594225"/>
            <a:ext cx="2462213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Interface objects and Controller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5368" name="Freeform 11"/>
          <p:cNvSpPr/>
          <p:nvPr/>
        </p:nvSpPr>
        <p:spPr>
          <a:xfrm>
            <a:off x="265113" y="2192338"/>
            <a:ext cx="652462" cy="2513012"/>
          </a:xfrm>
          <a:custGeom>
            <a:avLst/>
            <a:gdLst>
              <a:gd name="txL" fmla="*/ 0 w 411"/>
              <a:gd name="txT" fmla="*/ 0 h 1151"/>
              <a:gd name="txR" fmla="*/ 411 w 411"/>
              <a:gd name="txB" fmla="*/ 1151 h 1151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411" h="1151">
                <a:moveTo>
                  <a:pt x="80" y="0"/>
                </a:moveTo>
                <a:cubicBezTo>
                  <a:pt x="16" y="66"/>
                  <a:pt x="0" y="106"/>
                  <a:pt x="37" y="553"/>
                </a:cubicBezTo>
                <a:cubicBezTo>
                  <a:pt x="74" y="1000"/>
                  <a:pt x="145" y="1146"/>
                  <a:pt x="411" y="1151"/>
                </a:cubicBezTo>
              </a:path>
            </a:pathLst>
          </a:custGeom>
          <a:noFill/>
          <a:ln w="9525" cap="flat" cmpd="sng">
            <a:solidFill>
              <a:srgbClr val="68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369" name="Text Box 12"/>
          <p:cNvSpPr txBox="1"/>
          <p:nvPr/>
        </p:nvSpPr>
        <p:spPr>
          <a:xfrm>
            <a:off x="671513" y="5026025"/>
            <a:ext cx="3702050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chemeClr val="accent2"/>
                </a:solidFill>
                <a:latin typeface="Arial" panose="020B0604020202020204" pitchFamily="34" charset="0"/>
              </a:rPr>
              <a:t>Q: who performs the verification? Based on what data?</a:t>
            </a:r>
            <a:endParaRPr lang="en-US" altLang="en-US" sz="12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5370" name="Text Box 13"/>
          <p:cNvSpPr txBox="1"/>
          <p:nvPr/>
        </p:nvSpPr>
        <p:spPr>
          <a:xfrm>
            <a:off x="1347788" y="5349875"/>
            <a:ext cx="4975225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Key Checker, based on entered key-code and stored valid keys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5371" name="Freeform 14"/>
          <p:cNvSpPr/>
          <p:nvPr/>
        </p:nvSpPr>
        <p:spPr>
          <a:xfrm>
            <a:off x="198438" y="2373313"/>
            <a:ext cx="1108075" cy="3087687"/>
          </a:xfrm>
          <a:custGeom>
            <a:avLst/>
            <a:gdLst>
              <a:gd name="txL" fmla="*/ 0 w 698"/>
              <a:gd name="txT" fmla="*/ 0 h 1487"/>
              <a:gd name="txR" fmla="*/ 698 w 698"/>
              <a:gd name="txB" fmla="*/ 1487 h 1487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698" h="1487">
                <a:moveTo>
                  <a:pt x="113" y="0"/>
                </a:moveTo>
                <a:cubicBezTo>
                  <a:pt x="0" y="86"/>
                  <a:pt x="0" y="137"/>
                  <a:pt x="58" y="708"/>
                </a:cubicBezTo>
                <a:cubicBezTo>
                  <a:pt x="116" y="1279"/>
                  <a:pt x="293" y="1486"/>
                  <a:pt x="698" y="1487"/>
                </a:cubicBezTo>
              </a:path>
            </a:pathLst>
          </a:custGeom>
          <a:noFill/>
          <a:ln w="9525" cap="flat" cmpd="sng">
            <a:solidFill>
              <a:srgbClr val="68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372" name="Text Box 16"/>
          <p:cNvSpPr txBox="1"/>
          <p:nvPr/>
        </p:nvSpPr>
        <p:spPr>
          <a:xfrm>
            <a:off x="4203700" y="4549775"/>
            <a:ext cx="1538288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rgbClr val="680000"/>
                </a:solidFill>
                <a:latin typeface="Arial" panose="020B0604020202020204" pitchFamily="34" charset="0"/>
              </a:rPr>
              <a:t>message: checkKey(k)</a:t>
            </a:r>
            <a:endParaRPr lang="en-US" altLang="en-US" sz="1200" b="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sp>
        <p:nvSpPr>
          <p:cNvPr id="15373" name="Freeform 17"/>
          <p:cNvSpPr/>
          <p:nvPr/>
        </p:nvSpPr>
        <p:spPr>
          <a:xfrm>
            <a:off x="138113" y="2559050"/>
            <a:ext cx="1160462" cy="3554413"/>
          </a:xfrm>
          <a:custGeom>
            <a:avLst/>
            <a:gdLst>
              <a:gd name="txL" fmla="*/ 0 w 731"/>
              <a:gd name="txT" fmla="*/ 0 h 1636"/>
              <a:gd name="txR" fmla="*/ 731 w 731"/>
              <a:gd name="txB" fmla="*/ 1636 h 1636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731" h="1636">
                <a:moveTo>
                  <a:pt x="146" y="0"/>
                </a:moveTo>
                <a:cubicBezTo>
                  <a:pt x="33" y="94"/>
                  <a:pt x="0" y="238"/>
                  <a:pt x="70" y="786"/>
                </a:cubicBezTo>
                <a:cubicBezTo>
                  <a:pt x="140" y="1334"/>
                  <a:pt x="261" y="1629"/>
                  <a:pt x="731" y="1636"/>
                </a:cubicBezTo>
              </a:path>
            </a:pathLst>
          </a:custGeom>
          <a:noFill/>
          <a:ln w="9525" cap="flat" cmpd="sng">
            <a:solidFill>
              <a:srgbClr val="68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374" name="Text Box 18"/>
          <p:cNvSpPr txBox="1"/>
          <p:nvPr/>
        </p:nvSpPr>
        <p:spPr>
          <a:xfrm>
            <a:off x="1417638" y="5992813"/>
            <a:ext cx="695325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Controller and Interface objects, based on key verification; because they are </a:t>
            </a:r>
            <a:r>
              <a:rPr lang="en-US" alt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en-US" altLang="en-US" sz="1400" b="0" dirty="0">
                <a:latin typeface="Arial" panose="020B0604020202020204" pitchFamily="34" charset="0"/>
              </a:rPr>
              <a:t>boundary</a:t>
            </a:r>
            <a:r>
              <a:rPr lang="en-US" alt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endParaRPr lang="en-US" altLang="en-US" sz="1400" b="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5375" name="Text Box 19"/>
          <p:cNvSpPr txBox="1"/>
          <p:nvPr/>
        </p:nvSpPr>
        <p:spPr>
          <a:xfrm>
            <a:off x="823913" y="5737225"/>
            <a:ext cx="2551112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chemeClr val="accent2"/>
                </a:solidFill>
                <a:latin typeface="Arial" panose="020B0604020202020204" pitchFamily="34" charset="0"/>
              </a:rPr>
              <a:t>Q: who signals? Based on what data?</a:t>
            </a:r>
            <a:endParaRPr lang="en-US" altLang="en-US" sz="12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5376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5925" y="1630363"/>
            <a:ext cx="4845050" cy="2119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77" name="Text Box 22"/>
          <p:cNvSpPr txBox="1"/>
          <p:nvPr/>
        </p:nvSpPr>
        <p:spPr>
          <a:xfrm>
            <a:off x="530225" y="3473450"/>
            <a:ext cx="6386513" cy="6778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800" b="0" dirty="0">
                <a:latin typeface="Arial" panose="020B0604020202020204" pitchFamily="34" charset="0"/>
              </a:rPr>
              <a:t>Scenario Walkthrough:</a:t>
            </a:r>
            <a:endParaRPr lang="en-US" altLang="en-US" sz="28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600" b="0" dirty="0">
                <a:latin typeface="Arial" panose="020B0604020202020204" pitchFamily="34" charset="0"/>
              </a:rPr>
              <a:t>	for mapping a Use Case plan-of-action to the Domain Model</a:t>
            </a:r>
            <a:endParaRPr lang="en-US" altLang="en-US" sz="1600" b="0" dirty="0">
              <a:latin typeface="Arial" panose="020B0604020202020204" pitchFamily="34" charset="0"/>
            </a:endParaRPr>
          </a:p>
        </p:txBody>
      </p:sp>
      <p:sp>
        <p:nvSpPr>
          <p:cNvPr id="15378" name="Freeform 23"/>
          <p:cNvSpPr/>
          <p:nvPr/>
        </p:nvSpPr>
        <p:spPr>
          <a:xfrm>
            <a:off x="112713" y="2849563"/>
            <a:ext cx="1338262" cy="3773487"/>
          </a:xfrm>
          <a:custGeom>
            <a:avLst/>
            <a:gdLst>
              <a:gd name="txL" fmla="*/ 0 w 843"/>
              <a:gd name="txT" fmla="*/ 0 h 2377"/>
              <a:gd name="txR" fmla="*/ 843 w 843"/>
              <a:gd name="txB" fmla="*/ 2377 h 2377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843" h="2377">
                <a:moveTo>
                  <a:pt x="182" y="0"/>
                </a:moveTo>
                <a:cubicBezTo>
                  <a:pt x="69" y="129"/>
                  <a:pt x="0" y="507"/>
                  <a:pt x="38" y="1280"/>
                </a:cubicBezTo>
                <a:cubicBezTo>
                  <a:pt x="76" y="2053"/>
                  <a:pt x="373" y="2367"/>
                  <a:pt x="843" y="2377"/>
                </a:cubicBezTo>
              </a:path>
            </a:pathLst>
          </a:custGeom>
          <a:noFill/>
          <a:ln w="9525" cap="flat" cmpd="sng">
            <a:solidFill>
              <a:srgbClr val="68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379" name="Text Box 24"/>
          <p:cNvSpPr txBox="1"/>
          <p:nvPr/>
        </p:nvSpPr>
        <p:spPr>
          <a:xfrm>
            <a:off x="1570038" y="6502400"/>
            <a:ext cx="4422775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Controller or Key checker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???</a:t>
            </a:r>
            <a:r>
              <a:rPr lang="en-US" altLang="en-US" sz="1400" b="0" dirty="0">
                <a:latin typeface="Arial" panose="020B0604020202020204" pitchFamily="34" charset="0"/>
              </a:rPr>
              <a:t>, based on key verification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5380" name="Text Box 25"/>
          <p:cNvSpPr txBox="1"/>
          <p:nvPr/>
        </p:nvSpPr>
        <p:spPr>
          <a:xfrm>
            <a:off x="976313" y="6246813"/>
            <a:ext cx="2551112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chemeClr val="accent2"/>
                </a:solidFill>
                <a:latin typeface="Arial" panose="020B0604020202020204" pitchFamily="34" charset="0"/>
              </a:rPr>
              <a:t>Q: who signals? Based on what data?</a:t>
            </a:r>
            <a:endParaRPr lang="en-US" altLang="en-US" sz="12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5381" name="Freeform 26"/>
          <p:cNvSpPr/>
          <p:nvPr/>
        </p:nvSpPr>
        <p:spPr>
          <a:xfrm>
            <a:off x="2328863" y="4716463"/>
            <a:ext cx="2555875" cy="879475"/>
          </a:xfrm>
          <a:custGeom>
            <a:avLst/>
            <a:gdLst>
              <a:gd name="txL" fmla="*/ 0 w 1610"/>
              <a:gd name="txT" fmla="*/ 0 h 554"/>
              <a:gd name="txR" fmla="*/ 1610 w 1610"/>
              <a:gd name="txB" fmla="*/ 554 h 554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610" h="554">
                <a:moveTo>
                  <a:pt x="757" y="0"/>
                </a:moveTo>
                <a:cubicBezTo>
                  <a:pt x="1114" y="0"/>
                  <a:pt x="1610" y="0"/>
                  <a:pt x="1530" y="277"/>
                </a:cubicBezTo>
                <a:cubicBezTo>
                  <a:pt x="1450" y="554"/>
                  <a:pt x="384" y="213"/>
                  <a:pt x="0" y="405"/>
                </a:cubicBezTo>
              </a:path>
            </a:pathLst>
          </a:custGeom>
          <a:noFill/>
          <a:ln w="19050" cap="flat" cmpd="sng">
            <a:solidFill>
              <a:srgbClr val="680000">
                <a:alpha val="100000"/>
              </a:srgbClr>
            </a:solidFill>
            <a:prstDash val="sysDot"/>
            <a:round/>
            <a:headEnd type="none" w="med" len="med"/>
            <a:tailEnd type="triangle" w="lg" len="lg"/>
          </a:ln>
        </p:spPr>
        <p:txBody>
          <a:bodyPr/>
          <a:p>
            <a:endParaRPr lang="zh-CN" altLang="en-US"/>
          </a:p>
        </p:txBody>
      </p:sp>
      <p:sp>
        <p:nvSpPr>
          <p:cNvPr id="15382" name="Text Box 27"/>
          <p:cNvSpPr txBox="1"/>
          <p:nvPr/>
        </p:nvSpPr>
        <p:spPr>
          <a:xfrm>
            <a:off x="5794375" y="4973638"/>
            <a:ext cx="80168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rgbClr val="680000"/>
                </a:solidFill>
                <a:latin typeface="Arial" panose="020B0604020202020204" pitchFamily="34" charset="0"/>
              </a:rPr>
              <a:t>return value</a:t>
            </a:r>
            <a:endParaRPr lang="en-US" altLang="en-US" sz="1200" b="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sp>
        <p:nvSpPr>
          <p:cNvPr id="15383" name="Freeform 28"/>
          <p:cNvSpPr/>
          <p:nvPr/>
        </p:nvSpPr>
        <p:spPr>
          <a:xfrm>
            <a:off x="2260600" y="5064125"/>
            <a:ext cx="4460875" cy="1200150"/>
          </a:xfrm>
          <a:custGeom>
            <a:avLst/>
            <a:gdLst>
              <a:gd name="txL" fmla="*/ 0 w 2810"/>
              <a:gd name="txT" fmla="*/ 0 h 756"/>
              <a:gd name="txR" fmla="*/ 2810 w 2810"/>
              <a:gd name="txB" fmla="*/ 756 h 756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2810" h="756">
                <a:moveTo>
                  <a:pt x="1362" y="48"/>
                </a:moveTo>
                <a:cubicBezTo>
                  <a:pt x="1921" y="48"/>
                  <a:pt x="2810" y="0"/>
                  <a:pt x="2624" y="378"/>
                </a:cubicBezTo>
                <a:cubicBezTo>
                  <a:pt x="2438" y="756"/>
                  <a:pt x="602" y="415"/>
                  <a:pt x="0" y="607"/>
                </a:cubicBezTo>
              </a:path>
            </a:pathLst>
          </a:custGeom>
          <a:noFill/>
          <a:ln w="19050" cap="flat" cmpd="sng">
            <a:solidFill>
              <a:srgbClr val="680000">
                <a:alpha val="100000"/>
              </a:srgbClr>
            </a:solidFill>
            <a:prstDash val="sysDot"/>
            <a:round/>
            <a:headEnd type="none" w="med" len="med"/>
            <a:tailEnd type="triangle" w="lg" len="lg"/>
          </a:ln>
        </p:spPr>
        <p:txBody>
          <a:bodyPr/>
          <a:p>
            <a:endParaRPr lang="zh-CN" altLang="en-US"/>
          </a:p>
        </p:txBody>
      </p:sp>
      <p:sp>
        <p:nvSpPr>
          <p:cNvPr id="15384" name="Freeform 29"/>
          <p:cNvSpPr/>
          <p:nvPr/>
        </p:nvSpPr>
        <p:spPr>
          <a:xfrm>
            <a:off x="3657600" y="5468938"/>
            <a:ext cx="5265738" cy="1270000"/>
          </a:xfrm>
          <a:custGeom>
            <a:avLst/>
            <a:gdLst>
              <a:gd name="txL" fmla="*/ 0 w 3317"/>
              <a:gd name="txT" fmla="*/ 0 h 800"/>
              <a:gd name="txR" fmla="*/ 3317 w 3317"/>
              <a:gd name="txB" fmla="*/ 800 h 80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3317" h="800">
                <a:moveTo>
                  <a:pt x="2128" y="48"/>
                </a:moveTo>
                <a:cubicBezTo>
                  <a:pt x="2853" y="0"/>
                  <a:pt x="3317" y="192"/>
                  <a:pt x="3120" y="496"/>
                </a:cubicBezTo>
                <a:cubicBezTo>
                  <a:pt x="2923" y="800"/>
                  <a:pt x="1248" y="336"/>
                  <a:pt x="0" y="651"/>
                </a:cubicBezTo>
              </a:path>
            </a:pathLst>
          </a:custGeom>
          <a:noFill/>
          <a:ln w="19050" cap="flat" cmpd="sng">
            <a:solidFill>
              <a:srgbClr val="680000">
                <a:alpha val="100000"/>
              </a:srgbClr>
            </a:solidFill>
            <a:prstDash val="sysDot"/>
            <a:round/>
            <a:headEnd type="none" w="med" len="med"/>
            <a:tailEnd type="triangle" w="lg" len="lg"/>
          </a:ln>
        </p:spPr>
        <p:txBody>
          <a:bodyPr/>
          <a:p>
            <a:endParaRPr lang="zh-CN" altLang="en-US"/>
          </a:p>
        </p:txBody>
      </p:sp>
      <p:sp>
        <p:nvSpPr>
          <p:cNvPr id="15385" name="Text Box 30"/>
          <p:cNvSpPr txBox="1"/>
          <p:nvPr/>
        </p:nvSpPr>
        <p:spPr>
          <a:xfrm>
            <a:off x="7775575" y="5321300"/>
            <a:ext cx="954088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rgbClr val="680000"/>
                </a:solidFill>
                <a:latin typeface="Arial" panose="020B0604020202020204" pitchFamily="34" charset="0"/>
              </a:rPr>
              <a:t>message: ???</a:t>
            </a:r>
            <a:endParaRPr lang="en-US" altLang="en-US" sz="1200" b="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Sequence Diagram (in progress)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6387" name="Slide Number Placeholder 2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671513" y="5026025"/>
            <a:ext cx="3738563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Q: who performs the verification? Based on what data?</a:t>
            </a: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1347788" y="5349875"/>
            <a:ext cx="5013325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Key Checker, based on entered key-code and stored valid keys</a:t>
            </a:r>
            <a:endParaRPr kumimoji="0" lang="en-US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0" name="Text Box 18"/>
          <p:cNvSpPr txBox="1"/>
          <p:nvPr/>
        </p:nvSpPr>
        <p:spPr>
          <a:xfrm>
            <a:off x="1417638" y="5992813"/>
            <a:ext cx="695325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Controller and Interface objects, based on key verification; because they are </a:t>
            </a:r>
            <a:r>
              <a:rPr lang="en-US" alt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en-US" altLang="en-US" sz="1400" b="0" dirty="0">
                <a:latin typeface="Arial" panose="020B0604020202020204" pitchFamily="34" charset="0"/>
              </a:rPr>
              <a:t>boundary</a:t>
            </a:r>
            <a:r>
              <a:rPr lang="en-US" alt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endParaRPr lang="en-US" altLang="en-US" sz="1400" b="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6391" name="Text Box 19"/>
          <p:cNvSpPr txBox="1"/>
          <p:nvPr/>
        </p:nvSpPr>
        <p:spPr>
          <a:xfrm>
            <a:off x="823913" y="5737225"/>
            <a:ext cx="2551112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chemeClr val="accent2"/>
                </a:solidFill>
                <a:latin typeface="Arial" panose="020B0604020202020204" pitchFamily="34" charset="0"/>
              </a:rPr>
              <a:t>Q: who signals? Based on what data?</a:t>
            </a:r>
            <a:endParaRPr lang="en-US" altLang="en-US" sz="12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6392" name="Text Box 24"/>
          <p:cNvSpPr txBox="1"/>
          <p:nvPr/>
        </p:nvSpPr>
        <p:spPr>
          <a:xfrm>
            <a:off x="1570038" y="6502400"/>
            <a:ext cx="4422775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Controller or Key checker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???</a:t>
            </a:r>
            <a:r>
              <a:rPr lang="en-US" altLang="en-US" sz="1400" b="0" dirty="0">
                <a:latin typeface="Arial" panose="020B0604020202020204" pitchFamily="34" charset="0"/>
              </a:rPr>
              <a:t>, based on key verification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6393" name="Text Box 25"/>
          <p:cNvSpPr txBox="1"/>
          <p:nvPr/>
        </p:nvSpPr>
        <p:spPr>
          <a:xfrm>
            <a:off x="976313" y="6246813"/>
            <a:ext cx="2551112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chemeClr val="accent2"/>
                </a:solidFill>
                <a:latin typeface="Arial" panose="020B0604020202020204" pitchFamily="34" charset="0"/>
              </a:rPr>
              <a:t>Q: who signals? Based on what data?</a:t>
            </a:r>
            <a:endParaRPr lang="en-US" altLang="en-US" sz="12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6394" name="Text Box 27"/>
          <p:cNvSpPr txBox="1"/>
          <p:nvPr/>
        </p:nvSpPr>
        <p:spPr>
          <a:xfrm>
            <a:off x="5794375" y="4973638"/>
            <a:ext cx="80962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rgbClr val="D4ACAC"/>
                </a:solidFill>
                <a:latin typeface="Arial" panose="020B0604020202020204" pitchFamily="34" charset="0"/>
              </a:rPr>
              <a:t>return value</a:t>
            </a:r>
            <a:endParaRPr lang="en-US" altLang="en-US" sz="1200" b="0" dirty="0">
              <a:solidFill>
                <a:srgbClr val="D4ACAC"/>
              </a:solidFill>
              <a:latin typeface="Arial" panose="020B0604020202020204" pitchFamily="34" charset="0"/>
            </a:endParaRPr>
          </a:p>
        </p:txBody>
      </p:sp>
      <p:sp>
        <p:nvSpPr>
          <p:cNvPr id="16395" name="Freeform 28"/>
          <p:cNvSpPr/>
          <p:nvPr/>
        </p:nvSpPr>
        <p:spPr>
          <a:xfrm>
            <a:off x="2260600" y="5064125"/>
            <a:ext cx="4460875" cy="1200150"/>
          </a:xfrm>
          <a:custGeom>
            <a:avLst/>
            <a:gdLst>
              <a:gd name="txL" fmla="*/ 0 w 2810"/>
              <a:gd name="txT" fmla="*/ 0 h 756"/>
              <a:gd name="txR" fmla="*/ 2810 w 2810"/>
              <a:gd name="txB" fmla="*/ 756 h 756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2810" h="756">
                <a:moveTo>
                  <a:pt x="1362" y="48"/>
                </a:moveTo>
                <a:cubicBezTo>
                  <a:pt x="1921" y="48"/>
                  <a:pt x="2810" y="0"/>
                  <a:pt x="2624" y="378"/>
                </a:cubicBezTo>
                <a:cubicBezTo>
                  <a:pt x="2438" y="756"/>
                  <a:pt x="602" y="415"/>
                  <a:pt x="0" y="607"/>
                </a:cubicBezTo>
              </a:path>
            </a:pathLst>
          </a:custGeom>
          <a:noFill/>
          <a:ln w="19050" cap="flat" cmpd="sng">
            <a:solidFill>
              <a:srgbClr val="C98D8D">
                <a:alpha val="100000"/>
              </a:srgbClr>
            </a:solidFill>
            <a:prstDash val="sysDot"/>
            <a:round/>
            <a:headEnd type="none" w="med" len="med"/>
            <a:tailEnd type="triangle" w="lg" len="lg"/>
          </a:ln>
        </p:spPr>
        <p:txBody>
          <a:bodyPr/>
          <a:p>
            <a:endParaRPr lang="zh-CN" altLang="en-US"/>
          </a:p>
        </p:txBody>
      </p:sp>
      <p:sp>
        <p:nvSpPr>
          <p:cNvPr id="16396" name="Freeform 29"/>
          <p:cNvSpPr/>
          <p:nvPr/>
        </p:nvSpPr>
        <p:spPr>
          <a:xfrm>
            <a:off x="3657600" y="5468938"/>
            <a:ext cx="5265738" cy="1270000"/>
          </a:xfrm>
          <a:custGeom>
            <a:avLst/>
            <a:gdLst>
              <a:gd name="txL" fmla="*/ 0 w 3317"/>
              <a:gd name="txT" fmla="*/ 0 h 800"/>
              <a:gd name="txR" fmla="*/ 3317 w 3317"/>
              <a:gd name="txB" fmla="*/ 800 h 80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3317" h="800">
                <a:moveTo>
                  <a:pt x="2128" y="48"/>
                </a:moveTo>
                <a:cubicBezTo>
                  <a:pt x="2853" y="0"/>
                  <a:pt x="3317" y="192"/>
                  <a:pt x="3120" y="496"/>
                </a:cubicBezTo>
                <a:cubicBezTo>
                  <a:pt x="2923" y="800"/>
                  <a:pt x="1248" y="336"/>
                  <a:pt x="0" y="651"/>
                </a:cubicBezTo>
              </a:path>
            </a:pathLst>
          </a:custGeom>
          <a:noFill/>
          <a:ln w="19050" cap="flat" cmpd="sng">
            <a:solidFill>
              <a:srgbClr val="680000">
                <a:alpha val="100000"/>
              </a:srgbClr>
            </a:solidFill>
            <a:prstDash val="sysDot"/>
            <a:round/>
            <a:headEnd type="none" w="med" len="med"/>
            <a:tailEnd type="triangle" w="lg" len="lg"/>
          </a:ln>
        </p:spPr>
        <p:txBody>
          <a:bodyPr/>
          <a:p>
            <a:endParaRPr lang="zh-CN" altLang="en-US"/>
          </a:p>
        </p:txBody>
      </p:sp>
      <p:sp>
        <p:nvSpPr>
          <p:cNvPr id="16397" name="Text Box 30"/>
          <p:cNvSpPr txBox="1"/>
          <p:nvPr/>
        </p:nvSpPr>
        <p:spPr>
          <a:xfrm>
            <a:off x="7775575" y="5321300"/>
            <a:ext cx="954088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solidFill>
                  <a:srgbClr val="680000"/>
                </a:solidFill>
                <a:latin typeface="Arial" panose="020B0604020202020204" pitchFamily="34" charset="0"/>
              </a:rPr>
              <a:t>message: ???</a:t>
            </a:r>
            <a:endParaRPr lang="en-US" altLang="en-US" sz="1200" b="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pic>
        <p:nvPicPr>
          <p:cNvPr id="16398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1749425"/>
            <a:ext cx="8016875" cy="2690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Alternative Designs: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7411" name="Slide Number Placeholder 2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4" name="Content Placeholder 1"/>
          <p:cNvSpPr txBox="1"/>
          <p:nvPr/>
        </p:nvSpPr>
        <p:spPr>
          <a:xfrm>
            <a:off x="487363" y="5122863"/>
            <a:ext cx="8410575" cy="15033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Which design is better?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 to evaluate the “goodness” of a design?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3" y="2122488"/>
            <a:ext cx="3983037" cy="180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4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122488"/>
            <a:ext cx="3867150" cy="178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5" name="Text Box 10"/>
          <p:cNvSpPr txBox="1"/>
          <p:nvPr/>
        </p:nvSpPr>
        <p:spPr>
          <a:xfrm>
            <a:off x="3998913" y="3206750"/>
            <a:ext cx="1058862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800" b="0" dirty="0">
                <a:latin typeface="Arial" panose="020B0604020202020204" pitchFamily="34" charset="0"/>
              </a:rPr>
              <a:t>versus</a:t>
            </a:r>
            <a:endParaRPr lang="en-US" altLang="en-US" sz="2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How Data Travels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8435" name="Line 27"/>
          <p:cNvSpPr/>
          <p:nvPr/>
        </p:nvSpPr>
        <p:spPr>
          <a:xfrm>
            <a:off x="6032500" y="2992438"/>
            <a:ext cx="36512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36" name="Line 7"/>
          <p:cNvSpPr/>
          <p:nvPr/>
        </p:nvSpPr>
        <p:spPr>
          <a:xfrm>
            <a:off x="2736850" y="3000375"/>
            <a:ext cx="36512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37" name="Line 15"/>
          <p:cNvSpPr/>
          <p:nvPr/>
        </p:nvSpPr>
        <p:spPr>
          <a:xfrm>
            <a:off x="1403350" y="3000375"/>
            <a:ext cx="411163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38" name="Line 17"/>
          <p:cNvSpPr/>
          <p:nvPr/>
        </p:nvSpPr>
        <p:spPr>
          <a:xfrm>
            <a:off x="3779838" y="3000375"/>
            <a:ext cx="36512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39" name="Line 19"/>
          <p:cNvSpPr/>
          <p:nvPr/>
        </p:nvSpPr>
        <p:spPr>
          <a:xfrm>
            <a:off x="4983163" y="3000375"/>
            <a:ext cx="36512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40" name="Text Box 8"/>
          <p:cNvSpPr txBox="1"/>
          <p:nvPr/>
        </p:nvSpPr>
        <p:spPr>
          <a:xfrm>
            <a:off x="2651125" y="2593975"/>
            <a:ext cx="531813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key-code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41" name="Rectangle 11"/>
          <p:cNvSpPr/>
          <p:nvPr/>
        </p:nvSpPr>
        <p:spPr>
          <a:xfrm>
            <a:off x="1822450" y="2851150"/>
            <a:ext cx="914400" cy="298450"/>
          </a:xfrm>
          <a:prstGeom prst="rect">
            <a:avLst/>
          </a:prstGeom>
          <a:solidFill>
            <a:srgbClr val="FFFFCC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 eaLnBrk="1" hangingPunct="1"/>
            <a:r>
              <a:rPr lang="en-US" altLang="en-US" sz="1000" b="0" dirty="0">
                <a:latin typeface="Arial" panose="020B0604020202020204" pitchFamily="34" charset="0"/>
              </a:rPr>
              <a:t>Controller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42" name="Rectangle 12"/>
          <p:cNvSpPr/>
          <p:nvPr/>
        </p:nvSpPr>
        <p:spPr>
          <a:xfrm>
            <a:off x="3117850" y="2851150"/>
            <a:ext cx="660400" cy="298450"/>
          </a:xfrm>
          <a:prstGeom prst="rect">
            <a:avLst/>
          </a:prstGeom>
          <a:solidFill>
            <a:srgbClr val="FFFFCC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 eaLnBrk="1" hangingPunct="1"/>
            <a:r>
              <a:rPr lang="en-US" altLang="en-US" sz="1000" b="0" dirty="0">
                <a:latin typeface="Arial" panose="020B0604020202020204" pitchFamily="34" charset="0"/>
              </a:rPr>
              <a:t>Checker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43" name="Rectangle 13"/>
          <p:cNvSpPr/>
          <p:nvPr/>
        </p:nvSpPr>
        <p:spPr>
          <a:xfrm>
            <a:off x="4160838" y="2851150"/>
            <a:ext cx="822325" cy="298450"/>
          </a:xfrm>
          <a:prstGeom prst="rect">
            <a:avLst/>
          </a:prstGeom>
          <a:solidFill>
            <a:srgbClr val="FFFFCC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 eaLnBrk="1" hangingPunct="1"/>
            <a:r>
              <a:rPr lang="en-US" altLang="en-US" sz="1000" b="0" dirty="0">
                <a:latin typeface="Arial" panose="020B0604020202020204" pitchFamily="34" charset="0"/>
              </a:rPr>
              <a:t>Controller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44" name="Rectangle 14"/>
          <p:cNvSpPr/>
          <p:nvPr/>
        </p:nvSpPr>
        <p:spPr>
          <a:xfrm>
            <a:off x="5365750" y="2851150"/>
            <a:ext cx="673100" cy="298450"/>
          </a:xfrm>
          <a:prstGeom prst="rect">
            <a:avLst/>
          </a:prstGeom>
          <a:solidFill>
            <a:srgbClr val="FFFFCC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 eaLnBrk="1" hangingPunct="1"/>
            <a:r>
              <a:rPr lang="en-US" altLang="en-US" sz="1000" b="0" dirty="0">
                <a:latin typeface="Arial" panose="020B0604020202020204" pitchFamily="34" charset="0"/>
              </a:rPr>
              <a:t>LockCtrl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45" name="Text Box 16"/>
          <p:cNvSpPr txBox="1"/>
          <p:nvPr/>
        </p:nvSpPr>
        <p:spPr>
          <a:xfrm>
            <a:off x="1279525" y="2593975"/>
            <a:ext cx="531813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key-code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46" name="Text Box 18"/>
          <p:cNvSpPr txBox="1"/>
          <p:nvPr/>
        </p:nvSpPr>
        <p:spPr>
          <a:xfrm>
            <a:off x="3752850" y="2593975"/>
            <a:ext cx="414338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is-valid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47" name="Text Box 20"/>
          <p:cNvSpPr txBox="1"/>
          <p:nvPr/>
        </p:nvSpPr>
        <p:spPr>
          <a:xfrm>
            <a:off x="4646613" y="2593975"/>
            <a:ext cx="1017587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activation-params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48" name="Text Box 21"/>
          <p:cNvSpPr txBox="1"/>
          <p:nvPr/>
        </p:nvSpPr>
        <p:spPr>
          <a:xfrm>
            <a:off x="2662238" y="3552825"/>
            <a:ext cx="1792287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“expert” on key validity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8449" name="Freeform 22"/>
          <p:cNvSpPr/>
          <p:nvPr/>
        </p:nvSpPr>
        <p:spPr>
          <a:xfrm>
            <a:off x="3235325" y="3192463"/>
            <a:ext cx="387350" cy="320675"/>
          </a:xfrm>
          <a:custGeom>
            <a:avLst/>
            <a:gdLst>
              <a:gd name="txL" fmla="*/ 0 w 244"/>
              <a:gd name="txT" fmla="*/ 0 h 202"/>
              <a:gd name="txR" fmla="*/ 244 w 244"/>
              <a:gd name="txB" fmla="*/ 202 h 202"/>
            </a:gdLst>
            <a:ahLst/>
            <a:cxnLst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44" h="202">
                <a:moveTo>
                  <a:pt x="116" y="202"/>
                </a:moveTo>
                <a:cubicBezTo>
                  <a:pt x="0" y="82"/>
                  <a:pt x="244" y="172"/>
                  <a:pt x="116" y="0"/>
                </a:cubicBezTo>
              </a:path>
            </a:pathLst>
          </a:custGeom>
          <a:noFill/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8450" name="Group 23"/>
          <p:cNvGrpSpPr>
            <a:grpSpLocks noChangeAspect="1"/>
          </p:cNvGrpSpPr>
          <p:nvPr/>
        </p:nvGrpSpPr>
        <p:grpSpPr>
          <a:xfrm>
            <a:off x="668338" y="2630488"/>
            <a:ext cx="373062" cy="746125"/>
            <a:chOff x="5070" y="1110"/>
            <a:chExt cx="251" cy="501"/>
          </a:xfrm>
        </p:grpSpPr>
        <p:sp>
          <p:nvSpPr>
            <p:cNvPr id="18471" name="Freeform 24"/>
            <p:cNvSpPr>
              <a:spLocks noChangeAspect="1"/>
            </p:cNvSpPr>
            <p:nvPr/>
          </p:nvSpPr>
          <p:spPr>
            <a:xfrm>
              <a:off x="5070" y="1209"/>
              <a:ext cx="251" cy="402"/>
            </a:xfrm>
            <a:custGeom>
              <a:avLst/>
              <a:gdLst>
                <a:gd name="txL" fmla="*/ 0 w 251"/>
                <a:gd name="txT" fmla="*/ 0 h 402"/>
                <a:gd name="txR" fmla="*/ 251 w 251"/>
                <a:gd name="txB" fmla="*/ 402 h 402"/>
              </a:gdLst>
              <a:ahLst/>
              <a:cxnLst>
                <a:cxn ang="0">
                  <a:pos x="0" y="138"/>
                </a:cxn>
                <a:cxn ang="0">
                  <a:pos x="47" y="0"/>
                </a:cxn>
                <a:cxn ang="0">
                  <a:pos x="114" y="6"/>
                </a:cxn>
                <a:cxn ang="0">
                  <a:pos x="143" y="6"/>
                </a:cxn>
                <a:cxn ang="0">
                  <a:pos x="209" y="2"/>
                </a:cxn>
                <a:cxn ang="0">
                  <a:pos x="251" y="134"/>
                </a:cxn>
                <a:cxn ang="0">
                  <a:pos x="221" y="150"/>
                </a:cxn>
                <a:cxn ang="0">
                  <a:pos x="186" y="47"/>
                </a:cxn>
                <a:cxn ang="0">
                  <a:pos x="186" y="180"/>
                </a:cxn>
                <a:cxn ang="0">
                  <a:pos x="233" y="402"/>
                </a:cxn>
                <a:cxn ang="0">
                  <a:pos x="186" y="402"/>
                </a:cxn>
                <a:cxn ang="0">
                  <a:pos x="128" y="210"/>
                </a:cxn>
                <a:cxn ang="0">
                  <a:pos x="69" y="402"/>
                </a:cxn>
                <a:cxn ang="0">
                  <a:pos x="24" y="402"/>
                </a:cxn>
                <a:cxn ang="0">
                  <a:pos x="69" y="174"/>
                </a:cxn>
                <a:cxn ang="0">
                  <a:pos x="69" y="45"/>
                </a:cxn>
                <a:cxn ang="0">
                  <a:pos x="35" y="150"/>
                </a:cxn>
                <a:cxn ang="0">
                  <a:pos x="0" y="138"/>
                </a:cxn>
              </a:cxnLst>
              <a:rect l="txL" t="txT" r="txR" b="txB"/>
              <a:pathLst>
                <a:path w="251" h="402">
                  <a:moveTo>
                    <a:pt x="0" y="138"/>
                  </a:moveTo>
                  <a:lnTo>
                    <a:pt x="47" y="0"/>
                  </a:lnTo>
                  <a:lnTo>
                    <a:pt x="114" y="6"/>
                  </a:lnTo>
                  <a:lnTo>
                    <a:pt x="143" y="6"/>
                  </a:lnTo>
                  <a:lnTo>
                    <a:pt x="209" y="2"/>
                  </a:lnTo>
                  <a:lnTo>
                    <a:pt x="251" y="134"/>
                  </a:lnTo>
                  <a:lnTo>
                    <a:pt x="221" y="150"/>
                  </a:lnTo>
                  <a:lnTo>
                    <a:pt x="186" y="47"/>
                  </a:lnTo>
                  <a:lnTo>
                    <a:pt x="186" y="180"/>
                  </a:lnTo>
                  <a:lnTo>
                    <a:pt x="233" y="402"/>
                  </a:lnTo>
                  <a:lnTo>
                    <a:pt x="186" y="402"/>
                  </a:lnTo>
                  <a:lnTo>
                    <a:pt x="128" y="210"/>
                  </a:lnTo>
                  <a:lnTo>
                    <a:pt x="69" y="402"/>
                  </a:lnTo>
                  <a:lnTo>
                    <a:pt x="24" y="402"/>
                  </a:lnTo>
                  <a:lnTo>
                    <a:pt x="69" y="174"/>
                  </a:lnTo>
                  <a:lnTo>
                    <a:pt x="69" y="45"/>
                  </a:lnTo>
                  <a:lnTo>
                    <a:pt x="35" y="15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72" name="Oval 25"/>
            <p:cNvSpPr>
              <a:spLocks noChangeAspect="1"/>
            </p:cNvSpPr>
            <p:nvPr/>
          </p:nvSpPr>
          <p:spPr>
            <a:xfrm>
              <a:off x="5145" y="1110"/>
              <a:ext cx="100" cy="10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pic>
        <p:nvPicPr>
          <p:cNvPr id="18451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6424613" y="2595563"/>
            <a:ext cx="539750" cy="976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52" name="Text Box 28"/>
          <p:cNvSpPr txBox="1"/>
          <p:nvPr/>
        </p:nvSpPr>
        <p:spPr>
          <a:xfrm>
            <a:off x="527050" y="1490663"/>
            <a:ext cx="6981825" cy="7905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b="0" dirty="0">
                <a:latin typeface="Arial" panose="020B0604020202020204" pitchFamily="34" charset="0"/>
              </a:rPr>
              <a:t>Option A:</a:t>
            </a:r>
            <a:endParaRPr lang="en-US" altLang="en-US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“expert” (</a:t>
            </a:r>
            <a:r>
              <a:rPr lang="en-US" altLang="en-US" sz="1400" b="0" dirty="0">
                <a:solidFill>
                  <a:schemeClr val="accent2"/>
                </a:solidFill>
                <a:latin typeface="Arial" panose="020B0604020202020204" pitchFamily="34" charset="0"/>
              </a:rPr>
              <a:t>Key Checker</a:t>
            </a:r>
            <a:r>
              <a:rPr lang="en-US" altLang="en-US" sz="1400" b="0" dirty="0">
                <a:latin typeface="Arial" panose="020B0604020202020204" pitchFamily="34" charset="0"/>
              </a:rPr>
              <a:t>) passes the information (</a:t>
            </a:r>
            <a:r>
              <a:rPr lang="en-US" altLang="en-US" sz="1400" b="0" dirty="0">
                <a:solidFill>
                  <a:schemeClr val="accent2"/>
                </a:solidFill>
                <a:latin typeface="Arial" panose="020B0604020202020204" pitchFamily="34" charset="0"/>
              </a:rPr>
              <a:t>key validity</a:t>
            </a:r>
            <a:r>
              <a:rPr lang="en-US" altLang="en-US" sz="1400" b="0" dirty="0">
                <a:latin typeface="Arial" panose="020B0604020202020204" pitchFamily="34" charset="0"/>
              </a:rPr>
              <a:t>) to another object (</a:t>
            </a:r>
            <a:r>
              <a:rPr lang="en-US" altLang="en-US" sz="1400" b="0" dirty="0">
                <a:solidFill>
                  <a:schemeClr val="accent2"/>
                </a:solidFill>
                <a:latin typeface="Arial" panose="020B0604020202020204" pitchFamily="34" charset="0"/>
              </a:rPr>
              <a:t>Controller</a:t>
            </a:r>
            <a:r>
              <a:rPr lang="en-US" altLang="en-US" sz="1400" b="0" dirty="0">
                <a:latin typeface="Arial" panose="020B0604020202020204" pitchFamily="34" charset="0"/>
              </a:rPr>
              <a:t>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which uses it to perform some work (</a:t>
            </a:r>
            <a:r>
              <a:rPr lang="en-US" altLang="en-US" sz="1400" b="0" dirty="0">
                <a:solidFill>
                  <a:schemeClr val="accent2"/>
                </a:solidFill>
                <a:latin typeface="Arial" panose="020B0604020202020204" pitchFamily="34" charset="0"/>
              </a:rPr>
              <a:t>activate the lock device</a:t>
            </a:r>
            <a:r>
              <a:rPr lang="en-US" altLang="en-US" sz="1400" b="0" dirty="0">
                <a:latin typeface="Arial" panose="020B0604020202020204" pitchFamily="34" charset="0"/>
              </a:rPr>
              <a:t>)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8453" name="Line 32"/>
          <p:cNvSpPr/>
          <p:nvPr/>
        </p:nvSpPr>
        <p:spPr>
          <a:xfrm>
            <a:off x="2736850" y="5870575"/>
            <a:ext cx="36512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54" name="Line 33"/>
          <p:cNvSpPr/>
          <p:nvPr/>
        </p:nvSpPr>
        <p:spPr>
          <a:xfrm>
            <a:off x="1403350" y="5870575"/>
            <a:ext cx="411163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5" name="Line 34"/>
          <p:cNvSpPr/>
          <p:nvPr/>
        </p:nvSpPr>
        <p:spPr>
          <a:xfrm>
            <a:off x="3779838" y="5870575"/>
            <a:ext cx="36512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56" name="Text Box 36"/>
          <p:cNvSpPr txBox="1"/>
          <p:nvPr/>
        </p:nvSpPr>
        <p:spPr>
          <a:xfrm>
            <a:off x="2651125" y="5464175"/>
            <a:ext cx="531813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key-code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57" name="Rectangle 37"/>
          <p:cNvSpPr/>
          <p:nvPr/>
        </p:nvSpPr>
        <p:spPr>
          <a:xfrm>
            <a:off x="1822450" y="5721350"/>
            <a:ext cx="914400" cy="298450"/>
          </a:xfrm>
          <a:prstGeom prst="rect">
            <a:avLst/>
          </a:prstGeom>
          <a:solidFill>
            <a:srgbClr val="FFFFCC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 eaLnBrk="1" hangingPunct="1"/>
            <a:r>
              <a:rPr lang="en-US" altLang="en-US" sz="1000" b="0" dirty="0">
                <a:latin typeface="Arial" panose="020B0604020202020204" pitchFamily="34" charset="0"/>
              </a:rPr>
              <a:t>Controller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58" name="Rectangle 38"/>
          <p:cNvSpPr/>
          <p:nvPr/>
        </p:nvSpPr>
        <p:spPr>
          <a:xfrm>
            <a:off x="3117850" y="5721350"/>
            <a:ext cx="660400" cy="298450"/>
          </a:xfrm>
          <a:prstGeom prst="rect">
            <a:avLst/>
          </a:prstGeom>
          <a:solidFill>
            <a:srgbClr val="FFFFCC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 eaLnBrk="1" hangingPunct="1"/>
            <a:r>
              <a:rPr lang="en-US" altLang="en-US" sz="1000" b="0" dirty="0">
                <a:latin typeface="Arial" panose="020B0604020202020204" pitchFamily="34" charset="0"/>
              </a:rPr>
              <a:t>Checker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59" name="Text Box 41"/>
          <p:cNvSpPr txBox="1"/>
          <p:nvPr/>
        </p:nvSpPr>
        <p:spPr>
          <a:xfrm>
            <a:off x="1279525" y="5464175"/>
            <a:ext cx="531813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key-code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60" name="Text Box 43"/>
          <p:cNvSpPr txBox="1"/>
          <p:nvPr/>
        </p:nvSpPr>
        <p:spPr>
          <a:xfrm>
            <a:off x="3448050" y="5464175"/>
            <a:ext cx="1017588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activation-params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18461" name="Text Box 44"/>
          <p:cNvSpPr txBox="1"/>
          <p:nvPr/>
        </p:nvSpPr>
        <p:spPr>
          <a:xfrm>
            <a:off x="2662238" y="6423025"/>
            <a:ext cx="1792287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“expert” on key validity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8462" name="Freeform 45"/>
          <p:cNvSpPr/>
          <p:nvPr/>
        </p:nvSpPr>
        <p:spPr>
          <a:xfrm>
            <a:off x="3235325" y="6062663"/>
            <a:ext cx="387350" cy="320675"/>
          </a:xfrm>
          <a:custGeom>
            <a:avLst/>
            <a:gdLst>
              <a:gd name="txL" fmla="*/ 0 w 244"/>
              <a:gd name="txT" fmla="*/ 0 h 202"/>
              <a:gd name="txR" fmla="*/ 244 w 244"/>
              <a:gd name="txB" fmla="*/ 202 h 202"/>
            </a:gdLst>
            <a:ahLst/>
            <a:cxnLst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44" h="202">
                <a:moveTo>
                  <a:pt x="116" y="202"/>
                </a:moveTo>
                <a:cubicBezTo>
                  <a:pt x="0" y="82"/>
                  <a:pt x="244" y="172"/>
                  <a:pt x="116" y="0"/>
                </a:cubicBezTo>
              </a:path>
            </a:pathLst>
          </a:custGeom>
          <a:noFill/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8463" name="Group 46"/>
          <p:cNvGrpSpPr>
            <a:grpSpLocks noChangeAspect="1"/>
          </p:cNvGrpSpPr>
          <p:nvPr/>
        </p:nvGrpSpPr>
        <p:grpSpPr>
          <a:xfrm>
            <a:off x="668338" y="5500688"/>
            <a:ext cx="373062" cy="746125"/>
            <a:chOff x="5070" y="1110"/>
            <a:chExt cx="251" cy="501"/>
          </a:xfrm>
        </p:grpSpPr>
        <p:sp>
          <p:nvSpPr>
            <p:cNvPr id="18469" name="Freeform 47"/>
            <p:cNvSpPr>
              <a:spLocks noChangeAspect="1"/>
            </p:cNvSpPr>
            <p:nvPr/>
          </p:nvSpPr>
          <p:spPr>
            <a:xfrm>
              <a:off x="5070" y="1209"/>
              <a:ext cx="251" cy="402"/>
            </a:xfrm>
            <a:custGeom>
              <a:avLst/>
              <a:gdLst>
                <a:gd name="txL" fmla="*/ 0 w 251"/>
                <a:gd name="txT" fmla="*/ 0 h 402"/>
                <a:gd name="txR" fmla="*/ 251 w 251"/>
                <a:gd name="txB" fmla="*/ 402 h 402"/>
              </a:gdLst>
              <a:ahLst/>
              <a:cxnLst>
                <a:cxn ang="0">
                  <a:pos x="0" y="138"/>
                </a:cxn>
                <a:cxn ang="0">
                  <a:pos x="47" y="0"/>
                </a:cxn>
                <a:cxn ang="0">
                  <a:pos x="114" y="6"/>
                </a:cxn>
                <a:cxn ang="0">
                  <a:pos x="143" y="6"/>
                </a:cxn>
                <a:cxn ang="0">
                  <a:pos x="209" y="2"/>
                </a:cxn>
                <a:cxn ang="0">
                  <a:pos x="251" y="134"/>
                </a:cxn>
                <a:cxn ang="0">
                  <a:pos x="221" y="150"/>
                </a:cxn>
                <a:cxn ang="0">
                  <a:pos x="186" y="47"/>
                </a:cxn>
                <a:cxn ang="0">
                  <a:pos x="186" y="180"/>
                </a:cxn>
                <a:cxn ang="0">
                  <a:pos x="233" y="402"/>
                </a:cxn>
                <a:cxn ang="0">
                  <a:pos x="186" y="402"/>
                </a:cxn>
                <a:cxn ang="0">
                  <a:pos x="128" y="210"/>
                </a:cxn>
                <a:cxn ang="0">
                  <a:pos x="69" y="402"/>
                </a:cxn>
                <a:cxn ang="0">
                  <a:pos x="24" y="402"/>
                </a:cxn>
                <a:cxn ang="0">
                  <a:pos x="69" y="174"/>
                </a:cxn>
                <a:cxn ang="0">
                  <a:pos x="69" y="45"/>
                </a:cxn>
                <a:cxn ang="0">
                  <a:pos x="35" y="150"/>
                </a:cxn>
                <a:cxn ang="0">
                  <a:pos x="0" y="138"/>
                </a:cxn>
              </a:cxnLst>
              <a:rect l="txL" t="txT" r="txR" b="txB"/>
              <a:pathLst>
                <a:path w="251" h="402">
                  <a:moveTo>
                    <a:pt x="0" y="138"/>
                  </a:moveTo>
                  <a:lnTo>
                    <a:pt x="47" y="0"/>
                  </a:lnTo>
                  <a:lnTo>
                    <a:pt x="114" y="6"/>
                  </a:lnTo>
                  <a:lnTo>
                    <a:pt x="143" y="6"/>
                  </a:lnTo>
                  <a:lnTo>
                    <a:pt x="209" y="2"/>
                  </a:lnTo>
                  <a:lnTo>
                    <a:pt x="251" y="134"/>
                  </a:lnTo>
                  <a:lnTo>
                    <a:pt x="221" y="150"/>
                  </a:lnTo>
                  <a:lnTo>
                    <a:pt x="186" y="47"/>
                  </a:lnTo>
                  <a:lnTo>
                    <a:pt x="186" y="180"/>
                  </a:lnTo>
                  <a:lnTo>
                    <a:pt x="233" y="402"/>
                  </a:lnTo>
                  <a:lnTo>
                    <a:pt x="186" y="402"/>
                  </a:lnTo>
                  <a:lnTo>
                    <a:pt x="128" y="210"/>
                  </a:lnTo>
                  <a:lnTo>
                    <a:pt x="69" y="402"/>
                  </a:lnTo>
                  <a:lnTo>
                    <a:pt x="24" y="402"/>
                  </a:lnTo>
                  <a:lnTo>
                    <a:pt x="69" y="174"/>
                  </a:lnTo>
                  <a:lnTo>
                    <a:pt x="69" y="45"/>
                  </a:lnTo>
                  <a:lnTo>
                    <a:pt x="35" y="15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70" name="Oval 48"/>
            <p:cNvSpPr>
              <a:spLocks noChangeAspect="1"/>
            </p:cNvSpPr>
            <p:nvPr/>
          </p:nvSpPr>
          <p:spPr>
            <a:xfrm>
              <a:off x="5145" y="1110"/>
              <a:ext cx="100" cy="10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8464" name="Line 31"/>
          <p:cNvSpPr/>
          <p:nvPr/>
        </p:nvSpPr>
        <p:spPr>
          <a:xfrm>
            <a:off x="4827588" y="5862638"/>
            <a:ext cx="36512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65" name="Rectangle 40"/>
          <p:cNvSpPr/>
          <p:nvPr/>
        </p:nvSpPr>
        <p:spPr>
          <a:xfrm>
            <a:off x="4160838" y="5721350"/>
            <a:ext cx="673100" cy="298450"/>
          </a:xfrm>
          <a:prstGeom prst="rect">
            <a:avLst/>
          </a:prstGeom>
          <a:solidFill>
            <a:srgbClr val="FFFFCC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 eaLnBrk="1" hangingPunct="1"/>
            <a:r>
              <a:rPr lang="en-US" altLang="en-US" sz="1000" b="0" dirty="0">
                <a:latin typeface="Arial" panose="020B0604020202020204" pitchFamily="34" charset="0"/>
              </a:rPr>
              <a:t>LockCtrl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pic>
        <p:nvPicPr>
          <p:cNvPr id="18466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5219700" y="5465763"/>
            <a:ext cx="539750" cy="976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67" name="Text Box 50"/>
          <p:cNvSpPr txBox="1"/>
          <p:nvPr/>
        </p:nvSpPr>
        <p:spPr>
          <a:xfrm>
            <a:off x="527050" y="4360863"/>
            <a:ext cx="5102225" cy="7905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b="0" dirty="0">
                <a:latin typeface="Arial" panose="020B0604020202020204" pitchFamily="34" charset="0"/>
              </a:rPr>
              <a:t>Option B:</a:t>
            </a:r>
            <a:endParaRPr lang="en-US" altLang="en-US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“expert” (</a:t>
            </a:r>
            <a:r>
              <a:rPr lang="en-US" altLang="en-US" sz="1400" b="0" dirty="0">
                <a:solidFill>
                  <a:schemeClr val="accent2"/>
                </a:solidFill>
                <a:latin typeface="Arial" panose="020B0604020202020204" pitchFamily="34" charset="0"/>
              </a:rPr>
              <a:t>Key Checker</a:t>
            </a:r>
            <a:r>
              <a:rPr lang="en-US" altLang="en-US" sz="1400" b="0" dirty="0">
                <a:latin typeface="Arial" panose="020B0604020202020204" pitchFamily="34" charset="0"/>
              </a:rPr>
              <a:t>) directly uses the information (</a:t>
            </a:r>
            <a:r>
              <a:rPr lang="en-US" altLang="en-US" sz="1400" b="0" dirty="0">
                <a:solidFill>
                  <a:schemeClr val="accent2"/>
                </a:solidFill>
                <a:latin typeface="Arial" panose="020B0604020202020204" pitchFamily="34" charset="0"/>
              </a:rPr>
              <a:t>key validity</a:t>
            </a:r>
            <a:r>
              <a:rPr lang="en-US" altLang="en-US" sz="1400" b="0" dirty="0">
                <a:latin typeface="Arial" panose="020B0604020202020204" pitchFamily="34" charset="0"/>
              </a:rPr>
              <a:t>)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to perform some work (</a:t>
            </a:r>
            <a:r>
              <a:rPr lang="en-US" altLang="en-US" sz="1400" b="0" dirty="0">
                <a:solidFill>
                  <a:schemeClr val="accent2"/>
                </a:solidFill>
                <a:latin typeface="Arial" panose="020B0604020202020204" pitchFamily="34" charset="0"/>
              </a:rPr>
              <a:t>activate the lock device</a:t>
            </a:r>
            <a:r>
              <a:rPr lang="en-US" altLang="en-US" sz="1400" b="0" dirty="0">
                <a:latin typeface="Arial" panose="020B0604020202020204" pitchFamily="34" charset="0"/>
              </a:rPr>
              <a:t>)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8468" name="Text Box 52"/>
          <p:cNvSpPr txBox="1"/>
          <p:nvPr/>
        </p:nvSpPr>
        <p:spPr>
          <a:xfrm>
            <a:off x="6143625" y="5262563"/>
            <a:ext cx="2801938" cy="1111250"/>
          </a:xfrm>
          <a:prstGeom prst="rect">
            <a:avLst/>
          </a:prstGeom>
          <a:solidFill>
            <a:srgbClr val="CC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45720" tIns="18288" rIns="45720" bIns="18288">
            <a:spAutoFit/>
          </a:bodyPr>
          <a:p>
            <a:pPr eaLnBrk="1" hangingPunct="1"/>
            <a:r>
              <a:rPr lang="en-US" altLang="en-US" sz="1400" dirty="0">
                <a:latin typeface="Arial" panose="020B0604020202020204" pitchFamily="34" charset="0"/>
              </a:rPr>
              <a:t>Advantage: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     Shorter communication chain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dirty="0">
                <a:latin typeface="Arial" panose="020B0604020202020204" pitchFamily="34" charset="0"/>
              </a:rPr>
              <a:t>Drawback: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     Extra responsibility for Checker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130175" y="152400"/>
            <a:ext cx="8932863" cy="1143000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Characteristics of Good Designs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79375" y="1600200"/>
            <a:ext cx="8783638" cy="4873625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Short communication chains between the objects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  <a:buNone/>
            </a:pP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  <a:buNone/>
            </a:pP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Balanced workload across the objects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>
              <a:spcBef>
                <a:spcPts val="700"/>
              </a:spcBef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divide-and-conquer during analysis</a:t>
            </a:r>
            <a:b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should divide the system into manageable modules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ts val="20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Low degree of connectivity (associations) among the objects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>
              <a:spcBef>
                <a:spcPts val="70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 system with “hub” modules</a:t>
            </a:r>
            <a:b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is more prone to failures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9461" name="Rectangle 5"/>
          <p:cNvSpPr/>
          <p:nvPr/>
        </p:nvSpPr>
        <p:spPr>
          <a:xfrm>
            <a:off x="3548063" y="2433638"/>
            <a:ext cx="836612" cy="42545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9462" name="Rectangle 6"/>
          <p:cNvSpPr/>
          <p:nvPr/>
        </p:nvSpPr>
        <p:spPr>
          <a:xfrm>
            <a:off x="4949825" y="2433638"/>
            <a:ext cx="836613" cy="42545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9463" name="Rectangle 7"/>
          <p:cNvSpPr/>
          <p:nvPr/>
        </p:nvSpPr>
        <p:spPr>
          <a:xfrm>
            <a:off x="7048500" y="2433638"/>
            <a:ext cx="838200" cy="42545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cxnSp>
        <p:nvCxnSpPr>
          <p:cNvPr id="19464" name="Straight Arrow Connector 9"/>
          <p:cNvCxnSpPr>
            <a:stCxn id="19461" idx="3"/>
            <a:endCxn id="19462" idx="1"/>
          </p:cNvCxnSpPr>
          <p:nvPr/>
        </p:nvCxnSpPr>
        <p:spPr>
          <a:xfrm>
            <a:off x="4384675" y="2646363"/>
            <a:ext cx="56515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465" name="Straight Arrow Connector 11"/>
          <p:cNvCxnSpPr>
            <a:stCxn id="19462" idx="3"/>
          </p:cNvCxnSpPr>
          <p:nvPr/>
        </p:nvCxnSpPr>
        <p:spPr>
          <a:xfrm>
            <a:off x="5786438" y="2646363"/>
            <a:ext cx="31115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466" name="Straight Arrow Connector 12"/>
          <p:cNvCxnSpPr>
            <a:endCxn id="19463" idx="1"/>
          </p:cNvCxnSpPr>
          <p:nvPr/>
        </p:nvCxnSpPr>
        <p:spPr>
          <a:xfrm>
            <a:off x="6737350" y="2646363"/>
            <a:ext cx="31115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grpSp>
        <p:nvGrpSpPr>
          <p:cNvPr id="19467" name="Group 17"/>
          <p:cNvGrpSpPr/>
          <p:nvPr/>
        </p:nvGrpSpPr>
        <p:grpSpPr>
          <a:xfrm>
            <a:off x="6265863" y="2624138"/>
            <a:ext cx="350837" cy="46037"/>
            <a:chOff x="7868992" y="2672365"/>
            <a:chExt cx="350520" cy="45720"/>
          </a:xfrm>
        </p:grpSpPr>
        <p:sp>
          <p:nvSpPr>
            <p:cNvPr id="19487" name="Oval 14"/>
            <p:cNvSpPr>
              <a:spLocks noChangeAspect="1"/>
            </p:cNvSpPr>
            <p:nvPr/>
          </p:nvSpPr>
          <p:spPr>
            <a:xfrm>
              <a:off x="7868992" y="2672365"/>
              <a:ext cx="45720" cy="45720"/>
            </a:xfrm>
            <a:prstGeom prst="ellipse">
              <a:avLst/>
            </a:prstGeom>
            <a:solidFill>
              <a:schemeClr val="tx1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488" name="Oval 15"/>
            <p:cNvSpPr>
              <a:spLocks noChangeAspect="1"/>
            </p:cNvSpPr>
            <p:nvPr/>
          </p:nvSpPr>
          <p:spPr>
            <a:xfrm>
              <a:off x="8021392" y="2672365"/>
              <a:ext cx="45720" cy="45720"/>
            </a:xfrm>
            <a:prstGeom prst="ellipse">
              <a:avLst/>
            </a:prstGeom>
            <a:solidFill>
              <a:schemeClr val="tx1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489" name="Oval 16"/>
            <p:cNvSpPr>
              <a:spLocks noChangeAspect="1"/>
            </p:cNvSpPr>
            <p:nvPr/>
          </p:nvSpPr>
          <p:spPr>
            <a:xfrm>
              <a:off x="8173792" y="2672365"/>
              <a:ext cx="45720" cy="45720"/>
            </a:xfrm>
            <a:prstGeom prst="ellipse">
              <a:avLst/>
            </a:prstGeom>
            <a:solidFill>
              <a:schemeClr val="tx1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9468" name="Rectangle 18"/>
          <p:cNvSpPr/>
          <p:nvPr/>
        </p:nvSpPr>
        <p:spPr>
          <a:xfrm>
            <a:off x="6124575" y="5778500"/>
            <a:ext cx="836613" cy="42545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cxnSp>
        <p:nvCxnSpPr>
          <p:cNvPr id="19469" name="Straight Arrow Connector 20"/>
          <p:cNvCxnSpPr/>
          <p:nvPr/>
        </p:nvCxnSpPr>
        <p:spPr>
          <a:xfrm flipH="1" flipV="1">
            <a:off x="6253163" y="5383213"/>
            <a:ext cx="214312" cy="39528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470" name="Straight Arrow Connector 22"/>
          <p:cNvCxnSpPr>
            <a:stCxn id="19468" idx="1"/>
          </p:cNvCxnSpPr>
          <p:nvPr/>
        </p:nvCxnSpPr>
        <p:spPr>
          <a:xfrm flipH="1">
            <a:off x="5600700" y="5991225"/>
            <a:ext cx="523875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471" name="Straight Arrow Connector 24"/>
          <p:cNvCxnSpPr>
            <a:stCxn id="19468" idx="3"/>
          </p:cNvCxnSpPr>
          <p:nvPr/>
        </p:nvCxnSpPr>
        <p:spPr>
          <a:xfrm>
            <a:off x="6961188" y="5991225"/>
            <a:ext cx="457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472" name="Straight Arrow Connector 26"/>
          <p:cNvCxnSpPr/>
          <p:nvPr/>
        </p:nvCxnSpPr>
        <p:spPr>
          <a:xfrm flipV="1">
            <a:off x="6619875" y="5383213"/>
            <a:ext cx="273050" cy="39528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473" name="Straight Arrow Connector 28"/>
          <p:cNvCxnSpPr/>
          <p:nvPr/>
        </p:nvCxnSpPr>
        <p:spPr>
          <a:xfrm flipH="1">
            <a:off x="6097588" y="6203950"/>
            <a:ext cx="369887" cy="300038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474" name="Straight Arrow Connector 30"/>
          <p:cNvCxnSpPr/>
          <p:nvPr/>
        </p:nvCxnSpPr>
        <p:spPr>
          <a:xfrm>
            <a:off x="6619875" y="6203950"/>
            <a:ext cx="265113" cy="300038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475" name="Rectangle 32"/>
          <p:cNvSpPr/>
          <p:nvPr/>
        </p:nvSpPr>
        <p:spPr>
          <a:xfrm>
            <a:off x="7950200" y="3509963"/>
            <a:ext cx="1141413" cy="1036637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sz="100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0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dirty="0">
                <a:latin typeface="Arial" panose="020B0604020202020204" pitchFamily="34" charset="0"/>
              </a:rPr>
              <a:t>method_1()</a:t>
            </a:r>
            <a:endParaRPr lang="en-US" altLang="en-US" sz="10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dirty="0">
                <a:latin typeface="Arial" panose="020B0604020202020204" pitchFamily="34" charset="0"/>
              </a:rPr>
              <a:t>method_2()</a:t>
            </a:r>
            <a:endParaRPr lang="en-US" altLang="en-US" sz="10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dirty="0">
                <a:latin typeface="Arial" panose="020B0604020202020204" pitchFamily="34" charset="0"/>
              </a:rPr>
              <a:t>…</a:t>
            </a:r>
            <a:endParaRPr lang="en-US" altLang="en-US" sz="10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dirty="0">
                <a:latin typeface="Arial" panose="020B0604020202020204" pitchFamily="34" charset="0"/>
              </a:rPr>
              <a:t>method_N()</a:t>
            </a:r>
            <a:endParaRPr lang="en-US" altLang="en-US" sz="1000" dirty="0">
              <a:latin typeface="Arial" panose="020B0604020202020204" pitchFamily="34" charset="0"/>
            </a:endParaRPr>
          </a:p>
        </p:txBody>
      </p:sp>
      <p:cxnSp>
        <p:nvCxnSpPr>
          <p:cNvPr id="19476" name="Straight Connector 34"/>
          <p:cNvCxnSpPr/>
          <p:nvPr/>
        </p:nvCxnSpPr>
        <p:spPr>
          <a:xfrm>
            <a:off x="7950200" y="3657600"/>
            <a:ext cx="11414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77" name="Straight Connector 35"/>
          <p:cNvCxnSpPr/>
          <p:nvPr/>
        </p:nvCxnSpPr>
        <p:spPr>
          <a:xfrm>
            <a:off x="7961313" y="3810000"/>
            <a:ext cx="11414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9478" name="Rectangle 32"/>
          <p:cNvSpPr/>
          <p:nvPr/>
        </p:nvSpPr>
        <p:spPr>
          <a:xfrm>
            <a:off x="6478588" y="3509963"/>
            <a:ext cx="1141412" cy="519112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sz="100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0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dirty="0">
                <a:latin typeface="Arial" panose="020B0604020202020204" pitchFamily="34" charset="0"/>
              </a:rPr>
              <a:t>method_1()</a:t>
            </a:r>
            <a:endParaRPr lang="en-US" altLang="en-US" sz="1000" dirty="0">
              <a:latin typeface="Arial" panose="020B0604020202020204" pitchFamily="34" charset="0"/>
            </a:endParaRPr>
          </a:p>
        </p:txBody>
      </p:sp>
      <p:cxnSp>
        <p:nvCxnSpPr>
          <p:cNvPr id="19479" name="Straight Connector 34"/>
          <p:cNvCxnSpPr/>
          <p:nvPr/>
        </p:nvCxnSpPr>
        <p:spPr>
          <a:xfrm>
            <a:off x="6478588" y="3657600"/>
            <a:ext cx="11414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80" name="Straight Connector 35"/>
          <p:cNvCxnSpPr/>
          <p:nvPr/>
        </p:nvCxnSpPr>
        <p:spPr>
          <a:xfrm>
            <a:off x="6489700" y="3810000"/>
            <a:ext cx="11414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9481" name="Rectangle 7"/>
          <p:cNvSpPr>
            <a:spLocks noChangeAspect="1"/>
          </p:cNvSpPr>
          <p:nvPr/>
        </p:nvSpPr>
        <p:spPr>
          <a:xfrm>
            <a:off x="6932613" y="5154613"/>
            <a:ext cx="595312" cy="303212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9482" name="Rectangle 7"/>
          <p:cNvSpPr>
            <a:spLocks noChangeAspect="1"/>
          </p:cNvSpPr>
          <p:nvPr/>
        </p:nvSpPr>
        <p:spPr>
          <a:xfrm>
            <a:off x="5626100" y="5156200"/>
            <a:ext cx="593725" cy="30321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9483" name="Rectangle 7"/>
          <p:cNvSpPr>
            <a:spLocks noChangeAspect="1"/>
          </p:cNvSpPr>
          <p:nvPr/>
        </p:nvSpPr>
        <p:spPr>
          <a:xfrm>
            <a:off x="7453313" y="5840413"/>
            <a:ext cx="595312" cy="3016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9484" name="Rectangle 7"/>
          <p:cNvSpPr>
            <a:spLocks noChangeAspect="1"/>
          </p:cNvSpPr>
          <p:nvPr/>
        </p:nvSpPr>
        <p:spPr>
          <a:xfrm>
            <a:off x="4994275" y="5840413"/>
            <a:ext cx="593725" cy="3016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9485" name="Rectangle 7"/>
          <p:cNvSpPr>
            <a:spLocks noChangeAspect="1"/>
          </p:cNvSpPr>
          <p:nvPr/>
        </p:nvSpPr>
        <p:spPr>
          <a:xfrm>
            <a:off x="5491163" y="6354763"/>
            <a:ext cx="593725" cy="3016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9486" name="Rectangle 7"/>
          <p:cNvSpPr>
            <a:spLocks noChangeAspect="1"/>
          </p:cNvSpPr>
          <p:nvPr/>
        </p:nvSpPr>
        <p:spPr>
          <a:xfrm>
            <a:off x="6905625" y="6354763"/>
            <a:ext cx="595313" cy="3016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130175" y="152400"/>
            <a:ext cx="8932863" cy="1143000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Some Design Principles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443038"/>
            <a:ext cx="8410575" cy="51339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Expert Doer Principle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module that knows should communicate information to those that need it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How to recognize a violation: </a:t>
            </a: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If a method call passes many arguments</a:t>
            </a:r>
            <a:endParaRPr kumimoji="0" lang="en-US" alt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High Cohesion Principle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module should not take on too many computation responsibilities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How to recognize a violation: If a class has many loosely or not-related attributes and methods</a:t>
            </a: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Single Responsibility Principle (next lecture)</a:t>
            </a: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Low Coupling Principle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module should not </a:t>
            </a:r>
            <a:r>
              <a:rPr kumimoji="0" lang="en-US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delegate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responsibilities in many tiny parts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How to recognize a violation: 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many outgoing links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Better solution: Hierarchical delegation by limiting the number of dependencies for each delegate and letting the delegates further split the complex </a:t>
            </a:r>
            <a:r>
              <a:rPr kumimoji="0" lang="en-US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resopnsibilities</a:t>
            </a: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485" name="Text Box 4"/>
          <p:cNvSpPr txBox="1"/>
          <p:nvPr/>
        </p:nvSpPr>
        <p:spPr>
          <a:xfrm>
            <a:off x="4278313" y="6488113"/>
            <a:ext cx="4538662" cy="3698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r" eaLnBrk="1" hangingPunct="1"/>
            <a:r>
              <a:rPr lang="en-US" altLang="en-US" b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many more </a:t>
            </a:r>
            <a:r>
              <a:rPr lang="en-US" altLang="en-US" b="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r>
              <a:rPr lang="en-US" altLang="en-US" b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(next slides)</a:t>
            </a:r>
            <a:endParaRPr lang="en-US" altLang="en-US" b="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30175" y="152400"/>
            <a:ext cx="8932863" cy="1143000"/>
          </a:xfrm>
        </p:spPr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Design Involves Compromises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038725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Any nontrivial design is a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compromise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between the desired and the possible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Design principles may contradict each other: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Shortening the communication chain (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expert doer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 tends to concentrate responsibilities to fewer objects (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low cohesion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Minimizing the number of responsibilities per object (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high cohesion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 tends to increase the number of dependencies (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strong coupling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It is critical for others to know how the designer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resolved each compromise/tradeoff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so others can evaluate the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reasoning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reasons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for choosing the particular tradeoffs and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compromises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code alone cannot provide this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information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code shows the product but not the process of reasoning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508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pic>
        <p:nvPicPr>
          <p:cNvPr id="2150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622550"/>
            <a:ext cx="387350" cy="449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0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663" y="3109913"/>
            <a:ext cx="381000" cy="458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1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3376613"/>
            <a:ext cx="387350" cy="449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925" y="3763963"/>
            <a:ext cx="382588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Design: Assigning Responsibilities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2532" name="Text Box 21"/>
          <p:cNvSpPr txBox="1"/>
          <p:nvPr/>
        </p:nvSpPr>
        <p:spPr>
          <a:xfrm>
            <a:off x="2143125" y="3859213"/>
            <a:ext cx="25400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en-US" sz="1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(a)</a:t>
            </a:r>
            <a:endParaRPr lang="en-US" altLang="en-US" sz="1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3" name="Text Box 22"/>
          <p:cNvSpPr txBox="1"/>
          <p:nvPr/>
        </p:nvSpPr>
        <p:spPr>
          <a:xfrm>
            <a:off x="6616700" y="3859213"/>
            <a:ext cx="26670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en-US" sz="1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(b)</a:t>
            </a:r>
            <a:endParaRPr lang="en-US" altLang="en-US" sz="1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4" name="Text Box 39"/>
          <p:cNvSpPr txBox="1"/>
          <p:nvPr/>
        </p:nvSpPr>
        <p:spPr>
          <a:xfrm>
            <a:off x="546100" y="4467225"/>
            <a:ext cx="8110538" cy="2071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Although the Checker is the first to acquire the information about the key validity, we decide to assign the responsibility to activate the DeviceCtrl to the Controller</a:t>
            </a:r>
            <a:endParaRPr lang="en-US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This is because the Controller would need to know key-validity information anyway</a:t>
            </a:r>
            <a:r>
              <a:rPr lang="en-US" altLang="en-US" sz="1800" b="0" dirty="0">
                <a:latin typeface="Calibri" panose="020F0502020204030204" pitchFamily="34" charset="0"/>
                <a:ea typeface="Calibri" panose="020F0502020204030204" pitchFamily="34" charset="0"/>
              </a:rPr>
              <a:t>—</a:t>
            </a: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to inform the user about the outcome of the key validity checking</a:t>
            </a:r>
            <a:endParaRPr lang="en-US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In this way, we maintain the Checker focused on its specialty (key validation) and avoid assigning unrelated responsibilities to it</a:t>
            </a:r>
            <a:endParaRPr lang="en-US" altLang="en-US" sz="18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2535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3" y="2122488"/>
            <a:ext cx="3983037" cy="180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6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122488"/>
            <a:ext cx="3867150" cy="17875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2537" name="Straight Connector 2"/>
          <p:cNvCxnSpPr/>
          <p:nvPr/>
        </p:nvCxnSpPr>
        <p:spPr>
          <a:xfrm>
            <a:off x="261938" y="1881188"/>
            <a:ext cx="3570287" cy="212407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2538" name="Straight Connector 4"/>
          <p:cNvCxnSpPr/>
          <p:nvPr/>
        </p:nvCxnSpPr>
        <p:spPr>
          <a:xfrm flipV="1">
            <a:off x="381000" y="1871663"/>
            <a:ext cx="3451225" cy="2195512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3076" name="Rectangle 2"/>
          <p:cNvSpPr>
            <a:spLocks noGrp="1"/>
          </p:cNvSpPr>
          <p:nvPr>
            <p:ph type="title"/>
          </p:nvPr>
        </p:nvSpPr>
        <p:spPr>
          <a:xfrm>
            <a:off x="130175" y="152400"/>
            <a:ext cx="8932863" cy="1143000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Responsibility-Driven Design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077" name="Rectangle 3"/>
          <p:cNvSpPr>
            <a:spLocks noGrp="1"/>
          </p:cNvSpPr>
          <p:nvPr>
            <p:ph idx="1"/>
          </p:nvPr>
        </p:nvSpPr>
        <p:spPr>
          <a:xfrm>
            <a:off x="495300" y="1530350"/>
            <a:ext cx="8410575" cy="5116513"/>
          </a:xfrm>
        </p:spPr>
        <p:txBody>
          <a:bodyPr vert="horz" wrap="square" lIns="91440" tIns="45720" rIns="91440" bIns="45720" anchor="t" anchorCtr="0"/>
          <a:p>
            <a:pPr marL="457200" indent="-457200" eaLnBrk="1" hangingPunct="1">
              <a:spcBef>
                <a:spcPts val="300"/>
              </a:spcBef>
              <a:buClr>
                <a:srgbClr val="680000"/>
              </a:buClr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Identify the responsibilities</a:t>
            </a:r>
            <a:endParaRPr lang="en-US" altLang="en-US" sz="22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257300" lvl="2" indent="-342900" eaLnBrk="1" hangingPunct="1">
              <a:spcBef>
                <a:spcPts val="300"/>
              </a:spcBef>
            </a:pP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start with a </a:t>
            </a:r>
            <a:r>
              <a:rPr lang="en-US" altLang="en-US" sz="1700" i="1" dirty="0">
                <a:latin typeface="Calibri" panose="020F0502020204030204" pitchFamily="34" charset="0"/>
                <a:cs typeface="Calibri" panose="020F0502020204030204" pitchFamily="34" charset="0"/>
              </a:rPr>
              <a:t>use case </a:t>
            </a: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plan-of-action and the </a:t>
            </a:r>
            <a:r>
              <a:rPr lang="en-US" altLang="en-US" sz="1700" i="1" dirty="0">
                <a:latin typeface="Calibri" panose="020F0502020204030204" pitchFamily="34" charset="0"/>
                <a:cs typeface="Calibri" panose="020F0502020204030204" pitchFamily="34" charset="0"/>
              </a:rPr>
              <a:t>domain model</a:t>
            </a:r>
            <a:endParaRPr lang="en-US" alt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 eaLnBrk="1" hangingPunct="1">
              <a:spcBef>
                <a:spcPts val="300"/>
              </a:spcBef>
            </a:pP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some may be missed at first and identified during implementation of the design</a:t>
            </a:r>
            <a:endParaRPr lang="en-US" alt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spcBef>
                <a:spcPts val="300"/>
              </a:spcBef>
              <a:buClr>
                <a:srgbClr val="680000"/>
              </a:buClr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For each responsibility, identify </a:t>
            </a:r>
            <a:r>
              <a:rPr lang="en-US" altLang="en-US" sz="2200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candidate modules </a:t>
            </a:r>
            <a:r>
              <a:rPr lang="en-US" altLang="en-US" sz="2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or</a:t>
            </a:r>
            <a:r>
              <a:rPr lang="en-US" altLang="en-US" sz="2200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objects </a:t>
            </a:r>
            <a:r>
              <a:rPr lang="en-US" altLang="en-US" sz="2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assign to</a:t>
            </a:r>
            <a:endParaRPr lang="en-US" altLang="en-US" sz="22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838200" lvl="1" indent="-381000" eaLnBrk="1" hangingPunct="1">
              <a:spcBef>
                <a:spcPts val="300"/>
              </a:spcBef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if the choice appears to be unique then move to the next responsibility</a:t>
            </a:r>
            <a:endParaRPr lang="en-US" alt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spcBef>
                <a:spcPts val="300"/>
              </a:spcBef>
              <a:buClr>
                <a:srgbClr val="680000"/>
              </a:buClr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Consider the merits and tradeoffs of each alternative by applying the </a:t>
            </a:r>
            <a:r>
              <a:rPr lang="en-US" altLang="en-US" sz="2200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design principles</a:t>
            </a:r>
            <a:endParaRPr lang="en-US" altLang="en-US" sz="2200" i="1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838200" lvl="1" indent="-381000" eaLnBrk="1" hangingPunct="1">
              <a:spcBef>
                <a:spcPts val="300"/>
              </a:spcBef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select what you consider the “optimal” choice</a:t>
            </a:r>
            <a:endParaRPr lang="en-US" alt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spcBef>
                <a:spcPts val="300"/>
              </a:spcBef>
              <a:buClr>
                <a:srgbClr val="680000"/>
              </a:buClr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Document the </a:t>
            </a:r>
            <a:r>
              <a:rPr lang="en-US" altLang="en-US" sz="2200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reasoning process</a:t>
            </a:r>
            <a:r>
              <a:rPr lang="en-US" altLang="en-US" sz="2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by which you arrived to each responsibility assignment</a:t>
            </a:r>
            <a:endParaRPr lang="en-US" altLang="en-US" sz="22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838200" lvl="1" indent="-381000" eaLnBrk="1" hangingPunct="1">
              <a:spcBef>
                <a:spcPts val="300"/>
              </a:spcBef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design involves tradeoffs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</a:rPr>
              <a:t>—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let others know how you resolved them</a:t>
            </a:r>
            <a:endParaRPr lang="en-US" alt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8200" lvl="1" indent="-381000" eaLnBrk="1" hangingPunct="1">
              <a:spcBef>
                <a:spcPts val="300"/>
              </a:spcBef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preserve not only the final chosen design but also all the alternatives you considered and their perceived merits (</a:t>
            </a:r>
            <a:r>
              <a:rPr lang="en-US" alt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instead of </a:t>
            </a:r>
            <a:r>
              <a:rPr lang="en-US" alt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only!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3074" name="Object 6"/>
          <p:cNvGraphicFramePr>
            <a:graphicFrameLocks noChangeAspect="1"/>
          </p:cNvGraphicFramePr>
          <p:nvPr/>
        </p:nvGraphicFramePr>
        <p:xfrm>
          <a:off x="8054975" y="981075"/>
          <a:ext cx="985838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856615" imgH="831850" progId="Visio.Drawing.6">
                  <p:embed/>
                </p:oleObj>
              </mc:Choice>
              <mc:Fallback>
                <p:oleObj name="" r:id="rId1" imgW="856615" imgH="831850" progId="Visio.Drawing.6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54975" y="981075"/>
                        <a:ext cx="985838" cy="957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381000" y="100013"/>
            <a:ext cx="8572500" cy="928687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sz="2400" dirty="0">
                <a:latin typeface="Arial Rounded MT Bold" panose="020F0704030504030204" pitchFamily="34" charset="0"/>
                <a:ea typeface="+mj-ea"/>
                <a:cs typeface="+mj-cs"/>
              </a:rPr>
              <a:t>time to tidy up …</a:t>
            </a:r>
            <a:br>
              <a:rPr lang="en-US" altLang="en-US" sz="2400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Unlock Use Case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pic>
        <p:nvPicPr>
          <p:cNvPr id="23556" name="Picture 4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100" y="1081088"/>
            <a:ext cx="6526213" cy="5610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7" name="Text Box 54"/>
          <p:cNvSpPr txBox="1"/>
          <p:nvPr/>
        </p:nvSpPr>
        <p:spPr>
          <a:xfrm>
            <a:off x="355600" y="3717925"/>
            <a:ext cx="338138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dirty="0">
                <a:latin typeface="Arial" panose="020B0604020202020204" pitchFamily="34" charset="0"/>
              </a:rPr>
              <a:t>Time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grpSp>
        <p:nvGrpSpPr>
          <p:cNvPr id="23558" name="Group 55"/>
          <p:cNvGrpSpPr>
            <a:grpSpLocks noChangeAspect="1"/>
          </p:cNvGrpSpPr>
          <p:nvPr/>
        </p:nvGrpSpPr>
        <p:grpSpPr>
          <a:xfrm rot="5400000">
            <a:off x="22225" y="4413250"/>
            <a:ext cx="1004888" cy="155575"/>
            <a:chOff x="2009" y="3184"/>
            <a:chExt cx="3110" cy="479"/>
          </a:xfrm>
        </p:grpSpPr>
        <p:sp>
          <p:nvSpPr>
            <p:cNvPr id="23559" name="Freeform 56"/>
            <p:cNvSpPr>
              <a:spLocks noChangeAspect="1"/>
            </p:cNvSpPr>
            <p:nvPr/>
          </p:nvSpPr>
          <p:spPr>
            <a:xfrm>
              <a:off x="2565" y="3224"/>
              <a:ext cx="287" cy="176"/>
            </a:xfrm>
            <a:custGeom>
              <a:avLst/>
              <a:gdLst>
                <a:gd name="txL" fmla="*/ 0 w 287"/>
                <a:gd name="txT" fmla="*/ 0 h 176"/>
                <a:gd name="txR" fmla="*/ 287 w 287"/>
                <a:gd name="txB" fmla="*/ 176 h 176"/>
              </a:gdLst>
              <a:ahLst/>
              <a:cxnLst>
                <a:cxn ang="0">
                  <a:pos x="28" y="56"/>
                </a:cxn>
                <a:cxn ang="0">
                  <a:pos x="97" y="34"/>
                </a:cxn>
                <a:cxn ang="0">
                  <a:pos x="287" y="176"/>
                </a:cxn>
                <a:cxn ang="0">
                  <a:pos x="184" y="176"/>
                </a:cxn>
                <a:cxn ang="0">
                  <a:pos x="28" y="56"/>
                </a:cxn>
              </a:cxnLst>
              <a:rect l="txL" t="txT" r="txR" b="txB"/>
              <a:pathLst>
                <a:path w="287" h="176">
                  <a:moveTo>
                    <a:pt x="28" y="56"/>
                  </a:moveTo>
                  <a:cubicBezTo>
                    <a:pt x="0" y="24"/>
                    <a:pt x="72" y="0"/>
                    <a:pt x="97" y="34"/>
                  </a:cubicBezTo>
                  <a:cubicBezTo>
                    <a:pt x="122" y="68"/>
                    <a:pt x="193" y="131"/>
                    <a:pt x="287" y="176"/>
                  </a:cubicBezTo>
                  <a:lnTo>
                    <a:pt x="184" y="176"/>
                  </a:lnTo>
                  <a:cubicBezTo>
                    <a:pt x="136" y="148"/>
                    <a:pt x="56" y="88"/>
                    <a:pt x="28" y="56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0" name="Freeform 57"/>
            <p:cNvSpPr>
              <a:spLocks noChangeAspect="1"/>
            </p:cNvSpPr>
            <p:nvPr/>
          </p:nvSpPr>
          <p:spPr>
            <a:xfrm>
              <a:off x="2009" y="3184"/>
              <a:ext cx="302" cy="216"/>
            </a:xfrm>
            <a:custGeom>
              <a:avLst/>
              <a:gdLst>
                <a:gd name="txL" fmla="*/ 0 w 302"/>
                <a:gd name="txT" fmla="*/ 0 h 216"/>
                <a:gd name="txR" fmla="*/ 302 w 302"/>
                <a:gd name="txB" fmla="*/ 216 h 216"/>
              </a:gdLst>
              <a:ahLst/>
              <a:cxnLst>
                <a:cxn ang="0">
                  <a:pos x="24" y="38"/>
                </a:cxn>
                <a:cxn ang="0">
                  <a:pos x="96" y="27"/>
                </a:cxn>
                <a:cxn ang="0">
                  <a:pos x="302" y="216"/>
                </a:cxn>
                <a:cxn ang="0">
                  <a:pos x="224" y="216"/>
                </a:cxn>
                <a:cxn ang="0">
                  <a:pos x="24" y="38"/>
                </a:cxn>
              </a:cxnLst>
              <a:rect l="txL" t="txT" r="txR" b="txB"/>
              <a:pathLst>
                <a:path w="302" h="216">
                  <a:moveTo>
                    <a:pt x="24" y="38"/>
                  </a:moveTo>
                  <a:cubicBezTo>
                    <a:pt x="0" y="6"/>
                    <a:pt x="86" y="0"/>
                    <a:pt x="96" y="27"/>
                  </a:cubicBezTo>
                  <a:cubicBezTo>
                    <a:pt x="136" y="106"/>
                    <a:pt x="231" y="182"/>
                    <a:pt x="302" y="216"/>
                  </a:cubicBezTo>
                  <a:lnTo>
                    <a:pt x="224" y="216"/>
                  </a:lnTo>
                  <a:cubicBezTo>
                    <a:pt x="149" y="171"/>
                    <a:pt x="95" y="125"/>
                    <a:pt x="24" y="38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1" name="Freeform 58"/>
            <p:cNvSpPr>
              <a:spLocks noChangeAspect="1"/>
            </p:cNvSpPr>
            <p:nvPr/>
          </p:nvSpPr>
          <p:spPr>
            <a:xfrm>
              <a:off x="2122" y="3195"/>
              <a:ext cx="264" cy="205"/>
            </a:xfrm>
            <a:custGeom>
              <a:avLst/>
              <a:gdLst>
                <a:gd name="txL" fmla="*/ 0 w 264"/>
                <a:gd name="txT" fmla="*/ 0 h 205"/>
                <a:gd name="txR" fmla="*/ 264 w 264"/>
                <a:gd name="txB" fmla="*/ 205 h 205"/>
              </a:gdLst>
              <a:ahLst/>
              <a:cxnLst>
                <a:cxn ang="0">
                  <a:pos x="102" y="61"/>
                </a:cxn>
                <a:cxn ang="0">
                  <a:pos x="24" y="76"/>
                </a:cxn>
                <a:cxn ang="0">
                  <a:pos x="189" y="205"/>
                </a:cxn>
                <a:cxn ang="0">
                  <a:pos x="264" y="205"/>
                </a:cxn>
                <a:cxn ang="0">
                  <a:pos x="102" y="61"/>
                </a:cxn>
              </a:cxnLst>
              <a:rect l="txL" t="txT" r="txR" b="txB"/>
              <a:pathLst>
                <a:path w="264" h="205">
                  <a:moveTo>
                    <a:pt x="102" y="61"/>
                  </a:moveTo>
                  <a:cubicBezTo>
                    <a:pt x="58" y="0"/>
                    <a:pt x="0" y="41"/>
                    <a:pt x="24" y="76"/>
                  </a:cubicBezTo>
                  <a:cubicBezTo>
                    <a:pt x="48" y="111"/>
                    <a:pt x="136" y="183"/>
                    <a:pt x="189" y="205"/>
                  </a:cubicBezTo>
                  <a:lnTo>
                    <a:pt x="264" y="205"/>
                  </a:lnTo>
                  <a:cubicBezTo>
                    <a:pt x="189" y="160"/>
                    <a:pt x="163" y="142"/>
                    <a:pt x="102" y="6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2" name="Freeform 59"/>
            <p:cNvSpPr>
              <a:spLocks noChangeAspect="1"/>
            </p:cNvSpPr>
            <p:nvPr/>
          </p:nvSpPr>
          <p:spPr>
            <a:xfrm>
              <a:off x="2212" y="3205"/>
              <a:ext cx="252" cy="195"/>
            </a:xfrm>
            <a:custGeom>
              <a:avLst/>
              <a:gdLst>
                <a:gd name="txL" fmla="*/ 0 w 252"/>
                <a:gd name="txT" fmla="*/ 0 h 195"/>
                <a:gd name="txR" fmla="*/ 252 w 252"/>
                <a:gd name="txB" fmla="*/ 195 h 195"/>
              </a:gdLst>
              <a:ahLst/>
              <a:cxnLst>
                <a:cxn ang="0">
                  <a:pos x="12" y="51"/>
                </a:cxn>
                <a:cxn ang="0">
                  <a:pos x="73" y="38"/>
                </a:cxn>
                <a:cxn ang="0">
                  <a:pos x="252" y="195"/>
                </a:cxn>
                <a:cxn ang="0">
                  <a:pos x="174" y="195"/>
                </a:cxn>
                <a:cxn ang="0">
                  <a:pos x="12" y="51"/>
                </a:cxn>
              </a:cxnLst>
              <a:rect l="txL" t="txT" r="txR" b="txB"/>
              <a:pathLst>
                <a:path w="252" h="195">
                  <a:moveTo>
                    <a:pt x="12" y="51"/>
                  </a:moveTo>
                  <a:cubicBezTo>
                    <a:pt x="0" y="29"/>
                    <a:pt x="55" y="0"/>
                    <a:pt x="73" y="38"/>
                  </a:cubicBezTo>
                  <a:cubicBezTo>
                    <a:pt x="91" y="76"/>
                    <a:pt x="199" y="173"/>
                    <a:pt x="252" y="195"/>
                  </a:cubicBezTo>
                  <a:lnTo>
                    <a:pt x="174" y="195"/>
                  </a:lnTo>
                  <a:cubicBezTo>
                    <a:pt x="99" y="150"/>
                    <a:pt x="73" y="132"/>
                    <a:pt x="12" y="5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3" name="Freeform 60"/>
            <p:cNvSpPr>
              <a:spLocks noChangeAspect="1"/>
            </p:cNvSpPr>
            <p:nvPr/>
          </p:nvSpPr>
          <p:spPr>
            <a:xfrm>
              <a:off x="2290" y="3213"/>
              <a:ext cx="255" cy="187"/>
            </a:xfrm>
            <a:custGeom>
              <a:avLst/>
              <a:gdLst>
                <a:gd name="txL" fmla="*/ 0 w 255"/>
                <a:gd name="txT" fmla="*/ 0 h 187"/>
                <a:gd name="txR" fmla="*/ 255 w 255"/>
                <a:gd name="txB" fmla="*/ 187 h 187"/>
              </a:gdLst>
              <a:ahLst/>
              <a:cxnLst>
                <a:cxn ang="0">
                  <a:pos x="103" y="52"/>
                </a:cxn>
                <a:cxn ang="0">
                  <a:pos x="33" y="78"/>
                </a:cxn>
                <a:cxn ang="0">
                  <a:pos x="174" y="187"/>
                </a:cxn>
                <a:cxn ang="0">
                  <a:pos x="255" y="187"/>
                </a:cxn>
                <a:cxn ang="0">
                  <a:pos x="103" y="52"/>
                </a:cxn>
              </a:cxnLst>
              <a:rect l="txL" t="txT" r="txR" b="txB"/>
              <a:pathLst>
                <a:path w="255" h="187">
                  <a:moveTo>
                    <a:pt x="103" y="52"/>
                  </a:moveTo>
                  <a:cubicBezTo>
                    <a:pt x="75" y="0"/>
                    <a:pt x="0" y="45"/>
                    <a:pt x="33" y="78"/>
                  </a:cubicBezTo>
                  <a:cubicBezTo>
                    <a:pt x="66" y="111"/>
                    <a:pt x="115" y="156"/>
                    <a:pt x="174" y="187"/>
                  </a:cubicBezTo>
                  <a:lnTo>
                    <a:pt x="255" y="187"/>
                  </a:lnTo>
                  <a:cubicBezTo>
                    <a:pt x="204" y="150"/>
                    <a:pt x="164" y="133"/>
                    <a:pt x="103" y="52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4" name="Freeform 61"/>
            <p:cNvSpPr>
              <a:spLocks noChangeAspect="1"/>
            </p:cNvSpPr>
            <p:nvPr/>
          </p:nvSpPr>
          <p:spPr>
            <a:xfrm>
              <a:off x="2381" y="3205"/>
              <a:ext cx="267" cy="195"/>
            </a:xfrm>
            <a:custGeom>
              <a:avLst/>
              <a:gdLst>
                <a:gd name="txL" fmla="*/ 0 w 267"/>
                <a:gd name="txT" fmla="*/ 0 h 195"/>
                <a:gd name="txR" fmla="*/ 267 w 267"/>
                <a:gd name="txB" fmla="*/ 195 h 195"/>
              </a:gdLst>
              <a:ahLst/>
              <a:cxnLst>
                <a:cxn ang="0">
                  <a:pos x="23" y="77"/>
                </a:cxn>
                <a:cxn ang="0">
                  <a:pos x="119" y="62"/>
                </a:cxn>
                <a:cxn ang="0">
                  <a:pos x="267" y="195"/>
                </a:cxn>
                <a:cxn ang="0">
                  <a:pos x="164" y="195"/>
                </a:cxn>
                <a:cxn ang="0">
                  <a:pos x="23" y="77"/>
                </a:cxn>
              </a:cxnLst>
              <a:rect l="txL" t="txT" r="txR" b="txB"/>
              <a:pathLst>
                <a:path w="267" h="195">
                  <a:moveTo>
                    <a:pt x="23" y="77"/>
                  </a:moveTo>
                  <a:cubicBezTo>
                    <a:pt x="0" y="42"/>
                    <a:pt x="80" y="0"/>
                    <a:pt x="119" y="62"/>
                  </a:cubicBezTo>
                  <a:cubicBezTo>
                    <a:pt x="158" y="124"/>
                    <a:pt x="228" y="167"/>
                    <a:pt x="267" y="195"/>
                  </a:cubicBezTo>
                  <a:lnTo>
                    <a:pt x="164" y="195"/>
                  </a:lnTo>
                  <a:cubicBezTo>
                    <a:pt x="107" y="162"/>
                    <a:pt x="53" y="113"/>
                    <a:pt x="23" y="77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5" name="Freeform 62"/>
            <p:cNvSpPr>
              <a:spLocks noChangeAspect="1"/>
            </p:cNvSpPr>
            <p:nvPr/>
          </p:nvSpPr>
          <p:spPr>
            <a:xfrm>
              <a:off x="2480" y="3204"/>
              <a:ext cx="269" cy="196"/>
            </a:xfrm>
            <a:custGeom>
              <a:avLst/>
              <a:gdLst>
                <a:gd name="txL" fmla="*/ 0 w 269"/>
                <a:gd name="txT" fmla="*/ 0 h 196"/>
                <a:gd name="txR" fmla="*/ 269 w 269"/>
                <a:gd name="txB" fmla="*/ 196 h 196"/>
              </a:gdLst>
              <a:ahLst/>
              <a:cxnLst>
                <a:cxn ang="0">
                  <a:pos x="84" y="39"/>
                </a:cxn>
                <a:cxn ang="0">
                  <a:pos x="20" y="63"/>
                </a:cxn>
                <a:cxn ang="0">
                  <a:pos x="168" y="196"/>
                </a:cxn>
                <a:cxn ang="0">
                  <a:pos x="269" y="196"/>
                </a:cxn>
                <a:cxn ang="0">
                  <a:pos x="84" y="39"/>
                </a:cxn>
              </a:cxnLst>
              <a:rect l="txL" t="txT" r="txR" b="txB"/>
              <a:pathLst>
                <a:path w="269" h="196">
                  <a:moveTo>
                    <a:pt x="84" y="39"/>
                  </a:moveTo>
                  <a:cubicBezTo>
                    <a:pt x="66" y="0"/>
                    <a:pt x="0" y="33"/>
                    <a:pt x="20" y="63"/>
                  </a:cubicBezTo>
                  <a:cubicBezTo>
                    <a:pt x="59" y="125"/>
                    <a:pt x="129" y="168"/>
                    <a:pt x="168" y="196"/>
                  </a:cubicBezTo>
                  <a:lnTo>
                    <a:pt x="269" y="196"/>
                  </a:lnTo>
                  <a:cubicBezTo>
                    <a:pt x="212" y="163"/>
                    <a:pt x="102" y="78"/>
                    <a:pt x="84" y="39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6" name="Freeform 63"/>
            <p:cNvSpPr>
              <a:spLocks noChangeAspect="1"/>
            </p:cNvSpPr>
            <p:nvPr/>
          </p:nvSpPr>
          <p:spPr>
            <a:xfrm flipV="1">
              <a:off x="2565" y="3447"/>
              <a:ext cx="287" cy="176"/>
            </a:xfrm>
            <a:custGeom>
              <a:avLst/>
              <a:gdLst>
                <a:gd name="txL" fmla="*/ 0 w 287"/>
                <a:gd name="txT" fmla="*/ 0 h 176"/>
                <a:gd name="txR" fmla="*/ 287 w 287"/>
                <a:gd name="txB" fmla="*/ 176 h 176"/>
              </a:gdLst>
              <a:ahLst/>
              <a:cxnLst>
                <a:cxn ang="0">
                  <a:pos x="28" y="56"/>
                </a:cxn>
                <a:cxn ang="0">
                  <a:pos x="97" y="34"/>
                </a:cxn>
                <a:cxn ang="0">
                  <a:pos x="287" y="176"/>
                </a:cxn>
                <a:cxn ang="0">
                  <a:pos x="184" y="176"/>
                </a:cxn>
                <a:cxn ang="0">
                  <a:pos x="28" y="56"/>
                </a:cxn>
              </a:cxnLst>
              <a:rect l="txL" t="txT" r="txR" b="txB"/>
              <a:pathLst>
                <a:path w="287" h="176">
                  <a:moveTo>
                    <a:pt x="28" y="56"/>
                  </a:moveTo>
                  <a:cubicBezTo>
                    <a:pt x="0" y="24"/>
                    <a:pt x="72" y="0"/>
                    <a:pt x="97" y="34"/>
                  </a:cubicBezTo>
                  <a:cubicBezTo>
                    <a:pt x="122" y="68"/>
                    <a:pt x="193" y="131"/>
                    <a:pt x="287" y="176"/>
                  </a:cubicBezTo>
                  <a:lnTo>
                    <a:pt x="184" y="176"/>
                  </a:lnTo>
                  <a:cubicBezTo>
                    <a:pt x="136" y="148"/>
                    <a:pt x="56" y="88"/>
                    <a:pt x="28" y="56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7" name="Freeform 64"/>
            <p:cNvSpPr>
              <a:spLocks noChangeAspect="1"/>
            </p:cNvSpPr>
            <p:nvPr/>
          </p:nvSpPr>
          <p:spPr>
            <a:xfrm flipV="1">
              <a:off x="2009" y="3447"/>
              <a:ext cx="302" cy="216"/>
            </a:xfrm>
            <a:custGeom>
              <a:avLst/>
              <a:gdLst>
                <a:gd name="txL" fmla="*/ 0 w 302"/>
                <a:gd name="txT" fmla="*/ 0 h 216"/>
                <a:gd name="txR" fmla="*/ 302 w 302"/>
                <a:gd name="txB" fmla="*/ 216 h 216"/>
              </a:gdLst>
              <a:ahLst/>
              <a:cxnLst>
                <a:cxn ang="0">
                  <a:pos x="24" y="38"/>
                </a:cxn>
                <a:cxn ang="0">
                  <a:pos x="96" y="27"/>
                </a:cxn>
                <a:cxn ang="0">
                  <a:pos x="302" y="216"/>
                </a:cxn>
                <a:cxn ang="0">
                  <a:pos x="224" y="216"/>
                </a:cxn>
                <a:cxn ang="0">
                  <a:pos x="24" y="38"/>
                </a:cxn>
              </a:cxnLst>
              <a:rect l="txL" t="txT" r="txR" b="txB"/>
              <a:pathLst>
                <a:path w="302" h="216">
                  <a:moveTo>
                    <a:pt x="24" y="38"/>
                  </a:moveTo>
                  <a:cubicBezTo>
                    <a:pt x="0" y="6"/>
                    <a:pt x="86" y="0"/>
                    <a:pt x="96" y="27"/>
                  </a:cubicBezTo>
                  <a:cubicBezTo>
                    <a:pt x="136" y="106"/>
                    <a:pt x="231" y="182"/>
                    <a:pt x="302" y="216"/>
                  </a:cubicBezTo>
                  <a:lnTo>
                    <a:pt x="224" y="216"/>
                  </a:lnTo>
                  <a:cubicBezTo>
                    <a:pt x="149" y="171"/>
                    <a:pt x="95" y="125"/>
                    <a:pt x="24" y="38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8" name="Freeform 65"/>
            <p:cNvSpPr>
              <a:spLocks noChangeAspect="1"/>
            </p:cNvSpPr>
            <p:nvPr/>
          </p:nvSpPr>
          <p:spPr>
            <a:xfrm flipV="1">
              <a:off x="2122" y="3447"/>
              <a:ext cx="264" cy="205"/>
            </a:xfrm>
            <a:custGeom>
              <a:avLst/>
              <a:gdLst>
                <a:gd name="txL" fmla="*/ 0 w 264"/>
                <a:gd name="txT" fmla="*/ 0 h 205"/>
                <a:gd name="txR" fmla="*/ 264 w 264"/>
                <a:gd name="txB" fmla="*/ 205 h 205"/>
              </a:gdLst>
              <a:ahLst/>
              <a:cxnLst>
                <a:cxn ang="0">
                  <a:pos x="102" y="61"/>
                </a:cxn>
                <a:cxn ang="0">
                  <a:pos x="24" y="76"/>
                </a:cxn>
                <a:cxn ang="0">
                  <a:pos x="189" y="205"/>
                </a:cxn>
                <a:cxn ang="0">
                  <a:pos x="264" y="205"/>
                </a:cxn>
                <a:cxn ang="0">
                  <a:pos x="102" y="61"/>
                </a:cxn>
              </a:cxnLst>
              <a:rect l="txL" t="txT" r="txR" b="txB"/>
              <a:pathLst>
                <a:path w="264" h="205">
                  <a:moveTo>
                    <a:pt x="102" y="61"/>
                  </a:moveTo>
                  <a:cubicBezTo>
                    <a:pt x="58" y="0"/>
                    <a:pt x="0" y="41"/>
                    <a:pt x="24" y="76"/>
                  </a:cubicBezTo>
                  <a:cubicBezTo>
                    <a:pt x="48" y="111"/>
                    <a:pt x="136" y="183"/>
                    <a:pt x="189" y="205"/>
                  </a:cubicBezTo>
                  <a:lnTo>
                    <a:pt x="264" y="205"/>
                  </a:lnTo>
                  <a:cubicBezTo>
                    <a:pt x="189" y="160"/>
                    <a:pt x="163" y="142"/>
                    <a:pt x="102" y="6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9" name="Freeform 66"/>
            <p:cNvSpPr>
              <a:spLocks noChangeAspect="1"/>
            </p:cNvSpPr>
            <p:nvPr/>
          </p:nvSpPr>
          <p:spPr>
            <a:xfrm flipV="1">
              <a:off x="2212" y="3447"/>
              <a:ext cx="252" cy="195"/>
            </a:xfrm>
            <a:custGeom>
              <a:avLst/>
              <a:gdLst>
                <a:gd name="txL" fmla="*/ 0 w 252"/>
                <a:gd name="txT" fmla="*/ 0 h 195"/>
                <a:gd name="txR" fmla="*/ 252 w 252"/>
                <a:gd name="txB" fmla="*/ 195 h 195"/>
              </a:gdLst>
              <a:ahLst/>
              <a:cxnLst>
                <a:cxn ang="0">
                  <a:pos x="12" y="51"/>
                </a:cxn>
                <a:cxn ang="0">
                  <a:pos x="73" y="38"/>
                </a:cxn>
                <a:cxn ang="0">
                  <a:pos x="252" y="195"/>
                </a:cxn>
                <a:cxn ang="0">
                  <a:pos x="174" y="195"/>
                </a:cxn>
                <a:cxn ang="0">
                  <a:pos x="12" y="51"/>
                </a:cxn>
              </a:cxnLst>
              <a:rect l="txL" t="txT" r="txR" b="txB"/>
              <a:pathLst>
                <a:path w="252" h="195">
                  <a:moveTo>
                    <a:pt x="12" y="51"/>
                  </a:moveTo>
                  <a:cubicBezTo>
                    <a:pt x="0" y="29"/>
                    <a:pt x="55" y="0"/>
                    <a:pt x="73" y="38"/>
                  </a:cubicBezTo>
                  <a:cubicBezTo>
                    <a:pt x="91" y="76"/>
                    <a:pt x="199" y="173"/>
                    <a:pt x="252" y="195"/>
                  </a:cubicBezTo>
                  <a:lnTo>
                    <a:pt x="174" y="195"/>
                  </a:lnTo>
                  <a:cubicBezTo>
                    <a:pt x="99" y="150"/>
                    <a:pt x="73" y="132"/>
                    <a:pt x="12" y="5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0" name="Freeform 67"/>
            <p:cNvSpPr>
              <a:spLocks noChangeAspect="1"/>
            </p:cNvSpPr>
            <p:nvPr/>
          </p:nvSpPr>
          <p:spPr>
            <a:xfrm flipV="1">
              <a:off x="2290" y="3447"/>
              <a:ext cx="255" cy="187"/>
            </a:xfrm>
            <a:custGeom>
              <a:avLst/>
              <a:gdLst>
                <a:gd name="txL" fmla="*/ 0 w 255"/>
                <a:gd name="txT" fmla="*/ 0 h 187"/>
                <a:gd name="txR" fmla="*/ 255 w 255"/>
                <a:gd name="txB" fmla="*/ 187 h 187"/>
              </a:gdLst>
              <a:ahLst/>
              <a:cxnLst>
                <a:cxn ang="0">
                  <a:pos x="103" y="52"/>
                </a:cxn>
                <a:cxn ang="0">
                  <a:pos x="33" y="78"/>
                </a:cxn>
                <a:cxn ang="0">
                  <a:pos x="174" y="187"/>
                </a:cxn>
                <a:cxn ang="0">
                  <a:pos x="255" y="187"/>
                </a:cxn>
                <a:cxn ang="0">
                  <a:pos x="103" y="52"/>
                </a:cxn>
              </a:cxnLst>
              <a:rect l="txL" t="txT" r="txR" b="txB"/>
              <a:pathLst>
                <a:path w="255" h="187">
                  <a:moveTo>
                    <a:pt x="103" y="52"/>
                  </a:moveTo>
                  <a:cubicBezTo>
                    <a:pt x="75" y="0"/>
                    <a:pt x="0" y="45"/>
                    <a:pt x="33" y="78"/>
                  </a:cubicBezTo>
                  <a:cubicBezTo>
                    <a:pt x="66" y="111"/>
                    <a:pt x="115" y="156"/>
                    <a:pt x="174" y="187"/>
                  </a:cubicBezTo>
                  <a:lnTo>
                    <a:pt x="255" y="187"/>
                  </a:lnTo>
                  <a:cubicBezTo>
                    <a:pt x="204" y="150"/>
                    <a:pt x="164" y="133"/>
                    <a:pt x="103" y="52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1" name="Freeform 68"/>
            <p:cNvSpPr>
              <a:spLocks noChangeAspect="1"/>
            </p:cNvSpPr>
            <p:nvPr/>
          </p:nvSpPr>
          <p:spPr>
            <a:xfrm flipV="1">
              <a:off x="2381" y="3447"/>
              <a:ext cx="267" cy="195"/>
            </a:xfrm>
            <a:custGeom>
              <a:avLst/>
              <a:gdLst>
                <a:gd name="txL" fmla="*/ 0 w 267"/>
                <a:gd name="txT" fmla="*/ 0 h 195"/>
                <a:gd name="txR" fmla="*/ 267 w 267"/>
                <a:gd name="txB" fmla="*/ 195 h 195"/>
              </a:gdLst>
              <a:ahLst/>
              <a:cxnLst>
                <a:cxn ang="0">
                  <a:pos x="23" y="77"/>
                </a:cxn>
                <a:cxn ang="0">
                  <a:pos x="119" y="62"/>
                </a:cxn>
                <a:cxn ang="0">
                  <a:pos x="267" y="195"/>
                </a:cxn>
                <a:cxn ang="0">
                  <a:pos x="164" y="195"/>
                </a:cxn>
                <a:cxn ang="0">
                  <a:pos x="23" y="77"/>
                </a:cxn>
              </a:cxnLst>
              <a:rect l="txL" t="txT" r="txR" b="txB"/>
              <a:pathLst>
                <a:path w="267" h="195">
                  <a:moveTo>
                    <a:pt x="23" y="77"/>
                  </a:moveTo>
                  <a:cubicBezTo>
                    <a:pt x="0" y="42"/>
                    <a:pt x="80" y="0"/>
                    <a:pt x="119" y="62"/>
                  </a:cubicBezTo>
                  <a:cubicBezTo>
                    <a:pt x="158" y="124"/>
                    <a:pt x="228" y="167"/>
                    <a:pt x="267" y="195"/>
                  </a:cubicBezTo>
                  <a:lnTo>
                    <a:pt x="164" y="195"/>
                  </a:lnTo>
                  <a:cubicBezTo>
                    <a:pt x="107" y="162"/>
                    <a:pt x="53" y="113"/>
                    <a:pt x="23" y="77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2" name="Freeform 69"/>
            <p:cNvSpPr>
              <a:spLocks noChangeAspect="1"/>
            </p:cNvSpPr>
            <p:nvPr/>
          </p:nvSpPr>
          <p:spPr>
            <a:xfrm flipV="1">
              <a:off x="2480" y="3447"/>
              <a:ext cx="269" cy="196"/>
            </a:xfrm>
            <a:custGeom>
              <a:avLst/>
              <a:gdLst>
                <a:gd name="txL" fmla="*/ 0 w 269"/>
                <a:gd name="txT" fmla="*/ 0 h 196"/>
                <a:gd name="txR" fmla="*/ 269 w 269"/>
                <a:gd name="txB" fmla="*/ 196 h 196"/>
              </a:gdLst>
              <a:ahLst/>
              <a:cxnLst>
                <a:cxn ang="0">
                  <a:pos x="84" y="39"/>
                </a:cxn>
                <a:cxn ang="0">
                  <a:pos x="20" y="63"/>
                </a:cxn>
                <a:cxn ang="0">
                  <a:pos x="168" y="196"/>
                </a:cxn>
                <a:cxn ang="0">
                  <a:pos x="269" y="196"/>
                </a:cxn>
                <a:cxn ang="0">
                  <a:pos x="84" y="39"/>
                </a:cxn>
              </a:cxnLst>
              <a:rect l="txL" t="txT" r="txR" b="txB"/>
              <a:pathLst>
                <a:path w="269" h="196">
                  <a:moveTo>
                    <a:pt x="84" y="39"/>
                  </a:moveTo>
                  <a:cubicBezTo>
                    <a:pt x="66" y="0"/>
                    <a:pt x="0" y="33"/>
                    <a:pt x="20" y="63"/>
                  </a:cubicBezTo>
                  <a:cubicBezTo>
                    <a:pt x="59" y="125"/>
                    <a:pt x="129" y="168"/>
                    <a:pt x="168" y="196"/>
                  </a:cubicBezTo>
                  <a:lnTo>
                    <a:pt x="269" y="196"/>
                  </a:lnTo>
                  <a:cubicBezTo>
                    <a:pt x="212" y="163"/>
                    <a:pt x="102" y="78"/>
                    <a:pt x="84" y="39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3" name="Rectangle 70"/>
            <p:cNvSpPr>
              <a:spLocks noChangeAspect="1"/>
            </p:cNvSpPr>
            <p:nvPr/>
          </p:nvSpPr>
          <p:spPr>
            <a:xfrm>
              <a:off x="2226" y="3401"/>
              <a:ext cx="2298" cy="46"/>
            </a:xfrm>
            <a:prstGeom prst="rect">
              <a:avLst/>
            </a:prstGeom>
            <a:solidFill>
              <a:schemeClr val="bg1"/>
            </a:solidFill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74" name="Freeform 71"/>
            <p:cNvSpPr>
              <a:spLocks noChangeAspect="1"/>
            </p:cNvSpPr>
            <p:nvPr/>
          </p:nvSpPr>
          <p:spPr>
            <a:xfrm>
              <a:off x="4570" y="3394"/>
              <a:ext cx="218" cy="60"/>
            </a:xfrm>
            <a:custGeom>
              <a:avLst/>
              <a:gdLst>
                <a:gd name="txL" fmla="*/ 0 w 218"/>
                <a:gd name="txT" fmla="*/ 0 h 60"/>
                <a:gd name="txR" fmla="*/ 218 w 218"/>
                <a:gd name="txB" fmla="*/ 60 h 60"/>
              </a:gdLst>
              <a:ahLst/>
              <a:cxnLst>
                <a:cxn ang="0">
                  <a:pos x="0" y="5"/>
                </a:cxn>
                <a:cxn ang="0">
                  <a:pos x="184" y="0"/>
                </a:cxn>
                <a:cxn ang="0">
                  <a:pos x="218" y="29"/>
                </a:cxn>
                <a:cxn ang="0">
                  <a:pos x="183" y="60"/>
                </a:cxn>
                <a:cxn ang="0">
                  <a:pos x="0" y="53"/>
                </a:cxn>
                <a:cxn ang="0">
                  <a:pos x="0" y="5"/>
                </a:cxn>
              </a:cxnLst>
              <a:rect l="txL" t="txT" r="txR" b="txB"/>
              <a:pathLst>
                <a:path w="218" h="60">
                  <a:moveTo>
                    <a:pt x="0" y="5"/>
                  </a:moveTo>
                  <a:lnTo>
                    <a:pt x="184" y="0"/>
                  </a:lnTo>
                  <a:lnTo>
                    <a:pt x="218" y="29"/>
                  </a:lnTo>
                  <a:lnTo>
                    <a:pt x="183" y="60"/>
                  </a:lnTo>
                  <a:lnTo>
                    <a:pt x="0" y="5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5" name="Freeform 72"/>
            <p:cNvSpPr>
              <a:spLocks noChangeAspect="1"/>
            </p:cNvSpPr>
            <p:nvPr/>
          </p:nvSpPr>
          <p:spPr>
            <a:xfrm>
              <a:off x="4648" y="3280"/>
              <a:ext cx="471" cy="289"/>
            </a:xfrm>
            <a:custGeom>
              <a:avLst/>
              <a:gdLst>
                <a:gd name="txL" fmla="*/ 0 w 235"/>
                <a:gd name="txT" fmla="*/ 0 h 144"/>
                <a:gd name="txR" fmla="*/ 235 w 235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3966281" y="1216979"/>
                </a:cxn>
                <a:cxn ang="0">
                  <a:pos x="0" y="2476369"/>
                </a:cxn>
                <a:cxn ang="0">
                  <a:pos x="1180054" y="1216979"/>
                </a:cxn>
                <a:cxn ang="0">
                  <a:pos x="0" y="0"/>
                </a:cxn>
              </a:cxnLst>
              <a:rect l="txL" t="txT" r="txR" b="txB"/>
              <a:pathLst>
                <a:path w="235" h="144">
                  <a:moveTo>
                    <a:pt x="0" y="0"/>
                  </a:moveTo>
                  <a:cubicBezTo>
                    <a:pt x="70" y="36"/>
                    <a:pt x="177" y="70"/>
                    <a:pt x="235" y="71"/>
                  </a:cubicBezTo>
                  <a:cubicBezTo>
                    <a:pt x="177" y="77"/>
                    <a:pt x="70" y="106"/>
                    <a:pt x="0" y="144"/>
                  </a:cubicBezTo>
                  <a:cubicBezTo>
                    <a:pt x="13" y="118"/>
                    <a:pt x="43" y="96"/>
                    <a:pt x="70" y="71"/>
                  </a:cubicBezTo>
                  <a:cubicBezTo>
                    <a:pt x="42" y="51"/>
                    <a:pt x="13" y="19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6" name="AutoShape 73"/>
            <p:cNvSpPr>
              <a:spLocks noChangeAspect="1"/>
            </p:cNvSpPr>
            <p:nvPr/>
          </p:nvSpPr>
          <p:spPr>
            <a:xfrm>
              <a:off x="4524" y="3390"/>
              <a:ext cx="46" cy="69"/>
            </a:xfrm>
            <a:prstGeom prst="roundRect">
              <a:avLst>
                <a:gd name="adj" fmla="val 41796"/>
              </a:avLst>
            </a:prstGeom>
            <a:solidFill>
              <a:srgbClr val="DDDDDD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4579" name="Rectangle 16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Unlock Seq. Diag. Variation 1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4580" name="Text Box 81"/>
          <p:cNvSpPr txBox="1"/>
          <p:nvPr/>
        </p:nvSpPr>
        <p:spPr>
          <a:xfrm>
            <a:off x="381000" y="5149850"/>
            <a:ext cx="8267700" cy="1579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85750" indent="-285750" eaLnBrk="1" hangingPunct="1">
              <a:spcBef>
                <a:spcPts val="4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Sets a Boolean attribute of the Key object:  ok = true/false;</a:t>
            </a:r>
            <a:endParaRPr lang="en-US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spcBef>
                <a:spcPts val="4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Business logic (IF-THEN rule) relocated from Controller to LockCtrl</a:t>
            </a:r>
            <a:endParaRPr lang="en-US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spcBef>
                <a:spcPts val="4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May be useful if Controller and LockCtrl are in different memory spaces and their communication could be intercepted,</a:t>
            </a:r>
            <a:b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so the Key should be encrypted</a:t>
            </a:r>
            <a:endParaRPr lang="en-US" altLang="en-US" sz="18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4581" name="Picture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638" y="2008188"/>
            <a:ext cx="4532312" cy="2803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2" name="Text Box 81"/>
          <p:cNvSpPr txBox="1"/>
          <p:nvPr/>
        </p:nvSpPr>
        <p:spPr>
          <a:xfrm>
            <a:off x="34925" y="1401763"/>
            <a:ext cx="7562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To avoid an impression that the above design is the only one possible...</a:t>
            </a:r>
            <a:endParaRPr lang="en-US" altLang="en-US" sz="2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5603" name="Rectangle 16"/>
          <p:cNvSpPr>
            <a:spLocks noGrp="1"/>
          </p:cNvSpPr>
          <p:nvPr>
            <p:ph type="title"/>
          </p:nvPr>
        </p:nvSpPr>
        <p:spPr>
          <a:xfrm>
            <a:off x="130175" y="152400"/>
            <a:ext cx="8932863" cy="1143000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Unlock Seq. Diag. Variation 2a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5604" name="Text Box 72"/>
          <p:cNvSpPr txBox="1"/>
          <p:nvPr/>
        </p:nvSpPr>
        <p:spPr>
          <a:xfrm>
            <a:off x="254000" y="3897313"/>
            <a:ext cx="8699500" cy="2800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Instead of the original solution where the Controller, gets involved in the operation of different devices, the Controller only sends the message to one of a group of objects associated with a device</a:t>
            </a:r>
            <a:endParaRPr lang="en-US" altLang="en-US" sz="1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Controller contains high-level business logic/policies and should not get involved in device-control details</a:t>
            </a:r>
            <a:endParaRPr lang="en-US" altLang="en-US" sz="1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Checking whether it is dark and the light is needed should be a responsibility of LightCtrl</a:t>
            </a:r>
            <a:endParaRPr lang="en-US" altLang="en-US" sz="1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Similarly, if other devices require multi-step control, the Controller should not be involved</a:t>
            </a:r>
            <a:endParaRPr lang="en-US" altLang="en-US" sz="1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altLang="en-US" sz="1500" b="0" dirty="0">
                <a:latin typeface="Calibri" panose="020F0502020204030204" pitchFamily="34" charset="0"/>
                <a:cs typeface="Calibri" panose="020F0502020204030204" pitchFamily="34" charset="0"/>
              </a:rPr>
              <a:t>For example, MusicCtrl would find the appropriate playlist and activate the player</a:t>
            </a:r>
            <a:endParaRPr lang="en-US" altLang="en-US" sz="15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altLang="en-US" sz="1500" b="0" dirty="0">
                <a:latin typeface="Calibri" panose="020F0502020204030204" pitchFamily="34" charset="0"/>
                <a:cs typeface="Calibri" panose="020F0502020204030204" pitchFamily="34" charset="0"/>
              </a:rPr>
              <a:t>AlarmCtrl will determine the list of who needs to be notified and send text messages</a:t>
            </a:r>
            <a:endParaRPr lang="en-US" altLang="en-US" sz="15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5605" name="Picture 1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775" y="1525588"/>
            <a:ext cx="2111375" cy="2252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6627" name="Rectangle 16"/>
          <p:cNvSpPr>
            <a:spLocks noGrp="1"/>
          </p:cNvSpPr>
          <p:nvPr>
            <p:ph type="title"/>
          </p:nvPr>
        </p:nvSpPr>
        <p:spPr>
          <a:xfrm>
            <a:off x="130175" y="152400"/>
            <a:ext cx="8932863" cy="1143000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Unlock Seq. Diag. Variation 2b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6628" name="Text Box 72"/>
          <p:cNvSpPr txBox="1"/>
          <p:nvPr/>
        </p:nvSpPr>
        <p:spPr>
          <a:xfrm>
            <a:off x="300038" y="4260850"/>
            <a:ext cx="8699500" cy="2195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It may seem helpful that </a:t>
            </a:r>
            <a:r>
              <a:rPr lang="en-US" altLang="en-US" sz="1600" b="0" dirty="0">
                <a:solidFill>
                  <a:srgbClr val="6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checkIfDaylightAndIfNotThenSetLit()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is named informatively (reveals the intention) </a:t>
            </a:r>
            <a:r>
              <a:rPr lang="en-US" altLang="en-US" sz="1600" b="0" dirty="0"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endParaRPr lang="en-US" altLang="en-US" sz="1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but the low-level knowledge of operating a particular device (lighting) is encoded in the name of the method </a:t>
            </a:r>
            <a:r>
              <a:rPr lang="en-US" altLang="en-US" sz="1600" b="0" dirty="0"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endParaRPr lang="en-US" altLang="en-US" sz="1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which, in turn, means that low-level knowledge (“mechanism”) is imparted onto the caller (Controller) which should be concerned with high-level business policies</a:t>
            </a:r>
            <a:endParaRPr lang="en-US" altLang="en-US" sz="1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spcBef>
                <a:spcPct val="30000"/>
              </a:spcBef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Mixing low-level knowledge with high-level knowledge results in </a:t>
            </a:r>
            <a:r>
              <a:rPr lang="en-US" altLang="en-US" sz="1600" b="0" i="1" dirty="0">
                <a:latin typeface="Calibri" panose="020F0502020204030204" pitchFamily="34" charset="0"/>
                <a:cs typeface="Calibri" panose="020F0502020204030204" pitchFamily="34" charset="0"/>
              </a:rPr>
              <a:t>rigid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1600" b="0" i="1" dirty="0">
                <a:latin typeface="Calibri" panose="020F0502020204030204" pitchFamily="34" charset="0"/>
                <a:cs typeface="Calibri" panose="020F0502020204030204" pitchFamily="34" charset="0"/>
              </a:rPr>
              <a:t>non-reusable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designs</a:t>
            </a:r>
            <a:endParaRPr lang="en-US" altLang="en-US" sz="16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6629" name="Freeform 204"/>
          <p:cNvSpPr>
            <a:spLocks noChangeAspect="1"/>
          </p:cNvSpPr>
          <p:nvPr/>
        </p:nvSpPr>
        <p:spPr>
          <a:xfrm>
            <a:off x="4162425" y="2287588"/>
            <a:ext cx="307975" cy="257175"/>
          </a:xfrm>
          <a:custGeom>
            <a:avLst/>
            <a:gdLst>
              <a:gd name="txL" fmla="*/ 0 w 1851"/>
              <a:gd name="txT" fmla="*/ 0 h 1539"/>
              <a:gd name="txR" fmla="*/ 1851 w 1851"/>
              <a:gd name="txB" fmla="*/ 1539 h 1539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851" h="1539">
                <a:moveTo>
                  <a:pt x="0" y="1539"/>
                </a:moveTo>
                <a:cubicBezTo>
                  <a:pt x="423" y="1401"/>
                  <a:pt x="1146" y="1134"/>
                  <a:pt x="1224" y="1128"/>
                </a:cubicBezTo>
                <a:cubicBezTo>
                  <a:pt x="1239" y="1257"/>
                  <a:pt x="1224" y="1458"/>
                  <a:pt x="1239" y="1536"/>
                </a:cubicBezTo>
                <a:cubicBezTo>
                  <a:pt x="1395" y="1326"/>
                  <a:pt x="1560" y="1134"/>
                  <a:pt x="1851" y="747"/>
                </a:cubicBezTo>
                <a:cubicBezTo>
                  <a:pt x="1548" y="360"/>
                  <a:pt x="1287" y="69"/>
                  <a:pt x="1224" y="0"/>
                </a:cubicBezTo>
                <a:cubicBezTo>
                  <a:pt x="1215" y="45"/>
                  <a:pt x="1236" y="294"/>
                  <a:pt x="1224" y="369"/>
                </a:cubicBezTo>
                <a:cubicBezTo>
                  <a:pt x="1080" y="315"/>
                  <a:pt x="249" y="117"/>
                  <a:pt x="3" y="30"/>
                </a:cubicBezTo>
                <a:cubicBezTo>
                  <a:pt x="6" y="369"/>
                  <a:pt x="27" y="981"/>
                  <a:pt x="0" y="1539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3175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26630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625" y="1530350"/>
            <a:ext cx="2224088" cy="22367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1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388" y="1514475"/>
            <a:ext cx="3556000" cy="2236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32" name="Text Box 81"/>
          <p:cNvSpPr txBox="1"/>
          <p:nvPr/>
        </p:nvSpPr>
        <p:spPr>
          <a:xfrm>
            <a:off x="4470400" y="3351213"/>
            <a:ext cx="1798638" cy="8318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en-US" sz="1200" b="0" dirty="0">
                <a:latin typeface="AvantGarde Bk BT" pitchFamily="34" charset="0"/>
              </a:rPr>
              <a:t>This solution need</a:t>
            </a:r>
            <a:br>
              <a:rPr lang="en-US" altLang="en-US" sz="1200" b="0" dirty="0">
                <a:latin typeface="AvantGarde Bk BT" pitchFamily="34" charset="0"/>
              </a:rPr>
            </a:br>
            <a:r>
              <a:rPr lang="en-US" altLang="en-US" sz="1200" b="0" dirty="0">
                <a:latin typeface="AvantGarde Bk BT" pitchFamily="34" charset="0"/>
              </a:rPr>
              <a:t>separate methods to:</a:t>
            </a:r>
            <a:endParaRPr lang="en-US" altLang="en-US" sz="1200" b="0" dirty="0">
              <a:latin typeface="AvantGarde Bk BT" pitchFamily="34" charset="0"/>
            </a:endParaRPr>
          </a:p>
          <a:p>
            <a:pPr eaLnBrk="1" hangingPunct="1"/>
            <a:r>
              <a:rPr lang="en-US" altLang="en-US" sz="1200" b="0" dirty="0">
                <a:latin typeface="AvantGarde Bk BT" pitchFamily="34" charset="0"/>
              </a:rPr>
              <a:t>- Turn light ON</a:t>
            </a:r>
            <a:endParaRPr lang="en-US" altLang="en-US" sz="1200" b="0" dirty="0">
              <a:latin typeface="AvantGarde Bk BT" pitchFamily="34" charset="0"/>
            </a:endParaRPr>
          </a:p>
          <a:p>
            <a:pPr eaLnBrk="1" hangingPunct="1"/>
            <a:r>
              <a:rPr lang="en-US" altLang="en-US" sz="1200" b="0" dirty="0">
                <a:latin typeface="AvantGarde Bk BT" pitchFamily="34" charset="0"/>
              </a:rPr>
              <a:t>- Turn light OFF</a:t>
            </a:r>
            <a:endParaRPr lang="en-US" altLang="en-US" sz="1200" b="0" dirty="0">
              <a:latin typeface="AvantGarde Bk BT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Summary of </a:t>
            </a:r>
            <a:r>
              <a:rPr lang="en-US" altLang="en-US" u="sng" dirty="0">
                <a:latin typeface="Arial Rounded MT Bold" panose="020F0704030504030204" pitchFamily="34" charset="0"/>
                <a:ea typeface="+mj-ea"/>
                <a:cs typeface="+mj-cs"/>
              </a:rPr>
              <a:t>Some</a:t>
            </a: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 Design Variations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7651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pic>
        <p:nvPicPr>
          <p:cNvPr id="27652" name="Picture 2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8" y="1435100"/>
            <a:ext cx="8918575" cy="538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130175" y="152400"/>
            <a:ext cx="8932863" cy="1143000"/>
          </a:xfrm>
        </p:spPr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Are We Done w/ UC-1: Unlock ?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108575"/>
          </a:xfrm>
        </p:spPr>
        <p:txBody>
          <a:bodyPr vert="horz" wrap="square" lIns="91440" tIns="45720" rIns="91440" bIns="45720" anchor="t" anchorCtr="0"/>
          <a:p>
            <a:pPr>
              <a:spcBef>
                <a:spcPts val="4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Didn’t check that the user is at the right door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spcBef>
                <a:spcPts val="400"/>
              </a:spcBef>
              <a:buChar char="–"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Missing: Managing access rights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4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Didn’t distinguish critical and non-critical functions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spcBef>
                <a:spcPts val="400"/>
              </a:spcBef>
              <a:buChar char="–"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example, what if logTransaction() call to Logger does not return, e.g., no access to database (network outage) or disk-space full ?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400"/>
              </a:spcBef>
              <a:buChar char="–"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Missing: Independent execution of non-critical functions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4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Adding new household devices causes major design changes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4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Controller has several </a:t>
            </a:r>
            <a:r>
              <a:rPr lang="en-US" altLang="en-US" sz="2400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unrelated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reasons for future changes: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spcBef>
                <a:spcPts val="400"/>
              </a:spcBef>
              <a:buFont typeface="Comic Sans MS" panose="030F0702030302020204" pitchFamily="66" charset="0"/>
              <a:buAutoNum type="arabicPeriod"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Business </a:t>
            </a:r>
            <a:r>
              <a:rPr lang="en-US" altLang="en-US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policies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are entangled with authentication </a:t>
            </a:r>
            <a:r>
              <a:rPr lang="en-US" altLang="en-US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mechanisms</a:t>
            </a:r>
            <a:endParaRPr lang="en-US" alt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400"/>
              </a:spcBef>
              <a:buFont typeface="Comic Sans MS" panose="030F0702030302020204" pitchFamily="66" charset="0"/>
              <a:buAutoNum type="arabicPeriod"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Device management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4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Etc.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400"/>
              </a:spcBef>
              <a:buClr>
                <a:srgbClr val="680000"/>
              </a:buClr>
              <a:buFont typeface="Wingdings" panose="05000000000000000000" pitchFamily="2" charset="2"/>
              <a:buNone/>
            </a:pP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>
              <a:spcBef>
                <a:spcPts val="400"/>
              </a:spcBef>
              <a:buClr>
                <a:srgbClr val="680000"/>
              </a:buClr>
              <a:buFont typeface="Wingdings" panose="05000000000000000000" pitchFamily="2" charset="2"/>
              <a:buNone/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 this design will be revisited in future lectures!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1"/>
          <p:cNvSpPr/>
          <p:nvPr/>
        </p:nvSpPr>
        <p:spPr>
          <a:xfrm>
            <a:off x="635000" y="3051175"/>
            <a:ext cx="8331200" cy="1566863"/>
          </a:xfrm>
          <a:prstGeom prst="rect">
            <a:avLst/>
          </a:prstGeom>
          <a:solidFill>
            <a:srgbClr val="F9FEDA"/>
          </a:solidFill>
          <a:ln w="1905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9700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Business Policies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9701" name="Rectangle 5"/>
          <p:cNvSpPr/>
          <p:nvPr/>
        </p:nvSpPr>
        <p:spPr>
          <a:xfrm>
            <a:off x="352425" y="1973263"/>
            <a:ext cx="7851775" cy="2586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IF key </a:t>
            </a: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</a:t>
            </a: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ValidKeys THEN disarm lock and turn lights on</a:t>
            </a:r>
            <a:endParaRPr lang="en-US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endParaRPr lang="en-US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increment failed-attempts-counter</a:t>
            </a:r>
            <a:endParaRPr lang="en-US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IF failed-attempts-counter equals maximum number allowed</a:t>
            </a:r>
            <a:endParaRPr lang="en-US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THEN block further attempts and raise alarm</a:t>
            </a:r>
            <a:endParaRPr lang="en-US" altLang="en-US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9702" name="Line 6"/>
          <p:cNvSpPr/>
          <p:nvPr/>
        </p:nvSpPr>
        <p:spPr>
          <a:xfrm>
            <a:off x="352425" y="1776413"/>
            <a:ext cx="84550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3" name="Line 7"/>
          <p:cNvSpPr/>
          <p:nvPr/>
        </p:nvSpPr>
        <p:spPr>
          <a:xfrm>
            <a:off x="352425" y="4776788"/>
            <a:ext cx="84550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5" name="Text Box 8"/>
          <p:cNvSpPr txBox="1">
            <a:spLocks noChangeArrowheads="1"/>
          </p:cNvSpPr>
          <p:nvPr/>
        </p:nvSpPr>
        <p:spPr bwMode="auto">
          <a:xfrm>
            <a:off x="1173163" y="5024438"/>
            <a:ext cx="6632575" cy="166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Should be moved into a separate object: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Make them explicit part of the model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Separate business policies from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impl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 Mechanism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See 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Dependency Inversion Principle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(next lecture)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9705" name="Text Box 81"/>
          <p:cNvSpPr txBox="1"/>
          <p:nvPr/>
        </p:nvSpPr>
        <p:spPr>
          <a:xfrm>
            <a:off x="7442200" y="2744788"/>
            <a:ext cx="1524000" cy="307975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000" b="0" dirty="0">
                <a:solidFill>
                  <a:srgbClr val="680000"/>
                </a:solidFill>
                <a:latin typeface="AvantGarde Bk BT" pitchFamily="34" charset="0"/>
              </a:rPr>
              <a:t>mechanism:</a:t>
            </a:r>
            <a:endParaRPr lang="en-US" altLang="en-US" sz="2000" b="0" dirty="0">
              <a:solidFill>
                <a:srgbClr val="680000"/>
              </a:solidFill>
              <a:latin typeface="AvantGarde Bk BT" pitchFamily="34" charset="0"/>
            </a:endParaRPr>
          </a:p>
        </p:txBody>
      </p:sp>
      <p:sp>
        <p:nvSpPr>
          <p:cNvPr id="29706" name="Text Box 81"/>
          <p:cNvSpPr txBox="1"/>
          <p:nvPr/>
        </p:nvSpPr>
        <p:spPr>
          <a:xfrm>
            <a:off x="352425" y="1462088"/>
            <a:ext cx="820738" cy="306387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000" b="0" dirty="0">
                <a:solidFill>
                  <a:srgbClr val="680000"/>
                </a:solidFill>
                <a:latin typeface="AvantGarde Bk BT" pitchFamily="34" charset="0"/>
              </a:rPr>
              <a:t>policy:</a:t>
            </a:r>
            <a:endParaRPr lang="en-US" altLang="en-US" sz="2000" b="0" dirty="0">
              <a:solidFill>
                <a:srgbClr val="680000"/>
              </a:solidFill>
              <a:latin typeface="AvantGarde Bk BT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ext Box 81"/>
          <p:cNvSpPr txBox="1"/>
          <p:nvPr/>
        </p:nvSpPr>
        <p:spPr>
          <a:xfrm>
            <a:off x="5611813" y="5919788"/>
            <a:ext cx="3451225" cy="831850"/>
          </a:xfrm>
          <a:prstGeom prst="rect">
            <a:avLst/>
          </a:prstGeom>
          <a:solidFill>
            <a:srgbClr val="EAEAFA"/>
          </a:solidFill>
          <a:ln w="127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r>
              <a:rPr lang="en-US" altLang="en-US" sz="1200" b="0" dirty="0">
                <a:latin typeface="AvantGarde Bk BT" pitchFamily="34" charset="0"/>
              </a:rPr>
              <a:t>Class diagram corresponds to the static module structure from </a:t>
            </a:r>
            <a:r>
              <a:rPr lang="en-US" altLang="en-US" sz="1200" dirty="0">
                <a:latin typeface="AvantGarde Bk BT" pitchFamily="34" charset="0"/>
              </a:rPr>
              <a:t>conceptual analysis</a:t>
            </a:r>
            <a:r>
              <a:rPr lang="en-US" altLang="en-US" sz="1200" b="0" dirty="0">
                <a:latin typeface="AvantGarde Bk BT" pitchFamily="34" charset="0"/>
              </a:rPr>
              <a:t>, but detailed and refined based on plan-to-module mapping</a:t>
            </a:r>
            <a:endParaRPr lang="en-US" altLang="en-US" sz="1200" b="0" dirty="0">
              <a:latin typeface="AvantGarde Bk BT" pitchFamily="34" charset="0"/>
            </a:endParaRPr>
          </a:p>
        </p:txBody>
      </p:sp>
      <p:sp>
        <p:nvSpPr>
          <p:cNvPr id="30723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30724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Class Diagram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pic>
        <p:nvPicPr>
          <p:cNvPr id="30725" name="Picture 2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538" y="1163638"/>
            <a:ext cx="1527175" cy="10588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6" name="Picture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1347788"/>
            <a:ext cx="2001838" cy="37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7" name="Picture 2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25" y="2967038"/>
            <a:ext cx="8129588" cy="3698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8" name="Text Box 81"/>
          <p:cNvSpPr txBox="1"/>
          <p:nvPr/>
        </p:nvSpPr>
        <p:spPr>
          <a:xfrm>
            <a:off x="0" y="2379663"/>
            <a:ext cx="908367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en-US" sz="2000" b="0" dirty="0">
                <a:latin typeface="AvantGarde Bk BT" pitchFamily="34" charset="0"/>
              </a:rPr>
              <a:t>Class diagram should be derived by looking-up the sequence diagrams</a:t>
            </a:r>
            <a:endParaRPr lang="en-US" altLang="en-US" sz="2000" b="0" dirty="0">
              <a:latin typeface="AvantGarde Bk BT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3174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Traceability Matrix (3)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1748" name="Rectangle 106"/>
          <p:cNvSpPr/>
          <p:nvPr/>
        </p:nvSpPr>
        <p:spPr>
          <a:xfrm>
            <a:off x="255588" y="1203325"/>
            <a:ext cx="4254500" cy="2746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800" b="0" dirty="0">
                <a:latin typeface="Arial" panose="020B0604020202020204" pitchFamily="34" charset="0"/>
              </a:rPr>
              <a:t>Mapping: Domain model to Class diagram</a:t>
            </a:r>
            <a:endParaRPr lang="en-US" altLang="en-US" sz="1800" b="0" dirty="0">
              <a:latin typeface="Arial" panose="020B0604020202020204" pitchFamily="34" charset="0"/>
            </a:endParaRPr>
          </a:p>
        </p:txBody>
      </p:sp>
      <p:pic>
        <p:nvPicPr>
          <p:cNvPr id="31749" name="Picture 1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13" y="1465263"/>
            <a:ext cx="6146800" cy="5305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0" name="Rectangle 106"/>
          <p:cNvSpPr/>
          <p:nvPr/>
        </p:nvSpPr>
        <p:spPr>
          <a:xfrm>
            <a:off x="7256463" y="5302250"/>
            <a:ext cx="1806575" cy="10779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For missing checks, explain whether the concept module was discarded or delayed until future iterations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zh-CN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Types of Object Communication</a:t>
            </a:r>
            <a:endParaRPr lang="en-US" altLang="zh-CN" dirty="0">
              <a:latin typeface="Arial Rounded MT Bold" panose="020F07040305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8132" name="Oval 3"/>
          <p:cNvSpPr>
            <a:spLocks noChangeAspect="1" noChangeArrowheads="1"/>
          </p:cNvSpPr>
          <p:nvPr/>
        </p:nvSpPr>
        <p:spPr bwMode="auto">
          <a:xfrm>
            <a:off x="519113" y="3063875"/>
            <a:ext cx="547688" cy="5476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  <a:effectLst>
            <a:outerShdw dist="53882" dir="2700000" algn="ctr" rotWithShape="0">
              <a:srgbClr val="808080"/>
            </a:outerShdw>
          </a:effectLst>
        </p:spPr>
        <p:txBody>
          <a:bodyPr lIns="0" tIns="128016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3" name="Oval 4"/>
          <p:cNvSpPr>
            <a:spLocks noChangeAspect="1" noChangeArrowheads="1"/>
          </p:cNvSpPr>
          <p:nvPr/>
        </p:nvSpPr>
        <p:spPr bwMode="auto">
          <a:xfrm>
            <a:off x="2271713" y="3063875"/>
            <a:ext cx="547688" cy="5476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  <a:effectLst>
            <a:outerShdw dist="53882" dir="2700000" algn="ctr" rotWithShape="0">
              <a:srgbClr val="808080"/>
            </a:outerShdw>
          </a:effectLst>
        </p:spPr>
        <p:txBody>
          <a:bodyPr lIns="0" tIns="128016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4" name="Arc 5"/>
          <p:cNvSpPr/>
          <p:nvPr/>
        </p:nvSpPr>
        <p:spPr>
          <a:xfrm>
            <a:off x="1063625" y="3011488"/>
            <a:ext cx="1211263" cy="519112"/>
          </a:xfrm>
          <a:custGeom>
            <a:avLst/>
            <a:gdLst>
              <a:gd name="txL" fmla="*/ 0 w 37143"/>
              <a:gd name="txT" fmla="*/ 0 h 21600"/>
              <a:gd name="txR" fmla="*/ 37143 w 37143"/>
              <a:gd name="txB" fmla="*/ 21600 h 21600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37143" h="21600" fill="none">
                <a:moveTo>
                  <a:pt x="0" y="10535"/>
                </a:moveTo>
                <a:cubicBezTo>
                  <a:pt x="3897" y="4001"/>
                  <a:pt x="10943" y="0"/>
                  <a:pt x="18551" y="0"/>
                </a:cubicBezTo>
                <a:cubicBezTo>
                  <a:pt x="26187" y="0"/>
                  <a:pt x="33256" y="4032"/>
                  <a:pt x="37143" y="10604"/>
                </a:cubicBezTo>
              </a:path>
              <a:path w="37143" h="21600" stroke="0">
                <a:moveTo>
                  <a:pt x="0" y="10535"/>
                </a:moveTo>
                <a:cubicBezTo>
                  <a:pt x="3897" y="4001"/>
                  <a:pt x="10943" y="0"/>
                  <a:pt x="18551" y="0"/>
                </a:cubicBezTo>
                <a:cubicBezTo>
                  <a:pt x="26187" y="0"/>
                  <a:pt x="33256" y="4032"/>
                  <a:pt x="37143" y="10604"/>
                </a:cubicBezTo>
                <a:lnTo>
                  <a:pt x="18551" y="21600"/>
                </a:lnTo>
                <a:lnTo>
                  <a:pt x="0" y="10535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775" name="Arc 6"/>
          <p:cNvSpPr/>
          <p:nvPr/>
        </p:nvSpPr>
        <p:spPr>
          <a:xfrm flipV="1">
            <a:off x="1063625" y="3144838"/>
            <a:ext cx="1211263" cy="519112"/>
          </a:xfrm>
          <a:custGeom>
            <a:avLst/>
            <a:gdLst>
              <a:gd name="txL" fmla="*/ 0 w 37143"/>
              <a:gd name="txT" fmla="*/ 0 h 21600"/>
              <a:gd name="txR" fmla="*/ 37143 w 37143"/>
              <a:gd name="txB" fmla="*/ 21600 h 21600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37143" h="21600" fill="none">
                <a:moveTo>
                  <a:pt x="0" y="10535"/>
                </a:moveTo>
                <a:cubicBezTo>
                  <a:pt x="3897" y="4001"/>
                  <a:pt x="10943" y="0"/>
                  <a:pt x="18551" y="0"/>
                </a:cubicBezTo>
                <a:cubicBezTo>
                  <a:pt x="26187" y="0"/>
                  <a:pt x="33256" y="4032"/>
                  <a:pt x="37143" y="10604"/>
                </a:cubicBezTo>
              </a:path>
              <a:path w="37143" h="21600" stroke="0">
                <a:moveTo>
                  <a:pt x="0" y="10535"/>
                </a:moveTo>
                <a:cubicBezTo>
                  <a:pt x="3897" y="4001"/>
                  <a:pt x="10943" y="0"/>
                  <a:pt x="18551" y="0"/>
                </a:cubicBezTo>
                <a:cubicBezTo>
                  <a:pt x="26187" y="0"/>
                  <a:pt x="33256" y="4032"/>
                  <a:pt x="37143" y="10604"/>
                </a:cubicBezTo>
                <a:lnTo>
                  <a:pt x="18551" y="21600"/>
                </a:lnTo>
                <a:lnTo>
                  <a:pt x="0" y="10535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8136" name="Oval 7"/>
          <p:cNvSpPr>
            <a:spLocks noChangeAspect="1" noChangeArrowheads="1"/>
          </p:cNvSpPr>
          <p:nvPr/>
        </p:nvSpPr>
        <p:spPr bwMode="auto">
          <a:xfrm>
            <a:off x="3400425" y="3063875"/>
            <a:ext cx="547688" cy="5476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  <a:effectLst>
            <a:outerShdw dist="53882" dir="2700000" algn="ctr" rotWithShape="0">
              <a:srgbClr val="808080"/>
            </a:outerShdw>
          </a:effectLst>
        </p:spPr>
        <p:txBody>
          <a:bodyPr lIns="0" tIns="128016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7" name="Oval 8"/>
          <p:cNvSpPr>
            <a:spLocks noChangeAspect="1" noChangeArrowheads="1"/>
          </p:cNvSpPr>
          <p:nvPr/>
        </p:nvSpPr>
        <p:spPr bwMode="auto">
          <a:xfrm>
            <a:off x="5033963" y="2932113"/>
            <a:ext cx="547688" cy="5476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  <a:effectLst>
            <a:outerShdw dist="53882" dir="2700000" algn="ctr" rotWithShape="0">
              <a:srgbClr val="808080"/>
            </a:outerShdw>
          </a:effectLst>
        </p:spPr>
        <p:txBody>
          <a:bodyPr lIns="0" tIns="128016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8" name="Oval 9"/>
          <p:cNvSpPr>
            <a:spLocks noChangeAspect="1" noChangeArrowheads="1"/>
          </p:cNvSpPr>
          <p:nvPr/>
        </p:nvSpPr>
        <p:spPr bwMode="auto">
          <a:xfrm>
            <a:off x="4843463" y="2293938"/>
            <a:ext cx="547688" cy="5476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  <a:effectLst>
            <a:outerShdw dist="53882" dir="2700000" algn="ctr" rotWithShape="0">
              <a:srgbClr val="808080"/>
            </a:outerShdw>
          </a:effectLst>
        </p:spPr>
        <p:txBody>
          <a:bodyPr lIns="0" tIns="128016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9" name="Arc 10"/>
          <p:cNvSpPr/>
          <p:nvPr/>
        </p:nvSpPr>
        <p:spPr>
          <a:xfrm>
            <a:off x="3871913" y="2568575"/>
            <a:ext cx="993775" cy="993775"/>
          </a:xfrm>
          <a:custGeom>
            <a:avLst/>
            <a:gdLst>
              <a:gd name="txL" fmla="*/ 0 w 19583"/>
              <a:gd name="txT" fmla="*/ 0 h 21588"/>
              <a:gd name="txR" fmla="*/ 19583 w 19583"/>
              <a:gd name="txB" fmla="*/ 21588 h 21588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txL" t="txT" r="txR" b="txB"/>
            <a:pathLst>
              <a:path w="19583" h="21588" fill="none">
                <a:moveTo>
                  <a:pt x="-1" y="12473"/>
                </a:moveTo>
                <a:cubicBezTo>
                  <a:pt x="3435" y="5091"/>
                  <a:pt x="10730" y="268"/>
                  <a:pt x="18868" y="-1"/>
                </a:cubicBezTo>
              </a:path>
              <a:path w="19583" h="21588" stroke="0">
                <a:moveTo>
                  <a:pt x="-1" y="12473"/>
                </a:moveTo>
                <a:cubicBezTo>
                  <a:pt x="3435" y="5091"/>
                  <a:pt x="10730" y="268"/>
                  <a:pt x="18868" y="-1"/>
                </a:cubicBezTo>
                <a:lnTo>
                  <a:pt x="19583" y="21588"/>
                </a:lnTo>
                <a:lnTo>
                  <a:pt x="-1" y="12473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8140" name="Oval 11"/>
          <p:cNvSpPr>
            <a:spLocks noChangeAspect="1" noChangeArrowheads="1"/>
          </p:cNvSpPr>
          <p:nvPr/>
        </p:nvSpPr>
        <p:spPr bwMode="auto">
          <a:xfrm>
            <a:off x="4843463" y="3833813"/>
            <a:ext cx="547688" cy="5476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  <a:effectLst>
            <a:outerShdw dist="53882" dir="2700000" algn="ctr" rotWithShape="0">
              <a:srgbClr val="808080"/>
            </a:outerShdw>
          </a:effectLst>
        </p:spPr>
        <p:txBody>
          <a:bodyPr lIns="0" tIns="128016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1" name="Arc 12"/>
          <p:cNvSpPr/>
          <p:nvPr/>
        </p:nvSpPr>
        <p:spPr>
          <a:xfrm flipV="1">
            <a:off x="3871913" y="3116263"/>
            <a:ext cx="993775" cy="993775"/>
          </a:xfrm>
          <a:custGeom>
            <a:avLst/>
            <a:gdLst>
              <a:gd name="txL" fmla="*/ 0 w 19583"/>
              <a:gd name="txT" fmla="*/ 0 h 21588"/>
              <a:gd name="txR" fmla="*/ 19583 w 19583"/>
              <a:gd name="txB" fmla="*/ 21588 h 21588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txL" t="txT" r="txR" b="txB"/>
            <a:pathLst>
              <a:path w="19583" h="21588" fill="none">
                <a:moveTo>
                  <a:pt x="-1" y="12473"/>
                </a:moveTo>
                <a:cubicBezTo>
                  <a:pt x="3435" y="5091"/>
                  <a:pt x="10730" y="268"/>
                  <a:pt x="18868" y="-1"/>
                </a:cubicBezTo>
              </a:path>
              <a:path w="19583" h="21588" stroke="0">
                <a:moveTo>
                  <a:pt x="-1" y="12473"/>
                </a:moveTo>
                <a:cubicBezTo>
                  <a:pt x="3435" y="5091"/>
                  <a:pt x="10730" y="268"/>
                  <a:pt x="18868" y="-1"/>
                </a:cubicBezTo>
                <a:lnTo>
                  <a:pt x="19583" y="21588"/>
                </a:lnTo>
                <a:lnTo>
                  <a:pt x="-1" y="12473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782" name="Arc 13"/>
          <p:cNvSpPr/>
          <p:nvPr/>
        </p:nvSpPr>
        <p:spPr>
          <a:xfrm>
            <a:off x="3948113" y="3097213"/>
            <a:ext cx="1085850" cy="292100"/>
          </a:xfrm>
          <a:custGeom>
            <a:avLst/>
            <a:gdLst>
              <a:gd name="txL" fmla="*/ 0 w 34848"/>
              <a:gd name="txT" fmla="*/ 0 h 21600"/>
              <a:gd name="txR" fmla="*/ 34848 w 34848"/>
              <a:gd name="txB" fmla="*/ 21600 h 21600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34848" h="21600" fill="none">
                <a:moveTo>
                  <a:pt x="0" y="16597"/>
                </a:moveTo>
                <a:cubicBezTo>
                  <a:pt x="2317" y="6866"/>
                  <a:pt x="11010" y="0"/>
                  <a:pt x="21013" y="0"/>
                </a:cubicBezTo>
                <a:cubicBezTo>
                  <a:pt x="26069" y="0"/>
                  <a:pt x="30965" y="1773"/>
                  <a:pt x="34848" y="5012"/>
                </a:cubicBezTo>
              </a:path>
              <a:path w="34848" h="21600" stroke="0">
                <a:moveTo>
                  <a:pt x="0" y="16597"/>
                </a:moveTo>
                <a:cubicBezTo>
                  <a:pt x="2317" y="6866"/>
                  <a:pt x="11010" y="0"/>
                  <a:pt x="21013" y="0"/>
                </a:cubicBezTo>
                <a:cubicBezTo>
                  <a:pt x="26069" y="0"/>
                  <a:pt x="30965" y="1773"/>
                  <a:pt x="34848" y="5012"/>
                </a:cubicBezTo>
                <a:lnTo>
                  <a:pt x="21013" y="21600"/>
                </a:lnTo>
                <a:lnTo>
                  <a:pt x="0" y="16597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783" name="Oval 14"/>
          <p:cNvSpPr>
            <a:spLocks noChangeAspect="1"/>
          </p:cNvSpPr>
          <p:nvPr/>
        </p:nvSpPr>
        <p:spPr>
          <a:xfrm>
            <a:off x="5222875" y="3570288"/>
            <a:ext cx="46038" cy="46037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p>
            <a:pPr eaLnBrk="1" hangingPunct="1"/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84" name="Oval 15"/>
          <p:cNvSpPr>
            <a:spLocks noChangeAspect="1"/>
          </p:cNvSpPr>
          <p:nvPr/>
        </p:nvSpPr>
        <p:spPr>
          <a:xfrm>
            <a:off x="5208588" y="3641725"/>
            <a:ext cx="46037" cy="46038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p>
            <a:pPr eaLnBrk="1" hangingPunct="1"/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85" name="Oval 16"/>
          <p:cNvSpPr>
            <a:spLocks noChangeAspect="1"/>
          </p:cNvSpPr>
          <p:nvPr/>
        </p:nvSpPr>
        <p:spPr>
          <a:xfrm>
            <a:off x="5194300" y="3713163"/>
            <a:ext cx="46038" cy="46037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p>
            <a:pPr eaLnBrk="1" hangingPunct="1"/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46" name="Oval 17"/>
          <p:cNvSpPr>
            <a:spLocks noChangeAspect="1" noChangeArrowheads="1"/>
          </p:cNvSpPr>
          <p:nvPr/>
        </p:nvSpPr>
        <p:spPr bwMode="auto">
          <a:xfrm>
            <a:off x="6170613" y="2479675"/>
            <a:ext cx="547688" cy="5476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  <a:effectLst>
            <a:outerShdw dist="53882" dir="2700000" algn="ctr" rotWithShape="0">
              <a:srgbClr val="808080"/>
            </a:outerShdw>
          </a:effectLst>
        </p:spPr>
        <p:txBody>
          <a:bodyPr lIns="0" tIns="128016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47" name="Oval 18"/>
          <p:cNvSpPr>
            <a:spLocks noChangeAspect="1" noChangeArrowheads="1"/>
          </p:cNvSpPr>
          <p:nvPr/>
        </p:nvSpPr>
        <p:spPr bwMode="auto">
          <a:xfrm>
            <a:off x="8062913" y="2479675"/>
            <a:ext cx="547688" cy="5476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  <a:effectLst>
            <a:outerShdw dist="53882" dir="2700000" algn="ctr" rotWithShape="0">
              <a:srgbClr val="808080"/>
            </a:outerShdw>
          </a:effectLst>
        </p:spPr>
        <p:txBody>
          <a:bodyPr lIns="0" tIns="128016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8" name="Arc 19"/>
          <p:cNvSpPr/>
          <p:nvPr/>
        </p:nvSpPr>
        <p:spPr>
          <a:xfrm>
            <a:off x="6537325" y="2946400"/>
            <a:ext cx="628650" cy="547688"/>
          </a:xfrm>
          <a:custGeom>
            <a:avLst/>
            <a:gdLst>
              <a:gd name="txL" fmla="*/ 0 w 21600"/>
              <a:gd name="txT" fmla="*/ 0 h 22773"/>
              <a:gd name="txR" fmla="*/ 21600 w 21600"/>
              <a:gd name="txB" fmla="*/ 22773 h 22773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21600" h="22773" fill="none">
                <a:moveTo>
                  <a:pt x="3459" y="-1"/>
                </a:moveTo>
                <a:cubicBezTo>
                  <a:pt x="13916" y="1696"/>
                  <a:pt x="21600" y="10726"/>
                  <a:pt x="21600" y="21321"/>
                </a:cubicBezTo>
                <a:cubicBezTo>
                  <a:pt x="21600" y="21805"/>
                  <a:pt x="21583" y="22289"/>
                  <a:pt x="21551" y="22773"/>
                </a:cubicBezTo>
              </a:path>
              <a:path w="21600" h="22773" stroke="0">
                <a:moveTo>
                  <a:pt x="3459" y="-1"/>
                </a:moveTo>
                <a:cubicBezTo>
                  <a:pt x="13916" y="1696"/>
                  <a:pt x="21600" y="10726"/>
                  <a:pt x="21600" y="21321"/>
                </a:cubicBezTo>
                <a:cubicBezTo>
                  <a:pt x="21600" y="21805"/>
                  <a:pt x="21583" y="22289"/>
                  <a:pt x="21551" y="22773"/>
                </a:cubicBezTo>
                <a:lnTo>
                  <a:pt x="0" y="21321"/>
                </a:lnTo>
                <a:lnTo>
                  <a:pt x="3459" y="-1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789" name="Arc 20"/>
          <p:cNvSpPr/>
          <p:nvPr/>
        </p:nvSpPr>
        <p:spPr>
          <a:xfrm flipV="1">
            <a:off x="6415088" y="2998788"/>
            <a:ext cx="671512" cy="785812"/>
          </a:xfrm>
          <a:custGeom>
            <a:avLst/>
            <a:gdLst>
              <a:gd name="txL" fmla="*/ 0 w 21579"/>
              <a:gd name="txT" fmla="*/ 0 h 21195"/>
              <a:gd name="txR" fmla="*/ 21579 w 21579"/>
              <a:gd name="txB" fmla="*/ 21195 h 21195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txL" t="txT" r="txR" b="txB"/>
            <a:pathLst>
              <a:path w="21579" h="21195" fill="none">
                <a:moveTo>
                  <a:pt x="-1" y="20252"/>
                </a:moveTo>
                <a:cubicBezTo>
                  <a:pt x="434" y="10290"/>
                  <a:pt x="7632" y="1920"/>
                  <a:pt x="17417" y="-1"/>
                </a:cubicBezTo>
              </a:path>
              <a:path w="21579" h="21195" stroke="0">
                <a:moveTo>
                  <a:pt x="-1" y="20252"/>
                </a:moveTo>
                <a:cubicBezTo>
                  <a:pt x="434" y="10290"/>
                  <a:pt x="7632" y="1920"/>
                  <a:pt x="17417" y="-1"/>
                </a:cubicBezTo>
                <a:lnTo>
                  <a:pt x="21579" y="21195"/>
                </a:lnTo>
                <a:lnTo>
                  <a:pt x="-1" y="20252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790" name="AutoShape 21"/>
          <p:cNvSpPr/>
          <p:nvPr/>
        </p:nvSpPr>
        <p:spPr>
          <a:xfrm>
            <a:off x="6961188" y="3476625"/>
            <a:ext cx="857250" cy="719138"/>
          </a:xfrm>
          <a:prstGeom prst="can">
            <a:avLst>
              <a:gd name="adj" fmla="val 36866"/>
            </a:avLst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p>
            <a:pPr eaLnBrk="1" hangingPunct="1"/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91" name="Arc 22"/>
          <p:cNvSpPr/>
          <p:nvPr/>
        </p:nvSpPr>
        <p:spPr>
          <a:xfrm flipH="1">
            <a:off x="7615238" y="2944813"/>
            <a:ext cx="628650" cy="547687"/>
          </a:xfrm>
          <a:custGeom>
            <a:avLst/>
            <a:gdLst>
              <a:gd name="txL" fmla="*/ 0 w 21600"/>
              <a:gd name="txT" fmla="*/ 0 h 22783"/>
              <a:gd name="txR" fmla="*/ 21600 w 21600"/>
              <a:gd name="txB" fmla="*/ 22783 h 22783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21600" h="22783" fill="none">
                <a:moveTo>
                  <a:pt x="3459" y="-1"/>
                </a:moveTo>
                <a:cubicBezTo>
                  <a:pt x="13916" y="1696"/>
                  <a:pt x="21600" y="10726"/>
                  <a:pt x="21600" y="21321"/>
                </a:cubicBezTo>
                <a:cubicBezTo>
                  <a:pt x="21600" y="21808"/>
                  <a:pt x="21583" y="22296"/>
                  <a:pt x="21550" y="22783"/>
                </a:cubicBezTo>
              </a:path>
              <a:path w="21600" h="22783" stroke="0">
                <a:moveTo>
                  <a:pt x="3459" y="-1"/>
                </a:moveTo>
                <a:cubicBezTo>
                  <a:pt x="13916" y="1696"/>
                  <a:pt x="21600" y="10726"/>
                  <a:pt x="21600" y="21321"/>
                </a:cubicBezTo>
                <a:cubicBezTo>
                  <a:pt x="21600" y="21808"/>
                  <a:pt x="21583" y="22296"/>
                  <a:pt x="21550" y="22783"/>
                </a:cubicBezTo>
                <a:lnTo>
                  <a:pt x="0" y="21321"/>
                </a:lnTo>
                <a:lnTo>
                  <a:pt x="3459" y="-1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792" name="Arc 23"/>
          <p:cNvSpPr/>
          <p:nvPr/>
        </p:nvSpPr>
        <p:spPr>
          <a:xfrm flipH="1" flipV="1">
            <a:off x="7694613" y="3000375"/>
            <a:ext cx="671512" cy="787400"/>
          </a:xfrm>
          <a:custGeom>
            <a:avLst/>
            <a:gdLst>
              <a:gd name="txL" fmla="*/ 0 w 21583"/>
              <a:gd name="txT" fmla="*/ 0 h 21233"/>
              <a:gd name="txR" fmla="*/ 21583 w 21583"/>
              <a:gd name="txB" fmla="*/ 21233 h 21233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txL" t="txT" r="txR" b="txB"/>
            <a:pathLst>
              <a:path w="21583" h="21233" fill="none">
                <a:moveTo>
                  <a:pt x="-1" y="20378"/>
                </a:moveTo>
                <a:cubicBezTo>
                  <a:pt x="398" y="10307"/>
                  <a:pt x="7709" y="1850"/>
                  <a:pt x="17618" y="0"/>
                </a:cubicBezTo>
              </a:path>
              <a:path w="21583" h="21233" stroke="0">
                <a:moveTo>
                  <a:pt x="-1" y="20378"/>
                </a:moveTo>
                <a:cubicBezTo>
                  <a:pt x="398" y="10307"/>
                  <a:pt x="7709" y="1850"/>
                  <a:pt x="17618" y="0"/>
                </a:cubicBezTo>
                <a:lnTo>
                  <a:pt x="21583" y="21233"/>
                </a:lnTo>
                <a:lnTo>
                  <a:pt x="-1" y="20378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793" name="Text Box 24"/>
          <p:cNvSpPr txBox="1"/>
          <p:nvPr/>
        </p:nvSpPr>
        <p:spPr>
          <a:xfrm>
            <a:off x="1550988" y="4243388"/>
            <a:ext cx="246062" cy="2444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endParaRPr lang="en-US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94" name="Text Box 25"/>
          <p:cNvSpPr txBox="1"/>
          <p:nvPr/>
        </p:nvSpPr>
        <p:spPr>
          <a:xfrm>
            <a:off x="4371975" y="4243388"/>
            <a:ext cx="257175" cy="2444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endParaRPr lang="en-US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95" name="Text Box 26"/>
          <p:cNvSpPr txBox="1"/>
          <p:nvPr/>
        </p:nvSpPr>
        <p:spPr>
          <a:xfrm>
            <a:off x="7273925" y="4243388"/>
            <a:ext cx="246063" cy="2444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(c)</a:t>
            </a:r>
            <a:endParaRPr lang="en-US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I3MzEzOWFkYWIyMzJmZWY3NTJiMTllNTNhYmFjYzkifQ=="/>
</p:tagLst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11665</Words>
  <Application>WPS 演示</Application>
  <PresentationFormat>全屏显示(4:3)</PresentationFormat>
  <Paragraphs>472</Paragraphs>
  <Slides>29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8" baseType="lpstr">
      <vt:lpstr>Arial</vt:lpstr>
      <vt:lpstr>宋体</vt:lpstr>
      <vt:lpstr>Wingdings</vt:lpstr>
      <vt:lpstr>Times New Roman</vt:lpstr>
      <vt:lpstr>Comic Sans MS</vt:lpstr>
      <vt:lpstr>Arial Rounded MT Bold</vt:lpstr>
      <vt:lpstr>AvantGarde Bk BT</vt:lpstr>
      <vt:lpstr>Segoe Print</vt:lpstr>
      <vt:lpstr>Verdana</vt:lpstr>
      <vt:lpstr>黑体</vt:lpstr>
      <vt:lpstr>Calibri</vt:lpstr>
      <vt:lpstr>MT Extra</vt:lpstr>
      <vt:lpstr>微软雅黑</vt:lpstr>
      <vt:lpstr>Arial Unicode MS</vt:lpstr>
      <vt:lpstr>Symbol</vt:lpstr>
      <vt:lpstr>Default Design</vt:lpstr>
      <vt:lpstr>Visio.Drawing.6</vt:lpstr>
      <vt:lpstr>Visio.Drawing.6</vt:lpstr>
      <vt:lpstr>Visio.Drawing.6</vt:lpstr>
      <vt:lpstr>PowerPoint 演示文稿</vt:lpstr>
      <vt:lpstr>Topics</vt:lpstr>
      <vt:lpstr>System Sequence Diagrams</vt:lpstr>
      <vt:lpstr>Design: Object Interactions</vt:lpstr>
      <vt:lpstr>Metaphor for Software Design: “Connecting the Dots” within the System Box</vt:lpstr>
      <vt:lpstr>Types of Object Responsibilities</vt:lpstr>
      <vt:lpstr>Example …</vt:lpstr>
      <vt:lpstr>Assigning Responsibilities: Design Diagramming</vt:lpstr>
      <vt:lpstr>Gluing the Modules (“Connecting the Dots”)</vt:lpstr>
      <vt:lpstr>Gluing the Modules by Plan Walkthrough</vt:lpstr>
      <vt:lpstr>Mapping Actions to Modules</vt:lpstr>
      <vt:lpstr>Sequence Diagram (in progress)</vt:lpstr>
      <vt:lpstr>Alternative Designs:</vt:lpstr>
      <vt:lpstr>How Data Travels</vt:lpstr>
      <vt:lpstr>Characteristics of Good Designs</vt:lpstr>
      <vt:lpstr>Some Design Principles</vt:lpstr>
      <vt:lpstr>Design Involves Compromises</vt:lpstr>
      <vt:lpstr>Design: Assigning Responsibilities</vt:lpstr>
      <vt:lpstr>Responsibility-Driven Design</vt:lpstr>
      <vt:lpstr>time to tidy up … Unlock Use Case</vt:lpstr>
      <vt:lpstr>Unlock Seq. Diag. Variation 1</vt:lpstr>
      <vt:lpstr>Unlock Seq. Diag. Variation 2a</vt:lpstr>
      <vt:lpstr>Unlock Seq. Diag. Variation 2b</vt:lpstr>
      <vt:lpstr>Summary of Some Design Variations</vt:lpstr>
      <vt:lpstr>Are We Done w/ UC-1: Unlock ?</vt:lpstr>
      <vt:lpstr>Business Policies</vt:lpstr>
      <vt:lpstr>Class Diagram</vt:lpstr>
      <vt:lpstr>Traceability Matrix (3)</vt:lpstr>
      <vt:lpstr>Types of Object Communication</vt:lpstr>
    </vt:vector>
  </TitlesOfParts>
  <Company>Rutgers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Slides</dc:title>
  <dc:creator>Ivan Marsic</dc:creator>
  <cp:keywords>software engineering, software development, object-oriented software engineeirng, OOD</cp:keywords>
  <dc:subject>lecture 7: Object-Oriented Design</dc:subject>
  <cp:category>lecture slides, course materials</cp:category>
  <cp:lastModifiedBy>MX</cp:lastModifiedBy>
  <cp:revision>5114</cp:revision>
  <dcterms:created xsi:type="dcterms:W3CDTF">2003-05-20T05:14:00Z</dcterms:created>
  <dcterms:modified xsi:type="dcterms:W3CDTF">2026-04-04T07:39:39Z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101A3FA3F8C04EC38A49B611F939D9A5_12</vt:lpwstr>
  </property>
  <property fmtid="{D5CDD505-2E9C-101B-9397-08002B2CF9AE}" pid="3" name="KSOProductBuildVer">
    <vt:lpwstr>2052-12.1.0.23542</vt:lpwstr>
  </property>
</Properties>
</file>