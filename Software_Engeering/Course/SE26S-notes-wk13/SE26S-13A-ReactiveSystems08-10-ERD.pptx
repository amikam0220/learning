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00.fntdata" ContentType="application/x-fontdata"/>
  <Override PartName="/ppt/fonts/font101.fntdata" ContentType="application/x-fontdata"/>
  <Override PartName="/ppt/fonts/font102.fntdata" ContentType="application/x-fontdata"/>
  <Override PartName="/ppt/fonts/font103.fntdata" ContentType="application/x-fontdata"/>
  <Override PartName="/ppt/fonts/font104.fntdata" ContentType="application/x-fontdata"/>
  <Override PartName="/ppt/fonts/font105.fntdata" ContentType="application/x-fontdata"/>
  <Override PartName="/ppt/fonts/font106.fntdata" ContentType="application/x-fontdata"/>
  <Override PartName="/ppt/fonts/font107.fntdata" ContentType="application/x-fontdata"/>
  <Override PartName="/ppt/fonts/font108.fntdata" ContentType="application/x-fontdata"/>
  <Override PartName="/ppt/fonts/font109.fntdata" ContentType="application/x-fontdata"/>
  <Override PartName="/ppt/fonts/font11.fntdata" ContentType="application/x-fontdata"/>
  <Override PartName="/ppt/fonts/font110.fntdata" ContentType="application/x-fontdata"/>
  <Override PartName="/ppt/fonts/font111.fntdata" ContentType="application/x-fontdata"/>
  <Override PartName="/ppt/fonts/font112.fntdata" ContentType="application/x-fontdata"/>
  <Override PartName="/ppt/fonts/font113.fntdata" ContentType="application/x-fontdata"/>
  <Override PartName="/ppt/fonts/font114.fntdata" ContentType="application/x-fontdata"/>
  <Override PartName="/ppt/fonts/font115.fntdata" ContentType="application/x-fontdata"/>
  <Override PartName="/ppt/fonts/font116.fntdata" ContentType="application/x-fontdata"/>
  <Override PartName="/ppt/fonts/font117.fntdata" ContentType="application/x-fontdata"/>
  <Override PartName="/ppt/fonts/font118.fntdata" ContentType="application/x-fontdata"/>
  <Override PartName="/ppt/fonts/font119.fntdata" ContentType="application/x-fontdata"/>
  <Override PartName="/ppt/fonts/font12.fntdata" ContentType="application/x-fontdata"/>
  <Override PartName="/ppt/fonts/font120.fntdata" ContentType="application/x-fontdata"/>
  <Override PartName="/ppt/fonts/font121.fntdata" ContentType="application/x-fontdata"/>
  <Override PartName="/ppt/fonts/font122.fntdata" ContentType="application/x-fontdata"/>
  <Override PartName="/ppt/fonts/font123.fntdata" ContentType="application/x-fontdata"/>
  <Override PartName="/ppt/fonts/font124.fntdata" ContentType="application/x-fontdata"/>
  <Override PartName="/ppt/fonts/font125.fntdata" ContentType="application/x-fontdata"/>
  <Override PartName="/ppt/fonts/font126.fntdata" ContentType="application/x-fontdata"/>
  <Override PartName="/ppt/fonts/font127.fntdata" ContentType="application/x-fontdata"/>
  <Override PartName="/ppt/fonts/font128.fntdata" ContentType="application/x-fontdata"/>
  <Override PartName="/ppt/fonts/font129.fntdata" ContentType="application/x-fontdata"/>
  <Override PartName="/ppt/fonts/font13.fntdata" ContentType="application/x-fontdata"/>
  <Override PartName="/ppt/fonts/font130.fntdata" ContentType="application/x-fontdata"/>
  <Override PartName="/ppt/fonts/font131.fntdata" ContentType="application/x-fontdata"/>
  <Override PartName="/ppt/fonts/font132.fntdata" ContentType="application/x-fontdata"/>
  <Override PartName="/ppt/fonts/font133.fntdata" ContentType="application/x-fontdata"/>
  <Override PartName="/ppt/fonts/font134.fntdata" ContentType="application/x-fontdata"/>
  <Override PartName="/ppt/fonts/font135.fntdata" ContentType="application/x-fontdata"/>
  <Override PartName="/ppt/fonts/font136.fntdata" ContentType="application/x-fontdata"/>
  <Override PartName="/ppt/fonts/font137.fntdata" ContentType="application/x-fontdata"/>
  <Override PartName="/ppt/fonts/font138.fntdata" ContentType="application/x-fontdata"/>
  <Override PartName="/ppt/fonts/font139.fntdata" ContentType="application/x-fontdata"/>
  <Override PartName="/ppt/fonts/font14.fntdata" ContentType="application/x-fontdata"/>
  <Override PartName="/ppt/fonts/font140.fntdata" ContentType="application/x-fontdata"/>
  <Override PartName="/ppt/fonts/font141.fntdata" ContentType="application/x-fontdata"/>
  <Override PartName="/ppt/fonts/font142.fntdata" ContentType="application/x-fontdata"/>
  <Override PartName="/ppt/fonts/font143.fntdata" ContentType="application/x-fontdata"/>
  <Override PartName="/ppt/fonts/font144.fntdata" ContentType="application/x-fontdata"/>
  <Override PartName="/ppt/fonts/font145.fntdata" ContentType="application/x-fontdata"/>
  <Override PartName="/ppt/fonts/font146.fntdata" ContentType="application/x-fontdata"/>
  <Override PartName="/ppt/fonts/font147.fntdata" ContentType="application/x-fontdata"/>
  <Override PartName="/ppt/fonts/font148.fntdata" ContentType="application/x-fontdata"/>
  <Override PartName="/ppt/fonts/font149.fntdata" ContentType="application/x-fontdata"/>
  <Override PartName="/ppt/fonts/font15.fntdata" ContentType="application/x-fontdata"/>
  <Override PartName="/ppt/fonts/font150.fntdata" ContentType="application/x-fontdata"/>
  <Override PartName="/ppt/fonts/font151.fntdata" ContentType="application/x-fontdata"/>
  <Override PartName="/ppt/fonts/font152.fntdata" ContentType="application/x-fontdata"/>
  <Override PartName="/ppt/fonts/font153.fntdata" ContentType="application/x-fontdata"/>
  <Override PartName="/ppt/fonts/font154.fntdata" ContentType="application/x-fontdata"/>
  <Override PartName="/ppt/fonts/font155.fntdata" ContentType="application/x-fontdata"/>
  <Override PartName="/ppt/fonts/font156.fntdata" ContentType="application/x-fontdata"/>
  <Override PartName="/ppt/fonts/font157.fntdata" ContentType="application/x-fontdata"/>
  <Override PartName="/ppt/fonts/font158.fntdata" ContentType="application/x-fontdata"/>
  <Override PartName="/ppt/fonts/font159.fntdata" ContentType="application/x-fontdata"/>
  <Override PartName="/ppt/fonts/font16.fntdata" ContentType="application/x-fontdata"/>
  <Override PartName="/ppt/fonts/font160.fntdata" ContentType="application/x-fontdata"/>
  <Override PartName="/ppt/fonts/font161.fntdata" ContentType="application/x-fontdata"/>
  <Override PartName="/ppt/fonts/font162.fntdata" ContentType="application/x-fontdata"/>
  <Override PartName="/ppt/fonts/font163.fntdata" ContentType="application/x-fontdata"/>
  <Override PartName="/ppt/fonts/font164.fntdata" ContentType="application/x-fontdata"/>
  <Override PartName="/ppt/fonts/font165.fntdata" ContentType="application/x-fontdata"/>
  <Override PartName="/ppt/fonts/font166.fntdata" ContentType="application/x-fontdata"/>
  <Override PartName="/ppt/fonts/font167.fntdata" ContentType="application/x-fontdata"/>
  <Override PartName="/ppt/fonts/font168.fntdata" ContentType="application/x-fontdata"/>
  <Override PartName="/ppt/fonts/font169.fntdata" ContentType="application/x-fontdata"/>
  <Override PartName="/ppt/fonts/font17.fntdata" ContentType="application/x-fontdata"/>
  <Override PartName="/ppt/fonts/font170.fntdata" ContentType="application/x-fontdata"/>
  <Override PartName="/ppt/fonts/font171.fntdata" ContentType="application/x-fontdata"/>
  <Override PartName="/ppt/fonts/font172.fntdata" ContentType="application/x-fontdata"/>
  <Override PartName="/ppt/fonts/font173.fntdata" ContentType="application/x-fontdata"/>
  <Override PartName="/ppt/fonts/font174.fntdata" ContentType="application/x-fontdata"/>
  <Override PartName="/ppt/fonts/font175.fntdata" ContentType="application/x-fontdata"/>
  <Override PartName="/ppt/fonts/font176.fntdata" ContentType="application/x-fontdata"/>
  <Override PartName="/ppt/fonts/font177.fntdata" ContentType="application/x-fontdata"/>
  <Override PartName="/ppt/fonts/font178.fntdata" ContentType="application/x-fontdata"/>
  <Override PartName="/ppt/fonts/font179.fntdata" ContentType="application/x-fontdata"/>
  <Override PartName="/ppt/fonts/font18.fntdata" ContentType="application/x-fontdata"/>
  <Override PartName="/ppt/fonts/font180.fntdata" ContentType="application/x-fontdata"/>
  <Override PartName="/ppt/fonts/font181.fntdata" ContentType="application/x-fontdata"/>
  <Override PartName="/ppt/fonts/font182.fntdata" ContentType="application/x-fontdata"/>
  <Override PartName="/ppt/fonts/font183.fntdata" ContentType="application/x-fontdata"/>
  <Override PartName="/ppt/fonts/font184.fntdata" ContentType="application/x-fontdata"/>
  <Override PartName="/ppt/fonts/font185.fntdata" ContentType="application/x-fontdata"/>
  <Override PartName="/ppt/fonts/font186.fntdata" ContentType="application/x-fontdata"/>
  <Override PartName="/ppt/fonts/font187.fntdata" ContentType="application/x-fontdata"/>
  <Override PartName="/ppt/fonts/font188.fntdata" ContentType="application/x-fontdata"/>
  <Override PartName="/ppt/fonts/font189.fntdata" ContentType="application/x-fontdata"/>
  <Override PartName="/ppt/fonts/font19.fntdata" ContentType="application/x-fontdata"/>
  <Override PartName="/ppt/fonts/font190.fntdata" ContentType="application/x-fontdata"/>
  <Override PartName="/ppt/fonts/font191.fntdata" ContentType="application/x-fontdata"/>
  <Override PartName="/ppt/fonts/font192.fntdata" ContentType="application/x-fontdata"/>
  <Override PartName="/ppt/fonts/font193.fntdata" ContentType="application/x-fontdata"/>
  <Override PartName="/ppt/fonts/font194.fntdata" ContentType="application/x-fontdata"/>
  <Override PartName="/ppt/fonts/font195.fntdata" ContentType="application/x-fontdata"/>
  <Override PartName="/ppt/fonts/font196.fntdata" ContentType="application/x-fontdata"/>
  <Override PartName="/ppt/fonts/font197.fntdata" ContentType="application/x-fontdata"/>
  <Override PartName="/ppt/fonts/font198.fntdata" ContentType="application/x-fontdata"/>
  <Override PartName="/ppt/fonts/font199.fntdata" ContentType="application/x-fontdata"/>
  <Override PartName="/ppt/fonts/font2.fntdata" ContentType="application/x-fontdata"/>
  <Override PartName="/ppt/fonts/font20.fntdata" ContentType="application/x-fontdata"/>
  <Override PartName="/ppt/fonts/font200.fntdata" ContentType="application/x-fontdata"/>
  <Override PartName="/ppt/fonts/font201.fntdata" ContentType="application/x-fontdata"/>
  <Override PartName="/ppt/fonts/font202.fntdata" ContentType="application/x-fontdata"/>
  <Override PartName="/ppt/fonts/font203.fntdata" ContentType="application/x-fontdata"/>
  <Override PartName="/ppt/fonts/font204.fntdata" ContentType="application/x-fontdata"/>
  <Override PartName="/ppt/fonts/font205.fntdata" ContentType="application/x-fontdata"/>
  <Override PartName="/ppt/fonts/font206.fntdata" ContentType="application/x-fontdata"/>
  <Override PartName="/ppt/fonts/font207.fntdata" ContentType="application/x-fontdata"/>
  <Override PartName="/ppt/fonts/font208.fntdata" ContentType="application/x-fontdata"/>
  <Override PartName="/ppt/fonts/font209.fntdata" ContentType="application/x-fontdata"/>
  <Override PartName="/ppt/fonts/font21.fntdata" ContentType="application/x-fontdata"/>
  <Override PartName="/ppt/fonts/font210.fntdata" ContentType="application/x-fontdata"/>
  <Override PartName="/ppt/fonts/font211.fntdata" ContentType="application/x-fontdata"/>
  <Override PartName="/ppt/fonts/font212.fntdata" ContentType="application/x-fontdata"/>
  <Override PartName="/ppt/fonts/font213.fntdata" ContentType="application/x-fontdata"/>
  <Override PartName="/ppt/fonts/font214.fntdata" ContentType="application/x-fontdata"/>
  <Override PartName="/ppt/fonts/font215.fntdata" ContentType="application/x-fontdata"/>
  <Override PartName="/ppt/fonts/font216.fntdata" ContentType="application/x-fontdata"/>
  <Override PartName="/ppt/fonts/font217.fntdata" ContentType="application/x-fontdata"/>
  <Override PartName="/ppt/fonts/font218.fntdata" ContentType="application/x-fontdata"/>
  <Override PartName="/ppt/fonts/font219.fntdata" ContentType="application/x-fontdata"/>
  <Override PartName="/ppt/fonts/font22.fntdata" ContentType="application/x-fontdata"/>
  <Override PartName="/ppt/fonts/font220.fntdata" ContentType="application/x-fontdata"/>
  <Override PartName="/ppt/fonts/font221.fntdata" ContentType="application/x-fontdata"/>
  <Override PartName="/ppt/fonts/font222.fntdata" ContentType="application/x-fontdata"/>
  <Override PartName="/ppt/fonts/font223.fntdata" ContentType="application/x-fontdata"/>
  <Override PartName="/ppt/fonts/font224.fntdata" ContentType="application/x-fontdata"/>
  <Override PartName="/ppt/fonts/font225.fntdata" ContentType="application/x-fontdata"/>
  <Override PartName="/ppt/fonts/font226.fntdata" ContentType="application/x-fontdata"/>
  <Override PartName="/ppt/fonts/font227.fntdata" ContentType="application/x-fontdata"/>
  <Override PartName="/ppt/fonts/font228.fntdata" ContentType="application/x-fontdata"/>
  <Override PartName="/ppt/fonts/font229.fntdata" ContentType="application/x-fontdata"/>
  <Override PartName="/ppt/fonts/font23.fntdata" ContentType="application/x-fontdata"/>
  <Override PartName="/ppt/fonts/font230.fntdata" ContentType="application/x-fontdata"/>
  <Override PartName="/ppt/fonts/font231.fntdata" ContentType="application/x-fontdata"/>
  <Override PartName="/ppt/fonts/font232.fntdata" ContentType="application/x-fontdata"/>
  <Override PartName="/ppt/fonts/font233.fntdata" ContentType="application/x-fontdata"/>
  <Override PartName="/ppt/fonts/font234.fntdata" ContentType="application/x-fontdata"/>
  <Override PartName="/ppt/fonts/font235.fntdata" ContentType="application/x-fontdata"/>
  <Override PartName="/ppt/fonts/font236.fntdata" ContentType="application/x-fontdata"/>
  <Override PartName="/ppt/fonts/font237.fntdata" ContentType="application/x-fontdata"/>
  <Override PartName="/ppt/fonts/font238.fntdata" ContentType="application/x-fontdata"/>
  <Override PartName="/ppt/fonts/font239.fntdata" ContentType="application/x-fontdata"/>
  <Override PartName="/ppt/fonts/font24.fntdata" ContentType="application/x-fontdata"/>
  <Override PartName="/ppt/fonts/font240.fntdata" ContentType="application/x-fontdata"/>
  <Override PartName="/ppt/fonts/font241.fntdata" ContentType="application/x-fontdata"/>
  <Override PartName="/ppt/fonts/font242.fntdata" ContentType="application/x-fontdata"/>
  <Override PartName="/ppt/fonts/font243.fntdata" ContentType="application/x-fontdata"/>
  <Override PartName="/ppt/fonts/font244.fntdata" ContentType="application/x-fontdata"/>
  <Override PartName="/ppt/fonts/font245.fntdata" ContentType="application/x-fontdata"/>
  <Override PartName="/ppt/fonts/font246.fntdata" ContentType="application/x-fontdata"/>
  <Override PartName="/ppt/fonts/font247.fntdata" ContentType="application/x-fontdata"/>
  <Override PartName="/ppt/fonts/font248.fntdata" ContentType="application/x-fontdata"/>
  <Override PartName="/ppt/fonts/font249.fntdata" ContentType="application/x-fontdata"/>
  <Override PartName="/ppt/fonts/font25.fntdata" ContentType="application/x-fontdata"/>
  <Override PartName="/ppt/fonts/font250.fntdata" ContentType="application/x-fontdata"/>
  <Override PartName="/ppt/fonts/font251.fntdata" ContentType="application/x-fontdata"/>
  <Override PartName="/ppt/fonts/font252.fntdata" ContentType="application/x-fontdata"/>
  <Override PartName="/ppt/fonts/font253.fntdata" ContentType="application/x-fontdata"/>
  <Override PartName="/ppt/fonts/font254.fntdata" ContentType="application/x-fontdata"/>
  <Override PartName="/ppt/fonts/font255.fntdata" ContentType="application/x-fontdata"/>
  <Override PartName="/ppt/fonts/font256.fntdata" ContentType="application/x-fontdata"/>
  <Override PartName="/ppt/fonts/font257.fntdata" ContentType="application/x-fontdata"/>
  <Override PartName="/ppt/fonts/font258.fntdata" ContentType="application/x-fontdata"/>
  <Override PartName="/ppt/fonts/font259.fntdata" ContentType="application/x-fontdata"/>
  <Override PartName="/ppt/fonts/font26.fntdata" ContentType="application/x-fontdata"/>
  <Override PartName="/ppt/fonts/font260.fntdata" ContentType="application/x-fontdata"/>
  <Override PartName="/ppt/fonts/font261.fntdata" ContentType="application/x-fontdata"/>
  <Override PartName="/ppt/fonts/font262.fntdata" ContentType="application/x-fontdata"/>
  <Override PartName="/ppt/fonts/font263.fntdata" ContentType="application/x-fontdata"/>
  <Override PartName="/ppt/fonts/font264.fntdata" ContentType="application/x-fontdata"/>
  <Override PartName="/ppt/fonts/font265.fntdata" ContentType="application/x-fontdata"/>
  <Override PartName="/ppt/fonts/font266.fntdata" ContentType="application/x-fontdata"/>
  <Override PartName="/ppt/fonts/font267.fntdata" ContentType="application/x-fontdata"/>
  <Override PartName="/ppt/fonts/font268.fntdata" ContentType="application/x-fontdata"/>
  <Override PartName="/ppt/fonts/font269.fntdata" ContentType="application/x-fontdata"/>
  <Override PartName="/ppt/fonts/font27.fntdata" ContentType="application/x-fontdata"/>
  <Override PartName="/ppt/fonts/font270.fntdata" ContentType="application/x-fontdata"/>
  <Override PartName="/ppt/fonts/font271.fntdata" ContentType="application/x-fontdata"/>
  <Override PartName="/ppt/fonts/font272.fntdata" ContentType="application/x-fontdata"/>
  <Override PartName="/ppt/fonts/font273.fntdata" ContentType="application/x-fontdata"/>
  <Override PartName="/ppt/fonts/font274.fntdata" ContentType="application/x-fontdata"/>
  <Override PartName="/ppt/fonts/font275.fntdata" ContentType="application/x-fontdata"/>
  <Override PartName="/ppt/fonts/font276.fntdata" ContentType="application/x-fontdata"/>
  <Override PartName="/ppt/fonts/font277.fntdata" ContentType="application/x-fontdata"/>
  <Override PartName="/ppt/fonts/font278.fntdata" ContentType="application/x-fontdata"/>
  <Override PartName="/ppt/fonts/font279.fntdata" ContentType="application/x-fontdata"/>
  <Override PartName="/ppt/fonts/font28.fntdata" ContentType="application/x-fontdata"/>
  <Override PartName="/ppt/fonts/font280.fntdata" ContentType="application/x-fontdata"/>
  <Override PartName="/ppt/fonts/font281.fntdata" ContentType="application/x-fontdata"/>
  <Override PartName="/ppt/fonts/font282.fntdata" ContentType="application/x-fontdata"/>
  <Override PartName="/ppt/fonts/font283.fntdata" ContentType="application/x-fontdata"/>
  <Override PartName="/ppt/fonts/font284.fntdata" ContentType="application/x-fontdata"/>
  <Override PartName="/ppt/fonts/font285.fntdata" ContentType="application/x-fontdata"/>
  <Override PartName="/ppt/fonts/font286.fntdata" ContentType="application/x-fontdata"/>
  <Override PartName="/ppt/fonts/font287.fntdata" ContentType="application/x-fontdata"/>
  <Override PartName="/ppt/fonts/font288.fntdata" ContentType="application/x-fontdata"/>
  <Override PartName="/ppt/fonts/font289.fntdata" ContentType="application/x-fontdata"/>
  <Override PartName="/ppt/fonts/font29.fntdata" ContentType="application/x-fontdata"/>
  <Override PartName="/ppt/fonts/font290.fntdata" ContentType="application/x-fontdata"/>
  <Override PartName="/ppt/fonts/font291.fntdata" ContentType="application/x-fontdata"/>
  <Override PartName="/ppt/fonts/font292.fntdata" ContentType="application/x-fontdata"/>
  <Override PartName="/ppt/fonts/font293.fntdata" ContentType="application/x-fontdata"/>
  <Override PartName="/ppt/fonts/font294.fntdata" ContentType="application/x-fontdata"/>
  <Override PartName="/ppt/fonts/font295.fntdata" ContentType="application/x-fontdata"/>
  <Override PartName="/ppt/fonts/font296.fntdata" ContentType="application/x-fontdata"/>
  <Override PartName="/ppt/fonts/font297.fntdata" ContentType="application/x-fontdata"/>
  <Override PartName="/ppt/fonts/font298.fntdata" ContentType="application/x-fontdata"/>
  <Override PartName="/ppt/fonts/font299.fntdata" ContentType="application/x-fontdata"/>
  <Override PartName="/ppt/fonts/font3.fntdata" ContentType="application/x-fontdata"/>
  <Override PartName="/ppt/fonts/font30.fntdata" ContentType="application/x-fontdata"/>
  <Override PartName="/ppt/fonts/font300.fntdata" ContentType="application/x-fontdata"/>
  <Override PartName="/ppt/fonts/font301.fntdata" ContentType="application/x-fontdata"/>
  <Override PartName="/ppt/fonts/font302.fntdata" ContentType="application/x-fontdata"/>
  <Override PartName="/ppt/fonts/font303.fntdata" ContentType="application/x-fontdata"/>
  <Override PartName="/ppt/fonts/font304.fntdata" ContentType="application/x-fontdata"/>
  <Override PartName="/ppt/fonts/font305.fntdata" ContentType="application/x-fontdata"/>
  <Override PartName="/ppt/fonts/font306.fntdata" ContentType="application/x-fontdata"/>
  <Override PartName="/ppt/fonts/font307.fntdata" ContentType="application/x-fontdata"/>
  <Override PartName="/ppt/fonts/font308.fntdata" ContentType="application/x-fontdata"/>
  <Override PartName="/ppt/fonts/font309.fntdata" ContentType="application/x-fontdata"/>
  <Override PartName="/ppt/fonts/font31.fntdata" ContentType="application/x-fontdata"/>
  <Override PartName="/ppt/fonts/font310.fntdata" ContentType="application/x-fontdata"/>
  <Override PartName="/ppt/fonts/font311.fntdata" ContentType="application/x-fontdata"/>
  <Override PartName="/ppt/fonts/font312.fntdata" ContentType="application/x-fontdata"/>
  <Override PartName="/ppt/fonts/font313.fntdata" ContentType="application/x-fontdata"/>
  <Override PartName="/ppt/fonts/font314.fntdata" ContentType="application/x-fontdata"/>
  <Override PartName="/ppt/fonts/font315.fntdata" ContentType="application/x-fontdata"/>
  <Override PartName="/ppt/fonts/font32.fntdata" ContentType="application/x-fontdata"/>
  <Override PartName="/ppt/fonts/font33.fntdata" ContentType="application/x-fontdata"/>
  <Override PartName="/ppt/fonts/font34.fntdata" ContentType="application/x-fontdata"/>
  <Override PartName="/ppt/fonts/font35.fntdata" ContentType="application/x-fontdata"/>
  <Override PartName="/ppt/fonts/font36.fntdata" ContentType="application/x-fontdata"/>
  <Override PartName="/ppt/fonts/font37.fntdata" ContentType="application/x-fontdata"/>
  <Override PartName="/ppt/fonts/font38.fntdata" ContentType="application/x-fontdata"/>
  <Override PartName="/ppt/fonts/font39.fntdata" ContentType="application/x-fontdata"/>
  <Override PartName="/ppt/fonts/font4.fntdata" ContentType="application/x-fontdata"/>
  <Override PartName="/ppt/fonts/font40.fntdata" ContentType="application/x-fontdata"/>
  <Override PartName="/ppt/fonts/font41.fntdata" ContentType="application/x-fontdata"/>
  <Override PartName="/ppt/fonts/font42.fntdata" ContentType="application/x-fontdata"/>
  <Override PartName="/ppt/fonts/font43.fntdata" ContentType="application/x-fontdata"/>
  <Override PartName="/ppt/fonts/font44.fntdata" ContentType="application/x-fontdata"/>
  <Override PartName="/ppt/fonts/font45.fntdata" ContentType="application/x-fontdata"/>
  <Override PartName="/ppt/fonts/font46.fntdata" ContentType="application/x-fontdata"/>
  <Override PartName="/ppt/fonts/font47.fntdata" ContentType="application/x-fontdata"/>
  <Override PartName="/ppt/fonts/font48.fntdata" ContentType="application/x-fontdata"/>
  <Override PartName="/ppt/fonts/font49.fntdata" ContentType="application/x-fontdata"/>
  <Override PartName="/ppt/fonts/font5.fntdata" ContentType="application/x-fontdata"/>
  <Override PartName="/ppt/fonts/font50.fntdata" ContentType="application/x-fontdata"/>
  <Override PartName="/ppt/fonts/font51.fntdata" ContentType="application/x-fontdata"/>
  <Override PartName="/ppt/fonts/font52.fntdata" ContentType="application/x-fontdata"/>
  <Override PartName="/ppt/fonts/font53.fntdata" ContentType="application/x-fontdata"/>
  <Override PartName="/ppt/fonts/font54.fntdata" ContentType="application/x-fontdata"/>
  <Override PartName="/ppt/fonts/font55.fntdata" ContentType="application/x-fontdata"/>
  <Override PartName="/ppt/fonts/font56.fntdata" ContentType="application/x-fontdata"/>
  <Override PartName="/ppt/fonts/font57.fntdata" ContentType="application/x-fontdata"/>
  <Override PartName="/ppt/fonts/font58.fntdata" ContentType="application/x-fontdata"/>
  <Override PartName="/ppt/fonts/font59.fntdata" ContentType="application/x-fontdata"/>
  <Override PartName="/ppt/fonts/font6.fntdata" ContentType="application/x-fontdata"/>
  <Override PartName="/ppt/fonts/font60.fntdata" ContentType="application/x-fontdata"/>
  <Override PartName="/ppt/fonts/font61.fntdata" ContentType="application/x-fontdata"/>
  <Override PartName="/ppt/fonts/font62.fntdata" ContentType="application/x-fontdata"/>
  <Override PartName="/ppt/fonts/font63.fntdata" ContentType="application/x-fontdata"/>
  <Override PartName="/ppt/fonts/font64.fntdata" ContentType="application/x-fontdata"/>
  <Override PartName="/ppt/fonts/font65.fntdata" ContentType="application/x-fontdata"/>
  <Override PartName="/ppt/fonts/font66.fntdata" ContentType="application/x-fontdata"/>
  <Override PartName="/ppt/fonts/font67.fntdata" ContentType="application/x-fontdata"/>
  <Override PartName="/ppt/fonts/font68.fntdata" ContentType="application/x-fontdata"/>
  <Override PartName="/ppt/fonts/font69.fntdata" ContentType="application/x-fontdata"/>
  <Override PartName="/ppt/fonts/font7.fntdata" ContentType="application/x-fontdata"/>
  <Override PartName="/ppt/fonts/font70.fntdata" ContentType="application/x-fontdata"/>
  <Override PartName="/ppt/fonts/font71.fntdata" ContentType="application/x-fontdata"/>
  <Override PartName="/ppt/fonts/font72.fntdata" ContentType="application/x-fontdata"/>
  <Override PartName="/ppt/fonts/font73.fntdata" ContentType="application/x-fontdata"/>
  <Override PartName="/ppt/fonts/font74.fntdata" ContentType="application/x-fontdata"/>
  <Override PartName="/ppt/fonts/font75.fntdata" ContentType="application/x-fontdata"/>
  <Override PartName="/ppt/fonts/font76.fntdata" ContentType="application/x-fontdata"/>
  <Override PartName="/ppt/fonts/font77.fntdata" ContentType="application/x-fontdata"/>
  <Override PartName="/ppt/fonts/font78.fntdata" ContentType="application/x-fontdata"/>
  <Override PartName="/ppt/fonts/font79.fntdata" ContentType="application/x-fontdata"/>
  <Override PartName="/ppt/fonts/font8.fntdata" ContentType="application/x-fontdata"/>
  <Override PartName="/ppt/fonts/font80.fntdata" ContentType="application/x-fontdata"/>
  <Override PartName="/ppt/fonts/font81.fntdata" ContentType="application/x-fontdata"/>
  <Override PartName="/ppt/fonts/font82.fntdata" ContentType="application/x-fontdata"/>
  <Override PartName="/ppt/fonts/font83.fntdata" ContentType="application/x-fontdata"/>
  <Override PartName="/ppt/fonts/font84.fntdata" ContentType="application/x-fontdata"/>
  <Override PartName="/ppt/fonts/font85.fntdata" ContentType="application/x-fontdata"/>
  <Override PartName="/ppt/fonts/font86.fntdata" ContentType="application/x-fontdata"/>
  <Override PartName="/ppt/fonts/font87.fntdata" ContentType="application/x-fontdata"/>
  <Override PartName="/ppt/fonts/font88.fntdata" ContentType="application/x-fontdata"/>
  <Override PartName="/ppt/fonts/font89.fntdata" ContentType="application/x-fontdata"/>
  <Override PartName="/ppt/fonts/font9.fntdata" ContentType="application/x-fontdata"/>
  <Override PartName="/ppt/fonts/font90.fntdata" ContentType="application/x-fontdata"/>
  <Override PartName="/ppt/fonts/font91.fntdata" ContentType="application/x-fontdata"/>
  <Override PartName="/ppt/fonts/font92.fntdata" ContentType="application/x-fontdata"/>
  <Override PartName="/ppt/fonts/font93.fntdata" ContentType="application/x-fontdata"/>
  <Override PartName="/ppt/fonts/font94.fntdata" ContentType="application/x-fontdata"/>
  <Override PartName="/ppt/fonts/font95.fntdata" ContentType="application/x-fontdata"/>
  <Override PartName="/ppt/fonts/font96.fntdata" ContentType="application/x-fontdata"/>
  <Override PartName="/ppt/fonts/font97.fntdata" ContentType="application/x-fontdata"/>
  <Override PartName="/ppt/fonts/font98.fntdata" ContentType="application/x-fontdata"/>
  <Override PartName="/ppt/fonts/font9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47.xml" ContentType="application/vnd.openxmlformats-officedocument.theme+xml"/>
  <Override PartName="/ppt/theme/theme48.xml" ContentType="application/vnd.openxmlformats-officedocument.theme+xml"/>
  <Override PartName="/ppt/theme/theme49.xml" ContentType="application/vnd.openxmlformats-officedocument.theme+xml"/>
  <Override PartName="/ppt/theme/theme5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54.xml" ContentType="application/vnd.openxmlformats-officedocument.theme+xml"/>
  <Override PartName="/ppt/theme/theme55.xml" ContentType="application/vnd.openxmlformats-officedocument.theme+xml"/>
  <Override PartName="/ppt/theme/theme56.xml" ContentType="application/vnd.openxmlformats-officedocument.theme+xml"/>
  <Override PartName="/ppt/theme/theme57.xml" ContentType="application/vnd.openxmlformats-officedocument.theme+xml"/>
  <Override PartName="/ppt/theme/theme58.xml" ContentType="application/vnd.openxmlformats-officedocument.theme+xml"/>
  <Override PartName="/ppt/theme/theme59.xml" ContentType="application/vnd.openxmlformats-officedocument.theme+xml"/>
  <Override PartName="/ppt/theme/theme6.xml" ContentType="application/vnd.openxmlformats-officedocument.theme+xml"/>
  <Override PartName="/ppt/theme/theme60.xml" ContentType="application/vnd.openxmlformats-officedocument.theme+xml"/>
  <Override PartName="/ppt/theme/theme61.xml" ContentType="application/vnd.openxmlformats-officedocument.theme+xml"/>
  <Override PartName="/ppt/theme/theme62.xml" ContentType="application/vnd.openxmlformats-officedocument.theme+xml"/>
  <Override PartName="/ppt/theme/theme63.xml" ContentType="application/vnd.openxmlformats-officedocument.theme+xml"/>
  <Override PartName="/ppt/theme/theme64.xml" ContentType="application/vnd.openxmlformats-officedocument.theme+xml"/>
  <Override PartName="/ppt/theme/theme65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1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  <p:sldMasterId id="2147483671" r:id="rId13"/>
    <p:sldMasterId id="2147483673" r:id="rId14"/>
    <p:sldMasterId id="2147483675" r:id="rId15"/>
    <p:sldMasterId id="2147483677" r:id="rId16"/>
    <p:sldMasterId id="2147483679" r:id="rId17"/>
    <p:sldMasterId id="2147483681" r:id="rId18"/>
    <p:sldMasterId id="2147483683" r:id="rId19"/>
    <p:sldMasterId id="2147483685" r:id="rId20"/>
    <p:sldMasterId id="2147483687" r:id="rId21"/>
    <p:sldMasterId id="2147483689" r:id="rId22"/>
    <p:sldMasterId id="2147483691" r:id="rId23"/>
    <p:sldMasterId id="2147483693" r:id="rId24"/>
    <p:sldMasterId id="2147483695" r:id="rId25"/>
    <p:sldMasterId id="2147483697" r:id="rId26"/>
    <p:sldMasterId id="2147483699" r:id="rId27"/>
    <p:sldMasterId id="2147483701" r:id="rId28"/>
    <p:sldMasterId id="2147483703" r:id="rId29"/>
    <p:sldMasterId id="2147483705" r:id="rId30"/>
    <p:sldMasterId id="2147483707" r:id="rId31"/>
    <p:sldMasterId id="2147483709" r:id="rId32"/>
    <p:sldMasterId id="2147483711" r:id="rId33"/>
    <p:sldMasterId id="2147483713" r:id="rId34"/>
    <p:sldMasterId id="2147483715" r:id="rId35"/>
    <p:sldMasterId id="2147483717" r:id="rId36"/>
    <p:sldMasterId id="2147483719" r:id="rId37"/>
    <p:sldMasterId id="2147483721" r:id="rId38"/>
    <p:sldMasterId id="2147483723" r:id="rId39"/>
    <p:sldMasterId id="2147483725" r:id="rId40"/>
    <p:sldMasterId id="2147483727" r:id="rId41"/>
    <p:sldMasterId id="2147483729" r:id="rId42"/>
    <p:sldMasterId id="2147483731" r:id="rId43"/>
    <p:sldMasterId id="2147483733" r:id="rId44"/>
    <p:sldMasterId id="2147483735" r:id="rId45"/>
    <p:sldMasterId id="2147483737" r:id="rId46"/>
    <p:sldMasterId id="2147483739" r:id="rId47"/>
    <p:sldMasterId id="2147483741" r:id="rId48"/>
    <p:sldMasterId id="2147483743" r:id="rId49"/>
    <p:sldMasterId id="2147483745" r:id="rId50"/>
    <p:sldMasterId id="2147483747" r:id="rId51"/>
    <p:sldMasterId id="2147483749" r:id="rId52"/>
    <p:sldMasterId id="2147483751" r:id="rId53"/>
    <p:sldMasterId id="2147483753" r:id="rId54"/>
    <p:sldMasterId id="2147483755" r:id="rId55"/>
    <p:sldMasterId id="2147483757" r:id="rId56"/>
    <p:sldMasterId id="2147483759" r:id="rId57"/>
    <p:sldMasterId id="2147483761" r:id="rId58"/>
    <p:sldMasterId id="2147483763" r:id="rId59"/>
    <p:sldMasterId id="2147483765" r:id="rId60"/>
    <p:sldMasterId id="2147483767" r:id="rId61"/>
    <p:sldMasterId id="2147483769" r:id="rId62"/>
    <p:sldMasterId id="2147483771" r:id="rId63"/>
    <p:sldMasterId id="2147483773" r:id="rId64"/>
    <p:sldMasterId id="2147483775" r:id="rId65"/>
  </p:sldMasterIdLst>
  <p:notesMasterIdLst>
    <p:notesMasterId r:id="rId67"/>
  </p:notesMasterIdLst>
  <p:sldIdLst>
    <p:sldId id="672" r:id="rId66"/>
    <p:sldId id="260" r:id="rId68"/>
    <p:sldId id="488" r:id="rId69"/>
    <p:sldId id="491" r:id="rId70"/>
    <p:sldId id="494" r:id="rId71"/>
    <p:sldId id="497" r:id="rId72"/>
    <p:sldId id="500" r:id="rId73"/>
    <p:sldId id="503" r:id="rId74"/>
    <p:sldId id="506" r:id="rId75"/>
    <p:sldId id="509" r:id="rId76"/>
    <p:sldId id="512" r:id="rId77"/>
    <p:sldId id="515" r:id="rId78"/>
    <p:sldId id="518" r:id="rId79"/>
    <p:sldId id="521" r:id="rId80"/>
    <p:sldId id="524" r:id="rId81"/>
    <p:sldId id="527" r:id="rId82"/>
    <p:sldId id="530" r:id="rId83"/>
    <p:sldId id="533" r:id="rId84"/>
    <p:sldId id="536" r:id="rId85"/>
    <p:sldId id="539" r:id="rId86"/>
    <p:sldId id="542" r:id="rId87"/>
    <p:sldId id="545" r:id="rId88"/>
    <p:sldId id="548" r:id="rId89"/>
    <p:sldId id="551" r:id="rId90"/>
    <p:sldId id="554" r:id="rId91"/>
    <p:sldId id="557" r:id="rId92"/>
    <p:sldId id="560" r:id="rId93"/>
    <p:sldId id="563" r:id="rId94"/>
    <p:sldId id="566" r:id="rId95"/>
    <p:sldId id="569" r:id="rId96"/>
    <p:sldId id="572" r:id="rId97"/>
    <p:sldId id="575" r:id="rId98"/>
    <p:sldId id="578" r:id="rId99"/>
    <p:sldId id="581" r:id="rId100"/>
    <p:sldId id="584" r:id="rId101"/>
    <p:sldId id="587" r:id="rId102"/>
    <p:sldId id="590" r:id="rId103"/>
    <p:sldId id="593" r:id="rId104"/>
    <p:sldId id="596" r:id="rId105"/>
    <p:sldId id="599" r:id="rId106"/>
    <p:sldId id="602" r:id="rId107"/>
    <p:sldId id="605" r:id="rId108"/>
    <p:sldId id="608" r:id="rId109"/>
    <p:sldId id="611" r:id="rId110"/>
    <p:sldId id="614" r:id="rId111"/>
    <p:sldId id="617" r:id="rId112"/>
    <p:sldId id="620" r:id="rId113"/>
    <p:sldId id="623" r:id="rId114"/>
    <p:sldId id="626" r:id="rId115"/>
    <p:sldId id="629" r:id="rId116"/>
    <p:sldId id="632" r:id="rId117"/>
    <p:sldId id="635" r:id="rId118"/>
    <p:sldId id="638" r:id="rId119"/>
    <p:sldId id="641" r:id="rId120"/>
    <p:sldId id="644" r:id="rId121"/>
    <p:sldId id="647" r:id="rId122"/>
    <p:sldId id="650" r:id="rId123"/>
    <p:sldId id="653" r:id="rId124"/>
    <p:sldId id="656" r:id="rId125"/>
    <p:sldId id="659" r:id="rId126"/>
    <p:sldId id="662" r:id="rId127"/>
    <p:sldId id="665" r:id="rId128"/>
    <p:sldId id="668" r:id="rId129"/>
    <p:sldId id="671" r:id="rId130"/>
  </p:sldIdLst>
  <p:sldSz cx="10693400" cy="7556500"/>
  <p:notesSz cx="10693400" cy="7556500"/>
  <p:embeddedFontLst>
    <p:embeddedFont>
      <p:font typeface="NOQEBU+CMBX12" panose="02000500000000000000"/>
      <p:regular r:id="rId134"/>
    </p:embeddedFont>
    <p:embeddedFont>
      <p:font typeface="LVTAPM+CMR10" panose="02000500000000000000"/>
      <p:regular r:id="rId135"/>
    </p:embeddedFont>
    <p:embeddedFont>
      <p:font typeface="WINBNS+CMR7" panose="02000500000000000000"/>
      <p:regular r:id="rId136"/>
    </p:embeddedFont>
    <p:embeddedFont>
      <p:font typeface="ERIJIN+CMBX12~c" panose="02000500000000000000"/>
      <p:regular r:id="rId137"/>
    </p:embeddedFont>
    <p:embeddedFont>
      <p:font typeface="QLSNVJ+CMR10" panose="02000500000000000000"/>
      <p:regular r:id="rId138"/>
    </p:embeddedFont>
    <p:embeddedFont>
      <p:font typeface="SHNOJV+CMBX10" panose="02000500000000000000"/>
      <p:regular r:id="rId139"/>
    </p:embeddedFont>
    <p:embeddedFont>
      <p:font typeface="MUHAGO+CMTI10" panose="02000500000000000000"/>
      <p:regular r:id="rId140"/>
    </p:embeddedFont>
    <p:embeddedFont>
      <p:font typeface="VRJTCN+CMSY10~25" panose="02000500000000000000"/>
      <p:regular r:id="rId141"/>
    </p:embeddedFont>
    <p:embeddedFont>
      <p:font typeface="AAFOTM+CMR7" panose="02000500000000000000"/>
      <p:regular r:id="rId142"/>
    </p:embeddedFont>
    <p:embeddedFont>
      <p:font typeface="QIPLVP+CMBX12~c" panose="02000500000000000000"/>
      <p:regular r:id="rId143"/>
    </p:embeddedFont>
    <p:embeddedFont>
      <p:font typeface="ONJENT+Helvetica" panose="020B0604020202020204"/>
      <p:regular r:id="rId144"/>
    </p:embeddedFont>
    <p:embeddedFont>
      <p:font typeface="BQWJKA+CMR10" panose="02000500000000000000"/>
      <p:regular r:id="rId145"/>
    </p:embeddedFont>
    <p:embeddedFont>
      <p:font typeface="VDVSHD+CMR7" panose="02000500000000000000"/>
      <p:regular r:id="rId146"/>
    </p:embeddedFont>
    <p:embeddedFont>
      <p:font typeface="VHEKSW+CMBX12~c" panose="02000500000000000000"/>
      <p:regular r:id="rId147"/>
    </p:embeddedFont>
    <p:embeddedFont>
      <p:font typeface="QJRAEQ+Helvetica" panose="020B0604020202020204"/>
      <p:regular r:id="rId148"/>
    </p:embeddedFont>
    <p:embeddedFont>
      <p:font typeface="PPCJGC+CMR10" panose="02000500000000000000"/>
      <p:regular r:id="rId149"/>
    </p:embeddedFont>
    <p:embeddedFont>
      <p:font typeface="APFOLJ+CMR7" panose="02000500000000000000"/>
      <p:regular r:id="rId150"/>
    </p:embeddedFont>
    <p:embeddedFont>
      <p:font typeface="NCUIAN+CMBX12~c" panose="02000500000000000000"/>
      <p:regular r:id="rId151"/>
    </p:embeddedFont>
    <p:embeddedFont>
      <p:font typeface="BHCOIW+CMR10" panose="02000500000000000000"/>
      <p:regular r:id="rId152"/>
    </p:embeddedFont>
    <p:embeddedFont>
      <p:font typeface="CHSFQG+CMSY10~25" panose="02000500000000000000"/>
      <p:regular r:id="rId153"/>
    </p:embeddedFont>
    <p:embeddedFont>
      <p:font typeface="OVNTBK+CMR7" panose="02000500000000000000"/>
      <p:regular r:id="rId154"/>
    </p:embeddedFont>
    <p:embeddedFont>
      <p:font typeface="WWPWRC+Helvetica" panose="020B0604020202020204"/>
      <p:regular r:id="rId155"/>
    </p:embeddedFont>
    <p:embeddedFont>
      <p:font typeface="BGGKQJ+CMR7" panose="02000500000000000000"/>
      <p:regular r:id="rId156"/>
    </p:embeddedFont>
    <p:embeddedFont>
      <p:font typeface="EMKIDH+CMBX12~c" panose="02000500000000000000"/>
      <p:regular r:id="rId157"/>
    </p:embeddedFont>
    <p:embeddedFont>
      <p:font typeface="VOCHSJ+Helvetica" panose="020B0604020202020204"/>
      <p:regular r:id="rId158"/>
    </p:embeddedFont>
    <p:embeddedFont>
      <p:font typeface="WVPCQJ+CMBX10" panose="02000500000000000000"/>
      <p:regular r:id="rId159"/>
    </p:embeddedFont>
    <p:embeddedFont>
      <p:font typeface="JQSGAJ+CMSY10~25" panose="02000500000000000000"/>
      <p:regular r:id="rId160"/>
    </p:embeddedFont>
    <p:embeddedFont>
      <p:font typeface="NBJGCQ+CMR10" panose="02000500000000000000"/>
      <p:regular r:id="rId161"/>
    </p:embeddedFont>
    <p:embeddedFont>
      <p:font typeface="GQJBWL+CMTI10" panose="02000500000000000000"/>
      <p:regular r:id="rId162"/>
    </p:embeddedFont>
    <p:embeddedFont>
      <p:font typeface="LALFNF+CMR7" panose="02000500000000000000"/>
      <p:regular r:id="rId163"/>
    </p:embeddedFont>
    <p:embeddedFont>
      <p:font typeface="FBSNVT+CMBX12~c" panose="02000500000000000000"/>
      <p:regular r:id="rId164"/>
    </p:embeddedFont>
    <p:embeddedFont>
      <p:font typeface="SIDEFU+Helvetica" panose="020B0604020202020204"/>
      <p:regular r:id="rId165"/>
    </p:embeddedFont>
    <p:embeddedFont>
      <p:font typeface="KELGVS+CMSY10~25" panose="02000500000000000000"/>
      <p:regular r:id="rId166"/>
    </p:embeddedFont>
    <p:embeddedFont>
      <p:font typeface="FCMPHI+CMR10" panose="02000500000000000000"/>
      <p:regular r:id="rId167"/>
    </p:embeddedFont>
    <p:embeddedFont>
      <p:font typeface="FCQNCK+CMR7" panose="02000500000000000000"/>
      <p:regular r:id="rId168"/>
    </p:embeddedFont>
    <p:embeddedFont>
      <p:font typeface="OQUWRH+CMBX12~c" panose="02000500000000000000"/>
      <p:regular r:id="rId169"/>
    </p:embeddedFont>
    <p:embeddedFont>
      <p:font typeface="TSSCOD+CMSY10~25" panose="02000500000000000000"/>
      <p:regular r:id="rId170"/>
    </p:embeddedFont>
    <p:embeddedFont>
      <p:font typeface="DQBVRK+CMR10" panose="02000500000000000000"/>
      <p:regular r:id="rId171"/>
    </p:embeddedFont>
    <p:embeddedFont>
      <p:font typeface="JKNSTQ+CMR7" panose="02000500000000000000"/>
      <p:regular r:id="rId172"/>
    </p:embeddedFont>
    <p:embeddedFont>
      <p:font typeface="Calibri" panose="020F0502020204030204" charset="0"/>
      <p:regular r:id="rId173"/>
      <p:bold r:id="rId174"/>
      <p:italic r:id="rId175"/>
      <p:boldItalic r:id="rId176"/>
    </p:embeddedFont>
    <p:embeddedFont>
      <p:font typeface="OIJVII+CMBX12~c" panose="02000500000000000000"/>
      <p:regular r:id="rId177"/>
    </p:embeddedFont>
    <p:embeddedFont>
      <p:font typeface="CCDWCT+Helvetica" panose="020B0604020202020204"/>
      <p:regular r:id="rId178"/>
    </p:embeddedFont>
    <p:embeddedFont>
      <p:font typeface="UKUWUI+CMSY10~25" panose="02000500000000000000"/>
      <p:regular r:id="rId179"/>
    </p:embeddedFont>
    <p:embeddedFont>
      <p:font typeface="BGKVPH+CMR10" panose="02000500000000000000"/>
      <p:regular r:id="rId180"/>
    </p:embeddedFont>
    <p:embeddedFont>
      <p:font typeface="WOIBLC+CMR7" panose="02000500000000000000"/>
      <p:regular r:id="rId181"/>
    </p:embeddedFont>
    <p:embeddedFont>
      <p:font typeface="TNKOQT+CMBX12~c" panose="02000500000000000000"/>
      <p:regular r:id="rId182"/>
    </p:embeddedFont>
    <p:embeddedFont>
      <p:font typeface="LNRCGC+Helvetica" panose="020B0604020202020204"/>
      <p:regular r:id="rId183"/>
    </p:embeddedFont>
    <p:embeddedFont>
      <p:font typeface="MOBAHD+CMSY10~25" panose="02000500000000000000"/>
      <p:regular r:id="rId184"/>
    </p:embeddedFont>
    <p:embeddedFont>
      <p:font typeface="NTTQRB+CMR10" panose="02000500000000000000"/>
      <p:regular r:id="rId185"/>
    </p:embeddedFont>
    <p:embeddedFont>
      <p:font typeface="EEMOJQ+CMR7" panose="02000500000000000000"/>
      <p:regular r:id="rId186"/>
    </p:embeddedFont>
    <p:embeddedFont>
      <p:font typeface="SLUOKM+CMBX12~c" panose="02000500000000000000"/>
      <p:regular r:id="rId187"/>
    </p:embeddedFont>
    <p:embeddedFont>
      <p:font typeface="OOGDWD+Helvetica" panose="020B0604020202020204"/>
      <p:regular r:id="rId188"/>
    </p:embeddedFont>
    <p:embeddedFont>
      <p:font typeface="QBKISQ+CMR7" panose="02000500000000000000"/>
      <p:regular r:id="rId189"/>
    </p:embeddedFont>
    <p:embeddedFont>
      <p:font typeface="PTAGCD+CMBX12~c" panose="02000500000000000000"/>
      <p:regular r:id="rId190"/>
    </p:embeddedFont>
    <p:embeddedFont>
      <p:font typeface="CVSGDS+CMSY10~25" panose="02000500000000000000"/>
      <p:regular r:id="rId191"/>
    </p:embeddedFont>
    <p:embeddedFont>
      <p:font typeface="QPBFNJ+CMR10" panose="02000500000000000000"/>
      <p:regular r:id="rId192"/>
    </p:embeddedFont>
    <p:embeddedFont>
      <p:font typeface="UUNTSR+CMTI10" panose="02000500000000000000"/>
      <p:regular r:id="rId193"/>
    </p:embeddedFont>
    <p:embeddedFont>
      <p:font typeface="TKKRWP+CMR7" panose="02000500000000000000"/>
      <p:regular r:id="rId194"/>
    </p:embeddedFont>
    <p:embeddedFont>
      <p:font typeface="MGRLFQ+CMBX12~c" panose="02000500000000000000"/>
      <p:regular r:id="rId195"/>
    </p:embeddedFont>
    <p:embeddedFont>
      <p:font typeface="PHTQGR+Helvetica" panose="020B0604020202020204"/>
      <p:regular r:id="rId196"/>
    </p:embeddedFont>
    <p:embeddedFont>
      <p:font typeface="NLMCPV+CMR7" panose="02000500000000000000"/>
      <p:regular r:id="rId197"/>
    </p:embeddedFont>
    <p:embeddedFont>
      <p:font typeface="TNJFDH+CMBX12~c" panose="02000500000000000000"/>
      <p:regular r:id="rId198"/>
    </p:embeddedFont>
    <p:embeddedFont>
      <p:font typeface="CMQMPI+Helvetica" panose="020B0604020202020204"/>
      <p:regular r:id="rId199"/>
    </p:embeddedFont>
    <p:embeddedFont>
      <p:font typeface="EQCFKQ+CMR7" panose="02000500000000000000"/>
      <p:regular r:id="rId200"/>
    </p:embeddedFont>
    <p:embeddedFont>
      <p:font typeface="KTISKG+CMBX12~c" panose="02000500000000000000"/>
      <p:regular r:id="rId201"/>
    </p:embeddedFont>
    <p:embeddedFont>
      <p:font typeface="FMDFDW+Helvetica" panose="020B0604020202020204"/>
      <p:regular r:id="rId202"/>
    </p:embeddedFont>
    <p:embeddedFont>
      <p:font typeface="VMWIHL+CMR10" panose="02000500000000000000"/>
      <p:regular r:id="rId203"/>
    </p:embeddedFont>
    <p:embeddedFont>
      <p:font typeface="PMLMSH+CMMI10" panose="02000500000000000000"/>
      <p:regular r:id="rId204"/>
    </p:embeddedFont>
    <p:embeddedFont>
      <p:font typeface="CBDWGG+CMBX10" panose="02000500000000000000"/>
      <p:regular r:id="rId205"/>
    </p:embeddedFont>
    <p:embeddedFont>
      <p:font typeface="GGIJKT+CMR7" panose="02000500000000000000"/>
      <p:regular r:id="rId206"/>
    </p:embeddedFont>
    <p:embeddedFont>
      <p:font typeface="PRJAGB+CMBX12~c" panose="02000500000000000000"/>
      <p:regular r:id="rId207"/>
    </p:embeddedFont>
    <p:embeddedFont>
      <p:font typeface="FKCHUO+Helvetica" panose="020B0604020202020204"/>
      <p:regular r:id="rId208"/>
    </p:embeddedFont>
    <p:embeddedFont>
      <p:font typeface="SKQJQH+CMSY10~25" panose="02000500000000000000"/>
      <p:regular r:id="rId209"/>
    </p:embeddedFont>
    <p:embeddedFont>
      <p:font typeface="SGUPRK+CMR10" panose="02000500000000000000"/>
      <p:regular r:id="rId210"/>
    </p:embeddedFont>
    <p:embeddedFont>
      <p:font typeface="DMODOR+CMR7" panose="02000500000000000000"/>
      <p:regular r:id="rId211"/>
    </p:embeddedFont>
    <p:embeddedFont>
      <p:font typeface="WVNJEB+CMBX12~c" panose="02000500000000000000"/>
      <p:regular r:id="rId212"/>
    </p:embeddedFont>
    <p:embeddedFont>
      <p:font typeface="QGFOPV+Helvetica" panose="020B0604020202020204"/>
      <p:regular r:id="rId213"/>
    </p:embeddedFont>
    <p:embeddedFont>
      <p:font typeface="ODDNFU+CMR10" panose="02000500000000000000"/>
      <p:regular r:id="rId214"/>
    </p:embeddedFont>
    <p:embeddedFont>
      <p:font typeface="ASHMWH+CMSY10~25" panose="02000500000000000000"/>
      <p:regular r:id="rId215"/>
    </p:embeddedFont>
    <p:embeddedFont>
      <p:font typeface="KFIEBV+CMR7" panose="02000500000000000000"/>
      <p:regular r:id="rId216"/>
    </p:embeddedFont>
    <p:embeddedFont>
      <p:font typeface="IPREFU+CMBX12~c" panose="02000500000000000000"/>
      <p:regular r:id="rId217"/>
    </p:embeddedFont>
    <p:embeddedFont>
      <p:font typeface="CCMVTO+Helvetica" panose="020B0604020202020204"/>
      <p:regular r:id="rId218"/>
    </p:embeddedFont>
    <p:embeddedFont>
      <p:font typeface="NQSBQM+CMBX10" panose="02000500000000000000"/>
      <p:regular r:id="rId219"/>
    </p:embeddedFont>
    <p:embeddedFont>
      <p:font typeface="SDACJD+CMR10" panose="02000500000000000000"/>
      <p:regular r:id="rId220"/>
    </p:embeddedFont>
    <p:embeddedFont>
      <p:font typeface="QWDSHM+CMTI10" panose="02000500000000000000"/>
      <p:regular r:id="rId221"/>
    </p:embeddedFont>
    <p:embeddedFont>
      <p:font typeface="UGTLTN+CMR7" panose="02000500000000000000"/>
      <p:regular r:id="rId222"/>
    </p:embeddedFont>
    <p:embeddedFont>
      <p:font typeface="IBEIAN+CMBX12~c" panose="02000500000000000000"/>
      <p:regular r:id="rId223"/>
    </p:embeddedFont>
    <p:embeddedFont>
      <p:font typeface="TQETPL+CMSY10~25" panose="02000500000000000000"/>
      <p:regular r:id="rId224"/>
    </p:embeddedFont>
    <p:embeddedFont>
      <p:font typeface="NEHQTC+CMR10" panose="02000500000000000000"/>
      <p:regular r:id="rId225"/>
    </p:embeddedFont>
    <p:embeddedFont>
      <p:font typeface="VMGTCT+CMR9" panose="02000500000000000000"/>
      <p:regular r:id="rId226"/>
    </p:embeddedFont>
    <p:embeddedFont>
      <p:font typeface="RJUNLA+CMR7" panose="02000500000000000000"/>
      <p:regular r:id="rId227"/>
    </p:embeddedFont>
    <p:embeddedFont>
      <p:font typeface="MVSURG+CMBX12~c" panose="02000500000000000000"/>
      <p:regular r:id="rId228"/>
    </p:embeddedFont>
    <p:embeddedFont>
      <p:font typeface="LGSTJH+Helvetica" panose="020B0604020202020204"/>
      <p:regular r:id="rId229"/>
    </p:embeddedFont>
    <p:embeddedFont>
      <p:font typeface="HSNUUK+CMSY10~25" panose="02000500000000000000"/>
      <p:regular r:id="rId230"/>
    </p:embeddedFont>
    <p:embeddedFont>
      <p:font typeface="QVBPLR+CMR10" panose="02000500000000000000"/>
      <p:regular r:id="rId231"/>
    </p:embeddedFont>
    <p:embeddedFont>
      <p:font typeface="HOGAIK+CMR7" panose="02000500000000000000"/>
      <p:regular r:id="rId232"/>
    </p:embeddedFont>
    <p:embeddedFont>
      <p:font typeface="PGOOHB+Helvetica" panose="020B0604020202020204"/>
      <p:regular r:id="rId233"/>
    </p:embeddedFont>
    <p:embeddedFont>
      <p:font typeface="LRANSR+Helvetica" panose="020B0604020202020204"/>
      <p:regular r:id="rId234"/>
    </p:embeddedFont>
    <p:embeddedFont>
      <p:font typeface="RWOEUJ+CMSY10~25" panose="02000500000000000000"/>
      <p:regular r:id="rId235"/>
    </p:embeddedFont>
    <p:embeddedFont>
      <p:font typeface="MHPJRO+CMR10" panose="02000500000000000000"/>
      <p:regular r:id="rId236"/>
    </p:embeddedFont>
    <p:embeddedFont>
      <p:font typeface="HGGBQL+CMR7" panose="02000500000000000000"/>
      <p:regular r:id="rId237"/>
    </p:embeddedFont>
    <p:embeddedFont>
      <p:font typeface="SSMFHE+Helvetica" panose="020B0604020202020204"/>
      <p:regular r:id="rId238"/>
    </p:embeddedFont>
    <p:embeddedFont>
      <p:font typeface="AMDAHL+CMSY10~25" panose="02000500000000000000"/>
      <p:regular r:id="rId239"/>
    </p:embeddedFont>
    <p:embeddedFont>
      <p:font typeface="VUFQGJ+CMR10" panose="02000500000000000000"/>
      <p:regular r:id="rId240"/>
    </p:embeddedFont>
    <p:embeddedFont>
      <p:font typeface="ROLOVK+CMR7" panose="02000500000000000000"/>
      <p:regular r:id="rId241"/>
    </p:embeddedFont>
    <p:embeddedFont>
      <p:font typeface="NRMFSE+CMBX12~c" panose="02000500000000000000"/>
      <p:regular r:id="rId242"/>
    </p:embeddedFont>
    <p:embeddedFont>
      <p:font typeface="CTGERU+CMSY10~25" panose="02000500000000000000"/>
      <p:regular r:id="rId243"/>
    </p:embeddedFont>
    <p:embeddedFont>
      <p:font typeface="AKDOKW+CMR10" panose="02000500000000000000"/>
      <p:regular r:id="rId244"/>
    </p:embeddedFont>
    <p:embeddedFont>
      <p:font typeface="TFPGUN+CMR7" panose="02000500000000000000"/>
      <p:regular r:id="rId245"/>
    </p:embeddedFont>
    <p:embeddedFont>
      <p:font typeface="IBOVDW+CMBX12~c" panose="02000500000000000000"/>
      <p:regular r:id="rId246"/>
    </p:embeddedFont>
    <p:embeddedFont>
      <p:font typeface="AVAWWV+CMR10" panose="02000500000000000000"/>
      <p:regular r:id="rId247"/>
    </p:embeddedFont>
    <p:embeddedFont>
      <p:font typeface="OUMCAN+CMSY10~25" panose="02000500000000000000"/>
      <p:regular r:id="rId248"/>
    </p:embeddedFont>
    <p:embeddedFont>
      <p:font typeface="MBKEAC+CMTI10" panose="02000500000000000000"/>
      <p:regular r:id="rId249"/>
    </p:embeddedFont>
    <p:embeddedFont>
      <p:font typeface="IPFEEG+CMR7" panose="02000500000000000000"/>
      <p:regular r:id="rId250"/>
    </p:embeddedFont>
    <p:embeddedFont>
      <p:font typeface="FPRDMK+CMBX12~c" panose="02000500000000000000"/>
      <p:regular r:id="rId251"/>
    </p:embeddedFont>
    <p:embeddedFont>
      <p:font typeface="VIKBCP+Helvetica" panose="020B0604020202020204"/>
      <p:regular r:id="rId252"/>
    </p:embeddedFont>
    <p:embeddedFont>
      <p:font typeface="HAVVQS+CMR10" panose="02000500000000000000"/>
      <p:regular r:id="rId253"/>
    </p:embeddedFont>
    <p:embeddedFont>
      <p:font typeface="RFOMPQ+CMR7" panose="02000500000000000000"/>
      <p:regular r:id="rId254"/>
    </p:embeddedFont>
    <p:embeddedFont>
      <p:font typeface="FNGQJS+CMBX12~c" panose="02000500000000000000"/>
      <p:regular r:id="rId255"/>
    </p:embeddedFont>
    <p:embeddedFont>
      <p:font typeface="TEMTAG+Helvetica-Bold" panose="020B0704020202020204"/>
      <p:bold r:id="rId256"/>
    </p:embeddedFont>
    <p:embeddedFont>
      <p:font typeface="MMTQGM+Helvetica" panose="020B0604020202020204"/>
      <p:regular r:id="rId257"/>
    </p:embeddedFont>
    <p:embeddedFont>
      <p:font typeface="ALSHIW+CMSY10~25" panose="02000500000000000000"/>
      <p:regular r:id="rId258"/>
    </p:embeddedFont>
    <p:embeddedFont>
      <p:font typeface="DWCSHN+CMR10" panose="02000500000000000000"/>
      <p:regular r:id="rId259"/>
    </p:embeddedFont>
    <p:embeddedFont>
      <p:font typeface="AWUSPM+CMR7" panose="02000500000000000000"/>
      <p:regular r:id="rId260"/>
    </p:embeddedFont>
    <p:embeddedFont>
      <p:font typeface="SSUHJD+CMBX12~c" panose="02000500000000000000"/>
      <p:regular r:id="rId261"/>
    </p:embeddedFont>
    <p:embeddedFont>
      <p:font typeface="MKBBVL+CMSY10~25" panose="02000500000000000000"/>
      <p:regular r:id="rId262"/>
    </p:embeddedFont>
    <p:embeddedFont>
      <p:font typeface="HVVEJK+CMR10" panose="02000500000000000000"/>
      <p:regular r:id="rId263"/>
    </p:embeddedFont>
    <p:embeddedFont>
      <p:font typeface="MMHUUH+CMBX10" panose="02000500000000000000"/>
      <p:regular r:id="rId264"/>
    </p:embeddedFont>
    <p:embeddedFont>
      <p:font typeface="SLEUUP+CMR7" panose="02000500000000000000"/>
      <p:regular r:id="rId265"/>
    </p:embeddedFont>
    <p:embeddedFont>
      <p:font typeface="TAECEG+CMBX12~c" panose="02000500000000000000"/>
      <p:regular r:id="rId266"/>
    </p:embeddedFont>
    <p:embeddedFont>
      <p:font typeface="CFMQCO+CMSY10~25" panose="02000500000000000000"/>
      <p:regular r:id="rId267"/>
    </p:embeddedFont>
    <p:embeddedFont>
      <p:font typeface="OCEARR+CMR10" panose="02000500000000000000"/>
      <p:regular r:id="rId268"/>
    </p:embeddedFont>
    <p:embeddedFont>
      <p:font typeface="RBTKVM+CMR7" panose="02000500000000000000"/>
      <p:regular r:id="rId269"/>
    </p:embeddedFont>
    <p:embeddedFont>
      <p:font typeface="JOHQJN+CMBX12~c" panose="02000500000000000000"/>
      <p:regular r:id="rId270"/>
    </p:embeddedFont>
    <p:embeddedFont>
      <p:font typeface="WPITEM+Helvetica" panose="020B0604020202020204"/>
      <p:regular r:id="rId271"/>
    </p:embeddedFont>
    <p:embeddedFont>
      <p:font typeface="QJUCCN+CMSY10~25" panose="02000500000000000000"/>
      <p:regular r:id="rId272"/>
    </p:embeddedFont>
    <p:embeddedFont>
      <p:font typeface="KPFWKJ+CMR10" panose="02000500000000000000"/>
      <p:regular r:id="rId273"/>
    </p:embeddedFont>
    <p:embeddedFont>
      <p:font typeface="OTHNPW+CMR7" panose="02000500000000000000"/>
      <p:regular r:id="rId274"/>
    </p:embeddedFont>
    <p:embeddedFont>
      <p:font typeface="AGQNEU+CMBX12~c" panose="02000500000000000000"/>
      <p:regular r:id="rId275"/>
    </p:embeddedFont>
    <p:embeddedFont>
      <p:font typeface="UJUWUM+CMSY10~25" panose="02000500000000000000"/>
      <p:regular r:id="rId276"/>
    </p:embeddedFont>
    <p:embeddedFont>
      <p:font typeface="HPKDVP+CMR10" panose="02000500000000000000"/>
      <p:regular r:id="rId277"/>
    </p:embeddedFont>
    <p:embeddedFont>
      <p:font typeface="FCGHNT+Helvetica" panose="020B0604020202020204"/>
      <p:regular r:id="rId278"/>
    </p:embeddedFont>
    <p:embeddedFont>
      <p:font typeface="ERDQVL+CMR7" panose="02000500000000000000"/>
      <p:regular r:id="rId279"/>
    </p:embeddedFont>
    <p:embeddedFont>
      <p:font typeface="APKUKU+CMBX12~c" panose="02000500000000000000"/>
      <p:regular r:id="rId280"/>
    </p:embeddedFont>
    <p:embeddedFont>
      <p:font typeface="HAINCP+CMSY10~25" panose="02000500000000000000"/>
      <p:regular r:id="rId281"/>
    </p:embeddedFont>
    <p:embeddedFont>
      <p:font typeface="FEEJID+CMR10" panose="02000500000000000000"/>
      <p:regular r:id="rId282"/>
    </p:embeddedFont>
    <p:embeddedFont>
      <p:font typeface="NTTWLI+Helvetica" panose="020B0604020202020204"/>
      <p:regular r:id="rId283"/>
    </p:embeddedFont>
    <p:embeddedFont>
      <p:font typeface="DLQNLP+CMR7" panose="02000500000000000000"/>
      <p:regular r:id="rId284"/>
    </p:embeddedFont>
    <p:embeddedFont>
      <p:font typeface="KQTTSU+CMBX12~c" panose="02000500000000000000"/>
      <p:regular r:id="rId285"/>
    </p:embeddedFont>
    <p:embeddedFont>
      <p:font typeface="AHAUUO+Helvetica" panose="020B0604020202020204"/>
      <p:regular r:id="rId286"/>
    </p:embeddedFont>
    <p:embeddedFont>
      <p:font typeface="IVUWAU+Helvetica" panose="020B0604020202020204"/>
      <p:regular r:id="rId287"/>
    </p:embeddedFont>
    <p:embeddedFont>
      <p:font typeface="MOEVJU+CMR10" panose="02000500000000000000"/>
      <p:regular r:id="rId288"/>
    </p:embeddedFont>
    <p:embeddedFont>
      <p:font typeface="RVOFHP+CMSY10~25" panose="02000500000000000000"/>
      <p:regular r:id="rId289"/>
    </p:embeddedFont>
    <p:embeddedFont>
      <p:font typeface="WCRTWO+CMR7" panose="02000500000000000000"/>
      <p:regular r:id="rId290"/>
    </p:embeddedFont>
    <p:embeddedFont>
      <p:font typeface="RQDIKN+CMBX12~c" panose="02000500000000000000"/>
      <p:regular r:id="rId291"/>
    </p:embeddedFont>
    <p:embeddedFont>
      <p:font typeface="VNMIGE+CMSY10~25" panose="02000500000000000000"/>
      <p:regular r:id="rId292"/>
    </p:embeddedFont>
    <p:embeddedFont>
      <p:font typeface="ABUHEE+CMR10" panose="02000500000000000000"/>
      <p:regular r:id="rId293"/>
    </p:embeddedFont>
    <p:embeddedFont>
      <p:font typeface="QBLOBD+CMBX10" panose="02000500000000000000"/>
      <p:regular r:id="rId294"/>
    </p:embeddedFont>
    <p:embeddedFont>
      <p:font typeface="SUVRAW+CMSS10" panose="02000500000000000000"/>
      <p:regular r:id="rId295"/>
    </p:embeddedFont>
    <p:embeddedFont>
      <p:font typeface="NLFUCR+CMR7" panose="02000500000000000000"/>
      <p:regular r:id="rId296"/>
    </p:embeddedFont>
    <p:embeddedFont>
      <p:font typeface="TEIHRQ+CMBX12~c" panose="02000500000000000000"/>
      <p:regular r:id="rId297"/>
    </p:embeddedFont>
    <p:embeddedFont>
      <p:font typeface="LADPLL+CMR10" panose="02000500000000000000"/>
      <p:regular r:id="rId298"/>
    </p:embeddedFont>
    <p:embeddedFont>
      <p:font typeface="LNQWDL+CMSY10~25" panose="02000500000000000000"/>
      <p:regular r:id="rId299"/>
    </p:embeddedFont>
    <p:embeddedFont>
      <p:font typeface="NSQRSH+CMSS10" panose="02000500000000000000"/>
      <p:regular r:id="rId300"/>
    </p:embeddedFont>
    <p:embeddedFont>
      <p:font typeface="LRDUGO+CMR7" panose="02000500000000000000"/>
      <p:regular r:id="rId301"/>
    </p:embeddedFont>
    <p:embeddedFont>
      <p:font typeface="DHLDJM+CMBX12~c" panose="02000500000000000000"/>
      <p:regular r:id="rId302"/>
    </p:embeddedFont>
    <p:embeddedFont>
      <p:font typeface="TBVPRF+CMR10" panose="02000500000000000000"/>
      <p:regular r:id="rId303"/>
    </p:embeddedFont>
    <p:embeddedFont>
      <p:font typeface="QROANJ+Helvetica" panose="020B0604020202020204"/>
      <p:regular r:id="rId304"/>
    </p:embeddedFont>
    <p:embeddedFont>
      <p:font typeface="SIETBN+Helvetica" panose="020B0604020202020204"/>
      <p:regular r:id="rId305"/>
    </p:embeddedFont>
    <p:embeddedFont>
      <p:font typeface="GJJGJU+CMR7" panose="02000500000000000000"/>
      <p:regular r:id="rId306"/>
    </p:embeddedFont>
    <p:embeddedFont>
      <p:font typeface="BJPBSH+CMR10" panose="02000500000000000000"/>
      <p:regular r:id="rId307"/>
    </p:embeddedFont>
    <p:embeddedFont>
      <p:font typeface="CWMNFS+Helvetica" panose="020B0604020202020204"/>
      <p:regular r:id="rId308"/>
    </p:embeddedFont>
    <p:embeddedFont>
      <p:font typeface="UEVWLP+Helvetica" panose="020B0604020202020204"/>
      <p:regular r:id="rId309"/>
    </p:embeddedFont>
    <p:embeddedFont>
      <p:font typeface="CPVBJQ+CMR7" panose="02000500000000000000"/>
      <p:regular r:id="rId310"/>
    </p:embeddedFont>
    <p:embeddedFont>
      <p:font typeface="NMTUFA+CMBX12~c" panose="02000500000000000000"/>
      <p:regular r:id="rId311"/>
    </p:embeddedFont>
    <p:embeddedFont>
      <p:font typeface="DFLVLW+CMSY10~25" panose="02000500000000000000"/>
      <p:regular r:id="rId312"/>
    </p:embeddedFont>
    <p:embeddedFont>
      <p:font typeface="CNGKLO+CMR10" panose="02000500000000000000"/>
      <p:regular r:id="rId313"/>
    </p:embeddedFont>
    <p:embeddedFont>
      <p:font typeface="EIPBKR+Helvetica" panose="020B0604020202020204"/>
      <p:regular r:id="rId314"/>
    </p:embeddedFont>
    <p:embeddedFont>
      <p:font typeface="NLNRJP+CMR7" panose="02000500000000000000"/>
      <p:regular r:id="rId315"/>
    </p:embeddedFont>
    <p:embeddedFont>
      <p:font typeface="ESDFAQ+CMBX12~c" panose="02000500000000000000"/>
      <p:regular r:id="rId316"/>
    </p:embeddedFont>
    <p:embeddedFont>
      <p:font typeface="GVLLDO+Helvetica" panose="020B0604020202020204"/>
      <p:regular r:id="rId317"/>
    </p:embeddedFont>
    <p:embeddedFont>
      <p:font typeface="SPAURW+CMR10" panose="02000500000000000000"/>
      <p:regular r:id="rId318"/>
    </p:embeddedFont>
    <p:embeddedFont>
      <p:font typeface="HBPKST+CMR7" panose="02000500000000000000"/>
      <p:regular r:id="rId319"/>
    </p:embeddedFont>
    <p:embeddedFont>
      <p:font typeface="ICMPMN+CMBX10" panose="02000500000000000000"/>
      <p:regular r:id="rId320"/>
    </p:embeddedFont>
    <p:embeddedFont>
      <p:font typeface="PHSGNG+CMSY10~25" panose="02000500000000000000"/>
      <p:regular r:id="rId321"/>
    </p:embeddedFont>
    <p:embeddedFont>
      <p:font typeface="QNNCTB+CMR10" panose="02000500000000000000"/>
      <p:regular r:id="rId322"/>
    </p:embeddedFont>
    <p:embeddedFont>
      <p:font typeface="FLHCJS+CMSS10" panose="02000500000000000000"/>
      <p:regular r:id="rId323"/>
    </p:embeddedFont>
    <p:embeddedFont>
      <p:font typeface="OOOQHV+CMR7" panose="02000500000000000000"/>
      <p:regular r:id="rId324"/>
    </p:embeddedFont>
    <p:embeddedFont>
      <p:font typeface="ULQNMU+CMBX12~c" panose="02000500000000000000"/>
      <p:regular r:id="rId325"/>
    </p:embeddedFont>
    <p:embeddedFont>
      <p:font typeface="VGALPO+CMSY10~25" panose="02000500000000000000"/>
      <p:regular r:id="rId326"/>
    </p:embeddedFont>
    <p:embeddedFont>
      <p:font typeface="VBPVNI+CMR10" panose="02000500000000000000"/>
      <p:regular r:id="rId327"/>
    </p:embeddedFont>
    <p:embeddedFont>
      <p:font typeface="QRTBHU+CMSS8" panose="02000500000000000000"/>
      <p:regular r:id="rId328"/>
    </p:embeddedFont>
    <p:embeddedFont>
      <p:font typeface="CNKPDC+CMBX10" panose="02000500000000000000"/>
      <p:regular r:id="rId329"/>
    </p:embeddedFont>
    <p:embeddedFont>
      <p:font typeface="LDIAAA+CMSS10" panose="02000500000000000000"/>
      <p:regular r:id="rId330"/>
    </p:embeddedFont>
    <p:embeddedFont>
      <p:font typeface="QRSMFP+CMR7" panose="02000500000000000000"/>
      <p:regular r:id="rId331"/>
    </p:embeddedFont>
    <p:embeddedFont>
      <p:font typeface="NOWLCV+CMBX12~c" panose="02000500000000000000"/>
      <p:regular r:id="rId332"/>
    </p:embeddedFont>
    <p:embeddedFont>
      <p:font typeface="WKSWBG+CMSY10~25" panose="02000500000000000000"/>
      <p:regular r:id="rId333"/>
    </p:embeddedFont>
    <p:embeddedFont>
      <p:font typeface="GRRAVK+CMR10" panose="02000500000000000000"/>
      <p:regular r:id="rId334"/>
    </p:embeddedFont>
    <p:embeddedFont>
      <p:font typeface="DTTJVE+CMSSBX10" panose="02000500000000000000"/>
      <p:regular r:id="rId335"/>
    </p:embeddedFont>
    <p:embeddedFont>
      <p:font typeface="KIIKGA+CMSS10" panose="02000500000000000000"/>
      <p:regular r:id="rId336"/>
    </p:embeddedFont>
    <p:embeddedFont>
      <p:font typeface="RENSJH+CMR7" panose="02000500000000000000"/>
      <p:regular r:id="rId337"/>
    </p:embeddedFont>
    <p:embeddedFont>
      <p:font typeface="RDGNBP+CMBX12~c" panose="02000500000000000000"/>
      <p:regular r:id="rId338"/>
    </p:embeddedFont>
    <p:embeddedFont>
      <p:font typeface="OIJSPQ+CMSY10~25" panose="02000500000000000000"/>
      <p:regular r:id="rId339"/>
    </p:embeddedFont>
    <p:embeddedFont>
      <p:font typeface="HBWSEH+CMR10" panose="02000500000000000000"/>
      <p:regular r:id="rId340"/>
    </p:embeddedFont>
    <p:embeddedFont>
      <p:font typeface="LQBDCQ+CMR7" panose="02000500000000000000"/>
      <p:regular r:id="rId341"/>
    </p:embeddedFont>
    <p:embeddedFont>
      <p:font typeface="HJEENL+CMBX12~c" panose="02000500000000000000"/>
      <p:regular r:id="rId342"/>
    </p:embeddedFont>
    <p:embeddedFont>
      <p:font typeface="RCOSQN+CMR7" panose="02000500000000000000"/>
      <p:regular r:id="rId343"/>
    </p:embeddedFont>
    <p:embeddedFont>
      <p:font typeface="RFERLD+CMBX12~c" panose="02000500000000000000"/>
      <p:regular r:id="rId344"/>
    </p:embeddedFont>
    <p:embeddedFont>
      <p:font typeface="QKACSJ+Helvetica" panose="020B0604020202020204"/>
      <p:regular r:id="rId345"/>
    </p:embeddedFont>
    <p:embeddedFont>
      <p:font typeface="AGVSRU+CMSY10~25" panose="02000500000000000000"/>
      <p:regular r:id="rId346"/>
    </p:embeddedFont>
    <p:embeddedFont>
      <p:font typeface="NMERQM+CMR10" panose="02000500000000000000"/>
      <p:regular r:id="rId347"/>
    </p:embeddedFont>
    <p:embeddedFont>
      <p:font typeface="SRDHNE+CMSS10" panose="02000500000000000000"/>
      <p:regular r:id="rId348"/>
    </p:embeddedFont>
    <p:embeddedFont>
      <p:font typeface="EFRKLT+CMR7" panose="02000500000000000000"/>
      <p:regular r:id="rId349"/>
    </p:embeddedFont>
    <p:embeddedFont>
      <p:font typeface="WQKCSC+CMBX12~c" panose="02000500000000000000"/>
      <p:regular r:id="rId350"/>
    </p:embeddedFont>
    <p:embeddedFont>
      <p:font typeface="IUNTIG+Helvetica" panose="020B0604020202020204"/>
      <p:regular r:id="rId351"/>
    </p:embeddedFont>
    <p:embeddedFont>
      <p:font typeface="KHGSJB+CMSY10~25" panose="02000500000000000000"/>
      <p:regular r:id="rId352"/>
    </p:embeddedFont>
    <p:embeddedFont>
      <p:font typeface="KEJIUF+CMSS10" panose="02000500000000000000"/>
      <p:regular r:id="rId353"/>
    </p:embeddedFont>
    <p:embeddedFont>
      <p:font typeface="GHVTHU+CMR10" panose="02000500000000000000"/>
      <p:regular r:id="rId354"/>
    </p:embeddedFont>
    <p:embeddedFont>
      <p:font typeface="PRSLPJ+CMR7" panose="02000500000000000000"/>
      <p:regular r:id="rId355"/>
    </p:embeddedFont>
    <p:embeddedFont>
      <p:font typeface="UCNAHD+Helvetica" panose="020B0604020202020204"/>
      <p:regular r:id="rId356"/>
    </p:embeddedFont>
    <p:embeddedFont>
      <p:font typeface="KOPWGD+CMSY10~25" panose="02000500000000000000"/>
      <p:regular r:id="rId357"/>
    </p:embeddedFont>
    <p:embeddedFont>
      <p:font typeface="FWTHVD+CMSS10" panose="02000500000000000000"/>
      <p:regular r:id="rId358"/>
    </p:embeddedFont>
    <p:embeddedFont>
      <p:font typeface="SGDTWH+CMR10" panose="02000500000000000000"/>
      <p:regular r:id="rId359"/>
    </p:embeddedFont>
    <p:embeddedFont>
      <p:font typeface="QVVTBK+CMR7" panose="02000500000000000000"/>
      <p:regular r:id="rId360"/>
    </p:embeddedFont>
    <p:embeddedFont>
      <p:font typeface="VFKWMS+Helvetica" panose="020B0604020202020204"/>
      <p:regular r:id="rId361"/>
    </p:embeddedFont>
    <p:embeddedFont>
      <p:font typeface="VDQKVW+CMSY10~25" panose="02000500000000000000"/>
      <p:regular r:id="rId362"/>
    </p:embeddedFont>
    <p:embeddedFont>
      <p:font typeface="UTDITF+CMR10" panose="02000500000000000000"/>
      <p:regular r:id="rId363"/>
    </p:embeddedFont>
    <p:embeddedFont>
      <p:font typeface="ODQPAN+CMSS10" panose="02000500000000000000"/>
      <p:regular r:id="rId364"/>
    </p:embeddedFont>
    <p:embeddedFont>
      <p:font typeface="IBGHGF+CMR7" panose="02000500000000000000"/>
      <p:regular r:id="rId365"/>
    </p:embeddedFont>
    <p:embeddedFont>
      <p:font typeface="UBVVIP+Helvetica" panose="020B0604020202020204"/>
      <p:regular r:id="rId366"/>
    </p:embeddedFont>
    <p:embeddedFont>
      <p:font typeface="KWMBSO+CMSY10~25" panose="02000500000000000000"/>
      <p:regular r:id="rId367"/>
    </p:embeddedFont>
    <p:embeddedFont>
      <p:font typeface="SRUJAG+CMR10" panose="02000500000000000000"/>
      <p:regular r:id="rId368"/>
    </p:embeddedFont>
    <p:embeddedFont>
      <p:font typeface="RAQMFG+CMR7" panose="02000500000000000000"/>
      <p:regular r:id="rId369"/>
    </p:embeddedFont>
    <p:embeddedFont>
      <p:font typeface="GWNTQQ+CMBX12~c" panose="02000500000000000000"/>
      <p:regular r:id="rId370"/>
    </p:embeddedFont>
    <p:embeddedFont>
      <p:font typeface="BEMWJM+CMR10" panose="02000500000000000000"/>
      <p:regular r:id="rId371"/>
    </p:embeddedFont>
    <p:embeddedFont>
      <p:font typeface="PKWJMW+CMSY10~25" panose="02000500000000000000"/>
      <p:regular r:id="rId372"/>
    </p:embeddedFont>
    <p:embeddedFont>
      <p:font typeface="GVSLON+CMR7" panose="02000500000000000000"/>
      <p:regular r:id="rId373"/>
    </p:embeddedFont>
    <p:embeddedFont>
      <p:font typeface="RCAOEL+CMBX12~c" panose="02000500000000000000"/>
      <p:regular r:id="rId374"/>
    </p:embeddedFont>
    <p:embeddedFont>
      <p:font typeface="SVKEID+CMSY10~25" panose="02000500000000000000"/>
      <p:regular r:id="rId375"/>
    </p:embeddedFont>
    <p:embeddedFont>
      <p:font typeface="AHPJCE+CMBX10" panose="02000500000000000000"/>
      <p:regular r:id="rId376"/>
    </p:embeddedFont>
    <p:embeddedFont>
      <p:font typeface="VBTBRE+CMR10" panose="02000500000000000000"/>
      <p:regular r:id="rId377"/>
    </p:embeddedFont>
    <p:embeddedFont>
      <p:font typeface="ANIJWK+Helvetica" panose="020B0604020202020204"/>
      <p:regular r:id="rId378"/>
    </p:embeddedFont>
    <p:embeddedFont>
      <p:font typeface="CTVSKN+CMR7" panose="02000500000000000000"/>
      <p:regular r:id="rId379"/>
    </p:embeddedFont>
    <p:embeddedFont>
      <p:font typeface="DSVGQU+CMBX12~c" panose="02000500000000000000"/>
      <p:regular r:id="rId380"/>
    </p:embeddedFont>
    <p:embeddedFont>
      <p:font typeface="VBFKVF+Helvetica" panose="020B0604020202020204"/>
      <p:regular r:id="rId381"/>
    </p:embeddedFont>
    <p:embeddedFont>
      <p:font typeface="NCWHOT+CMSY10~25" panose="02000500000000000000"/>
      <p:regular r:id="rId382"/>
    </p:embeddedFont>
    <p:embeddedFont>
      <p:font typeface="RSLSSS+CMR10" panose="02000500000000000000"/>
      <p:regular r:id="rId383"/>
    </p:embeddedFont>
    <p:embeddedFont>
      <p:font typeface="NOFGII+CMSS10" panose="02000500000000000000"/>
      <p:regular r:id="rId384"/>
    </p:embeddedFont>
    <p:embeddedFont>
      <p:font typeface="HCQUFM+CMR7" panose="02000500000000000000"/>
      <p:regular r:id="rId385"/>
    </p:embeddedFont>
    <p:embeddedFont>
      <p:font typeface="MUCSOB+CMBX12~c" panose="02000500000000000000"/>
      <p:regular r:id="rId386"/>
    </p:embeddedFont>
    <p:embeddedFont>
      <p:font typeface="MDLLKT+CMSY10~25" panose="02000500000000000000"/>
      <p:regular r:id="rId387"/>
    </p:embeddedFont>
    <p:embeddedFont>
      <p:font typeface="NPGJEQ+CMBX10" panose="02000500000000000000"/>
      <p:regular r:id="rId388"/>
    </p:embeddedFont>
    <p:embeddedFont>
      <p:font typeface="IMFBCN+CMR10" panose="02000500000000000000"/>
      <p:regular r:id="rId389"/>
    </p:embeddedFont>
    <p:embeddedFont>
      <p:font typeface="TQJMKV+CMTI10" panose="02000500000000000000"/>
      <p:regular r:id="rId390"/>
    </p:embeddedFont>
    <p:embeddedFont>
      <p:font typeface="NFPSLC+CMR7" panose="02000500000000000000"/>
      <p:regular r:id="rId391"/>
    </p:embeddedFont>
    <p:embeddedFont>
      <p:font typeface="MLDKNV+CMBX12~c" panose="02000500000000000000"/>
      <p:regular r:id="rId392"/>
    </p:embeddedFont>
    <p:embeddedFont>
      <p:font typeface="FANIFJ+CMSY9" panose="02000500000000000000"/>
      <p:regular r:id="rId393"/>
    </p:embeddedFont>
    <p:embeddedFont>
      <p:font typeface="TSNEWG+CMSSBX10~2a4" panose="02000500000000000000"/>
      <p:regular r:id="rId394"/>
    </p:embeddedFont>
    <p:embeddedFont>
      <p:font typeface="OCKRHR+CMSS9" panose="02000500000000000000"/>
      <p:regular r:id="rId395"/>
    </p:embeddedFont>
    <p:embeddedFont>
      <p:font typeface="QIVOBH+CMSSI9" panose="02000500000000000000"/>
      <p:regular r:id="rId396"/>
    </p:embeddedFont>
    <p:embeddedFont>
      <p:font typeface="LGOCJB+CMR7" panose="02000500000000000000"/>
      <p:regular r:id="rId397"/>
    </p:embeddedFont>
    <p:embeddedFont>
      <p:font typeface="MMQQHO+CMBX12~c" panose="02000500000000000000"/>
      <p:regular r:id="rId398"/>
    </p:embeddedFont>
    <p:embeddedFont>
      <p:font typeface="MRQMSS+CMSY9" panose="02000500000000000000"/>
      <p:regular r:id="rId399"/>
    </p:embeddedFont>
    <p:embeddedFont>
      <p:font typeface="FUFLBO+CMSSBX10~2a4" panose="02000500000000000000"/>
      <p:regular r:id="rId400"/>
    </p:embeddedFont>
    <p:embeddedFont>
      <p:font typeface="OBGDWM+CMSS9" panose="02000500000000000000"/>
      <p:regular r:id="rId401"/>
    </p:embeddedFont>
    <p:embeddedFont>
      <p:font typeface="LSDDSH+CMSSBX10~2b1" panose="02000500000000000000"/>
      <p:regular r:id="rId402"/>
    </p:embeddedFont>
    <p:embeddedFont>
      <p:font typeface="JVEOOD+CMR9" panose="02000500000000000000"/>
      <p:regular r:id="rId403"/>
    </p:embeddedFont>
    <p:embeddedFont>
      <p:font typeface="UOPBOA+CMR7" panose="02000500000000000000"/>
      <p:regular r:id="rId404"/>
    </p:embeddedFont>
    <p:embeddedFont>
      <p:font typeface="JSMEHG+CMBX12~c" panose="02000500000000000000"/>
      <p:regular r:id="rId405"/>
    </p:embeddedFont>
    <p:embeddedFont>
      <p:font typeface="KWKEFV+CMR10" panose="02000500000000000000"/>
      <p:regular r:id="rId406"/>
    </p:embeddedFont>
    <p:embeddedFont>
      <p:font typeface="WVIIHW+CMR7" panose="02000500000000000000"/>
      <p:regular r:id="rId407"/>
    </p:embeddedFont>
    <p:embeddedFont>
      <p:font typeface="IPVLFH+CMBX12~c" panose="02000500000000000000"/>
      <p:regular r:id="rId408"/>
    </p:embeddedFont>
    <p:embeddedFont>
      <p:font typeface="DLMBCH+CMSY10~25" panose="02000500000000000000"/>
      <p:regular r:id="rId409"/>
    </p:embeddedFont>
    <p:embeddedFont>
      <p:font typeface="JTCCMD+CMBX10" panose="02000500000000000000"/>
      <p:regular r:id="rId410"/>
    </p:embeddedFont>
    <p:embeddedFont>
      <p:font typeface="QOTSDP+CMR10" panose="02000500000000000000"/>
      <p:regular r:id="rId411"/>
    </p:embeddedFont>
    <p:embeddedFont>
      <p:font typeface="RNUESF+CMR7" panose="02000500000000000000"/>
      <p:regular r:id="rId412"/>
    </p:embeddedFont>
    <p:embeddedFont>
      <p:font typeface="WLKRHO+CMBX12~c" panose="02000500000000000000"/>
      <p:regular r:id="rId413"/>
    </p:embeddedFont>
    <p:embeddedFont>
      <p:font typeface="IIDCOW+CMSY10~25" panose="02000500000000000000"/>
      <p:regular r:id="rId414"/>
    </p:embeddedFont>
    <p:embeddedFont>
      <p:font typeface="LTMOIR+CMR10" panose="02000500000000000000"/>
      <p:regular r:id="rId415"/>
    </p:embeddedFont>
    <p:embeddedFont>
      <p:font typeface="EKGTLK+CMBX10" panose="02000500000000000000"/>
      <p:regular r:id="rId416"/>
    </p:embeddedFont>
    <p:embeddedFont>
      <p:font typeface="KOKBUT+CMR7" panose="02000500000000000000"/>
      <p:regular r:id="rId417"/>
    </p:embeddedFont>
    <p:embeddedFont>
      <p:font typeface="CLKOUW+CMBX12~c" panose="02000500000000000000"/>
      <p:regular r:id="rId418"/>
    </p:embeddedFont>
    <p:embeddedFont>
      <p:font typeface="EKCMWC+CMSS9" panose="02000500000000000000"/>
      <p:regular r:id="rId419"/>
    </p:embeddedFont>
    <p:embeddedFont>
      <p:font typeface="CUVAPO+CMR7" panose="02000500000000000000"/>
      <p:regular r:id="rId420"/>
    </p:embeddedFont>
    <p:embeddedFont>
      <p:font typeface="JATVBN+CMSY10~25" panose="02000500000000000000"/>
      <p:regular r:id="rId421"/>
    </p:embeddedFont>
    <p:embeddedFont>
      <p:font typeface="UOPAJG+CMR10" panose="02000500000000000000"/>
      <p:regular r:id="rId422"/>
    </p:embeddedFont>
    <p:embeddedFont>
      <p:font typeface="VSCCGI+CMR7" panose="02000500000000000000"/>
      <p:regular r:id="rId423"/>
    </p:embeddedFont>
    <p:embeddedFont>
      <p:font typeface="TBRJUP+CMBX12~c" panose="02000500000000000000"/>
      <p:regular r:id="rId424"/>
    </p:embeddedFont>
    <p:embeddedFont>
      <p:font typeface="VLOUNB+CMR10" panose="02000500000000000000"/>
      <p:regular r:id="rId425"/>
    </p:embeddedFont>
    <p:embeddedFont>
      <p:font typeface="TJFNGL+CMSY9" panose="02000500000000000000"/>
      <p:regular r:id="rId426"/>
    </p:embeddedFont>
    <p:embeddedFont>
      <p:font typeface="FFRACC+CMSSBX10~2a4" panose="02000500000000000000"/>
      <p:regular r:id="rId427"/>
    </p:embeddedFont>
    <p:embeddedFont>
      <p:font typeface="QBPKSA+CMSS9" panose="02000500000000000000"/>
      <p:regular r:id="rId428"/>
    </p:embeddedFont>
    <p:embeddedFont>
      <p:font typeface="NSUINS+CMR7" panose="02000500000000000000"/>
      <p:regular r:id="rId429"/>
    </p:embeddedFont>
    <p:embeddedFont>
      <p:font typeface="PPVDQR+CMBX12~c" panose="02000500000000000000"/>
      <p:regular r:id="rId430"/>
    </p:embeddedFont>
    <p:embeddedFont>
      <p:font typeface="RAIVMA+CMSY10~25" panose="02000500000000000000"/>
      <p:regular r:id="rId431"/>
    </p:embeddedFont>
    <p:embeddedFont>
      <p:font typeface="TSBCGW+CMBX10" panose="02000500000000000000"/>
      <p:regular r:id="rId432"/>
    </p:embeddedFont>
    <p:embeddedFont>
      <p:font typeface="KDAVNU+CMR10" panose="02000500000000000000"/>
      <p:regular r:id="rId433"/>
    </p:embeddedFont>
    <p:embeddedFont>
      <p:font typeface="WSMWOS+CMTI10" panose="02000500000000000000"/>
      <p:regular r:id="rId434"/>
    </p:embeddedFont>
    <p:embeddedFont>
      <p:font typeface="BJFJAF+CMR7" panose="02000500000000000000"/>
      <p:regular r:id="rId435"/>
    </p:embeddedFont>
    <p:embeddedFont>
      <p:font typeface="JWQHQK+CMBX12~c" panose="02000500000000000000"/>
      <p:regular r:id="rId436"/>
    </p:embeddedFont>
    <p:embeddedFont>
      <p:font typeface="HKJKRN+CMSY10~25" panose="02000500000000000000"/>
      <p:regular r:id="rId437"/>
    </p:embeddedFont>
    <p:embeddedFont>
      <p:font typeface="WOGSEM+CMR10" panose="02000500000000000000"/>
      <p:regular r:id="rId438"/>
    </p:embeddedFont>
    <p:embeddedFont>
      <p:font typeface="UWQWVE+CMR7" panose="02000500000000000000"/>
      <p:regular r:id="rId439"/>
    </p:embeddedFont>
    <p:embeddedFont>
      <p:font typeface="Comic Sans MS" panose="030F0702030302020204" pitchFamily="66" charset="0"/>
      <p:regular r:id="rId440"/>
      <p:bold r:id="rId441"/>
      <p:italic r:id="rId442"/>
      <p:boldItalic r:id="rId443"/>
    </p:embeddedFont>
    <p:embeddedFont>
      <p:font typeface="Verdana" panose="020B0604030504040204" pitchFamily="34" charset="0"/>
      <p:regular r:id="rId444"/>
      <p:bold r:id="rId445"/>
      <p:italic r:id="rId446"/>
      <p:boldItalic r:id="rId447"/>
    </p:embeddedFont>
    <p:embeddedFont>
      <p:font typeface="黑体" panose="02010609060101010101" pitchFamily="49" charset="-122"/>
      <p:regular r:id="rId448"/>
    </p:embeddedFont>
  </p:embeddedFontLst>
  <p:custDataLst>
    <p:tags r:id="rId449"/>
  </p:custDataLst>
  <p:defaultTextStyle/>
  <p:extLst>
    <p:ext uri="{EFAFB233-063F-42B5-8137-9DF3F51BA10A}">
      <p15:sldGuideLst xmlns:p15="http://schemas.microsoft.com/office/powerpoint/2012/main">
        <p15:guide id="1" orient="horz" pos="3168" userDrawn="1">
          <p15:clr>
            <a:srgbClr val="A4A3A4"/>
          </p15:clr>
        </p15:guide>
        <p15:guide id="2" pos="24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-1500" y="-9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33.xml"/><Relationship Id="rId98" Type="http://schemas.openxmlformats.org/officeDocument/2006/relationships/slide" Target="slides/slide32.xml"/><Relationship Id="rId97" Type="http://schemas.openxmlformats.org/officeDocument/2006/relationships/slide" Target="slides/slide31.xml"/><Relationship Id="rId96" Type="http://schemas.openxmlformats.org/officeDocument/2006/relationships/slide" Target="slides/slide30.xml"/><Relationship Id="rId95" Type="http://schemas.openxmlformats.org/officeDocument/2006/relationships/slide" Target="slides/slide29.xml"/><Relationship Id="rId94" Type="http://schemas.openxmlformats.org/officeDocument/2006/relationships/slide" Target="slides/slide28.xml"/><Relationship Id="rId93" Type="http://schemas.openxmlformats.org/officeDocument/2006/relationships/slide" Target="slides/slide27.xml"/><Relationship Id="rId92" Type="http://schemas.openxmlformats.org/officeDocument/2006/relationships/slide" Target="slides/slide26.xml"/><Relationship Id="rId91" Type="http://schemas.openxmlformats.org/officeDocument/2006/relationships/slide" Target="slides/slide25.xml"/><Relationship Id="rId90" Type="http://schemas.openxmlformats.org/officeDocument/2006/relationships/slide" Target="slides/slide24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23.xml"/><Relationship Id="rId88" Type="http://schemas.openxmlformats.org/officeDocument/2006/relationships/slide" Target="slides/slide22.xml"/><Relationship Id="rId87" Type="http://schemas.openxmlformats.org/officeDocument/2006/relationships/slide" Target="slides/slide21.xml"/><Relationship Id="rId86" Type="http://schemas.openxmlformats.org/officeDocument/2006/relationships/slide" Target="slides/slide20.xml"/><Relationship Id="rId85" Type="http://schemas.openxmlformats.org/officeDocument/2006/relationships/slide" Target="slides/slide19.xml"/><Relationship Id="rId84" Type="http://schemas.openxmlformats.org/officeDocument/2006/relationships/slide" Target="slides/slide18.xml"/><Relationship Id="rId83" Type="http://schemas.openxmlformats.org/officeDocument/2006/relationships/slide" Target="slides/slide17.xml"/><Relationship Id="rId82" Type="http://schemas.openxmlformats.org/officeDocument/2006/relationships/slide" Target="slides/slide16.xml"/><Relationship Id="rId81" Type="http://schemas.openxmlformats.org/officeDocument/2006/relationships/slide" Target="slides/slide15.xml"/><Relationship Id="rId80" Type="http://schemas.openxmlformats.org/officeDocument/2006/relationships/slide" Target="slides/slide14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13.xml"/><Relationship Id="rId78" Type="http://schemas.openxmlformats.org/officeDocument/2006/relationships/slide" Target="slides/slide12.xml"/><Relationship Id="rId77" Type="http://schemas.openxmlformats.org/officeDocument/2006/relationships/slide" Target="slides/slide11.xml"/><Relationship Id="rId76" Type="http://schemas.openxmlformats.org/officeDocument/2006/relationships/slide" Target="slides/slide10.xml"/><Relationship Id="rId75" Type="http://schemas.openxmlformats.org/officeDocument/2006/relationships/slide" Target="slides/slide9.xml"/><Relationship Id="rId74" Type="http://schemas.openxmlformats.org/officeDocument/2006/relationships/slide" Target="slides/slide8.xml"/><Relationship Id="rId73" Type="http://schemas.openxmlformats.org/officeDocument/2006/relationships/slide" Target="slides/slide7.xml"/><Relationship Id="rId72" Type="http://schemas.openxmlformats.org/officeDocument/2006/relationships/slide" Target="slides/slide6.xml"/><Relationship Id="rId71" Type="http://schemas.openxmlformats.org/officeDocument/2006/relationships/slide" Target="slides/slide5.xml"/><Relationship Id="rId70" Type="http://schemas.openxmlformats.org/officeDocument/2006/relationships/slide" Target="slides/slide4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3.xml"/><Relationship Id="rId68" Type="http://schemas.openxmlformats.org/officeDocument/2006/relationships/slide" Target="slides/slide2.xml"/><Relationship Id="rId67" Type="http://schemas.openxmlformats.org/officeDocument/2006/relationships/notesMaster" Target="notesMasters/notesMaster1.xml"/><Relationship Id="rId66" Type="http://schemas.openxmlformats.org/officeDocument/2006/relationships/slide" Target="slides/slide1.xml"/><Relationship Id="rId65" Type="http://schemas.openxmlformats.org/officeDocument/2006/relationships/slideMaster" Target="slideMasters/slideMaster64.xml"/><Relationship Id="rId64" Type="http://schemas.openxmlformats.org/officeDocument/2006/relationships/slideMaster" Target="slideMasters/slideMaster63.xml"/><Relationship Id="rId63" Type="http://schemas.openxmlformats.org/officeDocument/2006/relationships/slideMaster" Target="slideMasters/slideMaster62.xml"/><Relationship Id="rId62" Type="http://schemas.openxmlformats.org/officeDocument/2006/relationships/slideMaster" Target="slideMasters/slideMaster61.xml"/><Relationship Id="rId61" Type="http://schemas.openxmlformats.org/officeDocument/2006/relationships/slideMaster" Target="slideMasters/slideMaster60.xml"/><Relationship Id="rId60" Type="http://schemas.openxmlformats.org/officeDocument/2006/relationships/slideMaster" Target="slideMasters/slideMaster59.xml"/><Relationship Id="rId6" Type="http://schemas.openxmlformats.org/officeDocument/2006/relationships/slideMaster" Target="slideMasters/slideMaster5.xml"/><Relationship Id="rId59" Type="http://schemas.openxmlformats.org/officeDocument/2006/relationships/slideMaster" Target="slideMasters/slideMaster58.xml"/><Relationship Id="rId58" Type="http://schemas.openxmlformats.org/officeDocument/2006/relationships/slideMaster" Target="slideMasters/slideMaster57.xml"/><Relationship Id="rId57" Type="http://schemas.openxmlformats.org/officeDocument/2006/relationships/slideMaster" Target="slideMasters/slideMaster56.xml"/><Relationship Id="rId56" Type="http://schemas.openxmlformats.org/officeDocument/2006/relationships/slideMaster" Target="slideMasters/slideMaster55.xml"/><Relationship Id="rId55" Type="http://schemas.openxmlformats.org/officeDocument/2006/relationships/slideMaster" Target="slideMasters/slideMaster54.xml"/><Relationship Id="rId54" Type="http://schemas.openxmlformats.org/officeDocument/2006/relationships/slideMaster" Target="slideMasters/slideMaster53.xml"/><Relationship Id="rId53" Type="http://schemas.openxmlformats.org/officeDocument/2006/relationships/slideMaster" Target="slideMasters/slideMaster52.xml"/><Relationship Id="rId52" Type="http://schemas.openxmlformats.org/officeDocument/2006/relationships/slideMaster" Target="slideMasters/slideMaster51.xml"/><Relationship Id="rId51" Type="http://schemas.openxmlformats.org/officeDocument/2006/relationships/slideMaster" Target="slideMasters/slideMaster50.xml"/><Relationship Id="rId50" Type="http://schemas.openxmlformats.org/officeDocument/2006/relationships/slideMaster" Target="slideMasters/slideMaster49.xml"/><Relationship Id="rId5" Type="http://schemas.openxmlformats.org/officeDocument/2006/relationships/slideMaster" Target="slideMasters/slideMaster4.xml"/><Relationship Id="rId49" Type="http://schemas.openxmlformats.org/officeDocument/2006/relationships/slideMaster" Target="slideMasters/slideMaster48.xml"/><Relationship Id="rId48" Type="http://schemas.openxmlformats.org/officeDocument/2006/relationships/slideMaster" Target="slideMasters/slideMaster47.xml"/><Relationship Id="rId47" Type="http://schemas.openxmlformats.org/officeDocument/2006/relationships/slideMaster" Target="slideMasters/slideMaster46.xml"/><Relationship Id="rId46" Type="http://schemas.openxmlformats.org/officeDocument/2006/relationships/slideMaster" Target="slideMasters/slideMaster45.xml"/><Relationship Id="rId45" Type="http://schemas.openxmlformats.org/officeDocument/2006/relationships/slideMaster" Target="slideMasters/slideMaster44.xml"/><Relationship Id="rId449" Type="http://schemas.openxmlformats.org/officeDocument/2006/relationships/tags" Target="tags/tag1.xml"/><Relationship Id="rId448" Type="http://schemas.openxmlformats.org/officeDocument/2006/relationships/font" Target="fonts/font315.fntdata"/><Relationship Id="rId447" Type="http://schemas.openxmlformats.org/officeDocument/2006/relationships/font" Target="fonts/font314.fntdata"/><Relationship Id="rId446" Type="http://schemas.openxmlformats.org/officeDocument/2006/relationships/font" Target="fonts/font313.fntdata"/><Relationship Id="rId445" Type="http://schemas.openxmlformats.org/officeDocument/2006/relationships/font" Target="fonts/font312.fntdata"/><Relationship Id="rId444" Type="http://schemas.openxmlformats.org/officeDocument/2006/relationships/font" Target="fonts/font311.fntdata"/><Relationship Id="rId443" Type="http://schemas.openxmlformats.org/officeDocument/2006/relationships/font" Target="fonts/font310.fntdata"/><Relationship Id="rId442" Type="http://schemas.openxmlformats.org/officeDocument/2006/relationships/font" Target="fonts/font309.fntdata"/><Relationship Id="rId441" Type="http://schemas.openxmlformats.org/officeDocument/2006/relationships/font" Target="fonts/font308.fntdata"/><Relationship Id="rId440" Type="http://schemas.openxmlformats.org/officeDocument/2006/relationships/font" Target="fonts/font307.fntdata"/><Relationship Id="rId44" Type="http://schemas.openxmlformats.org/officeDocument/2006/relationships/slideMaster" Target="slideMasters/slideMaster43.xml"/><Relationship Id="rId439" Type="http://schemas.openxmlformats.org/officeDocument/2006/relationships/font" Target="fonts/font306.fntdata"/><Relationship Id="rId438" Type="http://schemas.openxmlformats.org/officeDocument/2006/relationships/font" Target="fonts/font305.fntdata"/><Relationship Id="rId437" Type="http://schemas.openxmlformats.org/officeDocument/2006/relationships/font" Target="fonts/font304.fntdata"/><Relationship Id="rId436" Type="http://schemas.openxmlformats.org/officeDocument/2006/relationships/font" Target="fonts/font303.fntdata"/><Relationship Id="rId435" Type="http://schemas.openxmlformats.org/officeDocument/2006/relationships/font" Target="fonts/font302.fntdata"/><Relationship Id="rId434" Type="http://schemas.openxmlformats.org/officeDocument/2006/relationships/font" Target="fonts/font301.fntdata"/><Relationship Id="rId433" Type="http://schemas.openxmlformats.org/officeDocument/2006/relationships/font" Target="fonts/font300.fntdata"/><Relationship Id="rId432" Type="http://schemas.openxmlformats.org/officeDocument/2006/relationships/font" Target="fonts/font299.fntdata"/><Relationship Id="rId431" Type="http://schemas.openxmlformats.org/officeDocument/2006/relationships/font" Target="fonts/font298.fntdata"/><Relationship Id="rId430" Type="http://schemas.openxmlformats.org/officeDocument/2006/relationships/font" Target="fonts/font297.fntdata"/><Relationship Id="rId43" Type="http://schemas.openxmlformats.org/officeDocument/2006/relationships/slideMaster" Target="slideMasters/slideMaster42.xml"/><Relationship Id="rId429" Type="http://schemas.openxmlformats.org/officeDocument/2006/relationships/font" Target="fonts/font296.fntdata"/><Relationship Id="rId428" Type="http://schemas.openxmlformats.org/officeDocument/2006/relationships/font" Target="fonts/font295.fntdata"/><Relationship Id="rId427" Type="http://schemas.openxmlformats.org/officeDocument/2006/relationships/font" Target="fonts/font294.fntdata"/><Relationship Id="rId426" Type="http://schemas.openxmlformats.org/officeDocument/2006/relationships/font" Target="fonts/font293.fntdata"/><Relationship Id="rId425" Type="http://schemas.openxmlformats.org/officeDocument/2006/relationships/font" Target="fonts/font292.fntdata"/><Relationship Id="rId424" Type="http://schemas.openxmlformats.org/officeDocument/2006/relationships/font" Target="fonts/font291.fntdata"/><Relationship Id="rId423" Type="http://schemas.openxmlformats.org/officeDocument/2006/relationships/font" Target="fonts/font290.fntdata"/><Relationship Id="rId422" Type="http://schemas.openxmlformats.org/officeDocument/2006/relationships/font" Target="fonts/font289.fntdata"/><Relationship Id="rId421" Type="http://schemas.openxmlformats.org/officeDocument/2006/relationships/font" Target="fonts/font288.fntdata"/><Relationship Id="rId420" Type="http://schemas.openxmlformats.org/officeDocument/2006/relationships/font" Target="fonts/font287.fntdata"/><Relationship Id="rId42" Type="http://schemas.openxmlformats.org/officeDocument/2006/relationships/slideMaster" Target="slideMasters/slideMaster41.xml"/><Relationship Id="rId419" Type="http://schemas.openxmlformats.org/officeDocument/2006/relationships/font" Target="fonts/font286.fntdata"/><Relationship Id="rId418" Type="http://schemas.openxmlformats.org/officeDocument/2006/relationships/font" Target="fonts/font285.fntdata"/><Relationship Id="rId417" Type="http://schemas.openxmlformats.org/officeDocument/2006/relationships/font" Target="fonts/font284.fntdata"/><Relationship Id="rId416" Type="http://schemas.openxmlformats.org/officeDocument/2006/relationships/font" Target="fonts/font283.fntdata"/><Relationship Id="rId415" Type="http://schemas.openxmlformats.org/officeDocument/2006/relationships/font" Target="fonts/font282.fntdata"/><Relationship Id="rId414" Type="http://schemas.openxmlformats.org/officeDocument/2006/relationships/font" Target="fonts/font281.fntdata"/><Relationship Id="rId413" Type="http://schemas.openxmlformats.org/officeDocument/2006/relationships/font" Target="fonts/font280.fntdata"/><Relationship Id="rId412" Type="http://schemas.openxmlformats.org/officeDocument/2006/relationships/font" Target="fonts/font279.fntdata"/><Relationship Id="rId411" Type="http://schemas.openxmlformats.org/officeDocument/2006/relationships/font" Target="fonts/font278.fntdata"/><Relationship Id="rId410" Type="http://schemas.openxmlformats.org/officeDocument/2006/relationships/font" Target="fonts/font277.fntdata"/><Relationship Id="rId41" Type="http://schemas.openxmlformats.org/officeDocument/2006/relationships/slideMaster" Target="slideMasters/slideMaster40.xml"/><Relationship Id="rId409" Type="http://schemas.openxmlformats.org/officeDocument/2006/relationships/font" Target="fonts/font276.fntdata"/><Relationship Id="rId408" Type="http://schemas.openxmlformats.org/officeDocument/2006/relationships/font" Target="fonts/font275.fntdata"/><Relationship Id="rId407" Type="http://schemas.openxmlformats.org/officeDocument/2006/relationships/font" Target="fonts/font274.fntdata"/><Relationship Id="rId406" Type="http://schemas.openxmlformats.org/officeDocument/2006/relationships/font" Target="fonts/font273.fntdata"/><Relationship Id="rId405" Type="http://schemas.openxmlformats.org/officeDocument/2006/relationships/font" Target="fonts/font272.fntdata"/><Relationship Id="rId404" Type="http://schemas.openxmlformats.org/officeDocument/2006/relationships/font" Target="fonts/font271.fntdata"/><Relationship Id="rId403" Type="http://schemas.openxmlformats.org/officeDocument/2006/relationships/font" Target="fonts/font270.fntdata"/><Relationship Id="rId402" Type="http://schemas.openxmlformats.org/officeDocument/2006/relationships/font" Target="fonts/font269.fntdata"/><Relationship Id="rId401" Type="http://schemas.openxmlformats.org/officeDocument/2006/relationships/font" Target="fonts/font268.fntdata"/><Relationship Id="rId400" Type="http://schemas.openxmlformats.org/officeDocument/2006/relationships/font" Target="fonts/font267.fntdata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9" Type="http://schemas.openxmlformats.org/officeDocument/2006/relationships/font" Target="fonts/font266.fntdata"/><Relationship Id="rId398" Type="http://schemas.openxmlformats.org/officeDocument/2006/relationships/font" Target="fonts/font265.fntdata"/><Relationship Id="rId397" Type="http://schemas.openxmlformats.org/officeDocument/2006/relationships/font" Target="fonts/font264.fntdata"/><Relationship Id="rId396" Type="http://schemas.openxmlformats.org/officeDocument/2006/relationships/font" Target="fonts/font263.fntdata"/><Relationship Id="rId395" Type="http://schemas.openxmlformats.org/officeDocument/2006/relationships/font" Target="fonts/font262.fntdata"/><Relationship Id="rId394" Type="http://schemas.openxmlformats.org/officeDocument/2006/relationships/font" Target="fonts/font261.fntdata"/><Relationship Id="rId393" Type="http://schemas.openxmlformats.org/officeDocument/2006/relationships/font" Target="fonts/font260.fntdata"/><Relationship Id="rId392" Type="http://schemas.openxmlformats.org/officeDocument/2006/relationships/font" Target="fonts/font259.fntdata"/><Relationship Id="rId391" Type="http://schemas.openxmlformats.org/officeDocument/2006/relationships/font" Target="fonts/font258.fntdata"/><Relationship Id="rId390" Type="http://schemas.openxmlformats.org/officeDocument/2006/relationships/font" Target="fonts/font257.fntdata"/><Relationship Id="rId39" Type="http://schemas.openxmlformats.org/officeDocument/2006/relationships/slideMaster" Target="slideMasters/slideMaster38.xml"/><Relationship Id="rId389" Type="http://schemas.openxmlformats.org/officeDocument/2006/relationships/font" Target="fonts/font256.fntdata"/><Relationship Id="rId388" Type="http://schemas.openxmlformats.org/officeDocument/2006/relationships/font" Target="fonts/font255.fntdata"/><Relationship Id="rId387" Type="http://schemas.openxmlformats.org/officeDocument/2006/relationships/font" Target="fonts/font254.fntdata"/><Relationship Id="rId386" Type="http://schemas.openxmlformats.org/officeDocument/2006/relationships/font" Target="fonts/font253.fntdata"/><Relationship Id="rId385" Type="http://schemas.openxmlformats.org/officeDocument/2006/relationships/font" Target="fonts/font252.fntdata"/><Relationship Id="rId384" Type="http://schemas.openxmlformats.org/officeDocument/2006/relationships/font" Target="fonts/font251.fntdata"/><Relationship Id="rId383" Type="http://schemas.openxmlformats.org/officeDocument/2006/relationships/font" Target="fonts/font250.fntdata"/><Relationship Id="rId382" Type="http://schemas.openxmlformats.org/officeDocument/2006/relationships/font" Target="fonts/font249.fntdata"/><Relationship Id="rId381" Type="http://schemas.openxmlformats.org/officeDocument/2006/relationships/font" Target="fonts/font248.fntdata"/><Relationship Id="rId380" Type="http://schemas.openxmlformats.org/officeDocument/2006/relationships/font" Target="fonts/font247.fntdata"/><Relationship Id="rId38" Type="http://schemas.openxmlformats.org/officeDocument/2006/relationships/slideMaster" Target="slideMasters/slideMaster37.xml"/><Relationship Id="rId379" Type="http://schemas.openxmlformats.org/officeDocument/2006/relationships/font" Target="fonts/font246.fntdata"/><Relationship Id="rId378" Type="http://schemas.openxmlformats.org/officeDocument/2006/relationships/font" Target="fonts/font245.fntdata"/><Relationship Id="rId377" Type="http://schemas.openxmlformats.org/officeDocument/2006/relationships/font" Target="fonts/font244.fntdata"/><Relationship Id="rId376" Type="http://schemas.openxmlformats.org/officeDocument/2006/relationships/font" Target="fonts/font243.fntdata"/><Relationship Id="rId375" Type="http://schemas.openxmlformats.org/officeDocument/2006/relationships/font" Target="fonts/font242.fntdata"/><Relationship Id="rId374" Type="http://schemas.openxmlformats.org/officeDocument/2006/relationships/font" Target="fonts/font241.fntdata"/><Relationship Id="rId373" Type="http://schemas.openxmlformats.org/officeDocument/2006/relationships/font" Target="fonts/font240.fntdata"/><Relationship Id="rId372" Type="http://schemas.openxmlformats.org/officeDocument/2006/relationships/font" Target="fonts/font239.fntdata"/><Relationship Id="rId371" Type="http://schemas.openxmlformats.org/officeDocument/2006/relationships/font" Target="fonts/font238.fntdata"/><Relationship Id="rId370" Type="http://schemas.openxmlformats.org/officeDocument/2006/relationships/font" Target="fonts/font237.fntdata"/><Relationship Id="rId37" Type="http://schemas.openxmlformats.org/officeDocument/2006/relationships/slideMaster" Target="slideMasters/slideMaster36.xml"/><Relationship Id="rId369" Type="http://schemas.openxmlformats.org/officeDocument/2006/relationships/font" Target="fonts/font236.fntdata"/><Relationship Id="rId368" Type="http://schemas.openxmlformats.org/officeDocument/2006/relationships/font" Target="fonts/font235.fntdata"/><Relationship Id="rId367" Type="http://schemas.openxmlformats.org/officeDocument/2006/relationships/font" Target="fonts/font234.fntdata"/><Relationship Id="rId366" Type="http://schemas.openxmlformats.org/officeDocument/2006/relationships/font" Target="fonts/font233.fntdata"/><Relationship Id="rId365" Type="http://schemas.openxmlformats.org/officeDocument/2006/relationships/font" Target="fonts/font232.fntdata"/><Relationship Id="rId364" Type="http://schemas.openxmlformats.org/officeDocument/2006/relationships/font" Target="fonts/font231.fntdata"/><Relationship Id="rId363" Type="http://schemas.openxmlformats.org/officeDocument/2006/relationships/font" Target="fonts/font230.fntdata"/><Relationship Id="rId362" Type="http://schemas.openxmlformats.org/officeDocument/2006/relationships/font" Target="fonts/font229.fntdata"/><Relationship Id="rId361" Type="http://schemas.openxmlformats.org/officeDocument/2006/relationships/font" Target="fonts/font228.fntdata"/><Relationship Id="rId360" Type="http://schemas.openxmlformats.org/officeDocument/2006/relationships/font" Target="fonts/font227.fntdata"/><Relationship Id="rId36" Type="http://schemas.openxmlformats.org/officeDocument/2006/relationships/slideMaster" Target="slideMasters/slideMaster35.xml"/><Relationship Id="rId359" Type="http://schemas.openxmlformats.org/officeDocument/2006/relationships/font" Target="fonts/font226.fntdata"/><Relationship Id="rId358" Type="http://schemas.openxmlformats.org/officeDocument/2006/relationships/font" Target="fonts/font225.fntdata"/><Relationship Id="rId357" Type="http://schemas.openxmlformats.org/officeDocument/2006/relationships/font" Target="fonts/font224.fntdata"/><Relationship Id="rId356" Type="http://schemas.openxmlformats.org/officeDocument/2006/relationships/font" Target="fonts/font223.fntdata"/><Relationship Id="rId355" Type="http://schemas.openxmlformats.org/officeDocument/2006/relationships/font" Target="fonts/font222.fntdata"/><Relationship Id="rId354" Type="http://schemas.openxmlformats.org/officeDocument/2006/relationships/font" Target="fonts/font221.fntdata"/><Relationship Id="rId353" Type="http://schemas.openxmlformats.org/officeDocument/2006/relationships/font" Target="fonts/font220.fntdata"/><Relationship Id="rId352" Type="http://schemas.openxmlformats.org/officeDocument/2006/relationships/font" Target="fonts/font219.fntdata"/><Relationship Id="rId351" Type="http://schemas.openxmlformats.org/officeDocument/2006/relationships/font" Target="fonts/font218.fntdata"/><Relationship Id="rId350" Type="http://schemas.openxmlformats.org/officeDocument/2006/relationships/font" Target="fonts/font217.fntdata"/><Relationship Id="rId35" Type="http://schemas.openxmlformats.org/officeDocument/2006/relationships/slideMaster" Target="slideMasters/slideMaster34.xml"/><Relationship Id="rId349" Type="http://schemas.openxmlformats.org/officeDocument/2006/relationships/font" Target="fonts/font216.fntdata"/><Relationship Id="rId348" Type="http://schemas.openxmlformats.org/officeDocument/2006/relationships/font" Target="fonts/font215.fntdata"/><Relationship Id="rId347" Type="http://schemas.openxmlformats.org/officeDocument/2006/relationships/font" Target="fonts/font214.fntdata"/><Relationship Id="rId346" Type="http://schemas.openxmlformats.org/officeDocument/2006/relationships/font" Target="fonts/font213.fntdata"/><Relationship Id="rId345" Type="http://schemas.openxmlformats.org/officeDocument/2006/relationships/font" Target="fonts/font212.fntdata"/><Relationship Id="rId344" Type="http://schemas.openxmlformats.org/officeDocument/2006/relationships/font" Target="fonts/font211.fntdata"/><Relationship Id="rId343" Type="http://schemas.openxmlformats.org/officeDocument/2006/relationships/font" Target="fonts/font210.fntdata"/><Relationship Id="rId342" Type="http://schemas.openxmlformats.org/officeDocument/2006/relationships/font" Target="fonts/font209.fntdata"/><Relationship Id="rId341" Type="http://schemas.openxmlformats.org/officeDocument/2006/relationships/font" Target="fonts/font208.fntdata"/><Relationship Id="rId340" Type="http://schemas.openxmlformats.org/officeDocument/2006/relationships/font" Target="fonts/font207.fntdata"/><Relationship Id="rId34" Type="http://schemas.openxmlformats.org/officeDocument/2006/relationships/slideMaster" Target="slideMasters/slideMaster33.xml"/><Relationship Id="rId339" Type="http://schemas.openxmlformats.org/officeDocument/2006/relationships/font" Target="fonts/font206.fntdata"/><Relationship Id="rId338" Type="http://schemas.openxmlformats.org/officeDocument/2006/relationships/font" Target="fonts/font205.fntdata"/><Relationship Id="rId337" Type="http://schemas.openxmlformats.org/officeDocument/2006/relationships/font" Target="fonts/font204.fntdata"/><Relationship Id="rId336" Type="http://schemas.openxmlformats.org/officeDocument/2006/relationships/font" Target="fonts/font203.fntdata"/><Relationship Id="rId335" Type="http://schemas.openxmlformats.org/officeDocument/2006/relationships/font" Target="fonts/font202.fntdata"/><Relationship Id="rId334" Type="http://schemas.openxmlformats.org/officeDocument/2006/relationships/font" Target="fonts/font201.fntdata"/><Relationship Id="rId333" Type="http://schemas.openxmlformats.org/officeDocument/2006/relationships/font" Target="fonts/font200.fntdata"/><Relationship Id="rId332" Type="http://schemas.openxmlformats.org/officeDocument/2006/relationships/font" Target="fonts/font199.fntdata"/><Relationship Id="rId331" Type="http://schemas.openxmlformats.org/officeDocument/2006/relationships/font" Target="fonts/font198.fntdata"/><Relationship Id="rId330" Type="http://schemas.openxmlformats.org/officeDocument/2006/relationships/font" Target="fonts/font197.fntdata"/><Relationship Id="rId33" Type="http://schemas.openxmlformats.org/officeDocument/2006/relationships/slideMaster" Target="slideMasters/slideMaster32.xml"/><Relationship Id="rId329" Type="http://schemas.openxmlformats.org/officeDocument/2006/relationships/font" Target="fonts/font196.fntdata"/><Relationship Id="rId328" Type="http://schemas.openxmlformats.org/officeDocument/2006/relationships/font" Target="fonts/font195.fntdata"/><Relationship Id="rId327" Type="http://schemas.openxmlformats.org/officeDocument/2006/relationships/font" Target="fonts/font194.fntdata"/><Relationship Id="rId326" Type="http://schemas.openxmlformats.org/officeDocument/2006/relationships/font" Target="fonts/font193.fntdata"/><Relationship Id="rId325" Type="http://schemas.openxmlformats.org/officeDocument/2006/relationships/font" Target="fonts/font192.fntdata"/><Relationship Id="rId324" Type="http://schemas.openxmlformats.org/officeDocument/2006/relationships/font" Target="fonts/font191.fntdata"/><Relationship Id="rId323" Type="http://schemas.openxmlformats.org/officeDocument/2006/relationships/font" Target="fonts/font190.fntdata"/><Relationship Id="rId322" Type="http://schemas.openxmlformats.org/officeDocument/2006/relationships/font" Target="fonts/font189.fntdata"/><Relationship Id="rId321" Type="http://schemas.openxmlformats.org/officeDocument/2006/relationships/font" Target="fonts/font188.fntdata"/><Relationship Id="rId320" Type="http://schemas.openxmlformats.org/officeDocument/2006/relationships/font" Target="fonts/font187.fntdata"/><Relationship Id="rId32" Type="http://schemas.openxmlformats.org/officeDocument/2006/relationships/slideMaster" Target="slideMasters/slideMaster31.xml"/><Relationship Id="rId319" Type="http://schemas.openxmlformats.org/officeDocument/2006/relationships/font" Target="fonts/font186.fntdata"/><Relationship Id="rId318" Type="http://schemas.openxmlformats.org/officeDocument/2006/relationships/font" Target="fonts/font185.fntdata"/><Relationship Id="rId317" Type="http://schemas.openxmlformats.org/officeDocument/2006/relationships/font" Target="fonts/font184.fntdata"/><Relationship Id="rId316" Type="http://schemas.openxmlformats.org/officeDocument/2006/relationships/font" Target="fonts/font183.fntdata"/><Relationship Id="rId315" Type="http://schemas.openxmlformats.org/officeDocument/2006/relationships/font" Target="fonts/font182.fntdata"/><Relationship Id="rId314" Type="http://schemas.openxmlformats.org/officeDocument/2006/relationships/font" Target="fonts/font181.fntdata"/><Relationship Id="rId313" Type="http://schemas.openxmlformats.org/officeDocument/2006/relationships/font" Target="fonts/font180.fntdata"/><Relationship Id="rId312" Type="http://schemas.openxmlformats.org/officeDocument/2006/relationships/font" Target="fonts/font179.fntdata"/><Relationship Id="rId311" Type="http://schemas.openxmlformats.org/officeDocument/2006/relationships/font" Target="fonts/font178.fntdata"/><Relationship Id="rId310" Type="http://schemas.openxmlformats.org/officeDocument/2006/relationships/font" Target="fonts/font177.fntdata"/><Relationship Id="rId31" Type="http://schemas.openxmlformats.org/officeDocument/2006/relationships/slideMaster" Target="slideMasters/slideMaster30.xml"/><Relationship Id="rId309" Type="http://schemas.openxmlformats.org/officeDocument/2006/relationships/font" Target="fonts/font176.fntdata"/><Relationship Id="rId308" Type="http://schemas.openxmlformats.org/officeDocument/2006/relationships/font" Target="fonts/font175.fntdata"/><Relationship Id="rId307" Type="http://schemas.openxmlformats.org/officeDocument/2006/relationships/font" Target="fonts/font174.fntdata"/><Relationship Id="rId306" Type="http://schemas.openxmlformats.org/officeDocument/2006/relationships/font" Target="fonts/font173.fntdata"/><Relationship Id="rId305" Type="http://schemas.openxmlformats.org/officeDocument/2006/relationships/font" Target="fonts/font172.fntdata"/><Relationship Id="rId304" Type="http://schemas.openxmlformats.org/officeDocument/2006/relationships/font" Target="fonts/font171.fntdata"/><Relationship Id="rId303" Type="http://schemas.openxmlformats.org/officeDocument/2006/relationships/font" Target="fonts/font170.fntdata"/><Relationship Id="rId302" Type="http://schemas.openxmlformats.org/officeDocument/2006/relationships/font" Target="fonts/font169.fntdata"/><Relationship Id="rId301" Type="http://schemas.openxmlformats.org/officeDocument/2006/relationships/font" Target="fonts/font168.fntdata"/><Relationship Id="rId300" Type="http://schemas.openxmlformats.org/officeDocument/2006/relationships/font" Target="fonts/font167.fntdata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9" Type="http://schemas.openxmlformats.org/officeDocument/2006/relationships/font" Target="fonts/font166.fntdata"/><Relationship Id="rId298" Type="http://schemas.openxmlformats.org/officeDocument/2006/relationships/font" Target="fonts/font165.fntdata"/><Relationship Id="rId297" Type="http://schemas.openxmlformats.org/officeDocument/2006/relationships/font" Target="fonts/font164.fntdata"/><Relationship Id="rId296" Type="http://schemas.openxmlformats.org/officeDocument/2006/relationships/font" Target="fonts/font163.fntdata"/><Relationship Id="rId295" Type="http://schemas.openxmlformats.org/officeDocument/2006/relationships/font" Target="fonts/font162.fntdata"/><Relationship Id="rId294" Type="http://schemas.openxmlformats.org/officeDocument/2006/relationships/font" Target="fonts/font161.fntdata"/><Relationship Id="rId293" Type="http://schemas.openxmlformats.org/officeDocument/2006/relationships/font" Target="fonts/font160.fntdata"/><Relationship Id="rId292" Type="http://schemas.openxmlformats.org/officeDocument/2006/relationships/font" Target="fonts/font159.fntdata"/><Relationship Id="rId291" Type="http://schemas.openxmlformats.org/officeDocument/2006/relationships/font" Target="fonts/font158.fntdata"/><Relationship Id="rId290" Type="http://schemas.openxmlformats.org/officeDocument/2006/relationships/font" Target="fonts/font157.fntdata"/><Relationship Id="rId29" Type="http://schemas.openxmlformats.org/officeDocument/2006/relationships/slideMaster" Target="slideMasters/slideMaster28.xml"/><Relationship Id="rId289" Type="http://schemas.openxmlformats.org/officeDocument/2006/relationships/font" Target="fonts/font156.fntdata"/><Relationship Id="rId288" Type="http://schemas.openxmlformats.org/officeDocument/2006/relationships/font" Target="fonts/font155.fntdata"/><Relationship Id="rId287" Type="http://schemas.openxmlformats.org/officeDocument/2006/relationships/font" Target="fonts/font154.fntdata"/><Relationship Id="rId286" Type="http://schemas.openxmlformats.org/officeDocument/2006/relationships/font" Target="fonts/font153.fntdata"/><Relationship Id="rId285" Type="http://schemas.openxmlformats.org/officeDocument/2006/relationships/font" Target="fonts/font152.fntdata"/><Relationship Id="rId284" Type="http://schemas.openxmlformats.org/officeDocument/2006/relationships/font" Target="fonts/font151.fntdata"/><Relationship Id="rId283" Type="http://schemas.openxmlformats.org/officeDocument/2006/relationships/font" Target="fonts/font150.fntdata"/><Relationship Id="rId282" Type="http://schemas.openxmlformats.org/officeDocument/2006/relationships/font" Target="fonts/font149.fntdata"/><Relationship Id="rId281" Type="http://schemas.openxmlformats.org/officeDocument/2006/relationships/font" Target="fonts/font148.fntdata"/><Relationship Id="rId280" Type="http://schemas.openxmlformats.org/officeDocument/2006/relationships/font" Target="fonts/font147.fntdata"/><Relationship Id="rId28" Type="http://schemas.openxmlformats.org/officeDocument/2006/relationships/slideMaster" Target="slideMasters/slideMaster27.xml"/><Relationship Id="rId279" Type="http://schemas.openxmlformats.org/officeDocument/2006/relationships/font" Target="fonts/font146.fntdata"/><Relationship Id="rId278" Type="http://schemas.openxmlformats.org/officeDocument/2006/relationships/font" Target="fonts/font145.fntdata"/><Relationship Id="rId277" Type="http://schemas.openxmlformats.org/officeDocument/2006/relationships/font" Target="fonts/font144.fntdata"/><Relationship Id="rId276" Type="http://schemas.openxmlformats.org/officeDocument/2006/relationships/font" Target="fonts/font143.fntdata"/><Relationship Id="rId275" Type="http://schemas.openxmlformats.org/officeDocument/2006/relationships/font" Target="fonts/font142.fntdata"/><Relationship Id="rId274" Type="http://schemas.openxmlformats.org/officeDocument/2006/relationships/font" Target="fonts/font141.fntdata"/><Relationship Id="rId273" Type="http://schemas.openxmlformats.org/officeDocument/2006/relationships/font" Target="fonts/font140.fntdata"/><Relationship Id="rId272" Type="http://schemas.openxmlformats.org/officeDocument/2006/relationships/font" Target="fonts/font139.fntdata"/><Relationship Id="rId271" Type="http://schemas.openxmlformats.org/officeDocument/2006/relationships/font" Target="fonts/font138.fntdata"/><Relationship Id="rId270" Type="http://schemas.openxmlformats.org/officeDocument/2006/relationships/font" Target="fonts/font137.fntdata"/><Relationship Id="rId27" Type="http://schemas.openxmlformats.org/officeDocument/2006/relationships/slideMaster" Target="slideMasters/slideMaster26.xml"/><Relationship Id="rId269" Type="http://schemas.openxmlformats.org/officeDocument/2006/relationships/font" Target="fonts/font136.fntdata"/><Relationship Id="rId268" Type="http://schemas.openxmlformats.org/officeDocument/2006/relationships/font" Target="fonts/font135.fntdata"/><Relationship Id="rId267" Type="http://schemas.openxmlformats.org/officeDocument/2006/relationships/font" Target="fonts/font134.fntdata"/><Relationship Id="rId266" Type="http://schemas.openxmlformats.org/officeDocument/2006/relationships/font" Target="fonts/font133.fntdata"/><Relationship Id="rId265" Type="http://schemas.openxmlformats.org/officeDocument/2006/relationships/font" Target="fonts/font132.fntdata"/><Relationship Id="rId264" Type="http://schemas.openxmlformats.org/officeDocument/2006/relationships/font" Target="fonts/font131.fntdata"/><Relationship Id="rId263" Type="http://schemas.openxmlformats.org/officeDocument/2006/relationships/font" Target="fonts/font130.fntdata"/><Relationship Id="rId262" Type="http://schemas.openxmlformats.org/officeDocument/2006/relationships/font" Target="fonts/font129.fntdata"/><Relationship Id="rId261" Type="http://schemas.openxmlformats.org/officeDocument/2006/relationships/font" Target="fonts/font128.fntdata"/><Relationship Id="rId260" Type="http://schemas.openxmlformats.org/officeDocument/2006/relationships/font" Target="fonts/font127.fntdata"/><Relationship Id="rId26" Type="http://schemas.openxmlformats.org/officeDocument/2006/relationships/slideMaster" Target="slideMasters/slideMaster25.xml"/><Relationship Id="rId259" Type="http://schemas.openxmlformats.org/officeDocument/2006/relationships/font" Target="fonts/font126.fntdata"/><Relationship Id="rId258" Type="http://schemas.openxmlformats.org/officeDocument/2006/relationships/font" Target="fonts/font125.fntdata"/><Relationship Id="rId257" Type="http://schemas.openxmlformats.org/officeDocument/2006/relationships/font" Target="fonts/font124.fntdata"/><Relationship Id="rId256" Type="http://schemas.openxmlformats.org/officeDocument/2006/relationships/font" Target="fonts/font123.fntdata"/><Relationship Id="rId255" Type="http://schemas.openxmlformats.org/officeDocument/2006/relationships/font" Target="fonts/font122.fntdata"/><Relationship Id="rId254" Type="http://schemas.openxmlformats.org/officeDocument/2006/relationships/font" Target="fonts/font121.fntdata"/><Relationship Id="rId253" Type="http://schemas.openxmlformats.org/officeDocument/2006/relationships/font" Target="fonts/font120.fntdata"/><Relationship Id="rId252" Type="http://schemas.openxmlformats.org/officeDocument/2006/relationships/font" Target="fonts/font119.fntdata"/><Relationship Id="rId251" Type="http://schemas.openxmlformats.org/officeDocument/2006/relationships/font" Target="fonts/font118.fntdata"/><Relationship Id="rId250" Type="http://schemas.openxmlformats.org/officeDocument/2006/relationships/font" Target="fonts/font117.fntdata"/><Relationship Id="rId25" Type="http://schemas.openxmlformats.org/officeDocument/2006/relationships/slideMaster" Target="slideMasters/slideMaster24.xml"/><Relationship Id="rId249" Type="http://schemas.openxmlformats.org/officeDocument/2006/relationships/font" Target="fonts/font116.fntdata"/><Relationship Id="rId248" Type="http://schemas.openxmlformats.org/officeDocument/2006/relationships/font" Target="fonts/font115.fntdata"/><Relationship Id="rId247" Type="http://schemas.openxmlformats.org/officeDocument/2006/relationships/font" Target="fonts/font114.fntdata"/><Relationship Id="rId246" Type="http://schemas.openxmlformats.org/officeDocument/2006/relationships/font" Target="fonts/font113.fntdata"/><Relationship Id="rId245" Type="http://schemas.openxmlformats.org/officeDocument/2006/relationships/font" Target="fonts/font112.fntdata"/><Relationship Id="rId244" Type="http://schemas.openxmlformats.org/officeDocument/2006/relationships/font" Target="fonts/font111.fntdata"/><Relationship Id="rId243" Type="http://schemas.openxmlformats.org/officeDocument/2006/relationships/font" Target="fonts/font110.fntdata"/><Relationship Id="rId242" Type="http://schemas.openxmlformats.org/officeDocument/2006/relationships/font" Target="fonts/font109.fntdata"/><Relationship Id="rId241" Type="http://schemas.openxmlformats.org/officeDocument/2006/relationships/font" Target="fonts/font108.fntdata"/><Relationship Id="rId240" Type="http://schemas.openxmlformats.org/officeDocument/2006/relationships/font" Target="fonts/font107.fntdata"/><Relationship Id="rId24" Type="http://schemas.openxmlformats.org/officeDocument/2006/relationships/slideMaster" Target="slideMasters/slideMaster23.xml"/><Relationship Id="rId239" Type="http://schemas.openxmlformats.org/officeDocument/2006/relationships/font" Target="fonts/font106.fntdata"/><Relationship Id="rId238" Type="http://schemas.openxmlformats.org/officeDocument/2006/relationships/font" Target="fonts/font105.fntdata"/><Relationship Id="rId237" Type="http://schemas.openxmlformats.org/officeDocument/2006/relationships/font" Target="fonts/font104.fntdata"/><Relationship Id="rId236" Type="http://schemas.openxmlformats.org/officeDocument/2006/relationships/font" Target="fonts/font103.fntdata"/><Relationship Id="rId235" Type="http://schemas.openxmlformats.org/officeDocument/2006/relationships/font" Target="fonts/font102.fntdata"/><Relationship Id="rId234" Type="http://schemas.openxmlformats.org/officeDocument/2006/relationships/font" Target="fonts/font101.fntdata"/><Relationship Id="rId233" Type="http://schemas.openxmlformats.org/officeDocument/2006/relationships/font" Target="fonts/font100.fntdata"/><Relationship Id="rId232" Type="http://schemas.openxmlformats.org/officeDocument/2006/relationships/font" Target="fonts/font99.fntdata"/><Relationship Id="rId231" Type="http://schemas.openxmlformats.org/officeDocument/2006/relationships/font" Target="fonts/font98.fntdata"/><Relationship Id="rId230" Type="http://schemas.openxmlformats.org/officeDocument/2006/relationships/font" Target="fonts/font97.fntdata"/><Relationship Id="rId23" Type="http://schemas.openxmlformats.org/officeDocument/2006/relationships/slideMaster" Target="slideMasters/slideMaster22.xml"/><Relationship Id="rId229" Type="http://schemas.openxmlformats.org/officeDocument/2006/relationships/font" Target="fonts/font96.fntdata"/><Relationship Id="rId228" Type="http://schemas.openxmlformats.org/officeDocument/2006/relationships/font" Target="fonts/font95.fntdata"/><Relationship Id="rId227" Type="http://schemas.openxmlformats.org/officeDocument/2006/relationships/font" Target="fonts/font94.fntdata"/><Relationship Id="rId226" Type="http://schemas.openxmlformats.org/officeDocument/2006/relationships/font" Target="fonts/font93.fntdata"/><Relationship Id="rId225" Type="http://schemas.openxmlformats.org/officeDocument/2006/relationships/font" Target="fonts/font92.fntdata"/><Relationship Id="rId224" Type="http://schemas.openxmlformats.org/officeDocument/2006/relationships/font" Target="fonts/font91.fntdata"/><Relationship Id="rId223" Type="http://schemas.openxmlformats.org/officeDocument/2006/relationships/font" Target="fonts/font90.fntdata"/><Relationship Id="rId222" Type="http://schemas.openxmlformats.org/officeDocument/2006/relationships/font" Target="fonts/font89.fntdata"/><Relationship Id="rId221" Type="http://schemas.openxmlformats.org/officeDocument/2006/relationships/font" Target="fonts/font88.fntdata"/><Relationship Id="rId220" Type="http://schemas.openxmlformats.org/officeDocument/2006/relationships/font" Target="fonts/font87.fntdata"/><Relationship Id="rId22" Type="http://schemas.openxmlformats.org/officeDocument/2006/relationships/slideMaster" Target="slideMasters/slideMaster21.xml"/><Relationship Id="rId219" Type="http://schemas.openxmlformats.org/officeDocument/2006/relationships/font" Target="fonts/font86.fntdata"/><Relationship Id="rId218" Type="http://schemas.openxmlformats.org/officeDocument/2006/relationships/font" Target="fonts/font85.fntdata"/><Relationship Id="rId217" Type="http://schemas.openxmlformats.org/officeDocument/2006/relationships/font" Target="fonts/font84.fntdata"/><Relationship Id="rId216" Type="http://schemas.openxmlformats.org/officeDocument/2006/relationships/font" Target="fonts/font83.fntdata"/><Relationship Id="rId215" Type="http://schemas.openxmlformats.org/officeDocument/2006/relationships/font" Target="fonts/font82.fntdata"/><Relationship Id="rId214" Type="http://schemas.openxmlformats.org/officeDocument/2006/relationships/font" Target="fonts/font81.fntdata"/><Relationship Id="rId213" Type="http://schemas.openxmlformats.org/officeDocument/2006/relationships/font" Target="fonts/font80.fntdata"/><Relationship Id="rId212" Type="http://schemas.openxmlformats.org/officeDocument/2006/relationships/font" Target="fonts/font79.fntdata"/><Relationship Id="rId211" Type="http://schemas.openxmlformats.org/officeDocument/2006/relationships/font" Target="fonts/font78.fntdata"/><Relationship Id="rId210" Type="http://schemas.openxmlformats.org/officeDocument/2006/relationships/font" Target="fonts/font77.fntdata"/><Relationship Id="rId21" Type="http://schemas.openxmlformats.org/officeDocument/2006/relationships/slideMaster" Target="slideMasters/slideMaster20.xml"/><Relationship Id="rId209" Type="http://schemas.openxmlformats.org/officeDocument/2006/relationships/font" Target="fonts/font76.fntdata"/><Relationship Id="rId208" Type="http://schemas.openxmlformats.org/officeDocument/2006/relationships/font" Target="fonts/font75.fntdata"/><Relationship Id="rId207" Type="http://schemas.openxmlformats.org/officeDocument/2006/relationships/font" Target="fonts/font74.fntdata"/><Relationship Id="rId206" Type="http://schemas.openxmlformats.org/officeDocument/2006/relationships/font" Target="fonts/font73.fntdata"/><Relationship Id="rId205" Type="http://schemas.openxmlformats.org/officeDocument/2006/relationships/font" Target="fonts/font72.fntdata"/><Relationship Id="rId204" Type="http://schemas.openxmlformats.org/officeDocument/2006/relationships/font" Target="fonts/font71.fntdata"/><Relationship Id="rId203" Type="http://schemas.openxmlformats.org/officeDocument/2006/relationships/font" Target="fonts/font70.fntdata"/><Relationship Id="rId202" Type="http://schemas.openxmlformats.org/officeDocument/2006/relationships/font" Target="fonts/font69.fntdata"/><Relationship Id="rId201" Type="http://schemas.openxmlformats.org/officeDocument/2006/relationships/font" Target="fonts/font68.fntdata"/><Relationship Id="rId200" Type="http://schemas.openxmlformats.org/officeDocument/2006/relationships/font" Target="fonts/font67.fntdata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9" Type="http://schemas.openxmlformats.org/officeDocument/2006/relationships/font" Target="fonts/font66.fntdata"/><Relationship Id="rId198" Type="http://schemas.openxmlformats.org/officeDocument/2006/relationships/font" Target="fonts/font65.fntdata"/><Relationship Id="rId197" Type="http://schemas.openxmlformats.org/officeDocument/2006/relationships/font" Target="fonts/font64.fntdata"/><Relationship Id="rId196" Type="http://schemas.openxmlformats.org/officeDocument/2006/relationships/font" Target="fonts/font63.fntdata"/><Relationship Id="rId195" Type="http://schemas.openxmlformats.org/officeDocument/2006/relationships/font" Target="fonts/font62.fntdata"/><Relationship Id="rId194" Type="http://schemas.openxmlformats.org/officeDocument/2006/relationships/font" Target="fonts/font61.fntdata"/><Relationship Id="rId193" Type="http://schemas.openxmlformats.org/officeDocument/2006/relationships/font" Target="fonts/font60.fntdata"/><Relationship Id="rId192" Type="http://schemas.openxmlformats.org/officeDocument/2006/relationships/font" Target="fonts/font59.fntdata"/><Relationship Id="rId191" Type="http://schemas.openxmlformats.org/officeDocument/2006/relationships/font" Target="fonts/font58.fntdata"/><Relationship Id="rId190" Type="http://schemas.openxmlformats.org/officeDocument/2006/relationships/font" Target="fonts/font57.fntdata"/><Relationship Id="rId19" Type="http://schemas.openxmlformats.org/officeDocument/2006/relationships/slideMaster" Target="slideMasters/slideMaster18.xml"/><Relationship Id="rId189" Type="http://schemas.openxmlformats.org/officeDocument/2006/relationships/font" Target="fonts/font56.fntdata"/><Relationship Id="rId188" Type="http://schemas.openxmlformats.org/officeDocument/2006/relationships/font" Target="fonts/font55.fntdata"/><Relationship Id="rId187" Type="http://schemas.openxmlformats.org/officeDocument/2006/relationships/font" Target="fonts/font54.fntdata"/><Relationship Id="rId186" Type="http://schemas.openxmlformats.org/officeDocument/2006/relationships/font" Target="fonts/font53.fntdata"/><Relationship Id="rId185" Type="http://schemas.openxmlformats.org/officeDocument/2006/relationships/font" Target="fonts/font52.fntdata"/><Relationship Id="rId184" Type="http://schemas.openxmlformats.org/officeDocument/2006/relationships/font" Target="fonts/font51.fntdata"/><Relationship Id="rId183" Type="http://schemas.openxmlformats.org/officeDocument/2006/relationships/font" Target="fonts/font50.fntdata"/><Relationship Id="rId182" Type="http://schemas.openxmlformats.org/officeDocument/2006/relationships/font" Target="fonts/font49.fntdata"/><Relationship Id="rId181" Type="http://schemas.openxmlformats.org/officeDocument/2006/relationships/font" Target="fonts/font48.fntdata"/><Relationship Id="rId180" Type="http://schemas.openxmlformats.org/officeDocument/2006/relationships/font" Target="fonts/font47.fntdata"/><Relationship Id="rId18" Type="http://schemas.openxmlformats.org/officeDocument/2006/relationships/slideMaster" Target="slideMasters/slideMaster17.xml"/><Relationship Id="rId179" Type="http://schemas.openxmlformats.org/officeDocument/2006/relationships/font" Target="fonts/font46.fntdata"/><Relationship Id="rId178" Type="http://schemas.openxmlformats.org/officeDocument/2006/relationships/font" Target="fonts/font45.fntdata"/><Relationship Id="rId177" Type="http://schemas.openxmlformats.org/officeDocument/2006/relationships/font" Target="fonts/font44.fntdata"/><Relationship Id="rId176" Type="http://schemas.openxmlformats.org/officeDocument/2006/relationships/font" Target="fonts/font43.fntdata"/><Relationship Id="rId175" Type="http://schemas.openxmlformats.org/officeDocument/2006/relationships/font" Target="fonts/font42.fntdata"/><Relationship Id="rId174" Type="http://schemas.openxmlformats.org/officeDocument/2006/relationships/font" Target="fonts/font41.fntdata"/><Relationship Id="rId173" Type="http://schemas.openxmlformats.org/officeDocument/2006/relationships/font" Target="fonts/font40.fntdata"/><Relationship Id="rId172" Type="http://schemas.openxmlformats.org/officeDocument/2006/relationships/font" Target="fonts/font39.fntdata"/><Relationship Id="rId171" Type="http://schemas.openxmlformats.org/officeDocument/2006/relationships/font" Target="fonts/font38.fntdata"/><Relationship Id="rId170" Type="http://schemas.openxmlformats.org/officeDocument/2006/relationships/font" Target="fonts/font37.fntdata"/><Relationship Id="rId17" Type="http://schemas.openxmlformats.org/officeDocument/2006/relationships/slideMaster" Target="slideMasters/slideMaster16.xml"/><Relationship Id="rId169" Type="http://schemas.openxmlformats.org/officeDocument/2006/relationships/font" Target="fonts/font36.fntdata"/><Relationship Id="rId168" Type="http://schemas.openxmlformats.org/officeDocument/2006/relationships/font" Target="fonts/font35.fntdata"/><Relationship Id="rId167" Type="http://schemas.openxmlformats.org/officeDocument/2006/relationships/font" Target="fonts/font34.fntdata"/><Relationship Id="rId166" Type="http://schemas.openxmlformats.org/officeDocument/2006/relationships/font" Target="fonts/font33.fntdata"/><Relationship Id="rId165" Type="http://schemas.openxmlformats.org/officeDocument/2006/relationships/font" Target="fonts/font32.fntdata"/><Relationship Id="rId164" Type="http://schemas.openxmlformats.org/officeDocument/2006/relationships/font" Target="fonts/font31.fntdata"/><Relationship Id="rId163" Type="http://schemas.openxmlformats.org/officeDocument/2006/relationships/font" Target="fonts/font30.fntdata"/><Relationship Id="rId162" Type="http://schemas.openxmlformats.org/officeDocument/2006/relationships/font" Target="fonts/font29.fntdata"/><Relationship Id="rId161" Type="http://schemas.openxmlformats.org/officeDocument/2006/relationships/font" Target="fonts/font28.fntdata"/><Relationship Id="rId160" Type="http://schemas.openxmlformats.org/officeDocument/2006/relationships/font" Target="fonts/font27.fntdata"/><Relationship Id="rId16" Type="http://schemas.openxmlformats.org/officeDocument/2006/relationships/slideMaster" Target="slideMasters/slideMaster15.xml"/><Relationship Id="rId159" Type="http://schemas.openxmlformats.org/officeDocument/2006/relationships/font" Target="fonts/font26.fntdata"/><Relationship Id="rId158" Type="http://schemas.openxmlformats.org/officeDocument/2006/relationships/font" Target="fonts/font25.fntdata"/><Relationship Id="rId157" Type="http://schemas.openxmlformats.org/officeDocument/2006/relationships/font" Target="fonts/font24.fntdata"/><Relationship Id="rId156" Type="http://schemas.openxmlformats.org/officeDocument/2006/relationships/font" Target="fonts/font23.fntdata"/><Relationship Id="rId155" Type="http://schemas.openxmlformats.org/officeDocument/2006/relationships/font" Target="fonts/font22.fntdata"/><Relationship Id="rId154" Type="http://schemas.openxmlformats.org/officeDocument/2006/relationships/font" Target="fonts/font21.fntdata"/><Relationship Id="rId153" Type="http://schemas.openxmlformats.org/officeDocument/2006/relationships/font" Target="fonts/font20.fntdata"/><Relationship Id="rId152" Type="http://schemas.openxmlformats.org/officeDocument/2006/relationships/font" Target="fonts/font19.fntdata"/><Relationship Id="rId151" Type="http://schemas.openxmlformats.org/officeDocument/2006/relationships/font" Target="fonts/font18.fntdata"/><Relationship Id="rId150" Type="http://schemas.openxmlformats.org/officeDocument/2006/relationships/font" Target="fonts/font17.fntdata"/><Relationship Id="rId15" Type="http://schemas.openxmlformats.org/officeDocument/2006/relationships/slideMaster" Target="slideMasters/slideMaster14.xml"/><Relationship Id="rId149" Type="http://schemas.openxmlformats.org/officeDocument/2006/relationships/font" Target="fonts/font16.fntdata"/><Relationship Id="rId148" Type="http://schemas.openxmlformats.org/officeDocument/2006/relationships/font" Target="fonts/font15.fntdata"/><Relationship Id="rId147" Type="http://schemas.openxmlformats.org/officeDocument/2006/relationships/font" Target="fonts/font14.fntdata"/><Relationship Id="rId146" Type="http://schemas.openxmlformats.org/officeDocument/2006/relationships/font" Target="fonts/font13.fntdata"/><Relationship Id="rId145" Type="http://schemas.openxmlformats.org/officeDocument/2006/relationships/font" Target="fonts/font12.fntdata"/><Relationship Id="rId144" Type="http://schemas.openxmlformats.org/officeDocument/2006/relationships/font" Target="fonts/font11.fntdata"/><Relationship Id="rId143" Type="http://schemas.openxmlformats.org/officeDocument/2006/relationships/font" Target="fonts/font10.fntdata"/><Relationship Id="rId142" Type="http://schemas.openxmlformats.org/officeDocument/2006/relationships/font" Target="fonts/font9.fntdata"/><Relationship Id="rId141" Type="http://schemas.openxmlformats.org/officeDocument/2006/relationships/font" Target="fonts/font8.fntdata"/><Relationship Id="rId140" Type="http://schemas.openxmlformats.org/officeDocument/2006/relationships/font" Target="fonts/font7.fntdata"/><Relationship Id="rId14" Type="http://schemas.openxmlformats.org/officeDocument/2006/relationships/slideMaster" Target="slideMasters/slideMaster13.xml"/><Relationship Id="rId139" Type="http://schemas.openxmlformats.org/officeDocument/2006/relationships/font" Target="fonts/font6.fntdata"/><Relationship Id="rId138" Type="http://schemas.openxmlformats.org/officeDocument/2006/relationships/font" Target="fonts/font5.fntdata"/><Relationship Id="rId137" Type="http://schemas.openxmlformats.org/officeDocument/2006/relationships/font" Target="fonts/font4.fntdata"/><Relationship Id="rId136" Type="http://schemas.openxmlformats.org/officeDocument/2006/relationships/font" Target="fonts/font3.fntdata"/><Relationship Id="rId135" Type="http://schemas.openxmlformats.org/officeDocument/2006/relationships/font" Target="fonts/font2.fntdata"/><Relationship Id="rId134" Type="http://schemas.openxmlformats.org/officeDocument/2006/relationships/font" Target="fonts/font1.fntdata"/><Relationship Id="rId133" Type="http://schemas.openxmlformats.org/officeDocument/2006/relationships/tableStyles" Target="tableStyles.xml"/><Relationship Id="rId132" Type="http://schemas.openxmlformats.org/officeDocument/2006/relationships/viewProps" Target="viewProps.xml"/><Relationship Id="rId131" Type="http://schemas.openxmlformats.org/officeDocument/2006/relationships/presProps" Target="presProps.xml"/><Relationship Id="rId130" Type="http://schemas.openxmlformats.org/officeDocument/2006/relationships/slide" Target="slides/slide64.xml"/><Relationship Id="rId13" Type="http://schemas.openxmlformats.org/officeDocument/2006/relationships/slideMaster" Target="slideMasters/slideMaster12.xml"/><Relationship Id="rId129" Type="http://schemas.openxmlformats.org/officeDocument/2006/relationships/slide" Target="slides/slide63.xml"/><Relationship Id="rId128" Type="http://schemas.openxmlformats.org/officeDocument/2006/relationships/slide" Target="slides/slide62.xml"/><Relationship Id="rId127" Type="http://schemas.openxmlformats.org/officeDocument/2006/relationships/slide" Target="slides/slide61.xml"/><Relationship Id="rId126" Type="http://schemas.openxmlformats.org/officeDocument/2006/relationships/slide" Target="slides/slide60.xml"/><Relationship Id="rId125" Type="http://schemas.openxmlformats.org/officeDocument/2006/relationships/slide" Target="slides/slide59.xml"/><Relationship Id="rId124" Type="http://schemas.openxmlformats.org/officeDocument/2006/relationships/slide" Target="slides/slide58.xml"/><Relationship Id="rId123" Type="http://schemas.openxmlformats.org/officeDocument/2006/relationships/slide" Target="slides/slide57.xml"/><Relationship Id="rId122" Type="http://schemas.openxmlformats.org/officeDocument/2006/relationships/slide" Target="slides/slide56.xml"/><Relationship Id="rId121" Type="http://schemas.openxmlformats.org/officeDocument/2006/relationships/slide" Target="slides/slide55.xml"/><Relationship Id="rId120" Type="http://schemas.openxmlformats.org/officeDocument/2006/relationships/slide" Target="slides/slide54.xml"/><Relationship Id="rId12" Type="http://schemas.openxmlformats.org/officeDocument/2006/relationships/slideMaster" Target="slideMasters/slideMaster11.xml"/><Relationship Id="rId119" Type="http://schemas.openxmlformats.org/officeDocument/2006/relationships/slide" Target="slides/slide53.xml"/><Relationship Id="rId118" Type="http://schemas.openxmlformats.org/officeDocument/2006/relationships/slide" Target="slides/slide52.xml"/><Relationship Id="rId117" Type="http://schemas.openxmlformats.org/officeDocument/2006/relationships/slide" Target="slides/slide51.xml"/><Relationship Id="rId116" Type="http://schemas.openxmlformats.org/officeDocument/2006/relationships/slide" Target="slides/slide50.xml"/><Relationship Id="rId115" Type="http://schemas.openxmlformats.org/officeDocument/2006/relationships/slide" Target="slides/slide49.xml"/><Relationship Id="rId114" Type="http://schemas.openxmlformats.org/officeDocument/2006/relationships/slide" Target="slides/slide48.xml"/><Relationship Id="rId113" Type="http://schemas.openxmlformats.org/officeDocument/2006/relationships/slide" Target="slides/slide47.xml"/><Relationship Id="rId112" Type="http://schemas.openxmlformats.org/officeDocument/2006/relationships/slide" Target="slides/slide46.xml"/><Relationship Id="rId111" Type="http://schemas.openxmlformats.org/officeDocument/2006/relationships/slide" Target="slides/slide45.xml"/><Relationship Id="rId110" Type="http://schemas.openxmlformats.org/officeDocument/2006/relationships/slide" Target="slides/slide44.xml"/><Relationship Id="rId11" Type="http://schemas.openxmlformats.org/officeDocument/2006/relationships/slideMaster" Target="slideMasters/slideMaster10.xml"/><Relationship Id="rId109" Type="http://schemas.openxmlformats.org/officeDocument/2006/relationships/slide" Target="slides/slide43.xml"/><Relationship Id="rId108" Type="http://schemas.openxmlformats.org/officeDocument/2006/relationships/slide" Target="slides/slide42.xml"/><Relationship Id="rId107" Type="http://schemas.openxmlformats.org/officeDocument/2006/relationships/slide" Target="slides/slide41.xml"/><Relationship Id="rId106" Type="http://schemas.openxmlformats.org/officeDocument/2006/relationships/slide" Target="slides/slide40.xml"/><Relationship Id="rId105" Type="http://schemas.openxmlformats.org/officeDocument/2006/relationships/slide" Target="slides/slide39.xml"/><Relationship Id="rId104" Type="http://schemas.openxmlformats.org/officeDocument/2006/relationships/slide" Target="slides/slide38.xml"/><Relationship Id="rId103" Type="http://schemas.openxmlformats.org/officeDocument/2006/relationships/slide" Target="slides/slide37.xml"/><Relationship Id="rId102" Type="http://schemas.openxmlformats.org/officeDocument/2006/relationships/slide" Target="slides/slide36.xml"/><Relationship Id="rId101" Type="http://schemas.openxmlformats.org/officeDocument/2006/relationships/slide" Target="slides/slide35.xml"/><Relationship Id="rId100" Type="http://schemas.openxmlformats.org/officeDocument/2006/relationships/slide" Target="slides/slide34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225306" cy="3133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9444619" y="0"/>
            <a:ext cx="7225306" cy="3133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463509" y="780576"/>
            <a:ext cx="3746765" cy="210755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667378" y="3005217"/>
            <a:ext cx="13339026" cy="24588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5931293"/>
            <a:ext cx="7225306" cy="3133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9444619" y="5931293"/>
            <a:ext cx="7225306" cy="3133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512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512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02005" y="2347413"/>
            <a:ext cx="9089390" cy="161975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04010" y="4282017"/>
            <a:ext cx="7485380" cy="1931106"/>
          </a:xfrm>
        </p:spPr>
        <p:txBody>
          <a:bodyPr/>
          <a:lstStyle>
            <a:lvl1pPr marL="0" indent="0" algn="ctr">
              <a:buNone/>
              <a:defRPr/>
            </a:lvl1pPr>
            <a:lvl2pPr marL="503555" indent="0" algn="ctr">
              <a:buNone/>
              <a:defRPr/>
            </a:lvl2pPr>
            <a:lvl3pPr marL="1007745" indent="0" algn="ctr">
              <a:buNone/>
              <a:defRPr/>
            </a:lvl3pPr>
            <a:lvl4pPr marL="1511300" indent="0" algn="ctr">
              <a:buNone/>
              <a:defRPr/>
            </a:lvl4pPr>
            <a:lvl5pPr marL="2014855" indent="0" algn="ctr">
              <a:buNone/>
              <a:defRPr/>
            </a:lvl5pPr>
            <a:lvl6pPr marL="2519045" indent="0" algn="ctr">
              <a:buNone/>
              <a:defRPr/>
            </a:lvl6pPr>
            <a:lvl7pPr marL="3022600" indent="0" algn="ctr">
              <a:buNone/>
              <a:defRPr/>
            </a:lvl7pPr>
            <a:lvl8pPr marL="3526155" indent="0" algn="ctr">
              <a:buNone/>
              <a:defRPr/>
            </a:lvl8pPr>
            <a:lvl9pPr marL="4030345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2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3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4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5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6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7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8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9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20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1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2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3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4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5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6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7.xml"/></Relationships>
</file>

<file path=ppt/slideMasters/_rels/slideMaster27.xml.rels><?xml version="1.0" encoding="UTF-8" standalone="yes"?>
<Relationships xmlns="http://schemas.openxmlformats.org/package/2006/relationships"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8.xml"/></Relationships>
</file>

<file path=ppt/slideMasters/_rels/slideMaster28.xml.rels><?xml version="1.0" encoding="UTF-8" standalone="yes"?>
<Relationships xmlns="http://schemas.openxmlformats.org/package/2006/relationships"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9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30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1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2.xml"/></Relationships>
</file>

<file path=ppt/slideMasters/_rels/slideMaster32.xml.rels><?xml version="1.0" encoding="UTF-8" standalone="yes"?>
<Relationships xmlns="http://schemas.openxmlformats.org/package/2006/relationships"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33.xml"/></Relationships>
</file>

<file path=ppt/slideMasters/_rels/slideMaster3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3.xml"/><Relationship Id="rId1" Type="http://schemas.openxmlformats.org/officeDocument/2006/relationships/slideLayout" Target="../slideLayouts/slideLayout34.xml"/></Relationships>
</file>

<file path=ppt/slideMasters/_rels/slideMaster34.xml.rels><?xml version="1.0" encoding="UTF-8" standalone="yes"?>
<Relationships xmlns="http://schemas.openxmlformats.org/package/2006/relationships"><Relationship Id="rId2" Type="http://schemas.openxmlformats.org/officeDocument/2006/relationships/theme" Target="../theme/theme34.xml"/><Relationship Id="rId1" Type="http://schemas.openxmlformats.org/officeDocument/2006/relationships/slideLayout" Target="../slideLayouts/slideLayout35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6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7.xml"/></Relationships>
</file>

<file path=ppt/slideMasters/_rels/slideMaster37.xml.rels><?xml version="1.0" encoding="UTF-8" standalone="yes"?>
<Relationships xmlns="http://schemas.openxmlformats.org/package/2006/relationships"><Relationship Id="rId2" Type="http://schemas.openxmlformats.org/officeDocument/2006/relationships/theme" Target="../theme/theme37.xml"/><Relationship Id="rId1" Type="http://schemas.openxmlformats.org/officeDocument/2006/relationships/slideLayout" Target="../slideLayouts/slideLayout38.xml"/></Relationships>
</file>

<file path=ppt/slideMasters/_rels/slideMaster38.xml.rels><?xml version="1.0" encoding="UTF-8" standalone="yes"?>
<Relationships xmlns="http://schemas.openxmlformats.org/package/2006/relationships"><Relationship Id="rId2" Type="http://schemas.openxmlformats.org/officeDocument/2006/relationships/theme" Target="../theme/theme38.xml"/><Relationship Id="rId1" Type="http://schemas.openxmlformats.org/officeDocument/2006/relationships/slideLayout" Target="../slideLayouts/slideLayout39.xml"/></Relationships>
</file>

<file path=ppt/slideMasters/_rels/slideMaster39.xml.rels><?xml version="1.0" encoding="UTF-8" standalone="yes"?>
<Relationships xmlns="http://schemas.openxmlformats.org/package/2006/relationships"><Relationship Id="rId2" Type="http://schemas.openxmlformats.org/officeDocument/2006/relationships/theme" Target="../theme/theme39.xml"/><Relationship Id="rId1" Type="http://schemas.openxmlformats.org/officeDocument/2006/relationships/slideLayout" Target="../slideLayouts/slideLayout40.xml"/></Relationships>
</file>

<file path=ppt/slideMasters/_rels/slideMaster40.xml.rels><?xml version="1.0" encoding="UTF-8" standalone="yes"?>
<Relationships xmlns="http://schemas.openxmlformats.org/package/2006/relationships"><Relationship Id="rId2" Type="http://schemas.openxmlformats.org/officeDocument/2006/relationships/theme" Target="../theme/theme40.xml"/><Relationship Id="rId1" Type="http://schemas.openxmlformats.org/officeDocument/2006/relationships/slideLayout" Target="../slideLayouts/slideLayout41.xml"/></Relationships>
</file>

<file path=ppt/slideMasters/_rels/slideMaster41.xml.rels><?xml version="1.0" encoding="UTF-8" standalone="yes"?>
<Relationships xmlns="http://schemas.openxmlformats.org/package/2006/relationships"><Relationship Id="rId2" Type="http://schemas.openxmlformats.org/officeDocument/2006/relationships/theme" Target="../theme/theme41.xml"/><Relationship Id="rId1" Type="http://schemas.openxmlformats.org/officeDocument/2006/relationships/slideLayout" Target="../slideLayouts/slideLayout42.xml"/></Relationships>
</file>

<file path=ppt/slideMasters/_rels/slideMaster42.xml.rels><?xml version="1.0" encoding="UTF-8" standalone="yes"?>
<Relationships xmlns="http://schemas.openxmlformats.org/package/2006/relationships"><Relationship Id="rId2" Type="http://schemas.openxmlformats.org/officeDocument/2006/relationships/theme" Target="../theme/theme42.xml"/><Relationship Id="rId1" Type="http://schemas.openxmlformats.org/officeDocument/2006/relationships/slideLayout" Target="../slideLayouts/slideLayout43.xml"/></Relationships>
</file>

<file path=ppt/slideMasters/_rels/slideMaster43.xml.rels><?xml version="1.0" encoding="UTF-8" standalone="yes"?>
<Relationships xmlns="http://schemas.openxmlformats.org/package/2006/relationships"><Relationship Id="rId2" Type="http://schemas.openxmlformats.org/officeDocument/2006/relationships/theme" Target="../theme/theme43.xml"/><Relationship Id="rId1" Type="http://schemas.openxmlformats.org/officeDocument/2006/relationships/slideLayout" Target="../slideLayouts/slideLayout44.xml"/></Relationships>
</file>

<file path=ppt/slideMasters/_rels/slideMaster4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4.xml"/><Relationship Id="rId1" Type="http://schemas.openxmlformats.org/officeDocument/2006/relationships/slideLayout" Target="../slideLayouts/slideLayout45.xml"/></Relationships>
</file>

<file path=ppt/slideMasters/_rels/slideMaster45.xml.rels><?xml version="1.0" encoding="UTF-8" standalone="yes"?>
<Relationships xmlns="http://schemas.openxmlformats.org/package/2006/relationships"><Relationship Id="rId2" Type="http://schemas.openxmlformats.org/officeDocument/2006/relationships/theme" Target="../theme/theme45.xml"/><Relationship Id="rId1" Type="http://schemas.openxmlformats.org/officeDocument/2006/relationships/slideLayout" Target="../slideLayouts/slideLayout46.xml"/></Relationships>
</file>

<file path=ppt/slideMasters/_rels/slideMaster46.xml.rels><?xml version="1.0" encoding="UTF-8" standalone="yes"?>
<Relationships xmlns="http://schemas.openxmlformats.org/package/2006/relationships"><Relationship Id="rId2" Type="http://schemas.openxmlformats.org/officeDocument/2006/relationships/theme" Target="../theme/theme46.xml"/><Relationship Id="rId1" Type="http://schemas.openxmlformats.org/officeDocument/2006/relationships/slideLayout" Target="../slideLayouts/slideLayout47.xml"/></Relationships>
</file>

<file path=ppt/slideMasters/_rels/slideMaster47.xml.rels><?xml version="1.0" encoding="UTF-8" standalone="yes"?>
<Relationships xmlns="http://schemas.openxmlformats.org/package/2006/relationships"><Relationship Id="rId2" Type="http://schemas.openxmlformats.org/officeDocument/2006/relationships/theme" Target="../theme/theme47.xml"/><Relationship Id="rId1" Type="http://schemas.openxmlformats.org/officeDocument/2006/relationships/slideLayout" Target="../slideLayouts/slideLayout48.xml"/></Relationships>
</file>

<file path=ppt/slideMasters/_rels/slideMaster48.xml.rels><?xml version="1.0" encoding="UTF-8" standalone="yes"?>
<Relationships xmlns="http://schemas.openxmlformats.org/package/2006/relationships"><Relationship Id="rId2" Type="http://schemas.openxmlformats.org/officeDocument/2006/relationships/theme" Target="../theme/theme48.xml"/><Relationship Id="rId1" Type="http://schemas.openxmlformats.org/officeDocument/2006/relationships/slideLayout" Target="../slideLayouts/slideLayout49.xml"/></Relationships>
</file>

<file path=ppt/slideMasters/_rels/slideMaster49.xml.rels><?xml version="1.0" encoding="UTF-8" standalone="yes"?>
<Relationships xmlns="http://schemas.openxmlformats.org/package/2006/relationships"><Relationship Id="rId2" Type="http://schemas.openxmlformats.org/officeDocument/2006/relationships/theme" Target="../theme/theme49.xml"/><Relationship Id="rId1" Type="http://schemas.openxmlformats.org/officeDocument/2006/relationships/slideLayout" Target="../slideLayouts/slideLayout50.xml"/></Relationships>
</file>

<file path=ppt/slideMasters/_rels/slideMaster50.xml.rels><?xml version="1.0" encoding="UTF-8" standalone="yes"?>
<Relationships xmlns="http://schemas.openxmlformats.org/package/2006/relationships"><Relationship Id="rId2" Type="http://schemas.openxmlformats.org/officeDocument/2006/relationships/theme" Target="../theme/theme50.xml"/><Relationship Id="rId1" Type="http://schemas.openxmlformats.org/officeDocument/2006/relationships/slideLayout" Target="../slideLayouts/slideLayout51.xml"/></Relationships>
</file>

<file path=ppt/slideMasters/_rels/slideMaster51.xml.rels><?xml version="1.0" encoding="UTF-8" standalone="yes"?>
<Relationships xmlns="http://schemas.openxmlformats.org/package/2006/relationships"><Relationship Id="rId2" Type="http://schemas.openxmlformats.org/officeDocument/2006/relationships/theme" Target="../theme/theme51.xml"/><Relationship Id="rId1" Type="http://schemas.openxmlformats.org/officeDocument/2006/relationships/slideLayout" Target="../slideLayouts/slideLayout52.xml"/></Relationships>
</file>

<file path=ppt/slideMasters/_rels/slideMaster52.xml.rels><?xml version="1.0" encoding="UTF-8" standalone="yes"?>
<Relationships xmlns="http://schemas.openxmlformats.org/package/2006/relationships"><Relationship Id="rId2" Type="http://schemas.openxmlformats.org/officeDocument/2006/relationships/theme" Target="../theme/theme52.xml"/><Relationship Id="rId1" Type="http://schemas.openxmlformats.org/officeDocument/2006/relationships/slideLayout" Target="../slideLayouts/slideLayout53.xml"/></Relationships>
</file>

<file path=ppt/slideMasters/_rels/slideMaster53.xml.rels><?xml version="1.0" encoding="UTF-8" standalone="yes"?>
<Relationships xmlns="http://schemas.openxmlformats.org/package/2006/relationships"><Relationship Id="rId2" Type="http://schemas.openxmlformats.org/officeDocument/2006/relationships/theme" Target="../theme/theme53.xml"/><Relationship Id="rId1" Type="http://schemas.openxmlformats.org/officeDocument/2006/relationships/slideLayout" Target="../slideLayouts/slideLayout54.xml"/></Relationships>
</file>

<file path=ppt/slideMasters/_rels/slideMaster54.xml.rels><?xml version="1.0" encoding="UTF-8" standalone="yes"?>
<Relationships xmlns="http://schemas.openxmlformats.org/package/2006/relationships"><Relationship Id="rId2" Type="http://schemas.openxmlformats.org/officeDocument/2006/relationships/theme" Target="../theme/theme54.xml"/><Relationship Id="rId1" Type="http://schemas.openxmlformats.org/officeDocument/2006/relationships/slideLayout" Target="../slideLayouts/slideLayout55.xml"/></Relationships>
</file>

<file path=ppt/slideMasters/_rels/slideMaster5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5.xml"/><Relationship Id="rId1" Type="http://schemas.openxmlformats.org/officeDocument/2006/relationships/slideLayout" Target="../slideLayouts/slideLayout56.xml"/></Relationships>
</file>

<file path=ppt/slideMasters/_rels/slideMaster56.xml.rels><?xml version="1.0" encoding="UTF-8" standalone="yes"?>
<Relationships xmlns="http://schemas.openxmlformats.org/package/2006/relationships"><Relationship Id="rId2" Type="http://schemas.openxmlformats.org/officeDocument/2006/relationships/theme" Target="../theme/theme56.xml"/><Relationship Id="rId1" Type="http://schemas.openxmlformats.org/officeDocument/2006/relationships/slideLayout" Target="../slideLayouts/slideLayout57.xml"/></Relationships>
</file>

<file path=ppt/slideMasters/_rels/slideMaster57.xml.rels><?xml version="1.0" encoding="UTF-8" standalone="yes"?>
<Relationships xmlns="http://schemas.openxmlformats.org/package/2006/relationships"><Relationship Id="rId2" Type="http://schemas.openxmlformats.org/officeDocument/2006/relationships/theme" Target="../theme/theme57.xml"/><Relationship Id="rId1" Type="http://schemas.openxmlformats.org/officeDocument/2006/relationships/slideLayout" Target="../slideLayouts/slideLayout58.xml"/></Relationships>
</file>

<file path=ppt/slideMasters/_rels/slideMaster58.xml.rels><?xml version="1.0" encoding="UTF-8" standalone="yes"?>
<Relationships xmlns="http://schemas.openxmlformats.org/package/2006/relationships"><Relationship Id="rId2" Type="http://schemas.openxmlformats.org/officeDocument/2006/relationships/theme" Target="../theme/theme58.xml"/><Relationship Id="rId1" Type="http://schemas.openxmlformats.org/officeDocument/2006/relationships/slideLayout" Target="../slideLayouts/slideLayout59.xml"/></Relationships>
</file>

<file path=ppt/slideMasters/_rels/slideMaster59.xml.rels><?xml version="1.0" encoding="UTF-8" standalone="yes"?>
<Relationships xmlns="http://schemas.openxmlformats.org/package/2006/relationships"><Relationship Id="rId2" Type="http://schemas.openxmlformats.org/officeDocument/2006/relationships/theme" Target="../theme/theme59.xml"/><Relationship Id="rId1" Type="http://schemas.openxmlformats.org/officeDocument/2006/relationships/slideLayout" Target="../slideLayouts/slideLayout60.xml"/></Relationships>
</file>

<file path=ppt/slideMasters/_rels/slideMaster60.xml.rels><?xml version="1.0" encoding="UTF-8" standalone="yes"?>
<Relationships xmlns="http://schemas.openxmlformats.org/package/2006/relationships"><Relationship Id="rId2" Type="http://schemas.openxmlformats.org/officeDocument/2006/relationships/theme" Target="../theme/theme60.xml"/><Relationship Id="rId1" Type="http://schemas.openxmlformats.org/officeDocument/2006/relationships/slideLayout" Target="../slideLayouts/slideLayout61.xml"/></Relationships>
</file>

<file path=ppt/slideMasters/_rels/slideMaster61.xml.rels><?xml version="1.0" encoding="UTF-8" standalone="yes"?>
<Relationships xmlns="http://schemas.openxmlformats.org/package/2006/relationships"><Relationship Id="rId2" Type="http://schemas.openxmlformats.org/officeDocument/2006/relationships/theme" Target="../theme/theme61.xml"/><Relationship Id="rId1" Type="http://schemas.openxmlformats.org/officeDocument/2006/relationships/slideLayout" Target="../slideLayouts/slideLayout62.xml"/></Relationships>
</file>

<file path=ppt/slideMasters/_rels/slideMaster62.xml.rels><?xml version="1.0" encoding="UTF-8" standalone="yes"?>
<Relationships xmlns="http://schemas.openxmlformats.org/package/2006/relationships"><Relationship Id="rId2" Type="http://schemas.openxmlformats.org/officeDocument/2006/relationships/theme" Target="../theme/theme62.xml"/><Relationship Id="rId1" Type="http://schemas.openxmlformats.org/officeDocument/2006/relationships/slideLayout" Target="../slideLayouts/slideLayout63.xml"/></Relationships>
</file>

<file path=ppt/slideMasters/_rels/slideMaster63.xml.rels><?xml version="1.0" encoding="UTF-8" standalone="yes"?>
<Relationships xmlns="http://schemas.openxmlformats.org/package/2006/relationships"><Relationship Id="rId2" Type="http://schemas.openxmlformats.org/officeDocument/2006/relationships/theme" Target="../theme/theme63.xml"/><Relationship Id="rId1" Type="http://schemas.openxmlformats.org/officeDocument/2006/relationships/slideLayout" Target="../slideLayouts/slideLayout64.xml"/></Relationships>
</file>

<file path=ppt/slideMasters/_rels/slideMaster64.xml.rels><?xml version="1.0" encoding="UTF-8" standalone="yes"?>
<Relationships xmlns="http://schemas.openxmlformats.org/package/2006/relationships"><Relationship Id="rId2" Type="http://schemas.openxmlformats.org/officeDocument/2006/relationships/theme" Target="../theme/theme64.xml"/><Relationship Id="rId1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5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6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7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8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9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20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21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22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23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.xml"/><Relationship Id="rId1" Type="http://schemas.openxmlformats.org/officeDocument/2006/relationships/image" Target="../media/image24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25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6.xml"/><Relationship Id="rId1" Type="http://schemas.openxmlformats.org/officeDocument/2006/relationships/image" Target="../media/image2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2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8.xml"/><Relationship Id="rId1" Type="http://schemas.openxmlformats.org/officeDocument/2006/relationships/image" Target="../media/image26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9.xml"/><Relationship Id="rId1" Type="http://schemas.openxmlformats.org/officeDocument/2006/relationships/image" Target="../media/image27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0.xml"/><Relationship Id="rId1" Type="http://schemas.openxmlformats.org/officeDocument/2006/relationships/image" Target="../media/image28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1.xml"/><Relationship Id="rId1" Type="http://schemas.openxmlformats.org/officeDocument/2006/relationships/image" Target="../media/image29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2.xml"/><Relationship Id="rId1" Type="http://schemas.openxmlformats.org/officeDocument/2006/relationships/image" Target="../media/image2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3.xml"/><Relationship Id="rId1" Type="http://schemas.openxmlformats.org/officeDocument/2006/relationships/image" Target="../media/image2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4.xml"/><Relationship Id="rId1" Type="http://schemas.openxmlformats.org/officeDocument/2006/relationships/image" Target="../media/image2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5.xml"/><Relationship Id="rId1" Type="http://schemas.openxmlformats.org/officeDocument/2006/relationships/image" Target="../media/image2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2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7.xml"/><Relationship Id="rId1" Type="http://schemas.openxmlformats.org/officeDocument/2006/relationships/image" Target="../media/image30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8.xml"/><Relationship Id="rId1" Type="http://schemas.openxmlformats.org/officeDocument/2006/relationships/image" Target="../media/image31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.xml"/><Relationship Id="rId1" Type="http://schemas.openxmlformats.org/officeDocument/2006/relationships/image" Target="../media/image32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0.xml"/><Relationship Id="rId1" Type="http://schemas.openxmlformats.org/officeDocument/2006/relationships/image" Target="../media/image33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1.xml"/><Relationship Id="rId1" Type="http://schemas.openxmlformats.org/officeDocument/2006/relationships/image" Target="../media/image34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35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image" Target="../media/image36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5.xml"/><Relationship Id="rId1" Type="http://schemas.openxmlformats.org/officeDocument/2006/relationships/image" Target="../media/image2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6.xml"/><Relationship Id="rId1" Type="http://schemas.openxmlformats.org/officeDocument/2006/relationships/image" Target="../media/image2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7.xml"/><Relationship Id="rId1" Type="http://schemas.openxmlformats.org/officeDocument/2006/relationships/image" Target="../media/image2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8.xml"/><Relationship Id="rId1" Type="http://schemas.openxmlformats.org/officeDocument/2006/relationships/image" Target="../media/image2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9.xml"/><Relationship Id="rId1" Type="http://schemas.openxmlformats.org/officeDocument/2006/relationships/image" Target="../media/image2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0.xml"/><Relationship Id="rId1" Type="http://schemas.openxmlformats.org/officeDocument/2006/relationships/image" Target="../media/image2.jpe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1.xml"/><Relationship Id="rId1" Type="http://schemas.openxmlformats.org/officeDocument/2006/relationships/image" Target="../media/image2.jpe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2.xml"/><Relationship Id="rId1" Type="http://schemas.openxmlformats.org/officeDocument/2006/relationships/image" Target="../media/image2.jpe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3.xml"/><Relationship Id="rId1" Type="http://schemas.openxmlformats.org/officeDocument/2006/relationships/image" Target="../media/image2.jpe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4.xml"/><Relationship Id="rId1" Type="http://schemas.openxmlformats.org/officeDocument/2006/relationships/image" Target="../media/image2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5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9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243" y="603471"/>
            <a:ext cx="3326959" cy="198008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8" name="Rectangle 5"/>
          <p:cNvSpPr/>
          <p:nvPr/>
        </p:nvSpPr>
        <p:spPr>
          <a:xfrm>
            <a:off x="1119505" y="2986405"/>
            <a:ext cx="9120505" cy="701675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wrap="square" lIns="201506" rIns="201506" anchor="t" anchorCtr="0">
            <a:spAutoFit/>
          </a:bodyPr>
          <a:p>
            <a:pPr algn="ctr">
              <a:spcBef>
                <a:spcPct val="20000"/>
              </a:spcBef>
            </a:pPr>
            <a:r>
              <a:rPr lang="en-US" altLang="zh-CN" sz="3965" dirty="0">
                <a:latin typeface="Comic Sans MS" panose="030F0702030302020204" pitchFamily="66" charset="0"/>
                <a:ea typeface="宋体" panose="02010600030101010101" pitchFamily="2" charset="-122"/>
              </a:rPr>
              <a:t>Reactive Systems III, ch 8~10</a:t>
            </a:r>
            <a:r>
              <a:rPr lang="en-US" altLang="zh-CN" sz="3965" dirty="0">
                <a:latin typeface="Comic Sans MS" panose="030F0702030302020204" pitchFamily="66" charset="0"/>
                <a:ea typeface="宋体" panose="02010600030101010101" pitchFamily="2" charset="-122"/>
                <a:sym typeface="+mn-ea"/>
              </a:rPr>
              <a:t>, E</a:t>
            </a:r>
            <a:r>
              <a:rPr lang="en-US" altLang="zh-CN" sz="3965" dirty="0">
                <a:latin typeface="Comic Sans MS" panose="030F0702030302020204" pitchFamily="66" charset="0"/>
                <a:ea typeface="宋体" panose="02010600030101010101" pitchFamily="2" charset="-122"/>
              </a:rPr>
              <a:t>RD</a:t>
            </a:r>
            <a:endParaRPr lang="zh-CN" altLang="en-US" sz="3965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4099" name="Line 6"/>
          <p:cNvSpPr/>
          <p:nvPr/>
        </p:nvSpPr>
        <p:spPr>
          <a:xfrm>
            <a:off x="309033" y="1511300"/>
            <a:ext cx="10075333" cy="0"/>
          </a:xfrm>
          <a:prstGeom prst="line">
            <a:avLst/>
          </a:prstGeom>
          <a:ln w="5715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" name="矩形 5"/>
          <p:cNvSpPr/>
          <p:nvPr/>
        </p:nvSpPr>
        <p:spPr>
          <a:xfrm>
            <a:off x="1745933" y="4210685"/>
            <a:ext cx="7467600" cy="30460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20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sz="240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Max</a:t>
            </a:r>
            <a:endParaRPr lang="en-US" altLang="zh-CN" sz="2400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sz="2400" dirty="0">
                <a:solidFill>
                  <a:srgbClr val="7030A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sz="240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sz="240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SE</a:t>
            </a:r>
            <a:r>
              <a:rPr lang="en-US" altLang="zh-CN" sz="2400" i="1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345-Andy: On What </a:t>
            </a:r>
            <a:r>
              <a:rPr lang="en-US" altLang="zh-CN" sz="2400" i="1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sz="240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sz="2400" dirty="0">
                <a:solidFill>
                  <a:srgbClr val="7030A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sz="240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/SoftwareEngineering26S</a:t>
            </a:r>
            <a:endParaRPr lang="en-US" altLang="zh-CN" sz="2400" dirty="0">
              <a:solidFill>
                <a:srgbClr val="00206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endParaRPr lang="en-US" altLang="zh-CN" sz="2400" dirty="0">
              <a:solidFill>
                <a:srgbClr val="00206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10196" y="825922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0751"/>
            <a:ext cx="2969571" cy="9497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80"/>
              </a:lnSpc>
              <a:spcBef>
                <a:spcPct val="0"/>
              </a:spcBef>
              <a:spcAft>
                <a:spcPct val="0"/>
              </a:spcAft>
            </a:pPr>
            <a:r>
              <a:rPr sz="3000" spc="-12">
                <a:solidFill>
                  <a:srgbClr val="000000"/>
                </a:solidFill>
                <a:latin typeface="NOQEBU+CMBX12" panose="02000500000000000000"/>
                <a:cs typeface="NOQEBU+CMBX12" panose="02000500000000000000"/>
              </a:rPr>
              <a:t>List</a:t>
            </a:r>
            <a:r>
              <a:rPr sz="3000" spc="3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20">
                <a:solidFill>
                  <a:srgbClr val="000000"/>
                </a:solidFill>
                <a:latin typeface="NOQEBU+CMBX12" panose="02000500000000000000"/>
                <a:cs typeface="NOQEBU+CMBX12" panose="02000500000000000000"/>
              </a:rPr>
              <a:t>of</a:t>
            </a:r>
            <a:r>
              <a:rPr sz="3000" spc="3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15">
                <a:solidFill>
                  <a:srgbClr val="000000"/>
                </a:solidFill>
                <a:latin typeface="NOQEBU+CMBX12" panose="02000500000000000000"/>
                <a:cs typeface="NOQEBU+CMBX12" panose="02000500000000000000"/>
              </a:rPr>
              <a:t>Slides</a:t>
            </a:r>
            <a:endParaRPr sz="3000" spc="-15">
              <a:solidFill>
                <a:srgbClr val="000000"/>
              </a:solidFill>
              <a:latin typeface="NOQEBU+CMBX12" panose="02000500000000000000"/>
              <a:cs typeface="NOQEBU+CMBX12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8268" y="1834034"/>
            <a:ext cx="6230491" cy="16141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081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77</a:t>
            </a:r>
            <a:r>
              <a:rPr sz="2050" spc="155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sz="2050" spc="16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8.</a:t>
            </a:r>
            <a:r>
              <a:rPr sz="2050" spc="41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Entity-Relationship</a:t>
            </a:r>
            <a:r>
              <a:rPr sz="2050" spc="15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Diagrams</a:t>
            </a:r>
            <a:endParaRPr sz="2050" dirty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  <a:p>
            <a:pPr marL="130810" marR="0">
              <a:lnSpc>
                <a:spcPts val="2520"/>
              </a:lnSpc>
              <a:spcBef>
                <a:spcPts val="1095"/>
              </a:spcBef>
              <a:spcAft>
                <a:spcPct val="0"/>
              </a:spcAft>
            </a:pPr>
            <a:r>
              <a:rPr sz="205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99</a:t>
            </a:r>
            <a:r>
              <a:rPr sz="2050" spc="155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sz="2050" spc="16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9.</a:t>
            </a:r>
            <a:r>
              <a:rPr sz="2050" spc="41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ERD</a:t>
            </a:r>
            <a:r>
              <a:rPr sz="2050" spc="17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Modeling</a:t>
            </a:r>
            <a:r>
              <a:rPr sz="2050" spc="13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Guidelines</a:t>
            </a:r>
            <a:endParaRPr sz="2050" spc="11" dirty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035"/>
              </a:spcBef>
              <a:spcAft>
                <a:spcPct val="0"/>
              </a:spcAft>
            </a:pPr>
            <a:r>
              <a:rPr sz="205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125</a:t>
            </a:r>
            <a:r>
              <a:rPr sz="2050" spc="155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sz="2050" spc="16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10.</a:t>
            </a:r>
            <a:r>
              <a:rPr sz="2050" spc="41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The</a:t>
            </a:r>
            <a:r>
              <a:rPr sz="2050" spc="17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Dictionary</a:t>
            </a:r>
            <a:endParaRPr sz="2050" dirty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78653" y="7228486"/>
            <a:ext cx="38074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INBNS+CMR7" panose="02000500000000000000"/>
                <a:cs typeface="WINBNS+CMR7" panose="02000500000000000000"/>
              </a:rPr>
              <a:t>2</a:t>
            </a:r>
            <a:endParaRPr sz="1450">
              <a:solidFill>
                <a:srgbClr val="000000"/>
              </a:solidFill>
              <a:latin typeface="WINBNS+CMR7" panose="02000500000000000000"/>
              <a:cs typeface="WINBNS+CMR7" panose="0200050000000000000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13305" y="1738169"/>
            <a:ext cx="739238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ERIJIN+CMBX12~c" panose="02000500000000000000"/>
                <a:cs typeface="ERIJIN+CMBX12~c" panose="02000500000000000000"/>
              </a:rPr>
              <a:t>Chapter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ERIJIN+CMBX12~c" panose="02000500000000000000"/>
                <a:cs typeface="ERIJIN+CMBX12~c" panose="02000500000000000000"/>
              </a:rPr>
              <a:t>8.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8">
                <a:solidFill>
                  <a:srgbClr val="000000"/>
                </a:solidFill>
                <a:latin typeface="ERIJIN+CMBX12~c" panose="02000500000000000000"/>
                <a:cs typeface="ERIJIN+CMBX12~c" panose="02000500000000000000"/>
              </a:rPr>
              <a:t>Entity-Relationship</a:t>
            </a:r>
            <a:r>
              <a:rPr sz="2500" spc="3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ERIJIN+CMBX12~c" panose="02000500000000000000"/>
                <a:cs typeface="ERIJIN+CMBX12~c" panose="02000500000000000000"/>
              </a:rPr>
              <a:t>Diagrams</a:t>
            </a:r>
            <a:endParaRPr sz="2500" spc="-12">
              <a:solidFill>
                <a:srgbClr val="000000"/>
              </a:solidFill>
              <a:latin typeface="ERIJIN+CMBX12~c" panose="02000500000000000000"/>
              <a:cs typeface="ERIJIN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4168" y="2355569"/>
            <a:ext cx="8039107" cy="1452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The</a:t>
            </a:r>
            <a:r>
              <a:rPr sz="2050" spc="4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SHNOJV+CMBX10" panose="02000500000000000000"/>
                <a:cs typeface="SHNOJV+CMBX10" panose="02000500000000000000"/>
              </a:rPr>
              <a:t>subject</a:t>
            </a:r>
            <a:r>
              <a:rPr sz="2050" spc="6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NOJV+CMBX10" panose="02000500000000000000"/>
                <a:cs typeface="SHNOJV+CMBX10" panose="02000500000000000000"/>
              </a:rPr>
              <a:t>domain</a:t>
            </a:r>
            <a:r>
              <a:rPr sz="2050" spc="5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of</a:t>
            </a:r>
            <a:r>
              <a:rPr sz="2050" spc="5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a</a:t>
            </a:r>
            <a:r>
              <a:rPr sz="2050" spc="5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software</a:t>
            </a:r>
            <a:r>
              <a:rPr sz="2050" spc="5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system</a:t>
            </a:r>
            <a:r>
              <a:rPr sz="2050" spc="5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is</a:t>
            </a:r>
            <a:r>
              <a:rPr sz="2050" spc="5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the</a:t>
            </a:r>
            <a:r>
              <a:rPr sz="2050" spc="4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part</a:t>
            </a:r>
            <a:r>
              <a:rPr sz="2050" spc="5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of</a:t>
            </a:r>
            <a:endParaRPr sz="2050">
              <a:solidFill>
                <a:srgbClr val="000000"/>
              </a:solidFill>
              <a:latin typeface="QLSNVJ+CMR10" panose="02000500000000000000"/>
              <a:cs typeface="QLSNVJ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the</a:t>
            </a:r>
            <a:r>
              <a:rPr sz="2050" spc="1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world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talked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1">
                <a:solidFill>
                  <a:srgbClr val="000000"/>
                </a:solidFill>
                <a:latin typeface="MUHAGO+CMTI10" panose="02000500000000000000"/>
                <a:cs typeface="MUHAGO+CMTI10" panose="02000500000000000000"/>
              </a:rPr>
              <a:t>about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by</a:t>
            </a:r>
            <a:r>
              <a:rPr sz="2050" spc="2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the</a:t>
            </a:r>
            <a:r>
              <a:rPr sz="2050" spc="1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messages</a:t>
            </a:r>
            <a:r>
              <a:rPr sz="2050" spc="1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that</a:t>
            </a:r>
            <a:r>
              <a:rPr sz="2050" spc="1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cross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the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system</a:t>
            </a:r>
            <a:endParaRPr sz="2050">
              <a:solidFill>
                <a:srgbClr val="000000"/>
              </a:solidFill>
              <a:latin typeface="QLSNVJ+CMR10" panose="02000500000000000000"/>
              <a:cs typeface="QLSNVJ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interface.</a:t>
            </a:r>
            <a:endParaRPr sz="2050">
              <a:solidFill>
                <a:srgbClr val="000000"/>
              </a:solidFill>
              <a:latin typeface="QLSNVJ+CMR10" panose="02000500000000000000"/>
              <a:cs typeface="QLSNVJ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268" y="3777461"/>
            <a:ext cx="518253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6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To</a:t>
            </a:r>
            <a:r>
              <a:rPr sz="2050" spc="3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ﬁnd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domain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system</a:t>
            </a:r>
            <a:endParaRPr sz="2050">
              <a:solidFill>
                <a:srgbClr val="000000"/>
              </a:solidFill>
              <a:latin typeface="QLSNVJ+CMR10" panose="02000500000000000000"/>
              <a:cs typeface="QLSNVJ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4265" y="4295621"/>
            <a:ext cx="8347690" cy="2118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185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RJTCN+CMSY10~25" panose="02000500000000000000"/>
                <a:cs typeface="VRJTCN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9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Look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at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messages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received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sent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system,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and</a:t>
            </a:r>
            <a:endParaRPr sz="2050" spc="10">
              <a:solidFill>
                <a:srgbClr val="000000"/>
              </a:solidFill>
              <a:latin typeface="QLSNVJ+CMR10" panose="02000500000000000000"/>
              <a:cs typeface="QLSNVJ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RJTCN+CMSY10~25" panose="02000500000000000000"/>
                <a:cs typeface="VRJTCN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Ask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what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these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messages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about.</a:t>
            </a:r>
            <a:endParaRPr sz="2050" spc="21">
              <a:solidFill>
                <a:srgbClr val="000000"/>
              </a:solidFill>
              <a:latin typeface="QLSNVJ+CMR10" panose="02000500000000000000"/>
              <a:cs typeface="QLSNVJ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51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Document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meaning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these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messages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dictionary,</a:t>
            </a:r>
            <a:endParaRPr sz="2050">
              <a:solidFill>
                <a:srgbClr val="000000"/>
              </a:solidFill>
              <a:latin typeface="QLSNVJ+CMR10" panose="02000500000000000000"/>
              <a:cs typeface="QLSNVJ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supplemented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ERD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subject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LSNVJ+CMR10" panose="02000500000000000000"/>
                <a:cs typeface="QLSNVJ+CMR10" panose="02000500000000000000"/>
              </a:rPr>
              <a:t>domain.</a:t>
            </a:r>
            <a:endParaRPr sz="2050">
              <a:solidFill>
                <a:srgbClr val="000000"/>
              </a:solidFill>
              <a:latin typeface="QLSNVJ+CMR10" panose="02000500000000000000"/>
              <a:cs typeface="QLSNVJ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AFOTM+CMR7" panose="02000500000000000000"/>
                <a:cs typeface="AAFOTM+CMR7" panose="02000500000000000000"/>
              </a:rPr>
              <a:t>78</a:t>
            </a:r>
            <a:endParaRPr sz="1450">
              <a:solidFill>
                <a:srgbClr val="000000"/>
              </a:solidFill>
              <a:latin typeface="AAFOTM+CMR7" panose="02000500000000000000"/>
              <a:cs typeface="AAFOTM+CMR7" panose="0200050000000000000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613201"/>
            <a:ext cx="6231803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QIPLVP+CMBX12~c" panose="02000500000000000000"/>
                <a:cs typeface="QIPLVP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QIPLVP+CMBX12~c" panose="02000500000000000000"/>
                <a:cs typeface="QIPLVP+CMBX12~c" panose="02000500000000000000"/>
              </a:rPr>
              <a:t>1: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QIPLVP+CMBX12~c" panose="02000500000000000000"/>
                <a:cs typeface="QIPLVP+CMBX12~c" panose="02000500000000000000"/>
              </a:rPr>
              <a:t>Sub</a:t>
            </a:r>
            <a:r>
              <a:rPr sz="2500" spc="-4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QIPLVP+CMBX12~c" panose="02000500000000000000"/>
                <a:cs typeface="QIPLVP+CMBX12~c" panose="02000500000000000000"/>
              </a:rPr>
              <a:t>ject</a:t>
            </a:r>
            <a:r>
              <a:rPr sz="2500" spc="3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QIPLVP+CMBX12~c" panose="02000500000000000000"/>
                <a:cs typeface="QIPLVP+CMBX12~c" panose="02000500000000000000"/>
              </a:rPr>
              <a:t>domain</a:t>
            </a:r>
            <a:r>
              <a:rPr sz="250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QIPLVP+CMBX12~c" panose="02000500000000000000"/>
                <a:cs typeface="QIPLVP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QIPLVP+CMBX12~c" panose="02000500000000000000"/>
                <a:cs typeface="QIPLVP+CMBX12~c" panose="02000500000000000000"/>
              </a:rPr>
              <a:t>TIS</a:t>
            </a:r>
            <a:endParaRPr sz="2500">
              <a:solidFill>
                <a:srgbClr val="000000"/>
              </a:solidFill>
              <a:latin typeface="QIPLVP+CMBX12~c" panose="02000500000000000000"/>
              <a:cs typeface="QIPLVP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73921" y="2627571"/>
            <a:ext cx="1358665" cy="598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NJENT+Helvetica" panose="020B0604020202020204"/>
                <a:cs typeface="ONJENT+Helvetica" panose="020B0604020202020204"/>
              </a:rPr>
              <a:t>Employee</a:t>
            </a:r>
            <a:endParaRPr sz="1800">
              <a:solidFill>
                <a:srgbClr val="000000"/>
              </a:solidFill>
              <a:latin typeface="ONJENT+Helvetica" panose="020B0604020202020204"/>
              <a:cs typeface="ONJENT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90219" y="2627571"/>
            <a:ext cx="977767" cy="598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NJENT+Helvetica" panose="020B0604020202020204"/>
                <a:cs typeface="ONJENT+Helvetica" panose="020B0604020202020204"/>
              </a:rPr>
              <a:t>Group</a:t>
            </a:r>
            <a:endParaRPr sz="1800">
              <a:solidFill>
                <a:srgbClr val="000000"/>
              </a:solidFill>
              <a:latin typeface="ONJENT+Helvetica" panose="020B0604020202020204"/>
              <a:cs typeface="ONJENT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9323" y="2993052"/>
            <a:ext cx="1066662" cy="598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NJENT+Helvetica" panose="020B0604020202020204"/>
                <a:cs typeface="ONJENT+Helvetica" panose="020B0604020202020204"/>
              </a:rPr>
              <a:t>Branch</a:t>
            </a:r>
            <a:endParaRPr sz="1800">
              <a:solidFill>
                <a:srgbClr val="000000"/>
              </a:solidFill>
              <a:latin typeface="ONJENT+Helvetica" panose="020B0604020202020204"/>
              <a:cs typeface="ONJENT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3033" y="3141527"/>
            <a:ext cx="1274695" cy="609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NJENT+Helvetica" panose="020B0604020202020204"/>
                <a:cs typeface="ONJENT+Helvetica" panose="020B0604020202020204"/>
              </a:rPr>
              <a:t>1</a:t>
            </a:r>
            <a:r>
              <a:rPr sz="1800" spc="1337">
                <a:solidFill>
                  <a:srgbClr val="000000"/>
                </a:solidFill>
                <a:latin typeface="ONJENT+Helvetica" panose="020B0604020202020204"/>
                <a:cs typeface="ONJENT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ONJENT+Helvetica" panose="020B0604020202020204"/>
                <a:cs typeface="ONJENT+Helvetica" panose="020B0604020202020204"/>
              </a:rPr>
              <a:t>name</a:t>
            </a:r>
            <a:endParaRPr sz="1800">
              <a:solidFill>
                <a:srgbClr val="000000"/>
              </a:solidFill>
              <a:latin typeface="ONJENT+Helvetica" panose="020B0604020202020204"/>
              <a:cs typeface="ONJENT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59397" y="3141527"/>
            <a:ext cx="1117411" cy="598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NJENT+Helvetica" panose="020B0604020202020204"/>
                <a:cs typeface="ONJENT+Helvetica" panose="020B0604020202020204"/>
              </a:rPr>
              <a:t>number</a:t>
            </a:r>
            <a:endParaRPr sz="1800">
              <a:solidFill>
                <a:srgbClr val="000000"/>
              </a:solidFill>
              <a:latin typeface="ONJENT+Helvetica" panose="020B0604020202020204"/>
              <a:cs typeface="ONJENT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94949" y="3815389"/>
            <a:ext cx="1599919" cy="598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NJENT+Helvetica" panose="020B0604020202020204"/>
                <a:cs typeface="ONJENT+Helvetica" panose="020B0604020202020204"/>
              </a:rPr>
              <a:t>Participation</a:t>
            </a:r>
            <a:endParaRPr sz="1800">
              <a:solidFill>
                <a:srgbClr val="000000"/>
              </a:solidFill>
              <a:latin typeface="ONJENT+Helvetica" panose="020B0604020202020204"/>
              <a:cs typeface="ONJENT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03793" y="3838237"/>
            <a:ext cx="1091869" cy="895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NJENT+Helvetica" panose="020B0604020202020204"/>
                <a:cs typeface="ONJENT+Helvetica" panose="020B0604020202020204"/>
              </a:rPr>
              <a:t>Coordi-</a:t>
            </a:r>
            <a:endParaRPr sz="1800">
              <a:solidFill>
                <a:srgbClr val="000000"/>
              </a:solidFill>
              <a:latin typeface="ONJENT+Helvetica" panose="020B0604020202020204"/>
              <a:cs typeface="ONJENT+Helvetica" panose="020B0604020202020204"/>
            </a:endParaRPr>
          </a:p>
          <a:p>
            <a:pPr marL="1143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NJENT+Helvetica" panose="020B0604020202020204"/>
                <a:cs typeface="ONJENT+Helvetica" panose="020B0604020202020204"/>
              </a:rPr>
              <a:t>nator</a:t>
            </a:r>
            <a:endParaRPr sz="1800">
              <a:solidFill>
                <a:srgbClr val="000000"/>
              </a:solidFill>
              <a:latin typeface="ONJENT+Helvetica" panose="020B0604020202020204"/>
              <a:cs typeface="ONJENT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84071" y="3975295"/>
            <a:ext cx="1104807" cy="895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NJENT+Helvetica" panose="020B0604020202020204"/>
                <a:cs typeface="ONJENT+Helvetica" panose="020B0604020202020204"/>
              </a:rPr>
              <a:t>Course</a:t>
            </a:r>
            <a:endParaRPr sz="1800">
              <a:solidFill>
                <a:srgbClr val="000000"/>
              </a:solidFill>
              <a:latin typeface="ONJENT+Helvetica" panose="020B0604020202020204"/>
              <a:cs typeface="ONJENT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NJENT+Helvetica" panose="020B0604020202020204"/>
                <a:cs typeface="ONJENT+Helvetica" panose="020B0604020202020204"/>
              </a:rPr>
              <a:t>offering</a:t>
            </a:r>
            <a:endParaRPr sz="1800">
              <a:solidFill>
                <a:srgbClr val="000000"/>
              </a:solidFill>
              <a:latin typeface="ONJENT+Helvetica" panose="020B0604020202020204"/>
              <a:cs typeface="ONJENT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30134" y="4317928"/>
            <a:ext cx="1561997" cy="895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NJENT+Helvetica" panose="020B0604020202020204"/>
                <a:cs typeface="ONJENT+Helvetica" panose="020B0604020202020204"/>
              </a:rPr>
              <a:t>Unexpected</a:t>
            </a:r>
            <a:endParaRPr sz="1800">
              <a:solidFill>
                <a:srgbClr val="000000"/>
              </a:solidFill>
              <a:latin typeface="ONJENT+Helvetica" panose="020B0604020202020204"/>
              <a:cs typeface="ONJENT+Helvetica" panose="020B0604020202020204"/>
            </a:endParaRPr>
          </a:p>
          <a:p>
            <a:pPr marL="825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NJENT+Helvetica" panose="020B0604020202020204"/>
                <a:cs typeface="ONJENT+Helvetica" panose="020B0604020202020204"/>
              </a:rPr>
              <a:t>participant</a:t>
            </a:r>
            <a:endParaRPr sz="1800">
              <a:solidFill>
                <a:srgbClr val="000000"/>
              </a:solidFill>
              <a:latin typeface="ONJENT+Helvetica" panose="020B0604020202020204"/>
              <a:cs typeface="ONJENT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6648" y="4329358"/>
            <a:ext cx="1676268" cy="1192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NJENT+Helvetica" panose="020B0604020202020204"/>
                <a:cs typeface="ONJENT+Helvetica" panose="020B0604020202020204"/>
              </a:rPr>
              <a:t>absent : Bool</a:t>
            </a:r>
            <a:endParaRPr sz="1800">
              <a:solidFill>
                <a:srgbClr val="000000"/>
              </a:solidFill>
              <a:latin typeface="ONJENT+Helvetica" panose="020B0604020202020204"/>
              <a:cs typeface="ONJENT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NJENT+Helvetica" panose="020B0604020202020204"/>
                <a:cs typeface="ONJENT+Helvetica" panose="020B0604020202020204"/>
              </a:rPr>
              <a:t>time</a:t>
            </a:r>
            <a:endParaRPr sz="1800">
              <a:solidFill>
                <a:srgbClr val="000000"/>
              </a:solidFill>
              <a:latin typeface="ONJENT+Helvetica" panose="020B0604020202020204"/>
              <a:cs typeface="ONJENT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NJENT+Helvetica" panose="020B0604020202020204"/>
                <a:cs typeface="ONJENT+Helvetica" panose="020B0604020202020204"/>
              </a:rPr>
              <a:t>day : {1, 2}</a:t>
            </a:r>
            <a:endParaRPr sz="1800">
              <a:solidFill>
                <a:srgbClr val="000000"/>
              </a:solidFill>
              <a:latin typeface="ONJENT+Helvetica" panose="020B0604020202020204"/>
              <a:cs typeface="ONJENT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13354" y="4454987"/>
            <a:ext cx="965052" cy="598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NJENT+Helvetica" panose="020B0604020202020204"/>
                <a:cs typeface="ONJENT+Helvetica" panose="020B0604020202020204"/>
              </a:rPr>
              <a:t>Joiner</a:t>
            </a:r>
            <a:endParaRPr sz="1800">
              <a:solidFill>
                <a:srgbClr val="000000"/>
              </a:solidFill>
              <a:latin typeface="ONJENT+Helvetica" panose="020B0604020202020204"/>
              <a:cs typeface="ONJENT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44167" y="4489251"/>
            <a:ext cx="1206306" cy="895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NJENT+Helvetica" panose="020B0604020202020204"/>
                <a:cs typeface="ONJENT+Helvetica" panose="020B0604020202020204"/>
              </a:rPr>
              <a:t>name</a:t>
            </a:r>
            <a:endParaRPr sz="1800">
              <a:solidFill>
                <a:srgbClr val="000000"/>
              </a:solidFill>
              <a:latin typeface="ONJENT+Helvetica" panose="020B0604020202020204"/>
              <a:cs typeface="ONJENT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NJENT+Helvetica" panose="020B0604020202020204"/>
                <a:cs typeface="ONJENT+Helvetica" panose="020B0604020202020204"/>
              </a:rPr>
              <a:t>identifier</a:t>
            </a:r>
            <a:endParaRPr sz="1800">
              <a:solidFill>
                <a:srgbClr val="000000"/>
              </a:solidFill>
              <a:latin typeface="ONJENT+Helvetica" panose="020B0604020202020204"/>
              <a:cs typeface="ONJENT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56300" y="4592045"/>
            <a:ext cx="469940" cy="598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NJENT+Helvetica" panose="020B0604020202020204"/>
                <a:cs typeface="ONJENT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ONJENT+Helvetica" panose="020B0604020202020204"/>
              <a:cs typeface="ONJENT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91123" y="4626310"/>
            <a:ext cx="1599969" cy="598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NJENT+Helvetica" panose="020B0604020202020204"/>
                <a:cs typeface="ONJENT+Helvetica" panose="020B0604020202020204"/>
              </a:rPr>
              <a:t>starting date</a:t>
            </a:r>
            <a:endParaRPr sz="1800">
              <a:solidFill>
                <a:srgbClr val="000000"/>
              </a:solidFill>
              <a:latin typeface="ONJENT+Helvetica" panose="020B0604020202020204"/>
              <a:cs typeface="ONJENT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20774" y="4637727"/>
            <a:ext cx="469940" cy="598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NJENT+Helvetica" panose="020B0604020202020204"/>
                <a:cs typeface="ONJENT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ONJENT+Helvetica" panose="020B0604020202020204"/>
              <a:cs typeface="ONJENT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44268" y="5827241"/>
            <a:ext cx="694140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BQWJKA+CMR10" panose="02000500000000000000"/>
                <a:cs typeface="BQWJKA+CMR10" panose="02000500000000000000"/>
              </a:rPr>
              <a:t>These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WJKA+CMR10" panose="02000500000000000000"/>
                <a:cs typeface="BQWJKA+CMR10" panose="02000500000000000000"/>
              </a:rPr>
              <a:t>entities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WJKA+CMR10" panose="02000500000000000000"/>
                <a:cs typeface="BQWJKA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QWJKA+CMR10" panose="02000500000000000000"/>
                <a:cs typeface="BQWJKA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WJKA+CMR10" panose="02000500000000000000"/>
                <a:cs typeface="BQWJKA+CMR10" panose="02000500000000000000"/>
              </a:rPr>
              <a:t>topic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WJKA+CMR10" panose="02000500000000000000"/>
                <a:cs typeface="BQWJKA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WJKA+CMR10" panose="02000500000000000000"/>
                <a:cs typeface="BQWJKA+CMR10" panose="02000500000000000000"/>
              </a:rPr>
              <a:t>interactions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WJKA+CMR10" panose="02000500000000000000"/>
                <a:cs typeface="BQWJKA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QWJKA+CMR10" panose="02000500000000000000"/>
                <a:cs typeface="BQWJKA+CMR10" panose="02000500000000000000"/>
              </a:rPr>
              <a:t>TIS.</a:t>
            </a:r>
            <a:endParaRPr sz="2050">
              <a:solidFill>
                <a:srgbClr val="000000"/>
              </a:solidFill>
              <a:latin typeface="BQWJKA+CMR10" panose="02000500000000000000"/>
              <a:cs typeface="BQWJKA+CMR10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VDVSHD+CMR7" panose="02000500000000000000"/>
                <a:cs typeface="VDVSHD+CMR7" panose="02000500000000000000"/>
              </a:rPr>
              <a:t>79</a:t>
            </a:r>
            <a:endParaRPr sz="1450">
              <a:solidFill>
                <a:srgbClr val="000000"/>
              </a:solidFill>
              <a:latin typeface="VDVSHD+CMR7" panose="02000500000000000000"/>
              <a:cs typeface="VDVSHD+CMR7" panose="0200050000000000000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363265"/>
            <a:ext cx="8720893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VHEKSW+CMBX12~c" panose="02000500000000000000"/>
                <a:cs typeface="VHEKSW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VHEKSW+CMBX12~c" panose="02000500000000000000"/>
                <a:cs typeface="VHEKSW+CMBX12~c" panose="02000500000000000000"/>
              </a:rPr>
              <a:t>2: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VHEKSW+CMBX12~c" panose="02000500000000000000"/>
                <a:cs typeface="VHEKSW+CMBX12~c" panose="02000500000000000000"/>
              </a:rPr>
              <a:t>Sub</a:t>
            </a:r>
            <a:r>
              <a:rPr sz="2500" spc="-4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VHEKSW+CMBX12~c" panose="02000500000000000000"/>
                <a:cs typeface="VHEKSW+CMBX12~c" panose="02000500000000000000"/>
              </a:rPr>
              <a:t>ject</a:t>
            </a:r>
            <a:r>
              <a:rPr sz="2500" spc="3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VHEKSW+CMBX12~c" panose="02000500000000000000"/>
                <a:cs typeface="VHEKSW+CMBX12~c" panose="02000500000000000000"/>
              </a:rPr>
              <a:t>domain</a:t>
            </a:r>
            <a:r>
              <a:rPr sz="250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VHEKSW+CMBX12~c" panose="02000500000000000000"/>
                <a:cs typeface="VHEKSW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VHEKSW+CMBX12~c" panose="02000500000000000000"/>
                <a:cs typeface="VHEKSW+CMBX12~c" panose="02000500000000000000"/>
              </a:rPr>
              <a:t>heating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VHEKSW+CMBX12~c" panose="02000500000000000000"/>
                <a:cs typeface="VHEKSW+CMBX12~c" panose="02000500000000000000"/>
              </a:rPr>
              <a:t>controller</a:t>
            </a:r>
            <a:endParaRPr sz="2500" spc="-19">
              <a:solidFill>
                <a:srgbClr val="000000"/>
              </a:solidFill>
              <a:latin typeface="VHEKSW+CMBX12~c" panose="02000500000000000000"/>
              <a:cs typeface="VHEKSW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37829" y="2444331"/>
            <a:ext cx="1714080" cy="8951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JRAEQ+Helvetica" panose="020B0604020202020204"/>
                <a:cs typeface="QJRAEQ+Helvetica" panose="020B0604020202020204"/>
              </a:rPr>
              <a:t>Thermometer</a:t>
            </a:r>
            <a:endParaRPr sz="1800">
              <a:solidFill>
                <a:srgbClr val="000000"/>
              </a:solidFill>
              <a:latin typeface="QJRAEQ+Helvetica" panose="020B0604020202020204"/>
              <a:cs typeface="QJRAEQ+Helvetica" panose="020B0604020202020204"/>
            </a:endParaRPr>
          </a:p>
          <a:p>
            <a:pPr marL="804545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JRAEQ+Helvetica" panose="020B0604020202020204"/>
                <a:cs typeface="QJRAEQ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QJRAEQ+Helvetica" panose="020B0604020202020204"/>
              <a:cs typeface="QJRAEQ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88323" y="3198305"/>
            <a:ext cx="469966" cy="5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JRAEQ+Helvetica" panose="020B0604020202020204"/>
                <a:cs typeface="QJRAEQ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QJRAEQ+Helvetica" panose="020B0604020202020204"/>
              <a:cs typeface="QJRAEQ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08545" y="3221152"/>
            <a:ext cx="1054093" cy="5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JRAEQ+Helvetica" panose="020B0604020202020204"/>
                <a:cs typeface="QJRAEQ+Helvetica" panose="020B0604020202020204"/>
              </a:rPr>
              <a:t>Recipe</a:t>
            </a:r>
            <a:endParaRPr sz="1800">
              <a:solidFill>
                <a:srgbClr val="000000"/>
              </a:solidFill>
              <a:latin typeface="QJRAEQ+Helvetica" panose="020B0604020202020204"/>
              <a:cs typeface="QJRAEQ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58727" y="3381083"/>
            <a:ext cx="927143" cy="5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JRAEQ+Helvetica" panose="020B0604020202020204"/>
                <a:cs typeface="QJRAEQ+Helvetica" panose="020B0604020202020204"/>
              </a:rPr>
              <a:t>Batch</a:t>
            </a:r>
            <a:endParaRPr sz="1800">
              <a:solidFill>
                <a:srgbClr val="000000"/>
              </a:solidFill>
              <a:latin typeface="QJRAEQ+Helvetica" panose="020B0604020202020204"/>
              <a:cs typeface="QJRAEQ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32480" y="3586706"/>
            <a:ext cx="1820706" cy="10550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384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JRAEQ+Helvetica" panose="020B0604020202020204"/>
                <a:cs typeface="QJRAEQ+Helvetica" panose="020B0604020202020204"/>
              </a:rPr>
              <a:t>Allocation</a:t>
            </a:r>
            <a:endParaRPr sz="1800">
              <a:solidFill>
                <a:srgbClr val="000000"/>
              </a:solidFill>
              <a:latin typeface="QJRAEQ+Helvetica" panose="020B0604020202020204"/>
              <a:cs typeface="QJRAEQ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159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JRAEQ+Helvetica" panose="020B0604020202020204"/>
                <a:cs typeface="QJRAEQ+Helvetica" panose="020B0604020202020204"/>
              </a:rPr>
              <a:t>1..2</a:t>
            </a:r>
            <a:r>
              <a:rPr sz="1800" spc="5134">
                <a:solidFill>
                  <a:srgbClr val="000000"/>
                </a:solidFill>
                <a:latin typeface="QJRAEQ+Helvetica" panose="020B0604020202020204"/>
                <a:cs typeface="QJRAEQ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QJRAEQ+Helvetica" panose="020B0604020202020204"/>
                <a:cs typeface="QJRAEQ+Helvetica" panose="020B0604020202020204"/>
              </a:rPr>
              <a:t>0..1</a:t>
            </a:r>
            <a:endParaRPr sz="1800">
              <a:solidFill>
                <a:srgbClr val="000000"/>
              </a:solidFill>
              <a:latin typeface="QJRAEQ+Helvetica" panose="020B0604020202020204"/>
              <a:cs typeface="QJRAEQ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29713" y="3609556"/>
            <a:ext cx="1130400" cy="895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JRAEQ+Helvetica" panose="020B0604020202020204"/>
                <a:cs typeface="QJRAEQ+Helvetica" panose="020B0604020202020204"/>
              </a:rPr>
              <a:t>Heating</a:t>
            </a:r>
            <a:endParaRPr sz="1800">
              <a:solidFill>
                <a:srgbClr val="000000"/>
              </a:solidFill>
              <a:latin typeface="QJRAEQ+Helvetica" panose="020B0604020202020204"/>
              <a:cs typeface="QJRAEQ+Helvetica" panose="020B0604020202020204"/>
            </a:endParaRPr>
          </a:p>
          <a:p>
            <a:pPr marL="1778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JRAEQ+Helvetica" panose="020B0604020202020204"/>
                <a:cs typeface="QJRAEQ+Helvetica" panose="020B0604020202020204"/>
              </a:rPr>
              <a:t>tank</a:t>
            </a:r>
            <a:endParaRPr sz="1800">
              <a:solidFill>
                <a:srgbClr val="000000"/>
              </a:solidFill>
              <a:latin typeface="QJRAEQ+Helvetica" panose="020B0604020202020204"/>
              <a:cs typeface="QJRAEQ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81610" y="3735210"/>
            <a:ext cx="914420" cy="5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JRAEQ+Helvetica" panose="020B0604020202020204"/>
                <a:cs typeface="QJRAEQ+Helvetica" panose="020B0604020202020204"/>
              </a:rPr>
              <a:t>name</a:t>
            </a:r>
            <a:endParaRPr sz="1800">
              <a:solidFill>
                <a:srgbClr val="000000"/>
              </a:solidFill>
              <a:latin typeface="QJRAEQ+Helvetica" panose="020B0604020202020204"/>
              <a:cs typeface="QJRAEQ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28146" y="3895154"/>
            <a:ext cx="1130288" cy="895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JRAEQ+Helvetica" panose="020B0604020202020204"/>
                <a:cs typeface="QJRAEQ+Helvetica" panose="020B0604020202020204"/>
              </a:rPr>
              <a:t>batchID</a:t>
            </a:r>
            <a:endParaRPr sz="1800">
              <a:solidFill>
                <a:srgbClr val="000000"/>
              </a:solidFill>
              <a:latin typeface="QJRAEQ+Helvetica" panose="020B0604020202020204"/>
              <a:cs typeface="QJRAEQ+Helvetica" panose="020B0604020202020204"/>
            </a:endParaRPr>
          </a:p>
          <a:p>
            <a:pPr marL="1143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JRAEQ+Helvetica" panose="020B0604020202020204"/>
                <a:cs typeface="QJRAEQ+Helvetica" panose="020B0604020202020204"/>
              </a:rPr>
              <a:t>amount</a:t>
            </a:r>
            <a:endParaRPr sz="1800">
              <a:solidFill>
                <a:srgbClr val="000000"/>
              </a:solidFill>
              <a:latin typeface="QJRAEQ+Helvetica" panose="020B0604020202020204"/>
              <a:cs typeface="QJRAEQ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60350" y="4032226"/>
            <a:ext cx="3282397" cy="895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JRAEQ+Helvetica" panose="020B0604020202020204"/>
                <a:cs typeface="QJRAEQ+Helvetica" panose="020B0604020202020204"/>
              </a:rPr>
              <a:t>*</a:t>
            </a:r>
            <a:r>
              <a:rPr sz="1800" spc="2247">
                <a:solidFill>
                  <a:srgbClr val="000000"/>
                </a:solidFill>
                <a:latin typeface="QJRAEQ+Helvetica" panose="020B0604020202020204"/>
                <a:cs typeface="QJRAEQ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QJRAEQ+Helvetica" panose="020B0604020202020204"/>
                <a:cs typeface="QJRAEQ+Helvetica" panose="020B0604020202020204"/>
              </a:rPr>
              <a:t>1</a:t>
            </a:r>
            <a:r>
              <a:rPr sz="1800" spc="1428">
                <a:solidFill>
                  <a:srgbClr val="000000"/>
                </a:solidFill>
                <a:latin typeface="QJRAEQ+Helvetica" panose="020B0604020202020204"/>
                <a:cs typeface="QJRAEQ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QJRAEQ+Helvetica" panose="020B0604020202020204"/>
                <a:cs typeface="QJRAEQ+Helvetica" panose="020B0604020202020204"/>
              </a:rPr>
              <a:t>desired temperature</a:t>
            </a:r>
            <a:endParaRPr sz="1800">
              <a:solidFill>
                <a:srgbClr val="000000"/>
              </a:solidFill>
              <a:latin typeface="QJRAEQ+Helvetica" panose="020B0604020202020204"/>
              <a:cs typeface="QJRAEQ+Helvetica" panose="020B0604020202020204"/>
            </a:endParaRPr>
          </a:p>
          <a:p>
            <a:pPr marL="821055" marR="0">
              <a:lnSpc>
                <a:spcPts val="2010"/>
              </a:lnSpc>
              <a:spcBef>
                <a:spcPts val="29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JRAEQ+Helvetica" panose="020B0604020202020204"/>
                <a:cs typeface="QJRAEQ+Helvetica" panose="020B0604020202020204"/>
              </a:rPr>
              <a:t>duration</a:t>
            </a:r>
            <a:endParaRPr sz="1800">
              <a:solidFill>
                <a:srgbClr val="000000"/>
              </a:solidFill>
              <a:latin typeface="QJRAEQ+Helvetica" panose="020B0604020202020204"/>
              <a:cs typeface="QJRAEQ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2628" y="4432059"/>
            <a:ext cx="469966" cy="10550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JRAEQ+Helvetica" panose="020B0604020202020204"/>
                <a:cs typeface="QJRAEQ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QJRAEQ+Helvetica" panose="020B0604020202020204"/>
              <a:cs typeface="QJRAEQ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159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JRAEQ+Helvetica" panose="020B0604020202020204"/>
                <a:cs typeface="QJRAEQ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QJRAEQ+Helvetica" panose="020B0604020202020204"/>
              <a:cs typeface="QJRAEQ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80538" y="5414506"/>
            <a:ext cx="1028657" cy="5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JRAEQ+Helvetica" panose="020B0604020202020204"/>
                <a:cs typeface="QJRAEQ+Helvetica" panose="020B0604020202020204"/>
              </a:rPr>
              <a:t>Heater</a:t>
            </a:r>
            <a:endParaRPr sz="1800">
              <a:solidFill>
                <a:srgbClr val="000000"/>
              </a:solidFill>
              <a:latin typeface="QJRAEQ+Helvetica" panose="020B0604020202020204"/>
              <a:cs typeface="QJRAEQ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44268" y="6078702"/>
            <a:ext cx="821792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PPCJGC+CMR10" panose="02000500000000000000"/>
                <a:cs typeface="PPCJGC+CMR10" panose="02000500000000000000"/>
              </a:rPr>
              <a:t>These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PCJGC+CMR10" panose="02000500000000000000"/>
                <a:cs typeface="PPCJGC+CMR10" panose="02000500000000000000"/>
              </a:rPr>
              <a:t>entities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PCJGC+CMR10" panose="02000500000000000000"/>
                <a:cs typeface="PPCJGC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PPCJGC+CMR10" panose="02000500000000000000"/>
                <a:cs typeface="PPCJGC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PCJGC+CMR10" panose="02000500000000000000"/>
                <a:cs typeface="PPCJGC+CMR10" panose="02000500000000000000"/>
              </a:rPr>
              <a:t>topic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PCJGC+CMR10" panose="02000500000000000000"/>
                <a:cs typeface="PPCJGC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PCJGC+CMR10" panose="02000500000000000000"/>
                <a:cs typeface="PPCJGC+CMR10" panose="02000500000000000000"/>
              </a:rPr>
              <a:t>interactions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PCJGC+CMR10" panose="02000500000000000000"/>
                <a:cs typeface="PPCJGC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PPCJGC+CMR10" panose="02000500000000000000"/>
                <a:cs typeface="PPCJGC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PCJGC+CMR10" panose="02000500000000000000"/>
                <a:cs typeface="PPCJGC+CMR10" panose="02000500000000000000"/>
              </a:rPr>
              <a:t>controller.</a:t>
            </a:r>
            <a:endParaRPr sz="2050">
              <a:solidFill>
                <a:srgbClr val="000000"/>
              </a:solidFill>
              <a:latin typeface="PPCJGC+CMR10" panose="02000500000000000000"/>
              <a:cs typeface="PPCJGC+CMR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PFOLJ+CMR7" panose="02000500000000000000"/>
                <a:cs typeface="APFOLJ+CMR7" panose="02000500000000000000"/>
              </a:rPr>
              <a:t>80</a:t>
            </a:r>
            <a:endParaRPr sz="1450">
              <a:solidFill>
                <a:srgbClr val="000000"/>
              </a:solidFill>
              <a:latin typeface="APFOLJ+CMR7" panose="02000500000000000000"/>
              <a:cs typeface="APFOLJ+CMR7" panose="0200050000000000000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734865"/>
            <a:ext cx="6347322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NCUIAN+CMBX12~c" panose="02000500000000000000"/>
                <a:cs typeface="NCUIAN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NCUIAN+CMBX12~c" panose="02000500000000000000"/>
                <a:cs typeface="NCUIAN+CMBX12~c" panose="02000500000000000000"/>
              </a:rPr>
              <a:t>3: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NCUIAN+CMBX12~c" panose="02000500000000000000"/>
                <a:cs typeface="NCUIAN+CMBX12~c" panose="02000500000000000000"/>
              </a:rPr>
              <a:t>Sub</a:t>
            </a:r>
            <a:r>
              <a:rPr sz="2500" spc="-4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NCUIAN+CMBX12~c" panose="02000500000000000000"/>
                <a:cs typeface="NCUIAN+CMBX12~c" panose="02000500000000000000"/>
              </a:rPr>
              <a:t>ject</a:t>
            </a:r>
            <a:r>
              <a:rPr sz="2500" spc="3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NCUIAN+CMBX12~c" panose="02000500000000000000"/>
                <a:cs typeface="NCUIAN+CMBX12~c" panose="02000500000000000000"/>
              </a:rPr>
              <a:t>domain</a:t>
            </a:r>
            <a:r>
              <a:rPr sz="250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NCUIAN+CMBX12~c" panose="02000500000000000000"/>
                <a:cs typeface="NCUIAN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NCUIAN+CMBX12~c" panose="02000500000000000000"/>
                <a:cs typeface="NCUIAN+CMBX12~c" panose="02000500000000000000"/>
              </a:rPr>
              <a:t>ETS</a:t>
            </a:r>
            <a:endParaRPr sz="2500" spc="-11">
              <a:solidFill>
                <a:srgbClr val="000000"/>
              </a:solidFill>
              <a:latin typeface="NCUIAN+CMBX12~c" panose="02000500000000000000"/>
              <a:cs typeface="NCUIAN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3686022"/>
            <a:ext cx="203304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3">
                <a:solidFill>
                  <a:srgbClr val="000000"/>
                </a:solidFill>
                <a:latin typeface="BHCOIW+CMR10" panose="02000500000000000000"/>
                <a:cs typeface="BHCOIW+CMR10" panose="02000500000000000000"/>
              </a:rPr>
              <a:t>See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BHCOIW+CMR10" panose="02000500000000000000"/>
                <a:cs typeface="BHCOIW+CMR10" panose="02000500000000000000"/>
              </a:rPr>
              <a:t>next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HCOIW+CMR10" panose="02000500000000000000"/>
                <a:cs typeface="BHCOIW+CMR10" panose="02000500000000000000"/>
              </a:rPr>
              <a:t>slide.</a:t>
            </a:r>
            <a:endParaRPr sz="2050">
              <a:solidFill>
                <a:srgbClr val="000000"/>
              </a:solidFill>
              <a:latin typeface="BHCOIW+CMR10" panose="02000500000000000000"/>
              <a:cs typeface="BHCOIW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1" y="4205706"/>
            <a:ext cx="7859261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HSFQG+CMSY10~25" panose="02000500000000000000"/>
                <a:cs typeface="CHSFQ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HCOIW+CMR10" panose="02000500000000000000"/>
                <a:cs typeface="BHCOIW+CMR10" panose="02000500000000000000"/>
              </a:rPr>
              <a:t>These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HCOIW+CMR10" panose="02000500000000000000"/>
                <a:cs typeface="BHCOIW+CMR10" panose="02000500000000000000"/>
              </a:rPr>
              <a:t>entities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HCOIW+CMR10" panose="02000500000000000000"/>
                <a:cs typeface="BHCOIW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HCOIW+CMR10" panose="02000500000000000000"/>
                <a:cs typeface="BHCOIW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HCOIW+CMR10" panose="02000500000000000000"/>
                <a:cs typeface="BHCOIW+CMR10" panose="02000500000000000000"/>
              </a:rPr>
              <a:t>topic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HCOIW+CMR10" panose="02000500000000000000"/>
                <a:cs typeface="BHCOIW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HCOIW+CMR10" panose="02000500000000000000"/>
                <a:cs typeface="BHCOIW+CMR10" panose="02000500000000000000"/>
              </a:rPr>
              <a:t>interactions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HCOIW+CMR10" panose="02000500000000000000"/>
                <a:cs typeface="BHCOIW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HCOIW+CMR10" panose="02000500000000000000"/>
                <a:cs typeface="BHCOIW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HCOIW+CMR10" panose="02000500000000000000"/>
                <a:cs typeface="BHCOIW+CMR10" panose="02000500000000000000"/>
              </a:rPr>
              <a:t>ETS.</a:t>
            </a:r>
            <a:endParaRPr sz="2050" spc="10">
              <a:solidFill>
                <a:srgbClr val="000000"/>
              </a:solidFill>
              <a:latin typeface="BHCOIW+CMR10" panose="02000500000000000000"/>
              <a:cs typeface="BHCOIW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HSFQG+CMSY10~25" panose="02000500000000000000"/>
                <a:cs typeface="CHSFQ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HCOIW+CMR10" panose="02000500000000000000"/>
                <a:cs typeface="BHCOIW+CMR10" panose="02000500000000000000"/>
              </a:rPr>
              <a:t>Some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HCOIW+CMR10" panose="02000500000000000000"/>
                <a:cs typeface="BHCOIW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BHCOIW+CMR10" panose="02000500000000000000"/>
                <a:cs typeface="BHCOIW+CMR10" panose="02000500000000000000"/>
              </a:rPr>
              <a:t>them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HCOIW+CMR10" panose="02000500000000000000"/>
                <a:cs typeface="BHCOIW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HCOIW+CMR10" panose="02000500000000000000"/>
                <a:cs typeface="BHCOIW+CMR10" panose="02000500000000000000"/>
              </a:rPr>
              <a:t>lexical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HCOIW+CMR10" panose="02000500000000000000"/>
                <a:cs typeface="BHCOIW+CMR10" panose="02000500000000000000"/>
              </a:rPr>
              <a:t>entities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HCOIW+CMR10" panose="02000500000000000000"/>
                <a:cs typeface="BHCOIW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BHCOIW+CMR10" panose="02000500000000000000"/>
                <a:cs typeface="BHCOIW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HCOIW+CMR10" panose="02000500000000000000"/>
                <a:cs typeface="BHCOIW+CMR10" panose="02000500000000000000"/>
              </a:rPr>
              <a:t>stored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HCOIW+CMR10" panose="02000500000000000000"/>
                <a:cs typeface="BHCOIW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HCOIW+CMR10" panose="02000500000000000000"/>
                <a:cs typeface="BHCOIW+CMR10" panose="02000500000000000000"/>
              </a:rPr>
              <a:t>ETS.</a:t>
            </a:r>
            <a:endParaRPr sz="2050" spc="10">
              <a:solidFill>
                <a:srgbClr val="000000"/>
              </a:solidFill>
              <a:latin typeface="BHCOIW+CMR10" panose="02000500000000000000"/>
              <a:cs typeface="BHCOIW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OVNTBK+CMR7" panose="02000500000000000000"/>
                <a:cs typeface="OVNTBK+CMR7" panose="02000500000000000000"/>
              </a:rPr>
              <a:t>81</a:t>
            </a:r>
            <a:endParaRPr sz="1450">
              <a:solidFill>
                <a:srgbClr val="000000"/>
              </a:solidFill>
              <a:latin typeface="OVNTBK+CMR7" panose="02000500000000000000"/>
              <a:cs typeface="OVNTBK+CMR7" panose="0200050000000000000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08623" y="1283040"/>
            <a:ext cx="1494452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2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Railway</a:t>
            </a: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 station</a:t>
            </a:r>
            <a:endParaRPr sz="1450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99497" y="1564866"/>
            <a:ext cx="885279" cy="941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215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4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Bank</a:t>
            </a:r>
            <a:endParaRPr sz="1450" spc="-14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  <a:p>
            <a:pPr marL="0" marR="0">
              <a:lnSpc>
                <a:spcPts val="1595"/>
              </a:lnSpc>
              <a:spcBef>
                <a:spcPts val="2000"/>
              </a:spcBef>
              <a:spcAft>
                <a:spcPct val="0"/>
              </a:spcAft>
            </a:pPr>
            <a:r>
              <a:rPr sz="1450" spc="-15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name</a:t>
            </a:r>
            <a:endParaRPr sz="1450" spc="-15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18130" y="1605125"/>
            <a:ext cx="427350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to</a:t>
            </a:r>
            <a:endParaRPr sz="1450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96936" y="1605125"/>
            <a:ext cx="739327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67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f1rom</a:t>
            </a:r>
            <a:endParaRPr sz="1450" spc="-167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91388" y="1605125"/>
            <a:ext cx="376984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1</a:t>
            </a:r>
            <a:endParaRPr sz="1450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5315" y="1685643"/>
            <a:ext cx="930849" cy="740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3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Account</a:t>
            </a:r>
            <a:endParaRPr sz="1450" spc="-13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  <a:p>
            <a:pPr marL="100965" marR="0">
              <a:lnSpc>
                <a:spcPts val="1595"/>
              </a:lnSpc>
              <a:spcBef>
                <a:spcPts val="465"/>
              </a:spcBef>
              <a:spcAft>
                <a:spcPct val="0"/>
              </a:spcAft>
            </a:pPr>
            <a:r>
              <a:rPr sz="1450" spc="-12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holder</a:t>
            </a:r>
            <a:endParaRPr sz="1450" spc="-12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63892" y="1866813"/>
            <a:ext cx="769670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3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where</a:t>
            </a:r>
            <a:endParaRPr sz="1450" spc="-13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32903" y="1907073"/>
            <a:ext cx="769670" cy="740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3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where</a:t>
            </a:r>
            <a:endParaRPr sz="1450" spc="-13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  <a:p>
            <a:pPr marL="75565" marR="0">
              <a:lnSpc>
                <a:spcPts val="1595"/>
              </a:lnSpc>
              <a:spcBef>
                <a:spcPts val="465"/>
              </a:spcBef>
              <a:spcAft>
                <a:spcPct val="0"/>
              </a:spcAft>
            </a:pPr>
            <a:r>
              <a:rPr sz="1450" spc="-13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used</a:t>
            </a:r>
            <a:endParaRPr sz="1450" spc="-13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03381" y="2128505"/>
            <a:ext cx="890687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1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aborted</a:t>
            </a:r>
            <a:endParaRPr sz="1450" spc="-11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85175" y="2269411"/>
            <a:ext cx="729420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5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name</a:t>
            </a:r>
            <a:endParaRPr sz="1450" spc="-15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99497" y="2289551"/>
            <a:ext cx="961015" cy="740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identifier</a:t>
            </a:r>
            <a:endParaRPr sz="1450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  <a:p>
            <a:pPr marL="0" marR="0">
              <a:lnSpc>
                <a:spcPts val="1595"/>
              </a:lnSpc>
              <a:spcBef>
                <a:spcPts val="465"/>
              </a:spcBef>
              <a:spcAft>
                <a:spcPct val="0"/>
              </a:spcAft>
            </a:pPr>
            <a:r>
              <a:rPr sz="1450" spc="-12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address</a:t>
            </a:r>
            <a:endParaRPr sz="1450" spc="-12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89154" y="2390201"/>
            <a:ext cx="1333332" cy="800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2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Rail</a:t>
            </a: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 </a:t>
            </a:r>
            <a:r>
              <a:rPr sz="1450" spc="-14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segment</a:t>
            </a:r>
            <a:endParaRPr sz="1450" spc="-14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  <a:p>
            <a:pPr marL="674370" marR="0">
              <a:lnSpc>
                <a:spcPts val="1595"/>
              </a:lnSpc>
              <a:spcBef>
                <a:spcPts val="94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1..*</a:t>
            </a:r>
            <a:endParaRPr sz="1450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81624" y="2490848"/>
            <a:ext cx="376984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1</a:t>
            </a:r>
            <a:endParaRPr sz="1450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53084" y="2490848"/>
            <a:ext cx="376984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1</a:t>
            </a:r>
            <a:endParaRPr sz="1450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85175" y="2531103"/>
            <a:ext cx="920765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2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address</a:t>
            </a:r>
            <a:endParaRPr sz="1450" spc="-12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76035" y="3396701"/>
            <a:ext cx="850122" cy="800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2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Route</a:t>
            </a:r>
            <a:endParaRPr sz="1450" spc="-12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  <a:p>
            <a:pPr marL="473075" marR="0">
              <a:lnSpc>
                <a:spcPts val="1595"/>
              </a:lnSpc>
              <a:spcBef>
                <a:spcPts val="94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1</a:t>
            </a:r>
            <a:endParaRPr sz="1450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43406" y="3477232"/>
            <a:ext cx="1847012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1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Ticket</a:t>
            </a: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 </a:t>
            </a:r>
            <a:r>
              <a:rPr sz="1450" spc="-13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usage</a:t>
            </a: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 </a:t>
            </a:r>
            <a:r>
              <a:rPr sz="1450" spc="-13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stamp</a:t>
            </a:r>
            <a:endParaRPr sz="1450" spc="-13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11218" y="3718786"/>
            <a:ext cx="1867122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1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Ticket</a:t>
            </a: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 </a:t>
            </a:r>
            <a:r>
              <a:rPr sz="1450" spc="-11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refund</a:t>
            </a: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 </a:t>
            </a:r>
            <a:r>
              <a:rPr sz="1450" spc="-13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stamp</a:t>
            </a:r>
            <a:endParaRPr sz="1450" spc="-13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28694" y="3879828"/>
            <a:ext cx="638570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from</a:t>
            </a:r>
            <a:endParaRPr sz="1450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67660" y="3920094"/>
            <a:ext cx="930849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3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Account</a:t>
            </a:r>
            <a:endParaRPr sz="1450" spc="-13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83970" y="3940223"/>
            <a:ext cx="618487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time</a:t>
            </a:r>
            <a:endParaRPr sz="1450" spc="-10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61840" y="4181777"/>
            <a:ext cx="628837" cy="7403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time</a:t>
            </a:r>
            <a:endParaRPr sz="1450" spc="-10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  <a:p>
            <a:pPr marL="0" marR="0">
              <a:lnSpc>
                <a:spcPts val="1595"/>
              </a:lnSpc>
              <a:spcBef>
                <a:spcPts val="465"/>
              </a:spcBef>
              <a:spcAft>
                <a:spcPct val="0"/>
              </a:spcAft>
            </a:pPr>
            <a:r>
              <a:rPr sz="1450" spc="-11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date</a:t>
            </a:r>
            <a:endParaRPr sz="1450" spc="-11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83970" y="4201915"/>
            <a:ext cx="628837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1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date</a:t>
            </a:r>
            <a:endParaRPr sz="1450" spc="-11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92336" y="4383085"/>
            <a:ext cx="910857" cy="740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5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number</a:t>
            </a:r>
            <a:endParaRPr sz="1450" spc="-15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  <a:p>
            <a:pPr marL="0" marR="0">
              <a:lnSpc>
                <a:spcPts val="1595"/>
              </a:lnSpc>
              <a:spcBef>
                <a:spcPts val="465"/>
              </a:spcBef>
              <a:spcAft>
                <a:spcPct val="0"/>
              </a:spcAft>
            </a:pPr>
            <a:r>
              <a:rPr sz="1450" spc="-12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balance</a:t>
            </a:r>
            <a:endParaRPr sz="1450" spc="-12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60154" y="4403214"/>
            <a:ext cx="376984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1</a:t>
            </a:r>
            <a:endParaRPr sz="1450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76124" y="4423344"/>
            <a:ext cx="759409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1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Ticket</a:t>
            </a:r>
            <a:endParaRPr sz="1450" spc="-11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283970" y="4463607"/>
            <a:ext cx="1192412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trip</a:t>
            </a:r>
            <a:r>
              <a:rPr sz="1450" spc="-13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 </a:t>
            </a:r>
            <a:r>
              <a:rPr sz="1450" spc="-15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number</a:t>
            </a:r>
            <a:endParaRPr sz="1450" spc="-15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33300" y="4886335"/>
            <a:ext cx="1434275" cy="7403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1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date</a:t>
            </a: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 </a:t>
            </a:r>
            <a:r>
              <a:rPr sz="1450" spc="-13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of</a:t>
            </a: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 validity</a:t>
            </a:r>
            <a:endParaRPr sz="1450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  <a:p>
            <a:pPr marL="0" marR="0">
              <a:lnSpc>
                <a:spcPts val="1595"/>
              </a:lnSpc>
              <a:spcBef>
                <a:spcPts val="465"/>
              </a:spcBef>
              <a:spcAft>
                <a:spcPct val="0"/>
              </a:spcAft>
            </a:pPr>
            <a:r>
              <a:rPr sz="1450" spc="-11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class</a:t>
            </a:r>
            <a:endParaRPr sz="1450" spc="-11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37378" y="4966853"/>
            <a:ext cx="940711" cy="820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0..1</a:t>
            </a:r>
            <a:endParaRPr sz="1450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  <a:p>
            <a:pPr marL="563880" marR="0">
              <a:lnSpc>
                <a:spcPts val="1595"/>
              </a:lnSpc>
              <a:spcBef>
                <a:spcPts val="110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1</a:t>
            </a:r>
            <a:endParaRPr sz="1450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95741" y="4986983"/>
            <a:ext cx="1001217" cy="8409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3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Refund</a:t>
            </a:r>
            <a:endParaRPr sz="1450" spc="-13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  <a:p>
            <a:pPr marL="422910" marR="0">
              <a:lnSpc>
                <a:spcPts val="1595"/>
              </a:lnSpc>
              <a:spcBef>
                <a:spcPts val="121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0..1</a:t>
            </a:r>
            <a:endParaRPr sz="1450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23146" y="5168161"/>
            <a:ext cx="376984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1</a:t>
            </a:r>
            <a:endParaRPr sz="1450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633300" y="5409722"/>
            <a:ext cx="668911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price</a:t>
            </a:r>
            <a:endParaRPr sz="1450" spc="-10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233602" y="5409728"/>
            <a:ext cx="376984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1</a:t>
            </a:r>
            <a:endParaRPr sz="1450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633300" y="5671416"/>
            <a:ext cx="1484487" cy="740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train</a:t>
            </a:r>
            <a:r>
              <a:rPr sz="1450" spc="-11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 </a:t>
            </a:r>
            <a:r>
              <a:rPr sz="1450" spc="-1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type</a:t>
            </a:r>
            <a:endParaRPr sz="1450" spc="-10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  <a:p>
            <a:pPr marL="0" marR="0">
              <a:lnSpc>
                <a:spcPts val="1595"/>
              </a:lnSpc>
              <a:spcBef>
                <a:spcPts val="465"/>
              </a:spcBef>
              <a:spcAft>
                <a:spcPct val="0"/>
              </a:spcAft>
            </a:pPr>
            <a:r>
              <a:rPr sz="1450" spc="-1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return </a:t>
            </a:r>
            <a:r>
              <a:rPr sz="1450" spc="-13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or</a:t>
            </a: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 </a:t>
            </a:r>
            <a:r>
              <a:rPr sz="1450" spc="-1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single</a:t>
            </a:r>
            <a:endParaRPr sz="1450" spc="-10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38145" y="5731799"/>
            <a:ext cx="991181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4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Payment</a:t>
            </a:r>
            <a:endParaRPr sz="1450" spc="-14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549778" y="5993496"/>
            <a:ext cx="376984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1</a:t>
            </a:r>
            <a:endParaRPr sz="1450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301106" y="5993496"/>
            <a:ext cx="376984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1</a:t>
            </a:r>
            <a:endParaRPr sz="1450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472854" y="6194797"/>
            <a:ext cx="628837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1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date</a:t>
            </a:r>
            <a:endParaRPr sz="1450" spc="-11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140675" y="6315575"/>
            <a:ext cx="376984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1</a:t>
            </a:r>
            <a:endParaRPr sz="1450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472854" y="6456491"/>
            <a:ext cx="880514" cy="478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ct val="0"/>
              </a:spcBef>
              <a:spcAft>
                <a:spcPct val="0"/>
              </a:spcAft>
            </a:pPr>
            <a:r>
              <a:rPr sz="1450" spc="-15">
                <a:solidFill>
                  <a:srgbClr val="000000"/>
                </a:solidFill>
                <a:latin typeface="WWPWRC+Helvetica" panose="020B0604020202020204"/>
                <a:cs typeface="WWPWRC+Helvetica" panose="020B0604020202020204"/>
              </a:rPr>
              <a:t>amount</a:t>
            </a:r>
            <a:endParaRPr sz="1450" spc="-15">
              <a:solidFill>
                <a:srgbClr val="000000"/>
              </a:solidFill>
              <a:latin typeface="WWPWRC+Helvetica" panose="020B0604020202020204"/>
              <a:cs typeface="WWPWRC+Helvetica" panose="020B060402020202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BGGKQJ+CMR7" panose="02000500000000000000"/>
                <a:cs typeface="BGGKQJ+CMR7" panose="02000500000000000000"/>
              </a:rPr>
              <a:t>82</a:t>
            </a:r>
            <a:endParaRPr sz="1450">
              <a:solidFill>
                <a:srgbClr val="000000"/>
              </a:solidFill>
              <a:latin typeface="BGGKQJ+CMR7" panose="02000500000000000000"/>
              <a:cs typeface="BGGKQJ+CMR7" panose="0200050000000000000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03601"/>
            <a:ext cx="5501989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7">
                <a:solidFill>
                  <a:srgbClr val="000000"/>
                </a:solidFill>
                <a:latin typeface="EMKIDH+CMBX12~c" panose="02000500000000000000"/>
                <a:cs typeface="EMKIDH+CMBX12~c" panose="02000500000000000000"/>
              </a:rPr>
              <a:t>Syntax</a:t>
            </a:r>
            <a:r>
              <a:rPr sz="2500" spc="3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EMKIDH+CMBX12~c" panose="02000500000000000000"/>
                <a:cs typeface="EMKIDH+CMBX12~c" panose="02000500000000000000"/>
              </a:rPr>
              <a:t>and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0">
                <a:solidFill>
                  <a:srgbClr val="000000"/>
                </a:solidFill>
                <a:latin typeface="EMKIDH+CMBX12~c" panose="02000500000000000000"/>
                <a:cs typeface="EMKIDH+CMBX12~c" panose="02000500000000000000"/>
              </a:rPr>
              <a:t>semantics</a:t>
            </a:r>
            <a:r>
              <a:rPr sz="2500" spc="3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EMKIDH+CMBX12~c" panose="02000500000000000000"/>
                <a:cs typeface="EMKIDH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7">
                <a:solidFill>
                  <a:srgbClr val="000000"/>
                </a:solidFill>
                <a:latin typeface="EMKIDH+CMBX12~c" panose="02000500000000000000"/>
                <a:cs typeface="EMKIDH+CMBX12~c" panose="02000500000000000000"/>
              </a:rPr>
              <a:t>ERDs</a:t>
            </a:r>
            <a:endParaRPr sz="2500" spc="-17">
              <a:solidFill>
                <a:srgbClr val="000000"/>
              </a:solidFill>
              <a:latin typeface="EMKIDH+CMBX12~c" panose="02000500000000000000"/>
              <a:cs typeface="EMKIDH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16886" y="2221932"/>
            <a:ext cx="863556" cy="5980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VOCHSJ+Helvetica" panose="020B0604020202020204"/>
                <a:cs typeface="VOCHSJ+Helvetica" panose="020B0604020202020204"/>
              </a:rPr>
              <a:t>Bank</a:t>
            </a:r>
            <a:endParaRPr sz="1800">
              <a:solidFill>
                <a:srgbClr val="000000"/>
              </a:solidFill>
              <a:latin typeface="VOCHSJ+Helvetica" panose="020B0604020202020204"/>
              <a:cs typeface="VOCHSJ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50346" y="2221932"/>
            <a:ext cx="1878888" cy="5980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VOCHSJ+Helvetica" panose="020B0604020202020204"/>
                <a:cs typeface="VOCHSJ+Helvetica" panose="020B0604020202020204"/>
              </a:rPr>
              <a:t>Railway station</a:t>
            </a:r>
            <a:endParaRPr sz="1800">
              <a:solidFill>
                <a:srgbClr val="000000"/>
              </a:solidFill>
              <a:latin typeface="VOCHSJ+Helvetica" panose="020B0604020202020204"/>
              <a:cs typeface="VOCHSJ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54849" y="2221932"/>
            <a:ext cx="952117" cy="5980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VOCHSJ+Helvetica" panose="020B0604020202020204"/>
                <a:cs typeface="VOCHSJ+Helvetica" panose="020B0604020202020204"/>
              </a:rPr>
              <a:t>Ticket</a:t>
            </a:r>
            <a:endParaRPr sz="1800">
              <a:solidFill>
                <a:srgbClr val="000000"/>
              </a:solidFill>
              <a:latin typeface="VOCHSJ+Helvetica" panose="020B0604020202020204"/>
              <a:cs typeface="VOCHSJ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4268" y="3074837"/>
            <a:ext cx="1984541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21">
                <a:solidFill>
                  <a:srgbClr val="000000"/>
                </a:solidFill>
                <a:latin typeface="WVPCQJ+CMBX10" panose="02000500000000000000"/>
                <a:cs typeface="WVPCQJ+CMBX10" panose="02000500000000000000"/>
              </a:rPr>
              <a:t>Entity</a:t>
            </a:r>
            <a:r>
              <a:rPr sz="2050" spc="32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">
                <a:solidFill>
                  <a:srgbClr val="000000"/>
                </a:solidFill>
                <a:latin typeface="WVPCQJ+CMBX10" panose="02000500000000000000"/>
                <a:cs typeface="WVPCQJ+CMBX10" panose="02000500000000000000"/>
              </a:rPr>
              <a:t>typ</a:t>
            </a:r>
            <a:r>
              <a:rPr sz="2050" spc="-4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VPCQJ+CMBX10" panose="02000500000000000000"/>
                <a:cs typeface="WVPCQJ+CMBX10" panose="02000500000000000000"/>
              </a:rPr>
              <a:t>e.</a:t>
            </a:r>
            <a:endParaRPr sz="2050">
              <a:solidFill>
                <a:srgbClr val="000000"/>
              </a:solidFill>
              <a:latin typeface="WVPCQJ+CMBX10" panose="02000500000000000000"/>
              <a:cs typeface="WVPCQJ+CMBX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73" y="3588486"/>
            <a:ext cx="8256355" cy="3526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QSGAJ+CMSY10~25" panose="02000500000000000000"/>
                <a:cs typeface="JQSGA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Represented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rectangle.</a:t>
            </a:r>
            <a:endParaRPr sz="2050">
              <a:solidFill>
                <a:srgbClr val="000000"/>
              </a:solidFill>
              <a:latin typeface="NBJGCQ+CMR10" panose="02000500000000000000"/>
              <a:cs typeface="NBJGCQ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QSGAJ+CMSY10~25" panose="02000500000000000000"/>
                <a:cs typeface="JQSGA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VPCQJ+CMBX10" panose="02000500000000000000"/>
                <a:cs typeface="WVPCQJ+CMBX10" panose="02000500000000000000"/>
              </a:rPr>
              <a:t>Extension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=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All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GQJBWL+CMTI10" panose="02000500000000000000"/>
                <a:cs typeface="GQJBWL+CMTI10" panose="02000500000000000000"/>
              </a:rPr>
              <a:t>possible</a:t>
            </a:r>
            <a:r>
              <a:rPr sz="20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instances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entity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type.</a:t>
            </a:r>
            <a:endParaRPr sz="2050" spc="11">
              <a:solidFill>
                <a:srgbClr val="000000"/>
              </a:solidFill>
              <a:latin typeface="NBJGCQ+CMR10" panose="02000500000000000000"/>
              <a:cs typeface="NBJGCQ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QSGAJ+CMSY10~25" panose="02000500000000000000"/>
                <a:cs typeface="JQSGA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VPCQJ+CMBX10" panose="02000500000000000000"/>
                <a:cs typeface="WVPCQJ+CMBX10" panose="02000500000000000000"/>
              </a:rPr>
              <a:t>Extent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=</a:t>
            </a:r>
            <a:r>
              <a:rPr sz="2050" spc="1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All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QJBWL+CMTI10" panose="02000500000000000000"/>
                <a:cs typeface="GQJBWL+CMTI10" panose="02000500000000000000"/>
              </a:rPr>
              <a:t>existing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instances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entity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type.</a:t>
            </a:r>
            <a:endParaRPr sz="2050" spc="11">
              <a:solidFill>
                <a:srgbClr val="000000"/>
              </a:solidFill>
              <a:latin typeface="NBJGCQ+CMR10" panose="02000500000000000000"/>
              <a:cs typeface="NBJGCQ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QSGAJ+CMSY10~25" panose="02000500000000000000"/>
                <a:cs typeface="JQSGA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VPCQJ+CMBX10" panose="02000500000000000000"/>
                <a:cs typeface="WVPCQJ+CMBX10" panose="02000500000000000000"/>
              </a:rPr>
              <a:t>Intension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=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All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properties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shared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all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possible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instances.</a:t>
            </a:r>
            <a:endParaRPr sz="2050" spc="10">
              <a:solidFill>
                <a:srgbClr val="000000"/>
              </a:solidFill>
              <a:latin typeface="NBJGCQ+CMR10" panose="02000500000000000000"/>
              <a:cs typeface="NBJGCQ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QSGAJ+CMSY10~25" panose="02000500000000000000"/>
                <a:cs typeface="JQSGA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WVPCQJ+CMBX10" panose="02000500000000000000"/>
                <a:cs typeface="WVPCQJ+CMBX10" panose="02000500000000000000"/>
              </a:rPr>
              <a:t>Deﬁning</a:t>
            </a:r>
            <a:r>
              <a:rPr sz="2050" spc="2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VPCQJ+CMBX10" panose="02000500000000000000"/>
                <a:cs typeface="WVPCQJ+CMBX10" panose="02000500000000000000"/>
              </a:rPr>
              <a:t>intension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=</a:t>
            </a:r>
            <a:r>
              <a:rPr sz="2050" spc="1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Properties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used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deﬁne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entity</a:t>
            </a:r>
            <a:endParaRPr sz="2050" spc="-14">
              <a:solidFill>
                <a:srgbClr val="000000"/>
              </a:solidFill>
              <a:latin typeface="NBJGCQ+CMR10" panose="02000500000000000000"/>
              <a:cs typeface="NBJGCQ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type.</a:t>
            </a:r>
            <a:r>
              <a:rPr sz="2050" spc="3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is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abstraction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(simpliﬁcation)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full,</a:t>
            </a:r>
            <a:endParaRPr sz="2050">
              <a:solidFill>
                <a:srgbClr val="000000"/>
              </a:solidFill>
              <a:latin typeface="NBJGCQ+CMR10" panose="02000500000000000000"/>
              <a:cs typeface="NBJGCQ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informal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BJGCQ+CMR10" panose="02000500000000000000"/>
                <a:cs typeface="NBJGCQ+CMR10" panose="02000500000000000000"/>
              </a:rPr>
              <a:t>meaning.</a:t>
            </a:r>
            <a:endParaRPr sz="2050">
              <a:solidFill>
                <a:srgbClr val="000000"/>
              </a:solidFill>
              <a:latin typeface="NBJGCQ+CMR10" panose="02000500000000000000"/>
              <a:cs typeface="NBJGCQ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LALFNF+CMR7" panose="02000500000000000000"/>
                <a:cs typeface="LALFNF+CMR7" panose="02000500000000000000"/>
              </a:rPr>
              <a:t>83</a:t>
            </a:r>
            <a:endParaRPr sz="1450">
              <a:solidFill>
                <a:srgbClr val="000000"/>
              </a:solidFill>
              <a:latin typeface="LALFNF+CMR7" panose="02000500000000000000"/>
              <a:cs typeface="LALFNF+CMR7" panose="0200050000000000000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2093873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0">
                <a:solidFill>
                  <a:srgbClr val="000000"/>
                </a:solidFill>
                <a:latin typeface="FBSNVT+CMBX12~c" panose="02000500000000000000"/>
                <a:cs typeface="FBSNVT+CMBX12~c" panose="02000500000000000000"/>
              </a:rPr>
              <a:t>Attributes</a:t>
            </a:r>
            <a:endParaRPr sz="2500" spc="-20">
              <a:solidFill>
                <a:srgbClr val="000000"/>
              </a:solidFill>
              <a:latin typeface="FBSNVT+CMBX12~c" panose="02000500000000000000"/>
              <a:cs typeface="FBSNVT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54849" y="2090830"/>
            <a:ext cx="952117" cy="5980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IDEFU+Helvetica" panose="020B0604020202020204"/>
                <a:cs typeface="SIDEFU+Helvetica" panose="020B0604020202020204"/>
              </a:rPr>
              <a:t>Ticket</a:t>
            </a:r>
            <a:endParaRPr sz="1800">
              <a:solidFill>
                <a:srgbClr val="000000"/>
              </a:solidFill>
              <a:latin typeface="SIDEFU+Helvetica" panose="020B0604020202020204"/>
              <a:cs typeface="SIDEFU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16886" y="2273570"/>
            <a:ext cx="863556" cy="5980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IDEFU+Helvetica" panose="020B0604020202020204"/>
                <a:cs typeface="SIDEFU+Helvetica" panose="020B0604020202020204"/>
              </a:rPr>
              <a:t>Bank</a:t>
            </a:r>
            <a:endParaRPr sz="1800">
              <a:solidFill>
                <a:srgbClr val="000000"/>
              </a:solidFill>
              <a:latin typeface="SIDEFU+Helvetica" panose="020B0604020202020204"/>
              <a:cs typeface="SIDEFU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21860" y="2661898"/>
            <a:ext cx="2207374" cy="1283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8295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IDEFU+Helvetica" panose="020B0604020202020204"/>
                <a:cs typeface="SIDEFU+Helvetica" panose="020B0604020202020204"/>
              </a:rPr>
              <a:t>Railway station</a:t>
            </a:r>
            <a:endParaRPr sz="1800">
              <a:solidFill>
                <a:srgbClr val="000000"/>
              </a:solidFill>
              <a:latin typeface="SIDEFU+Helvetica" panose="020B0604020202020204"/>
              <a:cs typeface="SIDEFU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85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IDEFU+Helvetica" panose="020B0604020202020204"/>
                <a:cs typeface="SIDEFU+Helvetica" panose="020B0604020202020204"/>
              </a:rPr>
              <a:t>name</a:t>
            </a:r>
            <a:endParaRPr sz="1800">
              <a:solidFill>
                <a:srgbClr val="000000"/>
              </a:solidFill>
              <a:latin typeface="SIDEFU+Helvetica" panose="020B0604020202020204"/>
              <a:cs typeface="SIDEFU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63004" y="2776122"/>
            <a:ext cx="1803014" cy="9864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IDEFU+Helvetica" panose="020B0604020202020204"/>
                <a:cs typeface="SIDEFU+Helvetica" panose="020B0604020202020204"/>
              </a:rPr>
              <a:t>date of validity</a:t>
            </a:r>
            <a:endParaRPr sz="1800">
              <a:solidFill>
                <a:srgbClr val="000000"/>
              </a:solidFill>
              <a:latin typeface="SIDEFU+Helvetica" panose="020B0604020202020204"/>
              <a:cs typeface="SIDEFU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110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IDEFU+Helvetica" panose="020B0604020202020204"/>
                <a:cs typeface="SIDEFU+Helvetica" panose="020B0604020202020204"/>
              </a:rPr>
              <a:t>class</a:t>
            </a:r>
            <a:endParaRPr sz="1800">
              <a:solidFill>
                <a:srgbClr val="000000"/>
              </a:solidFill>
              <a:latin typeface="SIDEFU+Helvetica" panose="020B0604020202020204"/>
              <a:cs typeface="SIDEFU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0731" y="2958862"/>
            <a:ext cx="914306" cy="5980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IDEFU+Helvetica" panose="020B0604020202020204"/>
                <a:cs typeface="SIDEFU+Helvetica" panose="020B0604020202020204"/>
              </a:rPr>
              <a:t>name</a:t>
            </a:r>
            <a:endParaRPr sz="1800">
              <a:solidFill>
                <a:srgbClr val="000000"/>
              </a:solidFill>
              <a:latin typeface="SIDEFU+Helvetica" panose="020B0604020202020204"/>
              <a:cs typeface="SIDEFU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80731" y="3347191"/>
            <a:ext cx="1206311" cy="9864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IDEFU+Helvetica" panose="020B0604020202020204"/>
                <a:cs typeface="SIDEFU+Helvetica" panose="020B0604020202020204"/>
              </a:rPr>
              <a:t>identifier</a:t>
            </a:r>
            <a:endParaRPr sz="1800">
              <a:solidFill>
                <a:srgbClr val="000000"/>
              </a:solidFill>
              <a:latin typeface="SIDEFU+Helvetica" panose="020B0604020202020204"/>
              <a:cs typeface="SIDEFU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110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IDEFU+Helvetica" panose="020B0604020202020204"/>
                <a:cs typeface="SIDEFU+Helvetica" panose="020B0604020202020204"/>
              </a:rPr>
              <a:t>address</a:t>
            </a:r>
            <a:endParaRPr sz="1800">
              <a:solidFill>
                <a:srgbClr val="000000"/>
              </a:solidFill>
              <a:latin typeface="SIDEFU+Helvetica" panose="020B0604020202020204"/>
              <a:cs typeface="SIDEFU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63004" y="3552779"/>
            <a:ext cx="838014" cy="5980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IDEFU+Helvetica" panose="020B0604020202020204"/>
                <a:cs typeface="SIDEFU+Helvetica" panose="020B0604020202020204"/>
              </a:rPr>
              <a:t>price</a:t>
            </a:r>
            <a:endParaRPr sz="1800">
              <a:solidFill>
                <a:srgbClr val="000000"/>
              </a:solidFill>
              <a:latin typeface="SIDEFU+Helvetica" panose="020B0604020202020204"/>
              <a:cs typeface="SIDEFU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63004" y="3941108"/>
            <a:ext cx="1282460" cy="5980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IDEFU+Helvetica" panose="020B0604020202020204"/>
                <a:cs typeface="SIDEFU+Helvetica" panose="020B0604020202020204"/>
              </a:rPr>
              <a:t>train type</a:t>
            </a:r>
            <a:endParaRPr sz="1800">
              <a:solidFill>
                <a:srgbClr val="000000"/>
              </a:solidFill>
              <a:latin typeface="SIDEFU+Helvetica" panose="020B0604020202020204"/>
              <a:cs typeface="SIDEFU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4580" y="4915890"/>
            <a:ext cx="313562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ELGVS+CMSY10~25" panose="02000500000000000000"/>
                <a:cs typeface="KELGVS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Properties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entities.</a:t>
            </a:r>
            <a:endParaRPr sz="2050">
              <a:solidFill>
                <a:srgbClr val="000000"/>
              </a:solidFill>
              <a:latin typeface="FCMPHI+CMR10" panose="02000500000000000000"/>
              <a:cs typeface="FCMPHI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4580" y="5389856"/>
            <a:ext cx="846339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ELGVS+CMSY10~25" panose="02000500000000000000"/>
                <a:cs typeface="KELGVS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Can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listed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compartment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directly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below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typ</a:t>
            </a:r>
            <a:r>
              <a:rPr sz="2050" spc="-4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e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name</a:t>
            </a:r>
            <a:endParaRPr sz="2050">
              <a:solidFill>
                <a:srgbClr val="000000"/>
              </a:solidFill>
              <a:latin typeface="FCMPHI+CMR10" panose="02000500000000000000"/>
              <a:cs typeface="FCMPHI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6699" y="5749519"/>
            <a:ext cx="199335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compartment.</a:t>
            </a:r>
            <a:endParaRPr sz="2050">
              <a:solidFill>
                <a:srgbClr val="000000"/>
              </a:solidFill>
              <a:latin typeface="FCMPHI+CMR10" panose="02000500000000000000"/>
              <a:cs typeface="FCMPHI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44253" y="6223485"/>
            <a:ext cx="8796506" cy="1071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Question:</a:t>
            </a:r>
            <a:r>
              <a:rPr sz="2050" spc="3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Which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properties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railway</a:t>
            </a:r>
            <a:r>
              <a:rPr sz="20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station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did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we</a:t>
            </a:r>
            <a:r>
              <a:rPr sz="2050" spc="2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describe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in</a:t>
            </a:r>
            <a:endParaRPr sz="2050">
              <a:solidFill>
                <a:srgbClr val="000000"/>
              </a:solidFill>
              <a:latin typeface="FCMPHI+CMR10" panose="02000500000000000000"/>
              <a:cs typeface="FCMPHI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37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MPHI+CMR10" panose="02000500000000000000"/>
                <a:cs typeface="FCMPHI+CMR10" panose="02000500000000000000"/>
              </a:rPr>
              <a:t>diagram?</a:t>
            </a:r>
            <a:endParaRPr sz="2050">
              <a:solidFill>
                <a:srgbClr val="000000"/>
              </a:solidFill>
              <a:latin typeface="FCMPHI+CMR10" panose="02000500000000000000"/>
              <a:cs typeface="FCMPHI+CMR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FCQNCK+CMR7" panose="02000500000000000000"/>
                <a:cs typeface="FCQNCK+CMR7" panose="02000500000000000000"/>
              </a:rPr>
              <a:t>84</a:t>
            </a:r>
            <a:endParaRPr sz="1450">
              <a:solidFill>
                <a:srgbClr val="000000"/>
              </a:solidFill>
              <a:latin typeface="FCQNCK+CMR7" panose="02000500000000000000"/>
              <a:cs typeface="FCQNCK+CMR7" panose="0200050000000000000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062781"/>
            <a:ext cx="255267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OQUWRH+CMBX12~c" panose="02000500000000000000"/>
                <a:cs typeface="OQUWRH+CMBX12~c" panose="02000500000000000000"/>
              </a:rPr>
              <a:t>Relationships</a:t>
            </a:r>
            <a:endParaRPr sz="2500" spc="-11">
              <a:solidFill>
                <a:srgbClr val="000000"/>
              </a:solidFill>
              <a:latin typeface="OQUWRH+CMBX12~c" panose="02000500000000000000"/>
              <a:cs typeface="OQUWRH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78" y="3047466"/>
            <a:ext cx="8643472" cy="3008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SSCOD+CMSY10~25" panose="02000500000000000000"/>
                <a:cs typeface="TSSCOD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A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set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tuples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entities.</a:t>
            </a:r>
            <a:endParaRPr sz="2050">
              <a:solidFill>
                <a:srgbClr val="000000"/>
              </a:solidFill>
              <a:latin typeface="DQBVRK+CMR10" panose="02000500000000000000"/>
              <a:cs typeface="DQBVRK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SSCOD+CMSY10~25" panose="02000500000000000000"/>
                <a:cs typeface="TSSCOD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Arity</a:t>
            </a:r>
            <a:r>
              <a:rPr sz="2050" spc="2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number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related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entities.</a:t>
            </a:r>
            <a:r>
              <a:rPr sz="2050" spc="3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Binary,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ternary,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etc.</a:t>
            </a:r>
            <a:endParaRPr sz="2050" spc="12">
              <a:solidFill>
                <a:srgbClr val="000000"/>
              </a:solidFill>
              <a:latin typeface="DQBVRK+CMR10" panose="02000500000000000000"/>
              <a:cs typeface="DQBVRK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SSCOD+CMSY10~25" panose="02000500000000000000"/>
                <a:cs typeface="TSSCOD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Everything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world</a:t>
            </a:r>
            <a:r>
              <a:rPr sz="2050" spc="2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related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everything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else!</a:t>
            </a:r>
            <a:endParaRPr sz="2050" spc="10">
              <a:solidFill>
                <a:srgbClr val="000000"/>
              </a:solidFill>
              <a:latin typeface="DQBVRK+CMR10" panose="02000500000000000000"/>
              <a:cs typeface="DQBVRK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SSCOD+CMSY10~25" panose="02000500000000000000"/>
                <a:cs typeface="TSSCOD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1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We</a:t>
            </a:r>
            <a:r>
              <a:rPr sz="2050" spc="3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only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describe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relationship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if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we</a:t>
            </a:r>
            <a:r>
              <a:rPr sz="2050" spc="2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1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want</a:t>
            </a:r>
            <a:r>
              <a:rPr sz="2050" spc="2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express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relative</a:t>
            </a:r>
            <a:endParaRPr sz="2050">
              <a:solidFill>
                <a:srgbClr val="000000"/>
              </a:solidFill>
              <a:latin typeface="DQBVRK+CMR10" panose="02000500000000000000"/>
              <a:cs typeface="DQBVRK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cardinality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properties:</a:t>
            </a:r>
            <a:r>
              <a:rPr sz="2050" spc="3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How</a:t>
            </a:r>
            <a:r>
              <a:rPr sz="2050" spc="2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many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entities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one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typ</a:t>
            </a:r>
            <a:r>
              <a:rPr sz="2050" spc="-4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e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exist</a:t>
            </a:r>
            <a:endParaRPr sz="2050">
              <a:solidFill>
                <a:srgbClr val="000000"/>
              </a:solidFill>
              <a:latin typeface="DQBVRK+CMR10" panose="02000500000000000000"/>
              <a:cs typeface="DQBVRK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each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entity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another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DQBVRK+CMR10" panose="02000500000000000000"/>
                <a:cs typeface="DQBVRK+CMR10" panose="02000500000000000000"/>
              </a:rPr>
              <a:t>type.</a:t>
            </a:r>
            <a:endParaRPr sz="2050" spc="11">
              <a:solidFill>
                <a:srgbClr val="000000"/>
              </a:solidFill>
              <a:latin typeface="DQBVRK+CMR10" panose="02000500000000000000"/>
              <a:cs typeface="DQBVRK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JKNSTQ+CMR7" panose="02000500000000000000"/>
                <a:cs typeface="JKNSTQ+CMR7" panose="02000500000000000000"/>
              </a:rPr>
              <a:t>85</a:t>
            </a:r>
            <a:endParaRPr sz="1450">
              <a:solidFill>
                <a:srgbClr val="000000"/>
              </a:solidFill>
              <a:latin typeface="JKNSTQ+CMR7" panose="02000500000000000000"/>
              <a:cs typeface="JKNSTQ+CMR7" panose="0200050000000000000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756457"/>
            <a:ext cx="360148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OIJVII+CMBX12~c" panose="02000500000000000000"/>
                <a:cs typeface="OIJVII+CMBX12~c" panose="02000500000000000000"/>
              </a:rPr>
              <a:t>Binary</a:t>
            </a:r>
            <a:r>
              <a:rPr sz="2500" spc="3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OIJVII+CMBX12~c" panose="02000500000000000000"/>
                <a:cs typeface="OIJVII+CMBX12~c" panose="02000500000000000000"/>
              </a:rPr>
              <a:t>relationships</a:t>
            </a:r>
            <a:endParaRPr sz="2500">
              <a:solidFill>
                <a:srgbClr val="000000"/>
              </a:solidFill>
              <a:latin typeface="OIJVII+CMBX12~c" panose="02000500000000000000"/>
              <a:cs typeface="OIJVII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7268" y="2635262"/>
            <a:ext cx="762070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CDWCT+Helvetica" panose="020B0604020202020204"/>
                <a:cs typeface="CCDWCT+Helvetica" panose="020B0604020202020204"/>
              </a:rPr>
              <a:t>role1</a:t>
            </a:r>
            <a:endParaRPr sz="1600">
              <a:solidFill>
                <a:srgbClr val="000000"/>
              </a:solidFill>
              <a:latin typeface="CCDWCT+Helvetica" panose="020B0604020202020204"/>
              <a:cs typeface="CCDWCT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54117" y="2635258"/>
            <a:ext cx="453307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CDWCT+Helvetica" panose="020B0604020202020204"/>
                <a:cs typeface="CCDWCT+Helvetica" panose="020B0604020202020204"/>
              </a:rPr>
              <a:t>R</a:t>
            </a:r>
            <a:endParaRPr sz="1600">
              <a:solidFill>
                <a:srgbClr val="000000"/>
              </a:solidFill>
              <a:latin typeface="CCDWCT+Helvetica" panose="020B0604020202020204"/>
              <a:cs typeface="CCDWCT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5131" y="2635262"/>
            <a:ext cx="762070" cy="991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CDWCT+Helvetica" panose="020B0604020202020204"/>
                <a:cs typeface="CCDWCT+Helvetica" panose="020B0604020202020204"/>
              </a:rPr>
              <a:t>role2</a:t>
            </a:r>
            <a:endParaRPr sz="1600">
              <a:solidFill>
                <a:srgbClr val="000000"/>
              </a:solidFill>
              <a:latin typeface="CCDWCT+Helvetica" panose="020B0604020202020204"/>
              <a:cs typeface="CCDWCT+Helvetica" panose="020B0604020202020204"/>
            </a:endParaRPr>
          </a:p>
          <a:p>
            <a:pPr marL="120015" marR="0">
              <a:lnSpc>
                <a:spcPts val="1810"/>
              </a:lnSpc>
              <a:spcBef>
                <a:spcPts val="179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CCDWCT+Helvetica" panose="020B0604020202020204"/>
                <a:cs typeface="CCDWCT+Helvetica" panose="020B0604020202020204"/>
              </a:rPr>
              <a:t>c2</a:t>
            </a:r>
            <a:endParaRPr sz="1600" spc="10">
              <a:solidFill>
                <a:srgbClr val="000000"/>
              </a:solidFill>
              <a:latin typeface="CCDWCT+Helvetica" panose="020B0604020202020204"/>
              <a:cs typeface="CCDWCT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43223" y="2955145"/>
            <a:ext cx="1316030" cy="6716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3">
                <a:solidFill>
                  <a:srgbClr val="000000"/>
                </a:solidFill>
                <a:latin typeface="CCDWCT+Helvetica" panose="020B0604020202020204"/>
                <a:cs typeface="CCDWCT+Helvetica" panose="020B0604020202020204"/>
              </a:rPr>
              <a:t>E1</a:t>
            </a:r>
            <a:endParaRPr sz="1600" spc="13">
              <a:solidFill>
                <a:srgbClr val="000000"/>
              </a:solidFill>
              <a:latin typeface="CCDWCT+Helvetica" panose="020B0604020202020204"/>
              <a:cs typeface="CCDWCT+Helvetica" panose="020B0604020202020204"/>
            </a:endParaRPr>
          </a:p>
          <a:p>
            <a:pPr marL="793750" marR="0">
              <a:lnSpc>
                <a:spcPts val="108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CCDWCT+Helvetica" panose="020B0604020202020204"/>
                <a:cs typeface="CCDWCT+Helvetica" panose="020B0604020202020204"/>
              </a:rPr>
              <a:t>c1</a:t>
            </a:r>
            <a:endParaRPr sz="1600" spc="10">
              <a:solidFill>
                <a:srgbClr val="000000"/>
              </a:solidFill>
              <a:latin typeface="CCDWCT+Helvetica" panose="020B0604020202020204"/>
              <a:cs typeface="CCDWCT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84823" y="2955145"/>
            <a:ext cx="556329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3">
                <a:solidFill>
                  <a:srgbClr val="000000"/>
                </a:solidFill>
                <a:latin typeface="CCDWCT+Helvetica" panose="020B0604020202020204"/>
                <a:cs typeface="CCDWCT+Helvetica" panose="020B0604020202020204"/>
              </a:rPr>
              <a:t>E2</a:t>
            </a:r>
            <a:endParaRPr sz="1600" spc="13">
              <a:solidFill>
                <a:srgbClr val="000000"/>
              </a:solidFill>
              <a:latin typeface="CCDWCT+Helvetica" panose="020B0604020202020204"/>
              <a:cs typeface="CCDWCT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80" y="3724122"/>
            <a:ext cx="8446456" cy="19345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KUWUI+CMSY10~25" panose="02000500000000000000"/>
                <a:cs typeface="UKUWU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Binary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relationship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represented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line.</a:t>
            </a:r>
            <a:endParaRPr sz="2050" spc="10">
              <a:solidFill>
                <a:srgbClr val="000000"/>
              </a:solidFill>
              <a:latin typeface="BGKVPH+CMR10" panose="02000500000000000000"/>
              <a:cs typeface="BGKVPH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KUWUI+CMSY10~25" panose="02000500000000000000"/>
                <a:cs typeface="UKUWU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Relationship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name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read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direction.</a:t>
            </a:r>
            <a:endParaRPr sz="2050">
              <a:solidFill>
                <a:srgbClr val="000000"/>
              </a:solidFill>
              <a:latin typeface="BGKVPH+CMR10" panose="02000500000000000000"/>
              <a:cs typeface="BGKVPH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5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KUWUI+CMSY10~25" panose="02000500000000000000"/>
                <a:cs typeface="UKUWU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Role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names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indicate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role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entity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plays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relationship.</a:t>
            </a:r>
            <a:endParaRPr sz="2050">
              <a:solidFill>
                <a:srgbClr val="000000"/>
              </a:solidFill>
              <a:latin typeface="BGKVPH+CMR10" panose="02000500000000000000"/>
              <a:cs typeface="BGKVPH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564" y="5280125"/>
            <a:ext cx="8217509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KUWUI+CMSY10~25" panose="02000500000000000000"/>
                <a:cs typeface="UKUWU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Relationship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name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role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names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omitted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if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this</a:t>
            </a:r>
            <a:endParaRPr sz="2050">
              <a:solidFill>
                <a:srgbClr val="000000"/>
              </a:solidFill>
              <a:latin typeface="BGKVPH+CMR10" panose="02000500000000000000"/>
              <a:cs typeface="BGKVPH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6685" y="5651983"/>
            <a:ext cx="359445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31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does</a:t>
            </a:r>
            <a:r>
              <a:rPr sz="2050" spc="1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lead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1">
                <a:solidFill>
                  <a:srgbClr val="000000"/>
                </a:solidFill>
                <a:latin typeface="BGKVPH+CMR10" panose="02000500000000000000"/>
                <a:cs typeface="BGKVPH+CMR10" panose="02000500000000000000"/>
              </a:rPr>
              <a:t>ambiguity.</a:t>
            </a:r>
            <a:endParaRPr sz="2050" spc="-21">
              <a:solidFill>
                <a:srgbClr val="000000"/>
              </a:solidFill>
              <a:latin typeface="BGKVPH+CMR10" panose="02000500000000000000"/>
              <a:cs typeface="BGKVPH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OIBLC+CMR7" panose="02000500000000000000"/>
                <a:cs typeface="WOIBLC+CMR7" panose="02000500000000000000"/>
              </a:rPr>
              <a:t>86</a:t>
            </a:r>
            <a:endParaRPr sz="1450">
              <a:solidFill>
                <a:srgbClr val="000000"/>
              </a:solidFill>
              <a:latin typeface="WOIBLC+CMR7" panose="02000500000000000000"/>
              <a:cs typeface="WOIBLC+CMR7" panose="0200050000000000000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052113"/>
            <a:ext cx="5082786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TNKOQT+CMBX12~c" panose="02000500000000000000"/>
                <a:cs typeface="TNKOQT+CMBX12~c" panose="02000500000000000000"/>
              </a:rPr>
              <a:t>Relationships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TNKOQT+CMBX12~c" panose="02000500000000000000"/>
                <a:cs typeface="TNKOQT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TNKOQT+CMBX12~c" panose="02000500000000000000"/>
                <a:cs typeface="TNKOQT+CMBX12~c" panose="02000500000000000000"/>
              </a:rPr>
              <a:t>higher</a:t>
            </a:r>
            <a:r>
              <a:rPr sz="2500" spc="3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7">
                <a:solidFill>
                  <a:srgbClr val="000000"/>
                </a:solidFill>
                <a:latin typeface="TNKOQT+CMBX12~c" panose="02000500000000000000"/>
                <a:cs typeface="TNKOQT+CMBX12~c" panose="02000500000000000000"/>
              </a:rPr>
              <a:t>arity</a:t>
            </a:r>
            <a:endParaRPr sz="2500" spc="-27">
              <a:solidFill>
                <a:srgbClr val="000000"/>
              </a:solidFill>
              <a:latin typeface="TNKOQT+CMBX12~c" panose="02000500000000000000"/>
              <a:cs typeface="TNKOQT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63045" y="3026773"/>
            <a:ext cx="556330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3">
                <a:solidFill>
                  <a:srgbClr val="000000"/>
                </a:solidFill>
                <a:latin typeface="LNRCGC+Helvetica" panose="020B0604020202020204"/>
                <a:cs typeface="LNRCGC+Helvetica" panose="020B0604020202020204"/>
              </a:rPr>
              <a:t>E1</a:t>
            </a:r>
            <a:endParaRPr sz="1600" spc="13">
              <a:solidFill>
                <a:srgbClr val="000000"/>
              </a:solidFill>
              <a:latin typeface="LNRCGC+Helvetica" panose="020B0604020202020204"/>
              <a:cs typeface="LNRCGC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5030" y="3392356"/>
            <a:ext cx="2463600" cy="8544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5225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LNRCGC+Helvetica" panose="020B0604020202020204"/>
                <a:cs typeface="LNRCGC+Helvetica" panose="020B0604020202020204"/>
              </a:rPr>
              <a:t>role1</a:t>
            </a:r>
            <a:r>
              <a:rPr sz="1600" spc="19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10">
                <a:solidFill>
                  <a:srgbClr val="000000"/>
                </a:solidFill>
                <a:latin typeface="LNRCGC+Helvetica" panose="020B0604020202020204"/>
                <a:cs typeface="LNRCGC+Helvetica" panose="020B0604020202020204"/>
              </a:rPr>
              <a:t>c1</a:t>
            </a:r>
            <a:endParaRPr sz="1600" spc="10">
              <a:solidFill>
                <a:srgbClr val="000000"/>
              </a:solidFill>
              <a:latin typeface="LNRCGC+Helvetica" panose="020B0604020202020204"/>
              <a:cs typeface="LNRCGC+Helvetica" panose="020B0604020202020204"/>
            </a:endParaRPr>
          </a:p>
          <a:p>
            <a:pPr marL="0" marR="0">
              <a:lnSpc>
                <a:spcPts val="1810"/>
              </a:lnSpc>
              <a:spcBef>
                <a:spcPts val="71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LNRCGC+Helvetica" panose="020B0604020202020204"/>
                <a:cs typeface="LNRCGC+Helvetica" panose="020B0604020202020204"/>
              </a:rPr>
              <a:t>role2</a:t>
            </a:r>
            <a:endParaRPr sz="1600">
              <a:solidFill>
                <a:srgbClr val="000000"/>
              </a:solidFill>
              <a:latin typeface="LNRCGC+Helvetica" panose="020B0604020202020204"/>
              <a:cs typeface="LNRCGC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59655" y="3712235"/>
            <a:ext cx="762070" cy="9915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LNRCGC+Helvetica" panose="020B0604020202020204"/>
                <a:cs typeface="LNRCGC+Helvetica" panose="020B0604020202020204"/>
              </a:rPr>
              <a:t>role3</a:t>
            </a:r>
            <a:endParaRPr sz="1600">
              <a:solidFill>
                <a:srgbClr val="000000"/>
              </a:solidFill>
              <a:latin typeface="LNRCGC+Helvetica" panose="020B0604020202020204"/>
              <a:cs typeface="LNRCGC+Helvetica" panose="020B0604020202020204"/>
            </a:endParaRPr>
          </a:p>
          <a:p>
            <a:pPr marL="234315" marR="0">
              <a:lnSpc>
                <a:spcPts val="1810"/>
              </a:lnSpc>
              <a:spcBef>
                <a:spcPts val="179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LNRCGC+Helvetica" panose="020B0604020202020204"/>
                <a:cs typeface="LNRCGC+Helvetica" panose="020B0604020202020204"/>
              </a:rPr>
              <a:t>c3</a:t>
            </a:r>
            <a:endParaRPr sz="1600" spc="10">
              <a:solidFill>
                <a:srgbClr val="000000"/>
              </a:solidFill>
              <a:latin typeface="LNRCGC+Helvetica" panose="020B0604020202020204"/>
              <a:cs typeface="LNRCGC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14556" y="3940729"/>
            <a:ext cx="453307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LNRCGC+Helvetica" panose="020B0604020202020204"/>
                <a:cs typeface="LNRCGC+Helvetica" panose="020B0604020202020204"/>
              </a:rPr>
              <a:t>R</a:t>
            </a:r>
            <a:endParaRPr sz="1600">
              <a:solidFill>
                <a:srgbClr val="000000"/>
              </a:solidFill>
              <a:latin typeface="LNRCGC+Helvetica" panose="020B0604020202020204"/>
              <a:cs typeface="LNRCGC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78137" y="4054978"/>
            <a:ext cx="1224628" cy="648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3">
                <a:solidFill>
                  <a:srgbClr val="000000"/>
                </a:solidFill>
                <a:latin typeface="LNRCGC+Helvetica" panose="020B0604020202020204"/>
                <a:cs typeface="LNRCGC+Helvetica" panose="020B0604020202020204"/>
              </a:rPr>
              <a:t>E2</a:t>
            </a:r>
            <a:endParaRPr sz="1600" spc="13">
              <a:solidFill>
                <a:srgbClr val="000000"/>
              </a:solidFill>
              <a:latin typeface="LNRCGC+Helvetica" panose="020B0604020202020204"/>
              <a:cs typeface="LNRCGC+Helvetica" panose="020B0604020202020204"/>
            </a:endParaRPr>
          </a:p>
          <a:p>
            <a:pPr marL="702945" marR="0">
              <a:lnSpc>
                <a:spcPts val="90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LNRCGC+Helvetica" panose="020B0604020202020204"/>
                <a:cs typeface="LNRCGC+Helvetica" panose="020B0604020202020204"/>
              </a:rPr>
              <a:t>c2</a:t>
            </a:r>
            <a:endParaRPr sz="1600" spc="10">
              <a:solidFill>
                <a:srgbClr val="000000"/>
              </a:solidFill>
              <a:latin typeface="LNRCGC+Helvetica" panose="020B0604020202020204"/>
              <a:cs typeface="LNRCGC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62189" y="4054978"/>
            <a:ext cx="556329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3">
                <a:solidFill>
                  <a:srgbClr val="000000"/>
                </a:solidFill>
                <a:latin typeface="LNRCGC+Helvetica" panose="020B0604020202020204"/>
                <a:cs typeface="LNRCGC+Helvetica" panose="020B0604020202020204"/>
              </a:rPr>
              <a:t>E3</a:t>
            </a:r>
            <a:endParaRPr sz="1600" spc="13">
              <a:solidFill>
                <a:srgbClr val="000000"/>
              </a:solidFill>
              <a:latin typeface="LNRCGC+Helvetica" panose="020B0604020202020204"/>
              <a:cs typeface="LNRCGC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580" y="4836641"/>
            <a:ext cx="7641519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OBAHD+CMSY10~25" panose="02000500000000000000"/>
                <a:cs typeface="MOBAHD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TTQRB+CMR10" panose="02000500000000000000"/>
                <a:cs typeface="NTTQRB+CMR10" panose="02000500000000000000"/>
              </a:rPr>
              <a:t>Relationships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TTQRB+CMR10" panose="02000500000000000000"/>
                <a:cs typeface="NTTQRB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TTQRB+CMR10" panose="02000500000000000000"/>
                <a:cs typeface="NTTQRB+CMR10" panose="02000500000000000000"/>
              </a:rPr>
              <a:t>arity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OBAHD+CMSY10~25" panose="02000500000000000000"/>
                <a:cs typeface="MOBAHD+CMSY10~25" panose="02000500000000000000"/>
              </a:rPr>
              <a:t>≥</a:t>
            </a:r>
            <a:r>
              <a:rPr sz="2050" spc="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TTQRB+CMR10" panose="02000500000000000000"/>
                <a:cs typeface="NTTQRB+CMR10" panose="02000500000000000000"/>
              </a:rPr>
              <a:t>3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TTQRB+CMR10" panose="02000500000000000000"/>
                <a:cs typeface="NTTQRB+CMR10" panose="02000500000000000000"/>
              </a:rPr>
              <a:t>represented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NTTQRB+CMR10" panose="02000500000000000000"/>
                <a:cs typeface="NTTQRB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TTQRB+CMR10" panose="02000500000000000000"/>
                <a:cs typeface="NTTQRB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TTQRB+CMR10" panose="02000500000000000000"/>
                <a:cs typeface="NTTQRB+CMR10" panose="02000500000000000000"/>
              </a:rPr>
              <a:t>diamond.</a:t>
            </a:r>
            <a:endParaRPr sz="2050">
              <a:solidFill>
                <a:srgbClr val="000000"/>
              </a:solidFill>
              <a:latin typeface="NTTQRB+CMR10" panose="02000500000000000000"/>
              <a:cs typeface="NTTQRB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OBAHD+CMSY10~25" panose="02000500000000000000"/>
                <a:cs typeface="MOBAHD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TTQRB+CMR10" panose="02000500000000000000"/>
                <a:cs typeface="NTTQRB+CMR10" panose="02000500000000000000"/>
              </a:rPr>
              <a:t>Name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NTTQRB+CMR10" panose="02000500000000000000"/>
                <a:cs typeface="NTTQRB+CMR10" panose="02000500000000000000"/>
              </a:rPr>
              <a:t>must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NTTQRB+CMR10" panose="02000500000000000000"/>
                <a:cs typeface="NTTQRB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NTTQRB+CMR10" panose="02000500000000000000"/>
                <a:cs typeface="NTTQRB+CMR10" panose="02000500000000000000"/>
              </a:rPr>
              <a:t>independent</a:t>
            </a:r>
            <a:r>
              <a:rPr sz="2050" spc="1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TTQRB+CMR10" panose="02000500000000000000"/>
                <a:cs typeface="NTTQRB+CMR10" panose="02000500000000000000"/>
              </a:rPr>
              <a:t>from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TTQRB+CMR10" panose="02000500000000000000"/>
                <a:cs typeface="NTTQRB+CMR10" panose="02000500000000000000"/>
              </a:rPr>
              <a:t>direction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TTQRB+CMR10" panose="02000500000000000000"/>
                <a:cs typeface="NTTQRB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TTQRB+CMR10" panose="02000500000000000000"/>
                <a:cs typeface="NTTQRB+CMR10" panose="02000500000000000000"/>
              </a:rPr>
              <a:t>reading.</a:t>
            </a:r>
            <a:endParaRPr sz="2050">
              <a:solidFill>
                <a:srgbClr val="000000"/>
              </a:solidFill>
              <a:latin typeface="NTTQRB+CMR10" panose="02000500000000000000"/>
              <a:cs typeface="NTTQRB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EMOJQ+CMR7" panose="02000500000000000000"/>
                <a:cs typeface="EEMOJQ+CMR7" panose="02000500000000000000"/>
              </a:rPr>
              <a:t>87</a:t>
            </a:r>
            <a:endParaRPr sz="1450">
              <a:solidFill>
                <a:srgbClr val="000000"/>
              </a:solidFill>
              <a:latin typeface="EEMOJQ+CMR7" panose="02000500000000000000"/>
              <a:cs typeface="EEMOJQ+CMR7" panose="0200050000000000000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320593"/>
            <a:ext cx="7324839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7">
                <a:solidFill>
                  <a:srgbClr val="000000"/>
                </a:solidFill>
                <a:latin typeface="SLUOKM+CMBX12~c" panose="02000500000000000000"/>
                <a:cs typeface="SLUOKM+CMBX12~c" panose="02000500000000000000"/>
              </a:rPr>
              <a:t>Cardinality</a:t>
            </a:r>
            <a:r>
              <a:rPr sz="2500" spc="2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SLUOKM+CMBX12~c" panose="02000500000000000000"/>
                <a:cs typeface="SLUOKM+CMBX12~c" panose="02000500000000000000"/>
              </a:rPr>
              <a:t>properties:</a:t>
            </a:r>
            <a:r>
              <a:rPr sz="2500" spc="6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8">
                <a:solidFill>
                  <a:srgbClr val="000000"/>
                </a:solidFill>
                <a:latin typeface="SLUOKM+CMBX12~c" panose="02000500000000000000"/>
                <a:cs typeface="SLUOKM+CMBX12~c" panose="02000500000000000000"/>
              </a:rPr>
              <a:t>Elevator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SLUOKM+CMBX12~c" panose="02000500000000000000"/>
                <a:cs typeface="SLUOKM+CMBX12~c" panose="02000500000000000000"/>
              </a:rPr>
              <a:t>example</a:t>
            </a:r>
            <a:endParaRPr sz="2500" spc="-10">
              <a:solidFill>
                <a:srgbClr val="000000"/>
              </a:solidFill>
              <a:latin typeface="SLUOKM+CMBX12~c" panose="02000500000000000000"/>
              <a:cs typeface="SLUOKM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91188" y="2152749"/>
            <a:ext cx="469952" cy="5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2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65661" y="2449733"/>
            <a:ext cx="2133255" cy="5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Location indicator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71475" y="2998010"/>
            <a:ext cx="469952" cy="8951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68176" y="3591977"/>
            <a:ext cx="469952" cy="5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2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95757" y="3614824"/>
            <a:ext cx="469952" cy="5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2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13582" y="3614824"/>
            <a:ext cx="469952" cy="5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2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18210" y="3683353"/>
            <a:ext cx="469952" cy="5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2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68016" y="3866114"/>
            <a:ext cx="1034757" cy="10321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doors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141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1</a:t>
            </a:r>
            <a:r>
              <a:rPr sz="1800" spc="1737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66616" y="3888960"/>
            <a:ext cx="1028581" cy="8951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5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Entry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sensor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73974" y="3888959"/>
            <a:ext cx="838281" cy="1009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cage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  <a:p>
            <a:pPr marL="184150" marR="0">
              <a:lnSpc>
                <a:spcPts val="2010"/>
              </a:lnSpc>
              <a:spcBef>
                <a:spcPts val="12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81518" y="3911804"/>
            <a:ext cx="1729012" cy="598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Eleva-</a:t>
            </a:r>
            <a:r>
              <a:rPr sz="1800" spc="818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doors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67590" y="3911807"/>
            <a:ext cx="926850" cy="5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Motor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41866" y="3980337"/>
            <a:ext cx="1180954" cy="8951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Elevator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  <a:p>
            <a:pPr marL="1714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cage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71931" y="4208791"/>
            <a:ext cx="609501" cy="5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tor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24926" y="4277320"/>
            <a:ext cx="469952" cy="5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04223" y="4300167"/>
            <a:ext cx="469952" cy="5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68028" y="4300165"/>
            <a:ext cx="469952" cy="5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76667" y="4505774"/>
            <a:ext cx="800132" cy="5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door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457678" y="4848450"/>
            <a:ext cx="469952" cy="5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72897" y="4871286"/>
            <a:ext cx="723988" cy="5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0..2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48116" y="4894139"/>
            <a:ext cx="838281" cy="5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cage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714139" y="5168270"/>
            <a:ext cx="469952" cy="5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71324" y="5191123"/>
            <a:ext cx="597004" cy="5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10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36366" y="5191114"/>
            <a:ext cx="1561676" cy="5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current floor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99646" y="5556642"/>
            <a:ext cx="597004" cy="5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20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42902" y="5579476"/>
            <a:ext cx="597004" cy="5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10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47243" y="5853625"/>
            <a:ext cx="1485813" cy="8951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Destination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  <a:p>
            <a:pPr marL="2540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button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28664" y="5876460"/>
            <a:ext cx="863379" cy="5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Floor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325781" y="5990692"/>
            <a:ext cx="469952" cy="5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846038" y="6013537"/>
            <a:ext cx="469952" cy="5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OGDWD+Helvetica" panose="020B0604020202020204"/>
                <a:cs typeface="OOGDWD+Helvetica" panose="020B0604020202020204"/>
              </a:rPr>
              <a:t>2</a:t>
            </a:r>
            <a:endParaRPr sz="1800">
              <a:solidFill>
                <a:srgbClr val="000000"/>
              </a:solidFill>
              <a:latin typeface="OOGDWD+Helvetica" panose="020B0604020202020204"/>
              <a:cs typeface="OOGDWD+Helvetica" panose="020B060402020202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BKISQ+CMR7" panose="02000500000000000000"/>
                <a:cs typeface="QBKISQ+CMR7" panose="02000500000000000000"/>
              </a:rPr>
              <a:t>88</a:t>
            </a:r>
            <a:endParaRPr sz="1450">
              <a:solidFill>
                <a:srgbClr val="000000"/>
              </a:solidFill>
              <a:latin typeface="QBKISQ+CMR7" panose="02000500000000000000"/>
              <a:cs typeface="QBKISQ+CMR7" panose="0200050000000000000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530905"/>
            <a:ext cx="675536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PTAGCD+CMBX12~c" panose="02000500000000000000"/>
                <a:cs typeface="PTAGCD+CMBX12~c" panose="02000500000000000000"/>
              </a:rPr>
              <a:t>The</a:t>
            </a:r>
            <a:r>
              <a:rPr sz="2500" spc="3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PTAGCD+CMBX12~c" panose="02000500000000000000"/>
                <a:cs typeface="PTAGCD+CMBX12~c" panose="02000500000000000000"/>
              </a:rPr>
              <a:t>meaning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PTAGCD+CMBX12~c" panose="02000500000000000000"/>
                <a:cs typeface="PTAGCD+CMBX12~c" panose="02000500000000000000"/>
              </a:rPr>
              <a:t>of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7">
                <a:solidFill>
                  <a:srgbClr val="000000"/>
                </a:solidFill>
                <a:latin typeface="PTAGCD+CMBX12~c" panose="02000500000000000000"/>
                <a:cs typeface="PTAGCD+CMBX12~c" panose="02000500000000000000"/>
              </a:rPr>
              <a:t>cardinality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PTAGCD+CMBX12~c" panose="02000500000000000000"/>
                <a:cs typeface="PTAGCD+CMBX12~c" panose="02000500000000000000"/>
              </a:rPr>
              <a:t>properties</a:t>
            </a:r>
            <a:endParaRPr sz="2500">
              <a:solidFill>
                <a:srgbClr val="000000"/>
              </a:solidFill>
              <a:latin typeface="PTAGCD+CMBX12~c" panose="02000500000000000000"/>
              <a:cs typeface="PTAGCD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030957"/>
            <a:ext cx="824743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VSGDS+CMSY10~25" panose="02000500000000000000"/>
                <a:cs typeface="CVSGDS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A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snapshot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domain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subject</a:t>
            </a:r>
            <a:endParaRPr sz="2050" spc="31">
              <a:solidFill>
                <a:srgbClr val="000000"/>
              </a:solidFill>
              <a:latin typeface="QPBFNJ+CMR10" panose="02000500000000000000"/>
              <a:cs typeface="QPBFNJ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14" y="2402813"/>
            <a:ext cx="380304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domain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at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one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point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time.</a:t>
            </a:r>
            <a:endParaRPr sz="2050">
              <a:solidFill>
                <a:srgbClr val="000000"/>
              </a:solidFill>
              <a:latin typeface="QPBFNJ+CMR10" panose="02000500000000000000"/>
              <a:cs typeface="QPBFNJ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73" y="2920975"/>
            <a:ext cx="6562392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VSGDS+CMSY10~25" panose="02000500000000000000"/>
                <a:cs typeface="CVSGDS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Cardinaility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properties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snapshot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properties.</a:t>
            </a:r>
            <a:endParaRPr sz="2050" spc="15">
              <a:solidFill>
                <a:srgbClr val="000000"/>
              </a:solidFill>
              <a:latin typeface="QPBFNJ+CMR10" panose="02000500000000000000"/>
              <a:cs typeface="QPBFNJ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77" y="3439137"/>
            <a:ext cx="835191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VSGDS+CMSY10~25" panose="02000500000000000000"/>
                <a:cs typeface="CVSGDS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absolute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cardinality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property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says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how</a:t>
            </a:r>
            <a:r>
              <a:rPr sz="2050" spc="2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many</a:t>
            </a:r>
            <a:r>
              <a:rPr sz="2050" spc="2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instances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of</a:t>
            </a:r>
            <a:endParaRPr sz="2050">
              <a:solidFill>
                <a:srgbClr val="000000"/>
              </a:solidFill>
              <a:latin typeface="QPBFNJ+CMR10" panose="02000500000000000000"/>
              <a:cs typeface="QPBFNJ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719" y="3810995"/>
            <a:ext cx="439457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entity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exist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snapshot.</a:t>
            </a:r>
            <a:endParaRPr sz="2050">
              <a:solidFill>
                <a:srgbClr val="000000"/>
              </a:solidFill>
              <a:latin typeface="QPBFNJ+CMR10" panose="02000500000000000000"/>
              <a:cs typeface="QPBFNJ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91" y="4329157"/>
            <a:ext cx="803194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VSGDS+CMSY10~25" panose="02000500000000000000"/>
                <a:cs typeface="CVSGDS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A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relative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cardinality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property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says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how</a:t>
            </a:r>
            <a:r>
              <a:rPr sz="2050" spc="2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many</a:t>
            </a:r>
            <a:r>
              <a:rPr sz="2050" spc="2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entities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can</a:t>
            </a:r>
            <a:endParaRPr sz="2050" spc="10">
              <a:solidFill>
                <a:srgbClr val="000000"/>
              </a:solidFill>
              <a:latin typeface="QPBFNJ+CMR10" panose="02000500000000000000"/>
              <a:cs typeface="QPBFNJ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711" y="4701015"/>
            <a:ext cx="484803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exist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relative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some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existing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2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entity.</a:t>
            </a:r>
            <a:endParaRPr sz="2050" spc="-32">
              <a:solidFill>
                <a:srgbClr val="000000"/>
              </a:solidFill>
              <a:latin typeface="QPBFNJ+CMR10" panose="02000500000000000000"/>
              <a:cs typeface="QPBFNJ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4267" y="5219174"/>
            <a:ext cx="8929088" cy="145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6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To</a:t>
            </a:r>
            <a:r>
              <a:rPr sz="2050" spc="3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ﬁnd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a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cardinality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prop</a:t>
            </a:r>
            <a:r>
              <a:rPr sz="2050" spc="-4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9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erty,</a:t>
            </a:r>
            <a:r>
              <a:rPr sz="2050" spc="2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imagine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looking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at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an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NTSR+CMTI10" panose="02000500000000000000"/>
                <a:cs typeface="UUNTSR+CMTI10" panose="02000500000000000000"/>
              </a:rPr>
              <a:t>arbitrary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state</a:t>
            </a:r>
            <a:endParaRPr sz="2050">
              <a:solidFill>
                <a:srgbClr val="000000"/>
              </a:solidFill>
              <a:latin typeface="QPBFNJ+CMR10" panose="02000500000000000000"/>
              <a:cs typeface="QPBFNJ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domain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ask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how</a:t>
            </a:r>
            <a:r>
              <a:rPr sz="2050" spc="2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many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instances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some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entity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typ</a:t>
            </a:r>
            <a:r>
              <a:rPr sz="2050" spc="-4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e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can</a:t>
            </a:r>
            <a:endParaRPr sz="2050" spc="10">
              <a:solidFill>
                <a:srgbClr val="000000"/>
              </a:solidFill>
              <a:latin typeface="QPBFNJ+CMR10" panose="02000500000000000000"/>
              <a:cs typeface="QPBFNJ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exist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in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PBFNJ+CMR10" panose="02000500000000000000"/>
                <a:cs typeface="QPBFNJ+CMR10" panose="02000500000000000000"/>
              </a:rPr>
              <a:t>state.</a:t>
            </a:r>
            <a:endParaRPr sz="2050">
              <a:solidFill>
                <a:srgbClr val="000000"/>
              </a:solidFill>
              <a:latin typeface="QPBFNJ+CMR10" panose="02000500000000000000"/>
              <a:cs typeface="QPBFNJ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TKKRWP+CMR7" panose="02000500000000000000"/>
                <a:cs typeface="TKKRWP+CMR7" panose="02000500000000000000"/>
              </a:rPr>
              <a:t>89</a:t>
            </a:r>
            <a:endParaRPr sz="1450">
              <a:solidFill>
                <a:srgbClr val="000000"/>
              </a:solidFill>
              <a:latin typeface="TKKRWP+CMR7" panose="02000500000000000000"/>
              <a:cs typeface="TKKRWP+CMR7" panose="0200050000000000000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1" y="2836973"/>
            <a:ext cx="7185547" cy="1163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MGRLFQ+CMBX12~c" panose="02000500000000000000"/>
                <a:cs typeface="MGRLFQ+CMBX12~c" panose="02000500000000000000"/>
              </a:rPr>
              <a:t>First</a:t>
            </a:r>
            <a:r>
              <a:rPr sz="250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MGRLFQ+CMBX12~c" panose="02000500000000000000"/>
                <a:cs typeface="MGRLFQ+CMBX12~c" panose="02000500000000000000"/>
              </a:rPr>
              <a:t>example</a:t>
            </a:r>
            <a:r>
              <a:rPr sz="250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MGRLFQ+CMBX12~c" panose="02000500000000000000"/>
                <a:cs typeface="MGRLFQ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7">
                <a:solidFill>
                  <a:srgbClr val="000000"/>
                </a:solidFill>
                <a:latin typeface="MGRLFQ+CMBX12~c" panose="02000500000000000000"/>
                <a:cs typeface="MGRLFQ+CMBX12~c" panose="02000500000000000000"/>
              </a:rPr>
              <a:t>inconsistent</a:t>
            </a:r>
            <a:r>
              <a:rPr sz="2500" spc="3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7">
                <a:solidFill>
                  <a:srgbClr val="000000"/>
                </a:solidFill>
                <a:latin typeface="MGRLFQ+CMBX12~c" panose="02000500000000000000"/>
                <a:cs typeface="MGRLFQ+CMBX12~c" panose="02000500000000000000"/>
              </a:rPr>
              <a:t>cardinality</a:t>
            </a:r>
            <a:endParaRPr sz="2500" spc="-17">
              <a:solidFill>
                <a:srgbClr val="000000"/>
              </a:solidFill>
              <a:latin typeface="MGRLFQ+CMBX12~c" panose="02000500000000000000"/>
              <a:cs typeface="MGRLFQ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445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MGRLFQ+CMBX12~c" panose="02000500000000000000"/>
                <a:cs typeface="MGRLFQ+CMBX12~c" panose="02000500000000000000"/>
              </a:rPr>
              <a:t>properties</a:t>
            </a:r>
            <a:endParaRPr sz="2500">
              <a:solidFill>
                <a:srgbClr val="000000"/>
              </a:solidFill>
              <a:latin typeface="MGRLFQ+CMBX12~c" panose="02000500000000000000"/>
              <a:cs typeface="MGRLFQ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70277" y="4038097"/>
            <a:ext cx="819108" cy="99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PHTQGR+Helvetica" panose="020B0604020202020204"/>
                <a:cs typeface="PHTQGR+Helvetica" panose="020B0604020202020204"/>
              </a:rPr>
              <a:t>doors</a:t>
            </a:r>
            <a:endParaRPr sz="1600">
              <a:solidFill>
                <a:srgbClr val="000000"/>
              </a:solidFill>
              <a:latin typeface="PHTQGR+Helvetica" panose="020B0604020202020204"/>
              <a:cs typeface="PHTQGR+Helvetica" panose="020B0604020202020204"/>
            </a:endParaRPr>
          </a:p>
          <a:p>
            <a:pPr marL="337185" marR="0">
              <a:lnSpc>
                <a:spcPts val="1810"/>
              </a:lnSpc>
              <a:spcBef>
                <a:spcPts val="179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PHTQGR+Helvetica" panose="020B0604020202020204"/>
                <a:cs typeface="PHTQGR+Helvetica" panose="020B0604020202020204"/>
              </a:rPr>
              <a:t>1</a:t>
            </a:r>
            <a:endParaRPr sz="1600">
              <a:solidFill>
                <a:srgbClr val="000000"/>
              </a:solidFill>
              <a:latin typeface="PHTQGR+Helvetica" panose="020B0604020202020204"/>
              <a:cs typeface="PHTQGR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72628" y="4060944"/>
            <a:ext cx="419146" cy="534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PHTQGR+Helvetica" panose="020B0604020202020204"/>
                <a:cs typeface="PHTQGR+Helvetica" panose="020B0604020202020204"/>
              </a:rPr>
              <a:t>2</a:t>
            </a:r>
            <a:endParaRPr sz="1600">
              <a:solidFill>
                <a:srgbClr val="000000"/>
              </a:solidFill>
              <a:latin typeface="PHTQGR+Helvetica" panose="020B0604020202020204"/>
              <a:cs typeface="PHTQGR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74229" y="4129473"/>
            <a:ext cx="419146" cy="534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PHTQGR+Helvetica" panose="020B0604020202020204"/>
                <a:cs typeface="PHTQGR+Helvetica" panose="020B0604020202020204"/>
              </a:rPr>
              <a:t>3</a:t>
            </a:r>
            <a:endParaRPr sz="1600">
              <a:solidFill>
                <a:srgbClr val="000000"/>
              </a:solidFill>
              <a:latin typeface="PHTQGR+Helvetica" panose="020B0604020202020204"/>
              <a:cs typeface="PHTQGR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03956" y="4357924"/>
            <a:ext cx="1527522" cy="534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PHTQGR+Helvetica" panose="020B0604020202020204"/>
                <a:cs typeface="PHTQGR+Helvetica" panose="020B0604020202020204"/>
              </a:rPr>
              <a:t>Elevator </a:t>
            </a:r>
            <a:r>
              <a:rPr sz="1600" spc="10">
                <a:solidFill>
                  <a:srgbClr val="000000"/>
                </a:solidFill>
                <a:latin typeface="PHTQGR+Helvetica" panose="020B0604020202020204"/>
                <a:cs typeface="PHTQGR+Helvetica" panose="020B0604020202020204"/>
              </a:rPr>
              <a:t>door</a:t>
            </a:r>
            <a:endParaRPr sz="1600" spc="10">
              <a:solidFill>
                <a:srgbClr val="000000"/>
              </a:solidFill>
              <a:latin typeface="PHTQGR+Helvetica" panose="020B0604020202020204"/>
              <a:cs typeface="PHTQGR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39892" y="4426454"/>
            <a:ext cx="1516008" cy="534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PHTQGR+Helvetica" panose="020B0604020202020204"/>
                <a:cs typeface="PHTQGR+Helvetica" panose="020B0604020202020204"/>
              </a:rPr>
              <a:t>Entry</a:t>
            </a:r>
            <a:r>
              <a:rPr sz="1600" spc="456">
                <a:solidFill>
                  <a:srgbClr val="000000"/>
                </a:solidFill>
                <a:latin typeface="PHTQGR+Helvetica" panose="020B0604020202020204"/>
                <a:cs typeface="PHTQGR+Helvetica" panose="020B0604020202020204"/>
              </a:rPr>
              <a:t> </a:t>
            </a:r>
            <a:r>
              <a:rPr sz="1600" spc="10">
                <a:solidFill>
                  <a:srgbClr val="000000"/>
                </a:solidFill>
                <a:latin typeface="PHTQGR+Helvetica" panose="020B0604020202020204"/>
                <a:cs typeface="PHTQGR+Helvetica" panose="020B0604020202020204"/>
              </a:rPr>
              <a:t>sensor</a:t>
            </a:r>
            <a:endParaRPr sz="1600" spc="10">
              <a:solidFill>
                <a:srgbClr val="000000"/>
              </a:solidFill>
              <a:latin typeface="PHTQGR+Helvetica" panose="020B0604020202020204"/>
              <a:cs typeface="PHTQGR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39195" y="4494991"/>
            <a:ext cx="419146" cy="534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PHTQGR+Helvetica" panose="020B0604020202020204"/>
                <a:cs typeface="PHTQGR+Helvetica" panose="020B0604020202020204"/>
              </a:rPr>
              <a:t>1</a:t>
            </a:r>
            <a:endParaRPr sz="1600">
              <a:solidFill>
                <a:srgbClr val="000000"/>
              </a:solidFill>
              <a:latin typeface="PHTQGR+Helvetica" panose="020B0604020202020204"/>
              <a:cs typeface="PHTQGR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NLMCPV+CMR7" panose="02000500000000000000"/>
                <a:cs typeface="NLMCPV+CMR7" panose="02000500000000000000"/>
              </a:rPr>
              <a:t>90</a:t>
            </a:r>
            <a:endParaRPr sz="1450">
              <a:solidFill>
                <a:srgbClr val="000000"/>
              </a:solidFill>
              <a:latin typeface="NLMCPV+CMR7" panose="02000500000000000000"/>
              <a:cs typeface="NLMCPV+CMR7" panose="0200050000000000000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729025"/>
            <a:ext cx="7580204" cy="1163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TNJFDH+CMBX12~c" panose="02000500000000000000"/>
                <a:cs typeface="TNJFDH+CMBX12~c" panose="02000500000000000000"/>
              </a:rPr>
              <a:t>Second</a:t>
            </a:r>
            <a:r>
              <a:rPr sz="2500" spc="3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TNJFDH+CMBX12~c" panose="02000500000000000000"/>
                <a:cs typeface="TNJFDH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TNJFDH+CMBX12~c" panose="02000500000000000000"/>
                <a:cs typeface="TNJFDH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7">
                <a:solidFill>
                  <a:srgbClr val="000000"/>
                </a:solidFill>
                <a:latin typeface="TNJFDH+CMBX12~c" panose="02000500000000000000"/>
                <a:cs typeface="TNJFDH+CMBX12~c" panose="02000500000000000000"/>
              </a:rPr>
              <a:t>inconsistent</a:t>
            </a:r>
            <a:r>
              <a:rPr sz="2500" spc="3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7">
                <a:solidFill>
                  <a:srgbClr val="000000"/>
                </a:solidFill>
                <a:latin typeface="TNJFDH+CMBX12~c" panose="02000500000000000000"/>
                <a:cs typeface="TNJFDH+CMBX12~c" panose="02000500000000000000"/>
              </a:rPr>
              <a:t>cardinality</a:t>
            </a:r>
            <a:endParaRPr sz="2500" spc="-17">
              <a:solidFill>
                <a:srgbClr val="000000"/>
              </a:solidFill>
              <a:latin typeface="TNJFDH+CMBX12~c" panose="02000500000000000000"/>
              <a:cs typeface="TNJFDH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445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TNJFDH+CMBX12~c" panose="02000500000000000000"/>
                <a:cs typeface="TNJFDH+CMBX12~c" panose="02000500000000000000"/>
              </a:rPr>
              <a:t>properties</a:t>
            </a:r>
            <a:endParaRPr sz="2500">
              <a:solidFill>
                <a:srgbClr val="000000"/>
              </a:solidFill>
              <a:latin typeface="TNJFDH+CMBX12~c" panose="02000500000000000000"/>
              <a:cs typeface="TNJFDH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4417" y="2954391"/>
            <a:ext cx="1766737" cy="534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5"/>
              </a:lnSpc>
              <a:spcBef>
                <a:spcPct val="0"/>
              </a:spcBef>
              <a:spcAft>
                <a:spcPct val="0"/>
              </a:spcAft>
            </a:pPr>
            <a:r>
              <a:rPr sz="1600" spc="11">
                <a:solidFill>
                  <a:srgbClr val="000000"/>
                </a:solidFill>
                <a:latin typeface="CMQMPI+Helvetica" panose="020B0604020202020204"/>
                <a:cs typeface="CMQMPI+Helvetica" panose="020B0604020202020204"/>
              </a:rPr>
              <a:t>For</a:t>
            </a:r>
            <a:r>
              <a:rPr sz="1600">
                <a:solidFill>
                  <a:srgbClr val="000000"/>
                </a:solidFill>
                <a:latin typeface="CMQMPI+Helvetica" panose="020B0604020202020204"/>
                <a:cs typeface="CMQMPI+Helvetica" panose="020B0604020202020204"/>
              </a:rPr>
              <a:t> </a:t>
            </a:r>
            <a:r>
              <a:rPr sz="1600" spc="10">
                <a:solidFill>
                  <a:srgbClr val="000000"/>
                </a:solidFill>
                <a:latin typeface="CMQMPI+Helvetica" panose="020B0604020202020204"/>
                <a:cs typeface="CMQMPI+Helvetica" panose="020B0604020202020204"/>
              </a:rPr>
              <a:t>p:</a:t>
            </a:r>
            <a:r>
              <a:rPr sz="1600">
                <a:solidFill>
                  <a:srgbClr val="000000"/>
                </a:solidFill>
                <a:latin typeface="CMQMPI+Helvetica" panose="020B0604020202020204"/>
                <a:cs typeface="CMQMPI+Helvetica" panose="020B0604020202020204"/>
              </a:rPr>
              <a:t> </a:t>
            </a:r>
            <a:r>
              <a:rPr sz="1600" spc="10">
                <a:solidFill>
                  <a:srgbClr val="000000"/>
                </a:solidFill>
                <a:latin typeface="CMQMPI+Helvetica" panose="020B0604020202020204"/>
                <a:cs typeface="CMQMPI+Helvetica" panose="020B0604020202020204"/>
              </a:rPr>
              <a:t>Payment,</a:t>
            </a:r>
            <a:endParaRPr sz="1600" spc="10">
              <a:solidFill>
                <a:srgbClr val="000000"/>
              </a:solidFill>
              <a:latin typeface="CMQMPI+Helvetica" panose="020B0604020202020204"/>
              <a:cs typeface="CMQMPI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44417" y="3251233"/>
            <a:ext cx="2962384" cy="534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5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CMQMPI+Helvetica" panose="020B0604020202020204"/>
                <a:cs typeface="CMQMPI+Helvetica" panose="020B0604020202020204"/>
              </a:rPr>
              <a:t>p.</a:t>
            </a:r>
            <a:r>
              <a:rPr sz="1600">
                <a:solidFill>
                  <a:srgbClr val="000000"/>
                </a:solidFill>
                <a:latin typeface="CMQMPI+Helvetica" panose="020B0604020202020204"/>
                <a:cs typeface="CMQMPI+Helvetica" panose="020B0604020202020204"/>
              </a:rPr>
              <a:t> from</a:t>
            </a:r>
            <a:r>
              <a:rPr sz="1600" spc="13">
                <a:solidFill>
                  <a:srgbClr val="000000"/>
                </a:solidFill>
                <a:latin typeface="CMQMPI+Helvetica" panose="020B0604020202020204"/>
                <a:cs typeface="CMQMPI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CMQMPI+Helvetica" panose="020B0604020202020204"/>
                <a:cs typeface="CMQMPI+Helvetica" panose="020B0604020202020204"/>
              </a:rPr>
              <a:t>=</a:t>
            </a:r>
            <a:r>
              <a:rPr sz="1600" spc="16">
                <a:solidFill>
                  <a:srgbClr val="000000"/>
                </a:solidFill>
                <a:latin typeface="CMQMPI+Helvetica" panose="020B0604020202020204"/>
                <a:cs typeface="CMQMPI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CMQMPI+Helvetica" panose="020B0604020202020204"/>
                <a:cs typeface="CMQMPI+Helvetica" panose="020B0604020202020204"/>
              </a:rPr>
              <a:t>p</a:t>
            </a:r>
            <a:r>
              <a:rPr sz="1600" spc="15">
                <a:solidFill>
                  <a:srgbClr val="000000"/>
                </a:solidFill>
                <a:latin typeface="CMQMPI+Helvetica" panose="020B0604020202020204"/>
                <a:cs typeface="CMQMPI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CMQMPI+Helvetica" panose="020B0604020202020204"/>
                <a:cs typeface="CMQMPI+Helvetica" panose="020B0604020202020204"/>
              </a:rPr>
              <a:t>.</a:t>
            </a:r>
            <a:r>
              <a:rPr sz="1600" spc="11">
                <a:solidFill>
                  <a:srgbClr val="000000"/>
                </a:solidFill>
                <a:latin typeface="CMQMPI+Helvetica" panose="020B0604020202020204"/>
                <a:cs typeface="CMQMPI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CMQMPI+Helvetica" panose="020B0604020202020204"/>
                <a:cs typeface="CMQMPI+Helvetica" panose="020B0604020202020204"/>
              </a:rPr>
              <a:t>refund. </a:t>
            </a:r>
            <a:r>
              <a:rPr sz="1600" spc="10">
                <a:solidFill>
                  <a:srgbClr val="000000"/>
                </a:solidFill>
                <a:latin typeface="CMQMPI+Helvetica" panose="020B0604020202020204"/>
                <a:cs typeface="CMQMPI+Helvetica" panose="020B0604020202020204"/>
              </a:rPr>
              <a:t>account</a:t>
            </a:r>
            <a:endParaRPr sz="1600" spc="10">
              <a:solidFill>
                <a:srgbClr val="000000"/>
              </a:solidFill>
              <a:latin typeface="CMQMPI+Helvetica" panose="020B0604020202020204"/>
              <a:cs typeface="CMQMPI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36526" y="4004757"/>
            <a:ext cx="1115787" cy="534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5"/>
              </a:lnSpc>
              <a:spcBef>
                <a:spcPct val="0"/>
              </a:spcBef>
              <a:spcAft>
                <a:spcPct val="0"/>
              </a:spcAft>
            </a:pPr>
            <a:r>
              <a:rPr sz="1600" spc="11">
                <a:solidFill>
                  <a:srgbClr val="000000"/>
                </a:solidFill>
                <a:latin typeface="CMQMPI+Helvetica" panose="020B0604020202020204"/>
                <a:cs typeface="CMQMPI+Helvetica" panose="020B0604020202020204"/>
              </a:rPr>
              <a:t>Payment</a:t>
            </a:r>
            <a:endParaRPr sz="1600" spc="11">
              <a:solidFill>
                <a:srgbClr val="000000"/>
              </a:solidFill>
              <a:latin typeface="CMQMPI+Helvetica" panose="020B0604020202020204"/>
              <a:cs typeface="CMQMPI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04533" y="4370098"/>
            <a:ext cx="419092" cy="534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5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MQMPI+Helvetica" panose="020B0604020202020204"/>
                <a:cs typeface="CMQMPI+Helvetica" panose="020B0604020202020204"/>
              </a:rPr>
              <a:t>1</a:t>
            </a:r>
            <a:endParaRPr sz="1600">
              <a:solidFill>
                <a:srgbClr val="000000"/>
              </a:solidFill>
              <a:latin typeface="CMQMPI+Helvetica" panose="020B0604020202020204"/>
              <a:cs typeface="CMQMPI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90085" y="4507103"/>
            <a:ext cx="715814" cy="534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5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MQMPI+Helvetica" panose="020B0604020202020204"/>
                <a:cs typeface="CMQMPI+Helvetica" panose="020B0604020202020204"/>
              </a:rPr>
              <a:t>from</a:t>
            </a:r>
            <a:endParaRPr sz="1600">
              <a:solidFill>
                <a:srgbClr val="000000"/>
              </a:solidFill>
              <a:latin typeface="CMQMPI+Helvetica" panose="020B0604020202020204"/>
              <a:cs typeface="CMQMPI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77816" y="4895281"/>
            <a:ext cx="419092" cy="534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5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MQMPI+Helvetica" panose="020B0604020202020204"/>
                <a:cs typeface="CMQMPI+Helvetica" panose="020B0604020202020204"/>
              </a:rPr>
              <a:t>1</a:t>
            </a:r>
            <a:endParaRPr sz="1600">
              <a:solidFill>
                <a:srgbClr val="000000"/>
              </a:solidFill>
              <a:latin typeface="CMQMPI+Helvetica" panose="020B0604020202020204"/>
              <a:cs typeface="CMQMPI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0707" y="4895282"/>
            <a:ext cx="1127182" cy="1128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79425" marR="0">
              <a:lnSpc>
                <a:spcPts val="1805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MQMPI+Helvetica" panose="020B0604020202020204"/>
                <a:cs typeface="CMQMPI+Helvetica" panose="020B0604020202020204"/>
              </a:rPr>
              <a:t>0..1</a:t>
            </a:r>
            <a:endParaRPr sz="1600">
              <a:solidFill>
                <a:srgbClr val="000000"/>
              </a:solidFill>
              <a:latin typeface="CMQMPI+Helvetica" panose="020B0604020202020204"/>
              <a:cs typeface="CMQMPI+Helvetica" panose="020B0604020202020204"/>
            </a:endParaRPr>
          </a:p>
          <a:p>
            <a:pPr marL="0" marR="0">
              <a:lnSpc>
                <a:spcPts val="1805"/>
              </a:lnSpc>
              <a:spcBef>
                <a:spcPts val="2865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CMQMPI+Helvetica" panose="020B0604020202020204"/>
                <a:cs typeface="CMQMPI+Helvetica" panose="020B0604020202020204"/>
              </a:rPr>
              <a:t>Refund</a:t>
            </a:r>
            <a:endParaRPr sz="1600" spc="10">
              <a:solidFill>
                <a:srgbClr val="000000"/>
              </a:solidFill>
              <a:latin typeface="CMQMPI+Helvetica" panose="020B0604020202020204"/>
              <a:cs typeface="CMQMPI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44022" y="5488968"/>
            <a:ext cx="1047352" cy="534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5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CMQMPI+Helvetica" panose="020B0604020202020204"/>
                <a:cs typeface="CMQMPI+Helvetica" panose="020B0604020202020204"/>
              </a:rPr>
              <a:t>Account</a:t>
            </a:r>
            <a:endParaRPr sz="1600" spc="10">
              <a:solidFill>
                <a:srgbClr val="000000"/>
              </a:solidFill>
              <a:latin typeface="CMQMPI+Helvetica" panose="020B0604020202020204"/>
              <a:cs typeface="CMQMPI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57330" y="5603141"/>
            <a:ext cx="419092" cy="534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5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MQMPI+Helvetica" panose="020B0604020202020204"/>
                <a:cs typeface="CMQMPI+Helvetica" panose="020B0604020202020204"/>
              </a:rPr>
              <a:t>2</a:t>
            </a:r>
            <a:endParaRPr sz="1600">
              <a:solidFill>
                <a:srgbClr val="000000"/>
              </a:solidFill>
              <a:latin typeface="CMQMPI+Helvetica" panose="020B0604020202020204"/>
              <a:cs typeface="CMQMPI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QCFKQ+CMR7" panose="02000500000000000000"/>
                <a:cs typeface="EQCFKQ+CMR7" panose="02000500000000000000"/>
              </a:rPr>
              <a:t>91</a:t>
            </a:r>
            <a:endParaRPr sz="1450">
              <a:solidFill>
                <a:srgbClr val="000000"/>
              </a:solidFill>
              <a:latin typeface="EQCFKQ+CMR7" panose="02000500000000000000"/>
              <a:cs typeface="EQCFKQ+CMR7" panose="0200050000000000000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437941"/>
            <a:ext cx="3793937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42">
                <a:solidFill>
                  <a:srgbClr val="000000"/>
                </a:solidFill>
                <a:latin typeface="KTISKG+CMBX12~c" panose="02000500000000000000"/>
                <a:cs typeface="KTISKG+CMBX12~c" panose="02000500000000000000"/>
              </a:rPr>
              <a:t>Ternary</a:t>
            </a:r>
            <a:r>
              <a:rPr sz="2500" spc="3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KTISKG+CMBX12~c" panose="02000500000000000000"/>
                <a:cs typeface="KTISKG+CMBX12~c" panose="02000500000000000000"/>
              </a:rPr>
              <a:t>relationships</a:t>
            </a:r>
            <a:endParaRPr sz="2500">
              <a:solidFill>
                <a:srgbClr val="000000"/>
              </a:solidFill>
              <a:latin typeface="KTISKG+CMBX12~c" panose="02000500000000000000"/>
              <a:cs typeface="KTISKG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46700" y="2361238"/>
            <a:ext cx="865480" cy="480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FMDFDW+Helvetica" panose="020B0604020202020204"/>
                <a:cs typeface="FMDFDW+Helvetica" panose="020B0604020202020204"/>
              </a:rPr>
              <a:t>Course</a:t>
            </a:r>
            <a:endParaRPr sz="1450">
              <a:solidFill>
                <a:srgbClr val="000000"/>
              </a:solidFill>
              <a:latin typeface="FMDFDW+Helvetica" panose="020B0604020202020204"/>
              <a:cs typeface="FMDFDW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36463" y="3206652"/>
            <a:ext cx="885919" cy="731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" marR="0">
              <a:lnSpc>
                <a:spcPts val="160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FMDFDW+Helvetica" panose="020B0604020202020204"/>
                <a:cs typeface="FMDFDW+Helvetica" panose="020B0604020202020204"/>
              </a:rPr>
              <a:t>Course</a:t>
            </a:r>
            <a:endParaRPr sz="1450">
              <a:solidFill>
                <a:srgbClr val="000000"/>
              </a:solidFill>
              <a:latin typeface="FMDFDW+Helvetica" panose="020B0604020202020204"/>
              <a:cs typeface="FMDFDW+Helvetica" panose="020B0604020202020204"/>
            </a:endParaRPr>
          </a:p>
          <a:p>
            <a:pPr marL="0" marR="0">
              <a:lnSpc>
                <a:spcPts val="1605"/>
              </a:lnSpc>
              <a:spcBef>
                <a:spcPts val="37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FMDFDW+Helvetica" panose="020B0604020202020204"/>
                <a:cs typeface="FMDFDW+Helvetica" panose="020B0604020202020204"/>
              </a:rPr>
              <a:t>offering</a:t>
            </a:r>
            <a:endParaRPr sz="1450">
              <a:solidFill>
                <a:srgbClr val="000000"/>
              </a:solidFill>
              <a:latin typeface="FMDFDW+Helvetica" panose="020B0604020202020204"/>
              <a:cs typeface="FMDFDW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35376" y="3389443"/>
            <a:ext cx="1495106" cy="6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FMDFDW+Helvetica" panose="020B0604020202020204"/>
                <a:cs typeface="FMDFDW+Helvetica" panose="020B0604020202020204"/>
              </a:rPr>
              <a:t>Teacher</a:t>
            </a:r>
            <a:endParaRPr sz="1450">
              <a:solidFill>
                <a:srgbClr val="000000"/>
              </a:solidFill>
              <a:latin typeface="FMDFDW+Helvetica" panose="020B0604020202020204"/>
              <a:cs typeface="FMDFDW+Helvetica" panose="020B0604020202020204"/>
            </a:endParaRPr>
          </a:p>
          <a:p>
            <a:pPr marL="913765" marR="0">
              <a:lnSpc>
                <a:spcPts val="126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FMDFDW+Helvetica" panose="020B0604020202020204"/>
                <a:cs typeface="FMDFDW+Helvetica" panose="020B0604020202020204"/>
              </a:rPr>
              <a:t>0..1</a:t>
            </a:r>
            <a:endParaRPr sz="1450">
              <a:solidFill>
                <a:srgbClr val="000000"/>
              </a:solidFill>
              <a:latin typeface="FMDFDW+Helvetica" panose="020B0604020202020204"/>
              <a:cs typeface="FMDFDW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68171" y="3389443"/>
            <a:ext cx="763820" cy="480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FMDFDW+Helvetica" panose="020B0604020202020204"/>
                <a:cs typeface="FMDFDW+Helvetica" panose="020B0604020202020204"/>
              </a:rPr>
              <a:t>Room</a:t>
            </a:r>
            <a:endParaRPr sz="1450">
              <a:solidFill>
                <a:srgbClr val="000000"/>
              </a:solidFill>
              <a:latin typeface="FMDFDW+Helvetica" panose="020B0604020202020204"/>
              <a:cs typeface="FMDFDW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43573" y="3549387"/>
            <a:ext cx="550625" cy="480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FMDFDW+Helvetica" panose="020B0604020202020204"/>
                <a:cs typeface="FMDFDW+Helvetica" panose="020B0604020202020204"/>
              </a:rPr>
              <a:t>1..*</a:t>
            </a:r>
            <a:endParaRPr sz="1450">
              <a:solidFill>
                <a:srgbClr val="000000"/>
              </a:solidFill>
              <a:latin typeface="FMDFDW+Helvetica" panose="020B0604020202020204"/>
              <a:cs typeface="FMDFDW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4268" y="4188941"/>
            <a:ext cx="8843208" cy="145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Cardinality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properties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relationships</a:t>
            </a:r>
            <a:r>
              <a:rPr sz="2050" spc="1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with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arity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43">
                <a:solidFill>
                  <a:srgbClr val="000000"/>
                </a:solidFill>
                <a:latin typeface="PMLMSH+CMMI10" panose="02000500000000000000"/>
                <a:cs typeface="PMLMSH+CMMI10" panose="02000500000000000000"/>
              </a:rPr>
              <a:t>/geq</a:t>
            </a:r>
            <a:r>
              <a:rPr sz="2050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3</a:t>
            </a:r>
            <a:r>
              <a:rPr sz="2050" spc="2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hard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to</a:t>
            </a:r>
            <a:endParaRPr sz="2050">
              <a:solidFill>
                <a:srgbClr val="000000"/>
              </a:solidFill>
              <a:latin typeface="VMWIHL+CMR10" panose="02000500000000000000"/>
              <a:cs typeface="VMWIHL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understand.</a:t>
            </a:r>
            <a:endParaRPr sz="2050" spc="10">
              <a:solidFill>
                <a:srgbClr val="000000"/>
              </a:solidFill>
              <a:latin typeface="VMWIHL+CMR10" panose="02000500000000000000"/>
              <a:cs typeface="VMWIHL+CMR10" panose="02000500000000000000"/>
            </a:endParaRPr>
          </a:p>
          <a:p>
            <a:pPr marL="0" marR="0">
              <a:lnSpc>
                <a:spcPts val="2470"/>
              </a:lnSpc>
              <a:spcBef>
                <a:spcPts val="45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BDWGG+CMBX10" panose="02000500000000000000"/>
                <a:cs typeface="CBDWGG+CMBX10" panose="02000500000000000000"/>
              </a:rPr>
              <a:t>Questions</a:t>
            </a:r>
            <a:endParaRPr sz="2050">
              <a:solidFill>
                <a:srgbClr val="000000"/>
              </a:solidFill>
              <a:latin typeface="CBDWGG+CMBX10" panose="02000500000000000000"/>
              <a:cs typeface="CBDWGG+CMBX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1434" y="5450819"/>
            <a:ext cx="5995832" cy="1228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1.</a:t>
            </a:r>
            <a:r>
              <a:rPr sz="2050" spc="5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Can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course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more</a:t>
            </a:r>
            <a:r>
              <a:rPr sz="2050" spc="1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than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one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teacher?</a:t>
            </a:r>
            <a:endParaRPr sz="2050">
              <a:solidFill>
                <a:srgbClr val="000000"/>
              </a:solidFill>
              <a:latin typeface="VMWIHL+CMR10" panose="02000500000000000000"/>
              <a:cs typeface="VMWIHL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5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2.</a:t>
            </a:r>
            <a:r>
              <a:rPr sz="2050" spc="5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Can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teacher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give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several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MWIHL+CMR10" panose="02000500000000000000"/>
                <a:cs typeface="VMWIHL+CMR10" panose="02000500000000000000"/>
              </a:rPr>
              <a:t>courses?</a:t>
            </a:r>
            <a:endParaRPr sz="2050">
              <a:solidFill>
                <a:srgbClr val="000000"/>
              </a:solidFill>
              <a:latin typeface="VMWIHL+CMR10" panose="02000500000000000000"/>
              <a:cs typeface="VMWIHL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GGIJKT+CMR7" panose="02000500000000000000"/>
                <a:cs typeface="GGIJKT+CMR7" panose="02000500000000000000"/>
              </a:rPr>
              <a:t>92</a:t>
            </a:r>
            <a:endParaRPr sz="1450">
              <a:solidFill>
                <a:srgbClr val="000000"/>
              </a:solidFill>
              <a:latin typeface="GGIJKT+CMR7" panose="02000500000000000000"/>
              <a:cs typeface="GGIJKT+CMR7" panose="0200050000000000000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361741"/>
            <a:ext cx="3485924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PRJAGB+CMBX12~c" panose="02000500000000000000"/>
                <a:cs typeface="PRJAGB+CMBX12~c" panose="02000500000000000000"/>
              </a:rPr>
              <a:t>Association</a:t>
            </a:r>
            <a:r>
              <a:rPr sz="2500" spc="2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0">
                <a:solidFill>
                  <a:srgbClr val="000000"/>
                </a:solidFill>
                <a:latin typeface="PRJAGB+CMBX12~c" panose="02000500000000000000"/>
                <a:cs typeface="PRJAGB+CMBX12~c" panose="02000500000000000000"/>
              </a:rPr>
              <a:t>entities</a:t>
            </a:r>
            <a:endParaRPr sz="2500" spc="-20">
              <a:solidFill>
                <a:srgbClr val="000000"/>
              </a:solidFill>
              <a:latin typeface="PRJAGB+CMBX12~c" panose="02000500000000000000"/>
              <a:cs typeface="PRJAGB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1177" y="2260237"/>
            <a:ext cx="944925" cy="534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FKCHUO+Helvetica" panose="020B0604020202020204"/>
                <a:cs typeface="FKCHUO+Helvetica" panose="020B0604020202020204"/>
              </a:rPr>
              <a:t>Recipe</a:t>
            </a:r>
            <a:endParaRPr sz="1600" spc="10">
              <a:solidFill>
                <a:srgbClr val="000000"/>
              </a:solidFill>
              <a:latin typeface="FKCHUO+Helvetica" panose="020B0604020202020204"/>
              <a:cs typeface="FKCHUO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22957" y="2420181"/>
            <a:ext cx="2075949" cy="1060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235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FKCHUO+Helvetica" panose="020B0604020202020204"/>
                <a:cs typeface="FKCHUO+Helvetica" panose="020B0604020202020204"/>
              </a:rPr>
              <a:t>Juice specification</a:t>
            </a:r>
            <a:endParaRPr sz="1600">
              <a:solidFill>
                <a:srgbClr val="000000"/>
              </a:solidFill>
              <a:latin typeface="FKCHUO+Helvetica" panose="020B0604020202020204"/>
              <a:cs typeface="FKCHUO+Helvetica" panose="020B0604020202020204"/>
            </a:endParaRPr>
          </a:p>
          <a:p>
            <a:pPr marL="0" marR="0">
              <a:lnSpc>
                <a:spcPts val="1810"/>
              </a:lnSpc>
              <a:spcBef>
                <a:spcPts val="2330"/>
              </a:spcBef>
              <a:spcAft>
                <a:spcPct val="0"/>
              </a:spcAft>
            </a:pPr>
            <a:r>
              <a:rPr sz="1600" spc="12">
                <a:solidFill>
                  <a:srgbClr val="000000"/>
                </a:solidFill>
                <a:latin typeface="FKCHUO+Helvetica" panose="020B0604020202020204"/>
                <a:cs typeface="FKCHUO+Helvetica" panose="020B0604020202020204"/>
              </a:rPr>
              <a:t>name</a:t>
            </a:r>
            <a:endParaRPr sz="1600" spc="12">
              <a:solidFill>
                <a:srgbClr val="000000"/>
              </a:solidFill>
              <a:latin typeface="FKCHUO+Helvetica" panose="020B0604020202020204"/>
              <a:cs typeface="FKCHUO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64325" y="2785776"/>
            <a:ext cx="819210" cy="534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2">
                <a:solidFill>
                  <a:srgbClr val="000000"/>
                </a:solidFill>
                <a:latin typeface="FKCHUO+Helvetica" panose="020B0604020202020204"/>
                <a:cs typeface="FKCHUO+Helvetica" panose="020B0604020202020204"/>
              </a:rPr>
              <a:t>name</a:t>
            </a:r>
            <a:endParaRPr sz="1600" spc="12">
              <a:solidFill>
                <a:srgbClr val="000000"/>
              </a:solidFill>
              <a:latin typeface="FKCHUO+Helvetica" panose="020B0604020202020204"/>
              <a:cs typeface="FKCHUO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30713" y="3082816"/>
            <a:ext cx="613504" cy="534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FKCHUO+Helvetica" panose="020B0604020202020204"/>
                <a:cs typeface="FKCHUO+Helvetica" panose="020B0604020202020204"/>
              </a:rPr>
              <a:t>1..*</a:t>
            </a:r>
            <a:endParaRPr sz="1600">
              <a:solidFill>
                <a:srgbClr val="000000"/>
              </a:solidFill>
              <a:latin typeface="FKCHUO+Helvetica" panose="020B0604020202020204"/>
              <a:cs typeface="FKCHUO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64325" y="3082815"/>
            <a:ext cx="2144929" cy="831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FKCHUO+Helvetica" panose="020B0604020202020204"/>
                <a:cs typeface="FKCHUO+Helvetica" panose="020B0604020202020204"/>
              </a:rPr>
              <a:t>desired temperature</a:t>
            </a:r>
            <a:endParaRPr sz="1600">
              <a:solidFill>
                <a:srgbClr val="000000"/>
              </a:solidFill>
              <a:latin typeface="FKCHUO+Helvetica" panose="020B0604020202020204"/>
              <a:cs typeface="FKCHUO+Helvetica" panose="020B0604020202020204"/>
            </a:endParaRPr>
          </a:p>
          <a:p>
            <a:pPr marL="0" marR="0">
              <a:lnSpc>
                <a:spcPts val="1810"/>
              </a:lnSpc>
              <a:spcBef>
                <a:spcPts val="53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FKCHUO+Helvetica" panose="020B0604020202020204"/>
                <a:cs typeface="FKCHUO+Helvetica" panose="020B0604020202020204"/>
              </a:rPr>
              <a:t>duration</a:t>
            </a:r>
            <a:endParaRPr sz="1600">
              <a:solidFill>
                <a:srgbClr val="000000"/>
              </a:solidFill>
              <a:latin typeface="FKCHUO+Helvetica" panose="020B0604020202020204"/>
              <a:cs typeface="FKCHUO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22957" y="3242759"/>
            <a:ext cx="2145103" cy="534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FKCHUO+Helvetica" panose="020B0604020202020204"/>
                <a:cs typeface="FKCHUO+Helvetica" panose="020B0604020202020204"/>
              </a:rPr>
              <a:t>percentage </a:t>
            </a:r>
            <a:r>
              <a:rPr sz="1600" spc="10">
                <a:solidFill>
                  <a:srgbClr val="000000"/>
                </a:solidFill>
                <a:latin typeface="FKCHUO+Helvetica" panose="020B0604020202020204"/>
                <a:cs typeface="FKCHUO+Helvetica" panose="020B0604020202020204"/>
              </a:rPr>
              <a:t>of</a:t>
            </a:r>
            <a:r>
              <a:rPr sz="1600">
                <a:solidFill>
                  <a:srgbClr val="000000"/>
                </a:solidFill>
                <a:latin typeface="FKCHUO+Helvetica" panose="020B0604020202020204"/>
                <a:cs typeface="FKCHUO+Helvetica" panose="020B0604020202020204"/>
              </a:rPr>
              <a:t> solids</a:t>
            </a:r>
            <a:endParaRPr sz="1600">
              <a:solidFill>
                <a:srgbClr val="000000"/>
              </a:solidFill>
              <a:latin typeface="FKCHUO+Helvetica" panose="020B0604020202020204"/>
              <a:cs typeface="FKCHUO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93411" y="3813993"/>
            <a:ext cx="978965" cy="534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FKCHUO+Helvetica" panose="020B0604020202020204"/>
                <a:cs typeface="FKCHUO+Helvetica" panose="020B0604020202020204"/>
              </a:rPr>
              <a:t>Mixture</a:t>
            </a:r>
            <a:endParaRPr sz="1600">
              <a:solidFill>
                <a:srgbClr val="000000"/>
              </a:solidFill>
              <a:latin typeface="FKCHUO+Helvetica" panose="020B0604020202020204"/>
              <a:cs typeface="FKCHUO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07890" y="4339519"/>
            <a:ext cx="2042312" cy="534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FKCHUO+Helvetica" panose="020B0604020202020204"/>
                <a:cs typeface="FKCHUO+Helvetica" panose="020B0604020202020204"/>
              </a:rPr>
              <a:t>percentage </a:t>
            </a:r>
            <a:r>
              <a:rPr sz="1600" spc="10">
                <a:solidFill>
                  <a:srgbClr val="000000"/>
                </a:solidFill>
                <a:latin typeface="FKCHUO+Helvetica" panose="020B0604020202020204"/>
                <a:cs typeface="FKCHUO+Helvetica" panose="020B0604020202020204"/>
              </a:rPr>
              <a:t>of</a:t>
            </a:r>
            <a:r>
              <a:rPr sz="1600">
                <a:solidFill>
                  <a:srgbClr val="000000"/>
                </a:solidFill>
                <a:latin typeface="FKCHUO+Helvetica" panose="020B0604020202020204"/>
                <a:cs typeface="FKCHUO+Helvetica" panose="020B0604020202020204"/>
              </a:rPr>
              <a:t> juice</a:t>
            </a:r>
            <a:endParaRPr sz="1600">
              <a:solidFill>
                <a:srgbClr val="000000"/>
              </a:solidFill>
              <a:latin typeface="FKCHUO+Helvetica" panose="020B0604020202020204"/>
              <a:cs typeface="FKCHUO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4580" y="5155158"/>
            <a:ext cx="745686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KQJQH+CMSY10~25" panose="02000500000000000000"/>
                <a:cs typeface="SKQJQH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GUPRK+CMR10" panose="02000500000000000000"/>
                <a:cs typeface="SGUPRK+CMR10" panose="02000500000000000000"/>
              </a:rPr>
              <a:t>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SGUPRK+CMR10" panose="02000500000000000000"/>
                <a:cs typeface="SGUPRK+CMR10" panose="02000500000000000000"/>
              </a:rPr>
              <a:t>association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SGUPRK+CMR10" panose="02000500000000000000"/>
                <a:cs typeface="SGUPRK+CMR10" panose="02000500000000000000"/>
              </a:rPr>
              <a:t>entity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UPRK+CMR10" panose="02000500000000000000"/>
                <a:cs typeface="SGUPRK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UPRK+CMR10" panose="02000500000000000000"/>
                <a:cs typeface="SGUPRK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UPRK+CMR10" panose="02000500000000000000"/>
                <a:cs typeface="SGUPRK+CMR10" panose="02000500000000000000"/>
              </a:rPr>
              <a:t>relationship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UPRK+CMR10" panose="02000500000000000000"/>
                <a:cs typeface="SGUPRK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UPRK+CMR10" panose="02000500000000000000"/>
                <a:cs typeface="SGUPRK+CMR10" panose="02000500000000000000"/>
              </a:rPr>
              <a:t>attributes.</a:t>
            </a:r>
            <a:endParaRPr sz="2050">
              <a:solidFill>
                <a:srgbClr val="000000"/>
              </a:solidFill>
              <a:latin typeface="SGUPRK+CMR10" panose="02000500000000000000"/>
              <a:cs typeface="SGUPRK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4591" y="5674842"/>
            <a:ext cx="865576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KQJQH+CMSY10~25" panose="02000500000000000000"/>
                <a:cs typeface="SKQJQH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SGUPRK+CMR10" panose="02000500000000000000"/>
                <a:cs typeface="SGUPRK+CMR10" panose="02000500000000000000"/>
              </a:rPr>
              <a:t>Each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GUPRK+CMR10" panose="02000500000000000000"/>
                <a:cs typeface="SGUPRK+CMR10" panose="02000500000000000000"/>
              </a:rPr>
              <a:t>instance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UPRK+CMR10" panose="02000500000000000000"/>
                <a:cs typeface="SGUPRK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UPRK+CMR10" panose="02000500000000000000"/>
                <a:cs typeface="SGUPRK+CMR10" panose="02000500000000000000"/>
              </a:rPr>
              <a:t>really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UPRK+CMR10" panose="02000500000000000000"/>
                <a:cs typeface="SGUPRK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UPRK+CMR10" panose="02000500000000000000"/>
                <a:cs typeface="SGUPRK+CMR10" panose="02000500000000000000"/>
              </a:rPr>
              <a:t>relationship.</a:t>
            </a:r>
            <a:r>
              <a:rPr sz="2050" spc="3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UPRK+CMR10" panose="02000500000000000000"/>
                <a:cs typeface="SGUPRK+CMR10" panose="02000500000000000000"/>
              </a:rPr>
              <a:t>It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UPRK+CMR10" panose="02000500000000000000"/>
                <a:cs typeface="SGUPRK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UPRK+CMR10" panose="02000500000000000000"/>
                <a:cs typeface="SGUPRK+CMR10" panose="02000500000000000000"/>
              </a:rPr>
              <a:t>identiﬁed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SGUPRK+CMR10" panose="02000500000000000000"/>
                <a:cs typeface="SGUPRK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UPRK+CMR10" panose="02000500000000000000"/>
                <a:cs typeface="SGUPRK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GUPRK+CMR10" panose="02000500000000000000"/>
                <a:cs typeface="SGUPRK+CMR10" panose="02000500000000000000"/>
              </a:rPr>
              <a:t>tuple</a:t>
            </a:r>
            <a:endParaRPr sz="2050" spc="10">
              <a:solidFill>
                <a:srgbClr val="000000"/>
              </a:solidFill>
              <a:latin typeface="SGUPRK+CMR10" panose="02000500000000000000"/>
              <a:cs typeface="SGUPRK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6719" y="6045175"/>
            <a:ext cx="325473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GUPRK+CMR10" panose="02000500000000000000"/>
                <a:cs typeface="SGUPRK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GUPRK+CMR10" panose="02000500000000000000"/>
                <a:cs typeface="SGUPRK+CMR10" panose="02000500000000000000"/>
              </a:rPr>
              <a:t>component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UPRK+CMR10" panose="02000500000000000000"/>
                <a:cs typeface="SGUPRK+CMR10" panose="02000500000000000000"/>
              </a:rPr>
              <a:t>identiﬁers.</a:t>
            </a:r>
            <a:endParaRPr sz="2050">
              <a:solidFill>
                <a:srgbClr val="000000"/>
              </a:solidFill>
              <a:latin typeface="SGUPRK+CMR10" panose="02000500000000000000"/>
              <a:cs typeface="SGUPRK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DMODOR+CMR7" panose="02000500000000000000"/>
                <a:cs typeface="DMODOR+CMR7" panose="02000500000000000000"/>
              </a:rPr>
              <a:t>93</a:t>
            </a:r>
            <a:endParaRPr sz="1450">
              <a:solidFill>
                <a:srgbClr val="000000"/>
              </a:solidFill>
              <a:latin typeface="DMODOR+CMR7" panose="02000500000000000000"/>
              <a:cs typeface="DMODOR+CMR7" panose="02000500000000000000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323641"/>
            <a:ext cx="2726815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WVNJEB+CMBX12~c" panose="02000500000000000000"/>
                <a:cs typeface="WVNJEB+CMBX12~c" panose="02000500000000000000"/>
              </a:rPr>
              <a:t>Generalization</a:t>
            </a:r>
            <a:endParaRPr sz="2500" spc="-10">
              <a:solidFill>
                <a:srgbClr val="000000"/>
              </a:solidFill>
              <a:latin typeface="WVNJEB+CMBX12~c" panose="02000500000000000000"/>
              <a:cs typeface="WVNJEB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71260" y="2373917"/>
            <a:ext cx="761969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1">
                <a:solidFill>
                  <a:srgbClr val="000000"/>
                </a:solidFill>
                <a:latin typeface="QGFOPV+Helvetica" panose="020B0604020202020204"/>
                <a:cs typeface="QGFOPV+Helvetica" panose="020B0604020202020204"/>
              </a:rPr>
              <a:t>Tank</a:t>
            </a:r>
            <a:endParaRPr sz="1600" spc="11">
              <a:solidFill>
                <a:srgbClr val="000000"/>
              </a:solidFill>
              <a:latin typeface="QGFOPV+Helvetica" panose="020B0604020202020204"/>
              <a:cs typeface="QGFOPV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22962" y="2899443"/>
            <a:ext cx="967711" cy="831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QGFOPV+Helvetica" panose="020B0604020202020204"/>
                <a:cs typeface="QGFOPV+Helvetica" panose="020B0604020202020204"/>
              </a:rPr>
              <a:t>tank ID</a:t>
            </a:r>
            <a:endParaRPr sz="1600">
              <a:solidFill>
                <a:srgbClr val="000000"/>
              </a:solidFill>
              <a:latin typeface="QGFOPV+Helvetica" panose="020B0604020202020204"/>
              <a:cs typeface="QGFOPV+Helvetica" panose="020B0604020202020204"/>
            </a:endParaRPr>
          </a:p>
          <a:p>
            <a:pPr marL="0" marR="0">
              <a:lnSpc>
                <a:spcPts val="1810"/>
              </a:lnSpc>
              <a:spcBef>
                <a:spcPts val="53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QGFOPV+Helvetica" panose="020B0604020202020204"/>
                <a:cs typeface="QGFOPV+Helvetica" panose="020B0604020202020204"/>
              </a:rPr>
              <a:t>volume</a:t>
            </a:r>
            <a:endParaRPr sz="1600" spc="10">
              <a:solidFill>
                <a:srgbClr val="000000"/>
              </a:solidFill>
              <a:latin typeface="QGFOPV+Helvetica" panose="020B0604020202020204"/>
              <a:cs typeface="QGFOPV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9676" y="3927648"/>
            <a:ext cx="922024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QGFOPV+Helvetica" panose="020B0604020202020204"/>
                <a:cs typeface="QGFOPV+Helvetica" panose="020B0604020202020204"/>
              </a:rPr>
              <a:t>Heater</a:t>
            </a:r>
            <a:endParaRPr sz="1600" spc="10">
              <a:solidFill>
                <a:srgbClr val="000000"/>
              </a:solidFill>
              <a:latin typeface="QGFOPV+Helvetica" panose="020B0604020202020204"/>
              <a:cs typeface="QGFOPV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65903" y="4384632"/>
            <a:ext cx="1459268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QGFOPV+Helvetica" panose="020B0604020202020204"/>
                <a:cs typeface="QGFOPV+Helvetica" panose="020B0604020202020204"/>
              </a:rPr>
              <a:t>Heating tank</a:t>
            </a:r>
            <a:endParaRPr sz="1600">
              <a:solidFill>
                <a:srgbClr val="000000"/>
              </a:solidFill>
              <a:latin typeface="QGFOPV+Helvetica" panose="020B0604020202020204"/>
              <a:cs typeface="QGFOPV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45045" y="4384632"/>
            <a:ext cx="1470784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QGFOPV+Helvetica" panose="020B0604020202020204"/>
                <a:cs typeface="QGFOPV+Helvetica" panose="020B0604020202020204"/>
              </a:rPr>
              <a:t>Storage tank</a:t>
            </a:r>
            <a:endParaRPr sz="1600">
              <a:solidFill>
                <a:srgbClr val="000000"/>
              </a:solidFill>
              <a:latin typeface="QGFOPV+Helvetica" panose="020B0604020202020204"/>
              <a:cs typeface="QGFOPV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41219" y="4841603"/>
            <a:ext cx="1538947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1">
                <a:solidFill>
                  <a:srgbClr val="000000"/>
                </a:solidFill>
                <a:latin typeface="QGFOPV+Helvetica" panose="020B0604020202020204"/>
                <a:cs typeface="QGFOPV+Helvetica" panose="020B0604020202020204"/>
              </a:rPr>
              <a:t>Thermometer</a:t>
            </a:r>
            <a:endParaRPr sz="1600" spc="11">
              <a:solidFill>
                <a:srgbClr val="000000"/>
              </a:solidFill>
              <a:latin typeface="QGFOPV+Helvetica" panose="020B0604020202020204"/>
              <a:cs typeface="QGFOPV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4268" y="5565114"/>
            <a:ext cx="414735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DDNFU+CMR10" panose="02000500000000000000"/>
                <a:cs typeface="ODDNFU+CMR10" panose="02000500000000000000"/>
              </a:rPr>
              <a:t>Characteristic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DDNFU+CMR10" panose="02000500000000000000"/>
                <a:cs typeface="ODDNFU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ODDNFU+CMR10" panose="02000500000000000000"/>
                <a:cs typeface="ODDNFU+CMR10" panose="02000500000000000000"/>
              </a:rPr>
              <a:t>specialization:</a:t>
            </a:r>
            <a:endParaRPr sz="2050" spc="13">
              <a:solidFill>
                <a:srgbClr val="000000"/>
              </a:solidFill>
              <a:latin typeface="ODDNFU+CMR10" panose="02000500000000000000"/>
              <a:cs typeface="ODDNFU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79" y="6083275"/>
            <a:ext cx="6678132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SHMWH+CMSY10~25" panose="02000500000000000000"/>
                <a:cs typeface="ASHMWH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DDNFU+CMR10" panose="02000500000000000000"/>
                <a:cs typeface="ODDNFU+CMR10" panose="02000500000000000000"/>
              </a:rPr>
              <a:t>Instance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DDNFU+CMR10" panose="02000500000000000000"/>
                <a:cs typeface="ODDNFU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DDNFU+CMR10" panose="02000500000000000000"/>
                <a:cs typeface="ODDNFU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DDNFU+CMR10" panose="02000500000000000000"/>
                <a:cs typeface="ODDNFU+CMR10" panose="02000500000000000000"/>
              </a:rPr>
              <a:t>subtype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DDNFU+CMR10" panose="02000500000000000000"/>
                <a:cs typeface="ODDNFU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DDNFU+CMR10" panose="02000500000000000000"/>
                <a:cs typeface="ODDNFU+CMR10" panose="02000500000000000000"/>
              </a:rPr>
              <a:t>instance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DDNFU+CMR10" panose="02000500000000000000"/>
                <a:cs typeface="ODDNFU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DDNFU+CMR10" panose="02000500000000000000"/>
                <a:cs typeface="ODDNFU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ODDNFU+CMR10" panose="02000500000000000000"/>
                <a:cs typeface="ODDNFU+CMR10" panose="02000500000000000000"/>
              </a:rPr>
              <a:t>supertype.</a:t>
            </a:r>
            <a:endParaRPr sz="2050" spc="17">
              <a:solidFill>
                <a:srgbClr val="000000"/>
              </a:solidFill>
              <a:latin typeface="ODDNFU+CMR10" panose="02000500000000000000"/>
              <a:cs typeface="ODDNFU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KFIEBV+CMR7" panose="02000500000000000000"/>
                <a:cs typeface="KFIEBV+CMR7" panose="02000500000000000000"/>
              </a:rPr>
              <a:t>94</a:t>
            </a:r>
            <a:endParaRPr sz="1450">
              <a:solidFill>
                <a:srgbClr val="000000"/>
              </a:solidFill>
              <a:latin typeface="KFIEBV+CMR7" panose="02000500000000000000"/>
              <a:cs typeface="KFIEBV+CMR7" panose="0200050000000000000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87421"/>
            <a:ext cx="6444106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2">
                <a:solidFill>
                  <a:srgbClr val="000000"/>
                </a:solidFill>
                <a:latin typeface="IPREFU+CMBX12~c" panose="02000500000000000000"/>
                <a:cs typeface="IPREFU+CMBX12~c" panose="02000500000000000000"/>
              </a:rPr>
              <a:t>Dynamic</a:t>
            </a:r>
            <a:r>
              <a:rPr sz="2500" spc="2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4">
                <a:solidFill>
                  <a:srgbClr val="000000"/>
                </a:solidFill>
                <a:latin typeface="IPREFU+CMBX12~c" panose="02000500000000000000"/>
                <a:cs typeface="IPREFU+CMBX12~c" panose="02000500000000000000"/>
              </a:rPr>
              <a:t>versus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IPREFU+CMBX12~c" panose="02000500000000000000"/>
                <a:cs typeface="IPREFU+CMBX12~c" panose="02000500000000000000"/>
              </a:rPr>
              <a:t>static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IPREFU+CMBX12~c" panose="02000500000000000000"/>
                <a:cs typeface="IPREFU+CMBX12~c" panose="02000500000000000000"/>
              </a:rPr>
              <a:t>specialization</a:t>
            </a:r>
            <a:endParaRPr sz="2500">
              <a:solidFill>
                <a:srgbClr val="000000"/>
              </a:solidFill>
              <a:latin typeface="IPREFU+CMBX12~c" panose="02000500000000000000"/>
              <a:cs typeface="IPREFU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66746" y="1835991"/>
            <a:ext cx="850794" cy="59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CCMVTO+Helvetica" panose="020B0604020202020204"/>
                <a:cs typeface="CCMVTO+Helvetica" panose="020B0604020202020204"/>
              </a:rPr>
              <a:t>Tank</a:t>
            </a:r>
            <a:endParaRPr sz="1800">
              <a:solidFill>
                <a:srgbClr val="000000"/>
              </a:solidFill>
              <a:latin typeface="CCMVTO+Helvetica" panose="020B0604020202020204"/>
              <a:cs typeface="CCMVTO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91187" y="1835991"/>
            <a:ext cx="850794" cy="59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CCMVTO+Helvetica" panose="020B0604020202020204"/>
                <a:cs typeface="CCMVTO+Helvetica" panose="020B0604020202020204"/>
              </a:rPr>
              <a:t>Tank</a:t>
            </a:r>
            <a:endParaRPr sz="1800">
              <a:solidFill>
                <a:srgbClr val="000000"/>
              </a:solidFill>
              <a:latin typeface="CCMVTO+Helvetica" panose="020B0604020202020204"/>
              <a:cs typeface="CCMVTO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00058" y="2864055"/>
            <a:ext cx="584186" cy="59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CCMVTO+Helvetica" panose="020B0604020202020204"/>
                <a:cs typeface="CCMVTO+Helvetica" panose="020B0604020202020204"/>
              </a:rPr>
              <a:t>dc</a:t>
            </a:r>
            <a:endParaRPr sz="1800">
              <a:solidFill>
                <a:srgbClr val="000000"/>
              </a:solidFill>
              <a:latin typeface="CCMVTO+Helvetica" panose="020B0604020202020204"/>
              <a:cs typeface="CCMVTO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24486" y="2864055"/>
            <a:ext cx="584186" cy="59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CCMVTO+Helvetica" panose="020B0604020202020204"/>
                <a:cs typeface="CCMVTO+Helvetica" panose="020B0604020202020204"/>
              </a:rPr>
              <a:t>dc</a:t>
            </a:r>
            <a:endParaRPr sz="1800">
              <a:solidFill>
                <a:srgbClr val="000000"/>
              </a:solidFill>
              <a:latin typeface="CCMVTO+Helvetica" panose="020B0604020202020204"/>
              <a:cs typeface="CCMVTO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5901" y="3640800"/>
            <a:ext cx="2278894" cy="59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CCMVTO+Helvetica" panose="020B0604020202020204"/>
                <a:cs typeface="CCMVTO+Helvetica" panose="020B0604020202020204"/>
              </a:rPr>
              <a:t>Heating</a:t>
            </a:r>
            <a:r>
              <a:rPr sz="1800" spc="2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>
                <a:solidFill>
                  <a:srgbClr val="000000"/>
                </a:solidFill>
                <a:latin typeface="CCMVTO+Helvetica" panose="020B0604020202020204"/>
                <a:cs typeface="CCMVTO+Helvetica" panose="020B0604020202020204"/>
              </a:rPr>
              <a:t>Storage</a:t>
            </a:r>
            <a:endParaRPr sz="1800">
              <a:solidFill>
                <a:srgbClr val="000000"/>
              </a:solidFill>
              <a:latin typeface="CCMVTO+Helvetica" panose="020B0604020202020204"/>
              <a:cs typeface="CCMVTO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80330" y="3640800"/>
            <a:ext cx="2278895" cy="59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CCMVTO+Helvetica" panose="020B0604020202020204"/>
                <a:cs typeface="CCMVTO+Helvetica" panose="020B0604020202020204"/>
              </a:rPr>
              <a:t>Heating</a:t>
            </a:r>
            <a:r>
              <a:rPr sz="1800" spc="2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>
                <a:solidFill>
                  <a:srgbClr val="000000"/>
                </a:solidFill>
                <a:latin typeface="CCMVTO+Helvetica" panose="020B0604020202020204"/>
                <a:cs typeface="CCMVTO+Helvetica" panose="020B0604020202020204"/>
              </a:rPr>
              <a:t>Storage</a:t>
            </a:r>
            <a:endParaRPr sz="1800">
              <a:solidFill>
                <a:srgbClr val="000000"/>
              </a:solidFill>
              <a:latin typeface="CCMVTO+Helvetica" panose="020B0604020202020204"/>
              <a:cs typeface="CCMVTO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33642" y="3937795"/>
            <a:ext cx="774716" cy="59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CCMVTO+Helvetica" panose="020B0604020202020204"/>
                <a:cs typeface="CCMVTO+Helvetica" panose="020B0604020202020204"/>
              </a:rPr>
              <a:t>tank</a:t>
            </a:r>
            <a:endParaRPr sz="1800">
              <a:solidFill>
                <a:srgbClr val="000000"/>
              </a:solidFill>
              <a:latin typeface="CCMVTO+Helvetica" panose="020B0604020202020204"/>
              <a:cs typeface="CCMVTO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75939" y="3937795"/>
            <a:ext cx="774716" cy="59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CCMVTO+Helvetica" panose="020B0604020202020204"/>
                <a:cs typeface="CCMVTO+Helvetica" panose="020B0604020202020204"/>
              </a:rPr>
              <a:t>tank</a:t>
            </a:r>
            <a:endParaRPr sz="1800">
              <a:solidFill>
                <a:srgbClr val="000000"/>
              </a:solidFill>
              <a:latin typeface="CCMVTO+Helvetica" panose="020B0604020202020204"/>
              <a:cs typeface="CCMVTO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58070" y="3937795"/>
            <a:ext cx="774716" cy="59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CCMVTO+Helvetica" panose="020B0604020202020204"/>
                <a:cs typeface="CCMVTO+Helvetica" panose="020B0604020202020204"/>
              </a:rPr>
              <a:t>tank</a:t>
            </a:r>
            <a:endParaRPr sz="1800">
              <a:solidFill>
                <a:srgbClr val="000000"/>
              </a:solidFill>
              <a:latin typeface="CCMVTO+Helvetica" panose="020B0604020202020204"/>
              <a:cs typeface="CCMVTO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00367" y="3937795"/>
            <a:ext cx="774716" cy="59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CCMVTO+Helvetica" panose="020B0604020202020204"/>
                <a:cs typeface="CCMVTO+Helvetica" panose="020B0604020202020204"/>
              </a:rPr>
              <a:t>tank</a:t>
            </a:r>
            <a:endParaRPr sz="1800">
              <a:solidFill>
                <a:srgbClr val="000000"/>
              </a:solidFill>
              <a:latin typeface="CCMVTO+Helvetica" panose="020B0604020202020204"/>
              <a:cs typeface="CCMVTO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01241" y="4373285"/>
            <a:ext cx="3123684" cy="14465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QSBQM+CMBX10" panose="02000500000000000000"/>
                <a:cs typeface="NQSBQM+CMBX10" panose="02000500000000000000"/>
              </a:rPr>
              <a:t>Static</a:t>
            </a:r>
            <a:r>
              <a:rPr sz="205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NQSBQM+CMBX10" panose="02000500000000000000"/>
                <a:cs typeface="NQSBQM+CMBX10" panose="02000500000000000000"/>
              </a:rPr>
              <a:t>specialization:</a:t>
            </a:r>
            <a:endParaRPr sz="2050" spc="12">
              <a:solidFill>
                <a:srgbClr val="000000"/>
              </a:solidFill>
              <a:latin typeface="NQSBQM+CMBX10" panose="02000500000000000000"/>
              <a:cs typeface="NQSBQM+CMBX10" panose="02000500000000000000"/>
            </a:endParaRPr>
          </a:p>
          <a:p>
            <a:pPr marL="0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Subtype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WDSHM+CMTI10" panose="02000500000000000000"/>
                <a:cs typeface="QWDSHM+CMTI10" panose="02000500000000000000"/>
              </a:rPr>
              <a:t>extensions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are</a:t>
            </a:r>
            <a:endParaRPr sz="2050">
              <a:solidFill>
                <a:srgbClr val="000000"/>
              </a:solidFill>
              <a:latin typeface="SDACJD+CMR10" panose="02000500000000000000"/>
              <a:cs typeface="SDACJD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disjoint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9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cover</a:t>
            </a:r>
            <a:endParaRPr sz="2050" spc="-19">
              <a:solidFill>
                <a:srgbClr val="000000"/>
              </a:solidFill>
              <a:latin typeface="SDACJD+CMR10" panose="02000500000000000000"/>
              <a:cs typeface="SDACJD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25681" y="4373288"/>
            <a:ext cx="1564569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NQSBQM+CMBX10" panose="02000500000000000000"/>
                <a:cs typeface="NQSBQM+CMBX10" panose="02000500000000000000"/>
              </a:rPr>
              <a:t>Dynamic</a:t>
            </a:r>
            <a:endParaRPr sz="2050" spc="11">
              <a:solidFill>
                <a:srgbClr val="000000"/>
              </a:solidFill>
              <a:latin typeface="NQSBQM+CMBX10" panose="02000500000000000000"/>
              <a:cs typeface="NQSBQM+CMBX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25681" y="4737585"/>
            <a:ext cx="3341646" cy="145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NQSBQM+CMBX10" panose="02000500000000000000"/>
                <a:cs typeface="NQSBQM+CMBX10" panose="02000500000000000000"/>
              </a:rPr>
              <a:t>specialization:</a:t>
            </a:r>
            <a:r>
              <a:rPr sz="2050" spc="3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Subtype</a:t>
            </a:r>
            <a:endParaRPr sz="2050" spc="12">
              <a:solidFill>
                <a:srgbClr val="000000"/>
              </a:solidFill>
              <a:latin typeface="SDACJD+CMR10" panose="02000500000000000000"/>
              <a:cs typeface="SDACJD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WDSHM+CMTI10" panose="02000500000000000000"/>
                <a:cs typeface="QWDSHM+CMTI10" panose="02000500000000000000"/>
              </a:rPr>
              <a:t>extents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disjoint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and</a:t>
            </a:r>
            <a:endParaRPr sz="2050" spc="10">
              <a:solidFill>
                <a:srgbClr val="000000"/>
              </a:solidFill>
              <a:latin typeface="SDACJD+CMR10" panose="02000500000000000000"/>
              <a:cs typeface="SDACJD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60"/>
              </a:spcBef>
              <a:spcAft>
                <a:spcPct val="0"/>
              </a:spcAft>
            </a:pPr>
            <a:r>
              <a:rPr sz="2050" spc="-19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cover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supertype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WDSHM+CMTI10" panose="02000500000000000000"/>
                <a:cs typeface="QWDSHM+CMTI10" panose="02000500000000000000"/>
              </a:rPr>
              <a:t>extent.</a:t>
            </a:r>
            <a:endParaRPr sz="2050">
              <a:solidFill>
                <a:srgbClr val="000000"/>
              </a:solidFill>
              <a:latin typeface="QWDSHM+CMTI10" panose="02000500000000000000"/>
              <a:cs typeface="QWDSHM+CMTI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1245" y="5481299"/>
            <a:ext cx="274865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8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supertype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WDSHM+CMTI10" panose="02000500000000000000"/>
                <a:cs typeface="QWDSHM+CMTI10" panose="02000500000000000000"/>
              </a:rPr>
              <a:t>extension.</a:t>
            </a:r>
            <a:endParaRPr sz="2050">
              <a:solidFill>
                <a:srgbClr val="000000"/>
              </a:solidFill>
              <a:latin typeface="QWDSHM+CMTI10" panose="02000500000000000000"/>
              <a:cs typeface="QWDSHM+CMTI10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44277" y="5982698"/>
            <a:ext cx="8838305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NB.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If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any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heating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tank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3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become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storage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tank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and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vice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versa,</a:t>
            </a:r>
            <a:endParaRPr sz="2050">
              <a:solidFill>
                <a:srgbClr val="000000"/>
              </a:solidFill>
              <a:latin typeface="SDACJD+CMR10" panose="02000500000000000000"/>
              <a:cs typeface="SDACJD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then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three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extensions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equal!</a:t>
            </a:r>
            <a:r>
              <a:rPr sz="2050" spc="3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DACJD+CMR10" panose="02000500000000000000"/>
                <a:cs typeface="SDACJD+CMR10" panose="02000500000000000000"/>
              </a:rPr>
              <a:t>Why?</a:t>
            </a:r>
            <a:endParaRPr sz="2050">
              <a:solidFill>
                <a:srgbClr val="000000"/>
              </a:solidFill>
              <a:latin typeface="SDACJD+CMR10" panose="02000500000000000000"/>
              <a:cs typeface="SDACJD+CMR10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GTLTN+CMR7" panose="02000500000000000000"/>
                <a:cs typeface="UGTLTN+CMR7" panose="02000500000000000000"/>
              </a:rPr>
              <a:t>95</a:t>
            </a:r>
            <a:endParaRPr sz="1450">
              <a:solidFill>
                <a:srgbClr val="000000"/>
              </a:solidFill>
              <a:latin typeface="UGTLTN+CMR7" panose="02000500000000000000"/>
              <a:cs typeface="UGTLTN+CMR7" panose="0200050000000000000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994201"/>
            <a:ext cx="234248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IBEIAN+CMBX12~c" panose="02000500000000000000"/>
                <a:cs typeface="IBEIAN+CMBX12~c" panose="02000500000000000000"/>
              </a:rPr>
              <a:t>Main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IBEIAN+CMBX12~c" panose="02000500000000000000"/>
                <a:cs typeface="IBEIAN+CMBX12~c" panose="02000500000000000000"/>
              </a:rPr>
              <a:t>points</a:t>
            </a:r>
            <a:endParaRPr sz="2500" spc="-12">
              <a:solidFill>
                <a:srgbClr val="000000"/>
              </a:solidFill>
              <a:latin typeface="IBEIAN+CMBX12~c" panose="02000500000000000000"/>
              <a:cs typeface="IBEIAN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495778"/>
            <a:ext cx="809332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QETPL+CMSY10~25" panose="02000500000000000000"/>
                <a:cs typeface="TQETP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1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We</a:t>
            </a:r>
            <a:r>
              <a:rPr sz="2050" spc="3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make</a:t>
            </a:r>
            <a:r>
              <a:rPr sz="20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ERD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domain,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databases.</a:t>
            </a:r>
            <a:endParaRPr sz="2050">
              <a:solidFill>
                <a:srgbClr val="000000"/>
              </a:solidFill>
              <a:latin typeface="NEHQTC+CMR10" panose="02000500000000000000"/>
              <a:cs typeface="NEHQTC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3992" y="2985932"/>
            <a:ext cx="7967688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 spc="-12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Even</a:t>
            </a:r>
            <a:r>
              <a:rPr sz="18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virtual</a:t>
            </a:r>
            <a:r>
              <a:rPr sz="18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entities</a:t>
            </a:r>
            <a:r>
              <a:rPr sz="18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are</a:t>
            </a:r>
            <a:r>
              <a:rPr sz="18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interesting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only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3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because</a:t>
            </a:r>
            <a:r>
              <a:rPr sz="18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they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are</a:t>
            </a:r>
            <a:r>
              <a:rPr sz="18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part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of</a:t>
            </a:r>
            <a:endParaRPr sz="1850" spc="11">
              <a:solidFill>
                <a:srgbClr val="000000"/>
              </a:solidFill>
              <a:latin typeface="VMGTCT+CMR9" panose="02000500000000000000"/>
              <a:cs typeface="VMGTCT+CMR9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3998" y="3327308"/>
            <a:ext cx="2461703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the</a:t>
            </a:r>
            <a:r>
              <a:rPr sz="18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22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subject</a:t>
            </a:r>
            <a:r>
              <a:rPr sz="18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domain.</a:t>
            </a:r>
            <a:endParaRPr sz="1850">
              <a:solidFill>
                <a:srgbClr val="000000"/>
              </a:solidFill>
              <a:latin typeface="VMGTCT+CMR9" panose="02000500000000000000"/>
              <a:cs typeface="VMGTCT+CMR9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80" y="3768317"/>
            <a:ext cx="860690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QETPL+CMSY10~25" panose="02000500000000000000"/>
                <a:cs typeface="TQETP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ERD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represents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identiﬁcation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classiﬁcation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entities;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and</a:t>
            </a:r>
            <a:endParaRPr sz="2050" spc="10">
              <a:solidFill>
                <a:srgbClr val="000000"/>
              </a:solidFill>
              <a:latin typeface="NEHQTC+CMR10" panose="02000500000000000000"/>
              <a:cs typeface="NEHQTC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711" y="4140175"/>
            <a:ext cx="292210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cardinality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properties.</a:t>
            </a:r>
            <a:endParaRPr sz="2050" spc="15">
              <a:solidFill>
                <a:srgbClr val="000000"/>
              </a:solidFill>
              <a:latin typeface="NEHQTC+CMR10" panose="02000500000000000000"/>
              <a:cs typeface="NEHQTC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3992" y="4631852"/>
            <a:ext cx="7578645" cy="9284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Counting</a:t>
            </a:r>
            <a:r>
              <a:rPr sz="1850" spc="2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and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classiﬁcation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are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closely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related.</a:t>
            </a:r>
            <a:r>
              <a:rPr sz="1850" spc="3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Class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(=</a:t>
            </a:r>
            <a:r>
              <a:rPr sz="18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type)</a:t>
            </a:r>
            <a:endParaRPr sz="1850">
              <a:solidFill>
                <a:srgbClr val="000000"/>
              </a:solidFill>
              <a:latin typeface="VMGTCT+CMR9" panose="02000500000000000000"/>
              <a:cs typeface="VMGTCT+CMR9" panose="02000500000000000000"/>
            </a:endParaRPr>
          </a:p>
          <a:p>
            <a:pPr marL="0" marR="0">
              <a:lnSpc>
                <a:spcPts val="1860"/>
              </a:lnSpc>
              <a:spcBef>
                <a:spcPts val="76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provides</a:t>
            </a:r>
            <a:r>
              <a:rPr sz="18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identiﬁcation</a:t>
            </a:r>
            <a:r>
              <a:rPr sz="18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MGTCT+CMR9" panose="02000500000000000000"/>
                <a:cs typeface="VMGTCT+CMR9" panose="02000500000000000000"/>
              </a:rPr>
              <a:t>criterion.</a:t>
            </a:r>
            <a:endParaRPr sz="1850">
              <a:solidFill>
                <a:srgbClr val="000000"/>
              </a:solidFill>
              <a:latin typeface="VMGTCT+CMR9" panose="02000500000000000000"/>
              <a:cs typeface="VMGTCT+CMR9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580" y="5412714"/>
            <a:ext cx="550135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QETPL+CMSY10~25" panose="02000500000000000000"/>
                <a:cs typeface="TQETP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Classiﬁcation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static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EHQTC+CMR10" panose="02000500000000000000"/>
                <a:cs typeface="NEHQTC+CMR10" panose="02000500000000000000"/>
              </a:rPr>
              <a:t>dynamic.</a:t>
            </a:r>
            <a:endParaRPr sz="2050" spc="10">
              <a:solidFill>
                <a:srgbClr val="000000"/>
              </a:solidFill>
              <a:latin typeface="NEHQTC+CMR10" panose="02000500000000000000"/>
              <a:cs typeface="NEHQTC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RJUNLA+CMR7" panose="02000500000000000000"/>
                <a:cs typeface="RJUNLA+CMR7" panose="02000500000000000000"/>
              </a:rPr>
              <a:t>96</a:t>
            </a:r>
            <a:endParaRPr sz="1450">
              <a:solidFill>
                <a:srgbClr val="000000"/>
              </a:solidFill>
              <a:latin typeface="RJUNLA+CMR7" panose="02000500000000000000"/>
              <a:cs typeface="RJUNLA+CMR7" panose="0200050000000000000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250489"/>
            <a:ext cx="198932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MVSURG+CMBX12~c" panose="02000500000000000000"/>
                <a:cs typeface="MVSURG+CMBX12~c" panose="02000500000000000000"/>
              </a:rPr>
              <a:t>Questions</a:t>
            </a:r>
            <a:endParaRPr sz="2500" spc="-11">
              <a:solidFill>
                <a:srgbClr val="000000"/>
              </a:solidFill>
              <a:latin typeface="MVSURG+CMBX12~c" panose="02000500000000000000"/>
              <a:cs typeface="MVSURG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37829" y="1999323"/>
            <a:ext cx="1714080" cy="5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GSTJH+Helvetica" panose="020B0604020202020204"/>
                <a:cs typeface="LGSTJH+Helvetica" panose="020B0604020202020204"/>
              </a:rPr>
              <a:t>Thermometer</a:t>
            </a:r>
            <a:endParaRPr sz="1800">
              <a:solidFill>
                <a:srgbClr val="000000"/>
              </a:solidFill>
              <a:latin typeface="LGSTJH+Helvetica" panose="020B0604020202020204"/>
              <a:cs typeface="LGSTJH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2628" y="2296348"/>
            <a:ext cx="469966" cy="5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GSTJH+Helvetica" panose="020B0604020202020204"/>
                <a:cs typeface="LGSTJH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LGSTJH+Helvetica" panose="020B0604020202020204"/>
              <a:cs typeface="LGSTJH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88323" y="2753296"/>
            <a:ext cx="469966" cy="5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GSTJH+Helvetica" panose="020B0604020202020204"/>
                <a:cs typeface="LGSTJH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LGSTJH+Helvetica" panose="020B0604020202020204"/>
              <a:cs typeface="LGSTJH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08545" y="2776144"/>
            <a:ext cx="1054093" cy="5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GSTJH+Helvetica" panose="020B0604020202020204"/>
                <a:cs typeface="LGSTJH+Helvetica" panose="020B0604020202020204"/>
              </a:rPr>
              <a:t>Recipe</a:t>
            </a:r>
            <a:endParaRPr sz="1800">
              <a:solidFill>
                <a:srgbClr val="000000"/>
              </a:solidFill>
              <a:latin typeface="LGSTJH+Helvetica" panose="020B0604020202020204"/>
              <a:cs typeface="LGSTJH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58727" y="2936075"/>
            <a:ext cx="927143" cy="5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GSTJH+Helvetica" panose="020B0604020202020204"/>
                <a:cs typeface="LGSTJH+Helvetica" panose="020B0604020202020204"/>
              </a:rPr>
              <a:t>Batch</a:t>
            </a:r>
            <a:endParaRPr sz="1800">
              <a:solidFill>
                <a:srgbClr val="000000"/>
              </a:solidFill>
              <a:latin typeface="LGSTJH+Helvetica" panose="020B0604020202020204"/>
              <a:cs typeface="LGSTJH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32480" y="3141698"/>
            <a:ext cx="1820706" cy="10550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384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GSTJH+Helvetica" panose="020B0604020202020204"/>
                <a:cs typeface="LGSTJH+Helvetica" panose="020B0604020202020204"/>
              </a:rPr>
              <a:t>Allocation</a:t>
            </a:r>
            <a:endParaRPr sz="1800">
              <a:solidFill>
                <a:srgbClr val="000000"/>
              </a:solidFill>
              <a:latin typeface="LGSTJH+Helvetica" panose="020B0604020202020204"/>
              <a:cs typeface="LGSTJH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159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GSTJH+Helvetica" panose="020B0604020202020204"/>
                <a:cs typeface="LGSTJH+Helvetica" panose="020B0604020202020204"/>
              </a:rPr>
              <a:t>1..2</a:t>
            </a:r>
            <a:r>
              <a:rPr sz="1800" spc="5134">
                <a:solidFill>
                  <a:srgbClr val="000000"/>
                </a:solidFill>
                <a:latin typeface="LGSTJH+Helvetica" panose="020B0604020202020204"/>
                <a:cs typeface="LGSTJH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LGSTJH+Helvetica" panose="020B0604020202020204"/>
                <a:cs typeface="LGSTJH+Helvetica" panose="020B0604020202020204"/>
              </a:rPr>
              <a:t>0..1</a:t>
            </a:r>
            <a:endParaRPr sz="1800">
              <a:solidFill>
                <a:srgbClr val="000000"/>
              </a:solidFill>
              <a:latin typeface="LGSTJH+Helvetica" panose="020B0604020202020204"/>
              <a:cs typeface="LGSTJH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29713" y="3164548"/>
            <a:ext cx="1130400" cy="895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GSTJH+Helvetica" panose="020B0604020202020204"/>
                <a:cs typeface="LGSTJH+Helvetica" panose="020B0604020202020204"/>
              </a:rPr>
              <a:t>Heating</a:t>
            </a:r>
            <a:endParaRPr sz="1800">
              <a:solidFill>
                <a:srgbClr val="000000"/>
              </a:solidFill>
              <a:latin typeface="LGSTJH+Helvetica" panose="020B0604020202020204"/>
              <a:cs typeface="LGSTJH+Helvetica" panose="020B0604020202020204"/>
            </a:endParaRPr>
          </a:p>
          <a:p>
            <a:pPr marL="1778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GSTJH+Helvetica" panose="020B0604020202020204"/>
                <a:cs typeface="LGSTJH+Helvetica" panose="020B0604020202020204"/>
              </a:rPr>
              <a:t>tank</a:t>
            </a:r>
            <a:endParaRPr sz="1800">
              <a:solidFill>
                <a:srgbClr val="000000"/>
              </a:solidFill>
              <a:latin typeface="LGSTJH+Helvetica" panose="020B0604020202020204"/>
              <a:cs typeface="LGSTJH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81610" y="3290202"/>
            <a:ext cx="914420" cy="5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GSTJH+Helvetica" panose="020B0604020202020204"/>
                <a:cs typeface="LGSTJH+Helvetica" panose="020B0604020202020204"/>
              </a:rPr>
              <a:t>name</a:t>
            </a:r>
            <a:endParaRPr sz="1800">
              <a:solidFill>
                <a:srgbClr val="000000"/>
              </a:solidFill>
              <a:latin typeface="LGSTJH+Helvetica" panose="020B0604020202020204"/>
              <a:cs typeface="LGSTJH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8146" y="3450146"/>
            <a:ext cx="1130288" cy="895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GSTJH+Helvetica" panose="020B0604020202020204"/>
                <a:cs typeface="LGSTJH+Helvetica" panose="020B0604020202020204"/>
              </a:rPr>
              <a:t>batchID</a:t>
            </a:r>
            <a:endParaRPr sz="1800">
              <a:solidFill>
                <a:srgbClr val="000000"/>
              </a:solidFill>
              <a:latin typeface="LGSTJH+Helvetica" panose="020B0604020202020204"/>
              <a:cs typeface="LGSTJH+Helvetica" panose="020B0604020202020204"/>
            </a:endParaRPr>
          </a:p>
          <a:p>
            <a:pPr marL="1143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GSTJH+Helvetica" panose="020B0604020202020204"/>
                <a:cs typeface="LGSTJH+Helvetica" panose="020B0604020202020204"/>
              </a:rPr>
              <a:t>amount</a:t>
            </a:r>
            <a:endParaRPr sz="1800">
              <a:solidFill>
                <a:srgbClr val="000000"/>
              </a:solidFill>
              <a:latin typeface="LGSTJH+Helvetica" panose="020B0604020202020204"/>
              <a:cs typeface="LGSTJH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60350" y="3587219"/>
            <a:ext cx="3282397" cy="895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GSTJH+Helvetica" panose="020B0604020202020204"/>
                <a:cs typeface="LGSTJH+Helvetica" panose="020B0604020202020204"/>
              </a:rPr>
              <a:t>*</a:t>
            </a:r>
            <a:r>
              <a:rPr sz="1800" spc="2247">
                <a:solidFill>
                  <a:srgbClr val="000000"/>
                </a:solidFill>
                <a:latin typeface="LGSTJH+Helvetica" panose="020B0604020202020204"/>
                <a:cs typeface="LGSTJH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LGSTJH+Helvetica" panose="020B0604020202020204"/>
                <a:cs typeface="LGSTJH+Helvetica" panose="020B0604020202020204"/>
              </a:rPr>
              <a:t>1</a:t>
            </a:r>
            <a:r>
              <a:rPr sz="1800" spc="1428">
                <a:solidFill>
                  <a:srgbClr val="000000"/>
                </a:solidFill>
                <a:latin typeface="LGSTJH+Helvetica" panose="020B0604020202020204"/>
                <a:cs typeface="LGSTJH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LGSTJH+Helvetica" panose="020B0604020202020204"/>
                <a:cs typeface="LGSTJH+Helvetica" panose="020B0604020202020204"/>
              </a:rPr>
              <a:t>desired temperature</a:t>
            </a:r>
            <a:endParaRPr sz="1800">
              <a:solidFill>
                <a:srgbClr val="000000"/>
              </a:solidFill>
              <a:latin typeface="LGSTJH+Helvetica" panose="020B0604020202020204"/>
              <a:cs typeface="LGSTJH+Helvetica" panose="020B0604020202020204"/>
            </a:endParaRPr>
          </a:p>
          <a:p>
            <a:pPr marL="821055" marR="0">
              <a:lnSpc>
                <a:spcPts val="2010"/>
              </a:lnSpc>
              <a:spcBef>
                <a:spcPts val="29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GSTJH+Helvetica" panose="020B0604020202020204"/>
                <a:cs typeface="LGSTJH+Helvetica" panose="020B0604020202020204"/>
              </a:rPr>
              <a:t>duration</a:t>
            </a:r>
            <a:endParaRPr sz="1800">
              <a:solidFill>
                <a:srgbClr val="000000"/>
              </a:solidFill>
              <a:latin typeface="LGSTJH+Helvetica" panose="020B0604020202020204"/>
              <a:cs typeface="LGSTJH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42628" y="3987051"/>
            <a:ext cx="469966" cy="10550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GSTJH+Helvetica" panose="020B0604020202020204"/>
                <a:cs typeface="LGSTJH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LGSTJH+Helvetica" panose="020B0604020202020204"/>
              <a:cs typeface="LGSTJH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159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GSTJH+Helvetica" panose="020B0604020202020204"/>
                <a:cs typeface="LGSTJH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LGSTJH+Helvetica" panose="020B0604020202020204"/>
              <a:cs typeface="LGSTJH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80538" y="4969498"/>
            <a:ext cx="1028657" cy="5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GSTJH+Helvetica" panose="020B0604020202020204"/>
                <a:cs typeface="LGSTJH+Helvetica" panose="020B0604020202020204"/>
              </a:rPr>
              <a:t>Heater</a:t>
            </a:r>
            <a:endParaRPr sz="1800">
              <a:solidFill>
                <a:srgbClr val="000000"/>
              </a:solidFill>
              <a:latin typeface="LGSTJH+Helvetica" panose="020B0604020202020204"/>
              <a:cs typeface="LGSTJH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4580" y="5464529"/>
            <a:ext cx="8551379" cy="14541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SNUUK+CMSY10~25" panose="02000500000000000000"/>
                <a:cs typeface="HSNUU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QVBPLR+CMR10" panose="02000500000000000000"/>
                <a:cs typeface="QVBPLR+CMR10" panose="02000500000000000000"/>
              </a:rPr>
              <a:t>Suppose</a:t>
            </a:r>
            <a:r>
              <a:rPr sz="2050" spc="1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QVBPLR+CMR10" panose="02000500000000000000"/>
                <a:cs typeface="QVBPLR+CMR10" panose="02000500000000000000"/>
              </a:rPr>
              <a:t>we</a:t>
            </a:r>
            <a:r>
              <a:rPr sz="2050" spc="2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VBPLR+CMR10" panose="02000500000000000000"/>
                <a:cs typeface="QVBPLR+CMR10" panose="02000500000000000000"/>
              </a:rPr>
              <a:t>interpret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VBPLR+CMR10" panose="02000500000000000000"/>
                <a:cs typeface="QVBPLR+CMR10" panose="02000500000000000000"/>
              </a:rPr>
              <a:t>cardinalities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VBPLR+CMR10" panose="02000500000000000000"/>
                <a:cs typeface="QVBPLR+CMR10" panose="02000500000000000000"/>
              </a:rPr>
              <a:t>historically:</a:t>
            </a:r>
            <a:r>
              <a:rPr sz="2050" spc="3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VBPLR+CMR10" panose="02000500000000000000"/>
                <a:cs typeface="QVBPLR+CMR10" panose="02000500000000000000"/>
              </a:rPr>
              <a:t>“the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VBPLR+CMR10" panose="02000500000000000000"/>
                <a:cs typeface="QVBPLR+CMR10" panose="02000500000000000000"/>
              </a:rPr>
              <a:t>number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VBPLR+CMR10" panose="02000500000000000000"/>
                <a:cs typeface="QVBPLR+CMR10" panose="02000500000000000000"/>
              </a:rPr>
              <a:t>of</a:t>
            </a:r>
            <a:endParaRPr sz="2050">
              <a:solidFill>
                <a:srgbClr val="000000"/>
              </a:solidFill>
              <a:latin typeface="QVBPLR+CMR10" panose="02000500000000000000"/>
              <a:cs typeface="QVBPLR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QVBPLR+CMR10" panose="02000500000000000000"/>
                <a:cs typeface="QVBPLR+CMR10" panose="02000500000000000000"/>
              </a:rPr>
              <a:t>instances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VBPLR+CMR10" panose="02000500000000000000"/>
                <a:cs typeface="QVBPLR+CMR10" panose="02000500000000000000"/>
              </a:rPr>
              <a:t>related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VBPLR+CMR10" panose="02000500000000000000"/>
                <a:cs typeface="QVBPLR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VBPLR+CMR10" panose="02000500000000000000"/>
                <a:cs typeface="QVBPLR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VBPLR+CMR10" panose="02000500000000000000"/>
                <a:cs typeface="QVBPLR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VBPLR+CMR10" panose="02000500000000000000"/>
                <a:cs typeface="QVBPLR+CMR10" panose="02000500000000000000"/>
              </a:rPr>
              <a:t>lifetime”.</a:t>
            </a:r>
            <a:r>
              <a:rPr sz="2050" spc="3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VBPLR+CMR10" panose="02000500000000000000"/>
                <a:cs typeface="QVBPLR+CMR10" panose="02000500000000000000"/>
              </a:rPr>
              <a:t>Change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VBPLR+CMR10" panose="02000500000000000000"/>
                <a:cs typeface="QVBPLR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VBPLR+CMR10" panose="02000500000000000000"/>
                <a:cs typeface="QVBPLR+CMR10" panose="02000500000000000000"/>
              </a:rPr>
              <a:t>cardinalities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VBPLR+CMR10" panose="02000500000000000000"/>
                <a:cs typeface="QVBPLR+CMR10" panose="02000500000000000000"/>
              </a:rPr>
              <a:t>to</a:t>
            </a:r>
            <a:endParaRPr sz="2050">
              <a:solidFill>
                <a:srgbClr val="000000"/>
              </a:solidFill>
              <a:latin typeface="QVBPLR+CMR10" panose="02000500000000000000"/>
              <a:cs typeface="QVBPLR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VBPLR+CMR10" panose="02000500000000000000"/>
                <a:cs typeface="QVBPLR+CMR10" panose="02000500000000000000"/>
              </a:rPr>
              <a:t>historical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VBPLR+CMR10" panose="02000500000000000000"/>
                <a:cs typeface="QVBPLR+CMR10" panose="02000500000000000000"/>
              </a:rPr>
              <a:t>ones.</a:t>
            </a:r>
            <a:endParaRPr sz="2050" spc="10">
              <a:solidFill>
                <a:srgbClr val="000000"/>
              </a:solidFill>
              <a:latin typeface="QVBPLR+CMR10" panose="02000500000000000000"/>
              <a:cs typeface="QVBPLR+CMR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HOGAIK+CMR7" panose="02000500000000000000"/>
                <a:cs typeface="HOGAIK+CMR7" panose="02000500000000000000"/>
              </a:rPr>
              <a:t>97</a:t>
            </a:r>
            <a:endParaRPr sz="1450">
              <a:solidFill>
                <a:srgbClr val="000000"/>
              </a:solidFill>
              <a:latin typeface="HOGAIK+CMR7" panose="02000500000000000000"/>
              <a:cs typeface="HOGAIK+CMR7" panose="0200050000000000000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107507" y="1458814"/>
            <a:ext cx="3767277" cy="1192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GOOHB+Helvetica" panose="020B0604020202020204"/>
                <a:cs typeface="PGOOHB+Helvetica" panose="020B0604020202020204"/>
              </a:rPr>
              <a:t>If w: Warehouse and g: Gadgets</a:t>
            </a:r>
            <a:endParaRPr sz="1800">
              <a:solidFill>
                <a:srgbClr val="000000"/>
              </a:solidFill>
              <a:latin typeface="PGOOHB+Helvetica" panose="020B0604020202020204"/>
              <a:cs typeface="PGOOHB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GOOHB+Helvetica" panose="020B0604020202020204"/>
                <a:cs typeface="PGOOHB+Helvetica" panose="020B0604020202020204"/>
              </a:rPr>
              <a:t>are related by Delivery,</a:t>
            </a:r>
            <a:endParaRPr sz="1800">
              <a:solidFill>
                <a:srgbClr val="000000"/>
              </a:solidFill>
              <a:latin typeface="PGOOHB+Helvetica" panose="020B0604020202020204"/>
              <a:cs typeface="PGOOHB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GOOHB+Helvetica" panose="020B0604020202020204"/>
                <a:cs typeface="PGOOHB+Helvetica" panose="020B0604020202020204"/>
              </a:rPr>
              <a:t>then w = g.Storage</a:t>
            </a:r>
            <a:endParaRPr sz="1800">
              <a:solidFill>
                <a:srgbClr val="000000"/>
              </a:solidFill>
              <a:latin typeface="PGOOHB+Helvetica" panose="020B0604020202020204"/>
              <a:cs typeface="PGOOHB+Helvetica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73486" y="2018465"/>
            <a:ext cx="1206422" cy="1466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GOOHB+Helvetica" panose="020B0604020202020204"/>
                <a:cs typeface="PGOOHB+Helvetica" panose="020B0604020202020204"/>
              </a:rPr>
              <a:t>Gadgets</a:t>
            </a:r>
            <a:endParaRPr sz="1800">
              <a:solidFill>
                <a:srgbClr val="000000"/>
              </a:solidFill>
              <a:latin typeface="PGOOHB+Helvetica" panose="020B0604020202020204"/>
              <a:cs typeface="PGOOHB+Helvetica" panose="020B0604020202020204"/>
            </a:endParaRPr>
          </a:p>
          <a:p>
            <a:pPr marL="19050" marR="0">
              <a:lnSpc>
                <a:spcPts val="2010"/>
              </a:lnSpc>
              <a:spcBef>
                <a:spcPts val="4825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GOOHB+Helvetica" panose="020B0604020202020204"/>
                <a:cs typeface="PGOOHB+Helvetica" panose="020B0604020202020204"/>
              </a:rPr>
              <a:t>Delivery</a:t>
            </a:r>
            <a:endParaRPr sz="1800">
              <a:solidFill>
                <a:srgbClr val="000000"/>
              </a:solidFill>
              <a:latin typeface="PGOOHB+Helvetica" panose="020B0604020202020204"/>
              <a:cs typeface="PGOOHB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5909" y="2383959"/>
            <a:ext cx="1924567" cy="1146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GOOHB+Helvetica" panose="020B0604020202020204"/>
                <a:cs typeface="PGOOHB+Helvetica" panose="020B0604020202020204"/>
              </a:rPr>
              <a:t>storage</a:t>
            </a:r>
            <a:endParaRPr sz="1800">
              <a:solidFill>
                <a:srgbClr val="000000"/>
              </a:solidFill>
              <a:latin typeface="PGOOHB+Helvetica" panose="020B0604020202020204"/>
              <a:cs typeface="PGOOHB+Helvetica" panose="020B0604020202020204"/>
            </a:endParaRPr>
          </a:p>
          <a:p>
            <a:pPr marL="413385" marR="0">
              <a:lnSpc>
                <a:spcPts val="2010"/>
              </a:lnSpc>
              <a:spcBef>
                <a:spcPts val="2305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GOOHB+Helvetica" panose="020B0604020202020204"/>
                <a:cs typeface="PGOOHB+Helvetica" panose="020B0604020202020204"/>
              </a:rPr>
              <a:t>Warehouse</a:t>
            </a:r>
            <a:endParaRPr sz="1800">
              <a:solidFill>
                <a:srgbClr val="000000"/>
              </a:solidFill>
              <a:latin typeface="PGOOHB+Helvetica" panose="020B0604020202020204"/>
              <a:cs typeface="PGOOHB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66066" y="2932179"/>
            <a:ext cx="1333017" cy="5980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PGOOHB+Helvetica" panose="020B0604020202020204"/>
                <a:cs typeface="PGOOHB+Helvetica" panose="020B0604020202020204"/>
              </a:rPr>
              <a:t>Customer</a:t>
            </a:r>
            <a:endParaRPr sz="1800">
              <a:solidFill>
                <a:srgbClr val="000000"/>
              </a:solidFill>
              <a:latin typeface="PGOOHB+Helvetica" panose="020B0604020202020204"/>
              <a:cs typeface="PGOOHB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23740" y="4159571"/>
            <a:ext cx="967230" cy="480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LRANSR+Helvetica" panose="020B0604020202020204"/>
                <a:cs typeface="LRANSR+Helvetica" panose="020B0604020202020204"/>
              </a:rPr>
              <a:t>Gadgets</a:t>
            </a:r>
            <a:endParaRPr sz="1450">
              <a:solidFill>
                <a:srgbClr val="000000"/>
              </a:solidFill>
              <a:latin typeface="LRANSR+Helvetica" panose="020B0604020202020204"/>
              <a:cs typeface="LRANSR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15727" y="4707945"/>
            <a:ext cx="743470" cy="480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LRANSR+Helvetica" panose="020B0604020202020204"/>
                <a:cs typeface="LRANSR+Helvetica" panose="020B0604020202020204"/>
              </a:rPr>
              <a:t>Order</a:t>
            </a:r>
            <a:endParaRPr sz="1450">
              <a:solidFill>
                <a:srgbClr val="000000"/>
              </a:solidFill>
              <a:latin typeface="LRANSR+Helvetica" panose="020B0604020202020204"/>
              <a:cs typeface="LRANSR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9636" y="4776486"/>
            <a:ext cx="1368248" cy="10059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LRANSR+Helvetica" panose="020B0604020202020204"/>
                <a:cs typeface="LRANSR+Helvetica" panose="020B0604020202020204"/>
              </a:rPr>
              <a:t>storage</a:t>
            </a:r>
            <a:endParaRPr sz="1450">
              <a:solidFill>
                <a:srgbClr val="000000"/>
              </a:solidFill>
              <a:latin typeface="LRANSR+Helvetica" panose="020B0604020202020204"/>
              <a:cs typeface="LRANSR+Helvetica" panose="020B0604020202020204"/>
            </a:endParaRPr>
          </a:p>
          <a:p>
            <a:pPr marL="157480" marR="0">
              <a:lnSpc>
                <a:spcPts val="1605"/>
              </a:lnSpc>
              <a:spcBef>
                <a:spcPts val="253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LRANSR+Helvetica" panose="020B0604020202020204"/>
                <a:cs typeface="LRANSR+Helvetica" panose="020B0604020202020204"/>
              </a:rPr>
              <a:t>Warehouse</a:t>
            </a:r>
            <a:endParaRPr sz="1450">
              <a:solidFill>
                <a:srgbClr val="000000"/>
              </a:solidFill>
              <a:latin typeface="LRANSR+Helvetica" panose="020B0604020202020204"/>
              <a:cs typeface="LRANSR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96742" y="5073527"/>
            <a:ext cx="936437" cy="480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LRANSR+Helvetica" panose="020B0604020202020204"/>
                <a:cs typeface="LRANSR+Helvetica" panose="020B0604020202020204"/>
              </a:rPr>
              <a:t>Delivery</a:t>
            </a:r>
            <a:endParaRPr sz="1450">
              <a:solidFill>
                <a:srgbClr val="000000"/>
              </a:solidFill>
              <a:latin typeface="LRANSR+Helvetica" panose="020B0604020202020204"/>
              <a:cs typeface="LRANSR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73118" y="5302012"/>
            <a:ext cx="1068533" cy="480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LRANSR+Helvetica" panose="020B0604020202020204"/>
                <a:cs typeface="LRANSR+Helvetica" panose="020B0604020202020204"/>
              </a:rPr>
              <a:t>Customer</a:t>
            </a:r>
            <a:endParaRPr sz="1450">
              <a:solidFill>
                <a:srgbClr val="000000"/>
              </a:solidFill>
              <a:latin typeface="LRANSR+Helvetica" panose="020B0604020202020204"/>
              <a:cs typeface="LRANSR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4580" y="6159473"/>
            <a:ext cx="862125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WOEUJ+CMSY10~25" panose="02000500000000000000"/>
                <a:cs typeface="RWOEU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HPJRO+CMR10" panose="02000500000000000000"/>
                <a:cs typeface="MHPJRO+CMR10" panose="02000500000000000000"/>
              </a:rPr>
              <a:t>Are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HPJRO+CMR10" panose="02000500000000000000"/>
                <a:cs typeface="MHPJRO+CMR10" panose="02000500000000000000"/>
              </a:rPr>
              <a:t>these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HPJRO+CMR10" panose="02000500000000000000"/>
                <a:cs typeface="MHPJRO+CMR10" panose="02000500000000000000"/>
              </a:rPr>
              <a:t>diagrams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HPJRO+CMR10" panose="02000500000000000000"/>
                <a:cs typeface="MHPJRO+CMR10" panose="02000500000000000000"/>
              </a:rPr>
              <a:t>equivalent?</a:t>
            </a:r>
            <a:r>
              <a:rPr sz="2050" spc="4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HPJRO+CMR10" panose="02000500000000000000"/>
                <a:cs typeface="MHPJRO+CMR10" panose="02000500000000000000"/>
              </a:rPr>
              <a:t>Beware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HPJRO+CMR10" panose="02000500000000000000"/>
                <a:cs typeface="MHPJRO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MHPJRO+CMR10" panose="02000500000000000000"/>
                <a:cs typeface="MHPJRO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HPJRO+CMR10" panose="02000500000000000000"/>
                <a:cs typeface="MHPJRO+CMR10" panose="02000500000000000000"/>
              </a:rPr>
              <a:t>connection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HPJRO+CMR10" panose="02000500000000000000"/>
                <a:cs typeface="MHPJRO+CMR10" panose="02000500000000000000"/>
              </a:rPr>
              <a:t>trap.</a:t>
            </a:r>
            <a:endParaRPr sz="2050">
              <a:solidFill>
                <a:srgbClr val="000000"/>
              </a:solidFill>
              <a:latin typeface="MHPJRO+CMR10" panose="02000500000000000000"/>
              <a:cs typeface="MHPJRO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HGGBQL+CMR7" panose="02000500000000000000"/>
                <a:cs typeface="HGGBQL+CMR7" panose="02000500000000000000"/>
              </a:rPr>
              <a:t>98</a:t>
            </a:r>
            <a:endParaRPr sz="1450">
              <a:solidFill>
                <a:srgbClr val="000000"/>
              </a:solidFill>
              <a:latin typeface="HGGBQL+CMR7" panose="02000500000000000000"/>
              <a:cs typeface="HGGBQL+CMR7" panose="0200050000000000000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84063" y="1513678"/>
            <a:ext cx="3767277" cy="1192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SMFHE+Helvetica" panose="020B0604020202020204"/>
                <a:cs typeface="SSMFHE+Helvetica" panose="020B0604020202020204"/>
              </a:rPr>
              <a:t>If w: Warehouse and g: Gadgets</a:t>
            </a:r>
            <a:endParaRPr sz="1800">
              <a:solidFill>
                <a:srgbClr val="000000"/>
              </a:solidFill>
              <a:latin typeface="SSMFHE+Helvetica" panose="020B0604020202020204"/>
              <a:cs typeface="SSMFHE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SMFHE+Helvetica" panose="020B0604020202020204"/>
                <a:cs typeface="SSMFHE+Helvetica" panose="020B0604020202020204"/>
              </a:rPr>
              <a:t>are related by Delivery,</a:t>
            </a:r>
            <a:endParaRPr sz="1800">
              <a:solidFill>
                <a:srgbClr val="000000"/>
              </a:solidFill>
              <a:latin typeface="SSMFHE+Helvetica" panose="020B0604020202020204"/>
              <a:cs typeface="SSMFHE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SMFHE+Helvetica" panose="020B0604020202020204"/>
                <a:cs typeface="SSMFHE+Helvetica" panose="020B0604020202020204"/>
              </a:rPr>
              <a:t>then w = g.Storage</a:t>
            </a:r>
            <a:endParaRPr sz="1800">
              <a:solidFill>
                <a:srgbClr val="000000"/>
              </a:solidFill>
              <a:latin typeface="SSMFHE+Helvetica" panose="020B0604020202020204"/>
              <a:cs typeface="SSMFHE+Helvetica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50030" y="2073329"/>
            <a:ext cx="1206422" cy="1466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SMFHE+Helvetica" panose="020B0604020202020204"/>
                <a:cs typeface="SSMFHE+Helvetica" panose="020B0604020202020204"/>
              </a:rPr>
              <a:t>Gadgets</a:t>
            </a:r>
            <a:endParaRPr sz="1800">
              <a:solidFill>
                <a:srgbClr val="000000"/>
              </a:solidFill>
              <a:latin typeface="SSMFHE+Helvetica" panose="020B0604020202020204"/>
              <a:cs typeface="SSMFHE+Helvetica" panose="020B0604020202020204"/>
            </a:endParaRPr>
          </a:p>
          <a:p>
            <a:pPr marL="19050" marR="0">
              <a:lnSpc>
                <a:spcPts val="2010"/>
              </a:lnSpc>
              <a:spcBef>
                <a:spcPts val="4825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SMFHE+Helvetica" panose="020B0604020202020204"/>
                <a:cs typeface="SSMFHE+Helvetica" panose="020B0604020202020204"/>
              </a:rPr>
              <a:t>Delivery</a:t>
            </a:r>
            <a:endParaRPr sz="1800">
              <a:solidFill>
                <a:srgbClr val="000000"/>
              </a:solidFill>
              <a:latin typeface="SSMFHE+Helvetica" panose="020B0604020202020204"/>
              <a:cs typeface="SSMFHE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2465" y="2438823"/>
            <a:ext cx="1924567" cy="1146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SMFHE+Helvetica" panose="020B0604020202020204"/>
                <a:cs typeface="SSMFHE+Helvetica" panose="020B0604020202020204"/>
              </a:rPr>
              <a:t>storage</a:t>
            </a:r>
            <a:endParaRPr sz="1800">
              <a:solidFill>
                <a:srgbClr val="000000"/>
              </a:solidFill>
              <a:latin typeface="SSMFHE+Helvetica" panose="020B0604020202020204"/>
              <a:cs typeface="SSMFHE+Helvetica" panose="020B0604020202020204"/>
            </a:endParaRPr>
          </a:p>
          <a:p>
            <a:pPr marL="413385" marR="0">
              <a:lnSpc>
                <a:spcPts val="2010"/>
              </a:lnSpc>
              <a:spcBef>
                <a:spcPts val="2305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SMFHE+Helvetica" panose="020B0604020202020204"/>
                <a:cs typeface="SSMFHE+Helvetica" panose="020B0604020202020204"/>
              </a:rPr>
              <a:t>Warehouse</a:t>
            </a:r>
            <a:endParaRPr sz="1800">
              <a:solidFill>
                <a:srgbClr val="000000"/>
              </a:solidFill>
              <a:latin typeface="SSMFHE+Helvetica" panose="020B0604020202020204"/>
              <a:cs typeface="SSMFHE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2622" y="2987043"/>
            <a:ext cx="1333017" cy="5980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SMFHE+Helvetica" panose="020B0604020202020204"/>
                <a:cs typeface="SSMFHE+Helvetica" panose="020B0604020202020204"/>
              </a:rPr>
              <a:t>Customer</a:t>
            </a:r>
            <a:endParaRPr sz="1800">
              <a:solidFill>
                <a:srgbClr val="000000"/>
              </a:solidFill>
              <a:latin typeface="SSMFHE+Helvetica" panose="020B0604020202020204"/>
              <a:cs typeface="SSMFHE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53358" y="4126121"/>
            <a:ext cx="1206518" cy="598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SMFHE+Helvetica" panose="020B0604020202020204"/>
                <a:cs typeface="SSMFHE+Helvetica" panose="020B0604020202020204"/>
              </a:rPr>
              <a:t>Gadgets</a:t>
            </a:r>
            <a:endParaRPr sz="1800">
              <a:solidFill>
                <a:srgbClr val="000000"/>
              </a:solidFill>
              <a:latin typeface="SSMFHE+Helvetica" panose="020B0604020202020204"/>
              <a:cs typeface="SSMFHE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36024" y="4126116"/>
            <a:ext cx="2184045" cy="598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SMFHE+Helvetica" panose="020B0604020202020204"/>
                <a:cs typeface="SSMFHE+Helvetica" panose="020B0604020202020204"/>
              </a:rPr>
              <a:t>If d: Delivery, then</a:t>
            </a:r>
            <a:endParaRPr sz="1800">
              <a:solidFill>
                <a:srgbClr val="000000"/>
              </a:solidFill>
              <a:latin typeface="SSMFHE+Helvetica" panose="020B0604020202020204"/>
              <a:cs typeface="SSMFHE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36024" y="4423106"/>
            <a:ext cx="4271900" cy="598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SMFHE+Helvetica" panose="020B0604020202020204"/>
                <a:cs typeface="SSMFHE+Helvetica" panose="020B0604020202020204"/>
              </a:rPr>
              <a:t>d . gadgets . storage = d. warehouse</a:t>
            </a:r>
            <a:endParaRPr sz="1800">
              <a:solidFill>
                <a:srgbClr val="000000"/>
              </a:solidFill>
              <a:latin typeface="SSMFHE+Helvetica" panose="020B0604020202020204"/>
              <a:cs typeface="SSMFHE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41469" y="4537335"/>
            <a:ext cx="469955" cy="598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SMFHE+Helvetica" panose="020B0604020202020204"/>
                <a:cs typeface="SSMFHE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SSMFHE+Helvetica" panose="020B0604020202020204"/>
              <a:cs typeface="SSMFHE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65338" y="4674406"/>
            <a:ext cx="1719135" cy="1192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SMFHE+Helvetica" panose="020B0604020202020204"/>
                <a:cs typeface="SSMFHE+Helvetica" panose="020B0604020202020204"/>
              </a:rPr>
              <a:t>storage</a:t>
            </a:r>
            <a:endParaRPr sz="1800">
              <a:solidFill>
                <a:srgbClr val="000000"/>
              </a:solidFill>
              <a:latin typeface="SSMFHE+Helvetica" panose="020B0604020202020204"/>
              <a:cs typeface="SSMFHE+Helvetica" panose="020B0604020202020204"/>
            </a:endParaRPr>
          </a:p>
          <a:p>
            <a:pPr marL="208280" marR="0">
              <a:lnSpc>
                <a:spcPts val="2010"/>
              </a:lnSpc>
              <a:spcBef>
                <a:spcPts val="2665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SMFHE+Helvetica" panose="020B0604020202020204"/>
                <a:cs typeface="SSMFHE+Helvetica" panose="020B0604020202020204"/>
              </a:rPr>
              <a:t>Warehouse</a:t>
            </a:r>
            <a:endParaRPr sz="1800">
              <a:solidFill>
                <a:srgbClr val="000000"/>
              </a:solidFill>
              <a:latin typeface="SSMFHE+Helvetica" panose="020B0604020202020204"/>
              <a:cs typeface="SSMFHE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72662" y="5268385"/>
            <a:ext cx="1168033" cy="598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SMFHE+Helvetica" panose="020B0604020202020204"/>
                <a:cs typeface="SSMFHE+Helvetica" panose="020B0604020202020204"/>
              </a:rPr>
              <a:t>Delivery</a:t>
            </a:r>
            <a:endParaRPr sz="1800">
              <a:solidFill>
                <a:srgbClr val="000000"/>
              </a:solidFill>
              <a:latin typeface="SSMFHE+Helvetica" panose="020B0604020202020204"/>
              <a:cs typeface="SSMFHE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63896" y="5268385"/>
            <a:ext cx="1701067" cy="758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83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SMFHE+Helvetica" panose="020B0604020202020204"/>
                <a:cs typeface="SSMFHE+Helvetica" panose="020B0604020202020204"/>
              </a:rPr>
              <a:t>Customer</a:t>
            </a:r>
            <a:endParaRPr sz="1800">
              <a:solidFill>
                <a:srgbClr val="000000"/>
              </a:solidFill>
              <a:latin typeface="SSMFHE+Helvetica" panose="020B0604020202020204"/>
              <a:cs typeface="SSMFHE+Helvetica" panose="020B0604020202020204"/>
            </a:endParaRPr>
          </a:p>
          <a:p>
            <a:pPr marL="0" marR="0">
              <a:lnSpc>
                <a:spcPts val="126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SMFHE+Helvetica" panose="020B0604020202020204"/>
                <a:cs typeface="SSMFHE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SSMFHE+Helvetica" panose="020B0604020202020204"/>
              <a:cs typeface="SSMFHE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93580" y="5382622"/>
            <a:ext cx="469955" cy="598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SMFHE+Helvetica" panose="020B0604020202020204"/>
                <a:cs typeface="SSMFHE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SSMFHE+Helvetica" panose="020B0604020202020204"/>
              <a:cs typeface="SSMFHE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4580" y="6104610"/>
            <a:ext cx="4420561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MDAHL+CMSY10~25" panose="02000500000000000000"/>
                <a:cs typeface="AMDAH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UFQGJ+CMR10" panose="02000500000000000000"/>
                <a:cs typeface="VUFQGJ+CMR10" panose="02000500000000000000"/>
              </a:rPr>
              <a:t>Are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UFQGJ+CMR10" panose="02000500000000000000"/>
                <a:cs typeface="VUFQGJ+CMR10" panose="02000500000000000000"/>
              </a:rPr>
              <a:t>these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UFQGJ+CMR10" panose="02000500000000000000"/>
                <a:cs typeface="VUFQGJ+CMR10" panose="02000500000000000000"/>
              </a:rPr>
              <a:t>diagrams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UFQGJ+CMR10" panose="02000500000000000000"/>
                <a:cs typeface="VUFQGJ+CMR10" panose="02000500000000000000"/>
              </a:rPr>
              <a:t>equivalent?</a:t>
            </a:r>
            <a:endParaRPr sz="2050">
              <a:solidFill>
                <a:srgbClr val="000000"/>
              </a:solidFill>
              <a:latin typeface="VUFQGJ+CMR10" panose="02000500000000000000"/>
              <a:cs typeface="VUFQGJ+CMR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ROLOVK+CMR7" panose="02000500000000000000"/>
                <a:cs typeface="ROLOVK+CMR7" panose="02000500000000000000"/>
              </a:rPr>
              <a:t>99</a:t>
            </a:r>
            <a:endParaRPr sz="1450">
              <a:solidFill>
                <a:srgbClr val="000000"/>
              </a:solidFill>
              <a:latin typeface="ROLOVK+CMR7" panose="02000500000000000000"/>
              <a:cs typeface="ROLOVK+CMR7" panose="02000500000000000000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080005" y="1959149"/>
            <a:ext cx="678271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NRMFSE+CMBX12~c" panose="02000500000000000000"/>
                <a:cs typeface="NRMFSE+CMBX12~c" panose="02000500000000000000"/>
              </a:rPr>
              <a:t>Chapter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NRMFSE+CMBX12~c" panose="02000500000000000000"/>
                <a:cs typeface="NRMFSE+CMBX12~c" panose="02000500000000000000"/>
              </a:rPr>
              <a:t>9.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6">
                <a:solidFill>
                  <a:srgbClr val="000000"/>
                </a:solidFill>
                <a:latin typeface="NRMFSE+CMBX12~c" panose="02000500000000000000"/>
                <a:cs typeface="NRMFSE+CMBX12~c" panose="02000500000000000000"/>
              </a:rPr>
              <a:t>ERD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NRMFSE+CMBX12~c" panose="02000500000000000000"/>
                <a:cs typeface="NRMFSE+CMBX12~c" panose="02000500000000000000"/>
              </a:rPr>
              <a:t>Modeling</a:t>
            </a:r>
            <a:r>
              <a:rPr sz="250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NRMFSE+CMBX12~c" panose="02000500000000000000"/>
                <a:cs typeface="NRMFSE+CMBX12~c" panose="02000500000000000000"/>
              </a:rPr>
              <a:t>Guidelines</a:t>
            </a:r>
            <a:endParaRPr sz="2500" spc="-10">
              <a:solidFill>
                <a:srgbClr val="000000"/>
              </a:solidFill>
              <a:latin typeface="NRMFSE+CMBX12~c" panose="02000500000000000000"/>
              <a:cs typeface="NRMFSE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459201"/>
            <a:ext cx="847316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TGERU+CMSY10~25" panose="02000500000000000000"/>
                <a:cs typeface="CTGER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ERDs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used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declare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any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set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entity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types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and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their</a:t>
            </a:r>
            <a:endParaRPr sz="2050" spc="10">
              <a:solidFill>
                <a:srgbClr val="000000"/>
              </a:solidFill>
              <a:latin typeface="AKDOKW+CMR10" panose="02000500000000000000"/>
              <a:cs typeface="AKDOKW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14" y="2831057"/>
            <a:ext cx="292210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cardinality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properties.</a:t>
            </a:r>
            <a:endParaRPr sz="2050" spc="15">
              <a:solidFill>
                <a:srgbClr val="000000"/>
              </a:solidFill>
              <a:latin typeface="AKDOKW+CMR10" panose="02000500000000000000"/>
              <a:cs typeface="AKDOKW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87" y="3349219"/>
            <a:ext cx="841962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TGERU+CMSY10~25" panose="02000500000000000000"/>
                <a:cs typeface="CTGER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In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course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we</a:t>
            </a:r>
            <a:r>
              <a:rPr sz="2050" spc="2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use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ERDs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only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represent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structure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of</a:t>
            </a:r>
            <a:endParaRPr sz="2050">
              <a:solidFill>
                <a:srgbClr val="000000"/>
              </a:solidFill>
              <a:latin typeface="AKDOKW+CMR10" panose="02000500000000000000"/>
              <a:cs typeface="AKDOKW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715" y="3721077"/>
            <a:ext cx="267110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domain.</a:t>
            </a:r>
            <a:endParaRPr sz="2050">
              <a:solidFill>
                <a:srgbClr val="000000"/>
              </a:solidFill>
              <a:latin typeface="AKDOKW+CMR10" panose="02000500000000000000"/>
              <a:cs typeface="AKDOKW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88" y="4239239"/>
            <a:ext cx="831576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TGERU+CMSY10~25" panose="02000500000000000000"/>
                <a:cs typeface="CTGER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Guidelines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determine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boundary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domain</a:t>
            </a:r>
            <a:endParaRPr sz="2050">
              <a:solidFill>
                <a:srgbClr val="000000"/>
              </a:solidFill>
              <a:latin typeface="AKDOKW+CMR10" panose="02000500000000000000"/>
              <a:cs typeface="AKDOKW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708" y="4611097"/>
            <a:ext cx="607714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relevant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for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kind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use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ERDs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6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only.</a:t>
            </a:r>
            <a:endParaRPr sz="2050" spc="-26">
              <a:solidFill>
                <a:srgbClr val="000000"/>
              </a:solidFill>
              <a:latin typeface="AKDOKW+CMR10" panose="02000500000000000000"/>
              <a:cs typeface="AKDOKW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568" y="5129258"/>
            <a:ext cx="8034299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TGERU+CMSY10~25" panose="02000500000000000000"/>
                <a:cs typeface="CTGER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All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other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guidelines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relevant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for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possible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uses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of</a:t>
            </a:r>
            <a:endParaRPr sz="2050">
              <a:solidFill>
                <a:srgbClr val="000000"/>
              </a:solidFill>
              <a:latin typeface="AKDOKW+CMR10" panose="02000500000000000000"/>
              <a:cs typeface="AKDOKW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6687" y="5501114"/>
            <a:ext cx="113919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AKDOKW+CMR10" panose="02000500000000000000"/>
                <a:cs typeface="AKDOKW+CMR10" panose="02000500000000000000"/>
              </a:rPr>
              <a:t>ERDs.</a:t>
            </a:r>
            <a:endParaRPr sz="2050" spc="12">
              <a:solidFill>
                <a:srgbClr val="000000"/>
              </a:solidFill>
              <a:latin typeface="AKDOKW+CMR10" panose="02000500000000000000"/>
              <a:cs typeface="AKDOKW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TFPGUN+CMR7" panose="02000500000000000000"/>
                <a:cs typeface="TFPGUN+CMR7" panose="02000500000000000000"/>
              </a:rPr>
              <a:t>100</a:t>
            </a:r>
            <a:endParaRPr sz="1450">
              <a:solidFill>
                <a:srgbClr val="000000"/>
              </a:solidFill>
              <a:latin typeface="TFPGUN+CMR7" panose="02000500000000000000"/>
              <a:cs typeface="TFPGUN+CMR7" panose="02000500000000000000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462439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IBOVDW+CMBX12~c" panose="02000500000000000000"/>
                <a:cs typeface="IBOVDW+CMBX12~c" panose="02000500000000000000"/>
              </a:rPr>
              <a:t>Sub</a:t>
            </a:r>
            <a:r>
              <a:rPr sz="2500" spc="-4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IBOVDW+CMBX12~c" panose="02000500000000000000"/>
                <a:cs typeface="IBOVDW+CMBX12~c" panose="02000500000000000000"/>
              </a:rPr>
              <a:t>ject</a:t>
            </a:r>
            <a:r>
              <a:rPr sz="2500" spc="3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IBOVDW+CMBX12~c" panose="02000500000000000000"/>
                <a:cs typeface="IBOVDW+CMBX12~c" panose="02000500000000000000"/>
              </a:rPr>
              <a:t>domain</a:t>
            </a:r>
            <a:r>
              <a:rPr sz="250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IBOVDW+CMBX12~c" panose="02000500000000000000"/>
                <a:cs typeface="IBOVDW+CMBX12~c" panose="02000500000000000000"/>
              </a:rPr>
              <a:t>boundary</a:t>
            </a:r>
            <a:endParaRPr sz="2500">
              <a:solidFill>
                <a:srgbClr val="000000"/>
              </a:solidFill>
              <a:latin typeface="IBOVDW+CMBX12~c" panose="02000500000000000000"/>
              <a:cs typeface="IBOVDW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5" y="1418310"/>
            <a:ext cx="8327031" cy="10700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domain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consists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entities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events.</a:t>
            </a:r>
            <a:r>
              <a:rPr sz="2050" spc="4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To</a:t>
            </a:r>
            <a:r>
              <a:rPr sz="2050" spc="3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ﬁnd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AVAWWV+CMR10" panose="02000500000000000000"/>
              <a:cs typeface="AVAWWV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365"/>
              </a:spcBef>
              <a:spcAft>
                <a:spcPct val="0"/>
              </a:spcAft>
            </a:pPr>
            <a:r>
              <a:rPr sz="2050" spc="17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boundary:</a:t>
            </a:r>
            <a:endParaRPr sz="2050" spc="17">
              <a:solidFill>
                <a:srgbClr val="000000"/>
              </a:solidFill>
              <a:latin typeface="AVAWWV+CMR10" panose="02000500000000000000"/>
              <a:cs typeface="AVAWWV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6186" y="2116918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UMCAN+CMSY10~25" panose="02000500000000000000"/>
                <a:cs typeface="OUMCAN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OUMCAN+CMSY10~25" panose="02000500000000000000"/>
              <a:cs typeface="OUMCAN+CMSY10~25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06" y="2251938"/>
            <a:ext cx="819997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Roughly:</a:t>
            </a:r>
            <a:r>
              <a:rPr sz="2050" spc="3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What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entities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events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do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service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descriptions</a:t>
            </a:r>
            <a:endParaRPr sz="2050">
              <a:solidFill>
                <a:srgbClr val="000000"/>
              </a:solidFill>
              <a:latin typeface="AVAWWV+CMR10" panose="02000500000000000000"/>
              <a:cs typeface="AVAWWV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695" y="2613126"/>
            <a:ext cx="135359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refer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to?</a:t>
            </a:r>
            <a:endParaRPr sz="2050">
              <a:solidFill>
                <a:srgbClr val="000000"/>
              </a:solidFill>
              <a:latin typeface="AVAWWV+CMR10" panose="02000500000000000000"/>
              <a:cs typeface="AVAWWV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6174" y="2885015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UMCAN+CMSY10~25" panose="02000500000000000000"/>
                <a:cs typeface="OUMCAN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OUMCAN+CMSY10~25" panose="02000500000000000000"/>
              <a:cs typeface="OUMCAN+CMSY10~25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695" y="3020035"/>
            <a:ext cx="795210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More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precisely:</a:t>
            </a:r>
            <a:r>
              <a:rPr sz="2050" spc="3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What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messages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entering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leaving</a:t>
            </a:r>
            <a:endParaRPr sz="2050">
              <a:solidFill>
                <a:srgbClr val="000000"/>
              </a:solidFill>
              <a:latin typeface="AVAWWV+CMR10" panose="02000500000000000000"/>
              <a:cs typeface="AVAWWV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696" y="3381223"/>
            <a:ext cx="244806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system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">
                <a:solidFill>
                  <a:srgbClr val="000000"/>
                </a:solidFill>
                <a:latin typeface="MBKEAC+CMTI10" panose="02000500000000000000"/>
                <a:cs typeface="MBKEAC+CMTI10" panose="02000500000000000000"/>
              </a:rPr>
              <a:t>about?</a:t>
            </a:r>
            <a:endParaRPr sz="2050" spc="-16">
              <a:solidFill>
                <a:srgbClr val="000000"/>
              </a:solidFill>
              <a:latin typeface="MBKEAC+CMTI10" panose="02000500000000000000"/>
              <a:cs typeface="MBKEAC+CMTI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66179" y="3651587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UMCAN+CMSY10~25" panose="02000500000000000000"/>
                <a:cs typeface="OUMCAN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OUMCAN+CMSY10~25" panose="02000500000000000000"/>
              <a:cs typeface="OUMCAN+CMSY10~25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6700" y="3786607"/>
            <a:ext cx="136410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29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Look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for</a:t>
            </a:r>
            <a:endParaRPr sz="2050">
              <a:solidFill>
                <a:srgbClr val="000000"/>
              </a:solidFill>
              <a:latin typeface="AVAWWV+CMR10" panose="02000500000000000000"/>
              <a:cs typeface="AVAWWV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6696" y="4204183"/>
            <a:ext cx="3601891" cy="2245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—</a:t>
            </a:r>
            <a:r>
              <a:rPr sz="2050" spc="5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Physical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4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bodies</a:t>
            </a:r>
            <a:endParaRPr sz="2050" spc="34">
              <a:solidFill>
                <a:srgbClr val="000000"/>
              </a:solidFill>
              <a:latin typeface="AVAWWV+CMR10" panose="02000500000000000000"/>
              <a:cs typeface="AVAWWV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5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—</a:t>
            </a:r>
            <a:r>
              <a:rPr sz="2050" spc="5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Devices</a:t>
            </a:r>
            <a:endParaRPr sz="2050" spc="13">
              <a:solidFill>
                <a:srgbClr val="000000"/>
              </a:solidFill>
              <a:latin typeface="AVAWWV+CMR10" panose="02000500000000000000"/>
              <a:cs typeface="AVAWWV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5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—</a:t>
            </a:r>
            <a:r>
              <a:rPr sz="2050" spc="5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(Parts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57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of)</a:t>
            </a:r>
            <a:r>
              <a:rPr sz="2050" spc="1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organizations</a:t>
            </a:r>
            <a:endParaRPr sz="2050">
              <a:solidFill>
                <a:srgbClr val="000000"/>
              </a:solidFill>
              <a:latin typeface="AVAWWV+CMR10" panose="02000500000000000000"/>
              <a:cs typeface="AVAWWV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5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—</a:t>
            </a:r>
            <a:r>
              <a:rPr sz="2050" spc="5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Conceptual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entities</a:t>
            </a:r>
            <a:endParaRPr sz="2050">
              <a:solidFill>
                <a:srgbClr val="000000"/>
              </a:solidFill>
              <a:latin typeface="AVAWWV+CMR10" panose="02000500000000000000"/>
              <a:cs typeface="AVAWWV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5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—</a:t>
            </a:r>
            <a:r>
              <a:rPr sz="2050" spc="5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Lexical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items</a:t>
            </a:r>
            <a:endParaRPr sz="2050">
              <a:solidFill>
                <a:srgbClr val="000000"/>
              </a:solidFill>
              <a:latin typeface="AVAWWV+CMR10" panose="02000500000000000000"/>
              <a:cs typeface="AVAWWV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6693" y="6156432"/>
            <a:ext cx="305315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events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their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life.</a:t>
            </a:r>
            <a:endParaRPr sz="2050">
              <a:solidFill>
                <a:srgbClr val="000000"/>
              </a:solidFill>
              <a:latin typeface="AVAWWV+CMR10" panose="02000500000000000000"/>
              <a:cs typeface="AVAWWV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66171" y="6426798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UMCAN+CMSY10~25" panose="02000500000000000000"/>
                <a:cs typeface="OUMCAN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OUMCAN+CMSY10~25" panose="02000500000000000000"/>
              <a:cs typeface="OUMCAN+CMSY10~25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16692" y="6561818"/>
            <a:ext cx="712618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Entities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events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should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identiﬁable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AVAWWV+CMR10" panose="02000500000000000000"/>
                <a:cs typeface="AVAWWV+CMR10" panose="02000500000000000000"/>
              </a:rPr>
              <a:t>SuD.</a:t>
            </a:r>
            <a:endParaRPr sz="2050" spc="15">
              <a:solidFill>
                <a:srgbClr val="000000"/>
              </a:solidFill>
              <a:latin typeface="AVAWWV+CMR10" panose="02000500000000000000"/>
              <a:cs typeface="AVAWWV+CMR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IPFEEG+CMR7" panose="02000500000000000000"/>
                <a:cs typeface="IPFEEG+CMR7" panose="02000500000000000000"/>
              </a:rPr>
              <a:t>101</a:t>
            </a:r>
            <a:endParaRPr sz="1450">
              <a:solidFill>
                <a:srgbClr val="000000"/>
              </a:solidFill>
              <a:latin typeface="IPFEEG+CMR7" panose="02000500000000000000"/>
              <a:cs typeface="IPFEEG+CMR7" panose="0200050000000000000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689401"/>
            <a:ext cx="3643687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5">
                <a:solidFill>
                  <a:srgbClr val="000000"/>
                </a:solidFill>
                <a:latin typeface="FPRDMK+CMBX12~c" panose="02000500000000000000"/>
                <a:cs typeface="FPRDMK+CMBX12~c" panose="02000500000000000000"/>
              </a:rPr>
              <a:t>Unobservable</a:t>
            </a:r>
            <a:r>
              <a:rPr sz="2500" spc="3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40">
                <a:solidFill>
                  <a:srgbClr val="000000"/>
                </a:solidFill>
                <a:latin typeface="FPRDMK+CMBX12~c" panose="02000500000000000000"/>
                <a:cs typeface="FPRDMK+CMBX12~c" panose="02000500000000000000"/>
              </a:rPr>
              <a:t>events</a:t>
            </a:r>
            <a:endParaRPr sz="2500" spc="-40">
              <a:solidFill>
                <a:srgbClr val="000000"/>
              </a:solidFill>
              <a:latin typeface="FPRDMK+CMBX12~c" panose="02000500000000000000"/>
              <a:cs typeface="FPRDMK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0353" y="2681663"/>
            <a:ext cx="3154441" cy="895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VIKBCP+Helvetica" panose="020B0604020202020204"/>
                <a:cs typeface="VIKBCP+Helvetica" panose="020B0604020202020204"/>
              </a:rPr>
              <a:t>decide to take the elevator,</a:t>
            </a:r>
            <a:endParaRPr sz="1800">
              <a:solidFill>
                <a:srgbClr val="000000"/>
              </a:solidFill>
              <a:latin typeface="VIKBCP+Helvetica" panose="020B0604020202020204"/>
              <a:cs typeface="VIKBCP+Helvetica" panose="020B0604020202020204"/>
            </a:endParaRPr>
          </a:p>
          <a:p>
            <a:pPr marL="1651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VIKBCP+Helvetica" panose="020B0604020202020204"/>
                <a:cs typeface="VIKBCP+Helvetica" panose="020B0604020202020204"/>
              </a:rPr>
              <a:t>decide to take the stairs</a:t>
            </a:r>
            <a:endParaRPr sz="1800">
              <a:solidFill>
                <a:srgbClr val="000000"/>
              </a:solidFill>
              <a:latin typeface="VIKBCP+Helvetica" panose="020B0604020202020204"/>
              <a:cs typeface="VIKBCP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41683" y="3618313"/>
            <a:ext cx="838289" cy="598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VIKBCP+Helvetica" panose="020B0604020202020204"/>
                <a:cs typeface="VIKBCP+Helvetica" panose="020B0604020202020204"/>
              </a:rPr>
              <a:t>push</a:t>
            </a:r>
            <a:endParaRPr sz="1800">
              <a:solidFill>
                <a:srgbClr val="000000"/>
              </a:solidFill>
              <a:latin typeface="VIKBCP+Helvetica" panose="020B0604020202020204"/>
              <a:cs typeface="VIKBCP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18870" y="3618313"/>
            <a:ext cx="876216" cy="598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VIKBCP+Helvetica" panose="020B0604020202020204"/>
                <a:cs typeface="VIKBCP+Helvetica" panose="020B0604020202020204"/>
              </a:rPr>
              <a:t>close</a:t>
            </a:r>
            <a:endParaRPr sz="1800">
              <a:solidFill>
                <a:srgbClr val="000000"/>
              </a:solidFill>
              <a:latin typeface="VIKBCP+Helvetica" panose="020B0604020202020204"/>
              <a:cs typeface="VIKBCP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26585" y="3709689"/>
            <a:ext cx="1282478" cy="8951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8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VIKBCP+Helvetica" panose="020B0604020202020204"/>
                <a:cs typeface="VIKBCP+Helvetica" panose="020B0604020202020204"/>
              </a:rPr>
              <a:t>Elevator</a:t>
            </a:r>
            <a:endParaRPr sz="1800">
              <a:solidFill>
                <a:srgbClr val="000000"/>
              </a:solidFill>
              <a:latin typeface="VIKBCP+Helvetica" panose="020B0604020202020204"/>
              <a:cs typeface="VIKBCP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VIKBCP+Helvetica" panose="020B0604020202020204"/>
                <a:cs typeface="VIKBCP+Helvetica" panose="020B0604020202020204"/>
              </a:rPr>
              <a:t>controller</a:t>
            </a:r>
            <a:endParaRPr sz="1800">
              <a:solidFill>
                <a:srgbClr val="000000"/>
              </a:solidFill>
              <a:latin typeface="VIKBCP+Helvetica" panose="020B0604020202020204"/>
              <a:cs typeface="VIKBCP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95746" y="3846761"/>
            <a:ext cx="1003392" cy="598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VIKBCP+Helvetica" panose="020B0604020202020204"/>
                <a:cs typeface="VIKBCP+Helvetica" panose="020B0604020202020204"/>
              </a:rPr>
              <a:t>Button</a:t>
            </a:r>
            <a:endParaRPr sz="1800">
              <a:solidFill>
                <a:srgbClr val="000000"/>
              </a:solidFill>
              <a:latin typeface="VIKBCP+Helvetica" panose="020B0604020202020204"/>
              <a:cs typeface="VIKBCP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4268" y="5060670"/>
            <a:ext cx="8856633" cy="1452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HAVVQS+CMR10" panose="02000500000000000000"/>
                <a:cs typeface="HAVVQS+CMR10" panose="02000500000000000000"/>
              </a:rPr>
              <a:t>Connection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AVVQS+CMR10" panose="02000500000000000000"/>
                <a:cs typeface="HAVVQS+CMR10" panose="02000500000000000000"/>
              </a:rPr>
              <a:t>between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HAVVQS+CMR10" panose="02000500000000000000"/>
                <a:cs typeface="HAVVQS+CMR10" panose="02000500000000000000"/>
              </a:rPr>
              <a:t>events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AVVQS+CMR10" panose="02000500000000000000"/>
                <a:cs typeface="HAVVQS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AVVQS+CMR10" panose="02000500000000000000"/>
                <a:cs typeface="HAVVQS+CMR10" panose="02000500000000000000"/>
              </a:rPr>
              <a:t>interest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AVVQS+CMR10" panose="02000500000000000000"/>
                <a:cs typeface="HAVVQS+CMR10" panose="02000500000000000000"/>
              </a:rPr>
              <a:t>(decisions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HAVVQS+CMR10" panose="02000500000000000000"/>
                <a:cs typeface="HAVVQS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AVVQS+CMR10" panose="02000500000000000000"/>
                <a:cs typeface="HAVVQS+CMR10" panose="02000500000000000000"/>
              </a:rPr>
              <a:t>passenger)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AVVQS+CMR10" panose="02000500000000000000"/>
                <a:cs typeface="HAVVQS+CMR10" panose="02000500000000000000"/>
              </a:rPr>
              <a:t>and</a:t>
            </a:r>
            <a:endParaRPr sz="2050" spc="10">
              <a:solidFill>
                <a:srgbClr val="000000"/>
              </a:solidFill>
              <a:latin typeface="HAVVQS+CMR10" panose="02000500000000000000"/>
              <a:cs typeface="HAVVQS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AVVQS+CMR10" panose="02000500000000000000"/>
                <a:cs typeface="HAVVQS+CMR10" panose="02000500000000000000"/>
              </a:rPr>
              <a:t>stimuli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AVVQS+CMR10" panose="02000500000000000000"/>
                <a:cs typeface="HAVVQS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AVVQS+CMR10" panose="02000500000000000000"/>
                <a:cs typeface="HAVVQS+CMR10" panose="02000500000000000000"/>
              </a:rPr>
              <a:t>controller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AVVQS+CMR10" panose="02000500000000000000"/>
                <a:cs typeface="HAVVQS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7">
                <a:solidFill>
                  <a:srgbClr val="000000"/>
                </a:solidFill>
                <a:latin typeface="HAVVQS+CMR10" panose="02000500000000000000"/>
                <a:cs typeface="HAVVQS+CMR10" panose="02000500000000000000"/>
              </a:rPr>
              <a:t>too</a:t>
            </a:r>
            <a:r>
              <a:rPr sz="2050" spc="1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HAVVQS+CMR10" panose="02000500000000000000"/>
                <a:cs typeface="HAVVQS+CMR10" panose="02000500000000000000"/>
              </a:rPr>
              <a:t>weak</a:t>
            </a:r>
            <a:r>
              <a:rPr sz="2050" spc="2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AVVQS+CMR10" panose="02000500000000000000"/>
                <a:cs typeface="HAVVQS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AVVQS+CMR10" panose="02000500000000000000"/>
                <a:cs typeface="HAVVQS+CMR10" panose="02000500000000000000"/>
              </a:rPr>
              <a:t>include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AVVQS+CMR10" panose="02000500000000000000"/>
                <a:cs typeface="HAVVQS+CMR10" panose="02000500000000000000"/>
              </a:rPr>
              <a:t>passenger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AVVQS+CMR10" panose="02000500000000000000"/>
                <a:cs typeface="HAVVQS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HAVVQS+CMR10" panose="02000500000000000000"/>
                <a:cs typeface="HAVVQS+CMR10" panose="02000500000000000000"/>
              </a:rPr>
              <a:t>subject</a:t>
            </a:r>
            <a:endParaRPr sz="2050" spc="31">
              <a:solidFill>
                <a:srgbClr val="000000"/>
              </a:solidFill>
              <a:latin typeface="HAVVQS+CMR10" panose="02000500000000000000"/>
              <a:cs typeface="HAVVQS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AVVQS+CMR10" panose="02000500000000000000"/>
                <a:cs typeface="HAVVQS+CMR10" panose="02000500000000000000"/>
              </a:rPr>
              <a:t>domain.</a:t>
            </a:r>
            <a:endParaRPr sz="2050">
              <a:solidFill>
                <a:srgbClr val="000000"/>
              </a:solidFill>
              <a:latin typeface="HAVVQS+CMR10" panose="02000500000000000000"/>
              <a:cs typeface="HAVVQS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RFOMPQ+CMR7" panose="02000500000000000000"/>
                <a:cs typeface="RFOMPQ+CMR7" panose="02000500000000000000"/>
              </a:rPr>
              <a:t>102</a:t>
            </a:r>
            <a:endParaRPr sz="1450">
              <a:solidFill>
                <a:srgbClr val="000000"/>
              </a:solidFill>
              <a:latin typeface="RFOMPQ+CMR7" panose="02000500000000000000"/>
              <a:cs typeface="RFOMPQ+CMR7" panose="02000500000000000000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8388332" cy="11526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FNGQJS+CMBX12~c" panose="02000500000000000000"/>
                <a:cs typeface="FNGQJS+CMBX12~c" panose="02000500000000000000"/>
              </a:rPr>
              <a:t>Including</a:t>
            </a:r>
            <a:r>
              <a:rPr sz="250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5">
                <a:solidFill>
                  <a:srgbClr val="000000"/>
                </a:solidFill>
                <a:latin typeface="FNGQJS+CMBX12~c" panose="02000500000000000000"/>
                <a:cs typeface="FNGQJS+CMBX12~c" panose="02000500000000000000"/>
              </a:rPr>
              <a:t>unobservable</a:t>
            </a:r>
            <a:r>
              <a:rPr sz="2500" spc="32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0">
                <a:solidFill>
                  <a:srgbClr val="000000"/>
                </a:solidFill>
                <a:latin typeface="FNGQJS+CMBX12~c" panose="02000500000000000000"/>
                <a:cs typeface="FNGQJS+CMBX12~c" panose="02000500000000000000"/>
              </a:rPr>
              <a:t>entities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FNGQJS+CMBX12~c" panose="02000500000000000000"/>
                <a:cs typeface="FNGQJS+CMBX12~c" panose="02000500000000000000"/>
              </a:rPr>
              <a:t>in</a:t>
            </a:r>
            <a:r>
              <a:rPr sz="2500" spc="2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FNGQJS+CMBX12~c" panose="02000500000000000000"/>
                <a:cs typeface="FNGQJS+CMBX12~c" panose="02000500000000000000"/>
              </a:rPr>
              <a:t>a</a:t>
            </a:r>
            <a:r>
              <a:rPr sz="2500" spc="2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FNGQJS+CMBX12~c" panose="02000500000000000000"/>
                <a:cs typeface="FNGQJS+CMBX12~c" panose="02000500000000000000"/>
              </a:rPr>
              <a:t>diagram</a:t>
            </a:r>
            <a:r>
              <a:rPr sz="250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FNGQJS+CMBX12~c" panose="02000500000000000000"/>
                <a:cs typeface="FNGQJS+CMBX12~c" panose="02000500000000000000"/>
              </a:rPr>
              <a:t>of</a:t>
            </a:r>
            <a:endParaRPr sz="2500" spc="-14">
              <a:solidFill>
                <a:srgbClr val="000000"/>
              </a:solidFill>
              <a:latin typeface="FNGQJS+CMBX12~c" panose="02000500000000000000"/>
              <a:cs typeface="FNGQJS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31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FNGQJS+CMBX12~c" panose="02000500000000000000"/>
                <a:cs typeface="FNGQJS+CMBX12~c" panose="02000500000000000000"/>
              </a:rPr>
              <a:t>external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8">
                <a:solidFill>
                  <a:srgbClr val="000000"/>
                </a:solidFill>
                <a:latin typeface="FNGQJS+CMBX12~c" panose="02000500000000000000"/>
                <a:cs typeface="FNGQJS+CMBX12~c" panose="02000500000000000000"/>
              </a:rPr>
              <a:t>communications</a:t>
            </a:r>
            <a:endParaRPr sz="2500" spc="-18">
              <a:solidFill>
                <a:srgbClr val="000000"/>
              </a:solidFill>
              <a:latin typeface="FNGQJS+CMBX12~c" panose="02000500000000000000"/>
              <a:cs typeface="FNGQJS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97666" y="2179050"/>
            <a:ext cx="799810" cy="598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TEMTAG+Helvetica-Bold" panose="020B0704020202020204"/>
                <a:cs typeface="TEMTAG+Helvetica-Bold" panose="020B0704020202020204"/>
              </a:rPr>
              <a:t>SuD</a:t>
            </a:r>
            <a:endParaRPr sz="1800" b="1">
              <a:solidFill>
                <a:srgbClr val="000000"/>
              </a:solidFill>
              <a:latin typeface="TEMTAG+Helvetica-Bold" panose="020B0704020202020204"/>
              <a:cs typeface="TEMTAG+Helvetica-Bold" panose="020B07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46484" y="2179050"/>
            <a:ext cx="2183640" cy="598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MMTQGM+Helvetica" panose="020B0604020202020204"/>
                <a:cs typeface="MMTQGM+Helvetica" panose="020B0604020202020204"/>
              </a:rPr>
              <a:t>Elevator controller</a:t>
            </a:r>
            <a:endParaRPr sz="1800">
              <a:solidFill>
                <a:srgbClr val="000000"/>
              </a:solidFill>
              <a:latin typeface="MMTQGM+Helvetica" panose="020B0604020202020204"/>
              <a:cs typeface="MMTQGM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5110" y="3069951"/>
            <a:ext cx="1168013" cy="895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TEMTAG+Helvetica-Bold" panose="020B0704020202020204"/>
                <a:cs typeface="TEMTAG+Helvetica-Bold" panose="020B0704020202020204"/>
              </a:rPr>
              <a:t>Subject</a:t>
            </a:r>
            <a:endParaRPr sz="1800" b="1">
              <a:solidFill>
                <a:srgbClr val="000000"/>
              </a:solidFill>
              <a:latin typeface="TEMTAG+Helvetica-Bold" panose="020B0704020202020204"/>
              <a:cs typeface="TEMTAG+Helvetica-Bold" panose="020B0704020202020204"/>
            </a:endParaRPr>
          </a:p>
          <a:p>
            <a:pPr marL="63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TEMTAG+Helvetica-Bold" panose="020B0704020202020204"/>
                <a:cs typeface="TEMTAG+Helvetica-Bold" panose="020B0704020202020204"/>
              </a:rPr>
              <a:t>domain</a:t>
            </a:r>
            <a:endParaRPr sz="1800" b="1">
              <a:solidFill>
                <a:srgbClr val="000000"/>
              </a:solidFill>
              <a:latin typeface="TEMTAG+Helvetica-Bold" panose="020B0704020202020204"/>
              <a:cs typeface="TEMTAG+Helvetica-Bold" panose="020B07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28708" y="3069955"/>
            <a:ext cx="1193735" cy="895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MMTQGM+Helvetica" panose="020B0604020202020204"/>
                <a:cs typeface="MMTQGM+Helvetica" panose="020B0604020202020204"/>
              </a:rPr>
              <a:t>Request</a:t>
            </a:r>
            <a:endParaRPr sz="1800">
              <a:solidFill>
                <a:srgbClr val="000000"/>
              </a:solidFill>
              <a:latin typeface="MMTQGM+Helvetica" panose="020B0604020202020204"/>
              <a:cs typeface="MMTQGM+Helvetica" panose="020B0604020202020204"/>
            </a:endParaRPr>
          </a:p>
          <a:p>
            <a:pPr marL="1079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MMTQGM+Helvetica" panose="020B0604020202020204"/>
                <a:cs typeface="MMTQGM+Helvetica" panose="020B0604020202020204"/>
              </a:rPr>
              <a:t>button</a:t>
            </a:r>
            <a:endParaRPr sz="1800">
              <a:solidFill>
                <a:srgbClr val="000000"/>
              </a:solidFill>
              <a:latin typeface="MMTQGM+Helvetica" panose="020B0604020202020204"/>
              <a:cs typeface="MMTQGM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67683" y="3069955"/>
            <a:ext cx="1028543" cy="895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MMTQGM+Helvetica" panose="020B0604020202020204"/>
                <a:cs typeface="MMTQGM+Helvetica" panose="020B0604020202020204"/>
              </a:rPr>
              <a:t>Arrival</a:t>
            </a:r>
            <a:endParaRPr sz="1800">
              <a:solidFill>
                <a:srgbClr val="000000"/>
              </a:solidFill>
              <a:latin typeface="MMTQGM+Helvetica" panose="020B0604020202020204"/>
              <a:cs typeface="MMTQGM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MMTQGM+Helvetica" panose="020B0604020202020204"/>
                <a:cs typeface="MMTQGM+Helvetica" panose="020B0604020202020204"/>
              </a:rPr>
              <a:t>sensor</a:t>
            </a:r>
            <a:endParaRPr sz="1800">
              <a:solidFill>
                <a:srgbClr val="000000"/>
              </a:solidFill>
              <a:latin typeface="MMTQGM+Helvetica" panose="020B0604020202020204"/>
              <a:cs typeface="MMTQGM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29067" y="3069955"/>
            <a:ext cx="1244263" cy="895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MMTQGM+Helvetica" panose="020B0604020202020204"/>
                <a:cs typeface="MMTQGM+Helvetica" panose="020B0604020202020204"/>
              </a:rPr>
              <a:t>Direction</a:t>
            </a:r>
            <a:endParaRPr sz="1800">
              <a:solidFill>
                <a:srgbClr val="000000"/>
              </a:solidFill>
              <a:latin typeface="MMTQGM+Helvetica" panose="020B0604020202020204"/>
              <a:cs typeface="MMTQGM+Helvetica" panose="020B0604020202020204"/>
            </a:endParaRPr>
          </a:p>
          <a:p>
            <a:pPr marL="190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MMTQGM+Helvetica" panose="020B0604020202020204"/>
                <a:cs typeface="MMTQGM+Helvetica" panose="020B0604020202020204"/>
              </a:rPr>
              <a:t>indicator</a:t>
            </a:r>
            <a:endParaRPr sz="1800">
              <a:solidFill>
                <a:srgbClr val="000000"/>
              </a:solidFill>
              <a:latin typeface="MMTQGM+Helvetica" panose="020B0604020202020204"/>
              <a:cs typeface="MMTQGM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74918" y="3207013"/>
            <a:ext cx="926817" cy="598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MMTQGM+Helvetica" panose="020B0604020202020204"/>
                <a:cs typeface="MMTQGM+Helvetica" panose="020B0604020202020204"/>
              </a:rPr>
              <a:t>Motor</a:t>
            </a:r>
            <a:endParaRPr sz="1800">
              <a:solidFill>
                <a:srgbClr val="000000"/>
              </a:solidFill>
              <a:latin typeface="MMTQGM+Helvetica" panose="020B0604020202020204"/>
              <a:cs typeface="MMTQGM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18642" y="3207013"/>
            <a:ext cx="952249" cy="598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MMTQGM+Helvetica" panose="020B0604020202020204"/>
                <a:cs typeface="MMTQGM+Helvetica" panose="020B0604020202020204"/>
              </a:rPr>
              <a:t>Doors</a:t>
            </a:r>
            <a:endParaRPr sz="1800">
              <a:solidFill>
                <a:srgbClr val="000000"/>
              </a:solidFill>
              <a:latin typeface="MMTQGM+Helvetica" panose="020B0604020202020204"/>
              <a:cs typeface="MMTQGM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20893" y="4120766"/>
            <a:ext cx="1434999" cy="598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MMTQGM+Helvetica" panose="020B0604020202020204"/>
                <a:cs typeface="MMTQGM+Helvetica" panose="020B0604020202020204"/>
              </a:rPr>
              <a:t>Passenger</a:t>
            </a:r>
            <a:endParaRPr sz="1800">
              <a:solidFill>
                <a:srgbClr val="000000"/>
              </a:solidFill>
              <a:latin typeface="MMTQGM+Helvetica" panose="020B0604020202020204"/>
              <a:cs typeface="MMTQGM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4580" y="4888458"/>
            <a:ext cx="8181289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LSHIW+CMSY10~25" panose="02000500000000000000"/>
                <a:cs typeface="ALSHIW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domain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contains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devices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whom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about</a:t>
            </a:r>
            <a:endParaRPr sz="2050" spc="25">
              <a:solidFill>
                <a:srgbClr val="000000"/>
              </a:solidFill>
              <a:latin typeface="DWCSHN+CMR10" panose="02000500000000000000"/>
              <a:cs typeface="DWCSHN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6695" y="5249646"/>
            <a:ext cx="655948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whom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elevator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controller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exchanges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messages.</a:t>
            </a:r>
            <a:endParaRPr sz="2050">
              <a:solidFill>
                <a:srgbClr val="000000"/>
              </a:solidFill>
              <a:latin typeface="DWCSHN+CMR10" panose="02000500000000000000"/>
              <a:cs typeface="DWCSHN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4560" y="5723612"/>
            <a:ext cx="8163084" cy="143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LSHIW+CMSY10~25" panose="02000500000000000000"/>
                <a:cs typeface="ALSHIW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However,</a:t>
            </a:r>
            <a:r>
              <a:rPr sz="2050" spc="2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we</a:t>
            </a:r>
            <a:r>
              <a:rPr sz="2050" spc="2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include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unobservable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entities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diagram</a:t>
            </a:r>
            <a:endParaRPr sz="2050">
              <a:solidFill>
                <a:srgbClr val="000000"/>
              </a:solidFill>
              <a:latin typeface="DWCSHN+CMR10" panose="02000500000000000000"/>
              <a:cs typeface="DWCSHN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2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shows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external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communication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channels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(the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context</a:t>
            </a:r>
            <a:endParaRPr sz="2050">
              <a:solidFill>
                <a:srgbClr val="000000"/>
              </a:solidFill>
              <a:latin typeface="DWCSHN+CMR10" panose="02000500000000000000"/>
              <a:cs typeface="DWCSHN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7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WCSHN+CMR10" panose="02000500000000000000"/>
                <a:cs typeface="DWCSHN+CMR10" panose="02000500000000000000"/>
              </a:rPr>
              <a:t>diagram).</a:t>
            </a:r>
            <a:endParaRPr sz="2050">
              <a:solidFill>
                <a:srgbClr val="000000"/>
              </a:solidFill>
              <a:latin typeface="DWCSHN+CMR10" panose="02000500000000000000"/>
              <a:cs typeface="DWCSHN+CMR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WUSPM+CMR7" panose="02000500000000000000"/>
                <a:cs typeface="AWUSPM+CMR7" panose="02000500000000000000"/>
              </a:rPr>
              <a:t>103</a:t>
            </a:r>
            <a:endParaRPr sz="1450">
              <a:solidFill>
                <a:srgbClr val="000000"/>
              </a:solidFill>
              <a:latin typeface="AWUSPM+CMR7" panose="02000500000000000000"/>
              <a:cs typeface="AWUSPM+CMR7" panose="02000500000000000000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815893"/>
            <a:ext cx="198932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SSUHJD+CMBX12~c" panose="02000500000000000000"/>
                <a:cs typeface="SSUHJD+CMBX12~c" panose="02000500000000000000"/>
              </a:rPr>
              <a:t>Questions</a:t>
            </a:r>
            <a:endParaRPr sz="2500" spc="-11">
              <a:solidFill>
                <a:srgbClr val="000000"/>
              </a:solidFill>
              <a:latin typeface="SSUHJD+CMBX12~c" panose="02000500000000000000"/>
              <a:cs typeface="SSUHJD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315945"/>
            <a:ext cx="818781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KBBVL+CMSY10~25" panose="02000500000000000000"/>
                <a:cs typeface="MKBBV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Which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entities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domain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railway</a:t>
            </a:r>
            <a:r>
              <a:rPr sz="20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travel</a:t>
            </a:r>
            <a:endParaRPr sz="2050" spc="-16">
              <a:solidFill>
                <a:srgbClr val="000000"/>
              </a:solidFill>
              <a:latin typeface="HVVEJK+CMR10" panose="02000500000000000000"/>
              <a:cs typeface="HVVEJK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03" y="2687803"/>
            <a:ext cx="137615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planner?</a:t>
            </a:r>
            <a:endParaRPr sz="2050" spc="10">
              <a:solidFill>
                <a:srgbClr val="000000"/>
              </a:solidFill>
              <a:latin typeface="HVVEJK+CMR10" panose="02000500000000000000"/>
              <a:cs typeface="HVVEJK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2048" y="3132812"/>
            <a:ext cx="7732175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MHUUH+CMBX10" panose="02000500000000000000"/>
                <a:cs typeface="MMHUUH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Passenger,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Station,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Railway</a:t>
            </a:r>
            <a:r>
              <a:rPr sz="2050" spc="2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track,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8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Trip</a:t>
            </a:r>
            <a:r>
              <a:rPr sz="2050" spc="2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segment,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Route.</a:t>
            </a:r>
            <a:endParaRPr sz="2050" spc="11">
              <a:solidFill>
                <a:srgbClr val="000000"/>
              </a:solidFill>
              <a:latin typeface="HVVEJK+CMR10" panose="02000500000000000000"/>
              <a:cs typeface="HVVEJK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65" y="3650974"/>
            <a:ext cx="810181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KBBVL+CMSY10~25" panose="02000500000000000000"/>
                <a:cs typeface="MKBBV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Is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Passenger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part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domain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Electronic</a:t>
            </a:r>
            <a:endParaRPr sz="2050">
              <a:solidFill>
                <a:srgbClr val="000000"/>
              </a:solidFill>
              <a:latin typeface="HVVEJK+CMR10" panose="02000500000000000000"/>
              <a:cs typeface="HVVEJK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692" y="4022832"/>
            <a:ext cx="369596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4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Ticket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System?</a:t>
            </a:r>
            <a:r>
              <a:rPr sz="2050" spc="3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Why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(not)?</a:t>
            </a:r>
            <a:endParaRPr sz="2050">
              <a:solidFill>
                <a:srgbClr val="000000"/>
              </a:solidFill>
              <a:latin typeface="HVVEJK+CMR10" panose="02000500000000000000"/>
              <a:cs typeface="HVVEJK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4246" y="4540994"/>
            <a:ext cx="413647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answers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determined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by</a:t>
            </a:r>
            <a:endParaRPr sz="2050" spc="-47">
              <a:solidFill>
                <a:srgbClr val="000000"/>
              </a:solidFill>
              <a:latin typeface="HVVEJK+CMR10" panose="02000500000000000000"/>
              <a:cs typeface="HVVEJK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0345" y="5059153"/>
            <a:ext cx="5155898" cy="12285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(1)</a:t>
            </a:r>
            <a:r>
              <a:rPr sz="2050" spc="5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functionality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and</a:t>
            </a:r>
            <a:endParaRPr sz="2050" spc="10">
              <a:solidFill>
                <a:srgbClr val="000000"/>
              </a:solidFill>
              <a:latin typeface="HVVEJK+CMR10" panose="02000500000000000000"/>
              <a:cs typeface="HVVEJK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5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(2)</a:t>
            </a:r>
            <a:r>
              <a:rPr sz="2050" spc="5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choices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connection</a:t>
            </a:r>
            <a:r>
              <a:rPr sz="2050" spc="1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HVVEJK+CMR10" panose="02000500000000000000"/>
                <a:cs typeface="HVVEJK+CMR10" panose="02000500000000000000"/>
              </a:rPr>
              <a:t>technology.</a:t>
            </a:r>
            <a:endParaRPr sz="2050" spc="-12">
              <a:solidFill>
                <a:srgbClr val="000000"/>
              </a:solidFill>
              <a:latin typeface="HVVEJK+CMR10" panose="02000500000000000000"/>
              <a:cs typeface="HVVEJK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SLEUUP+CMR7" panose="02000500000000000000"/>
                <a:cs typeface="SLEUUP+CMR7" panose="02000500000000000000"/>
              </a:rPr>
              <a:t>104</a:t>
            </a:r>
            <a:endParaRPr sz="1450">
              <a:solidFill>
                <a:srgbClr val="000000"/>
              </a:solidFill>
              <a:latin typeface="SLEUUP+CMR7" panose="02000500000000000000"/>
              <a:cs typeface="SLEUUP+CMR7" panose="02000500000000000000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705909"/>
            <a:ext cx="4494550" cy="1253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0">
                <a:solidFill>
                  <a:srgbClr val="000000"/>
                </a:solidFill>
                <a:latin typeface="TAECEG+CMBX12~c" panose="02000500000000000000"/>
                <a:cs typeface="TAECEG+CMBX12~c" panose="02000500000000000000"/>
              </a:rPr>
              <a:t>Entities</a:t>
            </a:r>
            <a:r>
              <a:rPr sz="2500" spc="3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4">
                <a:solidFill>
                  <a:srgbClr val="000000"/>
                </a:solidFill>
                <a:latin typeface="TAECEG+CMBX12~c" panose="02000500000000000000"/>
                <a:cs typeface="TAECEG+CMBX12~c" panose="02000500000000000000"/>
              </a:rPr>
              <a:t>versus</a:t>
            </a:r>
            <a:r>
              <a:rPr sz="2500" spc="3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TAECEG+CMBX12~c" panose="02000500000000000000"/>
                <a:cs typeface="TAECEG+CMBX12~c" panose="02000500000000000000"/>
              </a:rPr>
              <a:t>attributes</a:t>
            </a:r>
            <a:endParaRPr sz="2500" spc="-12">
              <a:solidFill>
                <a:srgbClr val="000000"/>
              </a:solidFill>
              <a:latin typeface="TAECEG+CMBX12~c" panose="02000500000000000000"/>
              <a:cs typeface="TAECEG+CMBX12~c" panose="02000500000000000000"/>
            </a:endParaRPr>
          </a:p>
          <a:p>
            <a:pPr marL="121920" marR="0">
              <a:lnSpc>
                <a:spcPts val="261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FMQCO+CMSY10~25" panose="02000500000000000000"/>
                <a:cs typeface="CFMQCO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CFMQCO+CMSY10~25" panose="02000500000000000000"/>
              <a:cs typeface="CFMQCO+CMSY10~25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6709" y="3205962"/>
            <a:ext cx="679917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Entities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things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talks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about.</a:t>
            </a:r>
            <a:endParaRPr sz="2050" spc="21">
              <a:solidFill>
                <a:srgbClr val="000000"/>
              </a:solidFill>
              <a:latin typeface="OCEARR+CMR10" panose="02000500000000000000"/>
              <a:cs typeface="OCEARR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6188" y="3589104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FMQCO+CMSY10~25" panose="02000500000000000000"/>
                <a:cs typeface="CFMQCO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CFMQCO+CMSY10~25" panose="02000500000000000000"/>
              <a:cs typeface="CFMQCO+CMSY10~25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09" y="3724124"/>
            <a:ext cx="590769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Attributes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things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said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about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entities.</a:t>
            </a:r>
            <a:endParaRPr sz="2050">
              <a:solidFill>
                <a:srgbClr val="000000"/>
              </a:solidFill>
              <a:latin typeface="OCEARR+CMR10" panose="02000500000000000000"/>
              <a:cs typeface="OCEARR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702" y="4169132"/>
            <a:ext cx="8259568" cy="12285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41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FMQCO+CMSY10~25" panose="02000500000000000000"/>
                <a:cs typeface="CFMQC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So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if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you</a:t>
            </a:r>
            <a:r>
              <a:rPr sz="2050" spc="2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1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want</a:t>
            </a:r>
            <a:r>
              <a:rPr sz="2050" spc="2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store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information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about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it,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2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entity.</a:t>
            </a:r>
            <a:endParaRPr sz="2050" spc="-32">
              <a:solidFill>
                <a:srgbClr val="000000"/>
              </a:solidFill>
              <a:latin typeface="OCEARR+CMR10" panose="02000500000000000000"/>
              <a:cs typeface="OCEARR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5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If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information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about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change,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2">
                <a:solidFill>
                  <a:srgbClr val="000000"/>
                </a:solidFill>
                <a:latin typeface="OCEARR+CMR10" panose="02000500000000000000"/>
                <a:cs typeface="OCEARR+CMR10" panose="02000500000000000000"/>
              </a:rPr>
              <a:t>entity.</a:t>
            </a:r>
            <a:endParaRPr sz="2050" spc="-32">
              <a:solidFill>
                <a:srgbClr val="000000"/>
              </a:solidFill>
              <a:latin typeface="OCEARR+CMR10" panose="02000500000000000000"/>
              <a:cs typeface="OCEARR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6181" y="4552274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FMQCO+CMSY10~25" panose="02000500000000000000"/>
                <a:cs typeface="CFMQCO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CFMQCO+CMSY10~25" panose="02000500000000000000"/>
              <a:cs typeface="CFMQCO+CMSY10~25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RBTKVM+CMR7" panose="02000500000000000000"/>
                <a:cs typeface="RBTKVM+CMR7" panose="02000500000000000000"/>
              </a:rPr>
              <a:t>105</a:t>
            </a:r>
            <a:endParaRPr sz="1450">
              <a:solidFill>
                <a:srgbClr val="000000"/>
              </a:solidFill>
              <a:latin typeface="RBTKVM+CMR7" panose="02000500000000000000"/>
              <a:cs typeface="RBTKVM+CMR7" panose="02000500000000000000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182085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JOHQJN+CMBX12~c" panose="02000500000000000000"/>
                <a:cs typeface="JOHQJN+CMBX12~c" panose="02000500000000000000"/>
              </a:rPr>
              <a:t>Example</a:t>
            </a:r>
            <a:endParaRPr sz="2500" spc="-10">
              <a:solidFill>
                <a:srgbClr val="000000"/>
              </a:solidFill>
              <a:latin typeface="JOHQJN+CMBX12~c" panose="02000500000000000000"/>
              <a:cs typeface="JOHQJN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29916" y="1565497"/>
            <a:ext cx="1066790" cy="598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PITEM+Helvetica" panose="020B0604020202020204"/>
                <a:cs typeface="WPITEM+Helvetica" panose="020B0604020202020204"/>
              </a:rPr>
              <a:t>Person</a:t>
            </a:r>
            <a:endParaRPr sz="1800">
              <a:solidFill>
                <a:srgbClr val="000000"/>
              </a:solidFill>
              <a:latin typeface="WPITEM+Helvetica" panose="020B0604020202020204"/>
              <a:cs typeface="WPITEM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36400" y="1565497"/>
            <a:ext cx="1116073" cy="11121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PITEM+Helvetica" panose="020B0604020202020204"/>
                <a:cs typeface="WPITEM+Helvetica" panose="020B0604020202020204"/>
              </a:rPr>
              <a:t>Person</a:t>
            </a:r>
            <a:endParaRPr sz="1800">
              <a:solidFill>
                <a:srgbClr val="000000"/>
              </a:solidFill>
              <a:latin typeface="WPITEM+Helvetica" panose="020B0604020202020204"/>
              <a:cs typeface="WPITEM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2085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PITEM+Helvetica" panose="020B0604020202020204"/>
                <a:cs typeface="WPITEM+Helvetica" panose="020B0604020202020204"/>
              </a:rPr>
              <a:t>name</a:t>
            </a:r>
            <a:endParaRPr sz="1800">
              <a:solidFill>
                <a:srgbClr val="000000"/>
              </a:solidFill>
              <a:latin typeface="WPITEM+Helvetica" panose="020B0604020202020204"/>
              <a:cs typeface="WPITEM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95781" y="1565497"/>
            <a:ext cx="1244500" cy="598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PITEM+Helvetica" panose="020B0604020202020204"/>
                <a:cs typeface="WPITEM+Helvetica" panose="020B0604020202020204"/>
              </a:rPr>
              <a:t>Passport</a:t>
            </a:r>
            <a:endParaRPr sz="1800">
              <a:solidFill>
                <a:srgbClr val="000000"/>
              </a:solidFill>
              <a:latin typeface="WPITEM+Helvetica" panose="020B0604020202020204"/>
              <a:cs typeface="WPITEM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7936" y="2079555"/>
            <a:ext cx="2057096" cy="8951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PITEM+Helvetica" panose="020B0604020202020204"/>
                <a:cs typeface="WPITEM+Helvetica" panose="020B0604020202020204"/>
              </a:rPr>
              <a:t>name</a:t>
            </a:r>
            <a:endParaRPr sz="1800">
              <a:solidFill>
                <a:srgbClr val="000000"/>
              </a:solidFill>
              <a:latin typeface="WPITEM+Helvetica" panose="020B0604020202020204"/>
              <a:cs typeface="WPITEM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PITEM+Helvetica" panose="020B0604020202020204"/>
                <a:cs typeface="WPITEM+Helvetica" panose="020B0604020202020204"/>
              </a:rPr>
              <a:t>passport number</a:t>
            </a:r>
            <a:endParaRPr sz="1800">
              <a:solidFill>
                <a:srgbClr val="000000"/>
              </a:solidFill>
              <a:latin typeface="WPITEM+Helvetica" panose="020B0604020202020204"/>
              <a:cs typeface="WPITEM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21258" y="2079555"/>
            <a:ext cx="1511319" cy="8951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PITEM+Helvetica" panose="020B0604020202020204"/>
                <a:cs typeface="WPITEM+Helvetica" panose="020B0604020202020204"/>
              </a:rPr>
              <a:t>date issued</a:t>
            </a:r>
            <a:endParaRPr sz="1800">
              <a:solidFill>
                <a:srgbClr val="000000"/>
              </a:solidFill>
              <a:latin typeface="WPITEM+Helvetica" panose="020B0604020202020204"/>
              <a:cs typeface="WPITEM+Helvetica" panose="020B0604020202020204"/>
            </a:endParaRPr>
          </a:p>
          <a:p>
            <a:pPr marL="1143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PITEM+Helvetica" panose="020B0604020202020204"/>
                <a:cs typeface="WPITEM+Helvetica" panose="020B0604020202020204"/>
              </a:rPr>
              <a:t>number</a:t>
            </a:r>
            <a:endParaRPr sz="1800">
              <a:solidFill>
                <a:srgbClr val="000000"/>
              </a:solidFill>
              <a:latin typeface="WPITEM+Helvetica" panose="020B0604020202020204"/>
              <a:cs typeface="WPITEM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22287" y="2228056"/>
            <a:ext cx="724019" cy="598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PITEM+Helvetica" panose="020B0604020202020204"/>
                <a:cs typeface="WPITEM+Helvetica" panose="020B0604020202020204"/>
              </a:rPr>
              <a:t>0..1</a:t>
            </a:r>
            <a:endParaRPr sz="1800">
              <a:solidFill>
                <a:srgbClr val="000000"/>
              </a:solidFill>
              <a:latin typeface="WPITEM+Helvetica" panose="020B0604020202020204"/>
              <a:cs typeface="WPITEM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46686" y="2250903"/>
            <a:ext cx="469962" cy="598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WPITEM+Helvetica" panose="020B0604020202020204"/>
                <a:cs typeface="WPITEM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WPITEM+Helvetica" panose="020B0604020202020204"/>
              <a:cs typeface="WPITEM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4259" y="3161766"/>
            <a:ext cx="8617884" cy="1961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185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JUCCN+CMSY10~25" panose="02000500000000000000"/>
                <a:cs typeface="QJUCCN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Counting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persons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not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same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as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counting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passports.</a:t>
            </a:r>
            <a:endParaRPr sz="2050" spc="14">
              <a:solidFill>
                <a:srgbClr val="000000"/>
              </a:solidFill>
              <a:latin typeface="KPFWKJ+CMR10" panose="02000500000000000000"/>
              <a:cs typeface="KPFWKJ+CMR10" panose="02000500000000000000"/>
            </a:endParaRPr>
          </a:p>
          <a:p>
            <a:pPr marL="210185" marR="0">
              <a:lnSpc>
                <a:spcPts val="323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JUCCN+CMSY10~25" panose="02000500000000000000"/>
                <a:cs typeface="QJUCCN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Persons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created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at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same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time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passports.</a:t>
            </a:r>
            <a:endParaRPr sz="2050" spc="14">
              <a:solidFill>
                <a:srgbClr val="000000"/>
              </a:solidFill>
              <a:latin typeface="KPFWKJ+CMR10" panose="02000500000000000000"/>
              <a:cs typeface="KPFWKJ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300"/>
              </a:spcBef>
              <a:spcAft>
                <a:spcPct val="0"/>
              </a:spcAft>
            </a:pPr>
            <a:r>
              <a:rPr sz="2050" spc="13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So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they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diﬀerent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entities.</a:t>
            </a:r>
            <a:r>
              <a:rPr sz="2050" spc="3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But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which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ERD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“correct”?</a:t>
            </a:r>
            <a:r>
              <a:rPr sz="2050" spc="4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That</a:t>
            </a:r>
            <a:endParaRPr sz="2050">
              <a:solidFill>
                <a:srgbClr val="000000"/>
              </a:solidFill>
              <a:latin typeface="KPFWKJ+CMR10" panose="02000500000000000000"/>
              <a:cs typeface="KPFWKJ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335"/>
              </a:spcBef>
              <a:spcAft>
                <a:spcPct val="0"/>
              </a:spcAft>
            </a:pPr>
            <a:r>
              <a:rPr sz="2050" spc="21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depends:</a:t>
            </a:r>
            <a:endParaRPr sz="2050" spc="21">
              <a:solidFill>
                <a:srgbClr val="000000"/>
              </a:solidFill>
              <a:latin typeface="KPFWKJ+CMR10" panose="02000500000000000000"/>
              <a:cs typeface="KPFWKJ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4573" y="4891511"/>
            <a:ext cx="753182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JUCCN+CMSY10~25" panose="02000500000000000000"/>
                <a:cs typeface="QJUCCN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If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SuD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must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able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talk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about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persons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without</a:t>
            </a:r>
            <a:endParaRPr sz="2050">
              <a:solidFill>
                <a:srgbClr val="000000"/>
              </a:solidFill>
              <a:latin typeface="KPFWKJ+CMR10" panose="02000500000000000000"/>
              <a:cs typeface="KPFWKJ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6708" y="5254224"/>
            <a:ext cx="186006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4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passports,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or</a:t>
            </a:r>
            <a:endParaRPr sz="2050">
              <a:solidFill>
                <a:srgbClr val="000000"/>
              </a:solidFill>
              <a:latin typeface="KPFWKJ+CMR10" panose="02000500000000000000"/>
              <a:cs typeface="KPFWKJ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4577" y="5662657"/>
            <a:ext cx="7977192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JUCCN+CMSY10~25" panose="02000500000000000000"/>
                <a:cs typeface="QJUCCN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about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persons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multiple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passports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(change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cardinality</a:t>
            </a:r>
            <a:endParaRPr sz="2050">
              <a:solidFill>
                <a:srgbClr val="000000"/>
              </a:solidFill>
              <a:latin typeface="KPFWKJ+CMR10" panose="02000500000000000000"/>
              <a:cs typeface="KPFWKJ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16713" y="6025370"/>
            <a:ext cx="252077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property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for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that),</a:t>
            </a:r>
            <a:endParaRPr sz="2050">
              <a:solidFill>
                <a:srgbClr val="000000"/>
              </a:solidFill>
              <a:latin typeface="KPFWKJ+CMR10" panose="02000500000000000000"/>
              <a:cs typeface="KPFWKJ+CMR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4585" y="6433803"/>
            <a:ext cx="740560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JUCCN+CMSY10~25" panose="02000500000000000000"/>
                <a:cs typeface="QJUCCN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then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we</a:t>
            </a:r>
            <a:r>
              <a:rPr sz="2050" spc="2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must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include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separate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passport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entity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PFWKJ+CMR10" panose="02000500000000000000"/>
                <a:cs typeface="KPFWKJ+CMR10" panose="02000500000000000000"/>
              </a:rPr>
              <a:t>type.</a:t>
            </a:r>
            <a:endParaRPr sz="2050" spc="11">
              <a:solidFill>
                <a:srgbClr val="000000"/>
              </a:solidFill>
              <a:latin typeface="KPFWKJ+CMR10" panose="02000500000000000000"/>
              <a:cs typeface="KPFWKJ+CMR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OTHNPW+CMR7" panose="02000500000000000000"/>
                <a:cs typeface="OTHNPW+CMR7" panose="02000500000000000000"/>
              </a:rPr>
              <a:t>106</a:t>
            </a:r>
            <a:endParaRPr sz="1450">
              <a:solidFill>
                <a:srgbClr val="000000"/>
              </a:solidFill>
              <a:latin typeface="OTHNPW+CMR7" panose="02000500000000000000"/>
              <a:cs typeface="OTHNPW+CMR7" panose="02000500000000000000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261157"/>
            <a:ext cx="4997188" cy="1253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0">
                <a:solidFill>
                  <a:srgbClr val="000000"/>
                </a:solidFill>
                <a:latin typeface="AGQNEU+CMBX12~c" panose="02000500000000000000"/>
                <a:cs typeface="AGQNEU+CMBX12~c" panose="02000500000000000000"/>
              </a:rPr>
              <a:t>Entities</a:t>
            </a:r>
            <a:r>
              <a:rPr sz="2500" spc="3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4">
                <a:solidFill>
                  <a:srgbClr val="000000"/>
                </a:solidFill>
                <a:latin typeface="AGQNEU+CMBX12~c" panose="02000500000000000000"/>
                <a:cs typeface="AGQNEU+CMBX12~c" panose="02000500000000000000"/>
              </a:rPr>
              <a:t>versus</a:t>
            </a:r>
            <a:r>
              <a:rPr sz="2500" spc="3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AGQNEU+CMBX12~c" panose="02000500000000000000"/>
                <a:cs typeface="AGQNEU+CMBX12~c" panose="02000500000000000000"/>
              </a:rPr>
              <a:t>relationships</a:t>
            </a:r>
            <a:endParaRPr sz="2500">
              <a:solidFill>
                <a:srgbClr val="000000"/>
              </a:solidFill>
              <a:latin typeface="AGQNEU+CMBX12~c" panose="02000500000000000000"/>
              <a:cs typeface="AGQNEU+CMBX12~c" panose="02000500000000000000"/>
            </a:endParaRPr>
          </a:p>
          <a:p>
            <a:pPr marL="121920" marR="0">
              <a:lnSpc>
                <a:spcPts val="261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JUWUM+CMSY10~25" panose="02000500000000000000"/>
                <a:cs typeface="UJUWUM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UJUWUM+CMSY10~25" panose="02000500000000000000"/>
              <a:cs typeface="UJUWUM+CMSY10~25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6709" y="1761210"/>
            <a:ext cx="646945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PKDVP+CMR10" panose="02000500000000000000"/>
                <a:cs typeface="HPKDVP+CMR10" panose="02000500000000000000"/>
              </a:rPr>
              <a:t>Relationships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PKDVP+CMR10" panose="02000500000000000000"/>
                <a:cs typeface="HPKDVP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PKDVP+CMR10" panose="02000500000000000000"/>
                <a:cs typeface="HPKDVP+CMR10" panose="02000500000000000000"/>
              </a:rPr>
              <a:t>identiﬁed</a:t>
            </a:r>
            <a:r>
              <a:rPr sz="2050" spc="1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HPKDVP+CMR10" panose="02000500000000000000"/>
                <a:cs typeface="HPKDVP+CMR10" panose="02000500000000000000"/>
              </a:rPr>
              <a:t>by</a:t>
            </a:r>
            <a:r>
              <a:rPr sz="2050" spc="2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PKDVP+CMR10" panose="02000500000000000000"/>
                <a:cs typeface="HPKDVP+CMR10" panose="02000500000000000000"/>
              </a:rPr>
              <a:t>their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PKDVP+CMR10" panose="02000500000000000000"/>
                <a:cs typeface="HPKDVP+CMR10" panose="02000500000000000000"/>
              </a:rPr>
              <a:t>components.</a:t>
            </a:r>
            <a:endParaRPr sz="2050" spc="10">
              <a:solidFill>
                <a:srgbClr val="000000"/>
              </a:solidFill>
              <a:latin typeface="HPKDVP+CMR10" panose="02000500000000000000"/>
              <a:cs typeface="HPKDVP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698" y="2133066"/>
            <a:ext cx="7459723" cy="1080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3">
                <a:solidFill>
                  <a:srgbClr val="000000"/>
                </a:solidFill>
                <a:latin typeface="HPKDVP+CMR10" panose="02000500000000000000"/>
                <a:cs typeface="HPKDVP+CMR10" panose="02000500000000000000"/>
              </a:rPr>
              <a:t>So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HPKDVP+CMR10" panose="02000500000000000000"/>
                <a:cs typeface="HPKDVP+CMR10" panose="02000500000000000000"/>
              </a:rPr>
              <a:t>they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PKDVP+CMR10" panose="02000500000000000000"/>
                <a:cs typeface="HPKDVP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PKDVP+CMR10" panose="02000500000000000000"/>
                <a:cs typeface="HPKDVP+CMR10" panose="02000500000000000000"/>
              </a:rPr>
              <a:t>counted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PKDVP+CMR10" panose="02000500000000000000"/>
                <a:cs typeface="HPKDVP+CMR10" panose="02000500000000000000"/>
              </a:rPr>
              <a:t>diﬀerently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PKDVP+CMR10" panose="02000500000000000000"/>
                <a:cs typeface="HPKDVP+CMR10" panose="02000500000000000000"/>
              </a:rPr>
              <a:t>from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PKDVP+CMR10" panose="02000500000000000000"/>
                <a:cs typeface="HPKDVP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HPKDVP+CMR10" panose="02000500000000000000"/>
                <a:cs typeface="HPKDVP+CMR10" panose="02000500000000000000"/>
              </a:rPr>
              <a:t>way</a:t>
            </a:r>
            <a:r>
              <a:rPr sz="2050" spc="2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PKDVP+CMR10" panose="02000500000000000000"/>
                <a:cs typeface="HPKDVP+CMR10" panose="02000500000000000000"/>
              </a:rPr>
              <a:t>entities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PKDVP+CMR10" panose="02000500000000000000"/>
                <a:cs typeface="HPKDVP+CMR10" panose="02000500000000000000"/>
              </a:rPr>
              <a:t>are</a:t>
            </a:r>
            <a:endParaRPr sz="2050">
              <a:solidFill>
                <a:srgbClr val="000000"/>
              </a:solidFill>
              <a:latin typeface="HPKDVP+CMR10" panose="02000500000000000000"/>
              <a:cs typeface="HPKDVP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PKDVP+CMR10" panose="02000500000000000000"/>
                <a:cs typeface="HPKDVP+CMR10" panose="02000500000000000000"/>
              </a:rPr>
              <a:t>counted.</a:t>
            </a:r>
            <a:endParaRPr sz="2050">
              <a:solidFill>
                <a:srgbClr val="000000"/>
              </a:solidFill>
              <a:latin typeface="HPKDVP+CMR10" panose="02000500000000000000"/>
              <a:cs typeface="HPKDVP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15342" y="3199481"/>
            <a:ext cx="850866" cy="597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CGHNT+Helvetica" panose="020B0604020202020204"/>
                <a:cs typeface="FCGHNT+Helvetica" panose="020B0604020202020204"/>
              </a:rPr>
              <a:t>Loan</a:t>
            </a:r>
            <a:endParaRPr sz="1800">
              <a:solidFill>
                <a:srgbClr val="000000"/>
              </a:solidFill>
              <a:latin typeface="FCGHNT+Helvetica" panose="020B0604020202020204"/>
              <a:cs typeface="FCGHNT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77314" y="3496330"/>
            <a:ext cx="1180331" cy="597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CGHNT+Helvetica" panose="020B0604020202020204"/>
                <a:cs typeface="FCGHNT+Helvetica" panose="020B0604020202020204"/>
              </a:rPr>
              <a:t>Member</a:t>
            </a:r>
            <a:endParaRPr sz="1800">
              <a:solidFill>
                <a:srgbClr val="000000"/>
              </a:solidFill>
              <a:latin typeface="FCGHNT+Helvetica" panose="020B0604020202020204"/>
              <a:cs typeface="FCGHNT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64806" y="3633325"/>
            <a:ext cx="469891" cy="597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CGHNT+Helvetica" panose="020B0604020202020204"/>
                <a:cs typeface="FCGHNT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FCGHNT+Helvetica" panose="020B0604020202020204"/>
              <a:cs typeface="FCGHNT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35408" y="3713246"/>
            <a:ext cx="787315" cy="597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CGHNT+Helvetica" panose="020B0604020202020204"/>
                <a:cs typeface="FCGHNT+Helvetica" panose="020B0604020202020204"/>
              </a:rPr>
              <a:t>date</a:t>
            </a:r>
            <a:endParaRPr sz="1800">
              <a:solidFill>
                <a:srgbClr val="000000"/>
              </a:solidFill>
              <a:latin typeface="FCGHNT+Helvetica" panose="020B0604020202020204"/>
              <a:cs typeface="FCGHNT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88896" y="3929588"/>
            <a:ext cx="1383984" cy="598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CGHNT+Helvetica" panose="020B0604020202020204"/>
                <a:cs typeface="FCGHNT+Helvetica" panose="020B0604020202020204"/>
              </a:rPr>
              <a:t>Document</a:t>
            </a:r>
            <a:endParaRPr sz="1800">
              <a:solidFill>
                <a:srgbClr val="000000"/>
              </a:solidFill>
              <a:latin typeface="FCGHNT+Helvetica" panose="020B0604020202020204"/>
              <a:cs typeface="FCGHNT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7453" y="3929588"/>
            <a:ext cx="1180652" cy="598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CGHNT+Helvetica" panose="020B0604020202020204"/>
                <a:cs typeface="FCGHNT+Helvetica" panose="020B0604020202020204"/>
              </a:rPr>
              <a:t>Member</a:t>
            </a:r>
            <a:endParaRPr sz="1800">
              <a:solidFill>
                <a:srgbClr val="000000"/>
              </a:solidFill>
              <a:latin typeface="FCGHNT+Helvetica" panose="020B0604020202020204"/>
              <a:cs typeface="FCGHNT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77741" y="4043799"/>
            <a:ext cx="723951" cy="598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CGHNT+Helvetica" panose="020B0604020202020204"/>
                <a:cs typeface="FCGHNT+Helvetica" panose="020B0604020202020204"/>
              </a:rPr>
              <a:t>0..1</a:t>
            </a:r>
            <a:endParaRPr sz="1800">
              <a:solidFill>
                <a:srgbClr val="000000"/>
              </a:solidFill>
              <a:latin typeface="FCGHNT+Helvetica" panose="020B0604020202020204"/>
              <a:cs typeface="FCGHNT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52831" y="4112839"/>
            <a:ext cx="723805" cy="986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CGHNT+Helvetica" panose="020B0604020202020204"/>
                <a:cs typeface="FCGHNT+Helvetica" panose="020B0604020202020204"/>
              </a:rPr>
              <a:t>0..1</a:t>
            </a:r>
            <a:endParaRPr sz="1800">
              <a:solidFill>
                <a:srgbClr val="000000"/>
              </a:solidFill>
              <a:latin typeface="FCGHNT+Helvetica" panose="020B0604020202020204"/>
              <a:cs typeface="FCGHNT+Helvetica" panose="020B0604020202020204"/>
            </a:endParaRPr>
          </a:p>
          <a:p>
            <a:pPr marL="172720" marR="0">
              <a:lnSpc>
                <a:spcPts val="2010"/>
              </a:lnSpc>
              <a:spcBef>
                <a:spcPts val="1095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CGHNT+Helvetica" panose="020B0604020202020204"/>
                <a:cs typeface="FCGHNT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FCGHNT+Helvetica" panose="020B0604020202020204"/>
              <a:cs typeface="FCGHNT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40328" y="4477809"/>
            <a:ext cx="1008119" cy="1112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6845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CGHNT+Helvetica" panose="020B0604020202020204"/>
                <a:cs typeface="FCGHNT+Helvetica" panose="020B0604020202020204"/>
              </a:rPr>
              <a:t>Loan</a:t>
            </a:r>
            <a:endParaRPr sz="1800">
              <a:solidFill>
                <a:srgbClr val="000000"/>
              </a:solidFill>
              <a:latin typeface="FCGHNT+Helvetica" panose="020B0604020202020204"/>
              <a:cs typeface="FCGHNT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2085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CGHNT+Helvetica" panose="020B0604020202020204"/>
                <a:cs typeface="FCGHNT+Helvetica" panose="020B0604020202020204"/>
              </a:rPr>
              <a:t>date</a:t>
            </a:r>
            <a:endParaRPr sz="1800">
              <a:solidFill>
                <a:srgbClr val="000000"/>
              </a:solidFill>
              <a:latin typeface="FCGHNT+Helvetica" panose="020B0604020202020204"/>
              <a:cs typeface="FCGHNT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48984" y="5094702"/>
            <a:ext cx="1383584" cy="597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FCGHNT+Helvetica" panose="020B0604020202020204"/>
                <a:cs typeface="FCGHNT+Helvetica" panose="020B0604020202020204"/>
              </a:rPr>
              <a:t>Document</a:t>
            </a:r>
            <a:endParaRPr sz="1800">
              <a:solidFill>
                <a:srgbClr val="000000"/>
              </a:solidFill>
              <a:latin typeface="FCGHNT+Helvetica" panose="020B0604020202020204"/>
              <a:cs typeface="FCGHNT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61403" y="5651982"/>
            <a:ext cx="3547096" cy="1156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PKDVP+CMR10" panose="02000500000000000000"/>
                <a:cs typeface="HPKDVP+CMR10" panose="02000500000000000000"/>
              </a:rPr>
              <a:t>Several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PKDVP+CMR10" panose="02000500000000000000"/>
                <a:cs typeface="HPKDVP+CMR10" panose="02000500000000000000"/>
              </a:rPr>
              <a:t>loans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HPKDVP+CMR10" panose="02000500000000000000"/>
                <a:cs typeface="HPKDVP+CMR10" panose="02000500000000000000"/>
              </a:rPr>
              <a:t>may</a:t>
            </a:r>
            <a:r>
              <a:rPr sz="2050" spc="2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PKDVP+CMR10" panose="02000500000000000000"/>
                <a:cs typeface="HPKDVP+CMR10" panose="02000500000000000000"/>
              </a:rPr>
              <a:t>co-exist!</a:t>
            </a:r>
            <a:endParaRPr sz="2050">
              <a:solidFill>
                <a:srgbClr val="000000"/>
              </a:solidFill>
              <a:latin typeface="HPKDVP+CMR10" panose="02000500000000000000"/>
              <a:cs typeface="HPKDVP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9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PKDVP+CMR10" panose="02000500000000000000"/>
                <a:cs typeface="HPKDVP+CMR10" panose="02000500000000000000"/>
              </a:rPr>
              <a:t>Not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PKDVP+CMR10" panose="02000500000000000000"/>
                <a:cs typeface="HPKDVP+CMR10" panose="02000500000000000000"/>
              </a:rPr>
              <a:t>what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HPKDVP+CMR10" panose="02000500000000000000"/>
                <a:cs typeface="HPKDVP+CMR10" panose="02000500000000000000"/>
              </a:rPr>
              <a:t>we</a:t>
            </a:r>
            <a:r>
              <a:rPr sz="2050" spc="2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PKDVP+CMR10" panose="02000500000000000000"/>
                <a:cs typeface="HPKDVP+CMR10" panose="02000500000000000000"/>
              </a:rPr>
              <a:t>intend</a:t>
            </a:r>
            <a:endParaRPr sz="2050">
              <a:solidFill>
                <a:srgbClr val="000000"/>
              </a:solidFill>
              <a:latin typeface="HPKDVP+CMR10" panose="02000500000000000000"/>
              <a:cs typeface="HPKDVP+CMR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RDQVL+CMR7" panose="02000500000000000000"/>
                <a:cs typeface="ERDQVL+CMR7" panose="02000500000000000000"/>
              </a:rPr>
              <a:t>107</a:t>
            </a:r>
            <a:endParaRPr sz="1450">
              <a:solidFill>
                <a:srgbClr val="000000"/>
              </a:solidFill>
              <a:latin typeface="ERDQVL+CMR7" panose="02000500000000000000"/>
              <a:cs typeface="ERDQVL+CMR7" panose="02000500000000000000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97505"/>
            <a:ext cx="3851878" cy="1253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35">
                <a:solidFill>
                  <a:srgbClr val="000000"/>
                </a:solidFill>
                <a:latin typeface="APKUKU+CMBX12~c" panose="02000500000000000000"/>
                <a:cs typeface="APKUKU+CMBX12~c" panose="02000500000000000000"/>
              </a:rPr>
              <a:t>Taxonomic</a:t>
            </a:r>
            <a:r>
              <a:rPr sz="2500" spc="3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APKUKU+CMBX12~c" panose="02000500000000000000"/>
                <a:cs typeface="APKUKU+CMBX12~c" panose="02000500000000000000"/>
              </a:rPr>
              <a:t>structures</a:t>
            </a:r>
            <a:endParaRPr sz="2500" spc="-12">
              <a:solidFill>
                <a:srgbClr val="000000"/>
              </a:solidFill>
              <a:latin typeface="APKUKU+CMBX12~c" panose="02000500000000000000"/>
              <a:cs typeface="APKUKU+CMBX12~c" panose="02000500000000000000"/>
            </a:endParaRPr>
          </a:p>
          <a:p>
            <a:pPr marL="121920" marR="0">
              <a:lnSpc>
                <a:spcPts val="261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AINCP+CMSY10~25" panose="02000500000000000000"/>
                <a:cs typeface="HAINCP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HAINCP+CMSY10~25" panose="02000500000000000000"/>
              <a:cs typeface="HAINCP+CMSY10~25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6709" y="1497557"/>
            <a:ext cx="395856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EEJID+CMR10" panose="02000500000000000000"/>
                <a:cs typeface="FEEJID+CMR10" panose="02000500000000000000"/>
              </a:rPr>
              <a:t>Use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EEJID+CMR10" panose="02000500000000000000"/>
                <a:cs typeface="FEEJID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FEEJID+CMR10" panose="02000500000000000000"/>
                <a:cs typeface="FEEJID+CMR10" panose="02000500000000000000"/>
              </a:rPr>
              <a:t>specialization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EEJID+CMR10" panose="02000500000000000000"/>
                <a:cs typeface="FEEJID+CMR10" panose="02000500000000000000"/>
              </a:rPr>
              <a:t>attribute.</a:t>
            </a:r>
            <a:endParaRPr sz="2050">
              <a:solidFill>
                <a:srgbClr val="000000"/>
              </a:solidFill>
              <a:latin typeface="FEEJID+CMR10" panose="02000500000000000000"/>
              <a:cs typeface="FEEJID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58817" y="2257959"/>
            <a:ext cx="1092013" cy="5980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NTTWLI+Helvetica" panose="020B0604020202020204"/>
                <a:cs typeface="NTTWLI+Helvetica" panose="020B0604020202020204"/>
              </a:rPr>
              <a:t>Vehicle</a:t>
            </a:r>
            <a:endParaRPr sz="1800">
              <a:solidFill>
                <a:srgbClr val="000000"/>
              </a:solidFill>
              <a:latin typeface="NTTWLI+Helvetica" panose="020B0604020202020204"/>
              <a:cs typeface="NTTWLI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71494" y="2771878"/>
            <a:ext cx="3299313" cy="5980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NTTWLI+Helvetica" panose="020B0604020202020204"/>
                <a:cs typeface="NTTWLI+Helvetica" panose="020B0604020202020204"/>
              </a:rPr>
              <a:t>medium: {ground, air, water}</a:t>
            </a:r>
            <a:endParaRPr sz="1800">
              <a:solidFill>
                <a:srgbClr val="000000"/>
              </a:solidFill>
              <a:latin typeface="NTTWLI+Helvetica" panose="020B0604020202020204"/>
              <a:cs typeface="NTTWLI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12690" y="3811106"/>
            <a:ext cx="584128" cy="5980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NTTWLI+Helvetica" panose="020B0604020202020204"/>
                <a:cs typeface="NTTWLI+Helvetica" panose="020B0604020202020204"/>
              </a:rPr>
              <a:t>dc</a:t>
            </a:r>
            <a:endParaRPr sz="1800">
              <a:solidFill>
                <a:srgbClr val="000000"/>
              </a:solidFill>
              <a:latin typeface="NTTWLI+Helvetica" panose="020B0604020202020204"/>
              <a:cs typeface="NTTWLI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79471" y="4542004"/>
            <a:ext cx="710932" cy="5980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NTTWLI+Helvetica" panose="020B0604020202020204"/>
                <a:cs typeface="NTTWLI+Helvetica" panose="020B0604020202020204"/>
              </a:rPr>
              <a:t>Car</a:t>
            </a:r>
            <a:endParaRPr sz="1800">
              <a:solidFill>
                <a:srgbClr val="000000"/>
              </a:solidFill>
              <a:latin typeface="NTTWLI+Helvetica" panose="020B0604020202020204"/>
              <a:cs typeface="NTTWLI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98365" y="4542004"/>
            <a:ext cx="812754" cy="5980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NTTWLI+Helvetica" panose="020B0604020202020204"/>
                <a:cs typeface="NTTWLI+Helvetica" panose="020B0604020202020204"/>
              </a:rPr>
              <a:t>Boat</a:t>
            </a:r>
            <a:endParaRPr sz="1800">
              <a:solidFill>
                <a:srgbClr val="000000"/>
              </a:solidFill>
              <a:latin typeface="NTTWLI+Helvetica" panose="020B0604020202020204"/>
              <a:cs typeface="NTTWLI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41440" y="4542004"/>
            <a:ext cx="1066251" cy="5980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NTTWLI+Helvetica" panose="020B0604020202020204"/>
                <a:cs typeface="NTTWLI+Helvetica" panose="020B0604020202020204"/>
              </a:rPr>
              <a:t>Aircraft</a:t>
            </a:r>
            <a:endParaRPr sz="1800">
              <a:solidFill>
                <a:srgbClr val="000000"/>
              </a:solidFill>
              <a:latin typeface="NTTWLI+Helvetica" panose="020B0604020202020204"/>
              <a:cs typeface="NTTWLI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04149" y="5055909"/>
            <a:ext cx="4638382" cy="5980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NTTWLI+Helvetica" panose="020B0604020202020204"/>
                <a:cs typeface="NTTWLI+Helvetica" panose="020B0604020202020204"/>
              </a:rPr>
              <a:t>{medium = ground}</a:t>
            </a:r>
            <a:r>
              <a:rPr sz="1800" spc="1970">
                <a:solidFill>
                  <a:srgbClr val="000000"/>
                </a:solidFill>
                <a:latin typeface="NTTWLI+Helvetica" panose="020B0604020202020204"/>
                <a:cs typeface="NTTWLI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NTTWLI+Helvetica" panose="020B0604020202020204"/>
                <a:cs typeface="NTTWLI+Helvetica" panose="020B0604020202020204"/>
              </a:rPr>
              <a:t>{medium = water}</a:t>
            </a:r>
            <a:endParaRPr sz="1800">
              <a:solidFill>
                <a:srgbClr val="000000"/>
              </a:solidFill>
              <a:latin typeface="NTTWLI+Helvetica" panose="020B0604020202020204"/>
              <a:cs typeface="NTTWLI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26543" y="5055909"/>
            <a:ext cx="1821806" cy="5980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NTTWLI+Helvetica" panose="020B0604020202020204"/>
                <a:cs typeface="NTTWLI+Helvetica" panose="020B0604020202020204"/>
              </a:rPr>
              <a:t>{medium = air}</a:t>
            </a:r>
            <a:endParaRPr sz="1800">
              <a:solidFill>
                <a:srgbClr val="000000"/>
              </a:solidFill>
              <a:latin typeface="NTTWLI+Helvetica" panose="020B0604020202020204"/>
              <a:cs typeface="NTTWLI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4268" y="5959829"/>
            <a:ext cx="301361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8">
                <a:solidFill>
                  <a:srgbClr val="000000"/>
                </a:solidFill>
                <a:latin typeface="FEEJID+CMR10" panose="02000500000000000000"/>
                <a:cs typeface="FEEJID+CMR10" panose="02000500000000000000"/>
              </a:rPr>
              <a:t>Any</a:t>
            </a:r>
            <a:r>
              <a:rPr sz="2050" spc="2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EEJID+CMR10" panose="02000500000000000000"/>
                <a:cs typeface="FEEJID+CMR10" panose="02000500000000000000"/>
              </a:rPr>
              <a:t>subtypes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EEJID+CMR10" panose="02000500000000000000"/>
                <a:cs typeface="FEEJID+CMR10" panose="02000500000000000000"/>
              </a:rPr>
              <a:t>missing?</a:t>
            </a:r>
            <a:endParaRPr sz="2050">
              <a:solidFill>
                <a:srgbClr val="000000"/>
              </a:solidFill>
              <a:latin typeface="FEEJID+CMR10" panose="02000500000000000000"/>
              <a:cs typeface="FEEJID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4266" y="6444463"/>
            <a:ext cx="369751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9">
                <a:solidFill>
                  <a:srgbClr val="000000"/>
                </a:solidFill>
                <a:latin typeface="FEEJID+CMR10" panose="02000500000000000000"/>
                <a:cs typeface="FEEJID+CMR10" panose="02000500000000000000"/>
              </a:rPr>
              <a:t>Do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FEEJID+CMR10" panose="02000500000000000000"/>
                <a:cs typeface="FEEJID+CMR10" panose="02000500000000000000"/>
              </a:rPr>
              <a:t>we</a:t>
            </a:r>
            <a:r>
              <a:rPr sz="2050" spc="2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FEEJID+CMR10" panose="02000500000000000000"/>
                <a:cs typeface="FEEJID+CMR10" panose="02000500000000000000"/>
              </a:rPr>
              <a:t>need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EEJID+CMR10" panose="02000500000000000000"/>
                <a:cs typeface="FEEJID+CMR10" panose="02000500000000000000"/>
              </a:rPr>
              <a:t>these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EEJID+CMR10" panose="02000500000000000000"/>
                <a:cs typeface="FEEJID+CMR10" panose="02000500000000000000"/>
              </a:rPr>
              <a:t>subtypes?</a:t>
            </a:r>
            <a:endParaRPr sz="2050" spc="11">
              <a:solidFill>
                <a:srgbClr val="000000"/>
              </a:solidFill>
              <a:latin typeface="FEEJID+CMR10" panose="02000500000000000000"/>
              <a:cs typeface="FEEJID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DLQNLP+CMR7" panose="02000500000000000000"/>
                <a:cs typeface="DLQNLP+CMR7" panose="02000500000000000000"/>
              </a:rPr>
              <a:t>108</a:t>
            </a:r>
            <a:endParaRPr sz="1450">
              <a:solidFill>
                <a:srgbClr val="000000"/>
              </a:solidFill>
              <a:latin typeface="DLQNLP+CMR7" panose="02000500000000000000"/>
              <a:cs typeface="DLQNLP+CMR7" panose="02000500000000000000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69133"/>
            <a:ext cx="6424856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KQTTSU+CMBX12~c" panose="02000500000000000000"/>
                <a:cs typeface="KQTTSU+CMBX12~c" panose="02000500000000000000"/>
              </a:rPr>
              <a:t>Static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4">
                <a:solidFill>
                  <a:srgbClr val="000000"/>
                </a:solidFill>
                <a:latin typeface="KQTTSU+CMBX12~c" panose="02000500000000000000"/>
                <a:cs typeface="KQTTSU+CMBX12~c" panose="02000500000000000000"/>
              </a:rPr>
              <a:t>versus</a:t>
            </a:r>
            <a:r>
              <a:rPr sz="2500" spc="3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KQTTSU+CMBX12~c" panose="02000500000000000000"/>
                <a:cs typeface="KQTTSU+CMBX12~c" panose="02000500000000000000"/>
              </a:rPr>
              <a:t>dynamic</a:t>
            </a:r>
            <a:r>
              <a:rPr sz="250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KQTTSU+CMBX12~c" panose="02000500000000000000"/>
                <a:cs typeface="KQTTSU+CMBX12~c" panose="02000500000000000000"/>
              </a:rPr>
              <a:t>specialization</a:t>
            </a:r>
            <a:endParaRPr sz="2500">
              <a:solidFill>
                <a:srgbClr val="000000"/>
              </a:solidFill>
              <a:latin typeface="KQTTSU+CMBX12~c" panose="02000500000000000000"/>
              <a:cs typeface="KQTTSU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70467" y="1747543"/>
            <a:ext cx="973589" cy="532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5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HAUUO+Helvetica" panose="020B0604020202020204"/>
                <a:cs typeface="AHAUUO+Helvetica" panose="020B0604020202020204"/>
              </a:rPr>
              <a:t>Vehicle</a:t>
            </a:r>
            <a:endParaRPr sz="1600">
              <a:solidFill>
                <a:srgbClr val="000000"/>
              </a:solidFill>
              <a:latin typeface="AHAUUO+Helvetica" panose="020B0604020202020204"/>
              <a:cs typeface="AHAUUO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02566" y="1747543"/>
            <a:ext cx="758127" cy="532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5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IVUWAU+Helvetica" panose="020B0604020202020204"/>
                <a:cs typeface="IVUWAU+Helvetica" panose="020B0604020202020204"/>
              </a:rPr>
              <a:t>Tank</a:t>
            </a:r>
            <a:endParaRPr sz="1600">
              <a:solidFill>
                <a:srgbClr val="000000"/>
              </a:solidFill>
              <a:latin typeface="IVUWAU+Helvetica" panose="020B0604020202020204"/>
              <a:cs typeface="IVUWAU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97123" y="2880396"/>
            <a:ext cx="520162" cy="532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5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HAUUO+Helvetica" panose="020B0604020202020204"/>
                <a:cs typeface="AHAUUO+Helvetica" panose="020B0604020202020204"/>
              </a:rPr>
              <a:t>dc</a:t>
            </a:r>
            <a:endParaRPr sz="1600">
              <a:solidFill>
                <a:srgbClr val="000000"/>
              </a:solidFill>
              <a:latin typeface="AHAUUO+Helvetica" panose="020B0604020202020204"/>
              <a:cs typeface="AHAUUO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21552" y="2880396"/>
            <a:ext cx="520162" cy="532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5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IVUWAU+Helvetica" panose="020B0604020202020204"/>
                <a:cs typeface="IVUWAU+Helvetica" panose="020B0604020202020204"/>
              </a:rPr>
              <a:t>dc</a:t>
            </a:r>
            <a:endParaRPr sz="1600">
              <a:solidFill>
                <a:srgbClr val="000000"/>
              </a:solidFill>
              <a:latin typeface="IVUWAU+Helvetica" panose="020B0604020202020204"/>
              <a:cs typeface="IVUWAU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47531" y="3673384"/>
            <a:ext cx="633369" cy="532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5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HAUUO+Helvetica" panose="020B0604020202020204"/>
                <a:cs typeface="AHAUUO+Helvetica" panose="020B0604020202020204"/>
              </a:rPr>
              <a:t>Car</a:t>
            </a:r>
            <a:endParaRPr sz="1600">
              <a:solidFill>
                <a:srgbClr val="000000"/>
              </a:solidFill>
              <a:latin typeface="AHAUUO+Helvetica" panose="020B0604020202020204"/>
              <a:cs typeface="AHAUUO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37089" y="3673384"/>
            <a:ext cx="1052943" cy="532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5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AHAUUO+Helvetica" panose="020B0604020202020204"/>
                <a:cs typeface="AHAUUO+Helvetica" panose="020B0604020202020204"/>
              </a:rPr>
              <a:t>Airplane</a:t>
            </a:r>
            <a:endParaRPr sz="1600">
              <a:solidFill>
                <a:srgbClr val="000000"/>
              </a:solidFill>
              <a:latin typeface="AHAUUO+Helvetica" panose="020B0604020202020204"/>
              <a:cs typeface="AHAUUO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63832" y="3673384"/>
            <a:ext cx="1449564" cy="532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5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IVUWAU+Helvetica" panose="020B0604020202020204"/>
                <a:cs typeface="IVUWAU+Helvetica" panose="020B0604020202020204"/>
              </a:rPr>
              <a:t>Heating tank</a:t>
            </a:r>
            <a:endParaRPr sz="1600">
              <a:solidFill>
                <a:srgbClr val="000000"/>
              </a:solidFill>
              <a:latin typeface="IVUWAU+Helvetica" panose="020B0604020202020204"/>
              <a:cs typeface="IVUWAU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57403" y="3673384"/>
            <a:ext cx="1460983" cy="532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5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IVUWAU+Helvetica" panose="020B0604020202020204"/>
                <a:cs typeface="IVUWAU+Helvetica" panose="020B0604020202020204"/>
              </a:rPr>
              <a:t>Storage tank</a:t>
            </a:r>
            <a:endParaRPr sz="1600">
              <a:solidFill>
                <a:srgbClr val="000000"/>
              </a:solidFill>
              <a:latin typeface="IVUWAU+Helvetica" panose="020B0604020202020204"/>
              <a:cs typeface="IVUWAU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4253" y="4187417"/>
            <a:ext cx="8691428" cy="1080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According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ERD,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if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you</a:t>
            </a:r>
            <a:r>
              <a:rPr sz="2050" spc="2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7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born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car,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you</a:t>
            </a:r>
            <a:r>
              <a:rPr sz="2050" spc="2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always</a:t>
            </a:r>
            <a:r>
              <a:rPr sz="2050" spc="2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a</a:t>
            </a:r>
            <a:endParaRPr sz="2050">
              <a:solidFill>
                <a:srgbClr val="000000"/>
              </a:solidFill>
              <a:latin typeface="MOEVJU+CMR10" panose="02000500000000000000"/>
              <a:cs typeface="MOEVJU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car.</a:t>
            </a:r>
            <a:r>
              <a:rPr sz="2050" spc="3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But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heating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tanks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3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become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storage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tanks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and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vice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versa.</a:t>
            </a:r>
            <a:endParaRPr sz="2050">
              <a:solidFill>
                <a:srgbClr val="000000"/>
              </a:solidFill>
              <a:latin typeface="MOEVJU+CMR10" panose="02000500000000000000"/>
              <a:cs typeface="MOEVJU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66176" y="4940892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VOFHP+CMSY10~25" panose="02000500000000000000"/>
                <a:cs typeface="RVOFHP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RVOFHP+CMSY10~25" panose="02000500000000000000"/>
              <a:cs typeface="RVOFHP+CMSY10~25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6697" y="5077437"/>
            <a:ext cx="762702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Creating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static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subtype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instance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creating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supertype</a:t>
            </a:r>
            <a:endParaRPr sz="2050" spc="18">
              <a:solidFill>
                <a:srgbClr val="000000"/>
              </a:solidFill>
              <a:latin typeface="MOEVJU+CMR10" panose="02000500000000000000"/>
              <a:cs typeface="MOEVJU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16695" y="5447770"/>
            <a:ext cx="139951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instance.</a:t>
            </a:r>
            <a:endParaRPr sz="2050" spc="10">
              <a:solidFill>
                <a:srgbClr val="000000"/>
              </a:solidFill>
              <a:latin typeface="MOEVJU+CMR10" panose="02000500000000000000"/>
              <a:cs typeface="MOEVJU+CMR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66174" y="5830912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VOFHP+CMSY10~25" panose="02000500000000000000"/>
                <a:cs typeface="RVOFHP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RVOFHP+CMSY10~25" panose="02000500000000000000"/>
              <a:cs typeface="RVOFHP+CMSY10~25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16695" y="5967455"/>
            <a:ext cx="827276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Creating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dynamic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subtype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instance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may</a:t>
            </a:r>
            <a:r>
              <a:rPr sz="2050" spc="2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1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involve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creating</a:t>
            </a:r>
            <a:endParaRPr sz="2050">
              <a:solidFill>
                <a:srgbClr val="000000"/>
              </a:solidFill>
              <a:latin typeface="MOEVJU+CMR10" panose="02000500000000000000"/>
              <a:cs typeface="MOEVJU+CMR10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16693" y="6337788"/>
            <a:ext cx="282948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supertype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OEVJU+CMR10" panose="02000500000000000000"/>
                <a:cs typeface="MOEVJU+CMR10" panose="02000500000000000000"/>
              </a:rPr>
              <a:t>instance.</a:t>
            </a:r>
            <a:endParaRPr sz="2050" spc="10">
              <a:solidFill>
                <a:srgbClr val="000000"/>
              </a:solidFill>
              <a:latin typeface="MOEVJU+CMR10" panose="02000500000000000000"/>
              <a:cs typeface="MOEVJU+CMR10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CRTWO+CMR7" panose="02000500000000000000"/>
                <a:cs typeface="WCRTWO+CMR7" panose="02000500000000000000"/>
              </a:rPr>
              <a:t>109</a:t>
            </a:r>
            <a:endParaRPr sz="1450">
              <a:solidFill>
                <a:srgbClr val="000000"/>
              </a:solidFill>
              <a:latin typeface="WCRTWO+CMR7" panose="02000500000000000000"/>
              <a:cs typeface="WCRTWO+CMR7" panose="02000500000000000000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068877"/>
            <a:ext cx="5582709" cy="1253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RQDIKN+CMBX12~c" panose="02000500000000000000"/>
                <a:cs typeface="RQDIKN+CMBX12~c" panose="02000500000000000000"/>
              </a:rPr>
              <a:t>Classiﬁcation</a:t>
            </a:r>
            <a:r>
              <a:rPr sz="250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RQDIKN+CMBX12~c" panose="02000500000000000000"/>
                <a:cs typeface="RQDIKN+CMBX12~c" panose="02000500000000000000"/>
              </a:rPr>
              <a:t>and</a:t>
            </a:r>
            <a:r>
              <a:rPr sz="2500" spc="2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7">
                <a:solidFill>
                  <a:srgbClr val="000000"/>
                </a:solidFill>
                <a:latin typeface="RQDIKN+CMBX12~c" panose="02000500000000000000"/>
                <a:cs typeface="RQDIKN+CMBX12~c" panose="02000500000000000000"/>
              </a:rPr>
              <a:t>identiﬁcation</a:t>
            </a:r>
            <a:endParaRPr sz="2500" spc="-17">
              <a:solidFill>
                <a:srgbClr val="000000"/>
              </a:solidFill>
              <a:latin typeface="RQDIKN+CMBX12~c" panose="02000500000000000000"/>
              <a:cs typeface="RQDIKN+CMBX12~c" panose="02000500000000000000"/>
            </a:endParaRPr>
          </a:p>
          <a:p>
            <a:pPr marL="121920" marR="0">
              <a:lnSpc>
                <a:spcPts val="261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NMIGE+CMSY10~25" panose="02000500000000000000"/>
                <a:cs typeface="VNMIGE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VNMIGE+CMSY10~25" panose="02000500000000000000"/>
              <a:cs typeface="VNMIGE+CMSY10~25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6709" y="2568930"/>
            <a:ext cx="829616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A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typ</a:t>
            </a:r>
            <a:r>
              <a:rPr sz="2050" spc="-4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e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deﬁnition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should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provide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recognition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criterion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an</a:t>
            </a:r>
            <a:endParaRPr sz="2050">
              <a:solidFill>
                <a:srgbClr val="000000"/>
              </a:solidFill>
              <a:latin typeface="ABUHEE+CMR10" panose="02000500000000000000"/>
              <a:cs typeface="ABUHEE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13" y="2940788"/>
            <a:ext cx="300943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identiﬁcation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criterion.</a:t>
            </a:r>
            <a:endParaRPr sz="2050">
              <a:solidFill>
                <a:srgbClr val="000000"/>
              </a:solidFill>
              <a:latin typeface="ABUHEE+CMR10" panose="02000500000000000000"/>
              <a:cs typeface="ABUHEE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2058" y="3385796"/>
            <a:ext cx="8205820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BLOBD+CMBX10" panose="02000500000000000000"/>
                <a:cs typeface="QBLOBD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recognition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criterion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9">
                <a:solidFill>
                  <a:srgbClr val="000000"/>
                </a:solidFill>
                <a:latin typeface="SUVRAW+CMSS10" panose="02000500000000000000"/>
                <a:cs typeface="SUVRAW+CMSS10" panose="02000500000000000000"/>
              </a:rPr>
              <a:t>Car</a:t>
            </a:r>
            <a:r>
              <a:rPr sz="2050" spc="2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gives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us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answer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this</a:t>
            </a:r>
            <a:endParaRPr sz="2050">
              <a:solidFill>
                <a:srgbClr val="000000"/>
              </a:solidFill>
              <a:latin typeface="ABUHEE+CMR10" panose="02000500000000000000"/>
              <a:cs typeface="ABUHEE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83982" y="3757654"/>
            <a:ext cx="321336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question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“Is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this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car?”</a:t>
            </a:r>
            <a:endParaRPr sz="2050">
              <a:solidFill>
                <a:srgbClr val="000000"/>
              </a:solidFill>
              <a:latin typeface="ABUHEE+CMR10" panose="02000500000000000000"/>
              <a:cs typeface="ABUHEE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2042" y="4202663"/>
            <a:ext cx="7401377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BLOBD+CMBX10" panose="02000500000000000000"/>
                <a:cs typeface="QBLOBD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identiﬁcation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criterion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gives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us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answer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ABUHEE+CMR10" panose="02000500000000000000"/>
              <a:cs typeface="ABUHEE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3971" y="4572996"/>
            <a:ext cx="588666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question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“How</a:t>
            </a:r>
            <a:r>
              <a:rPr sz="2050" spc="20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many</a:t>
            </a:r>
            <a:r>
              <a:rPr sz="2050" spc="2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cars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do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we</a:t>
            </a:r>
            <a:r>
              <a:rPr sz="2050" spc="2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here?”</a:t>
            </a:r>
            <a:endParaRPr sz="2050">
              <a:solidFill>
                <a:srgbClr val="000000"/>
              </a:solidFill>
              <a:latin typeface="ABUHEE+CMR10" panose="02000500000000000000"/>
              <a:cs typeface="ABUHEE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675" y="5018005"/>
            <a:ext cx="8122577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6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To</a:t>
            </a:r>
            <a:r>
              <a:rPr sz="2050" spc="3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ﬁnd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identiﬁcation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criterion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typ</a:t>
            </a:r>
            <a:r>
              <a:rPr sz="2050" spc="-4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e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UVRAW+CMSS10" panose="02000500000000000000"/>
                <a:cs typeface="SUVRAW+CMSS10" panose="02000500000000000000"/>
              </a:rPr>
              <a:t>C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,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often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useful</a:t>
            </a:r>
            <a:endParaRPr sz="2050" spc="11">
              <a:solidFill>
                <a:srgbClr val="000000"/>
              </a:solidFill>
              <a:latin typeface="ABUHEE+CMR10" panose="02000500000000000000"/>
              <a:cs typeface="ABUHEE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6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look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at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creation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event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an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instance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UVRAW+CMSS10" panose="02000500000000000000"/>
                <a:cs typeface="SUVRAW+CMSS10" panose="02000500000000000000"/>
              </a:rPr>
              <a:t>C</a:t>
            </a:r>
            <a:r>
              <a:rPr sz="2050">
                <a:solidFill>
                  <a:srgbClr val="000000"/>
                </a:solidFill>
                <a:latin typeface="ABUHEE+CMR10" panose="02000500000000000000"/>
                <a:cs typeface="ABUHEE+CMR10" panose="02000500000000000000"/>
              </a:rPr>
              <a:t>.</a:t>
            </a:r>
            <a:endParaRPr sz="2050">
              <a:solidFill>
                <a:srgbClr val="000000"/>
              </a:solidFill>
              <a:latin typeface="ABUHEE+CMR10" panose="02000500000000000000"/>
              <a:cs typeface="ABUHEE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NLFUCR+CMR7" panose="02000500000000000000"/>
                <a:cs typeface="NLFUCR+CMR7" panose="02000500000000000000"/>
              </a:rPr>
              <a:t>110</a:t>
            </a:r>
            <a:endParaRPr sz="1450">
              <a:solidFill>
                <a:srgbClr val="000000"/>
              </a:solidFill>
              <a:latin typeface="NLFUCR+CMR7" panose="02000500000000000000"/>
              <a:cs typeface="NLFUCR+CMR7" panose="02000500000000000000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116377"/>
            <a:ext cx="198932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TEIHRQ+CMBX12~c" panose="02000500000000000000"/>
                <a:cs typeface="TEIHRQ+CMBX12~c" panose="02000500000000000000"/>
              </a:rPr>
              <a:t>Questions</a:t>
            </a:r>
            <a:endParaRPr sz="2500" spc="-11">
              <a:solidFill>
                <a:srgbClr val="000000"/>
              </a:solidFill>
              <a:latin typeface="TEIHRQ+CMBX12~c" panose="02000500000000000000"/>
              <a:cs typeface="TEIHRQ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4" y="1582901"/>
            <a:ext cx="7862415" cy="1080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Give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recognition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identiﬁcation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criteria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following</a:t>
            </a:r>
            <a:endParaRPr sz="2050">
              <a:solidFill>
                <a:srgbClr val="000000"/>
              </a:solidFill>
              <a:latin typeface="LADPLL+CMR10" panose="02000500000000000000"/>
              <a:cs typeface="LADPLL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concepts:</a:t>
            </a:r>
            <a:endParaRPr sz="2050" spc="11">
              <a:solidFill>
                <a:srgbClr val="000000"/>
              </a:solidFill>
              <a:latin typeface="LADPLL+CMR10" panose="02000500000000000000"/>
              <a:cs typeface="LADPLL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70" y="2472919"/>
            <a:ext cx="2471796" cy="2969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NQWDL+CMSY10~25" panose="02000500000000000000"/>
                <a:cs typeface="LNQWD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Person</a:t>
            </a:r>
            <a:endParaRPr sz="2050">
              <a:solidFill>
                <a:srgbClr val="000000"/>
              </a:solidFill>
              <a:latin typeface="LADPLL+CMR10" panose="02000500000000000000"/>
              <a:cs typeface="LADPLL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NQWDL+CMSY10~25" panose="02000500000000000000"/>
                <a:cs typeface="LNQWD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Company</a:t>
            </a:r>
            <a:endParaRPr sz="2050">
              <a:solidFill>
                <a:srgbClr val="000000"/>
              </a:solidFill>
              <a:latin typeface="LADPLL+CMR10" panose="02000500000000000000"/>
              <a:cs typeface="LADPLL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NQWDL+CMSY10~25" panose="02000500000000000000"/>
                <a:cs typeface="LNQWD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Passenger</a:t>
            </a:r>
            <a:endParaRPr sz="2050">
              <a:solidFill>
                <a:srgbClr val="000000"/>
              </a:solidFill>
              <a:latin typeface="LADPLL+CMR10" panose="02000500000000000000"/>
              <a:cs typeface="LADPLL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NQWDL+CMSY10~25" panose="02000500000000000000"/>
                <a:cs typeface="LNQWD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Elevator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button</a:t>
            </a:r>
            <a:endParaRPr sz="2050" spc="10">
              <a:solidFill>
                <a:srgbClr val="000000"/>
              </a:solidFill>
              <a:latin typeface="LADPLL+CMR10" panose="02000500000000000000"/>
              <a:cs typeface="LADPLL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NQWDL+CMSY10~25" panose="02000500000000000000"/>
                <a:cs typeface="LNQWD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5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Your</a:t>
            </a:r>
            <a:r>
              <a:rPr sz="20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PC</a:t>
            </a:r>
            <a:endParaRPr sz="2050">
              <a:solidFill>
                <a:srgbClr val="000000"/>
              </a:solidFill>
              <a:latin typeface="LADPLL+CMR10" panose="02000500000000000000"/>
              <a:cs typeface="LADPLL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70" y="5065249"/>
            <a:ext cx="408169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NQWDL+CMSY10~25" panose="02000500000000000000"/>
                <a:cs typeface="LNQWD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chair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you</a:t>
            </a:r>
            <a:r>
              <a:rPr sz="2050" spc="2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sitting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on.</a:t>
            </a:r>
            <a:endParaRPr sz="2050" spc="10">
              <a:solidFill>
                <a:srgbClr val="000000"/>
              </a:solidFill>
              <a:latin typeface="LADPLL+CMR10" panose="02000500000000000000"/>
              <a:cs typeface="LADPLL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4234" y="5583410"/>
            <a:ext cx="8930535" cy="145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If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an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instance</a:t>
            </a:r>
            <a:r>
              <a:rPr sz="2050" spc="1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of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SQRSH+CMSS10" panose="02000500000000000000"/>
                <a:cs typeface="NSQRSH+CMSS10" panose="02000500000000000000"/>
              </a:rPr>
              <a:t>C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is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in</a:t>
            </a:r>
            <a:r>
              <a:rPr sz="20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the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subject</a:t>
            </a:r>
            <a:r>
              <a:rPr sz="2050" spc="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domain,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then</a:t>
            </a:r>
            <a:r>
              <a:rPr sz="2050" spc="12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the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SuD</a:t>
            </a:r>
            <a:r>
              <a:rPr sz="2050" spc="1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is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able</a:t>
            </a:r>
            <a:r>
              <a:rPr sz="2050" spc="1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to</a:t>
            </a:r>
            <a:endParaRPr sz="2050">
              <a:solidFill>
                <a:srgbClr val="000000"/>
              </a:solidFill>
              <a:latin typeface="LADPLL+CMR10" panose="02000500000000000000"/>
              <a:cs typeface="LADPLL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talk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about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SQRSH+CMSS10" panose="02000500000000000000"/>
                <a:cs typeface="NSQRSH+CMSS10" panose="02000500000000000000"/>
              </a:rPr>
              <a:t>C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,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and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so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SuD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should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able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recognize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and</a:t>
            </a:r>
            <a:endParaRPr sz="2050" spc="10">
              <a:solidFill>
                <a:srgbClr val="000000"/>
              </a:solidFill>
              <a:latin typeface="LADPLL+CMR10" panose="02000500000000000000"/>
              <a:cs typeface="LADPLL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identify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SQRSH+CMSS10" panose="02000500000000000000"/>
                <a:cs typeface="NSQRSH+CMSS10" panose="02000500000000000000"/>
              </a:rPr>
              <a:t>C</a:t>
            </a:r>
            <a:r>
              <a:rPr sz="2050">
                <a:solidFill>
                  <a:srgbClr val="000000"/>
                </a:solidFill>
                <a:latin typeface="LADPLL+CMR10" panose="02000500000000000000"/>
                <a:cs typeface="LADPLL+CMR10" panose="02000500000000000000"/>
              </a:rPr>
              <a:t>’s!</a:t>
            </a:r>
            <a:endParaRPr sz="2050">
              <a:solidFill>
                <a:srgbClr val="000000"/>
              </a:solidFill>
              <a:latin typeface="LADPLL+CMR10" panose="02000500000000000000"/>
              <a:cs typeface="LADPLL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LRDUGO+CMR7" panose="02000500000000000000"/>
                <a:cs typeface="LRDUGO+CMR7" panose="02000500000000000000"/>
              </a:rPr>
              <a:t>111</a:t>
            </a:r>
            <a:endParaRPr sz="1450">
              <a:solidFill>
                <a:srgbClr val="000000"/>
              </a:solidFill>
              <a:latin typeface="LRDUGO+CMR7" panose="02000500000000000000"/>
              <a:cs typeface="LRDUGO+CMR7" panose="02000500000000000000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614725"/>
            <a:ext cx="3828185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DHLDJM+CMBX12~c" panose="02000500000000000000"/>
                <a:cs typeface="DHLDJM+CMBX12~c" panose="02000500000000000000"/>
              </a:rPr>
              <a:t>Subtypes</a:t>
            </a:r>
            <a:r>
              <a:rPr sz="2500" spc="3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4">
                <a:solidFill>
                  <a:srgbClr val="000000"/>
                </a:solidFill>
                <a:latin typeface="DHLDJM+CMBX12~c" panose="02000500000000000000"/>
                <a:cs typeface="DHLDJM+CMBX12~c" panose="02000500000000000000"/>
              </a:rPr>
              <a:t>versus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DHLDJM+CMBX12~c" panose="02000500000000000000"/>
                <a:cs typeface="DHLDJM+CMBX12~c" panose="02000500000000000000"/>
              </a:rPr>
              <a:t>roles</a:t>
            </a:r>
            <a:endParaRPr sz="2500">
              <a:solidFill>
                <a:srgbClr val="000000"/>
              </a:solidFill>
              <a:latin typeface="DHLDJM+CMBX12~c" panose="02000500000000000000"/>
              <a:cs typeface="DHLDJM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2" y="2081249"/>
            <a:ext cx="8932245" cy="1082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BVPRF+CMR10" panose="02000500000000000000"/>
                <a:cs typeface="TBVPRF+CMR10" panose="02000500000000000000"/>
              </a:rPr>
              <a:t>If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BVPRF+CMR10" panose="02000500000000000000"/>
                <a:cs typeface="TBVPRF+CMR10" panose="02000500000000000000"/>
              </a:rPr>
              <a:t>an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TBVPRF+CMR10" panose="02000500000000000000"/>
                <a:cs typeface="TBVPRF+CMR10" panose="02000500000000000000"/>
              </a:rPr>
              <a:t>entity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BVPRF+CMR10" panose="02000500000000000000"/>
                <a:cs typeface="TBVPRF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TBVPRF+CMR10" panose="02000500000000000000"/>
                <a:cs typeface="TBVPRF+CMR10" panose="02000500000000000000"/>
              </a:rPr>
              <a:t>play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BVPRF+CMR10" panose="02000500000000000000"/>
                <a:cs typeface="TBVPRF+CMR10" panose="02000500000000000000"/>
              </a:rPr>
              <a:t>several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BVPRF+CMR10" panose="02000500000000000000"/>
                <a:cs typeface="TBVPRF+CMR10" panose="02000500000000000000"/>
              </a:rPr>
              <a:t>roles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BVPRF+CMR10" panose="02000500000000000000"/>
                <a:cs typeface="TBVPRF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TBVPRF+CMR10" panose="02000500000000000000"/>
                <a:cs typeface="TBVPRF+CMR10" panose="02000500000000000000"/>
              </a:rPr>
              <a:t>the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BVPRF+CMR10" panose="02000500000000000000"/>
                <a:cs typeface="TBVPRF+CMR10" panose="02000500000000000000"/>
              </a:rPr>
              <a:t>same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TBVPRF+CMR10" panose="02000500000000000000"/>
                <a:cs typeface="TBVPRF+CMR10" panose="02000500000000000000"/>
              </a:rPr>
              <a:t>type,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TBVPRF+CMR10" panose="02000500000000000000"/>
                <a:cs typeface="TBVPRF+CMR10" panose="02000500000000000000"/>
              </a:rPr>
              <a:t>we</a:t>
            </a:r>
            <a:r>
              <a:rPr sz="2050" spc="2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BVPRF+CMR10" panose="02000500000000000000"/>
                <a:cs typeface="TBVPRF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BVPRF+CMR10" panose="02000500000000000000"/>
                <a:cs typeface="TBVPRF+CMR10" panose="02000500000000000000"/>
              </a:rPr>
              <a:t>turn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TBVPRF+CMR10" panose="02000500000000000000"/>
                <a:cs typeface="TBVPRF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TBVPRF+CMR10" panose="02000500000000000000"/>
              <a:cs typeface="TBVPRF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BVPRF+CMR10" panose="02000500000000000000"/>
                <a:cs typeface="TBVPRF+CMR10" panose="02000500000000000000"/>
              </a:rPr>
              <a:t>role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TBVPRF+CMR10" panose="02000500000000000000"/>
                <a:cs typeface="TBVPRF+CMR10" panose="02000500000000000000"/>
              </a:rPr>
              <a:t>into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BVPRF+CMR10" panose="02000500000000000000"/>
                <a:cs typeface="TBVPRF+CMR10" panose="02000500000000000000"/>
              </a:rPr>
              <a:t>an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TBVPRF+CMR10" panose="02000500000000000000"/>
                <a:cs typeface="TBVPRF+CMR10" panose="02000500000000000000"/>
              </a:rPr>
              <a:t>entity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TBVPRF+CMR10" panose="02000500000000000000"/>
                <a:cs typeface="TBVPRF+CMR10" panose="02000500000000000000"/>
              </a:rPr>
              <a:t>type.</a:t>
            </a:r>
            <a:endParaRPr sz="2050" spc="11">
              <a:solidFill>
                <a:srgbClr val="000000"/>
              </a:solidFill>
              <a:latin typeface="TBVPRF+CMR10" panose="02000500000000000000"/>
              <a:cs typeface="TBVPRF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47841" y="3278717"/>
            <a:ext cx="1066646" cy="598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ROANJ+Helvetica" panose="020B0604020202020204"/>
                <a:cs typeface="QROANJ+Helvetica" panose="020B0604020202020204"/>
              </a:rPr>
              <a:t>Person</a:t>
            </a:r>
            <a:endParaRPr sz="1800">
              <a:solidFill>
                <a:srgbClr val="000000"/>
              </a:solidFill>
              <a:latin typeface="QROANJ+Helvetica" panose="020B0604020202020204"/>
              <a:cs typeface="QROANJ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3567" y="3461445"/>
            <a:ext cx="4073496" cy="712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2065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ROANJ+Helvetica" panose="020B0604020202020204"/>
                <a:cs typeface="QROANJ+Helvetica" panose="020B0604020202020204"/>
              </a:rPr>
              <a:t>employee</a:t>
            </a:r>
            <a:endParaRPr sz="1800">
              <a:solidFill>
                <a:srgbClr val="000000"/>
              </a:solidFill>
              <a:latin typeface="QROANJ+Helvetica" panose="020B0604020202020204"/>
              <a:cs typeface="QROANJ+Helvetica" panose="020B0604020202020204"/>
            </a:endParaRPr>
          </a:p>
          <a:p>
            <a:pPr marL="0" marR="0">
              <a:lnSpc>
                <a:spcPts val="9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ROANJ+Helvetica" panose="020B0604020202020204"/>
                <a:cs typeface="QROANJ+Helvetica" panose="020B0604020202020204"/>
              </a:rPr>
              <a:t>Company</a:t>
            </a:r>
            <a:endParaRPr sz="1800">
              <a:solidFill>
                <a:srgbClr val="000000"/>
              </a:solidFill>
              <a:latin typeface="QROANJ+Helvetica" panose="020B0604020202020204"/>
              <a:cs typeface="QROANJ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84291" y="3963984"/>
            <a:ext cx="914290" cy="598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ROANJ+Helvetica" panose="020B0604020202020204"/>
                <a:cs typeface="QROANJ+Helvetica" panose="020B0604020202020204"/>
              </a:rPr>
              <a:t>name</a:t>
            </a:r>
            <a:endParaRPr sz="1800">
              <a:solidFill>
                <a:srgbClr val="000000"/>
              </a:solidFill>
              <a:latin typeface="QROANJ+Helvetica" panose="020B0604020202020204"/>
              <a:cs typeface="QROANJ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59515" y="5055236"/>
            <a:ext cx="1100865" cy="483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SIETBN+Helvetica" panose="020B0604020202020204"/>
                <a:cs typeface="SIETBN+Helvetica" panose="020B0604020202020204"/>
              </a:rPr>
              <a:t>Employee</a:t>
            </a:r>
            <a:endParaRPr sz="1450">
              <a:solidFill>
                <a:srgbClr val="000000"/>
              </a:solidFill>
              <a:latin typeface="SIETBN+Helvetica" panose="020B0604020202020204"/>
              <a:cs typeface="SIETBN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20367" y="5055236"/>
            <a:ext cx="1052165" cy="10397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8595" marR="0">
              <a:lnSpc>
                <a:spcPts val="163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SIETBN+Helvetica" panose="020B0604020202020204"/>
                <a:cs typeface="SIETBN+Helvetica" panose="020B0604020202020204"/>
              </a:rPr>
              <a:t>Person</a:t>
            </a:r>
            <a:endParaRPr sz="1450">
              <a:solidFill>
                <a:srgbClr val="000000"/>
              </a:solidFill>
              <a:latin typeface="SIETBN+Helvetica" panose="020B0604020202020204"/>
              <a:cs typeface="SIETBN+Helvetica" panose="020B0604020202020204"/>
            </a:endParaRPr>
          </a:p>
          <a:p>
            <a:pPr marL="0" marR="0">
              <a:lnSpc>
                <a:spcPts val="1630"/>
              </a:lnSpc>
              <a:spcBef>
                <a:spcPts val="280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SIETBN+Helvetica" panose="020B0604020202020204"/>
                <a:cs typeface="SIETBN+Helvetica" panose="020B0604020202020204"/>
              </a:rPr>
              <a:t>name</a:t>
            </a:r>
            <a:endParaRPr sz="1450">
              <a:solidFill>
                <a:srgbClr val="000000"/>
              </a:solidFill>
              <a:latin typeface="SIETBN+Helvetica" panose="020B0604020202020204"/>
              <a:cs typeface="SIETBN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41143" y="5185053"/>
            <a:ext cx="585453" cy="483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SIETBN+Helvetica" panose="020B0604020202020204"/>
                <a:cs typeface="SIETBN+Helvetica" panose="020B0604020202020204"/>
              </a:rPr>
              <a:t>role</a:t>
            </a:r>
            <a:endParaRPr sz="1450">
              <a:solidFill>
                <a:srgbClr val="000000"/>
              </a:solidFill>
              <a:latin typeface="SIETBN+Helvetica" panose="020B0604020202020204"/>
              <a:cs typeface="SIETBN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67175" y="5166508"/>
            <a:ext cx="781313" cy="872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SIETBN+Helvetica" panose="020B0604020202020204"/>
                <a:cs typeface="SIETBN+Helvetica" panose="020B0604020202020204"/>
              </a:rPr>
              <a:t>player</a:t>
            </a:r>
            <a:endParaRPr sz="1450">
              <a:solidFill>
                <a:srgbClr val="000000"/>
              </a:solidFill>
              <a:latin typeface="SIETBN+Helvetica" panose="020B0604020202020204"/>
              <a:cs typeface="SIETBN+Helvetica" panose="020B0604020202020204"/>
            </a:endParaRPr>
          </a:p>
          <a:p>
            <a:pPr marL="386080" marR="0">
              <a:lnSpc>
                <a:spcPts val="1630"/>
              </a:lnSpc>
              <a:spcBef>
                <a:spcPts val="1485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SIETBN+Helvetica" panose="020B0604020202020204"/>
                <a:cs typeface="SIETBN+Helvetica" panose="020B0604020202020204"/>
              </a:rPr>
              <a:t>1</a:t>
            </a:r>
            <a:endParaRPr sz="1450">
              <a:solidFill>
                <a:srgbClr val="000000"/>
              </a:solidFill>
              <a:latin typeface="SIETBN+Helvetica" panose="020B0604020202020204"/>
              <a:cs typeface="SIETBN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07845" y="5296320"/>
            <a:ext cx="1069897" cy="483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SIETBN+Helvetica" panose="020B0604020202020204"/>
                <a:cs typeface="SIETBN+Helvetica" panose="020B0604020202020204"/>
              </a:rPr>
              <a:t>Company</a:t>
            </a:r>
            <a:endParaRPr sz="1450">
              <a:solidFill>
                <a:srgbClr val="000000"/>
              </a:solidFill>
              <a:latin typeface="SIETBN+Helvetica" panose="020B0604020202020204"/>
              <a:cs typeface="SIETBN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43199" y="5555946"/>
            <a:ext cx="379361" cy="483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SIETBN+Helvetica" panose="020B0604020202020204"/>
                <a:cs typeface="SIETBN+Helvetica" panose="020B0604020202020204"/>
              </a:rPr>
              <a:t>1</a:t>
            </a:r>
            <a:endParaRPr sz="1450">
              <a:solidFill>
                <a:srgbClr val="000000"/>
              </a:solidFill>
              <a:latin typeface="SIETBN+Helvetica" panose="020B0604020202020204"/>
              <a:cs typeface="SIETBN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92878" y="5611585"/>
            <a:ext cx="1296554" cy="483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SIETBN+Helvetica" panose="020B0604020202020204"/>
                <a:cs typeface="SIETBN+Helvetica" panose="020B0604020202020204"/>
              </a:rPr>
              <a:t>employee nr</a:t>
            </a:r>
            <a:endParaRPr sz="1450">
              <a:solidFill>
                <a:srgbClr val="000000"/>
              </a:solidFill>
              <a:latin typeface="SIETBN+Helvetica" panose="020B0604020202020204"/>
              <a:cs typeface="SIETBN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GJJGJU+CMR7" panose="02000500000000000000"/>
                <a:cs typeface="GJJGJU+CMR7" panose="02000500000000000000"/>
              </a:rPr>
              <a:t>112</a:t>
            </a:r>
            <a:endParaRPr sz="1450">
              <a:solidFill>
                <a:srgbClr val="000000"/>
              </a:solidFill>
              <a:latin typeface="GJJGJU+CMR7" panose="02000500000000000000"/>
              <a:cs typeface="GJJGJU+CMR7" panose="02000500000000000000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352522"/>
            <a:ext cx="658198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BJPBSH+CMR10" panose="02000500000000000000"/>
                <a:cs typeface="BJPBSH+CMR10" panose="02000500000000000000"/>
              </a:rPr>
              <a:t>What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JPBSH+CMR10" panose="02000500000000000000"/>
                <a:cs typeface="BJPBSH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JPBSH+CMR10" panose="02000500000000000000"/>
                <a:cs typeface="BJPBSH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JPBSH+CMR10" panose="02000500000000000000"/>
                <a:cs typeface="BJPBSH+CMR10" panose="02000500000000000000"/>
              </a:rPr>
              <a:t>diﬀerence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JPBSH+CMR10" panose="02000500000000000000"/>
                <a:cs typeface="BJPBSH+CMR10" panose="02000500000000000000"/>
              </a:rPr>
              <a:t>between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JPBSH+CMR10" panose="02000500000000000000"/>
                <a:cs typeface="BJPBSH+CMR10" panose="02000500000000000000"/>
              </a:rPr>
              <a:t>these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BJPBSH+CMR10" panose="02000500000000000000"/>
                <a:cs typeface="BJPBSH+CMR10" panose="02000500000000000000"/>
              </a:rPr>
              <a:t>two</a:t>
            </a:r>
            <a:r>
              <a:rPr sz="2050" spc="2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BJPBSH+CMR10" panose="02000500000000000000"/>
                <a:cs typeface="BJPBSH+CMR10" panose="02000500000000000000"/>
              </a:rPr>
              <a:t>models?</a:t>
            </a:r>
            <a:endParaRPr sz="2050" spc="19">
              <a:solidFill>
                <a:srgbClr val="000000"/>
              </a:solidFill>
              <a:latin typeface="BJPBSH+CMR10" panose="02000500000000000000"/>
              <a:cs typeface="BJPBSH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6503" y="3285592"/>
            <a:ext cx="1320720" cy="5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CWMNFS+Helvetica" panose="020B0604020202020204"/>
                <a:cs typeface="CWMNFS+Helvetica" panose="020B0604020202020204"/>
              </a:rPr>
              <a:t>Company</a:t>
            </a:r>
            <a:endParaRPr sz="1800">
              <a:solidFill>
                <a:srgbClr val="000000"/>
              </a:solidFill>
              <a:latin typeface="CWMNFS+Helvetica" panose="020B0604020202020204"/>
              <a:cs typeface="CWMNFS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69117" y="3285592"/>
            <a:ext cx="1358874" cy="5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CWMNFS+Helvetica" panose="020B0604020202020204"/>
                <a:cs typeface="CWMNFS+Helvetica" panose="020B0604020202020204"/>
              </a:rPr>
              <a:t>Employee</a:t>
            </a:r>
            <a:endParaRPr sz="1800">
              <a:solidFill>
                <a:srgbClr val="000000"/>
              </a:solidFill>
              <a:latin typeface="CWMNFS+Helvetica" panose="020B0604020202020204"/>
              <a:cs typeface="CWMNFS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42568" y="3285592"/>
            <a:ext cx="1066811" cy="5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CWMNFS+Helvetica" panose="020B0604020202020204"/>
                <a:cs typeface="CWMNFS+Helvetica" panose="020B0604020202020204"/>
              </a:rPr>
              <a:t>Person</a:t>
            </a:r>
            <a:endParaRPr sz="1800">
              <a:solidFill>
                <a:srgbClr val="000000"/>
              </a:solidFill>
              <a:latin typeface="CWMNFS+Helvetica" panose="020B0604020202020204"/>
              <a:cs typeface="CWMNFS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22790" y="3422676"/>
            <a:ext cx="469966" cy="598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CWMNFS+Helvetica" panose="020B0604020202020204"/>
                <a:cs typeface="CWMNFS+Helvetica" panose="020B0604020202020204"/>
              </a:rPr>
              <a:t>1</a:t>
            </a:r>
            <a:endParaRPr sz="1800">
              <a:solidFill>
                <a:srgbClr val="000000"/>
              </a:solidFill>
              <a:latin typeface="CWMNFS+Helvetica" panose="020B0604020202020204"/>
              <a:cs typeface="CWMNFS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59515" y="4264280"/>
            <a:ext cx="1100865" cy="483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EVWLP+Helvetica" panose="020B0604020202020204"/>
                <a:cs typeface="UEVWLP+Helvetica" panose="020B0604020202020204"/>
              </a:rPr>
              <a:t>Employee</a:t>
            </a:r>
            <a:endParaRPr sz="1450">
              <a:solidFill>
                <a:srgbClr val="000000"/>
              </a:solidFill>
              <a:latin typeface="UEVWLP+Helvetica" panose="020B0604020202020204"/>
              <a:cs typeface="UEVWLP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20367" y="4264280"/>
            <a:ext cx="1052165" cy="10397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8595" marR="0">
              <a:lnSpc>
                <a:spcPts val="163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EVWLP+Helvetica" panose="020B0604020202020204"/>
                <a:cs typeface="UEVWLP+Helvetica" panose="020B0604020202020204"/>
              </a:rPr>
              <a:t>Person</a:t>
            </a:r>
            <a:endParaRPr sz="1450">
              <a:solidFill>
                <a:srgbClr val="000000"/>
              </a:solidFill>
              <a:latin typeface="UEVWLP+Helvetica" panose="020B0604020202020204"/>
              <a:cs typeface="UEVWLP+Helvetica" panose="020B0604020202020204"/>
            </a:endParaRPr>
          </a:p>
          <a:p>
            <a:pPr marL="0" marR="0">
              <a:lnSpc>
                <a:spcPts val="1630"/>
              </a:lnSpc>
              <a:spcBef>
                <a:spcPts val="280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EVWLP+Helvetica" panose="020B0604020202020204"/>
                <a:cs typeface="UEVWLP+Helvetica" panose="020B0604020202020204"/>
              </a:rPr>
              <a:t>name</a:t>
            </a:r>
            <a:endParaRPr sz="1450">
              <a:solidFill>
                <a:srgbClr val="000000"/>
              </a:solidFill>
              <a:latin typeface="UEVWLP+Helvetica" panose="020B0604020202020204"/>
              <a:cs typeface="UEVWLP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41143" y="4394097"/>
            <a:ext cx="585453" cy="483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EVWLP+Helvetica" panose="020B0604020202020204"/>
                <a:cs typeface="UEVWLP+Helvetica" panose="020B0604020202020204"/>
              </a:rPr>
              <a:t>role</a:t>
            </a:r>
            <a:endParaRPr sz="1450">
              <a:solidFill>
                <a:srgbClr val="000000"/>
              </a:solidFill>
              <a:latin typeface="UEVWLP+Helvetica" panose="020B0604020202020204"/>
              <a:cs typeface="UEVWLP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67175" y="4375552"/>
            <a:ext cx="781313" cy="872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EVWLP+Helvetica" panose="020B0604020202020204"/>
                <a:cs typeface="UEVWLP+Helvetica" panose="020B0604020202020204"/>
              </a:rPr>
              <a:t>player</a:t>
            </a:r>
            <a:endParaRPr sz="1450">
              <a:solidFill>
                <a:srgbClr val="000000"/>
              </a:solidFill>
              <a:latin typeface="UEVWLP+Helvetica" panose="020B0604020202020204"/>
              <a:cs typeface="UEVWLP+Helvetica" panose="020B0604020202020204"/>
            </a:endParaRPr>
          </a:p>
          <a:p>
            <a:pPr marL="386080" marR="0">
              <a:lnSpc>
                <a:spcPts val="1630"/>
              </a:lnSpc>
              <a:spcBef>
                <a:spcPts val="1485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EVWLP+Helvetica" panose="020B0604020202020204"/>
                <a:cs typeface="UEVWLP+Helvetica" panose="020B0604020202020204"/>
              </a:rPr>
              <a:t>1</a:t>
            </a:r>
            <a:endParaRPr sz="1450">
              <a:solidFill>
                <a:srgbClr val="000000"/>
              </a:solidFill>
              <a:latin typeface="UEVWLP+Helvetica" panose="020B0604020202020204"/>
              <a:cs typeface="UEVWLP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07845" y="4505364"/>
            <a:ext cx="1069897" cy="483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EVWLP+Helvetica" panose="020B0604020202020204"/>
                <a:cs typeface="UEVWLP+Helvetica" panose="020B0604020202020204"/>
              </a:rPr>
              <a:t>Company</a:t>
            </a:r>
            <a:endParaRPr sz="1450">
              <a:solidFill>
                <a:srgbClr val="000000"/>
              </a:solidFill>
              <a:latin typeface="UEVWLP+Helvetica" panose="020B0604020202020204"/>
              <a:cs typeface="UEVWLP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43199" y="4764990"/>
            <a:ext cx="379361" cy="483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EVWLP+Helvetica" panose="020B0604020202020204"/>
                <a:cs typeface="UEVWLP+Helvetica" panose="020B0604020202020204"/>
              </a:rPr>
              <a:t>1</a:t>
            </a:r>
            <a:endParaRPr sz="1450">
              <a:solidFill>
                <a:srgbClr val="000000"/>
              </a:solidFill>
              <a:latin typeface="UEVWLP+Helvetica" panose="020B0604020202020204"/>
              <a:cs typeface="UEVWLP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92878" y="4820629"/>
            <a:ext cx="1296554" cy="483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EVWLP+Helvetica" panose="020B0604020202020204"/>
                <a:cs typeface="UEVWLP+Helvetica" panose="020B0604020202020204"/>
              </a:rPr>
              <a:t>employee nr</a:t>
            </a:r>
            <a:endParaRPr sz="1450">
              <a:solidFill>
                <a:srgbClr val="000000"/>
              </a:solidFill>
              <a:latin typeface="UEVWLP+Helvetica" panose="020B0604020202020204"/>
              <a:cs typeface="UEVWLP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CPVBJQ+CMR7" panose="02000500000000000000"/>
                <a:cs typeface="CPVBJQ+CMR7" panose="02000500000000000000"/>
              </a:rPr>
              <a:t>113</a:t>
            </a:r>
            <a:endParaRPr sz="1450">
              <a:solidFill>
                <a:srgbClr val="000000"/>
              </a:solidFill>
              <a:latin typeface="CPVBJQ+CMR7" panose="02000500000000000000"/>
              <a:cs typeface="CPVBJQ+CMR7" panose="02000500000000000000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661969"/>
            <a:ext cx="4518487" cy="1253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31">
                <a:solidFill>
                  <a:srgbClr val="000000"/>
                </a:solidFill>
                <a:latin typeface="NMTUFA+CMBX12~c" panose="02000500000000000000"/>
                <a:cs typeface="NMTUFA+CMBX12~c" panose="02000500000000000000"/>
              </a:rPr>
              <a:t>Validation</a:t>
            </a:r>
            <a:r>
              <a:rPr sz="2500" spc="3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NMTUFA+CMBX12~c" panose="02000500000000000000"/>
                <a:cs typeface="NMTUFA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NMTUFA+CMBX12~c" panose="02000500000000000000"/>
                <a:cs typeface="NMTUFA+CMBX12~c" panose="02000500000000000000"/>
              </a:rPr>
              <a:t>an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6">
                <a:solidFill>
                  <a:srgbClr val="000000"/>
                </a:solidFill>
                <a:latin typeface="NMTUFA+CMBX12~c" panose="02000500000000000000"/>
                <a:cs typeface="NMTUFA+CMBX12~c" panose="02000500000000000000"/>
              </a:rPr>
              <a:t>ERD</a:t>
            </a:r>
            <a:r>
              <a:rPr sz="250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NMTUFA+CMBX12~c" panose="02000500000000000000"/>
                <a:cs typeface="NMTUFA+CMBX12~c" panose="02000500000000000000"/>
              </a:rPr>
              <a:t>(1)</a:t>
            </a:r>
            <a:endParaRPr sz="2500" spc="-14">
              <a:solidFill>
                <a:srgbClr val="000000"/>
              </a:solidFill>
              <a:latin typeface="NMTUFA+CMBX12~c" panose="02000500000000000000"/>
              <a:cs typeface="NMTUFA+CMBX12~c" panose="02000500000000000000"/>
            </a:endParaRPr>
          </a:p>
          <a:p>
            <a:pPr marL="121920" marR="0">
              <a:lnSpc>
                <a:spcPts val="261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FLVLW+CMSY10~25" panose="02000500000000000000"/>
                <a:cs typeface="DFLVLW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DFLVLW+CMSY10~25" panose="02000500000000000000"/>
              <a:cs typeface="DFLVLW+CMSY10~25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6709" y="2162022"/>
            <a:ext cx="574634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NGKLO+CMR10" panose="02000500000000000000"/>
                <a:cs typeface="CNGKLO+CMR10" panose="02000500000000000000"/>
              </a:rPr>
              <a:t>Check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CNGKLO+CMR10" panose="02000500000000000000"/>
                <a:cs typeface="CNGKLO+CMR10" panose="02000500000000000000"/>
              </a:rPr>
              <a:t>consistency</a:t>
            </a:r>
            <a:r>
              <a:rPr sz="2050" spc="1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NGKLO+CMR10" panose="02000500000000000000"/>
                <a:cs typeface="CNGKLO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NGKLO+CMR10" panose="02000500000000000000"/>
                <a:cs typeface="CNGKLO+CMR10" panose="02000500000000000000"/>
              </a:rPr>
              <a:t>cardinality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CNGKLO+CMR10" panose="02000500000000000000"/>
                <a:cs typeface="CNGKLO+CMR10" panose="02000500000000000000"/>
              </a:rPr>
              <a:t>properties.</a:t>
            </a:r>
            <a:endParaRPr sz="2050" spc="15">
              <a:solidFill>
                <a:srgbClr val="000000"/>
              </a:solidFill>
              <a:latin typeface="CNGKLO+CMR10" panose="02000500000000000000"/>
              <a:cs typeface="CNGKLO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02017" y="2997411"/>
            <a:ext cx="378650" cy="48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IPBKR+Helvetica" panose="020B0604020202020204"/>
                <a:cs typeface="EIPBKR+Helvetica" panose="020B0604020202020204"/>
              </a:rPr>
              <a:t>2</a:t>
            </a:r>
            <a:endParaRPr sz="1450">
              <a:solidFill>
                <a:srgbClr val="000000"/>
              </a:solidFill>
              <a:latin typeface="EIPBKR+Helvetica" panose="020B0604020202020204"/>
              <a:cs typeface="EIPBKR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70873" y="3052664"/>
            <a:ext cx="951836" cy="48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IPBKR+Helvetica" panose="020B0604020202020204"/>
                <a:cs typeface="EIPBKR+Helvetica" panose="020B0604020202020204"/>
              </a:rPr>
              <a:t>Elevator</a:t>
            </a:r>
            <a:endParaRPr sz="1450">
              <a:solidFill>
                <a:srgbClr val="000000"/>
              </a:solidFill>
              <a:latin typeface="EIPBKR+Helvetica" panose="020B0604020202020204"/>
              <a:cs typeface="EIPBKR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08999" y="3292082"/>
            <a:ext cx="675585" cy="48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IPBKR+Helvetica" panose="020B0604020202020204"/>
                <a:cs typeface="EIPBKR+Helvetica" panose="020B0604020202020204"/>
              </a:rPr>
              <a:t>cage</a:t>
            </a:r>
            <a:endParaRPr sz="1450">
              <a:solidFill>
                <a:srgbClr val="000000"/>
              </a:solidFill>
              <a:latin typeface="EIPBKR+Helvetica" panose="020B0604020202020204"/>
              <a:cs typeface="EIPBKR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11075" y="3328913"/>
            <a:ext cx="849411" cy="7213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IPBKR+Helvetica" panose="020B0604020202020204"/>
                <a:cs typeface="EIPBKR+Helvetica" panose="020B0604020202020204"/>
              </a:rPr>
              <a:t>current</a:t>
            </a:r>
            <a:endParaRPr sz="1450">
              <a:solidFill>
                <a:srgbClr val="000000"/>
              </a:solidFill>
              <a:latin typeface="EIPBKR+Helvetica" panose="020B0604020202020204"/>
              <a:cs typeface="EIPBKR+Helvetica" panose="020B0604020202020204"/>
            </a:endParaRPr>
          </a:p>
          <a:p>
            <a:pPr marL="107315" marR="0">
              <a:lnSpc>
                <a:spcPts val="1620"/>
              </a:lnSpc>
              <a:spcBef>
                <a:spcPts val="265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IPBKR+Helvetica" panose="020B0604020202020204"/>
                <a:cs typeface="EIPBKR+Helvetica" panose="020B0604020202020204"/>
              </a:rPr>
              <a:t>floor</a:t>
            </a:r>
            <a:endParaRPr sz="1450">
              <a:solidFill>
                <a:srgbClr val="000000"/>
              </a:solidFill>
              <a:latin typeface="EIPBKR+Helvetica" panose="020B0604020202020204"/>
              <a:cs typeface="EIPBKR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23018" y="3605164"/>
            <a:ext cx="378650" cy="48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IPBKR+Helvetica" panose="020B0604020202020204"/>
                <a:cs typeface="EIPBKR+Helvetica" panose="020B0604020202020204"/>
              </a:rPr>
              <a:t>2</a:t>
            </a:r>
            <a:endParaRPr sz="1450">
              <a:solidFill>
                <a:srgbClr val="000000"/>
              </a:solidFill>
              <a:latin typeface="EIPBKR+Helvetica" panose="020B0604020202020204"/>
              <a:cs typeface="EIPBKR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15272" y="3678837"/>
            <a:ext cx="378650" cy="48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IPBKR+Helvetica" panose="020B0604020202020204"/>
                <a:cs typeface="EIPBKR+Helvetica" panose="020B0604020202020204"/>
              </a:rPr>
              <a:t>1</a:t>
            </a:r>
            <a:endParaRPr sz="1450">
              <a:solidFill>
                <a:srgbClr val="000000"/>
              </a:solidFill>
              <a:latin typeface="EIPBKR+Helvetica" panose="020B0604020202020204"/>
              <a:cs typeface="EIPBKR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7524" y="3899833"/>
            <a:ext cx="378650" cy="48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IPBKR+Helvetica" panose="020B0604020202020204"/>
                <a:cs typeface="EIPBKR+Helvetica" panose="020B0604020202020204"/>
              </a:rPr>
              <a:t>1</a:t>
            </a:r>
            <a:endParaRPr sz="1450">
              <a:solidFill>
                <a:srgbClr val="000000"/>
              </a:solidFill>
              <a:latin typeface="EIPBKR+Helvetica" panose="020B0604020202020204"/>
              <a:cs typeface="EIPBKR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53469" y="4010333"/>
            <a:ext cx="695818" cy="48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IPBKR+Helvetica" panose="020B0604020202020204"/>
                <a:cs typeface="EIPBKR+Helvetica" panose="020B0604020202020204"/>
              </a:rPr>
              <a:t>Floor</a:t>
            </a:r>
            <a:endParaRPr sz="1450">
              <a:solidFill>
                <a:srgbClr val="000000"/>
              </a:solidFill>
              <a:latin typeface="EIPBKR+Helvetica" panose="020B0604020202020204"/>
              <a:cs typeface="EIPBKR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64073" y="4268174"/>
            <a:ext cx="481075" cy="48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IPBKR+Helvetica" panose="020B0604020202020204"/>
                <a:cs typeface="EIPBKR+Helvetica" panose="020B0604020202020204"/>
              </a:rPr>
              <a:t>10</a:t>
            </a:r>
            <a:endParaRPr sz="1450">
              <a:solidFill>
                <a:srgbClr val="000000"/>
              </a:solidFill>
              <a:latin typeface="EIPBKR+Helvetica" panose="020B0604020202020204"/>
              <a:cs typeface="EIPBKR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46443" y="4544430"/>
            <a:ext cx="378650" cy="48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IPBKR+Helvetica" panose="020B0604020202020204"/>
                <a:cs typeface="EIPBKR+Helvetica" panose="020B0604020202020204"/>
              </a:rPr>
              <a:t>1</a:t>
            </a:r>
            <a:endParaRPr sz="1450">
              <a:solidFill>
                <a:srgbClr val="000000"/>
              </a:solidFill>
              <a:latin typeface="EIPBKR+Helvetica" panose="020B0604020202020204"/>
              <a:cs typeface="EIPBKR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48026" y="4636506"/>
            <a:ext cx="1197603" cy="7213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IPBKR+Helvetica" panose="020B0604020202020204"/>
                <a:cs typeface="EIPBKR+Helvetica" panose="020B0604020202020204"/>
              </a:rPr>
              <a:t>Destination</a:t>
            </a:r>
            <a:endParaRPr sz="1450">
              <a:solidFill>
                <a:srgbClr val="000000"/>
              </a:solidFill>
              <a:latin typeface="EIPBKR+Helvetica" panose="020B0604020202020204"/>
              <a:cs typeface="EIPBKR+Helvetica" panose="020B0604020202020204"/>
            </a:endParaRPr>
          </a:p>
          <a:p>
            <a:pPr marL="204470" marR="0">
              <a:lnSpc>
                <a:spcPts val="1620"/>
              </a:lnSpc>
              <a:spcBef>
                <a:spcPts val="265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IPBKR+Helvetica" panose="020B0604020202020204"/>
                <a:cs typeface="EIPBKR+Helvetica" panose="020B0604020202020204"/>
              </a:rPr>
              <a:t>button</a:t>
            </a:r>
            <a:endParaRPr sz="1450">
              <a:solidFill>
                <a:srgbClr val="000000"/>
              </a:solidFill>
              <a:latin typeface="EIPBKR+Helvetica" panose="020B0604020202020204"/>
              <a:cs typeface="EIPBKR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33520" y="4691764"/>
            <a:ext cx="378650" cy="48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IPBKR+Helvetica" panose="020B0604020202020204"/>
                <a:cs typeface="EIPBKR+Helvetica" panose="020B0604020202020204"/>
              </a:rPr>
              <a:t>2</a:t>
            </a:r>
            <a:endParaRPr sz="1450">
              <a:solidFill>
                <a:srgbClr val="000000"/>
              </a:solidFill>
              <a:latin typeface="EIPBKR+Helvetica" panose="020B0604020202020204"/>
              <a:cs typeface="EIPBKR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16703" y="5476722"/>
            <a:ext cx="8164977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NGKLO+CMR10" panose="02000500000000000000"/>
                <a:cs typeface="CNGKLO+CMR10" panose="02000500000000000000"/>
              </a:rPr>
              <a:t>If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NGKLO+CMR10" panose="02000500000000000000"/>
                <a:cs typeface="CNGKLO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NGKLO+CMR10" panose="02000500000000000000"/>
                <a:cs typeface="CNGKLO+CMR10" panose="02000500000000000000"/>
              </a:rPr>
              <a:t>diagram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NGKLO+CMR10" panose="02000500000000000000"/>
                <a:cs typeface="CNGKLO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CNGKLO+CMR10" panose="02000500000000000000"/>
                <a:cs typeface="CNGKLO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NGKLO+CMR10" panose="02000500000000000000"/>
                <a:cs typeface="CNGKLO+CMR10" panose="02000500000000000000"/>
              </a:rPr>
              <a:t>consistent,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NGKLO+CMR10" panose="02000500000000000000"/>
                <a:cs typeface="CNGKLO+CMR10" panose="02000500000000000000"/>
              </a:rPr>
              <a:t>it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CNGKLO+CMR10" panose="02000500000000000000"/>
                <a:cs typeface="CNGKLO+CMR10" panose="02000500000000000000"/>
              </a:rPr>
              <a:t>cannot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NGKLO+CMR10" panose="02000500000000000000"/>
                <a:cs typeface="CNGKLO+CMR10" panose="02000500000000000000"/>
              </a:rPr>
              <a:t>represent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CNGKLO+CMR10" panose="02000500000000000000"/>
                <a:cs typeface="CNGKLO+CMR10" panose="02000500000000000000"/>
              </a:rPr>
              <a:t>any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CNGKLO+CMR10" panose="02000500000000000000"/>
                <a:cs typeface="CNGKLO+CMR10" panose="02000500000000000000"/>
              </a:rPr>
              <a:t>subject</a:t>
            </a:r>
            <a:endParaRPr sz="2050" spc="31">
              <a:solidFill>
                <a:srgbClr val="000000"/>
              </a:solidFill>
              <a:latin typeface="CNGKLO+CMR10" panose="02000500000000000000"/>
              <a:cs typeface="CNGKLO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NGKLO+CMR10" panose="02000500000000000000"/>
                <a:cs typeface="CNGKLO+CMR10" panose="02000500000000000000"/>
              </a:rPr>
              <a:t>domain.</a:t>
            </a:r>
            <a:endParaRPr sz="2050">
              <a:solidFill>
                <a:srgbClr val="000000"/>
              </a:solidFill>
              <a:latin typeface="CNGKLO+CMR10" panose="02000500000000000000"/>
              <a:cs typeface="CNGKLO+CMR10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NLNRJP+CMR7" panose="02000500000000000000"/>
                <a:cs typeface="NLNRJP+CMR7" panose="02000500000000000000"/>
              </a:rPr>
              <a:t>114</a:t>
            </a:r>
            <a:endParaRPr sz="1450">
              <a:solidFill>
                <a:srgbClr val="000000"/>
              </a:solidFill>
              <a:latin typeface="NLNRJP+CMR7" panose="02000500000000000000"/>
              <a:cs typeface="NLNRJP+CMR7" panose="02000500000000000000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616709" y="1003601"/>
            <a:ext cx="4518487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31">
                <a:solidFill>
                  <a:srgbClr val="000000"/>
                </a:solidFill>
                <a:latin typeface="ESDFAQ+CMBX12~c" panose="02000500000000000000"/>
                <a:cs typeface="ESDFAQ+CMBX12~c" panose="02000500000000000000"/>
              </a:rPr>
              <a:t>Validation</a:t>
            </a:r>
            <a:r>
              <a:rPr sz="2500" spc="3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ESDFAQ+CMBX12~c" panose="02000500000000000000"/>
                <a:cs typeface="ESDFAQ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ESDFAQ+CMBX12~c" panose="02000500000000000000"/>
                <a:cs typeface="ESDFAQ+CMBX12~c" panose="02000500000000000000"/>
              </a:rPr>
              <a:t>an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6">
                <a:solidFill>
                  <a:srgbClr val="000000"/>
                </a:solidFill>
                <a:latin typeface="ESDFAQ+CMBX12~c" panose="02000500000000000000"/>
                <a:cs typeface="ESDFAQ+CMBX12~c" panose="02000500000000000000"/>
              </a:rPr>
              <a:t>ERD</a:t>
            </a:r>
            <a:r>
              <a:rPr sz="250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ESDFAQ+CMBX12~c" panose="02000500000000000000"/>
                <a:cs typeface="ESDFAQ+CMBX12~c" panose="02000500000000000000"/>
              </a:rPr>
              <a:t>(2)</a:t>
            </a:r>
            <a:endParaRPr sz="2500" spc="-14">
              <a:solidFill>
                <a:srgbClr val="000000"/>
              </a:solidFill>
              <a:latin typeface="ESDFAQ+CMBX12~c" panose="02000500000000000000"/>
              <a:cs typeface="ESDFAQ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17033" y="1695856"/>
            <a:ext cx="1479342" cy="468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5"/>
              </a:lnSpc>
              <a:spcBef>
                <a:spcPct val="0"/>
              </a:spcBef>
              <a:spcAft>
                <a:spcPct val="0"/>
              </a:spcAft>
            </a:pPr>
            <a:r>
              <a:rPr sz="1400" spc="1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Railway</a:t>
            </a: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 station</a:t>
            </a:r>
            <a:endParaRPr sz="1400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6997" y="2056538"/>
            <a:ext cx="1283682" cy="468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to</a:t>
            </a:r>
            <a:r>
              <a:rPr sz="1400" spc="996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 </a:t>
            </a: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1</a:t>
            </a:r>
            <a:r>
              <a:rPr sz="1400" spc="1436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 </a:t>
            </a: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from</a:t>
            </a:r>
            <a:endParaRPr sz="1400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94184" y="2076577"/>
            <a:ext cx="366997" cy="468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1</a:t>
            </a:r>
            <a:endParaRPr sz="1400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46480" y="2296998"/>
            <a:ext cx="1830285" cy="468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5"/>
              </a:lnSpc>
              <a:spcBef>
                <a:spcPct val="0"/>
              </a:spcBef>
              <a:spcAft>
                <a:spcPct val="0"/>
              </a:spcAft>
            </a:pPr>
            <a:r>
              <a:rPr sz="1400" spc="1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Ticket</a:t>
            </a: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 </a:t>
            </a:r>
            <a:r>
              <a:rPr sz="1400" spc="11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usage</a:t>
            </a: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 </a:t>
            </a:r>
            <a:r>
              <a:rPr sz="1400" spc="11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stamp</a:t>
            </a:r>
            <a:endParaRPr sz="1400" spc="11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55198" y="2417221"/>
            <a:ext cx="757883" cy="7286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5"/>
              </a:lnSpc>
              <a:spcBef>
                <a:spcPct val="0"/>
              </a:spcBef>
              <a:spcAft>
                <a:spcPct val="0"/>
              </a:spcAft>
            </a:pPr>
            <a:r>
              <a:rPr sz="1400" spc="11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where</a:t>
            </a:r>
            <a:endParaRPr sz="1400" spc="11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  <a:p>
            <a:pPr marL="74930" marR="0">
              <a:lnSpc>
                <a:spcPts val="1585"/>
              </a:lnSpc>
              <a:spcBef>
                <a:spcPts val="415"/>
              </a:spcBef>
              <a:spcAft>
                <a:spcPct val="0"/>
              </a:spcAft>
            </a:pPr>
            <a:r>
              <a:rPr sz="1400" spc="11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used</a:t>
            </a:r>
            <a:endParaRPr sz="1400" spc="11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26628" y="2437257"/>
            <a:ext cx="1850304" cy="468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5"/>
              </a:lnSpc>
              <a:spcBef>
                <a:spcPct val="0"/>
              </a:spcBef>
              <a:spcAft>
                <a:spcPct val="0"/>
              </a:spcAft>
            </a:pPr>
            <a:r>
              <a:rPr sz="1400" spc="1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Ticket</a:t>
            </a: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 refund </a:t>
            </a:r>
            <a:r>
              <a:rPr sz="1400" spc="11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stamp</a:t>
            </a:r>
            <a:endParaRPr sz="1400" spc="11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75347" y="2457297"/>
            <a:ext cx="757883" cy="468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5"/>
              </a:lnSpc>
              <a:spcBef>
                <a:spcPct val="0"/>
              </a:spcBef>
              <a:spcAft>
                <a:spcPct val="0"/>
              </a:spcAft>
            </a:pPr>
            <a:r>
              <a:rPr sz="1400" spc="11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where</a:t>
            </a:r>
            <a:endParaRPr sz="1400" spc="11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15112" y="2717789"/>
            <a:ext cx="878345" cy="468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aborted</a:t>
            </a:r>
            <a:endParaRPr sz="1400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06895" y="2757868"/>
            <a:ext cx="607393" cy="468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time</a:t>
            </a:r>
            <a:endParaRPr sz="1400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56980" y="2898127"/>
            <a:ext cx="617696" cy="7286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time</a:t>
            </a:r>
            <a:endParaRPr sz="1400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  <a:p>
            <a:pPr marL="0" marR="0">
              <a:lnSpc>
                <a:spcPts val="1585"/>
              </a:lnSpc>
              <a:spcBef>
                <a:spcPts val="41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date</a:t>
            </a:r>
            <a:endParaRPr sz="1400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97196" y="2898127"/>
            <a:ext cx="1318961" cy="8288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5"/>
              </a:lnSpc>
              <a:spcBef>
                <a:spcPct val="0"/>
              </a:spcBef>
              <a:spcAft>
                <a:spcPct val="0"/>
              </a:spcAft>
            </a:pPr>
            <a:r>
              <a:rPr sz="1400" spc="1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Rail</a:t>
            </a: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 </a:t>
            </a:r>
            <a:r>
              <a:rPr sz="1400" spc="12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segment</a:t>
            </a:r>
            <a:endParaRPr sz="1400" spc="12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  <a:p>
            <a:pPr marL="671195" marR="0">
              <a:lnSpc>
                <a:spcPts val="1585"/>
              </a:lnSpc>
              <a:spcBef>
                <a:spcPts val="1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1..*</a:t>
            </a:r>
            <a:endParaRPr sz="1400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71314" y="3018358"/>
            <a:ext cx="366997" cy="468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1</a:t>
            </a:r>
            <a:endParaRPr sz="1400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75095" y="3018358"/>
            <a:ext cx="366997" cy="468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1</a:t>
            </a:r>
            <a:endParaRPr sz="1400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06895" y="3018361"/>
            <a:ext cx="617696" cy="468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date</a:t>
            </a:r>
            <a:endParaRPr sz="1400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06895" y="3278853"/>
            <a:ext cx="1178687" cy="468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trip</a:t>
            </a:r>
            <a:r>
              <a:rPr sz="1400" spc="11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 </a:t>
            </a:r>
            <a:r>
              <a:rPr sz="1400" spc="12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number</a:t>
            </a:r>
            <a:endParaRPr sz="1400" spc="12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08655" y="3699649"/>
            <a:ext cx="567536" cy="468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0..1</a:t>
            </a:r>
            <a:endParaRPr sz="1400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82768" y="4000221"/>
            <a:ext cx="837963" cy="828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5"/>
              </a:lnSpc>
              <a:spcBef>
                <a:spcPct val="0"/>
              </a:spcBef>
              <a:spcAft>
                <a:spcPct val="0"/>
              </a:spcAft>
            </a:pPr>
            <a:r>
              <a:rPr sz="1400" spc="1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Route</a:t>
            </a:r>
            <a:endParaRPr sz="1400" spc="10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  <a:p>
            <a:pPr marL="471170" marR="0">
              <a:lnSpc>
                <a:spcPts val="1585"/>
              </a:lnSpc>
              <a:spcBef>
                <a:spcPts val="1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1</a:t>
            </a:r>
            <a:endParaRPr sz="1400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82857" y="4801730"/>
            <a:ext cx="747668" cy="468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5"/>
              </a:lnSpc>
              <a:spcBef>
                <a:spcPct val="0"/>
              </a:spcBef>
              <a:spcAft>
                <a:spcPct val="0"/>
              </a:spcAft>
            </a:pPr>
            <a:r>
              <a:rPr sz="1400" spc="1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Ticket</a:t>
            </a:r>
            <a:endParaRPr sz="1400" spc="10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42053" y="5262601"/>
            <a:ext cx="1419441" cy="7286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date </a:t>
            </a:r>
            <a:r>
              <a:rPr sz="1400" spc="11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of</a:t>
            </a: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 validity</a:t>
            </a:r>
            <a:endParaRPr sz="1400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  <a:p>
            <a:pPr marL="0" marR="0">
              <a:lnSpc>
                <a:spcPts val="1585"/>
              </a:lnSpc>
              <a:spcBef>
                <a:spcPts val="41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class</a:t>
            </a:r>
            <a:endParaRPr sz="1400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91351" y="5543134"/>
            <a:ext cx="366997" cy="468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1</a:t>
            </a:r>
            <a:endParaRPr sz="1400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55055" y="5543131"/>
            <a:ext cx="366997" cy="468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1</a:t>
            </a:r>
            <a:endParaRPr sz="1400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42053" y="5783585"/>
            <a:ext cx="657586" cy="468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GVLLDO+Helvetica" panose="020B0604020202020204"/>
                <a:cs typeface="GVLLDO+Helvetica" panose="020B0604020202020204"/>
              </a:rPr>
              <a:t>price</a:t>
            </a:r>
            <a:endParaRPr sz="1400">
              <a:solidFill>
                <a:srgbClr val="000000"/>
              </a:solidFill>
              <a:latin typeface="GVLLDO+Helvetica" panose="020B0604020202020204"/>
              <a:cs typeface="GVLLDO+Helvetica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16709" y="6441412"/>
            <a:ext cx="809071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PAURW+CMR10" panose="02000500000000000000"/>
                <a:cs typeface="SPAURW+CMR10" panose="02000500000000000000"/>
              </a:rPr>
              <a:t>Are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PAURW+CMR10" panose="02000500000000000000"/>
                <a:cs typeface="SPAURW+CMR10" panose="02000500000000000000"/>
              </a:rPr>
              <a:t>all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3">
                <a:solidFill>
                  <a:srgbClr val="000000"/>
                </a:solidFill>
                <a:latin typeface="SPAURW+CMR10" panose="02000500000000000000"/>
                <a:cs typeface="SPAURW+CMR10" panose="02000500000000000000"/>
              </a:rPr>
              <a:t>loops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PAURW+CMR10" panose="02000500000000000000"/>
                <a:cs typeface="SPAURW+CMR10" panose="02000500000000000000"/>
              </a:rPr>
              <a:t>commutative</a:t>
            </a:r>
            <a:r>
              <a:rPr sz="2050" spc="2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SPAURW+CMR10" panose="02000500000000000000"/>
                <a:cs typeface="SPAURW+CMR10" panose="02000500000000000000"/>
              </a:rPr>
              <a:t>(any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PAURW+CMR10" panose="02000500000000000000"/>
                <a:cs typeface="SPAURW+CMR10" panose="02000500000000000000"/>
              </a:rPr>
              <a:t>starting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PAURW+CMR10" panose="02000500000000000000"/>
                <a:cs typeface="SPAURW+CMR10" panose="02000500000000000000"/>
              </a:rPr>
              <a:t>/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PAURW+CMR10" panose="02000500000000000000"/>
                <a:cs typeface="SPAURW+CMR10" panose="02000500000000000000"/>
              </a:rPr>
              <a:t>destination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3">
                <a:solidFill>
                  <a:srgbClr val="000000"/>
                </a:solidFill>
                <a:latin typeface="SPAURW+CMR10" panose="02000500000000000000"/>
                <a:cs typeface="SPAURW+CMR10" panose="02000500000000000000"/>
              </a:rPr>
              <a:t>node)?</a:t>
            </a:r>
            <a:endParaRPr sz="2050" spc="23">
              <a:solidFill>
                <a:srgbClr val="000000"/>
              </a:solidFill>
              <a:latin typeface="SPAURW+CMR10" panose="02000500000000000000"/>
              <a:cs typeface="SPAURW+CMR10" panose="0200050000000000000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HBPKST+CMR7" panose="02000500000000000000"/>
                <a:cs typeface="HBPKST+CMR7" panose="02000500000000000000"/>
              </a:rPr>
              <a:t>115</a:t>
            </a:r>
            <a:endParaRPr sz="1450">
              <a:solidFill>
                <a:srgbClr val="000000"/>
              </a:solidFill>
              <a:latin typeface="HBPKST+CMR7" panose="02000500000000000000"/>
              <a:cs typeface="HBPKST+CMR7" panose="02000500000000000000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616709" y="1358813"/>
            <a:ext cx="3852327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4">
                <a:solidFill>
                  <a:srgbClr val="000000"/>
                </a:solidFill>
                <a:latin typeface="ICMPMN+CMBX10" panose="02000500000000000000"/>
                <a:cs typeface="ICMPMN+CMBX10" panose="02000500000000000000"/>
              </a:rPr>
              <a:t>Validation</a:t>
            </a:r>
            <a:r>
              <a:rPr sz="205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CMPMN+CMBX10" panose="02000500000000000000"/>
                <a:cs typeface="ICMPMN+CMBX10" panose="02000500000000000000"/>
              </a:rPr>
              <a:t>of</a:t>
            </a:r>
            <a:r>
              <a:rPr sz="2050" spc="2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CMPMN+CMBX10" panose="02000500000000000000"/>
                <a:cs typeface="ICMPMN+CMBX10" panose="02000500000000000000"/>
              </a:rPr>
              <a:t>an</a:t>
            </a:r>
            <a:r>
              <a:rPr sz="2050" spc="2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ICMPMN+CMBX10" panose="02000500000000000000"/>
                <a:cs typeface="ICMPMN+CMBX10" panose="02000500000000000000"/>
              </a:rPr>
              <a:t>ERD</a:t>
            </a:r>
            <a:r>
              <a:rPr sz="2050" spc="2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CMPMN+CMBX10" panose="02000500000000000000"/>
                <a:cs typeface="ICMPMN+CMBX10" panose="02000500000000000000"/>
              </a:rPr>
              <a:t>(3)</a:t>
            </a:r>
            <a:endParaRPr sz="2050">
              <a:solidFill>
                <a:srgbClr val="000000"/>
              </a:solidFill>
              <a:latin typeface="ICMPMN+CMBX10" panose="02000500000000000000"/>
              <a:cs typeface="ICMPMN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6192" y="1735919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HSGNG+CMSY10~25" panose="02000500000000000000"/>
                <a:cs typeface="PHSGNG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PHSGNG+CMSY10~25" panose="02000500000000000000"/>
              <a:cs typeface="PHSGNG+CMSY10~25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597" y="1870939"/>
            <a:ext cx="7182812" cy="1082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9">
                <a:solidFill>
                  <a:srgbClr val="000000"/>
                </a:solidFill>
                <a:latin typeface="QNNCTB+CMR10" panose="02000500000000000000"/>
                <a:cs typeface="QNNCTB+CMR10" panose="02000500000000000000"/>
              </a:rPr>
              <a:t>Describe</a:t>
            </a:r>
            <a:r>
              <a:rPr sz="20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QNNCTB+CMR10" panose="02000500000000000000"/>
                <a:cs typeface="QNNCTB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NNCTB+CMR10" panose="02000500000000000000"/>
                <a:cs typeface="QNNCTB+CMR10" panose="02000500000000000000"/>
              </a:rPr>
              <a:t>elementary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NNCTB+CMR10" panose="02000500000000000000"/>
                <a:cs typeface="QNNCTB+CMR10" panose="02000500000000000000"/>
              </a:rPr>
              <a:t>sentences</a:t>
            </a:r>
            <a:r>
              <a:rPr sz="20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NNCTB+CMR10" panose="02000500000000000000"/>
                <a:cs typeface="QNNCTB+CMR10" panose="02000500000000000000"/>
              </a:rPr>
              <a:t>and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QNNCTB+CMR10" panose="02000500000000000000"/>
                <a:cs typeface="QNNCTB+CMR10" panose="02000500000000000000"/>
              </a:rPr>
              <a:t>show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NNCTB+CMR10" panose="02000500000000000000"/>
                <a:cs typeface="QNNCTB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NNCTB+CMR10" panose="02000500000000000000"/>
                <a:cs typeface="QNNCTB+CMR10" panose="02000500000000000000"/>
              </a:rPr>
              <a:t>domain</a:t>
            </a:r>
            <a:endParaRPr sz="2050">
              <a:solidFill>
                <a:srgbClr val="000000"/>
              </a:solidFill>
              <a:latin typeface="QNNCTB+CMR10" panose="02000500000000000000"/>
              <a:cs typeface="QNNCTB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5">
                <a:solidFill>
                  <a:srgbClr val="000000"/>
                </a:solidFill>
                <a:latin typeface="QNNCTB+CMR10" panose="02000500000000000000"/>
                <a:cs typeface="QNNCTB+CMR10" panose="02000500000000000000"/>
              </a:rPr>
              <a:t>specialist.</a:t>
            </a:r>
            <a:endParaRPr sz="2050" spc="15">
              <a:solidFill>
                <a:srgbClr val="000000"/>
              </a:solidFill>
              <a:latin typeface="QNNCTB+CMR10" panose="02000500000000000000"/>
              <a:cs typeface="QNNCTB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597" y="2726147"/>
            <a:ext cx="2290679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 spc="-47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At</a:t>
            </a:r>
            <a:r>
              <a:rPr sz="2050" spc="2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each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moment:</a:t>
            </a:r>
            <a:endParaRPr sz="2050" spc="10">
              <a:solidFill>
                <a:srgbClr val="000000"/>
              </a:solidFill>
              <a:latin typeface="FLHCJS+CMSS10" panose="02000500000000000000"/>
              <a:cs typeface="FLHCJS+CMSS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1941" y="3122084"/>
            <a:ext cx="7154542" cy="11493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CMPMN+CMBX10" panose="02000500000000000000"/>
                <a:cs typeface="ICMPMN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A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batch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juice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has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exactly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one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recipe.</a:t>
            </a:r>
            <a:endParaRPr sz="2050" spc="20">
              <a:solidFill>
                <a:srgbClr val="000000"/>
              </a:solidFill>
              <a:latin typeface="FLHCJS+CMSS10" panose="02000500000000000000"/>
              <a:cs typeface="FLHCJS+CMSS10" panose="02000500000000000000"/>
            </a:endParaRPr>
          </a:p>
          <a:p>
            <a:pPr marL="0" marR="0">
              <a:lnSpc>
                <a:spcPts val="2470"/>
              </a:lnSpc>
              <a:spcBef>
                <a:spcPts val="103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CMPMN+CMBX10" panose="02000500000000000000"/>
                <a:cs typeface="ICMPMN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A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recipe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may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68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be</a:t>
            </a:r>
            <a:r>
              <a:rPr sz="2050" spc="1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applicable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to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any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3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number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batches.</a:t>
            </a:r>
            <a:endParaRPr sz="2050">
              <a:solidFill>
                <a:srgbClr val="000000"/>
              </a:solidFill>
              <a:latin typeface="FLHCJS+CMSS10" panose="02000500000000000000"/>
              <a:cs typeface="FLHCJS+CMSS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1948" y="4012101"/>
            <a:ext cx="7838738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CMPMN+CMBX10" panose="02000500000000000000"/>
                <a:cs typeface="ICMPMN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At</a:t>
            </a:r>
            <a:r>
              <a:rPr sz="2050" spc="2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any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point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in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time,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a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heating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tank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has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at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most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one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batch</a:t>
            </a:r>
            <a:endParaRPr sz="2050">
              <a:solidFill>
                <a:srgbClr val="000000"/>
              </a:solidFill>
              <a:latin typeface="FLHCJS+CMSS10" panose="02000500000000000000"/>
              <a:cs typeface="FLHCJS+CMSS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3870" y="4431506"/>
            <a:ext cx="2000205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 spc="16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allocated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to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it.</a:t>
            </a:r>
            <a:endParaRPr sz="2050">
              <a:solidFill>
                <a:srgbClr val="000000"/>
              </a:solidFill>
              <a:latin typeface="FLHCJS+CMSS10" panose="02000500000000000000"/>
              <a:cs typeface="FLHCJS+CMSS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1929" y="4827443"/>
            <a:ext cx="8585355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CMPMN+CMBX10" panose="02000500000000000000"/>
                <a:cs typeface="ICMPMN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At</a:t>
            </a:r>
            <a:r>
              <a:rPr sz="2050" spc="2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any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point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in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time,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a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batch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is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allocated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to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either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1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4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or</a:t>
            </a:r>
            <a:r>
              <a:rPr sz="2050" spc="2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2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heating</a:t>
            </a:r>
            <a:endParaRPr sz="2050">
              <a:solidFill>
                <a:srgbClr val="000000"/>
              </a:solidFill>
              <a:latin typeface="FLHCJS+CMSS10" panose="02000500000000000000"/>
              <a:cs typeface="FLHCJS+CMSS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83869" y="5248372"/>
            <a:ext cx="1047874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tanks.</a:t>
            </a:r>
            <a:endParaRPr sz="2050">
              <a:solidFill>
                <a:srgbClr val="000000"/>
              </a:solidFill>
              <a:latin typeface="FLHCJS+CMSS10" panose="02000500000000000000"/>
              <a:cs typeface="FLHCJS+CMSS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1931" y="5644309"/>
            <a:ext cx="5615966" cy="11493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CMPMN+CMBX10" panose="02000500000000000000"/>
                <a:cs typeface="ICMPMN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Each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heating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tank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has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exactly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one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heater.</a:t>
            </a:r>
            <a:endParaRPr sz="2050" spc="10">
              <a:solidFill>
                <a:srgbClr val="000000"/>
              </a:solidFill>
              <a:latin typeface="FLHCJS+CMSS10" panose="02000500000000000000"/>
              <a:cs typeface="FLHCJS+CMSS10" panose="02000500000000000000"/>
            </a:endParaRPr>
          </a:p>
          <a:p>
            <a:pPr marL="0" marR="0">
              <a:lnSpc>
                <a:spcPts val="2470"/>
              </a:lnSpc>
              <a:spcBef>
                <a:spcPts val="103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CMPMN+CMBX10" panose="02000500000000000000"/>
                <a:cs typeface="ICMPMN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LHCJS+CMSS10" panose="02000500000000000000"/>
                <a:cs typeface="FLHCJS+CMSS10" panose="02000500000000000000"/>
              </a:rPr>
              <a:t>etcetera.</a:t>
            </a:r>
            <a:endParaRPr sz="2050" spc="10">
              <a:solidFill>
                <a:srgbClr val="000000"/>
              </a:solidFill>
              <a:latin typeface="FLHCJS+CMSS10" panose="02000500000000000000"/>
              <a:cs typeface="FLHCJS+CMSS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OOOQHV+CMR7" panose="02000500000000000000"/>
                <a:cs typeface="OOOQHV+CMR7" panose="02000500000000000000"/>
              </a:rPr>
              <a:t>116</a:t>
            </a:r>
            <a:endParaRPr sz="1450">
              <a:solidFill>
                <a:srgbClr val="000000"/>
              </a:solidFill>
              <a:latin typeface="OOOQHV+CMR7" panose="02000500000000000000"/>
              <a:cs typeface="OOOQHV+CMR7" panose="02000500000000000000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616709" y="1002077"/>
            <a:ext cx="4518487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31">
                <a:solidFill>
                  <a:srgbClr val="000000"/>
                </a:solidFill>
                <a:latin typeface="ULQNMU+CMBX12~c" panose="02000500000000000000"/>
                <a:cs typeface="ULQNMU+CMBX12~c" panose="02000500000000000000"/>
              </a:rPr>
              <a:t>Validation</a:t>
            </a:r>
            <a:r>
              <a:rPr sz="2500" spc="3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ULQNMU+CMBX12~c" panose="02000500000000000000"/>
                <a:cs typeface="ULQNMU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ULQNMU+CMBX12~c" panose="02000500000000000000"/>
                <a:cs typeface="ULQNMU+CMBX12~c" panose="02000500000000000000"/>
              </a:rPr>
              <a:t>an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6">
                <a:solidFill>
                  <a:srgbClr val="000000"/>
                </a:solidFill>
                <a:latin typeface="ULQNMU+CMBX12~c" panose="02000500000000000000"/>
                <a:cs typeface="ULQNMU+CMBX12~c" panose="02000500000000000000"/>
              </a:rPr>
              <a:t>ERD</a:t>
            </a:r>
            <a:r>
              <a:rPr sz="250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ULQNMU+CMBX12~c" panose="02000500000000000000"/>
                <a:cs typeface="ULQNMU+CMBX12~c" panose="02000500000000000000"/>
              </a:rPr>
              <a:t>(4)</a:t>
            </a:r>
            <a:endParaRPr sz="2500" spc="-14">
              <a:solidFill>
                <a:srgbClr val="000000"/>
              </a:solidFill>
              <a:latin typeface="ULQNMU+CMBX12~c" panose="02000500000000000000"/>
              <a:cs typeface="ULQNMU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6189" y="1351870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GALPO+CMSY10~25" panose="02000500000000000000"/>
                <a:cs typeface="VGALPO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VGALPO+CMSY10~25" panose="02000500000000000000"/>
              <a:cs typeface="VGALPO+CMSY10~25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09" y="1486890"/>
            <a:ext cx="655140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9">
                <a:solidFill>
                  <a:srgbClr val="000000"/>
                </a:solidFill>
                <a:latin typeface="VBPVNI+CMR10" panose="02000500000000000000"/>
                <a:cs typeface="VBPVNI+CMR10" panose="02000500000000000000"/>
              </a:rPr>
              <a:t>Describe</a:t>
            </a:r>
            <a:r>
              <a:rPr sz="20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BPVNI+CMR10" panose="02000500000000000000"/>
                <a:cs typeface="VBPVNI+CMR10" panose="02000500000000000000"/>
              </a:rPr>
              <a:t>snapshot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BPVNI+CMR10" panose="02000500000000000000"/>
                <a:cs typeface="VBPVNI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VBPVNI+CMR10" panose="02000500000000000000"/>
                <a:cs typeface="VBPVNI+CMR10" panose="02000500000000000000"/>
              </a:rPr>
              <a:t>show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BPVNI+CMR10" panose="02000500000000000000"/>
                <a:cs typeface="VBPVNI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BPVNI+CMR10" panose="02000500000000000000"/>
                <a:cs typeface="VBPVNI+CMR10" panose="02000500000000000000"/>
              </a:rPr>
              <a:t>domain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VBPVNI+CMR10" panose="02000500000000000000"/>
                <a:cs typeface="VBPVNI+CMR10" panose="02000500000000000000"/>
              </a:rPr>
              <a:t>specialist.</a:t>
            </a:r>
            <a:endParaRPr sz="2050" spc="15">
              <a:solidFill>
                <a:srgbClr val="000000"/>
              </a:solidFill>
              <a:latin typeface="VBPVNI+CMR10" panose="02000500000000000000"/>
              <a:cs typeface="VBPVNI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6141" y="1988320"/>
            <a:ext cx="870432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Usage</a:t>
            </a:r>
            <a:endParaRPr sz="1650">
              <a:solidFill>
                <a:srgbClr val="000000"/>
              </a:solidFill>
              <a:latin typeface="QRTBHU+CMSS8" panose="02000500000000000000"/>
              <a:cs typeface="QRTBHU+CMSS8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97469" y="1988320"/>
            <a:ext cx="972669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Refund</a:t>
            </a:r>
            <a:endParaRPr sz="1650">
              <a:solidFill>
                <a:srgbClr val="000000"/>
              </a:solidFill>
              <a:latin typeface="QRTBHU+CMSS8" panose="02000500000000000000"/>
              <a:cs typeface="QRTBHU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stamp</a:t>
            </a:r>
            <a:endParaRPr sz="1650">
              <a:solidFill>
                <a:srgbClr val="000000"/>
              </a:solidFill>
              <a:latin typeface="QRTBHU+CMSS8" panose="02000500000000000000"/>
              <a:cs typeface="QRTBHU+CMSS8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34813" y="2134624"/>
            <a:ext cx="112025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Segment</a:t>
            </a:r>
            <a:endParaRPr sz="1650">
              <a:solidFill>
                <a:srgbClr val="000000"/>
              </a:solidFill>
              <a:latin typeface="QRTBHU+CMSS8" panose="02000500000000000000"/>
              <a:cs typeface="QRTBHU+CMSS8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73680" y="2155960"/>
            <a:ext cx="90717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Ticket</a:t>
            </a:r>
            <a:endParaRPr sz="1650">
              <a:solidFill>
                <a:srgbClr val="000000"/>
              </a:solidFill>
              <a:latin typeface="QRTBHU+CMSS8" panose="02000500000000000000"/>
              <a:cs typeface="QRTBHU+CMSS8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55009" y="2154436"/>
            <a:ext cx="865393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Route</a:t>
            </a:r>
            <a:endParaRPr sz="1650">
              <a:solidFill>
                <a:srgbClr val="000000"/>
              </a:solidFill>
              <a:latin typeface="QRTBHU+CMSS8" panose="02000500000000000000"/>
              <a:cs typeface="QRTBHU+CMSS8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16141" y="2282453"/>
            <a:ext cx="879249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stamp</a:t>
            </a:r>
            <a:endParaRPr sz="1650">
              <a:solidFill>
                <a:srgbClr val="000000"/>
              </a:solidFill>
              <a:latin typeface="QRTBHU+CMSS8" panose="02000500000000000000"/>
              <a:cs typeface="QRTBHU+CMSS8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55009" y="2718316"/>
            <a:ext cx="945167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Return</a:t>
            </a:r>
            <a:endParaRPr sz="1650">
              <a:solidFill>
                <a:srgbClr val="000000"/>
              </a:solidFill>
              <a:latin typeface="QRTBHU+CMSS8" panose="02000500000000000000"/>
              <a:cs typeface="QRTBHU+CMSS8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34813" y="2866144"/>
            <a:ext cx="1266370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Enschede-</a:t>
            </a:r>
            <a:endParaRPr sz="1650">
              <a:solidFill>
                <a:srgbClr val="000000"/>
              </a:solidFill>
              <a:latin typeface="QRTBHU+CMSS8" panose="02000500000000000000"/>
              <a:cs typeface="QRTBHU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Apeldoorn</a:t>
            </a:r>
            <a:endParaRPr sz="1650">
              <a:solidFill>
                <a:srgbClr val="000000"/>
              </a:solidFill>
              <a:latin typeface="QRTBHU+CMSS8" panose="02000500000000000000"/>
              <a:cs typeface="QRTBHU+CMSS8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73680" y="3012448"/>
            <a:ext cx="1440577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(t1,</a:t>
            </a:r>
            <a:r>
              <a:rPr sz="16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April</a:t>
            </a:r>
            <a:r>
              <a:rPr sz="16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2)</a:t>
            </a:r>
            <a:endParaRPr sz="1650">
              <a:solidFill>
                <a:srgbClr val="000000"/>
              </a:solidFill>
              <a:latin typeface="QRTBHU+CMSS8" panose="02000500000000000000"/>
              <a:cs typeface="QRTBHU+CMSS8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55009" y="3012449"/>
            <a:ext cx="1266370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Enschede-</a:t>
            </a:r>
            <a:endParaRPr sz="1650">
              <a:solidFill>
                <a:srgbClr val="000000"/>
              </a:solidFill>
              <a:latin typeface="QRTBHU+CMSS8" panose="02000500000000000000"/>
              <a:cs typeface="QRTBHU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Apeldoorn</a:t>
            </a:r>
            <a:endParaRPr sz="1650">
              <a:solidFill>
                <a:srgbClr val="000000"/>
              </a:solidFill>
              <a:latin typeface="QRTBHU+CMSS8" panose="02000500000000000000"/>
              <a:cs typeface="QRTBHU+CMSS8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16141" y="3032260"/>
            <a:ext cx="1196123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1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March</a:t>
            </a:r>
            <a:r>
              <a:rPr sz="16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31</a:t>
            </a:r>
            <a:endParaRPr sz="1650">
              <a:solidFill>
                <a:srgbClr val="000000"/>
              </a:solidFill>
              <a:latin typeface="QRTBHU+CMSS8" panose="02000500000000000000"/>
              <a:cs typeface="QRTBHU+CMSS8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96453" y="3032260"/>
            <a:ext cx="797376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None</a:t>
            </a:r>
            <a:endParaRPr sz="1650">
              <a:solidFill>
                <a:srgbClr val="000000"/>
              </a:solidFill>
              <a:latin typeface="QRTBHU+CMSS8" panose="02000500000000000000"/>
              <a:cs typeface="QRTBHU+CMSS8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55009" y="3690628"/>
            <a:ext cx="945167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Return</a:t>
            </a:r>
            <a:endParaRPr sz="1650">
              <a:solidFill>
                <a:srgbClr val="000000"/>
              </a:solidFill>
              <a:latin typeface="QRTBHU+CMSS8" panose="02000500000000000000"/>
              <a:cs typeface="QRTBHU+CMSS8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34813" y="3858268"/>
            <a:ext cx="1341315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Apeldoorn-</a:t>
            </a:r>
            <a:endParaRPr sz="1650">
              <a:solidFill>
                <a:srgbClr val="000000"/>
              </a:solidFill>
              <a:latin typeface="QRTBHU+CMSS8" panose="02000500000000000000"/>
              <a:cs typeface="QRTBHU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Enschede</a:t>
            </a:r>
            <a:endParaRPr sz="1650">
              <a:solidFill>
                <a:srgbClr val="000000"/>
              </a:solidFill>
              <a:latin typeface="QRTBHU+CMSS8" panose="02000500000000000000"/>
              <a:cs typeface="QRTBHU+CMSS8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73680" y="3984760"/>
            <a:ext cx="1440577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(t1,</a:t>
            </a:r>
            <a:r>
              <a:rPr sz="16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April</a:t>
            </a:r>
            <a:r>
              <a:rPr sz="16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2)</a:t>
            </a:r>
            <a:endParaRPr sz="1650">
              <a:solidFill>
                <a:srgbClr val="000000"/>
              </a:solidFill>
              <a:latin typeface="QRTBHU+CMSS8" panose="02000500000000000000"/>
              <a:cs typeface="QRTBHU+CMSS8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55009" y="3984760"/>
            <a:ext cx="1266370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Enschede-</a:t>
            </a:r>
            <a:endParaRPr sz="1650">
              <a:solidFill>
                <a:srgbClr val="000000"/>
              </a:solidFill>
              <a:latin typeface="QRTBHU+CMSS8" panose="02000500000000000000"/>
              <a:cs typeface="QRTBHU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Apeldoorn</a:t>
            </a:r>
            <a:endParaRPr sz="1650">
              <a:solidFill>
                <a:srgbClr val="000000"/>
              </a:solidFill>
              <a:latin typeface="QRTBHU+CMSS8" panose="02000500000000000000"/>
              <a:cs typeface="QRTBHU+CMSS8" panose="0200050000000000000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16141" y="3984760"/>
            <a:ext cx="940427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April</a:t>
            </a:r>
            <a:r>
              <a:rPr sz="16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1</a:t>
            </a:r>
            <a:endParaRPr sz="1650">
              <a:solidFill>
                <a:srgbClr val="000000"/>
              </a:solidFill>
              <a:latin typeface="QRTBHU+CMSS8" panose="02000500000000000000"/>
              <a:cs typeface="QRTBHU+CMSS8" panose="0200050000000000000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96783" y="3984760"/>
            <a:ext cx="938903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April</a:t>
            </a:r>
            <a:r>
              <a:rPr sz="16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RTBHU+CMSS8" panose="02000500000000000000"/>
                <a:cs typeface="QRTBHU+CMSS8" panose="02000500000000000000"/>
              </a:rPr>
              <a:t>1</a:t>
            </a:r>
            <a:endParaRPr sz="1650">
              <a:solidFill>
                <a:srgbClr val="000000"/>
              </a:solidFill>
              <a:latin typeface="QRTBHU+CMSS8" panose="02000500000000000000"/>
              <a:cs typeface="QRTBHU+CMSS8" panose="0200050000000000000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16709" y="4714722"/>
            <a:ext cx="5179417" cy="11462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BPVNI+CMR10" panose="02000500000000000000"/>
                <a:cs typeface="VBPVNI+CMR10" panose="02000500000000000000"/>
              </a:rPr>
              <a:t>Flaws</a:t>
            </a:r>
            <a:r>
              <a:rPr sz="2050" spc="1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BPVNI+CMR10" panose="02000500000000000000"/>
                <a:cs typeface="VBPVNI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VBPVNI+CMR10" panose="02000500000000000000"/>
                <a:cs typeface="VBPVNI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VBPVNI+CMR10" panose="02000500000000000000"/>
                <a:cs typeface="VBPVNI+CMR10" panose="02000500000000000000"/>
              </a:rPr>
              <a:t>model:</a:t>
            </a:r>
            <a:endParaRPr sz="2050" spc="21">
              <a:solidFill>
                <a:srgbClr val="000000"/>
              </a:solidFill>
              <a:latin typeface="VBPVNI+CMR10" panose="02000500000000000000"/>
              <a:cs typeface="VBPVNI+CMR10" panose="02000500000000000000"/>
            </a:endParaRPr>
          </a:p>
          <a:p>
            <a:pPr marL="85090" marR="0">
              <a:lnSpc>
                <a:spcPts val="2470"/>
              </a:lnSpc>
              <a:spcBef>
                <a:spcPts val="9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NKPDC+CMBX10" panose="02000500000000000000"/>
                <a:cs typeface="CNKPDC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DIAAA+CMSS10" panose="02000500000000000000"/>
                <a:cs typeface="LDIAAA+CMSS10" panose="02000500000000000000"/>
              </a:rPr>
              <a:t>Ticket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DIAAA+CMSS10" panose="02000500000000000000"/>
                <a:cs typeface="LDIAAA+CMSS10" panose="02000500000000000000"/>
              </a:rPr>
              <a:t>cannot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68">
                <a:solidFill>
                  <a:srgbClr val="000000"/>
                </a:solidFill>
                <a:latin typeface="LDIAAA+CMSS10" panose="02000500000000000000"/>
                <a:cs typeface="LDIAAA+CMSS10" panose="02000500000000000000"/>
              </a:rPr>
              <a:t>be</a:t>
            </a:r>
            <a:r>
              <a:rPr sz="2050" spc="1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DIAAA+CMSS10" panose="02000500000000000000"/>
                <a:cs typeface="LDIAAA+CMSS10" panose="02000500000000000000"/>
              </a:rPr>
              <a:t>used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DIAAA+CMSS10" panose="02000500000000000000"/>
                <a:cs typeface="LDIAAA+CMSS10" panose="02000500000000000000"/>
              </a:rPr>
              <a:t>before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LDIAAA+CMSS10" panose="02000500000000000000"/>
                <a:cs typeface="LDIAAA+CMSS10" panose="02000500000000000000"/>
              </a:rPr>
              <a:t>bought!</a:t>
            </a:r>
            <a:endParaRPr sz="2050" spc="17">
              <a:solidFill>
                <a:srgbClr val="000000"/>
              </a:solidFill>
              <a:latin typeface="LDIAAA+CMSS10" panose="02000500000000000000"/>
              <a:cs typeface="LDIAAA+CMSS10" panose="0200050000000000000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02058" y="5592489"/>
            <a:ext cx="5852012" cy="11402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NKPDC+CMBX10" panose="02000500000000000000"/>
                <a:cs typeface="CNKPDC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LDIAAA+CMSS10" panose="02000500000000000000"/>
                <a:cs typeface="LDIAAA+CMSS10" panose="02000500000000000000"/>
              </a:rPr>
              <a:t>No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DIAAA+CMSS10" panose="02000500000000000000"/>
                <a:cs typeface="LDIAAA+CMSS10" panose="02000500000000000000"/>
              </a:rPr>
              <a:t>usage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DIAAA+CMSS10" panose="02000500000000000000"/>
                <a:cs typeface="LDIAAA+CMSS10" panose="02000500000000000000"/>
              </a:rPr>
              <a:t>and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DIAAA+CMSS10" panose="02000500000000000000"/>
                <a:cs typeface="LDIAAA+CMSS10" panose="02000500000000000000"/>
              </a:rPr>
              <a:t>refund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LDIAAA+CMSS10" panose="02000500000000000000"/>
                <a:cs typeface="LDIAAA+CMSS10" panose="02000500000000000000"/>
              </a:rPr>
              <a:t>for</a:t>
            </a:r>
            <a:r>
              <a:rPr sz="2050" spc="2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DIAAA+CMSS10" panose="02000500000000000000"/>
                <a:cs typeface="LDIAAA+CMSS10" panose="02000500000000000000"/>
              </a:rPr>
              <a:t>the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DIAAA+CMSS10" panose="02000500000000000000"/>
                <a:cs typeface="LDIAAA+CMSS10" panose="02000500000000000000"/>
              </a:rPr>
              <a:t>same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DIAAA+CMSS10" panose="02000500000000000000"/>
                <a:cs typeface="LDIAAA+CMSS10" panose="02000500000000000000"/>
              </a:rPr>
              <a:t>segment!</a:t>
            </a:r>
            <a:endParaRPr sz="2050">
              <a:solidFill>
                <a:srgbClr val="000000"/>
              </a:solidFill>
              <a:latin typeface="LDIAAA+CMSS10" panose="02000500000000000000"/>
              <a:cs typeface="LDIAAA+CMSS10" panose="02000500000000000000"/>
            </a:endParaRPr>
          </a:p>
          <a:p>
            <a:pPr marL="0" marR="0">
              <a:lnSpc>
                <a:spcPts val="2470"/>
              </a:lnSpc>
              <a:spcBef>
                <a:spcPts val="9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NKPDC+CMBX10" panose="02000500000000000000"/>
                <a:cs typeface="CNKPDC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DIAAA+CMSS10" panose="02000500000000000000"/>
                <a:cs typeface="LDIAAA+CMSS10" panose="02000500000000000000"/>
              </a:rPr>
              <a:t>Return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DIAAA+CMSS10" panose="02000500000000000000"/>
                <a:cs typeface="LDIAAA+CMSS10" panose="02000500000000000000"/>
              </a:rPr>
              <a:t>must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68">
                <a:solidFill>
                  <a:srgbClr val="000000"/>
                </a:solidFill>
                <a:latin typeface="LDIAAA+CMSS10" panose="02000500000000000000"/>
                <a:cs typeface="LDIAAA+CMSS10" panose="02000500000000000000"/>
              </a:rPr>
              <a:t>be</a:t>
            </a:r>
            <a:r>
              <a:rPr sz="2050" spc="1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DIAAA+CMSS10" panose="02000500000000000000"/>
                <a:cs typeface="LDIAAA+CMSS10" panose="02000500000000000000"/>
              </a:rPr>
              <a:t>on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DIAAA+CMSS10" panose="02000500000000000000"/>
                <a:cs typeface="LDIAAA+CMSS10" panose="02000500000000000000"/>
              </a:rPr>
              <a:t>the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DIAAA+CMSS10" panose="02000500000000000000"/>
                <a:cs typeface="LDIAAA+CMSS10" panose="02000500000000000000"/>
              </a:rPr>
              <a:t>same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LDIAAA+CMSS10" panose="02000500000000000000"/>
                <a:cs typeface="LDIAAA+CMSS10" panose="02000500000000000000"/>
              </a:rPr>
              <a:t>day!</a:t>
            </a:r>
            <a:endParaRPr sz="2050" spc="-13">
              <a:solidFill>
                <a:srgbClr val="000000"/>
              </a:solidFill>
              <a:latin typeface="LDIAAA+CMSS10" panose="02000500000000000000"/>
              <a:cs typeface="LDIAAA+CMSS10" panose="0200050000000000000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16714" y="6456661"/>
            <a:ext cx="490105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VBPVNI+CMR10" panose="02000500000000000000"/>
                <a:cs typeface="VBPVNI+CMR10" panose="02000500000000000000"/>
              </a:rPr>
              <a:t>These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BPVNI+CMR10" panose="02000500000000000000"/>
                <a:cs typeface="VBPVNI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VBPVNI+CMR10" panose="02000500000000000000"/>
                <a:cs typeface="VBPVNI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BPVNI+CMR10" panose="02000500000000000000"/>
                <a:cs typeface="VBPVNI+CMR10" panose="02000500000000000000"/>
              </a:rPr>
              <a:t>domain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VBPVNI+CMR10" panose="02000500000000000000"/>
                <a:cs typeface="VBPVNI+CMR10" panose="02000500000000000000"/>
              </a:rPr>
              <a:t>properties.</a:t>
            </a:r>
            <a:endParaRPr sz="2050" spc="15">
              <a:solidFill>
                <a:srgbClr val="000000"/>
              </a:solidFill>
              <a:latin typeface="VBPVNI+CMR10" panose="02000500000000000000"/>
              <a:cs typeface="VBPVNI+CMR10" panose="0200050000000000000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RSMFP+CMR7" panose="02000500000000000000"/>
                <a:cs typeface="QRSMFP+CMR7" panose="02000500000000000000"/>
              </a:rPr>
              <a:t>117</a:t>
            </a:r>
            <a:endParaRPr sz="1450">
              <a:solidFill>
                <a:srgbClr val="000000"/>
              </a:solidFill>
              <a:latin typeface="QRSMFP+CMR7" panose="02000500000000000000"/>
              <a:cs typeface="QRSMFP+CMR7" panose="02000500000000000000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616709" y="1146857"/>
            <a:ext cx="4518487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31">
                <a:solidFill>
                  <a:srgbClr val="000000"/>
                </a:solidFill>
                <a:latin typeface="NOWLCV+CMBX12~c" panose="02000500000000000000"/>
                <a:cs typeface="NOWLCV+CMBX12~c" panose="02000500000000000000"/>
              </a:rPr>
              <a:t>Validation</a:t>
            </a:r>
            <a:r>
              <a:rPr sz="2500" spc="3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NOWLCV+CMBX12~c" panose="02000500000000000000"/>
                <a:cs typeface="NOWLCV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NOWLCV+CMBX12~c" panose="02000500000000000000"/>
                <a:cs typeface="NOWLCV+CMBX12~c" panose="02000500000000000000"/>
              </a:rPr>
              <a:t>an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6">
                <a:solidFill>
                  <a:srgbClr val="000000"/>
                </a:solidFill>
                <a:latin typeface="NOWLCV+CMBX12~c" panose="02000500000000000000"/>
                <a:cs typeface="NOWLCV+CMBX12~c" panose="02000500000000000000"/>
              </a:rPr>
              <a:t>ERD</a:t>
            </a:r>
            <a:r>
              <a:rPr sz="250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NOWLCV+CMBX12~c" panose="02000500000000000000"/>
                <a:cs typeface="NOWLCV+CMBX12~c" panose="02000500000000000000"/>
              </a:rPr>
              <a:t>(5)</a:t>
            </a:r>
            <a:endParaRPr sz="2500" spc="-14">
              <a:solidFill>
                <a:srgbClr val="000000"/>
              </a:solidFill>
              <a:latin typeface="NOWLCV+CMBX12~c" panose="02000500000000000000"/>
              <a:cs typeface="NOWLCV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6189" y="1511890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KSWBG+CMSY10~25" panose="02000500000000000000"/>
                <a:cs typeface="WKSWBG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WKSWBG+CMSY10~25" panose="02000500000000000000"/>
              <a:cs typeface="WKSWBG+CMSY10~25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08" y="1646910"/>
            <a:ext cx="7499315" cy="1228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RRAVK+CMR10" panose="02000500000000000000"/>
                <a:cs typeface="GRRAVK+CMR10" panose="02000500000000000000"/>
              </a:rPr>
              <a:t>Check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RRAVK+CMR10" panose="02000500000000000000"/>
                <a:cs typeface="GRRAVK+CMR10" panose="02000500000000000000"/>
              </a:rPr>
              <a:t>against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RRAVK+CMR10" panose="02000500000000000000"/>
                <a:cs typeface="GRRAVK+CMR10" panose="02000500000000000000"/>
              </a:rPr>
              <a:t>messages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RRAVK+CMR10" panose="02000500000000000000"/>
                <a:cs typeface="GRRAVK+CMR10" panose="02000500000000000000"/>
              </a:rPr>
              <a:t>entering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RRAVK+CMR10" panose="02000500000000000000"/>
                <a:cs typeface="GRRAVK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RRAVK+CMR10" panose="02000500000000000000"/>
                <a:cs typeface="GRRAVK+CMR10" panose="02000500000000000000"/>
              </a:rPr>
              <a:t>leaving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RRAVK+CMR10" panose="02000500000000000000"/>
                <a:cs typeface="GRRAVK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RRAVK+CMR10" panose="02000500000000000000"/>
                <a:cs typeface="GRRAVK+CMR10" panose="02000500000000000000"/>
              </a:rPr>
              <a:t>system.</a:t>
            </a:r>
            <a:endParaRPr sz="2050">
              <a:solidFill>
                <a:srgbClr val="000000"/>
              </a:solidFill>
              <a:latin typeface="GRRAVK+CMR10" panose="02000500000000000000"/>
              <a:cs typeface="GRRAVK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560"/>
              </a:spcBef>
              <a:spcAft>
                <a:spcPct val="0"/>
              </a:spcAft>
            </a:pPr>
            <a:r>
              <a:rPr sz="2050" spc="15">
                <a:solidFill>
                  <a:srgbClr val="000000"/>
                </a:solidFill>
                <a:latin typeface="GRRAVK+CMR10" panose="02000500000000000000"/>
                <a:cs typeface="GRRAVK+CMR10" panose="02000500000000000000"/>
              </a:rPr>
              <a:t>Or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RRAVK+CMR10" panose="02000500000000000000"/>
                <a:cs typeface="GRRAVK+CMR10" panose="02000500000000000000"/>
              </a:rPr>
              <a:t>against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RRAVK+CMR10" panose="02000500000000000000"/>
                <a:cs typeface="GRRAVK+CMR10" panose="02000500000000000000"/>
              </a:rPr>
              <a:t>service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RRAVK+CMR10" panose="02000500000000000000"/>
                <a:cs typeface="GRRAVK+CMR10" panose="02000500000000000000"/>
              </a:rPr>
              <a:t>descriptions:</a:t>
            </a:r>
            <a:endParaRPr sz="2050">
              <a:solidFill>
                <a:srgbClr val="000000"/>
              </a:solidFill>
              <a:latin typeface="GRRAVK+CMR10" panose="02000500000000000000"/>
              <a:cs typeface="GRRAVK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11549" y="2857794"/>
            <a:ext cx="6951378" cy="1311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KSWBG+CMSY10~25" panose="02000500000000000000"/>
                <a:cs typeface="WKSWB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TJVE+CMSSBX10" panose="02000500000000000000"/>
                <a:cs typeface="DTTJVE+CMSSBX10" panose="02000500000000000000"/>
              </a:rPr>
              <a:t>Name:</a:t>
            </a:r>
            <a:r>
              <a:rPr sz="2050" spc="4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Sell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a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ticket.</a:t>
            </a:r>
            <a:endParaRPr sz="2050">
              <a:solidFill>
                <a:srgbClr val="000000"/>
              </a:solidFill>
              <a:latin typeface="KIIKGA+CMSS10" panose="02000500000000000000"/>
              <a:cs typeface="KIIKGA+CMSS10" panose="02000500000000000000"/>
            </a:endParaRPr>
          </a:p>
          <a:p>
            <a:pPr marL="0" marR="0">
              <a:lnSpc>
                <a:spcPts val="3585"/>
              </a:lnSpc>
              <a:spcBef>
                <a:spcPts val="2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KSWBG+CMSY10~25" panose="02000500000000000000"/>
                <a:cs typeface="WKSWB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DTTJVE+CMSSBX10" panose="02000500000000000000"/>
                <a:cs typeface="DTTJVE+CMSSBX10" panose="02000500000000000000"/>
              </a:rPr>
              <a:t>Triggering</a:t>
            </a:r>
            <a:r>
              <a:rPr sz="2050" spc="2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TJVE+CMSSBX10" panose="02000500000000000000"/>
                <a:cs typeface="DTTJVE+CMSSBX10" panose="02000500000000000000"/>
              </a:rPr>
              <a:t>event:</a:t>
            </a:r>
            <a:r>
              <a:rPr sz="2050" spc="3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Traveler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requests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to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buy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a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ticket.</a:t>
            </a:r>
            <a:endParaRPr sz="2050">
              <a:solidFill>
                <a:srgbClr val="000000"/>
              </a:solidFill>
              <a:latin typeface="KIIKGA+CMSS10" panose="02000500000000000000"/>
              <a:cs typeface="KIIKGA+CMSS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1548" y="3787436"/>
            <a:ext cx="7797694" cy="8471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KSWBG+CMSY10~25" panose="02000500000000000000"/>
                <a:cs typeface="WKSWB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TJVE+CMSSBX10" panose="02000500000000000000"/>
                <a:cs typeface="DTTJVE+CMSSBX10" panose="02000500000000000000"/>
              </a:rPr>
              <a:t>Delivered</a:t>
            </a:r>
            <a:r>
              <a:rPr sz="2050" spc="3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TJVE+CMSSBX10" panose="02000500000000000000"/>
                <a:cs typeface="DTTJVE+CMSSBX10" panose="02000500000000000000"/>
              </a:rPr>
              <a:t>service:</a:t>
            </a:r>
            <a:r>
              <a:rPr sz="2050" spc="5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Allow</a:t>
            </a:r>
            <a:r>
              <a:rPr sz="2050" spc="2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a</a:t>
            </a:r>
            <a:r>
              <a:rPr sz="2050" spc="2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traveler</a:t>
            </a:r>
            <a:r>
              <a:rPr sz="2050" spc="2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to</a:t>
            </a:r>
            <a:r>
              <a:rPr sz="2050" spc="2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buy</a:t>
            </a:r>
            <a:r>
              <a:rPr sz="2050" spc="2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a</a:t>
            </a:r>
            <a:r>
              <a:rPr sz="2050" spc="2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ticket</a:t>
            </a:r>
            <a:r>
              <a:rPr sz="2050" spc="2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at</a:t>
            </a:r>
            <a:r>
              <a:rPr sz="2050" spc="2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any</a:t>
            </a:r>
            <a:endParaRPr sz="2050" spc="10">
              <a:solidFill>
                <a:srgbClr val="000000"/>
              </a:solidFill>
              <a:latin typeface="KIIKGA+CMSS10" panose="02000500000000000000"/>
              <a:cs typeface="KIIKGA+CMSS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73684" y="4164804"/>
            <a:ext cx="4810073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time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and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place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chosen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by</a:t>
            </a:r>
            <a:r>
              <a:rPr sz="2050" spc="2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the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traveler.</a:t>
            </a:r>
            <a:endParaRPr sz="2050">
              <a:solidFill>
                <a:srgbClr val="000000"/>
              </a:solidFill>
              <a:latin typeface="KIIKGA+CMSS10" panose="02000500000000000000"/>
              <a:cs typeface="KIIKGA+CMSS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11548" y="4823754"/>
            <a:ext cx="7417749" cy="1776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KSWBG+CMSY10~25" panose="02000500000000000000"/>
                <a:cs typeface="WKSWB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TJVE+CMSSBX10" panose="02000500000000000000"/>
                <a:cs typeface="DTTJVE+CMSSBX10" panose="02000500000000000000"/>
              </a:rPr>
              <a:t>Name:</a:t>
            </a:r>
            <a:r>
              <a:rPr sz="2050" spc="4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Show</a:t>
            </a:r>
            <a:r>
              <a:rPr sz="2050" spc="1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a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ticket.</a:t>
            </a:r>
            <a:endParaRPr sz="2050">
              <a:solidFill>
                <a:srgbClr val="000000"/>
              </a:solidFill>
              <a:latin typeface="KIIKGA+CMSS10" panose="02000500000000000000"/>
              <a:cs typeface="KIIKGA+CMSS10" panose="02000500000000000000"/>
            </a:endParaRPr>
          </a:p>
          <a:p>
            <a:pPr marL="0" marR="0">
              <a:lnSpc>
                <a:spcPts val="3585"/>
              </a:lnSpc>
              <a:spcBef>
                <a:spcPts val="2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KSWBG+CMSY10~25" panose="02000500000000000000"/>
                <a:cs typeface="WKSWB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DTTJVE+CMSSBX10" panose="02000500000000000000"/>
                <a:cs typeface="DTTJVE+CMSSBX10" panose="02000500000000000000"/>
              </a:rPr>
              <a:t>Triggering</a:t>
            </a:r>
            <a:r>
              <a:rPr sz="2050" spc="2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TJVE+CMSSBX10" panose="02000500000000000000"/>
                <a:cs typeface="DTTJVE+CMSSBX10" panose="02000500000000000000"/>
              </a:rPr>
              <a:t>event:</a:t>
            </a:r>
            <a:r>
              <a:rPr sz="2050" spc="3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Traveler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requests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to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view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a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ticket.</a:t>
            </a:r>
            <a:endParaRPr sz="2050">
              <a:solidFill>
                <a:srgbClr val="000000"/>
              </a:solidFill>
              <a:latin typeface="KIIKGA+CMSS10" panose="02000500000000000000"/>
              <a:cs typeface="KIIKGA+CMSS10" panose="02000500000000000000"/>
            </a:endParaRPr>
          </a:p>
          <a:p>
            <a:pPr marL="0" marR="0">
              <a:lnSpc>
                <a:spcPts val="3585"/>
              </a:lnSpc>
              <a:spcBef>
                <a:spcPts val="7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KSWBG+CMSY10~25" panose="02000500000000000000"/>
                <a:cs typeface="WKSWB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TJVE+CMSSBX10" panose="02000500000000000000"/>
                <a:cs typeface="DTTJVE+CMSSBX10" panose="02000500000000000000"/>
              </a:rPr>
              <a:t>Delivered</a:t>
            </a:r>
            <a:r>
              <a:rPr sz="2050" spc="2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TTJVE+CMSSBX10" panose="02000500000000000000"/>
                <a:cs typeface="DTTJVE+CMSSBX10" panose="02000500000000000000"/>
              </a:rPr>
              <a:t>service:</a:t>
            </a:r>
            <a:r>
              <a:rPr sz="2050" spc="4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Display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ticket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attributes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to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the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IKGA+CMSS10" panose="02000500000000000000"/>
                <a:cs typeface="KIIKGA+CMSS10" panose="02000500000000000000"/>
              </a:rPr>
              <a:t>user.</a:t>
            </a:r>
            <a:endParaRPr sz="2050">
              <a:solidFill>
                <a:srgbClr val="000000"/>
              </a:solidFill>
              <a:latin typeface="KIIKGA+CMSS10" panose="02000500000000000000"/>
              <a:cs typeface="KIIKGA+CMSS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4268" y="6311874"/>
            <a:ext cx="735891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5">
                <a:solidFill>
                  <a:srgbClr val="000000"/>
                </a:solidFill>
                <a:latin typeface="GRRAVK+CMR10" panose="02000500000000000000"/>
                <a:cs typeface="GRRAVK+CMR10" panose="02000500000000000000"/>
              </a:rPr>
              <a:t>Why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RRAVK+CMR10" panose="02000500000000000000"/>
                <a:cs typeface="GRRAVK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GRRAVK+CMR10" panose="02000500000000000000"/>
                <a:cs typeface="GRRAVK+CMR10" panose="02000500000000000000"/>
              </a:rPr>
              <a:t>“Traveler”</a:t>
            </a:r>
            <a:r>
              <a:rPr sz="2050" spc="2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RRAVK+CMR10" panose="02000500000000000000"/>
                <a:cs typeface="GRRAVK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RRAVK+CMR10" panose="02000500000000000000"/>
                <a:cs typeface="GRRAVK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GRRAVK+CMR10" panose="02000500000000000000"/>
                <a:cs typeface="GRRAVK+CMR10" panose="02000500000000000000"/>
              </a:rPr>
              <a:t>entity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RRAVK+CMR10" panose="02000500000000000000"/>
                <a:cs typeface="GRRAVK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GRRAVK+CMR10" panose="02000500000000000000"/>
                <a:cs typeface="GRRAVK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GRRAVK+CMR10" panose="02000500000000000000"/>
                <a:cs typeface="GRRAVK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RRAVK+CMR10" panose="02000500000000000000"/>
                <a:cs typeface="GRRAVK+CMR10" panose="02000500000000000000"/>
              </a:rPr>
              <a:t>domain?</a:t>
            </a:r>
            <a:endParaRPr sz="2050">
              <a:solidFill>
                <a:srgbClr val="000000"/>
              </a:solidFill>
              <a:latin typeface="GRRAVK+CMR10" panose="02000500000000000000"/>
              <a:cs typeface="GRRAVK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RENSJH+CMR7" panose="02000500000000000000"/>
                <a:cs typeface="RENSJH+CMR7" panose="02000500000000000000"/>
              </a:rPr>
              <a:t>118</a:t>
            </a:r>
            <a:endParaRPr sz="1450">
              <a:solidFill>
                <a:srgbClr val="000000"/>
              </a:solidFill>
              <a:latin typeface="RENSJH+CMR7" panose="02000500000000000000"/>
              <a:cs typeface="RENSJH+CMR7" panose="02000500000000000000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81325"/>
            <a:ext cx="234248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RDGNBP+CMBX12~c" panose="02000500000000000000"/>
                <a:cs typeface="RDGNBP+CMBX12~c" panose="02000500000000000000"/>
              </a:rPr>
              <a:t>Main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RDGNBP+CMBX12~c" panose="02000500000000000000"/>
                <a:cs typeface="RDGNBP+CMBX12~c" panose="02000500000000000000"/>
              </a:rPr>
              <a:t>points</a:t>
            </a:r>
            <a:endParaRPr sz="2500" spc="-12">
              <a:solidFill>
                <a:srgbClr val="000000"/>
              </a:solidFill>
              <a:latin typeface="RDGNBP+CMBX12~c" panose="02000500000000000000"/>
              <a:cs typeface="RDGNBP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1582901"/>
            <a:ext cx="857859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IJSPQ+CMSY10~25" panose="02000500000000000000"/>
                <a:cs typeface="OIJSPQ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3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Subject</a:t>
            </a:r>
            <a:r>
              <a:rPr sz="2050" spc="1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domain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bounded</a:t>
            </a:r>
            <a:r>
              <a:rPr sz="2050" spc="1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topic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conversation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with</a:t>
            </a:r>
            <a:endParaRPr sz="2050">
              <a:solidFill>
                <a:srgbClr val="000000"/>
              </a:solidFill>
              <a:latin typeface="HBWSEH+CMR10" panose="02000500000000000000"/>
              <a:cs typeface="HBWSEH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06" y="1953235"/>
            <a:ext cx="95655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5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SuD.</a:t>
            </a:r>
            <a:endParaRPr sz="2050" spc="15">
              <a:solidFill>
                <a:srgbClr val="000000"/>
              </a:solidFill>
              <a:latin typeface="HBWSEH+CMR10" panose="02000500000000000000"/>
              <a:cs typeface="HBWSEH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70" y="2472919"/>
            <a:ext cx="7424355" cy="19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IJSPQ+CMSY10~25" panose="02000500000000000000"/>
                <a:cs typeface="OIJSPQ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Entities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contingent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properties,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attributes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do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not.</a:t>
            </a:r>
            <a:endParaRPr sz="2050">
              <a:solidFill>
                <a:srgbClr val="000000"/>
              </a:solidFill>
              <a:latin typeface="HBWSEH+CMR10" panose="02000500000000000000"/>
              <a:cs typeface="HBWSEH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IJSPQ+CMSY10~25" panose="02000500000000000000"/>
                <a:cs typeface="OIJSPQ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Relationships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identiﬁed</a:t>
            </a:r>
            <a:r>
              <a:rPr sz="2050" spc="1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by</a:t>
            </a:r>
            <a:r>
              <a:rPr sz="2050" spc="2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their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components.</a:t>
            </a:r>
            <a:endParaRPr sz="2050" spc="10">
              <a:solidFill>
                <a:srgbClr val="000000"/>
              </a:solidFill>
              <a:latin typeface="HBWSEH+CMR10" panose="02000500000000000000"/>
              <a:cs typeface="HBWSEH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IJSPQ+CMSY10~25" panose="02000500000000000000"/>
                <a:cs typeface="OIJSPQ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Use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specialization</a:t>
            </a:r>
            <a:r>
              <a:rPr sz="2050" spc="1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attribute.</a:t>
            </a:r>
            <a:endParaRPr sz="2050">
              <a:solidFill>
                <a:srgbClr val="000000"/>
              </a:solidFill>
              <a:latin typeface="HBWSEH+CMR10" panose="02000500000000000000"/>
              <a:cs typeface="HBWSEH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75" y="4027403"/>
            <a:ext cx="836400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IJSPQ+CMSY10~25" panose="02000500000000000000"/>
                <a:cs typeface="OIJSPQ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Static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dynamic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specializations</a:t>
            </a:r>
            <a:r>
              <a:rPr sz="2050" spc="1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distinguished</a:t>
            </a:r>
            <a:r>
              <a:rPr sz="2050" spc="1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what</a:t>
            </a:r>
            <a:endParaRPr sz="2050">
              <a:solidFill>
                <a:srgbClr val="000000"/>
              </a:solidFill>
              <a:latin typeface="HBWSEH+CMR10" panose="02000500000000000000"/>
              <a:cs typeface="HBWSEH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707" y="4399261"/>
            <a:ext cx="337765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22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happens</a:t>
            </a:r>
            <a:r>
              <a:rPr sz="2050" spc="1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at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creation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time.</a:t>
            </a:r>
            <a:endParaRPr sz="2050">
              <a:solidFill>
                <a:srgbClr val="000000"/>
              </a:solidFill>
              <a:latin typeface="HBWSEH+CMR10" panose="02000500000000000000"/>
              <a:cs typeface="HBWSEH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80" y="4917422"/>
            <a:ext cx="6910493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IJSPQ+CMSY10~25" panose="02000500000000000000"/>
                <a:cs typeface="OIJSPQ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Classiﬁcation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identiﬁcation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closely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connected.</a:t>
            </a:r>
            <a:endParaRPr sz="2050" spc="12">
              <a:solidFill>
                <a:srgbClr val="000000"/>
              </a:solidFill>
              <a:latin typeface="HBWSEH+CMR10" panose="02000500000000000000"/>
              <a:cs typeface="HBWSEH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IJSPQ+CMSY10~25" panose="02000500000000000000"/>
                <a:cs typeface="OIJSPQ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Roles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reiﬁed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entity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types.</a:t>
            </a:r>
            <a:endParaRPr sz="2050" spc="10">
              <a:solidFill>
                <a:srgbClr val="000000"/>
              </a:solidFill>
              <a:latin typeface="HBWSEH+CMR10" panose="02000500000000000000"/>
              <a:cs typeface="HBWSEH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581" y="5955269"/>
            <a:ext cx="751173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IJSPQ+CMSY10~25" panose="02000500000000000000"/>
                <a:cs typeface="OIJSPQ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Validate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your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ERD: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consistency,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elementary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sentences,</a:t>
            </a:r>
            <a:endParaRPr sz="2050">
              <a:solidFill>
                <a:srgbClr val="000000"/>
              </a:solidFill>
              <a:latin typeface="HBWSEH+CMR10" panose="02000500000000000000"/>
              <a:cs typeface="HBWSEH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6695" y="6325602"/>
            <a:ext cx="553237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snapshots,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check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against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interface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HBWSEH+CMR10" panose="02000500000000000000"/>
                <a:cs typeface="HBWSEH+CMR10" panose="02000500000000000000"/>
              </a:rPr>
              <a:t>SuD.</a:t>
            </a:r>
            <a:endParaRPr sz="2050" spc="15">
              <a:solidFill>
                <a:srgbClr val="000000"/>
              </a:solidFill>
              <a:latin typeface="HBWSEH+CMR10" panose="02000500000000000000"/>
              <a:cs typeface="HBWSEH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LQBDCQ+CMR7" panose="02000500000000000000"/>
                <a:cs typeface="LQBDCQ+CMR7" panose="02000500000000000000"/>
              </a:rPr>
              <a:t>119</a:t>
            </a:r>
            <a:endParaRPr sz="1450">
              <a:solidFill>
                <a:srgbClr val="000000"/>
              </a:solidFill>
              <a:latin typeface="LQBDCQ+CMR7" panose="02000500000000000000"/>
              <a:cs typeface="LQBDCQ+CMR7" panose="02000500000000000000"/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3579161"/>
            <a:ext cx="7618634" cy="1161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HJEENL+CMBX12~c" panose="02000500000000000000"/>
                <a:cs typeface="HJEENL+CMBX12~c" panose="02000500000000000000"/>
              </a:rPr>
              <a:t>Chapter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HJEENL+CMBX12~c" panose="02000500000000000000"/>
                <a:cs typeface="HJEENL+CMBX12~c" panose="02000500000000000000"/>
              </a:rPr>
              <a:t>appendix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HJEENL+CMBX12~c" panose="02000500000000000000"/>
                <a:cs typeface="HJEENL+CMBX12~c" panose="02000500000000000000"/>
              </a:rPr>
              <a:t>(slides</a:t>
            </a:r>
            <a:r>
              <a:rPr sz="2500" spc="2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HJEENL+CMBX12~c" panose="02000500000000000000"/>
                <a:cs typeface="HJEENL+CMBX12~c" panose="02000500000000000000"/>
              </a:rPr>
              <a:t>only):</a:t>
            </a:r>
            <a:r>
              <a:rPr sz="2500" spc="6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HJEENL+CMBX12~c" panose="02000500000000000000"/>
                <a:cs typeface="HJEENL+CMBX12~c" panose="02000500000000000000"/>
              </a:rPr>
              <a:t>describing</a:t>
            </a:r>
            <a:endParaRPr sz="2500" spc="-10">
              <a:solidFill>
                <a:srgbClr val="000000"/>
              </a:solidFill>
              <a:latin typeface="HJEENL+CMBX12~c" panose="02000500000000000000"/>
              <a:cs typeface="HJEENL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435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HJEENL+CMBX12~c" panose="02000500000000000000"/>
                <a:cs typeface="HJEENL+CMBX12~c" panose="02000500000000000000"/>
              </a:rPr>
              <a:t>histories</a:t>
            </a:r>
            <a:r>
              <a:rPr sz="2500" spc="30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HJEENL+CMBX12~c" panose="02000500000000000000"/>
                <a:cs typeface="HJEENL+CMBX12~c" panose="02000500000000000000"/>
              </a:rPr>
              <a:t>and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40">
                <a:solidFill>
                  <a:srgbClr val="000000"/>
                </a:solidFill>
                <a:latin typeface="HJEENL+CMBX12~c" panose="02000500000000000000"/>
                <a:cs typeface="HJEENL+CMBX12~c" panose="02000500000000000000"/>
              </a:rPr>
              <a:t>events</a:t>
            </a:r>
            <a:r>
              <a:rPr sz="2500" spc="3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HJEENL+CMBX12~c" panose="02000500000000000000"/>
                <a:cs typeface="HJEENL+CMBX12~c" panose="02000500000000000000"/>
              </a:rPr>
              <a:t>in</a:t>
            </a:r>
            <a:r>
              <a:rPr sz="2500" spc="2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HJEENL+CMBX12~c" panose="02000500000000000000"/>
                <a:cs typeface="HJEENL+CMBX12~c" panose="02000500000000000000"/>
              </a:rPr>
              <a:t>an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6">
                <a:solidFill>
                  <a:srgbClr val="000000"/>
                </a:solidFill>
                <a:latin typeface="HJEENL+CMBX12~c" panose="02000500000000000000"/>
                <a:cs typeface="HJEENL+CMBX12~c" panose="02000500000000000000"/>
              </a:rPr>
              <a:t>ERD</a:t>
            </a:r>
            <a:endParaRPr sz="2500" spc="-16">
              <a:solidFill>
                <a:srgbClr val="000000"/>
              </a:solidFill>
              <a:latin typeface="HJEENL+CMBX12~c" panose="02000500000000000000"/>
              <a:cs typeface="HJEENL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RCOSQN+CMR7" panose="02000500000000000000"/>
                <a:cs typeface="RCOSQN+CMR7" panose="02000500000000000000"/>
              </a:rPr>
              <a:t>120</a:t>
            </a:r>
            <a:endParaRPr sz="1450">
              <a:solidFill>
                <a:srgbClr val="000000"/>
              </a:solidFill>
              <a:latin typeface="RCOSQN+CMR7" panose="02000500000000000000"/>
              <a:cs typeface="RCOSQN+CMR7" panose="02000500000000000000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431845"/>
            <a:ext cx="185045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RFERLD+CMBX12~c" panose="02000500000000000000"/>
                <a:cs typeface="RFERLD+CMBX12~c" panose="02000500000000000000"/>
              </a:rPr>
              <a:t>Histories</a:t>
            </a:r>
            <a:endParaRPr sz="2500">
              <a:solidFill>
                <a:srgbClr val="000000"/>
              </a:solidFill>
              <a:latin typeface="RFERLD+CMBX12~c" panose="02000500000000000000"/>
              <a:cs typeface="RFERLD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9096" y="2445443"/>
            <a:ext cx="1066786" cy="59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KACSJ+Helvetica" panose="020B0604020202020204"/>
                <a:cs typeface="QKACSJ+Helvetica" panose="020B0604020202020204"/>
              </a:rPr>
              <a:t>Person</a:t>
            </a:r>
            <a:endParaRPr sz="1800">
              <a:solidFill>
                <a:srgbClr val="000000"/>
              </a:solidFill>
              <a:latin typeface="QKACSJ+Helvetica" panose="020B0604020202020204"/>
              <a:cs typeface="QKACSJ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94831" y="2673903"/>
            <a:ext cx="825491" cy="59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KACSJ+Helvetica" panose="020B0604020202020204"/>
                <a:cs typeface="QKACSJ+Helvetica" panose="020B0604020202020204"/>
              </a:rPr>
              <a:t>Date</a:t>
            </a:r>
            <a:endParaRPr sz="1800">
              <a:solidFill>
                <a:srgbClr val="000000"/>
              </a:solidFill>
              <a:latin typeface="QKACSJ+Helvetica" panose="020B0604020202020204"/>
              <a:cs typeface="QKACSJ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2770" y="2959488"/>
            <a:ext cx="1397079" cy="59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KACSJ+Helvetica" panose="020B0604020202020204"/>
                <a:cs typeface="QKACSJ+Helvetica" panose="020B0604020202020204"/>
              </a:rPr>
              <a:t>blood type</a:t>
            </a:r>
            <a:endParaRPr sz="1800">
              <a:solidFill>
                <a:srgbClr val="000000"/>
              </a:solidFill>
              <a:latin typeface="QKACSJ+Helvetica" panose="020B0604020202020204"/>
              <a:cs typeface="QKACSJ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94213" y="3450686"/>
            <a:ext cx="2057275" cy="59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KACSJ+Helvetica" panose="020B0604020202020204"/>
                <a:cs typeface="QKACSJ+Helvetica" panose="020B0604020202020204"/>
              </a:rPr>
              <a:t>Person snapshot</a:t>
            </a:r>
            <a:endParaRPr sz="1800">
              <a:solidFill>
                <a:srgbClr val="000000"/>
              </a:solidFill>
              <a:latin typeface="QKACSJ+Helvetica" panose="020B0604020202020204"/>
              <a:cs typeface="QKACSJ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26135" y="3964744"/>
            <a:ext cx="1003311" cy="8951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KACSJ+Helvetica" panose="020B0604020202020204"/>
                <a:cs typeface="QKACSJ+Helvetica" panose="020B0604020202020204"/>
              </a:rPr>
              <a:t>name</a:t>
            </a:r>
            <a:endParaRPr sz="1800">
              <a:solidFill>
                <a:srgbClr val="000000"/>
              </a:solidFill>
              <a:latin typeface="QKACSJ+Helvetica" panose="020B0604020202020204"/>
              <a:cs typeface="QKACSJ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KACSJ+Helvetica" panose="020B0604020202020204"/>
                <a:cs typeface="QKACSJ+Helvetica" panose="020B0604020202020204"/>
              </a:rPr>
              <a:t>weight</a:t>
            </a:r>
            <a:endParaRPr sz="1800">
              <a:solidFill>
                <a:srgbClr val="000000"/>
              </a:solidFill>
              <a:latin typeface="QKACSJ+Helvetica" panose="020B0604020202020204"/>
              <a:cs typeface="QKACSJ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80" y="5086577"/>
            <a:ext cx="559102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GVSRU+CMSY10~25" panose="02000500000000000000"/>
                <a:cs typeface="AGVSR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MERQM+CMR10" panose="02000500000000000000"/>
                <a:cs typeface="NMERQM+CMR10" panose="02000500000000000000"/>
              </a:rPr>
              <a:t>Fixed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MERQM+CMR10" panose="02000500000000000000"/>
                <a:cs typeface="NMERQM+CMR10" panose="02000500000000000000"/>
              </a:rPr>
              <a:t>attributes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MERQM+CMR10" panose="02000500000000000000"/>
                <a:cs typeface="NMERQM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MERQM+CMR10" panose="02000500000000000000"/>
                <a:cs typeface="NMERQM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DHNE+CMSS10" panose="02000500000000000000"/>
                <a:cs typeface="SRDHNE+CMSS10" panose="02000500000000000000"/>
              </a:rPr>
              <a:t>Person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NMERQM+CMR10" panose="02000500000000000000"/>
                <a:cs typeface="NMERQM+CMR10" panose="02000500000000000000"/>
              </a:rPr>
              <a:t>typ</a:t>
            </a:r>
            <a:r>
              <a:rPr sz="2050" spc="-4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MERQM+CMR10" panose="02000500000000000000"/>
                <a:cs typeface="NMERQM+CMR10" panose="02000500000000000000"/>
              </a:rPr>
              <a:t>e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MERQM+CMR10" panose="02000500000000000000"/>
                <a:cs typeface="NMERQM+CMR10" panose="02000500000000000000"/>
              </a:rPr>
              <a:t>b</a:t>
            </a:r>
            <a:r>
              <a:rPr sz="2050" spc="-4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NMERQM+CMR10" panose="02000500000000000000"/>
                <a:cs typeface="NMERQM+CMR10" panose="02000500000000000000"/>
              </a:rPr>
              <a:t>ox.</a:t>
            </a:r>
            <a:endParaRPr sz="2050" spc="-14">
              <a:solidFill>
                <a:srgbClr val="000000"/>
              </a:solidFill>
              <a:latin typeface="NMERQM+CMR10" panose="02000500000000000000"/>
              <a:cs typeface="NMERQM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580" y="5604739"/>
            <a:ext cx="778328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GVSRU+CMSY10~25" panose="02000500000000000000"/>
                <a:cs typeface="AGVSR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NMERQM+CMR10" panose="02000500000000000000"/>
                <a:cs typeface="NMERQM+CMR10" panose="02000500000000000000"/>
              </a:rPr>
              <a:t>Date-dependent</a:t>
            </a:r>
            <a:r>
              <a:rPr sz="2050" spc="1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MERQM+CMR10" panose="02000500000000000000"/>
                <a:cs typeface="NMERQM+CMR10" panose="02000500000000000000"/>
              </a:rPr>
              <a:t>attributes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MERQM+CMR10" panose="02000500000000000000"/>
                <a:cs typeface="NMERQM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MERQM+CMR10" panose="02000500000000000000"/>
                <a:cs typeface="NMERQM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MERQM+CMR10" panose="02000500000000000000"/>
                <a:cs typeface="NMERQM+CMR10" panose="02000500000000000000"/>
              </a:rPr>
              <a:t>associative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NMERQM+CMR10" panose="02000500000000000000"/>
                <a:cs typeface="NMERQM+CMR10" panose="02000500000000000000"/>
              </a:rPr>
              <a:t>entity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MERQM+CMR10" panose="02000500000000000000"/>
                <a:cs typeface="NMERQM+CMR10" panose="02000500000000000000"/>
              </a:rPr>
              <a:t>which</a:t>
            </a:r>
            <a:endParaRPr sz="2050">
              <a:solidFill>
                <a:srgbClr val="000000"/>
              </a:solidFill>
              <a:latin typeface="NMERQM+CMR10" panose="02000500000000000000"/>
              <a:cs typeface="NMERQM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6705" y="5976597"/>
            <a:ext cx="518706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MERQM+CMR10" panose="02000500000000000000"/>
                <a:cs typeface="NMERQM+CMR10" panose="02000500000000000000"/>
              </a:rPr>
              <a:t>represents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MERQM+CMR10" panose="02000500000000000000"/>
                <a:cs typeface="NMERQM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NMERQM+CMR10" panose="02000500000000000000"/>
                <a:cs typeface="NMERQM+CMR10" panose="02000500000000000000"/>
              </a:rPr>
              <a:t>person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MERQM+CMR10" panose="02000500000000000000"/>
                <a:cs typeface="NMERQM+CMR10" panose="02000500000000000000"/>
              </a:rPr>
              <a:t>at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MERQM+CMR10" panose="02000500000000000000"/>
                <a:cs typeface="NMERQM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MERQM+CMR10" panose="02000500000000000000"/>
                <a:cs typeface="NMERQM+CMR10" panose="02000500000000000000"/>
              </a:rPr>
              <a:t>certain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MERQM+CMR10" panose="02000500000000000000"/>
                <a:cs typeface="NMERQM+CMR10" panose="02000500000000000000"/>
              </a:rPr>
              <a:t>date.</a:t>
            </a:r>
            <a:endParaRPr sz="2050" spc="10">
              <a:solidFill>
                <a:srgbClr val="000000"/>
              </a:solidFill>
              <a:latin typeface="NMERQM+CMR10" panose="02000500000000000000"/>
              <a:cs typeface="NMERQM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FRKLT+CMR7" panose="02000500000000000000"/>
                <a:cs typeface="EFRKLT+CMR7" panose="02000500000000000000"/>
              </a:rPr>
              <a:t>121</a:t>
            </a:r>
            <a:endParaRPr sz="1450">
              <a:solidFill>
                <a:srgbClr val="000000"/>
              </a:solidFill>
              <a:latin typeface="EFRKLT+CMR7" panose="02000500000000000000"/>
              <a:cs typeface="EFRKLT+CMR7" panose="02000500000000000000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404157"/>
            <a:ext cx="153083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40">
                <a:solidFill>
                  <a:srgbClr val="000000"/>
                </a:solidFill>
                <a:latin typeface="WQKCSC+CMBX12~c" panose="02000500000000000000"/>
                <a:cs typeface="WQKCSC+CMBX12~c" panose="02000500000000000000"/>
              </a:rPr>
              <a:t>Events</a:t>
            </a:r>
            <a:endParaRPr sz="2500" spc="-40">
              <a:solidFill>
                <a:srgbClr val="000000"/>
              </a:solidFill>
              <a:latin typeface="WQKCSC+CMBX12~c" panose="02000500000000000000"/>
              <a:cs typeface="WQKCSC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7614" y="3350108"/>
            <a:ext cx="1066318" cy="598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UNTIG+Helvetica" panose="020B0604020202020204"/>
                <a:cs typeface="IUNTIG+Helvetica" panose="020B0604020202020204"/>
              </a:rPr>
              <a:t>Borrow</a:t>
            </a:r>
            <a:endParaRPr sz="1800">
              <a:solidFill>
                <a:srgbClr val="000000"/>
              </a:solidFill>
              <a:latin typeface="IUNTIG+Helvetica" panose="020B0604020202020204"/>
              <a:cs typeface="IUNTIG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90509" y="3669856"/>
            <a:ext cx="1066541" cy="598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UNTIG+Helvetica" panose="020B0604020202020204"/>
                <a:cs typeface="IUNTIG+Helvetica" panose="020B0604020202020204"/>
              </a:rPr>
              <a:t>Person</a:t>
            </a:r>
            <a:endParaRPr sz="1800">
              <a:solidFill>
                <a:srgbClr val="000000"/>
              </a:solidFill>
              <a:latin typeface="IUNTIG+Helvetica" panose="020B0604020202020204"/>
              <a:cs typeface="IUNTIG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28703" y="3669856"/>
            <a:ext cx="1383810" cy="598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UNTIG+Helvetica" panose="020B0604020202020204"/>
                <a:cs typeface="IUNTIG+Helvetica" panose="020B0604020202020204"/>
              </a:rPr>
              <a:t>Document</a:t>
            </a:r>
            <a:endParaRPr sz="1800">
              <a:solidFill>
                <a:srgbClr val="000000"/>
              </a:solidFill>
              <a:latin typeface="IUNTIG+Helvetica" panose="020B0604020202020204"/>
              <a:cs typeface="IUNTIG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78" y="4483074"/>
            <a:ext cx="6942528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HGSJB+CMSY10~25" panose="02000500000000000000"/>
                <a:cs typeface="KHGSJ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">
                <a:solidFill>
                  <a:srgbClr val="000000"/>
                </a:solidFill>
                <a:latin typeface="KEJIUF+CMSS10" panose="02000500000000000000"/>
                <a:cs typeface="KEJIUF+CMSS10" panose="02000500000000000000"/>
              </a:rPr>
              <a:t>Borrow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HVTHU+CMR10" panose="02000500000000000000"/>
                <a:cs typeface="GHVTHU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HVTHU+CMR10" panose="02000500000000000000"/>
                <a:cs typeface="GHVTHU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GHVTHU+CMR10" panose="02000500000000000000"/>
                <a:cs typeface="GHVTHU+CMR10" panose="02000500000000000000"/>
              </a:rPr>
              <a:t>event.</a:t>
            </a:r>
            <a:endParaRPr sz="2050" spc="-12">
              <a:solidFill>
                <a:srgbClr val="000000"/>
              </a:solidFill>
              <a:latin typeface="GHVTHU+CMR10" panose="02000500000000000000"/>
              <a:cs typeface="GHVTHU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HGSJB+CMSY10~25" panose="02000500000000000000"/>
                <a:cs typeface="KHGSJ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HVTHU+CMR10" panose="02000500000000000000"/>
                <a:cs typeface="GHVTHU+CMR10" panose="02000500000000000000"/>
              </a:rPr>
              <a:t>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HVTHU+CMR10" panose="02000500000000000000"/>
                <a:cs typeface="GHVTHU+CMR10" panose="02000500000000000000"/>
              </a:rPr>
              <a:t>instance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HVTHU+CMR10" panose="02000500000000000000"/>
                <a:cs typeface="GHVTHU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">
                <a:solidFill>
                  <a:srgbClr val="000000"/>
                </a:solidFill>
                <a:latin typeface="KEJIUF+CMSS10" panose="02000500000000000000"/>
                <a:cs typeface="KEJIUF+CMSS10" panose="02000500000000000000"/>
              </a:rPr>
              <a:t>Borrow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HVTHU+CMR10" panose="02000500000000000000"/>
                <a:cs typeface="GHVTHU+CMR10" panose="02000500000000000000"/>
              </a:rPr>
              <a:t>exists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HVTHU+CMR10" panose="02000500000000000000"/>
                <a:cs typeface="GHVTHU+CMR10" panose="02000500000000000000"/>
              </a:rPr>
              <a:t>for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HVTHU+CMR10" panose="02000500000000000000"/>
                <a:cs typeface="GHVTHU+CMR10" panose="02000500000000000000"/>
              </a:rPr>
              <a:t>one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HVTHU+CMR10" panose="02000500000000000000"/>
                <a:cs typeface="GHVTHU+CMR10" panose="02000500000000000000"/>
              </a:rPr>
              <a:t>moment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6">
                <a:solidFill>
                  <a:srgbClr val="000000"/>
                </a:solidFill>
                <a:latin typeface="GHVTHU+CMR10" panose="02000500000000000000"/>
                <a:cs typeface="GHVTHU+CMR10" panose="02000500000000000000"/>
              </a:rPr>
              <a:t>only.</a:t>
            </a:r>
            <a:endParaRPr sz="2050" spc="-26">
              <a:solidFill>
                <a:srgbClr val="000000"/>
              </a:solidFill>
              <a:latin typeface="GHVTHU+CMR10" panose="02000500000000000000"/>
              <a:cs typeface="GHVTHU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PRSLPJ+CMR7" panose="02000500000000000000"/>
                <a:cs typeface="PRSLPJ+CMR7" panose="02000500000000000000"/>
              </a:rPr>
              <a:t>122</a:t>
            </a:r>
            <a:endParaRPr sz="1450">
              <a:solidFill>
                <a:srgbClr val="000000"/>
              </a:solidFill>
              <a:latin typeface="PRSLPJ+CMR7" panose="02000500000000000000"/>
              <a:cs typeface="PRSLPJ+CMR7" panose="02000500000000000000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96028" y="2069946"/>
            <a:ext cx="825510" cy="59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CNAHD+Helvetica" panose="020B0604020202020204"/>
                <a:cs typeface="UCNAHD+Helvetica" panose="020B0604020202020204"/>
              </a:rPr>
              <a:t>Date</a:t>
            </a:r>
            <a:endParaRPr sz="1800">
              <a:solidFill>
                <a:srgbClr val="000000"/>
              </a:solidFill>
              <a:latin typeface="UCNAHD+Helvetica" panose="020B0604020202020204"/>
              <a:cs typeface="UCNAHD+Helvetica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75506" y="2892462"/>
            <a:ext cx="1066591" cy="59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CNAHD+Helvetica" panose="020B0604020202020204"/>
                <a:cs typeface="UCNAHD+Helvetica" panose="020B0604020202020204"/>
              </a:rPr>
              <a:t>Borrow</a:t>
            </a:r>
            <a:endParaRPr sz="1800">
              <a:solidFill>
                <a:srgbClr val="000000"/>
              </a:solidFill>
              <a:latin typeface="UCNAHD+Helvetica" panose="020B0604020202020204"/>
              <a:cs typeface="UCNAHD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90636" y="2983851"/>
            <a:ext cx="1066815" cy="59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CNAHD+Helvetica" panose="020B0604020202020204"/>
                <a:cs typeface="UCNAHD+Helvetica" panose="020B0604020202020204"/>
              </a:rPr>
              <a:t>Person</a:t>
            </a:r>
            <a:endParaRPr sz="1800">
              <a:solidFill>
                <a:srgbClr val="000000"/>
              </a:solidFill>
              <a:latin typeface="UCNAHD+Helvetica" panose="020B0604020202020204"/>
              <a:cs typeface="UCNAHD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15710" y="2983851"/>
            <a:ext cx="1384204" cy="59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CNAHD+Helvetica" panose="020B0604020202020204"/>
                <a:cs typeface="UCNAHD+Helvetica" panose="020B0604020202020204"/>
              </a:rPr>
              <a:t>Document</a:t>
            </a:r>
            <a:endParaRPr sz="1800">
              <a:solidFill>
                <a:srgbClr val="000000"/>
              </a:solidFill>
              <a:latin typeface="UCNAHD+Helvetica" panose="020B0604020202020204"/>
              <a:cs typeface="UCNAHD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80" y="3797273"/>
            <a:ext cx="347207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OPWGD+CMSY10~25" panose="02000500000000000000"/>
                <a:cs typeface="KOPWGD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">
                <a:solidFill>
                  <a:srgbClr val="000000"/>
                </a:solidFill>
                <a:latin typeface="FWTHVD+CMSS10" panose="02000500000000000000"/>
                <a:cs typeface="FWTHVD+CMSS10" panose="02000500000000000000"/>
              </a:rPr>
              <a:t>Borrow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dated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event.</a:t>
            </a:r>
            <a:endParaRPr sz="2050" spc="-12">
              <a:solidFill>
                <a:srgbClr val="000000"/>
              </a:solidFill>
              <a:latin typeface="SGDTWH+CMR10" panose="02000500000000000000"/>
              <a:cs typeface="SGDTWH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86" y="4316958"/>
            <a:ext cx="802547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OPWGD+CMSY10~25" panose="02000500000000000000"/>
                <a:cs typeface="KOPWGD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instance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">
                <a:solidFill>
                  <a:srgbClr val="000000"/>
                </a:solidFill>
                <a:latin typeface="FWTHVD+CMSS10" panose="02000500000000000000"/>
                <a:cs typeface="FWTHVD+CMSS10" panose="02000500000000000000"/>
              </a:rPr>
              <a:t>Borrow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represents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fact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at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certain</a:t>
            </a:r>
            <a:endParaRPr sz="2050">
              <a:solidFill>
                <a:srgbClr val="000000"/>
              </a:solidFill>
              <a:latin typeface="SGDTWH+CMR10" panose="02000500000000000000"/>
              <a:cs typeface="SGDTWH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723" y="4687291"/>
            <a:ext cx="592092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date,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person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borrowed</a:t>
            </a:r>
            <a:r>
              <a:rPr sz="2050" spc="1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certain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document.</a:t>
            </a:r>
            <a:endParaRPr sz="2050" spc="11">
              <a:solidFill>
                <a:srgbClr val="000000"/>
              </a:solidFill>
              <a:latin typeface="SGDTWH+CMR10" panose="02000500000000000000"/>
              <a:cs typeface="SGDTWH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588" y="5206975"/>
            <a:ext cx="6809979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OPWGD+CMSY10~25" panose="02000500000000000000"/>
                <a:cs typeface="KOPWGD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instance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">
                <a:solidFill>
                  <a:srgbClr val="000000"/>
                </a:solidFill>
                <a:latin typeface="FWTHVD+CMSS10" panose="02000500000000000000"/>
                <a:cs typeface="FWTHVD+CMSS10" panose="02000500000000000000"/>
              </a:rPr>
              <a:t>Borrow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has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identiﬁer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WTHVD+CMSS10" panose="02000500000000000000"/>
                <a:cs typeface="FWTHVD+CMSS10" panose="02000500000000000000"/>
              </a:rPr>
              <a:t>(p,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WTHVD+CMSS10" panose="02000500000000000000"/>
                <a:cs typeface="FWTHVD+CMSS10" panose="02000500000000000000"/>
              </a:rPr>
              <a:t>dt,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WTHVD+CMSS10" panose="02000500000000000000"/>
                <a:cs typeface="FWTHVD+CMSS10" panose="02000500000000000000"/>
              </a:rPr>
              <a:t>dc)</a:t>
            </a:r>
            <a:r>
              <a:rPr sz="205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.</a:t>
            </a:r>
            <a:endParaRPr sz="2050">
              <a:solidFill>
                <a:srgbClr val="000000"/>
              </a:solidFill>
              <a:latin typeface="SGDTWH+CMR10" panose="02000500000000000000"/>
              <a:cs typeface="SGDTWH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OPWGD+CMSY10~25" panose="02000500000000000000"/>
                <a:cs typeface="KOPWGD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1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We</a:t>
            </a:r>
            <a:r>
              <a:rPr sz="2050" spc="3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include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time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indication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date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7">
                <a:solidFill>
                  <a:srgbClr val="000000"/>
                </a:solidFill>
                <a:latin typeface="SGDTWH+CMR10" panose="02000500000000000000"/>
                <a:cs typeface="SGDTWH+CMR10" panose="02000500000000000000"/>
              </a:rPr>
              <a:t>too.</a:t>
            </a:r>
            <a:endParaRPr sz="2050" spc="27">
              <a:solidFill>
                <a:srgbClr val="000000"/>
              </a:solidFill>
              <a:latin typeface="SGDTWH+CMR10" panose="02000500000000000000"/>
              <a:cs typeface="SGDTWH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VVTBK+CMR7" panose="02000500000000000000"/>
                <a:cs typeface="QVVTBK+CMR7" panose="02000500000000000000"/>
              </a:rPr>
              <a:t>123</a:t>
            </a:r>
            <a:endParaRPr sz="1450">
              <a:solidFill>
                <a:srgbClr val="000000"/>
              </a:solidFill>
              <a:latin typeface="QVVTBK+CMR7" panose="02000500000000000000"/>
              <a:cs typeface="QVVTBK+CMR7" panose="02000500000000000000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96028" y="2279560"/>
            <a:ext cx="825510" cy="59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VFKWMS+Helvetica" panose="020B0604020202020204"/>
                <a:cs typeface="VFKWMS+Helvetica" panose="020B0604020202020204"/>
              </a:rPr>
              <a:t>Date</a:t>
            </a:r>
            <a:endParaRPr sz="1800">
              <a:solidFill>
                <a:srgbClr val="000000"/>
              </a:solidFill>
              <a:latin typeface="VFKWMS+Helvetica" panose="020B0604020202020204"/>
              <a:cs typeface="VFKWMS+Helvetica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0636" y="3193452"/>
            <a:ext cx="1066815" cy="59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VFKWMS+Helvetica" panose="020B0604020202020204"/>
                <a:cs typeface="VFKWMS+Helvetica" panose="020B0604020202020204"/>
              </a:rPr>
              <a:t>Person</a:t>
            </a:r>
            <a:endParaRPr sz="1800">
              <a:solidFill>
                <a:srgbClr val="000000"/>
              </a:solidFill>
              <a:latin typeface="VFKWMS+Helvetica" panose="020B0604020202020204"/>
              <a:cs typeface="VFKWMS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15710" y="3193452"/>
            <a:ext cx="1384204" cy="59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VFKWMS+Helvetica" panose="020B0604020202020204"/>
                <a:cs typeface="VFKWMS+Helvetica" panose="020B0604020202020204"/>
              </a:rPr>
              <a:t>Document</a:t>
            </a:r>
            <a:endParaRPr sz="1800">
              <a:solidFill>
                <a:srgbClr val="000000"/>
              </a:solidFill>
              <a:latin typeface="VFKWMS+Helvetica" panose="020B0604020202020204"/>
              <a:cs typeface="VFKWMS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75506" y="4175899"/>
            <a:ext cx="1066591" cy="59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VFKWMS+Helvetica" panose="020B0604020202020204"/>
                <a:cs typeface="VFKWMS+Helvetica" panose="020B0604020202020204"/>
              </a:rPr>
              <a:t>Borrow</a:t>
            </a:r>
            <a:endParaRPr sz="1800">
              <a:solidFill>
                <a:srgbClr val="000000"/>
              </a:solidFill>
              <a:latin typeface="VFKWMS+Helvetica" panose="020B0604020202020204"/>
              <a:cs typeface="VFKWMS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03370" y="4689970"/>
            <a:ext cx="1232161" cy="59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VFKWMS+Helvetica" panose="020B0604020202020204"/>
                <a:cs typeface="VFKWMS+Helvetica" panose="020B0604020202020204"/>
              </a:rPr>
              <a:t>due date</a:t>
            </a:r>
            <a:endParaRPr sz="1800">
              <a:solidFill>
                <a:srgbClr val="000000"/>
              </a:solidFill>
              <a:latin typeface="VFKWMS+Helvetica" panose="020B0604020202020204"/>
              <a:cs typeface="VFKWMS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80" y="5514822"/>
            <a:ext cx="420082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DQKVW+CMSY10~25" panose="02000500000000000000"/>
                <a:cs typeface="VDQKVW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UTDITF+CMR10" panose="02000500000000000000"/>
                <a:cs typeface="UTDITF+CMR10" panose="02000500000000000000"/>
              </a:rPr>
              <a:t>Now</a:t>
            </a:r>
            <a:r>
              <a:rPr sz="2050" spc="2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">
                <a:solidFill>
                  <a:srgbClr val="000000"/>
                </a:solidFill>
                <a:latin typeface="ODQPAN+CMSS10" panose="02000500000000000000"/>
                <a:cs typeface="ODQPAN+CMSS10" panose="02000500000000000000"/>
              </a:rPr>
              <a:t>Borrow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TDITF+CMR10" panose="02000500000000000000"/>
                <a:cs typeface="UTDITF+CMR10" panose="02000500000000000000"/>
              </a:rPr>
              <a:t>has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TDITF+CMR10" panose="02000500000000000000"/>
                <a:cs typeface="UTDITF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TDITF+CMR10" panose="02000500000000000000"/>
                <a:cs typeface="UTDITF+CMR10" panose="02000500000000000000"/>
              </a:rPr>
              <a:t>attribute.</a:t>
            </a:r>
            <a:endParaRPr sz="2050">
              <a:solidFill>
                <a:srgbClr val="000000"/>
              </a:solidFill>
              <a:latin typeface="UTDITF+CMR10" panose="02000500000000000000"/>
              <a:cs typeface="UTDITF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IBGHGF+CMR7" panose="02000500000000000000"/>
                <a:cs typeface="IBGHGF+CMR7" panose="02000500000000000000"/>
              </a:rPr>
              <a:t>124</a:t>
            </a:r>
            <a:endParaRPr sz="1450">
              <a:solidFill>
                <a:srgbClr val="000000"/>
              </a:solidFill>
              <a:latin typeface="IBGHGF+CMR7" panose="02000500000000000000"/>
              <a:cs typeface="IBGHGF+CMR7" panose="02000500000000000000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914990" y="2711919"/>
            <a:ext cx="787579" cy="59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BVVIP+Helvetica" panose="020B0604020202020204"/>
                <a:cs typeface="UBVVIP+Helvetica" panose="020B0604020202020204"/>
              </a:rPr>
              <a:t>date</a:t>
            </a:r>
            <a:endParaRPr sz="1800">
              <a:solidFill>
                <a:srgbClr val="000000"/>
              </a:solidFill>
              <a:latin typeface="UBVVIP+Helvetica" panose="020B0604020202020204"/>
              <a:cs typeface="UBVVIP+Helvetica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0636" y="2803308"/>
            <a:ext cx="1066815" cy="59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BVVIP+Helvetica" panose="020B0604020202020204"/>
                <a:cs typeface="UBVVIP+Helvetica" panose="020B0604020202020204"/>
              </a:rPr>
              <a:t>Person</a:t>
            </a:r>
            <a:endParaRPr sz="1800">
              <a:solidFill>
                <a:srgbClr val="000000"/>
              </a:solidFill>
              <a:latin typeface="UBVVIP+Helvetica" panose="020B0604020202020204"/>
              <a:cs typeface="UBVVIP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15710" y="2803308"/>
            <a:ext cx="1384204" cy="59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BVVIP+Helvetica" panose="020B0604020202020204"/>
                <a:cs typeface="UBVVIP+Helvetica" panose="020B0604020202020204"/>
              </a:rPr>
              <a:t>Document</a:t>
            </a:r>
            <a:endParaRPr sz="1800">
              <a:solidFill>
                <a:srgbClr val="000000"/>
              </a:solidFill>
              <a:latin typeface="UBVVIP+Helvetica" panose="020B0604020202020204"/>
              <a:cs typeface="UBVVIP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75506" y="3785755"/>
            <a:ext cx="1066591" cy="59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BVVIP+Helvetica" panose="020B0604020202020204"/>
                <a:cs typeface="UBVVIP+Helvetica" panose="020B0604020202020204"/>
              </a:rPr>
              <a:t>Borrow</a:t>
            </a:r>
            <a:endParaRPr sz="1800">
              <a:solidFill>
                <a:srgbClr val="000000"/>
              </a:solidFill>
              <a:latin typeface="UBVVIP+Helvetica" panose="020B0604020202020204"/>
              <a:cs typeface="UBVVIP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03370" y="4299825"/>
            <a:ext cx="1232161" cy="59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UBVVIP+Helvetica" panose="020B0604020202020204"/>
                <a:cs typeface="UBVVIP+Helvetica" panose="020B0604020202020204"/>
              </a:rPr>
              <a:t>due date</a:t>
            </a:r>
            <a:endParaRPr sz="1800">
              <a:solidFill>
                <a:srgbClr val="000000"/>
              </a:solidFill>
              <a:latin typeface="UBVVIP+Helvetica" panose="020B0604020202020204"/>
              <a:cs typeface="UBVVIP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80" y="5124677"/>
            <a:ext cx="8653701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WMBSO+CMSY10~25" panose="02000500000000000000"/>
                <a:cs typeface="KWMBS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SRUJAG+CMR10" panose="02000500000000000000"/>
                <a:cs typeface="SRUJAG+CMR10" panose="02000500000000000000"/>
              </a:rPr>
              <a:t>Convention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UJAG+CMR10" panose="02000500000000000000"/>
                <a:cs typeface="SRUJAG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UJAG+CMR10" panose="02000500000000000000"/>
                <a:cs typeface="SRUJAG+CMR10" panose="02000500000000000000"/>
              </a:rPr>
              <a:t>abbreviates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RUJAG+CMR10" panose="02000500000000000000"/>
                <a:cs typeface="SRUJAG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UJAG+CMR10" panose="02000500000000000000"/>
                <a:cs typeface="SRUJAG+CMR10" panose="02000500000000000000"/>
              </a:rPr>
              <a:t>diagram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UJAG+CMR10" panose="02000500000000000000"/>
                <a:cs typeface="SRUJAG+CMR10" panose="02000500000000000000"/>
              </a:rPr>
              <a:t>on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RUJAG+CMR10" panose="02000500000000000000"/>
                <a:cs typeface="SRUJAG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UJAG+CMR10" panose="02000500000000000000"/>
                <a:cs typeface="SRUJAG+CMR10" panose="02000500000000000000"/>
              </a:rPr>
              <a:t>previous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RUJAG+CMR10" panose="02000500000000000000"/>
                <a:cs typeface="SRUJAG+CMR10" panose="02000500000000000000"/>
              </a:rPr>
              <a:t>slide.</a:t>
            </a:r>
            <a:endParaRPr sz="2050">
              <a:solidFill>
                <a:srgbClr val="000000"/>
              </a:solidFill>
              <a:latin typeface="SRUJAG+CMR10" panose="02000500000000000000"/>
              <a:cs typeface="SRUJAG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RAQMFG+CMR7" panose="02000500000000000000"/>
                <a:cs typeface="RAQMFG+CMR7" panose="02000500000000000000"/>
              </a:rPr>
              <a:t>125</a:t>
            </a:r>
            <a:endParaRPr sz="1450">
              <a:solidFill>
                <a:srgbClr val="000000"/>
              </a:solidFill>
              <a:latin typeface="RAQMFG+CMR7" panose="02000500000000000000"/>
              <a:cs typeface="RAQMFG+CMR7" panose="02000500000000000000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375457"/>
            <a:ext cx="7878379" cy="19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688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GWNTQQ+CMBX12~c" panose="02000500000000000000"/>
                <a:cs typeface="GWNTQQ+CMBX12~c" panose="02000500000000000000"/>
              </a:rPr>
              <a:t>Chapter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GWNTQQ+CMBX12~c" panose="02000500000000000000"/>
                <a:cs typeface="GWNTQQ+CMBX12~c" panose="02000500000000000000"/>
              </a:rPr>
              <a:t>10.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GWNTQQ+CMBX12~c" panose="02000500000000000000"/>
                <a:cs typeface="GWNTQQ+CMBX12~c" panose="02000500000000000000"/>
              </a:rPr>
              <a:t>The</a:t>
            </a:r>
            <a:r>
              <a:rPr sz="2500" spc="3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GWNTQQ+CMBX12~c" panose="02000500000000000000"/>
                <a:cs typeface="GWNTQQ+CMBX12~c" panose="02000500000000000000"/>
              </a:rPr>
              <a:t>Dictionary</a:t>
            </a:r>
            <a:endParaRPr sz="2500" spc="-11">
              <a:solidFill>
                <a:srgbClr val="000000"/>
              </a:solidFill>
              <a:latin typeface="GWNTQQ+CMBX12~c" panose="02000500000000000000"/>
              <a:cs typeface="GWNTQQ+CMBX12~c" panose="02000500000000000000"/>
            </a:endParaRPr>
          </a:p>
          <a:p>
            <a:pPr marL="0" marR="0">
              <a:lnSpc>
                <a:spcPts val="2520"/>
              </a:lnSpc>
              <a:spcBef>
                <a:spcPts val="156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dictionary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documents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meaning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important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terms:</a:t>
            </a:r>
            <a:endParaRPr sz="2050">
              <a:solidFill>
                <a:srgbClr val="000000"/>
              </a:solidFill>
              <a:latin typeface="BEMWJM+CMR10" panose="02000500000000000000"/>
              <a:cs typeface="BEMWJM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KWJMW+CMSY10~25" panose="02000500000000000000"/>
                <a:cs typeface="PKWJMW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6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Words</a:t>
            </a:r>
            <a:r>
              <a:rPr sz="2050" spc="20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used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service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descriptions</a:t>
            </a:r>
            <a:endParaRPr sz="2050">
              <a:solidFill>
                <a:srgbClr val="000000"/>
              </a:solidFill>
              <a:latin typeface="BEMWJM+CMR10" panose="02000500000000000000"/>
              <a:cs typeface="BEMWJM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53" y="2911831"/>
            <a:ext cx="8428942" cy="1934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KWJMW+CMSY10~25" panose="02000500000000000000"/>
                <a:cs typeface="PKWJMW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6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Words</a:t>
            </a:r>
            <a:r>
              <a:rPr sz="2050" spc="20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used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messages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cross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external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SuD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interface</a:t>
            </a:r>
            <a:endParaRPr sz="2050">
              <a:solidFill>
                <a:srgbClr val="000000"/>
              </a:solidFill>
              <a:latin typeface="BEMWJM+CMR10" panose="02000500000000000000"/>
              <a:cs typeface="BEMWJM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KWJMW+CMSY10~25" panose="02000500000000000000"/>
                <a:cs typeface="PKWJMW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Domain-speciﬁc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jargon</a:t>
            </a:r>
            <a:endParaRPr sz="2050">
              <a:solidFill>
                <a:srgbClr val="000000"/>
              </a:solidFill>
              <a:latin typeface="BEMWJM+CMR10" panose="02000500000000000000"/>
              <a:cs typeface="BEMWJM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5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KWJMW+CMSY10~25" panose="02000500000000000000"/>
                <a:cs typeface="PKWJMW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etc.</a:t>
            </a:r>
            <a:endParaRPr sz="2050" spc="12">
              <a:solidFill>
                <a:srgbClr val="000000"/>
              </a:solidFill>
              <a:latin typeface="BEMWJM+CMR10" panose="02000500000000000000"/>
              <a:cs typeface="BEMWJM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237" y="4467840"/>
            <a:ext cx="8800317" cy="14525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domain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ERD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visual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supplement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dictionary,</a:t>
            </a:r>
            <a:endParaRPr sz="2050">
              <a:solidFill>
                <a:srgbClr val="000000"/>
              </a:solidFill>
              <a:latin typeface="BEMWJM+CMR10" panose="02000500000000000000"/>
              <a:cs typeface="BEMWJM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adds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some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precision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terms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refer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domain</a:t>
            </a:r>
            <a:endParaRPr sz="2050">
              <a:solidFill>
                <a:srgbClr val="000000"/>
              </a:solidFill>
              <a:latin typeface="BEMWJM+CMR10" panose="02000500000000000000"/>
              <a:cs typeface="BEMWJM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entities.</a:t>
            </a:r>
            <a:endParaRPr sz="2050">
              <a:solidFill>
                <a:srgbClr val="000000"/>
              </a:solidFill>
              <a:latin typeface="BEMWJM+CMR10" panose="02000500000000000000"/>
              <a:cs typeface="BEMWJM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4225" y="5694664"/>
            <a:ext cx="8660826" cy="1082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In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our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dictionary,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we</a:t>
            </a:r>
            <a:r>
              <a:rPr sz="2050" spc="2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use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only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few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syntactic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categories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terms,</a:t>
            </a:r>
            <a:endParaRPr sz="2050">
              <a:solidFill>
                <a:srgbClr val="000000"/>
              </a:solidFill>
              <a:latin typeface="BEMWJM+CMR10" panose="02000500000000000000"/>
              <a:cs typeface="BEMWJM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motivated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our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domain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8">
                <a:solidFill>
                  <a:srgbClr val="000000"/>
                </a:solidFill>
                <a:latin typeface="BEMWJM+CMR10" panose="02000500000000000000"/>
                <a:cs typeface="BEMWJM+CMR10" panose="02000500000000000000"/>
              </a:rPr>
              <a:t>ontology.</a:t>
            </a:r>
            <a:endParaRPr sz="2050" spc="-18">
              <a:solidFill>
                <a:srgbClr val="000000"/>
              </a:solidFill>
              <a:latin typeface="BEMWJM+CMR10" panose="02000500000000000000"/>
              <a:cs typeface="BEMWJM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GVSLON+CMR7" panose="02000500000000000000"/>
                <a:cs typeface="GVSLON+CMR7" panose="02000500000000000000"/>
              </a:rPr>
              <a:t>126</a:t>
            </a:r>
            <a:endParaRPr sz="1450">
              <a:solidFill>
                <a:srgbClr val="000000"/>
              </a:solidFill>
              <a:latin typeface="GVSLON+CMR7" panose="02000500000000000000"/>
              <a:cs typeface="GVSLON+CMR7" panose="02000500000000000000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684829"/>
            <a:ext cx="3120631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RCAOEL+CMBX12~c" panose="02000500000000000000"/>
                <a:cs typeface="RCAOEL+CMBX12~c" panose="02000500000000000000"/>
              </a:rPr>
              <a:t>Domain</a:t>
            </a:r>
            <a:r>
              <a:rPr sz="2500" spc="2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3">
                <a:solidFill>
                  <a:srgbClr val="000000"/>
                </a:solidFill>
                <a:latin typeface="RCAOEL+CMBX12~c" panose="02000500000000000000"/>
                <a:cs typeface="RCAOEL+CMBX12~c" panose="02000500000000000000"/>
              </a:rPr>
              <a:t>ontology</a:t>
            </a:r>
            <a:endParaRPr sz="2500" spc="-23">
              <a:solidFill>
                <a:srgbClr val="000000"/>
              </a:solidFill>
              <a:latin typeface="RCAOEL+CMBX12~c" panose="02000500000000000000"/>
              <a:cs typeface="RCAOEL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184881"/>
            <a:ext cx="6736670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VKEID+CMSY10~25" panose="02000500000000000000"/>
                <a:cs typeface="SVKEID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HPJCE+CMBX10" panose="02000500000000000000"/>
                <a:cs typeface="AHPJCE+CMBX10" panose="02000500000000000000"/>
              </a:rPr>
              <a:t>Domain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BTBRE+CMR10" panose="02000500000000000000"/>
                <a:cs typeface="VBTBRE+CMR10" panose="02000500000000000000"/>
              </a:rPr>
              <a:t>is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BTBRE+CMR10" panose="02000500000000000000"/>
                <a:cs typeface="VBTBRE+CMR10" panose="02000500000000000000"/>
              </a:rPr>
              <a:t>part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BTBRE+CMR10" panose="02000500000000000000"/>
                <a:cs typeface="VBTBRE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VBTBRE+CMR10" panose="02000500000000000000"/>
                <a:cs typeface="VBTBRE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BTBRE+CMR10" panose="02000500000000000000"/>
                <a:cs typeface="VBTBRE+CMR10" panose="02000500000000000000"/>
              </a:rPr>
              <a:t>world</a:t>
            </a:r>
            <a:r>
              <a:rPr sz="2050" spc="2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BTBRE+CMR10" panose="02000500000000000000"/>
                <a:cs typeface="VBTBRE+CMR10" panose="02000500000000000000"/>
              </a:rPr>
              <a:t>treated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BTBRE+CMR10" panose="02000500000000000000"/>
                <a:cs typeface="VBTBRE+CMR10" panose="02000500000000000000"/>
              </a:rPr>
              <a:t>as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BTBRE+CMR10" panose="02000500000000000000"/>
                <a:cs typeface="VBTBRE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BTBRE+CMR10" panose="02000500000000000000"/>
                <a:cs typeface="VBTBRE+CMR10" panose="02000500000000000000"/>
              </a:rPr>
              <a:t>whole.</a:t>
            </a:r>
            <a:endParaRPr sz="2050">
              <a:solidFill>
                <a:srgbClr val="000000"/>
              </a:solidFill>
              <a:latin typeface="VBTBRE+CMR10" panose="02000500000000000000"/>
              <a:cs typeface="VBTBRE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VKEID+CMSY10~25" panose="02000500000000000000"/>
                <a:cs typeface="SVKEID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HPJCE+CMBX10" panose="02000500000000000000"/>
                <a:cs typeface="AHPJCE+CMBX10" panose="02000500000000000000"/>
              </a:rPr>
              <a:t>Ontology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BTBRE+CMR10" panose="02000500000000000000"/>
                <a:cs typeface="VBTBRE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BTBRE+CMR10" panose="02000500000000000000"/>
                <a:cs typeface="VBTBRE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BTBRE+CMR10" panose="02000500000000000000"/>
                <a:cs typeface="VBTBRE+CMR10" panose="02000500000000000000"/>
              </a:rPr>
              <a:t>metaclassiﬁcation.</a:t>
            </a:r>
            <a:endParaRPr sz="2050">
              <a:solidFill>
                <a:srgbClr val="000000"/>
              </a:solidFill>
              <a:latin typeface="VBTBRE+CMR10" panose="02000500000000000000"/>
              <a:cs typeface="VBTBRE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05417" y="3251850"/>
            <a:ext cx="1088656" cy="498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ANIJWK+Helvetica" panose="020B0604020202020204"/>
                <a:cs typeface="ANIJWK+Helvetica" panose="020B0604020202020204"/>
              </a:rPr>
              <a:t>Individual</a:t>
            </a:r>
            <a:endParaRPr sz="1500">
              <a:solidFill>
                <a:srgbClr val="000000"/>
              </a:solidFill>
              <a:latin typeface="ANIJWK+Helvetica" panose="020B0604020202020204"/>
              <a:cs typeface="ANIJWK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6225" y="3251850"/>
            <a:ext cx="1003939" cy="498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ANIJWK+Helvetica" panose="020B0604020202020204"/>
                <a:cs typeface="ANIJWK+Helvetica" panose="020B0604020202020204"/>
              </a:rPr>
              <a:t>Property</a:t>
            </a:r>
            <a:endParaRPr sz="1500">
              <a:solidFill>
                <a:srgbClr val="000000"/>
              </a:solidFill>
              <a:latin typeface="ANIJWK+Helvetica" panose="020B0604020202020204"/>
              <a:cs typeface="ANIJWK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6420" y="4202026"/>
            <a:ext cx="486453" cy="498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ANIJWK+Helvetica" panose="020B0604020202020204"/>
                <a:cs typeface="ANIJWK+Helvetica" panose="020B0604020202020204"/>
              </a:rPr>
              <a:t>dc</a:t>
            </a:r>
            <a:endParaRPr sz="1500">
              <a:solidFill>
                <a:srgbClr val="000000"/>
              </a:solidFill>
              <a:latin typeface="ANIJWK+Helvetica" panose="020B0604020202020204"/>
              <a:cs typeface="ANIJWK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82459" y="4202026"/>
            <a:ext cx="391437" cy="498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ANIJWK+Helvetica" panose="020B0604020202020204"/>
                <a:cs typeface="ANIJWK+Helvetica" panose="020B0604020202020204"/>
              </a:rPr>
              <a:t>d</a:t>
            </a:r>
            <a:endParaRPr sz="1500">
              <a:solidFill>
                <a:srgbClr val="000000"/>
              </a:solidFill>
              <a:latin typeface="ANIJWK+Helvetica" panose="020B0604020202020204"/>
              <a:cs typeface="ANIJWK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18957" y="4729889"/>
            <a:ext cx="761021" cy="498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ANIJWK+Helvetica" panose="020B0604020202020204"/>
                <a:cs typeface="ANIJWK+Helvetica" panose="020B0604020202020204"/>
              </a:rPr>
              <a:t>Entity</a:t>
            </a:r>
            <a:endParaRPr sz="1500">
              <a:solidFill>
                <a:srgbClr val="000000"/>
              </a:solidFill>
              <a:latin typeface="ANIJWK+Helvetica" panose="020B0604020202020204"/>
              <a:cs typeface="ANIJWK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96767" y="4729889"/>
            <a:ext cx="1817251" cy="498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ANIJWK+Helvetica" panose="020B0604020202020204"/>
                <a:cs typeface="ANIJWK+Helvetica" panose="020B0604020202020204"/>
              </a:rPr>
              <a:t>Event</a:t>
            </a:r>
            <a:r>
              <a:rPr sz="1500" spc="417">
                <a:solidFill>
                  <a:srgbClr val="000000"/>
                </a:solidFill>
                <a:latin typeface="ANIJWK+Helvetica" panose="020B0604020202020204"/>
                <a:cs typeface="ANIJWK+Helvetica" panose="020B0604020202020204"/>
              </a:rPr>
              <a:t> </a:t>
            </a:r>
            <a:r>
              <a:rPr sz="1500">
                <a:solidFill>
                  <a:srgbClr val="000000"/>
                </a:solidFill>
                <a:latin typeface="ANIJWK+Helvetica" panose="020B0604020202020204"/>
                <a:cs typeface="ANIJWK+Helvetica" panose="020B0604020202020204"/>
              </a:rPr>
              <a:t>occurrence</a:t>
            </a:r>
            <a:endParaRPr sz="1500">
              <a:solidFill>
                <a:srgbClr val="000000"/>
              </a:solidFill>
              <a:latin typeface="ANIJWK+Helvetica" panose="020B0604020202020204"/>
              <a:cs typeface="ANIJWK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24779" y="4729889"/>
            <a:ext cx="1173041" cy="498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ANIJWK+Helvetica" panose="020B0604020202020204"/>
                <a:cs typeface="ANIJWK+Helvetica" panose="020B0604020202020204"/>
              </a:rPr>
              <a:t>Entity type</a:t>
            </a:r>
            <a:endParaRPr sz="1500">
              <a:solidFill>
                <a:srgbClr val="000000"/>
              </a:solidFill>
              <a:latin typeface="ANIJWK+Helvetica" panose="020B0604020202020204"/>
              <a:cs typeface="ANIJWK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12508" y="4729889"/>
            <a:ext cx="1331579" cy="498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ANIJWK+Helvetica" panose="020B0604020202020204"/>
                <a:cs typeface="ANIJWK+Helvetica" panose="020B0604020202020204"/>
              </a:rPr>
              <a:t>Relationship</a:t>
            </a:r>
            <a:endParaRPr sz="1500">
              <a:solidFill>
                <a:srgbClr val="000000"/>
              </a:solidFill>
              <a:latin typeface="ANIJWK+Helvetica" panose="020B0604020202020204"/>
              <a:cs typeface="ANIJWK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48346" y="4729889"/>
            <a:ext cx="993461" cy="1448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ANIJWK+Helvetica" panose="020B0604020202020204"/>
                <a:cs typeface="ANIJWK+Helvetica" panose="020B0604020202020204"/>
              </a:rPr>
              <a:t>Attribute</a:t>
            </a:r>
            <a:endParaRPr sz="1500">
              <a:solidFill>
                <a:srgbClr val="000000"/>
              </a:solidFill>
              <a:latin typeface="ANIJWK+Helvetica" panose="020B0604020202020204"/>
              <a:cs typeface="ANIJWK+Helvetica" panose="020B0604020202020204"/>
            </a:endParaRPr>
          </a:p>
          <a:p>
            <a:pPr marL="132080" marR="0">
              <a:lnSpc>
                <a:spcPts val="1670"/>
              </a:lnSpc>
              <a:spcBef>
                <a:spcPts val="581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ANIJWK+Helvetica" panose="020B0604020202020204"/>
                <a:cs typeface="ANIJWK+Helvetica" panose="020B0604020202020204"/>
              </a:rPr>
              <a:t>State</a:t>
            </a:r>
            <a:endParaRPr sz="1500">
              <a:solidFill>
                <a:srgbClr val="000000"/>
              </a:solidFill>
              <a:latin typeface="ANIJWK+Helvetica" panose="020B0604020202020204"/>
              <a:cs typeface="ANIJWK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CTVSKN+CMR7" panose="02000500000000000000"/>
                <a:cs typeface="CTVSKN+CMR7" panose="02000500000000000000"/>
              </a:rPr>
              <a:t>127</a:t>
            </a:r>
            <a:endParaRPr sz="1450">
              <a:solidFill>
                <a:srgbClr val="000000"/>
              </a:solidFill>
              <a:latin typeface="CTVSKN+CMR7" panose="02000500000000000000"/>
              <a:cs typeface="CTVSKN+CMR7" panose="02000500000000000000"/>
            </a:endParaRP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152953"/>
            <a:ext cx="8157071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DSVGQU+CMBX12~c" panose="02000500000000000000"/>
                <a:cs typeface="DSVGQU+CMBX12~c" panose="02000500000000000000"/>
              </a:rPr>
              <a:t>Individuals</a:t>
            </a:r>
            <a:r>
              <a:rPr sz="2500" spc="2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DSVGQU+CMBX12~c" panose="02000500000000000000"/>
                <a:cs typeface="DSVGQU+CMBX12~c" panose="02000500000000000000"/>
              </a:rPr>
              <a:t>are</a:t>
            </a:r>
            <a:r>
              <a:rPr sz="250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0">
                <a:solidFill>
                  <a:srgbClr val="000000"/>
                </a:solidFill>
                <a:latin typeface="DSVGQU+CMBX12~c" panose="02000500000000000000"/>
                <a:cs typeface="DSVGQU+CMBX12~c" panose="02000500000000000000"/>
              </a:rPr>
              <a:t>entities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DSVGQU+CMBX12~c" panose="02000500000000000000"/>
                <a:cs typeface="DSVGQU+CMBX12~c" panose="02000500000000000000"/>
              </a:rPr>
              <a:t>and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47">
                <a:solidFill>
                  <a:srgbClr val="000000"/>
                </a:solidFill>
                <a:latin typeface="DSVGQU+CMBX12~c" panose="02000500000000000000"/>
                <a:cs typeface="DSVGQU+CMBX12~c" panose="02000500000000000000"/>
              </a:rPr>
              <a:t>event</a:t>
            </a:r>
            <a:r>
              <a:rPr sz="2500" spc="3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DSVGQU+CMBX12~c" panose="02000500000000000000"/>
                <a:cs typeface="DSVGQU+CMBX12~c" panose="02000500000000000000"/>
              </a:rPr>
              <a:t>occurrences</a:t>
            </a:r>
            <a:endParaRPr sz="2500">
              <a:solidFill>
                <a:srgbClr val="000000"/>
              </a:solidFill>
              <a:latin typeface="DSVGQU+CMBX12~c" panose="02000500000000000000"/>
              <a:cs typeface="DSVGQU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3300" y="2006162"/>
            <a:ext cx="1264844" cy="991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Entity type</a:t>
            </a:r>
            <a:endParaRPr sz="1600">
              <a:solidFill>
                <a:srgbClr val="000000"/>
              </a:solidFill>
              <a:latin typeface="VBFKVF+Helvetica" panose="020B0604020202020204"/>
              <a:cs typeface="VBFKVF+Helvetica" panose="020B0604020202020204"/>
            </a:endParaRPr>
          </a:p>
          <a:p>
            <a:pPr marL="194310" marR="0">
              <a:lnSpc>
                <a:spcPts val="1810"/>
              </a:lnSpc>
              <a:spcBef>
                <a:spcPts val="179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1</a:t>
            </a:r>
            <a:endParaRPr sz="1600">
              <a:solidFill>
                <a:srgbClr val="000000"/>
              </a:solidFill>
              <a:latin typeface="VBFKVF+Helvetica" panose="020B0604020202020204"/>
              <a:cs typeface="VBFKVF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87271" y="2006162"/>
            <a:ext cx="853270" cy="991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1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Event</a:t>
            </a:r>
            <a:endParaRPr sz="1600" spc="11">
              <a:solidFill>
                <a:srgbClr val="000000"/>
              </a:solidFill>
              <a:latin typeface="VBFKVF+Helvetica" panose="020B0604020202020204"/>
              <a:cs typeface="VBFKVF+Helvetica" panose="020B0604020202020204"/>
            </a:endParaRPr>
          </a:p>
          <a:p>
            <a:pPr marL="0" marR="0">
              <a:lnSpc>
                <a:spcPts val="1810"/>
              </a:lnSpc>
              <a:spcBef>
                <a:spcPts val="179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1</a:t>
            </a:r>
            <a:endParaRPr sz="1600">
              <a:solidFill>
                <a:srgbClr val="000000"/>
              </a:solidFill>
              <a:latin typeface="VBFKVF+Helvetica" panose="020B0604020202020204"/>
              <a:cs typeface="VBFKVF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77376" y="2691543"/>
            <a:ext cx="1070632" cy="534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instance</a:t>
            </a:r>
            <a:endParaRPr sz="1600">
              <a:solidFill>
                <a:srgbClr val="000000"/>
              </a:solidFill>
              <a:latin typeface="VBFKVF+Helvetica" panose="020B0604020202020204"/>
              <a:cs typeface="VBFKVF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55035" y="2691543"/>
            <a:ext cx="3259315" cy="534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occurrence in</a:t>
            </a:r>
            <a:r>
              <a:rPr sz="1600" spc="12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the life</a:t>
            </a:r>
            <a:r>
              <a:rPr sz="1600" spc="11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 </a:t>
            </a:r>
            <a:r>
              <a:rPr sz="1600" spc="10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of</a:t>
            </a:r>
            <a:r>
              <a:rPr sz="1600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 entities</a:t>
            </a:r>
            <a:endParaRPr sz="1600">
              <a:solidFill>
                <a:srgbClr val="000000"/>
              </a:solidFill>
              <a:latin typeface="VBFKVF+Helvetica" panose="020B0604020202020204"/>
              <a:cs typeface="VBFKVF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17686" y="3148463"/>
            <a:ext cx="847540" cy="991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Entity</a:t>
            </a:r>
            <a:endParaRPr sz="1600">
              <a:solidFill>
                <a:srgbClr val="000000"/>
              </a:solidFill>
              <a:latin typeface="VBFKVF+Helvetica" panose="020B0604020202020204"/>
              <a:cs typeface="VBFKVF+Helvetica" panose="020B0604020202020204"/>
            </a:endParaRPr>
          </a:p>
          <a:p>
            <a:pPr marL="0" marR="0">
              <a:lnSpc>
                <a:spcPts val="1810"/>
              </a:lnSpc>
              <a:spcBef>
                <a:spcPts val="179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1</a:t>
            </a:r>
            <a:endParaRPr sz="1600">
              <a:solidFill>
                <a:srgbClr val="000000"/>
              </a:solidFill>
              <a:latin typeface="VBFKVF+Helvetica" panose="020B0604020202020204"/>
              <a:cs typeface="VBFKVF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72963" y="3148463"/>
            <a:ext cx="1904715" cy="991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1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Event</a:t>
            </a:r>
            <a:r>
              <a:rPr sz="1600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 occurrence</a:t>
            </a:r>
            <a:endParaRPr sz="1600">
              <a:solidFill>
                <a:srgbClr val="000000"/>
              </a:solidFill>
              <a:latin typeface="VBFKVF+Helvetica" panose="020B0604020202020204"/>
              <a:cs typeface="VBFKVF+Helvetica" panose="020B0604020202020204"/>
            </a:endParaRPr>
          </a:p>
          <a:p>
            <a:pPr marL="514350" marR="0">
              <a:lnSpc>
                <a:spcPts val="1810"/>
              </a:lnSpc>
              <a:spcBef>
                <a:spcPts val="179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1</a:t>
            </a:r>
            <a:endParaRPr sz="1600">
              <a:solidFill>
                <a:srgbClr val="000000"/>
              </a:solidFill>
              <a:latin typeface="VBFKVF+Helvetica" panose="020B0604020202020204"/>
              <a:cs typeface="VBFKVF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75245" y="3833845"/>
            <a:ext cx="3180138" cy="534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occurrence </a:t>
            </a:r>
            <a:r>
              <a:rPr sz="1600" spc="10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at</a:t>
            </a:r>
            <a:r>
              <a:rPr sz="1600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 a</a:t>
            </a:r>
            <a:r>
              <a:rPr sz="1600" spc="16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particular time</a:t>
            </a:r>
            <a:endParaRPr sz="1600">
              <a:solidFill>
                <a:srgbClr val="000000"/>
              </a:solidFill>
              <a:latin typeface="VBFKVF+Helvetica" panose="020B0604020202020204"/>
              <a:cs typeface="VBFKVF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54720" y="4290765"/>
            <a:ext cx="1401957" cy="534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Dated</a:t>
            </a:r>
            <a:r>
              <a:rPr sz="1600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 entity</a:t>
            </a:r>
            <a:endParaRPr sz="1600">
              <a:solidFill>
                <a:srgbClr val="000000"/>
              </a:solidFill>
              <a:latin typeface="VBFKVF+Helvetica" panose="020B0604020202020204"/>
              <a:cs typeface="VBFKVF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70195" y="4290765"/>
            <a:ext cx="2536267" cy="534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Timed</a:t>
            </a:r>
            <a:r>
              <a:rPr sz="1600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 </a:t>
            </a:r>
            <a:r>
              <a:rPr sz="1600" spc="10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event</a:t>
            </a:r>
            <a:r>
              <a:rPr sz="1600">
                <a:solidFill>
                  <a:srgbClr val="000000"/>
                </a:solidFill>
                <a:latin typeface="VBFKVF+Helvetica" panose="020B0604020202020204"/>
                <a:cs typeface="VBFKVF+Helvetica" panose="020B0604020202020204"/>
              </a:rPr>
              <a:t> occurrence</a:t>
            </a:r>
            <a:endParaRPr sz="1600">
              <a:solidFill>
                <a:srgbClr val="000000"/>
              </a:solidFill>
              <a:latin typeface="VBFKVF+Helvetica" panose="020B0604020202020204"/>
              <a:cs typeface="VBFKVF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4580" y="4992090"/>
            <a:ext cx="8514242" cy="19722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CWHOT+CMSY10~25" panose="02000500000000000000"/>
                <a:cs typeface="NCWHOT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RSLSSS+CMR10" panose="02000500000000000000"/>
                <a:cs typeface="RSLSSS+CMR10" panose="02000500000000000000"/>
              </a:rPr>
              <a:t>No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SLSSS+CMR10" panose="02000500000000000000"/>
                <a:cs typeface="RSLSSS+CMR10" panose="02000500000000000000"/>
              </a:rPr>
              <a:t>reincarnation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SLSSS+CMR10" panose="02000500000000000000"/>
                <a:cs typeface="RSLSSS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SLSSS+CMR10" panose="02000500000000000000"/>
                <a:cs typeface="RSLSSS+CMR10" panose="02000500000000000000"/>
              </a:rPr>
              <a:t>entities.</a:t>
            </a:r>
            <a:endParaRPr sz="2050">
              <a:solidFill>
                <a:srgbClr val="000000"/>
              </a:solidFill>
              <a:latin typeface="RSLSSS+CMR10" panose="02000500000000000000"/>
              <a:cs typeface="RSLSSS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5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CWHOT+CMSY10~25" panose="02000500000000000000"/>
                <a:cs typeface="NCWHOT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8">
                <a:solidFill>
                  <a:srgbClr val="000000"/>
                </a:solidFill>
                <a:latin typeface="RSLSSS+CMR10" panose="02000500000000000000"/>
                <a:cs typeface="RSLSSS+CMR10" panose="02000500000000000000"/>
              </a:rPr>
              <a:t>Event</a:t>
            </a:r>
            <a:r>
              <a:rPr sz="2050" spc="1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RSLSSS+CMR10" panose="02000500000000000000"/>
                <a:cs typeface="RSLSSS+CMR10" panose="02000500000000000000"/>
              </a:rPr>
              <a:t>occurrence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RSLSSS+CMR10" panose="02000500000000000000"/>
                <a:cs typeface="RSLSSS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7">
                <a:solidFill>
                  <a:srgbClr val="000000"/>
                </a:solidFill>
                <a:latin typeface="RSLSSS+CMR10" panose="02000500000000000000"/>
                <a:cs typeface="RSLSSS+CMR10" panose="02000500000000000000"/>
              </a:rPr>
              <a:t>occur</a:t>
            </a:r>
            <a:r>
              <a:rPr sz="2050" spc="1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SLSSS+CMR10" panose="02000500000000000000"/>
                <a:cs typeface="RSLSSS+CMR10" panose="02000500000000000000"/>
              </a:rPr>
              <a:t>at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RSLSSS+CMR10" panose="02000500000000000000"/>
                <a:cs typeface="RSLSSS+CMR10" panose="02000500000000000000"/>
              </a:rPr>
              <a:t>many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SLSSS+CMR10" panose="02000500000000000000"/>
                <a:cs typeface="RSLSSS+CMR10" panose="02000500000000000000"/>
              </a:rPr>
              <a:t>times.</a:t>
            </a:r>
            <a:endParaRPr sz="2050">
              <a:solidFill>
                <a:srgbClr val="000000"/>
              </a:solidFill>
              <a:latin typeface="RSLSSS+CMR10" panose="02000500000000000000"/>
              <a:cs typeface="RSLSSS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OFGII+CMSS10" panose="02000500000000000000"/>
                <a:cs typeface="NOFGII+CMSS10" panose="02000500000000000000"/>
              </a:rPr>
              <a:t>sell(coﬀee,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OFGII+CMSS10" panose="02000500000000000000"/>
                <a:cs typeface="NOFGII+CMSS10" panose="02000500000000000000"/>
              </a:rPr>
              <a:t>0.2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OFGII+CMSS10" panose="02000500000000000000"/>
                <a:cs typeface="NOFGII+CMSS10" panose="02000500000000000000"/>
              </a:rPr>
              <a:t>l)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SLSSS+CMR10" panose="02000500000000000000"/>
                <a:cs typeface="RSLSSS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SLSSS+CMR10" panose="02000500000000000000"/>
                <a:cs typeface="RSLSSS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RSLSSS+CMR10" panose="02000500000000000000"/>
                <a:cs typeface="RSLSSS+CMR10" panose="02000500000000000000"/>
              </a:rPr>
              <a:t>occurrence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SLSSS+CMR10" panose="02000500000000000000"/>
                <a:cs typeface="RSLSSS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RSLSSS+CMR10" panose="02000500000000000000"/>
                <a:cs typeface="RSLSSS+CMR10" panose="02000500000000000000"/>
              </a:rPr>
              <a:t>event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OFGII+CMSS10" panose="02000500000000000000"/>
                <a:cs typeface="NOFGII+CMSS10" panose="02000500000000000000"/>
              </a:rPr>
              <a:t>sell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RSLSSS+CMR10" panose="02000500000000000000"/>
                <a:cs typeface="RSLSSS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SLSSS+CMR10" panose="02000500000000000000"/>
                <a:cs typeface="RSLSSS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RSLSSS+CMR10" panose="02000500000000000000"/>
                <a:cs typeface="RSLSSS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7">
                <a:solidFill>
                  <a:srgbClr val="000000"/>
                </a:solidFill>
                <a:latin typeface="RSLSSS+CMR10" panose="02000500000000000000"/>
                <a:cs typeface="RSLSSS+CMR10" panose="02000500000000000000"/>
              </a:rPr>
              <a:t>occur</a:t>
            </a:r>
            <a:endParaRPr sz="2050" spc="27">
              <a:solidFill>
                <a:srgbClr val="000000"/>
              </a:solidFill>
              <a:latin typeface="RSLSSS+CMR10" panose="02000500000000000000"/>
              <a:cs typeface="RSLSSS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SLSSS+CMR10" panose="02000500000000000000"/>
                <a:cs typeface="RSLSSS+CMR10" panose="02000500000000000000"/>
              </a:rPr>
              <a:t>at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SLSSS+CMR10" panose="02000500000000000000"/>
                <a:cs typeface="RSLSSS+CMR10" panose="02000500000000000000"/>
              </a:rPr>
              <a:t>times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SLSSS+CMR10" panose="02000500000000000000"/>
                <a:cs typeface="RSLSSS+CMR10" panose="02000500000000000000"/>
              </a:rPr>
              <a:t>9:00,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SLSSS+CMR10" panose="02000500000000000000"/>
                <a:cs typeface="RSLSSS+CMR10" panose="02000500000000000000"/>
              </a:rPr>
              <a:t>9:02,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RSLSSS+CMR10" panose="02000500000000000000"/>
                <a:cs typeface="RSLSSS+CMR10" panose="02000500000000000000"/>
              </a:rPr>
              <a:t>etc.</a:t>
            </a:r>
            <a:endParaRPr sz="2050" spc="12">
              <a:solidFill>
                <a:srgbClr val="000000"/>
              </a:solidFill>
              <a:latin typeface="RSLSSS+CMR10" panose="02000500000000000000"/>
              <a:cs typeface="RSLSSS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HCQUFM+CMR7" panose="02000500000000000000"/>
                <a:cs typeface="HCQUFM+CMR7" panose="02000500000000000000"/>
              </a:rPr>
              <a:t>128</a:t>
            </a:r>
            <a:endParaRPr sz="1450">
              <a:solidFill>
                <a:srgbClr val="000000"/>
              </a:solidFill>
              <a:latin typeface="HCQUFM+CMR7" panose="02000500000000000000"/>
              <a:cs typeface="HCQUFM+CMR7" panose="02000500000000000000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033825"/>
            <a:ext cx="3549785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1">
                <a:solidFill>
                  <a:srgbClr val="000000"/>
                </a:solidFill>
                <a:latin typeface="MUCSOB+CMBX12~c" panose="02000500000000000000"/>
                <a:cs typeface="MUCSOB+CMBX12~c" panose="02000500000000000000"/>
              </a:rPr>
              <a:t>Syntactic</a:t>
            </a:r>
            <a:r>
              <a:rPr sz="2500" spc="3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MUCSOB+CMBX12~c" panose="02000500000000000000"/>
                <a:cs typeface="MUCSOB+CMBX12~c" panose="02000500000000000000"/>
              </a:rPr>
              <a:t>categories</a:t>
            </a:r>
            <a:endParaRPr sz="2500" spc="-11">
              <a:solidFill>
                <a:srgbClr val="000000"/>
              </a:solidFill>
              <a:latin typeface="MUCSOB+CMBX12~c" panose="02000500000000000000"/>
              <a:cs typeface="MUCSOB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533878"/>
            <a:ext cx="471384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DLLKT+CMSY10~25" panose="02000500000000000000"/>
                <a:cs typeface="MDLLKT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GJEQ+CMBX10" panose="02000500000000000000"/>
                <a:cs typeface="NPGJEQ+CMBX10" panose="02000500000000000000"/>
              </a:rPr>
              <a:t>Identiﬁer.</a:t>
            </a:r>
            <a:r>
              <a:rPr sz="2050" spc="4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IMFBCN+CMR10" panose="02000500000000000000"/>
                <a:cs typeface="IMFBCN+CMR10" panose="02000500000000000000"/>
              </a:rPr>
              <a:t>Unique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IMFBCN+CMR10" panose="02000500000000000000"/>
                <a:cs typeface="IMFBCN+CMR10" panose="02000500000000000000"/>
              </a:rPr>
              <a:t>proper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MFBCN+CMR10" panose="02000500000000000000"/>
                <a:cs typeface="IMFBCN+CMR10" panose="02000500000000000000"/>
              </a:rPr>
              <a:t>name.</a:t>
            </a:r>
            <a:endParaRPr sz="2050" spc="10">
              <a:solidFill>
                <a:srgbClr val="000000"/>
              </a:solidFill>
              <a:latin typeface="IMFBCN+CMR10" panose="02000500000000000000"/>
              <a:cs typeface="IMFBCN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77" y="3059597"/>
            <a:ext cx="2796806" cy="890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DLLKT+CMSY10~25" panose="02000500000000000000"/>
                <a:cs typeface="MDLLKT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GJEQ+CMBX10" panose="02000500000000000000"/>
                <a:cs typeface="NPGJEQ+CMBX10" panose="02000500000000000000"/>
              </a:rPr>
              <a:t>Predicate</a:t>
            </a:r>
            <a:r>
              <a:rPr sz="2050" spc="2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PGJEQ+CMBX10" panose="02000500000000000000"/>
                <a:cs typeface="NPGJEQ+CMBX10" panose="02000500000000000000"/>
              </a:rPr>
              <a:t>name.</a:t>
            </a:r>
            <a:endParaRPr sz="2050" spc="10">
              <a:solidFill>
                <a:srgbClr val="000000"/>
              </a:solidFill>
              <a:latin typeface="NPGJEQ+CMBX10" panose="02000500000000000000"/>
              <a:cs typeface="NPGJEQ+CMBX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2049" y="3498570"/>
            <a:ext cx="2719853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PGJEQ+CMBX10" panose="02000500000000000000"/>
                <a:cs typeface="NPGJEQ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QJMKV+CMTI10" panose="02000500000000000000"/>
                <a:cs typeface="TQJMKV+CMTI10" panose="02000500000000000000"/>
              </a:rPr>
              <a:t>Entity</a:t>
            </a:r>
            <a:r>
              <a:rPr sz="2050" spc="2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1">
                <a:solidFill>
                  <a:srgbClr val="000000"/>
                </a:solidFill>
                <a:latin typeface="TQJMKV+CMTI10" panose="02000500000000000000"/>
                <a:cs typeface="TQJMKV+CMTI10" panose="02000500000000000000"/>
              </a:rPr>
              <a:t>type</a:t>
            </a:r>
            <a:r>
              <a:rPr sz="2050" spc="2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QJMKV+CMTI10" panose="02000500000000000000"/>
                <a:cs typeface="TQJMKV+CMTI10" panose="02000500000000000000"/>
              </a:rPr>
              <a:t>name.</a:t>
            </a:r>
            <a:endParaRPr sz="2050" spc="10">
              <a:solidFill>
                <a:srgbClr val="000000"/>
              </a:solidFill>
              <a:latin typeface="TQJMKV+CMTI10" panose="02000500000000000000"/>
              <a:cs typeface="TQJMKV+CMTI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2046" y="3943579"/>
            <a:ext cx="2867526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PGJEQ+CMBX10" panose="02000500000000000000"/>
                <a:cs typeface="NPGJEQ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QJMKV+CMTI10" panose="02000500000000000000"/>
                <a:cs typeface="TQJMKV+CMTI10" panose="02000500000000000000"/>
              </a:rPr>
              <a:t>Relationship</a:t>
            </a:r>
            <a:r>
              <a:rPr sz="2050" spc="2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QJMKV+CMTI10" panose="02000500000000000000"/>
                <a:cs typeface="TQJMKV+CMTI10" panose="02000500000000000000"/>
              </a:rPr>
              <a:t>name.</a:t>
            </a:r>
            <a:endParaRPr sz="2050" spc="10">
              <a:solidFill>
                <a:srgbClr val="000000"/>
              </a:solidFill>
              <a:latin typeface="TQJMKV+CMTI10" panose="02000500000000000000"/>
              <a:cs typeface="TQJMKV+CMTI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2044" y="4388587"/>
            <a:ext cx="5641706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PGJEQ+CMBX10" panose="02000500000000000000"/>
                <a:cs typeface="NPGJEQ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QJMKV+CMTI10" panose="02000500000000000000"/>
                <a:cs typeface="TQJMKV+CMTI10" panose="02000500000000000000"/>
              </a:rPr>
              <a:t>State</a:t>
            </a:r>
            <a:r>
              <a:rPr sz="2050" spc="22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TQJMKV+CMTI10" panose="02000500000000000000"/>
                <a:cs typeface="TQJMKV+CMTI10" panose="02000500000000000000"/>
              </a:rPr>
              <a:t>predicate</a:t>
            </a:r>
            <a:r>
              <a:rPr sz="2050" spc="2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QJMKV+CMTI10" panose="02000500000000000000"/>
                <a:cs typeface="TQJMKV+CMTI10" panose="02000500000000000000"/>
              </a:rPr>
              <a:t>name.</a:t>
            </a:r>
            <a:r>
              <a:rPr sz="2050" spc="4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IMFBCN+CMR10" panose="02000500000000000000"/>
                <a:cs typeface="IMFBCN+CMR10" panose="02000500000000000000"/>
              </a:rPr>
              <a:t>Boolean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MFBCN+CMR10" panose="02000500000000000000"/>
                <a:cs typeface="IMFBCN+CMR10" panose="02000500000000000000"/>
              </a:rPr>
              <a:t>prop</a:t>
            </a:r>
            <a:r>
              <a:rPr sz="2050" spc="-4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9">
                <a:solidFill>
                  <a:srgbClr val="000000"/>
                </a:solidFill>
                <a:latin typeface="IMFBCN+CMR10" panose="02000500000000000000"/>
                <a:cs typeface="IMFBCN+CMR10" panose="02000500000000000000"/>
              </a:rPr>
              <a:t>erty.</a:t>
            </a:r>
            <a:endParaRPr sz="2050" spc="-39">
              <a:solidFill>
                <a:srgbClr val="000000"/>
              </a:solidFill>
              <a:latin typeface="IMFBCN+CMR10" panose="02000500000000000000"/>
              <a:cs typeface="IMFBCN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63" y="4912783"/>
            <a:ext cx="2792173" cy="1408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DLLKT+CMSY10~25" panose="02000500000000000000"/>
                <a:cs typeface="MDLLKT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GJEQ+CMBX10" panose="02000500000000000000"/>
                <a:cs typeface="NPGJEQ+CMBX10" panose="02000500000000000000"/>
              </a:rPr>
              <a:t>Attribute</a:t>
            </a:r>
            <a:r>
              <a:rPr sz="2050" spc="2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PGJEQ+CMBX10" panose="02000500000000000000"/>
                <a:cs typeface="NPGJEQ+CMBX10" panose="02000500000000000000"/>
              </a:rPr>
              <a:t>name.</a:t>
            </a:r>
            <a:endParaRPr sz="2050" spc="10">
              <a:solidFill>
                <a:srgbClr val="000000"/>
              </a:solidFill>
              <a:latin typeface="NPGJEQ+CMBX10" panose="02000500000000000000"/>
              <a:cs typeface="NPGJEQ+CMBX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DLLKT+CMSY10~25" panose="02000500000000000000"/>
                <a:cs typeface="MDLLKT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4">
                <a:solidFill>
                  <a:srgbClr val="000000"/>
                </a:solidFill>
                <a:latin typeface="NPGJEQ+CMBX10" panose="02000500000000000000"/>
                <a:cs typeface="NPGJEQ+CMBX10" panose="02000500000000000000"/>
              </a:rPr>
              <a:t>Event</a:t>
            </a:r>
            <a:r>
              <a:rPr sz="205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PGJEQ+CMBX10" panose="02000500000000000000"/>
                <a:cs typeface="NPGJEQ+CMBX10" panose="02000500000000000000"/>
              </a:rPr>
              <a:t>name.</a:t>
            </a:r>
            <a:endParaRPr sz="2050" spc="10">
              <a:solidFill>
                <a:srgbClr val="000000"/>
              </a:solidFill>
              <a:latin typeface="NPGJEQ+CMBX10" panose="02000500000000000000"/>
              <a:cs typeface="NPGJEQ+CMBX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NFPSLC+CMR7" panose="02000500000000000000"/>
                <a:cs typeface="NFPSLC+CMR7" panose="02000500000000000000"/>
              </a:rPr>
              <a:t>129</a:t>
            </a:r>
            <a:endParaRPr sz="1450">
              <a:solidFill>
                <a:srgbClr val="000000"/>
              </a:solidFill>
              <a:latin typeface="NFPSLC+CMR7" panose="02000500000000000000"/>
              <a:cs typeface="NFPSLC+CMR7" panose="02000500000000000000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6830634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2">
                <a:solidFill>
                  <a:srgbClr val="000000"/>
                </a:solidFill>
                <a:latin typeface="MLDKNV+CMBX12~c" panose="02000500000000000000"/>
                <a:cs typeface="MLDKNV+CMBX12~c" panose="02000500000000000000"/>
              </a:rPr>
              <a:t>Deﬁnitions</a:t>
            </a:r>
            <a:r>
              <a:rPr sz="2500" spc="3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MLDKNV+CMBX12~c" panose="02000500000000000000"/>
                <a:cs typeface="MLDKNV+CMBX12~c" panose="02000500000000000000"/>
              </a:rPr>
              <a:t>from</a:t>
            </a:r>
            <a:r>
              <a:rPr sz="2500" spc="2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MLDKNV+CMBX12~c" panose="02000500000000000000"/>
                <a:cs typeface="MLDKNV+CMBX12~c" panose="02000500000000000000"/>
              </a:rPr>
              <a:t>the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MLDKNV+CMBX12~c" panose="02000500000000000000"/>
                <a:cs typeface="MLDKNV+CMBX12~c" panose="02000500000000000000"/>
              </a:rPr>
              <a:t>ETS</a:t>
            </a:r>
            <a:r>
              <a:rPr sz="2500" spc="2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MLDKNV+CMBX12~c" panose="02000500000000000000"/>
                <a:cs typeface="MLDKNV+CMBX12~c" panose="02000500000000000000"/>
              </a:rPr>
              <a:t>speciﬁcation</a:t>
            </a:r>
            <a:endParaRPr sz="2500">
              <a:solidFill>
                <a:srgbClr val="000000"/>
              </a:solidFill>
              <a:latin typeface="MLDKNV+CMBX12~c" panose="02000500000000000000"/>
              <a:cs typeface="MLDKNV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3725" y="1480755"/>
            <a:ext cx="8679879" cy="25799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FANIFJ+CMSY9" panose="02000500000000000000"/>
                <a:cs typeface="FANIFJ+CMSY9" panose="02000500000000000000"/>
              </a:rPr>
              <a:t>•</a:t>
            </a:r>
            <a:r>
              <a:rPr sz="1850" spc="5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5">
                <a:solidFill>
                  <a:srgbClr val="000000"/>
                </a:solidFill>
                <a:latin typeface="TSNEWG+CMSSBX10~2a4" panose="02000500000000000000"/>
                <a:cs typeface="TSNEWG+CMSSBX10~2a4" panose="02000500000000000000"/>
              </a:rPr>
              <a:t>Railway</a:t>
            </a:r>
            <a:r>
              <a:rPr sz="1850" spc="2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SNEWG+CMSSBX10~2a4" panose="02000500000000000000"/>
                <a:cs typeface="TSNEWG+CMSSBX10~2a4" panose="02000500000000000000"/>
              </a:rPr>
              <a:t>station.</a:t>
            </a:r>
            <a:r>
              <a:rPr sz="1850" spc="3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Entity</a:t>
            </a:r>
            <a:r>
              <a:rPr sz="18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type.</a:t>
            </a:r>
            <a:r>
              <a:rPr sz="1850" spc="3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Entity</a:t>
            </a:r>
            <a:r>
              <a:rPr sz="18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used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to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7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bound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IVOBH+CMSSI9" panose="02000500000000000000"/>
                <a:cs typeface="QIVOBH+CMSSI9" panose="02000500000000000000"/>
              </a:rPr>
              <a:t>rail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IVOBH+CMSSI9" panose="02000500000000000000"/>
                <a:cs typeface="QIVOBH+CMSSI9" panose="02000500000000000000"/>
              </a:rPr>
              <a:t>segments.</a:t>
            </a:r>
            <a:r>
              <a:rPr sz="1850" spc="3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6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May</a:t>
            </a:r>
            <a:endParaRPr sz="1850" spc="-16">
              <a:solidFill>
                <a:srgbClr val="000000"/>
              </a:solidFill>
              <a:latin typeface="OCKRHR+CMSS9" panose="02000500000000000000"/>
              <a:cs typeface="OCKRHR+CMSS9" panose="02000500000000000000"/>
            </a:endParaRPr>
          </a:p>
          <a:p>
            <a:pPr marL="252730" marR="0">
              <a:lnSpc>
                <a:spcPts val="1880"/>
              </a:lnSpc>
              <a:spcBef>
                <a:spcPts val="72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consist</a:t>
            </a:r>
            <a:r>
              <a:rPr sz="18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of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platforms</a:t>
            </a:r>
            <a:r>
              <a:rPr sz="18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where</a:t>
            </a:r>
            <a:r>
              <a:rPr sz="18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passengers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can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enter</a:t>
            </a:r>
            <a:r>
              <a:rPr sz="18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37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or</a:t>
            </a:r>
            <a:r>
              <a:rPr sz="18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leave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</a:t>
            </a:r>
            <a:r>
              <a:rPr sz="18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train.</a:t>
            </a:r>
            <a:r>
              <a:rPr sz="1850" spc="3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Can</a:t>
            </a:r>
            <a:endParaRPr sz="1850" spc="10">
              <a:solidFill>
                <a:srgbClr val="000000"/>
              </a:solidFill>
              <a:latin typeface="OCKRHR+CMSS9" panose="02000500000000000000"/>
              <a:cs typeface="OCKRHR+CMSS9" panose="02000500000000000000"/>
            </a:endParaRPr>
          </a:p>
          <a:p>
            <a:pPr marL="252730" marR="0">
              <a:lnSpc>
                <a:spcPts val="1880"/>
              </a:lnSpc>
              <a:spcBef>
                <a:spcPts val="72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also</a:t>
            </a:r>
            <a:r>
              <a:rPr sz="18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51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be</a:t>
            </a:r>
            <a:r>
              <a:rPr sz="1850" spc="1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mathematical</a:t>
            </a:r>
            <a:r>
              <a:rPr sz="1850" spc="1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7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point</a:t>
            </a:r>
            <a:r>
              <a:rPr sz="18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used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to</a:t>
            </a:r>
            <a:r>
              <a:rPr sz="18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7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bound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segment.</a:t>
            </a:r>
            <a:r>
              <a:rPr sz="1850" spc="3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Examples:</a:t>
            </a:r>
            <a:r>
              <a:rPr sz="1850" spc="3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The</a:t>
            </a:r>
            <a:endParaRPr sz="1850">
              <a:solidFill>
                <a:srgbClr val="000000"/>
              </a:solidFill>
              <a:latin typeface="OCKRHR+CMSS9" panose="02000500000000000000"/>
              <a:cs typeface="OCKRHR+CMSS9" panose="02000500000000000000"/>
            </a:endParaRPr>
          </a:p>
          <a:p>
            <a:pPr marL="252730" marR="0">
              <a:lnSpc>
                <a:spcPts val="1880"/>
              </a:lnSpc>
              <a:spcBef>
                <a:spcPts val="725"/>
              </a:spcBef>
              <a:spcAft>
                <a:spcPct val="0"/>
              </a:spcAft>
            </a:pPr>
            <a:r>
              <a:rPr sz="1850" spc="17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point</a:t>
            </a:r>
            <a:r>
              <a:rPr sz="18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where</a:t>
            </a:r>
            <a:r>
              <a:rPr sz="18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the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line</a:t>
            </a:r>
            <a:r>
              <a:rPr sz="18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of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rail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passes</a:t>
            </a:r>
            <a:r>
              <a:rPr sz="18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the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Dutch-German</a:t>
            </a:r>
            <a:r>
              <a:rPr sz="18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border;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one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can</a:t>
            </a:r>
            <a:endParaRPr sz="1850">
              <a:solidFill>
                <a:srgbClr val="000000"/>
              </a:solidFill>
              <a:latin typeface="OCKRHR+CMSS9" panose="02000500000000000000"/>
              <a:cs typeface="OCKRHR+CMSS9" panose="02000500000000000000"/>
            </a:endParaRPr>
          </a:p>
          <a:p>
            <a:pPr marL="252730" marR="0">
              <a:lnSpc>
                <a:spcPts val="1880"/>
              </a:lnSpc>
              <a:spcBef>
                <a:spcPts val="72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buy</a:t>
            </a:r>
            <a:r>
              <a:rPr sz="18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</a:t>
            </a:r>
            <a:r>
              <a:rPr sz="18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ticket</a:t>
            </a:r>
            <a:r>
              <a:rPr sz="18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to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that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5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point.</a:t>
            </a:r>
            <a:r>
              <a:rPr sz="1850" spc="3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Can</a:t>
            </a:r>
            <a:r>
              <a:rPr sz="18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also</a:t>
            </a:r>
            <a:r>
              <a:rPr sz="18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51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be</a:t>
            </a:r>
            <a:r>
              <a:rPr sz="18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collection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of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physical</a:t>
            </a:r>
            <a:r>
              <a:rPr sz="18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stations.</a:t>
            </a:r>
            <a:endParaRPr sz="1850">
              <a:solidFill>
                <a:srgbClr val="000000"/>
              </a:solidFill>
              <a:latin typeface="OCKRHR+CMSS9" panose="02000500000000000000"/>
              <a:cs typeface="OCKRHR+CMSS9" panose="02000500000000000000"/>
            </a:endParaRPr>
          </a:p>
          <a:p>
            <a:pPr marL="252730" marR="0">
              <a:lnSpc>
                <a:spcPts val="1880"/>
              </a:lnSpc>
              <a:spcBef>
                <a:spcPts val="72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Example,</a:t>
            </a:r>
            <a:r>
              <a:rPr sz="18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</a:t>
            </a:r>
            <a:r>
              <a:rPr sz="18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ticket</a:t>
            </a:r>
            <a:r>
              <a:rPr sz="18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to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“Berlin</a:t>
            </a:r>
            <a:r>
              <a:rPr sz="18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U-Bahn”</a:t>
            </a:r>
            <a:r>
              <a:rPr sz="18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is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ticket</a:t>
            </a:r>
            <a:r>
              <a:rPr sz="18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to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any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23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subway</a:t>
            </a:r>
            <a:r>
              <a:rPr sz="18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station</a:t>
            </a:r>
            <a:endParaRPr sz="1850">
              <a:solidFill>
                <a:srgbClr val="000000"/>
              </a:solidFill>
              <a:latin typeface="OCKRHR+CMSS9" panose="02000500000000000000"/>
              <a:cs typeface="OCKRHR+CMSS9" panose="02000500000000000000"/>
            </a:endParaRPr>
          </a:p>
          <a:p>
            <a:pPr marL="252730" marR="0">
              <a:lnSpc>
                <a:spcPts val="1880"/>
              </a:lnSpc>
              <a:spcBef>
                <a:spcPts val="77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in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Berlin.</a:t>
            </a:r>
            <a:endParaRPr sz="1850">
              <a:solidFill>
                <a:srgbClr val="000000"/>
              </a:solidFill>
              <a:latin typeface="OCKRHR+CMSS9" panose="02000500000000000000"/>
              <a:cs typeface="OCKRHR+CMSS9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3730" y="3910014"/>
            <a:ext cx="8642028" cy="2249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FANIFJ+CMSY9" panose="02000500000000000000"/>
                <a:cs typeface="FANIFJ+CMSY9" panose="02000500000000000000"/>
              </a:rPr>
              <a:t>•</a:t>
            </a:r>
            <a:r>
              <a:rPr sz="1850" spc="5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SNEWG+CMSSBX10~2a4" panose="02000500000000000000"/>
                <a:cs typeface="TSNEWG+CMSSBX10~2a4" panose="02000500000000000000"/>
              </a:rPr>
              <a:t>Rail</a:t>
            </a:r>
            <a:r>
              <a:rPr sz="1850" spc="2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SNEWG+CMSSBX10~2a4" panose="02000500000000000000"/>
                <a:cs typeface="TSNEWG+CMSSBX10~2a4" panose="02000500000000000000"/>
              </a:rPr>
              <a:t>segment.</a:t>
            </a:r>
            <a:r>
              <a:rPr sz="1850" spc="3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Entity</a:t>
            </a:r>
            <a:r>
              <a:rPr sz="18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type.</a:t>
            </a:r>
            <a:r>
              <a:rPr sz="1850" spc="3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</a:t>
            </a:r>
            <a:r>
              <a:rPr sz="18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shortest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path</a:t>
            </a:r>
            <a:r>
              <a:rPr sz="18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between</a:t>
            </a:r>
            <a:r>
              <a:rPr sz="18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39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two</a:t>
            </a:r>
            <a:r>
              <a:rPr sz="1850" spc="2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Railway</a:t>
            </a:r>
            <a:endParaRPr sz="1850" spc="-10">
              <a:solidFill>
                <a:srgbClr val="000000"/>
              </a:solidFill>
              <a:latin typeface="OCKRHR+CMSS9" panose="02000500000000000000"/>
              <a:cs typeface="OCKRHR+CMSS9" panose="02000500000000000000"/>
            </a:endParaRPr>
          </a:p>
          <a:p>
            <a:pPr marL="252730" marR="0">
              <a:lnSpc>
                <a:spcPts val="1880"/>
              </a:lnSpc>
              <a:spcBef>
                <a:spcPts val="72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stations.</a:t>
            </a:r>
            <a:r>
              <a:rPr sz="1850" spc="3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Segments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2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are</a:t>
            </a:r>
            <a:r>
              <a:rPr sz="18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directed</a:t>
            </a:r>
            <a:r>
              <a:rPr sz="18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and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2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are</a:t>
            </a:r>
            <a:r>
              <a:rPr sz="1850" spc="2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identiﬁed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45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by</a:t>
            </a:r>
            <a:r>
              <a:rPr sz="1850" spc="2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the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39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two</a:t>
            </a:r>
            <a:r>
              <a:rPr sz="1850" spc="1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stations</a:t>
            </a:r>
            <a:endParaRPr sz="1850">
              <a:solidFill>
                <a:srgbClr val="000000"/>
              </a:solidFill>
              <a:latin typeface="OCKRHR+CMSS9" panose="02000500000000000000"/>
              <a:cs typeface="OCKRHR+CMSS9" panose="02000500000000000000"/>
            </a:endParaRPr>
          </a:p>
          <a:p>
            <a:pPr marL="252730" marR="0">
              <a:lnSpc>
                <a:spcPts val="1880"/>
              </a:lnSpc>
              <a:spcBef>
                <a:spcPts val="72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they</a:t>
            </a:r>
            <a:r>
              <a:rPr sz="18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connect.</a:t>
            </a:r>
            <a:r>
              <a:rPr sz="1850" spc="3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So</a:t>
            </a:r>
            <a:r>
              <a:rPr sz="18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all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shortest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paths</a:t>
            </a:r>
            <a:r>
              <a:rPr sz="18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through</a:t>
            </a:r>
            <a:r>
              <a:rPr sz="18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the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rail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8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network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from</a:t>
            </a:r>
            <a:r>
              <a:rPr sz="18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to</a:t>
            </a:r>
            <a:endParaRPr sz="1850">
              <a:solidFill>
                <a:srgbClr val="000000"/>
              </a:solidFill>
              <a:latin typeface="OCKRHR+CMSS9" panose="02000500000000000000"/>
              <a:cs typeface="OCKRHR+CMSS9" panose="02000500000000000000"/>
            </a:endParaRPr>
          </a:p>
          <a:p>
            <a:pPr marL="252730" marR="0">
              <a:lnSpc>
                <a:spcPts val="1880"/>
              </a:lnSpc>
              <a:spcBef>
                <a:spcPts val="72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B</a:t>
            </a:r>
            <a:r>
              <a:rPr sz="18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2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are</a:t>
            </a:r>
            <a:r>
              <a:rPr sz="1850" spc="2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considered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the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same</a:t>
            </a:r>
            <a:r>
              <a:rPr sz="18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segment,</a:t>
            </a:r>
            <a:r>
              <a:rPr sz="18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called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AB;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and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all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shortest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paths</a:t>
            </a:r>
            <a:endParaRPr sz="1850">
              <a:solidFill>
                <a:srgbClr val="000000"/>
              </a:solidFill>
              <a:latin typeface="OCKRHR+CMSS9" panose="02000500000000000000"/>
              <a:cs typeface="OCKRHR+CMSS9" panose="02000500000000000000"/>
            </a:endParaRPr>
          </a:p>
          <a:p>
            <a:pPr marL="252730" marR="0">
              <a:lnSpc>
                <a:spcPts val="1880"/>
              </a:lnSpc>
              <a:spcBef>
                <a:spcPts val="72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from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B</a:t>
            </a:r>
            <a:r>
              <a:rPr sz="18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to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2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are</a:t>
            </a:r>
            <a:r>
              <a:rPr sz="1850" spc="2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the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same</a:t>
            </a:r>
            <a:r>
              <a:rPr sz="18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segment,</a:t>
            </a:r>
            <a:r>
              <a:rPr sz="18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called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BA;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and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AB</a:t>
            </a:r>
            <a:r>
              <a:rPr sz="18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and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BA</a:t>
            </a:r>
            <a:r>
              <a:rPr sz="18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2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are</a:t>
            </a:r>
            <a:r>
              <a:rPr sz="18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39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two</a:t>
            </a:r>
            <a:endParaRPr sz="1850" spc="-39">
              <a:solidFill>
                <a:srgbClr val="000000"/>
              </a:solidFill>
              <a:latin typeface="OCKRHR+CMSS9" panose="02000500000000000000"/>
              <a:cs typeface="OCKRHR+CMSS9" panose="02000500000000000000"/>
            </a:endParaRPr>
          </a:p>
          <a:p>
            <a:pPr marL="252730" marR="0">
              <a:lnSpc>
                <a:spcPts val="1880"/>
              </a:lnSpc>
              <a:spcBef>
                <a:spcPts val="72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diﬀerent</a:t>
            </a:r>
            <a:r>
              <a:rPr sz="18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segments.</a:t>
            </a:r>
            <a:endParaRPr sz="1850">
              <a:solidFill>
                <a:srgbClr val="000000"/>
              </a:solidFill>
              <a:latin typeface="OCKRHR+CMSS9" panose="02000500000000000000"/>
              <a:cs typeface="OCKRHR+CMSS9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63728" y="6007039"/>
            <a:ext cx="8557209" cy="12586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FANIFJ+CMSY9" panose="02000500000000000000"/>
                <a:cs typeface="FANIFJ+CMSY9" panose="02000500000000000000"/>
              </a:rPr>
              <a:t>•</a:t>
            </a:r>
            <a:r>
              <a:rPr sz="1850" spc="5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TSNEWG+CMSSBX10~2a4" panose="02000500000000000000"/>
                <a:cs typeface="TSNEWG+CMSSBX10~2a4" panose="02000500000000000000"/>
              </a:rPr>
              <a:t>Route.</a:t>
            </a:r>
            <a:r>
              <a:rPr sz="1850" spc="3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Entity</a:t>
            </a:r>
            <a:r>
              <a:rPr sz="18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type.</a:t>
            </a:r>
            <a:r>
              <a:rPr sz="1850" spc="3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</a:t>
            </a:r>
            <a:r>
              <a:rPr sz="18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path</a:t>
            </a:r>
            <a:r>
              <a:rPr sz="18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through</a:t>
            </a:r>
            <a:r>
              <a:rPr sz="18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the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rail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8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network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that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consists</a:t>
            </a:r>
            <a:r>
              <a:rPr sz="18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of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</a:t>
            </a:r>
            <a:endParaRPr sz="1850">
              <a:solidFill>
                <a:srgbClr val="000000"/>
              </a:solidFill>
              <a:latin typeface="OCKRHR+CMSS9" panose="02000500000000000000"/>
              <a:cs typeface="OCKRHR+CMSS9" panose="02000500000000000000"/>
            </a:endParaRPr>
          </a:p>
          <a:p>
            <a:pPr marL="252730" marR="0">
              <a:lnSpc>
                <a:spcPts val="1880"/>
              </a:lnSpc>
              <a:spcBef>
                <a:spcPts val="72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connected</a:t>
            </a:r>
            <a:r>
              <a:rPr sz="18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series</a:t>
            </a:r>
            <a:r>
              <a:rPr sz="18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of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IVOBH+CMSSI9" panose="02000500000000000000"/>
                <a:cs typeface="QIVOBH+CMSSI9" panose="02000500000000000000"/>
              </a:rPr>
              <a:t>rail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IVOBH+CMSSI9" panose="02000500000000000000"/>
                <a:cs typeface="QIVOBH+CMSSI9" panose="02000500000000000000"/>
              </a:rPr>
              <a:t>segments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,</a:t>
            </a:r>
            <a:r>
              <a:rPr sz="18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where</a:t>
            </a:r>
            <a:r>
              <a:rPr sz="18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each</a:t>
            </a:r>
            <a:r>
              <a:rPr sz="18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segment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5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occurs</a:t>
            </a:r>
            <a:r>
              <a:rPr sz="18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at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most</a:t>
            </a:r>
            <a:endParaRPr sz="1850">
              <a:solidFill>
                <a:srgbClr val="000000"/>
              </a:solidFill>
              <a:latin typeface="OCKRHR+CMSS9" panose="02000500000000000000"/>
              <a:cs typeface="OCKRHR+CMSS9" panose="02000500000000000000"/>
            </a:endParaRPr>
          </a:p>
          <a:p>
            <a:pPr marL="252730" marR="0">
              <a:lnSpc>
                <a:spcPts val="1880"/>
              </a:lnSpc>
              <a:spcBef>
                <a:spcPts val="73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once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in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the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CKRHR+CMSS9" panose="02000500000000000000"/>
                <a:cs typeface="OCKRHR+CMSS9" panose="02000500000000000000"/>
              </a:rPr>
              <a:t>route.</a:t>
            </a:r>
            <a:endParaRPr sz="1850">
              <a:solidFill>
                <a:srgbClr val="000000"/>
              </a:solidFill>
              <a:latin typeface="OCKRHR+CMSS9" panose="02000500000000000000"/>
              <a:cs typeface="OCKRHR+CMSS9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LGOCJB+CMR7" panose="02000500000000000000"/>
                <a:cs typeface="LGOCJB+CMR7" panose="02000500000000000000"/>
              </a:rPr>
              <a:t>130</a:t>
            </a:r>
            <a:endParaRPr sz="1450">
              <a:solidFill>
                <a:srgbClr val="000000"/>
              </a:solidFill>
              <a:latin typeface="LGOCJB+CMR7" panose="02000500000000000000"/>
              <a:cs typeface="LGOCJB+CMR7" panose="02000500000000000000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8686026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2">
                <a:solidFill>
                  <a:srgbClr val="000000"/>
                </a:solidFill>
                <a:latin typeface="MMQQHO+CMBX12~c" panose="02000500000000000000"/>
                <a:cs typeface="MMQQHO+CMBX12~c" panose="02000500000000000000"/>
              </a:rPr>
              <a:t>Deﬁnitions</a:t>
            </a:r>
            <a:r>
              <a:rPr sz="2500" spc="3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MMQQHO+CMBX12~c" panose="02000500000000000000"/>
                <a:cs typeface="MMQQHO+CMBX12~c" panose="02000500000000000000"/>
              </a:rPr>
              <a:t>from</a:t>
            </a:r>
            <a:r>
              <a:rPr sz="2500" spc="2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MMQQHO+CMBX12~c" panose="02000500000000000000"/>
                <a:cs typeface="MMQQHO+CMBX12~c" panose="02000500000000000000"/>
              </a:rPr>
              <a:t>an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8">
                <a:solidFill>
                  <a:srgbClr val="000000"/>
                </a:solidFill>
                <a:latin typeface="MMQQHO+CMBX12~c" panose="02000500000000000000"/>
                <a:cs typeface="MMQQHO+CMBX12~c" panose="02000500000000000000"/>
              </a:rPr>
              <a:t>elevator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6">
                <a:solidFill>
                  <a:srgbClr val="000000"/>
                </a:solidFill>
                <a:latin typeface="MMQQHO+CMBX12~c" panose="02000500000000000000"/>
                <a:cs typeface="MMQQHO+CMBX12~c" panose="02000500000000000000"/>
              </a:rPr>
              <a:t>control</a:t>
            </a:r>
            <a:r>
              <a:rPr sz="2500" spc="3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MMQQHO+CMBX12~c" panose="02000500000000000000"/>
                <a:cs typeface="MMQQHO+CMBX12~c" panose="02000500000000000000"/>
              </a:rPr>
              <a:t>speciﬁcation</a:t>
            </a:r>
            <a:endParaRPr sz="2500">
              <a:solidFill>
                <a:srgbClr val="000000"/>
              </a:solidFill>
              <a:latin typeface="MMQQHO+CMBX12~c" panose="02000500000000000000"/>
              <a:cs typeface="MMQQHO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3725" y="1500567"/>
            <a:ext cx="8165959" cy="16030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MRQMSS+CMSY9" panose="02000500000000000000"/>
                <a:cs typeface="MRQMSS+CMSY9" panose="02000500000000000000"/>
              </a:rPr>
              <a:t>•</a:t>
            </a:r>
            <a:r>
              <a:rPr sz="1850" spc="5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FUFLBO+CMSSBX10~2a4" panose="02000500000000000000"/>
                <a:cs typeface="FUFLBO+CMSSBX10~2a4" panose="02000500000000000000"/>
              </a:rPr>
              <a:t>planned</a:t>
            </a:r>
            <a:r>
              <a:rPr sz="1850" spc="2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FUFLBO+CMSSBX10~2a4" panose="02000500000000000000"/>
                <a:cs typeface="FUFLBO+CMSSBX10~2a4" panose="02000500000000000000"/>
              </a:rPr>
              <a:t>direction(c:</a:t>
            </a:r>
            <a:r>
              <a:rPr sz="1850" spc="4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FUFLBO+CMSSBX10~2a4" panose="02000500000000000000"/>
                <a:cs typeface="FUFLBO+CMSSBX10~2a4" panose="02000500000000000000"/>
              </a:rPr>
              <a:t>Elevator</a:t>
            </a:r>
            <a:r>
              <a:rPr sz="185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FUFLBO+CMSSBX10~2a4" panose="02000500000000000000"/>
                <a:cs typeface="FUFLBO+CMSSBX10~2a4" panose="02000500000000000000"/>
              </a:rPr>
              <a:t>cage).</a:t>
            </a:r>
            <a:r>
              <a:rPr sz="1850" spc="3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Attribute.</a:t>
            </a:r>
            <a:r>
              <a:rPr sz="1850" spc="3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The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preferred</a:t>
            </a:r>
            <a:endParaRPr sz="1850">
              <a:solidFill>
                <a:srgbClr val="000000"/>
              </a:solidFill>
              <a:latin typeface="OBGDWM+CMSS9" panose="02000500000000000000"/>
              <a:cs typeface="OBGDWM+CMSS9" panose="02000500000000000000"/>
            </a:endParaRPr>
          </a:p>
          <a:p>
            <a:pPr marL="252730" marR="0">
              <a:lnSpc>
                <a:spcPts val="1880"/>
              </a:lnSpc>
              <a:spcBef>
                <a:spcPts val="77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direction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in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which</a:t>
            </a:r>
            <a:r>
              <a:rPr sz="18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c</a:t>
            </a:r>
            <a:r>
              <a:rPr sz="18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will</a:t>
            </a:r>
            <a:r>
              <a:rPr sz="18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depart</a:t>
            </a:r>
            <a:r>
              <a:rPr sz="18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after</a:t>
            </a:r>
            <a:r>
              <a:rPr sz="18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closing</a:t>
            </a:r>
            <a:r>
              <a:rPr sz="18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its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doors.</a:t>
            </a:r>
            <a:r>
              <a:rPr sz="1850" spc="3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If</a:t>
            </a:r>
            <a:r>
              <a:rPr sz="18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there</a:t>
            </a:r>
            <a:r>
              <a:rPr sz="18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2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are</a:t>
            </a:r>
            <a:endParaRPr sz="1850" spc="-20">
              <a:solidFill>
                <a:srgbClr val="000000"/>
              </a:solidFill>
              <a:latin typeface="OBGDWM+CMSS9" panose="02000500000000000000"/>
              <a:cs typeface="OBGDWM+CMSS9" panose="02000500000000000000"/>
            </a:endParaRPr>
          </a:p>
          <a:p>
            <a:pPr marL="252730" marR="0">
              <a:lnSpc>
                <a:spcPts val="1880"/>
              </a:lnSpc>
              <a:spcBef>
                <a:spcPts val="71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requests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to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51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be</a:t>
            </a:r>
            <a:r>
              <a:rPr sz="18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served</a:t>
            </a:r>
            <a:r>
              <a:rPr sz="18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higher</a:t>
            </a:r>
            <a:r>
              <a:rPr sz="18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and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7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lower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than</a:t>
            </a:r>
            <a:r>
              <a:rPr sz="18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the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current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ﬂoor</a:t>
            </a:r>
            <a:r>
              <a:rPr sz="18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of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the</a:t>
            </a:r>
            <a:endParaRPr sz="1850">
              <a:solidFill>
                <a:srgbClr val="000000"/>
              </a:solidFill>
              <a:latin typeface="OBGDWM+CMSS9" panose="02000500000000000000"/>
              <a:cs typeface="OBGDWM+CMSS9" panose="02000500000000000000"/>
            </a:endParaRPr>
          </a:p>
          <a:p>
            <a:pPr marL="252730" marR="0">
              <a:lnSpc>
                <a:spcPts val="1880"/>
              </a:lnSpc>
              <a:spcBef>
                <a:spcPts val="76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elevator</a:t>
            </a:r>
            <a:r>
              <a:rPr sz="18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cage,</a:t>
            </a:r>
            <a:r>
              <a:rPr sz="18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then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it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will</a:t>
            </a:r>
            <a:r>
              <a:rPr sz="18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depart</a:t>
            </a:r>
            <a:r>
              <a:rPr sz="18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in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the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planned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direction.</a:t>
            </a:r>
            <a:endParaRPr sz="1850">
              <a:solidFill>
                <a:srgbClr val="000000"/>
              </a:solidFill>
              <a:latin typeface="OBGDWM+CMSS9" panose="02000500000000000000"/>
              <a:cs typeface="OBGDWM+CMSS9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3692" y="2893503"/>
            <a:ext cx="8682109" cy="16030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MRQMSS+CMSY9" panose="02000500000000000000"/>
                <a:cs typeface="MRQMSS+CMSY9" panose="02000500000000000000"/>
              </a:rPr>
              <a:t>•</a:t>
            </a:r>
            <a:r>
              <a:rPr sz="1850" spc="5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FUFLBO+CMSSBX10~2a4" panose="02000500000000000000"/>
                <a:cs typeface="FUFLBO+CMSSBX10~2a4" panose="02000500000000000000"/>
              </a:rPr>
              <a:t>Round</a:t>
            </a:r>
            <a:r>
              <a:rPr sz="1850" spc="2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FUFLBO+CMSSBX10~2a4" panose="02000500000000000000"/>
                <a:cs typeface="FUFLBO+CMSSBX10~2a4" panose="02000500000000000000"/>
              </a:rPr>
              <a:t>trip</a:t>
            </a:r>
            <a:r>
              <a:rPr sz="18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FUFLBO+CMSSBX10~2a4" panose="02000500000000000000"/>
                <a:cs typeface="FUFLBO+CMSSBX10~2a4" panose="02000500000000000000"/>
              </a:rPr>
              <a:t>time.</a:t>
            </a:r>
            <a:r>
              <a:rPr sz="1850" spc="3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The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time</a:t>
            </a:r>
            <a:r>
              <a:rPr sz="18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in</a:t>
            </a:r>
            <a:r>
              <a:rPr sz="18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seconds</a:t>
            </a:r>
            <a:r>
              <a:rPr sz="18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5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for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a</a:t>
            </a:r>
            <a:r>
              <a:rPr sz="18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single</a:t>
            </a:r>
            <a:r>
              <a:rPr sz="18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5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car</a:t>
            </a:r>
            <a:r>
              <a:rPr sz="18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trip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around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a</a:t>
            </a:r>
            <a:endParaRPr sz="1850">
              <a:solidFill>
                <a:srgbClr val="000000"/>
              </a:solidFill>
              <a:latin typeface="OBGDWM+CMSS9" panose="02000500000000000000"/>
              <a:cs typeface="OBGDWM+CMSS9" panose="02000500000000000000"/>
            </a:endParaRPr>
          </a:p>
          <a:p>
            <a:pPr marL="252730" marR="0">
              <a:lnSpc>
                <a:spcPts val="1880"/>
              </a:lnSpc>
              <a:spcBef>
                <a:spcPts val="76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building</a:t>
            </a:r>
            <a:r>
              <a:rPr sz="18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from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the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time</a:t>
            </a:r>
            <a:r>
              <a:rPr sz="18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the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cage</a:t>
            </a:r>
            <a:r>
              <a:rPr sz="18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doors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23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open</a:t>
            </a:r>
            <a:r>
              <a:rPr sz="18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at</a:t>
            </a:r>
            <a:r>
              <a:rPr sz="18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the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main</a:t>
            </a:r>
            <a:r>
              <a:rPr sz="18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terminal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until</a:t>
            </a:r>
            <a:endParaRPr sz="1850">
              <a:solidFill>
                <a:srgbClr val="000000"/>
              </a:solidFill>
              <a:latin typeface="OBGDWM+CMSS9" panose="02000500000000000000"/>
              <a:cs typeface="OBGDWM+CMSS9" panose="02000500000000000000"/>
            </a:endParaRPr>
          </a:p>
          <a:p>
            <a:pPr marL="252730" marR="0">
              <a:lnSpc>
                <a:spcPts val="1880"/>
              </a:lnSpc>
              <a:spcBef>
                <a:spcPts val="71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the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doors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5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reopen</a:t>
            </a:r>
            <a:r>
              <a:rPr sz="18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when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the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cage</a:t>
            </a:r>
            <a:r>
              <a:rPr sz="18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has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returned</a:t>
            </a:r>
            <a:r>
              <a:rPr sz="18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to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the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main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terminal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ﬂoor</a:t>
            </a:r>
            <a:endParaRPr sz="1850">
              <a:solidFill>
                <a:srgbClr val="000000"/>
              </a:solidFill>
              <a:latin typeface="OBGDWM+CMSS9" panose="02000500000000000000"/>
              <a:cs typeface="OBGDWM+CMSS9" panose="02000500000000000000"/>
            </a:endParaRPr>
          </a:p>
          <a:p>
            <a:pPr marL="252730" marR="0">
              <a:lnSpc>
                <a:spcPts val="1880"/>
              </a:lnSpc>
              <a:spcBef>
                <a:spcPts val="77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after</a:t>
            </a:r>
            <a:r>
              <a:rPr sz="18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its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trip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[Barney</a:t>
            </a:r>
            <a:r>
              <a:rPr sz="18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&amp;</a:t>
            </a:r>
            <a:r>
              <a:rPr sz="18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dos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Santos</a:t>
            </a:r>
            <a:r>
              <a:rPr sz="18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1977].</a:t>
            </a:r>
            <a:endParaRPr sz="1850">
              <a:solidFill>
                <a:srgbClr val="000000"/>
              </a:solidFill>
              <a:latin typeface="OBGDWM+CMSS9" panose="02000500000000000000"/>
              <a:cs typeface="OBGDWM+CMSS9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63690" y="4286442"/>
            <a:ext cx="7499395" cy="762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MRQMSS+CMSY9" panose="02000500000000000000"/>
                <a:cs typeface="MRQMSS+CMSY9" panose="02000500000000000000"/>
              </a:rPr>
              <a:t>•</a:t>
            </a:r>
            <a:r>
              <a:rPr sz="1850" spc="5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FUFLBO+CMSSBX10~2a4" panose="02000500000000000000"/>
                <a:cs typeface="FUFLBO+CMSSBX10~2a4" panose="02000500000000000000"/>
              </a:rPr>
              <a:t>Atﬂoor(b:</a:t>
            </a:r>
            <a:r>
              <a:rPr sz="1850" spc="4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FUFLBO+CMSSBX10~2a4" panose="02000500000000000000"/>
                <a:cs typeface="FUFLBO+CMSSBX10~2a4" panose="02000500000000000000"/>
              </a:rPr>
              <a:t>Request</a:t>
            </a:r>
            <a:r>
              <a:rPr sz="1850" spc="22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FUFLBO+CMSSBX10~2a4" panose="02000500000000000000"/>
                <a:cs typeface="FUFLBO+CMSSBX10~2a4" panose="02000500000000000000"/>
              </a:rPr>
              <a:t>button,</a:t>
            </a:r>
            <a:r>
              <a:rPr sz="18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FUFLBO+CMSSBX10~2a4" panose="02000500000000000000"/>
                <a:cs typeface="FUFLBO+CMSSBX10~2a4" panose="02000500000000000000"/>
              </a:rPr>
              <a:t>c:</a:t>
            </a:r>
            <a:r>
              <a:rPr sz="1850" spc="4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FUFLBO+CMSSBX10~2a4" panose="02000500000000000000"/>
                <a:cs typeface="FUFLBO+CMSSBX10~2a4" panose="02000500000000000000"/>
              </a:rPr>
              <a:t>Elevator</a:t>
            </a:r>
            <a:r>
              <a:rPr sz="1850" spc="2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FUFLBO+CMSSBX10~2a4" panose="02000500000000000000"/>
                <a:cs typeface="FUFLBO+CMSSBX10~2a4" panose="02000500000000000000"/>
              </a:rPr>
              <a:t>cage).</a:t>
            </a:r>
            <a:r>
              <a:rPr sz="1850" spc="3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Predicate.</a:t>
            </a:r>
            <a:r>
              <a:rPr sz="1850" spc="3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c</a:t>
            </a:r>
            <a:endParaRPr sz="1850">
              <a:solidFill>
                <a:srgbClr val="000000"/>
              </a:solidFill>
              <a:latin typeface="OBGDWM+CMSS9" panose="02000500000000000000"/>
              <a:cs typeface="OBGDWM+CMSS9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709" y="4452242"/>
            <a:ext cx="814577" cy="1143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75"/>
              </a:lnSpc>
              <a:spcBef>
                <a:spcPct val="0"/>
              </a:spcBef>
              <a:spcAft>
                <a:spcPct val="0"/>
              </a:spcAft>
            </a:pPr>
            <a:r>
              <a:rPr sz="3550">
                <a:solidFill>
                  <a:srgbClr val="000000"/>
                </a:solidFill>
                <a:latin typeface="LSDDSH+CMSSBX10~2b1" panose="02000500000000000000"/>
                <a:cs typeface="LSDDSH+CMSSBX10~2b1" panose="02000500000000000000"/>
              </a:rPr>
              <a:t>.</a:t>
            </a:r>
            <a:endParaRPr sz="3550">
              <a:solidFill>
                <a:srgbClr val="000000"/>
              </a:solidFill>
              <a:latin typeface="LSDDSH+CMSSBX10~2b1" panose="02000500000000000000"/>
              <a:cs typeface="LSDDSH+CMSSBX10~2b1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55012" y="4626442"/>
            <a:ext cx="2760617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current</a:t>
            </a:r>
            <a:r>
              <a:rPr sz="1850" spc="2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ﬂoor</a:t>
            </a:r>
            <a:r>
              <a:rPr sz="18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=</a:t>
            </a:r>
            <a:r>
              <a:rPr sz="18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b</a:t>
            </a:r>
            <a:r>
              <a:rPr sz="1850" spc="6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ﬂoor.</a:t>
            </a:r>
            <a:endParaRPr sz="1850">
              <a:solidFill>
                <a:srgbClr val="000000"/>
              </a:solidFill>
              <a:latin typeface="OBGDWM+CMSS9" panose="02000500000000000000"/>
              <a:cs typeface="OBGDWM+CMSS9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94594" y="4452242"/>
            <a:ext cx="814577" cy="1143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75"/>
              </a:lnSpc>
              <a:spcBef>
                <a:spcPct val="0"/>
              </a:spcBef>
              <a:spcAft>
                <a:spcPct val="0"/>
              </a:spcAft>
            </a:pPr>
            <a:r>
              <a:rPr sz="3550">
                <a:solidFill>
                  <a:srgbClr val="000000"/>
                </a:solidFill>
                <a:latin typeface="LSDDSH+CMSSBX10~2b1" panose="02000500000000000000"/>
                <a:cs typeface="LSDDSH+CMSSBX10~2b1" panose="02000500000000000000"/>
              </a:rPr>
              <a:t>.</a:t>
            </a:r>
            <a:endParaRPr sz="3550">
              <a:solidFill>
                <a:srgbClr val="000000"/>
              </a:solidFill>
              <a:latin typeface="LSDDSH+CMSSBX10~2b1" panose="02000500000000000000"/>
              <a:cs typeface="LSDDSH+CMSSBX10~2b1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3723" y="5007290"/>
            <a:ext cx="7920465" cy="16929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MRQMSS+CMSY9" panose="02000500000000000000"/>
                <a:cs typeface="MRQMSS+CMSY9" panose="02000500000000000000"/>
              </a:rPr>
              <a:t>•</a:t>
            </a:r>
            <a:r>
              <a:rPr sz="1850" spc="5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FUFLBO+CMSSBX10~2a4" panose="02000500000000000000"/>
                <a:cs typeface="FUFLBO+CMSSBX10~2a4" panose="02000500000000000000"/>
              </a:rPr>
              <a:t>continue(c:</a:t>
            </a:r>
            <a:r>
              <a:rPr sz="1850" spc="4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FUFLBO+CMSSBX10~2a4" panose="02000500000000000000"/>
                <a:cs typeface="FUFLBO+CMSSBX10~2a4" panose="02000500000000000000"/>
              </a:rPr>
              <a:t>Elevator</a:t>
            </a:r>
            <a:r>
              <a:rPr sz="1850" spc="2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FUFLBO+CMSSBX10~2a4" panose="02000500000000000000"/>
                <a:cs typeface="FUFLBO+CMSSBX10~2a4" panose="02000500000000000000"/>
              </a:rPr>
              <a:t>cage).</a:t>
            </a:r>
            <a:r>
              <a:rPr sz="1850" spc="3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Action.</a:t>
            </a:r>
            <a:r>
              <a:rPr sz="1850" spc="3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35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Term</a:t>
            </a:r>
            <a:r>
              <a:rPr sz="1850" spc="2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is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applicable</a:t>
            </a:r>
            <a:r>
              <a:rPr sz="18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only</a:t>
            </a:r>
            <a:r>
              <a:rPr sz="18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if</a:t>
            </a:r>
            <a:r>
              <a:rPr sz="18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c</a:t>
            </a:r>
            <a:endParaRPr sz="1850">
              <a:solidFill>
                <a:srgbClr val="000000"/>
              </a:solidFill>
              <a:latin typeface="OBGDWM+CMSS9" panose="02000500000000000000"/>
              <a:cs typeface="OBGDWM+CMSS9" panose="02000500000000000000"/>
            </a:endParaRPr>
          </a:p>
          <a:p>
            <a:pPr marL="391160" marR="0">
              <a:lnSpc>
                <a:spcPts val="1880"/>
              </a:lnSpc>
              <a:spcBef>
                <a:spcPts val="77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planned</a:t>
            </a:r>
            <a:r>
              <a:rPr sz="1850" spc="2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direction</a:t>
            </a:r>
            <a:r>
              <a:rPr sz="18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VEOOD+CMR9" panose="02000500000000000000"/>
                <a:cs typeface="JVEOOD+CMR9" panose="02000500000000000000"/>
              </a:rPr>
              <a:t>=</a:t>
            </a:r>
            <a:r>
              <a:rPr sz="18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none.</a:t>
            </a:r>
            <a:endParaRPr sz="1850">
              <a:solidFill>
                <a:srgbClr val="000000"/>
              </a:solidFill>
              <a:latin typeface="OBGDWM+CMSS9" panose="02000500000000000000"/>
              <a:cs typeface="OBGDWM+CMSS9" panose="02000500000000000000"/>
            </a:endParaRPr>
          </a:p>
          <a:p>
            <a:pPr marL="367030" marR="0">
              <a:lnSpc>
                <a:spcPts val="1880"/>
              </a:lnSpc>
              <a:spcBef>
                <a:spcPts val="121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–</a:t>
            </a:r>
            <a:r>
              <a:rPr sz="1850" spc="5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If</a:t>
            </a:r>
            <a:r>
              <a:rPr sz="18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c</a:t>
            </a:r>
            <a:r>
              <a:rPr sz="1850" spc="6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planned</a:t>
            </a:r>
            <a:r>
              <a:rPr sz="1850" spc="2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direction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=</a:t>
            </a:r>
            <a:r>
              <a:rPr sz="18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up</a:t>
            </a:r>
            <a:r>
              <a:rPr sz="18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then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start</a:t>
            </a:r>
            <a:r>
              <a:rPr sz="1850" spc="2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up(c</a:t>
            </a:r>
            <a:endParaRPr sz="1850">
              <a:solidFill>
                <a:srgbClr val="000000"/>
              </a:solidFill>
              <a:latin typeface="OBGDWM+CMSS9" panose="02000500000000000000"/>
              <a:cs typeface="OBGDWM+CMSS9" panose="02000500000000000000"/>
            </a:endParaRPr>
          </a:p>
          <a:p>
            <a:pPr marL="367030" marR="0">
              <a:lnSpc>
                <a:spcPts val="1880"/>
              </a:lnSpc>
              <a:spcBef>
                <a:spcPts val="96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–</a:t>
            </a:r>
            <a:r>
              <a:rPr sz="1850" spc="5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If</a:t>
            </a:r>
            <a:r>
              <a:rPr sz="18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c</a:t>
            </a:r>
            <a:r>
              <a:rPr sz="1850" spc="6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planned</a:t>
            </a:r>
            <a:r>
              <a:rPr sz="1850" spc="2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direction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=</a:t>
            </a:r>
            <a:r>
              <a:rPr sz="18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down</a:t>
            </a:r>
            <a:r>
              <a:rPr sz="18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then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start</a:t>
            </a:r>
            <a:r>
              <a:rPr sz="1850" spc="2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down(c</a:t>
            </a:r>
            <a:endParaRPr sz="1850">
              <a:solidFill>
                <a:srgbClr val="000000"/>
              </a:solidFill>
              <a:latin typeface="OBGDWM+CMSS9" panose="02000500000000000000"/>
              <a:cs typeface="OBGDWM+CMSS9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6709" y="5174618"/>
            <a:ext cx="814577" cy="1143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75"/>
              </a:lnSpc>
              <a:spcBef>
                <a:spcPct val="0"/>
              </a:spcBef>
              <a:spcAft>
                <a:spcPct val="0"/>
              </a:spcAft>
            </a:pPr>
            <a:r>
              <a:rPr sz="3550">
                <a:solidFill>
                  <a:srgbClr val="000000"/>
                </a:solidFill>
                <a:latin typeface="LSDDSH+CMSSBX10~2b1" panose="02000500000000000000"/>
                <a:cs typeface="LSDDSH+CMSSBX10~2b1" panose="02000500000000000000"/>
              </a:rPr>
              <a:t>.</a:t>
            </a:r>
            <a:endParaRPr sz="3550">
              <a:solidFill>
                <a:srgbClr val="000000"/>
              </a:solidFill>
              <a:latin typeface="LSDDSH+CMSSBX10~2b1" panose="02000500000000000000"/>
              <a:cs typeface="LSDDSH+CMSSBX10~2b1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79881" y="5344803"/>
            <a:ext cx="352426" cy="762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MRQMSS+CMSY9" panose="02000500000000000000"/>
                <a:cs typeface="MRQMSS+CMSY9" panose="02000500000000000000"/>
              </a:rPr>
              <a:t>6</a:t>
            </a:r>
            <a:endParaRPr sz="1850">
              <a:solidFill>
                <a:srgbClr val="000000"/>
              </a:solidFill>
              <a:latin typeface="MRQMSS+CMSY9" panose="02000500000000000000"/>
              <a:cs typeface="MRQMSS+CMSY9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15869" y="5573906"/>
            <a:ext cx="814577" cy="15045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75"/>
              </a:lnSpc>
              <a:spcBef>
                <a:spcPct val="0"/>
              </a:spcBef>
              <a:spcAft>
                <a:spcPct val="0"/>
              </a:spcAft>
            </a:pPr>
            <a:r>
              <a:rPr sz="3550">
                <a:solidFill>
                  <a:srgbClr val="000000"/>
                </a:solidFill>
                <a:latin typeface="LSDDSH+CMSSBX10~2b1" panose="02000500000000000000"/>
                <a:cs typeface="LSDDSH+CMSSBX10~2b1" panose="02000500000000000000"/>
              </a:rPr>
              <a:t>.</a:t>
            </a:r>
            <a:endParaRPr sz="3550">
              <a:solidFill>
                <a:srgbClr val="000000"/>
              </a:solidFill>
              <a:latin typeface="LSDDSH+CMSSBX10~2b1" panose="02000500000000000000"/>
              <a:cs typeface="LSDDSH+CMSSBX10~2b1" panose="02000500000000000000"/>
            </a:endParaRPr>
          </a:p>
          <a:p>
            <a:pPr marL="0" marR="0">
              <a:lnSpc>
                <a:spcPts val="2845"/>
              </a:lnSpc>
              <a:spcBef>
                <a:spcPct val="0"/>
              </a:spcBef>
              <a:spcAft>
                <a:spcPct val="0"/>
              </a:spcAft>
            </a:pPr>
            <a:r>
              <a:rPr sz="3550">
                <a:solidFill>
                  <a:srgbClr val="000000"/>
                </a:solidFill>
                <a:latin typeface="LSDDSH+CMSSBX10~2b1" panose="02000500000000000000"/>
                <a:cs typeface="LSDDSH+CMSSBX10~2b1" panose="02000500000000000000"/>
              </a:rPr>
              <a:t>.</a:t>
            </a:r>
            <a:endParaRPr sz="3550">
              <a:solidFill>
                <a:srgbClr val="000000"/>
              </a:solidFill>
              <a:latin typeface="LSDDSH+CMSSBX10~2b1" panose="02000500000000000000"/>
              <a:cs typeface="LSDDSH+CMSSBX10~2b1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08610" y="5573906"/>
            <a:ext cx="814577" cy="1143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75"/>
              </a:lnSpc>
              <a:spcBef>
                <a:spcPct val="0"/>
              </a:spcBef>
              <a:spcAft>
                <a:spcPct val="0"/>
              </a:spcAft>
            </a:pPr>
            <a:r>
              <a:rPr sz="3550">
                <a:solidFill>
                  <a:srgbClr val="000000"/>
                </a:solidFill>
                <a:latin typeface="LSDDSH+CMSSBX10~2b1" panose="02000500000000000000"/>
                <a:cs typeface="LSDDSH+CMSSBX10~2b1" panose="02000500000000000000"/>
              </a:rPr>
              <a:t>.</a:t>
            </a:r>
            <a:endParaRPr sz="3550">
              <a:solidFill>
                <a:srgbClr val="000000"/>
              </a:solidFill>
              <a:latin typeface="LSDDSH+CMSSBX10~2b1" panose="02000500000000000000"/>
              <a:cs typeface="LSDDSH+CMSSBX10~2b1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46913" y="5748106"/>
            <a:ext cx="1119515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motor).</a:t>
            </a:r>
            <a:endParaRPr sz="1850">
              <a:solidFill>
                <a:srgbClr val="000000"/>
              </a:solidFill>
              <a:latin typeface="OBGDWM+CMSS9" panose="02000500000000000000"/>
              <a:cs typeface="OBGDWM+CMSS9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70673" y="5935094"/>
            <a:ext cx="814577" cy="1143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75"/>
              </a:lnSpc>
              <a:spcBef>
                <a:spcPct val="0"/>
              </a:spcBef>
              <a:spcAft>
                <a:spcPct val="0"/>
              </a:spcAft>
            </a:pPr>
            <a:r>
              <a:rPr sz="3550">
                <a:solidFill>
                  <a:srgbClr val="000000"/>
                </a:solidFill>
                <a:latin typeface="LSDDSH+CMSSBX10~2b1" panose="02000500000000000000"/>
                <a:cs typeface="LSDDSH+CMSSBX10~2b1" panose="02000500000000000000"/>
              </a:rPr>
              <a:t>.</a:t>
            </a:r>
            <a:endParaRPr sz="3550">
              <a:solidFill>
                <a:srgbClr val="000000"/>
              </a:solidFill>
              <a:latin typeface="LSDDSH+CMSSBX10~2b1" panose="02000500000000000000"/>
              <a:cs typeface="LSDDSH+CMSSBX10~2b1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08977" y="6109294"/>
            <a:ext cx="1119515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motor).</a:t>
            </a:r>
            <a:endParaRPr sz="1850">
              <a:solidFill>
                <a:srgbClr val="000000"/>
              </a:solidFill>
              <a:latin typeface="OBGDWM+CMSS9" panose="02000500000000000000"/>
              <a:cs typeface="OBGDWM+CMSS9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16699" y="6508582"/>
            <a:ext cx="6402833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The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motor</a:t>
            </a:r>
            <a:r>
              <a:rPr sz="1850" spc="1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of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c</a:t>
            </a:r>
            <a:r>
              <a:rPr sz="18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is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started</a:t>
            </a:r>
            <a:r>
              <a:rPr sz="18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in</a:t>
            </a:r>
            <a:r>
              <a:rPr sz="18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the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planned</a:t>
            </a:r>
            <a:r>
              <a:rPr sz="18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direction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of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OBGDWM+CMSS9" panose="02000500000000000000"/>
                <a:cs typeface="OBGDWM+CMSS9" panose="02000500000000000000"/>
              </a:rPr>
              <a:t>c.</a:t>
            </a:r>
            <a:endParaRPr sz="1850">
              <a:solidFill>
                <a:srgbClr val="000000"/>
              </a:solidFill>
              <a:latin typeface="OBGDWM+CMSS9" panose="02000500000000000000"/>
              <a:cs typeface="OBGDWM+CMSS9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OPBOA+CMR7" panose="02000500000000000000"/>
                <a:cs typeface="UOPBOA+CMR7" panose="02000500000000000000"/>
              </a:rPr>
              <a:t>131</a:t>
            </a:r>
            <a:endParaRPr sz="1450">
              <a:solidFill>
                <a:srgbClr val="000000"/>
              </a:solidFill>
              <a:latin typeface="UOPBOA+CMR7" panose="02000500000000000000"/>
              <a:cs typeface="UOPBOA+CMR7" panose="02000500000000000000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3059477"/>
            <a:ext cx="3075286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37">
                <a:solidFill>
                  <a:srgbClr val="000000"/>
                </a:solidFill>
                <a:latin typeface="JSMEHG+CMBX12~c" panose="02000500000000000000"/>
                <a:cs typeface="JSMEHG+CMBX12~c" panose="02000500000000000000"/>
              </a:rPr>
              <a:t>Path</a:t>
            </a:r>
            <a:r>
              <a:rPr sz="2500" spc="3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JSMEHG+CMBX12~c" panose="02000500000000000000"/>
                <a:cs typeface="JSMEHG+CMBX12~c" panose="02000500000000000000"/>
              </a:rPr>
              <a:t>expressions</a:t>
            </a:r>
            <a:endParaRPr sz="2500">
              <a:solidFill>
                <a:srgbClr val="000000"/>
              </a:solidFill>
              <a:latin typeface="JSMEHG+CMBX12~c" panose="02000500000000000000"/>
              <a:cs typeface="JSMEHG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3526001"/>
            <a:ext cx="8635608" cy="1082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KWKEFV+CMR10" panose="02000500000000000000"/>
                <a:cs typeface="KWKEFV+CMR10" panose="02000500000000000000"/>
              </a:rPr>
              <a:t>Deﬁnitions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KWKEFV+CMR10" panose="02000500000000000000"/>
                <a:cs typeface="KWKEFV+CMR10" panose="02000500000000000000"/>
              </a:rPr>
              <a:t>may</a:t>
            </a:r>
            <a:r>
              <a:rPr sz="2050" spc="2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WKEFV+CMR10" panose="02000500000000000000"/>
                <a:cs typeface="KWKEFV+CMR10" panose="02000500000000000000"/>
              </a:rPr>
              <a:t>use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WKEFV+CMR10" panose="02000500000000000000"/>
                <a:cs typeface="KWKEFV+CMR10" panose="02000500000000000000"/>
              </a:rPr>
              <a:t>path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WKEFV+CMR10" panose="02000500000000000000"/>
                <a:cs typeface="KWKEFV+CMR10" panose="02000500000000000000"/>
              </a:rPr>
              <a:t>expressions,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WKEFV+CMR10" panose="02000500000000000000"/>
                <a:cs typeface="KWKEFV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WKEFV+CMR10" panose="02000500000000000000"/>
                <a:cs typeface="KWKEFV+CMR10" panose="02000500000000000000"/>
              </a:rPr>
              <a:t>refer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WKEFV+CMR10" panose="02000500000000000000"/>
                <a:cs typeface="KWKEFV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WKEFV+CMR10" panose="02000500000000000000"/>
                <a:cs typeface="KWKEFV+CMR10" panose="02000500000000000000"/>
              </a:rPr>
              <a:t>paths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WKEFV+CMR10" panose="02000500000000000000"/>
                <a:cs typeface="KWKEFV+CMR10" panose="02000500000000000000"/>
              </a:rPr>
              <a:t>through</a:t>
            </a:r>
            <a:endParaRPr sz="2050">
              <a:solidFill>
                <a:srgbClr val="000000"/>
              </a:solidFill>
              <a:latin typeface="KWKEFV+CMR10" panose="02000500000000000000"/>
              <a:cs typeface="KWKEFV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KWKEFV+CMR10" panose="02000500000000000000"/>
                <a:cs typeface="KWKEFV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KWKEFV+CMR10" panose="02000500000000000000"/>
                <a:cs typeface="KWKEFV+CMR10" panose="02000500000000000000"/>
              </a:rPr>
              <a:t>ERD.</a:t>
            </a:r>
            <a:endParaRPr sz="2050" spc="14">
              <a:solidFill>
                <a:srgbClr val="000000"/>
              </a:solidFill>
              <a:latin typeface="KWKEFV+CMR10" panose="02000500000000000000"/>
              <a:cs typeface="KWKEFV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276" y="4382490"/>
            <a:ext cx="621008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3">
                <a:solidFill>
                  <a:srgbClr val="000000"/>
                </a:solidFill>
                <a:latin typeface="KWKEFV+CMR10" panose="02000500000000000000"/>
                <a:cs typeface="KWKEFV+CMR10" panose="02000500000000000000"/>
              </a:rPr>
              <a:t>See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WKEFV+CMR10" panose="02000500000000000000"/>
                <a:cs typeface="KWKEFV+CMR10" panose="02000500000000000000"/>
              </a:rPr>
              <a:t>section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WKEFV+CMR10" panose="02000500000000000000"/>
                <a:cs typeface="KWKEFV+CMR10" panose="02000500000000000000"/>
              </a:rPr>
              <a:t>10.3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WKEFV+CMR10" panose="02000500000000000000"/>
                <a:cs typeface="KWKEFV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WKEFV+CMR10" panose="02000500000000000000"/>
                <a:cs typeface="KWKEFV+CMR10" panose="02000500000000000000"/>
              </a:rPr>
              <a:t>syntax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WKEFV+CMR10" panose="02000500000000000000"/>
                <a:cs typeface="KWKEFV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WKEFV+CMR10" panose="02000500000000000000"/>
                <a:cs typeface="KWKEFV+CMR10" panose="02000500000000000000"/>
              </a:rPr>
              <a:t>path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WKEFV+CMR10" panose="02000500000000000000"/>
                <a:cs typeface="KWKEFV+CMR10" panose="02000500000000000000"/>
              </a:rPr>
              <a:t>expressions.</a:t>
            </a:r>
            <a:endParaRPr sz="2050">
              <a:solidFill>
                <a:srgbClr val="000000"/>
              </a:solidFill>
              <a:latin typeface="KWKEFV+CMR10" panose="02000500000000000000"/>
              <a:cs typeface="KWKEFV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VIIHW+CMR7" panose="02000500000000000000"/>
                <a:cs typeface="WVIIHW+CMR7" panose="02000500000000000000"/>
              </a:rPr>
              <a:t>132</a:t>
            </a:r>
            <a:endParaRPr sz="1450">
              <a:solidFill>
                <a:srgbClr val="000000"/>
              </a:solidFill>
              <a:latin typeface="WVIIHW+CMR7" panose="02000500000000000000"/>
              <a:cs typeface="WVIIHW+CMR7" panose="02000500000000000000"/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358693"/>
            <a:ext cx="8633187" cy="17571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IPVLFH+CMBX12~c" panose="02000500000000000000"/>
                <a:cs typeface="IPVLFH+CMBX12~c" panose="02000500000000000000"/>
              </a:rPr>
              <a:t>Extensional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IPVLFH+CMBX12~c" panose="02000500000000000000"/>
                <a:cs typeface="IPVLFH+CMBX12~c" panose="02000500000000000000"/>
              </a:rPr>
              <a:t>and</a:t>
            </a:r>
            <a:r>
              <a:rPr sz="2500" spc="2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7">
                <a:solidFill>
                  <a:srgbClr val="000000"/>
                </a:solidFill>
                <a:latin typeface="IPVLFH+CMBX12~c" panose="02000500000000000000"/>
                <a:cs typeface="IPVLFH+CMBX12~c" panose="02000500000000000000"/>
              </a:rPr>
              <a:t>intensional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IPVLFH+CMBX12~c" panose="02000500000000000000"/>
                <a:cs typeface="IPVLFH+CMBX12~c" panose="02000500000000000000"/>
              </a:rPr>
              <a:t>deﬁnitions</a:t>
            </a:r>
            <a:endParaRPr sz="2500" spc="-11">
              <a:solidFill>
                <a:srgbClr val="000000"/>
              </a:solidFill>
              <a:latin typeface="IPVLFH+CMBX12~c" panose="02000500000000000000"/>
              <a:cs typeface="IPVLFH+CMBX12~c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LMBCH+CMSY10~25" panose="02000500000000000000"/>
                <a:cs typeface="DLMBCH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TCCMD+CMBX10" panose="02000500000000000000"/>
                <a:cs typeface="JTCCMD+CMBX10" panose="02000500000000000000"/>
              </a:rPr>
              <a:t>Extensional</a:t>
            </a:r>
            <a:r>
              <a:rPr sz="2050" spc="2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TCCMD+CMBX10" panose="02000500000000000000"/>
                <a:cs typeface="JTCCMD+CMBX10" panose="02000500000000000000"/>
              </a:rPr>
              <a:t>deﬁnitions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list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few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instances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concept.</a:t>
            </a:r>
            <a:endParaRPr sz="2050" spc="12">
              <a:solidFill>
                <a:srgbClr val="000000"/>
              </a:solidFill>
              <a:latin typeface="QOTSDP+CMR10" panose="02000500000000000000"/>
              <a:cs typeface="QOTSDP+CMR10" panose="02000500000000000000"/>
            </a:endParaRPr>
          </a:p>
          <a:p>
            <a:pPr marL="472440" marR="0">
              <a:lnSpc>
                <a:spcPts val="2520"/>
              </a:lnSpc>
              <a:spcBef>
                <a:spcPts val="15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Easy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give.</a:t>
            </a:r>
            <a:r>
              <a:rPr sz="2050" spc="4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But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do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deﬁne</a:t>
            </a:r>
            <a:r>
              <a:rPr sz="2050" spc="1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an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intension.</a:t>
            </a:r>
            <a:endParaRPr sz="2050">
              <a:solidFill>
                <a:srgbClr val="000000"/>
              </a:solidFill>
              <a:latin typeface="QOTSDP+CMR10" panose="02000500000000000000"/>
              <a:cs typeface="QOTSDP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77" y="2895070"/>
            <a:ext cx="858752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LMBCH+CMSY10~25" panose="02000500000000000000"/>
                <a:cs typeface="DLMBCH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TCCMD+CMBX10" panose="02000500000000000000"/>
                <a:cs typeface="JTCCMD+CMBX10" panose="02000500000000000000"/>
              </a:rPr>
              <a:t>Intensional</a:t>
            </a:r>
            <a:r>
              <a:rPr sz="2050" spc="2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TCCMD+CMBX10" panose="02000500000000000000"/>
                <a:cs typeface="JTCCMD+CMBX10" panose="02000500000000000000"/>
              </a:rPr>
              <a:t>deﬁnition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lists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deﬁning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properties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shared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by</a:t>
            </a:r>
            <a:endParaRPr sz="2050" spc="-47">
              <a:solidFill>
                <a:srgbClr val="000000"/>
              </a:solidFill>
              <a:latin typeface="QOTSDP+CMR10" panose="02000500000000000000"/>
              <a:cs typeface="QOTSDP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02" y="3266928"/>
            <a:ext cx="354724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instance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concept.</a:t>
            </a:r>
            <a:endParaRPr sz="2050" spc="12">
              <a:solidFill>
                <a:srgbClr val="000000"/>
              </a:solidFill>
              <a:latin typeface="QOTSDP+CMR10" panose="02000500000000000000"/>
              <a:cs typeface="QOTSDP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06" y="3785087"/>
            <a:ext cx="223872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Diﬃcult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ﬁnd.</a:t>
            </a:r>
            <a:endParaRPr sz="2050" spc="13">
              <a:solidFill>
                <a:srgbClr val="000000"/>
              </a:solidFill>
              <a:latin typeface="QOTSDP+CMR10" panose="02000500000000000000"/>
              <a:cs typeface="QOTSDP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4264" y="4303249"/>
            <a:ext cx="682725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5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Open-textured</a:t>
            </a:r>
            <a:r>
              <a:rPr sz="2050" spc="1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terms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no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intensional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deﬁnition.</a:t>
            </a:r>
            <a:endParaRPr sz="2050" spc="10">
              <a:solidFill>
                <a:srgbClr val="000000"/>
              </a:solidFill>
              <a:latin typeface="QOTSDP+CMR10" panose="02000500000000000000"/>
              <a:cs typeface="QOTSDP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6177" y="4686391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LMBCH+CMSY10~25" panose="02000500000000000000"/>
                <a:cs typeface="DLMBCH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DLMBCH+CMSY10~25" panose="02000500000000000000"/>
              <a:cs typeface="DLMBCH+CMSY10~25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699" y="4822935"/>
            <a:ext cx="808459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5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Deﬁne</a:t>
            </a:r>
            <a:r>
              <a:rPr sz="20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these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giving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few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examples,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sketch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intent,</a:t>
            </a:r>
            <a:endParaRPr sz="2050">
              <a:solidFill>
                <a:srgbClr val="000000"/>
              </a:solidFill>
              <a:latin typeface="QOTSDP+CMR10" panose="02000500000000000000"/>
              <a:cs typeface="QOTSDP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708" y="5193268"/>
            <a:ext cx="7444181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indicating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procedure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—if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any—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determines</a:t>
            </a:r>
            <a:endParaRPr sz="2050" spc="10">
              <a:solidFill>
                <a:srgbClr val="000000"/>
              </a:solidFill>
              <a:latin typeface="QOTSDP+CMR10" panose="02000500000000000000"/>
              <a:cs typeface="QOTSDP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whether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an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instances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falls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under</a:t>
            </a:r>
            <a:r>
              <a:rPr sz="20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concept.</a:t>
            </a:r>
            <a:endParaRPr sz="2050" spc="12">
              <a:solidFill>
                <a:srgbClr val="000000"/>
              </a:solidFill>
              <a:latin typeface="QOTSDP+CMR10" panose="02000500000000000000"/>
              <a:cs typeface="QOTSDP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4275" y="6083288"/>
            <a:ext cx="796064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Examples:</a:t>
            </a:r>
            <a:r>
              <a:rPr sz="2050" spc="3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Boat,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title,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document,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vehicle,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house,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elevator,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TSDP+CMR10" panose="02000500000000000000"/>
                <a:cs typeface="QOTSDP+CMR10" panose="02000500000000000000"/>
              </a:rPr>
              <a:t>...</a:t>
            </a:r>
            <a:endParaRPr sz="2050">
              <a:solidFill>
                <a:srgbClr val="000000"/>
              </a:solidFill>
              <a:latin typeface="QOTSDP+CMR10" panose="02000500000000000000"/>
              <a:cs typeface="QOTSDP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RNUESF+CMR7" panose="02000500000000000000"/>
                <a:cs typeface="RNUESF+CMR7" panose="02000500000000000000"/>
              </a:rPr>
              <a:t>133</a:t>
            </a:r>
            <a:endParaRPr sz="1450">
              <a:solidFill>
                <a:srgbClr val="000000"/>
              </a:solidFill>
              <a:latin typeface="RNUESF+CMR7" panose="02000500000000000000"/>
              <a:cs typeface="RNUESF+CMR7" panose="02000500000000000000"/>
            </a:endParaRP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81325"/>
            <a:ext cx="4061651" cy="1253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7">
                <a:solidFill>
                  <a:srgbClr val="000000"/>
                </a:solidFill>
                <a:latin typeface="WLKRHO+CMBX12~c" panose="02000500000000000000"/>
                <a:cs typeface="WLKRHO+CMBX12~c" panose="02000500000000000000"/>
              </a:rPr>
              <a:t>When</a:t>
            </a:r>
            <a:r>
              <a:rPr sz="2500" spc="3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WLKRHO+CMBX12~c" panose="02000500000000000000"/>
                <a:cs typeface="WLKRHO+CMBX12~c" panose="02000500000000000000"/>
              </a:rPr>
              <a:t>to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WLKRHO+CMBX12~c" panose="02000500000000000000"/>
                <a:cs typeface="WLKRHO+CMBX12~c" panose="02000500000000000000"/>
              </a:rPr>
              <a:t>deﬁne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WLKRHO+CMBX12~c" panose="02000500000000000000"/>
                <a:cs typeface="WLKRHO+CMBX12~c" panose="02000500000000000000"/>
              </a:rPr>
              <a:t>a</a:t>
            </a:r>
            <a:r>
              <a:rPr sz="2500" spc="3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WLKRHO+CMBX12~c" panose="02000500000000000000"/>
                <a:cs typeface="WLKRHO+CMBX12~c" panose="02000500000000000000"/>
              </a:rPr>
              <a:t>term</a:t>
            </a:r>
            <a:endParaRPr sz="2500" spc="-11">
              <a:solidFill>
                <a:srgbClr val="000000"/>
              </a:solidFill>
              <a:latin typeface="WLKRHO+CMBX12~c" panose="02000500000000000000"/>
              <a:cs typeface="WLKRHO+CMBX12~c" panose="02000500000000000000"/>
            </a:endParaRPr>
          </a:p>
          <a:p>
            <a:pPr marL="121920" marR="0">
              <a:lnSpc>
                <a:spcPts val="261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IDCOW+CMSY10~25" panose="02000500000000000000"/>
                <a:cs typeface="IIDCOW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IIDCOW+CMSY10~25" panose="02000500000000000000"/>
              <a:cs typeface="IIDCOW+CMSY10~25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6709" y="1582901"/>
            <a:ext cx="240943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6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To</a:t>
            </a:r>
            <a:r>
              <a:rPr sz="2050" spc="3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clarify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term.</a:t>
            </a:r>
            <a:endParaRPr sz="2050">
              <a:solidFill>
                <a:srgbClr val="000000"/>
              </a:solidFill>
              <a:latin typeface="LTMOIR+CMR10" panose="02000500000000000000"/>
              <a:cs typeface="LTMOIR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6189" y="1964518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IDCOW+CMSY10~25" panose="02000500000000000000"/>
                <a:cs typeface="IIDCOW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IIDCOW+CMSY10~25" panose="02000500000000000000"/>
              <a:cs typeface="IIDCOW+CMSY10~25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09" y="2101062"/>
            <a:ext cx="571261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6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To</a:t>
            </a:r>
            <a:r>
              <a:rPr sz="2050" spc="3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indicate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term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is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open-textured.</a:t>
            </a:r>
            <a:endParaRPr sz="2050" spc="15">
              <a:solidFill>
                <a:srgbClr val="000000"/>
              </a:solidFill>
              <a:latin typeface="LTMOIR+CMR10" panose="02000500000000000000"/>
              <a:cs typeface="LTMOIR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6179" y="2484204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IDCOW+CMSY10~25" panose="02000500000000000000"/>
                <a:cs typeface="IIDCOW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IIDCOW+CMSY10~25" panose="02000500000000000000"/>
              <a:cs typeface="IIDCOW+CMSY10~25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700" y="2619224"/>
            <a:ext cx="619037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6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To</a:t>
            </a:r>
            <a:r>
              <a:rPr sz="2050" spc="3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indicate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we</a:t>
            </a:r>
            <a:r>
              <a:rPr sz="2050" spc="2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attach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little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meaning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it.</a:t>
            </a:r>
            <a:endParaRPr sz="2050">
              <a:solidFill>
                <a:srgbClr val="000000"/>
              </a:solidFill>
              <a:latin typeface="LTMOIR+CMR10" panose="02000500000000000000"/>
              <a:cs typeface="LTMOIR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6183" y="3002366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IDCOW+CMSY10~25" panose="02000500000000000000"/>
                <a:cs typeface="IIDCOW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IIDCOW+CMSY10~25" panose="02000500000000000000"/>
              <a:cs typeface="IIDCOW+CMSY10~25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703" y="3137386"/>
            <a:ext cx="810163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term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absolutely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obvious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stakeholders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—but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they</a:t>
            </a:r>
            <a:endParaRPr sz="2050" spc="12">
              <a:solidFill>
                <a:srgbClr val="000000"/>
              </a:solidFill>
              <a:latin typeface="LTMOIR+CMR10" panose="02000500000000000000"/>
              <a:cs typeface="LTMOIR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6704" y="3509241"/>
            <a:ext cx="409905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attach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diﬀerent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meanings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it.</a:t>
            </a:r>
            <a:endParaRPr sz="2050">
              <a:solidFill>
                <a:srgbClr val="000000"/>
              </a:solidFill>
              <a:latin typeface="LTMOIR+CMR10" panose="02000500000000000000"/>
              <a:cs typeface="LTMOIR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4267" y="4033439"/>
            <a:ext cx="4080237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5">
                <a:solidFill>
                  <a:srgbClr val="000000"/>
                </a:solidFill>
                <a:latin typeface="EKGTLK+CMBX10" panose="02000500000000000000"/>
                <a:cs typeface="EKGTLK+CMBX10" panose="02000500000000000000"/>
              </a:rPr>
              <a:t>When</a:t>
            </a:r>
            <a:r>
              <a:rPr sz="2050" spc="2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KGTLK+CMBX10" panose="02000500000000000000"/>
                <a:cs typeface="EKGTLK+CMBX10" panose="02000500000000000000"/>
              </a:rPr>
              <a:t>not</a:t>
            </a:r>
            <a:r>
              <a:rPr sz="2050" spc="2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KGTLK+CMBX10" panose="02000500000000000000"/>
                <a:cs typeface="EKGTLK+CMBX10" panose="02000500000000000000"/>
              </a:rPr>
              <a:t>to</a:t>
            </a:r>
            <a:r>
              <a:rPr sz="2050" spc="2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KGTLK+CMBX10" panose="02000500000000000000"/>
                <a:cs typeface="EKGTLK+CMBX10" panose="02000500000000000000"/>
              </a:rPr>
              <a:t>deﬁne</a:t>
            </a:r>
            <a:r>
              <a:rPr sz="2050" spc="2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KGTLK+CMBX10" panose="02000500000000000000"/>
                <a:cs typeface="EKGTLK+CMBX10" panose="02000500000000000000"/>
              </a:rPr>
              <a:t>a</a:t>
            </a:r>
            <a:r>
              <a:rPr sz="2050" spc="2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EKGTLK+CMBX10" panose="02000500000000000000"/>
                <a:cs typeface="EKGTLK+CMBX10" panose="02000500000000000000"/>
              </a:rPr>
              <a:t>term</a:t>
            </a:r>
            <a:endParaRPr sz="2050" spc="11">
              <a:solidFill>
                <a:srgbClr val="000000"/>
              </a:solidFill>
              <a:latin typeface="EKGTLK+CMBX10" panose="02000500000000000000"/>
              <a:cs typeface="EKGTLK+CMBX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66183" y="4410545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IDCOW+CMSY10~25" panose="02000500000000000000"/>
                <a:cs typeface="IIDCOW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IIDCOW+CMSY10~25" panose="02000500000000000000"/>
              <a:cs typeface="IIDCOW+CMSY10~25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6703" y="4545565"/>
            <a:ext cx="838919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6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To</a:t>
            </a:r>
            <a:r>
              <a:rPr sz="2050" spc="3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raise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cloud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of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obscurity.</a:t>
            </a:r>
            <a:r>
              <a:rPr sz="2050" spc="4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(Bad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idea,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but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frequent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practice.)</a:t>
            </a:r>
            <a:endParaRPr sz="2050">
              <a:solidFill>
                <a:srgbClr val="000000"/>
              </a:solidFill>
              <a:latin typeface="LTMOIR+CMR10" panose="02000500000000000000"/>
              <a:cs typeface="LTMOIR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66170" y="4928706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IDCOW+CMSY10~25" panose="02000500000000000000"/>
                <a:cs typeface="IIDCOW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IIDCOW+CMSY10~25" panose="02000500000000000000"/>
              <a:cs typeface="IIDCOW+CMSY10~25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16691" y="5065250"/>
            <a:ext cx="785424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Deﬁnitions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also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found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technical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documentation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of</a:t>
            </a:r>
            <a:endParaRPr sz="2050">
              <a:solidFill>
                <a:srgbClr val="000000"/>
              </a:solidFill>
              <a:latin typeface="LTMOIR+CMR10" panose="02000500000000000000"/>
              <a:cs typeface="LTMOIR+CMR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16693" y="5435583"/>
            <a:ext cx="368743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devices.</a:t>
            </a:r>
            <a:r>
              <a:rPr sz="2050" spc="3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Don’t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repeat</a:t>
            </a:r>
            <a:r>
              <a:rPr sz="20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these.</a:t>
            </a:r>
            <a:endParaRPr sz="2050" spc="11">
              <a:solidFill>
                <a:srgbClr val="000000"/>
              </a:solidFill>
              <a:latin typeface="LTMOIR+CMR10" panose="02000500000000000000"/>
              <a:cs typeface="LTMOIR+CMR10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66173" y="5818725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IDCOW+CMSY10~25" panose="02000500000000000000"/>
                <a:cs typeface="IIDCOW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IIDCOW+CMSY10~25" panose="02000500000000000000"/>
              <a:cs typeface="IIDCOW+CMSY10~25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16694" y="5955269"/>
            <a:ext cx="813483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term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absolutely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obvious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stakeholders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—and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they</a:t>
            </a:r>
            <a:endParaRPr sz="2050" spc="12">
              <a:solidFill>
                <a:srgbClr val="000000"/>
              </a:solidFill>
              <a:latin typeface="LTMOIR+CMR10" panose="02000500000000000000"/>
              <a:cs typeface="LTMOIR+CMR10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16694" y="6325602"/>
            <a:ext cx="355623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understand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same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TMOIR+CMR10" panose="02000500000000000000"/>
                <a:cs typeface="LTMOIR+CMR10" panose="02000500000000000000"/>
              </a:rPr>
              <a:t>it.</a:t>
            </a:r>
            <a:endParaRPr sz="2050">
              <a:solidFill>
                <a:srgbClr val="000000"/>
              </a:solidFill>
              <a:latin typeface="LTMOIR+CMR10" panose="02000500000000000000"/>
              <a:cs typeface="LTMOIR+CMR10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KOKBUT+CMR7" panose="02000500000000000000"/>
                <a:cs typeface="KOKBUT+CMR7" panose="02000500000000000000"/>
              </a:rPr>
              <a:t>134</a:t>
            </a:r>
            <a:endParaRPr sz="1450">
              <a:solidFill>
                <a:srgbClr val="000000"/>
              </a:solidFill>
              <a:latin typeface="KOKBUT+CMR7" panose="02000500000000000000"/>
              <a:cs typeface="KOKBUT+CMR7" panose="02000500000000000000"/>
            </a:endParaRP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146857"/>
            <a:ext cx="6086776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2">
                <a:solidFill>
                  <a:srgbClr val="000000"/>
                </a:solidFill>
                <a:latin typeface="CLKOUW+CMBX12~c" panose="02000500000000000000"/>
                <a:cs typeface="CLKOUW+CMBX12~c" panose="02000500000000000000"/>
              </a:rPr>
              <a:t>Deﬁnition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87">
                <a:solidFill>
                  <a:srgbClr val="000000"/>
                </a:solidFill>
                <a:latin typeface="CLKOUW+CMBX12~c" panose="02000500000000000000"/>
                <a:cs typeface="CLKOUW+CMBX12~c" panose="02000500000000000000"/>
              </a:rPr>
              <a:t>by</a:t>
            </a:r>
            <a:r>
              <a:rPr sz="2500" spc="3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2">
                <a:solidFill>
                  <a:srgbClr val="000000"/>
                </a:solidFill>
                <a:latin typeface="CLKOUW+CMBX12~c" panose="02000500000000000000"/>
                <a:cs typeface="CLKOUW+CMBX12~c" panose="02000500000000000000"/>
              </a:rPr>
              <a:t>genus</a:t>
            </a:r>
            <a:r>
              <a:rPr sz="2500" spc="3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CLKOUW+CMBX12~c" panose="02000500000000000000"/>
                <a:cs typeface="CLKOUW+CMBX12~c" panose="02000500000000000000"/>
              </a:rPr>
              <a:t>and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CLKOUW+CMBX12~c" panose="02000500000000000000"/>
                <a:cs typeface="CLKOUW+CMBX12~c" panose="02000500000000000000"/>
              </a:rPr>
              <a:t>diﬀerence</a:t>
            </a:r>
            <a:endParaRPr sz="2500" spc="-11">
              <a:solidFill>
                <a:srgbClr val="000000"/>
              </a:solidFill>
              <a:latin typeface="CLKOUW+CMBX12~c" panose="02000500000000000000"/>
              <a:cs typeface="CLKOUW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1241" y="1717126"/>
            <a:ext cx="1840681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Without</a:t>
            </a:r>
            <a:r>
              <a:rPr sz="18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genus</a:t>
            </a:r>
            <a:endParaRPr sz="1850">
              <a:solidFill>
                <a:srgbClr val="000000"/>
              </a:solidFill>
              <a:latin typeface="EKCMWC+CMSS9" panose="02000500000000000000"/>
              <a:cs typeface="EKCMWC+CMSS9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3590" y="1717126"/>
            <a:ext cx="1505551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With</a:t>
            </a:r>
            <a:r>
              <a:rPr sz="18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genus</a:t>
            </a:r>
            <a:endParaRPr sz="1850">
              <a:solidFill>
                <a:srgbClr val="000000"/>
              </a:solidFill>
              <a:latin typeface="EKCMWC+CMSS9" panose="02000500000000000000"/>
              <a:cs typeface="EKCMWC+CMSS9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1241" y="2200234"/>
            <a:ext cx="8404337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A</a:t>
            </a:r>
            <a:r>
              <a:rPr sz="1850" spc="3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compiler</a:t>
            </a:r>
            <a:r>
              <a:rPr sz="1850" spc="3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translates</a:t>
            </a:r>
            <a:r>
              <a:rPr sz="185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source</a:t>
            </a:r>
            <a:r>
              <a:rPr sz="1850" spc="3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23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code</a:t>
            </a:r>
            <a:r>
              <a:rPr sz="1850" spc="20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A</a:t>
            </a:r>
            <a:r>
              <a:rPr sz="1850" spc="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compiler</a:t>
            </a:r>
            <a:r>
              <a:rPr sz="18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is</a:t>
            </a:r>
            <a:r>
              <a:rPr sz="1850" spc="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a</a:t>
            </a:r>
            <a:r>
              <a:rPr sz="1850" spc="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program</a:t>
            </a:r>
            <a:r>
              <a:rPr sz="1850" spc="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that</a:t>
            </a:r>
            <a:r>
              <a:rPr sz="1850" spc="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trans-</a:t>
            </a:r>
            <a:endParaRPr sz="1850">
              <a:solidFill>
                <a:srgbClr val="000000"/>
              </a:solidFill>
              <a:latin typeface="EKCMWC+CMSS9" panose="02000500000000000000"/>
              <a:cs typeface="EKCMWC+CMSS9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1282" y="2540087"/>
            <a:ext cx="2057488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into</a:t>
            </a:r>
            <a:r>
              <a:rPr sz="18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object</a:t>
            </a:r>
            <a:r>
              <a:rPr sz="18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2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code.</a:t>
            </a:r>
            <a:endParaRPr sz="1850" spc="20">
              <a:solidFill>
                <a:srgbClr val="000000"/>
              </a:solidFill>
              <a:latin typeface="EKCMWC+CMSS9" panose="02000500000000000000"/>
              <a:cs typeface="EKCMWC+CMSS9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14283" y="2540087"/>
            <a:ext cx="4020684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lates</a:t>
            </a:r>
            <a:r>
              <a:rPr sz="1850" spc="1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source</a:t>
            </a:r>
            <a:r>
              <a:rPr sz="1850" spc="1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23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code</a:t>
            </a:r>
            <a:r>
              <a:rPr sz="1850" spc="1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into</a:t>
            </a:r>
            <a:r>
              <a:rPr sz="18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object</a:t>
            </a:r>
            <a:r>
              <a:rPr sz="1850" spc="1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2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code.</a:t>
            </a:r>
            <a:endParaRPr sz="1850" spc="20">
              <a:solidFill>
                <a:srgbClr val="000000"/>
              </a:solidFill>
              <a:latin typeface="EKCMWC+CMSS9" panose="02000500000000000000"/>
              <a:cs typeface="EKCMWC+CMSS9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14289" y="2971378"/>
            <a:ext cx="4022166" cy="930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A</a:t>
            </a:r>
            <a:r>
              <a:rPr sz="1850" spc="5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catamaran</a:t>
            </a:r>
            <a:r>
              <a:rPr sz="1850" spc="4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is</a:t>
            </a:r>
            <a:r>
              <a:rPr sz="1850" spc="5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a</a:t>
            </a:r>
            <a:r>
              <a:rPr sz="1850" spc="5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24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boat</a:t>
            </a:r>
            <a:r>
              <a:rPr sz="1850" spc="5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with</a:t>
            </a:r>
            <a:r>
              <a:rPr sz="1850" spc="5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39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two</a:t>
            </a:r>
            <a:endParaRPr sz="1850" spc="-39">
              <a:solidFill>
                <a:srgbClr val="000000"/>
              </a:solidFill>
              <a:latin typeface="EKCMWC+CMSS9" panose="02000500000000000000"/>
              <a:cs typeface="EKCMWC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hulls.</a:t>
            </a:r>
            <a:endParaRPr sz="1850">
              <a:solidFill>
                <a:srgbClr val="000000"/>
              </a:solidFill>
              <a:latin typeface="EKCMWC+CMSS9" panose="02000500000000000000"/>
              <a:cs typeface="EKCMWC+CMSS9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01241" y="3140542"/>
            <a:ext cx="3177105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A</a:t>
            </a:r>
            <a:r>
              <a:rPr sz="18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catamaran</a:t>
            </a:r>
            <a:r>
              <a:rPr sz="1850" spc="1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has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39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two</a:t>
            </a:r>
            <a:r>
              <a:rPr sz="1850" spc="1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hulls.</a:t>
            </a:r>
            <a:endParaRPr sz="1850">
              <a:solidFill>
                <a:srgbClr val="000000"/>
              </a:solidFill>
              <a:latin typeface="EKCMWC+CMSS9" panose="02000500000000000000"/>
              <a:cs typeface="EKCMWC+CMSS9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14289" y="3695278"/>
            <a:ext cx="4020348" cy="12721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A</a:t>
            </a:r>
            <a:r>
              <a:rPr sz="1850" spc="5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heating</a:t>
            </a:r>
            <a:r>
              <a:rPr sz="1850" spc="5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tank</a:t>
            </a:r>
            <a:r>
              <a:rPr sz="1850" spc="5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is</a:t>
            </a:r>
            <a:r>
              <a:rPr sz="1850" spc="5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a</a:t>
            </a:r>
            <a:r>
              <a:rPr sz="1850" spc="5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tank</a:t>
            </a:r>
            <a:r>
              <a:rPr sz="1850" spc="5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with</a:t>
            </a:r>
            <a:r>
              <a:rPr sz="1850" spc="5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a</a:t>
            </a:r>
            <a:endParaRPr sz="1850">
              <a:solidFill>
                <a:srgbClr val="000000"/>
              </a:solidFill>
              <a:latin typeface="EKCMWC+CMSS9" panose="02000500000000000000"/>
              <a:cs typeface="EKCMWC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81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heater</a:t>
            </a:r>
            <a:r>
              <a:rPr sz="1850" spc="3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and</a:t>
            </a:r>
            <a:r>
              <a:rPr sz="1850" spc="3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thermometer</a:t>
            </a:r>
            <a:r>
              <a:rPr sz="1850" spc="3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in</a:t>
            </a:r>
            <a:r>
              <a:rPr sz="1850" spc="4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which</a:t>
            </a:r>
            <a:endParaRPr sz="1850">
              <a:solidFill>
                <a:srgbClr val="000000"/>
              </a:solidFill>
              <a:latin typeface="EKCMWC+CMSS9" panose="02000500000000000000"/>
              <a:cs typeface="EKCMWC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4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juice</a:t>
            </a:r>
            <a:r>
              <a:rPr sz="18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can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51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be</a:t>
            </a:r>
            <a:r>
              <a:rPr sz="18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heated.</a:t>
            </a:r>
            <a:endParaRPr sz="1850">
              <a:solidFill>
                <a:srgbClr val="000000"/>
              </a:solidFill>
              <a:latin typeface="EKCMWC+CMSS9" panose="02000500000000000000"/>
              <a:cs typeface="EKCMWC+CMSS9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01241" y="4036654"/>
            <a:ext cx="3146232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A</a:t>
            </a:r>
            <a:r>
              <a:rPr sz="18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heating</a:t>
            </a:r>
            <a:r>
              <a:rPr sz="18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tank</a:t>
            </a:r>
            <a:r>
              <a:rPr sz="18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heats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juice.</a:t>
            </a:r>
            <a:endParaRPr sz="1850">
              <a:solidFill>
                <a:srgbClr val="000000"/>
              </a:solidFill>
              <a:latin typeface="EKCMWC+CMSS9" panose="02000500000000000000"/>
              <a:cs typeface="EKCMWC+CMSS9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01241" y="4807799"/>
            <a:ext cx="8403606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Joiners</a:t>
            </a:r>
            <a:r>
              <a:rPr sz="1850" spc="6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recently</a:t>
            </a:r>
            <a:r>
              <a:rPr sz="1850" spc="6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joined</a:t>
            </a:r>
            <a:r>
              <a:rPr sz="1850" spc="6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the</a:t>
            </a:r>
            <a:r>
              <a:rPr sz="1850" spc="6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com-</a:t>
            </a:r>
            <a:r>
              <a:rPr sz="1850" spc="20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A</a:t>
            </a:r>
            <a:r>
              <a:rPr sz="1850" spc="5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joiner</a:t>
            </a:r>
            <a:r>
              <a:rPr sz="1850" spc="5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is</a:t>
            </a:r>
            <a:r>
              <a:rPr sz="1850" spc="5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an</a:t>
            </a:r>
            <a:r>
              <a:rPr sz="1850" spc="5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employee</a:t>
            </a:r>
            <a:r>
              <a:rPr sz="1850" spc="5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that</a:t>
            </a:r>
            <a:r>
              <a:rPr sz="1850" spc="5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re-</a:t>
            </a:r>
            <a:endParaRPr sz="1850">
              <a:solidFill>
                <a:srgbClr val="000000"/>
              </a:solidFill>
              <a:latin typeface="EKCMWC+CMSS9" panose="02000500000000000000"/>
              <a:cs typeface="EKCMWC+CMSS9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01239" y="5147651"/>
            <a:ext cx="898220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 spc="-28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pany.</a:t>
            </a:r>
            <a:endParaRPr sz="1850" spc="-28">
              <a:solidFill>
                <a:srgbClr val="000000"/>
              </a:solidFill>
              <a:latin typeface="EKCMWC+CMSS9" panose="02000500000000000000"/>
              <a:cs typeface="EKCMWC+CMSS9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14284" y="5147651"/>
            <a:ext cx="3598445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cently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has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joined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the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3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company.</a:t>
            </a:r>
            <a:endParaRPr sz="1850" spc="-13">
              <a:solidFill>
                <a:srgbClr val="000000"/>
              </a:solidFill>
              <a:latin typeface="EKCMWC+CMSS9" panose="02000500000000000000"/>
              <a:cs typeface="EKCMWC+CMSS9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14283" y="5578942"/>
            <a:ext cx="4022191" cy="12721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A</a:t>
            </a:r>
            <a:r>
              <a:rPr sz="1850" spc="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ticket</a:t>
            </a:r>
            <a:r>
              <a:rPr sz="1850" spc="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is</a:t>
            </a:r>
            <a:r>
              <a:rPr sz="1850" spc="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a</a:t>
            </a:r>
            <a:r>
              <a:rPr sz="1850" spc="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lexical</a:t>
            </a:r>
            <a:r>
              <a:rPr sz="1850" spc="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item</a:t>
            </a:r>
            <a:r>
              <a:rPr sz="1850" spc="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that</a:t>
            </a:r>
            <a:r>
              <a:rPr sz="1850" spc="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repre-</a:t>
            </a:r>
            <a:endParaRPr sz="1850">
              <a:solidFill>
                <a:srgbClr val="000000"/>
              </a:solidFill>
              <a:latin typeface="EKCMWC+CMSS9" panose="02000500000000000000"/>
              <a:cs typeface="EKCMWC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sents</a:t>
            </a:r>
            <a:r>
              <a:rPr sz="1850" spc="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the</a:t>
            </a:r>
            <a:r>
              <a:rPr sz="1850" spc="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passenger’s</a:t>
            </a:r>
            <a:r>
              <a:rPr sz="1850" spc="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right</a:t>
            </a:r>
            <a:r>
              <a:rPr sz="1850" spc="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to</a:t>
            </a:r>
            <a:r>
              <a:rPr sz="1850" spc="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make</a:t>
            </a:r>
            <a:endParaRPr sz="1850">
              <a:solidFill>
                <a:srgbClr val="000000"/>
              </a:solidFill>
              <a:latin typeface="EKCMWC+CMSS9" panose="02000500000000000000"/>
              <a:cs typeface="EKCMWC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76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a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trip</a:t>
            </a:r>
            <a:r>
              <a:rPr sz="18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45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by</a:t>
            </a:r>
            <a:r>
              <a:rPr sz="1850" spc="2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train.</a:t>
            </a:r>
            <a:endParaRPr sz="1850">
              <a:solidFill>
                <a:srgbClr val="000000"/>
              </a:solidFill>
              <a:latin typeface="EKCMWC+CMSS9" panose="02000500000000000000"/>
              <a:cs typeface="EKCMWC+CMSS9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1241" y="5748106"/>
            <a:ext cx="4019479" cy="9323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A</a:t>
            </a:r>
            <a:r>
              <a:rPr sz="18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ticket</a:t>
            </a:r>
            <a:r>
              <a:rPr sz="1850" spc="13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represents</a:t>
            </a:r>
            <a:r>
              <a:rPr sz="18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the</a:t>
            </a:r>
            <a:r>
              <a:rPr sz="18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passenger’s</a:t>
            </a:r>
            <a:endParaRPr sz="1850">
              <a:solidFill>
                <a:srgbClr val="000000"/>
              </a:solidFill>
              <a:latin typeface="EKCMWC+CMSS9" panose="02000500000000000000"/>
              <a:cs typeface="EKCMWC+CMSS9" panose="02000500000000000000"/>
            </a:endParaRPr>
          </a:p>
          <a:p>
            <a:pPr marL="0" marR="0">
              <a:lnSpc>
                <a:spcPts val="1880"/>
              </a:lnSpc>
              <a:spcBef>
                <a:spcPts val="81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right</a:t>
            </a:r>
            <a:r>
              <a:rPr sz="18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to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make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a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trip</a:t>
            </a:r>
            <a:r>
              <a:rPr sz="18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45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by</a:t>
            </a:r>
            <a:r>
              <a:rPr sz="1850" spc="2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EKCMWC+CMSS9" panose="02000500000000000000"/>
                <a:cs typeface="EKCMWC+CMSS9" panose="02000500000000000000"/>
              </a:rPr>
              <a:t>train.</a:t>
            </a:r>
            <a:endParaRPr sz="1850">
              <a:solidFill>
                <a:srgbClr val="000000"/>
              </a:solidFill>
              <a:latin typeface="EKCMWC+CMSS9" panose="02000500000000000000"/>
              <a:cs typeface="EKCMWC+CMSS9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CUVAPO+CMR7" panose="02000500000000000000"/>
                <a:cs typeface="CUVAPO+CMR7" panose="02000500000000000000"/>
              </a:rPr>
              <a:t>135</a:t>
            </a:r>
            <a:endParaRPr sz="1450">
              <a:solidFill>
                <a:srgbClr val="000000"/>
              </a:solidFill>
              <a:latin typeface="CUVAPO+CMR7" panose="02000500000000000000"/>
              <a:cs typeface="CUVAPO+CMR7" panose="02000500000000000000"/>
            </a:endParaRP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66189" y="2917018"/>
            <a:ext cx="609119" cy="1737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ATVBN+CMSY10~25" panose="02000500000000000000"/>
                <a:cs typeface="JATVBN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JATVBN+CMSY10~25" panose="02000500000000000000"/>
              <a:cs typeface="JATVBN+CMSY10~25" panose="02000500000000000000"/>
            </a:endParaRPr>
          </a:p>
          <a:p>
            <a:pPr marL="0" marR="0">
              <a:lnSpc>
                <a:spcPts val="3585"/>
              </a:lnSpc>
              <a:spcBef>
                <a:spcPts val="343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ATVBN+CMSY10~25" panose="02000500000000000000"/>
                <a:cs typeface="JATVBN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JATVBN+CMSY10~25" panose="02000500000000000000"/>
              <a:cs typeface="JATVBN+CMSY10~25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6709" y="3053562"/>
            <a:ext cx="7813258" cy="1082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UOPAJG+CMR10" panose="02000500000000000000"/>
                <a:cs typeface="UOPAJG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OPAJG+CMR10" panose="02000500000000000000"/>
                <a:cs typeface="UOPAJG+CMR10" panose="02000500000000000000"/>
              </a:rPr>
              <a:t>genus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OPAJG+CMR10" panose="02000500000000000000"/>
                <a:cs typeface="UOPAJG+CMR10" panose="02000500000000000000"/>
              </a:rPr>
              <a:t>provides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UOPAJG+CMR10" panose="02000500000000000000"/>
                <a:cs typeface="UOPAJG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OPAJG+CMR10" panose="02000500000000000000"/>
                <a:cs typeface="UOPAJG+CMR10" panose="02000500000000000000"/>
              </a:rPr>
              <a:t>identiﬁcation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OPAJG+CMR10" panose="02000500000000000000"/>
                <a:cs typeface="UOPAJG+CMR10" panose="02000500000000000000"/>
              </a:rPr>
              <a:t>criterion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OPAJG+CMR10" panose="02000500000000000000"/>
                <a:cs typeface="UOPAJG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UOPAJG+CMR10" panose="02000500000000000000"/>
                <a:cs typeface="UOPAJG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UOPAJG+CMR10" panose="02000500000000000000"/>
                <a:cs typeface="UOPAJG+CMR10" panose="02000500000000000000"/>
              </a:rPr>
              <a:t>entity</a:t>
            </a:r>
            <a:endParaRPr sz="2050" spc="-14">
              <a:solidFill>
                <a:srgbClr val="000000"/>
              </a:solidFill>
              <a:latin typeface="UOPAJG+CMR10" panose="02000500000000000000"/>
              <a:cs typeface="UOPAJG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UOPAJG+CMR10" panose="02000500000000000000"/>
                <a:cs typeface="UOPAJG+CMR10" panose="02000500000000000000"/>
              </a:rPr>
              <a:t>type.</a:t>
            </a:r>
            <a:endParaRPr sz="2050" spc="11">
              <a:solidFill>
                <a:srgbClr val="000000"/>
              </a:solidFill>
              <a:latin typeface="UOPAJG+CMR10" panose="02000500000000000000"/>
              <a:cs typeface="UOPAJG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13" y="3943579"/>
            <a:ext cx="8072817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UOPAJG+CMR10" panose="02000500000000000000"/>
                <a:cs typeface="UOPAJG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OPAJG+CMR10" panose="02000500000000000000"/>
                <a:cs typeface="UOPAJG+CMR10" panose="02000500000000000000"/>
              </a:rPr>
              <a:t>diﬀerence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OPAJG+CMR10" panose="02000500000000000000"/>
                <a:cs typeface="UOPAJG+CMR10" panose="02000500000000000000"/>
              </a:rPr>
              <a:t>provides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UOPAJG+CMR10" panose="02000500000000000000"/>
                <a:cs typeface="UOPAJG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OPAJG+CMR10" panose="02000500000000000000"/>
                <a:cs typeface="UOPAJG+CMR10" panose="02000500000000000000"/>
              </a:rPr>
              <a:t>recognition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OPAJG+CMR10" panose="02000500000000000000"/>
                <a:cs typeface="UOPAJG+CMR10" panose="02000500000000000000"/>
              </a:rPr>
              <a:t>criterion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OPAJG+CMR10" panose="02000500000000000000"/>
                <a:cs typeface="UOPAJG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UOPAJG+CMR10" panose="02000500000000000000"/>
                <a:cs typeface="UOPAJG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UOPAJG+CMR10" panose="02000500000000000000"/>
                <a:cs typeface="UOPAJG+CMR10" panose="02000500000000000000"/>
              </a:rPr>
              <a:t>entity</a:t>
            </a:r>
            <a:endParaRPr sz="2050" spc="-14">
              <a:solidFill>
                <a:srgbClr val="000000"/>
              </a:solidFill>
              <a:latin typeface="UOPAJG+CMR10" panose="02000500000000000000"/>
              <a:cs typeface="UOPAJG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UOPAJG+CMR10" panose="02000500000000000000"/>
                <a:cs typeface="UOPAJG+CMR10" panose="02000500000000000000"/>
              </a:rPr>
              <a:t>type.</a:t>
            </a:r>
            <a:endParaRPr sz="2050" spc="11">
              <a:solidFill>
                <a:srgbClr val="000000"/>
              </a:solidFill>
              <a:latin typeface="UOPAJG+CMR10" panose="02000500000000000000"/>
              <a:cs typeface="UOPAJG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VSCCGI+CMR7" panose="02000500000000000000"/>
                <a:cs typeface="VSCCGI+CMR7" panose="02000500000000000000"/>
              </a:rPr>
              <a:t>136</a:t>
            </a:r>
            <a:endParaRPr sz="1450">
              <a:solidFill>
                <a:srgbClr val="000000"/>
              </a:solidFill>
              <a:latin typeface="VSCCGI+CMR7" panose="02000500000000000000"/>
              <a:cs typeface="VSCCGI+CMR7" panose="02000500000000000000"/>
            </a:endParaRP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258109"/>
            <a:ext cx="407923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TBRJUP+CMBX12~c" panose="02000500000000000000"/>
                <a:cs typeface="TBRJUP+CMBX12~c" panose="02000500000000000000"/>
              </a:rPr>
              <a:t>Operational</a:t>
            </a:r>
            <a:r>
              <a:rPr sz="2500" spc="3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TBRJUP+CMBX12~c" panose="02000500000000000000"/>
                <a:cs typeface="TBRJUP+CMBX12~c" panose="02000500000000000000"/>
              </a:rPr>
              <a:t>deﬁnitions</a:t>
            </a:r>
            <a:endParaRPr sz="2500" spc="-11">
              <a:solidFill>
                <a:srgbClr val="000000"/>
              </a:solidFill>
              <a:latin typeface="TBRJUP+CMBX12~c" panose="02000500000000000000"/>
              <a:cs typeface="TBRJUP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724633"/>
            <a:ext cx="8725529" cy="14541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operational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deﬁnition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term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gives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procedure,</a:t>
            </a:r>
            <a:r>
              <a:rPr sz="2050" spc="13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be</a:t>
            </a:r>
            <a:endParaRPr sz="2050" spc="73">
              <a:solidFill>
                <a:srgbClr val="000000"/>
              </a:solidFill>
              <a:latin typeface="VLOUNB+CMR10" panose="02000500000000000000"/>
              <a:cs typeface="VLOUNB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followed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anyone,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determine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whether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or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not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term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is</a:t>
            </a:r>
            <a:endParaRPr sz="2050">
              <a:solidFill>
                <a:srgbClr val="000000"/>
              </a:solidFill>
              <a:latin typeface="VLOUNB+CMR10" panose="02000500000000000000"/>
              <a:cs typeface="VLOUNB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correctly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applied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given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case.</a:t>
            </a:r>
            <a:endParaRPr sz="2050" spc="10">
              <a:solidFill>
                <a:srgbClr val="000000"/>
              </a:solidFill>
              <a:latin typeface="VLOUNB+CMR10" panose="02000500000000000000"/>
              <a:cs typeface="VLOUNB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3725" y="3026091"/>
            <a:ext cx="8304377" cy="12769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TJFNGL+CMSY9" panose="02000500000000000000"/>
                <a:cs typeface="TJFNGL+CMSY9" panose="02000500000000000000"/>
              </a:rPr>
              <a:t>•</a:t>
            </a:r>
            <a:r>
              <a:rPr sz="1850" spc="5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FFRACC+CMSSBX10~2a4" panose="02000500000000000000"/>
                <a:cs typeface="FFRACC+CMSSBX10~2a4" panose="02000500000000000000"/>
              </a:rPr>
              <a:t>Heating</a:t>
            </a:r>
            <a:r>
              <a:rPr sz="1850" spc="2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FFRACC+CMSSBX10~2a4" panose="02000500000000000000"/>
                <a:cs typeface="FFRACC+CMSSBX10~2a4" panose="02000500000000000000"/>
              </a:rPr>
              <a:t>tank.</a:t>
            </a:r>
            <a:r>
              <a:rPr sz="1850" spc="3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Entity</a:t>
            </a:r>
            <a:r>
              <a:rPr sz="18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type.</a:t>
            </a:r>
            <a:r>
              <a:rPr sz="1850" spc="3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A</a:t>
            </a:r>
            <a:r>
              <a:rPr sz="18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tank</a:t>
            </a:r>
            <a:r>
              <a:rPr sz="18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with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a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heater</a:t>
            </a:r>
            <a:r>
              <a:rPr sz="18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and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thermometer</a:t>
            </a:r>
            <a:endParaRPr sz="1850">
              <a:solidFill>
                <a:srgbClr val="000000"/>
              </a:solidFill>
              <a:latin typeface="QBPKSA+CMSS9" panose="02000500000000000000"/>
              <a:cs typeface="QBPKSA+CMSS9" panose="02000500000000000000"/>
            </a:endParaRPr>
          </a:p>
          <a:p>
            <a:pPr marL="25273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attached.</a:t>
            </a:r>
            <a:r>
              <a:rPr sz="1850" spc="3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The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heater</a:t>
            </a:r>
            <a:r>
              <a:rPr sz="18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can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51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be</a:t>
            </a:r>
            <a:r>
              <a:rPr sz="18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recognized</a:t>
            </a:r>
            <a:r>
              <a:rPr sz="18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45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by</a:t>
            </a:r>
            <a:r>
              <a:rPr sz="1850" spc="2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red,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blue</a:t>
            </a:r>
            <a:r>
              <a:rPr sz="18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and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black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wires</a:t>
            </a:r>
            <a:endParaRPr sz="1850">
              <a:solidFill>
                <a:srgbClr val="000000"/>
              </a:solidFill>
              <a:latin typeface="QBPKSA+CMSS9" panose="02000500000000000000"/>
              <a:cs typeface="QBPKSA+CMSS9" panose="02000500000000000000"/>
            </a:endParaRPr>
          </a:p>
          <a:p>
            <a:pPr marL="252730" marR="0">
              <a:lnSpc>
                <a:spcPts val="1880"/>
              </a:lnSpc>
              <a:spcBef>
                <a:spcPts val="81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leading</a:t>
            </a:r>
            <a:r>
              <a:rPr sz="18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up</a:t>
            </a:r>
            <a:r>
              <a:rPr sz="18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to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it,</a:t>
            </a:r>
            <a:r>
              <a:rPr sz="18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and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the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thermometer</a:t>
            </a:r>
            <a:r>
              <a:rPr sz="1850" spc="1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45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by</a:t>
            </a:r>
            <a:r>
              <a:rPr sz="1850" spc="2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its</a:t>
            </a:r>
            <a:r>
              <a:rPr sz="18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rectangular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5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shape.</a:t>
            </a:r>
            <a:endParaRPr sz="1850" spc="15">
              <a:solidFill>
                <a:srgbClr val="000000"/>
              </a:solidFill>
              <a:latin typeface="QBPKSA+CMSS9" panose="02000500000000000000"/>
              <a:cs typeface="QBPKSA+CMSS9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4268" y="4155413"/>
            <a:ext cx="733789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operational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deﬁnition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genus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diﬀerence.</a:t>
            </a:r>
            <a:endParaRPr sz="2050" spc="10">
              <a:solidFill>
                <a:srgbClr val="000000"/>
              </a:solidFill>
              <a:latin typeface="VLOUNB+CMR10" panose="02000500000000000000"/>
              <a:cs typeface="VLOUNB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3725" y="4713159"/>
            <a:ext cx="8682109" cy="1616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TJFNGL+CMSY9" panose="02000500000000000000"/>
                <a:cs typeface="TJFNGL+CMSY9" panose="02000500000000000000"/>
              </a:rPr>
              <a:t>•</a:t>
            </a:r>
            <a:r>
              <a:rPr sz="1850" spc="5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FFRACC+CMSSBX10~2a4" panose="02000500000000000000"/>
                <a:cs typeface="FFRACC+CMSSBX10~2a4" panose="02000500000000000000"/>
              </a:rPr>
              <a:t>Round</a:t>
            </a:r>
            <a:r>
              <a:rPr sz="1850" spc="2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FFRACC+CMSSBX10~2a4" panose="02000500000000000000"/>
                <a:cs typeface="FFRACC+CMSSBX10~2a4" panose="02000500000000000000"/>
              </a:rPr>
              <a:t>trip</a:t>
            </a:r>
            <a:r>
              <a:rPr sz="18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FFRACC+CMSSBX10~2a4" panose="02000500000000000000"/>
                <a:cs typeface="FFRACC+CMSSBX10~2a4" panose="02000500000000000000"/>
              </a:rPr>
              <a:t>time.</a:t>
            </a:r>
            <a:r>
              <a:rPr sz="1850" spc="3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The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time</a:t>
            </a:r>
            <a:r>
              <a:rPr sz="18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in</a:t>
            </a:r>
            <a:r>
              <a:rPr sz="18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seconds</a:t>
            </a:r>
            <a:r>
              <a:rPr sz="18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5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for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a</a:t>
            </a:r>
            <a:r>
              <a:rPr sz="18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single</a:t>
            </a:r>
            <a:r>
              <a:rPr sz="18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5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car</a:t>
            </a:r>
            <a:r>
              <a:rPr sz="18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trip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around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a</a:t>
            </a:r>
            <a:endParaRPr sz="1850">
              <a:solidFill>
                <a:srgbClr val="000000"/>
              </a:solidFill>
              <a:latin typeface="QBPKSA+CMSS9" panose="02000500000000000000"/>
              <a:cs typeface="QBPKSA+CMSS9" panose="02000500000000000000"/>
            </a:endParaRPr>
          </a:p>
          <a:p>
            <a:pPr marL="25273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building</a:t>
            </a:r>
            <a:r>
              <a:rPr sz="18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from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the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time</a:t>
            </a:r>
            <a:r>
              <a:rPr sz="18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the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cage</a:t>
            </a:r>
            <a:r>
              <a:rPr sz="18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doors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23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open</a:t>
            </a:r>
            <a:r>
              <a:rPr sz="18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at</a:t>
            </a:r>
            <a:r>
              <a:rPr sz="18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the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main</a:t>
            </a:r>
            <a:r>
              <a:rPr sz="18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terminal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until</a:t>
            </a:r>
            <a:endParaRPr sz="1850">
              <a:solidFill>
                <a:srgbClr val="000000"/>
              </a:solidFill>
              <a:latin typeface="QBPKSA+CMSS9" panose="02000500000000000000"/>
              <a:cs typeface="QBPKSA+CMSS9" panose="02000500000000000000"/>
            </a:endParaRPr>
          </a:p>
          <a:p>
            <a:pPr marL="252730" marR="0">
              <a:lnSpc>
                <a:spcPts val="1880"/>
              </a:lnSpc>
              <a:spcBef>
                <a:spcPts val="81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the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doors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5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reopen</a:t>
            </a:r>
            <a:r>
              <a:rPr sz="18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when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the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cage</a:t>
            </a:r>
            <a:r>
              <a:rPr sz="18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has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returned</a:t>
            </a:r>
            <a:r>
              <a:rPr sz="18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to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the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main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terminal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ﬂoor</a:t>
            </a:r>
            <a:endParaRPr sz="1850">
              <a:solidFill>
                <a:srgbClr val="000000"/>
              </a:solidFill>
              <a:latin typeface="QBPKSA+CMSS9" panose="02000500000000000000"/>
              <a:cs typeface="QBPKSA+CMSS9" panose="02000500000000000000"/>
            </a:endParaRPr>
          </a:p>
          <a:p>
            <a:pPr marL="252730" marR="0">
              <a:lnSpc>
                <a:spcPts val="1880"/>
              </a:lnSpc>
              <a:spcBef>
                <a:spcPts val="79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after</a:t>
            </a:r>
            <a:r>
              <a:rPr sz="18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its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QBPKSA+CMSS9" panose="02000500000000000000"/>
                <a:cs typeface="QBPKSA+CMSS9" panose="02000500000000000000"/>
              </a:rPr>
              <a:t>trip.</a:t>
            </a:r>
            <a:endParaRPr sz="1850">
              <a:solidFill>
                <a:srgbClr val="000000"/>
              </a:solidFill>
              <a:latin typeface="QBPKSA+CMSS9" panose="02000500000000000000"/>
              <a:cs typeface="QBPKSA+CMSS9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4268" y="6183858"/>
            <a:ext cx="772181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4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Operational,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but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deﬁnition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genus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VLOUNB+CMR10" panose="02000500000000000000"/>
                <a:cs typeface="VLOUNB+CMR10" panose="02000500000000000000"/>
              </a:rPr>
              <a:t>diﬀerence.</a:t>
            </a:r>
            <a:endParaRPr sz="2050" spc="10">
              <a:solidFill>
                <a:srgbClr val="000000"/>
              </a:solidFill>
              <a:latin typeface="VLOUNB+CMR10" panose="02000500000000000000"/>
              <a:cs typeface="VLOUNB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NSUINS+CMR7" panose="02000500000000000000"/>
                <a:cs typeface="NSUINS+CMR7" panose="02000500000000000000"/>
              </a:rPr>
              <a:t>137</a:t>
            </a:r>
            <a:endParaRPr sz="1450">
              <a:solidFill>
                <a:srgbClr val="000000"/>
              </a:solidFill>
              <a:latin typeface="NSUINS+CMR7" panose="02000500000000000000"/>
              <a:cs typeface="NSUINS+CMR7" panose="02000500000000000000"/>
            </a:endParaRP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465373"/>
            <a:ext cx="7596713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PPVDQR+CMBX12~c" panose="02000500000000000000"/>
                <a:cs typeface="PPVDQR+CMBX12~c" panose="02000500000000000000"/>
              </a:rPr>
              <a:t>Abbreviations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4">
                <a:solidFill>
                  <a:srgbClr val="000000"/>
                </a:solidFill>
                <a:latin typeface="PPVDQR+CMBX12~c" panose="02000500000000000000"/>
                <a:cs typeface="PPVDQR+CMBX12~c" panose="02000500000000000000"/>
              </a:rPr>
              <a:t>versus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PPVDQR+CMBX12~c" panose="02000500000000000000"/>
                <a:cs typeface="PPVDQR+CMBX12~c" panose="02000500000000000000"/>
              </a:rPr>
              <a:t>correspondence</a:t>
            </a:r>
            <a:r>
              <a:rPr sz="2500" spc="3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PPVDQR+CMBX12~c" panose="02000500000000000000"/>
                <a:cs typeface="PPVDQR+CMBX12~c" panose="02000500000000000000"/>
              </a:rPr>
              <a:t>rules</a:t>
            </a:r>
            <a:endParaRPr sz="2500">
              <a:solidFill>
                <a:srgbClr val="000000"/>
              </a:solidFill>
              <a:latin typeface="PPVDQR+CMBX12~c" panose="02000500000000000000"/>
              <a:cs typeface="PPVDQR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1966949"/>
            <a:ext cx="8532419" cy="1080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AIVMA+CMSY10~25" panose="02000500000000000000"/>
                <a:cs typeface="RAIVMA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SBCGW+CMBX10" panose="02000500000000000000"/>
                <a:cs typeface="TSBCGW+CMBX10" panose="02000500000000000000"/>
              </a:rPr>
              <a:t>Abbreviation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reduces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meaning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word</a:t>
            </a:r>
            <a:r>
              <a:rPr sz="2050" spc="2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meaning</a:t>
            </a:r>
            <a:endParaRPr sz="2050" spc="10">
              <a:solidFill>
                <a:srgbClr val="000000"/>
              </a:solidFill>
              <a:latin typeface="KDAVNU+CMR10" panose="02000500000000000000"/>
              <a:cs typeface="KDAVNU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other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words</a:t>
            </a:r>
            <a:r>
              <a:rPr sz="2050" spc="1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deﬁned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same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dictionary.</a:t>
            </a:r>
            <a:endParaRPr sz="2050">
              <a:solidFill>
                <a:srgbClr val="000000"/>
              </a:solidFill>
              <a:latin typeface="KDAVNU+CMR10" panose="02000500000000000000"/>
              <a:cs typeface="KDAVNU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695" y="2709140"/>
            <a:ext cx="8063586" cy="14541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46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To</a:t>
            </a:r>
            <a:r>
              <a:rPr sz="2050" spc="3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determine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whether</a:t>
            </a:r>
            <a:r>
              <a:rPr sz="2050" spc="2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an</a:t>
            </a:r>
            <a:r>
              <a:rPr sz="2050" spc="2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individual</a:t>
            </a:r>
            <a:r>
              <a:rPr sz="2050" spc="2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is</a:t>
            </a:r>
            <a:r>
              <a:rPr sz="2050" spc="2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an</a:t>
            </a:r>
            <a:r>
              <a:rPr sz="2050" spc="2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instance</a:t>
            </a:r>
            <a:r>
              <a:rPr sz="2050" spc="2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of</a:t>
            </a:r>
            <a:r>
              <a:rPr sz="2050" spc="2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the</a:t>
            </a:r>
            <a:endParaRPr sz="2050">
              <a:solidFill>
                <a:srgbClr val="000000"/>
              </a:solidFill>
              <a:latin typeface="WSMWOS+CMTI10" panose="02000500000000000000"/>
              <a:cs typeface="WSMWOS+CMTI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-14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deﬁned</a:t>
            </a:r>
            <a:r>
              <a:rPr sz="2050" spc="2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concept,</a:t>
            </a:r>
            <a:r>
              <a:rPr sz="2050" spc="2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you</a:t>
            </a:r>
            <a:r>
              <a:rPr sz="2050" spc="2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do</a:t>
            </a:r>
            <a:r>
              <a:rPr sz="2050" spc="2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not</a:t>
            </a:r>
            <a:r>
              <a:rPr sz="2050" spc="22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n</a:t>
            </a:r>
            <a:r>
              <a:rPr sz="2050" spc="-5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7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eed</a:t>
            </a:r>
            <a:r>
              <a:rPr sz="205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new</a:t>
            </a:r>
            <a:r>
              <a:rPr sz="2050" spc="2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observations</a:t>
            </a:r>
            <a:r>
              <a:rPr sz="2050" spc="2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but</a:t>
            </a:r>
            <a:r>
              <a:rPr sz="2050" spc="2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simply</a:t>
            </a:r>
            <a:endParaRPr sz="2050">
              <a:solidFill>
                <a:srgbClr val="000000"/>
              </a:solidFill>
              <a:latin typeface="WSMWOS+CMTI10" panose="02000500000000000000"/>
              <a:cs typeface="WSMWOS+CMTI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60"/>
              </a:spcBef>
              <a:spcAft>
                <a:spcPct val="0"/>
              </a:spcAft>
            </a:pPr>
            <a:r>
              <a:rPr sz="2050" spc="-29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look</a:t>
            </a:r>
            <a:r>
              <a:rPr sz="2050" spc="2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up</a:t>
            </a:r>
            <a:r>
              <a:rPr sz="2050" spc="2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8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words</a:t>
            </a:r>
            <a:r>
              <a:rPr sz="2050" spc="2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in</a:t>
            </a:r>
            <a:r>
              <a:rPr sz="2050" spc="2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the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dictionary.</a:t>
            </a:r>
            <a:endParaRPr sz="2050">
              <a:solidFill>
                <a:srgbClr val="000000"/>
              </a:solidFill>
              <a:latin typeface="WSMWOS+CMTI10" panose="02000500000000000000"/>
              <a:cs typeface="WSMWOS+CMTI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75" y="3971016"/>
            <a:ext cx="8646458" cy="182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AIVMA+CMSY10~25" panose="02000500000000000000"/>
                <a:cs typeface="RAIVMA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TSBCGW+CMBX10" panose="02000500000000000000"/>
                <a:cs typeface="TSBCGW+CMBX10" panose="02000500000000000000"/>
              </a:rPr>
              <a:t>Correspondence</a:t>
            </a:r>
            <a:r>
              <a:rPr sz="2050" spc="2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SBCGW+CMBX10" panose="02000500000000000000"/>
                <a:cs typeface="TSBCGW+CMBX10" panose="02000500000000000000"/>
              </a:rPr>
              <a:t>rules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relate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word</a:t>
            </a:r>
            <a:r>
              <a:rPr sz="2050" spc="2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reality.</a:t>
            </a:r>
            <a:r>
              <a:rPr sz="2050" spc="4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words</a:t>
            </a:r>
            <a:r>
              <a:rPr sz="2050" spc="1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in</a:t>
            </a:r>
            <a:endParaRPr sz="2050">
              <a:solidFill>
                <a:srgbClr val="000000"/>
              </a:solidFill>
              <a:latin typeface="KDAVNU+CMR10" panose="02000500000000000000"/>
              <a:cs typeface="KDAVNU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deﬁnition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deﬁned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same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dictionary.</a:t>
            </a:r>
            <a:endParaRPr sz="2050">
              <a:solidFill>
                <a:srgbClr val="000000"/>
              </a:solidFill>
              <a:latin typeface="KDAVNU+CMR10" panose="02000500000000000000"/>
              <a:cs typeface="KDAVNU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-146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To</a:t>
            </a:r>
            <a:r>
              <a:rPr sz="2050" spc="3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determine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whether</a:t>
            </a:r>
            <a:r>
              <a:rPr sz="2050" spc="2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an</a:t>
            </a:r>
            <a:r>
              <a:rPr sz="2050" spc="2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individual</a:t>
            </a:r>
            <a:r>
              <a:rPr sz="2050" spc="2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is</a:t>
            </a:r>
            <a:r>
              <a:rPr sz="2050" spc="2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an</a:t>
            </a:r>
            <a:r>
              <a:rPr sz="2050" spc="2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instance</a:t>
            </a:r>
            <a:r>
              <a:rPr sz="2050" spc="2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of</a:t>
            </a:r>
            <a:r>
              <a:rPr sz="2050" spc="2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the</a:t>
            </a:r>
            <a:endParaRPr sz="2050">
              <a:solidFill>
                <a:srgbClr val="000000"/>
              </a:solidFill>
              <a:latin typeface="WSMWOS+CMTI10" panose="02000500000000000000"/>
              <a:cs typeface="WSMWOS+CMTI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45"/>
              </a:spcBef>
              <a:spcAft>
                <a:spcPct val="0"/>
              </a:spcAft>
            </a:pPr>
            <a:r>
              <a:rPr sz="2050" spc="-14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deﬁned</a:t>
            </a:r>
            <a:r>
              <a:rPr sz="2050" spc="2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concept,</a:t>
            </a:r>
            <a:r>
              <a:rPr sz="2050" spc="2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you</a:t>
            </a:r>
            <a:r>
              <a:rPr sz="2050" spc="2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must</a:t>
            </a:r>
            <a:r>
              <a:rPr sz="2050" spc="2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make</a:t>
            </a:r>
            <a:r>
              <a:rPr sz="2050" spc="2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SMWOS+CMTI10" panose="02000500000000000000"/>
                <a:cs typeface="WSMWOS+CMTI10" panose="02000500000000000000"/>
              </a:rPr>
              <a:t>observations.</a:t>
            </a:r>
            <a:endParaRPr sz="2050">
              <a:solidFill>
                <a:srgbClr val="000000"/>
              </a:solidFill>
              <a:latin typeface="WSMWOS+CMTI10" panose="02000500000000000000"/>
              <a:cs typeface="WSMWOS+CMTI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4268" y="5604746"/>
            <a:ext cx="8314612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Which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deﬁnitions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examples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given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abbreviations,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and</a:t>
            </a:r>
            <a:endParaRPr sz="2050" spc="10">
              <a:solidFill>
                <a:srgbClr val="000000"/>
              </a:solidFill>
              <a:latin typeface="KDAVNU+CMR10" panose="02000500000000000000"/>
              <a:cs typeface="KDAVNU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which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correspondence</a:t>
            </a:r>
            <a:r>
              <a:rPr sz="20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DAVNU+CMR10" panose="02000500000000000000"/>
                <a:cs typeface="KDAVNU+CMR10" panose="02000500000000000000"/>
              </a:rPr>
              <a:t>rules?</a:t>
            </a:r>
            <a:endParaRPr sz="2050">
              <a:solidFill>
                <a:srgbClr val="000000"/>
              </a:solidFill>
              <a:latin typeface="KDAVNU+CMR10" panose="02000500000000000000"/>
              <a:cs typeface="KDAVNU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BJFJAF+CMR7" panose="02000500000000000000"/>
                <a:cs typeface="BJFJAF+CMR7" panose="02000500000000000000"/>
              </a:rPr>
              <a:t>138</a:t>
            </a:r>
            <a:endParaRPr sz="1450">
              <a:solidFill>
                <a:srgbClr val="000000"/>
              </a:solidFill>
              <a:latin typeface="BJFJAF+CMR7" panose="02000500000000000000"/>
              <a:cs typeface="BJFJAF+CMR7" panose="02000500000000000000"/>
            </a:endParaRP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925621"/>
            <a:ext cx="234248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JWQHQK+CMBX12~c" panose="02000500000000000000"/>
                <a:cs typeface="JWQHQK+CMBX12~c" panose="02000500000000000000"/>
              </a:rPr>
              <a:t>Main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JWQHQK+CMBX12~c" panose="02000500000000000000"/>
                <a:cs typeface="JWQHQK+CMBX12~c" panose="02000500000000000000"/>
              </a:rPr>
              <a:t>points</a:t>
            </a:r>
            <a:endParaRPr sz="2500" spc="-12">
              <a:solidFill>
                <a:srgbClr val="000000"/>
              </a:solidFill>
              <a:latin typeface="JWQHQK+CMBX12~c" panose="02000500000000000000"/>
              <a:cs typeface="JWQHQK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425673"/>
            <a:ext cx="8372409" cy="145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KJKRN+CMSY10~25" panose="02000500000000000000"/>
                <a:cs typeface="HKJKRN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dictionary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contains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deﬁnitions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jargon,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domain</a:t>
            </a:r>
            <a:endParaRPr sz="2050">
              <a:solidFill>
                <a:srgbClr val="000000"/>
              </a:solidFill>
              <a:latin typeface="WOGSEM+CMR10" panose="02000500000000000000"/>
              <a:cs typeface="WOGSEM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terms,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other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important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tersm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needed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understand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WOGSEM+CMR10" panose="02000500000000000000"/>
              <a:cs typeface="WOGSEM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design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speciﬁcation.</a:t>
            </a:r>
            <a:endParaRPr sz="2050" spc="15">
              <a:solidFill>
                <a:srgbClr val="000000"/>
              </a:solidFill>
              <a:latin typeface="WOGSEM+CMR10" panose="02000500000000000000"/>
              <a:cs typeface="WOGSEM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0" y="3687551"/>
            <a:ext cx="751385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KJKRN+CMSY10~25" panose="02000500000000000000"/>
                <a:cs typeface="HKJKRN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1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We</a:t>
            </a:r>
            <a:r>
              <a:rPr sz="2050" spc="3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structure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deﬁnitions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taxonomic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hierarchy:</a:t>
            </a:r>
            <a:endParaRPr sz="2050">
              <a:solidFill>
                <a:srgbClr val="000000"/>
              </a:solidFill>
              <a:latin typeface="WOGSEM+CMR10" panose="02000500000000000000"/>
              <a:cs typeface="WOGSEM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699" y="4059406"/>
            <a:ext cx="451200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deﬁnition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genus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diﬀerence.</a:t>
            </a:r>
            <a:endParaRPr sz="2050" spc="10">
              <a:solidFill>
                <a:srgbClr val="000000"/>
              </a:solidFill>
              <a:latin typeface="WOGSEM+CMR10" panose="02000500000000000000"/>
              <a:cs typeface="WOGSEM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81" y="4577569"/>
            <a:ext cx="489032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KJKRN+CMSY10~25" panose="02000500000000000000"/>
                <a:cs typeface="HKJKRN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8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Tr</a:t>
            </a:r>
            <a:r>
              <a:rPr sz="2050" spc="-5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y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give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operational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deﬁnitions.</a:t>
            </a:r>
            <a:endParaRPr sz="2050" spc="10">
              <a:solidFill>
                <a:srgbClr val="000000"/>
              </a:solidFill>
              <a:latin typeface="WOGSEM+CMR10" panose="02000500000000000000"/>
              <a:cs typeface="WOGSEM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76" y="5095731"/>
            <a:ext cx="803162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KJKRN+CMSY10~25" panose="02000500000000000000"/>
                <a:cs typeface="HKJKRN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Distinguish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abbreviations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(no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new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phenomenon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described)</a:t>
            </a:r>
            <a:endParaRPr sz="2050" spc="17">
              <a:solidFill>
                <a:srgbClr val="000000"/>
              </a:solidFill>
              <a:latin typeface="WOGSEM+CMR10" panose="02000500000000000000"/>
              <a:cs typeface="WOGSEM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709" y="5467588"/>
            <a:ext cx="652603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from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correspondence</a:t>
            </a:r>
            <a:r>
              <a:rPr sz="2050" spc="1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rules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(link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words</a:t>
            </a:r>
            <a:r>
              <a:rPr sz="2050" spc="1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GSEM+CMR10" panose="02000500000000000000"/>
                <a:cs typeface="WOGSEM+CMR10" panose="02000500000000000000"/>
              </a:rPr>
              <a:t>reality).</a:t>
            </a:r>
            <a:endParaRPr sz="2050">
              <a:solidFill>
                <a:srgbClr val="000000"/>
              </a:solidFill>
              <a:latin typeface="WOGSEM+CMR10" panose="02000500000000000000"/>
              <a:cs typeface="WOGSEM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WQWVE+CMR7" panose="02000500000000000000"/>
                <a:cs typeface="UWQWVE+CMR7" panose="02000500000000000000"/>
              </a:rPr>
              <a:t>139</a:t>
            </a:r>
            <a:endParaRPr sz="1450">
              <a:solidFill>
                <a:srgbClr val="000000"/>
              </a:solidFill>
              <a:latin typeface="UWQWVE+CMR7" panose="02000500000000000000"/>
              <a:cs typeface="UWQWVE+CMR7" panose="0200050000000000000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AS_NET" val="4.0.30319.42000"/>
  <p:tag name="AS_OS" val="Microsoft Windows NT 6.1.7601 Service Pack 1"/>
  <p:tag name="AS_RELEASE_DATE" val="2017.08.21"/>
  <p:tag name="AS_TITLE" val="Aspose.Slides for .NET 2.0"/>
  <p:tag name="AS_VERSION" val="17.8"/>
</p:tagLst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20216</Words>
  <Application>WPS 演示</Application>
  <PresentationFormat>自定义</PresentationFormat>
  <Paragraphs>1697</Paragraphs>
  <Slides>64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317</vt:i4>
      </vt:variant>
      <vt:variant>
        <vt:lpstr>主题</vt:lpstr>
      </vt:variant>
      <vt:variant>
        <vt:i4>64</vt:i4>
      </vt:variant>
      <vt:variant>
        <vt:lpstr>幻灯片标题</vt:lpstr>
      </vt:variant>
      <vt:variant>
        <vt:i4>64</vt:i4>
      </vt:variant>
    </vt:vector>
  </HeadingPairs>
  <TitlesOfParts>
    <vt:vector size="445" baseType="lpstr">
      <vt:lpstr>Arial</vt:lpstr>
      <vt:lpstr>宋体</vt:lpstr>
      <vt:lpstr>Wingdings</vt:lpstr>
      <vt:lpstr>LFEVQI+CMBX12</vt:lpstr>
      <vt:lpstr>Times New Roman</vt:lpstr>
      <vt:lpstr>CGDCWJ+CMBX12~c</vt:lpstr>
      <vt:lpstr>AKCTOU+CMSY10</vt:lpstr>
      <vt:lpstr>NVKCUG+CMR7</vt:lpstr>
      <vt:lpstr>NOQEBU+CMBX12</vt:lpstr>
      <vt:lpstr>LVTAPM+CMR10</vt:lpstr>
      <vt:lpstr>WINBNS+CMR7</vt:lpstr>
      <vt:lpstr>ERIJIN+CMBX12~c</vt:lpstr>
      <vt:lpstr>QLSNVJ+CMR10</vt:lpstr>
      <vt:lpstr>SHNOJV+CMBX10</vt:lpstr>
      <vt:lpstr>MUHAGO+CMTI10</vt:lpstr>
      <vt:lpstr>VRJTCN+CMSY10~25</vt:lpstr>
      <vt:lpstr>AAFOTM+CMR7</vt:lpstr>
      <vt:lpstr>QIPLVP+CMBX12~c</vt:lpstr>
      <vt:lpstr>ONJENT+Helvetica</vt:lpstr>
      <vt:lpstr>BQWJKA+CMR10</vt:lpstr>
      <vt:lpstr>VDVSHD+CMR7</vt:lpstr>
      <vt:lpstr>VHEKSW+CMBX12~c</vt:lpstr>
      <vt:lpstr>QJRAEQ+Helvetica</vt:lpstr>
      <vt:lpstr>PPCJGC+CMR10</vt:lpstr>
      <vt:lpstr>APFOLJ+CMR7</vt:lpstr>
      <vt:lpstr>NCUIAN+CMBX12~c</vt:lpstr>
      <vt:lpstr>BHCOIW+CMR10</vt:lpstr>
      <vt:lpstr>CHSFQG+CMSY10~25</vt:lpstr>
      <vt:lpstr>OVNTBK+CMR7</vt:lpstr>
      <vt:lpstr>WWPWRC+Helvetica</vt:lpstr>
      <vt:lpstr>BGGKQJ+CMR7</vt:lpstr>
      <vt:lpstr>EMKIDH+CMBX12~c</vt:lpstr>
      <vt:lpstr>VOCHSJ+Helvetica</vt:lpstr>
      <vt:lpstr>WVPCQJ+CMBX10</vt:lpstr>
      <vt:lpstr>JQSGAJ+CMSY10~25</vt:lpstr>
      <vt:lpstr>NBJGCQ+CMR10</vt:lpstr>
      <vt:lpstr>GQJBWL+CMTI10</vt:lpstr>
      <vt:lpstr>LALFNF+CMR7</vt:lpstr>
      <vt:lpstr>FBSNVT+CMBX12~c</vt:lpstr>
      <vt:lpstr>SIDEFU+Helvetica</vt:lpstr>
      <vt:lpstr>KELGVS+CMSY10~25</vt:lpstr>
      <vt:lpstr>FCMPHI+CMR10</vt:lpstr>
      <vt:lpstr>FCQNCK+CMR7</vt:lpstr>
      <vt:lpstr>OQUWRH+CMBX12~c</vt:lpstr>
      <vt:lpstr>TSSCOD+CMSY10~25</vt:lpstr>
      <vt:lpstr>DQBVRK+CMR10</vt:lpstr>
      <vt:lpstr>JKNSTQ+CMR7</vt:lpstr>
      <vt:lpstr>微软雅黑</vt:lpstr>
      <vt:lpstr>Arial Unicode MS</vt:lpstr>
      <vt:lpstr>Calibri</vt:lpstr>
      <vt:lpstr>OIJVII+CMBX12~c</vt:lpstr>
      <vt:lpstr>CCDWCT+Helvetica</vt:lpstr>
      <vt:lpstr>UKUWUI+CMSY10~25</vt:lpstr>
      <vt:lpstr>BGKVPH+CMR10</vt:lpstr>
      <vt:lpstr>WOIBLC+CMR7</vt:lpstr>
      <vt:lpstr>TNKOQT+CMBX12~c</vt:lpstr>
      <vt:lpstr>LNRCGC+Helvetica</vt:lpstr>
      <vt:lpstr>MOBAHD+CMSY10~25</vt:lpstr>
      <vt:lpstr>NTTQRB+CMR10</vt:lpstr>
      <vt:lpstr>EEMOJQ+CMR7</vt:lpstr>
      <vt:lpstr>SLUOKM+CMBX12~c</vt:lpstr>
      <vt:lpstr>OOGDWD+Helvetica</vt:lpstr>
      <vt:lpstr>QBKISQ+CMR7</vt:lpstr>
      <vt:lpstr>PTAGCD+CMBX12~c</vt:lpstr>
      <vt:lpstr>CVSGDS+CMSY10~25</vt:lpstr>
      <vt:lpstr>QPBFNJ+CMR10</vt:lpstr>
      <vt:lpstr>UUNTSR+CMTI10</vt:lpstr>
      <vt:lpstr>TKKRWP+CMR7</vt:lpstr>
      <vt:lpstr>MGRLFQ+CMBX12~c</vt:lpstr>
      <vt:lpstr>PHTQGR+Helvetica</vt:lpstr>
      <vt:lpstr>NLMCPV+CMR7</vt:lpstr>
      <vt:lpstr>TNJFDH+CMBX12~c</vt:lpstr>
      <vt:lpstr>CMQMPI+Helvetica</vt:lpstr>
      <vt:lpstr>EQCFKQ+CMR7</vt:lpstr>
      <vt:lpstr>KTISKG+CMBX12~c</vt:lpstr>
      <vt:lpstr>FMDFDW+Helvetica</vt:lpstr>
      <vt:lpstr>VMWIHL+CMR10</vt:lpstr>
      <vt:lpstr>PMLMSH+CMMI10</vt:lpstr>
      <vt:lpstr>CBDWGG+CMBX10</vt:lpstr>
      <vt:lpstr>GGIJKT+CMR7</vt:lpstr>
      <vt:lpstr>PRJAGB+CMBX12~c</vt:lpstr>
      <vt:lpstr>FKCHUO+Helvetica</vt:lpstr>
      <vt:lpstr>SKQJQH+CMSY10~25</vt:lpstr>
      <vt:lpstr>SGUPRK+CMR10</vt:lpstr>
      <vt:lpstr>DMODOR+CMR7</vt:lpstr>
      <vt:lpstr>WVNJEB+CMBX12~c</vt:lpstr>
      <vt:lpstr>QGFOPV+Helvetica</vt:lpstr>
      <vt:lpstr>ODDNFU+CMR10</vt:lpstr>
      <vt:lpstr>ASHMWH+CMSY10~25</vt:lpstr>
      <vt:lpstr>KFIEBV+CMR7</vt:lpstr>
      <vt:lpstr>IPREFU+CMBX12~c</vt:lpstr>
      <vt:lpstr>CCMVTO+Helvetica</vt:lpstr>
      <vt:lpstr>NQSBQM+CMBX10</vt:lpstr>
      <vt:lpstr>SDACJD+CMR10</vt:lpstr>
      <vt:lpstr>QWDSHM+CMTI10</vt:lpstr>
      <vt:lpstr>UGTLTN+CMR7</vt:lpstr>
      <vt:lpstr>IBEIAN+CMBX12~c</vt:lpstr>
      <vt:lpstr>TQETPL+CMSY10~25</vt:lpstr>
      <vt:lpstr>NEHQTC+CMR10</vt:lpstr>
      <vt:lpstr>VMGTCT+CMR9</vt:lpstr>
      <vt:lpstr>RJUNLA+CMR7</vt:lpstr>
      <vt:lpstr>MVSURG+CMBX12~c</vt:lpstr>
      <vt:lpstr>LGSTJH+Helvetica</vt:lpstr>
      <vt:lpstr>HSNUUK+CMSY10~25</vt:lpstr>
      <vt:lpstr>QVBPLR+CMR10</vt:lpstr>
      <vt:lpstr>HOGAIK+CMR7</vt:lpstr>
      <vt:lpstr>PGOOHB+Helvetica</vt:lpstr>
      <vt:lpstr>LRANSR+Helvetica</vt:lpstr>
      <vt:lpstr>RWOEUJ+CMSY10~25</vt:lpstr>
      <vt:lpstr>MHPJRO+CMR10</vt:lpstr>
      <vt:lpstr>HGGBQL+CMR7</vt:lpstr>
      <vt:lpstr>SSMFHE+Helvetica</vt:lpstr>
      <vt:lpstr>AMDAHL+CMSY10~25</vt:lpstr>
      <vt:lpstr>VUFQGJ+CMR10</vt:lpstr>
      <vt:lpstr>ROLOVK+CMR7</vt:lpstr>
      <vt:lpstr>NRMFSE+CMBX12~c</vt:lpstr>
      <vt:lpstr>CTGERU+CMSY10~25</vt:lpstr>
      <vt:lpstr>AKDOKW+CMR10</vt:lpstr>
      <vt:lpstr>TFPGUN+CMR7</vt:lpstr>
      <vt:lpstr>IBOVDW+CMBX12~c</vt:lpstr>
      <vt:lpstr>AVAWWV+CMR10</vt:lpstr>
      <vt:lpstr>OUMCAN+CMSY10~25</vt:lpstr>
      <vt:lpstr>MBKEAC+CMTI10</vt:lpstr>
      <vt:lpstr>IPFEEG+CMR7</vt:lpstr>
      <vt:lpstr>FPRDMK+CMBX12~c</vt:lpstr>
      <vt:lpstr>VIKBCP+Helvetica</vt:lpstr>
      <vt:lpstr>HAVVQS+CMR10</vt:lpstr>
      <vt:lpstr>RFOMPQ+CMR7</vt:lpstr>
      <vt:lpstr>FNGQJS+CMBX12~c</vt:lpstr>
      <vt:lpstr>TEMTAG+Helvetica-Bold</vt:lpstr>
      <vt:lpstr>MMTQGM+Helvetica</vt:lpstr>
      <vt:lpstr>ALSHIW+CMSY10~25</vt:lpstr>
      <vt:lpstr>DWCSHN+CMR10</vt:lpstr>
      <vt:lpstr>AWUSPM+CMR7</vt:lpstr>
      <vt:lpstr>SSUHJD+CMBX12~c</vt:lpstr>
      <vt:lpstr>MKBBVL+CMSY10~25</vt:lpstr>
      <vt:lpstr>HVVEJK+CMR10</vt:lpstr>
      <vt:lpstr>MMHUUH+CMBX10</vt:lpstr>
      <vt:lpstr>SLEUUP+CMR7</vt:lpstr>
      <vt:lpstr>TAECEG+CMBX12~c</vt:lpstr>
      <vt:lpstr>CFMQCO+CMSY10~25</vt:lpstr>
      <vt:lpstr>OCEARR+CMR10</vt:lpstr>
      <vt:lpstr>RBTKVM+CMR7</vt:lpstr>
      <vt:lpstr>JOHQJN+CMBX12~c</vt:lpstr>
      <vt:lpstr>WPITEM+Helvetica</vt:lpstr>
      <vt:lpstr>QJUCCN+CMSY10~25</vt:lpstr>
      <vt:lpstr>KPFWKJ+CMR10</vt:lpstr>
      <vt:lpstr>OTHNPW+CMR7</vt:lpstr>
      <vt:lpstr>AGQNEU+CMBX12~c</vt:lpstr>
      <vt:lpstr>UJUWUM+CMSY10~25</vt:lpstr>
      <vt:lpstr>HPKDVP+CMR10</vt:lpstr>
      <vt:lpstr>FCGHNT+Helvetica</vt:lpstr>
      <vt:lpstr>ERDQVL+CMR7</vt:lpstr>
      <vt:lpstr>APKUKU+CMBX12~c</vt:lpstr>
      <vt:lpstr>HAINCP+CMSY10~25</vt:lpstr>
      <vt:lpstr>FEEJID+CMR10</vt:lpstr>
      <vt:lpstr>NTTWLI+Helvetica</vt:lpstr>
      <vt:lpstr>DLQNLP+CMR7</vt:lpstr>
      <vt:lpstr>KQTTSU+CMBX12~c</vt:lpstr>
      <vt:lpstr>AHAUUO+Helvetica</vt:lpstr>
      <vt:lpstr>IVUWAU+Helvetica</vt:lpstr>
      <vt:lpstr>MOEVJU+CMR10</vt:lpstr>
      <vt:lpstr>RVOFHP+CMSY10~25</vt:lpstr>
      <vt:lpstr>WCRTWO+CMR7</vt:lpstr>
      <vt:lpstr>RQDIKN+CMBX12~c</vt:lpstr>
      <vt:lpstr>VNMIGE+CMSY10~25</vt:lpstr>
      <vt:lpstr>ABUHEE+CMR10</vt:lpstr>
      <vt:lpstr>QBLOBD+CMBX10</vt:lpstr>
      <vt:lpstr>SUVRAW+CMSS10</vt:lpstr>
      <vt:lpstr>NLFUCR+CMR7</vt:lpstr>
      <vt:lpstr>TEIHRQ+CMBX12~c</vt:lpstr>
      <vt:lpstr>LADPLL+CMR10</vt:lpstr>
      <vt:lpstr>LNQWDL+CMSY10~25</vt:lpstr>
      <vt:lpstr>NSQRSH+CMSS10</vt:lpstr>
      <vt:lpstr>LRDUGO+CMR7</vt:lpstr>
      <vt:lpstr>DHLDJM+CMBX12~c</vt:lpstr>
      <vt:lpstr>TBVPRF+CMR10</vt:lpstr>
      <vt:lpstr>QROANJ+Helvetica</vt:lpstr>
      <vt:lpstr>SIETBN+Helvetica</vt:lpstr>
      <vt:lpstr>GJJGJU+CMR7</vt:lpstr>
      <vt:lpstr>BJPBSH+CMR10</vt:lpstr>
      <vt:lpstr>CWMNFS+Helvetica</vt:lpstr>
      <vt:lpstr>UEVWLP+Helvetica</vt:lpstr>
      <vt:lpstr>CPVBJQ+CMR7</vt:lpstr>
      <vt:lpstr>NMTUFA+CMBX12~c</vt:lpstr>
      <vt:lpstr>DFLVLW+CMSY10~25</vt:lpstr>
      <vt:lpstr>CNGKLO+CMR10</vt:lpstr>
      <vt:lpstr>EIPBKR+Helvetica</vt:lpstr>
      <vt:lpstr>NLNRJP+CMR7</vt:lpstr>
      <vt:lpstr>ESDFAQ+CMBX12~c</vt:lpstr>
      <vt:lpstr>GVLLDO+Helvetica</vt:lpstr>
      <vt:lpstr>SPAURW+CMR10</vt:lpstr>
      <vt:lpstr>HBPKST+CMR7</vt:lpstr>
      <vt:lpstr>ICMPMN+CMBX10</vt:lpstr>
      <vt:lpstr>PHSGNG+CMSY10~25</vt:lpstr>
      <vt:lpstr>QNNCTB+CMR10</vt:lpstr>
      <vt:lpstr>FLHCJS+CMSS10</vt:lpstr>
      <vt:lpstr>OOOQHV+CMR7</vt:lpstr>
      <vt:lpstr>ULQNMU+CMBX12~c</vt:lpstr>
      <vt:lpstr>VGALPO+CMSY10~25</vt:lpstr>
      <vt:lpstr>VBPVNI+CMR10</vt:lpstr>
      <vt:lpstr>QRTBHU+CMSS8</vt:lpstr>
      <vt:lpstr>CNKPDC+CMBX10</vt:lpstr>
      <vt:lpstr>LDIAAA+CMSS10</vt:lpstr>
      <vt:lpstr>QRSMFP+CMR7</vt:lpstr>
      <vt:lpstr>NOWLCV+CMBX12~c</vt:lpstr>
      <vt:lpstr>WKSWBG+CMSY10~25</vt:lpstr>
      <vt:lpstr>GRRAVK+CMR10</vt:lpstr>
      <vt:lpstr>DTTJVE+CMSSBX10</vt:lpstr>
      <vt:lpstr>KIIKGA+CMSS10</vt:lpstr>
      <vt:lpstr>RENSJH+CMR7</vt:lpstr>
      <vt:lpstr>RDGNBP+CMBX12~c</vt:lpstr>
      <vt:lpstr>OIJSPQ+CMSY10~25</vt:lpstr>
      <vt:lpstr>HBWSEH+CMR10</vt:lpstr>
      <vt:lpstr>LQBDCQ+CMR7</vt:lpstr>
      <vt:lpstr>HJEENL+CMBX12~c</vt:lpstr>
      <vt:lpstr>RCOSQN+CMR7</vt:lpstr>
      <vt:lpstr>RFERLD+CMBX12~c</vt:lpstr>
      <vt:lpstr>QKACSJ+Helvetica</vt:lpstr>
      <vt:lpstr>AGVSRU+CMSY10~25</vt:lpstr>
      <vt:lpstr>NMERQM+CMR10</vt:lpstr>
      <vt:lpstr>SRDHNE+CMSS10</vt:lpstr>
      <vt:lpstr>EFRKLT+CMR7</vt:lpstr>
      <vt:lpstr>WQKCSC+CMBX12~c</vt:lpstr>
      <vt:lpstr>IUNTIG+Helvetica</vt:lpstr>
      <vt:lpstr>KHGSJB+CMSY10~25</vt:lpstr>
      <vt:lpstr>KEJIUF+CMSS10</vt:lpstr>
      <vt:lpstr>GHVTHU+CMR10</vt:lpstr>
      <vt:lpstr>PRSLPJ+CMR7</vt:lpstr>
      <vt:lpstr>UCNAHD+Helvetica</vt:lpstr>
      <vt:lpstr>KOPWGD+CMSY10~25</vt:lpstr>
      <vt:lpstr>FWTHVD+CMSS10</vt:lpstr>
      <vt:lpstr>SGDTWH+CMR10</vt:lpstr>
      <vt:lpstr>QVVTBK+CMR7</vt:lpstr>
      <vt:lpstr>VFKWMS+Helvetica</vt:lpstr>
      <vt:lpstr>VDQKVW+CMSY10~25</vt:lpstr>
      <vt:lpstr>UTDITF+CMR10</vt:lpstr>
      <vt:lpstr>ODQPAN+CMSS10</vt:lpstr>
      <vt:lpstr>IBGHGF+CMR7</vt:lpstr>
      <vt:lpstr>UBVVIP+Helvetica</vt:lpstr>
      <vt:lpstr>KWMBSO+CMSY10~25</vt:lpstr>
      <vt:lpstr>SRUJAG+CMR10</vt:lpstr>
      <vt:lpstr>RAQMFG+CMR7</vt:lpstr>
      <vt:lpstr>GWNTQQ+CMBX12~c</vt:lpstr>
      <vt:lpstr>BEMWJM+CMR10</vt:lpstr>
      <vt:lpstr>PKWJMW+CMSY10~25</vt:lpstr>
      <vt:lpstr>GVSLON+CMR7</vt:lpstr>
      <vt:lpstr>RCAOEL+CMBX12~c</vt:lpstr>
      <vt:lpstr>SVKEID+CMSY10~25</vt:lpstr>
      <vt:lpstr>AHPJCE+CMBX10</vt:lpstr>
      <vt:lpstr>VBTBRE+CMR10</vt:lpstr>
      <vt:lpstr>ANIJWK+Helvetica</vt:lpstr>
      <vt:lpstr>CTVSKN+CMR7</vt:lpstr>
      <vt:lpstr>DSVGQU+CMBX12~c</vt:lpstr>
      <vt:lpstr>VBFKVF+Helvetica</vt:lpstr>
      <vt:lpstr>NCWHOT+CMSY10~25</vt:lpstr>
      <vt:lpstr>RSLSSS+CMR10</vt:lpstr>
      <vt:lpstr>NOFGII+CMSS10</vt:lpstr>
      <vt:lpstr>HCQUFM+CMR7</vt:lpstr>
      <vt:lpstr>MUCSOB+CMBX12~c</vt:lpstr>
      <vt:lpstr>MDLLKT+CMSY10~25</vt:lpstr>
      <vt:lpstr>NPGJEQ+CMBX10</vt:lpstr>
      <vt:lpstr>IMFBCN+CMR10</vt:lpstr>
      <vt:lpstr>TQJMKV+CMTI10</vt:lpstr>
      <vt:lpstr>NFPSLC+CMR7</vt:lpstr>
      <vt:lpstr>MLDKNV+CMBX12~c</vt:lpstr>
      <vt:lpstr>FANIFJ+CMSY9</vt:lpstr>
      <vt:lpstr>TSNEWG+CMSSBX10~2a4</vt:lpstr>
      <vt:lpstr>OCKRHR+CMSS9</vt:lpstr>
      <vt:lpstr>QIVOBH+CMSSI9</vt:lpstr>
      <vt:lpstr>LGOCJB+CMR7</vt:lpstr>
      <vt:lpstr>MMQQHO+CMBX12~c</vt:lpstr>
      <vt:lpstr>MRQMSS+CMSY9</vt:lpstr>
      <vt:lpstr>FUFLBO+CMSSBX10~2a4</vt:lpstr>
      <vt:lpstr>OBGDWM+CMSS9</vt:lpstr>
      <vt:lpstr>LSDDSH+CMSSBX10~2b1</vt:lpstr>
      <vt:lpstr>JVEOOD+CMR9</vt:lpstr>
      <vt:lpstr>UOPBOA+CMR7</vt:lpstr>
      <vt:lpstr>JSMEHG+CMBX12~c</vt:lpstr>
      <vt:lpstr>KWKEFV+CMR10</vt:lpstr>
      <vt:lpstr>WVIIHW+CMR7</vt:lpstr>
      <vt:lpstr>IPVLFH+CMBX12~c</vt:lpstr>
      <vt:lpstr>DLMBCH+CMSY10~25</vt:lpstr>
      <vt:lpstr>JTCCMD+CMBX10</vt:lpstr>
      <vt:lpstr>QOTSDP+CMR10</vt:lpstr>
      <vt:lpstr>RNUESF+CMR7</vt:lpstr>
      <vt:lpstr>WLKRHO+CMBX12~c</vt:lpstr>
      <vt:lpstr>IIDCOW+CMSY10~25</vt:lpstr>
      <vt:lpstr>LTMOIR+CMR10</vt:lpstr>
      <vt:lpstr>EKGTLK+CMBX10</vt:lpstr>
      <vt:lpstr>KOKBUT+CMR7</vt:lpstr>
      <vt:lpstr>CLKOUW+CMBX12~c</vt:lpstr>
      <vt:lpstr>EKCMWC+CMSS9</vt:lpstr>
      <vt:lpstr>CUVAPO+CMR7</vt:lpstr>
      <vt:lpstr>JATVBN+CMSY10~25</vt:lpstr>
      <vt:lpstr>UOPAJG+CMR10</vt:lpstr>
      <vt:lpstr>VSCCGI+CMR7</vt:lpstr>
      <vt:lpstr>TBRJUP+CMBX12~c</vt:lpstr>
      <vt:lpstr>VLOUNB+CMR10</vt:lpstr>
      <vt:lpstr>TJFNGL+CMSY9</vt:lpstr>
      <vt:lpstr>FFRACC+CMSSBX10~2a4</vt:lpstr>
      <vt:lpstr>QBPKSA+CMSS9</vt:lpstr>
      <vt:lpstr>NSUINS+CMR7</vt:lpstr>
      <vt:lpstr>PPVDQR+CMBX12~c</vt:lpstr>
      <vt:lpstr>RAIVMA+CMSY10~25</vt:lpstr>
      <vt:lpstr>TSBCGW+CMBX10</vt:lpstr>
      <vt:lpstr>KDAVNU+CMR10</vt:lpstr>
      <vt:lpstr>WSMWOS+CMTI10</vt:lpstr>
      <vt:lpstr>BJFJAF+CMR7</vt:lpstr>
      <vt:lpstr>JWQHQK+CMBX12~c</vt:lpstr>
      <vt:lpstr>HKJKRN+CMSY10~25</vt:lpstr>
      <vt:lpstr>WOGSEM+CMR10</vt:lpstr>
      <vt:lpstr>UWQWVE+CMR7</vt:lpstr>
      <vt:lpstr>Times New Roman</vt:lpstr>
      <vt:lpstr>Comic Sans MS</vt:lpstr>
      <vt:lpstr>Verdana</vt:lpstr>
      <vt:lpstr>黑体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HeMa</dc:creator>
  <cp:lastModifiedBy>MX</cp:lastModifiedBy>
  <cp:revision>7</cp:revision>
  <dcterms:created xsi:type="dcterms:W3CDTF">2026-06-03T03:22:05Z</dcterms:created>
  <dcterms:modified xsi:type="dcterms:W3CDTF">2026-06-03T03:27:55Z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2D22B0AAF7874B47B465326881989868_13</vt:lpwstr>
  </property>
  <property fmtid="{D5CDD505-2E9C-101B-9397-08002B2CF9AE}" pid="3" name="KSOProductBuildVer">
    <vt:lpwstr>2052-12.1.0.23542</vt:lpwstr>
  </property>
</Properties>
</file>