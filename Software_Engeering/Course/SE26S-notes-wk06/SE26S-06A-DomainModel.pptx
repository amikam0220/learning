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571" r:id="rId3"/>
    <p:sldId id="550" r:id="rId5"/>
    <p:sldId id="561" r:id="rId6"/>
    <p:sldId id="453" r:id="rId7"/>
    <p:sldId id="465" r:id="rId8"/>
    <p:sldId id="402" r:id="rId9"/>
    <p:sldId id="552" r:id="rId10"/>
    <p:sldId id="556" r:id="rId11"/>
    <p:sldId id="287" r:id="rId12"/>
    <p:sldId id="513" r:id="rId13"/>
    <p:sldId id="400" r:id="rId14"/>
    <p:sldId id="545" r:id="rId15"/>
    <p:sldId id="553" r:id="rId16"/>
    <p:sldId id="557" r:id="rId17"/>
    <p:sldId id="559" r:id="rId18"/>
    <p:sldId id="558" r:id="rId19"/>
    <p:sldId id="458" r:id="rId20"/>
    <p:sldId id="568" r:id="rId21"/>
    <p:sldId id="569" r:id="rId22"/>
    <p:sldId id="570" r:id="rId23"/>
    <p:sldId id="564" r:id="rId24"/>
    <p:sldId id="567" r:id="rId25"/>
    <p:sldId id="565" r:id="rId26"/>
    <p:sldId id="566" r:id="rId27"/>
    <p:sldId id="560" r:id="rId28"/>
    <p:sldId id="265" r:id="rId29"/>
  </p:sldIdLst>
  <p:sldSz cx="9144000" cy="6858000" type="screen4x3"/>
  <p:notesSz cx="7010400" cy="9296400"/>
  <p:custDataLst>
    <p:tags r:id="rId3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  <a:srgbClr val="680000"/>
    <a:srgbClr val="F1FCAE"/>
    <a:srgbClr val="4D4D4D"/>
    <a:srgbClr val="777777"/>
    <a:srgbClr val="B2B2B2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3"/>
  </p:normalViewPr>
  <p:slideViewPr>
    <p:cSldViewPr snapToGrid="0" showGuides="1">
      <p:cViewPr>
        <p:scale>
          <a:sx n="100" d="100"/>
          <a:sy n="100" d="100"/>
        </p:scale>
        <p:origin x="-1932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defTabSz="932180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p>
            <a:pPr lvl="0" algn="r" defTabSz="932180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24" name="Rectangle 4"/>
          <p:cNvSpPr>
            <a:spLocks noTextEdit="1"/>
          </p:cNvSpPr>
          <p:nvPr>
            <p:ph type="sldImg" idx="2"/>
          </p:nvPr>
        </p:nvSpPr>
        <p:spPr>
          <a:xfrm>
            <a:off x="1168400" y="685800"/>
            <a:ext cx="4673600" cy="350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680000"/>
              </a:buClr>
              <a:buFont typeface="Wingdings" panose="05000000000000000000" pitchFamily="2" charset="2"/>
              <a:buChar char="q"/>
              <a:defRPr>
                <a:latin typeface="AvantGarde Bk BT" panose="020B0402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515100"/>
            <a:ext cx="1905000" cy="2619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7538" y="6515100"/>
            <a:ext cx="4541838" cy="2619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02625" y="6515100"/>
            <a:ext cx="784225" cy="2619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129088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3" y="1600200"/>
            <a:ext cx="4129087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9138" y="6515100"/>
            <a:ext cx="1905000" cy="2619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7538" y="6515100"/>
            <a:ext cx="4541838" cy="2619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02625" y="6515100"/>
            <a:ext cx="784225" cy="2619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0375" y="152400"/>
            <a:ext cx="2143125" cy="5905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276975" cy="5905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04825" y="1600200"/>
            <a:ext cx="8410575" cy="4457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 idx="1"/>
          </p:nvPr>
        </p:nvSpPr>
        <p:spPr>
          <a:xfrm>
            <a:off x="504825" y="1600200"/>
            <a:ext cx="8410575" cy="4749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1.png"/><Relationship Id="rId3" Type="http://schemas.openxmlformats.org/officeDocument/2006/relationships/image" Target="../media/image20.jpeg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4.wmf"/><Relationship Id="rId2" Type="http://schemas.openxmlformats.org/officeDocument/2006/relationships/image" Target="../media/image23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547688"/>
            <a:ext cx="3019425" cy="179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Rectangle 5"/>
          <p:cNvSpPr/>
          <p:nvPr/>
        </p:nvSpPr>
        <p:spPr>
          <a:xfrm>
            <a:off x="1873250" y="2668588"/>
            <a:ext cx="6945313" cy="6477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lIns="182880" rIns="182880">
            <a:spAutoFit/>
          </a:bodyPr>
          <a:p>
            <a:pPr algn="ctr">
              <a:spcBef>
                <a:spcPct val="20000"/>
              </a:spcBef>
            </a:pPr>
            <a:r>
              <a:rPr lang="en-US" altLang="en-US" sz="3600" b="0" dirty="0">
                <a:latin typeface="Comic Sans MS" panose="030F0702030302020204" pitchFamily="66" charset="0"/>
              </a:rPr>
              <a:t>Domain Analysis and Modeling</a:t>
            </a:r>
            <a:endParaRPr lang="en-US" altLang="zh-CN" sz="3600" b="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5124" name="Line 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5" name="矩形 5"/>
          <p:cNvSpPr/>
          <p:nvPr/>
        </p:nvSpPr>
        <p:spPr>
          <a:xfrm>
            <a:off x="735013" y="3505200"/>
            <a:ext cx="7467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200000"/>
              </a:lnSpc>
              <a:buNone/>
            </a:pP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Max</a:t>
            </a:r>
            <a:endParaRPr lang="en-US" altLang="zh-CN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SE-</a:t>
            </a:r>
            <a:r>
              <a:rPr lang="en-US" altLang="zh-CN" b="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id-Andy: On What </a:t>
            </a:r>
            <a:r>
              <a:rPr lang="en-US" altLang="zh-CN" b="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b="0" dirty="0">
                <a:solidFill>
                  <a:srgbClr val="7030A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b="0" dirty="0">
                <a:solidFill>
                  <a:srgbClr val="00206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b="0" dirty="0">
              <a:solidFill>
                <a:srgbClr val="00206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Topics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spcBef>
                <a:spcPts val="6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Domain Analysis &amp; Modeling Tools,</a:t>
            </a:r>
            <a:b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from Use Cases to Domain Model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Identifying Concepts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Concept Attributes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Concept Associations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Contracts: Preconditions and Postconditions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ts val="1200"/>
              </a:spcBef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Domain Modeling Beyond Use Cases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Domain Analysis &amp; Modeling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442913" y="1458913"/>
            <a:ext cx="8586787" cy="5257800"/>
          </a:xfrm>
        </p:spPr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Domain analysis and modeling identifies the system elements needed to solve the problem (i.e., meet the requirements)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Why?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—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goal of domain modeling is to understand how system-to-be will work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buChar char="–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Requirements analysis determined how users will interact with system-to-be (external behavior)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Char char="–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Domain modeling determines how elements of system-to-be interact (internal behavior) to produce the external behavior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How? 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—</a:t>
            </a: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 do domain modeling based on sources: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Knowledge of how system-to-be is supposed to behave (from requirements analysis, e.g., use cases)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Studying the work domain (or, problem domain)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Knowledge base of software designs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Developer’s past experience with software design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3">
                                            <p:txEl>
                                              <p:charRg st="0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18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3">
                                            <p:txEl>
                                              <p:charRg st="118" end="1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96" end="2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243">
                                            <p:txEl>
                                              <p:charRg st="196" end="2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91" end="4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243">
                                            <p:txEl>
                                              <p:charRg st="291" end="4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409" end="4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243">
                                            <p:txEl>
                                              <p:charRg st="409" end="4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455" end="5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0243">
                                            <p:txEl>
                                              <p:charRg st="455" end="5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553" end="5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0243">
                                            <p:txEl>
                                              <p:charRg st="553" end="5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599" end="6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0243">
                                            <p:txEl>
                                              <p:charRg st="599" end="6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634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243">
                                            <p:txEl>
                                              <p:charRg st="634" end="6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38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Cases vs. Domain Model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8195" name="Text Box 69"/>
          <p:cNvSpPr txBox="1"/>
          <p:nvPr/>
        </p:nvSpPr>
        <p:spPr>
          <a:xfrm>
            <a:off x="5021263" y="2446338"/>
            <a:ext cx="2857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(b)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6" name="Text Box 70"/>
          <p:cNvSpPr txBox="1"/>
          <p:nvPr/>
        </p:nvSpPr>
        <p:spPr>
          <a:xfrm>
            <a:off x="23813" y="2446338"/>
            <a:ext cx="2730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(a)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7" name="Text Box 162"/>
          <p:cNvSpPr txBox="1"/>
          <p:nvPr/>
        </p:nvSpPr>
        <p:spPr>
          <a:xfrm>
            <a:off x="695325" y="1674813"/>
            <a:ext cx="3184525" cy="554037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use case analysis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, we consider the system as a “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black box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198" name="Picture 1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" y="2824163"/>
            <a:ext cx="4484688" cy="28559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9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988" y="2832100"/>
            <a:ext cx="4092575" cy="2847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0" name="Text Box 167"/>
          <p:cNvSpPr txBox="1"/>
          <p:nvPr/>
        </p:nvSpPr>
        <p:spPr>
          <a:xfrm>
            <a:off x="4989513" y="1674813"/>
            <a:ext cx="3275012" cy="554037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domain analysis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, we consider the system as a “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transparent box</a:t>
            </a:r>
            <a:r>
              <a: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altLang="en-US" sz="18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69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What is Domain Modeling</a:t>
            </a:r>
            <a:br>
              <a:rPr kumimoji="0" lang="en-US" alt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kumimoji="0" lang="en-US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Example: ATM Machine</a:t>
            </a:r>
            <a:endParaRPr kumimoji="0" lang="en-US" altLang="en-US" sz="36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9219" name="Text Box 70"/>
          <p:cNvSpPr txBox="1"/>
          <p:nvPr/>
        </p:nvSpPr>
        <p:spPr>
          <a:xfrm>
            <a:off x="6958013" y="2916238"/>
            <a:ext cx="285750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(b)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0" name="Text Box 71"/>
          <p:cNvSpPr txBox="1"/>
          <p:nvPr/>
        </p:nvSpPr>
        <p:spPr>
          <a:xfrm>
            <a:off x="2178050" y="5245100"/>
            <a:ext cx="273050" cy="274638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algn="ctr"/>
            <a:r>
              <a:rPr lang="en-US" altLang="en-US" sz="1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(a)</a:t>
            </a:r>
            <a:endParaRPr lang="en-US" altLang="en-US" sz="1800" b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221" name="Picture 2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3" y="1331913"/>
            <a:ext cx="5097462" cy="3440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Picture 2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525" y="3454400"/>
            <a:ext cx="4125913" cy="33988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4"/>
          <p:cNvSpPr>
            <a:spLocks noGrp="1"/>
          </p:cNvSpPr>
          <p:nvPr>
            <p:ph type="title"/>
          </p:nvPr>
        </p:nvSpPr>
        <p:spPr>
          <a:xfrm>
            <a:off x="123825" y="152400"/>
            <a:ext cx="9020175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  <a:t>Building Domain Model from Use Cases</a:t>
            </a:r>
            <a:endParaRPr lang="en-US" altLang="en-US" sz="36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0243" name="Text Box 61"/>
          <p:cNvSpPr txBox="1">
            <a:spLocks noChangeAspect="1"/>
          </p:cNvSpPr>
          <p:nvPr/>
        </p:nvSpPr>
        <p:spPr>
          <a:xfrm>
            <a:off x="180975" y="1647825"/>
            <a:ext cx="3260725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Step 1: Identifying the boundary concepts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sp>
        <p:nvSpPr>
          <p:cNvPr id="10244" name="Text Box 108"/>
          <p:cNvSpPr txBox="1">
            <a:spLocks noChangeAspect="1"/>
          </p:cNvSpPr>
          <p:nvPr/>
        </p:nvSpPr>
        <p:spPr>
          <a:xfrm>
            <a:off x="5008563" y="3448050"/>
            <a:ext cx="3103562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Arial" panose="020B0604020202020204" pitchFamily="34" charset="0"/>
              </a:rPr>
              <a:t>Step 2: Identifying the internal concepts</a:t>
            </a:r>
            <a:endParaRPr lang="en-US" altLang="en-US" sz="1400" b="0" dirty="0">
              <a:latin typeface="Arial" panose="020B0604020202020204" pitchFamily="34" charset="0"/>
            </a:endParaRPr>
          </a:p>
        </p:txBody>
      </p:sp>
      <p:pic>
        <p:nvPicPr>
          <p:cNvPr id="1024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" y="2112963"/>
            <a:ext cx="4306888" cy="2484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088" y="3827463"/>
            <a:ext cx="4306887" cy="2484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 Box 108"/>
          <p:cNvSpPr txBox="1">
            <a:spLocks noChangeAspect="1" noChangeArrowheads="1"/>
          </p:cNvSpPr>
          <p:nvPr/>
        </p:nvSpPr>
        <p:spPr bwMode="auto">
          <a:xfrm>
            <a:off x="271463" y="5746750"/>
            <a:ext cx="4297363" cy="9842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Step 2: Identifying the internal concepts</a:t>
            </a:r>
            <a:endParaRPr kumimoji="0" lang="en-US" altLang="en-US" sz="1600" b="0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Internal concepts “route” data between boundaries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format conversion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 protection policies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1: Unlock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08025" y="1443038"/>
          <a:ext cx="7947025" cy="5195888"/>
        </p:xfrm>
        <a:graphic>
          <a:graphicData uri="http://schemas.openxmlformats.org/drawingml/2006/table">
            <a:tbl>
              <a:tblPr/>
              <a:tblGrid>
                <a:gridCol w="484188"/>
                <a:gridCol w="392112"/>
                <a:gridCol w="876300"/>
                <a:gridCol w="6194425"/>
              </a:tblGrid>
              <a:tr h="54292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UC-1: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Unlock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5429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Related Requirements: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REQ1, REQ3, REQ4, and REQ5 stated in Table 2-1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75" marR="3393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6195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Any of: Tenant, Landlord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75" marR="3393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6195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To disarm the lock and enter, and get space lighted up automatically.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75" marR="3393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5429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LockDevice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LightSwitch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, Timer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75" marR="3393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6318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75" marR="1696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The set of valid keys stored in the system database is non-empty.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The system displays the menu of available functions; at the door keypad the menu choices are “Lock” and “Unlock.”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0797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7275" marR="1696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The auto-lock timer has started countdown from autoLockInterval.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407988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 arrives at the door and selects the menu item “Unlock”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 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include::</a:t>
                      </a:r>
                      <a:r>
                        <a:rPr kumimoji="0" lang="en-US" altLang="zh-CN" sz="1400" b="0" i="1" u="sng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AuthenticateUser</a:t>
                      </a:r>
                      <a:r>
                        <a:rPr kumimoji="0" lang="en-US" altLang="zh-CN" sz="1400" b="0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(UC-7)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(a) signals to the Tenant/Landlord the lock status, e.g., “disarmed,” (b) signals to LockDevice to disarm the lock, and (c) signals to LightSwitch to turn the light on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signals to the Timer to start the auto-lock timer countdown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 opens the door, enters the home [and shuts the door and locks]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3180" marR="631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381000" y="117475"/>
            <a:ext cx="8572500" cy="1143000"/>
          </a:xfrm>
        </p:spPr>
        <p:txBody>
          <a:bodyPr vert="horz" wrap="square" lIns="0" tIns="45720" rIns="0" bIns="45720" anchor="ctr" anchorCtr="0"/>
          <a:p>
            <a:pPr eaLnBrk="1" hangingPunct="1"/>
            <a:r>
              <a:rPr lang="en-US" alt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Extracting the Responsibilities</a:t>
            </a:r>
            <a:endParaRPr lang="en-US" altLang="en-US" sz="4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12291" name="表格 12290"/>
          <p:cNvGraphicFramePr/>
          <p:nvPr/>
        </p:nvGraphicFramePr>
        <p:xfrm>
          <a:off x="504825" y="1600200"/>
          <a:ext cx="8410575" cy="4749800"/>
        </p:xfrm>
        <a:graphic>
          <a:graphicData uri="http://schemas.openxmlformats.org/drawingml/2006/table">
            <a:tbl>
              <a:tblPr/>
              <a:tblGrid>
                <a:gridCol w="6427788"/>
                <a:gridCol w="576262"/>
                <a:gridCol w="1406525"/>
              </a:tblGrid>
              <a:tr h="4746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dirty="0">
                          <a:latin typeface="Comic Sans MS" panose="030F0702030302020204" pitchFamily="66" charset="0"/>
                        </a:rPr>
                        <a:t>Responsibility Description</a:t>
                      </a:r>
                      <a:endParaRPr lang="en-US" altLang="en-US" sz="1400" dirty="0">
                        <a:latin typeface="Comic Sans MS" panose="030F0702030302020204" pitchFamily="66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dirty="0">
                          <a:latin typeface="Comic Sans MS" panose="030F0702030302020204" pitchFamily="66" charset="0"/>
                        </a:rPr>
                        <a:t>Type</a:t>
                      </a:r>
                      <a:endParaRPr lang="en-US" altLang="en-US" sz="1400" dirty="0">
                        <a:latin typeface="Comic Sans MS" panose="030F0702030302020204" pitchFamily="66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dirty="0">
                          <a:latin typeface="Comic Sans MS" panose="030F0702030302020204" pitchFamily="66" charset="0"/>
                        </a:rPr>
                        <a:t>Concept Name</a:t>
                      </a:r>
                      <a:endParaRPr lang="en-US" altLang="en-US" sz="1400" dirty="0">
                        <a:latin typeface="Comic Sans MS" panose="030F0702030302020204" pitchFamily="66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7127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Coordinate actions of all concepts associated with a use case, a logical grouping of use cases, or the entire system and delegate the work to other concepts.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46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Container for user’s authentication data, such as pass-code, timestamp, door identification, etc.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62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Verify whether or not the key-code entered by the user is valid.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KeyChecker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Container for the collection of valid keys associated with doors and users.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KeyStorage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62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Operate the lock device to armed/disarmed positions.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LockOperator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46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Operate the light switch to turn the light on/off.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LightOperator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46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Operate the alarm bell to signal possible break-ins.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AlarmOperator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762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Block the input to deny more attempts if too many unsuccessful attempts.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365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 all interactions with the system in persistent storage.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Logger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Domain Model (1)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13315" name="Picture 1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13" y="1960563"/>
            <a:ext cx="8613775" cy="376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Text Box 188"/>
          <p:cNvSpPr txBox="1">
            <a:spLocks noChangeAspect="1"/>
          </p:cNvSpPr>
          <p:nvPr/>
        </p:nvSpPr>
        <p:spPr>
          <a:xfrm>
            <a:off x="1884363" y="6057900"/>
            <a:ext cx="5770562" cy="3079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Domain concepts for subsystem #1 of safe home access</a:t>
            </a:r>
            <a:endParaRPr lang="en-US" altLang="en-US" sz="2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10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Domain Model (2)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4339" name="Text Box 153"/>
          <p:cNvSpPr txBox="1"/>
          <p:nvPr/>
        </p:nvSpPr>
        <p:spPr>
          <a:xfrm>
            <a:off x="298450" y="1211263"/>
            <a:ext cx="1987550" cy="6778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Domain model for UC-1: </a:t>
            </a:r>
            <a:r>
              <a:rPr lang="en-US" altLang="en-US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Unlock</a:t>
            </a:r>
            <a:endParaRPr lang="en-US" altLang="en-US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4340" name="Picture 1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688" y="2046288"/>
            <a:ext cx="8528050" cy="4456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1" name="Text Box 162"/>
          <p:cNvSpPr txBox="1"/>
          <p:nvPr/>
        </p:nvSpPr>
        <p:spPr>
          <a:xfrm>
            <a:off x="3690938" y="1450975"/>
            <a:ext cx="5254625" cy="527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27432" tIns="9144" rIns="27432" bIns="9144">
            <a:spAutoFit/>
          </a:bodyPr>
          <a:p>
            <a:pPr eaLnBrk="1" hangingPunct="1"/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Associations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: who needs to work together, </a:t>
            </a:r>
            <a:r>
              <a:rPr lang="en-US" altLang="en-US" sz="1400" b="0" i="1" dirty="0">
                <a:latin typeface="Calibri" panose="020F0502020204030204" pitchFamily="34" charset="0"/>
                <a:cs typeface="Calibri" panose="020F0502020204030204" pitchFamily="34" charset="0"/>
              </a:rPr>
              <a:t>not how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they work together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Concept pair | Association description | Association name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14342" name="Group 5"/>
          <p:cNvGrpSpPr/>
          <p:nvPr/>
        </p:nvGrpSpPr>
        <p:grpSpPr>
          <a:xfrm>
            <a:off x="7802563" y="161925"/>
            <a:ext cx="1160462" cy="1004888"/>
            <a:chOff x="3181531" y="5053013"/>
            <a:chExt cx="1160463" cy="1004887"/>
          </a:xfrm>
        </p:grpSpPr>
        <p:sp>
          <p:nvSpPr>
            <p:cNvPr id="14343" name="Rectangle 19"/>
            <p:cNvSpPr/>
            <p:nvPr/>
          </p:nvSpPr>
          <p:spPr>
            <a:xfrm>
              <a:off x="3181531" y="5053013"/>
              <a:ext cx="1160463" cy="1004887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64008" rIns="0" bIns="0"/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  <a:cs typeface="Arial" panose="020B0604020202020204" pitchFamily="34" charset="0"/>
                </a:rPr>
                <a:t>        «entity»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           Key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eaLnBrk="1" hangingPunct="1"/>
              <a:endParaRPr lang="en-US" altLang="en-US" sz="800" b="0" dirty="0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user code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access location</a:t>
              </a:r>
              <a:endParaRPr lang="en-US" altLang="en-US" sz="1000" b="0" dirty="0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en-US" sz="1000" b="0" dirty="0">
                  <a:latin typeface="Arial" panose="020B0604020202020204" pitchFamily="34" charset="0"/>
                </a:rPr>
                <a:t>timestamp</a:t>
              </a:r>
              <a:endParaRPr lang="en-US" altLang="en-US" sz="1000" b="0" dirty="0">
                <a:latin typeface="Arial" panose="020B0604020202020204" pitchFamily="34" charset="0"/>
              </a:endParaRPr>
            </a:p>
          </p:txBody>
        </p:sp>
        <p:sp>
          <p:nvSpPr>
            <p:cNvPr id="14344" name="Line 20"/>
            <p:cNvSpPr/>
            <p:nvPr/>
          </p:nvSpPr>
          <p:spPr>
            <a:xfrm>
              <a:off x="3181531" y="5491163"/>
              <a:ext cx="1160463" cy="0"/>
            </a:xfrm>
            <a:prstGeom prst="line">
              <a:avLst/>
            </a:prstGeom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1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Degrees of 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Domain Model Refinement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2492375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Simplest case: all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household devices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are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conceptually the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same—just an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on/off switch to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activate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or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deactivate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each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device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will provide additional functionality, use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different conceptual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objects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correct approach depends on the requirements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5364" name="Picture 2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184650"/>
            <a:ext cx="8459788" cy="2481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Domain Model (3)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16387" name="Picture 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2043113"/>
            <a:ext cx="7862888" cy="4006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Use Case 5: Inspect Access History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0363" y="1481138"/>
          <a:ext cx="8489950" cy="5319713"/>
        </p:xfrm>
        <a:graphic>
          <a:graphicData uri="http://schemas.openxmlformats.org/drawingml/2006/table">
            <a:tbl>
              <a:tblPr/>
              <a:tblGrid>
                <a:gridCol w="522287"/>
                <a:gridCol w="423863"/>
                <a:gridCol w="779462"/>
                <a:gridCol w="6764338"/>
              </a:tblGrid>
              <a:tr h="27781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 Case UC-5: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Inspect Access History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4159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Related Requirements: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13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REQ8 and REQ9 stated in Table 2-1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2715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7781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Initiating Actor: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Any of: Tenant, Landlord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2715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7781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Actor’s Goal: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To examine the access history for a particular door.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2715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41751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Participating Actors: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Database, Landlord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27158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77813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13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 is currently logged in the system and is shown a hyperlink “View Access History.”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5082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3848" marR="13579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None.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328613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Flow of Events for Main Success Scenario: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8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1.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 clicks the hyperlink “View Access History”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2.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prompts for the search criteria (e.g., time frame, door location, actor role, event type, etc.) or “Show all”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188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3.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 specifies the search criteria and submits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4.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prepares a database query that best matches the actor’s search criteria and retrieves the records from the Database 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188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5.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Database returns the matching records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415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6.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(a) additionally filters the retrieved records to match the actor’s search criteria; (b) renders the remaining records for display; and (c) shows the result for Tenant/Landlord’s consideration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7.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Tenant/Landlord browses, selects “interesting” records (if any), and requests further investigation (with an accompanying complaint description)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8.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System (a) displays only the selected records and confirms the request; (b) archives the request in the Database and assigns it a tracking number; (c) notifies Landlord about the request; and (d) informs Tenant/Landlord about the tracking number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50571" marR="5057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1747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575" y="6286500"/>
            <a:ext cx="109538" cy="131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7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575" y="5389563"/>
            <a:ext cx="109538" cy="131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Extracting the Responsibilities</a:t>
            </a:r>
            <a:endParaRPr lang="en-US" altLang="en-US" sz="4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18435" name="表格 18434"/>
          <p:cNvGraphicFramePr/>
          <p:nvPr/>
        </p:nvGraphicFramePr>
        <p:xfrm>
          <a:off x="504825" y="1600200"/>
          <a:ext cx="8410575" cy="4749800"/>
        </p:xfrm>
        <a:graphic>
          <a:graphicData uri="http://schemas.openxmlformats.org/drawingml/2006/table">
            <a:tbl>
              <a:tblPr/>
              <a:tblGrid>
                <a:gridCol w="6351588"/>
                <a:gridCol w="506412"/>
                <a:gridCol w="1552575"/>
              </a:tblGrid>
              <a:tr h="4508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dirty="0">
                          <a:latin typeface="Comic Sans MS" panose="030F0702030302020204" pitchFamily="66" charset="0"/>
                        </a:rPr>
                        <a:t>Responsibility Description</a:t>
                      </a:r>
                      <a:endParaRPr lang="en-US" altLang="en-US" sz="1400" dirty="0">
                        <a:latin typeface="Comic Sans MS" panose="030F0702030302020204" pitchFamily="66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dirty="0">
                          <a:latin typeface="Comic Sans MS" panose="030F0702030302020204" pitchFamily="66" charset="0"/>
                        </a:rPr>
                        <a:t>Type</a:t>
                      </a:r>
                      <a:endParaRPr lang="en-US" altLang="en-US" sz="1400" dirty="0">
                        <a:latin typeface="Comic Sans MS" panose="030F0702030302020204" pitchFamily="66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dirty="0">
                          <a:latin typeface="Comic Sans MS" panose="030F0702030302020204" pitchFamily="66" charset="0"/>
                        </a:rPr>
                        <a:t>Concept Name</a:t>
                      </a:r>
                      <a:endParaRPr lang="en-US" altLang="en-US" sz="1400" dirty="0">
                        <a:latin typeface="Comic Sans MS" panose="030F0702030302020204" pitchFamily="66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4540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Rs1. Coordinate actions of concepts associated with this use case and delegate the work to other concepts.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24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Rs2. Form specifying the search parameters for database log retrieval (from UC-5, Step 2).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Search Request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24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Rs3. Render the retrieved records into an HTML document for sending to actor’s Web browser for display.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Page Maker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Rs4. HTML document that shows the actor the current context, what actions can be done, and outcomes of the previous actions.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Interface Page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679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Rs5. Prepare a database query that best matches the actor’s search criteria and retrieve the records from the database (from UC-5, Step 4).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Database Connection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Rs6. Filter the retrieved records to match the actor’s search criteria (from UC-5, Step 6).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Postprocessor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40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Rs7. List of “interesting” records for further investigation, complaint description, and the tracking number.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Investigation Request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Rs8. Archive the request in the database and assign it a tracking number (from UC-5, Step 8).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Archiver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70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Rs9. Notify Landlord about the request (from UC-5, Step 8).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just" eaLnBrk="1" hangingPunct="1">
                        <a:lnSpc>
                          <a:spcPts val="1400"/>
                        </a:lnSpc>
                        <a:buNone/>
                      </a:pPr>
                      <a:r>
                        <a:rPr lang="en-US" altLang="en-US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Notifier</a:t>
                      </a:r>
                      <a:endParaRPr lang="en-US" altLang="en-US" sz="1400" b="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Extracting the Associations</a:t>
            </a:r>
            <a:endParaRPr lang="en-US" altLang="en-US" sz="4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958512" name="Group 48"/>
          <p:cNvGraphicFramePr>
            <a:graphicFrameLocks noGrp="1"/>
          </p:cNvGraphicFramePr>
          <p:nvPr/>
        </p:nvGraphicFramePr>
        <p:xfrm>
          <a:off x="504825" y="1600200"/>
          <a:ext cx="8410575" cy="4749803"/>
        </p:xfrm>
        <a:graphic>
          <a:graphicData uri="http://schemas.openxmlformats.org/drawingml/2006/table">
            <a:tbl>
              <a:tblPr/>
              <a:tblGrid>
                <a:gridCol w="1982788"/>
                <a:gridCol w="4616450"/>
                <a:gridCol w="1811337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Concept pair</a:t>
                      </a:r>
                      <a:endParaRPr kumimoji="0" lang="en-US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Association description</a:t>
                      </a:r>
                      <a:endParaRPr kumimoji="0" lang="en-US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Association name</a:t>
                      </a:r>
                      <a:endParaRPr kumimoji="0" lang="en-US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Page Maker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 passes requests to Page Maker and receives back pages prepared for displaying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conveys requests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Page Maker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Connection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Database Connection passes the retrieved data to Page Maker to render them for display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provides data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Page Maker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Interface Page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Page Maker prepares the Interface Page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prepares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Connection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 passes search requests to Database Connection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conveys requests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Archiver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Controller passes a list of “interesting” records and complaint description to Archiver, which assigns the tracking number and creates Investigation Request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conveys requests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Archiver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Investigation Request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Archiver generates Investigation Request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generates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69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Archiver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Database Connection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025" marR="18415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Archiver requests Database Connection to store investigation requests into the database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requests save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Archiver 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Notifier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Archiver requests Notifier to notify Landlord about investigation requests</a:t>
                      </a:r>
                      <a:endParaRPr kumimoji="0" lang="en-US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requests notify</a:t>
                      </a:r>
                      <a:endParaRPr kumimoji="0" lang="en-US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Extracting the Attributes</a:t>
            </a:r>
            <a:endParaRPr lang="en-US" altLang="en-US" sz="4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956592" name="Group 176"/>
          <p:cNvGraphicFramePr>
            <a:graphicFrameLocks noGrp="1"/>
          </p:cNvGraphicFramePr>
          <p:nvPr/>
        </p:nvGraphicFramePr>
        <p:xfrm>
          <a:off x="504825" y="1600200"/>
          <a:ext cx="8226425" cy="4470400"/>
        </p:xfrm>
        <a:graphic>
          <a:graphicData uri="http://schemas.openxmlformats.org/drawingml/2006/table">
            <a:tbl>
              <a:tblPr/>
              <a:tblGrid>
                <a:gridCol w="1165713"/>
                <a:gridCol w="1714012"/>
                <a:gridCol w="534670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Concept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Attributes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Attribute Description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685800">
                <a:tc row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Search Request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user’s identity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Used to determine the actor’s credentials, which in turn specify what kind of data this actor is authorized to view.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6858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search parameters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Time frame, actor role, door location, event type (unlock, lock, power failure, etc.).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Postprocessor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search parameters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Copied from search request; needed to Filter the retrieved records to match the actor’s search criteria.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2900">
                <a:tc row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Investigation Request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records list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List of “interesting” records selected for further investigation.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29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complaint description 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Describes the actor’s suspicions about the selected access records.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29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tracking number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Allows tracking of the investigation status.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Archiver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current tracking number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Needed to assign a tracking number to complaints and requests.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Notifier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contact information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Contact information of the Landlord who accepts complaints and requests for further investigation.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6501" marR="66501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1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Domain Model (4)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1507" name="Text Box 166"/>
          <p:cNvSpPr txBox="1"/>
          <p:nvPr/>
        </p:nvSpPr>
        <p:spPr>
          <a:xfrm>
            <a:off x="346075" y="1389063"/>
            <a:ext cx="3776663" cy="67786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Domain model</a:t>
            </a:r>
            <a:endParaRPr lang="en-US" altLang="en-US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for UC-5: </a:t>
            </a:r>
            <a:r>
              <a:rPr lang="en-US" altLang="en-US" b="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Inspect Access History</a:t>
            </a:r>
            <a:endParaRPr lang="en-US" altLang="en-US" b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1508" name="Picture 2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0" y="2679700"/>
            <a:ext cx="8458200" cy="3438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Traceability Matrix (1)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2531" name="Rectangle 3"/>
          <p:cNvSpPr/>
          <p:nvPr/>
        </p:nvSpPr>
        <p:spPr>
          <a:xfrm>
            <a:off x="255588" y="1203325"/>
            <a:ext cx="4864100" cy="2746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800" dirty="0">
                <a:latin typeface="Arial" panose="020B0604020202020204" pitchFamily="34" charset="0"/>
              </a:rPr>
              <a:t>Mapping: System requirements to Use cases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2532" name="Text Box 4"/>
          <p:cNvSpPr txBox="1">
            <a:spLocks noChangeAspect="1"/>
          </p:cNvSpPr>
          <p:nvPr/>
        </p:nvSpPr>
        <p:spPr>
          <a:xfrm>
            <a:off x="7375525" y="1139825"/>
            <a:ext cx="1560513" cy="132397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UC1: Unlock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UC2: Lock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UC3: AddUser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UC4: RemoveUser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UC5: InspectAccessHistory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UC6: SetDevicePrefs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UC7: AuthenticateUser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UC8: Login</a:t>
            </a:r>
            <a:endParaRPr lang="en-US" altLang="en-US" sz="1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2533" name="Text Box 5"/>
          <p:cNvSpPr txBox="1">
            <a:spLocks noChangeAspect="1"/>
          </p:cNvSpPr>
          <p:nvPr/>
        </p:nvSpPr>
        <p:spPr>
          <a:xfrm>
            <a:off x="114300" y="1552575"/>
            <a:ext cx="2900363" cy="1477963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REQ1: Keep door locked and auto-lock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REQ2: Lock when “LOCK” pressed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REQ3: Unlock when valid key provided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REQ4: Allow mistakes but prevent dictionary attacks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REQ5: Maintain a history log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REQ6: Adding/removing users at runtime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REQ7: Configuring the device activation preferences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REQ8: Inspecting the access history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REQ9: Filing inquiries</a:t>
            </a:r>
            <a:endParaRPr lang="en-US" altLang="en-US" sz="1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2534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1325" y="2597150"/>
            <a:ext cx="5268913" cy="39957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Traceability Matrix (2)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3555" name="Rectangle 74"/>
          <p:cNvSpPr/>
          <p:nvPr/>
        </p:nvSpPr>
        <p:spPr>
          <a:xfrm>
            <a:off x="255588" y="1203325"/>
            <a:ext cx="3860800" cy="2746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800" b="0" dirty="0">
                <a:latin typeface="Arial" panose="020B0604020202020204" pitchFamily="34" charset="0"/>
              </a:rPr>
              <a:t>Mapping: Use cases to Domain model</a:t>
            </a:r>
            <a:endParaRPr lang="en-US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23556" name="Text Box 79"/>
          <p:cNvSpPr txBox="1">
            <a:spLocks noChangeAspect="1"/>
          </p:cNvSpPr>
          <p:nvPr/>
        </p:nvSpPr>
        <p:spPr>
          <a:xfrm>
            <a:off x="7375525" y="1139825"/>
            <a:ext cx="1560513" cy="1323975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UC1: Unlock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UC2: Lock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UC3: AddUser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UC4: RemoveUser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UC5: InspectAccessHistory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UC6: SetDevicePrefs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UC7: AuthenticateUser</a:t>
            </a:r>
            <a:endParaRPr lang="en-US" altLang="en-US" sz="1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000" b="0" dirty="0">
                <a:latin typeface="Calibri" panose="020F0502020204030204" pitchFamily="34" charset="0"/>
                <a:cs typeface="Calibri" panose="020F0502020204030204" pitchFamily="34" charset="0"/>
              </a:rPr>
              <a:t>UC8: Login</a:t>
            </a:r>
            <a:endParaRPr lang="en-US" altLang="en-US" sz="10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355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13" y="1562100"/>
            <a:ext cx="6677025" cy="5029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Contracts: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Preconditions and Postconditions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graphicFrame>
        <p:nvGraphicFramePr>
          <p:cNvPr id="951381" name="Group 85"/>
          <p:cNvGraphicFramePr>
            <a:graphicFrameLocks noGrp="1"/>
          </p:cNvGraphicFramePr>
          <p:nvPr/>
        </p:nvGraphicFramePr>
        <p:xfrm>
          <a:off x="919163" y="2112963"/>
          <a:ext cx="6978650" cy="1654178"/>
        </p:xfrm>
        <a:graphic>
          <a:graphicData uri="http://schemas.openxmlformats.org/drawingml/2006/table">
            <a:tbl>
              <a:tblPr/>
              <a:tblGrid>
                <a:gridCol w="1771650"/>
                <a:gridCol w="5207000"/>
              </a:tblGrid>
              <a:tr h="2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Operation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Unlock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2333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 set of valid keys known to the system is not empty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333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 numOfAttempts 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≤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maxNumOfAttempts 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4873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 </a:t>
                      </a: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numOfAttempts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= 0, 	for the first attempt of the current user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333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numOfAttempts = 0, 	if the entered Key 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Symbol" panose="05050102010706020507" pitchFamily="18" charset="2"/>
                        </a:rPr>
                        <a:t>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Valid keys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333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current instance of the Key object is archived and destroyed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40" marB="27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1383" name="Group 87"/>
          <p:cNvGraphicFramePr>
            <a:graphicFrameLocks noGrp="1"/>
          </p:cNvGraphicFramePr>
          <p:nvPr/>
        </p:nvGraphicFramePr>
        <p:xfrm>
          <a:off x="969963" y="4549775"/>
          <a:ext cx="6932613" cy="1111252"/>
        </p:xfrm>
        <a:graphic>
          <a:graphicData uri="http://schemas.openxmlformats.org/drawingml/2006/table">
            <a:tbl>
              <a:tblPr/>
              <a:tblGrid>
                <a:gridCol w="1728787"/>
                <a:gridCol w="5203825"/>
              </a:tblGrid>
              <a:tr h="2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Operation</a:t>
                      </a:r>
                      <a:endParaRPr kumimoji="0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4008" marR="64008" marT="27423" marB="274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Lock</a:t>
                      </a:r>
                      <a:endParaRPr kumimoji="0" lang="en-US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4008" marR="64008" marT="27423" marB="274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/>
                    </a:solidFill>
                  </a:tcPr>
                </a:tc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Preconditions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23" marB="274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None (that is, none worth mentioning)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23" marB="274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333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Postconditions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23" marB="274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 lockStatus = “armed”, and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23" marB="274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  <a:tr h="2333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•  </a:t>
                      </a: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lightStatus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 remains unchanged (see text for discussion)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4008" marR="64008" marT="27423" marB="274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Typical Problems</a:t>
            </a:r>
            <a:b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with Domain Models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5603" name="Content Placeholder 3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4959350"/>
          </a:xfrm>
        </p:spPr>
        <p:txBody>
          <a:bodyPr vert="horz" wrap="square" lIns="91440" tIns="45720" rIns="91440" bIns="45720" anchor="t" anchorCtr="0"/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Unaware that requirements are </a:t>
            </a:r>
            <a:r>
              <a:rPr lang="en-US" altLang="zh-CN" sz="2200" b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not simply a wish list</a:t>
            </a:r>
            <a:endParaRPr lang="en-US" altLang="zh-CN" sz="2200" b="1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spcBef>
                <a:spcPts val="400"/>
              </a:spcBef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Ignoring real-world constraints and problems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spcBef>
                <a:spcPts val="400"/>
              </a:spcBef>
            </a:pPr>
            <a:r>
              <a:rPr lang="en-US" altLang="zh-CN" sz="1600" dirty="0">
                <a:latin typeface="Calibri" panose="020F0502020204030204" pitchFamily="34" charset="0"/>
                <a:ea typeface="宋体" panose="02010600030101010101" pitchFamily="2" charset="-122"/>
              </a:rPr>
              <a:t>Physical I/O devices, networks, sensors, etc., are failure prone </a:t>
            </a:r>
            <a:endParaRPr lang="en-US" altLang="zh-CN" sz="16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>
              <a:spcBef>
                <a:spcPts val="400"/>
              </a:spcBef>
            </a:pPr>
            <a:r>
              <a:rPr lang="en-US" altLang="zh-CN" sz="1600" dirty="0">
                <a:latin typeface="Calibri" panose="020F0502020204030204" pitchFamily="34" charset="0"/>
                <a:ea typeface="宋体" panose="02010600030101010101" pitchFamily="2" charset="-122"/>
              </a:rPr>
              <a:t>Economic, legal, cultural, etc., constraints</a:t>
            </a:r>
            <a:endParaRPr lang="en-US" altLang="zh-CN" sz="16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1">
              <a:spcBef>
                <a:spcPts val="400"/>
              </a:spcBef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Results in one requirement (or even use case!) being </a:t>
            </a: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mapped to</a:t>
            </a: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 one concept/module that acts as</a:t>
            </a:r>
            <a:b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a trivial input-to-output “connector”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Omitting </a:t>
            </a:r>
            <a:r>
              <a:rPr lang="en-US" altLang="zh-CN" sz="2200" i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input data </a:t>
            </a: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for modules (if any) and </a:t>
            </a:r>
            <a:r>
              <a:rPr lang="en-US" altLang="zh-CN" sz="2200" i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output data </a:t>
            </a: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for modules (if any)		</a:t>
            </a:r>
            <a:r>
              <a:rPr lang="en-US" altLang="zh-CN" sz="1600" dirty="0">
                <a:solidFill>
                  <a:srgbClr val="22228B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“things” for “worker” concepts</a:t>
            </a:r>
            <a:endParaRPr lang="en-US" altLang="zh-CN" sz="1600" dirty="0">
              <a:solidFill>
                <a:srgbClr val="22228B"/>
              </a:solidFill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2400"/>
              </a:spcBef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Unaware of </a:t>
            </a:r>
            <a:r>
              <a:rPr lang="en-US" altLang="zh-CN" sz="2200" i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dependencies</a:t>
            </a: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between requirements (or use cases)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400"/>
              </a:spcBef>
              <a:buClr>
                <a:srgbClr val="680000"/>
              </a:buClr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Unaware of </a:t>
            </a:r>
            <a:r>
              <a:rPr lang="en-US" altLang="zh-CN" sz="2200" i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incompatible data </a:t>
            </a: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across concepts/modules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spcBef>
                <a:spcPts val="400"/>
              </a:spcBef>
            </a:pPr>
            <a:r>
              <a:rPr lang="en-US" altLang="zh-CN" sz="1900" dirty="0">
                <a:latin typeface="Calibri" panose="020F0502020204030204" pitchFamily="34" charset="0"/>
                <a:ea typeface="宋体" panose="02010600030101010101" pitchFamily="2" charset="-122"/>
              </a:rPr>
              <a:t>Different concepts/modules may receive or output different data formats</a:t>
            </a:r>
            <a:endParaRPr lang="en-US" altLang="zh-CN" sz="19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560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4538" y="4537075"/>
            <a:ext cx="263525" cy="261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4546600"/>
            <a:ext cx="227013" cy="298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Why Domain Modeling?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153025"/>
          </a:xfrm>
        </p:spPr>
        <p:txBody>
          <a:bodyPr vert="horz" wrap="square" lIns="91440" tIns="45720" rIns="91440" bIns="45720" numCol="1" anchor="t" anchorCtr="0" compatLnSpc="1">
            <a:normAutofit fontScale="7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achieve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different things, we need 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different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tasks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Formulated by W.R. Ashby as the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law of requisite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variety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https://en.wikipedia.org/wiki/Variety_(cybernetics)</a:t>
            </a:r>
            <a:endParaRPr kumimoji="0" lang="en-US" sz="2100" b="0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600200" marR="0" lvl="3" indent="-22860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https://en.wikipedia.org/wiki/Good_regulator</a:t>
            </a:r>
            <a:endParaRPr kumimoji="0" lang="en-US" sz="2100" b="0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It’s basically like ensuring that every row in the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traceability matrix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crosses at least one column </a:t>
            </a:r>
            <a:r>
              <a:rPr kumimoji="0" 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(assuming the complete requirements)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problem for the beginners is that they do not know </a:t>
            </a:r>
            <a:r>
              <a:rPr kumimoji="0" 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what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needs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be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achieved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Example: car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steering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problem—the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beginner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not aware of differences between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steering at low and high vehicle speeds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Experienced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developers will at least know or guess some things that are common to many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problems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such as: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generic issues for networks or I/O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devices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5000"/>
              </a:lnSpc>
              <a:spcBef>
                <a:spcPts val="400"/>
              </a:spcBef>
              <a:spcAft>
                <a:spcPct val="0"/>
              </a:spcAft>
              <a:buClr>
                <a:srgbClr val="680000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but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only way to know what is needed is to study the problem domain and get help from domain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experts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7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charRg st="57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4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charRg st="114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6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charRg st="166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1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charRg st="211" end="3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48" end="4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charRg st="348" end="4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29" end="5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charRg st="429" end="5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48" end="6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charRg st="548" end="6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44" end="6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charRg st="644" end="6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96" end="8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charRg st="696" end="8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103"/>
          <p:cNvSpPr txBox="1">
            <a:spLocks noChangeAspect="1"/>
          </p:cNvSpPr>
          <p:nvPr/>
        </p:nvSpPr>
        <p:spPr>
          <a:xfrm>
            <a:off x="101600" y="1466850"/>
            <a:ext cx="7112000" cy="2460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Requirement</a:t>
            </a: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As a driver, I will be able to steer the car left or right to follow the road.</a:t>
            </a:r>
            <a:endParaRPr lang="en-US" altLang="en-US" sz="16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7651" name="Text Box 103"/>
          <p:cNvSpPr txBox="1">
            <a:spLocks noChangeAspect="1"/>
          </p:cNvSpPr>
          <p:nvPr/>
        </p:nvSpPr>
        <p:spPr>
          <a:xfrm>
            <a:off x="1554163" y="3462338"/>
            <a:ext cx="2439987" cy="1698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100" b="0" dirty="0">
                <a:latin typeface="Arial" panose="020B0604020202020204" pitchFamily="34" charset="0"/>
              </a:rPr>
              <a:t>Initiating Actor: Driver + Steering wheel</a:t>
            </a:r>
            <a:endParaRPr lang="en-US" altLang="en-US" sz="1100" b="0" dirty="0">
              <a:latin typeface="Arial" panose="020B0604020202020204" pitchFamily="34" charset="0"/>
            </a:endParaRPr>
          </a:p>
        </p:txBody>
      </p:sp>
      <p:sp>
        <p:nvSpPr>
          <p:cNvPr id="27652" name="Text Box 103"/>
          <p:cNvSpPr txBox="1">
            <a:spLocks noChangeAspect="1"/>
          </p:cNvSpPr>
          <p:nvPr/>
        </p:nvSpPr>
        <p:spPr>
          <a:xfrm>
            <a:off x="5929313" y="3127375"/>
            <a:ext cx="2028825" cy="1698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100" b="0" dirty="0">
                <a:latin typeface="Arial" panose="020B0604020202020204" pitchFamily="34" charset="0"/>
              </a:rPr>
              <a:t>Participating Actor: Front wheels</a:t>
            </a:r>
            <a:endParaRPr lang="en-US" altLang="en-US" sz="1100" b="0" dirty="0">
              <a:latin typeface="Arial" panose="020B0604020202020204" pitchFamily="34" charset="0"/>
            </a:endParaRPr>
          </a:p>
        </p:txBody>
      </p:sp>
      <p:sp>
        <p:nvSpPr>
          <p:cNvPr id="27653" name="Text Box 103"/>
          <p:cNvSpPr txBox="1">
            <a:spLocks noChangeAspect="1"/>
          </p:cNvSpPr>
          <p:nvPr/>
        </p:nvSpPr>
        <p:spPr>
          <a:xfrm>
            <a:off x="3994150" y="1844675"/>
            <a:ext cx="1735138" cy="168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100" b="0" dirty="0">
                <a:latin typeface="Arial" panose="020B0604020202020204" pitchFamily="34" charset="0"/>
              </a:rPr>
              <a:t>“Software”: Steering system</a:t>
            </a:r>
            <a:endParaRPr lang="en-US" altLang="en-US" sz="1100" b="0" dirty="0">
              <a:latin typeface="Arial" panose="020B0604020202020204" pitchFamily="34" charset="0"/>
            </a:endParaRPr>
          </a:p>
        </p:txBody>
      </p:sp>
      <p:sp>
        <p:nvSpPr>
          <p:cNvPr id="2765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Example: Car Steering System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pic>
        <p:nvPicPr>
          <p:cNvPr id="27655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213" y="1895475"/>
            <a:ext cx="1347787" cy="146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6" name="Text Box 103"/>
          <p:cNvSpPr txBox="1">
            <a:spLocks noChangeAspect="1"/>
          </p:cNvSpPr>
          <p:nvPr/>
        </p:nvSpPr>
        <p:spPr>
          <a:xfrm>
            <a:off x="261938" y="3730625"/>
            <a:ext cx="8882062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400" u="sng" dirty="0">
                <a:latin typeface="Calibri" panose="020F0502020204030204" pitchFamily="34" charset="0"/>
                <a:cs typeface="Calibri" panose="020F0502020204030204" pitchFamily="34" charset="0"/>
              </a:rPr>
              <a:t>Solution #1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is derived from the requirement: Simply connect the input (steering wheel) to the output (front axle / car wheels)  ( 1 requirement 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1 concept/module )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27657" name="Group 81"/>
          <p:cNvGrpSpPr>
            <a:grpSpLocks noChangeAspect="1"/>
          </p:cNvGrpSpPr>
          <p:nvPr/>
        </p:nvGrpSpPr>
        <p:grpSpPr>
          <a:xfrm>
            <a:off x="2322513" y="4203700"/>
            <a:ext cx="1733550" cy="815975"/>
            <a:chOff x="861989" y="1847849"/>
            <a:chExt cx="7491399" cy="3522238"/>
          </a:xfrm>
        </p:grpSpPr>
        <p:sp>
          <p:nvSpPr>
            <p:cNvPr id="83" name="Freeform 82"/>
            <p:cNvSpPr/>
            <p:nvPr/>
          </p:nvSpPr>
          <p:spPr bwMode="auto">
            <a:xfrm>
              <a:off x="2789719" y="1847849"/>
              <a:ext cx="1193684" cy="1219763"/>
            </a:xfrm>
            <a:custGeom>
              <a:avLst/>
              <a:gdLst>
                <a:gd name="connsiteX0" fmla="*/ 681038 w 1195388"/>
                <a:gd name="connsiteY0" fmla="*/ 0 h 1221581"/>
                <a:gd name="connsiteX1" fmla="*/ 1195388 w 1195388"/>
                <a:gd name="connsiteY1" fmla="*/ 507206 h 1221581"/>
                <a:gd name="connsiteX2" fmla="*/ 523875 w 1195388"/>
                <a:gd name="connsiteY2" fmla="*/ 1221581 h 1221581"/>
                <a:gd name="connsiteX3" fmla="*/ 0 w 1195388"/>
                <a:gd name="connsiteY3" fmla="*/ 676275 h 1221581"/>
                <a:gd name="connsiteX4" fmla="*/ 681038 w 1195388"/>
                <a:gd name="connsiteY4" fmla="*/ 0 h 1221581"/>
                <a:gd name="connsiteX0-1" fmla="*/ 681038 w 1195388"/>
                <a:gd name="connsiteY0-2" fmla="*/ 1 h 1221582"/>
                <a:gd name="connsiteX1-3" fmla="*/ 1195388 w 1195388"/>
                <a:gd name="connsiteY1-4" fmla="*/ 507207 h 1221582"/>
                <a:gd name="connsiteX2-5" fmla="*/ 523875 w 1195388"/>
                <a:gd name="connsiteY2-6" fmla="*/ 1221582 h 1221582"/>
                <a:gd name="connsiteX3-7" fmla="*/ 0 w 1195388"/>
                <a:gd name="connsiteY3-8" fmla="*/ 676276 h 1221582"/>
                <a:gd name="connsiteX4-9" fmla="*/ 681038 w 1195388"/>
                <a:gd name="connsiteY4-10" fmla="*/ 1 h 1221582"/>
                <a:gd name="connsiteX0-11" fmla="*/ 681038 w 1195388"/>
                <a:gd name="connsiteY0-12" fmla="*/ 1 h 1221582"/>
                <a:gd name="connsiteX1-13" fmla="*/ 1195388 w 1195388"/>
                <a:gd name="connsiteY1-14" fmla="*/ 507207 h 1221582"/>
                <a:gd name="connsiteX2-15" fmla="*/ 523875 w 1195388"/>
                <a:gd name="connsiteY2-16" fmla="*/ 1221582 h 1221582"/>
                <a:gd name="connsiteX3-17" fmla="*/ 0 w 1195388"/>
                <a:gd name="connsiteY3-18" fmla="*/ 676276 h 1221582"/>
                <a:gd name="connsiteX4-19" fmla="*/ 681038 w 1195388"/>
                <a:gd name="connsiteY4-20" fmla="*/ 1 h 1221582"/>
                <a:gd name="connsiteX0-21" fmla="*/ 681038 w 1195388"/>
                <a:gd name="connsiteY0-22" fmla="*/ 1 h 1221582"/>
                <a:gd name="connsiteX1-23" fmla="*/ 1195388 w 1195388"/>
                <a:gd name="connsiteY1-24" fmla="*/ 507207 h 1221582"/>
                <a:gd name="connsiteX2-25" fmla="*/ 523875 w 1195388"/>
                <a:gd name="connsiteY2-26" fmla="*/ 1221582 h 1221582"/>
                <a:gd name="connsiteX3-27" fmla="*/ 0 w 1195388"/>
                <a:gd name="connsiteY3-28" fmla="*/ 676276 h 1221582"/>
                <a:gd name="connsiteX4-29" fmla="*/ 681038 w 1195388"/>
                <a:gd name="connsiteY4-30" fmla="*/ 1 h 1221582"/>
                <a:gd name="connsiteX0-31" fmla="*/ 681038 w 1195388"/>
                <a:gd name="connsiteY0-32" fmla="*/ 1 h 1221582"/>
                <a:gd name="connsiteX1-33" fmla="*/ 1195388 w 1195388"/>
                <a:gd name="connsiteY1-34" fmla="*/ 507207 h 1221582"/>
                <a:gd name="connsiteX2-35" fmla="*/ 523875 w 1195388"/>
                <a:gd name="connsiteY2-36" fmla="*/ 1221582 h 1221582"/>
                <a:gd name="connsiteX3-37" fmla="*/ 0 w 1195388"/>
                <a:gd name="connsiteY3-38" fmla="*/ 676276 h 1221582"/>
                <a:gd name="connsiteX4-39" fmla="*/ 681038 w 1195388"/>
                <a:gd name="connsiteY4-40" fmla="*/ 1 h 1221582"/>
                <a:gd name="connsiteX0-41" fmla="*/ 681038 w 1195388"/>
                <a:gd name="connsiteY0-42" fmla="*/ 1 h 1221582"/>
                <a:gd name="connsiteX1-43" fmla="*/ 1195388 w 1195388"/>
                <a:gd name="connsiteY1-44" fmla="*/ 507207 h 1221582"/>
                <a:gd name="connsiteX2-45" fmla="*/ 523875 w 1195388"/>
                <a:gd name="connsiteY2-46" fmla="*/ 1221582 h 1221582"/>
                <a:gd name="connsiteX3-47" fmla="*/ 0 w 1195388"/>
                <a:gd name="connsiteY3-48" fmla="*/ 676276 h 1221582"/>
                <a:gd name="connsiteX4-49" fmla="*/ 681038 w 1195388"/>
                <a:gd name="connsiteY4-50" fmla="*/ 1 h 1221582"/>
                <a:gd name="connsiteX0-51" fmla="*/ 681044 w 1195394"/>
                <a:gd name="connsiteY0-52" fmla="*/ 1 h 1221582"/>
                <a:gd name="connsiteX1-53" fmla="*/ 1195394 w 1195394"/>
                <a:gd name="connsiteY1-54" fmla="*/ 507207 h 1221582"/>
                <a:gd name="connsiteX2-55" fmla="*/ 523881 w 1195394"/>
                <a:gd name="connsiteY2-56" fmla="*/ 1221582 h 1221582"/>
                <a:gd name="connsiteX3-57" fmla="*/ 6 w 1195394"/>
                <a:gd name="connsiteY3-58" fmla="*/ 676276 h 1221582"/>
                <a:gd name="connsiteX4-59" fmla="*/ 681044 w 1195394"/>
                <a:gd name="connsiteY4-60" fmla="*/ 1 h 1221582"/>
                <a:gd name="connsiteX0-61" fmla="*/ 681044 w 1195394"/>
                <a:gd name="connsiteY0-62" fmla="*/ 1 h 1221582"/>
                <a:gd name="connsiteX1-63" fmla="*/ 1195394 w 1195394"/>
                <a:gd name="connsiteY1-64" fmla="*/ 507207 h 1221582"/>
                <a:gd name="connsiteX2-65" fmla="*/ 523881 w 1195394"/>
                <a:gd name="connsiteY2-66" fmla="*/ 1221582 h 1221582"/>
                <a:gd name="connsiteX3-67" fmla="*/ 6 w 1195394"/>
                <a:gd name="connsiteY3-68" fmla="*/ 676276 h 1221582"/>
                <a:gd name="connsiteX4-69" fmla="*/ 681044 w 1195394"/>
                <a:gd name="connsiteY4-70" fmla="*/ 1 h 1221582"/>
                <a:gd name="connsiteX0-71" fmla="*/ 681044 w 1195394"/>
                <a:gd name="connsiteY0-72" fmla="*/ 1 h 1221582"/>
                <a:gd name="connsiteX1-73" fmla="*/ 1195394 w 1195394"/>
                <a:gd name="connsiteY1-74" fmla="*/ 507207 h 1221582"/>
                <a:gd name="connsiteX2-75" fmla="*/ 523881 w 1195394"/>
                <a:gd name="connsiteY2-76" fmla="*/ 1221582 h 1221582"/>
                <a:gd name="connsiteX3-77" fmla="*/ 6 w 1195394"/>
                <a:gd name="connsiteY3-78" fmla="*/ 676276 h 1221582"/>
                <a:gd name="connsiteX4-79" fmla="*/ 681044 w 1195394"/>
                <a:gd name="connsiteY4-80" fmla="*/ 1 h 1221582"/>
                <a:gd name="connsiteX0-81" fmla="*/ 681044 w 1195394"/>
                <a:gd name="connsiteY0-82" fmla="*/ 1 h 1221582"/>
                <a:gd name="connsiteX1-83" fmla="*/ 1195394 w 1195394"/>
                <a:gd name="connsiteY1-84" fmla="*/ 507207 h 1221582"/>
                <a:gd name="connsiteX2-85" fmla="*/ 523881 w 1195394"/>
                <a:gd name="connsiteY2-86" fmla="*/ 1221582 h 1221582"/>
                <a:gd name="connsiteX3-87" fmla="*/ 6 w 1195394"/>
                <a:gd name="connsiteY3-88" fmla="*/ 676276 h 1221582"/>
                <a:gd name="connsiteX4-89" fmla="*/ 681044 w 1195394"/>
                <a:gd name="connsiteY4-90" fmla="*/ 1 h 1221582"/>
                <a:gd name="connsiteX0-91" fmla="*/ 681044 w 1195394"/>
                <a:gd name="connsiteY0-92" fmla="*/ 1 h 1221582"/>
                <a:gd name="connsiteX1-93" fmla="*/ 1195394 w 1195394"/>
                <a:gd name="connsiteY1-94" fmla="*/ 507207 h 1221582"/>
                <a:gd name="connsiteX2-95" fmla="*/ 523881 w 1195394"/>
                <a:gd name="connsiteY2-96" fmla="*/ 1221582 h 1221582"/>
                <a:gd name="connsiteX3-97" fmla="*/ 6 w 1195394"/>
                <a:gd name="connsiteY3-98" fmla="*/ 676276 h 1221582"/>
                <a:gd name="connsiteX4-99" fmla="*/ 681044 w 1195394"/>
                <a:gd name="connsiteY4-100" fmla="*/ 1 h 1221582"/>
                <a:gd name="connsiteX0-101" fmla="*/ 681044 w 1195394"/>
                <a:gd name="connsiteY0-102" fmla="*/ 1 h 1221582"/>
                <a:gd name="connsiteX1-103" fmla="*/ 1195394 w 1195394"/>
                <a:gd name="connsiteY1-104" fmla="*/ 507207 h 1221582"/>
                <a:gd name="connsiteX2-105" fmla="*/ 523881 w 1195394"/>
                <a:gd name="connsiteY2-106" fmla="*/ 1221582 h 1221582"/>
                <a:gd name="connsiteX3-107" fmla="*/ 6 w 1195394"/>
                <a:gd name="connsiteY3-108" fmla="*/ 676276 h 1221582"/>
                <a:gd name="connsiteX4-109" fmla="*/ 681044 w 1195394"/>
                <a:gd name="connsiteY4-110" fmla="*/ 1 h 1221582"/>
                <a:gd name="connsiteX0-111" fmla="*/ 681044 w 1195394"/>
                <a:gd name="connsiteY0-112" fmla="*/ 1 h 1221582"/>
                <a:gd name="connsiteX1-113" fmla="*/ 1195394 w 1195394"/>
                <a:gd name="connsiteY1-114" fmla="*/ 507207 h 1221582"/>
                <a:gd name="connsiteX2-115" fmla="*/ 523881 w 1195394"/>
                <a:gd name="connsiteY2-116" fmla="*/ 1221582 h 1221582"/>
                <a:gd name="connsiteX3-117" fmla="*/ 6 w 1195394"/>
                <a:gd name="connsiteY3-118" fmla="*/ 676276 h 1221582"/>
                <a:gd name="connsiteX4-119" fmla="*/ 681044 w 1195394"/>
                <a:gd name="connsiteY4-120" fmla="*/ 1 h 1221582"/>
                <a:gd name="connsiteX0-121" fmla="*/ 681044 w 1195394"/>
                <a:gd name="connsiteY0-122" fmla="*/ 1 h 1221590"/>
                <a:gd name="connsiteX1-123" fmla="*/ 1195394 w 1195394"/>
                <a:gd name="connsiteY1-124" fmla="*/ 507207 h 1221590"/>
                <a:gd name="connsiteX2-125" fmla="*/ 523881 w 1195394"/>
                <a:gd name="connsiteY2-126" fmla="*/ 1221582 h 1221590"/>
                <a:gd name="connsiteX3-127" fmla="*/ 6 w 1195394"/>
                <a:gd name="connsiteY3-128" fmla="*/ 676276 h 1221590"/>
                <a:gd name="connsiteX4-129" fmla="*/ 681044 w 1195394"/>
                <a:gd name="connsiteY4-130" fmla="*/ 1 h 1221590"/>
                <a:gd name="connsiteX0-131" fmla="*/ 681044 w 1195394"/>
                <a:gd name="connsiteY0-132" fmla="*/ 1 h 1221592"/>
                <a:gd name="connsiteX1-133" fmla="*/ 1195394 w 1195394"/>
                <a:gd name="connsiteY1-134" fmla="*/ 507207 h 1221592"/>
                <a:gd name="connsiteX2-135" fmla="*/ 523881 w 1195394"/>
                <a:gd name="connsiteY2-136" fmla="*/ 1221582 h 1221592"/>
                <a:gd name="connsiteX3-137" fmla="*/ 6 w 1195394"/>
                <a:gd name="connsiteY3-138" fmla="*/ 676276 h 1221592"/>
                <a:gd name="connsiteX4-139" fmla="*/ 681044 w 1195394"/>
                <a:gd name="connsiteY4-140" fmla="*/ 1 h 1221592"/>
                <a:gd name="connsiteX0-141" fmla="*/ 681044 w 1195394"/>
                <a:gd name="connsiteY0-142" fmla="*/ 1 h 1221868"/>
                <a:gd name="connsiteX1-143" fmla="*/ 1195394 w 1195394"/>
                <a:gd name="connsiteY1-144" fmla="*/ 507207 h 1221868"/>
                <a:gd name="connsiteX2-145" fmla="*/ 523881 w 1195394"/>
                <a:gd name="connsiteY2-146" fmla="*/ 1221582 h 1221868"/>
                <a:gd name="connsiteX3-147" fmla="*/ 6 w 1195394"/>
                <a:gd name="connsiteY3-148" fmla="*/ 676276 h 1221868"/>
                <a:gd name="connsiteX4-149" fmla="*/ 681044 w 1195394"/>
                <a:gd name="connsiteY4-150" fmla="*/ 1 h 1221868"/>
                <a:gd name="connsiteX0-151" fmla="*/ 681044 w 1195394"/>
                <a:gd name="connsiteY0-152" fmla="*/ 1 h 1221893"/>
                <a:gd name="connsiteX1-153" fmla="*/ 1195394 w 1195394"/>
                <a:gd name="connsiteY1-154" fmla="*/ 507207 h 1221893"/>
                <a:gd name="connsiteX2-155" fmla="*/ 523881 w 1195394"/>
                <a:gd name="connsiteY2-156" fmla="*/ 1221582 h 1221893"/>
                <a:gd name="connsiteX3-157" fmla="*/ 6 w 1195394"/>
                <a:gd name="connsiteY3-158" fmla="*/ 676276 h 1221893"/>
                <a:gd name="connsiteX4-159" fmla="*/ 681044 w 1195394"/>
                <a:gd name="connsiteY4-160" fmla="*/ 1 h 1221893"/>
                <a:gd name="connsiteX0-161" fmla="*/ 681044 w 1195394"/>
                <a:gd name="connsiteY0-162" fmla="*/ 1 h 1221751"/>
                <a:gd name="connsiteX1-163" fmla="*/ 1195394 w 1195394"/>
                <a:gd name="connsiteY1-164" fmla="*/ 507207 h 1221751"/>
                <a:gd name="connsiteX2-165" fmla="*/ 523881 w 1195394"/>
                <a:gd name="connsiteY2-166" fmla="*/ 1221582 h 1221751"/>
                <a:gd name="connsiteX3-167" fmla="*/ 6 w 1195394"/>
                <a:gd name="connsiteY3-168" fmla="*/ 676276 h 1221751"/>
                <a:gd name="connsiteX4-169" fmla="*/ 681044 w 1195394"/>
                <a:gd name="connsiteY4-170" fmla="*/ 1 h 1221751"/>
                <a:gd name="connsiteX0-171" fmla="*/ 681044 w 1195394"/>
                <a:gd name="connsiteY0-172" fmla="*/ 1 h 1221649"/>
                <a:gd name="connsiteX1-173" fmla="*/ 1195394 w 1195394"/>
                <a:gd name="connsiteY1-174" fmla="*/ 507207 h 1221649"/>
                <a:gd name="connsiteX2-175" fmla="*/ 523881 w 1195394"/>
                <a:gd name="connsiteY2-176" fmla="*/ 1221582 h 1221649"/>
                <a:gd name="connsiteX3-177" fmla="*/ 6 w 1195394"/>
                <a:gd name="connsiteY3-178" fmla="*/ 676276 h 1221649"/>
                <a:gd name="connsiteX4-179" fmla="*/ 681044 w 1195394"/>
                <a:gd name="connsiteY4-180" fmla="*/ 1 h 1221649"/>
                <a:gd name="connsiteX0-181" fmla="*/ 681044 w 1195394"/>
                <a:gd name="connsiteY0-182" fmla="*/ 1 h 1221660"/>
                <a:gd name="connsiteX1-183" fmla="*/ 1195394 w 1195394"/>
                <a:gd name="connsiteY1-184" fmla="*/ 507207 h 1221660"/>
                <a:gd name="connsiteX2-185" fmla="*/ 523881 w 1195394"/>
                <a:gd name="connsiteY2-186" fmla="*/ 1221582 h 1221660"/>
                <a:gd name="connsiteX3-187" fmla="*/ 6 w 1195394"/>
                <a:gd name="connsiteY3-188" fmla="*/ 676276 h 1221660"/>
                <a:gd name="connsiteX4-189" fmla="*/ 681044 w 1195394"/>
                <a:gd name="connsiteY4-190" fmla="*/ 1 h 1221660"/>
                <a:gd name="connsiteX0-191" fmla="*/ 681044 w 1195394"/>
                <a:gd name="connsiteY0-192" fmla="*/ 1 h 1221595"/>
                <a:gd name="connsiteX1-193" fmla="*/ 1195394 w 1195394"/>
                <a:gd name="connsiteY1-194" fmla="*/ 507207 h 1221595"/>
                <a:gd name="connsiteX2-195" fmla="*/ 523881 w 1195394"/>
                <a:gd name="connsiteY2-196" fmla="*/ 1221582 h 1221595"/>
                <a:gd name="connsiteX3-197" fmla="*/ 6 w 1195394"/>
                <a:gd name="connsiteY3-198" fmla="*/ 676276 h 1221595"/>
                <a:gd name="connsiteX4-199" fmla="*/ 681044 w 1195394"/>
                <a:gd name="connsiteY4-200" fmla="*/ 1 h 1221595"/>
                <a:gd name="connsiteX0-201" fmla="*/ 681044 w 1195394"/>
                <a:gd name="connsiteY0-202" fmla="*/ 1 h 1221599"/>
                <a:gd name="connsiteX1-203" fmla="*/ 1195394 w 1195394"/>
                <a:gd name="connsiteY1-204" fmla="*/ 507207 h 1221599"/>
                <a:gd name="connsiteX2-205" fmla="*/ 523881 w 1195394"/>
                <a:gd name="connsiteY2-206" fmla="*/ 1221582 h 1221599"/>
                <a:gd name="connsiteX3-207" fmla="*/ 6 w 1195394"/>
                <a:gd name="connsiteY3-208" fmla="*/ 676276 h 1221599"/>
                <a:gd name="connsiteX4-209" fmla="*/ 681044 w 1195394"/>
                <a:gd name="connsiteY4-210" fmla="*/ 1 h 1221599"/>
                <a:gd name="connsiteX0-211" fmla="*/ 681044 w 1195394"/>
                <a:gd name="connsiteY0-212" fmla="*/ 1 h 1221582"/>
                <a:gd name="connsiteX1-213" fmla="*/ 1195394 w 1195394"/>
                <a:gd name="connsiteY1-214" fmla="*/ 507207 h 1221582"/>
                <a:gd name="connsiteX2-215" fmla="*/ 523881 w 1195394"/>
                <a:gd name="connsiteY2-216" fmla="*/ 1221582 h 1221582"/>
                <a:gd name="connsiteX3-217" fmla="*/ 6 w 1195394"/>
                <a:gd name="connsiteY3-218" fmla="*/ 676276 h 1221582"/>
                <a:gd name="connsiteX4-219" fmla="*/ 681044 w 1195394"/>
                <a:gd name="connsiteY4-220" fmla="*/ 1 h 1221582"/>
                <a:gd name="connsiteX0-221" fmla="*/ 681044 w 1195394"/>
                <a:gd name="connsiteY0-222" fmla="*/ 1 h 1221582"/>
                <a:gd name="connsiteX1-223" fmla="*/ 1195394 w 1195394"/>
                <a:gd name="connsiteY1-224" fmla="*/ 507207 h 1221582"/>
                <a:gd name="connsiteX2-225" fmla="*/ 523881 w 1195394"/>
                <a:gd name="connsiteY2-226" fmla="*/ 1221582 h 1221582"/>
                <a:gd name="connsiteX3-227" fmla="*/ 6 w 1195394"/>
                <a:gd name="connsiteY3-228" fmla="*/ 676276 h 1221582"/>
                <a:gd name="connsiteX4-229" fmla="*/ 681044 w 1195394"/>
                <a:gd name="connsiteY4-230" fmla="*/ 1 h 1221582"/>
                <a:gd name="connsiteX0-231" fmla="*/ 681044 w 1195394"/>
                <a:gd name="connsiteY0-232" fmla="*/ 1 h 1221582"/>
                <a:gd name="connsiteX1-233" fmla="*/ 1195394 w 1195394"/>
                <a:gd name="connsiteY1-234" fmla="*/ 507207 h 1221582"/>
                <a:gd name="connsiteX2-235" fmla="*/ 523881 w 1195394"/>
                <a:gd name="connsiteY2-236" fmla="*/ 1221582 h 1221582"/>
                <a:gd name="connsiteX3-237" fmla="*/ 6 w 1195394"/>
                <a:gd name="connsiteY3-238" fmla="*/ 676276 h 1221582"/>
                <a:gd name="connsiteX4-239" fmla="*/ 681044 w 1195394"/>
                <a:gd name="connsiteY4-240" fmla="*/ 1 h 1221582"/>
                <a:gd name="connsiteX0-241" fmla="*/ 681044 w 1195394"/>
                <a:gd name="connsiteY0-242" fmla="*/ 1 h 1221601"/>
                <a:gd name="connsiteX1-243" fmla="*/ 1195394 w 1195394"/>
                <a:gd name="connsiteY1-244" fmla="*/ 507207 h 1221601"/>
                <a:gd name="connsiteX2-245" fmla="*/ 523881 w 1195394"/>
                <a:gd name="connsiteY2-246" fmla="*/ 1221582 h 1221601"/>
                <a:gd name="connsiteX3-247" fmla="*/ 6 w 1195394"/>
                <a:gd name="connsiteY3-248" fmla="*/ 676276 h 1221601"/>
                <a:gd name="connsiteX4-249" fmla="*/ 681044 w 1195394"/>
                <a:gd name="connsiteY4-250" fmla="*/ 1 h 122160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95394" h="1221601">
                  <a:moveTo>
                    <a:pt x="681044" y="1"/>
                  </a:moveTo>
                  <a:cubicBezTo>
                    <a:pt x="959650" y="1"/>
                    <a:pt x="1195394" y="209550"/>
                    <a:pt x="1195394" y="507207"/>
                  </a:cubicBezTo>
                  <a:cubicBezTo>
                    <a:pt x="1193012" y="914400"/>
                    <a:pt x="847732" y="1221582"/>
                    <a:pt x="523881" y="1221582"/>
                  </a:cubicBezTo>
                  <a:cubicBezTo>
                    <a:pt x="342112" y="1223170"/>
                    <a:pt x="3180" y="1129507"/>
                    <a:pt x="6" y="676276"/>
                  </a:cubicBezTo>
                  <a:cubicBezTo>
                    <a:pt x="-1580" y="362744"/>
                    <a:pt x="311156" y="-793"/>
                    <a:pt x="681044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95" name="Freeform 83"/>
            <p:cNvSpPr/>
            <p:nvPr/>
          </p:nvSpPr>
          <p:spPr>
            <a:xfrm>
              <a:off x="2871788" y="1928712"/>
              <a:ext cx="1050131" cy="566839"/>
            </a:xfrm>
            <a:custGeom>
              <a:avLst/>
              <a:gdLst>
                <a:gd name="txL" fmla="*/ 0 w 1050131"/>
                <a:gd name="txT" fmla="*/ 0 h 566839"/>
                <a:gd name="txR" fmla="*/ 1050131 w 1050131"/>
                <a:gd name="txB" fmla="*/ 566839 h 566839"/>
              </a:gdLst>
              <a:ahLst/>
              <a:cxnLst>
                <a:cxn ang="0">
                  <a:pos x="28575" y="523977"/>
                </a:cxn>
                <a:cxn ang="0">
                  <a:pos x="0" y="493020"/>
                </a:cxn>
                <a:cxn ang="0">
                  <a:pos x="592931" y="102"/>
                </a:cxn>
                <a:cxn ang="0">
                  <a:pos x="1050131" y="431108"/>
                </a:cxn>
                <a:cxn ang="0">
                  <a:pos x="1033462" y="478733"/>
                </a:cxn>
                <a:cxn ang="0">
                  <a:pos x="678656" y="533502"/>
                </a:cxn>
                <a:cxn ang="0">
                  <a:pos x="600075" y="462064"/>
                </a:cxn>
                <a:cxn ang="0">
                  <a:pos x="440530" y="566839"/>
                </a:cxn>
                <a:cxn ang="0">
                  <a:pos x="28575" y="523977"/>
                </a:cxn>
              </a:cxnLst>
              <a:rect l="txL" t="txT" r="txR" b="txB"/>
              <a:pathLst>
                <a:path w="1050131" h="566839">
                  <a:moveTo>
                    <a:pt x="28575" y="523977"/>
                  </a:moveTo>
                  <a:lnTo>
                    <a:pt x="0" y="493020"/>
                  </a:lnTo>
                  <a:cubicBezTo>
                    <a:pt x="46434" y="223145"/>
                    <a:pt x="315515" y="5658"/>
                    <a:pt x="592931" y="102"/>
                  </a:cubicBezTo>
                  <a:cubicBezTo>
                    <a:pt x="870347" y="-5454"/>
                    <a:pt x="1050528" y="218780"/>
                    <a:pt x="1050131" y="431108"/>
                  </a:cubicBezTo>
                  <a:lnTo>
                    <a:pt x="1033462" y="478733"/>
                  </a:lnTo>
                  <a:lnTo>
                    <a:pt x="678656" y="533502"/>
                  </a:lnTo>
                  <a:lnTo>
                    <a:pt x="600075" y="462064"/>
                  </a:lnTo>
                  <a:cubicBezTo>
                    <a:pt x="531812" y="444602"/>
                    <a:pt x="451642" y="465238"/>
                    <a:pt x="440530" y="566839"/>
                  </a:cubicBezTo>
                  <a:lnTo>
                    <a:pt x="28575" y="523977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96" name="Freeform 84"/>
            <p:cNvSpPr/>
            <p:nvPr/>
          </p:nvSpPr>
          <p:spPr>
            <a:xfrm flipH="1" flipV="1">
              <a:off x="2859884" y="2512582"/>
              <a:ext cx="840580" cy="487130"/>
            </a:xfrm>
            <a:custGeom>
              <a:avLst/>
              <a:gdLst>
                <a:gd name="txL" fmla="*/ 0 w 840580"/>
                <a:gd name="txT" fmla="*/ 0 h 487130"/>
                <a:gd name="txR" fmla="*/ 840580 w 840580"/>
                <a:gd name="txB" fmla="*/ 487130 h 487130"/>
              </a:gdLst>
              <a:ahLst/>
              <a:cxnLst>
                <a:cxn ang="0">
                  <a:pos x="219073" y="360923"/>
                </a:cxn>
                <a:cxn ang="0">
                  <a:pos x="0" y="148992"/>
                </a:cxn>
                <a:cxn ang="0">
                  <a:pos x="840580" y="460936"/>
                </a:cxn>
                <a:cxn ang="0">
                  <a:pos x="807242" y="487130"/>
                </a:cxn>
                <a:cxn ang="0">
                  <a:pos x="340518" y="422836"/>
                </a:cxn>
                <a:cxn ang="0">
                  <a:pos x="266699" y="349017"/>
                </a:cxn>
                <a:cxn ang="0">
                  <a:pos x="219073" y="360923"/>
                </a:cxn>
              </a:cxnLst>
              <a:rect l="txL" t="txT" r="txR" b="txB"/>
              <a:pathLst>
                <a:path w="840580" h="487130">
                  <a:moveTo>
                    <a:pt x="219073" y="360923"/>
                  </a:moveTo>
                  <a:lnTo>
                    <a:pt x="0" y="148992"/>
                  </a:lnTo>
                  <a:cubicBezTo>
                    <a:pt x="224234" y="-85958"/>
                    <a:pt x="827881" y="-85163"/>
                    <a:pt x="840580" y="460936"/>
                  </a:cubicBezTo>
                  <a:lnTo>
                    <a:pt x="807242" y="487130"/>
                  </a:lnTo>
                  <a:lnTo>
                    <a:pt x="340518" y="422836"/>
                  </a:lnTo>
                  <a:lnTo>
                    <a:pt x="266699" y="349017"/>
                  </a:lnTo>
                  <a:cubicBezTo>
                    <a:pt x="246061" y="345842"/>
                    <a:pt x="218279" y="347428"/>
                    <a:pt x="219073" y="360923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97" name="Freeform 85"/>
            <p:cNvSpPr/>
            <p:nvPr/>
          </p:nvSpPr>
          <p:spPr>
            <a:xfrm>
              <a:off x="3600449" y="2478880"/>
              <a:ext cx="314325" cy="264319"/>
            </a:xfrm>
            <a:custGeom>
              <a:avLst/>
              <a:gdLst>
                <a:gd name="txL" fmla="*/ 0 w 314325"/>
                <a:gd name="txT" fmla="*/ 0 h 264319"/>
                <a:gd name="txR" fmla="*/ 314325 w 314325"/>
                <a:gd name="txB" fmla="*/ 264319 h 264319"/>
              </a:gdLst>
              <a:ahLst/>
              <a:cxnLst>
                <a:cxn ang="0">
                  <a:pos x="0" y="69057"/>
                </a:cxn>
                <a:cxn ang="0">
                  <a:pos x="290513" y="0"/>
                </a:cxn>
                <a:cxn ang="0">
                  <a:pos x="314325" y="21431"/>
                </a:cxn>
                <a:cxn ang="0">
                  <a:pos x="200026" y="264319"/>
                </a:cxn>
                <a:cxn ang="0">
                  <a:pos x="0" y="69057"/>
                </a:cxn>
              </a:cxnLst>
              <a:rect l="txL" t="txT" r="txR" b="txB"/>
              <a:pathLst>
                <a:path w="314325" h="264319">
                  <a:moveTo>
                    <a:pt x="0" y="69057"/>
                  </a:moveTo>
                  <a:lnTo>
                    <a:pt x="290513" y="0"/>
                  </a:lnTo>
                  <a:lnTo>
                    <a:pt x="314325" y="21431"/>
                  </a:lnTo>
                  <a:cubicBezTo>
                    <a:pt x="282577" y="128588"/>
                    <a:pt x="255588" y="185737"/>
                    <a:pt x="200026" y="264319"/>
                  </a:cubicBezTo>
                  <a:lnTo>
                    <a:pt x="0" y="69057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" name="Freeform 86"/>
            <p:cNvSpPr/>
            <p:nvPr/>
          </p:nvSpPr>
          <p:spPr bwMode="auto">
            <a:xfrm>
              <a:off x="3304240" y="2382352"/>
              <a:ext cx="1708201" cy="1528133"/>
            </a:xfrm>
            <a:custGeom>
              <a:avLst/>
              <a:gdLst>
                <a:gd name="connsiteX0" fmla="*/ 0 w 319088"/>
                <a:gd name="connsiteY0" fmla="*/ 69057 h 271463"/>
                <a:gd name="connsiteX1" fmla="*/ 290513 w 319088"/>
                <a:gd name="connsiteY1" fmla="*/ 0 h 271463"/>
                <a:gd name="connsiteX2" fmla="*/ 319088 w 319088"/>
                <a:gd name="connsiteY2" fmla="*/ 26194 h 271463"/>
                <a:gd name="connsiteX3" fmla="*/ 204788 w 319088"/>
                <a:gd name="connsiteY3" fmla="*/ 271463 h 271463"/>
                <a:gd name="connsiteX4" fmla="*/ 0 w 319088"/>
                <a:gd name="connsiteY4" fmla="*/ 69057 h 271463"/>
                <a:gd name="connsiteX0-1" fmla="*/ 0 w 314325"/>
                <a:gd name="connsiteY0-2" fmla="*/ 69057 h 271463"/>
                <a:gd name="connsiteX1-3" fmla="*/ 290513 w 314325"/>
                <a:gd name="connsiteY1-4" fmla="*/ 0 h 271463"/>
                <a:gd name="connsiteX2-5" fmla="*/ 314325 w 314325"/>
                <a:gd name="connsiteY2-6" fmla="*/ 21431 h 271463"/>
                <a:gd name="connsiteX3-7" fmla="*/ 204788 w 314325"/>
                <a:gd name="connsiteY3-8" fmla="*/ 271463 h 271463"/>
                <a:gd name="connsiteX4-9" fmla="*/ 0 w 314325"/>
                <a:gd name="connsiteY4-10" fmla="*/ 69057 h 271463"/>
                <a:gd name="connsiteX0-11" fmla="*/ 0 w 314325"/>
                <a:gd name="connsiteY0-12" fmla="*/ 69057 h 271463"/>
                <a:gd name="connsiteX1-13" fmla="*/ 290513 w 314325"/>
                <a:gd name="connsiteY1-14" fmla="*/ 0 h 271463"/>
                <a:gd name="connsiteX2-15" fmla="*/ 314325 w 314325"/>
                <a:gd name="connsiteY2-16" fmla="*/ 21431 h 271463"/>
                <a:gd name="connsiteX3-17" fmla="*/ 204788 w 314325"/>
                <a:gd name="connsiteY3-18" fmla="*/ 271463 h 271463"/>
                <a:gd name="connsiteX4-19" fmla="*/ 0 w 314325"/>
                <a:gd name="connsiteY4-20" fmla="*/ 69057 h 271463"/>
                <a:gd name="connsiteX0-21" fmla="*/ 0 w 314325"/>
                <a:gd name="connsiteY0-22" fmla="*/ 69057 h 271463"/>
                <a:gd name="connsiteX1-23" fmla="*/ 290513 w 314325"/>
                <a:gd name="connsiteY1-24" fmla="*/ 0 h 271463"/>
                <a:gd name="connsiteX2-25" fmla="*/ 314325 w 314325"/>
                <a:gd name="connsiteY2-26" fmla="*/ 21431 h 271463"/>
                <a:gd name="connsiteX3-27" fmla="*/ 204788 w 314325"/>
                <a:gd name="connsiteY3-28" fmla="*/ 271463 h 271463"/>
                <a:gd name="connsiteX4-29" fmla="*/ 0 w 314325"/>
                <a:gd name="connsiteY4-30" fmla="*/ 69057 h 271463"/>
                <a:gd name="connsiteX0-31" fmla="*/ 0 w 314325"/>
                <a:gd name="connsiteY0-32" fmla="*/ 69057 h 271463"/>
                <a:gd name="connsiteX1-33" fmla="*/ 290513 w 314325"/>
                <a:gd name="connsiteY1-34" fmla="*/ 0 h 271463"/>
                <a:gd name="connsiteX2-35" fmla="*/ 314325 w 314325"/>
                <a:gd name="connsiteY2-36" fmla="*/ 21431 h 271463"/>
                <a:gd name="connsiteX3-37" fmla="*/ 204788 w 314325"/>
                <a:gd name="connsiteY3-38" fmla="*/ 271463 h 271463"/>
                <a:gd name="connsiteX4-39" fmla="*/ 0 w 314325"/>
                <a:gd name="connsiteY4-40" fmla="*/ 69057 h 271463"/>
                <a:gd name="connsiteX0-41" fmla="*/ 0 w 314325"/>
                <a:gd name="connsiteY0-42" fmla="*/ 69057 h 266700"/>
                <a:gd name="connsiteX1-43" fmla="*/ 290513 w 314325"/>
                <a:gd name="connsiteY1-44" fmla="*/ 0 h 266700"/>
                <a:gd name="connsiteX2-45" fmla="*/ 314325 w 314325"/>
                <a:gd name="connsiteY2-46" fmla="*/ 21431 h 266700"/>
                <a:gd name="connsiteX3-47" fmla="*/ 202407 w 314325"/>
                <a:gd name="connsiteY3-48" fmla="*/ 266700 h 266700"/>
                <a:gd name="connsiteX4-49" fmla="*/ 0 w 314325"/>
                <a:gd name="connsiteY4-50" fmla="*/ 69057 h 266700"/>
                <a:gd name="connsiteX0-51" fmla="*/ 0 w 314325"/>
                <a:gd name="connsiteY0-52" fmla="*/ 69057 h 266700"/>
                <a:gd name="connsiteX1-53" fmla="*/ 290513 w 314325"/>
                <a:gd name="connsiteY1-54" fmla="*/ 0 h 266700"/>
                <a:gd name="connsiteX2-55" fmla="*/ 314325 w 314325"/>
                <a:gd name="connsiteY2-56" fmla="*/ 21431 h 266700"/>
                <a:gd name="connsiteX3-57" fmla="*/ 202407 w 314325"/>
                <a:gd name="connsiteY3-58" fmla="*/ 266700 h 266700"/>
                <a:gd name="connsiteX4-59" fmla="*/ 0 w 314325"/>
                <a:gd name="connsiteY4-60" fmla="*/ 69057 h 266700"/>
                <a:gd name="connsiteX0-61" fmla="*/ 0 w 314325"/>
                <a:gd name="connsiteY0-62" fmla="*/ 69057 h 266700"/>
                <a:gd name="connsiteX1-63" fmla="*/ 290513 w 314325"/>
                <a:gd name="connsiteY1-64" fmla="*/ 0 h 266700"/>
                <a:gd name="connsiteX2-65" fmla="*/ 314325 w 314325"/>
                <a:gd name="connsiteY2-66" fmla="*/ 21431 h 266700"/>
                <a:gd name="connsiteX3-67" fmla="*/ 202407 w 314325"/>
                <a:gd name="connsiteY3-68" fmla="*/ 266700 h 266700"/>
                <a:gd name="connsiteX4-69" fmla="*/ 0 w 314325"/>
                <a:gd name="connsiteY4-70" fmla="*/ 69057 h 266700"/>
                <a:gd name="connsiteX0-71" fmla="*/ 0 w 314325"/>
                <a:gd name="connsiteY0-72" fmla="*/ 69057 h 264319"/>
                <a:gd name="connsiteX1-73" fmla="*/ 290513 w 314325"/>
                <a:gd name="connsiteY1-74" fmla="*/ 0 h 264319"/>
                <a:gd name="connsiteX2-75" fmla="*/ 314325 w 314325"/>
                <a:gd name="connsiteY2-76" fmla="*/ 21431 h 264319"/>
                <a:gd name="connsiteX3-77" fmla="*/ 200026 w 314325"/>
                <a:gd name="connsiteY3-78" fmla="*/ 264319 h 264319"/>
                <a:gd name="connsiteX4-79" fmla="*/ 0 w 314325"/>
                <a:gd name="connsiteY4-80" fmla="*/ 69057 h 264319"/>
                <a:gd name="connsiteX0-81" fmla="*/ 0 w 981527"/>
                <a:gd name="connsiteY0-82" fmla="*/ 69057 h 952404"/>
                <a:gd name="connsiteX1-83" fmla="*/ 290513 w 981527"/>
                <a:gd name="connsiteY1-84" fmla="*/ 0 h 952404"/>
                <a:gd name="connsiteX2-85" fmla="*/ 314325 w 981527"/>
                <a:gd name="connsiteY2-86" fmla="*/ 21431 h 952404"/>
                <a:gd name="connsiteX3-87" fmla="*/ 981144 w 981527"/>
                <a:gd name="connsiteY3-88" fmla="*/ 950710 h 952404"/>
                <a:gd name="connsiteX4-89" fmla="*/ 200026 w 981527"/>
                <a:gd name="connsiteY4-90" fmla="*/ 264319 h 952404"/>
                <a:gd name="connsiteX5" fmla="*/ 0 w 981527"/>
                <a:gd name="connsiteY5" fmla="*/ 69057 h 952404"/>
                <a:gd name="connsiteX0-91" fmla="*/ 0 w 981527"/>
                <a:gd name="connsiteY0-92" fmla="*/ 126207 h 1009554"/>
                <a:gd name="connsiteX1-93" fmla="*/ 178594 w 981527"/>
                <a:gd name="connsiteY1-94" fmla="*/ 0 h 1009554"/>
                <a:gd name="connsiteX2-95" fmla="*/ 314325 w 981527"/>
                <a:gd name="connsiteY2-96" fmla="*/ 78581 h 1009554"/>
                <a:gd name="connsiteX3-97" fmla="*/ 981144 w 981527"/>
                <a:gd name="connsiteY3-98" fmla="*/ 1007860 h 1009554"/>
                <a:gd name="connsiteX4-99" fmla="*/ 200026 w 981527"/>
                <a:gd name="connsiteY4-100" fmla="*/ 321469 h 1009554"/>
                <a:gd name="connsiteX5-101" fmla="*/ 0 w 981527"/>
                <a:gd name="connsiteY5-102" fmla="*/ 126207 h 1009554"/>
                <a:gd name="connsiteX0-103" fmla="*/ 0 w 969621"/>
                <a:gd name="connsiteY0-104" fmla="*/ 123826 h 1009554"/>
                <a:gd name="connsiteX1-105" fmla="*/ 166688 w 969621"/>
                <a:gd name="connsiteY1-106" fmla="*/ 0 h 1009554"/>
                <a:gd name="connsiteX2-107" fmla="*/ 302419 w 969621"/>
                <a:gd name="connsiteY2-108" fmla="*/ 78581 h 1009554"/>
                <a:gd name="connsiteX3-109" fmla="*/ 969238 w 969621"/>
                <a:gd name="connsiteY3-110" fmla="*/ 1007860 h 1009554"/>
                <a:gd name="connsiteX4-111" fmla="*/ 188120 w 969621"/>
                <a:gd name="connsiteY4-112" fmla="*/ 321469 h 1009554"/>
                <a:gd name="connsiteX5-113" fmla="*/ 0 w 969621"/>
                <a:gd name="connsiteY5-114" fmla="*/ 123826 h 1009554"/>
                <a:gd name="connsiteX0-115" fmla="*/ 0 w 969621"/>
                <a:gd name="connsiteY0-116" fmla="*/ 123826 h 1009554"/>
                <a:gd name="connsiteX1-117" fmla="*/ 166688 w 969621"/>
                <a:gd name="connsiteY1-118" fmla="*/ 0 h 1009554"/>
                <a:gd name="connsiteX2-119" fmla="*/ 302419 w 969621"/>
                <a:gd name="connsiteY2-120" fmla="*/ 78581 h 1009554"/>
                <a:gd name="connsiteX3-121" fmla="*/ 969238 w 969621"/>
                <a:gd name="connsiteY3-122" fmla="*/ 1007860 h 1009554"/>
                <a:gd name="connsiteX4-123" fmla="*/ 188120 w 969621"/>
                <a:gd name="connsiteY4-124" fmla="*/ 321469 h 1009554"/>
                <a:gd name="connsiteX5-125" fmla="*/ 0 w 969621"/>
                <a:gd name="connsiteY5-126" fmla="*/ 123826 h 1009554"/>
                <a:gd name="connsiteX0-127" fmla="*/ 0 w 969621"/>
                <a:gd name="connsiteY0-128" fmla="*/ 123826 h 1009554"/>
                <a:gd name="connsiteX1-129" fmla="*/ 166688 w 969621"/>
                <a:gd name="connsiteY1-130" fmla="*/ 0 h 1009554"/>
                <a:gd name="connsiteX2-131" fmla="*/ 302419 w 969621"/>
                <a:gd name="connsiteY2-132" fmla="*/ 78581 h 1009554"/>
                <a:gd name="connsiteX3-133" fmla="*/ 969238 w 969621"/>
                <a:gd name="connsiteY3-134" fmla="*/ 1007860 h 1009554"/>
                <a:gd name="connsiteX4-135" fmla="*/ 188120 w 969621"/>
                <a:gd name="connsiteY4-136" fmla="*/ 321469 h 1009554"/>
                <a:gd name="connsiteX5-137" fmla="*/ 0 w 969621"/>
                <a:gd name="connsiteY5-138" fmla="*/ 123826 h 1009554"/>
                <a:gd name="connsiteX0-139" fmla="*/ 0 w 969621"/>
                <a:gd name="connsiteY0-140" fmla="*/ 126343 h 1012071"/>
                <a:gd name="connsiteX1-141" fmla="*/ 166688 w 969621"/>
                <a:gd name="connsiteY1-142" fmla="*/ 2517 h 1012071"/>
                <a:gd name="connsiteX2-143" fmla="*/ 302419 w 969621"/>
                <a:gd name="connsiteY2-144" fmla="*/ 81098 h 1012071"/>
                <a:gd name="connsiteX3-145" fmla="*/ 969238 w 969621"/>
                <a:gd name="connsiteY3-146" fmla="*/ 1010377 h 1012071"/>
                <a:gd name="connsiteX4-147" fmla="*/ 188120 w 969621"/>
                <a:gd name="connsiteY4-148" fmla="*/ 323986 h 1012071"/>
                <a:gd name="connsiteX5-149" fmla="*/ 0 w 969621"/>
                <a:gd name="connsiteY5-150" fmla="*/ 126343 h 1012071"/>
                <a:gd name="connsiteX0-151" fmla="*/ 0 w 962478"/>
                <a:gd name="connsiteY0-152" fmla="*/ 126343 h 1012071"/>
                <a:gd name="connsiteX1-153" fmla="*/ 159545 w 962478"/>
                <a:gd name="connsiteY1-154" fmla="*/ 2517 h 1012071"/>
                <a:gd name="connsiteX2-155" fmla="*/ 295276 w 962478"/>
                <a:gd name="connsiteY2-156" fmla="*/ 81098 h 1012071"/>
                <a:gd name="connsiteX3-157" fmla="*/ 962095 w 962478"/>
                <a:gd name="connsiteY3-158" fmla="*/ 1010377 h 1012071"/>
                <a:gd name="connsiteX4-159" fmla="*/ 180977 w 962478"/>
                <a:gd name="connsiteY4-160" fmla="*/ 323986 h 1012071"/>
                <a:gd name="connsiteX5-161" fmla="*/ 0 w 962478"/>
                <a:gd name="connsiteY5-162" fmla="*/ 126343 h 1012071"/>
                <a:gd name="connsiteX0-163" fmla="*/ 0 w 962478"/>
                <a:gd name="connsiteY0-164" fmla="*/ 125884 h 1011612"/>
                <a:gd name="connsiteX1-165" fmla="*/ 159545 w 962478"/>
                <a:gd name="connsiteY1-166" fmla="*/ 2058 h 1011612"/>
                <a:gd name="connsiteX2-167" fmla="*/ 295276 w 962478"/>
                <a:gd name="connsiteY2-168" fmla="*/ 80639 h 1011612"/>
                <a:gd name="connsiteX3-169" fmla="*/ 962095 w 962478"/>
                <a:gd name="connsiteY3-170" fmla="*/ 1009918 h 1011612"/>
                <a:gd name="connsiteX4-171" fmla="*/ 180977 w 962478"/>
                <a:gd name="connsiteY4-172" fmla="*/ 323527 h 1011612"/>
                <a:gd name="connsiteX5-173" fmla="*/ 0 w 962478"/>
                <a:gd name="connsiteY5-174" fmla="*/ 125884 h 1011612"/>
                <a:gd name="connsiteX0-175" fmla="*/ 0 w 962462"/>
                <a:gd name="connsiteY0-176" fmla="*/ 125884 h 1011612"/>
                <a:gd name="connsiteX1-177" fmla="*/ 159545 w 962462"/>
                <a:gd name="connsiteY1-178" fmla="*/ 2058 h 1011612"/>
                <a:gd name="connsiteX2-179" fmla="*/ 264320 w 962462"/>
                <a:gd name="connsiteY2-180" fmla="*/ 97308 h 1011612"/>
                <a:gd name="connsiteX3-181" fmla="*/ 962095 w 962462"/>
                <a:gd name="connsiteY3-182" fmla="*/ 1009918 h 1011612"/>
                <a:gd name="connsiteX4-183" fmla="*/ 180977 w 962462"/>
                <a:gd name="connsiteY4-184" fmla="*/ 323527 h 1011612"/>
                <a:gd name="connsiteX5-185" fmla="*/ 0 w 962462"/>
                <a:gd name="connsiteY5-186" fmla="*/ 125884 h 1011612"/>
                <a:gd name="connsiteX0-187" fmla="*/ 0 w 964842"/>
                <a:gd name="connsiteY0-188" fmla="*/ 125884 h 1010000"/>
                <a:gd name="connsiteX1-189" fmla="*/ 159545 w 964842"/>
                <a:gd name="connsiteY1-190" fmla="*/ 2058 h 1010000"/>
                <a:gd name="connsiteX2-191" fmla="*/ 264320 w 964842"/>
                <a:gd name="connsiteY2-192" fmla="*/ 97308 h 1010000"/>
                <a:gd name="connsiteX3-193" fmla="*/ 297726 w 964842"/>
                <a:gd name="connsiteY3-194" fmla="*/ 166955 h 1010000"/>
                <a:gd name="connsiteX4-195" fmla="*/ 962095 w 964842"/>
                <a:gd name="connsiteY4-196" fmla="*/ 1009918 h 1010000"/>
                <a:gd name="connsiteX5-197" fmla="*/ 180977 w 964842"/>
                <a:gd name="connsiteY5-198" fmla="*/ 323527 h 1010000"/>
                <a:gd name="connsiteX6" fmla="*/ 0 w 964842"/>
                <a:gd name="connsiteY6" fmla="*/ 125884 h 1010000"/>
                <a:gd name="connsiteX0-199" fmla="*/ 962095 w 1053535"/>
                <a:gd name="connsiteY0-200" fmla="*/ 1009918 h 1101358"/>
                <a:gd name="connsiteX1-201" fmla="*/ 180977 w 1053535"/>
                <a:gd name="connsiteY1-202" fmla="*/ 323527 h 1101358"/>
                <a:gd name="connsiteX2-203" fmla="*/ 0 w 1053535"/>
                <a:gd name="connsiteY2-204" fmla="*/ 125884 h 1101358"/>
                <a:gd name="connsiteX3-205" fmla="*/ 159545 w 1053535"/>
                <a:gd name="connsiteY3-206" fmla="*/ 2058 h 1101358"/>
                <a:gd name="connsiteX4-207" fmla="*/ 264320 w 1053535"/>
                <a:gd name="connsiteY4-208" fmla="*/ 97308 h 1101358"/>
                <a:gd name="connsiteX5-209" fmla="*/ 297726 w 1053535"/>
                <a:gd name="connsiteY5-210" fmla="*/ 166955 h 1101358"/>
                <a:gd name="connsiteX6-211" fmla="*/ 1053535 w 1053535"/>
                <a:gd name="connsiteY6-212" fmla="*/ 1101358 h 1101358"/>
                <a:gd name="connsiteX0-213" fmla="*/ 962095 w 1079728"/>
                <a:gd name="connsiteY0-214" fmla="*/ 1009918 h 1009918"/>
                <a:gd name="connsiteX1-215" fmla="*/ 180977 w 1079728"/>
                <a:gd name="connsiteY1-216" fmla="*/ 323527 h 1009918"/>
                <a:gd name="connsiteX2-217" fmla="*/ 0 w 1079728"/>
                <a:gd name="connsiteY2-218" fmla="*/ 125884 h 1009918"/>
                <a:gd name="connsiteX3-219" fmla="*/ 159545 w 1079728"/>
                <a:gd name="connsiteY3-220" fmla="*/ 2058 h 1009918"/>
                <a:gd name="connsiteX4-221" fmla="*/ 264320 w 1079728"/>
                <a:gd name="connsiteY4-222" fmla="*/ 97308 h 1009918"/>
                <a:gd name="connsiteX5-223" fmla="*/ 297726 w 1079728"/>
                <a:gd name="connsiteY5-224" fmla="*/ 166955 h 1009918"/>
                <a:gd name="connsiteX6-225" fmla="*/ 1079728 w 1079728"/>
                <a:gd name="connsiteY6-226" fmla="*/ 932289 h 1009918"/>
                <a:gd name="connsiteX0-227" fmla="*/ 962095 w 1079728"/>
                <a:gd name="connsiteY0-228" fmla="*/ 1009918 h 1009918"/>
                <a:gd name="connsiteX1-229" fmla="*/ 180977 w 1079728"/>
                <a:gd name="connsiteY1-230" fmla="*/ 323527 h 1009918"/>
                <a:gd name="connsiteX2-231" fmla="*/ 0 w 1079728"/>
                <a:gd name="connsiteY2-232" fmla="*/ 125884 h 1009918"/>
                <a:gd name="connsiteX3-233" fmla="*/ 159545 w 1079728"/>
                <a:gd name="connsiteY3-234" fmla="*/ 2058 h 1009918"/>
                <a:gd name="connsiteX4-235" fmla="*/ 264320 w 1079728"/>
                <a:gd name="connsiteY4-236" fmla="*/ 97308 h 1009918"/>
                <a:gd name="connsiteX5-237" fmla="*/ 297726 w 1079728"/>
                <a:gd name="connsiteY5-238" fmla="*/ 166955 h 1009918"/>
                <a:gd name="connsiteX6-239" fmla="*/ 1079728 w 1079728"/>
                <a:gd name="connsiteY6-240" fmla="*/ 932289 h 1009918"/>
                <a:gd name="connsiteX0-241" fmla="*/ 962095 w 1079728"/>
                <a:gd name="connsiteY0-242" fmla="*/ 1009918 h 1009918"/>
                <a:gd name="connsiteX1-243" fmla="*/ 180977 w 1079728"/>
                <a:gd name="connsiteY1-244" fmla="*/ 323527 h 1009918"/>
                <a:gd name="connsiteX2-245" fmla="*/ 0 w 1079728"/>
                <a:gd name="connsiteY2-246" fmla="*/ 125884 h 1009918"/>
                <a:gd name="connsiteX3-247" fmla="*/ 159545 w 1079728"/>
                <a:gd name="connsiteY3-248" fmla="*/ 2058 h 1009918"/>
                <a:gd name="connsiteX4-249" fmla="*/ 264320 w 1079728"/>
                <a:gd name="connsiteY4-250" fmla="*/ 97308 h 1009918"/>
                <a:gd name="connsiteX5-251" fmla="*/ 283438 w 1079728"/>
                <a:gd name="connsiteY5-252" fmla="*/ 157430 h 1009918"/>
                <a:gd name="connsiteX6-253" fmla="*/ 1079728 w 1079728"/>
                <a:gd name="connsiteY6-254" fmla="*/ 932289 h 1009918"/>
                <a:gd name="connsiteX0-255" fmla="*/ 962095 w 1079728"/>
                <a:gd name="connsiteY0-256" fmla="*/ 1009918 h 1009918"/>
                <a:gd name="connsiteX1-257" fmla="*/ 180977 w 1079728"/>
                <a:gd name="connsiteY1-258" fmla="*/ 323527 h 1009918"/>
                <a:gd name="connsiteX2-259" fmla="*/ 0 w 1079728"/>
                <a:gd name="connsiteY2-260" fmla="*/ 125884 h 1009918"/>
                <a:gd name="connsiteX3-261" fmla="*/ 159545 w 1079728"/>
                <a:gd name="connsiteY3-262" fmla="*/ 2058 h 1009918"/>
                <a:gd name="connsiteX4-263" fmla="*/ 264320 w 1079728"/>
                <a:gd name="connsiteY4-264" fmla="*/ 97308 h 1009918"/>
                <a:gd name="connsiteX5-265" fmla="*/ 285819 w 1079728"/>
                <a:gd name="connsiteY5-266" fmla="*/ 152667 h 1009918"/>
                <a:gd name="connsiteX6-267" fmla="*/ 1079728 w 1079728"/>
                <a:gd name="connsiteY6-268" fmla="*/ 932289 h 1009918"/>
                <a:gd name="connsiteX0-269" fmla="*/ 962095 w 1079728"/>
                <a:gd name="connsiteY0-270" fmla="*/ 1009918 h 1009918"/>
                <a:gd name="connsiteX1-271" fmla="*/ 180977 w 1079728"/>
                <a:gd name="connsiteY1-272" fmla="*/ 323527 h 1009918"/>
                <a:gd name="connsiteX2-273" fmla="*/ 0 w 1079728"/>
                <a:gd name="connsiteY2-274" fmla="*/ 125884 h 1009918"/>
                <a:gd name="connsiteX3-275" fmla="*/ 159545 w 1079728"/>
                <a:gd name="connsiteY3-276" fmla="*/ 2058 h 1009918"/>
                <a:gd name="connsiteX4-277" fmla="*/ 264320 w 1079728"/>
                <a:gd name="connsiteY4-278" fmla="*/ 97308 h 1009918"/>
                <a:gd name="connsiteX5-279" fmla="*/ 285819 w 1079728"/>
                <a:gd name="connsiteY5-280" fmla="*/ 152667 h 1009918"/>
                <a:gd name="connsiteX6-281" fmla="*/ 1079728 w 1079728"/>
                <a:gd name="connsiteY6-282" fmla="*/ 932289 h 1009918"/>
                <a:gd name="connsiteX0-283" fmla="*/ 962095 w 1079728"/>
                <a:gd name="connsiteY0-284" fmla="*/ 1009918 h 1009918"/>
                <a:gd name="connsiteX1-285" fmla="*/ 130971 w 1079728"/>
                <a:gd name="connsiteY1-286" fmla="*/ 268758 h 1009918"/>
                <a:gd name="connsiteX2-287" fmla="*/ 0 w 1079728"/>
                <a:gd name="connsiteY2-288" fmla="*/ 125884 h 1009918"/>
                <a:gd name="connsiteX3-289" fmla="*/ 159545 w 1079728"/>
                <a:gd name="connsiteY3-290" fmla="*/ 2058 h 1009918"/>
                <a:gd name="connsiteX4-291" fmla="*/ 264320 w 1079728"/>
                <a:gd name="connsiteY4-292" fmla="*/ 97308 h 1009918"/>
                <a:gd name="connsiteX5-293" fmla="*/ 285819 w 1079728"/>
                <a:gd name="connsiteY5-294" fmla="*/ 152667 h 1009918"/>
                <a:gd name="connsiteX6-295" fmla="*/ 1079728 w 1079728"/>
                <a:gd name="connsiteY6-296" fmla="*/ 932289 h 1009918"/>
                <a:gd name="connsiteX0-297" fmla="*/ 962095 w 1079728"/>
                <a:gd name="connsiteY0-298" fmla="*/ 1009918 h 1009918"/>
                <a:gd name="connsiteX1-299" fmla="*/ 130971 w 1079728"/>
                <a:gd name="connsiteY1-300" fmla="*/ 268758 h 1009918"/>
                <a:gd name="connsiteX2-301" fmla="*/ 0 w 1079728"/>
                <a:gd name="connsiteY2-302" fmla="*/ 125884 h 1009918"/>
                <a:gd name="connsiteX3-303" fmla="*/ 159545 w 1079728"/>
                <a:gd name="connsiteY3-304" fmla="*/ 2058 h 1009918"/>
                <a:gd name="connsiteX4-305" fmla="*/ 264320 w 1079728"/>
                <a:gd name="connsiteY4-306" fmla="*/ 97308 h 1009918"/>
                <a:gd name="connsiteX5-307" fmla="*/ 285819 w 1079728"/>
                <a:gd name="connsiteY5-308" fmla="*/ 152667 h 1009918"/>
                <a:gd name="connsiteX6-309" fmla="*/ 1079728 w 1079728"/>
                <a:gd name="connsiteY6-310" fmla="*/ 932289 h 1009918"/>
                <a:gd name="connsiteX0-311" fmla="*/ 962095 w 1079728"/>
                <a:gd name="connsiteY0-312" fmla="*/ 1009918 h 1009918"/>
                <a:gd name="connsiteX1-313" fmla="*/ 183425 w 1079728"/>
                <a:gd name="connsiteY1-314" fmla="*/ 266967 h 1009918"/>
                <a:gd name="connsiteX2-315" fmla="*/ 130971 w 1079728"/>
                <a:gd name="connsiteY2-316" fmla="*/ 268758 h 1009918"/>
                <a:gd name="connsiteX3-317" fmla="*/ 0 w 1079728"/>
                <a:gd name="connsiteY3-318" fmla="*/ 125884 h 1009918"/>
                <a:gd name="connsiteX4-319" fmla="*/ 159545 w 1079728"/>
                <a:gd name="connsiteY4-320" fmla="*/ 2058 h 1009918"/>
                <a:gd name="connsiteX5-321" fmla="*/ 264320 w 1079728"/>
                <a:gd name="connsiteY5-322" fmla="*/ 97308 h 1009918"/>
                <a:gd name="connsiteX6-323" fmla="*/ 285819 w 1079728"/>
                <a:gd name="connsiteY6-324" fmla="*/ 152667 h 1009918"/>
                <a:gd name="connsiteX7" fmla="*/ 1079728 w 1079728"/>
                <a:gd name="connsiteY7" fmla="*/ 932289 h 1009918"/>
                <a:gd name="connsiteX0-325" fmla="*/ 962095 w 1079728"/>
                <a:gd name="connsiteY0-326" fmla="*/ 1009918 h 1009918"/>
                <a:gd name="connsiteX1-327" fmla="*/ 183425 w 1079728"/>
                <a:gd name="connsiteY1-328" fmla="*/ 266967 h 1009918"/>
                <a:gd name="connsiteX2-329" fmla="*/ 130971 w 1079728"/>
                <a:gd name="connsiteY2-330" fmla="*/ 268758 h 1009918"/>
                <a:gd name="connsiteX3-331" fmla="*/ 0 w 1079728"/>
                <a:gd name="connsiteY3-332" fmla="*/ 125884 h 1009918"/>
                <a:gd name="connsiteX4-333" fmla="*/ 159545 w 1079728"/>
                <a:gd name="connsiteY4-334" fmla="*/ 2058 h 1009918"/>
                <a:gd name="connsiteX5-335" fmla="*/ 264320 w 1079728"/>
                <a:gd name="connsiteY5-336" fmla="*/ 97308 h 1009918"/>
                <a:gd name="connsiteX6-337" fmla="*/ 285819 w 1079728"/>
                <a:gd name="connsiteY6-338" fmla="*/ 152667 h 1009918"/>
                <a:gd name="connsiteX7-339" fmla="*/ 1079728 w 1079728"/>
                <a:gd name="connsiteY7-340" fmla="*/ 932289 h 1009918"/>
                <a:gd name="connsiteX0-341" fmla="*/ 962095 w 1079728"/>
                <a:gd name="connsiteY0-342" fmla="*/ 1009918 h 1009918"/>
                <a:gd name="connsiteX1-343" fmla="*/ 183425 w 1079728"/>
                <a:gd name="connsiteY1-344" fmla="*/ 266967 h 1009918"/>
                <a:gd name="connsiteX2-345" fmla="*/ 130971 w 1079728"/>
                <a:gd name="connsiteY2-346" fmla="*/ 268758 h 1009918"/>
                <a:gd name="connsiteX3-347" fmla="*/ 0 w 1079728"/>
                <a:gd name="connsiteY3-348" fmla="*/ 125884 h 1009918"/>
                <a:gd name="connsiteX4-349" fmla="*/ 159545 w 1079728"/>
                <a:gd name="connsiteY4-350" fmla="*/ 2058 h 1009918"/>
                <a:gd name="connsiteX5-351" fmla="*/ 264320 w 1079728"/>
                <a:gd name="connsiteY5-352" fmla="*/ 97308 h 1009918"/>
                <a:gd name="connsiteX6-353" fmla="*/ 285819 w 1079728"/>
                <a:gd name="connsiteY6-354" fmla="*/ 152667 h 1009918"/>
                <a:gd name="connsiteX7-355" fmla="*/ 1079728 w 1079728"/>
                <a:gd name="connsiteY7-356" fmla="*/ 932289 h 1009918"/>
                <a:gd name="connsiteX0-357" fmla="*/ 962095 w 1079728"/>
                <a:gd name="connsiteY0-358" fmla="*/ 1009918 h 1009918"/>
                <a:gd name="connsiteX1-359" fmla="*/ 183425 w 1079728"/>
                <a:gd name="connsiteY1-360" fmla="*/ 266967 h 1009918"/>
                <a:gd name="connsiteX2-361" fmla="*/ 130971 w 1079728"/>
                <a:gd name="connsiteY2-362" fmla="*/ 268758 h 1009918"/>
                <a:gd name="connsiteX3-363" fmla="*/ 0 w 1079728"/>
                <a:gd name="connsiteY3-364" fmla="*/ 125884 h 1009918"/>
                <a:gd name="connsiteX4-365" fmla="*/ 159545 w 1079728"/>
                <a:gd name="connsiteY4-366" fmla="*/ 2058 h 1009918"/>
                <a:gd name="connsiteX5-367" fmla="*/ 264320 w 1079728"/>
                <a:gd name="connsiteY5-368" fmla="*/ 97308 h 1009918"/>
                <a:gd name="connsiteX6-369" fmla="*/ 285819 w 1079728"/>
                <a:gd name="connsiteY6-370" fmla="*/ 152667 h 1009918"/>
                <a:gd name="connsiteX7-371" fmla="*/ 1079728 w 1079728"/>
                <a:gd name="connsiteY7-372" fmla="*/ 932289 h 1009918"/>
                <a:gd name="connsiteX0-373" fmla="*/ 962095 w 1079728"/>
                <a:gd name="connsiteY0-374" fmla="*/ 1009918 h 1009918"/>
                <a:gd name="connsiteX1-375" fmla="*/ 183425 w 1079728"/>
                <a:gd name="connsiteY1-376" fmla="*/ 266967 h 1009918"/>
                <a:gd name="connsiteX2-377" fmla="*/ 130971 w 1079728"/>
                <a:gd name="connsiteY2-378" fmla="*/ 268758 h 1009918"/>
                <a:gd name="connsiteX3-379" fmla="*/ 0 w 1079728"/>
                <a:gd name="connsiteY3-380" fmla="*/ 125884 h 1009918"/>
                <a:gd name="connsiteX4-381" fmla="*/ 159545 w 1079728"/>
                <a:gd name="connsiteY4-382" fmla="*/ 2058 h 1009918"/>
                <a:gd name="connsiteX5-383" fmla="*/ 264320 w 1079728"/>
                <a:gd name="connsiteY5-384" fmla="*/ 97308 h 1009918"/>
                <a:gd name="connsiteX6-385" fmla="*/ 288200 w 1079728"/>
                <a:gd name="connsiteY6-386" fmla="*/ 159811 h 1009918"/>
                <a:gd name="connsiteX7-387" fmla="*/ 1079728 w 1079728"/>
                <a:gd name="connsiteY7-388" fmla="*/ 932289 h 1009918"/>
                <a:gd name="connsiteX0-389" fmla="*/ 1500258 w 1500258"/>
                <a:gd name="connsiteY0-390" fmla="*/ 1529031 h 1529031"/>
                <a:gd name="connsiteX1-391" fmla="*/ 183425 w 1500258"/>
                <a:gd name="connsiteY1-392" fmla="*/ 266967 h 1529031"/>
                <a:gd name="connsiteX2-393" fmla="*/ 130971 w 1500258"/>
                <a:gd name="connsiteY2-394" fmla="*/ 268758 h 1529031"/>
                <a:gd name="connsiteX3-395" fmla="*/ 0 w 1500258"/>
                <a:gd name="connsiteY3-396" fmla="*/ 125884 h 1529031"/>
                <a:gd name="connsiteX4-397" fmla="*/ 159545 w 1500258"/>
                <a:gd name="connsiteY4-398" fmla="*/ 2058 h 1529031"/>
                <a:gd name="connsiteX5-399" fmla="*/ 264320 w 1500258"/>
                <a:gd name="connsiteY5-400" fmla="*/ 97308 h 1529031"/>
                <a:gd name="connsiteX6-401" fmla="*/ 288200 w 1500258"/>
                <a:gd name="connsiteY6-402" fmla="*/ 159811 h 1529031"/>
                <a:gd name="connsiteX7-403" fmla="*/ 1079728 w 1500258"/>
                <a:gd name="connsiteY7-404" fmla="*/ 932289 h 1529031"/>
                <a:gd name="connsiteX0-405" fmla="*/ 1500258 w 1500258"/>
                <a:gd name="connsiteY0-406" fmla="*/ 1529031 h 1529031"/>
                <a:gd name="connsiteX1-407" fmla="*/ 183425 w 1500258"/>
                <a:gd name="connsiteY1-408" fmla="*/ 266967 h 1529031"/>
                <a:gd name="connsiteX2-409" fmla="*/ 130971 w 1500258"/>
                <a:gd name="connsiteY2-410" fmla="*/ 268758 h 1529031"/>
                <a:gd name="connsiteX3-411" fmla="*/ 0 w 1500258"/>
                <a:gd name="connsiteY3-412" fmla="*/ 125884 h 1529031"/>
                <a:gd name="connsiteX4-413" fmla="*/ 159545 w 1500258"/>
                <a:gd name="connsiteY4-414" fmla="*/ 2058 h 1529031"/>
                <a:gd name="connsiteX5-415" fmla="*/ 264320 w 1500258"/>
                <a:gd name="connsiteY5-416" fmla="*/ 97308 h 1529031"/>
                <a:gd name="connsiteX6-417" fmla="*/ 288200 w 1500258"/>
                <a:gd name="connsiteY6-418" fmla="*/ 159811 h 1529031"/>
                <a:gd name="connsiteX7-419" fmla="*/ 1079728 w 1500258"/>
                <a:gd name="connsiteY7-420" fmla="*/ 932289 h 1529031"/>
                <a:gd name="connsiteX0-421" fmla="*/ 1500258 w 1703615"/>
                <a:gd name="connsiteY0-422" fmla="*/ 1529031 h 1529983"/>
                <a:gd name="connsiteX1-423" fmla="*/ 183425 w 1703615"/>
                <a:gd name="connsiteY1-424" fmla="*/ 266967 h 1529983"/>
                <a:gd name="connsiteX2-425" fmla="*/ 130971 w 1703615"/>
                <a:gd name="connsiteY2-426" fmla="*/ 268758 h 1529983"/>
                <a:gd name="connsiteX3-427" fmla="*/ 0 w 1703615"/>
                <a:gd name="connsiteY3-428" fmla="*/ 125884 h 1529983"/>
                <a:gd name="connsiteX4-429" fmla="*/ 159545 w 1703615"/>
                <a:gd name="connsiteY4-430" fmla="*/ 2058 h 1529983"/>
                <a:gd name="connsiteX5-431" fmla="*/ 264320 w 1703615"/>
                <a:gd name="connsiteY5-432" fmla="*/ 97308 h 1529983"/>
                <a:gd name="connsiteX6-433" fmla="*/ 288200 w 1703615"/>
                <a:gd name="connsiteY6-434" fmla="*/ 159811 h 1529983"/>
                <a:gd name="connsiteX7-435" fmla="*/ 1703615 w 1703615"/>
                <a:gd name="connsiteY7-436" fmla="*/ 1529983 h 15299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01" y="connsiteY5-102"/>
                </a:cxn>
                <a:cxn ang="0">
                  <a:pos x="connsiteX6-211" y="connsiteY6-212"/>
                </a:cxn>
                <a:cxn ang="0">
                  <a:pos x="connsiteX7-339" y="connsiteY7-340"/>
                </a:cxn>
              </a:cxnLst>
              <a:rect l="l" t="t" r="r" b="b"/>
              <a:pathLst>
                <a:path w="1703615" h="1529983">
                  <a:moveTo>
                    <a:pt x="1500258" y="1529031"/>
                  </a:moveTo>
                  <a:lnTo>
                    <a:pt x="183425" y="266967"/>
                  </a:lnTo>
                  <a:cubicBezTo>
                    <a:pt x="166348" y="269646"/>
                    <a:pt x="148444" y="275603"/>
                    <a:pt x="130971" y="268758"/>
                  </a:cubicBezTo>
                  <a:cubicBezTo>
                    <a:pt x="46833" y="187795"/>
                    <a:pt x="43657" y="173509"/>
                    <a:pt x="0" y="125884"/>
                  </a:cubicBezTo>
                  <a:cubicBezTo>
                    <a:pt x="10320" y="8408"/>
                    <a:pt x="96839" y="-6674"/>
                    <a:pt x="159545" y="2058"/>
                  </a:cubicBezTo>
                  <a:lnTo>
                    <a:pt x="264320" y="97308"/>
                  </a:lnTo>
                  <a:cubicBezTo>
                    <a:pt x="271486" y="115761"/>
                    <a:pt x="283415" y="141358"/>
                    <a:pt x="288200" y="159811"/>
                  </a:cubicBezTo>
                  <a:lnTo>
                    <a:pt x="1703615" y="1529983"/>
                  </a:lnTo>
                </a:path>
              </a:pathLst>
            </a:custGeom>
            <a:solidFill>
              <a:schemeClr val="bg1">
                <a:lumMod val="95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/>
            <p:nvPr/>
          </p:nvSpPr>
          <p:spPr bwMode="auto">
            <a:xfrm>
              <a:off x="7118542" y="2697572"/>
              <a:ext cx="1234846" cy="2590284"/>
            </a:xfrm>
            <a:custGeom>
              <a:avLst/>
              <a:gdLst>
                <a:gd name="connsiteX0" fmla="*/ 0 w 747539"/>
                <a:gd name="connsiteY0" fmla="*/ 43384 h 2603036"/>
                <a:gd name="connsiteX1" fmla="*/ 567329 w 747539"/>
                <a:gd name="connsiteY1" fmla="*/ 0 h 2603036"/>
                <a:gd name="connsiteX2" fmla="*/ 747539 w 747539"/>
                <a:gd name="connsiteY2" fmla="*/ 2556315 h 2603036"/>
                <a:gd name="connsiteX3" fmla="*/ 163524 w 747539"/>
                <a:gd name="connsiteY3" fmla="*/ 2603036 h 2603036"/>
                <a:gd name="connsiteX4" fmla="*/ 0 w 747539"/>
                <a:gd name="connsiteY4" fmla="*/ 43384 h 2603036"/>
                <a:gd name="connsiteX0-1" fmla="*/ 0 w 828399"/>
                <a:gd name="connsiteY0-2" fmla="*/ 43384 h 2603036"/>
                <a:gd name="connsiteX1-3" fmla="*/ 567329 w 828399"/>
                <a:gd name="connsiteY1-4" fmla="*/ 0 h 2603036"/>
                <a:gd name="connsiteX2-5" fmla="*/ 747539 w 828399"/>
                <a:gd name="connsiteY2-6" fmla="*/ 2556315 h 2603036"/>
                <a:gd name="connsiteX3-7" fmla="*/ 163524 w 828399"/>
                <a:gd name="connsiteY3-8" fmla="*/ 2603036 h 2603036"/>
                <a:gd name="connsiteX4-9" fmla="*/ 0 w 828399"/>
                <a:gd name="connsiteY4-10" fmla="*/ 43384 h 2603036"/>
                <a:gd name="connsiteX0-11" fmla="*/ 0 w 1030972"/>
                <a:gd name="connsiteY0-12" fmla="*/ 43384 h 2603036"/>
                <a:gd name="connsiteX1-13" fmla="*/ 567329 w 1030972"/>
                <a:gd name="connsiteY1-14" fmla="*/ 0 h 2603036"/>
                <a:gd name="connsiteX2-15" fmla="*/ 747539 w 1030972"/>
                <a:gd name="connsiteY2-16" fmla="*/ 2556315 h 2603036"/>
                <a:gd name="connsiteX3-17" fmla="*/ 163524 w 1030972"/>
                <a:gd name="connsiteY3-18" fmla="*/ 2603036 h 2603036"/>
                <a:gd name="connsiteX4-19" fmla="*/ 0 w 1030972"/>
                <a:gd name="connsiteY4-20" fmla="*/ 43384 h 2603036"/>
                <a:gd name="connsiteX0-21" fmla="*/ 0 w 1078371"/>
                <a:gd name="connsiteY0-22" fmla="*/ 43384 h 2603036"/>
                <a:gd name="connsiteX1-23" fmla="*/ 567329 w 1078371"/>
                <a:gd name="connsiteY1-24" fmla="*/ 0 h 2603036"/>
                <a:gd name="connsiteX2-25" fmla="*/ 747539 w 1078371"/>
                <a:gd name="connsiteY2-26" fmla="*/ 2556315 h 2603036"/>
                <a:gd name="connsiteX3-27" fmla="*/ 163524 w 1078371"/>
                <a:gd name="connsiteY3-28" fmla="*/ 2603036 h 2603036"/>
                <a:gd name="connsiteX4-29" fmla="*/ 0 w 1078371"/>
                <a:gd name="connsiteY4-30" fmla="*/ 43384 h 2603036"/>
                <a:gd name="connsiteX0-31" fmla="*/ 0 w 1090546"/>
                <a:gd name="connsiteY0-32" fmla="*/ 43384 h 2603036"/>
                <a:gd name="connsiteX1-33" fmla="*/ 567329 w 1090546"/>
                <a:gd name="connsiteY1-34" fmla="*/ 0 h 2603036"/>
                <a:gd name="connsiteX2-35" fmla="*/ 747539 w 1090546"/>
                <a:gd name="connsiteY2-36" fmla="*/ 2556315 h 2603036"/>
                <a:gd name="connsiteX3-37" fmla="*/ 163524 w 1090546"/>
                <a:gd name="connsiteY3-38" fmla="*/ 2603036 h 2603036"/>
                <a:gd name="connsiteX4-39" fmla="*/ 0 w 1090546"/>
                <a:gd name="connsiteY4-40" fmla="*/ 43384 h 2603036"/>
                <a:gd name="connsiteX0-41" fmla="*/ 0 w 1090546"/>
                <a:gd name="connsiteY0-42" fmla="*/ 43384 h 2603036"/>
                <a:gd name="connsiteX1-43" fmla="*/ 567329 w 1090546"/>
                <a:gd name="connsiteY1-44" fmla="*/ 0 h 2603036"/>
                <a:gd name="connsiteX2-45" fmla="*/ 747539 w 1090546"/>
                <a:gd name="connsiteY2-46" fmla="*/ 2556315 h 2603036"/>
                <a:gd name="connsiteX3-47" fmla="*/ 163524 w 1090546"/>
                <a:gd name="connsiteY3-48" fmla="*/ 2603036 h 2603036"/>
                <a:gd name="connsiteX4-49" fmla="*/ 0 w 1090546"/>
                <a:gd name="connsiteY4-50" fmla="*/ 43384 h 2603036"/>
                <a:gd name="connsiteX0-51" fmla="*/ 0 w 1090546"/>
                <a:gd name="connsiteY0-52" fmla="*/ 43384 h 2603036"/>
                <a:gd name="connsiteX1-53" fmla="*/ 567329 w 1090546"/>
                <a:gd name="connsiteY1-54" fmla="*/ 0 h 2603036"/>
                <a:gd name="connsiteX2-55" fmla="*/ 747539 w 1090546"/>
                <a:gd name="connsiteY2-56" fmla="*/ 2556315 h 2603036"/>
                <a:gd name="connsiteX3-57" fmla="*/ 163524 w 1090546"/>
                <a:gd name="connsiteY3-58" fmla="*/ 2603036 h 2603036"/>
                <a:gd name="connsiteX4-59" fmla="*/ 0 w 1090546"/>
                <a:gd name="connsiteY4-60" fmla="*/ 43384 h 2603036"/>
                <a:gd name="connsiteX0-61" fmla="*/ 0 w 1090546"/>
                <a:gd name="connsiteY0-62" fmla="*/ 43384 h 2603036"/>
                <a:gd name="connsiteX1-63" fmla="*/ 567329 w 1090546"/>
                <a:gd name="connsiteY1-64" fmla="*/ 0 h 2603036"/>
                <a:gd name="connsiteX2-65" fmla="*/ 747539 w 1090546"/>
                <a:gd name="connsiteY2-66" fmla="*/ 2556315 h 2603036"/>
                <a:gd name="connsiteX3-67" fmla="*/ 163524 w 1090546"/>
                <a:gd name="connsiteY3-68" fmla="*/ 2603036 h 2603036"/>
                <a:gd name="connsiteX4-69" fmla="*/ 0 w 1090546"/>
                <a:gd name="connsiteY4-70" fmla="*/ 43384 h 2603036"/>
                <a:gd name="connsiteX0-71" fmla="*/ 0 w 1090546"/>
                <a:gd name="connsiteY0-72" fmla="*/ 43384 h 2603036"/>
                <a:gd name="connsiteX1-73" fmla="*/ 567329 w 1090546"/>
                <a:gd name="connsiteY1-74" fmla="*/ 0 h 2603036"/>
                <a:gd name="connsiteX2-75" fmla="*/ 747539 w 1090546"/>
                <a:gd name="connsiteY2-76" fmla="*/ 2556315 h 2603036"/>
                <a:gd name="connsiteX3-77" fmla="*/ 163524 w 1090546"/>
                <a:gd name="connsiteY3-78" fmla="*/ 2603036 h 2603036"/>
                <a:gd name="connsiteX4-79" fmla="*/ 0 w 1090546"/>
                <a:gd name="connsiteY4-80" fmla="*/ 43384 h 2603036"/>
                <a:gd name="connsiteX0-81" fmla="*/ 0 w 1090546"/>
                <a:gd name="connsiteY0-82" fmla="*/ 43384 h 2603036"/>
                <a:gd name="connsiteX1-83" fmla="*/ 567329 w 1090546"/>
                <a:gd name="connsiteY1-84" fmla="*/ 0 h 2603036"/>
                <a:gd name="connsiteX2-85" fmla="*/ 747539 w 1090546"/>
                <a:gd name="connsiteY2-86" fmla="*/ 2556315 h 2603036"/>
                <a:gd name="connsiteX3-87" fmla="*/ 163524 w 1090546"/>
                <a:gd name="connsiteY3-88" fmla="*/ 2603036 h 2603036"/>
                <a:gd name="connsiteX4-89" fmla="*/ 0 w 1090546"/>
                <a:gd name="connsiteY4-90" fmla="*/ 43384 h 2603036"/>
                <a:gd name="connsiteX0-91" fmla="*/ 0 w 1090546"/>
                <a:gd name="connsiteY0-92" fmla="*/ 43384 h 2603036"/>
                <a:gd name="connsiteX1-93" fmla="*/ 567329 w 1090546"/>
                <a:gd name="connsiteY1-94" fmla="*/ 0 h 2603036"/>
                <a:gd name="connsiteX2-95" fmla="*/ 747539 w 1090546"/>
                <a:gd name="connsiteY2-96" fmla="*/ 2556315 h 2603036"/>
                <a:gd name="connsiteX3-97" fmla="*/ 163524 w 1090546"/>
                <a:gd name="connsiteY3-98" fmla="*/ 2603036 h 2603036"/>
                <a:gd name="connsiteX4-99" fmla="*/ 0 w 1090546"/>
                <a:gd name="connsiteY4-100" fmla="*/ 43384 h 2603036"/>
                <a:gd name="connsiteX0-101" fmla="*/ 0 w 1090546"/>
                <a:gd name="connsiteY0-102" fmla="*/ 43384 h 2603036"/>
                <a:gd name="connsiteX1-103" fmla="*/ 567329 w 1090546"/>
                <a:gd name="connsiteY1-104" fmla="*/ 0 h 2603036"/>
                <a:gd name="connsiteX2-105" fmla="*/ 747539 w 1090546"/>
                <a:gd name="connsiteY2-106" fmla="*/ 2556315 h 2603036"/>
                <a:gd name="connsiteX3-107" fmla="*/ 163524 w 1090546"/>
                <a:gd name="connsiteY3-108" fmla="*/ 2603036 h 2603036"/>
                <a:gd name="connsiteX4-109" fmla="*/ 0 w 1090546"/>
                <a:gd name="connsiteY4-110" fmla="*/ 43384 h 2603036"/>
                <a:gd name="connsiteX0-111" fmla="*/ 0 w 1090546"/>
                <a:gd name="connsiteY0-112" fmla="*/ 43384 h 2603036"/>
                <a:gd name="connsiteX1-113" fmla="*/ 567329 w 1090546"/>
                <a:gd name="connsiteY1-114" fmla="*/ 0 h 2603036"/>
                <a:gd name="connsiteX2-115" fmla="*/ 747539 w 1090546"/>
                <a:gd name="connsiteY2-116" fmla="*/ 2556315 h 2603036"/>
                <a:gd name="connsiteX3-117" fmla="*/ 163524 w 1090546"/>
                <a:gd name="connsiteY3-118" fmla="*/ 2603036 h 2603036"/>
                <a:gd name="connsiteX4-119" fmla="*/ 0 w 1090546"/>
                <a:gd name="connsiteY4-120" fmla="*/ 43384 h 2603036"/>
                <a:gd name="connsiteX0-121" fmla="*/ 0 w 1107232"/>
                <a:gd name="connsiteY0-122" fmla="*/ 46721 h 2603036"/>
                <a:gd name="connsiteX1-123" fmla="*/ 584015 w 1107232"/>
                <a:gd name="connsiteY1-124" fmla="*/ 0 h 2603036"/>
                <a:gd name="connsiteX2-125" fmla="*/ 764225 w 1107232"/>
                <a:gd name="connsiteY2-126" fmla="*/ 2556315 h 2603036"/>
                <a:gd name="connsiteX3-127" fmla="*/ 180210 w 1107232"/>
                <a:gd name="connsiteY3-128" fmla="*/ 2603036 h 2603036"/>
                <a:gd name="connsiteX4-129" fmla="*/ 0 w 1107232"/>
                <a:gd name="connsiteY4-130" fmla="*/ 46721 h 2603036"/>
                <a:gd name="connsiteX0-131" fmla="*/ 0 w 1107232"/>
                <a:gd name="connsiteY0-132" fmla="*/ 46721 h 2603036"/>
                <a:gd name="connsiteX1-133" fmla="*/ 584015 w 1107232"/>
                <a:gd name="connsiteY1-134" fmla="*/ 0 h 2603036"/>
                <a:gd name="connsiteX2-135" fmla="*/ 764225 w 1107232"/>
                <a:gd name="connsiteY2-136" fmla="*/ 2556315 h 2603036"/>
                <a:gd name="connsiteX3-137" fmla="*/ 180210 w 1107232"/>
                <a:gd name="connsiteY3-138" fmla="*/ 2603036 h 2603036"/>
                <a:gd name="connsiteX4-139" fmla="*/ 0 w 1107232"/>
                <a:gd name="connsiteY4-140" fmla="*/ 46721 h 2603036"/>
                <a:gd name="connsiteX0-141" fmla="*/ 0 w 1115399"/>
                <a:gd name="connsiteY0-142" fmla="*/ 46721 h 2603036"/>
                <a:gd name="connsiteX1-143" fmla="*/ 584015 w 1115399"/>
                <a:gd name="connsiteY1-144" fmla="*/ 0 h 2603036"/>
                <a:gd name="connsiteX2-145" fmla="*/ 764225 w 1115399"/>
                <a:gd name="connsiteY2-146" fmla="*/ 2556315 h 2603036"/>
                <a:gd name="connsiteX3-147" fmla="*/ 180210 w 1115399"/>
                <a:gd name="connsiteY3-148" fmla="*/ 2603036 h 2603036"/>
                <a:gd name="connsiteX4-149" fmla="*/ 0 w 1115399"/>
                <a:gd name="connsiteY4-150" fmla="*/ 46721 h 2603036"/>
                <a:gd name="connsiteX0-151" fmla="*/ 0 w 1107037"/>
                <a:gd name="connsiteY0-152" fmla="*/ 46721 h 2603036"/>
                <a:gd name="connsiteX1-153" fmla="*/ 563992 w 1107037"/>
                <a:gd name="connsiteY1-154" fmla="*/ 0 h 2603036"/>
                <a:gd name="connsiteX2-155" fmla="*/ 764225 w 1107037"/>
                <a:gd name="connsiteY2-156" fmla="*/ 2556315 h 2603036"/>
                <a:gd name="connsiteX3-157" fmla="*/ 180210 w 1107037"/>
                <a:gd name="connsiteY3-158" fmla="*/ 2603036 h 2603036"/>
                <a:gd name="connsiteX4-159" fmla="*/ 0 w 1107037"/>
                <a:gd name="connsiteY4-160" fmla="*/ 46721 h 2603036"/>
                <a:gd name="connsiteX0-161" fmla="*/ 0 w 1111406"/>
                <a:gd name="connsiteY0-162" fmla="*/ 46721 h 2603036"/>
                <a:gd name="connsiteX1-163" fmla="*/ 563992 w 1111406"/>
                <a:gd name="connsiteY1-164" fmla="*/ 0 h 2603036"/>
                <a:gd name="connsiteX2-165" fmla="*/ 764225 w 1111406"/>
                <a:gd name="connsiteY2-166" fmla="*/ 2556315 h 2603036"/>
                <a:gd name="connsiteX3-167" fmla="*/ 180210 w 1111406"/>
                <a:gd name="connsiteY3-168" fmla="*/ 2603036 h 2603036"/>
                <a:gd name="connsiteX4-169" fmla="*/ 0 w 1111406"/>
                <a:gd name="connsiteY4-170" fmla="*/ 46721 h 2603036"/>
                <a:gd name="connsiteX0-171" fmla="*/ 0 w 1111406"/>
                <a:gd name="connsiteY0-172" fmla="*/ 46721 h 2603036"/>
                <a:gd name="connsiteX1-173" fmla="*/ 563992 w 1111406"/>
                <a:gd name="connsiteY1-174" fmla="*/ 0 h 2603036"/>
                <a:gd name="connsiteX2-175" fmla="*/ 764225 w 1111406"/>
                <a:gd name="connsiteY2-176" fmla="*/ 2556315 h 2603036"/>
                <a:gd name="connsiteX3-177" fmla="*/ 106791 w 1111406"/>
                <a:gd name="connsiteY3-178" fmla="*/ 2603036 h 2603036"/>
                <a:gd name="connsiteX4-179" fmla="*/ 0 w 1111406"/>
                <a:gd name="connsiteY4-180" fmla="*/ 46721 h 2603036"/>
                <a:gd name="connsiteX0-181" fmla="*/ 0 w 1117281"/>
                <a:gd name="connsiteY0-182" fmla="*/ 46721 h 2606374"/>
                <a:gd name="connsiteX1-183" fmla="*/ 563992 w 1117281"/>
                <a:gd name="connsiteY1-184" fmla="*/ 0 h 2606374"/>
                <a:gd name="connsiteX2-185" fmla="*/ 774237 w 1117281"/>
                <a:gd name="connsiteY2-186" fmla="*/ 2606374 h 2606374"/>
                <a:gd name="connsiteX3-187" fmla="*/ 106791 w 1117281"/>
                <a:gd name="connsiteY3-188" fmla="*/ 2603036 h 2606374"/>
                <a:gd name="connsiteX4-189" fmla="*/ 0 w 1117281"/>
                <a:gd name="connsiteY4-190" fmla="*/ 46721 h 2606374"/>
                <a:gd name="connsiteX0-191" fmla="*/ 0 w 1117281"/>
                <a:gd name="connsiteY0-192" fmla="*/ 46721 h 2606374"/>
                <a:gd name="connsiteX1-193" fmla="*/ 563992 w 1117281"/>
                <a:gd name="connsiteY1-194" fmla="*/ 0 h 2606374"/>
                <a:gd name="connsiteX2-195" fmla="*/ 774237 w 1117281"/>
                <a:gd name="connsiteY2-196" fmla="*/ 2606374 h 2606374"/>
                <a:gd name="connsiteX3-197" fmla="*/ 96779 w 1117281"/>
                <a:gd name="connsiteY3-198" fmla="*/ 2606373 h 2606374"/>
                <a:gd name="connsiteX4-199" fmla="*/ 0 w 1117281"/>
                <a:gd name="connsiteY4-200" fmla="*/ 46721 h 2606374"/>
                <a:gd name="connsiteX0-201" fmla="*/ 0 w 1090403"/>
                <a:gd name="connsiteY0-202" fmla="*/ 46721 h 2619723"/>
                <a:gd name="connsiteX1-203" fmla="*/ 563992 w 1090403"/>
                <a:gd name="connsiteY1-204" fmla="*/ 0 h 2619723"/>
                <a:gd name="connsiteX2-205" fmla="*/ 727515 w 1090403"/>
                <a:gd name="connsiteY2-206" fmla="*/ 2619723 h 2619723"/>
                <a:gd name="connsiteX3-207" fmla="*/ 96779 w 1090403"/>
                <a:gd name="connsiteY3-208" fmla="*/ 2606373 h 2619723"/>
                <a:gd name="connsiteX4-209" fmla="*/ 0 w 1090403"/>
                <a:gd name="connsiteY4-210" fmla="*/ 46721 h 2619723"/>
                <a:gd name="connsiteX0-211" fmla="*/ 0 w 1090403"/>
                <a:gd name="connsiteY0-212" fmla="*/ 46721 h 2619723"/>
                <a:gd name="connsiteX1-213" fmla="*/ 563992 w 1090403"/>
                <a:gd name="connsiteY1-214" fmla="*/ 0 h 2619723"/>
                <a:gd name="connsiteX2-215" fmla="*/ 727515 w 1090403"/>
                <a:gd name="connsiteY2-216" fmla="*/ 2619723 h 2619723"/>
                <a:gd name="connsiteX3-217" fmla="*/ 96779 w 1090403"/>
                <a:gd name="connsiteY3-218" fmla="*/ 2606373 h 2619723"/>
                <a:gd name="connsiteX4-219" fmla="*/ 0 w 1090403"/>
                <a:gd name="connsiteY4-220" fmla="*/ 46721 h 2619723"/>
                <a:gd name="connsiteX0-221" fmla="*/ 0 w 1090403"/>
                <a:gd name="connsiteY0-222" fmla="*/ 46721 h 2619723"/>
                <a:gd name="connsiteX1-223" fmla="*/ 563992 w 1090403"/>
                <a:gd name="connsiteY1-224" fmla="*/ 0 h 2619723"/>
                <a:gd name="connsiteX2-225" fmla="*/ 727515 w 1090403"/>
                <a:gd name="connsiteY2-226" fmla="*/ 2619723 h 2619723"/>
                <a:gd name="connsiteX3-227" fmla="*/ 96779 w 1090403"/>
                <a:gd name="connsiteY3-228" fmla="*/ 2606373 h 2619723"/>
                <a:gd name="connsiteX4-229" fmla="*/ 0 w 1090403"/>
                <a:gd name="connsiteY4-230" fmla="*/ 46721 h 2619723"/>
                <a:gd name="connsiteX0-231" fmla="*/ 0 w 1117280"/>
                <a:gd name="connsiteY0-232" fmla="*/ 46721 h 2611775"/>
                <a:gd name="connsiteX1-233" fmla="*/ 563992 w 1117280"/>
                <a:gd name="connsiteY1-234" fmla="*/ 0 h 2611775"/>
                <a:gd name="connsiteX2-235" fmla="*/ 774236 w 1117280"/>
                <a:gd name="connsiteY2-236" fmla="*/ 2596362 h 2611775"/>
                <a:gd name="connsiteX3-237" fmla="*/ 96779 w 1117280"/>
                <a:gd name="connsiteY3-238" fmla="*/ 2606373 h 2611775"/>
                <a:gd name="connsiteX4-239" fmla="*/ 0 w 1117280"/>
                <a:gd name="connsiteY4-240" fmla="*/ 46721 h 2611775"/>
                <a:gd name="connsiteX0-241" fmla="*/ 0 w 1187314"/>
                <a:gd name="connsiteY0-242" fmla="*/ 46721 h 2611775"/>
                <a:gd name="connsiteX1-243" fmla="*/ 563992 w 1187314"/>
                <a:gd name="connsiteY1-244" fmla="*/ 0 h 2611775"/>
                <a:gd name="connsiteX2-245" fmla="*/ 774236 w 1187314"/>
                <a:gd name="connsiteY2-246" fmla="*/ 2596362 h 2611775"/>
                <a:gd name="connsiteX3-247" fmla="*/ 96779 w 1187314"/>
                <a:gd name="connsiteY3-248" fmla="*/ 2606373 h 2611775"/>
                <a:gd name="connsiteX4-249" fmla="*/ 0 w 1187314"/>
                <a:gd name="connsiteY4-250" fmla="*/ 46721 h 2611775"/>
                <a:gd name="connsiteX0-251" fmla="*/ 0 w 1187314"/>
                <a:gd name="connsiteY0-252" fmla="*/ 46721 h 2611775"/>
                <a:gd name="connsiteX1-253" fmla="*/ 563992 w 1187314"/>
                <a:gd name="connsiteY1-254" fmla="*/ 0 h 2611775"/>
                <a:gd name="connsiteX2-255" fmla="*/ 774236 w 1187314"/>
                <a:gd name="connsiteY2-256" fmla="*/ 2596362 h 2611775"/>
                <a:gd name="connsiteX3-257" fmla="*/ 96779 w 1187314"/>
                <a:gd name="connsiteY3-258" fmla="*/ 2606373 h 2611775"/>
                <a:gd name="connsiteX4-259" fmla="*/ 0 w 1187314"/>
                <a:gd name="connsiteY4-260" fmla="*/ 46721 h 2611775"/>
                <a:gd name="connsiteX0-261" fmla="*/ 0 w 1187314"/>
                <a:gd name="connsiteY0-262" fmla="*/ 46721 h 2617331"/>
                <a:gd name="connsiteX1-263" fmla="*/ 563992 w 1187314"/>
                <a:gd name="connsiteY1-264" fmla="*/ 0 h 2617331"/>
                <a:gd name="connsiteX2-265" fmla="*/ 774236 w 1187314"/>
                <a:gd name="connsiteY2-266" fmla="*/ 2596362 h 2617331"/>
                <a:gd name="connsiteX3-267" fmla="*/ 96779 w 1187314"/>
                <a:gd name="connsiteY3-268" fmla="*/ 2606373 h 2617331"/>
                <a:gd name="connsiteX4-269" fmla="*/ 0 w 1187314"/>
                <a:gd name="connsiteY4-270" fmla="*/ 46721 h 2617331"/>
                <a:gd name="connsiteX0-271" fmla="*/ 0 w 1187314"/>
                <a:gd name="connsiteY0-272" fmla="*/ 46721 h 2623676"/>
                <a:gd name="connsiteX1-273" fmla="*/ 563992 w 1187314"/>
                <a:gd name="connsiteY1-274" fmla="*/ 0 h 2623676"/>
                <a:gd name="connsiteX2-275" fmla="*/ 774236 w 1187314"/>
                <a:gd name="connsiteY2-276" fmla="*/ 2596362 h 2623676"/>
                <a:gd name="connsiteX3-277" fmla="*/ 96779 w 1187314"/>
                <a:gd name="connsiteY3-278" fmla="*/ 2606373 h 2623676"/>
                <a:gd name="connsiteX4-279" fmla="*/ 0 w 1187314"/>
                <a:gd name="connsiteY4-280" fmla="*/ 46721 h 2623676"/>
                <a:gd name="connsiteX0-281" fmla="*/ 1 w 1090535"/>
                <a:gd name="connsiteY0-282" fmla="*/ 46721 h 2623676"/>
                <a:gd name="connsiteX1-283" fmla="*/ 467213 w 1090535"/>
                <a:gd name="connsiteY1-284" fmla="*/ 0 h 2623676"/>
                <a:gd name="connsiteX2-285" fmla="*/ 677457 w 1090535"/>
                <a:gd name="connsiteY2-286" fmla="*/ 2596362 h 2623676"/>
                <a:gd name="connsiteX3-287" fmla="*/ 0 w 1090535"/>
                <a:gd name="connsiteY3-288" fmla="*/ 2606373 h 2623676"/>
                <a:gd name="connsiteX4-289" fmla="*/ 1 w 1090535"/>
                <a:gd name="connsiteY4-290" fmla="*/ 46721 h 2623676"/>
                <a:gd name="connsiteX0-291" fmla="*/ 1 w 1090535"/>
                <a:gd name="connsiteY0-292" fmla="*/ 46721 h 2623676"/>
                <a:gd name="connsiteX1-293" fmla="*/ 467213 w 1090535"/>
                <a:gd name="connsiteY1-294" fmla="*/ 0 h 2623676"/>
                <a:gd name="connsiteX2-295" fmla="*/ 677457 w 1090535"/>
                <a:gd name="connsiteY2-296" fmla="*/ 2596362 h 2623676"/>
                <a:gd name="connsiteX3-297" fmla="*/ 0 w 1090535"/>
                <a:gd name="connsiteY3-298" fmla="*/ 2606373 h 2623676"/>
                <a:gd name="connsiteX4-299" fmla="*/ 1 w 1090535"/>
                <a:gd name="connsiteY4-300" fmla="*/ 46721 h 2623676"/>
                <a:gd name="connsiteX0-301" fmla="*/ 1 w 1090535"/>
                <a:gd name="connsiteY0-302" fmla="*/ 46721 h 2623676"/>
                <a:gd name="connsiteX1-303" fmla="*/ 467213 w 1090535"/>
                <a:gd name="connsiteY1-304" fmla="*/ 0 h 2623676"/>
                <a:gd name="connsiteX2-305" fmla="*/ 677457 w 1090535"/>
                <a:gd name="connsiteY2-306" fmla="*/ 2596362 h 2623676"/>
                <a:gd name="connsiteX3-307" fmla="*/ 0 w 1090535"/>
                <a:gd name="connsiteY3-308" fmla="*/ 2606373 h 2623676"/>
                <a:gd name="connsiteX4-309" fmla="*/ 1 w 1090535"/>
                <a:gd name="connsiteY4-310" fmla="*/ 46721 h 2623676"/>
                <a:gd name="connsiteX0-311" fmla="*/ 65 w 1090599"/>
                <a:gd name="connsiteY0-312" fmla="*/ 46721 h 2623676"/>
                <a:gd name="connsiteX1-313" fmla="*/ 467277 w 1090599"/>
                <a:gd name="connsiteY1-314" fmla="*/ 0 h 2623676"/>
                <a:gd name="connsiteX2-315" fmla="*/ 677521 w 1090599"/>
                <a:gd name="connsiteY2-316" fmla="*/ 2596362 h 2623676"/>
                <a:gd name="connsiteX3-317" fmla="*/ 64 w 1090599"/>
                <a:gd name="connsiteY3-318" fmla="*/ 2606373 h 2623676"/>
                <a:gd name="connsiteX4-319" fmla="*/ 655365 w 1090599"/>
                <a:gd name="connsiteY4-320" fmla="*/ 1234804 h 2623676"/>
                <a:gd name="connsiteX5" fmla="*/ 65 w 1090599"/>
                <a:gd name="connsiteY5" fmla="*/ 46721 h 2623676"/>
                <a:gd name="connsiteX0-321" fmla="*/ 65 w 1090599"/>
                <a:gd name="connsiteY0-322" fmla="*/ 46721 h 2623676"/>
                <a:gd name="connsiteX1-323" fmla="*/ 467277 w 1090599"/>
                <a:gd name="connsiteY1-324" fmla="*/ 0 h 2623676"/>
                <a:gd name="connsiteX2-325" fmla="*/ 677521 w 1090599"/>
                <a:gd name="connsiteY2-326" fmla="*/ 2596362 h 2623676"/>
                <a:gd name="connsiteX3-327" fmla="*/ 64 w 1090599"/>
                <a:gd name="connsiteY3-328" fmla="*/ 2606373 h 2623676"/>
                <a:gd name="connsiteX4-329" fmla="*/ 655365 w 1090599"/>
                <a:gd name="connsiteY4-330" fmla="*/ 1234804 h 2623676"/>
                <a:gd name="connsiteX5-331" fmla="*/ 65 w 1090599"/>
                <a:gd name="connsiteY5-332" fmla="*/ 46721 h 2623676"/>
                <a:gd name="connsiteX0-333" fmla="*/ 1 w 1090535"/>
                <a:gd name="connsiteY0-334" fmla="*/ 46721 h 2623676"/>
                <a:gd name="connsiteX1-335" fmla="*/ 467213 w 1090535"/>
                <a:gd name="connsiteY1-336" fmla="*/ 0 h 2623676"/>
                <a:gd name="connsiteX2-337" fmla="*/ 677457 w 1090535"/>
                <a:gd name="connsiteY2-338" fmla="*/ 2596362 h 2623676"/>
                <a:gd name="connsiteX3-339" fmla="*/ 0 w 1090535"/>
                <a:gd name="connsiteY3-340" fmla="*/ 2606373 h 2623676"/>
                <a:gd name="connsiteX4-341" fmla="*/ 655301 w 1090535"/>
                <a:gd name="connsiteY4-342" fmla="*/ 1234804 h 2623676"/>
                <a:gd name="connsiteX5-343" fmla="*/ 1 w 1090535"/>
                <a:gd name="connsiteY5-344" fmla="*/ 46721 h 2623676"/>
                <a:gd name="connsiteX0-345" fmla="*/ 1 w 1090535"/>
                <a:gd name="connsiteY0-346" fmla="*/ 46721 h 2623676"/>
                <a:gd name="connsiteX1-347" fmla="*/ 467213 w 1090535"/>
                <a:gd name="connsiteY1-348" fmla="*/ 0 h 2623676"/>
                <a:gd name="connsiteX2-349" fmla="*/ 677457 w 1090535"/>
                <a:gd name="connsiteY2-350" fmla="*/ 2596362 h 2623676"/>
                <a:gd name="connsiteX3-351" fmla="*/ 0 w 1090535"/>
                <a:gd name="connsiteY3-352" fmla="*/ 2606373 h 2623676"/>
                <a:gd name="connsiteX4-353" fmla="*/ 655301 w 1090535"/>
                <a:gd name="connsiteY4-354" fmla="*/ 1234804 h 2623676"/>
                <a:gd name="connsiteX5-355" fmla="*/ 1 w 1090535"/>
                <a:gd name="connsiteY5-356" fmla="*/ 46721 h 2623676"/>
                <a:gd name="connsiteX0-357" fmla="*/ 1 w 1090535"/>
                <a:gd name="connsiteY0-358" fmla="*/ 46721 h 2623676"/>
                <a:gd name="connsiteX1-359" fmla="*/ 467213 w 1090535"/>
                <a:gd name="connsiteY1-360" fmla="*/ 0 h 2623676"/>
                <a:gd name="connsiteX2-361" fmla="*/ 677457 w 1090535"/>
                <a:gd name="connsiteY2-362" fmla="*/ 2596362 h 2623676"/>
                <a:gd name="connsiteX3-363" fmla="*/ 0 w 1090535"/>
                <a:gd name="connsiteY3-364" fmla="*/ 2606373 h 2623676"/>
                <a:gd name="connsiteX4-365" fmla="*/ 655301 w 1090535"/>
                <a:gd name="connsiteY4-366" fmla="*/ 1234804 h 2623676"/>
                <a:gd name="connsiteX5-367" fmla="*/ 1 w 1090535"/>
                <a:gd name="connsiteY5-368" fmla="*/ 46721 h 2623676"/>
                <a:gd name="connsiteX0-369" fmla="*/ 1 w 1090535"/>
                <a:gd name="connsiteY0-370" fmla="*/ 46721 h 2623676"/>
                <a:gd name="connsiteX1-371" fmla="*/ 467213 w 1090535"/>
                <a:gd name="connsiteY1-372" fmla="*/ 0 h 2623676"/>
                <a:gd name="connsiteX2-373" fmla="*/ 677457 w 1090535"/>
                <a:gd name="connsiteY2-374" fmla="*/ 2596362 h 2623676"/>
                <a:gd name="connsiteX3-375" fmla="*/ 0 w 1090535"/>
                <a:gd name="connsiteY3-376" fmla="*/ 2606373 h 2623676"/>
                <a:gd name="connsiteX4-377" fmla="*/ 655301 w 1090535"/>
                <a:gd name="connsiteY4-378" fmla="*/ 1234804 h 2623676"/>
                <a:gd name="connsiteX5-379" fmla="*/ 1 w 1090535"/>
                <a:gd name="connsiteY5-380" fmla="*/ 46721 h 2623676"/>
                <a:gd name="connsiteX0-381" fmla="*/ 1 w 1090535"/>
                <a:gd name="connsiteY0-382" fmla="*/ 46721 h 2623676"/>
                <a:gd name="connsiteX1-383" fmla="*/ 467213 w 1090535"/>
                <a:gd name="connsiteY1-384" fmla="*/ 0 h 2623676"/>
                <a:gd name="connsiteX2-385" fmla="*/ 677457 w 1090535"/>
                <a:gd name="connsiteY2-386" fmla="*/ 2596362 h 2623676"/>
                <a:gd name="connsiteX3-387" fmla="*/ 0 w 1090535"/>
                <a:gd name="connsiteY3-388" fmla="*/ 2606373 h 2623676"/>
                <a:gd name="connsiteX4-389" fmla="*/ 655301 w 1090535"/>
                <a:gd name="connsiteY4-390" fmla="*/ 1234804 h 2623676"/>
                <a:gd name="connsiteX5-391" fmla="*/ 1 w 1090535"/>
                <a:gd name="connsiteY5-392" fmla="*/ 46721 h 2623676"/>
                <a:gd name="connsiteX0-393" fmla="*/ 1 w 1090535"/>
                <a:gd name="connsiteY0-394" fmla="*/ 46721 h 2623676"/>
                <a:gd name="connsiteX1-395" fmla="*/ 467213 w 1090535"/>
                <a:gd name="connsiteY1-396" fmla="*/ 0 h 2623676"/>
                <a:gd name="connsiteX2-397" fmla="*/ 677457 w 1090535"/>
                <a:gd name="connsiteY2-398" fmla="*/ 2596362 h 2623676"/>
                <a:gd name="connsiteX3-399" fmla="*/ 0 w 1090535"/>
                <a:gd name="connsiteY3-400" fmla="*/ 2606373 h 2623676"/>
                <a:gd name="connsiteX4-401" fmla="*/ 655301 w 1090535"/>
                <a:gd name="connsiteY4-402" fmla="*/ 1234804 h 2623676"/>
                <a:gd name="connsiteX5-403" fmla="*/ 1 w 1090535"/>
                <a:gd name="connsiteY5-404" fmla="*/ 46721 h 2623676"/>
                <a:gd name="connsiteX0-405" fmla="*/ 1 w 1161053"/>
                <a:gd name="connsiteY0-406" fmla="*/ 71 h 2577026"/>
                <a:gd name="connsiteX1-407" fmla="*/ 634075 w 1161053"/>
                <a:gd name="connsiteY1-408" fmla="*/ 71 h 2577026"/>
                <a:gd name="connsiteX2-409" fmla="*/ 677457 w 1161053"/>
                <a:gd name="connsiteY2-410" fmla="*/ 2549712 h 2577026"/>
                <a:gd name="connsiteX3-411" fmla="*/ 0 w 1161053"/>
                <a:gd name="connsiteY3-412" fmla="*/ 2559723 h 2577026"/>
                <a:gd name="connsiteX4-413" fmla="*/ 655301 w 1161053"/>
                <a:gd name="connsiteY4-414" fmla="*/ 1188154 h 2577026"/>
                <a:gd name="connsiteX5-415" fmla="*/ 1 w 1161053"/>
                <a:gd name="connsiteY5-416" fmla="*/ 71 h 2577026"/>
                <a:gd name="connsiteX0-417" fmla="*/ 1 w 1161053"/>
                <a:gd name="connsiteY0-418" fmla="*/ 7416 h 2584371"/>
                <a:gd name="connsiteX1-419" fmla="*/ 634075 w 1161053"/>
                <a:gd name="connsiteY1-420" fmla="*/ 7416 h 2584371"/>
                <a:gd name="connsiteX2-421" fmla="*/ 677457 w 1161053"/>
                <a:gd name="connsiteY2-422" fmla="*/ 2557057 h 2584371"/>
                <a:gd name="connsiteX3-423" fmla="*/ 0 w 1161053"/>
                <a:gd name="connsiteY3-424" fmla="*/ 2567068 h 2584371"/>
                <a:gd name="connsiteX4-425" fmla="*/ 655301 w 1161053"/>
                <a:gd name="connsiteY4-426" fmla="*/ 1195499 h 2584371"/>
                <a:gd name="connsiteX5-427" fmla="*/ 1 w 1161053"/>
                <a:gd name="connsiteY5-428" fmla="*/ 7416 h 2584371"/>
                <a:gd name="connsiteX0-429" fmla="*/ 1 w 1161053"/>
                <a:gd name="connsiteY0-430" fmla="*/ 6640 h 2583595"/>
                <a:gd name="connsiteX1-431" fmla="*/ 634075 w 1161053"/>
                <a:gd name="connsiteY1-432" fmla="*/ 9977 h 2583595"/>
                <a:gd name="connsiteX2-433" fmla="*/ 677457 w 1161053"/>
                <a:gd name="connsiteY2-434" fmla="*/ 2556281 h 2583595"/>
                <a:gd name="connsiteX3-435" fmla="*/ 0 w 1161053"/>
                <a:gd name="connsiteY3-436" fmla="*/ 2566292 h 2583595"/>
                <a:gd name="connsiteX4-437" fmla="*/ 655301 w 1161053"/>
                <a:gd name="connsiteY4-438" fmla="*/ 1194723 h 2583595"/>
                <a:gd name="connsiteX5-439" fmla="*/ 1 w 1161053"/>
                <a:gd name="connsiteY5-440" fmla="*/ 6640 h 2583595"/>
                <a:gd name="connsiteX0-441" fmla="*/ 1 w 1161053"/>
                <a:gd name="connsiteY0-442" fmla="*/ 14624 h 2591579"/>
                <a:gd name="connsiteX1-443" fmla="*/ 634075 w 1161053"/>
                <a:gd name="connsiteY1-444" fmla="*/ 17961 h 2591579"/>
                <a:gd name="connsiteX2-445" fmla="*/ 677457 w 1161053"/>
                <a:gd name="connsiteY2-446" fmla="*/ 2564265 h 2591579"/>
                <a:gd name="connsiteX3-447" fmla="*/ 0 w 1161053"/>
                <a:gd name="connsiteY3-448" fmla="*/ 2574276 h 2591579"/>
                <a:gd name="connsiteX4-449" fmla="*/ 655301 w 1161053"/>
                <a:gd name="connsiteY4-450" fmla="*/ 1202707 h 2591579"/>
                <a:gd name="connsiteX5-451" fmla="*/ 1 w 1161053"/>
                <a:gd name="connsiteY5-452" fmla="*/ 14624 h 2591579"/>
                <a:gd name="connsiteX0-453" fmla="*/ 1 w 1213962"/>
                <a:gd name="connsiteY0-454" fmla="*/ 14624 h 2591579"/>
                <a:gd name="connsiteX1-455" fmla="*/ 634075 w 1213962"/>
                <a:gd name="connsiteY1-456" fmla="*/ 17961 h 2591579"/>
                <a:gd name="connsiteX2-457" fmla="*/ 677457 w 1213962"/>
                <a:gd name="connsiteY2-458" fmla="*/ 2564265 h 2591579"/>
                <a:gd name="connsiteX3-459" fmla="*/ 0 w 1213962"/>
                <a:gd name="connsiteY3-460" fmla="*/ 2574276 h 2591579"/>
                <a:gd name="connsiteX4-461" fmla="*/ 655301 w 1213962"/>
                <a:gd name="connsiteY4-462" fmla="*/ 1202707 h 2591579"/>
                <a:gd name="connsiteX5-463" fmla="*/ 1 w 1213962"/>
                <a:gd name="connsiteY5-464" fmla="*/ 14624 h 2591579"/>
                <a:gd name="connsiteX0-465" fmla="*/ 1 w 1232747"/>
                <a:gd name="connsiteY0-466" fmla="*/ 14624 h 2591579"/>
                <a:gd name="connsiteX1-467" fmla="*/ 634075 w 1232747"/>
                <a:gd name="connsiteY1-468" fmla="*/ 17961 h 2591579"/>
                <a:gd name="connsiteX2-469" fmla="*/ 1232640 w 1232747"/>
                <a:gd name="connsiteY2-470" fmla="*/ 1286139 h 2591579"/>
                <a:gd name="connsiteX3-471" fmla="*/ 677457 w 1232747"/>
                <a:gd name="connsiteY3-472" fmla="*/ 2564265 h 2591579"/>
                <a:gd name="connsiteX4-473" fmla="*/ 0 w 1232747"/>
                <a:gd name="connsiteY4-474" fmla="*/ 2574276 h 2591579"/>
                <a:gd name="connsiteX5-475" fmla="*/ 655301 w 1232747"/>
                <a:gd name="connsiteY5-476" fmla="*/ 1202707 h 2591579"/>
                <a:gd name="connsiteX6" fmla="*/ 1 w 1232747"/>
                <a:gd name="connsiteY6" fmla="*/ 14624 h 2591579"/>
                <a:gd name="connsiteX0-477" fmla="*/ 1 w 1232747"/>
                <a:gd name="connsiteY0-478" fmla="*/ 14624 h 2591579"/>
                <a:gd name="connsiteX1-479" fmla="*/ 634075 w 1232747"/>
                <a:gd name="connsiteY1-480" fmla="*/ 17961 h 2591579"/>
                <a:gd name="connsiteX2-481" fmla="*/ 1232640 w 1232747"/>
                <a:gd name="connsiteY2-482" fmla="*/ 1286139 h 2591579"/>
                <a:gd name="connsiteX3-483" fmla="*/ 677457 w 1232747"/>
                <a:gd name="connsiteY3-484" fmla="*/ 2564265 h 2591579"/>
                <a:gd name="connsiteX4-485" fmla="*/ 0 w 1232747"/>
                <a:gd name="connsiteY4-486" fmla="*/ 2574276 h 2591579"/>
                <a:gd name="connsiteX5-487" fmla="*/ 655301 w 1232747"/>
                <a:gd name="connsiteY5-488" fmla="*/ 1202707 h 2591579"/>
                <a:gd name="connsiteX6-489" fmla="*/ 1 w 1232747"/>
                <a:gd name="connsiteY6-490" fmla="*/ 14624 h 2591579"/>
                <a:gd name="connsiteX0-491" fmla="*/ 1 w 1232951"/>
                <a:gd name="connsiteY0-492" fmla="*/ 14624 h 2591579"/>
                <a:gd name="connsiteX1-493" fmla="*/ 634075 w 1232951"/>
                <a:gd name="connsiteY1-494" fmla="*/ 17961 h 2591579"/>
                <a:gd name="connsiteX2-495" fmla="*/ 1232640 w 1232951"/>
                <a:gd name="connsiteY2-496" fmla="*/ 1286139 h 2591579"/>
                <a:gd name="connsiteX3-497" fmla="*/ 677457 w 1232951"/>
                <a:gd name="connsiteY3-498" fmla="*/ 2564265 h 2591579"/>
                <a:gd name="connsiteX4-499" fmla="*/ 0 w 1232951"/>
                <a:gd name="connsiteY4-500" fmla="*/ 2574276 h 2591579"/>
                <a:gd name="connsiteX5-501" fmla="*/ 655301 w 1232951"/>
                <a:gd name="connsiteY5-502" fmla="*/ 1202707 h 2591579"/>
                <a:gd name="connsiteX6-503" fmla="*/ 1 w 1232951"/>
                <a:gd name="connsiteY6-504" fmla="*/ 14624 h 2591579"/>
                <a:gd name="connsiteX0-505" fmla="*/ 1 w 1232951"/>
                <a:gd name="connsiteY0-506" fmla="*/ 14624 h 2591579"/>
                <a:gd name="connsiteX1-507" fmla="*/ 634075 w 1232951"/>
                <a:gd name="connsiteY1-508" fmla="*/ 17961 h 2591579"/>
                <a:gd name="connsiteX2-509" fmla="*/ 1232640 w 1232951"/>
                <a:gd name="connsiteY2-510" fmla="*/ 1286139 h 2591579"/>
                <a:gd name="connsiteX3-511" fmla="*/ 677457 w 1232951"/>
                <a:gd name="connsiteY3-512" fmla="*/ 2564265 h 2591579"/>
                <a:gd name="connsiteX4-513" fmla="*/ 0 w 1232951"/>
                <a:gd name="connsiteY4-514" fmla="*/ 2574276 h 2591579"/>
                <a:gd name="connsiteX5-515" fmla="*/ 655301 w 1232951"/>
                <a:gd name="connsiteY5-516" fmla="*/ 1202707 h 2591579"/>
                <a:gd name="connsiteX6-517" fmla="*/ 1 w 1232951"/>
                <a:gd name="connsiteY6-518" fmla="*/ 14624 h 25915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331" y="connsiteY5-332"/>
                </a:cxn>
                <a:cxn ang="0">
                  <a:pos x="connsiteX6-489" y="connsiteY6-490"/>
                </a:cxn>
              </a:cxnLst>
              <a:rect l="l" t="t" r="r" b="b"/>
              <a:pathLst>
                <a:path w="1232951" h="2591579">
                  <a:moveTo>
                    <a:pt x="1" y="14624"/>
                  </a:moveTo>
                  <a:cubicBezTo>
                    <a:pt x="201347" y="-2062"/>
                    <a:pt x="432729" y="-8737"/>
                    <a:pt x="634075" y="17961"/>
                  </a:cubicBezTo>
                  <a:cubicBezTo>
                    <a:pt x="1056435" y="119751"/>
                    <a:pt x="1225410" y="861755"/>
                    <a:pt x="1232640" y="1286139"/>
                  </a:cubicBezTo>
                  <a:cubicBezTo>
                    <a:pt x="1239870" y="1710523"/>
                    <a:pt x="1123178" y="2426331"/>
                    <a:pt x="677457" y="2564265"/>
                  </a:cubicBezTo>
                  <a:cubicBezTo>
                    <a:pt x="480561" y="2589850"/>
                    <a:pt x="320373" y="2605423"/>
                    <a:pt x="0" y="2574276"/>
                  </a:cubicBezTo>
                  <a:cubicBezTo>
                    <a:pt x="482986" y="2574281"/>
                    <a:pt x="668650" y="1759468"/>
                    <a:pt x="655301" y="1202707"/>
                  </a:cubicBezTo>
                  <a:cubicBezTo>
                    <a:pt x="641952" y="645946"/>
                    <a:pt x="397888" y="6843"/>
                    <a:pt x="1" y="14624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Oval 88"/>
            <p:cNvSpPr/>
            <p:nvPr/>
          </p:nvSpPr>
          <p:spPr bwMode="auto">
            <a:xfrm>
              <a:off x="6487399" y="2711277"/>
              <a:ext cx="1289728" cy="255602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01" name="Oval 89"/>
            <p:cNvSpPr/>
            <p:nvPr/>
          </p:nvSpPr>
          <p:spPr>
            <a:xfrm rot="-60000">
              <a:off x="6778015" y="3346969"/>
              <a:ext cx="674019" cy="1289898"/>
            </a:xfrm>
            <a:prstGeom prst="ellipse">
              <a:avLst/>
            </a:prstGeom>
            <a:solidFill>
              <a:schemeClr val="bg1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702" name="Group 90"/>
            <p:cNvGrpSpPr>
              <a:grpSpLocks noChangeAspect="1"/>
            </p:cNvGrpSpPr>
            <p:nvPr/>
          </p:nvGrpSpPr>
          <p:grpSpPr>
            <a:xfrm>
              <a:off x="6977348" y="3800433"/>
              <a:ext cx="275353" cy="382971"/>
              <a:chOff x="6794864" y="2669587"/>
              <a:chExt cx="1863324" cy="2591579"/>
            </a:xfrm>
          </p:grpSpPr>
          <p:sp>
            <p:nvSpPr>
              <p:cNvPr id="27707" name="Freeform 95"/>
              <p:cNvSpPr/>
              <p:nvPr/>
            </p:nvSpPr>
            <p:spPr>
              <a:xfrm>
                <a:off x="7425237" y="2669587"/>
                <a:ext cx="1232951" cy="2591579"/>
              </a:xfrm>
              <a:custGeom>
                <a:avLst/>
                <a:gdLst>
                  <a:gd name="txL" fmla="*/ 0 w 1232951"/>
                  <a:gd name="txT" fmla="*/ 0 h 2591579"/>
                  <a:gd name="txR" fmla="*/ 1232951 w 1232951"/>
                  <a:gd name="txB" fmla="*/ 2591579 h 2591579"/>
                </a:gdLst>
                <a:ahLst/>
                <a:cxnLst>
                  <a:cxn ang="0">
                    <a:pos x="1" y="14624"/>
                  </a:cxn>
                  <a:cxn ang="0">
                    <a:pos x="634075" y="17961"/>
                  </a:cxn>
                  <a:cxn ang="0">
                    <a:pos x="1232640" y="1286143"/>
                  </a:cxn>
                  <a:cxn ang="0">
                    <a:pos x="677457" y="2564265"/>
                  </a:cxn>
                  <a:cxn ang="0">
                    <a:pos x="0" y="2574277"/>
                  </a:cxn>
                  <a:cxn ang="0">
                    <a:pos x="655301" y="1202711"/>
                  </a:cxn>
                  <a:cxn ang="0">
                    <a:pos x="1" y="14624"/>
                  </a:cxn>
                </a:cxnLst>
                <a:rect l="txL" t="txT" r="txR" b="txB"/>
                <a:pathLst>
                  <a:path w="1232951" h="2591579">
                    <a:moveTo>
                      <a:pt x="1" y="14624"/>
                    </a:moveTo>
                    <a:cubicBezTo>
                      <a:pt x="201347" y="-2062"/>
                      <a:pt x="432729" y="-8737"/>
                      <a:pt x="634075" y="17961"/>
                    </a:cubicBezTo>
                    <a:cubicBezTo>
                      <a:pt x="1056435" y="119751"/>
                      <a:pt x="1225410" y="861755"/>
                      <a:pt x="1232640" y="1286139"/>
                    </a:cubicBezTo>
                    <a:cubicBezTo>
                      <a:pt x="1239870" y="1710523"/>
                      <a:pt x="1123178" y="2426331"/>
                      <a:pt x="677457" y="2564265"/>
                    </a:cubicBezTo>
                    <a:cubicBezTo>
                      <a:pt x="480561" y="2589850"/>
                      <a:pt x="320373" y="2605423"/>
                      <a:pt x="0" y="2574276"/>
                    </a:cubicBezTo>
                    <a:cubicBezTo>
                      <a:pt x="482986" y="2574281"/>
                      <a:pt x="668650" y="1759468"/>
                      <a:pt x="655301" y="1202707"/>
                    </a:cubicBezTo>
                    <a:cubicBezTo>
                      <a:pt x="641952" y="645946"/>
                      <a:pt x="397888" y="6843"/>
                      <a:pt x="1" y="14624"/>
                    </a:cubicBezTo>
                    <a:close/>
                  </a:path>
                </a:pathLst>
              </a:custGeom>
              <a:noFill/>
              <a:ln w="31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708" name="Oval 96"/>
              <p:cNvSpPr/>
              <p:nvPr/>
            </p:nvSpPr>
            <p:spPr>
              <a:xfrm>
                <a:off x="6794864" y="2684242"/>
                <a:ext cx="1285674" cy="2556872"/>
              </a:xfrm>
              <a:prstGeom prst="ellipse">
                <a:avLst/>
              </a:prstGeom>
              <a:noFill/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2" name="Can 91"/>
            <p:cNvSpPr/>
            <p:nvPr/>
          </p:nvSpPr>
          <p:spPr bwMode="auto">
            <a:xfrm rot="16200000">
              <a:off x="4237343" y="1241736"/>
              <a:ext cx="191873" cy="5529366"/>
            </a:xfrm>
            <a:prstGeom prst="can">
              <a:avLst>
                <a:gd name="adj" fmla="val 48369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Freeform 92"/>
            <p:cNvSpPr/>
            <p:nvPr/>
          </p:nvSpPr>
          <p:spPr bwMode="auto">
            <a:xfrm>
              <a:off x="1225580" y="2766098"/>
              <a:ext cx="1111361" cy="2603989"/>
            </a:xfrm>
            <a:custGeom>
              <a:avLst/>
              <a:gdLst>
                <a:gd name="connsiteX0" fmla="*/ 0 w 747539"/>
                <a:gd name="connsiteY0" fmla="*/ 43384 h 2603036"/>
                <a:gd name="connsiteX1" fmla="*/ 567329 w 747539"/>
                <a:gd name="connsiteY1" fmla="*/ 0 h 2603036"/>
                <a:gd name="connsiteX2" fmla="*/ 747539 w 747539"/>
                <a:gd name="connsiteY2" fmla="*/ 2556315 h 2603036"/>
                <a:gd name="connsiteX3" fmla="*/ 163524 w 747539"/>
                <a:gd name="connsiteY3" fmla="*/ 2603036 h 2603036"/>
                <a:gd name="connsiteX4" fmla="*/ 0 w 747539"/>
                <a:gd name="connsiteY4" fmla="*/ 43384 h 2603036"/>
                <a:gd name="connsiteX0-1" fmla="*/ 0 w 828399"/>
                <a:gd name="connsiteY0-2" fmla="*/ 43384 h 2603036"/>
                <a:gd name="connsiteX1-3" fmla="*/ 567329 w 828399"/>
                <a:gd name="connsiteY1-4" fmla="*/ 0 h 2603036"/>
                <a:gd name="connsiteX2-5" fmla="*/ 747539 w 828399"/>
                <a:gd name="connsiteY2-6" fmla="*/ 2556315 h 2603036"/>
                <a:gd name="connsiteX3-7" fmla="*/ 163524 w 828399"/>
                <a:gd name="connsiteY3-8" fmla="*/ 2603036 h 2603036"/>
                <a:gd name="connsiteX4-9" fmla="*/ 0 w 828399"/>
                <a:gd name="connsiteY4-10" fmla="*/ 43384 h 2603036"/>
                <a:gd name="connsiteX0-11" fmla="*/ 0 w 1030972"/>
                <a:gd name="connsiteY0-12" fmla="*/ 43384 h 2603036"/>
                <a:gd name="connsiteX1-13" fmla="*/ 567329 w 1030972"/>
                <a:gd name="connsiteY1-14" fmla="*/ 0 h 2603036"/>
                <a:gd name="connsiteX2-15" fmla="*/ 747539 w 1030972"/>
                <a:gd name="connsiteY2-16" fmla="*/ 2556315 h 2603036"/>
                <a:gd name="connsiteX3-17" fmla="*/ 163524 w 1030972"/>
                <a:gd name="connsiteY3-18" fmla="*/ 2603036 h 2603036"/>
                <a:gd name="connsiteX4-19" fmla="*/ 0 w 1030972"/>
                <a:gd name="connsiteY4-20" fmla="*/ 43384 h 2603036"/>
                <a:gd name="connsiteX0-21" fmla="*/ 0 w 1078371"/>
                <a:gd name="connsiteY0-22" fmla="*/ 43384 h 2603036"/>
                <a:gd name="connsiteX1-23" fmla="*/ 567329 w 1078371"/>
                <a:gd name="connsiteY1-24" fmla="*/ 0 h 2603036"/>
                <a:gd name="connsiteX2-25" fmla="*/ 747539 w 1078371"/>
                <a:gd name="connsiteY2-26" fmla="*/ 2556315 h 2603036"/>
                <a:gd name="connsiteX3-27" fmla="*/ 163524 w 1078371"/>
                <a:gd name="connsiteY3-28" fmla="*/ 2603036 h 2603036"/>
                <a:gd name="connsiteX4-29" fmla="*/ 0 w 1078371"/>
                <a:gd name="connsiteY4-30" fmla="*/ 43384 h 2603036"/>
                <a:gd name="connsiteX0-31" fmla="*/ 0 w 1090546"/>
                <a:gd name="connsiteY0-32" fmla="*/ 43384 h 2603036"/>
                <a:gd name="connsiteX1-33" fmla="*/ 567329 w 1090546"/>
                <a:gd name="connsiteY1-34" fmla="*/ 0 h 2603036"/>
                <a:gd name="connsiteX2-35" fmla="*/ 747539 w 1090546"/>
                <a:gd name="connsiteY2-36" fmla="*/ 2556315 h 2603036"/>
                <a:gd name="connsiteX3-37" fmla="*/ 163524 w 1090546"/>
                <a:gd name="connsiteY3-38" fmla="*/ 2603036 h 2603036"/>
                <a:gd name="connsiteX4-39" fmla="*/ 0 w 1090546"/>
                <a:gd name="connsiteY4-40" fmla="*/ 43384 h 2603036"/>
                <a:gd name="connsiteX0-41" fmla="*/ 0 w 1090546"/>
                <a:gd name="connsiteY0-42" fmla="*/ 43384 h 2603036"/>
                <a:gd name="connsiteX1-43" fmla="*/ 567329 w 1090546"/>
                <a:gd name="connsiteY1-44" fmla="*/ 0 h 2603036"/>
                <a:gd name="connsiteX2-45" fmla="*/ 747539 w 1090546"/>
                <a:gd name="connsiteY2-46" fmla="*/ 2556315 h 2603036"/>
                <a:gd name="connsiteX3-47" fmla="*/ 163524 w 1090546"/>
                <a:gd name="connsiteY3-48" fmla="*/ 2603036 h 2603036"/>
                <a:gd name="connsiteX4-49" fmla="*/ 0 w 1090546"/>
                <a:gd name="connsiteY4-50" fmla="*/ 43384 h 2603036"/>
                <a:gd name="connsiteX0-51" fmla="*/ 0 w 1090546"/>
                <a:gd name="connsiteY0-52" fmla="*/ 43384 h 2603036"/>
                <a:gd name="connsiteX1-53" fmla="*/ 567329 w 1090546"/>
                <a:gd name="connsiteY1-54" fmla="*/ 0 h 2603036"/>
                <a:gd name="connsiteX2-55" fmla="*/ 747539 w 1090546"/>
                <a:gd name="connsiteY2-56" fmla="*/ 2556315 h 2603036"/>
                <a:gd name="connsiteX3-57" fmla="*/ 163524 w 1090546"/>
                <a:gd name="connsiteY3-58" fmla="*/ 2603036 h 2603036"/>
                <a:gd name="connsiteX4-59" fmla="*/ 0 w 1090546"/>
                <a:gd name="connsiteY4-60" fmla="*/ 43384 h 2603036"/>
                <a:gd name="connsiteX0-61" fmla="*/ 0 w 1090546"/>
                <a:gd name="connsiteY0-62" fmla="*/ 43384 h 2603036"/>
                <a:gd name="connsiteX1-63" fmla="*/ 567329 w 1090546"/>
                <a:gd name="connsiteY1-64" fmla="*/ 0 h 2603036"/>
                <a:gd name="connsiteX2-65" fmla="*/ 747539 w 1090546"/>
                <a:gd name="connsiteY2-66" fmla="*/ 2556315 h 2603036"/>
                <a:gd name="connsiteX3-67" fmla="*/ 163524 w 1090546"/>
                <a:gd name="connsiteY3-68" fmla="*/ 2603036 h 2603036"/>
                <a:gd name="connsiteX4-69" fmla="*/ 0 w 1090546"/>
                <a:gd name="connsiteY4-70" fmla="*/ 43384 h 2603036"/>
                <a:gd name="connsiteX0-71" fmla="*/ 0 w 1090546"/>
                <a:gd name="connsiteY0-72" fmla="*/ 43384 h 2603036"/>
                <a:gd name="connsiteX1-73" fmla="*/ 567329 w 1090546"/>
                <a:gd name="connsiteY1-74" fmla="*/ 0 h 2603036"/>
                <a:gd name="connsiteX2-75" fmla="*/ 747539 w 1090546"/>
                <a:gd name="connsiteY2-76" fmla="*/ 2556315 h 2603036"/>
                <a:gd name="connsiteX3-77" fmla="*/ 163524 w 1090546"/>
                <a:gd name="connsiteY3-78" fmla="*/ 2603036 h 2603036"/>
                <a:gd name="connsiteX4-79" fmla="*/ 0 w 1090546"/>
                <a:gd name="connsiteY4-80" fmla="*/ 43384 h 2603036"/>
                <a:gd name="connsiteX0-81" fmla="*/ 0 w 1090546"/>
                <a:gd name="connsiteY0-82" fmla="*/ 43384 h 2603036"/>
                <a:gd name="connsiteX1-83" fmla="*/ 567329 w 1090546"/>
                <a:gd name="connsiteY1-84" fmla="*/ 0 h 2603036"/>
                <a:gd name="connsiteX2-85" fmla="*/ 747539 w 1090546"/>
                <a:gd name="connsiteY2-86" fmla="*/ 2556315 h 2603036"/>
                <a:gd name="connsiteX3-87" fmla="*/ 163524 w 1090546"/>
                <a:gd name="connsiteY3-88" fmla="*/ 2603036 h 2603036"/>
                <a:gd name="connsiteX4-89" fmla="*/ 0 w 1090546"/>
                <a:gd name="connsiteY4-90" fmla="*/ 43384 h 2603036"/>
                <a:gd name="connsiteX0-91" fmla="*/ 0 w 1090546"/>
                <a:gd name="connsiteY0-92" fmla="*/ 43384 h 2603036"/>
                <a:gd name="connsiteX1-93" fmla="*/ 567329 w 1090546"/>
                <a:gd name="connsiteY1-94" fmla="*/ 0 h 2603036"/>
                <a:gd name="connsiteX2-95" fmla="*/ 747539 w 1090546"/>
                <a:gd name="connsiteY2-96" fmla="*/ 2556315 h 2603036"/>
                <a:gd name="connsiteX3-97" fmla="*/ 163524 w 1090546"/>
                <a:gd name="connsiteY3-98" fmla="*/ 2603036 h 2603036"/>
                <a:gd name="connsiteX4-99" fmla="*/ 0 w 1090546"/>
                <a:gd name="connsiteY4-100" fmla="*/ 43384 h 2603036"/>
                <a:gd name="connsiteX0-101" fmla="*/ 0 w 1090546"/>
                <a:gd name="connsiteY0-102" fmla="*/ 43384 h 2603036"/>
                <a:gd name="connsiteX1-103" fmla="*/ 567329 w 1090546"/>
                <a:gd name="connsiteY1-104" fmla="*/ 0 h 2603036"/>
                <a:gd name="connsiteX2-105" fmla="*/ 747539 w 1090546"/>
                <a:gd name="connsiteY2-106" fmla="*/ 2556315 h 2603036"/>
                <a:gd name="connsiteX3-107" fmla="*/ 163524 w 1090546"/>
                <a:gd name="connsiteY3-108" fmla="*/ 2603036 h 2603036"/>
                <a:gd name="connsiteX4-109" fmla="*/ 0 w 1090546"/>
                <a:gd name="connsiteY4-110" fmla="*/ 43384 h 2603036"/>
                <a:gd name="connsiteX0-111" fmla="*/ 0 w 1090546"/>
                <a:gd name="connsiteY0-112" fmla="*/ 43384 h 2603036"/>
                <a:gd name="connsiteX1-113" fmla="*/ 567329 w 1090546"/>
                <a:gd name="connsiteY1-114" fmla="*/ 0 h 2603036"/>
                <a:gd name="connsiteX2-115" fmla="*/ 747539 w 1090546"/>
                <a:gd name="connsiteY2-116" fmla="*/ 2556315 h 2603036"/>
                <a:gd name="connsiteX3-117" fmla="*/ 163524 w 1090546"/>
                <a:gd name="connsiteY3-118" fmla="*/ 2603036 h 2603036"/>
                <a:gd name="connsiteX4-119" fmla="*/ 0 w 1090546"/>
                <a:gd name="connsiteY4-120" fmla="*/ 43384 h 2603036"/>
                <a:gd name="connsiteX0-121" fmla="*/ 0 w 1107232"/>
                <a:gd name="connsiteY0-122" fmla="*/ 46721 h 2603036"/>
                <a:gd name="connsiteX1-123" fmla="*/ 584015 w 1107232"/>
                <a:gd name="connsiteY1-124" fmla="*/ 0 h 2603036"/>
                <a:gd name="connsiteX2-125" fmla="*/ 764225 w 1107232"/>
                <a:gd name="connsiteY2-126" fmla="*/ 2556315 h 2603036"/>
                <a:gd name="connsiteX3-127" fmla="*/ 180210 w 1107232"/>
                <a:gd name="connsiteY3-128" fmla="*/ 2603036 h 2603036"/>
                <a:gd name="connsiteX4-129" fmla="*/ 0 w 1107232"/>
                <a:gd name="connsiteY4-130" fmla="*/ 46721 h 2603036"/>
                <a:gd name="connsiteX0-131" fmla="*/ 0 w 1107232"/>
                <a:gd name="connsiteY0-132" fmla="*/ 46721 h 2603036"/>
                <a:gd name="connsiteX1-133" fmla="*/ 584015 w 1107232"/>
                <a:gd name="connsiteY1-134" fmla="*/ 0 h 2603036"/>
                <a:gd name="connsiteX2-135" fmla="*/ 764225 w 1107232"/>
                <a:gd name="connsiteY2-136" fmla="*/ 2556315 h 2603036"/>
                <a:gd name="connsiteX3-137" fmla="*/ 180210 w 1107232"/>
                <a:gd name="connsiteY3-138" fmla="*/ 2603036 h 2603036"/>
                <a:gd name="connsiteX4-139" fmla="*/ 0 w 1107232"/>
                <a:gd name="connsiteY4-140" fmla="*/ 46721 h 2603036"/>
                <a:gd name="connsiteX0-141" fmla="*/ 0 w 1115399"/>
                <a:gd name="connsiteY0-142" fmla="*/ 46721 h 2603036"/>
                <a:gd name="connsiteX1-143" fmla="*/ 584015 w 1115399"/>
                <a:gd name="connsiteY1-144" fmla="*/ 0 h 2603036"/>
                <a:gd name="connsiteX2-145" fmla="*/ 764225 w 1115399"/>
                <a:gd name="connsiteY2-146" fmla="*/ 2556315 h 2603036"/>
                <a:gd name="connsiteX3-147" fmla="*/ 180210 w 1115399"/>
                <a:gd name="connsiteY3-148" fmla="*/ 2603036 h 2603036"/>
                <a:gd name="connsiteX4-149" fmla="*/ 0 w 1115399"/>
                <a:gd name="connsiteY4-150" fmla="*/ 46721 h 2603036"/>
                <a:gd name="connsiteX0-151" fmla="*/ 0 w 1107037"/>
                <a:gd name="connsiteY0-152" fmla="*/ 46721 h 2603036"/>
                <a:gd name="connsiteX1-153" fmla="*/ 563992 w 1107037"/>
                <a:gd name="connsiteY1-154" fmla="*/ 0 h 2603036"/>
                <a:gd name="connsiteX2-155" fmla="*/ 764225 w 1107037"/>
                <a:gd name="connsiteY2-156" fmla="*/ 2556315 h 2603036"/>
                <a:gd name="connsiteX3-157" fmla="*/ 180210 w 1107037"/>
                <a:gd name="connsiteY3-158" fmla="*/ 2603036 h 2603036"/>
                <a:gd name="connsiteX4-159" fmla="*/ 0 w 1107037"/>
                <a:gd name="connsiteY4-160" fmla="*/ 46721 h 2603036"/>
                <a:gd name="connsiteX0-161" fmla="*/ 0 w 1111406"/>
                <a:gd name="connsiteY0-162" fmla="*/ 46721 h 2603036"/>
                <a:gd name="connsiteX1-163" fmla="*/ 563992 w 1111406"/>
                <a:gd name="connsiteY1-164" fmla="*/ 0 h 2603036"/>
                <a:gd name="connsiteX2-165" fmla="*/ 764225 w 1111406"/>
                <a:gd name="connsiteY2-166" fmla="*/ 2556315 h 2603036"/>
                <a:gd name="connsiteX3-167" fmla="*/ 180210 w 1111406"/>
                <a:gd name="connsiteY3-168" fmla="*/ 2603036 h 2603036"/>
                <a:gd name="connsiteX4-169" fmla="*/ 0 w 1111406"/>
                <a:gd name="connsiteY4-170" fmla="*/ 46721 h 26030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11406" h="2603036">
                  <a:moveTo>
                    <a:pt x="0" y="46721"/>
                  </a:moveTo>
                  <a:lnTo>
                    <a:pt x="563992" y="0"/>
                  </a:lnTo>
                  <a:cubicBezTo>
                    <a:pt x="1221426" y="167974"/>
                    <a:pt x="1284832" y="2408365"/>
                    <a:pt x="764225" y="2556315"/>
                  </a:cubicBezTo>
                  <a:lnTo>
                    <a:pt x="180210" y="2603036"/>
                  </a:lnTo>
                  <a:cubicBezTo>
                    <a:pt x="749763" y="2547416"/>
                    <a:pt x="618500" y="219144"/>
                    <a:pt x="0" y="4672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Oval 93"/>
            <p:cNvSpPr/>
            <p:nvPr/>
          </p:nvSpPr>
          <p:spPr bwMode="auto">
            <a:xfrm rot="-300000">
              <a:off x="861989" y="2807213"/>
              <a:ext cx="898691" cy="256287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06" name="Oval 94"/>
            <p:cNvSpPr/>
            <p:nvPr/>
          </p:nvSpPr>
          <p:spPr>
            <a:xfrm rot="-180000">
              <a:off x="1060733" y="3395462"/>
              <a:ext cx="491121" cy="1280808"/>
            </a:xfrm>
            <a:prstGeom prst="ellipse">
              <a:avLst/>
            </a:prstGeom>
            <a:solidFill>
              <a:schemeClr val="bg1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pic>
        <p:nvPicPr>
          <p:cNvPr id="27658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838" y="2357438"/>
            <a:ext cx="1512887" cy="54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9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338" y="4906963"/>
            <a:ext cx="2197100" cy="1373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60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0" y="4217988"/>
            <a:ext cx="1965325" cy="12811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7661" name="Group 4"/>
          <p:cNvGrpSpPr/>
          <p:nvPr/>
        </p:nvGrpSpPr>
        <p:grpSpPr>
          <a:xfrm>
            <a:off x="173038" y="5043488"/>
            <a:ext cx="1857375" cy="811212"/>
            <a:chOff x="172329" y="5043273"/>
            <a:chExt cx="1858794" cy="812006"/>
          </a:xfrm>
        </p:grpSpPr>
        <p:sp>
          <p:nvSpPr>
            <p:cNvPr id="27666" name="Freeform 30"/>
            <p:cNvSpPr/>
            <p:nvPr/>
          </p:nvSpPr>
          <p:spPr>
            <a:xfrm rot="5400000">
              <a:off x="1693421" y="5315927"/>
              <a:ext cx="38100" cy="197644"/>
            </a:xfrm>
            <a:custGeom>
              <a:avLst/>
              <a:gdLst>
                <a:gd name="txL" fmla="*/ 0 w 38100"/>
                <a:gd name="txT" fmla="*/ 0 h 197644"/>
                <a:gd name="txR" fmla="*/ 38100 w 38100"/>
                <a:gd name="txB" fmla="*/ 197644 h 197644"/>
              </a:gdLst>
              <a:ahLst/>
              <a:cxnLst>
                <a:cxn ang="0">
                  <a:pos x="0" y="197644"/>
                </a:cxn>
                <a:cxn ang="0">
                  <a:pos x="38100" y="0"/>
                </a:cxn>
              </a:cxnLst>
              <a:rect l="txL" t="txT" r="txR" b="txB"/>
              <a:pathLst>
                <a:path w="38100" h="197644">
                  <a:moveTo>
                    <a:pt x="0" y="197644"/>
                  </a:moveTo>
                  <a:lnTo>
                    <a:pt x="38100" y="0"/>
                  </a:lnTo>
                </a:path>
              </a:pathLst>
            </a:custGeom>
            <a:noFill/>
            <a:ln w="158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27667" name="Straight Connector 31"/>
            <p:cNvCxnSpPr/>
            <p:nvPr/>
          </p:nvCxnSpPr>
          <p:spPr>
            <a:xfrm rot="5400000" flipV="1">
              <a:off x="1103239" y="4710389"/>
              <a:ext cx="0" cy="147777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7668" name="Straight Connector 32"/>
            <p:cNvCxnSpPr/>
            <p:nvPr/>
          </p:nvCxnSpPr>
          <p:spPr>
            <a:xfrm rot="5400000">
              <a:off x="1565578" y="5447762"/>
              <a:ext cx="550068" cy="302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  <p:grpSp>
          <p:nvGrpSpPr>
            <p:cNvPr id="5" name="Group 33"/>
            <p:cNvGrpSpPr/>
            <p:nvPr/>
          </p:nvGrpSpPr>
          <p:grpSpPr>
            <a:xfrm rot="5400000">
              <a:off x="1773614" y="5597771"/>
              <a:ext cx="130969" cy="384048"/>
              <a:chOff x="4755356" y="4045742"/>
              <a:chExt cx="130969" cy="384048"/>
            </a:xfrm>
            <a:noFill/>
          </p:grpSpPr>
          <p:sp>
            <p:nvSpPr>
              <p:cNvPr id="62" name="Rounded Rectangle 61"/>
              <p:cNvSpPr/>
              <p:nvPr/>
            </p:nvSpPr>
            <p:spPr bwMode="auto">
              <a:xfrm>
                <a:off x="4755356" y="4045742"/>
                <a:ext cx="130969" cy="384048"/>
              </a:xfrm>
              <a:prstGeom prst="roundRect">
                <a:avLst>
                  <a:gd name="adj" fmla="val 4091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ysDash"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 bwMode="auto">
              <a:xfrm>
                <a:off x="4782740" y="4050314"/>
                <a:ext cx="76201" cy="37490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prstDash val="sysDash"/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670" name="Group 34"/>
            <p:cNvGrpSpPr/>
            <p:nvPr/>
          </p:nvGrpSpPr>
          <p:grpSpPr>
            <a:xfrm rot="5400000">
              <a:off x="1773614" y="4916733"/>
              <a:ext cx="130969" cy="384048"/>
              <a:chOff x="4907756" y="4198142"/>
              <a:chExt cx="130969" cy="384048"/>
            </a:xfrm>
          </p:grpSpPr>
          <p:sp>
            <p:nvSpPr>
              <p:cNvPr id="27692" name="Rounded Rectangle 59"/>
              <p:cNvSpPr/>
              <p:nvPr/>
            </p:nvSpPr>
            <p:spPr>
              <a:xfrm>
                <a:off x="4907756" y="4198142"/>
                <a:ext cx="130969" cy="384048"/>
              </a:xfrm>
              <a:prstGeom prst="roundRect">
                <a:avLst>
                  <a:gd name="adj" fmla="val 40912"/>
                </a:avLst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txBody>
              <a:bodyPr/>
              <a:p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693" name="Rectangle 60"/>
              <p:cNvSpPr/>
              <p:nvPr/>
            </p:nvSpPr>
            <p:spPr>
              <a:xfrm>
                <a:off x="4935140" y="4202714"/>
                <a:ext cx="76201" cy="37490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671" name="Group 35"/>
            <p:cNvGrpSpPr/>
            <p:nvPr/>
          </p:nvGrpSpPr>
          <p:grpSpPr>
            <a:xfrm rot="3618636">
              <a:off x="1433095" y="5257252"/>
              <a:ext cx="812006" cy="384048"/>
              <a:chOff x="4264819" y="2725655"/>
              <a:chExt cx="812006" cy="384048"/>
            </a:xfrm>
          </p:grpSpPr>
          <p:cxnSp>
            <p:nvCxnSpPr>
              <p:cNvPr id="27685" name="Straight Connector 52"/>
              <p:cNvCxnSpPr>
                <a:endCxn id="27690" idx="1"/>
              </p:cNvCxnSpPr>
              <p:nvPr/>
            </p:nvCxnSpPr>
            <p:spPr>
              <a:xfrm>
                <a:off x="4395788" y="2914650"/>
                <a:ext cx="550068" cy="302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27686" name="Group 53"/>
              <p:cNvGrpSpPr/>
              <p:nvPr/>
            </p:nvGrpSpPr>
            <p:grpSpPr>
              <a:xfrm>
                <a:off x="4945856" y="2725655"/>
                <a:ext cx="130969" cy="384048"/>
                <a:chOff x="4755356" y="4045742"/>
                <a:chExt cx="130969" cy="384048"/>
              </a:xfrm>
            </p:grpSpPr>
            <p:sp>
              <p:nvSpPr>
                <p:cNvPr id="27690" name="Rounded Rectangle 57"/>
                <p:cNvSpPr/>
                <p:nvPr/>
              </p:nvSpPr>
              <p:spPr>
                <a:xfrm>
                  <a:off x="4755356" y="4045742"/>
                  <a:ext cx="130969" cy="384048"/>
                </a:xfrm>
                <a:prstGeom prst="roundRect">
                  <a:avLst>
                    <a:gd name="adj" fmla="val 40912"/>
                  </a:avLst>
                </a:prstGeom>
                <a:solidFill>
                  <a:srgbClr val="FFFFFF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en-US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91" name="Rectangle 58"/>
                <p:cNvSpPr/>
                <p:nvPr/>
              </p:nvSpPr>
              <p:spPr>
                <a:xfrm>
                  <a:off x="4782740" y="4050314"/>
                  <a:ext cx="76201" cy="3749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en-US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7687" name="Group 54"/>
              <p:cNvGrpSpPr/>
              <p:nvPr/>
            </p:nvGrpSpPr>
            <p:grpSpPr>
              <a:xfrm>
                <a:off x="4264819" y="2725655"/>
                <a:ext cx="130969" cy="384048"/>
                <a:chOff x="4907756" y="4198142"/>
                <a:chExt cx="130969" cy="384048"/>
              </a:xfrm>
            </p:grpSpPr>
            <p:sp>
              <p:nvSpPr>
                <p:cNvPr id="27688" name="Rounded Rectangle 55"/>
                <p:cNvSpPr/>
                <p:nvPr/>
              </p:nvSpPr>
              <p:spPr>
                <a:xfrm>
                  <a:off x="4907756" y="4198142"/>
                  <a:ext cx="130969" cy="384048"/>
                </a:xfrm>
                <a:prstGeom prst="roundRect">
                  <a:avLst>
                    <a:gd name="adj" fmla="val 40912"/>
                  </a:avLst>
                </a:prstGeom>
                <a:solidFill>
                  <a:srgbClr val="FFFFFF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en-US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89" name="Rectangle 56"/>
                <p:cNvSpPr/>
                <p:nvPr/>
              </p:nvSpPr>
              <p:spPr>
                <a:xfrm>
                  <a:off x="4935140" y="4202714"/>
                  <a:ext cx="76201" cy="374904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en-US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cxnSp>
          <p:nvCxnSpPr>
            <p:cNvPr id="27672" name="Straight Connector 36"/>
            <p:cNvCxnSpPr/>
            <p:nvPr/>
          </p:nvCxnSpPr>
          <p:spPr>
            <a:xfrm rot="5400000">
              <a:off x="89318" y="5449276"/>
              <a:ext cx="55006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10" name="Group 37"/>
            <p:cNvGrpSpPr/>
            <p:nvPr/>
          </p:nvGrpSpPr>
          <p:grpSpPr>
            <a:xfrm rot="5400000">
              <a:off x="298868" y="5586265"/>
              <a:ext cx="130969" cy="384048"/>
              <a:chOff x="4755356" y="4045742"/>
              <a:chExt cx="130969" cy="384048"/>
            </a:xfrm>
            <a:noFill/>
          </p:grpSpPr>
          <p:sp>
            <p:nvSpPr>
              <p:cNvPr id="51" name="Rounded Rectangle 50"/>
              <p:cNvSpPr/>
              <p:nvPr/>
            </p:nvSpPr>
            <p:spPr bwMode="auto">
              <a:xfrm>
                <a:off x="4755356" y="4045742"/>
                <a:ext cx="130969" cy="384048"/>
              </a:xfrm>
              <a:prstGeom prst="roundRect">
                <a:avLst>
                  <a:gd name="adj" fmla="val 4091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 bwMode="auto">
              <a:xfrm>
                <a:off x="4782740" y="4050314"/>
                <a:ext cx="76201" cy="37490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38"/>
            <p:cNvGrpSpPr/>
            <p:nvPr/>
          </p:nvGrpSpPr>
          <p:grpSpPr>
            <a:xfrm rot="5400000">
              <a:off x="298868" y="4916735"/>
              <a:ext cx="130969" cy="384048"/>
              <a:chOff x="4907756" y="4198142"/>
              <a:chExt cx="130969" cy="384048"/>
            </a:xfrm>
            <a:noFill/>
          </p:grpSpPr>
          <p:sp>
            <p:nvSpPr>
              <p:cNvPr id="49" name="Rounded Rectangle 48"/>
              <p:cNvSpPr/>
              <p:nvPr/>
            </p:nvSpPr>
            <p:spPr bwMode="auto">
              <a:xfrm>
                <a:off x="4907756" y="4198142"/>
                <a:ext cx="130969" cy="384048"/>
              </a:xfrm>
              <a:prstGeom prst="roundRect">
                <a:avLst>
                  <a:gd name="adj" fmla="val 40910"/>
                </a:avLst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 bwMode="auto">
              <a:xfrm>
                <a:off x="4935140" y="4202714"/>
                <a:ext cx="76201" cy="37490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2" name="Arc 41"/>
            <p:cNvSpPr>
              <a:spLocks noChangeAspect="1"/>
            </p:cNvSpPr>
            <p:nvPr/>
          </p:nvSpPr>
          <p:spPr bwMode="auto">
            <a:xfrm rot="5400000">
              <a:off x="1666477" y="5244325"/>
              <a:ext cx="354359" cy="352694"/>
            </a:xfrm>
            <a:prstGeom prst="arc">
              <a:avLst>
                <a:gd name="adj1" fmla="val 12676269"/>
                <a:gd name="adj2" fmla="val 18373204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Arc 42"/>
            <p:cNvSpPr>
              <a:spLocks noChangeAspect="1"/>
            </p:cNvSpPr>
            <p:nvPr/>
          </p:nvSpPr>
          <p:spPr bwMode="auto">
            <a:xfrm rot="5400000">
              <a:off x="1393216" y="5230024"/>
              <a:ext cx="354360" cy="352694"/>
            </a:xfrm>
            <a:prstGeom prst="arc">
              <a:avLst>
                <a:gd name="adj1" fmla="val 711097"/>
                <a:gd name="adj2" fmla="val 7027143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77" name="Text Box 103"/>
            <p:cNvSpPr txBox="1">
              <a:spLocks noChangeAspect="1"/>
            </p:cNvSpPr>
            <p:nvPr/>
          </p:nvSpPr>
          <p:spPr>
            <a:xfrm>
              <a:off x="1681035" y="5457770"/>
              <a:ext cx="298159" cy="169277"/>
            </a:xfrm>
            <a:prstGeom prst="rect">
              <a:avLst/>
            </a:prstGeom>
            <a:solidFill>
              <a:srgbClr val="FFFFFF">
                <a:alpha val="59999"/>
              </a:srgbClr>
            </a:solidFill>
            <a:ln w="9525">
              <a:noFill/>
            </a:ln>
          </p:spPr>
          <p:txBody>
            <a:bodyPr wrap="none" lIns="0" tIns="0" rIns="0" bIns="0">
              <a:spAutoFit/>
            </a:bodyPr>
            <a:p>
              <a:pPr eaLnBrk="1" hangingPunct="1"/>
              <a:r>
                <a:rPr lang="en-US" altLang="en-US" sz="1100" b="0" dirty="0">
                  <a:latin typeface="Arial" panose="020B0604020202020204" pitchFamily="34" charset="0"/>
                </a:rPr>
                <a:t>pivot</a:t>
              </a:r>
              <a:endParaRPr lang="en-US" altLang="en-US" sz="1100" b="0" dirty="0">
                <a:latin typeface="Arial" panose="020B0604020202020204" pitchFamily="34" charset="0"/>
              </a:endParaRPr>
            </a:p>
          </p:txBody>
        </p:sp>
        <p:grpSp>
          <p:nvGrpSpPr>
            <p:cNvPr id="27678" name="Group 39"/>
            <p:cNvGrpSpPr/>
            <p:nvPr/>
          </p:nvGrpSpPr>
          <p:grpSpPr>
            <a:xfrm rot="4413680">
              <a:off x="1471682" y="5267545"/>
              <a:ext cx="245988" cy="245988"/>
              <a:chOff x="4369791" y="2906648"/>
              <a:chExt cx="245988" cy="245988"/>
            </a:xfrm>
          </p:grpSpPr>
          <p:cxnSp>
            <p:nvCxnSpPr>
              <p:cNvPr id="27680" name="Straight Connector 43"/>
              <p:cNvCxnSpPr>
                <a:stCxn id="27683" idx="0"/>
                <a:endCxn id="27684" idx="0"/>
              </p:cNvCxnSpPr>
              <p:nvPr/>
            </p:nvCxnSpPr>
            <p:spPr>
              <a:xfrm flipV="1">
                <a:off x="4492785" y="2906648"/>
                <a:ext cx="0" cy="937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27681" name="Straight Connector 44"/>
              <p:cNvCxnSpPr>
                <a:stCxn id="27683" idx="3"/>
                <a:endCxn id="27684" idx="3"/>
              </p:cNvCxnSpPr>
              <p:nvPr/>
            </p:nvCxnSpPr>
            <p:spPr>
              <a:xfrm flipH="1">
                <a:off x="4405815" y="3050306"/>
                <a:ext cx="66306" cy="6630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27682" name="Straight Connector 45"/>
              <p:cNvCxnSpPr>
                <a:stCxn id="27683" idx="5"/>
                <a:endCxn id="27684" idx="5"/>
              </p:cNvCxnSpPr>
              <p:nvPr/>
            </p:nvCxnSpPr>
            <p:spPr>
              <a:xfrm>
                <a:off x="4513449" y="3050306"/>
                <a:ext cx="66306" cy="6630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27683" name="Oval 65"/>
              <p:cNvSpPr>
                <a:spLocks noChangeAspect="1"/>
              </p:cNvSpPr>
              <p:nvPr/>
            </p:nvSpPr>
            <p:spPr>
              <a:xfrm>
                <a:off x="4463561" y="3000418"/>
                <a:ext cx="58448" cy="58448"/>
              </a:xfrm>
              <a:prstGeom prst="ellipse">
                <a:avLst/>
              </a:prstGeom>
              <a:solidFill>
                <a:schemeClr val="tx1"/>
              </a:solidFill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684" name="Oval 65"/>
              <p:cNvSpPr>
                <a:spLocks noChangeAspect="1"/>
              </p:cNvSpPr>
              <p:nvPr/>
            </p:nvSpPr>
            <p:spPr>
              <a:xfrm>
                <a:off x="4369791" y="2906648"/>
                <a:ext cx="245988" cy="24598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679" name="Oval 65"/>
            <p:cNvSpPr>
              <a:spLocks noChangeAspect="1"/>
            </p:cNvSpPr>
            <p:nvPr/>
          </p:nvSpPr>
          <p:spPr>
            <a:xfrm rot="5400000">
              <a:off x="1808441" y="5415285"/>
              <a:ext cx="61314" cy="61314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8143" name="Text Box 103"/>
          <p:cNvSpPr txBox="1">
            <a:spLocks noChangeAspect="1"/>
          </p:cNvSpPr>
          <p:nvPr/>
        </p:nvSpPr>
        <p:spPr>
          <a:xfrm>
            <a:off x="128588" y="6043613"/>
            <a:ext cx="8702675" cy="7223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Works!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(called “</a:t>
            </a:r>
            <a:r>
              <a:rPr lang="en-US" altLang="en-US" sz="1400" b="0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turntable steering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,” a design in which a rigid axle is turned around its center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			and both front wheels turn around a common pivot)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Problem: At higher vehicle speeds, wheels on the inside and outside of a turn need to trace out circles of different radii.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7663" name="Freeform 71"/>
          <p:cNvSpPr>
            <a:spLocks noChangeAspect="1"/>
          </p:cNvSpPr>
          <p:nvPr/>
        </p:nvSpPr>
        <p:spPr>
          <a:xfrm>
            <a:off x="3849688" y="2101850"/>
            <a:ext cx="1584325" cy="1054100"/>
          </a:xfrm>
          <a:custGeom>
            <a:avLst/>
            <a:gdLst>
              <a:gd name="txL" fmla="*/ 0 w 755"/>
              <a:gd name="txT" fmla="*/ 0 h 502"/>
              <a:gd name="txR" fmla="*/ 755 w 755"/>
              <a:gd name="txB" fmla="*/ 502 h 502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755" h="502">
                <a:moveTo>
                  <a:pt x="177" y="157"/>
                </a:moveTo>
                <a:cubicBezTo>
                  <a:pt x="161" y="110"/>
                  <a:pt x="181" y="46"/>
                  <a:pt x="248" y="23"/>
                </a:cubicBezTo>
                <a:cubicBezTo>
                  <a:pt x="315" y="0"/>
                  <a:pt x="359" y="23"/>
                  <a:pt x="396" y="70"/>
                </a:cubicBezTo>
                <a:cubicBezTo>
                  <a:pt x="405" y="23"/>
                  <a:pt x="459" y="8"/>
                  <a:pt x="488" y="7"/>
                </a:cubicBezTo>
                <a:cubicBezTo>
                  <a:pt x="517" y="6"/>
                  <a:pt x="546" y="17"/>
                  <a:pt x="570" y="64"/>
                </a:cubicBezTo>
                <a:cubicBezTo>
                  <a:pt x="609" y="25"/>
                  <a:pt x="707" y="79"/>
                  <a:pt x="659" y="148"/>
                </a:cubicBezTo>
                <a:cubicBezTo>
                  <a:pt x="689" y="137"/>
                  <a:pt x="728" y="152"/>
                  <a:pt x="740" y="182"/>
                </a:cubicBezTo>
                <a:cubicBezTo>
                  <a:pt x="752" y="212"/>
                  <a:pt x="755" y="260"/>
                  <a:pt x="705" y="279"/>
                </a:cubicBezTo>
                <a:cubicBezTo>
                  <a:pt x="740" y="350"/>
                  <a:pt x="703" y="405"/>
                  <a:pt x="672" y="431"/>
                </a:cubicBezTo>
                <a:cubicBezTo>
                  <a:pt x="641" y="457"/>
                  <a:pt x="566" y="488"/>
                  <a:pt x="516" y="438"/>
                </a:cubicBezTo>
                <a:cubicBezTo>
                  <a:pt x="516" y="460"/>
                  <a:pt x="485" y="502"/>
                  <a:pt x="453" y="502"/>
                </a:cubicBezTo>
                <a:cubicBezTo>
                  <a:pt x="421" y="502"/>
                  <a:pt x="372" y="499"/>
                  <a:pt x="365" y="423"/>
                </a:cubicBezTo>
                <a:cubicBezTo>
                  <a:pt x="339" y="438"/>
                  <a:pt x="300" y="436"/>
                  <a:pt x="287" y="394"/>
                </a:cubicBezTo>
                <a:cubicBezTo>
                  <a:pt x="213" y="478"/>
                  <a:pt x="96" y="466"/>
                  <a:pt x="48" y="373"/>
                </a:cubicBezTo>
                <a:cubicBezTo>
                  <a:pt x="0" y="280"/>
                  <a:pt x="33" y="166"/>
                  <a:pt x="177" y="157"/>
                </a:cubicBez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664" name="Freeform 106"/>
          <p:cNvSpPr>
            <a:spLocks noChangeAspect="1"/>
          </p:cNvSpPr>
          <p:nvPr/>
        </p:nvSpPr>
        <p:spPr>
          <a:xfrm>
            <a:off x="3349625" y="2433638"/>
            <a:ext cx="468313" cy="390525"/>
          </a:xfrm>
          <a:custGeom>
            <a:avLst/>
            <a:gdLst>
              <a:gd name="txL" fmla="*/ 0 w 1851"/>
              <a:gd name="txT" fmla="*/ 0 h 1539"/>
              <a:gd name="txR" fmla="*/ 1851 w 1851"/>
              <a:gd name="txB" fmla="*/ 1539 h 153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851" h="1539">
                <a:moveTo>
                  <a:pt x="0" y="1539"/>
                </a:moveTo>
                <a:cubicBezTo>
                  <a:pt x="423" y="1401"/>
                  <a:pt x="1146" y="1134"/>
                  <a:pt x="1224" y="1128"/>
                </a:cubicBezTo>
                <a:cubicBezTo>
                  <a:pt x="1239" y="1257"/>
                  <a:pt x="1224" y="1458"/>
                  <a:pt x="1239" y="1536"/>
                </a:cubicBezTo>
                <a:cubicBezTo>
                  <a:pt x="1395" y="1326"/>
                  <a:pt x="1560" y="1134"/>
                  <a:pt x="1851" y="747"/>
                </a:cubicBezTo>
                <a:cubicBezTo>
                  <a:pt x="1548" y="360"/>
                  <a:pt x="1287" y="69"/>
                  <a:pt x="1224" y="0"/>
                </a:cubicBezTo>
                <a:cubicBezTo>
                  <a:pt x="1215" y="45"/>
                  <a:pt x="1236" y="294"/>
                  <a:pt x="1224" y="369"/>
                </a:cubicBezTo>
                <a:cubicBezTo>
                  <a:pt x="1080" y="315"/>
                  <a:pt x="249" y="117"/>
                  <a:pt x="3" y="30"/>
                </a:cubicBezTo>
                <a:cubicBezTo>
                  <a:pt x="6" y="369"/>
                  <a:pt x="27" y="981"/>
                  <a:pt x="0" y="1539"/>
                </a:cubicBezTo>
                <a:close/>
              </a:path>
            </a:pathLst>
          </a:custGeom>
          <a:solidFill>
            <a:srgbClr val="777777">
              <a:alpha val="100000"/>
            </a:srgbClr>
          </a:solidFill>
          <a:ln w="3175" cap="flat" cmpd="sng">
            <a:solidFill>
              <a:srgbClr val="77777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665" name="Freeform 106"/>
          <p:cNvSpPr>
            <a:spLocks noChangeAspect="1"/>
          </p:cNvSpPr>
          <p:nvPr/>
        </p:nvSpPr>
        <p:spPr>
          <a:xfrm>
            <a:off x="5559425" y="2433638"/>
            <a:ext cx="468313" cy="390525"/>
          </a:xfrm>
          <a:custGeom>
            <a:avLst/>
            <a:gdLst>
              <a:gd name="txL" fmla="*/ 0 w 1851"/>
              <a:gd name="txT" fmla="*/ 0 h 1539"/>
              <a:gd name="txR" fmla="*/ 1851 w 1851"/>
              <a:gd name="txB" fmla="*/ 1539 h 1539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851" h="1539">
                <a:moveTo>
                  <a:pt x="0" y="1539"/>
                </a:moveTo>
                <a:cubicBezTo>
                  <a:pt x="423" y="1401"/>
                  <a:pt x="1146" y="1134"/>
                  <a:pt x="1224" y="1128"/>
                </a:cubicBezTo>
                <a:cubicBezTo>
                  <a:pt x="1239" y="1257"/>
                  <a:pt x="1224" y="1458"/>
                  <a:pt x="1239" y="1536"/>
                </a:cubicBezTo>
                <a:cubicBezTo>
                  <a:pt x="1395" y="1326"/>
                  <a:pt x="1560" y="1134"/>
                  <a:pt x="1851" y="747"/>
                </a:cubicBezTo>
                <a:cubicBezTo>
                  <a:pt x="1548" y="360"/>
                  <a:pt x="1287" y="69"/>
                  <a:pt x="1224" y="0"/>
                </a:cubicBezTo>
                <a:cubicBezTo>
                  <a:pt x="1215" y="45"/>
                  <a:pt x="1236" y="294"/>
                  <a:pt x="1224" y="369"/>
                </a:cubicBezTo>
                <a:cubicBezTo>
                  <a:pt x="1080" y="315"/>
                  <a:pt x="249" y="117"/>
                  <a:pt x="3" y="30"/>
                </a:cubicBezTo>
                <a:cubicBezTo>
                  <a:pt x="6" y="369"/>
                  <a:pt x="27" y="981"/>
                  <a:pt x="0" y="1539"/>
                </a:cubicBezTo>
                <a:close/>
              </a:path>
            </a:pathLst>
          </a:custGeom>
          <a:solidFill>
            <a:srgbClr val="777777">
              <a:alpha val="100000"/>
            </a:srgbClr>
          </a:solidFill>
          <a:ln w="3175" cap="flat" cmpd="sng">
            <a:solidFill>
              <a:srgbClr val="77777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>
                                            <p:txEl>
                                              <p:charRg st="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8143">
                                            <p:txEl>
                                              <p:charRg st="0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>
                                            <p:txEl>
                                              <p:charRg st="97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8143">
                                            <p:txEl>
                                              <p:charRg st="97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>
                                            <p:txEl>
                                              <p:charRg st="150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8143">
                                            <p:txEl>
                                              <p:charRg st="150" end="2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3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Example: Car Steering System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8675" name="Text Box 103"/>
          <p:cNvSpPr txBox="1">
            <a:spLocks noChangeAspect="1"/>
          </p:cNvSpPr>
          <p:nvPr/>
        </p:nvSpPr>
        <p:spPr>
          <a:xfrm>
            <a:off x="457200" y="2413000"/>
            <a:ext cx="3767138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000" b="0" dirty="0">
                <a:latin typeface="Arial" panose="020B0604020202020204" pitchFamily="34" charset="0"/>
              </a:rPr>
              <a:t>“Ackermann steering” (simplified)</a:t>
            </a:r>
            <a:endParaRPr lang="en-US" altLang="en-US" sz="2000" b="0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sz="2000" b="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1200" b="0" dirty="0">
                <a:latin typeface="Arial" panose="020B0604020202020204" pitchFamily="34" charset="0"/>
              </a:rPr>
              <a:t>(Note how many new “concepts” we got!)</a:t>
            </a:r>
            <a:endParaRPr lang="en-US" altLang="en-US" sz="1200" b="0" dirty="0">
              <a:latin typeface="Arial" panose="020B0604020202020204" pitchFamily="34" charset="0"/>
            </a:endParaRPr>
          </a:p>
        </p:txBody>
      </p:sp>
      <p:pic>
        <p:nvPicPr>
          <p:cNvPr id="28676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8513" y="2349500"/>
            <a:ext cx="4278312" cy="2771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7" name="Text Box 103"/>
          <p:cNvSpPr txBox="1">
            <a:spLocks noChangeAspect="1"/>
          </p:cNvSpPr>
          <p:nvPr/>
        </p:nvSpPr>
        <p:spPr>
          <a:xfrm>
            <a:off x="414338" y="1536700"/>
            <a:ext cx="8686800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Problem: wheels on the inside and outside of a turn need to trace out circles of different radii 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</a:t>
            </a:r>
            <a:endParaRPr lang="en-US" altLang="en-US" sz="14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Incompatible components</a:t>
            </a:r>
            <a:r>
              <a:rPr lang="en-US" altLang="en-US" sz="1400" b="0" dirty="0">
                <a:latin typeface="Calibri" panose="020F0502020204030204" pitchFamily="34" charset="0"/>
                <a:ea typeface="Calibri" panose="020F0502020204030204" pitchFamily="34" charset="0"/>
              </a:rPr>
              <a:t>—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steering wheel moves </a:t>
            </a:r>
            <a:r>
              <a:rPr lang="en-US" altLang="en-US" sz="1400" b="0" i="1" dirty="0">
                <a:latin typeface="Calibri" panose="020F0502020204030204" pitchFamily="34" charset="0"/>
                <a:cs typeface="Calibri" panose="020F0502020204030204" pitchFamily="34" charset="0"/>
              </a:rPr>
              <a:t>rotationally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, wheels need to turn </a:t>
            </a:r>
            <a:r>
              <a:rPr lang="en-US" altLang="en-US" sz="1400" b="0" i="1" dirty="0">
                <a:latin typeface="Calibri" panose="020F0502020204030204" pitchFamily="34" charset="0"/>
                <a:cs typeface="Calibri" panose="020F0502020204030204" pitchFamily="34" charset="0"/>
              </a:rPr>
              <a:t>linearly</a:t>
            </a:r>
            <a:r>
              <a:rPr lang="en-US" altLang="en-US" sz="1400" b="0" dirty="0">
                <a:latin typeface="Calibri" panose="020F0502020204030204" pitchFamily="34" charset="0"/>
                <a:cs typeface="Calibri" panose="020F0502020204030204" pitchFamily="34" charset="0"/>
              </a:rPr>
              <a:t> in lockstep.</a:t>
            </a:r>
            <a:endParaRPr lang="en-US" altLang="en-US" sz="14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8678" name="Text Box 103"/>
          <p:cNvSpPr txBox="1">
            <a:spLocks noChangeAspect="1"/>
          </p:cNvSpPr>
          <p:nvPr/>
        </p:nvSpPr>
        <p:spPr>
          <a:xfrm>
            <a:off x="458788" y="4903788"/>
            <a:ext cx="7515225" cy="1231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Agile approach:</a:t>
            </a:r>
            <a:endParaRPr lang="en-US" altLang="en-US" sz="20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But what better way to figure out that a solution is wrong than by trying to implement it!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US" altLang="en-US" sz="12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Yes, if one has good acceptance tests </a:t>
            </a:r>
            <a:r>
              <a:rPr lang="en-US" altLang="en-US" sz="1600" b="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16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600" b="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r>
              <a:rPr lang="en-US" altLang="en-US" sz="1600" b="0" dirty="0">
                <a:latin typeface="Calibri" panose="020F0502020204030204" pitchFamily="34" charset="0"/>
                <a:cs typeface="Calibri" panose="020F0502020204030204" pitchFamily="34" charset="0"/>
              </a:rPr>
              <a:t> which are hard to create without a systematic and thorough domain analysis.</a:t>
            </a:r>
            <a:endParaRPr lang="en-US" altLang="en-US" sz="16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8679" name="Rectangle 2"/>
          <p:cNvSpPr/>
          <p:nvPr/>
        </p:nvSpPr>
        <p:spPr>
          <a:xfrm>
            <a:off x="457200" y="6297613"/>
            <a:ext cx="6002338" cy="4619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/>
            <a:r>
              <a:rPr lang="en-US" altLang="en-US" sz="1500" b="0" dirty="0">
                <a:latin typeface="Calibri" panose="020F0502020204030204" pitchFamily="34" charset="0"/>
                <a:cs typeface="Calibri" panose="020F0502020204030204" pitchFamily="34" charset="0"/>
              </a:rPr>
              <a:t>It gets more complicated</a:t>
            </a:r>
            <a:r>
              <a:rPr lang="en-US" altLang="en-US" sz="1500" b="0" dirty="0">
                <a:latin typeface="Calibri" panose="020F0502020204030204" pitchFamily="34" charset="0"/>
                <a:ea typeface="Calibri" panose="020F0502020204030204" pitchFamily="34" charset="0"/>
              </a:rPr>
              <a:t>—</a:t>
            </a:r>
            <a:r>
              <a:rPr lang="en-US" altLang="en-US" sz="1500" b="0" dirty="0">
                <a:latin typeface="Calibri" panose="020F0502020204030204" pitchFamily="34" charset="0"/>
                <a:cs typeface="Calibri" panose="020F0502020204030204" pitchFamily="34" charset="0"/>
              </a:rPr>
              <a:t> Another problem:</a:t>
            </a:r>
            <a:endParaRPr lang="en-US" altLang="en-US" sz="1500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sz="1500" b="0" dirty="0">
                <a:latin typeface="Calibri" panose="020F0502020204030204" pitchFamily="34" charset="0"/>
                <a:cs typeface="Calibri" panose="020F0502020204030204" pitchFamily="34" charset="0"/>
              </a:rPr>
              <a:t>At high vehicle speeds, a tire needs a slip angle to transfer the lateral forces</a:t>
            </a:r>
            <a:r>
              <a:rPr lang="en-US" altLang="en-US" sz="1500" b="0" dirty="0"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endParaRPr lang="en-US" altLang="en-US" sz="1500" b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8680" name="Rectangle 3"/>
          <p:cNvSpPr/>
          <p:nvPr/>
        </p:nvSpPr>
        <p:spPr>
          <a:xfrm>
            <a:off x="414338" y="2959100"/>
            <a:ext cx="2838450" cy="33655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Domain Modeling: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Looking from Inside Out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9699" name="Content Placeholder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developer should </a:t>
            </a:r>
            <a:r>
              <a:rPr lang="en-US" altLang="en-US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</a:t>
            </a: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engage in unconstrained construction of models of real world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Instead, identify only the concepts relevant for the problem at hand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Looking from inside out: What the computer needs to know about the world to solve the current problem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680000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resulting model should be as parsimonious as possible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Next Lecture:</a:t>
            </a:r>
            <a:br>
              <a:rPr kumimoji="0" lang="en-US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</a:br>
            <a:r>
              <a:rPr kumimoji="0" lang="en-US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Design</a:t>
            </a:r>
            <a:r>
              <a:rPr kumimoji="0" lang="en-US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of Object Interactions</a:t>
            </a:r>
            <a:endParaRPr kumimoji="0" lang="en-US" altLang="en-US" sz="4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graphicFrame>
        <p:nvGraphicFramePr>
          <p:cNvPr id="1026" name="Object 88"/>
          <p:cNvGraphicFramePr>
            <a:graphicFrameLocks noChangeAspect="1"/>
          </p:cNvGraphicFramePr>
          <p:nvPr/>
        </p:nvGraphicFramePr>
        <p:xfrm>
          <a:off x="8054975" y="981075"/>
          <a:ext cx="985838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56615" imgH="831850" progId="Visio.Drawing.6">
                  <p:embed/>
                </p:oleObj>
              </mc:Choice>
              <mc:Fallback>
                <p:oleObj name="" r:id="rId1" imgW="856615" imgH="83185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54975" y="981075"/>
                        <a:ext cx="985838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8" name="Picture 2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235200"/>
            <a:ext cx="7858125" cy="4103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I3MzEzOWFkYWIyMzJmZWY3NTJiMTllNTNhYmFjYzkifQ==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15176</Words>
  <Application>WPS 演示</Application>
  <PresentationFormat>全屏显示(4:3)</PresentationFormat>
  <Paragraphs>710</Paragraphs>
  <Slides>26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宋体</vt:lpstr>
      <vt:lpstr>Wingdings</vt:lpstr>
      <vt:lpstr>Times New Roman</vt:lpstr>
      <vt:lpstr>Comic Sans MS</vt:lpstr>
      <vt:lpstr>Arial Rounded MT Bold</vt:lpstr>
      <vt:lpstr>AvantGarde Bk BT</vt:lpstr>
      <vt:lpstr>Yu Gothic UI Semilight</vt:lpstr>
      <vt:lpstr>Verdana</vt:lpstr>
      <vt:lpstr>黑体</vt:lpstr>
      <vt:lpstr>Calibri</vt:lpstr>
      <vt:lpstr>Symbol</vt:lpstr>
      <vt:lpstr>微软雅黑</vt:lpstr>
      <vt:lpstr>Arial Unicode MS</vt:lpstr>
      <vt:lpstr>Default Design</vt:lpstr>
      <vt:lpstr>Visio.Drawing.6</vt:lpstr>
      <vt:lpstr>PowerPoint 演示文稿</vt:lpstr>
      <vt:lpstr>Topics</vt:lpstr>
      <vt:lpstr>Domain Analysis &amp; Modeling</vt:lpstr>
      <vt:lpstr>Use Cases vs. Domain Model</vt:lpstr>
      <vt:lpstr>What is Domain Modeling Example: ATM Machine</vt:lpstr>
      <vt:lpstr>Building Domain Model from Use Cases</vt:lpstr>
      <vt:lpstr>Use Case 1: Unlock</vt:lpstr>
      <vt:lpstr>Extracting the Responsibilities</vt:lpstr>
      <vt:lpstr>Domain Model (1)</vt:lpstr>
      <vt:lpstr>Domain Model (2)</vt:lpstr>
      <vt:lpstr>Degrees of  Domain Model Refinement</vt:lpstr>
      <vt:lpstr>Domain Model (3)</vt:lpstr>
      <vt:lpstr>Use Case 5: Inspect Access History</vt:lpstr>
      <vt:lpstr>Extracting the Responsibilities</vt:lpstr>
      <vt:lpstr>Extracting the Associations</vt:lpstr>
      <vt:lpstr>Extracting the Attributes</vt:lpstr>
      <vt:lpstr>Domain Model (4)</vt:lpstr>
      <vt:lpstr>Traceability Matrix (1)</vt:lpstr>
      <vt:lpstr>Traceability Matrix (2)</vt:lpstr>
      <vt:lpstr>Contracts: Preconditions and Postconditions</vt:lpstr>
      <vt:lpstr>Typical Problems with Domain Models</vt:lpstr>
      <vt:lpstr>Why Domain Modeling?</vt:lpstr>
      <vt:lpstr>Example: Car Steering System</vt:lpstr>
      <vt:lpstr>Example: Car Steering System</vt:lpstr>
      <vt:lpstr>Domain Modeling: Looking from Inside Out</vt:lpstr>
      <vt:lpstr>Next Lecture: Design of Object Interactions</vt:lpstr>
    </vt:vector>
  </TitlesOfParts>
  <Company>Rutgers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creator>Ivan Marsic</dc:creator>
  <cp:keywords>software engineering, software development, object-oriented software engineeirng, OOA</cp:keywords>
  <dc:subject>lecture 6: Domain Model - Object-Oriented Analysis</dc:subject>
  <cp:category>lecture slides, course materials</cp:category>
  <cp:lastModifiedBy>MX</cp:lastModifiedBy>
  <cp:revision>5034</cp:revision>
  <dcterms:created xsi:type="dcterms:W3CDTF">2003-05-20T05:14:00Z</dcterms:created>
  <dcterms:modified xsi:type="dcterms:W3CDTF">2026-04-04T07:29:50Z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F113C67D115748BDA3856D80342D6A94_12</vt:lpwstr>
  </property>
  <property fmtid="{D5CDD505-2E9C-101B-9397-08002B2CF9AE}" pid="3" name="KSOProductBuildVer">
    <vt:lpwstr>2052-12.1.0.23542</vt:lpwstr>
  </property>
</Properties>
</file>