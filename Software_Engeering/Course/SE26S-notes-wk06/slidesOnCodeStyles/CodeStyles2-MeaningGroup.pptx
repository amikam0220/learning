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1" r:id="rId2"/>
    <p:sldId id="257" r:id="rId3"/>
    <p:sldId id="258" r:id="rId4"/>
    <p:sldId id="259" r:id="rId5"/>
    <p:sldId id="262" r:id="rId6"/>
    <p:sldId id="265" r:id="rId7"/>
    <p:sldId id="266" r:id="rId8"/>
    <p:sldId id="271" r:id="rId9"/>
    <p:sldId id="282" r:id="rId10"/>
    <p:sldId id="267" r:id="rId11"/>
    <p:sldId id="273" r:id="rId12"/>
    <p:sldId id="275" r:id="rId13"/>
    <p:sldId id="277" r:id="rId14"/>
    <p:sldId id="278" r:id="rId15"/>
    <p:sldId id="279" r:id="rId16"/>
    <p:sldId id="280" r:id="rId17"/>
    <p:sldId id="272" r:id="rId18"/>
    <p:sldId id="274" r:id="rId1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76096-1A74-41A9-AAFD-A2AFFB4BF381}" type="datetimeFigureOut">
              <a:rPr lang="zh-CN" altLang="en-US" smtClean="0"/>
              <a:pPr/>
              <a:t>2020-5-19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E44C6-F42A-4E10-AB83-83AC6376B9C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F285AC-42BA-4DA6-A8DB-470C882853FD}" type="slidenum">
              <a:rPr lang="en-US" altLang="zh-CN" smtClean="0">
                <a:ea typeface="宋体" charset="-122"/>
              </a:rPr>
              <a:pPr/>
              <a:t>12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2939"/>
            <a:ext cx="5030018" cy="4114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B54D8-CDDC-41E1-BFD7-51EE4F52906A}" type="datetimeFigureOut">
              <a:rPr lang="zh-CN" altLang="en-US"/>
              <a:pPr>
                <a:defRPr/>
              </a:pPr>
              <a:t>2020-5-19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C02C63-DFC6-404C-B8BE-612C8F6F0D1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ADC4A-D120-4A90-8E8C-BE1F5AEDE688}" type="datetimeFigureOut">
              <a:rPr lang="zh-CN" altLang="en-US"/>
              <a:pPr>
                <a:defRPr/>
              </a:pPr>
              <a:t>2020-5-19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40E2A1-5798-422C-AC9F-F785AB683E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C3EEF-91FD-47A9-9F6D-B973D2574FF8}" type="datetimeFigureOut">
              <a:rPr lang="zh-CN" altLang="en-US"/>
              <a:pPr>
                <a:defRPr/>
              </a:pPr>
              <a:t>2020-5-19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B5B8ED-C77F-4084-BF43-6387C338261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97E902-EADD-4580-8E9C-314B1B6862EB}" type="datetimeFigureOut">
              <a:rPr lang="zh-CN" altLang="en-US"/>
              <a:pPr>
                <a:defRPr/>
              </a:pPr>
              <a:t>2020-5-19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6FA0B8-8309-4BF5-9D39-4D0BDE024E9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F3ED3C-AA44-4107-866E-11B4728B5C39}" type="datetimeFigureOut">
              <a:rPr lang="zh-CN" altLang="en-US"/>
              <a:pPr>
                <a:defRPr/>
              </a:pPr>
              <a:t>2020-5-19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5D02A7-72CB-4B9E-8865-DE8F361BB3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309A8B-A46E-4E87-A40A-707101C1907D}" type="datetimeFigureOut">
              <a:rPr lang="zh-CN" altLang="en-US"/>
              <a:pPr>
                <a:defRPr/>
              </a:pPr>
              <a:t>2020-5-19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883B39-FAD0-4D12-95A2-6E04F8D397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E8A2E0-5719-42C8-9872-D3570293F3AE}" type="datetimeFigureOut">
              <a:rPr lang="zh-CN" altLang="en-US"/>
              <a:pPr>
                <a:defRPr/>
              </a:pPr>
              <a:t>2020-5-19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41ADF-CF69-4BC6-82CC-915E9E33983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90414-9957-4896-8654-11D9CFD43A2B}" type="datetimeFigureOut">
              <a:rPr lang="zh-CN" altLang="en-US"/>
              <a:pPr>
                <a:defRPr/>
              </a:pPr>
              <a:t>2020-5-19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678D49-FB30-4F0D-8620-2C65D8705F7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6A8CC9-8B43-4AB6-A05E-DBE15EDCE6F9}" type="datetimeFigureOut">
              <a:rPr lang="zh-CN" altLang="en-US"/>
              <a:pPr>
                <a:defRPr/>
              </a:pPr>
              <a:t>2020-5-19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5B6E4-81EE-48A7-AF60-2FAF6892E3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D34C3-0C6B-484C-8368-BCF3F933A1D3}" type="datetimeFigureOut">
              <a:rPr lang="zh-CN" altLang="en-US"/>
              <a:pPr>
                <a:defRPr/>
              </a:pPr>
              <a:t>2020-5-19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C4356-D287-442C-A590-2ABCA8B9520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DC9CE-987D-46CD-AD3A-AFDA898B7B1B}" type="datetimeFigureOut">
              <a:rPr lang="zh-CN" altLang="en-US"/>
              <a:pPr>
                <a:defRPr/>
              </a:pPr>
              <a:t>2020-5-19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F4E1B-BA25-4C64-9267-C7568FE0CF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9F46CB8-906D-4F90-AC80-560FEE089D02}" type="datetimeFigureOut">
              <a:rPr lang="zh-CN" altLang="en-US"/>
              <a:pPr>
                <a:defRPr/>
              </a:pPr>
              <a:t>2020-5-19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F5EBBA9-B48A-4DE8-979E-B0B389FDF8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/>
          <p:cNvSpPr>
            <a:spLocks noGrp="1"/>
          </p:cNvSpPr>
          <p:nvPr>
            <p:ph type="ctrTitle"/>
          </p:nvPr>
        </p:nvSpPr>
        <p:spPr>
          <a:xfrm>
            <a:off x="179512" y="332656"/>
            <a:ext cx="8839200" cy="4255646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1800"/>
              </a:spcBef>
            </a:pPr>
            <a:r>
              <a:rPr lang="en-US" altLang="zh-CN" sz="5400" dirty="0" smtClean="0">
                <a:solidFill>
                  <a:srgbClr val="224645"/>
                </a:solidFill>
                <a:latin typeface="Calibri" pitchFamily="34" charset="0"/>
                <a:ea typeface="黑体" pitchFamily="49" charset="-122"/>
                <a:cs typeface="VSQOOW+Calibri"/>
              </a:rPr>
              <a:t>Meaning Group(</a:t>
            </a:r>
            <a:r>
              <a:rPr lang="zh-CN" altLang="en-US" sz="5400" dirty="0" smtClean="0">
                <a:solidFill>
                  <a:srgbClr val="224645"/>
                </a:solidFill>
                <a:latin typeface="Calibri" pitchFamily="34" charset="0"/>
                <a:ea typeface="黑体" pitchFamily="49" charset="-122"/>
                <a:cs typeface="VSQOOW+Calibri"/>
              </a:rPr>
              <a:t>意群</a:t>
            </a:r>
            <a:r>
              <a:rPr lang="en-US" altLang="zh-CN" sz="5400" dirty="0" smtClean="0">
                <a:solidFill>
                  <a:srgbClr val="224645"/>
                </a:solidFill>
                <a:latin typeface="Calibri" pitchFamily="34" charset="0"/>
                <a:ea typeface="黑体" pitchFamily="49" charset="-122"/>
                <a:cs typeface="VSQOOW+Calibri"/>
              </a:rPr>
              <a:t>) </a:t>
            </a:r>
            <a:r>
              <a:rPr lang="en-US" altLang="zh-CN" sz="5400" kern="12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/>
            </a:r>
            <a:br>
              <a:rPr lang="en-US" altLang="zh-CN" sz="5400" kern="12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</a:br>
            <a:r>
              <a:rPr lang="en-US" altLang="zh-CN" sz="4000" kern="1200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Design on Clear &amp; Clean Expression</a:t>
            </a:r>
            <a:endParaRPr lang="zh-CN" altLang="en-US" sz="4000" kern="1200" dirty="0" smtClean="0">
              <a:solidFill>
                <a:srgbClr val="224645"/>
              </a:solidFill>
              <a:latin typeface="Calibri" pitchFamily="34" charset="0"/>
              <a:cs typeface="VSQOOW+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68413"/>
            <a:ext cx="4540250" cy="198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573463"/>
            <a:ext cx="4548188" cy="198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98988" y="1268413"/>
            <a:ext cx="4545012" cy="198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5508625" cy="3846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4613" y="4365625"/>
            <a:ext cx="2571750" cy="230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14363"/>
            <a:ext cx="9129713" cy="511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04825" y="1196975"/>
            <a:ext cx="8027988" cy="52625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138" y="476250"/>
            <a:ext cx="8213725" cy="590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428625" y="4929188"/>
            <a:ext cx="8229600" cy="1643062"/>
          </a:xfrm>
          <a:ln w="25400"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zh-CN" altLang="en-US" sz="2800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 代码</a:t>
            </a:r>
            <a:r>
              <a:rPr lang="en-US" altLang="zh-CN" sz="2800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/</a:t>
            </a:r>
            <a:r>
              <a:rPr lang="zh-CN" altLang="en-US" sz="2800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文字布局结构体现出计算的逻辑</a:t>
            </a:r>
            <a:r>
              <a:rPr lang="en-US" altLang="zh-CN" sz="2800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/</a:t>
            </a:r>
            <a:r>
              <a:rPr lang="zh-CN" altLang="en-US" sz="2800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意群结构</a:t>
            </a:r>
            <a:endParaRPr lang="en-US" altLang="zh-CN" sz="2800" dirty="0" smtClean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zh-CN" altLang="en-US" sz="2800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 节省思维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5580112" y="836712"/>
            <a:ext cx="3214688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400"/>
              </a:spcBef>
              <a:spcAft>
                <a:spcPts val="3600"/>
              </a:spcAft>
              <a:buFont typeface="Wingdings" pitchFamily="2" charset="2"/>
              <a:buChar char="Ø"/>
              <a:defRPr/>
            </a:pPr>
            <a:r>
              <a:rPr lang="en-US" altLang="zh-CN" sz="2800" dirty="0">
                <a:latin typeface="+mn-lt"/>
                <a:ea typeface="黑体" pitchFamily="49" charset="-122"/>
              </a:rPr>
              <a:t>Crowded, </a:t>
            </a:r>
            <a:r>
              <a:rPr lang="en-US" altLang="zh-CN" sz="2800" dirty="0" smtClean="0">
                <a:latin typeface="+mn-lt"/>
                <a:ea typeface="黑体" pitchFamily="49" charset="-122"/>
              </a:rPr>
              <a:t> Bad</a:t>
            </a:r>
            <a:endParaRPr lang="en-US" altLang="zh-CN" sz="2800" dirty="0">
              <a:latin typeface="+mn-lt"/>
              <a:ea typeface="黑体" pitchFamily="49" charset="-122"/>
            </a:endParaRPr>
          </a:p>
          <a:p>
            <a:pPr marL="342900" indent="-342900">
              <a:spcBef>
                <a:spcPts val="400"/>
              </a:spcBef>
              <a:spcAft>
                <a:spcPts val="3600"/>
              </a:spcAft>
              <a:buFont typeface="Wingdings" pitchFamily="2" charset="2"/>
              <a:buChar char="Ø"/>
              <a:defRPr/>
            </a:pPr>
            <a:r>
              <a:rPr lang="en-US" altLang="zh-CN" sz="2800" dirty="0">
                <a:solidFill>
                  <a:srgbClr val="00B0F0"/>
                </a:solidFill>
                <a:latin typeface="+mn-lt"/>
                <a:ea typeface="黑体" pitchFamily="49" charset="-122"/>
              </a:rPr>
              <a:t>Clear, </a:t>
            </a:r>
            <a:r>
              <a:rPr lang="en-US" altLang="zh-CN" sz="2800" dirty="0" smtClean="0">
                <a:solidFill>
                  <a:srgbClr val="00B0F0"/>
                </a:solidFill>
                <a:latin typeface="+mn-lt"/>
                <a:ea typeface="黑体" pitchFamily="49" charset="-122"/>
              </a:rPr>
              <a:t> Good</a:t>
            </a:r>
            <a:endParaRPr lang="en-US" altLang="zh-CN" sz="2800" dirty="0">
              <a:solidFill>
                <a:srgbClr val="00B0F0"/>
              </a:solidFill>
              <a:latin typeface="+mn-lt"/>
              <a:ea typeface="黑体" pitchFamily="49" charset="-122"/>
            </a:endParaRPr>
          </a:p>
          <a:p>
            <a:pPr marL="342900" indent="-342900">
              <a:spcBef>
                <a:spcPts val="400"/>
              </a:spcBef>
              <a:spcAft>
                <a:spcPts val="3600"/>
              </a:spcAft>
              <a:buFont typeface="Wingdings" pitchFamily="2" charset="2"/>
              <a:buChar char="Ø"/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+mn-lt"/>
                <a:ea typeface="黑体" pitchFamily="49" charset="-122"/>
              </a:rPr>
              <a:t>Creative, </a:t>
            </a:r>
            <a:r>
              <a:rPr lang="en-US" altLang="zh-CN" sz="2800" dirty="0" smtClean="0">
                <a:solidFill>
                  <a:schemeClr val="accent6">
                    <a:lumMod val="50000"/>
                  </a:schemeClr>
                </a:solidFill>
                <a:latin typeface="+mn-lt"/>
                <a:ea typeface="黑体" pitchFamily="49" charset="-122"/>
              </a:rPr>
              <a:t> Best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+mn-lt"/>
              <a:ea typeface="黑体" pitchFamily="49" charset="-122"/>
            </a:endParaRPr>
          </a:p>
          <a:p>
            <a:pPr marL="342900" indent="-342900">
              <a:spcBef>
                <a:spcPts val="400"/>
              </a:spcBef>
              <a:spcAft>
                <a:spcPts val="3600"/>
              </a:spcAft>
              <a:buFont typeface="Wingdings" pitchFamily="2" charset="2"/>
              <a:buChar char="Ø"/>
              <a:defRPr/>
            </a:pPr>
            <a:r>
              <a:rPr lang="en-US" altLang="zh-CN" sz="2800" dirty="0">
                <a:solidFill>
                  <a:srgbClr val="FF0000"/>
                </a:solidFill>
                <a:latin typeface="+mn-lt"/>
                <a:ea typeface="黑体" pitchFamily="49" charset="-122"/>
              </a:rPr>
              <a:t>Confused, </a:t>
            </a:r>
            <a:r>
              <a:rPr lang="en-US" altLang="zh-CN" sz="2800" dirty="0" smtClean="0">
                <a:solidFill>
                  <a:srgbClr val="FF0000"/>
                </a:solidFill>
                <a:latin typeface="+mn-lt"/>
                <a:ea typeface="黑体" pitchFamily="49" charset="-122"/>
              </a:rPr>
              <a:t> Worse</a:t>
            </a:r>
            <a:endParaRPr lang="zh-CN" altLang="en-US" sz="2800" dirty="0">
              <a:solidFill>
                <a:srgbClr val="FF0000"/>
              </a:solidFill>
              <a:latin typeface="+mn-lt"/>
              <a:ea typeface="黑体" pitchFamily="49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620688"/>
            <a:ext cx="4861781" cy="396044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89546"/>
            <a:ext cx="9144000" cy="471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4800"/>
            <a:ext cx="9144000" cy="4898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04800" y="5410200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741621"/>
                </a:solidFill>
                <a:latin typeface="Calibri" pitchFamily="34" charset="0"/>
              </a:rPr>
              <a:t>Reference</a:t>
            </a:r>
            <a:r>
              <a:rPr lang="en-US" altLang="zh-CN" sz="2400" dirty="0" smtClean="0">
                <a:solidFill>
                  <a:srgbClr val="741621"/>
                </a:solidFill>
                <a:latin typeface="Calibri" pitchFamily="34" charset="0"/>
              </a:rPr>
              <a:t>: Layout of HTML Elements, Gap, Padding, Margin…</a:t>
            </a:r>
          </a:p>
          <a:p>
            <a:r>
              <a:rPr lang="en-US" altLang="zh-CN" sz="2400" dirty="0" smtClean="0">
                <a:solidFill>
                  <a:srgbClr val="741621"/>
                </a:solidFill>
                <a:latin typeface="Calibri" pitchFamily="34" charset="0"/>
              </a:rPr>
              <a:t>                     For text:  Font Spacing, Line Spacing, Alignment Styles… </a:t>
            </a:r>
            <a:endParaRPr lang="zh-CN" altLang="en-US" sz="2400" dirty="0">
              <a:solidFill>
                <a:srgbClr val="741621"/>
              </a:solidFill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85728"/>
            <a:ext cx="5667375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14678" y="3500438"/>
            <a:ext cx="560070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504056"/>
          </a:xfrm>
        </p:spPr>
        <p:txBody>
          <a:bodyPr/>
          <a:lstStyle/>
          <a:p>
            <a:r>
              <a:rPr lang="en-US" dirty="0" smtClean="0"/>
              <a:t>The HTML/CSS Box Model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1052736"/>
            <a:ext cx="4648200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736" y="3861048"/>
            <a:ext cx="46482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074"/>
          <p:cNvSpPr>
            <a:spLocks noGrp="1" noChangeArrowheads="1"/>
          </p:cNvSpPr>
          <p:nvPr>
            <p:ph type="body" idx="1"/>
          </p:nvPr>
        </p:nvSpPr>
        <p:spPr>
          <a:xfrm>
            <a:off x="467544" y="1556792"/>
            <a:ext cx="8077200" cy="449580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spcBef>
                <a:spcPts val="1200"/>
              </a:spcBef>
              <a:buFont typeface="Wingdings" pitchFamily="2" charset="2"/>
              <a:buChar char="q"/>
            </a:pPr>
            <a:r>
              <a:rPr lang="zh-CN" altLang="en-US" sz="2800" dirty="0" smtClean="0">
                <a:ea typeface="黑体" pitchFamily="49" charset="-122"/>
              </a:rPr>
              <a:t>工程师为什么必须是好的作家。</a:t>
            </a:r>
          </a:p>
          <a:p>
            <a:pPr algn="just" eaLnBrk="1" hangingPunct="1">
              <a:lnSpc>
                <a:spcPct val="110000"/>
              </a:lnSpc>
              <a:spcBef>
                <a:spcPts val="1200"/>
              </a:spcBef>
              <a:buFont typeface="Wingdings" pitchFamily="2" charset="2"/>
              <a:buChar char="q"/>
            </a:pPr>
            <a:r>
              <a:rPr lang="zh-CN" altLang="en-US" sz="2800" dirty="0" smtClean="0">
                <a:ea typeface="黑体" pitchFamily="49" charset="-122"/>
              </a:rPr>
              <a:t>工程过程的最终结果是文档。换句话说，工程师生产的是文档，不是实物。其他人根据这些文档去制造实物。</a:t>
            </a:r>
          </a:p>
          <a:p>
            <a:pPr algn="just" eaLnBrk="1" hangingPunct="1">
              <a:lnSpc>
                <a:spcPct val="110000"/>
              </a:lnSpc>
              <a:spcBef>
                <a:spcPts val="1200"/>
              </a:spcBef>
              <a:buFont typeface="Wingdings" pitchFamily="2" charset="2"/>
              <a:buChar char="q"/>
            </a:pPr>
            <a:r>
              <a:rPr lang="zh-CN" altLang="en-US" sz="2800" dirty="0" smtClean="0">
                <a:ea typeface="黑体" pitchFamily="49" charset="-122"/>
              </a:rPr>
              <a:t>我就在困惑中提出了一个问题，“除了软件项目正常产生的所有文档以外，还有可以被认为是真正的工程文档的东西吗？”我给出的回答是，“是的，有这样的文档存在，并且只有一份</a:t>
            </a:r>
            <a:r>
              <a:rPr lang="en-US" altLang="zh-CN" sz="2800" dirty="0" smtClean="0">
                <a:ea typeface="黑体" pitchFamily="49" charset="-122"/>
              </a:rPr>
              <a:t>——</a:t>
            </a:r>
            <a:r>
              <a:rPr lang="zh-CN" altLang="en-US" sz="2800" dirty="0" smtClean="0">
                <a:ea typeface="黑体" pitchFamily="49" charset="-122"/>
              </a:rPr>
              <a:t>源代码。</a:t>
            </a:r>
          </a:p>
        </p:txBody>
      </p:sp>
      <p:sp>
        <p:nvSpPr>
          <p:cNvPr id="72707" name="Rectangle 3075"/>
          <p:cNvSpPr>
            <a:spLocks noChangeArrowheads="1"/>
          </p:cNvSpPr>
          <p:nvPr/>
        </p:nvSpPr>
        <p:spPr bwMode="auto">
          <a:xfrm>
            <a:off x="539552" y="332656"/>
            <a:ext cx="849694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4400" b="0" dirty="0">
                <a:latin typeface="Calibri" pitchFamily="34" charset="0"/>
                <a:ea typeface="黑体" pitchFamily="49" charset="-122"/>
              </a:rPr>
              <a:t>源代码就是设计 </a:t>
            </a:r>
            <a:r>
              <a:rPr lang="en-US" altLang="zh-CN" sz="4800" b="0" dirty="0">
                <a:latin typeface="Calibri" pitchFamily="34" charset="0"/>
                <a:ea typeface="黑体" pitchFamily="49" charset="-122"/>
              </a:rPr>
              <a:t>-- </a:t>
            </a:r>
            <a:r>
              <a:rPr lang="en-US" altLang="zh-CN" sz="3600" b="0" dirty="0">
                <a:latin typeface="Calibri" pitchFamily="34" charset="0"/>
                <a:ea typeface="黑体" pitchFamily="49" charset="-122"/>
              </a:rPr>
              <a:t>Jack </a:t>
            </a:r>
            <a:r>
              <a:rPr lang="en-US" altLang="zh-CN" sz="3600" b="0" dirty="0" err="1" smtClean="0">
                <a:latin typeface="Calibri" pitchFamily="34" charset="0"/>
                <a:ea typeface="黑体" pitchFamily="49" charset="-122"/>
              </a:rPr>
              <a:t>Reecves</a:t>
            </a:r>
            <a:r>
              <a:rPr lang="en-US" altLang="zh-CN" sz="3600" b="0" dirty="0" smtClean="0">
                <a:latin typeface="Calibri" pitchFamily="34" charset="0"/>
                <a:ea typeface="黑体" pitchFamily="49" charset="-122"/>
              </a:rPr>
              <a:t> 1990</a:t>
            </a:r>
            <a:endParaRPr lang="en-US" altLang="zh-CN" sz="3600" b="0" dirty="0">
              <a:latin typeface="Calibri" pitchFamily="34" charset="0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76672"/>
            <a:ext cx="8229600" cy="762000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ea typeface="黑体" pitchFamily="49" charset="-122"/>
              </a:rPr>
              <a:t>意图向导的编程：“无需注释”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1941513"/>
            <a:ext cx="8132762" cy="4114800"/>
          </a:xfrm>
        </p:spPr>
        <p:txBody>
          <a:bodyPr/>
          <a:lstStyle/>
          <a:p>
            <a:pPr algn="just"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smtClean="0"/>
              <a:t>    </a:t>
            </a:r>
            <a:endParaRPr lang="en-US" altLang="zh-CN" sz="2600" smtClean="0">
              <a:latin typeface="Times New Roman" pitchFamily="18" charset="0"/>
            </a:endParaRPr>
          </a:p>
          <a:p>
            <a:pPr eaLnBrk="1" hangingPunct="1">
              <a:buClr>
                <a:schemeClr val="hlink"/>
              </a:buClr>
              <a:buFont typeface="Wingdings" pitchFamily="2" charset="2"/>
              <a:buNone/>
            </a:pPr>
            <a:endParaRPr lang="en-US" altLang="zh-CN" sz="2800" smtClean="0">
              <a:solidFill>
                <a:schemeClr val="tx2"/>
              </a:solidFill>
              <a:ea typeface="黑体" pitchFamily="49" charset="-122"/>
            </a:endParaRP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457200" y="1752600"/>
            <a:ext cx="830580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000" b="0" dirty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避免不必要的注释，正当的注释如下：</a:t>
            </a:r>
          </a:p>
          <a:p>
            <a:pPr marL="342900" indent="-342900" algn="just">
              <a:spcBef>
                <a:spcPct val="50000"/>
              </a:spcBef>
              <a:buFont typeface="Wingdings" pitchFamily="2" charset="2"/>
              <a:buAutoNum type="arabicParenR"/>
            </a:pPr>
            <a:r>
              <a:rPr lang="zh-CN" altLang="en-US" sz="2000" b="0" dirty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不完整的</a:t>
            </a:r>
            <a:r>
              <a:rPr lang="zh-CN" altLang="en-US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代码 </a:t>
            </a:r>
            <a:r>
              <a:rPr lang="en-US" altLang="zh-CN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(TODO</a:t>
            </a:r>
            <a:r>
              <a:rPr lang="en-US" altLang="zh-CN" sz="2000" b="0" dirty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: The tree should be balanced after the </a:t>
            </a:r>
            <a:r>
              <a:rPr lang="en-US" altLang="zh-CN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insertion</a:t>
            </a:r>
            <a:r>
              <a:rPr lang="en-US" altLang="zh-CN" sz="200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);</a:t>
            </a:r>
          </a:p>
          <a:p>
            <a:pPr marL="342900" indent="-342900" algn="just">
              <a:spcBef>
                <a:spcPct val="50000"/>
              </a:spcBef>
              <a:buFont typeface="Wingdings" pitchFamily="2" charset="2"/>
              <a:buAutoNum type="arabicParenR"/>
            </a:pPr>
            <a:r>
              <a:rPr lang="zh-CN" altLang="en-US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 有</a:t>
            </a:r>
            <a:r>
              <a:rPr lang="zh-CN" altLang="en-US" sz="2000" b="0" dirty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疑义代码需要</a:t>
            </a:r>
            <a:r>
              <a:rPr lang="zh-CN" altLang="en-US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复查 </a:t>
            </a:r>
            <a:r>
              <a:rPr lang="en-US" altLang="zh-CN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(CODE </a:t>
            </a:r>
            <a:r>
              <a:rPr lang="en-US" altLang="zh-CN" sz="2000" b="0" dirty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DEBT: The looping structure is a bit convoluted</a:t>
            </a:r>
            <a:r>
              <a:rPr lang="en-US" altLang="zh-CN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.);</a:t>
            </a:r>
          </a:p>
          <a:p>
            <a:pPr marL="342900" indent="-342900" algn="just">
              <a:spcBef>
                <a:spcPct val="50000"/>
              </a:spcBef>
              <a:buFont typeface="Wingdings" pitchFamily="2" charset="2"/>
              <a:buAutoNum type="arabicParenR"/>
            </a:pPr>
            <a:r>
              <a:rPr lang="zh-CN" altLang="en-US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 重构</a:t>
            </a:r>
            <a:r>
              <a:rPr lang="zh-CN" altLang="en-US" sz="2000" b="0" dirty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无法使其足够</a:t>
            </a:r>
            <a:r>
              <a:rPr lang="zh-CN" altLang="en-US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清楚 </a:t>
            </a:r>
            <a:r>
              <a:rPr lang="en-US" altLang="zh-CN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(NEEDS </a:t>
            </a:r>
            <a:r>
              <a:rPr lang="en-US" altLang="zh-CN" sz="2000" b="0" dirty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WORK: I tried extract method, but it’s still awkward. Maybe refactoring to a Strategy would clean it up</a:t>
            </a:r>
            <a:r>
              <a:rPr lang="en-US" altLang="zh-CN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?); </a:t>
            </a:r>
          </a:p>
          <a:p>
            <a:pPr marL="342900" indent="-342900" algn="just">
              <a:spcBef>
                <a:spcPct val="50000"/>
              </a:spcBef>
              <a:buFont typeface="Wingdings" pitchFamily="2" charset="2"/>
              <a:buAutoNum type="arabicParenR"/>
            </a:pPr>
            <a:r>
              <a:rPr lang="zh-CN" altLang="en-US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使用</a:t>
            </a:r>
            <a:r>
              <a:rPr lang="zh-CN" altLang="en-US" sz="2000" b="0" dirty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了某种非同寻常的</a:t>
            </a:r>
            <a:r>
              <a:rPr lang="zh-CN" altLang="en-US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算法  </a:t>
            </a:r>
            <a:r>
              <a:rPr lang="en-US" altLang="zh-CN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(</a:t>
            </a:r>
            <a:r>
              <a:rPr lang="zh-CN" altLang="en-US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注明</a:t>
            </a:r>
            <a:r>
              <a:rPr lang="zh-CN" altLang="en-US" sz="2000" b="0" dirty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那里可以找到这种算法即</a:t>
            </a:r>
            <a:r>
              <a:rPr lang="zh-CN" altLang="en-US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可</a:t>
            </a:r>
            <a:r>
              <a:rPr lang="en-US" altLang="zh-CN" sz="200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);</a:t>
            </a:r>
            <a:endParaRPr lang="zh-CN" altLang="en-US" sz="2000" b="0" dirty="0">
              <a:solidFill>
                <a:srgbClr val="002060"/>
              </a:solidFill>
              <a:latin typeface="Calibri" pitchFamily="34" charset="0"/>
              <a:ea typeface="黑体" pitchFamily="49" charset="-122"/>
            </a:endParaRPr>
          </a:p>
          <a:p>
            <a:pPr marL="342900" indent="-342900" algn="just">
              <a:spcBef>
                <a:spcPct val="50000"/>
              </a:spcBef>
              <a:buFont typeface="Wingdings" pitchFamily="2" charset="2"/>
              <a:buAutoNum type="arabicParenR"/>
            </a:pPr>
            <a:r>
              <a:rPr lang="zh-CN" altLang="en-US" sz="2000" b="0" dirty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性能</a:t>
            </a:r>
            <a:r>
              <a:rPr lang="zh-CN" altLang="en-US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调整 </a:t>
            </a:r>
            <a:r>
              <a:rPr lang="en-US" altLang="zh-CN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(</a:t>
            </a:r>
            <a:r>
              <a:rPr lang="zh-CN" altLang="en-US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防止</a:t>
            </a:r>
            <a:r>
              <a:rPr lang="zh-CN" altLang="en-US" sz="2000" b="0" dirty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别人把有意的技巧性代码重构，一般只在性能成为瓶颈时</a:t>
            </a:r>
            <a:r>
              <a:rPr lang="zh-CN" altLang="en-US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进行</a:t>
            </a:r>
            <a:r>
              <a:rPr lang="en-US" altLang="zh-CN" sz="200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);</a:t>
            </a:r>
            <a:endParaRPr lang="zh-CN" altLang="en-US" sz="2000" b="0" dirty="0">
              <a:solidFill>
                <a:srgbClr val="002060"/>
              </a:solidFill>
              <a:latin typeface="Calibri" pitchFamily="34" charset="0"/>
              <a:ea typeface="黑体" pitchFamily="49" charset="-122"/>
            </a:endParaRPr>
          </a:p>
          <a:p>
            <a:pPr marL="342900" indent="-342900" algn="just">
              <a:spcBef>
                <a:spcPct val="50000"/>
              </a:spcBef>
              <a:buFont typeface="Wingdings" pitchFamily="2" charset="2"/>
              <a:buAutoNum type="arabicParenR"/>
            </a:pPr>
            <a:r>
              <a:rPr lang="zh-CN" altLang="en-US" sz="2000" b="0" dirty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类</a:t>
            </a:r>
            <a:r>
              <a:rPr lang="zh-CN" altLang="en-US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注释 </a:t>
            </a:r>
            <a:r>
              <a:rPr lang="en-US" altLang="zh-CN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(</a:t>
            </a:r>
            <a:r>
              <a:rPr lang="zh-CN" altLang="en-US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简单</a:t>
            </a:r>
            <a:r>
              <a:rPr lang="zh-CN" altLang="en-US" sz="2000" b="0" dirty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解释类的存在意义及</a:t>
            </a:r>
            <a:r>
              <a:rPr lang="zh-CN" altLang="en-US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用途</a:t>
            </a:r>
            <a:r>
              <a:rPr lang="en-US" altLang="zh-CN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)</a:t>
            </a:r>
            <a:r>
              <a:rPr lang="zh-CN" altLang="en-US" sz="2000" b="0" dirty="0" smtClean="0">
                <a:solidFill>
                  <a:srgbClr val="002060"/>
                </a:solidFill>
                <a:latin typeface="Calibri" pitchFamily="34" charset="0"/>
                <a:ea typeface="黑体" pitchFamily="49" charset="-122"/>
              </a:rPr>
              <a:t>。 </a:t>
            </a:r>
            <a:endParaRPr lang="zh-CN" altLang="en-US" sz="2000" b="0" dirty="0">
              <a:solidFill>
                <a:srgbClr val="002060"/>
              </a:solidFill>
              <a:latin typeface="Calibri" pitchFamily="34" charset="0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762000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ea typeface="黑体" pitchFamily="49" charset="-122"/>
              </a:rPr>
              <a:t>代码风格</a:t>
            </a:r>
            <a:endParaRPr lang="zh-CN" altLang="en-US" sz="4000" dirty="0" smtClean="0">
              <a:solidFill>
                <a:schemeClr val="tx1"/>
              </a:solidFill>
              <a:ea typeface="黑体" pitchFamily="49" charset="-122"/>
            </a:endParaRPr>
          </a:p>
        </p:txBody>
      </p:sp>
      <p:sp>
        <p:nvSpPr>
          <p:cNvPr id="7577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04813" y="1941513"/>
            <a:ext cx="8132762" cy="4114800"/>
          </a:xfrm>
        </p:spPr>
        <p:txBody>
          <a:bodyPr/>
          <a:lstStyle/>
          <a:p>
            <a:pPr algn="just"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 smtClean="0"/>
              <a:t>    </a:t>
            </a:r>
            <a:endParaRPr lang="en-US" altLang="zh-CN" sz="2600" dirty="0" smtClean="0">
              <a:latin typeface="Times New Roman" pitchFamily="18" charset="0"/>
            </a:endParaRPr>
          </a:p>
        </p:txBody>
      </p:sp>
      <p:sp>
        <p:nvSpPr>
          <p:cNvPr id="75780" name="Rectangle 1028"/>
          <p:cNvSpPr>
            <a:spLocks noChangeArrowheads="1"/>
          </p:cNvSpPr>
          <p:nvPr/>
        </p:nvSpPr>
        <p:spPr bwMode="auto">
          <a:xfrm>
            <a:off x="1115616" y="2636912"/>
            <a:ext cx="6912768" cy="3427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 err="1" smtClean="0">
                <a:latin typeface="Consolas" pitchFamily="49" charset="0"/>
                <a:ea typeface="黑体" pitchFamily="49" charset="-122"/>
              </a:rPr>
              <a:t>int</a:t>
            </a:r>
            <a:r>
              <a:rPr lang="en-US" altLang="zh-CN" dirty="0" smtClean="0">
                <a:latin typeface="Consolas" pitchFamily="49" charset="0"/>
                <a:ea typeface="黑体" pitchFamily="49" charset="-122"/>
              </a:rPr>
              <a:t> </a:t>
            </a:r>
            <a:r>
              <a:rPr lang="en-US" altLang="zh-CN" dirty="0">
                <a:latin typeface="Consolas" pitchFamily="49" charset="0"/>
                <a:ea typeface="黑体" pitchFamily="49" charset="-122"/>
              </a:rPr>
              <a:t>fib (</a:t>
            </a:r>
            <a:r>
              <a:rPr lang="en-US" altLang="zh-CN" dirty="0" err="1">
                <a:latin typeface="Consolas" pitchFamily="49" charset="0"/>
                <a:ea typeface="黑体" pitchFamily="49" charset="-122"/>
              </a:rPr>
              <a:t>int</a:t>
            </a:r>
            <a:r>
              <a:rPr lang="en-US" altLang="zh-CN" dirty="0">
                <a:latin typeface="Consolas" pitchFamily="49" charset="0"/>
                <a:ea typeface="黑体" pitchFamily="49" charset="-122"/>
              </a:rPr>
              <a:t> </a:t>
            </a:r>
            <a:r>
              <a:rPr lang="en-US" altLang="zh-CN" dirty="0" err="1">
                <a:latin typeface="Consolas" pitchFamily="49" charset="0"/>
                <a:ea typeface="黑体" pitchFamily="49" charset="-122"/>
              </a:rPr>
              <a:t>i</a:t>
            </a:r>
            <a:r>
              <a:rPr lang="en-US" altLang="zh-CN" dirty="0">
                <a:latin typeface="Consolas" pitchFamily="49" charset="0"/>
                <a:ea typeface="黑体" pitchFamily="49" charset="-122"/>
              </a:rPr>
              <a:t>) {</a:t>
            </a:r>
          </a:p>
          <a:p>
            <a:pPr marL="342900" indent="-342900"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Consolas" pitchFamily="49" charset="0"/>
                <a:ea typeface="黑体" pitchFamily="49" charset="-122"/>
              </a:rPr>
              <a:t>  </a:t>
            </a:r>
            <a:r>
              <a:rPr lang="en-US" altLang="zh-CN" dirty="0" smtClean="0">
                <a:latin typeface="Consolas" pitchFamily="49" charset="0"/>
                <a:ea typeface="黑体" pitchFamily="49" charset="-122"/>
              </a:rPr>
              <a:t> </a:t>
            </a:r>
            <a:r>
              <a:rPr lang="en-US" altLang="zh-CN" dirty="0" err="1" smtClean="0">
                <a:latin typeface="Consolas" pitchFamily="49" charset="0"/>
                <a:ea typeface="黑体" pitchFamily="49" charset="-122"/>
              </a:rPr>
              <a:t>int</a:t>
            </a:r>
            <a:r>
              <a:rPr lang="en-US" altLang="zh-CN" dirty="0" smtClean="0">
                <a:latin typeface="Consolas" pitchFamily="49" charset="0"/>
                <a:ea typeface="黑体" pitchFamily="49" charset="-122"/>
              </a:rPr>
              <a:t> </a:t>
            </a:r>
            <a:r>
              <a:rPr lang="en-US" altLang="zh-CN" dirty="0">
                <a:latin typeface="Consolas" pitchFamily="49" charset="0"/>
                <a:ea typeface="黑体" pitchFamily="49" charset="-122"/>
              </a:rPr>
              <a:t>result;</a:t>
            </a:r>
          </a:p>
          <a:p>
            <a:pPr marL="342900" indent="-342900"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Consolas" pitchFamily="49" charset="0"/>
                <a:ea typeface="黑体" pitchFamily="49" charset="-122"/>
              </a:rPr>
              <a:t>  </a:t>
            </a:r>
            <a:r>
              <a:rPr lang="en-US" altLang="zh-CN" dirty="0" smtClean="0">
                <a:latin typeface="Consolas" pitchFamily="49" charset="0"/>
                <a:ea typeface="黑体" pitchFamily="49" charset="-122"/>
              </a:rPr>
              <a:t> if </a:t>
            </a:r>
            <a:r>
              <a:rPr lang="en-US" altLang="zh-CN" dirty="0">
                <a:latin typeface="Consolas" pitchFamily="49" charset="0"/>
                <a:ea typeface="黑体" pitchFamily="49" charset="-122"/>
              </a:rPr>
              <a:t>(</a:t>
            </a:r>
            <a:r>
              <a:rPr lang="en-US" altLang="zh-CN" dirty="0" err="1">
                <a:latin typeface="Consolas" pitchFamily="49" charset="0"/>
                <a:ea typeface="黑体" pitchFamily="49" charset="-122"/>
              </a:rPr>
              <a:t>i</a:t>
            </a:r>
            <a:r>
              <a:rPr lang="en-US" altLang="zh-CN" dirty="0">
                <a:latin typeface="Consolas" pitchFamily="49" charset="0"/>
                <a:ea typeface="黑体" pitchFamily="49" charset="-122"/>
              </a:rPr>
              <a:t> == 0) {</a:t>
            </a:r>
          </a:p>
          <a:p>
            <a:pPr marL="342900" indent="-342900"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Consolas" pitchFamily="49" charset="0"/>
                <a:ea typeface="黑体" pitchFamily="49" charset="-122"/>
              </a:rPr>
              <a:t>    </a:t>
            </a:r>
            <a:r>
              <a:rPr lang="en-US" altLang="zh-CN" dirty="0" smtClean="0">
                <a:latin typeface="Consolas" pitchFamily="49" charset="0"/>
                <a:ea typeface="黑体" pitchFamily="49" charset="-122"/>
              </a:rPr>
              <a:t>  result </a:t>
            </a:r>
            <a:r>
              <a:rPr lang="en-US" altLang="zh-CN" dirty="0">
                <a:latin typeface="Consolas" pitchFamily="49" charset="0"/>
                <a:ea typeface="黑体" pitchFamily="49" charset="-122"/>
              </a:rPr>
              <a:t>= 0;</a:t>
            </a:r>
          </a:p>
          <a:p>
            <a:pPr marL="342900" indent="-342900"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Consolas" pitchFamily="49" charset="0"/>
                <a:ea typeface="黑体" pitchFamily="49" charset="-122"/>
              </a:rPr>
              <a:t>  </a:t>
            </a:r>
            <a:r>
              <a:rPr lang="en-US" altLang="zh-CN" dirty="0" smtClean="0">
                <a:latin typeface="Consolas" pitchFamily="49" charset="0"/>
                <a:ea typeface="黑体" pitchFamily="49" charset="-122"/>
              </a:rPr>
              <a:t> } </a:t>
            </a:r>
            <a:r>
              <a:rPr lang="en-US" altLang="zh-CN" dirty="0">
                <a:latin typeface="Consolas" pitchFamily="49" charset="0"/>
                <a:ea typeface="黑体" pitchFamily="49" charset="-122"/>
              </a:rPr>
              <a:t>else if (</a:t>
            </a:r>
            <a:r>
              <a:rPr lang="en-US" altLang="zh-CN" dirty="0" err="1">
                <a:latin typeface="Consolas" pitchFamily="49" charset="0"/>
                <a:ea typeface="黑体" pitchFamily="49" charset="-122"/>
              </a:rPr>
              <a:t>i</a:t>
            </a:r>
            <a:r>
              <a:rPr lang="en-US" altLang="zh-CN" dirty="0">
                <a:latin typeface="Consolas" pitchFamily="49" charset="0"/>
                <a:ea typeface="黑体" pitchFamily="49" charset="-122"/>
              </a:rPr>
              <a:t> &lt;= 2) {</a:t>
            </a:r>
          </a:p>
          <a:p>
            <a:pPr marL="342900" indent="-342900"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Consolas" pitchFamily="49" charset="0"/>
                <a:ea typeface="黑体" pitchFamily="49" charset="-122"/>
              </a:rPr>
              <a:t>    </a:t>
            </a:r>
            <a:r>
              <a:rPr lang="en-US" altLang="zh-CN" dirty="0" smtClean="0">
                <a:latin typeface="Consolas" pitchFamily="49" charset="0"/>
                <a:ea typeface="黑体" pitchFamily="49" charset="-122"/>
              </a:rPr>
              <a:t>  result </a:t>
            </a:r>
            <a:r>
              <a:rPr lang="en-US" altLang="zh-CN" dirty="0">
                <a:latin typeface="Consolas" pitchFamily="49" charset="0"/>
                <a:ea typeface="黑体" pitchFamily="49" charset="-122"/>
              </a:rPr>
              <a:t>= 1;</a:t>
            </a:r>
          </a:p>
          <a:p>
            <a:pPr marL="342900" indent="-342900"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Consolas" pitchFamily="49" charset="0"/>
                <a:ea typeface="黑体" pitchFamily="49" charset="-122"/>
              </a:rPr>
              <a:t>  </a:t>
            </a:r>
            <a:r>
              <a:rPr lang="en-US" altLang="zh-CN" dirty="0" smtClean="0">
                <a:latin typeface="Consolas" pitchFamily="49" charset="0"/>
                <a:ea typeface="黑体" pitchFamily="49" charset="-122"/>
              </a:rPr>
              <a:t> } </a:t>
            </a:r>
            <a:r>
              <a:rPr lang="en-US" altLang="zh-CN" dirty="0">
                <a:latin typeface="Consolas" pitchFamily="49" charset="0"/>
                <a:ea typeface="黑体" pitchFamily="49" charset="-122"/>
              </a:rPr>
              <a:t>else {</a:t>
            </a:r>
          </a:p>
          <a:p>
            <a:pPr marL="342900" indent="-342900"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Consolas" pitchFamily="49" charset="0"/>
                <a:ea typeface="黑体" pitchFamily="49" charset="-122"/>
              </a:rPr>
              <a:t>    </a:t>
            </a:r>
            <a:r>
              <a:rPr lang="en-US" altLang="zh-CN" dirty="0" smtClean="0">
                <a:latin typeface="Consolas" pitchFamily="49" charset="0"/>
                <a:ea typeface="黑体" pitchFamily="49" charset="-122"/>
              </a:rPr>
              <a:t>  result </a:t>
            </a:r>
            <a:r>
              <a:rPr lang="en-US" altLang="zh-CN" dirty="0">
                <a:latin typeface="Consolas" pitchFamily="49" charset="0"/>
                <a:ea typeface="黑体" pitchFamily="49" charset="-122"/>
              </a:rPr>
              <a:t>= fib( </a:t>
            </a:r>
            <a:r>
              <a:rPr lang="en-US" altLang="zh-CN" dirty="0" smtClean="0">
                <a:latin typeface="Consolas" pitchFamily="49" charset="0"/>
                <a:ea typeface="黑体" pitchFamily="49" charset="-122"/>
              </a:rPr>
              <a:t>i-1 </a:t>
            </a:r>
            <a:r>
              <a:rPr lang="en-US" altLang="zh-CN" dirty="0">
                <a:latin typeface="Consolas" pitchFamily="49" charset="0"/>
                <a:ea typeface="黑体" pitchFamily="49" charset="-122"/>
              </a:rPr>
              <a:t>) + fib( </a:t>
            </a:r>
            <a:r>
              <a:rPr lang="en-US" altLang="zh-CN" dirty="0" smtClean="0">
                <a:latin typeface="Consolas" pitchFamily="49" charset="0"/>
                <a:ea typeface="黑体" pitchFamily="49" charset="-122"/>
              </a:rPr>
              <a:t>i-2 </a:t>
            </a:r>
            <a:r>
              <a:rPr lang="en-US" altLang="zh-CN" dirty="0">
                <a:latin typeface="Consolas" pitchFamily="49" charset="0"/>
                <a:ea typeface="黑体" pitchFamily="49" charset="-122"/>
              </a:rPr>
              <a:t>);</a:t>
            </a:r>
          </a:p>
          <a:p>
            <a:pPr marL="342900" indent="-342900"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Consolas" pitchFamily="49" charset="0"/>
                <a:ea typeface="黑体" pitchFamily="49" charset="-122"/>
              </a:rPr>
              <a:t>  </a:t>
            </a:r>
            <a:r>
              <a:rPr lang="en-US" altLang="zh-CN" dirty="0" smtClean="0">
                <a:latin typeface="Consolas" pitchFamily="49" charset="0"/>
                <a:ea typeface="黑体" pitchFamily="49" charset="-122"/>
              </a:rPr>
              <a:t> }</a:t>
            </a:r>
            <a:endParaRPr lang="en-US" altLang="zh-CN" dirty="0">
              <a:latin typeface="Consolas" pitchFamily="49" charset="0"/>
              <a:ea typeface="黑体" pitchFamily="49" charset="-122"/>
            </a:endParaRPr>
          </a:p>
          <a:p>
            <a:pPr marL="342900" indent="-342900"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Consolas" pitchFamily="49" charset="0"/>
                <a:ea typeface="黑体" pitchFamily="49" charset="-122"/>
              </a:rPr>
              <a:t>  </a:t>
            </a:r>
            <a:r>
              <a:rPr lang="en-US" altLang="zh-CN" dirty="0" smtClean="0">
                <a:latin typeface="Consolas" pitchFamily="49" charset="0"/>
                <a:ea typeface="黑体" pitchFamily="49" charset="-122"/>
              </a:rPr>
              <a:t> return </a:t>
            </a:r>
            <a:r>
              <a:rPr lang="en-US" altLang="zh-CN" dirty="0">
                <a:latin typeface="Consolas" pitchFamily="49" charset="0"/>
                <a:ea typeface="黑体" pitchFamily="49" charset="-122"/>
              </a:rPr>
              <a:t>result;</a:t>
            </a:r>
          </a:p>
          <a:p>
            <a:pPr marL="342900" indent="-342900"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Consolas" pitchFamily="49" charset="0"/>
                <a:ea typeface="黑体" pitchFamily="49" charset="-122"/>
              </a:rPr>
              <a:t>}</a:t>
            </a:r>
          </a:p>
        </p:txBody>
      </p:sp>
      <p:sp>
        <p:nvSpPr>
          <p:cNvPr id="75781" name="Rectangle 1029"/>
          <p:cNvSpPr>
            <a:spLocks noChangeArrowheads="1"/>
          </p:cNvSpPr>
          <p:nvPr/>
        </p:nvSpPr>
        <p:spPr bwMode="auto">
          <a:xfrm>
            <a:off x="609600" y="1124744"/>
            <a:ext cx="8001000" cy="1618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zh-CN" sz="1800" b="0" dirty="0">
                <a:solidFill>
                  <a:schemeClr val="tx1"/>
                </a:solidFill>
                <a:latin typeface="Calibri" pitchFamily="34" charset="0"/>
              </a:rPr>
              <a:t>Many people have been taught that a method should have only a single exit point (i.e., return statement). There is no valid reason for this, certainly not at the expense of clarity. In a method that should exit under multiple conditions, this leads to complex, nested conditional statements. A better, and much clearer, alternative is to use guard clauses to return under those conditions.</a:t>
            </a:r>
          </a:p>
          <a:p>
            <a:pPr eaLnBrk="0" hangingPunct="0"/>
            <a:endParaRPr lang="en-US" altLang="zh-CN" sz="1800" b="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5782" name="Rectangle 1030"/>
          <p:cNvSpPr>
            <a:spLocks noChangeArrowheads="1"/>
          </p:cNvSpPr>
          <p:nvPr/>
        </p:nvSpPr>
        <p:spPr bwMode="auto">
          <a:xfrm>
            <a:off x="685800" y="6165304"/>
            <a:ext cx="8001000" cy="572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zh-CN" sz="1800" b="0" dirty="0">
                <a:solidFill>
                  <a:schemeClr val="tx1"/>
                </a:solidFill>
                <a:latin typeface="Calibri" pitchFamily="34" charset="0"/>
              </a:rPr>
              <a:t>It's correct, but very ugly and crowded. And the conditional isn't even deeply nested. </a:t>
            </a:r>
          </a:p>
          <a:p>
            <a:pPr eaLnBrk="0" hangingPunct="0"/>
            <a:endParaRPr lang="en-US" altLang="zh-CN" sz="1800" b="0" dirty="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229600" cy="762000"/>
          </a:xfrm>
        </p:spPr>
        <p:txBody>
          <a:bodyPr/>
          <a:lstStyle/>
          <a:p>
            <a:pPr eaLnBrk="1" hangingPunct="1"/>
            <a:r>
              <a:rPr lang="zh-CN" altLang="en-US" smtClean="0">
                <a:ea typeface="黑体" pitchFamily="49" charset="-122"/>
              </a:rPr>
              <a:t>代码风格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1941513"/>
            <a:ext cx="8132762" cy="4114800"/>
          </a:xfrm>
        </p:spPr>
        <p:txBody>
          <a:bodyPr/>
          <a:lstStyle/>
          <a:p>
            <a:pPr algn="just"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dirty="0" smtClean="0"/>
              <a:t>    </a:t>
            </a:r>
            <a:endParaRPr lang="en-US" altLang="zh-CN" sz="2600" dirty="0" smtClean="0">
              <a:latin typeface="Times New Roman" pitchFamily="18" charset="0"/>
            </a:endParaRP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1187624" y="3124200"/>
            <a:ext cx="7727776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 err="1" smtClean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int</a:t>
            </a:r>
            <a:r>
              <a:rPr lang="en-US" altLang="zh-CN" sz="2400" dirty="0" smtClean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fib (</a:t>
            </a:r>
            <a:r>
              <a:rPr lang="en-US" altLang="zh-CN" sz="2400" dirty="0" err="1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int</a:t>
            </a:r>
            <a:r>
              <a:rPr lang="en-US" altLang="zh-CN" sz="2400" dirty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 </a:t>
            </a:r>
            <a:r>
              <a:rPr lang="en-US" altLang="zh-CN" sz="2400" dirty="0" err="1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) {</a:t>
            </a:r>
          </a:p>
          <a:p>
            <a:pPr marL="342900" indent="-342900"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  </a:t>
            </a:r>
            <a:r>
              <a:rPr lang="en-US" altLang="zh-CN" sz="2400" dirty="0" smtClean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 if </a:t>
            </a:r>
            <a:r>
              <a:rPr lang="en-US" altLang="zh-CN" sz="2400" dirty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(</a:t>
            </a:r>
            <a:r>
              <a:rPr lang="en-US" altLang="zh-CN" sz="2400" dirty="0" err="1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 == 0) return 0;</a:t>
            </a:r>
          </a:p>
          <a:p>
            <a:pPr marL="342900" indent="-342900"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  </a:t>
            </a:r>
            <a:r>
              <a:rPr lang="en-US" altLang="zh-CN" sz="2400" dirty="0" smtClean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 if </a:t>
            </a:r>
            <a:r>
              <a:rPr lang="en-US" altLang="zh-CN" sz="2400" dirty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(</a:t>
            </a:r>
            <a:r>
              <a:rPr lang="en-US" altLang="zh-CN" sz="2400" dirty="0" err="1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 &lt;= 2) return 1;</a:t>
            </a:r>
          </a:p>
          <a:p>
            <a:pPr marL="342900" indent="-342900"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  </a:t>
            </a:r>
            <a:r>
              <a:rPr lang="en-US" altLang="zh-CN" sz="2400" dirty="0" smtClean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 return </a:t>
            </a:r>
            <a:r>
              <a:rPr lang="en-US" altLang="zh-CN" sz="2400" dirty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fib( </a:t>
            </a:r>
            <a:r>
              <a:rPr lang="en-US" altLang="zh-CN" sz="2400" dirty="0" smtClean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i–1 </a:t>
            </a:r>
            <a:r>
              <a:rPr lang="en-US" altLang="zh-CN" sz="2400" dirty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) + fib( </a:t>
            </a:r>
            <a:r>
              <a:rPr lang="en-US" altLang="zh-CN" sz="2400" dirty="0" smtClean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i–2 </a:t>
            </a:r>
            <a:r>
              <a:rPr lang="en-US" altLang="zh-CN" sz="2400" dirty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);</a:t>
            </a:r>
          </a:p>
          <a:p>
            <a:pPr marL="342900" indent="-342900"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Consolas" pitchFamily="49" charset="0"/>
                <a:ea typeface="黑体" pitchFamily="49" charset="-122"/>
              </a:rPr>
              <a:t>}</a:t>
            </a:r>
          </a:p>
          <a:p>
            <a:pPr marL="342900" indent="-342900" algn="just">
              <a:buFont typeface="Wingdings" pitchFamily="2" charset="2"/>
              <a:buNone/>
            </a:pPr>
            <a:endParaRPr lang="en-US" altLang="zh-CN" sz="2000" dirty="0">
              <a:solidFill>
                <a:schemeClr val="tx1"/>
              </a:solidFill>
              <a:latin typeface="Courier New" pitchFamily="49" charset="0"/>
              <a:ea typeface="黑体" pitchFamily="49" charset="-122"/>
            </a:endParaRPr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611560" y="1772816"/>
            <a:ext cx="8001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zh-CN" sz="2800" b="0" dirty="0">
                <a:solidFill>
                  <a:schemeClr val="tx1"/>
                </a:solidFill>
                <a:latin typeface="Calibri" pitchFamily="34" charset="0"/>
              </a:rPr>
              <a:t>Now let's </a:t>
            </a:r>
            <a:r>
              <a:rPr lang="en-US" altLang="zh-CN" sz="2800" b="0" dirty="0" err="1">
                <a:solidFill>
                  <a:schemeClr val="tx1"/>
                </a:solidFill>
                <a:latin typeface="Calibri" pitchFamily="34" charset="0"/>
              </a:rPr>
              <a:t>refactor</a:t>
            </a:r>
            <a:r>
              <a:rPr lang="en-US" altLang="zh-CN" sz="2800" b="0" dirty="0">
                <a:solidFill>
                  <a:schemeClr val="tx1"/>
                </a:solidFill>
                <a:latin typeface="Calibri" pitchFamily="34" charset="0"/>
              </a:rPr>
              <a:t> it to use guard clauses instead of the conditional: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67544" y="188640"/>
            <a:ext cx="8229600" cy="958552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ea typeface="黑体" pitchFamily="49" charset="-122"/>
              </a:rPr>
              <a:t>代码风格</a:t>
            </a:r>
          </a:p>
        </p:txBody>
      </p:sp>
      <p:sp>
        <p:nvSpPr>
          <p:cNvPr id="7782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404813" y="1941513"/>
            <a:ext cx="8132762" cy="4114800"/>
          </a:xfrm>
        </p:spPr>
        <p:txBody>
          <a:bodyPr/>
          <a:lstStyle/>
          <a:p>
            <a:pPr algn="just"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2600" smtClean="0"/>
              <a:t>    </a:t>
            </a:r>
            <a:endParaRPr lang="en-US" altLang="zh-CN" sz="2600" smtClean="0">
              <a:latin typeface="Times New Roman" pitchFamily="18" charset="0"/>
            </a:endParaRPr>
          </a:p>
        </p:txBody>
      </p:sp>
      <p:sp>
        <p:nvSpPr>
          <p:cNvPr id="77828" name="Rectangle 2052"/>
          <p:cNvSpPr>
            <a:spLocks noChangeArrowheads="1"/>
          </p:cNvSpPr>
          <p:nvPr/>
        </p:nvSpPr>
        <p:spPr bwMode="auto">
          <a:xfrm>
            <a:off x="1115616" y="3276600"/>
            <a:ext cx="6552728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None/>
            </a:pPr>
            <a:r>
              <a:rPr lang="en-US" altLang="zh-CN" sz="2000" dirty="0" err="1" smtClean="0">
                <a:latin typeface="Consolas" pitchFamily="49" charset="0"/>
                <a:ea typeface="黑体" pitchFamily="49" charset="-122"/>
              </a:rPr>
              <a:t>int</a:t>
            </a:r>
            <a:r>
              <a:rPr lang="en-US" altLang="zh-CN" sz="2000" dirty="0" smtClean="0">
                <a:latin typeface="Consolas" pitchFamily="49" charset="0"/>
                <a:ea typeface="黑体" pitchFamily="49" charset="-122"/>
              </a:rPr>
              <a:t> </a:t>
            </a: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fib (</a:t>
            </a:r>
            <a:r>
              <a:rPr lang="en-US" altLang="zh-CN" sz="2000" dirty="0" err="1">
                <a:latin typeface="Consolas" pitchFamily="49" charset="0"/>
                <a:ea typeface="黑体" pitchFamily="49" charset="-122"/>
              </a:rPr>
              <a:t>int</a:t>
            </a: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 </a:t>
            </a:r>
            <a:r>
              <a:rPr lang="en-US" altLang="zh-CN" sz="2000" dirty="0" err="1">
                <a:latin typeface="Consolas" pitchFamily="49" charset="0"/>
                <a:ea typeface="黑体" pitchFamily="49" charset="-122"/>
              </a:rPr>
              <a:t>i</a:t>
            </a: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) {</a:t>
            </a:r>
          </a:p>
          <a:p>
            <a:pPr marL="342900" indent="-342900" algn="just">
              <a:buFont typeface="Wingdings" pitchFamily="2" charset="2"/>
              <a:buNone/>
            </a:pP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  </a:t>
            </a:r>
            <a:r>
              <a:rPr lang="en-US" altLang="zh-CN" sz="2000" dirty="0" smtClean="0">
                <a:latin typeface="Consolas" pitchFamily="49" charset="0"/>
                <a:ea typeface="黑体" pitchFamily="49" charset="-122"/>
              </a:rPr>
              <a:t> if </a:t>
            </a: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(</a:t>
            </a:r>
            <a:r>
              <a:rPr lang="en-US" altLang="zh-CN" sz="2000" dirty="0" err="1">
                <a:latin typeface="Consolas" pitchFamily="49" charset="0"/>
                <a:ea typeface="黑体" pitchFamily="49" charset="-122"/>
              </a:rPr>
              <a:t>i</a:t>
            </a: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 == 0) {</a:t>
            </a:r>
          </a:p>
          <a:p>
            <a:pPr marL="342900" indent="-342900" algn="just">
              <a:buFont typeface="Wingdings" pitchFamily="2" charset="2"/>
              <a:buNone/>
            </a:pP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    </a:t>
            </a:r>
            <a:r>
              <a:rPr lang="en-US" altLang="zh-CN" sz="2000" dirty="0" smtClean="0">
                <a:latin typeface="Consolas" pitchFamily="49" charset="0"/>
                <a:ea typeface="黑体" pitchFamily="49" charset="-122"/>
              </a:rPr>
              <a:t>  return </a:t>
            </a: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0;</a:t>
            </a:r>
          </a:p>
          <a:p>
            <a:pPr marL="342900" indent="-342900" algn="just">
              <a:buFont typeface="Wingdings" pitchFamily="2" charset="2"/>
              <a:buNone/>
            </a:pP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  </a:t>
            </a:r>
            <a:r>
              <a:rPr lang="en-US" altLang="zh-CN" sz="2000" dirty="0" smtClean="0">
                <a:latin typeface="Consolas" pitchFamily="49" charset="0"/>
                <a:ea typeface="黑体" pitchFamily="49" charset="-122"/>
              </a:rPr>
              <a:t> }</a:t>
            </a:r>
            <a:endParaRPr lang="en-US" altLang="zh-CN" sz="2000" dirty="0">
              <a:latin typeface="Consolas" pitchFamily="49" charset="0"/>
              <a:ea typeface="黑体" pitchFamily="49" charset="-122"/>
            </a:endParaRPr>
          </a:p>
          <a:p>
            <a:pPr marL="342900" indent="-342900" algn="just">
              <a:buFont typeface="Wingdings" pitchFamily="2" charset="2"/>
              <a:buNone/>
            </a:pP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  </a:t>
            </a:r>
            <a:r>
              <a:rPr lang="en-US" altLang="zh-CN" sz="2000" dirty="0" smtClean="0">
                <a:latin typeface="Consolas" pitchFamily="49" charset="0"/>
                <a:ea typeface="黑体" pitchFamily="49" charset="-122"/>
              </a:rPr>
              <a:t> if </a:t>
            </a: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(</a:t>
            </a:r>
            <a:r>
              <a:rPr lang="en-US" altLang="zh-CN" sz="2000" dirty="0" err="1">
                <a:latin typeface="Consolas" pitchFamily="49" charset="0"/>
                <a:ea typeface="黑体" pitchFamily="49" charset="-122"/>
              </a:rPr>
              <a:t>i</a:t>
            </a: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 &lt;= 2) {</a:t>
            </a:r>
          </a:p>
          <a:p>
            <a:pPr marL="342900" indent="-342900" algn="just">
              <a:buFont typeface="Wingdings" pitchFamily="2" charset="2"/>
              <a:buNone/>
            </a:pP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    </a:t>
            </a:r>
            <a:r>
              <a:rPr lang="en-US" altLang="zh-CN" sz="2000" dirty="0" smtClean="0">
                <a:latin typeface="Consolas" pitchFamily="49" charset="0"/>
                <a:ea typeface="黑体" pitchFamily="49" charset="-122"/>
              </a:rPr>
              <a:t>  return </a:t>
            </a: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1;</a:t>
            </a:r>
          </a:p>
          <a:p>
            <a:pPr marL="342900" indent="-342900" algn="just">
              <a:buFont typeface="Wingdings" pitchFamily="2" charset="2"/>
              <a:buNone/>
            </a:pP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  </a:t>
            </a:r>
            <a:r>
              <a:rPr lang="en-US" altLang="zh-CN" sz="2000" dirty="0" smtClean="0">
                <a:latin typeface="Consolas" pitchFamily="49" charset="0"/>
                <a:ea typeface="黑体" pitchFamily="49" charset="-122"/>
              </a:rPr>
              <a:t> }</a:t>
            </a:r>
            <a:endParaRPr lang="en-US" altLang="zh-CN" sz="2000" dirty="0">
              <a:latin typeface="Consolas" pitchFamily="49" charset="0"/>
              <a:ea typeface="黑体" pitchFamily="49" charset="-122"/>
            </a:endParaRPr>
          </a:p>
          <a:p>
            <a:pPr marL="342900" indent="-342900" algn="just">
              <a:buFont typeface="Wingdings" pitchFamily="2" charset="2"/>
              <a:buNone/>
            </a:pP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  </a:t>
            </a:r>
            <a:r>
              <a:rPr lang="en-US" altLang="zh-CN" sz="2000" dirty="0" smtClean="0">
                <a:latin typeface="Consolas" pitchFamily="49" charset="0"/>
                <a:ea typeface="黑体" pitchFamily="49" charset="-122"/>
              </a:rPr>
              <a:t> return </a:t>
            </a: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fib( </a:t>
            </a:r>
            <a:r>
              <a:rPr lang="en-US" altLang="zh-CN" sz="2000" dirty="0" smtClean="0">
                <a:latin typeface="Consolas" pitchFamily="49" charset="0"/>
                <a:ea typeface="黑体" pitchFamily="49" charset="-122"/>
              </a:rPr>
              <a:t>i–1 </a:t>
            </a:r>
            <a:r>
              <a:rPr lang="en-US" altLang="zh-CN" sz="2000" dirty="0" smtClean="0">
                <a:latin typeface="Consolas" pitchFamily="49" charset="0"/>
                <a:ea typeface="黑体" pitchFamily="49" charset="-122"/>
              </a:rPr>
              <a:t>) </a:t>
            </a: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+ fib( </a:t>
            </a:r>
            <a:r>
              <a:rPr lang="en-US" altLang="zh-CN" sz="2000" dirty="0" smtClean="0">
                <a:latin typeface="Consolas" pitchFamily="49" charset="0"/>
                <a:ea typeface="黑体" pitchFamily="49" charset="-122"/>
              </a:rPr>
              <a:t>i–2 </a:t>
            </a:r>
            <a:r>
              <a:rPr lang="en-US" altLang="zh-CN" sz="2000" dirty="0" smtClean="0">
                <a:latin typeface="Consolas" pitchFamily="49" charset="0"/>
                <a:ea typeface="黑体" pitchFamily="49" charset="-122"/>
              </a:rPr>
              <a:t>);</a:t>
            </a:r>
            <a:endParaRPr lang="en-US" altLang="zh-CN" sz="2000" dirty="0">
              <a:latin typeface="Consolas" pitchFamily="49" charset="0"/>
              <a:ea typeface="黑体" pitchFamily="49" charset="-122"/>
            </a:endParaRPr>
          </a:p>
          <a:p>
            <a:pPr marL="342900" indent="-342900" algn="just">
              <a:buFont typeface="Wingdings" pitchFamily="2" charset="2"/>
              <a:buNone/>
            </a:pPr>
            <a:r>
              <a:rPr lang="en-US" altLang="zh-CN" sz="2000" dirty="0">
                <a:latin typeface="Consolas" pitchFamily="49" charset="0"/>
                <a:ea typeface="黑体" pitchFamily="49" charset="-122"/>
              </a:rPr>
              <a:t>}</a:t>
            </a:r>
          </a:p>
          <a:p>
            <a:pPr marL="342900" indent="-342900" algn="just">
              <a:buFont typeface="Wingdings" pitchFamily="2" charset="2"/>
              <a:buNone/>
            </a:pPr>
            <a:endParaRPr lang="en-US" altLang="zh-CN" sz="2000" dirty="0">
              <a:latin typeface="Courier New" pitchFamily="49" charset="0"/>
              <a:ea typeface="黑体" pitchFamily="49" charset="-122"/>
            </a:endParaRPr>
          </a:p>
        </p:txBody>
      </p:sp>
      <p:sp>
        <p:nvSpPr>
          <p:cNvPr id="77829" name="Rectangle 2053"/>
          <p:cNvSpPr>
            <a:spLocks noChangeArrowheads="1"/>
          </p:cNvSpPr>
          <p:nvPr/>
        </p:nvSpPr>
        <p:spPr bwMode="auto">
          <a:xfrm>
            <a:off x="611560" y="1340768"/>
            <a:ext cx="8001000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zh-CN" sz="2400" b="0" dirty="0">
                <a:solidFill>
                  <a:schemeClr val="tx1"/>
                </a:solidFill>
                <a:latin typeface="Calibri" pitchFamily="34" charset="0"/>
              </a:rPr>
              <a:t>This is one case where I will drop the braces surrounding the body of an if: guard clauses that perform one very simple action, typically a return. The intent is revealed much more by using this format rather than the more canonical: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55576" y="985968"/>
            <a:ext cx="7941568" cy="3363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4000"/>
              </a:lnSpc>
              <a:buNone/>
            </a:pPr>
            <a:r>
              <a:rPr lang="en-US" altLang="zh-CN" sz="3600" dirty="0" smtClean="0">
                <a:ea typeface="黑体" pitchFamily="49" charset="-122"/>
              </a:rPr>
              <a:t>Kent Beck:  Four Rules of Simple Design:</a:t>
            </a:r>
            <a:endParaRPr lang="zh-CN" altLang="en-US" sz="3600" dirty="0" smtClean="0">
              <a:ea typeface="黑体" pitchFamily="49" charset="-122"/>
            </a:endParaRPr>
          </a:p>
          <a:p>
            <a:pPr>
              <a:lnSpc>
                <a:spcPct val="114000"/>
              </a:lnSpc>
              <a:buNone/>
            </a:pPr>
            <a:r>
              <a:rPr lang="en-US" altLang="zh-CN" dirty="0" smtClean="0">
                <a:ea typeface="黑体" pitchFamily="49" charset="-122"/>
              </a:rPr>
              <a:t>1)  Passes the Tests</a:t>
            </a:r>
          </a:p>
          <a:p>
            <a:pPr>
              <a:lnSpc>
                <a:spcPct val="114000"/>
              </a:lnSpc>
              <a:buNone/>
            </a:pPr>
            <a:r>
              <a:rPr lang="en-US" altLang="zh-CN" dirty="0" smtClean="0">
                <a:ea typeface="黑体" pitchFamily="49" charset="-122"/>
              </a:rPr>
              <a:t>2)  Reveals Intention</a:t>
            </a:r>
          </a:p>
          <a:p>
            <a:pPr>
              <a:lnSpc>
                <a:spcPct val="114000"/>
              </a:lnSpc>
              <a:buNone/>
            </a:pPr>
            <a:r>
              <a:rPr lang="en-US" altLang="zh-CN" dirty="0" smtClean="0">
                <a:ea typeface="黑体" pitchFamily="49" charset="-122"/>
              </a:rPr>
              <a:t>3)  No Duplication</a:t>
            </a:r>
          </a:p>
          <a:p>
            <a:pPr>
              <a:lnSpc>
                <a:spcPct val="114000"/>
              </a:lnSpc>
              <a:buNone/>
            </a:pPr>
            <a:r>
              <a:rPr lang="en-US" altLang="zh-CN" dirty="0" smtClean="0">
                <a:ea typeface="黑体" pitchFamily="49" charset="-122"/>
              </a:rPr>
              <a:t>4)  Fewest Elements</a:t>
            </a:r>
            <a:endParaRPr lang="zh-CN" altLang="en-US" dirty="0" smtClean="0"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457200" y="1066800"/>
            <a:ext cx="8305800" cy="4419600"/>
          </a:xfrm>
          <a:prstGeom prst="rect">
            <a:avLst/>
          </a:prstGeom>
        </p:spPr>
        <p:txBody>
          <a:bodyPr anchor="ctr">
            <a:normAutofit fontScale="92500"/>
          </a:bodyPr>
          <a:lstStyle/>
          <a:p>
            <a:pPr>
              <a:lnSpc>
                <a:spcPct val="170000"/>
              </a:lnSpc>
              <a:defRPr/>
            </a:pPr>
            <a:r>
              <a:rPr lang="en-US" altLang="zh-CN" sz="5100" b="0" dirty="0">
                <a:solidFill>
                  <a:srgbClr val="002060"/>
                </a:solidFill>
                <a:latin typeface="Calibri" pitchFamily="34" charset="0"/>
                <a:ea typeface="+mj-ea"/>
                <a:cs typeface="+mj-cs"/>
              </a:rPr>
              <a:t>Program Elegantly: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altLang="zh-CN" sz="3000" b="0" dirty="0">
                <a:solidFill>
                  <a:srgbClr val="002060"/>
                </a:solidFill>
                <a:latin typeface="Calibri" pitchFamily="34" charset="0"/>
                <a:ea typeface="+mj-ea"/>
                <a:cs typeface="+mj-cs"/>
              </a:rPr>
              <a:t> Choose Appropriate Names, Formats &amp; Styles 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altLang="zh-CN" sz="3000" b="0" dirty="0">
                <a:solidFill>
                  <a:srgbClr val="002060"/>
                </a:solidFill>
                <a:latin typeface="Calibri" pitchFamily="34" charset="0"/>
                <a:ea typeface="+mj-ea"/>
                <a:cs typeface="+mj-cs"/>
              </a:rPr>
              <a:t> Reveal Intentions and Computing Structures Visually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altLang="zh-CN" sz="3000" b="0" dirty="0">
                <a:solidFill>
                  <a:srgbClr val="002060"/>
                </a:solidFill>
                <a:latin typeface="Calibri" pitchFamily="34" charset="0"/>
                <a:ea typeface="+mj-ea"/>
                <a:cs typeface="+mj-cs"/>
              </a:rPr>
              <a:t> Make Simple Things Simple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altLang="zh-CN" sz="3000" b="0" dirty="0">
                <a:solidFill>
                  <a:srgbClr val="002060"/>
                </a:solidFill>
                <a:latin typeface="Calibri" pitchFamily="34" charset="0"/>
                <a:ea typeface="+mj-ea"/>
                <a:cs typeface="+mj-cs"/>
              </a:rPr>
              <a:t> Write Readable/Understandable Code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  <a:defRPr/>
            </a:pPr>
            <a:endParaRPr lang="en-US" altLang="zh-CN" sz="4400" dirty="0">
              <a:latin typeface="Calibri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660</Words>
  <Application>Microsoft Office PowerPoint</Application>
  <PresentationFormat>全屏显示(4:3)</PresentationFormat>
  <Paragraphs>69</Paragraphs>
  <Slides>18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19" baseType="lpstr">
      <vt:lpstr>Office 主题</vt:lpstr>
      <vt:lpstr>Meaning Group(意群)  Design on Clear &amp; Clean Expression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The HTML/CSS Box Model</vt:lpstr>
      <vt:lpstr>幻灯片 12</vt:lpstr>
      <vt:lpstr>意图向导的编程：“无需注释”</vt:lpstr>
      <vt:lpstr>代码风格</vt:lpstr>
      <vt:lpstr>代码风格</vt:lpstr>
      <vt:lpstr>代码风格</vt:lpstr>
      <vt:lpstr>幻灯片 17</vt:lpstr>
      <vt:lpstr>幻灯片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意群(Meaning Group) 与设计</dc:title>
  <dc:creator>NTKO</dc:creator>
  <cp:lastModifiedBy>NTKO</cp:lastModifiedBy>
  <cp:revision>23</cp:revision>
  <dcterms:created xsi:type="dcterms:W3CDTF">2016-10-31T03:42:08Z</dcterms:created>
  <dcterms:modified xsi:type="dcterms:W3CDTF">2020-05-19T09:18:17Z</dcterms:modified>
</cp:coreProperties>
</file>