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97" r:id="rId2"/>
    <p:sldId id="329" r:id="rId3"/>
    <p:sldId id="337" r:id="rId4"/>
    <p:sldId id="375" r:id="rId5"/>
    <p:sldId id="377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39" r:id="rId32"/>
    <p:sldId id="368" r:id="rId33"/>
    <p:sldId id="367" r:id="rId34"/>
    <p:sldId id="338" r:id="rId35"/>
    <p:sldId id="371" r:id="rId36"/>
    <p:sldId id="372" r:id="rId37"/>
    <p:sldId id="373" r:id="rId38"/>
    <p:sldId id="374" r:id="rId39"/>
    <p:sldId id="369" r:id="rId40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8B008C"/>
    <a:srgbClr val="0009CC"/>
    <a:srgbClr val="E41900"/>
    <a:srgbClr val="FCFF8D"/>
    <a:srgbClr val="FCFFE0"/>
    <a:srgbClr val="74162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0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3747AD9-77A5-4608-BC85-8D482E1AFD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9" y="4860926"/>
            <a:ext cx="5208587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90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489434A3-6426-40F8-B09E-2F1DEDE7FC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434A3-6426-40F8-B09E-2F1DEDE7FCE8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434A3-6426-40F8-B09E-2F1DEDE7FCE8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5E577-FBDD-4A14-8F3E-A4F68CC3EE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E41E6-E85C-4056-B2F9-19472C5D73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93377-DBBA-4BC8-82A3-372C5E4D17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23E42-6A03-4EE5-9D7F-9FFF1D682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AFC62-19CD-416F-A4FB-2E8E318AB1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49D3E-7246-4846-B17C-BEC6852DBE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D7418-85C1-4EF6-8C6C-685959B9FE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3509-55A2-4BBA-824F-5867687D0D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EA214-3EA0-42E1-9DCC-D0F7B0567A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D42F5-4CA3-4CE3-B08B-461E79EE52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BECC9-E2E3-4024-8F70-A16B7228BF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4FA49C-DAEB-4209-A9B1-F5CE9B3EC2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0" y="1447800"/>
            <a:ext cx="9144000" cy="280828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4400" u="sng" dirty="0" smtClean="0">
                <a:latin typeface="Calibri" pitchFamily="34" charset="0"/>
              </a:rPr>
              <a:t>Solutions for </a:t>
            </a:r>
            <a:r>
              <a:rPr lang="en-US" altLang="zh-CN" sz="4400" u="sng" dirty="0" err="1" smtClean="0">
                <a:latin typeface="Calibri" pitchFamily="34" charset="0"/>
              </a:rPr>
              <a:t>WarmUp</a:t>
            </a:r>
            <a:r>
              <a:rPr lang="en-US" altLang="zh-CN" sz="4400" u="sng" dirty="0" smtClean="0">
                <a:latin typeface="Calibri" pitchFamily="34" charset="0"/>
              </a:rPr>
              <a:t> </a:t>
            </a:r>
            <a:r>
              <a:rPr lang="en-US" altLang="zh-CN" sz="4400" u="sng" dirty="0" err="1" smtClean="0">
                <a:latin typeface="Calibri" pitchFamily="34" charset="0"/>
              </a:rPr>
              <a:t>Prog</a:t>
            </a:r>
            <a:r>
              <a:rPr lang="en-US" altLang="zh-CN" sz="4400" u="sng" dirty="0" smtClean="0">
                <a:latin typeface="Calibri" pitchFamily="34" charset="0"/>
              </a:rPr>
              <a:t>.</a:t>
            </a:r>
            <a:endParaRPr lang="en-US" altLang="zh-CN" sz="4400" u="sng" dirty="0"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8600"/>
            <a:ext cx="7115175" cy="620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8600"/>
            <a:ext cx="73342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429000"/>
            <a:ext cx="88677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6763" y="152400"/>
            <a:ext cx="7610475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8302"/>
            <a:ext cx="9144000" cy="6304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6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8718" y="1"/>
            <a:ext cx="64852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10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8268" y="0"/>
            <a:ext cx="648573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15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5184" y="0"/>
            <a:ext cx="6468816" cy="683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16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0"/>
            <a:ext cx="6477000" cy="6865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17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"/>
            <a:ext cx="6477000" cy="6892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18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972"/>
            <a:ext cx="6477000" cy="6857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20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3087" y="0"/>
            <a:ext cx="6460913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Calibri" pitchFamily="34" charset="0"/>
              </a:rPr>
              <a:t>Dragon Curve</a:t>
            </a:r>
          </a:p>
          <a:p>
            <a:r>
              <a:rPr lang="en-US" altLang="zh-CN" sz="2800" dirty="0" smtClean="0">
                <a:latin typeface="Calibri" pitchFamily="34" charset="0"/>
              </a:rPr>
              <a:t>Level 22</a:t>
            </a:r>
            <a:endParaRPr lang="zh-CN" altLang="en-US" sz="2800" dirty="0">
              <a:latin typeface="Calibri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2005" y="0"/>
            <a:ext cx="648199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685800" y="228600"/>
            <a:ext cx="7620000" cy="1083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The easiest way: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KISS: Keep It Simple &amp; Stupid</a:t>
            </a:r>
            <a:endParaRPr sz="3200" dirty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447800"/>
            <a:ext cx="649605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1571" cy="6315075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3" name="object 3"/>
          <p:cNvSpPr txBox="1"/>
          <p:nvPr/>
        </p:nvSpPr>
        <p:spPr>
          <a:xfrm>
            <a:off x="4114800" y="6324600"/>
            <a:ext cx="4953000" cy="473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19 actions. Too much Duplication!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616838" cy="68580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3" name="object 3"/>
          <p:cNvSpPr txBox="1"/>
          <p:nvPr/>
        </p:nvSpPr>
        <p:spPr>
          <a:xfrm>
            <a:off x="7848600" y="4648200"/>
            <a:ext cx="1295400" cy="189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Works,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But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Not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Flexible!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7696200" y="609600"/>
            <a:ext cx="1295400" cy="189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1 String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With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err="1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Structs</a:t>
            </a: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.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C00000"/>
                </a:solidFill>
                <a:latin typeface="Calibri" pitchFamily="34" charset="0"/>
                <a:cs typeface="VSQOOW+Calibri"/>
              </a:rPr>
              <a:t>1 action!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762000" y="381000"/>
            <a:ext cx="7620000" cy="162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The Patterns: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Each line :  Blanks + </a:t>
            </a:r>
            <a:r>
              <a:rPr lang="en-US" sz="32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mirrorDigits</a:t>
            </a: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 + </a:t>
            </a:r>
            <a:r>
              <a:rPr lang="en-US" sz="32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newLine</a:t>
            </a:r>
            <a:endParaRPr lang="en-US" sz="3200" dirty="0" smtClean="0">
              <a:solidFill>
                <a:srgbClr val="224645"/>
              </a:solidFill>
              <a:latin typeface="Calibri" pitchFamily="34" charset="0"/>
              <a:cs typeface="VSQOOW+Calibri"/>
            </a:endParaRP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Top Part [0 .. n] + Bottom Part [n-1 .. 0]</a:t>
            </a:r>
            <a:endParaRPr sz="3200" dirty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2514600"/>
            <a:ext cx="7620000" cy="1083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Beyond 0 .. 9 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A .. Z :  10 .. 35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762000" y="4114800"/>
            <a:ext cx="7620000" cy="2397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lnSpc>
                <a:spcPct val="110000"/>
              </a:lnSpc>
            </a:pPr>
            <a:r>
              <a:rPr lang="en-US" sz="3200" dirty="0" smtClean="0">
                <a:solidFill>
                  <a:srgbClr val="00B050"/>
                </a:solidFill>
                <a:latin typeface="Calibri" pitchFamily="34" charset="0"/>
                <a:cs typeface="VSQOOW+Calibri"/>
              </a:rPr>
              <a:t>Conditional Operator </a:t>
            </a:r>
            <a:r>
              <a:rPr lang="en-US" sz="3200" dirty="0" smtClean="0">
                <a:solidFill>
                  <a:srgbClr val="00B050"/>
                </a:solidFill>
                <a:latin typeface="Consolas" pitchFamily="49" charset="0"/>
                <a:cs typeface="VSQOOW+Calibri"/>
              </a:rPr>
              <a:t>( ? : ) </a:t>
            </a:r>
          </a:p>
          <a:p>
            <a:pPr marL="457200" indent="-457200">
              <a:lnSpc>
                <a:spcPct val="110000"/>
              </a:lnSpc>
              <a:spcAft>
                <a:spcPts val="1800"/>
              </a:spcAft>
            </a:pPr>
            <a:r>
              <a:rPr lang="en-US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v = </a:t>
            </a:r>
            <a:r>
              <a:rPr lang="en-US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condition</a:t>
            </a:r>
            <a:r>
              <a:rPr lang="en-US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 ? </a:t>
            </a:r>
            <a:r>
              <a:rPr lang="en-US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exp1</a:t>
            </a:r>
            <a:r>
              <a:rPr lang="en-US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 : </a:t>
            </a:r>
            <a:r>
              <a:rPr lang="en-US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exp2</a:t>
            </a:r>
            <a:r>
              <a:rPr lang="en-US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;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if</a:t>
            </a:r>
            <a:r>
              <a:rPr lang="en-US" altLang="zh-CN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 </a:t>
            </a:r>
            <a:r>
              <a:rPr lang="en-US" altLang="zh-CN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(</a:t>
            </a:r>
            <a:r>
              <a:rPr lang="en-US" altLang="zh-CN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condition</a:t>
            </a:r>
            <a:r>
              <a:rPr lang="en-US" altLang="zh-CN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) v = </a:t>
            </a:r>
            <a:r>
              <a:rPr lang="en-US" altLang="zh-CN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exp1;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 sz="3200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else           v = </a:t>
            </a:r>
            <a:r>
              <a:rPr lang="en-US" altLang="zh-CN" sz="3200" i="1" dirty="0" smtClean="0">
                <a:solidFill>
                  <a:srgbClr val="741621"/>
                </a:solidFill>
                <a:latin typeface="Consolas" pitchFamily="49" charset="0"/>
                <a:cs typeface="VSQOOW+Calibri"/>
              </a:rPr>
              <a:t>exp2;</a:t>
            </a:r>
            <a:endParaRPr lang="en-US" sz="3200" dirty="0" smtClean="0">
              <a:solidFill>
                <a:srgbClr val="741621"/>
              </a:solidFill>
              <a:latin typeface="Consolas" pitchFamily="49" charset="0"/>
              <a:cs typeface="VSQOOW+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8885203" cy="674235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 bwMode="auto">
          <a:xfrm>
            <a:off x="1371600" y="1371600"/>
            <a:ext cx="7239000" cy="990600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475" y="0"/>
            <a:ext cx="687705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685800" y="2895600"/>
            <a:ext cx="8077200" cy="284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Mapping: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Line: 0 .. 2n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 sz="28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In Top Part [0 .. n], </a:t>
            </a:r>
            <a:r>
              <a:rPr lang="en-US" altLang="zh-CN" sz="28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i</a:t>
            </a:r>
            <a:r>
              <a:rPr lang="en-US" altLang="zh-CN" sz="28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 = line  when line &lt;= n;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 sz="28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In Bottom Part [n-1 .. 0], </a:t>
            </a:r>
            <a:r>
              <a:rPr lang="en-US" altLang="zh-CN" sz="28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i</a:t>
            </a:r>
            <a:r>
              <a:rPr lang="en-US" altLang="zh-CN" sz="28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 = 2n – line when line &gt; n.</a:t>
            </a:r>
          </a:p>
          <a:p>
            <a:pPr marL="457200" indent="-457200">
              <a:lnSpc>
                <a:spcPct val="110000"/>
              </a:lnSpc>
            </a:pPr>
            <a:endParaRPr lang="en-US" altLang="zh-CN" dirty="0" smtClean="0">
              <a:solidFill>
                <a:srgbClr val="224645"/>
              </a:solidFill>
              <a:latin typeface="Calibri" pitchFamily="34" charset="0"/>
              <a:cs typeface="VSQOOW+Calibri"/>
            </a:endParaRPr>
          </a:p>
          <a:p>
            <a:pPr marL="457200" indent="-457200">
              <a:lnSpc>
                <a:spcPct val="110000"/>
              </a:lnSpc>
            </a:pPr>
            <a:r>
              <a:rPr lang="en-US" altLang="zh-CN" sz="2800" dirty="0" err="1" smtClean="0">
                <a:solidFill>
                  <a:srgbClr val="00B050"/>
                </a:solidFill>
                <a:latin typeface="Consolas" pitchFamily="49" charset="0"/>
                <a:cs typeface="VSQOOW+Calibri"/>
              </a:rPr>
              <a:t>i</a:t>
            </a:r>
            <a:r>
              <a:rPr lang="en-US" altLang="zh-CN" sz="2800" dirty="0" smtClean="0">
                <a:solidFill>
                  <a:srgbClr val="00B050"/>
                </a:solidFill>
                <a:latin typeface="Consolas" pitchFamily="49" charset="0"/>
                <a:cs typeface="VSQOOW+Calibri"/>
              </a:rPr>
              <a:t> = line &lt;= n ? line :</a:t>
            </a:r>
            <a:r>
              <a:rPr lang="zh-CN" altLang="en-US" sz="2800" dirty="0" smtClean="0">
                <a:solidFill>
                  <a:srgbClr val="00B050"/>
                </a:solidFill>
                <a:latin typeface="Consolas" pitchFamily="49" charset="0"/>
                <a:cs typeface="VSQOOW+Calibri"/>
              </a:rPr>
              <a:t> </a:t>
            </a:r>
            <a:r>
              <a:rPr lang="en-US" altLang="zh-CN" sz="2800" dirty="0" smtClean="0">
                <a:solidFill>
                  <a:srgbClr val="00B050"/>
                </a:solidFill>
                <a:latin typeface="Consolas" pitchFamily="49" charset="0"/>
                <a:cs typeface="VSQOOW+Calibri"/>
              </a:rPr>
              <a:t>2*n - line;</a:t>
            </a:r>
            <a:endParaRPr sz="3200" dirty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685800"/>
            <a:ext cx="7620000" cy="162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The Patterns:</a:t>
            </a: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Each line :  Blanks + </a:t>
            </a:r>
            <a:r>
              <a:rPr lang="en-US" sz="32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mirrorDigits</a:t>
            </a: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 + </a:t>
            </a:r>
            <a:r>
              <a:rPr lang="en-US" sz="3200" dirty="0" err="1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newLine</a:t>
            </a:r>
            <a:endParaRPr lang="en-US" sz="3200" dirty="0" smtClean="0">
              <a:solidFill>
                <a:srgbClr val="224645"/>
              </a:solidFill>
              <a:latin typeface="Calibri" pitchFamily="34" charset="0"/>
              <a:cs typeface="VSQOOW+Calibri"/>
            </a:endParaRPr>
          </a:p>
          <a:p>
            <a:pPr marL="457200" indent="-457200"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Top Part [0 .. n] + Bottom Part [n-1 .. 0]</a:t>
            </a:r>
            <a:endParaRPr sz="3200" dirty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95" y="0"/>
            <a:ext cx="8992005" cy="68580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 bwMode="auto">
          <a:xfrm>
            <a:off x="1371600" y="1447800"/>
            <a:ext cx="7086600" cy="990600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3513" y="57150"/>
            <a:ext cx="6276975" cy="674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8162925" cy="374332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914400"/>
            <a:ext cx="58102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4838" y="1547813"/>
            <a:ext cx="7934325" cy="37623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990600"/>
            <a:ext cx="57816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4838" y="1266825"/>
            <a:ext cx="7934325" cy="432435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838200"/>
            <a:ext cx="551497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515302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1138" y="57150"/>
            <a:ext cx="6181725" cy="674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4800"/>
            <a:ext cx="7915275" cy="595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" y="47625"/>
            <a:ext cx="7915275" cy="676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81000"/>
            <a:ext cx="355282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228600"/>
            <a:ext cx="3162300" cy="626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" y="409854"/>
            <a:ext cx="8610600" cy="5844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Minion-Black"/>
                <a:cs typeface="Minion-Black"/>
              </a:rPr>
              <a:t>Tips:</a:t>
            </a:r>
          </a:p>
          <a:p>
            <a:pPr marL="0" marR="0" lvl="0" indent="26670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Minion-Black"/>
                <a:cs typeface="Minion-Black"/>
              </a:rPr>
              <a:t>If  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Consolas" pitchFamily="49" charset="0"/>
                <a:ea typeface="Minion-Black"/>
                <a:cs typeface="Minion-Black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[][] a = </a:t>
            </a:r>
            <a:r>
              <a:rPr lang="en-US" altLang="zh-CN" sz="2000" dirty="0" err="1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[N][N]</a:t>
            </a: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 with elements 0 or 1,</a:t>
            </a:r>
          </a:p>
          <a:p>
            <a:pPr marL="0" marR="0" lvl="0" indent="26670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let </a:t>
            </a:r>
            <a:r>
              <a:rPr lang="en-US" altLang="zh-CN" sz="2000" dirty="0" err="1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[][] s = </a:t>
            </a:r>
            <a:r>
              <a:rPr lang="en-US" altLang="zh-CN" sz="2000" dirty="0" err="1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[N][N], s[r][c] </a:t>
            </a: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denotes the size of the maximum sub-matrix start from 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a[r][c] </a:t>
            </a: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towards right-down direction.</a:t>
            </a:r>
          </a:p>
          <a:p>
            <a:pPr lvl="0" indent="266700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Then we could compute  </a:t>
            </a: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s[r][c] </a:t>
            </a:r>
            <a:r>
              <a:rPr lang="en-US" altLang="zh-CN" sz="2000" dirty="0" smtClean="0">
                <a:solidFill>
                  <a:srgbClr val="0070C0"/>
                </a:solidFill>
                <a:latin typeface="Calibri" pitchFamily="34" charset="0"/>
                <a:ea typeface="Minion-Black"/>
                <a:cs typeface="Minion-Black"/>
              </a:rPr>
              <a:t>in the following way (using pseudo-code):</a:t>
            </a:r>
          </a:p>
          <a:p>
            <a:pPr marL="0" marR="0" lvl="0" indent="2667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 smtClean="0">
              <a:solidFill>
                <a:srgbClr val="0070C0"/>
              </a:solidFill>
              <a:latin typeface="Calibri" pitchFamily="34" charset="0"/>
              <a:ea typeface="Minion-Black"/>
              <a:cs typeface="Minion-Black"/>
            </a:endParaRPr>
          </a:p>
          <a:p>
            <a:pPr marL="0" marR="0" lvl="0" indent="2667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s[N-1][N-1 .. 0] = a[N-1][N-1 .. 0]    // last row</a:t>
            </a:r>
          </a:p>
          <a:p>
            <a:pPr lvl="0"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s[N-2 .. 0][N-1] = a[N-2 .. 0][N-1]    // last column</a:t>
            </a:r>
          </a:p>
          <a:p>
            <a:pPr lvl="0"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  </a:t>
            </a:r>
          </a:p>
          <a:p>
            <a:pPr lvl="0"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for (r from N-2 down to 0)   </a:t>
            </a:r>
          </a:p>
          <a:p>
            <a:pPr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  for (c from N-2 down to 0)</a:t>
            </a:r>
          </a:p>
          <a:p>
            <a:pPr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     </a:t>
            </a:r>
            <a:r>
              <a:rPr lang="en-US" altLang="zh-CN" sz="2000" dirty="0" smtClean="0">
                <a:solidFill>
                  <a:srgbClr val="C00000"/>
                </a:solidFill>
                <a:latin typeface="Consolas" pitchFamily="49" charset="0"/>
                <a:ea typeface="Minion-Black"/>
                <a:cs typeface="Minion-Black"/>
              </a:rPr>
              <a:t>s[r][c] = (a[r][c] == 0) ? 0 :</a:t>
            </a:r>
          </a:p>
          <a:p>
            <a:pPr indent="266700" eaLnBrk="1" hangingPunct="1">
              <a:lnSpc>
                <a:spcPct val="110000"/>
              </a:lnSpc>
            </a:pPr>
            <a:r>
              <a:rPr lang="en-US" altLang="zh-CN" sz="2000" dirty="0" smtClean="0">
                <a:solidFill>
                  <a:srgbClr val="C00000"/>
                </a:solidFill>
                <a:latin typeface="Consolas" pitchFamily="49" charset="0"/>
                <a:ea typeface="Minion-Black"/>
                <a:cs typeface="Minion-Black"/>
              </a:rPr>
              <a:t>               1 + min(s[r][c+1], s[r+1][c], s[r+1][c+1])</a:t>
            </a:r>
            <a:endParaRPr lang="en-US" altLang="zh-CN" sz="2000" dirty="0" smtClean="0">
              <a:solidFill>
                <a:srgbClr val="C00000"/>
              </a:solidFill>
              <a:latin typeface="Calibri" pitchFamily="34" charset="0"/>
              <a:ea typeface="Minion-Black"/>
              <a:cs typeface="Minion-Black"/>
            </a:endParaRPr>
          </a:p>
          <a:p>
            <a:pPr marL="0" marR="0" lvl="0" indent="2667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000" dirty="0" smtClean="0">
              <a:solidFill>
                <a:srgbClr val="0070C0"/>
              </a:solidFill>
              <a:latin typeface="Consolas" pitchFamily="49" charset="0"/>
              <a:ea typeface="Minion-Black"/>
              <a:cs typeface="Minion-Black"/>
            </a:endParaRPr>
          </a:p>
          <a:p>
            <a:pPr marL="0" marR="0" lvl="0" indent="26670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solidFill>
                  <a:srgbClr val="0070C0"/>
                </a:solidFill>
                <a:latin typeface="Consolas" pitchFamily="49" charset="0"/>
                <a:ea typeface="Minion-Black"/>
                <a:cs typeface="Minion-Black"/>
              </a:rPr>
              <a:t> 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630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4800"/>
            <a:ext cx="9143999" cy="5869647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5793036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762000"/>
            <a:ext cx="709612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362</Words>
  <Application>Microsoft Office PowerPoint</Application>
  <PresentationFormat>全屏显示(4:3)</PresentationFormat>
  <Paragraphs>62</Paragraphs>
  <Slides>39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0" baseType="lpstr">
      <vt:lpstr>Blank Presentation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</vt:vector>
  </TitlesOfParts>
  <Company>University of Georgia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CS100J</dc:title>
  <dc:creator>Trial User</dc:creator>
  <cp:lastModifiedBy>NTKO</cp:lastModifiedBy>
  <cp:revision>245</cp:revision>
  <cp:lastPrinted>2009-08-26T12:39:05Z</cp:lastPrinted>
  <dcterms:created xsi:type="dcterms:W3CDTF">2010-01-22T18:17:38Z</dcterms:created>
  <dcterms:modified xsi:type="dcterms:W3CDTF">2022-03-13T14:30:44Z</dcterms:modified>
</cp:coreProperties>
</file>