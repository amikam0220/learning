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ppt" ContentType="application/vnd.ms-powerpoin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handoutMasterIdLst>
    <p:handoutMasterId r:id="rId54"/>
  </p:handoutMasterIdLst>
  <p:sldIdLst>
    <p:sldId id="259" r:id="rId3"/>
    <p:sldId id="280" r:id="rId5"/>
    <p:sldId id="313" r:id="rId6"/>
    <p:sldId id="281" r:id="rId7"/>
    <p:sldId id="283" r:id="rId8"/>
    <p:sldId id="284" r:id="rId9"/>
    <p:sldId id="285" r:id="rId10"/>
    <p:sldId id="286" r:id="rId11"/>
    <p:sldId id="287" r:id="rId12"/>
    <p:sldId id="288" r:id="rId13"/>
    <p:sldId id="289" r:id="rId14"/>
    <p:sldId id="290" r:id="rId15"/>
    <p:sldId id="291"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14" r:id="rId31"/>
    <p:sldId id="315" r:id="rId32"/>
    <p:sldId id="316" r:id="rId33"/>
    <p:sldId id="317" r:id="rId34"/>
    <p:sldId id="318" r:id="rId35"/>
    <p:sldId id="319" r:id="rId36"/>
    <p:sldId id="320" r:id="rId37"/>
    <p:sldId id="321" r:id="rId38"/>
    <p:sldId id="322" r:id="rId39"/>
    <p:sldId id="323" r:id="rId40"/>
    <p:sldId id="324" r:id="rId41"/>
    <p:sldId id="325" r:id="rId42"/>
    <p:sldId id="326" r:id="rId43"/>
    <p:sldId id="327" r:id="rId44"/>
    <p:sldId id="328" r:id="rId45"/>
    <p:sldId id="329" r:id="rId46"/>
    <p:sldId id="330" r:id="rId47"/>
    <p:sldId id="331" r:id="rId48"/>
    <p:sldId id="332" r:id="rId49"/>
    <p:sldId id="333" r:id="rId50"/>
    <p:sldId id="334" r:id="rId51"/>
    <p:sldId id="335" r:id="rId52"/>
    <p:sldId id="336"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ED6"/>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74" autoAdjust="0"/>
    <p:restoredTop sz="92781" autoAdjust="0"/>
  </p:normalViewPr>
  <p:slideViewPr>
    <p:cSldViewPr>
      <p:cViewPr>
        <p:scale>
          <a:sx n="100" d="100"/>
          <a:sy n="100" d="100"/>
        </p:scale>
        <p:origin x="-2046" y="-186"/>
      </p:cViewPr>
      <p:guideLst>
        <p:guide orient="horz" pos="2160"/>
        <p:guide pos="2880"/>
      </p:guideLst>
    </p:cSldViewPr>
  </p:slideViewPr>
  <p:notesTextViewPr>
    <p:cViewPr>
      <p:scale>
        <a:sx n="100" d="100"/>
        <a:sy n="100" d="100"/>
      </p:scale>
      <p:origin x="0" y="0"/>
    </p:cViewPr>
  </p:notesTextViewPr>
  <p:sorterViewPr>
    <p:cViewPr>
      <p:scale>
        <a:sx n="190" d="100"/>
        <a:sy n="190" d="100"/>
      </p:scale>
      <p:origin x="0" y="40416"/>
    </p:cViewPr>
  </p:sorterViewPr>
  <p:notesViewPr>
    <p:cSldViewPr>
      <p:cViewPr varScale="1">
        <p:scale>
          <a:sx n="92" d="100"/>
          <a:sy n="92" d="100"/>
        </p:scale>
        <p:origin x="-3780"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handoutMaster" Target="handoutMasters/handoutMaster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83FDC75-7F73-4A4A-A77C-09AADF00E0EA}" type="datetimeFigureOut">
              <a:rPr lang="en-US" smtClean="0"/>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59226BF-1F13-42D3-80DC-373E7ADD1EBC}"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AEF76B-3757-4A0B-AF93-28494465C1DD}" type="datetimeFigureOut">
              <a:rPr lang="en-US" smtClean="0"/>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693FD4-8F83-4EF7-AC3F-0DC0388986B0}"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srcRect/>
          <a:stretch>
            <a:fillRect/>
          </a:stretch>
        </p:blipFill>
        <p:spPr>
          <a:xfrm>
            <a:off x="17711" y="-21771"/>
            <a:ext cx="9100457" cy="6879771"/>
          </a:xfrm>
          <a:prstGeom prst="rect">
            <a:avLst/>
          </a:prstGeom>
        </p:spPr>
      </p:pic>
      <p:sp>
        <p:nvSpPr>
          <p:cNvPr id="2" name="Title 1"/>
          <p:cNvSpPr>
            <a:spLocks noGrp="1"/>
          </p:cNvSpPr>
          <p:nvPr>
            <p:ph type="ctrTitle" hasCustomPrompt="1"/>
          </p:nvPr>
        </p:nvSpPr>
        <p:spPr>
          <a:xfrm>
            <a:off x="2590800" y="2286000"/>
            <a:ext cx="6180224" cy="1470025"/>
          </a:xfrm>
        </p:spPr>
        <p:txBody>
          <a:bodyPr anchor="t"/>
          <a:lstStyle>
            <a:lvl1pPr algn="r">
              <a:defRPr b="1" cap="small" baseline="0">
                <a:solidFill>
                  <a:srgbClr val="003300"/>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962400" y="4038600"/>
            <a:ext cx="4772528" cy="990600"/>
          </a:xfrm>
        </p:spPr>
        <p:txBody>
          <a:bodyPr>
            <a:normAutofit/>
          </a:bodyPr>
          <a:lstStyle>
            <a:lvl1pPr marL="0" indent="0" algn="r">
              <a:buNone/>
              <a:defRPr sz="2000" b="0">
                <a:solidFill>
                  <a:schemeClr val="tx1"/>
                </a:solidFill>
                <a:latin typeface="Georgia" panose="02040502050405020303"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p:cNvPicPr>
            <a:picLocks noChangeAspect="1"/>
          </p:cNvPicPr>
          <p:nvPr userDrawn="1"/>
        </p:nvPicPr>
        <p:blipFill rotWithShape="1">
          <a:blip r:embed="rId3" cstate="email"/>
          <a:srcRect/>
          <a:stretch>
            <a:fillRect/>
          </a:stretch>
        </p:blipFill>
        <p:spPr>
          <a:xfrm>
            <a:off x="-25831" y="-152400"/>
            <a:ext cx="787831" cy="7010400"/>
          </a:xfrm>
          <a:prstGeom prst="rect">
            <a:avLst/>
          </a:prstGeom>
        </p:spPr>
      </p:pic>
      <p:sp>
        <p:nvSpPr>
          <p:cNvPr id="11" name="Slide Number Placeholder 10"/>
          <p:cNvSpPr>
            <a:spLocks noGrp="1"/>
          </p:cNvSpPr>
          <p:nvPr>
            <p:ph type="sldNum" sz="quarter" idx="16"/>
          </p:nvPr>
        </p:nvSpPr>
        <p:spPr/>
        <p:txBody>
          <a:bodyPr/>
          <a:lstStyle/>
          <a:p>
            <a:fld id="{33D6E5A2-EC83-451F-A719-9AC1370DD5CF}" type="slidenum">
              <a:rPr lang="en-US" smtClean="0"/>
            </a:fld>
            <a:endParaRPr lang="en-US" dirty="0"/>
          </a:p>
        </p:txBody>
      </p:sp>
      <p:sp>
        <p:nvSpPr>
          <p:cNvPr id="13" name="Text Placeholder 12"/>
          <p:cNvSpPr>
            <a:spLocks noGrp="1"/>
          </p:cNvSpPr>
          <p:nvPr>
            <p:ph type="body" sz="quarter" idx="13" hasCustomPrompt="1"/>
          </p:nvPr>
        </p:nvSpPr>
        <p:spPr>
          <a:xfrm>
            <a:off x="838200" y="5181600"/>
            <a:ext cx="8382000" cy="914400"/>
          </a:xfrm>
        </p:spPr>
        <p:txBody>
          <a:bodyPr>
            <a:normAutofit/>
          </a:bodyPr>
          <a:lstStyle>
            <a:lvl1pPr>
              <a:defRPr sz="1600" baseline="0"/>
            </a:lvl1pPr>
          </a:lstStyle>
          <a:p>
            <a:pPr lvl="0"/>
            <a:r>
              <a:rPr lang="en-US" dirty="0" smtClean="0"/>
              <a:t>ISI adapted this template from one provided by Microsoft</a:t>
            </a:r>
            <a:endParaRPr lang="en-US" dirty="0" smtClean="0"/>
          </a:p>
        </p:txBody>
      </p:sp>
      <p:pic>
        <p:nvPicPr>
          <p:cNvPr id="4" name="Picture 3"/>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1030856" y="5985585"/>
            <a:ext cx="7655944" cy="853370"/>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srcRect/>
          <a:stretch>
            <a:fillRect/>
          </a:stretch>
        </p:blipFill>
        <p:spPr>
          <a:xfrm>
            <a:off x="-76200" y="-1"/>
            <a:ext cx="9100457" cy="6879771"/>
          </a:xfrm>
          <a:prstGeom prst="rect">
            <a:avLst/>
          </a:prstGeom>
        </p:spPr>
      </p:pic>
      <p:pic>
        <p:nvPicPr>
          <p:cNvPr id="8" name="Picture 7"/>
          <p:cNvPicPr>
            <a:picLocks noChangeAspect="1"/>
          </p:cNvPicPr>
          <p:nvPr userDrawn="1"/>
        </p:nvPicPr>
        <p:blipFill rotWithShape="1">
          <a:blip r:embed="rId3" cstate="email"/>
          <a:srcRect/>
          <a:stretch>
            <a:fillRect/>
          </a:stretch>
        </p:blipFill>
        <p:spPr>
          <a:xfrm rot="5400000">
            <a:off x="3816631" y="-3969030"/>
            <a:ext cx="1371601" cy="9309664"/>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lstStyle>
            <a:lvl1pPr algn="l">
              <a:defRPr sz="4000" b="1" cap="small" baseline="0">
                <a:solidFill>
                  <a:srgbClr val="003300"/>
                </a:solidFill>
              </a:defRPr>
            </a:lvl1pPr>
          </a:lstStyle>
          <a:p>
            <a:r>
              <a:rPr lang="en-US" dirty="0" smtClean="0"/>
              <a:t>Click to edit master title style</a:t>
            </a:r>
            <a:endParaRPr lang="en-US" dirty="0"/>
          </a:p>
        </p:txBody>
      </p:sp>
      <p:sp>
        <p:nvSpPr>
          <p:cNvPr id="6" name="Slide Number Placeholder 5"/>
          <p:cNvSpPr>
            <a:spLocks noGrp="1"/>
          </p:cNvSpPr>
          <p:nvPr>
            <p:ph type="sldNum" sz="quarter" idx="12"/>
          </p:nvPr>
        </p:nvSpPr>
        <p:spPr>
          <a:xfrm>
            <a:off x="8750434" y="6530329"/>
            <a:ext cx="366793" cy="365125"/>
          </a:xfrm>
        </p:spPr>
        <p:txBody>
          <a:bodyPr/>
          <a:lstStyle/>
          <a:p>
            <a:fld id="{33D6E5A2-EC83-451F-A719-9AC1370DD5CF}" type="slidenum">
              <a:rPr lang="en-US" smtClean="0"/>
            </a:fld>
            <a:endParaRPr lang="en-US" dirty="0"/>
          </a:p>
        </p:txBody>
      </p:sp>
      <p:pic>
        <p:nvPicPr>
          <p:cNvPr id="5" name="Picture 4"/>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a:off x="744028" y="6053040"/>
            <a:ext cx="7655944" cy="853370"/>
          </a:xfrm>
          <a:prstGeom prst="rect">
            <a:avLst/>
          </a:prstGeom>
        </p:spPr>
      </p:pic>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269632"/>
            <a:ext cx="8077200" cy="1143000"/>
          </a:xfrm>
        </p:spPr>
        <p:txBody>
          <a:bodyPr anchor="ctr" anchorCtr="0"/>
          <a:lstStyle>
            <a:lvl1pPr algn="l">
              <a:defRPr lang="en-US" dirty="0"/>
            </a:lvl1pPr>
          </a:lstStyle>
          <a:p>
            <a:r>
              <a:rPr lang="en-US" dirty="0" smtClean="0"/>
              <a:t>Click To Edit Master Title Style</a:t>
            </a:r>
            <a:endParaRPr lang="en-US" dirty="0"/>
          </a:p>
        </p:txBody>
      </p:sp>
      <p:sp>
        <p:nvSpPr>
          <p:cNvPr id="3" name="Content Placeholder 2"/>
          <p:cNvSpPr>
            <a:spLocks noGrp="1"/>
          </p:cNvSpPr>
          <p:nvPr>
            <p:ph idx="1"/>
          </p:nvPr>
        </p:nvSpPr>
        <p:spPr>
          <a:xfrm>
            <a:off x="762000" y="1596413"/>
            <a:ext cx="8077200" cy="4297363"/>
          </a:xfrm>
        </p:spPr>
        <p:txBody>
          <a:bodyPr>
            <a:normAutofit/>
          </a:bodyPr>
          <a:lstStyle>
            <a:lvl1pPr>
              <a:defRPr sz="3200">
                <a:latin typeface="+mn-lt"/>
              </a:defRPr>
            </a:lvl1pPr>
            <a:lvl2pPr>
              <a:defRPr sz="2800">
                <a:latin typeface="+mn-lt"/>
              </a:defRPr>
            </a:lvl2pPr>
            <a:lvl3pPr>
              <a:defRPr sz="2400">
                <a:latin typeface="+mn-lt"/>
              </a:defRPr>
            </a:lvl3pPr>
            <a:lvl4pPr>
              <a:defRPr sz="2400">
                <a:latin typeface="+mn-lt"/>
              </a:defRPr>
            </a:lvl4pPr>
            <a:lvl5pPr>
              <a:defRPr sz="2400">
                <a:latin typeface="+mn-lt"/>
              </a:defRPr>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6" name="Slide Number Placeholder 5"/>
          <p:cNvSpPr>
            <a:spLocks noGrp="1"/>
          </p:cNvSpPr>
          <p:nvPr>
            <p:ph type="sldNum" sz="quarter" idx="12"/>
          </p:nvPr>
        </p:nvSpPr>
        <p:spPr>
          <a:xfrm>
            <a:off x="7848600" y="6492875"/>
            <a:ext cx="1295400" cy="365125"/>
          </a:xfrm>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876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Slide Number Placeholder 6"/>
          <p:cNvSpPr>
            <a:spLocks noGrp="1"/>
          </p:cNvSpPr>
          <p:nvPr>
            <p:ph type="sldNum" sz="quarter" idx="12"/>
          </p:nvPr>
        </p:nvSpPr>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858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8736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8736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9" name="Slide Number Placeholder 8"/>
          <p:cNvSpPr>
            <a:spLocks noGrp="1"/>
          </p:cNvSpPr>
          <p:nvPr>
            <p:ph type="sldNum" sz="quarter" idx="12"/>
          </p:nvPr>
        </p:nvSpPr>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036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858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a:xfrm>
            <a:off x="762000" y="6356350"/>
            <a:ext cx="2133600" cy="365125"/>
          </a:xfrm>
          <a:prstGeom prst="rect">
            <a:avLst/>
          </a:prstGeom>
        </p:spPr>
        <p:txBody>
          <a:bodyPr/>
          <a:lstStyle/>
          <a:p>
            <a:r>
              <a:rPr lang="en-US" smtClean="0"/>
              <a:t>2014 DSR Seminar</a:t>
            </a:r>
            <a:endParaRPr lang="en-US" dirty="0"/>
          </a:p>
        </p:txBody>
      </p:sp>
      <p:sp>
        <p:nvSpPr>
          <p:cNvPr id="6" name="Footer Placeholder 5"/>
          <p:cNvSpPr>
            <a:spLocks noGrp="1"/>
          </p:cNvSpPr>
          <p:nvPr>
            <p:ph type="ftr" sz="quarter" idx="11"/>
          </p:nvPr>
        </p:nvSpPr>
        <p:spPr>
          <a:xfrm>
            <a:off x="3352800" y="6356350"/>
            <a:ext cx="2895600" cy="365125"/>
          </a:xfrm>
          <a:prstGeom prst="rect">
            <a:avLst/>
          </a:prstGeom>
        </p:spPr>
        <p:txBody>
          <a:bodyPr/>
          <a:lstStyle/>
          <a:p>
            <a:r>
              <a:rPr lang="en-US" smtClean="0"/>
              <a:t>Copyright 2014 Gregor Hevner</a:t>
            </a:r>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a:xfrm>
            <a:off x="762000" y="6356350"/>
            <a:ext cx="2133600" cy="365125"/>
          </a:xfrm>
          <a:prstGeom prst="rect">
            <a:avLst/>
          </a:prstGeom>
        </p:spPr>
        <p:txBody>
          <a:bodyPr/>
          <a:lstStyle/>
          <a:p>
            <a:r>
              <a:rPr lang="en-US" smtClean="0"/>
              <a:t>2014 DSR Seminar</a:t>
            </a:r>
            <a:endParaRPr lang="en-US" dirty="0"/>
          </a:p>
        </p:txBody>
      </p:sp>
      <p:sp>
        <p:nvSpPr>
          <p:cNvPr id="6" name="Footer Placeholder 5"/>
          <p:cNvSpPr>
            <a:spLocks noGrp="1"/>
          </p:cNvSpPr>
          <p:nvPr>
            <p:ph type="ftr" sz="quarter" idx="11"/>
          </p:nvPr>
        </p:nvSpPr>
        <p:spPr>
          <a:xfrm>
            <a:off x="3352800" y="6356350"/>
            <a:ext cx="2895600" cy="365125"/>
          </a:xfrm>
          <a:prstGeom prst="rect">
            <a:avLst/>
          </a:prstGeom>
        </p:spPr>
        <p:txBody>
          <a:bodyPr/>
          <a:lstStyle/>
          <a:p>
            <a:r>
              <a:rPr lang="en-US" smtClean="0"/>
              <a:t>Copyright 2014 Gregor Hevner</a:t>
            </a:r>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762000" y="6356350"/>
            <a:ext cx="2133600" cy="365125"/>
          </a:xfrm>
          <a:prstGeom prst="rect">
            <a:avLst/>
          </a:prstGeom>
        </p:spPr>
        <p:txBody>
          <a:bodyPr/>
          <a:lstStyle/>
          <a:p>
            <a:r>
              <a:rPr lang="en-US" smtClean="0"/>
              <a:t>2014 DSR Seminar</a:t>
            </a:r>
            <a:endParaRPr lang="en-US" dirty="0"/>
          </a:p>
        </p:txBody>
      </p:sp>
      <p:sp>
        <p:nvSpPr>
          <p:cNvPr id="5" name="Footer Placeholder 4"/>
          <p:cNvSpPr>
            <a:spLocks noGrp="1"/>
          </p:cNvSpPr>
          <p:nvPr>
            <p:ph type="ftr" sz="quarter" idx="11"/>
          </p:nvPr>
        </p:nvSpPr>
        <p:spPr>
          <a:xfrm>
            <a:off x="3352800" y="6356350"/>
            <a:ext cx="2895600" cy="365125"/>
          </a:xfrm>
          <a:prstGeom prst="rect">
            <a:avLst/>
          </a:prstGeom>
        </p:spPr>
        <p:txBody>
          <a:bodyPr/>
          <a:lstStyle/>
          <a:p>
            <a:r>
              <a:rPr lang="en-US" smtClean="0"/>
              <a:t>Copyright 2014 Gregor Hevner</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274638"/>
            <a:ext cx="5867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762000" y="6356350"/>
            <a:ext cx="2133600" cy="365125"/>
          </a:xfrm>
          <a:prstGeom prst="rect">
            <a:avLst/>
          </a:prstGeom>
        </p:spPr>
        <p:txBody>
          <a:bodyPr/>
          <a:lstStyle/>
          <a:p>
            <a:r>
              <a:rPr lang="en-US" smtClean="0"/>
              <a:t>2014 DSR Seminar</a:t>
            </a:r>
            <a:endParaRPr lang="en-US" dirty="0"/>
          </a:p>
        </p:txBody>
      </p:sp>
      <p:sp>
        <p:nvSpPr>
          <p:cNvPr id="5" name="Footer Placeholder 4"/>
          <p:cNvSpPr>
            <a:spLocks noGrp="1"/>
          </p:cNvSpPr>
          <p:nvPr>
            <p:ph type="ftr" sz="quarter" idx="11"/>
          </p:nvPr>
        </p:nvSpPr>
        <p:spPr>
          <a:xfrm>
            <a:off x="3352800" y="6356350"/>
            <a:ext cx="2895600" cy="365125"/>
          </a:xfrm>
          <a:prstGeom prst="rect">
            <a:avLst/>
          </a:prstGeom>
        </p:spPr>
        <p:txBody>
          <a:bodyPr/>
          <a:lstStyle/>
          <a:p>
            <a:r>
              <a:rPr lang="en-US" smtClean="0"/>
              <a:t>Copyright 2014 Gregor Hevner</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762000" y="6356350"/>
            <a:ext cx="2133600" cy="365125"/>
          </a:xfrm>
          <a:prstGeom prst="rect">
            <a:avLst/>
          </a:prstGeom>
        </p:spPr>
        <p:txBody>
          <a:bodyPr/>
          <a:lstStyle/>
          <a:p>
            <a:r>
              <a:rPr lang="en-US" smtClean="0"/>
              <a:t>2014 DSR Seminar</a:t>
            </a:r>
            <a:endParaRPr lang="en-US" dirty="0"/>
          </a:p>
        </p:txBody>
      </p:sp>
      <p:sp>
        <p:nvSpPr>
          <p:cNvPr id="4" name="Footer Placeholder 3"/>
          <p:cNvSpPr>
            <a:spLocks noGrp="1"/>
          </p:cNvSpPr>
          <p:nvPr>
            <p:ph type="ftr" sz="quarter" idx="11"/>
          </p:nvPr>
        </p:nvSpPr>
        <p:spPr>
          <a:xfrm>
            <a:off x="3352800" y="6356350"/>
            <a:ext cx="2895600" cy="365125"/>
          </a:xfrm>
          <a:prstGeom prst="rect">
            <a:avLst/>
          </a:prstGeom>
        </p:spPr>
        <p:txBody>
          <a:bodyPr/>
          <a:lstStyle/>
          <a:p>
            <a:r>
              <a:rPr lang="en-US" smtClean="0"/>
              <a:t>Copyright 2014 Gregor Hevner</a:t>
            </a:r>
            <a:endParaRPr lang="en-US" dirty="0"/>
          </a:p>
        </p:txBody>
      </p:sp>
      <p:sp>
        <p:nvSpPr>
          <p:cNvPr id="5" name="Slide Number Placeholder 4"/>
          <p:cNvSpPr>
            <a:spLocks noGrp="1"/>
          </p:cNvSpPr>
          <p:nvPr>
            <p:ph type="sldNum" sz="quarter" idx="12"/>
          </p:nvPr>
        </p:nvSpPr>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62000" y="6356350"/>
            <a:ext cx="2133600" cy="365125"/>
          </a:xfrm>
          <a:prstGeom prst="rect">
            <a:avLst/>
          </a:prstGeom>
        </p:spPr>
        <p:txBody>
          <a:bodyPr/>
          <a:lstStyle/>
          <a:p>
            <a:r>
              <a:rPr lang="en-US" smtClean="0"/>
              <a:t>2014 DSR Seminar</a:t>
            </a:r>
            <a:endParaRPr lang="en-US" dirty="0"/>
          </a:p>
        </p:txBody>
      </p:sp>
      <p:sp>
        <p:nvSpPr>
          <p:cNvPr id="3" name="Footer Placeholder 2"/>
          <p:cNvSpPr>
            <a:spLocks noGrp="1"/>
          </p:cNvSpPr>
          <p:nvPr>
            <p:ph type="ftr" sz="quarter" idx="11"/>
          </p:nvPr>
        </p:nvSpPr>
        <p:spPr>
          <a:xfrm>
            <a:off x="3352800" y="6356350"/>
            <a:ext cx="2895600" cy="365125"/>
          </a:xfrm>
          <a:prstGeom prst="rect">
            <a:avLst/>
          </a:prstGeom>
        </p:spPr>
        <p:txBody>
          <a:bodyPr/>
          <a:lstStyle/>
          <a:p>
            <a:r>
              <a:rPr lang="en-US" smtClean="0"/>
              <a:t>Copyright 2014 Gregor Hevner</a:t>
            </a:r>
            <a:endParaRPr lang="en-US" dirty="0"/>
          </a:p>
        </p:txBody>
      </p:sp>
      <p:sp>
        <p:nvSpPr>
          <p:cNvPr id="4" name="Slide Number Placeholder 3"/>
          <p:cNvSpPr>
            <a:spLocks noGrp="1"/>
          </p:cNvSpPr>
          <p:nvPr>
            <p:ph type="sldNum" sz="quarter" idx="12"/>
          </p:nvPr>
        </p:nvSpPr>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srcRect/>
          <a:stretch>
            <a:fillRect/>
          </a:stretch>
        </p:blipFill>
        <p:spPr>
          <a:xfrm>
            <a:off x="43543" y="0"/>
            <a:ext cx="9100457" cy="6879771"/>
          </a:xfrm>
          <a:prstGeom prst="rect">
            <a:avLst/>
          </a:prstGeom>
        </p:spPr>
      </p:pic>
      <p:sp>
        <p:nvSpPr>
          <p:cNvPr id="3" name="Date Placeholder 3"/>
          <p:cNvSpPr>
            <a:spLocks noGrp="1"/>
          </p:cNvSpPr>
          <p:nvPr>
            <p:ph type="dt" sz="half" idx="10"/>
          </p:nvPr>
        </p:nvSpPr>
        <p:spPr>
          <a:xfrm>
            <a:off x="762000" y="6356350"/>
            <a:ext cx="2133600" cy="365125"/>
          </a:xfrm>
          <a:prstGeom prst="rect">
            <a:avLst/>
          </a:prstGeom>
        </p:spPr>
        <p:txBody>
          <a:bodyPr/>
          <a:lstStyle/>
          <a:p>
            <a:r>
              <a:rPr lang="en-US" smtClean="0"/>
              <a:t>2014 DSR Seminar</a:t>
            </a:r>
            <a:endParaRPr lang="en-US" dirty="0"/>
          </a:p>
        </p:txBody>
      </p:sp>
      <p:sp>
        <p:nvSpPr>
          <p:cNvPr id="4" name="Footer Placeholder 4"/>
          <p:cNvSpPr>
            <a:spLocks noGrp="1"/>
          </p:cNvSpPr>
          <p:nvPr>
            <p:ph type="ftr" sz="quarter" idx="11"/>
          </p:nvPr>
        </p:nvSpPr>
        <p:spPr>
          <a:xfrm>
            <a:off x="3352800" y="6356350"/>
            <a:ext cx="2895600" cy="365125"/>
          </a:xfrm>
          <a:prstGeom prst="rect">
            <a:avLst/>
          </a:prstGeom>
        </p:spPr>
        <p:txBody>
          <a:bodyPr/>
          <a:lstStyle/>
          <a:p>
            <a:r>
              <a:rPr lang="en-US" smtClean="0"/>
              <a:t>Copyright 2014 Gregor Hevner</a:t>
            </a:r>
            <a:endParaRPr lang="en-US" dirty="0"/>
          </a:p>
        </p:txBody>
      </p:sp>
      <p:sp>
        <p:nvSpPr>
          <p:cNvPr id="5"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30725"/>
          </a:xfrm>
        </p:spPr>
        <p:txBody>
          <a:bodyPr/>
          <a:lstStyle/>
          <a:p>
            <a:pPr lvl="0"/>
            <a:endParaRPr lang="en-US" noProof="0" smtClean="0"/>
          </a:p>
        </p:txBody>
      </p:sp>
      <p:sp>
        <p:nvSpPr>
          <p:cNvPr id="4" name="Rectangle 4"/>
          <p:cNvSpPr>
            <a:spLocks noGrp="1" noChangeArrowheads="1"/>
          </p:cNvSpPr>
          <p:nvPr>
            <p:ph type="dt" sz="half" idx="10"/>
          </p:nvPr>
        </p:nvSpPr>
        <p:spPr>
          <a:xfrm>
            <a:off x="457200" y="6243638"/>
            <a:ext cx="2133600" cy="457200"/>
          </a:xfrm>
          <a:prstGeom prst="rect">
            <a:avLst/>
          </a:prstGeom>
        </p:spPr>
        <p:txBody>
          <a:bodyPr/>
          <a:lstStyle>
            <a:lvl1pPr>
              <a:defRPr/>
            </a:lvl1pPr>
          </a:lstStyle>
          <a:p>
            <a:pPr>
              <a:defRPr/>
            </a:pPr>
            <a:r>
              <a:rPr lang="en-US" altLang="en-US" smtClean="0"/>
              <a:t>2014 DSR Seminar</a:t>
            </a:r>
            <a:endParaRPr lang="en-US" altLang="en-US"/>
          </a:p>
        </p:txBody>
      </p:sp>
      <p:sp>
        <p:nvSpPr>
          <p:cNvPr id="5" name="Rectangle 5"/>
          <p:cNvSpPr>
            <a:spLocks noGrp="1" noChangeArrowheads="1"/>
          </p:cNvSpPr>
          <p:nvPr>
            <p:ph type="ftr" sz="quarter" idx="11"/>
          </p:nvPr>
        </p:nvSpPr>
        <p:spPr>
          <a:xfrm>
            <a:off x="2895600" y="6248400"/>
            <a:ext cx="3429000" cy="457200"/>
          </a:xfrm>
          <a:prstGeom prst="rect">
            <a:avLst/>
          </a:prstGeom>
        </p:spPr>
        <p:txBody>
          <a:bodyPr/>
          <a:lstStyle>
            <a:lvl1pPr>
              <a:defRPr/>
            </a:lvl1pPr>
          </a:lstStyle>
          <a:p>
            <a:pPr>
              <a:defRPr/>
            </a:pPr>
            <a:r>
              <a:rPr lang="en-US" altLang="en-US" smtClean="0"/>
              <a:t>Copyright 2014 Gregor Hevner</a:t>
            </a:r>
            <a:endParaRPr lang="en-US" altLang="en-US"/>
          </a:p>
        </p:txBody>
      </p:sp>
      <p:sp>
        <p:nvSpPr>
          <p:cNvPr id="6" name="Rectangle 6"/>
          <p:cNvSpPr>
            <a:spLocks noGrp="1" noChangeArrowheads="1"/>
          </p:cNvSpPr>
          <p:nvPr>
            <p:ph type="sldNum" sz="quarter" idx="12"/>
          </p:nvPr>
        </p:nvSpPr>
        <p:spPr/>
        <p:txBody>
          <a:bodyPr/>
          <a:lstStyle>
            <a:lvl1pPr>
              <a:defRPr/>
            </a:lvl1pPr>
          </a:lstStyle>
          <a:p>
            <a:pPr>
              <a:defRPr/>
            </a:pPr>
            <a:fld id="{DC352660-7416-430A-B4C4-919B5D8F037F}" type="slidenum">
              <a:rPr lang="en-US" altLang="en-US"/>
            </a:fld>
            <a:endParaRPr lang="en-US" altLang="en-US"/>
          </a:p>
        </p:txBody>
      </p:sp>
    </p:spTree>
  </p:cSld>
  <p:clrMapOvr>
    <a:masterClrMapping/>
  </p:clrMapOvr>
  <p:transition spd="slow">
    <p:wipe di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3.png"/><Relationship Id="rId15" Type="http://schemas.openxmlformats.org/officeDocument/2006/relationships/image" Target="../media/image5.png"/><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4" cstate="email"/>
          <a:srcRect/>
          <a:stretch>
            <a:fillRect/>
          </a:stretch>
        </p:blipFill>
        <p:spPr>
          <a:xfrm>
            <a:off x="43543" y="0"/>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1600200"/>
            <a:ext cx="80772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pic>
        <p:nvPicPr>
          <p:cNvPr id="8" name="Picture 7"/>
          <p:cNvPicPr>
            <a:picLocks noChangeAspect="1"/>
          </p:cNvPicPr>
          <p:nvPr/>
        </p:nvPicPr>
        <p:blipFill rotWithShape="1">
          <a:blip r:embed="rId15" cstate="email"/>
          <a:srcRect/>
          <a:stretch>
            <a:fillRect/>
          </a:stretch>
        </p:blipFill>
        <p:spPr>
          <a:xfrm>
            <a:off x="-152399" y="-109183"/>
            <a:ext cx="457200" cy="7083189"/>
          </a:xfrm>
          <a:prstGeom prst="rect">
            <a:avLst/>
          </a:prstGeom>
        </p:spPr>
      </p:pic>
      <p:sp>
        <p:nvSpPr>
          <p:cNvPr id="6" name="Slide Number Placeholder 5"/>
          <p:cNvSpPr>
            <a:spLocks noGrp="1"/>
          </p:cNvSpPr>
          <p:nvPr>
            <p:ph type="sldNum" sz="quarter" idx="4"/>
          </p:nvPr>
        </p:nvSpPr>
        <p:spPr>
          <a:xfrm>
            <a:off x="8521484" y="6495082"/>
            <a:ext cx="609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6E5A2-EC83-451F-A719-9AC1370DD5CF}" type="slidenum">
              <a:rPr lang="en-US" smtClean="0"/>
            </a:fld>
            <a:endParaRPr lang="en-US" dirty="0"/>
          </a:p>
        </p:txBody>
      </p:sp>
      <p:pic>
        <p:nvPicPr>
          <p:cNvPr id="4" name="Picture 3"/>
          <p:cNvPicPr>
            <a:picLocks noChangeAspect="1"/>
          </p:cNvPicPr>
          <p:nvPr userDrawn="1"/>
        </p:nvPicPr>
        <p:blipFill>
          <a:blip r:embed="rId16" cstate="email">
            <a:extLst>
              <a:ext uri="{28A0092B-C50C-407E-A947-70E740481C1C}">
                <a14:useLocalDpi xmlns:a14="http://schemas.microsoft.com/office/drawing/2010/main" val="0"/>
              </a:ext>
            </a:extLst>
          </a:blip>
          <a:stretch>
            <a:fillRect/>
          </a:stretch>
        </p:blipFill>
        <p:spPr>
          <a:xfrm>
            <a:off x="914400" y="6026401"/>
            <a:ext cx="7655944" cy="8533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p:wipe dir="d"/>
  </p:transition>
  <p:timing>
    <p:tnLst>
      <p:par>
        <p:cTn id="1" dur="indefinite" restart="never" nodeType="tmRoot"/>
      </p:par>
    </p:tnLst>
  </p:timing>
  <p:hf hdr="0" ftr="0" dt="0"/>
  <p:txStyles>
    <p:titleStyle>
      <a:lvl1pPr algn="l" defTabSz="914400" rtl="0" eaLnBrk="1" latinLnBrk="0" hangingPunct="1">
        <a:spcBef>
          <a:spcPct val="0"/>
        </a:spcBef>
        <a:buNone/>
        <a:defRPr lang="en-US" sz="4400" kern="1200" dirty="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tags" Target="../tags/tag3.xml"/><Relationship Id="rId4" Type="http://schemas.openxmlformats.org/officeDocument/2006/relationships/image" Target="../media/image6.png"/><Relationship Id="rId3" Type="http://schemas.openxmlformats.org/officeDocument/2006/relationships/hyperlink" Target="mailto:ahevner@usf.edu" TargetMode="Externa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7.emf"/><Relationship Id="rId1" Type="http://schemas.openxmlformats.org/officeDocument/2006/relationships/oleObject" Target="../embeddings/Presentation1.ppt"/></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2133600" y="2286000"/>
            <a:ext cx="6637424" cy="1470025"/>
          </a:xfrm>
        </p:spPr>
        <p:txBody>
          <a:bodyPr>
            <a:normAutofit fontScale="90000"/>
          </a:bodyPr>
          <a:lstStyle/>
          <a:p>
            <a:r>
              <a:rPr lang="en-US" dirty="0" smtClean="0"/>
              <a:t>Designing Informing systems: What Research Tells Us</a:t>
            </a:r>
            <a:endParaRPr lang="en-US" dirty="0"/>
          </a:p>
        </p:txBody>
      </p:sp>
      <p:sp>
        <p:nvSpPr>
          <p:cNvPr id="3" name="Subtitle 2"/>
          <p:cNvSpPr>
            <a:spLocks noGrp="1"/>
          </p:cNvSpPr>
          <p:nvPr>
            <p:ph type="subTitle" idx="1"/>
            <p:custDataLst>
              <p:tags r:id="rId2"/>
            </p:custDataLst>
          </p:nvPr>
        </p:nvSpPr>
        <p:spPr>
          <a:xfrm>
            <a:off x="3962400" y="4038600"/>
            <a:ext cx="4772528" cy="1143000"/>
          </a:xfrm>
        </p:spPr>
        <p:txBody>
          <a:bodyPr>
            <a:normAutofit fontScale="62500" lnSpcReduction="20000"/>
          </a:bodyPr>
          <a:lstStyle/>
          <a:p>
            <a:r>
              <a:rPr lang="en-US" sz="2400" dirty="0" smtClean="0">
                <a:latin typeface="+mn-lt"/>
              </a:rPr>
              <a:t>Alan R. </a:t>
            </a:r>
            <a:r>
              <a:rPr lang="en-US" sz="2400" dirty="0" err="1" smtClean="0">
                <a:latin typeface="+mn-lt"/>
              </a:rPr>
              <a:t>Hevner</a:t>
            </a:r>
            <a:endParaRPr lang="en-US" sz="2400" dirty="0" smtClean="0">
              <a:latin typeface="+mn-lt"/>
            </a:endParaRPr>
          </a:p>
          <a:p>
            <a:r>
              <a:rPr lang="en-US" sz="2400" dirty="0" smtClean="0">
                <a:latin typeface="+mn-lt"/>
              </a:rPr>
              <a:t>University of South Florida</a:t>
            </a:r>
            <a:endParaRPr lang="en-US" sz="2400" dirty="0" smtClean="0">
              <a:latin typeface="+mn-lt"/>
            </a:endParaRPr>
          </a:p>
          <a:p>
            <a:r>
              <a:rPr lang="en-US" sz="2400" dirty="0" smtClean="0">
                <a:latin typeface="+mn-lt"/>
                <a:hlinkClick r:id="rId3"/>
              </a:rPr>
              <a:t>ahevner@usf.edu</a:t>
            </a:r>
            <a:endParaRPr lang="en-US" sz="2400" dirty="0" smtClean="0">
              <a:latin typeface="+mn-lt"/>
            </a:endParaRPr>
          </a:p>
          <a:p>
            <a:pPr>
              <a:lnSpc>
                <a:spcPct val="170000"/>
              </a:lnSpc>
            </a:pPr>
            <a:r>
              <a:rPr lang="en-US" sz="2400" smtClean="0">
                <a:latin typeface="+mn-lt"/>
              </a:rPr>
              <a:t>Revised </a:t>
            </a:r>
            <a:r>
              <a:rPr lang="en-US" sz="2400" dirty="0" smtClean="0">
                <a:latin typeface="+mn-lt"/>
              </a:rPr>
              <a:t>by Max HE with Thanks</a:t>
            </a:r>
            <a:endParaRPr lang="en-US" sz="2400" dirty="0">
              <a:latin typeface="+mn-lt"/>
            </a:endParaRPr>
          </a:p>
        </p:txBody>
      </p:sp>
      <p:sp>
        <p:nvSpPr>
          <p:cNvPr id="4" name="Slide Number Placeholder 3"/>
          <p:cNvSpPr>
            <a:spLocks noGrp="1"/>
          </p:cNvSpPr>
          <p:nvPr>
            <p:ph type="sldNum" sz="quarter" idx="16"/>
          </p:nvPr>
        </p:nvSpPr>
        <p:spPr/>
        <p:txBody>
          <a:bodyPr/>
          <a:lstStyle/>
          <a:p>
            <a:fld id="{33D6E5A2-EC83-451F-A719-9AC1370DD5CF}" type="slidenum">
              <a:rPr lang="en-US" smtClean="0"/>
            </a:fld>
            <a:endParaRPr lang="en-US" dirty="0"/>
          </a:p>
        </p:txBody>
      </p:sp>
      <p:pic>
        <p:nvPicPr>
          <p:cNvPr id="5" name="Picture 4"/>
          <p:cNvPicPr>
            <a:picLocks noChangeAspect="1"/>
          </p:cNvPicPr>
          <p:nvPr/>
        </p:nvPicPr>
        <p:blipFill>
          <a:blip r:embed="rId4" cstate="print"/>
          <a:stretch>
            <a:fillRect/>
          </a:stretch>
        </p:blipFill>
        <p:spPr>
          <a:xfrm>
            <a:off x="1219200" y="4191000"/>
            <a:ext cx="3766431" cy="792535"/>
          </a:xfrm>
          <a:prstGeom prst="rect">
            <a:avLst/>
          </a:prstGeom>
        </p:spPr>
      </p:pic>
    </p:spTree>
    <p:custDataLst>
      <p:tags r:id="rId5"/>
    </p:custDataLst>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r>
              <a:rPr lang="en-US" smtClean="0"/>
              <a:t>Outline</a:t>
            </a:r>
            <a:endParaRPr lang="en-US" dirty="0" smtClean="0"/>
          </a:p>
        </p:txBody>
      </p:sp>
      <p:sp>
        <p:nvSpPr>
          <p:cNvPr id="5125" name="Rectangle 3"/>
          <p:cNvSpPr>
            <a:spLocks noGrp="1" noChangeArrowheads="1"/>
          </p:cNvSpPr>
          <p:nvPr>
            <p:ph type="body" idx="1"/>
          </p:nvPr>
        </p:nvSpPr>
        <p:spPr/>
        <p:txBody>
          <a:bodyPr>
            <a:normAutofit/>
          </a:bodyPr>
          <a:lstStyle/>
          <a:p>
            <a:r>
              <a:rPr lang="en-US" dirty="0" smtClean="0"/>
              <a:t>Designing Informing Systems</a:t>
            </a:r>
            <a:endParaRPr lang="en-US" dirty="0" smtClean="0"/>
          </a:p>
          <a:p>
            <a:r>
              <a:rPr lang="en-US" dirty="0" smtClean="0"/>
              <a:t>Design Science Research (DSR)</a:t>
            </a:r>
            <a:endParaRPr lang="en-US" dirty="0" smtClean="0"/>
          </a:p>
          <a:p>
            <a:pPr lvl="1"/>
            <a:r>
              <a:rPr lang="en-US" dirty="0" smtClean="0"/>
              <a:t>Concepts, Models, and Guidelines</a:t>
            </a:r>
            <a:endParaRPr lang="en-US" dirty="0" smtClean="0"/>
          </a:p>
          <a:p>
            <a:pPr lvl="1"/>
            <a:r>
              <a:rPr lang="en-US" dirty="0" smtClean="0"/>
              <a:t>Three Cycles of Design Activities</a:t>
            </a:r>
            <a:endParaRPr lang="en-US" dirty="0" smtClean="0"/>
          </a:p>
          <a:p>
            <a:r>
              <a:rPr lang="en-US" dirty="0" smtClean="0"/>
              <a:t>Positioning and Presenting DSR</a:t>
            </a:r>
            <a:endParaRPr lang="en-US" dirty="0" smtClean="0"/>
          </a:p>
          <a:p>
            <a:pPr lvl="1"/>
            <a:r>
              <a:rPr lang="en-US" dirty="0" smtClean="0"/>
              <a:t>The Knowledge Contribution Matrix</a:t>
            </a:r>
            <a:endParaRPr lang="en-US" dirty="0" smtClean="0"/>
          </a:p>
          <a:p>
            <a:r>
              <a:rPr lang="en-US" dirty="0" smtClean="0"/>
              <a:t>A Fitness/Utility Model of DSR</a:t>
            </a:r>
            <a:endParaRPr lang="en-US" dirty="0" smtClean="0"/>
          </a:p>
        </p:txBody>
      </p:sp>
      <p:sp>
        <p:nvSpPr>
          <p:cNvPr id="6" name="Slide Number Placeholder 5"/>
          <p:cNvSpPr>
            <a:spLocks noGrp="1"/>
          </p:cNvSpPr>
          <p:nvPr>
            <p:ph type="sldNum" sz="quarter" idx="12"/>
          </p:nvPr>
        </p:nvSpPr>
        <p:spPr/>
        <p:txBody>
          <a:bodyPr/>
          <a:lstStyle/>
          <a:p>
            <a:fld id="{B8127482-6A10-49D0-9D06-B7EAEC91C5D6}" type="slidenum">
              <a:rPr lang="en-US" altLang="en-US" smtClean="0"/>
            </a:fld>
            <a:endParaRPr lang="en-US" altLang="en-US"/>
          </a:p>
        </p:txBody>
      </p:sp>
    </p:spTree>
  </p:cSld>
  <p:clrMapOvr>
    <a:masterClrMapping/>
  </p:clrMapOvr>
  <p:transition spd="slow">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Informing Systems</a:t>
            </a:r>
            <a:endParaRPr lang="en-US" dirty="0"/>
          </a:p>
        </p:txBody>
      </p:sp>
      <p:sp>
        <p:nvSpPr>
          <p:cNvPr id="6" name="Content Placeholder 5"/>
          <p:cNvSpPr>
            <a:spLocks noGrp="1"/>
          </p:cNvSpPr>
          <p:nvPr>
            <p:ph idx="1"/>
          </p:nvPr>
        </p:nvSpPr>
        <p:spPr/>
        <p:txBody>
          <a:bodyPr/>
          <a:lstStyle/>
          <a:p>
            <a:r>
              <a:rPr lang="en-US" dirty="0" smtClean="0">
                <a:solidFill>
                  <a:srgbClr val="0070C0"/>
                </a:solidFill>
              </a:rPr>
              <a:t>Design Science</a:t>
            </a:r>
            <a:r>
              <a:rPr lang="en-US" dirty="0" smtClean="0"/>
              <a:t> is a creative research paradigm that informs multiple audiences:</a:t>
            </a:r>
            <a:endParaRPr lang="en-US" dirty="0" smtClean="0"/>
          </a:p>
          <a:p>
            <a:pPr lvl="1"/>
            <a:r>
              <a:rPr lang="en-US" dirty="0" smtClean="0"/>
              <a:t>Researchers: Design principles and mid-range design theories</a:t>
            </a:r>
            <a:endParaRPr lang="en-US" dirty="0" smtClean="0"/>
          </a:p>
          <a:p>
            <a:pPr lvl="1"/>
            <a:r>
              <a:rPr lang="en-US" dirty="0" smtClean="0"/>
              <a:t>Practitioners: Artifact (product and process) instantiations</a:t>
            </a:r>
            <a:endParaRPr lang="en-US" dirty="0" smtClean="0"/>
          </a:p>
          <a:p>
            <a:pPr lvl="1"/>
            <a:r>
              <a:rPr lang="en-US" dirty="0" smtClean="0"/>
              <a:t>Managers: Work and application system controls</a:t>
            </a:r>
            <a:endParaRPr lang="en-US" dirty="0" smtClean="0"/>
          </a:p>
          <a:p>
            <a:pPr lvl="1"/>
            <a:r>
              <a:rPr lang="en-US" dirty="0" smtClean="0"/>
              <a:t>Government: Economic and social welfare</a:t>
            </a:r>
            <a:endParaRPr lang="en-US" dirty="0"/>
          </a:p>
        </p:txBody>
      </p:sp>
      <p:sp>
        <p:nvSpPr>
          <p:cNvPr id="4" name="Slide Number Placeholder 3"/>
          <p:cNvSpPr>
            <a:spLocks noGrp="1"/>
          </p:cNvSpPr>
          <p:nvPr>
            <p:ph type="sldNum" sz="quarter" idx="12"/>
          </p:nvPr>
        </p:nvSpPr>
        <p:spPr/>
        <p:txBody>
          <a:bodyPr/>
          <a:lstStyle/>
          <a:p>
            <a:fld id="{33D6E5A2-EC83-451F-A719-9AC1370DD5CF}" type="slidenum">
              <a:rPr lang="en-US" smtClean="0"/>
            </a:fld>
            <a:endParaRPr lang="en-US" dirty="0"/>
          </a:p>
        </p:txBody>
      </p:sp>
    </p:spTree>
  </p:cSld>
  <p:clrMapOvr>
    <a:masterClrMapping/>
  </p:clrMapOvr>
  <p:transition spd="slow">
    <p:wipe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r>
              <a:rPr lang="en-US" smtClean="0"/>
              <a:t>Design Science Research</a:t>
            </a:r>
            <a:endParaRPr lang="en-US" dirty="0" smtClean="0"/>
          </a:p>
        </p:txBody>
      </p:sp>
      <p:sp>
        <p:nvSpPr>
          <p:cNvPr id="7173" name="Rectangle 3"/>
          <p:cNvSpPr>
            <a:spLocks noGrp="1" noChangeArrowheads="1"/>
          </p:cNvSpPr>
          <p:nvPr>
            <p:ph type="body" idx="1"/>
          </p:nvPr>
        </p:nvSpPr>
        <p:spPr/>
        <p:txBody>
          <a:bodyPr>
            <a:normAutofit fontScale="77500" lnSpcReduction="20000"/>
          </a:bodyPr>
          <a:lstStyle/>
          <a:p>
            <a:r>
              <a:rPr lang="en-US" smtClean="0"/>
              <a:t>Sciences of the Artificial, 3rd Ed. – Simon 1996</a:t>
            </a:r>
            <a:endParaRPr lang="en-US" smtClean="0"/>
          </a:p>
          <a:p>
            <a:pPr lvl="1"/>
            <a:r>
              <a:rPr lang="en-US" smtClean="0"/>
              <a:t>A Problem Solving Paradigm</a:t>
            </a:r>
            <a:endParaRPr lang="en-US" smtClean="0"/>
          </a:p>
          <a:p>
            <a:pPr lvl="1"/>
            <a:r>
              <a:rPr lang="en-US" smtClean="0"/>
              <a:t>The Creation of Innovative Artifacts to Solve Real Problems</a:t>
            </a:r>
            <a:endParaRPr lang="en-US" smtClean="0"/>
          </a:p>
          <a:p>
            <a:r>
              <a:rPr lang="en-US" smtClean="0"/>
              <a:t>Design in Other Fields – Long Histories</a:t>
            </a:r>
            <a:endParaRPr lang="en-US" smtClean="0"/>
          </a:p>
          <a:p>
            <a:pPr lvl="1"/>
            <a:r>
              <a:rPr lang="en-US" smtClean="0"/>
              <a:t>Engineering, Architecture, Art</a:t>
            </a:r>
            <a:endParaRPr lang="en-US" smtClean="0"/>
          </a:p>
          <a:p>
            <a:pPr lvl="1"/>
            <a:r>
              <a:rPr lang="en-US" smtClean="0"/>
              <a:t>Role of Creativity in Design</a:t>
            </a:r>
            <a:endParaRPr lang="en-US" smtClean="0"/>
          </a:p>
          <a:p>
            <a:r>
              <a:rPr lang="en-US" smtClean="0"/>
              <a:t>DSR in Information Systems</a:t>
            </a:r>
            <a:endParaRPr lang="en-US" smtClean="0"/>
          </a:p>
          <a:p>
            <a:pPr lvl="1"/>
            <a:r>
              <a:rPr lang="en-US" smtClean="0"/>
              <a:t>A. Hevner, S. March, J. Park, and S. Ram, “Design Science Research in Information Systems,” Management Information Systems Quarterly, Vol. 28, No. 1, March 2004, pp. 75-105.</a:t>
            </a:r>
            <a:endParaRPr lang="en-US" smtClean="0"/>
          </a:p>
          <a:p>
            <a:pPr lvl="1"/>
            <a:r>
              <a:rPr lang="en-AU" smtClean="0"/>
              <a:t>S. Gregor and D. Jones, “The Anatomy of a Design Theory,” Journal of the Association of Information Systems, (8:5), 2007, pp. 312-335. </a:t>
            </a:r>
            <a:endParaRPr lang="en-US" dirty="0"/>
          </a:p>
        </p:txBody>
      </p:sp>
      <p:sp>
        <p:nvSpPr>
          <p:cNvPr id="6" name="Slide Number Placeholder 5"/>
          <p:cNvSpPr>
            <a:spLocks noGrp="1"/>
          </p:cNvSpPr>
          <p:nvPr>
            <p:ph type="sldNum" sz="quarter" idx="12"/>
          </p:nvPr>
        </p:nvSpPr>
        <p:spPr/>
        <p:txBody>
          <a:bodyPr/>
          <a:lstStyle/>
          <a:p>
            <a:fld id="{B27D60E6-EAAD-4C6B-8760-FB3311F72FDD}" type="slidenum">
              <a:rPr lang="en-US" altLang="en-US" smtClean="0"/>
            </a:fld>
            <a:endParaRPr lang="en-US" altLang="en-US"/>
          </a:p>
        </p:txBody>
      </p:sp>
    </p:spTree>
  </p:cSld>
  <p:clrMapOvr>
    <a:masterClrMapping/>
  </p:clrMapOvr>
  <p:transition spd="slow">
    <p:wipe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r>
              <a:rPr lang="en-US" dirty="0" smtClean="0"/>
              <a:t>Research in Information Systems</a:t>
            </a:r>
            <a:endParaRPr lang="en-US" dirty="0" smtClean="0"/>
          </a:p>
        </p:txBody>
      </p:sp>
      <p:sp>
        <p:nvSpPr>
          <p:cNvPr id="10245" name="Rectangle 3"/>
          <p:cNvSpPr>
            <a:spLocks noGrp="1" noChangeArrowheads="1"/>
          </p:cNvSpPr>
          <p:nvPr>
            <p:ph type="body" idx="1"/>
          </p:nvPr>
        </p:nvSpPr>
        <p:spPr/>
        <p:txBody>
          <a:bodyPr/>
          <a:lstStyle/>
          <a:p>
            <a:r>
              <a:rPr lang="en-US" smtClean="0"/>
              <a:t>Information Systems (IS) are complex, artificial, and purposefully designed.</a:t>
            </a:r>
            <a:endParaRPr lang="en-US" smtClean="0"/>
          </a:p>
          <a:p>
            <a:r>
              <a:rPr lang="en-US" smtClean="0"/>
              <a:t>IS are composed of people, structures, technologies, and work systems.</a:t>
            </a:r>
            <a:endParaRPr lang="en-US" smtClean="0"/>
          </a:p>
          <a:p>
            <a:r>
              <a:rPr lang="en-US" smtClean="0"/>
              <a:t>Two Basic IS Research Paradigms</a:t>
            </a:r>
            <a:endParaRPr lang="en-US" smtClean="0"/>
          </a:p>
          <a:p>
            <a:pPr lvl="1"/>
            <a:r>
              <a:rPr lang="en-US" smtClean="0"/>
              <a:t>Behavioral Research – Goal is Truth</a:t>
            </a:r>
            <a:endParaRPr lang="en-US" smtClean="0"/>
          </a:p>
          <a:p>
            <a:pPr lvl="1"/>
            <a:r>
              <a:rPr lang="en-US" smtClean="0"/>
              <a:t>Design Research – Goal is Utility (and Truth!)</a:t>
            </a:r>
            <a:endParaRPr lang="en-US" dirty="0" smtClean="0"/>
          </a:p>
        </p:txBody>
      </p:sp>
      <p:sp>
        <p:nvSpPr>
          <p:cNvPr id="6" name="Slide Number Placeholder 5"/>
          <p:cNvSpPr>
            <a:spLocks noGrp="1"/>
          </p:cNvSpPr>
          <p:nvPr>
            <p:ph type="sldNum" sz="quarter" idx="12"/>
          </p:nvPr>
        </p:nvSpPr>
        <p:spPr/>
        <p:txBody>
          <a:bodyPr/>
          <a:lstStyle/>
          <a:p>
            <a:fld id="{3E875232-8C3F-4F6A-B62C-29C90CB45C92}" type="slidenum">
              <a:rPr lang="en-US" altLang="en-US" smtClean="0"/>
            </a:fld>
            <a:endParaRPr lang="en-US" altLang="en-US"/>
          </a:p>
        </p:txBody>
      </p:sp>
    </p:spTree>
  </p:cSld>
  <p:clrMapOvr>
    <a:masterClrMapping/>
  </p:clrMapOvr>
  <p:transition spd="slow">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p:txBody>
          <a:bodyPr/>
          <a:lstStyle/>
          <a:p>
            <a:r>
              <a:rPr lang="en-US" smtClean="0"/>
              <a:t>IS Research Cycle</a:t>
            </a:r>
            <a:endParaRPr lang="en-US" smtClean="0"/>
          </a:p>
        </p:txBody>
      </p:sp>
      <p:graphicFrame>
        <p:nvGraphicFramePr>
          <p:cNvPr id="1026" name="Object 3"/>
          <p:cNvGraphicFramePr>
            <a:graphicFrameLocks noGrp="1" noChangeAspect="1"/>
          </p:cNvGraphicFramePr>
          <p:nvPr>
            <p:ph idx="1"/>
          </p:nvPr>
        </p:nvGraphicFramePr>
        <p:xfrm>
          <a:off x="1600200" y="1345406"/>
          <a:ext cx="6019800" cy="4514850"/>
        </p:xfrm>
        <a:graphic>
          <a:graphicData uri="http://schemas.openxmlformats.org/presentationml/2006/ole">
            <mc:AlternateContent xmlns:mc="http://schemas.openxmlformats.org/markup-compatibility/2006">
              <mc:Choice xmlns:v="urn:schemas-microsoft-com:vml" Requires="v">
                <p:oleObj spid="_x0000_s1025" name="Presentation" r:id="rId1" imgW="4565650" imgH="3424555" progId="PowerPoint.Show.8">
                  <p:embed/>
                </p:oleObj>
              </mc:Choice>
              <mc:Fallback>
                <p:oleObj name="Presentation" r:id="rId1" imgW="4565650" imgH="3424555" progId="PowerPoint.Show.8">
                  <p:embed/>
                  <p:pic>
                    <p:nvPicPr>
                      <p:cNvPr id="0" name="图片 1024"/>
                      <p:cNvPicPr>
                        <a:picLocks noGrp="1" noChangeAspect="1"/>
                      </p:cNvPicPr>
                      <p:nvPr/>
                    </p:nvPicPr>
                    <p:blipFill>
                      <a:blip r:embed="rId2"/>
                      <a:stretch>
                        <a:fillRect/>
                      </a:stretch>
                    </p:blipFill>
                    <p:spPr>
                      <a:xfrm>
                        <a:off x="1600200" y="1345406"/>
                        <a:ext cx="6019800" cy="4514850"/>
                      </a:xfrm>
                      <a:prstGeom prst="rect">
                        <a:avLst/>
                      </a:prstGeom>
                      <a:noFill/>
                      <a:ln w="9525">
                        <a:noFill/>
                      </a:ln>
                    </p:spPr>
                  </p:pic>
                </p:oleObj>
              </mc:Fallback>
            </mc:AlternateContent>
          </a:graphicData>
        </a:graphic>
      </p:graphicFrame>
      <p:sp>
        <p:nvSpPr>
          <p:cNvPr id="6" name="Slide Number Placeholder 5"/>
          <p:cNvSpPr>
            <a:spLocks noGrp="1"/>
          </p:cNvSpPr>
          <p:nvPr>
            <p:ph type="sldNum" sz="quarter" idx="12"/>
          </p:nvPr>
        </p:nvSpPr>
        <p:spPr/>
        <p:txBody>
          <a:bodyPr/>
          <a:lstStyle/>
          <a:p>
            <a:fld id="{BBBC1F38-775F-40FF-9D6A-C9D0B85F4E75}" type="slidenum">
              <a:rPr lang="en-US" altLang="en-US" smtClean="0"/>
            </a:fld>
            <a:endParaRPr lang="en-US" altLang="en-US"/>
          </a:p>
        </p:txBody>
      </p:sp>
    </p:spTree>
  </p:cSld>
  <p:clrMapOvr>
    <a:masterClrMapping/>
  </p:clrMapOvr>
  <p:transition spd="slow">
    <p:wipe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r>
              <a:rPr lang="en-US" smtClean="0"/>
              <a:t>Design Thinking</a:t>
            </a:r>
            <a:endParaRPr lang="en-US" dirty="0" smtClean="0"/>
          </a:p>
        </p:txBody>
      </p:sp>
      <p:sp>
        <p:nvSpPr>
          <p:cNvPr id="11269" name="Rectangle 3"/>
          <p:cNvSpPr>
            <a:spLocks noGrp="1" noChangeArrowheads="1"/>
          </p:cNvSpPr>
          <p:nvPr>
            <p:ph type="body" idx="1"/>
          </p:nvPr>
        </p:nvSpPr>
        <p:spPr/>
        <p:txBody>
          <a:bodyPr>
            <a:normAutofit fontScale="62500" lnSpcReduction="20000"/>
          </a:bodyPr>
          <a:lstStyle/>
          <a:p>
            <a:r>
              <a:rPr lang="en-US" dirty="0" smtClean="0"/>
              <a:t>Design is an Artifact (Noun)</a:t>
            </a:r>
            <a:endParaRPr lang="en-US" dirty="0" smtClean="0"/>
          </a:p>
          <a:p>
            <a:pPr lvl="1"/>
            <a:r>
              <a:rPr lang="en-US" dirty="0" smtClean="0"/>
              <a:t>Constructs</a:t>
            </a:r>
            <a:endParaRPr lang="en-US" dirty="0" smtClean="0"/>
          </a:p>
          <a:p>
            <a:pPr lvl="1"/>
            <a:r>
              <a:rPr lang="en-US" dirty="0" smtClean="0"/>
              <a:t>Models</a:t>
            </a:r>
            <a:endParaRPr lang="en-US" dirty="0" smtClean="0"/>
          </a:p>
          <a:p>
            <a:pPr lvl="1"/>
            <a:r>
              <a:rPr lang="en-US" dirty="0" smtClean="0"/>
              <a:t>Methods</a:t>
            </a:r>
            <a:endParaRPr lang="en-US" dirty="0" smtClean="0"/>
          </a:p>
          <a:p>
            <a:pPr lvl="1"/>
            <a:r>
              <a:rPr lang="en-US" dirty="0" smtClean="0"/>
              <a:t>Instantiations</a:t>
            </a:r>
            <a:endParaRPr lang="en-US" dirty="0" smtClean="0"/>
          </a:p>
          <a:p>
            <a:r>
              <a:rPr lang="en-US" dirty="0" smtClean="0"/>
              <a:t>Design is a Process (Verb)</a:t>
            </a:r>
            <a:endParaRPr lang="en-US" dirty="0" smtClean="0"/>
          </a:p>
          <a:p>
            <a:pPr lvl="1"/>
            <a:r>
              <a:rPr lang="en-US" dirty="0" smtClean="0"/>
              <a:t>Build</a:t>
            </a:r>
            <a:endParaRPr lang="en-US" dirty="0" smtClean="0"/>
          </a:p>
          <a:p>
            <a:pPr lvl="1"/>
            <a:r>
              <a:rPr lang="en-US" dirty="0" smtClean="0"/>
              <a:t>Evaluate</a:t>
            </a:r>
            <a:endParaRPr lang="en-US" dirty="0" smtClean="0"/>
          </a:p>
          <a:p>
            <a:r>
              <a:rPr lang="en-US" dirty="0" smtClean="0"/>
              <a:t>Design is a Wicked Problem</a:t>
            </a:r>
            <a:endParaRPr lang="en-US" dirty="0" smtClean="0"/>
          </a:p>
          <a:p>
            <a:pPr lvl="1"/>
            <a:r>
              <a:rPr lang="en-US" dirty="0" smtClean="0"/>
              <a:t>Unstable Requirements and Constraints</a:t>
            </a:r>
            <a:endParaRPr lang="en-US" dirty="0" smtClean="0"/>
          </a:p>
          <a:p>
            <a:pPr lvl="1"/>
            <a:r>
              <a:rPr lang="en-US" dirty="0" smtClean="0"/>
              <a:t>Complex Interactions among Subcomponents of Problem and resulting Subcomponents of Solution</a:t>
            </a:r>
            <a:endParaRPr lang="en-US" dirty="0" smtClean="0"/>
          </a:p>
          <a:p>
            <a:pPr lvl="1"/>
            <a:r>
              <a:rPr lang="en-US" dirty="0" smtClean="0"/>
              <a:t>Inherent Flexibility to Change Artifacts and Processes</a:t>
            </a:r>
            <a:endParaRPr lang="en-US" dirty="0" smtClean="0"/>
          </a:p>
          <a:p>
            <a:pPr lvl="1"/>
            <a:r>
              <a:rPr lang="en-US" dirty="0" smtClean="0"/>
              <a:t>Dependence on Human Cognitive Abilities - Creativity</a:t>
            </a:r>
            <a:endParaRPr lang="en-US" dirty="0" smtClean="0"/>
          </a:p>
          <a:p>
            <a:pPr lvl="1"/>
            <a:r>
              <a:rPr lang="en-US" dirty="0" smtClean="0"/>
              <a:t>Dependence on Human Social Abilities - Teamwork</a:t>
            </a:r>
            <a:endParaRPr lang="en-US" dirty="0" smtClean="0"/>
          </a:p>
        </p:txBody>
      </p:sp>
      <p:sp>
        <p:nvSpPr>
          <p:cNvPr id="6" name="Slide Number Placeholder 5"/>
          <p:cNvSpPr>
            <a:spLocks noGrp="1"/>
          </p:cNvSpPr>
          <p:nvPr>
            <p:ph type="sldNum" sz="quarter" idx="12"/>
          </p:nvPr>
        </p:nvSpPr>
        <p:spPr/>
        <p:txBody>
          <a:bodyPr/>
          <a:lstStyle/>
          <a:p>
            <a:fld id="{F3D69A28-4B0A-4650-94EC-63D3C71E0A45}" type="slidenum">
              <a:rPr lang="en-US" altLang="en-US" smtClean="0"/>
            </a:fld>
            <a:endParaRPr lang="en-US" altLang="en-US"/>
          </a:p>
        </p:txBody>
      </p:sp>
    </p:spTree>
  </p:cSld>
  <p:clrMapOvr>
    <a:masterClrMapping/>
  </p:clrMapOvr>
  <p:transition spd="slow">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 name="Slide Number Placeholder 3"/>
          <p:cNvSpPr>
            <a:spLocks noGrp="1"/>
          </p:cNvSpPr>
          <p:nvPr>
            <p:ph type="sldNum" sz="quarter" idx="12"/>
          </p:nvPr>
        </p:nvSpPr>
        <p:spPr/>
        <p:txBody>
          <a:bodyPr/>
          <a:lstStyle/>
          <a:p>
            <a:fld id="{3830D7F8-60DC-4210-8512-5B3A8AE65565}" type="slidenum">
              <a:rPr lang="en-US" altLang="en-US" smtClean="0"/>
            </a:fld>
            <a:endParaRPr lang="en-US" altLang="en-US"/>
          </a:p>
        </p:txBody>
      </p:sp>
      <p:grpSp>
        <p:nvGrpSpPr>
          <p:cNvPr id="9220" name="Group 2"/>
          <p:cNvGrpSpPr>
            <a:grpSpLocks noChangeAspect="1"/>
          </p:cNvGrpSpPr>
          <p:nvPr/>
        </p:nvGrpSpPr>
        <p:grpSpPr bwMode="auto">
          <a:xfrm>
            <a:off x="228600" y="381000"/>
            <a:ext cx="9220200" cy="5867400"/>
            <a:chOff x="2657" y="-310"/>
            <a:chExt cx="7797" cy="5146"/>
          </a:xfrm>
        </p:grpSpPr>
        <p:sp>
          <p:nvSpPr>
            <p:cNvPr id="9222" name="AutoShape 3"/>
            <p:cNvSpPr>
              <a:spLocks noChangeAspect="1" noChangeArrowheads="1"/>
            </p:cNvSpPr>
            <p:nvPr/>
          </p:nvSpPr>
          <p:spPr bwMode="auto">
            <a:xfrm>
              <a:off x="2721" y="-310"/>
              <a:ext cx="7733" cy="5146"/>
            </a:xfrm>
            <a:prstGeom prst="rect">
              <a:avLst/>
            </a:prstGeom>
            <a:noFill/>
            <a:ln w="9525">
              <a:noFill/>
              <a:miter lim="800000"/>
            </a:ln>
          </p:spPr>
          <p:txBody>
            <a:bodyPr/>
            <a:lstStyle/>
            <a:p>
              <a:endParaRPr lang="en-US"/>
            </a:p>
          </p:txBody>
        </p:sp>
        <p:sp>
          <p:nvSpPr>
            <p:cNvPr id="9223" name="Text Box 4"/>
            <p:cNvSpPr txBox="1">
              <a:spLocks noChangeArrowheads="1"/>
            </p:cNvSpPr>
            <p:nvPr/>
          </p:nvSpPr>
          <p:spPr bwMode="auto">
            <a:xfrm>
              <a:off x="6907" y="4325"/>
              <a:ext cx="2200" cy="511"/>
            </a:xfrm>
            <a:prstGeom prst="rect">
              <a:avLst/>
            </a:prstGeom>
            <a:noFill/>
            <a:ln w="9525">
              <a:noFill/>
              <a:miter lim="800000"/>
            </a:ln>
          </p:spPr>
          <p:txBody>
            <a:bodyPr lIns="85039" tIns="42520" rIns="85039" bIns="42520"/>
            <a:lstStyle/>
            <a:p>
              <a:pPr algn="ctr" eaLnBrk="0" hangingPunct="0"/>
              <a:r>
                <a:rPr lang="en-US" sz="1500" dirty="0">
                  <a:latin typeface="Times New Roman" panose="02020603050405020304" pitchFamily="18" charset="0"/>
                </a:rPr>
                <a:t>Additions to </a:t>
              </a:r>
              <a:endParaRPr lang="en-US" sz="1500" dirty="0" smtClean="0">
                <a:latin typeface="Times New Roman" panose="02020603050405020304" pitchFamily="18" charset="0"/>
              </a:endParaRPr>
            </a:p>
            <a:p>
              <a:pPr algn="ctr" eaLnBrk="0" hangingPunct="0"/>
              <a:r>
                <a:rPr lang="en-US" sz="1500" dirty="0" smtClean="0">
                  <a:latin typeface="Times New Roman" panose="02020603050405020304" pitchFamily="18" charset="0"/>
                </a:rPr>
                <a:t>the </a:t>
              </a:r>
              <a:r>
                <a:rPr lang="en-US" sz="1500" dirty="0">
                  <a:latin typeface="Times New Roman" panose="02020603050405020304" pitchFamily="18" charset="0"/>
                </a:rPr>
                <a:t>Knowledge Base</a:t>
              </a:r>
              <a:endParaRPr lang="en-US" dirty="0"/>
            </a:p>
          </p:txBody>
        </p:sp>
        <p:sp>
          <p:nvSpPr>
            <p:cNvPr id="9224" name="Rectangle 5"/>
            <p:cNvSpPr>
              <a:spLocks noChangeArrowheads="1"/>
            </p:cNvSpPr>
            <p:nvPr/>
          </p:nvSpPr>
          <p:spPr bwMode="auto">
            <a:xfrm>
              <a:off x="2749" y="307"/>
              <a:ext cx="1600" cy="3469"/>
            </a:xfrm>
            <a:prstGeom prst="rect">
              <a:avLst/>
            </a:prstGeom>
            <a:solidFill>
              <a:schemeClr val="accent1"/>
            </a:solidFill>
            <a:ln w="12700">
              <a:solidFill>
                <a:srgbClr val="000000"/>
              </a:solidFill>
              <a:miter lim="800000"/>
            </a:ln>
          </p:spPr>
          <p:txBody>
            <a:bodyPr anchor="ctr"/>
            <a:lstStyle/>
            <a:p>
              <a:endParaRPr lang="en-US"/>
            </a:p>
          </p:txBody>
        </p:sp>
        <p:sp>
          <p:nvSpPr>
            <p:cNvPr id="9225" name="Rectangle 6"/>
            <p:cNvSpPr>
              <a:spLocks noChangeArrowheads="1"/>
            </p:cNvSpPr>
            <p:nvPr/>
          </p:nvSpPr>
          <p:spPr bwMode="auto">
            <a:xfrm>
              <a:off x="5374" y="307"/>
              <a:ext cx="2000" cy="3549"/>
            </a:xfrm>
            <a:prstGeom prst="rect">
              <a:avLst/>
            </a:prstGeom>
            <a:solidFill>
              <a:schemeClr val="accent1"/>
            </a:solidFill>
            <a:ln w="12700">
              <a:solidFill>
                <a:srgbClr val="000000"/>
              </a:solidFill>
              <a:miter lim="800000"/>
            </a:ln>
          </p:spPr>
          <p:txBody>
            <a:bodyPr anchor="ctr"/>
            <a:lstStyle/>
            <a:p>
              <a:endParaRPr lang="en-US"/>
            </a:p>
          </p:txBody>
        </p:sp>
        <p:sp>
          <p:nvSpPr>
            <p:cNvPr id="9226" name="Rectangle 7"/>
            <p:cNvSpPr>
              <a:spLocks noChangeArrowheads="1"/>
            </p:cNvSpPr>
            <p:nvPr/>
          </p:nvSpPr>
          <p:spPr bwMode="auto">
            <a:xfrm>
              <a:off x="8453" y="307"/>
              <a:ext cx="1600" cy="3282"/>
            </a:xfrm>
            <a:prstGeom prst="rect">
              <a:avLst/>
            </a:prstGeom>
            <a:solidFill>
              <a:schemeClr val="accent1"/>
            </a:solidFill>
            <a:ln w="12700">
              <a:solidFill>
                <a:srgbClr val="000000"/>
              </a:solidFill>
              <a:miter lim="800000"/>
            </a:ln>
          </p:spPr>
          <p:txBody>
            <a:bodyPr anchor="ctr"/>
            <a:lstStyle/>
            <a:p>
              <a:endParaRPr lang="en-US"/>
            </a:p>
          </p:txBody>
        </p:sp>
        <p:sp>
          <p:nvSpPr>
            <p:cNvPr id="9227" name="Text Box 8"/>
            <p:cNvSpPr txBox="1">
              <a:spLocks noChangeArrowheads="1"/>
            </p:cNvSpPr>
            <p:nvPr/>
          </p:nvSpPr>
          <p:spPr bwMode="auto">
            <a:xfrm>
              <a:off x="2721" y="-166"/>
              <a:ext cx="1600" cy="349"/>
            </a:xfrm>
            <a:prstGeom prst="rect">
              <a:avLst/>
            </a:prstGeom>
            <a:noFill/>
            <a:ln w="9525">
              <a:noFill/>
              <a:miter lim="800000"/>
            </a:ln>
          </p:spPr>
          <p:txBody>
            <a:bodyPr lIns="85039" tIns="42520" rIns="85039" bIns="42520"/>
            <a:lstStyle/>
            <a:p>
              <a:pPr algn="ctr" eaLnBrk="0" hangingPunct="0"/>
              <a:r>
                <a:rPr lang="en-US" b="1">
                  <a:latin typeface="Times New Roman" panose="02020603050405020304" pitchFamily="18" charset="0"/>
                </a:rPr>
                <a:t>Environment</a:t>
              </a:r>
              <a:endParaRPr lang="en-US"/>
            </a:p>
          </p:txBody>
        </p:sp>
        <p:sp>
          <p:nvSpPr>
            <p:cNvPr id="9228" name="Text Box 9"/>
            <p:cNvSpPr txBox="1">
              <a:spLocks noChangeArrowheads="1"/>
            </p:cNvSpPr>
            <p:nvPr/>
          </p:nvSpPr>
          <p:spPr bwMode="auto">
            <a:xfrm>
              <a:off x="5442" y="-163"/>
              <a:ext cx="1867" cy="349"/>
            </a:xfrm>
            <a:prstGeom prst="rect">
              <a:avLst/>
            </a:prstGeom>
            <a:noFill/>
            <a:ln w="9525">
              <a:noFill/>
              <a:miter lim="800000"/>
            </a:ln>
          </p:spPr>
          <p:txBody>
            <a:bodyPr lIns="85039" tIns="42520" rIns="85039" bIns="42520"/>
            <a:lstStyle/>
            <a:p>
              <a:pPr algn="ctr" eaLnBrk="0" hangingPunct="0"/>
              <a:r>
                <a:rPr lang="en-US" b="1">
                  <a:latin typeface="Times New Roman" panose="02020603050405020304" pitchFamily="18" charset="0"/>
                </a:rPr>
                <a:t>IS Research</a:t>
              </a:r>
              <a:endParaRPr lang="en-US"/>
            </a:p>
          </p:txBody>
        </p:sp>
        <p:sp>
          <p:nvSpPr>
            <p:cNvPr id="9229" name="Text Box 10"/>
            <p:cNvSpPr txBox="1">
              <a:spLocks noChangeArrowheads="1"/>
            </p:cNvSpPr>
            <p:nvPr/>
          </p:nvSpPr>
          <p:spPr bwMode="auto">
            <a:xfrm>
              <a:off x="8387" y="-163"/>
              <a:ext cx="1938" cy="349"/>
            </a:xfrm>
            <a:prstGeom prst="rect">
              <a:avLst/>
            </a:prstGeom>
            <a:noFill/>
            <a:ln w="9525">
              <a:noFill/>
              <a:miter lim="800000"/>
            </a:ln>
          </p:spPr>
          <p:txBody>
            <a:bodyPr lIns="85039" tIns="42520" rIns="85039" bIns="42520"/>
            <a:lstStyle/>
            <a:p>
              <a:pPr algn="ctr" eaLnBrk="0" hangingPunct="0"/>
              <a:r>
                <a:rPr lang="en-US" b="1">
                  <a:latin typeface="Times New Roman" panose="02020603050405020304" pitchFamily="18" charset="0"/>
                </a:rPr>
                <a:t>Knowledge Base</a:t>
              </a:r>
              <a:endParaRPr lang="en-US"/>
            </a:p>
          </p:txBody>
        </p:sp>
        <p:sp>
          <p:nvSpPr>
            <p:cNvPr id="9230" name="Text Box 11"/>
            <p:cNvSpPr txBox="1">
              <a:spLocks noChangeArrowheads="1"/>
            </p:cNvSpPr>
            <p:nvPr/>
          </p:nvSpPr>
          <p:spPr bwMode="auto">
            <a:xfrm>
              <a:off x="2657" y="358"/>
              <a:ext cx="1653" cy="3344"/>
            </a:xfrm>
            <a:prstGeom prst="rect">
              <a:avLst/>
            </a:prstGeom>
            <a:noFill/>
            <a:ln w="9525">
              <a:noFill/>
              <a:miter lim="800000"/>
            </a:ln>
          </p:spPr>
          <p:txBody>
            <a:bodyPr lIns="85039" tIns="42520" rIns="85039" bIns="42520"/>
            <a:lstStyle/>
            <a:p>
              <a:pPr lvl="1" eaLnBrk="0" hangingPunct="0"/>
              <a:r>
                <a:rPr lang="en-US" sz="1500" b="1">
                  <a:solidFill>
                    <a:schemeClr val="bg1"/>
                  </a:solidFill>
                  <a:latin typeface="Times New Roman" panose="02020603050405020304" pitchFamily="18" charset="0"/>
                </a:rPr>
                <a:t>People</a:t>
              </a:r>
              <a:endParaRPr lang="en-US" sz="1500" b="1">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Roles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Capabilities</a:t>
              </a:r>
              <a:endParaRPr lang="en-US" sz="1300" b="1">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Characteristics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Experience</a:t>
              </a:r>
              <a:endParaRPr lang="en-US" sz="1300" b="1">
                <a:solidFill>
                  <a:schemeClr val="bg1"/>
                </a:solidFill>
                <a:latin typeface="Times New Roman" panose="02020603050405020304" pitchFamily="18" charset="0"/>
              </a:endParaRPr>
            </a:p>
            <a:p>
              <a:pPr lvl="1" eaLnBrk="0" hangingPunct="0"/>
              <a:r>
                <a:rPr lang="en-US" sz="1500" b="1">
                  <a:solidFill>
                    <a:schemeClr val="bg1"/>
                  </a:solidFill>
                  <a:latin typeface="Times New Roman" panose="02020603050405020304" pitchFamily="18" charset="0"/>
                </a:rPr>
                <a:t>Organizations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Strategies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Structure</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Culture</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Processes</a:t>
              </a:r>
              <a:endParaRPr lang="en-US" sz="1300">
                <a:solidFill>
                  <a:schemeClr val="bg1"/>
                </a:solidFill>
                <a:latin typeface="Times New Roman" panose="02020603050405020304" pitchFamily="18" charset="0"/>
              </a:endParaRPr>
            </a:p>
            <a:p>
              <a:pPr lvl="1" eaLnBrk="0" hangingPunct="0"/>
              <a:r>
                <a:rPr lang="en-US" sz="1500" b="1">
                  <a:solidFill>
                    <a:schemeClr val="bg1"/>
                  </a:solidFill>
                  <a:latin typeface="Times New Roman" panose="02020603050405020304" pitchFamily="18" charset="0"/>
                </a:rPr>
                <a:t>Technology</a:t>
              </a:r>
              <a:endParaRPr lang="en-US" sz="1500" b="1">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Infrastructure</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Applications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Communications Architecture</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Development Capabilities</a:t>
              </a:r>
              <a:endParaRPr lang="en-US">
                <a:solidFill>
                  <a:schemeClr val="bg1"/>
                </a:solidFill>
              </a:endParaRPr>
            </a:p>
          </p:txBody>
        </p:sp>
        <p:sp>
          <p:nvSpPr>
            <p:cNvPr id="9231" name="Text Box 12"/>
            <p:cNvSpPr txBox="1">
              <a:spLocks noChangeArrowheads="1"/>
            </p:cNvSpPr>
            <p:nvPr/>
          </p:nvSpPr>
          <p:spPr bwMode="auto">
            <a:xfrm>
              <a:off x="8263" y="358"/>
              <a:ext cx="1547" cy="2941"/>
            </a:xfrm>
            <a:prstGeom prst="rect">
              <a:avLst/>
            </a:prstGeom>
            <a:noFill/>
            <a:ln w="9525">
              <a:noFill/>
              <a:miter lim="800000"/>
            </a:ln>
          </p:spPr>
          <p:txBody>
            <a:bodyPr lIns="85039" tIns="42520" rIns="85039" bIns="42520"/>
            <a:lstStyle/>
            <a:p>
              <a:pPr lvl="1" eaLnBrk="0" hangingPunct="0"/>
              <a:r>
                <a:rPr lang="en-US" sz="1500" b="1">
                  <a:solidFill>
                    <a:schemeClr val="bg1"/>
                  </a:solidFill>
                  <a:latin typeface="Times New Roman" panose="02020603050405020304" pitchFamily="18" charset="0"/>
                </a:rPr>
                <a:t>Foundations</a:t>
              </a:r>
              <a:endParaRPr lang="en-US" sz="15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Theories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Frameworks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Experimental Instruments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Constructs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Models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Methods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Instantiations</a:t>
              </a:r>
              <a:endParaRPr lang="en-US" sz="1300">
                <a:solidFill>
                  <a:schemeClr val="bg1"/>
                </a:solidFill>
                <a:latin typeface="Times New Roman" panose="02020603050405020304" pitchFamily="18" charset="0"/>
              </a:endParaRPr>
            </a:p>
            <a:p>
              <a:pPr lvl="1" eaLnBrk="0" hangingPunct="0"/>
              <a:r>
                <a:rPr lang="en-US" sz="1500" b="1">
                  <a:solidFill>
                    <a:schemeClr val="bg1"/>
                  </a:solidFill>
                  <a:latin typeface="Times New Roman" panose="02020603050405020304" pitchFamily="18" charset="0"/>
                </a:rPr>
                <a:t>Methodologies</a:t>
              </a:r>
              <a:endParaRPr lang="en-US" sz="1500" b="1">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Experimentation</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Data Analysis Techniques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Formalisms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Measures</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Validation Criteria</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Optimization</a:t>
              </a:r>
              <a:endParaRPr lang="en-US">
                <a:solidFill>
                  <a:schemeClr val="bg1"/>
                </a:solidFill>
              </a:endParaRPr>
            </a:p>
          </p:txBody>
        </p:sp>
        <p:sp>
          <p:nvSpPr>
            <p:cNvPr id="9232" name="Rectangle 13"/>
            <p:cNvSpPr>
              <a:spLocks noChangeArrowheads="1"/>
            </p:cNvSpPr>
            <p:nvPr/>
          </p:nvSpPr>
          <p:spPr bwMode="auto">
            <a:xfrm>
              <a:off x="5507" y="508"/>
              <a:ext cx="1733" cy="856"/>
            </a:xfrm>
            <a:prstGeom prst="rect">
              <a:avLst/>
            </a:prstGeom>
            <a:noFill/>
            <a:ln w="9525">
              <a:solidFill>
                <a:srgbClr val="000000"/>
              </a:solidFill>
              <a:miter lim="800000"/>
            </a:ln>
          </p:spPr>
          <p:txBody>
            <a:bodyPr anchor="ctr"/>
            <a:lstStyle/>
            <a:p>
              <a:endParaRPr lang="en-US"/>
            </a:p>
          </p:txBody>
        </p:sp>
        <p:sp>
          <p:nvSpPr>
            <p:cNvPr id="9233" name="Rectangle 14"/>
            <p:cNvSpPr>
              <a:spLocks noChangeArrowheads="1"/>
            </p:cNvSpPr>
            <p:nvPr/>
          </p:nvSpPr>
          <p:spPr bwMode="auto">
            <a:xfrm>
              <a:off x="5507" y="2235"/>
              <a:ext cx="1733" cy="1407"/>
            </a:xfrm>
            <a:prstGeom prst="rect">
              <a:avLst/>
            </a:prstGeom>
            <a:noFill/>
            <a:ln w="9525">
              <a:solidFill>
                <a:srgbClr val="000000"/>
              </a:solidFill>
              <a:miter lim="800000"/>
            </a:ln>
          </p:spPr>
          <p:txBody>
            <a:bodyPr anchor="ctr"/>
            <a:lstStyle/>
            <a:p>
              <a:endParaRPr lang="en-US"/>
            </a:p>
          </p:txBody>
        </p:sp>
        <p:sp>
          <p:nvSpPr>
            <p:cNvPr id="9234" name="Text Box 15"/>
            <p:cNvSpPr txBox="1">
              <a:spLocks noChangeArrowheads="1"/>
            </p:cNvSpPr>
            <p:nvPr/>
          </p:nvSpPr>
          <p:spPr bwMode="auto">
            <a:xfrm>
              <a:off x="5504" y="536"/>
              <a:ext cx="1663" cy="669"/>
            </a:xfrm>
            <a:prstGeom prst="rect">
              <a:avLst/>
            </a:prstGeom>
            <a:noFill/>
            <a:ln w="9525">
              <a:noFill/>
              <a:miter lim="800000"/>
            </a:ln>
          </p:spPr>
          <p:txBody>
            <a:bodyPr lIns="85039" tIns="42520" rIns="85039" bIns="42520"/>
            <a:lstStyle/>
            <a:p>
              <a:pPr lvl="1" eaLnBrk="0" hangingPunct="0"/>
              <a:r>
                <a:rPr lang="en-US" sz="1500" b="1">
                  <a:solidFill>
                    <a:schemeClr val="bg1"/>
                  </a:solidFill>
                  <a:latin typeface="Times New Roman" panose="02020603050405020304" pitchFamily="18" charset="0"/>
                </a:rPr>
                <a:t>Develop / Build</a:t>
              </a:r>
              <a:endParaRPr lang="en-US" sz="1500" b="1">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Theories</a:t>
              </a:r>
              <a:endParaRPr lang="en-US" sz="1300" i="1">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Artifacts</a:t>
              </a:r>
              <a:endParaRPr lang="en-US">
                <a:solidFill>
                  <a:schemeClr val="bg1"/>
                </a:solidFill>
              </a:endParaRPr>
            </a:p>
          </p:txBody>
        </p:sp>
        <p:sp>
          <p:nvSpPr>
            <p:cNvPr id="9235" name="Text Box 16"/>
            <p:cNvSpPr txBox="1">
              <a:spLocks noChangeArrowheads="1"/>
            </p:cNvSpPr>
            <p:nvPr/>
          </p:nvSpPr>
          <p:spPr bwMode="auto">
            <a:xfrm>
              <a:off x="5503" y="2235"/>
              <a:ext cx="1734" cy="1231"/>
            </a:xfrm>
            <a:prstGeom prst="rect">
              <a:avLst/>
            </a:prstGeom>
            <a:noFill/>
            <a:ln w="9525">
              <a:noFill/>
              <a:miter lim="800000"/>
            </a:ln>
          </p:spPr>
          <p:txBody>
            <a:bodyPr lIns="85039" tIns="42520" rIns="85039" bIns="42520"/>
            <a:lstStyle/>
            <a:p>
              <a:pPr lvl="1" eaLnBrk="0" hangingPunct="0"/>
              <a:r>
                <a:rPr lang="en-US" sz="1500" b="1">
                  <a:solidFill>
                    <a:schemeClr val="bg1"/>
                  </a:solidFill>
                  <a:latin typeface="Times New Roman" panose="02020603050405020304" pitchFamily="18" charset="0"/>
                </a:rPr>
                <a:t>Justify / Evaluate</a:t>
              </a:r>
              <a:endParaRPr lang="en-US" sz="1500" b="1">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Analytical</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Case Study</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Experimental</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Field Study </a:t>
              </a:r>
              <a:endParaRPr lang="en-US" sz="1300">
                <a:solidFill>
                  <a:schemeClr val="bg1"/>
                </a:solidFill>
                <a:latin typeface="Times New Roman" panose="02020603050405020304" pitchFamily="18" charset="0"/>
              </a:endParaRPr>
            </a:p>
            <a:p>
              <a:pPr lvl="1" eaLnBrk="0" hangingPunct="0">
                <a:buSzPts val="1400"/>
                <a:buFont typeface="Arial" panose="020B0604020202020204" pitchFamily="34" charset="0"/>
                <a:buChar char="•"/>
              </a:pPr>
              <a:r>
                <a:rPr lang="en-US" sz="1300">
                  <a:solidFill>
                    <a:schemeClr val="bg1"/>
                  </a:solidFill>
                  <a:latin typeface="Times New Roman" panose="02020603050405020304" pitchFamily="18" charset="0"/>
                </a:rPr>
                <a:t>Simulation</a:t>
              </a:r>
              <a:endParaRPr lang="en-US">
                <a:solidFill>
                  <a:schemeClr val="bg1"/>
                </a:solidFill>
              </a:endParaRPr>
            </a:p>
          </p:txBody>
        </p:sp>
        <p:sp>
          <p:nvSpPr>
            <p:cNvPr id="9236" name="Line 17"/>
            <p:cNvSpPr>
              <a:spLocks noChangeShapeType="1"/>
            </p:cNvSpPr>
            <p:nvPr/>
          </p:nvSpPr>
          <p:spPr bwMode="auto">
            <a:xfrm flipH="1">
              <a:off x="6640" y="1364"/>
              <a:ext cx="0" cy="871"/>
            </a:xfrm>
            <a:prstGeom prst="line">
              <a:avLst/>
            </a:prstGeom>
            <a:noFill/>
            <a:ln w="38100" cmpd="dbl">
              <a:solidFill>
                <a:srgbClr val="000000"/>
              </a:solidFill>
              <a:round/>
              <a:headEnd type="triangle" w="med" len="med"/>
            </a:ln>
          </p:spPr>
          <p:txBody>
            <a:bodyPr anchor="ctr"/>
            <a:lstStyle/>
            <a:p>
              <a:endParaRPr lang="en-US"/>
            </a:p>
          </p:txBody>
        </p:sp>
        <p:sp>
          <p:nvSpPr>
            <p:cNvPr id="9237" name="Text Box 18"/>
            <p:cNvSpPr txBox="1">
              <a:spLocks noChangeArrowheads="1"/>
            </p:cNvSpPr>
            <p:nvPr/>
          </p:nvSpPr>
          <p:spPr bwMode="auto">
            <a:xfrm>
              <a:off x="5374" y="1699"/>
              <a:ext cx="733" cy="268"/>
            </a:xfrm>
            <a:prstGeom prst="rect">
              <a:avLst/>
            </a:prstGeom>
            <a:noFill/>
            <a:ln w="9525">
              <a:noFill/>
              <a:miter lim="800000"/>
            </a:ln>
          </p:spPr>
          <p:txBody>
            <a:bodyPr lIns="85039" tIns="42520" rIns="85039" bIns="42520"/>
            <a:lstStyle/>
            <a:p>
              <a:pPr eaLnBrk="0" hangingPunct="0"/>
              <a:r>
                <a:rPr lang="en-US" sz="1300">
                  <a:solidFill>
                    <a:schemeClr val="bg1"/>
                  </a:solidFill>
                  <a:latin typeface="Times New Roman" panose="02020603050405020304" pitchFamily="18" charset="0"/>
                </a:rPr>
                <a:t>Assess</a:t>
              </a:r>
              <a:endParaRPr lang="en-US">
                <a:solidFill>
                  <a:schemeClr val="bg1"/>
                </a:solidFill>
              </a:endParaRPr>
            </a:p>
          </p:txBody>
        </p:sp>
        <p:sp>
          <p:nvSpPr>
            <p:cNvPr id="9238" name="Text Box 19"/>
            <p:cNvSpPr txBox="1">
              <a:spLocks noChangeArrowheads="1"/>
            </p:cNvSpPr>
            <p:nvPr/>
          </p:nvSpPr>
          <p:spPr bwMode="auto">
            <a:xfrm>
              <a:off x="6640" y="1699"/>
              <a:ext cx="745" cy="268"/>
            </a:xfrm>
            <a:prstGeom prst="rect">
              <a:avLst/>
            </a:prstGeom>
            <a:noFill/>
            <a:ln w="9525">
              <a:noFill/>
              <a:miter lim="800000"/>
            </a:ln>
          </p:spPr>
          <p:txBody>
            <a:bodyPr lIns="85039" tIns="42520" rIns="85039" bIns="42520"/>
            <a:lstStyle/>
            <a:p>
              <a:pPr eaLnBrk="0" hangingPunct="0"/>
              <a:r>
                <a:rPr lang="en-US" sz="1300">
                  <a:solidFill>
                    <a:schemeClr val="bg1"/>
                  </a:solidFill>
                  <a:latin typeface="Times New Roman" panose="02020603050405020304" pitchFamily="18" charset="0"/>
                </a:rPr>
                <a:t>Refine</a:t>
              </a:r>
              <a:endParaRPr lang="en-US">
                <a:solidFill>
                  <a:schemeClr val="bg1"/>
                </a:solidFill>
              </a:endParaRPr>
            </a:p>
          </p:txBody>
        </p:sp>
        <p:sp>
          <p:nvSpPr>
            <p:cNvPr id="9239" name="Text Box 20"/>
            <p:cNvSpPr txBox="1">
              <a:spLocks noChangeArrowheads="1"/>
            </p:cNvSpPr>
            <p:nvPr/>
          </p:nvSpPr>
          <p:spPr bwMode="auto">
            <a:xfrm>
              <a:off x="4321" y="1219"/>
              <a:ext cx="1000" cy="511"/>
            </a:xfrm>
            <a:prstGeom prst="rect">
              <a:avLst/>
            </a:prstGeom>
            <a:noFill/>
            <a:ln w="9525">
              <a:noFill/>
              <a:miter lim="800000"/>
            </a:ln>
          </p:spPr>
          <p:txBody>
            <a:bodyPr lIns="85039" tIns="42520" rIns="85039" bIns="42520"/>
            <a:lstStyle/>
            <a:p>
              <a:pPr algn="ctr" eaLnBrk="0" hangingPunct="0"/>
              <a:r>
                <a:rPr lang="en-US" sz="1500">
                  <a:latin typeface="Times New Roman" panose="02020603050405020304" pitchFamily="18" charset="0"/>
                </a:rPr>
                <a:t>Business Needs</a:t>
              </a:r>
              <a:endParaRPr lang="en-US"/>
            </a:p>
          </p:txBody>
        </p:sp>
        <p:sp>
          <p:nvSpPr>
            <p:cNvPr id="9240" name="Text Box 21"/>
            <p:cNvSpPr txBox="1">
              <a:spLocks noChangeArrowheads="1"/>
            </p:cNvSpPr>
            <p:nvPr/>
          </p:nvSpPr>
          <p:spPr bwMode="auto">
            <a:xfrm>
              <a:off x="7374" y="1216"/>
              <a:ext cx="1066" cy="511"/>
            </a:xfrm>
            <a:prstGeom prst="rect">
              <a:avLst/>
            </a:prstGeom>
            <a:noFill/>
            <a:ln w="9525">
              <a:noFill/>
              <a:miter lim="800000"/>
            </a:ln>
          </p:spPr>
          <p:txBody>
            <a:bodyPr lIns="85039" tIns="42520" rIns="85039" bIns="42520"/>
            <a:lstStyle/>
            <a:p>
              <a:pPr algn="ctr" eaLnBrk="0" hangingPunct="0"/>
              <a:r>
                <a:rPr lang="en-US" sz="1500">
                  <a:latin typeface="Times New Roman" panose="02020603050405020304" pitchFamily="18" charset="0"/>
                </a:rPr>
                <a:t>Applicable Knowledge</a:t>
              </a:r>
              <a:endParaRPr lang="en-US"/>
            </a:p>
          </p:txBody>
        </p:sp>
        <p:sp>
          <p:nvSpPr>
            <p:cNvPr id="9241" name="Line 22"/>
            <p:cNvSpPr>
              <a:spLocks noChangeShapeType="1"/>
            </p:cNvSpPr>
            <p:nvPr/>
          </p:nvSpPr>
          <p:spPr bwMode="auto">
            <a:xfrm>
              <a:off x="5707" y="3855"/>
              <a:ext cx="0" cy="469"/>
            </a:xfrm>
            <a:prstGeom prst="line">
              <a:avLst/>
            </a:prstGeom>
            <a:noFill/>
            <a:ln w="38100" cmpd="dbl">
              <a:solidFill>
                <a:srgbClr val="000000"/>
              </a:solidFill>
              <a:round/>
            </a:ln>
          </p:spPr>
          <p:txBody>
            <a:bodyPr anchor="ctr"/>
            <a:lstStyle/>
            <a:p>
              <a:endParaRPr lang="en-US"/>
            </a:p>
          </p:txBody>
        </p:sp>
        <p:sp>
          <p:nvSpPr>
            <p:cNvPr id="9242" name="Line 23"/>
            <p:cNvSpPr>
              <a:spLocks noChangeShapeType="1"/>
            </p:cNvSpPr>
            <p:nvPr/>
          </p:nvSpPr>
          <p:spPr bwMode="auto">
            <a:xfrm flipH="1">
              <a:off x="3507" y="4325"/>
              <a:ext cx="2200" cy="0"/>
            </a:xfrm>
            <a:prstGeom prst="line">
              <a:avLst/>
            </a:prstGeom>
            <a:noFill/>
            <a:ln w="38100" cmpd="dbl">
              <a:solidFill>
                <a:srgbClr val="000000"/>
              </a:solidFill>
              <a:round/>
            </a:ln>
          </p:spPr>
          <p:txBody>
            <a:bodyPr anchor="ctr"/>
            <a:lstStyle/>
            <a:p>
              <a:endParaRPr lang="en-US"/>
            </a:p>
          </p:txBody>
        </p:sp>
        <p:sp>
          <p:nvSpPr>
            <p:cNvPr id="9243" name="Line 24"/>
            <p:cNvSpPr>
              <a:spLocks noChangeShapeType="1"/>
            </p:cNvSpPr>
            <p:nvPr/>
          </p:nvSpPr>
          <p:spPr bwMode="auto">
            <a:xfrm flipH="1" flipV="1">
              <a:off x="3507" y="3776"/>
              <a:ext cx="14" cy="535"/>
            </a:xfrm>
            <a:prstGeom prst="line">
              <a:avLst/>
            </a:prstGeom>
            <a:noFill/>
            <a:ln w="38100" cmpd="dbl">
              <a:solidFill>
                <a:srgbClr val="000000"/>
              </a:solidFill>
              <a:round/>
              <a:tailEnd type="triangle" w="med" len="med"/>
            </a:ln>
          </p:spPr>
          <p:txBody>
            <a:bodyPr anchor="ctr"/>
            <a:lstStyle/>
            <a:p>
              <a:endParaRPr lang="en-US"/>
            </a:p>
          </p:txBody>
        </p:sp>
        <p:sp>
          <p:nvSpPr>
            <p:cNvPr id="9244" name="Line 25"/>
            <p:cNvSpPr>
              <a:spLocks noChangeShapeType="1"/>
            </p:cNvSpPr>
            <p:nvPr/>
          </p:nvSpPr>
          <p:spPr bwMode="auto">
            <a:xfrm>
              <a:off x="6907" y="3856"/>
              <a:ext cx="0" cy="469"/>
            </a:xfrm>
            <a:prstGeom prst="line">
              <a:avLst/>
            </a:prstGeom>
            <a:noFill/>
            <a:ln w="38100" cmpd="dbl">
              <a:solidFill>
                <a:srgbClr val="000000"/>
              </a:solidFill>
              <a:round/>
            </a:ln>
          </p:spPr>
          <p:txBody>
            <a:bodyPr anchor="ctr"/>
            <a:lstStyle/>
            <a:p>
              <a:endParaRPr lang="en-US"/>
            </a:p>
          </p:txBody>
        </p:sp>
        <p:sp>
          <p:nvSpPr>
            <p:cNvPr id="9245" name="Line 26"/>
            <p:cNvSpPr>
              <a:spLocks noChangeShapeType="1"/>
            </p:cNvSpPr>
            <p:nvPr/>
          </p:nvSpPr>
          <p:spPr bwMode="auto">
            <a:xfrm>
              <a:off x="6907" y="4325"/>
              <a:ext cx="2333" cy="0"/>
            </a:xfrm>
            <a:prstGeom prst="line">
              <a:avLst/>
            </a:prstGeom>
            <a:noFill/>
            <a:ln w="38100" cmpd="dbl">
              <a:solidFill>
                <a:srgbClr val="000000"/>
              </a:solidFill>
              <a:round/>
            </a:ln>
          </p:spPr>
          <p:txBody>
            <a:bodyPr anchor="ctr"/>
            <a:lstStyle/>
            <a:p>
              <a:endParaRPr lang="en-US"/>
            </a:p>
          </p:txBody>
        </p:sp>
        <p:sp>
          <p:nvSpPr>
            <p:cNvPr id="9246" name="Line 27"/>
            <p:cNvSpPr>
              <a:spLocks noChangeShapeType="1"/>
            </p:cNvSpPr>
            <p:nvPr/>
          </p:nvSpPr>
          <p:spPr bwMode="auto">
            <a:xfrm flipV="1">
              <a:off x="9240" y="3589"/>
              <a:ext cx="0" cy="736"/>
            </a:xfrm>
            <a:prstGeom prst="line">
              <a:avLst/>
            </a:prstGeom>
            <a:noFill/>
            <a:ln w="38100" cmpd="dbl">
              <a:solidFill>
                <a:srgbClr val="000000"/>
              </a:solidFill>
              <a:round/>
              <a:tailEnd type="triangle" w="med" len="med"/>
            </a:ln>
          </p:spPr>
          <p:txBody>
            <a:bodyPr anchor="ctr"/>
            <a:lstStyle/>
            <a:p>
              <a:endParaRPr lang="en-US"/>
            </a:p>
          </p:txBody>
        </p:sp>
        <p:sp>
          <p:nvSpPr>
            <p:cNvPr id="9247" name="Text Box 28"/>
            <p:cNvSpPr txBox="1">
              <a:spLocks noChangeArrowheads="1"/>
            </p:cNvSpPr>
            <p:nvPr/>
          </p:nvSpPr>
          <p:spPr bwMode="auto">
            <a:xfrm>
              <a:off x="3507" y="4325"/>
              <a:ext cx="2200" cy="511"/>
            </a:xfrm>
            <a:prstGeom prst="rect">
              <a:avLst/>
            </a:prstGeom>
            <a:noFill/>
            <a:ln w="9525">
              <a:noFill/>
              <a:miter lim="800000"/>
            </a:ln>
          </p:spPr>
          <p:txBody>
            <a:bodyPr lIns="85039" tIns="42520" rIns="85039" bIns="42520"/>
            <a:lstStyle/>
            <a:p>
              <a:pPr algn="ctr" eaLnBrk="0" hangingPunct="0"/>
              <a:r>
                <a:rPr lang="en-US" sz="1500" dirty="0">
                  <a:latin typeface="Times New Roman" panose="02020603050405020304" pitchFamily="18" charset="0"/>
                </a:rPr>
                <a:t>Application in </a:t>
              </a:r>
              <a:endParaRPr lang="en-US" sz="1500" dirty="0" smtClean="0">
                <a:latin typeface="Times New Roman" panose="02020603050405020304" pitchFamily="18" charset="0"/>
              </a:endParaRPr>
            </a:p>
            <a:p>
              <a:pPr algn="ctr" eaLnBrk="0" hangingPunct="0"/>
              <a:r>
                <a:rPr lang="en-US" sz="1500" dirty="0" smtClean="0">
                  <a:latin typeface="Times New Roman" panose="02020603050405020304" pitchFamily="18" charset="0"/>
                </a:rPr>
                <a:t>the </a:t>
              </a:r>
              <a:r>
                <a:rPr lang="en-US" sz="1500" dirty="0">
                  <a:latin typeface="Times New Roman" panose="02020603050405020304" pitchFamily="18" charset="0"/>
                </a:rPr>
                <a:t>Appropriate Environment</a:t>
              </a:r>
              <a:endParaRPr lang="en-US" dirty="0"/>
            </a:p>
          </p:txBody>
        </p:sp>
        <p:sp>
          <p:nvSpPr>
            <p:cNvPr id="9248" name="Line 29"/>
            <p:cNvSpPr>
              <a:spLocks noChangeShapeType="1"/>
            </p:cNvSpPr>
            <p:nvPr/>
          </p:nvSpPr>
          <p:spPr bwMode="auto">
            <a:xfrm>
              <a:off x="6082" y="1364"/>
              <a:ext cx="0" cy="871"/>
            </a:xfrm>
            <a:prstGeom prst="line">
              <a:avLst/>
            </a:prstGeom>
            <a:noFill/>
            <a:ln w="38100" cmpd="dbl">
              <a:solidFill>
                <a:srgbClr val="000000"/>
              </a:solidFill>
              <a:round/>
              <a:tailEnd type="triangle" w="med" len="med"/>
            </a:ln>
          </p:spPr>
          <p:txBody>
            <a:bodyPr anchor="ctr"/>
            <a:lstStyle/>
            <a:p>
              <a:endParaRPr lang="en-US"/>
            </a:p>
          </p:txBody>
        </p:sp>
        <p:sp>
          <p:nvSpPr>
            <p:cNvPr id="9249" name="AutoShape 30"/>
            <p:cNvSpPr>
              <a:spLocks noChangeArrowheads="1"/>
            </p:cNvSpPr>
            <p:nvPr/>
          </p:nvSpPr>
          <p:spPr bwMode="auto">
            <a:xfrm>
              <a:off x="4360" y="1757"/>
              <a:ext cx="1000" cy="469"/>
            </a:xfrm>
            <a:prstGeom prst="rightArrow">
              <a:avLst>
                <a:gd name="adj1" fmla="val 50000"/>
                <a:gd name="adj2" fmla="val 53305"/>
              </a:avLst>
            </a:prstGeom>
            <a:solidFill>
              <a:srgbClr val="00CC99"/>
            </a:solidFill>
            <a:ln w="9525">
              <a:solidFill>
                <a:srgbClr val="000000"/>
              </a:solidFill>
              <a:miter lim="800000"/>
            </a:ln>
          </p:spPr>
          <p:txBody>
            <a:bodyPr anchor="ctr"/>
            <a:lstStyle/>
            <a:p>
              <a:endParaRPr lang="en-US"/>
            </a:p>
          </p:txBody>
        </p:sp>
        <p:sp>
          <p:nvSpPr>
            <p:cNvPr id="9250" name="AutoShape 31"/>
            <p:cNvSpPr>
              <a:spLocks noChangeArrowheads="1"/>
            </p:cNvSpPr>
            <p:nvPr/>
          </p:nvSpPr>
          <p:spPr bwMode="auto">
            <a:xfrm>
              <a:off x="7374" y="1755"/>
              <a:ext cx="1066" cy="469"/>
            </a:xfrm>
            <a:prstGeom prst="leftArrow">
              <a:avLst>
                <a:gd name="adj1" fmla="val 50000"/>
                <a:gd name="adj2" fmla="val 56823"/>
              </a:avLst>
            </a:prstGeom>
            <a:solidFill>
              <a:srgbClr val="00CC99"/>
            </a:solidFill>
            <a:ln w="9525">
              <a:solidFill>
                <a:srgbClr val="000000"/>
              </a:solidFill>
              <a:miter lim="800000"/>
            </a:ln>
          </p:spPr>
          <p:txBody>
            <a:bodyPr anchor="ctr"/>
            <a:lstStyle/>
            <a:p>
              <a:endParaRPr lang="en-US"/>
            </a:p>
          </p:txBody>
        </p:sp>
        <p:sp>
          <p:nvSpPr>
            <p:cNvPr id="9251" name="AutoShape 32"/>
            <p:cNvSpPr>
              <a:spLocks noChangeArrowheads="1"/>
            </p:cNvSpPr>
            <p:nvPr/>
          </p:nvSpPr>
          <p:spPr bwMode="auto">
            <a:xfrm>
              <a:off x="4374" y="-310"/>
              <a:ext cx="1000" cy="670"/>
            </a:xfrm>
            <a:prstGeom prst="plaque">
              <a:avLst>
                <a:gd name="adj" fmla="val 16667"/>
              </a:avLst>
            </a:prstGeom>
            <a:solidFill>
              <a:schemeClr val="accent1"/>
            </a:solidFill>
            <a:ln w="9525">
              <a:solidFill>
                <a:srgbClr val="000000"/>
              </a:solidFill>
              <a:miter lim="800000"/>
            </a:ln>
          </p:spPr>
          <p:txBody>
            <a:bodyPr anchor="ctr"/>
            <a:lstStyle/>
            <a:p>
              <a:endParaRPr lang="en-US"/>
            </a:p>
          </p:txBody>
        </p:sp>
        <p:sp>
          <p:nvSpPr>
            <p:cNvPr id="9252" name="AutoShape 33"/>
            <p:cNvSpPr>
              <a:spLocks noChangeArrowheads="1"/>
            </p:cNvSpPr>
            <p:nvPr/>
          </p:nvSpPr>
          <p:spPr bwMode="auto">
            <a:xfrm>
              <a:off x="7374" y="-310"/>
              <a:ext cx="1000" cy="670"/>
            </a:xfrm>
            <a:prstGeom prst="plaque">
              <a:avLst>
                <a:gd name="adj" fmla="val 16667"/>
              </a:avLst>
            </a:prstGeom>
            <a:solidFill>
              <a:schemeClr val="accent1"/>
            </a:solidFill>
            <a:ln w="9525">
              <a:solidFill>
                <a:srgbClr val="000000"/>
              </a:solidFill>
              <a:miter lim="800000"/>
            </a:ln>
          </p:spPr>
          <p:txBody>
            <a:bodyPr anchor="ctr"/>
            <a:lstStyle/>
            <a:p>
              <a:endParaRPr lang="en-US"/>
            </a:p>
          </p:txBody>
        </p:sp>
        <p:sp>
          <p:nvSpPr>
            <p:cNvPr id="9253" name="Text Box 34"/>
            <p:cNvSpPr txBox="1">
              <a:spLocks noChangeArrowheads="1"/>
            </p:cNvSpPr>
            <p:nvPr/>
          </p:nvSpPr>
          <p:spPr bwMode="auto">
            <a:xfrm>
              <a:off x="4461" y="-119"/>
              <a:ext cx="1018" cy="296"/>
            </a:xfrm>
            <a:prstGeom prst="rect">
              <a:avLst/>
            </a:prstGeom>
            <a:noFill/>
            <a:ln w="9525">
              <a:noFill/>
              <a:miter lim="800000"/>
            </a:ln>
          </p:spPr>
          <p:txBody>
            <a:bodyPr lIns="85039" tIns="42520" rIns="85039" bIns="42520"/>
            <a:lstStyle/>
            <a:p>
              <a:pPr eaLnBrk="0" hangingPunct="0"/>
              <a:r>
                <a:rPr lang="en-US" sz="1500" b="1">
                  <a:solidFill>
                    <a:schemeClr val="bg1"/>
                  </a:solidFill>
                  <a:latin typeface="Times New Roman" panose="02020603050405020304" pitchFamily="18" charset="0"/>
                </a:rPr>
                <a:t>Relevance</a:t>
              </a:r>
              <a:endParaRPr lang="en-US">
                <a:solidFill>
                  <a:schemeClr val="bg1"/>
                </a:solidFill>
              </a:endParaRPr>
            </a:p>
          </p:txBody>
        </p:sp>
        <p:sp>
          <p:nvSpPr>
            <p:cNvPr id="9254" name="Text Box 35"/>
            <p:cNvSpPr txBox="1">
              <a:spLocks noChangeArrowheads="1"/>
            </p:cNvSpPr>
            <p:nvPr/>
          </p:nvSpPr>
          <p:spPr bwMode="auto">
            <a:xfrm>
              <a:off x="7446" y="-112"/>
              <a:ext cx="833" cy="296"/>
            </a:xfrm>
            <a:prstGeom prst="rect">
              <a:avLst/>
            </a:prstGeom>
            <a:noFill/>
            <a:ln w="9525">
              <a:noFill/>
              <a:miter lim="800000"/>
            </a:ln>
          </p:spPr>
          <p:txBody>
            <a:bodyPr lIns="85039" tIns="42520" rIns="85039" bIns="42520"/>
            <a:lstStyle/>
            <a:p>
              <a:pPr algn="ctr" eaLnBrk="0" hangingPunct="0"/>
              <a:r>
                <a:rPr lang="en-US" sz="1500" b="1">
                  <a:solidFill>
                    <a:schemeClr val="bg1"/>
                  </a:solidFill>
                  <a:latin typeface="Times New Roman" panose="02020603050405020304" pitchFamily="18" charset="0"/>
                </a:rPr>
                <a:t>Rigor</a:t>
              </a:r>
              <a:endParaRPr lang="en-US">
                <a:solidFill>
                  <a:schemeClr val="bg1"/>
                </a:solidFill>
              </a:endParaRPr>
            </a:p>
          </p:txBody>
        </p:sp>
      </p:grpSp>
    </p:spTree>
  </p:cSld>
  <p:clrMapOvr>
    <a:masterClrMapping/>
  </p:clrMapOvr>
  <p:transition spd="slow">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r>
              <a:rPr lang="en-US" smtClean="0"/>
              <a:t>Design Research Guidelines </a:t>
            </a:r>
            <a:endParaRPr lang="en-US" smtClean="0"/>
          </a:p>
        </p:txBody>
      </p:sp>
      <p:graphicFrame>
        <p:nvGraphicFramePr>
          <p:cNvPr id="32771" name="Group 3"/>
          <p:cNvGraphicFramePr>
            <a:graphicFrameLocks noGrp="1"/>
          </p:cNvGraphicFramePr>
          <p:nvPr>
            <p:ph idx="1"/>
          </p:nvPr>
        </p:nvGraphicFramePr>
        <p:xfrm>
          <a:off x="914400" y="1219200"/>
          <a:ext cx="7696200" cy="4922838"/>
        </p:xfrm>
        <a:graphic>
          <a:graphicData uri="http://schemas.openxmlformats.org/drawingml/2006/table">
            <a:tbl>
              <a:tblPr/>
              <a:tblGrid>
                <a:gridCol w="3703638"/>
                <a:gridCol w="3992562"/>
              </a:tblGrid>
              <a:tr h="2730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100" b="1" i="0" u="none" strike="noStrike" cap="none" normalizeH="0" baseline="0" dirty="0" smtClean="0">
                          <a:ln>
                            <a:noFill/>
                          </a:ln>
                          <a:solidFill>
                            <a:schemeClr val="tx1"/>
                          </a:solidFill>
                          <a:effectLst/>
                          <a:latin typeface="Arial" panose="020B0604020202020204" pitchFamily="34" charset="0"/>
                          <a:ea typeface="Batang" pitchFamily="18" charset="-127"/>
                          <a:cs typeface="Arial" panose="020B0604020202020204" pitchFamily="34" charset="0"/>
                        </a:rPr>
                        <a:t>Guideline</a:t>
                      </a:r>
                      <a:endParaRPr kumimoji="0" lang="en-US" sz="2200" b="0" i="0" u="none" strike="noStrike" cap="none" normalizeH="0" baseline="0" dirty="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sz="1100" b="1"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Description</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6381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hlinkClick r:id="" action="ppaction://noaction"/>
                        </a:rPr>
                        <a:t>Guideline 1</a:t>
                      </a: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 Design as an Artifact</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Design-science research must produce a viable artifact in the form of a construct, a model, a method, or an instantiation.</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6381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hlinkClick r:id="" action="ppaction://noaction"/>
                        </a:rPr>
                        <a:t>Guideline 2</a:t>
                      </a: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 Problem Relevance</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dirty="0" smtClean="0">
                          <a:ln>
                            <a:noFill/>
                          </a:ln>
                          <a:solidFill>
                            <a:schemeClr val="tx1"/>
                          </a:solidFill>
                          <a:effectLst/>
                          <a:latin typeface="Arial" panose="020B0604020202020204" pitchFamily="34" charset="0"/>
                          <a:ea typeface="Batang" pitchFamily="18" charset="-127"/>
                          <a:cs typeface="Arial" panose="020B0604020202020204" pitchFamily="34" charset="0"/>
                        </a:rPr>
                        <a:t>The objective of design-science research is to develop technology-based solutions to important and relevant business problems.</a:t>
                      </a:r>
                      <a:endParaRPr kumimoji="0" lang="en-US" sz="2200" b="0" i="0" u="none" strike="noStrike" cap="none" normalizeH="0" baseline="0" dirty="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6381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hlinkClick r:id="" action="ppaction://noaction"/>
                        </a:rPr>
                        <a:t>Guideline 3</a:t>
                      </a: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 Design Evaluation</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The utility, quality, and efficacy of a design artifact must be rigorously demonstrated via well-executed evaluation methods.</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820738">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hlinkClick r:id="" action="ppaction://noaction"/>
                        </a:rPr>
                        <a:t>Guideline 4</a:t>
                      </a: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 Research Contributions</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Effective design-science research must provide clear and verifiable contributions in the areas of the design artifact, design foundations, and/or design methodologies.</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6381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hlinkClick r:id="" action="ppaction://noaction"/>
                        </a:rPr>
                        <a:t>Guideline 5</a:t>
                      </a: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 Research Rigor</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Design-science research relies upon the application of rigorous methods in both the construction and evaluation of the design artifact.  </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6381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hlinkClick r:id="" action="ppaction://noaction"/>
                        </a:rPr>
                        <a:t>Guideline 6</a:t>
                      </a: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 Design as a Search Process</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The search for an effective artifact requires utilizing available means to reach desired ends while satisfying laws in the problem environment.</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r h="638175">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hlinkClick r:id="" action="ppaction://noaction"/>
                        </a:rPr>
                        <a:t>Guideline 7</a:t>
                      </a:r>
                      <a:r>
                        <a:rPr kumimoji="0" lang="en-US" sz="1100" b="0" i="0" u="none" strike="noStrike" cap="none" normalizeH="0" baseline="0" smtClean="0">
                          <a:ln>
                            <a:noFill/>
                          </a:ln>
                          <a:solidFill>
                            <a:schemeClr val="tx1"/>
                          </a:solidFill>
                          <a:effectLst/>
                          <a:latin typeface="Arial" panose="020B0604020202020204" pitchFamily="34" charset="0"/>
                          <a:ea typeface="Batang" pitchFamily="18" charset="-127"/>
                          <a:cs typeface="Arial" panose="020B0604020202020204" pitchFamily="34" charset="0"/>
                        </a:rPr>
                        <a:t>: Communication of Research</a:t>
                      </a:r>
                      <a:endParaRPr kumimoji="0" lang="en-US" sz="2200" b="0" i="0" u="none" strike="noStrike" cap="none" normalizeH="0" baseline="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sz="1100" b="0" i="0" u="none" strike="noStrike" cap="none" normalizeH="0" baseline="0" dirty="0" smtClean="0">
                          <a:ln>
                            <a:noFill/>
                          </a:ln>
                          <a:solidFill>
                            <a:schemeClr val="tx1"/>
                          </a:solidFill>
                          <a:effectLst/>
                          <a:latin typeface="Arial" panose="020B0604020202020204" pitchFamily="34" charset="0"/>
                          <a:ea typeface="Batang" pitchFamily="18" charset="-127"/>
                          <a:cs typeface="Arial" panose="020B0604020202020204" pitchFamily="34" charset="0"/>
                        </a:rPr>
                        <a:t>Design-science research must be presented effectively both to technology-oriented as well as management-oriented audiences.  </a:t>
                      </a:r>
                      <a:endParaRPr kumimoji="0" lang="en-US" sz="2200" b="0" i="0" u="none" strike="noStrike" cap="none" normalizeH="0" baseline="0" dirty="0" smtClean="0">
                        <a:ln>
                          <a:noFill/>
                        </a:ln>
                        <a:solidFill>
                          <a:schemeClr val="tx1"/>
                        </a:solidFill>
                        <a:effectLst/>
                        <a:latin typeface="Times New Roman" panose="02020603050405020304" pitchFamily="18" charset="0"/>
                        <a:ea typeface="Batang" pitchFamily="18" charset="-127"/>
                        <a:cs typeface="Arial" panose="020B0604020202020204" pitchFamily="34"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r>
            </a:tbl>
          </a:graphicData>
        </a:graphic>
      </p:graphicFrame>
      <p:sp>
        <p:nvSpPr>
          <p:cNvPr id="34" name="Slide Number Placeholder 5"/>
          <p:cNvSpPr>
            <a:spLocks noGrp="1"/>
          </p:cNvSpPr>
          <p:nvPr>
            <p:ph type="sldNum" sz="quarter" idx="12"/>
          </p:nvPr>
        </p:nvSpPr>
        <p:spPr/>
        <p:txBody>
          <a:bodyPr/>
          <a:lstStyle/>
          <a:p>
            <a:fld id="{461127A7-BF83-44B2-BF9E-6BB6E1F83C18}" type="slidenum">
              <a:rPr lang="en-US" altLang="en-US" smtClean="0"/>
            </a:fld>
            <a:endParaRPr lang="en-US" altLang="en-US"/>
          </a:p>
        </p:txBody>
      </p:sp>
    </p:spTree>
  </p:cSld>
  <p:clrMapOvr>
    <a:masterClrMapping/>
  </p:clrMapOvr>
  <p:transition spd="slow">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33400" y="38100"/>
            <a:ext cx="8077200" cy="1143000"/>
          </a:xfrm>
        </p:spPr>
        <p:txBody>
          <a:bodyPr/>
          <a:lstStyle/>
          <a:p>
            <a:r>
              <a:rPr lang="en-US" dirty="0" smtClean="0"/>
              <a:t>Three Cycles of DSR</a:t>
            </a:r>
            <a:endParaRPr lang="en-US" dirty="0" smtClean="0"/>
          </a:p>
        </p:txBody>
      </p:sp>
      <p:sp>
        <p:nvSpPr>
          <p:cNvPr id="32" name="Slide Number Placeholder 5"/>
          <p:cNvSpPr>
            <a:spLocks noGrp="1"/>
          </p:cNvSpPr>
          <p:nvPr>
            <p:ph type="sldNum" sz="quarter" idx="12"/>
          </p:nvPr>
        </p:nvSpPr>
        <p:spPr/>
        <p:txBody>
          <a:bodyPr/>
          <a:lstStyle/>
          <a:p>
            <a:fld id="{27628F6F-8A2D-4B31-8F1A-5754A0306C13}" type="slidenum">
              <a:rPr lang="en-US" altLang="en-US" smtClean="0"/>
            </a:fld>
            <a:endParaRPr lang="en-US" altLang="en-US"/>
          </a:p>
        </p:txBody>
      </p:sp>
      <p:sp>
        <p:nvSpPr>
          <p:cNvPr id="15365" name="Rectangle 3"/>
          <p:cNvSpPr>
            <a:spLocks noChangeArrowheads="1"/>
          </p:cNvSpPr>
          <p:nvPr/>
        </p:nvSpPr>
        <p:spPr bwMode="auto">
          <a:xfrm>
            <a:off x="381000" y="2514600"/>
            <a:ext cx="1905000" cy="3200400"/>
          </a:xfrm>
          <a:prstGeom prst="rect">
            <a:avLst/>
          </a:prstGeom>
          <a:noFill/>
          <a:ln w="9525">
            <a:solidFill>
              <a:schemeClr val="tx1"/>
            </a:solidFill>
            <a:miter lim="800000"/>
          </a:ln>
        </p:spPr>
        <p:txBody>
          <a:bodyPr wrap="none" anchor="ctr"/>
          <a:lstStyle/>
          <a:p>
            <a:endParaRPr lang="en-US"/>
          </a:p>
        </p:txBody>
      </p:sp>
      <p:sp>
        <p:nvSpPr>
          <p:cNvPr id="15366" name="Rectangle 4"/>
          <p:cNvSpPr>
            <a:spLocks noChangeArrowheads="1"/>
          </p:cNvSpPr>
          <p:nvPr/>
        </p:nvSpPr>
        <p:spPr bwMode="auto">
          <a:xfrm>
            <a:off x="3200400" y="2514600"/>
            <a:ext cx="2667000" cy="3200400"/>
          </a:xfrm>
          <a:prstGeom prst="rect">
            <a:avLst/>
          </a:prstGeom>
          <a:noFill/>
          <a:ln w="9525">
            <a:solidFill>
              <a:schemeClr val="tx1"/>
            </a:solidFill>
            <a:miter lim="800000"/>
          </a:ln>
        </p:spPr>
        <p:txBody>
          <a:bodyPr wrap="none" anchor="ctr"/>
          <a:lstStyle/>
          <a:p>
            <a:endParaRPr lang="en-US"/>
          </a:p>
        </p:txBody>
      </p:sp>
      <p:sp>
        <p:nvSpPr>
          <p:cNvPr id="15367" name="Rectangle 5"/>
          <p:cNvSpPr>
            <a:spLocks noChangeArrowheads="1"/>
          </p:cNvSpPr>
          <p:nvPr/>
        </p:nvSpPr>
        <p:spPr bwMode="auto">
          <a:xfrm>
            <a:off x="6705600" y="2514600"/>
            <a:ext cx="1905000" cy="3200400"/>
          </a:xfrm>
          <a:prstGeom prst="rect">
            <a:avLst/>
          </a:prstGeom>
          <a:noFill/>
          <a:ln w="9525">
            <a:solidFill>
              <a:schemeClr val="tx1"/>
            </a:solidFill>
            <a:miter lim="800000"/>
          </a:ln>
        </p:spPr>
        <p:txBody>
          <a:bodyPr wrap="none" anchor="ctr"/>
          <a:lstStyle/>
          <a:p>
            <a:endParaRPr lang="en-US"/>
          </a:p>
        </p:txBody>
      </p:sp>
      <p:sp>
        <p:nvSpPr>
          <p:cNvPr id="15368" name="Rectangle 6"/>
          <p:cNvSpPr>
            <a:spLocks noChangeArrowheads="1"/>
          </p:cNvSpPr>
          <p:nvPr/>
        </p:nvSpPr>
        <p:spPr bwMode="auto">
          <a:xfrm>
            <a:off x="3886200" y="2819400"/>
            <a:ext cx="1219200" cy="914400"/>
          </a:xfrm>
          <a:prstGeom prst="rect">
            <a:avLst/>
          </a:prstGeom>
          <a:noFill/>
          <a:ln w="9525">
            <a:solidFill>
              <a:schemeClr val="tx1"/>
            </a:solidFill>
            <a:miter lim="800000"/>
          </a:ln>
        </p:spPr>
        <p:txBody>
          <a:bodyPr wrap="none" anchor="ctr"/>
          <a:lstStyle/>
          <a:p>
            <a:endParaRPr lang="en-US"/>
          </a:p>
        </p:txBody>
      </p:sp>
      <p:sp>
        <p:nvSpPr>
          <p:cNvPr id="15369" name="Rectangle 7"/>
          <p:cNvSpPr>
            <a:spLocks noChangeArrowheads="1"/>
          </p:cNvSpPr>
          <p:nvPr/>
        </p:nvSpPr>
        <p:spPr bwMode="auto">
          <a:xfrm>
            <a:off x="3886200" y="4495800"/>
            <a:ext cx="1219200" cy="914400"/>
          </a:xfrm>
          <a:prstGeom prst="rect">
            <a:avLst/>
          </a:prstGeom>
          <a:noFill/>
          <a:ln w="9525">
            <a:solidFill>
              <a:schemeClr val="tx1"/>
            </a:solidFill>
            <a:miter lim="800000"/>
          </a:ln>
        </p:spPr>
        <p:txBody>
          <a:bodyPr wrap="none" anchor="ctr"/>
          <a:lstStyle/>
          <a:p>
            <a:endParaRPr lang="en-US"/>
          </a:p>
        </p:txBody>
      </p:sp>
      <p:sp>
        <p:nvSpPr>
          <p:cNvPr id="15370" name="Oval 8"/>
          <p:cNvSpPr>
            <a:spLocks noChangeArrowheads="1"/>
          </p:cNvSpPr>
          <p:nvPr/>
        </p:nvSpPr>
        <p:spPr bwMode="auto">
          <a:xfrm>
            <a:off x="3886200" y="3581400"/>
            <a:ext cx="1219200" cy="1143000"/>
          </a:xfrm>
          <a:prstGeom prst="ellipse">
            <a:avLst/>
          </a:prstGeom>
          <a:solidFill>
            <a:schemeClr val="accent1"/>
          </a:solidFill>
          <a:ln w="38100">
            <a:solidFill>
              <a:schemeClr val="tx1"/>
            </a:solidFill>
            <a:round/>
          </a:ln>
        </p:spPr>
        <p:txBody>
          <a:bodyPr wrap="none" anchor="ctr"/>
          <a:lstStyle/>
          <a:p>
            <a:endParaRPr lang="en-US"/>
          </a:p>
        </p:txBody>
      </p:sp>
      <p:sp>
        <p:nvSpPr>
          <p:cNvPr id="15371" name="Oval 9"/>
          <p:cNvSpPr>
            <a:spLocks noChangeArrowheads="1"/>
          </p:cNvSpPr>
          <p:nvPr/>
        </p:nvSpPr>
        <p:spPr bwMode="auto">
          <a:xfrm>
            <a:off x="5486400" y="3505200"/>
            <a:ext cx="2057400" cy="1447800"/>
          </a:xfrm>
          <a:prstGeom prst="ellipse">
            <a:avLst/>
          </a:prstGeom>
          <a:solidFill>
            <a:schemeClr val="accent1"/>
          </a:solidFill>
          <a:ln w="38100">
            <a:solidFill>
              <a:schemeClr val="tx1"/>
            </a:solidFill>
            <a:round/>
          </a:ln>
        </p:spPr>
        <p:txBody>
          <a:bodyPr wrap="none" anchor="ctr"/>
          <a:lstStyle/>
          <a:p>
            <a:endParaRPr lang="en-US"/>
          </a:p>
        </p:txBody>
      </p:sp>
      <p:sp>
        <p:nvSpPr>
          <p:cNvPr id="15372" name="Oval 10"/>
          <p:cNvSpPr>
            <a:spLocks noChangeArrowheads="1"/>
          </p:cNvSpPr>
          <p:nvPr/>
        </p:nvSpPr>
        <p:spPr bwMode="auto">
          <a:xfrm>
            <a:off x="1447800" y="3505200"/>
            <a:ext cx="2057400" cy="1447800"/>
          </a:xfrm>
          <a:prstGeom prst="ellipse">
            <a:avLst/>
          </a:prstGeom>
          <a:solidFill>
            <a:schemeClr val="accent1"/>
          </a:solidFill>
          <a:ln w="38100">
            <a:solidFill>
              <a:schemeClr val="tx1"/>
            </a:solidFill>
            <a:round/>
          </a:ln>
        </p:spPr>
        <p:txBody>
          <a:bodyPr wrap="none" anchor="ctr"/>
          <a:lstStyle/>
          <a:p>
            <a:pPr algn="ctr"/>
            <a:endParaRPr lang="en-US"/>
          </a:p>
        </p:txBody>
      </p:sp>
      <p:sp>
        <p:nvSpPr>
          <p:cNvPr id="15373" name="Text Box 11"/>
          <p:cNvSpPr txBox="1">
            <a:spLocks noChangeArrowheads="1"/>
          </p:cNvSpPr>
          <p:nvPr/>
        </p:nvSpPr>
        <p:spPr bwMode="auto">
          <a:xfrm>
            <a:off x="381000" y="2133600"/>
            <a:ext cx="1828800" cy="366713"/>
          </a:xfrm>
          <a:prstGeom prst="rect">
            <a:avLst/>
          </a:prstGeom>
          <a:noFill/>
          <a:ln w="9525">
            <a:noFill/>
            <a:miter lim="800000"/>
          </a:ln>
        </p:spPr>
        <p:txBody>
          <a:bodyPr>
            <a:spAutoFit/>
          </a:bodyPr>
          <a:lstStyle/>
          <a:p>
            <a:pPr>
              <a:spcBef>
                <a:spcPct val="50000"/>
              </a:spcBef>
            </a:pPr>
            <a:r>
              <a:rPr lang="en-US"/>
              <a:t>Environment</a:t>
            </a:r>
            <a:endParaRPr lang="en-US"/>
          </a:p>
        </p:txBody>
      </p:sp>
      <p:sp>
        <p:nvSpPr>
          <p:cNvPr id="15374" name="Text Box 12"/>
          <p:cNvSpPr txBox="1">
            <a:spLocks noChangeArrowheads="1"/>
          </p:cNvSpPr>
          <p:nvPr/>
        </p:nvSpPr>
        <p:spPr bwMode="auto">
          <a:xfrm>
            <a:off x="6781800" y="2057400"/>
            <a:ext cx="1981200" cy="366713"/>
          </a:xfrm>
          <a:prstGeom prst="rect">
            <a:avLst/>
          </a:prstGeom>
          <a:noFill/>
          <a:ln w="9525">
            <a:noFill/>
            <a:miter lim="800000"/>
          </a:ln>
        </p:spPr>
        <p:txBody>
          <a:bodyPr>
            <a:spAutoFit/>
          </a:bodyPr>
          <a:lstStyle/>
          <a:p>
            <a:pPr>
              <a:spcBef>
                <a:spcPct val="50000"/>
              </a:spcBef>
            </a:pPr>
            <a:r>
              <a:rPr lang="en-US"/>
              <a:t>Knowledge Base</a:t>
            </a:r>
            <a:endParaRPr lang="en-US"/>
          </a:p>
        </p:txBody>
      </p:sp>
      <p:sp>
        <p:nvSpPr>
          <p:cNvPr id="15375" name="Text Box 13"/>
          <p:cNvSpPr txBox="1">
            <a:spLocks noChangeArrowheads="1"/>
          </p:cNvSpPr>
          <p:nvPr/>
        </p:nvSpPr>
        <p:spPr bwMode="auto">
          <a:xfrm>
            <a:off x="3505200" y="2057400"/>
            <a:ext cx="1981200" cy="366713"/>
          </a:xfrm>
          <a:prstGeom prst="rect">
            <a:avLst/>
          </a:prstGeom>
          <a:noFill/>
          <a:ln w="9525">
            <a:noFill/>
            <a:miter lim="800000"/>
          </a:ln>
        </p:spPr>
        <p:txBody>
          <a:bodyPr>
            <a:spAutoFit/>
          </a:bodyPr>
          <a:lstStyle/>
          <a:p>
            <a:pPr>
              <a:spcBef>
                <a:spcPct val="50000"/>
              </a:spcBef>
            </a:pPr>
            <a:r>
              <a:rPr lang="en-US"/>
              <a:t>Design Science</a:t>
            </a:r>
            <a:endParaRPr lang="en-US"/>
          </a:p>
        </p:txBody>
      </p:sp>
      <p:sp>
        <p:nvSpPr>
          <p:cNvPr id="15376" name="Text Box 14"/>
          <p:cNvSpPr txBox="1">
            <a:spLocks noChangeArrowheads="1"/>
          </p:cNvSpPr>
          <p:nvPr/>
        </p:nvSpPr>
        <p:spPr bwMode="auto">
          <a:xfrm>
            <a:off x="3886200" y="2819400"/>
            <a:ext cx="1219200" cy="730250"/>
          </a:xfrm>
          <a:prstGeom prst="rect">
            <a:avLst/>
          </a:prstGeom>
          <a:noFill/>
          <a:ln w="9525">
            <a:noFill/>
            <a:miter lim="800000"/>
          </a:ln>
        </p:spPr>
        <p:txBody>
          <a:bodyPr>
            <a:spAutoFit/>
          </a:bodyPr>
          <a:lstStyle/>
          <a:p>
            <a:pPr>
              <a:spcBef>
                <a:spcPct val="50000"/>
              </a:spcBef>
            </a:pPr>
            <a:r>
              <a:rPr lang="en-US" sz="1400"/>
              <a:t>Build Design Artifacts &amp; Processes</a:t>
            </a:r>
            <a:endParaRPr lang="en-US" sz="1400"/>
          </a:p>
        </p:txBody>
      </p:sp>
      <p:sp>
        <p:nvSpPr>
          <p:cNvPr id="15377" name="Text Box 15"/>
          <p:cNvSpPr txBox="1">
            <a:spLocks noChangeArrowheads="1"/>
          </p:cNvSpPr>
          <p:nvPr/>
        </p:nvSpPr>
        <p:spPr bwMode="auto">
          <a:xfrm>
            <a:off x="3886200" y="4876800"/>
            <a:ext cx="1219200" cy="304800"/>
          </a:xfrm>
          <a:prstGeom prst="rect">
            <a:avLst/>
          </a:prstGeom>
          <a:noFill/>
          <a:ln w="9525">
            <a:noFill/>
            <a:miter lim="800000"/>
          </a:ln>
        </p:spPr>
        <p:txBody>
          <a:bodyPr>
            <a:spAutoFit/>
          </a:bodyPr>
          <a:lstStyle/>
          <a:p>
            <a:pPr>
              <a:spcBef>
                <a:spcPct val="50000"/>
              </a:spcBef>
            </a:pPr>
            <a:r>
              <a:rPr lang="en-US" sz="1400"/>
              <a:t>Evaluate </a:t>
            </a:r>
            <a:endParaRPr lang="en-US" sz="1400"/>
          </a:p>
        </p:txBody>
      </p:sp>
      <p:sp>
        <p:nvSpPr>
          <p:cNvPr id="15378" name="Text Box 16"/>
          <p:cNvSpPr txBox="1">
            <a:spLocks noChangeArrowheads="1"/>
          </p:cNvSpPr>
          <p:nvPr/>
        </p:nvSpPr>
        <p:spPr bwMode="auto">
          <a:xfrm>
            <a:off x="4038600" y="3886200"/>
            <a:ext cx="914400" cy="581025"/>
          </a:xfrm>
          <a:prstGeom prst="rect">
            <a:avLst/>
          </a:prstGeom>
          <a:noFill/>
          <a:ln w="9525">
            <a:noFill/>
            <a:miter lim="800000"/>
          </a:ln>
        </p:spPr>
        <p:txBody>
          <a:bodyPr>
            <a:spAutoFit/>
          </a:bodyPr>
          <a:lstStyle/>
          <a:p>
            <a:pPr algn="ctr">
              <a:spcBef>
                <a:spcPct val="50000"/>
              </a:spcBef>
            </a:pPr>
            <a:r>
              <a:rPr lang="en-US" sz="1600" b="1"/>
              <a:t>Design Cycle</a:t>
            </a:r>
            <a:endParaRPr lang="en-US" sz="1600" b="1"/>
          </a:p>
        </p:txBody>
      </p:sp>
      <p:sp>
        <p:nvSpPr>
          <p:cNvPr id="15379" name="Text Box 17"/>
          <p:cNvSpPr txBox="1">
            <a:spLocks noChangeArrowheads="1"/>
          </p:cNvSpPr>
          <p:nvPr/>
        </p:nvSpPr>
        <p:spPr bwMode="auto">
          <a:xfrm>
            <a:off x="381000" y="2590800"/>
            <a:ext cx="1981200" cy="2617788"/>
          </a:xfrm>
          <a:prstGeom prst="rect">
            <a:avLst/>
          </a:prstGeom>
          <a:noFill/>
          <a:ln w="9525">
            <a:noFill/>
            <a:miter lim="800000"/>
          </a:ln>
        </p:spPr>
        <p:txBody>
          <a:bodyPr>
            <a:spAutoFit/>
          </a:bodyPr>
          <a:lstStyle/>
          <a:p>
            <a:pPr>
              <a:spcBef>
                <a:spcPct val="50000"/>
              </a:spcBef>
            </a:pPr>
            <a:r>
              <a:rPr lang="en-US" sz="1600"/>
              <a:t>Application Domain </a:t>
            </a:r>
            <a:endParaRPr lang="en-US" sz="1600"/>
          </a:p>
          <a:p>
            <a:pPr>
              <a:spcBef>
                <a:spcPct val="50000"/>
              </a:spcBef>
              <a:buFontTx/>
              <a:buChar char="•"/>
            </a:pPr>
            <a:r>
              <a:rPr lang="en-US" sz="1600"/>
              <a:t> </a:t>
            </a:r>
            <a:r>
              <a:rPr lang="en-US" sz="1400"/>
              <a:t>People</a:t>
            </a:r>
            <a:endParaRPr lang="en-US" sz="1400"/>
          </a:p>
          <a:p>
            <a:pPr>
              <a:spcBef>
                <a:spcPct val="50000"/>
              </a:spcBef>
              <a:buFontTx/>
              <a:buChar char="•"/>
            </a:pPr>
            <a:r>
              <a:rPr lang="en-US" sz="1400"/>
              <a:t> Organizational Systems</a:t>
            </a:r>
            <a:endParaRPr lang="en-US" sz="1400"/>
          </a:p>
          <a:p>
            <a:pPr>
              <a:spcBef>
                <a:spcPct val="50000"/>
              </a:spcBef>
              <a:buFontTx/>
              <a:buChar char="•"/>
            </a:pPr>
            <a:r>
              <a:rPr lang="en-US" sz="1400"/>
              <a:t> Technical</a:t>
            </a:r>
            <a:br>
              <a:rPr lang="en-US" sz="1400"/>
            </a:br>
            <a:r>
              <a:rPr lang="en-US" sz="1400"/>
              <a:t> Systems</a:t>
            </a:r>
            <a:endParaRPr lang="en-US" sz="1400"/>
          </a:p>
          <a:p>
            <a:pPr>
              <a:spcBef>
                <a:spcPct val="50000"/>
              </a:spcBef>
              <a:buFontTx/>
              <a:buChar char="•"/>
            </a:pPr>
            <a:endParaRPr lang="en-US" sz="1400"/>
          </a:p>
          <a:p>
            <a:pPr>
              <a:spcBef>
                <a:spcPct val="50000"/>
              </a:spcBef>
              <a:buFontTx/>
              <a:buChar char="•"/>
            </a:pPr>
            <a:r>
              <a:rPr lang="en-US" sz="1400"/>
              <a:t> Problems </a:t>
            </a:r>
            <a:br>
              <a:rPr lang="en-US" sz="1400"/>
            </a:br>
            <a:r>
              <a:rPr lang="en-US" sz="1400"/>
              <a:t>&amp; Opportunities</a:t>
            </a:r>
            <a:endParaRPr lang="en-US" sz="1400"/>
          </a:p>
        </p:txBody>
      </p:sp>
      <p:sp>
        <p:nvSpPr>
          <p:cNvPr id="15380" name="Text Box 18"/>
          <p:cNvSpPr txBox="1">
            <a:spLocks noChangeArrowheads="1"/>
          </p:cNvSpPr>
          <p:nvPr/>
        </p:nvSpPr>
        <p:spPr bwMode="auto">
          <a:xfrm>
            <a:off x="1600200" y="3733800"/>
            <a:ext cx="1905000" cy="1069975"/>
          </a:xfrm>
          <a:prstGeom prst="rect">
            <a:avLst/>
          </a:prstGeom>
          <a:noFill/>
          <a:ln w="9525">
            <a:noFill/>
            <a:miter lim="800000"/>
          </a:ln>
        </p:spPr>
        <p:txBody>
          <a:bodyPr>
            <a:spAutoFit/>
          </a:bodyPr>
          <a:lstStyle/>
          <a:p>
            <a:pPr>
              <a:spcBef>
                <a:spcPct val="50000"/>
              </a:spcBef>
            </a:pPr>
            <a:r>
              <a:rPr lang="en-US" sz="1600" b="1"/>
              <a:t>Relevance Cycle</a:t>
            </a:r>
            <a:endParaRPr lang="en-US" sz="1600" b="1"/>
          </a:p>
          <a:p>
            <a:pPr>
              <a:spcBef>
                <a:spcPct val="50000"/>
              </a:spcBef>
              <a:buFontTx/>
              <a:buChar char="•"/>
            </a:pPr>
            <a:r>
              <a:rPr lang="en-US" sz="1600"/>
              <a:t> Requirements</a:t>
            </a:r>
            <a:endParaRPr lang="en-US" sz="1600"/>
          </a:p>
          <a:p>
            <a:pPr>
              <a:spcBef>
                <a:spcPct val="50000"/>
              </a:spcBef>
              <a:buFontTx/>
              <a:buChar char="•"/>
            </a:pPr>
            <a:r>
              <a:rPr lang="en-US" sz="1600"/>
              <a:t> Field Testing</a:t>
            </a:r>
            <a:endParaRPr lang="en-US" sz="1600"/>
          </a:p>
        </p:txBody>
      </p:sp>
      <p:sp>
        <p:nvSpPr>
          <p:cNvPr id="15381" name="Text Box 19"/>
          <p:cNvSpPr txBox="1">
            <a:spLocks noChangeArrowheads="1"/>
          </p:cNvSpPr>
          <p:nvPr/>
        </p:nvSpPr>
        <p:spPr bwMode="auto">
          <a:xfrm>
            <a:off x="5715000" y="3657600"/>
            <a:ext cx="1905000" cy="1069975"/>
          </a:xfrm>
          <a:prstGeom prst="rect">
            <a:avLst/>
          </a:prstGeom>
          <a:noFill/>
          <a:ln w="9525">
            <a:noFill/>
            <a:miter lim="800000"/>
          </a:ln>
        </p:spPr>
        <p:txBody>
          <a:bodyPr>
            <a:spAutoFit/>
          </a:bodyPr>
          <a:lstStyle/>
          <a:p>
            <a:pPr>
              <a:spcBef>
                <a:spcPct val="50000"/>
              </a:spcBef>
            </a:pPr>
            <a:r>
              <a:rPr lang="en-US" sz="1600" b="1"/>
              <a:t> Rigor Cycle</a:t>
            </a:r>
            <a:endParaRPr lang="en-US" sz="1600" b="1"/>
          </a:p>
          <a:p>
            <a:pPr>
              <a:spcBef>
                <a:spcPct val="50000"/>
              </a:spcBef>
              <a:buFontTx/>
              <a:buChar char="•"/>
            </a:pPr>
            <a:r>
              <a:rPr lang="en-US" sz="1600" b="1"/>
              <a:t> </a:t>
            </a:r>
            <a:r>
              <a:rPr lang="en-US" sz="1600"/>
              <a:t>Grounding</a:t>
            </a:r>
            <a:endParaRPr lang="en-US" sz="1600"/>
          </a:p>
          <a:p>
            <a:pPr>
              <a:spcBef>
                <a:spcPct val="50000"/>
              </a:spcBef>
              <a:buFontTx/>
              <a:buChar char="•"/>
            </a:pPr>
            <a:r>
              <a:rPr lang="en-US" sz="1600"/>
              <a:t> Additions to KB</a:t>
            </a:r>
            <a:endParaRPr lang="en-US" sz="1600" b="1"/>
          </a:p>
        </p:txBody>
      </p:sp>
      <p:sp>
        <p:nvSpPr>
          <p:cNvPr id="15382" name="Text Box 20"/>
          <p:cNvSpPr txBox="1">
            <a:spLocks noChangeArrowheads="1"/>
          </p:cNvSpPr>
          <p:nvPr/>
        </p:nvSpPr>
        <p:spPr bwMode="auto">
          <a:xfrm>
            <a:off x="6705600" y="2514600"/>
            <a:ext cx="1905000" cy="915988"/>
          </a:xfrm>
          <a:prstGeom prst="rect">
            <a:avLst/>
          </a:prstGeom>
          <a:noFill/>
          <a:ln w="9525">
            <a:noFill/>
            <a:miter lim="800000"/>
          </a:ln>
        </p:spPr>
        <p:txBody>
          <a:bodyPr>
            <a:spAutoFit/>
          </a:bodyPr>
          <a:lstStyle/>
          <a:p>
            <a:pPr>
              <a:spcBef>
                <a:spcPct val="50000"/>
              </a:spcBef>
            </a:pPr>
            <a:r>
              <a:rPr lang="en-US" sz="1600"/>
              <a:t>Foundations</a:t>
            </a:r>
            <a:endParaRPr lang="en-US" sz="1600"/>
          </a:p>
          <a:p>
            <a:pPr>
              <a:spcBef>
                <a:spcPct val="50000"/>
              </a:spcBef>
              <a:buFontTx/>
              <a:buChar char="•"/>
            </a:pPr>
            <a:r>
              <a:rPr lang="en-US" sz="1600"/>
              <a:t> </a:t>
            </a:r>
            <a:r>
              <a:rPr lang="en-US" sz="1400"/>
              <a:t>Scientific Theories &amp; Methods</a:t>
            </a:r>
            <a:endParaRPr lang="en-US" sz="1400"/>
          </a:p>
        </p:txBody>
      </p:sp>
      <p:sp>
        <p:nvSpPr>
          <p:cNvPr id="15383" name="Text Box 21"/>
          <p:cNvSpPr txBox="1">
            <a:spLocks noChangeArrowheads="1"/>
          </p:cNvSpPr>
          <p:nvPr/>
        </p:nvSpPr>
        <p:spPr bwMode="auto">
          <a:xfrm>
            <a:off x="7391400" y="3429000"/>
            <a:ext cx="1371600" cy="549275"/>
          </a:xfrm>
          <a:prstGeom prst="rect">
            <a:avLst/>
          </a:prstGeom>
          <a:noFill/>
          <a:ln w="9525">
            <a:noFill/>
            <a:miter lim="800000"/>
          </a:ln>
        </p:spPr>
        <p:txBody>
          <a:bodyPr>
            <a:spAutoFit/>
          </a:bodyPr>
          <a:lstStyle/>
          <a:p>
            <a:pPr>
              <a:spcBef>
                <a:spcPct val="50000"/>
              </a:spcBef>
              <a:buFontTx/>
              <a:buChar char="•"/>
            </a:pPr>
            <a:r>
              <a:rPr lang="en-US" sz="1600"/>
              <a:t> </a:t>
            </a:r>
            <a:r>
              <a:rPr lang="en-US" sz="1400"/>
              <a:t>Experience  &amp; Expertise</a:t>
            </a:r>
            <a:endParaRPr lang="en-US" sz="1400"/>
          </a:p>
        </p:txBody>
      </p:sp>
      <p:sp>
        <p:nvSpPr>
          <p:cNvPr id="15384" name="Line 22"/>
          <p:cNvSpPr>
            <a:spLocks noChangeShapeType="1"/>
          </p:cNvSpPr>
          <p:nvPr/>
        </p:nvSpPr>
        <p:spPr bwMode="auto">
          <a:xfrm>
            <a:off x="2362200" y="3505200"/>
            <a:ext cx="304800" cy="0"/>
          </a:xfrm>
          <a:prstGeom prst="line">
            <a:avLst/>
          </a:prstGeom>
          <a:noFill/>
          <a:ln w="38100">
            <a:solidFill>
              <a:schemeClr val="tx1"/>
            </a:solidFill>
            <a:round/>
            <a:tailEnd type="triangle" w="med" len="med"/>
          </a:ln>
        </p:spPr>
        <p:txBody>
          <a:bodyPr/>
          <a:lstStyle/>
          <a:p>
            <a:endParaRPr lang="en-US"/>
          </a:p>
        </p:txBody>
      </p:sp>
      <p:sp>
        <p:nvSpPr>
          <p:cNvPr id="15385" name="Line 23"/>
          <p:cNvSpPr>
            <a:spLocks noChangeShapeType="1"/>
          </p:cNvSpPr>
          <p:nvPr/>
        </p:nvSpPr>
        <p:spPr bwMode="auto">
          <a:xfrm>
            <a:off x="4419600" y="3581400"/>
            <a:ext cx="228600" cy="0"/>
          </a:xfrm>
          <a:prstGeom prst="line">
            <a:avLst/>
          </a:prstGeom>
          <a:noFill/>
          <a:ln w="38100">
            <a:solidFill>
              <a:schemeClr val="tx1"/>
            </a:solidFill>
            <a:round/>
            <a:tailEnd type="triangle" w="med" len="med"/>
          </a:ln>
        </p:spPr>
        <p:txBody>
          <a:bodyPr/>
          <a:lstStyle/>
          <a:p>
            <a:endParaRPr lang="en-US"/>
          </a:p>
        </p:txBody>
      </p:sp>
      <p:sp>
        <p:nvSpPr>
          <p:cNvPr id="15386" name="Line 24"/>
          <p:cNvSpPr>
            <a:spLocks noChangeShapeType="1"/>
          </p:cNvSpPr>
          <p:nvPr/>
        </p:nvSpPr>
        <p:spPr bwMode="auto">
          <a:xfrm>
            <a:off x="6324600" y="3505200"/>
            <a:ext cx="304800" cy="0"/>
          </a:xfrm>
          <a:prstGeom prst="line">
            <a:avLst/>
          </a:prstGeom>
          <a:noFill/>
          <a:ln w="38100">
            <a:solidFill>
              <a:schemeClr val="tx1"/>
            </a:solidFill>
            <a:round/>
            <a:tailEnd type="triangle" w="med" len="med"/>
          </a:ln>
        </p:spPr>
        <p:txBody>
          <a:bodyPr/>
          <a:lstStyle/>
          <a:p>
            <a:endParaRPr lang="en-US"/>
          </a:p>
        </p:txBody>
      </p:sp>
      <p:sp>
        <p:nvSpPr>
          <p:cNvPr id="15387" name="Line 25"/>
          <p:cNvSpPr>
            <a:spLocks noChangeShapeType="1"/>
          </p:cNvSpPr>
          <p:nvPr/>
        </p:nvSpPr>
        <p:spPr bwMode="auto">
          <a:xfrm flipH="1">
            <a:off x="6324600" y="4953000"/>
            <a:ext cx="304800" cy="0"/>
          </a:xfrm>
          <a:prstGeom prst="line">
            <a:avLst/>
          </a:prstGeom>
          <a:noFill/>
          <a:ln w="38100">
            <a:solidFill>
              <a:schemeClr val="tx1"/>
            </a:solidFill>
            <a:round/>
            <a:tailEnd type="triangle" w="med" len="med"/>
          </a:ln>
        </p:spPr>
        <p:txBody>
          <a:bodyPr/>
          <a:lstStyle/>
          <a:p>
            <a:endParaRPr lang="en-US"/>
          </a:p>
        </p:txBody>
      </p:sp>
      <p:sp>
        <p:nvSpPr>
          <p:cNvPr id="15388" name="Line 26"/>
          <p:cNvSpPr>
            <a:spLocks noChangeShapeType="1"/>
          </p:cNvSpPr>
          <p:nvPr/>
        </p:nvSpPr>
        <p:spPr bwMode="auto">
          <a:xfrm flipH="1">
            <a:off x="4343400" y="4724400"/>
            <a:ext cx="228600" cy="0"/>
          </a:xfrm>
          <a:prstGeom prst="line">
            <a:avLst/>
          </a:prstGeom>
          <a:noFill/>
          <a:ln w="38100">
            <a:solidFill>
              <a:schemeClr val="tx1"/>
            </a:solidFill>
            <a:round/>
            <a:tailEnd type="triangle" w="med" len="med"/>
          </a:ln>
        </p:spPr>
        <p:txBody>
          <a:bodyPr/>
          <a:lstStyle/>
          <a:p>
            <a:endParaRPr lang="en-US"/>
          </a:p>
        </p:txBody>
      </p:sp>
      <p:sp>
        <p:nvSpPr>
          <p:cNvPr id="15389" name="Line 27"/>
          <p:cNvSpPr>
            <a:spLocks noChangeShapeType="1"/>
          </p:cNvSpPr>
          <p:nvPr/>
        </p:nvSpPr>
        <p:spPr bwMode="auto">
          <a:xfrm flipH="1">
            <a:off x="2362200" y="4953000"/>
            <a:ext cx="304800" cy="0"/>
          </a:xfrm>
          <a:prstGeom prst="line">
            <a:avLst/>
          </a:prstGeom>
          <a:noFill/>
          <a:ln w="38100">
            <a:solidFill>
              <a:schemeClr val="tx1"/>
            </a:solidFill>
            <a:round/>
            <a:tailEnd type="triangle" w="med" len="med"/>
          </a:ln>
        </p:spPr>
        <p:txBody>
          <a:bodyPr/>
          <a:lstStyle/>
          <a:p>
            <a:endParaRPr lang="en-US"/>
          </a:p>
        </p:txBody>
      </p:sp>
      <p:sp>
        <p:nvSpPr>
          <p:cNvPr id="15390" name="Text Box 28"/>
          <p:cNvSpPr txBox="1">
            <a:spLocks noChangeArrowheads="1"/>
          </p:cNvSpPr>
          <p:nvPr/>
        </p:nvSpPr>
        <p:spPr bwMode="auto">
          <a:xfrm>
            <a:off x="6858000" y="4953000"/>
            <a:ext cx="1828800" cy="730250"/>
          </a:xfrm>
          <a:prstGeom prst="rect">
            <a:avLst/>
          </a:prstGeom>
          <a:noFill/>
          <a:ln w="9525">
            <a:noFill/>
            <a:miter lim="800000"/>
          </a:ln>
        </p:spPr>
        <p:txBody>
          <a:bodyPr>
            <a:spAutoFit/>
          </a:bodyPr>
          <a:lstStyle/>
          <a:p>
            <a:pPr>
              <a:spcBef>
                <a:spcPct val="50000"/>
              </a:spcBef>
              <a:buFontTx/>
              <a:buChar char="•"/>
            </a:pPr>
            <a:r>
              <a:rPr lang="en-US" sz="1400"/>
              <a:t> Meta-Artifacts (Design Products &amp; Design Processes)</a:t>
            </a:r>
            <a:endParaRPr lang="en-US" sz="1400"/>
          </a:p>
        </p:txBody>
      </p:sp>
      <p:sp>
        <p:nvSpPr>
          <p:cNvPr id="3" name="TextBox 2"/>
          <p:cNvSpPr txBox="1"/>
          <p:nvPr/>
        </p:nvSpPr>
        <p:spPr>
          <a:xfrm>
            <a:off x="381000" y="1066800"/>
            <a:ext cx="7620000" cy="923330"/>
          </a:xfrm>
          <a:prstGeom prst="rect">
            <a:avLst/>
          </a:prstGeom>
          <a:noFill/>
        </p:spPr>
        <p:txBody>
          <a:bodyPr wrap="square" rtlCol="0">
            <a:spAutoFit/>
          </a:bodyPr>
          <a:lstStyle/>
          <a:p>
            <a:pPr lvl="0"/>
            <a:r>
              <a:rPr lang="en-US" dirty="0" smtClean="0"/>
              <a:t>Ref: A</a:t>
            </a:r>
            <a:r>
              <a:rPr lang="en-US" dirty="0"/>
              <a:t>. </a:t>
            </a:r>
            <a:r>
              <a:rPr lang="en-US" dirty="0" err="1"/>
              <a:t>Hevner</a:t>
            </a:r>
            <a:r>
              <a:rPr lang="en-US" dirty="0"/>
              <a:t>, “A Three Cycle View of Design Science Research,” </a:t>
            </a:r>
            <a:r>
              <a:rPr lang="en-US" i="1" dirty="0"/>
              <a:t>Scandinavian Journal of Information Systems</a:t>
            </a:r>
            <a:r>
              <a:rPr lang="en-US" dirty="0"/>
              <a:t>, Vol. 19, No. 2, 2007, pp. 87-92.</a:t>
            </a:r>
            <a:endParaRPr lang="en-US" dirty="0"/>
          </a:p>
          <a:p>
            <a:endParaRPr lang="en-US" dirty="0"/>
          </a:p>
        </p:txBody>
      </p:sp>
    </p:spTree>
  </p:cSld>
  <p:clrMapOvr>
    <a:masterClrMapping/>
  </p:clrMapOvr>
  <p:transition spd="slow">
    <p:wipe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en-US" smtClean="0"/>
              <a:t>The Relevance Cycle</a:t>
            </a:r>
            <a:endParaRPr lang="en-US" smtClean="0"/>
          </a:p>
        </p:txBody>
      </p:sp>
      <p:sp>
        <p:nvSpPr>
          <p:cNvPr id="16389" name="Rectangle 3"/>
          <p:cNvSpPr>
            <a:spLocks noGrp="1" noChangeArrowheads="1"/>
          </p:cNvSpPr>
          <p:nvPr>
            <p:ph type="body" idx="1"/>
          </p:nvPr>
        </p:nvSpPr>
        <p:spPr/>
        <p:txBody>
          <a:bodyPr>
            <a:normAutofit fontScale="70000" lnSpcReduction="20000"/>
          </a:bodyPr>
          <a:lstStyle/>
          <a:p>
            <a:r>
              <a:rPr lang="en-US" smtClean="0"/>
              <a:t>The Application Domain initiates Design Research with:</a:t>
            </a:r>
            <a:endParaRPr lang="en-US" smtClean="0"/>
          </a:p>
          <a:p>
            <a:pPr lvl="1"/>
            <a:r>
              <a:rPr lang="en-US" smtClean="0"/>
              <a:t>Research requirements (e.g., opportunity, problem, potentiality)</a:t>
            </a:r>
            <a:endParaRPr lang="en-US" smtClean="0"/>
          </a:p>
          <a:p>
            <a:pPr lvl="1"/>
            <a:r>
              <a:rPr lang="en-US" smtClean="0"/>
              <a:t>Acceptance criteria for evaluation of design artifact in application domain</a:t>
            </a:r>
            <a:endParaRPr lang="en-US" smtClean="0"/>
          </a:p>
          <a:p>
            <a:r>
              <a:rPr lang="en-US" smtClean="0"/>
              <a:t>Field Testing of Research Results</a:t>
            </a:r>
            <a:endParaRPr lang="en-US" smtClean="0"/>
          </a:p>
          <a:p>
            <a:pPr lvl="1"/>
            <a:r>
              <a:rPr lang="en-US" smtClean="0"/>
              <a:t>Does the design artifact improve the environment?</a:t>
            </a:r>
            <a:endParaRPr lang="en-US" smtClean="0"/>
          </a:p>
          <a:p>
            <a:pPr lvl="1"/>
            <a:r>
              <a:rPr lang="en-US" smtClean="0"/>
              <a:t>How is the improvement measured?</a:t>
            </a:r>
            <a:endParaRPr lang="en-US" smtClean="0"/>
          </a:p>
          <a:p>
            <a:pPr lvl="1"/>
            <a:r>
              <a:rPr lang="en-US" smtClean="0"/>
              <a:t>Field testing methods might include Action Research or Controlled Experiments in actual environments.</a:t>
            </a:r>
            <a:endParaRPr lang="en-US" smtClean="0"/>
          </a:p>
          <a:p>
            <a:r>
              <a:rPr lang="en-US" smtClean="0"/>
              <a:t>Iterate Relevance Cycle as needed</a:t>
            </a:r>
            <a:endParaRPr lang="en-US" smtClean="0"/>
          </a:p>
          <a:p>
            <a:pPr lvl="1"/>
            <a:r>
              <a:rPr lang="en-US" smtClean="0"/>
              <a:t>Artifact has deficiencies in behaviors or qualities</a:t>
            </a:r>
            <a:endParaRPr lang="en-US" smtClean="0"/>
          </a:p>
          <a:p>
            <a:pPr lvl="1"/>
            <a:r>
              <a:rPr lang="en-US" smtClean="0"/>
              <a:t>Restatement of research requirements</a:t>
            </a:r>
            <a:endParaRPr lang="en-US" smtClean="0"/>
          </a:p>
          <a:p>
            <a:pPr lvl="1"/>
            <a:r>
              <a:rPr lang="en-US" smtClean="0"/>
              <a:t>Feedback into research from field testing evaluation</a:t>
            </a:r>
            <a:endParaRPr lang="en-US" smtClean="0"/>
          </a:p>
        </p:txBody>
      </p:sp>
      <p:sp>
        <p:nvSpPr>
          <p:cNvPr id="6" name="Slide Number Placeholder 5"/>
          <p:cNvSpPr>
            <a:spLocks noGrp="1"/>
          </p:cNvSpPr>
          <p:nvPr>
            <p:ph type="sldNum" sz="quarter" idx="12"/>
          </p:nvPr>
        </p:nvSpPr>
        <p:spPr/>
        <p:txBody>
          <a:bodyPr/>
          <a:lstStyle/>
          <a:p>
            <a:fld id="{59C80552-EDCC-4717-A9F1-0622071F2CA7}" type="slidenum">
              <a:rPr lang="en-US" altLang="en-US" smtClean="0"/>
            </a:fld>
            <a:endParaRPr lang="en-US" altLang="en-US"/>
          </a:p>
        </p:txBody>
      </p:sp>
    </p:spTree>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r>
              <a:rPr lang="en-US" smtClean="0"/>
              <a:t>The Rigor Cycle</a:t>
            </a:r>
            <a:endParaRPr lang="en-US" smtClean="0"/>
          </a:p>
        </p:txBody>
      </p:sp>
      <p:sp>
        <p:nvSpPr>
          <p:cNvPr id="17413" name="Rectangle 3"/>
          <p:cNvSpPr>
            <a:spLocks noGrp="1" noChangeArrowheads="1"/>
          </p:cNvSpPr>
          <p:nvPr>
            <p:ph type="body" idx="1"/>
          </p:nvPr>
        </p:nvSpPr>
        <p:spPr/>
        <p:txBody>
          <a:bodyPr>
            <a:normAutofit fontScale="77500" lnSpcReduction="20000"/>
          </a:bodyPr>
          <a:lstStyle/>
          <a:p>
            <a:r>
              <a:rPr lang="en-US" smtClean="0"/>
              <a:t>Design Research Knowledge Base</a:t>
            </a:r>
            <a:endParaRPr lang="en-US" smtClean="0"/>
          </a:p>
          <a:p>
            <a:pPr lvl="1"/>
            <a:r>
              <a:rPr lang="en-US" smtClean="0"/>
              <a:t>Design Theories</a:t>
            </a:r>
            <a:endParaRPr lang="en-US" smtClean="0"/>
          </a:p>
          <a:p>
            <a:pPr lvl="1"/>
            <a:r>
              <a:rPr lang="en-US" smtClean="0"/>
              <a:t>Engineering Methods</a:t>
            </a:r>
            <a:endParaRPr lang="en-US" smtClean="0"/>
          </a:p>
          <a:p>
            <a:pPr lvl="1"/>
            <a:r>
              <a:rPr lang="en-US" smtClean="0"/>
              <a:t>Experiences and Expertise</a:t>
            </a:r>
            <a:endParaRPr lang="en-US" smtClean="0"/>
          </a:p>
          <a:p>
            <a:pPr lvl="1"/>
            <a:r>
              <a:rPr lang="en-US" smtClean="0"/>
              <a:t>Existing Design Artifacts and Processes</a:t>
            </a:r>
            <a:endParaRPr lang="en-US" smtClean="0"/>
          </a:p>
          <a:p>
            <a:r>
              <a:rPr lang="en-US" smtClean="0"/>
              <a:t>Research Rigor is predicated on the researcher’s skilled selection and application of appropriate theories and methods for constructing and evaluating the artifact.</a:t>
            </a:r>
            <a:endParaRPr lang="en-US" smtClean="0"/>
          </a:p>
          <a:p>
            <a:r>
              <a:rPr lang="en-US" smtClean="0"/>
              <a:t>Additions to the Knowledge Base:</a:t>
            </a:r>
            <a:endParaRPr lang="en-US" smtClean="0"/>
          </a:p>
          <a:p>
            <a:pPr lvl="1"/>
            <a:r>
              <a:rPr lang="en-US" smtClean="0"/>
              <a:t>Extensions to theories and methods</a:t>
            </a:r>
            <a:endParaRPr lang="en-US" smtClean="0"/>
          </a:p>
          <a:p>
            <a:pPr lvl="1"/>
            <a:r>
              <a:rPr lang="en-US" smtClean="0"/>
              <a:t>New experiences and expertise</a:t>
            </a:r>
            <a:endParaRPr lang="en-US" smtClean="0"/>
          </a:p>
          <a:p>
            <a:pPr lvl="1"/>
            <a:r>
              <a:rPr lang="en-US" smtClean="0"/>
              <a:t>New artifacts and design processes</a:t>
            </a:r>
            <a:endParaRPr lang="en-US" smtClean="0"/>
          </a:p>
          <a:p>
            <a:endParaRPr lang="en-US" dirty="0" smtClean="0"/>
          </a:p>
        </p:txBody>
      </p:sp>
      <p:sp>
        <p:nvSpPr>
          <p:cNvPr id="6" name="Slide Number Placeholder 5"/>
          <p:cNvSpPr>
            <a:spLocks noGrp="1"/>
          </p:cNvSpPr>
          <p:nvPr>
            <p:ph type="sldNum" sz="quarter" idx="12"/>
          </p:nvPr>
        </p:nvSpPr>
        <p:spPr/>
        <p:txBody>
          <a:bodyPr/>
          <a:lstStyle/>
          <a:p>
            <a:fld id="{7B7A43DE-F03B-4E6D-9C63-BD52A063B50D}" type="slidenum">
              <a:rPr lang="en-US" altLang="en-US" smtClean="0"/>
            </a:fld>
            <a:endParaRPr lang="en-US" altLang="en-US"/>
          </a:p>
        </p:txBody>
      </p:sp>
    </p:spTree>
  </p:cSld>
  <p:clrMapOvr>
    <a:masterClrMapping/>
  </p:clrMapOvr>
  <p:transition spd="slow">
    <p:wip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r>
              <a:rPr lang="en-US" smtClean="0"/>
              <a:t>Design Cycle</a:t>
            </a:r>
            <a:endParaRPr lang="en-US" dirty="0" smtClean="0"/>
          </a:p>
        </p:txBody>
      </p:sp>
      <p:sp>
        <p:nvSpPr>
          <p:cNvPr id="19461" name="Rectangle 3"/>
          <p:cNvSpPr>
            <a:spLocks noGrp="1" noChangeArrowheads="1"/>
          </p:cNvSpPr>
          <p:nvPr>
            <p:ph type="body" idx="1"/>
          </p:nvPr>
        </p:nvSpPr>
        <p:spPr/>
        <p:txBody>
          <a:bodyPr>
            <a:normAutofit fontScale="85000" lnSpcReduction="20000"/>
          </a:bodyPr>
          <a:lstStyle/>
          <a:p>
            <a:r>
              <a:rPr lang="en-US" smtClean="0"/>
              <a:t>Rapid iteration of Build and Evaluate activities</a:t>
            </a:r>
            <a:endParaRPr lang="en-US" smtClean="0"/>
          </a:p>
          <a:p>
            <a:pPr lvl="1"/>
            <a:r>
              <a:rPr lang="en-US" smtClean="0"/>
              <a:t>The hard work of design research (1% inspiration and 99% perspiration - Edison) </a:t>
            </a:r>
            <a:endParaRPr lang="en-US" smtClean="0"/>
          </a:p>
          <a:p>
            <a:r>
              <a:rPr lang="en-US" smtClean="0"/>
              <a:t>Build – Create and Refine artifact design as both product (noun) and process (verb)</a:t>
            </a:r>
            <a:endParaRPr lang="en-US" smtClean="0"/>
          </a:p>
          <a:p>
            <a:r>
              <a:rPr lang="en-US" smtClean="0"/>
              <a:t>Evaluation – Rigorous, scientific study of artifact in laboratory or controlled environment</a:t>
            </a:r>
            <a:endParaRPr lang="en-US" smtClean="0"/>
          </a:p>
          <a:p>
            <a:r>
              <a:rPr lang="en-US" smtClean="0"/>
              <a:t>Continue Design Cycle until:</a:t>
            </a:r>
            <a:endParaRPr lang="en-US" smtClean="0"/>
          </a:p>
          <a:p>
            <a:pPr lvl="1"/>
            <a:r>
              <a:rPr lang="en-US" smtClean="0"/>
              <a:t>Artifact ready for field test in Application Environment</a:t>
            </a:r>
            <a:endParaRPr lang="en-US" smtClean="0"/>
          </a:p>
          <a:p>
            <a:pPr lvl="1"/>
            <a:r>
              <a:rPr lang="en-US" smtClean="0"/>
              <a:t>New knowledge appropriate for inclusion in Knowledge Base </a:t>
            </a:r>
            <a:endParaRPr lang="en-US" smtClean="0"/>
          </a:p>
        </p:txBody>
      </p:sp>
      <p:sp>
        <p:nvSpPr>
          <p:cNvPr id="6" name="Slide Number Placeholder 5"/>
          <p:cNvSpPr>
            <a:spLocks noGrp="1"/>
          </p:cNvSpPr>
          <p:nvPr>
            <p:ph type="sldNum" sz="quarter" idx="12"/>
          </p:nvPr>
        </p:nvSpPr>
        <p:spPr/>
        <p:txBody>
          <a:bodyPr/>
          <a:lstStyle/>
          <a:p>
            <a:fld id="{5B7340C2-FC71-4079-917F-3693FCD4ABC1}" type="slidenum">
              <a:rPr lang="en-US" altLang="en-US" smtClean="0"/>
            </a:fld>
            <a:endParaRPr lang="en-US" altLang="en-US"/>
          </a:p>
        </p:txBody>
      </p:sp>
    </p:spTree>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ounded Rectangle 1"/>
          <p:cNvSpPr/>
          <p:nvPr/>
        </p:nvSpPr>
        <p:spPr>
          <a:xfrm>
            <a:off x="914400" y="609600"/>
            <a:ext cx="7315200" cy="54102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276600" y="685800"/>
            <a:ext cx="2590800" cy="369332"/>
          </a:xfrm>
          <a:prstGeom prst="rect">
            <a:avLst/>
          </a:prstGeom>
          <a:noFill/>
        </p:spPr>
        <p:txBody>
          <a:bodyPr wrap="square" rtlCol="0">
            <a:spAutoFit/>
          </a:bodyPr>
          <a:lstStyle/>
          <a:p>
            <a:pPr algn="ctr"/>
            <a:r>
              <a:rPr lang="en-US" b="1" dirty="0" smtClean="0"/>
              <a:t>Useful Knowledge</a:t>
            </a:r>
            <a:endParaRPr lang="en-US" b="1" dirty="0"/>
          </a:p>
        </p:txBody>
      </p:sp>
      <p:sp>
        <p:nvSpPr>
          <p:cNvPr id="4" name="Rectangle 3"/>
          <p:cNvSpPr/>
          <p:nvPr/>
        </p:nvSpPr>
        <p:spPr>
          <a:xfrm>
            <a:off x="1524000" y="1219200"/>
            <a:ext cx="2590800" cy="4572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5029200" y="1219200"/>
            <a:ext cx="2667000" cy="4572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1524000" y="1219200"/>
            <a:ext cx="2590800" cy="646331"/>
          </a:xfrm>
          <a:prstGeom prst="rect">
            <a:avLst/>
          </a:prstGeom>
          <a:noFill/>
        </p:spPr>
        <p:txBody>
          <a:bodyPr wrap="square" rtlCol="0">
            <a:spAutoFit/>
          </a:bodyPr>
          <a:lstStyle/>
          <a:p>
            <a:pPr algn="ctr"/>
            <a:r>
              <a:rPr lang="el-GR" b="1" dirty="0" smtClean="0"/>
              <a:t>Ω</a:t>
            </a:r>
            <a:r>
              <a:rPr lang="en-US" b="1" dirty="0" smtClean="0"/>
              <a:t> – Descriptive Knowledge</a:t>
            </a:r>
            <a:endParaRPr lang="en-US" b="1" dirty="0"/>
          </a:p>
        </p:txBody>
      </p:sp>
      <p:sp>
        <p:nvSpPr>
          <p:cNvPr id="7" name="TextBox 6"/>
          <p:cNvSpPr txBox="1"/>
          <p:nvPr/>
        </p:nvSpPr>
        <p:spPr>
          <a:xfrm>
            <a:off x="5029200" y="1219200"/>
            <a:ext cx="2667000" cy="646331"/>
          </a:xfrm>
          <a:prstGeom prst="rect">
            <a:avLst/>
          </a:prstGeom>
          <a:noFill/>
        </p:spPr>
        <p:txBody>
          <a:bodyPr wrap="square" rtlCol="0">
            <a:spAutoFit/>
          </a:bodyPr>
          <a:lstStyle/>
          <a:p>
            <a:pPr algn="ctr"/>
            <a:r>
              <a:rPr lang="el-GR" b="1" dirty="0"/>
              <a:t>Λ</a:t>
            </a:r>
            <a:r>
              <a:rPr lang="en-US" b="1" dirty="0" smtClean="0"/>
              <a:t> – Prescriptive Knowledge</a:t>
            </a:r>
            <a:endParaRPr lang="en-US" b="1" dirty="0"/>
          </a:p>
        </p:txBody>
      </p:sp>
      <p:sp>
        <p:nvSpPr>
          <p:cNvPr id="8" name="TextBox 7"/>
          <p:cNvSpPr txBox="1"/>
          <p:nvPr/>
        </p:nvSpPr>
        <p:spPr>
          <a:xfrm>
            <a:off x="1524000" y="1981200"/>
            <a:ext cx="2590800" cy="3810000"/>
          </a:xfrm>
          <a:prstGeom prst="rect">
            <a:avLst/>
          </a:prstGeom>
          <a:noFill/>
        </p:spPr>
        <p:txBody>
          <a:bodyPr wrap="square" rtlCol="0">
            <a:spAutoFit/>
          </a:bodyPr>
          <a:lstStyle/>
          <a:p>
            <a:pPr>
              <a:buFont typeface="Arial" panose="020B0604020202020204" pitchFamily="34" charset="0"/>
              <a:buChar char="•"/>
            </a:pPr>
            <a:r>
              <a:rPr lang="en-US" b="1" dirty="0" smtClean="0"/>
              <a:t> Phenomena </a:t>
            </a:r>
            <a:r>
              <a:rPr lang="en-US" dirty="0" smtClean="0"/>
              <a:t>(Natural, Artificial, Human)</a:t>
            </a:r>
            <a:endParaRPr lang="en-US" dirty="0" smtClean="0"/>
          </a:p>
          <a:p>
            <a:pPr marL="236855" lvl="1">
              <a:buFont typeface="Arial" panose="020B0604020202020204" pitchFamily="34" charset="0"/>
              <a:buChar char="•"/>
            </a:pPr>
            <a:r>
              <a:rPr lang="en-US" dirty="0" smtClean="0"/>
              <a:t> Observations</a:t>
            </a:r>
            <a:endParaRPr lang="en-US" dirty="0" smtClean="0"/>
          </a:p>
          <a:p>
            <a:pPr marL="236855" lvl="1">
              <a:buFont typeface="Arial" panose="020B0604020202020204" pitchFamily="34" charset="0"/>
              <a:buChar char="•"/>
            </a:pPr>
            <a:r>
              <a:rPr lang="en-US" dirty="0"/>
              <a:t> </a:t>
            </a:r>
            <a:r>
              <a:rPr lang="en-US" dirty="0" smtClean="0"/>
              <a:t>Classification</a:t>
            </a:r>
            <a:endParaRPr lang="en-US" dirty="0" smtClean="0"/>
          </a:p>
          <a:p>
            <a:pPr marL="236855" lvl="1">
              <a:buFont typeface="Arial" panose="020B0604020202020204" pitchFamily="34" charset="0"/>
              <a:buChar char="•"/>
            </a:pPr>
            <a:r>
              <a:rPr lang="en-US" dirty="0"/>
              <a:t> </a:t>
            </a:r>
            <a:r>
              <a:rPr lang="en-US" dirty="0" smtClean="0"/>
              <a:t>Measurement</a:t>
            </a:r>
            <a:endParaRPr lang="en-US" dirty="0" smtClean="0"/>
          </a:p>
          <a:p>
            <a:pPr marL="236855" lvl="1">
              <a:buFont typeface="Arial" panose="020B0604020202020204" pitchFamily="34" charset="0"/>
              <a:buChar char="•"/>
            </a:pPr>
            <a:r>
              <a:rPr lang="en-US" dirty="0"/>
              <a:t> </a:t>
            </a:r>
            <a:r>
              <a:rPr lang="en-US" dirty="0" smtClean="0"/>
              <a:t>Cataloging</a:t>
            </a:r>
            <a:endParaRPr lang="en-US" dirty="0" smtClean="0"/>
          </a:p>
          <a:p>
            <a:pPr marL="0" lvl="1">
              <a:buFont typeface="Arial" panose="020B0604020202020204" pitchFamily="34" charset="0"/>
              <a:buChar char="•"/>
            </a:pPr>
            <a:r>
              <a:rPr lang="en-US" b="1" dirty="0" smtClean="0"/>
              <a:t> Sense-making</a:t>
            </a:r>
            <a:endParaRPr lang="en-US" b="1" dirty="0" smtClean="0"/>
          </a:p>
          <a:p>
            <a:pPr marL="236855" lvl="2">
              <a:buFont typeface="Arial" panose="020B0604020202020204" pitchFamily="34" charset="0"/>
              <a:buChar char="•"/>
            </a:pPr>
            <a:r>
              <a:rPr lang="en-US" dirty="0" smtClean="0"/>
              <a:t> Natural Laws</a:t>
            </a:r>
            <a:endParaRPr lang="en-US" dirty="0" smtClean="0"/>
          </a:p>
          <a:p>
            <a:pPr marL="236855" lvl="2">
              <a:buFont typeface="Arial" panose="020B0604020202020204" pitchFamily="34" charset="0"/>
              <a:buChar char="•"/>
            </a:pPr>
            <a:r>
              <a:rPr lang="en-US" dirty="0"/>
              <a:t> </a:t>
            </a:r>
            <a:r>
              <a:rPr lang="en-US" dirty="0" smtClean="0"/>
              <a:t>Regularities</a:t>
            </a:r>
            <a:endParaRPr lang="en-US" dirty="0" smtClean="0"/>
          </a:p>
          <a:p>
            <a:pPr marL="236855" lvl="2">
              <a:buFont typeface="Arial" panose="020B0604020202020204" pitchFamily="34" charset="0"/>
              <a:buChar char="•"/>
            </a:pPr>
            <a:r>
              <a:rPr lang="en-US" dirty="0"/>
              <a:t> </a:t>
            </a:r>
            <a:r>
              <a:rPr lang="en-US" dirty="0" smtClean="0"/>
              <a:t>Principles</a:t>
            </a:r>
            <a:endParaRPr lang="en-US" dirty="0" smtClean="0"/>
          </a:p>
          <a:p>
            <a:pPr marL="236855" lvl="2">
              <a:buFont typeface="Arial" panose="020B0604020202020204" pitchFamily="34" charset="0"/>
              <a:buChar char="•"/>
            </a:pPr>
            <a:r>
              <a:rPr lang="en-US" dirty="0"/>
              <a:t> </a:t>
            </a:r>
            <a:r>
              <a:rPr lang="en-US" dirty="0" smtClean="0"/>
              <a:t>Patterns</a:t>
            </a:r>
            <a:endParaRPr lang="en-US" dirty="0" smtClean="0"/>
          </a:p>
          <a:p>
            <a:pPr marL="236855" lvl="2">
              <a:buFont typeface="Arial" panose="020B0604020202020204" pitchFamily="34" charset="0"/>
              <a:buChar char="•"/>
            </a:pPr>
            <a:r>
              <a:rPr lang="en-US" dirty="0"/>
              <a:t> </a:t>
            </a:r>
            <a:r>
              <a:rPr lang="en-US" dirty="0" smtClean="0"/>
              <a:t>Theories</a:t>
            </a:r>
            <a:endParaRPr lang="en-US" dirty="0"/>
          </a:p>
        </p:txBody>
      </p:sp>
      <p:sp>
        <p:nvSpPr>
          <p:cNvPr id="9" name="TextBox 8"/>
          <p:cNvSpPr txBox="1"/>
          <p:nvPr/>
        </p:nvSpPr>
        <p:spPr>
          <a:xfrm>
            <a:off x="5029200" y="1828800"/>
            <a:ext cx="2819400" cy="3970318"/>
          </a:xfrm>
          <a:prstGeom prst="rect">
            <a:avLst/>
          </a:prstGeom>
          <a:noFill/>
        </p:spPr>
        <p:txBody>
          <a:bodyPr wrap="square" rtlCol="0">
            <a:spAutoFit/>
          </a:bodyPr>
          <a:lstStyle/>
          <a:p>
            <a:pPr>
              <a:buFont typeface="Arial" panose="020B0604020202020204" pitchFamily="34" charset="0"/>
              <a:buChar char="•"/>
            </a:pPr>
            <a:r>
              <a:rPr lang="en-US" dirty="0" smtClean="0"/>
              <a:t> </a:t>
            </a:r>
            <a:r>
              <a:rPr lang="en-US" b="1" dirty="0" smtClean="0"/>
              <a:t>Artifacts</a:t>
            </a:r>
            <a:endParaRPr lang="en-US" b="1" dirty="0" smtClean="0"/>
          </a:p>
          <a:p>
            <a:pPr marL="236855" lvl="1">
              <a:buFont typeface="Arial" panose="020B0604020202020204" pitchFamily="34" charset="0"/>
              <a:buChar char="•"/>
            </a:pPr>
            <a:r>
              <a:rPr lang="en-US" dirty="0"/>
              <a:t> </a:t>
            </a:r>
            <a:r>
              <a:rPr lang="en-US" dirty="0" smtClean="0"/>
              <a:t>Constructs</a:t>
            </a:r>
            <a:endParaRPr lang="en-US" dirty="0" smtClean="0"/>
          </a:p>
          <a:p>
            <a:pPr marL="457200" lvl="2">
              <a:buFont typeface="Arial" panose="020B0604020202020204" pitchFamily="34" charset="0"/>
              <a:buChar char="•"/>
            </a:pPr>
            <a:r>
              <a:rPr lang="en-US" dirty="0"/>
              <a:t> </a:t>
            </a:r>
            <a:r>
              <a:rPr lang="en-US" dirty="0" smtClean="0"/>
              <a:t>Concepts</a:t>
            </a:r>
            <a:endParaRPr lang="en-US" dirty="0" smtClean="0"/>
          </a:p>
          <a:p>
            <a:pPr marL="457200" lvl="2">
              <a:buFont typeface="Arial" panose="020B0604020202020204" pitchFamily="34" charset="0"/>
              <a:buChar char="•"/>
            </a:pPr>
            <a:r>
              <a:rPr lang="en-US" dirty="0"/>
              <a:t> </a:t>
            </a:r>
            <a:r>
              <a:rPr lang="en-US" dirty="0" smtClean="0"/>
              <a:t>Symbols</a:t>
            </a:r>
            <a:endParaRPr lang="en-US" dirty="0" smtClean="0"/>
          </a:p>
          <a:p>
            <a:pPr marL="236855" lvl="2">
              <a:buFont typeface="Arial" panose="020B0604020202020204" pitchFamily="34" charset="0"/>
              <a:buChar char="•"/>
            </a:pPr>
            <a:r>
              <a:rPr lang="en-US" dirty="0"/>
              <a:t> </a:t>
            </a:r>
            <a:r>
              <a:rPr lang="en-US" dirty="0" smtClean="0"/>
              <a:t>Models</a:t>
            </a:r>
            <a:endParaRPr lang="en-US" dirty="0" smtClean="0"/>
          </a:p>
          <a:p>
            <a:pPr marL="457200" lvl="3">
              <a:buFont typeface="Arial" panose="020B0604020202020204" pitchFamily="34" charset="0"/>
              <a:buChar char="•"/>
            </a:pPr>
            <a:r>
              <a:rPr lang="en-US" dirty="0"/>
              <a:t> </a:t>
            </a:r>
            <a:r>
              <a:rPr lang="en-US" dirty="0" smtClean="0"/>
              <a:t>Representation</a:t>
            </a:r>
            <a:endParaRPr lang="en-US" dirty="0" smtClean="0"/>
          </a:p>
          <a:p>
            <a:pPr marL="457200" lvl="3">
              <a:buFont typeface="Arial" panose="020B0604020202020204" pitchFamily="34" charset="0"/>
              <a:buChar char="•"/>
            </a:pPr>
            <a:r>
              <a:rPr lang="en-US" dirty="0"/>
              <a:t> </a:t>
            </a:r>
            <a:r>
              <a:rPr lang="en-US" dirty="0" smtClean="0"/>
              <a:t>Semantics/Syntax</a:t>
            </a:r>
            <a:endParaRPr lang="en-US" dirty="0" smtClean="0"/>
          </a:p>
          <a:p>
            <a:pPr marL="236855" lvl="3">
              <a:buFont typeface="Arial" panose="020B0604020202020204" pitchFamily="34" charset="0"/>
              <a:buChar char="•"/>
            </a:pPr>
            <a:r>
              <a:rPr lang="en-US" dirty="0"/>
              <a:t> </a:t>
            </a:r>
            <a:r>
              <a:rPr lang="en-US" dirty="0" smtClean="0"/>
              <a:t>Methods</a:t>
            </a:r>
            <a:endParaRPr lang="en-US" dirty="0" smtClean="0"/>
          </a:p>
          <a:p>
            <a:pPr marL="457200" lvl="4">
              <a:buFont typeface="Arial" panose="020B0604020202020204" pitchFamily="34" charset="0"/>
              <a:buChar char="•"/>
            </a:pPr>
            <a:r>
              <a:rPr lang="en-US" dirty="0"/>
              <a:t> </a:t>
            </a:r>
            <a:r>
              <a:rPr lang="en-US" dirty="0" smtClean="0"/>
              <a:t>Algorithms</a:t>
            </a:r>
            <a:endParaRPr lang="en-US" dirty="0" smtClean="0"/>
          </a:p>
          <a:p>
            <a:pPr marL="457200" lvl="4">
              <a:buFont typeface="Arial" panose="020B0604020202020204" pitchFamily="34" charset="0"/>
              <a:buChar char="•"/>
            </a:pPr>
            <a:r>
              <a:rPr lang="en-US" dirty="0"/>
              <a:t> </a:t>
            </a:r>
            <a:r>
              <a:rPr lang="en-US" dirty="0" smtClean="0"/>
              <a:t>Techniques</a:t>
            </a:r>
            <a:endParaRPr lang="en-US" dirty="0" smtClean="0"/>
          </a:p>
          <a:p>
            <a:pPr marL="236855" lvl="4">
              <a:buFont typeface="Arial" panose="020B0604020202020204" pitchFamily="34" charset="0"/>
              <a:buChar char="•"/>
            </a:pPr>
            <a:r>
              <a:rPr lang="en-US" dirty="0"/>
              <a:t> </a:t>
            </a:r>
            <a:r>
              <a:rPr lang="en-US" dirty="0" smtClean="0"/>
              <a:t>Instantiations</a:t>
            </a:r>
            <a:endParaRPr lang="en-US" dirty="0" smtClean="0"/>
          </a:p>
          <a:p>
            <a:pPr marL="457200" lvl="5">
              <a:buFont typeface="Arial" panose="020B0604020202020204" pitchFamily="34" charset="0"/>
              <a:buChar char="•"/>
            </a:pPr>
            <a:r>
              <a:rPr lang="en-US" dirty="0"/>
              <a:t> </a:t>
            </a:r>
            <a:r>
              <a:rPr lang="en-US" dirty="0" smtClean="0"/>
              <a:t>Systems</a:t>
            </a:r>
            <a:endParaRPr lang="en-US" dirty="0" smtClean="0"/>
          </a:p>
          <a:p>
            <a:pPr marL="457200" lvl="5">
              <a:buFont typeface="Arial" panose="020B0604020202020204" pitchFamily="34" charset="0"/>
              <a:buChar char="•"/>
            </a:pPr>
            <a:r>
              <a:rPr lang="en-US" dirty="0" smtClean="0"/>
              <a:t> Products/Processes</a:t>
            </a:r>
            <a:endParaRPr lang="en-US" dirty="0" smtClean="0"/>
          </a:p>
          <a:p>
            <a:pPr marL="0" lvl="4">
              <a:buFont typeface="Arial" panose="020B0604020202020204" pitchFamily="34" charset="0"/>
              <a:buChar char="•"/>
            </a:pPr>
            <a:r>
              <a:rPr lang="en-US" dirty="0" smtClean="0"/>
              <a:t> </a:t>
            </a:r>
            <a:r>
              <a:rPr lang="en-US" b="1" dirty="0" smtClean="0"/>
              <a:t>Design Theory</a:t>
            </a:r>
            <a:endParaRPr lang="en-US" b="1" dirty="0"/>
          </a:p>
        </p:txBody>
      </p:sp>
      <p:sp>
        <p:nvSpPr>
          <p:cNvPr id="11" name="Slide Number Placeholder 10"/>
          <p:cNvSpPr>
            <a:spLocks noGrp="1"/>
          </p:cNvSpPr>
          <p:nvPr>
            <p:ph type="sldNum" sz="quarter" idx="12"/>
          </p:nvPr>
        </p:nvSpPr>
        <p:spPr/>
        <p:txBody>
          <a:bodyPr/>
          <a:lstStyle/>
          <a:p>
            <a:fld id="{A2982359-B7F1-4A1C-A7D7-B0DDBF714392}" type="slidenum">
              <a:rPr lang="en-US" smtClean="0"/>
            </a:fld>
            <a:endParaRPr lang="en-US"/>
          </a:p>
        </p:txBody>
      </p:sp>
    </p:spTree>
  </p:cSld>
  <p:clrMapOvr>
    <a:masterClrMapping/>
  </p:clrMapOvr>
  <p:transition spd="slow">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The Artifact as Knowledge</a:t>
            </a:r>
            <a:endParaRPr lang="en-US" dirty="0"/>
          </a:p>
        </p:txBody>
      </p:sp>
      <p:sp>
        <p:nvSpPr>
          <p:cNvPr id="6" name="Slide Number Placeholder 5"/>
          <p:cNvSpPr>
            <a:spLocks noGrp="1"/>
          </p:cNvSpPr>
          <p:nvPr>
            <p:ph type="sldNum" sz="quarter" idx="12"/>
          </p:nvPr>
        </p:nvSpPr>
        <p:spPr/>
        <p:txBody>
          <a:bodyPr/>
          <a:lstStyle/>
          <a:p>
            <a:fld id="{A2982359-B7F1-4A1C-A7D7-B0DDBF714392}" type="slidenum">
              <a:rPr lang="en-US" smtClean="0"/>
            </a:fld>
            <a:endParaRPr lang="en-US"/>
          </a:p>
        </p:txBody>
      </p:sp>
      <p:graphicFrame>
        <p:nvGraphicFramePr>
          <p:cNvPr id="4" name="Table 3"/>
          <p:cNvGraphicFramePr>
            <a:graphicFrameLocks noGrp="1"/>
          </p:cNvGraphicFramePr>
          <p:nvPr/>
        </p:nvGraphicFramePr>
        <p:xfrm>
          <a:off x="609600" y="1524000"/>
          <a:ext cx="7848600" cy="3911627"/>
        </p:xfrm>
        <a:graphic>
          <a:graphicData uri="http://schemas.openxmlformats.org/drawingml/2006/table">
            <a:tbl>
              <a:tblPr firstRow="1" firstCol="1" lastRow="1" lastCol="1" bandRow="1" bandCol="1">
                <a:tableStyleId>{5C22544A-7EE6-4342-B048-85BDC9FD1C3A}</a:tableStyleId>
              </a:tblPr>
              <a:tblGrid>
                <a:gridCol w="3034792"/>
                <a:gridCol w="2511552"/>
                <a:gridCol w="2302256"/>
              </a:tblGrid>
              <a:tr h="293651">
                <a:tc>
                  <a:txBody>
                    <a:bodyPr/>
                    <a:lstStyle/>
                    <a:p>
                      <a:pPr marL="0" marR="0">
                        <a:lnSpc>
                          <a:spcPct val="115000"/>
                        </a:lnSpc>
                        <a:spcBef>
                          <a:spcPts val="300"/>
                        </a:spcBef>
                        <a:spcAft>
                          <a:spcPts val="300"/>
                        </a:spcAft>
                      </a:pPr>
                      <a:r>
                        <a:rPr lang="en-US" sz="1200" b="0" dirty="0">
                          <a:solidFill>
                            <a:schemeClr val="tx1"/>
                          </a:solidFill>
                          <a:effectLst/>
                        </a:rPr>
                        <a:t> </a:t>
                      </a:r>
                      <a:endParaRPr lang="en-US" sz="1100" b="0" dirty="0">
                        <a:solidFill>
                          <a:schemeClr val="tx1"/>
                        </a:solidFill>
                        <a:effectLst/>
                        <a:latin typeface="Calibri" panose="020F0502020204030204"/>
                        <a:ea typeface="Calibri" panose="020F0502020204030204"/>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nSpc>
                          <a:spcPct val="115000"/>
                        </a:lnSpc>
                        <a:spcBef>
                          <a:spcPts val="300"/>
                        </a:spcBef>
                        <a:spcAft>
                          <a:spcPts val="300"/>
                        </a:spcAft>
                      </a:pPr>
                      <a:r>
                        <a:rPr lang="en-US" sz="1600" b="1" dirty="0">
                          <a:solidFill>
                            <a:schemeClr val="tx1"/>
                          </a:solidFill>
                          <a:effectLst/>
                        </a:rPr>
                        <a:t>Contribution type</a:t>
                      </a:r>
                      <a:endParaRPr lang="en-US" sz="1600" b="1" dirty="0">
                        <a:solidFill>
                          <a:schemeClr val="tx1"/>
                        </a:solidFill>
                        <a:effectLst/>
                        <a:latin typeface="Calibri" panose="020F0502020204030204"/>
                        <a:ea typeface="Calibri" panose="020F0502020204030204"/>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nSpc>
                          <a:spcPct val="115000"/>
                        </a:lnSpc>
                        <a:spcBef>
                          <a:spcPts val="300"/>
                        </a:spcBef>
                        <a:spcAft>
                          <a:spcPts val="300"/>
                        </a:spcAft>
                      </a:pPr>
                      <a:r>
                        <a:rPr lang="en-US" sz="1600" b="1" dirty="0">
                          <a:solidFill>
                            <a:schemeClr val="tx1"/>
                          </a:solidFill>
                          <a:effectLst/>
                        </a:rPr>
                        <a:t>Examples</a:t>
                      </a:r>
                      <a:endParaRPr lang="en-US" sz="1600" b="1" dirty="0">
                        <a:solidFill>
                          <a:schemeClr val="tx1"/>
                        </a:solidFill>
                        <a:effectLst/>
                        <a:latin typeface="Calibri" panose="020F0502020204030204"/>
                        <a:ea typeface="Calibri" panose="020F0502020204030204"/>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r>
              <a:tr h="948691">
                <a:tc rowSpan="3">
                  <a:txBody>
                    <a:bodyPr/>
                    <a:lstStyle/>
                    <a:p>
                      <a:pPr marL="0" marR="0">
                        <a:lnSpc>
                          <a:spcPct val="115000"/>
                        </a:lnSpc>
                        <a:spcBef>
                          <a:spcPts val="300"/>
                        </a:spcBef>
                        <a:spcAft>
                          <a:spcPts val="300"/>
                        </a:spcAft>
                      </a:pPr>
                      <a:r>
                        <a:rPr lang="en-US" sz="1600" b="0" dirty="0">
                          <a:solidFill>
                            <a:schemeClr val="tx1"/>
                          </a:solidFill>
                          <a:effectLst/>
                        </a:rPr>
                        <a:t>More abstract, complete, and mature knowledge</a:t>
                      </a:r>
                      <a:endParaRPr lang="en-US" sz="1600" b="0" dirty="0">
                        <a:solidFill>
                          <a:schemeClr val="tx1"/>
                        </a:solidFill>
                        <a:effectLst/>
                      </a:endParaRPr>
                    </a:p>
                    <a:p>
                      <a:pPr marL="0" marR="0">
                        <a:lnSpc>
                          <a:spcPct val="115000"/>
                        </a:lnSpc>
                        <a:spcBef>
                          <a:spcPts val="300"/>
                        </a:spcBef>
                        <a:spcAft>
                          <a:spcPts val="300"/>
                        </a:spcAft>
                      </a:pPr>
                      <a:r>
                        <a:rPr lang="en-US" sz="1600" b="0" dirty="0">
                          <a:solidFill>
                            <a:schemeClr val="tx1"/>
                          </a:solidFill>
                          <a:effectLst/>
                        </a:rPr>
                        <a:t> </a:t>
                      </a:r>
                      <a:endParaRPr lang="en-US" sz="1600" b="0" dirty="0">
                        <a:solidFill>
                          <a:schemeClr val="tx1"/>
                        </a:solidFill>
                        <a:effectLst/>
                      </a:endParaRPr>
                    </a:p>
                    <a:p>
                      <a:pPr marL="0" marR="0">
                        <a:lnSpc>
                          <a:spcPct val="115000"/>
                        </a:lnSpc>
                        <a:spcBef>
                          <a:spcPts val="300"/>
                        </a:spcBef>
                        <a:spcAft>
                          <a:spcPts val="300"/>
                        </a:spcAft>
                      </a:pPr>
                      <a:endParaRPr lang="en-US" sz="1600" b="0" dirty="0" smtClean="0">
                        <a:solidFill>
                          <a:schemeClr val="tx1"/>
                        </a:solidFill>
                        <a:effectLst/>
                      </a:endParaRPr>
                    </a:p>
                    <a:p>
                      <a:pPr marL="0" marR="0">
                        <a:lnSpc>
                          <a:spcPct val="115000"/>
                        </a:lnSpc>
                        <a:spcBef>
                          <a:spcPts val="300"/>
                        </a:spcBef>
                        <a:spcAft>
                          <a:spcPts val="300"/>
                        </a:spcAft>
                      </a:pPr>
                      <a:r>
                        <a:rPr lang="en-US" sz="3200" b="0" dirty="0" smtClean="0">
                          <a:solidFill>
                            <a:schemeClr val="tx1"/>
                          </a:solidFill>
                          <a:effectLst/>
                        </a:rPr>
                        <a:t>↕ </a:t>
                      </a:r>
                      <a:r>
                        <a:rPr lang="en-US" sz="3200" b="0" dirty="0">
                          <a:solidFill>
                            <a:schemeClr val="tx1"/>
                          </a:solidFill>
                          <a:effectLst/>
                        </a:rPr>
                        <a:t>↕ ↕ </a:t>
                      </a:r>
                      <a:r>
                        <a:rPr lang="en-US" sz="3200" b="0" dirty="0" smtClean="0">
                          <a:solidFill>
                            <a:schemeClr val="tx1"/>
                          </a:solidFill>
                          <a:effectLst/>
                        </a:rPr>
                        <a:t>↕</a:t>
                      </a:r>
                      <a:endParaRPr lang="en-US" sz="3200" b="0" dirty="0" smtClean="0">
                        <a:solidFill>
                          <a:schemeClr val="tx1"/>
                        </a:solidFill>
                        <a:effectLst/>
                      </a:endParaRPr>
                    </a:p>
                    <a:p>
                      <a:pPr marL="0" marR="0">
                        <a:lnSpc>
                          <a:spcPct val="115000"/>
                        </a:lnSpc>
                        <a:spcBef>
                          <a:spcPts val="300"/>
                        </a:spcBef>
                        <a:spcAft>
                          <a:spcPts val="300"/>
                        </a:spcAft>
                      </a:pPr>
                      <a:endParaRPr lang="en-US" sz="1600" b="0" dirty="0">
                        <a:solidFill>
                          <a:schemeClr val="tx1"/>
                        </a:solidFill>
                        <a:effectLst/>
                      </a:endParaRPr>
                    </a:p>
                    <a:p>
                      <a:pPr marL="0" marR="0">
                        <a:lnSpc>
                          <a:spcPct val="115000"/>
                        </a:lnSpc>
                        <a:spcBef>
                          <a:spcPts val="300"/>
                        </a:spcBef>
                        <a:spcAft>
                          <a:spcPts val="300"/>
                        </a:spcAft>
                      </a:pPr>
                      <a:r>
                        <a:rPr lang="en-US" sz="1600" b="0" dirty="0">
                          <a:solidFill>
                            <a:schemeClr val="tx1"/>
                          </a:solidFill>
                          <a:effectLst/>
                        </a:rPr>
                        <a:t> </a:t>
                      </a:r>
                      <a:endParaRPr lang="en-US" sz="1600" b="0" dirty="0">
                        <a:solidFill>
                          <a:schemeClr val="tx1"/>
                        </a:solidFill>
                        <a:effectLst/>
                      </a:endParaRPr>
                    </a:p>
                    <a:p>
                      <a:pPr marL="0" marR="0">
                        <a:lnSpc>
                          <a:spcPct val="115000"/>
                        </a:lnSpc>
                        <a:spcBef>
                          <a:spcPts val="300"/>
                        </a:spcBef>
                        <a:spcAft>
                          <a:spcPts val="300"/>
                        </a:spcAft>
                      </a:pPr>
                      <a:r>
                        <a:rPr lang="en-US" sz="1600" b="0" dirty="0">
                          <a:solidFill>
                            <a:schemeClr val="tx1"/>
                          </a:solidFill>
                          <a:effectLst/>
                        </a:rPr>
                        <a:t>More specific, limited, and less mature knowledge</a:t>
                      </a:r>
                      <a:endParaRPr lang="en-US" sz="1600" b="0" dirty="0">
                        <a:solidFill>
                          <a:schemeClr val="tx1"/>
                        </a:solidFill>
                        <a:effectLst/>
                      </a:endParaRPr>
                    </a:p>
                    <a:p>
                      <a:pPr marL="0" marR="0">
                        <a:lnSpc>
                          <a:spcPct val="115000"/>
                        </a:lnSpc>
                        <a:spcBef>
                          <a:spcPts val="300"/>
                        </a:spcBef>
                        <a:spcAft>
                          <a:spcPts val="300"/>
                        </a:spcAft>
                      </a:pPr>
                      <a:r>
                        <a:rPr lang="en-US" sz="1600" b="0" dirty="0">
                          <a:solidFill>
                            <a:schemeClr val="tx1"/>
                          </a:solidFill>
                          <a:effectLst/>
                        </a:rPr>
                        <a:t> </a:t>
                      </a:r>
                      <a:endParaRPr lang="en-US" sz="1600" b="0" dirty="0">
                        <a:solidFill>
                          <a:schemeClr val="tx1"/>
                        </a:solidFill>
                        <a:effectLst/>
                        <a:latin typeface="Calibri" panose="020F0502020204030204"/>
                        <a:ea typeface="Calibri" panose="020F0502020204030204"/>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nSpc>
                          <a:spcPct val="115000"/>
                        </a:lnSpc>
                        <a:spcBef>
                          <a:spcPts val="300"/>
                        </a:spcBef>
                        <a:spcAft>
                          <a:spcPts val="300"/>
                        </a:spcAft>
                      </a:pPr>
                      <a:r>
                        <a:rPr lang="en-US" sz="1600" b="0" dirty="0">
                          <a:solidFill>
                            <a:schemeClr val="tx1"/>
                          </a:solidFill>
                          <a:effectLst/>
                        </a:rPr>
                        <a:t>Level 3. Well-developed  design theory about embedded phenomena</a:t>
                      </a:r>
                      <a:endParaRPr lang="en-US" sz="1600" b="0" dirty="0">
                        <a:solidFill>
                          <a:schemeClr val="tx1"/>
                        </a:solidFill>
                        <a:effectLst/>
                        <a:latin typeface="Calibri" panose="020F0502020204030204"/>
                        <a:ea typeface="Calibri" panose="020F0502020204030204"/>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nSpc>
                          <a:spcPct val="115000"/>
                        </a:lnSpc>
                        <a:spcBef>
                          <a:spcPts val="300"/>
                        </a:spcBef>
                        <a:spcAft>
                          <a:spcPts val="300"/>
                        </a:spcAft>
                      </a:pPr>
                      <a:r>
                        <a:rPr lang="en-US" sz="1600" b="0" dirty="0">
                          <a:solidFill>
                            <a:schemeClr val="tx1"/>
                          </a:solidFill>
                          <a:effectLst/>
                        </a:rPr>
                        <a:t>Design theories (mid-range and grand theories)</a:t>
                      </a:r>
                      <a:endParaRPr lang="en-US" sz="1600" b="0" dirty="0">
                        <a:solidFill>
                          <a:schemeClr val="tx1"/>
                        </a:solidFill>
                        <a:effectLst/>
                        <a:latin typeface="Calibri" panose="020F0502020204030204"/>
                        <a:ea typeface="Calibri" panose="020F0502020204030204"/>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r>
              <a:tr h="1155719">
                <a:tc vMerge="1">
                  <a:tcPr/>
                </a:tc>
                <a:tc>
                  <a:txBody>
                    <a:bodyPr/>
                    <a:lstStyle/>
                    <a:p>
                      <a:pPr marL="0" marR="0">
                        <a:lnSpc>
                          <a:spcPct val="115000"/>
                        </a:lnSpc>
                        <a:spcBef>
                          <a:spcPts val="300"/>
                        </a:spcBef>
                        <a:spcAft>
                          <a:spcPts val="300"/>
                        </a:spcAft>
                      </a:pPr>
                      <a:r>
                        <a:rPr lang="en-US" sz="1600" b="0" dirty="0">
                          <a:solidFill>
                            <a:schemeClr val="tx1"/>
                          </a:solidFill>
                          <a:effectLst/>
                        </a:rPr>
                        <a:t>Level 2. Nascent design  theory – knowledge as operational principles/architecture</a:t>
                      </a:r>
                      <a:endParaRPr lang="en-US" sz="1600" b="0" dirty="0">
                        <a:solidFill>
                          <a:schemeClr val="tx1"/>
                        </a:solidFill>
                        <a:effectLst/>
                        <a:latin typeface="Calibri" panose="020F0502020204030204"/>
                        <a:ea typeface="Calibri" panose="020F0502020204030204"/>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nSpc>
                          <a:spcPct val="115000"/>
                        </a:lnSpc>
                        <a:spcBef>
                          <a:spcPts val="300"/>
                        </a:spcBef>
                        <a:spcAft>
                          <a:spcPts val="300"/>
                        </a:spcAft>
                      </a:pPr>
                      <a:r>
                        <a:rPr lang="en-US" sz="1600" b="0" dirty="0">
                          <a:solidFill>
                            <a:schemeClr val="tx1"/>
                          </a:solidFill>
                          <a:effectLst/>
                        </a:rPr>
                        <a:t>Constructs, methods, models, design principles, technological rules.</a:t>
                      </a:r>
                      <a:endParaRPr lang="en-US" sz="1600" b="0" dirty="0">
                        <a:solidFill>
                          <a:schemeClr val="tx1"/>
                        </a:solidFill>
                        <a:effectLst/>
                        <a:latin typeface="Calibri" panose="020F0502020204030204"/>
                        <a:ea typeface="Calibri" panose="020F0502020204030204"/>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r>
              <a:tr h="1364075">
                <a:tc vMerge="1">
                  <a:tcPr/>
                </a:tc>
                <a:tc>
                  <a:txBody>
                    <a:bodyPr/>
                    <a:lstStyle/>
                    <a:p>
                      <a:pPr marL="0" marR="0">
                        <a:lnSpc>
                          <a:spcPct val="115000"/>
                        </a:lnSpc>
                        <a:spcBef>
                          <a:spcPts val="300"/>
                        </a:spcBef>
                        <a:spcAft>
                          <a:spcPts val="300"/>
                        </a:spcAft>
                      </a:pPr>
                      <a:r>
                        <a:rPr lang="en-US" sz="1600" b="0" dirty="0">
                          <a:solidFill>
                            <a:schemeClr val="tx1"/>
                          </a:solidFill>
                          <a:effectLst/>
                        </a:rPr>
                        <a:t>Level 1. Situated implementation of artifact</a:t>
                      </a:r>
                      <a:endParaRPr lang="en-US" sz="1600" b="0" dirty="0">
                        <a:solidFill>
                          <a:schemeClr val="tx1"/>
                        </a:solidFill>
                        <a:effectLst/>
                        <a:latin typeface="Calibri" panose="020F0502020204030204"/>
                        <a:ea typeface="Calibri" panose="020F0502020204030204"/>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nSpc>
                          <a:spcPct val="115000"/>
                        </a:lnSpc>
                        <a:spcBef>
                          <a:spcPts val="300"/>
                        </a:spcBef>
                        <a:spcAft>
                          <a:spcPts val="300"/>
                        </a:spcAft>
                      </a:pPr>
                      <a:r>
                        <a:rPr lang="en-US" sz="1600" b="0" dirty="0">
                          <a:solidFill>
                            <a:schemeClr val="tx1"/>
                          </a:solidFill>
                          <a:effectLst/>
                        </a:rPr>
                        <a:t>Instantiations (software products or implemented methods) </a:t>
                      </a:r>
                      <a:endParaRPr lang="en-US" sz="1600" b="0" dirty="0">
                        <a:solidFill>
                          <a:schemeClr val="tx1"/>
                        </a:solidFill>
                        <a:effectLst/>
                        <a:latin typeface="Calibri" panose="020F0502020204030204"/>
                        <a:ea typeface="Calibri" panose="020F0502020204030204"/>
                        <a:cs typeface="Times New Roman" panose="0202060305040502030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r>
            </a:tbl>
          </a:graphicData>
        </a:graphic>
      </p:graphicFrame>
    </p:spTree>
  </p:cSld>
  <p:clrMapOvr>
    <a:masterClrMapping/>
  </p:clrMapOvr>
  <p:transition spd="slow">
    <p:wipe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Design Theory as Knowledge</a:t>
            </a:r>
            <a:endParaRPr lang="en-US" dirty="0"/>
          </a:p>
        </p:txBody>
      </p:sp>
      <p:sp>
        <p:nvSpPr>
          <p:cNvPr id="6" name="Content Placeholder 5"/>
          <p:cNvSpPr>
            <a:spLocks noGrp="1"/>
          </p:cNvSpPr>
          <p:nvPr>
            <p:ph idx="1"/>
          </p:nvPr>
        </p:nvSpPr>
        <p:spPr/>
        <p:txBody>
          <a:bodyPr>
            <a:normAutofit fontScale="70000" lnSpcReduction="20000"/>
          </a:bodyPr>
          <a:lstStyle/>
          <a:p>
            <a:r>
              <a:rPr lang="en-US" smtClean="0"/>
              <a:t>Theory – set of statements of relationships among constructs that aims to describe, explain, enhance understanding, and, in some cases, allow predictions about the future (Gregor 2006)</a:t>
            </a:r>
            <a:endParaRPr lang="en-US" smtClean="0"/>
          </a:p>
          <a:p>
            <a:r>
              <a:rPr lang="en-US" smtClean="0"/>
              <a:t>Design Theory (Gregor and Jones 2007) – prescriptions for design and action</a:t>
            </a:r>
            <a:endParaRPr lang="en-US" smtClean="0"/>
          </a:p>
          <a:p>
            <a:pPr lvl="1"/>
            <a:r>
              <a:rPr lang="en-US" smtClean="0"/>
              <a:t>Behaviors of individual artifacts (Level 1) lead to empirical generalizations or technical rules</a:t>
            </a:r>
            <a:endParaRPr lang="en-US" smtClean="0"/>
          </a:p>
          <a:p>
            <a:pPr lvl="1"/>
            <a:r>
              <a:rPr lang="en-US" smtClean="0"/>
              <a:t>Extending the boundaries of abstract design artifacts (Level 2) grows nascent design theory</a:t>
            </a:r>
            <a:endParaRPr lang="en-US" smtClean="0"/>
          </a:p>
          <a:p>
            <a:pPr lvl="1"/>
            <a:r>
              <a:rPr lang="en-US" smtClean="0"/>
              <a:t>Middle-range design theory (Level 3) – understanding expands to partial theory (Goal of theory in applied fields – Merton 1968)</a:t>
            </a:r>
            <a:endParaRPr lang="en-US" smtClean="0"/>
          </a:p>
          <a:p>
            <a:pPr lvl="1"/>
            <a:r>
              <a:rPr lang="en-US" smtClean="0"/>
              <a:t>Grand design theory – transitions to descriptive theory</a:t>
            </a:r>
            <a:endParaRPr lang="en-US" dirty="0"/>
          </a:p>
        </p:txBody>
      </p:sp>
      <p:sp>
        <p:nvSpPr>
          <p:cNvPr id="5" name="Slide Number Placeholder 4"/>
          <p:cNvSpPr>
            <a:spLocks noGrp="1"/>
          </p:cNvSpPr>
          <p:nvPr>
            <p:ph type="sldNum" sz="quarter" idx="12"/>
          </p:nvPr>
        </p:nvSpPr>
        <p:spPr/>
        <p:txBody>
          <a:bodyPr/>
          <a:lstStyle/>
          <a:p>
            <a:fld id="{9A9A7915-3B72-446D-8840-4B2873DD6DD9}" type="slidenum">
              <a:rPr lang="en-US" altLang="en-US" smtClean="0"/>
            </a:fld>
            <a:endParaRPr lang="en-US" altLang="en-US"/>
          </a:p>
        </p:txBody>
      </p:sp>
    </p:spTree>
  </p:cSld>
  <p:clrMapOvr>
    <a:masterClrMapping/>
  </p:clrMapOvr>
  <p:transition spd="slow">
    <p:wipe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2" name="Rounded Rectangle 1"/>
          <p:cNvSpPr/>
          <p:nvPr/>
        </p:nvSpPr>
        <p:spPr>
          <a:xfrm>
            <a:off x="2362200" y="685800"/>
            <a:ext cx="4572000" cy="5486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381000" y="1600200"/>
            <a:ext cx="1219200" cy="3657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7696200" y="1600200"/>
            <a:ext cx="1219200" cy="3657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819400" y="1143000"/>
            <a:ext cx="3657600" cy="18288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2667000" y="3657600"/>
            <a:ext cx="4038600" cy="22860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819400" y="1143000"/>
            <a:ext cx="2133600" cy="369332"/>
          </a:xfrm>
          <a:prstGeom prst="rect">
            <a:avLst/>
          </a:prstGeom>
          <a:noFill/>
        </p:spPr>
        <p:txBody>
          <a:bodyPr wrap="square" rtlCol="0">
            <a:spAutoFit/>
          </a:bodyPr>
          <a:lstStyle/>
          <a:p>
            <a:r>
              <a:rPr lang="el-GR" dirty="0" smtClean="0"/>
              <a:t>Ω</a:t>
            </a:r>
            <a:r>
              <a:rPr lang="en-US" dirty="0" smtClean="0"/>
              <a:t> Knowledge</a:t>
            </a:r>
            <a:endParaRPr lang="en-US" dirty="0"/>
          </a:p>
        </p:txBody>
      </p:sp>
      <p:sp>
        <p:nvSpPr>
          <p:cNvPr id="8" name="TextBox 7"/>
          <p:cNvSpPr txBox="1"/>
          <p:nvPr/>
        </p:nvSpPr>
        <p:spPr>
          <a:xfrm>
            <a:off x="2743200" y="5574268"/>
            <a:ext cx="4114800" cy="369332"/>
          </a:xfrm>
          <a:prstGeom prst="rect">
            <a:avLst/>
          </a:prstGeom>
          <a:noFill/>
        </p:spPr>
        <p:txBody>
          <a:bodyPr wrap="square" rtlCol="0">
            <a:spAutoFit/>
          </a:bodyPr>
          <a:lstStyle/>
          <a:p>
            <a:r>
              <a:rPr lang="el-GR" dirty="0"/>
              <a:t>Λ</a:t>
            </a:r>
            <a:r>
              <a:rPr lang="en-US" dirty="0" smtClean="0"/>
              <a:t> Knowledge</a:t>
            </a:r>
            <a:endParaRPr lang="en-US" dirty="0"/>
          </a:p>
        </p:txBody>
      </p:sp>
      <p:sp>
        <p:nvSpPr>
          <p:cNvPr id="9" name="Right Arrow 8"/>
          <p:cNvSpPr/>
          <p:nvPr/>
        </p:nvSpPr>
        <p:spPr>
          <a:xfrm flipV="1">
            <a:off x="1600200" y="3124200"/>
            <a:ext cx="762000" cy="5333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rot="10800000" flipV="1">
            <a:off x="6934200" y="3124200"/>
            <a:ext cx="762000" cy="53339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381000" y="990600"/>
            <a:ext cx="1600200" cy="646331"/>
          </a:xfrm>
          <a:prstGeom prst="rect">
            <a:avLst/>
          </a:prstGeom>
          <a:noFill/>
        </p:spPr>
        <p:txBody>
          <a:bodyPr wrap="square" rtlCol="0">
            <a:spAutoFit/>
          </a:bodyPr>
          <a:lstStyle/>
          <a:p>
            <a:r>
              <a:rPr lang="en-US" dirty="0" smtClean="0"/>
              <a:t>Application Environment</a:t>
            </a:r>
            <a:endParaRPr lang="en-US" dirty="0"/>
          </a:p>
        </p:txBody>
      </p:sp>
      <p:sp>
        <p:nvSpPr>
          <p:cNvPr id="13" name="TextBox 12"/>
          <p:cNvSpPr txBox="1"/>
          <p:nvPr/>
        </p:nvSpPr>
        <p:spPr>
          <a:xfrm>
            <a:off x="381000" y="2819400"/>
            <a:ext cx="1295400" cy="1384995"/>
          </a:xfrm>
          <a:prstGeom prst="rect">
            <a:avLst/>
          </a:prstGeom>
          <a:noFill/>
        </p:spPr>
        <p:txBody>
          <a:bodyPr wrap="square" rtlCol="0">
            <a:spAutoFit/>
          </a:bodyPr>
          <a:lstStyle/>
          <a:p>
            <a:r>
              <a:rPr lang="en-US" sz="1400" dirty="0" smtClean="0"/>
              <a:t>- Research Opportunities and Problems</a:t>
            </a:r>
            <a:br>
              <a:rPr lang="en-US" sz="1400" dirty="0" smtClean="0"/>
            </a:br>
            <a:endParaRPr lang="en-US" sz="1400" dirty="0" smtClean="0"/>
          </a:p>
          <a:p>
            <a:r>
              <a:rPr lang="en-US" sz="1400" dirty="0" smtClean="0"/>
              <a:t>- Research Questions</a:t>
            </a:r>
            <a:endParaRPr lang="en-US" sz="1400" dirty="0"/>
          </a:p>
        </p:txBody>
      </p:sp>
      <p:sp>
        <p:nvSpPr>
          <p:cNvPr id="14" name="TextBox 13"/>
          <p:cNvSpPr txBox="1"/>
          <p:nvPr/>
        </p:nvSpPr>
        <p:spPr>
          <a:xfrm>
            <a:off x="7696200" y="914400"/>
            <a:ext cx="1676400" cy="646331"/>
          </a:xfrm>
          <a:prstGeom prst="rect">
            <a:avLst/>
          </a:prstGeom>
          <a:noFill/>
        </p:spPr>
        <p:txBody>
          <a:bodyPr wrap="square" rtlCol="0">
            <a:spAutoFit/>
          </a:bodyPr>
          <a:lstStyle/>
          <a:p>
            <a:r>
              <a:rPr lang="en-US" dirty="0" smtClean="0"/>
              <a:t>Human Capabilities</a:t>
            </a:r>
            <a:endParaRPr lang="en-US" dirty="0"/>
          </a:p>
        </p:txBody>
      </p:sp>
      <p:sp>
        <p:nvSpPr>
          <p:cNvPr id="15" name="TextBox 14"/>
          <p:cNvSpPr txBox="1"/>
          <p:nvPr/>
        </p:nvSpPr>
        <p:spPr>
          <a:xfrm>
            <a:off x="7696200" y="2209800"/>
            <a:ext cx="1447800" cy="2246769"/>
          </a:xfrm>
          <a:prstGeom prst="rect">
            <a:avLst/>
          </a:prstGeom>
          <a:noFill/>
        </p:spPr>
        <p:txBody>
          <a:bodyPr wrap="square" rtlCol="0">
            <a:spAutoFit/>
          </a:bodyPr>
          <a:lstStyle/>
          <a:p>
            <a:pPr>
              <a:buFontTx/>
              <a:buChar char="-"/>
            </a:pPr>
            <a:r>
              <a:rPr lang="en-US" sz="1400" dirty="0" smtClean="0"/>
              <a:t> Cognitive</a:t>
            </a:r>
            <a:endParaRPr lang="en-US" sz="1400" dirty="0" smtClean="0"/>
          </a:p>
          <a:p>
            <a:pPr marL="120650">
              <a:buFontTx/>
              <a:buChar char="-"/>
            </a:pPr>
            <a:r>
              <a:rPr lang="en-US" sz="1400" dirty="0" smtClean="0"/>
              <a:t> Creativity</a:t>
            </a:r>
            <a:endParaRPr lang="en-US" sz="1400" dirty="0" smtClean="0"/>
          </a:p>
          <a:p>
            <a:pPr marL="120650">
              <a:buFontTx/>
              <a:buChar char="-"/>
            </a:pPr>
            <a:r>
              <a:rPr lang="en-US" sz="1400" dirty="0"/>
              <a:t> </a:t>
            </a:r>
            <a:r>
              <a:rPr lang="en-US" sz="1400" dirty="0" smtClean="0"/>
              <a:t>Reasoning</a:t>
            </a:r>
            <a:endParaRPr lang="en-US" sz="1400" dirty="0" smtClean="0"/>
          </a:p>
          <a:p>
            <a:pPr marL="222250">
              <a:buFontTx/>
              <a:buChar char="-"/>
            </a:pPr>
            <a:r>
              <a:rPr lang="en-US" sz="1400" dirty="0"/>
              <a:t> </a:t>
            </a:r>
            <a:r>
              <a:rPr lang="en-US" sz="1400" dirty="0" smtClean="0"/>
              <a:t>Analysis</a:t>
            </a:r>
            <a:endParaRPr lang="en-US" sz="1400" dirty="0" smtClean="0"/>
          </a:p>
          <a:p>
            <a:pPr marL="222250">
              <a:buFontTx/>
              <a:buChar char="-"/>
            </a:pPr>
            <a:r>
              <a:rPr lang="en-US" sz="1400" dirty="0"/>
              <a:t> </a:t>
            </a:r>
            <a:r>
              <a:rPr lang="en-US" sz="1400" dirty="0" smtClean="0"/>
              <a:t>Synthesis</a:t>
            </a:r>
            <a:br>
              <a:rPr lang="en-US" sz="1400" dirty="0" smtClean="0"/>
            </a:br>
            <a:endParaRPr lang="en-US" sz="1400" dirty="0" smtClean="0"/>
          </a:p>
          <a:p>
            <a:pPr>
              <a:buFontTx/>
              <a:buChar char="-"/>
            </a:pPr>
            <a:r>
              <a:rPr lang="en-US" sz="1400" dirty="0" smtClean="0"/>
              <a:t> Social</a:t>
            </a:r>
            <a:endParaRPr lang="en-US" sz="1400" dirty="0" smtClean="0"/>
          </a:p>
          <a:p>
            <a:pPr marL="120650">
              <a:buFontTx/>
              <a:buChar char="-"/>
            </a:pPr>
            <a:r>
              <a:rPr lang="en-US" sz="1400" dirty="0" smtClean="0"/>
              <a:t> Teamwork</a:t>
            </a:r>
            <a:endParaRPr lang="en-US" sz="1400" dirty="0" smtClean="0"/>
          </a:p>
          <a:p>
            <a:pPr marL="120650">
              <a:buFontTx/>
              <a:buChar char="-"/>
            </a:pPr>
            <a:r>
              <a:rPr lang="en-US" sz="1400" dirty="0" smtClean="0"/>
              <a:t> Collective Intelligence</a:t>
            </a:r>
            <a:endParaRPr lang="en-US" sz="1400" dirty="0" smtClean="0"/>
          </a:p>
        </p:txBody>
      </p:sp>
      <p:sp>
        <p:nvSpPr>
          <p:cNvPr id="16" name="Oval 15"/>
          <p:cNvSpPr/>
          <p:nvPr/>
        </p:nvSpPr>
        <p:spPr>
          <a:xfrm>
            <a:off x="5334000" y="1524000"/>
            <a:ext cx="8382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3048000" y="1676400"/>
            <a:ext cx="5334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4114800" y="1981200"/>
            <a:ext cx="9906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a:stCxn id="16" idx="4"/>
          </p:cNvCxnSpPr>
          <p:nvPr/>
        </p:nvCxnSpPr>
        <p:spPr>
          <a:xfrm rot="5400000">
            <a:off x="4724400" y="1943100"/>
            <a:ext cx="91440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8" idx="4"/>
          </p:cNvCxnSpPr>
          <p:nvPr/>
        </p:nvCxnSpPr>
        <p:spPr>
          <a:xfrm rot="5400000">
            <a:off x="4381500" y="27432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7" idx="4"/>
          </p:cNvCxnSpPr>
          <p:nvPr/>
        </p:nvCxnSpPr>
        <p:spPr>
          <a:xfrm rot="16200000" flipH="1">
            <a:off x="3657600" y="2019300"/>
            <a:ext cx="609600"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334000" y="2286000"/>
            <a:ext cx="1066800" cy="523220"/>
          </a:xfrm>
          <a:prstGeom prst="rect">
            <a:avLst/>
          </a:prstGeom>
          <a:noFill/>
        </p:spPr>
        <p:txBody>
          <a:bodyPr wrap="square" rtlCol="0">
            <a:spAutoFit/>
          </a:bodyPr>
          <a:lstStyle/>
          <a:p>
            <a:r>
              <a:rPr lang="en-US" sz="1400" dirty="0" smtClean="0"/>
              <a:t>Knowledge Sources</a:t>
            </a:r>
            <a:endParaRPr lang="en-US" sz="1400" dirty="0"/>
          </a:p>
        </p:txBody>
      </p:sp>
      <p:sp>
        <p:nvSpPr>
          <p:cNvPr id="28" name="Rectangle 27"/>
          <p:cNvSpPr/>
          <p:nvPr/>
        </p:nvSpPr>
        <p:spPr>
          <a:xfrm>
            <a:off x="2971800" y="3810000"/>
            <a:ext cx="6858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3810000" y="38100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4724400" y="38100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5638800" y="3810000"/>
            <a:ext cx="6858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2895600" y="5029200"/>
            <a:ext cx="990600" cy="276999"/>
          </a:xfrm>
          <a:prstGeom prst="rect">
            <a:avLst/>
          </a:prstGeom>
          <a:noFill/>
        </p:spPr>
        <p:txBody>
          <a:bodyPr wrap="square" rtlCol="0">
            <a:spAutoFit/>
          </a:bodyPr>
          <a:lstStyle/>
          <a:p>
            <a:r>
              <a:rPr lang="en-US" sz="1200" dirty="0" smtClean="0"/>
              <a:t>Constructs</a:t>
            </a:r>
            <a:endParaRPr lang="en-US" sz="1200" dirty="0"/>
          </a:p>
        </p:txBody>
      </p:sp>
      <p:sp>
        <p:nvSpPr>
          <p:cNvPr id="35" name="TextBox 34"/>
          <p:cNvSpPr txBox="1"/>
          <p:nvPr/>
        </p:nvSpPr>
        <p:spPr>
          <a:xfrm>
            <a:off x="3810000" y="5029200"/>
            <a:ext cx="838200" cy="276999"/>
          </a:xfrm>
          <a:prstGeom prst="rect">
            <a:avLst/>
          </a:prstGeom>
          <a:noFill/>
        </p:spPr>
        <p:txBody>
          <a:bodyPr wrap="square" rtlCol="0">
            <a:spAutoFit/>
          </a:bodyPr>
          <a:lstStyle/>
          <a:p>
            <a:r>
              <a:rPr lang="en-US" sz="1200" dirty="0" smtClean="0"/>
              <a:t>Models</a:t>
            </a:r>
            <a:endParaRPr lang="en-US" sz="1200" dirty="0"/>
          </a:p>
        </p:txBody>
      </p:sp>
      <p:sp>
        <p:nvSpPr>
          <p:cNvPr id="37" name="TextBox 36"/>
          <p:cNvSpPr txBox="1"/>
          <p:nvPr/>
        </p:nvSpPr>
        <p:spPr>
          <a:xfrm>
            <a:off x="4648200" y="5029200"/>
            <a:ext cx="838200" cy="276999"/>
          </a:xfrm>
          <a:prstGeom prst="rect">
            <a:avLst/>
          </a:prstGeom>
          <a:noFill/>
        </p:spPr>
        <p:txBody>
          <a:bodyPr wrap="square" rtlCol="0">
            <a:spAutoFit/>
          </a:bodyPr>
          <a:lstStyle/>
          <a:p>
            <a:r>
              <a:rPr lang="en-US" sz="1200" dirty="0" smtClean="0"/>
              <a:t>Methods</a:t>
            </a:r>
            <a:endParaRPr lang="en-US" sz="1200" dirty="0"/>
          </a:p>
        </p:txBody>
      </p:sp>
      <p:sp>
        <p:nvSpPr>
          <p:cNvPr id="38" name="TextBox 37"/>
          <p:cNvSpPr txBox="1"/>
          <p:nvPr/>
        </p:nvSpPr>
        <p:spPr>
          <a:xfrm>
            <a:off x="5410200" y="5029200"/>
            <a:ext cx="1219200" cy="276999"/>
          </a:xfrm>
          <a:prstGeom prst="rect">
            <a:avLst/>
          </a:prstGeom>
          <a:noFill/>
        </p:spPr>
        <p:txBody>
          <a:bodyPr wrap="square" rtlCol="0">
            <a:spAutoFit/>
          </a:bodyPr>
          <a:lstStyle/>
          <a:p>
            <a:r>
              <a:rPr lang="en-US" sz="1200" dirty="0" smtClean="0"/>
              <a:t>Instantiations</a:t>
            </a:r>
            <a:endParaRPr lang="en-US" sz="1200" dirty="0"/>
          </a:p>
        </p:txBody>
      </p:sp>
      <p:sp>
        <p:nvSpPr>
          <p:cNvPr id="45" name="Rectangle 44"/>
          <p:cNvSpPr/>
          <p:nvPr/>
        </p:nvSpPr>
        <p:spPr>
          <a:xfrm>
            <a:off x="3048000" y="48006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3048000" y="44958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p:cNvSpPr/>
          <p:nvPr/>
        </p:nvSpPr>
        <p:spPr>
          <a:xfrm>
            <a:off x="3962400" y="48006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p:cNvSpPr/>
          <p:nvPr/>
        </p:nvSpPr>
        <p:spPr>
          <a:xfrm>
            <a:off x="3962400" y="45720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3962400" y="43434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4876800" y="48006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5715000" y="48006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4876800" y="45720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4876800" y="43434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p:cNvSpPr txBox="1"/>
          <p:nvPr/>
        </p:nvSpPr>
        <p:spPr>
          <a:xfrm>
            <a:off x="5029200" y="3048000"/>
            <a:ext cx="1676400" cy="523220"/>
          </a:xfrm>
          <a:prstGeom prst="rect">
            <a:avLst/>
          </a:prstGeom>
          <a:noFill/>
        </p:spPr>
        <p:txBody>
          <a:bodyPr wrap="square" rtlCol="0">
            <a:spAutoFit/>
          </a:bodyPr>
          <a:lstStyle/>
          <a:p>
            <a:r>
              <a:rPr lang="en-US" sz="1400" dirty="0" smtClean="0"/>
              <a:t>Informing </a:t>
            </a:r>
            <a:br>
              <a:rPr lang="en-US" sz="1400" dirty="0" smtClean="0"/>
            </a:br>
            <a:r>
              <a:rPr lang="el-GR" sz="1400" dirty="0" smtClean="0"/>
              <a:t>Ω </a:t>
            </a:r>
            <a:r>
              <a:rPr lang="en-US" sz="1400" dirty="0" smtClean="0"/>
              <a:t>Knowledge</a:t>
            </a:r>
            <a:endParaRPr lang="en-US" sz="1400" dirty="0"/>
          </a:p>
        </p:txBody>
      </p:sp>
      <p:sp>
        <p:nvSpPr>
          <p:cNvPr id="58" name="TextBox 57"/>
          <p:cNvSpPr txBox="1"/>
          <p:nvPr/>
        </p:nvSpPr>
        <p:spPr>
          <a:xfrm>
            <a:off x="457200" y="228600"/>
            <a:ext cx="4419600" cy="461665"/>
          </a:xfrm>
          <a:prstGeom prst="rect">
            <a:avLst/>
          </a:prstGeom>
          <a:noFill/>
        </p:spPr>
        <p:txBody>
          <a:bodyPr wrap="square" rtlCol="0">
            <a:spAutoFit/>
          </a:bodyPr>
          <a:lstStyle/>
          <a:p>
            <a:r>
              <a:rPr lang="en-US" sz="2400" b="1" dirty="0" smtClean="0">
                <a:solidFill>
                  <a:schemeClr val="accent1"/>
                </a:solidFill>
              </a:rPr>
              <a:t>The DSR Process</a:t>
            </a:r>
            <a:endParaRPr lang="en-US" sz="2400" b="1" dirty="0">
              <a:solidFill>
                <a:schemeClr val="accent1"/>
              </a:solidFill>
            </a:endParaRPr>
          </a:p>
        </p:txBody>
      </p:sp>
      <p:sp>
        <p:nvSpPr>
          <p:cNvPr id="59" name="Slide Number Placeholder 58"/>
          <p:cNvSpPr>
            <a:spLocks noGrp="1"/>
          </p:cNvSpPr>
          <p:nvPr>
            <p:ph type="sldNum" sz="quarter" idx="12"/>
          </p:nvPr>
        </p:nvSpPr>
        <p:spPr/>
        <p:txBody>
          <a:bodyPr/>
          <a:lstStyle/>
          <a:p>
            <a:fld id="{A2982359-B7F1-4A1C-A7D7-B0DDBF714392}" type="slidenum">
              <a:rPr lang="en-US" smtClean="0"/>
            </a:fld>
            <a:endParaRPr lang="en-US" dirty="0"/>
          </a:p>
        </p:txBody>
      </p:sp>
      <p:sp>
        <p:nvSpPr>
          <p:cNvPr id="65" name="Up-Down Arrow 64"/>
          <p:cNvSpPr/>
          <p:nvPr/>
        </p:nvSpPr>
        <p:spPr>
          <a:xfrm>
            <a:off x="4419600" y="2971800"/>
            <a:ext cx="457200" cy="6858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p:cNvSpPr txBox="1"/>
          <p:nvPr/>
        </p:nvSpPr>
        <p:spPr>
          <a:xfrm>
            <a:off x="2743200" y="3048000"/>
            <a:ext cx="1524000" cy="523220"/>
          </a:xfrm>
          <a:prstGeom prst="rect">
            <a:avLst/>
          </a:prstGeom>
          <a:noFill/>
        </p:spPr>
        <p:txBody>
          <a:bodyPr wrap="square" rtlCol="0">
            <a:spAutoFit/>
          </a:bodyPr>
          <a:lstStyle/>
          <a:p>
            <a:r>
              <a:rPr lang="en-US" sz="1400" dirty="0" smtClean="0"/>
              <a:t>Contribution to </a:t>
            </a:r>
            <a:r>
              <a:rPr lang="el-GR" sz="1400" dirty="0" smtClean="0"/>
              <a:t>Ω </a:t>
            </a:r>
            <a:r>
              <a:rPr lang="en-US" sz="1400" dirty="0" smtClean="0"/>
              <a:t> Knowledge</a:t>
            </a:r>
            <a:endParaRPr lang="en-US" sz="1400" dirty="0"/>
          </a:p>
        </p:txBody>
      </p:sp>
      <p:sp>
        <p:nvSpPr>
          <p:cNvPr id="19" name="Rectangle 18"/>
          <p:cNvSpPr/>
          <p:nvPr/>
        </p:nvSpPr>
        <p:spPr>
          <a:xfrm>
            <a:off x="3314700" y="5306199"/>
            <a:ext cx="2667000" cy="26806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3314700" y="5297177"/>
            <a:ext cx="2667000" cy="276999"/>
          </a:xfrm>
          <a:prstGeom prst="rect">
            <a:avLst/>
          </a:prstGeom>
          <a:noFill/>
        </p:spPr>
        <p:txBody>
          <a:bodyPr wrap="square" rtlCol="0">
            <a:spAutoFit/>
          </a:bodyPr>
          <a:lstStyle/>
          <a:p>
            <a:pPr algn="ctr"/>
            <a:r>
              <a:rPr lang="en-US" sz="1200" dirty="0" smtClean="0"/>
              <a:t>Design Theory</a:t>
            </a:r>
            <a:endParaRPr lang="en-US" sz="1200" dirty="0"/>
          </a:p>
        </p:txBody>
      </p:sp>
    </p:spTree>
  </p:cSld>
  <p:clrMapOvr>
    <a:masterClrMapping/>
  </p:clrMapOvr>
  <p:transition spd="slow">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grpSp>
        <p:nvGrpSpPr>
          <p:cNvPr id="2" name="Group 70"/>
          <p:cNvGrpSpPr/>
          <p:nvPr/>
        </p:nvGrpSpPr>
        <p:grpSpPr>
          <a:xfrm>
            <a:off x="228600" y="762000"/>
            <a:ext cx="2514600" cy="5486400"/>
            <a:chOff x="2286000" y="685800"/>
            <a:chExt cx="4572000" cy="5486400"/>
          </a:xfrm>
        </p:grpSpPr>
        <p:sp>
          <p:nvSpPr>
            <p:cNvPr id="37" name="Rounded Rectangle 36"/>
            <p:cNvSpPr/>
            <p:nvPr/>
          </p:nvSpPr>
          <p:spPr>
            <a:xfrm>
              <a:off x="2286000" y="685800"/>
              <a:ext cx="4572000" cy="5486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2743200" y="1143000"/>
              <a:ext cx="3657600" cy="18288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743200" y="3886200"/>
              <a:ext cx="3657600" cy="20574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p:cNvSpPr txBox="1"/>
            <p:nvPr/>
          </p:nvSpPr>
          <p:spPr>
            <a:xfrm>
              <a:off x="2743200" y="1143000"/>
              <a:ext cx="3620530" cy="369332"/>
            </a:xfrm>
            <a:prstGeom prst="rect">
              <a:avLst/>
            </a:prstGeom>
            <a:noFill/>
          </p:spPr>
          <p:txBody>
            <a:bodyPr wrap="square" rtlCol="0">
              <a:spAutoFit/>
            </a:bodyPr>
            <a:lstStyle/>
            <a:p>
              <a:r>
                <a:rPr lang="el-GR" dirty="0" smtClean="0"/>
                <a:t>Ω</a:t>
              </a:r>
              <a:r>
                <a:rPr lang="en-US" baseline="-25000" dirty="0"/>
                <a:t>1</a:t>
              </a:r>
              <a:r>
                <a:rPr lang="en-US" dirty="0" smtClean="0"/>
                <a:t> Knowledge</a:t>
              </a:r>
              <a:endParaRPr lang="en-US" dirty="0"/>
            </a:p>
          </p:txBody>
        </p:sp>
        <p:sp>
          <p:nvSpPr>
            <p:cNvPr id="41" name="TextBox 40"/>
            <p:cNvSpPr txBox="1"/>
            <p:nvPr/>
          </p:nvSpPr>
          <p:spPr>
            <a:xfrm>
              <a:off x="2780271" y="5574268"/>
              <a:ext cx="3583458" cy="369332"/>
            </a:xfrm>
            <a:prstGeom prst="rect">
              <a:avLst/>
            </a:prstGeom>
            <a:noFill/>
          </p:spPr>
          <p:txBody>
            <a:bodyPr wrap="square" rtlCol="0">
              <a:spAutoFit/>
            </a:bodyPr>
            <a:lstStyle/>
            <a:p>
              <a:r>
                <a:rPr lang="el-GR" dirty="0" smtClean="0"/>
                <a:t>Λ</a:t>
              </a:r>
              <a:r>
                <a:rPr lang="en-US" baseline="-25000" dirty="0" smtClean="0"/>
                <a:t>1</a:t>
              </a:r>
              <a:r>
                <a:rPr lang="en-US" dirty="0" smtClean="0"/>
                <a:t> Knowledge</a:t>
              </a:r>
              <a:endParaRPr lang="en-US" dirty="0"/>
            </a:p>
          </p:txBody>
        </p:sp>
        <p:sp>
          <p:nvSpPr>
            <p:cNvPr id="44" name="Oval 43"/>
            <p:cNvSpPr/>
            <p:nvPr/>
          </p:nvSpPr>
          <p:spPr>
            <a:xfrm>
              <a:off x="2971800" y="2057400"/>
              <a:ext cx="422564"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4364182" y="2133600"/>
              <a:ext cx="665018"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Arrow Connector 46"/>
            <p:cNvCxnSpPr>
              <a:stCxn id="45" idx="4"/>
            </p:cNvCxnSpPr>
            <p:nvPr/>
          </p:nvCxnSpPr>
          <p:spPr>
            <a:xfrm rot="5400000">
              <a:off x="4386697" y="2661805"/>
              <a:ext cx="457201" cy="1627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4" idx="4"/>
            </p:cNvCxnSpPr>
            <p:nvPr/>
          </p:nvCxnSpPr>
          <p:spPr>
            <a:xfrm rot="16200000" flipH="1">
              <a:off x="3553691" y="1991590"/>
              <a:ext cx="609601" cy="13508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2895600" y="4038600"/>
              <a:ext cx="6858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3733800" y="40386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4648200" y="40386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5562600" y="4038600"/>
              <a:ext cx="6858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29718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38862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48006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a:off x="56388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p:cNvSpPr/>
            <p:nvPr/>
          </p:nvSpPr>
          <p:spPr>
            <a:xfrm>
              <a:off x="4800600" y="48006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71"/>
          <p:cNvGrpSpPr/>
          <p:nvPr/>
        </p:nvGrpSpPr>
        <p:grpSpPr>
          <a:xfrm>
            <a:off x="3124200" y="749969"/>
            <a:ext cx="2514600" cy="5486400"/>
            <a:chOff x="2286000" y="685800"/>
            <a:chExt cx="4572000" cy="5486400"/>
          </a:xfrm>
        </p:grpSpPr>
        <p:sp>
          <p:nvSpPr>
            <p:cNvPr id="73" name="Rounded Rectangle 72"/>
            <p:cNvSpPr/>
            <p:nvPr/>
          </p:nvSpPr>
          <p:spPr>
            <a:xfrm>
              <a:off x="2286000" y="685800"/>
              <a:ext cx="4572000" cy="5486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2743200" y="1143000"/>
              <a:ext cx="3657600" cy="18288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p:cNvSpPr/>
            <p:nvPr/>
          </p:nvSpPr>
          <p:spPr>
            <a:xfrm>
              <a:off x="2743200" y="3886200"/>
              <a:ext cx="3657600" cy="20574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p:cNvSpPr txBox="1"/>
            <p:nvPr/>
          </p:nvSpPr>
          <p:spPr>
            <a:xfrm>
              <a:off x="2743200" y="1143000"/>
              <a:ext cx="3620530" cy="369332"/>
            </a:xfrm>
            <a:prstGeom prst="rect">
              <a:avLst/>
            </a:prstGeom>
            <a:noFill/>
          </p:spPr>
          <p:txBody>
            <a:bodyPr wrap="square" rtlCol="0">
              <a:spAutoFit/>
            </a:bodyPr>
            <a:lstStyle/>
            <a:p>
              <a:r>
                <a:rPr lang="el-GR" dirty="0" smtClean="0"/>
                <a:t>Ω</a:t>
              </a:r>
              <a:r>
                <a:rPr lang="en-US" baseline="-25000" dirty="0" smtClean="0"/>
                <a:t>2</a:t>
              </a:r>
              <a:r>
                <a:rPr lang="en-US" dirty="0" smtClean="0"/>
                <a:t> Knowledge</a:t>
              </a:r>
              <a:endParaRPr lang="en-US" dirty="0"/>
            </a:p>
          </p:txBody>
        </p:sp>
        <p:sp>
          <p:nvSpPr>
            <p:cNvPr id="77" name="TextBox 76"/>
            <p:cNvSpPr txBox="1"/>
            <p:nvPr/>
          </p:nvSpPr>
          <p:spPr>
            <a:xfrm>
              <a:off x="2780269" y="5574268"/>
              <a:ext cx="3583458" cy="369332"/>
            </a:xfrm>
            <a:prstGeom prst="rect">
              <a:avLst/>
            </a:prstGeom>
            <a:noFill/>
          </p:spPr>
          <p:txBody>
            <a:bodyPr wrap="square" rtlCol="0">
              <a:spAutoFit/>
            </a:bodyPr>
            <a:lstStyle/>
            <a:p>
              <a:r>
                <a:rPr lang="el-GR" dirty="0" smtClean="0"/>
                <a:t>Λ</a:t>
              </a:r>
              <a:r>
                <a:rPr lang="en-US" baseline="-25000" dirty="0" smtClean="0"/>
                <a:t>2</a:t>
              </a:r>
              <a:r>
                <a:rPr lang="en-US" dirty="0" smtClean="0"/>
                <a:t> Knowledge</a:t>
              </a:r>
              <a:endParaRPr lang="en-US" dirty="0"/>
            </a:p>
          </p:txBody>
        </p:sp>
        <p:sp>
          <p:nvSpPr>
            <p:cNvPr id="79" name="Oval 78"/>
            <p:cNvSpPr/>
            <p:nvPr/>
          </p:nvSpPr>
          <p:spPr>
            <a:xfrm>
              <a:off x="5257800" y="1752600"/>
              <a:ext cx="630382"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p:cNvSpPr/>
            <p:nvPr/>
          </p:nvSpPr>
          <p:spPr>
            <a:xfrm>
              <a:off x="2971800" y="1828800"/>
              <a:ext cx="422564"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p:cNvSpPr/>
            <p:nvPr/>
          </p:nvSpPr>
          <p:spPr>
            <a:xfrm>
              <a:off x="4038600" y="1981200"/>
              <a:ext cx="9906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p:cNvCxnSpPr>
              <a:stCxn id="79" idx="4"/>
            </p:cNvCxnSpPr>
            <p:nvPr/>
          </p:nvCxnSpPr>
          <p:spPr>
            <a:xfrm rot="5400000">
              <a:off x="4596248" y="1995056"/>
              <a:ext cx="914401" cy="10390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81" idx="4"/>
            </p:cNvCxnSpPr>
            <p:nvPr/>
          </p:nvCxnSpPr>
          <p:spPr>
            <a:xfrm rot="16200000" flipH="1">
              <a:off x="4305300" y="2743199"/>
              <a:ext cx="457201"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80" idx="4"/>
            </p:cNvCxnSpPr>
            <p:nvPr/>
          </p:nvCxnSpPr>
          <p:spPr>
            <a:xfrm rot="16200000" flipH="1">
              <a:off x="3553691" y="1991590"/>
              <a:ext cx="609601" cy="13508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5" name="Rectangle 84"/>
            <p:cNvSpPr/>
            <p:nvPr/>
          </p:nvSpPr>
          <p:spPr>
            <a:xfrm>
              <a:off x="2895600" y="4038600"/>
              <a:ext cx="6858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3733800" y="40386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p:cNvSpPr/>
            <p:nvPr/>
          </p:nvSpPr>
          <p:spPr>
            <a:xfrm>
              <a:off x="4648200" y="40386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p:cNvSpPr/>
            <p:nvPr/>
          </p:nvSpPr>
          <p:spPr>
            <a:xfrm>
              <a:off x="5562600" y="4038600"/>
              <a:ext cx="6858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p:cNvSpPr/>
            <p:nvPr/>
          </p:nvSpPr>
          <p:spPr>
            <a:xfrm>
              <a:off x="29718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p:cNvSpPr/>
            <p:nvPr/>
          </p:nvSpPr>
          <p:spPr>
            <a:xfrm>
              <a:off x="2971800" y="47244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38862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a:off x="3886200" y="48006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48006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56388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p:cNvSpPr/>
            <p:nvPr/>
          </p:nvSpPr>
          <p:spPr>
            <a:xfrm>
              <a:off x="4800600" y="48006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4800600" y="45720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98"/>
          <p:cNvGrpSpPr/>
          <p:nvPr/>
        </p:nvGrpSpPr>
        <p:grpSpPr>
          <a:xfrm>
            <a:off x="6400800" y="762000"/>
            <a:ext cx="2514600" cy="5486400"/>
            <a:chOff x="2286000" y="685800"/>
            <a:chExt cx="4572000" cy="5486400"/>
          </a:xfrm>
        </p:grpSpPr>
        <p:sp>
          <p:nvSpPr>
            <p:cNvPr id="100" name="Rounded Rectangle 99"/>
            <p:cNvSpPr/>
            <p:nvPr/>
          </p:nvSpPr>
          <p:spPr>
            <a:xfrm>
              <a:off x="2286000" y="685800"/>
              <a:ext cx="4572000" cy="54864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p:cNvSpPr/>
            <p:nvPr/>
          </p:nvSpPr>
          <p:spPr>
            <a:xfrm>
              <a:off x="2743200" y="1143000"/>
              <a:ext cx="3657600" cy="18288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p:cNvSpPr/>
            <p:nvPr/>
          </p:nvSpPr>
          <p:spPr>
            <a:xfrm>
              <a:off x="2743200" y="3886200"/>
              <a:ext cx="3657600" cy="20574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p:cNvSpPr txBox="1"/>
            <p:nvPr/>
          </p:nvSpPr>
          <p:spPr>
            <a:xfrm>
              <a:off x="2743200" y="1143000"/>
              <a:ext cx="3620530" cy="369332"/>
            </a:xfrm>
            <a:prstGeom prst="rect">
              <a:avLst/>
            </a:prstGeom>
            <a:noFill/>
          </p:spPr>
          <p:txBody>
            <a:bodyPr wrap="square" rtlCol="0">
              <a:spAutoFit/>
            </a:bodyPr>
            <a:lstStyle/>
            <a:p>
              <a:r>
                <a:rPr lang="el-GR" dirty="0" smtClean="0"/>
                <a:t>Ω</a:t>
              </a:r>
              <a:r>
                <a:rPr lang="en-US" baseline="-25000" dirty="0" smtClean="0"/>
                <a:t>n</a:t>
              </a:r>
              <a:r>
                <a:rPr lang="en-US" dirty="0" smtClean="0"/>
                <a:t> Knowledge</a:t>
              </a:r>
              <a:endParaRPr lang="en-US" dirty="0"/>
            </a:p>
          </p:txBody>
        </p:sp>
        <p:sp>
          <p:nvSpPr>
            <p:cNvPr id="104" name="TextBox 103"/>
            <p:cNvSpPr txBox="1"/>
            <p:nvPr/>
          </p:nvSpPr>
          <p:spPr>
            <a:xfrm>
              <a:off x="2807351" y="5574268"/>
              <a:ext cx="3583458" cy="369332"/>
            </a:xfrm>
            <a:prstGeom prst="rect">
              <a:avLst/>
            </a:prstGeom>
            <a:noFill/>
          </p:spPr>
          <p:txBody>
            <a:bodyPr wrap="square" rtlCol="0">
              <a:spAutoFit/>
            </a:bodyPr>
            <a:lstStyle/>
            <a:p>
              <a:r>
                <a:rPr lang="el-GR" dirty="0" smtClean="0"/>
                <a:t>Λ</a:t>
              </a:r>
              <a:r>
                <a:rPr lang="en-US" baseline="-25000" dirty="0" smtClean="0"/>
                <a:t>n</a:t>
              </a:r>
              <a:r>
                <a:rPr lang="en-US" dirty="0" smtClean="0"/>
                <a:t> Knowledge</a:t>
              </a:r>
              <a:endParaRPr lang="en-US" dirty="0"/>
            </a:p>
          </p:txBody>
        </p:sp>
        <p:sp>
          <p:nvSpPr>
            <p:cNvPr id="106" name="Oval 105"/>
            <p:cNvSpPr/>
            <p:nvPr/>
          </p:nvSpPr>
          <p:spPr>
            <a:xfrm>
              <a:off x="5257800" y="1524000"/>
              <a:ext cx="8382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p:cNvSpPr/>
            <p:nvPr/>
          </p:nvSpPr>
          <p:spPr>
            <a:xfrm>
              <a:off x="2971800" y="1676400"/>
              <a:ext cx="533400" cy="685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p:cNvSpPr/>
            <p:nvPr/>
          </p:nvSpPr>
          <p:spPr>
            <a:xfrm>
              <a:off x="4038600" y="1981200"/>
              <a:ext cx="9906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Arrow Connector 108"/>
            <p:cNvCxnSpPr>
              <a:stCxn id="106" idx="4"/>
            </p:cNvCxnSpPr>
            <p:nvPr/>
          </p:nvCxnSpPr>
          <p:spPr>
            <a:xfrm rot="5400000">
              <a:off x="4648201" y="1943101"/>
              <a:ext cx="914401" cy="11429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0" name="Straight Arrow Connector 109"/>
            <p:cNvCxnSpPr>
              <a:stCxn id="108" idx="4"/>
            </p:cNvCxnSpPr>
            <p:nvPr/>
          </p:nvCxnSpPr>
          <p:spPr>
            <a:xfrm rot="16200000" flipH="1">
              <a:off x="4305300" y="2743199"/>
              <a:ext cx="457201"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107" idx="4"/>
            </p:cNvCxnSpPr>
            <p:nvPr/>
          </p:nvCxnSpPr>
          <p:spPr>
            <a:xfrm rot="16200000" flipH="1">
              <a:off x="3581400" y="2019299"/>
              <a:ext cx="609601" cy="12954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2" name="Rectangle 111"/>
            <p:cNvSpPr/>
            <p:nvPr/>
          </p:nvSpPr>
          <p:spPr>
            <a:xfrm>
              <a:off x="2895600" y="4038600"/>
              <a:ext cx="6858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p:cNvSpPr/>
            <p:nvPr/>
          </p:nvSpPr>
          <p:spPr>
            <a:xfrm>
              <a:off x="3733800" y="40386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4648200" y="4038600"/>
              <a:ext cx="762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p:cNvSpPr/>
            <p:nvPr/>
          </p:nvSpPr>
          <p:spPr>
            <a:xfrm>
              <a:off x="5562600" y="4038600"/>
              <a:ext cx="6858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a:off x="29718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p:cNvSpPr/>
            <p:nvPr/>
          </p:nvSpPr>
          <p:spPr>
            <a:xfrm>
              <a:off x="2971800" y="47244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38862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a:off x="3886200" y="48006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p:cNvSpPr/>
            <p:nvPr/>
          </p:nvSpPr>
          <p:spPr>
            <a:xfrm>
              <a:off x="3886200" y="45720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p:cNvSpPr/>
            <p:nvPr/>
          </p:nvSpPr>
          <p:spPr>
            <a:xfrm>
              <a:off x="48006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p:cNvSpPr/>
            <p:nvPr/>
          </p:nvSpPr>
          <p:spPr>
            <a:xfrm>
              <a:off x="5638800" y="50292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p:cNvSpPr/>
            <p:nvPr/>
          </p:nvSpPr>
          <p:spPr>
            <a:xfrm>
              <a:off x="4800600" y="48006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p:cNvSpPr/>
            <p:nvPr/>
          </p:nvSpPr>
          <p:spPr>
            <a:xfrm>
              <a:off x="4800600" y="4572000"/>
              <a:ext cx="4572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8" name="TextBox 127"/>
          <p:cNvSpPr txBox="1"/>
          <p:nvPr/>
        </p:nvSpPr>
        <p:spPr>
          <a:xfrm>
            <a:off x="533400" y="838200"/>
            <a:ext cx="2133600" cy="381000"/>
          </a:xfrm>
          <a:prstGeom prst="rect">
            <a:avLst/>
          </a:prstGeom>
          <a:noFill/>
        </p:spPr>
        <p:txBody>
          <a:bodyPr wrap="square" rtlCol="0">
            <a:spAutoFit/>
          </a:bodyPr>
          <a:lstStyle/>
          <a:p>
            <a:r>
              <a:rPr lang="en-US" dirty="0" smtClean="0"/>
              <a:t>Design Cycle 1</a:t>
            </a:r>
            <a:endParaRPr lang="en-US" dirty="0"/>
          </a:p>
        </p:txBody>
      </p:sp>
      <p:sp>
        <p:nvSpPr>
          <p:cNvPr id="129" name="TextBox 128"/>
          <p:cNvSpPr txBox="1"/>
          <p:nvPr/>
        </p:nvSpPr>
        <p:spPr>
          <a:xfrm>
            <a:off x="3276600" y="838200"/>
            <a:ext cx="2133600" cy="381000"/>
          </a:xfrm>
          <a:prstGeom prst="rect">
            <a:avLst/>
          </a:prstGeom>
          <a:noFill/>
        </p:spPr>
        <p:txBody>
          <a:bodyPr wrap="square" rtlCol="0">
            <a:spAutoFit/>
          </a:bodyPr>
          <a:lstStyle/>
          <a:p>
            <a:r>
              <a:rPr lang="en-US" dirty="0" smtClean="0"/>
              <a:t>Design Cycle 2</a:t>
            </a:r>
            <a:endParaRPr lang="en-US" dirty="0"/>
          </a:p>
        </p:txBody>
      </p:sp>
      <p:sp>
        <p:nvSpPr>
          <p:cNvPr id="130" name="TextBox 129"/>
          <p:cNvSpPr txBox="1"/>
          <p:nvPr/>
        </p:nvSpPr>
        <p:spPr>
          <a:xfrm>
            <a:off x="6705600" y="838200"/>
            <a:ext cx="2133600" cy="381000"/>
          </a:xfrm>
          <a:prstGeom prst="rect">
            <a:avLst/>
          </a:prstGeom>
          <a:noFill/>
        </p:spPr>
        <p:txBody>
          <a:bodyPr wrap="square" rtlCol="0">
            <a:spAutoFit/>
          </a:bodyPr>
          <a:lstStyle/>
          <a:p>
            <a:r>
              <a:rPr lang="en-US" dirty="0" smtClean="0"/>
              <a:t>Design Cycle n</a:t>
            </a:r>
            <a:endParaRPr lang="en-US" dirty="0"/>
          </a:p>
        </p:txBody>
      </p:sp>
      <p:sp>
        <p:nvSpPr>
          <p:cNvPr id="133" name="Oval 132"/>
          <p:cNvSpPr/>
          <p:nvPr/>
        </p:nvSpPr>
        <p:spPr>
          <a:xfrm>
            <a:off x="8153400" y="2514600"/>
            <a:ext cx="3810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5" name="Straight Arrow Connector 134"/>
          <p:cNvCxnSpPr>
            <a:stCxn id="133" idx="2"/>
          </p:cNvCxnSpPr>
          <p:nvPr/>
        </p:nvCxnSpPr>
        <p:spPr>
          <a:xfrm rot="10800000" flipV="1">
            <a:off x="7658100" y="2705100"/>
            <a:ext cx="495300" cy="3429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7" name="Rectangle 136"/>
          <p:cNvSpPr/>
          <p:nvPr/>
        </p:nvSpPr>
        <p:spPr>
          <a:xfrm>
            <a:off x="7772400" y="4419600"/>
            <a:ext cx="25146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p:cNvSpPr/>
          <p:nvPr/>
        </p:nvSpPr>
        <p:spPr>
          <a:xfrm>
            <a:off x="8229600" y="4800600"/>
            <a:ext cx="25146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ight Arrow 138"/>
          <p:cNvSpPr/>
          <p:nvPr/>
        </p:nvSpPr>
        <p:spPr>
          <a:xfrm>
            <a:off x="2743200" y="3276600"/>
            <a:ext cx="3810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ight Arrow 139"/>
          <p:cNvSpPr/>
          <p:nvPr/>
        </p:nvSpPr>
        <p:spPr>
          <a:xfrm>
            <a:off x="5638800" y="3276600"/>
            <a:ext cx="3048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ight Arrow 140"/>
          <p:cNvSpPr/>
          <p:nvPr/>
        </p:nvSpPr>
        <p:spPr>
          <a:xfrm>
            <a:off x="6096000" y="3276600"/>
            <a:ext cx="3048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TextBox 141"/>
          <p:cNvSpPr txBox="1"/>
          <p:nvPr/>
        </p:nvSpPr>
        <p:spPr>
          <a:xfrm>
            <a:off x="5638800" y="1676400"/>
            <a:ext cx="762000" cy="369332"/>
          </a:xfrm>
          <a:prstGeom prst="rect">
            <a:avLst/>
          </a:prstGeom>
          <a:noFill/>
        </p:spPr>
        <p:txBody>
          <a:bodyPr wrap="square" rtlCol="0">
            <a:spAutoFit/>
          </a:bodyPr>
          <a:lstStyle/>
          <a:p>
            <a:r>
              <a:rPr lang="en-US" dirty="0" smtClean="0"/>
              <a:t> …  …</a:t>
            </a:r>
            <a:endParaRPr lang="en-US" dirty="0"/>
          </a:p>
        </p:txBody>
      </p:sp>
      <p:sp>
        <p:nvSpPr>
          <p:cNvPr id="143" name="TextBox 142"/>
          <p:cNvSpPr txBox="1"/>
          <p:nvPr/>
        </p:nvSpPr>
        <p:spPr>
          <a:xfrm>
            <a:off x="5638800" y="4648200"/>
            <a:ext cx="762000" cy="369332"/>
          </a:xfrm>
          <a:prstGeom prst="rect">
            <a:avLst/>
          </a:prstGeom>
          <a:noFill/>
        </p:spPr>
        <p:txBody>
          <a:bodyPr wrap="square" rtlCol="0">
            <a:spAutoFit/>
          </a:bodyPr>
          <a:lstStyle/>
          <a:p>
            <a:r>
              <a:rPr lang="en-US" dirty="0" smtClean="0"/>
              <a:t> …  …</a:t>
            </a:r>
            <a:endParaRPr lang="en-US" dirty="0"/>
          </a:p>
        </p:txBody>
      </p:sp>
      <p:sp>
        <p:nvSpPr>
          <p:cNvPr id="99" name="Slide Number Placeholder 98"/>
          <p:cNvSpPr>
            <a:spLocks noGrp="1"/>
          </p:cNvSpPr>
          <p:nvPr>
            <p:ph type="sldNum" sz="quarter" idx="12"/>
          </p:nvPr>
        </p:nvSpPr>
        <p:spPr/>
        <p:txBody>
          <a:bodyPr/>
          <a:lstStyle/>
          <a:p>
            <a:fld id="{A2982359-B7F1-4A1C-A7D7-B0DDBF714392}" type="slidenum">
              <a:rPr lang="en-US" smtClean="0"/>
            </a:fld>
            <a:endParaRPr lang="en-US" dirty="0"/>
          </a:p>
        </p:txBody>
      </p:sp>
      <p:sp>
        <p:nvSpPr>
          <p:cNvPr id="127" name="Up-Down Arrow 126"/>
          <p:cNvSpPr/>
          <p:nvPr/>
        </p:nvSpPr>
        <p:spPr>
          <a:xfrm>
            <a:off x="1295400" y="3048000"/>
            <a:ext cx="304800" cy="9144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Up-Down Arrow 130"/>
          <p:cNvSpPr/>
          <p:nvPr/>
        </p:nvSpPr>
        <p:spPr>
          <a:xfrm>
            <a:off x="4191000" y="3048000"/>
            <a:ext cx="304800" cy="9144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Up-Down Arrow 131"/>
          <p:cNvSpPr/>
          <p:nvPr/>
        </p:nvSpPr>
        <p:spPr>
          <a:xfrm>
            <a:off x="7467600" y="3048000"/>
            <a:ext cx="304800" cy="9144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TextBox 133"/>
          <p:cNvSpPr txBox="1"/>
          <p:nvPr/>
        </p:nvSpPr>
        <p:spPr>
          <a:xfrm>
            <a:off x="457200" y="304800"/>
            <a:ext cx="6400800" cy="461665"/>
          </a:xfrm>
          <a:prstGeom prst="rect">
            <a:avLst/>
          </a:prstGeom>
          <a:noFill/>
        </p:spPr>
        <p:txBody>
          <a:bodyPr wrap="square" rtlCol="0">
            <a:spAutoFit/>
          </a:bodyPr>
          <a:lstStyle/>
          <a:p>
            <a:r>
              <a:rPr lang="en-US" sz="2400" b="1" dirty="0" smtClean="0">
                <a:solidFill>
                  <a:schemeClr val="tx2"/>
                </a:solidFill>
              </a:rPr>
              <a:t>Knowledge Growth in DSR Cycles</a:t>
            </a:r>
            <a:endParaRPr lang="en-US" sz="2400" b="1" dirty="0">
              <a:solidFill>
                <a:schemeClr val="tx2"/>
              </a:solidFill>
            </a:endParaRPr>
          </a:p>
        </p:txBody>
      </p:sp>
      <p:sp>
        <p:nvSpPr>
          <p:cNvPr id="6" name="Rectangle 5"/>
          <p:cNvSpPr/>
          <p:nvPr/>
        </p:nvSpPr>
        <p:spPr>
          <a:xfrm>
            <a:off x="752475" y="5492234"/>
            <a:ext cx="1466850" cy="1582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p:cNvSpPr/>
          <p:nvPr/>
        </p:nvSpPr>
        <p:spPr>
          <a:xfrm>
            <a:off x="3657600" y="5464162"/>
            <a:ext cx="1466850" cy="1582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6961736" y="5470359"/>
            <a:ext cx="1466850" cy="15823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wipe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normAutofit fontScale="90000"/>
          </a:bodyPr>
          <a:lstStyle/>
          <a:p>
            <a:r>
              <a:rPr lang="en-AU" smtClean="0"/>
              <a:t>DSR Knowledge Contribution Framework</a:t>
            </a:r>
            <a:endParaRPr lang="en-AU" dirty="0" smtClean="0"/>
          </a:p>
        </p:txBody>
      </p:sp>
      <p:sp>
        <p:nvSpPr>
          <p:cNvPr id="33795" name="Content Placeholder 2"/>
          <p:cNvSpPr>
            <a:spLocks noGrp="1"/>
          </p:cNvSpPr>
          <p:nvPr>
            <p:ph idx="1"/>
          </p:nvPr>
        </p:nvSpPr>
        <p:spPr/>
        <p:txBody>
          <a:bodyPr>
            <a:normAutofit fontScale="92500" lnSpcReduction="20000"/>
          </a:bodyPr>
          <a:lstStyle/>
          <a:p>
            <a:r>
              <a:rPr lang="en-AU" smtClean="0"/>
              <a:t>A Guideline for Positioning DSR with respect to Knowledge Contribution</a:t>
            </a:r>
            <a:endParaRPr lang="en-AU" smtClean="0"/>
          </a:p>
          <a:p>
            <a:r>
              <a:rPr lang="en-AU" smtClean="0"/>
              <a:t>Two dimensions: </a:t>
            </a:r>
            <a:endParaRPr lang="en-AU" smtClean="0"/>
          </a:p>
          <a:p>
            <a:pPr lvl="1"/>
            <a:r>
              <a:rPr lang="en-AU" smtClean="0"/>
              <a:t>Maturity of Application Domain (Opportunities/ Problems) </a:t>
            </a:r>
            <a:endParaRPr lang="en-AU" smtClean="0"/>
          </a:p>
          <a:p>
            <a:pPr lvl="1"/>
            <a:r>
              <a:rPr lang="en-AU" smtClean="0"/>
              <a:t>Maturity of Solutions (Existing Artifacts)</a:t>
            </a:r>
            <a:endParaRPr lang="en-AU" smtClean="0"/>
          </a:p>
          <a:p>
            <a:r>
              <a:rPr lang="en-AU" smtClean="0"/>
              <a:t>Difficulties: </a:t>
            </a:r>
            <a:endParaRPr lang="en-AU" smtClean="0"/>
          </a:p>
          <a:p>
            <a:pPr lvl="1"/>
            <a:r>
              <a:rPr lang="en-AU" smtClean="0"/>
              <a:t>Subjectivity – where to draw the lines</a:t>
            </a:r>
            <a:endParaRPr lang="en-AU" smtClean="0"/>
          </a:p>
          <a:p>
            <a:pPr lvl="1"/>
            <a:r>
              <a:rPr lang="en-AU" smtClean="0"/>
              <a:t>Everything builds on something else, nothing entirely new</a:t>
            </a:r>
            <a:endParaRPr lang="en-AU" dirty="0" smtClean="0"/>
          </a:p>
        </p:txBody>
      </p:sp>
      <p:sp>
        <p:nvSpPr>
          <p:cNvPr id="4" name="Slide Number Placeholder 3"/>
          <p:cNvSpPr>
            <a:spLocks noGrp="1"/>
          </p:cNvSpPr>
          <p:nvPr>
            <p:ph type="sldNum" sz="quarter" idx="12"/>
          </p:nvPr>
        </p:nvSpPr>
        <p:spPr/>
        <p:txBody>
          <a:bodyPr/>
          <a:lstStyle/>
          <a:p>
            <a:fld id="{16EB492C-D8D2-4AB1-81B1-44F793096726}" type="slidenum">
              <a:rPr lang="en-AU" smtClean="0"/>
            </a:fld>
            <a:endParaRPr lang="en-AU"/>
          </a:p>
        </p:txBody>
      </p:sp>
    </p:spTree>
  </p:cSld>
  <p:clrMapOvr>
    <a:masterClrMapping/>
  </p:clrMapOvr>
  <p:transition spd="slow">
    <p:wipe di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3" name="Straight Arrow Connector 2"/>
          <p:cNvCxnSpPr/>
          <p:nvPr/>
        </p:nvCxnSpPr>
        <p:spPr>
          <a:xfrm rot="5400000" flipH="1" flipV="1">
            <a:off x="-1294606" y="3124200"/>
            <a:ext cx="6247606" cy="794"/>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914400" y="5715000"/>
            <a:ext cx="7315200" cy="1588"/>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981200" y="2209800"/>
            <a:ext cx="6248400" cy="0"/>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2743200" y="3048000"/>
            <a:ext cx="5486400" cy="0"/>
          </a:xfrm>
          <a:prstGeom prst="line">
            <a:avLst/>
          </a:prstGeom>
          <a:ln w="12700">
            <a:prstDash val="lg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rot="16200000">
            <a:off x="-1796534" y="2787134"/>
            <a:ext cx="4572000" cy="369332"/>
          </a:xfrm>
          <a:prstGeom prst="rect">
            <a:avLst/>
          </a:prstGeom>
          <a:noFill/>
        </p:spPr>
        <p:txBody>
          <a:bodyPr wrap="square" rtlCol="0">
            <a:spAutoFit/>
          </a:bodyPr>
          <a:lstStyle/>
          <a:p>
            <a:pPr algn="ctr"/>
            <a:r>
              <a:rPr lang="en-US" dirty="0" smtClean="0"/>
              <a:t>Solution Maturity</a:t>
            </a:r>
            <a:endParaRPr lang="en-US" dirty="0"/>
          </a:p>
        </p:txBody>
      </p:sp>
      <p:sp>
        <p:nvSpPr>
          <p:cNvPr id="17" name="TextBox 16"/>
          <p:cNvSpPr txBox="1"/>
          <p:nvPr/>
        </p:nvSpPr>
        <p:spPr>
          <a:xfrm>
            <a:off x="1828800" y="6107668"/>
            <a:ext cx="5105400" cy="369332"/>
          </a:xfrm>
          <a:prstGeom prst="rect">
            <a:avLst/>
          </a:prstGeom>
          <a:noFill/>
        </p:spPr>
        <p:txBody>
          <a:bodyPr wrap="square" rtlCol="0">
            <a:spAutoFit/>
          </a:bodyPr>
          <a:lstStyle/>
          <a:p>
            <a:pPr algn="ctr"/>
            <a:r>
              <a:rPr lang="en-US" dirty="0" smtClean="0"/>
              <a:t>Application Domain (Problem) Maturity</a:t>
            </a:r>
            <a:endParaRPr lang="en-US" dirty="0"/>
          </a:p>
        </p:txBody>
      </p:sp>
      <p:sp>
        <p:nvSpPr>
          <p:cNvPr id="19" name="TextBox 18"/>
          <p:cNvSpPr txBox="1"/>
          <p:nvPr/>
        </p:nvSpPr>
        <p:spPr>
          <a:xfrm>
            <a:off x="1828800" y="5715000"/>
            <a:ext cx="3657600" cy="369332"/>
          </a:xfrm>
          <a:prstGeom prst="rect">
            <a:avLst/>
          </a:prstGeom>
          <a:noFill/>
        </p:spPr>
        <p:txBody>
          <a:bodyPr wrap="square" rtlCol="0">
            <a:spAutoFit/>
          </a:bodyPr>
          <a:lstStyle/>
          <a:p>
            <a:pPr algn="ctr"/>
            <a:r>
              <a:rPr lang="en-US" dirty="0" smtClean="0"/>
              <a:t>High</a:t>
            </a:r>
            <a:endParaRPr lang="en-US" dirty="0"/>
          </a:p>
        </p:txBody>
      </p:sp>
      <p:sp>
        <p:nvSpPr>
          <p:cNvPr id="20" name="TextBox 19"/>
          <p:cNvSpPr txBox="1"/>
          <p:nvPr/>
        </p:nvSpPr>
        <p:spPr>
          <a:xfrm>
            <a:off x="5486400" y="5715000"/>
            <a:ext cx="2667000" cy="369332"/>
          </a:xfrm>
          <a:prstGeom prst="rect">
            <a:avLst/>
          </a:prstGeom>
          <a:noFill/>
        </p:spPr>
        <p:txBody>
          <a:bodyPr wrap="square" rtlCol="0">
            <a:spAutoFit/>
          </a:bodyPr>
          <a:lstStyle/>
          <a:p>
            <a:pPr algn="ctr"/>
            <a:r>
              <a:rPr lang="en-US" dirty="0" smtClean="0"/>
              <a:t>Low</a:t>
            </a:r>
            <a:endParaRPr lang="en-US" dirty="0"/>
          </a:p>
        </p:txBody>
      </p:sp>
      <p:sp>
        <p:nvSpPr>
          <p:cNvPr id="21" name="TextBox 20"/>
          <p:cNvSpPr txBox="1"/>
          <p:nvPr/>
        </p:nvSpPr>
        <p:spPr>
          <a:xfrm rot="16200000">
            <a:off x="-120134" y="3777734"/>
            <a:ext cx="3505200" cy="369332"/>
          </a:xfrm>
          <a:prstGeom prst="rect">
            <a:avLst/>
          </a:prstGeom>
          <a:noFill/>
        </p:spPr>
        <p:txBody>
          <a:bodyPr wrap="square" rtlCol="0">
            <a:spAutoFit/>
          </a:bodyPr>
          <a:lstStyle/>
          <a:p>
            <a:pPr algn="ctr"/>
            <a:r>
              <a:rPr lang="en-US" dirty="0" smtClean="0"/>
              <a:t>High</a:t>
            </a:r>
            <a:endParaRPr lang="en-US" dirty="0"/>
          </a:p>
        </p:txBody>
      </p:sp>
      <p:sp>
        <p:nvSpPr>
          <p:cNvPr id="22" name="TextBox 21"/>
          <p:cNvSpPr txBox="1"/>
          <p:nvPr/>
        </p:nvSpPr>
        <p:spPr>
          <a:xfrm rot="16200000">
            <a:off x="413266" y="1034534"/>
            <a:ext cx="2438400" cy="369332"/>
          </a:xfrm>
          <a:prstGeom prst="rect">
            <a:avLst/>
          </a:prstGeom>
          <a:noFill/>
        </p:spPr>
        <p:txBody>
          <a:bodyPr wrap="square" rtlCol="0">
            <a:spAutoFit/>
          </a:bodyPr>
          <a:lstStyle/>
          <a:p>
            <a:pPr algn="ctr"/>
            <a:r>
              <a:rPr lang="en-US" dirty="0" smtClean="0"/>
              <a:t>Low</a:t>
            </a:r>
            <a:endParaRPr lang="en-US" dirty="0"/>
          </a:p>
        </p:txBody>
      </p:sp>
      <p:sp>
        <p:nvSpPr>
          <p:cNvPr id="23" name="TextBox 22"/>
          <p:cNvSpPr txBox="1"/>
          <p:nvPr/>
        </p:nvSpPr>
        <p:spPr>
          <a:xfrm>
            <a:off x="2286000" y="3429000"/>
            <a:ext cx="2895600" cy="923330"/>
          </a:xfrm>
          <a:prstGeom prst="rect">
            <a:avLst/>
          </a:prstGeom>
          <a:noFill/>
        </p:spPr>
        <p:txBody>
          <a:bodyPr wrap="square" rtlCol="0">
            <a:spAutoFit/>
          </a:bodyPr>
          <a:lstStyle/>
          <a:p>
            <a:pPr algn="ctr"/>
            <a:r>
              <a:rPr lang="en-US" b="1" dirty="0" smtClean="0"/>
              <a:t>Routine Design</a:t>
            </a:r>
            <a:r>
              <a:rPr lang="en-US" dirty="0" smtClean="0"/>
              <a:t>: Apply known solutions to known problems</a:t>
            </a:r>
            <a:endParaRPr lang="en-US" dirty="0" smtClean="0"/>
          </a:p>
        </p:txBody>
      </p:sp>
      <p:sp>
        <p:nvSpPr>
          <p:cNvPr id="24" name="TextBox 23"/>
          <p:cNvSpPr txBox="1"/>
          <p:nvPr/>
        </p:nvSpPr>
        <p:spPr>
          <a:xfrm>
            <a:off x="5486400" y="3352800"/>
            <a:ext cx="3048000" cy="1477328"/>
          </a:xfrm>
          <a:prstGeom prst="rect">
            <a:avLst/>
          </a:prstGeom>
          <a:noFill/>
        </p:spPr>
        <p:txBody>
          <a:bodyPr wrap="square" rtlCol="0">
            <a:spAutoFit/>
          </a:bodyPr>
          <a:lstStyle/>
          <a:p>
            <a:pPr algn="ctr"/>
            <a:r>
              <a:rPr lang="en-US" b="1" dirty="0" err="1" smtClean="0"/>
              <a:t>Exaptation</a:t>
            </a:r>
            <a:r>
              <a:rPr lang="en-US" dirty="0" smtClean="0"/>
              <a:t>: Extend known solutions to new problems (e.g. Adopt solutions from other fields)</a:t>
            </a:r>
            <a:br>
              <a:rPr lang="en-US" dirty="0" smtClean="0"/>
            </a:br>
            <a:r>
              <a:rPr lang="en-US" i="1" dirty="0" smtClean="0"/>
              <a:t> Research Opportunity</a:t>
            </a:r>
            <a:endParaRPr lang="en-US" dirty="0"/>
          </a:p>
        </p:txBody>
      </p:sp>
      <p:sp>
        <p:nvSpPr>
          <p:cNvPr id="25" name="TextBox 24"/>
          <p:cNvSpPr txBox="1"/>
          <p:nvPr/>
        </p:nvSpPr>
        <p:spPr>
          <a:xfrm>
            <a:off x="2362200" y="762000"/>
            <a:ext cx="2743200" cy="1200329"/>
          </a:xfrm>
          <a:prstGeom prst="rect">
            <a:avLst/>
          </a:prstGeom>
          <a:noFill/>
        </p:spPr>
        <p:txBody>
          <a:bodyPr wrap="square" rtlCol="0">
            <a:spAutoFit/>
          </a:bodyPr>
          <a:lstStyle/>
          <a:p>
            <a:pPr algn="ctr"/>
            <a:r>
              <a:rPr lang="en-US" b="1" dirty="0" smtClean="0"/>
              <a:t>Improvement</a:t>
            </a:r>
            <a:r>
              <a:rPr lang="en-US" dirty="0" smtClean="0"/>
              <a:t>: Develop new solutions for known problems</a:t>
            </a:r>
            <a:br>
              <a:rPr lang="en-US" dirty="0" smtClean="0"/>
            </a:br>
            <a:r>
              <a:rPr lang="en-US" i="1" dirty="0" smtClean="0"/>
              <a:t>Research Opportunity</a:t>
            </a:r>
            <a:endParaRPr lang="en-US" sz="1600" i="1" dirty="0"/>
          </a:p>
        </p:txBody>
      </p:sp>
      <p:sp>
        <p:nvSpPr>
          <p:cNvPr id="27" name="TextBox 26"/>
          <p:cNvSpPr txBox="1"/>
          <p:nvPr/>
        </p:nvSpPr>
        <p:spPr>
          <a:xfrm>
            <a:off x="5638800" y="685800"/>
            <a:ext cx="2590800" cy="1200329"/>
          </a:xfrm>
          <a:prstGeom prst="rect">
            <a:avLst/>
          </a:prstGeom>
          <a:noFill/>
        </p:spPr>
        <p:txBody>
          <a:bodyPr wrap="square" rtlCol="0">
            <a:spAutoFit/>
          </a:bodyPr>
          <a:lstStyle/>
          <a:p>
            <a:pPr algn="ctr"/>
            <a:r>
              <a:rPr lang="en-US" b="1" dirty="0" smtClean="0"/>
              <a:t>Invention</a:t>
            </a:r>
            <a:r>
              <a:rPr lang="en-US" dirty="0" smtClean="0"/>
              <a:t>: Invent new solutions for new problems</a:t>
            </a:r>
            <a:br>
              <a:rPr lang="en-US" dirty="0" smtClean="0"/>
            </a:br>
            <a:r>
              <a:rPr lang="en-US" i="1" dirty="0" smtClean="0"/>
              <a:t> Research Opportunity</a:t>
            </a:r>
            <a:endParaRPr lang="en-US" dirty="0"/>
          </a:p>
        </p:txBody>
      </p:sp>
      <p:sp>
        <p:nvSpPr>
          <p:cNvPr id="28" name="Slide Number Placeholder 27"/>
          <p:cNvSpPr>
            <a:spLocks noGrp="1"/>
          </p:cNvSpPr>
          <p:nvPr>
            <p:ph type="sldNum" sz="quarter" idx="12"/>
          </p:nvPr>
        </p:nvSpPr>
        <p:spPr/>
        <p:txBody>
          <a:bodyPr/>
          <a:lstStyle/>
          <a:p>
            <a:fld id="{A2982359-B7F1-4A1C-A7D7-B0DDBF714392}" type="slidenum">
              <a:rPr lang="en-US" smtClean="0"/>
            </a:fld>
            <a:endParaRPr lang="en-US" dirty="0"/>
          </a:p>
        </p:txBody>
      </p:sp>
    </p:spTree>
  </p:cSld>
  <p:clrMapOvr>
    <a:masterClrMapping/>
  </p:clrMapOvr>
  <p:transition spd="slow">
    <p:wipe di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mtClean="0"/>
              <a:t>Invention Quadrant</a:t>
            </a:r>
            <a:endParaRPr lang="en-US" dirty="0"/>
          </a:p>
        </p:txBody>
      </p:sp>
      <p:sp>
        <p:nvSpPr>
          <p:cNvPr id="6" name="Content Placeholder 5"/>
          <p:cNvSpPr>
            <a:spLocks noGrp="1"/>
          </p:cNvSpPr>
          <p:nvPr>
            <p:ph idx="1"/>
          </p:nvPr>
        </p:nvSpPr>
        <p:spPr/>
        <p:txBody>
          <a:bodyPr>
            <a:normAutofit fontScale="70000" lnSpcReduction="20000"/>
          </a:bodyPr>
          <a:lstStyle/>
          <a:p>
            <a:r>
              <a:rPr lang="en-US" smtClean="0"/>
              <a:t>An invention is a radical breakthrough; a departure from accepted ways of thinking and doing</a:t>
            </a:r>
            <a:endParaRPr lang="en-US" smtClean="0"/>
          </a:p>
          <a:p>
            <a:r>
              <a:rPr lang="en-US" smtClean="0"/>
              <a:t>DSR projects in which little understanding of the problem context exists and no effective artifacts are available as solutions</a:t>
            </a:r>
            <a:endParaRPr lang="en-US" smtClean="0"/>
          </a:p>
          <a:p>
            <a:r>
              <a:rPr lang="en-US" smtClean="0"/>
              <a:t>Research contributions are novel artifacts or inventions</a:t>
            </a:r>
            <a:endParaRPr lang="en-US" smtClean="0"/>
          </a:p>
          <a:p>
            <a:pPr lvl="1"/>
            <a:r>
              <a:rPr lang="en-US" smtClean="0"/>
              <a:t>Level 1 artifacts</a:t>
            </a:r>
            <a:endParaRPr lang="en-US" smtClean="0"/>
          </a:p>
          <a:p>
            <a:r>
              <a:rPr lang="en-US" smtClean="0"/>
              <a:t>The newness of artifact makes this research difficult to publish</a:t>
            </a:r>
            <a:endParaRPr lang="en-US" smtClean="0"/>
          </a:p>
          <a:p>
            <a:pPr lvl="1"/>
            <a:r>
              <a:rPr lang="en-US" smtClean="0"/>
              <a:t>Insufficiently grounded in theory</a:t>
            </a:r>
            <a:endParaRPr lang="en-US" smtClean="0"/>
          </a:p>
          <a:p>
            <a:pPr lvl="1"/>
            <a:r>
              <a:rPr lang="en-US" smtClean="0"/>
              <a:t>Design is incomplete and not fully evaluated</a:t>
            </a:r>
            <a:endParaRPr lang="en-US" smtClean="0"/>
          </a:p>
          <a:p>
            <a:pPr lvl="1"/>
            <a:r>
              <a:rPr lang="en-US" smtClean="0"/>
              <a:t>Understanding is insufficient to provide new contribution to theory via the design</a:t>
            </a:r>
            <a:endParaRPr lang="en-US" smtClean="0"/>
          </a:p>
          <a:p>
            <a:pPr lvl="1"/>
            <a:endParaRPr lang="en-US" dirty="0"/>
          </a:p>
        </p:txBody>
      </p:sp>
      <p:sp>
        <p:nvSpPr>
          <p:cNvPr id="4" name="Slide Number Placeholder 3"/>
          <p:cNvSpPr>
            <a:spLocks noGrp="1"/>
          </p:cNvSpPr>
          <p:nvPr>
            <p:ph type="sldNum" sz="quarter" idx="12"/>
          </p:nvPr>
        </p:nvSpPr>
        <p:spPr/>
        <p:txBody>
          <a:bodyPr/>
          <a:lstStyle/>
          <a:p>
            <a:fld id="{4E4E39BF-E317-4B44-B9AF-75128E3200D2}" type="slidenum">
              <a:rPr lang="en-US" altLang="en-US" smtClean="0"/>
            </a:fld>
            <a:endParaRPr lang="en-US" altLang="en-US"/>
          </a:p>
        </p:txBody>
      </p:sp>
    </p:spTree>
  </p:cSld>
  <p:clrMapOvr>
    <a:masterClrMapping/>
  </p:clrMapOvr>
  <p:transition spd="slow">
    <p:wipe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en-AU" smtClean="0"/>
              <a:t>Invention Exemplars</a:t>
            </a:r>
            <a:endParaRPr lang="en-AU" dirty="0" smtClean="0"/>
          </a:p>
        </p:txBody>
      </p:sp>
      <p:sp>
        <p:nvSpPr>
          <p:cNvPr id="38916" name="Rectangle 3"/>
          <p:cNvSpPr>
            <a:spLocks noGrp="1" noChangeArrowheads="1"/>
          </p:cNvSpPr>
          <p:nvPr>
            <p:ph idx="1"/>
          </p:nvPr>
        </p:nvSpPr>
        <p:spPr/>
        <p:txBody>
          <a:bodyPr>
            <a:normAutofit fontScale="70000" lnSpcReduction="20000"/>
          </a:bodyPr>
          <a:lstStyle/>
          <a:p>
            <a:r>
              <a:rPr lang="en-AU" smtClean="0"/>
              <a:t>Agrawal, R., Imielinski, T. and Swami, A.  (1993). “Mining Association Rules between Sets of Items in Large Databases”, Proceedings of the 1993 ACM SIGMOD Conference, Washington DC, May.</a:t>
            </a:r>
            <a:endParaRPr lang="en-US" smtClean="0"/>
          </a:p>
          <a:p>
            <a:pPr lvl="1"/>
            <a:r>
              <a:rPr lang="en-AU" smtClean="0"/>
              <a:t>Aim: produce an algorithm that generates all significant association rules between items in the database</a:t>
            </a:r>
            <a:endParaRPr lang="en-AU" smtClean="0"/>
          </a:p>
          <a:p>
            <a:pPr lvl="1"/>
            <a:r>
              <a:rPr lang="en-AU" smtClean="0"/>
              <a:t>Practical importance: Allows organizations to find interesting relationships (e.g. shopping patterns)</a:t>
            </a:r>
            <a:endParaRPr lang="en-AU" smtClean="0"/>
          </a:p>
          <a:p>
            <a:pPr lvl="1"/>
            <a:r>
              <a:rPr lang="en-AU" smtClean="0"/>
              <a:t>Theoretical significance (newness): Shows (Sect 5) that no other work has done same thing</a:t>
            </a:r>
            <a:endParaRPr lang="en-AU" smtClean="0"/>
          </a:p>
          <a:p>
            <a:pPr lvl="1"/>
            <a:r>
              <a:rPr lang="en-AU" smtClean="0"/>
              <a:t>Description of new method: Shows requirements (Sect 1), new concepts (association rule, support, confidence), Formal Model (pseudocode) (Sects 2-3)</a:t>
            </a:r>
            <a:endParaRPr lang="en-AU" smtClean="0"/>
          </a:p>
          <a:p>
            <a:pPr lvl="1"/>
            <a:r>
              <a:rPr lang="en-AU" smtClean="0"/>
              <a:t>Proof: Experiments (Sect 4)</a:t>
            </a:r>
            <a:endParaRPr lang="en-AU" smtClean="0"/>
          </a:p>
          <a:p>
            <a:r>
              <a:rPr lang="en-AU" smtClean="0"/>
              <a:t>Scott-Morton (1967) – Decision Support Systems</a:t>
            </a:r>
            <a:endParaRPr lang="en-AU" smtClean="0"/>
          </a:p>
          <a:p>
            <a:endParaRPr lang="en-AU" dirty="0" smtClean="0"/>
          </a:p>
        </p:txBody>
      </p:sp>
      <p:sp>
        <p:nvSpPr>
          <p:cNvPr id="5" name="Slide Number Placeholder 4"/>
          <p:cNvSpPr>
            <a:spLocks noGrp="1"/>
          </p:cNvSpPr>
          <p:nvPr>
            <p:ph type="sldNum" sz="quarter" idx="12"/>
          </p:nvPr>
        </p:nvSpPr>
        <p:spPr/>
        <p:txBody>
          <a:bodyPr/>
          <a:lstStyle/>
          <a:p>
            <a:fld id="{B89961D7-FA17-4295-88AF-CE9556E9BB91}" type="slidenum">
              <a:rPr lang="en-AU" smtClean="0"/>
            </a:fld>
            <a:endParaRPr lang="en-AU"/>
          </a:p>
        </p:txBody>
      </p:sp>
    </p:spTree>
  </p:cSld>
  <p:clrMapOvr>
    <a:masterClrMapping/>
  </p:clrMapOvr>
  <p:transition spd="slow">
    <p:wipe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mtClean="0"/>
              <a:t>Improvement Quadrant</a:t>
            </a:r>
            <a:endParaRPr lang="en-US" dirty="0"/>
          </a:p>
        </p:txBody>
      </p:sp>
      <p:sp>
        <p:nvSpPr>
          <p:cNvPr id="6" name="Content Placeholder 5"/>
          <p:cNvSpPr>
            <a:spLocks noGrp="1"/>
          </p:cNvSpPr>
          <p:nvPr>
            <p:ph idx="1"/>
          </p:nvPr>
        </p:nvSpPr>
        <p:spPr/>
        <p:txBody>
          <a:bodyPr>
            <a:normAutofit fontScale="77500" lnSpcReduction="20000"/>
          </a:bodyPr>
          <a:lstStyle/>
          <a:p>
            <a:r>
              <a:rPr lang="en-US" smtClean="0"/>
              <a:t>An improvement is a better artifact solution in the form of more efficient and effective products, processes, services, technologies, or ideas</a:t>
            </a:r>
            <a:endParaRPr lang="en-US" smtClean="0"/>
          </a:p>
          <a:p>
            <a:r>
              <a:rPr lang="en-US" smtClean="0"/>
              <a:t>DSR projects in which the problem context is mature but there is a great need for more effective artifacts as solutions</a:t>
            </a:r>
            <a:endParaRPr lang="en-US" smtClean="0"/>
          </a:p>
          <a:p>
            <a:r>
              <a:rPr lang="en-US" smtClean="0"/>
              <a:t>Improvement DSR is judged by:</a:t>
            </a:r>
            <a:endParaRPr lang="en-US" smtClean="0"/>
          </a:p>
          <a:p>
            <a:pPr lvl="1"/>
            <a:r>
              <a:rPr lang="en-US" smtClean="0"/>
              <a:t>Clearly grounding, representing, and communicating the new artifact design</a:t>
            </a:r>
            <a:endParaRPr lang="en-US" smtClean="0"/>
          </a:p>
          <a:p>
            <a:pPr lvl="1"/>
            <a:r>
              <a:rPr lang="en-US" smtClean="0"/>
              <a:t>Convincing evaluation providing evidence of improvements over current solutions</a:t>
            </a:r>
            <a:endParaRPr lang="en-US" smtClean="0"/>
          </a:p>
          <a:p>
            <a:r>
              <a:rPr lang="en-US" smtClean="0"/>
              <a:t>All levels of artifact knowledge contribution can be made</a:t>
            </a:r>
            <a:endParaRPr lang="en-US" dirty="0"/>
          </a:p>
        </p:txBody>
      </p:sp>
      <p:sp>
        <p:nvSpPr>
          <p:cNvPr id="4" name="Slide Number Placeholder 3"/>
          <p:cNvSpPr>
            <a:spLocks noGrp="1"/>
          </p:cNvSpPr>
          <p:nvPr>
            <p:ph type="sldNum" sz="quarter" idx="12"/>
          </p:nvPr>
        </p:nvSpPr>
        <p:spPr/>
        <p:txBody>
          <a:bodyPr/>
          <a:lstStyle/>
          <a:p>
            <a:fld id="{4E4E39BF-E317-4B44-B9AF-75128E3200D2}" type="slidenum">
              <a:rPr lang="en-US" altLang="en-US" smtClean="0"/>
            </a:fld>
            <a:endParaRPr lang="en-US" altLang="en-US"/>
          </a:p>
        </p:txBody>
      </p:sp>
    </p:spTree>
  </p:cSld>
  <p:clrMapOvr>
    <a:masterClrMapping/>
  </p:clrMapOvr>
  <p:transition spd="slow">
    <p:wipe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en-AU" smtClean="0"/>
              <a:t>Improvement Exemplars</a:t>
            </a:r>
            <a:endParaRPr lang="en-AU" dirty="0" smtClean="0"/>
          </a:p>
        </p:txBody>
      </p:sp>
      <p:sp>
        <p:nvSpPr>
          <p:cNvPr id="38916" name="Rectangle 3"/>
          <p:cNvSpPr>
            <a:spLocks noGrp="1" noChangeArrowheads="1"/>
          </p:cNvSpPr>
          <p:nvPr>
            <p:ph idx="1"/>
          </p:nvPr>
        </p:nvSpPr>
        <p:spPr/>
        <p:txBody>
          <a:bodyPr>
            <a:normAutofit fontScale="77500" lnSpcReduction="20000"/>
          </a:bodyPr>
          <a:lstStyle/>
          <a:p>
            <a:r>
              <a:rPr lang="en-US" smtClean="0"/>
              <a:t>Many DSR projects in IS are in the Improvement Quadrant, for example:</a:t>
            </a:r>
            <a:endParaRPr lang="en-US" smtClean="0"/>
          </a:p>
          <a:p>
            <a:pPr lvl="1"/>
            <a:r>
              <a:rPr lang="en-US" smtClean="0"/>
              <a:t>Better data mining algorithms for knowledge discovery (extending the initial ideas invented by Agrawal et al. (1993)); for example, (Fayyad et al. 1996; Zhang et al. 2004; Witten et al. 2011)</a:t>
            </a:r>
            <a:endParaRPr lang="en-US" smtClean="0"/>
          </a:p>
          <a:p>
            <a:pPr lvl="1"/>
            <a:r>
              <a:rPr lang="en-US" smtClean="0"/>
              <a:t>Improved recommendation systems for use in e-commerce; for example (Herlocker et al. 2004; Adomavicius and Tuzhilin 2005)</a:t>
            </a:r>
            <a:endParaRPr lang="en-US" smtClean="0"/>
          </a:p>
          <a:p>
            <a:pPr lvl="1"/>
            <a:r>
              <a:rPr lang="en-US" smtClean="0"/>
              <a:t>Better technologies and use strategies for saving energy in IT applications; for example (Donnellan et al. 2011; Watson and Boudreau 2011)</a:t>
            </a:r>
            <a:endParaRPr lang="en-US" smtClean="0"/>
          </a:p>
          <a:p>
            <a:pPr lvl="1"/>
            <a:r>
              <a:rPr lang="en-US" smtClean="0"/>
              <a:t>Improved routing algorithms for business supply chains; for example (van der Aalst and Hee 2004; Liu et al. 2005)</a:t>
            </a:r>
            <a:endParaRPr lang="en-US" smtClean="0"/>
          </a:p>
          <a:p>
            <a:pPr lvl="0"/>
            <a:endParaRPr lang="en-US" smtClean="0"/>
          </a:p>
          <a:p>
            <a:endParaRPr lang="en-AU" dirty="0" smtClean="0"/>
          </a:p>
        </p:txBody>
      </p:sp>
      <p:sp>
        <p:nvSpPr>
          <p:cNvPr id="5" name="Slide Number Placeholder 4"/>
          <p:cNvSpPr>
            <a:spLocks noGrp="1"/>
          </p:cNvSpPr>
          <p:nvPr>
            <p:ph type="sldNum" sz="quarter" idx="12"/>
          </p:nvPr>
        </p:nvSpPr>
        <p:spPr/>
        <p:txBody>
          <a:bodyPr/>
          <a:lstStyle/>
          <a:p>
            <a:fld id="{B89961D7-FA17-4295-88AF-CE9556E9BB91}" type="slidenum">
              <a:rPr lang="en-AU" smtClean="0"/>
            </a:fld>
            <a:endParaRPr lang="en-AU"/>
          </a:p>
        </p:txBody>
      </p:sp>
    </p:spTree>
  </p:cSld>
  <p:clrMapOvr>
    <a:masterClrMapping/>
  </p:clrMapOvr>
  <p:transition spd="slow">
    <p:wipe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err="1" smtClean="0"/>
              <a:t>Exaptation</a:t>
            </a:r>
            <a:r>
              <a:rPr lang="en-US" dirty="0" smtClean="0"/>
              <a:t> Quadrant</a:t>
            </a:r>
            <a:endParaRPr lang="en-US" dirty="0"/>
          </a:p>
        </p:txBody>
      </p:sp>
      <p:sp>
        <p:nvSpPr>
          <p:cNvPr id="6" name="Content Placeholder 5"/>
          <p:cNvSpPr>
            <a:spLocks noGrp="1"/>
          </p:cNvSpPr>
          <p:nvPr>
            <p:ph idx="1"/>
          </p:nvPr>
        </p:nvSpPr>
        <p:spPr/>
        <p:txBody>
          <a:bodyPr>
            <a:normAutofit fontScale="85000" lnSpcReduction="20000"/>
          </a:bodyPr>
          <a:lstStyle/>
          <a:p>
            <a:r>
              <a:rPr lang="en-US" smtClean="0"/>
              <a:t>An exaptation is the expropriation of an artifact in one field to solve problems in another field </a:t>
            </a:r>
            <a:endParaRPr lang="en-US" smtClean="0"/>
          </a:p>
          <a:p>
            <a:r>
              <a:rPr lang="en-US" smtClean="0"/>
              <a:t>DSR projects in which the problem context is not well understood but there exist mature artifacts in other fields that can be exapted as effective solutions</a:t>
            </a:r>
            <a:endParaRPr lang="en-US" smtClean="0"/>
          </a:p>
          <a:p>
            <a:r>
              <a:rPr lang="en-US" smtClean="0"/>
              <a:t>Exaptation DSR is judged by:</a:t>
            </a:r>
            <a:endParaRPr lang="en-US" smtClean="0"/>
          </a:p>
          <a:p>
            <a:pPr lvl="1"/>
            <a:r>
              <a:rPr lang="en-US" smtClean="0"/>
              <a:t>Clearly grounding, representing, and communicating the exapted artifact design</a:t>
            </a:r>
            <a:endParaRPr lang="en-US" smtClean="0"/>
          </a:p>
          <a:p>
            <a:pPr lvl="1"/>
            <a:r>
              <a:rPr lang="en-US" smtClean="0"/>
              <a:t>Convincing evaluation providing evidence of how well the new artifact solves the given problem</a:t>
            </a:r>
            <a:endParaRPr lang="en-US" smtClean="0"/>
          </a:p>
          <a:p>
            <a:r>
              <a:rPr lang="en-US" smtClean="0"/>
              <a:t>All levels of artifact knowledge contribution can be made</a:t>
            </a:r>
            <a:endParaRPr lang="en-US" dirty="0"/>
          </a:p>
        </p:txBody>
      </p:sp>
      <p:sp>
        <p:nvSpPr>
          <p:cNvPr id="4" name="Slide Number Placeholder 3"/>
          <p:cNvSpPr>
            <a:spLocks noGrp="1"/>
          </p:cNvSpPr>
          <p:nvPr>
            <p:ph type="sldNum" sz="quarter" idx="12"/>
          </p:nvPr>
        </p:nvSpPr>
        <p:spPr/>
        <p:txBody>
          <a:bodyPr/>
          <a:lstStyle/>
          <a:p>
            <a:fld id="{4E4E39BF-E317-4B44-B9AF-75128E3200D2}" type="slidenum">
              <a:rPr lang="en-US" altLang="en-US" smtClean="0"/>
            </a:fld>
            <a:endParaRPr lang="en-US" altLang="en-US"/>
          </a:p>
        </p:txBody>
      </p:sp>
    </p:spTree>
  </p:cSld>
  <p:clrMapOvr>
    <a:masterClrMapping/>
  </p:clrMapOvr>
  <p:transition spd="slow">
    <p:wipe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en-AU" smtClean="0"/>
              <a:t>Exaptation Exemplars</a:t>
            </a:r>
            <a:endParaRPr lang="en-AU" dirty="0" smtClean="0"/>
          </a:p>
        </p:txBody>
      </p:sp>
      <p:sp>
        <p:nvSpPr>
          <p:cNvPr id="38916" name="Rectangle 3"/>
          <p:cNvSpPr>
            <a:spLocks noGrp="1" noChangeArrowheads="1"/>
          </p:cNvSpPr>
          <p:nvPr>
            <p:ph idx="1"/>
          </p:nvPr>
        </p:nvSpPr>
        <p:spPr/>
        <p:txBody>
          <a:bodyPr>
            <a:normAutofit fontScale="62500" lnSpcReduction="20000"/>
          </a:bodyPr>
          <a:lstStyle/>
          <a:p>
            <a:pPr lvl="0"/>
            <a:r>
              <a:rPr lang="en-US" smtClean="0"/>
              <a:t>Exaptation DSR is employed when new technologies provide opportunities to solve new and/or different IS problems; for example:</a:t>
            </a:r>
            <a:endParaRPr lang="en-US" smtClean="0"/>
          </a:p>
          <a:p>
            <a:pPr lvl="1"/>
            <a:r>
              <a:rPr lang="en-AU" smtClean="0"/>
              <a:t>Codd’s exaptation of relational mathematics to the problem of database systems design leading to relational database concepts, models, methods, and instantiations (Codd, 1970; Codd, 1982)</a:t>
            </a:r>
            <a:endParaRPr lang="en-AU" smtClean="0"/>
          </a:p>
          <a:p>
            <a:pPr lvl="1"/>
            <a:r>
              <a:rPr lang="en-AU" smtClean="0"/>
              <a:t>Berners-Lee original concept of the World Wide Web was one of simply sharing research documents in a hypertext form among multiple computers. In short time, however, many individuals saw the potential of this rapidly expanding interconnection environment to exapt applications from old platforms to the WWW platforms. These new Internet applications were very different from previous versions adding many new artifacts to Λ knowledge</a:t>
            </a:r>
            <a:endParaRPr lang="en-AU" smtClean="0"/>
          </a:p>
          <a:p>
            <a:pPr lvl="1"/>
            <a:r>
              <a:rPr lang="en-AU" smtClean="0"/>
              <a:t>Research by Berndt et al. (2003) on the CATCH data warehouse for health care information. Well-known methods of data warehouse development (e.g. Inmon, 1992) were exapted to new and interesting areas of health care systems and decision-making applications</a:t>
            </a:r>
            <a:br>
              <a:rPr lang="en-AU" smtClean="0"/>
            </a:br>
            <a:endParaRPr lang="en-US" smtClean="0"/>
          </a:p>
          <a:p>
            <a:pPr lvl="0"/>
            <a:endParaRPr lang="en-US" smtClean="0"/>
          </a:p>
          <a:p>
            <a:endParaRPr lang="en-AU" dirty="0" smtClean="0"/>
          </a:p>
        </p:txBody>
      </p:sp>
      <p:sp>
        <p:nvSpPr>
          <p:cNvPr id="5" name="Slide Number Placeholder 4"/>
          <p:cNvSpPr>
            <a:spLocks noGrp="1"/>
          </p:cNvSpPr>
          <p:nvPr>
            <p:ph type="sldNum" sz="quarter" idx="12"/>
          </p:nvPr>
        </p:nvSpPr>
        <p:spPr/>
        <p:txBody>
          <a:bodyPr/>
          <a:lstStyle/>
          <a:p>
            <a:fld id="{B89961D7-FA17-4295-88AF-CE9556E9BB91}" type="slidenum">
              <a:rPr lang="en-AU" smtClean="0"/>
            </a:fld>
            <a:endParaRPr lang="en-AU"/>
          </a:p>
        </p:txBody>
      </p:sp>
    </p:spTree>
  </p:cSld>
  <p:clrMapOvr>
    <a:masterClrMapping/>
  </p:clrMapOvr>
  <p:transition spd="slow">
    <p:wipe di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AU" smtClean="0"/>
              <a:t>Routine Design Quadrant</a:t>
            </a:r>
            <a:endParaRPr lang="en-AU" dirty="0" smtClean="0"/>
          </a:p>
        </p:txBody>
      </p:sp>
      <p:sp>
        <p:nvSpPr>
          <p:cNvPr id="44035" name="Rectangle 3"/>
          <p:cNvSpPr>
            <a:spLocks noGrp="1" noChangeArrowheads="1"/>
          </p:cNvSpPr>
          <p:nvPr>
            <p:ph type="body" idx="1"/>
          </p:nvPr>
        </p:nvSpPr>
        <p:spPr/>
        <p:txBody>
          <a:bodyPr>
            <a:normAutofit lnSpcReduction="10000"/>
          </a:bodyPr>
          <a:lstStyle/>
          <a:p>
            <a:r>
              <a:rPr lang="en-AU" smtClean="0"/>
              <a:t>Professional design or system building to be distinguished from DSR</a:t>
            </a:r>
            <a:endParaRPr lang="en-AU" smtClean="0"/>
          </a:p>
          <a:p>
            <a:r>
              <a:rPr lang="en-AU" smtClean="0"/>
              <a:t>However, evolving or best practices may be observed and documented in “extractive case study” work (Van Aken)</a:t>
            </a:r>
            <a:endParaRPr lang="en-AU" smtClean="0"/>
          </a:p>
          <a:p>
            <a:pPr lvl="1"/>
            <a:r>
              <a:rPr lang="en-AU" smtClean="0"/>
              <a:t>Study of best practices in routine design may lead to empirical generalization</a:t>
            </a:r>
            <a:endParaRPr lang="en-AU" smtClean="0"/>
          </a:p>
          <a:p>
            <a:pPr lvl="1"/>
            <a:r>
              <a:rPr lang="en-AU" smtClean="0"/>
              <a:t>Example – Davenport’s observation of BPR (Davenport &amp; Short SMR 1990)</a:t>
            </a:r>
            <a:endParaRPr lang="en-AU" dirty="0" smtClean="0"/>
          </a:p>
        </p:txBody>
      </p:sp>
      <p:sp>
        <p:nvSpPr>
          <p:cNvPr id="7" name="Slide Number Placeholder 3"/>
          <p:cNvSpPr>
            <a:spLocks noGrp="1"/>
          </p:cNvSpPr>
          <p:nvPr>
            <p:ph type="sldNum" sz="quarter" idx="12"/>
          </p:nvPr>
        </p:nvSpPr>
        <p:spPr/>
        <p:txBody>
          <a:bodyPr/>
          <a:lstStyle/>
          <a:p>
            <a:fld id="{6BBA9E9C-137A-4186-B956-7A3284437CF2}" type="slidenum">
              <a:rPr lang="en-AU" smtClean="0"/>
            </a:fld>
            <a:endParaRPr lang="en-AU" dirty="0"/>
          </a:p>
        </p:txBody>
      </p:sp>
    </p:spTree>
  </p:cSld>
  <p:clrMapOvr>
    <a:masterClrMapping/>
  </p:clrMapOvr>
  <p:transition spd="slow">
    <p:wipe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 Fitness-Utility Model for DSR</a:t>
            </a:r>
            <a:endParaRPr lang="en-US" dirty="0"/>
          </a:p>
        </p:txBody>
      </p:sp>
      <p:sp>
        <p:nvSpPr>
          <p:cNvPr id="3" name="Content Placeholder 2"/>
          <p:cNvSpPr>
            <a:spLocks noGrp="1"/>
          </p:cNvSpPr>
          <p:nvPr>
            <p:ph sz="quarter" idx="1"/>
          </p:nvPr>
        </p:nvSpPr>
        <p:spPr/>
        <p:txBody>
          <a:bodyPr/>
          <a:lstStyle/>
          <a:p>
            <a:r>
              <a:rPr lang="en-US" dirty="0" smtClean="0"/>
              <a:t>Rethinking the Dependent Variable in DSR</a:t>
            </a:r>
            <a:endParaRPr lang="en-US" dirty="0" smtClean="0"/>
          </a:p>
          <a:p>
            <a:r>
              <a:rPr lang="en-US" dirty="0" smtClean="0"/>
              <a:t>How can we make the results of DSR (e.g., artifacts, design theories) more sustainable ?</a:t>
            </a:r>
            <a:endParaRPr lang="en-US" dirty="0" smtClean="0"/>
          </a:p>
          <a:p>
            <a:pPr lvl="0"/>
            <a:r>
              <a:rPr lang="en-US" dirty="0" smtClean="0"/>
              <a:t>T.G. Gill and A. </a:t>
            </a:r>
            <a:r>
              <a:rPr lang="en-US" dirty="0" err="1" smtClean="0"/>
              <a:t>Hevner</a:t>
            </a:r>
            <a:r>
              <a:rPr lang="en-US" dirty="0" smtClean="0"/>
              <a:t>, “A Fitness-Utility Model for Design Science Research,” ACM Transactions on Management Information Systems, 2013.</a:t>
            </a:r>
            <a:endParaRPr lang="en-US" dirty="0" smtClean="0"/>
          </a:p>
          <a:p>
            <a:pPr lvl="1"/>
            <a:r>
              <a:rPr lang="en-US" dirty="0" smtClean="0"/>
              <a:t>DESRIST 2011 Herbert Simon Best Paper Award</a:t>
            </a:r>
            <a:endParaRPr lang="en-US" dirty="0"/>
          </a:p>
        </p:txBody>
      </p:sp>
      <p:sp>
        <p:nvSpPr>
          <p:cNvPr id="6" name="Slide Number Placeholder 5"/>
          <p:cNvSpPr>
            <a:spLocks noGrp="1"/>
          </p:cNvSpPr>
          <p:nvPr>
            <p:ph type="sldNum" sz="quarter" idx="12"/>
          </p:nvPr>
        </p:nvSpPr>
        <p:spPr/>
        <p:txBody>
          <a:bodyPr/>
          <a:lstStyle/>
          <a:p>
            <a:fld id="{9F157822-51F0-45BB-9757-8D5E85D7763A}" type="slidenum">
              <a:rPr lang="en-US" altLang="en-US" smtClean="0"/>
            </a:fld>
            <a:endParaRPr lang="en-US" altLang="en-US"/>
          </a:p>
        </p:txBody>
      </p:sp>
    </p:spTree>
  </p:cSld>
  <p:clrMapOvr>
    <a:masterClrMapping/>
  </p:clrMapOvr>
  <p:transition spd="slow">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The DSR Dependent Variable</a:t>
            </a:r>
            <a:endParaRPr lang="en-US" dirty="0"/>
          </a:p>
        </p:txBody>
      </p:sp>
      <p:sp>
        <p:nvSpPr>
          <p:cNvPr id="2" name="Content Placeholder 1"/>
          <p:cNvSpPr>
            <a:spLocks noGrp="1"/>
          </p:cNvSpPr>
          <p:nvPr>
            <p:ph sz="quarter" idx="1"/>
          </p:nvPr>
        </p:nvSpPr>
        <p:spPr/>
        <p:txBody>
          <a:bodyPr>
            <a:normAutofit fontScale="85000" lnSpcReduction="20000"/>
          </a:bodyPr>
          <a:lstStyle/>
          <a:p>
            <a:r>
              <a:rPr lang="en-US" smtClean="0"/>
              <a:t>Usefulness</a:t>
            </a:r>
            <a:endParaRPr lang="en-US" smtClean="0"/>
          </a:p>
          <a:p>
            <a:pPr lvl="1"/>
            <a:r>
              <a:rPr lang="en-US" smtClean="0"/>
              <a:t>Aligns with current MIS research paradigms</a:t>
            </a:r>
            <a:endParaRPr lang="en-US" smtClean="0"/>
          </a:p>
          <a:p>
            <a:pPr lvl="1"/>
            <a:r>
              <a:rPr lang="en-US" smtClean="0"/>
              <a:t>Well understood in academia and practice</a:t>
            </a:r>
            <a:endParaRPr lang="en-US" smtClean="0"/>
          </a:p>
          <a:p>
            <a:pPr lvl="1"/>
            <a:r>
              <a:rPr lang="en-US" smtClean="0"/>
              <a:t>Measurable with current instruments</a:t>
            </a:r>
            <a:endParaRPr lang="en-US" smtClean="0"/>
          </a:p>
          <a:p>
            <a:pPr lvl="1"/>
            <a:r>
              <a:rPr lang="en-US" smtClean="0"/>
              <a:t>Why look elsewhere?</a:t>
            </a:r>
            <a:endParaRPr lang="en-US" smtClean="0"/>
          </a:p>
          <a:p>
            <a:r>
              <a:rPr lang="en-US" smtClean="0"/>
              <a:t>Extend the search for DSR dependent variables</a:t>
            </a:r>
            <a:endParaRPr lang="en-US" smtClean="0"/>
          </a:p>
          <a:p>
            <a:pPr lvl="1"/>
            <a:r>
              <a:rPr lang="en-US" smtClean="0"/>
              <a:t>Explore ‘goodness’ ideas from other fields</a:t>
            </a:r>
            <a:endParaRPr lang="en-US" smtClean="0"/>
          </a:p>
          <a:p>
            <a:pPr lvl="1"/>
            <a:r>
              <a:rPr lang="en-US" smtClean="0"/>
              <a:t>Design Fitness (Biology)</a:t>
            </a:r>
            <a:endParaRPr lang="en-US" smtClean="0"/>
          </a:p>
          <a:p>
            <a:pPr lvl="1"/>
            <a:r>
              <a:rPr lang="en-US" smtClean="0"/>
              <a:t>Design Utility (Economics)</a:t>
            </a:r>
            <a:endParaRPr lang="en-US" smtClean="0"/>
          </a:p>
          <a:p>
            <a:r>
              <a:rPr lang="en-US" smtClean="0"/>
              <a:t>Goal is to complement and extend current DSR thinking</a:t>
            </a:r>
            <a:endParaRPr lang="en-US" dirty="0"/>
          </a:p>
        </p:txBody>
      </p:sp>
      <p:sp>
        <p:nvSpPr>
          <p:cNvPr id="5" name="Slide Number Placeholder 4"/>
          <p:cNvSpPr>
            <a:spLocks noGrp="1"/>
          </p:cNvSpPr>
          <p:nvPr>
            <p:ph type="sldNum" sz="quarter" idx="12"/>
          </p:nvPr>
        </p:nvSpPr>
        <p:spPr/>
        <p:txBody>
          <a:bodyPr/>
          <a:lstStyle/>
          <a:p>
            <a:fld id="{0B110475-1364-43A3-B27D-E628C1C40ED5}" type="slidenum">
              <a:rPr lang="en-US" smtClean="0"/>
            </a:fld>
            <a:endParaRPr lang="en-US"/>
          </a:p>
        </p:txBody>
      </p:sp>
    </p:spTree>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Design Fitness Landscape</a:t>
            </a:r>
            <a:endParaRPr lang="en-US" dirty="0"/>
          </a:p>
        </p:txBody>
      </p:sp>
      <p:sp>
        <p:nvSpPr>
          <p:cNvPr id="3" name="Content Placeholder 2"/>
          <p:cNvSpPr>
            <a:spLocks noGrp="1"/>
          </p:cNvSpPr>
          <p:nvPr>
            <p:ph sz="quarter" idx="1"/>
          </p:nvPr>
        </p:nvSpPr>
        <p:spPr/>
        <p:txBody>
          <a:bodyPr>
            <a:normAutofit fontScale="77500" lnSpcReduction="20000"/>
          </a:bodyPr>
          <a:lstStyle/>
          <a:p>
            <a:r>
              <a:rPr lang="en-US" smtClean="0"/>
              <a:t>In evolutionary biology, the term fitness landscape is used to describe a functional mapping between some abstract representation of an entity—such as a listing of attributes and traits or, even, as a DNA sequence—and its associated fitness that captures the entity’s ability to survive, reproduce, and evolve from generation to generation. </a:t>
            </a:r>
            <a:endParaRPr lang="en-US" smtClean="0"/>
          </a:p>
          <a:p>
            <a:r>
              <a:rPr lang="en-US" smtClean="0"/>
              <a:t>This concept can be generalized to design situations, whereby a design is represented as a collection of traits and its fitness represents the likelihood that all or some pieces of the design (which we informally refer to as design DNA) will continue to exist and evolve from generation to generation.</a:t>
            </a:r>
            <a:endParaRPr lang="en-US" smtClean="0"/>
          </a:p>
          <a:p>
            <a:endParaRPr lang="en-US" dirty="0"/>
          </a:p>
        </p:txBody>
      </p:sp>
      <p:sp>
        <p:nvSpPr>
          <p:cNvPr id="6" name="Slide Number Placeholder 5"/>
          <p:cNvSpPr>
            <a:spLocks noGrp="1"/>
          </p:cNvSpPr>
          <p:nvPr>
            <p:ph type="sldNum" sz="quarter" idx="12"/>
          </p:nvPr>
        </p:nvSpPr>
        <p:spPr/>
        <p:txBody>
          <a:bodyPr/>
          <a:lstStyle/>
          <a:p>
            <a:fld id="{5B3F03AE-E6A5-4B88-8B20-97FAAEBBF28D}" type="slidenum">
              <a:rPr lang="en-US" smtClean="0"/>
            </a:fld>
            <a:endParaRPr lang="en-US"/>
          </a:p>
        </p:txBody>
      </p:sp>
    </p:spTree>
  </p:cSld>
  <p:clrMapOvr>
    <a:masterClrMapping/>
  </p:clrMapOvr>
  <p:transition spd="slow">
    <p:wipe di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Design Process Elements</a:t>
            </a:r>
            <a:endParaRPr lang="en-US" dirty="0"/>
          </a:p>
        </p:txBody>
      </p:sp>
      <p:sp>
        <p:nvSpPr>
          <p:cNvPr id="6" name="Slide Number Placeholder 5"/>
          <p:cNvSpPr>
            <a:spLocks noGrp="1"/>
          </p:cNvSpPr>
          <p:nvPr>
            <p:ph type="sldNum" sz="quarter" idx="12"/>
          </p:nvPr>
        </p:nvSpPr>
        <p:spPr/>
        <p:txBody>
          <a:bodyPr/>
          <a:lstStyle/>
          <a:p>
            <a:fld id="{5B3F03AE-E6A5-4B88-8B20-97FAAEBBF28D}" type="slidenum">
              <a:rPr lang="en-US" smtClean="0"/>
            </a:fld>
            <a:endParaRPr lang="en-US"/>
          </a:p>
        </p:txBody>
      </p:sp>
      <p:pic>
        <p:nvPicPr>
          <p:cNvPr id="3" name="Picture 2"/>
          <p:cNvPicPr>
            <a:picLocks noChangeAspect="1"/>
          </p:cNvPicPr>
          <p:nvPr/>
        </p:nvPicPr>
        <p:blipFill>
          <a:blip r:embed="rId1" cstate="email">
            <a:extLst>
              <a:ext uri="{28A0092B-C50C-407E-A947-70E740481C1C}">
                <a14:useLocalDpi xmlns:a14="http://schemas.microsoft.com/office/drawing/2010/main" val="0"/>
              </a:ext>
            </a:extLst>
          </a:blip>
          <a:stretch>
            <a:fillRect/>
          </a:stretch>
        </p:blipFill>
        <p:spPr>
          <a:xfrm>
            <a:off x="-76200" y="1546412"/>
            <a:ext cx="9220200" cy="4244788"/>
          </a:xfrm>
          <a:prstGeom prst="rect">
            <a:avLst/>
          </a:prstGeom>
        </p:spPr>
      </p:pic>
    </p:spTree>
  </p:cSld>
  <p:clrMapOvr>
    <a:masterClrMapping/>
  </p:clrMapOvr>
  <p:transition spd="slow">
    <p:wipe di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Design Fitness</a:t>
            </a:r>
            <a:endParaRPr lang="en-US" dirty="0"/>
          </a:p>
        </p:txBody>
      </p:sp>
      <p:sp>
        <p:nvSpPr>
          <p:cNvPr id="7" name="Content Placeholder 6"/>
          <p:cNvSpPr>
            <a:spLocks noGrp="1"/>
          </p:cNvSpPr>
          <p:nvPr>
            <p:ph sz="quarter" idx="1"/>
          </p:nvPr>
        </p:nvSpPr>
        <p:spPr/>
        <p:txBody>
          <a:bodyPr>
            <a:normAutofit fontScale="92500" lnSpcReduction="10000"/>
          </a:bodyPr>
          <a:lstStyle/>
          <a:p>
            <a:r>
              <a:rPr lang="en-US" smtClean="0"/>
              <a:t>Definition 1 – The fitness of an organism describes its ability to survive as a high level of capacity over time.</a:t>
            </a:r>
            <a:endParaRPr lang="en-US" smtClean="0"/>
          </a:p>
          <a:p>
            <a:r>
              <a:rPr lang="en-US" smtClean="0"/>
              <a:t>Definition 2 – The fitness of an organism describes its ability to replicate and evolve over successive generations.</a:t>
            </a:r>
            <a:endParaRPr lang="en-US" smtClean="0"/>
          </a:p>
          <a:p>
            <a:r>
              <a:rPr lang="en-US" smtClean="0"/>
              <a:t>Two definitions are not correlated</a:t>
            </a:r>
            <a:endParaRPr lang="en-US" smtClean="0"/>
          </a:p>
          <a:p>
            <a:pPr lvl="1"/>
            <a:r>
              <a:rPr lang="en-US" smtClean="0"/>
              <a:t>Empirical data refutes Malthus’ proposition</a:t>
            </a:r>
            <a:endParaRPr lang="en-US" smtClean="0"/>
          </a:p>
          <a:p>
            <a:r>
              <a:rPr lang="en-US" smtClean="0"/>
              <a:t>Focus on Design Fitness as Definition 2</a:t>
            </a:r>
            <a:endParaRPr lang="en-US" dirty="0" smtClean="0"/>
          </a:p>
        </p:txBody>
      </p:sp>
      <p:sp>
        <p:nvSpPr>
          <p:cNvPr id="4" name="Slide Number Placeholder 3"/>
          <p:cNvSpPr>
            <a:spLocks noGrp="1"/>
          </p:cNvSpPr>
          <p:nvPr>
            <p:ph type="sldNum" sz="quarter" idx="12"/>
          </p:nvPr>
        </p:nvSpPr>
        <p:spPr/>
        <p:txBody>
          <a:bodyPr/>
          <a:lstStyle/>
          <a:p>
            <a:fld id="{0B110475-1364-43A3-B27D-E628C1C40ED5}" type="slidenum">
              <a:rPr lang="en-US" smtClean="0"/>
            </a:fld>
            <a:endParaRPr lang="en-US"/>
          </a:p>
        </p:txBody>
      </p:sp>
    </p:spTree>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Design Utility</a:t>
            </a:r>
            <a:endParaRPr lang="en-US" dirty="0"/>
          </a:p>
        </p:txBody>
      </p:sp>
      <p:sp>
        <p:nvSpPr>
          <p:cNvPr id="2" name="Content Placeholder 1"/>
          <p:cNvSpPr>
            <a:spLocks noGrp="1"/>
          </p:cNvSpPr>
          <p:nvPr>
            <p:ph sz="quarter" idx="1"/>
          </p:nvPr>
        </p:nvSpPr>
        <p:spPr/>
        <p:txBody>
          <a:bodyPr>
            <a:normAutofit fontScale="77500" lnSpcReduction="20000"/>
          </a:bodyPr>
          <a:lstStyle/>
          <a:p>
            <a:r>
              <a:rPr lang="en-US" smtClean="0"/>
              <a:t>IS Artifact Utility typically means Usefulness</a:t>
            </a:r>
            <a:endParaRPr lang="en-US" smtClean="0"/>
          </a:p>
          <a:p>
            <a:pPr lvl="1"/>
            <a:r>
              <a:rPr lang="en-US" smtClean="0"/>
              <a:t>Efficacy to perform task</a:t>
            </a:r>
            <a:endParaRPr lang="en-US" smtClean="0"/>
          </a:p>
          <a:p>
            <a:pPr lvl="1"/>
            <a:r>
              <a:rPr lang="en-US" smtClean="0"/>
              <a:t>Ease of Use, Ease of Learning</a:t>
            </a:r>
            <a:endParaRPr lang="en-US" smtClean="0"/>
          </a:p>
          <a:p>
            <a:pPr lvl="1"/>
            <a:r>
              <a:rPr lang="en-US" smtClean="0"/>
              <a:t>Cost-Benefit vis-à-vis other artifacts</a:t>
            </a:r>
            <a:endParaRPr lang="en-US" smtClean="0"/>
          </a:p>
          <a:p>
            <a:r>
              <a:rPr lang="en-US" smtClean="0"/>
              <a:t>Economic Utility involves a complex Utility Function used to rank alternatives in order to Maximize Utility</a:t>
            </a:r>
            <a:endParaRPr lang="en-US" smtClean="0"/>
          </a:p>
          <a:p>
            <a:pPr lvl="1"/>
            <a:r>
              <a:rPr lang="en-US" smtClean="0"/>
              <a:t>Utility = u(x1, x2, …, xN)</a:t>
            </a:r>
            <a:endParaRPr lang="en-US" smtClean="0"/>
          </a:p>
          <a:p>
            <a:r>
              <a:rPr lang="en-US" smtClean="0"/>
              <a:t>Utility Characteristics</a:t>
            </a:r>
            <a:endParaRPr lang="en-US" smtClean="0"/>
          </a:p>
          <a:p>
            <a:pPr lvl="1"/>
            <a:r>
              <a:rPr lang="en-US" smtClean="0"/>
              <a:t>Income and consumption</a:t>
            </a:r>
            <a:endParaRPr lang="en-US" smtClean="0"/>
          </a:p>
          <a:p>
            <a:pPr lvl="1"/>
            <a:r>
              <a:rPr lang="en-US" smtClean="0"/>
              <a:t>Expectations and goals</a:t>
            </a:r>
            <a:endParaRPr lang="en-US" smtClean="0"/>
          </a:p>
          <a:p>
            <a:pPr lvl="1"/>
            <a:r>
              <a:rPr lang="en-US" smtClean="0"/>
              <a:t>Social context</a:t>
            </a:r>
            <a:endParaRPr lang="en-US" smtClean="0"/>
          </a:p>
          <a:p>
            <a:pPr lvl="1"/>
            <a:r>
              <a:rPr lang="en-US" smtClean="0"/>
              <a:t>Utility Function will vary for different application contexts</a:t>
            </a:r>
            <a:endParaRPr lang="en-US" dirty="0"/>
          </a:p>
        </p:txBody>
      </p:sp>
      <p:sp>
        <p:nvSpPr>
          <p:cNvPr id="5" name="Slide Number Placeholder 4"/>
          <p:cNvSpPr>
            <a:spLocks noGrp="1"/>
          </p:cNvSpPr>
          <p:nvPr>
            <p:ph type="sldNum" sz="quarter" idx="12"/>
          </p:nvPr>
        </p:nvSpPr>
        <p:spPr/>
        <p:txBody>
          <a:bodyPr/>
          <a:lstStyle/>
          <a:p>
            <a:fld id="{0B110475-1364-43A3-B27D-E628C1C40ED5}" type="slidenum">
              <a:rPr lang="en-US" smtClean="0"/>
            </a:fld>
            <a:endParaRPr lang="en-US"/>
          </a:p>
        </p:txBody>
      </p:sp>
    </p:spTree>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Evolutionary Economics</a:t>
            </a:r>
            <a:endParaRPr lang="en-US" dirty="0"/>
          </a:p>
        </p:txBody>
      </p:sp>
      <p:sp>
        <p:nvSpPr>
          <p:cNvPr id="2" name="Content Placeholder 1"/>
          <p:cNvSpPr>
            <a:spLocks noGrp="1"/>
          </p:cNvSpPr>
          <p:nvPr>
            <p:ph sz="quarter" idx="1"/>
          </p:nvPr>
        </p:nvSpPr>
        <p:spPr/>
        <p:txBody>
          <a:bodyPr>
            <a:normAutofit fontScale="85000" lnSpcReduction="20000"/>
          </a:bodyPr>
          <a:lstStyle/>
          <a:p>
            <a:r>
              <a:rPr lang="en-US" smtClean="0"/>
              <a:t>Essentially, the human utility function is tuned to maximize evolutionary fitness on a fitness landscape</a:t>
            </a:r>
            <a:endParaRPr lang="en-US" smtClean="0"/>
          </a:p>
          <a:p>
            <a:pPr lvl="1"/>
            <a:r>
              <a:rPr lang="en-US" smtClean="0"/>
              <a:t>Higher fitness humans will crowd out lower fitness humans over time</a:t>
            </a:r>
            <a:endParaRPr lang="en-US" smtClean="0"/>
          </a:p>
          <a:p>
            <a:r>
              <a:rPr lang="en-US" smtClean="0"/>
              <a:t>Since fitness landscapes change over time, Evolutionary Stable Strategies (ESS) encourage traits that promote diversity and adaptation</a:t>
            </a:r>
            <a:endParaRPr lang="en-US" smtClean="0"/>
          </a:p>
          <a:p>
            <a:r>
              <a:rPr lang="en-US" smtClean="0"/>
              <a:t>While Human Evolution is slow, ICT Evolution is rapid, made more so by good DSR</a:t>
            </a:r>
            <a:endParaRPr lang="en-US" smtClean="0"/>
          </a:p>
          <a:p>
            <a:pPr lvl="1"/>
            <a:r>
              <a:rPr lang="en-US" smtClean="0"/>
              <a:t>What is a good design utility function to apply to a complex and evolving ICT fitness landscape?</a:t>
            </a:r>
            <a:endParaRPr lang="en-US" dirty="0"/>
          </a:p>
        </p:txBody>
      </p:sp>
      <p:sp>
        <p:nvSpPr>
          <p:cNvPr id="5" name="Slide Number Placeholder 4"/>
          <p:cNvSpPr>
            <a:spLocks noGrp="1"/>
          </p:cNvSpPr>
          <p:nvPr>
            <p:ph type="sldNum" sz="quarter" idx="12"/>
          </p:nvPr>
        </p:nvSpPr>
        <p:spPr/>
        <p:txBody>
          <a:bodyPr/>
          <a:lstStyle/>
          <a:p>
            <a:fld id="{0B110475-1364-43A3-B27D-E628C1C40ED5}" type="slidenum">
              <a:rPr lang="en-US" smtClean="0"/>
            </a:fld>
            <a:endParaRPr lang="en-US"/>
          </a:p>
        </p:txBody>
      </p:sp>
    </p:spTree>
  </p:cSld>
  <p:clrMapOvr>
    <a:masterClrMapping/>
  </p:clrMapOvr>
  <p:transition spd="slow">
    <p:wip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mtClean="0"/>
              <a:t>Fitness-Utility Model applied to DSR</a:t>
            </a:r>
            <a:endParaRPr lang="en-US" dirty="0"/>
          </a:p>
        </p:txBody>
      </p:sp>
      <p:sp>
        <p:nvSpPr>
          <p:cNvPr id="2" name="Content Placeholder 1"/>
          <p:cNvSpPr>
            <a:spLocks noGrp="1"/>
          </p:cNvSpPr>
          <p:nvPr>
            <p:ph sz="quarter" idx="1"/>
          </p:nvPr>
        </p:nvSpPr>
        <p:spPr/>
        <p:txBody>
          <a:bodyPr>
            <a:normAutofit fontScale="70000" lnSpcReduction="20000"/>
          </a:bodyPr>
          <a:lstStyle/>
          <a:p>
            <a:r>
              <a:rPr lang="en-US" smtClean="0"/>
              <a:t>A design artifact has an associated fitness that designers estimate via design utility functions</a:t>
            </a:r>
            <a:endParaRPr lang="en-US" smtClean="0"/>
          </a:p>
          <a:p>
            <a:r>
              <a:rPr lang="en-US" smtClean="0"/>
              <a:t>Artifacts perform two roles in the design search process: </a:t>
            </a:r>
            <a:endParaRPr lang="en-US" smtClean="0"/>
          </a:p>
          <a:p>
            <a:pPr lvl="1"/>
            <a:r>
              <a:rPr lang="en-US" smtClean="0"/>
              <a:t>They provide evidence that a particular design candidate is feasible, has value, can be effectively represented, and can be built. This serves to help us better estimate the shape of the design fitness landscape</a:t>
            </a:r>
            <a:endParaRPr lang="en-US" smtClean="0"/>
          </a:p>
          <a:p>
            <a:pPr lvl="1"/>
            <a:r>
              <a:rPr lang="en-US" smtClean="0"/>
              <a:t>They provide a mechanism for communication between designers and for retaining information that might be imperfectly stored during the design process</a:t>
            </a:r>
            <a:endParaRPr lang="en-US" smtClean="0"/>
          </a:p>
          <a:p>
            <a:r>
              <a:rPr lang="en-US" smtClean="0"/>
              <a:t>Intentionality – Creative guidance that differentiates ICT design/evolution from human evolution</a:t>
            </a:r>
            <a:endParaRPr lang="en-US" smtClean="0"/>
          </a:p>
          <a:p>
            <a:r>
              <a:rPr lang="en-US" smtClean="0"/>
              <a:t>Search on the design space changes the design space by modifying the utility function of design fitness</a:t>
            </a:r>
            <a:endParaRPr lang="en-US" dirty="0"/>
          </a:p>
        </p:txBody>
      </p:sp>
      <p:sp>
        <p:nvSpPr>
          <p:cNvPr id="5" name="Slide Number Placeholder 4"/>
          <p:cNvSpPr>
            <a:spLocks noGrp="1"/>
          </p:cNvSpPr>
          <p:nvPr>
            <p:ph type="sldNum" sz="quarter" idx="12"/>
          </p:nvPr>
        </p:nvSpPr>
        <p:spPr/>
        <p:txBody>
          <a:bodyPr/>
          <a:lstStyle/>
          <a:p>
            <a:fld id="{0B110475-1364-43A3-B27D-E628C1C40ED5}" type="slidenum">
              <a:rPr lang="en-US" smtClean="0"/>
            </a:fld>
            <a:endParaRPr lang="en-US"/>
          </a:p>
        </p:txBody>
      </p:sp>
    </p:spTree>
  </p:cSld>
  <p:clrMapOvr>
    <a:masterClrMapping/>
  </p:clrMapOvr>
  <p:transition spd="slow">
    <p:wip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mtClean="0"/>
              <a:t>Re-Framing DSR with Fitness-Utility</a:t>
            </a:r>
            <a:endParaRPr lang="en-US" dirty="0"/>
          </a:p>
        </p:txBody>
      </p:sp>
      <p:sp>
        <p:nvSpPr>
          <p:cNvPr id="2" name="Content Placeholder 1"/>
          <p:cNvSpPr>
            <a:spLocks noGrp="1"/>
          </p:cNvSpPr>
          <p:nvPr>
            <p:ph sz="quarter" idx="1"/>
          </p:nvPr>
        </p:nvSpPr>
        <p:spPr/>
        <p:txBody>
          <a:bodyPr/>
          <a:lstStyle/>
          <a:p>
            <a:r>
              <a:rPr lang="en-US" smtClean="0"/>
              <a:t>The goal of DSR is to impact the design space so as to ensure a continuous flow of high fitness design artifacts. This impact is accomplished in two ways: through the production of artifacts that demonstrate the feasibility of new designs and through improving the utility function that we use to assess the fitness of evaluation artifacts.</a:t>
            </a:r>
            <a:endParaRPr lang="en-US" dirty="0" smtClean="0"/>
          </a:p>
        </p:txBody>
      </p:sp>
      <p:sp>
        <p:nvSpPr>
          <p:cNvPr id="5" name="Slide Number Placeholder 4"/>
          <p:cNvSpPr>
            <a:spLocks noGrp="1"/>
          </p:cNvSpPr>
          <p:nvPr>
            <p:ph type="sldNum" sz="quarter" idx="12"/>
          </p:nvPr>
        </p:nvSpPr>
        <p:spPr/>
        <p:txBody>
          <a:bodyPr/>
          <a:lstStyle/>
          <a:p>
            <a:fld id="{0B110475-1364-43A3-B27D-E628C1C40ED5}" type="slidenum">
              <a:rPr lang="en-US" smtClean="0"/>
            </a:fld>
            <a:endParaRPr lang="en-US"/>
          </a:p>
        </p:txBody>
      </p:sp>
    </p:spTree>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DSR Evaluation with Fitness-Utility</a:t>
            </a:r>
            <a:endParaRPr lang="en-US" dirty="0"/>
          </a:p>
        </p:txBody>
      </p:sp>
      <p:sp>
        <p:nvSpPr>
          <p:cNvPr id="2" name="Content Placeholder 1"/>
          <p:cNvSpPr>
            <a:spLocks noGrp="1"/>
          </p:cNvSpPr>
          <p:nvPr>
            <p:ph sz="quarter" idx="1"/>
          </p:nvPr>
        </p:nvSpPr>
        <p:spPr/>
        <p:txBody>
          <a:bodyPr>
            <a:normAutofit fontScale="92500" lnSpcReduction="10000"/>
          </a:bodyPr>
          <a:lstStyle/>
          <a:p>
            <a:r>
              <a:rPr lang="en-US" smtClean="0"/>
              <a:t>As opposed to just Usefulness, the evaluation would be based on a more extensive and detailed utility function that estimates the evolutionary fitness of the artifact</a:t>
            </a:r>
            <a:endParaRPr lang="en-US" smtClean="0"/>
          </a:p>
          <a:p>
            <a:r>
              <a:rPr lang="en-US" smtClean="0"/>
              <a:t>Utility Function Attributes:</a:t>
            </a:r>
            <a:endParaRPr lang="en-US" smtClean="0"/>
          </a:p>
          <a:p>
            <a:pPr lvl="1"/>
            <a:r>
              <a:rPr lang="en-US" smtClean="0"/>
              <a:t>Support the design’s ability to evolve incrementally;</a:t>
            </a:r>
            <a:endParaRPr lang="en-US" smtClean="0"/>
          </a:p>
          <a:p>
            <a:pPr lvl="1"/>
            <a:r>
              <a:rPr lang="en-US" smtClean="0"/>
              <a:t>Encourage experimentation by users and other designers; and</a:t>
            </a:r>
            <a:endParaRPr lang="en-US" smtClean="0"/>
          </a:p>
          <a:p>
            <a:pPr lvl="1"/>
            <a:r>
              <a:rPr lang="en-US" smtClean="0"/>
              <a:t>Are effective memes, meaning that they contain ideas of a form that propagate and replicate.</a:t>
            </a:r>
            <a:endParaRPr lang="en-US" smtClean="0"/>
          </a:p>
          <a:p>
            <a:endParaRPr lang="en-US" smtClean="0"/>
          </a:p>
          <a:p>
            <a:endParaRPr lang="en-US" dirty="0" smtClean="0"/>
          </a:p>
        </p:txBody>
      </p:sp>
      <p:sp>
        <p:nvSpPr>
          <p:cNvPr id="5" name="Slide Number Placeholder 4"/>
          <p:cNvSpPr>
            <a:spLocks noGrp="1"/>
          </p:cNvSpPr>
          <p:nvPr>
            <p:ph type="sldNum" sz="quarter" idx="12"/>
          </p:nvPr>
        </p:nvSpPr>
        <p:spPr/>
        <p:txBody>
          <a:bodyPr/>
          <a:lstStyle/>
          <a:p>
            <a:fld id="{0B110475-1364-43A3-B27D-E628C1C40ED5}" type="slidenum">
              <a:rPr lang="en-US" smtClean="0"/>
            </a:fld>
            <a:endParaRPr lang="en-US"/>
          </a:p>
        </p:txBody>
      </p:sp>
    </p:spTree>
  </p:cSld>
  <p:clrMapOvr>
    <a:masterClrMapping/>
  </p:clrMapOvr>
  <p:transition spd="slow">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95250"/>
            <a:ext cx="8077200" cy="1143000"/>
          </a:xfrm>
        </p:spPr>
        <p:txBody>
          <a:bodyPr/>
          <a:lstStyle/>
          <a:p>
            <a:r>
              <a:rPr lang="en-US" dirty="0" smtClean="0"/>
              <a:t>Fitness Characteristics</a:t>
            </a:r>
            <a:endParaRPr lang="en-US" dirty="0"/>
          </a:p>
        </p:txBody>
      </p:sp>
      <p:sp>
        <p:nvSpPr>
          <p:cNvPr id="5" name="Slide Number Placeholder 4"/>
          <p:cNvSpPr>
            <a:spLocks noGrp="1"/>
          </p:cNvSpPr>
          <p:nvPr>
            <p:ph type="sldNum" sz="quarter" idx="12"/>
          </p:nvPr>
        </p:nvSpPr>
        <p:spPr/>
        <p:txBody>
          <a:bodyPr/>
          <a:lstStyle/>
          <a:p>
            <a:fld id="{0B110475-1364-43A3-B27D-E628C1C40ED5}" type="slidenum">
              <a:rPr lang="en-US" smtClean="0"/>
            </a:fld>
            <a:endParaRPr lang="en-US"/>
          </a:p>
        </p:txBody>
      </p:sp>
      <p:sp>
        <p:nvSpPr>
          <p:cNvPr id="2" name="TextBox 1"/>
          <p:cNvSpPr txBox="1"/>
          <p:nvPr/>
        </p:nvSpPr>
        <p:spPr>
          <a:xfrm>
            <a:off x="152400" y="1295400"/>
            <a:ext cx="2057400" cy="4801314"/>
          </a:xfrm>
          <a:prstGeom prst="rect">
            <a:avLst/>
          </a:prstGeom>
          <a:noFill/>
        </p:spPr>
        <p:txBody>
          <a:bodyPr wrap="square" rtlCol="0">
            <a:spAutoFit/>
          </a:bodyPr>
          <a:lstStyle/>
          <a:p>
            <a:r>
              <a:rPr lang="en-US" dirty="0" smtClean="0"/>
              <a:t>Questions:</a:t>
            </a:r>
            <a:endParaRPr lang="en-US" dirty="0" smtClean="0"/>
          </a:p>
          <a:p>
            <a:pPr marL="285750" indent="-285750">
              <a:buFont typeface="Arial" panose="020B0604020202020204" pitchFamily="34" charset="0"/>
              <a:buChar char="•"/>
            </a:pPr>
            <a:r>
              <a:rPr lang="en-US" dirty="0" smtClean="0"/>
              <a:t>How to measure the fitness characteristics?</a:t>
            </a:r>
            <a:endParaRPr lang="en-US" dirty="0" smtClean="0"/>
          </a:p>
          <a:p>
            <a:pPr marL="285750" indent="-285750">
              <a:buFont typeface="Arial" panose="020B0604020202020204" pitchFamily="34" charset="0"/>
              <a:buChar char="•"/>
            </a:pPr>
            <a:r>
              <a:rPr lang="en-US" dirty="0" smtClean="0"/>
              <a:t>How to select appropriate characteristics for application environment?</a:t>
            </a:r>
            <a:endParaRPr lang="en-US" dirty="0" smtClean="0"/>
          </a:p>
          <a:p>
            <a:pPr marL="285750" indent="-285750">
              <a:buFont typeface="Arial" panose="020B0604020202020204" pitchFamily="34" charset="0"/>
              <a:buChar char="•"/>
            </a:pPr>
            <a:r>
              <a:rPr lang="en-US" dirty="0" smtClean="0"/>
              <a:t>How to combine and weigh characteristics in utility function?</a:t>
            </a:r>
            <a:endParaRPr lang="en-US" dirty="0" smtClean="0"/>
          </a:p>
          <a:p>
            <a:pPr marL="285750" indent="-285750">
              <a:buFont typeface="Arial" panose="020B0604020202020204" pitchFamily="34" charset="0"/>
              <a:buChar char="•"/>
            </a:pPr>
            <a:r>
              <a:rPr lang="en-US" dirty="0" smtClean="0"/>
              <a:t>How to evolve utility function as environment changes?</a:t>
            </a:r>
            <a:endParaRPr lang="en-US" dirty="0"/>
          </a:p>
        </p:txBody>
      </p:sp>
      <p:pic>
        <p:nvPicPr>
          <p:cNvPr id="6" name="Picture 5"/>
          <p:cNvPicPr/>
          <p:nvPr/>
        </p:nvPicPr>
        <p:blipFill rotWithShape="1">
          <a:blip r:embed="rId1" cstate="email">
            <a:extLst>
              <a:ext uri="{28A0092B-C50C-407E-A947-70E740481C1C}">
                <a14:useLocalDpi xmlns:a14="http://schemas.microsoft.com/office/drawing/2010/main" val="0"/>
              </a:ext>
            </a:extLst>
          </a:blip>
          <a:srcRect t="4488" b="26068"/>
          <a:stretch>
            <a:fillRect/>
          </a:stretch>
        </p:blipFill>
        <p:spPr bwMode="auto">
          <a:xfrm>
            <a:off x="2209800" y="1447800"/>
            <a:ext cx="6934200" cy="4419600"/>
          </a:xfrm>
          <a:prstGeom prst="rect">
            <a:avLst/>
          </a:prstGeom>
          <a:ln w="15875">
            <a:solidFill>
              <a:schemeClr val="tx1"/>
            </a:solidFill>
          </a:ln>
        </p:spPr>
      </p:pic>
    </p:spTree>
  </p:cSld>
  <p:clrMapOvr>
    <a:masterClrMapping/>
  </p:clrMapOvr>
  <p:transition spd="slow">
    <p:wip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Designs That are Too Useful?</a:t>
            </a:r>
            <a:endParaRPr lang="en-US" dirty="0"/>
          </a:p>
        </p:txBody>
      </p:sp>
      <p:sp>
        <p:nvSpPr>
          <p:cNvPr id="3" name="Content Placeholder 2"/>
          <p:cNvSpPr>
            <a:spLocks noGrp="1"/>
          </p:cNvSpPr>
          <p:nvPr>
            <p:ph sz="quarter" idx="1"/>
          </p:nvPr>
        </p:nvSpPr>
        <p:spPr/>
        <p:txBody>
          <a:bodyPr>
            <a:normAutofit lnSpcReduction="10000"/>
          </a:bodyPr>
          <a:lstStyle/>
          <a:p>
            <a:r>
              <a:rPr lang="en-US" smtClean="0"/>
              <a:t>Situations where a design artifact becomes so useful that it inhibits future design activity</a:t>
            </a:r>
            <a:endParaRPr lang="en-US" smtClean="0"/>
          </a:p>
          <a:p>
            <a:r>
              <a:rPr lang="en-US" smtClean="0"/>
              <a:t>The tendency of organizations to stick with designs that have proven useful is a well-documented phenomenon known as the Innovator’s Dilemma (Christensen, 1997)</a:t>
            </a:r>
            <a:endParaRPr lang="en-US" smtClean="0"/>
          </a:p>
          <a:p>
            <a:pPr lvl="1"/>
            <a:r>
              <a:rPr lang="en-US" smtClean="0"/>
              <a:t>Disk Drives</a:t>
            </a:r>
            <a:endParaRPr lang="en-US" smtClean="0"/>
          </a:p>
          <a:p>
            <a:pPr lvl="1"/>
            <a:r>
              <a:rPr lang="en-US" smtClean="0"/>
              <a:t>Printers</a:t>
            </a:r>
            <a:endParaRPr lang="en-US" smtClean="0"/>
          </a:p>
          <a:p>
            <a:pPr lvl="1"/>
            <a:r>
              <a:rPr lang="en-US" smtClean="0"/>
              <a:t>Mini-computers</a:t>
            </a:r>
            <a:endParaRPr lang="en-US" dirty="0"/>
          </a:p>
        </p:txBody>
      </p:sp>
      <p:sp>
        <p:nvSpPr>
          <p:cNvPr id="6" name="Slide Number Placeholder 5"/>
          <p:cNvSpPr>
            <a:spLocks noGrp="1"/>
          </p:cNvSpPr>
          <p:nvPr>
            <p:ph type="sldNum" sz="quarter" idx="12"/>
          </p:nvPr>
        </p:nvSpPr>
        <p:spPr/>
        <p:txBody>
          <a:bodyPr/>
          <a:lstStyle/>
          <a:p>
            <a:fld id="{5B3F03AE-E6A5-4B88-8B20-97FAAEBBF28D}" type="slidenum">
              <a:rPr lang="en-US" smtClean="0"/>
            </a:fld>
            <a:endParaRPr lang="en-US"/>
          </a:p>
        </p:txBody>
      </p:sp>
    </p:spTree>
  </p:cSld>
  <p:clrMapOvr>
    <a:masterClrMapping/>
  </p:clrMapOvr>
  <p:transition spd="slow">
    <p:wipe dir="d"/>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Decomposable Designs</a:t>
            </a:r>
            <a:endParaRPr lang="en-US" dirty="0"/>
          </a:p>
        </p:txBody>
      </p:sp>
      <p:sp>
        <p:nvSpPr>
          <p:cNvPr id="3" name="Content Placeholder 2"/>
          <p:cNvSpPr>
            <a:spLocks noGrp="1"/>
          </p:cNvSpPr>
          <p:nvPr>
            <p:ph sz="quarter" idx="1"/>
          </p:nvPr>
        </p:nvSpPr>
        <p:spPr/>
        <p:txBody>
          <a:bodyPr>
            <a:normAutofit fontScale="92500" lnSpcReduction="10000"/>
          </a:bodyPr>
          <a:lstStyle/>
          <a:p>
            <a:r>
              <a:rPr lang="en-US" smtClean="0"/>
              <a:t>Systems evolve from nearly decomposable subsystems (Simon, 1996)</a:t>
            </a:r>
            <a:endParaRPr lang="en-US" smtClean="0"/>
          </a:p>
          <a:p>
            <a:r>
              <a:rPr lang="en-US" smtClean="0"/>
              <a:t>Decomposability supports:</a:t>
            </a:r>
            <a:endParaRPr lang="en-US" smtClean="0"/>
          </a:p>
          <a:p>
            <a:pPr lvl="1"/>
            <a:r>
              <a:rPr lang="en-US" smtClean="0"/>
              <a:t>Independence of modules</a:t>
            </a:r>
            <a:endParaRPr lang="en-US" smtClean="0"/>
          </a:p>
          <a:p>
            <a:pPr lvl="1"/>
            <a:r>
              <a:rPr lang="en-US" smtClean="0"/>
              <a:t>Information hiding</a:t>
            </a:r>
            <a:endParaRPr lang="en-US" smtClean="0"/>
          </a:p>
          <a:p>
            <a:pPr lvl="1"/>
            <a:r>
              <a:rPr lang="en-US" smtClean="0"/>
              <a:t>Maintenance and evolution of modules separately from whole system</a:t>
            </a:r>
            <a:endParaRPr lang="en-US" smtClean="0"/>
          </a:p>
          <a:p>
            <a:pPr lvl="1"/>
            <a:r>
              <a:rPr lang="en-US" smtClean="0"/>
              <a:t>Robustness</a:t>
            </a:r>
            <a:endParaRPr lang="en-US" smtClean="0"/>
          </a:p>
          <a:p>
            <a:r>
              <a:rPr lang="en-US" smtClean="0"/>
              <a:t>Exemplar – Open Source Software</a:t>
            </a:r>
            <a:endParaRPr lang="en-US" dirty="0"/>
          </a:p>
        </p:txBody>
      </p:sp>
      <p:sp>
        <p:nvSpPr>
          <p:cNvPr id="6" name="Slide Number Placeholder 5"/>
          <p:cNvSpPr>
            <a:spLocks noGrp="1"/>
          </p:cNvSpPr>
          <p:nvPr>
            <p:ph type="sldNum" sz="quarter" idx="12"/>
          </p:nvPr>
        </p:nvSpPr>
        <p:spPr/>
        <p:txBody>
          <a:bodyPr/>
          <a:lstStyle/>
          <a:p>
            <a:fld id="{5B3F03AE-E6A5-4B88-8B20-97FAAEBBF28D}" type="slidenum">
              <a:rPr lang="en-US" smtClean="0"/>
            </a:fld>
            <a:endParaRPr lang="en-US"/>
          </a:p>
        </p:txBody>
      </p:sp>
    </p:spTree>
  </p:cSld>
  <p:clrMapOvr>
    <a:masterClrMapping/>
  </p:clrMapOvr>
  <p:transition spd="slow">
    <p:wipe dir="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Malleable Designs</a:t>
            </a:r>
            <a:endParaRPr lang="en-US" dirty="0"/>
          </a:p>
        </p:txBody>
      </p:sp>
      <p:sp>
        <p:nvSpPr>
          <p:cNvPr id="3" name="Content Placeholder 2"/>
          <p:cNvSpPr>
            <a:spLocks noGrp="1"/>
          </p:cNvSpPr>
          <p:nvPr>
            <p:ph sz="quarter" idx="1"/>
          </p:nvPr>
        </p:nvSpPr>
        <p:spPr/>
        <p:txBody>
          <a:bodyPr>
            <a:normAutofit lnSpcReduction="10000"/>
          </a:bodyPr>
          <a:lstStyle/>
          <a:p>
            <a:r>
              <a:rPr lang="en-US" smtClean="0"/>
              <a:t>The malleability of an artifact represents the degree to which it can be adapted by its users and respond to changing use/market environments </a:t>
            </a:r>
            <a:endParaRPr lang="en-US" smtClean="0"/>
          </a:p>
          <a:p>
            <a:r>
              <a:rPr lang="en-US" smtClean="0"/>
              <a:t>Types of malleability</a:t>
            </a:r>
            <a:endParaRPr lang="en-US" smtClean="0"/>
          </a:p>
          <a:p>
            <a:pPr lvl="1"/>
            <a:r>
              <a:rPr lang="en-US" smtClean="0"/>
              <a:t>Customization</a:t>
            </a:r>
            <a:endParaRPr lang="en-US" smtClean="0"/>
          </a:p>
          <a:p>
            <a:pPr lvl="1"/>
            <a:r>
              <a:rPr lang="en-US" smtClean="0"/>
              <a:t>Exaptation</a:t>
            </a:r>
            <a:endParaRPr lang="en-US" smtClean="0"/>
          </a:p>
          <a:p>
            <a:pPr lvl="1"/>
            <a:r>
              <a:rPr lang="en-US" smtClean="0"/>
              <a:t>Integration</a:t>
            </a:r>
            <a:endParaRPr lang="en-US" smtClean="0"/>
          </a:p>
          <a:p>
            <a:pPr lvl="1"/>
            <a:r>
              <a:rPr lang="en-US" smtClean="0"/>
              <a:t>Extension</a:t>
            </a:r>
            <a:endParaRPr lang="en-US" dirty="0"/>
          </a:p>
        </p:txBody>
      </p:sp>
      <p:sp>
        <p:nvSpPr>
          <p:cNvPr id="6" name="Slide Number Placeholder 5"/>
          <p:cNvSpPr>
            <a:spLocks noGrp="1"/>
          </p:cNvSpPr>
          <p:nvPr>
            <p:ph type="sldNum" sz="quarter" idx="12"/>
          </p:nvPr>
        </p:nvSpPr>
        <p:spPr/>
        <p:txBody>
          <a:bodyPr/>
          <a:lstStyle/>
          <a:p>
            <a:fld id="{5B3F03AE-E6A5-4B88-8B20-97FAAEBBF28D}" type="slidenum">
              <a:rPr lang="en-US" smtClean="0"/>
            </a:fld>
            <a:endParaRPr lang="en-US"/>
          </a:p>
        </p:txBody>
      </p:sp>
    </p:spTree>
  </p:cSld>
  <p:clrMapOvr>
    <a:masterClrMapping/>
  </p:clrMapOvr>
  <p:transition spd="slow">
    <p:wipe di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Open Designs</a:t>
            </a:r>
            <a:endParaRPr lang="en-US" dirty="0"/>
          </a:p>
        </p:txBody>
      </p:sp>
      <p:sp>
        <p:nvSpPr>
          <p:cNvPr id="3" name="Content Placeholder 2"/>
          <p:cNvSpPr>
            <a:spLocks noGrp="1"/>
          </p:cNvSpPr>
          <p:nvPr>
            <p:ph sz="quarter" idx="1"/>
          </p:nvPr>
        </p:nvSpPr>
        <p:spPr/>
        <p:txBody>
          <a:bodyPr>
            <a:normAutofit lnSpcReduction="10000"/>
          </a:bodyPr>
          <a:lstStyle/>
          <a:p>
            <a:r>
              <a:rPr lang="en-US" smtClean="0"/>
              <a:t>Openness is the degree to which artifacts are open to inspection, modification, and reuse</a:t>
            </a:r>
            <a:endParaRPr lang="en-US" smtClean="0"/>
          </a:p>
          <a:p>
            <a:r>
              <a:rPr lang="en-US" smtClean="0"/>
              <a:t>Open designs—particularly when also imbued with decomposability and malleability—encourage further design evolution by making it easier both to see how an artifact is constructed and to modify existing components of the artifact</a:t>
            </a:r>
            <a:endParaRPr lang="en-US" smtClean="0"/>
          </a:p>
          <a:p>
            <a:r>
              <a:rPr lang="en-US" smtClean="0"/>
              <a:t>Exemplar – UNIX vs. LINUX</a:t>
            </a:r>
            <a:endParaRPr lang="en-US" dirty="0"/>
          </a:p>
        </p:txBody>
      </p:sp>
      <p:sp>
        <p:nvSpPr>
          <p:cNvPr id="6" name="Slide Number Placeholder 5"/>
          <p:cNvSpPr>
            <a:spLocks noGrp="1"/>
          </p:cNvSpPr>
          <p:nvPr>
            <p:ph type="sldNum" sz="quarter" idx="12"/>
          </p:nvPr>
        </p:nvSpPr>
        <p:spPr/>
        <p:txBody>
          <a:bodyPr/>
          <a:lstStyle/>
          <a:p>
            <a:fld id="{5B3F03AE-E6A5-4B88-8B20-97FAAEBBF28D}" type="slidenum">
              <a:rPr lang="en-US" smtClean="0"/>
            </a:fld>
            <a:endParaRPr lang="en-US"/>
          </a:p>
        </p:txBody>
      </p:sp>
    </p:spTree>
  </p:cSld>
  <p:clrMapOvr>
    <a:masterClrMapping/>
  </p:clrMapOvr>
  <p:transition spd="slow">
    <p:wipe dir="d"/>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Embedded in a Design System</a:t>
            </a:r>
            <a:endParaRPr lang="en-US" dirty="0"/>
          </a:p>
        </p:txBody>
      </p:sp>
      <p:sp>
        <p:nvSpPr>
          <p:cNvPr id="3" name="Content Placeholder 2"/>
          <p:cNvSpPr>
            <a:spLocks noGrp="1"/>
          </p:cNvSpPr>
          <p:nvPr>
            <p:ph sz="quarter" idx="1"/>
          </p:nvPr>
        </p:nvSpPr>
        <p:spPr/>
        <p:txBody>
          <a:bodyPr>
            <a:normAutofit fontScale="85000" lnSpcReduction="10000"/>
          </a:bodyPr>
          <a:lstStyle/>
          <a:p>
            <a:r>
              <a:rPr lang="en-US" smtClean="0"/>
              <a:t>We would expect design artifacts that are the product of a sustainable design system environment to evolve more rapidly than artifacts that are produced in a context where design is an unusual activity</a:t>
            </a:r>
            <a:endParaRPr lang="en-US" smtClean="0"/>
          </a:p>
          <a:p>
            <a:r>
              <a:rPr lang="en-US" smtClean="0"/>
              <a:t>The particular purpose that such systems play is encouraging communication within and throughout the design process</a:t>
            </a:r>
            <a:endParaRPr lang="en-US" smtClean="0"/>
          </a:p>
          <a:p>
            <a:r>
              <a:rPr lang="en-US" smtClean="0"/>
              <a:t>A design system can also manifest itself as a community of users and designers, providing contributors with intrinsic motivation to contribute</a:t>
            </a:r>
            <a:endParaRPr lang="en-US" dirty="0"/>
          </a:p>
        </p:txBody>
      </p:sp>
      <p:sp>
        <p:nvSpPr>
          <p:cNvPr id="6" name="Slide Number Placeholder 5"/>
          <p:cNvSpPr>
            <a:spLocks noGrp="1"/>
          </p:cNvSpPr>
          <p:nvPr>
            <p:ph type="sldNum" sz="quarter" idx="12"/>
          </p:nvPr>
        </p:nvSpPr>
        <p:spPr/>
        <p:txBody>
          <a:bodyPr/>
          <a:lstStyle/>
          <a:p>
            <a:fld id="{5B3F03AE-E6A5-4B88-8B20-97FAAEBBF28D}" type="slidenum">
              <a:rPr lang="en-US" smtClean="0"/>
            </a:fld>
            <a:endParaRPr lang="en-US"/>
          </a:p>
        </p:txBody>
      </p:sp>
    </p:spTree>
  </p:cSld>
  <p:clrMapOvr>
    <a:masterClrMapping/>
  </p:clrMapOvr>
  <p:transition spd="slow">
    <p:wipe dir="d"/>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Design Novelty</a:t>
            </a:r>
            <a:endParaRPr lang="en-US" dirty="0"/>
          </a:p>
        </p:txBody>
      </p:sp>
      <p:sp>
        <p:nvSpPr>
          <p:cNvPr id="3" name="Content Placeholder 2"/>
          <p:cNvSpPr>
            <a:spLocks noGrp="1"/>
          </p:cNvSpPr>
          <p:nvPr>
            <p:ph sz="quarter" idx="1"/>
          </p:nvPr>
        </p:nvSpPr>
        <p:spPr/>
        <p:txBody>
          <a:bodyPr>
            <a:normAutofit fontScale="92500" lnSpcReduction="10000"/>
          </a:bodyPr>
          <a:lstStyle/>
          <a:p>
            <a:r>
              <a:rPr lang="en-US" smtClean="0"/>
              <a:t>A design may be considered novel if it originates from an unexplored region of the design fitness landscape</a:t>
            </a:r>
            <a:endParaRPr lang="en-US" smtClean="0"/>
          </a:p>
          <a:p>
            <a:r>
              <a:rPr lang="en-US" smtClean="0"/>
              <a:t>While a particular novel design may be less individually fit than existing counterparts, where the landscape is dynamic the fitness of the population as whole benefits from having a sub-population of designers seeking novelty for its own sake, thereby ensuring design diversity</a:t>
            </a:r>
            <a:endParaRPr lang="en-US" dirty="0"/>
          </a:p>
        </p:txBody>
      </p:sp>
      <p:sp>
        <p:nvSpPr>
          <p:cNvPr id="6" name="Slide Number Placeholder 5"/>
          <p:cNvSpPr>
            <a:spLocks noGrp="1"/>
          </p:cNvSpPr>
          <p:nvPr>
            <p:ph type="sldNum" sz="quarter" idx="12"/>
          </p:nvPr>
        </p:nvSpPr>
        <p:spPr/>
        <p:txBody>
          <a:bodyPr/>
          <a:lstStyle/>
          <a:p>
            <a:fld id="{5B3F03AE-E6A5-4B88-8B20-97FAAEBBF28D}" type="slidenum">
              <a:rPr lang="en-US" smtClean="0"/>
            </a:fld>
            <a:endParaRPr lang="en-US"/>
          </a:p>
        </p:txBody>
      </p:sp>
    </p:spTree>
  </p:cSld>
  <p:clrMapOvr>
    <a:masterClrMapping/>
  </p:clrMapOvr>
  <p:transition spd="slow">
    <p:wipe di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Interesting Designs</a:t>
            </a:r>
            <a:endParaRPr lang="en-US" dirty="0"/>
          </a:p>
        </p:txBody>
      </p:sp>
      <p:sp>
        <p:nvSpPr>
          <p:cNvPr id="3" name="Content Placeholder 2"/>
          <p:cNvSpPr>
            <a:spLocks noGrp="1"/>
          </p:cNvSpPr>
          <p:nvPr>
            <p:ph sz="quarter" idx="1"/>
          </p:nvPr>
        </p:nvSpPr>
        <p:spPr/>
        <p:txBody>
          <a:bodyPr>
            <a:normAutofit fontScale="92500"/>
          </a:bodyPr>
          <a:lstStyle/>
          <a:p>
            <a:r>
              <a:rPr lang="en-US" smtClean="0"/>
              <a:t>Designs are interesting when</a:t>
            </a:r>
            <a:endParaRPr lang="en-US" smtClean="0"/>
          </a:p>
          <a:p>
            <a:pPr lvl="1"/>
            <a:r>
              <a:rPr lang="en-US" smtClean="0"/>
              <a:t>An artifact may demonstrate unexpected emergent behaviors that are worthy of subsequent investigation and the creation of subsequent artifacts</a:t>
            </a:r>
            <a:endParaRPr lang="en-US" smtClean="0"/>
          </a:p>
          <a:p>
            <a:pPr lvl="1"/>
            <a:r>
              <a:rPr lang="en-US" smtClean="0"/>
              <a:t>An artifact may be constructed in an unexpected way that intrigues other designers or design researchers</a:t>
            </a:r>
            <a:endParaRPr lang="en-US" smtClean="0"/>
          </a:p>
          <a:p>
            <a:r>
              <a:rPr lang="en-US" smtClean="0"/>
              <a:t>The benefit of an interesting design is its propensity to diffuse—to be an effective meme</a:t>
            </a:r>
            <a:endParaRPr lang="en-US" dirty="0"/>
          </a:p>
        </p:txBody>
      </p:sp>
      <p:sp>
        <p:nvSpPr>
          <p:cNvPr id="6" name="Slide Number Placeholder 5"/>
          <p:cNvSpPr>
            <a:spLocks noGrp="1"/>
          </p:cNvSpPr>
          <p:nvPr>
            <p:ph type="sldNum" sz="quarter" idx="12"/>
          </p:nvPr>
        </p:nvSpPr>
        <p:spPr/>
        <p:txBody>
          <a:bodyPr/>
          <a:lstStyle/>
          <a:p>
            <a:fld id="{5B3F03AE-E6A5-4B88-8B20-97FAAEBBF28D}" type="slidenum">
              <a:rPr lang="en-US" smtClean="0"/>
            </a:fld>
            <a:endParaRPr lang="en-US"/>
          </a:p>
        </p:txBody>
      </p:sp>
    </p:spTree>
  </p:cSld>
  <p:clrMapOvr>
    <a:masterClrMapping/>
  </p:clrMapOvr>
  <p:transition spd="slow">
    <p:wipe di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Design Elegance</a:t>
            </a:r>
            <a:endParaRPr lang="en-US" dirty="0"/>
          </a:p>
        </p:txBody>
      </p:sp>
      <p:sp>
        <p:nvSpPr>
          <p:cNvPr id="3" name="Content Placeholder 2"/>
          <p:cNvSpPr>
            <a:spLocks noGrp="1"/>
          </p:cNvSpPr>
          <p:nvPr>
            <p:ph sz="quarter" idx="1"/>
          </p:nvPr>
        </p:nvSpPr>
        <p:spPr/>
        <p:txBody>
          <a:bodyPr>
            <a:normAutofit fontScale="85000" lnSpcReduction="10000"/>
          </a:bodyPr>
          <a:lstStyle/>
          <a:p>
            <a:r>
              <a:rPr lang="en-US" smtClean="0"/>
              <a:t>The Form of an artifact describes aesthetic elements such as appearance that do not necessarily serve a useful purpose, yet nevertheless increase the user’s utility</a:t>
            </a:r>
            <a:endParaRPr lang="en-US" smtClean="0"/>
          </a:p>
          <a:p>
            <a:r>
              <a:rPr lang="en-US" smtClean="0"/>
              <a:t>Like quality, elegance is hard to define in a rigorous manner and yet characteristics that might be associated with it—such as compactness, simplicity, transparency of use, transparency of behavior, clarity of representation—can all lead to designs that invite surprise, delight, imitation, and enhancement</a:t>
            </a:r>
            <a:endParaRPr lang="en-US" smtClean="0"/>
          </a:p>
          <a:p>
            <a:endParaRPr lang="en-US" dirty="0"/>
          </a:p>
        </p:txBody>
      </p:sp>
      <p:sp>
        <p:nvSpPr>
          <p:cNvPr id="6" name="Slide Number Placeholder 5"/>
          <p:cNvSpPr>
            <a:spLocks noGrp="1"/>
          </p:cNvSpPr>
          <p:nvPr>
            <p:ph type="sldNum" sz="quarter" idx="12"/>
          </p:nvPr>
        </p:nvSpPr>
        <p:spPr/>
        <p:txBody>
          <a:bodyPr/>
          <a:lstStyle/>
          <a:p>
            <a:fld id="{5B3F03AE-E6A5-4B88-8B20-97FAAEBBF28D}" type="slidenum">
              <a:rPr lang="en-US" smtClean="0"/>
            </a:fld>
            <a:endParaRPr lang="en-US"/>
          </a:p>
        </p:txBody>
      </p:sp>
    </p:spTree>
  </p:cSld>
  <p:clrMapOvr>
    <a:masterClrMapping/>
  </p:clrMapOvr>
  <p:transition spd="slow">
    <p:wipe dir="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077200" cy="762000"/>
          </a:xfrm>
        </p:spPr>
        <p:txBody>
          <a:bodyPr>
            <a:normAutofit fontScale="90000"/>
          </a:bodyPr>
          <a:lstStyle/>
          <a:p>
            <a:r>
              <a:rPr lang="en-US" dirty="0" smtClean="0"/>
              <a:t>Fitness Characteristics and Outcomes</a:t>
            </a:r>
            <a:endParaRPr lang="en-US" dirty="0"/>
          </a:p>
        </p:txBody>
      </p:sp>
      <p:sp>
        <p:nvSpPr>
          <p:cNvPr id="7" name="Slide Number Placeholder 6"/>
          <p:cNvSpPr>
            <a:spLocks noGrp="1"/>
          </p:cNvSpPr>
          <p:nvPr>
            <p:ph type="sldNum" sz="quarter" idx="12"/>
          </p:nvPr>
        </p:nvSpPr>
        <p:spPr/>
        <p:txBody>
          <a:bodyPr/>
          <a:lstStyle/>
          <a:p>
            <a:fld id="{5B3F03AE-E6A5-4B88-8B20-97FAAEBBF28D}" type="slidenum">
              <a:rPr lang="en-US" smtClean="0"/>
            </a:fld>
            <a:endParaRPr lang="en-US"/>
          </a:p>
        </p:txBody>
      </p:sp>
      <p:pic>
        <p:nvPicPr>
          <p:cNvPr id="4" name="Picture 3"/>
          <p:cNvPicPr>
            <a:picLocks noChangeAspect="1"/>
          </p:cNvPicPr>
          <p:nvPr/>
        </p:nvPicPr>
        <p:blipFill>
          <a:blip r:embed="rId1" cstate="email">
            <a:extLst>
              <a:ext uri="{28A0092B-C50C-407E-A947-70E740481C1C}">
                <a14:useLocalDpi xmlns:a14="http://schemas.microsoft.com/office/drawing/2010/main" val="0"/>
              </a:ext>
            </a:extLst>
          </a:blip>
          <a:stretch>
            <a:fillRect/>
          </a:stretch>
        </p:blipFill>
        <p:spPr>
          <a:xfrm>
            <a:off x="1447800" y="1219200"/>
            <a:ext cx="6391279" cy="5036379"/>
          </a:xfrm>
          <a:prstGeom prst="rect">
            <a:avLst/>
          </a:prstGeom>
        </p:spPr>
      </p:pic>
    </p:spTree>
  </p:cSld>
  <p:clrMapOvr>
    <a:masterClrMapping/>
  </p:clrMapOvr>
  <p:transition spd="slow">
    <p:wipe dir="d"/>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Pros of Fitness-Utility Model</a:t>
            </a:r>
            <a:endParaRPr lang="en-US" dirty="0"/>
          </a:p>
        </p:txBody>
      </p:sp>
      <p:sp>
        <p:nvSpPr>
          <p:cNvPr id="2" name="Content Placeholder 1"/>
          <p:cNvSpPr>
            <a:spLocks noGrp="1"/>
          </p:cNvSpPr>
          <p:nvPr>
            <p:ph sz="quarter" idx="1"/>
          </p:nvPr>
        </p:nvSpPr>
        <p:spPr/>
        <p:txBody>
          <a:bodyPr>
            <a:normAutofit fontScale="92500" lnSpcReduction="10000"/>
          </a:bodyPr>
          <a:lstStyle/>
          <a:p>
            <a:r>
              <a:rPr lang="en-US" dirty="0" smtClean="0"/>
              <a:t>Fitness-Utility Model complements current thinking</a:t>
            </a:r>
            <a:endParaRPr lang="en-US" dirty="0" smtClean="0"/>
          </a:p>
          <a:p>
            <a:r>
              <a:rPr lang="en-US" dirty="0" smtClean="0"/>
              <a:t>Researcher is an active participant in the design system</a:t>
            </a:r>
            <a:endParaRPr lang="en-US" dirty="0" smtClean="0"/>
          </a:p>
          <a:p>
            <a:r>
              <a:rPr lang="en-US" dirty="0" smtClean="0"/>
              <a:t>Alternative bases for evaluating DSR impact</a:t>
            </a:r>
            <a:endParaRPr lang="en-US" dirty="0" smtClean="0"/>
          </a:p>
          <a:p>
            <a:r>
              <a:rPr lang="en-US" dirty="0" smtClean="0"/>
              <a:t>Aligns better with dynamic design environments</a:t>
            </a:r>
            <a:endParaRPr lang="en-US" dirty="0" smtClean="0"/>
          </a:p>
          <a:p>
            <a:r>
              <a:rPr lang="en-US" dirty="0" smtClean="0"/>
              <a:t>Recognizes limitations of intended usefulness</a:t>
            </a:r>
            <a:endParaRPr lang="en-US" dirty="0" smtClean="0"/>
          </a:p>
          <a:p>
            <a:r>
              <a:rPr lang="en-US" dirty="0" smtClean="0"/>
              <a:t>Encourages collaboration between researchers and designers in IS and other fields</a:t>
            </a:r>
            <a:endParaRPr lang="en-US" dirty="0" smtClean="0"/>
          </a:p>
        </p:txBody>
      </p:sp>
      <p:sp>
        <p:nvSpPr>
          <p:cNvPr id="5" name="Slide Number Placeholder 4"/>
          <p:cNvSpPr>
            <a:spLocks noGrp="1"/>
          </p:cNvSpPr>
          <p:nvPr>
            <p:ph type="sldNum" sz="quarter" idx="12"/>
          </p:nvPr>
        </p:nvSpPr>
        <p:spPr/>
        <p:txBody>
          <a:bodyPr/>
          <a:lstStyle/>
          <a:p>
            <a:fld id="{0B110475-1364-43A3-B27D-E628C1C40ED5}" type="slidenum">
              <a:rPr lang="en-US" smtClean="0"/>
            </a:fld>
            <a:endParaRPr lang="en-US"/>
          </a:p>
        </p:txBody>
      </p:sp>
    </p:spTree>
  </p:cSld>
  <p:clrMapOvr>
    <a:masterClrMapping/>
  </p:clrMapOvr>
  <p:transition spd="slow">
    <p:wip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0"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Cons of Fitness-Utility Model</a:t>
            </a:r>
            <a:endParaRPr lang="en-US" dirty="0"/>
          </a:p>
        </p:txBody>
      </p:sp>
      <p:sp>
        <p:nvSpPr>
          <p:cNvPr id="2" name="Content Placeholder 1"/>
          <p:cNvSpPr>
            <a:spLocks noGrp="1"/>
          </p:cNvSpPr>
          <p:nvPr>
            <p:ph sz="quarter" idx="1"/>
          </p:nvPr>
        </p:nvSpPr>
        <p:spPr/>
        <p:txBody>
          <a:bodyPr/>
          <a:lstStyle/>
          <a:p>
            <a:r>
              <a:rPr lang="en-US" smtClean="0"/>
              <a:t>Existing research standards do not reward design impacts based on new model – longitudinal studies needed to evaluate evolutionary impacts</a:t>
            </a:r>
            <a:endParaRPr lang="en-US" smtClean="0"/>
          </a:p>
          <a:p>
            <a:r>
              <a:rPr lang="en-US" smtClean="0"/>
              <a:t>Research is needed to understand how to evaluate design fitness</a:t>
            </a:r>
            <a:endParaRPr lang="en-US" smtClean="0"/>
          </a:p>
          <a:p>
            <a:r>
              <a:rPr lang="en-US" smtClean="0"/>
              <a:t>Rigor in Fitness-Utility research requires alternative (new?) research methods</a:t>
            </a:r>
            <a:endParaRPr lang="en-US" dirty="0"/>
          </a:p>
        </p:txBody>
      </p:sp>
      <p:sp>
        <p:nvSpPr>
          <p:cNvPr id="5" name="Slide Number Placeholder 4"/>
          <p:cNvSpPr>
            <a:spLocks noGrp="1"/>
          </p:cNvSpPr>
          <p:nvPr>
            <p:ph type="sldNum" sz="quarter" idx="12"/>
          </p:nvPr>
        </p:nvSpPr>
        <p:spPr/>
        <p:txBody>
          <a:bodyPr/>
          <a:lstStyle/>
          <a:p>
            <a:fld id="{0B110475-1364-43A3-B27D-E628C1C40ED5}" type="slidenum">
              <a:rPr lang="en-US" smtClean="0"/>
            </a:fld>
            <a:endParaRPr lang="en-US"/>
          </a:p>
        </p:txBody>
      </p:sp>
    </p:spTree>
  </p:cSld>
  <p:clrMapOvr>
    <a:masterClrMapping/>
  </p:clrMapOvr>
  <p:transition spd="slow">
    <p:wip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Conclusions</a:t>
            </a:r>
            <a:endParaRPr lang="en-US" dirty="0"/>
          </a:p>
        </p:txBody>
      </p:sp>
      <p:sp>
        <p:nvSpPr>
          <p:cNvPr id="2" name="Content Placeholder 1"/>
          <p:cNvSpPr>
            <a:spLocks noGrp="1"/>
          </p:cNvSpPr>
          <p:nvPr>
            <p:ph sz="quarter" idx="1"/>
          </p:nvPr>
        </p:nvSpPr>
        <p:spPr>
          <a:xfrm>
            <a:off x="685800" y="1596413"/>
            <a:ext cx="8153400" cy="4297363"/>
          </a:xfrm>
        </p:spPr>
        <p:txBody>
          <a:bodyPr>
            <a:normAutofit fontScale="85000" lnSpcReduction="20000"/>
          </a:bodyPr>
          <a:lstStyle/>
          <a:p>
            <a:r>
              <a:rPr lang="en-US" dirty="0" smtClean="0"/>
              <a:t>The Fitness-Utility Model of DSR provides a new approach for viewing the building and evaluating of design artifacts</a:t>
            </a:r>
            <a:endParaRPr lang="en-US" dirty="0" smtClean="0"/>
          </a:p>
          <a:p>
            <a:r>
              <a:rPr lang="en-US" dirty="0" smtClean="0"/>
              <a:t>Design characteristics beyond usefulness are important in rapidly changing application environments</a:t>
            </a:r>
            <a:endParaRPr lang="en-US" dirty="0" smtClean="0"/>
          </a:p>
          <a:p>
            <a:r>
              <a:rPr lang="en-US" dirty="0" smtClean="0"/>
              <a:t>Future Research</a:t>
            </a:r>
            <a:endParaRPr lang="en-US" dirty="0" smtClean="0"/>
          </a:p>
          <a:p>
            <a:pPr lvl="1"/>
            <a:r>
              <a:rPr lang="en-US" dirty="0" smtClean="0"/>
              <a:t>Empirical studies evaluating utility functions in context and for general applications</a:t>
            </a:r>
            <a:endParaRPr lang="en-US" dirty="0" smtClean="0"/>
          </a:p>
          <a:p>
            <a:pPr lvl="1"/>
            <a:r>
              <a:rPr lang="en-US" dirty="0" smtClean="0"/>
              <a:t>Case studies of historical designs based on fitness-utility</a:t>
            </a:r>
            <a:endParaRPr lang="en-US" dirty="0" smtClean="0"/>
          </a:p>
          <a:p>
            <a:pPr lvl="1"/>
            <a:r>
              <a:rPr lang="en-US" dirty="0" smtClean="0"/>
              <a:t>Adapting Evolutionary Economics concepts to DSR</a:t>
            </a:r>
            <a:endParaRPr lang="en-US" dirty="0"/>
          </a:p>
        </p:txBody>
      </p:sp>
      <p:sp>
        <p:nvSpPr>
          <p:cNvPr id="5" name="Slide Number Placeholder 4"/>
          <p:cNvSpPr>
            <a:spLocks noGrp="1"/>
          </p:cNvSpPr>
          <p:nvPr>
            <p:ph type="sldNum" sz="quarter" idx="12"/>
          </p:nvPr>
        </p:nvSpPr>
        <p:spPr/>
        <p:txBody>
          <a:bodyPr/>
          <a:lstStyle/>
          <a:p>
            <a:fld id="{0B110475-1364-43A3-B27D-E628C1C40ED5}" type="slidenum">
              <a:rPr lang="en-US" smtClean="0"/>
            </a:fld>
            <a:endParaRPr lang="en-US"/>
          </a:p>
        </p:txBody>
      </p:sp>
    </p:spTree>
  </p:cSld>
  <p:clrMapOvr>
    <a:masterClrMapping/>
  </p:clrMapOvr>
  <p:transition spd="slow">
    <p:wipe/>
  </p:transition>
  <p:timing>
    <p:tnLst>
      <p:par>
        <p:cTn id="1" dur="indefinite" restart="never" nodeType="tmRoot"/>
      </p:par>
    </p:tnLst>
  </p:timing>
</p:sld>
</file>

<file path=ppt/tags/tag1.xml><?xml version="1.0" encoding="utf-8"?>
<p:tagLst xmlns:p="http://schemas.openxmlformats.org/presentationml/2006/main">
  <p:tag name="DVSHAPEID" val="HAGzTPKJNXuuOK4v20iPS7"/>
</p:tagLst>
</file>

<file path=ppt/tags/tag2.xml><?xml version="1.0" encoding="utf-8"?>
<p:tagLst xmlns:p="http://schemas.openxmlformats.org/presentationml/2006/main">
  <p:tag name="DVSHAPEID" val="0uhWvCQomImT50qU5y4Znw"/>
</p:tagLst>
</file>

<file path=ppt/tags/tag3.xml><?xml version="1.0" encoding="utf-8"?>
<p:tagLst xmlns:p="http://schemas.openxmlformats.org/presentationml/2006/main">
  <p:tag name="DVSECTIONID" val="yI2DOt6RzRcU51QxdhNewL"/>
</p:tagLst>
</file>

<file path=ppt/theme/theme1.xml><?xml version="1.0" encoding="utf-8"?>
<a:theme xmlns:a="http://schemas.openxmlformats.org/drawingml/2006/main" name="InSITEPPT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21750</Words>
  <Application>WPS 演示</Application>
  <PresentationFormat>全屏显示(4:3)</PresentationFormat>
  <Paragraphs>762</Paragraphs>
  <Slides>50</Slides>
  <Notes>1</Notes>
  <HiddenSlides>9</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64" baseType="lpstr">
      <vt:lpstr>Arial</vt:lpstr>
      <vt:lpstr>宋体</vt:lpstr>
      <vt:lpstr>Wingdings</vt:lpstr>
      <vt:lpstr>Georgia</vt:lpstr>
      <vt:lpstr>Times New Roman</vt:lpstr>
      <vt:lpstr>Batang</vt:lpstr>
      <vt:lpstr>Constantia</vt:lpstr>
      <vt:lpstr>Calibri</vt:lpstr>
      <vt:lpstr>微软雅黑</vt:lpstr>
      <vt:lpstr>Arial Unicode MS</vt:lpstr>
      <vt:lpstr>Calibri</vt:lpstr>
      <vt:lpstr>Times New Roman</vt:lpstr>
      <vt:lpstr>InSITEPPTMaster</vt:lpstr>
      <vt:lpstr>PowerPoint.Show.8</vt:lpstr>
      <vt:lpstr>Designing Informing systems: What Research Tells Us</vt:lpstr>
      <vt:lpstr>Outline</vt:lpstr>
      <vt:lpstr>Informing Systems</vt:lpstr>
      <vt:lpstr>Design Science Research</vt:lpstr>
      <vt:lpstr>Research in Information Systems</vt:lpstr>
      <vt:lpstr>IS Research Cycle</vt:lpstr>
      <vt:lpstr>Design Thinking</vt:lpstr>
      <vt:lpstr>PowerPoint 演示文稿</vt:lpstr>
      <vt:lpstr>Design Research Guidelines </vt:lpstr>
      <vt:lpstr>Three Cycles of DSR</vt:lpstr>
      <vt:lpstr>The Relevance Cycle</vt:lpstr>
      <vt:lpstr>The Rigor Cycle</vt:lpstr>
      <vt:lpstr>Design Cycle</vt:lpstr>
      <vt:lpstr>PowerPoint 演示文稿</vt:lpstr>
      <vt:lpstr>The Artifact as Knowledge</vt:lpstr>
      <vt:lpstr>Design Theory as Knowledge</vt:lpstr>
      <vt:lpstr>PowerPoint 演示文稿</vt:lpstr>
      <vt:lpstr>PowerPoint 演示文稿</vt:lpstr>
      <vt:lpstr>DSR Knowledge Contribution Framework</vt:lpstr>
      <vt:lpstr>PowerPoint 演示文稿</vt:lpstr>
      <vt:lpstr>Invention Quadrant</vt:lpstr>
      <vt:lpstr>Invention Exemplars</vt:lpstr>
      <vt:lpstr>Improvement Quadrant</vt:lpstr>
      <vt:lpstr>Improvement Exemplars</vt:lpstr>
      <vt:lpstr>Exaptation Quadrant</vt:lpstr>
      <vt:lpstr>Exaptation Exemplars</vt:lpstr>
      <vt:lpstr>Routine Design Quadrant</vt:lpstr>
      <vt:lpstr>A Fitness-Utility Model for DSR</vt:lpstr>
      <vt:lpstr>The DSR Dependent Variable</vt:lpstr>
      <vt:lpstr>Design Fitness Landscape</vt:lpstr>
      <vt:lpstr>Design Process Elements</vt:lpstr>
      <vt:lpstr>Design Fitness</vt:lpstr>
      <vt:lpstr>Design Utility</vt:lpstr>
      <vt:lpstr>Evolutionary Economics</vt:lpstr>
      <vt:lpstr>Fitness-Utility Model applied to DSR</vt:lpstr>
      <vt:lpstr>Re-Framing DSR with Fitness-Utility</vt:lpstr>
      <vt:lpstr>DSR Evaluation with Fitness-Utility</vt:lpstr>
      <vt:lpstr>Fitness Characteristics</vt:lpstr>
      <vt:lpstr>Designs That are Too Useful?</vt:lpstr>
      <vt:lpstr>Decomposable Designs</vt:lpstr>
      <vt:lpstr>Malleable Designs</vt:lpstr>
      <vt:lpstr>Open Designs</vt:lpstr>
      <vt:lpstr>Embedded in a Design System</vt:lpstr>
      <vt:lpstr>Design Novelty</vt:lpstr>
      <vt:lpstr>Interesting Designs</vt:lpstr>
      <vt:lpstr>Design Elegance</vt:lpstr>
      <vt:lpstr>Fitness Characteristics and Outcomes</vt:lpstr>
      <vt:lpstr>Pros of Fitness-Utility Model</vt:lpstr>
      <vt:lpstr>Cons of Fitness-Utility Model</vt:lpstr>
      <vt:lpstr>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MX</cp:lastModifiedBy>
  <cp:revision>2</cp:revision>
  <dcterms:created xsi:type="dcterms:W3CDTF">2015-04-28T02:50:00Z</dcterms:created>
  <dcterms:modified xsi:type="dcterms:W3CDTF">2026-03-17T08:01:34Z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70A94A9F3F81454BA86CC431FE8C9A1D_12</vt:lpwstr>
  </property>
  <property fmtid="{D5CDD505-2E9C-101B-9397-08002B2CF9AE}" pid="3" name="KSOProductBuildVer">
    <vt:lpwstr>2052-12.1.0.23542</vt:lpwstr>
  </property>
</Properties>
</file>