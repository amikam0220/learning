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notesSlides/notesSlide1.xml" ContentType="application/vnd.openxmlformats-officedocument.presentationml.notesSlide+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4"/>
  </p:notesMasterIdLst>
  <p:sldIdLst>
    <p:sldId id="256" r:id="rId2"/>
    <p:sldId id="257" r:id="rId3"/>
    <p:sldId id="258" r:id="rId4"/>
    <p:sldId id="259" r:id="rId5"/>
    <p:sldId id="260" r:id="rId6"/>
    <p:sldId id="261" r:id="rId7"/>
    <p:sldId id="262" r:id="rId8"/>
    <p:sldId id="263" r:id="rId9"/>
    <p:sldId id="264" r:id="rId10"/>
    <p:sldId id="341" r:id="rId11"/>
    <p:sldId id="345" r:id="rId12"/>
    <p:sldId id="347" r:id="rId13"/>
    <p:sldId id="348" r:id="rId14"/>
    <p:sldId id="349" r:id="rId15"/>
    <p:sldId id="350" r:id="rId16"/>
    <p:sldId id="351" r:id="rId17"/>
    <p:sldId id="273" r:id="rId18"/>
    <p:sldId id="280" r:id="rId19"/>
    <p:sldId id="279" r:id="rId20"/>
    <p:sldId id="366" r:id="rId21"/>
    <p:sldId id="281" r:id="rId22"/>
    <p:sldId id="266" r:id="rId23"/>
    <p:sldId id="284" r:id="rId24"/>
    <p:sldId id="285" r:id="rId25"/>
    <p:sldId id="360" r:id="rId26"/>
    <p:sldId id="361" r:id="rId27"/>
    <p:sldId id="363" r:id="rId28"/>
    <p:sldId id="286" r:id="rId29"/>
    <p:sldId id="287" r:id="rId30"/>
    <p:sldId id="288" r:id="rId31"/>
    <p:sldId id="364" r:id="rId32"/>
    <p:sldId id="290" r:id="rId33"/>
    <p:sldId id="292" r:id="rId34"/>
    <p:sldId id="295" r:id="rId35"/>
    <p:sldId id="293" r:id="rId36"/>
    <p:sldId id="294" r:id="rId37"/>
    <p:sldId id="268" r:id="rId38"/>
    <p:sldId id="362" r:id="rId39"/>
    <p:sldId id="320" r:id="rId40"/>
    <p:sldId id="322" r:id="rId41"/>
    <p:sldId id="296" r:id="rId42"/>
    <p:sldId id="298" r:id="rId43"/>
    <p:sldId id="299" r:id="rId44"/>
    <p:sldId id="301" r:id="rId45"/>
    <p:sldId id="326" r:id="rId46"/>
    <p:sldId id="436" r:id="rId47"/>
    <p:sldId id="357" r:id="rId48"/>
    <p:sldId id="304" r:id="rId49"/>
    <p:sldId id="329" r:id="rId50"/>
    <p:sldId id="331" r:id="rId51"/>
    <p:sldId id="334" r:id="rId52"/>
    <p:sldId id="367" r:id="rId53"/>
    <p:sldId id="368" r:id="rId54"/>
    <p:sldId id="323" r:id="rId55"/>
    <p:sldId id="305" r:id="rId56"/>
    <p:sldId id="306" r:id="rId57"/>
    <p:sldId id="307" r:id="rId58"/>
    <p:sldId id="309" r:id="rId59"/>
    <p:sldId id="308" r:id="rId60"/>
    <p:sldId id="335" r:id="rId61"/>
    <p:sldId id="336" r:id="rId62"/>
    <p:sldId id="340" r:id="rId63"/>
    <p:sldId id="338" r:id="rId64"/>
    <p:sldId id="339" r:id="rId65"/>
    <p:sldId id="310" r:id="rId66"/>
    <p:sldId id="311" r:id="rId67"/>
    <p:sldId id="312" r:id="rId68"/>
    <p:sldId id="313" r:id="rId69"/>
    <p:sldId id="438" r:id="rId70"/>
    <p:sldId id="314" r:id="rId71"/>
    <p:sldId id="431" r:id="rId72"/>
    <p:sldId id="434" r:id="rId73"/>
    <p:sldId id="437" r:id="rId74"/>
    <p:sldId id="435" r:id="rId75"/>
    <p:sldId id="441" r:id="rId76"/>
    <p:sldId id="442" r:id="rId77"/>
    <p:sldId id="471" r:id="rId78"/>
    <p:sldId id="444" r:id="rId79"/>
    <p:sldId id="445" r:id="rId80"/>
    <p:sldId id="446" r:id="rId81"/>
    <p:sldId id="447" r:id="rId82"/>
    <p:sldId id="448" r:id="rId83"/>
    <p:sldId id="449" r:id="rId84"/>
    <p:sldId id="450" r:id="rId85"/>
    <p:sldId id="452" r:id="rId86"/>
    <p:sldId id="453" r:id="rId87"/>
    <p:sldId id="454" r:id="rId88"/>
    <p:sldId id="457" r:id="rId89"/>
    <p:sldId id="458" r:id="rId90"/>
    <p:sldId id="459" r:id="rId91"/>
    <p:sldId id="460" r:id="rId92"/>
    <p:sldId id="461" r:id="rId93"/>
    <p:sldId id="462" r:id="rId94"/>
    <p:sldId id="463" r:id="rId95"/>
    <p:sldId id="464" r:id="rId96"/>
    <p:sldId id="465" r:id="rId97"/>
    <p:sldId id="466" r:id="rId98"/>
    <p:sldId id="467" r:id="rId99"/>
    <p:sldId id="468" r:id="rId100"/>
    <p:sldId id="469" r:id="rId101"/>
    <p:sldId id="470" r:id="rId102"/>
    <p:sldId id="440" r:id="rId103"/>
  </p:sldIdLst>
  <p:sldSz cx="9144000" cy="6858000" type="screen4x3"/>
  <p:notesSz cx="6858000" cy="9144000"/>
  <p:custDataLst>
    <p:tags r:id="rId10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autoAdjust="0"/>
    <p:restoredTop sz="94660"/>
  </p:normalViewPr>
  <p:slideViewPr>
    <p:cSldViewPr showGuides="1">
      <p:cViewPr varScale="1">
        <p:scale>
          <a:sx n="104" d="100"/>
          <a:sy n="104" d="100"/>
        </p:scale>
        <p:origin x="182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y 的" userId="7483e1e6a959e322" providerId="LiveId" clId="{0017BE1F-53B7-45B0-B1DB-5D000E4F2E35}"/>
    <pc:docChg chg="modSld">
      <pc:chgData name="by 的" userId="7483e1e6a959e322" providerId="LiveId" clId="{0017BE1F-53B7-45B0-B1DB-5D000E4F2E35}" dt="2026-01-11T15:19:54.535" v="15" actId="20577"/>
      <pc:docMkLst>
        <pc:docMk/>
      </pc:docMkLst>
      <pc:sldChg chg="modSp mod">
        <pc:chgData name="by 的" userId="7483e1e6a959e322" providerId="LiveId" clId="{0017BE1F-53B7-45B0-B1DB-5D000E4F2E35}" dt="2026-01-11T15:19:54.535" v="15" actId="20577"/>
        <pc:sldMkLst>
          <pc:docMk/>
          <pc:sldMk cId="0" sldId="469"/>
        </pc:sldMkLst>
        <pc:spChg chg="mod">
          <ac:chgData name="by 的" userId="7483e1e6a959e322" providerId="LiveId" clId="{0017BE1F-53B7-45B0-B1DB-5D000E4F2E35}" dt="2026-01-11T15:19:54.535" v="15" actId="20577"/>
          <ac:spMkLst>
            <pc:docMk/>
            <pc:sldMk cId="0" sldId="46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87F49D-8A72-431F-A0DD-32FAA63B4046}" type="datetimeFigureOut">
              <a:rPr lang="zh-CN" altLang="en-US" smtClean="0"/>
              <a:t>2026/1/11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41BA15-7FA3-49C2-AE90-D3F80E488F0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fld id="{B1954674-2A9E-4D30-93C6-C174898DD688}" type="slidenum">
              <a:rPr lang="en-US" altLang="zh-CN">
                <a:latin typeface="Arial" panose="020B0604020202020204" pitchFamily="34" charset="0"/>
              </a:rPr>
              <a:t>44</a:t>
            </a:fld>
            <a:endParaRPr lang="en-US" altLang="zh-CN">
              <a:latin typeface="Arial" panose="020B0604020202020204" pitchFamily="34" charset="0"/>
            </a:endParaRPr>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2026/1/11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2026/1/11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slideLayout" Target="../slideLayouts/slideLayout7.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 Type="http://schemas.openxmlformats.org/officeDocument/2006/relationships/tags" Target="../tags/tag3.xml"/><Relationship Id="rId16" Type="http://schemas.openxmlformats.org/officeDocument/2006/relationships/tags" Target="../tags/tag17.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5" Type="http://schemas.openxmlformats.org/officeDocument/2006/relationships/tags" Target="../tags/tag16.xml"/><Relationship Id="rId10" Type="http://schemas.openxmlformats.org/officeDocument/2006/relationships/tags" Target="../tags/tag11.xml"/><Relationship Id="rId19" Type="http://schemas.openxmlformats.org/officeDocument/2006/relationships/image" Target="../media/image1.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s>
</file>

<file path=ppt/slides/_rels/slide12.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slideLayout" Target="../slideLayouts/slideLayout7.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tags" Target="../tags/tag35.xml"/><Relationship Id="rId2" Type="http://schemas.openxmlformats.org/officeDocument/2006/relationships/tags" Target="../tags/tag20.xml"/><Relationship Id="rId16" Type="http://schemas.openxmlformats.org/officeDocument/2006/relationships/tags" Target="../tags/tag34.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19" Type="http://schemas.openxmlformats.org/officeDocument/2006/relationships/image" Target="../media/image1.pn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13.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slideLayout" Target="../slideLayouts/slideLayout7.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 Type="http://schemas.openxmlformats.org/officeDocument/2006/relationships/tags" Target="../tags/tag37.xml"/><Relationship Id="rId16" Type="http://schemas.openxmlformats.org/officeDocument/2006/relationships/tags" Target="../tags/tag51.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5" Type="http://schemas.openxmlformats.org/officeDocument/2006/relationships/tags" Target="../tags/tag50.xml"/><Relationship Id="rId10" Type="http://schemas.openxmlformats.org/officeDocument/2006/relationships/tags" Target="../tags/tag45.xml"/><Relationship Id="rId19" Type="http://schemas.openxmlformats.org/officeDocument/2006/relationships/image" Target="../media/image1.png"/><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s>
</file>

<file path=ppt/slides/_rels/slide1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slideLayout" Target="../slideLayouts/slideLayout7.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tags" Target="../tags/tag69.xml"/><Relationship Id="rId2" Type="http://schemas.openxmlformats.org/officeDocument/2006/relationships/tags" Target="../tags/tag54.xml"/><Relationship Id="rId16" Type="http://schemas.openxmlformats.org/officeDocument/2006/relationships/tags" Target="../tags/tag68.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tags" Target="../tags/tag67.xml"/><Relationship Id="rId10" Type="http://schemas.openxmlformats.org/officeDocument/2006/relationships/tags" Target="../tags/tag62.xml"/><Relationship Id="rId19" Type="http://schemas.openxmlformats.org/officeDocument/2006/relationships/image" Target="../media/image1.png"/><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s>
</file>

<file path=ppt/slides/_rels/slide15.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slideLayout" Target="../slideLayouts/slideLayout7.xml"/><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image" Target="../media/image1.png"/><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s>
</file>

<file path=ppt/slides/_rels/slide16.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slideLayout" Target="../slideLayouts/slideLayout7.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 Type="http://schemas.openxmlformats.org/officeDocument/2006/relationships/tags" Target="../tags/tag88.xml"/><Relationship Id="rId16" Type="http://schemas.openxmlformats.org/officeDocument/2006/relationships/tags" Target="../tags/tag102.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tags" Target="../tags/tag101.xml"/><Relationship Id="rId10" Type="http://schemas.openxmlformats.org/officeDocument/2006/relationships/tags" Target="../tags/tag96.xml"/><Relationship Id="rId19" Type="http://schemas.openxmlformats.org/officeDocument/2006/relationships/image" Target="../media/image2.png"/><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18" Type="http://schemas.openxmlformats.org/officeDocument/2006/relationships/slideLayout" Target="../slideLayouts/slideLayout7.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 Type="http://schemas.openxmlformats.org/officeDocument/2006/relationships/tags" Target="../tags/tag105.xml"/><Relationship Id="rId16" Type="http://schemas.openxmlformats.org/officeDocument/2006/relationships/tags" Target="../tags/tag119.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tags" Target="../tags/tag118.xml"/><Relationship Id="rId10" Type="http://schemas.openxmlformats.org/officeDocument/2006/relationships/tags" Target="../tags/tag113.xml"/><Relationship Id="rId19"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18" Type="http://schemas.openxmlformats.org/officeDocument/2006/relationships/slideLayout" Target="../slideLayouts/slideLayout7.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tags" Target="../tags/tag132.xml"/><Relationship Id="rId17" Type="http://schemas.openxmlformats.org/officeDocument/2006/relationships/tags" Target="../tags/tag137.xml"/><Relationship Id="rId2" Type="http://schemas.openxmlformats.org/officeDocument/2006/relationships/tags" Target="../tags/tag122.xml"/><Relationship Id="rId16" Type="http://schemas.openxmlformats.org/officeDocument/2006/relationships/tags" Target="../tags/tag136.xml"/><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5" Type="http://schemas.openxmlformats.org/officeDocument/2006/relationships/tags" Target="../tags/tag135.xml"/><Relationship Id="rId10" Type="http://schemas.openxmlformats.org/officeDocument/2006/relationships/tags" Target="../tags/tag130.xml"/><Relationship Id="rId19" Type="http://schemas.openxmlformats.org/officeDocument/2006/relationships/image" Target="../media/image1.png"/><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tags" Target="../tags/tag134.xml"/></Relationships>
</file>

<file path=ppt/slides/_rels/slide26.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tags" Target="../tags/tag150.xml"/><Relationship Id="rId18" Type="http://schemas.openxmlformats.org/officeDocument/2006/relationships/tags" Target="../tags/tag155.xml"/><Relationship Id="rId26" Type="http://schemas.openxmlformats.org/officeDocument/2006/relationships/image" Target="../media/image1.png"/><Relationship Id="rId3" Type="http://schemas.openxmlformats.org/officeDocument/2006/relationships/tags" Target="../tags/tag140.xml"/><Relationship Id="rId21" Type="http://schemas.openxmlformats.org/officeDocument/2006/relationships/tags" Target="../tags/tag158.xml"/><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tags" Target="../tags/tag154.xml"/><Relationship Id="rId25" Type="http://schemas.openxmlformats.org/officeDocument/2006/relationships/slideLayout" Target="../slideLayouts/slideLayout7.xml"/><Relationship Id="rId2" Type="http://schemas.openxmlformats.org/officeDocument/2006/relationships/tags" Target="../tags/tag139.xml"/><Relationship Id="rId16" Type="http://schemas.openxmlformats.org/officeDocument/2006/relationships/tags" Target="../tags/tag153.xml"/><Relationship Id="rId20" Type="http://schemas.openxmlformats.org/officeDocument/2006/relationships/tags" Target="../tags/tag157.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24" Type="http://schemas.openxmlformats.org/officeDocument/2006/relationships/tags" Target="../tags/tag161.xml"/><Relationship Id="rId5" Type="http://schemas.openxmlformats.org/officeDocument/2006/relationships/tags" Target="../tags/tag142.xml"/><Relationship Id="rId15" Type="http://schemas.openxmlformats.org/officeDocument/2006/relationships/tags" Target="../tags/tag152.xml"/><Relationship Id="rId23" Type="http://schemas.openxmlformats.org/officeDocument/2006/relationships/tags" Target="../tags/tag160.xml"/><Relationship Id="rId10" Type="http://schemas.openxmlformats.org/officeDocument/2006/relationships/tags" Target="../tags/tag147.xml"/><Relationship Id="rId19" Type="http://schemas.openxmlformats.org/officeDocument/2006/relationships/tags" Target="../tags/tag156.xml"/><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 Id="rId22" Type="http://schemas.openxmlformats.org/officeDocument/2006/relationships/tags" Target="../tags/tag159.xml"/></Relationships>
</file>

<file path=ppt/slides/_rels/slide27.xml.rels><?xml version="1.0" encoding="UTF-8" standalone="yes"?>
<Relationships xmlns="http://schemas.openxmlformats.org/package/2006/relationships"><Relationship Id="rId8" Type="http://schemas.openxmlformats.org/officeDocument/2006/relationships/tags" Target="../tags/tag169.xml"/><Relationship Id="rId13" Type="http://schemas.openxmlformats.org/officeDocument/2006/relationships/tags" Target="../tags/tag174.xml"/><Relationship Id="rId18" Type="http://schemas.openxmlformats.org/officeDocument/2006/relationships/slideLayout" Target="../slideLayouts/slideLayout7.xml"/><Relationship Id="rId3" Type="http://schemas.openxmlformats.org/officeDocument/2006/relationships/tags" Target="../tags/tag164.xml"/><Relationship Id="rId7" Type="http://schemas.openxmlformats.org/officeDocument/2006/relationships/tags" Target="../tags/tag168.xml"/><Relationship Id="rId12" Type="http://schemas.openxmlformats.org/officeDocument/2006/relationships/tags" Target="../tags/tag173.xml"/><Relationship Id="rId17" Type="http://schemas.openxmlformats.org/officeDocument/2006/relationships/tags" Target="../tags/tag178.xml"/><Relationship Id="rId2" Type="http://schemas.openxmlformats.org/officeDocument/2006/relationships/tags" Target="../tags/tag163.xml"/><Relationship Id="rId16" Type="http://schemas.openxmlformats.org/officeDocument/2006/relationships/tags" Target="../tags/tag177.xml"/><Relationship Id="rId1" Type="http://schemas.openxmlformats.org/officeDocument/2006/relationships/tags" Target="../tags/tag162.xml"/><Relationship Id="rId6" Type="http://schemas.openxmlformats.org/officeDocument/2006/relationships/tags" Target="../tags/tag167.xml"/><Relationship Id="rId11" Type="http://schemas.openxmlformats.org/officeDocument/2006/relationships/tags" Target="../tags/tag172.xml"/><Relationship Id="rId5" Type="http://schemas.openxmlformats.org/officeDocument/2006/relationships/tags" Target="../tags/tag166.xml"/><Relationship Id="rId15" Type="http://schemas.openxmlformats.org/officeDocument/2006/relationships/tags" Target="../tags/tag176.xml"/><Relationship Id="rId10" Type="http://schemas.openxmlformats.org/officeDocument/2006/relationships/tags" Target="../tags/tag171.xml"/><Relationship Id="rId19" Type="http://schemas.openxmlformats.org/officeDocument/2006/relationships/image" Target="../media/image1.png"/><Relationship Id="rId4" Type="http://schemas.openxmlformats.org/officeDocument/2006/relationships/tags" Target="../tags/tag165.xml"/><Relationship Id="rId9" Type="http://schemas.openxmlformats.org/officeDocument/2006/relationships/tags" Target="../tags/tag170.xml"/><Relationship Id="rId14" Type="http://schemas.openxmlformats.org/officeDocument/2006/relationships/tags" Target="../tags/tag17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tags" Target="../tags/tag186.xml"/><Relationship Id="rId13" Type="http://schemas.openxmlformats.org/officeDocument/2006/relationships/tags" Target="../tags/tag191.xml"/><Relationship Id="rId18" Type="http://schemas.openxmlformats.org/officeDocument/2006/relationships/tags" Target="../tags/tag196.xml"/><Relationship Id="rId26" Type="http://schemas.openxmlformats.org/officeDocument/2006/relationships/image" Target="../media/image1.png"/><Relationship Id="rId3" Type="http://schemas.openxmlformats.org/officeDocument/2006/relationships/tags" Target="../tags/tag181.xml"/><Relationship Id="rId21" Type="http://schemas.openxmlformats.org/officeDocument/2006/relationships/tags" Target="../tags/tag199.xml"/><Relationship Id="rId7" Type="http://schemas.openxmlformats.org/officeDocument/2006/relationships/tags" Target="../tags/tag185.xml"/><Relationship Id="rId12" Type="http://schemas.openxmlformats.org/officeDocument/2006/relationships/tags" Target="../tags/tag190.xml"/><Relationship Id="rId17" Type="http://schemas.openxmlformats.org/officeDocument/2006/relationships/tags" Target="../tags/tag195.xml"/><Relationship Id="rId25" Type="http://schemas.openxmlformats.org/officeDocument/2006/relationships/slideLayout" Target="../slideLayouts/slideLayout7.xml"/><Relationship Id="rId2" Type="http://schemas.openxmlformats.org/officeDocument/2006/relationships/tags" Target="../tags/tag180.xml"/><Relationship Id="rId16" Type="http://schemas.openxmlformats.org/officeDocument/2006/relationships/tags" Target="../tags/tag194.xml"/><Relationship Id="rId20" Type="http://schemas.openxmlformats.org/officeDocument/2006/relationships/tags" Target="../tags/tag198.xml"/><Relationship Id="rId1" Type="http://schemas.openxmlformats.org/officeDocument/2006/relationships/tags" Target="../tags/tag179.xml"/><Relationship Id="rId6" Type="http://schemas.openxmlformats.org/officeDocument/2006/relationships/tags" Target="../tags/tag184.xml"/><Relationship Id="rId11" Type="http://schemas.openxmlformats.org/officeDocument/2006/relationships/tags" Target="../tags/tag189.xml"/><Relationship Id="rId24" Type="http://schemas.openxmlformats.org/officeDocument/2006/relationships/tags" Target="../tags/tag202.xml"/><Relationship Id="rId5" Type="http://schemas.openxmlformats.org/officeDocument/2006/relationships/tags" Target="../tags/tag183.xml"/><Relationship Id="rId15" Type="http://schemas.openxmlformats.org/officeDocument/2006/relationships/tags" Target="../tags/tag193.xml"/><Relationship Id="rId23" Type="http://schemas.openxmlformats.org/officeDocument/2006/relationships/tags" Target="../tags/tag201.xml"/><Relationship Id="rId10" Type="http://schemas.openxmlformats.org/officeDocument/2006/relationships/tags" Target="../tags/tag188.xml"/><Relationship Id="rId19" Type="http://schemas.openxmlformats.org/officeDocument/2006/relationships/tags" Target="../tags/tag197.xml"/><Relationship Id="rId4" Type="http://schemas.openxmlformats.org/officeDocument/2006/relationships/tags" Target="../tags/tag182.xml"/><Relationship Id="rId9" Type="http://schemas.openxmlformats.org/officeDocument/2006/relationships/tags" Target="../tags/tag187.xml"/><Relationship Id="rId14" Type="http://schemas.openxmlformats.org/officeDocument/2006/relationships/tags" Target="../tags/tag192.xml"/><Relationship Id="rId22" Type="http://schemas.openxmlformats.org/officeDocument/2006/relationships/tags" Target="../tags/tag20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tags" Target="../tags/tag210.xml"/><Relationship Id="rId13" Type="http://schemas.openxmlformats.org/officeDocument/2006/relationships/tags" Target="../tags/tag215.xml"/><Relationship Id="rId18" Type="http://schemas.openxmlformats.org/officeDocument/2006/relationships/slideLayout" Target="../slideLayouts/slideLayout7.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tags" Target="../tags/tag214.xml"/><Relationship Id="rId17" Type="http://schemas.openxmlformats.org/officeDocument/2006/relationships/tags" Target="../tags/tag219.xml"/><Relationship Id="rId2" Type="http://schemas.openxmlformats.org/officeDocument/2006/relationships/tags" Target="../tags/tag204.xml"/><Relationship Id="rId16" Type="http://schemas.openxmlformats.org/officeDocument/2006/relationships/tags" Target="../tags/tag218.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tags" Target="../tags/tag213.xml"/><Relationship Id="rId5" Type="http://schemas.openxmlformats.org/officeDocument/2006/relationships/tags" Target="../tags/tag207.xml"/><Relationship Id="rId15" Type="http://schemas.openxmlformats.org/officeDocument/2006/relationships/tags" Target="../tags/tag217.xml"/><Relationship Id="rId10" Type="http://schemas.openxmlformats.org/officeDocument/2006/relationships/tags" Target="../tags/tag212.xml"/><Relationship Id="rId19" Type="http://schemas.openxmlformats.org/officeDocument/2006/relationships/image" Target="../media/image1.png"/><Relationship Id="rId4" Type="http://schemas.openxmlformats.org/officeDocument/2006/relationships/tags" Target="../tags/tag206.xml"/><Relationship Id="rId9" Type="http://schemas.openxmlformats.org/officeDocument/2006/relationships/tags" Target="../tags/tag211.xml"/><Relationship Id="rId14" Type="http://schemas.openxmlformats.org/officeDocument/2006/relationships/tags" Target="../tags/tag2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audio" Target="../media/audio7.wav"/><Relationship Id="rId3" Type="http://schemas.openxmlformats.org/officeDocument/2006/relationships/audio" Target="../media/audio2.wav"/><Relationship Id="rId7"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audio" Target="../media/audio5.wav"/><Relationship Id="rId11" Type="http://schemas.openxmlformats.org/officeDocument/2006/relationships/oleObject" Target="../embeddings/oleObject2.bin"/><Relationship Id="rId5" Type="http://schemas.openxmlformats.org/officeDocument/2006/relationships/audio" Target="../media/audio4.wav"/><Relationship Id="rId10" Type="http://schemas.openxmlformats.org/officeDocument/2006/relationships/image" Target="../media/image3.wmf"/><Relationship Id="rId4" Type="http://schemas.openxmlformats.org/officeDocument/2006/relationships/audio" Target="../media/audio3.wav"/><Relationship Id="rId9" Type="http://schemas.openxmlformats.org/officeDocument/2006/relationships/oleObject" Target="../embeddings/oleObject1.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audio" Target="../media/audio2.wav"/><Relationship Id="rId7" Type="http://schemas.openxmlformats.org/officeDocument/2006/relationships/audio" Target="../media/audio6.wav"/><Relationship Id="rId2" Type="http://schemas.openxmlformats.org/officeDocument/2006/relationships/audio" Target="../media/audio1.wav"/><Relationship Id="rId1" Type="http://schemas.openxmlformats.org/officeDocument/2006/relationships/slideLayout" Target="../slideLayouts/slideLayout7.xml"/><Relationship Id="rId6" Type="http://schemas.openxmlformats.org/officeDocument/2006/relationships/audio" Target="../media/audio3.wav"/><Relationship Id="rId5" Type="http://schemas.openxmlformats.org/officeDocument/2006/relationships/audio" Target="../media/audio7.wav"/><Relationship Id="rId4" Type="http://schemas.openxmlformats.org/officeDocument/2006/relationships/audio" Target="../media/audio4.wav"/><Relationship Id="rId9" Type="http://schemas.openxmlformats.org/officeDocument/2006/relationships/image" Target="../media/image3.wmf"/></Relationships>
</file>

<file path=ppt/slides/_rels/slide51.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tags" Target="../tags/tag227.xml"/><Relationship Id="rId13" Type="http://schemas.openxmlformats.org/officeDocument/2006/relationships/tags" Target="../tags/tag232.xml"/><Relationship Id="rId18" Type="http://schemas.openxmlformats.org/officeDocument/2006/relationships/slideLayout" Target="../slideLayouts/slideLayout7.xml"/><Relationship Id="rId3" Type="http://schemas.openxmlformats.org/officeDocument/2006/relationships/tags" Target="../tags/tag222.xml"/><Relationship Id="rId7" Type="http://schemas.openxmlformats.org/officeDocument/2006/relationships/tags" Target="../tags/tag226.xml"/><Relationship Id="rId12" Type="http://schemas.openxmlformats.org/officeDocument/2006/relationships/tags" Target="../tags/tag231.xml"/><Relationship Id="rId17" Type="http://schemas.openxmlformats.org/officeDocument/2006/relationships/tags" Target="../tags/tag236.xml"/><Relationship Id="rId2" Type="http://schemas.openxmlformats.org/officeDocument/2006/relationships/tags" Target="../tags/tag221.xml"/><Relationship Id="rId16" Type="http://schemas.openxmlformats.org/officeDocument/2006/relationships/tags" Target="../tags/tag235.xml"/><Relationship Id="rId1" Type="http://schemas.openxmlformats.org/officeDocument/2006/relationships/tags" Target="../tags/tag220.xml"/><Relationship Id="rId6" Type="http://schemas.openxmlformats.org/officeDocument/2006/relationships/tags" Target="../tags/tag225.xml"/><Relationship Id="rId11" Type="http://schemas.openxmlformats.org/officeDocument/2006/relationships/tags" Target="../tags/tag230.xml"/><Relationship Id="rId5" Type="http://schemas.openxmlformats.org/officeDocument/2006/relationships/tags" Target="../tags/tag224.xml"/><Relationship Id="rId15" Type="http://schemas.openxmlformats.org/officeDocument/2006/relationships/tags" Target="../tags/tag234.xml"/><Relationship Id="rId10" Type="http://schemas.openxmlformats.org/officeDocument/2006/relationships/tags" Target="../tags/tag229.xml"/><Relationship Id="rId19" Type="http://schemas.openxmlformats.org/officeDocument/2006/relationships/image" Target="../media/image1.png"/><Relationship Id="rId4" Type="http://schemas.openxmlformats.org/officeDocument/2006/relationships/tags" Target="../tags/tag223.xml"/><Relationship Id="rId9" Type="http://schemas.openxmlformats.org/officeDocument/2006/relationships/tags" Target="../tags/tag228.xml"/><Relationship Id="rId14" Type="http://schemas.openxmlformats.org/officeDocument/2006/relationships/tags" Target="../tags/tag233.xml"/></Relationships>
</file>

<file path=ppt/slides/_rels/slide53.xml.rels><?xml version="1.0" encoding="UTF-8" standalone="yes"?>
<Relationships xmlns="http://schemas.openxmlformats.org/package/2006/relationships"><Relationship Id="rId8" Type="http://schemas.openxmlformats.org/officeDocument/2006/relationships/tags" Target="../tags/tag244.xml"/><Relationship Id="rId3" Type="http://schemas.openxmlformats.org/officeDocument/2006/relationships/tags" Target="../tags/tag239.xml"/><Relationship Id="rId7" Type="http://schemas.openxmlformats.org/officeDocument/2006/relationships/tags" Target="../tags/tag243.xml"/><Relationship Id="rId12" Type="http://schemas.openxmlformats.org/officeDocument/2006/relationships/image" Target="../media/image1.png"/><Relationship Id="rId2" Type="http://schemas.openxmlformats.org/officeDocument/2006/relationships/tags" Target="../tags/tag238.xml"/><Relationship Id="rId1" Type="http://schemas.openxmlformats.org/officeDocument/2006/relationships/tags" Target="../tags/tag237.xml"/><Relationship Id="rId6" Type="http://schemas.openxmlformats.org/officeDocument/2006/relationships/tags" Target="../tags/tag242.xml"/><Relationship Id="rId11" Type="http://schemas.openxmlformats.org/officeDocument/2006/relationships/slideLayout" Target="../slideLayouts/slideLayout7.xml"/><Relationship Id="rId5" Type="http://schemas.openxmlformats.org/officeDocument/2006/relationships/tags" Target="../tags/tag241.xml"/><Relationship Id="rId10" Type="http://schemas.openxmlformats.org/officeDocument/2006/relationships/tags" Target="../tags/tag246.xml"/><Relationship Id="rId4" Type="http://schemas.openxmlformats.org/officeDocument/2006/relationships/tags" Target="../tags/tag240.xml"/><Relationship Id="rId9" Type="http://schemas.openxmlformats.org/officeDocument/2006/relationships/tags" Target="../tags/tag24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tags" Target="../tags/tag254.xml"/><Relationship Id="rId13" Type="http://schemas.openxmlformats.org/officeDocument/2006/relationships/tags" Target="../tags/tag259.xml"/><Relationship Id="rId18" Type="http://schemas.openxmlformats.org/officeDocument/2006/relationships/slideLayout" Target="../slideLayouts/slideLayout7.xml"/><Relationship Id="rId3" Type="http://schemas.openxmlformats.org/officeDocument/2006/relationships/tags" Target="../tags/tag249.xml"/><Relationship Id="rId7" Type="http://schemas.openxmlformats.org/officeDocument/2006/relationships/tags" Target="../tags/tag253.xml"/><Relationship Id="rId12" Type="http://schemas.openxmlformats.org/officeDocument/2006/relationships/tags" Target="../tags/tag258.xml"/><Relationship Id="rId17" Type="http://schemas.openxmlformats.org/officeDocument/2006/relationships/tags" Target="../tags/tag263.xml"/><Relationship Id="rId2" Type="http://schemas.openxmlformats.org/officeDocument/2006/relationships/tags" Target="../tags/tag248.xml"/><Relationship Id="rId16" Type="http://schemas.openxmlformats.org/officeDocument/2006/relationships/tags" Target="../tags/tag262.xml"/><Relationship Id="rId1" Type="http://schemas.openxmlformats.org/officeDocument/2006/relationships/tags" Target="../tags/tag247.xml"/><Relationship Id="rId6" Type="http://schemas.openxmlformats.org/officeDocument/2006/relationships/tags" Target="../tags/tag252.xml"/><Relationship Id="rId11" Type="http://schemas.openxmlformats.org/officeDocument/2006/relationships/tags" Target="../tags/tag257.xml"/><Relationship Id="rId5" Type="http://schemas.openxmlformats.org/officeDocument/2006/relationships/tags" Target="../tags/tag251.xml"/><Relationship Id="rId15" Type="http://schemas.openxmlformats.org/officeDocument/2006/relationships/tags" Target="../tags/tag261.xml"/><Relationship Id="rId10" Type="http://schemas.openxmlformats.org/officeDocument/2006/relationships/tags" Target="../tags/tag256.xml"/><Relationship Id="rId19" Type="http://schemas.openxmlformats.org/officeDocument/2006/relationships/image" Target="../media/image1.png"/><Relationship Id="rId4" Type="http://schemas.openxmlformats.org/officeDocument/2006/relationships/tags" Target="../tags/tag250.xml"/><Relationship Id="rId9" Type="http://schemas.openxmlformats.org/officeDocument/2006/relationships/tags" Target="../tags/tag255.xml"/><Relationship Id="rId14" Type="http://schemas.openxmlformats.org/officeDocument/2006/relationships/tags" Target="../tags/tag260.xml"/></Relationships>
</file>

<file path=ppt/slides/_rels/slide76.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tags" Target="../tags/tag276.xml"/><Relationship Id="rId18" Type="http://schemas.openxmlformats.org/officeDocument/2006/relationships/slideLayout" Target="../slideLayouts/slideLayout7.xml"/><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tags" Target="../tags/tag275.xml"/><Relationship Id="rId17" Type="http://schemas.openxmlformats.org/officeDocument/2006/relationships/tags" Target="../tags/tag280.xml"/><Relationship Id="rId2" Type="http://schemas.openxmlformats.org/officeDocument/2006/relationships/tags" Target="../tags/tag265.xml"/><Relationship Id="rId16" Type="http://schemas.openxmlformats.org/officeDocument/2006/relationships/tags" Target="../tags/tag279.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5" Type="http://schemas.openxmlformats.org/officeDocument/2006/relationships/tags" Target="../tags/tag268.xml"/><Relationship Id="rId15" Type="http://schemas.openxmlformats.org/officeDocument/2006/relationships/tags" Target="../tags/tag278.xml"/><Relationship Id="rId10" Type="http://schemas.openxmlformats.org/officeDocument/2006/relationships/tags" Target="../tags/tag273.xml"/><Relationship Id="rId19" Type="http://schemas.openxmlformats.org/officeDocument/2006/relationships/image" Target="../media/image1.png"/><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s>
</file>

<file path=ppt/slides/_rels/slide77.xml.rels><?xml version="1.0" encoding="UTF-8" standalone="yes"?>
<Relationships xmlns="http://schemas.openxmlformats.org/package/2006/relationships"><Relationship Id="rId8" Type="http://schemas.openxmlformats.org/officeDocument/2006/relationships/tags" Target="../tags/tag288.xml"/><Relationship Id="rId3" Type="http://schemas.openxmlformats.org/officeDocument/2006/relationships/tags" Target="../tags/tag283.xml"/><Relationship Id="rId7" Type="http://schemas.openxmlformats.org/officeDocument/2006/relationships/tags" Target="../tags/tag287.xml"/><Relationship Id="rId12" Type="http://schemas.openxmlformats.org/officeDocument/2006/relationships/image" Target="../media/image1.png"/><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tags" Target="../tags/tag286.xml"/><Relationship Id="rId11" Type="http://schemas.openxmlformats.org/officeDocument/2006/relationships/slideLayout" Target="../slideLayouts/slideLayout7.xml"/><Relationship Id="rId5" Type="http://schemas.openxmlformats.org/officeDocument/2006/relationships/tags" Target="../tags/tag285.xml"/><Relationship Id="rId10" Type="http://schemas.openxmlformats.org/officeDocument/2006/relationships/tags" Target="../tags/tag290.xml"/><Relationship Id="rId4" Type="http://schemas.openxmlformats.org/officeDocument/2006/relationships/tags" Target="../tags/tag284.xml"/><Relationship Id="rId9" Type="http://schemas.openxmlformats.org/officeDocument/2006/relationships/tags" Target="../tags/tag289.xml"/></Relationships>
</file>

<file path=ppt/slides/_rels/slide78.xml.rels><?xml version="1.0" encoding="UTF-8" standalone="yes"?>
<Relationships xmlns="http://schemas.openxmlformats.org/package/2006/relationships"><Relationship Id="rId8" Type="http://schemas.openxmlformats.org/officeDocument/2006/relationships/tags" Target="../tags/tag298.xml"/><Relationship Id="rId13" Type="http://schemas.openxmlformats.org/officeDocument/2006/relationships/tags" Target="../tags/tag303.xml"/><Relationship Id="rId18" Type="http://schemas.openxmlformats.org/officeDocument/2006/relationships/slideLayout" Target="../slideLayouts/slideLayout7.xml"/><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tags" Target="../tags/tag302.xml"/><Relationship Id="rId17" Type="http://schemas.openxmlformats.org/officeDocument/2006/relationships/tags" Target="../tags/tag307.xml"/><Relationship Id="rId2" Type="http://schemas.openxmlformats.org/officeDocument/2006/relationships/tags" Target="../tags/tag292.xml"/><Relationship Id="rId16" Type="http://schemas.openxmlformats.org/officeDocument/2006/relationships/tags" Target="../tags/tag306.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tags" Target="../tags/tag301.xml"/><Relationship Id="rId5" Type="http://schemas.openxmlformats.org/officeDocument/2006/relationships/tags" Target="../tags/tag295.xml"/><Relationship Id="rId15" Type="http://schemas.openxmlformats.org/officeDocument/2006/relationships/tags" Target="../tags/tag305.xml"/><Relationship Id="rId10" Type="http://schemas.openxmlformats.org/officeDocument/2006/relationships/tags" Target="../tags/tag300.xml"/><Relationship Id="rId19" Type="http://schemas.openxmlformats.org/officeDocument/2006/relationships/image" Target="../media/image1.png"/><Relationship Id="rId4" Type="http://schemas.openxmlformats.org/officeDocument/2006/relationships/tags" Target="../tags/tag294.xml"/><Relationship Id="rId9" Type="http://schemas.openxmlformats.org/officeDocument/2006/relationships/tags" Target="../tags/tag299.xml"/><Relationship Id="rId14" Type="http://schemas.openxmlformats.org/officeDocument/2006/relationships/tags" Target="../tags/tag304.xml"/></Relationships>
</file>

<file path=ppt/slides/_rels/slide79.xml.rels><?xml version="1.0" encoding="UTF-8" standalone="yes"?>
<Relationships xmlns="http://schemas.openxmlformats.org/package/2006/relationships"><Relationship Id="rId8" Type="http://schemas.openxmlformats.org/officeDocument/2006/relationships/tags" Target="../tags/tag315.xml"/><Relationship Id="rId13" Type="http://schemas.openxmlformats.org/officeDocument/2006/relationships/tags" Target="../tags/tag320.xml"/><Relationship Id="rId18" Type="http://schemas.openxmlformats.org/officeDocument/2006/relationships/slideLayout" Target="../slideLayouts/slideLayout7.xml"/><Relationship Id="rId3" Type="http://schemas.openxmlformats.org/officeDocument/2006/relationships/tags" Target="../tags/tag310.xml"/><Relationship Id="rId7" Type="http://schemas.openxmlformats.org/officeDocument/2006/relationships/tags" Target="../tags/tag314.xml"/><Relationship Id="rId12" Type="http://schemas.openxmlformats.org/officeDocument/2006/relationships/tags" Target="../tags/tag319.xml"/><Relationship Id="rId17" Type="http://schemas.openxmlformats.org/officeDocument/2006/relationships/tags" Target="../tags/tag324.xml"/><Relationship Id="rId2" Type="http://schemas.openxmlformats.org/officeDocument/2006/relationships/tags" Target="../tags/tag309.xml"/><Relationship Id="rId16" Type="http://schemas.openxmlformats.org/officeDocument/2006/relationships/tags" Target="../tags/tag323.xml"/><Relationship Id="rId1" Type="http://schemas.openxmlformats.org/officeDocument/2006/relationships/tags" Target="../tags/tag308.xml"/><Relationship Id="rId6" Type="http://schemas.openxmlformats.org/officeDocument/2006/relationships/tags" Target="../tags/tag313.xml"/><Relationship Id="rId11" Type="http://schemas.openxmlformats.org/officeDocument/2006/relationships/tags" Target="../tags/tag318.xml"/><Relationship Id="rId5" Type="http://schemas.openxmlformats.org/officeDocument/2006/relationships/tags" Target="../tags/tag312.xml"/><Relationship Id="rId15" Type="http://schemas.openxmlformats.org/officeDocument/2006/relationships/tags" Target="../tags/tag322.xml"/><Relationship Id="rId10" Type="http://schemas.openxmlformats.org/officeDocument/2006/relationships/tags" Target="../tags/tag317.xml"/><Relationship Id="rId19" Type="http://schemas.openxmlformats.org/officeDocument/2006/relationships/image" Target="../media/image1.png"/><Relationship Id="rId4" Type="http://schemas.openxmlformats.org/officeDocument/2006/relationships/tags" Target="../tags/tag311.xml"/><Relationship Id="rId9" Type="http://schemas.openxmlformats.org/officeDocument/2006/relationships/tags" Target="../tags/tag316.xml"/><Relationship Id="rId14" Type="http://schemas.openxmlformats.org/officeDocument/2006/relationships/tags" Target="../tags/tag321.xml"/></Relationships>
</file>

<file path=ppt/slides/_rels/slide80.xml.rels><?xml version="1.0" encoding="UTF-8" standalone="yes"?>
<Relationships xmlns="http://schemas.openxmlformats.org/package/2006/relationships"><Relationship Id="rId8" Type="http://schemas.openxmlformats.org/officeDocument/2006/relationships/tags" Target="../tags/tag332.xml"/><Relationship Id="rId13" Type="http://schemas.openxmlformats.org/officeDocument/2006/relationships/tags" Target="../tags/tag337.xml"/><Relationship Id="rId18" Type="http://schemas.openxmlformats.org/officeDocument/2006/relationships/tags" Target="../tags/tag342.xml"/><Relationship Id="rId26" Type="http://schemas.openxmlformats.org/officeDocument/2006/relationships/image" Target="../media/image1.png"/><Relationship Id="rId3" Type="http://schemas.openxmlformats.org/officeDocument/2006/relationships/tags" Target="../tags/tag327.xml"/><Relationship Id="rId21" Type="http://schemas.openxmlformats.org/officeDocument/2006/relationships/tags" Target="../tags/tag345.xml"/><Relationship Id="rId7" Type="http://schemas.openxmlformats.org/officeDocument/2006/relationships/tags" Target="../tags/tag331.xml"/><Relationship Id="rId12" Type="http://schemas.openxmlformats.org/officeDocument/2006/relationships/tags" Target="../tags/tag336.xml"/><Relationship Id="rId17" Type="http://schemas.openxmlformats.org/officeDocument/2006/relationships/tags" Target="../tags/tag341.xml"/><Relationship Id="rId25" Type="http://schemas.openxmlformats.org/officeDocument/2006/relationships/slideLayout" Target="../slideLayouts/slideLayout7.xml"/><Relationship Id="rId2" Type="http://schemas.openxmlformats.org/officeDocument/2006/relationships/tags" Target="../tags/tag326.xml"/><Relationship Id="rId16" Type="http://schemas.openxmlformats.org/officeDocument/2006/relationships/tags" Target="../tags/tag340.xml"/><Relationship Id="rId20" Type="http://schemas.openxmlformats.org/officeDocument/2006/relationships/tags" Target="../tags/tag344.xml"/><Relationship Id="rId1" Type="http://schemas.openxmlformats.org/officeDocument/2006/relationships/tags" Target="../tags/tag325.xml"/><Relationship Id="rId6" Type="http://schemas.openxmlformats.org/officeDocument/2006/relationships/tags" Target="../tags/tag330.xml"/><Relationship Id="rId11" Type="http://schemas.openxmlformats.org/officeDocument/2006/relationships/tags" Target="../tags/tag335.xml"/><Relationship Id="rId24" Type="http://schemas.openxmlformats.org/officeDocument/2006/relationships/tags" Target="../tags/tag348.xml"/><Relationship Id="rId5" Type="http://schemas.openxmlformats.org/officeDocument/2006/relationships/tags" Target="../tags/tag329.xml"/><Relationship Id="rId15" Type="http://schemas.openxmlformats.org/officeDocument/2006/relationships/tags" Target="../tags/tag339.xml"/><Relationship Id="rId23" Type="http://schemas.openxmlformats.org/officeDocument/2006/relationships/tags" Target="../tags/tag347.xml"/><Relationship Id="rId10" Type="http://schemas.openxmlformats.org/officeDocument/2006/relationships/tags" Target="../tags/tag334.xml"/><Relationship Id="rId19" Type="http://schemas.openxmlformats.org/officeDocument/2006/relationships/tags" Target="../tags/tag343.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tags" Target="../tags/tag338.xml"/><Relationship Id="rId22" Type="http://schemas.openxmlformats.org/officeDocument/2006/relationships/tags" Target="../tags/tag346.xml"/></Relationships>
</file>

<file path=ppt/slides/_rels/slide81.xml.rels><?xml version="1.0" encoding="UTF-8" standalone="yes"?>
<Relationships xmlns="http://schemas.openxmlformats.org/package/2006/relationships"><Relationship Id="rId8" Type="http://schemas.openxmlformats.org/officeDocument/2006/relationships/tags" Target="../tags/tag356.xml"/><Relationship Id="rId13" Type="http://schemas.openxmlformats.org/officeDocument/2006/relationships/tags" Target="../tags/tag361.xml"/><Relationship Id="rId18" Type="http://schemas.openxmlformats.org/officeDocument/2006/relationships/slideLayout" Target="../slideLayouts/slideLayout7.xml"/><Relationship Id="rId3" Type="http://schemas.openxmlformats.org/officeDocument/2006/relationships/tags" Target="../tags/tag351.xml"/><Relationship Id="rId7" Type="http://schemas.openxmlformats.org/officeDocument/2006/relationships/tags" Target="../tags/tag355.xml"/><Relationship Id="rId12" Type="http://schemas.openxmlformats.org/officeDocument/2006/relationships/tags" Target="../tags/tag360.xml"/><Relationship Id="rId17" Type="http://schemas.openxmlformats.org/officeDocument/2006/relationships/tags" Target="../tags/tag365.xml"/><Relationship Id="rId2" Type="http://schemas.openxmlformats.org/officeDocument/2006/relationships/tags" Target="../tags/tag350.xml"/><Relationship Id="rId16" Type="http://schemas.openxmlformats.org/officeDocument/2006/relationships/tags" Target="../tags/tag364.xml"/><Relationship Id="rId1" Type="http://schemas.openxmlformats.org/officeDocument/2006/relationships/tags" Target="../tags/tag349.xml"/><Relationship Id="rId6" Type="http://schemas.openxmlformats.org/officeDocument/2006/relationships/tags" Target="../tags/tag354.xml"/><Relationship Id="rId11" Type="http://schemas.openxmlformats.org/officeDocument/2006/relationships/tags" Target="../tags/tag359.xml"/><Relationship Id="rId5" Type="http://schemas.openxmlformats.org/officeDocument/2006/relationships/tags" Target="../tags/tag353.xml"/><Relationship Id="rId15" Type="http://schemas.openxmlformats.org/officeDocument/2006/relationships/tags" Target="../tags/tag363.xml"/><Relationship Id="rId10" Type="http://schemas.openxmlformats.org/officeDocument/2006/relationships/tags" Target="../tags/tag358.xml"/><Relationship Id="rId19" Type="http://schemas.openxmlformats.org/officeDocument/2006/relationships/image" Target="../media/image1.png"/><Relationship Id="rId4" Type="http://schemas.openxmlformats.org/officeDocument/2006/relationships/tags" Target="../tags/tag352.xml"/><Relationship Id="rId9" Type="http://schemas.openxmlformats.org/officeDocument/2006/relationships/tags" Target="../tags/tag357.xml"/><Relationship Id="rId14" Type="http://schemas.openxmlformats.org/officeDocument/2006/relationships/tags" Target="../tags/tag362.xml"/></Relationships>
</file>

<file path=ppt/slides/_rels/slide82.xml.rels><?xml version="1.0" encoding="UTF-8" standalone="yes"?>
<Relationships xmlns="http://schemas.openxmlformats.org/package/2006/relationships"><Relationship Id="rId8" Type="http://schemas.openxmlformats.org/officeDocument/2006/relationships/tags" Target="../tags/tag373.xml"/><Relationship Id="rId13" Type="http://schemas.openxmlformats.org/officeDocument/2006/relationships/tags" Target="../tags/tag378.xml"/><Relationship Id="rId18" Type="http://schemas.openxmlformats.org/officeDocument/2006/relationships/slideLayout" Target="../slideLayouts/slideLayout7.xml"/><Relationship Id="rId3" Type="http://schemas.openxmlformats.org/officeDocument/2006/relationships/tags" Target="../tags/tag368.xml"/><Relationship Id="rId7" Type="http://schemas.openxmlformats.org/officeDocument/2006/relationships/tags" Target="../tags/tag372.xml"/><Relationship Id="rId12" Type="http://schemas.openxmlformats.org/officeDocument/2006/relationships/tags" Target="../tags/tag377.xml"/><Relationship Id="rId17" Type="http://schemas.openxmlformats.org/officeDocument/2006/relationships/tags" Target="../tags/tag382.xml"/><Relationship Id="rId2" Type="http://schemas.openxmlformats.org/officeDocument/2006/relationships/tags" Target="../tags/tag367.xml"/><Relationship Id="rId16" Type="http://schemas.openxmlformats.org/officeDocument/2006/relationships/tags" Target="../tags/tag381.xml"/><Relationship Id="rId1" Type="http://schemas.openxmlformats.org/officeDocument/2006/relationships/tags" Target="../tags/tag366.xml"/><Relationship Id="rId6" Type="http://schemas.openxmlformats.org/officeDocument/2006/relationships/tags" Target="../tags/tag371.xml"/><Relationship Id="rId11" Type="http://schemas.openxmlformats.org/officeDocument/2006/relationships/tags" Target="../tags/tag376.xml"/><Relationship Id="rId5" Type="http://schemas.openxmlformats.org/officeDocument/2006/relationships/tags" Target="../tags/tag370.xml"/><Relationship Id="rId15" Type="http://schemas.openxmlformats.org/officeDocument/2006/relationships/tags" Target="../tags/tag380.xml"/><Relationship Id="rId10" Type="http://schemas.openxmlformats.org/officeDocument/2006/relationships/tags" Target="../tags/tag375.xml"/><Relationship Id="rId19" Type="http://schemas.openxmlformats.org/officeDocument/2006/relationships/image" Target="../media/image1.png"/><Relationship Id="rId4" Type="http://schemas.openxmlformats.org/officeDocument/2006/relationships/tags" Target="../tags/tag369.xml"/><Relationship Id="rId9" Type="http://schemas.openxmlformats.org/officeDocument/2006/relationships/tags" Target="../tags/tag374.xml"/><Relationship Id="rId14" Type="http://schemas.openxmlformats.org/officeDocument/2006/relationships/tags" Target="../tags/tag379.xml"/></Relationships>
</file>

<file path=ppt/slides/_rels/slide83.xml.rels><?xml version="1.0" encoding="UTF-8" standalone="yes"?>
<Relationships xmlns="http://schemas.openxmlformats.org/package/2006/relationships"><Relationship Id="rId8" Type="http://schemas.openxmlformats.org/officeDocument/2006/relationships/tags" Target="../tags/tag390.xml"/><Relationship Id="rId13" Type="http://schemas.openxmlformats.org/officeDocument/2006/relationships/tags" Target="../tags/tag395.xml"/><Relationship Id="rId18" Type="http://schemas.openxmlformats.org/officeDocument/2006/relationships/image" Target="../media/image1.png"/><Relationship Id="rId3" Type="http://schemas.openxmlformats.org/officeDocument/2006/relationships/tags" Target="../tags/tag385.xml"/><Relationship Id="rId7" Type="http://schemas.openxmlformats.org/officeDocument/2006/relationships/tags" Target="../tags/tag389.xml"/><Relationship Id="rId12" Type="http://schemas.openxmlformats.org/officeDocument/2006/relationships/tags" Target="../tags/tag394.xml"/><Relationship Id="rId17" Type="http://schemas.openxmlformats.org/officeDocument/2006/relationships/slideLayout" Target="../slideLayouts/slideLayout7.xml"/><Relationship Id="rId2" Type="http://schemas.openxmlformats.org/officeDocument/2006/relationships/tags" Target="../tags/tag384.xml"/><Relationship Id="rId16" Type="http://schemas.openxmlformats.org/officeDocument/2006/relationships/tags" Target="../tags/tag398.xml"/><Relationship Id="rId1" Type="http://schemas.openxmlformats.org/officeDocument/2006/relationships/tags" Target="../tags/tag383.xml"/><Relationship Id="rId6" Type="http://schemas.openxmlformats.org/officeDocument/2006/relationships/tags" Target="../tags/tag388.xml"/><Relationship Id="rId11" Type="http://schemas.openxmlformats.org/officeDocument/2006/relationships/tags" Target="../tags/tag393.xml"/><Relationship Id="rId5" Type="http://schemas.openxmlformats.org/officeDocument/2006/relationships/tags" Target="../tags/tag387.xml"/><Relationship Id="rId15" Type="http://schemas.openxmlformats.org/officeDocument/2006/relationships/tags" Target="../tags/tag397.xml"/><Relationship Id="rId10" Type="http://schemas.openxmlformats.org/officeDocument/2006/relationships/tags" Target="../tags/tag392.xml"/><Relationship Id="rId4" Type="http://schemas.openxmlformats.org/officeDocument/2006/relationships/tags" Target="../tags/tag386.xml"/><Relationship Id="rId9" Type="http://schemas.openxmlformats.org/officeDocument/2006/relationships/tags" Target="../tags/tag391.xml"/><Relationship Id="rId14" Type="http://schemas.openxmlformats.org/officeDocument/2006/relationships/tags" Target="../tags/tag396.xml"/></Relationships>
</file>

<file path=ppt/slides/_rels/slide84.xml.rels><?xml version="1.0" encoding="UTF-8" standalone="yes"?>
<Relationships xmlns="http://schemas.openxmlformats.org/package/2006/relationships"><Relationship Id="rId8" Type="http://schemas.openxmlformats.org/officeDocument/2006/relationships/tags" Target="../tags/tag406.xml"/><Relationship Id="rId13" Type="http://schemas.openxmlformats.org/officeDocument/2006/relationships/tags" Target="../tags/tag411.xml"/><Relationship Id="rId18" Type="http://schemas.openxmlformats.org/officeDocument/2006/relationships/slideLayout" Target="../slideLayouts/slideLayout7.xml"/><Relationship Id="rId3" Type="http://schemas.openxmlformats.org/officeDocument/2006/relationships/tags" Target="../tags/tag401.xml"/><Relationship Id="rId7" Type="http://schemas.openxmlformats.org/officeDocument/2006/relationships/tags" Target="../tags/tag405.xml"/><Relationship Id="rId12" Type="http://schemas.openxmlformats.org/officeDocument/2006/relationships/tags" Target="../tags/tag410.xml"/><Relationship Id="rId17" Type="http://schemas.openxmlformats.org/officeDocument/2006/relationships/tags" Target="../tags/tag415.xml"/><Relationship Id="rId2" Type="http://schemas.openxmlformats.org/officeDocument/2006/relationships/tags" Target="../tags/tag400.xml"/><Relationship Id="rId16" Type="http://schemas.openxmlformats.org/officeDocument/2006/relationships/tags" Target="../tags/tag414.xml"/><Relationship Id="rId1" Type="http://schemas.openxmlformats.org/officeDocument/2006/relationships/tags" Target="../tags/tag399.xml"/><Relationship Id="rId6" Type="http://schemas.openxmlformats.org/officeDocument/2006/relationships/tags" Target="../tags/tag404.xml"/><Relationship Id="rId11" Type="http://schemas.openxmlformats.org/officeDocument/2006/relationships/tags" Target="../tags/tag409.xml"/><Relationship Id="rId5" Type="http://schemas.openxmlformats.org/officeDocument/2006/relationships/tags" Target="../tags/tag403.xml"/><Relationship Id="rId15" Type="http://schemas.openxmlformats.org/officeDocument/2006/relationships/tags" Target="../tags/tag413.xml"/><Relationship Id="rId10" Type="http://schemas.openxmlformats.org/officeDocument/2006/relationships/tags" Target="../tags/tag408.xml"/><Relationship Id="rId19" Type="http://schemas.openxmlformats.org/officeDocument/2006/relationships/image" Target="../media/image1.png"/><Relationship Id="rId4" Type="http://schemas.openxmlformats.org/officeDocument/2006/relationships/tags" Target="../tags/tag402.xml"/><Relationship Id="rId9" Type="http://schemas.openxmlformats.org/officeDocument/2006/relationships/tags" Target="../tags/tag407.xml"/><Relationship Id="rId14" Type="http://schemas.openxmlformats.org/officeDocument/2006/relationships/tags" Target="../tags/tag412.xml"/></Relationships>
</file>

<file path=ppt/slides/_rels/slide85.xml.rels><?xml version="1.0" encoding="UTF-8" standalone="yes"?>
<Relationships xmlns="http://schemas.openxmlformats.org/package/2006/relationships"><Relationship Id="rId8" Type="http://schemas.openxmlformats.org/officeDocument/2006/relationships/tags" Target="../tags/tag423.xml"/><Relationship Id="rId13" Type="http://schemas.openxmlformats.org/officeDocument/2006/relationships/tags" Target="../tags/tag428.xml"/><Relationship Id="rId18" Type="http://schemas.openxmlformats.org/officeDocument/2006/relationships/slideLayout" Target="../slideLayouts/slideLayout7.xml"/><Relationship Id="rId3" Type="http://schemas.openxmlformats.org/officeDocument/2006/relationships/tags" Target="../tags/tag418.xml"/><Relationship Id="rId7" Type="http://schemas.openxmlformats.org/officeDocument/2006/relationships/tags" Target="../tags/tag422.xml"/><Relationship Id="rId12" Type="http://schemas.openxmlformats.org/officeDocument/2006/relationships/tags" Target="../tags/tag427.xml"/><Relationship Id="rId17" Type="http://schemas.openxmlformats.org/officeDocument/2006/relationships/tags" Target="../tags/tag432.xml"/><Relationship Id="rId2" Type="http://schemas.openxmlformats.org/officeDocument/2006/relationships/tags" Target="../tags/tag417.xml"/><Relationship Id="rId16" Type="http://schemas.openxmlformats.org/officeDocument/2006/relationships/tags" Target="../tags/tag431.xml"/><Relationship Id="rId1" Type="http://schemas.openxmlformats.org/officeDocument/2006/relationships/tags" Target="../tags/tag416.xml"/><Relationship Id="rId6" Type="http://schemas.openxmlformats.org/officeDocument/2006/relationships/tags" Target="../tags/tag421.xml"/><Relationship Id="rId11" Type="http://schemas.openxmlformats.org/officeDocument/2006/relationships/tags" Target="../tags/tag426.xml"/><Relationship Id="rId5" Type="http://schemas.openxmlformats.org/officeDocument/2006/relationships/tags" Target="../tags/tag420.xml"/><Relationship Id="rId15" Type="http://schemas.openxmlformats.org/officeDocument/2006/relationships/tags" Target="../tags/tag430.xml"/><Relationship Id="rId10" Type="http://schemas.openxmlformats.org/officeDocument/2006/relationships/tags" Target="../tags/tag425.xml"/><Relationship Id="rId19" Type="http://schemas.openxmlformats.org/officeDocument/2006/relationships/image" Target="../media/image1.png"/><Relationship Id="rId4" Type="http://schemas.openxmlformats.org/officeDocument/2006/relationships/tags" Target="../tags/tag419.xml"/><Relationship Id="rId9" Type="http://schemas.openxmlformats.org/officeDocument/2006/relationships/tags" Target="../tags/tag424.xml"/><Relationship Id="rId14" Type="http://schemas.openxmlformats.org/officeDocument/2006/relationships/tags" Target="../tags/tag429.xml"/></Relationships>
</file>

<file path=ppt/slides/_rels/slide86.xml.rels><?xml version="1.0" encoding="UTF-8" standalone="yes"?>
<Relationships xmlns="http://schemas.openxmlformats.org/package/2006/relationships"><Relationship Id="rId8" Type="http://schemas.openxmlformats.org/officeDocument/2006/relationships/tags" Target="../tags/tag440.xml"/><Relationship Id="rId13" Type="http://schemas.openxmlformats.org/officeDocument/2006/relationships/tags" Target="../tags/tag445.xml"/><Relationship Id="rId18" Type="http://schemas.openxmlformats.org/officeDocument/2006/relationships/slideLayout" Target="../slideLayouts/slideLayout7.xml"/><Relationship Id="rId3" Type="http://schemas.openxmlformats.org/officeDocument/2006/relationships/tags" Target="../tags/tag435.xml"/><Relationship Id="rId7" Type="http://schemas.openxmlformats.org/officeDocument/2006/relationships/tags" Target="../tags/tag439.xml"/><Relationship Id="rId12" Type="http://schemas.openxmlformats.org/officeDocument/2006/relationships/tags" Target="../tags/tag444.xml"/><Relationship Id="rId17" Type="http://schemas.openxmlformats.org/officeDocument/2006/relationships/tags" Target="../tags/tag449.xml"/><Relationship Id="rId2" Type="http://schemas.openxmlformats.org/officeDocument/2006/relationships/tags" Target="../tags/tag434.xml"/><Relationship Id="rId16" Type="http://schemas.openxmlformats.org/officeDocument/2006/relationships/tags" Target="../tags/tag448.xml"/><Relationship Id="rId1" Type="http://schemas.openxmlformats.org/officeDocument/2006/relationships/tags" Target="../tags/tag433.xml"/><Relationship Id="rId6" Type="http://schemas.openxmlformats.org/officeDocument/2006/relationships/tags" Target="../tags/tag438.xml"/><Relationship Id="rId11" Type="http://schemas.openxmlformats.org/officeDocument/2006/relationships/tags" Target="../tags/tag443.xml"/><Relationship Id="rId5" Type="http://schemas.openxmlformats.org/officeDocument/2006/relationships/tags" Target="../tags/tag437.xml"/><Relationship Id="rId15" Type="http://schemas.openxmlformats.org/officeDocument/2006/relationships/tags" Target="../tags/tag447.xml"/><Relationship Id="rId10" Type="http://schemas.openxmlformats.org/officeDocument/2006/relationships/tags" Target="../tags/tag442.xml"/><Relationship Id="rId19" Type="http://schemas.openxmlformats.org/officeDocument/2006/relationships/image" Target="../media/image1.png"/><Relationship Id="rId4" Type="http://schemas.openxmlformats.org/officeDocument/2006/relationships/tags" Target="../tags/tag436.xml"/><Relationship Id="rId9" Type="http://schemas.openxmlformats.org/officeDocument/2006/relationships/tags" Target="../tags/tag441.xml"/><Relationship Id="rId14" Type="http://schemas.openxmlformats.org/officeDocument/2006/relationships/tags" Target="../tags/tag446.xml"/></Relationships>
</file>

<file path=ppt/slides/_rels/slide87.xml.rels><?xml version="1.0" encoding="UTF-8" standalone="yes"?>
<Relationships xmlns="http://schemas.openxmlformats.org/package/2006/relationships"><Relationship Id="rId8" Type="http://schemas.openxmlformats.org/officeDocument/2006/relationships/tags" Target="../tags/tag457.xml"/><Relationship Id="rId13" Type="http://schemas.openxmlformats.org/officeDocument/2006/relationships/tags" Target="../tags/tag462.xml"/><Relationship Id="rId18" Type="http://schemas.openxmlformats.org/officeDocument/2006/relationships/slideLayout" Target="../slideLayouts/slideLayout7.xml"/><Relationship Id="rId3" Type="http://schemas.openxmlformats.org/officeDocument/2006/relationships/tags" Target="../tags/tag452.xml"/><Relationship Id="rId7" Type="http://schemas.openxmlformats.org/officeDocument/2006/relationships/tags" Target="../tags/tag456.xml"/><Relationship Id="rId12" Type="http://schemas.openxmlformats.org/officeDocument/2006/relationships/tags" Target="../tags/tag461.xml"/><Relationship Id="rId17" Type="http://schemas.openxmlformats.org/officeDocument/2006/relationships/tags" Target="../tags/tag466.xml"/><Relationship Id="rId2" Type="http://schemas.openxmlformats.org/officeDocument/2006/relationships/tags" Target="../tags/tag451.xml"/><Relationship Id="rId16" Type="http://schemas.openxmlformats.org/officeDocument/2006/relationships/tags" Target="../tags/tag465.xml"/><Relationship Id="rId1" Type="http://schemas.openxmlformats.org/officeDocument/2006/relationships/tags" Target="../tags/tag450.xml"/><Relationship Id="rId6" Type="http://schemas.openxmlformats.org/officeDocument/2006/relationships/tags" Target="../tags/tag455.xml"/><Relationship Id="rId11" Type="http://schemas.openxmlformats.org/officeDocument/2006/relationships/tags" Target="../tags/tag460.xml"/><Relationship Id="rId5" Type="http://schemas.openxmlformats.org/officeDocument/2006/relationships/tags" Target="../tags/tag454.xml"/><Relationship Id="rId15" Type="http://schemas.openxmlformats.org/officeDocument/2006/relationships/tags" Target="../tags/tag464.xml"/><Relationship Id="rId10" Type="http://schemas.openxmlformats.org/officeDocument/2006/relationships/tags" Target="../tags/tag459.xml"/><Relationship Id="rId19" Type="http://schemas.openxmlformats.org/officeDocument/2006/relationships/image" Target="../media/image1.png"/><Relationship Id="rId4" Type="http://schemas.openxmlformats.org/officeDocument/2006/relationships/tags" Target="../tags/tag453.xml"/><Relationship Id="rId9" Type="http://schemas.openxmlformats.org/officeDocument/2006/relationships/tags" Target="../tags/tag458.xml"/><Relationship Id="rId14" Type="http://schemas.openxmlformats.org/officeDocument/2006/relationships/tags" Target="../tags/tag463.xml"/></Relationships>
</file>

<file path=ppt/slides/_rels/slide88.xml.rels><?xml version="1.0" encoding="UTF-8" standalone="yes"?>
<Relationships xmlns="http://schemas.openxmlformats.org/package/2006/relationships"><Relationship Id="rId8" Type="http://schemas.openxmlformats.org/officeDocument/2006/relationships/tags" Target="../tags/tag474.xml"/><Relationship Id="rId3" Type="http://schemas.openxmlformats.org/officeDocument/2006/relationships/tags" Target="../tags/tag469.xml"/><Relationship Id="rId7" Type="http://schemas.openxmlformats.org/officeDocument/2006/relationships/tags" Target="../tags/tag473.xml"/><Relationship Id="rId12" Type="http://schemas.openxmlformats.org/officeDocument/2006/relationships/image" Target="../media/image1.png"/><Relationship Id="rId2" Type="http://schemas.openxmlformats.org/officeDocument/2006/relationships/tags" Target="../tags/tag468.xml"/><Relationship Id="rId1" Type="http://schemas.openxmlformats.org/officeDocument/2006/relationships/tags" Target="../tags/tag467.xml"/><Relationship Id="rId6" Type="http://schemas.openxmlformats.org/officeDocument/2006/relationships/tags" Target="../tags/tag472.xml"/><Relationship Id="rId11" Type="http://schemas.openxmlformats.org/officeDocument/2006/relationships/slideLayout" Target="../slideLayouts/slideLayout7.xml"/><Relationship Id="rId5" Type="http://schemas.openxmlformats.org/officeDocument/2006/relationships/tags" Target="../tags/tag471.xml"/><Relationship Id="rId10" Type="http://schemas.openxmlformats.org/officeDocument/2006/relationships/tags" Target="../tags/tag476.xml"/><Relationship Id="rId4" Type="http://schemas.openxmlformats.org/officeDocument/2006/relationships/tags" Target="../tags/tag470.xml"/><Relationship Id="rId9" Type="http://schemas.openxmlformats.org/officeDocument/2006/relationships/tags" Target="../tags/tag475.xml"/></Relationships>
</file>

<file path=ppt/slides/_rels/slide89.xml.rels><?xml version="1.0" encoding="UTF-8" standalone="yes"?>
<Relationships xmlns="http://schemas.openxmlformats.org/package/2006/relationships"><Relationship Id="rId8" Type="http://schemas.openxmlformats.org/officeDocument/2006/relationships/tags" Target="../tags/tag484.xml"/><Relationship Id="rId3" Type="http://schemas.openxmlformats.org/officeDocument/2006/relationships/tags" Target="../tags/tag479.xml"/><Relationship Id="rId7" Type="http://schemas.openxmlformats.org/officeDocument/2006/relationships/tags" Target="../tags/tag483.xml"/><Relationship Id="rId12" Type="http://schemas.openxmlformats.org/officeDocument/2006/relationships/image" Target="../media/image1.png"/><Relationship Id="rId2" Type="http://schemas.openxmlformats.org/officeDocument/2006/relationships/tags" Target="../tags/tag478.xml"/><Relationship Id="rId1" Type="http://schemas.openxmlformats.org/officeDocument/2006/relationships/tags" Target="../tags/tag477.xml"/><Relationship Id="rId6" Type="http://schemas.openxmlformats.org/officeDocument/2006/relationships/tags" Target="../tags/tag482.xml"/><Relationship Id="rId11" Type="http://schemas.openxmlformats.org/officeDocument/2006/relationships/slideLayout" Target="../slideLayouts/slideLayout7.xml"/><Relationship Id="rId5" Type="http://schemas.openxmlformats.org/officeDocument/2006/relationships/tags" Target="../tags/tag481.xml"/><Relationship Id="rId10" Type="http://schemas.openxmlformats.org/officeDocument/2006/relationships/tags" Target="../tags/tag486.xml"/><Relationship Id="rId4" Type="http://schemas.openxmlformats.org/officeDocument/2006/relationships/tags" Target="../tags/tag480.xml"/><Relationship Id="rId9" Type="http://schemas.openxmlformats.org/officeDocument/2006/relationships/tags" Target="../tags/tag485.xml"/></Relationships>
</file>

<file path=ppt/slides/_rels/slide90.xml.rels><?xml version="1.0" encoding="UTF-8" standalone="yes"?>
<Relationships xmlns="http://schemas.openxmlformats.org/package/2006/relationships"><Relationship Id="rId8" Type="http://schemas.openxmlformats.org/officeDocument/2006/relationships/tags" Target="../tags/tag494.xml"/><Relationship Id="rId3" Type="http://schemas.openxmlformats.org/officeDocument/2006/relationships/tags" Target="../tags/tag489.xml"/><Relationship Id="rId7" Type="http://schemas.openxmlformats.org/officeDocument/2006/relationships/tags" Target="../tags/tag493.xml"/><Relationship Id="rId12" Type="http://schemas.openxmlformats.org/officeDocument/2006/relationships/image" Target="../media/image1.png"/><Relationship Id="rId2" Type="http://schemas.openxmlformats.org/officeDocument/2006/relationships/tags" Target="../tags/tag488.xml"/><Relationship Id="rId1" Type="http://schemas.openxmlformats.org/officeDocument/2006/relationships/tags" Target="../tags/tag487.xml"/><Relationship Id="rId6" Type="http://schemas.openxmlformats.org/officeDocument/2006/relationships/tags" Target="../tags/tag492.xml"/><Relationship Id="rId11" Type="http://schemas.openxmlformats.org/officeDocument/2006/relationships/slideLayout" Target="../slideLayouts/slideLayout7.xml"/><Relationship Id="rId5" Type="http://schemas.openxmlformats.org/officeDocument/2006/relationships/tags" Target="../tags/tag491.xml"/><Relationship Id="rId10" Type="http://schemas.openxmlformats.org/officeDocument/2006/relationships/tags" Target="../tags/tag496.xml"/><Relationship Id="rId4" Type="http://schemas.openxmlformats.org/officeDocument/2006/relationships/tags" Target="../tags/tag490.xml"/><Relationship Id="rId9" Type="http://schemas.openxmlformats.org/officeDocument/2006/relationships/tags" Target="../tags/tag495.xml"/></Relationships>
</file>

<file path=ppt/slides/_rels/slide91.xml.rels><?xml version="1.0" encoding="UTF-8" standalone="yes"?>
<Relationships xmlns="http://schemas.openxmlformats.org/package/2006/relationships"><Relationship Id="rId8" Type="http://schemas.openxmlformats.org/officeDocument/2006/relationships/tags" Target="../tags/tag504.xml"/><Relationship Id="rId3" Type="http://schemas.openxmlformats.org/officeDocument/2006/relationships/tags" Target="../tags/tag499.xml"/><Relationship Id="rId7" Type="http://schemas.openxmlformats.org/officeDocument/2006/relationships/tags" Target="../tags/tag503.xml"/><Relationship Id="rId12" Type="http://schemas.openxmlformats.org/officeDocument/2006/relationships/image" Target="../media/image1.png"/><Relationship Id="rId2" Type="http://schemas.openxmlformats.org/officeDocument/2006/relationships/tags" Target="../tags/tag498.xml"/><Relationship Id="rId1" Type="http://schemas.openxmlformats.org/officeDocument/2006/relationships/tags" Target="../tags/tag497.xml"/><Relationship Id="rId6" Type="http://schemas.openxmlformats.org/officeDocument/2006/relationships/tags" Target="../tags/tag502.xml"/><Relationship Id="rId11" Type="http://schemas.openxmlformats.org/officeDocument/2006/relationships/slideLayout" Target="../slideLayouts/slideLayout7.xml"/><Relationship Id="rId5" Type="http://schemas.openxmlformats.org/officeDocument/2006/relationships/tags" Target="../tags/tag501.xml"/><Relationship Id="rId10" Type="http://schemas.openxmlformats.org/officeDocument/2006/relationships/tags" Target="../tags/tag506.xml"/><Relationship Id="rId4" Type="http://schemas.openxmlformats.org/officeDocument/2006/relationships/tags" Target="../tags/tag500.xml"/><Relationship Id="rId9" Type="http://schemas.openxmlformats.org/officeDocument/2006/relationships/tags" Target="../tags/tag505.xml"/></Relationships>
</file>

<file path=ppt/slides/_rels/slide92.xml.rels><?xml version="1.0" encoding="UTF-8" standalone="yes"?>
<Relationships xmlns="http://schemas.openxmlformats.org/package/2006/relationships"><Relationship Id="rId8" Type="http://schemas.openxmlformats.org/officeDocument/2006/relationships/tags" Target="../tags/tag514.xml"/><Relationship Id="rId3" Type="http://schemas.openxmlformats.org/officeDocument/2006/relationships/tags" Target="../tags/tag509.xml"/><Relationship Id="rId7" Type="http://schemas.openxmlformats.org/officeDocument/2006/relationships/tags" Target="../tags/tag513.xml"/><Relationship Id="rId12" Type="http://schemas.openxmlformats.org/officeDocument/2006/relationships/image" Target="../media/image1.png"/><Relationship Id="rId2" Type="http://schemas.openxmlformats.org/officeDocument/2006/relationships/tags" Target="../tags/tag508.xml"/><Relationship Id="rId1" Type="http://schemas.openxmlformats.org/officeDocument/2006/relationships/tags" Target="../tags/tag507.xml"/><Relationship Id="rId6" Type="http://schemas.openxmlformats.org/officeDocument/2006/relationships/tags" Target="../tags/tag512.xml"/><Relationship Id="rId11" Type="http://schemas.openxmlformats.org/officeDocument/2006/relationships/slideLayout" Target="../slideLayouts/slideLayout7.xml"/><Relationship Id="rId5" Type="http://schemas.openxmlformats.org/officeDocument/2006/relationships/tags" Target="../tags/tag511.xml"/><Relationship Id="rId10" Type="http://schemas.openxmlformats.org/officeDocument/2006/relationships/tags" Target="../tags/tag516.xml"/><Relationship Id="rId4" Type="http://schemas.openxmlformats.org/officeDocument/2006/relationships/tags" Target="../tags/tag510.xml"/><Relationship Id="rId9" Type="http://schemas.openxmlformats.org/officeDocument/2006/relationships/tags" Target="../tags/tag515.xml"/></Relationships>
</file>

<file path=ppt/slides/_rels/slide93.xml.rels><?xml version="1.0" encoding="UTF-8" standalone="yes"?>
<Relationships xmlns="http://schemas.openxmlformats.org/package/2006/relationships"><Relationship Id="rId8" Type="http://schemas.openxmlformats.org/officeDocument/2006/relationships/tags" Target="../tags/tag524.xml"/><Relationship Id="rId3" Type="http://schemas.openxmlformats.org/officeDocument/2006/relationships/tags" Target="../tags/tag519.xml"/><Relationship Id="rId7" Type="http://schemas.openxmlformats.org/officeDocument/2006/relationships/tags" Target="../tags/tag523.xml"/><Relationship Id="rId12" Type="http://schemas.openxmlformats.org/officeDocument/2006/relationships/image" Target="../media/image1.png"/><Relationship Id="rId2" Type="http://schemas.openxmlformats.org/officeDocument/2006/relationships/tags" Target="../tags/tag518.xml"/><Relationship Id="rId1" Type="http://schemas.openxmlformats.org/officeDocument/2006/relationships/tags" Target="../tags/tag517.xml"/><Relationship Id="rId6" Type="http://schemas.openxmlformats.org/officeDocument/2006/relationships/tags" Target="../tags/tag522.xml"/><Relationship Id="rId11" Type="http://schemas.openxmlformats.org/officeDocument/2006/relationships/slideLayout" Target="../slideLayouts/slideLayout7.xml"/><Relationship Id="rId5" Type="http://schemas.openxmlformats.org/officeDocument/2006/relationships/tags" Target="../tags/tag521.xml"/><Relationship Id="rId10" Type="http://schemas.openxmlformats.org/officeDocument/2006/relationships/tags" Target="../tags/tag526.xml"/><Relationship Id="rId4" Type="http://schemas.openxmlformats.org/officeDocument/2006/relationships/tags" Target="../tags/tag520.xml"/><Relationship Id="rId9" Type="http://schemas.openxmlformats.org/officeDocument/2006/relationships/tags" Target="../tags/tag525.xml"/></Relationships>
</file>

<file path=ppt/slides/_rels/slide94.xml.rels><?xml version="1.0" encoding="UTF-8" standalone="yes"?>
<Relationships xmlns="http://schemas.openxmlformats.org/package/2006/relationships"><Relationship Id="rId8" Type="http://schemas.openxmlformats.org/officeDocument/2006/relationships/tags" Target="../tags/tag534.xml"/><Relationship Id="rId3" Type="http://schemas.openxmlformats.org/officeDocument/2006/relationships/tags" Target="../tags/tag529.xml"/><Relationship Id="rId7" Type="http://schemas.openxmlformats.org/officeDocument/2006/relationships/tags" Target="../tags/tag533.xml"/><Relationship Id="rId12" Type="http://schemas.openxmlformats.org/officeDocument/2006/relationships/image" Target="../media/image1.png"/><Relationship Id="rId2" Type="http://schemas.openxmlformats.org/officeDocument/2006/relationships/tags" Target="../tags/tag528.xml"/><Relationship Id="rId1" Type="http://schemas.openxmlformats.org/officeDocument/2006/relationships/tags" Target="../tags/tag527.xml"/><Relationship Id="rId6" Type="http://schemas.openxmlformats.org/officeDocument/2006/relationships/tags" Target="../tags/tag532.xml"/><Relationship Id="rId11" Type="http://schemas.openxmlformats.org/officeDocument/2006/relationships/slideLayout" Target="../slideLayouts/slideLayout7.xml"/><Relationship Id="rId5" Type="http://schemas.openxmlformats.org/officeDocument/2006/relationships/tags" Target="../tags/tag531.xml"/><Relationship Id="rId10" Type="http://schemas.openxmlformats.org/officeDocument/2006/relationships/tags" Target="../tags/tag536.xml"/><Relationship Id="rId4" Type="http://schemas.openxmlformats.org/officeDocument/2006/relationships/tags" Target="../tags/tag530.xml"/><Relationship Id="rId9" Type="http://schemas.openxmlformats.org/officeDocument/2006/relationships/tags" Target="../tags/tag535.xml"/></Relationships>
</file>

<file path=ppt/slides/_rels/slide95.xml.rels><?xml version="1.0" encoding="UTF-8" standalone="yes"?>
<Relationships xmlns="http://schemas.openxmlformats.org/package/2006/relationships"><Relationship Id="rId8" Type="http://schemas.openxmlformats.org/officeDocument/2006/relationships/tags" Target="../tags/tag544.xml"/><Relationship Id="rId3" Type="http://schemas.openxmlformats.org/officeDocument/2006/relationships/tags" Target="../tags/tag539.xml"/><Relationship Id="rId7" Type="http://schemas.openxmlformats.org/officeDocument/2006/relationships/tags" Target="../tags/tag543.xml"/><Relationship Id="rId12" Type="http://schemas.openxmlformats.org/officeDocument/2006/relationships/image" Target="../media/image1.png"/><Relationship Id="rId2" Type="http://schemas.openxmlformats.org/officeDocument/2006/relationships/tags" Target="../tags/tag538.xml"/><Relationship Id="rId1" Type="http://schemas.openxmlformats.org/officeDocument/2006/relationships/tags" Target="../tags/tag537.xml"/><Relationship Id="rId6" Type="http://schemas.openxmlformats.org/officeDocument/2006/relationships/tags" Target="../tags/tag542.xml"/><Relationship Id="rId11" Type="http://schemas.openxmlformats.org/officeDocument/2006/relationships/slideLayout" Target="../slideLayouts/slideLayout7.xml"/><Relationship Id="rId5" Type="http://schemas.openxmlformats.org/officeDocument/2006/relationships/tags" Target="../tags/tag541.xml"/><Relationship Id="rId10" Type="http://schemas.openxmlformats.org/officeDocument/2006/relationships/tags" Target="../tags/tag546.xml"/><Relationship Id="rId4" Type="http://schemas.openxmlformats.org/officeDocument/2006/relationships/tags" Target="../tags/tag540.xml"/><Relationship Id="rId9" Type="http://schemas.openxmlformats.org/officeDocument/2006/relationships/tags" Target="../tags/tag545.xml"/></Relationships>
</file>

<file path=ppt/slides/_rels/slide96.xml.rels><?xml version="1.0" encoding="UTF-8" standalone="yes"?>
<Relationships xmlns="http://schemas.openxmlformats.org/package/2006/relationships"><Relationship Id="rId8" Type="http://schemas.openxmlformats.org/officeDocument/2006/relationships/tags" Target="../tags/tag554.xml"/><Relationship Id="rId3" Type="http://schemas.openxmlformats.org/officeDocument/2006/relationships/tags" Target="../tags/tag549.xml"/><Relationship Id="rId7" Type="http://schemas.openxmlformats.org/officeDocument/2006/relationships/tags" Target="../tags/tag553.xml"/><Relationship Id="rId12" Type="http://schemas.openxmlformats.org/officeDocument/2006/relationships/image" Target="../media/image1.png"/><Relationship Id="rId2" Type="http://schemas.openxmlformats.org/officeDocument/2006/relationships/tags" Target="../tags/tag548.xml"/><Relationship Id="rId1" Type="http://schemas.openxmlformats.org/officeDocument/2006/relationships/tags" Target="../tags/tag547.xml"/><Relationship Id="rId6" Type="http://schemas.openxmlformats.org/officeDocument/2006/relationships/tags" Target="../tags/tag552.xml"/><Relationship Id="rId11" Type="http://schemas.openxmlformats.org/officeDocument/2006/relationships/slideLayout" Target="../slideLayouts/slideLayout7.xml"/><Relationship Id="rId5" Type="http://schemas.openxmlformats.org/officeDocument/2006/relationships/tags" Target="../tags/tag551.xml"/><Relationship Id="rId10" Type="http://schemas.openxmlformats.org/officeDocument/2006/relationships/tags" Target="../tags/tag556.xml"/><Relationship Id="rId4" Type="http://schemas.openxmlformats.org/officeDocument/2006/relationships/tags" Target="../tags/tag550.xml"/><Relationship Id="rId9" Type="http://schemas.openxmlformats.org/officeDocument/2006/relationships/tags" Target="../tags/tag555.xml"/></Relationships>
</file>

<file path=ppt/slides/_rels/slide97.xml.rels><?xml version="1.0" encoding="UTF-8" standalone="yes"?>
<Relationships xmlns="http://schemas.openxmlformats.org/package/2006/relationships"><Relationship Id="rId8" Type="http://schemas.openxmlformats.org/officeDocument/2006/relationships/tags" Target="../tags/tag564.xml"/><Relationship Id="rId13" Type="http://schemas.openxmlformats.org/officeDocument/2006/relationships/image" Target="../media/image1.png"/><Relationship Id="rId3" Type="http://schemas.openxmlformats.org/officeDocument/2006/relationships/tags" Target="../tags/tag559.xml"/><Relationship Id="rId7" Type="http://schemas.openxmlformats.org/officeDocument/2006/relationships/tags" Target="../tags/tag563.xml"/><Relationship Id="rId12" Type="http://schemas.openxmlformats.org/officeDocument/2006/relationships/image" Target="../media/image11.png"/><Relationship Id="rId2" Type="http://schemas.openxmlformats.org/officeDocument/2006/relationships/tags" Target="../tags/tag558.xml"/><Relationship Id="rId1" Type="http://schemas.openxmlformats.org/officeDocument/2006/relationships/tags" Target="../tags/tag557.xml"/><Relationship Id="rId6" Type="http://schemas.openxmlformats.org/officeDocument/2006/relationships/tags" Target="../tags/tag562.xml"/><Relationship Id="rId11" Type="http://schemas.openxmlformats.org/officeDocument/2006/relationships/slideLayout" Target="../slideLayouts/slideLayout7.xml"/><Relationship Id="rId5" Type="http://schemas.openxmlformats.org/officeDocument/2006/relationships/tags" Target="../tags/tag561.xml"/><Relationship Id="rId10" Type="http://schemas.openxmlformats.org/officeDocument/2006/relationships/tags" Target="../tags/tag566.xml"/><Relationship Id="rId4" Type="http://schemas.openxmlformats.org/officeDocument/2006/relationships/tags" Target="../tags/tag560.xml"/><Relationship Id="rId9" Type="http://schemas.openxmlformats.org/officeDocument/2006/relationships/tags" Target="../tags/tag565.xml"/></Relationships>
</file>

<file path=ppt/slides/_rels/slide98.xml.rels><?xml version="1.0" encoding="UTF-8" standalone="yes"?>
<Relationships xmlns="http://schemas.openxmlformats.org/package/2006/relationships"><Relationship Id="rId8" Type="http://schemas.openxmlformats.org/officeDocument/2006/relationships/tags" Target="../tags/tag574.xml"/><Relationship Id="rId3" Type="http://schemas.openxmlformats.org/officeDocument/2006/relationships/tags" Target="../tags/tag569.xml"/><Relationship Id="rId7" Type="http://schemas.openxmlformats.org/officeDocument/2006/relationships/tags" Target="../tags/tag573.xml"/><Relationship Id="rId12" Type="http://schemas.openxmlformats.org/officeDocument/2006/relationships/image" Target="../media/image1.png"/><Relationship Id="rId2" Type="http://schemas.openxmlformats.org/officeDocument/2006/relationships/tags" Target="../tags/tag568.xml"/><Relationship Id="rId1" Type="http://schemas.openxmlformats.org/officeDocument/2006/relationships/tags" Target="../tags/tag567.xml"/><Relationship Id="rId6" Type="http://schemas.openxmlformats.org/officeDocument/2006/relationships/tags" Target="../tags/tag572.xml"/><Relationship Id="rId11" Type="http://schemas.openxmlformats.org/officeDocument/2006/relationships/slideLayout" Target="../slideLayouts/slideLayout7.xml"/><Relationship Id="rId5" Type="http://schemas.openxmlformats.org/officeDocument/2006/relationships/tags" Target="../tags/tag571.xml"/><Relationship Id="rId10" Type="http://schemas.openxmlformats.org/officeDocument/2006/relationships/tags" Target="../tags/tag576.xml"/><Relationship Id="rId4" Type="http://schemas.openxmlformats.org/officeDocument/2006/relationships/tags" Target="../tags/tag570.xml"/><Relationship Id="rId9" Type="http://schemas.openxmlformats.org/officeDocument/2006/relationships/tags" Target="../tags/tag575.xml"/></Relationships>
</file>

<file path=ppt/slides/_rels/slide99.xml.rels><?xml version="1.0" encoding="UTF-8" standalone="yes"?>
<Relationships xmlns="http://schemas.openxmlformats.org/package/2006/relationships"><Relationship Id="rId8" Type="http://schemas.openxmlformats.org/officeDocument/2006/relationships/tags" Target="../tags/tag584.xml"/><Relationship Id="rId3" Type="http://schemas.openxmlformats.org/officeDocument/2006/relationships/tags" Target="../tags/tag579.xml"/><Relationship Id="rId7" Type="http://schemas.openxmlformats.org/officeDocument/2006/relationships/tags" Target="../tags/tag583.xml"/><Relationship Id="rId12" Type="http://schemas.openxmlformats.org/officeDocument/2006/relationships/image" Target="../media/image1.png"/><Relationship Id="rId2" Type="http://schemas.openxmlformats.org/officeDocument/2006/relationships/tags" Target="../tags/tag578.xml"/><Relationship Id="rId1" Type="http://schemas.openxmlformats.org/officeDocument/2006/relationships/tags" Target="../tags/tag577.xml"/><Relationship Id="rId6" Type="http://schemas.openxmlformats.org/officeDocument/2006/relationships/tags" Target="../tags/tag582.xml"/><Relationship Id="rId11" Type="http://schemas.openxmlformats.org/officeDocument/2006/relationships/slideLayout" Target="../slideLayouts/slideLayout7.xml"/><Relationship Id="rId5" Type="http://schemas.openxmlformats.org/officeDocument/2006/relationships/tags" Target="../tags/tag581.xml"/><Relationship Id="rId10" Type="http://schemas.openxmlformats.org/officeDocument/2006/relationships/tags" Target="../tags/tag586.xml"/><Relationship Id="rId4" Type="http://schemas.openxmlformats.org/officeDocument/2006/relationships/tags" Target="../tags/tag580.xml"/><Relationship Id="rId9" Type="http://schemas.openxmlformats.org/officeDocument/2006/relationships/tags" Target="../tags/tag585.xml"/></Relationships>
</file>

<file path=ppt/slides/_rels/slide100.xml.rels><?xml version="1.0" encoding="UTF-8" standalone="yes"?>
<Relationships xmlns="http://schemas.openxmlformats.org/package/2006/relationships"><Relationship Id="rId8" Type="http://schemas.openxmlformats.org/officeDocument/2006/relationships/tags" Target="../tags/tag594.xml"/><Relationship Id="rId3" Type="http://schemas.openxmlformats.org/officeDocument/2006/relationships/tags" Target="../tags/tag589.xml"/><Relationship Id="rId7" Type="http://schemas.openxmlformats.org/officeDocument/2006/relationships/tags" Target="../tags/tag593.xml"/><Relationship Id="rId12" Type="http://schemas.openxmlformats.org/officeDocument/2006/relationships/image" Target="../media/image1.png"/><Relationship Id="rId2" Type="http://schemas.openxmlformats.org/officeDocument/2006/relationships/tags" Target="../tags/tag588.xml"/><Relationship Id="rId1" Type="http://schemas.openxmlformats.org/officeDocument/2006/relationships/tags" Target="../tags/tag587.xml"/><Relationship Id="rId6" Type="http://schemas.openxmlformats.org/officeDocument/2006/relationships/tags" Target="../tags/tag592.xml"/><Relationship Id="rId11" Type="http://schemas.openxmlformats.org/officeDocument/2006/relationships/slideLayout" Target="../slideLayouts/slideLayout7.xml"/><Relationship Id="rId5" Type="http://schemas.openxmlformats.org/officeDocument/2006/relationships/tags" Target="../tags/tag591.xml"/><Relationship Id="rId10" Type="http://schemas.openxmlformats.org/officeDocument/2006/relationships/tags" Target="../tags/tag596.xml"/><Relationship Id="rId4" Type="http://schemas.openxmlformats.org/officeDocument/2006/relationships/tags" Target="../tags/tag590.xml"/><Relationship Id="rId9" Type="http://schemas.openxmlformats.org/officeDocument/2006/relationships/tags" Target="../tags/tag595.xml"/></Relationships>
</file>

<file path=ppt/slides/_rels/slide101.xml.rels><?xml version="1.0" encoding="UTF-8" standalone="yes"?>
<Relationships xmlns="http://schemas.openxmlformats.org/package/2006/relationships"><Relationship Id="rId8" Type="http://schemas.openxmlformats.org/officeDocument/2006/relationships/tags" Target="../tags/tag604.xml"/><Relationship Id="rId3" Type="http://schemas.openxmlformats.org/officeDocument/2006/relationships/tags" Target="../tags/tag599.xml"/><Relationship Id="rId7" Type="http://schemas.openxmlformats.org/officeDocument/2006/relationships/tags" Target="../tags/tag603.xml"/><Relationship Id="rId12" Type="http://schemas.openxmlformats.org/officeDocument/2006/relationships/image" Target="../media/image1.png"/><Relationship Id="rId2" Type="http://schemas.openxmlformats.org/officeDocument/2006/relationships/tags" Target="../tags/tag598.xml"/><Relationship Id="rId1" Type="http://schemas.openxmlformats.org/officeDocument/2006/relationships/tags" Target="../tags/tag597.xml"/><Relationship Id="rId6" Type="http://schemas.openxmlformats.org/officeDocument/2006/relationships/tags" Target="../tags/tag602.xml"/><Relationship Id="rId11" Type="http://schemas.openxmlformats.org/officeDocument/2006/relationships/slideLayout" Target="../slideLayouts/slideLayout7.xml"/><Relationship Id="rId5" Type="http://schemas.openxmlformats.org/officeDocument/2006/relationships/tags" Target="../tags/tag601.xml"/><Relationship Id="rId10" Type="http://schemas.openxmlformats.org/officeDocument/2006/relationships/tags" Target="../tags/tag606.xml"/><Relationship Id="rId4" Type="http://schemas.openxmlformats.org/officeDocument/2006/relationships/tags" Target="../tags/tag600.xml"/><Relationship Id="rId9" Type="http://schemas.openxmlformats.org/officeDocument/2006/relationships/tags" Target="../tags/tag60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Review</a:t>
            </a:r>
            <a:endParaRPr lang="zh-CN" altLang="en-US" dirty="0"/>
          </a:p>
        </p:txBody>
      </p:sp>
      <p:sp>
        <p:nvSpPr>
          <p:cNvPr id="3" name="副标题 2"/>
          <p:cNvSpPr>
            <a:spLocks noGrp="1"/>
          </p:cNvSpPr>
          <p:nvPr>
            <p:ph type="subTitle" idx="1"/>
          </p:nvPr>
        </p:nvSpPr>
        <p:spPr/>
        <p:txBody>
          <a:bodyPr/>
          <a:lstStyle/>
          <a:p>
            <a:endParaRPr lang="zh-CN" altLang="en-US"/>
          </a:p>
          <a:p>
            <a:endParaRPr lang="zh-CN" altLang="en-US"/>
          </a:p>
          <a:p>
            <a:endParaRPr lang="zh-CN" altLang="en-US"/>
          </a:p>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Chapter 2 Analysis</a:t>
            </a:r>
            <a:endParaRPr lang="zh-CN" altLang="en-US" dirty="0"/>
          </a:p>
        </p:txBody>
      </p:sp>
      <p:sp>
        <p:nvSpPr>
          <p:cNvPr id="3" name="内容占位符 2"/>
          <p:cNvSpPr>
            <a:spLocks noGrp="1"/>
          </p:cNvSpPr>
          <p:nvPr>
            <p:ph idx="1"/>
          </p:nvPr>
        </p:nvSpPr>
        <p:spPr/>
        <p:txBody>
          <a:bodyPr/>
          <a:lstStyle/>
          <a:p>
            <a:r>
              <a:rPr lang="en-US" altLang="zh-CN" dirty="0"/>
              <a:t>The big-O notation</a:t>
            </a:r>
          </a:p>
          <a:p>
            <a:r>
              <a:rPr lang="en-US" altLang="zh-CN" dirty="0"/>
              <a:t>Running time analysis of a program segment</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152400"/>
            <a:ext cx="7848600" cy="1600200"/>
          </a:xfrm>
        </p:spPr>
        <p:txBody>
          <a:bodyPr/>
          <a:lstStyle/>
          <a:p>
            <a:pPr eaLnBrk="1" hangingPunct="1"/>
            <a:r>
              <a:rPr kumimoji="1" lang="en-US" altLang="zh-CN" dirty="0"/>
              <a:t>Gig-O Notation</a:t>
            </a:r>
          </a:p>
        </p:txBody>
      </p:sp>
      <p:sp>
        <p:nvSpPr>
          <p:cNvPr id="4099" name="Rectangle 3"/>
          <p:cNvSpPr>
            <a:spLocks noGrp="1" noChangeArrowheads="1"/>
          </p:cNvSpPr>
          <p:nvPr>
            <p:ph type="body" idx="1"/>
          </p:nvPr>
        </p:nvSpPr>
        <p:spPr>
          <a:xfrm>
            <a:off x="685800" y="1981200"/>
            <a:ext cx="8458200" cy="4724400"/>
          </a:xfrm>
        </p:spPr>
        <p:txBody>
          <a:bodyPr/>
          <a:lstStyle/>
          <a:p>
            <a:pPr eaLnBrk="1" hangingPunct="1">
              <a:lnSpc>
                <a:spcPct val="90000"/>
              </a:lnSpc>
              <a:defRPr/>
            </a:pPr>
            <a:r>
              <a:rPr lang="en-US" altLang="zh-CN" sz="2400" dirty="0">
                <a:solidFill>
                  <a:srgbClr val="FF3300"/>
                </a:solidFill>
              </a:rPr>
              <a:t>Big-O, </a:t>
            </a:r>
            <a:r>
              <a:rPr lang="en-US" altLang="zh-CN" sz="2400" dirty="0">
                <a:solidFill>
                  <a:schemeClr val="tx2"/>
                </a:solidFill>
              </a:rPr>
              <a:t>“bounded above by”:</a:t>
            </a:r>
            <a:r>
              <a:rPr lang="en-US" altLang="zh-CN" sz="2400" dirty="0">
                <a:solidFill>
                  <a:srgbClr val="FF3300"/>
                </a:solidFill>
              </a:rPr>
              <a:t>   T(n) = O(f(n))</a:t>
            </a:r>
          </a:p>
          <a:p>
            <a:pPr marL="1828800" lvl="4" indent="0" eaLnBrk="1" hangingPunct="1">
              <a:lnSpc>
                <a:spcPct val="90000"/>
              </a:lnSpc>
              <a:buNone/>
              <a:defRPr/>
            </a:pPr>
            <a:endParaRPr lang="en-US" altLang="zh-CN" sz="1800" dirty="0"/>
          </a:p>
          <a:p>
            <a:pPr eaLnBrk="1" hangingPunct="1">
              <a:lnSpc>
                <a:spcPct val="90000"/>
              </a:lnSpc>
              <a:defRPr/>
            </a:pPr>
            <a:endParaRPr lang="en-US" altLang="zh-CN" sz="2400" dirty="0"/>
          </a:p>
          <a:p>
            <a:pPr lvl="1">
              <a:lnSpc>
                <a:spcPct val="90000"/>
              </a:lnSpc>
              <a:buFont typeface="Wingdings" panose="05000000000000000000" pitchFamily="2" charset="2"/>
              <a:buChar char="u"/>
              <a:defRPr/>
            </a:pPr>
            <a:r>
              <a:rPr lang="en-US" altLang="zh-CN" sz="2000" dirty="0"/>
              <a:t>Compare their </a:t>
            </a:r>
            <a:r>
              <a:rPr lang="en-US" altLang="zh-CN" sz="2000" b="1" i="1" dirty="0">
                <a:solidFill>
                  <a:srgbClr val="FF0000"/>
                </a:solidFill>
              </a:rPr>
              <a:t>relative rates of growth</a:t>
            </a:r>
            <a:r>
              <a:rPr lang="en-US" altLang="zh-CN" sz="2000" dirty="0"/>
              <a:t>.</a:t>
            </a:r>
          </a:p>
          <a:p>
            <a:pPr eaLnBrk="1" hangingPunct="1">
              <a:lnSpc>
                <a:spcPct val="90000"/>
              </a:lnSpc>
              <a:defRPr/>
            </a:pPr>
            <a:endParaRPr lang="en-US" altLang="zh-CN" sz="2400" dirty="0"/>
          </a:p>
          <a:p>
            <a:pPr lvl="1">
              <a:lnSpc>
                <a:spcPct val="90000"/>
              </a:lnSpc>
              <a:buFont typeface="Wingdings" panose="05000000000000000000" pitchFamily="2" charset="2"/>
              <a:buChar char="u"/>
              <a:defRPr/>
            </a:pPr>
            <a:r>
              <a:rPr lang="en-US" altLang="zh-CN" sz="2000" dirty="0"/>
              <a:t>The growth rate of T(n) is </a:t>
            </a:r>
            <a:r>
              <a:rPr lang="en-US" altLang="zh-CN" sz="2000" dirty="0">
                <a:solidFill>
                  <a:srgbClr val="FF0000"/>
                </a:solidFill>
              </a:rPr>
              <a:t>less than or equal to </a:t>
            </a:r>
            <a:r>
              <a:rPr lang="en-US" altLang="zh-CN" sz="2000" dirty="0"/>
              <a:t>that of f(n)</a:t>
            </a:r>
          </a:p>
          <a:p>
            <a:pPr eaLnBrk="1" hangingPunct="1">
              <a:lnSpc>
                <a:spcPct val="90000"/>
              </a:lnSpc>
              <a:defRPr/>
            </a:pP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a:t>Useful Rules</a:t>
            </a:r>
          </a:p>
        </p:txBody>
      </p:sp>
      <p:sp>
        <p:nvSpPr>
          <p:cNvPr id="8195" name="Rectangle 3"/>
          <p:cNvSpPr>
            <a:spLocks noGrp="1" noChangeArrowheads="1"/>
          </p:cNvSpPr>
          <p:nvPr>
            <p:ph type="body" idx="1"/>
          </p:nvPr>
        </p:nvSpPr>
        <p:spPr>
          <a:xfrm>
            <a:off x="685800" y="1828800"/>
            <a:ext cx="7924800" cy="4535170"/>
          </a:xfrm>
        </p:spPr>
        <p:txBody>
          <a:bodyPr>
            <a:normAutofit fontScale="90000" lnSpcReduction="10000"/>
          </a:bodyPr>
          <a:lstStyle/>
          <a:p>
            <a:pPr eaLnBrk="1" hangingPunct="1">
              <a:lnSpc>
                <a:spcPct val="80000"/>
              </a:lnSpc>
              <a:defRPr/>
            </a:pPr>
            <a:r>
              <a:rPr lang="en-US" altLang="zh-CN" dirty="0"/>
              <a:t>Rule of sums</a:t>
            </a:r>
          </a:p>
          <a:p>
            <a:pPr eaLnBrk="1" hangingPunct="1">
              <a:lnSpc>
                <a:spcPct val="80000"/>
              </a:lnSpc>
              <a:buFontTx/>
              <a:buNone/>
              <a:defRPr/>
            </a:pPr>
            <a:r>
              <a:rPr lang="en-US" altLang="zh-CN" sz="2800" dirty="0"/>
              <a:t>If </a:t>
            </a:r>
            <a:r>
              <a:rPr lang="en-US" altLang="zh-CN" sz="2800" dirty="0">
                <a:solidFill>
                  <a:srgbClr val="0000FF"/>
                </a:solidFill>
              </a:rPr>
              <a:t>T</a:t>
            </a:r>
            <a:r>
              <a:rPr lang="en-US" altLang="zh-CN" sz="2800" baseline="-25000" dirty="0">
                <a:solidFill>
                  <a:srgbClr val="0000FF"/>
                </a:solidFill>
              </a:rPr>
              <a:t>1</a:t>
            </a:r>
            <a:r>
              <a:rPr lang="en-US" altLang="zh-CN" sz="2800" dirty="0">
                <a:solidFill>
                  <a:srgbClr val="0000FF"/>
                </a:solidFill>
              </a:rPr>
              <a:t>(n)=O(f(n))</a:t>
            </a:r>
            <a:r>
              <a:rPr lang="en-US" altLang="zh-CN" sz="2800" dirty="0"/>
              <a:t> and </a:t>
            </a:r>
            <a:r>
              <a:rPr lang="en-US" altLang="zh-CN" sz="2800" dirty="0">
                <a:solidFill>
                  <a:srgbClr val="0000FF"/>
                </a:solidFill>
              </a:rPr>
              <a:t>T</a:t>
            </a:r>
            <a:r>
              <a:rPr lang="en-US" altLang="zh-CN" sz="2800" baseline="-25000" dirty="0">
                <a:solidFill>
                  <a:srgbClr val="0000FF"/>
                </a:solidFill>
              </a:rPr>
              <a:t>2</a:t>
            </a:r>
            <a:r>
              <a:rPr lang="en-US" altLang="zh-CN" sz="2800" dirty="0">
                <a:solidFill>
                  <a:srgbClr val="0000FF"/>
                </a:solidFill>
              </a:rPr>
              <a:t>(n)=O(g(n)),</a:t>
            </a:r>
            <a:r>
              <a:rPr lang="en-US" altLang="zh-CN" sz="2800" dirty="0"/>
              <a:t> then </a:t>
            </a:r>
          </a:p>
          <a:p>
            <a:pPr eaLnBrk="1" hangingPunct="1">
              <a:lnSpc>
                <a:spcPct val="80000"/>
              </a:lnSpc>
              <a:buFontTx/>
              <a:buNone/>
              <a:defRPr/>
            </a:pPr>
            <a:r>
              <a:rPr lang="en-US" altLang="zh-CN" sz="2800" dirty="0"/>
              <a:t>    </a:t>
            </a:r>
          </a:p>
          <a:p>
            <a:pPr eaLnBrk="1" hangingPunct="1">
              <a:lnSpc>
                <a:spcPct val="80000"/>
              </a:lnSpc>
              <a:buFontTx/>
              <a:buNone/>
              <a:defRPr/>
            </a:pPr>
            <a:r>
              <a:rPr lang="en-US" altLang="zh-CN" sz="2800" dirty="0"/>
              <a:t>       </a:t>
            </a:r>
            <a:r>
              <a:rPr lang="en-US" altLang="zh-CN" sz="2800" dirty="0">
                <a:solidFill>
                  <a:srgbClr val="0000FF"/>
                </a:solidFill>
              </a:rPr>
              <a:t>T</a:t>
            </a:r>
            <a:r>
              <a:rPr lang="en-US" altLang="zh-CN" sz="2800" baseline="-25000" dirty="0">
                <a:solidFill>
                  <a:srgbClr val="0000FF"/>
                </a:solidFill>
              </a:rPr>
              <a:t>1</a:t>
            </a:r>
            <a:r>
              <a:rPr lang="en-US" altLang="zh-CN" sz="2800" dirty="0">
                <a:solidFill>
                  <a:srgbClr val="0000FF"/>
                </a:solidFill>
              </a:rPr>
              <a:t>(n)+T</a:t>
            </a:r>
            <a:r>
              <a:rPr lang="en-US" altLang="zh-CN" sz="2800" baseline="-25000" dirty="0">
                <a:solidFill>
                  <a:srgbClr val="0000FF"/>
                </a:solidFill>
              </a:rPr>
              <a:t>2</a:t>
            </a:r>
            <a:r>
              <a:rPr lang="en-US" altLang="zh-CN" sz="2800" dirty="0">
                <a:solidFill>
                  <a:srgbClr val="0000FF"/>
                </a:solidFill>
              </a:rPr>
              <a:t>(n)=O(max(f(n),g(n)))</a:t>
            </a:r>
          </a:p>
          <a:p>
            <a:pPr eaLnBrk="1" hangingPunct="1">
              <a:lnSpc>
                <a:spcPct val="80000"/>
              </a:lnSpc>
              <a:buFontTx/>
              <a:buNone/>
              <a:defRPr/>
            </a:pPr>
            <a:endParaRPr lang="en-US" altLang="zh-CN" sz="2800" dirty="0">
              <a:solidFill>
                <a:srgbClr val="0000FF"/>
              </a:solidFill>
            </a:endParaRPr>
          </a:p>
          <a:p>
            <a:pPr eaLnBrk="1" hangingPunct="1">
              <a:lnSpc>
                <a:spcPct val="80000"/>
              </a:lnSpc>
              <a:defRPr/>
            </a:pPr>
            <a:r>
              <a:rPr lang="en-US" altLang="zh-CN" dirty="0"/>
              <a:t>Rule of products</a:t>
            </a:r>
          </a:p>
          <a:p>
            <a:pPr eaLnBrk="1" hangingPunct="1">
              <a:lnSpc>
                <a:spcPct val="80000"/>
              </a:lnSpc>
              <a:buFontTx/>
              <a:buNone/>
              <a:defRPr/>
            </a:pPr>
            <a:r>
              <a:rPr lang="en-US" altLang="zh-CN" sz="2800" dirty="0"/>
              <a:t>If </a:t>
            </a:r>
            <a:r>
              <a:rPr lang="en-US" altLang="zh-CN" sz="2800" dirty="0">
                <a:solidFill>
                  <a:srgbClr val="0000FF"/>
                </a:solidFill>
              </a:rPr>
              <a:t>T</a:t>
            </a:r>
            <a:r>
              <a:rPr lang="en-US" altLang="zh-CN" sz="2800" baseline="-25000" dirty="0">
                <a:solidFill>
                  <a:srgbClr val="0000FF"/>
                </a:solidFill>
              </a:rPr>
              <a:t>1</a:t>
            </a:r>
            <a:r>
              <a:rPr lang="en-US" altLang="zh-CN" sz="2800" dirty="0">
                <a:solidFill>
                  <a:srgbClr val="0000FF"/>
                </a:solidFill>
              </a:rPr>
              <a:t>(n)=O(f(n))</a:t>
            </a:r>
            <a:r>
              <a:rPr lang="en-US" altLang="zh-CN" sz="2800" dirty="0"/>
              <a:t> and </a:t>
            </a:r>
            <a:r>
              <a:rPr lang="en-US" altLang="zh-CN" sz="2800" dirty="0">
                <a:solidFill>
                  <a:srgbClr val="0000FF"/>
                </a:solidFill>
              </a:rPr>
              <a:t>T</a:t>
            </a:r>
            <a:r>
              <a:rPr lang="en-US" altLang="zh-CN" sz="2800" baseline="-25000" dirty="0">
                <a:solidFill>
                  <a:srgbClr val="0000FF"/>
                </a:solidFill>
              </a:rPr>
              <a:t>2</a:t>
            </a:r>
            <a:r>
              <a:rPr lang="en-US" altLang="zh-CN" sz="2800" dirty="0">
                <a:solidFill>
                  <a:srgbClr val="0000FF"/>
                </a:solidFill>
              </a:rPr>
              <a:t>(n)=O(g(n)),</a:t>
            </a:r>
            <a:r>
              <a:rPr lang="en-US" altLang="zh-CN" sz="2800" dirty="0"/>
              <a:t> then </a:t>
            </a:r>
          </a:p>
          <a:p>
            <a:pPr eaLnBrk="1" hangingPunct="1">
              <a:lnSpc>
                <a:spcPct val="80000"/>
              </a:lnSpc>
              <a:buFontTx/>
              <a:buNone/>
              <a:defRPr/>
            </a:pPr>
            <a:endParaRPr lang="en-US" altLang="zh-CN" sz="2800" dirty="0"/>
          </a:p>
          <a:p>
            <a:pPr eaLnBrk="1" hangingPunct="1">
              <a:lnSpc>
                <a:spcPct val="80000"/>
              </a:lnSpc>
              <a:buFontTx/>
              <a:buNone/>
              <a:defRPr/>
            </a:pPr>
            <a:r>
              <a:rPr lang="en-US" altLang="zh-CN" sz="2800" dirty="0"/>
              <a:t>        </a:t>
            </a:r>
            <a:r>
              <a:rPr lang="en-US" altLang="zh-CN" sz="2800" dirty="0">
                <a:solidFill>
                  <a:srgbClr val="0000FF"/>
                </a:solidFill>
              </a:rPr>
              <a:t>T</a:t>
            </a:r>
            <a:r>
              <a:rPr lang="en-US" altLang="zh-CN" sz="2800" baseline="-25000" dirty="0">
                <a:solidFill>
                  <a:srgbClr val="0000FF"/>
                </a:solidFill>
              </a:rPr>
              <a:t>1</a:t>
            </a:r>
            <a:r>
              <a:rPr lang="en-US" altLang="zh-CN" sz="2800" dirty="0">
                <a:solidFill>
                  <a:srgbClr val="0000FF"/>
                </a:solidFill>
              </a:rPr>
              <a:t>(n)*T</a:t>
            </a:r>
            <a:r>
              <a:rPr lang="en-US" altLang="zh-CN" sz="2800" baseline="-25000" dirty="0">
                <a:solidFill>
                  <a:srgbClr val="0000FF"/>
                </a:solidFill>
              </a:rPr>
              <a:t>2</a:t>
            </a:r>
            <a:r>
              <a:rPr lang="en-US" altLang="zh-CN" sz="2800" dirty="0">
                <a:solidFill>
                  <a:srgbClr val="0000FF"/>
                </a:solidFill>
              </a:rPr>
              <a:t>(n)=O(f(n)*g(n))</a:t>
            </a:r>
          </a:p>
          <a:p>
            <a:pPr eaLnBrk="1" hangingPunct="1">
              <a:lnSpc>
                <a:spcPct val="80000"/>
              </a:lnSpc>
              <a:buFontTx/>
              <a:buNone/>
              <a:defRPr/>
            </a:pPr>
            <a:endParaRPr lang="en-US" altLang="zh-CN" sz="2000" dirty="0">
              <a:solidFill>
                <a:srgbClr val="0000FF"/>
              </a:solidFill>
            </a:endParaRPr>
          </a:p>
          <a:p>
            <a:pPr>
              <a:lnSpc>
                <a:spcPct val="80000"/>
              </a:lnSpc>
              <a:defRPr/>
            </a:pPr>
            <a:r>
              <a:rPr kumimoji="1" lang="en-US" altLang="zh-CN" dirty="0"/>
              <a:t>For any constant </a:t>
            </a:r>
            <a:r>
              <a:rPr kumimoji="1" lang="en-US" altLang="zh-CN" i="1" dirty="0">
                <a:solidFill>
                  <a:schemeClr val="hlink"/>
                </a:solidFill>
              </a:rPr>
              <a:t>k</a:t>
            </a:r>
            <a:r>
              <a:rPr kumimoji="1" lang="en-US" altLang="zh-CN" dirty="0"/>
              <a:t>, we have </a:t>
            </a:r>
            <a:r>
              <a:rPr lang="en-US" altLang="zh-CN" dirty="0" err="1">
                <a:solidFill>
                  <a:srgbClr val="0000FF"/>
                </a:solidFill>
              </a:rPr>
              <a:t>log</a:t>
            </a:r>
            <a:r>
              <a:rPr lang="en-US" altLang="zh-CN" baseline="30000" dirty="0" err="1">
                <a:solidFill>
                  <a:srgbClr val="0000FF"/>
                </a:solidFill>
              </a:rPr>
              <a:t>k</a:t>
            </a:r>
            <a:r>
              <a:rPr lang="en-US" altLang="zh-CN" dirty="0" err="1">
                <a:solidFill>
                  <a:srgbClr val="0000FF"/>
                </a:solidFill>
              </a:rPr>
              <a:t>n</a:t>
            </a:r>
            <a:r>
              <a:rPr lang="en-US" altLang="zh-CN" dirty="0">
                <a:solidFill>
                  <a:srgbClr val="0000FF"/>
                </a:solidFill>
              </a:rPr>
              <a:t>=O(n)</a:t>
            </a:r>
            <a:r>
              <a:rPr kumimoji="1" lang="en-US" altLang="zh-CN" dirty="0"/>
              <a:t>.  </a:t>
            </a:r>
          </a:p>
          <a:p>
            <a:pPr marL="0" indent="0" eaLnBrk="1" hangingPunct="1">
              <a:lnSpc>
                <a:spcPct val="80000"/>
              </a:lnSpc>
              <a:buFontTx/>
              <a:buNone/>
              <a:defRPr/>
            </a:pPr>
            <a:r>
              <a:rPr kumimoji="1" lang="en-US" altLang="zh-CN" sz="2800" dirty="0"/>
              <a:t>This tells us that </a:t>
            </a:r>
            <a:r>
              <a:rPr kumimoji="1" lang="en-US" altLang="zh-CN" sz="2800" dirty="0">
                <a:solidFill>
                  <a:srgbClr val="FF3300"/>
                </a:solidFill>
              </a:rPr>
              <a:t>logarithms grow very slowly</a:t>
            </a:r>
            <a:r>
              <a:rPr kumimoji="1" lang="en-US" altLang="zh-CN" sz="2800" dirty="0"/>
              <a:t>.</a:t>
            </a:r>
            <a:endParaRPr kumimoji="1" lang="en-US" altLang="zh-CN" sz="2800" dirty="0">
              <a:solidFill>
                <a:schemeClr val="hlink"/>
              </a:solidFill>
            </a:endParaRPr>
          </a:p>
          <a:p>
            <a:pPr eaLnBrk="1" hangingPunct="1">
              <a:lnSpc>
                <a:spcPct val="80000"/>
              </a:lnSpc>
              <a:defRPr/>
            </a:pPr>
            <a:endParaRPr lang="en-US" altLang="zh-CN" sz="28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85800" y="347663"/>
            <a:ext cx="6869113" cy="871537"/>
          </a:xfrm>
        </p:spPr>
        <p:txBody>
          <a:bodyPr>
            <a:normAutofit fontScale="90000"/>
          </a:bodyPr>
          <a:lstStyle/>
          <a:p>
            <a:pPr eaLnBrk="1" hangingPunct="1"/>
            <a:r>
              <a:rPr lang="en-US" altLang="zh-CN" dirty="0"/>
              <a:t>General Rules of Time Analysis</a:t>
            </a:r>
          </a:p>
        </p:txBody>
      </p:sp>
      <p:sp>
        <p:nvSpPr>
          <p:cNvPr id="38915" name="Rectangle 3"/>
          <p:cNvSpPr>
            <a:spLocks noGrp="1" noChangeArrowheads="1"/>
          </p:cNvSpPr>
          <p:nvPr>
            <p:ph type="body" idx="1"/>
          </p:nvPr>
        </p:nvSpPr>
        <p:spPr>
          <a:xfrm>
            <a:off x="457200" y="1585913"/>
            <a:ext cx="7772400" cy="5805487"/>
          </a:xfrm>
        </p:spPr>
        <p:txBody>
          <a:bodyPr/>
          <a:lstStyle/>
          <a:p>
            <a:pPr eaLnBrk="1" hangingPunct="1"/>
            <a:r>
              <a:rPr lang="en-US" altLang="zh-CN" sz="2800" dirty="0">
                <a:solidFill>
                  <a:srgbClr val="0000FF"/>
                </a:solidFill>
              </a:rPr>
              <a:t>simple statements</a:t>
            </a:r>
            <a:r>
              <a:rPr lang="en-US" altLang="zh-CN" sz="2800" dirty="0"/>
              <a:t> </a:t>
            </a:r>
            <a:r>
              <a:rPr lang="en-US" altLang="zh-CN" sz="2800" dirty="0">
                <a:solidFill>
                  <a:srgbClr val="0000FF"/>
                </a:solidFill>
              </a:rPr>
              <a:t>(read, write, assign)</a:t>
            </a:r>
          </a:p>
          <a:p>
            <a:pPr lvl="1" eaLnBrk="1" hangingPunct="1"/>
            <a:r>
              <a:rPr lang="en-US" altLang="zh-CN" sz="2400" dirty="0"/>
              <a:t>The running time is constant O(1)</a:t>
            </a:r>
          </a:p>
          <a:p>
            <a:pPr eaLnBrk="1" hangingPunct="1"/>
            <a:r>
              <a:rPr lang="en-US" altLang="zh-CN" sz="2800" dirty="0">
                <a:solidFill>
                  <a:srgbClr val="0000FF"/>
                </a:solidFill>
              </a:rPr>
              <a:t>simple operations (+ -  * / == &gt; &gt;= &lt; &lt;=</a:t>
            </a:r>
            <a:r>
              <a:rPr lang="en-US" altLang="zh-CN" sz="2800" dirty="0"/>
              <a:t> )</a:t>
            </a:r>
          </a:p>
          <a:p>
            <a:pPr lvl="1" eaLnBrk="1" hangingPunct="1"/>
            <a:r>
              <a:rPr lang="en-US" altLang="zh-CN" sz="2400" dirty="0"/>
              <a:t>The running time is constant O(1)</a:t>
            </a:r>
          </a:p>
          <a:p>
            <a:pPr eaLnBrk="1" hangingPunct="1"/>
            <a:r>
              <a:rPr lang="en-US" altLang="zh-CN" sz="2800" dirty="0">
                <a:solidFill>
                  <a:srgbClr val="0000FF"/>
                </a:solidFill>
              </a:rPr>
              <a:t>sequence of simple statements/operations</a:t>
            </a:r>
          </a:p>
          <a:p>
            <a:pPr lvl="1" eaLnBrk="1" hangingPunct="1"/>
            <a:r>
              <a:rPr lang="en-US" altLang="zh-CN" sz="2400" dirty="0"/>
              <a:t>the runtime is dominated by the most expensive operation</a:t>
            </a:r>
          </a:p>
          <a:p>
            <a:pPr eaLnBrk="1" hangingPunct="1">
              <a:spcBef>
                <a:spcPct val="0"/>
              </a:spcBef>
              <a:buFontTx/>
              <a:buChar char="–"/>
            </a:pPr>
            <a:endParaRPr kumimoji="1" lang="en-US" altLang="zh-CN" sz="2800" b="1" dirty="0"/>
          </a:p>
          <a:p>
            <a:pPr lvl="1" eaLnBrk="1" hangingPunct="1">
              <a:buFontTx/>
              <a:buNone/>
            </a:pPr>
            <a:endParaRPr lang="en-US" altLang="zh-CN" sz="2400" dirty="0">
              <a:solidFill>
                <a:srgbClr val="0000FF"/>
              </a:solidFill>
            </a:endParaRPr>
          </a:p>
          <a:p>
            <a:pPr lvl="1" eaLnBrk="1" hangingPunct="1"/>
            <a:endParaRPr lang="en-US" altLang="zh-CN" sz="2400" dirty="0">
              <a:solidFill>
                <a:srgbClr val="0000FF"/>
              </a:solidFill>
            </a:endParaRPr>
          </a:p>
          <a:p>
            <a:pPr lvl="1" eaLnBrk="1" hangingPunct="1"/>
            <a:endParaRPr lang="en-US" altLang="zh-CN" sz="2400" dirty="0">
              <a:solidFill>
                <a:srgbClr val="0000FF"/>
              </a:solidFill>
            </a:endParaRPr>
          </a:p>
          <a:p>
            <a:pPr lvl="1" eaLnBrk="1" hangingPunct="1"/>
            <a:endParaRPr lang="en-US" altLang="zh-CN" sz="2400" dirty="0"/>
          </a:p>
          <a:p>
            <a:pPr lvl="1" eaLnBrk="1" hangingPunct="1"/>
            <a:endParaRPr lang="en-US" altLang="zh-C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1"/>
          </p:nvPr>
        </p:nvSpPr>
        <p:spPr>
          <a:xfrm>
            <a:off x="685800" y="533400"/>
            <a:ext cx="7696200" cy="4953000"/>
          </a:xfrm>
        </p:spPr>
        <p:txBody>
          <a:bodyPr/>
          <a:lstStyle/>
          <a:p>
            <a:pPr eaLnBrk="1" hangingPunct="1"/>
            <a:r>
              <a:rPr lang="en-US" altLang="zh-CN" sz="2800" dirty="0">
                <a:solidFill>
                  <a:srgbClr val="0000FF"/>
                </a:solidFill>
              </a:rPr>
              <a:t>for, do, while loops</a:t>
            </a:r>
          </a:p>
          <a:p>
            <a:pPr lvl="1" eaLnBrk="1" hangingPunct="1">
              <a:spcBef>
                <a:spcPct val="0"/>
              </a:spcBef>
            </a:pPr>
            <a:r>
              <a:rPr lang="en-US" altLang="zh-CN" sz="2400" dirty="0"/>
              <a:t>The running time is at most the running time of the statements inside the for loop (including tests) times the number of iterations</a:t>
            </a:r>
            <a:r>
              <a:rPr kumimoji="1" lang="en-US" altLang="zh-CN" sz="2400" b="1" dirty="0"/>
              <a:t>.</a:t>
            </a:r>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Grp="1" noChangeArrowheads="1"/>
          </p:cNvSpPr>
          <p:nvPr>
            <p:ph type="body" idx="1"/>
          </p:nvPr>
        </p:nvSpPr>
        <p:spPr>
          <a:xfrm>
            <a:off x="609600" y="685800"/>
            <a:ext cx="7772400" cy="5029200"/>
          </a:xfrm>
        </p:spPr>
        <p:txBody>
          <a:bodyPr/>
          <a:lstStyle/>
          <a:p>
            <a:pPr eaLnBrk="1" hangingPunct="1">
              <a:lnSpc>
                <a:spcPct val="90000"/>
              </a:lnSpc>
            </a:pPr>
            <a:r>
              <a:rPr kumimoji="1" lang="en-US" altLang="zh-CN" sz="2400" b="1" dirty="0">
                <a:solidFill>
                  <a:srgbClr val="0000FF"/>
                </a:solidFill>
                <a:sym typeface="Wingdings" panose="05000000000000000000" pitchFamily="2" charset="2"/>
              </a:rPr>
              <a:t>NESTED </a:t>
            </a:r>
            <a:r>
              <a:rPr kumimoji="1" lang="en-US" altLang="zh-CN" sz="2400" b="1" dirty="0">
                <a:solidFill>
                  <a:srgbClr val="0000FF"/>
                </a:solidFill>
              </a:rPr>
              <a:t>FOR LOOPS:</a:t>
            </a:r>
          </a:p>
          <a:p>
            <a:pPr lvl="1" eaLnBrk="1" hangingPunct="1">
              <a:lnSpc>
                <a:spcPct val="90000"/>
              </a:lnSpc>
            </a:pPr>
            <a:r>
              <a:rPr lang="en-US" altLang="zh-CN" sz="2400" dirty="0"/>
              <a:t>The total running time of a statement inside a group of nested loops is the running time of the </a:t>
            </a:r>
            <a:r>
              <a:rPr lang="en-US" altLang="zh-CN" sz="2400" dirty="0">
                <a:solidFill>
                  <a:schemeClr val="hlink"/>
                </a:solidFill>
              </a:rPr>
              <a:t>statements </a:t>
            </a:r>
            <a:r>
              <a:rPr lang="en-US" altLang="zh-CN" sz="2400" dirty="0">
                <a:solidFill>
                  <a:schemeClr val="tx2"/>
                </a:solidFill>
              </a:rPr>
              <a:t>multiplied</a:t>
            </a:r>
            <a:r>
              <a:rPr lang="en-US" altLang="zh-CN" sz="2400" dirty="0"/>
              <a:t> by the </a:t>
            </a:r>
            <a:r>
              <a:rPr lang="en-US" altLang="zh-CN" sz="2400" dirty="0">
                <a:solidFill>
                  <a:schemeClr val="hlink"/>
                </a:solidFill>
              </a:rPr>
              <a:t>product of the sizes of all the for loops</a:t>
            </a:r>
            <a:r>
              <a:rPr lang="en-US" altLang="zh-CN" sz="2400" dirty="0"/>
              <a:t>.</a:t>
            </a:r>
          </a:p>
          <a:p>
            <a:pPr lvl="1" eaLnBrk="1" hangingPunct="1">
              <a:lnSpc>
                <a:spcPct val="90000"/>
              </a:lnSpc>
            </a:pPr>
            <a:endParaRPr lang="en-US" altLang="zh-C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内容占位符 2"/>
          <p:cNvSpPr>
            <a:spLocks noGrp="1"/>
          </p:cNvSpPr>
          <p:nvPr>
            <p:ph idx="1"/>
          </p:nvPr>
        </p:nvSpPr>
        <p:spPr>
          <a:xfrm>
            <a:off x="533400" y="381000"/>
            <a:ext cx="7696200" cy="6248400"/>
          </a:xfrm>
        </p:spPr>
        <p:txBody>
          <a:bodyPr/>
          <a:lstStyle/>
          <a:p>
            <a:pPr eaLnBrk="1" hangingPunct="1">
              <a:lnSpc>
                <a:spcPct val="90000"/>
              </a:lnSpc>
            </a:pPr>
            <a:r>
              <a:rPr kumimoji="1" lang="en-US" altLang="zh-CN" sz="2800" b="1" dirty="0">
                <a:solidFill>
                  <a:srgbClr val="0000FF"/>
                </a:solidFill>
                <a:sym typeface="Wingdings" panose="05000000000000000000" pitchFamily="2" charset="2"/>
              </a:rPr>
              <a:t>IF / ELSE</a:t>
            </a:r>
            <a:r>
              <a:rPr kumimoji="1" lang="en-US" altLang="zh-CN" sz="2800" b="1" dirty="0">
                <a:solidFill>
                  <a:srgbClr val="0000FF"/>
                </a:solidFill>
              </a:rPr>
              <a:t>: </a:t>
            </a:r>
          </a:p>
          <a:p>
            <a:pPr eaLnBrk="1" hangingPunct="1">
              <a:lnSpc>
                <a:spcPct val="90000"/>
              </a:lnSpc>
              <a:buFontTx/>
              <a:buNone/>
            </a:pPr>
            <a:r>
              <a:rPr lang="en-US" altLang="zh-CN" sz="2000" dirty="0"/>
              <a:t>         For the fragment</a:t>
            </a:r>
          </a:p>
          <a:p>
            <a:pPr eaLnBrk="1" hangingPunct="1">
              <a:lnSpc>
                <a:spcPct val="90000"/>
              </a:lnSpc>
              <a:buFontTx/>
              <a:buNone/>
            </a:pPr>
            <a:r>
              <a:rPr kumimoji="1" lang="en-US" altLang="zh-CN" sz="2800" b="1" dirty="0"/>
              <a:t>		</a:t>
            </a:r>
            <a:r>
              <a:rPr lang="en-US" altLang="zh-CN" sz="2000" dirty="0"/>
              <a:t>if ( Condition )       O(1)</a:t>
            </a:r>
          </a:p>
          <a:p>
            <a:pPr eaLnBrk="1" hangingPunct="1">
              <a:lnSpc>
                <a:spcPct val="90000"/>
              </a:lnSpc>
              <a:buFontTx/>
              <a:buNone/>
            </a:pPr>
            <a:r>
              <a:rPr lang="en-US" altLang="zh-CN" sz="2000" dirty="0"/>
              <a:t>                     S1;                T</a:t>
            </a:r>
            <a:r>
              <a:rPr lang="en-US" altLang="zh-CN" sz="2000" baseline="-25000" dirty="0"/>
              <a:t>1</a:t>
            </a:r>
            <a:r>
              <a:rPr lang="en-US" altLang="zh-CN" sz="2000" dirty="0"/>
              <a:t>(n)</a:t>
            </a:r>
          </a:p>
          <a:p>
            <a:pPr eaLnBrk="1" hangingPunct="1">
              <a:lnSpc>
                <a:spcPct val="90000"/>
              </a:lnSpc>
              <a:buFontTx/>
              <a:buNone/>
            </a:pPr>
            <a:r>
              <a:rPr lang="en-US" altLang="zh-CN" sz="2000" dirty="0"/>
              <a:t>		else   S2;               T</a:t>
            </a:r>
            <a:r>
              <a:rPr lang="en-US" altLang="zh-CN" sz="2000" baseline="-25000" dirty="0"/>
              <a:t>2</a:t>
            </a:r>
            <a:r>
              <a:rPr lang="en-US" altLang="zh-CN" sz="2000" dirty="0"/>
              <a:t>(n)</a:t>
            </a:r>
          </a:p>
          <a:p>
            <a:pPr lvl="1" eaLnBrk="1" hangingPunct="1">
              <a:lnSpc>
                <a:spcPct val="90000"/>
              </a:lnSpc>
            </a:pPr>
            <a:r>
              <a:rPr lang="en-US" altLang="zh-CN" sz="2000" dirty="0"/>
              <a:t>the running time is never more than the running time of the </a:t>
            </a:r>
            <a:r>
              <a:rPr lang="en-US" altLang="zh-CN" sz="2000" dirty="0">
                <a:solidFill>
                  <a:schemeClr val="hlink"/>
                </a:solidFill>
              </a:rPr>
              <a:t>test</a:t>
            </a:r>
            <a:r>
              <a:rPr lang="en-US" altLang="zh-CN" sz="2000" dirty="0">
                <a:solidFill>
                  <a:schemeClr val="tx2"/>
                </a:solidFill>
              </a:rPr>
              <a:t> plus</a:t>
            </a:r>
            <a:r>
              <a:rPr lang="en-US" altLang="zh-CN" sz="2000" dirty="0"/>
              <a:t> the </a:t>
            </a:r>
            <a:r>
              <a:rPr lang="en-US" altLang="zh-CN" sz="2000" dirty="0">
                <a:solidFill>
                  <a:schemeClr val="hlink"/>
                </a:solidFill>
              </a:rPr>
              <a:t>larger</a:t>
            </a:r>
            <a:r>
              <a:rPr lang="en-US" altLang="zh-CN" sz="2000" dirty="0"/>
              <a:t> of the running time of S1 and S2.</a:t>
            </a:r>
          </a:p>
          <a:p>
            <a:pPr lvl="1" eaLnBrk="1" hangingPunct="1">
              <a:lnSpc>
                <a:spcPct val="90000"/>
              </a:lnSpc>
            </a:pPr>
            <a:r>
              <a:rPr lang="en-US" altLang="zh-CN" sz="2000" dirty="0"/>
              <a:t>T(n)=O(max(T</a:t>
            </a:r>
            <a:r>
              <a:rPr lang="en-US" altLang="zh-CN" sz="2000" baseline="-25000" dirty="0"/>
              <a:t>1</a:t>
            </a:r>
            <a:r>
              <a:rPr lang="en-US" altLang="zh-CN" sz="2000" dirty="0"/>
              <a:t>(n),T</a:t>
            </a:r>
            <a:r>
              <a:rPr lang="en-US" altLang="zh-CN" sz="2000" baseline="-25000" dirty="0"/>
              <a:t>2</a:t>
            </a:r>
            <a:r>
              <a:rPr lang="en-US" altLang="zh-CN" sz="2000" dirty="0"/>
              <a:t>(n))</a:t>
            </a:r>
          </a:p>
          <a:p>
            <a:pPr lvl="1" eaLnBrk="1" hangingPunct="1">
              <a:lnSpc>
                <a:spcPct val="90000"/>
              </a:lnSpc>
            </a:pPr>
            <a:endParaRPr lang="en-US" altLang="zh-CN" sz="1800" dirty="0"/>
          </a:p>
          <a:p>
            <a:pPr eaLnBrk="1" hangingPunct="1"/>
            <a:r>
              <a:rPr lang="en-US" altLang="zh-CN" dirty="0">
                <a:solidFill>
                  <a:srgbClr val="0000FF"/>
                </a:solidFill>
              </a:rPr>
              <a:t>Method calls</a:t>
            </a:r>
          </a:p>
          <a:p>
            <a:pPr lvl="1" eaLnBrk="1" hangingPunct="1">
              <a:buFontTx/>
              <a:buNone/>
            </a:pPr>
            <a:r>
              <a:rPr lang="en-US" altLang="zh-CN" sz="2000" dirty="0"/>
              <a:t>      A calls B</a:t>
            </a:r>
          </a:p>
          <a:p>
            <a:pPr lvl="1" eaLnBrk="1" hangingPunct="1">
              <a:buFontTx/>
              <a:buNone/>
            </a:pPr>
            <a:r>
              <a:rPr lang="en-US" altLang="zh-CN" sz="2000" dirty="0"/>
              <a:t>       B calls C</a:t>
            </a:r>
          </a:p>
          <a:p>
            <a:pPr lvl="1" eaLnBrk="1" hangingPunct="1">
              <a:buFontTx/>
              <a:buNone/>
            </a:pPr>
            <a:r>
              <a:rPr lang="en-US" altLang="zh-CN" sz="2000" dirty="0"/>
              <a:t>etc.</a:t>
            </a:r>
          </a:p>
          <a:p>
            <a:pPr lvl="1" eaLnBrk="1" hangingPunct="1"/>
            <a:r>
              <a:rPr lang="en-US" altLang="zh-CN" sz="2000" dirty="0"/>
              <a:t>  A sequence of operations when call sequences are flattened</a:t>
            </a:r>
          </a:p>
          <a:p>
            <a:pPr lvl="1" eaLnBrk="1" hangingPunct="1">
              <a:buFontTx/>
              <a:buNone/>
            </a:pPr>
            <a:r>
              <a:rPr lang="en-US" altLang="zh-CN" sz="2000" i="1" dirty="0"/>
              <a:t>      </a:t>
            </a:r>
            <a:r>
              <a:rPr lang="en-US" altLang="zh-CN" sz="2000" dirty="0"/>
              <a:t>T(n) = max(T</a:t>
            </a:r>
            <a:r>
              <a:rPr lang="en-US" altLang="zh-CN" sz="2000" baseline="-25000" dirty="0"/>
              <a:t>A</a:t>
            </a:r>
            <a:r>
              <a:rPr lang="en-US" altLang="zh-CN" sz="2000" dirty="0"/>
              <a:t>(n), T</a:t>
            </a:r>
            <a:r>
              <a:rPr lang="en-US" altLang="zh-CN" sz="2000" baseline="-25000" dirty="0"/>
              <a:t>B</a:t>
            </a:r>
            <a:r>
              <a:rPr lang="en-US" altLang="zh-CN" sz="2000" dirty="0"/>
              <a:t>(n), T</a:t>
            </a:r>
            <a:r>
              <a:rPr lang="en-US" altLang="zh-CN" sz="2000" baseline="-25000" dirty="0"/>
              <a:t>C</a:t>
            </a:r>
            <a:r>
              <a:rPr lang="en-US" altLang="zh-CN" sz="2000" dirty="0"/>
              <a:t>(n))</a:t>
            </a:r>
          </a:p>
          <a:p>
            <a:pPr eaLnBrk="1" hangingPunct="1">
              <a:lnSpc>
                <a:spcPct val="90000"/>
              </a:lnSpc>
            </a:pPr>
            <a:endParaRPr lang="en-US" altLang="zh-CN" sz="2200" dirty="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20540" y="332656"/>
            <a:ext cx="4572000" cy="5878532"/>
          </a:xfrm>
          <a:prstGeom prst="rect">
            <a:avLst/>
          </a:prstGeom>
        </p:spPr>
        <p:txBody>
          <a:bodyPr>
            <a:spAutoFit/>
          </a:bodyPr>
          <a:lstStyle/>
          <a:p>
            <a:r>
              <a:rPr lang="en-US" altLang="zh-CN" kern="0" dirty="0">
                <a:latin typeface="Times New Roman" panose="02020603050405020304" pitchFamily="18" charset="0"/>
              </a:rPr>
              <a:t>For each of the following six program fragments give an analysis of the running time (Big-Oh will do).</a:t>
            </a:r>
          </a:p>
          <a:p>
            <a:endParaRPr lang="zh-CN" altLang="zh-CN" sz="1600" kern="100" dirty="0">
              <a:latin typeface="Times New Roman" panose="02020603050405020304" pitchFamily="18" charset="0"/>
            </a:endParaRPr>
          </a:p>
          <a:p>
            <a:pPr marL="342900" indent="-342900">
              <a:buAutoNum type="arabicParenBoth"/>
            </a:pPr>
            <a:r>
              <a:rPr lang="en-US" altLang="zh-CN" kern="0" dirty="0">
                <a:latin typeface="Times New Roman" panose="02020603050405020304" pitchFamily="18" charset="0"/>
              </a:rPr>
              <a:t>void fun(</a:t>
            </a:r>
            <a:r>
              <a:rPr lang="en-US" altLang="zh-CN" kern="0" dirty="0" err="1">
                <a:latin typeface="Times New Roman" panose="02020603050405020304" pitchFamily="18" charset="0"/>
              </a:rPr>
              <a:t>int</a:t>
            </a:r>
            <a:r>
              <a:rPr lang="en-US" altLang="zh-CN" kern="0" dirty="0">
                <a:latin typeface="Times New Roman" panose="02020603050405020304" pitchFamily="18" charset="0"/>
              </a:rPr>
              <a:t> n){</a:t>
            </a:r>
          </a:p>
          <a:p>
            <a:r>
              <a:rPr lang="en-US" altLang="zh-CN" kern="0" dirty="0">
                <a:latin typeface="Times New Roman" panose="02020603050405020304" pitchFamily="18" charset="0"/>
              </a:rPr>
              <a:t>             </a:t>
            </a:r>
            <a:r>
              <a:rPr lang="en-US" altLang="zh-CN" kern="0" dirty="0" err="1">
                <a:latin typeface="Times New Roman" panose="02020603050405020304" pitchFamily="18" charset="0"/>
              </a:rPr>
              <a:t>int</a:t>
            </a:r>
            <a:r>
              <a:rPr lang="en-US" altLang="zh-CN" kern="0" dirty="0">
                <a:latin typeface="Times New Roman" panose="02020603050405020304" pitchFamily="18" charset="0"/>
              </a:rPr>
              <a:t> i=1;</a:t>
            </a:r>
          </a:p>
          <a:p>
            <a:r>
              <a:rPr lang="en-US" altLang="zh-CN" kern="0" dirty="0">
                <a:latin typeface="Times New Roman" panose="02020603050405020304" pitchFamily="18" charset="0"/>
              </a:rPr>
              <a:t>             while (i&lt;=n)</a:t>
            </a:r>
          </a:p>
          <a:p>
            <a:r>
              <a:rPr lang="en-US" altLang="zh-CN" kern="0" dirty="0">
                <a:latin typeface="Times New Roman" panose="02020603050405020304" pitchFamily="18" charset="0"/>
              </a:rPr>
              <a:t>                    i=i*2;</a:t>
            </a:r>
          </a:p>
          <a:p>
            <a:r>
              <a:rPr lang="en-US" altLang="zh-CN" kern="0" dirty="0">
                <a:latin typeface="Times New Roman" panose="02020603050405020304" pitchFamily="18" charset="0"/>
              </a:rPr>
              <a:t>         }</a:t>
            </a:r>
          </a:p>
          <a:p>
            <a:endParaRPr lang="en-US" altLang="zh-CN" kern="0" dirty="0">
              <a:latin typeface="Times New Roman" panose="02020603050405020304" pitchFamily="18" charset="0"/>
            </a:endParaRPr>
          </a:p>
          <a:p>
            <a:r>
              <a:rPr lang="en-US" altLang="zh-CN" kern="0" dirty="0">
                <a:latin typeface="Times New Roman" panose="02020603050405020304" pitchFamily="18" charset="0"/>
              </a:rPr>
              <a:t>(2) </a:t>
            </a:r>
            <a:r>
              <a:rPr lang="en-US" altLang="zh-CN" kern="0" dirty="0" err="1">
                <a:latin typeface="Times New Roman" panose="02020603050405020304" pitchFamily="18" charset="0"/>
              </a:rPr>
              <a:t>int</a:t>
            </a:r>
            <a:r>
              <a:rPr lang="en-US" altLang="zh-CN" kern="0" dirty="0">
                <a:latin typeface="Times New Roman" panose="02020603050405020304" pitchFamily="18" charset="0"/>
              </a:rPr>
              <a:t> y=5;</a:t>
            </a:r>
          </a:p>
          <a:p>
            <a:r>
              <a:rPr lang="en-US" altLang="zh-CN" kern="0" dirty="0">
                <a:latin typeface="Times New Roman" panose="02020603050405020304" pitchFamily="18" charset="0"/>
              </a:rPr>
              <a:t>     while ((y-1)*(y-1)&lt;n)</a:t>
            </a:r>
          </a:p>
          <a:p>
            <a:r>
              <a:rPr lang="en-US" altLang="zh-CN" kern="0" dirty="0">
                <a:latin typeface="Times New Roman" panose="02020603050405020304" pitchFamily="18" charset="0"/>
              </a:rPr>
              <a:t>             y=y+1;</a:t>
            </a:r>
          </a:p>
          <a:p>
            <a:endParaRPr lang="en-US" altLang="zh-CN" kern="0" dirty="0">
              <a:latin typeface="Times New Roman" panose="02020603050405020304" pitchFamily="18" charset="0"/>
            </a:endParaRPr>
          </a:p>
          <a:p>
            <a:r>
              <a:rPr lang="en-US" altLang="zh-CN" kern="0" dirty="0">
                <a:latin typeface="Times New Roman" panose="02020603050405020304" pitchFamily="18" charset="0"/>
              </a:rPr>
              <a:t>(3) </a:t>
            </a:r>
            <a:r>
              <a:rPr lang="en-US" altLang="zh-CN" kern="0" dirty="0" err="1">
                <a:latin typeface="Times New Roman" panose="02020603050405020304" pitchFamily="18" charset="0"/>
              </a:rPr>
              <a:t>int</a:t>
            </a:r>
            <a:r>
              <a:rPr lang="en-US" altLang="zh-CN" kern="0" dirty="0">
                <a:latin typeface="Times New Roman" panose="02020603050405020304" pitchFamily="18" charset="0"/>
              </a:rPr>
              <a:t> i=0, sum=0;</a:t>
            </a:r>
          </a:p>
          <a:p>
            <a:r>
              <a:rPr lang="en-US" altLang="zh-CN" kern="0" dirty="0">
                <a:latin typeface="Times New Roman" panose="02020603050405020304" pitchFamily="18" charset="0"/>
              </a:rPr>
              <a:t>     while (sum&lt;n) sum+=++i;</a:t>
            </a:r>
          </a:p>
          <a:p>
            <a:endParaRPr lang="en-US" altLang="zh-CN" kern="0" dirty="0">
              <a:latin typeface="Times New Roman" panose="02020603050405020304" pitchFamily="18" charset="0"/>
            </a:endParaRPr>
          </a:p>
          <a:p>
            <a:r>
              <a:rPr lang="en-US" altLang="zh-CN" kern="0" dirty="0">
                <a:latin typeface="Times New Roman" panose="02020603050405020304" pitchFamily="18" charset="0"/>
              </a:rPr>
              <a:t> (4) </a:t>
            </a:r>
            <a:r>
              <a:rPr lang="en-US" altLang="zh-CN" kern="0" dirty="0" err="1">
                <a:latin typeface="Times New Roman" panose="02020603050405020304" pitchFamily="18" charset="0"/>
              </a:rPr>
              <a:t>int</a:t>
            </a:r>
            <a:r>
              <a:rPr lang="en-US" altLang="zh-CN" kern="0" dirty="0">
                <a:latin typeface="Times New Roman" panose="02020603050405020304" pitchFamily="18" charset="0"/>
              </a:rPr>
              <a:t> fact (</a:t>
            </a:r>
            <a:r>
              <a:rPr lang="en-US" altLang="zh-CN" kern="0" dirty="0" err="1">
                <a:latin typeface="Times New Roman" panose="02020603050405020304" pitchFamily="18" charset="0"/>
              </a:rPr>
              <a:t>int</a:t>
            </a:r>
            <a:r>
              <a:rPr lang="en-US" altLang="zh-CN" kern="0" dirty="0">
                <a:latin typeface="Times New Roman" panose="02020603050405020304" pitchFamily="18" charset="0"/>
              </a:rPr>
              <a:t> n) {</a:t>
            </a:r>
          </a:p>
          <a:p>
            <a:r>
              <a:rPr lang="en-US" altLang="zh-CN" kern="0" dirty="0">
                <a:latin typeface="Times New Roman" panose="02020603050405020304" pitchFamily="18" charset="0"/>
              </a:rPr>
              <a:t>         if (n&lt;=1) return 1;</a:t>
            </a:r>
          </a:p>
          <a:p>
            <a:r>
              <a:rPr lang="en-US" altLang="zh-CN" kern="0" dirty="0">
                <a:latin typeface="Times New Roman" panose="02020603050405020304" pitchFamily="18" charset="0"/>
              </a:rPr>
              <a:t>         return n*fact(n-1);</a:t>
            </a:r>
          </a:p>
          <a:p>
            <a:r>
              <a:rPr lang="en-US" altLang="zh-CN" kern="0" dirty="0">
                <a:latin typeface="Times New Roman" panose="02020603050405020304" pitchFamily="18" charset="0"/>
              </a:rPr>
              <a:t>       }</a:t>
            </a:r>
            <a:endParaRPr lang="zh-CN" altLang="zh-CN" kern="0" dirty="0">
              <a:latin typeface="Times New Roman" panose="02020603050405020304" pitchFamily="18" charset="0"/>
            </a:endParaRPr>
          </a:p>
        </p:txBody>
      </p:sp>
      <p:sp>
        <p:nvSpPr>
          <p:cNvPr id="4" name="矩形 3"/>
          <p:cNvSpPr/>
          <p:nvPr/>
        </p:nvSpPr>
        <p:spPr>
          <a:xfrm>
            <a:off x="4860032" y="332656"/>
            <a:ext cx="4572000" cy="3662541"/>
          </a:xfrm>
          <a:prstGeom prst="rect">
            <a:avLst/>
          </a:prstGeom>
        </p:spPr>
        <p:txBody>
          <a:bodyPr>
            <a:spAutoFit/>
          </a:bodyPr>
          <a:lstStyle/>
          <a:p>
            <a:r>
              <a:rPr lang="en-US" altLang="zh-CN" kern="0" dirty="0">
                <a:latin typeface="Times New Roman" panose="02020603050405020304" pitchFamily="18" charset="0"/>
              </a:rPr>
              <a:t>(5) sum = 0;</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for( </a:t>
            </a:r>
            <a:r>
              <a:rPr lang="en-US" altLang="zh-CN" kern="0" dirty="0" err="1">
                <a:latin typeface="Times New Roman" panose="02020603050405020304" pitchFamily="18" charset="0"/>
              </a:rPr>
              <a:t>i</a:t>
            </a:r>
            <a:r>
              <a:rPr lang="en-US" altLang="zh-CN" kern="0" dirty="0">
                <a:latin typeface="Times New Roman" panose="02020603050405020304" pitchFamily="18" charset="0"/>
              </a:rPr>
              <a:t>=0; </a:t>
            </a:r>
            <a:r>
              <a:rPr lang="en-US" altLang="zh-CN" kern="0" dirty="0" err="1">
                <a:latin typeface="Times New Roman" panose="02020603050405020304" pitchFamily="18" charset="0"/>
              </a:rPr>
              <a:t>i</a:t>
            </a:r>
            <a:r>
              <a:rPr lang="en-US" altLang="zh-CN" kern="0" dirty="0">
                <a:latin typeface="Times New Roman" panose="02020603050405020304" pitchFamily="18" charset="0"/>
              </a:rPr>
              <a:t>&lt;n; </a:t>
            </a:r>
            <a:r>
              <a:rPr lang="en-US" altLang="zh-CN" kern="0" dirty="0" err="1">
                <a:latin typeface="Times New Roman" panose="02020603050405020304" pitchFamily="18" charset="0"/>
              </a:rPr>
              <a:t>i</a:t>
            </a:r>
            <a:r>
              <a:rPr lang="en-US" altLang="zh-CN" kern="0" dirty="0">
                <a:latin typeface="Times New Roman" panose="02020603050405020304" pitchFamily="18" charset="0"/>
              </a:rPr>
              <a:t>++ )</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for( j=0; j&lt;</a:t>
            </a:r>
            <a:r>
              <a:rPr lang="en-US" altLang="zh-CN" kern="0" dirty="0" err="1">
                <a:latin typeface="Times New Roman" panose="02020603050405020304" pitchFamily="18" charset="0"/>
              </a:rPr>
              <a:t>i</a:t>
            </a:r>
            <a:r>
              <a:rPr lang="en-US" altLang="zh-CN" kern="0" dirty="0">
                <a:latin typeface="Times New Roman" panose="02020603050405020304" pitchFamily="18" charset="0"/>
              </a:rPr>
              <a:t>*</a:t>
            </a:r>
            <a:r>
              <a:rPr lang="en-US" altLang="zh-CN" kern="0" dirty="0" err="1">
                <a:latin typeface="Times New Roman" panose="02020603050405020304" pitchFamily="18" charset="0"/>
              </a:rPr>
              <a:t>i</a:t>
            </a:r>
            <a:r>
              <a:rPr lang="en-US" altLang="zh-CN" kern="0" dirty="0">
                <a:latin typeface="Times New Roman" panose="02020603050405020304" pitchFamily="18" charset="0"/>
              </a:rPr>
              <a:t>; </a:t>
            </a:r>
            <a:r>
              <a:rPr lang="en-US" altLang="zh-CN" kern="0" dirty="0" err="1">
                <a:latin typeface="Times New Roman" panose="02020603050405020304" pitchFamily="18" charset="0"/>
              </a:rPr>
              <a:t>j++</a:t>
            </a:r>
            <a:r>
              <a:rPr lang="en-US" altLang="zh-CN" kern="0" dirty="0">
                <a:latin typeface="Times New Roman" panose="02020603050405020304" pitchFamily="18" charset="0"/>
              </a:rPr>
              <a:t> )</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for( k=0; k&lt;j; k++)</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sum++;</a:t>
            </a:r>
          </a:p>
          <a:p>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(6) sum = 0;</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for( </a:t>
            </a:r>
            <a:r>
              <a:rPr lang="en-US" altLang="zh-CN" kern="0" dirty="0" err="1">
                <a:latin typeface="Times New Roman" panose="02020603050405020304" pitchFamily="18" charset="0"/>
              </a:rPr>
              <a:t>i</a:t>
            </a:r>
            <a:r>
              <a:rPr lang="en-US" altLang="zh-CN" kern="0" dirty="0">
                <a:latin typeface="Times New Roman" panose="02020603050405020304" pitchFamily="18" charset="0"/>
              </a:rPr>
              <a:t>=1; </a:t>
            </a:r>
            <a:r>
              <a:rPr lang="en-US" altLang="zh-CN" kern="0" dirty="0" err="1">
                <a:latin typeface="Times New Roman" panose="02020603050405020304" pitchFamily="18" charset="0"/>
              </a:rPr>
              <a:t>i</a:t>
            </a:r>
            <a:r>
              <a:rPr lang="en-US" altLang="zh-CN" kern="0" dirty="0">
                <a:latin typeface="Times New Roman" panose="02020603050405020304" pitchFamily="18" charset="0"/>
              </a:rPr>
              <a:t>&lt;n; </a:t>
            </a:r>
            <a:r>
              <a:rPr lang="en-US" altLang="zh-CN" kern="0" dirty="0" err="1">
                <a:latin typeface="Times New Roman" panose="02020603050405020304" pitchFamily="18" charset="0"/>
              </a:rPr>
              <a:t>i</a:t>
            </a:r>
            <a:r>
              <a:rPr lang="en-US" altLang="zh-CN" kern="0" dirty="0">
                <a:latin typeface="Times New Roman" panose="02020603050405020304" pitchFamily="18" charset="0"/>
              </a:rPr>
              <a:t>++ )</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for( j=1; j&lt;</a:t>
            </a:r>
            <a:r>
              <a:rPr lang="en-US" altLang="zh-CN" kern="0" dirty="0" err="1">
                <a:latin typeface="Times New Roman" panose="02020603050405020304" pitchFamily="18" charset="0"/>
              </a:rPr>
              <a:t>i</a:t>
            </a:r>
            <a:r>
              <a:rPr lang="en-US" altLang="zh-CN" kern="0" dirty="0">
                <a:latin typeface="Times New Roman" panose="02020603050405020304" pitchFamily="18" charset="0"/>
              </a:rPr>
              <a:t>*</a:t>
            </a:r>
            <a:r>
              <a:rPr lang="en-US" altLang="zh-CN" kern="0" dirty="0" err="1">
                <a:latin typeface="Times New Roman" panose="02020603050405020304" pitchFamily="18" charset="0"/>
              </a:rPr>
              <a:t>i</a:t>
            </a:r>
            <a:r>
              <a:rPr lang="en-US" altLang="zh-CN" kern="0" dirty="0">
                <a:latin typeface="Times New Roman" panose="02020603050405020304" pitchFamily="18" charset="0"/>
              </a:rPr>
              <a:t>; </a:t>
            </a:r>
            <a:r>
              <a:rPr lang="en-US" altLang="zh-CN" kern="0" dirty="0" err="1">
                <a:latin typeface="Times New Roman" panose="02020603050405020304" pitchFamily="18" charset="0"/>
              </a:rPr>
              <a:t>j++</a:t>
            </a:r>
            <a:r>
              <a:rPr lang="en-US" altLang="zh-CN" kern="0" dirty="0">
                <a:latin typeface="Times New Roman" panose="02020603050405020304" pitchFamily="18" charset="0"/>
              </a:rPr>
              <a:t> )</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if( </a:t>
            </a:r>
            <a:r>
              <a:rPr lang="en-US" altLang="zh-CN" kern="0" dirty="0" err="1">
                <a:latin typeface="Times New Roman" panose="02020603050405020304" pitchFamily="18" charset="0"/>
              </a:rPr>
              <a:t>j%i</a:t>
            </a:r>
            <a:r>
              <a:rPr lang="en-US" altLang="zh-CN" kern="0" dirty="0">
                <a:latin typeface="Times New Roman" panose="02020603050405020304" pitchFamily="18" charset="0"/>
              </a:rPr>
              <a:t> == 0 )</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for( k=0; k&lt;j; k++ )</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                       sum++;</a:t>
            </a:r>
            <a:endParaRPr lang="zh-CN" altLang="zh-CN" sz="1600" kern="100" dirty="0">
              <a:latin typeface="Times New Roman" panose="02020603050405020304" pitchFamily="18" charset="0"/>
            </a:endParaRPr>
          </a:p>
          <a:p>
            <a:pPr algn="just">
              <a:spcAft>
                <a:spcPts val="0"/>
              </a:spcAft>
            </a:pPr>
            <a:r>
              <a:rPr lang="en-US" altLang="zh-CN" b="1" kern="0" dirty="0">
                <a:latin typeface="Times New Roman" panose="02020603050405020304" pitchFamily="18" charset="0"/>
              </a:rPr>
              <a:t> </a:t>
            </a:r>
            <a:endParaRPr lang="zh-CN" altLang="zh-CN" sz="1600" kern="100" dirty="0">
              <a:latin typeface="Times New Roman" panose="02020603050405020304" pitchFamily="18" charset="0"/>
            </a:endParaRPr>
          </a:p>
        </p:txBody>
      </p:sp>
      <p:sp>
        <p:nvSpPr>
          <p:cNvPr id="5" name="矩形 4"/>
          <p:cNvSpPr/>
          <p:nvPr/>
        </p:nvSpPr>
        <p:spPr>
          <a:xfrm>
            <a:off x="4860032" y="3933056"/>
            <a:ext cx="4572000" cy="2031325"/>
          </a:xfrm>
          <a:prstGeom prst="rect">
            <a:avLst/>
          </a:prstGeom>
        </p:spPr>
        <p:txBody>
          <a:bodyPr>
            <a:spAutoFit/>
          </a:bodyPr>
          <a:lstStyle/>
          <a:p>
            <a:pPr algn="just">
              <a:spcAft>
                <a:spcPts val="0"/>
              </a:spcAft>
            </a:pPr>
            <a:r>
              <a:rPr lang="en-US" altLang="zh-CN" b="1" kern="0" dirty="0">
                <a:latin typeface="Times New Roman" panose="02020603050405020304" pitchFamily="18" charset="0"/>
              </a:rPr>
              <a:t>Answer:</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(I) The running time is </a:t>
            </a:r>
            <a:r>
              <a:rPr lang="en-US" altLang="zh-CN" i="1" kern="0" dirty="0">
                <a:latin typeface="Times New Roman" panose="02020603050405020304" pitchFamily="18" charset="0"/>
              </a:rPr>
              <a:t>O</a:t>
            </a:r>
            <a:r>
              <a:rPr lang="en-US" altLang="zh-CN" kern="0" dirty="0">
                <a:latin typeface="Times New Roman" panose="02020603050405020304" pitchFamily="18" charset="0"/>
              </a:rPr>
              <a:t>( </a:t>
            </a:r>
            <a:r>
              <a:rPr lang="en-US" altLang="zh-CN" kern="0" dirty="0" err="1">
                <a:latin typeface="Times New Roman" panose="02020603050405020304" pitchFamily="18" charset="0"/>
              </a:rPr>
              <a:t>log</a:t>
            </a:r>
            <a:r>
              <a:rPr lang="en-US" altLang="zh-CN" i="1" kern="0" dirty="0" err="1">
                <a:latin typeface="Times New Roman" panose="02020603050405020304" pitchFamily="18" charset="0"/>
              </a:rPr>
              <a:t>N</a:t>
            </a:r>
            <a:r>
              <a:rPr lang="en-US" altLang="zh-CN" i="1" kern="0" dirty="0">
                <a:latin typeface="Times New Roman" panose="02020603050405020304" pitchFamily="18" charset="0"/>
              </a:rPr>
              <a:t> </a:t>
            </a:r>
            <a:r>
              <a:rPr lang="en-US" altLang="zh-CN" kern="0" dirty="0">
                <a:latin typeface="Times New Roman" panose="02020603050405020304" pitchFamily="18" charset="0"/>
              </a:rPr>
              <a:t>).</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(II) The running time is </a:t>
            </a:r>
            <a:r>
              <a:rPr lang="en-US" altLang="zh-CN" i="1" kern="0" dirty="0">
                <a:latin typeface="Times New Roman" panose="02020603050405020304" pitchFamily="18" charset="0"/>
              </a:rPr>
              <a:t>O</a:t>
            </a:r>
            <a:r>
              <a:rPr lang="en-US" altLang="zh-CN" kern="0" dirty="0">
                <a:latin typeface="Times New Roman" panose="02020603050405020304" pitchFamily="18" charset="0"/>
              </a:rPr>
              <a:t>( </a:t>
            </a:r>
            <a:r>
              <a:rPr lang="en-US" altLang="zh-CN" i="1" kern="0" dirty="0">
                <a:latin typeface="Times New Roman" panose="02020603050405020304" pitchFamily="18" charset="0"/>
              </a:rPr>
              <a:t>N </a:t>
            </a:r>
            <a:r>
              <a:rPr lang="en-US" altLang="zh-CN" i="1" kern="0" baseline="30000" dirty="0">
                <a:latin typeface="Times New Roman" panose="02020603050405020304" pitchFamily="18" charset="0"/>
              </a:rPr>
              <a:t>1/2 </a:t>
            </a:r>
            <a:r>
              <a:rPr lang="en-US" altLang="zh-CN" kern="0" dirty="0">
                <a:latin typeface="Times New Roman" panose="02020603050405020304" pitchFamily="18" charset="0"/>
              </a:rPr>
              <a:t>).</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(III) The running time is </a:t>
            </a:r>
            <a:r>
              <a:rPr lang="en-US" altLang="zh-CN" i="1" kern="0" dirty="0">
                <a:latin typeface="Times New Roman" panose="02020603050405020304" pitchFamily="18" charset="0"/>
              </a:rPr>
              <a:t>O</a:t>
            </a:r>
            <a:r>
              <a:rPr lang="en-US" altLang="zh-CN" kern="0" dirty="0">
                <a:latin typeface="Times New Roman" panose="02020603050405020304" pitchFamily="18" charset="0"/>
              </a:rPr>
              <a:t>( </a:t>
            </a:r>
            <a:r>
              <a:rPr lang="en-US" altLang="zh-CN" i="1" kern="0" dirty="0">
                <a:latin typeface="Times New Roman" panose="02020603050405020304" pitchFamily="18" charset="0"/>
              </a:rPr>
              <a:t>N </a:t>
            </a:r>
            <a:r>
              <a:rPr lang="en-US" altLang="zh-CN" i="1" kern="0" baseline="30000" dirty="0">
                <a:latin typeface="Times New Roman" panose="02020603050405020304" pitchFamily="18" charset="0"/>
              </a:rPr>
              <a:t>1/2 </a:t>
            </a:r>
            <a:r>
              <a:rPr lang="en-US" altLang="zh-CN" kern="0" dirty="0">
                <a:latin typeface="Times New Roman" panose="02020603050405020304" pitchFamily="18" charset="0"/>
              </a:rPr>
              <a:t>).</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(IV) The running time is </a:t>
            </a:r>
            <a:r>
              <a:rPr lang="en-US" altLang="zh-CN" i="1" kern="0" dirty="0">
                <a:latin typeface="Times New Roman" panose="02020603050405020304" pitchFamily="18" charset="0"/>
              </a:rPr>
              <a:t>O</a:t>
            </a:r>
            <a:r>
              <a:rPr lang="en-US" altLang="zh-CN" kern="0" dirty="0">
                <a:latin typeface="Times New Roman" panose="02020603050405020304" pitchFamily="18" charset="0"/>
              </a:rPr>
              <a:t>( </a:t>
            </a:r>
            <a:r>
              <a:rPr lang="en-US" altLang="zh-CN" i="1" kern="0" dirty="0">
                <a:latin typeface="Times New Roman" panose="02020603050405020304" pitchFamily="18" charset="0"/>
              </a:rPr>
              <a:t>N</a:t>
            </a:r>
            <a:r>
              <a:rPr lang="en-US" altLang="zh-CN" i="1" kern="0" baseline="30000" dirty="0">
                <a:latin typeface="Times New Roman" panose="02020603050405020304" pitchFamily="18" charset="0"/>
              </a:rPr>
              <a:t> </a:t>
            </a:r>
            <a:r>
              <a:rPr lang="en-US" altLang="zh-CN" kern="0" dirty="0">
                <a:latin typeface="Times New Roman" panose="02020603050405020304" pitchFamily="18" charset="0"/>
              </a:rPr>
              <a:t>).</a:t>
            </a:r>
            <a:endParaRPr lang="zh-CN" altLang="zh-CN" sz="1600" kern="100" dirty="0">
              <a:latin typeface="Times New Roman" panose="02020603050405020304" pitchFamily="18" charset="0"/>
            </a:endParaRPr>
          </a:p>
          <a:p>
            <a:r>
              <a:rPr lang="en-US" altLang="zh-CN" kern="0" dirty="0">
                <a:latin typeface="Times New Roman" panose="02020603050405020304" pitchFamily="18" charset="0"/>
              </a:rPr>
              <a:t>(V) The running time is </a:t>
            </a:r>
            <a:r>
              <a:rPr lang="en-US" altLang="zh-CN" i="1" kern="0" dirty="0">
                <a:latin typeface="Times New Roman" panose="02020603050405020304" pitchFamily="18" charset="0"/>
              </a:rPr>
              <a:t>O</a:t>
            </a:r>
            <a:r>
              <a:rPr lang="en-US" altLang="zh-CN" kern="0" dirty="0">
                <a:latin typeface="Times New Roman" panose="02020603050405020304" pitchFamily="18" charset="0"/>
              </a:rPr>
              <a:t>( </a:t>
            </a:r>
            <a:r>
              <a:rPr lang="en-US" altLang="zh-CN" i="1" kern="0" dirty="0">
                <a:latin typeface="Times New Roman" panose="02020603050405020304" pitchFamily="18" charset="0"/>
              </a:rPr>
              <a:t>N </a:t>
            </a:r>
            <a:r>
              <a:rPr lang="en-US" altLang="zh-CN" i="1" kern="0" baseline="30000" dirty="0">
                <a:latin typeface="Times New Roman" panose="02020603050405020304" pitchFamily="18" charset="0"/>
              </a:rPr>
              <a:t>5 </a:t>
            </a:r>
            <a:r>
              <a:rPr lang="en-US" altLang="zh-CN" kern="0" dirty="0">
                <a:latin typeface="Times New Roman" panose="02020603050405020304" pitchFamily="18" charset="0"/>
              </a:rPr>
              <a:t>).</a:t>
            </a:r>
            <a:endParaRPr lang="zh-CN" altLang="zh-CN" sz="1600" kern="100" dirty="0">
              <a:latin typeface="Times New Roman" panose="02020603050405020304" pitchFamily="18" charset="0"/>
            </a:endParaRPr>
          </a:p>
          <a:p>
            <a:pPr algn="just">
              <a:spcAft>
                <a:spcPts val="0"/>
              </a:spcAft>
            </a:pPr>
            <a:r>
              <a:rPr lang="en-US" altLang="zh-CN" kern="0" dirty="0">
                <a:latin typeface="Times New Roman" panose="02020603050405020304" pitchFamily="18" charset="0"/>
              </a:rPr>
              <a:t>(VI) The running time is </a:t>
            </a:r>
            <a:r>
              <a:rPr lang="en-US" altLang="zh-CN" i="1" kern="0" dirty="0">
                <a:latin typeface="Times New Roman" panose="02020603050405020304" pitchFamily="18" charset="0"/>
              </a:rPr>
              <a:t>O</a:t>
            </a:r>
            <a:r>
              <a:rPr lang="en-US" altLang="zh-CN" kern="0" dirty="0">
                <a:latin typeface="Times New Roman" panose="02020603050405020304" pitchFamily="18" charset="0"/>
              </a:rPr>
              <a:t>( </a:t>
            </a:r>
            <a:r>
              <a:rPr lang="en-US" altLang="zh-CN" i="1" kern="0" dirty="0">
                <a:latin typeface="Times New Roman" panose="02020603050405020304" pitchFamily="18" charset="0"/>
              </a:rPr>
              <a:t>N </a:t>
            </a:r>
            <a:r>
              <a:rPr lang="en-US" altLang="zh-CN" i="1" kern="0" baseline="30000" dirty="0">
                <a:latin typeface="Times New Roman" panose="02020603050405020304" pitchFamily="18" charset="0"/>
              </a:rPr>
              <a:t>4 </a:t>
            </a:r>
            <a:r>
              <a:rPr lang="en-US" altLang="zh-CN" kern="0" dirty="0">
                <a:latin typeface="Times New Roman" panose="02020603050405020304" pitchFamily="18" charset="0"/>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Ch.3 List, Stack and Queue</a:t>
            </a:r>
            <a:endParaRPr lang="zh-CN" altLang="en-US" dirty="0"/>
          </a:p>
        </p:txBody>
      </p:sp>
      <p:sp>
        <p:nvSpPr>
          <p:cNvPr id="3" name="内容占位符 2"/>
          <p:cNvSpPr>
            <a:spLocks noGrp="1"/>
          </p:cNvSpPr>
          <p:nvPr>
            <p:ph idx="1"/>
          </p:nvPr>
        </p:nvSpPr>
        <p:spPr>
          <a:xfrm>
            <a:off x="457200" y="1600200"/>
            <a:ext cx="8229600" cy="5069160"/>
          </a:xfrm>
        </p:spPr>
        <p:txBody>
          <a:bodyPr>
            <a:normAutofit lnSpcReduction="10000"/>
          </a:bodyPr>
          <a:lstStyle/>
          <a:p>
            <a:r>
              <a:rPr lang="en-US" altLang="zh-CN" dirty="0"/>
              <a:t>List </a:t>
            </a:r>
          </a:p>
          <a:p>
            <a:pPr lvl="1"/>
            <a:r>
              <a:rPr lang="en-US" altLang="zh-CN" dirty="0" err="1"/>
              <a:t>Sequencial</a:t>
            </a:r>
            <a:r>
              <a:rPr lang="en-US" altLang="zh-CN" dirty="0"/>
              <a:t> list </a:t>
            </a:r>
          </a:p>
          <a:p>
            <a:pPr lvl="2">
              <a:spcBef>
                <a:spcPct val="0"/>
              </a:spcBef>
              <a:buNone/>
            </a:pPr>
            <a:r>
              <a:rPr kumimoji="1" lang="en-US" altLang="zh-CN" sz="2100" dirty="0">
                <a:solidFill>
                  <a:schemeClr val="hlink"/>
                </a:solidFill>
                <a:latin typeface="Times New Roman" panose="02020603050405020304" pitchFamily="18" charset="0"/>
                <a:cs typeface="Times New Roman" panose="02020603050405020304" pitchFamily="18" charset="0"/>
              </a:rPr>
              <a:t>#define</a:t>
            </a:r>
            <a:r>
              <a:rPr kumimoji="1" lang="en-US" altLang="zh-CN" sz="2000" dirty="0">
                <a:solidFill>
                  <a:srgbClr val="009242"/>
                </a:solidFill>
                <a:latin typeface="Times New Roman" panose="02020603050405020304" pitchFamily="18" charset="0"/>
                <a:cs typeface="Times New Roman" panose="02020603050405020304" pitchFamily="18" charset="0"/>
              </a:rPr>
              <a:t> </a:t>
            </a:r>
            <a:r>
              <a:rPr kumimoji="1" lang="en-US" altLang="zh-CN" sz="2000" dirty="0">
                <a:latin typeface="Times New Roman" panose="02020603050405020304" pitchFamily="18" charset="0"/>
                <a:cs typeface="Times New Roman" panose="02020603050405020304" pitchFamily="18" charset="0"/>
              </a:rPr>
              <a:t> MAXLEN  100 </a:t>
            </a:r>
            <a:r>
              <a:rPr lang="en-US" altLang="zh-CN" sz="2000" dirty="0">
                <a:latin typeface="Times New Roman" panose="02020603050405020304" pitchFamily="18" charset="0"/>
                <a:cs typeface="Times New Roman" panose="02020603050405020304" pitchFamily="18" charset="0"/>
              </a:rPr>
              <a:t> </a:t>
            </a:r>
            <a:endParaRPr kumimoji="1" lang="en-US" altLang="zh-CN" sz="2000" dirty="0">
              <a:solidFill>
                <a:srgbClr val="009242"/>
              </a:solidFill>
              <a:latin typeface="Times New Roman" panose="02020603050405020304" pitchFamily="18" charset="0"/>
              <a:cs typeface="Times New Roman" panose="02020603050405020304" pitchFamily="18" charset="0"/>
            </a:endParaRPr>
          </a:p>
          <a:p>
            <a:pPr lvl="2">
              <a:spcBef>
                <a:spcPct val="0"/>
              </a:spcBef>
              <a:buNone/>
            </a:pPr>
            <a:r>
              <a:rPr kumimoji="1" lang="en-US" altLang="zh-CN" sz="2100" dirty="0">
                <a:solidFill>
                  <a:schemeClr val="hlink"/>
                </a:solidFill>
                <a:latin typeface="Times New Roman" panose="02020603050405020304" pitchFamily="18" charset="0"/>
                <a:cs typeface="Times New Roman" panose="02020603050405020304" pitchFamily="18" charset="0"/>
              </a:rPr>
              <a:t>typedef  struct </a:t>
            </a:r>
            <a:endParaRPr kumimoji="1" lang="zh-CN" altLang="en-US" sz="2100" dirty="0">
              <a:solidFill>
                <a:schemeClr val="hlink"/>
              </a:solidFill>
              <a:latin typeface="Times New Roman" panose="02020603050405020304" pitchFamily="18" charset="0"/>
              <a:cs typeface="Times New Roman" panose="02020603050405020304" pitchFamily="18" charset="0"/>
            </a:endParaRPr>
          </a:p>
          <a:p>
            <a:pPr lvl="2">
              <a:spcBef>
                <a:spcPct val="0"/>
              </a:spcBef>
              <a:buNone/>
            </a:pPr>
            <a:r>
              <a:rPr kumimoji="1" lang="en-US" altLang="zh-CN" sz="2000" dirty="0">
                <a:latin typeface="Times New Roman" panose="02020603050405020304" pitchFamily="18" charset="0"/>
                <a:cs typeface="Times New Roman" panose="02020603050405020304" pitchFamily="18" charset="0"/>
              </a:rPr>
              <a:t>{ </a:t>
            </a:r>
          </a:p>
          <a:p>
            <a:pPr lvl="2">
              <a:spcBef>
                <a:spcPct val="0"/>
              </a:spcBef>
              <a:buNone/>
            </a:pPr>
            <a:r>
              <a:rPr kumimoji="1" lang="en-US" altLang="zh-CN" sz="2000" dirty="0">
                <a:latin typeface="Times New Roman" panose="02020603050405020304" pitchFamily="18" charset="0"/>
                <a:cs typeface="Times New Roman" panose="02020603050405020304" pitchFamily="18" charset="0"/>
              </a:rPr>
              <a:t>   </a:t>
            </a:r>
            <a:r>
              <a:rPr kumimoji="1" lang="en-US" altLang="zh-CN" sz="2100" dirty="0" err="1">
                <a:solidFill>
                  <a:schemeClr val="hlink"/>
                </a:solidFill>
                <a:latin typeface="Times New Roman" panose="02020603050405020304" pitchFamily="18" charset="0"/>
                <a:cs typeface="Times New Roman" panose="02020603050405020304" pitchFamily="18" charset="0"/>
              </a:rPr>
              <a:t>ElemType</a:t>
            </a:r>
            <a:r>
              <a:rPr kumimoji="1" lang="en-US" altLang="zh-CN" sz="2100" dirty="0">
                <a:solidFill>
                  <a:schemeClr val="hlink"/>
                </a:solidFill>
                <a:latin typeface="Times New Roman" panose="02020603050405020304" pitchFamily="18" charset="0"/>
                <a:cs typeface="Times New Roman" panose="02020603050405020304" pitchFamily="18" charset="0"/>
              </a:rPr>
              <a:t> </a:t>
            </a:r>
            <a:r>
              <a:rPr kumimoji="1" lang="en-US" altLang="zh-CN" sz="2000" dirty="0">
                <a:latin typeface="Times New Roman" panose="02020603050405020304" pitchFamily="18" charset="0"/>
                <a:cs typeface="Times New Roman" panose="02020603050405020304" pitchFamily="18" charset="0"/>
              </a:rPr>
              <a:t> data[MAXLEN]; </a:t>
            </a:r>
            <a:endParaRPr kumimoji="1" lang="zh-CN" altLang="en-US" sz="2000" dirty="0">
              <a:latin typeface="Times New Roman" panose="02020603050405020304" pitchFamily="18" charset="0"/>
              <a:cs typeface="Times New Roman" panose="02020603050405020304" pitchFamily="18" charset="0"/>
            </a:endParaRPr>
          </a:p>
          <a:p>
            <a:pPr lvl="2">
              <a:spcBef>
                <a:spcPct val="0"/>
              </a:spcBef>
              <a:buNone/>
            </a:pPr>
            <a:r>
              <a:rPr kumimoji="1" lang="en-US" altLang="zh-CN" sz="2100" dirty="0">
                <a:solidFill>
                  <a:schemeClr val="hlink"/>
                </a:solidFill>
                <a:latin typeface="Times New Roman" panose="02020603050405020304" pitchFamily="18" charset="0"/>
                <a:cs typeface="Times New Roman" panose="02020603050405020304" pitchFamily="18" charset="0"/>
              </a:rPr>
              <a:t>   </a:t>
            </a:r>
            <a:r>
              <a:rPr kumimoji="1" lang="en-US" altLang="zh-CN" sz="2100" dirty="0" err="1">
                <a:solidFill>
                  <a:schemeClr val="hlink"/>
                </a:solidFill>
                <a:latin typeface="Times New Roman" panose="02020603050405020304" pitchFamily="18" charset="0"/>
                <a:cs typeface="Times New Roman" panose="02020603050405020304" pitchFamily="18" charset="0"/>
              </a:rPr>
              <a:t>int</a:t>
            </a:r>
            <a:r>
              <a:rPr kumimoji="1" lang="en-US" altLang="zh-CN" sz="2100" dirty="0">
                <a:solidFill>
                  <a:schemeClr val="hlink"/>
                </a:solidFill>
                <a:latin typeface="Times New Roman" panose="02020603050405020304" pitchFamily="18" charset="0"/>
                <a:cs typeface="Times New Roman" panose="02020603050405020304" pitchFamily="18" charset="0"/>
              </a:rPr>
              <a:t> </a:t>
            </a:r>
            <a:r>
              <a:rPr kumimoji="1" lang="en-US" altLang="zh-CN" sz="2000" dirty="0">
                <a:latin typeface="Times New Roman" panose="02020603050405020304" pitchFamily="18" charset="0"/>
                <a:cs typeface="Times New Roman" panose="02020603050405020304" pitchFamily="18" charset="0"/>
              </a:rPr>
              <a:t> Length; </a:t>
            </a:r>
            <a:endParaRPr kumimoji="1" lang="zh-CN" altLang="en-US" sz="2000" dirty="0">
              <a:latin typeface="Times New Roman" panose="02020603050405020304" pitchFamily="18" charset="0"/>
              <a:cs typeface="Times New Roman" panose="02020603050405020304" pitchFamily="18" charset="0"/>
            </a:endParaRPr>
          </a:p>
          <a:p>
            <a:pPr lvl="2">
              <a:spcBef>
                <a:spcPct val="0"/>
              </a:spcBef>
              <a:buNone/>
            </a:pPr>
            <a:r>
              <a:rPr kumimoji="1" lang="en-US" altLang="zh-CN" sz="2000" dirty="0">
                <a:latin typeface="Times New Roman" panose="02020603050405020304" pitchFamily="18" charset="0"/>
                <a:cs typeface="Times New Roman" panose="02020603050405020304" pitchFamily="18" charset="0"/>
              </a:rPr>
              <a:t>}</a:t>
            </a:r>
            <a:r>
              <a:rPr kumimoji="1" lang="en-US" altLang="zh-CN" sz="2000" dirty="0" err="1">
                <a:latin typeface="Times New Roman" panose="02020603050405020304" pitchFamily="18" charset="0"/>
                <a:cs typeface="Times New Roman" panose="02020603050405020304" pitchFamily="18" charset="0"/>
              </a:rPr>
              <a:t>SeqList</a:t>
            </a:r>
            <a:r>
              <a:rPr kumimoji="1" lang="en-US" altLang="zh-CN" sz="2000" dirty="0">
                <a:latin typeface="Times New Roman" panose="02020603050405020304" pitchFamily="18" charset="0"/>
                <a:cs typeface="Times New Roman" panose="02020603050405020304" pitchFamily="18" charset="0"/>
              </a:rPr>
              <a:t>;</a:t>
            </a:r>
            <a:endParaRPr kumimoji="1" lang="zh-CN" altLang="en-US" sz="2000" dirty="0">
              <a:latin typeface="Times New Roman" panose="02020603050405020304" pitchFamily="18" charset="0"/>
              <a:cs typeface="Times New Roman" panose="02020603050405020304" pitchFamily="18" charset="0"/>
            </a:endParaRPr>
          </a:p>
          <a:p>
            <a:pPr lvl="1"/>
            <a:r>
              <a:rPr lang="en-US" altLang="zh-CN" dirty="0"/>
              <a:t>Linked list (with or without header node)</a:t>
            </a:r>
          </a:p>
          <a:p>
            <a:pPr lvl="2">
              <a:buFont typeface="Wingdings" panose="05000000000000000000" pitchFamily="2" charset="2"/>
              <a:buChar char="ü"/>
            </a:pPr>
            <a:r>
              <a:rPr kumimoji="1" lang="en-US" altLang="zh-CN" dirty="0">
                <a:latin typeface="Times New Roman" panose="02020603050405020304" pitchFamily="18" charset="0"/>
                <a:cs typeface="Times New Roman" panose="02020603050405020304" pitchFamily="18" charset="0"/>
              </a:rPr>
              <a:t>Singly linked list</a:t>
            </a:r>
          </a:p>
          <a:p>
            <a:pPr lvl="2">
              <a:buFont typeface="Wingdings" panose="05000000000000000000" pitchFamily="2" charset="2"/>
              <a:buChar char="ü"/>
            </a:pPr>
            <a:r>
              <a:rPr kumimoji="1" lang="en-US" altLang="zh-CN" dirty="0">
                <a:latin typeface="Times New Roman" panose="02020603050405020304" pitchFamily="18" charset="0"/>
                <a:cs typeface="Times New Roman" panose="02020603050405020304" pitchFamily="18" charset="0"/>
              </a:rPr>
              <a:t>Singly circular linked list (main advantage is that starting from any node the whole list can be traversed)</a:t>
            </a:r>
          </a:p>
          <a:p>
            <a:pPr lvl="2">
              <a:buFont typeface="Wingdings" panose="05000000000000000000" pitchFamily="2" charset="2"/>
              <a:buChar char="ü"/>
            </a:pPr>
            <a:r>
              <a:rPr kumimoji="1" lang="en-US" altLang="zh-CN" dirty="0">
                <a:latin typeface="Times New Roman" panose="02020603050405020304" pitchFamily="18" charset="0"/>
                <a:cs typeface="Times New Roman" panose="02020603050405020304" pitchFamily="18" charset="0"/>
              </a:rPr>
              <a:t>Doubly linked list</a:t>
            </a:r>
          </a:p>
          <a:p>
            <a:pPr marL="457200" lvl="1" indent="0">
              <a:buNone/>
            </a:pPr>
            <a:endParaRPr lang="en-US" altLang="zh-CN" dirty="0"/>
          </a:p>
          <a:p>
            <a:pPr marL="457200" lvl="1" indent="0">
              <a:buNone/>
            </a:pP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In the following descriptions of list, which one is wrong?</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Sequential list must occupy continuous memory locations</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Sequential list is convenient for insertion and deletion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Linked list do not necessary occupy continuous memory locations</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Linked list is convenient for insertion and deletion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For linked list, the time complexity of visiting the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baseline="30000" dirty="0" err="1">
                <a:solidFill>
                  <a:srgbClr val="000000"/>
                </a:solidFill>
                <a:latin typeface="微软雅黑" panose="020B0503020204020204" charset="-122"/>
                <a:ea typeface="微软雅黑" panose="020B0503020204020204" charset="-122"/>
                <a:sym typeface="微软雅黑" panose="020B0503020204020204" charset="-122"/>
              </a:rPr>
              <a:t>th</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element is_______</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O(n)</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O(i-1)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428871"/>
          </a:xfrm>
          <a:prstGeom prst="rect">
            <a:avLst/>
          </a:prstGeom>
          <a:noFill/>
        </p:spPr>
        <p:txBody>
          <a:bodyPr vert="horz" wrap="square" rtlCol="0" anchor="ctr" anchorCtr="0">
            <a:noAutofit/>
          </a:bodyPr>
          <a:lstStyle/>
          <a:p>
            <a:r>
              <a:rPr lang="en-US" sz="2800" dirty="0"/>
              <a:t>Suppose the most common operations on a list are </a:t>
            </a:r>
            <a:r>
              <a:rPr lang="en-US" sz="2800" i="1" u="sng" dirty="0"/>
              <a:t>inserting a new node into the end of the list </a:t>
            </a:r>
            <a:r>
              <a:rPr lang="en-US" sz="2800" dirty="0"/>
              <a:t>and </a:t>
            </a:r>
            <a:r>
              <a:rPr lang="en-US" sz="2800" i="1" u="sng" dirty="0"/>
              <a:t>deleting the first node of the list</a:t>
            </a:r>
            <a:r>
              <a:rPr lang="en-US" sz="2800" dirty="0"/>
              <a:t>, how to implement the list such that most computational time can be saved?</a:t>
            </a:r>
            <a:endParaRPr lang="zh-CN" altLang="en-US" sz="2800" dirty="0"/>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sz="2800" dirty="0"/>
              <a:t>singly linked list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815166" cy="642938"/>
          </a:xfrm>
          <a:prstGeom prst="rect">
            <a:avLst/>
          </a:prstGeom>
          <a:noFill/>
        </p:spPr>
        <p:txBody>
          <a:bodyPr vert="horz" rtlCol="0" anchor="ctr" anchorCtr="0">
            <a:noAutofit/>
          </a:bodyPr>
          <a:lstStyle/>
          <a:p>
            <a:r>
              <a:rPr lang="en-US" sz="2800" dirty="0"/>
              <a:t> singly circular linked list with only head pointer</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sz="2800" dirty="0"/>
              <a:t>doubly linked list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sz="2800" dirty="0"/>
              <a:t>singly circular linked list with only tail pointer</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28662" y="357166"/>
            <a:ext cx="7315200" cy="2571768"/>
          </a:xfrm>
          <a:prstGeom prst="rect">
            <a:avLst/>
          </a:prstGeom>
          <a:noFill/>
        </p:spPr>
        <p:txBody>
          <a:bodyPr vert="horz" wrap="square" rtlCol="0" anchor="ctr" anchorCtr="0">
            <a:noAutofit/>
          </a:bodyPr>
          <a:lstStyle/>
          <a:p>
            <a:r>
              <a:rPr lang="en-US" sz="2800" dirty="0"/>
              <a:t>Suppose the most common operations on a list are </a:t>
            </a:r>
            <a:r>
              <a:rPr lang="en-US" sz="2800" i="1" u="sng" dirty="0"/>
              <a:t>accessing the i</a:t>
            </a:r>
            <a:r>
              <a:rPr lang="en-US" sz="2800" i="1" u="sng" baseline="30000" dirty="0" err="1"/>
              <a:t>th</a:t>
            </a:r>
            <a:r>
              <a:rPr lang="en-US" sz="2800" i="1" u="sng" dirty="0"/>
              <a:t> element</a:t>
            </a:r>
            <a:r>
              <a:rPr lang="en-US" sz="2800" i="1" dirty="0"/>
              <a:t> </a:t>
            </a:r>
            <a:r>
              <a:rPr lang="en-US" sz="2800" dirty="0"/>
              <a:t>and </a:t>
            </a:r>
            <a:r>
              <a:rPr lang="en-US" sz="2800" i="1" u="sng" dirty="0"/>
              <a:t>accessing the predecessor of the </a:t>
            </a:r>
            <a:r>
              <a:rPr lang="en-US" sz="2800" i="1" u="sng" dirty="0" err="1"/>
              <a:t>i</a:t>
            </a:r>
            <a:r>
              <a:rPr lang="en-US" sz="2800" i="1" u="sng" baseline="30000" dirty="0" err="1"/>
              <a:t>th</a:t>
            </a:r>
            <a:r>
              <a:rPr lang="en-US" sz="2800" i="1" u="sng" dirty="0"/>
              <a:t> element</a:t>
            </a:r>
            <a:r>
              <a:rPr lang="en-US" sz="2800" dirty="0"/>
              <a:t>, , how to implement the list such that most computational time can be saved?</a:t>
            </a:r>
            <a:endParaRPr lang="zh-CN" altLang="en-US" sz="28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Singly</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linked</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list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Sequential list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Doubly linked list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Singly circular list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Suppose L is a singly linked list with header node, the judging condition of whether L is empty is</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L-&gt;next==NULL</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L==NULL</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L!=NULL</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L-&gt;next==L</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Box 4"/>
          <p:cNvSpPr txBox="1">
            <a:spLocks noChangeArrowheads="1"/>
          </p:cNvSpPr>
          <p:nvPr>
            <p:custDataLst>
              <p:tags r:id="rId2"/>
            </p:custDataLst>
          </p:nvPr>
        </p:nvSpPr>
        <p:spPr bwMode="auto">
          <a:xfrm>
            <a:off x="642938" y="698501"/>
            <a:ext cx="7315200"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dirty="0"/>
              <a:t>Find element x in the singly linked list L with header node:</a:t>
            </a:r>
          </a:p>
          <a:p>
            <a:pPr>
              <a:spcBef>
                <a:spcPct val="0"/>
              </a:spcBef>
              <a:buFontTx/>
              <a:buNone/>
            </a:pPr>
            <a:r>
              <a:rPr lang="en-US" altLang="zh-CN" sz="2000" dirty="0"/>
              <a:t>position find(</a:t>
            </a:r>
            <a:r>
              <a:rPr lang="en-US" altLang="zh-CN" sz="2000" dirty="0" err="1"/>
              <a:t>element_type</a:t>
            </a:r>
            <a:r>
              <a:rPr lang="en-US" altLang="zh-CN" sz="2000" dirty="0"/>
              <a:t> x, LIST L)</a:t>
            </a:r>
          </a:p>
          <a:p>
            <a:pPr>
              <a:spcBef>
                <a:spcPct val="0"/>
              </a:spcBef>
              <a:buFontTx/>
              <a:buNone/>
            </a:pPr>
            <a:endParaRPr lang="en-US" altLang="zh-CN" sz="2000" dirty="0"/>
          </a:p>
          <a:p>
            <a:pPr>
              <a:spcBef>
                <a:spcPct val="0"/>
              </a:spcBef>
              <a:buFontTx/>
              <a:buNone/>
            </a:pPr>
            <a:r>
              <a:rPr lang="en-US" altLang="zh-CN" sz="2000" dirty="0"/>
              <a:t>{     position p;</a:t>
            </a:r>
          </a:p>
          <a:p>
            <a:pPr>
              <a:spcBef>
                <a:spcPct val="0"/>
              </a:spcBef>
              <a:buFontTx/>
              <a:buNone/>
            </a:pPr>
            <a:r>
              <a:rPr lang="en-US" altLang="zh-CN" sz="2000" dirty="0"/>
              <a:t>      p=_________</a:t>
            </a:r>
          </a:p>
          <a:p>
            <a:pPr>
              <a:spcBef>
                <a:spcPct val="0"/>
              </a:spcBef>
              <a:buFontTx/>
              <a:buNone/>
            </a:pPr>
            <a:r>
              <a:rPr lang="en-US" altLang="zh-CN" sz="2000" dirty="0"/>
              <a:t>      while(</a:t>
            </a:r>
            <a:r>
              <a:rPr lang="en-US" altLang="zh-CN" sz="2000" u="sng" dirty="0"/>
              <a:t>                                                    </a:t>
            </a:r>
            <a:r>
              <a:rPr lang="en-US" altLang="zh-CN" sz="2000" dirty="0"/>
              <a:t>)</a:t>
            </a:r>
          </a:p>
          <a:p>
            <a:pPr>
              <a:spcBef>
                <a:spcPct val="0"/>
              </a:spcBef>
              <a:buFontTx/>
              <a:buNone/>
            </a:pPr>
            <a:r>
              <a:rPr lang="en-US" altLang="zh-CN" sz="2000" dirty="0"/>
              <a:t> </a:t>
            </a:r>
          </a:p>
          <a:p>
            <a:pPr>
              <a:spcBef>
                <a:spcPct val="0"/>
              </a:spcBef>
              <a:buFontTx/>
              <a:buNone/>
            </a:pPr>
            <a:r>
              <a:rPr lang="en-US" altLang="zh-CN" sz="2000" dirty="0"/>
              <a:t>              p=p-&gt;next;</a:t>
            </a:r>
          </a:p>
          <a:p>
            <a:pPr>
              <a:spcBef>
                <a:spcPct val="0"/>
              </a:spcBef>
              <a:buFontTx/>
              <a:buNone/>
            </a:pPr>
            <a:r>
              <a:rPr lang="en-US" altLang="zh-CN" sz="2000" dirty="0"/>
              <a:t>      return p;</a:t>
            </a:r>
          </a:p>
          <a:p>
            <a:pPr>
              <a:spcBef>
                <a:spcPct val="0"/>
              </a:spcBef>
              <a:buFontTx/>
              <a:buNone/>
            </a:pPr>
            <a:endParaRPr lang="en-US" altLang="zh-CN" sz="2000" dirty="0"/>
          </a:p>
          <a:p>
            <a:pPr>
              <a:spcBef>
                <a:spcPct val="0"/>
              </a:spcBef>
              <a:buFontTx/>
              <a:buNone/>
            </a:pPr>
            <a:r>
              <a:rPr lang="en-US" altLang="zh-CN" sz="2000" dirty="0"/>
              <a:t> }</a:t>
            </a:r>
          </a:p>
        </p:txBody>
      </p:sp>
      <p:sp>
        <p:nvSpPr>
          <p:cNvPr id="43011" name="TextBox 5"/>
          <p:cNvSpPr txBox="1">
            <a:spLocks noChangeArrowheads="1"/>
          </p:cNvSpPr>
          <p:nvPr>
            <p:custDataLst>
              <p:tags r:id="rId3"/>
            </p:custDataLst>
          </p:nvPr>
        </p:nvSpPr>
        <p:spPr bwMode="auto">
          <a:xfrm>
            <a:off x="1071563" y="4071938"/>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dirty="0"/>
              <a:t>L-&gt;next;       (p!=NULL) &amp;&amp; (p-&gt;data!=x)</a:t>
            </a:r>
            <a:endParaRPr lang="zh-CN" altLang="en-US" sz="1800" dirty="0"/>
          </a:p>
        </p:txBody>
      </p:sp>
      <p:sp>
        <p:nvSpPr>
          <p:cNvPr id="43012" name="TextBox 6"/>
          <p:cNvSpPr txBox="1">
            <a:spLocks noChangeArrowheads="1"/>
          </p:cNvSpPr>
          <p:nvPr>
            <p:custDataLst>
              <p:tags r:id="rId4"/>
            </p:custDataLst>
          </p:nvPr>
        </p:nvSpPr>
        <p:spPr bwMode="auto">
          <a:xfrm>
            <a:off x="1071563" y="4643438"/>
            <a:ext cx="6400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dirty="0"/>
              <a:t>L-&gt;next;       (p-&gt;next!=NULL) &amp;&amp; (p-&gt;next-&gt;data!=x)</a:t>
            </a:r>
            <a:endParaRPr lang="zh-CN" altLang="en-US" sz="1800" dirty="0"/>
          </a:p>
        </p:txBody>
      </p:sp>
      <p:sp>
        <p:nvSpPr>
          <p:cNvPr id="43013" name="TextBox 7"/>
          <p:cNvSpPr txBox="1">
            <a:spLocks noChangeArrowheads="1"/>
          </p:cNvSpPr>
          <p:nvPr>
            <p:custDataLst>
              <p:tags r:id="rId5"/>
            </p:custDataLst>
          </p:nvPr>
        </p:nvSpPr>
        <p:spPr bwMode="auto">
          <a:xfrm>
            <a:off x="1071563" y="5286375"/>
            <a:ext cx="6400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dirty="0"/>
              <a:t>L;                 (p!=NULL) &amp;&amp; (p-&gt;data!=x)</a:t>
            </a:r>
            <a:endParaRPr lang="zh-CN" altLang="en-US" sz="1800" dirty="0"/>
          </a:p>
        </p:txBody>
      </p:sp>
      <p:sp>
        <p:nvSpPr>
          <p:cNvPr id="43014" name="TextBox 8"/>
          <p:cNvSpPr txBox="1">
            <a:spLocks noChangeArrowheads="1"/>
          </p:cNvSpPr>
          <p:nvPr>
            <p:custDataLst>
              <p:tags r:id="rId6"/>
            </p:custDataLst>
          </p:nvPr>
        </p:nvSpPr>
        <p:spPr bwMode="auto">
          <a:xfrm>
            <a:off x="1071563" y="5857875"/>
            <a:ext cx="661511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1800" dirty="0"/>
              <a:t>L;                (p-&gt;next!=NULL) &amp;&amp; (p-&gt;next-&gt;data=!x)</a:t>
            </a:r>
            <a:endParaRPr lang="zh-CN" altLang="en-US" sz="1800" dirty="0"/>
          </a:p>
        </p:txBody>
      </p:sp>
      <p:sp>
        <p:nvSpPr>
          <p:cNvPr id="10" name="椭圆 9"/>
          <p:cNvSpPr>
            <a:spLocks noChangeAspect="1"/>
          </p:cNvSpPr>
          <p:nvPr>
            <p:custDataLst>
              <p:tags r:id="rId7"/>
            </p:custDataLst>
          </p:nvPr>
        </p:nvSpPr>
        <p:spPr>
          <a:xfrm>
            <a:off x="428625" y="4214813"/>
            <a:ext cx="363538" cy="365125"/>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dirty="0">
                <a:solidFill>
                  <a:srgbClr val="FFFFFF"/>
                </a:solidFill>
                <a:latin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sym typeface="微软雅黑" panose="020B0503020204020204" charset="-122"/>
            </a:endParaRPr>
          </a:p>
        </p:txBody>
      </p:sp>
      <p:sp>
        <p:nvSpPr>
          <p:cNvPr id="11" name="椭圆 10"/>
          <p:cNvSpPr>
            <a:spLocks noChangeAspect="1"/>
          </p:cNvSpPr>
          <p:nvPr>
            <p:custDataLst>
              <p:tags r:id="rId8"/>
            </p:custDataLst>
          </p:nvPr>
        </p:nvSpPr>
        <p:spPr>
          <a:xfrm>
            <a:off x="428625" y="4857750"/>
            <a:ext cx="363538" cy="365125"/>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dirty="0">
                <a:solidFill>
                  <a:srgbClr val="FFFFFF"/>
                </a:solidFill>
                <a:latin typeface="微软雅黑" panose="020B0503020204020204" charset="-122"/>
                <a:sym typeface="微软雅黑" panose="020B0503020204020204" charset="-122"/>
              </a:rPr>
              <a:t>B</a:t>
            </a:r>
            <a:endParaRPr lang="zh-CN" altLang="en-US" sz="1600" dirty="0">
              <a:solidFill>
                <a:srgbClr val="FFFFFF"/>
              </a:solidFill>
              <a:latin typeface="微软雅黑" panose="020B0503020204020204" charset="-122"/>
              <a:sym typeface="微软雅黑" panose="020B0503020204020204" charset="-122"/>
            </a:endParaRPr>
          </a:p>
        </p:txBody>
      </p:sp>
      <p:sp>
        <p:nvSpPr>
          <p:cNvPr id="12" name="椭圆 11"/>
          <p:cNvSpPr>
            <a:spLocks noChangeAspect="1"/>
          </p:cNvSpPr>
          <p:nvPr>
            <p:custDataLst>
              <p:tags r:id="rId9"/>
            </p:custDataLst>
          </p:nvPr>
        </p:nvSpPr>
        <p:spPr>
          <a:xfrm>
            <a:off x="428625" y="5429250"/>
            <a:ext cx="363538" cy="365125"/>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dirty="0">
                <a:solidFill>
                  <a:srgbClr val="FFFFFF"/>
                </a:solidFill>
                <a:latin typeface="微软雅黑" panose="020B0503020204020204" charset="-122"/>
                <a:sym typeface="微软雅黑" panose="020B0503020204020204" charset="-122"/>
              </a:rPr>
              <a:t>C</a:t>
            </a:r>
            <a:endParaRPr lang="zh-CN" altLang="en-US" sz="1600" dirty="0">
              <a:solidFill>
                <a:srgbClr val="FFFFFF"/>
              </a:solidFill>
              <a:latin typeface="微软雅黑" panose="020B0503020204020204" charset="-122"/>
              <a:sym typeface="微软雅黑" panose="020B0503020204020204" charset="-122"/>
            </a:endParaRPr>
          </a:p>
        </p:txBody>
      </p:sp>
      <p:sp>
        <p:nvSpPr>
          <p:cNvPr id="13" name="椭圆 12"/>
          <p:cNvSpPr>
            <a:spLocks noChangeAspect="1"/>
          </p:cNvSpPr>
          <p:nvPr>
            <p:custDataLst>
              <p:tags r:id="rId10"/>
            </p:custDataLst>
          </p:nvPr>
        </p:nvSpPr>
        <p:spPr>
          <a:xfrm>
            <a:off x="428625" y="6000750"/>
            <a:ext cx="363538" cy="365125"/>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en-US" altLang="zh-CN" sz="1600" dirty="0">
                <a:solidFill>
                  <a:srgbClr val="FFFFFF"/>
                </a:solidFill>
                <a:latin typeface="微软雅黑" panose="020B0503020204020204" charset="-122"/>
                <a:sym typeface="微软雅黑" panose="020B0503020204020204" charset="-122"/>
              </a:rPr>
              <a:t>D</a:t>
            </a:r>
            <a:endParaRPr lang="zh-CN" altLang="en-US" sz="1600" dirty="0">
              <a:solidFill>
                <a:srgbClr val="FFFFFF"/>
              </a:solidFill>
              <a:latin typeface="微软雅黑" panose="020B0503020204020204" charset="-122"/>
              <a:sym typeface="微软雅黑" panose="020B0503020204020204" charset="-122"/>
            </a:endParaRPr>
          </a:p>
        </p:txBody>
      </p:sp>
      <p:sp>
        <p:nvSpPr>
          <p:cNvPr id="14" name="圆角矩形 13"/>
          <p:cNvSpPr/>
          <p:nvPr>
            <p:custDataLst>
              <p:tags r:id="rId11"/>
            </p:custDataLst>
          </p:nvPr>
        </p:nvSpPr>
        <p:spPr>
          <a:xfrm>
            <a:off x="7358082" y="6143644"/>
            <a:ext cx="1543050" cy="411162"/>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nchorCtr="1"/>
          <a:lstStyle/>
          <a:p>
            <a:pPr algn="ctr">
              <a:defRPr/>
            </a:pPr>
            <a:r>
              <a:rPr lang="zh-CN" altLang="en-US" sz="1600" dirty="0">
                <a:solidFill>
                  <a:srgbClr val="FFFFFF"/>
                </a:solidFill>
                <a:latin typeface="微软雅黑" panose="020B0503020204020204" charset="-122"/>
                <a:sym typeface="微软雅黑" panose="020B0503020204020204" charset="-122"/>
              </a:rPr>
              <a:t>提交</a:t>
            </a:r>
          </a:p>
        </p:txBody>
      </p:sp>
      <p:grpSp>
        <p:nvGrpSpPr>
          <p:cNvPr id="43020" name="组合 18"/>
          <p:cNvGrpSpPr/>
          <p:nvPr>
            <p:custDataLst>
              <p:tags r:id="rId12"/>
            </p:custDataLst>
          </p:nvPr>
        </p:nvGrpSpPr>
        <p:grpSpPr bwMode="auto">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3024" name="TypeText"/>
            <p:cNvSpPr txBox="1">
              <a:spLocks noChangeArrowheads="1"/>
            </p:cNvSpPr>
            <p:nvPr>
              <p:custDataLst>
                <p:tags r:id="rId16"/>
              </p:custDataLst>
            </p:nvPr>
          </p:nvSpPr>
          <p:spPr bwMode="auto">
            <a:xfrm>
              <a:off x="254000" y="0"/>
              <a:ext cx="19050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zh-CN" altLang="en-US" sz="2600">
                  <a:solidFill>
                    <a:srgbClr val="000000"/>
                  </a:solidFill>
                  <a:latin typeface="微软雅黑" panose="020B0503020204020204" charset="-122"/>
                  <a:sym typeface="微软雅黑" panose="020B0503020204020204" charset="-122"/>
                </a:rPr>
                <a:t>单选题</a:t>
              </a:r>
            </a:p>
          </p:txBody>
        </p:sp>
        <p:sp>
          <p:nvSpPr>
            <p:cNvPr id="43025" name="TipText"/>
            <p:cNvSpPr txBox="1">
              <a:spLocks noChangeArrowheads="1"/>
            </p:cNvSpPr>
            <p:nvPr>
              <p:custDataLst>
                <p:tags r:id="rId17"/>
              </p:custDataLst>
            </p:nvPr>
          </p:nvSpPr>
          <p:spPr bwMode="auto">
            <a:xfrm>
              <a:off x="1427480" y="109220"/>
              <a:ext cx="2286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spcBef>
                  <a:spcPct val="0"/>
                </a:spcBef>
                <a:buFontTx/>
                <a:buNone/>
              </a:pPr>
              <a:r>
                <a:rPr lang="en-US" altLang="zh-CN" sz="2000">
                  <a:solidFill>
                    <a:srgbClr val="808080"/>
                  </a:solidFill>
                  <a:latin typeface="微软雅黑" panose="020B0503020204020204" charset="-122"/>
                  <a:sym typeface="微软雅黑" panose="020B0503020204020204" charset="-122"/>
                </a:rPr>
                <a:t>5</a:t>
              </a:r>
              <a:r>
                <a:rPr lang="zh-CN" altLang="en-US" sz="2000">
                  <a:solidFill>
                    <a:srgbClr val="808080"/>
                  </a:solidFill>
                  <a:latin typeface="微软雅黑" panose="020B0503020204020204" charset="-122"/>
                  <a:sym typeface="微软雅黑" panose="020B0503020204020204" charset="-122"/>
                </a:rPr>
                <a:t>分</a:t>
              </a:r>
            </a:p>
          </p:txBody>
        </p:sp>
      </p:grpSp>
      <p:pic>
        <p:nvPicPr>
          <p:cNvPr id="43021" name="图片 3" descr="tmpF9EB.tmp"/>
          <p:cNvPicPr/>
          <p:nvPr>
            <p:custDataLst>
              <p:tags r:id="rId13"/>
            </p:custDataLst>
          </p:nvPr>
        </p:nvPicPr>
        <p:blipFill>
          <a:blip r:embed="rId19">
            <a:extLst>
              <a:ext uri="{28A0092B-C50C-407E-A947-70E740481C1C}">
                <a14:useLocalDpi xmlns:a14="http://schemas.microsoft.com/office/drawing/2010/main" val="0"/>
              </a:ext>
            </a:extLst>
          </a:blip>
          <a:srcRect/>
          <a:stretch>
            <a:fillRect/>
          </a:stretch>
        </p:blipFill>
        <p:spPr bwMode="auto">
          <a:xfrm>
            <a:off x="7594600" y="63500"/>
            <a:ext cx="14224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Insertion and deletion operations on a singly linked list</a:t>
            </a:r>
          </a:p>
          <a:p>
            <a:r>
              <a:rPr lang="en-US" altLang="zh-CN" dirty="0"/>
              <a:t>Insertion and deletion operations on a doubly linked list</a:t>
            </a:r>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Stack</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a:t>First in Last out</a:t>
            </a:r>
          </a:p>
          <a:p>
            <a:r>
              <a:rPr lang="en-US" altLang="zh-CN" dirty="0"/>
              <a:t>Operations are only performed at one end (call the top)</a:t>
            </a:r>
          </a:p>
          <a:p>
            <a:r>
              <a:rPr lang="en-US" altLang="zh-CN" dirty="0"/>
              <a:t>Array implementation</a:t>
            </a:r>
          </a:p>
          <a:p>
            <a:r>
              <a:rPr lang="en-US" altLang="zh-CN" dirty="0"/>
              <a:t>Linked list implementation</a:t>
            </a:r>
          </a:p>
          <a:p>
            <a:r>
              <a:rPr lang="en-US" altLang="zh-CN" dirty="0"/>
              <a:t>Basic operations:</a:t>
            </a:r>
          </a:p>
          <a:p>
            <a:pPr lvl="1"/>
            <a:r>
              <a:rPr lang="en-US" altLang="zh-CN" dirty="0" err="1"/>
              <a:t>IsEmpty</a:t>
            </a:r>
            <a:endParaRPr lang="en-US" altLang="zh-CN" dirty="0"/>
          </a:p>
          <a:p>
            <a:pPr lvl="1"/>
            <a:r>
              <a:rPr lang="en-US" altLang="zh-CN" dirty="0"/>
              <a:t>Push</a:t>
            </a:r>
          </a:p>
          <a:p>
            <a:pPr lvl="1"/>
            <a:r>
              <a:rPr lang="en-US" altLang="zh-CN" dirty="0"/>
              <a:t>Pop</a:t>
            </a:r>
          </a:p>
          <a:p>
            <a:pPr lvl="1"/>
            <a:r>
              <a:rPr lang="en-US" altLang="zh-CN" dirty="0"/>
              <a:t>Top</a:t>
            </a:r>
          </a:p>
          <a:p>
            <a:pPr lvl="1"/>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Applications of Stack</a:t>
            </a:r>
            <a:endParaRPr lang="zh-CN" altLang="en-US" dirty="0"/>
          </a:p>
        </p:txBody>
      </p:sp>
      <p:sp>
        <p:nvSpPr>
          <p:cNvPr id="3" name="内容占位符 2"/>
          <p:cNvSpPr>
            <a:spLocks noGrp="1"/>
          </p:cNvSpPr>
          <p:nvPr>
            <p:ph idx="1"/>
          </p:nvPr>
        </p:nvSpPr>
        <p:spPr/>
        <p:txBody>
          <a:bodyPr/>
          <a:lstStyle/>
          <a:p>
            <a:r>
              <a:rPr lang="en-US" altLang="zh-CN" dirty="0"/>
              <a:t>Balancing symbols</a:t>
            </a:r>
          </a:p>
          <a:p>
            <a:r>
              <a:rPr lang="en-US" altLang="zh-CN" dirty="0"/>
              <a:t>Infix expression to postfix expression conversion</a:t>
            </a:r>
          </a:p>
          <a:p>
            <a:pPr marL="0" indent="0">
              <a:buNone/>
            </a:pP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The postfix expression of the following expression A*(B+C)/(D-E+F) is</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A*B+C/D-E+F</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AB*C+D/E-F+</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ABC+*DE-F+/</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ABCDEF*+/-+</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Queue</a:t>
            </a:r>
            <a:endParaRPr lang="zh-CN" altLang="en-US" dirty="0"/>
          </a:p>
        </p:txBody>
      </p:sp>
      <p:sp>
        <p:nvSpPr>
          <p:cNvPr id="3" name="内容占位符 2"/>
          <p:cNvSpPr>
            <a:spLocks noGrp="1"/>
          </p:cNvSpPr>
          <p:nvPr>
            <p:ph idx="1"/>
          </p:nvPr>
        </p:nvSpPr>
        <p:spPr/>
        <p:txBody>
          <a:bodyPr/>
          <a:lstStyle/>
          <a:p>
            <a:r>
              <a:rPr lang="en-US" altLang="zh-CN" dirty="0"/>
              <a:t>First in First out</a:t>
            </a:r>
          </a:p>
          <a:p>
            <a:r>
              <a:rPr lang="en-US" altLang="zh-CN" dirty="0"/>
              <a:t>Insertion is done at one end (called the </a:t>
            </a:r>
            <a:r>
              <a:rPr lang="en-US" altLang="zh-CN" dirty="0">
                <a:solidFill>
                  <a:srgbClr val="FF0000"/>
                </a:solidFill>
              </a:rPr>
              <a:t>rear</a:t>
            </a:r>
            <a:r>
              <a:rPr lang="en-US" altLang="zh-CN" dirty="0"/>
              <a:t>), whereas deletion is performed at the other end (called the </a:t>
            </a:r>
            <a:r>
              <a:rPr lang="en-US" altLang="zh-CN" dirty="0">
                <a:solidFill>
                  <a:srgbClr val="FF0000"/>
                </a:solidFill>
              </a:rPr>
              <a:t>front</a:t>
            </a:r>
            <a:r>
              <a:rPr lang="en-US" altLang="zh-CN" dirty="0"/>
              <a:t>)</a:t>
            </a:r>
          </a:p>
          <a:p>
            <a:r>
              <a:rPr lang="en-US" altLang="zh-CN" dirty="0"/>
              <a:t>Basic operations</a:t>
            </a:r>
          </a:p>
          <a:p>
            <a:pPr lvl="1"/>
            <a:r>
              <a:rPr lang="en-US" altLang="zh-CN" dirty="0" err="1"/>
              <a:t>Enqueue</a:t>
            </a:r>
            <a:endParaRPr lang="en-US" altLang="zh-CN" dirty="0"/>
          </a:p>
          <a:p>
            <a:pPr lvl="1"/>
            <a:r>
              <a:rPr lang="en-US" altLang="zh-CN" dirty="0" err="1"/>
              <a:t>Dequeue</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r>
              <a:rPr lang="en-US" altLang="zh-CN" dirty="0"/>
              <a:t>Queue</a:t>
            </a:r>
          </a:p>
          <a:p>
            <a:pPr lvl="1"/>
            <a:r>
              <a:rPr lang="en-US" altLang="zh-CN" dirty="0"/>
              <a:t>Array implementation</a:t>
            </a:r>
          </a:p>
          <a:p>
            <a:pPr lvl="1"/>
            <a:r>
              <a:rPr lang="en-US" altLang="zh-CN" dirty="0"/>
              <a:t>Linked list implementation</a:t>
            </a:r>
          </a:p>
          <a:p>
            <a:pPr lvl="1"/>
            <a:r>
              <a:rPr lang="en-US" altLang="zh-CN" dirty="0"/>
              <a:t>How to tell whether a </a:t>
            </a:r>
            <a:r>
              <a:rPr lang="en-US" altLang="zh-CN" dirty="0">
                <a:solidFill>
                  <a:srgbClr val="FF0000"/>
                </a:solidFill>
              </a:rPr>
              <a:t>circular queue </a:t>
            </a:r>
            <a:r>
              <a:rPr lang="en-US" altLang="zh-CN" dirty="0"/>
              <a:t>is empty and full</a:t>
            </a:r>
          </a:p>
          <a:p>
            <a:pPr lvl="2">
              <a:lnSpc>
                <a:spcPct val="110000"/>
              </a:lnSpc>
              <a:buFont typeface="Wingdings" panose="05000000000000000000" pitchFamily="2" charset="2"/>
              <a:buChar char="Ø"/>
            </a:pPr>
            <a:r>
              <a:rPr lang="en-US" altLang="zh-CN" dirty="0"/>
              <a:t> </a:t>
            </a:r>
            <a:r>
              <a:rPr lang="en-US" altLang="zh-CN" b="1" dirty="0">
                <a:solidFill>
                  <a:srgbClr val="FF0000"/>
                </a:solidFill>
              </a:rPr>
              <a:t>the space pointed by front is always empty</a:t>
            </a:r>
          </a:p>
          <a:p>
            <a:pPr lvl="2">
              <a:lnSpc>
                <a:spcPct val="110000"/>
              </a:lnSpc>
              <a:buFont typeface="Wingdings" panose="05000000000000000000" pitchFamily="2" charset="2"/>
              <a:buChar char="Ø"/>
            </a:pPr>
            <a:r>
              <a:rPr lang="en-US" altLang="zh-CN" dirty="0"/>
              <a:t> the queue is empty: </a:t>
            </a:r>
            <a:r>
              <a:rPr lang="en-US" altLang="zh-CN" dirty="0">
                <a:solidFill>
                  <a:srgbClr val="0070C0"/>
                </a:solidFill>
              </a:rPr>
              <a:t>rear=front</a:t>
            </a:r>
          </a:p>
          <a:p>
            <a:pPr lvl="2">
              <a:lnSpc>
                <a:spcPct val="110000"/>
              </a:lnSpc>
              <a:buFont typeface="Wingdings" panose="05000000000000000000" pitchFamily="2" charset="2"/>
              <a:buChar char="Ø"/>
            </a:pPr>
            <a:r>
              <a:rPr lang="en-US" altLang="zh-CN" dirty="0"/>
              <a:t> the queue is full: </a:t>
            </a:r>
            <a:r>
              <a:rPr lang="en-US" altLang="zh-CN" dirty="0">
                <a:solidFill>
                  <a:srgbClr val="0070C0"/>
                </a:solidFill>
              </a:rPr>
              <a:t>(rear+1)mod n=front</a:t>
            </a:r>
          </a:p>
          <a:p>
            <a:pPr lvl="2">
              <a:lnSpc>
                <a:spcPct val="110000"/>
              </a:lnSpc>
              <a:buFont typeface="Wingdings" panose="05000000000000000000" pitchFamily="2" charset="2"/>
              <a:buChar char="Ø"/>
            </a:pPr>
            <a:r>
              <a:rPr lang="en-US" altLang="zh-CN" dirty="0"/>
              <a:t> Number of elements in the circular queue:</a:t>
            </a:r>
          </a:p>
          <a:p>
            <a:pPr marL="914400" lvl="2" indent="0">
              <a:lnSpc>
                <a:spcPct val="110000"/>
              </a:lnSpc>
              <a:buNone/>
            </a:pPr>
            <a:r>
              <a:rPr lang="en-US" altLang="zh-CN" dirty="0">
                <a:solidFill>
                  <a:srgbClr val="0070C0"/>
                </a:solidFill>
              </a:rPr>
              <a:t>                 (</a:t>
            </a:r>
            <a:r>
              <a:rPr lang="en-US" altLang="zh-CN" dirty="0" err="1">
                <a:solidFill>
                  <a:srgbClr val="0070C0"/>
                </a:solidFill>
              </a:rPr>
              <a:t>n+rear-front</a:t>
            </a:r>
            <a:r>
              <a:rPr lang="en-US" altLang="zh-CN" dirty="0">
                <a:solidFill>
                  <a:srgbClr val="0070C0"/>
                </a:solidFill>
              </a:rPr>
              <a:t>) mod n</a:t>
            </a:r>
          </a:p>
          <a:p>
            <a:pPr marL="914400" lvl="2" indent="0">
              <a:lnSpc>
                <a:spcPct val="110000"/>
              </a:lnSpc>
              <a:buNone/>
            </a:pPr>
            <a:r>
              <a:rPr lang="en-US" altLang="zh-CN" dirty="0"/>
              <a:t>     ( n is the size of the circular queue)</a:t>
            </a:r>
          </a:p>
          <a:p>
            <a:pPr lvl="1"/>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Ch.4 Tree</a:t>
            </a:r>
            <a:endParaRPr lang="zh-CN" altLang="en-US" dirty="0"/>
          </a:p>
        </p:txBody>
      </p:sp>
      <p:sp>
        <p:nvSpPr>
          <p:cNvPr id="3" name="内容占位符 2"/>
          <p:cNvSpPr>
            <a:spLocks noGrp="1"/>
          </p:cNvSpPr>
          <p:nvPr>
            <p:ph idx="1"/>
          </p:nvPr>
        </p:nvSpPr>
        <p:spPr/>
        <p:txBody>
          <a:bodyPr/>
          <a:lstStyle/>
          <a:p>
            <a:r>
              <a:rPr lang="en-US" altLang="zh-CN" dirty="0"/>
              <a:t>Binary trees</a:t>
            </a:r>
          </a:p>
          <a:p>
            <a:r>
              <a:rPr lang="en-US" altLang="zh-CN" dirty="0"/>
              <a:t>Traversal of binary trees</a:t>
            </a:r>
          </a:p>
          <a:p>
            <a:r>
              <a:rPr lang="en-US" altLang="zh-CN" dirty="0"/>
              <a:t>Implementation of binary trees</a:t>
            </a:r>
          </a:p>
          <a:p>
            <a:r>
              <a:rPr lang="en-US" altLang="zh-CN" dirty="0"/>
              <a:t>Threaded binary tree</a:t>
            </a:r>
          </a:p>
          <a:p>
            <a:r>
              <a:rPr lang="en-US" altLang="zh-CN" dirty="0"/>
              <a:t>Binary search tree</a:t>
            </a:r>
          </a:p>
          <a:p>
            <a:r>
              <a:rPr lang="en-US" altLang="zh-CN" dirty="0"/>
              <a:t>AVL trees </a:t>
            </a:r>
          </a:p>
          <a:p>
            <a:r>
              <a:rPr lang="en-US" altLang="zh-CN" dirty="0"/>
              <a:t>B trees (concept)</a:t>
            </a:r>
          </a:p>
          <a:p>
            <a:pPr marL="0" indent="0">
              <a:buNone/>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Binary Trees</a:t>
            </a:r>
            <a:endParaRPr lang="zh-CN" altLang="en-US" dirty="0"/>
          </a:p>
        </p:txBody>
      </p:sp>
      <p:sp>
        <p:nvSpPr>
          <p:cNvPr id="3" name="内容占位符 2"/>
          <p:cNvSpPr>
            <a:spLocks noGrp="1"/>
          </p:cNvSpPr>
          <p:nvPr>
            <p:ph idx="1"/>
          </p:nvPr>
        </p:nvSpPr>
        <p:spPr/>
        <p:txBody>
          <a:bodyPr>
            <a:normAutofit fontScale="82500" lnSpcReduction="20000"/>
          </a:bodyPr>
          <a:lstStyle/>
          <a:p>
            <a:r>
              <a:rPr lang="en-US" altLang="zh-CN" dirty="0"/>
              <a:t>Definition and terminologies</a:t>
            </a:r>
          </a:p>
          <a:p>
            <a:pPr lvl="1"/>
            <a:r>
              <a:rPr lang="en-US" altLang="zh-CN" dirty="0"/>
              <a:t>Degree, height, depth, level</a:t>
            </a:r>
          </a:p>
          <a:p>
            <a:pPr lvl="1"/>
            <a:r>
              <a:rPr lang="en-US" altLang="zh-CN" dirty="0"/>
              <a:t>For an empty tree the height=-1. For a tree with only the root node, the height=0.</a:t>
            </a:r>
          </a:p>
          <a:p>
            <a:r>
              <a:rPr lang="en-US" altLang="zh-CN" dirty="0"/>
              <a:t>Full binary tree, complete binary tree</a:t>
            </a:r>
          </a:p>
          <a:p>
            <a:r>
              <a:rPr lang="en-US" altLang="zh-CN" dirty="0"/>
              <a:t>Numbers:</a:t>
            </a:r>
          </a:p>
          <a:p>
            <a:pPr lvl="1">
              <a:buFontTx/>
              <a:buChar char="•"/>
            </a:pPr>
            <a:r>
              <a:rPr lang="en-US" altLang="zh-TW" sz="2400" dirty="0"/>
              <a:t>The maximum number of nodes on level </a:t>
            </a:r>
            <a:r>
              <a:rPr lang="en-US" altLang="zh-CN" sz="2400" i="1" dirty="0">
                <a:solidFill>
                  <a:srgbClr val="0066FF"/>
                </a:solidFill>
                <a:latin typeface="Times New Roman" panose="02020603050405020304" pitchFamily="18" charset="0"/>
              </a:rPr>
              <a:t>l</a:t>
            </a:r>
            <a:r>
              <a:rPr lang="en-US" altLang="zh-TW" sz="2400" dirty="0"/>
              <a:t> of a binary tree is</a:t>
            </a:r>
            <a:r>
              <a:rPr lang="en-US" altLang="zh-CN" sz="2400" dirty="0"/>
              <a:t> 2</a:t>
            </a:r>
            <a:r>
              <a:rPr lang="en-US" altLang="zh-CN" sz="2400" i="1" baseline="30000" dirty="0">
                <a:latin typeface="Times New Roman" panose="02020603050405020304" pitchFamily="18" charset="0"/>
                <a:cs typeface="Times New Roman" panose="02020603050405020304" pitchFamily="18" charset="0"/>
              </a:rPr>
              <a:t>l </a:t>
            </a:r>
            <a:r>
              <a:rPr lang="en-US" altLang="zh-CN" sz="2400" dirty="0"/>
              <a:t> </a:t>
            </a:r>
            <a:r>
              <a:rPr lang="en-US" altLang="zh-TW" sz="2400" dirty="0">
                <a:latin typeface="Times New Roman" panose="02020603050405020304" pitchFamily="18" charset="0"/>
              </a:rPr>
              <a:t>, </a:t>
            </a:r>
            <a:r>
              <a:rPr lang="en-US" altLang="zh-CN" sz="2400" i="1" dirty="0">
                <a:latin typeface="Times New Roman" panose="02020603050405020304" pitchFamily="18" charset="0"/>
              </a:rPr>
              <a:t>l</a:t>
            </a:r>
            <a:r>
              <a:rPr lang="en-US" altLang="zh-TW" sz="2400" i="1" dirty="0">
                <a:latin typeface="Times New Roman" panose="02020603050405020304" pitchFamily="18" charset="0"/>
              </a:rPr>
              <a:t>&gt;=</a:t>
            </a:r>
            <a:r>
              <a:rPr lang="en-US" altLang="zh-CN" sz="2400" i="1" dirty="0">
                <a:latin typeface="Times New Roman" panose="02020603050405020304" pitchFamily="18" charset="0"/>
              </a:rPr>
              <a:t>0</a:t>
            </a:r>
            <a:r>
              <a:rPr lang="en-US" altLang="zh-TW" sz="2400" dirty="0">
                <a:latin typeface="Times New Roman" panose="02020603050405020304" pitchFamily="18" charset="0"/>
              </a:rPr>
              <a:t>.</a:t>
            </a:r>
            <a:endParaRPr lang="en-US" altLang="zh-TW" sz="2400" dirty="0"/>
          </a:p>
          <a:p>
            <a:pPr lvl="1">
              <a:buFontTx/>
              <a:buChar char="•"/>
            </a:pPr>
            <a:r>
              <a:rPr lang="en-US" altLang="zh-TW" sz="2400" dirty="0"/>
              <a:t>The maximum num</a:t>
            </a:r>
            <a:r>
              <a:rPr lang="en-US" altLang="zh-CN" sz="2400" dirty="0"/>
              <a:t>b</a:t>
            </a:r>
            <a:r>
              <a:rPr lang="en-US" altLang="zh-TW" sz="2400" dirty="0"/>
              <a:t>er of nodes in a binary tree </a:t>
            </a:r>
            <a:r>
              <a:rPr lang="en-US" altLang="zh-CN" sz="2400" dirty="0"/>
              <a:t>of</a:t>
            </a:r>
            <a:r>
              <a:rPr lang="en-US" altLang="zh-TW" sz="2400" dirty="0"/>
              <a:t> depth </a:t>
            </a:r>
            <a:r>
              <a:rPr lang="en-US" altLang="zh-TW" sz="2400" i="1" dirty="0">
                <a:solidFill>
                  <a:srgbClr val="003399"/>
                </a:solidFill>
                <a:latin typeface="Times New Roman" panose="02020603050405020304" pitchFamily="18" charset="0"/>
              </a:rPr>
              <a:t>k</a:t>
            </a:r>
            <a:r>
              <a:rPr lang="en-US" altLang="zh-TW" sz="2400" dirty="0"/>
              <a:t> is</a:t>
            </a:r>
            <a:r>
              <a:rPr lang="en-US" altLang="zh-CN" sz="2400" dirty="0"/>
              <a:t> 2</a:t>
            </a:r>
            <a:r>
              <a:rPr lang="en-US" altLang="zh-CN" sz="2400" i="1" baseline="30000" dirty="0">
                <a:latin typeface="Times New Roman" panose="02020603050405020304" pitchFamily="18" charset="0"/>
                <a:cs typeface="Times New Roman" panose="02020603050405020304" pitchFamily="18" charset="0"/>
              </a:rPr>
              <a:t>k+1</a:t>
            </a:r>
            <a:r>
              <a:rPr lang="en-US" altLang="zh-CN" sz="2400" dirty="0"/>
              <a:t>-1</a:t>
            </a:r>
            <a:r>
              <a:rPr lang="en-US" altLang="zh-TW" sz="2400" dirty="0"/>
              <a:t>, </a:t>
            </a:r>
            <a:r>
              <a:rPr lang="en-US" altLang="zh-TW" sz="2400" i="1" dirty="0">
                <a:latin typeface="Times New Roman" panose="02020603050405020304" pitchFamily="18" charset="0"/>
              </a:rPr>
              <a:t>k&gt;=</a:t>
            </a:r>
            <a:r>
              <a:rPr lang="en-US" altLang="zh-CN" sz="2400" i="1" dirty="0">
                <a:latin typeface="Times New Roman" panose="02020603050405020304" pitchFamily="18" charset="0"/>
              </a:rPr>
              <a:t>0</a:t>
            </a:r>
            <a:r>
              <a:rPr lang="en-US" altLang="zh-TW" sz="2400" dirty="0"/>
              <a:t>.</a:t>
            </a:r>
          </a:p>
          <a:p>
            <a:pPr lvl="1">
              <a:buFontTx/>
              <a:buChar char="•"/>
            </a:pPr>
            <a:r>
              <a:rPr lang="en-US" altLang="zh-TW" sz="2400" dirty="0"/>
              <a:t>The minimal number of nodes in a complete binary tree of depth </a:t>
            </a:r>
            <a:r>
              <a:rPr lang="en-US" altLang="zh-TW" sz="2400" i="1" dirty="0">
                <a:solidFill>
                  <a:srgbClr val="003399"/>
                </a:solidFill>
                <a:latin typeface="Times New Roman" panose="02020603050405020304" pitchFamily="18" charset="0"/>
              </a:rPr>
              <a:t>k</a:t>
            </a:r>
            <a:r>
              <a:rPr lang="en-US" altLang="zh-TW" sz="2400" dirty="0"/>
              <a:t> is 2</a:t>
            </a:r>
            <a:r>
              <a:rPr lang="en-US" altLang="zh-TW" sz="2400" i="1" baseline="30000" dirty="0">
                <a:latin typeface="Times New Roman" panose="02020603050405020304" pitchFamily="18" charset="0"/>
                <a:cs typeface="Times New Roman" panose="02020603050405020304" pitchFamily="18" charset="0"/>
              </a:rPr>
              <a:t>k</a:t>
            </a:r>
            <a:endParaRPr lang="en-US" altLang="zh-TW" sz="2400" dirty="0"/>
          </a:p>
          <a:p>
            <a:pPr lvl="1">
              <a:buFontTx/>
              <a:buChar char="•"/>
            </a:pPr>
            <a:r>
              <a:rPr lang="en-US" altLang="zh-TW" sz="2400" dirty="0"/>
              <a:t>For any nonempty binary tree, if </a:t>
            </a:r>
            <a:r>
              <a:rPr lang="en-US" altLang="zh-TW" sz="2400" i="1" dirty="0">
                <a:latin typeface="Times New Roman" panose="02020603050405020304" pitchFamily="18" charset="0"/>
                <a:cs typeface="Times New Roman" panose="02020603050405020304" pitchFamily="18" charset="0"/>
              </a:rPr>
              <a:t>n</a:t>
            </a:r>
            <a:r>
              <a:rPr lang="en-US" altLang="zh-TW" sz="2400" i="1" baseline="-25000" dirty="0">
                <a:latin typeface="Times New Roman" panose="02020603050405020304" pitchFamily="18" charset="0"/>
                <a:cs typeface="Times New Roman" panose="02020603050405020304" pitchFamily="18" charset="0"/>
              </a:rPr>
              <a:t>0</a:t>
            </a:r>
            <a:r>
              <a:rPr lang="en-US" altLang="zh-TW" sz="2400" dirty="0"/>
              <a:t> is the number of leaf nodes and </a:t>
            </a:r>
            <a:r>
              <a:rPr lang="en-US" altLang="zh-TW" sz="2400" i="1" dirty="0">
                <a:latin typeface="Times New Roman" panose="02020603050405020304" pitchFamily="18" charset="0"/>
                <a:cs typeface="Times New Roman" panose="02020603050405020304" pitchFamily="18" charset="0"/>
              </a:rPr>
              <a:t>n</a:t>
            </a:r>
            <a:r>
              <a:rPr lang="en-US" altLang="zh-TW" sz="2400" i="1" baseline="-25000" dirty="0">
                <a:latin typeface="Times New Roman" panose="02020603050405020304" pitchFamily="18" charset="0"/>
                <a:cs typeface="Times New Roman" panose="02020603050405020304" pitchFamily="18" charset="0"/>
              </a:rPr>
              <a:t>2</a:t>
            </a:r>
            <a:r>
              <a:rPr lang="en-US" altLang="zh-TW" sz="2400" dirty="0"/>
              <a:t> the number of nodes of degree 2, then </a:t>
            </a:r>
            <a:r>
              <a:rPr lang="en-US" altLang="zh-TW" sz="2400" i="1" dirty="0">
                <a:latin typeface="Times New Roman" panose="02020603050405020304" pitchFamily="18" charset="0"/>
                <a:cs typeface="Times New Roman" panose="02020603050405020304" pitchFamily="18" charset="0"/>
              </a:rPr>
              <a:t>n</a:t>
            </a:r>
            <a:r>
              <a:rPr lang="en-US" altLang="zh-TW" sz="2400" i="1" baseline="-25000" dirty="0">
                <a:latin typeface="Times New Roman" panose="02020603050405020304" pitchFamily="18" charset="0"/>
                <a:cs typeface="Times New Roman" panose="02020603050405020304" pitchFamily="18" charset="0"/>
              </a:rPr>
              <a:t>0</a:t>
            </a:r>
            <a:r>
              <a:rPr lang="en-US" altLang="zh-TW" sz="2400" i="1" dirty="0">
                <a:latin typeface="Times New Roman" panose="02020603050405020304" pitchFamily="18" charset="0"/>
                <a:cs typeface="Times New Roman" panose="02020603050405020304" pitchFamily="18" charset="0"/>
              </a:rPr>
              <a:t>=n</a:t>
            </a:r>
            <a:r>
              <a:rPr lang="en-US" altLang="zh-TW" sz="2400" i="1" baseline="-25000" dirty="0">
                <a:latin typeface="Times New Roman" panose="02020603050405020304" pitchFamily="18" charset="0"/>
                <a:cs typeface="Times New Roman" panose="02020603050405020304" pitchFamily="18" charset="0"/>
              </a:rPr>
              <a:t>2</a:t>
            </a:r>
            <a:r>
              <a:rPr lang="en-US" altLang="zh-TW" sz="2400" i="1" dirty="0">
                <a:latin typeface="Times New Roman" panose="02020603050405020304" pitchFamily="18" charset="0"/>
                <a:cs typeface="Times New Roman" panose="02020603050405020304" pitchFamily="18" charset="0"/>
              </a:rPr>
              <a:t>+1</a:t>
            </a:r>
            <a:endParaRPr lang="en-US" altLang="zh-TW" sz="2400" dirty="0"/>
          </a:p>
          <a:p>
            <a:pPr lvl="1">
              <a:buFontTx/>
              <a:buChar char="•"/>
            </a:pPr>
            <a:r>
              <a:rPr lang="en-US" altLang="zh-TW" sz="2400" dirty="0"/>
              <a:t>For any binary tree with n node, there are n+1 null pointers.</a:t>
            </a:r>
          </a:p>
          <a:p>
            <a:pPr lvl="1"/>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rPr>
              <a:t>Suppose a complete binary tree has 5 nodes on its 4th level (the root node is on the level 0), how many leaves are there in the tree.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9"/>
            </p:custDataLst>
          </p:nvPr>
        </p:nvSpPr>
        <p:spPr>
          <a:xfrm>
            <a:off x="1114425" y="456485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9"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5" name="图片 4"/>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a:solidFill>
                <a:srgbClr val="FFFFFF"/>
              </a:solidFill>
            </a:endParaRPr>
          </a:p>
        </p:txBody>
      </p:sp>
      <p:sp>
        <p:nvSpPr>
          <p:cNvPr id="4" name="文本框 3"/>
          <p:cNvSpPr txBox="1"/>
          <p:nvPr>
            <p:custDataLst>
              <p:tags r:id="rId3"/>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Suppose a binary tree has 50 node, the minimal height of the tree should be____</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4"/>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3</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5"/>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4</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6"/>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7"/>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6</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8"/>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9"/>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10"/>
            </p:custDataLst>
          </p:nvPr>
        </p:nvSpPr>
        <p:spPr>
          <a:xfrm>
            <a:off x="1114425" y="456485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1"/>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2"/>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sp>
        <p:nvSpPr>
          <p:cNvPr id="23" name="文本框 22"/>
          <p:cNvSpPr txBox="1"/>
          <p:nvPr>
            <p:custDataLst>
              <p:tags r:id="rId13"/>
            </p:custDataLst>
          </p:nvPr>
        </p:nvSpPr>
        <p:spPr>
          <a:xfrm>
            <a:off x="9613900" y="6326823"/>
            <a:ext cx="3662045" cy="460375"/>
          </a:xfrm>
          <a:prstGeom prst="rect">
            <a:avLst/>
          </a:prstGeom>
          <a:solidFill>
            <a:srgbClr val="FBFAEF"/>
          </a:solidFill>
          <a:ln w="12700">
            <a:noFill/>
          </a:ln>
        </p:spPr>
        <p:txBody>
          <a:bodyPr wrap="square" rtlCol="0" anchor="ctr">
            <a:spAutoFit/>
          </a:bodyPr>
          <a:lstStyle/>
          <a:p>
            <a:pPr lvl="0" algn="l">
              <a:buNone/>
            </a:pPr>
            <a:r>
              <a:rPr lang="zh-CN" altLang="en-US" sz="1200">
                <a:solidFill>
                  <a:srgbClr val="F84F41"/>
                </a:solidFill>
                <a:latin typeface="微软雅黑" panose="020B0503020204020204" charset="-122"/>
                <a:ea typeface="微软雅黑" panose="020B0503020204020204" charset="-122"/>
              </a:rPr>
              <a:t>可为此题添加文本、图片、公式等解析，且需将内容全部放在本区域内。</a:t>
            </a:r>
          </a:p>
        </p:txBody>
      </p:sp>
      <p:sp>
        <p:nvSpPr>
          <p:cNvPr id="24" name="文本框 23"/>
          <p:cNvSpPr txBox="1"/>
          <p:nvPr>
            <p:custDataLst>
              <p:tags r:id="rId14"/>
            </p:custDataLst>
          </p:nvPr>
        </p:nvSpPr>
        <p:spPr>
          <a:xfrm>
            <a:off x="9779000" y="1270000"/>
            <a:ext cx="3331845" cy="2245360"/>
          </a:xfrm>
          <a:prstGeom prst="rect">
            <a:avLst/>
          </a:prstGeom>
          <a:noFill/>
        </p:spPr>
        <p:txBody>
          <a:bodyPr wrap="square" rtlCol="0" anchor="t" anchorCtr="0">
            <a:spAutoFit/>
          </a:bodyPr>
          <a:lstStyle/>
          <a:p>
            <a:pPr lvl="0" algn="l">
              <a:buNone/>
            </a:pPr>
            <a:r>
              <a:rPr lang="en-US" altLang="zh-CN" sz="2000">
                <a:solidFill>
                  <a:srgbClr val="000000"/>
                </a:solidFill>
                <a:latin typeface="微软雅黑" panose="020B0503020204020204" charset="-122"/>
                <a:ea typeface="微软雅黑" panose="020B0503020204020204" charset="-122"/>
              </a:rPr>
              <a:t>suppose the height of the tree is k, we have</a:t>
            </a:r>
          </a:p>
          <a:p>
            <a:pPr lvl="0" algn="l">
              <a:buNone/>
            </a:pPr>
            <a:endParaRPr lang="en-US" altLang="zh-CN" sz="2000">
              <a:solidFill>
                <a:srgbClr val="000000"/>
              </a:solidFill>
              <a:latin typeface="微软雅黑" panose="020B0503020204020204" charset="-122"/>
              <a:ea typeface="微软雅黑" panose="020B0503020204020204" charset="-122"/>
            </a:endParaRPr>
          </a:p>
          <a:p>
            <a:pPr lvl="0" algn="l">
              <a:buNone/>
            </a:pPr>
            <a:r>
              <a:rPr lang="en-US" altLang="zh-CN" sz="2000">
                <a:solidFill>
                  <a:srgbClr val="000000"/>
                </a:solidFill>
                <a:latin typeface="微软雅黑" panose="020B0503020204020204" charset="-122"/>
                <a:ea typeface="微软雅黑" panose="020B0503020204020204" charset="-122"/>
              </a:rPr>
              <a:t>2^(k+1)-1&gt;=50&gt;=2^k</a:t>
            </a:r>
          </a:p>
          <a:p>
            <a:pPr lvl="0" algn="l">
              <a:buNone/>
            </a:pPr>
            <a:endParaRPr lang="en-US" altLang="zh-CN" sz="2000">
              <a:solidFill>
                <a:srgbClr val="000000"/>
              </a:solidFill>
              <a:latin typeface="微软雅黑" panose="020B0503020204020204" charset="-122"/>
              <a:ea typeface="微软雅黑" panose="020B0503020204020204" charset="-122"/>
            </a:endParaRPr>
          </a:p>
          <a:p>
            <a:pPr lvl="0" algn="l">
              <a:buNone/>
            </a:pPr>
            <a:r>
              <a:rPr lang="en-US" altLang="zh-CN" sz="2000">
                <a:solidFill>
                  <a:srgbClr val="000000"/>
                </a:solidFill>
                <a:latin typeface="微软雅黑" panose="020B0503020204020204" charset="-122"/>
                <a:ea typeface="微软雅黑" panose="020B0503020204020204" charset="-122"/>
              </a:rPr>
              <a:t>solve the ineuqality, we have k=5.</a:t>
            </a:r>
          </a:p>
        </p:txBody>
      </p:sp>
      <p:grpSp>
        <p:nvGrpSpPr>
          <p:cNvPr id="18" name="组合 17"/>
          <p:cNvGrpSpPr/>
          <p:nvPr>
            <p:custDataLst>
              <p:tags r:id="rId15"/>
            </p:custDataLst>
          </p:nvPr>
        </p:nvGrpSpPr>
        <p:grpSpPr>
          <a:xfrm>
            <a:off x="0" y="0"/>
            <a:ext cx="9144000" cy="635000"/>
            <a:chOff x="0" y="0"/>
            <a:chExt cx="9144000" cy="635000"/>
          </a:xfrm>
        </p:grpSpPr>
        <p:sp>
          <p:nvSpPr>
            <p:cNvPr id="14" name="TitleBackground"/>
            <p:cNvSpPr/>
            <p:nvPr>
              <p:custDataLst>
                <p:tags r:id="rId21"/>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22"/>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3"/>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24"/>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grpSp>
        <p:nvGrpSpPr>
          <p:cNvPr id="22" name="组合 21"/>
          <p:cNvGrpSpPr/>
          <p:nvPr>
            <p:custDataLst>
              <p:tags r:id="rId16"/>
            </p:custDataLst>
          </p:nvPr>
        </p:nvGrpSpPr>
        <p:grpSpPr>
          <a:xfrm>
            <a:off x="9537700" y="0"/>
            <a:ext cx="3813810" cy="647700"/>
            <a:chOff x="15020" y="0"/>
            <a:chExt cx="6006" cy="1020"/>
          </a:xfrm>
        </p:grpSpPr>
        <p:sp>
          <p:nvSpPr>
            <p:cNvPr id="19" name="RemarkBack"/>
            <p:cNvSpPr/>
            <p:nvPr>
              <p:custDataLst>
                <p:tags r:id="rId18"/>
              </p:custDataLst>
            </p:nvPr>
          </p:nvSpPr>
          <p:spPr>
            <a:xfrm>
              <a:off x="15020" y="20"/>
              <a:ext cx="6007"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cap="flat" cmpd="sng" algn="ctr">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RemarkBlock"/>
            <p:cNvSpPr/>
            <p:nvPr>
              <p:custDataLst>
                <p:tags r:id="rId19"/>
              </p:custDataLst>
            </p:nvPr>
          </p:nvSpPr>
          <p:spPr>
            <a:xfrm>
              <a:off x="15020" y="2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cap="flat" cmpd="sng" algn="ctr">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RemarkTitleText"/>
            <p:cNvSpPr txBox="1"/>
            <p:nvPr>
              <p:custDataLst>
                <p:tags r:id="rId20"/>
              </p:custDataLst>
            </p:nvPr>
          </p:nvSpPr>
          <p:spPr>
            <a:xfrm>
              <a:off x="15400" y="0"/>
              <a:ext cx="3000" cy="1000"/>
            </a:xfrm>
            <a:prstGeom prst="rect">
              <a:avLst/>
            </a:prstGeom>
            <a:noFill/>
          </p:spPr>
          <p:txBody>
            <a:bodyPr wrap="none" rtlCol="0" anchor="ctr" anchorCtr="0">
              <a:noAutofit/>
            </a:bodyPr>
            <a:lstStyle/>
            <a:p>
              <a:pPr lvl="0" algn="l">
                <a:buNone/>
              </a:pPr>
              <a:r>
                <a:rPr lang="zh-CN" altLang="en-US">
                  <a:solidFill>
                    <a:srgbClr val="000000"/>
                  </a:solidFill>
                  <a:latin typeface="微软雅黑" panose="020B0503020204020204" charset="-122"/>
                  <a:ea typeface="微软雅黑" panose="020B0503020204020204" charset="-122"/>
                </a:rPr>
                <a:t>答案解析</a:t>
              </a:r>
            </a:p>
          </p:txBody>
        </p:sp>
      </p:grpSp>
      <p:pic>
        <p:nvPicPr>
          <p:cNvPr id="3" name="图片 2"/>
          <p:cNvPicPr/>
          <p:nvPr>
            <p:custDataLst>
              <p:tags r:id="rId17"/>
            </p:custDataLst>
          </p:nvPr>
        </p:nvPicPr>
        <p:blipFill>
          <a:blip r:embed="rId2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The height of a binary tree with 2000 nodes is (   ), suppose the height of an empty tree is -1.</a:t>
            </a:r>
            <a:endParaRPr lang="en-US" altLang="zh-CN" sz="2600" u="sng"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Between 11 to 2000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Between 10 to 1999</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a:t>Implementation of Binary Trees</a:t>
            </a:r>
          </a:p>
        </p:txBody>
      </p:sp>
      <p:sp>
        <p:nvSpPr>
          <p:cNvPr id="17411" name="Rectangle 3"/>
          <p:cNvSpPr>
            <a:spLocks noGrp="1" noChangeArrowheads="1"/>
          </p:cNvSpPr>
          <p:nvPr>
            <p:ph type="body" idx="1"/>
          </p:nvPr>
        </p:nvSpPr>
        <p:spPr>
          <a:xfrm>
            <a:off x="685800" y="2438400"/>
            <a:ext cx="7696200" cy="3048000"/>
          </a:xfrm>
        </p:spPr>
        <p:txBody>
          <a:bodyPr/>
          <a:lstStyle/>
          <a:p>
            <a:pPr eaLnBrk="1" hangingPunct="1">
              <a:lnSpc>
                <a:spcPct val="90000"/>
              </a:lnSpc>
            </a:pPr>
            <a:r>
              <a:rPr lang="en-US" altLang="zh-CN"/>
              <a:t>Array representation</a:t>
            </a:r>
          </a:p>
          <a:p>
            <a:pPr eaLnBrk="1" hangingPunct="1">
              <a:lnSpc>
                <a:spcPct val="90000"/>
              </a:lnSpc>
            </a:pPr>
            <a:endParaRPr lang="en-US" altLang="zh-CN"/>
          </a:p>
          <a:p>
            <a:pPr eaLnBrk="1" hangingPunct="1">
              <a:lnSpc>
                <a:spcPct val="90000"/>
              </a:lnSpc>
            </a:pPr>
            <a:r>
              <a:rPr lang="en-US" altLang="zh-CN"/>
              <a:t>Linked list representation</a:t>
            </a:r>
          </a:p>
          <a:p>
            <a:pPr eaLnBrk="1" hangingPunct="1">
              <a:lnSpc>
                <a:spcPct val="90000"/>
              </a:lnSpc>
            </a:pPr>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CN"/>
              <a:t>Array Representation</a:t>
            </a:r>
          </a:p>
        </p:txBody>
      </p:sp>
      <p:sp>
        <p:nvSpPr>
          <p:cNvPr id="18435" name="Rectangle 3"/>
          <p:cNvSpPr>
            <a:spLocks noGrp="1" noChangeArrowheads="1"/>
          </p:cNvSpPr>
          <p:nvPr>
            <p:ph type="body" idx="1"/>
          </p:nvPr>
        </p:nvSpPr>
        <p:spPr/>
        <p:txBody>
          <a:bodyPr/>
          <a:lstStyle/>
          <a:p>
            <a:pPr eaLnBrk="1" hangingPunct="1">
              <a:lnSpc>
                <a:spcPct val="90000"/>
              </a:lnSpc>
            </a:pPr>
            <a:r>
              <a:rPr lang="en-US" altLang="zh-CN"/>
              <a:t>Using an </a:t>
            </a:r>
            <a:r>
              <a:rPr lang="en-US" altLang="zh-CN">
                <a:solidFill>
                  <a:schemeClr val="hlink"/>
                </a:solidFill>
              </a:rPr>
              <a:t>array</a:t>
            </a:r>
            <a:r>
              <a:rPr lang="en-US" altLang="zh-CN"/>
              <a:t> (linear representation)</a:t>
            </a:r>
          </a:p>
          <a:p>
            <a:pPr eaLnBrk="1" hangingPunct="1">
              <a:lnSpc>
                <a:spcPct val="90000"/>
              </a:lnSpc>
            </a:pPr>
            <a:endParaRPr lang="en-US" altLang="zh-CN"/>
          </a:p>
          <a:p>
            <a:pPr eaLnBrk="1" hangingPunct="1">
              <a:lnSpc>
                <a:spcPct val="90000"/>
              </a:lnSpc>
            </a:pPr>
            <a:r>
              <a:rPr lang="en-US" altLang="zh-CN"/>
              <a:t>The nodes of the tree are stored </a:t>
            </a:r>
            <a:r>
              <a:rPr lang="en-US" altLang="zh-CN" b="1">
                <a:solidFill>
                  <a:schemeClr val="hlink"/>
                </a:solidFill>
              </a:rPr>
              <a:t>sequentially</a:t>
            </a:r>
            <a:r>
              <a:rPr lang="en-US" altLang="zh-CN" b="1"/>
              <a:t> </a:t>
            </a:r>
            <a:r>
              <a:rPr lang="en-US" altLang="zh-CN"/>
              <a:t>in the array </a:t>
            </a:r>
            <a:r>
              <a:rPr lang="en-US" altLang="zh-CN" i="1">
                <a:solidFill>
                  <a:srgbClr val="0066FF"/>
                </a:solidFill>
              </a:rPr>
              <a:t>level by level, for each level ,from left to right</a:t>
            </a:r>
            <a:r>
              <a:rPr lang="en-US" altLang="zh-CN"/>
              <a:t> according to the following rules:</a:t>
            </a:r>
          </a:p>
          <a:p>
            <a:pPr eaLnBrk="1" hangingPunct="1">
              <a:lnSpc>
                <a:spcPct val="90000"/>
              </a:lnSpc>
            </a:pPr>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endParaRPr lang="zh-CN" altLang="zh-CN"/>
          </a:p>
        </p:txBody>
      </p:sp>
      <p:sp>
        <p:nvSpPr>
          <p:cNvPr id="24579" name="Rectangle 3"/>
          <p:cNvSpPr>
            <a:spLocks noGrp="1" noChangeArrowheads="1"/>
          </p:cNvSpPr>
          <p:nvPr>
            <p:ph type="body" idx="1"/>
          </p:nvPr>
        </p:nvSpPr>
        <p:spPr/>
        <p:txBody>
          <a:bodyPr/>
          <a:lstStyle/>
          <a:p>
            <a:pPr eaLnBrk="1" hangingPunct="1">
              <a:lnSpc>
                <a:spcPct val="90000"/>
              </a:lnSpc>
            </a:pPr>
            <a:r>
              <a:rPr lang="en-US" altLang="zh-CN" sz="2800"/>
              <a:t>The </a:t>
            </a:r>
            <a:r>
              <a:rPr lang="en-US" altLang="zh-CN" sz="2800">
                <a:solidFill>
                  <a:schemeClr val="hlink"/>
                </a:solidFill>
              </a:rPr>
              <a:t>root node</a:t>
            </a:r>
            <a:r>
              <a:rPr lang="en-US" altLang="zh-CN" sz="2800"/>
              <a:t> is at location indexed with 1.</a:t>
            </a:r>
          </a:p>
          <a:p>
            <a:pPr eaLnBrk="1" hangingPunct="1">
              <a:lnSpc>
                <a:spcPct val="90000"/>
              </a:lnSpc>
            </a:pPr>
            <a:r>
              <a:rPr lang="en-US" altLang="zh-CN" sz="2800"/>
              <a:t>F</a:t>
            </a:r>
            <a:r>
              <a:rPr lang="en-US" altLang="zh-TW" sz="2800"/>
              <a:t>or</a:t>
            </a:r>
            <a:r>
              <a:rPr lang="en-US" altLang="zh-CN" sz="2800"/>
              <a:t> </a:t>
            </a:r>
            <a:r>
              <a:rPr lang="en-US" altLang="zh-TW" sz="2800"/>
              <a:t>any node with index i, 1&lt;=i&lt;=</a:t>
            </a:r>
            <a:r>
              <a:rPr lang="en-US" altLang="zh-TW" sz="2800" i="1"/>
              <a:t>n</a:t>
            </a:r>
            <a:r>
              <a:rPr lang="en-US" altLang="zh-TW" sz="2800"/>
              <a:t>, we have:</a:t>
            </a:r>
          </a:p>
          <a:p>
            <a:pPr lvl="1" eaLnBrk="1" hangingPunct="1">
              <a:lnSpc>
                <a:spcPct val="90000"/>
              </a:lnSpc>
            </a:pPr>
            <a:r>
              <a:rPr lang="en-US" altLang="zh-TW" sz="2400" i="1">
                <a:solidFill>
                  <a:schemeClr val="hlink"/>
                </a:solidFill>
              </a:rPr>
              <a:t>left_child</a:t>
            </a:r>
            <a:r>
              <a:rPr lang="en-US" altLang="zh-TW" sz="2400">
                <a:solidFill>
                  <a:schemeClr val="hlink"/>
                </a:solidFill>
              </a:rPr>
              <a:t>(i)</a:t>
            </a:r>
            <a:r>
              <a:rPr lang="en-US" altLang="zh-TW" sz="2400"/>
              <a:t> i</a:t>
            </a:r>
            <a:r>
              <a:rPr lang="en-US" altLang="zh-CN" sz="2400"/>
              <a:t>s</a:t>
            </a:r>
            <a:r>
              <a:rPr lang="en-US" altLang="zh-TW" sz="2400"/>
              <a:t> at </a:t>
            </a:r>
            <a:r>
              <a:rPr lang="en-US" altLang="zh-TW" sz="2400">
                <a:solidFill>
                  <a:srgbClr val="CC3300"/>
                </a:solidFill>
              </a:rPr>
              <a:t>2</a:t>
            </a:r>
            <a:r>
              <a:rPr lang="en-US" altLang="zh-TW" sz="2400" i="1">
                <a:solidFill>
                  <a:srgbClr val="CC3300"/>
                </a:solidFill>
              </a:rPr>
              <a:t>i</a:t>
            </a:r>
            <a:r>
              <a:rPr lang="en-US" altLang="zh-TW" sz="2400"/>
              <a:t> </a:t>
            </a:r>
            <a:r>
              <a:rPr lang="en-US" altLang="zh-CN" sz="2400"/>
              <a:t>, </a:t>
            </a:r>
            <a:r>
              <a:rPr lang="en-US" altLang="zh-TW" sz="2400"/>
              <a:t>if 2i&lt;=</a:t>
            </a:r>
            <a:r>
              <a:rPr lang="en-US" altLang="zh-TW" sz="2400" i="1"/>
              <a:t>n</a:t>
            </a:r>
            <a:r>
              <a:rPr lang="en-US" altLang="zh-TW" sz="2400"/>
              <a:t>.</a:t>
            </a:r>
            <a:endParaRPr lang="en-US" altLang="zh-CN" sz="2400"/>
          </a:p>
          <a:p>
            <a:pPr lvl="1" eaLnBrk="1" hangingPunct="1">
              <a:lnSpc>
                <a:spcPct val="90000"/>
              </a:lnSpc>
              <a:buFontTx/>
              <a:buNone/>
            </a:pPr>
            <a:r>
              <a:rPr lang="en-US" altLang="zh-CN" sz="2400"/>
              <a:t>         </a:t>
            </a:r>
            <a:r>
              <a:rPr lang="en-US" altLang="zh-TW" sz="2400"/>
              <a:t> If 2i&gt;n, then i has no</a:t>
            </a:r>
            <a:r>
              <a:rPr lang="en-US" altLang="zh-CN" sz="2400"/>
              <a:t> l</a:t>
            </a:r>
            <a:r>
              <a:rPr lang="en-US" altLang="zh-TW" sz="2400"/>
              <a:t>eft child.</a:t>
            </a:r>
          </a:p>
          <a:p>
            <a:pPr lvl="1" eaLnBrk="1" hangingPunct="1">
              <a:lnSpc>
                <a:spcPct val="90000"/>
              </a:lnSpc>
            </a:pPr>
            <a:r>
              <a:rPr lang="en-US" altLang="zh-TW" sz="2400" i="1">
                <a:solidFill>
                  <a:schemeClr val="hlink"/>
                </a:solidFill>
              </a:rPr>
              <a:t>right_child</a:t>
            </a:r>
            <a:r>
              <a:rPr lang="en-US" altLang="zh-TW" sz="2400">
                <a:solidFill>
                  <a:schemeClr val="hlink"/>
                </a:solidFill>
              </a:rPr>
              <a:t>(i)</a:t>
            </a:r>
            <a:r>
              <a:rPr lang="en-US" altLang="zh-TW" sz="2400"/>
              <a:t> i</a:t>
            </a:r>
            <a:r>
              <a:rPr lang="en-US" altLang="zh-CN" sz="2400"/>
              <a:t>s</a:t>
            </a:r>
            <a:r>
              <a:rPr lang="en-US" altLang="zh-TW" sz="2400"/>
              <a:t> at </a:t>
            </a:r>
            <a:r>
              <a:rPr lang="en-US" altLang="zh-TW" sz="2400">
                <a:solidFill>
                  <a:srgbClr val="CC3300"/>
                </a:solidFill>
              </a:rPr>
              <a:t>2</a:t>
            </a:r>
            <a:r>
              <a:rPr lang="en-US" altLang="zh-TW" sz="2400" i="1">
                <a:solidFill>
                  <a:srgbClr val="CC3300"/>
                </a:solidFill>
              </a:rPr>
              <a:t>i</a:t>
            </a:r>
            <a:r>
              <a:rPr lang="en-US" altLang="zh-TW" sz="2400">
                <a:solidFill>
                  <a:srgbClr val="CC3300"/>
                </a:solidFill>
              </a:rPr>
              <a:t>+1</a:t>
            </a:r>
            <a:r>
              <a:rPr lang="en-US" altLang="zh-TW" sz="2400"/>
              <a:t> </a:t>
            </a:r>
            <a:r>
              <a:rPr lang="en-US" altLang="zh-CN" sz="2400"/>
              <a:t>, </a:t>
            </a:r>
            <a:r>
              <a:rPr lang="en-US" altLang="zh-TW" sz="2400"/>
              <a:t>if 2</a:t>
            </a:r>
            <a:r>
              <a:rPr lang="en-US" altLang="zh-TW" sz="2400" i="1"/>
              <a:t>i </a:t>
            </a:r>
            <a:r>
              <a:rPr lang="en-US" altLang="zh-TW" sz="2400"/>
              <a:t>+1 &lt;=</a:t>
            </a:r>
            <a:r>
              <a:rPr lang="en-US" altLang="zh-TW" sz="2400" i="1"/>
              <a:t>n</a:t>
            </a:r>
            <a:r>
              <a:rPr lang="en-US" altLang="zh-TW" sz="2400"/>
              <a:t>. </a:t>
            </a:r>
            <a:endParaRPr lang="en-US" altLang="zh-CN" sz="2400"/>
          </a:p>
          <a:p>
            <a:pPr lvl="1" eaLnBrk="1" hangingPunct="1">
              <a:lnSpc>
                <a:spcPct val="90000"/>
              </a:lnSpc>
              <a:buFontTx/>
              <a:buNone/>
            </a:pPr>
            <a:r>
              <a:rPr lang="en-US" altLang="zh-CN" sz="2400"/>
              <a:t>           </a:t>
            </a:r>
            <a:r>
              <a:rPr lang="en-US" altLang="zh-TW" sz="2400"/>
              <a:t>If 2</a:t>
            </a:r>
            <a:r>
              <a:rPr lang="en-US" altLang="zh-TW" sz="2400" i="1"/>
              <a:t>i </a:t>
            </a:r>
            <a:r>
              <a:rPr lang="en-US" altLang="zh-TW" sz="2400"/>
              <a:t>+1 &gt;n, then </a:t>
            </a:r>
            <a:r>
              <a:rPr lang="en-US" altLang="zh-TW" sz="2400" i="1"/>
              <a:t>i</a:t>
            </a:r>
            <a:r>
              <a:rPr lang="en-US" altLang="zh-TW" sz="2400"/>
              <a:t> has no right child.</a:t>
            </a:r>
            <a:endParaRPr lang="en-US" altLang="zh-CN" sz="2400"/>
          </a:p>
          <a:p>
            <a:pPr lvl="1" eaLnBrk="1" hangingPunct="1">
              <a:lnSpc>
                <a:spcPct val="90000"/>
              </a:lnSpc>
            </a:pPr>
            <a:r>
              <a:rPr lang="en-US" altLang="zh-TW" sz="2400" i="1">
                <a:solidFill>
                  <a:schemeClr val="hlink"/>
                </a:solidFill>
              </a:rPr>
              <a:t>parent</a:t>
            </a:r>
            <a:r>
              <a:rPr lang="en-US" altLang="zh-TW" sz="2400">
                <a:solidFill>
                  <a:schemeClr val="hlink"/>
                </a:solidFill>
              </a:rPr>
              <a:t>(i)</a:t>
            </a:r>
            <a:r>
              <a:rPr lang="en-US" altLang="zh-TW" sz="2400"/>
              <a:t> is at</a:t>
            </a:r>
            <a:r>
              <a:rPr lang="en-US" altLang="zh-CN" sz="2400"/>
              <a:t>     </a:t>
            </a:r>
            <a:r>
              <a:rPr lang="en-US" altLang="zh-TW" sz="2400"/>
              <a:t> </a:t>
            </a:r>
            <a:r>
              <a:rPr lang="en-US" altLang="zh-CN" sz="2400"/>
              <a:t>, </a:t>
            </a:r>
            <a:r>
              <a:rPr lang="en-US" altLang="zh-TW" sz="2400"/>
              <a:t>if i!=1. </a:t>
            </a:r>
            <a:endParaRPr lang="en-US" altLang="zh-CN" sz="2400"/>
          </a:p>
          <a:p>
            <a:pPr lvl="1" eaLnBrk="1" hangingPunct="1">
              <a:lnSpc>
                <a:spcPct val="90000"/>
              </a:lnSpc>
              <a:buFontTx/>
              <a:buNone/>
            </a:pPr>
            <a:r>
              <a:rPr lang="en-US" altLang="zh-CN" sz="2400"/>
              <a:t>           </a:t>
            </a:r>
            <a:r>
              <a:rPr lang="en-US" altLang="zh-TW" sz="2400"/>
              <a:t>If i=1, </a:t>
            </a:r>
            <a:r>
              <a:rPr lang="en-US" altLang="zh-TW" sz="2400" i="1"/>
              <a:t>i</a:t>
            </a:r>
            <a:r>
              <a:rPr lang="en-US" altLang="zh-TW" sz="2400"/>
              <a:t> is at the root and </a:t>
            </a:r>
            <a:r>
              <a:rPr lang="en-US" altLang="zh-CN" sz="2400"/>
              <a:t>h</a:t>
            </a:r>
            <a:r>
              <a:rPr lang="en-US" altLang="zh-TW" sz="2400"/>
              <a:t>as no parent.</a:t>
            </a:r>
          </a:p>
          <a:p>
            <a:pPr lvl="1" eaLnBrk="1" hangingPunct="1">
              <a:lnSpc>
                <a:spcPct val="90000"/>
              </a:lnSpc>
            </a:pPr>
            <a:endParaRPr lang="en-US" altLang="zh-CN" sz="2400"/>
          </a:p>
          <a:p>
            <a:pPr lvl="1" eaLnBrk="1" hangingPunct="1">
              <a:lnSpc>
                <a:spcPct val="90000"/>
              </a:lnSpc>
            </a:pPr>
            <a:endParaRPr lang="en-US" altLang="zh-CN" sz="2400"/>
          </a:p>
          <a:p>
            <a:pPr eaLnBrk="1" hangingPunct="1">
              <a:lnSpc>
                <a:spcPct val="90000"/>
              </a:lnSpc>
            </a:pPr>
            <a:endParaRPr lang="en-US" altLang="zh-CN" sz="2800"/>
          </a:p>
        </p:txBody>
      </p:sp>
      <p:sp>
        <p:nvSpPr>
          <p:cNvPr id="24580" name="Rectangle 4"/>
          <p:cNvSpPr>
            <a:spLocks noChangeArrowheads="1"/>
          </p:cNvSpPr>
          <p:nvPr/>
        </p:nvSpPr>
        <p:spPr bwMode="auto">
          <a:xfrm>
            <a:off x="2853968" y="4108688"/>
            <a:ext cx="679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TW" dirty="0"/>
              <a:t> </a:t>
            </a:r>
            <a:r>
              <a:rPr lang="en-US" altLang="zh-TW" sz="2400" i="1" dirty="0" err="1">
                <a:solidFill>
                  <a:srgbClr val="CC3300"/>
                </a:solidFill>
              </a:rPr>
              <a:t>i</a:t>
            </a:r>
            <a:r>
              <a:rPr lang="en-US" altLang="zh-TW" sz="2400" dirty="0">
                <a:solidFill>
                  <a:srgbClr val="CC3300"/>
                </a:solidFill>
              </a:rPr>
              <a:t>/2</a:t>
            </a:r>
            <a:endParaRPr lang="en-US" altLang="zh-CN" sz="2400" dirty="0">
              <a:solidFill>
                <a:srgbClr val="CC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7" dur="500"/>
                                        <p:tgtEl>
                                          <p:spTgt spid="24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22" dur="500"/>
                                        <p:tgtEl>
                                          <p:spTgt spid="245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7" dur="500"/>
                                        <p:tgtEl>
                                          <p:spTgt spid="2457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32" dur="500"/>
                                        <p:tgtEl>
                                          <p:spTgt spid="2457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37" dur="500"/>
                                        <p:tgtEl>
                                          <p:spTgt spid="2457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4580"/>
                                        </p:tgtEl>
                                        <p:attrNameLst>
                                          <p:attrName>style.visibility</p:attrName>
                                        </p:attrNameLst>
                                      </p:cBhvr>
                                      <p:to>
                                        <p:strVal val="visible"/>
                                      </p:to>
                                    </p:set>
                                    <p:animEffect transition="in" filter="blinds(horizontal)">
                                      <p:cBhvr>
                                        <p:cTn id="42" dur="500"/>
                                        <p:tgtEl>
                                          <p:spTgt spid="24580"/>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4579">
                                            <p:txEl>
                                              <p:pRg st="7" end="7"/>
                                            </p:txEl>
                                          </p:spTgt>
                                        </p:tgtEl>
                                        <p:attrNameLst>
                                          <p:attrName>style.visibility</p:attrName>
                                        </p:attrNameLst>
                                      </p:cBhvr>
                                      <p:to>
                                        <p:strVal val="visible"/>
                                      </p:to>
                                    </p:set>
                                    <p:animEffect transition="in" filter="blinds(horizontal)">
                                      <p:cBhvr>
                                        <p:cTn id="47" dur="500"/>
                                        <p:tgtEl>
                                          <p:spTgt spid="245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Given a complete binary tree with 2000 nodes, there are totally _______degree 2 nodes on the tree.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500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1000</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1001</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999</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3" name="文本框 22"/>
          <p:cNvSpPr txBox="1"/>
          <p:nvPr>
            <p:custDataLst>
              <p:tags r:id="rId13"/>
            </p:custDataLst>
          </p:nvPr>
        </p:nvSpPr>
        <p:spPr>
          <a:xfrm>
            <a:off x="9613900" y="6326832"/>
            <a:ext cx="3662680" cy="461665"/>
          </a:xfrm>
          <a:prstGeom prst="rect">
            <a:avLst/>
          </a:prstGeom>
          <a:solidFill>
            <a:srgbClr val="FBFAEF"/>
          </a:solidFill>
          <a:ln w="12700">
            <a:noFill/>
          </a:ln>
        </p:spPr>
        <p:txBody>
          <a:bodyPr vert="horz" rtlCol="0" anchor="ctr">
            <a:sp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可为此题添加文本、图片、公式等解析，且需将内容全部放在本区域内。</a:t>
            </a:r>
          </a:p>
        </p:txBody>
      </p:sp>
      <p:grpSp>
        <p:nvGrpSpPr>
          <p:cNvPr id="22" name="组合 21"/>
          <p:cNvGrpSpPr/>
          <p:nvPr>
            <p:custDataLst>
              <p:tags r:id="rId14"/>
            </p:custDataLst>
          </p:nvPr>
        </p:nvGrpSpPr>
        <p:grpSpPr>
          <a:xfrm>
            <a:off x="9537700" y="0"/>
            <a:ext cx="3815080" cy="647700"/>
            <a:chOff x="9537700" y="0"/>
            <a:chExt cx="3815080" cy="647700"/>
          </a:xfrm>
        </p:grpSpPr>
        <p:sp>
          <p:nvSpPr>
            <p:cNvPr id="19" name="RemarkBack"/>
            <p:cNvSpPr/>
            <p:nvPr>
              <p:custDataLst>
                <p:tags r:id="rId22"/>
              </p:custDataLst>
            </p:nvPr>
          </p:nvSpPr>
          <p:spPr>
            <a:xfrm>
              <a:off x="9537700" y="12700"/>
              <a:ext cx="381508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markBlock"/>
            <p:cNvSpPr/>
            <p:nvPr>
              <p:custDataLst>
                <p:tags r:id="rId23"/>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TitleText"/>
            <p:cNvSpPr txBox="1"/>
            <p:nvPr>
              <p:custDataLst>
                <p:tags r:id="rId24"/>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charset="-122"/>
                  <a:ea typeface="微软雅黑" panose="020B0503020204020204" charset="-122"/>
                  <a:sym typeface="微软雅黑" panose="020B0503020204020204" charset="-122"/>
                </a:rPr>
                <a:t>答案解析</a:t>
              </a:r>
            </a:p>
          </p:txBody>
        </p:sp>
      </p:grpSp>
      <p:sp>
        <p:nvSpPr>
          <p:cNvPr id="26" name="文本框 25"/>
          <p:cNvSpPr txBox="1"/>
          <p:nvPr>
            <p:custDataLst>
              <p:tags r:id="rId15"/>
            </p:custDataLst>
          </p:nvPr>
        </p:nvSpPr>
        <p:spPr>
          <a:xfrm>
            <a:off x="9779000" y="1270000"/>
            <a:ext cx="3332480" cy="2554545"/>
          </a:xfrm>
          <a:prstGeom prst="rect">
            <a:avLst/>
          </a:prstGeom>
          <a:noFill/>
        </p:spPr>
        <p:txBody>
          <a:bodyPr vert="horz" rtlCol="0" anchor="t" anchorCtr="0">
            <a:spAutoFit/>
          </a:bodyPr>
          <a:lstStyle/>
          <a:p>
            <a:r>
              <a:rPr lang="en-US" altLang="zh-CN" sz="2000">
                <a:solidFill>
                  <a:srgbClr val="000000"/>
                </a:solidFill>
                <a:latin typeface="微软雅黑" panose="020B0503020204020204" charset="-122"/>
                <a:ea typeface="微软雅黑" panose="020B0503020204020204" charset="-122"/>
                <a:sym typeface="微软雅黑" panose="020B0503020204020204" charset="-122"/>
              </a:rPr>
              <a:t>A complete binary can have at most 1 one-degree node. If total number of node is even, there is 1 one-degree node. If total number of node is odd, there is no one-degree node.</a:t>
            </a:r>
            <a:endParaRPr lang="zh-CN" altLang="en-US" sz="2000">
              <a:solidFill>
                <a:srgbClr val="000000"/>
              </a:solidFill>
              <a:latin typeface="微软雅黑" panose="020B0503020204020204" charset="-122"/>
              <a:ea typeface="微软雅黑" panose="020B0503020204020204" charset="-122"/>
              <a:sym typeface="微软雅黑" panose="020B0503020204020204" charset="-122"/>
            </a:endParaRPr>
          </a:p>
        </p:txBody>
      </p:sp>
      <p:grpSp>
        <p:nvGrpSpPr>
          <p:cNvPr id="18" name="组合 17"/>
          <p:cNvGrpSpPr/>
          <p:nvPr>
            <p:custDataLst>
              <p:tags r:id="rId16"/>
            </p:custDataLst>
          </p:nvPr>
        </p:nvGrpSpPr>
        <p:grpSpPr>
          <a:xfrm>
            <a:off x="0" y="0"/>
            <a:ext cx="9144000" cy="635000"/>
            <a:chOff x="0" y="0"/>
            <a:chExt cx="9144000" cy="635000"/>
          </a:xfrm>
        </p:grpSpPr>
        <p:sp>
          <p:nvSpPr>
            <p:cNvPr id="14" name="TitleBackground"/>
            <p:cNvSpPr/>
            <p:nvPr>
              <p:custDataLst>
                <p:tags r:id="rId18"/>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9"/>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20"/>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21"/>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7"/>
            </p:custDataLst>
          </p:nvPr>
        </p:nvPicPr>
        <p:blipFill>
          <a:blip r:embed="rId2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23850" y="361950"/>
            <a:ext cx="8839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altLang="zh-TW" sz="4400" dirty="0"/>
              <a:t>Linked List Representation</a:t>
            </a:r>
          </a:p>
        </p:txBody>
      </p:sp>
      <p:sp>
        <p:nvSpPr>
          <p:cNvPr id="21507" name="Rectangle 3"/>
          <p:cNvSpPr>
            <a:spLocks noChangeArrowheads="1"/>
          </p:cNvSpPr>
          <p:nvPr/>
        </p:nvSpPr>
        <p:spPr bwMode="auto">
          <a:xfrm>
            <a:off x="857250" y="1409700"/>
            <a:ext cx="7315200" cy="238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hangingPunct="1">
              <a:spcBef>
                <a:spcPct val="20000"/>
              </a:spcBef>
            </a:pPr>
            <a:r>
              <a:rPr lang="en-US" altLang="zh-CN" sz="2400" b="1">
                <a:latin typeface="Times New Roman" panose="02020603050405020304" pitchFamily="18" charset="0"/>
              </a:rPr>
              <a:t>typedef struct TreeNode *PtrToNode;</a:t>
            </a:r>
          </a:p>
          <a:p>
            <a:pPr marL="342900" indent="-342900" eaLnBrk="1" hangingPunct="1">
              <a:spcBef>
                <a:spcPct val="20000"/>
              </a:spcBef>
            </a:pPr>
            <a:r>
              <a:rPr lang="en-US" altLang="zh-CN" sz="2400" b="1">
                <a:latin typeface="Times New Roman" panose="02020603050405020304" pitchFamily="18" charset="0"/>
              </a:rPr>
              <a:t>typedef struct PtrToNode Tree;</a:t>
            </a:r>
          </a:p>
          <a:p>
            <a:pPr marL="342900" indent="-342900" eaLnBrk="1" hangingPunct="1">
              <a:spcBef>
                <a:spcPct val="20000"/>
              </a:spcBef>
            </a:pPr>
            <a:endParaRPr lang="en-US" altLang="zh-CN" sz="2400" b="1">
              <a:latin typeface="Times New Roman" panose="02020603050405020304" pitchFamily="18" charset="0"/>
            </a:endParaRPr>
          </a:p>
          <a:p>
            <a:pPr marL="342900" indent="-342900" eaLnBrk="1" hangingPunct="1">
              <a:spcBef>
                <a:spcPct val="20000"/>
              </a:spcBef>
            </a:pPr>
            <a:r>
              <a:rPr lang="en-US" altLang="zh-TW" sz="2400" b="1">
                <a:latin typeface="Times New Roman" panose="02020603050405020304" pitchFamily="18" charset="0"/>
              </a:rPr>
              <a:t>typedef struct </a:t>
            </a:r>
            <a:r>
              <a:rPr lang="en-US" altLang="zh-CN" sz="2400" b="1">
                <a:latin typeface="Times New Roman" panose="02020603050405020304" pitchFamily="18" charset="0"/>
              </a:rPr>
              <a:t>TreeN</a:t>
            </a:r>
            <a:r>
              <a:rPr lang="en-US" altLang="zh-TW" sz="2400" b="1">
                <a:latin typeface="Times New Roman" panose="02020603050405020304" pitchFamily="18" charset="0"/>
              </a:rPr>
              <a:t>ode </a:t>
            </a:r>
            <a:endParaRPr lang="en-US" altLang="zh-CN" sz="2400" b="1">
              <a:latin typeface="Times New Roman" panose="02020603050405020304" pitchFamily="18" charset="0"/>
            </a:endParaRPr>
          </a:p>
          <a:p>
            <a:pPr marL="342900" indent="-342900" eaLnBrk="1" hangingPunct="1">
              <a:spcBef>
                <a:spcPct val="20000"/>
              </a:spcBef>
            </a:pPr>
            <a:r>
              <a:rPr lang="en-US" altLang="zh-TW" sz="2400" b="1">
                <a:latin typeface="Times New Roman" panose="02020603050405020304" pitchFamily="18" charset="0"/>
              </a:rPr>
              <a:t>{</a:t>
            </a:r>
          </a:p>
          <a:p>
            <a:pPr marL="342900" indent="-342900" eaLnBrk="1" hangingPunct="1">
              <a:spcBef>
                <a:spcPct val="20000"/>
              </a:spcBef>
            </a:pPr>
            <a:r>
              <a:rPr lang="en-US" altLang="zh-TW" sz="2400" b="1">
                <a:latin typeface="Times New Roman" panose="02020603050405020304" pitchFamily="18" charset="0"/>
              </a:rPr>
              <a:t> </a:t>
            </a:r>
            <a:r>
              <a:rPr lang="en-US" altLang="zh-CN" sz="2400" b="1">
                <a:latin typeface="Times New Roman" panose="02020603050405020304" pitchFamily="18" charset="0"/>
              </a:rPr>
              <a:t>ElemType</a:t>
            </a:r>
            <a:r>
              <a:rPr lang="en-US" altLang="zh-TW" sz="2400" b="1">
                <a:latin typeface="Times New Roman" panose="02020603050405020304" pitchFamily="18" charset="0"/>
              </a:rPr>
              <a:t> </a:t>
            </a:r>
            <a:r>
              <a:rPr lang="en-US" altLang="zh-CN" sz="2400" b="1">
                <a:latin typeface="Times New Roman" panose="02020603050405020304" pitchFamily="18" charset="0"/>
              </a:rPr>
              <a:t>data</a:t>
            </a:r>
            <a:r>
              <a:rPr lang="en-US" altLang="zh-TW" sz="2400" b="1">
                <a:latin typeface="Times New Roman" panose="02020603050405020304" pitchFamily="18" charset="0"/>
              </a:rPr>
              <a:t>;</a:t>
            </a:r>
          </a:p>
          <a:p>
            <a:pPr marL="342900" indent="-342900" eaLnBrk="1" hangingPunct="1">
              <a:spcBef>
                <a:spcPct val="20000"/>
              </a:spcBef>
            </a:pPr>
            <a:r>
              <a:rPr lang="en-US" altLang="zh-TW" sz="2400" b="1">
                <a:latin typeface="Times New Roman" panose="02020603050405020304" pitchFamily="18" charset="0"/>
              </a:rPr>
              <a:t> </a:t>
            </a:r>
            <a:r>
              <a:rPr lang="en-US" altLang="zh-CN" sz="2400" b="1">
                <a:latin typeface="Times New Roman" panose="02020603050405020304" pitchFamily="18" charset="0"/>
              </a:rPr>
              <a:t>PtrToNode</a:t>
            </a:r>
            <a:r>
              <a:rPr lang="en-US" altLang="zh-TW" sz="2400" b="1">
                <a:latin typeface="Times New Roman" panose="02020603050405020304" pitchFamily="18" charset="0"/>
              </a:rPr>
              <a:t> left,</a:t>
            </a:r>
            <a:r>
              <a:rPr lang="en-US" altLang="zh-CN" sz="2400" b="1">
                <a:latin typeface="Times New Roman" panose="02020603050405020304" pitchFamily="18" charset="0"/>
              </a:rPr>
              <a:t> </a:t>
            </a:r>
            <a:r>
              <a:rPr lang="en-US" altLang="zh-TW" sz="2400" b="1">
                <a:latin typeface="Times New Roman" panose="02020603050405020304" pitchFamily="18" charset="0"/>
              </a:rPr>
              <a:t>right;</a:t>
            </a:r>
          </a:p>
          <a:p>
            <a:pPr marL="342900" indent="-342900" eaLnBrk="1" hangingPunct="1">
              <a:spcBef>
                <a:spcPct val="20000"/>
              </a:spcBef>
            </a:pPr>
            <a:r>
              <a:rPr lang="en-US" altLang="zh-TW" sz="2400" b="1">
                <a:latin typeface="Times New Roman" panose="02020603050405020304" pitchFamily="18" charset="0"/>
              </a:rPr>
              <a:t>};</a:t>
            </a:r>
            <a:endParaRPr lang="en-US" altLang="zh-TW" sz="2400">
              <a:latin typeface="Times New Roman" panose="02020603050405020304" pitchFamily="18" charset="0"/>
            </a:endParaRPr>
          </a:p>
          <a:p>
            <a:pPr marL="342900" indent="-342900" eaLnBrk="1" hangingPunct="1">
              <a:spcBef>
                <a:spcPct val="20000"/>
              </a:spcBef>
            </a:pPr>
            <a:endParaRPr lang="zh-TW" altLang="en-US" sz="2400">
              <a:latin typeface="Times New Roman" panose="02020603050405020304" pitchFamily="18" charset="0"/>
            </a:endParaRPr>
          </a:p>
        </p:txBody>
      </p:sp>
      <p:sp>
        <p:nvSpPr>
          <p:cNvPr id="21508" name="Rectangle 4"/>
          <p:cNvSpPr>
            <a:spLocks noChangeArrowheads="1"/>
          </p:cNvSpPr>
          <p:nvPr/>
        </p:nvSpPr>
        <p:spPr bwMode="auto">
          <a:xfrm>
            <a:off x="1130300" y="5397500"/>
            <a:ext cx="4105275" cy="819150"/>
          </a:xfrm>
          <a:prstGeom prst="rect">
            <a:avLst/>
          </a:prstGeom>
          <a:noFill/>
          <a:ln w="127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21509" name="Line 5"/>
          <p:cNvSpPr>
            <a:spLocks noChangeShapeType="1"/>
          </p:cNvSpPr>
          <p:nvPr/>
        </p:nvSpPr>
        <p:spPr bwMode="auto">
          <a:xfrm>
            <a:off x="2605088" y="5408613"/>
            <a:ext cx="0" cy="8159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0" name="Line 6"/>
          <p:cNvSpPr>
            <a:spLocks noChangeShapeType="1"/>
          </p:cNvSpPr>
          <p:nvPr/>
        </p:nvSpPr>
        <p:spPr bwMode="auto">
          <a:xfrm>
            <a:off x="3573463" y="5408613"/>
            <a:ext cx="0" cy="7985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1" name="Rectangle 7"/>
          <p:cNvSpPr>
            <a:spLocks noChangeArrowheads="1"/>
          </p:cNvSpPr>
          <p:nvPr/>
        </p:nvSpPr>
        <p:spPr bwMode="auto">
          <a:xfrm>
            <a:off x="2733675" y="5667375"/>
            <a:ext cx="690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kumimoji="1" lang="en-US" altLang="zh-TW" sz="2400">
                <a:latin typeface="Times New Roman" panose="02020603050405020304" pitchFamily="18" charset="0"/>
                <a:ea typeface="PMingLiU" panose="02020500000000000000" pitchFamily="18" charset="-120"/>
              </a:rPr>
              <a:t>data</a:t>
            </a:r>
          </a:p>
        </p:txBody>
      </p:sp>
      <p:sp>
        <p:nvSpPr>
          <p:cNvPr id="21512" name="Rectangle 8"/>
          <p:cNvSpPr>
            <a:spLocks noChangeArrowheads="1"/>
          </p:cNvSpPr>
          <p:nvPr/>
        </p:nvSpPr>
        <p:spPr bwMode="auto">
          <a:xfrm>
            <a:off x="1547813" y="5668963"/>
            <a:ext cx="5889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kumimoji="1" lang="en-US" altLang="zh-TW" sz="2400">
                <a:latin typeface="Times New Roman" panose="02020603050405020304" pitchFamily="18" charset="0"/>
                <a:ea typeface="PMingLiU" panose="02020500000000000000" pitchFamily="18" charset="-120"/>
              </a:rPr>
              <a:t>left</a:t>
            </a:r>
          </a:p>
        </p:txBody>
      </p:sp>
      <p:sp>
        <p:nvSpPr>
          <p:cNvPr id="21513" name="Rectangle 9"/>
          <p:cNvSpPr>
            <a:spLocks noChangeArrowheads="1"/>
          </p:cNvSpPr>
          <p:nvPr/>
        </p:nvSpPr>
        <p:spPr bwMode="auto">
          <a:xfrm>
            <a:off x="4029075" y="5651500"/>
            <a:ext cx="75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kumimoji="1" lang="en-US" altLang="zh-TW" sz="2400">
                <a:latin typeface="Times New Roman" panose="02020603050405020304" pitchFamily="18" charset="0"/>
                <a:ea typeface="PMingLiU" panose="02020500000000000000" pitchFamily="18" charset="-120"/>
              </a:rPr>
              <a:t>right</a:t>
            </a:r>
          </a:p>
        </p:txBody>
      </p:sp>
      <p:sp>
        <p:nvSpPr>
          <p:cNvPr id="21514" name="Oval 10"/>
          <p:cNvSpPr>
            <a:spLocks noChangeArrowheads="1"/>
          </p:cNvSpPr>
          <p:nvPr/>
        </p:nvSpPr>
        <p:spPr bwMode="auto">
          <a:xfrm>
            <a:off x="7008813" y="4811713"/>
            <a:ext cx="939800" cy="871537"/>
          </a:xfrm>
          <a:prstGeom prst="ellipse">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sp>
        <p:nvSpPr>
          <p:cNvPr id="21515" name="Rectangle 11"/>
          <p:cNvSpPr>
            <a:spLocks noChangeArrowheads="1"/>
          </p:cNvSpPr>
          <p:nvPr/>
        </p:nvSpPr>
        <p:spPr bwMode="auto">
          <a:xfrm>
            <a:off x="7131050" y="5048250"/>
            <a:ext cx="690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kumimoji="1" lang="en-US" altLang="zh-TW" sz="2400">
                <a:latin typeface="Times New Roman" panose="02020603050405020304" pitchFamily="18" charset="0"/>
                <a:ea typeface="PMingLiU" panose="02020500000000000000" pitchFamily="18" charset="-120"/>
              </a:rPr>
              <a:t>data</a:t>
            </a:r>
          </a:p>
        </p:txBody>
      </p:sp>
      <p:sp>
        <p:nvSpPr>
          <p:cNvPr id="21516" name="Line 12"/>
          <p:cNvSpPr>
            <a:spLocks noChangeShapeType="1"/>
          </p:cNvSpPr>
          <p:nvPr/>
        </p:nvSpPr>
        <p:spPr bwMode="auto">
          <a:xfrm flipH="1">
            <a:off x="6391275" y="5518150"/>
            <a:ext cx="679450" cy="68103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7" name="Line 13"/>
          <p:cNvSpPr>
            <a:spLocks noChangeShapeType="1"/>
          </p:cNvSpPr>
          <p:nvPr/>
        </p:nvSpPr>
        <p:spPr bwMode="auto">
          <a:xfrm>
            <a:off x="7854950" y="5535613"/>
            <a:ext cx="661988" cy="663575"/>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18" name="Rectangle 14"/>
          <p:cNvSpPr>
            <a:spLocks noChangeArrowheads="1"/>
          </p:cNvSpPr>
          <p:nvPr/>
        </p:nvSpPr>
        <p:spPr bwMode="auto">
          <a:xfrm>
            <a:off x="5940425" y="6172200"/>
            <a:ext cx="58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kumimoji="1" lang="en-US" altLang="zh-TW" sz="2400">
                <a:latin typeface="Times New Roman" panose="02020603050405020304" pitchFamily="18" charset="0"/>
                <a:ea typeface="PMingLiU" panose="02020500000000000000" pitchFamily="18" charset="-120"/>
              </a:rPr>
              <a:t>left</a:t>
            </a:r>
          </a:p>
        </p:txBody>
      </p:sp>
      <p:sp>
        <p:nvSpPr>
          <p:cNvPr id="21519" name="Rectangle 15"/>
          <p:cNvSpPr>
            <a:spLocks noChangeArrowheads="1"/>
          </p:cNvSpPr>
          <p:nvPr/>
        </p:nvSpPr>
        <p:spPr bwMode="auto">
          <a:xfrm>
            <a:off x="7956550" y="6100763"/>
            <a:ext cx="75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kumimoji="1" lang="en-US" altLang="zh-TW" sz="2400">
                <a:latin typeface="Times New Roman" panose="02020603050405020304" pitchFamily="18" charset="0"/>
                <a:ea typeface="PMingLiU" panose="02020500000000000000" pitchFamily="18" charset="-120"/>
              </a:rPr>
              <a:t>righ</a:t>
            </a:r>
            <a:r>
              <a:rPr kumimoji="1" lang="en-US" altLang="zh-CN" sz="2400">
                <a:latin typeface="Times New Roman" panose="02020603050405020304" pitchFamily="18" charset="0"/>
                <a:ea typeface="PMingLiU" panose="02020500000000000000" pitchFamily="18" charset="-120"/>
              </a:rPr>
              <a:t>t</a:t>
            </a:r>
            <a:endParaRPr kumimoji="1" lang="en-US" altLang="zh-TW" sz="2400">
              <a:latin typeface="Times New Roman" panose="02020603050405020304" pitchFamily="18" charset="0"/>
              <a:ea typeface="PMingLiU" panose="02020500000000000000" pitchFamily="18" charset="-12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23850" y="609600"/>
            <a:ext cx="8839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altLang="zh-TW" sz="4400"/>
              <a:t>Binary Tree Traversals</a:t>
            </a:r>
            <a:r>
              <a:rPr lang="zh-CN" altLang="en-US" sz="4400"/>
              <a:t>（遍历）</a:t>
            </a:r>
            <a:endParaRPr lang="zh-TW" altLang="en-US" sz="4400"/>
          </a:p>
        </p:txBody>
      </p:sp>
      <p:sp>
        <p:nvSpPr>
          <p:cNvPr id="24579" name="Rectangle 3"/>
          <p:cNvSpPr>
            <a:spLocks noChangeArrowheads="1"/>
          </p:cNvSpPr>
          <p:nvPr/>
        </p:nvSpPr>
        <p:spPr bwMode="auto">
          <a:xfrm>
            <a:off x="468313" y="1844675"/>
            <a:ext cx="7853362"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hangingPunct="1">
              <a:spcBef>
                <a:spcPct val="20000"/>
              </a:spcBef>
              <a:buFontTx/>
              <a:buChar char="•"/>
            </a:pPr>
            <a:r>
              <a:rPr lang="en-US" altLang="zh-CN" sz="2400" b="1" i="1" dirty="0">
                <a:solidFill>
                  <a:schemeClr val="hlink"/>
                </a:solidFill>
              </a:rPr>
              <a:t>Traverse </a:t>
            </a:r>
            <a:r>
              <a:rPr lang="en-US" altLang="zh-CN" sz="2400" dirty="0">
                <a:solidFill>
                  <a:schemeClr val="hlink"/>
                </a:solidFill>
              </a:rPr>
              <a:t>the tree</a:t>
            </a:r>
            <a:r>
              <a:rPr lang="en-US" altLang="zh-CN" sz="2400" dirty="0"/>
              <a:t>: visit each node exactly once</a:t>
            </a:r>
          </a:p>
          <a:p>
            <a:pPr marL="742950" lvl="1" indent="-285750" eaLnBrk="1" hangingPunct="1">
              <a:spcBef>
                <a:spcPct val="20000"/>
              </a:spcBef>
              <a:buFontTx/>
              <a:buChar char="–"/>
            </a:pPr>
            <a:r>
              <a:rPr lang="en-US" altLang="zh-CN" sz="2400" dirty="0"/>
              <a:t>P</a:t>
            </a:r>
            <a:r>
              <a:rPr lang="en-US" altLang="zh-TW" sz="2400" dirty="0"/>
              <a:t>reorder </a:t>
            </a:r>
            <a:r>
              <a:rPr lang="en-US" altLang="zh-CN" sz="2400" dirty="0"/>
              <a:t>traversal</a:t>
            </a:r>
          </a:p>
          <a:p>
            <a:pPr marL="742950" lvl="1" indent="-285750" eaLnBrk="1" hangingPunct="1">
              <a:spcBef>
                <a:spcPct val="20000"/>
              </a:spcBef>
              <a:buFontTx/>
              <a:buChar char="–"/>
            </a:pPr>
            <a:r>
              <a:rPr lang="en-US" altLang="zh-TW" sz="2400" dirty="0" err="1"/>
              <a:t>Inorder</a:t>
            </a:r>
            <a:r>
              <a:rPr lang="en-US" altLang="zh-CN" sz="2400" dirty="0"/>
              <a:t> traversal</a:t>
            </a:r>
          </a:p>
          <a:p>
            <a:pPr marL="742950" lvl="1" indent="-285750" eaLnBrk="1" hangingPunct="1">
              <a:spcBef>
                <a:spcPct val="20000"/>
              </a:spcBef>
              <a:buFontTx/>
              <a:buChar char="–"/>
            </a:pPr>
            <a:r>
              <a:rPr lang="en-US" altLang="zh-TW" sz="2400" dirty="0" err="1"/>
              <a:t>Postorder</a:t>
            </a:r>
            <a:r>
              <a:rPr lang="en-US" altLang="zh-CN" sz="2400" dirty="0"/>
              <a:t> traversal</a:t>
            </a:r>
          </a:p>
          <a:p>
            <a:pPr marL="742950" lvl="1" indent="-285750" eaLnBrk="1" hangingPunct="1">
              <a:spcBef>
                <a:spcPct val="20000"/>
              </a:spcBef>
              <a:buFontTx/>
              <a:buChar char="–"/>
            </a:pPr>
            <a:r>
              <a:rPr lang="en-US" altLang="zh-CN" sz="2400" dirty="0" err="1"/>
              <a:t>Levelorder</a:t>
            </a:r>
            <a:r>
              <a:rPr lang="en-US" altLang="zh-CN" sz="2400" dirty="0"/>
              <a:t> traversal</a:t>
            </a:r>
          </a:p>
          <a:p>
            <a:pPr marL="742950" lvl="1" indent="-285750" eaLnBrk="1" hangingPunct="1">
              <a:spcBef>
                <a:spcPct val="20000"/>
              </a:spcBef>
              <a:buFontTx/>
              <a:buChar char="–"/>
            </a:pPr>
            <a:endParaRPr lang="en-US" altLang="zh-CN" sz="2400" dirty="0"/>
          </a:p>
          <a:p>
            <a:pPr lvl="1" eaLnBrk="1" hangingPunct="1">
              <a:spcBef>
                <a:spcPct val="20000"/>
              </a:spcBef>
            </a:pPr>
            <a:endParaRPr lang="en-US" altLang="zh-CN" sz="2400" dirty="0"/>
          </a:p>
          <a:p>
            <a:pPr marL="742950" lvl="1" indent="-285750" eaLnBrk="1" hangingPunct="1">
              <a:spcBef>
                <a:spcPct val="20000"/>
              </a:spcBef>
              <a:buFontTx/>
              <a:buChar char="–"/>
            </a:pPr>
            <a:endParaRPr lang="en-US" altLang="zh-TW"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250825" y="609600"/>
            <a:ext cx="89122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altLang="zh-TW" sz="4400"/>
              <a:t>Preorder Traversal</a:t>
            </a:r>
            <a:r>
              <a:rPr lang="en-US" altLang="zh-TW" sz="2400"/>
              <a:t> (</a:t>
            </a:r>
            <a:r>
              <a:rPr lang="en-US" altLang="zh-TW" sz="2400">
                <a:solidFill>
                  <a:schemeClr val="tx2"/>
                </a:solidFill>
              </a:rPr>
              <a:t>recursive version</a:t>
            </a:r>
            <a:r>
              <a:rPr lang="en-US" altLang="zh-TW" sz="2400"/>
              <a:t>)</a:t>
            </a:r>
            <a:endParaRPr lang="en-US" altLang="zh-TW" sz="4400"/>
          </a:p>
        </p:txBody>
      </p:sp>
      <p:sp>
        <p:nvSpPr>
          <p:cNvPr id="27651" name="Rectangle 3"/>
          <p:cNvSpPr>
            <a:spLocks noChangeArrowheads="1"/>
          </p:cNvSpPr>
          <p:nvPr/>
        </p:nvSpPr>
        <p:spPr bwMode="auto">
          <a:xfrm>
            <a:off x="971550" y="1981200"/>
            <a:ext cx="91630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hangingPunct="1">
              <a:spcBef>
                <a:spcPct val="20000"/>
              </a:spcBef>
            </a:pPr>
            <a:r>
              <a:rPr lang="en-US" altLang="zh-TW" sz="2800" b="1">
                <a:latin typeface="Times New Roman" panose="02020603050405020304" pitchFamily="18" charset="0"/>
              </a:rPr>
              <a:t>void preorder(</a:t>
            </a:r>
            <a:r>
              <a:rPr lang="en-US" altLang="zh-CN" sz="2800" b="1">
                <a:latin typeface="Times New Roman" panose="02020603050405020304" pitchFamily="18" charset="0"/>
              </a:rPr>
              <a:t>T</a:t>
            </a:r>
            <a:r>
              <a:rPr lang="en-US" altLang="zh-TW" sz="2800" b="1">
                <a:latin typeface="Times New Roman" panose="02020603050405020304" pitchFamily="18" charset="0"/>
              </a:rPr>
              <a:t>ree ptr)</a:t>
            </a:r>
          </a:p>
          <a:p>
            <a:pPr marL="342900" indent="-342900" eaLnBrk="1" hangingPunct="1">
              <a:spcBef>
                <a:spcPct val="20000"/>
              </a:spcBef>
            </a:pPr>
            <a:r>
              <a:rPr lang="en-US" altLang="zh-TW" sz="2800" b="1">
                <a:latin typeface="Times New Roman" panose="02020603050405020304" pitchFamily="18" charset="0"/>
              </a:rPr>
              <a:t>/* preorder tree traversal */</a:t>
            </a:r>
          </a:p>
          <a:p>
            <a:pPr marL="342900" indent="-342900" eaLnBrk="1" hangingPunct="1">
              <a:spcBef>
                <a:spcPct val="20000"/>
              </a:spcBef>
            </a:pPr>
            <a:r>
              <a:rPr lang="en-US" altLang="zh-TW" sz="2800" b="1">
                <a:latin typeface="Times New Roman" panose="02020603050405020304" pitchFamily="18" charset="0"/>
              </a:rPr>
              <a:t>{</a:t>
            </a:r>
          </a:p>
          <a:p>
            <a:pPr marL="342900" indent="-342900" eaLnBrk="1" hangingPunct="1">
              <a:spcBef>
                <a:spcPct val="20000"/>
              </a:spcBef>
            </a:pPr>
            <a:r>
              <a:rPr lang="en-US" altLang="zh-TW" sz="2800" b="1">
                <a:latin typeface="Times New Roman" panose="02020603050405020304" pitchFamily="18" charset="0"/>
              </a:rPr>
              <a:t>    if (ptr) {</a:t>
            </a:r>
          </a:p>
          <a:p>
            <a:pPr marL="342900" indent="-342900" eaLnBrk="1" hangingPunct="1">
              <a:spcBef>
                <a:spcPct val="20000"/>
              </a:spcBef>
            </a:pPr>
            <a:r>
              <a:rPr lang="en-US" altLang="zh-TW" sz="2800" b="1">
                <a:latin typeface="Times New Roman" panose="02020603050405020304" pitchFamily="18" charset="0"/>
              </a:rPr>
              <a:t>        printf(“%d”, ptr-&gt;data);</a:t>
            </a:r>
          </a:p>
          <a:p>
            <a:pPr marL="342900" indent="-342900" eaLnBrk="1" hangingPunct="1">
              <a:spcBef>
                <a:spcPct val="20000"/>
              </a:spcBef>
            </a:pPr>
            <a:r>
              <a:rPr lang="en-US" altLang="zh-TW" sz="2800" b="1">
                <a:latin typeface="Times New Roman" panose="02020603050405020304" pitchFamily="18" charset="0"/>
              </a:rPr>
              <a:t>        preorder(ptr-&gt;left);</a:t>
            </a:r>
          </a:p>
          <a:p>
            <a:pPr marL="342900" indent="-342900" eaLnBrk="1" hangingPunct="1">
              <a:spcBef>
                <a:spcPct val="20000"/>
              </a:spcBef>
            </a:pPr>
            <a:r>
              <a:rPr lang="en-US" altLang="zh-TW" sz="2800" b="1">
                <a:latin typeface="Times New Roman" panose="02020603050405020304" pitchFamily="18" charset="0"/>
              </a:rPr>
              <a:t>        predorder(ptr-&gt;right);</a:t>
            </a:r>
          </a:p>
          <a:p>
            <a:pPr marL="342900" indent="-342900" eaLnBrk="1" hangingPunct="1">
              <a:spcBef>
                <a:spcPct val="20000"/>
              </a:spcBef>
            </a:pPr>
            <a:r>
              <a:rPr lang="en-US" altLang="zh-TW" sz="2800" b="1">
                <a:latin typeface="Times New Roman" panose="02020603050405020304" pitchFamily="18" charset="0"/>
              </a:rPr>
              <a:t>    }</a:t>
            </a:r>
          </a:p>
          <a:p>
            <a:pPr marL="342900" indent="-342900" eaLnBrk="1" hangingPunct="1">
              <a:spcBef>
                <a:spcPct val="20000"/>
              </a:spcBef>
            </a:pPr>
            <a:r>
              <a:rPr lang="en-US" altLang="zh-TW" sz="2800" b="1">
                <a:latin typeface="Times New Roman" panose="02020603050405020304" pitchFamily="18"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79388" y="609600"/>
            <a:ext cx="898366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altLang="zh-TW" sz="4400"/>
              <a:t>Inorder Traversal </a:t>
            </a:r>
            <a:r>
              <a:rPr lang="en-US" altLang="zh-TW" sz="2400"/>
              <a:t>(</a:t>
            </a:r>
            <a:r>
              <a:rPr lang="en-US" altLang="zh-TW" sz="2400">
                <a:solidFill>
                  <a:schemeClr val="tx2"/>
                </a:solidFill>
              </a:rPr>
              <a:t>recursive version</a:t>
            </a:r>
            <a:r>
              <a:rPr lang="en-US" altLang="zh-TW" sz="2400"/>
              <a:t>)</a:t>
            </a:r>
            <a:endParaRPr lang="en-US" altLang="zh-TW" sz="4400"/>
          </a:p>
        </p:txBody>
      </p:sp>
      <p:sp>
        <p:nvSpPr>
          <p:cNvPr id="32771" name="Rectangle 3"/>
          <p:cNvSpPr>
            <a:spLocks noChangeArrowheads="1"/>
          </p:cNvSpPr>
          <p:nvPr/>
        </p:nvSpPr>
        <p:spPr bwMode="auto">
          <a:xfrm>
            <a:off x="990600" y="2019300"/>
            <a:ext cx="91630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hangingPunct="1">
              <a:spcBef>
                <a:spcPct val="20000"/>
              </a:spcBef>
            </a:pPr>
            <a:r>
              <a:rPr lang="en-US" altLang="zh-TW" sz="2800" b="1">
                <a:latin typeface="Times New Roman" panose="02020603050405020304" pitchFamily="18" charset="0"/>
              </a:rPr>
              <a:t>void inorder(</a:t>
            </a:r>
            <a:r>
              <a:rPr lang="en-US" altLang="zh-CN" sz="2800" b="1">
                <a:latin typeface="Times New Roman" panose="02020603050405020304" pitchFamily="18" charset="0"/>
              </a:rPr>
              <a:t>Tree</a:t>
            </a:r>
            <a:r>
              <a:rPr lang="en-US" altLang="zh-TW" sz="2800" b="1">
                <a:latin typeface="Times New Roman" panose="02020603050405020304" pitchFamily="18" charset="0"/>
              </a:rPr>
              <a:t> ptr)</a:t>
            </a:r>
          </a:p>
          <a:p>
            <a:pPr marL="342900" indent="-342900" eaLnBrk="1" hangingPunct="1">
              <a:spcBef>
                <a:spcPct val="20000"/>
              </a:spcBef>
            </a:pPr>
            <a:r>
              <a:rPr lang="en-US" altLang="zh-TW" sz="2800" b="1">
                <a:latin typeface="Times New Roman" panose="02020603050405020304" pitchFamily="18" charset="0"/>
              </a:rPr>
              <a:t>/* inorder tree traversal */</a:t>
            </a:r>
          </a:p>
          <a:p>
            <a:pPr marL="342900" indent="-342900" eaLnBrk="1" hangingPunct="1">
              <a:spcBef>
                <a:spcPct val="20000"/>
              </a:spcBef>
            </a:pPr>
            <a:r>
              <a:rPr lang="en-US" altLang="zh-TW" sz="2800" b="1">
                <a:latin typeface="Times New Roman" panose="02020603050405020304" pitchFamily="18" charset="0"/>
              </a:rPr>
              <a:t>{</a:t>
            </a:r>
          </a:p>
          <a:p>
            <a:pPr marL="342900" indent="-342900" eaLnBrk="1" hangingPunct="1">
              <a:spcBef>
                <a:spcPct val="20000"/>
              </a:spcBef>
            </a:pPr>
            <a:r>
              <a:rPr lang="en-US" altLang="zh-TW" sz="2800" b="1">
                <a:latin typeface="Times New Roman" panose="02020603050405020304" pitchFamily="18" charset="0"/>
              </a:rPr>
              <a:t>    if (ptr) {</a:t>
            </a:r>
          </a:p>
          <a:p>
            <a:pPr marL="342900" indent="-342900" eaLnBrk="1" hangingPunct="1">
              <a:spcBef>
                <a:spcPct val="20000"/>
              </a:spcBef>
            </a:pPr>
            <a:r>
              <a:rPr lang="en-US" altLang="zh-TW" sz="2800" b="1">
                <a:latin typeface="Times New Roman" panose="02020603050405020304" pitchFamily="18" charset="0"/>
              </a:rPr>
              <a:t>        inorder(ptr-&gt;left);</a:t>
            </a:r>
          </a:p>
          <a:p>
            <a:pPr marL="342900" indent="-342900" eaLnBrk="1" hangingPunct="1">
              <a:spcBef>
                <a:spcPct val="20000"/>
              </a:spcBef>
            </a:pPr>
            <a:r>
              <a:rPr lang="en-US" altLang="zh-TW" sz="2800" b="1">
                <a:latin typeface="Times New Roman" panose="02020603050405020304" pitchFamily="18" charset="0"/>
              </a:rPr>
              <a:t>        printf(“%d”, ptr-&gt;data);</a:t>
            </a:r>
          </a:p>
          <a:p>
            <a:pPr marL="342900" indent="-342900" eaLnBrk="1" hangingPunct="1">
              <a:spcBef>
                <a:spcPct val="20000"/>
              </a:spcBef>
            </a:pPr>
            <a:r>
              <a:rPr lang="en-US" altLang="zh-TW" sz="2800" b="1">
                <a:latin typeface="Times New Roman" panose="02020603050405020304" pitchFamily="18" charset="0"/>
              </a:rPr>
              <a:t>        indorder(ptr-&gt;right);</a:t>
            </a:r>
          </a:p>
          <a:p>
            <a:pPr marL="342900" indent="-342900" eaLnBrk="1" hangingPunct="1">
              <a:spcBef>
                <a:spcPct val="20000"/>
              </a:spcBef>
            </a:pPr>
            <a:r>
              <a:rPr lang="en-US" altLang="zh-TW" sz="2800" b="1">
                <a:latin typeface="Times New Roman" panose="02020603050405020304" pitchFamily="18" charset="0"/>
              </a:rPr>
              <a:t>    }</a:t>
            </a:r>
          </a:p>
          <a:p>
            <a:pPr marL="342900" indent="-342900" eaLnBrk="1" hangingPunct="1">
              <a:spcBef>
                <a:spcPct val="20000"/>
              </a:spcBef>
            </a:pPr>
            <a:r>
              <a:rPr lang="en-US" altLang="zh-TW" sz="2800" b="1">
                <a:latin typeface="Times New Roman" panose="02020603050405020304" pitchFamily="18" charset="0"/>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250825" y="609600"/>
            <a:ext cx="89122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altLang="zh-TW" sz="4400" dirty="0" err="1"/>
              <a:t>Postorder</a:t>
            </a:r>
            <a:r>
              <a:rPr lang="en-US" altLang="zh-TW" sz="4400" dirty="0"/>
              <a:t> Traversal</a:t>
            </a:r>
            <a:r>
              <a:rPr lang="en-US" altLang="zh-TW" sz="2400" dirty="0"/>
              <a:t> (recursive version)</a:t>
            </a:r>
            <a:endParaRPr lang="en-US" altLang="zh-TW" sz="4400" dirty="0"/>
          </a:p>
        </p:txBody>
      </p:sp>
      <p:sp>
        <p:nvSpPr>
          <p:cNvPr id="36867" name="Rectangle 3"/>
          <p:cNvSpPr>
            <a:spLocks noChangeArrowheads="1"/>
          </p:cNvSpPr>
          <p:nvPr/>
        </p:nvSpPr>
        <p:spPr bwMode="auto">
          <a:xfrm>
            <a:off x="1047750" y="1981200"/>
            <a:ext cx="91630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marL="342900" indent="-342900" eaLnBrk="1" hangingPunct="1">
              <a:spcBef>
                <a:spcPct val="20000"/>
              </a:spcBef>
            </a:pPr>
            <a:r>
              <a:rPr lang="en-US" altLang="zh-TW" sz="2800" b="1">
                <a:latin typeface="Times New Roman" panose="02020603050405020304" pitchFamily="18" charset="0"/>
              </a:rPr>
              <a:t>void postorder(</a:t>
            </a:r>
            <a:r>
              <a:rPr lang="en-US" altLang="zh-CN" sz="2800" b="1">
                <a:latin typeface="Times New Roman" panose="02020603050405020304" pitchFamily="18" charset="0"/>
              </a:rPr>
              <a:t>T</a:t>
            </a:r>
            <a:r>
              <a:rPr lang="en-US" altLang="zh-TW" sz="2800" b="1">
                <a:latin typeface="Times New Roman" panose="02020603050405020304" pitchFamily="18" charset="0"/>
              </a:rPr>
              <a:t>ree ptr)</a:t>
            </a:r>
          </a:p>
          <a:p>
            <a:pPr marL="342900" indent="-342900" eaLnBrk="1" hangingPunct="1">
              <a:spcBef>
                <a:spcPct val="20000"/>
              </a:spcBef>
            </a:pPr>
            <a:r>
              <a:rPr lang="en-US" altLang="zh-TW" sz="2800" b="1">
                <a:latin typeface="Times New Roman" panose="02020603050405020304" pitchFamily="18" charset="0"/>
              </a:rPr>
              <a:t>/* postorder tree traversal */</a:t>
            </a:r>
          </a:p>
          <a:p>
            <a:pPr marL="342900" indent="-342900" eaLnBrk="1" hangingPunct="1">
              <a:spcBef>
                <a:spcPct val="20000"/>
              </a:spcBef>
            </a:pPr>
            <a:r>
              <a:rPr lang="en-US" altLang="zh-TW" sz="2800" b="1">
                <a:latin typeface="Times New Roman" panose="02020603050405020304" pitchFamily="18" charset="0"/>
              </a:rPr>
              <a:t>{</a:t>
            </a:r>
          </a:p>
          <a:p>
            <a:pPr marL="342900" indent="-342900" eaLnBrk="1" hangingPunct="1">
              <a:spcBef>
                <a:spcPct val="20000"/>
              </a:spcBef>
            </a:pPr>
            <a:r>
              <a:rPr lang="en-US" altLang="zh-TW" sz="2800" b="1">
                <a:latin typeface="Times New Roman" panose="02020603050405020304" pitchFamily="18" charset="0"/>
              </a:rPr>
              <a:t>    if (ptr) {</a:t>
            </a:r>
          </a:p>
          <a:p>
            <a:pPr marL="342900" indent="-342900" eaLnBrk="1" hangingPunct="1">
              <a:spcBef>
                <a:spcPct val="20000"/>
              </a:spcBef>
            </a:pPr>
            <a:r>
              <a:rPr lang="en-US" altLang="zh-TW" sz="2800" b="1">
                <a:latin typeface="Times New Roman" panose="02020603050405020304" pitchFamily="18" charset="0"/>
              </a:rPr>
              <a:t>        postorder(ptr-&gt;left);</a:t>
            </a:r>
          </a:p>
          <a:p>
            <a:pPr marL="342900" indent="-342900" eaLnBrk="1" hangingPunct="1">
              <a:spcBef>
                <a:spcPct val="20000"/>
              </a:spcBef>
            </a:pPr>
            <a:r>
              <a:rPr lang="en-US" altLang="zh-TW" sz="2800" b="1">
                <a:latin typeface="Times New Roman" panose="02020603050405020304" pitchFamily="18" charset="0"/>
              </a:rPr>
              <a:t>        postdorder(ptr-&gt;right);</a:t>
            </a:r>
          </a:p>
          <a:p>
            <a:pPr marL="342900" indent="-342900" eaLnBrk="1" hangingPunct="1">
              <a:spcBef>
                <a:spcPct val="20000"/>
              </a:spcBef>
            </a:pPr>
            <a:r>
              <a:rPr lang="en-US" altLang="zh-TW" sz="2800" b="1">
                <a:latin typeface="Times New Roman" panose="02020603050405020304" pitchFamily="18" charset="0"/>
              </a:rPr>
              <a:t>        printf(“%d”, ptr-&gt;data);</a:t>
            </a:r>
          </a:p>
          <a:p>
            <a:pPr marL="342900" indent="-342900" eaLnBrk="1" hangingPunct="1">
              <a:spcBef>
                <a:spcPct val="20000"/>
              </a:spcBef>
            </a:pPr>
            <a:r>
              <a:rPr lang="en-US" altLang="zh-TW" sz="2800" b="1">
                <a:latin typeface="Times New Roman" panose="02020603050405020304" pitchFamily="18" charset="0"/>
              </a:rPr>
              <a:t>    }</a:t>
            </a:r>
          </a:p>
          <a:p>
            <a:pPr marL="342900" indent="-342900" eaLnBrk="1" hangingPunct="1">
              <a:spcBef>
                <a:spcPct val="20000"/>
              </a:spcBef>
            </a:pPr>
            <a:r>
              <a:rPr lang="en-US" altLang="zh-TW" sz="2800" b="1">
                <a:latin typeface="Times New Roman" panose="02020603050405020304" pitchFamily="18"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95536" y="1479215"/>
            <a:ext cx="9163050" cy="3899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90000"/>
              </a:lnSpc>
              <a:buFontTx/>
              <a:buNone/>
            </a:pPr>
            <a:r>
              <a:rPr lang="en-US" altLang="zh-TW" sz="2000" dirty="0">
                <a:latin typeface="Times New Roman" panose="02020603050405020304" pitchFamily="18" charset="0"/>
              </a:rPr>
              <a:t>void </a:t>
            </a:r>
            <a:r>
              <a:rPr lang="en-US" altLang="zh-TW" sz="2000" dirty="0" err="1">
                <a:latin typeface="Times New Roman" panose="02020603050405020304" pitchFamily="18" charset="0"/>
              </a:rPr>
              <a:t>level_order</a:t>
            </a:r>
            <a:r>
              <a:rPr lang="en-US" altLang="zh-TW" sz="2000" dirty="0">
                <a:latin typeface="Times New Roman" panose="02020603050405020304" pitchFamily="18" charset="0"/>
              </a:rPr>
              <a:t>(</a:t>
            </a:r>
            <a:r>
              <a:rPr lang="en-US" altLang="zh-CN" sz="2000" dirty="0">
                <a:latin typeface="Times New Roman" panose="02020603050405020304" pitchFamily="18" charset="0"/>
              </a:rPr>
              <a:t>Tree</a:t>
            </a:r>
            <a:r>
              <a:rPr lang="en-US" altLang="zh-TW" sz="2000" dirty="0">
                <a:latin typeface="Times New Roman" panose="02020603050405020304" pitchFamily="18" charset="0"/>
              </a:rPr>
              <a:t>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a:t>
            </a:r>
          </a:p>
          <a:p>
            <a:pPr eaLnBrk="1" hangingPunct="1">
              <a:lnSpc>
                <a:spcPct val="90000"/>
              </a:lnSpc>
              <a:buFontTx/>
              <a:buNone/>
            </a:pPr>
            <a:r>
              <a:rPr lang="en-US" altLang="zh-TW" sz="2000" dirty="0">
                <a:latin typeface="Times New Roman" panose="02020603050405020304" pitchFamily="18" charset="0"/>
              </a:rPr>
              <a:t>{</a:t>
            </a:r>
            <a:r>
              <a:rPr lang="en-US" altLang="zh-TW" sz="2000" dirty="0" err="1">
                <a:latin typeface="Times New Roman" panose="02020603050405020304" pitchFamily="18" charset="0"/>
              </a:rPr>
              <a:t>int</a:t>
            </a:r>
            <a:r>
              <a:rPr lang="en-US" altLang="zh-TW" sz="2000" dirty="0">
                <a:latin typeface="Times New Roman" panose="02020603050405020304" pitchFamily="18" charset="0"/>
              </a:rPr>
              <a:t> front= 0</a:t>
            </a:r>
            <a:r>
              <a:rPr lang="en-US" altLang="zh-CN" sz="2000" dirty="0">
                <a:latin typeface="Times New Roman" panose="02020603050405020304" pitchFamily="18" charset="0"/>
              </a:rPr>
              <a:t>, rear=-1</a:t>
            </a:r>
            <a:r>
              <a:rPr lang="en-US" altLang="zh-TW" sz="2000" dirty="0">
                <a:latin typeface="Times New Roman" panose="02020603050405020304" pitchFamily="18" charset="0"/>
              </a:rPr>
              <a:t>;</a:t>
            </a:r>
          </a:p>
          <a:p>
            <a:pPr eaLnBrk="1" hangingPunct="1">
              <a:lnSpc>
                <a:spcPct val="90000"/>
              </a:lnSpc>
              <a:buFontTx/>
              <a:buNone/>
            </a:pPr>
            <a:r>
              <a:rPr lang="en-US" altLang="zh-TW" sz="2000" dirty="0">
                <a:latin typeface="Times New Roman" panose="02020603050405020304" pitchFamily="18" charset="0"/>
              </a:rPr>
              <a:t>  </a:t>
            </a:r>
            <a:r>
              <a:rPr lang="en-US" altLang="zh-CN" sz="2000" dirty="0" err="1">
                <a:latin typeface="Times New Roman" panose="02020603050405020304" pitchFamily="18" charset="0"/>
              </a:rPr>
              <a:t>PtrToNode</a:t>
            </a:r>
            <a:r>
              <a:rPr lang="en-US" altLang="zh-TW" sz="2000" dirty="0">
                <a:latin typeface="Times New Roman" panose="02020603050405020304" pitchFamily="18" charset="0"/>
              </a:rPr>
              <a:t> </a:t>
            </a:r>
            <a:r>
              <a:rPr lang="en-US" altLang="zh-CN" sz="2000" dirty="0">
                <a:latin typeface="Times New Roman" panose="02020603050405020304" pitchFamily="18" charset="0"/>
              </a:rPr>
              <a:t>Q</a:t>
            </a:r>
            <a:r>
              <a:rPr lang="en-US" altLang="zh-TW" sz="2000" dirty="0">
                <a:latin typeface="Times New Roman" panose="02020603050405020304" pitchFamily="18" charset="0"/>
              </a:rPr>
              <a:t>ueue[MAX_QUEUE_SIZE];</a:t>
            </a:r>
          </a:p>
          <a:p>
            <a:pPr eaLnBrk="1" hangingPunct="1">
              <a:lnSpc>
                <a:spcPct val="90000"/>
              </a:lnSpc>
              <a:buFontTx/>
              <a:buNone/>
            </a:pPr>
            <a:r>
              <a:rPr lang="en-US" altLang="zh-TW" sz="2000" dirty="0">
                <a:latin typeface="Times New Roman" panose="02020603050405020304" pitchFamily="18" charset="0"/>
              </a:rPr>
              <a:t>  if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 return; </a:t>
            </a:r>
            <a:r>
              <a:rPr lang="en-US" altLang="zh-TW" sz="2000" dirty="0">
                <a:solidFill>
                  <a:srgbClr val="0066FF"/>
                </a:solidFill>
                <a:latin typeface="Times New Roman" panose="02020603050405020304" pitchFamily="18" charset="0"/>
              </a:rPr>
              <a:t>/* empty </a:t>
            </a:r>
            <a:r>
              <a:rPr lang="en-US" altLang="zh-CN" sz="2000" dirty="0">
                <a:solidFill>
                  <a:srgbClr val="0066FF"/>
                </a:solidFill>
                <a:latin typeface="Times New Roman" panose="02020603050405020304" pitchFamily="18" charset="0"/>
              </a:rPr>
              <a:t>tree</a:t>
            </a:r>
            <a:r>
              <a:rPr lang="en-US" altLang="zh-TW" sz="2000" dirty="0">
                <a:solidFill>
                  <a:srgbClr val="0066FF"/>
                </a:solidFill>
                <a:latin typeface="Times New Roman" panose="02020603050405020304" pitchFamily="18" charset="0"/>
              </a:rPr>
              <a:t> */</a:t>
            </a:r>
          </a:p>
          <a:p>
            <a:pPr eaLnBrk="1" hangingPunct="1">
              <a:lnSpc>
                <a:spcPct val="90000"/>
              </a:lnSpc>
              <a:buFontTx/>
              <a:buNone/>
            </a:pPr>
            <a:r>
              <a:rPr lang="en-US" altLang="zh-TW" sz="2000" dirty="0">
                <a:latin typeface="Times New Roman" panose="02020603050405020304" pitchFamily="18" charset="0"/>
              </a:rPr>
              <a:t>  </a:t>
            </a:r>
            <a:r>
              <a:rPr lang="en-US" altLang="zh-CN" sz="2000" dirty="0">
                <a:latin typeface="Times New Roman" panose="02020603050405020304" pitchFamily="18" charset="0"/>
              </a:rPr>
              <a:t>Queue[++</a:t>
            </a:r>
            <a:r>
              <a:rPr lang="en-US" altLang="zh-TW" sz="2000" dirty="0">
                <a:latin typeface="Times New Roman" panose="02020603050405020304" pitchFamily="18" charset="0"/>
              </a:rPr>
              <a:t>rear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ptr</a:t>
            </a:r>
            <a:r>
              <a:rPr lang="en-US" altLang="zh-CN" sz="2000" dirty="0">
                <a:latin typeface="Times New Roman" panose="02020603050405020304" pitchFamily="18" charset="0"/>
              </a:rPr>
              <a:t>;</a:t>
            </a:r>
            <a:endParaRPr lang="en-US" altLang="zh-TW" sz="2000" dirty="0">
              <a:latin typeface="Times New Roman" panose="02020603050405020304" pitchFamily="18" charset="0"/>
            </a:endParaRPr>
          </a:p>
          <a:p>
            <a:pPr>
              <a:lnSpc>
                <a:spcPct val="90000"/>
              </a:lnSpc>
              <a:buNone/>
            </a:pPr>
            <a:r>
              <a:rPr lang="en-US" altLang="zh-TW" sz="2800" dirty="0">
                <a:latin typeface="Times New Roman" panose="02020603050405020304" pitchFamily="18" charset="0"/>
              </a:rPr>
              <a:t> </a:t>
            </a:r>
            <a:r>
              <a:rPr lang="en-US" altLang="zh-TW" sz="2000" dirty="0">
                <a:latin typeface="Times New Roman" panose="02020603050405020304" pitchFamily="18" charset="0"/>
              </a:rPr>
              <a:t>for (;rear!=front-1;) {</a:t>
            </a:r>
          </a:p>
          <a:p>
            <a:pPr>
              <a:lnSpc>
                <a:spcPct val="90000"/>
              </a:lnSpc>
              <a:buNone/>
            </a:pPr>
            <a:r>
              <a:rPr lang="en-US" altLang="zh-TW" sz="2000" dirty="0">
                <a:latin typeface="Times New Roman" panose="02020603050405020304" pitchFamily="18" charset="0"/>
              </a:rPr>
              <a:t>    </a:t>
            </a:r>
            <a:r>
              <a:rPr lang="en-US" altLang="zh-CN" sz="2000" dirty="0">
                <a:latin typeface="Times New Roman" panose="02020603050405020304" pitchFamily="18" charset="0"/>
              </a:rPr>
              <a:t>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 = </a:t>
            </a:r>
            <a:r>
              <a:rPr lang="en-US" altLang="zh-CN" sz="2000" dirty="0">
                <a:latin typeface="Times New Roman" panose="02020603050405020304" pitchFamily="18" charset="0"/>
              </a:rPr>
              <a:t>Queue[</a:t>
            </a:r>
            <a:r>
              <a:rPr lang="en-US" altLang="zh-TW" sz="2000" dirty="0">
                <a:latin typeface="Times New Roman" panose="02020603050405020304" pitchFamily="18" charset="0"/>
              </a:rPr>
              <a:t>front</a:t>
            </a:r>
            <a:r>
              <a:rPr lang="en-US" altLang="zh-CN" sz="2000" dirty="0">
                <a:latin typeface="Times New Roman" panose="02020603050405020304" pitchFamily="18" charset="0"/>
              </a:rPr>
              <a:t>++]</a:t>
            </a:r>
            <a:r>
              <a:rPr lang="en-US" altLang="zh-TW" sz="2000" dirty="0">
                <a:latin typeface="Times New Roman" panose="02020603050405020304" pitchFamily="18" charset="0"/>
              </a:rPr>
              <a:t>;</a:t>
            </a:r>
            <a:r>
              <a:rPr lang="en-US" altLang="zh-CN" sz="2000" dirty="0">
                <a:latin typeface="Times New Roman" panose="02020603050405020304" pitchFamily="18" charset="0"/>
              </a:rPr>
              <a:t> </a:t>
            </a:r>
            <a:r>
              <a:rPr lang="zh-TW" altLang="en-US" sz="2000" dirty="0">
                <a:latin typeface="Courier New" panose="02070309020205020404" pitchFamily="49" charset="0"/>
              </a:rPr>
              <a:t> </a:t>
            </a:r>
            <a:endParaRPr lang="zh-TW" altLang="zh-CN" sz="2000" dirty="0">
              <a:latin typeface="Courier New" panose="02070309020205020404" pitchFamily="49" charset="0"/>
            </a:endParaRPr>
          </a:p>
          <a:p>
            <a:pPr>
              <a:lnSpc>
                <a:spcPct val="80000"/>
              </a:lnSpc>
              <a:buNone/>
            </a:pPr>
            <a:r>
              <a:rPr lang="en-US" altLang="zh-CN" sz="2000" dirty="0">
                <a:latin typeface="Times New Roman" panose="02020603050405020304" pitchFamily="18" charset="0"/>
              </a:rPr>
              <a:t>            </a:t>
            </a:r>
            <a:r>
              <a:rPr lang="en-US" altLang="zh-TW" sz="2000" dirty="0">
                <a:latin typeface="Times New Roman" panose="02020603050405020304" pitchFamily="18" charset="0"/>
              </a:rPr>
              <a:t>if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 {</a:t>
            </a:r>
          </a:p>
          <a:p>
            <a:pPr>
              <a:lnSpc>
                <a:spcPct val="90000"/>
              </a:lnSpc>
              <a:buNone/>
            </a:pPr>
            <a:r>
              <a:rPr lang="en-US" altLang="zh-TW" sz="2000" dirty="0">
                <a:latin typeface="Times New Roman" panose="02020603050405020304" pitchFamily="18" charset="0"/>
              </a:rPr>
              <a:t>      </a:t>
            </a:r>
            <a:r>
              <a:rPr lang="en-US" altLang="zh-CN" sz="2000" dirty="0">
                <a:latin typeface="Times New Roman" panose="02020603050405020304" pitchFamily="18" charset="0"/>
              </a:rPr>
              <a:t>           </a:t>
            </a:r>
            <a:r>
              <a:rPr lang="en-US" altLang="zh-TW" sz="2000" dirty="0" err="1">
                <a:latin typeface="Times New Roman" panose="02020603050405020304" pitchFamily="18" charset="0"/>
              </a:rPr>
              <a:t>printf</a:t>
            </a:r>
            <a:r>
              <a:rPr lang="en-US" altLang="zh-TW" sz="2000" dirty="0">
                <a:latin typeface="Times New Roman" panose="02020603050405020304" pitchFamily="18" charset="0"/>
              </a:rPr>
              <a:t>(“%d”,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-&gt;data);</a:t>
            </a:r>
          </a:p>
          <a:p>
            <a:pPr>
              <a:lnSpc>
                <a:spcPct val="80000"/>
              </a:lnSpc>
              <a:buNone/>
            </a:pPr>
            <a:r>
              <a:rPr lang="en-US" altLang="zh-TW" sz="2000" dirty="0">
                <a:latin typeface="Times New Roman" panose="02020603050405020304" pitchFamily="18" charset="0"/>
              </a:rPr>
              <a:t>      </a:t>
            </a:r>
            <a:r>
              <a:rPr lang="en-US" altLang="zh-CN" sz="2000" dirty="0">
                <a:latin typeface="Times New Roman" panose="02020603050405020304" pitchFamily="18" charset="0"/>
              </a:rPr>
              <a:t>           </a:t>
            </a:r>
            <a:r>
              <a:rPr lang="en-US" altLang="zh-TW" sz="2000" dirty="0">
                <a:latin typeface="Times New Roman" panose="02020603050405020304" pitchFamily="18" charset="0"/>
              </a:rPr>
              <a:t>if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-&gt;left)</a:t>
            </a:r>
          </a:p>
          <a:p>
            <a:pPr>
              <a:lnSpc>
                <a:spcPct val="80000"/>
              </a:lnSpc>
              <a:buNone/>
            </a:pPr>
            <a:r>
              <a:rPr lang="en-US" altLang="zh-CN" sz="2000" dirty="0">
                <a:latin typeface="Times New Roman" panose="02020603050405020304" pitchFamily="18" charset="0"/>
              </a:rPr>
              <a:t>                     Queue[++</a:t>
            </a:r>
            <a:r>
              <a:rPr lang="en-US" altLang="zh-TW" sz="2000" dirty="0">
                <a:latin typeface="Times New Roman" panose="02020603050405020304" pitchFamily="18" charset="0"/>
              </a:rPr>
              <a:t>rear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ptr</a:t>
            </a:r>
            <a:r>
              <a:rPr lang="en-US" altLang="zh-CN" sz="2000" dirty="0">
                <a:latin typeface="Times New Roman" panose="02020603050405020304" pitchFamily="18" charset="0"/>
              </a:rPr>
              <a:t>-&gt;left;</a:t>
            </a:r>
            <a:endParaRPr lang="en-US" altLang="zh-TW" sz="2000" dirty="0">
              <a:latin typeface="Times New Roman" panose="02020603050405020304" pitchFamily="18" charset="0"/>
            </a:endParaRPr>
          </a:p>
          <a:p>
            <a:pPr>
              <a:lnSpc>
                <a:spcPct val="80000"/>
              </a:lnSpc>
              <a:buNone/>
            </a:pPr>
            <a:r>
              <a:rPr lang="en-US" altLang="zh-TW" sz="2000" dirty="0">
                <a:latin typeface="Times New Roman" panose="02020603050405020304" pitchFamily="18" charset="0"/>
              </a:rPr>
              <a:t>      </a:t>
            </a:r>
            <a:r>
              <a:rPr lang="en-US" altLang="zh-CN" sz="2000" dirty="0">
                <a:latin typeface="Times New Roman" panose="02020603050405020304" pitchFamily="18" charset="0"/>
              </a:rPr>
              <a:t>          </a:t>
            </a:r>
            <a:r>
              <a:rPr lang="en-US" altLang="zh-TW" sz="2000" dirty="0">
                <a:latin typeface="Times New Roman" panose="02020603050405020304" pitchFamily="18" charset="0"/>
              </a:rPr>
              <a:t>if (</a:t>
            </a:r>
            <a:r>
              <a:rPr lang="en-US" altLang="zh-TW" sz="2000" dirty="0" err="1">
                <a:latin typeface="Times New Roman" panose="02020603050405020304" pitchFamily="18" charset="0"/>
              </a:rPr>
              <a:t>ptr</a:t>
            </a:r>
            <a:r>
              <a:rPr lang="en-US" altLang="zh-TW" sz="2000" dirty="0">
                <a:latin typeface="Times New Roman" panose="02020603050405020304" pitchFamily="18" charset="0"/>
              </a:rPr>
              <a:t>-&gt;right)</a:t>
            </a:r>
          </a:p>
          <a:p>
            <a:pPr>
              <a:lnSpc>
                <a:spcPct val="80000"/>
              </a:lnSpc>
              <a:buNone/>
            </a:pPr>
            <a:r>
              <a:rPr lang="en-US" altLang="zh-TW" sz="2000" dirty="0">
                <a:latin typeface="Times New Roman" panose="02020603050405020304" pitchFamily="18" charset="0"/>
              </a:rPr>
              <a:t> </a:t>
            </a:r>
            <a:r>
              <a:rPr lang="en-US" altLang="zh-CN" sz="2000" dirty="0">
                <a:latin typeface="Times New Roman" panose="02020603050405020304" pitchFamily="18" charset="0"/>
              </a:rPr>
              <a:t>                   Queue[++</a:t>
            </a:r>
            <a:r>
              <a:rPr lang="en-US" altLang="zh-TW" sz="2000" dirty="0">
                <a:latin typeface="Times New Roman" panose="02020603050405020304" pitchFamily="18" charset="0"/>
              </a:rPr>
              <a:t>rear</a:t>
            </a:r>
            <a:r>
              <a:rPr lang="en-US" altLang="zh-CN" sz="2000" dirty="0">
                <a:latin typeface="Times New Roman" panose="02020603050405020304" pitchFamily="18" charset="0"/>
              </a:rPr>
              <a:t>]=</a:t>
            </a:r>
            <a:r>
              <a:rPr lang="en-US" altLang="zh-CN" sz="2000" dirty="0" err="1">
                <a:latin typeface="Times New Roman" panose="02020603050405020304" pitchFamily="18" charset="0"/>
              </a:rPr>
              <a:t>ptr</a:t>
            </a:r>
            <a:r>
              <a:rPr lang="en-US" altLang="zh-CN" sz="2000" dirty="0">
                <a:latin typeface="Times New Roman" panose="02020603050405020304" pitchFamily="18" charset="0"/>
              </a:rPr>
              <a:t>-&gt;right;</a:t>
            </a:r>
            <a:endParaRPr lang="en-US" altLang="zh-TW" sz="2000" dirty="0">
              <a:latin typeface="Times New Roman" panose="02020603050405020304" pitchFamily="18" charset="0"/>
            </a:endParaRPr>
          </a:p>
          <a:p>
            <a:pPr>
              <a:lnSpc>
                <a:spcPct val="80000"/>
              </a:lnSpc>
              <a:buNone/>
            </a:pPr>
            <a:r>
              <a:rPr lang="en-US" altLang="zh-CN" sz="2000" dirty="0">
                <a:latin typeface="Times New Roman" panose="02020603050405020304" pitchFamily="18" charset="0"/>
              </a:rPr>
              <a:t>           </a:t>
            </a:r>
            <a:r>
              <a:rPr lang="en-US" altLang="zh-TW" sz="2000" dirty="0">
                <a:latin typeface="Times New Roman" panose="02020603050405020304" pitchFamily="18" charset="0"/>
              </a:rPr>
              <a:t>    </a:t>
            </a:r>
            <a:r>
              <a:rPr lang="en-US" altLang="zh-CN" sz="2000" dirty="0">
                <a:latin typeface="Times New Roman" panose="02020603050405020304" pitchFamily="18" charset="0"/>
              </a:rPr>
              <a:t> </a:t>
            </a:r>
            <a:r>
              <a:rPr lang="en-US" altLang="zh-TW" sz="2000" dirty="0">
                <a:latin typeface="Times New Roman" panose="02020603050405020304" pitchFamily="18" charset="0"/>
              </a:rPr>
              <a:t> else break;  </a:t>
            </a:r>
          </a:p>
          <a:p>
            <a:pPr>
              <a:lnSpc>
                <a:spcPct val="80000"/>
              </a:lnSpc>
              <a:buNone/>
            </a:pPr>
            <a:r>
              <a:rPr lang="en-US" altLang="zh-TW" sz="2000" dirty="0">
                <a:latin typeface="Times New Roman" panose="02020603050405020304" pitchFamily="18" charset="0"/>
              </a:rPr>
              <a:t>                        }</a:t>
            </a:r>
          </a:p>
          <a:p>
            <a:pPr>
              <a:lnSpc>
                <a:spcPct val="80000"/>
              </a:lnSpc>
              <a:buNone/>
            </a:pPr>
            <a:r>
              <a:rPr lang="en-US" altLang="zh-TW" sz="2000" dirty="0">
                <a:latin typeface="Times New Roman" panose="02020603050405020304" pitchFamily="18" charset="0"/>
              </a:rPr>
              <a:t>                   }</a:t>
            </a:r>
          </a:p>
        </p:txBody>
      </p:sp>
      <p:sp>
        <p:nvSpPr>
          <p:cNvPr id="3" name="Rectangle 2"/>
          <p:cNvSpPr>
            <a:spLocks noChangeArrowheads="1"/>
          </p:cNvSpPr>
          <p:nvPr/>
        </p:nvSpPr>
        <p:spPr bwMode="auto">
          <a:xfrm>
            <a:off x="323528" y="343665"/>
            <a:ext cx="89122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algn="ctr" eaLnBrk="1" hangingPunct="1"/>
            <a:r>
              <a:rPr lang="en-US" altLang="zh-TW" sz="4400" dirty="0"/>
              <a:t>Level order Traversal</a:t>
            </a:r>
            <a:r>
              <a:rPr lang="en-US" altLang="zh-TW" sz="2400" dirty="0"/>
              <a:t> </a:t>
            </a:r>
            <a:endParaRPr lang="en-US" altLang="zh-TW" sz="4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Suppose the preorder traversal of a binary tree is ABDEC and the </a:t>
            </a:r>
            <a:r>
              <a:rPr lang="en-US" altLang="zh-CN" sz="2600" dirty="0" err="1">
                <a:solidFill>
                  <a:srgbClr val="000000"/>
                </a:solidFill>
                <a:latin typeface="微软雅黑" panose="020B0503020204020204" charset="-122"/>
                <a:ea typeface="微软雅黑" panose="020B0503020204020204" charset="-122"/>
                <a:sym typeface="微软雅黑" panose="020B0503020204020204" charset="-122"/>
              </a:rPr>
              <a:t>inorder</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traversal is BDEAC, then the binary tree is ____</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 complete binary but not a full binary tree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Not a complete binary tree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 full binary tree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Can not determine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844550" y="269875"/>
            <a:ext cx="89836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r>
              <a:rPr lang="en-US" altLang="zh-TW" sz="4400"/>
              <a:t>Threaded Binary Trees</a:t>
            </a:r>
          </a:p>
        </p:txBody>
      </p:sp>
      <p:sp>
        <p:nvSpPr>
          <p:cNvPr id="21507" name="Rectangle 3"/>
          <p:cNvSpPr>
            <a:spLocks noChangeArrowheads="1"/>
          </p:cNvSpPr>
          <p:nvPr/>
        </p:nvSpPr>
        <p:spPr bwMode="auto">
          <a:xfrm>
            <a:off x="323850" y="1628775"/>
            <a:ext cx="648017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a:spcBef>
                <a:spcPct val="20000"/>
              </a:spcBef>
              <a:buFontTx/>
              <a:buChar char="•"/>
            </a:pPr>
            <a:r>
              <a:rPr lang="en-US" altLang="zh-TW" sz="2800"/>
              <a:t>T</a:t>
            </a:r>
            <a:r>
              <a:rPr lang="en-US" altLang="zh-CN" sz="2800"/>
              <a:t>o</a:t>
            </a:r>
            <a:r>
              <a:rPr lang="en-US" altLang="zh-TW" sz="2800"/>
              <a:t>o many null pointers in current</a:t>
            </a:r>
            <a:r>
              <a:rPr lang="en-US" altLang="zh-CN" sz="2800"/>
              <a:t> </a:t>
            </a:r>
            <a:r>
              <a:rPr lang="en-US" altLang="zh-TW" sz="2800"/>
              <a:t>representation</a:t>
            </a:r>
            <a:r>
              <a:rPr lang="en-US" altLang="zh-CN" sz="2800"/>
              <a:t> </a:t>
            </a:r>
            <a:r>
              <a:rPr lang="en-US" altLang="zh-TW" sz="2800"/>
              <a:t>of binary trees</a:t>
            </a:r>
            <a:br>
              <a:rPr lang="en-US" altLang="zh-TW" sz="2800"/>
            </a:br>
            <a:r>
              <a:rPr lang="en-US" altLang="zh-TW" sz="2800"/>
              <a:t>    </a:t>
            </a:r>
            <a:endParaRPr lang="en-US" altLang="zh-CN" sz="2800"/>
          </a:p>
          <a:p>
            <a:pPr marL="342900" indent="-342900">
              <a:spcBef>
                <a:spcPct val="20000"/>
              </a:spcBef>
              <a:buFontTx/>
              <a:buChar char="•"/>
            </a:pPr>
            <a:endParaRPr lang="en-US" altLang="zh-CN" sz="2800"/>
          </a:p>
          <a:p>
            <a:pPr marL="342900" indent="-342900">
              <a:spcBef>
                <a:spcPct val="20000"/>
              </a:spcBef>
              <a:buFontTx/>
              <a:buChar char="•"/>
            </a:pPr>
            <a:endParaRPr lang="en-US" altLang="zh-CN" sz="2800"/>
          </a:p>
          <a:p>
            <a:pPr marL="342900" indent="-342900">
              <a:spcBef>
                <a:spcPct val="20000"/>
              </a:spcBef>
              <a:buFontTx/>
              <a:buChar char="•"/>
            </a:pPr>
            <a:endParaRPr lang="en-US" altLang="zh-CN" sz="2800"/>
          </a:p>
          <a:p>
            <a:pPr marL="342900" indent="-342900">
              <a:spcBef>
                <a:spcPct val="20000"/>
              </a:spcBef>
              <a:buFontTx/>
              <a:buChar char="•"/>
            </a:pPr>
            <a:r>
              <a:rPr lang="en-US" altLang="zh-TW" sz="2800"/>
              <a:t>Replace these null pointers with some useful </a:t>
            </a:r>
            <a:r>
              <a:rPr lang="en-US" altLang="zh-TW" sz="2800">
                <a:latin typeface="Arial" panose="020B0604020202020204" pitchFamily="34" charset="0"/>
              </a:rPr>
              <a:t>“</a:t>
            </a:r>
            <a:r>
              <a:rPr lang="en-US" altLang="zh-TW" sz="2800"/>
              <a:t>threads</a:t>
            </a:r>
            <a:r>
              <a:rPr lang="en-US" altLang="zh-TW" sz="2800">
                <a:latin typeface="Arial" panose="020B0604020202020204" pitchFamily="34" charset="0"/>
              </a:rPr>
              <a:t>”</a:t>
            </a:r>
            <a:r>
              <a:rPr lang="en-US" altLang="zh-TW" sz="2800"/>
              <a:t>.</a:t>
            </a:r>
            <a:endParaRPr lang="en-US" altLang="zh-TW" sz="2800" i="1"/>
          </a:p>
        </p:txBody>
      </p:sp>
      <p:sp>
        <p:nvSpPr>
          <p:cNvPr id="21508" name="Rectangle 4"/>
          <p:cNvSpPr>
            <a:spLocks noChangeArrowheads="1"/>
          </p:cNvSpPr>
          <p:nvPr/>
        </p:nvSpPr>
        <p:spPr bwMode="auto">
          <a:xfrm>
            <a:off x="1125538" y="2668588"/>
            <a:ext cx="503078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en-US" altLang="zh-CN">
                <a:solidFill>
                  <a:srgbClr val="003399"/>
                </a:solidFill>
              </a:rPr>
              <a:t>     </a:t>
            </a:r>
            <a:r>
              <a:rPr lang="en-US" altLang="zh-TW" sz="2400">
                <a:solidFill>
                  <a:srgbClr val="003399"/>
                </a:solidFill>
              </a:rPr>
              <a:t>n: number of nodes</a:t>
            </a:r>
            <a:br>
              <a:rPr lang="en-US" altLang="zh-TW" sz="2400">
                <a:solidFill>
                  <a:srgbClr val="003399"/>
                </a:solidFill>
              </a:rPr>
            </a:br>
            <a:r>
              <a:rPr lang="en-US" altLang="zh-TW" sz="2400">
                <a:solidFill>
                  <a:srgbClr val="003399"/>
                </a:solidFill>
              </a:rPr>
              <a:t>    number of non-null links: </a:t>
            </a:r>
            <a:r>
              <a:rPr lang="en-US" altLang="zh-CN" sz="2400">
                <a:solidFill>
                  <a:srgbClr val="003399"/>
                </a:solidFill>
              </a:rPr>
              <a:t>n-1</a:t>
            </a:r>
            <a:br>
              <a:rPr lang="en-US" altLang="zh-TW" sz="2400">
                <a:solidFill>
                  <a:srgbClr val="003399"/>
                </a:solidFill>
              </a:rPr>
            </a:br>
            <a:r>
              <a:rPr lang="en-US" altLang="zh-TW" sz="2400">
                <a:solidFill>
                  <a:srgbClr val="003399"/>
                </a:solidFill>
              </a:rPr>
              <a:t>    total links: 2n</a:t>
            </a:r>
            <a:br>
              <a:rPr lang="en-US" altLang="zh-TW" sz="2400">
                <a:solidFill>
                  <a:srgbClr val="003399"/>
                </a:solidFill>
              </a:rPr>
            </a:br>
            <a:r>
              <a:rPr lang="en-US" altLang="zh-TW" sz="2400">
                <a:solidFill>
                  <a:srgbClr val="003399"/>
                </a:solidFill>
              </a:rPr>
              <a:t>    </a:t>
            </a:r>
            <a:r>
              <a:rPr lang="en-US" altLang="zh-TW" sz="2400">
                <a:solidFill>
                  <a:srgbClr val="CC3300"/>
                </a:solidFill>
              </a:rPr>
              <a:t>null links: 2n-(n-1)=n+1</a:t>
            </a:r>
          </a:p>
        </p:txBody>
      </p:sp>
      <p:grpSp>
        <p:nvGrpSpPr>
          <p:cNvPr id="19461" name="Group 5"/>
          <p:cNvGrpSpPr/>
          <p:nvPr/>
        </p:nvGrpSpPr>
        <p:grpSpPr bwMode="auto">
          <a:xfrm>
            <a:off x="5988050" y="2219325"/>
            <a:ext cx="2687638" cy="3081338"/>
            <a:chOff x="2973" y="1188"/>
            <a:chExt cx="1693" cy="1941"/>
          </a:xfrm>
        </p:grpSpPr>
        <p:grpSp>
          <p:nvGrpSpPr>
            <p:cNvPr id="19462" name="Group 6"/>
            <p:cNvGrpSpPr/>
            <p:nvPr/>
          </p:nvGrpSpPr>
          <p:grpSpPr bwMode="auto">
            <a:xfrm>
              <a:off x="3584" y="1318"/>
              <a:ext cx="589" cy="227"/>
              <a:chOff x="0" y="0"/>
              <a:chExt cx="589" cy="227"/>
            </a:xfrm>
          </p:grpSpPr>
          <p:sp>
            <p:nvSpPr>
              <p:cNvPr id="19495" name="Rectangle 7"/>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a  </a:t>
                </a:r>
                <a:r>
                  <a:rPr lang="en-US" altLang="zh-CN" sz="2400">
                    <a:latin typeface="Times New Roman" panose="02020603050405020304" pitchFamily="18" charset="0"/>
                    <a:ea typeface="Arial Unicode MS" pitchFamily="34" charset="-122"/>
                    <a:cs typeface="Arial Unicode MS" pitchFamily="34" charset="-122"/>
                  </a:rPr>
                  <a:t>⋀</a:t>
                </a:r>
              </a:p>
            </p:txBody>
          </p:sp>
          <p:sp>
            <p:nvSpPr>
              <p:cNvPr id="19496" name="Line 8"/>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97" name="Line 9"/>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463" name="Group 10"/>
            <p:cNvGrpSpPr/>
            <p:nvPr/>
          </p:nvGrpSpPr>
          <p:grpSpPr bwMode="auto">
            <a:xfrm>
              <a:off x="3261" y="1710"/>
              <a:ext cx="589" cy="227"/>
              <a:chOff x="0" y="0"/>
              <a:chExt cx="589" cy="227"/>
            </a:xfrm>
          </p:grpSpPr>
          <p:sp>
            <p:nvSpPr>
              <p:cNvPr id="19492" name="Rectangle 11"/>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b</a:t>
                </a:r>
                <a:endParaRPr lang="en-US" altLang="zh-CN" sz="2400">
                  <a:latin typeface="Times New Roman" panose="02020603050405020304" pitchFamily="18" charset="0"/>
                  <a:ea typeface="Arial Unicode MS" pitchFamily="34" charset="-122"/>
                  <a:cs typeface="Arial Unicode MS" pitchFamily="34" charset="-122"/>
                </a:endParaRPr>
              </a:p>
            </p:txBody>
          </p:sp>
          <p:sp>
            <p:nvSpPr>
              <p:cNvPr id="19493" name="Line 12"/>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94" name="Line 13"/>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464" name="Group 14"/>
            <p:cNvGrpSpPr/>
            <p:nvPr/>
          </p:nvGrpSpPr>
          <p:grpSpPr bwMode="auto">
            <a:xfrm>
              <a:off x="2973" y="2102"/>
              <a:ext cx="589" cy="227"/>
              <a:chOff x="0" y="0"/>
              <a:chExt cx="589" cy="227"/>
            </a:xfrm>
          </p:grpSpPr>
          <p:sp>
            <p:nvSpPr>
              <p:cNvPr id="19489" name="Rectangle 15"/>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c  </a:t>
                </a:r>
                <a:r>
                  <a:rPr lang="en-US" altLang="zh-CN" sz="2400">
                    <a:latin typeface="Times New Roman" panose="02020603050405020304" pitchFamily="18" charset="0"/>
                    <a:ea typeface="Arial Unicode MS" pitchFamily="34" charset="-122"/>
                    <a:cs typeface="Arial Unicode MS" pitchFamily="34" charset="-122"/>
                  </a:rPr>
                  <a:t>⋀</a:t>
                </a:r>
              </a:p>
            </p:txBody>
          </p:sp>
          <p:sp>
            <p:nvSpPr>
              <p:cNvPr id="19490" name="Line 16"/>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91" name="Line 17"/>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465" name="Group 18"/>
            <p:cNvGrpSpPr/>
            <p:nvPr/>
          </p:nvGrpSpPr>
          <p:grpSpPr bwMode="auto">
            <a:xfrm>
              <a:off x="3693" y="2110"/>
              <a:ext cx="589" cy="227"/>
              <a:chOff x="0" y="0"/>
              <a:chExt cx="589" cy="227"/>
            </a:xfrm>
          </p:grpSpPr>
          <p:sp>
            <p:nvSpPr>
              <p:cNvPr id="19486" name="Rectangle 19"/>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d</a:t>
                </a:r>
                <a:endParaRPr lang="en-US" altLang="zh-CN" sz="2400">
                  <a:latin typeface="Times New Roman" panose="02020603050405020304" pitchFamily="18" charset="0"/>
                  <a:ea typeface="Arial Unicode MS" pitchFamily="34" charset="-122"/>
                  <a:cs typeface="Arial Unicode MS" pitchFamily="34" charset="-122"/>
                </a:endParaRPr>
              </a:p>
            </p:txBody>
          </p:sp>
          <p:sp>
            <p:nvSpPr>
              <p:cNvPr id="19487" name="Line 20"/>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88" name="Line 21"/>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466" name="Group 22"/>
            <p:cNvGrpSpPr/>
            <p:nvPr/>
          </p:nvGrpSpPr>
          <p:grpSpPr bwMode="auto">
            <a:xfrm>
              <a:off x="3357" y="2518"/>
              <a:ext cx="589" cy="227"/>
              <a:chOff x="0" y="0"/>
              <a:chExt cx="589" cy="227"/>
            </a:xfrm>
          </p:grpSpPr>
          <p:sp>
            <p:nvSpPr>
              <p:cNvPr id="19483" name="Rectangle 23"/>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e</a:t>
                </a:r>
              </a:p>
            </p:txBody>
          </p:sp>
          <p:sp>
            <p:nvSpPr>
              <p:cNvPr id="19484" name="Line 24"/>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85" name="Line 25"/>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467" name="Group 26"/>
            <p:cNvGrpSpPr/>
            <p:nvPr/>
          </p:nvGrpSpPr>
          <p:grpSpPr bwMode="auto">
            <a:xfrm>
              <a:off x="3741" y="2902"/>
              <a:ext cx="589" cy="227"/>
              <a:chOff x="0" y="0"/>
              <a:chExt cx="589" cy="227"/>
            </a:xfrm>
          </p:grpSpPr>
          <p:sp>
            <p:nvSpPr>
              <p:cNvPr id="19480" name="Rectangle 27"/>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g  </a:t>
                </a:r>
                <a:r>
                  <a:rPr lang="en-US" altLang="zh-CN" sz="2400">
                    <a:latin typeface="Times New Roman" panose="02020603050405020304" pitchFamily="18" charset="0"/>
                    <a:ea typeface="Arial Unicode MS" pitchFamily="34" charset="-122"/>
                    <a:cs typeface="Arial Unicode MS" pitchFamily="34" charset="-122"/>
                  </a:rPr>
                  <a:t>⋀</a:t>
                </a:r>
              </a:p>
            </p:txBody>
          </p:sp>
          <p:sp>
            <p:nvSpPr>
              <p:cNvPr id="19481" name="Line 28"/>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82" name="Line 29"/>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9468" name="Group 30"/>
            <p:cNvGrpSpPr/>
            <p:nvPr/>
          </p:nvGrpSpPr>
          <p:grpSpPr bwMode="auto">
            <a:xfrm>
              <a:off x="4077" y="2515"/>
              <a:ext cx="589" cy="227"/>
              <a:chOff x="0" y="0"/>
              <a:chExt cx="589" cy="227"/>
            </a:xfrm>
          </p:grpSpPr>
          <p:sp>
            <p:nvSpPr>
              <p:cNvPr id="19477" name="Rectangle 31"/>
              <p:cNvSpPr>
                <a:spLocks noChangeArrowheads="1"/>
              </p:cNvSpPr>
              <p:nvPr/>
            </p:nvSpPr>
            <p:spPr bwMode="auto">
              <a:xfrm>
                <a:off x="0" y="0"/>
                <a:ext cx="589" cy="22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ea typeface="Arial Unicode MS" pitchFamily="34" charset="-122"/>
                    <a:cs typeface="Arial Unicode MS" pitchFamily="34" charset="-122"/>
                  </a:rPr>
                  <a:t>⋀ </a:t>
                </a:r>
                <a:r>
                  <a:rPr lang="en-US" altLang="zh-CN" sz="2400">
                    <a:latin typeface="Times New Roman" panose="02020603050405020304" pitchFamily="18" charset="0"/>
                  </a:rPr>
                  <a:t>f  </a:t>
                </a:r>
                <a:r>
                  <a:rPr lang="en-US" altLang="zh-CN" sz="2400">
                    <a:latin typeface="Times New Roman" panose="02020603050405020304" pitchFamily="18" charset="0"/>
                    <a:ea typeface="Arial Unicode MS" pitchFamily="34" charset="-122"/>
                    <a:cs typeface="Arial Unicode MS" pitchFamily="34" charset="-122"/>
                  </a:rPr>
                  <a:t>⋀</a:t>
                </a:r>
              </a:p>
            </p:txBody>
          </p:sp>
          <p:sp>
            <p:nvSpPr>
              <p:cNvPr id="19478" name="Line 32"/>
              <p:cNvSpPr>
                <a:spLocks noChangeShapeType="1"/>
              </p:cNvSpPr>
              <p:nvPr/>
            </p:nvSpPr>
            <p:spPr bwMode="auto">
              <a:xfrm>
                <a:off x="192"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19479" name="Line 33"/>
              <p:cNvSpPr>
                <a:spLocks noChangeShapeType="1"/>
              </p:cNvSpPr>
              <p:nvPr/>
            </p:nvSpPr>
            <p:spPr bwMode="auto">
              <a:xfrm>
                <a:off x="384" y="0"/>
                <a:ext cx="0" cy="2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19469" name="Line 34"/>
            <p:cNvSpPr>
              <a:spLocks noChangeShapeType="1"/>
            </p:cNvSpPr>
            <p:nvPr/>
          </p:nvSpPr>
          <p:spPr bwMode="auto">
            <a:xfrm flipH="1">
              <a:off x="3549" y="1454"/>
              <a:ext cx="136" cy="2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0" name="Line 35"/>
            <p:cNvSpPr>
              <a:spLocks noChangeShapeType="1"/>
            </p:cNvSpPr>
            <p:nvPr/>
          </p:nvSpPr>
          <p:spPr bwMode="auto">
            <a:xfrm flipH="1">
              <a:off x="3261" y="1853"/>
              <a:ext cx="136" cy="2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1" name="Line 36"/>
            <p:cNvSpPr>
              <a:spLocks noChangeShapeType="1"/>
            </p:cNvSpPr>
            <p:nvPr/>
          </p:nvSpPr>
          <p:spPr bwMode="auto">
            <a:xfrm>
              <a:off x="3749" y="1862"/>
              <a:ext cx="181" cy="2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2" name="Line 37"/>
            <p:cNvSpPr>
              <a:spLocks noChangeShapeType="1"/>
            </p:cNvSpPr>
            <p:nvPr/>
          </p:nvSpPr>
          <p:spPr bwMode="auto">
            <a:xfrm flipH="1">
              <a:off x="3656" y="2261"/>
              <a:ext cx="136" cy="2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3" name="Line 38"/>
            <p:cNvSpPr>
              <a:spLocks noChangeShapeType="1"/>
            </p:cNvSpPr>
            <p:nvPr/>
          </p:nvSpPr>
          <p:spPr bwMode="auto">
            <a:xfrm>
              <a:off x="4136" y="2270"/>
              <a:ext cx="181" cy="2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4" name="Line 39"/>
            <p:cNvSpPr>
              <a:spLocks noChangeShapeType="1"/>
            </p:cNvSpPr>
            <p:nvPr/>
          </p:nvSpPr>
          <p:spPr bwMode="auto">
            <a:xfrm>
              <a:off x="3837" y="2653"/>
              <a:ext cx="181" cy="249"/>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9475" name="Rectangle 40"/>
            <p:cNvSpPr>
              <a:spLocks noChangeArrowheads="1"/>
            </p:cNvSpPr>
            <p:nvPr/>
          </p:nvSpPr>
          <p:spPr bwMode="auto">
            <a:xfrm>
              <a:off x="3133" y="1188"/>
              <a:ext cx="22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a:latin typeface="Times New Roman" panose="02020603050405020304" pitchFamily="18" charset="0"/>
                </a:rPr>
                <a:t>T</a:t>
              </a:r>
            </a:p>
          </p:txBody>
        </p:sp>
        <p:sp>
          <p:nvSpPr>
            <p:cNvPr id="19476" name="Line 41"/>
            <p:cNvSpPr>
              <a:spLocks noChangeShapeType="1"/>
            </p:cNvSpPr>
            <p:nvPr/>
          </p:nvSpPr>
          <p:spPr bwMode="auto">
            <a:xfrm>
              <a:off x="3272" y="1434"/>
              <a:ext cx="288" cy="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blinds(horizontal)">
                                      <p:cBhvr>
                                        <p:cTn id="12" dur="500"/>
                                        <p:tgtEl>
                                          <p:spTgt spid="2150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17" dur="500"/>
                                        <p:tgtEl>
                                          <p:spTgt spid="215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5"/>
          <p:cNvGrpSpPr/>
          <p:nvPr/>
        </p:nvGrpSpPr>
        <p:grpSpPr bwMode="auto">
          <a:xfrm>
            <a:off x="1187450" y="1412776"/>
            <a:ext cx="6192838" cy="396875"/>
            <a:chOff x="340" y="2341"/>
            <a:chExt cx="3901" cy="250"/>
          </a:xfrm>
        </p:grpSpPr>
        <p:sp>
          <p:nvSpPr>
            <p:cNvPr id="21518" name="Rectangle 9"/>
            <p:cNvSpPr>
              <a:spLocks noChangeArrowheads="1"/>
            </p:cNvSpPr>
            <p:nvPr/>
          </p:nvSpPr>
          <p:spPr bwMode="auto">
            <a:xfrm>
              <a:off x="340" y="2341"/>
              <a:ext cx="3901" cy="2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r>
                <a:rPr lang="en-US" altLang="zh-CN" sz="2400">
                  <a:latin typeface="Times New Roman" panose="02020603050405020304" pitchFamily="18" charset="0"/>
                </a:rPr>
                <a:t>LeftThread    Left       data    Right   RightThread</a:t>
              </a:r>
            </a:p>
          </p:txBody>
        </p:sp>
        <p:sp>
          <p:nvSpPr>
            <p:cNvPr id="21519" name="Line 10"/>
            <p:cNvSpPr>
              <a:spLocks noChangeShapeType="1"/>
            </p:cNvSpPr>
            <p:nvPr/>
          </p:nvSpPr>
          <p:spPr bwMode="auto">
            <a:xfrm>
              <a:off x="1319" y="2341"/>
              <a:ext cx="0" cy="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1520" name="Line 11"/>
            <p:cNvSpPr>
              <a:spLocks noChangeShapeType="1"/>
            </p:cNvSpPr>
            <p:nvPr/>
          </p:nvSpPr>
          <p:spPr bwMode="auto">
            <a:xfrm>
              <a:off x="1927" y="2341"/>
              <a:ext cx="0" cy="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1521" name="Line 12"/>
            <p:cNvSpPr>
              <a:spLocks noChangeShapeType="1"/>
            </p:cNvSpPr>
            <p:nvPr/>
          </p:nvSpPr>
          <p:spPr bwMode="auto">
            <a:xfrm>
              <a:off x="2517" y="2341"/>
              <a:ext cx="0" cy="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21522" name="Line 13"/>
            <p:cNvSpPr>
              <a:spLocks noChangeShapeType="1"/>
            </p:cNvSpPr>
            <p:nvPr/>
          </p:nvSpPr>
          <p:spPr bwMode="auto">
            <a:xfrm>
              <a:off x="3152" y="2341"/>
              <a:ext cx="0" cy="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4" name="Group 26"/>
          <p:cNvGrpSpPr/>
          <p:nvPr/>
        </p:nvGrpSpPr>
        <p:grpSpPr bwMode="auto">
          <a:xfrm>
            <a:off x="1025854" y="3212976"/>
            <a:ext cx="6696075" cy="1438275"/>
            <a:chOff x="476" y="2932"/>
            <a:chExt cx="4445" cy="1178"/>
          </a:xfrm>
        </p:grpSpPr>
        <p:sp>
          <p:nvSpPr>
            <p:cNvPr id="21510" name="Rectangle 16"/>
            <p:cNvSpPr>
              <a:spLocks noChangeArrowheads="1"/>
            </p:cNvSpPr>
            <p:nvPr/>
          </p:nvSpPr>
          <p:spPr bwMode="auto">
            <a:xfrm>
              <a:off x="1945" y="2932"/>
              <a:ext cx="297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dirty="0">
                  <a:latin typeface="宋体" panose="02010600030101010101" pitchFamily="2" charset="-122"/>
                </a:rPr>
                <a:t>0</a:t>
              </a:r>
              <a:r>
                <a:rPr lang="zh-CN" altLang="en-US" sz="2400" dirty="0">
                  <a:latin typeface="Times New Roman" panose="02020603050405020304" pitchFamily="18" charset="0"/>
                </a:rPr>
                <a:t>：</a:t>
              </a:r>
              <a:r>
                <a:rPr lang="en-US" altLang="zh-CN" sz="2400" b="1" dirty="0">
                  <a:latin typeface="Times New Roman" panose="02020603050405020304" pitchFamily="18" charset="0"/>
                </a:rPr>
                <a:t>Left</a:t>
              </a:r>
              <a:r>
                <a:rPr lang="en-US" altLang="zh-CN" sz="2400" b="1" dirty="0">
                  <a:latin typeface="宋体" panose="02010600030101010101" pitchFamily="2" charset="-122"/>
                </a:rPr>
                <a:t> is a link</a:t>
              </a:r>
            </a:p>
          </p:txBody>
        </p:sp>
        <p:sp>
          <p:nvSpPr>
            <p:cNvPr id="21511" name="Rectangle 17"/>
            <p:cNvSpPr>
              <a:spLocks noChangeArrowheads="1"/>
            </p:cNvSpPr>
            <p:nvPr/>
          </p:nvSpPr>
          <p:spPr bwMode="auto">
            <a:xfrm>
              <a:off x="1945" y="3257"/>
              <a:ext cx="27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b="1">
                  <a:latin typeface="宋体" panose="02010600030101010101" pitchFamily="2" charset="-122"/>
                </a:rPr>
                <a:t>1</a:t>
              </a:r>
              <a:r>
                <a:rPr lang="zh-CN" altLang="en-US" sz="2400" b="1">
                  <a:latin typeface="Times New Roman" panose="02020603050405020304" pitchFamily="18" charset="0"/>
                </a:rPr>
                <a:t>：</a:t>
              </a:r>
              <a:r>
                <a:rPr lang="en-US" altLang="zh-CN" sz="2400" b="1">
                  <a:latin typeface="Times New Roman" panose="02020603050405020304" pitchFamily="18" charset="0"/>
                </a:rPr>
                <a:t>Left</a:t>
              </a:r>
              <a:r>
                <a:rPr lang="en-US" altLang="zh-CN" sz="2400" b="1">
                  <a:latin typeface="宋体" panose="02010600030101010101" pitchFamily="2" charset="-122"/>
                </a:rPr>
                <a:t> is a thread</a:t>
              </a:r>
            </a:p>
          </p:txBody>
        </p:sp>
        <p:sp>
          <p:nvSpPr>
            <p:cNvPr id="21512" name="Rectangle 18"/>
            <p:cNvSpPr>
              <a:spLocks noChangeArrowheads="1"/>
            </p:cNvSpPr>
            <p:nvPr/>
          </p:nvSpPr>
          <p:spPr bwMode="auto">
            <a:xfrm>
              <a:off x="485" y="3108"/>
              <a:ext cx="55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a:latin typeface="Times New Roman" panose="02020603050405020304" pitchFamily="18" charset="0"/>
                </a:rPr>
                <a:t>LeftThread=</a:t>
              </a:r>
            </a:p>
          </p:txBody>
        </p:sp>
        <p:sp>
          <p:nvSpPr>
            <p:cNvPr id="21513" name="AutoShape 19"/>
            <p:cNvSpPr/>
            <p:nvPr/>
          </p:nvSpPr>
          <p:spPr bwMode="auto">
            <a:xfrm>
              <a:off x="1793" y="3013"/>
              <a:ext cx="89" cy="422"/>
            </a:xfrm>
            <a:prstGeom prst="leftBrace">
              <a:avLst>
                <a:gd name="adj1" fmla="val 39513"/>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514" name="Rectangle 21"/>
            <p:cNvSpPr>
              <a:spLocks noChangeArrowheads="1"/>
            </p:cNvSpPr>
            <p:nvPr/>
          </p:nvSpPr>
          <p:spPr bwMode="auto">
            <a:xfrm>
              <a:off x="1945" y="3555"/>
              <a:ext cx="297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b="1">
                  <a:latin typeface="宋体" panose="02010600030101010101" pitchFamily="2" charset="-122"/>
                </a:rPr>
                <a:t>0</a:t>
              </a:r>
              <a:r>
                <a:rPr lang="zh-CN" altLang="en-US" sz="2400" b="1">
                  <a:latin typeface="Times New Roman" panose="02020603050405020304" pitchFamily="18" charset="0"/>
                </a:rPr>
                <a:t>：</a:t>
              </a:r>
              <a:r>
                <a:rPr lang="en-US" altLang="zh-CN" sz="2400" b="1">
                  <a:latin typeface="Times New Roman" panose="02020603050405020304" pitchFamily="18" charset="0"/>
                </a:rPr>
                <a:t>Rchild</a:t>
              </a:r>
              <a:r>
                <a:rPr lang="en-US" altLang="zh-CN" sz="2400" b="1">
                  <a:latin typeface="宋体" panose="02010600030101010101" pitchFamily="2" charset="-122"/>
                </a:rPr>
                <a:t> is a link</a:t>
              </a:r>
            </a:p>
          </p:txBody>
        </p:sp>
        <p:sp>
          <p:nvSpPr>
            <p:cNvPr id="21515" name="Rectangle 22"/>
            <p:cNvSpPr>
              <a:spLocks noChangeArrowheads="1"/>
            </p:cNvSpPr>
            <p:nvPr/>
          </p:nvSpPr>
          <p:spPr bwMode="auto">
            <a:xfrm>
              <a:off x="1945" y="3880"/>
              <a:ext cx="275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b="1">
                  <a:latin typeface="宋体" panose="02010600030101010101" pitchFamily="2" charset="-122"/>
                </a:rPr>
                <a:t>1</a:t>
              </a:r>
              <a:r>
                <a:rPr lang="zh-CN" altLang="en-US" sz="2400" b="1">
                  <a:latin typeface="Times New Roman" panose="02020603050405020304" pitchFamily="18" charset="0"/>
                </a:rPr>
                <a:t>：</a:t>
              </a:r>
              <a:r>
                <a:rPr lang="en-US" altLang="zh-CN" sz="2400" b="1">
                  <a:latin typeface="Times New Roman" panose="02020603050405020304" pitchFamily="18" charset="0"/>
                </a:rPr>
                <a:t>Rchild</a:t>
              </a:r>
              <a:r>
                <a:rPr lang="en-US" altLang="zh-CN" sz="2400" b="1">
                  <a:latin typeface="宋体" panose="02010600030101010101" pitchFamily="2" charset="-122"/>
                </a:rPr>
                <a:t> is a thread</a:t>
              </a:r>
            </a:p>
          </p:txBody>
        </p:sp>
        <p:sp>
          <p:nvSpPr>
            <p:cNvPr id="21516" name="Rectangle 23"/>
            <p:cNvSpPr>
              <a:spLocks noChangeArrowheads="1"/>
            </p:cNvSpPr>
            <p:nvPr/>
          </p:nvSpPr>
          <p:spPr bwMode="auto">
            <a:xfrm>
              <a:off x="476" y="3731"/>
              <a:ext cx="55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r>
                <a:rPr lang="en-US" altLang="zh-CN" sz="2400">
                  <a:latin typeface="Times New Roman" panose="02020603050405020304" pitchFamily="18" charset="0"/>
                </a:rPr>
                <a:t>RightThread=</a:t>
              </a:r>
            </a:p>
          </p:txBody>
        </p:sp>
        <p:sp>
          <p:nvSpPr>
            <p:cNvPr id="21517" name="AutoShape 24"/>
            <p:cNvSpPr/>
            <p:nvPr/>
          </p:nvSpPr>
          <p:spPr bwMode="auto">
            <a:xfrm>
              <a:off x="1793" y="3636"/>
              <a:ext cx="89" cy="422"/>
            </a:xfrm>
            <a:prstGeom prst="leftBrace">
              <a:avLst>
                <a:gd name="adj1" fmla="val 39513"/>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21509" name="Rectangle 28"/>
          <p:cNvSpPr>
            <a:spLocks noChangeArrowheads="1"/>
          </p:cNvSpPr>
          <p:nvPr/>
        </p:nvSpPr>
        <p:spPr bwMode="auto">
          <a:xfrm>
            <a:off x="2268538" y="1809651"/>
            <a:ext cx="403383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eaLnBrk="0" hangingPunct="0"/>
            <a:r>
              <a:rPr lang="en-US" altLang="zh-CN" sz="2000" b="1">
                <a:latin typeface="Times New Roman" panose="02020603050405020304" pitchFamily="18" charset="0"/>
              </a:rPr>
              <a:t>The node structure of threaded BT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Binary Search Tree</a:t>
            </a:r>
            <a:endParaRPr lang="zh-CN" altLang="en-US" dirty="0"/>
          </a:p>
        </p:txBody>
      </p:sp>
      <p:sp>
        <p:nvSpPr>
          <p:cNvPr id="3" name="内容占位符 2"/>
          <p:cNvSpPr>
            <a:spLocks noGrp="1"/>
          </p:cNvSpPr>
          <p:nvPr>
            <p:ph idx="1"/>
          </p:nvPr>
        </p:nvSpPr>
        <p:spPr/>
        <p:txBody>
          <a:bodyPr/>
          <a:lstStyle/>
          <a:p>
            <a:r>
              <a:rPr lang="en-US" altLang="zh-CN" dirty="0"/>
              <a:t>Definition of a BST</a:t>
            </a:r>
          </a:p>
          <a:p>
            <a:r>
              <a:rPr lang="en-US" altLang="zh-CN" dirty="0"/>
              <a:t>Operations:</a:t>
            </a:r>
          </a:p>
          <a:p>
            <a:pPr lvl="1"/>
            <a:r>
              <a:rPr lang="en-US" altLang="zh-CN" dirty="0"/>
              <a:t>Search</a:t>
            </a:r>
          </a:p>
          <a:p>
            <a:pPr lvl="1"/>
            <a:r>
              <a:rPr lang="en-US" altLang="zh-CN" dirty="0"/>
              <a:t>Find Min</a:t>
            </a:r>
          </a:p>
          <a:p>
            <a:pPr lvl="1"/>
            <a:r>
              <a:rPr lang="en-US" altLang="zh-CN" dirty="0"/>
              <a:t>Find Max</a:t>
            </a:r>
          </a:p>
          <a:p>
            <a:pPr lvl="1"/>
            <a:r>
              <a:rPr lang="en-US" altLang="zh-CN" dirty="0"/>
              <a:t>Insertion</a:t>
            </a:r>
          </a:p>
          <a:p>
            <a:pPr lvl="1"/>
            <a:r>
              <a:rPr lang="en-US" altLang="zh-CN" dirty="0"/>
              <a:t>Deletion</a:t>
            </a:r>
          </a:p>
          <a:p>
            <a:pPr lvl="1"/>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TW">
                <a:ea typeface="PMingLiU" panose="02020500000000000000" pitchFamily="18" charset="-120"/>
              </a:rPr>
              <a:t>Find</a:t>
            </a:r>
            <a:r>
              <a:rPr lang="en-US" altLang="zh-CN">
                <a:ea typeface="PMingLiU" panose="02020500000000000000" pitchFamily="18" charset="-120"/>
              </a:rPr>
              <a:t> </a:t>
            </a:r>
            <a:r>
              <a:rPr lang="en-US" altLang="zh-TW">
                <a:ea typeface="PMingLiU" panose="02020500000000000000" pitchFamily="18" charset="-120"/>
              </a:rPr>
              <a:t>Min/ </a:t>
            </a:r>
            <a:r>
              <a:rPr lang="en-US" altLang="zh-CN">
                <a:ea typeface="PMingLiU" panose="02020500000000000000" pitchFamily="18" charset="-120"/>
              </a:rPr>
              <a:t>Fi</a:t>
            </a:r>
            <a:r>
              <a:rPr lang="en-US" altLang="zh-TW">
                <a:ea typeface="PMingLiU" panose="02020500000000000000" pitchFamily="18" charset="-120"/>
              </a:rPr>
              <a:t>nd</a:t>
            </a:r>
            <a:r>
              <a:rPr lang="en-US" altLang="zh-CN">
                <a:ea typeface="PMingLiU" panose="02020500000000000000" pitchFamily="18" charset="-120"/>
              </a:rPr>
              <a:t> </a:t>
            </a:r>
            <a:r>
              <a:rPr lang="en-US" altLang="zh-TW">
                <a:ea typeface="PMingLiU" panose="02020500000000000000" pitchFamily="18" charset="-120"/>
              </a:rPr>
              <a:t>Max</a:t>
            </a:r>
            <a:endParaRPr lang="en-US" altLang="zh-CN">
              <a:ea typeface="PMingLiU" panose="02020500000000000000" pitchFamily="18" charset="-120"/>
            </a:endParaRPr>
          </a:p>
        </p:txBody>
      </p:sp>
      <p:sp>
        <p:nvSpPr>
          <p:cNvPr id="25603" name="Rectangle 3"/>
          <p:cNvSpPr>
            <a:spLocks noGrp="1" noChangeArrowheads="1"/>
          </p:cNvSpPr>
          <p:nvPr>
            <p:ph type="body" idx="1"/>
          </p:nvPr>
        </p:nvSpPr>
        <p:spPr/>
        <p:txBody>
          <a:bodyPr/>
          <a:lstStyle/>
          <a:p>
            <a:pPr eaLnBrk="1" hangingPunct="1">
              <a:lnSpc>
                <a:spcPct val="90000"/>
              </a:lnSpc>
            </a:pPr>
            <a:r>
              <a:rPr lang="en-US" altLang="zh-TW" dirty="0">
                <a:ea typeface="PMingLiU" panose="02020500000000000000" pitchFamily="18" charset="-120"/>
              </a:rPr>
              <a:t>Goal: return the node containing the </a:t>
            </a:r>
            <a:r>
              <a:rPr lang="en-US" altLang="zh-TW" b="1" i="1" dirty="0">
                <a:solidFill>
                  <a:srgbClr val="0066FF"/>
                </a:solidFill>
                <a:ea typeface="PMingLiU" panose="02020500000000000000" pitchFamily="18" charset="-120"/>
              </a:rPr>
              <a:t>smallest (largest</a:t>
            </a:r>
            <a:r>
              <a:rPr lang="en-US" altLang="zh-TW" dirty="0">
                <a:ea typeface="PMingLiU" panose="02020500000000000000" pitchFamily="18" charset="-120"/>
              </a:rPr>
              <a:t>) key in the tree</a:t>
            </a:r>
            <a:endParaRPr lang="en-US" altLang="zh-CN" dirty="0">
              <a:ea typeface="PMingLiU" panose="02020500000000000000" pitchFamily="18" charset="-120"/>
            </a:endParaRPr>
          </a:p>
          <a:p>
            <a:pPr eaLnBrk="1" hangingPunct="1">
              <a:lnSpc>
                <a:spcPct val="90000"/>
              </a:lnSpc>
            </a:pPr>
            <a:endParaRPr lang="en-US" altLang="zh-TW" dirty="0">
              <a:ea typeface="PMingLiU" panose="02020500000000000000" pitchFamily="18" charset="-120"/>
            </a:endParaRPr>
          </a:p>
          <a:p>
            <a:pPr eaLnBrk="1" hangingPunct="1">
              <a:lnSpc>
                <a:spcPct val="90000"/>
              </a:lnSpc>
            </a:pPr>
            <a:r>
              <a:rPr lang="en-US" altLang="zh-TW" dirty="0">
                <a:ea typeface="PMingLiU" panose="02020500000000000000" pitchFamily="18" charset="-120"/>
              </a:rPr>
              <a:t>Algorithm: Start at the root and go </a:t>
            </a:r>
            <a:r>
              <a:rPr lang="en-US" altLang="zh-TW" b="1" i="1" dirty="0">
                <a:solidFill>
                  <a:srgbClr val="0066FF"/>
                </a:solidFill>
                <a:ea typeface="PMingLiU" panose="02020500000000000000" pitchFamily="18" charset="-120"/>
              </a:rPr>
              <a:t>left (right)</a:t>
            </a:r>
            <a:r>
              <a:rPr lang="en-US" altLang="zh-TW" dirty="0">
                <a:ea typeface="PMingLiU" panose="02020500000000000000" pitchFamily="18" charset="-120"/>
              </a:rPr>
              <a:t> as long as there is a left (right) child. The stopping point is the smallest (largest) element</a:t>
            </a:r>
          </a:p>
          <a:p>
            <a:pPr eaLnBrk="1" hangingPunct="1">
              <a:lnSpc>
                <a:spcPct val="9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7" dur="500"/>
                                        <p:tgtEl>
                                          <p:spTgt spid="25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Insertion in a BST</a:t>
            </a:r>
            <a:endParaRPr lang="zh-CN" altLang="en-US" dirty="0"/>
          </a:p>
        </p:txBody>
      </p:sp>
      <p:sp>
        <p:nvSpPr>
          <p:cNvPr id="3" name="内容占位符 2"/>
          <p:cNvSpPr>
            <a:spLocks noGrp="1"/>
          </p:cNvSpPr>
          <p:nvPr>
            <p:ph idx="1"/>
          </p:nvPr>
        </p:nvSpPr>
        <p:spPr/>
        <p:txBody>
          <a:bodyPr/>
          <a:lstStyle/>
          <a:p>
            <a:r>
              <a:rPr lang="en-US" altLang="zh-TW" dirty="0"/>
              <a:t>Proceed down the tree as you </a:t>
            </a:r>
            <a:r>
              <a:rPr lang="en-US" altLang="zh-CN" dirty="0"/>
              <a:t>do</a:t>
            </a:r>
            <a:r>
              <a:rPr lang="en-US" altLang="zh-TW" dirty="0"/>
              <a:t> with a </a:t>
            </a:r>
            <a:r>
              <a:rPr lang="en-US" altLang="zh-CN" dirty="0"/>
              <a:t>search.</a:t>
            </a:r>
            <a:endParaRPr lang="en-US" altLang="zh-TW" dirty="0"/>
          </a:p>
          <a:p>
            <a:r>
              <a:rPr lang="en-US" altLang="zh-TW" dirty="0"/>
              <a:t>If X is found, do nothing. </a:t>
            </a:r>
          </a:p>
          <a:p>
            <a:r>
              <a:rPr lang="en-US" altLang="zh-TW" dirty="0"/>
              <a:t>Otherwise, insert X at </a:t>
            </a:r>
            <a:r>
              <a:rPr lang="en-US" altLang="zh-TW" b="1" i="1" dirty="0">
                <a:solidFill>
                  <a:schemeClr val="hlink"/>
                </a:solidFill>
              </a:rPr>
              <a:t>the last spot</a:t>
            </a:r>
            <a:r>
              <a:rPr lang="en-US" altLang="zh-TW" dirty="0"/>
              <a:t> on the path traversed.</a:t>
            </a:r>
          </a:p>
          <a:p>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76200"/>
            <a:ext cx="8229600" cy="1143000"/>
          </a:xfrm>
        </p:spPr>
        <p:txBody>
          <a:bodyPr/>
          <a:lstStyle/>
          <a:p>
            <a:pPr eaLnBrk="1" hangingPunct="1"/>
            <a:r>
              <a:rPr lang="en-US" altLang="zh-TW" dirty="0">
                <a:ea typeface="PMingLiU" panose="02020500000000000000" pitchFamily="18" charset="-120"/>
              </a:rPr>
              <a:t>Deletion from a BST</a:t>
            </a:r>
          </a:p>
        </p:txBody>
      </p:sp>
      <p:sp>
        <p:nvSpPr>
          <p:cNvPr id="33795" name="Rectangle 3"/>
          <p:cNvSpPr>
            <a:spLocks noGrp="1" noChangeArrowheads="1"/>
          </p:cNvSpPr>
          <p:nvPr>
            <p:ph type="body" idx="1"/>
          </p:nvPr>
        </p:nvSpPr>
        <p:spPr>
          <a:xfrm>
            <a:off x="609600" y="1143000"/>
            <a:ext cx="8077200" cy="5181600"/>
          </a:xfrm>
        </p:spPr>
        <p:txBody>
          <a:bodyPr/>
          <a:lstStyle/>
          <a:p>
            <a:pPr eaLnBrk="1" hangingPunct="1"/>
            <a:r>
              <a:rPr lang="en-US" altLang="zh-TW" sz="2800" b="1" dirty="0">
                <a:solidFill>
                  <a:srgbClr val="0000FF"/>
                </a:solidFill>
                <a:ea typeface="PMingLiU" panose="02020500000000000000" pitchFamily="18" charset="-120"/>
              </a:rPr>
              <a:t>Case 1:</a:t>
            </a:r>
            <a:r>
              <a:rPr lang="en-US" altLang="zh-TW" sz="2800" dirty="0">
                <a:ea typeface="PMingLiU" panose="02020500000000000000" pitchFamily="18" charset="-120"/>
              </a:rPr>
              <a:t> the node is a leaf</a:t>
            </a:r>
          </a:p>
          <a:p>
            <a:pPr lvl="1" eaLnBrk="1" hangingPunct="1"/>
            <a:r>
              <a:rPr lang="en-US" altLang="zh-TW" sz="2400" dirty="0">
                <a:ea typeface="PMingLiU" panose="02020500000000000000" pitchFamily="18" charset="-120"/>
              </a:rPr>
              <a:t>Delete it immediately</a:t>
            </a:r>
            <a:r>
              <a:rPr lang="en-US" altLang="zh-CN" sz="2400" dirty="0">
                <a:ea typeface="PMingLiU" panose="02020500000000000000" pitchFamily="18" charset="-120"/>
              </a:rPr>
              <a:t> by </a:t>
            </a:r>
            <a:r>
              <a:rPr lang="en-US" altLang="zh-CN" sz="2400" b="1" dirty="0">
                <a:solidFill>
                  <a:schemeClr val="hlink"/>
                </a:solidFill>
                <a:ea typeface="PMingLiU" panose="02020500000000000000" pitchFamily="18" charset="-120"/>
              </a:rPr>
              <a:t>r</a:t>
            </a:r>
            <a:r>
              <a:rPr lang="en-US" altLang="zh-CN" sz="2400" b="1" dirty="0">
                <a:solidFill>
                  <a:schemeClr val="hlink"/>
                </a:solidFill>
                <a:ea typeface="PMingLiU" panose="02020500000000000000" pitchFamily="18" charset="-120"/>
                <a:sym typeface="Wingdings" panose="05000000000000000000" pitchFamily="2" charset="2"/>
              </a:rPr>
              <a:t>eset its parent link to NULL</a:t>
            </a:r>
            <a:endParaRPr lang="en-US" altLang="zh-TW" sz="2400" b="1" dirty="0">
              <a:solidFill>
                <a:schemeClr val="hlink"/>
              </a:solidFill>
              <a:ea typeface="PMingLiU" panose="02020500000000000000" pitchFamily="18" charset="-120"/>
            </a:endParaRPr>
          </a:p>
          <a:p>
            <a:pPr eaLnBrk="1" hangingPunct="1"/>
            <a:r>
              <a:rPr lang="en-US" altLang="zh-TW" sz="2800" b="1" dirty="0">
                <a:solidFill>
                  <a:srgbClr val="0000FF"/>
                </a:solidFill>
                <a:ea typeface="PMingLiU" panose="02020500000000000000" pitchFamily="18" charset="-120"/>
              </a:rPr>
              <a:t>Case 2:</a:t>
            </a:r>
            <a:r>
              <a:rPr lang="en-US" altLang="zh-TW" sz="2800" dirty="0">
                <a:ea typeface="PMingLiU" panose="02020500000000000000" pitchFamily="18" charset="-120"/>
              </a:rPr>
              <a:t> the node has one child</a:t>
            </a:r>
          </a:p>
          <a:p>
            <a:pPr lvl="1" eaLnBrk="1" hangingPunct="1"/>
            <a:r>
              <a:rPr lang="en-US" altLang="zh-TW" sz="2400" dirty="0">
                <a:ea typeface="PMingLiU" panose="02020500000000000000" pitchFamily="18" charset="-120"/>
              </a:rPr>
              <a:t>Adjust </a:t>
            </a:r>
            <a:r>
              <a:rPr lang="en-US" altLang="zh-CN" sz="2400" dirty="0">
                <a:ea typeface="PMingLiU" panose="02020500000000000000" pitchFamily="18" charset="-120"/>
              </a:rPr>
              <a:t>the</a:t>
            </a:r>
            <a:r>
              <a:rPr lang="en-US" altLang="zh-TW" sz="2400" dirty="0">
                <a:ea typeface="PMingLiU" panose="02020500000000000000" pitchFamily="18" charset="-120"/>
              </a:rPr>
              <a:t> link from the parent to bypass that node</a:t>
            </a:r>
          </a:p>
          <a:p>
            <a:r>
              <a:rPr lang="en-US" altLang="zh-TW" sz="2800" b="1" dirty="0">
                <a:solidFill>
                  <a:srgbClr val="0000FF"/>
                </a:solidFill>
                <a:ea typeface="PMingLiU" panose="02020500000000000000" pitchFamily="18" charset="-120"/>
              </a:rPr>
              <a:t>Case 3:</a:t>
            </a:r>
            <a:r>
              <a:rPr lang="en-US" altLang="zh-TW" sz="2800" dirty="0">
                <a:ea typeface="PMingLiU" panose="02020500000000000000" pitchFamily="18" charset="-120"/>
              </a:rPr>
              <a:t> the node has 2 children</a:t>
            </a:r>
          </a:p>
          <a:p>
            <a:pPr lvl="1"/>
            <a:r>
              <a:rPr lang="en-US" altLang="zh-TW" sz="2000" b="1" dirty="0">
                <a:ea typeface="PMingLiU" panose="02020500000000000000" pitchFamily="18" charset="-120"/>
              </a:rPr>
              <a:t>Replace</a:t>
            </a:r>
            <a:r>
              <a:rPr lang="en-US" altLang="zh-TW" sz="2000" dirty="0">
                <a:ea typeface="PMingLiU" panose="02020500000000000000" pitchFamily="18" charset="-120"/>
              </a:rPr>
              <a:t> the key of that node with </a:t>
            </a:r>
            <a:r>
              <a:rPr lang="en-US" altLang="zh-TW" sz="2000" b="1" dirty="0">
                <a:ea typeface="PMingLiU" panose="02020500000000000000" pitchFamily="18" charset="-120"/>
              </a:rPr>
              <a:t>the </a:t>
            </a:r>
            <a:r>
              <a:rPr lang="en-US" altLang="zh-CN" sz="2000" b="1" dirty="0">
                <a:solidFill>
                  <a:srgbClr val="FF3300"/>
                </a:solidFill>
                <a:ea typeface="PMingLiU" panose="02020500000000000000" pitchFamily="18" charset="-120"/>
              </a:rPr>
              <a:t>smallest</a:t>
            </a:r>
            <a:r>
              <a:rPr lang="en-US" altLang="zh-TW" sz="2000" dirty="0">
                <a:solidFill>
                  <a:srgbClr val="FF3300"/>
                </a:solidFill>
                <a:ea typeface="PMingLiU" panose="02020500000000000000" pitchFamily="18" charset="-120"/>
              </a:rPr>
              <a:t> </a:t>
            </a:r>
            <a:r>
              <a:rPr lang="en-US" altLang="zh-CN" sz="2000" b="1" dirty="0">
                <a:ea typeface="PMingLiU" panose="02020500000000000000" pitchFamily="18" charset="-120"/>
              </a:rPr>
              <a:t>one</a:t>
            </a:r>
            <a:r>
              <a:rPr lang="en-US" altLang="zh-TW" sz="2000" b="1" dirty="0">
                <a:ea typeface="PMingLiU" panose="02020500000000000000" pitchFamily="18" charset="-120"/>
              </a:rPr>
              <a:t> </a:t>
            </a:r>
            <a:r>
              <a:rPr lang="en-US" altLang="zh-CN" sz="2000" b="1" dirty="0">
                <a:ea typeface="PMingLiU" panose="02020500000000000000" pitchFamily="18" charset="-120"/>
              </a:rPr>
              <a:t>in</a:t>
            </a:r>
            <a:r>
              <a:rPr lang="en-US" altLang="zh-TW" sz="2000" b="1" dirty="0">
                <a:ea typeface="PMingLiU" panose="02020500000000000000" pitchFamily="18" charset="-120"/>
              </a:rPr>
              <a:t> </a:t>
            </a:r>
            <a:r>
              <a:rPr lang="en-US" altLang="zh-CN" sz="2000" b="1" dirty="0">
                <a:ea typeface="PMingLiU" panose="02020500000000000000" pitchFamily="18" charset="-120"/>
              </a:rPr>
              <a:t>its</a:t>
            </a:r>
            <a:r>
              <a:rPr lang="en-US" altLang="zh-TW" sz="2000" dirty="0">
                <a:solidFill>
                  <a:srgbClr val="FF3300"/>
                </a:solidFill>
                <a:ea typeface="PMingLiU" panose="02020500000000000000" pitchFamily="18" charset="-120"/>
              </a:rPr>
              <a:t> </a:t>
            </a:r>
            <a:r>
              <a:rPr lang="en-US" altLang="zh-TW" sz="2000" b="1" dirty="0">
                <a:solidFill>
                  <a:srgbClr val="FF3300"/>
                </a:solidFill>
                <a:ea typeface="PMingLiU" panose="02020500000000000000" pitchFamily="18" charset="-120"/>
              </a:rPr>
              <a:t>right </a:t>
            </a:r>
            <a:r>
              <a:rPr lang="en-US" altLang="zh-TW" sz="2000" b="1" dirty="0">
                <a:ea typeface="PMingLiU" panose="02020500000000000000" pitchFamily="18" charset="-120"/>
              </a:rPr>
              <a:t>subtree</a:t>
            </a:r>
            <a:r>
              <a:rPr lang="en-US" altLang="zh-TW" sz="2000" dirty="0">
                <a:ea typeface="PMingLiU" panose="02020500000000000000" pitchFamily="18" charset="-120"/>
              </a:rPr>
              <a:t> </a:t>
            </a:r>
            <a:r>
              <a:rPr lang="en-US" altLang="zh-CN" sz="2000" dirty="0">
                <a:ea typeface="PMingLiU" panose="02020500000000000000" pitchFamily="18" charset="-120"/>
              </a:rPr>
              <a:t>(or</a:t>
            </a:r>
            <a:r>
              <a:rPr lang="en-US" altLang="zh-CN" sz="2000" dirty="0">
                <a:solidFill>
                  <a:srgbClr val="FF3300"/>
                </a:solidFill>
                <a:ea typeface="PMingLiU" panose="02020500000000000000" pitchFamily="18" charset="-120"/>
              </a:rPr>
              <a:t> </a:t>
            </a:r>
            <a:r>
              <a:rPr kumimoji="1" lang="en-US" altLang="zh-CN" sz="2000" b="1" dirty="0">
                <a:sym typeface="Wingdings" panose="05000000000000000000" pitchFamily="2" charset="2"/>
              </a:rPr>
              <a:t>the </a:t>
            </a:r>
            <a:r>
              <a:rPr kumimoji="1" lang="en-US" altLang="zh-CN" sz="2000" b="1" dirty="0">
                <a:solidFill>
                  <a:schemeClr val="hlink"/>
                </a:solidFill>
                <a:sym typeface="Wingdings" panose="05000000000000000000" pitchFamily="2" charset="2"/>
              </a:rPr>
              <a:t>largest </a:t>
            </a:r>
            <a:r>
              <a:rPr kumimoji="1" lang="en-US" altLang="zh-CN" sz="2000" b="1" dirty="0">
                <a:sym typeface="Wingdings" panose="05000000000000000000" pitchFamily="2" charset="2"/>
              </a:rPr>
              <a:t>one in its </a:t>
            </a:r>
            <a:r>
              <a:rPr kumimoji="1" lang="en-US" altLang="zh-CN" sz="2000" b="1" dirty="0">
                <a:solidFill>
                  <a:schemeClr val="hlink"/>
                </a:solidFill>
                <a:sym typeface="Wingdings" panose="05000000000000000000" pitchFamily="2" charset="2"/>
              </a:rPr>
              <a:t>left</a:t>
            </a:r>
            <a:r>
              <a:rPr kumimoji="1" lang="en-US" altLang="zh-CN" sz="2000" b="1" dirty="0">
                <a:sym typeface="Wingdings" panose="05000000000000000000" pitchFamily="2" charset="2"/>
              </a:rPr>
              <a:t> subtree)</a:t>
            </a:r>
            <a:r>
              <a:rPr kumimoji="1" lang="en-US" altLang="zh-CN" sz="2000" dirty="0">
                <a:sym typeface="Wingdings" panose="05000000000000000000" pitchFamily="2" charset="2"/>
              </a:rPr>
              <a:t> </a:t>
            </a:r>
            <a:endParaRPr lang="en-US" altLang="zh-TW" sz="2000" dirty="0">
              <a:solidFill>
                <a:srgbClr val="FF3300"/>
              </a:solidFill>
              <a:ea typeface="PMingLiU" panose="02020500000000000000" pitchFamily="18" charset="-120"/>
            </a:endParaRPr>
          </a:p>
          <a:p>
            <a:pPr lvl="1"/>
            <a:r>
              <a:rPr lang="en-US" altLang="zh-TW" sz="2000" b="1" dirty="0">
                <a:ea typeface="PMingLiU" panose="02020500000000000000" pitchFamily="18" charset="-120"/>
              </a:rPr>
              <a:t>Delete</a:t>
            </a:r>
            <a:r>
              <a:rPr lang="en-US" altLang="zh-TW" sz="2000" dirty="0">
                <a:ea typeface="PMingLiU" panose="02020500000000000000" pitchFamily="18" charset="-120"/>
              </a:rPr>
              <a:t> that </a:t>
            </a:r>
            <a:r>
              <a:rPr kumimoji="1" lang="en-US" altLang="zh-CN" sz="2000" dirty="0">
                <a:sym typeface="Wingdings" panose="05000000000000000000" pitchFamily="2" charset="2"/>
              </a:rPr>
              <a:t>replacing node from the subtree</a:t>
            </a:r>
            <a:endParaRPr lang="en-US" altLang="zh-TW" sz="2000" dirty="0">
              <a:ea typeface="PMingLiU" panose="02020500000000000000" pitchFamily="18" charset="-120"/>
            </a:endParaRPr>
          </a:p>
          <a:p>
            <a:pPr lvl="1" eaLnBrk="1" hangingPunct="1"/>
            <a:endParaRPr lang="en-US" altLang="zh-TW" sz="2400" dirty="0">
              <a:ea typeface="PMingLiU" panose="02020500000000000000"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3795">
                                            <p:txEl>
                                              <p:pRg st="3" end="3"/>
                                            </p:txEl>
                                          </p:spTgt>
                                        </p:tgtEl>
                                        <p:attrNameLst>
                                          <p:attrName>style.visibility</p:attrName>
                                        </p:attrNameLst>
                                      </p:cBhvr>
                                      <p:to>
                                        <p:strVal val="visible"/>
                                      </p:to>
                                    </p:set>
                                    <p:anim calcmode="lin" valueType="num">
                                      <p:cBhvr additive="base">
                                        <p:cTn id="19"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37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3795">
                                            <p:txEl>
                                              <p:pRg st="4" end="4"/>
                                            </p:txEl>
                                          </p:spTgt>
                                        </p:tgtEl>
                                        <p:attrNameLst>
                                          <p:attrName>style.visibility</p:attrName>
                                        </p:attrNameLst>
                                      </p:cBhvr>
                                      <p:to>
                                        <p:strVal val="visible"/>
                                      </p:to>
                                    </p:set>
                                    <p:anim calcmode="lin" valueType="num">
                                      <p:cBhvr additive="base">
                                        <p:cTn id="25"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3795">
                                            <p:txEl>
                                              <p:pRg st="5" end="5"/>
                                            </p:txEl>
                                          </p:spTgt>
                                        </p:tgtEl>
                                        <p:attrNameLst>
                                          <p:attrName>style.visibility</p:attrName>
                                        </p:attrNameLst>
                                      </p:cBhvr>
                                      <p:to>
                                        <p:strVal val="visible"/>
                                      </p:to>
                                    </p:set>
                                    <p:anim calcmode="lin" valueType="num">
                                      <p:cBhvr additive="base">
                                        <p:cTn id="31"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37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 calcmode="lin" valueType="num">
                                      <p:cBhvr additive="base">
                                        <p:cTn id="37" dur="5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37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AVL tree</a:t>
            </a:r>
            <a:endParaRPr lang="zh-CN" altLang="en-US" dirty="0"/>
          </a:p>
        </p:txBody>
      </p:sp>
      <p:sp>
        <p:nvSpPr>
          <p:cNvPr id="3" name="内容占位符 2"/>
          <p:cNvSpPr>
            <a:spLocks noGrp="1"/>
          </p:cNvSpPr>
          <p:nvPr>
            <p:ph idx="1"/>
          </p:nvPr>
        </p:nvSpPr>
        <p:spPr>
          <a:xfrm>
            <a:off x="304800" y="1228952"/>
            <a:ext cx="8229600" cy="4525963"/>
          </a:xfrm>
        </p:spPr>
        <p:txBody>
          <a:bodyPr/>
          <a:lstStyle/>
          <a:p>
            <a:r>
              <a:rPr lang="en-US" altLang="zh-CN" dirty="0"/>
              <a:t>A height balanced binary search tree</a:t>
            </a:r>
          </a:p>
          <a:p>
            <a:r>
              <a:rPr kumimoji="1" lang="en-US" altLang="zh-CN" sz="3600" b="1" dirty="0">
                <a:solidFill>
                  <a:schemeClr val="tx2"/>
                </a:solidFill>
              </a:rPr>
              <a:t>Balance Factor:</a:t>
            </a:r>
            <a:r>
              <a:rPr kumimoji="1" lang="en-US" altLang="zh-CN" dirty="0"/>
              <a:t> The balance factor of a node is defined as </a:t>
            </a:r>
            <a:r>
              <a:rPr kumimoji="1" lang="en-US" altLang="zh-CN" i="1" dirty="0"/>
              <a:t>BF</a:t>
            </a:r>
            <a:r>
              <a:rPr kumimoji="1" lang="en-US" altLang="zh-CN" dirty="0"/>
              <a:t>( node ) = </a:t>
            </a:r>
            <a:r>
              <a:rPr kumimoji="1" lang="en-US" altLang="zh-CN" i="1" dirty="0" err="1"/>
              <a:t>h</a:t>
            </a:r>
            <a:r>
              <a:rPr kumimoji="1" lang="en-US" altLang="zh-CN" i="1" baseline="-25000" dirty="0" err="1"/>
              <a:t>L</a:t>
            </a:r>
            <a:r>
              <a:rPr kumimoji="1" lang="en-US" altLang="zh-CN" dirty="0"/>
              <a:t> </a:t>
            </a:r>
            <a:r>
              <a:rPr kumimoji="1" lang="en-US" altLang="zh-CN" dirty="0">
                <a:sym typeface="Symbol" panose="05050102010706020507" pitchFamily="18" charset="2"/>
              </a:rPr>
              <a:t></a:t>
            </a:r>
            <a:r>
              <a:rPr kumimoji="1" lang="en-US" altLang="zh-CN" dirty="0"/>
              <a:t> </a:t>
            </a:r>
            <a:r>
              <a:rPr kumimoji="1" lang="en-US" altLang="zh-CN" i="1" dirty="0" err="1"/>
              <a:t>h</a:t>
            </a:r>
            <a:r>
              <a:rPr kumimoji="1" lang="en-US" altLang="zh-CN" i="1" baseline="-25000" dirty="0" err="1"/>
              <a:t>R</a:t>
            </a:r>
            <a:r>
              <a:rPr kumimoji="1" lang="en-US" altLang="zh-CN" dirty="0"/>
              <a:t> .  In an AVL tree, </a:t>
            </a:r>
            <a:r>
              <a:rPr kumimoji="1" lang="en-US" altLang="zh-CN" i="1" dirty="0"/>
              <a:t>BF</a:t>
            </a:r>
            <a:r>
              <a:rPr kumimoji="1" lang="en-US" altLang="zh-CN" dirty="0"/>
              <a:t>( node ) = </a:t>
            </a:r>
            <a:r>
              <a:rPr kumimoji="1" lang="en-US" altLang="zh-CN" dirty="0">
                <a:sym typeface="Symbol" panose="05050102010706020507" pitchFamily="18" charset="2"/>
              </a:rPr>
              <a:t>1, 0, or 1.</a:t>
            </a:r>
            <a:endParaRPr kumimoji="1" lang="en-US" altLang="zh-CN" dirty="0"/>
          </a:p>
          <a:p>
            <a:endParaRPr lang="zh-CN" altLang="en-US" dirty="0"/>
          </a:p>
        </p:txBody>
      </p:sp>
      <p:grpSp>
        <p:nvGrpSpPr>
          <p:cNvPr id="4" name="Group 7"/>
          <p:cNvGrpSpPr/>
          <p:nvPr/>
        </p:nvGrpSpPr>
        <p:grpSpPr bwMode="auto">
          <a:xfrm>
            <a:off x="899592" y="3861048"/>
            <a:ext cx="1524000" cy="1676400"/>
            <a:chOff x="2064" y="2928"/>
            <a:chExt cx="960" cy="1056"/>
          </a:xfrm>
        </p:grpSpPr>
        <p:sp>
          <p:nvSpPr>
            <p:cNvPr id="5" name="Oval 8"/>
            <p:cNvSpPr>
              <a:spLocks noChangeArrowheads="1"/>
            </p:cNvSpPr>
            <p:nvPr/>
          </p:nvSpPr>
          <p:spPr bwMode="auto">
            <a:xfrm>
              <a:off x="2544" y="2928"/>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5</a:t>
              </a:r>
            </a:p>
          </p:txBody>
        </p:sp>
        <p:sp>
          <p:nvSpPr>
            <p:cNvPr id="6" name="Oval 9"/>
            <p:cNvSpPr>
              <a:spLocks noChangeArrowheads="1"/>
            </p:cNvSpPr>
            <p:nvPr/>
          </p:nvSpPr>
          <p:spPr bwMode="auto">
            <a:xfrm>
              <a:off x="2832" y="3216"/>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8</a:t>
              </a:r>
            </a:p>
          </p:txBody>
        </p:sp>
        <p:sp>
          <p:nvSpPr>
            <p:cNvPr id="7" name="Line 10"/>
            <p:cNvSpPr>
              <a:spLocks noChangeShapeType="1"/>
            </p:cNvSpPr>
            <p:nvPr/>
          </p:nvSpPr>
          <p:spPr bwMode="auto">
            <a:xfrm>
              <a:off x="2736" y="3072"/>
              <a:ext cx="144"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Oval 11"/>
            <p:cNvSpPr>
              <a:spLocks noChangeArrowheads="1"/>
            </p:cNvSpPr>
            <p:nvPr/>
          </p:nvSpPr>
          <p:spPr bwMode="auto">
            <a:xfrm flipH="1">
              <a:off x="2256" y="3216"/>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a:t>
              </a:r>
            </a:p>
          </p:txBody>
        </p:sp>
        <p:sp>
          <p:nvSpPr>
            <p:cNvPr id="9" name="Oval 12"/>
            <p:cNvSpPr>
              <a:spLocks noChangeArrowheads="1"/>
            </p:cNvSpPr>
            <p:nvPr/>
          </p:nvSpPr>
          <p:spPr bwMode="auto">
            <a:xfrm flipH="1">
              <a:off x="2064"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a:t>
              </a:r>
            </a:p>
          </p:txBody>
        </p:sp>
        <p:sp>
          <p:nvSpPr>
            <p:cNvPr id="10" name="Line 13"/>
            <p:cNvSpPr>
              <a:spLocks noChangeShapeType="1"/>
            </p:cNvSpPr>
            <p:nvPr/>
          </p:nvSpPr>
          <p:spPr bwMode="auto">
            <a:xfrm flipH="1">
              <a:off x="2400" y="3072"/>
              <a:ext cx="14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14"/>
            <p:cNvSpPr>
              <a:spLocks noChangeShapeType="1"/>
            </p:cNvSpPr>
            <p:nvPr/>
          </p:nvSpPr>
          <p:spPr bwMode="auto">
            <a:xfrm flipH="1">
              <a:off x="2208"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Oval 15"/>
            <p:cNvSpPr>
              <a:spLocks noChangeArrowheads="1"/>
            </p:cNvSpPr>
            <p:nvPr/>
          </p:nvSpPr>
          <p:spPr bwMode="auto">
            <a:xfrm>
              <a:off x="2448"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4</a:t>
              </a:r>
            </a:p>
          </p:txBody>
        </p:sp>
        <p:sp>
          <p:nvSpPr>
            <p:cNvPr id="13" name="Line 16"/>
            <p:cNvSpPr>
              <a:spLocks noChangeShapeType="1"/>
            </p:cNvSpPr>
            <p:nvPr/>
          </p:nvSpPr>
          <p:spPr bwMode="auto">
            <a:xfrm>
              <a:off x="2400"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Oval 17"/>
            <p:cNvSpPr>
              <a:spLocks noChangeArrowheads="1"/>
            </p:cNvSpPr>
            <p:nvPr/>
          </p:nvSpPr>
          <p:spPr bwMode="auto">
            <a:xfrm flipH="1">
              <a:off x="2256" y="3792"/>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3</a:t>
              </a:r>
            </a:p>
          </p:txBody>
        </p:sp>
        <p:sp>
          <p:nvSpPr>
            <p:cNvPr id="15" name="Line 18"/>
            <p:cNvSpPr>
              <a:spLocks noChangeShapeType="1"/>
            </p:cNvSpPr>
            <p:nvPr/>
          </p:nvSpPr>
          <p:spPr bwMode="auto">
            <a:xfrm flipH="1">
              <a:off x="2400" y="3696"/>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Oval 19"/>
            <p:cNvSpPr>
              <a:spLocks noChangeArrowheads="1"/>
            </p:cNvSpPr>
            <p:nvPr/>
          </p:nvSpPr>
          <p:spPr bwMode="auto">
            <a:xfrm flipH="1">
              <a:off x="2640"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dirty="0">
                  <a:latin typeface="Times New Roman" panose="02020603050405020304" pitchFamily="18" charset="0"/>
                </a:rPr>
                <a:t>7</a:t>
              </a:r>
            </a:p>
          </p:txBody>
        </p:sp>
        <p:sp>
          <p:nvSpPr>
            <p:cNvPr id="17" name="Line 20"/>
            <p:cNvSpPr>
              <a:spLocks noChangeShapeType="1"/>
            </p:cNvSpPr>
            <p:nvPr/>
          </p:nvSpPr>
          <p:spPr bwMode="auto">
            <a:xfrm flipH="1">
              <a:off x="2784"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 name="Group 21"/>
          <p:cNvGrpSpPr/>
          <p:nvPr/>
        </p:nvGrpSpPr>
        <p:grpSpPr bwMode="auto">
          <a:xfrm>
            <a:off x="3116796" y="3937248"/>
            <a:ext cx="1524000" cy="1676400"/>
            <a:chOff x="3888" y="2928"/>
            <a:chExt cx="960" cy="1056"/>
          </a:xfrm>
        </p:grpSpPr>
        <p:sp>
          <p:nvSpPr>
            <p:cNvPr id="19" name="Oval 22"/>
            <p:cNvSpPr>
              <a:spLocks noChangeArrowheads="1"/>
            </p:cNvSpPr>
            <p:nvPr/>
          </p:nvSpPr>
          <p:spPr bwMode="auto">
            <a:xfrm>
              <a:off x="4368" y="2928"/>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dirty="0">
                  <a:latin typeface="Times New Roman" panose="02020603050405020304" pitchFamily="18" charset="0"/>
                </a:rPr>
                <a:t>7</a:t>
              </a:r>
            </a:p>
          </p:txBody>
        </p:sp>
        <p:sp>
          <p:nvSpPr>
            <p:cNvPr id="20" name="Oval 23"/>
            <p:cNvSpPr>
              <a:spLocks noChangeArrowheads="1"/>
            </p:cNvSpPr>
            <p:nvPr/>
          </p:nvSpPr>
          <p:spPr bwMode="auto">
            <a:xfrm>
              <a:off x="4656" y="3216"/>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8</a:t>
              </a:r>
            </a:p>
          </p:txBody>
        </p:sp>
        <p:sp>
          <p:nvSpPr>
            <p:cNvPr id="21" name="Line 24"/>
            <p:cNvSpPr>
              <a:spLocks noChangeShapeType="1"/>
            </p:cNvSpPr>
            <p:nvPr/>
          </p:nvSpPr>
          <p:spPr bwMode="auto">
            <a:xfrm>
              <a:off x="4560" y="3072"/>
              <a:ext cx="144"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Oval 25"/>
            <p:cNvSpPr>
              <a:spLocks noChangeArrowheads="1"/>
            </p:cNvSpPr>
            <p:nvPr/>
          </p:nvSpPr>
          <p:spPr bwMode="auto">
            <a:xfrm flipH="1">
              <a:off x="4080" y="3216"/>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a:t>
              </a:r>
            </a:p>
          </p:txBody>
        </p:sp>
        <p:sp>
          <p:nvSpPr>
            <p:cNvPr id="23" name="Oval 26"/>
            <p:cNvSpPr>
              <a:spLocks noChangeArrowheads="1"/>
            </p:cNvSpPr>
            <p:nvPr/>
          </p:nvSpPr>
          <p:spPr bwMode="auto">
            <a:xfrm flipH="1">
              <a:off x="3888"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a:t>
              </a:r>
            </a:p>
          </p:txBody>
        </p:sp>
        <p:sp>
          <p:nvSpPr>
            <p:cNvPr id="24" name="Line 27"/>
            <p:cNvSpPr>
              <a:spLocks noChangeShapeType="1"/>
            </p:cNvSpPr>
            <p:nvPr/>
          </p:nvSpPr>
          <p:spPr bwMode="auto">
            <a:xfrm flipH="1">
              <a:off x="4224" y="3072"/>
              <a:ext cx="14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8"/>
            <p:cNvSpPr>
              <a:spLocks noChangeShapeType="1"/>
            </p:cNvSpPr>
            <p:nvPr/>
          </p:nvSpPr>
          <p:spPr bwMode="auto">
            <a:xfrm flipH="1">
              <a:off x="4032"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Oval 29"/>
            <p:cNvSpPr>
              <a:spLocks noChangeArrowheads="1"/>
            </p:cNvSpPr>
            <p:nvPr/>
          </p:nvSpPr>
          <p:spPr bwMode="auto">
            <a:xfrm>
              <a:off x="4272"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dirty="0">
                  <a:latin typeface="Times New Roman" panose="02020603050405020304" pitchFamily="18" charset="0"/>
                </a:rPr>
                <a:t>4</a:t>
              </a:r>
            </a:p>
          </p:txBody>
        </p:sp>
        <p:sp>
          <p:nvSpPr>
            <p:cNvPr id="27" name="Line 30"/>
            <p:cNvSpPr>
              <a:spLocks noChangeShapeType="1"/>
            </p:cNvSpPr>
            <p:nvPr/>
          </p:nvSpPr>
          <p:spPr bwMode="auto">
            <a:xfrm>
              <a:off x="4224"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Oval 31"/>
            <p:cNvSpPr>
              <a:spLocks noChangeArrowheads="1"/>
            </p:cNvSpPr>
            <p:nvPr/>
          </p:nvSpPr>
          <p:spPr bwMode="auto">
            <a:xfrm flipH="1">
              <a:off x="4080" y="3792"/>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dirty="0">
                  <a:latin typeface="Times New Roman" panose="02020603050405020304" pitchFamily="18" charset="0"/>
                </a:rPr>
                <a:t>3</a:t>
              </a:r>
            </a:p>
          </p:txBody>
        </p:sp>
        <p:sp>
          <p:nvSpPr>
            <p:cNvPr id="29" name="Line 32"/>
            <p:cNvSpPr>
              <a:spLocks noChangeShapeType="1"/>
            </p:cNvSpPr>
            <p:nvPr/>
          </p:nvSpPr>
          <p:spPr bwMode="auto">
            <a:xfrm flipH="1">
              <a:off x="4224" y="3696"/>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Oval 33"/>
            <p:cNvSpPr>
              <a:spLocks noChangeArrowheads="1"/>
            </p:cNvSpPr>
            <p:nvPr/>
          </p:nvSpPr>
          <p:spPr bwMode="auto">
            <a:xfrm>
              <a:off x="4464" y="3792"/>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5</a:t>
              </a:r>
            </a:p>
          </p:txBody>
        </p:sp>
        <p:sp>
          <p:nvSpPr>
            <p:cNvPr id="31" name="Line 34"/>
            <p:cNvSpPr>
              <a:spLocks noChangeShapeType="1"/>
            </p:cNvSpPr>
            <p:nvPr/>
          </p:nvSpPr>
          <p:spPr bwMode="auto">
            <a:xfrm>
              <a:off x="4416" y="3696"/>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2" name="Group 7"/>
          <p:cNvGrpSpPr/>
          <p:nvPr/>
        </p:nvGrpSpPr>
        <p:grpSpPr bwMode="auto">
          <a:xfrm>
            <a:off x="5368399" y="3975348"/>
            <a:ext cx="1849438" cy="1257300"/>
            <a:chOff x="2064" y="2928"/>
            <a:chExt cx="1165" cy="792"/>
          </a:xfrm>
        </p:grpSpPr>
        <p:sp>
          <p:nvSpPr>
            <p:cNvPr id="33" name="Oval 8"/>
            <p:cNvSpPr>
              <a:spLocks noChangeArrowheads="1"/>
            </p:cNvSpPr>
            <p:nvPr/>
          </p:nvSpPr>
          <p:spPr bwMode="auto">
            <a:xfrm>
              <a:off x="2544" y="2928"/>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5</a:t>
              </a:r>
            </a:p>
          </p:txBody>
        </p:sp>
        <p:sp>
          <p:nvSpPr>
            <p:cNvPr id="34" name="Oval 9"/>
            <p:cNvSpPr>
              <a:spLocks noChangeArrowheads="1"/>
            </p:cNvSpPr>
            <p:nvPr/>
          </p:nvSpPr>
          <p:spPr bwMode="auto">
            <a:xfrm>
              <a:off x="2832" y="3216"/>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8</a:t>
              </a:r>
            </a:p>
          </p:txBody>
        </p:sp>
        <p:sp>
          <p:nvSpPr>
            <p:cNvPr id="35" name="Line 10"/>
            <p:cNvSpPr>
              <a:spLocks noChangeShapeType="1"/>
            </p:cNvSpPr>
            <p:nvPr/>
          </p:nvSpPr>
          <p:spPr bwMode="auto">
            <a:xfrm>
              <a:off x="2736" y="3072"/>
              <a:ext cx="144"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Oval 11"/>
            <p:cNvSpPr>
              <a:spLocks noChangeArrowheads="1"/>
            </p:cNvSpPr>
            <p:nvPr/>
          </p:nvSpPr>
          <p:spPr bwMode="auto">
            <a:xfrm flipH="1">
              <a:off x="2256" y="3216"/>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a:t>
              </a:r>
            </a:p>
          </p:txBody>
        </p:sp>
        <p:sp>
          <p:nvSpPr>
            <p:cNvPr id="37" name="Oval 12"/>
            <p:cNvSpPr>
              <a:spLocks noChangeArrowheads="1"/>
            </p:cNvSpPr>
            <p:nvPr/>
          </p:nvSpPr>
          <p:spPr bwMode="auto">
            <a:xfrm flipH="1">
              <a:off x="2064"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a:t>
              </a:r>
            </a:p>
          </p:txBody>
        </p:sp>
        <p:sp>
          <p:nvSpPr>
            <p:cNvPr id="38" name="Line 13"/>
            <p:cNvSpPr>
              <a:spLocks noChangeShapeType="1"/>
            </p:cNvSpPr>
            <p:nvPr/>
          </p:nvSpPr>
          <p:spPr bwMode="auto">
            <a:xfrm flipH="1">
              <a:off x="2400" y="3072"/>
              <a:ext cx="14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14"/>
            <p:cNvSpPr>
              <a:spLocks noChangeShapeType="1"/>
            </p:cNvSpPr>
            <p:nvPr/>
          </p:nvSpPr>
          <p:spPr bwMode="auto">
            <a:xfrm flipH="1">
              <a:off x="2208"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Oval 15"/>
            <p:cNvSpPr>
              <a:spLocks noChangeArrowheads="1"/>
            </p:cNvSpPr>
            <p:nvPr/>
          </p:nvSpPr>
          <p:spPr bwMode="auto">
            <a:xfrm>
              <a:off x="2448"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4</a:t>
              </a:r>
            </a:p>
          </p:txBody>
        </p:sp>
        <p:sp>
          <p:nvSpPr>
            <p:cNvPr id="41" name="Line 16"/>
            <p:cNvSpPr>
              <a:spLocks noChangeShapeType="1"/>
            </p:cNvSpPr>
            <p:nvPr/>
          </p:nvSpPr>
          <p:spPr bwMode="auto">
            <a:xfrm>
              <a:off x="2400"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Oval 17"/>
            <p:cNvSpPr>
              <a:spLocks noChangeArrowheads="1"/>
            </p:cNvSpPr>
            <p:nvPr/>
          </p:nvSpPr>
          <p:spPr bwMode="auto">
            <a:xfrm flipH="1">
              <a:off x="3037" y="3528"/>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dirty="0">
                  <a:latin typeface="Times New Roman" panose="02020603050405020304" pitchFamily="18" charset="0"/>
                </a:rPr>
                <a:t>3</a:t>
              </a:r>
            </a:p>
          </p:txBody>
        </p:sp>
        <p:sp>
          <p:nvSpPr>
            <p:cNvPr id="43" name="Line 18"/>
            <p:cNvSpPr>
              <a:spLocks noChangeShapeType="1"/>
            </p:cNvSpPr>
            <p:nvPr/>
          </p:nvSpPr>
          <p:spPr bwMode="auto">
            <a:xfrm>
              <a:off x="3013" y="3384"/>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Oval 19"/>
            <p:cNvSpPr>
              <a:spLocks noChangeArrowheads="1"/>
            </p:cNvSpPr>
            <p:nvPr/>
          </p:nvSpPr>
          <p:spPr bwMode="auto">
            <a:xfrm flipH="1">
              <a:off x="2640" y="350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kumimoji="1" lang="en-US" altLang="zh-CN" sz="2400" b="1" dirty="0">
                  <a:latin typeface="Times New Roman" panose="02020603050405020304" pitchFamily="18" charset="0"/>
                </a:rPr>
                <a:t>7</a:t>
              </a:r>
            </a:p>
          </p:txBody>
        </p:sp>
        <p:sp>
          <p:nvSpPr>
            <p:cNvPr id="45" name="Line 20"/>
            <p:cNvSpPr>
              <a:spLocks noChangeShapeType="1"/>
            </p:cNvSpPr>
            <p:nvPr/>
          </p:nvSpPr>
          <p:spPr bwMode="auto">
            <a:xfrm flipH="1">
              <a:off x="2784" y="3408"/>
              <a:ext cx="96" cy="14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up)">
                                      <p:cBhvr>
                                        <p:cTn id="11" dur="500"/>
                                        <p:tgtEl>
                                          <p:spTgt spid="18"/>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up)">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Insertion in a AVL tree</a:t>
            </a:r>
            <a:endParaRPr lang="zh-CN" altLang="en-US" dirty="0"/>
          </a:p>
        </p:txBody>
      </p:sp>
      <p:sp>
        <p:nvSpPr>
          <p:cNvPr id="3" name="内容占位符 2"/>
          <p:cNvSpPr>
            <a:spLocks noGrp="1"/>
          </p:cNvSpPr>
          <p:nvPr>
            <p:ph idx="1"/>
          </p:nvPr>
        </p:nvSpPr>
        <p:spPr/>
        <p:txBody>
          <a:bodyPr/>
          <a:lstStyle/>
          <a:p>
            <a:r>
              <a:rPr lang="en-US" altLang="zh-TW" dirty="0"/>
              <a:t>Single rotation</a:t>
            </a:r>
          </a:p>
          <a:p>
            <a:r>
              <a:rPr lang="en-US" altLang="zh-TW" dirty="0"/>
              <a:t>Double rotation</a:t>
            </a:r>
          </a:p>
          <a:p>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B-Tree</a:t>
            </a:r>
            <a:endParaRPr lang="zh-CN" altLang="en-US" dirty="0"/>
          </a:p>
        </p:txBody>
      </p:sp>
      <p:sp>
        <p:nvSpPr>
          <p:cNvPr id="3" name="内容占位符 2"/>
          <p:cNvSpPr>
            <a:spLocks noGrp="1"/>
          </p:cNvSpPr>
          <p:nvPr>
            <p:ph idx="1"/>
          </p:nvPr>
        </p:nvSpPr>
        <p:spPr/>
        <p:txBody>
          <a:bodyPr/>
          <a:lstStyle/>
          <a:p>
            <a:r>
              <a:rPr lang="en-US" altLang="zh-CN" dirty="0"/>
              <a:t>Definition of B-Tree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Ch.5 Heap</a:t>
            </a:r>
            <a:endParaRPr lang="zh-CN" altLang="en-US" dirty="0"/>
          </a:p>
        </p:txBody>
      </p:sp>
      <p:sp>
        <p:nvSpPr>
          <p:cNvPr id="3" name="内容占位符 2"/>
          <p:cNvSpPr>
            <a:spLocks noGrp="1"/>
          </p:cNvSpPr>
          <p:nvPr>
            <p:ph idx="1"/>
          </p:nvPr>
        </p:nvSpPr>
        <p:spPr/>
        <p:txBody>
          <a:bodyPr>
            <a:normAutofit fontScale="90000" lnSpcReduction="10000"/>
          </a:bodyPr>
          <a:lstStyle/>
          <a:p>
            <a:r>
              <a:rPr lang="en-US" altLang="zh-CN" dirty="0"/>
              <a:t>Min heap &amp; max heap</a:t>
            </a:r>
          </a:p>
          <a:p>
            <a:r>
              <a:rPr lang="en-US" altLang="zh-CN" dirty="0"/>
              <a:t>Structure property &amp; value property</a:t>
            </a:r>
          </a:p>
          <a:p>
            <a:r>
              <a:rPr lang="en-US" altLang="zh-CN" dirty="0"/>
              <a:t>A min heap is a key sequence {k</a:t>
            </a:r>
            <a:r>
              <a:rPr lang="en-US" altLang="zh-CN" sz="2000" dirty="0"/>
              <a:t>1</a:t>
            </a:r>
            <a:r>
              <a:rPr lang="en-US" altLang="zh-CN" dirty="0"/>
              <a:t>, k</a:t>
            </a:r>
            <a:r>
              <a:rPr lang="en-US" altLang="zh-CN" sz="2000" dirty="0"/>
              <a:t>2</a:t>
            </a:r>
            <a:r>
              <a:rPr lang="en-US" altLang="zh-CN" dirty="0"/>
              <a:t>,…,</a:t>
            </a:r>
            <a:r>
              <a:rPr lang="en-US" altLang="zh-CN" dirty="0" err="1"/>
              <a:t>k</a:t>
            </a:r>
            <a:r>
              <a:rPr lang="en-US" altLang="zh-CN" sz="2000" dirty="0" err="1"/>
              <a:t>n</a:t>
            </a:r>
            <a:r>
              <a:rPr lang="en-US" altLang="zh-CN" dirty="0"/>
              <a:t>}, which satisfies the following properties:</a:t>
            </a:r>
          </a:p>
          <a:p>
            <a:pPr lvl="1"/>
            <a:r>
              <a:rPr lang="en-US" altLang="zh-CN" dirty="0"/>
              <a:t>K</a:t>
            </a:r>
            <a:r>
              <a:rPr lang="en-US" altLang="zh-CN" sz="1800" dirty="0"/>
              <a:t>i</a:t>
            </a:r>
            <a:r>
              <a:rPr lang="en-US" altLang="zh-CN" dirty="0"/>
              <a:t>&lt;=K</a:t>
            </a:r>
            <a:r>
              <a:rPr lang="en-US" altLang="zh-CN" sz="1800" dirty="0"/>
              <a:t>2i</a:t>
            </a:r>
            <a:r>
              <a:rPr lang="en-US" altLang="zh-CN" dirty="0"/>
              <a:t> (i=1,…,n/2-1)</a:t>
            </a:r>
          </a:p>
          <a:p>
            <a:pPr lvl="1"/>
            <a:r>
              <a:rPr lang="en-US" altLang="zh-CN" dirty="0"/>
              <a:t>K</a:t>
            </a:r>
            <a:r>
              <a:rPr lang="en-US" altLang="zh-CN" sz="1800" dirty="0"/>
              <a:t>i</a:t>
            </a:r>
            <a:r>
              <a:rPr lang="en-US" altLang="zh-CN" dirty="0"/>
              <a:t>&lt;=k</a:t>
            </a:r>
            <a:r>
              <a:rPr lang="en-US" altLang="zh-CN" sz="1800" dirty="0"/>
              <a:t>2i+1</a:t>
            </a:r>
          </a:p>
          <a:p>
            <a:r>
              <a:rPr lang="en-US" altLang="zh-CN" dirty="0"/>
              <a:t>Operations</a:t>
            </a:r>
          </a:p>
          <a:p>
            <a:pPr lvl="1"/>
            <a:r>
              <a:rPr lang="en-US" altLang="zh-CN" dirty="0"/>
              <a:t>Insertion</a:t>
            </a:r>
          </a:p>
          <a:p>
            <a:pPr lvl="1"/>
            <a:r>
              <a:rPr lang="en-US" altLang="zh-CN" dirty="0" err="1"/>
              <a:t>Delete_Min</a:t>
            </a:r>
            <a:endParaRPr lang="en-US" altLang="zh-CN" dirty="0"/>
          </a:p>
          <a:p>
            <a:pPr lvl="1"/>
            <a:r>
              <a:rPr lang="en-US" altLang="zh-CN" dirty="0"/>
              <a:t>Generate a heap</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p:cNvSpPr txBox="1">
            <a:spLocks noChangeArrowheads="1"/>
          </p:cNvSpPr>
          <p:nvPr/>
        </p:nvSpPr>
        <p:spPr bwMode="auto">
          <a:xfrm>
            <a:off x="2286000" y="152400"/>
            <a:ext cx="5486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3600" b="1">
                <a:latin typeface="Times New Roman" panose="02020603050405020304" pitchFamily="18" charset="0"/>
              </a:rPr>
              <a:t>Basic Heap Operations</a:t>
            </a:r>
          </a:p>
        </p:txBody>
      </p:sp>
      <p:sp>
        <p:nvSpPr>
          <p:cNvPr id="22532" name="Text Box 4"/>
          <p:cNvSpPr txBox="1">
            <a:spLocks noChangeArrowheads="1"/>
          </p:cNvSpPr>
          <p:nvPr/>
        </p:nvSpPr>
        <p:spPr bwMode="auto">
          <a:xfrm>
            <a:off x="609600" y="1066800"/>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FF"/>
                </a:solidFill>
                <a:latin typeface="Times New Roman" panose="02020603050405020304" pitchFamily="18" charset="0"/>
                <a:sym typeface="Wingdings" panose="05000000000000000000" pitchFamily="2" charset="2"/>
              </a:rPr>
              <a:t>  insertion</a:t>
            </a:r>
            <a:endParaRPr kumimoji="1" lang="en-US" altLang="zh-CN" sz="2800" b="1">
              <a:solidFill>
                <a:srgbClr val="0000FF"/>
              </a:solidFill>
              <a:latin typeface="Times New Roman" panose="02020603050405020304" pitchFamily="18" charset="0"/>
            </a:endParaRPr>
          </a:p>
        </p:txBody>
      </p:sp>
      <p:grpSp>
        <p:nvGrpSpPr>
          <p:cNvPr id="22533" name="Group 5"/>
          <p:cNvGrpSpPr/>
          <p:nvPr/>
        </p:nvGrpSpPr>
        <p:grpSpPr bwMode="auto">
          <a:xfrm>
            <a:off x="1060450" y="2286000"/>
            <a:ext cx="1905000" cy="1905000"/>
            <a:chOff x="1200" y="2784"/>
            <a:chExt cx="1200" cy="1200"/>
          </a:xfrm>
        </p:grpSpPr>
        <p:sp>
          <p:nvSpPr>
            <p:cNvPr id="13353" name="Oval 6"/>
            <p:cNvSpPr>
              <a:spLocks noChangeArrowheads="1"/>
            </p:cNvSpPr>
            <p:nvPr/>
          </p:nvSpPr>
          <p:spPr bwMode="auto">
            <a:xfrm>
              <a:off x="1872" y="2784"/>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10</a:t>
              </a:r>
            </a:p>
          </p:txBody>
        </p:sp>
        <p:sp>
          <p:nvSpPr>
            <p:cNvPr id="13354" name="Oval 7"/>
            <p:cNvSpPr>
              <a:spLocks noChangeArrowheads="1"/>
            </p:cNvSpPr>
            <p:nvPr/>
          </p:nvSpPr>
          <p:spPr bwMode="auto">
            <a:xfrm>
              <a:off x="1488" y="3168"/>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12</a:t>
              </a:r>
            </a:p>
          </p:txBody>
        </p:sp>
        <p:sp>
          <p:nvSpPr>
            <p:cNvPr id="13355" name="Oval 8"/>
            <p:cNvSpPr>
              <a:spLocks noChangeArrowheads="1"/>
            </p:cNvSpPr>
            <p:nvPr/>
          </p:nvSpPr>
          <p:spPr bwMode="auto">
            <a:xfrm>
              <a:off x="1200" y="3552"/>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15</a:t>
              </a:r>
            </a:p>
          </p:txBody>
        </p:sp>
        <p:sp>
          <p:nvSpPr>
            <p:cNvPr id="13356" name="Line 9"/>
            <p:cNvSpPr>
              <a:spLocks noChangeShapeType="1"/>
            </p:cNvSpPr>
            <p:nvPr/>
          </p:nvSpPr>
          <p:spPr bwMode="auto">
            <a:xfrm flipH="1">
              <a:off x="1369" y="3386"/>
              <a:ext cx="190" cy="19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7" name="Line 10"/>
            <p:cNvSpPr>
              <a:spLocks noChangeShapeType="1"/>
            </p:cNvSpPr>
            <p:nvPr/>
          </p:nvSpPr>
          <p:spPr bwMode="auto">
            <a:xfrm flipH="1">
              <a:off x="1654" y="2976"/>
              <a:ext cx="218" cy="21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58" name="Oval 11"/>
            <p:cNvSpPr>
              <a:spLocks noChangeArrowheads="1"/>
            </p:cNvSpPr>
            <p:nvPr/>
          </p:nvSpPr>
          <p:spPr bwMode="auto">
            <a:xfrm flipH="1">
              <a:off x="2160" y="3168"/>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20</a:t>
              </a:r>
            </a:p>
          </p:txBody>
        </p:sp>
        <p:sp>
          <p:nvSpPr>
            <p:cNvPr id="13359" name="Line 12"/>
            <p:cNvSpPr>
              <a:spLocks noChangeShapeType="1"/>
            </p:cNvSpPr>
            <p:nvPr/>
          </p:nvSpPr>
          <p:spPr bwMode="auto">
            <a:xfrm>
              <a:off x="2085" y="2976"/>
              <a:ext cx="190" cy="19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0" name="Rectangle 13"/>
            <p:cNvSpPr>
              <a:spLocks noChangeArrowheads="1"/>
            </p:cNvSpPr>
            <p:nvPr/>
          </p:nvSpPr>
          <p:spPr bwMode="auto">
            <a:xfrm>
              <a:off x="1632" y="2832"/>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[1]</a:t>
              </a:r>
            </a:p>
          </p:txBody>
        </p:sp>
        <p:sp>
          <p:nvSpPr>
            <p:cNvPr id="13361" name="Rectangle 14"/>
            <p:cNvSpPr>
              <a:spLocks noChangeArrowheads="1"/>
            </p:cNvSpPr>
            <p:nvPr/>
          </p:nvSpPr>
          <p:spPr bwMode="auto">
            <a:xfrm>
              <a:off x="1248" y="3168"/>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[2]</a:t>
              </a:r>
            </a:p>
          </p:txBody>
        </p:sp>
        <p:sp>
          <p:nvSpPr>
            <p:cNvPr id="13362" name="Rectangle 15"/>
            <p:cNvSpPr>
              <a:spLocks noChangeArrowheads="1"/>
            </p:cNvSpPr>
            <p:nvPr/>
          </p:nvSpPr>
          <p:spPr bwMode="auto">
            <a:xfrm>
              <a:off x="1920" y="3168"/>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[3]</a:t>
              </a:r>
            </a:p>
          </p:txBody>
        </p:sp>
        <p:sp>
          <p:nvSpPr>
            <p:cNvPr id="13363" name="Rectangle 16"/>
            <p:cNvSpPr>
              <a:spLocks noChangeArrowheads="1"/>
            </p:cNvSpPr>
            <p:nvPr/>
          </p:nvSpPr>
          <p:spPr bwMode="auto">
            <a:xfrm>
              <a:off x="1200" y="3840"/>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[4]</a:t>
              </a:r>
            </a:p>
          </p:txBody>
        </p:sp>
        <p:sp>
          <p:nvSpPr>
            <p:cNvPr id="13364" name="Oval 17"/>
            <p:cNvSpPr>
              <a:spLocks noChangeArrowheads="1"/>
            </p:cNvSpPr>
            <p:nvPr/>
          </p:nvSpPr>
          <p:spPr bwMode="auto">
            <a:xfrm flipH="1">
              <a:off x="1680" y="3552"/>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18</a:t>
              </a:r>
            </a:p>
          </p:txBody>
        </p:sp>
        <p:sp>
          <p:nvSpPr>
            <p:cNvPr id="13365" name="Line 18"/>
            <p:cNvSpPr>
              <a:spLocks noChangeShapeType="1"/>
            </p:cNvSpPr>
            <p:nvPr/>
          </p:nvSpPr>
          <p:spPr bwMode="auto">
            <a:xfrm>
              <a:off x="1657" y="3386"/>
              <a:ext cx="145" cy="168"/>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66" name="Rectangle 19"/>
            <p:cNvSpPr>
              <a:spLocks noChangeArrowheads="1"/>
            </p:cNvSpPr>
            <p:nvPr/>
          </p:nvSpPr>
          <p:spPr bwMode="auto">
            <a:xfrm>
              <a:off x="1680" y="3840"/>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[5]</a:t>
              </a:r>
            </a:p>
          </p:txBody>
        </p:sp>
        <p:sp>
          <p:nvSpPr>
            <p:cNvPr id="13367" name="Oval 20"/>
            <p:cNvSpPr>
              <a:spLocks noChangeArrowheads="1"/>
            </p:cNvSpPr>
            <p:nvPr/>
          </p:nvSpPr>
          <p:spPr bwMode="auto">
            <a:xfrm flipH="1">
              <a:off x="1968" y="3552"/>
              <a:ext cx="240" cy="240"/>
            </a:xfrm>
            <a:prstGeom prst="ellipse">
              <a:avLst/>
            </a:prstGeom>
            <a:solidFill>
              <a:srgbClr val="C0C0C0"/>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zh-CN" altLang="zh-CN" sz="2400" b="1">
                <a:latin typeface="Times New Roman" panose="02020603050405020304" pitchFamily="18" charset="0"/>
              </a:endParaRPr>
            </a:p>
          </p:txBody>
        </p:sp>
        <p:sp>
          <p:nvSpPr>
            <p:cNvPr id="13368" name="Rectangle 21"/>
            <p:cNvSpPr>
              <a:spLocks noChangeArrowheads="1"/>
            </p:cNvSpPr>
            <p:nvPr/>
          </p:nvSpPr>
          <p:spPr bwMode="auto">
            <a:xfrm>
              <a:off x="1968" y="3840"/>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[6]</a:t>
              </a:r>
            </a:p>
          </p:txBody>
        </p:sp>
        <p:sp>
          <p:nvSpPr>
            <p:cNvPr id="13369" name="Line 22"/>
            <p:cNvSpPr>
              <a:spLocks noChangeShapeType="1"/>
            </p:cNvSpPr>
            <p:nvPr/>
          </p:nvSpPr>
          <p:spPr bwMode="auto">
            <a:xfrm flipH="1">
              <a:off x="2137" y="3408"/>
              <a:ext cx="96" cy="168"/>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51" name="Text Box 23"/>
          <p:cNvSpPr txBox="1">
            <a:spLocks noChangeArrowheads="1"/>
          </p:cNvSpPr>
          <p:nvPr/>
        </p:nvSpPr>
        <p:spPr bwMode="auto">
          <a:xfrm>
            <a:off x="762000" y="16002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ym typeface="Wingdings" panose="05000000000000000000" pitchFamily="2" charset="2"/>
              </a:rPr>
              <a:t> </a:t>
            </a:r>
            <a:r>
              <a:rPr kumimoji="1" lang="en-US" altLang="zh-CN" sz="2400" b="1"/>
              <a:t>Sketch of the idea:</a:t>
            </a:r>
          </a:p>
        </p:txBody>
      </p:sp>
      <p:sp>
        <p:nvSpPr>
          <p:cNvPr id="22552" name="AutoShape 24"/>
          <p:cNvSpPr>
            <a:spLocks noChangeArrowheads="1"/>
          </p:cNvSpPr>
          <p:nvPr/>
        </p:nvSpPr>
        <p:spPr bwMode="auto">
          <a:xfrm>
            <a:off x="3810000" y="2209800"/>
            <a:ext cx="4495800" cy="1676400"/>
          </a:xfrm>
          <a:prstGeom prst="wedgeRoundRectCallout">
            <a:avLst>
              <a:gd name="adj1" fmla="val -78144"/>
              <a:gd name="adj2" fmla="val 32574"/>
              <a:gd name="adj3" fmla="val 16667"/>
            </a:avLst>
          </a:prstGeom>
          <a:gradFill rotWithShape="0">
            <a:gsLst>
              <a:gs pos="0">
                <a:srgbClr val="C2C2C2"/>
              </a:gs>
              <a:gs pos="50000">
                <a:srgbClr val="FFFFFF"/>
              </a:gs>
              <a:gs pos="100000">
                <a:srgbClr val="C2C2C2"/>
              </a:gs>
            </a:gsLst>
            <a:lin ang="0" scaled="1"/>
          </a:gra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The only possible position </a:t>
            </a:r>
          </a:p>
          <a:p>
            <a:pPr algn="ctr" eaLnBrk="1" hangingPunct="1">
              <a:spcBef>
                <a:spcPct val="0"/>
              </a:spcBef>
              <a:buFontTx/>
              <a:buNone/>
            </a:pPr>
            <a:r>
              <a:rPr kumimoji="1" lang="en-US" altLang="zh-CN" sz="2400" b="1">
                <a:latin typeface="Times New Roman" panose="02020603050405020304" pitchFamily="18" charset="0"/>
              </a:rPr>
              <a:t>for a new node </a:t>
            </a:r>
          </a:p>
          <a:p>
            <a:pPr algn="ctr" eaLnBrk="1" hangingPunct="1">
              <a:spcBef>
                <a:spcPct val="0"/>
              </a:spcBef>
              <a:buFontTx/>
              <a:buNone/>
            </a:pPr>
            <a:r>
              <a:rPr kumimoji="1" lang="en-US" altLang="zh-CN" sz="2400" b="1">
                <a:latin typeface="Times New Roman" panose="02020603050405020304" pitchFamily="18" charset="0"/>
              </a:rPr>
              <a:t>since a heap must be </a:t>
            </a:r>
          </a:p>
          <a:p>
            <a:pPr algn="ctr" eaLnBrk="1" hangingPunct="1">
              <a:spcBef>
                <a:spcPct val="0"/>
              </a:spcBef>
              <a:buFontTx/>
              <a:buNone/>
            </a:pPr>
            <a:r>
              <a:rPr kumimoji="1" lang="en-US" altLang="zh-CN" sz="2400" b="1">
                <a:latin typeface="Times New Roman" panose="02020603050405020304" pitchFamily="18" charset="0"/>
              </a:rPr>
              <a:t>a complete binary tree.</a:t>
            </a:r>
          </a:p>
        </p:txBody>
      </p:sp>
      <p:sp>
        <p:nvSpPr>
          <p:cNvPr id="22553" name="Text Box 25"/>
          <p:cNvSpPr txBox="1">
            <a:spLocks noChangeArrowheads="1"/>
          </p:cNvSpPr>
          <p:nvPr/>
        </p:nvSpPr>
        <p:spPr bwMode="auto">
          <a:xfrm>
            <a:off x="990600" y="45720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rPr>
              <a:t>Case 1 :  new_item = 21</a:t>
            </a:r>
          </a:p>
        </p:txBody>
      </p:sp>
      <p:sp>
        <p:nvSpPr>
          <p:cNvPr id="22554" name="Oval 26"/>
          <p:cNvSpPr>
            <a:spLocks noChangeArrowheads="1"/>
          </p:cNvSpPr>
          <p:nvPr/>
        </p:nvSpPr>
        <p:spPr bwMode="auto">
          <a:xfrm flipH="1">
            <a:off x="2281238" y="35052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21</a:t>
            </a:r>
            <a:endParaRPr kumimoji="1" lang="en-US" altLang="zh-CN" sz="2400" b="1">
              <a:latin typeface="Times New Roman" panose="02020603050405020304" pitchFamily="18" charset="0"/>
            </a:endParaRPr>
          </a:p>
        </p:txBody>
      </p:sp>
      <p:grpSp>
        <p:nvGrpSpPr>
          <p:cNvPr id="22555" name="Group 27"/>
          <p:cNvGrpSpPr/>
          <p:nvPr/>
        </p:nvGrpSpPr>
        <p:grpSpPr bwMode="auto">
          <a:xfrm>
            <a:off x="4267200" y="4572000"/>
            <a:ext cx="1219200" cy="381000"/>
            <a:chOff x="2496" y="2256"/>
            <a:chExt cx="768" cy="240"/>
          </a:xfrm>
        </p:grpSpPr>
        <p:sp>
          <p:nvSpPr>
            <p:cNvPr id="13350" name="Oval 28"/>
            <p:cNvSpPr>
              <a:spLocks noChangeArrowheads="1"/>
            </p:cNvSpPr>
            <p:nvPr/>
          </p:nvSpPr>
          <p:spPr bwMode="auto">
            <a:xfrm flipH="1">
              <a:off x="2496"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20</a:t>
              </a:r>
            </a:p>
          </p:txBody>
        </p:sp>
        <p:sp>
          <p:nvSpPr>
            <p:cNvPr id="13351" name="Oval 29"/>
            <p:cNvSpPr>
              <a:spLocks noChangeArrowheads="1"/>
            </p:cNvSpPr>
            <p:nvPr/>
          </p:nvSpPr>
          <p:spPr bwMode="auto">
            <a:xfrm flipH="1">
              <a:off x="3024"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21</a:t>
              </a:r>
              <a:endParaRPr kumimoji="1" lang="en-US" altLang="zh-CN" sz="2400" b="1">
                <a:latin typeface="Times New Roman" panose="02020603050405020304" pitchFamily="18" charset="0"/>
              </a:endParaRPr>
            </a:p>
          </p:txBody>
        </p:sp>
        <p:sp>
          <p:nvSpPr>
            <p:cNvPr id="13352" name="Rectangle 30"/>
            <p:cNvSpPr>
              <a:spLocks noChangeArrowheads="1"/>
            </p:cNvSpPr>
            <p:nvPr/>
          </p:nvSpPr>
          <p:spPr bwMode="auto">
            <a:xfrm>
              <a:off x="2784" y="2256"/>
              <a:ext cx="19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&lt;</a:t>
              </a:r>
            </a:p>
          </p:txBody>
        </p:sp>
      </p:grpSp>
      <p:graphicFrame>
        <p:nvGraphicFramePr>
          <p:cNvPr id="22559" name="Object 31"/>
          <p:cNvGraphicFramePr>
            <a:graphicFrameLocks noChangeAspect="1"/>
          </p:cNvGraphicFramePr>
          <p:nvPr/>
        </p:nvGraphicFramePr>
        <p:xfrm>
          <a:off x="5715000" y="4343400"/>
          <a:ext cx="466725" cy="685800"/>
        </p:xfrm>
        <a:graphic>
          <a:graphicData uri="http://schemas.openxmlformats.org/presentationml/2006/ole">
            <mc:AlternateContent xmlns:mc="http://schemas.openxmlformats.org/markup-compatibility/2006">
              <mc:Choice xmlns:v="urn:schemas-microsoft-com:vml" Requires="v">
                <p:oleObj name="剪辑" r:id="rId9" imgW="13487400" imgH="19840575" progId="">
                  <p:embed/>
                </p:oleObj>
              </mc:Choice>
              <mc:Fallback>
                <p:oleObj name="剪辑" r:id="rId9" imgW="13487400" imgH="19840575" progId="">
                  <p:embed/>
                  <p:pic>
                    <p:nvPicPr>
                      <p:cNvPr id="22559" name="Object 31"/>
                      <p:cNvPicPr>
                        <a:picLocks noChangeAspect="1"/>
                      </p:cNvPicPr>
                      <p:nvPr/>
                    </p:nvPicPr>
                    <p:blipFill>
                      <a:blip r:embed="rId10"/>
                      <a:stretch>
                        <a:fillRect/>
                      </a:stretch>
                    </p:blipFill>
                    <p:spPr>
                      <a:xfrm>
                        <a:off x="5715000" y="4343400"/>
                        <a:ext cx="466725" cy="685800"/>
                      </a:xfrm>
                      <a:prstGeom prst="rect">
                        <a:avLst/>
                      </a:prstGeom>
                      <a:noFill/>
                      <a:ln w="9525">
                        <a:noFill/>
                      </a:ln>
                    </p:spPr>
                  </p:pic>
                </p:oleObj>
              </mc:Fallback>
            </mc:AlternateContent>
          </a:graphicData>
        </a:graphic>
      </p:graphicFrame>
      <p:sp>
        <p:nvSpPr>
          <p:cNvPr id="22560" name="Text Box 32"/>
          <p:cNvSpPr txBox="1">
            <a:spLocks noChangeArrowheads="1"/>
          </p:cNvSpPr>
          <p:nvPr/>
        </p:nvSpPr>
        <p:spPr bwMode="auto">
          <a:xfrm>
            <a:off x="990600" y="53340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rPr>
              <a:t>Case 2 :  new_item = 17</a:t>
            </a:r>
          </a:p>
        </p:txBody>
      </p:sp>
      <p:sp>
        <p:nvSpPr>
          <p:cNvPr id="22561" name="Oval 33"/>
          <p:cNvSpPr>
            <a:spLocks noChangeArrowheads="1"/>
          </p:cNvSpPr>
          <p:nvPr/>
        </p:nvSpPr>
        <p:spPr bwMode="auto">
          <a:xfrm flipH="1">
            <a:off x="2286000" y="35052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17</a:t>
            </a:r>
          </a:p>
        </p:txBody>
      </p:sp>
      <p:grpSp>
        <p:nvGrpSpPr>
          <p:cNvPr id="22562" name="Group 34"/>
          <p:cNvGrpSpPr/>
          <p:nvPr/>
        </p:nvGrpSpPr>
        <p:grpSpPr bwMode="auto">
          <a:xfrm>
            <a:off x="4267200" y="5334000"/>
            <a:ext cx="1219200" cy="381000"/>
            <a:chOff x="2496" y="2256"/>
            <a:chExt cx="768" cy="240"/>
          </a:xfrm>
        </p:grpSpPr>
        <p:sp>
          <p:nvSpPr>
            <p:cNvPr id="13347" name="Oval 35"/>
            <p:cNvSpPr>
              <a:spLocks noChangeArrowheads="1"/>
            </p:cNvSpPr>
            <p:nvPr/>
          </p:nvSpPr>
          <p:spPr bwMode="auto">
            <a:xfrm flipH="1">
              <a:off x="2496"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20</a:t>
              </a:r>
            </a:p>
          </p:txBody>
        </p:sp>
        <p:sp>
          <p:nvSpPr>
            <p:cNvPr id="13348" name="Oval 36"/>
            <p:cNvSpPr>
              <a:spLocks noChangeArrowheads="1"/>
            </p:cNvSpPr>
            <p:nvPr/>
          </p:nvSpPr>
          <p:spPr bwMode="auto">
            <a:xfrm flipH="1">
              <a:off x="3024"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17</a:t>
              </a:r>
              <a:endParaRPr kumimoji="1" lang="en-US" altLang="zh-CN" sz="2400" b="1">
                <a:latin typeface="Times New Roman" panose="02020603050405020304" pitchFamily="18" charset="0"/>
              </a:endParaRPr>
            </a:p>
          </p:txBody>
        </p:sp>
        <p:sp>
          <p:nvSpPr>
            <p:cNvPr id="13349" name="Rectangle 37"/>
            <p:cNvSpPr>
              <a:spLocks noChangeArrowheads="1"/>
            </p:cNvSpPr>
            <p:nvPr/>
          </p:nvSpPr>
          <p:spPr bwMode="auto">
            <a:xfrm>
              <a:off x="2784" y="2256"/>
              <a:ext cx="19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&gt;</a:t>
              </a:r>
            </a:p>
          </p:txBody>
        </p:sp>
      </p:grpSp>
      <p:sp>
        <p:nvSpPr>
          <p:cNvPr id="22566" name="Oval 38"/>
          <p:cNvSpPr>
            <a:spLocks noChangeArrowheads="1"/>
          </p:cNvSpPr>
          <p:nvPr/>
        </p:nvSpPr>
        <p:spPr bwMode="auto">
          <a:xfrm flipH="1">
            <a:off x="2586038" y="28956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17</a:t>
            </a:r>
            <a:endParaRPr kumimoji="1" lang="en-US" altLang="zh-CN" sz="2400" b="1">
              <a:latin typeface="Times New Roman" panose="02020603050405020304" pitchFamily="18" charset="0"/>
            </a:endParaRPr>
          </a:p>
        </p:txBody>
      </p:sp>
      <p:sp>
        <p:nvSpPr>
          <p:cNvPr id="22567" name="Oval 39"/>
          <p:cNvSpPr>
            <a:spLocks noChangeArrowheads="1"/>
          </p:cNvSpPr>
          <p:nvPr/>
        </p:nvSpPr>
        <p:spPr bwMode="auto">
          <a:xfrm flipH="1">
            <a:off x="2286000" y="35052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20</a:t>
            </a:r>
          </a:p>
        </p:txBody>
      </p:sp>
      <p:grpSp>
        <p:nvGrpSpPr>
          <p:cNvPr id="22568" name="Group 40"/>
          <p:cNvGrpSpPr/>
          <p:nvPr/>
        </p:nvGrpSpPr>
        <p:grpSpPr bwMode="auto">
          <a:xfrm>
            <a:off x="5715000" y="5334000"/>
            <a:ext cx="1219200" cy="381000"/>
            <a:chOff x="2496" y="2256"/>
            <a:chExt cx="768" cy="240"/>
          </a:xfrm>
        </p:grpSpPr>
        <p:sp>
          <p:nvSpPr>
            <p:cNvPr id="13344" name="Oval 41"/>
            <p:cNvSpPr>
              <a:spLocks noChangeArrowheads="1"/>
            </p:cNvSpPr>
            <p:nvPr/>
          </p:nvSpPr>
          <p:spPr bwMode="auto">
            <a:xfrm flipH="1">
              <a:off x="2496"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10</a:t>
              </a:r>
            </a:p>
          </p:txBody>
        </p:sp>
        <p:sp>
          <p:nvSpPr>
            <p:cNvPr id="13345" name="Oval 42"/>
            <p:cNvSpPr>
              <a:spLocks noChangeArrowheads="1"/>
            </p:cNvSpPr>
            <p:nvPr/>
          </p:nvSpPr>
          <p:spPr bwMode="auto">
            <a:xfrm flipH="1">
              <a:off x="3024"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17</a:t>
              </a:r>
              <a:endParaRPr kumimoji="1" lang="en-US" altLang="zh-CN" sz="2400" b="1">
                <a:latin typeface="Times New Roman" panose="02020603050405020304" pitchFamily="18" charset="0"/>
              </a:endParaRPr>
            </a:p>
          </p:txBody>
        </p:sp>
        <p:sp>
          <p:nvSpPr>
            <p:cNvPr id="13346" name="Rectangle 43"/>
            <p:cNvSpPr>
              <a:spLocks noChangeArrowheads="1"/>
            </p:cNvSpPr>
            <p:nvPr/>
          </p:nvSpPr>
          <p:spPr bwMode="auto">
            <a:xfrm>
              <a:off x="2784" y="2256"/>
              <a:ext cx="19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&lt;</a:t>
              </a:r>
            </a:p>
          </p:txBody>
        </p:sp>
      </p:grpSp>
      <p:graphicFrame>
        <p:nvGraphicFramePr>
          <p:cNvPr id="22572" name="Object 44"/>
          <p:cNvGraphicFramePr>
            <a:graphicFrameLocks noChangeAspect="1"/>
          </p:cNvGraphicFramePr>
          <p:nvPr/>
        </p:nvGraphicFramePr>
        <p:xfrm>
          <a:off x="7162800" y="5105400"/>
          <a:ext cx="466725" cy="685800"/>
        </p:xfrm>
        <a:graphic>
          <a:graphicData uri="http://schemas.openxmlformats.org/presentationml/2006/ole">
            <mc:AlternateContent xmlns:mc="http://schemas.openxmlformats.org/markup-compatibility/2006">
              <mc:Choice xmlns:v="urn:schemas-microsoft-com:vml" Requires="v">
                <p:oleObj name="剪辑" r:id="rId9" imgW="13487400" imgH="19840575" progId="">
                  <p:embed/>
                </p:oleObj>
              </mc:Choice>
              <mc:Fallback>
                <p:oleObj name="剪辑" r:id="rId9" imgW="13487400" imgH="19840575" progId="">
                  <p:embed/>
                  <p:pic>
                    <p:nvPicPr>
                      <p:cNvPr id="22572" name="Object 44"/>
                      <p:cNvPicPr>
                        <a:picLocks noChangeAspect="1"/>
                      </p:cNvPicPr>
                      <p:nvPr/>
                    </p:nvPicPr>
                    <p:blipFill>
                      <a:blip r:embed="rId10"/>
                      <a:stretch>
                        <a:fillRect/>
                      </a:stretch>
                    </p:blipFill>
                    <p:spPr>
                      <a:xfrm>
                        <a:off x="7162800" y="5105400"/>
                        <a:ext cx="466725" cy="685800"/>
                      </a:xfrm>
                      <a:prstGeom prst="rect">
                        <a:avLst/>
                      </a:prstGeom>
                      <a:noFill/>
                      <a:ln w="9525">
                        <a:noFill/>
                      </a:ln>
                    </p:spPr>
                  </p:pic>
                </p:oleObj>
              </mc:Fallback>
            </mc:AlternateContent>
          </a:graphicData>
        </a:graphic>
      </p:graphicFrame>
      <p:sp>
        <p:nvSpPr>
          <p:cNvPr id="22573" name="Text Box 45"/>
          <p:cNvSpPr txBox="1">
            <a:spLocks noChangeArrowheads="1"/>
          </p:cNvSpPr>
          <p:nvPr/>
        </p:nvSpPr>
        <p:spPr bwMode="auto">
          <a:xfrm>
            <a:off x="990600" y="6172200"/>
            <a:ext cx="335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rPr>
              <a:t>Case 3 :  new_item = 9</a:t>
            </a:r>
          </a:p>
        </p:txBody>
      </p:sp>
      <p:grpSp>
        <p:nvGrpSpPr>
          <p:cNvPr id="22574" name="Group 46"/>
          <p:cNvGrpSpPr/>
          <p:nvPr/>
        </p:nvGrpSpPr>
        <p:grpSpPr bwMode="auto">
          <a:xfrm>
            <a:off x="4267200" y="6172200"/>
            <a:ext cx="1219200" cy="381000"/>
            <a:chOff x="2496" y="2256"/>
            <a:chExt cx="768" cy="240"/>
          </a:xfrm>
        </p:grpSpPr>
        <p:sp>
          <p:nvSpPr>
            <p:cNvPr id="13341" name="Oval 47"/>
            <p:cNvSpPr>
              <a:spLocks noChangeArrowheads="1"/>
            </p:cNvSpPr>
            <p:nvPr/>
          </p:nvSpPr>
          <p:spPr bwMode="auto">
            <a:xfrm flipH="1">
              <a:off x="2496"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20</a:t>
              </a:r>
            </a:p>
          </p:txBody>
        </p:sp>
        <p:sp>
          <p:nvSpPr>
            <p:cNvPr id="13342" name="Oval 48"/>
            <p:cNvSpPr>
              <a:spLocks noChangeArrowheads="1"/>
            </p:cNvSpPr>
            <p:nvPr/>
          </p:nvSpPr>
          <p:spPr bwMode="auto">
            <a:xfrm flipH="1">
              <a:off x="3024"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9</a:t>
              </a:r>
              <a:endParaRPr kumimoji="1" lang="en-US" altLang="zh-CN" sz="2400" b="1">
                <a:latin typeface="Times New Roman" panose="02020603050405020304" pitchFamily="18" charset="0"/>
              </a:endParaRPr>
            </a:p>
          </p:txBody>
        </p:sp>
        <p:sp>
          <p:nvSpPr>
            <p:cNvPr id="13343" name="Rectangle 49"/>
            <p:cNvSpPr>
              <a:spLocks noChangeArrowheads="1"/>
            </p:cNvSpPr>
            <p:nvPr/>
          </p:nvSpPr>
          <p:spPr bwMode="auto">
            <a:xfrm>
              <a:off x="2784" y="2256"/>
              <a:ext cx="19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&gt;</a:t>
              </a:r>
            </a:p>
          </p:txBody>
        </p:sp>
      </p:grpSp>
      <p:sp>
        <p:nvSpPr>
          <p:cNvPr id="22578" name="Oval 50"/>
          <p:cNvSpPr>
            <a:spLocks noChangeArrowheads="1"/>
          </p:cNvSpPr>
          <p:nvPr/>
        </p:nvSpPr>
        <p:spPr bwMode="auto">
          <a:xfrm flipH="1">
            <a:off x="2586038" y="28956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9</a:t>
            </a:r>
            <a:endParaRPr kumimoji="1" lang="en-US" altLang="zh-CN" sz="2400" b="1">
              <a:latin typeface="Times New Roman" panose="02020603050405020304" pitchFamily="18" charset="0"/>
            </a:endParaRPr>
          </a:p>
        </p:txBody>
      </p:sp>
      <p:grpSp>
        <p:nvGrpSpPr>
          <p:cNvPr id="22579" name="Group 51"/>
          <p:cNvGrpSpPr/>
          <p:nvPr/>
        </p:nvGrpSpPr>
        <p:grpSpPr bwMode="auto">
          <a:xfrm>
            <a:off x="5715000" y="6172200"/>
            <a:ext cx="1219200" cy="381000"/>
            <a:chOff x="2496" y="2256"/>
            <a:chExt cx="768" cy="240"/>
          </a:xfrm>
        </p:grpSpPr>
        <p:sp>
          <p:nvSpPr>
            <p:cNvPr id="13338" name="Oval 52"/>
            <p:cNvSpPr>
              <a:spLocks noChangeArrowheads="1"/>
            </p:cNvSpPr>
            <p:nvPr/>
          </p:nvSpPr>
          <p:spPr bwMode="auto">
            <a:xfrm flipH="1">
              <a:off x="2496"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10</a:t>
              </a:r>
            </a:p>
          </p:txBody>
        </p:sp>
        <p:sp>
          <p:nvSpPr>
            <p:cNvPr id="13339" name="Oval 53"/>
            <p:cNvSpPr>
              <a:spLocks noChangeArrowheads="1"/>
            </p:cNvSpPr>
            <p:nvPr/>
          </p:nvSpPr>
          <p:spPr bwMode="auto">
            <a:xfrm flipH="1">
              <a:off x="3024" y="225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9</a:t>
              </a:r>
              <a:endParaRPr kumimoji="1" lang="en-US" altLang="zh-CN" sz="2400" b="1">
                <a:latin typeface="Times New Roman" panose="02020603050405020304" pitchFamily="18" charset="0"/>
              </a:endParaRPr>
            </a:p>
          </p:txBody>
        </p:sp>
        <p:sp>
          <p:nvSpPr>
            <p:cNvPr id="13340" name="Rectangle 54"/>
            <p:cNvSpPr>
              <a:spLocks noChangeArrowheads="1"/>
            </p:cNvSpPr>
            <p:nvPr/>
          </p:nvSpPr>
          <p:spPr bwMode="auto">
            <a:xfrm>
              <a:off x="2784" y="2256"/>
              <a:ext cx="19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&gt;</a:t>
              </a:r>
            </a:p>
          </p:txBody>
        </p:sp>
      </p:grpSp>
      <p:sp>
        <p:nvSpPr>
          <p:cNvPr id="22583" name="Oval 55"/>
          <p:cNvSpPr>
            <a:spLocks noChangeArrowheads="1"/>
          </p:cNvSpPr>
          <p:nvPr/>
        </p:nvSpPr>
        <p:spPr bwMode="auto">
          <a:xfrm flipH="1">
            <a:off x="2133600" y="22860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9</a:t>
            </a:r>
            <a:endParaRPr kumimoji="1" lang="en-US" altLang="zh-CN" sz="2400" b="1">
              <a:latin typeface="Times New Roman" panose="02020603050405020304" pitchFamily="18" charset="0"/>
            </a:endParaRPr>
          </a:p>
        </p:txBody>
      </p:sp>
      <p:sp>
        <p:nvSpPr>
          <p:cNvPr id="22584" name="Oval 56"/>
          <p:cNvSpPr>
            <a:spLocks noChangeArrowheads="1"/>
          </p:cNvSpPr>
          <p:nvPr/>
        </p:nvSpPr>
        <p:spPr bwMode="auto">
          <a:xfrm flipH="1">
            <a:off x="2586038" y="28956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10</a:t>
            </a:r>
          </a:p>
        </p:txBody>
      </p:sp>
      <p:graphicFrame>
        <p:nvGraphicFramePr>
          <p:cNvPr id="22585" name="Object 57"/>
          <p:cNvGraphicFramePr>
            <a:graphicFrameLocks noChangeAspect="1"/>
          </p:cNvGraphicFramePr>
          <p:nvPr/>
        </p:nvGraphicFramePr>
        <p:xfrm>
          <a:off x="7162800" y="5943600"/>
          <a:ext cx="466725" cy="685800"/>
        </p:xfrm>
        <a:graphic>
          <a:graphicData uri="http://schemas.openxmlformats.org/presentationml/2006/ole">
            <mc:AlternateContent xmlns:mc="http://schemas.openxmlformats.org/markup-compatibility/2006">
              <mc:Choice xmlns:v="urn:schemas-microsoft-com:vml" Requires="v">
                <p:oleObj name="剪辑" r:id="rId11" imgW="13487400" imgH="19840575" progId="">
                  <p:embed/>
                </p:oleObj>
              </mc:Choice>
              <mc:Fallback>
                <p:oleObj name="剪辑" r:id="rId11" imgW="13487400" imgH="19840575" progId="">
                  <p:embed/>
                  <p:pic>
                    <p:nvPicPr>
                      <p:cNvPr id="22585" name="Object 57"/>
                      <p:cNvPicPr>
                        <a:picLocks noChangeAspect="1"/>
                      </p:cNvPicPr>
                      <p:nvPr/>
                    </p:nvPicPr>
                    <p:blipFill>
                      <a:blip r:embed="rId10"/>
                      <a:stretch>
                        <a:fillRect/>
                      </a:stretch>
                    </p:blipFill>
                    <p:spPr>
                      <a:xfrm>
                        <a:off x="7162800" y="5943600"/>
                        <a:ext cx="466725" cy="685800"/>
                      </a:xfrm>
                      <a:prstGeom prst="rect">
                        <a:avLst/>
                      </a:prstGeom>
                      <a:noFill/>
                      <a:ln w="9525">
                        <a:noFill/>
                      </a:ln>
                    </p:spPr>
                  </p:pic>
                </p:oleObj>
              </mc:Fallback>
            </mc:AlternateContent>
          </a:graphicData>
        </a:graphic>
      </p:graphicFrame>
      <p:sp>
        <p:nvSpPr>
          <p:cNvPr id="22587" name="AutoShape 59"/>
          <p:cNvSpPr>
            <a:spLocks noChangeArrowheads="1"/>
          </p:cNvSpPr>
          <p:nvPr/>
        </p:nvSpPr>
        <p:spPr bwMode="auto">
          <a:xfrm>
            <a:off x="6629400" y="4495800"/>
            <a:ext cx="2362200" cy="1143000"/>
          </a:xfrm>
          <a:prstGeom prst="wedgeEllipseCallout">
            <a:avLst>
              <a:gd name="adj1" fmla="val -14449"/>
              <a:gd name="adj2" fmla="val 74028"/>
            </a:avLst>
          </a:prstGeom>
          <a:gradFill rotWithShape="0">
            <a:gsLst>
              <a:gs pos="0">
                <a:srgbClr val="C0C0C0"/>
              </a:gs>
              <a:gs pos="100000">
                <a:srgbClr val="FFFFFF"/>
              </a:gs>
            </a:gsLst>
            <a:lin ang="18900000" scaled="1"/>
          </a:gra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Percolate  (</a:t>
            </a:r>
            <a:r>
              <a:rPr kumimoji="1" lang="zh-CN" altLang="en-US" sz="2400" b="1" i="1">
                <a:latin typeface="Times New Roman" panose="02020603050405020304" pitchFamily="18" charset="0"/>
              </a:rPr>
              <a:t>渗透）</a:t>
            </a:r>
            <a:r>
              <a:rPr kumimoji="1" lang="en-US" altLang="zh-CN" sz="2400" b="1" i="1">
                <a:latin typeface="Times New Roman" panose="02020603050405020304" pitchFamily="18" charset="0"/>
              </a:rPr>
              <a:t>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wipe(left)">
                                      <p:cBhvr>
                                        <p:cTn id="7" dur="500"/>
                                        <p:tgtEl>
                                          <p:spTgt spid="22531"/>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2532"/>
                                        </p:tgtEl>
                                        <p:attrNameLst>
                                          <p:attrName>style.visibility</p:attrName>
                                        </p:attrNameLst>
                                      </p:cBhvr>
                                      <p:to>
                                        <p:strVal val="visible"/>
                                      </p:to>
                                    </p:set>
                                    <p:animEffect transition="in" filter="wipe(left)">
                                      <p:cBhvr>
                                        <p:cTn id="11" dur="500"/>
                                        <p:tgtEl>
                                          <p:spTgt spid="225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2551"/>
                                        </p:tgtEl>
                                        <p:attrNameLst>
                                          <p:attrName>style.visibility</p:attrName>
                                        </p:attrNameLst>
                                      </p:cBhvr>
                                      <p:to>
                                        <p:strVal val="visible"/>
                                      </p:to>
                                    </p:set>
                                    <p:animEffect transition="in" filter="wipe(left)">
                                      <p:cBhvr>
                                        <p:cTn id="16" dur="500"/>
                                        <p:tgtEl>
                                          <p:spTgt spid="22551"/>
                                        </p:tgtEl>
                                      </p:cBhvr>
                                    </p:animEffect>
                                  </p:childTnLst>
                                  <p:subTnLst>
                                    <p:audio>
                                      <p:cMediaNode>
                                        <p:cTn display="0" masterRel="sameClick">
                                          <p:stCondLst>
                                            <p:cond evt="begin" delay="0">
                                              <p:tn val="14"/>
                                            </p:cond>
                                          </p:stCondLst>
                                          <p:endCondLst>
                                            <p:cond evt="onStopAudio" delay="0">
                                              <p:tgtEl>
                                                <p:sldTgt/>
                                              </p:tgtEl>
                                            </p:cond>
                                          </p:endCondLst>
                                        </p:cTn>
                                        <p:tgtEl>
                                          <p:sndTgt r:embed="rId2" name="TYPE.WAV"/>
                                        </p:tgtEl>
                                      </p:cMediaNode>
                                    </p:audio>
                                  </p:sub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22533"/>
                                        </p:tgtEl>
                                        <p:attrNameLst>
                                          <p:attrName>style.visibility</p:attrName>
                                        </p:attrNameLst>
                                      </p:cBhvr>
                                      <p:to>
                                        <p:strVal val="visible"/>
                                      </p:to>
                                    </p:set>
                                    <p:animEffect transition="in" filter="wipe(up)">
                                      <p:cBhvr>
                                        <p:cTn id="20" dur="500"/>
                                        <p:tgtEl>
                                          <p:spTgt spid="22533"/>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2552"/>
                                        </p:tgtEl>
                                        <p:attrNameLst>
                                          <p:attrName>style.visibility</p:attrName>
                                        </p:attrNameLst>
                                      </p:cBhvr>
                                      <p:to>
                                        <p:strVal val="visible"/>
                                      </p:to>
                                    </p:set>
                                    <p:animEffect transition="in" filter="wipe(left)">
                                      <p:cBhvr>
                                        <p:cTn id="25" dur="500"/>
                                        <p:tgtEl>
                                          <p:spTgt spid="22552"/>
                                        </p:tgtEl>
                                      </p:cBhvr>
                                    </p:animEffect>
                                  </p:childTnLst>
                                  <p:subTnLst>
                                    <p:audio>
                                      <p:cMediaNode>
                                        <p:cTn display="0" masterRel="sameClick">
                                          <p:stCondLst>
                                            <p:cond evt="begin" delay="0">
                                              <p:tn val="23"/>
                                            </p:cond>
                                          </p:stCondLst>
                                          <p:endCondLst>
                                            <p:cond evt="onStopAudio" delay="0">
                                              <p:tgtEl>
                                                <p:sldTgt/>
                                              </p:tgtEl>
                                            </p:cond>
                                          </p:endCondLst>
                                        </p:cTn>
                                        <p:tgtEl>
                                          <p:sndTgt r:embed="rId4" name="WHOOSH.WAV"/>
                                        </p:tgtEl>
                                      </p:cMediaNode>
                                    </p:audio>
                                  </p:sub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2553"/>
                                        </p:tgtEl>
                                        <p:attrNameLst>
                                          <p:attrName>style.visibility</p:attrName>
                                        </p:attrNameLst>
                                      </p:cBhvr>
                                      <p:to>
                                        <p:strVal val="visible"/>
                                      </p:to>
                                    </p:set>
                                    <p:animEffect transition="in" filter="wipe(left)">
                                      <p:cBhvr>
                                        <p:cTn id="30" dur="500"/>
                                        <p:tgtEl>
                                          <p:spTgt spid="22553"/>
                                        </p:tgtEl>
                                      </p:cBhvr>
                                    </p:animEffect>
                                  </p:childTnLst>
                                  <p:subTnLst>
                                    <p:audio>
                                      <p:cMediaNode>
                                        <p:cTn display="0" masterRel="sameClick">
                                          <p:stCondLst>
                                            <p:cond evt="begin" delay="0">
                                              <p:tn val="28"/>
                                            </p:cond>
                                          </p:stCondLst>
                                          <p:endCondLst>
                                            <p:cond evt="onStopAudio" delay="0">
                                              <p:tgtEl>
                                                <p:sldTgt/>
                                              </p:tgtEl>
                                            </p:cond>
                                          </p:endCondLst>
                                        </p:cTn>
                                        <p:tgtEl>
                                          <p:sndTgt r:embed="rId2" name="TYPE.WAV"/>
                                        </p:tgtEl>
                                      </p:cMediaNode>
                                    </p:audio>
                                  </p:subTnLst>
                                </p:cTn>
                              </p:par>
                            </p:childTnLst>
                          </p:cTn>
                        </p:par>
                        <p:par>
                          <p:cTn id="31" fill="hold">
                            <p:stCondLst>
                              <p:cond delay="500"/>
                            </p:stCondLst>
                            <p:childTnLst>
                              <p:par>
                                <p:cTn id="32" presetID="4" presetClass="entr" presetSubtype="32" fill="hold" grpId="0" nodeType="afterEffect">
                                  <p:stCondLst>
                                    <p:cond delay="0"/>
                                  </p:stCondLst>
                                  <p:childTnLst>
                                    <p:set>
                                      <p:cBhvr>
                                        <p:cTn id="33" dur="1" fill="hold">
                                          <p:stCondLst>
                                            <p:cond delay="0"/>
                                          </p:stCondLst>
                                        </p:cTn>
                                        <p:tgtEl>
                                          <p:spTgt spid="22554"/>
                                        </p:tgtEl>
                                        <p:attrNameLst>
                                          <p:attrName>style.visibility</p:attrName>
                                        </p:attrNameLst>
                                      </p:cBhvr>
                                      <p:to>
                                        <p:strVal val="visible"/>
                                      </p:to>
                                    </p:set>
                                    <p:animEffect transition="in" filter="box(out)">
                                      <p:cBhvr>
                                        <p:cTn id="34" dur="500"/>
                                        <p:tgtEl>
                                          <p:spTgt spid="22554"/>
                                        </p:tgtEl>
                                      </p:cBhvr>
                                    </p:animEffect>
                                  </p:childTnLst>
                                  <p:subTnLst>
                                    <p:audio>
                                      <p:cMediaNode>
                                        <p:cTn display="0" masterRel="sameClick">
                                          <p:stCondLst>
                                            <p:cond evt="begin" delay="0">
                                              <p:tn val="32"/>
                                            </p:cond>
                                          </p:stCondLst>
                                          <p:endCondLst>
                                            <p:cond evt="onStopAudio" delay="0">
                                              <p:tgtEl>
                                                <p:sldTgt/>
                                              </p:tgtEl>
                                            </p:cond>
                                          </p:endCondLst>
                                        </p:cTn>
                                        <p:tgtEl>
                                          <p:sndTgt r:embed="rId5" name="DING.WAV"/>
                                        </p:tgtEl>
                                      </p:cMediaNode>
                                    </p:audio>
                                  </p:sub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2555"/>
                                        </p:tgtEl>
                                        <p:attrNameLst>
                                          <p:attrName>style.visibility</p:attrName>
                                        </p:attrNameLst>
                                      </p:cBhvr>
                                      <p:to>
                                        <p:strVal val="visible"/>
                                      </p:to>
                                    </p:set>
                                    <p:animEffect transition="in" filter="wipe(left)">
                                      <p:cBhvr>
                                        <p:cTn id="39" dur="500"/>
                                        <p:tgtEl>
                                          <p:spTgt spid="22555"/>
                                        </p:tgtEl>
                                      </p:cBhvr>
                                    </p:animEffect>
                                  </p:childTnLst>
                                  <p:subTnLst>
                                    <p:audio>
                                      <p:cMediaNode>
                                        <p:cTn display="0" masterRel="sameClick">
                                          <p:stCondLst>
                                            <p:cond evt="begin" delay="0">
                                              <p:tn val="37"/>
                                            </p:cond>
                                          </p:stCondLst>
                                          <p:endCondLst>
                                            <p:cond evt="onStopAudio" delay="0">
                                              <p:tgtEl>
                                                <p:sldTgt/>
                                              </p:tgtEl>
                                            </p:cond>
                                          </p:endCondLst>
                                        </p:cTn>
                                        <p:tgtEl>
                                          <p:sndTgt r:embed="rId6" name="CHIMES.WAV"/>
                                        </p:tgtEl>
                                      </p:cMediaNode>
                                    </p:audio>
                                  </p:sub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2559"/>
                                        </p:tgtEl>
                                        <p:attrNameLst>
                                          <p:attrName>style.visibility</p:attrName>
                                        </p:attrNameLst>
                                      </p:cBhvr>
                                      <p:to>
                                        <p:strVal val="visible"/>
                                      </p:to>
                                    </p:set>
                                    <p:animEffect transition="in" filter="wipe(down)">
                                      <p:cBhvr>
                                        <p:cTn id="44" dur="500"/>
                                        <p:tgtEl>
                                          <p:spTgt spid="22559"/>
                                        </p:tgtEl>
                                      </p:cBhvr>
                                    </p:animEffect>
                                  </p:childTnLst>
                                  <p:subTnLst>
                                    <p:audio>
                                      <p:cMediaNode>
                                        <p:cTn display="0" masterRel="sameClick">
                                          <p:stCondLst>
                                            <p:cond evt="begin" delay="0">
                                              <p:tn val="42"/>
                                            </p:cond>
                                          </p:stCondLst>
                                          <p:endCondLst>
                                            <p:cond evt="onStopAudio" delay="0">
                                              <p:tgtEl>
                                                <p:sldTgt/>
                                              </p:tgtEl>
                                            </p:cond>
                                          </p:endCondLst>
                                        </p:cTn>
                                        <p:tgtEl>
                                          <p:sndTgt r:embed="rId7" name="TADA.WAV"/>
                                        </p:tgtEl>
                                      </p:cMediaNode>
                                    </p:audio>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22560"/>
                                        </p:tgtEl>
                                        <p:attrNameLst>
                                          <p:attrName>style.visibility</p:attrName>
                                        </p:attrNameLst>
                                      </p:cBhvr>
                                      <p:to>
                                        <p:strVal val="visible"/>
                                      </p:to>
                                    </p:set>
                                    <p:animEffect transition="in" filter="wipe(left)">
                                      <p:cBhvr>
                                        <p:cTn id="49" dur="500"/>
                                        <p:tgtEl>
                                          <p:spTgt spid="22560"/>
                                        </p:tgtEl>
                                      </p:cBhvr>
                                    </p:animEffect>
                                  </p:childTnLst>
                                  <p:subTnLst>
                                    <p:audio>
                                      <p:cMediaNode>
                                        <p:cTn display="0" masterRel="sameClick">
                                          <p:stCondLst>
                                            <p:cond evt="begin" delay="0">
                                              <p:tn val="47"/>
                                            </p:cond>
                                          </p:stCondLst>
                                          <p:endCondLst>
                                            <p:cond evt="onStopAudio" delay="0">
                                              <p:tgtEl>
                                                <p:sldTgt/>
                                              </p:tgtEl>
                                            </p:cond>
                                          </p:endCondLst>
                                        </p:cTn>
                                        <p:tgtEl>
                                          <p:sndTgt r:embed="rId2" name="TYPE.WAV"/>
                                        </p:tgtEl>
                                      </p:cMediaNode>
                                    </p:audio>
                                  </p:subTnLst>
                                </p:cTn>
                              </p:par>
                            </p:childTnLst>
                          </p:cTn>
                        </p:par>
                        <p:par>
                          <p:cTn id="50" fill="hold">
                            <p:stCondLst>
                              <p:cond delay="500"/>
                            </p:stCondLst>
                            <p:childTnLst>
                              <p:par>
                                <p:cTn id="51" presetID="4" presetClass="entr" presetSubtype="32" fill="hold" grpId="0" nodeType="afterEffect">
                                  <p:stCondLst>
                                    <p:cond delay="0"/>
                                  </p:stCondLst>
                                  <p:childTnLst>
                                    <p:set>
                                      <p:cBhvr>
                                        <p:cTn id="52" dur="1" fill="hold">
                                          <p:stCondLst>
                                            <p:cond delay="0"/>
                                          </p:stCondLst>
                                        </p:cTn>
                                        <p:tgtEl>
                                          <p:spTgt spid="22561"/>
                                        </p:tgtEl>
                                        <p:attrNameLst>
                                          <p:attrName>style.visibility</p:attrName>
                                        </p:attrNameLst>
                                      </p:cBhvr>
                                      <p:to>
                                        <p:strVal val="visible"/>
                                      </p:to>
                                    </p:set>
                                    <p:animEffect transition="in" filter="box(out)">
                                      <p:cBhvr>
                                        <p:cTn id="53" dur="500"/>
                                        <p:tgtEl>
                                          <p:spTgt spid="22561"/>
                                        </p:tgtEl>
                                      </p:cBhvr>
                                    </p:animEffect>
                                  </p:childTnLst>
                                  <p:subTnLst>
                                    <p:audio>
                                      <p:cMediaNode>
                                        <p:cTn display="0" masterRel="sameClick">
                                          <p:stCondLst>
                                            <p:cond evt="begin" delay="0">
                                              <p:tn val="51"/>
                                            </p:cond>
                                          </p:stCondLst>
                                          <p:endCondLst>
                                            <p:cond evt="onStopAudio" delay="0">
                                              <p:tgtEl>
                                                <p:sldTgt/>
                                              </p:tgtEl>
                                            </p:cond>
                                          </p:endCondLst>
                                        </p:cTn>
                                        <p:tgtEl>
                                          <p:sndTgt r:embed="rId5" name="DING.WAV"/>
                                        </p:tgtEl>
                                      </p:cMediaNode>
                                    </p:audio>
                                  </p:sub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2562"/>
                                        </p:tgtEl>
                                        <p:attrNameLst>
                                          <p:attrName>style.visibility</p:attrName>
                                        </p:attrNameLst>
                                      </p:cBhvr>
                                      <p:to>
                                        <p:strVal val="visible"/>
                                      </p:to>
                                    </p:set>
                                    <p:animEffect transition="in" filter="wipe(left)">
                                      <p:cBhvr>
                                        <p:cTn id="58" dur="500"/>
                                        <p:tgtEl>
                                          <p:spTgt spid="22562"/>
                                        </p:tgtEl>
                                      </p:cBhvr>
                                    </p:animEffect>
                                  </p:childTnLst>
                                  <p:subTnLst>
                                    <p:audio>
                                      <p:cMediaNode>
                                        <p:cTn display="0" masterRel="sameClick">
                                          <p:stCondLst>
                                            <p:cond evt="begin" delay="0">
                                              <p:tn val="56"/>
                                            </p:cond>
                                          </p:stCondLst>
                                          <p:endCondLst>
                                            <p:cond evt="onStopAudio" delay="0">
                                              <p:tgtEl>
                                                <p:sldTgt/>
                                              </p:tgtEl>
                                            </p:cond>
                                          </p:endCondLst>
                                        </p:cTn>
                                        <p:tgtEl>
                                          <p:sndTgt r:embed="rId8" name="LASER.WAV"/>
                                        </p:tgtEl>
                                      </p:cMediaNode>
                                    </p:audio>
                                  </p:sub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2566"/>
                                        </p:tgtEl>
                                        <p:attrNameLst>
                                          <p:attrName>style.visibility</p:attrName>
                                        </p:attrNameLst>
                                      </p:cBhvr>
                                      <p:to>
                                        <p:strVal val="visible"/>
                                      </p:to>
                                    </p:se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499"/>
                                          </p:stCondLst>
                                        </p:cTn>
                                        <p:tgtEl>
                                          <p:spTgt spid="22567"/>
                                        </p:tgtEl>
                                        <p:attrNameLst>
                                          <p:attrName>style.visibility</p:attrName>
                                        </p:attrNameLst>
                                      </p:cBhvr>
                                      <p:to>
                                        <p:strVal val="visible"/>
                                      </p:to>
                                    </p:set>
                                  </p:childTnLst>
                                  <p:subTnLst>
                                    <p:audio>
                                      <p:cMediaNode>
                                        <p:cTn display="0" masterRel="sameClick">
                                          <p:stCondLst>
                                            <p:cond evt="begin" delay="0">
                                              <p:tn val="64"/>
                                            </p:cond>
                                          </p:stCondLst>
                                          <p:endCondLst>
                                            <p:cond evt="onStopAudio" delay="0">
                                              <p:tgtEl>
                                                <p:sldTgt/>
                                              </p:tgtEl>
                                            </p:cond>
                                          </p:endCondLst>
                                        </p:cTn>
                                        <p:tgtEl>
                                          <p:sndTgt r:embed="rId5" name="DING.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2568"/>
                                        </p:tgtEl>
                                        <p:attrNameLst>
                                          <p:attrName>style.visibility</p:attrName>
                                        </p:attrNameLst>
                                      </p:cBhvr>
                                      <p:to>
                                        <p:strVal val="visible"/>
                                      </p:to>
                                    </p:set>
                                    <p:animEffect transition="in" filter="wipe(left)">
                                      <p:cBhvr>
                                        <p:cTn id="70" dur="500"/>
                                        <p:tgtEl>
                                          <p:spTgt spid="22568"/>
                                        </p:tgtEl>
                                      </p:cBhvr>
                                    </p:animEffect>
                                  </p:childTnLst>
                                  <p:subTnLst>
                                    <p:audio>
                                      <p:cMediaNode>
                                        <p:cTn display="0" masterRel="sameClick">
                                          <p:stCondLst>
                                            <p:cond evt="begin" delay="0">
                                              <p:tn val="68"/>
                                            </p:cond>
                                          </p:stCondLst>
                                          <p:endCondLst>
                                            <p:cond evt="onStopAudio" delay="0">
                                              <p:tgtEl>
                                                <p:sldTgt/>
                                              </p:tgtEl>
                                            </p:cond>
                                          </p:endCondLst>
                                        </p:cTn>
                                        <p:tgtEl>
                                          <p:sndTgt r:embed="rId6" name="CHIMES.WAV"/>
                                        </p:tgtEl>
                                      </p:cMediaNode>
                                    </p:audio>
                                  </p:sub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22572"/>
                                        </p:tgtEl>
                                        <p:attrNameLst>
                                          <p:attrName>style.visibility</p:attrName>
                                        </p:attrNameLst>
                                      </p:cBhvr>
                                      <p:to>
                                        <p:strVal val="visible"/>
                                      </p:to>
                                    </p:set>
                                    <p:animEffect transition="in" filter="wipe(down)">
                                      <p:cBhvr>
                                        <p:cTn id="75" dur="500"/>
                                        <p:tgtEl>
                                          <p:spTgt spid="22572"/>
                                        </p:tgtEl>
                                      </p:cBhvr>
                                    </p:animEffect>
                                  </p:childTnLst>
                                  <p:subTnLst>
                                    <p:audio>
                                      <p:cMediaNode>
                                        <p:cTn display="0" masterRel="sameClick">
                                          <p:stCondLst>
                                            <p:cond evt="begin" delay="0">
                                              <p:tn val="73"/>
                                            </p:cond>
                                          </p:stCondLst>
                                          <p:endCondLst>
                                            <p:cond evt="onStopAudio" delay="0">
                                              <p:tgtEl>
                                                <p:sldTgt/>
                                              </p:tgtEl>
                                            </p:cond>
                                          </p:endCondLst>
                                        </p:cTn>
                                        <p:tgtEl>
                                          <p:sndTgt r:embed="rId7" name="TADA.WAV"/>
                                        </p:tgtEl>
                                      </p:cMediaNode>
                                    </p:audio>
                                  </p:sub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2573"/>
                                        </p:tgtEl>
                                        <p:attrNameLst>
                                          <p:attrName>style.visibility</p:attrName>
                                        </p:attrNameLst>
                                      </p:cBhvr>
                                      <p:to>
                                        <p:strVal val="visible"/>
                                      </p:to>
                                    </p:set>
                                    <p:animEffect transition="in" filter="wipe(left)">
                                      <p:cBhvr>
                                        <p:cTn id="80" dur="500"/>
                                        <p:tgtEl>
                                          <p:spTgt spid="22573"/>
                                        </p:tgtEl>
                                      </p:cBhvr>
                                    </p:animEffect>
                                  </p:childTnLst>
                                  <p:subTnLst>
                                    <p:audio>
                                      <p:cMediaNode>
                                        <p:cTn display="0" masterRel="sameClick">
                                          <p:stCondLst>
                                            <p:cond evt="begin" delay="0">
                                              <p:tn val="78"/>
                                            </p:cond>
                                          </p:stCondLst>
                                          <p:endCondLst>
                                            <p:cond evt="onStopAudio" delay="0">
                                              <p:tgtEl>
                                                <p:sldTgt/>
                                              </p:tgtEl>
                                            </p:cond>
                                          </p:endCondLst>
                                        </p:cTn>
                                        <p:tgtEl>
                                          <p:sndTgt r:embed="rId2" name="TYPE.WAV"/>
                                        </p:tgtEl>
                                      </p:cMediaNode>
                                    </p:audio>
                                  </p:sub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2574"/>
                                        </p:tgtEl>
                                        <p:attrNameLst>
                                          <p:attrName>style.visibility</p:attrName>
                                        </p:attrNameLst>
                                      </p:cBhvr>
                                      <p:to>
                                        <p:strVal val="visible"/>
                                      </p:to>
                                    </p:set>
                                    <p:animEffect transition="in" filter="wipe(left)">
                                      <p:cBhvr>
                                        <p:cTn id="85" dur="500"/>
                                        <p:tgtEl>
                                          <p:spTgt spid="22574"/>
                                        </p:tgtEl>
                                      </p:cBhvr>
                                    </p:animEffect>
                                  </p:childTnLst>
                                  <p:subTnLst>
                                    <p:audio>
                                      <p:cMediaNode>
                                        <p:cTn display="0" masterRel="sameClick">
                                          <p:stCondLst>
                                            <p:cond evt="begin" delay="0">
                                              <p:tn val="83"/>
                                            </p:cond>
                                          </p:stCondLst>
                                          <p:endCondLst>
                                            <p:cond evt="onStopAudio" delay="0">
                                              <p:tgtEl>
                                                <p:sldTgt/>
                                              </p:tgtEl>
                                            </p:cond>
                                          </p:endCondLst>
                                        </p:cTn>
                                        <p:tgtEl>
                                          <p:sndTgt r:embed="rId8" name="LASER.WAV"/>
                                        </p:tgtEl>
                                      </p:cMediaNode>
                                    </p:audio>
                                  </p:subTnLst>
                                </p:cTn>
                              </p:par>
                            </p:childTnLst>
                          </p:cTn>
                        </p:par>
                        <p:par>
                          <p:cTn id="86" fill="hold">
                            <p:stCondLst>
                              <p:cond delay="500"/>
                            </p:stCondLst>
                            <p:childTnLst>
                              <p:par>
                                <p:cTn id="87" presetID="1" presetClass="entr" presetSubtype="0" fill="hold" grpId="0" nodeType="afterEffect">
                                  <p:stCondLst>
                                    <p:cond delay="0"/>
                                  </p:stCondLst>
                                  <p:childTnLst>
                                    <p:set>
                                      <p:cBhvr>
                                        <p:cTn id="88" dur="1" fill="hold">
                                          <p:stCondLst>
                                            <p:cond delay="499"/>
                                          </p:stCondLst>
                                        </p:cTn>
                                        <p:tgtEl>
                                          <p:spTgt spid="22578"/>
                                        </p:tgtEl>
                                        <p:attrNameLst>
                                          <p:attrName>style.visibility</p:attrName>
                                        </p:attrNameLst>
                                      </p:cBhvr>
                                      <p:to>
                                        <p:strVal val="visible"/>
                                      </p:to>
                                    </p:set>
                                  </p:childTnLst>
                                  <p:subTnLst>
                                    <p:audio>
                                      <p:cMediaNode>
                                        <p:cTn display="0" masterRel="sameClick">
                                          <p:stCondLst>
                                            <p:cond evt="begin" delay="0">
                                              <p:tn val="87"/>
                                            </p:cond>
                                          </p:stCondLst>
                                          <p:endCondLst>
                                            <p:cond evt="onStopAudio" delay="0">
                                              <p:tgtEl>
                                                <p:sldTgt/>
                                              </p:tgtEl>
                                            </p:cond>
                                          </p:endCondLst>
                                        </p:cTn>
                                        <p:tgtEl>
                                          <p:sndTgt r:embed="rId5" name="DING.WAV"/>
                                        </p:tgtEl>
                                      </p:cMediaNode>
                                    </p:audio>
                                  </p:sub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2579"/>
                                        </p:tgtEl>
                                        <p:attrNameLst>
                                          <p:attrName>style.visibility</p:attrName>
                                        </p:attrNameLst>
                                      </p:cBhvr>
                                      <p:to>
                                        <p:strVal val="visible"/>
                                      </p:to>
                                    </p:set>
                                    <p:animEffect transition="in" filter="wipe(left)">
                                      <p:cBhvr>
                                        <p:cTn id="93" dur="500"/>
                                        <p:tgtEl>
                                          <p:spTgt spid="22579"/>
                                        </p:tgtEl>
                                      </p:cBhvr>
                                    </p:animEffect>
                                  </p:childTnLst>
                                  <p:subTnLst>
                                    <p:audio>
                                      <p:cMediaNode>
                                        <p:cTn display="0" masterRel="sameClick">
                                          <p:stCondLst>
                                            <p:cond evt="begin" delay="0">
                                              <p:tn val="91"/>
                                            </p:cond>
                                          </p:stCondLst>
                                          <p:endCondLst>
                                            <p:cond evt="onStopAudio" delay="0">
                                              <p:tgtEl>
                                                <p:sldTgt/>
                                              </p:tgtEl>
                                            </p:cond>
                                          </p:endCondLst>
                                        </p:cTn>
                                        <p:tgtEl>
                                          <p:sndTgt r:embed="rId8" name="LASER.WAV"/>
                                        </p:tgtEl>
                                      </p:cMediaNode>
                                    </p:audio>
                                  </p:sub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22583"/>
                                        </p:tgtEl>
                                        <p:attrNameLst>
                                          <p:attrName>style.visibility</p:attrName>
                                        </p:attrNameLst>
                                      </p:cBhvr>
                                      <p:to>
                                        <p:strVal val="visible"/>
                                      </p:to>
                                    </p:set>
                                  </p:childTnLst>
                                </p:cTn>
                              </p:par>
                            </p:childTnLst>
                          </p:cTn>
                        </p:par>
                        <p:par>
                          <p:cTn id="98" fill="hold">
                            <p:stCondLst>
                              <p:cond delay="500"/>
                            </p:stCondLst>
                            <p:childTnLst>
                              <p:par>
                                <p:cTn id="99" presetID="1" presetClass="entr" presetSubtype="0" fill="hold" grpId="0" nodeType="afterEffect">
                                  <p:stCondLst>
                                    <p:cond delay="0"/>
                                  </p:stCondLst>
                                  <p:childTnLst>
                                    <p:set>
                                      <p:cBhvr>
                                        <p:cTn id="100" dur="1" fill="hold">
                                          <p:stCondLst>
                                            <p:cond delay="499"/>
                                          </p:stCondLst>
                                        </p:cTn>
                                        <p:tgtEl>
                                          <p:spTgt spid="22584"/>
                                        </p:tgtEl>
                                        <p:attrNameLst>
                                          <p:attrName>style.visibility</p:attrName>
                                        </p:attrNameLst>
                                      </p:cBhvr>
                                      <p:to>
                                        <p:strVal val="visible"/>
                                      </p:to>
                                    </p:set>
                                  </p:childTnLst>
                                  <p:subTnLst>
                                    <p:audio>
                                      <p:cMediaNode>
                                        <p:cTn display="0" masterRel="sameClick">
                                          <p:stCondLst>
                                            <p:cond evt="begin" delay="0">
                                              <p:tn val="99"/>
                                            </p:cond>
                                          </p:stCondLst>
                                          <p:endCondLst>
                                            <p:cond evt="onStopAudio" delay="0">
                                              <p:tgtEl>
                                                <p:sldTgt/>
                                              </p:tgtEl>
                                            </p:cond>
                                          </p:endCondLst>
                                        </p:cTn>
                                        <p:tgtEl>
                                          <p:sndTgt r:embed="rId5" name="DING.WAV"/>
                                        </p:tgtEl>
                                      </p:cMediaNode>
                                    </p:audio>
                                  </p:sub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nodeType="clickEffect">
                                  <p:stCondLst>
                                    <p:cond delay="0"/>
                                  </p:stCondLst>
                                  <p:childTnLst>
                                    <p:set>
                                      <p:cBhvr>
                                        <p:cTn id="104" dur="1" fill="hold">
                                          <p:stCondLst>
                                            <p:cond delay="0"/>
                                          </p:stCondLst>
                                        </p:cTn>
                                        <p:tgtEl>
                                          <p:spTgt spid="22585"/>
                                        </p:tgtEl>
                                        <p:attrNameLst>
                                          <p:attrName>style.visibility</p:attrName>
                                        </p:attrNameLst>
                                      </p:cBhvr>
                                      <p:to>
                                        <p:strVal val="visible"/>
                                      </p:to>
                                    </p:set>
                                    <p:animEffect transition="in" filter="wipe(down)">
                                      <p:cBhvr>
                                        <p:cTn id="105" dur="500"/>
                                        <p:tgtEl>
                                          <p:spTgt spid="22585"/>
                                        </p:tgtEl>
                                      </p:cBhvr>
                                    </p:animEffect>
                                  </p:childTnLst>
                                  <p:subTnLst>
                                    <p:audio>
                                      <p:cMediaNode>
                                        <p:cTn display="0" masterRel="sameClick">
                                          <p:stCondLst>
                                            <p:cond evt="begin" delay="0">
                                              <p:tn val="103"/>
                                            </p:cond>
                                          </p:stCondLst>
                                          <p:endCondLst>
                                            <p:cond evt="onStopAudio" delay="0">
                                              <p:tgtEl>
                                                <p:sldTgt/>
                                              </p:tgtEl>
                                            </p:cond>
                                          </p:endCondLst>
                                        </p:cTn>
                                        <p:tgtEl>
                                          <p:sndTgt r:embed="rId7" name="TADA.WAV"/>
                                        </p:tgtEl>
                                      </p:cMediaNode>
                                    </p:audio>
                                  </p:subTnLst>
                                </p:cTn>
                              </p:par>
                            </p:childTnLst>
                          </p:cTn>
                        </p:par>
                      </p:childTnLst>
                    </p:cTn>
                  </p:par>
                  <p:par>
                    <p:cTn id="106" fill="hold">
                      <p:stCondLst>
                        <p:cond delay="indefinite"/>
                      </p:stCondLst>
                      <p:childTnLst>
                        <p:par>
                          <p:cTn id="107" fill="hold">
                            <p:stCondLst>
                              <p:cond delay="0"/>
                            </p:stCondLst>
                            <p:childTnLst>
                              <p:par>
                                <p:cTn id="108" presetID="18" presetClass="entr" presetSubtype="3" fill="hold" grpId="0" nodeType="clickEffect">
                                  <p:stCondLst>
                                    <p:cond delay="0"/>
                                  </p:stCondLst>
                                  <p:childTnLst>
                                    <p:set>
                                      <p:cBhvr>
                                        <p:cTn id="109" dur="1" fill="hold">
                                          <p:stCondLst>
                                            <p:cond delay="0"/>
                                          </p:stCondLst>
                                        </p:cTn>
                                        <p:tgtEl>
                                          <p:spTgt spid="22587"/>
                                        </p:tgtEl>
                                        <p:attrNameLst>
                                          <p:attrName>style.visibility</p:attrName>
                                        </p:attrNameLst>
                                      </p:cBhvr>
                                      <p:to>
                                        <p:strVal val="visible"/>
                                      </p:to>
                                    </p:set>
                                    <p:animEffect transition="in" filter="strips(upRight)">
                                      <p:cBhvr>
                                        <p:cTn id="110" dur="500"/>
                                        <p:tgtEl>
                                          <p:spTgt spid="22587"/>
                                        </p:tgtEl>
                                      </p:cBhvr>
                                    </p:animEffect>
                                  </p:childTnLst>
                                  <p:subTnLst>
                                    <p:set>
                                      <p:cBhvr override="childStyle">
                                        <p:cTn dur="1" fill="hold" display="0" masterRel="nextClick" afterEffect="1"/>
                                        <p:tgtEl>
                                          <p:spTgt spid="2258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utoUpdateAnimBg="0"/>
      <p:bldP spid="22532" grpId="0" autoUpdateAnimBg="0"/>
      <p:bldP spid="22551" grpId="0" autoUpdateAnimBg="0"/>
      <p:bldP spid="22552" grpId="0" animBg="1" autoUpdateAnimBg="0"/>
      <p:bldP spid="22553" grpId="0" autoUpdateAnimBg="0"/>
      <p:bldP spid="22554" grpId="0" animBg="1" autoUpdateAnimBg="0"/>
      <p:bldP spid="22560" grpId="0" autoUpdateAnimBg="0"/>
      <p:bldP spid="22561" grpId="0" animBg="1" autoUpdateAnimBg="0"/>
      <p:bldP spid="22566" grpId="0" animBg="1" autoUpdateAnimBg="0"/>
      <p:bldP spid="22567" grpId="0" animBg="1" autoUpdateAnimBg="0"/>
      <p:bldP spid="22573" grpId="0" autoUpdateAnimBg="0"/>
      <p:bldP spid="22578" grpId="0" animBg="1" autoUpdateAnimBg="0"/>
      <p:bldP spid="22583" grpId="0" animBg="1" autoUpdateAnimBg="0"/>
      <p:bldP spid="22584" grpId="0" animBg="1" autoUpdateAnimBg="0"/>
      <p:bldP spid="22587"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p:cNvSpPr txBox="1">
            <a:spLocks noChangeArrowheads="1"/>
          </p:cNvSpPr>
          <p:nvPr/>
        </p:nvSpPr>
        <p:spPr bwMode="auto">
          <a:xfrm>
            <a:off x="533400" y="304800"/>
            <a:ext cx="228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a:solidFill>
                  <a:srgbClr val="0000FF"/>
                </a:solidFill>
                <a:latin typeface="Times New Roman" panose="02020603050405020304" pitchFamily="18" charset="0"/>
                <a:sym typeface="Wingdings" panose="05000000000000000000" pitchFamily="2" charset="2"/>
              </a:rPr>
              <a:t></a:t>
            </a:r>
            <a:r>
              <a:rPr kumimoji="1" lang="en-US" altLang="zh-CN" sz="2400" b="1">
                <a:solidFill>
                  <a:srgbClr val="0000FF"/>
                </a:solidFill>
                <a:latin typeface="Times New Roman" panose="02020603050405020304" pitchFamily="18" charset="0"/>
                <a:sym typeface="Wingdings" panose="05000000000000000000" pitchFamily="2" charset="2"/>
              </a:rPr>
              <a:t>  DeleteMin</a:t>
            </a:r>
            <a:endParaRPr kumimoji="1" lang="en-US" altLang="zh-CN" sz="2400" b="1">
              <a:solidFill>
                <a:srgbClr val="0000FF"/>
              </a:solidFill>
              <a:latin typeface="Times New Roman" panose="02020603050405020304" pitchFamily="18" charset="0"/>
            </a:endParaRPr>
          </a:p>
        </p:txBody>
      </p:sp>
      <p:sp>
        <p:nvSpPr>
          <p:cNvPr id="24623" name="Text Box 47"/>
          <p:cNvSpPr txBox="1">
            <a:spLocks noChangeArrowheads="1"/>
          </p:cNvSpPr>
          <p:nvPr/>
        </p:nvSpPr>
        <p:spPr bwMode="auto">
          <a:xfrm>
            <a:off x="609600" y="11430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sym typeface="Wingdings" panose="05000000000000000000" pitchFamily="2" charset="2"/>
              </a:rPr>
              <a:t> </a:t>
            </a:r>
            <a:r>
              <a:rPr kumimoji="1" lang="en-US" altLang="zh-CN" sz="2400" b="1"/>
              <a:t>Sketch of the idea:</a:t>
            </a:r>
          </a:p>
        </p:txBody>
      </p:sp>
      <p:grpSp>
        <p:nvGrpSpPr>
          <p:cNvPr id="24624" name="Group 48"/>
          <p:cNvGrpSpPr/>
          <p:nvPr/>
        </p:nvGrpSpPr>
        <p:grpSpPr bwMode="auto">
          <a:xfrm>
            <a:off x="676275" y="1905000"/>
            <a:ext cx="1905000" cy="1905000"/>
            <a:chOff x="480" y="1152"/>
            <a:chExt cx="1200" cy="1200"/>
          </a:xfrm>
        </p:grpSpPr>
        <p:sp>
          <p:nvSpPr>
            <p:cNvPr id="15392" name="Oval 49"/>
            <p:cNvSpPr>
              <a:spLocks noChangeArrowheads="1"/>
            </p:cNvSpPr>
            <p:nvPr/>
          </p:nvSpPr>
          <p:spPr bwMode="auto">
            <a:xfrm>
              <a:off x="1152" y="1152"/>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10</a:t>
              </a:r>
            </a:p>
          </p:txBody>
        </p:sp>
        <p:sp>
          <p:nvSpPr>
            <p:cNvPr id="15393" name="Oval 50"/>
            <p:cNvSpPr>
              <a:spLocks noChangeArrowheads="1"/>
            </p:cNvSpPr>
            <p:nvPr/>
          </p:nvSpPr>
          <p:spPr bwMode="auto">
            <a:xfrm>
              <a:off x="768" y="153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12</a:t>
              </a:r>
            </a:p>
          </p:txBody>
        </p:sp>
        <p:sp>
          <p:nvSpPr>
            <p:cNvPr id="15394" name="Oval 51"/>
            <p:cNvSpPr>
              <a:spLocks noChangeArrowheads="1"/>
            </p:cNvSpPr>
            <p:nvPr/>
          </p:nvSpPr>
          <p:spPr bwMode="auto">
            <a:xfrm>
              <a:off x="480" y="1920"/>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15</a:t>
              </a:r>
            </a:p>
          </p:txBody>
        </p:sp>
        <p:sp>
          <p:nvSpPr>
            <p:cNvPr id="15395" name="Line 52"/>
            <p:cNvSpPr>
              <a:spLocks noChangeShapeType="1"/>
            </p:cNvSpPr>
            <p:nvPr/>
          </p:nvSpPr>
          <p:spPr bwMode="auto">
            <a:xfrm flipH="1">
              <a:off x="649" y="1754"/>
              <a:ext cx="190" cy="19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6" name="Line 53"/>
            <p:cNvSpPr>
              <a:spLocks noChangeShapeType="1"/>
            </p:cNvSpPr>
            <p:nvPr/>
          </p:nvSpPr>
          <p:spPr bwMode="auto">
            <a:xfrm flipH="1">
              <a:off x="934" y="1344"/>
              <a:ext cx="218" cy="21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7" name="Oval 54"/>
            <p:cNvSpPr>
              <a:spLocks noChangeArrowheads="1"/>
            </p:cNvSpPr>
            <p:nvPr/>
          </p:nvSpPr>
          <p:spPr bwMode="auto">
            <a:xfrm flipH="1">
              <a:off x="1440" y="1536"/>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20</a:t>
              </a:r>
            </a:p>
          </p:txBody>
        </p:sp>
        <p:sp>
          <p:nvSpPr>
            <p:cNvPr id="15398" name="Line 55"/>
            <p:cNvSpPr>
              <a:spLocks noChangeShapeType="1"/>
            </p:cNvSpPr>
            <p:nvPr/>
          </p:nvSpPr>
          <p:spPr bwMode="auto">
            <a:xfrm>
              <a:off x="1365" y="1344"/>
              <a:ext cx="190" cy="190"/>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9" name="Rectangle 56"/>
            <p:cNvSpPr>
              <a:spLocks noChangeArrowheads="1"/>
            </p:cNvSpPr>
            <p:nvPr/>
          </p:nvSpPr>
          <p:spPr bwMode="auto">
            <a:xfrm>
              <a:off x="912" y="1200"/>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[1]</a:t>
              </a:r>
            </a:p>
          </p:txBody>
        </p:sp>
        <p:sp>
          <p:nvSpPr>
            <p:cNvPr id="15400" name="Rectangle 57"/>
            <p:cNvSpPr>
              <a:spLocks noChangeArrowheads="1"/>
            </p:cNvSpPr>
            <p:nvPr/>
          </p:nvSpPr>
          <p:spPr bwMode="auto">
            <a:xfrm>
              <a:off x="528" y="1536"/>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[2]</a:t>
              </a:r>
            </a:p>
          </p:txBody>
        </p:sp>
        <p:sp>
          <p:nvSpPr>
            <p:cNvPr id="15401" name="Rectangle 58"/>
            <p:cNvSpPr>
              <a:spLocks noChangeArrowheads="1"/>
            </p:cNvSpPr>
            <p:nvPr/>
          </p:nvSpPr>
          <p:spPr bwMode="auto">
            <a:xfrm>
              <a:off x="1200" y="1536"/>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[3]</a:t>
              </a:r>
            </a:p>
          </p:txBody>
        </p:sp>
        <p:sp>
          <p:nvSpPr>
            <p:cNvPr id="15402" name="Rectangle 59"/>
            <p:cNvSpPr>
              <a:spLocks noChangeArrowheads="1"/>
            </p:cNvSpPr>
            <p:nvPr/>
          </p:nvSpPr>
          <p:spPr bwMode="auto">
            <a:xfrm>
              <a:off x="480" y="2208"/>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[4]</a:t>
              </a:r>
            </a:p>
          </p:txBody>
        </p:sp>
        <p:sp>
          <p:nvSpPr>
            <p:cNvPr id="15403" name="Oval 60"/>
            <p:cNvSpPr>
              <a:spLocks noChangeArrowheads="1"/>
            </p:cNvSpPr>
            <p:nvPr/>
          </p:nvSpPr>
          <p:spPr bwMode="auto">
            <a:xfrm flipH="1">
              <a:off x="960" y="1920"/>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18</a:t>
              </a:r>
            </a:p>
          </p:txBody>
        </p:sp>
        <p:sp>
          <p:nvSpPr>
            <p:cNvPr id="15404" name="Line 61"/>
            <p:cNvSpPr>
              <a:spLocks noChangeShapeType="1"/>
            </p:cNvSpPr>
            <p:nvPr/>
          </p:nvSpPr>
          <p:spPr bwMode="auto">
            <a:xfrm>
              <a:off x="937" y="1754"/>
              <a:ext cx="145" cy="168"/>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5" name="Rectangle 62"/>
            <p:cNvSpPr>
              <a:spLocks noChangeArrowheads="1"/>
            </p:cNvSpPr>
            <p:nvPr/>
          </p:nvSpPr>
          <p:spPr bwMode="auto">
            <a:xfrm>
              <a:off x="960" y="2208"/>
              <a:ext cx="24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[5]</a:t>
              </a:r>
            </a:p>
          </p:txBody>
        </p:sp>
      </p:grpSp>
      <p:sp>
        <p:nvSpPr>
          <p:cNvPr id="24639" name="Oval 63"/>
          <p:cNvSpPr>
            <a:spLocks noChangeArrowheads="1"/>
          </p:cNvSpPr>
          <p:nvPr/>
        </p:nvSpPr>
        <p:spPr bwMode="auto">
          <a:xfrm>
            <a:off x="1447800" y="3124200"/>
            <a:ext cx="381000" cy="381000"/>
          </a:xfrm>
          <a:prstGeom prst="ellipse">
            <a:avLst/>
          </a:prstGeom>
          <a:solidFill>
            <a:srgbClr val="C0C0C0">
              <a:alpha val="50195"/>
            </a:srgbClr>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40" name="AutoShape 64"/>
          <p:cNvSpPr>
            <a:spLocks noChangeArrowheads="1"/>
          </p:cNvSpPr>
          <p:nvPr/>
        </p:nvSpPr>
        <p:spPr bwMode="auto">
          <a:xfrm>
            <a:off x="3429000" y="1752600"/>
            <a:ext cx="3733800" cy="1600200"/>
          </a:xfrm>
          <a:prstGeom prst="wedgeRoundRectCallout">
            <a:avLst>
              <a:gd name="adj1" fmla="val -92644"/>
              <a:gd name="adj2" fmla="val 45537"/>
              <a:gd name="adj3" fmla="val 16667"/>
            </a:avLst>
          </a:prstGeom>
          <a:gradFill rotWithShape="0">
            <a:gsLst>
              <a:gs pos="0">
                <a:srgbClr val="E2E2E2"/>
              </a:gs>
              <a:gs pos="50000">
                <a:srgbClr val="FFFFFF"/>
              </a:gs>
              <a:gs pos="100000">
                <a:srgbClr val="E2E2E2"/>
              </a:gs>
            </a:gsLst>
            <a:lin ang="0" scaled="1"/>
          </a:gradFill>
          <a:ln w="254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The node which must be</a:t>
            </a:r>
          </a:p>
          <a:p>
            <a:pPr algn="ctr" eaLnBrk="1" hangingPunct="1">
              <a:spcBef>
                <a:spcPct val="0"/>
              </a:spcBef>
              <a:buFontTx/>
              <a:buNone/>
            </a:pPr>
            <a:r>
              <a:rPr kumimoji="1" lang="en-US" altLang="zh-CN" sz="2400" b="1">
                <a:latin typeface="Times New Roman" panose="02020603050405020304" pitchFamily="18" charset="0"/>
              </a:rPr>
              <a:t>removed to keep a</a:t>
            </a:r>
          </a:p>
          <a:p>
            <a:pPr algn="ctr" eaLnBrk="1" hangingPunct="1">
              <a:spcBef>
                <a:spcPct val="0"/>
              </a:spcBef>
              <a:buFontTx/>
              <a:buNone/>
            </a:pPr>
            <a:r>
              <a:rPr kumimoji="1" lang="en-US" altLang="zh-CN" sz="2400" b="1">
                <a:latin typeface="Times New Roman" panose="02020603050405020304" pitchFamily="18" charset="0"/>
              </a:rPr>
              <a:t>complete binary tree.</a:t>
            </a:r>
          </a:p>
        </p:txBody>
      </p:sp>
      <p:sp>
        <p:nvSpPr>
          <p:cNvPr id="24641" name="Oval 65"/>
          <p:cNvSpPr>
            <a:spLocks noChangeArrowheads="1"/>
          </p:cNvSpPr>
          <p:nvPr/>
        </p:nvSpPr>
        <p:spPr bwMode="auto">
          <a:xfrm>
            <a:off x="1747838" y="1905000"/>
            <a:ext cx="381000" cy="381000"/>
          </a:xfrm>
          <a:prstGeom prst="ellipse">
            <a:avLst/>
          </a:prstGeom>
          <a:solidFill>
            <a:srgbClr val="FF0000">
              <a:alpha val="50195"/>
            </a:srgbClr>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42" name="Oval 66"/>
          <p:cNvSpPr>
            <a:spLocks noChangeArrowheads="1"/>
          </p:cNvSpPr>
          <p:nvPr/>
        </p:nvSpPr>
        <p:spPr bwMode="auto">
          <a:xfrm>
            <a:off x="1747838" y="1905000"/>
            <a:ext cx="381000" cy="381000"/>
          </a:xfrm>
          <a:prstGeom prst="ellipse">
            <a:avLst/>
          </a:prstGeom>
          <a:solidFill>
            <a:srgbClr val="FF0000">
              <a:alpha val="50195"/>
            </a:srgbClr>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43" name="Text Box 67"/>
          <p:cNvSpPr txBox="1">
            <a:spLocks noChangeArrowheads="1"/>
          </p:cNvSpPr>
          <p:nvPr/>
        </p:nvSpPr>
        <p:spPr bwMode="auto">
          <a:xfrm>
            <a:off x="2895600" y="1828800"/>
            <a:ext cx="381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sym typeface="Wingdings" panose="05000000000000000000" pitchFamily="2" charset="2"/>
              </a:rPr>
              <a:t>  move 18 up to the root</a:t>
            </a:r>
            <a:endParaRPr kumimoji="1" lang="en-US" altLang="zh-CN" sz="2400" b="1">
              <a:latin typeface="Times New Roman" panose="02020603050405020304" pitchFamily="18" charset="0"/>
            </a:endParaRPr>
          </a:p>
        </p:txBody>
      </p:sp>
      <p:sp>
        <p:nvSpPr>
          <p:cNvPr id="24644" name="Oval 68"/>
          <p:cNvSpPr>
            <a:spLocks noChangeArrowheads="1"/>
          </p:cNvSpPr>
          <p:nvPr/>
        </p:nvSpPr>
        <p:spPr bwMode="auto">
          <a:xfrm>
            <a:off x="1295400" y="2819400"/>
            <a:ext cx="685800" cy="1143000"/>
          </a:xfrm>
          <a:prstGeom prst="ellipse">
            <a:avLst/>
          </a:prstGeom>
          <a:solidFill>
            <a:schemeClr val="bg1"/>
          </a:solidFill>
          <a:ln>
            <a:noFill/>
          </a:ln>
          <a:effectLst/>
          <a:extLst>
            <a:ext uri="{91240B29-F687-4F45-9708-019B960494DF}">
              <a14:hiddenLine xmlns:a14="http://schemas.microsoft.com/office/drawing/2010/main" w="25400">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645" name="Oval 69"/>
          <p:cNvSpPr>
            <a:spLocks noChangeArrowheads="1"/>
          </p:cNvSpPr>
          <p:nvPr/>
        </p:nvSpPr>
        <p:spPr bwMode="auto">
          <a:xfrm>
            <a:off x="1747838" y="19050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18</a:t>
            </a:r>
            <a:endParaRPr kumimoji="1" lang="en-US" altLang="zh-CN" sz="2400" b="1">
              <a:latin typeface="Times New Roman" panose="02020603050405020304" pitchFamily="18" charset="0"/>
            </a:endParaRPr>
          </a:p>
        </p:txBody>
      </p:sp>
      <p:sp>
        <p:nvSpPr>
          <p:cNvPr id="24646" name="Text Box 70"/>
          <p:cNvSpPr txBox="1">
            <a:spLocks noChangeArrowheads="1"/>
          </p:cNvSpPr>
          <p:nvPr/>
        </p:nvSpPr>
        <p:spPr bwMode="auto">
          <a:xfrm>
            <a:off x="2895600" y="2590800"/>
            <a:ext cx="434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a:latin typeface="Times New Roman" panose="02020603050405020304" pitchFamily="18" charset="0"/>
                <a:sym typeface="Wingdings" panose="05000000000000000000" pitchFamily="2" charset="2"/>
              </a:rPr>
              <a:t>  find the </a:t>
            </a:r>
            <a:r>
              <a:rPr kumimoji="1" lang="en-US" altLang="zh-CN" sz="2400" b="1">
                <a:solidFill>
                  <a:schemeClr val="hlink"/>
                </a:solidFill>
                <a:latin typeface="Times New Roman" panose="02020603050405020304" pitchFamily="18" charset="0"/>
                <a:sym typeface="Wingdings" panose="05000000000000000000" pitchFamily="2" charset="2"/>
              </a:rPr>
              <a:t>smaller</a:t>
            </a:r>
            <a:r>
              <a:rPr kumimoji="1" lang="en-US" altLang="zh-CN" sz="2400" b="1">
                <a:latin typeface="Times New Roman" panose="02020603050405020304" pitchFamily="18" charset="0"/>
                <a:sym typeface="Wingdings" panose="05000000000000000000" pitchFamily="2" charset="2"/>
              </a:rPr>
              <a:t> child of 18</a:t>
            </a:r>
            <a:endParaRPr kumimoji="1" lang="en-US" altLang="zh-CN" sz="2400" b="1">
              <a:latin typeface="Times New Roman" panose="02020603050405020304" pitchFamily="18" charset="0"/>
            </a:endParaRPr>
          </a:p>
        </p:txBody>
      </p:sp>
      <p:sp>
        <p:nvSpPr>
          <p:cNvPr id="24647" name="Oval 71"/>
          <p:cNvSpPr>
            <a:spLocks noChangeArrowheads="1"/>
          </p:cNvSpPr>
          <p:nvPr/>
        </p:nvSpPr>
        <p:spPr bwMode="auto">
          <a:xfrm>
            <a:off x="1143000" y="2514600"/>
            <a:ext cx="381000" cy="381000"/>
          </a:xfrm>
          <a:prstGeom prst="ellipse">
            <a:avLst/>
          </a:prstGeom>
          <a:solidFill>
            <a:srgbClr val="FF0000">
              <a:alpha val="50195"/>
            </a:srgbClr>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4648" name="Group 72"/>
          <p:cNvGrpSpPr/>
          <p:nvPr/>
        </p:nvGrpSpPr>
        <p:grpSpPr bwMode="auto">
          <a:xfrm>
            <a:off x="7010400" y="2514600"/>
            <a:ext cx="1447800" cy="457200"/>
            <a:chOff x="3024" y="2832"/>
            <a:chExt cx="912" cy="288"/>
          </a:xfrm>
        </p:grpSpPr>
        <p:sp>
          <p:nvSpPr>
            <p:cNvPr id="15389" name="Oval 73"/>
            <p:cNvSpPr>
              <a:spLocks noChangeArrowheads="1"/>
            </p:cNvSpPr>
            <p:nvPr/>
          </p:nvSpPr>
          <p:spPr bwMode="auto">
            <a:xfrm>
              <a:off x="3024" y="2880"/>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12</a:t>
              </a:r>
            </a:p>
          </p:txBody>
        </p:sp>
        <p:sp>
          <p:nvSpPr>
            <p:cNvPr id="15390" name="Oval 74"/>
            <p:cNvSpPr>
              <a:spLocks noChangeArrowheads="1"/>
            </p:cNvSpPr>
            <p:nvPr/>
          </p:nvSpPr>
          <p:spPr bwMode="auto">
            <a:xfrm>
              <a:off x="3696" y="2880"/>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18</a:t>
              </a:r>
            </a:p>
          </p:txBody>
        </p:sp>
        <p:sp>
          <p:nvSpPr>
            <p:cNvPr id="15391" name="Text Box 75"/>
            <p:cNvSpPr txBox="1">
              <a:spLocks noChangeArrowheads="1"/>
            </p:cNvSpPr>
            <p:nvPr/>
          </p:nvSpPr>
          <p:spPr bwMode="auto">
            <a:xfrm>
              <a:off x="3312" y="283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a:latin typeface="Times New Roman" panose="02020603050405020304" pitchFamily="18" charset="0"/>
                </a:rPr>
                <a:t>&lt;</a:t>
              </a:r>
            </a:p>
          </p:txBody>
        </p:sp>
      </p:grpSp>
      <p:sp>
        <p:nvSpPr>
          <p:cNvPr id="24652" name="Oval 76"/>
          <p:cNvSpPr>
            <a:spLocks noChangeArrowheads="1"/>
          </p:cNvSpPr>
          <p:nvPr/>
        </p:nvSpPr>
        <p:spPr bwMode="auto">
          <a:xfrm>
            <a:off x="1143000" y="25146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18</a:t>
            </a:r>
          </a:p>
        </p:txBody>
      </p:sp>
      <p:sp>
        <p:nvSpPr>
          <p:cNvPr id="24653" name="Oval 77"/>
          <p:cNvSpPr>
            <a:spLocks noChangeArrowheads="1"/>
          </p:cNvSpPr>
          <p:nvPr/>
        </p:nvSpPr>
        <p:spPr bwMode="auto">
          <a:xfrm>
            <a:off x="1747838" y="19050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12</a:t>
            </a:r>
          </a:p>
        </p:txBody>
      </p:sp>
      <p:sp>
        <p:nvSpPr>
          <p:cNvPr id="24654" name="Arc 78"/>
          <p:cNvSpPr/>
          <p:nvPr/>
        </p:nvSpPr>
        <p:spPr bwMode="auto">
          <a:xfrm flipV="1">
            <a:off x="2895600" y="2514600"/>
            <a:ext cx="381000" cy="533400"/>
          </a:xfrm>
          <a:custGeom>
            <a:avLst/>
            <a:gdLst>
              <a:gd name="T0" fmla="*/ 2147483646 w 43200"/>
              <a:gd name="T1" fmla="*/ 2147483646 h 43200"/>
              <a:gd name="T2" fmla="*/ 2147483646 w 43200"/>
              <a:gd name="T3" fmla="*/ 2147483646 h 43200"/>
              <a:gd name="T4" fmla="*/ 2147483646 w 43200"/>
              <a:gd name="T5" fmla="*/ 2147483646 h 43200"/>
              <a:gd name="T6" fmla="*/ 0 60000 65536"/>
              <a:gd name="T7" fmla="*/ 0 60000 65536"/>
              <a:gd name="T8" fmla="*/ 0 60000 65536"/>
            </a:gdLst>
            <a:ahLst/>
            <a:cxnLst>
              <a:cxn ang="T6">
                <a:pos x="T0" y="T1"/>
              </a:cxn>
              <a:cxn ang="T7">
                <a:pos x="T2" y="T3"/>
              </a:cxn>
              <a:cxn ang="T8">
                <a:pos x="T4" y="T5"/>
              </a:cxn>
            </a:cxnLst>
            <a:rect l="0" t="0" r="r" b="b"/>
            <a:pathLst>
              <a:path w="43200" h="43200" fill="none" extrusionOk="0">
                <a:moveTo>
                  <a:pt x="31438" y="40828"/>
                </a:moveTo>
                <a:cubicBezTo>
                  <a:pt x="28393" y="42387"/>
                  <a:pt x="25021" y="43199"/>
                  <a:pt x="21600" y="43200"/>
                </a:cubicBezTo>
                <a:cubicBezTo>
                  <a:pt x="9670" y="43200"/>
                  <a:pt x="0" y="33529"/>
                  <a:pt x="0" y="21600"/>
                </a:cubicBezTo>
                <a:cubicBezTo>
                  <a:pt x="0" y="9670"/>
                  <a:pt x="9670" y="0"/>
                  <a:pt x="21600" y="0"/>
                </a:cubicBezTo>
                <a:cubicBezTo>
                  <a:pt x="33529" y="0"/>
                  <a:pt x="43200" y="9670"/>
                  <a:pt x="43200" y="21600"/>
                </a:cubicBezTo>
                <a:cubicBezTo>
                  <a:pt x="43200" y="25797"/>
                  <a:pt x="41977" y="29903"/>
                  <a:pt x="39680" y="33416"/>
                </a:cubicBezTo>
              </a:path>
              <a:path w="43200" h="43200" stroke="0" extrusionOk="0">
                <a:moveTo>
                  <a:pt x="31438" y="40828"/>
                </a:moveTo>
                <a:cubicBezTo>
                  <a:pt x="28393" y="42387"/>
                  <a:pt x="25021" y="43199"/>
                  <a:pt x="21600" y="43200"/>
                </a:cubicBezTo>
                <a:cubicBezTo>
                  <a:pt x="9670" y="43200"/>
                  <a:pt x="0" y="33529"/>
                  <a:pt x="0" y="21600"/>
                </a:cubicBezTo>
                <a:cubicBezTo>
                  <a:pt x="0" y="9670"/>
                  <a:pt x="9670" y="0"/>
                  <a:pt x="21600" y="0"/>
                </a:cubicBezTo>
                <a:cubicBezTo>
                  <a:pt x="33529" y="0"/>
                  <a:pt x="43200" y="9670"/>
                  <a:pt x="43200" y="21600"/>
                </a:cubicBezTo>
                <a:cubicBezTo>
                  <a:pt x="43200" y="25797"/>
                  <a:pt x="41977" y="29903"/>
                  <a:pt x="39680" y="33416"/>
                </a:cubicBezTo>
                <a:lnTo>
                  <a:pt x="21600" y="21600"/>
                </a:lnTo>
                <a:lnTo>
                  <a:pt x="31438" y="40828"/>
                </a:lnTo>
                <a:close/>
              </a:path>
            </a:pathLst>
          </a:custGeom>
          <a:noFill/>
          <a:ln w="25400">
            <a:solidFill>
              <a:schemeClr val="tx1"/>
            </a:solidFill>
            <a:round/>
            <a:headEnd type="triangl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655" name="Group 79"/>
          <p:cNvGrpSpPr/>
          <p:nvPr/>
        </p:nvGrpSpPr>
        <p:grpSpPr bwMode="auto">
          <a:xfrm>
            <a:off x="7010400" y="3048000"/>
            <a:ext cx="1447800" cy="457200"/>
            <a:chOff x="3024" y="2832"/>
            <a:chExt cx="912" cy="288"/>
          </a:xfrm>
        </p:grpSpPr>
        <p:sp>
          <p:nvSpPr>
            <p:cNvPr id="15386" name="Oval 80"/>
            <p:cNvSpPr>
              <a:spLocks noChangeArrowheads="1"/>
            </p:cNvSpPr>
            <p:nvPr/>
          </p:nvSpPr>
          <p:spPr bwMode="auto">
            <a:xfrm>
              <a:off x="3024" y="2880"/>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15</a:t>
              </a:r>
            </a:p>
          </p:txBody>
        </p:sp>
        <p:sp>
          <p:nvSpPr>
            <p:cNvPr id="15387" name="Oval 81"/>
            <p:cNvSpPr>
              <a:spLocks noChangeArrowheads="1"/>
            </p:cNvSpPr>
            <p:nvPr/>
          </p:nvSpPr>
          <p:spPr bwMode="auto">
            <a:xfrm>
              <a:off x="3696" y="2880"/>
              <a:ext cx="240" cy="240"/>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18</a:t>
              </a:r>
            </a:p>
          </p:txBody>
        </p:sp>
        <p:sp>
          <p:nvSpPr>
            <p:cNvPr id="15388" name="Text Box 82"/>
            <p:cNvSpPr txBox="1">
              <a:spLocks noChangeArrowheads="1"/>
            </p:cNvSpPr>
            <p:nvPr/>
          </p:nvSpPr>
          <p:spPr bwMode="auto">
            <a:xfrm>
              <a:off x="3312" y="283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kumimoji="1" lang="en-US" altLang="zh-CN" sz="2400" b="1">
                  <a:latin typeface="Times New Roman" panose="02020603050405020304" pitchFamily="18" charset="0"/>
                </a:rPr>
                <a:t>&lt;</a:t>
              </a:r>
            </a:p>
          </p:txBody>
        </p:sp>
      </p:grpSp>
      <p:sp>
        <p:nvSpPr>
          <p:cNvPr id="24659" name="Oval 83"/>
          <p:cNvSpPr>
            <a:spLocks noChangeArrowheads="1"/>
          </p:cNvSpPr>
          <p:nvPr/>
        </p:nvSpPr>
        <p:spPr bwMode="auto">
          <a:xfrm>
            <a:off x="685800" y="31242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solidFill>
                  <a:schemeClr val="hlink"/>
                </a:solidFill>
                <a:latin typeface="Times New Roman" panose="02020603050405020304" pitchFamily="18" charset="0"/>
              </a:rPr>
              <a:t>18</a:t>
            </a:r>
          </a:p>
        </p:txBody>
      </p:sp>
      <p:sp>
        <p:nvSpPr>
          <p:cNvPr id="24660" name="Oval 84"/>
          <p:cNvSpPr>
            <a:spLocks noChangeArrowheads="1"/>
          </p:cNvSpPr>
          <p:nvPr/>
        </p:nvSpPr>
        <p:spPr bwMode="auto">
          <a:xfrm>
            <a:off x="1139825" y="2514600"/>
            <a:ext cx="381000" cy="381000"/>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a:latin typeface="Times New Roman" panose="02020603050405020304" pitchFamily="18" charset="0"/>
              </a:rPr>
              <a:t>15</a:t>
            </a:r>
          </a:p>
        </p:txBody>
      </p:sp>
      <p:graphicFrame>
        <p:nvGraphicFramePr>
          <p:cNvPr id="24661" name="Object 85"/>
          <p:cNvGraphicFramePr>
            <a:graphicFrameLocks noChangeAspect="1"/>
          </p:cNvGraphicFramePr>
          <p:nvPr/>
        </p:nvGraphicFramePr>
        <p:xfrm>
          <a:off x="1676400" y="3048000"/>
          <a:ext cx="466725" cy="685800"/>
        </p:xfrm>
        <a:graphic>
          <a:graphicData uri="http://schemas.openxmlformats.org/presentationml/2006/ole">
            <mc:AlternateContent xmlns:mc="http://schemas.openxmlformats.org/markup-compatibility/2006">
              <mc:Choice xmlns:v="urn:schemas-microsoft-com:vml" Requires="v">
                <p:oleObj name="剪辑" r:id="rId8" imgW="13487400" imgH="19840575" progId="">
                  <p:embed/>
                </p:oleObj>
              </mc:Choice>
              <mc:Fallback>
                <p:oleObj name="剪辑" r:id="rId8" imgW="13487400" imgH="19840575" progId="">
                  <p:embed/>
                  <p:pic>
                    <p:nvPicPr>
                      <p:cNvPr id="24661" name="Object 85"/>
                      <p:cNvPicPr>
                        <a:picLocks noChangeAspect="1"/>
                      </p:cNvPicPr>
                      <p:nvPr/>
                    </p:nvPicPr>
                    <p:blipFill>
                      <a:blip r:embed="rId9"/>
                      <a:stretch>
                        <a:fillRect/>
                      </a:stretch>
                    </p:blipFill>
                    <p:spPr>
                      <a:xfrm>
                        <a:off x="1676400" y="3048000"/>
                        <a:ext cx="466725" cy="685800"/>
                      </a:xfrm>
                      <a:prstGeom prst="rect">
                        <a:avLst/>
                      </a:prstGeom>
                      <a:noFill/>
                      <a:ln w="9525">
                        <a:noFill/>
                      </a:ln>
                    </p:spPr>
                  </p:pic>
                </p:oleObj>
              </mc:Fallback>
            </mc:AlternateContent>
          </a:graphicData>
        </a:graphic>
      </p:graphicFrame>
      <p:sp>
        <p:nvSpPr>
          <p:cNvPr id="24666" name="AutoShape 90"/>
          <p:cNvSpPr>
            <a:spLocks noChangeArrowheads="1"/>
          </p:cNvSpPr>
          <p:nvPr/>
        </p:nvSpPr>
        <p:spPr bwMode="auto">
          <a:xfrm>
            <a:off x="6172200" y="3886200"/>
            <a:ext cx="2362200" cy="1143000"/>
          </a:xfrm>
          <a:prstGeom prst="wedgeEllipseCallout">
            <a:avLst>
              <a:gd name="adj1" fmla="val -23856"/>
              <a:gd name="adj2" fmla="val -94167"/>
            </a:avLst>
          </a:prstGeom>
          <a:gradFill rotWithShape="0">
            <a:gsLst>
              <a:gs pos="0">
                <a:srgbClr val="C0C0C0"/>
              </a:gs>
              <a:gs pos="100000">
                <a:srgbClr val="FFFFFF"/>
              </a:gs>
            </a:gsLst>
            <a:lin ang="18900000" scaled="1"/>
          </a:gra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2400" b="1" i="1">
                <a:latin typeface="Times New Roman" panose="02020603050405020304" pitchFamily="18" charset="0"/>
              </a:rPr>
              <a:t>Percolate down</a:t>
            </a:r>
          </a:p>
        </p:txBody>
      </p:sp>
      <p:sp>
        <p:nvSpPr>
          <p:cNvPr id="24667" name="Text Box 91"/>
          <p:cNvSpPr txBox="1">
            <a:spLocks noChangeArrowheads="1"/>
          </p:cNvSpPr>
          <p:nvPr/>
        </p:nvSpPr>
        <p:spPr bwMode="auto">
          <a:xfrm>
            <a:off x="2743200" y="6118225"/>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latin typeface="Times New Roman" panose="02020603050405020304" pitchFamily="18" charset="0"/>
              </a:rPr>
              <a:t>worst case:T</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O ( log </a:t>
            </a:r>
            <a:r>
              <a:rPr kumimoji="1" lang="en-US" altLang="zh-CN" sz="2400" b="1" i="1">
                <a:latin typeface="Times New Roman" panose="02020603050405020304" pitchFamily="18" charset="0"/>
              </a:rPr>
              <a:t>N </a:t>
            </a:r>
            <a:r>
              <a:rPr kumimoji="1" lang="en-US" altLang="zh-CN" sz="2400" b="1">
                <a:latin typeface="Times New Roman" panose="02020603050405020304" pitchFamily="18" charset="0"/>
              </a:rPr>
              <a:t>)</a:t>
            </a:r>
            <a:endParaRPr kumimoji="1" lang="en-US" altLang="zh-CN" sz="2400" b="1" i="1">
              <a:latin typeface="Times New Roman" panose="02020603050405020304" pitchFamily="18" charset="0"/>
            </a:endParaRPr>
          </a:p>
        </p:txBody>
      </p:sp>
      <p:sp>
        <p:nvSpPr>
          <p:cNvPr id="24668" name="Text Box 92"/>
          <p:cNvSpPr txBox="1">
            <a:spLocks noChangeArrowheads="1"/>
          </p:cNvSpPr>
          <p:nvPr/>
        </p:nvSpPr>
        <p:spPr bwMode="auto">
          <a:xfrm>
            <a:off x="304800" y="5562600"/>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1">
                <a:latin typeface="Times New Roman" panose="02020603050405020304" pitchFamily="18" charset="0"/>
              </a:rPr>
              <a:t>Time complexity</a:t>
            </a:r>
            <a:r>
              <a:rPr lang="zh-CN" altLang="en-US" sz="2400" b="1">
                <a:latin typeface="Times New Roman" panose="02020603050405020304" pitchFamily="18" charset="0"/>
              </a:rPr>
              <a:t>：</a:t>
            </a:r>
          </a:p>
        </p:txBody>
      </p:sp>
      <p:sp>
        <p:nvSpPr>
          <p:cNvPr id="24669" name="Text Box 93"/>
          <p:cNvSpPr txBox="1">
            <a:spLocks noChangeArrowheads="1"/>
          </p:cNvSpPr>
          <p:nvPr/>
        </p:nvSpPr>
        <p:spPr bwMode="auto">
          <a:xfrm>
            <a:off x="2743200" y="5584825"/>
            <a:ext cx="457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a:latin typeface="Times New Roman" panose="02020603050405020304" pitchFamily="18" charset="0"/>
              </a:rPr>
              <a:t>best case:T</a:t>
            </a:r>
            <a:r>
              <a:rPr kumimoji="1" lang="en-US" altLang="zh-CN" sz="2400" b="1">
                <a:latin typeface="Times New Roman" panose="02020603050405020304" pitchFamily="18" charset="0"/>
              </a:rPr>
              <a:t> (</a:t>
            </a:r>
            <a:r>
              <a:rPr kumimoji="1" lang="en-US" altLang="zh-CN" sz="2400" b="1" i="1">
                <a:latin typeface="Times New Roman" panose="02020603050405020304" pitchFamily="18" charset="0"/>
              </a:rPr>
              <a:t>N</a:t>
            </a:r>
            <a:r>
              <a:rPr kumimoji="1" lang="en-US" altLang="zh-CN" sz="2400" b="1">
                <a:latin typeface="Times New Roman" panose="02020603050405020304" pitchFamily="18" charset="0"/>
              </a:rPr>
              <a:t>) = O ( 1</a:t>
            </a:r>
            <a:r>
              <a:rPr kumimoji="1" lang="en-US" altLang="zh-CN" sz="2400" b="1" i="1">
                <a:latin typeface="Times New Roman" panose="02020603050405020304" pitchFamily="18" charset="0"/>
              </a:rPr>
              <a:t> </a:t>
            </a:r>
            <a:r>
              <a:rPr kumimoji="1" lang="en-US" altLang="zh-CN" sz="2400" b="1">
                <a:latin typeface="Times New Roman" panose="02020603050405020304" pitchFamily="18" charset="0"/>
              </a:rPr>
              <a:t>)</a:t>
            </a:r>
            <a:endParaRPr kumimoji="1" lang="en-US" altLang="zh-CN" sz="2400" b="1" i="1">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wipe(left)">
                                      <p:cBhvr>
                                        <p:cTn id="7" dur="500"/>
                                        <p:tgtEl>
                                          <p:spTgt spid="2457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623"/>
                                        </p:tgtEl>
                                        <p:attrNameLst>
                                          <p:attrName>style.visibility</p:attrName>
                                        </p:attrNameLst>
                                      </p:cBhvr>
                                      <p:to>
                                        <p:strVal val="visible"/>
                                      </p:to>
                                    </p:set>
                                    <p:animEffect transition="in" filter="wipe(left)">
                                      <p:cBhvr>
                                        <p:cTn id="11" dur="500"/>
                                        <p:tgtEl>
                                          <p:spTgt spid="24623"/>
                                        </p:tgtEl>
                                      </p:cBhvr>
                                    </p:animEffect>
                                  </p:childTnLst>
                                  <p:subTnLst>
                                    <p:audio>
                                      <p:cMediaNode>
                                        <p:cTn display="0" masterRel="sameClick">
                                          <p:stCondLst>
                                            <p:cond evt="begin" delay="0">
                                              <p:tn val="9"/>
                                            </p:cond>
                                          </p:stCondLst>
                                          <p:endCondLst>
                                            <p:cond evt="onStopAudio" delay="0">
                                              <p:tgtEl>
                                                <p:sldTgt/>
                                              </p:tgtEl>
                                            </p:cond>
                                          </p:endCondLst>
                                        </p:cTn>
                                        <p:tgtEl>
                                          <p:sndTgt r:embed="rId2" name="TYPE.WAV"/>
                                        </p:tgtEl>
                                      </p:cMediaNode>
                                    </p:audio>
                                  </p:sub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24624"/>
                                        </p:tgtEl>
                                        <p:attrNameLst>
                                          <p:attrName>style.visibility</p:attrName>
                                        </p:attrNameLst>
                                      </p:cBhvr>
                                      <p:to>
                                        <p:strVal val="visible"/>
                                      </p:to>
                                    </p:set>
                                    <p:animEffect transition="in" filter="wipe(up)">
                                      <p:cBhvr>
                                        <p:cTn id="15" dur="500"/>
                                        <p:tgtEl>
                                          <p:spTgt spid="24624"/>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4639"/>
                                        </p:tgtEl>
                                        <p:attrNameLst>
                                          <p:attrName>style.visibility</p:attrName>
                                        </p:attrNameLst>
                                      </p:cBhvr>
                                      <p:to>
                                        <p:strVal val="visible"/>
                                      </p:to>
                                    </p:set>
                                  </p:childTnLst>
                                  <p:subTnLst>
                                    <p:set>
                                      <p:cBhvr override="childStyle">
                                        <p:cTn dur="1" fill="hold" display="0" masterRel="nextClick" afterEffect="1"/>
                                        <p:tgtEl>
                                          <p:spTgt spid="24639"/>
                                        </p:tgtEl>
                                        <p:attrNameLst>
                                          <p:attrName>style.visibility</p:attrName>
                                        </p:attrNameLst>
                                      </p:cBhvr>
                                      <p:to>
                                        <p:strVal val="hidden"/>
                                      </p:to>
                                    </p:set>
                                    <p:audio>
                                      <p:cMediaNode>
                                        <p:cTn display="0" masterRel="sameClick">
                                          <p:stCondLst>
                                            <p:cond evt="begin" delay="0">
                                              <p:tn val="18"/>
                                            </p:cond>
                                          </p:stCondLst>
                                          <p:endCondLst>
                                            <p:cond evt="onStopAudio" delay="0">
                                              <p:tgtEl>
                                                <p:sldTgt/>
                                              </p:tgtEl>
                                            </p:cond>
                                          </p:endCondLst>
                                        </p:cTn>
                                        <p:tgtEl>
                                          <p:sndTgt r:embed="rId4" name="DING.WAV"/>
                                        </p:tgtEl>
                                      </p:cMediaNode>
                                    </p:audio>
                                  </p:sub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4640"/>
                                        </p:tgtEl>
                                        <p:attrNameLst>
                                          <p:attrName>style.visibility</p:attrName>
                                        </p:attrNameLst>
                                      </p:cBhvr>
                                      <p:to>
                                        <p:strVal val="visible"/>
                                      </p:to>
                                    </p:set>
                                    <p:animEffect transition="in" filter="wipe(left)">
                                      <p:cBhvr>
                                        <p:cTn id="23" dur="500"/>
                                        <p:tgtEl>
                                          <p:spTgt spid="24640"/>
                                        </p:tgtEl>
                                      </p:cBhvr>
                                    </p:animEffect>
                                  </p:childTnLst>
                                  <p:subTnLst>
                                    <p:set>
                                      <p:cBhvr override="childStyle">
                                        <p:cTn dur="1" fill="hold" display="0" masterRel="nextClick" afterEffect="1"/>
                                        <p:tgtEl>
                                          <p:spTgt spid="24640"/>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1" presetClass="entr" presetSubtype="0" fill="hold" grpId="0" nodeType="clickEffect">
                                  <p:stCondLst>
                                    <p:cond delay="0"/>
                                  </p:stCondLst>
                                  <p:childTnLst>
                                    <p:set>
                                      <p:cBhvr>
                                        <p:cTn id="27" dur="500">
                                          <p:stCondLst>
                                            <p:cond delay="0"/>
                                          </p:stCondLst>
                                        </p:cTn>
                                        <p:tgtEl>
                                          <p:spTgt spid="24641"/>
                                        </p:tgtEl>
                                        <p:attrNameLst>
                                          <p:attrName>style.visibility</p:attrName>
                                        </p:attrNameLst>
                                      </p:cBhvr>
                                      <p:to>
                                        <p:strVal val="visible"/>
                                      </p:to>
                                    </p:set>
                                  </p:childTnLst>
                                  <p:subTnLst>
                                    <p:audio>
                                      <p:cMediaNode>
                                        <p:cTn display="0" masterRel="sameClick">
                                          <p:stCondLst>
                                            <p:cond evt="begin" delay="0">
                                              <p:tn val="26"/>
                                            </p:cond>
                                          </p:stCondLst>
                                          <p:endCondLst>
                                            <p:cond evt="onStopAudio" delay="0">
                                              <p:tgtEl>
                                                <p:sldTgt/>
                                              </p:tgtEl>
                                            </p:cond>
                                          </p:endCondLst>
                                        </p:cTn>
                                        <p:tgtEl>
                                          <p:sndTgt r:embed="rId4" name="DING.WAV"/>
                                        </p:tgtEl>
                                      </p:cMediaNode>
                                    </p:audio>
                                  </p:subTnLst>
                                </p:cTn>
                              </p:par>
                            </p:childTnLst>
                          </p:cTn>
                        </p:par>
                        <p:par>
                          <p:cTn id="28" fill="hold">
                            <p:stCondLst>
                              <p:cond delay="500"/>
                            </p:stCondLst>
                            <p:childTnLst>
                              <p:par>
                                <p:cTn id="29" presetID="11" presetClass="entr" presetSubtype="0" fill="hold" grpId="0" nodeType="afterEffect">
                                  <p:stCondLst>
                                    <p:cond delay="1000"/>
                                  </p:stCondLst>
                                  <p:childTnLst>
                                    <p:set>
                                      <p:cBhvr>
                                        <p:cTn id="30" dur="500">
                                          <p:stCondLst>
                                            <p:cond delay="0"/>
                                          </p:stCondLst>
                                        </p:cTn>
                                        <p:tgtEl>
                                          <p:spTgt spid="2464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4643"/>
                                        </p:tgtEl>
                                        <p:attrNameLst>
                                          <p:attrName>style.visibility</p:attrName>
                                        </p:attrNameLst>
                                      </p:cBhvr>
                                      <p:to>
                                        <p:strVal val="visible"/>
                                      </p:to>
                                    </p:set>
                                    <p:animEffect transition="in" filter="wipe(left)">
                                      <p:cBhvr>
                                        <p:cTn id="35" dur="500"/>
                                        <p:tgtEl>
                                          <p:spTgt spid="24643"/>
                                        </p:tgtEl>
                                      </p:cBhvr>
                                    </p:animEffect>
                                  </p:childTnLst>
                                  <p:subTnLst>
                                    <p:audio>
                                      <p:cMediaNode>
                                        <p:cTn display="0" masterRel="sameClick">
                                          <p:stCondLst>
                                            <p:cond evt="begin" delay="0">
                                              <p:tn val="33"/>
                                            </p:cond>
                                          </p:stCondLst>
                                          <p:endCondLst>
                                            <p:cond evt="onStopAudio" delay="0">
                                              <p:tgtEl>
                                                <p:sldTgt/>
                                              </p:tgtEl>
                                            </p:cond>
                                          </p:endCondLst>
                                        </p:cTn>
                                        <p:tgtEl>
                                          <p:sndTgt r:embed="rId2" name="TYPE.WAV"/>
                                        </p:tgtEl>
                                      </p:cMediaNode>
                                    </p:audio>
                                  </p:sub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24644"/>
                                        </p:tgtEl>
                                        <p:attrNameLst>
                                          <p:attrName>style.visibility</p:attrName>
                                        </p:attrNameLst>
                                      </p:cBhvr>
                                      <p:to>
                                        <p:strVal val="visible"/>
                                      </p:to>
                                    </p:set>
                                    <p:animEffect transition="in" filter="dissolve">
                                      <p:cBhvr>
                                        <p:cTn id="39" dur="500"/>
                                        <p:tgtEl>
                                          <p:spTgt spid="24644"/>
                                        </p:tgtEl>
                                      </p:cBhvr>
                                    </p:animEffect>
                                  </p:childTnLst>
                                </p:cTn>
                              </p:par>
                            </p:childTnLst>
                          </p:cTn>
                        </p:par>
                        <p:par>
                          <p:cTn id="40" fill="hold">
                            <p:stCondLst>
                              <p:cond delay="1000"/>
                            </p:stCondLst>
                            <p:childTnLst>
                              <p:par>
                                <p:cTn id="41" presetID="1" presetClass="entr" presetSubtype="0" fill="hold" grpId="0" nodeType="afterEffect">
                                  <p:stCondLst>
                                    <p:cond delay="0"/>
                                  </p:stCondLst>
                                  <p:childTnLst>
                                    <p:set>
                                      <p:cBhvr>
                                        <p:cTn id="42" dur="1" fill="hold">
                                          <p:stCondLst>
                                            <p:cond delay="499"/>
                                          </p:stCondLst>
                                        </p:cTn>
                                        <p:tgtEl>
                                          <p:spTgt spid="24645"/>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4" name="DING.WAV"/>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646"/>
                                        </p:tgtEl>
                                        <p:attrNameLst>
                                          <p:attrName>style.visibility</p:attrName>
                                        </p:attrNameLst>
                                      </p:cBhvr>
                                      <p:to>
                                        <p:strVal val="visible"/>
                                      </p:to>
                                    </p:set>
                                    <p:animEffect transition="in" filter="wipe(left)">
                                      <p:cBhvr>
                                        <p:cTn id="47" dur="500"/>
                                        <p:tgtEl>
                                          <p:spTgt spid="24646"/>
                                        </p:tgtEl>
                                      </p:cBhvr>
                                    </p:animEffect>
                                  </p:childTnLst>
                                  <p:subTnLst>
                                    <p:audio>
                                      <p:cMediaNode>
                                        <p:cTn display="0" masterRel="sameClick">
                                          <p:stCondLst>
                                            <p:cond evt="begin" delay="0">
                                              <p:tn val="45"/>
                                            </p:cond>
                                          </p:stCondLst>
                                          <p:endCondLst>
                                            <p:cond evt="onStopAudio" delay="0">
                                              <p:tgtEl>
                                                <p:sldTgt/>
                                              </p:tgtEl>
                                            </p:cond>
                                          </p:endCondLst>
                                        </p:cTn>
                                        <p:tgtEl>
                                          <p:sndTgt r:embed="rId2" name="TYPE.WAV"/>
                                        </p:tgtEl>
                                      </p:cMediaNode>
                                    </p:audio>
                                  </p:subTnLst>
                                </p:cTn>
                              </p:par>
                            </p:childTnLst>
                          </p:cTn>
                        </p:par>
                        <p:par>
                          <p:cTn id="48" fill="hold">
                            <p:stCondLst>
                              <p:cond delay="500"/>
                            </p:stCondLst>
                            <p:childTnLst>
                              <p:par>
                                <p:cTn id="49" presetID="1" presetClass="entr" presetSubtype="0" fill="hold" grpId="0" nodeType="afterEffect">
                                  <p:stCondLst>
                                    <p:cond delay="0"/>
                                  </p:stCondLst>
                                  <p:childTnLst>
                                    <p:set>
                                      <p:cBhvr>
                                        <p:cTn id="50" dur="1" fill="hold">
                                          <p:stCondLst>
                                            <p:cond delay="499"/>
                                          </p:stCondLst>
                                        </p:cTn>
                                        <p:tgtEl>
                                          <p:spTgt spid="24647"/>
                                        </p:tgtEl>
                                        <p:attrNameLst>
                                          <p:attrName>style.visibility</p:attrName>
                                        </p:attrNameLst>
                                      </p:cBhvr>
                                      <p:to>
                                        <p:strVal val="visible"/>
                                      </p:to>
                                    </p:set>
                                  </p:childTnLst>
                                  <p:subTnLst>
                                    <p:audio>
                                      <p:cMediaNode>
                                        <p:cTn display="0" masterRel="sameClick">
                                          <p:stCondLst>
                                            <p:cond evt="begin" delay="0">
                                              <p:tn val="49"/>
                                            </p:cond>
                                          </p:stCondLst>
                                          <p:endCondLst>
                                            <p:cond evt="onStopAudio" delay="0">
                                              <p:tgtEl>
                                                <p:sldTgt/>
                                              </p:tgtEl>
                                            </p:cond>
                                          </p:endCondLst>
                                        </p:cTn>
                                        <p:tgtEl>
                                          <p:sndTgt r:embed="rId4" name="DING.WAV"/>
                                        </p:tgtEl>
                                      </p:cMediaNode>
                                    </p:audio>
                                  </p:sub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4648"/>
                                        </p:tgtEl>
                                        <p:attrNameLst>
                                          <p:attrName>style.visibility</p:attrName>
                                        </p:attrNameLst>
                                      </p:cBhvr>
                                      <p:to>
                                        <p:strVal val="visible"/>
                                      </p:to>
                                    </p:set>
                                    <p:animEffect transition="in" filter="wipe(left)">
                                      <p:cBhvr>
                                        <p:cTn id="55" dur="500"/>
                                        <p:tgtEl>
                                          <p:spTgt spid="24648"/>
                                        </p:tgtEl>
                                      </p:cBhvr>
                                    </p:animEffect>
                                  </p:childTnLst>
                                  <p:subTnLst>
                                    <p:audio>
                                      <p:cMediaNode>
                                        <p:cTn display="0" masterRel="sameClick">
                                          <p:stCondLst>
                                            <p:cond evt="begin" delay="0">
                                              <p:tn val="53"/>
                                            </p:cond>
                                          </p:stCondLst>
                                          <p:endCondLst>
                                            <p:cond evt="onStopAudio" delay="0">
                                              <p:tgtEl>
                                                <p:sldTgt/>
                                              </p:tgtEl>
                                            </p:cond>
                                          </p:endCondLst>
                                        </p:cTn>
                                        <p:tgtEl>
                                          <p:sndTgt r:embed="rId5" name="LASER.WAV"/>
                                        </p:tgtEl>
                                      </p:cMediaNode>
                                    </p:audio>
                                  </p:sub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24652"/>
                                        </p:tgtEl>
                                        <p:attrNameLst>
                                          <p:attrName>style.visibility</p:attrName>
                                        </p:attrNameLst>
                                      </p:cBhvr>
                                      <p:to>
                                        <p:strVal val="visible"/>
                                      </p:to>
                                    </p:se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499"/>
                                          </p:stCondLst>
                                        </p:cTn>
                                        <p:tgtEl>
                                          <p:spTgt spid="24653"/>
                                        </p:tgtEl>
                                        <p:attrNameLst>
                                          <p:attrName>style.visibility</p:attrName>
                                        </p:attrNameLst>
                                      </p:cBhvr>
                                      <p:to>
                                        <p:strVal val="visible"/>
                                      </p:to>
                                    </p:set>
                                  </p:childTnLst>
                                  <p:subTnLst>
                                    <p:audio>
                                      <p:cMediaNode>
                                        <p:cTn display="0" masterRel="sameClick">
                                          <p:stCondLst>
                                            <p:cond evt="begin" delay="0">
                                              <p:tn val="61"/>
                                            </p:cond>
                                          </p:stCondLst>
                                          <p:endCondLst>
                                            <p:cond evt="onStopAudio" delay="0">
                                              <p:tgtEl>
                                                <p:sldTgt/>
                                              </p:tgtEl>
                                            </p:cond>
                                          </p:endCondLst>
                                        </p:cTn>
                                        <p:tgtEl>
                                          <p:sndTgt r:embed="rId4" name="DING.WAV"/>
                                        </p:tgtEl>
                                      </p:cMediaNode>
                                    </p:audio>
                                  </p:sub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24654"/>
                                        </p:tgtEl>
                                        <p:attrNameLst>
                                          <p:attrName>style.visibility</p:attrName>
                                        </p:attrNameLst>
                                      </p:cBhvr>
                                      <p:to>
                                        <p:strVal val="visible"/>
                                      </p:to>
                                    </p:set>
                                    <p:animEffect transition="in" filter="wipe(right)">
                                      <p:cBhvr>
                                        <p:cTn id="67" dur="500"/>
                                        <p:tgtEl>
                                          <p:spTgt spid="24654"/>
                                        </p:tgtEl>
                                      </p:cBhvr>
                                    </p:animEffect>
                                  </p:childTnLst>
                                  <p:subTnLst>
                                    <p:audio>
                                      <p:cMediaNode>
                                        <p:cTn display="0" masterRel="sameClick">
                                          <p:stCondLst>
                                            <p:cond evt="begin" delay="0">
                                              <p:tn val="65"/>
                                            </p:cond>
                                          </p:stCondLst>
                                          <p:endCondLst>
                                            <p:cond evt="onStopAudio" delay="0">
                                              <p:tgtEl>
                                                <p:sldTgt/>
                                              </p:tgtEl>
                                            </p:cond>
                                          </p:endCondLst>
                                        </p:cTn>
                                        <p:tgtEl>
                                          <p:sndTgt r:embed="rId6" name="WHOOSH.WAV"/>
                                        </p:tgtEl>
                                      </p:cMediaNode>
                                    </p:audio>
                                  </p:sub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24655"/>
                                        </p:tgtEl>
                                        <p:attrNameLst>
                                          <p:attrName>style.visibility</p:attrName>
                                        </p:attrNameLst>
                                      </p:cBhvr>
                                      <p:to>
                                        <p:strVal val="visible"/>
                                      </p:to>
                                    </p:set>
                                    <p:animEffect transition="in" filter="wipe(left)">
                                      <p:cBhvr>
                                        <p:cTn id="71" dur="500"/>
                                        <p:tgtEl>
                                          <p:spTgt spid="24655"/>
                                        </p:tgtEl>
                                      </p:cBhvr>
                                    </p:animEffect>
                                  </p:childTnLst>
                                  <p:subTnLst>
                                    <p:audio>
                                      <p:cMediaNode>
                                        <p:cTn display="0" masterRel="sameClick">
                                          <p:stCondLst>
                                            <p:cond evt="begin" delay="0">
                                              <p:tn val="69"/>
                                            </p:cond>
                                          </p:stCondLst>
                                          <p:endCondLst>
                                            <p:cond evt="onStopAudio" delay="0">
                                              <p:tgtEl>
                                                <p:sldTgt/>
                                              </p:tgtEl>
                                            </p:cond>
                                          </p:endCondLst>
                                        </p:cTn>
                                        <p:tgtEl>
                                          <p:sndTgt r:embed="rId5" name="LASER.WAV"/>
                                        </p:tgtEl>
                                      </p:cMediaNode>
                                    </p:audio>
                                  </p:sub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499"/>
                                          </p:stCondLst>
                                        </p:cTn>
                                        <p:tgtEl>
                                          <p:spTgt spid="24659"/>
                                        </p:tgtEl>
                                        <p:attrNameLst>
                                          <p:attrName>style.visibility</p:attrName>
                                        </p:attrNameLst>
                                      </p:cBhvr>
                                      <p:to>
                                        <p:strVal val="visible"/>
                                      </p:to>
                                    </p:set>
                                  </p:childTnLst>
                                </p:cTn>
                              </p:par>
                            </p:childTnLst>
                          </p:cTn>
                        </p:par>
                        <p:par>
                          <p:cTn id="76" fill="hold">
                            <p:stCondLst>
                              <p:cond delay="500"/>
                            </p:stCondLst>
                            <p:childTnLst>
                              <p:par>
                                <p:cTn id="77" presetID="1" presetClass="entr" presetSubtype="0" fill="hold" grpId="0" nodeType="afterEffect">
                                  <p:stCondLst>
                                    <p:cond delay="0"/>
                                  </p:stCondLst>
                                  <p:childTnLst>
                                    <p:set>
                                      <p:cBhvr>
                                        <p:cTn id="78" dur="1" fill="hold">
                                          <p:stCondLst>
                                            <p:cond delay="499"/>
                                          </p:stCondLst>
                                        </p:cTn>
                                        <p:tgtEl>
                                          <p:spTgt spid="24660"/>
                                        </p:tgtEl>
                                        <p:attrNameLst>
                                          <p:attrName>style.visibility</p:attrName>
                                        </p:attrNameLst>
                                      </p:cBhvr>
                                      <p:to>
                                        <p:strVal val="visible"/>
                                      </p:to>
                                    </p:set>
                                  </p:childTnLst>
                                  <p:subTnLst>
                                    <p:audio>
                                      <p:cMediaNode>
                                        <p:cTn display="0" masterRel="sameClick">
                                          <p:stCondLst>
                                            <p:cond evt="begin" delay="0">
                                              <p:tn val="77"/>
                                            </p:cond>
                                          </p:stCondLst>
                                          <p:endCondLst>
                                            <p:cond evt="onStopAudio" delay="0">
                                              <p:tgtEl>
                                                <p:sldTgt/>
                                              </p:tgtEl>
                                            </p:cond>
                                          </p:endCondLst>
                                        </p:cTn>
                                        <p:tgtEl>
                                          <p:sndTgt r:embed="rId4" name="DING.WAV"/>
                                        </p:tgtEl>
                                      </p:cMediaNode>
                                    </p:audio>
                                  </p:sub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24661"/>
                                        </p:tgtEl>
                                        <p:attrNameLst>
                                          <p:attrName>style.visibility</p:attrName>
                                        </p:attrNameLst>
                                      </p:cBhvr>
                                      <p:to>
                                        <p:strVal val="visible"/>
                                      </p:to>
                                    </p:set>
                                    <p:animEffect transition="in" filter="wipe(down)">
                                      <p:cBhvr>
                                        <p:cTn id="83" dur="500"/>
                                        <p:tgtEl>
                                          <p:spTgt spid="24661"/>
                                        </p:tgtEl>
                                      </p:cBhvr>
                                    </p:animEffect>
                                  </p:childTnLst>
                                  <p:subTnLst>
                                    <p:audio>
                                      <p:cMediaNode>
                                        <p:cTn display="0" masterRel="sameClick">
                                          <p:stCondLst>
                                            <p:cond evt="begin" delay="0">
                                              <p:tn val="81"/>
                                            </p:cond>
                                          </p:stCondLst>
                                          <p:endCondLst>
                                            <p:cond evt="onStopAudio" delay="0">
                                              <p:tgtEl>
                                                <p:sldTgt/>
                                              </p:tgtEl>
                                            </p:cond>
                                          </p:endCondLst>
                                        </p:cTn>
                                        <p:tgtEl>
                                          <p:sndTgt r:embed="rId7" name="TADA.WAV"/>
                                        </p:tgtEl>
                                      </p:cMediaNode>
                                    </p:audio>
                                  </p:subTnLst>
                                </p:cTn>
                              </p:par>
                            </p:childTnLst>
                          </p:cTn>
                        </p:par>
                      </p:childTnLst>
                    </p:cTn>
                  </p:par>
                  <p:par>
                    <p:cTn id="84" fill="hold">
                      <p:stCondLst>
                        <p:cond delay="indefinite"/>
                      </p:stCondLst>
                      <p:childTnLst>
                        <p:par>
                          <p:cTn id="85" fill="hold">
                            <p:stCondLst>
                              <p:cond delay="0"/>
                            </p:stCondLst>
                            <p:childTnLst>
                              <p:par>
                                <p:cTn id="86" presetID="18" presetClass="entr" presetSubtype="3" fill="hold" grpId="0" nodeType="clickEffect">
                                  <p:stCondLst>
                                    <p:cond delay="0"/>
                                  </p:stCondLst>
                                  <p:childTnLst>
                                    <p:set>
                                      <p:cBhvr>
                                        <p:cTn id="87" dur="1" fill="hold">
                                          <p:stCondLst>
                                            <p:cond delay="0"/>
                                          </p:stCondLst>
                                        </p:cTn>
                                        <p:tgtEl>
                                          <p:spTgt spid="24666"/>
                                        </p:tgtEl>
                                        <p:attrNameLst>
                                          <p:attrName>style.visibility</p:attrName>
                                        </p:attrNameLst>
                                      </p:cBhvr>
                                      <p:to>
                                        <p:strVal val="visible"/>
                                      </p:to>
                                    </p:set>
                                    <p:animEffect transition="in" filter="strips(upRight)">
                                      <p:cBhvr>
                                        <p:cTn id="88" dur="500"/>
                                        <p:tgtEl>
                                          <p:spTgt spid="24666"/>
                                        </p:tgtEl>
                                      </p:cBhvr>
                                    </p:animEffect>
                                  </p:childTnLst>
                                  <p:subTnLst>
                                    <p:set>
                                      <p:cBhvr override="childStyle">
                                        <p:cTn dur="1" fill="hold" display="0" masterRel="nextClick" afterEffect="1"/>
                                        <p:tgtEl>
                                          <p:spTgt spid="24666"/>
                                        </p:tgtEl>
                                        <p:attrNameLst>
                                          <p:attrName>style.visibility</p:attrName>
                                        </p:attrNameLst>
                                      </p:cBhvr>
                                      <p:to>
                                        <p:strVal val="hidden"/>
                                      </p:to>
                                    </p:set>
                                  </p:sub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24668"/>
                                        </p:tgtEl>
                                        <p:attrNameLst>
                                          <p:attrName>style.visibility</p:attrName>
                                        </p:attrNameLst>
                                      </p:cBhvr>
                                      <p:to>
                                        <p:strVal val="visible"/>
                                      </p:to>
                                    </p:set>
                                    <p:animEffect transition="in" filter="blinds(horizontal)">
                                      <p:cBhvr>
                                        <p:cTn id="93" dur="500"/>
                                        <p:tgtEl>
                                          <p:spTgt spid="24668"/>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4669"/>
                                        </p:tgtEl>
                                        <p:attrNameLst>
                                          <p:attrName>style.visibility</p:attrName>
                                        </p:attrNameLst>
                                      </p:cBhvr>
                                      <p:to>
                                        <p:strVal val="visible"/>
                                      </p:to>
                                    </p:set>
                                    <p:animEffect transition="in" filter="wipe(left)">
                                      <p:cBhvr>
                                        <p:cTn id="98" dur="500"/>
                                        <p:tgtEl>
                                          <p:spTgt spid="24669"/>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24667"/>
                                        </p:tgtEl>
                                        <p:attrNameLst>
                                          <p:attrName>style.visibility</p:attrName>
                                        </p:attrNameLst>
                                      </p:cBhvr>
                                      <p:to>
                                        <p:strVal val="visible"/>
                                      </p:to>
                                    </p:set>
                                    <p:animEffect transition="in" filter="wipe(left)">
                                      <p:cBhvr>
                                        <p:cTn id="103" dur="500"/>
                                        <p:tgtEl>
                                          <p:spTgt spid="24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623" grpId="0" autoUpdateAnimBg="0"/>
      <p:bldP spid="24639" grpId="0" animBg="1"/>
      <p:bldP spid="24640" grpId="0" animBg="1" autoUpdateAnimBg="0"/>
      <p:bldP spid="24641" grpId="0" animBg="1"/>
      <p:bldP spid="24642" grpId="0" animBg="1"/>
      <p:bldP spid="24643" grpId="0" autoUpdateAnimBg="0"/>
      <p:bldP spid="24644" grpId="0" animBg="1"/>
      <p:bldP spid="24645" grpId="0" animBg="1" autoUpdateAnimBg="0"/>
      <p:bldP spid="24646" grpId="0" autoUpdateAnimBg="0"/>
      <p:bldP spid="24647" grpId="0" animBg="1"/>
      <p:bldP spid="24652" grpId="0" animBg="1" autoUpdateAnimBg="0"/>
      <p:bldP spid="24653" grpId="0" animBg="1" autoUpdateAnimBg="0"/>
      <p:bldP spid="24654" grpId="0" animBg="1"/>
      <p:bldP spid="24659" grpId="0" animBg="1" autoUpdateAnimBg="0"/>
      <p:bldP spid="24660" grpId="0" animBg="1" autoUpdateAnimBg="0"/>
      <p:bldP spid="24666" grpId="0" animBg="1" autoUpdateAnimBg="0"/>
      <p:bldP spid="24667" grpId="0" autoUpdateAnimBg="0"/>
      <p:bldP spid="24668" grpId="0"/>
      <p:bldP spid="24669"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7" name="Text Box 9"/>
          <p:cNvSpPr txBox="1">
            <a:spLocks noChangeArrowheads="1"/>
          </p:cNvSpPr>
          <p:nvPr/>
        </p:nvSpPr>
        <p:spPr bwMode="auto">
          <a:xfrm>
            <a:off x="336550" y="340370"/>
            <a:ext cx="297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800" b="1" dirty="0">
                <a:solidFill>
                  <a:srgbClr val="0000FF"/>
                </a:solidFill>
                <a:latin typeface="Times New Roman" panose="02020603050405020304" pitchFamily="18" charset="0"/>
                <a:sym typeface="Wingdings" panose="05000000000000000000" pitchFamily="2" charset="2"/>
              </a:rPr>
              <a:t></a:t>
            </a:r>
            <a:r>
              <a:rPr kumimoji="1" lang="en-US" altLang="zh-CN" sz="2400" b="1" dirty="0">
                <a:solidFill>
                  <a:srgbClr val="0000FF"/>
                </a:solidFill>
                <a:latin typeface="Times New Roman" panose="02020603050405020304" pitchFamily="18" charset="0"/>
                <a:sym typeface="Wingdings" panose="05000000000000000000" pitchFamily="2" charset="2"/>
              </a:rPr>
              <a:t>  </a:t>
            </a:r>
            <a:r>
              <a:rPr kumimoji="1" lang="en-US" altLang="zh-CN" sz="2400" b="1" dirty="0" err="1">
                <a:solidFill>
                  <a:srgbClr val="0000FF"/>
                </a:solidFill>
                <a:latin typeface="Times New Roman" panose="02020603050405020304" pitchFamily="18" charset="0"/>
                <a:sym typeface="Wingdings" panose="05000000000000000000" pitchFamily="2" charset="2"/>
              </a:rPr>
              <a:t>BuildHeap</a:t>
            </a:r>
            <a:r>
              <a:rPr kumimoji="1" lang="en-US" altLang="zh-CN" sz="2400" b="1" dirty="0">
                <a:solidFill>
                  <a:srgbClr val="0000FF"/>
                </a:solidFill>
                <a:latin typeface="Times New Roman" panose="02020603050405020304" pitchFamily="18" charset="0"/>
                <a:sym typeface="Wingdings" panose="05000000000000000000" pitchFamily="2" charset="2"/>
              </a:rPr>
              <a:t> (</a:t>
            </a:r>
            <a:r>
              <a:rPr kumimoji="1" lang="en-US" altLang="zh-CN" sz="2400" b="1" dirty="0">
                <a:latin typeface="Times New Roman" panose="02020603050405020304" pitchFamily="18" charset="0"/>
                <a:sym typeface="Wingdings" panose="05000000000000000000" pitchFamily="2" charset="2"/>
              </a:rPr>
              <a:t> </a:t>
            </a:r>
            <a:r>
              <a:rPr kumimoji="1" lang="en-US" altLang="zh-CN" sz="2400" b="1" dirty="0">
                <a:latin typeface="Times New Roman" panose="02020603050405020304" pitchFamily="18" charset="0"/>
                <a:sym typeface="Symbol" panose="05050102010706020507" pitchFamily="18" charset="2"/>
              </a:rPr>
              <a:t>H</a:t>
            </a:r>
            <a:r>
              <a:rPr kumimoji="1" lang="en-US" altLang="zh-CN" sz="2400" b="1" dirty="0">
                <a:solidFill>
                  <a:srgbClr val="0000FF"/>
                </a:solidFill>
                <a:latin typeface="Times New Roman" panose="02020603050405020304" pitchFamily="18" charset="0"/>
                <a:sym typeface="Symbol" panose="05050102010706020507" pitchFamily="18" charset="2"/>
              </a:rPr>
              <a:t> </a:t>
            </a:r>
            <a:r>
              <a:rPr kumimoji="1" lang="en-US" altLang="zh-CN" sz="2400" b="1" dirty="0">
                <a:solidFill>
                  <a:srgbClr val="0000FF"/>
                </a:solidFill>
                <a:latin typeface="Times New Roman" panose="02020603050405020304" pitchFamily="18" charset="0"/>
                <a:sym typeface="Wingdings" panose="05000000000000000000" pitchFamily="2" charset="2"/>
              </a:rPr>
              <a:t>)</a:t>
            </a:r>
            <a:endParaRPr kumimoji="1" lang="en-US" altLang="zh-CN" sz="2400" b="1" dirty="0">
              <a:solidFill>
                <a:srgbClr val="0000FF"/>
              </a:solidFill>
              <a:latin typeface="Times New Roman" panose="02020603050405020304" pitchFamily="18" charset="0"/>
            </a:endParaRPr>
          </a:p>
        </p:txBody>
      </p:sp>
      <p:grpSp>
        <p:nvGrpSpPr>
          <p:cNvPr id="27664" name="Group 16"/>
          <p:cNvGrpSpPr/>
          <p:nvPr/>
        </p:nvGrpSpPr>
        <p:grpSpPr bwMode="auto">
          <a:xfrm>
            <a:off x="1513385" y="2286843"/>
            <a:ext cx="4114800" cy="2057400"/>
            <a:chOff x="1344" y="1248"/>
            <a:chExt cx="2592" cy="1296"/>
          </a:xfrm>
        </p:grpSpPr>
        <p:grpSp>
          <p:nvGrpSpPr>
            <p:cNvPr id="18501" name="Group 17"/>
            <p:cNvGrpSpPr/>
            <p:nvPr/>
          </p:nvGrpSpPr>
          <p:grpSpPr bwMode="auto">
            <a:xfrm>
              <a:off x="1344" y="1968"/>
              <a:ext cx="576" cy="576"/>
              <a:chOff x="2640" y="2160"/>
              <a:chExt cx="576" cy="576"/>
            </a:xfrm>
          </p:grpSpPr>
          <p:sp>
            <p:nvSpPr>
              <p:cNvPr id="18532" name="Oval 18"/>
              <p:cNvSpPr>
                <a:spLocks noChangeArrowheads="1"/>
              </p:cNvSpPr>
              <p:nvPr/>
            </p:nvSpPr>
            <p:spPr bwMode="auto">
              <a:xfrm>
                <a:off x="2832" y="2160"/>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30</a:t>
                </a:r>
              </a:p>
            </p:txBody>
          </p:sp>
          <p:sp>
            <p:nvSpPr>
              <p:cNvPr id="18533" name="Oval 19"/>
              <p:cNvSpPr>
                <a:spLocks noChangeArrowheads="1"/>
              </p:cNvSpPr>
              <p:nvPr/>
            </p:nvSpPr>
            <p:spPr bwMode="auto">
              <a:xfrm>
                <a:off x="2640"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100</a:t>
                </a:r>
              </a:p>
            </p:txBody>
          </p:sp>
          <p:sp>
            <p:nvSpPr>
              <p:cNvPr id="18534" name="Line 20"/>
              <p:cNvSpPr>
                <a:spLocks noChangeShapeType="1"/>
              </p:cNvSpPr>
              <p:nvPr/>
            </p:nvSpPr>
            <p:spPr bwMode="auto">
              <a:xfrm flipH="1">
                <a:off x="2784"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35" name="Oval 21"/>
              <p:cNvSpPr>
                <a:spLocks noChangeArrowheads="1"/>
              </p:cNvSpPr>
              <p:nvPr/>
            </p:nvSpPr>
            <p:spPr bwMode="auto">
              <a:xfrm flipH="1">
                <a:off x="3024"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20</a:t>
                </a:r>
              </a:p>
            </p:txBody>
          </p:sp>
          <p:sp>
            <p:nvSpPr>
              <p:cNvPr id="18536" name="Line 22"/>
              <p:cNvSpPr>
                <a:spLocks noChangeShapeType="1"/>
              </p:cNvSpPr>
              <p:nvPr/>
            </p:nvSpPr>
            <p:spPr bwMode="auto">
              <a:xfrm>
                <a:off x="2976"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502" name="Group 23"/>
            <p:cNvGrpSpPr/>
            <p:nvPr/>
          </p:nvGrpSpPr>
          <p:grpSpPr bwMode="auto">
            <a:xfrm>
              <a:off x="2016" y="1968"/>
              <a:ext cx="576" cy="576"/>
              <a:chOff x="2640" y="2160"/>
              <a:chExt cx="576" cy="576"/>
            </a:xfrm>
          </p:grpSpPr>
          <p:sp>
            <p:nvSpPr>
              <p:cNvPr id="18527" name="Oval 24"/>
              <p:cNvSpPr>
                <a:spLocks noChangeArrowheads="1"/>
              </p:cNvSpPr>
              <p:nvPr/>
            </p:nvSpPr>
            <p:spPr bwMode="auto">
              <a:xfrm>
                <a:off x="2832" y="2160"/>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10</a:t>
                </a:r>
              </a:p>
            </p:txBody>
          </p:sp>
          <p:sp>
            <p:nvSpPr>
              <p:cNvPr id="18528" name="Oval 25"/>
              <p:cNvSpPr>
                <a:spLocks noChangeArrowheads="1"/>
              </p:cNvSpPr>
              <p:nvPr/>
            </p:nvSpPr>
            <p:spPr bwMode="auto">
              <a:xfrm>
                <a:off x="2640"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90</a:t>
                </a:r>
              </a:p>
            </p:txBody>
          </p:sp>
          <p:sp>
            <p:nvSpPr>
              <p:cNvPr id="18529" name="Line 26"/>
              <p:cNvSpPr>
                <a:spLocks noChangeShapeType="1"/>
              </p:cNvSpPr>
              <p:nvPr/>
            </p:nvSpPr>
            <p:spPr bwMode="auto">
              <a:xfrm flipH="1">
                <a:off x="2784"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30" name="Oval 27"/>
              <p:cNvSpPr>
                <a:spLocks noChangeArrowheads="1"/>
              </p:cNvSpPr>
              <p:nvPr/>
            </p:nvSpPr>
            <p:spPr bwMode="auto">
              <a:xfrm flipH="1">
                <a:off x="3024"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60</a:t>
                </a:r>
              </a:p>
            </p:txBody>
          </p:sp>
          <p:sp>
            <p:nvSpPr>
              <p:cNvPr id="18531" name="Line 28"/>
              <p:cNvSpPr>
                <a:spLocks noChangeShapeType="1"/>
              </p:cNvSpPr>
              <p:nvPr/>
            </p:nvSpPr>
            <p:spPr bwMode="auto">
              <a:xfrm>
                <a:off x="2976"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503" name="Group 29"/>
            <p:cNvGrpSpPr/>
            <p:nvPr/>
          </p:nvGrpSpPr>
          <p:grpSpPr bwMode="auto">
            <a:xfrm>
              <a:off x="2688" y="1968"/>
              <a:ext cx="576" cy="576"/>
              <a:chOff x="2640" y="2160"/>
              <a:chExt cx="576" cy="576"/>
            </a:xfrm>
          </p:grpSpPr>
          <p:sp>
            <p:nvSpPr>
              <p:cNvPr id="18522" name="Oval 30"/>
              <p:cNvSpPr>
                <a:spLocks noChangeArrowheads="1"/>
              </p:cNvSpPr>
              <p:nvPr/>
            </p:nvSpPr>
            <p:spPr bwMode="auto">
              <a:xfrm>
                <a:off x="2832" y="2160"/>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70</a:t>
                </a:r>
              </a:p>
            </p:txBody>
          </p:sp>
          <p:sp>
            <p:nvSpPr>
              <p:cNvPr id="18523" name="Oval 31"/>
              <p:cNvSpPr>
                <a:spLocks noChangeArrowheads="1"/>
              </p:cNvSpPr>
              <p:nvPr/>
            </p:nvSpPr>
            <p:spPr bwMode="auto">
              <a:xfrm>
                <a:off x="2640"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50</a:t>
                </a:r>
              </a:p>
            </p:txBody>
          </p:sp>
          <p:sp>
            <p:nvSpPr>
              <p:cNvPr id="18524" name="Line 32"/>
              <p:cNvSpPr>
                <a:spLocks noChangeShapeType="1"/>
              </p:cNvSpPr>
              <p:nvPr/>
            </p:nvSpPr>
            <p:spPr bwMode="auto">
              <a:xfrm flipH="1">
                <a:off x="2784"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25" name="Oval 33"/>
              <p:cNvSpPr>
                <a:spLocks noChangeArrowheads="1"/>
              </p:cNvSpPr>
              <p:nvPr/>
            </p:nvSpPr>
            <p:spPr bwMode="auto">
              <a:xfrm flipH="1">
                <a:off x="3024"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120</a:t>
                </a:r>
              </a:p>
            </p:txBody>
          </p:sp>
          <p:sp>
            <p:nvSpPr>
              <p:cNvPr id="18526" name="Line 34"/>
              <p:cNvSpPr>
                <a:spLocks noChangeShapeType="1"/>
              </p:cNvSpPr>
              <p:nvPr/>
            </p:nvSpPr>
            <p:spPr bwMode="auto">
              <a:xfrm>
                <a:off x="2976"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504" name="Group 35"/>
            <p:cNvGrpSpPr/>
            <p:nvPr/>
          </p:nvGrpSpPr>
          <p:grpSpPr bwMode="auto">
            <a:xfrm>
              <a:off x="3360" y="1968"/>
              <a:ext cx="576" cy="576"/>
              <a:chOff x="2640" y="2160"/>
              <a:chExt cx="576" cy="576"/>
            </a:xfrm>
          </p:grpSpPr>
          <p:sp>
            <p:nvSpPr>
              <p:cNvPr id="18517" name="Oval 36"/>
              <p:cNvSpPr>
                <a:spLocks noChangeArrowheads="1"/>
              </p:cNvSpPr>
              <p:nvPr/>
            </p:nvSpPr>
            <p:spPr bwMode="auto">
              <a:xfrm>
                <a:off x="2832" y="2160"/>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110</a:t>
                </a:r>
              </a:p>
            </p:txBody>
          </p:sp>
          <p:sp>
            <p:nvSpPr>
              <p:cNvPr id="18518" name="Oval 37"/>
              <p:cNvSpPr>
                <a:spLocks noChangeArrowheads="1"/>
              </p:cNvSpPr>
              <p:nvPr/>
            </p:nvSpPr>
            <p:spPr bwMode="auto">
              <a:xfrm>
                <a:off x="2640"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140</a:t>
                </a:r>
              </a:p>
            </p:txBody>
          </p:sp>
          <p:sp>
            <p:nvSpPr>
              <p:cNvPr id="18519" name="Line 38"/>
              <p:cNvSpPr>
                <a:spLocks noChangeShapeType="1"/>
              </p:cNvSpPr>
              <p:nvPr/>
            </p:nvSpPr>
            <p:spPr bwMode="auto">
              <a:xfrm flipH="1">
                <a:off x="2784"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20" name="Oval 39"/>
              <p:cNvSpPr>
                <a:spLocks noChangeArrowheads="1"/>
              </p:cNvSpPr>
              <p:nvPr/>
            </p:nvSpPr>
            <p:spPr bwMode="auto">
              <a:xfrm flipH="1">
                <a:off x="3024" y="2544"/>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130</a:t>
                </a:r>
              </a:p>
            </p:txBody>
          </p:sp>
          <p:sp>
            <p:nvSpPr>
              <p:cNvPr id="18521" name="Line 40"/>
              <p:cNvSpPr>
                <a:spLocks noChangeShapeType="1"/>
              </p:cNvSpPr>
              <p:nvPr/>
            </p:nvSpPr>
            <p:spPr bwMode="auto">
              <a:xfrm>
                <a:off x="2976" y="2328"/>
                <a:ext cx="96" cy="215"/>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505" name="Group 41"/>
            <p:cNvGrpSpPr/>
            <p:nvPr/>
          </p:nvGrpSpPr>
          <p:grpSpPr bwMode="auto">
            <a:xfrm>
              <a:off x="1680" y="1632"/>
              <a:ext cx="576" cy="346"/>
              <a:chOff x="1680" y="1632"/>
              <a:chExt cx="576" cy="346"/>
            </a:xfrm>
          </p:grpSpPr>
          <p:sp>
            <p:nvSpPr>
              <p:cNvPr id="18514" name="Oval 42"/>
              <p:cNvSpPr>
                <a:spLocks noChangeArrowheads="1"/>
              </p:cNvSpPr>
              <p:nvPr/>
            </p:nvSpPr>
            <p:spPr bwMode="auto">
              <a:xfrm>
                <a:off x="1872" y="1632"/>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80</a:t>
                </a:r>
              </a:p>
            </p:txBody>
          </p:sp>
          <p:sp>
            <p:nvSpPr>
              <p:cNvPr id="18515" name="Line 43"/>
              <p:cNvSpPr>
                <a:spLocks noChangeShapeType="1"/>
              </p:cNvSpPr>
              <p:nvPr/>
            </p:nvSpPr>
            <p:spPr bwMode="auto">
              <a:xfrm flipH="1">
                <a:off x="1680" y="1786"/>
                <a:ext cx="20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16" name="Line 44"/>
              <p:cNvSpPr>
                <a:spLocks noChangeShapeType="1"/>
              </p:cNvSpPr>
              <p:nvPr/>
            </p:nvSpPr>
            <p:spPr bwMode="auto">
              <a:xfrm>
                <a:off x="2052" y="1786"/>
                <a:ext cx="20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506" name="Group 45"/>
            <p:cNvGrpSpPr/>
            <p:nvPr/>
          </p:nvGrpSpPr>
          <p:grpSpPr bwMode="auto">
            <a:xfrm>
              <a:off x="3024" y="1632"/>
              <a:ext cx="576" cy="346"/>
              <a:chOff x="1680" y="1632"/>
              <a:chExt cx="576" cy="346"/>
            </a:xfrm>
          </p:grpSpPr>
          <p:sp>
            <p:nvSpPr>
              <p:cNvPr id="18511" name="Oval 46"/>
              <p:cNvSpPr>
                <a:spLocks noChangeArrowheads="1"/>
              </p:cNvSpPr>
              <p:nvPr/>
            </p:nvSpPr>
            <p:spPr bwMode="auto">
              <a:xfrm>
                <a:off x="1872" y="1632"/>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40</a:t>
                </a:r>
              </a:p>
            </p:txBody>
          </p:sp>
          <p:sp>
            <p:nvSpPr>
              <p:cNvPr id="18512" name="Line 47"/>
              <p:cNvSpPr>
                <a:spLocks noChangeShapeType="1"/>
              </p:cNvSpPr>
              <p:nvPr/>
            </p:nvSpPr>
            <p:spPr bwMode="auto">
              <a:xfrm flipH="1">
                <a:off x="1680" y="1786"/>
                <a:ext cx="20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13" name="Line 48"/>
              <p:cNvSpPr>
                <a:spLocks noChangeShapeType="1"/>
              </p:cNvSpPr>
              <p:nvPr/>
            </p:nvSpPr>
            <p:spPr bwMode="auto">
              <a:xfrm>
                <a:off x="2052" y="1786"/>
                <a:ext cx="204" cy="19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507" name="Group 49"/>
            <p:cNvGrpSpPr/>
            <p:nvPr/>
          </p:nvGrpSpPr>
          <p:grpSpPr bwMode="auto">
            <a:xfrm>
              <a:off x="2006" y="1248"/>
              <a:ext cx="730" cy="404"/>
              <a:chOff x="2006" y="1248"/>
              <a:chExt cx="730" cy="404"/>
            </a:xfrm>
          </p:grpSpPr>
          <p:sp>
            <p:nvSpPr>
              <p:cNvPr id="18509" name="Oval 50"/>
              <p:cNvSpPr>
                <a:spLocks noChangeArrowheads="1"/>
              </p:cNvSpPr>
              <p:nvPr/>
            </p:nvSpPr>
            <p:spPr bwMode="auto">
              <a:xfrm>
                <a:off x="2544" y="1248"/>
                <a:ext cx="192" cy="192"/>
              </a:xfrm>
              <a:prstGeom prst="ellipse">
                <a:avLst/>
              </a:prstGeom>
              <a:noFill/>
              <a:ln w="254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150</a:t>
                </a:r>
              </a:p>
            </p:txBody>
          </p:sp>
          <p:sp>
            <p:nvSpPr>
              <p:cNvPr id="18510" name="Line 51"/>
              <p:cNvSpPr>
                <a:spLocks noChangeShapeType="1"/>
              </p:cNvSpPr>
              <p:nvPr/>
            </p:nvSpPr>
            <p:spPr bwMode="auto">
              <a:xfrm flipH="1">
                <a:off x="2006" y="1378"/>
                <a:ext cx="540" cy="274"/>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8508" name="Line 52"/>
            <p:cNvSpPr>
              <a:spLocks noChangeShapeType="1"/>
            </p:cNvSpPr>
            <p:nvPr/>
          </p:nvSpPr>
          <p:spPr bwMode="auto">
            <a:xfrm>
              <a:off x="2734" y="1378"/>
              <a:ext cx="528" cy="272"/>
            </a:xfrm>
            <a:prstGeom prst="line">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702" name="Text Box 54"/>
          <p:cNvSpPr txBox="1">
            <a:spLocks noChangeArrowheads="1"/>
          </p:cNvSpPr>
          <p:nvPr/>
        </p:nvSpPr>
        <p:spPr bwMode="auto">
          <a:xfrm>
            <a:off x="5780585" y="2210643"/>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(7)</a:t>
            </a:r>
          </a:p>
        </p:txBody>
      </p:sp>
      <p:sp>
        <p:nvSpPr>
          <p:cNvPr id="27703" name="Line 55"/>
          <p:cNvSpPr>
            <a:spLocks noChangeShapeType="1"/>
          </p:cNvSpPr>
          <p:nvPr/>
        </p:nvSpPr>
        <p:spPr bwMode="auto">
          <a:xfrm flipH="1">
            <a:off x="5247185" y="2515443"/>
            <a:ext cx="609600" cy="990600"/>
          </a:xfrm>
          <a:prstGeom prst="line">
            <a:avLst/>
          </a:prstGeom>
          <a:noFill/>
          <a:ln w="254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4" name="Line 56"/>
          <p:cNvSpPr>
            <a:spLocks noChangeShapeType="1"/>
          </p:cNvSpPr>
          <p:nvPr/>
        </p:nvSpPr>
        <p:spPr bwMode="auto">
          <a:xfrm>
            <a:off x="5247185" y="3734643"/>
            <a:ext cx="152400" cy="304800"/>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05" name="Text Box 57"/>
          <p:cNvSpPr txBox="1">
            <a:spLocks noChangeArrowheads="1"/>
          </p:cNvSpPr>
          <p:nvPr/>
        </p:nvSpPr>
        <p:spPr bwMode="auto">
          <a:xfrm>
            <a:off x="5780585" y="2515443"/>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(6)</a:t>
            </a:r>
          </a:p>
        </p:txBody>
      </p:sp>
      <p:grpSp>
        <p:nvGrpSpPr>
          <p:cNvPr id="27706" name="Group 58"/>
          <p:cNvGrpSpPr/>
          <p:nvPr/>
        </p:nvGrpSpPr>
        <p:grpSpPr bwMode="auto">
          <a:xfrm>
            <a:off x="3646985" y="3429843"/>
            <a:ext cx="609600" cy="914400"/>
            <a:chOff x="2496" y="3312"/>
            <a:chExt cx="384" cy="576"/>
          </a:xfrm>
        </p:grpSpPr>
        <p:sp>
          <p:nvSpPr>
            <p:cNvPr id="18498" name="Oval 59"/>
            <p:cNvSpPr>
              <a:spLocks noChangeArrowheads="1"/>
            </p:cNvSpPr>
            <p:nvPr/>
          </p:nvSpPr>
          <p:spPr bwMode="auto">
            <a:xfrm>
              <a:off x="2688" y="331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50</a:t>
              </a:r>
            </a:p>
          </p:txBody>
        </p:sp>
        <p:sp>
          <p:nvSpPr>
            <p:cNvPr id="18499" name="Oval 60"/>
            <p:cNvSpPr>
              <a:spLocks noChangeArrowheads="1"/>
            </p:cNvSpPr>
            <p:nvPr/>
          </p:nvSpPr>
          <p:spPr bwMode="auto">
            <a:xfrm>
              <a:off x="2496" y="369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70</a:t>
              </a:r>
            </a:p>
          </p:txBody>
        </p:sp>
        <p:sp>
          <p:nvSpPr>
            <p:cNvPr id="18500" name="Line 61"/>
            <p:cNvSpPr>
              <a:spLocks noChangeShapeType="1"/>
            </p:cNvSpPr>
            <p:nvPr/>
          </p:nvSpPr>
          <p:spPr bwMode="auto">
            <a:xfrm flipH="1">
              <a:off x="2640" y="3480"/>
              <a:ext cx="96" cy="215"/>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710" name="Text Box 62"/>
          <p:cNvSpPr txBox="1">
            <a:spLocks noChangeArrowheads="1"/>
          </p:cNvSpPr>
          <p:nvPr/>
        </p:nvSpPr>
        <p:spPr bwMode="auto">
          <a:xfrm>
            <a:off x="5780585" y="2820243"/>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(5)</a:t>
            </a:r>
          </a:p>
        </p:txBody>
      </p:sp>
      <p:sp>
        <p:nvSpPr>
          <p:cNvPr id="27711" name="Line 63"/>
          <p:cNvSpPr>
            <a:spLocks noChangeShapeType="1"/>
          </p:cNvSpPr>
          <p:nvPr/>
        </p:nvSpPr>
        <p:spPr bwMode="auto">
          <a:xfrm>
            <a:off x="3113585" y="3734643"/>
            <a:ext cx="152400" cy="304800"/>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712" name="Text Box 64"/>
          <p:cNvSpPr txBox="1">
            <a:spLocks noChangeArrowheads="1"/>
          </p:cNvSpPr>
          <p:nvPr/>
        </p:nvSpPr>
        <p:spPr bwMode="auto">
          <a:xfrm>
            <a:off x="5780585" y="310916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(4)</a:t>
            </a:r>
          </a:p>
        </p:txBody>
      </p:sp>
      <p:grpSp>
        <p:nvGrpSpPr>
          <p:cNvPr id="27713" name="Group 65"/>
          <p:cNvGrpSpPr/>
          <p:nvPr/>
        </p:nvGrpSpPr>
        <p:grpSpPr bwMode="auto">
          <a:xfrm>
            <a:off x="1818185" y="3429843"/>
            <a:ext cx="609600" cy="914400"/>
            <a:chOff x="1344" y="3312"/>
            <a:chExt cx="384" cy="576"/>
          </a:xfrm>
        </p:grpSpPr>
        <p:sp>
          <p:nvSpPr>
            <p:cNvPr id="18495" name="Oval 66"/>
            <p:cNvSpPr>
              <a:spLocks noChangeArrowheads="1"/>
            </p:cNvSpPr>
            <p:nvPr/>
          </p:nvSpPr>
          <p:spPr bwMode="auto">
            <a:xfrm>
              <a:off x="1344" y="331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20</a:t>
              </a:r>
            </a:p>
          </p:txBody>
        </p:sp>
        <p:sp>
          <p:nvSpPr>
            <p:cNvPr id="18496" name="Oval 67"/>
            <p:cNvSpPr>
              <a:spLocks noChangeArrowheads="1"/>
            </p:cNvSpPr>
            <p:nvPr/>
          </p:nvSpPr>
          <p:spPr bwMode="auto">
            <a:xfrm flipH="1">
              <a:off x="1536" y="369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30</a:t>
              </a:r>
            </a:p>
          </p:txBody>
        </p:sp>
        <p:sp>
          <p:nvSpPr>
            <p:cNvPr id="18497" name="Line 68"/>
            <p:cNvSpPr>
              <a:spLocks noChangeShapeType="1"/>
            </p:cNvSpPr>
            <p:nvPr/>
          </p:nvSpPr>
          <p:spPr bwMode="auto">
            <a:xfrm>
              <a:off x="1488" y="3480"/>
              <a:ext cx="96" cy="215"/>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7717" name="Text Box 69"/>
          <p:cNvSpPr txBox="1">
            <a:spLocks noChangeArrowheads="1"/>
          </p:cNvSpPr>
          <p:nvPr/>
        </p:nvSpPr>
        <p:spPr bwMode="auto">
          <a:xfrm>
            <a:off x="5780585" y="3429843"/>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(3)</a:t>
            </a:r>
          </a:p>
        </p:txBody>
      </p:sp>
      <p:sp>
        <p:nvSpPr>
          <p:cNvPr id="27718" name="Line 70"/>
          <p:cNvSpPr>
            <a:spLocks noChangeShapeType="1"/>
          </p:cNvSpPr>
          <p:nvPr/>
        </p:nvSpPr>
        <p:spPr bwMode="auto">
          <a:xfrm flipH="1">
            <a:off x="4180385" y="3140918"/>
            <a:ext cx="323850" cy="304800"/>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719" name="Text Box 71"/>
          <p:cNvSpPr txBox="1">
            <a:spLocks noChangeArrowheads="1"/>
          </p:cNvSpPr>
          <p:nvPr/>
        </p:nvSpPr>
        <p:spPr bwMode="auto">
          <a:xfrm>
            <a:off x="5780585" y="371876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(2)</a:t>
            </a:r>
          </a:p>
        </p:txBody>
      </p:sp>
      <p:grpSp>
        <p:nvGrpSpPr>
          <p:cNvPr id="27720" name="Group 72"/>
          <p:cNvGrpSpPr/>
          <p:nvPr/>
        </p:nvGrpSpPr>
        <p:grpSpPr bwMode="auto">
          <a:xfrm>
            <a:off x="2351585" y="2896443"/>
            <a:ext cx="838200" cy="838200"/>
            <a:chOff x="1680" y="2976"/>
            <a:chExt cx="528" cy="528"/>
          </a:xfrm>
        </p:grpSpPr>
        <p:sp>
          <p:nvSpPr>
            <p:cNvPr id="18492" name="Oval 73"/>
            <p:cNvSpPr>
              <a:spLocks noChangeArrowheads="1"/>
            </p:cNvSpPr>
            <p:nvPr/>
          </p:nvSpPr>
          <p:spPr bwMode="auto">
            <a:xfrm>
              <a:off x="2016" y="331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80</a:t>
              </a:r>
            </a:p>
          </p:txBody>
        </p:sp>
        <p:sp>
          <p:nvSpPr>
            <p:cNvPr id="18493" name="Oval 74"/>
            <p:cNvSpPr>
              <a:spLocks noChangeArrowheads="1"/>
            </p:cNvSpPr>
            <p:nvPr/>
          </p:nvSpPr>
          <p:spPr bwMode="auto">
            <a:xfrm>
              <a:off x="1680" y="297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10</a:t>
              </a:r>
            </a:p>
          </p:txBody>
        </p:sp>
        <p:sp>
          <p:nvSpPr>
            <p:cNvPr id="18494" name="Line 75"/>
            <p:cNvSpPr>
              <a:spLocks noChangeShapeType="1"/>
            </p:cNvSpPr>
            <p:nvPr/>
          </p:nvSpPr>
          <p:spPr bwMode="auto">
            <a:xfrm>
              <a:off x="1860" y="3130"/>
              <a:ext cx="204" cy="192"/>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724" name="Group 76"/>
          <p:cNvGrpSpPr/>
          <p:nvPr/>
        </p:nvGrpSpPr>
        <p:grpSpPr bwMode="auto">
          <a:xfrm>
            <a:off x="2884985" y="3429843"/>
            <a:ext cx="609600" cy="914400"/>
            <a:chOff x="2016" y="3312"/>
            <a:chExt cx="384" cy="576"/>
          </a:xfrm>
        </p:grpSpPr>
        <p:sp>
          <p:nvSpPr>
            <p:cNvPr id="18489" name="Oval 77"/>
            <p:cNvSpPr>
              <a:spLocks noChangeArrowheads="1"/>
            </p:cNvSpPr>
            <p:nvPr/>
          </p:nvSpPr>
          <p:spPr bwMode="auto">
            <a:xfrm flipH="1">
              <a:off x="2208" y="369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80</a:t>
              </a:r>
            </a:p>
          </p:txBody>
        </p:sp>
        <p:sp>
          <p:nvSpPr>
            <p:cNvPr id="18490" name="Line 78"/>
            <p:cNvSpPr>
              <a:spLocks noChangeShapeType="1"/>
            </p:cNvSpPr>
            <p:nvPr/>
          </p:nvSpPr>
          <p:spPr bwMode="auto">
            <a:xfrm>
              <a:off x="2160" y="3480"/>
              <a:ext cx="96" cy="215"/>
            </a:xfrm>
            <a:prstGeom prst="line">
              <a:avLst/>
            </a:prstGeom>
            <a:noFill/>
            <a:ln w="635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91" name="Oval 79"/>
            <p:cNvSpPr>
              <a:spLocks noChangeArrowheads="1"/>
            </p:cNvSpPr>
            <p:nvPr/>
          </p:nvSpPr>
          <p:spPr bwMode="auto">
            <a:xfrm>
              <a:off x="2016" y="331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60</a:t>
              </a:r>
            </a:p>
          </p:txBody>
        </p:sp>
      </p:grpSp>
      <p:sp>
        <p:nvSpPr>
          <p:cNvPr id="27728" name="Text Box 80"/>
          <p:cNvSpPr txBox="1">
            <a:spLocks noChangeArrowheads="1"/>
          </p:cNvSpPr>
          <p:nvPr/>
        </p:nvSpPr>
        <p:spPr bwMode="auto">
          <a:xfrm>
            <a:off x="5780585" y="4023568"/>
            <a:ext cx="228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000" b="1">
                <a:solidFill>
                  <a:schemeClr val="hlink"/>
                </a:solidFill>
                <a:latin typeface="Times New Roman" panose="02020603050405020304" pitchFamily="18" charset="0"/>
              </a:rPr>
              <a:t>PercolateDown (1)</a:t>
            </a:r>
          </a:p>
        </p:txBody>
      </p:sp>
      <p:grpSp>
        <p:nvGrpSpPr>
          <p:cNvPr id="27729" name="Group 81"/>
          <p:cNvGrpSpPr/>
          <p:nvPr/>
        </p:nvGrpSpPr>
        <p:grpSpPr bwMode="auto">
          <a:xfrm>
            <a:off x="2351585" y="2286843"/>
            <a:ext cx="1371600" cy="914400"/>
            <a:chOff x="1680" y="2592"/>
            <a:chExt cx="864" cy="576"/>
          </a:xfrm>
        </p:grpSpPr>
        <p:sp>
          <p:nvSpPr>
            <p:cNvPr id="18486" name="Oval 82"/>
            <p:cNvSpPr>
              <a:spLocks noChangeArrowheads="1"/>
            </p:cNvSpPr>
            <p:nvPr/>
          </p:nvSpPr>
          <p:spPr bwMode="auto">
            <a:xfrm>
              <a:off x="1680" y="297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150</a:t>
              </a:r>
            </a:p>
          </p:txBody>
        </p:sp>
        <p:sp>
          <p:nvSpPr>
            <p:cNvPr id="18487" name="Oval 83"/>
            <p:cNvSpPr>
              <a:spLocks noChangeArrowheads="1"/>
            </p:cNvSpPr>
            <p:nvPr/>
          </p:nvSpPr>
          <p:spPr bwMode="auto">
            <a:xfrm>
              <a:off x="2352" y="259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10</a:t>
              </a:r>
            </a:p>
          </p:txBody>
        </p:sp>
        <p:sp>
          <p:nvSpPr>
            <p:cNvPr id="18488" name="Line 84"/>
            <p:cNvSpPr>
              <a:spLocks noChangeShapeType="1"/>
            </p:cNvSpPr>
            <p:nvPr/>
          </p:nvSpPr>
          <p:spPr bwMode="auto">
            <a:xfrm flipH="1">
              <a:off x="1814" y="2722"/>
              <a:ext cx="540" cy="274"/>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7733" name="Group 85"/>
          <p:cNvGrpSpPr/>
          <p:nvPr/>
        </p:nvGrpSpPr>
        <p:grpSpPr bwMode="auto">
          <a:xfrm>
            <a:off x="1818185" y="2896443"/>
            <a:ext cx="838200" cy="838200"/>
            <a:chOff x="1344" y="2976"/>
            <a:chExt cx="528" cy="528"/>
          </a:xfrm>
        </p:grpSpPr>
        <p:sp>
          <p:nvSpPr>
            <p:cNvPr id="18483" name="Oval 86"/>
            <p:cNvSpPr>
              <a:spLocks noChangeArrowheads="1"/>
            </p:cNvSpPr>
            <p:nvPr/>
          </p:nvSpPr>
          <p:spPr bwMode="auto">
            <a:xfrm>
              <a:off x="1344" y="331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150</a:t>
              </a:r>
            </a:p>
          </p:txBody>
        </p:sp>
        <p:sp>
          <p:nvSpPr>
            <p:cNvPr id="18484" name="Line 87"/>
            <p:cNvSpPr>
              <a:spLocks noChangeShapeType="1"/>
            </p:cNvSpPr>
            <p:nvPr/>
          </p:nvSpPr>
          <p:spPr bwMode="auto">
            <a:xfrm flipH="1">
              <a:off x="1488" y="3130"/>
              <a:ext cx="204" cy="192"/>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5" name="Oval 88"/>
            <p:cNvSpPr>
              <a:spLocks noChangeArrowheads="1"/>
            </p:cNvSpPr>
            <p:nvPr/>
          </p:nvSpPr>
          <p:spPr bwMode="auto">
            <a:xfrm>
              <a:off x="1680" y="297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20</a:t>
              </a:r>
            </a:p>
          </p:txBody>
        </p:sp>
      </p:grpSp>
      <p:grpSp>
        <p:nvGrpSpPr>
          <p:cNvPr id="27737" name="Group 89"/>
          <p:cNvGrpSpPr/>
          <p:nvPr/>
        </p:nvGrpSpPr>
        <p:grpSpPr bwMode="auto">
          <a:xfrm>
            <a:off x="1818185" y="3429843"/>
            <a:ext cx="609600" cy="914400"/>
            <a:chOff x="1344" y="3312"/>
            <a:chExt cx="384" cy="576"/>
          </a:xfrm>
        </p:grpSpPr>
        <p:sp>
          <p:nvSpPr>
            <p:cNvPr id="18480" name="Oval 90"/>
            <p:cNvSpPr>
              <a:spLocks noChangeArrowheads="1"/>
            </p:cNvSpPr>
            <p:nvPr/>
          </p:nvSpPr>
          <p:spPr bwMode="auto">
            <a:xfrm flipH="1">
              <a:off x="1536" y="3696"/>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150</a:t>
              </a:r>
            </a:p>
          </p:txBody>
        </p:sp>
        <p:sp>
          <p:nvSpPr>
            <p:cNvPr id="18481" name="Line 91"/>
            <p:cNvSpPr>
              <a:spLocks noChangeShapeType="1"/>
            </p:cNvSpPr>
            <p:nvPr/>
          </p:nvSpPr>
          <p:spPr bwMode="auto">
            <a:xfrm>
              <a:off x="1488" y="3480"/>
              <a:ext cx="96" cy="215"/>
            </a:xfrm>
            <a:prstGeom prst="line">
              <a:avLst/>
            </a:prstGeom>
            <a:noFill/>
            <a:ln w="635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82" name="Oval 92"/>
            <p:cNvSpPr>
              <a:spLocks noChangeArrowheads="1"/>
            </p:cNvSpPr>
            <p:nvPr/>
          </p:nvSpPr>
          <p:spPr bwMode="auto">
            <a:xfrm>
              <a:off x="1344" y="3312"/>
              <a:ext cx="192" cy="192"/>
            </a:xfrm>
            <a:prstGeom prst="ellipse">
              <a:avLst/>
            </a:prstGeom>
            <a:solidFill>
              <a:schemeClr val="bg1"/>
            </a:solidFill>
            <a:ln w="25400">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400" b="1">
                  <a:latin typeface="Times New Roman" panose="02020603050405020304" pitchFamily="18" charset="0"/>
                </a:rPr>
                <a:t>30</a:t>
              </a:r>
            </a:p>
          </p:txBody>
        </p:sp>
      </p:grpSp>
      <p:sp>
        <p:nvSpPr>
          <p:cNvPr id="27741" name="Text Box 93"/>
          <p:cNvSpPr txBox="1">
            <a:spLocks noChangeArrowheads="1"/>
          </p:cNvSpPr>
          <p:nvPr/>
        </p:nvSpPr>
        <p:spPr bwMode="auto">
          <a:xfrm>
            <a:off x="827584" y="4839543"/>
            <a:ext cx="28924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kumimoji="1" lang="en-US" altLang="zh-CN" sz="2400" b="1" i="1" dirty="0">
                <a:latin typeface="Times New Roman" panose="02020603050405020304" pitchFamily="18" charset="0"/>
              </a:rPr>
              <a:t>T</a:t>
            </a:r>
            <a:r>
              <a:rPr kumimoji="1" lang="en-US" altLang="zh-CN" sz="2400" b="1" dirty="0">
                <a:latin typeface="Times New Roman" panose="02020603050405020304" pitchFamily="18" charset="0"/>
              </a:rPr>
              <a:t> (</a:t>
            </a:r>
            <a:r>
              <a:rPr kumimoji="1" lang="en-US" altLang="zh-CN" sz="2400" b="1" i="1" dirty="0">
                <a:latin typeface="Times New Roman" panose="02020603050405020304" pitchFamily="18" charset="0"/>
              </a:rPr>
              <a:t>N</a:t>
            </a:r>
            <a:r>
              <a:rPr kumimoji="1" lang="en-US" altLang="zh-CN" sz="2400" b="1" dirty="0">
                <a:latin typeface="Times New Roman" panose="02020603050405020304" pitchFamily="18" charset="0"/>
              </a:rPr>
              <a:t>) = O(N)</a:t>
            </a:r>
            <a:endParaRPr kumimoji="1" lang="en-US" altLang="zh-CN" sz="2400" b="1" i="1" dirty="0">
              <a:latin typeface="Times New Roman" panose="02020603050405020304" pitchFamily="18" charset="0"/>
            </a:endParaRPr>
          </a:p>
        </p:txBody>
      </p:sp>
      <p:grpSp>
        <p:nvGrpSpPr>
          <p:cNvPr id="6" name="组合 5"/>
          <p:cNvGrpSpPr/>
          <p:nvPr/>
        </p:nvGrpSpPr>
        <p:grpSpPr bwMode="auto">
          <a:xfrm>
            <a:off x="1513385" y="1448643"/>
            <a:ext cx="6705600" cy="685800"/>
            <a:chOff x="1828800" y="3581400"/>
            <a:chExt cx="6705600" cy="685800"/>
          </a:xfrm>
        </p:grpSpPr>
        <p:sp>
          <p:nvSpPr>
            <p:cNvPr id="18463" name="Rectangle 53"/>
            <p:cNvSpPr>
              <a:spLocks noChangeArrowheads="1"/>
            </p:cNvSpPr>
            <p:nvPr/>
          </p:nvSpPr>
          <p:spPr bwMode="auto">
            <a:xfrm>
              <a:off x="1981200" y="3962400"/>
              <a:ext cx="6324600" cy="304800"/>
            </a:xfrm>
            <a:prstGeom prst="rect">
              <a:avLst/>
            </a:prstGeom>
            <a:noFill/>
            <a:ln w="25400">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en-US" altLang="zh-CN" sz="1800" b="1">
                  <a:latin typeface="Times New Roman" panose="02020603050405020304" pitchFamily="18" charset="0"/>
                </a:rPr>
                <a:t>     150  80  40  30  10   70  110  100  20  90  60  50  120  140  130</a:t>
              </a:r>
            </a:p>
          </p:txBody>
        </p:sp>
        <p:sp>
          <p:nvSpPr>
            <p:cNvPr id="18464" name="Text Box 71"/>
            <p:cNvSpPr txBox="1">
              <a:spLocks noChangeArrowheads="1"/>
            </p:cNvSpPr>
            <p:nvPr/>
          </p:nvSpPr>
          <p:spPr bwMode="auto">
            <a:xfrm>
              <a:off x="1828800" y="3581400"/>
              <a:ext cx="67056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a:t>   0     1    2   3    4   5    6    7     8    9   10  11 12  13    14    15</a:t>
              </a:r>
            </a:p>
          </p:txBody>
        </p:sp>
        <p:cxnSp>
          <p:nvCxnSpPr>
            <p:cNvPr id="3" name="直接连接符 2"/>
            <p:cNvCxnSpPr/>
            <p:nvPr/>
          </p:nvCxnSpPr>
          <p:spPr>
            <a:xfrm>
              <a:off x="22860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28194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32004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35052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3863975"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4213225"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5720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50292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54864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5813425"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6172200"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6488113"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6846888"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7304088"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7761288" y="3962400"/>
              <a:ext cx="0" cy="304800"/>
            </a:xfrm>
            <a:prstGeom prst="line">
              <a:avLst/>
            </a:prstGeom>
            <a:ln w="25400" cmpd="sng">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7"/>
                                        </p:tgtEl>
                                        <p:attrNameLst>
                                          <p:attrName>style.visibility</p:attrName>
                                        </p:attrNameLst>
                                      </p:cBhvr>
                                      <p:to>
                                        <p:strVal val="visible"/>
                                      </p:to>
                                    </p:set>
                                    <p:animEffect transition="in" filter="wipe(left)">
                                      <p:cBhvr>
                                        <p:cTn id="7" dur="500"/>
                                        <p:tgtEl>
                                          <p:spTgt spid="2765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7664"/>
                                        </p:tgtEl>
                                        <p:attrNameLst>
                                          <p:attrName>style.visibility</p:attrName>
                                        </p:attrNameLst>
                                      </p:cBhvr>
                                      <p:to>
                                        <p:strVal val="visible"/>
                                      </p:to>
                                    </p:set>
                                    <p:animEffect transition="in" filter="wipe(up)">
                                      <p:cBhvr>
                                        <p:cTn id="16" dur="500"/>
                                        <p:tgtEl>
                                          <p:spTgt spid="27664"/>
                                        </p:tgtEl>
                                      </p:cBhvr>
                                    </p:animEffect>
                                  </p:childTnLst>
                                  <p:subTnLst>
                                    <p:audio>
                                      <p:cMediaNode>
                                        <p:cTn display="0" masterRel="sameClick">
                                          <p:stCondLst>
                                            <p:cond evt="begin" delay="0">
                                              <p:tn val="14"/>
                                            </p:cond>
                                          </p:stCondLst>
                                          <p:endCondLst>
                                            <p:cond evt="onStopAudio" delay="0">
                                              <p:tgtEl>
                                                <p:sldTgt/>
                                              </p:tgtEl>
                                            </p:cond>
                                          </p:endCondLst>
                                        </p:cTn>
                                        <p:tgtEl>
                                          <p:sndTgt r:embed="rId2" name="WHOOSH.WAV"/>
                                        </p:tgtEl>
                                      </p:cMediaNode>
                                    </p:audio>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7702"/>
                                        </p:tgtEl>
                                        <p:attrNameLst>
                                          <p:attrName>style.visibility</p:attrName>
                                        </p:attrNameLst>
                                      </p:cBhvr>
                                      <p:to>
                                        <p:strVal val="visible"/>
                                      </p:to>
                                    </p:set>
                                    <p:animEffect transition="in" filter="wipe(left)">
                                      <p:cBhvr>
                                        <p:cTn id="21" dur="500"/>
                                        <p:tgtEl>
                                          <p:spTgt spid="2770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7703"/>
                                        </p:tgtEl>
                                        <p:attrNameLst>
                                          <p:attrName>style.visibility</p:attrName>
                                        </p:attrNameLst>
                                      </p:cBhvr>
                                      <p:to>
                                        <p:strVal val="visible"/>
                                      </p:to>
                                    </p:set>
                                    <p:animEffect transition="in" filter="wipe(up)">
                                      <p:cBhvr>
                                        <p:cTn id="26" dur="500"/>
                                        <p:tgtEl>
                                          <p:spTgt spid="27703"/>
                                        </p:tgtEl>
                                      </p:cBhvr>
                                    </p:animEffect>
                                  </p:childTnLst>
                                  <p:subTnLst>
                                    <p:set>
                                      <p:cBhvr override="childStyle">
                                        <p:cTn dur="1" fill="hold" display="0" masterRel="nextClick" afterEffect="1"/>
                                        <p:tgtEl>
                                          <p:spTgt spid="27703"/>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27704"/>
                                        </p:tgtEl>
                                        <p:attrNameLst>
                                          <p:attrName>style.visibility</p:attrName>
                                        </p:attrNameLst>
                                      </p:cBhvr>
                                      <p:to>
                                        <p:strVal val="visible"/>
                                      </p:to>
                                    </p:set>
                                    <p:animEffect transition="in" filter="wipe(up)">
                                      <p:cBhvr>
                                        <p:cTn id="31" dur="500"/>
                                        <p:tgtEl>
                                          <p:spTgt spid="2770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705"/>
                                        </p:tgtEl>
                                        <p:attrNameLst>
                                          <p:attrName>style.visibility</p:attrName>
                                        </p:attrNameLst>
                                      </p:cBhvr>
                                      <p:to>
                                        <p:strVal val="visible"/>
                                      </p:to>
                                    </p:set>
                                    <p:animEffect transition="in" filter="wipe(left)">
                                      <p:cBhvr>
                                        <p:cTn id="36" dur="500"/>
                                        <p:tgtEl>
                                          <p:spTgt spid="27705"/>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42" fill="hold" nodeType="clickEffect">
                                  <p:stCondLst>
                                    <p:cond delay="0"/>
                                  </p:stCondLst>
                                  <p:childTnLst>
                                    <p:set>
                                      <p:cBhvr>
                                        <p:cTn id="40" dur="1" fill="hold">
                                          <p:stCondLst>
                                            <p:cond delay="0"/>
                                          </p:stCondLst>
                                        </p:cTn>
                                        <p:tgtEl>
                                          <p:spTgt spid="27706"/>
                                        </p:tgtEl>
                                        <p:attrNameLst>
                                          <p:attrName>style.visibility</p:attrName>
                                        </p:attrNameLst>
                                      </p:cBhvr>
                                      <p:to>
                                        <p:strVal val="visible"/>
                                      </p:to>
                                    </p:set>
                                    <p:animEffect transition="in" filter="barn(outHorizontal)">
                                      <p:cBhvr>
                                        <p:cTn id="41" dur="500"/>
                                        <p:tgtEl>
                                          <p:spTgt spid="2770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7710"/>
                                        </p:tgtEl>
                                        <p:attrNameLst>
                                          <p:attrName>style.visibility</p:attrName>
                                        </p:attrNameLst>
                                      </p:cBhvr>
                                      <p:to>
                                        <p:strVal val="visible"/>
                                      </p:to>
                                    </p:set>
                                    <p:animEffect transition="in" filter="wipe(left)">
                                      <p:cBhvr>
                                        <p:cTn id="46" dur="500"/>
                                        <p:tgtEl>
                                          <p:spTgt spid="2771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27711"/>
                                        </p:tgtEl>
                                        <p:attrNameLst>
                                          <p:attrName>style.visibility</p:attrName>
                                        </p:attrNameLst>
                                      </p:cBhvr>
                                      <p:to>
                                        <p:strVal val="visible"/>
                                      </p:to>
                                    </p:set>
                                    <p:animEffect transition="in" filter="wipe(up)">
                                      <p:cBhvr>
                                        <p:cTn id="51" dur="500"/>
                                        <p:tgtEl>
                                          <p:spTgt spid="277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7712"/>
                                        </p:tgtEl>
                                        <p:attrNameLst>
                                          <p:attrName>style.visibility</p:attrName>
                                        </p:attrNameLst>
                                      </p:cBhvr>
                                      <p:to>
                                        <p:strVal val="visible"/>
                                      </p:to>
                                    </p:set>
                                    <p:animEffect transition="in" filter="wipe(left)">
                                      <p:cBhvr>
                                        <p:cTn id="56" dur="500"/>
                                        <p:tgtEl>
                                          <p:spTgt spid="27712"/>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ntr" presetSubtype="42" fill="hold" nodeType="clickEffect">
                                  <p:stCondLst>
                                    <p:cond delay="0"/>
                                  </p:stCondLst>
                                  <p:childTnLst>
                                    <p:set>
                                      <p:cBhvr>
                                        <p:cTn id="60" dur="1" fill="hold">
                                          <p:stCondLst>
                                            <p:cond delay="0"/>
                                          </p:stCondLst>
                                        </p:cTn>
                                        <p:tgtEl>
                                          <p:spTgt spid="27713"/>
                                        </p:tgtEl>
                                        <p:attrNameLst>
                                          <p:attrName>style.visibility</p:attrName>
                                        </p:attrNameLst>
                                      </p:cBhvr>
                                      <p:to>
                                        <p:strVal val="visible"/>
                                      </p:to>
                                    </p:set>
                                    <p:animEffect transition="in" filter="barn(outHorizontal)">
                                      <p:cBhvr>
                                        <p:cTn id="61" dur="500"/>
                                        <p:tgtEl>
                                          <p:spTgt spid="277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7717"/>
                                        </p:tgtEl>
                                        <p:attrNameLst>
                                          <p:attrName>style.visibility</p:attrName>
                                        </p:attrNameLst>
                                      </p:cBhvr>
                                      <p:to>
                                        <p:strVal val="visible"/>
                                      </p:to>
                                    </p:set>
                                    <p:animEffect transition="in" filter="wipe(left)">
                                      <p:cBhvr>
                                        <p:cTn id="66" dur="500"/>
                                        <p:tgtEl>
                                          <p:spTgt spid="277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7718"/>
                                        </p:tgtEl>
                                        <p:attrNameLst>
                                          <p:attrName>style.visibility</p:attrName>
                                        </p:attrNameLst>
                                      </p:cBhvr>
                                      <p:to>
                                        <p:strVal val="visible"/>
                                      </p:to>
                                    </p:set>
                                    <p:animEffect transition="in" filter="wipe(up)">
                                      <p:cBhvr>
                                        <p:cTn id="71" dur="500"/>
                                        <p:tgtEl>
                                          <p:spTgt spid="27718"/>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7719"/>
                                        </p:tgtEl>
                                        <p:attrNameLst>
                                          <p:attrName>style.visibility</p:attrName>
                                        </p:attrNameLst>
                                      </p:cBhvr>
                                      <p:to>
                                        <p:strVal val="visible"/>
                                      </p:to>
                                    </p:set>
                                    <p:animEffect transition="in" filter="wipe(left)">
                                      <p:cBhvr>
                                        <p:cTn id="76" dur="500"/>
                                        <p:tgtEl>
                                          <p:spTgt spid="27719"/>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42" fill="hold" nodeType="clickEffect">
                                  <p:stCondLst>
                                    <p:cond delay="0"/>
                                  </p:stCondLst>
                                  <p:childTnLst>
                                    <p:set>
                                      <p:cBhvr>
                                        <p:cTn id="80" dur="1" fill="hold">
                                          <p:stCondLst>
                                            <p:cond delay="0"/>
                                          </p:stCondLst>
                                        </p:cTn>
                                        <p:tgtEl>
                                          <p:spTgt spid="27720"/>
                                        </p:tgtEl>
                                        <p:attrNameLst>
                                          <p:attrName>style.visibility</p:attrName>
                                        </p:attrNameLst>
                                      </p:cBhvr>
                                      <p:to>
                                        <p:strVal val="visible"/>
                                      </p:to>
                                    </p:set>
                                    <p:animEffect transition="in" filter="barn(outHorizontal)">
                                      <p:cBhvr>
                                        <p:cTn id="81" dur="500"/>
                                        <p:tgtEl>
                                          <p:spTgt spid="27720"/>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42" fill="hold" nodeType="clickEffect">
                                  <p:stCondLst>
                                    <p:cond delay="0"/>
                                  </p:stCondLst>
                                  <p:childTnLst>
                                    <p:set>
                                      <p:cBhvr>
                                        <p:cTn id="85" dur="1" fill="hold">
                                          <p:stCondLst>
                                            <p:cond delay="0"/>
                                          </p:stCondLst>
                                        </p:cTn>
                                        <p:tgtEl>
                                          <p:spTgt spid="27724"/>
                                        </p:tgtEl>
                                        <p:attrNameLst>
                                          <p:attrName>style.visibility</p:attrName>
                                        </p:attrNameLst>
                                      </p:cBhvr>
                                      <p:to>
                                        <p:strVal val="visible"/>
                                      </p:to>
                                    </p:set>
                                    <p:animEffect transition="in" filter="barn(outHorizontal)">
                                      <p:cBhvr>
                                        <p:cTn id="86" dur="500"/>
                                        <p:tgtEl>
                                          <p:spTgt spid="2772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7728"/>
                                        </p:tgtEl>
                                        <p:attrNameLst>
                                          <p:attrName>style.visibility</p:attrName>
                                        </p:attrNameLst>
                                      </p:cBhvr>
                                      <p:to>
                                        <p:strVal val="visible"/>
                                      </p:to>
                                    </p:set>
                                    <p:animEffect transition="in" filter="wipe(left)">
                                      <p:cBhvr>
                                        <p:cTn id="91" dur="500"/>
                                        <p:tgtEl>
                                          <p:spTgt spid="27728"/>
                                        </p:tgtEl>
                                      </p:cBhvr>
                                    </p:animEffect>
                                  </p:childTnLst>
                                </p:cTn>
                              </p:par>
                            </p:childTnLst>
                          </p:cTn>
                        </p:par>
                      </p:childTnLst>
                    </p:cTn>
                  </p:par>
                  <p:par>
                    <p:cTn id="92" fill="hold">
                      <p:stCondLst>
                        <p:cond delay="indefinite"/>
                      </p:stCondLst>
                      <p:childTnLst>
                        <p:par>
                          <p:cTn id="93" fill="hold">
                            <p:stCondLst>
                              <p:cond delay="0"/>
                            </p:stCondLst>
                            <p:childTnLst>
                              <p:par>
                                <p:cTn id="94" presetID="16" presetClass="entr" presetSubtype="42" fill="hold" nodeType="clickEffect">
                                  <p:stCondLst>
                                    <p:cond delay="0"/>
                                  </p:stCondLst>
                                  <p:childTnLst>
                                    <p:set>
                                      <p:cBhvr>
                                        <p:cTn id="95" dur="1" fill="hold">
                                          <p:stCondLst>
                                            <p:cond delay="0"/>
                                          </p:stCondLst>
                                        </p:cTn>
                                        <p:tgtEl>
                                          <p:spTgt spid="27729"/>
                                        </p:tgtEl>
                                        <p:attrNameLst>
                                          <p:attrName>style.visibility</p:attrName>
                                        </p:attrNameLst>
                                      </p:cBhvr>
                                      <p:to>
                                        <p:strVal val="visible"/>
                                      </p:to>
                                    </p:set>
                                    <p:animEffect transition="in" filter="barn(outHorizontal)">
                                      <p:cBhvr>
                                        <p:cTn id="96" dur="500"/>
                                        <p:tgtEl>
                                          <p:spTgt spid="27729"/>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42" fill="hold" nodeType="clickEffect">
                                  <p:stCondLst>
                                    <p:cond delay="0"/>
                                  </p:stCondLst>
                                  <p:childTnLst>
                                    <p:set>
                                      <p:cBhvr>
                                        <p:cTn id="100" dur="1" fill="hold">
                                          <p:stCondLst>
                                            <p:cond delay="0"/>
                                          </p:stCondLst>
                                        </p:cTn>
                                        <p:tgtEl>
                                          <p:spTgt spid="27733"/>
                                        </p:tgtEl>
                                        <p:attrNameLst>
                                          <p:attrName>style.visibility</p:attrName>
                                        </p:attrNameLst>
                                      </p:cBhvr>
                                      <p:to>
                                        <p:strVal val="visible"/>
                                      </p:to>
                                    </p:set>
                                    <p:animEffect transition="in" filter="barn(outHorizontal)">
                                      <p:cBhvr>
                                        <p:cTn id="101" dur="500"/>
                                        <p:tgtEl>
                                          <p:spTgt spid="27733"/>
                                        </p:tgtEl>
                                      </p:cBhvr>
                                    </p:animEffect>
                                  </p:childTnLst>
                                </p:cTn>
                              </p:par>
                            </p:childTnLst>
                          </p:cTn>
                        </p:par>
                      </p:childTnLst>
                    </p:cTn>
                  </p:par>
                  <p:par>
                    <p:cTn id="102" fill="hold">
                      <p:stCondLst>
                        <p:cond delay="indefinite"/>
                      </p:stCondLst>
                      <p:childTnLst>
                        <p:par>
                          <p:cTn id="103" fill="hold">
                            <p:stCondLst>
                              <p:cond delay="0"/>
                            </p:stCondLst>
                            <p:childTnLst>
                              <p:par>
                                <p:cTn id="104" presetID="16" presetClass="entr" presetSubtype="42" fill="hold" nodeType="clickEffect">
                                  <p:stCondLst>
                                    <p:cond delay="0"/>
                                  </p:stCondLst>
                                  <p:childTnLst>
                                    <p:set>
                                      <p:cBhvr>
                                        <p:cTn id="105" dur="1" fill="hold">
                                          <p:stCondLst>
                                            <p:cond delay="0"/>
                                          </p:stCondLst>
                                        </p:cTn>
                                        <p:tgtEl>
                                          <p:spTgt spid="27737"/>
                                        </p:tgtEl>
                                        <p:attrNameLst>
                                          <p:attrName>style.visibility</p:attrName>
                                        </p:attrNameLst>
                                      </p:cBhvr>
                                      <p:to>
                                        <p:strVal val="visible"/>
                                      </p:to>
                                    </p:set>
                                    <p:animEffect transition="in" filter="barn(outHorizontal)">
                                      <p:cBhvr>
                                        <p:cTn id="106" dur="500"/>
                                        <p:tgtEl>
                                          <p:spTgt spid="27737"/>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7741"/>
                                        </p:tgtEl>
                                        <p:attrNameLst>
                                          <p:attrName>style.visibility</p:attrName>
                                        </p:attrNameLst>
                                      </p:cBhvr>
                                      <p:to>
                                        <p:strVal val="visible"/>
                                      </p:to>
                                    </p:set>
                                    <p:animEffect transition="in" filter="wipe(left)">
                                      <p:cBhvr>
                                        <p:cTn id="111" dur="500"/>
                                        <p:tgtEl>
                                          <p:spTgt spid="27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utoUpdateAnimBg="0"/>
      <p:bldP spid="27702" grpId="0" autoUpdateAnimBg="0"/>
      <p:bldP spid="27703" grpId="0" animBg="1"/>
      <p:bldP spid="27704" grpId="0" animBg="1"/>
      <p:bldP spid="27705" grpId="0" autoUpdateAnimBg="0"/>
      <p:bldP spid="27710" grpId="0" autoUpdateAnimBg="0"/>
      <p:bldP spid="27711" grpId="0" animBg="1"/>
      <p:bldP spid="27712" grpId="0" autoUpdateAnimBg="0"/>
      <p:bldP spid="27717" grpId="0" autoUpdateAnimBg="0"/>
      <p:bldP spid="27718" grpId="0" animBg="1"/>
      <p:bldP spid="27719" grpId="0" autoUpdateAnimBg="0"/>
      <p:bldP spid="27728" grpId="0" autoUpdateAnimBg="0"/>
      <p:bldP spid="27741"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214312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Where is the minimal element in a max heap?</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Saved in the Left most leaf</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Saved in the right most leaf</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Saved in a leaf </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Cannot determine</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1114425" y="285035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1114425" y="37076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1114425" y="4564856"/>
            <a:ext cx="514350" cy="514350"/>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1114425" y="5422106"/>
            <a:ext cx="514350" cy="514350"/>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矩形: 圆角 12"/>
          <p:cNvSpPr/>
          <p:nvPr>
            <p:custDataLst>
              <p:tags r:id="rId11"/>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18" name="组合 17"/>
          <p:cNvGrpSpPr/>
          <p:nvPr>
            <p:custDataLst>
              <p:tags r:id="rId12"/>
            </p:custDataLst>
          </p:nvPr>
        </p:nvGrpSpPr>
        <p:grpSpPr>
          <a:xfrm>
            <a:off x="0" y="0"/>
            <a:ext cx="9144000" cy="635000"/>
            <a:chOff x="0" y="0"/>
            <a:chExt cx="9144000" cy="635000"/>
          </a:xfrm>
        </p:grpSpPr>
        <p:sp>
          <p:nvSpPr>
            <p:cNvPr id="14" name="TitleBackground"/>
            <p:cNvSpPr/>
            <p:nvPr>
              <p:custDataLst>
                <p:tags r:id="rId14"/>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914400" y="428625"/>
            <a:ext cx="7315200" cy="5160615"/>
          </a:xfrm>
          <a:prstGeom prst="rect">
            <a:avLst/>
          </a:prstGeom>
          <a:noFill/>
        </p:spPr>
        <p:txBody>
          <a:bodyPr vert="horz" wrap="square"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 Given the array [5, 3, 17, 10, 84, 19, 6, 22, 9], build a max heap.</a:t>
            </a:r>
          </a:p>
          <a:p>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(b) Give the resulting heap after delete the max element from the above heap.</a:t>
            </a:r>
          </a:p>
          <a:p>
            <a:endParaRPr lang="en-US" altLang="zh-CN" sz="2600" dirty="0">
              <a:solidFill>
                <a:srgbClr val="000000"/>
              </a:solidFill>
              <a:latin typeface="微软雅黑" panose="020B0503020204020204" charset="-122"/>
              <a:ea typeface="微软雅黑" panose="020B0503020204020204" charset="-122"/>
              <a:sym typeface="微软雅黑" panose="020B0503020204020204" charset="-122"/>
            </a:endParaRPr>
          </a:p>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 Insert a new key 37 into the resulting heap of (b).</a:t>
            </a:r>
          </a:p>
          <a:p>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矩形: 圆角 4"/>
          <p:cNvSpPr/>
          <p:nvPr>
            <p:custDataLst>
              <p:tags r:id="rId3"/>
            </p:custDataLst>
          </p:nvPr>
        </p:nvSpPr>
        <p:spPr>
          <a:xfrm>
            <a:off x="6172200" y="6215063"/>
            <a:ext cx="1543050" cy="411480"/>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作答</a:t>
            </a:r>
          </a:p>
        </p:txBody>
      </p:sp>
      <p:sp>
        <p:nvSpPr>
          <p:cNvPr id="11" name="矩形 10"/>
          <p:cNvSpPr/>
          <p:nvPr>
            <p:custDataLst>
              <p:tags r:id="rId4"/>
            </p:custDataLst>
          </p:nvPr>
        </p:nvSpPr>
        <p:spPr>
          <a:xfrm>
            <a:off x="0" y="5849303"/>
            <a:ext cx="9144000" cy="365760"/>
          </a:xfrm>
          <a:prstGeom prst="rect">
            <a:avLst/>
          </a:prstGeom>
          <a:solidFill>
            <a:srgbClr val="FBFAEF"/>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200">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200">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200">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grpSp>
        <p:nvGrpSpPr>
          <p:cNvPr id="10" name="组合 9"/>
          <p:cNvGrpSpPr/>
          <p:nvPr>
            <p:custDataLst>
              <p:tags r:id="rId5"/>
            </p:custDataLst>
          </p:nvPr>
        </p:nvGrpSpPr>
        <p:grpSpPr>
          <a:xfrm>
            <a:off x="0" y="0"/>
            <a:ext cx="9144000" cy="635000"/>
            <a:chOff x="0" y="0"/>
            <a:chExt cx="9144000" cy="635000"/>
          </a:xfrm>
        </p:grpSpPr>
        <p:sp>
          <p:nvSpPr>
            <p:cNvPr id="6" name="TitleBackground"/>
            <p:cNvSpPr/>
            <p:nvPr>
              <p:custDataLst>
                <p:tags r:id="rId7"/>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8"/>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9" name="TipText"/>
            <p:cNvSpPr txBox="1"/>
            <p:nvPr>
              <p:custDataLst>
                <p:tags r:id="rId10"/>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10</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 6 Hashing</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dirty="0"/>
              <a:t>Hashing function</a:t>
            </a:r>
          </a:p>
          <a:p>
            <a:pPr marL="0" indent="0">
              <a:buNone/>
            </a:pPr>
            <a:r>
              <a:rPr lang="en-US" altLang="zh-CN" dirty="0"/>
              <a:t>               Hash(x)= x mod </a:t>
            </a:r>
            <a:r>
              <a:rPr lang="en-US" altLang="zh-CN" i="1" dirty="0" err="1"/>
              <a:t>TableSize</a:t>
            </a:r>
            <a:endParaRPr lang="en-US" altLang="zh-CN" i="1" dirty="0"/>
          </a:p>
          <a:p>
            <a:pPr marL="0" indent="0">
              <a:buNone/>
            </a:pPr>
            <a:r>
              <a:rPr lang="en-US" altLang="zh-CN" i="1" dirty="0"/>
              <a:t>    </a:t>
            </a:r>
            <a:r>
              <a:rPr lang="en-US" altLang="zh-CN" i="1" dirty="0" err="1"/>
              <a:t>TableSize</a:t>
            </a:r>
            <a:r>
              <a:rPr lang="en-US" altLang="zh-CN" i="1" dirty="0"/>
              <a:t> </a:t>
            </a:r>
            <a:r>
              <a:rPr lang="en-US" altLang="zh-CN" dirty="0"/>
              <a:t>should be a </a:t>
            </a:r>
            <a:r>
              <a:rPr lang="en-US" altLang="zh-CN" b="1" dirty="0">
                <a:solidFill>
                  <a:srgbClr val="FF0000"/>
                </a:solidFill>
              </a:rPr>
              <a:t>prime</a:t>
            </a:r>
            <a:r>
              <a:rPr lang="en-US" altLang="zh-CN" dirty="0"/>
              <a:t> number.</a:t>
            </a:r>
          </a:p>
          <a:p>
            <a:r>
              <a:rPr lang="en-US" altLang="zh-CN" dirty="0"/>
              <a:t>Collision resolution</a:t>
            </a:r>
          </a:p>
          <a:p>
            <a:pPr lvl="1"/>
            <a:r>
              <a:rPr lang="en-US" altLang="zh-CN" b="1" dirty="0"/>
              <a:t>Separate chaining</a:t>
            </a:r>
            <a:r>
              <a:rPr lang="en-US" altLang="zh-CN" dirty="0"/>
              <a:t>: </a:t>
            </a:r>
            <a:r>
              <a:rPr lang="en-US" altLang="zh-CN" dirty="0">
                <a:latin typeface="Arial" panose="020B0604020202020204" pitchFamily="34" charset="0"/>
                <a:cs typeface="Arial" panose="020B0604020202020204" pitchFamily="34" charset="0"/>
              </a:rPr>
              <a:t>λ≈1</a:t>
            </a:r>
            <a:endParaRPr lang="en-US" altLang="zh-CN" dirty="0"/>
          </a:p>
          <a:p>
            <a:pPr lvl="1"/>
            <a:r>
              <a:rPr lang="en-US" altLang="zh-CN" b="1" dirty="0"/>
              <a:t>Open addressing</a:t>
            </a:r>
            <a:r>
              <a:rPr lang="en-US" altLang="zh-CN" dirty="0"/>
              <a:t>:</a:t>
            </a:r>
          </a:p>
          <a:p>
            <a:pPr lvl="2"/>
            <a:r>
              <a:rPr lang="en-US" altLang="zh-CN" dirty="0"/>
              <a:t>Linear probing (cause primary cluster)</a:t>
            </a:r>
          </a:p>
          <a:p>
            <a:pPr marL="857250" lvl="2" indent="0">
              <a:buNone/>
            </a:pPr>
            <a:r>
              <a:rPr lang="en-US" altLang="zh-CN" dirty="0"/>
              <a:t>               </a:t>
            </a:r>
            <a:r>
              <a:rPr lang="en-US" altLang="zh-CN" sz="2200" b="1" i="1" dirty="0">
                <a:solidFill>
                  <a:srgbClr val="FF0000"/>
                </a:solidFill>
                <a:latin typeface="Times New Roman" panose="02020603050405020304" pitchFamily="18" charset="0"/>
                <a:cs typeface="Times New Roman" panose="02020603050405020304" pitchFamily="18" charset="0"/>
              </a:rPr>
              <a:t>position(x)=Hash(x)+</a:t>
            </a:r>
            <a:r>
              <a:rPr lang="en-US" altLang="zh-CN" sz="2200" b="1" i="1" dirty="0" err="1">
                <a:solidFill>
                  <a:srgbClr val="FF0000"/>
                </a:solidFill>
                <a:latin typeface="Times New Roman" panose="02020603050405020304" pitchFamily="18" charset="0"/>
                <a:cs typeface="Times New Roman" panose="02020603050405020304" pitchFamily="18" charset="0"/>
              </a:rPr>
              <a:t>i</a:t>
            </a:r>
            <a:r>
              <a:rPr lang="en-US" altLang="zh-CN" sz="2200" b="1" i="1" dirty="0">
                <a:solidFill>
                  <a:srgbClr val="FF0000"/>
                </a:solidFill>
                <a:latin typeface="Times New Roman" panose="02020603050405020304" pitchFamily="18" charset="0"/>
                <a:cs typeface="Times New Roman" panose="02020603050405020304" pitchFamily="18" charset="0"/>
              </a:rPr>
              <a:t>; </a:t>
            </a:r>
            <a:r>
              <a:rPr lang="en-US" altLang="zh-CN" sz="2200" b="1" i="1" dirty="0" err="1">
                <a:solidFill>
                  <a:srgbClr val="FF0000"/>
                </a:solidFill>
                <a:latin typeface="Times New Roman" panose="02020603050405020304" pitchFamily="18" charset="0"/>
                <a:cs typeface="Times New Roman" panose="02020603050405020304" pitchFamily="18" charset="0"/>
              </a:rPr>
              <a:t>i</a:t>
            </a:r>
            <a:r>
              <a:rPr lang="en-US" altLang="zh-CN" sz="2200" b="1" i="1" dirty="0">
                <a:solidFill>
                  <a:srgbClr val="FF0000"/>
                </a:solidFill>
                <a:latin typeface="Times New Roman" panose="02020603050405020304" pitchFamily="18" charset="0"/>
                <a:cs typeface="Times New Roman" panose="02020603050405020304" pitchFamily="18" charset="0"/>
              </a:rPr>
              <a:t>=0,1,2,…</a:t>
            </a:r>
          </a:p>
          <a:p>
            <a:pPr lvl="2"/>
            <a:r>
              <a:rPr lang="en-US" altLang="zh-CN" dirty="0"/>
              <a:t>Quadratic probing (cause secondary cluster): </a:t>
            </a:r>
            <a:r>
              <a:rPr lang="en-US" altLang="zh-CN" dirty="0">
                <a:latin typeface="Arial" panose="020B0604020202020204" pitchFamily="34" charset="0"/>
                <a:cs typeface="Arial" panose="020B0604020202020204" pitchFamily="34" charset="0"/>
                <a:sym typeface="+mn-ea"/>
              </a:rPr>
              <a:t>λ≈0.5</a:t>
            </a:r>
            <a:endParaRPr lang="en-US" altLang="zh-CN" dirty="0"/>
          </a:p>
          <a:p>
            <a:pPr marL="857250" lvl="2" indent="0">
              <a:buNone/>
            </a:pPr>
            <a:r>
              <a:rPr lang="en-US" altLang="zh-CN" dirty="0"/>
              <a:t>               </a:t>
            </a:r>
            <a:r>
              <a:rPr lang="en-US" altLang="zh-CN" sz="2200" b="1" i="1" dirty="0">
                <a:solidFill>
                  <a:srgbClr val="FF0000"/>
                </a:solidFill>
                <a:latin typeface="Times New Roman" panose="02020603050405020304" pitchFamily="18" charset="0"/>
                <a:cs typeface="Times New Roman" panose="02020603050405020304" pitchFamily="18" charset="0"/>
              </a:rPr>
              <a:t>position(x)=Hash(x)+i</a:t>
            </a:r>
            <a:r>
              <a:rPr lang="en-US" altLang="zh-CN" sz="2200" b="1" i="1" baseline="30000" dirty="0">
                <a:solidFill>
                  <a:srgbClr val="FF0000"/>
                </a:solidFill>
                <a:latin typeface="Times New Roman" panose="02020603050405020304" pitchFamily="18" charset="0"/>
                <a:cs typeface="Times New Roman" panose="02020603050405020304" pitchFamily="18" charset="0"/>
              </a:rPr>
              <a:t>2</a:t>
            </a:r>
            <a:r>
              <a:rPr lang="en-US" altLang="zh-CN" sz="2200" b="1" i="1" dirty="0">
                <a:solidFill>
                  <a:srgbClr val="FF0000"/>
                </a:solidFill>
                <a:latin typeface="Times New Roman" panose="02020603050405020304" pitchFamily="18" charset="0"/>
                <a:cs typeface="Times New Roman" panose="02020603050405020304" pitchFamily="18" charset="0"/>
              </a:rPr>
              <a:t>; </a:t>
            </a:r>
            <a:r>
              <a:rPr lang="en-US" altLang="zh-CN" sz="2200" b="1" i="1" dirty="0" err="1">
                <a:solidFill>
                  <a:srgbClr val="FF0000"/>
                </a:solidFill>
                <a:latin typeface="Times New Roman" panose="02020603050405020304" pitchFamily="18" charset="0"/>
                <a:cs typeface="Times New Roman" panose="02020603050405020304" pitchFamily="18" charset="0"/>
              </a:rPr>
              <a:t>i</a:t>
            </a:r>
            <a:r>
              <a:rPr lang="en-US" altLang="zh-CN" sz="2200" b="1" i="1" dirty="0">
                <a:solidFill>
                  <a:srgbClr val="FF0000"/>
                </a:solidFill>
                <a:latin typeface="Times New Roman" panose="02020603050405020304" pitchFamily="18" charset="0"/>
                <a:cs typeface="Times New Roman" panose="02020603050405020304" pitchFamily="18" charset="0"/>
              </a:rPr>
              <a:t>=0,1,2,…</a:t>
            </a:r>
            <a:endParaRPr lang="en-US" altLang="zh-CN" sz="2200" dirty="0"/>
          </a:p>
          <a:p>
            <a:pPr lvl="2"/>
            <a:r>
              <a:rPr lang="en-US" altLang="zh-CN" dirty="0"/>
              <a:t>Double hashing</a:t>
            </a:r>
          </a:p>
          <a:p>
            <a:pPr marL="857250" lvl="2" indent="0">
              <a:buNone/>
            </a:pPr>
            <a:r>
              <a:rPr lang="en-US" altLang="zh-CN" sz="2200" b="1" i="1" dirty="0">
                <a:solidFill>
                  <a:srgbClr val="FF0000"/>
                </a:solidFill>
                <a:latin typeface="Times New Roman" panose="02020603050405020304" pitchFamily="18" charset="0"/>
                <a:cs typeface="Times New Roman" panose="02020603050405020304" pitchFamily="18" charset="0"/>
              </a:rPr>
              <a:t>               position (x)=Hash(x)+</a:t>
            </a:r>
            <a:r>
              <a:rPr lang="en-US" altLang="zh-CN" sz="2200" b="1" i="1" dirty="0" err="1">
                <a:solidFill>
                  <a:srgbClr val="FF0000"/>
                </a:solidFill>
                <a:latin typeface="Times New Roman" panose="02020603050405020304" pitchFamily="18" charset="0"/>
                <a:cs typeface="Times New Roman" panose="02020603050405020304" pitchFamily="18" charset="0"/>
              </a:rPr>
              <a:t>i</a:t>
            </a:r>
            <a:r>
              <a:rPr lang="en-US" altLang="zh-CN" sz="2200" b="1" i="1" dirty="0">
                <a:solidFill>
                  <a:srgbClr val="FF0000"/>
                </a:solidFill>
                <a:latin typeface="Times New Roman" panose="02020603050405020304" pitchFamily="18" charset="0"/>
                <a:cs typeface="Times New Roman" panose="02020603050405020304" pitchFamily="18" charset="0"/>
              </a:rPr>
              <a:t>*Hash2(x) ; </a:t>
            </a:r>
            <a:r>
              <a:rPr lang="en-US" altLang="zh-CN" sz="2200" b="1" i="1" dirty="0" err="1">
                <a:solidFill>
                  <a:srgbClr val="FF0000"/>
                </a:solidFill>
                <a:latin typeface="Times New Roman" panose="02020603050405020304" pitchFamily="18" charset="0"/>
                <a:cs typeface="Times New Roman" panose="02020603050405020304" pitchFamily="18" charset="0"/>
              </a:rPr>
              <a:t>i</a:t>
            </a:r>
            <a:r>
              <a:rPr lang="en-US" altLang="zh-CN" sz="2200" b="1" i="1" dirty="0">
                <a:solidFill>
                  <a:srgbClr val="FF0000"/>
                </a:solidFill>
                <a:latin typeface="Times New Roman" panose="02020603050405020304" pitchFamily="18" charset="0"/>
                <a:cs typeface="Times New Roman" panose="02020603050405020304" pitchFamily="18" charset="0"/>
              </a:rPr>
              <a:t>=0,1,2,…</a:t>
            </a:r>
          </a:p>
          <a:p>
            <a:pPr marL="857250" lvl="2" indent="0">
              <a:buNone/>
            </a:pPr>
            <a:r>
              <a:rPr lang="en-US" altLang="zh-CN" sz="2000" dirty="0"/>
              <a:t>               Hash2(x)=R-(x mod R), </a:t>
            </a:r>
          </a:p>
          <a:p>
            <a:pPr marL="857250" lvl="2" indent="0">
              <a:buNone/>
            </a:pPr>
            <a:r>
              <a:rPr lang="en-US" altLang="zh-CN" sz="2000" dirty="0"/>
              <a:t>               where R is a prime smaller that </a:t>
            </a:r>
            <a:r>
              <a:rPr lang="en-US" altLang="zh-CN" sz="2000" i="1" dirty="0" err="1"/>
              <a:t>TableSize</a:t>
            </a:r>
            <a:endParaRPr lang="zh-CN" altLang="en-US" sz="2000" i="1"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Ch.9 Graph</a:t>
            </a:r>
            <a:endParaRPr lang="zh-CN" altLang="en-US" dirty="0"/>
          </a:p>
        </p:txBody>
      </p:sp>
      <p:sp>
        <p:nvSpPr>
          <p:cNvPr id="5" name="内容占位符 4"/>
          <p:cNvSpPr>
            <a:spLocks noGrp="1"/>
          </p:cNvSpPr>
          <p:nvPr>
            <p:ph idx="1"/>
          </p:nvPr>
        </p:nvSpPr>
        <p:spPr/>
        <p:txBody>
          <a:bodyPr>
            <a:normAutofit fontScale="85000" lnSpcReduction="20000"/>
          </a:bodyPr>
          <a:lstStyle/>
          <a:p>
            <a:r>
              <a:rPr lang="en-US" altLang="zh-CN" dirty="0"/>
              <a:t>Definition and terminologies</a:t>
            </a:r>
          </a:p>
          <a:p>
            <a:r>
              <a:rPr lang="en-US" altLang="zh-CN" dirty="0"/>
              <a:t>Graph representations</a:t>
            </a:r>
          </a:p>
          <a:p>
            <a:pPr lvl="1"/>
            <a:r>
              <a:rPr lang="en-US" altLang="zh-CN" dirty="0"/>
              <a:t>Adjacency list</a:t>
            </a:r>
          </a:p>
          <a:p>
            <a:pPr lvl="1"/>
            <a:r>
              <a:rPr lang="en-US" altLang="zh-CN" dirty="0"/>
              <a:t>Adjacency matrix</a:t>
            </a:r>
          </a:p>
          <a:p>
            <a:r>
              <a:rPr lang="en-US" altLang="zh-CN" dirty="0"/>
              <a:t>Graph traversal</a:t>
            </a:r>
          </a:p>
          <a:p>
            <a:pPr lvl="1"/>
            <a:r>
              <a:rPr lang="en-US" altLang="zh-CN" dirty="0"/>
              <a:t>Topological search</a:t>
            </a:r>
          </a:p>
          <a:p>
            <a:pPr lvl="1"/>
            <a:r>
              <a:rPr lang="en-US" altLang="zh-CN" dirty="0"/>
              <a:t>Depth first search</a:t>
            </a:r>
          </a:p>
          <a:p>
            <a:pPr lvl="1"/>
            <a:r>
              <a:rPr lang="en-US" altLang="zh-CN" dirty="0"/>
              <a:t>Breadth first search</a:t>
            </a:r>
          </a:p>
          <a:p>
            <a:r>
              <a:rPr lang="en-US" altLang="zh-CN" dirty="0"/>
              <a:t>Shortest path</a:t>
            </a:r>
          </a:p>
          <a:p>
            <a:r>
              <a:rPr lang="en-US" altLang="zh-CN" dirty="0"/>
              <a:t>Minimum spanning tree</a:t>
            </a:r>
          </a:p>
          <a:p>
            <a:r>
              <a:rPr lang="en-US" altLang="zh-CN" dirty="0"/>
              <a:t>Biconnected graph</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Definition and terminologies</a:t>
            </a:r>
            <a:endParaRPr lang="zh-CN" altLang="en-US" dirty="0"/>
          </a:p>
        </p:txBody>
      </p:sp>
      <p:sp>
        <p:nvSpPr>
          <p:cNvPr id="3" name="内容占位符 2"/>
          <p:cNvSpPr>
            <a:spLocks noGrp="1"/>
          </p:cNvSpPr>
          <p:nvPr>
            <p:ph idx="1"/>
          </p:nvPr>
        </p:nvSpPr>
        <p:spPr/>
        <p:txBody>
          <a:bodyPr/>
          <a:lstStyle/>
          <a:p>
            <a:r>
              <a:rPr lang="en-US" altLang="zh-CN" dirty="0"/>
              <a:t>Directed graph, undirected graph, weighted graph</a:t>
            </a:r>
          </a:p>
          <a:p>
            <a:r>
              <a:rPr lang="en-US" altLang="zh-CN" dirty="0"/>
              <a:t>Complete graph</a:t>
            </a:r>
          </a:p>
          <a:p>
            <a:r>
              <a:rPr lang="en-US" altLang="zh-CN" dirty="0"/>
              <a:t>Degree, path, </a:t>
            </a:r>
            <a:r>
              <a:rPr lang="en-US" altLang="zh-CN" dirty="0" err="1"/>
              <a:t>subgraph</a:t>
            </a:r>
            <a:r>
              <a:rPr lang="en-US" altLang="zh-CN" dirty="0"/>
              <a:t>, simple graph, acyclic graph,  directed acyclic graph</a:t>
            </a:r>
          </a:p>
          <a:p>
            <a:r>
              <a:rPr lang="en-US" altLang="zh-CN" dirty="0"/>
              <a:t>Connected, strongly connected, connected component…</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Adjacency matrix</a:t>
            </a:r>
            <a:endParaRPr lang="zh-CN" altLang="en-US" dirty="0"/>
          </a:p>
        </p:txBody>
      </p:sp>
      <p:sp>
        <p:nvSpPr>
          <p:cNvPr id="3" name="内容占位符 2"/>
          <p:cNvSpPr>
            <a:spLocks noGrp="1"/>
          </p:cNvSpPr>
          <p:nvPr>
            <p:ph idx="1"/>
          </p:nvPr>
        </p:nvSpPr>
        <p:spPr/>
        <p:txBody>
          <a:bodyPr/>
          <a:lstStyle/>
          <a:p>
            <a:r>
              <a:rPr lang="en-US" altLang="zh-CN" dirty="0"/>
              <a:t>Undirected graph</a:t>
            </a:r>
          </a:p>
          <a:p>
            <a:pPr lvl="1"/>
            <a:r>
              <a:rPr lang="en-US" altLang="zh-CN" dirty="0"/>
              <a:t>Symmetric</a:t>
            </a:r>
          </a:p>
          <a:p>
            <a:pPr lvl="1"/>
            <a:r>
              <a:rPr lang="en-US" altLang="zh-CN" dirty="0"/>
              <a:t>Degree?</a:t>
            </a:r>
          </a:p>
          <a:p>
            <a:r>
              <a:rPr lang="en-US" altLang="zh-CN" dirty="0"/>
              <a:t>Directed graph</a:t>
            </a:r>
          </a:p>
          <a:p>
            <a:pPr lvl="1"/>
            <a:r>
              <a:rPr lang="en-US" altLang="zh-CN" dirty="0"/>
              <a:t>Normally not symmetric</a:t>
            </a:r>
          </a:p>
          <a:p>
            <a:pPr lvl="1"/>
            <a:r>
              <a:rPr lang="en-US" altLang="zh-CN" dirty="0" err="1"/>
              <a:t>Indegree</a:t>
            </a:r>
            <a:r>
              <a:rPr lang="en-US" altLang="zh-CN" dirty="0"/>
              <a:t>?</a:t>
            </a:r>
          </a:p>
          <a:p>
            <a:pPr lvl="1"/>
            <a:r>
              <a:rPr lang="en-US" altLang="zh-CN" dirty="0" err="1"/>
              <a:t>Outdegree</a:t>
            </a:r>
            <a:r>
              <a:rPr lang="en-US" altLang="zh-CN" dirty="0"/>
              <a:t>?</a:t>
            </a:r>
          </a:p>
          <a:p>
            <a:pPr lvl="1"/>
            <a:r>
              <a:rPr lang="en-US" altLang="zh-CN" dirty="0"/>
              <a:t>Degree?</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34"/>
          <p:cNvGrpSpPr/>
          <p:nvPr/>
        </p:nvGrpSpPr>
        <p:grpSpPr bwMode="auto">
          <a:xfrm>
            <a:off x="1561554" y="764704"/>
            <a:ext cx="5746750" cy="2108200"/>
            <a:chOff x="838" y="2723"/>
            <a:chExt cx="3783" cy="1401"/>
          </a:xfrm>
        </p:grpSpPr>
        <p:sp>
          <p:nvSpPr>
            <p:cNvPr id="30" name="Rectangle 35"/>
            <p:cNvSpPr>
              <a:spLocks noChangeArrowheads="1"/>
            </p:cNvSpPr>
            <p:nvPr/>
          </p:nvSpPr>
          <p:spPr bwMode="auto">
            <a:xfrm>
              <a:off x="838" y="2723"/>
              <a:ext cx="3783" cy="1401"/>
            </a:xfrm>
            <a:prstGeom prst="rect">
              <a:avLst/>
            </a:prstGeom>
            <a:solidFill>
              <a:srgbClr val="FFFFFF"/>
            </a:solidFill>
            <a:ln w="19050">
              <a:solidFill>
                <a:srgbClr val="FFFF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nvGrpSpPr>
            <p:cNvPr id="31" name="Group 36"/>
            <p:cNvGrpSpPr/>
            <p:nvPr/>
          </p:nvGrpSpPr>
          <p:grpSpPr bwMode="auto">
            <a:xfrm>
              <a:off x="1055" y="2919"/>
              <a:ext cx="1082" cy="957"/>
              <a:chOff x="676" y="2840"/>
              <a:chExt cx="1082" cy="957"/>
            </a:xfrm>
          </p:grpSpPr>
          <p:grpSp>
            <p:nvGrpSpPr>
              <p:cNvPr id="33" name="Group 37"/>
              <p:cNvGrpSpPr/>
              <p:nvPr/>
            </p:nvGrpSpPr>
            <p:grpSpPr bwMode="auto">
              <a:xfrm>
                <a:off x="681" y="2840"/>
                <a:ext cx="248" cy="249"/>
                <a:chOff x="681" y="2919"/>
                <a:chExt cx="248" cy="249"/>
              </a:xfrm>
            </p:grpSpPr>
            <p:sp>
              <p:nvSpPr>
                <p:cNvPr id="52" name="Text Box 38"/>
                <p:cNvSpPr txBox="1">
                  <a:spLocks noChangeArrowheads="1"/>
                </p:cNvSpPr>
                <p:nvPr/>
              </p:nvSpPr>
              <p:spPr bwMode="auto">
                <a:xfrm>
                  <a:off x="758" y="2945"/>
                  <a:ext cx="133"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pPr>
                  <a:r>
                    <a:rPr kumimoji="1" lang="en-US" altLang="zh-CN" sz="2000">
                      <a:latin typeface="Times New Roman" panose="02020603050405020304" pitchFamily="18" charset="0"/>
                    </a:rPr>
                    <a:t>0</a:t>
                  </a:r>
                </a:p>
              </p:txBody>
            </p:sp>
            <p:sp>
              <p:nvSpPr>
                <p:cNvPr id="53" name="Oval 39"/>
                <p:cNvSpPr>
                  <a:spLocks noChangeArrowheads="1"/>
                </p:cNvSpPr>
                <p:nvPr/>
              </p:nvSpPr>
              <p:spPr bwMode="auto">
                <a:xfrm>
                  <a:off x="681" y="2919"/>
                  <a:ext cx="248" cy="249"/>
                </a:xfrm>
                <a:prstGeom prst="ellipse">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grpSp>
            <p:nvGrpSpPr>
              <p:cNvPr id="34" name="Group 40"/>
              <p:cNvGrpSpPr/>
              <p:nvPr/>
            </p:nvGrpSpPr>
            <p:grpSpPr bwMode="auto">
              <a:xfrm>
                <a:off x="1117" y="3225"/>
                <a:ext cx="248" cy="249"/>
                <a:chOff x="681" y="2919"/>
                <a:chExt cx="248" cy="249"/>
              </a:xfrm>
            </p:grpSpPr>
            <p:sp>
              <p:nvSpPr>
                <p:cNvPr id="50" name="Text Box 41"/>
                <p:cNvSpPr txBox="1">
                  <a:spLocks noChangeArrowheads="1"/>
                </p:cNvSpPr>
                <p:nvPr/>
              </p:nvSpPr>
              <p:spPr bwMode="auto">
                <a:xfrm>
                  <a:off x="760" y="2944"/>
                  <a:ext cx="131"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pPr>
                  <a:r>
                    <a:rPr kumimoji="1" lang="en-US" altLang="zh-CN" sz="2000">
                      <a:latin typeface="Times New Roman" panose="02020603050405020304" pitchFamily="18" charset="0"/>
                    </a:rPr>
                    <a:t>4</a:t>
                  </a:r>
                </a:p>
              </p:txBody>
            </p:sp>
            <p:sp>
              <p:nvSpPr>
                <p:cNvPr id="51" name="Oval 42"/>
                <p:cNvSpPr>
                  <a:spLocks noChangeArrowheads="1"/>
                </p:cNvSpPr>
                <p:nvPr/>
              </p:nvSpPr>
              <p:spPr bwMode="auto">
                <a:xfrm>
                  <a:off x="681" y="2919"/>
                  <a:ext cx="248" cy="249"/>
                </a:xfrm>
                <a:prstGeom prst="ellipse">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grpSp>
            <p:nvGrpSpPr>
              <p:cNvPr id="35" name="Group 43"/>
              <p:cNvGrpSpPr/>
              <p:nvPr/>
            </p:nvGrpSpPr>
            <p:grpSpPr bwMode="auto">
              <a:xfrm>
                <a:off x="676" y="3543"/>
                <a:ext cx="248" cy="249"/>
                <a:chOff x="681" y="2919"/>
                <a:chExt cx="248" cy="249"/>
              </a:xfrm>
            </p:grpSpPr>
            <p:sp>
              <p:nvSpPr>
                <p:cNvPr id="48" name="Text Box 44"/>
                <p:cNvSpPr txBox="1">
                  <a:spLocks noChangeArrowheads="1"/>
                </p:cNvSpPr>
                <p:nvPr/>
              </p:nvSpPr>
              <p:spPr bwMode="auto">
                <a:xfrm>
                  <a:off x="759" y="2945"/>
                  <a:ext cx="13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pPr>
                  <a:r>
                    <a:rPr kumimoji="1" lang="en-US" altLang="zh-CN" sz="2000">
                      <a:latin typeface="Times New Roman" panose="02020603050405020304" pitchFamily="18" charset="0"/>
                    </a:rPr>
                    <a:t>3</a:t>
                  </a:r>
                </a:p>
              </p:txBody>
            </p:sp>
            <p:sp>
              <p:nvSpPr>
                <p:cNvPr id="49" name="Oval 45"/>
                <p:cNvSpPr>
                  <a:spLocks noChangeArrowheads="1"/>
                </p:cNvSpPr>
                <p:nvPr/>
              </p:nvSpPr>
              <p:spPr bwMode="auto">
                <a:xfrm>
                  <a:off x="681" y="2919"/>
                  <a:ext cx="248" cy="249"/>
                </a:xfrm>
                <a:prstGeom prst="ellipse">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grpSp>
            <p:nvGrpSpPr>
              <p:cNvPr id="36" name="Group 46"/>
              <p:cNvGrpSpPr/>
              <p:nvPr/>
            </p:nvGrpSpPr>
            <p:grpSpPr bwMode="auto">
              <a:xfrm>
                <a:off x="1493" y="3548"/>
                <a:ext cx="248" cy="249"/>
                <a:chOff x="681" y="2919"/>
                <a:chExt cx="248" cy="249"/>
              </a:xfrm>
            </p:grpSpPr>
            <p:sp>
              <p:nvSpPr>
                <p:cNvPr id="46" name="Text Box 47"/>
                <p:cNvSpPr txBox="1">
                  <a:spLocks noChangeArrowheads="1"/>
                </p:cNvSpPr>
                <p:nvPr/>
              </p:nvSpPr>
              <p:spPr bwMode="auto">
                <a:xfrm>
                  <a:off x="759" y="2945"/>
                  <a:ext cx="131"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pPr>
                  <a:r>
                    <a:rPr kumimoji="1" lang="en-US" altLang="zh-CN" sz="2000">
                      <a:latin typeface="Times New Roman" panose="02020603050405020304" pitchFamily="18" charset="0"/>
                    </a:rPr>
                    <a:t>2</a:t>
                  </a:r>
                </a:p>
              </p:txBody>
            </p:sp>
            <p:sp>
              <p:nvSpPr>
                <p:cNvPr id="47" name="Oval 48"/>
                <p:cNvSpPr>
                  <a:spLocks noChangeArrowheads="1"/>
                </p:cNvSpPr>
                <p:nvPr/>
              </p:nvSpPr>
              <p:spPr bwMode="auto">
                <a:xfrm>
                  <a:off x="681" y="2919"/>
                  <a:ext cx="248" cy="249"/>
                </a:xfrm>
                <a:prstGeom prst="ellipse">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grpSp>
            <p:nvGrpSpPr>
              <p:cNvPr id="37" name="Group 49"/>
              <p:cNvGrpSpPr/>
              <p:nvPr/>
            </p:nvGrpSpPr>
            <p:grpSpPr bwMode="auto">
              <a:xfrm>
                <a:off x="1510" y="2858"/>
                <a:ext cx="248" cy="249"/>
                <a:chOff x="681" y="2919"/>
                <a:chExt cx="248" cy="249"/>
              </a:xfrm>
            </p:grpSpPr>
            <p:sp>
              <p:nvSpPr>
                <p:cNvPr id="44" name="Text Box 50"/>
                <p:cNvSpPr txBox="1">
                  <a:spLocks noChangeArrowheads="1"/>
                </p:cNvSpPr>
                <p:nvPr/>
              </p:nvSpPr>
              <p:spPr bwMode="auto">
                <a:xfrm>
                  <a:off x="759" y="2945"/>
                  <a:ext cx="132"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eaLnBrk="1" hangingPunct="1">
                    <a:spcBef>
                      <a:spcPct val="50000"/>
                    </a:spcBef>
                  </a:pPr>
                  <a:r>
                    <a:rPr kumimoji="1" lang="en-US" altLang="zh-CN" sz="2000">
                      <a:latin typeface="Times New Roman" panose="02020603050405020304" pitchFamily="18" charset="0"/>
                    </a:rPr>
                    <a:t>1</a:t>
                  </a:r>
                </a:p>
              </p:txBody>
            </p:sp>
            <p:sp>
              <p:nvSpPr>
                <p:cNvPr id="45" name="Oval 51"/>
                <p:cNvSpPr>
                  <a:spLocks noChangeArrowheads="1"/>
                </p:cNvSpPr>
                <p:nvPr/>
              </p:nvSpPr>
              <p:spPr bwMode="auto">
                <a:xfrm>
                  <a:off x="681" y="2919"/>
                  <a:ext cx="248" cy="249"/>
                </a:xfrm>
                <a:prstGeom prst="ellipse">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a:p>
              </p:txBody>
            </p:sp>
          </p:grpSp>
          <p:sp>
            <p:nvSpPr>
              <p:cNvPr id="38" name="Line 52"/>
              <p:cNvSpPr>
                <a:spLocks noChangeShapeType="1"/>
              </p:cNvSpPr>
              <p:nvPr/>
            </p:nvSpPr>
            <p:spPr bwMode="auto">
              <a:xfrm>
                <a:off x="955" y="2958"/>
                <a:ext cx="563"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9" name="Line 53"/>
              <p:cNvSpPr>
                <a:spLocks noChangeShapeType="1"/>
              </p:cNvSpPr>
              <p:nvPr/>
            </p:nvSpPr>
            <p:spPr bwMode="auto">
              <a:xfrm flipV="1">
                <a:off x="1361" y="3103"/>
                <a:ext cx="210" cy="157"/>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0" name="Line 54"/>
              <p:cNvSpPr>
                <a:spLocks noChangeShapeType="1"/>
              </p:cNvSpPr>
              <p:nvPr/>
            </p:nvSpPr>
            <p:spPr bwMode="auto">
              <a:xfrm flipV="1">
                <a:off x="903" y="3430"/>
                <a:ext cx="236" cy="17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1" name="Line 55"/>
              <p:cNvSpPr>
                <a:spLocks noChangeShapeType="1"/>
              </p:cNvSpPr>
              <p:nvPr/>
            </p:nvSpPr>
            <p:spPr bwMode="auto">
              <a:xfrm flipH="1">
                <a:off x="929" y="3679"/>
                <a:ext cx="563" cy="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56"/>
              <p:cNvSpPr>
                <a:spLocks noChangeShapeType="1"/>
              </p:cNvSpPr>
              <p:nvPr/>
            </p:nvSpPr>
            <p:spPr bwMode="auto">
              <a:xfrm>
                <a:off x="1636" y="3103"/>
                <a:ext cx="0" cy="458"/>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57"/>
              <p:cNvSpPr>
                <a:spLocks noChangeShapeType="1"/>
              </p:cNvSpPr>
              <p:nvPr/>
            </p:nvSpPr>
            <p:spPr bwMode="auto">
              <a:xfrm flipV="1">
                <a:off x="812" y="3090"/>
                <a:ext cx="0" cy="445"/>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32" name="Object 58"/>
            <p:cNvGraphicFramePr>
              <a:graphicFrameLocks noChangeAspect="1"/>
            </p:cNvGraphicFramePr>
            <p:nvPr/>
          </p:nvGraphicFramePr>
          <p:xfrm>
            <a:off x="2698" y="2781"/>
            <a:ext cx="1711" cy="1258"/>
          </p:xfrm>
          <a:graphic>
            <a:graphicData uri="http://schemas.openxmlformats.org/presentationml/2006/ole">
              <mc:AlternateContent xmlns:mc="http://schemas.openxmlformats.org/markup-compatibility/2006">
                <mc:Choice xmlns:v="urn:schemas-microsoft-com:vml" Requires="v">
                  <p:oleObj name="公式" r:id="rId2" imgW="32918400" imgH="27432000" progId="Equation.3">
                    <p:embed/>
                  </p:oleObj>
                </mc:Choice>
                <mc:Fallback>
                  <p:oleObj name="公式" r:id="rId2" imgW="32918400" imgH="27432000" progId="Equation.3">
                    <p:embed/>
                    <p:pic>
                      <p:nvPicPr>
                        <p:cNvPr id="32" name="Object 58"/>
                        <p:cNvPicPr>
                          <a:picLocks noChangeAspect="1"/>
                        </p:cNvPicPr>
                        <p:nvPr/>
                      </p:nvPicPr>
                      <p:blipFill>
                        <a:blip r:embed="rId3"/>
                        <a:stretch>
                          <a:fillRect/>
                        </a:stretch>
                      </p:blipFill>
                      <p:spPr>
                        <a:xfrm>
                          <a:off x="2698" y="2781"/>
                          <a:ext cx="1711" cy="1258"/>
                        </a:xfrm>
                        <a:prstGeom prst="rect">
                          <a:avLst/>
                        </a:prstGeom>
                        <a:noFill/>
                        <a:ln w="9525">
                          <a:noFill/>
                        </a:ln>
                      </p:spPr>
                    </p:pic>
                  </p:oleObj>
                </mc:Fallback>
              </mc:AlternateContent>
            </a:graphicData>
          </a:graphic>
        </p:graphicFrame>
      </p:grpSp>
      <p:grpSp>
        <p:nvGrpSpPr>
          <p:cNvPr id="75" name="Group 24"/>
          <p:cNvGrpSpPr/>
          <p:nvPr/>
        </p:nvGrpSpPr>
        <p:grpSpPr bwMode="auto">
          <a:xfrm>
            <a:off x="1985456" y="3645024"/>
            <a:ext cx="2298512" cy="2303957"/>
            <a:chOff x="538" y="1586"/>
            <a:chExt cx="1229" cy="1333"/>
          </a:xfrm>
        </p:grpSpPr>
        <p:sp>
          <p:nvSpPr>
            <p:cNvPr id="76" name="Oval 25"/>
            <p:cNvSpPr>
              <a:spLocks noChangeArrowheads="1"/>
            </p:cNvSpPr>
            <p:nvPr/>
          </p:nvSpPr>
          <p:spPr bwMode="auto">
            <a:xfrm>
              <a:off x="544" y="1689"/>
              <a:ext cx="244" cy="207"/>
            </a:xfrm>
            <a:prstGeom prst="ellipse">
              <a:avLst/>
            </a:prstGeom>
            <a:solidFill>
              <a:srgbClr val="FFFFFF"/>
            </a:solidFill>
            <a:ln w="28575">
              <a:solidFill>
                <a:srgbClr val="404176"/>
              </a:solidFill>
              <a:round/>
            </a:ln>
            <a:effectLst/>
            <a:extLs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pPr eaLnBrk="1" hangingPunct="1"/>
              <a:endParaRPr lang="zh-CN" altLang="en-US"/>
            </a:p>
          </p:txBody>
        </p:sp>
        <p:sp>
          <p:nvSpPr>
            <p:cNvPr id="77" name="Oval 26"/>
            <p:cNvSpPr>
              <a:spLocks noChangeArrowheads="1"/>
            </p:cNvSpPr>
            <p:nvPr/>
          </p:nvSpPr>
          <p:spPr bwMode="auto">
            <a:xfrm>
              <a:off x="1520" y="1689"/>
              <a:ext cx="244" cy="207"/>
            </a:xfrm>
            <a:prstGeom prst="ellipse">
              <a:avLst/>
            </a:prstGeom>
            <a:solidFill>
              <a:srgbClr val="FFFFFF"/>
            </a:solidFill>
            <a:ln w="28575">
              <a:solidFill>
                <a:srgbClr val="404176"/>
              </a:solidFill>
              <a:round/>
            </a:ln>
            <a:effectLst/>
            <a:extLs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pPr eaLnBrk="1" hangingPunct="1"/>
              <a:endParaRPr lang="zh-CN" altLang="en-US"/>
            </a:p>
          </p:txBody>
        </p:sp>
        <p:sp>
          <p:nvSpPr>
            <p:cNvPr id="78" name="Oval 27"/>
            <p:cNvSpPr>
              <a:spLocks noChangeArrowheads="1"/>
            </p:cNvSpPr>
            <p:nvPr/>
          </p:nvSpPr>
          <p:spPr bwMode="auto">
            <a:xfrm>
              <a:off x="547" y="2587"/>
              <a:ext cx="244" cy="208"/>
            </a:xfrm>
            <a:prstGeom prst="ellipse">
              <a:avLst/>
            </a:prstGeom>
            <a:solidFill>
              <a:srgbClr val="FFFFFF"/>
            </a:solidFill>
            <a:ln w="28575">
              <a:solidFill>
                <a:srgbClr val="404176"/>
              </a:solidFill>
              <a:round/>
            </a:ln>
            <a:effectLst/>
            <a:extLs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pPr eaLnBrk="1" hangingPunct="1"/>
              <a:endParaRPr lang="zh-CN" altLang="en-US"/>
            </a:p>
          </p:txBody>
        </p:sp>
        <p:sp>
          <p:nvSpPr>
            <p:cNvPr id="79" name="Oval 28"/>
            <p:cNvSpPr>
              <a:spLocks noChangeArrowheads="1"/>
            </p:cNvSpPr>
            <p:nvPr/>
          </p:nvSpPr>
          <p:spPr bwMode="auto">
            <a:xfrm>
              <a:off x="1523" y="2587"/>
              <a:ext cx="244" cy="208"/>
            </a:xfrm>
            <a:prstGeom prst="ellipse">
              <a:avLst/>
            </a:prstGeom>
            <a:solidFill>
              <a:srgbClr val="FFFFFF"/>
            </a:solidFill>
            <a:ln w="28575">
              <a:solidFill>
                <a:srgbClr val="404176"/>
              </a:solidFill>
              <a:round/>
            </a:ln>
            <a:effectLst/>
            <a:extLs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pPr eaLnBrk="1" hangingPunct="1"/>
              <a:endParaRPr lang="zh-CN" altLang="en-US"/>
            </a:p>
          </p:txBody>
        </p:sp>
        <p:sp>
          <p:nvSpPr>
            <p:cNvPr id="80" name="Line 29"/>
            <p:cNvSpPr>
              <a:spLocks noChangeShapeType="1"/>
            </p:cNvSpPr>
            <p:nvPr/>
          </p:nvSpPr>
          <p:spPr bwMode="auto">
            <a:xfrm flipV="1">
              <a:off x="669" y="1896"/>
              <a:ext cx="0" cy="691"/>
            </a:xfrm>
            <a:prstGeom prst="line">
              <a:avLst/>
            </a:prstGeom>
            <a:noFill/>
            <a:ln w="28575">
              <a:solidFill>
                <a:srgbClr val="404176"/>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endParaRPr lang="zh-CN" altLang="en-US"/>
            </a:p>
          </p:txBody>
        </p:sp>
        <p:sp>
          <p:nvSpPr>
            <p:cNvPr id="81" name="Line 30"/>
            <p:cNvSpPr>
              <a:spLocks noChangeShapeType="1"/>
            </p:cNvSpPr>
            <p:nvPr/>
          </p:nvSpPr>
          <p:spPr bwMode="auto">
            <a:xfrm flipV="1">
              <a:off x="1642" y="1896"/>
              <a:ext cx="0" cy="691"/>
            </a:xfrm>
            <a:prstGeom prst="line">
              <a:avLst/>
            </a:prstGeom>
            <a:noFill/>
            <a:ln w="28575">
              <a:solidFill>
                <a:srgbClr val="404176"/>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endParaRPr lang="zh-CN" altLang="en-US"/>
            </a:p>
          </p:txBody>
        </p:sp>
        <p:sp>
          <p:nvSpPr>
            <p:cNvPr id="82" name="Line 31"/>
            <p:cNvSpPr>
              <a:spLocks noChangeShapeType="1"/>
            </p:cNvSpPr>
            <p:nvPr/>
          </p:nvSpPr>
          <p:spPr bwMode="auto">
            <a:xfrm>
              <a:off x="791" y="2691"/>
              <a:ext cx="732" cy="0"/>
            </a:xfrm>
            <a:prstGeom prst="line">
              <a:avLst/>
            </a:prstGeom>
            <a:noFill/>
            <a:ln w="28575">
              <a:solidFill>
                <a:srgbClr val="404176"/>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endParaRPr lang="zh-CN" altLang="en-US"/>
            </a:p>
          </p:txBody>
        </p:sp>
        <p:sp>
          <p:nvSpPr>
            <p:cNvPr id="83" name="Line 32"/>
            <p:cNvSpPr>
              <a:spLocks noChangeShapeType="1"/>
            </p:cNvSpPr>
            <p:nvPr/>
          </p:nvSpPr>
          <p:spPr bwMode="auto">
            <a:xfrm flipV="1">
              <a:off x="747" y="1862"/>
              <a:ext cx="854" cy="760"/>
            </a:xfrm>
            <a:prstGeom prst="line">
              <a:avLst/>
            </a:prstGeom>
            <a:noFill/>
            <a:ln w="28575">
              <a:solidFill>
                <a:srgbClr val="404176"/>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endParaRPr lang="zh-CN" altLang="en-US"/>
            </a:p>
          </p:txBody>
        </p:sp>
        <p:sp>
          <p:nvSpPr>
            <p:cNvPr id="84" name="Line 33"/>
            <p:cNvSpPr>
              <a:spLocks noChangeShapeType="1"/>
            </p:cNvSpPr>
            <p:nvPr/>
          </p:nvSpPr>
          <p:spPr bwMode="auto">
            <a:xfrm rot="10336690" flipH="1" flipV="1">
              <a:off x="858" y="1830"/>
              <a:ext cx="647" cy="795"/>
            </a:xfrm>
            <a:prstGeom prst="line">
              <a:avLst/>
            </a:prstGeom>
            <a:noFill/>
            <a:ln w="28575">
              <a:solidFill>
                <a:srgbClr val="404176"/>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endParaRPr lang="zh-CN" altLang="en-US"/>
            </a:p>
          </p:txBody>
        </p:sp>
        <p:sp>
          <p:nvSpPr>
            <p:cNvPr id="85" name="Text Box 34"/>
            <p:cNvSpPr txBox="1">
              <a:spLocks noChangeArrowheads="1"/>
            </p:cNvSpPr>
            <p:nvPr/>
          </p:nvSpPr>
          <p:spPr bwMode="auto">
            <a:xfrm>
              <a:off x="1083" y="1586"/>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b="1" dirty="0">
                  <a:latin typeface="Times New Roman" panose="02020603050405020304" pitchFamily="18" charset="0"/>
                </a:rPr>
                <a:t>8</a:t>
              </a:r>
              <a:endParaRPr lang="en-US" altLang="zh-CN" dirty="0">
                <a:latin typeface="Times New Roman" panose="02020603050405020304" pitchFamily="18" charset="0"/>
              </a:endParaRPr>
            </a:p>
          </p:txBody>
        </p:sp>
        <p:sp>
          <p:nvSpPr>
            <p:cNvPr id="86" name="Text Box 35"/>
            <p:cNvSpPr txBox="1">
              <a:spLocks noChangeArrowheads="1"/>
            </p:cNvSpPr>
            <p:nvPr/>
          </p:nvSpPr>
          <p:spPr bwMode="auto">
            <a:xfrm>
              <a:off x="538" y="2194"/>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b="1" dirty="0">
                  <a:latin typeface="Times New Roman" panose="02020603050405020304" pitchFamily="18" charset="0"/>
                </a:rPr>
                <a:t>3</a:t>
              </a:r>
              <a:endParaRPr lang="en-US" altLang="zh-CN" dirty="0">
                <a:latin typeface="Times New Roman" panose="02020603050405020304" pitchFamily="18" charset="0"/>
              </a:endParaRPr>
            </a:p>
          </p:txBody>
        </p:sp>
        <p:sp>
          <p:nvSpPr>
            <p:cNvPr id="87" name="Text Box 36"/>
            <p:cNvSpPr txBox="1">
              <a:spLocks noChangeArrowheads="1"/>
            </p:cNvSpPr>
            <p:nvPr/>
          </p:nvSpPr>
          <p:spPr bwMode="auto">
            <a:xfrm>
              <a:off x="1085" y="2759"/>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b="1" dirty="0">
                  <a:latin typeface="Times New Roman" panose="02020603050405020304" pitchFamily="18" charset="0"/>
                </a:rPr>
                <a:t>1</a:t>
              </a:r>
              <a:endParaRPr lang="en-US" altLang="zh-CN" dirty="0">
                <a:latin typeface="Times New Roman" panose="02020603050405020304" pitchFamily="18" charset="0"/>
              </a:endParaRPr>
            </a:p>
          </p:txBody>
        </p:sp>
        <p:sp>
          <p:nvSpPr>
            <p:cNvPr id="88" name="Text Box 37"/>
            <p:cNvSpPr txBox="1">
              <a:spLocks noChangeArrowheads="1"/>
            </p:cNvSpPr>
            <p:nvPr/>
          </p:nvSpPr>
          <p:spPr bwMode="auto">
            <a:xfrm>
              <a:off x="1679" y="2197"/>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b="1" dirty="0">
                  <a:latin typeface="Times New Roman" panose="02020603050405020304" pitchFamily="18" charset="0"/>
                </a:rPr>
                <a:t>2</a:t>
              </a:r>
              <a:endParaRPr lang="en-US" altLang="zh-CN" dirty="0">
                <a:latin typeface="Times New Roman" panose="02020603050405020304" pitchFamily="18" charset="0"/>
              </a:endParaRPr>
            </a:p>
          </p:txBody>
        </p:sp>
        <p:sp>
          <p:nvSpPr>
            <p:cNvPr id="89" name="Text Box 38"/>
            <p:cNvSpPr txBox="1">
              <a:spLocks noChangeArrowheads="1"/>
            </p:cNvSpPr>
            <p:nvPr/>
          </p:nvSpPr>
          <p:spPr bwMode="auto">
            <a:xfrm>
              <a:off x="1336" y="2191"/>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b="1" dirty="0">
                  <a:latin typeface="Times New Roman" panose="02020603050405020304" pitchFamily="18" charset="0"/>
                </a:rPr>
                <a:t>5</a:t>
              </a:r>
              <a:endParaRPr lang="en-US" altLang="zh-CN" dirty="0">
                <a:latin typeface="Times New Roman" panose="02020603050405020304" pitchFamily="18" charset="0"/>
              </a:endParaRPr>
            </a:p>
          </p:txBody>
        </p:sp>
        <p:sp>
          <p:nvSpPr>
            <p:cNvPr id="90" name="Text Box 39"/>
            <p:cNvSpPr txBox="1">
              <a:spLocks noChangeArrowheads="1"/>
            </p:cNvSpPr>
            <p:nvPr/>
          </p:nvSpPr>
          <p:spPr bwMode="auto">
            <a:xfrm>
              <a:off x="966" y="2449"/>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b="1" dirty="0">
                  <a:latin typeface="Times New Roman" panose="02020603050405020304" pitchFamily="18" charset="0"/>
                </a:rPr>
                <a:t>4</a:t>
              </a:r>
              <a:endParaRPr lang="en-US" altLang="zh-CN" dirty="0">
                <a:latin typeface="Times New Roman" panose="02020603050405020304" pitchFamily="18" charset="0"/>
              </a:endParaRPr>
            </a:p>
          </p:txBody>
        </p:sp>
        <p:sp>
          <p:nvSpPr>
            <p:cNvPr id="91" name="Text Box 40"/>
            <p:cNvSpPr txBox="1">
              <a:spLocks noChangeArrowheads="1"/>
            </p:cNvSpPr>
            <p:nvPr/>
          </p:nvSpPr>
          <p:spPr bwMode="auto">
            <a:xfrm>
              <a:off x="629" y="1706"/>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dirty="0">
                  <a:latin typeface="Times New Roman" panose="02020603050405020304" pitchFamily="18" charset="0"/>
                </a:rPr>
                <a:t>2</a:t>
              </a:r>
            </a:p>
          </p:txBody>
        </p:sp>
        <p:sp>
          <p:nvSpPr>
            <p:cNvPr id="92" name="Text Box 41"/>
            <p:cNvSpPr txBox="1">
              <a:spLocks noChangeArrowheads="1"/>
            </p:cNvSpPr>
            <p:nvPr/>
          </p:nvSpPr>
          <p:spPr bwMode="auto">
            <a:xfrm>
              <a:off x="645" y="2606"/>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dirty="0">
                  <a:latin typeface="Times New Roman" panose="02020603050405020304" pitchFamily="18" charset="0"/>
                </a:rPr>
                <a:t>0</a:t>
              </a:r>
            </a:p>
          </p:txBody>
        </p:sp>
        <p:sp>
          <p:nvSpPr>
            <p:cNvPr id="93" name="Text Box 42"/>
            <p:cNvSpPr txBox="1">
              <a:spLocks noChangeArrowheads="1"/>
            </p:cNvSpPr>
            <p:nvPr/>
          </p:nvSpPr>
          <p:spPr bwMode="auto">
            <a:xfrm>
              <a:off x="1619" y="1719"/>
              <a:ext cx="91"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squar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dirty="0">
                  <a:latin typeface="Times New Roman" panose="02020603050405020304" pitchFamily="18" charset="0"/>
                </a:rPr>
                <a:t>3</a:t>
              </a:r>
            </a:p>
          </p:txBody>
        </p:sp>
        <p:sp>
          <p:nvSpPr>
            <p:cNvPr id="94" name="Text Box 43"/>
            <p:cNvSpPr txBox="1">
              <a:spLocks noChangeArrowheads="1"/>
            </p:cNvSpPr>
            <p:nvPr/>
          </p:nvSpPr>
          <p:spPr bwMode="auto">
            <a:xfrm>
              <a:off x="1608" y="2606"/>
              <a:ext cx="62" cy="160"/>
            </a:xfrm>
            <a:prstGeom prst="rect">
              <a:avLst/>
            </a:prstGeom>
            <a:solidFill>
              <a:srgbClr val="FFFFFF"/>
            </a:solidFill>
            <a:ln>
              <a:noFill/>
            </a:ln>
            <a:effectLst/>
            <a:extLst>
              <a:ext uri="{91240B29-F687-4F45-9708-019B960494DF}">
                <a14:hiddenLine xmlns:a14="http://schemas.microsoft.com/office/drawing/2010/main" w="9525">
                  <a:solidFill>
                    <a:srgbClr val="363652"/>
                  </a:solidFill>
                  <a:miter lim="800000"/>
                  <a:headEnd/>
                  <a:tailEnd/>
                </a14:hiddenLine>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spAutoFit/>
            </a:bodyP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algn="ctr" fontAlgn="b"/>
              <a:r>
                <a:rPr lang="en-US" altLang="zh-CN" dirty="0">
                  <a:latin typeface="Times New Roman" panose="02020603050405020304" pitchFamily="18" charset="0"/>
                </a:rPr>
                <a:t>1</a:t>
              </a:r>
            </a:p>
          </p:txBody>
        </p:sp>
        <p:sp>
          <p:nvSpPr>
            <p:cNvPr id="95" name="Line 44"/>
            <p:cNvSpPr>
              <a:spLocks noChangeShapeType="1"/>
            </p:cNvSpPr>
            <p:nvPr/>
          </p:nvSpPr>
          <p:spPr bwMode="auto">
            <a:xfrm>
              <a:off x="806" y="1758"/>
              <a:ext cx="732" cy="0"/>
            </a:xfrm>
            <a:prstGeom prst="line">
              <a:avLst/>
            </a:prstGeom>
            <a:noFill/>
            <a:ln w="28575">
              <a:solidFill>
                <a:srgbClr val="404176"/>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969696"/>
                    </a:outerShdw>
                  </a:effectLst>
                </a14:hiddenEffects>
              </a:ext>
            </a:extLst>
          </p:spPr>
          <p:txBody>
            <a:bodyPr wrap="none" lIns="0" tIns="0" rIns="0" bIns="0" anchor="ctr"/>
            <a:lstStyle/>
            <a:p>
              <a:endParaRPr lang="zh-CN" altLang="en-US"/>
            </a:p>
          </p:txBody>
        </p:sp>
      </p:grpSp>
      <p:graphicFrame>
        <p:nvGraphicFramePr>
          <p:cNvPr id="96" name="Object 45"/>
          <p:cNvGraphicFramePr>
            <a:graphicFrameLocks noChangeAspect="1"/>
          </p:cNvGraphicFramePr>
          <p:nvPr/>
        </p:nvGraphicFramePr>
        <p:xfrm>
          <a:off x="5116919" y="3638201"/>
          <a:ext cx="3177494" cy="2200425"/>
        </p:xfrm>
        <a:graphic>
          <a:graphicData uri="http://schemas.openxmlformats.org/presentationml/2006/ole">
            <mc:AlternateContent xmlns:mc="http://schemas.openxmlformats.org/markup-compatibility/2006">
              <mc:Choice xmlns:v="urn:schemas-microsoft-com:vml" Requires="v">
                <p:oleObj name="公式" r:id="rId4" imgW="31394400" imgH="21945600" progId="Equation.3">
                  <p:embed/>
                </p:oleObj>
              </mc:Choice>
              <mc:Fallback>
                <p:oleObj name="公式" r:id="rId4" imgW="31394400" imgH="21945600" progId="Equation.3">
                  <p:embed/>
                  <p:pic>
                    <p:nvPicPr>
                      <p:cNvPr id="96" name="Object 45"/>
                      <p:cNvPicPr>
                        <a:picLocks noChangeAspect="1"/>
                      </p:cNvPicPr>
                      <p:nvPr/>
                    </p:nvPicPr>
                    <p:blipFill>
                      <a:blip r:embed="rId5"/>
                      <a:stretch>
                        <a:fillRect/>
                      </a:stretch>
                    </p:blipFill>
                    <p:spPr>
                      <a:xfrm>
                        <a:off x="5116919" y="3638201"/>
                        <a:ext cx="3177494" cy="2200425"/>
                      </a:xfrm>
                      <a:prstGeom prst="rect">
                        <a:avLst/>
                      </a:prstGeom>
                      <a:solidFill>
                        <a:srgbClr val="FFFFFF"/>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linds(horizontal)">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6"/>
                                        </p:tgtEl>
                                        <p:attrNameLst>
                                          <p:attrName>style.visibility</p:attrName>
                                        </p:attrNameLst>
                                      </p:cBhvr>
                                      <p:to>
                                        <p:strVal val="visible"/>
                                      </p:to>
                                    </p:set>
                                    <p:animEffect transition="in" filter="blinds(horizontal)">
                                      <p:cBhvr>
                                        <p:cTn id="12"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Adjacency List (I)</a:t>
            </a:r>
            <a:endParaRPr lang="zh-CN" altLang="en-US" dirty="0"/>
          </a:p>
        </p:txBody>
      </p:sp>
      <p:sp>
        <p:nvSpPr>
          <p:cNvPr id="3" name="内容占位符 2"/>
          <p:cNvSpPr>
            <a:spLocks noGrp="1"/>
          </p:cNvSpPr>
          <p:nvPr>
            <p:ph idx="1"/>
          </p:nvPr>
        </p:nvSpPr>
        <p:spPr/>
        <p:txBody>
          <a:bodyPr/>
          <a:lstStyle/>
          <a:p>
            <a:r>
              <a:rPr lang="en-US" altLang="zh-CN" dirty="0"/>
              <a:t>Undirected graph</a:t>
            </a:r>
            <a:endParaRPr lang="zh-CN" altLang="en-US" dirty="0"/>
          </a:p>
        </p:txBody>
      </p:sp>
      <p:grpSp>
        <p:nvGrpSpPr>
          <p:cNvPr id="4" name="Group 5"/>
          <p:cNvGrpSpPr/>
          <p:nvPr/>
        </p:nvGrpSpPr>
        <p:grpSpPr bwMode="auto">
          <a:xfrm>
            <a:off x="611188" y="2746375"/>
            <a:ext cx="8137525" cy="3365500"/>
            <a:chOff x="0" y="0"/>
            <a:chExt cx="5126" cy="2120"/>
          </a:xfrm>
        </p:grpSpPr>
        <p:sp>
          <p:nvSpPr>
            <p:cNvPr id="5" name="Rectangle 6"/>
            <p:cNvSpPr>
              <a:spLocks noChangeArrowheads="1"/>
            </p:cNvSpPr>
            <p:nvPr/>
          </p:nvSpPr>
          <p:spPr bwMode="auto">
            <a:xfrm>
              <a:off x="1078" y="1916"/>
              <a:ext cx="2143"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000" b="1">
                <a:latin typeface="Times New Roman" panose="02020603050405020304" pitchFamily="18" charset="0"/>
              </a:endParaRPr>
            </a:p>
          </p:txBody>
        </p:sp>
        <p:grpSp>
          <p:nvGrpSpPr>
            <p:cNvPr id="6" name="Group 7"/>
            <p:cNvGrpSpPr/>
            <p:nvPr/>
          </p:nvGrpSpPr>
          <p:grpSpPr bwMode="auto">
            <a:xfrm>
              <a:off x="0" y="397"/>
              <a:ext cx="1384" cy="839"/>
              <a:chOff x="0" y="0"/>
              <a:chExt cx="1384" cy="839"/>
            </a:xfrm>
          </p:grpSpPr>
          <p:sp>
            <p:nvSpPr>
              <p:cNvPr id="93" name="Oval 8"/>
              <p:cNvSpPr>
                <a:spLocks noChangeArrowheads="1"/>
              </p:cNvSpPr>
              <p:nvPr/>
            </p:nvSpPr>
            <p:spPr bwMode="auto">
              <a:xfrm>
                <a:off x="0" y="144"/>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a:latin typeface="Times New Roman" panose="02020603050405020304" pitchFamily="18" charset="0"/>
                  </a:rPr>
                  <a:t>v</a:t>
                </a:r>
                <a:r>
                  <a:rPr lang="en-US" altLang="zh-CN" sz="2400" baseline="-20000">
                    <a:latin typeface="Times New Roman" panose="02020603050405020304" pitchFamily="18" charset="0"/>
                  </a:rPr>
                  <a:t>0</a:t>
                </a:r>
              </a:p>
            </p:txBody>
          </p:sp>
          <p:sp>
            <p:nvSpPr>
              <p:cNvPr id="94" name="Oval 9"/>
              <p:cNvSpPr>
                <a:spLocks noChangeArrowheads="1"/>
              </p:cNvSpPr>
              <p:nvPr/>
            </p:nvSpPr>
            <p:spPr bwMode="auto">
              <a:xfrm>
                <a:off x="17" y="612"/>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a:latin typeface="Times New Roman" panose="02020603050405020304" pitchFamily="18" charset="0"/>
                  </a:rPr>
                  <a:t>v</a:t>
                </a:r>
                <a:r>
                  <a:rPr lang="en-US" altLang="zh-CN" sz="2400" baseline="-20000">
                    <a:latin typeface="Times New Roman" panose="02020603050405020304" pitchFamily="18" charset="0"/>
                  </a:rPr>
                  <a:t>1</a:t>
                </a:r>
              </a:p>
            </p:txBody>
          </p:sp>
          <p:sp>
            <p:nvSpPr>
              <p:cNvPr id="95" name="Oval 10"/>
              <p:cNvSpPr>
                <a:spLocks noChangeArrowheads="1"/>
              </p:cNvSpPr>
              <p:nvPr/>
            </p:nvSpPr>
            <p:spPr bwMode="auto">
              <a:xfrm>
                <a:off x="618" y="604"/>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a:latin typeface="Times New Roman" panose="02020603050405020304" pitchFamily="18" charset="0"/>
                  </a:rPr>
                  <a:t>v</a:t>
                </a:r>
                <a:r>
                  <a:rPr lang="en-US" altLang="zh-CN" sz="2400" baseline="-20000">
                    <a:latin typeface="Times New Roman" panose="02020603050405020304" pitchFamily="18" charset="0"/>
                  </a:rPr>
                  <a:t>2</a:t>
                </a:r>
              </a:p>
            </p:txBody>
          </p:sp>
          <p:sp>
            <p:nvSpPr>
              <p:cNvPr id="96" name="Oval 11"/>
              <p:cNvSpPr>
                <a:spLocks noChangeArrowheads="1"/>
              </p:cNvSpPr>
              <p:nvPr/>
            </p:nvSpPr>
            <p:spPr bwMode="auto">
              <a:xfrm>
                <a:off x="569" y="0"/>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a:latin typeface="Times New Roman" panose="02020603050405020304" pitchFamily="18" charset="0"/>
                  </a:rPr>
                  <a:t>v</a:t>
                </a:r>
                <a:r>
                  <a:rPr lang="en-US" altLang="zh-CN" sz="2400" baseline="-20000">
                    <a:latin typeface="Times New Roman" panose="02020603050405020304" pitchFamily="18" charset="0"/>
                  </a:rPr>
                  <a:t>3</a:t>
                </a:r>
              </a:p>
            </p:txBody>
          </p:sp>
          <p:sp>
            <p:nvSpPr>
              <p:cNvPr id="97" name="Line 12"/>
              <p:cNvSpPr>
                <a:spLocks noChangeShapeType="1"/>
              </p:cNvSpPr>
              <p:nvPr/>
            </p:nvSpPr>
            <p:spPr bwMode="auto">
              <a:xfrm>
                <a:off x="144" y="379"/>
                <a:ext cx="0" cy="242"/>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8" name="Line 13"/>
              <p:cNvSpPr>
                <a:spLocks noChangeShapeType="1"/>
              </p:cNvSpPr>
              <p:nvPr/>
            </p:nvSpPr>
            <p:spPr bwMode="auto">
              <a:xfrm>
                <a:off x="744" y="223"/>
                <a:ext cx="0" cy="385"/>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99" name="Line 14"/>
              <p:cNvSpPr>
                <a:spLocks noChangeShapeType="1"/>
              </p:cNvSpPr>
              <p:nvPr/>
            </p:nvSpPr>
            <p:spPr bwMode="auto">
              <a:xfrm>
                <a:off x="262" y="324"/>
                <a:ext cx="380" cy="32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0" name="Line 15"/>
              <p:cNvSpPr>
                <a:spLocks noChangeShapeType="1"/>
              </p:cNvSpPr>
              <p:nvPr/>
            </p:nvSpPr>
            <p:spPr bwMode="auto">
              <a:xfrm flipV="1">
                <a:off x="294" y="144"/>
                <a:ext cx="282" cy="1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1" name="Line 16"/>
              <p:cNvSpPr>
                <a:spLocks noChangeShapeType="1"/>
              </p:cNvSpPr>
              <p:nvPr/>
            </p:nvSpPr>
            <p:spPr bwMode="auto">
              <a:xfrm>
                <a:off x="310" y="729"/>
                <a:ext cx="31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2" name="Oval 17"/>
              <p:cNvSpPr>
                <a:spLocks noChangeArrowheads="1"/>
              </p:cNvSpPr>
              <p:nvPr/>
            </p:nvSpPr>
            <p:spPr bwMode="auto">
              <a:xfrm>
                <a:off x="1089" y="333"/>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a:latin typeface="Times New Roman" panose="02020603050405020304" pitchFamily="18" charset="0"/>
                  </a:rPr>
                  <a:t>v</a:t>
                </a:r>
                <a:r>
                  <a:rPr lang="en-US" altLang="zh-CN" sz="2400" baseline="-20000">
                    <a:latin typeface="Times New Roman" panose="02020603050405020304" pitchFamily="18" charset="0"/>
                  </a:rPr>
                  <a:t>4</a:t>
                </a:r>
              </a:p>
            </p:txBody>
          </p:sp>
          <p:sp>
            <p:nvSpPr>
              <p:cNvPr id="103" name="Line 18"/>
              <p:cNvSpPr>
                <a:spLocks noChangeShapeType="1"/>
              </p:cNvSpPr>
              <p:nvPr/>
            </p:nvSpPr>
            <p:spPr bwMode="auto">
              <a:xfrm>
                <a:off x="864" y="144"/>
                <a:ext cx="336"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4" name="Line 19"/>
              <p:cNvSpPr>
                <a:spLocks noChangeShapeType="1"/>
              </p:cNvSpPr>
              <p:nvPr/>
            </p:nvSpPr>
            <p:spPr bwMode="auto">
              <a:xfrm flipV="1">
                <a:off x="912" y="536"/>
                <a:ext cx="240"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 name="Group 20"/>
            <p:cNvGrpSpPr/>
            <p:nvPr/>
          </p:nvGrpSpPr>
          <p:grpSpPr bwMode="auto">
            <a:xfrm>
              <a:off x="1089" y="0"/>
              <a:ext cx="4037" cy="1865"/>
              <a:chOff x="0" y="0"/>
              <a:chExt cx="4037" cy="1865"/>
            </a:xfrm>
          </p:grpSpPr>
          <p:sp>
            <p:nvSpPr>
              <p:cNvPr id="8" name="Rectangle 21"/>
              <p:cNvSpPr>
                <a:spLocks noChangeArrowheads="1"/>
              </p:cNvSpPr>
              <p:nvPr/>
            </p:nvSpPr>
            <p:spPr bwMode="auto">
              <a:xfrm>
                <a:off x="769" y="17"/>
                <a:ext cx="226" cy="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lnSpc>
                    <a:spcPct val="110000"/>
                  </a:lnSpc>
                </a:pPr>
                <a:r>
                  <a:rPr lang="en-US" altLang="zh-CN" sz="2400" b="1">
                    <a:latin typeface="Times New Roman" panose="02020603050405020304" pitchFamily="18" charset="0"/>
                  </a:rPr>
                  <a:t>0</a:t>
                </a:r>
              </a:p>
              <a:p>
                <a:pPr eaLnBrk="1" hangingPunct="1">
                  <a:lnSpc>
                    <a:spcPct val="110000"/>
                  </a:lnSpc>
                </a:pPr>
                <a:r>
                  <a:rPr lang="en-US" altLang="zh-CN" sz="2400" b="1">
                    <a:latin typeface="Times New Roman" panose="02020603050405020304" pitchFamily="18" charset="0"/>
                  </a:rPr>
                  <a:t>1</a:t>
                </a:r>
              </a:p>
              <a:p>
                <a:pPr eaLnBrk="1" hangingPunct="1">
                  <a:lnSpc>
                    <a:spcPct val="110000"/>
                  </a:lnSpc>
                </a:pPr>
                <a:r>
                  <a:rPr lang="en-US" altLang="zh-CN" sz="2400" b="1">
                    <a:latin typeface="Times New Roman" panose="02020603050405020304" pitchFamily="18" charset="0"/>
                  </a:rPr>
                  <a:t>2</a:t>
                </a:r>
              </a:p>
              <a:p>
                <a:pPr eaLnBrk="1" hangingPunct="1">
                  <a:lnSpc>
                    <a:spcPct val="110000"/>
                  </a:lnSpc>
                </a:pPr>
                <a:r>
                  <a:rPr lang="en-US" altLang="zh-CN" sz="2400" b="1">
                    <a:latin typeface="Times New Roman" panose="02020603050405020304" pitchFamily="18" charset="0"/>
                  </a:rPr>
                  <a:t>3</a:t>
                </a:r>
              </a:p>
              <a:p>
                <a:pPr eaLnBrk="1" hangingPunct="1">
                  <a:lnSpc>
                    <a:spcPct val="110000"/>
                  </a:lnSpc>
                </a:pPr>
                <a:r>
                  <a:rPr lang="en-US" altLang="zh-CN" sz="2400" b="1">
                    <a:latin typeface="Times New Roman" panose="02020603050405020304" pitchFamily="18" charset="0"/>
                  </a:rPr>
                  <a:t>4</a:t>
                </a:r>
              </a:p>
            </p:txBody>
          </p:sp>
          <p:sp>
            <p:nvSpPr>
              <p:cNvPr id="9" name="Rectangle 22"/>
              <p:cNvSpPr>
                <a:spLocks noChangeArrowheads="1"/>
              </p:cNvSpPr>
              <p:nvPr/>
            </p:nvSpPr>
            <p:spPr bwMode="auto">
              <a:xfrm>
                <a:off x="0" y="1621"/>
                <a:ext cx="99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000" b="1">
                    <a:latin typeface="Times New Roman" panose="02020603050405020304" pitchFamily="18" charset="0"/>
                  </a:rPr>
                  <a:t>MAX_VEX-1</a:t>
                </a:r>
              </a:p>
            </p:txBody>
          </p:sp>
          <p:grpSp>
            <p:nvGrpSpPr>
              <p:cNvPr id="10" name="Group 23"/>
              <p:cNvGrpSpPr/>
              <p:nvPr/>
            </p:nvGrpSpPr>
            <p:grpSpPr bwMode="auto">
              <a:xfrm>
                <a:off x="998" y="24"/>
                <a:ext cx="590" cy="1841"/>
                <a:chOff x="0" y="0"/>
                <a:chExt cx="590" cy="1841"/>
              </a:xfrm>
            </p:grpSpPr>
            <p:grpSp>
              <p:nvGrpSpPr>
                <p:cNvPr id="72" name="Group 24"/>
                <p:cNvGrpSpPr/>
                <p:nvPr/>
              </p:nvGrpSpPr>
              <p:grpSpPr bwMode="auto">
                <a:xfrm>
                  <a:off x="0" y="0"/>
                  <a:ext cx="590" cy="262"/>
                  <a:chOff x="0" y="0"/>
                  <a:chExt cx="544" cy="226"/>
                </a:xfrm>
              </p:grpSpPr>
              <p:sp>
                <p:nvSpPr>
                  <p:cNvPr id="91" name="Rectangle 25"/>
                  <p:cNvSpPr>
                    <a:spLocks noChangeArrowheads="1"/>
                  </p:cNvSpPr>
                  <p:nvPr/>
                </p:nvSpPr>
                <p:spPr bwMode="auto">
                  <a:xfrm>
                    <a:off x="0" y="0"/>
                    <a:ext cx="54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0000">
                        <a:latin typeface="Times New Roman" panose="02020603050405020304" pitchFamily="18" charset="0"/>
                      </a:rPr>
                      <a:t>0</a:t>
                    </a:r>
                    <a:r>
                      <a:rPr lang="en-US" altLang="zh-CN" sz="2400" b="1">
                        <a:latin typeface="Times New Roman" panose="02020603050405020304" pitchFamily="18" charset="0"/>
                      </a:rPr>
                      <a:t>       </a:t>
                    </a:r>
                  </a:p>
                </p:txBody>
              </p:sp>
              <p:sp>
                <p:nvSpPr>
                  <p:cNvPr id="92" name="Line 26"/>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3" name="Group 27"/>
                <p:cNvGrpSpPr/>
                <p:nvPr/>
              </p:nvGrpSpPr>
              <p:grpSpPr bwMode="auto">
                <a:xfrm>
                  <a:off x="0" y="263"/>
                  <a:ext cx="590" cy="263"/>
                  <a:chOff x="0" y="0"/>
                  <a:chExt cx="544" cy="226"/>
                </a:xfrm>
              </p:grpSpPr>
              <p:sp>
                <p:nvSpPr>
                  <p:cNvPr id="89" name="Rectangle 28"/>
                  <p:cNvSpPr>
                    <a:spLocks noChangeArrowheads="1"/>
                  </p:cNvSpPr>
                  <p:nvPr/>
                </p:nvSpPr>
                <p:spPr bwMode="auto">
                  <a:xfrm>
                    <a:off x="0" y="0"/>
                    <a:ext cx="54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0000">
                        <a:latin typeface="Times New Roman" panose="02020603050405020304" pitchFamily="18" charset="0"/>
                      </a:rPr>
                      <a:t>1</a:t>
                    </a:r>
                    <a:endParaRPr lang="en-US" altLang="zh-CN" sz="2400" b="1">
                      <a:latin typeface="Times New Roman" panose="02020603050405020304" pitchFamily="18" charset="0"/>
                    </a:endParaRPr>
                  </a:p>
                </p:txBody>
              </p:sp>
              <p:sp>
                <p:nvSpPr>
                  <p:cNvPr id="90" name="Line 29"/>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4" name="Group 30"/>
                <p:cNvGrpSpPr/>
                <p:nvPr/>
              </p:nvGrpSpPr>
              <p:grpSpPr bwMode="auto">
                <a:xfrm>
                  <a:off x="0" y="527"/>
                  <a:ext cx="590" cy="262"/>
                  <a:chOff x="0" y="0"/>
                  <a:chExt cx="544" cy="226"/>
                </a:xfrm>
              </p:grpSpPr>
              <p:sp>
                <p:nvSpPr>
                  <p:cNvPr id="87" name="Rectangle 31"/>
                  <p:cNvSpPr>
                    <a:spLocks noChangeArrowheads="1"/>
                  </p:cNvSpPr>
                  <p:nvPr/>
                </p:nvSpPr>
                <p:spPr bwMode="auto">
                  <a:xfrm>
                    <a:off x="0" y="0"/>
                    <a:ext cx="54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0000">
                        <a:latin typeface="Times New Roman" panose="02020603050405020304" pitchFamily="18" charset="0"/>
                      </a:rPr>
                      <a:t>2</a:t>
                    </a:r>
                    <a:r>
                      <a:rPr lang="en-US" altLang="zh-CN" sz="2400" b="1">
                        <a:latin typeface="Times New Roman" panose="02020603050405020304" pitchFamily="18" charset="0"/>
                      </a:rPr>
                      <a:t>       </a:t>
                    </a:r>
                  </a:p>
                </p:txBody>
              </p:sp>
              <p:sp>
                <p:nvSpPr>
                  <p:cNvPr id="88" name="Line 32"/>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5" name="Group 33"/>
                <p:cNvGrpSpPr/>
                <p:nvPr/>
              </p:nvGrpSpPr>
              <p:grpSpPr bwMode="auto">
                <a:xfrm>
                  <a:off x="0" y="790"/>
                  <a:ext cx="590" cy="262"/>
                  <a:chOff x="0" y="0"/>
                  <a:chExt cx="544" cy="226"/>
                </a:xfrm>
              </p:grpSpPr>
              <p:sp>
                <p:nvSpPr>
                  <p:cNvPr id="85" name="Rectangle 34"/>
                  <p:cNvSpPr>
                    <a:spLocks noChangeArrowheads="1"/>
                  </p:cNvSpPr>
                  <p:nvPr/>
                </p:nvSpPr>
                <p:spPr bwMode="auto">
                  <a:xfrm>
                    <a:off x="0" y="0"/>
                    <a:ext cx="54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0000">
                        <a:latin typeface="Times New Roman" panose="02020603050405020304" pitchFamily="18" charset="0"/>
                      </a:rPr>
                      <a:t>3</a:t>
                    </a:r>
                    <a:endParaRPr lang="en-US" altLang="zh-CN" sz="2400" b="1">
                      <a:latin typeface="Times New Roman" panose="02020603050405020304" pitchFamily="18" charset="0"/>
                    </a:endParaRPr>
                  </a:p>
                </p:txBody>
              </p:sp>
              <p:sp>
                <p:nvSpPr>
                  <p:cNvPr id="86" name="Line 35"/>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6" name="Group 36"/>
                <p:cNvGrpSpPr/>
                <p:nvPr/>
              </p:nvGrpSpPr>
              <p:grpSpPr bwMode="auto">
                <a:xfrm>
                  <a:off x="0" y="1317"/>
                  <a:ext cx="590" cy="262"/>
                  <a:chOff x="0" y="0"/>
                  <a:chExt cx="544" cy="226"/>
                </a:xfrm>
              </p:grpSpPr>
              <p:sp>
                <p:nvSpPr>
                  <p:cNvPr id="83" name="Rectangle 37"/>
                  <p:cNvSpPr>
                    <a:spLocks noChangeArrowheads="1"/>
                  </p:cNvSpPr>
                  <p:nvPr/>
                </p:nvSpPr>
                <p:spPr bwMode="auto">
                  <a:xfrm>
                    <a:off x="0" y="0"/>
                    <a:ext cx="54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宋体" panose="02010600030101010101" pitchFamily="2" charset="-122"/>
                      </a:rPr>
                      <a:t>┇</a:t>
                    </a:r>
                    <a:r>
                      <a:rPr lang="en-US" altLang="zh-CN" sz="2400" b="1">
                        <a:latin typeface="Times New Roman" panose="02020603050405020304" pitchFamily="18" charset="0"/>
                      </a:rPr>
                      <a:t> ┇ </a:t>
                    </a:r>
                  </a:p>
                </p:txBody>
              </p:sp>
              <p:sp>
                <p:nvSpPr>
                  <p:cNvPr id="84" name="Line 38"/>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7" name="Group 39"/>
                <p:cNvGrpSpPr/>
                <p:nvPr/>
              </p:nvGrpSpPr>
              <p:grpSpPr bwMode="auto">
                <a:xfrm>
                  <a:off x="0" y="1579"/>
                  <a:ext cx="590" cy="262"/>
                  <a:chOff x="0" y="0"/>
                  <a:chExt cx="544" cy="226"/>
                </a:xfrm>
              </p:grpSpPr>
              <p:sp>
                <p:nvSpPr>
                  <p:cNvPr id="81" name="Rectangle 40"/>
                  <p:cNvSpPr>
                    <a:spLocks noChangeArrowheads="1"/>
                  </p:cNvSpPr>
                  <p:nvPr/>
                </p:nvSpPr>
                <p:spPr bwMode="auto">
                  <a:xfrm>
                    <a:off x="0" y="0"/>
                    <a:ext cx="544" cy="226"/>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latin typeface="Times New Roman" panose="02020603050405020304" pitchFamily="18" charset="0"/>
                    </a:endParaRPr>
                  </a:p>
                </p:txBody>
              </p:sp>
              <p:sp>
                <p:nvSpPr>
                  <p:cNvPr id="82" name="Line 41"/>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78" name="Group 42"/>
                <p:cNvGrpSpPr/>
                <p:nvPr/>
              </p:nvGrpSpPr>
              <p:grpSpPr bwMode="auto">
                <a:xfrm>
                  <a:off x="0" y="1053"/>
                  <a:ext cx="590" cy="263"/>
                  <a:chOff x="0" y="0"/>
                  <a:chExt cx="544" cy="226"/>
                </a:xfrm>
              </p:grpSpPr>
              <p:sp>
                <p:nvSpPr>
                  <p:cNvPr id="79" name="Rectangle 43"/>
                  <p:cNvSpPr>
                    <a:spLocks noChangeArrowheads="1"/>
                  </p:cNvSpPr>
                  <p:nvPr/>
                </p:nvSpPr>
                <p:spPr bwMode="auto">
                  <a:xfrm>
                    <a:off x="0" y="0"/>
                    <a:ext cx="544"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0000">
                        <a:latin typeface="Times New Roman" panose="02020603050405020304" pitchFamily="18" charset="0"/>
                      </a:rPr>
                      <a:t>4</a:t>
                    </a:r>
                    <a:r>
                      <a:rPr lang="en-US" altLang="zh-CN" sz="2400" b="1">
                        <a:latin typeface="Times New Roman" panose="02020603050405020304" pitchFamily="18" charset="0"/>
                      </a:rPr>
                      <a:t>       </a:t>
                    </a:r>
                  </a:p>
                </p:txBody>
              </p:sp>
              <p:sp>
                <p:nvSpPr>
                  <p:cNvPr id="80" name="Line 44"/>
                  <p:cNvSpPr>
                    <a:spLocks noChangeShapeType="1"/>
                  </p:cNvSpPr>
                  <p:nvPr/>
                </p:nvSpPr>
                <p:spPr bwMode="auto">
                  <a:xfrm>
                    <a:off x="293"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11" name="Group 45"/>
              <p:cNvGrpSpPr/>
              <p:nvPr/>
            </p:nvGrpSpPr>
            <p:grpSpPr bwMode="auto">
              <a:xfrm>
                <a:off x="1451" y="0"/>
                <a:ext cx="1983" cy="235"/>
                <a:chOff x="0" y="0"/>
                <a:chExt cx="1983" cy="235"/>
              </a:xfrm>
            </p:grpSpPr>
            <p:grpSp>
              <p:nvGrpSpPr>
                <p:cNvPr id="60" name="Group 46"/>
                <p:cNvGrpSpPr/>
                <p:nvPr/>
              </p:nvGrpSpPr>
              <p:grpSpPr bwMode="auto">
                <a:xfrm>
                  <a:off x="905" y="0"/>
                  <a:ext cx="456" cy="226"/>
                  <a:chOff x="0" y="0"/>
                  <a:chExt cx="456" cy="226"/>
                </a:xfrm>
              </p:grpSpPr>
              <p:sp>
                <p:nvSpPr>
                  <p:cNvPr id="70" name="Rectangle 47"/>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2</a:t>
                    </a:r>
                  </a:p>
                </p:txBody>
              </p:sp>
              <p:sp>
                <p:nvSpPr>
                  <p:cNvPr id="71" name="Line 48"/>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1" name="Group 49"/>
                <p:cNvGrpSpPr/>
                <p:nvPr/>
              </p:nvGrpSpPr>
              <p:grpSpPr bwMode="auto">
                <a:xfrm>
                  <a:off x="275" y="1"/>
                  <a:ext cx="456" cy="226"/>
                  <a:chOff x="0" y="0"/>
                  <a:chExt cx="456" cy="226"/>
                </a:xfrm>
              </p:grpSpPr>
              <p:sp>
                <p:nvSpPr>
                  <p:cNvPr id="68" name="Rectangle 50"/>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1</a:t>
                    </a:r>
                  </a:p>
                </p:txBody>
              </p:sp>
              <p:sp>
                <p:nvSpPr>
                  <p:cNvPr id="69" name="Line 51"/>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62" name="Group 52"/>
                <p:cNvGrpSpPr/>
                <p:nvPr/>
              </p:nvGrpSpPr>
              <p:grpSpPr bwMode="auto">
                <a:xfrm>
                  <a:off x="1527" y="9"/>
                  <a:ext cx="456" cy="226"/>
                  <a:chOff x="0" y="0"/>
                  <a:chExt cx="456" cy="226"/>
                </a:xfrm>
              </p:grpSpPr>
              <p:sp>
                <p:nvSpPr>
                  <p:cNvPr id="66" name="Rectangle 53"/>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67" name="Line 54"/>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63" name="Line 55"/>
                <p:cNvSpPr>
                  <a:spLocks noChangeShapeType="1"/>
                </p:cNvSpPr>
                <p:nvPr/>
              </p:nvSpPr>
              <p:spPr bwMode="auto">
                <a:xfrm>
                  <a:off x="0"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4" name="Line 56"/>
                <p:cNvSpPr>
                  <a:spLocks noChangeShapeType="1"/>
                </p:cNvSpPr>
                <p:nvPr/>
              </p:nvSpPr>
              <p:spPr bwMode="auto">
                <a:xfrm>
                  <a:off x="630" y="129"/>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5" name="Line 57"/>
                <p:cNvSpPr>
                  <a:spLocks noChangeShapeType="1"/>
                </p:cNvSpPr>
                <p:nvPr/>
              </p:nvSpPr>
              <p:spPr bwMode="auto">
                <a:xfrm>
                  <a:off x="1255"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2" name="Group 58"/>
              <p:cNvGrpSpPr/>
              <p:nvPr/>
            </p:nvGrpSpPr>
            <p:grpSpPr bwMode="auto">
              <a:xfrm>
                <a:off x="1451" y="281"/>
                <a:ext cx="1353" cy="235"/>
                <a:chOff x="0" y="0"/>
                <a:chExt cx="1353" cy="235"/>
              </a:xfrm>
            </p:grpSpPr>
            <p:grpSp>
              <p:nvGrpSpPr>
                <p:cNvPr id="52" name="Group 59"/>
                <p:cNvGrpSpPr/>
                <p:nvPr/>
              </p:nvGrpSpPr>
              <p:grpSpPr bwMode="auto">
                <a:xfrm>
                  <a:off x="275" y="0"/>
                  <a:ext cx="456" cy="226"/>
                  <a:chOff x="0" y="0"/>
                  <a:chExt cx="456" cy="226"/>
                </a:xfrm>
              </p:grpSpPr>
              <p:sp>
                <p:nvSpPr>
                  <p:cNvPr id="58" name="Rectangle 60"/>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0</a:t>
                    </a:r>
                  </a:p>
                </p:txBody>
              </p:sp>
              <p:sp>
                <p:nvSpPr>
                  <p:cNvPr id="59" name="Line 61"/>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3" name="Group 62"/>
                <p:cNvGrpSpPr/>
                <p:nvPr/>
              </p:nvGrpSpPr>
              <p:grpSpPr bwMode="auto">
                <a:xfrm>
                  <a:off x="897" y="9"/>
                  <a:ext cx="456" cy="226"/>
                  <a:chOff x="0" y="0"/>
                  <a:chExt cx="456" cy="226"/>
                </a:xfrm>
              </p:grpSpPr>
              <p:sp>
                <p:nvSpPr>
                  <p:cNvPr id="56" name="Rectangle 63"/>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2</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57" name="Line 64"/>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54" name="Line 65"/>
                <p:cNvSpPr>
                  <a:spLocks noChangeShapeType="1"/>
                </p:cNvSpPr>
                <p:nvPr/>
              </p:nvSpPr>
              <p:spPr bwMode="auto">
                <a:xfrm>
                  <a:off x="0" y="129"/>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5" name="Line 66"/>
                <p:cNvSpPr>
                  <a:spLocks noChangeShapeType="1"/>
                </p:cNvSpPr>
                <p:nvPr/>
              </p:nvSpPr>
              <p:spPr bwMode="auto">
                <a:xfrm>
                  <a:off x="625"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3" name="Group 67"/>
              <p:cNvGrpSpPr/>
              <p:nvPr/>
            </p:nvGrpSpPr>
            <p:grpSpPr bwMode="auto">
              <a:xfrm>
                <a:off x="1451" y="569"/>
                <a:ext cx="2586" cy="235"/>
                <a:chOff x="0" y="0"/>
                <a:chExt cx="2586" cy="235"/>
              </a:xfrm>
            </p:grpSpPr>
            <p:grpSp>
              <p:nvGrpSpPr>
                <p:cNvPr id="36" name="Group 68"/>
                <p:cNvGrpSpPr/>
                <p:nvPr/>
              </p:nvGrpSpPr>
              <p:grpSpPr bwMode="auto">
                <a:xfrm>
                  <a:off x="275" y="0"/>
                  <a:ext cx="456" cy="226"/>
                  <a:chOff x="0" y="0"/>
                  <a:chExt cx="456" cy="226"/>
                </a:xfrm>
              </p:grpSpPr>
              <p:sp>
                <p:nvSpPr>
                  <p:cNvPr id="50" name="Rectangle 69"/>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0</a:t>
                    </a:r>
                  </a:p>
                </p:txBody>
              </p:sp>
              <p:sp>
                <p:nvSpPr>
                  <p:cNvPr id="51" name="Line 70"/>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7" name="Line 71"/>
                <p:cNvSpPr>
                  <a:spLocks noChangeShapeType="1"/>
                </p:cNvSpPr>
                <p:nvPr/>
              </p:nvSpPr>
              <p:spPr bwMode="auto">
                <a:xfrm>
                  <a:off x="0" y="123"/>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38" name="Group 72"/>
                <p:cNvGrpSpPr/>
                <p:nvPr/>
              </p:nvGrpSpPr>
              <p:grpSpPr bwMode="auto">
                <a:xfrm>
                  <a:off x="1508" y="0"/>
                  <a:ext cx="456" cy="226"/>
                  <a:chOff x="0" y="0"/>
                  <a:chExt cx="456" cy="226"/>
                </a:xfrm>
              </p:grpSpPr>
              <p:sp>
                <p:nvSpPr>
                  <p:cNvPr id="48" name="Rectangle 73"/>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p>
                </p:txBody>
              </p:sp>
              <p:sp>
                <p:nvSpPr>
                  <p:cNvPr id="49" name="Line 74"/>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39" name="Group 75"/>
                <p:cNvGrpSpPr/>
                <p:nvPr/>
              </p:nvGrpSpPr>
              <p:grpSpPr bwMode="auto">
                <a:xfrm>
                  <a:off x="878" y="1"/>
                  <a:ext cx="456" cy="226"/>
                  <a:chOff x="0" y="0"/>
                  <a:chExt cx="456" cy="226"/>
                </a:xfrm>
              </p:grpSpPr>
              <p:sp>
                <p:nvSpPr>
                  <p:cNvPr id="46" name="Rectangle 76"/>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b="1">
                        <a:latin typeface="Arial" panose="020B0604020202020204" pitchFamily="34" charset="0"/>
                      </a:rPr>
                      <a:t>v</a:t>
                    </a:r>
                    <a:r>
                      <a:rPr lang="en-US" altLang="zh-CN" b="1" baseline="-25000">
                        <a:latin typeface="Arial" panose="020B0604020202020204" pitchFamily="34" charset="0"/>
                      </a:rPr>
                      <a:t>1</a:t>
                    </a:r>
                  </a:p>
                </p:txBody>
              </p:sp>
              <p:sp>
                <p:nvSpPr>
                  <p:cNvPr id="47" name="Line 77"/>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0" name="Group 78"/>
                <p:cNvGrpSpPr/>
                <p:nvPr/>
              </p:nvGrpSpPr>
              <p:grpSpPr bwMode="auto">
                <a:xfrm>
                  <a:off x="2130" y="9"/>
                  <a:ext cx="456" cy="226"/>
                  <a:chOff x="0" y="0"/>
                  <a:chExt cx="456" cy="226"/>
                </a:xfrm>
              </p:grpSpPr>
              <p:sp>
                <p:nvSpPr>
                  <p:cNvPr id="44" name="Rectangle 79"/>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4</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45" name="Line 80"/>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41" name="Line 81"/>
                <p:cNvSpPr>
                  <a:spLocks noChangeShapeType="1"/>
                </p:cNvSpPr>
                <p:nvPr/>
              </p:nvSpPr>
              <p:spPr bwMode="auto">
                <a:xfrm>
                  <a:off x="603"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2" name="Line 82"/>
                <p:cNvSpPr>
                  <a:spLocks noChangeShapeType="1"/>
                </p:cNvSpPr>
                <p:nvPr/>
              </p:nvSpPr>
              <p:spPr bwMode="auto">
                <a:xfrm>
                  <a:off x="1233" y="129"/>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83"/>
                <p:cNvSpPr>
                  <a:spLocks noChangeShapeType="1"/>
                </p:cNvSpPr>
                <p:nvPr/>
              </p:nvSpPr>
              <p:spPr bwMode="auto">
                <a:xfrm>
                  <a:off x="1858"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4" name="Group 84"/>
              <p:cNvGrpSpPr/>
              <p:nvPr/>
            </p:nvGrpSpPr>
            <p:grpSpPr bwMode="auto">
              <a:xfrm>
                <a:off x="1451" y="855"/>
                <a:ext cx="1983" cy="235"/>
                <a:chOff x="0" y="0"/>
                <a:chExt cx="1983" cy="235"/>
              </a:xfrm>
            </p:grpSpPr>
            <p:grpSp>
              <p:nvGrpSpPr>
                <p:cNvPr id="24" name="Group 85"/>
                <p:cNvGrpSpPr/>
                <p:nvPr/>
              </p:nvGrpSpPr>
              <p:grpSpPr bwMode="auto">
                <a:xfrm>
                  <a:off x="905" y="0"/>
                  <a:ext cx="456" cy="226"/>
                  <a:chOff x="0" y="0"/>
                  <a:chExt cx="456" cy="226"/>
                </a:xfrm>
              </p:grpSpPr>
              <p:sp>
                <p:nvSpPr>
                  <p:cNvPr id="34" name="Rectangle 86"/>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2</a:t>
                    </a:r>
                  </a:p>
                </p:txBody>
              </p:sp>
              <p:sp>
                <p:nvSpPr>
                  <p:cNvPr id="35" name="Line 87"/>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5" name="Group 88"/>
                <p:cNvGrpSpPr/>
                <p:nvPr/>
              </p:nvGrpSpPr>
              <p:grpSpPr bwMode="auto">
                <a:xfrm>
                  <a:off x="275" y="1"/>
                  <a:ext cx="456" cy="226"/>
                  <a:chOff x="0" y="0"/>
                  <a:chExt cx="456" cy="226"/>
                </a:xfrm>
              </p:grpSpPr>
              <p:sp>
                <p:nvSpPr>
                  <p:cNvPr id="32" name="Rectangle 89"/>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0</a:t>
                    </a:r>
                  </a:p>
                </p:txBody>
              </p:sp>
              <p:sp>
                <p:nvSpPr>
                  <p:cNvPr id="33" name="Line 90"/>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6" name="Group 91"/>
                <p:cNvGrpSpPr/>
                <p:nvPr/>
              </p:nvGrpSpPr>
              <p:grpSpPr bwMode="auto">
                <a:xfrm>
                  <a:off x="1527" y="9"/>
                  <a:ext cx="456" cy="226"/>
                  <a:chOff x="0" y="0"/>
                  <a:chExt cx="456" cy="226"/>
                </a:xfrm>
              </p:grpSpPr>
              <p:sp>
                <p:nvSpPr>
                  <p:cNvPr id="30" name="Rectangle 92"/>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4</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31" name="Line 93"/>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27" name="Line 94"/>
                <p:cNvSpPr>
                  <a:spLocks noChangeShapeType="1"/>
                </p:cNvSpPr>
                <p:nvPr/>
              </p:nvSpPr>
              <p:spPr bwMode="auto">
                <a:xfrm>
                  <a:off x="0"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Line 95"/>
                <p:cNvSpPr>
                  <a:spLocks noChangeShapeType="1"/>
                </p:cNvSpPr>
                <p:nvPr/>
              </p:nvSpPr>
              <p:spPr bwMode="auto">
                <a:xfrm>
                  <a:off x="630" y="129"/>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9" name="Line 96"/>
                <p:cNvSpPr>
                  <a:spLocks noChangeShapeType="1"/>
                </p:cNvSpPr>
                <p:nvPr/>
              </p:nvSpPr>
              <p:spPr bwMode="auto">
                <a:xfrm>
                  <a:off x="1255"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 name="Group 97"/>
              <p:cNvGrpSpPr/>
              <p:nvPr/>
            </p:nvGrpSpPr>
            <p:grpSpPr bwMode="auto">
              <a:xfrm>
                <a:off x="1451" y="1127"/>
                <a:ext cx="1353" cy="235"/>
                <a:chOff x="0" y="0"/>
                <a:chExt cx="1353" cy="235"/>
              </a:xfrm>
            </p:grpSpPr>
            <p:grpSp>
              <p:nvGrpSpPr>
                <p:cNvPr id="16" name="Group 98"/>
                <p:cNvGrpSpPr/>
                <p:nvPr/>
              </p:nvGrpSpPr>
              <p:grpSpPr bwMode="auto">
                <a:xfrm>
                  <a:off x="275" y="0"/>
                  <a:ext cx="456" cy="226"/>
                  <a:chOff x="0" y="0"/>
                  <a:chExt cx="456" cy="226"/>
                </a:xfrm>
              </p:grpSpPr>
              <p:sp>
                <p:nvSpPr>
                  <p:cNvPr id="22" name="Rectangle 99"/>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2</a:t>
                    </a:r>
                  </a:p>
                </p:txBody>
              </p:sp>
              <p:sp>
                <p:nvSpPr>
                  <p:cNvPr id="23" name="Line 100"/>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7" name="Group 101"/>
                <p:cNvGrpSpPr/>
                <p:nvPr/>
              </p:nvGrpSpPr>
              <p:grpSpPr bwMode="auto">
                <a:xfrm>
                  <a:off x="897" y="9"/>
                  <a:ext cx="456" cy="226"/>
                  <a:chOff x="0" y="0"/>
                  <a:chExt cx="456" cy="226"/>
                </a:xfrm>
              </p:grpSpPr>
              <p:sp>
                <p:nvSpPr>
                  <p:cNvPr id="20" name="Rectangle 102"/>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1" name="Line 103"/>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8" name="Line 104"/>
                <p:cNvSpPr>
                  <a:spLocks noChangeShapeType="1"/>
                </p:cNvSpPr>
                <p:nvPr/>
              </p:nvSpPr>
              <p:spPr bwMode="auto">
                <a:xfrm>
                  <a:off x="0" y="113"/>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05"/>
                <p:cNvSpPr>
                  <a:spLocks noChangeShapeType="1"/>
                </p:cNvSpPr>
                <p:nvPr/>
              </p:nvSpPr>
              <p:spPr bwMode="auto">
                <a:xfrm>
                  <a:off x="627" y="109"/>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3" name="Group 2"/>
          <p:cNvGrpSpPr/>
          <p:nvPr/>
        </p:nvGrpSpPr>
        <p:grpSpPr bwMode="auto">
          <a:xfrm>
            <a:off x="-22225" y="908720"/>
            <a:ext cx="9166225" cy="5960393"/>
            <a:chOff x="0" y="0"/>
            <a:chExt cx="5692" cy="4144"/>
          </a:xfrm>
        </p:grpSpPr>
        <p:grpSp>
          <p:nvGrpSpPr>
            <p:cNvPr id="38914" name="Group 3"/>
            <p:cNvGrpSpPr/>
            <p:nvPr/>
          </p:nvGrpSpPr>
          <p:grpSpPr bwMode="auto">
            <a:xfrm>
              <a:off x="657" y="311"/>
              <a:ext cx="1384" cy="1091"/>
              <a:chOff x="0" y="0"/>
              <a:chExt cx="1384" cy="1091"/>
            </a:xfrm>
          </p:grpSpPr>
          <p:sp>
            <p:nvSpPr>
              <p:cNvPr id="28810" name="Rectangle 4"/>
              <p:cNvSpPr>
                <a:spLocks noChangeArrowheads="1"/>
              </p:cNvSpPr>
              <p:nvPr/>
            </p:nvSpPr>
            <p:spPr bwMode="auto">
              <a:xfrm>
                <a:off x="237" y="887"/>
                <a:ext cx="907"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000" b="1">
                    <a:latin typeface="Times New Roman" panose="02020603050405020304" pitchFamily="18" charset="0"/>
                  </a:rPr>
                  <a:t>(a)   </a:t>
                </a:r>
              </a:p>
            </p:txBody>
          </p:sp>
          <p:grpSp>
            <p:nvGrpSpPr>
              <p:cNvPr id="39050" name="Group 5"/>
              <p:cNvGrpSpPr/>
              <p:nvPr/>
            </p:nvGrpSpPr>
            <p:grpSpPr bwMode="auto">
              <a:xfrm>
                <a:off x="0" y="0"/>
                <a:ext cx="1384" cy="839"/>
                <a:chOff x="0" y="0"/>
                <a:chExt cx="1384" cy="839"/>
              </a:xfrm>
            </p:grpSpPr>
            <p:sp>
              <p:nvSpPr>
                <p:cNvPr id="28812" name="Oval 6"/>
                <p:cNvSpPr>
                  <a:spLocks noChangeArrowheads="1"/>
                </p:cNvSpPr>
                <p:nvPr/>
              </p:nvSpPr>
              <p:spPr bwMode="auto">
                <a:xfrm>
                  <a:off x="0" y="144"/>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a:latin typeface="Times New Roman" panose="02020603050405020304" pitchFamily="18" charset="0"/>
                    </a:rPr>
                    <a:t>v</a:t>
                  </a:r>
                  <a:r>
                    <a:rPr lang="en-US" altLang="zh-CN" sz="2400" baseline="-20000">
                      <a:latin typeface="Times New Roman" panose="02020603050405020304" pitchFamily="18" charset="0"/>
                    </a:rPr>
                    <a:t>1</a:t>
                  </a:r>
                </a:p>
              </p:txBody>
            </p:sp>
            <p:sp>
              <p:nvSpPr>
                <p:cNvPr id="28813" name="Oval 7"/>
                <p:cNvSpPr>
                  <a:spLocks noChangeArrowheads="1"/>
                </p:cNvSpPr>
                <p:nvPr/>
              </p:nvSpPr>
              <p:spPr bwMode="auto">
                <a:xfrm>
                  <a:off x="17" y="612"/>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a:latin typeface="Times New Roman" panose="02020603050405020304" pitchFamily="18" charset="0"/>
                    </a:rPr>
                    <a:t>v</a:t>
                  </a:r>
                  <a:r>
                    <a:rPr lang="en-US" altLang="zh-CN" sz="2400" baseline="-20000">
                      <a:latin typeface="Times New Roman" panose="02020603050405020304" pitchFamily="18" charset="0"/>
                    </a:rPr>
                    <a:t>2</a:t>
                  </a:r>
                </a:p>
              </p:txBody>
            </p:sp>
            <p:sp>
              <p:nvSpPr>
                <p:cNvPr id="28814" name="Oval 8"/>
                <p:cNvSpPr>
                  <a:spLocks noChangeArrowheads="1"/>
                </p:cNvSpPr>
                <p:nvPr/>
              </p:nvSpPr>
              <p:spPr bwMode="auto">
                <a:xfrm>
                  <a:off x="618" y="604"/>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a:latin typeface="Times New Roman" panose="02020603050405020304" pitchFamily="18" charset="0"/>
                    </a:rPr>
                    <a:t>v</a:t>
                  </a:r>
                  <a:r>
                    <a:rPr lang="en-US" altLang="zh-CN" sz="2400" baseline="-20000">
                      <a:latin typeface="Times New Roman" panose="02020603050405020304" pitchFamily="18" charset="0"/>
                    </a:rPr>
                    <a:t>3</a:t>
                  </a:r>
                </a:p>
              </p:txBody>
            </p:sp>
            <p:sp>
              <p:nvSpPr>
                <p:cNvPr id="28815" name="Oval 9"/>
                <p:cNvSpPr>
                  <a:spLocks noChangeArrowheads="1"/>
                </p:cNvSpPr>
                <p:nvPr/>
              </p:nvSpPr>
              <p:spPr bwMode="auto">
                <a:xfrm>
                  <a:off x="569" y="0"/>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a:latin typeface="Times New Roman" panose="02020603050405020304" pitchFamily="18" charset="0"/>
                    </a:rPr>
                    <a:t>v</a:t>
                  </a:r>
                  <a:r>
                    <a:rPr lang="en-US" altLang="zh-CN" sz="2400" baseline="-20000">
                      <a:latin typeface="Times New Roman" panose="02020603050405020304" pitchFamily="18" charset="0"/>
                    </a:rPr>
                    <a:t>4</a:t>
                  </a:r>
                </a:p>
              </p:txBody>
            </p:sp>
            <p:sp>
              <p:nvSpPr>
                <p:cNvPr id="28816" name="Line 10"/>
                <p:cNvSpPr>
                  <a:spLocks noChangeShapeType="1"/>
                </p:cNvSpPr>
                <p:nvPr/>
              </p:nvSpPr>
              <p:spPr bwMode="auto">
                <a:xfrm>
                  <a:off x="144" y="379"/>
                  <a:ext cx="0" cy="242"/>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17" name="Line 11"/>
                <p:cNvSpPr>
                  <a:spLocks noChangeShapeType="1"/>
                </p:cNvSpPr>
                <p:nvPr/>
              </p:nvSpPr>
              <p:spPr bwMode="auto">
                <a:xfrm>
                  <a:off x="744" y="223"/>
                  <a:ext cx="0" cy="385"/>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18" name="Line 12"/>
                <p:cNvSpPr>
                  <a:spLocks noChangeShapeType="1"/>
                </p:cNvSpPr>
                <p:nvPr/>
              </p:nvSpPr>
              <p:spPr bwMode="auto">
                <a:xfrm>
                  <a:off x="262" y="332"/>
                  <a:ext cx="380" cy="327"/>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19" name="Line 13"/>
                <p:cNvSpPr>
                  <a:spLocks noChangeShapeType="1"/>
                </p:cNvSpPr>
                <p:nvPr/>
              </p:nvSpPr>
              <p:spPr bwMode="auto">
                <a:xfrm flipV="1">
                  <a:off x="294" y="144"/>
                  <a:ext cx="282" cy="102"/>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20" name="Line 14"/>
                <p:cNvSpPr>
                  <a:spLocks noChangeShapeType="1"/>
                </p:cNvSpPr>
                <p:nvPr/>
              </p:nvSpPr>
              <p:spPr bwMode="auto">
                <a:xfrm>
                  <a:off x="310" y="729"/>
                  <a:ext cx="313" cy="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21" name="Oval 15"/>
                <p:cNvSpPr>
                  <a:spLocks noChangeArrowheads="1"/>
                </p:cNvSpPr>
                <p:nvPr/>
              </p:nvSpPr>
              <p:spPr bwMode="auto">
                <a:xfrm>
                  <a:off x="1089" y="333"/>
                  <a:ext cx="295" cy="227"/>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a:latin typeface="Times New Roman" panose="02020603050405020304" pitchFamily="18" charset="0"/>
                    </a:rPr>
                    <a:t>v</a:t>
                  </a:r>
                  <a:r>
                    <a:rPr lang="en-US" altLang="zh-CN" sz="2400" baseline="-20000">
                      <a:latin typeface="Times New Roman" panose="02020603050405020304" pitchFamily="18" charset="0"/>
                    </a:rPr>
                    <a:t>5</a:t>
                  </a:r>
                </a:p>
              </p:txBody>
            </p:sp>
            <p:sp>
              <p:nvSpPr>
                <p:cNvPr id="28822" name="Line 16"/>
                <p:cNvSpPr>
                  <a:spLocks noChangeShapeType="1"/>
                </p:cNvSpPr>
                <p:nvPr/>
              </p:nvSpPr>
              <p:spPr bwMode="auto">
                <a:xfrm>
                  <a:off x="864" y="144"/>
                  <a:ext cx="336" cy="192"/>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23" name="Line 17"/>
                <p:cNvSpPr>
                  <a:spLocks noChangeShapeType="1"/>
                </p:cNvSpPr>
                <p:nvPr/>
              </p:nvSpPr>
              <p:spPr bwMode="auto">
                <a:xfrm flipV="1">
                  <a:off x="912" y="536"/>
                  <a:ext cx="240" cy="192"/>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grpSp>
          <p:nvGrpSpPr>
            <p:cNvPr id="38915" name="Group 18"/>
            <p:cNvGrpSpPr/>
            <p:nvPr/>
          </p:nvGrpSpPr>
          <p:grpSpPr bwMode="auto">
            <a:xfrm>
              <a:off x="2061" y="0"/>
              <a:ext cx="3631" cy="2125"/>
              <a:chOff x="0" y="0"/>
              <a:chExt cx="3631" cy="2125"/>
            </a:xfrm>
          </p:grpSpPr>
          <p:grpSp>
            <p:nvGrpSpPr>
              <p:cNvPr id="38984" name="Group 19"/>
              <p:cNvGrpSpPr/>
              <p:nvPr/>
            </p:nvGrpSpPr>
            <p:grpSpPr bwMode="auto">
              <a:xfrm>
                <a:off x="0" y="0"/>
                <a:ext cx="3631" cy="1848"/>
                <a:chOff x="0" y="0"/>
                <a:chExt cx="3631" cy="1848"/>
              </a:xfrm>
            </p:grpSpPr>
            <p:grpSp>
              <p:nvGrpSpPr>
                <p:cNvPr id="38986" name="Group 20"/>
                <p:cNvGrpSpPr/>
                <p:nvPr/>
              </p:nvGrpSpPr>
              <p:grpSpPr bwMode="auto">
                <a:xfrm>
                  <a:off x="1678" y="0"/>
                  <a:ext cx="1364" cy="234"/>
                  <a:chOff x="0" y="0"/>
                  <a:chExt cx="1364" cy="234"/>
                </a:xfrm>
              </p:grpSpPr>
              <p:grpSp>
                <p:nvGrpSpPr>
                  <p:cNvPr id="39041" name="Group 21"/>
                  <p:cNvGrpSpPr/>
                  <p:nvPr/>
                </p:nvGrpSpPr>
                <p:grpSpPr bwMode="auto">
                  <a:xfrm>
                    <a:off x="275" y="0"/>
                    <a:ext cx="456" cy="226"/>
                    <a:chOff x="0" y="0"/>
                    <a:chExt cx="456" cy="226"/>
                  </a:xfrm>
                </p:grpSpPr>
                <p:sp>
                  <p:nvSpPr>
                    <p:cNvPr id="28808" name="Rectangle 22"/>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2</a:t>
                      </a:r>
                      <a:endParaRPr lang="en-US" altLang="zh-CN" sz="2400" b="1">
                        <a:latin typeface="Times New Roman" panose="02020603050405020304" pitchFamily="18" charset="0"/>
                      </a:endParaRPr>
                    </a:p>
                  </p:txBody>
                </p:sp>
                <p:sp>
                  <p:nvSpPr>
                    <p:cNvPr id="28809" name="Line 23"/>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9042" name="Group 24"/>
                  <p:cNvGrpSpPr/>
                  <p:nvPr/>
                </p:nvGrpSpPr>
                <p:grpSpPr bwMode="auto">
                  <a:xfrm>
                    <a:off x="908" y="8"/>
                    <a:ext cx="456" cy="226"/>
                    <a:chOff x="0" y="0"/>
                    <a:chExt cx="456" cy="226"/>
                  </a:xfrm>
                </p:grpSpPr>
                <p:sp>
                  <p:nvSpPr>
                    <p:cNvPr id="28806" name="Rectangle 25"/>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4</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807" name="Line 26"/>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804" name="Line 27"/>
                  <p:cNvSpPr>
                    <a:spLocks noChangeShapeType="1"/>
                  </p:cNvSpPr>
                  <p:nvPr/>
                </p:nvSpPr>
                <p:spPr bwMode="auto">
                  <a:xfrm>
                    <a:off x="0" y="123"/>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805" name="Line 28"/>
                  <p:cNvSpPr>
                    <a:spLocks noChangeShapeType="1"/>
                  </p:cNvSpPr>
                  <p:nvPr/>
                </p:nvSpPr>
                <p:spPr bwMode="auto">
                  <a:xfrm>
                    <a:off x="630" y="128"/>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87" name="Group 29"/>
                <p:cNvGrpSpPr/>
                <p:nvPr/>
              </p:nvGrpSpPr>
              <p:grpSpPr bwMode="auto">
                <a:xfrm>
                  <a:off x="1678" y="544"/>
                  <a:ext cx="1953" cy="235"/>
                  <a:chOff x="0" y="0"/>
                  <a:chExt cx="1953" cy="235"/>
                </a:xfrm>
              </p:grpSpPr>
              <p:grpSp>
                <p:nvGrpSpPr>
                  <p:cNvPr id="39029" name="Group 30"/>
                  <p:cNvGrpSpPr/>
                  <p:nvPr/>
                </p:nvGrpSpPr>
                <p:grpSpPr bwMode="auto">
                  <a:xfrm>
                    <a:off x="275" y="0"/>
                    <a:ext cx="456" cy="226"/>
                    <a:chOff x="0" y="0"/>
                    <a:chExt cx="456" cy="226"/>
                  </a:xfrm>
                </p:grpSpPr>
                <p:sp>
                  <p:nvSpPr>
                    <p:cNvPr id="28800" name="Rectangle 31"/>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1</a:t>
                      </a:r>
                      <a:endParaRPr lang="en-US" altLang="zh-CN" sz="2400" b="1">
                        <a:latin typeface="Times New Roman" panose="02020603050405020304" pitchFamily="18" charset="0"/>
                      </a:endParaRPr>
                    </a:p>
                  </p:txBody>
                </p:sp>
                <p:sp>
                  <p:nvSpPr>
                    <p:cNvPr id="28801" name="Line 32"/>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91" name="Line 33"/>
                  <p:cNvSpPr>
                    <a:spLocks noChangeShapeType="1"/>
                  </p:cNvSpPr>
                  <p:nvPr/>
                </p:nvSpPr>
                <p:spPr bwMode="auto">
                  <a:xfrm>
                    <a:off x="0" y="123"/>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nvGrpSpPr>
                  <p:cNvPr id="39031" name="Group 34"/>
                  <p:cNvGrpSpPr/>
                  <p:nvPr/>
                </p:nvGrpSpPr>
                <p:grpSpPr bwMode="auto">
                  <a:xfrm>
                    <a:off x="878" y="1"/>
                    <a:ext cx="456" cy="226"/>
                    <a:chOff x="0" y="0"/>
                    <a:chExt cx="456" cy="226"/>
                  </a:xfrm>
                </p:grpSpPr>
                <p:sp>
                  <p:nvSpPr>
                    <p:cNvPr id="28798" name="Rectangle 35"/>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2</a:t>
                      </a:r>
                      <a:endParaRPr lang="en-US" altLang="zh-CN" sz="2400" b="1">
                        <a:latin typeface="Times New Roman" panose="02020603050405020304" pitchFamily="18" charset="0"/>
                      </a:endParaRPr>
                    </a:p>
                  </p:txBody>
                </p:sp>
                <p:sp>
                  <p:nvSpPr>
                    <p:cNvPr id="28799" name="Line 36"/>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9032" name="Group 37"/>
                  <p:cNvGrpSpPr/>
                  <p:nvPr/>
                </p:nvGrpSpPr>
                <p:grpSpPr bwMode="auto">
                  <a:xfrm>
                    <a:off x="1497" y="9"/>
                    <a:ext cx="456" cy="226"/>
                    <a:chOff x="0" y="0"/>
                    <a:chExt cx="456" cy="226"/>
                  </a:xfrm>
                </p:grpSpPr>
                <p:sp>
                  <p:nvSpPr>
                    <p:cNvPr id="28796" name="Rectangle 38"/>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5</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97" name="Line 39"/>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94" name="Line 40"/>
                  <p:cNvSpPr>
                    <a:spLocks noChangeShapeType="1"/>
                  </p:cNvSpPr>
                  <p:nvPr/>
                </p:nvSpPr>
                <p:spPr bwMode="auto">
                  <a:xfrm>
                    <a:off x="603"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95" name="Line 41"/>
                  <p:cNvSpPr>
                    <a:spLocks noChangeShapeType="1"/>
                  </p:cNvSpPr>
                  <p:nvPr/>
                </p:nvSpPr>
                <p:spPr bwMode="auto">
                  <a:xfrm>
                    <a:off x="1225"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88" name="Group 42"/>
                <p:cNvGrpSpPr/>
                <p:nvPr/>
              </p:nvGrpSpPr>
              <p:grpSpPr bwMode="auto">
                <a:xfrm>
                  <a:off x="1678" y="831"/>
                  <a:ext cx="729" cy="226"/>
                  <a:chOff x="0" y="0"/>
                  <a:chExt cx="729" cy="226"/>
                </a:xfrm>
              </p:grpSpPr>
              <p:grpSp>
                <p:nvGrpSpPr>
                  <p:cNvPr id="39025" name="Group 43"/>
                  <p:cNvGrpSpPr/>
                  <p:nvPr/>
                </p:nvGrpSpPr>
                <p:grpSpPr bwMode="auto">
                  <a:xfrm>
                    <a:off x="273" y="0"/>
                    <a:ext cx="456" cy="226"/>
                    <a:chOff x="0" y="0"/>
                    <a:chExt cx="456" cy="226"/>
                  </a:xfrm>
                </p:grpSpPr>
                <p:sp>
                  <p:nvSpPr>
                    <p:cNvPr id="28788" name="Rectangle 44"/>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89" name="Line 45"/>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87" name="Line 46"/>
                  <p:cNvSpPr>
                    <a:spLocks noChangeShapeType="1"/>
                  </p:cNvSpPr>
                  <p:nvPr/>
                </p:nvSpPr>
                <p:spPr bwMode="auto">
                  <a:xfrm>
                    <a:off x="0" y="115"/>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89" name="Group 47"/>
                <p:cNvGrpSpPr/>
                <p:nvPr/>
              </p:nvGrpSpPr>
              <p:grpSpPr bwMode="auto">
                <a:xfrm>
                  <a:off x="1678" y="1103"/>
                  <a:ext cx="729" cy="226"/>
                  <a:chOff x="0" y="0"/>
                  <a:chExt cx="729" cy="226"/>
                </a:xfrm>
              </p:grpSpPr>
              <p:grpSp>
                <p:nvGrpSpPr>
                  <p:cNvPr id="39021" name="Group 48"/>
                  <p:cNvGrpSpPr/>
                  <p:nvPr/>
                </p:nvGrpSpPr>
                <p:grpSpPr bwMode="auto">
                  <a:xfrm>
                    <a:off x="273" y="0"/>
                    <a:ext cx="456" cy="226"/>
                    <a:chOff x="0" y="0"/>
                    <a:chExt cx="456" cy="226"/>
                  </a:xfrm>
                </p:grpSpPr>
                <p:sp>
                  <p:nvSpPr>
                    <p:cNvPr id="28784" name="Rectangle 49"/>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4</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85" name="Line 50"/>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83" name="Line 51"/>
                  <p:cNvSpPr>
                    <a:spLocks noChangeShapeType="1"/>
                  </p:cNvSpPr>
                  <p:nvPr/>
                </p:nvSpPr>
                <p:spPr bwMode="auto">
                  <a:xfrm>
                    <a:off x="0" y="120"/>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51" name="Rectangle 52"/>
                <p:cNvSpPr>
                  <a:spLocks noChangeArrowheads="1"/>
                </p:cNvSpPr>
                <p:nvPr/>
              </p:nvSpPr>
              <p:spPr bwMode="auto">
                <a:xfrm>
                  <a:off x="769" y="0"/>
                  <a:ext cx="226" cy="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defRPr/>
                  </a:pPr>
                  <a:r>
                    <a:rPr lang="en-US" altLang="zh-CN" sz="2400" b="1">
                      <a:latin typeface="Times New Roman" panose="02020603050405020304" pitchFamily="18" charset="0"/>
                    </a:rPr>
                    <a:t>0</a:t>
                  </a:r>
                </a:p>
                <a:p>
                  <a:pPr eaLnBrk="1" hangingPunct="1">
                    <a:lnSpc>
                      <a:spcPct val="110000"/>
                    </a:lnSpc>
                    <a:defRPr/>
                  </a:pPr>
                  <a:r>
                    <a:rPr lang="en-US" altLang="zh-CN" sz="2400" b="1">
                      <a:latin typeface="Times New Roman" panose="02020603050405020304" pitchFamily="18" charset="0"/>
                    </a:rPr>
                    <a:t>1</a:t>
                  </a:r>
                </a:p>
                <a:p>
                  <a:pPr eaLnBrk="1" hangingPunct="1">
                    <a:lnSpc>
                      <a:spcPct val="110000"/>
                    </a:lnSpc>
                    <a:defRPr/>
                  </a:pPr>
                  <a:r>
                    <a:rPr lang="en-US" altLang="zh-CN" sz="2400" b="1">
                      <a:latin typeface="Times New Roman" panose="02020603050405020304" pitchFamily="18" charset="0"/>
                    </a:rPr>
                    <a:t>2</a:t>
                  </a:r>
                </a:p>
                <a:p>
                  <a:pPr eaLnBrk="1" hangingPunct="1">
                    <a:lnSpc>
                      <a:spcPct val="110000"/>
                    </a:lnSpc>
                    <a:defRPr/>
                  </a:pPr>
                  <a:r>
                    <a:rPr lang="en-US" altLang="zh-CN" sz="2400" b="1">
                      <a:latin typeface="Times New Roman" panose="02020603050405020304" pitchFamily="18" charset="0"/>
                    </a:rPr>
                    <a:t>3</a:t>
                  </a:r>
                </a:p>
                <a:p>
                  <a:pPr eaLnBrk="1" hangingPunct="1">
                    <a:lnSpc>
                      <a:spcPct val="110000"/>
                    </a:lnSpc>
                    <a:defRPr/>
                  </a:pPr>
                  <a:r>
                    <a:rPr lang="en-US" altLang="zh-CN" sz="2400" b="1">
                      <a:latin typeface="Times New Roman" panose="02020603050405020304" pitchFamily="18" charset="0"/>
                    </a:rPr>
                    <a:t>4</a:t>
                  </a:r>
                </a:p>
              </p:txBody>
            </p:sp>
            <p:sp>
              <p:nvSpPr>
                <p:cNvPr id="28752" name="Rectangle 53"/>
                <p:cNvSpPr>
                  <a:spLocks noChangeArrowheads="1"/>
                </p:cNvSpPr>
                <p:nvPr/>
              </p:nvSpPr>
              <p:spPr bwMode="auto">
                <a:xfrm>
                  <a:off x="0" y="1604"/>
                  <a:ext cx="99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000" b="1">
                      <a:latin typeface="Times New Roman" panose="02020603050405020304" pitchFamily="18" charset="0"/>
                    </a:rPr>
                    <a:t>MAX_VEX-1</a:t>
                  </a:r>
                </a:p>
              </p:txBody>
            </p:sp>
            <p:grpSp>
              <p:nvGrpSpPr>
                <p:cNvPr id="38992" name="Group 54"/>
                <p:cNvGrpSpPr/>
                <p:nvPr/>
              </p:nvGrpSpPr>
              <p:grpSpPr bwMode="auto">
                <a:xfrm>
                  <a:off x="1043" y="7"/>
                  <a:ext cx="772" cy="1841"/>
                  <a:chOff x="0" y="0"/>
                  <a:chExt cx="772" cy="1841"/>
                </a:xfrm>
              </p:grpSpPr>
              <p:grpSp>
                <p:nvGrpSpPr>
                  <p:cNvPr id="38993" name="Group 55"/>
                  <p:cNvGrpSpPr/>
                  <p:nvPr/>
                </p:nvGrpSpPr>
                <p:grpSpPr bwMode="auto">
                  <a:xfrm>
                    <a:off x="0" y="0"/>
                    <a:ext cx="772" cy="262"/>
                    <a:chOff x="0" y="0"/>
                    <a:chExt cx="772" cy="262"/>
                  </a:xfrm>
                </p:grpSpPr>
                <p:sp>
                  <p:nvSpPr>
                    <p:cNvPr id="28779" name="Rectangle 56"/>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1</a:t>
                      </a:r>
                      <a:r>
                        <a:rPr lang="en-US" altLang="zh-CN" sz="2400" b="1">
                          <a:latin typeface="Times New Roman" panose="02020603050405020304" pitchFamily="18" charset="0"/>
                        </a:rPr>
                        <a:t>    2     </a:t>
                      </a:r>
                    </a:p>
                  </p:txBody>
                </p:sp>
                <p:sp>
                  <p:nvSpPr>
                    <p:cNvPr id="28780" name="Line 57"/>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81" name="Line 58"/>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94" name="Group 59"/>
                  <p:cNvGrpSpPr/>
                  <p:nvPr/>
                </p:nvGrpSpPr>
                <p:grpSpPr bwMode="auto">
                  <a:xfrm>
                    <a:off x="0" y="263"/>
                    <a:ext cx="772" cy="263"/>
                    <a:chOff x="0" y="0"/>
                    <a:chExt cx="772" cy="263"/>
                  </a:xfrm>
                </p:grpSpPr>
                <p:sp>
                  <p:nvSpPr>
                    <p:cNvPr id="28776" name="Rectangle 60"/>
                    <p:cNvSpPr>
                      <a:spLocks noChangeArrowheads="1"/>
                    </p:cNvSpPr>
                    <p:nvPr/>
                  </p:nvSpPr>
                  <p:spPr bwMode="auto">
                    <a:xfrm>
                      <a:off x="0" y="0"/>
                      <a:ext cx="772" cy="2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2 </a:t>
                      </a:r>
                      <a:r>
                        <a:rPr lang="en-US" altLang="zh-CN" sz="2400" b="1">
                          <a:latin typeface="Times New Roman" panose="02020603050405020304" pitchFamily="18" charset="0"/>
                        </a:rPr>
                        <a:t>   0  </a:t>
                      </a:r>
                      <a:r>
                        <a:rPr lang="en-US" altLang="zh-CN" sz="2400">
                          <a:latin typeface="Times New Roman" panose="02020603050405020304" pitchFamily="18" charset="0"/>
                        </a:rPr>
                        <a:t>⋀</a:t>
                      </a:r>
                    </a:p>
                  </p:txBody>
                </p:sp>
                <p:sp>
                  <p:nvSpPr>
                    <p:cNvPr id="28777" name="Line 61"/>
                    <p:cNvSpPr>
                      <a:spLocks noChangeShapeType="1"/>
                    </p:cNvSpPr>
                    <p:nvPr/>
                  </p:nvSpPr>
                  <p:spPr bwMode="auto">
                    <a:xfrm>
                      <a:off x="553"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78" name="Line 62"/>
                    <p:cNvSpPr>
                      <a:spLocks noChangeShapeType="1"/>
                    </p:cNvSpPr>
                    <p:nvPr/>
                  </p:nvSpPr>
                  <p:spPr bwMode="auto">
                    <a:xfrm>
                      <a:off x="302"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95" name="Group 63"/>
                  <p:cNvGrpSpPr/>
                  <p:nvPr/>
                </p:nvGrpSpPr>
                <p:grpSpPr bwMode="auto">
                  <a:xfrm>
                    <a:off x="0" y="527"/>
                    <a:ext cx="772" cy="262"/>
                    <a:chOff x="0" y="0"/>
                    <a:chExt cx="772" cy="262"/>
                  </a:xfrm>
                </p:grpSpPr>
                <p:sp>
                  <p:nvSpPr>
                    <p:cNvPr id="28773" name="Rectangle 64"/>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3</a:t>
                      </a:r>
                      <a:r>
                        <a:rPr lang="en-US" altLang="zh-CN" sz="2400" b="1">
                          <a:latin typeface="Times New Roman" panose="02020603050405020304" pitchFamily="18" charset="0"/>
                        </a:rPr>
                        <a:t>    3</a:t>
                      </a:r>
                    </a:p>
                  </p:txBody>
                </p:sp>
                <p:sp>
                  <p:nvSpPr>
                    <p:cNvPr id="28774" name="Line 65"/>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75" name="Line 66"/>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96" name="Group 67"/>
                  <p:cNvGrpSpPr/>
                  <p:nvPr/>
                </p:nvGrpSpPr>
                <p:grpSpPr bwMode="auto">
                  <a:xfrm>
                    <a:off x="0" y="790"/>
                    <a:ext cx="772" cy="262"/>
                    <a:chOff x="0" y="0"/>
                    <a:chExt cx="772" cy="262"/>
                  </a:xfrm>
                </p:grpSpPr>
                <p:sp>
                  <p:nvSpPr>
                    <p:cNvPr id="28770" name="Rectangle 68"/>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dirty="0">
                          <a:latin typeface="Times New Roman" panose="02020603050405020304" pitchFamily="18" charset="0"/>
                        </a:rPr>
                        <a:t>v</a:t>
                      </a:r>
                      <a:r>
                        <a:rPr lang="en-US" altLang="zh-CN" sz="2400" b="1" baseline="-20000" dirty="0">
                          <a:latin typeface="Times New Roman" panose="02020603050405020304" pitchFamily="18" charset="0"/>
                        </a:rPr>
                        <a:t>4</a:t>
                      </a:r>
                      <a:r>
                        <a:rPr lang="en-US" altLang="zh-CN" sz="2400" b="1" dirty="0">
                          <a:latin typeface="Times New Roman" panose="02020603050405020304" pitchFamily="18" charset="0"/>
                        </a:rPr>
                        <a:t>    1</a:t>
                      </a:r>
                    </a:p>
                  </p:txBody>
                </p:sp>
                <p:sp>
                  <p:nvSpPr>
                    <p:cNvPr id="28771" name="Line 69"/>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72" name="Line 70"/>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97" name="Group 71"/>
                  <p:cNvGrpSpPr/>
                  <p:nvPr/>
                </p:nvGrpSpPr>
                <p:grpSpPr bwMode="auto">
                  <a:xfrm>
                    <a:off x="0" y="1317"/>
                    <a:ext cx="772" cy="262"/>
                    <a:chOff x="0" y="0"/>
                    <a:chExt cx="772" cy="262"/>
                  </a:xfrm>
                </p:grpSpPr>
                <p:sp>
                  <p:nvSpPr>
                    <p:cNvPr id="28767" name="Rectangle 72"/>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宋体" panose="02010600030101010101" pitchFamily="2" charset="-122"/>
                        </a:rPr>
                        <a:t>┇</a:t>
                      </a:r>
                      <a:r>
                        <a:rPr lang="en-US" altLang="zh-CN" sz="2400" b="1">
                          <a:latin typeface="Times New Roman" panose="02020603050405020304" pitchFamily="18" charset="0"/>
                        </a:rPr>
                        <a:t> ┇ ┇</a:t>
                      </a:r>
                    </a:p>
                  </p:txBody>
                </p:sp>
                <p:sp>
                  <p:nvSpPr>
                    <p:cNvPr id="28768" name="Line 73"/>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69" name="Line 74"/>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98" name="Group 75"/>
                  <p:cNvGrpSpPr/>
                  <p:nvPr/>
                </p:nvGrpSpPr>
                <p:grpSpPr bwMode="auto">
                  <a:xfrm>
                    <a:off x="0" y="1579"/>
                    <a:ext cx="772" cy="262"/>
                    <a:chOff x="0" y="0"/>
                    <a:chExt cx="772" cy="262"/>
                  </a:xfrm>
                </p:grpSpPr>
                <p:sp>
                  <p:nvSpPr>
                    <p:cNvPr id="28764" name="Rectangle 76"/>
                    <p:cNvSpPr>
                      <a:spLocks noChangeArrowheads="1"/>
                    </p:cNvSpPr>
                    <p:nvPr/>
                  </p:nvSpPr>
                  <p:spPr bwMode="auto">
                    <a:xfrm>
                      <a:off x="0" y="0"/>
                      <a:ext cx="772" cy="26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endParaRPr lang="zh-CN" altLang="zh-CN" sz="2400" b="1">
                        <a:latin typeface="Times New Roman" panose="02020603050405020304" pitchFamily="18" charset="0"/>
                      </a:endParaRPr>
                    </a:p>
                  </p:txBody>
                </p:sp>
                <p:sp>
                  <p:nvSpPr>
                    <p:cNvPr id="28765" name="Line 77"/>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66" name="Line 78"/>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99" name="Group 79"/>
                  <p:cNvGrpSpPr/>
                  <p:nvPr/>
                </p:nvGrpSpPr>
                <p:grpSpPr bwMode="auto">
                  <a:xfrm>
                    <a:off x="0" y="1053"/>
                    <a:ext cx="772" cy="263"/>
                    <a:chOff x="0" y="0"/>
                    <a:chExt cx="772" cy="263"/>
                  </a:xfrm>
                </p:grpSpPr>
                <p:sp>
                  <p:nvSpPr>
                    <p:cNvPr id="28761" name="Rectangle 80"/>
                    <p:cNvSpPr>
                      <a:spLocks noChangeArrowheads="1"/>
                    </p:cNvSpPr>
                    <p:nvPr/>
                  </p:nvSpPr>
                  <p:spPr bwMode="auto">
                    <a:xfrm>
                      <a:off x="0" y="0"/>
                      <a:ext cx="772" cy="2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5</a:t>
                      </a:r>
                      <a:r>
                        <a:rPr lang="en-US" altLang="zh-CN" sz="2400" b="1">
                          <a:latin typeface="Times New Roman" panose="02020603050405020304" pitchFamily="18" charset="0"/>
                        </a:rPr>
                        <a:t>   1 </a:t>
                      </a:r>
                    </a:p>
                  </p:txBody>
                </p:sp>
                <p:sp>
                  <p:nvSpPr>
                    <p:cNvPr id="28762" name="Line 81"/>
                    <p:cNvSpPr>
                      <a:spLocks noChangeShapeType="1"/>
                    </p:cNvSpPr>
                    <p:nvPr/>
                  </p:nvSpPr>
                  <p:spPr bwMode="auto">
                    <a:xfrm>
                      <a:off x="553"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63" name="Line 82"/>
                    <p:cNvSpPr>
                      <a:spLocks noChangeShapeType="1"/>
                    </p:cNvSpPr>
                    <p:nvPr/>
                  </p:nvSpPr>
                  <p:spPr bwMode="auto">
                    <a:xfrm>
                      <a:off x="302"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grpSp>
          <p:sp>
            <p:nvSpPr>
              <p:cNvPr id="28746" name="Rectangle 83"/>
              <p:cNvSpPr>
                <a:spLocks noChangeArrowheads="1"/>
              </p:cNvSpPr>
              <p:nvPr/>
            </p:nvSpPr>
            <p:spPr bwMode="auto">
              <a:xfrm>
                <a:off x="1001" y="1921"/>
                <a:ext cx="1950"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000" b="1">
                    <a:latin typeface="Times New Roman" panose="02020603050405020304" pitchFamily="18" charset="0"/>
                  </a:rPr>
                  <a:t>(b)  Adjacency list, out-degree</a:t>
                </a:r>
              </a:p>
            </p:txBody>
          </p:sp>
        </p:grpSp>
        <p:grpSp>
          <p:nvGrpSpPr>
            <p:cNvPr id="38916" name="Group 84"/>
            <p:cNvGrpSpPr/>
            <p:nvPr/>
          </p:nvGrpSpPr>
          <p:grpSpPr bwMode="auto">
            <a:xfrm>
              <a:off x="0" y="1899"/>
              <a:ext cx="3012" cy="2154"/>
              <a:chOff x="0" y="0"/>
              <a:chExt cx="3012" cy="2154"/>
            </a:xfrm>
          </p:grpSpPr>
          <p:grpSp>
            <p:nvGrpSpPr>
              <p:cNvPr id="38918" name="Group 85"/>
              <p:cNvGrpSpPr/>
              <p:nvPr/>
            </p:nvGrpSpPr>
            <p:grpSpPr bwMode="auto">
              <a:xfrm>
                <a:off x="0" y="0"/>
                <a:ext cx="3012" cy="1848"/>
                <a:chOff x="0" y="0"/>
                <a:chExt cx="3012" cy="1848"/>
              </a:xfrm>
            </p:grpSpPr>
            <p:grpSp>
              <p:nvGrpSpPr>
                <p:cNvPr id="38920" name="Group 86"/>
                <p:cNvGrpSpPr/>
                <p:nvPr/>
              </p:nvGrpSpPr>
              <p:grpSpPr bwMode="auto">
                <a:xfrm>
                  <a:off x="1678" y="8"/>
                  <a:ext cx="728" cy="226"/>
                  <a:chOff x="0" y="0"/>
                  <a:chExt cx="728" cy="226"/>
                </a:xfrm>
              </p:grpSpPr>
              <p:grpSp>
                <p:nvGrpSpPr>
                  <p:cNvPr id="38980" name="Group 87"/>
                  <p:cNvGrpSpPr/>
                  <p:nvPr/>
                </p:nvGrpSpPr>
                <p:grpSpPr bwMode="auto">
                  <a:xfrm>
                    <a:off x="272" y="0"/>
                    <a:ext cx="456" cy="226"/>
                    <a:chOff x="0" y="0"/>
                    <a:chExt cx="456" cy="226"/>
                  </a:xfrm>
                </p:grpSpPr>
                <p:sp>
                  <p:nvSpPr>
                    <p:cNvPr id="28743" name="Rectangle 88"/>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44" name="Line 89"/>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42" name="Line 90"/>
                  <p:cNvSpPr>
                    <a:spLocks noChangeShapeType="1"/>
                  </p:cNvSpPr>
                  <p:nvPr/>
                </p:nvSpPr>
                <p:spPr bwMode="auto">
                  <a:xfrm>
                    <a:off x="0" y="115"/>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21" name="Group 91"/>
                <p:cNvGrpSpPr/>
                <p:nvPr/>
              </p:nvGrpSpPr>
              <p:grpSpPr bwMode="auto">
                <a:xfrm>
                  <a:off x="1678" y="272"/>
                  <a:ext cx="1334" cy="235"/>
                  <a:chOff x="0" y="0"/>
                  <a:chExt cx="1334" cy="235"/>
                </a:xfrm>
              </p:grpSpPr>
              <p:grpSp>
                <p:nvGrpSpPr>
                  <p:cNvPr id="38972" name="Group 92"/>
                  <p:cNvGrpSpPr/>
                  <p:nvPr/>
                </p:nvGrpSpPr>
                <p:grpSpPr bwMode="auto">
                  <a:xfrm>
                    <a:off x="275" y="0"/>
                    <a:ext cx="456" cy="226"/>
                    <a:chOff x="0" y="0"/>
                    <a:chExt cx="456" cy="226"/>
                  </a:xfrm>
                </p:grpSpPr>
                <p:sp>
                  <p:nvSpPr>
                    <p:cNvPr id="28739" name="Rectangle 93"/>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1</a:t>
                      </a:r>
                      <a:endParaRPr lang="en-US" altLang="zh-CN" sz="2400" b="1">
                        <a:latin typeface="Times New Roman" panose="02020603050405020304" pitchFamily="18" charset="0"/>
                      </a:endParaRPr>
                    </a:p>
                  </p:txBody>
                </p:sp>
                <p:sp>
                  <p:nvSpPr>
                    <p:cNvPr id="28740" name="Line 94"/>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34" name="Line 95"/>
                  <p:cNvSpPr>
                    <a:spLocks noChangeShapeType="1"/>
                  </p:cNvSpPr>
                  <p:nvPr/>
                </p:nvSpPr>
                <p:spPr bwMode="auto">
                  <a:xfrm>
                    <a:off x="0" y="123"/>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nvGrpSpPr>
                  <p:cNvPr id="38974" name="Group 96"/>
                  <p:cNvGrpSpPr/>
                  <p:nvPr/>
                </p:nvGrpSpPr>
                <p:grpSpPr bwMode="auto">
                  <a:xfrm>
                    <a:off x="878" y="9"/>
                    <a:ext cx="456" cy="226"/>
                    <a:chOff x="0" y="0"/>
                    <a:chExt cx="456" cy="226"/>
                  </a:xfrm>
                </p:grpSpPr>
                <p:sp>
                  <p:nvSpPr>
                    <p:cNvPr id="28737" name="Rectangle 97"/>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38" name="Line 98"/>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36" name="Line 99"/>
                  <p:cNvSpPr>
                    <a:spLocks noChangeShapeType="1"/>
                  </p:cNvSpPr>
                  <p:nvPr/>
                </p:nvSpPr>
                <p:spPr bwMode="auto">
                  <a:xfrm>
                    <a:off x="603"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22" name="Group 100"/>
                <p:cNvGrpSpPr/>
                <p:nvPr/>
              </p:nvGrpSpPr>
              <p:grpSpPr bwMode="auto">
                <a:xfrm>
                  <a:off x="1678" y="1103"/>
                  <a:ext cx="729" cy="226"/>
                  <a:chOff x="0" y="0"/>
                  <a:chExt cx="729" cy="226"/>
                </a:xfrm>
              </p:grpSpPr>
              <p:grpSp>
                <p:nvGrpSpPr>
                  <p:cNvPr id="38968" name="Group 101"/>
                  <p:cNvGrpSpPr/>
                  <p:nvPr/>
                </p:nvGrpSpPr>
                <p:grpSpPr bwMode="auto">
                  <a:xfrm>
                    <a:off x="273" y="0"/>
                    <a:ext cx="456" cy="226"/>
                    <a:chOff x="0" y="0"/>
                    <a:chExt cx="456" cy="226"/>
                  </a:xfrm>
                </p:grpSpPr>
                <p:sp>
                  <p:nvSpPr>
                    <p:cNvPr id="28731" name="Rectangle 102"/>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3</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32" name="Line 103"/>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730" name="Line 104"/>
                  <p:cNvSpPr>
                    <a:spLocks noChangeShapeType="1"/>
                  </p:cNvSpPr>
                  <p:nvPr/>
                </p:nvSpPr>
                <p:spPr bwMode="auto">
                  <a:xfrm>
                    <a:off x="0" y="120"/>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684" name="Rectangle 105"/>
                <p:cNvSpPr>
                  <a:spLocks noChangeArrowheads="1"/>
                </p:cNvSpPr>
                <p:nvPr/>
              </p:nvSpPr>
              <p:spPr bwMode="auto">
                <a:xfrm>
                  <a:off x="769" y="0"/>
                  <a:ext cx="226" cy="1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lnSpc>
                      <a:spcPct val="110000"/>
                    </a:lnSpc>
                    <a:defRPr/>
                  </a:pPr>
                  <a:r>
                    <a:rPr lang="en-US" altLang="zh-CN" sz="2400" b="1">
                      <a:latin typeface="Times New Roman" panose="02020603050405020304" pitchFamily="18" charset="0"/>
                    </a:rPr>
                    <a:t>0</a:t>
                  </a:r>
                </a:p>
                <a:p>
                  <a:pPr eaLnBrk="1" hangingPunct="1">
                    <a:lnSpc>
                      <a:spcPct val="110000"/>
                    </a:lnSpc>
                    <a:defRPr/>
                  </a:pPr>
                  <a:r>
                    <a:rPr lang="en-US" altLang="zh-CN" sz="2400" b="1">
                      <a:latin typeface="Times New Roman" panose="02020603050405020304" pitchFamily="18" charset="0"/>
                    </a:rPr>
                    <a:t>1</a:t>
                  </a:r>
                </a:p>
                <a:p>
                  <a:pPr eaLnBrk="1" hangingPunct="1">
                    <a:lnSpc>
                      <a:spcPct val="110000"/>
                    </a:lnSpc>
                    <a:defRPr/>
                  </a:pPr>
                  <a:r>
                    <a:rPr lang="en-US" altLang="zh-CN" sz="2400" b="1">
                      <a:latin typeface="Times New Roman" panose="02020603050405020304" pitchFamily="18" charset="0"/>
                    </a:rPr>
                    <a:t>2</a:t>
                  </a:r>
                </a:p>
                <a:p>
                  <a:pPr eaLnBrk="1" hangingPunct="1">
                    <a:lnSpc>
                      <a:spcPct val="110000"/>
                    </a:lnSpc>
                    <a:defRPr/>
                  </a:pPr>
                  <a:r>
                    <a:rPr lang="en-US" altLang="zh-CN" sz="2400" b="1">
                      <a:latin typeface="Times New Roman" panose="02020603050405020304" pitchFamily="18" charset="0"/>
                    </a:rPr>
                    <a:t>3</a:t>
                  </a:r>
                </a:p>
                <a:p>
                  <a:pPr eaLnBrk="1" hangingPunct="1">
                    <a:lnSpc>
                      <a:spcPct val="110000"/>
                    </a:lnSpc>
                    <a:defRPr/>
                  </a:pPr>
                  <a:r>
                    <a:rPr lang="en-US" altLang="zh-CN" sz="2400" b="1">
                      <a:latin typeface="Times New Roman" panose="02020603050405020304" pitchFamily="18" charset="0"/>
                    </a:rPr>
                    <a:t>4</a:t>
                  </a:r>
                </a:p>
              </p:txBody>
            </p:sp>
            <p:sp>
              <p:nvSpPr>
                <p:cNvPr id="28685" name="Rectangle 106"/>
                <p:cNvSpPr>
                  <a:spLocks noChangeArrowheads="1"/>
                </p:cNvSpPr>
                <p:nvPr/>
              </p:nvSpPr>
              <p:spPr bwMode="auto">
                <a:xfrm>
                  <a:off x="0" y="1604"/>
                  <a:ext cx="998"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000" b="1">
                      <a:latin typeface="Times New Roman" panose="02020603050405020304" pitchFamily="18" charset="0"/>
                    </a:rPr>
                    <a:t>MAX_VEX-1</a:t>
                  </a:r>
                </a:p>
              </p:txBody>
            </p:sp>
            <p:grpSp>
              <p:nvGrpSpPr>
                <p:cNvPr id="38925" name="Group 107"/>
                <p:cNvGrpSpPr/>
                <p:nvPr/>
              </p:nvGrpSpPr>
              <p:grpSpPr bwMode="auto">
                <a:xfrm>
                  <a:off x="1043" y="7"/>
                  <a:ext cx="772" cy="1841"/>
                  <a:chOff x="0" y="0"/>
                  <a:chExt cx="772" cy="1841"/>
                </a:xfrm>
              </p:grpSpPr>
              <p:grpSp>
                <p:nvGrpSpPr>
                  <p:cNvPr id="38940" name="Group 108"/>
                  <p:cNvGrpSpPr/>
                  <p:nvPr/>
                </p:nvGrpSpPr>
                <p:grpSpPr bwMode="auto">
                  <a:xfrm>
                    <a:off x="0" y="0"/>
                    <a:ext cx="772" cy="262"/>
                    <a:chOff x="0" y="0"/>
                    <a:chExt cx="772" cy="262"/>
                  </a:xfrm>
                </p:grpSpPr>
                <p:sp>
                  <p:nvSpPr>
                    <p:cNvPr id="28726" name="Rectangle 109"/>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1</a:t>
                      </a:r>
                      <a:r>
                        <a:rPr lang="en-US" altLang="zh-CN" sz="2400" b="1">
                          <a:latin typeface="Times New Roman" panose="02020603050405020304" pitchFamily="18" charset="0"/>
                        </a:rPr>
                        <a:t>    1</a:t>
                      </a:r>
                    </a:p>
                  </p:txBody>
                </p:sp>
                <p:sp>
                  <p:nvSpPr>
                    <p:cNvPr id="28727" name="Line 110"/>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28" name="Line 111"/>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41" name="Group 112"/>
                  <p:cNvGrpSpPr/>
                  <p:nvPr/>
                </p:nvGrpSpPr>
                <p:grpSpPr bwMode="auto">
                  <a:xfrm>
                    <a:off x="0" y="263"/>
                    <a:ext cx="772" cy="263"/>
                    <a:chOff x="0" y="0"/>
                    <a:chExt cx="772" cy="263"/>
                  </a:xfrm>
                </p:grpSpPr>
                <p:sp>
                  <p:nvSpPr>
                    <p:cNvPr id="28723" name="Rectangle 113"/>
                    <p:cNvSpPr>
                      <a:spLocks noChangeArrowheads="1"/>
                    </p:cNvSpPr>
                    <p:nvPr/>
                  </p:nvSpPr>
                  <p:spPr bwMode="auto">
                    <a:xfrm>
                      <a:off x="0" y="0"/>
                      <a:ext cx="772" cy="2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2 </a:t>
                      </a:r>
                      <a:r>
                        <a:rPr lang="en-US" altLang="zh-CN" sz="2400" b="1">
                          <a:latin typeface="Times New Roman" panose="02020603050405020304" pitchFamily="18" charset="0"/>
                        </a:rPr>
                        <a:t>   2</a:t>
                      </a:r>
                      <a:endParaRPr lang="en-US" altLang="zh-CN" sz="2400">
                        <a:latin typeface="Times New Roman" panose="02020603050405020304" pitchFamily="18" charset="0"/>
                      </a:endParaRPr>
                    </a:p>
                  </p:txBody>
                </p:sp>
                <p:sp>
                  <p:nvSpPr>
                    <p:cNvPr id="28724" name="Line 114"/>
                    <p:cNvSpPr>
                      <a:spLocks noChangeShapeType="1"/>
                    </p:cNvSpPr>
                    <p:nvPr/>
                  </p:nvSpPr>
                  <p:spPr bwMode="auto">
                    <a:xfrm>
                      <a:off x="553"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25" name="Line 115"/>
                    <p:cNvSpPr>
                      <a:spLocks noChangeShapeType="1"/>
                    </p:cNvSpPr>
                    <p:nvPr/>
                  </p:nvSpPr>
                  <p:spPr bwMode="auto">
                    <a:xfrm>
                      <a:off x="302"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42" name="Group 116"/>
                  <p:cNvGrpSpPr/>
                  <p:nvPr/>
                </p:nvGrpSpPr>
                <p:grpSpPr bwMode="auto">
                  <a:xfrm>
                    <a:off x="0" y="527"/>
                    <a:ext cx="772" cy="262"/>
                    <a:chOff x="0" y="0"/>
                    <a:chExt cx="772" cy="262"/>
                  </a:xfrm>
                </p:grpSpPr>
                <p:sp>
                  <p:nvSpPr>
                    <p:cNvPr id="28720" name="Rectangle 117"/>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3</a:t>
                      </a:r>
                      <a:r>
                        <a:rPr lang="en-US" altLang="zh-CN" sz="2400" b="1">
                          <a:latin typeface="Times New Roman" panose="02020603050405020304" pitchFamily="18" charset="0"/>
                        </a:rPr>
                        <a:t>    1</a:t>
                      </a:r>
                    </a:p>
                  </p:txBody>
                </p:sp>
                <p:sp>
                  <p:nvSpPr>
                    <p:cNvPr id="28721" name="Line 118"/>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22" name="Line 119"/>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43" name="Group 120"/>
                  <p:cNvGrpSpPr/>
                  <p:nvPr/>
                </p:nvGrpSpPr>
                <p:grpSpPr bwMode="auto">
                  <a:xfrm>
                    <a:off x="0" y="790"/>
                    <a:ext cx="772" cy="262"/>
                    <a:chOff x="0" y="0"/>
                    <a:chExt cx="772" cy="262"/>
                  </a:xfrm>
                </p:grpSpPr>
                <p:sp>
                  <p:nvSpPr>
                    <p:cNvPr id="28717" name="Rectangle 121"/>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4</a:t>
                      </a:r>
                      <a:r>
                        <a:rPr lang="en-US" altLang="zh-CN" sz="2400" b="1">
                          <a:latin typeface="Times New Roman" panose="02020603050405020304" pitchFamily="18" charset="0"/>
                        </a:rPr>
                        <a:t>    2</a:t>
                      </a:r>
                    </a:p>
                  </p:txBody>
                </p:sp>
                <p:sp>
                  <p:nvSpPr>
                    <p:cNvPr id="28718" name="Line 122"/>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19" name="Line 123"/>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44" name="Group 124"/>
                  <p:cNvGrpSpPr/>
                  <p:nvPr/>
                </p:nvGrpSpPr>
                <p:grpSpPr bwMode="auto">
                  <a:xfrm>
                    <a:off x="0" y="1317"/>
                    <a:ext cx="772" cy="262"/>
                    <a:chOff x="0" y="0"/>
                    <a:chExt cx="772" cy="262"/>
                  </a:xfrm>
                </p:grpSpPr>
                <p:sp>
                  <p:nvSpPr>
                    <p:cNvPr id="28714" name="Rectangle 125"/>
                    <p:cNvSpPr>
                      <a:spLocks noChangeArrowheads="1"/>
                    </p:cNvSpPr>
                    <p:nvPr/>
                  </p:nvSpPr>
                  <p:spPr bwMode="auto">
                    <a:xfrm>
                      <a:off x="0" y="0"/>
                      <a:ext cx="772" cy="262"/>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宋体" panose="02010600030101010101" pitchFamily="2" charset="-122"/>
                        </a:rPr>
                        <a:t>┇</a:t>
                      </a:r>
                      <a:r>
                        <a:rPr lang="en-US" altLang="zh-CN" sz="2400" b="1">
                          <a:latin typeface="Times New Roman" panose="02020603050405020304" pitchFamily="18" charset="0"/>
                        </a:rPr>
                        <a:t> ┇ ┇</a:t>
                      </a:r>
                    </a:p>
                  </p:txBody>
                </p:sp>
                <p:sp>
                  <p:nvSpPr>
                    <p:cNvPr id="28715" name="Line 126"/>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16" name="Line 127"/>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45" name="Group 128"/>
                  <p:cNvGrpSpPr/>
                  <p:nvPr/>
                </p:nvGrpSpPr>
                <p:grpSpPr bwMode="auto">
                  <a:xfrm>
                    <a:off x="0" y="1579"/>
                    <a:ext cx="772" cy="262"/>
                    <a:chOff x="0" y="0"/>
                    <a:chExt cx="772" cy="262"/>
                  </a:xfrm>
                </p:grpSpPr>
                <p:sp>
                  <p:nvSpPr>
                    <p:cNvPr id="28711" name="Rectangle 129"/>
                    <p:cNvSpPr>
                      <a:spLocks noChangeArrowheads="1"/>
                    </p:cNvSpPr>
                    <p:nvPr/>
                  </p:nvSpPr>
                  <p:spPr bwMode="auto">
                    <a:xfrm>
                      <a:off x="0" y="0"/>
                      <a:ext cx="772" cy="262"/>
                    </a:xfrm>
                    <a:prstGeom prst="rect">
                      <a:avLst/>
                    </a:prstGeom>
                    <a:solidFill>
                      <a:schemeClr val="bg2"/>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endParaRPr lang="zh-CN" altLang="zh-CN" sz="2400" b="1">
                        <a:latin typeface="Times New Roman" panose="02020603050405020304" pitchFamily="18" charset="0"/>
                      </a:endParaRPr>
                    </a:p>
                  </p:txBody>
                </p:sp>
                <p:sp>
                  <p:nvSpPr>
                    <p:cNvPr id="28712" name="Line 130"/>
                    <p:cNvSpPr>
                      <a:spLocks noChangeShapeType="1"/>
                    </p:cNvSpPr>
                    <p:nvPr/>
                  </p:nvSpPr>
                  <p:spPr bwMode="auto">
                    <a:xfrm>
                      <a:off x="553"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13" name="Line 131"/>
                    <p:cNvSpPr>
                      <a:spLocks noChangeShapeType="1"/>
                    </p:cNvSpPr>
                    <p:nvPr/>
                  </p:nvSpPr>
                  <p:spPr bwMode="auto">
                    <a:xfrm>
                      <a:off x="302" y="0"/>
                      <a:ext cx="0" cy="2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46" name="Group 132"/>
                  <p:cNvGrpSpPr/>
                  <p:nvPr/>
                </p:nvGrpSpPr>
                <p:grpSpPr bwMode="auto">
                  <a:xfrm>
                    <a:off x="0" y="1053"/>
                    <a:ext cx="772" cy="263"/>
                    <a:chOff x="0" y="0"/>
                    <a:chExt cx="772" cy="263"/>
                  </a:xfrm>
                </p:grpSpPr>
                <p:sp>
                  <p:nvSpPr>
                    <p:cNvPr id="28708" name="Rectangle 133"/>
                    <p:cNvSpPr>
                      <a:spLocks noChangeArrowheads="1"/>
                    </p:cNvSpPr>
                    <p:nvPr/>
                  </p:nvSpPr>
                  <p:spPr bwMode="auto">
                    <a:xfrm>
                      <a:off x="0" y="0"/>
                      <a:ext cx="772" cy="2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0000">
                          <a:latin typeface="Times New Roman" panose="02020603050405020304" pitchFamily="18" charset="0"/>
                        </a:rPr>
                        <a:t>5</a:t>
                      </a:r>
                      <a:r>
                        <a:rPr lang="en-US" altLang="zh-CN" sz="2400" b="1">
                          <a:latin typeface="Times New Roman" panose="02020603050405020304" pitchFamily="18" charset="0"/>
                        </a:rPr>
                        <a:t>   1 </a:t>
                      </a:r>
                    </a:p>
                  </p:txBody>
                </p:sp>
                <p:sp>
                  <p:nvSpPr>
                    <p:cNvPr id="28709" name="Line 134"/>
                    <p:cNvSpPr>
                      <a:spLocks noChangeShapeType="1"/>
                    </p:cNvSpPr>
                    <p:nvPr/>
                  </p:nvSpPr>
                  <p:spPr bwMode="auto">
                    <a:xfrm>
                      <a:off x="553"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sp>
                  <p:nvSpPr>
                    <p:cNvPr id="28710" name="Line 135"/>
                    <p:cNvSpPr>
                      <a:spLocks noChangeShapeType="1"/>
                    </p:cNvSpPr>
                    <p:nvPr/>
                  </p:nvSpPr>
                  <p:spPr bwMode="auto">
                    <a:xfrm>
                      <a:off x="302" y="0"/>
                      <a:ext cx="0" cy="2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grpSp>
              <p:nvGrpSpPr>
                <p:cNvPr id="38926" name="Group 136"/>
                <p:cNvGrpSpPr/>
                <p:nvPr/>
              </p:nvGrpSpPr>
              <p:grpSpPr bwMode="auto">
                <a:xfrm>
                  <a:off x="1678" y="560"/>
                  <a:ext cx="729" cy="226"/>
                  <a:chOff x="0" y="0"/>
                  <a:chExt cx="729" cy="226"/>
                </a:xfrm>
              </p:grpSpPr>
              <p:grpSp>
                <p:nvGrpSpPr>
                  <p:cNvPr id="38936" name="Group 137"/>
                  <p:cNvGrpSpPr/>
                  <p:nvPr/>
                </p:nvGrpSpPr>
                <p:grpSpPr bwMode="auto">
                  <a:xfrm>
                    <a:off x="273" y="0"/>
                    <a:ext cx="456" cy="226"/>
                    <a:chOff x="0" y="0"/>
                    <a:chExt cx="456" cy="226"/>
                  </a:xfrm>
                </p:grpSpPr>
                <p:sp>
                  <p:nvSpPr>
                    <p:cNvPr id="28699" name="Rectangle 138"/>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4</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700" name="Line 139"/>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698" name="Line 140"/>
                  <p:cNvSpPr>
                    <a:spLocks noChangeShapeType="1"/>
                  </p:cNvSpPr>
                  <p:nvPr/>
                </p:nvSpPr>
                <p:spPr bwMode="auto">
                  <a:xfrm>
                    <a:off x="0" y="120"/>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nvGrpSpPr>
                <p:cNvPr id="38927" name="Group 141"/>
                <p:cNvGrpSpPr/>
                <p:nvPr/>
              </p:nvGrpSpPr>
              <p:grpSpPr bwMode="auto">
                <a:xfrm>
                  <a:off x="1678" y="824"/>
                  <a:ext cx="1334" cy="235"/>
                  <a:chOff x="0" y="0"/>
                  <a:chExt cx="1334" cy="235"/>
                </a:xfrm>
              </p:grpSpPr>
              <p:grpSp>
                <p:nvGrpSpPr>
                  <p:cNvPr id="38928" name="Group 142"/>
                  <p:cNvGrpSpPr/>
                  <p:nvPr/>
                </p:nvGrpSpPr>
                <p:grpSpPr bwMode="auto">
                  <a:xfrm>
                    <a:off x="275" y="0"/>
                    <a:ext cx="456" cy="226"/>
                    <a:chOff x="0" y="0"/>
                    <a:chExt cx="456" cy="226"/>
                  </a:xfrm>
                </p:grpSpPr>
                <p:sp>
                  <p:nvSpPr>
                    <p:cNvPr id="28695" name="Rectangle 143"/>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1</a:t>
                      </a:r>
                      <a:endParaRPr lang="en-US" altLang="zh-CN" sz="2400" b="1">
                        <a:latin typeface="Times New Roman" panose="02020603050405020304" pitchFamily="18" charset="0"/>
                      </a:endParaRPr>
                    </a:p>
                  </p:txBody>
                </p:sp>
                <p:sp>
                  <p:nvSpPr>
                    <p:cNvPr id="28696" name="Line 144"/>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690" name="Line 145"/>
                  <p:cNvSpPr>
                    <a:spLocks noChangeShapeType="1"/>
                  </p:cNvSpPr>
                  <p:nvPr/>
                </p:nvSpPr>
                <p:spPr bwMode="auto">
                  <a:xfrm>
                    <a:off x="0" y="123"/>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nvGrpSpPr>
                  <p:cNvPr id="38930" name="Group 146"/>
                  <p:cNvGrpSpPr/>
                  <p:nvPr/>
                </p:nvGrpSpPr>
                <p:grpSpPr bwMode="auto">
                  <a:xfrm>
                    <a:off x="878" y="9"/>
                    <a:ext cx="456" cy="226"/>
                    <a:chOff x="0" y="0"/>
                    <a:chExt cx="456" cy="226"/>
                  </a:xfrm>
                </p:grpSpPr>
                <p:sp>
                  <p:nvSpPr>
                    <p:cNvPr id="28693" name="Rectangle 147"/>
                    <p:cNvSpPr>
                      <a:spLocks noChangeArrowheads="1"/>
                    </p:cNvSpPr>
                    <p:nvPr/>
                  </p:nvSpPr>
                  <p:spPr bwMode="auto">
                    <a:xfrm>
                      <a:off x="0" y="0"/>
                      <a:ext cx="456" cy="226"/>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400" b="1">
                          <a:latin typeface="Times New Roman" panose="02020603050405020304" pitchFamily="18" charset="0"/>
                        </a:rPr>
                        <a:t>v</a:t>
                      </a:r>
                      <a:r>
                        <a:rPr lang="en-US" altLang="zh-CN" sz="2400" b="1" baseline="-25000">
                          <a:latin typeface="Times New Roman" panose="02020603050405020304" pitchFamily="18" charset="0"/>
                        </a:rPr>
                        <a:t>5</a:t>
                      </a:r>
                      <a:r>
                        <a:rPr lang="en-US" altLang="zh-CN" sz="2400" b="1">
                          <a:latin typeface="Times New Roman" panose="02020603050405020304" pitchFamily="18" charset="0"/>
                        </a:rPr>
                        <a:t>  </a:t>
                      </a:r>
                      <a:r>
                        <a:rPr lang="en-US" altLang="zh-CN" sz="2400">
                          <a:latin typeface="Times New Roman" panose="02020603050405020304" pitchFamily="18" charset="0"/>
                        </a:rPr>
                        <a:t>⋀</a:t>
                      </a:r>
                    </a:p>
                  </p:txBody>
                </p:sp>
                <p:sp>
                  <p:nvSpPr>
                    <p:cNvPr id="28694" name="Line 148"/>
                    <p:cNvSpPr>
                      <a:spLocks noChangeShapeType="1"/>
                    </p:cNvSpPr>
                    <p:nvPr/>
                  </p:nvSpPr>
                  <p:spPr bwMode="auto">
                    <a:xfrm>
                      <a:off x="251" y="0"/>
                      <a:ext cx="0" cy="22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sp>
                <p:nvSpPr>
                  <p:cNvPr id="28692" name="Line 149"/>
                  <p:cNvSpPr>
                    <a:spLocks noChangeShapeType="1"/>
                  </p:cNvSpPr>
                  <p:nvPr/>
                </p:nvSpPr>
                <p:spPr bwMode="auto">
                  <a:xfrm>
                    <a:off x="603" y="124"/>
                    <a:ext cx="272" cy="0"/>
                  </a:xfrm>
                  <a:prstGeom prst="line">
                    <a:avLst/>
                  </a:prstGeom>
                  <a:noFill/>
                  <a:ln w="1905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defRPr/>
                    </a:pPr>
                    <a:endParaRPr lang="zh-CN" altLang="en-US">
                      <a:latin typeface="Comic Sans MS" panose="030F0702030302020204" pitchFamily="66" charset="0"/>
                      <a:ea typeface="宋体" panose="02010600030101010101" pitchFamily="2" charset="-122"/>
                    </a:endParaRPr>
                  </a:p>
                </p:txBody>
              </p:sp>
            </p:grpSp>
          </p:grpSp>
          <p:sp>
            <p:nvSpPr>
              <p:cNvPr id="28680" name="Rectangle 150"/>
              <p:cNvSpPr>
                <a:spLocks noChangeArrowheads="1"/>
              </p:cNvSpPr>
              <p:nvPr/>
            </p:nvSpPr>
            <p:spPr bwMode="auto">
              <a:xfrm>
                <a:off x="521" y="1950"/>
                <a:ext cx="1950"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r>
                  <a:rPr lang="en-US" altLang="zh-CN" sz="2000" b="1" dirty="0">
                    <a:latin typeface="Times New Roman" panose="02020603050405020304" pitchFamily="18" charset="0"/>
                  </a:rPr>
                  <a:t>(c)  Inverse adjacency list</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in-degree</a:t>
                </a:r>
              </a:p>
            </p:txBody>
          </p:sp>
        </p:grpSp>
        <p:sp>
          <p:nvSpPr>
            <p:cNvPr id="28678" name="Rectangle 151"/>
            <p:cNvSpPr>
              <a:spLocks noChangeArrowheads="1"/>
            </p:cNvSpPr>
            <p:nvPr/>
          </p:nvSpPr>
          <p:spPr bwMode="auto">
            <a:xfrm>
              <a:off x="3107" y="3940"/>
              <a:ext cx="2040"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a:solidFill>
                    <a:schemeClr val="tx1"/>
                  </a:solidFill>
                  <a:latin typeface="Comic Sans MS" panose="030F0702030302020204" pitchFamily="66" charset="0"/>
                  <a:ea typeface="宋体" panose="02010600030101010101" pitchFamily="2" charset="-122"/>
                </a:defRPr>
              </a:lvl1pPr>
              <a:lvl2pPr marL="742950" indent="-285750">
                <a:defRPr>
                  <a:solidFill>
                    <a:schemeClr val="tx1"/>
                  </a:solidFill>
                  <a:latin typeface="Comic Sans MS" panose="030F0702030302020204" pitchFamily="66" charset="0"/>
                  <a:ea typeface="宋体" panose="02010600030101010101" pitchFamily="2" charset="-122"/>
                </a:defRPr>
              </a:lvl2pPr>
              <a:lvl3pPr marL="1143000" indent="-228600">
                <a:defRPr>
                  <a:solidFill>
                    <a:schemeClr val="tx1"/>
                  </a:solidFill>
                  <a:latin typeface="Comic Sans MS" panose="030F0702030302020204" pitchFamily="66" charset="0"/>
                  <a:ea typeface="宋体" panose="02010600030101010101" pitchFamily="2" charset="-122"/>
                </a:defRPr>
              </a:lvl3pPr>
              <a:lvl4pPr marL="1600200" indent="-228600">
                <a:defRPr>
                  <a:solidFill>
                    <a:schemeClr val="tx1"/>
                  </a:solidFill>
                  <a:latin typeface="Comic Sans MS" panose="030F0702030302020204" pitchFamily="66" charset="0"/>
                  <a:ea typeface="宋体" panose="02010600030101010101" pitchFamily="2" charset="-122"/>
                </a:defRPr>
              </a:lvl4pPr>
              <a:lvl5pPr marL="2057400" indent="-228600">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宋体" panose="02010600030101010101" pitchFamily="2" charset="-122"/>
                </a:defRPr>
              </a:lvl9pPr>
            </a:lstStyle>
            <a:p>
              <a:pPr eaLnBrk="1" hangingPunct="1">
                <a:defRPr/>
              </a:pPr>
              <a:endParaRPr lang="zh-CN" altLang="zh-CN" sz="2000" b="1">
                <a:latin typeface="Times New Roman" panose="02020603050405020304" pitchFamily="18" charset="0"/>
              </a:endParaRPr>
            </a:p>
          </p:txBody>
        </p:sp>
      </p:grpSp>
      <p:sp>
        <p:nvSpPr>
          <p:cNvPr id="152" name="标题 1"/>
          <p:cNvSpPr>
            <a:spLocks noGrp="1"/>
          </p:cNvSpPr>
          <p:nvPr>
            <p:ph type="title"/>
          </p:nvPr>
        </p:nvSpPr>
        <p:spPr>
          <a:xfrm>
            <a:off x="472247" y="10851"/>
            <a:ext cx="8229600" cy="1143000"/>
          </a:xfrm>
        </p:spPr>
        <p:txBody>
          <a:bodyPr/>
          <a:lstStyle/>
          <a:p>
            <a:r>
              <a:rPr lang="en-US" altLang="zh-CN" dirty="0"/>
              <a:t>Adjacency List (II)</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Graph traversal</a:t>
            </a:r>
            <a:br>
              <a:rPr lang="en-US" altLang="zh-CN" dirty="0"/>
            </a:br>
            <a:endParaRPr lang="zh-CN" altLang="en-US" dirty="0"/>
          </a:p>
        </p:txBody>
      </p:sp>
      <p:sp>
        <p:nvSpPr>
          <p:cNvPr id="3" name="内容占位符 2"/>
          <p:cNvSpPr>
            <a:spLocks noGrp="1"/>
          </p:cNvSpPr>
          <p:nvPr>
            <p:ph idx="1"/>
          </p:nvPr>
        </p:nvSpPr>
        <p:spPr/>
        <p:txBody>
          <a:bodyPr/>
          <a:lstStyle/>
          <a:p>
            <a:pPr marL="342900" lvl="1" indent="-342900">
              <a:buFont typeface="Arial" panose="020B0604020202020204" pitchFamily="34" charset="0"/>
              <a:buChar char="•"/>
            </a:pPr>
            <a:r>
              <a:rPr lang="en-US" altLang="zh-CN" dirty="0"/>
              <a:t>Topological sequence</a:t>
            </a:r>
          </a:p>
          <a:p>
            <a:pPr marL="742950" lvl="2" indent="-342900"/>
            <a:r>
              <a:rPr lang="en-US" altLang="zh-CN" dirty="0"/>
              <a:t>Topological sequence is not unique</a:t>
            </a:r>
          </a:p>
          <a:p>
            <a:pPr marL="742950" lvl="2" indent="-342900"/>
            <a:r>
              <a:rPr lang="en-US" altLang="zh-CN" dirty="0"/>
              <a:t>Only exist for acyclic digraphs </a:t>
            </a:r>
          </a:p>
          <a:p>
            <a:pPr marL="342900" lvl="1" indent="-342900">
              <a:buFont typeface="Arial" panose="020B0604020202020204" pitchFamily="34" charset="0"/>
              <a:buChar char="•"/>
            </a:pPr>
            <a:r>
              <a:rPr lang="en-US" altLang="zh-CN" dirty="0"/>
              <a:t>Depth first search</a:t>
            </a:r>
          </a:p>
          <a:p>
            <a:pPr marL="342900" lvl="1" indent="-342900">
              <a:buFont typeface="Arial" panose="020B0604020202020204" pitchFamily="34" charset="0"/>
              <a:buChar char="•"/>
            </a:pPr>
            <a:r>
              <a:rPr lang="en-US" altLang="zh-CN" dirty="0"/>
              <a:t>Breadth first search</a:t>
            </a:r>
          </a:p>
          <a:p>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339975" y="549275"/>
            <a:ext cx="5472113" cy="671513"/>
          </a:xfrm>
        </p:spPr>
        <p:txBody>
          <a:bodyPr/>
          <a:lstStyle/>
          <a:p>
            <a:pPr algn="l" eaLnBrk="1" hangingPunct="1"/>
            <a:r>
              <a:rPr lang="en-US" altLang="zh-CN" sz="3600" b="1"/>
              <a:t>Topological Ordering</a:t>
            </a:r>
          </a:p>
        </p:txBody>
      </p:sp>
      <p:sp>
        <p:nvSpPr>
          <p:cNvPr id="15363" name="Text Box 3"/>
          <p:cNvSpPr txBox="1">
            <a:spLocks noChangeArrowheads="1"/>
          </p:cNvSpPr>
          <p:nvPr/>
        </p:nvSpPr>
        <p:spPr bwMode="auto">
          <a:xfrm>
            <a:off x="447675" y="1292225"/>
            <a:ext cx="8312150" cy="518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40000"/>
              </a:spcBef>
              <a:buFontTx/>
              <a:buNone/>
            </a:pPr>
            <a:r>
              <a:rPr kumimoji="1" lang="en-US" altLang="zh-CN" sz="2400" b="1" dirty="0">
                <a:solidFill>
                  <a:srgbClr val="0000FF"/>
                </a:solidFill>
                <a:latin typeface="Times New Roman" panose="02020603050405020304" pitchFamily="18" charset="0"/>
              </a:rPr>
              <a:t>STEPS:</a:t>
            </a:r>
          </a:p>
          <a:p>
            <a:pPr eaLnBrk="1" hangingPunct="1">
              <a:spcBef>
                <a:spcPct val="40000"/>
              </a:spcBef>
              <a:buFontTx/>
              <a:buAutoNum type="arabicPeriod"/>
            </a:pPr>
            <a:r>
              <a:rPr kumimoji="1" lang="en-US" altLang="zh-CN" sz="2400" b="1" dirty="0">
                <a:latin typeface="Times New Roman" panose="02020603050405020304" pitchFamily="18" charset="0"/>
              </a:rPr>
              <a:t>Counting the number of edges that lead to each vertex (the in-degree of each vertex);</a:t>
            </a:r>
          </a:p>
          <a:p>
            <a:pPr eaLnBrk="1" hangingPunct="1">
              <a:spcBef>
                <a:spcPct val="40000"/>
              </a:spcBef>
              <a:buFontTx/>
              <a:buAutoNum type="arabicPeriod"/>
            </a:pPr>
            <a:r>
              <a:rPr kumimoji="1" lang="en-US" altLang="zh-CN" sz="2400" b="1" dirty="0">
                <a:latin typeface="Times New Roman" panose="02020603050405020304" pitchFamily="18" charset="0"/>
              </a:rPr>
              <a:t>All vertices with </a:t>
            </a:r>
            <a:r>
              <a:rPr kumimoji="1" lang="en-US" altLang="zh-CN" sz="2400" b="1" dirty="0">
                <a:solidFill>
                  <a:srgbClr val="000099"/>
                </a:solidFill>
                <a:latin typeface="Times New Roman" panose="02020603050405020304" pitchFamily="18" charset="0"/>
              </a:rPr>
              <a:t>in-degree 0</a:t>
            </a:r>
            <a:r>
              <a:rPr kumimoji="1" lang="en-US" altLang="zh-CN" sz="2400" b="1" dirty="0">
                <a:latin typeface="Times New Roman" panose="02020603050405020304" pitchFamily="18" charset="0"/>
              </a:rPr>
              <a:t> are </a:t>
            </a:r>
            <a:r>
              <a:rPr kumimoji="1" lang="en-US" altLang="zh-CN" sz="2400" b="1" dirty="0" err="1">
                <a:latin typeface="Times New Roman" panose="02020603050405020304" pitchFamily="18" charset="0"/>
              </a:rPr>
              <a:t>inqueue</a:t>
            </a:r>
            <a:r>
              <a:rPr kumimoji="1" lang="en-US" altLang="zh-CN" sz="2400" b="1" dirty="0">
                <a:latin typeface="Times New Roman" panose="02020603050405020304" pitchFamily="18" charset="0"/>
              </a:rPr>
              <a:t>;</a:t>
            </a:r>
          </a:p>
          <a:p>
            <a:pPr eaLnBrk="1" hangingPunct="1">
              <a:spcBef>
                <a:spcPct val="40000"/>
              </a:spcBef>
              <a:buFontTx/>
              <a:buAutoNum type="arabicPeriod"/>
            </a:pPr>
            <a:r>
              <a:rPr kumimoji="1" lang="en-US" altLang="zh-CN" sz="2400" b="1" dirty="0">
                <a:latin typeface="Times New Roman" panose="02020603050405020304" pitchFamily="18" charset="0"/>
              </a:rPr>
              <a:t>If  the queue is empty, </a:t>
            </a:r>
            <a:r>
              <a:rPr kumimoji="1" lang="en-US" altLang="zh-CN" sz="2400" b="1" dirty="0" err="1">
                <a:latin typeface="Times New Roman" panose="02020603050405020304" pitchFamily="18" charset="0"/>
              </a:rPr>
              <a:t>goto</a:t>
            </a:r>
            <a:r>
              <a:rPr kumimoji="1" lang="en-US" altLang="zh-CN" sz="2400" b="1" dirty="0">
                <a:latin typeface="Times New Roman" panose="02020603050405020304" pitchFamily="18" charset="0"/>
              </a:rPr>
              <a:t> 7);</a:t>
            </a:r>
          </a:p>
          <a:p>
            <a:pPr eaLnBrk="1" hangingPunct="1">
              <a:spcBef>
                <a:spcPct val="40000"/>
              </a:spcBef>
              <a:buFontTx/>
              <a:buAutoNum type="arabicPeriod"/>
            </a:pPr>
            <a:r>
              <a:rPr kumimoji="1" lang="en-US" altLang="zh-CN" sz="2400" b="1" dirty="0">
                <a:latin typeface="Times New Roman" panose="02020603050405020304" pitchFamily="18" charset="0"/>
              </a:rPr>
              <a:t>Remove the first vertex </a:t>
            </a:r>
            <a:r>
              <a:rPr kumimoji="1" lang="en-US" altLang="zh-CN" sz="2400" b="1" i="1" dirty="0">
                <a:latin typeface="Times New Roman" panose="02020603050405020304" pitchFamily="18" charset="0"/>
              </a:rPr>
              <a:t>N</a:t>
            </a:r>
            <a:r>
              <a:rPr kumimoji="1" lang="en-US" altLang="zh-CN" sz="2400" b="1" dirty="0">
                <a:latin typeface="Times New Roman" panose="02020603050405020304" pitchFamily="18" charset="0"/>
              </a:rPr>
              <a:t> from queue and output it;</a:t>
            </a:r>
          </a:p>
          <a:p>
            <a:pPr eaLnBrk="1" hangingPunct="1">
              <a:spcBef>
                <a:spcPct val="40000"/>
              </a:spcBef>
              <a:buFontTx/>
              <a:buAutoNum type="arabicPeriod"/>
            </a:pPr>
            <a:r>
              <a:rPr kumimoji="1" lang="en-US" altLang="zh-CN" sz="2400" b="1" dirty="0">
                <a:latin typeface="Times New Roman" panose="02020603050405020304" pitchFamily="18" charset="0"/>
              </a:rPr>
              <a:t>The </a:t>
            </a:r>
            <a:r>
              <a:rPr kumimoji="1" lang="en-US" altLang="zh-CN" sz="2400" b="1" dirty="0">
                <a:solidFill>
                  <a:srgbClr val="000099"/>
                </a:solidFill>
                <a:latin typeface="Times New Roman" panose="02020603050405020304" pitchFamily="18" charset="0"/>
              </a:rPr>
              <a:t>in-degrees of all the neighbors of</a:t>
            </a:r>
            <a:r>
              <a:rPr kumimoji="1" lang="en-US" altLang="zh-CN" sz="2400" b="1" dirty="0">
                <a:solidFill>
                  <a:schemeClr val="folHlink"/>
                </a:solidFill>
                <a:latin typeface="Times New Roman" panose="02020603050405020304" pitchFamily="18" charset="0"/>
              </a:rPr>
              <a:t> </a:t>
            </a:r>
            <a:r>
              <a:rPr kumimoji="1" lang="en-US" altLang="zh-CN" sz="2400" b="1" dirty="0">
                <a:solidFill>
                  <a:srgbClr val="000099"/>
                </a:solidFill>
                <a:latin typeface="Times New Roman" panose="02020603050405020304" pitchFamily="18" charset="0"/>
              </a:rPr>
              <a:t>N</a:t>
            </a:r>
            <a:r>
              <a:rPr kumimoji="1" lang="en-US" altLang="zh-CN" sz="2400" b="1" dirty="0">
                <a:latin typeface="Times New Roman" panose="02020603050405020304" pitchFamily="18" charset="0"/>
              </a:rPr>
              <a:t> is decremented by 1. </a:t>
            </a:r>
            <a:r>
              <a:rPr kumimoji="1" lang="en-US" altLang="zh-CN" sz="2400" b="1" dirty="0" err="1">
                <a:latin typeface="Times New Roman" panose="02020603050405020304" pitchFamily="18" charset="0"/>
              </a:rPr>
              <a:t>Inqueue</a:t>
            </a:r>
            <a:r>
              <a:rPr kumimoji="1" lang="en-US" altLang="zh-CN" sz="2400" b="1" dirty="0">
                <a:latin typeface="Times New Roman" panose="02020603050405020304" pitchFamily="18" charset="0"/>
              </a:rPr>
              <a:t> vertices whose in degrees become to 0;</a:t>
            </a:r>
          </a:p>
          <a:p>
            <a:pPr eaLnBrk="1" hangingPunct="1">
              <a:spcBef>
                <a:spcPct val="40000"/>
              </a:spcBef>
              <a:buFontTx/>
              <a:buAutoNum type="arabicPeriod"/>
            </a:pPr>
            <a:r>
              <a:rPr kumimoji="1" lang="en-US" altLang="zh-CN" sz="2400" b="1" dirty="0" err="1">
                <a:latin typeface="Times New Roman" panose="02020603050405020304" pitchFamily="18" charset="0"/>
              </a:rPr>
              <a:t>Goto</a:t>
            </a:r>
            <a:r>
              <a:rPr kumimoji="1" lang="en-US" altLang="zh-CN" sz="2400" b="1" dirty="0">
                <a:latin typeface="Times New Roman" panose="02020603050405020304" pitchFamily="18" charset="0"/>
              </a:rPr>
              <a:t> 3);</a:t>
            </a:r>
          </a:p>
          <a:p>
            <a:pPr eaLnBrk="1" hangingPunct="1">
              <a:spcBef>
                <a:spcPct val="40000"/>
              </a:spcBef>
              <a:buFontTx/>
              <a:buAutoNum type="arabicPeriod"/>
            </a:pPr>
            <a:r>
              <a:rPr kumimoji="1" lang="en-US" altLang="zh-CN" sz="2400" b="1" dirty="0">
                <a:latin typeface="Times New Roman" panose="02020603050405020304" pitchFamily="18" charset="0"/>
              </a:rPr>
              <a:t>If all vertices have been output, the printed order is topological ordering. Otherwise, the graph include cycles.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95288" y="655638"/>
            <a:ext cx="7896225" cy="671512"/>
          </a:xfrm>
        </p:spPr>
        <p:txBody>
          <a:bodyPr/>
          <a:lstStyle/>
          <a:p>
            <a:pPr algn="l" eaLnBrk="1" hangingPunct="1"/>
            <a:r>
              <a:rPr lang="en-US" altLang="zh-CN" sz="3600" b="1"/>
              <a:t>Topological Ordering</a:t>
            </a:r>
          </a:p>
        </p:txBody>
      </p:sp>
      <p:sp>
        <p:nvSpPr>
          <p:cNvPr id="18435" name="Text Box 3"/>
          <p:cNvSpPr txBox="1">
            <a:spLocks noChangeArrowheads="1"/>
          </p:cNvSpPr>
          <p:nvPr/>
        </p:nvSpPr>
        <p:spPr bwMode="auto">
          <a:xfrm>
            <a:off x="450850" y="1892300"/>
            <a:ext cx="83121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914400" indent="-45720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spcBef>
                <a:spcPct val="0"/>
              </a:spcBef>
              <a:buFontTx/>
              <a:buNone/>
            </a:pPr>
            <a:r>
              <a:rPr kumimoji="1" lang="en-US" altLang="zh-CN" sz="2000" b="1">
                <a:latin typeface="Tahoma" panose="020B0604030504040204" pitchFamily="34" charset="0"/>
              </a:rPr>
              <a:t>void  topsort(ALGraph *G, Queue  *Q)</a:t>
            </a:r>
          </a:p>
          <a:p>
            <a:pPr eaLnBrk="1" hangingPunct="1">
              <a:lnSpc>
                <a:spcPct val="120000"/>
              </a:lnSpc>
              <a:spcBef>
                <a:spcPct val="0"/>
              </a:spcBef>
              <a:buFontTx/>
              <a:buNone/>
            </a:pPr>
            <a:r>
              <a:rPr kumimoji="1" lang="en-US" altLang="zh-CN" sz="2000" b="1">
                <a:latin typeface="Tahoma" panose="020B0604030504040204" pitchFamily="34" charset="0"/>
              </a:rPr>
              <a:t>{    </a:t>
            </a:r>
            <a:r>
              <a:rPr kumimoji="1" lang="en-US" altLang="zh-CN" sz="2000" b="1">
                <a:latin typeface="Arial" panose="020B0604020202020204" pitchFamily="34" charset="0"/>
              </a:rPr>
              <a:t>int</a:t>
            </a:r>
            <a:r>
              <a:rPr kumimoji="1" lang="en-US" altLang="zh-CN" sz="2000" b="1">
                <a:latin typeface="Tahoma" panose="020B0604030504040204" pitchFamily="34" charset="0"/>
              </a:rPr>
              <a:t>  indegree</a:t>
            </a:r>
            <a:r>
              <a:rPr kumimoji="1" lang="en-US" altLang="zh-CN" sz="2000" b="1">
                <a:latin typeface="Arial" panose="020B0604020202020204" pitchFamily="34" charset="0"/>
              </a:rPr>
              <a:t>[G-&gt;Vexnum()];</a:t>
            </a:r>
            <a:r>
              <a:rPr kumimoji="1" lang="en-US" altLang="zh-CN" sz="2000" b="1">
                <a:latin typeface="Tahoma" panose="020B0604030504040204" pitchFamily="34" charset="0"/>
              </a:rPr>
              <a:t>        </a:t>
            </a:r>
            <a:r>
              <a:rPr kumimoji="1" lang="en-US" altLang="zh-CN" sz="2000">
                <a:latin typeface="Times New Roman" panose="02020603050405020304" pitchFamily="18" charset="0"/>
              </a:rPr>
              <a:t>//store the indgree of each vertex</a:t>
            </a:r>
          </a:p>
          <a:p>
            <a:pPr lvl="1" eaLnBrk="1" hangingPunct="1">
              <a:lnSpc>
                <a:spcPct val="120000"/>
              </a:lnSpc>
              <a:spcBef>
                <a:spcPct val="0"/>
              </a:spcBef>
              <a:buFontTx/>
              <a:buNone/>
            </a:pPr>
            <a:r>
              <a:rPr kumimoji="1" lang="en-US" altLang="zh-CN" sz="2000" b="1">
                <a:latin typeface="Arial" panose="020B0604020202020204" pitchFamily="34" charset="0"/>
              </a:rPr>
              <a:t>Node *p;</a:t>
            </a:r>
          </a:p>
          <a:p>
            <a:pPr lvl="1" eaLnBrk="1" hangingPunct="1">
              <a:lnSpc>
                <a:spcPct val="120000"/>
              </a:lnSpc>
              <a:spcBef>
                <a:spcPct val="0"/>
              </a:spcBef>
              <a:buFontTx/>
              <a:buNone/>
            </a:pPr>
            <a:r>
              <a:rPr kumimoji="1" lang="en-US" altLang="zh-CN" sz="2000" b="1">
                <a:latin typeface="Arial" panose="020B0604020202020204" pitchFamily="34" charset="0"/>
              </a:rPr>
              <a:t>for (i = 0; i &lt; G-&gt;Vexnum; i++) indegree[i] = 0; </a:t>
            </a:r>
          </a:p>
          <a:p>
            <a:pPr lvl="1" eaLnBrk="1" hangingPunct="1">
              <a:lnSpc>
                <a:spcPct val="120000"/>
              </a:lnSpc>
              <a:spcBef>
                <a:spcPct val="0"/>
              </a:spcBef>
              <a:buFontTx/>
              <a:buNone/>
            </a:pPr>
            <a:r>
              <a:rPr kumimoji="1" lang="en-US" altLang="zh-CN" sz="2000" b="1">
                <a:latin typeface="Arial" panose="020B0604020202020204" pitchFamily="34" charset="0"/>
              </a:rPr>
              <a:t>for (i = 0; i &lt; G-&gt;Vexnum; i++)</a:t>
            </a:r>
          </a:p>
          <a:p>
            <a:pPr lvl="1" eaLnBrk="1" hangingPunct="1">
              <a:lnSpc>
                <a:spcPct val="120000"/>
              </a:lnSpc>
              <a:spcBef>
                <a:spcPct val="0"/>
              </a:spcBef>
              <a:buFontTx/>
              <a:buNone/>
            </a:pPr>
            <a:r>
              <a:rPr kumimoji="1" lang="en-US" altLang="zh-CN" sz="2000" b="1">
                <a:latin typeface="Arial" panose="020B0604020202020204" pitchFamily="34" charset="0"/>
              </a:rPr>
              <a:t>     {p=G-&gt;AdjList(i)-&gt;LINK;</a:t>
            </a:r>
          </a:p>
          <a:p>
            <a:pPr lvl="1" eaLnBrk="1" hangingPunct="1">
              <a:lnSpc>
                <a:spcPct val="120000"/>
              </a:lnSpc>
              <a:spcBef>
                <a:spcPct val="0"/>
              </a:spcBef>
              <a:buFontTx/>
              <a:buNone/>
            </a:pPr>
            <a:r>
              <a:rPr kumimoji="1" lang="en-US" altLang="zh-CN" sz="2000" b="1">
                <a:latin typeface="Arial" panose="020B0604020202020204" pitchFamily="34" charset="0"/>
              </a:rPr>
              <a:t>       for (j = p.data; p!=NULL; p=p-&gt;LINK) </a:t>
            </a:r>
          </a:p>
          <a:p>
            <a:pPr lvl="1" eaLnBrk="1" hangingPunct="1">
              <a:lnSpc>
                <a:spcPct val="120000"/>
              </a:lnSpc>
              <a:spcBef>
                <a:spcPct val="0"/>
              </a:spcBef>
              <a:buFontTx/>
              <a:buNone/>
            </a:pPr>
            <a:r>
              <a:rPr kumimoji="1" lang="en-US" altLang="zh-CN" sz="2000" b="1">
                <a:latin typeface="Arial" panose="020B0604020202020204" pitchFamily="34" charset="0"/>
              </a:rPr>
              <a:t>         indegree[j]++;</a:t>
            </a:r>
          </a:p>
          <a:p>
            <a:pPr lvl="1" eaLnBrk="1" hangingPunct="1">
              <a:lnSpc>
                <a:spcPct val="120000"/>
              </a:lnSpc>
              <a:spcBef>
                <a:spcPct val="0"/>
              </a:spcBef>
              <a:buFontTx/>
              <a:buNone/>
            </a:pPr>
            <a:r>
              <a:rPr kumimoji="1" lang="en-US" altLang="zh-CN" sz="2000" b="1">
                <a:latin typeface="Tahoma" panose="020B0604030504040204" pitchFamily="34" charset="0"/>
              </a:rPr>
              <a:t>     }</a:t>
            </a:r>
          </a:p>
          <a:p>
            <a:pPr lvl="1" eaLnBrk="1" hangingPunct="1">
              <a:lnSpc>
                <a:spcPct val="120000"/>
              </a:lnSpc>
              <a:spcBef>
                <a:spcPct val="0"/>
              </a:spcBef>
              <a:buFontTx/>
              <a:buNone/>
            </a:pPr>
            <a:r>
              <a:rPr kumimoji="1" lang="en-US" altLang="zh-CN" sz="2000" b="1">
                <a:latin typeface="Arial" panose="020B0604020202020204" pitchFamily="34" charset="0"/>
              </a:rPr>
              <a:t>for (i = 0; i &lt; G-&gt;Vexnum; i++)</a:t>
            </a:r>
          </a:p>
          <a:p>
            <a:pPr lvl="1" eaLnBrk="1" hangingPunct="1">
              <a:lnSpc>
                <a:spcPct val="120000"/>
              </a:lnSpc>
              <a:spcBef>
                <a:spcPct val="0"/>
              </a:spcBef>
              <a:buFontTx/>
              <a:buNone/>
            </a:pPr>
            <a:r>
              <a:rPr kumimoji="1" lang="en-US" altLang="zh-CN" sz="2000" b="1">
                <a:latin typeface="Arial" panose="020B0604020202020204" pitchFamily="34" charset="0"/>
              </a:rPr>
              <a:t>       if (indegree[i] == 0 ) Q-&gt;enqueue(i);</a:t>
            </a:r>
          </a:p>
          <a:p>
            <a:pPr lvl="1" eaLnBrk="1" hangingPunct="1">
              <a:lnSpc>
                <a:spcPct val="120000"/>
              </a:lnSpc>
              <a:spcBef>
                <a:spcPct val="0"/>
              </a:spcBef>
              <a:buFontTx/>
              <a:buNone/>
            </a:pPr>
            <a:r>
              <a:rPr kumimoji="1" lang="en-US" altLang="zh-CN" sz="2000" b="1">
                <a:latin typeface="Arial" panose="020B0604020202020204" pitchFamily="34" charset="0"/>
              </a:rPr>
              <a:t>// see next page …..</a:t>
            </a:r>
            <a:endParaRPr kumimoji="1" lang="en-US" altLang="zh-CN" sz="2000" b="1">
              <a:latin typeface="Tahoma" panose="020B0604030504040204" pitchFamily="34" charset="0"/>
            </a:endParaRPr>
          </a:p>
        </p:txBody>
      </p:sp>
      <p:sp>
        <p:nvSpPr>
          <p:cNvPr id="18436" name="AutoShape 4"/>
          <p:cNvSpPr>
            <a:spLocks noChangeArrowheads="1"/>
          </p:cNvSpPr>
          <p:nvPr/>
        </p:nvSpPr>
        <p:spPr bwMode="auto">
          <a:xfrm>
            <a:off x="5043488" y="4606925"/>
            <a:ext cx="2579687" cy="769938"/>
          </a:xfrm>
          <a:prstGeom prst="wedgeRectCallout">
            <a:avLst>
              <a:gd name="adj1" fmla="val -121630"/>
              <a:gd name="adj2" fmla="val -39898"/>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Counting the indegree of each vertex.</a:t>
            </a:r>
          </a:p>
        </p:txBody>
      </p:sp>
      <p:sp>
        <p:nvSpPr>
          <p:cNvPr id="18437" name="AutoShape 5"/>
          <p:cNvSpPr>
            <a:spLocks noChangeArrowheads="1"/>
          </p:cNvSpPr>
          <p:nvPr/>
        </p:nvSpPr>
        <p:spPr bwMode="auto">
          <a:xfrm>
            <a:off x="5570538" y="5846763"/>
            <a:ext cx="2767012" cy="769937"/>
          </a:xfrm>
          <a:prstGeom prst="wedgeRectCallout">
            <a:avLst>
              <a:gd name="adj1" fmla="val -81324"/>
              <a:gd name="adj2" fmla="val -95773"/>
            </a:avLst>
          </a:prstGeom>
          <a:solidFill>
            <a:schemeClr val="accent1"/>
          </a:solidFill>
          <a:ln w="9525">
            <a:solidFill>
              <a:schemeClr val="tx1"/>
            </a:solidFill>
            <a:miter lim="800000"/>
          </a:ln>
        </p:spPr>
        <p:txBody>
          <a:bodyPr/>
          <a:lstStyle>
            <a:lvl1pPr>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spcBef>
                <a:spcPct val="0"/>
              </a:spcBef>
              <a:buFontTx/>
              <a:buNone/>
            </a:pPr>
            <a:r>
              <a:rPr kumimoji="1" lang="en-US" altLang="zh-CN" sz="2000">
                <a:solidFill>
                  <a:srgbClr val="0000FF"/>
                </a:solidFill>
                <a:latin typeface="Times New Roman" panose="02020603050405020304" pitchFamily="18" charset="0"/>
              </a:rPr>
              <a:t>Place vertices with indegree 0 on the queue</a:t>
            </a:r>
            <a:r>
              <a:rPr kumimoji="1" lang="en-US" altLang="zh-CN" sz="2000">
                <a:solidFill>
                  <a:srgbClr val="FFFF00"/>
                </a:solidFill>
                <a:latin typeface="Times New Roman" panose="02020603050405020304" pitchFamily="18" charset="0"/>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8" y="655638"/>
            <a:ext cx="7896225" cy="671512"/>
          </a:xfrm>
        </p:spPr>
        <p:txBody>
          <a:bodyPr/>
          <a:lstStyle/>
          <a:p>
            <a:pPr algn="l" eaLnBrk="1" hangingPunct="1"/>
            <a:r>
              <a:rPr lang="en-US" altLang="zh-CN" sz="3600" b="1"/>
              <a:t>Topological Ordering</a:t>
            </a:r>
          </a:p>
        </p:txBody>
      </p:sp>
      <p:sp>
        <p:nvSpPr>
          <p:cNvPr id="19459" name="Text Box 3"/>
          <p:cNvSpPr txBox="1">
            <a:spLocks noChangeArrowheads="1"/>
          </p:cNvSpPr>
          <p:nvPr/>
        </p:nvSpPr>
        <p:spPr bwMode="auto">
          <a:xfrm>
            <a:off x="468313" y="1354138"/>
            <a:ext cx="8312150"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914400" indent="-45720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371600" indent="-45720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eaLnBrk="1" hangingPunct="1">
              <a:lnSpc>
                <a:spcPct val="120000"/>
              </a:lnSpc>
              <a:spcBef>
                <a:spcPct val="0"/>
              </a:spcBef>
              <a:buFontTx/>
              <a:buNone/>
            </a:pPr>
            <a:endParaRPr kumimoji="1" lang="en-US" altLang="zh-CN" sz="2400">
              <a:solidFill>
                <a:srgbClr val="00CC66"/>
              </a:solidFill>
              <a:latin typeface="Tahoma" panose="020B0604030504040204" pitchFamily="34" charset="0"/>
            </a:endParaRPr>
          </a:p>
          <a:p>
            <a:pPr lvl="1" eaLnBrk="1" hangingPunct="1">
              <a:lnSpc>
                <a:spcPct val="120000"/>
              </a:lnSpc>
              <a:spcBef>
                <a:spcPct val="0"/>
              </a:spcBef>
              <a:buFontTx/>
              <a:buNone/>
            </a:pPr>
            <a:r>
              <a:rPr kumimoji="1" lang="en-US" altLang="zh-CN" sz="2400" b="1">
                <a:latin typeface="Arial" panose="020B0604020202020204" pitchFamily="34" charset="0"/>
              </a:rPr>
              <a:t>while (isEmpty(Q)!= 0 ){</a:t>
            </a:r>
          </a:p>
          <a:p>
            <a:pPr lvl="2" eaLnBrk="1" hangingPunct="1">
              <a:lnSpc>
                <a:spcPct val="120000"/>
              </a:lnSpc>
              <a:spcBef>
                <a:spcPct val="0"/>
              </a:spcBef>
              <a:buFontTx/>
              <a:buNone/>
            </a:pPr>
            <a:r>
              <a:rPr kumimoji="1" lang="en-US" altLang="zh-CN" b="1">
                <a:latin typeface="Arial" panose="020B0604020202020204" pitchFamily="34" charset="0"/>
              </a:rPr>
              <a:t>v = Q.dequeue();</a:t>
            </a:r>
          </a:p>
          <a:p>
            <a:pPr lvl="2" eaLnBrk="1" hangingPunct="1">
              <a:lnSpc>
                <a:spcPct val="120000"/>
              </a:lnSpc>
              <a:spcBef>
                <a:spcPct val="0"/>
              </a:spcBef>
              <a:buFontTx/>
              <a:buNone/>
            </a:pPr>
            <a:r>
              <a:rPr kumimoji="1" lang="en-US" altLang="zh-CN" b="1">
                <a:latin typeface="Arial" panose="020B0604020202020204" pitchFamily="34" charset="0"/>
              </a:rPr>
              <a:t>Printout(v);</a:t>
            </a:r>
          </a:p>
          <a:p>
            <a:pPr lvl="2" eaLnBrk="1" hangingPunct="1">
              <a:lnSpc>
                <a:spcPct val="120000"/>
              </a:lnSpc>
              <a:spcBef>
                <a:spcPct val="0"/>
              </a:spcBef>
              <a:buFontTx/>
              <a:buNone/>
            </a:pPr>
            <a:r>
              <a:rPr kumimoji="1" lang="en-US" altLang="zh-CN" b="1">
                <a:latin typeface="Arial" panose="020B0604020202020204" pitchFamily="34" charset="0"/>
              </a:rPr>
              <a:t>p=G-&gt;AdjList(v)-&gt;LINK;</a:t>
            </a:r>
          </a:p>
          <a:p>
            <a:pPr lvl="2" eaLnBrk="1" hangingPunct="1">
              <a:lnSpc>
                <a:spcPct val="120000"/>
              </a:lnSpc>
              <a:spcBef>
                <a:spcPct val="0"/>
              </a:spcBef>
              <a:buFontTx/>
              <a:buNone/>
            </a:pPr>
            <a:r>
              <a:rPr kumimoji="1" lang="en-US" altLang="zh-CN" b="1">
                <a:latin typeface="Arial" panose="020B0604020202020204" pitchFamily="34" charset="0"/>
              </a:rPr>
              <a:t>for (w = p.data; p!=NULL; p=p-&gt;LINK){</a:t>
            </a:r>
          </a:p>
          <a:p>
            <a:pPr lvl="1" eaLnBrk="1" hangingPunct="1">
              <a:lnSpc>
                <a:spcPct val="120000"/>
              </a:lnSpc>
              <a:spcBef>
                <a:spcPct val="0"/>
              </a:spcBef>
              <a:buFontTx/>
              <a:buNone/>
            </a:pPr>
            <a:r>
              <a:rPr kumimoji="1" lang="en-US" altLang="zh-CN" sz="2400" b="1">
                <a:latin typeface="Tahoma" panose="020B0604030504040204" pitchFamily="34" charset="0"/>
              </a:rPr>
              <a:t>	    indegree[w]--;</a:t>
            </a:r>
          </a:p>
          <a:p>
            <a:pPr lvl="2" eaLnBrk="1" hangingPunct="1">
              <a:lnSpc>
                <a:spcPct val="120000"/>
              </a:lnSpc>
              <a:spcBef>
                <a:spcPct val="0"/>
              </a:spcBef>
              <a:buFontTx/>
              <a:buNone/>
            </a:pPr>
            <a:r>
              <a:rPr kumimoji="1" lang="en-US" altLang="zh-CN" b="1">
                <a:latin typeface="Tahoma" panose="020B0604030504040204" pitchFamily="34" charset="0"/>
              </a:rPr>
              <a:t>    if (indegree[w]==0)</a:t>
            </a:r>
          </a:p>
          <a:p>
            <a:pPr lvl="2" eaLnBrk="1" hangingPunct="1">
              <a:lnSpc>
                <a:spcPct val="120000"/>
              </a:lnSpc>
              <a:spcBef>
                <a:spcPct val="0"/>
              </a:spcBef>
              <a:buFontTx/>
              <a:buNone/>
            </a:pPr>
            <a:r>
              <a:rPr kumimoji="1" lang="en-US" altLang="zh-CN" b="1">
                <a:latin typeface="Tahoma" panose="020B0604030504040204" pitchFamily="34" charset="0"/>
              </a:rPr>
              <a:t>        Q.enqueue(w);</a:t>
            </a:r>
          </a:p>
          <a:p>
            <a:pPr lvl="2" eaLnBrk="1" hangingPunct="1">
              <a:lnSpc>
                <a:spcPct val="120000"/>
              </a:lnSpc>
              <a:spcBef>
                <a:spcPct val="0"/>
              </a:spcBef>
              <a:buFontTx/>
              <a:buNone/>
            </a:pPr>
            <a:r>
              <a:rPr kumimoji="1" lang="en-US" altLang="zh-CN" b="1">
                <a:latin typeface="Tahoma" panose="020B0604030504040204" pitchFamily="34" charset="0"/>
              </a:rPr>
              <a:t>}</a:t>
            </a:r>
          </a:p>
          <a:p>
            <a:pPr lvl="1" eaLnBrk="1" hangingPunct="1">
              <a:lnSpc>
                <a:spcPct val="120000"/>
              </a:lnSpc>
              <a:spcBef>
                <a:spcPct val="0"/>
              </a:spcBef>
              <a:buFontTx/>
              <a:buNone/>
            </a:pPr>
            <a:r>
              <a:rPr kumimoji="1" lang="en-US" altLang="zh-CN" sz="2400" b="1">
                <a:latin typeface="Arial" panose="020B0604020202020204" pitchFamily="34" charset="0"/>
              </a:rPr>
              <a:t>}</a:t>
            </a:r>
          </a:p>
          <a:p>
            <a:pPr eaLnBrk="1" hangingPunct="1">
              <a:lnSpc>
                <a:spcPct val="120000"/>
              </a:lnSpc>
              <a:spcBef>
                <a:spcPct val="0"/>
              </a:spcBef>
              <a:buFontTx/>
              <a:buNone/>
            </a:pPr>
            <a:r>
              <a:rPr kumimoji="1" lang="en-US" altLang="zh-CN" sz="2400" b="1">
                <a:latin typeface="Arial" panose="020B0604020202020204" pitchFamily="34" charset="0"/>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457997"/>
            <a:ext cx="396240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457200" y="274638"/>
            <a:ext cx="5338936" cy="1143000"/>
          </a:xfrm>
        </p:spPr>
        <p:txBody>
          <a:bodyPr>
            <a:normAutofit/>
          </a:bodyPr>
          <a:lstStyle/>
          <a:p>
            <a:r>
              <a:rPr lang="en-US" altLang="zh-CN" dirty="0" err="1"/>
              <a:t>Dijkstra’s</a:t>
            </a:r>
            <a:r>
              <a:rPr lang="en-US" altLang="zh-CN" dirty="0"/>
              <a:t> Algorithm </a:t>
            </a:r>
            <a:endParaRPr lang="zh-CN" altLang="en-US"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876945"/>
            <a:ext cx="8930952" cy="398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Minimum Spanning Tree</a:t>
            </a:r>
            <a:endParaRPr lang="zh-CN" altLang="en-US" dirty="0"/>
          </a:p>
        </p:txBody>
      </p:sp>
      <p:sp>
        <p:nvSpPr>
          <p:cNvPr id="3" name="内容占位符 2"/>
          <p:cNvSpPr>
            <a:spLocks noGrp="1"/>
          </p:cNvSpPr>
          <p:nvPr>
            <p:ph idx="1"/>
          </p:nvPr>
        </p:nvSpPr>
        <p:spPr/>
        <p:txBody>
          <a:bodyPr/>
          <a:lstStyle/>
          <a:p>
            <a:r>
              <a:rPr lang="en-US" altLang="zh-CN" dirty="0"/>
              <a:t>Definition of spanning tree</a:t>
            </a:r>
          </a:p>
          <a:p>
            <a:pPr lvl="1"/>
            <a:r>
              <a:rPr lang="en-US" altLang="zh-CN" dirty="0"/>
              <a:t>Defined for connected graph (with n nodes)</a:t>
            </a:r>
          </a:p>
          <a:p>
            <a:pPr lvl="1"/>
            <a:r>
              <a:rPr lang="en-US" altLang="zh-CN" dirty="0"/>
              <a:t>Spanning trees contain n nodes and n-1 edges</a:t>
            </a:r>
          </a:p>
          <a:p>
            <a:pPr lvl="1"/>
            <a:r>
              <a:rPr lang="en-US" altLang="zh-CN" dirty="0"/>
              <a:t>Spanning trees are not unique</a:t>
            </a:r>
          </a:p>
          <a:p>
            <a:pPr lvl="1"/>
            <a:r>
              <a:rPr lang="en-US" altLang="zh-CN" dirty="0"/>
              <a:t>Minimum spanning tree</a:t>
            </a:r>
          </a:p>
          <a:p>
            <a:r>
              <a:rPr lang="en-US" altLang="zh-CN" dirty="0"/>
              <a:t>Computation of MST</a:t>
            </a:r>
          </a:p>
          <a:p>
            <a:pPr lvl="1"/>
            <a:r>
              <a:rPr lang="en-US" altLang="zh-CN" dirty="0"/>
              <a:t>Prim’s algorithm</a:t>
            </a:r>
          </a:p>
          <a:p>
            <a:pPr lvl="1"/>
            <a:r>
              <a:rPr lang="en-US" altLang="zh-CN" dirty="0" err="1"/>
              <a:t>Kruskal’s</a:t>
            </a:r>
            <a:r>
              <a:rPr lang="en-US" altLang="zh-CN" dirty="0"/>
              <a:t> algorithm</a:t>
            </a:r>
          </a:p>
          <a:p>
            <a:pPr lvl="1"/>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Prim’s algorithm</a:t>
            </a:r>
            <a:endParaRPr lang="zh-CN" alt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9" y="1124745"/>
            <a:ext cx="2976696"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068960"/>
            <a:ext cx="6910564" cy="216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Kruskal’s</a:t>
            </a:r>
            <a:r>
              <a:rPr lang="en-US" altLang="zh-CN" dirty="0"/>
              <a:t> algorithm</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2276872"/>
            <a:ext cx="7715250" cy="254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a:t>Prim’s algorithm is more efficient for dense graphs</a:t>
            </a:r>
          </a:p>
          <a:p>
            <a:r>
              <a:rPr lang="en-US" altLang="zh-CN"/>
              <a:t>Kruskal’s algorithm is more efficient for sparse graphs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Ch.6 Sorting</a:t>
            </a:r>
            <a:endParaRPr lang="zh-CN" altLang="en-US" dirty="0"/>
          </a:p>
        </p:txBody>
      </p:sp>
      <p:sp>
        <p:nvSpPr>
          <p:cNvPr id="3" name="内容占位符 2"/>
          <p:cNvSpPr>
            <a:spLocks noGrp="1"/>
          </p:cNvSpPr>
          <p:nvPr>
            <p:ph idx="1"/>
          </p:nvPr>
        </p:nvSpPr>
        <p:spPr/>
        <p:txBody>
          <a:bodyPr>
            <a:normAutofit fontScale="85000" lnSpcReduction="20000"/>
          </a:bodyPr>
          <a:lstStyle/>
          <a:p>
            <a:r>
              <a:rPr lang="en-US" altLang="zh-CN" dirty="0"/>
              <a:t>Insertion sort</a:t>
            </a:r>
          </a:p>
          <a:p>
            <a:r>
              <a:rPr lang="en-US" altLang="zh-CN" dirty="0"/>
              <a:t>Shell sort</a:t>
            </a:r>
          </a:p>
          <a:p>
            <a:r>
              <a:rPr lang="en-US" altLang="zh-CN" dirty="0"/>
              <a:t>Bubble sort</a:t>
            </a:r>
          </a:p>
          <a:p>
            <a:pPr lvl="1"/>
            <a:r>
              <a:rPr lang="en-US" altLang="zh-CN" dirty="0"/>
              <a:t>If compare from front to back, the largest element is put at the last position</a:t>
            </a:r>
          </a:p>
          <a:p>
            <a:pPr lvl="1"/>
            <a:r>
              <a:rPr lang="en-US" altLang="zh-CN" dirty="0"/>
              <a:t>If compare from back to front, the smallest element is put at </a:t>
            </a:r>
            <a:r>
              <a:rPr lang="en-US" altLang="zh-CN"/>
              <a:t>the first </a:t>
            </a:r>
            <a:r>
              <a:rPr lang="en-US" altLang="zh-CN" dirty="0"/>
              <a:t>position</a:t>
            </a:r>
          </a:p>
          <a:p>
            <a:r>
              <a:rPr lang="en-US" altLang="zh-CN" dirty="0"/>
              <a:t>Heap sort</a:t>
            </a:r>
          </a:p>
          <a:p>
            <a:r>
              <a:rPr lang="en-US" altLang="zh-CN" dirty="0"/>
              <a:t>Quick sort</a:t>
            </a:r>
          </a:p>
          <a:p>
            <a:r>
              <a:rPr lang="en-US" altLang="zh-CN" dirty="0"/>
              <a:t>Merge sort</a:t>
            </a:r>
          </a:p>
          <a:p>
            <a:r>
              <a:rPr lang="en-US" altLang="zh-CN" dirty="0"/>
              <a:t>Radix sort</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Summary: comparison based sorting methods</a:t>
            </a:r>
            <a:endParaRPr kumimoji="1" lang="zh-CN" altLang="en-US" dirty="0"/>
          </a:p>
        </p:txBody>
      </p:sp>
      <p:graphicFrame>
        <p:nvGraphicFramePr>
          <p:cNvPr id="6" name="内容占位符 5"/>
          <p:cNvGraphicFramePr>
            <a:graphicFrameLocks noGrp="1"/>
          </p:cNvGraphicFramePr>
          <p:nvPr>
            <p:ph idx="1"/>
          </p:nvPr>
        </p:nvGraphicFramePr>
        <p:xfrm>
          <a:off x="628650" y="2226310"/>
          <a:ext cx="7447915" cy="3108960"/>
        </p:xfrm>
        <a:graphic>
          <a:graphicData uri="http://schemas.openxmlformats.org/drawingml/2006/table">
            <a:tbl>
              <a:tblPr firstRow="1" bandRow="1">
                <a:tableStyleId>{5C22544A-7EE6-4342-B048-85BDC9FD1C3A}</a:tableStyleId>
              </a:tblPr>
              <a:tblGrid>
                <a:gridCol w="1741805">
                  <a:extLst>
                    <a:ext uri="{9D8B030D-6E8A-4147-A177-3AD203B41FA5}">
                      <a16:colId xmlns:a16="http://schemas.microsoft.com/office/drawing/2014/main" val="20000"/>
                    </a:ext>
                  </a:extLst>
                </a:gridCol>
                <a:gridCol w="774700">
                  <a:extLst>
                    <a:ext uri="{9D8B030D-6E8A-4147-A177-3AD203B41FA5}">
                      <a16:colId xmlns:a16="http://schemas.microsoft.com/office/drawing/2014/main" val="20001"/>
                    </a:ext>
                  </a:extLst>
                </a:gridCol>
                <a:gridCol w="995680">
                  <a:extLst>
                    <a:ext uri="{9D8B030D-6E8A-4147-A177-3AD203B41FA5}">
                      <a16:colId xmlns:a16="http://schemas.microsoft.com/office/drawing/2014/main" val="20002"/>
                    </a:ext>
                  </a:extLst>
                </a:gridCol>
                <a:gridCol w="995045">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1127125">
                  <a:extLst>
                    <a:ext uri="{9D8B030D-6E8A-4147-A177-3AD203B41FA5}">
                      <a16:colId xmlns:a16="http://schemas.microsoft.com/office/drawing/2014/main" val="20005"/>
                    </a:ext>
                  </a:extLst>
                </a:gridCol>
                <a:gridCol w="1127760">
                  <a:extLst>
                    <a:ext uri="{9D8B030D-6E8A-4147-A177-3AD203B41FA5}">
                      <a16:colId xmlns:a16="http://schemas.microsoft.com/office/drawing/2014/main" val="20006"/>
                    </a:ext>
                  </a:extLst>
                </a:gridCol>
              </a:tblGrid>
              <a:tr h="278130">
                <a:tc>
                  <a:txBody>
                    <a:bodyPr/>
                    <a:lstStyle/>
                    <a:p>
                      <a:r>
                        <a:rPr lang="en-US" altLang="zh-CN" sz="1350" dirty="0"/>
                        <a:t>Sorting method</a:t>
                      </a:r>
                      <a:endParaRPr lang="zh-CN" altLang="en-US" sz="1350" dirty="0"/>
                    </a:p>
                  </a:txBody>
                  <a:tcPr marL="68580" marR="68580" marT="34290" marB="34290"/>
                </a:tc>
                <a:tc gridSpan="3">
                  <a:txBody>
                    <a:bodyPr/>
                    <a:lstStyle/>
                    <a:p>
                      <a:r>
                        <a:rPr lang="en-US" altLang="zh-CN" sz="1350" dirty="0"/>
                        <a:t>Time complexity</a:t>
                      </a:r>
                      <a:endParaRPr lang="zh-CN" altLang="en-US" sz="1350" dirty="0"/>
                    </a:p>
                  </a:txBody>
                  <a:tcPr marL="68580" marR="68580" marT="34290" marB="34290"/>
                </a:tc>
                <a:tc hMerge="1">
                  <a:txBody>
                    <a:bodyPr/>
                    <a:lstStyle/>
                    <a:p>
                      <a:endParaRPr lang="zh-CN"/>
                    </a:p>
                  </a:txBody>
                  <a:tcPr/>
                </a:tc>
                <a:tc hMerge="1">
                  <a:txBody>
                    <a:bodyPr/>
                    <a:lstStyle/>
                    <a:p>
                      <a:endParaRPr lang="zh-CN"/>
                    </a:p>
                  </a:txBody>
                  <a:tcPr/>
                </a:tc>
                <a:tc>
                  <a:txBody>
                    <a:bodyPr/>
                    <a:lstStyle/>
                    <a:p>
                      <a:r>
                        <a:rPr lang="en-US" altLang="zh-CN" sz="1350" dirty="0"/>
                        <a:t>Stability </a:t>
                      </a:r>
                      <a:endParaRPr lang="zh-CN" altLang="en-US" sz="1350" dirty="0"/>
                    </a:p>
                  </a:txBody>
                  <a:tcPr marL="68580" marR="68580" marT="34290" marB="34290"/>
                </a:tc>
                <a:tc>
                  <a:txBody>
                    <a:bodyPr/>
                    <a:lstStyle/>
                    <a:p>
                      <a:r>
                        <a:rPr lang="en-US" altLang="zh-CN" sz="1350" dirty="0"/>
                        <a:t>Space complexity</a:t>
                      </a:r>
                    </a:p>
                  </a:txBody>
                  <a:tcPr marL="68580" marR="68580" marT="34290" marB="34290"/>
                </a:tc>
                <a:tc>
                  <a:txBody>
                    <a:bodyPr/>
                    <a:lstStyle/>
                    <a:p>
                      <a:pPr>
                        <a:buNone/>
                      </a:pPr>
                      <a:r>
                        <a:rPr lang="en-US" altLang="zh-CN" sz="1350" dirty="0"/>
                        <a:t>Number of passes</a:t>
                      </a:r>
                    </a:p>
                  </a:txBody>
                  <a:tcPr marL="68580" marR="68580" marT="34290" marB="34290"/>
                </a:tc>
                <a:extLst>
                  <a:ext uri="{0D108BD9-81ED-4DB2-BD59-A6C34878D82A}">
                    <a16:rowId xmlns:a16="http://schemas.microsoft.com/office/drawing/2014/main" val="10000"/>
                  </a:ext>
                </a:extLst>
              </a:tr>
              <a:tr h="278130">
                <a:tc>
                  <a:txBody>
                    <a:bodyPr/>
                    <a:lstStyle/>
                    <a:p>
                      <a:endParaRPr lang="zh-CN" altLang="en-US" sz="1350" dirty="0"/>
                    </a:p>
                  </a:txBody>
                  <a:tcPr marL="68580" marR="68580" marT="34290" marB="34290"/>
                </a:tc>
                <a:tc>
                  <a:txBody>
                    <a:bodyPr/>
                    <a:lstStyle/>
                    <a:p>
                      <a:r>
                        <a:rPr lang="en-US" altLang="zh-CN" sz="1350" dirty="0"/>
                        <a:t>Worst case</a:t>
                      </a:r>
                      <a:endParaRPr lang="zh-CN" altLang="en-US" sz="1350" dirty="0"/>
                    </a:p>
                  </a:txBody>
                  <a:tcPr marL="68580" marR="68580" marT="34290" marB="34290"/>
                </a:tc>
                <a:tc>
                  <a:txBody>
                    <a:bodyPr/>
                    <a:lstStyle/>
                    <a:p>
                      <a:pPr>
                        <a:buNone/>
                      </a:pPr>
                      <a:r>
                        <a:rPr lang="en-US" altLang="zh-CN" sz="1350" dirty="0"/>
                        <a:t>Best case</a:t>
                      </a:r>
                    </a:p>
                  </a:txBody>
                  <a:tcPr marL="68580" marR="68580" marT="34290" marB="34290"/>
                </a:tc>
                <a:tc>
                  <a:txBody>
                    <a:bodyPr/>
                    <a:lstStyle/>
                    <a:p>
                      <a:r>
                        <a:rPr lang="en-US" altLang="zh-CN" sz="1350" dirty="0" err="1"/>
                        <a:t>Avarage</a:t>
                      </a:r>
                      <a:r>
                        <a:rPr lang="en-US" altLang="zh-CN" sz="1350" dirty="0"/>
                        <a:t> case</a:t>
                      </a:r>
                      <a:endParaRPr lang="zh-CN" altLang="en-US" sz="1350" dirty="0"/>
                    </a:p>
                  </a:txBody>
                  <a:tcPr marL="68580" marR="68580" marT="34290" marB="34290"/>
                </a:tc>
                <a:tc>
                  <a:txBody>
                    <a:bodyPr/>
                    <a:lstStyle/>
                    <a:p>
                      <a:endParaRPr lang="zh-CN" altLang="en-US" sz="1350" dirty="0"/>
                    </a:p>
                  </a:txBody>
                  <a:tcPr marL="68580" marR="68580" marT="34290" marB="34290"/>
                </a:tc>
                <a:tc>
                  <a:txBody>
                    <a:bodyPr/>
                    <a:lstStyle/>
                    <a:p>
                      <a:endParaRPr lang="zh-CN" altLang="en-US" sz="1350" dirty="0"/>
                    </a:p>
                  </a:txBody>
                  <a:tcPr marL="68580" marR="68580" marT="34290" marB="34290"/>
                </a:tc>
                <a:tc>
                  <a:txBody>
                    <a:bodyPr/>
                    <a:lstStyle/>
                    <a:p>
                      <a:pPr>
                        <a:buNone/>
                      </a:pPr>
                      <a:endParaRPr lang="zh-CN" altLang="en-US" sz="1350" dirty="0"/>
                    </a:p>
                  </a:txBody>
                  <a:tcPr marL="68580" marR="68580" marT="34290" marB="34290"/>
                </a:tc>
                <a:extLst>
                  <a:ext uri="{0D108BD9-81ED-4DB2-BD59-A6C34878D82A}">
                    <a16:rowId xmlns:a16="http://schemas.microsoft.com/office/drawing/2014/main" val="10001"/>
                  </a:ext>
                </a:extLst>
              </a:tr>
              <a:tr h="278130">
                <a:tc>
                  <a:txBody>
                    <a:bodyPr/>
                    <a:lstStyle/>
                    <a:p>
                      <a:r>
                        <a:rPr lang="en-US" altLang="zh-CN" sz="1350" dirty="0"/>
                        <a:t>Insertion sort</a:t>
                      </a:r>
                      <a:endParaRPr lang="zh-CN" altLang="en-US" sz="1350" dirty="0"/>
                    </a:p>
                  </a:txBody>
                  <a:tcPr marL="68580" marR="68580" marT="34290" marB="34290"/>
                </a:tc>
                <a:tc>
                  <a:txBody>
                    <a:bodyPr/>
                    <a:lstStyle/>
                    <a:p>
                      <a:r>
                        <a:rPr lang="en-US" altLang="zh-CN" sz="1350" dirty="0"/>
                        <a:t>O(n</a:t>
                      </a:r>
                      <a:r>
                        <a:rPr lang="en-US" altLang="zh-CN" sz="1350" baseline="30000" dirty="0"/>
                        <a:t>2</a:t>
                      </a:r>
                      <a:r>
                        <a:rPr lang="en-US" altLang="zh-CN" sz="1350" dirty="0"/>
                        <a:t>)</a:t>
                      </a:r>
                      <a:endParaRPr lang="zh-CN" altLang="en-US" sz="1350" dirty="0"/>
                    </a:p>
                  </a:txBody>
                  <a:tcPr marL="68580" marR="68580" marT="34290" marB="34290"/>
                </a:tc>
                <a:tc>
                  <a:txBody>
                    <a:bodyPr/>
                    <a:lstStyle/>
                    <a:p>
                      <a:pPr>
                        <a:buNone/>
                      </a:pPr>
                      <a:r>
                        <a:rPr lang="en-US" altLang="zh-CN" sz="1350" dirty="0"/>
                        <a:t>O(n)</a:t>
                      </a:r>
                    </a:p>
                  </a:txBody>
                  <a:tcPr marL="68580" marR="68580" marT="34290" marB="34290"/>
                </a:tc>
                <a:tc>
                  <a:txBody>
                    <a:bodyPr/>
                    <a:lstStyle/>
                    <a:p>
                      <a:r>
                        <a:rPr lang="en-US" altLang="zh-CN" sz="1350" dirty="0"/>
                        <a:t>O(n</a:t>
                      </a:r>
                      <a:r>
                        <a:rPr lang="en-US" altLang="zh-CN" sz="1350" baseline="30000" dirty="0"/>
                        <a:t>2</a:t>
                      </a:r>
                      <a:r>
                        <a:rPr lang="en-US" altLang="zh-CN" sz="1350" dirty="0"/>
                        <a:t>)</a:t>
                      </a:r>
                      <a:endParaRPr lang="zh-CN" altLang="en-US" sz="1350" dirty="0"/>
                    </a:p>
                  </a:txBody>
                  <a:tcPr marL="68580" marR="68580" marT="34290" marB="34290"/>
                </a:tc>
                <a:tc>
                  <a:txBody>
                    <a:bodyPr/>
                    <a:lstStyle/>
                    <a:p>
                      <a:r>
                        <a:rPr lang="en-US" altLang="zh-CN" sz="1350" dirty="0"/>
                        <a:t>Y</a:t>
                      </a:r>
                      <a:endParaRPr lang="zh-CN" altLang="en-US" sz="1350" dirty="0"/>
                    </a:p>
                  </a:txBody>
                  <a:tcPr marL="68580" marR="68580" marT="34290" marB="34290"/>
                </a:tc>
                <a:tc>
                  <a:txBody>
                    <a:bodyPr/>
                    <a:lstStyle/>
                    <a:p>
                      <a:r>
                        <a:rPr lang="en-US" altLang="zh-CN" sz="1350" dirty="0"/>
                        <a:t>O(1)</a:t>
                      </a:r>
                      <a:endParaRPr lang="zh-CN" altLang="en-US" sz="1350" dirty="0"/>
                    </a:p>
                  </a:txBody>
                  <a:tcPr marL="68580" marR="68580" marT="34290" marB="34290"/>
                </a:tc>
                <a:tc>
                  <a:txBody>
                    <a:bodyPr/>
                    <a:lstStyle/>
                    <a:p>
                      <a:pPr>
                        <a:buNone/>
                      </a:pPr>
                      <a:r>
                        <a:rPr lang="en-US" altLang="zh-CN" sz="1350" dirty="0"/>
                        <a:t>n-1</a:t>
                      </a:r>
                    </a:p>
                  </a:txBody>
                  <a:tcPr marL="68580" marR="68580" marT="34290" marB="34290"/>
                </a:tc>
                <a:extLst>
                  <a:ext uri="{0D108BD9-81ED-4DB2-BD59-A6C34878D82A}">
                    <a16:rowId xmlns:a16="http://schemas.microsoft.com/office/drawing/2014/main" val="10002"/>
                  </a:ext>
                </a:extLst>
              </a:tr>
              <a:tr h="278130">
                <a:tc>
                  <a:txBody>
                    <a:bodyPr/>
                    <a:lstStyle/>
                    <a:p>
                      <a:r>
                        <a:rPr lang="en-US" altLang="zh-CN" sz="1350" dirty="0"/>
                        <a:t>Shell</a:t>
                      </a:r>
                      <a:r>
                        <a:rPr lang="en-US" altLang="zh-CN" sz="1350" baseline="0" dirty="0"/>
                        <a:t> sort</a:t>
                      </a:r>
                      <a:endParaRPr lang="zh-CN" altLang="en-US" sz="1350" dirty="0"/>
                    </a:p>
                  </a:txBody>
                  <a:tcPr marL="68580" marR="68580" marT="34290" marB="34290"/>
                </a:tc>
                <a:tc>
                  <a:txBody>
                    <a:bodyPr/>
                    <a:lstStyle/>
                    <a:p>
                      <a:endParaRPr lang="zh-CN" altLang="en-US" sz="1350" dirty="0"/>
                    </a:p>
                  </a:txBody>
                  <a:tcPr marL="68580" marR="68580" marT="34290" marB="34290"/>
                </a:tc>
                <a:tc>
                  <a:txBody>
                    <a:bodyPr/>
                    <a:lstStyle/>
                    <a:p>
                      <a:pPr>
                        <a:buNone/>
                      </a:pPr>
                      <a:endParaRPr lang="zh-CN" altLang="en-US" sz="1350" dirty="0"/>
                    </a:p>
                  </a:txBody>
                  <a:tcPr marL="68580" marR="68580" marT="34290" marB="34290"/>
                </a:tc>
                <a:tc>
                  <a:txBody>
                    <a:bodyPr/>
                    <a:lstStyle/>
                    <a:p>
                      <a:endParaRPr lang="zh-CN" altLang="en-US" sz="1350" dirty="0"/>
                    </a:p>
                  </a:txBody>
                  <a:tcPr marL="68580" marR="68580" marT="34290" marB="34290"/>
                </a:tc>
                <a:tc>
                  <a:txBody>
                    <a:bodyPr/>
                    <a:lstStyle/>
                    <a:p>
                      <a:r>
                        <a:rPr lang="en-US" altLang="zh-CN" sz="1350" dirty="0"/>
                        <a:t>N</a:t>
                      </a:r>
                      <a:endParaRPr lang="zh-CN" altLang="en-US" sz="1350" dirty="0"/>
                    </a:p>
                  </a:txBody>
                  <a:tcPr marL="68580" marR="68580" marT="34290" marB="34290"/>
                </a:tc>
                <a:tc>
                  <a:txBody>
                    <a:bodyPr/>
                    <a:lstStyle/>
                    <a:p>
                      <a:r>
                        <a:rPr lang="en-US" altLang="zh-CN" sz="1350" dirty="0"/>
                        <a:t>O)1)</a:t>
                      </a:r>
                      <a:endParaRPr lang="zh-CN" altLang="en-US" sz="1350" dirty="0"/>
                    </a:p>
                  </a:txBody>
                  <a:tcPr marL="68580" marR="68580" marT="34290" marB="34290"/>
                </a:tc>
                <a:tc>
                  <a:txBody>
                    <a:bodyPr/>
                    <a:lstStyle/>
                    <a:p>
                      <a:pPr>
                        <a:buNone/>
                      </a:pPr>
                      <a:endParaRPr lang="zh-CN" altLang="en-US" sz="1350" dirty="0"/>
                    </a:p>
                  </a:txBody>
                  <a:tcPr marL="68580" marR="68580" marT="34290" marB="34290"/>
                </a:tc>
                <a:extLst>
                  <a:ext uri="{0D108BD9-81ED-4DB2-BD59-A6C34878D82A}">
                    <a16:rowId xmlns:a16="http://schemas.microsoft.com/office/drawing/2014/main" val="10003"/>
                  </a:ext>
                </a:extLst>
              </a:tr>
              <a:tr h="278130">
                <a:tc>
                  <a:txBody>
                    <a:bodyPr/>
                    <a:lstStyle/>
                    <a:p>
                      <a:r>
                        <a:rPr lang="en-US" altLang="zh-CN" sz="1350" dirty="0"/>
                        <a:t>Bubble sort</a:t>
                      </a:r>
                      <a:endParaRPr lang="zh-CN" altLang="en-US" sz="1350" dirty="0"/>
                    </a:p>
                  </a:txBody>
                  <a:tcPr marL="68580" marR="68580" marT="34290" marB="34290"/>
                </a:tc>
                <a:tc>
                  <a:txBody>
                    <a:bodyPr/>
                    <a:lstStyle/>
                    <a:p>
                      <a:r>
                        <a:rPr lang="en-US" altLang="zh-CN" sz="1350" dirty="0"/>
                        <a:t>O(n</a:t>
                      </a:r>
                      <a:r>
                        <a:rPr lang="en-US" altLang="zh-CN" sz="1350" baseline="30000" dirty="0"/>
                        <a:t>2</a:t>
                      </a:r>
                      <a:r>
                        <a:rPr lang="en-US" altLang="zh-CN" sz="1350" dirty="0"/>
                        <a:t>)</a:t>
                      </a:r>
                      <a:endParaRPr lang="zh-CN" altLang="en-US" sz="1350" dirty="0"/>
                    </a:p>
                  </a:txBody>
                  <a:tcPr marL="68580" marR="68580" marT="34290" marB="34290"/>
                </a:tc>
                <a:tc>
                  <a:txBody>
                    <a:bodyPr/>
                    <a:lstStyle/>
                    <a:p>
                      <a:pPr>
                        <a:buNone/>
                      </a:pPr>
                      <a:r>
                        <a:rPr lang="en-US" altLang="zh-CN" sz="1350" dirty="0"/>
                        <a:t>O(n)</a:t>
                      </a:r>
                    </a:p>
                  </a:txBody>
                  <a:tcPr marL="68580" marR="68580" marT="34290" marB="34290"/>
                </a:tc>
                <a:tc>
                  <a:txBody>
                    <a:bodyPr/>
                    <a:lstStyle/>
                    <a:p>
                      <a:r>
                        <a:rPr lang="en-US" altLang="zh-CN" sz="1350" dirty="0"/>
                        <a:t>O(n</a:t>
                      </a:r>
                      <a:r>
                        <a:rPr lang="en-US" altLang="zh-CN" sz="1350" baseline="30000" dirty="0"/>
                        <a:t>2</a:t>
                      </a:r>
                      <a:r>
                        <a:rPr lang="en-US" altLang="zh-CN" sz="1350" dirty="0"/>
                        <a:t>)</a:t>
                      </a:r>
                      <a:endParaRPr lang="zh-CN" altLang="en-US" sz="1350" dirty="0"/>
                    </a:p>
                  </a:txBody>
                  <a:tcPr marL="68580" marR="68580" marT="34290" marB="34290"/>
                </a:tc>
                <a:tc>
                  <a:txBody>
                    <a:bodyPr/>
                    <a:lstStyle/>
                    <a:p>
                      <a:r>
                        <a:rPr lang="en-US" altLang="zh-CN" sz="1350" dirty="0"/>
                        <a:t>Y</a:t>
                      </a:r>
                      <a:endParaRPr lang="zh-CN" altLang="en-US" sz="1350" dirty="0"/>
                    </a:p>
                  </a:txBody>
                  <a:tcPr marL="68580" marR="68580" marT="34290" marB="34290"/>
                </a:tc>
                <a:tc>
                  <a:txBody>
                    <a:bodyPr/>
                    <a:lstStyle/>
                    <a:p>
                      <a:r>
                        <a:rPr lang="en-US" altLang="zh-CN" sz="1350" dirty="0"/>
                        <a:t>O(1)</a:t>
                      </a:r>
                      <a:endParaRPr lang="zh-CN" altLang="en-US" sz="1350" dirty="0"/>
                    </a:p>
                  </a:txBody>
                  <a:tcPr marL="68580" marR="68580" marT="34290" marB="34290"/>
                </a:tc>
                <a:tc>
                  <a:txBody>
                    <a:bodyPr/>
                    <a:lstStyle/>
                    <a:p>
                      <a:pPr>
                        <a:buNone/>
                      </a:pPr>
                      <a:r>
                        <a:rPr lang="en-US" altLang="zh-CN" sz="1350" dirty="0"/>
                        <a:t>1~n-1</a:t>
                      </a:r>
                    </a:p>
                  </a:txBody>
                  <a:tcPr marL="68580" marR="68580" marT="34290" marB="34290"/>
                </a:tc>
                <a:extLst>
                  <a:ext uri="{0D108BD9-81ED-4DB2-BD59-A6C34878D82A}">
                    <a16:rowId xmlns:a16="http://schemas.microsoft.com/office/drawing/2014/main" val="10004"/>
                  </a:ext>
                </a:extLst>
              </a:tr>
              <a:tr h="278130">
                <a:tc>
                  <a:txBody>
                    <a:bodyPr/>
                    <a:lstStyle/>
                    <a:p>
                      <a:r>
                        <a:rPr lang="en-US" altLang="zh-CN" sz="1350" dirty="0"/>
                        <a:t>Heap sort</a:t>
                      </a:r>
                      <a:endParaRPr lang="zh-CN" altLang="en-US" sz="1350" dirty="0"/>
                    </a:p>
                  </a:txBody>
                  <a:tcPr marL="68580" marR="68580" marT="34290" marB="34290"/>
                </a:tc>
                <a:tc>
                  <a:txBody>
                    <a:bodyPr/>
                    <a:lstStyle/>
                    <a:p>
                      <a:r>
                        <a:rPr lang="en-US" altLang="zh-CN" sz="1350" dirty="0"/>
                        <a:t>O(</a:t>
                      </a:r>
                      <a:r>
                        <a:rPr lang="en-US" altLang="zh-CN" sz="1350" dirty="0" err="1"/>
                        <a:t>nlogn</a:t>
                      </a:r>
                      <a:r>
                        <a:rPr lang="en-US" altLang="zh-CN" sz="1350" dirty="0"/>
                        <a:t>)</a:t>
                      </a:r>
                      <a:endParaRPr lang="zh-CN" altLang="en-US" sz="1350" dirty="0"/>
                    </a:p>
                  </a:txBody>
                  <a:tcPr marL="68580" marR="68580" marT="34290" marB="34290"/>
                </a:tc>
                <a:tc>
                  <a:txBody>
                    <a:bodyPr/>
                    <a:lstStyle/>
                    <a:p>
                      <a:pPr>
                        <a:buNone/>
                      </a:pPr>
                      <a:r>
                        <a:rPr lang="en-US" altLang="zh-CN" sz="1350" dirty="0"/>
                        <a:t>O(nlogn)</a:t>
                      </a:r>
                    </a:p>
                  </a:txBody>
                  <a:tcPr marL="68580" marR="68580" marT="34290" marB="34290"/>
                </a:tc>
                <a:tc>
                  <a:txBody>
                    <a:bodyPr/>
                    <a:lstStyle/>
                    <a:p>
                      <a:r>
                        <a:rPr lang="en-US" altLang="zh-CN" sz="1350" dirty="0"/>
                        <a:t>O(</a:t>
                      </a:r>
                      <a:r>
                        <a:rPr lang="en-US" altLang="zh-CN" sz="1350" dirty="0" err="1"/>
                        <a:t>nlogn</a:t>
                      </a:r>
                      <a:r>
                        <a:rPr lang="en-US" altLang="zh-CN" sz="1350" dirty="0"/>
                        <a:t>)</a:t>
                      </a:r>
                      <a:endParaRPr lang="zh-CN" altLang="en-US" sz="1350" dirty="0"/>
                    </a:p>
                  </a:txBody>
                  <a:tcPr marL="68580" marR="68580" marT="34290" marB="34290"/>
                </a:tc>
                <a:tc>
                  <a:txBody>
                    <a:bodyPr/>
                    <a:lstStyle/>
                    <a:p>
                      <a:r>
                        <a:rPr lang="en-US" altLang="zh-CN" sz="1350" dirty="0"/>
                        <a:t>N</a:t>
                      </a:r>
                      <a:endParaRPr lang="zh-CN" altLang="en-US" sz="1350" dirty="0"/>
                    </a:p>
                  </a:txBody>
                  <a:tcPr marL="68580" marR="68580" marT="34290" marB="34290"/>
                </a:tc>
                <a:tc>
                  <a:txBody>
                    <a:bodyPr/>
                    <a:lstStyle/>
                    <a:p>
                      <a:r>
                        <a:rPr lang="en-US" altLang="zh-CN" sz="1350" dirty="0"/>
                        <a:t>O(1)</a:t>
                      </a:r>
                      <a:endParaRPr lang="zh-CN" altLang="en-US" sz="1350" dirty="0"/>
                    </a:p>
                  </a:txBody>
                  <a:tcPr marL="68580" marR="68580" marT="34290" marB="34290"/>
                </a:tc>
                <a:tc>
                  <a:txBody>
                    <a:bodyPr/>
                    <a:lstStyle/>
                    <a:p>
                      <a:pPr>
                        <a:buNone/>
                      </a:pPr>
                      <a:r>
                        <a:rPr lang="en-US" altLang="zh-CN" sz="1350" dirty="0"/>
                        <a:t>n-1</a:t>
                      </a:r>
                    </a:p>
                  </a:txBody>
                  <a:tcPr marL="68580" marR="68580" marT="34290" marB="34290"/>
                </a:tc>
                <a:extLst>
                  <a:ext uri="{0D108BD9-81ED-4DB2-BD59-A6C34878D82A}">
                    <a16:rowId xmlns:a16="http://schemas.microsoft.com/office/drawing/2014/main" val="10005"/>
                  </a:ext>
                </a:extLst>
              </a:tr>
              <a:tr h="278130">
                <a:tc>
                  <a:txBody>
                    <a:bodyPr/>
                    <a:lstStyle/>
                    <a:p>
                      <a:r>
                        <a:rPr lang="en-US" altLang="zh-CN" sz="1350" dirty="0"/>
                        <a:t>Merge sort</a:t>
                      </a:r>
                      <a:endParaRPr lang="zh-CN" altLang="en-US" sz="1350" dirty="0"/>
                    </a:p>
                  </a:txBody>
                  <a:tcPr marL="68580" marR="68580" marT="34290" marB="34290"/>
                </a:tc>
                <a:tc>
                  <a:txBody>
                    <a:bodyPr/>
                    <a:lstStyle/>
                    <a:p>
                      <a:r>
                        <a:rPr lang="en-US" altLang="zh-CN" sz="1350" dirty="0"/>
                        <a:t>O(</a:t>
                      </a:r>
                      <a:r>
                        <a:rPr lang="en-US" altLang="zh-CN" sz="1350" dirty="0" err="1"/>
                        <a:t>nlogn</a:t>
                      </a:r>
                      <a:r>
                        <a:rPr lang="en-US" altLang="zh-CN" sz="1350" dirty="0"/>
                        <a:t>)</a:t>
                      </a:r>
                      <a:endParaRPr lang="zh-CN" altLang="en-US" sz="1350" dirty="0"/>
                    </a:p>
                  </a:txBody>
                  <a:tcPr marL="68580" marR="68580" marT="34290" marB="34290"/>
                </a:tc>
                <a:tc>
                  <a:txBody>
                    <a:bodyPr/>
                    <a:lstStyle/>
                    <a:p>
                      <a:pPr>
                        <a:buNone/>
                      </a:pPr>
                      <a:r>
                        <a:rPr lang="en-US" altLang="zh-CN" sz="1350" dirty="0">
                          <a:sym typeface="+mn-ea"/>
                        </a:rPr>
                        <a:t>O(nlogn)</a:t>
                      </a:r>
                      <a:endParaRPr lang="zh-CN" altLang="en-US" sz="1350" dirty="0"/>
                    </a:p>
                  </a:txBody>
                  <a:tcPr marL="68580" marR="68580" marT="34290" marB="34290"/>
                </a:tc>
                <a:tc>
                  <a:txBody>
                    <a:bodyPr/>
                    <a:lstStyle/>
                    <a:p>
                      <a:r>
                        <a:rPr lang="en-US" altLang="zh-CN" sz="1350" dirty="0"/>
                        <a:t>O(</a:t>
                      </a:r>
                      <a:r>
                        <a:rPr lang="en-US" altLang="zh-CN" sz="1350" dirty="0" err="1"/>
                        <a:t>nlogn</a:t>
                      </a:r>
                      <a:r>
                        <a:rPr lang="en-US" altLang="zh-CN" sz="1350" dirty="0"/>
                        <a:t>)</a:t>
                      </a:r>
                      <a:endParaRPr lang="zh-CN" altLang="en-US" sz="1350" dirty="0"/>
                    </a:p>
                  </a:txBody>
                  <a:tcPr marL="68580" marR="68580" marT="34290" marB="34290"/>
                </a:tc>
                <a:tc>
                  <a:txBody>
                    <a:bodyPr/>
                    <a:lstStyle/>
                    <a:p>
                      <a:r>
                        <a:rPr lang="en-US" altLang="zh-CN" sz="1350" dirty="0"/>
                        <a:t>Y</a:t>
                      </a:r>
                      <a:endParaRPr lang="zh-CN" altLang="en-US" sz="1350" dirty="0"/>
                    </a:p>
                  </a:txBody>
                  <a:tcPr marL="68580" marR="68580" marT="34290" marB="34290"/>
                </a:tc>
                <a:tc>
                  <a:txBody>
                    <a:bodyPr/>
                    <a:lstStyle/>
                    <a:p>
                      <a:r>
                        <a:rPr lang="en-US" altLang="zh-CN" sz="1350" dirty="0"/>
                        <a:t>O(N)</a:t>
                      </a:r>
                      <a:endParaRPr lang="zh-CN" altLang="en-US" sz="1350" dirty="0"/>
                    </a:p>
                  </a:txBody>
                  <a:tcPr marL="68580" marR="68580" marT="34290" marB="34290"/>
                </a:tc>
                <a:tc>
                  <a:txBody>
                    <a:bodyPr/>
                    <a:lstStyle/>
                    <a:p>
                      <a:pPr>
                        <a:buNone/>
                      </a:pPr>
                      <a:r>
                        <a:rPr lang="en-US" altLang="zh-CN" sz="1350" dirty="0"/>
                        <a:t>logn</a:t>
                      </a:r>
                    </a:p>
                  </a:txBody>
                  <a:tcPr marL="68580" marR="68580" marT="34290" marB="34290"/>
                </a:tc>
                <a:extLst>
                  <a:ext uri="{0D108BD9-81ED-4DB2-BD59-A6C34878D82A}">
                    <a16:rowId xmlns:a16="http://schemas.microsoft.com/office/drawing/2014/main" val="10006"/>
                  </a:ext>
                </a:extLst>
              </a:tr>
              <a:tr h="278130">
                <a:tc>
                  <a:txBody>
                    <a:bodyPr/>
                    <a:lstStyle/>
                    <a:p>
                      <a:r>
                        <a:rPr lang="en-US" altLang="zh-CN" sz="1350" dirty="0"/>
                        <a:t>Quick</a:t>
                      </a:r>
                      <a:r>
                        <a:rPr lang="en-US" altLang="zh-CN" sz="1350" baseline="0" dirty="0"/>
                        <a:t> sort</a:t>
                      </a:r>
                      <a:endParaRPr lang="zh-CN" altLang="en-US" sz="1350" dirty="0"/>
                    </a:p>
                  </a:txBody>
                  <a:tcPr marL="68580" marR="68580" marT="34290" marB="34290"/>
                </a:tc>
                <a:tc>
                  <a:txBody>
                    <a:bodyPr/>
                    <a:lstStyle/>
                    <a:p>
                      <a:r>
                        <a:rPr lang="en-US" altLang="zh-CN" sz="1350" dirty="0"/>
                        <a:t>O(n</a:t>
                      </a:r>
                      <a:r>
                        <a:rPr lang="en-US" altLang="zh-CN" sz="1350" baseline="30000" dirty="0"/>
                        <a:t>2</a:t>
                      </a:r>
                      <a:r>
                        <a:rPr lang="en-US" altLang="zh-CN" sz="1350" dirty="0"/>
                        <a:t>)</a:t>
                      </a:r>
                      <a:endParaRPr lang="zh-CN" altLang="en-US" sz="1350" dirty="0"/>
                    </a:p>
                  </a:txBody>
                  <a:tcPr marL="68580" marR="68580" marT="34290" marB="34290"/>
                </a:tc>
                <a:tc>
                  <a:txBody>
                    <a:bodyPr/>
                    <a:lstStyle/>
                    <a:p>
                      <a:pPr>
                        <a:buNone/>
                      </a:pPr>
                      <a:r>
                        <a:rPr lang="en-US" altLang="zh-CN" sz="1350" dirty="0">
                          <a:sym typeface="+mn-ea"/>
                        </a:rPr>
                        <a:t>O(nlogn)</a:t>
                      </a:r>
                      <a:endParaRPr lang="zh-CN" altLang="en-US" sz="1350" dirty="0"/>
                    </a:p>
                  </a:txBody>
                  <a:tcPr marL="68580" marR="68580" marT="34290" marB="34290"/>
                </a:tc>
                <a:tc>
                  <a:txBody>
                    <a:bodyPr/>
                    <a:lstStyle/>
                    <a:p>
                      <a:r>
                        <a:rPr lang="en-US" altLang="zh-CN" sz="1350" dirty="0"/>
                        <a:t>O(</a:t>
                      </a:r>
                      <a:r>
                        <a:rPr lang="en-US" altLang="zh-CN" sz="1350" dirty="0" err="1"/>
                        <a:t>nlogn</a:t>
                      </a:r>
                      <a:r>
                        <a:rPr lang="en-US" altLang="zh-CN" sz="1350" dirty="0"/>
                        <a:t>)</a:t>
                      </a:r>
                      <a:endParaRPr lang="zh-CN" altLang="en-US" sz="1350" dirty="0"/>
                    </a:p>
                  </a:txBody>
                  <a:tcPr marL="68580" marR="68580" marT="34290" marB="34290"/>
                </a:tc>
                <a:tc>
                  <a:txBody>
                    <a:bodyPr/>
                    <a:lstStyle/>
                    <a:p>
                      <a:r>
                        <a:rPr lang="en-US" altLang="zh-CN" sz="1350" dirty="0"/>
                        <a:t>N</a:t>
                      </a:r>
                      <a:endParaRPr lang="zh-CN" altLang="en-US" sz="1350" dirty="0"/>
                    </a:p>
                  </a:txBody>
                  <a:tcPr marL="68580" marR="68580" marT="34290" marB="34290"/>
                </a:tc>
                <a:tc>
                  <a:txBody>
                    <a:bodyPr/>
                    <a:lstStyle/>
                    <a:p>
                      <a:r>
                        <a:rPr lang="en-US" altLang="zh-CN" sz="1350" dirty="0"/>
                        <a:t>O(</a:t>
                      </a:r>
                      <a:r>
                        <a:rPr lang="en-US" altLang="zh-CN" sz="1350" dirty="0" err="1"/>
                        <a:t>logn</a:t>
                      </a:r>
                      <a:r>
                        <a:rPr lang="en-US" altLang="zh-CN" sz="1350" dirty="0"/>
                        <a:t>)</a:t>
                      </a:r>
                      <a:endParaRPr lang="zh-CN" altLang="en-US" sz="1350" dirty="0"/>
                    </a:p>
                  </a:txBody>
                  <a:tcPr marL="68580" marR="68580" marT="34290" marB="34290"/>
                </a:tc>
                <a:tc>
                  <a:txBody>
                    <a:bodyPr/>
                    <a:lstStyle/>
                    <a:p>
                      <a:pPr>
                        <a:buNone/>
                      </a:pPr>
                      <a:endParaRPr lang="en-US" altLang="zh-CN" sz="1350" dirty="0"/>
                    </a:p>
                  </a:txBody>
                  <a:tcPr marL="68580" marR="68580" marT="34290" marB="34290"/>
                </a:tc>
                <a:extLst>
                  <a:ext uri="{0D108BD9-81ED-4DB2-BD59-A6C34878D82A}">
                    <a16:rowId xmlns:a16="http://schemas.microsoft.com/office/drawing/2014/main" val="10007"/>
                  </a:ext>
                </a:extLst>
              </a:tr>
              <a:tr h="278130">
                <a:tc>
                  <a:txBody>
                    <a:bodyPr/>
                    <a:lstStyle/>
                    <a:p>
                      <a:r>
                        <a:rPr lang="en-US" altLang="zh-CN" sz="1350" dirty="0"/>
                        <a:t>Radix sort</a:t>
                      </a:r>
                    </a:p>
                    <a:p>
                      <a:r>
                        <a:rPr lang="en-US" altLang="zh-CN" sz="1350" dirty="0"/>
                        <a:t>(not comparison based)</a:t>
                      </a:r>
                    </a:p>
                  </a:txBody>
                  <a:tcPr marL="68580" marR="68580" marT="34290" marB="34290"/>
                </a:tc>
                <a:tc>
                  <a:txBody>
                    <a:bodyPr/>
                    <a:lstStyle/>
                    <a:p>
                      <a:r>
                        <a:rPr lang="en-US" altLang="zh-CN" sz="1350" dirty="0"/>
                        <a:t>O(k(N+r))</a:t>
                      </a:r>
                    </a:p>
                  </a:txBody>
                  <a:tcPr marL="68580" marR="68580" marT="34290" marB="34290"/>
                </a:tc>
                <a:tc>
                  <a:txBody>
                    <a:bodyPr/>
                    <a:lstStyle/>
                    <a:p>
                      <a:pPr>
                        <a:buNone/>
                      </a:pPr>
                      <a:r>
                        <a:rPr lang="en-US" altLang="zh-CN" sz="1350" dirty="0">
                          <a:sym typeface="+mn-ea"/>
                        </a:rPr>
                        <a:t>O(k(N+r))</a:t>
                      </a:r>
                      <a:endParaRPr lang="zh-CN" altLang="en-US" sz="1350" dirty="0"/>
                    </a:p>
                  </a:txBody>
                  <a:tcPr marL="68580" marR="68580" marT="34290" marB="34290"/>
                </a:tc>
                <a:tc>
                  <a:txBody>
                    <a:bodyPr/>
                    <a:lstStyle/>
                    <a:p>
                      <a:r>
                        <a:rPr lang="en-US" altLang="zh-CN" sz="1350" dirty="0">
                          <a:sym typeface="+mn-ea"/>
                        </a:rPr>
                        <a:t>O(k(N+r))</a:t>
                      </a:r>
                      <a:endParaRPr lang="zh-CN" altLang="en-US" sz="1350" dirty="0"/>
                    </a:p>
                  </a:txBody>
                  <a:tcPr marL="68580" marR="68580" marT="34290" marB="34290"/>
                </a:tc>
                <a:tc>
                  <a:txBody>
                    <a:bodyPr/>
                    <a:lstStyle/>
                    <a:p>
                      <a:r>
                        <a:rPr lang="en-US" altLang="zh-CN" sz="1350"/>
                        <a:t>Y</a:t>
                      </a:r>
                    </a:p>
                  </a:txBody>
                  <a:tcPr marL="68580" marR="68580" marT="34290" marB="34290"/>
                </a:tc>
                <a:tc>
                  <a:txBody>
                    <a:bodyPr/>
                    <a:lstStyle/>
                    <a:p>
                      <a:r>
                        <a:rPr lang="en-US" altLang="zh-CN" sz="1350" dirty="0"/>
                        <a:t>O(n)</a:t>
                      </a:r>
                    </a:p>
                  </a:txBody>
                  <a:tcPr marL="68580" marR="68580" marT="34290" marB="34290"/>
                </a:tc>
                <a:tc>
                  <a:txBody>
                    <a:bodyPr/>
                    <a:lstStyle/>
                    <a:p>
                      <a:pPr>
                        <a:buNone/>
                      </a:pPr>
                      <a:r>
                        <a:rPr lang="en-US" altLang="zh-CN" sz="1350" dirty="0"/>
                        <a:t>k</a:t>
                      </a:r>
                    </a:p>
                  </a:txBody>
                  <a:tcPr marL="68580" marR="68580" marT="34290" marB="34290"/>
                </a:tc>
                <a:extLst>
                  <a:ext uri="{0D108BD9-81ED-4DB2-BD59-A6C34878D82A}">
                    <a16:rowId xmlns:a16="http://schemas.microsoft.com/office/drawing/2014/main" val="10008"/>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p:txBody>
          <a:bodyPr/>
          <a:lstStyle/>
          <a:p>
            <a:r>
              <a:rPr lang="en-US" altLang="zh-CN" dirty="0"/>
              <a:t>Suppose the element sequence ( 8, 9, 10, 4, 5, 6, 20, 1, 2) is the result of the first 2 passes sorting, the sorting method can be ___________?</a:t>
            </a:r>
            <a:endParaRPr lang="zh-CN" altLang="zh-CN" dirty="0"/>
          </a:p>
          <a:p>
            <a:pPr marL="0" lvl="0" indent="0">
              <a:buNone/>
            </a:pPr>
            <a:r>
              <a:rPr lang="en-US" altLang="zh-CN" dirty="0"/>
              <a:t>            A. Bubble sort         B. insertion sort        </a:t>
            </a:r>
          </a:p>
          <a:p>
            <a:pPr marL="0" lvl="0" indent="0">
              <a:buNone/>
            </a:pPr>
            <a:r>
              <a:rPr lang="en-US" altLang="zh-CN" dirty="0"/>
              <a:t>            C. quick sort             D. heap sort</a:t>
            </a:r>
            <a:endParaRPr lang="zh-CN" altLang="zh-CN" dirty="0"/>
          </a:p>
          <a:p>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a:t>
            </a:r>
            <a:endParaRPr lang="zh-CN" altLang="en-US" dirty="0"/>
          </a:p>
        </p:txBody>
      </p:sp>
      <p:sp>
        <p:nvSpPr>
          <p:cNvPr id="3" name="内容占位符 2"/>
          <p:cNvSpPr>
            <a:spLocks noGrp="1"/>
          </p:cNvSpPr>
          <p:nvPr>
            <p:ph idx="1"/>
          </p:nvPr>
        </p:nvSpPr>
        <p:spPr/>
        <p:txBody>
          <a:bodyPr/>
          <a:lstStyle/>
          <a:p>
            <a:r>
              <a:rPr lang="en-US" altLang="zh-CN" dirty="0"/>
              <a:t>Sort the sequence ( 18, 7, 20, 4, 5, 27, 2, 1, 6) by (1)</a:t>
            </a:r>
            <a:r>
              <a:rPr lang="en-US" altLang="zh-CN" i="1" u="sng" dirty="0"/>
              <a:t>quick sort with median-of-three partitioning</a:t>
            </a:r>
            <a:r>
              <a:rPr lang="en-US" altLang="zh-CN" dirty="0"/>
              <a:t>/(2)</a:t>
            </a:r>
            <a:r>
              <a:rPr lang="en-US" altLang="zh-CN" i="1" u="sng" dirty="0"/>
              <a:t>bubble sort</a:t>
            </a:r>
            <a:r>
              <a:rPr lang="en-US" altLang="zh-CN" dirty="0"/>
              <a:t>/(3)</a:t>
            </a:r>
            <a:r>
              <a:rPr lang="en-US" altLang="zh-CN" i="1" u="sng" dirty="0"/>
              <a:t>heap sort</a:t>
            </a:r>
            <a:r>
              <a:rPr lang="en-US" altLang="zh-CN" dirty="0"/>
              <a:t>, the result of the first pass is ___________?</a:t>
            </a:r>
            <a:endParaRPr lang="zh-CN" altLang="zh-CN" dirty="0"/>
          </a:p>
          <a:p>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51520" y="889844"/>
            <a:ext cx="8496944" cy="5632311"/>
          </a:xfrm>
          <a:prstGeom prst="rect">
            <a:avLst/>
          </a:prstGeom>
        </p:spPr>
        <p:txBody>
          <a:bodyPr wrap="square">
            <a:spAutoFit/>
          </a:bodyPr>
          <a:lstStyle/>
          <a:p>
            <a:pPr algn="just">
              <a:spcAft>
                <a:spcPts val="0"/>
              </a:spcAft>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Among the following sorting methods:</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indent="-342900" algn="just">
              <a:spcAft>
                <a:spcPts val="0"/>
              </a:spcAft>
              <a:buAutoNum type="alphaUcPeriod"/>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quick sort  B. insertion sort  C. merge sort  D. bubble sort  </a:t>
            </a:r>
          </a:p>
          <a:p>
            <a:pPr algn="just">
              <a:spcAft>
                <a:spcPts val="0"/>
              </a:spcAft>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E. heap sort  F. shell sort </a:t>
            </a:r>
          </a:p>
          <a:p>
            <a:pPr algn="just">
              <a:spcAft>
                <a:spcPts val="0"/>
              </a:spcAft>
            </a:pP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arenBoth"/>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The methods of which the number of passes is independent of the initial status: B C E F</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arenBoth"/>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The unstable methods are: A E F</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arenBoth"/>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If the initial sequence is basically ordered (only the first k elements are not sorted, k&lt;&lt;n), the most efficient sorting method is B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arenBoth"/>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The average time complexity of which methods is O(</a:t>
            </a:r>
            <a:r>
              <a:rPr lang="en-US" altLang="zh-CN" sz="2400" kern="100" dirty="0" err="1">
                <a:latin typeface="等线" panose="02010600030101010101" pitchFamily="2" charset="-122"/>
                <a:ea typeface="等线" panose="02010600030101010101" pitchFamily="2" charset="-122"/>
                <a:cs typeface="Times New Roman" panose="02020603050405020304" pitchFamily="18" charset="0"/>
              </a:rPr>
              <a:t>nlogn</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 C, E</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arenBoth"/>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The average time complexity of which methods is O(n*n) B D</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mj-lt"/>
              <a:buAutoNum type="arabicParenBoth"/>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The methods cannot guarantee that each pass of sorting can place at least one element at its final position: B C F</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The minimal number of nodes in a complete binary tree of depth </a:t>
            </a:r>
            <a:r>
              <a:rPr lang="en-US" altLang="zh-CN" sz="1350" i="1" kern="100" dirty="0">
                <a:effectLst/>
                <a:latin typeface="Times New Roman" panose="02020603050405020304" pitchFamily="18" charset="0"/>
                <a:ea typeface="宋体" panose="02010600030101010101" pitchFamily="2" charset="-122"/>
              </a:rPr>
              <a:t>k</a:t>
            </a:r>
            <a:r>
              <a:rPr lang="en-US" altLang="zh-CN" sz="1350" kern="100" dirty="0">
                <a:effectLst/>
                <a:latin typeface="Times New Roman" panose="02020603050405020304" pitchFamily="18" charset="0"/>
                <a:ea typeface="宋体" panose="02010600030101010101" pitchFamily="2" charset="-122"/>
              </a:rPr>
              <a:t>, </a:t>
            </a:r>
            <a:r>
              <a:rPr lang="en-US" altLang="zh-CN" sz="1350" i="1" kern="100" dirty="0">
                <a:effectLst/>
                <a:latin typeface="Times New Roman" panose="02020603050405020304" pitchFamily="18" charset="0"/>
                <a:ea typeface="宋体" panose="02010600030101010101" pitchFamily="2" charset="-122"/>
              </a:rPr>
              <a:t>k&gt;=0, </a:t>
            </a:r>
            <a:r>
              <a:rPr lang="en-US" altLang="zh-CN" sz="1350" kern="100" dirty="0">
                <a:effectLst/>
                <a:latin typeface="Times New Roman" panose="02020603050405020304" pitchFamily="18" charset="0"/>
                <a:ea typeface="宋体" panose="02010600030101010101" pitchFamily="2" charset="-122"/>
              </a:rPr>
              <a:t>is</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zh-CN" altLang="zh-CN" sz="1350" kern="100" dirty="0">
                <a:effectLst/>
                <a:ea typeface="Times New Roman" panose="02020603050405020304" pitchFamily="18" charset="0"/>
              </a:rPr>
              <a:t> </a:t>
            </a:r>
            <a:r>
              <a:rPr lang="en-US" altLang="zh-CN" sz="1350" i="1" kern="100" dirty="0">
                <a:effectLst/>
                <a:ea typeface="Times New Roman" panose="02020603050405020304" pitchFamily="18" charset="0"/>
              </a:rPr>
              <a:t>2</a:t>
            </a:r>
            <a:r>
              <a:rPr lang="en-US" altLang="zh-CN" sz="1350" i="1" kern="100" baseline="30000" dirty="0">
                <a:effectLst/>
                <a:ea typeface="Times New Roman" panose="02020603050405020304" pitchFamily="18" charset="0"/>
              </a:rPr>
              <a:t>k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zh-CN" altLang="zh-CN" sz="1350" kern="100" dirty="0">
                <a:effectLst/>
                <a:ea typeface="Times New Roman" panose="02020603050405020304" pitchFamily="18" charset="0"/>
              </a:rPr>
              <a:t> </a:t>
            </a:r>
            <a:r>
              <a:rPr lang="en-US" altLang="zh-CN" sz="1350" i="1" kern="100" dirty="0">
                <a:effectLst/>
                <a:ea typeface="Times New Roman" panose="02020603050405020304" pitchFamily="18" charset="0"/>
              </a:rPr>
              <a:t>2</a:t>
            </a:r>
            <a:r>
              <a:rPr lang="en-US" altLang="zh-CN" sz="1350" i="1" kern="100" baseline="30000" dirty="0">
                <a:effectLst/>
                <a:ea typeface="Times New Roman" panose="02020603050405020304" pitchFamily="18" charset="0"/>
              </a:rPr>
              <a:t>k</a:t>
            </a:r>
            <a:r>
              <a:rPr lang="en-US" altLang="zh-CN" sz="1350" i="1" kern="100" dirty="0">
                <a:effectLst/>
                <a:ea typeface="Times New Roman" panose="02020603050405020304" pitchFamily="18" charset="0"/>
              </a:rPr>
              <a:t>+1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i="1" kern="100" dirty="0">
                <a:effectLst/>
                <a:latin typeface="Times New Roman" panose="02020603050405020304" pitchFamily="18" charset="0"/>
                <a:ea typeface="宋体" panose="02010600030101010101" pitchFamily="2" charset="-122"/>
              </a:rPr>
              <a:t>2</a:t>
            </a:r>
            <a:r>
              <a:rPr lang="en-US" altLang="zh-CN" sz="1350" i="1" kern="100" baseline="30000" dirty="0">
                <a:effectLst/>
                <a:latin typeface="Times New Roman" panose="02020603050405020304" pitchFamily="18" charset="0"/>
                <a:ea typeface="宋体" panose="02010600030101010101" pitchFamily="2" charset="-122"/>
              </a:rPr>
              <a:t>k+1</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6"/>
            </p:custDataLst>
          </p:nvPr>
        </p:nvSpPr>
        <p:spPr>
          <a:xfrm>
            <a:off x="3286125" y="5357813"/>
            <a:ext cx="3000375" cy="642938"/>
          </a:xfrm>
          <a:prstGeom prst="rect">
            <a:avLst/>
          </a:prstGeom>
          <a:noFill/>
        </p:spPr>
        <p:txBody>
          <a:bodyPr vert="horz" rtlCol="0" anchor="ctr" anchorCtr="0">
            <a:noAutofit/>
          </a:bodyPr>
          <a:lstStyle/>
          <a:p>
            <a:pPr marL="152400" algn="just"/>
            <a:r>
              <a:rPr lang="zh-CN" altLang="zh-CN" sz="1350" kern="100" dirty="0">
                <a:effectLst/>
                <a:latin typeface="Times New Roman" panose="02020603050405020304" pitchFamily="18" charset="0"/>
                <a:ea typeface="宋体" panose="02010600030101010101" pitchFamily="2" charset="-122"/>
              </a:rPr>
              <a:t> </a:t>
            </a:r>
            <a:r>
              <a:rPr lang="en-US" altLang="zh-CN" sz="1350" i="1" kern="100" dirty="0">
                <a:effectLst/>
                <a:latin typeface="Times New Roman" panose="02020603050405020304" pitchFamily="18" charset="0"/>
                <a:ea typeface="宋体" panose="02010600030101010101" pitchFamily="2" charset="-122"/>
              </a:rPr>
              <a:t>2</a:t>
            </a:r>
            <a:r>
              <a:rPr lang="en-US" altLang="zh-CN" sz="1350" i="1" kern="100" baseline="30000" dirty="0">
                <a:effectLst/>
                <a:latin typeface="Times New Roman" panose="02020603050405020304" pitchFamily="18" charset="0"/>
                <a:ea typeface="宋体" panose="02010600030101010101" pitchFamily="2" charset="-122"/>
              </a:rPr>
              <a:t>k+1</a:t>
            </a:r>
            <a:r>
              <a:rPr lang="en-US" altLang="zh-CN" sz="1350" i="1" kern="100" dirty="0">
                <a:effectLst/>
                <a:latin typeface="Times New Roman" panose="02020603050405020304" pitchFamily="18" charset="0"/>
                <a:ea typeface="宋体" panose="02010600030101010101" pitchFamily="2" charset="-122"/>
              </a:rPr>
              <a:t>+1</a:t>
            </a:r>
            <a:endParaRPr lang="zh-CN" altLang="zh-CN" sz="1350" kern="100" dirty="0">
              <a:effectLst/>
              <a:latin typeface="Times New Roman" panose="02020603050405020304" pitchFamily="18" charset="0"/>
              <a:ea typeface="宋体" panose="02010600030101010101" pitchFamily="2" charset="-122"/>
            </a:endParaRPr>
          </a:p>
        </p:txBody>
      </p:sp>
      <p:sp>
        <p:nvSpPr>
          <p:cNvPr id="10" name="椭圆 9"/>
          <p:cNvSpPr>
            <a:spLocks noChangeAspect="1"/>
          </p:cNvSpPr>
          <p:nvPr>
            <p:custDataLst>
              <p:tags r:id="rId7"/>
            </p:custDataLst>
          </p:nvPr>
        </p:nvSpPr>
        <p:spPr>
          <a:xfrm>
            <a:off x="2833497" y="29017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1" name="椭圆 10"/>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2" name="椭圆 11"/>
          <p:cNvSpPr>
            <a:spLocks noChangeAspect="1"/>
          </p:cNvSpPr>
          <p:nvPr>
            <p:custDataLst>
              <p:tags r:id="rId9"/>
            </p:custDataLst>
          </p:nvPr>
        </p:nvSpPr>
        <p:spPr>
          <a:xfrm>
            <a:off x="2833497" y="46162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3" name="椭圆 12"/>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8" name="组合 17"/>
          <p:cNvGrpSpPr/>
          <p:nvPr>
            <p:custDataLst>
              <p:tags r:id="rId12"/>
            </p:custDataLst>
          </p:nvPr>
        </p:nvGrpSpPr>
        <p:grpSpPr>
          <a:xfrm>
            <a:off x="0" y="0"/>
            <a:ext cx="4286250" cy="490220"/>
            <a:chOff x="-3238500" y="0"/>
            <a:chExt cx="5715000" cy="653627"/>
          </a:xfrm>
        </p:grpSpPr>
        <p:sp>
          <p:nvSpPr>
            <p:cNvPr id="14"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7"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descr="tmp4CFC"/>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The time complexity of the following program segments is </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a:t>
            </a: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a:t>
            </a:r>
          </a:p>
          <a:p>
            <a:pPr indent="76200" algn="just">
              <a:spcBef>
                <a:spcPts val="600"/>
              </a:spcBef>
              <a:spcAft>
                <a:spcPts val="600"/>
              </a:spcAft>
            </a:pPr>
            <a:r>
              <a:rPr lang="en-US" altLang="zh-CN" sz="1350" kern="100" dirty="0">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int x=1;</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while ((x-4)*(x-4)&lt;N)</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x++;</a:t>
            </a:r>
            <a:endParaRPr lang="zh-CN" altLang="zh-CN" sz="1350" kern="100" dirty="0">
              <a:effectLst/>
              <a:latin typeface="Times New Roman" panose="02020603050405020304" pitchFamily="18" charset="0"/>
              <a:ea typeface="宋体" panose="02010600030101010101" pitchFamily="2" charset="-122"/>
            </a:endParaRPr>
          </a:p>
          <a:p>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 </a:t>
            </a:r>
            <a:r>
              <a:rPr lang="en-US" altLang="zh-CN" sz="1350" kern="100" dirty="0" err="1">
                <a:effectLst/>
                <a:latin typeface="Times New Roman" panose="02020603050405020304" pitchFamily="18" charset="0"/>
                <a:ea typeface="宋体" panose="02010600030101010101" pitchFamily="2" charset="-122"/>
              </a:rPr>
              <a:t>logN</a:t>
            </a:r>
            <a:r>
              <a:rPr lang="en-US" altLang="zh-CN" sz="1350" kern="100" dirty="0">
                <a:effectLst/>
                <a:latin typeface="Times New Roman" panose="02020603050405020304" pitchFamily="18" charset="0"/>
                <a:ea typeface="宋体" panose="02010600030101010101" pitchFamily="2" charset="-122"/>
              </a:rPr>
              <a: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 N </a:t>
            </a:r>
            <a:r>
              <a:rPr lang="en-US" altLang="zh-CN" sz="1350" kern="100" baseline="30000" dirty="0">
                <a:effectLst/>
                <a:latin typeface="Times New Roman" panose="02020603050405020304" pitchFamily="18" charset="0"/>
                <a:ea typeface="宋体" panose="02010600030101010101" pitchFamily="2" charset="-122"/>
              </a:rPr>
              <a:t>1/2 </a:t>
            </a:r>
            <a:r>
              <a:rPr lang="en-US" altLang="zh-CN" sz="1350" kern="100" dirty="0">
                <a:effectLst/>
                <a:latin typeface="Times New Roman" panose="02020603050405020304" pitchFamily="18" charset="0"/>
                <a:ea typeface="宋体" panose="02010600030101010101" pitchFamily="2" charset="-122"/>
              </a:rPr>
              <a: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O(N)</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 N </a:t>
            </a:r>
            <a:r>
              <a:rPr lang="en-US" altLang="zh-CN" sz="1350" kern="100" baseline="30000" dirty="0">
                <a:effectLst/>
                <a:latin typeface="Times New Roman" panose="02020603050405020304" pitchFamily="18" charset="0"/>
                <a:ea typeface="宋体" panose="02010600030101010101" pitchFamily="2" charset="-122"/>
              </a:rPr>
              <a:t>2 </a:t>
            </a:r>
            <a:r>
              <a:rPr lang="en-US" altLang="zh-CN" sz="1350" kern="100" dirty="0">
                <a:effectLst/>
                <a:latin typeface="Times New Roman" panose="02020603050405020304" pitchFamily="18" charset="0"/>
                <a:ea typeface="宋体" panose="02010600030101010101" pitchFamily="2" charset="-122"/>
              </a:rPr>
              <a: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4CFC"/>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en-US" altLang="zh-CN" sz="2600" kern="100" dirty="0">
                <a:effectLst/>
                <a:latin typeface="Times New Roman" panose="02020603050405020304" pitchFamily="18" charset="0"/>
                <a:ea typeface="宋体" panose="02010600030101010101" pitchFamily="2" charset="-122"/>
                <a:sym typeface="+mn-ea"/>
              </a:rPr>
              <a:t>Sorting the array of elements (20, 15, 36, 18, 21, 14, 40, 17) with quick sort   method, if 17 is used as the pivot the result of the first pass sorting is </a:t>
            </a:r>
            <a:r>
              <a:rPr lang="en-US" altLang="zh-CN" sz="2600" u="sng" kern="100" dirty="0">
                <a:effectLst/>
                <a:latin typeface="Times New Roman" panose="02020603050405020304" pitchFamily="18" charset="0"/>
                <a:ea typeface="宋体" panose="02010600030101010101" pitchFamily="2" charset="-122"/>
                <a:sym typeface="+mn-ea"/>
              </a:rPr>
              <a:t>         </a:t>
            </a:r>
            <a:r>
              <a:rPr lang="en-US" altLang="zh-CN" sz="2600" kern="100" dirty="0">
                <a:effectLst/>
                <a:latin typeface="Times New Roman" panose="02020603050405020304" pitchFamily="18" charset="0"/>
                <a:ea typeface="宋体" panose="02010600030101010101" pitchFamily="2" charset="-122"/>
                <a:sym typeface="+mn-ea"/>
              </a:rPr>
              <a:t>.</a:t>
            </a:r>
            <a:endParaRPr lang="zh-CN" altLang="en-US" sz="2600">
              <a:solidFill>
                <a:srgbClr val="000000"/>
              </a:solidFill>
              <a:latin typeface="微软雅黑" panose="020B0503020204020204" charset="-122"/>
              <a:ea typeface="微软雅黑" panose="020B0503020204020204" charset="-122"/>
            </a:endParaRPr>
          </a:p>
        </p:txBody>
      </p:sp>
      <p:sp>
        <p:nvSpPr>
          <p:cNvPr id="4" name="圆角矩形 3"/>
          <p:cNvSpPr/>
          <p:nvPr>
            <p:custDataLst>
              <p:tags r:id="rId3"/>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sp>
        <p:nvSpPr>
          <p:cNvPr id="10" name="文本框 9"/>
          <p:cNvSpPr txBox="1"/>
          <p:nvPr>
            <p:custDataLst>
              <p:tags r:id="rId4"/>
            </p:custDataLst>
          </p:nvPr>
        </p:nvSpPr>
        <p:spPr>
          <a:xfrm>
            <a:off x="914400" y="635000"/>
            <a:ext cx="7315200" cy="365760"/>
          </a:xfrm>
          <a:prstGeom prst="rect">
            <a:avLst/>
          </a:prstGeom>
          <a:solidFill>
            <a:srgbClr val="FBFAEF">
              <a:alpha val="90000"/>
            </a:srgbClr>
          </a:solidFill>
        </p:spPr>
        <p:txBody>
          <a:bodyPr wrap="none" rtlCol="0" anchor="ctr" anchorCtr="1">
            <a:noAutofit/>
          </a:bodyPr>
          <a:lstStyle/>
          <a:p>
            <a:pPr lvl="0" algn="l">
              <a:buNone/>
            </a:pPr>
            <a:r>
              <a:rPr lang="zh-CN" altLang="en-US" sz="1200">
                <a:solidFill>
                  <a:srgbClr val="F84F41"/>
                </a:solidFill>
                <a:latin typeface="微软雅黑" panose="020B0503020204020204" charset="-122"/>
                <a:ea typeface="微软雅黑" panose="020B0503020204020204" charset="-122"/>
              </a:rPr>
              <a:t>此题未设置答案，请点击右侧设置按钮</a:t>
            </a:r>
          </a:p>
        </p:txBody>
      </p:sp>
      <p:grpSp>
        <p:nvGrpSpPr>
          <p:cNvPr id="9" name="组合 8"/>
          <p:cNvGrpSpPr/>
          <p:nvPr>
            <p:custDataLst>
              <p:tags r:id="rId5"/>
            </p:custDataLst>
          </p:nvPr>
        </p:nvGrpSpPr>
        <p:grpSpPr>
          <a:xfrm>
            <a:off x="0" y="0"/>
            <a:ext cx="9144000" cy="635000"/>
            <a:chOff x="0" y="0"/>
            <a:chExt cx="14400" cy="1000"/>
          </a:xfrm>
        </p:grpSpPr>
        <p:sp>
          <p:nvSpPr>
            <p:cNvPr id="5" name="TitleBackground"/>
            <p:cNvSpPr/>
            <p:nvPr>
              <p:custDataLst>
                <p:tags r:id="rId7"/>
              </p:custDataLst>
            </p:nvPr>
          </p:nvSpPr>
          <p:spPr>
            <a:xfrm>
              <a:off x="0" y="0"/>
              <a:ext cx="14400" cy="1000"/>
            </a:xfrm>
            <a:prstGeom prst="rect">
              <a:avLst/>
            </a:prstGeom>
            <a:solidFill>
              <a:srgbClr val="F6F7F8"/>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ColorBlock"/>
            <p:cNvSpPr/>
            <p:nvPr>
              <p:custDataLst>
                <p:tags r:id="rId8"/>
              </p:custDataLst>
            </p:nvPr>
          </p:nvSpPr>
          <p:spPr>
            <a:xfrm>
              <a:off x="0" y="0"/>
              <a:ext cx="300" cy="1000"/>
            </a:xfrm>
            <a:prstGeom prst="rect">
              <a:avLst/>
            </a:prstGeom>
            <a:solidFill>
              <a:srgbClr val="639EF4"/>
            </a:solidFill>
            <a:ln w="25400" cap="flat" cmpd="sng" algn="ctr">
              <a:noFill/>
              <a:prstDash val="solid"/>
            </a:ln>
            <a:extLst>
              <a:ext uri="{91240B29-F687-4F45-9708-019B960494DF}">
                <a14:hiddenLine xmlns:a14="http://schemas.microsoft.com/office/drawing/2010/main" w="25400">
                  <a:solidFill>
                    <a:schemeClr val="accent1">
                      <a:lumMod val="75000"/>
                    </a:schemeClr>
                  </a:solidFill>
                  <a:prstDash val="soli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TypeText"/>
            <p:cNvSpPr txBox="1"/>
            <p:nvPr>
              <p:custDataLst>
                <p:tags r:id="rId9"/>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charset="-122"/>
                  <a:ea typeface="微软雅黑" panose="020B0503020204020204" charset="-122"/>
                </a:rPr>
                <a:t>填空题</a:t>
              </a:r>
            </a:p>
          </p:txBody>
        </p:sp>
        <p:sp>
          <p:nvSpPr>
            <p:cNvPr id="8" name="TipText"/>
            <p:cNvSpPr txBox="1"/>
            <p:nvPr>
              <p:custDataLst>
                <p:tags r:id="rId10"/>
              </p:custDataLst>
            </p:nvPr>
          </p:nvSpPr>
          <p:spPr>
            <a:xfrm>
              <a:off x="2248" y="172"/>
              <a:ext cx="3600" cy="800"/>
            </a:xfrm>
            <a:prstGeom prst="rect">
              <a:avLst/>
            </a:prstGeom>
            <a:noFill/>
          </p:spPr>
          <p:txBody>
            <a:bodyPr wrap="none" rtlCol="0" anchor="ctr" anchorCtr="0">
              <a:noAutofit/>
            </a:bodyPr>
            <a:lstStyle/>
            <a:p>
              <a:pPr lvl="0" algn="l">
                <a:buNone/>
              </a:pPr>
              <a:r>
                <a:rPr lang="en-US" altLang="en-US" sz="2000">
                  <a:solidFill>
                    <a:srgbClr val="808080"/>
                  </a:solidFill>
                  <a:latin typeface="微软雅黑" panose="020B0503020204020204" charset="-122"/>
                  <a:ea typeface="微软雅黑" panose="020B0503020204020204" charset="-122"/>
                  <a:cs typeface="微软雅黑" panose="020B0503020204020204" charset="-122"/>
                </a:rPr>
                <a:t>0</a:t>
              </a:r>
              <a:r>
                <a:rPr lang="zh-CN" altLang="en-US" sz="2000">
                  <a:solidFill>
                    <a:srgbClr val="808080"/>
                  </a:solidFill>
                  <a:latin typeface="微软雅黑" panose="020B0503020204020204" charset="-122"/>
                  <a:ea typeface="微软雅黑" panose="020B0503020204020204" charset="-122"/>
                  <a:cs typeface="微软雅黑" panose="020B0503020204020204" charset="-122"/>
                </a:rPr>
                <a:t>分</a:t>
              </a:r>
            </a:p>
          </p:txBody>
        </p:sp>
      </p:grpSp>
      <p:pic>
        <p:nvPicPr>
          <p:cNvPr id="2" name="图片 1" descr="tmp4CFC"/>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zh-CN" altLang="zh-CN" sz="1350" kern="100" dirty="0">
                <a:effectLst/>
                <a:ea typeface="Times New Roman" panose="02020603050405020304" pitchFamily="18" charset="0"/>
              </a:rPr>
              <a:t> </a:t>
            </a:r>
            <a:r>
              <a:rPr lang="en-US" altLang="zh-CN" sz="1350" kern="100" dirty="0">
                <a:effectLst/>
                <a:latin typeface="Times New Roman" panose="02020603050405020304" pitchFamily="18" charset="0"/>
                <a:ea typeface="宋体" panose="02010600030101010101" pitchFamily="2" charset="-122"/>
              </a:rPr>
              <a:t>Where is the minimal element in a binary search tree?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Saved in the left most leaf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Saved in the root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zh-CN" altLang="zh-CN" sz="1350" kern="100" dirty="0">
                <a:effectLst/>
                <a:ea typeface="Times New Roman" panose="02020603050405020304" pitchFamily="18" charset="0"/>
              </a:rPr>
              <a:t> </a:t>
            </a:r>
            <a:r>
              <a:rPr lang="en-US" altLang="zh-CN" sz="1350" kern="100" dirty="0">
                <a:effectLst/>
                <a:ea typeface="Times New Roman" panose="02020603050405020304" pitchFamily="18" charset="0"/>
              </a:rPr>
              <a:t>Saved in the right most leaf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Cannot determine</a:t>
            </a:r>
            <a:endParaRPr lang="zh-CN" altLang="zh-CN" sz="1350" kern="100" dirty="0">
              <a:effectLst/>
              <a:latin typeface="Times New Roman" panose="02020603050405020304" pitchFamily="18" charset="0"/>
              <a:ea typeface="宋体" panose="02010600030101010101" pitchFamily="2"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4CFC"/>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Given a binary tree implemented with array representation, if the node saved in the location with index </a:t>
            </a:r>
            <a:r>
              <a:rPr lang="en-US" altLang="zh-CN" sz="1350" kern="100" dirty="0" err="1">
                <a:effectLst/>
                <a:latin typeface="Times New Roman" panose="02020603050405020304" pitchFamily="18" charset="0"/>
                <a:ea typeface="宋体" panose="02010600030101010101" pitchFamily="2" charset="-122"/>
              </a:rPr>
              <a:t>i</a:t>
            </a:r>
            <a:r>
              <a:rPr lang="en-US" altLang="zh-CN" sz="1350" kern="100" dirty="0">
                <a:effectLst/>
                <a:latin typeface="Times New Roman" panose="02020603050405020304" pitchFamily="18" charset="0"/>
                <a:ea typeface="宋体" panose="02010600030101010101" pitchFamily="2" charset="-122"/>
              </a:rPr>
              <a:t>, then its parent is saved in the location with index ______.</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2i</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floor( </a:t>
            </a:r>
            <a:r>
              <a:rPr lang="en-US" altLang="zh-CN" sz="1350" kern="100" dirty="0" err="1">
                <a:effectLst/>
                <a:latin typeface="Times New Roman" panose="02020603050405020304" pitchFamily="18" charset="0"/>
                <a:ea typeface="宋体" panose="02010600030101010101" pitchFamily="2" charset="-122"/>
              </a:rPr>
              <a:t>i</a:t>
            </a:r>
            <a:r>
              <a:rPr lang="en-US" altLang="zh-CN" sz="1350" kern="100" dirty="0">
                <a:effectLst/>
                <a:latin typeface="Times New Roman" panose="02020603050405020304" pitchFamily="18" charset="0"/>
                <a:ea typeface="宋体" panose="02010600030101010101" pitchFamily="2" charset="-122"/>
              </a:rPr>
              <a:t>/2)-1</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floor(</a:t>
            </a:r>
            <a:r>
              <a:rPr lang="en-US" altLang="zh-CN" sz="1350" kern="100" dirty="0" err="1">
                <a:effectLst/>
                <a:latin typeface="Times New Roman" panose="02020603050405020304" pitchFamily="18" charset="0"/>
                <a:ea typeface="宋体" panose="02010600030101010101" pitchFamily="2" charset="-122"/>
              </a:rPr>
              <a:t>i</a:t>
            </a:r>
            <a:r>
              <a:rPr lang="en-US" altLang="zh-CN" sz="1350" kern="100" dirty="0">
                <a:effectLst/>
                <a:latin typeface="Times New Roman" panose="02020603050405020304" pitchFamily="18" charset="0"/>
                <a:ea typeface="宋体" panose="02010600030101010101" pitchFamily="2" charset="-122"/>
              </a:rPr>
              <a:t>/2)</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 2i+1</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4CFC"/>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lstStyle/>
          <a:p>
            <a:pPr algn="ctr"/>
            <a:endParaRPr lang="zh-CN" altLang="en-US" sz="1350">
              <a:solidFill>
                <a:srgbClr val="FFFFFF"/>
              </a:solidFill>
            </a:endParaRPr>
          </a:p>
        </p:txBody>
      </p:sp>
      <p:sp>
        <p:nvSpPr>
          <p:cNvPr id="4" name="文本框 3"/>
          <p:cNvSpPr txBox="1"/>
          <p:nvPr>
            <p:custDataLst>
              <p:tags r:id="rId3"/>
            </p:custDataLst>
          </p:nvPr>
        </p:nvSpPr>
        <p:spPr>
          <a:xfrm>
            <a:off x="2857500" y="476250"/>
            <a:ext cx="3429000" cy="2143125"/>
          </a:xfrm>
          <a:prstGeom prst="rect">
            <a:avLst/>
          </a:prstGeom>
          <a:noFill/>
        </p:spPr>
        <p:txBody>
          <a:bodyPr vert="horz" wrap="square" rtlCol="0" anchor="ctr" anchorCtr="0">
            <a:noAutofit/>
          </a:bodyPr>
          <a:lstStyle/>
          <a:p>
            <a:pPr algn="just"/>
            <a:r>
              <a:rPr lang="zh-CN" altLang="zh-CN" sz="1350"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Amo</a:t>
            </a:r>
            <a:r>
              <a:rPr lang="en-US" altLang="zh-CN" sz="1350" kern="100" dirty="0">
                <a:solidFill>
                  <a:srgbClr val="000000"/>
                </a:solidFill>
                <a:effectLst/>
                <a:latin typeface="Times New Roman" panose="02020603050405020304" pitchFamily="18" charset="0"/>
                <a:ea typeface="宋体" panose="02010600030101010101" pitchFamily="2" charset="-122"/>
              </a:rPr>
              <a:t>ng the following sorting methods, which </a:t>
            </a:r>
            <a:r>
              <a:rPr lang="en-US" altLang="zh-CN" sz="1350" b="1" kern="100" dirty="0">
                <a:solidFill>
                  <a:srgbClr val="000000"/>
                </a:solidFill>
                <a:effectLst/>
                <a:latin typeface="Times New Roman" panose="02020603050405020304" pitchFamily="18" charset="0"/>
                <a:ea typeface="宋体" panose="02010600030101010101" pitchFamily="2" charset="-122"/>
              </a:rPr>
              <a:t>CAN guarantee</a:t>
            </a:r>
            <a:r>
              <a:rPr lang="en-US" altLang="zh-CN" sz="1350" kern="100" dirty="0">
                <a:solidFill>
                  <a:srgbClr val="000000"/>
                </a:solidFill>
                <a:effectLst/>
                <a:latin typeface="Times New Roman" panose="02020603050405020304" pitchFamily="18" charset="0"/>
                <a:ea typeface="宋体" panose="02010600030101010101" pitchFamily="2" charset="-122"/>
              </a:rPr>
              <a:t> that each pass of sorting can place at least one element at its final position? _______</a:t>
            </a:r>
            <a:endParaRPr lang="zh-CN" altLang="zh-CN" sz="1350" kern="100" dirty="0">
              <a:effectLst/>
              <a:latin typeface="Times New Roman" panose="02020603050405020304" pitchFamily="18" charset="0"/>
              <a:ea typeface="宋体" panose="02010600030101010101" pitchFamily="2" charset="-122"/>
            </a:endParaRPr>
          </a:p>
        </p:txBody>
      </p:sp>
      <p:sp>
        <p:nvSpPr>
          <p:cNvPr id="5" name="文本框 4"/>
          <p:cNvSpPr txBox="1"/>
          <p:nvPr>
            <p:custDataLst>
              <p:tags r:id="rId4"/>
            </p:custDataLst>
          </p:nvPr>
        </p:nvSpPr>
        <p:spPr>
          <a:xfrm>
            <a:off x="3286125" y="2786063"/>
            <a:ext cx="3000375" cy="642938"/>
          </a:xfrm>
          <a:prstGeom prst="rect">
            <a:avLst/>
          </a:prstGeom>
          <a:noFill/>
        </p:spPr>
        <p:txBody>
          <a:bodyPr vert="horz" rtlCol="0" anchor="ctr" anchorCtr="0">
            <a:noAutofit/>
          </a:bodyPr>
          <a:lstStyle/>
          <a:p>
            <a:r>
              <a:rPr lang="zh-CN" altLang="zh-CN" sz="1350" kern="100" dirty="0">
                <a:effectLst/>
                <a:ea typeface="Times New Roman" panose="02020603050405020304" pitchFamily="18" charset="0"/>
              </a:rPr>
              <a:t> </a:t>
            </a:r>
            <a:r>
              <a:rPr lang="en-US" altLang="zh-CN" sz="1350" kern="100" dirty="0">
                <a:effectLst/>
                <a:ea typeface="Times New Roman" panose="02020603050405020304" pitchFamily="18" charset="0"/>
              </a:rPr>
              <a:t>shell sort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5"/>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merge sort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6"/>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insertion sort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7"/>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heap sort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8"/>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9"/>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10"/>
            </p:custDataLst>
          </p:nvPr>
        </p:nvSpPr>
        <p:spPr>
          <a:xfrm>
            <a:off x="2833497" y="46162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1"/>
            </p:custDataLst>
          </p:nvPr>
        </p:nvSpPr>
        <p:spPr>
          <a:xfrm>
            <a:off x="2833497" y="547354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2" name="文本框 21"/>
          <p:cNvSpPr txBox="1"/>
          <p:nvPr>
            <p:custDataLst>
              <p:tags r:id="rId12"/>
            </p:custDataLst>
          </p:nvPr>
        </p:nvSpPr>
        <p:spPr>
          <a:xfrm>
            <a:off x="7067550" y="6299041"/>
            <a:ext cx="3707130" cy="368300"/>
          </a:xfrm>
          <a:prstGeom prst="rect">
            <a:avLst/>
          </a:prstGeom>
          <a:solidFill>
            <a:srgbClr val="FBFAEF"/>
          </a:solidFill>
          <a:ln w="12700">
            <a:noFill/>
          </a:ln>
        </p:spPr>
        <p:txBody>
          <a:bodyPr wrap="square" rtlCol="0" anchor="ctr">
            <a:spAutoFit/>
          </a:bodyPr>
          <a:lstStyle/>
          <a:p>
            <a:pPr lvl="0" algn="l">
              <a:buNone/>
            </a:pPr>
            <a:r>
              <a:rPr lang="zh-CN" altLang="en-US" sz="900">
                <a:solidFill>
                  <a:srgbClr val="F84F41"/>
                </a:solidFill>
                <a:latin typeface="微软雅黑" panose="020B0503020204020204" charset="-122"/>
                <a:ea typeface="微软雅黑" panose="020B0503020204020204" charset="-122"/>
              </a:rPr>
              <a:t>可为此题添加文本、图片、公式等解析，且需将内容全部放在本区域内。</a:t>
            </a:r>
          </a:p>
        </p:txBody>
      </p:sp>
      <p:sp>
        <p:nvSpPr>
          <p:cNvPr id="23" name="文本框 22"/>
          <p:cNvSpPr txBox="1"/>
          <p:nvPr>
            <p:custDataLst>
              <p:tags r:id="rId13"/>
            </p:custDataLst>
          </p:nvPr>
        </p:nvSpPr>
        <p:spPr>
          <a:xfrm>
            <a:off x="9715500" y="635000"/>
            <a:ext cx="3459480" cy="553085"/>
          </a:xfrm>
          <a:prstGeom prst="rect">
            <a:avLst/>
          </a:prstGeom>
          <a:noFill/>
        </p:spPr>
        <p:txBody>
          <a:bodyPr wrap="square" rtlCol="0" anchor="t" anchorCtr="0">
            <a:spAutoFit/>
          </a:bodyPr>
          <a:lstStyle/>
          <a:p>
            <a:pPr lvl="0" algn="l">
              <a:buNone/>
            </a:pPr>
            <a:r>
              <a:rPr lang="en-US" altLang="zh-CN" sz="1500">
                <a:solidFill>
                  <a:srgbClr val="000000"/>
                </a:solidFill>
                <a:latin typeface="微软雅黑" panose="020B0503020204020204" charset="-122"/>
                <a:ea typeface="微软雅黑" panose="020B0503020204020204" charset="-122"/>
              </a:rPr>
              <a:t>selection sort, bubble sort, quick sort</a:t>
            </a:r>
          </a:p>
        </p:txBody>
      </p:sp>
      <p:grpSp>
        <p:nvGrpSpPr>
          <p:cNvPr id="21" name="组合 20"/>
          <p:cNvGrpSpPr/>
          <p:nvPr>
            <p:custDataLst>
              <p:tags r:id="rId14"/>
            </p:custDataLst>
          </p:nvPr>
        </p:nvGrpSpPr>
        <p:grpSpPr>
          <a:xfrm>
            <a:off x="9537859" y="0"/>
            <a:ext cx="3821430" cy="489109"/>
            <a:chOff x="14927" y="0"/>
            <a:chExt cx="8024" cy="1027"/>
          </a:xfrm>
        </p:grpSpPr>
        <p:sp>
          <p:nvSpPr>
            <p:cNvPr id="18" name="RemarkBack"/>
            <p:cNvSpPr/>
            <p:nvPr>
              <p:custDataLst>
                <p:tags r:id="rId22"/>
              </p:custDataLst>
            </p:nvPr>
          </p:nvSpPr>
          <p:spPr>
            <a:xfrm>
              <a:off x="14927" y="27"/>
              <a:ext cx="8024"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19" name="RemarkBlock"/>
            <p:cNvSpPr/>
            <p:nvPr>
              <p:custDataLst>
                <p:tags r:id="rId23"/>
              </p:custDataLst>
            </p:nvPr>
          </p:nvSpPr>
          <p:spPr>
            <a:xfrm>
              <a:off x="14927" y="27"/>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lumMod val="75000"/>
                    </a:schemeClr>
                  </a:soli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350"/>
            </a:p>
          </p:txBody>
        </p:sp>
        <p:sp>
          <p:nvSpPr>
            <p:cNvPr id="20" name="RemarkTitleText"/>
            <p:cNvSpPr txBox="1"/>
            <p:nvPr>
              <p:custDataLst>
                <p:tags r:id="rId24"/>
              </p:custDataLst>
            </p:nvPr>
          </p:nvSpPr>
          <p:spPr>
            <a:xfrm>
              <a:off x="15433" y="0"/>
              <a:ext cx="3000" cy="1000"/>
            </a:xfrm>
            <a:prstGeom prst="rect">
              <a:avLst/>
            </a:prstGeom>
            <a:noFill/>
          </p:spPr>
          <p:txBody>
            <a:bodyPr wrap="none" rtlCol="0" anchor="ctr" anchorCtr="0">
              <a:noAutofit/>
            </a:bodyPr>
            <a:lstStyle/>
            <a:p>
              <a:pPr lvl="0" algn="l">
                <a:buNone/>
              </a:pPr>
              <a:r>
                <a:rPr lang="zh-CN" altLang="en-US" sz="1350">
                  <a:solidFill>
                    <a:srgbClr val="000000"/>
                  </a:solidFill>
                  <a:latin typeface="微软雅黑" panose="020B0503020204020204" charset="-122"/>
                  <a:ea typeface="微软雅黑" panose="020B0503020204020204" charset="-122"/>
                </a:rPr>
                <a:t>答案解析</a:t>
              </a:r>
            </a:p>
          </p:txBody>
        </p:sp>
      </p:grpSp>
      <p:sp>
        <p:nvSpPr>
          <p:cNvPr id="24" name="圆角矩形 23"/>
          <p:cNvSpPr/>
          <p:nvPr>
            <p:custDataLst>
              <p:tags r:id="rId15"/>
            </p:custDataLst>
          </p:nvPr>
        </p:nvSpPr>
        <p:spPr>
          <a:xfrm>
            <a:off x="8696325"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6"/>
            </p:custDataLst>
          </p:nvPr>
        </p:nvGrpSpPr>
        <p:grpSpPr>
          <a:xfrm>
            <a:off x="0" y="0"/>
            <a:ext cx="4286250" cy="490220"/>
            <a:chOff x="-3238500" y="0"/>
            <a:chExt cx="5715000" cy="653627"/>
          </a:xfrm>
        </p:grpSpPr>
        <p:sp>
          <p:nvSpPr>
            <p:cNvPr id="13" name="TitleBackground"/>
            <p:cNvSpPr/>
            <p:nvPr>
              <p:custDataLst>
                <p:tags r:id="rId18"/>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9"/>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20"/>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21"/>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25" name="图片 24" descr="tmp4CFC"/>
          <p:cNvPicPr>
            <a:picLocks noChangeAspect="1"/>
          </p:cNvPicPr>
          <p:nvPr>
            <p:custDataLst>
              <p:tags r:id="rId17"/>
            </p:custDataLst>
          </p:nvPr>
        </p:nvPicPr>
        <p:blipFill>
          <a:blip r:embed="rId26"/>
          <a:stretch>
            <a:fillRect/>
          </a:stretch>
        </p:blipFill>
        <p:spPr>
          <a:xfrm>
            <a:off x="7594600" y="63500"/>
            <a:ext cx="1422400" cy="508000"/>
          </a:xfrm>
          <a:prstGeom prst="rect">
            <a:avLst/>
          </a:prstGeom>
        </p:spPr>
      </p:pic>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 In a graph, the sum of the degrees of all the vertices is equal to </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 times the number of edges in the graph.</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zh-CN" altLang="zh-CN" sz="1350" kern="100" dirty="0">
                <a:effectLst/>
                <a:ea typeface="Times New Roman" panose="02020603050405020304" pitchFamily="18" charset="0"/>
              </a:rPr>
              <a:t> </a:t>
            </a:r>
            <a:r>
              <a:rPr lang="en-US" altLang="zh-CN" sz="1350" kern="100" dirty="0">
                <a:ea typeface="Times New Roman" panose="02020603050405020304" pitchFamily="18" charset="0"/>
              </a:rPr>
              <a:t>1/2</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950" dirty="0">
                <a:solidFill>
                  <a:srgbClr val="000000"/>
                </a:solidFill>
                <a:latin typeface="微软雅黑" panose="020B0503020204020204" charset="-122"/>
                <a:ea typeface="微软雅黑" panose="020B0503020204020204" charset="-122"/>
                <a:sym typeface="微软雅黑" panose="020B0503020204020204" charset="-122"/>
              </a:rPr>
              <a:t>1</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950" dirty="0">
                <a:solidFill>
                  <a:srgbClr val="000000"/>
                </a:solidFill>
                <a:latin typeface="微软雅黑" panose="020B0503020204020204" charset="-122"/>
                <a:ea typeface="微软雅黑" panose="020B0503020204020204" charset="-122"/>
                <a:sym typeface="微软雅黑" panose="020B0503020204020204" charset="-122"/>
              </a:rPr>
              <a:t>2</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950" dirty="0">
                <a:solidFill>
                  <a:srgbClr val="000000"/>
                </a:solidFill>
                <a:latin typeface="微软雅黑" panose="020B0503020204020204" charset="-122"/>
                <a:ea typeface="微软雅黑" panose="020B0503020204020204" charset="-122"/>
                <a:sym typeface="微软雅黑" panose="020B0503020204020204" charset="-122"/>
              </a:rPr>
              <a:t>4</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4CFC"/>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33497" y="711041"/>
            <a:ext cx="3429000" cy="2919728"/>
          </a:xfrm>
          <a:prstGeom prst="rect">
            <a:avLst/>
          </a:prstGeom>
          <a:noFill/>
        </p:spPr>
        <p:txBody>
          <a:bodyPr vert="horz" wrap="square" rtlCol="0" anchor="ctr" anchorCtr="0">
            <a:noAutofit/>
          </a:bodyPr>
          <a:lstStyle/>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Find element x in the singly linked list L with a header node:</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position find(</a:t>
            </a:r>
            <a:r>
              <a:rPr lang="en-US" altLang="zh-CN" sz="1350" kern="100" dirty="0" err="1">
                <a:effectLst/>
                <a:latin typeface="Times New Roman" panose="02020603050405020304" pitchFamily="18" charset="0"/>
                <a:ea typeface="宋体" panose="02010600030101010101" pitchFamily="2" charset="-122"/>
              </a:rPr>
              <a:t>element_type</a:t>
            </a:r>
            <a:r>
              <a:rPr lang="en-US" altLang="zh-CN" sz="1350" kern="100" dirty="0">
                <a:effectLst/>
                <a:latin typeface="Times New Roman" panose="02020603050405020304" pitchFamily="18" charset="0"/>
                <a:ea typeface="宋体" panose="02010600030101010101" pitchFamily="2" charset="-122"/>
              </a:rPr>
              <a:t> x, LIST L)</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position p;</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p=___</a:t>
            </a:r>
            <a:r>
              <a:rPr lang="en-US" altLang="zh-CN" sz="1350" u="sng" kern="100" dirty="0">
                <a:effectLst/>
                <a:latin typeface="Times New Roman" panose="02020603050405020304" pitchFamily="18" charset="0"/>
                <a:ea typeface="宋体" panose="02010600030101010101" pitchFamily="2" charset="-122"/>
              </a:rPr>
              <a:t>(1)</a:t>
            </a:r>
            <a:r>
              <a:rPr lang="en-US" altLang="zh-CN" sz="1350" kern="100" dirty="0">
                <a:effectLst/>
                <a:latin typeface="Times New Roman" panose="02020603050405020304" pitchFamily="18" charset="0"/>
                <a:ea typeface="宋体" panose="02010600030101010101" pitchFamily="2" charset="-122"/>
              </a:rPr>
              <a:t>______</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while( </a:t>
            </a:r>
            <a:r>
              <a:rPr lang="en-US" altLang="zh-CN" sz="1350" u="sng" kern="100" dirty="0">
                <a:effectLst/>
                <a:latin typeface="Times New Roman" panose="02020603050405020304" pitchFamily="18" charset="0"/>
                <a:ea typeface="宋体" panose="02010600030101010101" pitchFamily="2" charset="-122"/>
              </a:rPr>
              <a:t>  (2)       </a:t>
            </a:r>
            <a:r>
              <a:rPr lang="en-US" altLang="zh-CN" sz="1350" kern="100" dirty="0">
                <a:effectLst/>
                <a:latin typeface="Times New Roman" panose="02020603050405020304" pitchFamily="18" charset="0"/>
                <a:ea typeface="宋体" panose="02010600030101010101" pitchFamily="2" charset="-122"/>
              </a:rPr>
              <a:t> )</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p=p-&gt;next;</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return p;</a:t>
            </a:r>
            <a:endParaRPr lang="zh-CN" altLang="zh-CN" sz="1350" kern="100" dirty="0">
              <a:effectLst/>
              <a:latin typeface="Times New Roman" panose="02020603050405020304" pitchFamily="18" charset="0"/>
              <a:ea typeface="宋体" panose="02010600030101010101" pitchFamily="2" charset="-122"/>
            </a:endParaRPr>
          </a:p>
          <a:p>
            <a:pPr indent="762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a:t>
            </a:r>
            <a:endParaRPr lang="zh-CN" altLang="zh-CN" sz="1350" kern="100" dirty="0">
              <a:effectLst/>
              <a:latin typeface="Times New Roman" panose="02020603050405020304" pitchFamily="18" charset="0"/>
              <a:ea typeface="宋体" panose="02010600030101010101" pitchFamily="2" charset="-122"/>
            </a:endParaRPr>
          </a:p>
        </p:txBody>
      </p:sp>
      <p:sp>
        <p:nvSpPr>
          <p:cNvPr id="5" name="文本框 4"/>
          <p:cNvSpPr txBox="1"/>
          <p:nvPr>
            <p:custDataLst>
              <p:tags r:id="rId3"/>
            </p:custDataLst>
          </p:nvPr>
        </p:nvSpPr>
        <p:spPr>
          <a:xfrm>
            <a:off x="3286125" y="3630769"/>
            <a:ext cx="3333750" cy="642938"/>
          </a:xfrm>
          <a:prstGeom prst="rect">
            <a:avLst/>
          </a:prstGeom>
          <a:noFill/>
        </p:spPr>
        <p:txBody>
          <a:bodyPr vert="horz"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(1) L;  (2) (p!=NULL) &amp;&amp; (p-&gt;data!=x)</a:t>
            </a:r>
            <a:endParaRPr lang="zh-CN" altLang="zh-CN" sz="1350" kern="100" dirty="0">
              <a:effectLst/>
              <a:latin typeface="Times New Roman" panose="02020603050405020304" pitchFamily="18" charset="0"/>
              <a:ea typeface="宋体" panose="02010600030101010101" pitchFamily="2" charset="-122"/>
            </a:endParaRPr>
          </a:p>
        </p:txBody>
      </p:sp>
      <p:sp>
        <p:nvSpPr>
          <p:cNvPr id="6" name="文本框 5"/>
          <p:cNvSpPr txBox="1"/>
          <p:nvPr>
            <p:custDataLst>
              <p:tags r:id="rId4"/>
            </p:custDataLst>
          </p:nvPr>
        </p:nvSpPr>
        <p:spPr>
          <a:xfrm>
            <a:off x="3286125" y="4488019"/>
            <a:ext cx="3333750" cy="642938"/>
          </a:xfrm>
          <a:prstGeom prst="rect">
            <a:avLst/>
          </a:prstGeom>
          <a:noFill/>
        </p:spPr>
        <p:txBody>
          <a:bodyPr vert="horz"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(1) L;  (2) (p-&gt;next!=NULL) &amp;&amp;</a:t>
            </a:r>
          </a:p>
          <a:p>
            <a:pPr lvl="0" algn="just">
              <a:spcBef>
                <a:spcPts val="600"/>
              </a:spcBef>
              <a:spcAft>
                <a:spcPts val="600"/>
              </a:spcAft>
            </a:pPr>
            <a:r>
              <a:rPr lang="en-US" altLang="zh-CN" sz="1350" kern="100" dirty="0">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 (p-&gt;next-&gt;data!=x)</a:t>
            </a:r>
            <a:endParaRPr lang="zh-CN" altLang="zh-CN" sz="1350" kern="100" dirty="0">
              <a:effectLst/>
              <a:latin typeface="Times New Roman" panose="02020603050405020304" pitchFamily="18" charset="0"/>
              <a:ea typeface="宋体" panose="02010600030101010101" pitchFamily="2" charset="-122"/>
            </a:endParaRPr>
          </a:p>
        </p:txBody>
      </p:sp>
      <p:sp>
        <p:nvSpPr>
          <p:cNvPr id="7" name="文本框 6"/>
          <p:cNvSpPr txBox="1"/>
          <p:nvPr>
            <p:custDataLst>
              <p:tags r:id="rId5"/>
            </p:custDataLst>
          </p:nvPr>
        </p:nvSpPr>
        <p:spPr>
          <a:xfrm>
            <a:off x="3286125" y="5345269"/>
            <a:ext cx="3000375" cy="642938"/>
          </a:xfrm>
          <a:prstGeom prst="rect">
            <a:avLst/>
          </a:prstGeom>
          <a:noFill/>
        </p:spPr>
        <p:txBody>
          <a:bodyPr vert="horz"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(1) L-&gt;next;  (2) (p!=NULL) &amp;&amp; (p-&gt;data!=x)</a:t>
            </a:r>
            <a:endParaRPr lang="zh-CN" altLang="zh-CN" sz="1350" kern="100" dirty="0">
              <a:effectLst/>
              <a:latin typeface="Times New Roman" panose="02020603050405020304" pitchFamily="18" charset="0"/>
              <a:ea typeface="宋体" panose="02010600030101010101" pitchFamily="2" charset="-122"/>
            </a:endParaRPr>
          </a:p>
        </p:txBody>
      </p:sp>
      <p:sp>
        <p:nvSpPr>
          <p:cNvPr id="8" name="文本框 7"/>
          <p:cNvSpPr txBox="1"/>
          <p:nvPr>
            <p:custDataLst>
              <p:tags r:id="rId6"/>
            </p:custDataLst>
          </p:nvPr>
        </p:nvSpPr>
        <p:spPr>
          <a:xfrm>
            <a:off x="3286125" y="6202519"/>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(1) L-&gt;next;  (2) (p-&gt;next!=NULL) &amp;&amp; (p-&gt;next-&gt;data!=x)</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3746498"/>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4603748"/>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5460998"/>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6318248"/>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4CFC"/>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In the adjacency list of a directed graph, the number of nodes in each vertex singly linked list is equal to</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 of the vertex.</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err="1">
                <a:effectLst/>
                <a:latin typeface="Times New Roman" panose="02020603050405020304" pitchFamily="18" charset="0"/>
                <a:ea typeface="宋体" panose="02010600030101010101" pitchFamily="2" charset="-122"/>
              </a:rPr>
              <a:t>out_degree</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err="1">
                <a:effectLst/>
                <a:latin typeface="Times New Roman" panose="02020603050405020304" pitchFamily="18" charset="0"/>
                <a:ea typeface="宋体" panose="02010600030101010101" pitchFamily="2" charset="-122"/>
              </a:rPr>
              <a:t>in_degree</a:t>
            </a:r>
            <a:r>
              <a:rPr lang="en-US" altLang="zh-CN" sz="1350" kern="100" dirty="0">
                <a:effectLst/>
                <a:latin typeface="Times New Roman" panose="02020603050405020304" pitchFamily="18" charset="0"/>
                <a:ea typeface="宋体" panose="02010600030101010101" pitchFamily="2" charset="-122"/>
              </a:rPr>
              <a: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degree</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nothing</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2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17" name="组合 16"/>
          <p:cNvGrpSpPr/>
          <p:nvPr>
            <p:custDataLst>
              <p:tags r:id="rId11"/>
            </p:custDataLst>
          </p:nvPr>
        </p:nvGrpSpPr>
        <p:grpSpPr>
          <a:xfrm>
            <a:off x="2428875" y="0"/>
            <a:ext cx="4286250" cy="476250"/>
            <a:chOff x="0" y="0"/>
            <a:chExt cx="5715000" cy="635000"/>
          </a:xfrm>
        </p:grpSpPr>
        <p:sp>
          <p:nvSpPr>
            <p:cNvPr id="13" name="TitleBackground"/>
            <p:cNvSpPr/>
            <p:nvPr>
              <p:custDataLst>
                <p:tags r:id="rId13"/>
              </p:custDataLst>
            </p:nvPr>
          </p:nvSpPr>
          <p:spPr>
            <a:xfrm>
              <a:off x="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4"/>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5"/>
              </p:custDataLst>
            </p:nvPr>
          </p:nvSpPr>
          <p:spPr>
            <a:xfrm>
              <a:off x="254000"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6"/>
              </p:custDataLst>
            </p:nvPr>
          </p:nvSpPr>
          <p:spPr>
            <a:xfrm>
              <a:off x="1427480" y="109220"/>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3" name="图片 2"/>
          <p:cNvPicPr/>
          <p:nvPr>
            <p:custDataLst>
              <p:tags r:id="rId12"/>
            </p:custDataLst>
          </p:nvPr>
        </p:nvPicPr>
        <p:blipFill>
          <a:blip r:embed="rId18">
            <a:extLst>
              <a:ext uri="{28A0092B-C50C-407E-A947-70E740481C1C}">
                <a14:useLocalDpi xmlns:a14="http://schemas.microsoft.com/office/drawing/2010/main" val="0"/>
              </a:ext>
            </a:extLst>
          </a:blip>
          <a:stretch>
            <a:fillRect/>
          </a:stretch>
        </p:blipFill>
        <p:spPr>
          <a:xfrm>
            <a:off x="5553075" y="47625"/>
            <a:ext cx="1066800" cy="381000"/>
          </a:xfrm>
          <a:prstGeom prst="rect">
            <a:avLst/>
          </a:prstGeom>
        </p:spPr>
      </p:pic>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In an undirected graph, if the length of the path between two vertices is k, then the number of vertices on the path is </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a:t>
            </a:r>
            <a:endParaRPr lang="zh-CN" altLang="zh-CN" sz="1350" kern="100" dirty="0">
              <a:effectLst/>
              <a:latin typeface="Times New Roman" panose="02020603050405020304" pitchFamily="18" charset="0"/>
              <a:ea typeface="宋体" panose="02010600030101010101" pitchFamily="2"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k-1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k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k+1</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2k</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BC1D"/>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If we want to find out the 10 smallest from 10000 elements, the best way is to use </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a:t>
            </a:r>
            <a:endParaRPr lang="zh-CN" altLang="zh-CN" sz="1350" kern="100" dirty="0">
              <a:effectLst/>
              <a:latin typeface="Times New Roman" panose="02020603050405020304" pitchFamily="18" charset="0"/>
              <a:ea typeface="宋体" panose="02010600030101010101" pitchFamily="2"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Insertion sort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merge sort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 heap sort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quick sort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BC1D"/>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Among the following sequences, </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is not a min-heap.</a:t>
            </a:r>
            <a:endParaRPr lang="zh-CN" altLang="zh-CN" sz="1350" kern="100" dirty="0">
              <a:effectLst/>
              <a:latin typeface="Times New Roman" panose="02020603050405020304" pitchFamily="18" charset="0"/>
              <a:ea typeface="宋体" panose="02010600030101010101" pitchFamily="2"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1, 3, 5, 9, 7, 12</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 1, 5, 3, 7, 9, 12</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1, 5, 3, 9, 7, 12</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pPr marL="38100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1, 5, 9, 3, 7, 12</a:t>
            </a:r>
            <a:endParaRPr lang="zh-CN" altLang="zh-CN" sz="1350" kern="100" dirty="0">
              <a:effectLst/>
              <a:latin typeface="Times New Roman" panose="02020603050405020304" pitchFamily="18" charset="0"/>
              <a:ea typeface="宋体" panose="02010600030101010101" pitchFamily="2"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BC1D"/>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 Sort n elements with bubble sort, in the best case the time complexity is </a:t>
            </a:r>
            <a:r>
              <a:rPr lang="en-US" altLang="zh-CN" sz="1350" u="sng"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5" name="文本框 4"/>
          <p:cNvSpPr txBox="1"/>
          <p:nvPr>
            <p:custDataLst>
              <p:tags r:id="rId3"/>
            </p:custDataLst>
          </p:nvPr>
        </p:nvSpPr>
        <p:spPr>
          <a:xfrm>
            <a:off x="3286125" y="27860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O(1)</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 name="文本框 5"/>
          <p:cNvSpPr txBox="1"/>
          <p:nvPr>
            <p:custDataLst>
              <p:tags r:id="rId4"/>
            </p:custDataLst>
          </p:nvPr>
        </p:nvSpPr>
        <p:spPr>
          <a:xfrm>
            <a:off x="3286125" y="36433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O(log</a:t>
            </a:r>
            <a:r>
              <a:rPr lang="en-US" altLang="zh-CN" sz="1350" kern="100" baseline="-25000" dirty="0">
                <a:effectLst/>
                <a:latin typeface="Times New Roman" panose="02020603050405020304" pitchFamily="18" charset="0"/>
                <a:ea typeface="宋体" panose="02010600030101010101" pitchFamily="2" charset="-122"/>
              </a:rPr>
              <a:t>2</a:t>
            </a:r>
            <a:r>
              <a:rPr lang="en-US" altLang="zh-CN" sz="1350" kern="100" dirty="0">
                <a:effectLst/>
                <a:latin typeface="Times New Roman" panose="02020603050405020304" pitchFamily="18" charset="0"/>
                <a:ea typeface="宋体" panose="02010600030101010101" pitchFamily="2" charset="-122"/>
              </a:rPr>
              <a:t>n)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5"/>
            </p:custDataLst>
          </p:nvPr>
        </p:nvSpPr>
        <p:spPr>
          <a:xfrm>
            <a:off x="3286125" y="450056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O(n</a:t>
            </a:r>
            <a:r>
              <a:rPr lang="en-US" altLang="zh-CN" sz="1350" kern="100" baseline="30000" dirty="0">
                <a:effectLst/>
                <a:latin typeface="Times New Roman" panose="02020603050405020304" pitchFamily="18" charset="0"/>
                <a:ea typeface="宋体" panose="02010600030101010101" pitchFamily="2" charset="-122"/>
              </a:rPr>
              <a:t>2</a:t>
            </a:r>
            <a:r>
              <a:rPr lang="en-US" altLang="zh-CN" sz="1350" kern="100" dirty="0">
                <a:effectLst/>
                <a:latin typeface="Times New Roman" panose="02020603050405020304" pitchFamily="18" charset="0"/>
                <a:ea typeface="宋体" panose="02010600030101010101" pitchFamily="2" charset="-122"/>
              </a:rPr>
              <a: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6"/>
            </p:custDataLst>
          </p:nvPr>
        </p:nvSpPr>
        <p:spPr>
          <a:xfrm>
            <a:off x="3286125" y="5357813"/>
            <a:ext cx="3000375" cy="642938"/>
          </a:xfrm>
          <a:prstGeom prst="rect">
            <a:avLst/>
          </a:prstGeom>
          <a:noFill/>
        </p:spPr>
        <p:txBody>
          <a:bodyPr vert="horz"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O(n)</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2833497" y="29017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A</a:t>
            </a:r>
          </a:p>
        </p:txBody>
      </p:sp>
      <p:sp>
        <p:nvSpPr>
          <p:cNvPr id="10" name="椭圆 9"/>
          <p:cNvSpPr>
            <a:spLocks noChangeAspect="1"/>
          </p:cNvSpPr>
          <p:nvPr>
            <p:custDataLst>
              <p:tags r:id="rId8"/>
            </p:custDataLst>
          </p:nvPr>
        </p:nvSpPr>
        <p:spPr>
          <a:xfrm>
            <a:off x="2833497" y="375904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B</a:t>
            </a:r>
          </a:p>
        </p:txBody>
      </p:sp>
      <p:sp>
        <p:nvSpPr>
          <p:cNvPr id="11" name="椭圆 10"/>
          <p:cNvSpPr>
            <a:spLocks noChangeAspect="1"/>
          </p:cNvSpPr>
          <p:nvPr>
            <p:custDataLst>
              <p:tags r:id="rId9"/>
            </p:custDataLst>
          </p:nvPr>
        </p:nvSpPr>
        <p:spPr>
          <a:xfrm>
            <a:off x="2833497" y="4616291"/>
            <a:ext cx="411480" cy="4114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C</a:t>
            </a:r>
          </a:p>
        </p:txBody>
      </p:sp>
      <p:sp>
        <p:nvSpPr>
          <p:cNvPr id="12" name="椭圆 11"/>
          <p:cNvSpPr>
            <a:spLocks noChangeAspect="1"/>
          </p:cNvSpPr>
          <p:nvPr>
            <p:custDataLst>
              <p:tags r:id="rId10"/>
            </p:custDataLst>
          </p:nvPr>
        </p:nvSpPr>
        <p:spPr>
          <a:xfrm>
            <a:off x="2833497" y="5473541"/>
            <a:ext cx="411480" cy="4114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200">
                <a:solidFill>
                  <a:srgbClr val="FFFFFF"/>
                </a:solidFill>
                <a:latin typeface="微软雅黑" panose="020B0503020204020204" charset="-122"/>
                <a:ea typeface="微软雅黑" panose="020B0503020204020204" charset="-122"/>
                <a:sym typeface="微软雅黑" panose="020B0503020204020204" charset="-122"/>
              </a:rPr>
              <a:t>D</a:t>
            </a:r>
          </a:p>
        </p:txBody>
      </p:sp>
      <p:sp>
        <p:nvSpPr>
          <p:cNvPr id="2" name="圆角矩形 1"/>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提交</a:t>
            </a:r>
          </a:p>
        </p:txBody>
      </p:sp>
      <p:grpSp>
        <p:nvGrpSpPr>
          <p:cNvPr id="17" name="组合 16"/>
          <p:cNvGrpSpPr/>
          <p:nvPr>
            <p:custDataLst>
              <p:tags r:id="rId12"/>
            </p:custDataLst>
          </p:nvPr>
        </p:nvGrpSpPr>
        <p:grpSpPr>
          <a:xfrm>
            <a:off x="0" y="0"/>
            <a:ext cx="4286250" cy="490220"/>
            <a:chOff x="-3238500" y="0"/>
            <a:chExt cx="5715000" cy="653627"/>
          </a:xfrm>
        </p:grpSpPr>
        <p:sp>
          <p:nvSpPr>
            <p:cNvPr id="13" name="TitleBackground"/>
            <p:cNvSpPr/>
            <p:nvPr>
              <p:custDataLst>
                <p:tags r:id="rId14"/>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ColorBlock"/>
            <p:cNvSpPr/>
            <p:nvPr>
              <p:custDataLst>
                <p:tags r:id="rId15"/>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TypeText"/>
            <p:cNvSpPr txBox="1"/>
            <p:nvPr>
              <p:custDataLst>
                <p:tags r:id="rId16"/>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16" name="TipText"/>
            <p:cNvSpPr txBox="1"/>
            <p:nvPr>
              <p:custDataLst>
                <p:tags r:id="rId17"/>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8" name="图片 17" descr="tmpBC1D"/>
          <p:cNvPicPr>
            <a:picLocks noChangeAspect="1"/>
          </p:cNvPicPr>
          <p:nvPr>
            <p:custDataLst>
              <p:tags r:id="rId13"/>
            </p:custDataLst>
          </p:nvPr>
        </p:nvPicPr>
        <p:blipFill>
          <a:blip r:embed="rId19"/>
          <a:stretch>
            <a:fillRect/>
          </a:stretch>
        </p:blipFill>
        <p:spPr>
          <a:xfrm>
            <a:off x="7594600" y="63500"/>
            <a:ext cx="1422400" cy="5080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2.  Suppose a complete binary has 3000 nodes,  the height of the tree is </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r>
              <a:rPr lang="en-US" altLang="zh-CN" sz="1350" u="sng" kern="100" dirty="0">
                <a:solidFill>
                  <a:srgbClr val="000000"/>
                </a:solidFill>
                <a:effectLst/>
                <a:latin typeface="Times New Roman" panose="02020603050405020304" pitchFamily="18" charset="0"/>
                <a:ea typeface="宋体" panose="02010600030101010101" pitchFamily="2" charset="-122"/>
              </a:rPr>
              <a:t>.</a:t>
            </a:r>
            <a:endParaRPr lang="zh-CN" altLang="zh-CN" sz="1350" kern="100" dirty="0">
              <a:solidFill>
                <a:srgbClr val="000000"/>
              </a:solidFill>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3. To sort a sequence of </a:t>
            </a:r>
            <a:r>
              <a:rPr lang="en-US" altLang="zh-CN" sz="1350" i="1" kern="100" dirty="0">
                <a:effectLst/>
                <a:latin typeface="Times New Roman" panose="02020603050405020304" pitchFamily="18" charset="0"/>
                <a:ea typeface="宋体" panose="02010600030101010101" pitchFamily="2" charset="-122"/>
              </a:rPr>
              <a:t>n</a:t>
            </a:r>
            <a:r>
              <a:rPr lang="en-US" altLang="zh-CN" sz="1350" kern="100" dirty="0">
                <a:effectLst/>
                <a:latin typeface="Times New Roman" panose="02020603050405020304" pitchFamily="18" charset="0"/>
                <a:ea typeface="宋体" panose="02010600030101010101" pitchFamily="2" charset="-122"/>
              </a:rPr>
              <a:t> keys using insertion sort method, </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passes are needed.</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4. Given the array [34, 3, 10, 27, 6, 22, 9], suppose a max heap is built in linear time. The max heap is </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5. To realize BFS of a graph, a </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is used to implement the algorithm.</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6. An </a:t>
            </a:r>
            <a:r>
              <a:rPr lang="en-US" altLang="zh-CN" sz="1350" b="1" kern="100" dirty="0">
                <a:effectLst/>
                <a:latin typeface="Times New Roman" panose="02020603050405020304" pitchFamily="18" charset="0"/>
                <a:ea typeface="宋体" panose="02010600030101010101" pitchFamily="2" charset="-122"/>
              </a:rPr>
              <a:t>undirected</a:t>
            </a:r>
            <a:r>
              <a:rPr lang="en-US" altLang="zh-CN" sz="1350" kern="100" dirty="0">
                <a:effectLst/>
                <a:latin typeface="Times New Roman" panose="02020603050405020304" pitchFamily="18" charset="0"/>
                <a:ea typeface="宋体" panose="02010600030101010101" pitchFamily="2" charset="-122"/>
              </a:rPr>
              <a:t> complete graph with n nodes has </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edges. </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lvl="0"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7. Given an undirected graph with n nodes and e edges, there are totally</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(how many) 0's in the adjacency matrix of this graph.</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8. For any node in a threaded binary tree, if </a:t>
            </a:r>
            <a:r>
              <a:rPr lang="en-US" altLang="zh-CN" sz="1350" kern="100" dirty="0" err="1">
                <a:effectLst/>
                <a:latin typeface="Times New Roman" panose="02020603050405020304" pitchFamily="18" charset="0"/>
                <a:ea typeface="宋体" panose="02010600030101010101" pitchFamily="2" charset="-122"/>
              </a:rPr>
              <a:t>RightThread</a:t>
            </a:r>
            <a:r>
              <a:rPr lang="en-US" altLang="zh-CN" sz="1350" kern="100" dirty="0">
                <a:effectLst/>
                <a:latin typeface="Times New Roman" panose="02020603050405020304" pitchFamily="18" charset="0"/>
                <a:ea typeface="宋体" panose="02010600030101010101" pitchFamily="2" charset="-122"/>
              </a:rPr>
              <a:t>=1, then in the Right field is a</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r>
              <a:rPr lang="en-US" altLang="zh-CN" sz="1350" kern="100" dirty="0">
                <a:effectLst/>
                <a:latin typeface="Times New Roman" panose="02020603050405020304" pitchFamily="18" charset="0"/>
                <a:ea typeface="宋体" panose="02010600030101010101" pitchFamily="2" charset="-122"/>
              </a:rPr>
              <a:t>9. For linked list, the time complexity of visiting the </a:t>
            </a:r>
            <a:r>
              <a:rPr lang="en-US" altLang="zh-CN" sz="1350" kern="100" dirty="0" err="1">
                <a:effectLst/>
                <a:latin typeface="Times New Roman" panose="02020603050405020304" pitchFamily="18" charset="0"/>
                <a:ea typeface="宋体" panose="02010600030101010101" pitchFamily="2" charset="-122"/>
              </a:rPr>
              <a:t>i</a:t>
            </a:r>
            <a:r>
              <a:rPr lang="en-US" altLang="zh-CN" sz="1350" kern="100" baseline="30000" dirty="0" err="1">
                <a:effectLst/>
                <a:latin typeface="Times New Roman" panose="02020603050405020304" pitchFamily="18" charset="0"/>
                <a:ea typeface="宋体" panose="02010600030101010101" pitchFamily="2" charset="-122"/>
              </a:rPr>
              <a:t>th</a:t>
            </a:r>
            <a:r>
              <a:rPr lang="en-US" altLang="zh-CN" sz="1350" kern="100" dirty="0">
                <a:effectLst/>
                <a:latin typeface="Times New Roman" panose="02020603050405020304" pitchFamily="18" charset="0"/>
                <a:ea typeface="宋体" panose="02010600030101010101" pitchFamily="2" charset="-122"/>
              </a:rPr>
              <a:t> element is</a:t>
            </a:r>
            <a:r>
              <a:rPr lang="zh-CN" altLang="en-US" sz="1350" kern="100" dirty="0">
                <a:solidFill>
                  <a:srgbClr val="639EF4"/>
                </a:solidFill>
                <a:effectLst/>
                <a:latin typeface="Times New Roman" panose="02020603050405020304" pitchFamily="18" charset="0"/>
                <a:ea typeface="宋体" panose="02010600030101010101" pitchFamily="2" charset="-122"/>
              </a:rPr>
              <a:t> </a:t>
            </a:r>
            <a:r>
              <a:rPr lang="en-US" altLang="zh-CN" sz="1350" kern="100" dirty="0">
                <a:solidFill>
                  <a:srgbClr val="639EF4"/>
                </a:solidFill>
                <a:effectLst/>
                <a:latin typeface="Times New Roman" panose="02020603050405020304" pitchFamily="18" charset="0"/>
                <a:ea typeface="宋体" panose="02010600030101010101" pitchFamily="2" charset="-122"/>
              </a:rPr>
              <a:t>[</a:t>
            </a:r>
            <a:r>
              <a:rPr lang="zh-CN" altLang="en-US" sz="1350" kern="100" dirty="0">
                <a:solidFill>
                  <a:srgbClr val="639EF4"/>
                </a:solidFill>
                <a:effectLst/>
                <a:latin typeface="Times New Roman" panose="02020603050405020304" pitchFamily="18" charset="0"/>
                <a:ea typeface="宋体" panose="02010600030101010101" pitchFamily="2" charset="-122"/>
              </a:rPr>
              <a:t>填空</a:t>
            </a:r>
            <a:r>
              <a:rPr lang="en-US" altLang="zh-CN" sz="1350" kern="100" dirty="0">
                <a:solidFill>
                  <a:srgbClr val="639EF4"/>
                </a:solidFill>
                <a:effectLst/>
                <a:latin typeface="Times New Roman" panose="02020603050405020304" pitchFamily="18" charset="0"/>
                <a:ea typeface="宋体" panose="02010600030101010101" pitchFamily="2" charset="-122"/>
              </a:rPr>
              <a:t>1]</a:t>
            </a:r>
            <a:r>
              <a:rPr lang="en-US" altLang="zh-CN" sz="1350" kern="100" dirty="0">
                <a:solidFill>
                  <a:srgbClr val="000000"/>
                </a:solidFill>
                <a:effectLst/>
                <a:latin typeface="Times New Roman" panose="02020603050405020304" pitchFamily="18" charset="0"/>
                <a:ea typeface="宋体" panose="02010600030101010101" pitchFamily="2" charset="-122"/>
              </a:rPr>
              <a:t> .</a:t>
            </a:r>
            <a:endParaRPr lang="zh-CN" altLang="en-US" sz="195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正常使用填空题需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3.0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填空题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2</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487419" y="476250"/>
            <a:ext cx="3930805" cy="5394867"/>
          </a:xfrm>
          <a:prstGeom prst="rect">
            <a:avLst/>
          </a:prstGeom>
          <a:noFill/>
        </p:spPr>
        <p:txBody>
          <a:bodyPr vert="horz" wrap="square" rtlCol="0" anchor="ctr" anchorCtr="0">
            <a:noAutofit/>
          </a:bodyPr>
          <a:lstStyle/>
          <a:p>
            <a:pPr lvl="0" algn="just">
              <a:spcBef>
                <a:spcPts val="600"/>
              </a:spcBef>
              <a:spcAft>
                <a:spcPts val="600"/>
              </a:spcAft>
            </a:pPr>
            <a:r>
              <a:rPr lang="en-US" altLang="zh-CN" sz="900" b="1" kern="100" dirty="0">
                <a:effectLst/>
                <a:latin typeface="Times New Roman" panose="02020603050405020304" pitchFamily="18" charset="0"/>
                <a:ea typeface="宋体" panose="02010600030101010101" pitchFamily="2" charset="-122"/>
              </a:rPr>
              <a:t>True or False (10 questions</a:t>
            </a:r>
            <a:r>
              <a:rPr lang="zh-CN" altLang="zh-CN" sz="900" b="1" kern="100" dirty="0">
                <a:effectLst/>
                <a:latin typeface="Times New Roman" panose="02020603050405020304" pitchFamily="18" charset="0"/>
                <a:ea typeface="宋体" panose="02010600030101010101" pitchFamily="2" charset="-122"/>
              </a:rPr>
              <a:t>，</a:t>
            </a:r>
            <a:r>
              <a:rPr lang="en-US" altLang="zh-CN" sz="900" b="1" kern="100" dirty="0">
                <a:effectLst/>
                <a:latin typeface="Times New Roman" panose="02020603050405020304" pitchFamily="18" charset="0"/>
                <a:ea typeface="宋体" panose="02010600030101010101" pitchFamily="2" charset="-122"/>
              </a:rPr>
              <a:t>1.5 points for each question</a:t>
            </a:r>
            <a:r>
              <a:rPr lang="zh-CN" altLang="zh-CN" sz="900" b="1" kern="100" dirty="0">
                <a:effectLst/>
                <a:latin typeface="Times New Roman" panose="02020603050405020304" pitchFamily="18" charset="0"/>
                <a:ea typeface="宋体" panose="02010600030101010101" pitchFamily="2" charset="-122"/>
              </a:rPr>
              <a:t>，</a:t>
            </a:r>
            <a:r>
              <a:rPr lang="en-US" altLang="zh-CN" sz="900" b="1" kern="100" dirty="0">
                <a:effectLst/>
                <a:latin typeface="Times New Roman" panose="02020603050405020304" pitchFamily="18" charset="0"/>
                <a:ea typeface="宋体" panose="02010600030101010101" pitchFamily="2" charset="-122"/>
              </a:rPr>
              <a:t>totally 15 points)</a:t>
            </a:r>
            <a:endParaRPr lang="zh-CN" altLang="zh-CN" sz="900" kern="100" dirty="0">
              <a:effectLst/>
              <a:latin typeface="Times New Roman" panose="02020603050405020304" pitchFamily="18" charset="0"/>
              <a:ea typeface="宋体" panose="02010600030101010101" pitchFamily="2" charset="-122"/>
            </a:endParaRPr>
          </a:p>
          <a:p>
            <a:pPr marL="342900" lvl="0" indent="-342900" algn="just">
              <a:spcBef>
                <a:spcPts val="600"/>
              </a:spcBef>
              <a:spcAft>
                <a:spcPts val="600"/>
              </a:spcAft>
              <a:buFont typeface="+mj-lt"/>
              <a:buAutoNum type="arabicPeriod"/>
            </a:pPr>
            <a:r>
              <a:rPr lang="en-US" altLang="zh-CN" sz="900" kern="100" dirty="0">
                <a:effectLst/>
                <a:latin typeface="Times New Roman" panose="02020603050405020304" pitchFamily="18" charset="0"/>
                <a:ea typeface="宋体" panose="02010600030101010101" pitchFamily="2" charset="-122"/>
              </a:rPr>
              <a:t>Sequential list must occupy continuous memory locations.                      (    )</a:t>
            </a:r>
            <a:endParaRPr lang="zh-CN" altLang="zh-CN" sz="900" kern="100" dirty="0">
              <a:effectLst/>
              <a:latin typeface="Times New Roman" panose="02020603050405020304" pitchFamily="18" charset="0"/>
              <a:ea typeface="宋体" panose="02010600030101010101" pitchFamily="2" charset="-122"/>
            </a:endParaRPr>
          </a:p>
          <a:p>
            <a:pPr marL="342900" lvl="0" indent="-342900" algn="just">
              <a:spcBef>
                <a:spcPts val="600"/>
              </a:spcBef>
              <a:spcAft>
                <a:spcPts val="600"/>
              </a:spcAft>
              <a:buFont typeface="+mj-lt"/>
              <a:buAutoNum type="arabicPeriod"/>
            </a:pPr>
            <a:r>
              <a:rPr lang="en-US" altLang="zh-CN" sz="900" kern="100" dirty="0">
                <a:effectLst/>
                <a:latin typeface="Times New Roman" panose="02020603050405020304" pitchFamily="18" charset="0"/>
                <a:ea typeface="宋体" panose="02010600030101010101" pitchFamily="2" charset="-122"/>
              </a:rPr>
              <a:t>Suppose T1(N)=O(f(N)) and T2(N)=O(f(N)), then T1(N)/T2(N)=O(1).   (    )</a:t>
            </a:r>
            <a:endParaRPr lang="zh-CN" altLang="zh-CN" sz="900" kern="100" dirty="0">
              <a:effectLst/>
              <a:latin typeface="Times New Roman" panose="02020603050405020304" pitchFamily="18" charset="0"/>
              <a:ea typeface="宋体" panose="02010600030101010101" pitchFamily="2" charset="-122"/>
            </a:endParaRPr>
          </a:p>
          <a:p>
            <a:pPr marL="342900" lvl="0" indent="-342900" algn="just">
              <a:spcBef>
                <a:spcPts val="600"/>
              </a:spcBef>
              <a:spcAft>
                <a:spcPts val="600"/>
              </a:spcAft>
              <a:buFont typeface="+mj-lt"/>
              <a:buAutoNum type="arabicPeriod"/>
            </a:pPr>
            <a:r>
              <a:rPr lang="en-US" altLang="zh-CN" sz="900" kern="100" dirty="0">
                <a:effectLst/>
                <a:latin typeface="Times New Roman" panose="02020603050405020304" pitchFamily="18" charset="0"/>
                <a:ea typeface="宋体" panose="02010600030101010101" pitchFamily="2" charset="-122"/>
              </a:rPr>
              <a:t>A queue is a first in last out linear data structure.                                      (    )</a:t>
            </a:r>
            <a:endParaRPr lang="zh-CN" altLang="zh-CN" sz="900" kern="100" dirty="0">
              <a:effectLst/>
              <a:latin typeface="Times New Roman" panose="02020603050405020304" pitchFamily="18" charset="0"/>
              <a:ea typeface="宋体" panose="02010600030101010101" pitchFamily="2" charset="-122"/>
            </a:endParaRPr>
          </a:p>
          <a:p>
            <a:pPr marL="342900" marR="19685" lvl="0" indent="-342900" algn="just" latinLnBrk="1">
              <a:spcAft>
                <a:spcPts val="0"/>
              </a:spcAft>
              <a:buFont typeface="+mj-lt"/>
              <a:buAutoNum type="arabicPeriod"/>
            </a:pPr>
            <a:r>
              <a:rPr lang="en-US" altLang="zh-CN" sz="900" kern="100" dirty="0">
                <a:effectLst/>
                <a:latin typeface="Times New Roman" panose="02020603050405020304" pitchFamily="18" charset="0"/>
                <a:ea typeface="宋体" panose="02010600030101010101" pitchFamily="2" charset="-122"/>
              </a:rPr>
              <a:t>If an undirected graph has n vertices and more than n-1 edges, then the</a:t>
            </a:r>
          </a:p>
          <a:p>
            <a:pPr marR="19685" lvl="0" algn="just" latinLnBrk="1">
              <a:spcAft>
                <a:spcPts val="0"/>
              </a:spcAft>
            </a:pPr>
            <a:r>
              <a:rPr lang="en-US" altLang="zh-CN" sz="900" kern="100" dirty="0">
                <a:latin typeface="Times New Roman" panose="02020603050405020304" pitchFamily="18" charset="0"/>
                <a:ea typeface="宋体" panose="02010600030101010101" pitchFamily="2" charset="-122"/>
              </a:rPr>
              <a:t>        </a:t>
            </a:r>
            <a:r>
              <a:rPr lang="en-US" altLang="zh-CN" sz="900" kern="100" dirty="0">
                <a:effectLst/>
                <a:latin typeface="Times New Roman" panose="02020603050405020304" pitchFamily="18" charset="0"/>
                <a:ea typeface="宋体" panose="02010600030101010101" pitchFamily="2" charset="-122"/>
              </a:rPr>
              <a:t> graph is connected.                                                                                     (    )</a:t>
            </a:r>
            <a:endParaRPr lang="zh-CN" altLang="zh-CN" sz="900" kern="100" dirty="0">
              <a:effectLst/>
              <a:latin typeface="Times New Roman" panose="02020603050405020304" pitchFamily="18" charset="0"/>
              <a:ea typeface="宋体" panose="02010600030101010101" pitchFamily="2" charset="-122"/>
            </a:endParaRPr>
          </a:p>
          <a:p>
            <a:pPr marR="19685" lvl="0" algn="just" latinLnBrk="1">
              <a:spcAft>
                <a:spcPts val="0"/>
              </a:spcAft>
            </a:pPr>
            <a:r>
              <a:rPr lang="en-US" altLang="zh-CN" sz="900" kern="100" dirty="0">
                <a:effectLst/>
                <a:latin typeface="Times New Roman" panose="02020603050405020304" pitchFamily="18" charset="0"/>
                <a:ea typeface="宋体" panose="02010600030101010101" pitchFamily="2" charset="-122"/>
              </a:rPr>
              <a:t>5.      A new record can always be inserted into a hash table by using quadratic </a:t>
            </a:r>
          </a:p>
          <a:p>
            <a:pPr marR="19685" lvl="0" algn="just" latinLnBrk="1">
              <a:spcAft>
                <a:spcPts val="0"/>
              </a:spcAft>
            </a:pPr>
            <a:r>
              <a:rPr lang="en-US" altLang="zh-CN" sz="900" kern="100" dirty="0">
                <a:latin typeface="Times New Roman" panose="02020603050405020304" pitchFamily="18" charset="0"/>
                <a:ea typeface="宋体" panose="02010600030101010101" pitchFamily="2" charset="-122"/>
              </a:rPr>
              <a:t>         </a:t>
            </a:r>
            <a:r>
              <a:rPr lang="en-US" altLang="zh-CN" sz="900" kern="100" dirty="0">
                <a:effectLst/>
                <a:latin typeface="Times New Roman" panose="02020603050405020304" pitchFamily="18" charset="0"/>
                <a:ea typeface="宋体" panose="02010600030101010101" pitchFamily="2" charset="-122"/>
              </a:rPr>
              <a:t>probing as long as there are empty locations.                                            (    )</a:t>
            </a:r>
            <a:endParaRPr lang="zh-CN" altLang="zh-CN" sz="900" kern="100" dirty="0">
              <a:effectLst/>
              <a:latin typeface="Times New Roman" panose="02020603050405020304" pitchFamily="18" charset="0"/>
              <a:ea typeface="宋体" panose="02010600030101010101" pitchFamily="2" charset="-122"/>
            </a:endParaRPr>
          </a:p>
          <a:p>
            <a:pPr marR="19685" lvl="0" algn="just" latinLnBrk="1">
              <a:spcAft>
                <a:spcPts val="0"/>
              </a:spcAft>
            </a:pPr>
            <a:r>
              <a:rPr lang="en-US" altLang="zh-CN" sz="900" kern="100" dirty="0">
                <a:effectLst/>
                <a:latin typeface="Times New Roman" panose="02020603050405020304" pitchFamily="18" charset="0"/>
                <a:ea typeface="宋体" panose="02010600030101010101" pitchFamily="2" charset="-122"/>
              </a:rPr>
              <a:t>6.      Bubble sort is stable.                                                                                  (    )</a:t>
            </a:r>
            <a:endParaRPr lang="zh-CN" altLang="zh-CN" sz="900" kern="100" dirty="0">
              <a:effectLst/>
              <a:latin typeface="Times New Roman" panose="02020603050405020304" pitchFamily="18" charset="0"/>
              <a:ea typeface="宋体" panose="02010600030101010101" pitchFamily="2" charset="-122"/>
            </a:endParaRPr>
          </a:p>
          <a:p>
            <a:pPr marR="19685" lvl="0" algn="just" latinLnBrk="1">
              <a:spcAft>
                <a:spcPts val="0"/>
              </a:spcAft>
            </a:pPr>
            <a:r>
              <a:rPr lang="en-US" altLang="zh-CN" sz="900" kern="100" dirty="0">
                <a:effectLst/>
                <a:latin typeface="Times New Roman" panose="02020603050405020304" pitchFamily="18" charset="0"/>
                <a:ea typeface="宋体" panose="02010600030101010101" pitchFamily="2" charset="-122"/>
              </a:rPr>
              <a:t>7.      The minimum spinning tree of a connected graph is unique.                    (    )</a:t>
            </a:r>
            <a:endParaRPr lang="zh-CN" altLang="zh-CN" sz="900" kern="100" dirty="0">
              <a:effectLst/>
              <a:latin typeface="Times New Roman" panose="02020603050405020304" pitchFamily="18" charset="0"/>
              <a:ea typeface="宋体" panose="02010600030101010101" pitchFamily="2" charset="-122"/>
            </a:endParaRPr>
          </a:p>
          <a:p>
            <a:pPr marL="228600" marR="19685" lvl="0" indent="-228600" algn="just" latinLnBrk="1">
              <a:spcAft>
                <a:spcPts val="0"/>
              </a:spcAft>
              <a:buAutoNum type="arabicPeriod" startAt="8"/>
            </a:pPr>
            <a:r>
              <a:rPr lang="en-US" altLang="zh-CN" sz="900" kern="100" dirty="0">
                <a:effectLst/>
                <a:latin typeface="Times New Roman" panose="02020603050405020304" pitchFamily="18" charset="0"/>
                <a:ea typeface="宋体" panose="02010600030101010101" pitchFamily="2" charset="-122"/>
              </a:rPr>
              <a:t>  In a sorted array with 100 elements, the maximum search time for successful  </a:t>
            </a:r>
          </a:p>
          <a:p>
            <a:pPr marR="19685" lvl="0" algn="just" latinLnBrk="1">
              <a:spcAft>
                <a:spcPts val="0"/>
              </a:spcAft>
            </a:pPr>
            <a:r>
              <a:rPr lang="en-US" altLang="zh-CN" sz="900" kern="100" dirty="0">
                <a:effectLst/>
                <a:latin typeface="Times New Roman" panose="02020603050405020304" pitchFamily="18" charset="0"/>
                <a:ea typeface="宋体" panose="02010600030101010101" pitchFamily="2" charset="-122"/>
              </a:rPr>
              <a:t>        binary search is 8.                                                                                        (    )</a:t>
            </a:r>
            <a:endParaRPr lang="zh-CN" altLang="zh-CN" sz="900" kern="100" dirty="0">
              <a:effectLst/>
              <a:latin typeface="Times New Roman" panose="02020603050405020304" pitchFamily="18" charset="0"/>
              <a:ea typeface="宋体" panose="02010600030101010101" pitchFamily="2" charset="-122"/>
            </a:endParaRPr>
          </a:p>
          <a:p>
            <a:pPr marL="228600" marR="19685" lvl="0" indent="-228600" algn="just" latinLnBrk="1">
              <a:spcAft>
                <a:spcPts val="0"/>
              </a:spcAft>
              <a:buAutoNum type="arabicPeriod" startAt="9"/>
            </a:pPr>
            <a:r>
              <a:rPr lang="en-US" altLang="zh-CN" sz="900" kern="100" dirty="0">
                <a:effectLst/>
                <a:latin typeface="Times New Roman" panose="02020603050405020304" pitchFamily="18" charset="0"/>
                <a:ea typeface="宋体" panose="02010600030101010101" pitchFamily="2" charset="-122"/>
              </a:rPr>
              <a:t>  If the sequence to be sorted is basically in order, using bubble sort is more</a:t>
            </a:r>
          </a:p>
          <a:p>
            <a:pPr marR="19685" lvl="0" algn="just" latinLnBrk="1">
              <a:spcAft>
                <a:spcPts val="0"/>
              </a:spcAft>
            </a:pPr>
            <a:r>
              <a:rPr lang="en-US" altLang="zh-CN" sz="900" kern="100" dirty="0">
                <a:latin typeface="Times New Roman" panose="02020603050405020304" pitchFamily="18" charset="0"/>
                <a:ea typeface="宋体" panose="02010600030101010101" pitchFamily="2" charset="-122"/>
              </a:rPr>
              <a:t>       </a:t>
            </a:r>
            <a:r>
              <a:rPr lang="en-US" altLang="zh-CN" sz="900" kern="100" dirty="0">
                <a:effectLst/>
                <a:latin typeface="Times New Roman" panose="02020603050405020304" pitchFamily="18" charset="0"/>
                <a:ea typeface="宋体" panose="02010600030101010101" pitchFamily="2" charset="-122"/>
              </a:rPr>
              <a:t> time efficient than quick sort.                                                                      (    )</a:t>
            </a:r>
            <a:endParaRPr lang="zh-CN" altLang="zh-CN" sz="900" kern="100" dirty="0">
              <a:effectLst/>
              <a:latin typeface="Times New Roman" panose="02020603050405020304" pitchFamily="18" charset="0"/>
              <a:ea typeface="宋体" panose="02010600030101010101" pitchFamily="2" charset="-122"/>
            </a:endParaRPr>
          </a:p>
          <a:p>
            <a:r>
              <a:rPr lang="en-US" altLang="zh-CN" sz="900" kern="100" dirty="0">
                <a:effectLst/>
                <a:latin typeface="Times New Roman" panose="02020603050405020304" pitchFamily="18" charset="0"/>
                <a:ea typeface="宋体" panose="02010600030101010101" pitchFamily="2" charset="-122"/>
              </a:rPr>
              <a:t>10.    The DFS of a graph is a recursive procedure.                                            (    )</a:t>
            </a:r>
            <a:endParaRPr lang="zh-CN" altLang="en-US" sz="9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15</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789623"/>
            <a:ext cx="3429000" cy="2143125"/>
          </a:xfrm>
          <a:prstGeom prst="rect">
            <a:avLst/>
          </a:prstGeom>
          <a:noFill/>
        </p:spPr>
        <p:txBody>
          <a:bodyPr vert="horz" wrap="square" rtlCol="0" anchor="ctr" anchorCtr="0">
            <a:noAutofit/>
          </a:bodyPr>
          <a:lstStyle/>
          <a:p>
            <a:pPr marL="342900" marR="19685" lvl="0" indent="-342900" algn="just" latinLnBrk="1">
              <a:spcAft>
                <a:spcPts val="0"/>
              </a:spcAft>
              <a:buFont typeface="+mj-lt"/>
              <a:buAutoNum type="arabicPeriod"/>
            </a:pPr>
            <a:r>
              <a:rPr lang="en-US" altLang="zh-CN" sz="1350" kern="100" dirty="0">
                <a:effectLst/>
                <a:latin typeface="Times New Roman" panose="02020603050405020304" pitchFamily="18" charset="0"/>
                <a:ea typeface="宋体" panose="02010600030101010101" pitchFamily="2" charset="-122"/>
              </a:rPr>
              <a:t>Given the undirected graph shown in the fig.1, try to find the shortest path from the vertex A to all other vertices with Dijkstra algorithm. Describe the procedure with a table and list the shortest paths. </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91915" y="2562225"/>
            <a:ext cx="1222772" cy="1016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文本框 12"/>
          <p:cNvSpPr txBox="1"/>
          <p:nvPr/>
        </p:nvSpPr>
        <p:spPr>
          <a:xfrm>
            <a:off x="3661410" y="3653314"/>
            <a:ext cx="2145030" cy="275590"/>
          </a:xfrm>
          <a:prstGeom prst="rect">
            <a:avLst/>
          </a:prstGeom>
          <a:noFill/>
        </p:spPr>
        <p:txBody>
          <a:bodyPr wrap="square">
            <a:spAutoFit/>
          </a:bodyPr>
          <a:lstStyle/>
          <a:p>
            <a:pPr algn="just">
              <a:spcBef>
                <a:spcPts val="600"/>
              </a:spcBef>
              <a:spcAft>
                <a:spcPts val="600"/>
              </a:spcAft>
            </a:pPr>
            <a:r>
              <a:rPr lang="en-US" altLang="zh-CN" sz="1200" kern="100" dirty="0">
                <a:effectLst/>
                <a:latin typeface="Times New Roman" panose="02020603050405020304" pitchFamily="18" charset="0"/>
                <a:ea typeface="宋体" panose="02010600030101010101" pitchFamily="2" charset="-122"/>
              </a:rPr>
              <a:t>Fig. 1 an undirected graph</a:t>
            </a:r>
            <a:endParaRPr lang="zh-CN" altLang="zh-CN" sz="900" kern="100" dirty="0">
              <a:effectLst/>
              <a:latin typeface="Times New Roman" panose="02020603050405020304" pitchFamily="18" charset="0"/>
              <a:ea typeface="宋体" panose="02010600030101010101" pitchFamily="2" charset="-122"/>
            </a:endParaRP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dirty="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7</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3"/>
          <a:stretch>
            <a:fillRect/>
          </a:stretch>
        </p:blipFill>
        <p:spPr>
          <a:xfrm>
            <a:off x="7594600" y="63500"/>
            <a:ext cx="1422400" cy="508000"/>
          </a:xfrm>
          <a:prstGeom prst="rect">
            <a:avLst/>
          </a:prstGeom>
        </p:spPr>
      </p:pic>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algn="just">
              <a:spcBef>
                <a:spcPts val="600"/>
              </a:spcBef>
              <a:spcAft>
                <a:spcPts val="600"/>
              </a:spcAft>
            </a:pPr>
            <a:r>
              <a:rPr lang="zh-CN" altLang="zh-CN" sz="1350" kern="100" dirty="0">
                <a:effectLst/>
                <a:latin typeface="Times New Roman" panose="02020603050405020304" pitchFamily="18" charset="0"/>
                <a:ea typeface="宋体" panose="02010600030101010101" pitchFamily="2" charset="-122"/>
              </a:rPr>
              <a:t> </a:t>
            </a:r>
            <a:r>
              <a:rPr lang="en-US" altLang="zh-CN" sz="1350" kern="100" dirty="0">
                <a:effectLst/>
                <a:latin typeface="Times New Roman" panose="02020603050405020304" pitchFamily="18" charset="0"/>
                <a:ea typeface="宋体" panose="02010600030101010101" pitchFamily="2" charset="-122"/>
              </a:rPr>
              <a:t>2. For the graph shown in the Fig. 1, </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(1) draw out the adjacency matrix and the adjacency list of it.(4 points)</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(2) find the minimum spinning tree with the prim’s algorithm. (3 points)</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7</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3.  Suppose a linear table to be hashed is (32</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75</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29</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63</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46</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94</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24</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46</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18</a:t>
            </a:r>
            <a:r>
              <a:rPr lang="zh-CN" altLang="zh-CN" sz="1350" kern="100" dirty="0">
                <a:effectLst/>
                <a:latin typeface="Times New Roman" panose="02020603050405020304" pitchFamily="18" charset="0"/>
                <a:ea typeface="宋体" panose="02010600030101010101" pitchFamily="2" charset="-122"/>
              </a:rPr>
              <a:t>，</a:t>
            </a:r>
            <a:r>
              <a:rPr lang="en-US" altLang="zh-CN" sz="1350" kern="100" dirty="0">
                <a:effectLst/>
                <a:latin typeface="Times New Roman" panose="02020603050405020304" pitchFamily="18" charset="0"/>
                <a:ea typeface="宋体" panose="02010600030101010101" pitchFamily="2" charset="-122"/>
              </a:rPr>
              <a:t> 70), and the length of the hash table is 13, if the hash function is chosen as hash(x)=x % 13 and the separate chaining(linear probing/secondary probing) method is used to handle collisions, try to draw the hash table.</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7</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4.  Given a key sequence (142, 534, 253, 64, 450, 87, 572, 434), </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(a) show radix sort processes of the sequence. </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(b) show heap sort processes of the sequence. </a:t>
            </a: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(c) </a:t>
            </a:r>
            <a:r>
              <a:rPr lang="en-US" altLang="zh-CN" sz="1350" kern="100" dirty="0">
                <a:effectLst/>
                <a:latin typeface="Times New Roman" panose="02020603050405020304" pitchFamily="18" charset="0"/>
                <a:ea typeface="宋体" panose="02010600030101010101" pitchFamily="2" charset="-122"/>
                <a:sym typeface="+mn-ea"/>
              </a:rPr>
              <a:t>show quick sort processes of the sequence, suppose always use the last element as the pivot and cutoff=2.</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7</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857500" y="476250"/>
            <a:ext cx="3429000" cy="2143125"/>
          </a:xfrm>
          <a:prstGeom prst="rect">
            <a:avLst/>
          </a:prstGeom>
          <a:noFill/>
        </p:spPr>
        <p:txBody>
          <a:bodyPr vert="horz" wrap="square" rtlCol="0" anchor="ctr" anchorCtr="0">
            <a:noAutofit/>
          </a:bodyPr>
          <a:lstStyle/>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5. Given the sequence (32, 11, 54, 16, 79, 15, 20, 57), starting from an empty tree and insert the keys into the tree one by one</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(a) show the resulting binary search tree .</a:t>
            </a:r>
            <a:endParaRPr lang="zh-CN" altLang="zh-CN" sz="1350" kern="100" dirty="0">
              <a:effectLst/>
              <a:latin typeface="Times New Roman" panose="02020603050405020304" pitchFamily="18" charset="0"/>
              <a:ea typeface="宋体" panose="02010600030101010101" pitchFamily="2" charset="-122"/>
            </a:endParaRPr>
          </a:p>
          <a:p>
            <a:pPr algn="just">
              <a:spcBef>
                <a:spcPts val="600"/>
              </a:spcBef>
              <a:spcAft>
                <a:spcPts val="600"/>
              </a:spcAft>
            </a:pPr>
            <a:r>
              <a:rPr lang="en-US" altLang="zh-CN" sz="1350" kern="100" dirty="0">
                <a:effectLst/>
                <a:latin typeface="Times New Roman" panose="02020603050405020304" pitchFamily="18" charset="0"/>
                <a:ea typeface="宋体" panose="02010600030101010101" pitchFamily="2" charset="-122"/>
              </a:rPr>
              <a:t>   (b) show the resulting AVL tree. </a:t>
            </a:r>
            <a:endParaRPr lang="zh-CN" altLang="zh-CN" sz="1350" kern="100" dirty="0">
              <a:effectLst/>
              <a:latin typeface="Times New Roman" panose="02020603050405020304" pitchFamily="18" charset="0"/>
              <a:ea typeface="宋体" panose="02010600030101010101" pitchFamily="2" charset="-122"/>
            </a:endParaRPr>
          </a:p>
        </p:txBody>
      </p:sp>
      <p:sp>
        <p:nvSpPr>
          <p:cNvPr id="10" name="矩形 9"/>
          <p:cNvSpPr/>
          <p:nvPr>
            <p:custDataLst>
              <p:tags r:id="rId3"/>
            </p:custDataLst>
          </p:nvPr>
        </p:nvSpPr>
        <p:spPr>
          <a:xfrm>
            <a:off x="2428875" y="6203156"/>
            <a:ext cx="4286250" cy="357188"/>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125">
                <a:solidFill>
                  <a:srgbClr val="F84F41"/>
                </a:solidFill>
                <a:latin typeface="微软雅黑" panose="020B0503020204020204" charset="-122"/>
                <a:ea typeface="微软雅黑" panose="020B0503020204020204" charset="-122"/>
                <a:sym typeface="微软雅黑" panose="020B0503020204020204" charset="-122"/>
              </a:rPr>
              <a:t>正常使用主观题需</a:t>
            </a:r>
            <a:r>
              <a:rPr lang="en-US" altLang="zh-CN" sz="1125">
                <a:solidFill>
                  <a:srgbClr val="F84F41"/>
                </a:solidFill>
                <a:latin typeface="微软雅黑" panose="020B0503020204020204" charset="-122"/>
                <a:ea typeface="微软雅黑" panose="020B0503020204020204" charset="-122"/>
                <a:sym typeface="微软雅黑" panose="020B0503020204020204" charset="-122"/>
              </a:rPr>
              <a:t>2.0</a:t>
            </a:r>
            <a:r>
              <a:rPr lang="zh-CN" altLang="en-US" sz="1125">
                <a:solidFill>
                  <a:srgbClr val="F84F41"/>
                </a:solidFill>
                <a:latin typeface="微软雅黑" panose="020B0503020204020204" charset="-122"/>
                <a:ea typeface="微软雅黑" panose="020B0503020204020204" charset="-122"/>
                <a:sym typeface="微软雅黑" panose="020B0503020204020204" charset="-122"/>
              </a:rPr>
              <a:t>以上版本雨课堂</a:t>
            </a:r>
          </a:p>
        </p:txBody>
      </p:sp>
      <p:sp>
        <p:nvSpPr>
          <p:cNvPr id="2" name="圆角矩形 1"/>
          <p:cNvSpPr/>
          <p:nvPr>
            <p:custDataLst>
              <p:tags r:id="rId4"/>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rPr>
              <a:t>作答</a:t>
            </a:r>
          </a:p>
        </p:txBody>
      </p:sp>
      <p:grpSp>
        <p:nvGrpSpPr>
          <p:cNvPr id="9" name="组合 8"/>
          <p:cNvGrpSpPr/>
          <p:nvPr>
            <p:custDataLst>
              <p:tags r:id="rId5"/>
            </p:custDataLst>
          </p:nvPr>
        </p:nvGrpSpPr>
        <p:grpSpPr>
          <a:xfrm>
            <a:off x="0" y="0"/>
            <a:ext cx="4286250" cy="490220"/>
            <a:chOff x="-3238500" y="0"/>
            <a:chExt cx="5715000" cy="653627"/>
          </a:xfrm>
        </p:grpSpPr>
        <p:sp>
          <p:nvSpPr>
            <p:cNvPr id="5" name="TitleBackground"/>
            <p:cNvSpPr/>
            <p:nvPr>
              <p:custDataLst>
                <p:tags r:id="rId7"/>
              </p:custDataLst>
            </p:nvPr>
          </p:nvSpPr>
          <p:spPr>
            <a:xfrm>
              <a:off x="-3238500" y="0"/>
              <a:ext cx="5715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ColorBlock"/>
            <p:cNvSpPr/>
            <p:nvPr>
              <p:custDataLst>
                <p:tags r:id="rId8"/>
              </p:custDataLst>
            </p:nvPr>
          </p:nvSpPr>
          <p:spPr>
            <a:xfrm>
              <a:off x="-323850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TypeText"/>
            <p:cNvSpPr txBox="1"/>
            <p:nvPr>
              <p:custDataLst>
                <p:tags r:id="rId9"/>
              </p:custDataLst>
            </p:nvPr>
          </p:nvSpPr>
          <p:spPr>
            <a:xfrm>
              <a:off x="-2899833" y="0"/>
              <a:ext cx="1905000" cy="635000"/>
            </a:xfrm>
            <a:prstGeom prst="rect">
              <a:avLst/>
            </a:prstGeom>
            <a:noFill/>
          </p:spPr>
          <p:txBody>
            <a:bodyPr vert="horz" wrap="none" rtlCol="0" anchor="ctr" anchorCtr="0">
              <a:noAutofit/>
            </a:bodyPr>
            <a:lstStyle/>
            <a:p>
              <a:r>
                <a:rPr lang="zh-CN" altLang="en-US" sz="1950">
                  <a:solidFill>
                    <a:srgbClr val="000000"/>
                  </a:solidFill>
                  <a:latin typeface="微软雅黑" panose="020B0503020204020204" charset="-122"/>
                  <a:ea typeface="微软雅黑" panose="020B0503020204020204" charset="-122"/>
                  <a:sym typeface="微软雅黑" panose="020B0503020204020204" charset="-122"/>
                </a:rPr>
                <a:t>主观题</a:t>
              </a:r>
            </a:p>
          </p:txBody>
        </p:sp>
        <p:sp>
          <p:nvSpPr>
            <p:cNvPr id="8" name="TipText"/>
            <p:cNvSpPr txBox="1"/>
            <p:nvPr>
              <p:custDataLst>
                <p:tags r:id="rId10"/>
              </p:custDataLst>
            </p:nvPr>
          </p:nvSpPr>
          <p:spPr>
            <a:xfrm>
              <a:off x="-1665393" y="145627"/>
              <a:ext cx="2286000" cy="508000"/>
            </a:xfrm>
            <a:prstGeom prst="rect">
              <a:avLst/>
            </a:prstGeom>
            <a:noFill/>
          </p:spPr>
          <p:txBody>
            <a:bodyPr vert="horz" wrap="none" rtlCol="0" anchor="ctr" anchorCtr="0">
              <a:noAutofit/>
            </a:bodyPr>
            <a:lstStyle/>
            <a:p>
              <a:r>
                <a:rPr lang="en-US" altLang="zh-CN" sz="1500">
                  <a:solidFill>
                    <a:srgbClr val="808080"/>
                  </a:solidFill>
                  <a:latin typeface="微软雅黑" panose="020B0503020204020204" charset="-122"/>
                  <a:ea typeface="微软雅黑" panose="020B0503020204020204" charset="-122"/>
                  <a:sym typeface="微软雅黑" panose="020B0503020204020204" charset="-122"/>
                </a:rPr>
                <a:t>7</a:t>
              </a:r>
              <a:r>
                <a:rPr lang="zh-CN" altLang="en-US" sz="150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11" name="图片 10" descr="tmpBC1D"/>
          <p:cNvPicPr>
            <a:picLocks noChangeAspect="1"/>
          </p:cNvPicPr>
          <p:nvPr>
            <p:custDataLst>
              <p:tags r:id="rId6"/>
            </p:custDataLst>
          </p:nvPr>
        </p:nvPicPr>
        <p:blipFill>
          <a:blip r:embed="rId12"/>
          <a:stretch>
            <a:fillRect/>
          </a:stretch>
        </p:blipFill>
        <p:spPr>
          <a:xfrm>
            <a:off x="7594600" y="63500"/>
            <a:ext cx="1422400" cy="508000"/>
          </a:xfrm>
          <a:prstGeom prst="rect">
            <a:avLst/>
          </a:prstGeom>
        </p:spPr>
      </p:pic>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JlYWQ5MWNiOTA2MTFjM2ZlODY0OThkMzE0MTVkOTg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False"/>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False"/>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 val="MultipleChoice"/>
  <p:tag name="PROBLEMSCORE" val="5.0"/>
  <p:tag name="PROBLEMHASREMARK" val="False"/>
</p:tagLst>
</file>

<file path=ppt/tags/tag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False"/>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2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suppose the height of the tree is k, we have&#10;&#10;2^(k+1)-1&gt;=50&gt;=2^k&#10;&#10;solve the ineuqality, we have k=5."/>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50.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False"/>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REMARK" val="A complete binary can have at most 1 one-degree node. If total number of node is even, there is 1 one-degree node. If total number of node is odd, there is no one-degree node."/>
  <p:tag name="PROBLEMHASREMARK" val="True"/>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91.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9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False"/>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2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2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40.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2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4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5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1.xml><?xml version="1.0" encoding="utf-8"?>
<p:tagLst xmlns:a="http://schemas.openxmlformats.org/drawingml/2006/main" xmlns:r="http://schemas.openxmlformats.org/officeDocument/2006/relationships" xmlns:p="http://schemas.openxmlformats.org/presentationml/2006/main">
  <p:tag name="RAINPROBLEM" val="FillBlank"/>
  <p:tag name="PROBLEMSCORE" val="0.0"/>
  <p:tag name="PROBLEMBLANK" val="[]"/>
</p:tagLst>
</file>

<file path=ppt/tags/tag28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284.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1.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9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9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0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0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1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5.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 name="PROBLEMHASREMARK" val="True"/>
  <p:tag name="PROBLEMREMARK" val="selection sort, bubble sort, quick sort"/>
</p:tagLst>
</file>

<file path=ppt/tags/tag32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3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36.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337.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33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3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4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4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34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5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7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8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38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9.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40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0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6.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4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3.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43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3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0.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4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11&quot;]}]"/>
</p:tagLst>
</file>

<file path=ppt/tags/tag4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4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n-1&quot;]}]"/>
</p:tagLst>
</file>

<file path=ppt/tags/tag47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4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34,27,22,3,6,10,9&quot;]}]"/>
</p:tagLst>
</file>

<file path=ppt/tags/tag4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4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4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4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queue&quot;]}]"/>
</p:tagLst>
</file>

<file path=ppt/tags/tag49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9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0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n(n-1)/2&quot;]}]"/>
</p:tagLst>
</file>

<file path=ppt/tags/tag50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0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1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square(n)-2e&quot;]}]"/>
</p:tagLst>
</file>

<file path=ppt/tags/tag51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1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thread&quot;]}]"/>
</p:tagLst>
</file>

<file path=ppt/tags/tag5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2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7.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2.0"/>
  <p:tag name="PROBLEMBLANK" val="[{&quot;num&quot;:1,&quot;caseSensitive&quot;:false,&quot;fuzzyMatch&quot;:false,&quot;Score&quot;:2.0,&quot;answers&quot;:[&quot;O(n)&quot;]}]"/>
</p:tagLst>
</file>

<file path=ppt/tags/tag5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39.xml><?xml version="1.0" encoding="utf-8"?>
<p:tagLst xmlns:a="http://schemas.openxmlformats.org/drawingml/2006/main" xmlns:r="http://schemas.openxmlformats.org/officeDocument/2006/relationships" xmlns:p="http://schemas.openxmlformats.org/presentationml/2006/main">
  <p:tag name="PRODUCTVERSIONTIP3" val="PRODUCTVERSIONTIP3"/>
</p:tagLst>
</file>

<file path=ppt/tags/tag54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5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5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7.xml><?xml version="1.0" encoding="utf-8"?>
<p:tagLst xmlns:a="http://schemas.openxmlformats.org/drawingml/2006/main" xmlns:r="http://schemas.openxmlformats.org/officeDocument/2006/relationships" xmlns:p="http://schemas.openxmlformats.org/presentationml/2006/main">
  <p:tag name="RAINPROBLEM" val="ShortAnswer"/>
  <p:tag name="PROBLEMSCORE" val="15.0"/>
  <p:tag name="PROBLEMVOICEALLOWED" val="False"/>
</p:tagLst>
</file>

<file path=ppt/tags/tag54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4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5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57.xml><?xml version="1.0" encoding="utf-8"?>
<p:tagLst xmlns:a="http://schemas.openxmlformats.org/drawingml/2006/main" xmlns:r="http://schemas.openxmlformats.org/officeDocument/2006/relationships" xmlns:p="http://schemas.openxmlformats.org/presentationml/2006/main">
  <p:tag name="RAINPROBLEM" val="ShortAnswer"/>
  <p:tag name="PROBLEMSCORE" val="7.0"/>
  <p:tag name="PROBLEMVOICEALLOWED" val="False"/>
</p:tagLst>
</file>

<file path=ppt/tags/tag55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7.xml><?xml version="1.0" encoding="utf-8"?>
<p:tagLst xmlns:a="http://schemas.openxmlformats.org/drawingml/2006/main" xmlns:r="http://schemas.openxmlformats.org/officeDocument/2006/relationships" xmlns:p="http://schemas.openxmlformats.org/presentationml/2006/main">
  <p:tag name="RAINPROBLEM" val="ShortAnswer"/>
  <p:tag name="PROBLEMSCORE" val="7.0"/>
  <p:tag name="PROBLEMVOICEALLOWED" val="False"/>
</p:tagLst>
</file>

<file path=ppt/tags/tag5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6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7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7.xml><?xml version="1.0" encoding="utf-8"?>
<p:tagLst xmlns:a="http://schemas.openxmlformats.org/drawingml/2006/main" xmlns:r="http://schemas.openxmlformats.org/officeDocument/2006/relationships" xmlns:p="http://schemas.openxmlformats.org/presentationml/2006/main">
  <p:tag name="RAINPROBLEM" val="ShortAnswer"/>
  <p:tag name="PROBLEMSCORE" val="7.0"/>
  <p:tag name="PROBLEMVOICEALLOWED" val="False"/>
</p:tagLst>
</file>

<file path=ppt/tags/tag57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7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8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7.xml><?xml version="1.0" encoding="utf-8"?>
<p:tagLst xmlns:a="http://schemas.openxmlformats.org/drawingml/2006/main" xmlns:r="http://schemas.openxmlformats.org/officeDocument/2006/relationships" xmlns:p="http://schemas.openxmlformats.org/presentationml/2006/main">
  <p:tag name="RAINPROBLEM" val="ShortAnswer"/>
  <p:tag name="PROBLEMSCORE" val="7.0"/>
  <p:tag name="PROBLEMVOICEALLOWED" val="False"/>
</p:tagLst>
</file>

<file path=ppt/tags/tag5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8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9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7.xml><?xml version="1.0" encoding="utf-8"?>
<p:tagLst xmlns:a="http://schemas.openxmlformats.org/drawingml/2006/main" xmlns:r="http://schemas.openxmlformats.org/officeDocument/2006/relationships" xmlns:p="http://schemas.openxmlformats.org/presentationml/2006/main">
  <p:tag name="RAINPROBLEM" val="ShortAnswer"/>
  <p:tag name="PROBLEMSCORE" val="7.0"/>
  <p:tag name="PROBLEMVOICEALLOWED" val="False"/>
</p:tagLst>
</file>

<file path=ppt/tags/tag59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99.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60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TotalTime>
  <Words>6176</Words>
  <Application>Microsoft Office PowerPoint</Application>
  <PresentationFormat>全屏显示(4:3)</PresentationFormat>
  <Paragraphs>1161</Paragraphs>
  <Slides>102</Slides>
  <Notes>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102</vt:i4>
      </vt:variant>
    </vt:vector>
  </HeadingPairs>
  <TitlesOfParts>
    <vt:vector size="117" baseType="lpstr">
      <vt:lpstr>PMingLiU</vt:lpstr>
      <vt:lpstr>等线</vt:lpstr>
      <vt:lpstr>宋体</vt:lpstr>
      <vt:lpstr>微软雅黑</vt:lpstr>
      <vt:lpstr>Arial</vt:lpstr>
      <vt:lpstr>Calibri</vt:lpstr>
      <vt:lpstr>Comic Sans MS</vt:lpstr>
      <vt:lpstr>Courier New</vt:lpstr>
      <vt:lpstr>Symbol</vt:lpstr>
      <vt:lpstr>Tahoma</vt:lpstr>
      <vt:lpstr>Times New Roman</vt:lpstr>
      <vt:lpstr>Wingdings</vt:lpstr>
      <vt:lpstr>Office 主题</vt:lpstr>
      <vt:lpstr>剪辑</vt:lpstr>
      <vt:lpstr>公式</vt:lpstr>
      <vt:lpstr>Review</vt:lpstr>
      <vt:lpstr>Chapter 2 Analysis</vt:lpstr>
      <vt:lpstr>Gig-O Notation</vt:lpstr>
      <vt:lpstr>Useful Rules</vt:lpstr>
      <vt:lpstr>General Rules of Time Analysis</vt:lpstr>
      <vt:lpstr>PowerPoint 演示文稿</vt:lpstr>
      <vt:lpstr>PowerPoint 演示文稿</vt:lpstr>
      <vt:lpstr>PowerPoint 演示文稿</vt:lpstr>
      <vt:lpstr>PowerPoint 演示文稿</vt:lpstr>
      <vt:lpstr>Ch.3 List, Stack and Queue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Stack</vt:lpstr>
      <vt:lpstr>Applications of Stack</vt:lpstr>
      <vt:lpstr>PowerPoint 演示文稿</vt:lpstr>
      <vt:lpstr>Queue</vt:lpstr>
      <vt:lpstr>PowerPoint 演示文稿</vt:lpstr>
      <vt:lpstr>Ch.4 Tree</vt:lpstr>
      <vt:lpstr>Binary Trees</vt:lpstr>
      <vt:lpstr>PowerPoint 演示文稿</vt:lpstr>
      <vt:lpstr>PowerPoint 演示文稿</vt:lpstr>
      <vt:lpstr>PowerPoint 演示文稿</vt:lpstr>
      <vt:lpstr>Implementation of Binary Trees</vt:lpstr>
      <vt:lpstr>Array Representation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Binary Search Tree</vt:lpstr>
      <vt:lpstr>Find Min/ Find Max</vt:lpstr>
      <vt:lpstr>Insertion in a BST</vt:lpstr>
      <vt:lpstr>Deletion from a BST</vt:lpstr>
      <vt:lpstr>AVL tree</vt:lpstr>
      <vt:lpstr>Insertion in a AVL tree</vt:lpstr>
      <vt:lpstr>B-Tree</vt:lpstr>
      <vt:lpstr>Ch.5 Heap</vt:lpstr>
      <vt:lpstr>PowerPoint 演示文稿</vt:lpstr>
      <vt:lpstr>PowerPoint 演示文稿</vt:lpstr>
      <vt:lpstr>PowerPoint 演示文稿</vt:lpstr>
      <vt:lpstr>PowerPoint 演示文稿</vt:lpstr>
      <vt:lpstr>PowerPoint 演示文稿</vt:lpstr>
      <vt:lpstr>Ch. 6 Hashing</vt:lpstr>
      <vt:lpstr>Ch.9 Graph</vt:lpstr>
      <vt:lpstr>Definition and terminologies</vt:lpstr>
      <vt:lpstr>Adjacency matrix</vt:lpstr>
      <vt:lpstr>PowerPoint 演示文稿</vt:lpstr>
      <vt:lpstr>Adjacency List (I)</vt:lpstr>
      <vt:lpstr>Adjacency List (II)</vt:lpstr>
      <vt:lpstr>Graph traversal </vt:lpstr>
      <vt:lpstr>Topological Ordering</vt:lpstr>
      <vt:lpstr>Topological Ordering</vt:lpstr>
      <vt:lpstr>Topological Ordering</vt:lpstr>
      <vt:lpstr>Dijkstra’s Algorithm </vt:lpstr>
      <vt:lpstr>Minimum Spanning Tree</vt:lpstr>
      <vt:lpstr>Prim’s algorithm</vt:lpstr>
      <vt:lpstr>Kruskal’s algorithm</vt:lpstr>
      <vt:lpstr>PowerPoint 演示文稿</vt:lpstr>
      <vt:lpstr>Ch.6 Sorting</vt:lpstr>
      <vt:lpstr>Summary: comparison based sorting methods</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dc:title>
  <dc:creator>yuchang</dc:creator>
  <cp:lastModifiedBy>by 的</cp:lastModifiedBy>
  <cp:revision>259</cp:revision>
  <dcterms:created xsi:type="dcterms:W3CDTF">2014-12-18T07:06:00Z</dcterms:created>
  <dcterms:modified xsi:type="dcterms:W3CDTF">2026-01-11T15:19:59Z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70F63CFAC4FE4932B58F43F835C7A3EA_12</vt:lpwstr>
  </property>
</Properties>
</file>