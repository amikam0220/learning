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26"/>
  </p:notesMasterIdLst>
  <p:sldIdLst>
    <p:sldId id="256" r:id="rId4"/>
    <p:sldId id="258" r:id="rId5"/>
    <p:sldId id="259" r:id="rId6"/>
    <p:sldId id="260" r:id="rId7"/>
    <p:sldId id="261" r:id="rId8"/>
    <p:sldId id="264" r:id="rId9"/>
    <p:sldId id="262" r:id="rId10"/>
    <p:sldId id="265" r:id="rId11"/>
    <p:sldId id="280" r:id="rId12"/>
    <p:sldId id="279" r:id="rId13"/>
    <p:sldId id="263" r:id="rId14"/>
    <p:sldId id="297" r:id="rId15"/>
    <p:sldId id="268" r:id="rId16"/>
    <p:sldId id="269" r:id="rId17"/>
    <p:sldId id="281" r:id="rId18"/>
    <p:sldId id="270" r:id="rId19"/>
    <p:sldId id="271" r:id="rId20"/>
    <p:sldId id="272" r:id="rId21"/>
    <p:sldId id="308" r:id="rId22"/>
    <p:sldId id="276" r:id="rId23"/>
    <p:sldId id="274" r:id="rId24"/>
    <p:sldId id="277" r:id="rId2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EAEAEA"/>
    <a:srgbClr val="DDDDDD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0" d="100"/>
          <a:sy n="60" d="100"/>
        </p:scale>
        <p:origin x="45" y="717"/>
      </p:cViewPr>
      <p:guideLst>
        <p:guide orient="horz" pos="2161"/>
        <p:guide pos="2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的" userId="7483e1e6a959e322" providerId="LiveId" clId="{286C159D-603C-4CB1-AE78-F5F98B38873E}"/>
    <pc:docChg chg="undo custSel modSld">
      <pc:chgData name="by 的" userId="7483e1e6a959e322" providerId="LiveId" clId="{286C159D-603C-4CB1-AE78-F5F98B38873E}" dt="2026-01-02T02:11:33.492" v="2" actId="1038"/>
      <pc:docMkLst>
        <pc:docMk/>
      </pc:docMkLst>
      <pc:sldChg chg="modSp mod">
        <pc:chgData name="by 的" userId="7483e1e6a959e322" providerId="LiveId" clId="{286C159D-603C-4CB1-AE78-F5F98B38873E}" dt="2026-01-02T02:11:33.492" v="2" actId="1038"/>
        <pc:sldMkLst>
          <pc:docMk/>
          <pc:sldMk cId="0" sldId="264"/>
        </pc:sldMkLst>
        <pc:spChg chg="mod">
          <ac:chgData name="by 的" userId="7483e1e6a959e322" providerId="LiveId" clId="{286C159D-603C-4CB1-AE78-F5F98B38873E}" dt="2026-01-02T02:11:33.492" v="2" actId="1038"/>
          <ac:spMkLst>
            <pc:docMk/>
            <pc:sldMk cId="0" sldId="264"/>
            <ac:spMk id="1237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E97CD-A964-4C7D-B4E6-262A5E669CD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604B8-9523-453C-9BD3-FD6A4FAD2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46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604B8-9523-453C-9BD3-FD6A4FAD29A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0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Relationship Id="rId4" Type="http://schemas.openxmlformats.org/officeDocument/2006/relationships/audio" Target="../media/audio4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audio" Target="../media/audio3.wav"/><Relationship Id="rId7" Type="http://schemas.openxmlformats.org/officeDocument/2006/relationships/audio" Target="../media/audio7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wav"/><Relationship Id="rId5" Type="http://schemas.openxmlformats.org/officeDocument/2006/relationships/audio" Target="../media/audio6.wav"/><Relationship Id="rId4" Type="http://schemas.openxmlformats.org/officeDocument/2006/relationships/audio" Target="../media/audio5.wav"/><Relationship Id="rId9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Tx/>
              <a:buFontTx/>
            </a:pPr>
            <a:r>
              <a:rPr lang="en-US" altLang="zh-CN" b="1" dirty="0">
                <a:latin typeface="Times New Roman" panose="02020603050405020304" pitchFamily="18" charset="0"/>
              </a:rPr>
              <a:t>Ch. 6 Priority Queues 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优先级队列）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</a:pPr>
            <a:r>
              <a:rPr lang="en-US" altLang="zh-CN" b="1" dirty="0">
                <a:latin typeface="+mn-lt"/>
                <a:ea typeface="+mn-ea"/>
                <a:cs typeface="+mn-cs"/>
              </a:rPr>
              <a:t>(HEAPS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堆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/>
          <p:nvPr/>
        </p:nvSpPr>
        <p:spPr>
          <a:xfrm>
            <a:off x="381000" y="685800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PRIORITY  QUEUES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6147" name="Text Box 3"/>
          <p:cNvSpPr txBox="1"/>
          <p:nvPr/>
        </p:nvSpPr>
        <p:spPr>
          <a:xfrm>
            <a:off x="457200" y="1676400"/>
            <a:ext cx="3352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ADT Model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6148" name="Text Box 4"/>
          <p:cNvSpPr txBox="1"/>
          <p:nvPr/>
        </p:nvSpPr>
        <p:spPr>
          <a:xfrm>
            <a:off x="685800" y="2286000"/>
            <a:ext cx="7772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243330" lvl="0" indent="-124333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Objects: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000" b="1" dirty="0"/>
              <a:t>A finite linear list with zero or more elements.</a:t>
            </a:r>
          </a:p>
        </p:txBody>
      </p:sp>
      <p:sp>
        <p:nvSpPr>
          <p:cNvPr id="6149" name="Text Box 5"/>
          <p:cNvSpPr txBox="1"/>
          <p:nvPr/>
        </p:nvSpPr>
        <p:spPr>
          <a:xfrm>
            <a:off x="685800" y="2895600"/>
            <a:ext cx="7696200" cy="2913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63880" lvl="0" indent="-563880"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Operations:</a:t>
            </a:r>
          </a:p>
          <a:p>
            <a:pPr marL="563880" lvl="0" indent="-563880" eaLnBrk="1" fontAlgn="ctr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 </a:t>
            </a:r>
            <a:r>
              <a:rPr lang="en-US" altLang="zh-CN" sz="2000" b="1" dirty="0">
                <a:sym typeface="Wingdings" panose="05000000000000000000" pitchFamily="2" charset="2"/>
              </a:rPr>
              <a:t>PriorityQueue  Initialize( int MaxElements );</a:t>
            </a:r>
            <a:r>
              <a:rPr lang="en-US" altLang="zh-CN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</a:p>
          <a:p>
            <a:pPr marL="563880" lvl="0" indent="-563880" eaLnBrk="1" fontAlgn="ctr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 </a:t>
            </a:r>
            <a:r>
              <a:rPr lang="en-US" altLang="zh-CN" sz="2000" b="1" dirty="0">
                <a:sym typeface="Wingdings" panose="05000000000000000000" pitchFamily="2" charset="2"/>
              </a:rPr>
              <a:t>void  Insert( ElementType X, PriorityQueue H ); </a:t>
            </a:r>
          </a:p>
          <a:p>
            <a:pPr marL="563880" lvl="0" indent="-563880" eaLnBrk="1" fontAlgn="ctr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 </a:t>
            </a:r>
            <a:r>
              <a:rPr lang="en-US" altLang="zh-CN" sz="2000" b="1" dirty="0">
                <a:sym typeface="Wingdings" panose="05000000000000000000" pitchFamily="2" charset="2"/>
              </a:rPr>
              <a:t>ElementType  DeleteMin( PriorityQueue H ); </a:t>
            </a:r>
          </a:p>
          <a:p>
            <a:pPr marL="563880" lvl="0" indent="-563880" eaLnBrk="1" fontAlgn="ctr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 </a:t>
            </a:r>
            <a:r>
              <a:rPr lang="en-US" altLang="zh-CN" sz="2000" b="1" dirty="0">
                <a:sym typeface="Wingdings" panose="05000000000000000000" pitchFamily="2" charset="2"/>
              </a:rPr>
              <a:t>ElementType  FindMin( PriorityQueue H ); </a:t>
            </a:r>
          </a:p>
        </p:txBody>
      </p:sp>
      <p:sp>
        <p:nvSpPr>
          <p:cNvPr id="6152" name="Rectangle 8"/>
          <p:cNvSpPr/>
          <p:nvPr/>
        </p:nvSpPr>
        <p:spPr>
          <a:xfrm>
            <a:off x="838200" y="1143000"/>
            <a:ext cx="6499225" cy="46196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—— delete the element with the highest priority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48" grpId="0"/>
      <p:bldP spid="6149" grpId="0"/>
      <p:bldP spid="61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/>
          <p:nvPr/>
        </p:nvSpPr>
        <p:spPr>
          <a:xfrm>
            <a:off x="381000" y="90488"/>
            <a:ext cx="5638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Simple Implementations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171" name="Text Box 3"/>
          <p:cNvSpPr txBox="1"/>
          <p:nvPr/>
        </p:nvSpPr>
        <p:spPr>
          <a:xfrm>
            <a:off x="457200" y="609600"/>
            <a:ext cx="1676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  </a:t>
            </a:r>
            <a:r>
              <a:rPr lang="en-US" altLang="zh-CN" sz="2000" b="1" dirty="0">
                <a:sym typeface="Wingdings" panose="05000000000000000000" pitchFamily="2" charset="2"/>
              </a:rPr>
              <a:t>Array :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172" name="Text Box 4"/>
          <p:cNvSpPr txBox="1"/>
          <p:nvPr/>
        </p:nvSpPr>
        <p:spPr>
          <a:xfrm>
            <a:off x="1295400" y="946150"/>
            <a:ext cx="6705600" cy="10144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Insertion </a:t>
            </a:r>
            <a:r>
              <a:rPr lang="en-US" altLang="zh-CN" sz="2000" b="1" dirty="0"/>
              <a:t>— add one item at the end 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Deletion </a:t>
            </a:r>
            <a:r>
              <a:rPr lang="en-US" altLang="zh-CN" sz="2000" b="1" dirty="0"/>
              <a:t>— find the largest \ smallest key  </a:t>
            </a:r>
            <a:r>
              <a:rPr lang="en-US" altLang="zh-CN" sz="2000" b="1" dirty="0">
                <a:sym typeface="Symbol" panose="05050102010706020507" pitchFamily="18" charset="2"/>
              </a:rPr>
              <a:t>                    remove the item and shift array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173" name="Text Box 5"/>
          <p:cNvSpPr txBox="1"/>
          <p:nvPr/>
        </p:nvSpPr>
        <p:spPr>
          <a:xfrm>
            <a:off x="457200" y="1936750"/>
            <a:ext cx="2133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  </a:t>
            </a:r>
            <a:r>
              <a:rPr lang="en-US" altLang="zh-CN" sz="2000" b="1" dirty="0">
                <a:sym typeface="Wingdings" panose="05000000000000000000" pitchFamily="2" charset="2"/>
              </a:rPr>
              <a:t>Linked List :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174" name="Text Box 6"/>
          <p:cNvSpPr txBox="1"/>
          <p:nvPr/>
        </p:nvSpPr>
        <p:spPr>
          <a:xfrm>
            <a:off x="1295400" y="2317750"/>
            <a:ext cx="6477000" cy="132238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Insertion</a:t>
            </a:r>
            <a:r>
              <a:rPr lang="en-US" altLang="zh-CN" sz="2000" b="1" dirty="0"/>
              <a:t> — add to the front of the chain 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Deletion</a:t>
            </a:r>
            <a:r>
              <a:rPr lang="en-US" altLang="zh-CN" sz="2000" b="1" dirty="0"/>
              <a:t> — find the largest \ smallest key </a:t>
            </a:r>
            <a:r>
              <a:rPr lang="en-US" altLang="zh-CN" sz="2000" b="1" dirty="0">
                <a:sym typeface="Symbol" panose="05050102010706020507" pitchFamily="18" charset="2"/>
              </a:rPr>
              <a:t>                        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ym typeface="Symbol" panose="05050102010706020507" pitchFamily="18" charset="2"/>
              </a:rPr>
              <a:t>                    remove the item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175" name="Text Box 7"/>
          <p:cNvSpPr txBox="1"/>
          <p:nvPr/>
        </p:nvSpPr>
        <p:spPr>
          <a:xfrm>
            <a:off x="457200" y="3384550"/>
            <a:ext cx="2667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  </a:t>
            </a:r>
            <a:r>
              <a:rPr lang="en-US" altLang="zh-CN" sz="2000" b="1" dirty="0">
                <a:sym typeface="Wingdings" panose="05000000000000000000" pitchFamily="2" charset="2"/>
              </a:rPr>
              <a:t>Ordered Array :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176" name="Text Box 8"/>
          <p:cNvSpPr txBox="1"/>
          <p:nvPr/>
        </p:nvSpPr>
        <p:spPr>
          <a:xfrm>
            <a:off x="1295400" y="3765550"/>
            <a:ext cx="7391400" cy="10144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Insertion </a:t>
            </a:r>
            <a:r>
              <a:rPr lang="en-US" altLang="zh-CN" sz="2000" b="1" dirty="0"/>
              <a:t>— find the proper position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ym typeface="Symbol" panose="05050102010706020507" pitchFamily="18" charset="2"/>
              </a:rPr>
              <a:t>                     shift array and add the item 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Deletion </a:t>
            </a:r>
            <a:r>
              <a:rPr lang="en-US" altLang="zh-CN" sz="2000" b="1" dirty="0"/>
              <a:t>— </a:t>
            </a:r>
            <a:r>
              <a:rPr lang="en-US" altLang="zh-CN" sz="2000" b="1" dirty="0">
                <a:sym typeface="Symbol" panose="05050102010706020507" pitchFamily="18" charset="2"/>
              </a:rPr>
              <a:t>remove the first \ last item 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177" name="Text Box 9"/>
          <p:cNvSpPr txBox="1"/>
          <p:nvPr/>
        </p:nvSpPr>
        <p:spPr>
          <a:xfrm>
            <a:off x="457200" y="4908550"/>
            <a:ext cx="3200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  </a:t>
            </a:r>
            <a:r>
              <a:rPr lang="en-US" altLang="zh-CN" sz="2000" b="1" dirty="0">
                <a:sym typeface="Wingdings" panose="05000000000000000000" pitchFamily="2" charset="2"/>
              </a:rPr>
              <a:t>Ordered Linked List :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178" name="Text Box 10"/>
          <p:cNvSpPr txBox="1"/>
          <p:nvPr/>
        </p:nvSpPr>
        <p:spPr>
          <a:xfrm>
            <a:off x="1295400" y="5289550"/>
            <a:ext cx="7391400" cy="10144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Insertion</a:t>
            </a:r>
            <a:r>
              <a:rPr lang="en-US" altLang="zh-CN" sz="2000" b="1" dirty="0"/>
              <a:t> — find the proper position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ym typeface="Symbol" panose="05050102010706020507" pitchFamily="18" charset="2"/>
              </a:rPr>
              <a:t>                     add the item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Deletion </a:t>
            </a:r>
            <a:r>
              <a:rPr lang="en-US" altLang="zh-CN" sz="2000" b="1" dirty="0"/>
              <a:t>— </a:t>
            </a:r>
            <a:r>
              <a:rPr lang="en-US" altLang="zh-CN" sz="2000" b="1" dirty="0">
                <a:sym typeface="Symbol" panose="05050102010706020507" pitchFamily="18" charset="2"/>
              </a:rPr>
              <a:t>remove the first \ last item 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27700" y="946150"/>
            <a:ext cx="1147763" cy="3984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 ( 1 )</a:t>
            </a: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6316663" y="1266825"/>
            <a:ext cx="11620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 ( 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5157788" y="1568450"/>
            <a:ext cx="1106487" cy="3984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O( 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6113463" y="2317750"/>
            <a:ext cx="121126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/>
              <a:t> </a:t>
            </a:r>
            <a:r>
              <a:rPr lang="en-US" altLang="zh-CN" sz="2000" b="1" dirty="0"/>
              <a:t>~ 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 ( 1 )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6305550" y="2801938"/>
            <a:ext cx="1225550" cy="3984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/>
              <a:t> </a:t>
            </a:r>
            <a:r>
              <a:rPr lang="en-US" altLang="zh-CN" sz="2000" b="1" dirty="0"/>
              <a:t>~ 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 ( 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802188" y="3241675"/>
            <a:ext cx="1077912" cy="3984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ym typeface="Symbol" panose="05050102010706020507" pitchFamily="18" charset="2"/>
              </a:rPr>
              <a:t> </a:t>
            </a:r>
            <a:r>
              <a:rPr lang="en-US" altLang="zh-CN" sz="2000" b="1" dirty="0"/>
              <a:t>~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( 1 )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5653088" y="3765550"/>
            <a:ext cx="1106487" cy="3984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O( 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6210300" y="4119563"/>
            <a:ext cx="1108075" cy="3984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O( 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880100" y="4376738"/>
            <a:ext cx="1012825" cy="3984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( 1 )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727700" y="5289550"/>
            <a:ext cx="1108075" cy="3984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O( 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379913" y="5607050"/>
            <a:ext cx="10144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( 1 )</a:t>
            </a:r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962650" y="5908675"/>
            <a:ext cx="10128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~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( 1 )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/>
      <p:bldP spid="7172" grpId="0"/>
      <p:bldP spid="7173" grpId="0"/>
      <p:bldP spid="7174" grpId="0"/>
      <p:bldP spid="7175" grpId="0"/>
      <p:bldP spid="7176" grpId="0"/>
      <p:bldP spid="7177" grpId="0"/>
      <p:bldP spid="7178" grpId="0"/>
      <p:bldP spid="2" grpId="0"/>
      <p:bldP spid="4" grpId="0"/>
      <p:bldP spid="4" grpId="1"/>
      <p:bldP spid="7" grpId="0"/>
      <p:bldP spid="7" grpId="1"/>
      <p:bldP spid="8" grpId="0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/>
          <p:nvPr/>
        </p:nvSpPr>
        <p:spPr>
          <a:xfrm>
            <a:off x="457200" y="304800"/>
            <a:ext cx="4724400" cy="4619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  </a:t>
            </a:r>
            <a:r>
              <a:rPr lang="en-US" altLang="zh-CN" sz="2000" b="1" dirty="0">
                <a:sym typeface="Wingdings" panose="05000000000000000000" pitchFamily="2" charset="2"/>
              </a:rPr>
              <a:t>Binary Search Tree/AVL Tree :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8247" name="Text Box 55"/>
          <p:cNvSpPr txBox="1"/>
          <p:nvPr/>
        </p:nvSpPr>
        <p:spPr>
          <a:xfrm>
            <a:off x="1285875" y="946150"/>
            <a:ext cx="6705600" cy="8604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Insertion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Deletion 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249" name="Text Box 57"/>
          <p:cNvSpPr txBox="1"/>
          <p:nvPr/>
        </p:nvSpPr>
        <p:spPr>
          <a:xfrm>
            <a:off x="838200" y="2574925"/>
            <a:ext cx="6781800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Search tree supports a host of operations not required &amp; we do not like pointers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71750" y="1004888"/>
            <a:ext cx="1360488" cy="3984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</a:t>
            </a:r>
            <a:r>
              <a:rPr lang="en-US" altLang="zh-CN" sz="2000" b="1" dirty="0"/>
              <a:t>~ </a:t>
            </a:r>
            <a:r>
              <a:rPr lang="en-US" altLang="zh-CN" sz="2000" b="1" dirty="0">
                <a:latin typeface="Times New Roman" panose="02020603050405020304" pitchFamily="18" charset="0"/>
              </a:rPr>
              <a:t>O(log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2565400" y="1433513"/>
            <a:ext cx="1360488" cy="3984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sym typeface="宋体" panose="02010600030101010101" pitchFamily="2" charset="-122"/>
              </a:rPr>
              <a:t> </a:t>
            </a:r>
            <a:r>
              <a:rPr lang="en-US" altLang="zh-CN" sz="2000" b="1" dirty="0">
                <a:sym typeface="宋体" panose="02010600030101010101" pitchFamily="2" charset="-122"/>
              </a:rPr>
              <a:t>~ </a:t>
            </a:r>
            <a:r>
              <a:rPr lang="en-US" altLang="zh-CN" sz="2000" b="1" dirty="0">
                <a:latin typeface="Times New Roman" panose="02020603050405020304" pitchFamily="18" charset="0"/>
                <a:sym typeface="宋体" panose="02010600030101010101" pitchFamily="2" charset="-122"/>
              </a:rPr>
              <a:t>O(log </a:t>
            </a:r>
            <a:r>
              <a:rPr lang="en-US" altLang="zh-CN" sz="2000" b="1" i="1" dirty="0">
                <a:latin typeface="Times New Roman" panose="02020603050405020304" pitchFamily="18" charset="0"/>
                <a:sym typeface="宋体" panose="02010600030101010101" pitchFamily="2" charset="-12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宋体" panose="02010600030101010101" pitchFamily="2" charset="-122"/>
              </a:rPr>
              <a:t>)</a:t>
            </a:r>
            <a:endParaRPr lang="zh-CN" altLang="en-US" sz="2000" dirty="0"/>
          </a:p>
        </p:txBody>
      </p:sp>
      <p:sp>
        <p:nvSpPr>
          <p:cNvPr id="4" name="Text Box 57"/>
          <p:cNvSpPr txBox="1"/>
          <p:nvPr/>
        </p:nvSpPr>
        <p:spPr>
          <a:xfrm>
            <a:off x="833120" y="3382010"/>
            <a:ext cx="6781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Binary trees without pointers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247" grpId="0"/>
      <p:bldP spid="824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/>
          <p:nvPr/>
        </p:nvSpPr>
        <p:spPr>
          <a:xfrm>
            <a:off x="1295400" y="457200"/>
            <a:ext cx="70104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Complete </a:t>
            </a:r>
            <a:r>
              <a:rPr lang="en-US" altLang="zh-CN" sz="1800" dirty="0">
                <a:sym typeface="Webdings" panose="05030102010509060703" pitchFamily="18" charset="2"/>
              </a:rPr>
              <a:t> </a:t>
            </a:r>
            <a:r>
              <a:rPr lang="en-US" altLang="zh-CN" sz="4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Binary Tree</a:t>
            </a:r>
          </a:p>
        </p:txBody>
      </p:sp>
      <p:sp>
        <p:nvSpPr>
          <p:cNvPr id="9219" name="Text Box 3"/>
          <p:cNvSpPr txBox="1"/>
          <p:nvPr/>
        </p:nvSpPr>
        <p:spPr>
          <a:xfrm>
            <a:off x="609600" y="1524000"/>
            <a:ext cx="3581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Complete binary tree:</a:t>
            </a:r>
          </a:p>
        </p:txBody>
      </p:sp>
      <p:sp>
        <p:nvSpPr>
          <p:cNvPr id="9220" name="Text Box 4"/>
          <p:cNvSpPr txBox="1"/>
          <p:nvPr/>
        </p:nvSpPr>
        <p:spPr>
          <a:xfrm>
            <a:off x="457200" y="1981200"/>
            <a:ext cx="81534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【Definition】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A binary tree with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nodes and height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is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complete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iff  its nodes correspond to the nodes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numbered from 1 to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in the full binary tree of height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</p:txBody>
      </p:sp>
      <p:grpSp>
        <p:nvGrpSpPr>
          <p:cNvPr id="9221" name="Group 5"/>
          <p:cNvGrpSpPr/>
          <p:nvPr/>
        </p:nvGrpSpPr>
        <p:grpSpPr>
          <a:xfrm>
            <a:off x="1447800" y="3886200"/>
            <a:ext cx="5105400" cy="3200400"/>
            <a:chOff x="912" y="1920"/>
            <a:chExt cx="3216" cy="2016"/>
          </a:xfrm>
        </p:grpSpPr>
        <p:sp>
          <p:nvSpPr>
            <p:cNvPr id="10257" name="AutoShape 6"/>
            <p:cNvSpPr/>
            <p:nvPr/>
          </p:nvSpPr>
          <p:spPr>
            <a:xfrm>
              <a:off x="912" y="1920"/>
              <a:ext cx="3216" cy="2016"/>
            </a:xfrm>
            <a:prstGeom prst="wedgeEllipseCallout">
              <a:avLst>
                <a:gd name="adj1" fmla="val 16199"/>
                <a:gd name="adj2" fmla="val -72819"/>
              </a:avLst>
            </a:prstGeom>
            <a:gradFill rotWithShape="0">
              <a:gsLst>
                <a:gs pos="0">
                  <a:srgbClr val="D5D5D5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258" name="Group 7"/>
            <p:cNvGrpSpPr/>
            <p:nvPr/>
          </p:nvGrpSpPr>
          <p:grpSpPr>
            <a:xfrm>
              <a:off x="1248" y="2064"/>
              <a:ext cx="2592" cy="1296"/>
              <a:chOff x="1344" y="1248"/>
              <a:chExt cx="2592" cy="1296"/>
            </a:xfrm>
          </p:grpSpPr>
          <p:grpSp>
            <p:nvGrpSpPr>
              <p:cNvPr id="10259" name="Group 8"/>
              <p:cNvGrpSpPr/>
              <p:nvPr/>
            </p:nvGrpSpPr>
            <p:grpSpPr>
              <a:xfrm>
                <a:off x="1344" y="1968"/>
                <a:ext cx="576" cy="576"/>
                <a:chOff x="2640" y="2160"/>
                <a:chExt cx="576" cy="576"/>
              </a:xfrm>
            </p:grpSpPr>
            <p:sp>
              <p:nvSpPr>
                <p:cNvPr id="10290" name="Oval 9"/>
                <p:cNvSpPr/>
                <p:nvPr/>
              </p:nvSpPr>
              <p:spPr>
                <a:xfrm>
                  <a:off x="2832" y="2160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10291" name="Oval 10"/>
                <p:cNvSpPr/>
                <p:nvPr/>
              </p:nvSpPr>
              <p:spPr>
                <a:xfrm>
                  <a:off x="2640" y="2544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8</a:t>
                  </a:r>
                </a:p>
              </p:txBody>
            </p:sp>
            <p:sp>
              <p:nvSpPr>
                <p:cNvPr id="10292" name="Line 11"/>
                <p:cNvSpPr/>
                <p:nvPr/>
              </p:nvSpPr>
              <p:spPr>
                <a:xfrm flipH="1">
                  <a:off x="2784" y="2328"/>
                  <a:ext cx="96" cy="215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93" name="Oval 12"/>
                <p:cNvSpPr/>
                <p:nvPr/>
              </p:nvSpPr>
              <p:spPr>
                <a:xfrm flipH="1">
                  <a:off x="3024" y="2544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9</a:t>
                  </a:r>
                </a:p>
              </p:txBody>
            </p:sp>
            <p:sp>
              <p:nvSpPr>
                <p:cNvPr id="10294" name="Line 13"/>
                <p:cNvSpPr/>
                <p:nvPr/>
              </p:nvSpPr>
              <p:spPr>
                <a:xfrm>
                  <a:off x="2976" y="2328"/>
                  <a:ext cx="96" cy="215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260" name="Group 14"/>
              <p:cNvGrpSpPr/>
              <p:nvPr/>
            </p:nvGrpSpPr>
            <p:grpSpPr>
              <a:xfrm>
                <a:off x="2016" y="1968"/>
                <a:ext cx="576" cy="576"/>
                <a:chOff x="2640" y="2160"/>
                <a:chExt cx="576" cy="576"/>
              </a:xfrm>
            </p:grpSpPr>
            <p:sp>
              <p:nvSpPr>
                <p:cNvPr id="10285" name="Oval 15"/>
                <p:cNvSpPr/>
                <p:nvPr/>
              </p:nvSpPr>
              <p:spPr>
                <a:xfrm>
                  <a:off x="2832" y="2160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10286" name="Oval 16"/>
                <p:cNvSpPr/>
                <p:nvPr/>
              </p:nvSpPr>
              <p:spPr>
                <a:xfrm>
                  <a:off x="2640" y="2544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10287" name="Line 17"/>
                <p:cNvSpPr/>
                <p:nvPr/>
              </p:nvSpPr>
              <p:spPr>
                <a:xfrm flipH="1">
                  <a:off x="2784" y="2328"/>
                  <a:ext cx="96" cy="215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88" name="Oval 18"/>
                <p:cNvSpPr/>
                <p:nvPr/>
              </p:nvSpPr>
              <p:spPr>
                <a:xfrm flipH="1">
                  <a:off x="3024" y="2544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11</a:t>
                  </a:r>
                </a:p>
              </p:txBody>
            </p:sp>
            <p:sp>
              <p:nvSpPr>
                <p:cNvPr id="10289" name="Line 19"/>
                <p:cNvSpPr/>
                <p:nvPr/>
              </p:nvSpPr>
              <p:spPr>
                <a:xfrm>
                  <a:off x="2976" y="2328"/>
                  <a:ext cx="96" cy="215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261" name="Group 20"/>
              <p:cNvGrpSpPr/>
              <p:nvPr/>
            </p:nvGrpSpPr>
            <p:grpSpPr>
              <a:xfrm>
                <a:off x="2688" y="1968"/>
                <a:ext cx="576" cy="576"/>
                <a:chOff x="2640" y="2160"/>
                <a:chExt cx="576" cy="576"/>
              </a:xfrm>
            </p:grpSpPr>
            <p:sp>
              <p:nvSpPr>
                <p:cNvPr id="10280" name="Oval 21"/>
                <p:cNvSpPr/>
                <p:nvPr/>
              </p:nvSpPr>
              <p:spPr>
                <a:xfrm>
                  <a:off x="2832" y="2160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10281" name="Oval 22"/>
                <p:cNvSpPr/>
                <p:nvPr/>
              </p:nvSpPr>
              <p:spPr>
                <a:xfrm>
                  <a:off x="2640" y="2544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12</a:t>
                  </a:r>
                </a:p>
              </p:txBody>
            </p:sp>
            <p:sp>
              <p:nvSpPr>
                <p:cNvPr id="10282" name="Line 23"/>
                <p:cNvSpPr/>
                <p:nvPr/>
              </p:nvSpPr>
              <p:spPr>
                <a:xfrm flipH="1">
                  <a:off x="2784" y="2328"/>
                  <a:ext cx="96" cy="215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83" name="Oval 24"/>
                <p:cNvSpPr/>
                <p:nvPr/>
              </p:nvSpPr>
              <p:spPr>
                <a:xfrm flipH="1">
                  <a:off x="3024" y="2544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13</a:t>
                  </a:r>
                </a:p>
              </p:txBody>
            </p:sp>
            <p:sp>
              <p:nvSpPr>
                <p:cNvPr id="10284" name="Line 25"/>
                <p:cNvSpPr/>
                <p:nvPr/>
              </p:nvSpPr>
              <p:spPr>
                <a:xfrm>
                  <a:off x="2976" y="2328"/>
                  <a:ext cx="96" cy="215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262" name="Group 26"/>
              <p:cNvGrpSpPr/>
              <p:nvPr/>
            </p:nvGrpSpPr>
            <p:grpSpPr>
              <a:xfrm>
                <a:off x="3360" y="1968"/>
                <a:ext cx="576" cy="576"/>
                <a:chOff x="2640" y="2160"/>
                <a:chExt cx="576" cy="576"/>
              </a:xfrm>
            </p:grpSpPr>
            <p:sp>
              <p:nvSpPr>
                <p:cNvPr id="10275" name="Oval 27"/>
                <p:cNvSpPr/>
                <p:nvPr/>
              </p:nvSpPr>
              <p:spPr>
                <a:xfrm>
                  <a:off x="2832" y="2160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10276" name="Oval 28"/>
                <p:cNvSpPr/>
                <p:nvPr/>
              </p:nvSpPr>
              <p:spPr>
                <a:xfrm>
                  <a:off x="2640" y="2544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14</a:t>
                  </a:r>
                </a:p>
              </p:txBody>
            </p:sp>
            <p:sp>
              <p:nvSpPr>
                <p:cNvPr id="10277" name="Line 29"/>
                <p:cNvSpPr/>
                <p:nvPr/>
              </p:nvSpPr>
              <p:spPr>
                <a:xfrm flipH="1">
                  <a:off x="2784" y="2328"/>
                  <a:ext cx="96" cy="215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78" name="Oval 30"/>
                <p:cNvSpPr/>
                <p:nvPr/>
              </p:nvSpPr>
              <p:spPr>
                <a:xfrm flipH="1">
                  <a:off x="3024" y="2544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15</a:t>
                  </a:r>
                </a:p>
              </p:txBody>
            </p:sp>
            <p:sp>
              <p:nvSpPr>
                <p:cNvPr id="10279" name="Line 31"/>
                <p:cNvSpPr/>
                <p:nvPr/>
              </p:nvSpPr>
              <p:spPr>
                <a:xfrm>
                  <a:off x="2976" y="2328"/>
                  <a:ext cx="96" cy="215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263" name="Group 32"/>
              <p:cNvGrpSpPr/>
              <p:nvPr/>
            </p:nvGrpSpPr>
            <p:grpSpPr>
              <a:xfrm>
                <a:off x="1680" y="1632"/>
                <a:ext cx="576" cy="346"/>
                <a:chOff x="1680" y="1632"/>
                <a:chExt cx="576" cy="346"/>
              </a:xfrm>
            </p:grpSpPr>
            <p:sp>
              <p:nvSpPr>
                <p:cNvPr id="10272" name="Oval 33"/>
                <p:cNvSpPr/>
                <p:nvPr/>
              </p:nvSpPr>
              <p:spPr>
                <a:xfrm>
                  <a:off x="1872" y="1632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0273" name="Line 34"/>
                <p:cNvSpPr/>
                <p:nvPr/>
              </p:nvSpPr>
              <p:spPr>
                <a:xfrm flipH="1">
                  <a:off x="1680" y="1786"/>
                  <a:ext cx="204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74" name="Line 35"/>
                <p:cNvSpPr/>
                <p:nvPr/>
              </p:nvSpPr>
              <p:spPr>
                <a:xfrm>
                  <a:off x="2052" y="1786"/>
                  <a:ext cx="204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264" name="Group 36"/>
              <p:cNvGrpSpPr/>
              <p:nvPr/>
            </p:nvGrpSpPr>
            <p:grpSpPr>
              <a:xfrm>
                <a:off x="3024" y="1632"/>
                <a:ext cx="576" cy="346"/>
                <a:chOff x="1680" y="1632"/>
                <a:chExt cx="576" cy="346"/>
              </a:xfrm>
            </p:grpSpPr>
            <p:sp>
              <p:nvSpPr>
                <p:cNvPr id="10269" name="Oval 37"/>
                <p:cNvSpPr/>
                <p:nvPr/>
              </p:nvSpPr>
              <p:spPr>
                <a:xfrm>
                  <a:off x="1872" y="1632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0270" name="Line 38"/>
                <p:cNvSpPr/>
                <p:nvPr/>
              </p:nvSpPr>
              <p:spPr>
                <a:xfrm flipH="1">
                  <a:off x="1680" y="1786"/>
                  <a:ext cx="204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271" name="Line 39"/>
                <p:cNvSpPr/>
                <p:nvPr/>
              </p:nvSpPr>
              <p:spPr>
                <a:xfrm>
                  <a:off x="2052" y="1786"/>
                  <a:ext cx="204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265" name="Group 40"/>
              <p:cNvGrpSpPr/>
              <p:nvPr/>
            </p:nvGrpSpPr>
            <p:grpSpPr>
              <a:xfrm>
                <a:off x="2006" y="1248"/>
                <a:ext cx="730" cy="404"/>
                <a:chOff x="2006" y="1248"/>
                <a:chExt cx="730" cy="404"/>
              </a:xfrm>
            </p:grpSpPr>
            <p:sp>
              <p:nvSpPr>
                <p:cNvPr id="10267" name="Oval 41"/>
                <p:cNvSpPr/>
                <p:nvPr/>
              </p:nvSpPr>
              <p:spPr>
                <a:xfrm>
                  <a:off x="2544" y="1248"/>
                  <a:ext cx="192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0268" name="Line 42"/>
                <p:cNvSpPr/>
                <p:nvPr/>
              </p:nvSpPr>
              <p:spPr>
                <a:xfrm flipH="1">
                  <a:off x="2006" y="1378"/>
                  <a:ext cx="540" cy="274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266" name="Line 43"/>
              <p:cNvSpPr/>
              <p:nvPr/>
            </p:nvSpPr>
            <p:spPr>
              <a:xfrm>
                <a:off x="2734" y="1378"/>
                <a:ext cx="528" cy="27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" name="Freeform 44"/>
          <p:cNvSpPr/>
          <p:nvPr/>
        </p:nvSpPr>
        <p:spPr>
          <a:xfrm>
            <a:off x="1828800" y="3835400"/>
            <a:ext cx="4419600" cy="2540000"/>
          </a:xfrm>
          <a:custGeom>
            <a:avLst/>
            <a:gdLst/>
            <a:ahLst/>
            <a:cxnLst>
              <a:cxn ang="0">
                <a:pos x="2147483646" y="201612500"/>
              </a:cxn>
              <a:cxn ang="0">
                <a:pos x="2147483646" y="443547500"/>
              </a:cxn>
              <a:cxn ang="0">
                <a:pos x="483870000" y="1895157500"/>
              </a:cxn>
              <a:cxn ang="0">
                <a:pos x="0" y="2147483646"/>
              </a:cxn>
              <a:cxn ang="0">
                <a:pos x="483870000" y="2147483646"/>
              </a:cxn>
              <a:cxn ang="0">
                <a:pos x="205644750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37092500"/>
              </a:cxn>
              <a:cxn ang="0">
                <a:pos x="2147483646" y="322580000"/>
              </a:cxn>
              <a:cxn ang="0">
                <a:pos x="2147483646" y="201612500"/>
              </a:cxn>
            </a:cxnLst>
            <a:rect l="0" t="0" r="0" b="0"/>
            <a:pathLst>
              <a:path w="2784" h="1600">
                <a:moveTo>
                  <a:pt x="1392" y="80"/>
                </a:moveTo>
                <a:cubicBezTo>
                  <a:pt x="1280" y="88"/>
                  <a:pt x="1256" y="64"/>
                  <a:pt x="1056" y="176"/>
                </a:cubicBezTo>
                <a:cubicBezTo>
                  <a:pt x="856" y="288"/>
                  <a:pt x="368" y="552"/>
                  <a:pt x="192" y="752"/>
                </a:cubicBezTo>
                <a:cubicBezTo>
                  <a:pt x="16" y="952"/>
                  <a:pt x="0" y="1240"/>
                  <a:pt x="0" y="1376"/>
                </a:cubicBezTo>
                <a:cubicBezTo>
                  <a:pt x="0" y="1512"/>
                  <a:pt x="56" y="1536"/>
                  <a:pt x="192" y="1568"/>
                </a:cubicBezTo>
                <a:cubicBezTo>
                  <a:pt x="328" y="1600"/>
                  <a:pt x="672" y="1600"/>
                  <a:pt x="816" y="1568"/>
                </a:cubicBezTo>
                <a:cubicBezTo>
                  <a:pt x="960" y="1536"/>
                  <a:pt x="992" y="1448"/>
                  <a:pt x="1056" y="1376"/>
                </a:cubicBezTo>
                <a:cubicBezTo>
                  <a:pt x="1120" y="1304"/>
                  <a:pt x="1024" y="1168"/>
                  <a:pt x="1200" y="1136"/>
                </a:cubicBezTo>
                <a:cubicBezTo>
                  <a:pt x="1376" y="1104"/>
                  <a:pt x="1880" y="1184"/>
                  <a:pt x="2112" y="1184"/>
                </a:cubicBezTo>
                <a:cubicBezTo>
                  <a:pt x="2344" y="1184"/>
                  <a:pt x="2504" y="1192"/>
                  <a:pt x="2592" y="1136"/>
                </a:cubicBezTo>
                <a:cubicBezTo>
                  <a:pt x="2680" y="1080"/>
                  <a:pt x="2784" y="1016"/>
                  <a:pt x="2640" y="848"/>
                </a:cubicBezTo>
                <a:cubicBezTo>
                  <a:pt x="2496" y="680"/>
                  <a:pt x="1936" y="256"/>
                  <a:pt x="1728" y="128"/>
                </a:cubicBezTo>
                <a:cubicBezTo>
                  <a:pt x="1520" y="0"/>
                  <a:pt x="1504" y="72"/>
                  <a:pt x="1392" y="80"/>
                </a:cubicBezTo>
                <a:close/>
              </a:path>
            </a:pathLst>
          </a:custGeom>
          <a:solidFill>
            <a:srgbClr val="CC99FF">
              <a:alpha val="50195"/>
            </a:srgbClr>
          </a:solidFill>
          <a:ln w="25400" cap="flat" cmpd="sng">
            <a:solidFill>
              <a:srgbClr val="CC99FF">
                <a:alpha val="100000"/>
              </a:srgbClr>
            </a:solidFill>
            <a:prstDash val="dash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5"/>
          <p:cNvSpPr/>
          <p:nvPr/>
        </p:nvSpPr>
        <p:spPr>
          <a:xfrm>
            <a:off x="1371600" y="3168650"/>
            <a:ext cx="5257800" cy="368935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5" name="Group 46"/>
          <p:cNvGrpSpPr/>
          <p:nvPr/>
        </p:nvGrpSpPr>
        <p:grpSpPr>
          <a:xfrm>
            <a:off x="762000" y="3276600"/>
            <a:ext cx="6629400" cy="914400"/>
            <a:chOff x="480" y="1728"/>
            <a:chExt cx="4176" cy="576"/>
          </a:xfrm>
        </p:grpSpPr>
        <p:sp>
          <p:nvSpPr>
            <p:cNvPr id="10254" name="Rectangle 47"/>
            <p:cNvSpPr/>
            <p:nvPr/>
          </p:nvSpPr>
          <p:spPr>
            <a:xfrm>
              <a:off x="480" y="1728"/>
              <a:ext cx="417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A complete binary tree of height  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h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 has between</a:t>
              </a:r>
            </a:p>
          </p:txBody>
        </p:sp>
        <p:sp>
          <p:nvSpPr>
            <p:cNvPr id="10255" name="Rectangle 48"/>
            <p:cNvSpPr/>
            <p:nvPr/>
          </p:nvSpPr>
          <p:spPr>
            <a:xfrm>
              <a:off x="480" y="2016"/>
              <a:ext cx="42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and</a:t>
              </a:r>
            </a:p>
          </p:txBody>
        </p:sp>
        <p:sp>
          <p:nvSpPr>
            <p:cNvPr id="10256" name="Rectangle 49"/>
            <p:cNvSpPr/>
            <p:nvPr/>
          </p:nvSpPr>
          <p:spPr>
            <a:xfrm>
              <a:off x="1632" y="2016"/>
              <a:ext cx="72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nodes.</a:t>
              </a:r>
            </a:p>
          </p:txBody>
        </p:sp>
      </p:grpSp>
      <p:sp>
        <p:nvSpPr>
          <p:cNvPr id="6" name="Rectangle 50"/>
          <p:cNvSpPr/>
          <p:nvPr/>
        </p:nvSpPr>
        <p:spPr>
          <a:xfrm>
            <a:off x="7239000" y="3276600"/>
            <a:ext cx="609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4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" name="Rectangle 51"/>
          <p:cNvSpPr/>
          <p:nvPr/>
        </p:nvSpPr>
        <p:spPr>
          <a:xfrm>
            <a:off x="1447800" y="3733800"/>
            <a:ext cx="1371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4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+1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 1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pSp>
        <p:nvGrpSpPr>
          <p:cNvPr id="8" name="Group 52"/>
          <p:cNvGrpSpPr/>
          <p:nvPr/>
        </p:nvGrpSpPr>
        <p:grpSpPr>
          <a:xfrm>
            <a:off x="3962400" y="3733800"/>
            <a:ext cx="3124200" cy="457200"/>
            <a:chOff x="2496" y="2016"/>
            <a:chExt cx="1632" cy="288"/>
          </a:xfrm>
        </p:grpSpPr>
        <p:sp>
          <p:nvSpPr>
            <p:cNvPr id="10252" name="AutoShape 53"/>
            <p:cNvSpPr/>
            <p:nvPr/>
          </p:nvSpPr>
          <p:spPr>
            <a:xfrm>
              <a:off x="2496" y="2112"/>
              <a:ext cx="384" cy="144"/>
            </a:xfrm>
            <a:prstGeom prst="rightArrow">
              <a:avLst>
                <a:gd name="adj1" fmla="val 50000"/>
                <a:gd name="adj2" fmla="val 66604"/>
              </a:avLst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0253" name="Rectangle 54"/>
            <p:cNvSpPr/>
            <p:nvPr/>
          </p:nvSpPr>
          <p:spPr>
            <a:xfrm>
              <a:off x="2880" y="2016"/>
              <a:ext cx="124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h</a:t>
              </a:r>
              <a:r>
                <a:rPr lang="en-US" altLang="zh-CN" sz="2400" b="1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 = </a:t>
              </a:r>
              <a:r>
                <a: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 log 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</a:t>
              </a:r>
              <a:endPara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  <p:bldP spid="9220" grpId="0"/>
      <p:bldP spid="4" grpId="0" animBg="1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381000" y="457200"/>
            <a:ext cx="8229600" cy="544036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Array representation</a:t>
            </a:r>
          </a:p>
          <a:p>
            <a:pPr lvl="1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The root node is at location indexed with 1.</a:t>
            </a:r>
          </a:p>
          <a:p>
            <a:pPr lvl="1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F</a:t>
            </a:r>
            <a:r>
              <a:rPr lang="en-US" altLang="zh-TW" sz="2400" b="1" dirty="0">
                <a:latin typeface="Times New Roman" panose="02020603050405020304" pitchFamily="18" charset="0"/>
              </a:rPr>
              <a:t>or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TW" sz="2400" b="1" dirty="0">
                <a:latin typeface="Times New Roman" panose="02020603050405020304" pitchFamily="18" charset="0"/>
              </a:rPr>
              <a:t>any node with index </a:t>
            </a:r>
            <a:r>
              <a:rPr lang="en-US" altLang="zh-TW" sz="2400" b="1" i="1" dirty="0">
                <a:latin typeface="Times New Roman" panose="02020603050405020304" pitchFamily="18" charset="0"/>
              </a:rPr>
              <a:t>i</a:t>
            </a:r>
            <a:r>
              <a:rPr lang="en-US" altLang="zh-TW" sz="2400" b="1" dirty="0">
                <a:latin typeface="Times New Roman" panose="02020603050405020304" pitchFamily="18" charset="0"/>
              </a:rPr>
              <a:t>, 1&lt;=</a:t>
            </a:r>
            <a:r>
              <a:rPr lang="en-US" altLang="zh-TW" sz="2400" b="1" i="1" dirty="0">
                <a:latin typeface="Times New Roman" panose="02020603050405020304" pitchFamily="18" charset="0"/>
              </a:rPr>
              <a:t>i</a:t>
            </a:r>
            <a:r>
              <a:rPr lang="en-US" altLang="zh-TW" sz="2400" b="1" dirty="0">
                <a:latin typeface="Times New Roman" panose="02020603050405020304" pitchFamily="18" charset="0"/>
              </a:rPr>
              <a:t>&lt;=</a:t>
            </a:r>
            <a:r>
              <a:rPr lang="en-US" altLang="zh-TW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TW" sz="2400" b="1" dirty="0">
                <a:latin typeface="Times New Roman" panose="02020603050405020304" pitchFamily="18" charset="0"/>
              </a:rPr>
              <a:t>, we have:</a:t>
            </a:r>
          </a:p>
          <a:p>
            <a:pPr lvl="2" eaLnBrk="1" hangingPunct="1"/>
            <a:r>
              <a:rPr lang="en-US" altLang="zh-TW" b="1" i="1" dirty="0">
                <a:latin typeface="Times New Roman" panose="02020603050405020304" pitchFamily="18" charset="0"/>
              </a:rPr>
              <a:t>left_child</a:t>
            </a:r>
            <a:r>
              <a:rPr lang="en-US" altLang="zh-TW" b="1" dirty="0">
                <a:latin typeface="Times New Roman" panose="02020603050405020304" pitchFamily="18" charset="0"/>
              </a:rPr>
              <a:t>(</a:t>
            </a:r>
            <a:r>
              <a:rPr lang="en-US" altLang="zh-TW" b="1" i="1" dirty="0">
                <a:latin typeface="Times New Roman" panose="02020603050405020304" pitchFamily="18" charset="0"/>
              </a:rPr>
              <a:t>i</a:t>
            </a:r>
            <a:r>
              <a:rPr lang="en-US" altLang="zh-TW" b="1" dirty="0">
                <a:latin typeface="Times New Roman" panose="02020603050405020304" pitchFamily="18" charset="0"/>
              </a:rPr>
              <a:t>) i</a:t>
            </a:r>
            <a:r>
              <a:rPr lang="en-US" altLang="zh-CN" b="1" dirty="0">
                <a:latin typeface="Times New Roman" panose="02020603050405020304" pitchFamily="18" charset="0"/>
              </a:rPr>
              <a:t>s</a:t>
            </a:r>
            <a:r>
              <a:rPr lang="en-US" altLang="zh-TW" b="1" dirty="0">
                <a:latin typeface="Times New Roman" panose="02020603050405020304" pitchFamily="18" charset="0"/>
              </a:rPr>
              <a:t> at 2</a:t>
            </a:r>
            <a:r>
              <a:rPr lang="en-US" altLang="zh-TW" b="1" i="1" dirty="0">
                <a:latin typeface="Times New Roman" panose="02020603050405020304" pitchFamily="18" charset="0"/>
              </a:rPr>
              <a:t>i</a:t>
            </a:r>
            <a:r>
              <a:rPr lang="en-US" altLang="zh-TW" b="1" dirty="0">
                <a:latin typeface="Times New Roman" panose="02020603050405020304" pitchFamily="18" charset="0"/>
              </a:rPr>
              <a:t> 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en-US" altLang="zh-TW" b="1" i="1" dirty="0">
                <a:latin typeface="Times New Roman" panose="02020603050405020304" pitchFamily="18" charset="0"/>
              </a:rPr>
              <a:t>right_child</a:t>
            </a:r>
            <a:r>
              <a:rPr lang="en-US" altLang="zh-TW" b="1" dirty="0">
                <a:latin typeface="Times New Roman" panose="02020603050405020304" pitchFamily="18" charset="0"/>
              </a:rPr>
              <a:t>(</a:t>
            </a:r>
            <a:r>
              <a:rPr lang="en-US" altLang="zh-TW" b="1" i="1" dirty="0">
                <a:latin typeface="Times New Roman" panose="02020603050405020304" pitchFamily="18" charset="0"/>
              </a:rPr>
              <a:t>i</a:t>
            </a:r>
            <a:r>
              <a:rPr lang="en-US" altLang="zh-TW" b="1" dirty="0">
                <a:latin typeface="Times New Roman" panose="02020603050405020304" pitchFamily="18" charset="0"/>
              </a:rPr>
              <a:t>) i</a:t>
            </a:r>
            <a:r>
              <a:rPr lang="en-US" altLang="zh-CN" b="1" dirty="0">
                <a:latin typeface="Times New Roman" panose="02020603050405020304" pitchFamily="18" charset="0"/>
              </a:rPr>
              <a:t>s</a:t>
            </a:r>
            <a:r>
              <a:rPr lang="en-US" altLang="zh-TW" b="1" dirty="0">
                <a:latin typeface="Times New Roman" panose="02020603050405020304" pitchFamily="18" charset="0"/>
              </a:rPr>
              <a:t> at 2</a:t>
            </a:r>
            <a:r>
              <a:rPr lang="en-US" altLang="zh-TW" b="1" i="1" dirty="0">
                <a:latin typeface="Times New Roman" panose="02020603050405020304" pitchFamily="18" charset="0"/>
              </a:rPr>
              <a:t>i</a:t>
            </a:r>
            <a:r>
              <a:rPr lang="en-US" altLang="zh-TW" b="1" dirty="0">
                <a:latin typeface="Times New Roman" panose="02020603050405020304" pitchFamily="18" charset="0"/>
              </a:rPr>
              <a:t>+1 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2"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2324" name="Group 36"/>
          <p:cNvGrpSpPr/>
          <p:nvPr/>
        </p:nvGrpSpPr>
        <p:grpSpPr>
          <a:xfrm>
            <a:off x="533400" y="2971800"/>
            <a:ext cx="3810000" cy="2057400"/>
            <a:chOff x="576" y="2592"/>
            <a:chExt cx="2400" cy="1296"/>
          </a:xfrm>
        </p:grpSpPr>
        <p:grpSp>
          <p:nvGrpSpPr>
            <p:cNvPr id="11301" name="Group 37"/>
            <p:cNvGrpSpPr/>
            <p:nvPr/>
          </p:nvGrpSpPr>
          <p:grpSpPr>
            <a:xfrm>
              <a:off x="576" y="3312"/>
              <a:ext cx="576" cy="576"/>
              <a:chOff x="2640" y="2160"/>
              <a:chExt cx="576" cy="576"/>
            </a:xfrm>
          </p:grpSpPr>
          <p:sp>
            <p:nvSpPr>
              <p:cNvPr id="11319" name="Oval 38"/>
              <p:cNvSpPr/>
              <p:nvPr/>
            </p:nvSpPr>
            <p:spPr>
              <a:xfrm>
                <a:off x="2832" y="216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1320" name="Oval 39"/>
              <p:cNvSpPr/>
              <p:nvPr/>
            </p:nvSpPr>
            <p:spPr>
              <a:xfrm>
                <a:off x="2640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11321" name="Line 40"/>
              <p:cNvSpPr/>
              <p:nvPr/>
            </p:nvSpPr>
            <p:spPr>
              <a:xfrm flipH="1">
                <a:off x="2784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22" name="Oval 41"/>
              <p:cNvSpPr/>
              <p:nvPr/>
            </p:nvSpPr>
            <p:spPr>
              <a:xfrm flipH="1">
                <a:off x="3024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11323" name="Line 42"/>
              <p:cNvSpPr/>
              <p:nvPr/>
            </p:nvSpPr>
            <p:spPr>
              <a:xfrm>
                <a:off x="2976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302" name="Oval 43"/>
            <p:cNvSpPr/>
            <p:nvPr/>
          </p:nvSpPr>
          <p:spPr>
            <a:xfrm>
              <a:off x="1440" y="33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303" name="Oval 44"/>
            <p:cNvSpPr/>
            <p:nvPr/>
          </p:nvSpPr>
          <p:spPr>
            <a:xfrm>
              <a:off x="1248" y="369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1304" name="Line 45"/>
            <p:cNvSpPr/>
            <p:nvPr/>
          </p:nvSpPr>
          <p:spPr>
            <a:xfrm flipH="1">
              <a:off x="1392" y="3480"/>
              <a:ext cx="96" cy="21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5" name="Oval 46"/>
            <p:cNvSpPr/>
            <p:nvPr/>
          </p:nvSpPr>
          <p:spPr>
            <a:xfrm>
              <a:off x="2112" y="33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306" name="Oval 47"/>
            <p:cNvSpPr/>
            <p:nvPr/>
          </p:nvSpPr>
          <p:spPr>
            <a:xfrm>
              <a:off x="2784" y="33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G</a:t>
              </a:r>
            </a:p>
          </p:txBody>
        </p:sp>
        <p:grpSp>
          <p:nvGrpSpPr>
            <p:cNvPr id="11307" name="Group 48"/>
            <p:cNvGrpSpPr/>
            <p:nvPr/>
          </p:nvGrpSpPr>
          <p:grpSpPr>
            <a:xfrm>
              <a:off x="912" y="2976"/>
              <a:ext cx="576" cy="346"/>
              <a:chOff x="1680" y="1632"/>
              <a:chExt cx="576" cy="346"/>
            </a:xfrm>
          </p:grpSpPr>
          <p:sp>
            <p:nvSpPr>
              <p:cNvPr id="11316" name="Oval 49"/>
              <p:cNvSpPr/>
              <p:nvPr/>
            </p:nvSpPr>
            <p:spPr>
              <a:xfrm>
                <a:off x="1872" y="163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1317" name="Line 50"/>
              <p:cNvSpPr/>
              <p:nvPr/>
            </p:nvSpPr>
            <p:spPr>
              <a:xfrm flipH="1">
                <a:off x="1680" y="1786"/>
                <a:ext cx="20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8" name="Line 51"/>
              <p:cNvSpPr/>
              <p:nvPr/>
            </p:nvSpPr>
            <p:spPr>
              <a:xfrm>
                <a:off x="2052" y="1786"/>
                <a:ext cx="20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308" name="Group 52"/>
            <p:cNvGrpSpPr/>
            <p:nvPr/>
          </p:nvGrpSpPr>
          <p:grpSpPr>
            <a:xfrm>
              <a:off x="2256" y="2976"/>
              <a:ext cx="576" cy="346"/>
              <a:chOff x="1680" y="1632"/>
              <a:chExt cx="576" cy="346"/>
            </a:xfrm>
          </p:grpSpPr>
          <p:sp>
            <p:nvSpPr>
              <p:cNvPr id="11313" name="Oval 53"/>
              <p:cNvSpPr/>
              <p:nvPr/>
            </p:nvSpPr>
            <p:spPr>
              <a:xfrm>
                <a:off x="1872" y="163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1314" name="Line 54"/>
              <p:cNvSpPr/>
              <p:nvPr/>
            </p:nvSpPr>
            <p:spPr>
              <a:xfrm flipH="1">
                <a:off x="1680" y="1786"/>
                <a:ext cx="20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5" name="Line 55"/>
              <p:cNvSpPr/>
              <p:nvPr/>
            </p:nvSpPr>
            <p:spPr>
              <a:xfrm>
                <a:off x="2052" y="1786"/>
                <a:ext cx="20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309" name="Group 56"/>
            <p:cNvGrpSpPr/>
            <p:nvPr/>
          </p:nvGrpSpPr>
          <p:grpSpPr>
            <a:xfrm>
              <a:off x="1238" y="2592"/>
              <a:ext cx="730" cy="404"/>
              <a:chOff x="2006" y="1248"/>
              <a:chExt cx="730" cy="404"/>
            </a:xfrm>
          </p:grpSpPr>
          <p:sp>
            <p:nvSpPr>
              <p:cNvPr id="11311" name="Oval 57"/>
              <p:cNvSpPr/>
              <p:nvPr/>
            </p:nvSpPr>
            <p:spPr>
              <a:xfrm>
                <a:off x="2544" y="124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1312" name="Line 58"/>
              <p:cNvSpPr/>
              <p:nvPr/>
            </p:nvSpPr>
            <p:spPr>
              <a:xfrm flipH="1">
                <a:off x="2006" y="1378"/>
                <a:ext cx="540" cy="27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310" name="Line 59"/>
            <p:cNvSpPr/>
            <p:nvPr/>
          </p:nvSpPr>
          <p:spPr>
            <a:xfrm>
              <a:off x="1966" y="2722"/>
              <a:ext cx="528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348" name="Group 60"/>
          <p:cNvGrpSpPr/>
          <p:nvPr/>
        </p:nvGrpSpPr>
        <p:grpSpPr>
          <a:xfrm>
            <a:off x="4572000" y="3352800"/>
            <a:ext cx="3303588" cy="1371600"/>
            <a:chOff x="2928" y="2592"/>
            <a:chExt cx="2016" cy="864"/>
          </a:xfrm>
        </p:grpSpPr>
        <p:sp>
          <p:nvSpPr>
            <p:cNvPr id="11272" name="Text Box 61"/>
            <p:cNvSpPr txBox="1"/>
            <p:nvPr/>
          </p:nvSpPr>
          <p:spPr>
            <a:xfrm>
              <a:off x="2928" y="2592"/>
              <a:ext cx="336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Arr</a:t>
              </a:r>
            </a:p>
          </p:txBody>
        </p:sp>
        <p:sp>
          <p:nvSpPr>
            <p:cNvPr id="11273" name="Rectangle 62"/>
            <p:cNvSpPr/>
            <p:nvPr/>
          </p:nvSpPr>
          <p:spPr>
            <a:xfrm>
              <a:off x="3264" y="2592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274" name="Rectangle 63"/>
            <p:cNvSpPr/>
            <p:nvPr/>
          </p:nvSpPr>
          <p:spPr>
            <a:xfrm>
              <a:off x="3264" y="2736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75" name="Rectangle 64"/>
            <p:cNvSpPr/>
            <p:nvPr/>
          </p:nvSpPr>
          <p:spPr>
            <a:xfrm>
              <a:off x="3504" y="2592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276" name="Rectangle 65"/>
            <p:cNvSpPr/>
            <p:nvPr/>
          </p:nvSpPr>
          <p:spPr>
            <a:xfrm>
              <a:off x="3504" y="2736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277" name="Rectangle 66"/>
            <p:cNvSpPr/>
            <p:nvPr/>
          </p:nvSpPr>
          <p:spPr>
            <a:xfrm>
              <a:off x="3744" y="2592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278" name="Rectangle 67"/>
            <p:cNvSpPr/>
            <p:nvPr/>
          </p:nvSpPr>
          <p:spPr>
            <a:xfrm>
              <a:off x="3744" y="2736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279" name="Rectangle 68"/>
            <p:cNvSpPr/>
            <p:nvPr/>
          </p:nvSpPr>
          <p:spPr>
            <a:xfrm>
              <a:off x="3984" y="2592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280" name="Rectangle 69"/>
            <p:cNvSpPr/>
            <p:nvPr/>
          </p:nvSpPr>
          <p:spPr>
            <a:xfrm>
              <a:off x="3984" y="2736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281" name="Rectangle 70"/>
            <p:cNvSpPr/>
            <p:nvPr/>
          </p:nvSpPr>
          <p:spPr>
            <a:xfrm>
              <a:off x="4224" y="2592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282" name="Rectangle 71"/>
            <p:cNvSpPr/>
            <p:nvPr/>
          </p:nvSpPr>
          <p:spPr>
            <a:xfrm>
              <a:off x="4224" y="2736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1283" name="Rectangle 72"/>
            <p:cNvSpPr/>
            <p:nvPr/>
          </p:nvSpPr>
          <p:spPr>
            <a:xfrm>
              <a:off x="4464" y="2592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1284" name="Rectangle 73"/>
            <p:cNvSpPr/>
            <p:nvPr/>
          </p:nvSpPr>
          <p:spPr>
            <a:xfrm>
              <a:off x="4464" y="2736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285" name="Rectangle 74"/>
            <p:cNvSpPr/>
            <p:nvPr/>
          </p:nvSpPr>
          <p:spPr>
            <a:xfrm>
              <a:off x="4704" y="2592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1286" name="Rectangle 75"/>
            <p:cNvSpPr/>
            <p:nvPr/>
          </p:nvSpPr>
          <p:spPr>
            <a:xfrm>
              <a:off x="4704" y="2736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287" name="Rectangle 76"/>
            <p:cNvSpPr/>
            <p:nvPr/>
          </p:nvSpPr>
          <p:spPr>
            <a:xfrm>
              <a:off x="3264" y="3120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1288" name="Rectangle 77"/>
            <p:cNvSpPr/>
            <p:nvPr/>
          </p:nvSpPr>
          <p:spPr>
            <a:xfrm>
              <a:off x="3264" y="3264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1289" name="Rectangle 78"/>
            <p:cNvSpPr/>
            <p:nvPr/>
          </p:nvSpPr>
          <p:spPr>
            <a:xfrm>
              <a:off x="3504" y="3120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1290" name="Rectangle 79"/>
            <p:cNvSpPr/>
            <p:nvPr/>
          </p:nvSpPr>
          <p:spPr>
            <a:xfrm>
              <a:off x="3504" y="3264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1291" name="Rectangle 80"/>
            <p:cNvSpPr/>
            <p:nvPr/>
          </p:nvSpPr>
          <p:spPr>
            <a:xfrm>
              <a:off x="3744" y="3120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1292" name="Rectangle 81"/>
            <p:cNvSpPr/>
            <p:nvPr/>
          </p:nvSpPr>
          <p:spPr>
            <a:xfrm>
              <a:off x="3744" y="3264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1293" name="Rectangle 82"/>
            <p:cNvSpPr/>
            <p:nvPr/>
          </p:nvSpPr>
          <p:spPr>
            <a:xfrm>
              <a:off x="3984" y="3120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1294" name="Rectangle 83"/>
            <p:cNvSpPr/>
            <p:nvPr/>
          </p:nvSpPr>
          <p:spPr>
            <a:xfrm>
              <a:off x="3984" y="3264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11295" name="Rectangle 84"/>
            <p:cNvSpPr/>
            <p:nvPr/>
          </p:nvSpPr>
          <p:spPr>
            <a:xfrm>
              <a:off x="4224" y="3120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11296" name="Rectangle 85"/>
            <p:cNvSpPr/>
            <p:nvPr/>
          </p:nvSpPr>
          <p:spPr>
            <a:xfrm>
              <a:off x="4224" y="3264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7" name="Rectangle 86"/>
            <p:cNvSpPr/>
            <p:nvPr/>
          </p:nvSpPr>
          <p:spPr>
            <a:xfrm>
              <a:off x="4464" y="3120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1298" name="Rectangle 87"/>
            <p:cNvSpPr/>
            <p:nvPr/>
          </p:nvSpPr>
          <p:spPr>
            <a:xfrm>
              <a:off x="4464" y="3264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9" name="Rectangle 88"/>
            <p:cNvSpPr/>
            <p:nvPr/>
          </p:nvSpPr>
          <p:spPr>
            <a:xfrm>
              <a:off x="4704" y="3120"/>
              <a:ext cx="240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13</a:t>
              </a:r>
            </a:p>
          </p:txBody>
        </p:sp>
        <p:sp>
          <p:nvSpPr>
            <p:cNvPr id="11300" name="Rectangle 89"/>
            <p:cNvSpPr/>
            <p:nvPr/>
          </p:nvSpPr>
          <p:spPr>
            <a:xfrm>
              <a:off x="4704" y="3264"/>
              <a:ext cx="240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378" name="AutoShape 90"/>
          <p:cNvSpPr/>
          <p:nvPr/>
        </p:nvSpPr>
        <p:spPr>
          <a:xfrm>
            <a:off x="2438284" y="1143000"/>
            <a:ext cx="6553200" cy="2133600"/>
          </a:xfrm>
          <a:prstGeom prst="wedgeEllipseCallout">
            <a:avLst>
              <a:gd name="adj1" fmla="val -31708"/>
              <a:gd name="adj2" fmla="val -29912"/>
            </a:avLst>
          </a:prstGeom>
          <a:gradFill rotWithShape="1">
            <a:gsLst>
              <a:gs pos="0">
                <a:srgbClr val="EAEAEA"/>
              </a:gs>
              <a:gs pos="100000">
                <a:srgbClr val="C1C1C1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How to determine the</a:t>
            </a:r>
            <a:r>
              <a:rPr lang="en-US" altLang="zh-TW" sz="2400" b="1" dirty="0">
                <a:latin typeface="Times New Roman" panose="02020603050405020304" pitchFamily="18" charset="0"/>
              </a:rPr>
              <a:t> parent</a:t>
            </a:r>
            <a:r>
              <a:rPr lang="en-US" altLang="zh-CN" sz="2400" b="1" dirty="0">
                <a:latin typeface="Times New Roman" panose="02020603050405020304" pitchFamily="18" charset="0"/>
              </a:rPr>
              <a:t> of the node Arr[i]?</a:t>
            </a: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How to tell whether a node Arr[i] is a leaf node?</a:t>
            </a:r>
            <a:endParaRPr lang="en-US" altLang="zh-TW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379" name="Text Box 91"/>
          <p:cNvSpPr txBox="1"/>
          <p:nvPr/>
        </p:nvSpPr>
        <p:spPr>
          <a:xfrm>
            <a:off x="1447800" y="5181600"/>
            <a:ext cx="609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Goodness:</a:t>
            </a:r>
            <a:r>
              <a:rPr lang="en-US" altLang="zh-CN" sz="2400" b="1" dirty="0">
                <a:latin typeface="Times New Roman" panose="02020603050405020304" pitchFamily="18" charset="0"/>
              </a:rPr>
              <a:t> No pointers, traverse the tree fast</a:t>
            </a:r>
          </a:p>
        </p:txBody>
      </p:sp>
      <p:sp>
        <p:nvSpPr>
          <p:cNvPr id="12380" name="Text Box 92"/>
          <p:cNvSpPr txBox="1"/>
          <p:nvPr/>
        </p:nvSpPr>
        <p:spPr>
          <a:xfrm>
            <a:off x="1447800" y="5638800"/>
            <a:ext cx="739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Problem:</a:t>
            </a:r>
            <a:r>
              <a:rPr lang="en-US" altLang="zh-CN" sz="2400" b="1" dirty="0">
                <a:latin typeface="Times New Roman" panose="02020603050405020304" pitchFamily="18" charset="0"/>
              </a:rPr>
              <a:t> Need to estimate the maximum heap size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78" grpId="0" animBg="1"/>
      <p:bldP spid="12379" grpId="0"/>
      <p:bldP spid="1238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/>
          <p:nvPr/>
        </p:nvSpPr>
        <p:spPr>
          <a:xfrm>
            <a:off x="381000" y="838200"/>
            <a:ext cx="8001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9255" lvl="0" indent="-389255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【Lemma】</a:t>
            </a:r>
            <a:r>
              <a:rPr lang="en-US" altLang="zh-CN" sz="2400" b="1" dirty="0">
                <a:latin typeface="Times New Roman" panose="02020603050405020304" pitchFamily="18" charset="0"/>
              </a:rPr>
              <a:t>If a complete binary tree with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 nodes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is represented sequentially, then for any node with index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 1 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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we have: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990600" y="2286000"/>
          <a:ext cx="6019800" cy="291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251200" imgH="1574800" progId="Equation.3">
                  <p:embed/>
                </p:oleObj>
              </mc:Choice>
              <mc:Fallback>
                <p:oleObj r:id="rId4" imgW="3251200" imgH="1574800" progId="Equation.3">
                  <p:embed/>
                  <p:pic>
                    <p:nvPicPr>
                      <p:cNvPr id="10244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600" y="2286000"/>
                        <a:ext cx="6019800" cy="291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/>
          <p:nvPr/>
        </p:nvSpPr>
        <p:spPr>
          <a:xfrm>
            <a:off x="381000" y="1447800"/>
            <a:ext cx="7467600" cy="45037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en-US" altLang="zh-TW" sz="2400" b="1" dirty="0">
              <a:latin typeface="Times New Roman" panose="02020603050405020304" pitchFamily="18" charset="0"/>
            </a:endParaRPr>
          </a:p>
          <a:p>
            <a:pPr marL="342900" lvl="0" indent="-342900" eaLnBrk="1" hangingPunct="1"/>
            <a:r>
              <a:rPr lang="en-US" altLang="zh-TW" sz="2400" b="1" dirty="0">
                <a:latin typeface="Times New Roman" panose="02020603050405020304" pitchFamily="18" charset="0"/>
              </a:rPr>
              <a:t>Binary heap includes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min heap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（小根堆）</a:t>
            </a:r>
            <a:r>
              <a:rPr lang="en-US" altLang="zh-TW" sz="2400" b="1" dirty="0">
                <a:latin typeface="Times New Roman" panose="02020603050405020304" pitchFamily="18" charset="0"/>
              </a:rPr>
              <a:t>and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max hea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（大根堆）</a:t>
            </a:r>
            <a:r>
              <a:rPr lang="en-US" altLang="zh-TW" sz="2400" b="1" dirty="0">
                <a:latin typeface="Times New Roman" panose="02020603050405020304" pitchFamily="18" charset="0"/>
              </a:rPr>
              <a:t>.</a:t>
            </a:r>
          </a:p>
          <a:p>
            <a:pPr marL="342900" lvl="0" indent="-342900" eaLnBrk="1" hangingPunct="1"/>
            <a:endParaRPr lang="en-US" altLang="zh-TW" sz="2400" b="1" dirty="0">
              <a:latin typeface="Times New Roman" panose="02020603050405020304" pitchFamily="18" charset="0"/>
            </a:endParaRPr>
          </a:p>
          <a:p>
            <a:pPr marL="342900" lvl="0" indent="-342900" eaLnBrk="1" hangingPunct="1"/>
            <a:r>
              <a:rPr lang="en-US" altLang="zh-TW" sz="2400" b="1" dirty="0">
                <a:latin typeface="Times New Roman" panose="02020603050405020304" pitchFamily="18" charset="0"/>
              </a:rPr>
              <a:t>A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tree </a:t>
            </a:r>
            <a:r>
              <a:rPr lang="en-US" altLang="zh-TW" sz="2400" b="1" dirty="0">
                <a:latin typeface="Times New Roman" panose="02020603050405020304" pitchFamily="18" charset="0"/>
              </a:rPr>
              <a:t>is a tree in which the key value in 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each node</a:t>
            </a:r>
            <a:r>
              <a:rPr lang="en-US" altLang="zh-TW" sz="2400" b="1" dirty="0">
                <a:latin typeface="Times New Roman" panose="02020603050405020304" pitchFamily="18" charset="0"/>
              </a:rPr>
              <a:t> is no </a:t>
            </a:r>
            <a:r>
              <a:rPr lang="en-US" altLang="zh-CN" sz="2400" b="1" dirty="0">
                <a:latin typeface="Times New Roman" panose="02020603050405020304" pitchFamily="18" charset="0"/>
              </a:rPr>
              <a:t>larger</a:t>
            </a:r>
            <a:r>
              <a:rPr lang="en-US" altLang="zh-TW" sz="2400" b="1" dirty="0">
                <a:latin typeface="Times New Roman" panose="02020603050405020304" pitchFamily="18" charset="0"/>
              </a:rPr>
              <a:t>er than the key values in its children. 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en-US" altLang="zh-TW" sz="2400" b="1" dirty="0">
                <a:latin typeface="Times New Roman" panose="02020603050405020304" pitchFamily="18" charset="0"/>
              </a:rPr>
              <a:t>A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heap</a:t>
            </a:r>
            <a:r>
              <a:rPr lang="en-US" altLang="zh-TW" sz="2400" b="1" dirty="0">
                <a:latin typeface="Times New Roman" panose="02020603050405020304" pitchFamily="18" charset="0"/>
              </a:rPr>
              <a:t> is a 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complete binary tree</a:t>
            </a:r>
            <a:r>
              <a:rPr lang="en-US" altLang="zh-TW" sz="2400" b="1" dirty="0">
                <a:latin typeface="Times New Roman" panose="02020603050405020304" pitchFamily="18" charset="0"/>
              </a:rPr>
              <a:t> that is also a 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min tree</a:t>
            </a:r>
            <a:r>
              <a:rPr lang="en-US" altLang="zh-TW" sz="2400" b="1" dirty="0">
                <a:latin typeface="Times New Roman" panose="02020603050405020304" pitchFamily="18" charset="0"/>
              </a:rPr>
              <a:t>.</a:t>
            </a:r>
          </a:p>
          <a:p>
            <a:pPr marL="342900" lvl="0" indent="-342900" eaLnBrk="1" hangingPunct="1"/>
            <a:r>
              <a:rPr lang="en-US" altLang="zh-TW" sz="2400" b="1" dirty="0">
                <a:latin typeface="Times New Roman" panose="02020603050405020304" pitchFamily="18" charset="0"/>
              </a:rPr>
              <a:t>A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ax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tree </a:t>
            </a:r>
            <a:r>
              <a:rPr lang="en-US" altLang="zh-TW" sz="2400" b="1" dirty="0">
                <a:latin typeface="Times New Roman" panose="02020603050405020304" pitchFamily="18" charset="0"/>
              </a:rPr>
              <a:t>is a tree in which the key value in 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each node</a:t>
            </a:r>
            <a:r>
              <a:rPr lang="en-US" altLang="zh-TW" sz="2400" b="1" dirty="0">
                <a:latin typeface="Times New Roman" panose="02020603050405020304" pitchFamily="18" charset="0"/>
              </a:rPr>
              <a:t> is no </a:t>
            </a:r>
            <a:r>
              <a:rPr lang="en-US" altLang="zh-CN" sz="2400" b="1" dirty="0">
                <a:latin typeface="Times New Roman" panose="02020603050405020304" pitchFamily="18" charset="0"/>
              </a:rPr>
              <a:t>small</a:t>
            </a:r>
            <a:r>
              <a:rPr lang="en-US" altLang="zh-TW" sz="2400" b="1" dirty="0">
                <a:latin typeface="Times New Roman" panose="02020603050405020304" pitchFamily="18" charset="0"/>
              </a:rPr>
              <a:t>er than the key values in its children. 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en-US" altLang="zh-TW" sz="2400" b="1" dirty="0">
                <a:latin typeface="Times New Roman" panose="02020603050405020304" pitchFamily="18" charset="0"/>
              </a:rPr>
              <a:t>A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ax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heap</a:t>
            </a:r>
            <a:r>
              <a:rPr lang="en-US" altLang="zh-TW" sz="2400" b="1" dirty="0">
                <a:latin typeface="Times New Roman" panose="02020603050405020304" pitchFamily="18" charset="0"/>
              </a:rPr>
              <a:t> is a 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complete binary tree</a:t>
            </a:r>
            <a:r>
              <a:rPr lang="en-US" altLang="zh-TW" sz="2400" b="1" dirty="0">
                <a:latin typeface="Times New Roman" panose="02020603050405020304" pitchFamily="18" charset="0"/>
              </a:rPr>
              <a:t> that is also a 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ax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tree</a:t>
            </a:r>
            <a:r>
              <a:rPr lang="en-US" altLang="zh-TW" sz="24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348" name="AutoShape 36"/>
          <p:cNvSpPr/>
          <p:nvPr/>
        </p:nvSpPr>
        <p:spPr>
          <a:xfrm>
            <a:off x="4779963" y="3435350"/>
            <a:ext cx="2514600" cy="533400"/>
          </a:xfrm>
          <a:prstGeom prst="wedgeRoundRectCallout">
            <a:avLst>
              <a:gd name="adj1" fmla="val -57069"/>
              <a:gd name="adj2" fmla="val 120537"/>
              <a:gd name="adj3" fmla="val 16667"/>
            </a:avLst>
          </a:prstGeom>
          <a:gradFill rotWithShape="1">
            <a:gsLst>
              <a:gs pos="0">
                <a:srgbClr val="EAEAEA"/>
              </a:gs>
              <a:gs pos="100000">
                <a:srgbClr val="C1C1C1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Structure Property</a:t>
            </a:r>
          </a:p>
        </p:txBody>
      </p:sp>
      <p:sp>
        <p:nvSpPr>
          <p:cNvPr id="13349" name="AutoShape 37"/>
          <p:cNvSpPr/>
          <p:nvPr/>
        </p:nvSpPr>
        <p:spPr>
          <a:xfrm>
            <a:off x="1339850" y="3810000"/>
            <a:ext cx="2743200" cy="533400"/>
          </a:xfrm>
          <a:prstGeom prst="wedgeRoundRectCallout">
            <a:avLst>
              <a:gd name="adj1" fmla="val -56481"/>
              <a:gd name="adj2" fmla="val 120537"/>
              <a:gd name="adj3" fmla="val 16667"/>
            </a:avLst>
          </a:prstGeom>
          <a:gradFill rotWithShape="1">
            <a:gsLst>
              <a:gs pos="0">
                <a:srgbClr val="EAEAEA"/>
              </a:gs>
              <a:gs pos="100000">
                <a:srgbClr val="C1C1C1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Heap Order Property</a:t>
            </a:r>
          </a:p>
        </p:txBody>
      </p:sp>
      <p:sp>
        <p:nvSpPr>
          <p:cNvPr id="8197" name="Text Box 2"/>
          <p:cNvSpPr txBox="1"/>
          <p:nvPr/>
        </p:nvSpPr>
        <p:spPr>
          <a:xfrm>
            <a:off x="1295400" y="381000"/>
            <a:ext cx="70104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§3 </a:t>
            </a:r>
            <a:r>
              <a:rPr lang="en-US" altLang="zh-CN" sz="1800" dirty="0">
                <a:sym typeface="Webdings" panose="05030102010509060703" pitchFamily="18" charset="2"/>
              </a:rPr>
              <a:t> </a:t>
            </a:r>
            <a:r>
              <a:rPr lang="en-US" altLang="zh-CN" sz="4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Binary Heap</a:t>
            </a:r>
            <a:r>
              <a:rPr lang="zh-CN" altLang="en-US" sz="4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（二叉堆）</a:t>
            </a:r>
            <a:endParaRPr lang="en-US" altLang="zh-CN" sz="4400" b="1" dirty="0">
              <a:latin typeface="Times New Roman" panose="02020603050405020304" pitchFamily="18" charset="0"/>
              <a:sym typeface="Webdings" panose="05030102010509060703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8" grpId="0" animBg="1"/>
      <p:bldP spid="13348" grpId="1" animBg="1"/>
      <p:bldP spid="13349" grpId="0" animBg="1"/>
      <p:bldP spid="1334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>
          <a:xfrm>
            <a:off x="1524000" y="1066800"/>
            <a:ext cx="2133600" cy="1600200"/>
            <a:chOff x="144" y="2880"/>
            <a:chExt cx="1344" cy="1008"/>
          </a:xfrm>
        </p:grpSpPr>
        <p:sp>
          <p:nvSpPr>
            <p:cNvPr id="9265" name="Oval 5"/>
            <p:cNvSpPr/>
            <p:nvPr/>
          </p:nvSpPr>
          <p:spPr>
            <a:xfrm>
              <a:off x="960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9266" name="Oval 6"/>
            <p:cNvSpPr/>
            <p:nvPr/>
          </p:nvSpPr>
          <p:spPr>
            <a:xfrm>
              <a:off x="672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9267" name="Oval 7"/>
            <p:cNvSpPr/>
            <p:nvPr/>
          </p:nvSpPr>
          <p:spPr>
            <a:xfrm>
              <a:off x="384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268" name="Line 8"/>
            <p:cNvSpPr/>
            <p:nvPr/>
          </p:nvSpPr>
          <p:spPr>
            <a:xfrm flipH="1">
              <a:off x="553" y="3482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9" name="Line 9"/>
            <p:cNvSpPr/>
            <p:nvPr/>
          </p:nvSpPr>
          <p:spPr>
            <a:xfrm flipH="1">
              <a:off x="838" y="309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0" name="Oval 10"/>
            <p:cNvSpPr/>
            <p:nvPr/>
          </p:nvSpPr>
          <p:spPr>
            <a:xfrm flipH="1">
              <a:off x="1248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271" name="Line 11"/>
            <p:cNvSpPr/>
            <p:nvPr/>
          </p:nvSpPr>
          <p:spPr>
            <a:xfrm>
              <a:off x="1129" y="3098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2" name="Rectangle 12"/>
            <p:cNvSpPr/>
            <p:nvPr/>
          </p:nvSpPr>
          <p:spPr>
            <a:xfrm>
              <a:off x="720" y="292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9273" name="Rectangle 13"/>
            <p:cNvSpPr/>
            <p:nvPr/>
          </p:nvSpPr>
          <p:spPr>
            <a:xfrm>
              <a:off x="432" y="3264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[2]</a:t>
              </a:r>
            </a:p>
          </p:txBody>
        </p:sp>
        <p:sp>
          <p:nvSpPr>
            <p:cNvPr id="9274" name="Rectangle 14"/>
            <p:cNvSpPr/>
            <p:nvPr/>
          </p:nvSpPr>
          <p:spPr>
            <a:xfrm>
              <a:off x="1008" y="3264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[3]</a:t>
              </a:r>
            </a:p>
          </p:txBody>
        </p:sp>
        <p:sp>
          <p:nvSpPr>
            <p:cNvPr id="9275" name="Rectangle 15"/>
            <p:cNvSpPr/>
            <p:nvPr/>
          </p:nvSpPr>
          <p:spPr>
            <a:xfrm>
              <a:off x="144" y="3696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[4]</a:t>
              </a:r>
            </a:p>
          </p:txBody>
        </p:sp>
      </p:grpSp>
      <p:sp>
        <p:nvSpPr>
          <p:cNvPr id="14" name="Rectangle 16"/>
          <p:cNvSpPr/>
          <p:nvPr/>
        </p:nvSpPr>
        <p:spPr>
          <a:xfrm>
            <a:off x="1828800" y="2819400"/>
            <a:ext cx="18288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A max heap</a:t>
            </a:r>
          </a:p>
        </p:txBody>
      </p:sp>
      <p:grpSp>
        <p:nvGrpSpPr>
          <p:cNvPr id="15" name="Group 17"/>
          <p:cNvGrpSpPr/>
          <p:nvPr/>
        </p:nvGrpSpPr>
        <p:grpSpPr>
          <a:xfrm>
            <a:off x="4876800" y="1066800"/>
            <a:ext cx="2133600" cy="1600200"/>
            <a:chOff x="144" y="2880"/>
            <a:chExt cx="1344" cy="1008"/>
          </a:xfrm>
        </p:grpSpPr>
        <p:sp>
          <p:nvSpPr>
            <p:cNvPr id="9254" name="Oval 18"/>
            <p:cNvSpPr/>
            <p:nvPr/>
          </p:nvSpPr>
          <p:spPr>
            <a:xfrm>
              <a:off x="960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9255" name="Oval 19"/>
            <p:cNvSpPr/>
            <p:nvPr/>
          </p:nvSpPr>
          <p:spPr>
            <a:xfrm>
              <a:off x="672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9256" name="Oval 20"/>
            <p:cNvSpPr/>
            <p:nvPr/>
          </p:nvSpPr>
          <p:spPr>
            <a:xfrm>
              <a:off x="384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9257" name="Line 21"/>
            <p:cNvSpPr/>
            <p:nvPr/>
          </p:nvSpPr>
          <p:spPr>
            <a:xfrm flipH="1">
              <a:off x="553" y="3482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8" name="Line 22"/>
            <p:cNvSpPr/>
            <p:nvPr/>
          </p:nvSpPr>
          <p:spPr>
            <a:xfrm flipH="1">
              <a:off x="838" y="309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9" name="Oval 23"/>
            <p:cNvSpPr/>
            <p:nvPr/>
          </p:nvSpPr>
          <p:spPr>
            <a:xfrm flipH="1">
              <a:off x="1248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83</a:t>
              </a:r>
            </a:p>
          </p:txBody>
        </p:sp>
        <p:sp>
          <p:nvSpPr>
            <p:cNvPr id="9260" name="Line 24"/>
            <p:cNvSpPr/>
            <p:nvPr/>
          </p:nvSpPr>
          <p:spPr>
            <a:xfrm>
              <a:off x="1129" y="3098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1" name="Rectangle 25"/>
            <p:cNvSpPr/>
            <p:nvPr/>
          </p:nvSpPr>
          <p:spPr>
            <a:xfrm>
              <a:off x="720" y="292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9262" name="Rectangle 26"/>
            <p:cNvSpPr/>
            <p:nvPr/>
          </p:nvSpPr>
          <p:spPr>
            <a:xfrm>
              <a:off x="432" y="3264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[2]</a:t>
              </a:r>
            </a:p>
          </p:txBody>
        </p:sp>
        <p:sp>
          <p:nvSpPr>
            <p:cNvPr id="9263" name="Rectangle 27"/>
            <p:cNvSpPr/>
            <p:nvPr/>
          </p:nvSpPr>
          <p:spPr>
            <a:xfrm>
              <a:off x="1008" y="3264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[3]</a:t>
              </a:r>
            </a:p>
          </p:txBody>
        </p:sp>
        <p:sp>
          <p:nvSpPr>
            <p:cNvPr id="9264" name="Rectangle 28"/>
            <p:cNvSpPr/>
            <p:nvPr/>
          </p:nvSpPr>
          <p:spPr>
            <a:xfrm>
              <a:off x="144" y="3696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[4]</a:t>
              </a:r>
            </a:p>
          </p:txBody>
        </p:sp>
      </p:grpSp>
      <p:sp>
        <p:nvSpPr>
          <p:cNvPr id="27" name="Rectangle 29"/>
          <p:cNvSpPr/>
          <p:nvPr/>
        </p:nvSpPr>
        <p:spPr>
          <a:xfrm>
            <a:off x="5181600" y="2819400"/>
            <a:ext cx="18288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A min heap</a:t>
            </a:r>
          </a:p>
        </p:txBody>
      </p:sp>
      <p:grpSp>
        <p:nvGrpSpPr>
          <p:cNvPr id="28" name="Group 30"/>
          <p:cNvGrpSpPr/>
          <p:nvPr/>
        </p:nvGrpSpPr>
        <p:grpSpPr>
          <a:xfrm>
            <a:off x="3124200" y="914400"/>
            <a:ext cx="2133600" cy="381000"/>
            <a:chOff x="1968" y="2688"/>
            <a:chExt cx="1344" cy="240"/>
          </a:xfrm>
        </p:grpSpPr>
        <p:sp>
          <p:nvSpPr>
            <p:cNvPr id="9252" name="Rectangle 31"/>
            <p:cNvSpPr/>
            <p:nvPr/>
          </p:nvSpPr>
          <p:spPr>
            <a:xfrm>
              <a:off x="2160" y="2688"/>
              <a:ext cx="1152" cy="2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The largest key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53" name="Line 32"/>
            <p:cNvSpPr/>
            <p:nvPr/>
          </p:nvSpPr>
          <p:spPr>
            <a:xfrm flipH="1">
              <a:off x="1968" y="2784"/>
              <a:ext cx="192" cy="96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</p:grpSp>
      <p:grpSp>
        <p:nvGrpSpPr>
          <p:cNvPr id="31" name="Group 33"/>
          <p:cNvGrpSpPr/>
          <p:nvPr/>
        </p:nvGrpSpPr>
        <p:grpSpPr>
          <a:xfrm>
            <a:off x="6477000" y="914400"/>
            <a:ext cx="2133600" cy="381000"/>
            <a:chOff x="1968" y="2688"/>
            <a:chExt cx="1344" cy="240"/>
          </a:xfrm>
        </p:grpSpPr>
        <p:sp>
          <p:nvSpPr>
            <p:cNvPr id="9250" name="Rectangle 34"/>
            <p:cNvSpPr/>
            <p:nvPr/>
          </p:nvSpPr>
          <p:spPr>
            <a:xfrm>
              <a:off x="2160" y="2688"/>
              <a:ext cx="1152" cy="2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The smallest key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251" name="Line 35"/>
            <p:cNvSpPr/>
            <p:nvPr/>
          </p:nvSpPr>
          <p:spPr>
            <a:xfrm flipH="1">
              <a:off x="1968" y="2784"/>
              <a:ext cx="192" cy="96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sm" len="med"/>
            </a:ln>
          </p:spPr>
        </p:sp>
      </p:grpSp>
      <p:grpSp>
        <p:nvGrpSpPr>
          <p:cNvPr id="34" name="Group 4"/>
          <p:cNvGrpSpPr/>
          <p:nvPr/>
        </p:nvGrpSpPr>
        <p:grpSpPr>
          <a:xfrm>
            <a:off x="1371600" y="4191000"/>
            <a:ext cx="2133600" cy="1600200"/>
            <a:chOff x="144" y="2880"/>
            <a:chExt cx="1344" cy="1008"/>
          </a:xfrm>
        </p:grpSpPr>
        <p:sp>
          <p:nvSpPr>
            <p:cNvPr id="9239" name="Oval 5"/>
            <p:cNvSpPr/>
            <p:nvPr/>
          </p:nvSpPr>
          <p:spPr>
            <a:xfrm>
              <a:off x="960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9240" name="Oval 6"/>
            <p:cNvSpPr/>
            <p:nvPr/>
          </p:nvSpPr>
          <p:spPr>
            <a:xfrm>
              <a:off x="672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241" name="Oval 7"/>
            <p:cNvSpPr/>
            <p:nvPr/>
          </p:nvSpPr>
          <p:spPr>
            <a:xfrm>
              <a:off x="384" y="364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9242" name="Line 8"/>
            <p:cNvSpPr/>
            <p:nvPr/>
          </p:nvSpPr>
          <p:spPr>
            <a:xfrm flipH="1">
              <a:off x="553" y="3482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3" name="Line 9"/>
            <p:cNvSpPr/>
            <p:nvPr/>
          </p:nvSpPr>
          <p:spPr>
            <a:xfrm flipH="1">
              <a:off x="838" y="309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4" name="Oval 10"/>
            <p:cNvSpPr/>
            <p:nvPr/>
          </p:nvSpPr>
          <p:spPr>
            <a:xfrm flipH="1">
              <a:off x="1248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245" name="Line 11"/>
            <p:cNvSpPr/>
            <p:nvPr/>
          </p:nvSpPr>
          <p:spPr>
            <a:xfrm>
              <a:off x="1129" y="3098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6" name="Rectangle 12"/>
            <p:cNvSpPr/>
            <p:nvPr/>
          </p:nvSpPr>
          <p:spPr>
            <a:xfrm>
              <a:off x="720" y="292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9247" name="Rectangle 13"/>
            <p:cNvSpPr/>
            <p:nvPr/>
          </p:nvSpPr>
          <p:spPr>
            <a:xfrm>
              <a:off x="432" y="3264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[2]</a:t>
              </a:r>
            </a:p>
          </p:txBody>
        </p:sp>
        <p:sp>
          <p:nvSpPr>
            <p:cNvPr id="9248" name="Rectangle 14"/>
            <p:cNvSpPr/>
            <p:nvPr/>
          </p:nvSpPr>
          <p:spPr>
            <a:xfrm>
              <a:off x="1008" y="3264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[3]</a:t>
              </a:r>
            </a:p>
          </p:txBody>
        </p:sp>
        <p:sp>
          <p:nvSpPr>
            <p:cNvPr id="9249" name="Rectangle 15"/>
            <p:cNvSpPr/>
            <p:nvPr/>
          </p:nvSpPr>
          <p:spPr>
            <a:xfrm>
              <a:off x="144" y="3696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[4]</a:t>
              </a:r>
            </a:p>
          </p:txBody>
        </p:sp>
      </p:grpSp>
      <p:sp>
        <p:nvSpPr>
          <p:cNvPr id="46" name="Rectangle 16"/>
          <p:cNvSpPr/>
          <p:nvPr/>
        </p:nvSpPr>
        <p:spPr>
          <a:xfrm>
            <a:off x="1828800" y="5943600"/>
            <a:ext cx="18288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Not a max heap</a:t>
            </a:r>
          </a:p>
        </p:txBody>
      </p:sp>
      <p:grpSp>
        <p:nvGrpSpPr>
          <p:cNvPr id="47" name="Group 4"/>
          <p:cNvGrpSpPr/>
          <p:nvPr/>
        </p:nvGrpSpPr>
        <p:grpSpPr>
          <a:xfrm>
            <a:off x="5562600" y="4191000"/>
            <a:ext cx="1676400" cy="1644650"/>
            <a:chOff x="432" y="2880"/>
            <a:chExt cx="1056" cy="1036"/>
          </a:xfrm>
        </p:grpSpPr>
        <p:sp>
          <p:nvSpPr>
            <p:cNvPr id="9228" name="Oval 5"/>
            <p:cNvSpPr/>
            <p:nvPr/>
          </p:nvSpPr>
          <p:spPr>
            <a:xfrm>
              <a:off x="960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9229" name="Oval 6"/>
            <p:cNvSpPr/>
            <p:nvPr/>
          </p:nvSpPr>
          <p:spPr>
            <a:xfrm>
              <a:off x="672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9230" name="Oval 7"/>
            <p:cNvSpPr/>
            <p:nvPr/>
          </p:nvSpPr>
          <p:spPr>
            <a:xfrm>
              <a:off x="908" y="367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9231" name="Line 8"/>
            <p:cNvSpPr/>
            <p:nvPr/>
          </p:nvSpPr>
          <p:spPr>
            <a:xfrm>
              <a:off x="864" y="3498"/>
              <a:ext cx="95" cy="16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2" name="Line 9"/>
            <p:cNvSpPr/>
            <p:nvPr/>
          </p:nvSpPr>
          <p:spPr>
            <a:xfrm flipH="1">
              <a:off x="838" y="309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3" name="Oval 10"/>
            <p:cNvSpPr/>
            <p:nvPr/>
          </p:nvSpPr>
          <p:spPr>
            <a:xfrm flipH="1">
              <a:off x="1248" y="326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83</a:t>
              </a:r>
            </a:p>
          </p:txBody>
        </p:sp>
        <p:sp>
          <p:nvSpPr>
            <p:cNvPr id="9234" name="Line 11"/>
            <p:cNvSpPr/>
            <p:nvPr/>
          </p:nvSpPr>
          <p:spPr>
            <a:xfrm>
              <a:off x="1129" y="3098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5" name="Rectangle 12"/>
            <p:cNvSpPr/>
            <p:nvPr/>
          </p:nvSpPr>
          <p:spPr>
            <a:xfrm>
              <a:off x="720" y="292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9236" name="Rectangle 13"/>
            <p:cNvSpPr/>
            <p:nvPr/>
          </p:nvSpPr>
          <p:spPr>
            <a:xfrm>
              <a:off x="432" y="3264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[2]</a:t>
              </a:r>
            </a:p>
          </p:txBody>
        </p:sp>
        <p:sp>
          <p:nvSpPr>
            <p:cNvPr id="9237" name="Rectangle 14"/>
            <p:cNvSpPr/>
            <p:nvPr/>
          </p:nvSpPr>
          <p:spPr>
            <a:xfrm>
              <a:off x="1008" y="3264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[3]</a:t>
              </a:r>
            </a:p>
          </p:txBody>
        </p:sp>
        <p:sp>
          <p:nvSpPr>
            <p:cNvPr id="9238" name="Rectangle 15"/>
            <p:cNvSpPr/>
            <p:nvPr/>
          </p:nvSpPr>
          <p:spPr>
            <a:xfrm>
              <a:off x="668" y="3720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[5]</a:t>
              </a:r>
            </a:p>
          </p:txBody>
        </p:sp>
      </p:grpSp>
      <p:sp>
        <p:nvSpPr>
          <p:cNvPr id="59" name="Rectangle 16"/>
          <p:cNvSpPr/>
          <p:nvPr/>
        </p:nvSpPr>
        <p:spPr>
          <a:xfrm>
            <a:off x="5638800" y="5943600"/>
            <a:ext cx="18288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Not a min heap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46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495300" y="2438400"/>
            <a:ext cx="8153400" cy="41148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struct HeapStruct;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typedef struct HeapStruct * PriorityQueue;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struct HeapStruct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{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int Capacity;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int Size;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ElementType *Elements;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}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PriorityQueue  Initialize( </a:t>
            </a:r>
            <a:r>
              <a:rPr lang="en-US" altLang="zh-CN" sz="1800" b="1" dirty="0">
                <a:solidFill>
                  <a:srgbClr val="0000FF"/>
                </a:solidFill>
              </a:rPr>
              <a:t>int</a:t>
            </a:r>
            <a:r>
              <a:rPr lang="en-US" altLang="zh-CN" sz="1800" b="1" dirty="0"/>
              <a:t>  MaxElements 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void </a:t>
            </a:r>
            <a:r>
              <a:rPr lang="en-US" altLang="zh-CN" sz="1800" b="1" dirty="0"/>
              <a:t> Insert( ElementType  X,  PriorityQueue  H 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ElementType  DeleteMin( PriorityQueue  H 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           … …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533400" y="457200"/>
            <a:ext cx="8115300" cy="1446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Priority queue implemented with min heap</a:t>
            </a:r>
          </a:p>
        </p:txBody>
      </p:sp>
      <p:sp>
        <p:nvSpPr>
          <p:cNvPr id="13316" name="矩形 3"/>
          <p:cNvSpPr/>
          <p:nvPr/>
        </p:nvSpPr>
        <p:spPr>
          <a:xfrm>
            <a:off x="381000" y="1947863"/>
            <a:ext cx="299402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PriorityQueue ADT: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AutoShape 3"/>
          <p:cNvSpPr/>
          <p:nvPr/>
        </p:nvSpPr>
        <p:spPr>
          <a:xfrm>
            <a:off x="533400" y="533400"/>
            <a:ext cx="8153400" cy="52578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PriorityQueue  Initialize( </a:t>
            </a:r>
            <a:r>
              <a:rPr lang="en-US" altLang="zh-CN" sz="1800" b="1" dirty="0">
                <a:solidFill>
                  <a:srgbClr val="0000FF"/>
                </a:solidFill>
              </a:rPr>
              <a:t>int</a:t>
            </a:r>
            <a:r>
              <a:rPr lang="en-US" altLang="zh-CN" sz="1800" b="1" dirty="0"/>
              <a:t>  MaxElements 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{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PriorityQueue  H;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H = malloc( </a:t>
            </a:r>
            <a:r>
              <a:rPr lang="en-US" altLang="zh-CN" sz="1800" b="1" dirty="0">
                <a:solidFill>
                  <a:srgbClr val="0000FF"/>
                </a:solidFill>
              </a:rPr>
              <a:t>sizeof </a:t>
            </a:r>
            <a:r>
              <a:rPr lang="en-US" altLang="zh-CN" sz="1800" b="1" dirty="0"/>
              <a:t>( </a:t>
            </a:r>
            <a:r>
              <a:rPr lang="en-US" altLang="zh-CN" sz="1800" b="1" dirty="0">
                <a:solidFill>
                  <a:srgbClr val="0000FF"/>
                </a:solidFill>
              </a:rPr>
              <a:t>struct</a:t>
            </a:r>
            <a:r>
              <a:rPr lang="en-US" altLang="zh-CN" sz="1800" b="1" dirty="0"/>
              <a:t> HeapStruct )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</a:t>
            </a:r>
            <a:r>
              <a:rPr lang="en-US" altLang="zh-CN" sz="1800" b="1" dirty="0">
                <a:solidFill>
                  <a:srgbClr val="0000FF"/>
                </a:solidFill>
              </a:rPr>
              <a:t>if</a:t>
            </a:r>
            <a:r>
              <a:rPr lang="en-US" altLang="zh-CN" sz="1800" b="1" dirty="0"/>
              <a:t> ( H ==NULL 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	</a:t>
            </a:r>
            <a:r>
              <a:rPr lang="en-US" altLang="zh-CN" sz="1800" b="1" dirty="0">
                <a:solidFill>
                  <a:srgbClr val="0000FF"/>
                </a:solidFill>
              </a:rPr>
              <a:t>return  </a:t>
            </a:r>
            <a:r>
              <a:rPr lang="en-US" altLang="zh-CN" sz="1800" b="1" dirty="0"/>
              <a:t>FatalError( "Out of space!!!"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</a:t>
            </a:r>
            <a:r>
              <a:rPr lang="en-US" altLang="zh-CN" sz="1800" b="1" dirty="0">
                <a:solidFill>
                  <a:srgbClr val="0000FF"/>
                </a:solidFill>
              </a:rPr>
              <a:t>/* Allocate the array plus one extra for sentinel */</a:t>
            </a:r>
            <a:r>
              <a:rPr lang="en-US" altLang="zh-CN" sz="1800" b="1" dirty="0"/>
              <a:t>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H-&gt;Elements = malloc(( </a:t>
            </a:r>
            <a:r>
              <a:rPr lang="en-US" altLang="zh-CN" sz="1800" b="1" dirty="0">
                <a:solidFill>
                  <a:srgbClr val="FF0000"/>
                </a:solidFill>
              </a:rPr>
              <a:t>MaxElements + 1 </a:t>
            </a:r>
            <a:r>
              <a:rPr lang="en-US" altLang="zh-CN" sz="1800" b="1" dirty="0"/>
              <a:t>) * </a:t>
            </a:r>
            <a:r>
              <a:rPr lang="en-US" altLang="zh-CN" sz="1800" b="1" dirty="0">
                <a:solidFill>
                  <a:srgbClr val="0000FF"/>
                </a:solidFill>
              </a:rPr>
              <a:t>sizeof</a:t>
            </a:r>
            <a:r>
              <a:rPr lang="en-US" altLang="zh-CN" sz="1800" b="1" dirty="0"/>
              <a:t>( ElementType ));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  if</a:t>
            </a:r>
            <a:r>
              <a:rPr lang="en-US" altLang="zh-CN" sz="1800" b="1" dirty="0"/>
              <a:t> ( H-&gt;Elements == NULL 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	</a:t>
            </a:r>
            <a:r>
              <a:rPr lang="en-US" altLang="zh-CN" sz="1800" b="1" dirty="0">
                <a:solidFill>
                  <a:srgbClr val="0000FF"/>
                </a:solidFill>
              </a:rPr>
              <a:t>return</a:t>
            </a:r>
            <a:r>
              <a:rPr lang="en-US" altLang="zh-CN" sz="1800" b="1" dirty="0"/>
              <a:t>  FatalError( "Out of space!!!"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H-&gt;Capacity = MaxElements;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H-&gt;Size = 0;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H-&gt;Elements[ 0 ] = MinData;  </a:t>
            </a:r>
            <a:r>
              <a:rPr lang="en-US" altLang="zh-CN" sz="1800" b="1" dirty="0">
                <a:solidFill>
                  <a:srgbClr val="0000FF"/>
                </a:solidFill>
              </a:rPr>
              <a:t>/* set the sentinel</a:t>
            </a:r>
            <a:r>
              <a:rPr lang="zh-CN" altLang="en-US" sz="1800" b="1" dirty="0">
                <a:solidFill>
                  <a:srgbClr val="0000FF"/>
                </a:solidFill>
              </a:rPr>
              <a:t>（哨兵）</a:t>
            </a:r>
            <a:r>
              <a:rPr lang="en-US" altLang="zh-CN" sz="1800" b="1" dirty="0">
                <a:solidFill>
                  <a:srgbClr val="0000FF"/>
                </a:solidFill>
              </a:rPr>
              <a:t>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</a:t>
            </a:r>
            <a:r>
              <a:rPr lang="en-US" altLang="zh-CN" sz="1800" b="1" dirty="0">
                <a:solidFill>
                  <a:srgbClr val="0000FF"/>
                </a:solidFill>
              </a:rPr>
              <a:t>return</a:t>
            </a:r>
            <a:r>
              <a:rPr lang="en-US" altLang="zh-CN" sz="1800" b="1" dirty="0">
                <a:solidFill>
                  <a:schemeClr val="hlink"/>
                </a:solidFill>
              </a:rPr>
              <a:t> </a:t>
            </a:r>
            <a:r>
              <a:rPr lang="en-US" altLang="zh-CN" sz="1800" b="1" dirty="0"/>
              <a:t> H;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/>
          <p:nvPr/>
        </p:nvSpPr>
        <p:spPr>
          <a:xfrm>
            <a:off x="2286000" y="152400"/>
            <a:ext cx="5486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Basic Heap Operations</a:t>
            </a:r>
          </a:p>
        </p:txBody>
      </p:sp>
      <p:sp>
        <p:nvSpPr>
          <p:cNvPr id="22532" name="Text Box 4"/>
          <p:cNvSpPr txBox="1"/>
          <p:nvPr/>
        </p:nvSpPr>
        <p:spPr>
          <a:xfrm>
            <a:off x="609600" y="1066800"/>
            <a:ext cx="21336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  insertion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533" name="Group 5"/>
          <p:cNvGrpSpPr/>
          <p:nvPr/>
        </p:nvGrpSpPr>
        <p:grpSpPr>
          <a:xfrm>
            <a:off x="920750" y="2212975"/>
            <a:ext cx="1905000" cy="1905000"/>
            <a:chOff x="1200" y="2784"/>
            <a:chExt cx="1200" cy="1200"/>
          </a:xfrm>
        </p:grpSpPr>
        <p:sp>
          <p:nvSpPr>
            <p:cNvPr id="15371" name="Oval 6"/>
            <p:cNvSpPr/>
            <p:nvPr/>
          </p:nvSpPr>
          <p:spPr>
            <a:xfrm>
              <a:off x="1872" y="2784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5372" name="Oval 7"/>
            <p:cNvSpPr/>
            <p:nvPr/>
          </p:nvSpPr>
          <p:spPr>
            <a:xfrm>
              <a:off x="1488" y="316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5373" name="Oval 8"/>
            <p:cNvSpPr/>
            <p:nvPr/>
          </p:nvSpPr>
          <p:spPr>
            <a:xfrm>
              <a:off x="1200" y="355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5374" name="Line 9"/>
            <p:cNvSpPr/>
            <p:nvPr/>
          </p:nvSpPr>
          <p:spPr>
            <a:xfrm flipH="1">
              <a:off x="1369" y="338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5" name="Line 10"/>
            <p:cNvSpPr/>
            <p:nvPr/>
          </p:nvSpPr>
          <p:spPr>
            <a:xfrm flipH="1">
              <a:off x="1654" y="2976"/>
              <a:ext cx="218" cy="21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6" name="Oval 11"/>
            <p:cNvSpPr/>
            <p:nvPr/>
          </p:nvSpPr>
          <p:spPr>
            <a:xfrm flipH="1">
              <a:off x="2160" y="3168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5377" name="Line 12"/>
            <p:cNvSpPr/>
            <p:nvPr/>
          </p:nvSpPr>
          <p:spPr>
            <a:xfrm>
              <a:off x="2085" y="2976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8" name="Rectangle 13"/>
            <p:cNvSpPr/>
            <p:nvPr/>
          </p:nvSpPr>
          <p:spPr>
            <a:xfrm>
              <a:off x="1632" y="2832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15379" name="Rectangle 14"/>
            <p:cNvSpPr/>
            <p:nvPr/>
          </p:nvSpPr>
          <p:spPr>
            <a:xfrm>
              <a:off x="1248" y="316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[2]</a:t>
              </a:r>
            </a:p>
          </p:txBody>
        </p:sp>
        <p:sp>
          <p:nvSpPr>
            <p:cNvPr id="15380" name="Rectangle 15"/>
            <p:cNvSpPr/>
            <p:nvPr/>
          </p:nvSpPr>
          <p:spPr>
            <a:xfrm>
              <a:off x="1920" y="316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[3]</a:t>
              </a:r>
            </a:p>
          </p:txBody>
        </p:sp>
        <p:sp>
          <p:nvSpPr>
            <p:cNvPr id="15381" name="Rectangle 16"/>
            <p:cNvSpPr/>
            <p:nvPr/>
          </p:nvSpPr>
          <p:spPr>
            <a:xfrm>
              <a:off x="1200" y="3840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[4]</a:t>
              </a:r>
            </a:p>
          </p:txBody>
        </p:sp>
        <p:sp>
          <p:nvSpPr>
            <p:cNvPr id="15382" name="Oval 17"/>
            <p:cNvSpPr/>
            <p:nvPr/>
          </p:nvSpPr>
          <p:spPr>
            <a:xfrm flipH="1">
              <a:off x="1680" y="355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18</a:t>
              </a:r>
            </a:p>
          </p:txBody>
        </p:sp>
        <p:sp>
          <p:nvSpPr>
            <p:cNvPr id="15383" name="Line 18"/>
            <p:cNvSpPr/>
            <p:nvPr/>
          </p:nvSpPr>
          <p:spPr>
            <a:xfrm>
              <a:off x="1657" y="3386"/>
              <a:ext cx="145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84" name="Rectangle 19"/>
            <p:cNvSpPr/>
            <p:nvPr/>
          </p:nvSpPr>
          <p:spPr>
            <a:xfrm>
              <a:off x="1680" y="3840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[5]</a:t>
              </a:r>
            </a:p>
          </p:txBody>
        </p:sp>
      </p:grpSp>
      <p:sp>
        <p:nvSpPr>
          <p:cNvPr id="22551" name="Text Box 23"/>
          <p:cNvSpPr txBox="1"/>
          <p:nvPr/>
        </p:nvSpPr>
        <p:spPr>
          <a:xfrm>
            <a:off x="762000" y="1600200"/>
            <a:ext cx="3352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 </a:t>
            </a:r>
            <a:r>
              <a:rPr lang="en-US" altLang="zh-CN" sz="2400" b="1" dirty="0"/>
              <a:t>Sketch of the idea:</a:t>
            </a:r>
          </a:p>
        </p:txBody>
      </p:sp>
      <p:sp>
        <p:nvSpPr>
          <p:cNvPr id="22552" name="AutoShape 24"/>
          <p:cNvSpPr/>
          <p:nvPr/>
        </p:nvSpPr>
        <p:spPr>
          <a:xfrm>
            <a:off x="3810000" y="2209800"/>
            <a:ext cx="4495800" cy="1676400"/>
          </a:xfrm>
          <a:prstGeom prst="wedgeRoundRectCallout">
            <a:avLst>
              <a:gd name="adj1" fmla="val -78144"/>
              <a:gd name="adj2" fmla="val 32574"/>
              <a:gd name="adj3" fmla="val 16667"/>
            </a:avLst>
          </a:prstGeom>
          <a:gradFill rotWithShape="0">
            <a:gsLst>
              <a:gs pos="0">
                <a:srgbClr val="C2C2C2"/>
              </a:gs>
              <a:gs pos="50000">
                <a:srgbClr val="FFFFFF"/>
              </a:gs>
              <a:gs pos="100000">
                <a:srgbClr val="C2C2C2"/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The only possible position 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for a new node 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since a heap must be 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a complete binary tree.</a:t>
            </a:r>
          </a:p>
        </p:txBody>
      </p:sp>
      <p:sp>
        <p:nvSpPr>
          <p:cNvPr id="22553" name="Text Box 25"/>
          <p:cNvSpPr txBox="1"/>
          <p:nvPr/>
        </p:nvSpPr>
        <p:spPr>
          <a:xfrm>
            <a:off x="990600" y="5403215"/>
            <a:ext cx="3352800" cy="4603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Case 1 :  new_item = 9</a:t>
            </a:r>
          </a:p>
        </p:txBody>
      </p:sp>
      <p:sp>
        <p:nvSpPr>
          <p:cNvPr id="22560" name="Text Box 32"/>
          <p:cNvSpPr txBox="1"/>
          <p:nvPr/>
        </p:nvSpPr>
        <p:spPr>
          <a:xfrm>
            <a:off x="991235" y="5791200"/>
            <a:ext cx="3352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Case 2 :  new_item = 17</a:t>
            </a:r>
          </a:p>
        </p:txBody>
      </p:sp>
      <p:sp>
        <p:nvSpPr>
          <p:cNvPr id="22573" name="Text Box 45"/>
          <p:cNvSpPr txBox="1"/>
          <p:nvPr/>
        </p:nvSpPr>
        <p:spPr>
          <a:xfrm>
            <a:off x="990600" y="6172200"/>
            <a:ext cx="3352800" cy="4603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Case 3 :  new_item = 13</a:t>
            </a:r>
          </a:p>
        </p:txBody>
      </p:sp>
      <p:sp>
        <p:nvSpPr>
          <p:cNvPr id="22587" name="AutoShape 59"/>
          <p:cNvSpPr/>
          <p:nvPr/>
        </p:nvSpPr>
        <p:spPr>
          <a:xfrm>
            <a:off x="5029200" y="5791200"/>
            <a:ext cx="2210435" cy="782320"/>
          </a:xfrm>
          <a:prstGeom prst="wedgeEllipseCallout">
            <a:avLst>
              <a:gd name="adj1" fmla="val -92717"/>
              <a:gd name="adj2" fmla="val -69724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Percolate  (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渗透）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up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139950" y="3203575"/>
            <a:ext cx="421005" cy="914400"/>
            <a:chOff x="3370" y="5045"/>
            <a:chExt cx="663" cy="1440"/>
          </a:xfrm>
        </p:grpSpPr>
        <p:sp>
          <p:nvSpPr>
            <p:cNvPr id="2" name="Oval 20"/>
            <p:cNvSpPr/>
            <p:nvPr/>
          </p:nvSpPr>
          <p:spPr>
            <a:xfrm flipH="1">
              <a:off x="3370" y="5405"/>
              <a:ext cx="600" cy="600"/>
            </a:xfrm>
            <a:prstGeom prst="ellipse">
              <a:avLst/>
            </a:prstGeom>
            <a:solidFill>
              <a:srgbClr val="C0C0C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21"/>
            <p:cNvSpPr/>
            <p:nvPr/>
          </p:nvSpPr>
          <p:spPr>
            <a:xfrm>
              <a:off x="3370" y="6125"/>
              <a:ext cx="600" cy="36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[6]</a:t>
              </a:r>
            </a:p>
          </p:txBody>
        </p:sp>
        <p:sp>
          <p:nvSpPr>
            <p:cNvPr id="4" name="Line 22"/>
            <p:cNvSpPr/>
            <p:nvPr/>
          </p:nvSpPr>
          <p:spPr>
            <a:xfrm flipH="1">
              <a:off x="3793" y="5045"/>
              <a:ext cx="240" cy="42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6" name="表格 5"/>
          <p:cNvGraphicFramePr/>
          <p:nvPr/>
        </p:nvGraphicFramePr>
        <p:xfrm>
          <a:off x="1219200" y="4611370"/>
          <a:ext cx="5242560" cy="41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13"/>
          <p:cNvSpPr/>
          <p:nvPr/>
        </p:nvSpPr>
        <p:spPr>
          <a:xfrm>
            <a:off x="1268095" y="4991735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[0]</a:t>
            </a:r>
          </a:p>
        </p:txBody>
      </p:sp>
      <p:sp>
        <p:nvSpPr>
          <p:cNvPr id="8" name="Rectangle 13"/>
          <p:cNvSpPr/>
          <p:nvPr/>
        </p:nvSpPr>
        <p:spPr>
          <a:xfrm>
            <a:off x="1708150" y="4991735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[1]</a:t>
            </a:r>
          </a:p>
        </p:txBody>
      </p:sp>
      <p:sp>
        <p:nvSpPr>
          <p:cNvPr id="9" name="Rectangle 13"/>
          <p:cNvSpPr/>
          <p:nvPr/>
        </p:nvSpPr>
        <p:spPr>
          <a:xfrm>
            <a:off x="2150745" y="4993005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[2]</a:t>
            </a:r>
          </a:p>
        </p:txBody>
      </p:sp>
      <p:sp>
        <p:nvSpPr>
          <p:cNvPr id="10" name="Rectangle 13"/>
          <p:cNvSpPr/>
          <p:nvPr/>
        </p:nvSpPr>
        <p:spPr>
          <a:xfrm>
            <a:off x="2590800" y="4993005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[3]</a:t>
            </a:r>
          </a:p>
        </p:txBody>
      </p:sp>
      <p:sp>
        <p:nvSpPr>
          <p:cNvPr id="11" name="Rectangle 13"/>
          <p:cNvSpPr/>
          <p:nvPr/>
        </p:nvSpPr>
        <p:spPr>
          <a:xfrm>
            <a:off x="2981960" y="4992370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[4]</a:t>
            </a:r>
          </a:p>
        </p:txBody>
      </p:sp>
      <p:sp>
        <p:nvSpPr>
          <p:cNvPr id="12" name="Rectangle 13"/>
          <p:cNvSpPr/>
          <p:nvPr/>
        </p:nvSpPr>
        <p:spPr>
          <a:xfrm>
            <a:off x="3422015" y="4992370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[5]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864610" y="4993640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[6]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4665" y="4993640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[7]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0" dur="500"/>
                                        <p:tgtEl>
                                          <p:spTgt spid="225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  <p:bldP spid="22532" grpId="0"/>
      <p:bldP spid="22551" grpId="0"/>
      <p:bldP spid="22552" grpId="0" bldLvl="0" animBg="1"/>
      <p:bldP spid="22553" grpId="0"/>
      <p:bldP spid="22560" grpId="0"/>
      <p:bldP spid="22573" grpId="0"/>
      <p:bldP spid="22587" grpId="0" bldLvl="0" animBg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AutoShape 3"/>
          <p:cNvSpPr/>
          <p:nvPr/>
        </p:nvSpPr>
        <p:spPr>
          <a:xfrm>
            <a:off x="533400" y="533400"/>
            <a:ext cx="8153400" cy="47244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/* H-&gt;Element[ 0 ] is a sentinel */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void </a:t>
            </a:r>
            <a:r>
              <a:rPr lang="en-US" altLang="zh-CN" sz="1800" b="1" dirty="0"/>
              <a:t> Insert( ElementType  X,  PriorityQueue  H 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{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  int</a:t>
            </a:r>
            <a:r>
              <a:rPr lang="en-US" altLang="zh-CN" sz="1800" b="1" dirty="0"/>
              <a:t>  i;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  if</a:t>
            </a:r>
            <a:r>
              <a:rPr lang="en-US" altLang="zh-CN" sz="1800" b="1" dirty="0"/>
              <a:t> ( IsFull( H ) ) {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	Error( "Priority queue is full"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	</a:t>
            </a:r>
            <a:r>
              <a:rPr lang="en-US" altLang="zh-CN" sz="1800" b="1" dirty="0">
                <a:solidFill>
                  <a:srgbClr val="0000FF"/>
                </a:solidFill>
              </a:rPr>
              <a:t>return</a:t>
            </a:r>
            <a:r>
              <a:rPr lang="en-US" altLang="zh-CN" sz="1800" b="1" dirty="0"/>
              <a:t>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}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</a:t>
            </a:r>
            <a:r>
              <a:rPr lang="en-US" altLang="zh-CN" sz="1800" b="1" dirty="0">
                <a:solidFill>
                  <a:srgbClr val="0000FF"/>
                </a:solidFill>
              </a:rPr>
              <a:t>for</a:t>
            </a:r>
            <a:r>
              <a:rPr lang="en-US" altLang="zh-CN" sz="1800" b="1" dirty="0">
                <a:solidFill>
                  <a:schemeClr val="hlink"/>
                </a:solidFill>
              </a:rPr>
              <a:t> </a:t>
            </a:r>
            <a:r>
              <a:rPr lang="en-US" altLang="zh-CN" sz="1800" b="1" dirty="0"/>
              <a:t>( i = ++H-&gt;Size; H-&gt;Elements[ i / 2 ] &gt; X; i /= 2 )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	H-&gt;Elements[ i ] = H-&gt;Elements[ i / 2 ];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H-&gt;Elements[ i ] = X;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}</a:t>
            </a:r>
          </a:p>
        </p:txBody>
      </p:sp>
      <p:sp>
        <p:nvSpPr>
          <p:cNvPr id="23556" name="AutoShape 4"/>
          <p:cNvSpPr/>
          <p:nvPr/>
        </p:nvSpPr>
        <p:spPr>
          <a:xfrm>
            <a:off x="5257800" y="1447800"/>
            <a:ext cx="2819400" cy="1219200"/>
          </a:xfrm>
          <a:prstGeom prst="wedgeEllipseCallout">
            <a:avLst>
              <a:gd name="adj1" fmla="val -87444"/>
              <a:gd name="adj2" fmla="val 117838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Percolate up</a:t>
            </a:r>
          </a:p>
        </p:txBody>
      </p:sp>
      <p:sp>
        <p:nvSpPr>
          <p:cNvPr id="23557" name="AutoShape 5"/>
          <p:cNvSpPr/>
          <p:nvPr/>
        </p:nvSpPr>
        <p:spPr>
          <a:xfrm>
            <a:off x="4953000" y="3886200"/>
            <a:ext cx="2819400" cy="1447800"/>
          </a:xfrm>
          <a:prstGeom prst="wedgeEllipseCallout">
            <a:avLst>
              <a:gd name="adj1" fmla="val -97296"/>
              <a:gd name="adj2" fmla="val -43861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Faster than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swap</a:t>
            </a:r>
          </a:p>
        </p:txBody>
      </p:sp>
      <p:sp>
        <p:nvSpPr>
          <p:cNvPr id="23558" name="AutoShape 6"/>
          <p:cNvSpPr/>
          <p:nvPr/>
        </p:nvSpPr>
        <p:spPr>
          <a:xfrm>
            <a:off x="4267200" y="1219200"/>
            <a:ext cx="4419600" cy="1752600"/>
          </a:xfrm>
          <a:prstGeom prst="wedgeEllipseCallout">
            <a:avLst>
              <a:gd name="adj1" fmla="val -29130"/>
              <a:gd name="adj2" fmla="val 82426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/>
              <a:t>H-&gt;Element[ 0 ] is a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sentinel</a:t>
            </a: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（哨兵）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that is no larger than the minimum element in the heap.</a:t>
            </a:r>
          </a:p>
        </p:txBody>
      </p:sp>
      <p:sp>
        <p:nvSpPr>
          <p:cNvPr id="23559" name="Text Box 7"/>
          <p:cNvSpPr txBox="1"/>
          <p:nvPr/>
        </p:nvSpPr>
        <p:spPr>
          <a:xfrm>
            <a:off x="2667000" y="6194425"/>
            <a:ext cx="4572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worst case:T</a:t>
            </a:r>
            <a:r>
              <a:rPr lang="en-US" altLang="zh-CN" sz="2400" b="1" dirty="0">
                <a:latin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O ( log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23561" name="Text Box 9"/>
          <p:cNvSpPr txBox="1"/>
          <p:nvPr/>
        </p:nvSpPr>
        <p:spPr>
          <a:xfrm>
            <a:off x="228600" y="5638800"/>
            <a:ext cx="312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Time complexity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23562" name="Text Box 10"/>
          <p:cNvSpPr txBox="1"/>
          <p:nvPr/>
        </p:nvSpPr>
        <p:spPr>
          <a:xfrm>
            <a:off x="2667000" y="5661025"/>
            <a:ext cx="4572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best case:T</a:t>
            </a:r>
            <a:r>
              <a:rPr lang="en-US" altLang="zh-CN" sz="2400" b="1" dirty="0">
                <a:latin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O ( 1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/>
      <p:bldP spid="23556" grpId="0" animBg="1"/>
      <p:bldP spid="23557" grpId="0" animBg="1"/>
      <p:bldP spid="23558" grpId="0" animBg="1"/>
      <p:bldP spid="23559" grpId="0"/>
      <p:bldP spid="23561" grpId="0"/>
      <p:bldP spid="235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/>
          <p:nvPr/>
        </p:nvSpPr>
        <p:spPr>
          <a:xfrm>
            <a:off x="533400" y="304800"/>
            <a:ext cx="22860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DeleteMin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23" name="Text Box 47"/>
          <p:cNvSpPr txBox="1"/>
          <p:nvPr/>
        </p:nvSpPr>
        <p:spPr>
          <a:xfrm>
            <a:off x="609600" y="1143000"/>
            <a:ext cx="3429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 </a:t>
            </a:r>
            <a:r>
              <a:rPr lang="en-US" altLang="zh-CN" sz="2400" b="1" dirty="0"/>
              <a:t>Sketch of the idea:</a:t>
            </a:r>
          </a:p>
        </p:txBody>
      </p:sp>
      <p:grpSp>
        <p:nvGrpSpPr>
          <p:cNvPr id="24624" name="Group 48"/>
          <p:cNvGrpSpPr/>
          <p:nvPr/>
        </p:nvGrpSpPr>
        <p:grpSpPr>
          <a:xfrm>
            <a:off x="676275" y="1905000"/>
            <a:ext cx="1905000" cy="1905000"/>
            <a:chOff x="480" y="1152"/>
            <a:chExt cx="1200" cy="1200"/>
          </a:xfrm>
        </p:grpSpPr>
        <p:sp>
          <p:nvSpPr>
            <p:cNvPr id="17439" name="Oval 49"/>
            <p:cNvSpPr/>
            <p:nvPr/>
          </p:nvSpPr>
          <p:spPr>
            <a:xfrm>
              <a:off x="1152" y="115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7440" name="Oval 50"/>
            <p:cNvSpPr/>
            <p:nvPr/>
          </p:nvSpPr>
          <p:spPr>
            <a:xfrm>
              <a:off x="768" y="153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7441" name="Oval 51"/>
            <p:cNvSpPr/>
            <p:nvPr/>
          </p:nvSpPr>
          <p:spPr>
            <a:xfrm>
              <a:off x="480" y="19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7442" name="Line 52"/>
            <p:cNvSpPr/>
            <p:nvPr/>
          </p:nvSpPr>
          <p:spPr>
            <a:xfrm flipH="1">
              <a:off x="649" y="1754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3" name="Line 53"/>
            <p:cNvSpPr/>
            <p:nvPr/>
          </p:nvSpPr>
          <p:spPr>
            <a:xfrm flipH="1">
              <a:off x="934" y="1344"/>
              <a:ext cx="218" cy="21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4" name="Oval 54"/>
            <p:cNvSpPr/>
            <p:nvPr/>
          </p:nvSpPr>
          <p:spPr>
            <a:xfrm flipH="1">
              <a:off x="1440" y="153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7445" name="Line 55"/>
            <p:cNvSpPr/>
            <p:nvPr/>
          </p:nvSpPr>
          <p:spPr>
            <a:xfrm>
              <a:off x="1365" y="1344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6" name="Rectangle 56"/>
            <p:cNvSpPr/>
            <p:nvPr/>
          </p:nvSpPr>
          <p:spPr>
            <a:xfrm>
              <a:off x="912" y="1200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17447" name="Rectangle 57"/>
            <p:cNvSpPr/>
            <p:nvPr/>
          </p:nvSpPr>
          <p:spPr>
            <a:xfrm>
              <a:off x="528" y="1536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[2]</a:t>
              </a:r>
            </a:p>
          </p:txBody>
        </p:sp>
        <p:sp>
          <p:nvSpPr>
            <p:cNvPr id="17448" name="Rectangle 58"/>
            <p:cNvSpPr/>
            <p:nvPr/>
          </p:nvSpPr>
          <p:spPr>
            <a:xfrm>
              <a:off x="1200" y="1536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[3]</a:t>
              </a:r>
            </a:p>
          </p:txBody>
        </p:sp>
        <p:sp>
          <p:nvSpPr>
            <p:cNvPr id="17449" name="Rectangle 59"/>
            <p:cNvSpPr/>
            <p:nvPr/>
          </p:nvSpPr>
          <p:spPr>
            <a:xfrm>
              <a:off x="480" y="220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[4]</a:t>
              </a:r>
            </a:p>
          </p:txBody>
        </p:sp>
        <p:sp>
          <p:nvSpPr>
            <p:cNvPr id="17450" name="Oval 60"/>
            <p:cNvSpPr/>
            <p:nvPr/>
          </p:nvSpPr>
          <p:spPr>
            <a:xfrm flipH="1">
              <a:off x="960" y="19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18</a:t>
              </a:r>
            </a:p>
          </p:txBody>
        </p:sp>
        <p:sp>
          <p:nvSpPr>
            <p:cNvPr id="17451" name="Line 61"/>
            <p:cNvSpPr/>
            <p:nvPr/>
          </p:nvSpPr>
          <p:spPr>
            <a:xfrm>
              <a:off x="937" y="1754"/>
              <a:ext cx="145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2" name="Rectangle 62"/>
            <p:cNvSpPr/>
            <p:nvPr/>
          </p:nvSpPr>
          <p:spPr>
            <a:xfrm>
              <a:off x="960" y="220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[5]</a:t>
              </a:r>
            </a:p>
          </p:txBody>
        </p:sp>
      </p:grpSp>
      <p:sp>
        <p:nvSpPr>
          <p:cNvPr id="24639" name="Oval 63"/>
          <p:cNvSpPr/>
          <p:nvPr/>
        </p:nvSpPr>
        <p:spPr>
          <a:xfrm>
            <a:off x="1447800" y="3124200"/>
            <a:ext cx="381000" cy="381000"/>
          </a:xfrm>
          <a:prstGeom prst="ellipse">
            <a:avLst/>
          </a:prstGeom>
          <a:solidFill>
            <a:srgbClr val="C0C0C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4640" name="AutoShape 64"/>
          <p:cNvSpPr/>
          <p:nvPr/>
        </p:nvSpPr>
        <p:spPr>
          <a:xfrm>
            <a:off x="3429000" y="1752600"/>
            <a:ext cx="3733800" cy="1600200"/>
          </a:xfrm>
          <a:prstGeom prst="wedgeRoundRectCallout">
            <a:avLst>
              <a:gd name="adj1" fmla="val -92644"/>
              <a:gd name="adj2" fmla="val 45537"/>
              <a:gd name="adj3" fmla="val 16667"/>
            </a:avLst>
          </a:prstGeom>
          <a:gradFill rotWithShape="0">
            <a:gsLst>
              <a:gs pos="0">
                <a:srgbClr val="E2E2E2"/>
              </a:gs>
              <a:gs pos="50000">
                <a:srgbClr val="FFFFFF"/>
              </a:gs>
              <a:gs pos="100000">
                <a:srgbClr val="E2E2E2"/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The node which must be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removed to keep a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complete binary tree.</a:t>
            </a:r>
          </a:p>
        </p:txBody>
      </p:sp>
      <p:sp>
        <p:nvSpPr>
          <p:cNvPr id="24641" name="Oval 65"/>
          <p:cNvSpPr/>
          <p:nvPr/>
        </p:nvSpPr>
        <p:spPr>
          <a:xfrm>
            <a:off x="1747838" y="190500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4642" name="Oval 66"/>
          <p:cNvSpPr/>
          <p:nvPr/>
        </p:nvSpPr>
        <p:spPr>
          <a:xfrm>
            <a:off x="1747838" y="190500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4643" name="Text Box 67"/>
          <p:cNvSpPr txBox="1"/>
          <p:nvPr/>
        </p:nvSpPr>
        <p:spPr>
          <a:xfrm>
            <a:off x="2895600" y="1828800"/>
            <a:ext cx="3810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  move 18 up to the root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644" name="Oval 68"/>
          <p:cNvSpPr/>
          <p:nvPr/>
        </p:nvSpPr>
        <p:spPr>
          <a:xfrm>
            <a:off x="1295400" y="2819400"/>
            <a:ext cx="685800" cy="1143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4645" name="Oval 69"/>
          <p:cNvSpPr/>
          <p:nvPr/>
        </p:nvSpPr>
        <p:spPr>
          <a:xfrm>
            <a:off x="1747838" y="1905000"/>
            <a:ext cx="381000" cy="38100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18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646" name="Text Box 70"/>
          <p:cNvSpPr txBox="1"/>
          <p:nvPr/>
        </p:nvSpPr>
        <p:spPr>
          <a:xfrm>
            <a:off x="2895600" y="2590800"/>
            <a:ext cx="4343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  find the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smaller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child of 18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647" name="Oval 71"/>
          <p:cNvSpPr/>
          <p:nvPr/>
        </p:nvSpPr>
        <p:spPr>
          <a:xfrm>
            <a:off x="1143000" y="251460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4648" name="Group 72"/>
          <p:cNvGrpSpPr/>
          <p:nvPr/>
        </p:nvGrpSpPr>
        <p:grpSpPr>
          <a:xfrm>
            <a:off x="7010400" y="2514600"/>
            <a:ext cx="1447800" cy="457200"/>
            <a:chOff x="3024" y="2832"/>
            <a:chExt cx="912" cy="288"/>
          </a:xfrm>
        </p:grpSpPr>
        <p:sp>
          <p:nvSpPr>
            <p:cNvPr id="17436" name="Oval 73"/>
            <p:cNvSpPr/>
            <p:nvPr/>
          </p:nvSpPr>
          <p:spPr>
            <a:xfrm>
              <a:off x="3024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7437" name="Oval 74"/>
            <p:cNvSpPr/>
            <p:nvPr/>
          </p:nvSpPr>
          <p:spPr>
            <a:xfrm>
              <a:off x="3696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18</a:t>
              </a:r>
            </a:p>
          </p:txBody>
        </p:sp>
        <p:sp>
          <p:nvSpPr>
            <p:cNvPr id="17438" name="Text Box 75"/>
            <p:cNvSpPr txBox="1"/>
            <p:nvPr/>
          </p:nvSpPr>
          <p:spPr>
            <a:xfrm>
              <a:off x="3312" y="2832"/>
              <a:ext cx="33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&lt;</a:t>
              </a:r>
            </a:p>
          </p:txBody>
        </p:sp>
      </p:grpSp>
      <p:sp>
        <p:nvSpPr>
          <p:cNvPr id="24652" name="Oval 76"/>
          <p:cNvSpPr/>
          <p:nvPr/>
        </p:nvSpPr>
        <p:spPr>
          <a:xfrm>
            <a:off x="1143000" y="2514600"/>
            <a:ext cx="381000" cy="38100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24653" name="Oval 77"/>
          <p:cNvSpPr/>
          <p:nvPr/>
        </p:nvSpPr>
        <p:spPr>
          <a:xfrm>
            <a:off x="1747838" y="1905000"/>
            <a:ext cx="381000" cy="38100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4654" name="Arc 78"/>
          <p:cNvSpPr/>
          <p:nvPr/>
        </p:nvSpPr>
        <p:spPr>
          <a:xfrm flipV="1">
            <a:off x="2895600" y="2514600"/>
            <a:ext cx="381000" cy="533400"/>
          </a:xfrm>
          <a:custGeom>
            <a:avLst/>
            <a:gdLst/>
            <a:ahLst/>
            <a:cxnLst>
              <a:cxn ang="0">
                <a:pos x="2445332" y="6224383"/>
              </a:cxn>
              <a:cxn ang="0">
                <a:pos x="1680104" y="6586008"/>
              </a:cxn>
              <a:cxn ang="0">
                <a:pos x="0" y="3293004"/>
              </a:cxn>
              <a:cxn ang="0">
                <a:pos x="1680104" y="0"/>
              </a:cxn>
              <a:cxn ang="0">
                <a:pos x="3360208" y="3293004"/>
              </a:cxn>
              <a:cxn ang="0">
                <a:pos x="3086418" y="5094402"/>
              </a:cxn>
              <a:cxn ang="0">
                <a:pos x="2445332" y="6224383"/>
              </a:cxn>
              <a:cxn ang="0">
                <a:pos x="1680104" y="6586008"/>
              </a:cxn>
              <a:cxn ang="0">
                <a:pos x="0" y="3293004"/>
              </a:cxn>
              <a:cxn ang="0">
                <a:pos x="1680104" y="0"/>
              </a:cxn>
              <a:cxn ang="0">
                <a:pos x="3360208" y="3293004"/>
              </a:cxn>
              <a:cxn ang="0">
                <a:pos x="3086418" y="5094402"/>
              </a:cxn>
              <a:cxn ang="0">
                <a:pos x="1680104" y="3293004"/>
              </a:cxn>
              <a:cxn ang="0">
                <a:pos x="2445332" y="6224383"/>
              </a:cxn>
            </a:cxnLst>
            <a:rect l="0" t="0" r="0" b="0"/>
            <a:pathLst>
              <a:path w="43200" h="43200" fill="none">
                <a:moveTo>
                  <a:pt x="31438" y="40828"/>
                </a:moveTo>
                <a:cubicBezTo>
                  <a:pt x="28393" y="42387"/>
                  <a:pt x="25021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5797"/>
                  <a:pt x="41977" y="29903"/>
                  <a:pt x="39680" y="33416"/>
                </a:cubicBezTo>
              </a:path>
              <a:path w="43200" h="43200" stroke="0">
                <a:moveTo>
                  <a:pt x="31438" y="40828"/>
                </a:moveTo>
                <a:cubicBezTo>
                  <a:pt x="28393" y="42387"/>
                  <a:pt x="25021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5797"/>
                  <a:pt x="41977" y="29903"/>
                  <a:pt x="39680" y="33416"/>
                </a:cubicBezTo>
                <a:lnTo>
                  <a:pt x="21600" y="21600"/>
                </a:lnTo>
                <a:lnTo>
                  <a:pt x="31438" y="40828"/>
                </a:lnTo>
                <a:close/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solid"/>
            <a:round/>
            <a:headEnd type="triangl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4655" name="Group 79"/>
          <p:cNvGrpSpPr/>
          <p:nvPr/>
        </p:nvGrpSpPr>
        <p:grpSpPr>
          <a:xfrm>
            <a:off x="7010400" y="3048000"/>
            <a:ext cx="1447800" cy="457200"/>
            <a:chOff x="3024" y="2832"/>
            <a:chExt cx="912" cy="288"/>
          </a:xfrm>
        </p:grpSpPr>
        <p:sp>
          <p:nvSpPr>
            <p:cNvPr id="17433" name="Oval 80"/>
            <p:cNvSpPr/>
            <p:nvPr/>
          </p:nvSpPr>
          <p:spPr>
            <a:xfrm>
              <a:off x="3024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7434" name="Oval 81"/>
            <p:cNvSpPr/>
            <p:nvPr/>
          </p:nvSpPr>
          <p:spPr>
            <a:xfrm>
              <a:off x="3696" y="288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18</a:t>
              </a:r>
            </a:p>
          </p:txBody>
        </p:sp>
        <p:sp>
          <p:nvSpPr>
            <p:cNvPr id="17435" name="Text Box 82"/>
            <p:cNvSpPr txBox="1"/>
            <p:nvPr/>
          </p:nvSpPr>
          <p:spPr>
            <a:xfrm>
              <a:off x="3312" y="2832"/>
              <a:ext cx="33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&lt;</a:t>
              </a:r>
            </a:p>
          </p:txBody>
        </p:sp>
      </p:grpSp>
      <p:sp>
        <p:nvSpPr>
          <p:cNvPr id="24659" name="Oval 83"/>
          <p:cNvSpPr/>
          <p:nvPr/>
        </p:nvSpPr>
        <p:spPr>
          <a:xfrm>
            <a:off x="685800" y="3124200"/>
            <a:ext cx="381000" cy="38100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24660" name="Oval 84"/>
          <p:cNvSpPr/>
          <p:nvPr/>
        </p:nvSpPr>
        <p:spPr>
          <a:xfrm>
            <a:off x="1139825" y="2514600"/>
            <a:ext cx="381000" cy="38100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15</a:t>
            </a:r>
          </a:p>
        </p:txBody>
      </p:sp>
      <p:graphicFrame>
        <p:nvGraphicFramePr>
          <p:cNvPr id="24661" name="Object 85"/>
          <p:cNvGraphicFramePr>
            <a:graphicFrameLocks noChangeAspect="1"/>
          </p:cNvGraphicFramePr>
          <p:nvPr/>
        </p:nvGraphicFramePr>
        <p:xfrm>
          <a:off x="1676400" y="3048000"/>
          <a:ext cx="4667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54480" imgH="2286635" progId="MS_ClipArt_Gallery.2">
                  <p:embed/>
                </p:oleObj>
              </mc:Choice>
              <mc:Fallback>
                <p:oleObj r:id="rId8" imgW="1554480" imgH="2286635" progId="MS_ClipArt_Gallery.2">
                  <p:embed/>
                  <p:pic>
                    <p:nvPicPr>
                      <p:cNvPr id="24661" name="Object 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76400" y="3048000"/>
                        <a:ext cx="466725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66" name="AutoShape 90"/>
          <p:cNvSpPr/>
          <p:nvPr/>
        </p:nvSpPr>
        <p:spPr>
          <a:xfrm>
            <a:off x="6172200" y="3886200"/>
            <a:ext cx="2362200" cy="1143000"/>
          </a:xfrm>
          <a:prstGeom prst="wedgeEllipseCallout">
            <a:avLst>
              <a:gd name="adj1" fmla="val -23856"/>
              <a:gd name="adj2" fmla="val -94167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Percolate down</a:t>
            </a:r>
          </a:p>
        </p:txBody>
      </p:sp>
      <p:sp>
        <p:nvSpPr>
          <p:cNvPr id="24667" name="Text Box 91"/>
          <p:cNvSpPr txBox="1"/>
          <p:nvPr/>
        </p:nvSpPr>
        <p:spPr>
          <a:xfrm>
            <a:off x="2743200" y="6118225"/>
            <a:ext cx="4572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O ( log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24668" name="Text Box 92"/>
          <p:cNvSpPr txBox="1"/>
          <p:nvPr/>
        </p:nvSpPr>
        <p:spPr>
          <a:xfrm>
            <a:off x="304800" y="5562600"/>
            <a:ext cx="312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Time complexity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6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6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46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6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46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8" dur="500"/>
                                        <p:tgtEl>
                                          <p:spTgt spid="246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24623" grpId="0"/>
      <p:bldP spid="24639" grpId="0" animBg="1"/>
      <p:bldP spid="24640" grpId="0" animBg="1"/>
      <p:bldP spid="24641" grpId="0" animBg="1"/>
      <p:bldP spid="24642" grpId="0" animBg="1"/>
      <p:bldP spid="24643" grpId="0"/>
      <p:bldP spid="24644" grpId="0" animBg="1"/>
      <p:bldP spid="24645" grpId="0" animBg="1"/>
      <p:bldP spid="24646" grpId="0"/>
      <p:bldP spid="24647" grpId="0" animBg="1"/>
      <p:bldP spid="24652" grpId="0" animBg="1"/>
      <p:bldP spid="24653" grpId="0" animBg="1"/>
      <p:bldP spid="24659" grpId="0" animBg="1"/>
      <p:bldP spid="24660" grpId="0" animBg="1"/>
      <p:bldP spid="24666" grpId="0" animBg="1"/>
      <p:bldP spid="24667" grpId="0"/>
      <p:bldP spid="246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"/>
          <p:cNvSpPr txBox="1"/>
          <p:nvPr>
            <p:custDataLst>
              <p:tags r:id="rId2"/>
            </p:custDataLst>
          </p:nvPr>
        </p:nvSpPr>
        <p:spPr>
          <a:xfrm>
            <a:off x="914400" y="428625"/>
            <a:ext cx="7620000" cy="4143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14350" lvl="0" indent="-514350">
              <a:spcBef>
                <a:spcPct val="0"/>
              </a:spcBef>
              <a:buAutoNum type="alphaLcPeriod"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Show the result of inserting 10, 12, 1, 14, 6, 5, 8, 15, 3, 9, 7, 4, 11, 13 and 2, one at a time, into an initially empty binary min heap.</a:t>
            </a:r>
          </a:p>
          <a:p>
            <a:pPr marL="514350" lvl="0" indent="-514350">
              <a:spcBef>
                <a:spcPct val="0"/>
              </a:spcBef>
              <a:buAutoNum type="alphaLcPeriod"/>
            </a:pPr>
            <a:endParaRPr lang="en-US" altLang="zh-CN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514350" lvl="0" indent="-514350">
              <a:spcBef>
                <a:spcPct val="0"/>
              </a:spcBef>
              <a:buAutoNum type="alphaLcPeriod"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Show the result of performing three </a:t>
            </a:r>
            <a:r>
              <a:rPr lang="en-US" altLang="zh-CN" sz="26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DeleteMin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operations in the heap of the previous exercise.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正常使用主观题需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2.0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以上版本雨课堂</a:t>
            </a:r>
          </a:p>
        </p:txBody>
      </p:sp>
      <p:grpSp>
        <p:nvGrpSpPr>
          <p:cNvPr id="18437" name="组合 9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44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1844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18438" name="图片 2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AutoShape 3"/>
          <p:cNvSpPr/>
          <p:nvPr/>
        </p:nvSpPr>
        <p:spPr>
          <a:xfrm>
            <a:off x="533400" y="381000"/>
            <a:ext cx="8153400" cy="58674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ElementType  DeleteMin( PriorityQueue  H 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{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</a:t>
            </a:r>
            <a:r>
              <a:rPr lang="en-US" altLang="zh-CN" sz="1800" b="1" dirty="0">
                <a:solidFill>
                  <a:srgbClr val="0000FF"/>
                </a:solidFill>
              </a:rPr>
              <a:t>int</a:t>
            </a:r>
            <a:r>
              <a:rPr lang="en-US" altLang="zh-CN" sz="1800" b="1" dirty="0"/>
              <a:t>  i, Child;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ElementType  MinElement, LastElement;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 if</a:t>
            </a:r>
            <a:r>
              <a:rPr lang="en-US" altLang="zh-CN" sz="1800" b="1" dirty="0"/>
              <a:t> ( IsEmpty( H ) ) {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 Error( "Priority queue is empty"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 </a:t>
            </a:r>
            <a:r>
              <a:rPr lang="en-US" altLang="zh-CN" sz="1800" b="1" dirty="0">
                <a:solidFill>
                  <a:srgbClr val="0000FF"/>
                </a:solidFill>
              </a:rPr>
              <a:t>return</a:t>
            </a:r>
            <a:r>
              <a:rPr lang="en-US" altLang="zh-CN" sz="1800" b="1" dirty="0"/>
              <a:t>  H-&gt;Elements[ 0 ];   }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MinElement = H-&gt;Elements[ 1 ];  </a:t>
            </a:r>
            <a:r>
              <a:rPr lang="en-US" altLang="zh-CN" sz="1800" b="1" dirty="0">
                <a:solidFill>
                  <a:srgbClr val="0000FF"/>
                </a:solidFill>
              </a:rPr>
              <a:t>/* save the min element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LastElement = H-&gt;Elements[ H-&gt;Size-- ];  </a:t>
            </a:r>
            <a:r>
              <a:rPr lang="en-US" altLang="zh-CN" sz="1800" b="1" dirty="0">
                <a:solidFill>
                  <a:srgbClr val="0000FF"/>
                </a:solidFill>
              </a:rPr>
              <a:t>/* take last and reset size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 for</a:t>
            </a:r>
            <a:r>
              <a:rPr lang="en-US" altLang="zh-CN" sz="1800" b="1" dirty="0"/>
              <a:t> ( i = 1; i * 2 &lt;= H-&gt;Size; i = Child ) {  </a:t>
            </a:r>
            <a:r>
              <a:rPr lang="en-US" altLang="zh-CN" sz="1800" b="1" dirty="0">
                <a:solidFill>
                  <a:srgbClr val="0000FF"/>
                </a:solidFill>
              </a:rPr>
              <a:t>/* Find smaller child */</a:t>
            </a:r>
            <a:r>
              <a:rPr lang="en-US" altLang="zh-CN" sz="1800" b="1" dirty="0"/>
              <a:t>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 Child = i * 2;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      if</a:t>
            </a:r>
            <a:r>
              <a:rPr lang="en-US" altLang="zh-CN" sz="1800" b="1" dirty="0"/>
              <a:t> (Child != H-&gt;Size &amp;&amp; H-&gt;Elements[Child+1] &lt; H-&gt;Elements[Child])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	       Child++;  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 </a:t>
            </a:r>
            <a:r>
              <a:rPr lang="en-US" altLang="zh-CN" sz="1800" b="1" dirty="0">
                <a:solidFill>
                  <a:srgbClr val="0000FF"/>
                </a:solidFill>
              </a:rPr>
              <a:t>if </a:t>
            </a:r>
            <a:r>
              <a:rPr lang="en-US" altLang="zh-CN" sz="1800" b="1" dirty="0"/>
              <a:t>( LastElement &gt; H-&gt;Elements[ Child ] )   </a:t>
            </a:r>
            <a:r>
              <a:rPr lang="en-US" altLang="zh-CN" sz="1800" b="1" dirty="0">
                <a:solidFill>
                  <a:srgbClr val="0000FF"/>
                </a:solidFill>
              </a:rPr>
              <a:t>/* Percolate one level */</a:t>
            </a:r>
            <a:r>
              <a:rPr lang="en-US" altLang="zh-CN" sz="1800" b="1" dirty="0"/>
              <a:t>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	       H-&gt;Elements[ i ] = H-&gt;Elements[ Child ];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 </a:t>
            </a:r>
            <a:r>
              <a:rPr lang="en-US" altLang="zh-CN" sz="1800" b="1" dirty="0">
                <a:solidFill>
                  <a:srgbClr val="0000FF"/>
                </a:solidFill>
              </a:rPr>
              <a:t>else     </a:t>
            </a:r>
            <a:r>
              <a:rPr lang="en-US" altLang="zh-CN" sz="1800" b="1" dirty="0"/>
              <a:t>break;   </a:t>
            </a:r>
            <a:r>
              <a:rPr lang="en-US" altLang="zh-CN" sz="1800" b="1" dirty="0">
                <a:solidFill>
                  <a:srgbClr val="0000FF"/>
                </a:solidFill>
              </a:rPr>
              <a:t>/* find the proper position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}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H-&gt;Elements[ i ] = LastElement;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</a:t>
            </a:r>
            <a:r>
              <a:rPr lang="en-US" altLang="zh-CN" sz="1800" b="1" dirty="0">
                <a:solidFill>
                  <a:srgbClr val="0000FF"/>
                </a:solidFill>
              </a:rPr>
              <a:t>return </a:t>
            </a:r>
            <a:r>
              <a:rPr lang="en-US" altLang="zh-CN" sz="1800" b="1" dirty="0"/>
              <a:t> MinElement;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}</a:t>
            </a:r>
          </a:p>
        </p:txBody>
      </p:sp>
      <p:sp>
        <p:nvSpPr>
          <p:cNvPr id="25604" name="AutoShape 4"/>
          <p:cNvSpPr/>
          <p:nvPr/>
        </p:nvSpPr>
        <p:spPr>
          <a:xfrm>
            <a:off x="5562600" y="1066800"/>
            <a:ext cx="2895600" cy="1143000"/>
          </a:xfrm>
          <a:prstGeom prst="wedgeEllipseCallout">
            <a:avLst>
              <a:gd name="adj1" fmla="val -49727"/>
              <a:gd name="adj2" fmla="val 245139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Percolate down</a:t>
            </a:r>
          </a:p>
        </p:txBody>
      </p:sp>
      <p:sp>
        <p:nvSpPr>
          <p:cNvPr id="25605" name="AutoShape 5"/>
          <p:cNvSpPr/>
          <p:nvPr/>
        </p:nvSpPr>
        <p:spPr>
          <a:xfrm>
            <a:off x="5410200" y="762000"/>
            <a:ext cx="2895600" cy="1371600"/>
          </a:xfrm>
          <a:prstGeom prst="wedgeEllipseCallout">
            <a:avLst>
              <a:gd name="adj1" fmla="val -133500"/>
              <a:gd name="adj2" fmla="val 160648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What if this condition is omitted?</a:t>
            </a:r>
          </a:p>
        </p:txBody>
      </p:sp>
      <p:grpSp>
        <p:nvGrpSpPr>
          <p:cNvPr id="20" name="Group 48"/>
          <p:cNvGrpSpPr/>
          <p:nvPr/>
        </p:nvGrpSpPr>
        <p:grpSpPr>
          <a:xfrm>
            <a:off x="6324600" y="4572000"/>
            <a:ext cx="1905000" cy="1905000"/>
            <a:chOff x="480" y="1152"/>
            <a:chExt cx="1200" cy="1200"/>
          </a:xfrm>
        </p:grpSpPr>
        <p:sp>
          <p:nvSpPr>
            <p:cNvPr id="19462" name="Oval 49"/>
            <p:cNvSpPr/>
            <p:nvPr/>
          </p:nvSpPr>
          <p:spPr>
            <a:xfrm>
              <a:off x="1152" y="115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9463" name="Oval 50"/>
            <p:cNvSpPr/>
            <p:nvPr/>
          </p:nvSpPr>
          <p:spPr>
            <a:xfrm>
              <a:off x="768" y="153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9464" name="Oval 51"/>
            <p:cNvSpPr/>
            <p:nvPr/>
          </p:nvSpPr>
          <p:spPr>
            <a:xfrm>
              <a:off x="480" y="19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9465" name="Line 52"/>
            <p:cNvSpPr/>
            <p:nvPr/>
          </p:nvSpPr>
          <p:spPr>
            <a:xfrm flipH="1">
              <a:off x="649" y="1754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6" name="Line 53"/>
            <p:cNvSpPr/>
            <p:nvPr/>
          </p:nvSpPr>
          <p:spPr>
            <a:xfrm flipH="1">
              <a:off x="934" y="1344"/>
              <a:ext cx="218" cy="21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7" name="Oval 54"/>
            <p:cNvSpPr/>
            <p:nvPr/>
          </p:nvSpPr>
          <p:spPr>
            <a:xfrm flipH="1">
              <a:off x="1440" y="153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9468" name="Line 55"/>
            <p:cNvSpPr/>
            <p:nvPr/>
          </p:nvSpPr>
          <p:spPr>
            <a:xfrm>
              <a:off x="1365" y="1344"/>
              <a:ext cx="190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9" name="Rectangle 56"/>
            <p:cNvSpPr/>
            <p:nvPr/>
          </p:nvSpPr>
          <p:spPr>
            <a:xfrm>
              <a:off x="912" y="1200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19470" name="Rectangle 57"/>
            <p:cNvSpPr/>
            <p:nvPr/>
          </p:nvSpPr>
          <p:spPr>
            <a:xfrm>
              <a:off x="528" y="1536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[2]</a:t>
              </a:r>
            </a:p>
          </p:txBody>
        </p:sp>
        <p:sp>
          <p:nvSpPr>
            <p:cNvPr id="19471" name="Rectangle 58"/>
            <p:cNvSpPr/>
            <p:nvPr/>
          </p:nvSpPr>
          <p:spPr>
            <a:xfrm>
              <a:off x="1200" y="1536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[3]</a:t>
              </a:r>
            </a:p>
          </p:txBody>
        </p:sp>
        <p:sp>
          <p:nvSpPr>
            <p:cNvPr id="19472" name="Rectangle 59"/>
            <p:cNvSpPr/>
            <p:nvPr/>
          </p:nvSpPr>
          <p:spPr>
            <a:xfrm>
              <a:off x="480" y="220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[4]</a:t>
              </a:r>
            </a:p>
          </p:txBody>
        </p:sp>
        <p:sp>
          <p:nvSpPr>
            <p:cNvPr id="19473" name="Oval 60"/>
            <p:cNvSpPr/>
            <p:nvPr/>
          </p:nvSpPr>
          <p:spPr>
            <a:xfrm flipH="1">
              <a:off x="960" y="19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18</a:t>
              </a:r>
            </a:p>
          </p:txBody>
        </p:sp>
        <p:sp>
          <p:nvSpPr>
            <p:cNvPr id="19474" name="Line 61"/>
            <p:cNvSpPr/>
            <p:nvPr/>
          </p:nvSpPr>
          <p:spPr>
            <a:xfrm>
              <a:off x="937" y="1754"/>
              <a:ext cx="145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5" name="Rectangle 62"/>
            <p:cNvSpPr/>
            <p:nvPr/>
          </p:nvSpPr>
          <p:spPr>
            <a:xfrm>
              <a:off x="960" y="2208"/>
              <a:ext cx="240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[5]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4" grpId="0" animBg="1"/>
      <p:bldP spid="2560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/>
          <p:nvPr/>
        </p:nvSpPr>
        <p:spPr>
          <a:xfrm>
            <a:off x="609600" y="152400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4. Other Heap Operations:</a:t>
            </a:r>
          </a:p>
        </p:txBody>
      </p:sp>
      <p:sp>
        <p:nvSpPr>
          <p:cNvPr id="26628" name="AutoShape 4" descr="再生纸"/>
          <p:cNvSpPr/>
          <p:nvPr/>
        </p:nvSpPr>
        <p:spPr>
          <a:xfrm>
            <a:off x="685800" y="685800"/>
            <a:ext cx="7772400" cy="1295400"/>
          </a:xfrm>
          <a:prstGeom prst="roundRect">
            <a:avLst>
              <a:gd name="adj" fmla="val 11681"/>
            </a:avLst>
          </a:prstGeom>
          <a:blipFill rotWithShape="0">
            <a:blip r:embed="rId3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98000" rIns="198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67080" lvl="0" indent="-76708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zh-CN" sz="2400" b="1" dirty="0">
                <a:latin typeface="Times New Roman" panose="02020603050405020304" pitchFamily="18" charset="0"/>
              </a:rPr>
              <a:t> Finding any key except the minimum one will have to take a linear scan through the entire heap.</a:t>
            </a:r>
          </a:p>
        </p:txBody>
      </p:sp>
      <p:sp>
        <p:nvSpPr>
          <p:cNvPr id="26629" name="Text Box 5"/>
          <p:cNvSpPr txBox="1"/>
          <p:nvPr/>
        </p:nvSpPr>
        <p:spPr>
          <a:xfrm>
            <a:off x="762000" y="2209800"/>
            <a:ext cx="4267200" cy="52228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DecreaseKey (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0" name="Text Box 6"/>
          <p:cNvSpPr txBox="1"/>
          <p:nvPr/>
        </p:nvSpPr>
        <p:spPr>
          <a:xfrm>
            <a:off x="2133600" y="2819400"/>
            <a:ext cx="6248400" cy="11985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Lower the value of the key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 in the heap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 by a positive amount of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</a:rPr>
              <a:t>……so my programs can run with highest priority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.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6631" name="Group 7"/>
          <p:cNvGrpSpPr/>
          <p:nvPr/>
        </p:nvGrpSpPr>
        <p:grpSpPr>
          <a:xfrm>
            <a:off x="762000" y="2819400"/>
            <a:ext cx="1371600" cy="1357313"/>
            <a:chOff x="480" y="1776"/>
            <a:chExt cx="864" cy="855"/>
          </a:xfrm>
        </p:grpSpPr>
        <p:graphicFrame>
          <p:nvGraphicFramePr>
            <p:cNvPr id="20494" name="Object 8"/>
            <p:cNvGraphicFramePr>
              <a:graphicFrameLocks noChangeAspect="1"/>
            </p:cNvGraphicFramePr>
            <p:nvPr/>
          </p:nvGraphicFramePr>
          <p:xfrm>
            <a:off x="528" y="1776"/>
            <a:ext cx="672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287270" imgH="2155825" progId="MS_ClipArt_Gallery.2">
                    <p:embed/>
                  </p:oleObj>
                </mc:Choice>
                <mc:Fallback>
                  <p:oleObj r:id="rId4" imgW="2287270" imgH="2155825" progId="MS_ClipArt_Gallery.2">
                    <p:embed/>
                    <p:pic>
                      <p:nvPicPr>
                        <p:cNvPr id="20494" name="Object 8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8" y="1776"/>
                          <a:ext cx="672" cy="6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5" name="Text Box 9"/>
            <p:cNvSpPr txBox="1"/>
            <p:nvPr/>
          </p:nvSpPr>
          <p:spPr>
            <a:xfrm>
              <a:off x="480" y="2400"/>
              <a:ext cx="864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sys. admin.</a:t>
              </a:r>
            </a:p>
          </p:txBody>
        </p:sp>
      </p:grpSp>
      <p:sp>
        <p:nvSpPr>
          <p:cNvPr id="26634" name="Text Box 10"/>
          <p:cNvSpPr txBox="1"/>
          <p:nvPr/>
        </p:nvSpPr>
        <p:spPr>
          <a:xfrm>
            <a:off x="762000" y="4267200"/>
            <a:ext cx="4267200" cy="52228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IncreaseKey (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5" name="Oval 11" descr="羊皮纸"/>
          <p:cNvSpPr/>
          <p:nvPr/>
        </p:nvSpPr>
        <p:spPr>
          <a:xfrm>
            <a:off x="4648200" y="2286000"/>
            <a:ext cx="3276600" cy="457200"/>
          </a:xfrm>
          <a:prstGeom prst="ellipse">
            <a:avLst/>
          </a:prstGeom>
          <a:blipFill rotWithShape="0">
            <a:blip r:embed="rId6"/>
          </a:blipFill>
          <a:ln w="127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Percolate up</a:t>
            </a:r>
          </a:p>
        </p:txBody>
      </p:sp>
      <p:grpSp>
        <p:nvGrpSpPr>
          <p:cNvPr id="26636" name="Group 12"/>
          <p:cNvGrpSpPr/>
          <p:nvPr/>
        </p:nvGrpSpPr>
        <p:grpSpPr>
          <a:xfrm>
            <a:off x="762000" y="4891088"/>
            <a:ext cx="1371600" cy="1357312"/>
            <a:chOff x="480" y="1776"/>
            <a:chExt cx="864" cy="855"/>
          </a:xfrm>
        </p:grpSpPr>
        <p:graphicFrame>
          <p:nvGraphicFramePr>
            <p:cNvPr id="20492" name="Object 13"/>
            <p:cNvGraphicFramePr>
              <a:graphicFrameLocks noChangeAspect="1"/>
            </p:cNvGraphicFramePr>
            <p:nvPr/>
          </p:nvGraphicFramePr>
          <p:xfrm>
            <a:off x="528" y="1776"/>
            <a:ext cx="672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287270" imgH="2155825" progId="MS_ClipArt_Gallery.2">
                    <p:embed/>
                  </p:oleObj>
                </mc:Choice>
                <mc:Fallback>
                  <p:oleObj r:id="rId4" imgW="2287270" imgH="2155825" progId="MS_ClipArt_Gallery.2">
                    <p:embed/>
                    <p:pic>
                      <p:nvPicPr>
                        <p:cNvPr id="20492" name="Object 1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8" y="1776"/>
                          <a:ext cx="672" cy="6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3" name="Text Box 14"/>
            <p:cNvSpPr txBox="1"/>
            <p:nvPr/>
          </p:nvSpPr>
          <p:spPr>
            <a:xfrm>
              <a:off x="480" y="2400"/>
              <a:ext cx="864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sys. admin.</a:t>
              </a:r>
            </a:p>
          </p:txBody>
        </p:sp>
      </p:grpSp>
      <p:sp>
        <p:nvSpPr>
          <p:cNvPr id="26639" name="Text Box 15"/>
          <p:cNvSpPr txBox="1"/>
          <p:nvPr/>
        </p:nvSpPr>
        <p:spPr>
          <a:xfrm>
            <a:off x="2133600" y="4724400"/>
            <a:ext cx="6248400" cy="15684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Increases the value of the key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K </a:t>
            </a:r>
            <a:r>
              <a:rPr lang="en-US" altLang="zh-CN" sz="2400" b="1" dirty="0">
                <a:latin typeface="Times New Roman" panose="02020603050405020304" pitchFamily="18" charset="0"/>
              </a:rPr>
              <a:t>in the heap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  by a positive amount of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</a:rPr>
              <a:t>……drop the priority of a process that is consuming excessive CPU time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6640" name="Oval 16" descr="羊皮纸"/>
          <p:cNvSpPr/>
          <p:nvPr/>
        </p:nvSpPr>
        <p:spPr>
          <a:xfrm>
            <a:off x="4572000" y="4267200"/>
            <a:ext cx="3276600" cy="457200"/>
          </a:xfrm>
          <a:prstGeom prst="ellipse">
            <a:avLst/>
          </a:prstGeom>
          <a:blipFill rotWithShape="0">
            <a:blip r:embed="rId6"/>
          </a:blipFill>
          <a:ln w="127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Percolate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  <p:bldP spid="26628" grpId="0" animBg="1"/>
      <p:bldP spid="26629" grpId="0"/>
      <p:bldP spid="26630" grpId="0"/>
      <p:bldP spid="26634" grpId="0"/>
      <p:bldP spid="26635" grpId="0" animBg="1"/>
      <p:bldP spid="26639" grpId="0"/>
      <p:bldP spid="266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/>
          <p:cNvSpPr txBox="1"/>
          <p:nvPr/>
        </p:nvSpPr>
        <p:spPr>
          <a:xfrm>
            <a:off x="533400" y="909638"/>
            <a:ext cx="2895600" cy="52228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Delete (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2" name="Text Box 4"/>
          <p:cNvSpPr txBox="1"/>
          <p:nvPr/>
        </p:nvSpPr>
        <p:spPr>
          <a:xfrm>
            <a:off x="2057400" y="1519238"/>
            <a:ext cx="6477000" cy="119856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Remove the node with key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 from the heap H  …… delete the process that is terminated (abnormally) by a user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</p:txBody>
      </p:sp>
      <p:grpSp>
        <p:nvGrpSpPr>
          <p:cNvPr id="27653" name="Group 5"/>
          <p:cNvGrpSpPr/>
          <p:nvPr/>
        </p:nvGrpSpPr>
        <p:grpSpPr>
          <a:xfrm>
            <a:off x="685800" y="1519238"/>
            <a:ext cx="1371600" cy="1357312"/>
            <a:chOff x="480" y="1776"/>
            <a:chExt cx="864" cy="855"/>
          </a:xfrm>
        </p:grpSpPr>
        <p:graphicFrame>
          <p:nvGraphicFramePr>
            <p:cNvPr id="21510" name="Object 6"/>
            <p:cNvGraphicFramePr>
              <a:graphicFrameLocks noChangeAspect="1"/>
            </p:cNvGraphicFramePr>
            <p:nvPr/>
          </p:nvGraphicFramePr>
          <p:xfrm>
            <a:off x="528" y="1776"/>
            <a:ext cx="672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287270" imgH="2155825" progId="MS_ClipArt_Gallery.2">
                    <p:embed/>
                  </p:oleObj>
                </mc:Choice>
                <mc:Fallback>
                  <p:oleObj r:id="rId2" imgW="2287270" imgH="2155825" progId="MS_ClipArt_Gallery.2">
                    <p:embed/>
                    <p:pic>
                      <p:nvPicPr>
                        <p:cNvPr id="21510" name="Object 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28" y="1776"/>
                          <a:ext cx="672" cy="6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1" name="Text Box 7"/>
            <p:cNvSpPr txBox="1"/>
            <p:nvPr/>
          </p:nvSpPr>
          <p:spPr>
            <a:xfrm>
              <a:off x="480" y="2400"/>
              <a:ext cx="864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sys. admin.</a:t>
              </a:r>
            </a:p>
          </p:txBody>
        </p:sp>
      </p:grpSp>
      <p:sp>
        <p:nvSpPr>
          <p:cNvPr id="27656" name="Oval 8" descr="羊皮纸"/>
          <p:cNvSpPr/>
          <p:nvPr/>
        </p:nvSpPr>
        <p:spPr>
          <a:xfrm>
            <a:off x="3124200" y="909638"/>
            <a:ext cx="4953000" cy="533400"/>
          </a:xfrm>
          <a:prstGeom prst="ellipse">
            <a:avLst/>
          </a:prstGeom>
          <a:blipFill rotWithShape="0">
            <a:blip r:embed="rId4"/>
          </a:blipFill>
          <a:ln w="127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DecreaseKey(K,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, H</a:t>
            </a:r>
            <a:r>
              <a:rPr lang="en-US" altLang="zh-CN" sz="2000" b="1" dirty="0">
                <a:latin typeface="Times New Roman" panose="02020603050405020304" pitchFamily="18" charset="0"/>
              </a:rPr>
              <a:t>); DeleteMin(H)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2" grpId="0"/>
      <p:bldP spid="27656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Text Box 9"/>
          <p:cNvSpPr txBox="1"/>
          <p:nvPr/>
        </p:nvSpPr>
        <p:spPr>
          <a:xfrm>
            <a:off x="457200" y="171450"/>
            <a:ext cx="29718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BuildHeap (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8" name="Text Box 10"/>
          <p:cNvSpPr txBox="1"/>
          <p:nvPr/>
        </p:nvSpPr>
        <p:spPr>
          <a:xfrm>
            <a:off x="1981200" y="857250"/>
            <a:ext cx="6613525" cy="1384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Method 1: </a:t>
            </a:r>
            <a:r>
              <a:rPr lang="en-US" altLang="zh-CN" sz="2400" b="1" dirty="0">
                <a:latin typeface="Times New Roman" panose="02020603050405020304" pitchFamily="18" charset="0"/>
              </a:rPr>
              <a:t>Place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 input keys into an initially empty heap H one by one.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</p:txBody>
      </p:sp>
      <p:grpSp>
        <p:nvGrpSpPr>
          <p:cNvPr id="27659" name="Group 11"/>
          <p:cNvGrpSpPr/>
          <p:nvPr/>
        </p:nvGrpSpPr>
        <p:grpSpPr>
          <a:xfrm>
            <a:off x="609600" y="857250"/>
            <a:ext cx="1371600" cy="1357313"/>
            <a:chOff x="480" y="1776"/>
            <a:chExt cx="864" cy="855"/>
          </a:xfrm>
        </p:grpSpPr>
        <p:graphicFrame>
          <p:nvGraphicFramePr>
            <p:cNvPr id="22631" name="Object 12"/>
            <p:cNvGraphicFramePr>
              <a:graphicFrameLocks noChangeAspect="1"/>
            </p:cNvGraphicFramePr>
            <p:nvPr/>
          </p:nvGraphicFramePr>
          <p:xfrm>
            <a:off x="528" y="1776"/>
            <a:ext cx="672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287270" imgH="2155825" progId="MS_ClipArt_Gallery.2">
                    <p:embed/>
                  </p:oleObj>
                </mc:Choice>
                <mc:Fallback>
                  <p:oleObj r:id="rId4" imgW="2287270" imgH="2155825" progId="MS_ClipArt_Gallery.2">
                    <p:embed/>
                    <p:pic>
                      <p:nvPicPr>
                        <p:cNvPr id="22631" name="Object 1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8" y="1776"/>
                          <a:ext cx="672" cy="6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32" name="Text Box 13"/>
            <p:cNvSpPr txBox="1"/>
            <p:nvPr/>
          </p:nvSpPr>
          <p:spPr>
            <a:xfrm>
              <a:off x="480" y="2400"/>
              <a:ext cx="864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sys. admin.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683000" y="1905000"/>
            <a:ext cx="1220788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T(n)= 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52950" y="1905000"/>
            <a:ext cx="1335088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O(nlogn)</a:t>
            </a:r>
            <a:endParaRPr lang="en-US" altLang="zh-CN" sz="2400" dirty="0"/>
          </a:p>
        </p:txBody>
      </p:sp>
      <p:sp>
        <p:nvSpPr>
          <p:cNvPr id="5" name="Text Box 10"/>
          <p:cNvSpPr txBox="1"/>
          <p:nvPr/>
        </p:nvSpPr>
        <p:spPr>
          <a:xfrm>
            <a:off x="2063750" y="2644775"/>
            <a:ext cx="6613525" cy="10144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Method 2:</a:t>
            </a:r>
            <a:r>
              <a:rPr lang="en-US" altLang="zh-CN" sz="2400" b="1" dirty="0">
                <a:latin typeface="Times New Roman" panose="02020603050405020304" pitchFamily="18" charset="0"/>
              </a:rPr>
              <a:t>A linear method. 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</p:txBody>
      </p:sp>
      <p:grpSp>
        <p:nvGrpSpPr>
          <p:cNvPr id="7" name="Group 16"/>
          <p:cNvGrpSpPr/>
          <p:nvPr/>
        </p:nvGrpSpPr>
        <p:grpSpPr>
          <a:xfrm>
            <a:off x="1828800" y="3200400"/>
            <a:ext cx="4114800" cy="2057400"/>
            <a:chOff x="1344" y="1248"/>
            <a:chExt cx="2592" cy="1296"/>
          </a:xfrm>
        </p:grpSpPr>
        <p:grpSp>
          <p:nvGrpSpPr>
            <p:cNvPr id="22595" name="Group 17"/>
            <p:cNvGrpSpPr/>
            <p:nvPr/>
          </p:nvGrpSpPr>
          <p:grpSpPr>
            <a:xfrm>
              <a:off x="1344" y="1968"/>
              <a:ext cx="576" cy="576"/>
              <a:chOff x="2640" y="2160"/>
              <a:chExt cx="576" cy="576"/>
            </a:xfrm>
          </p:grpSpPr>
          <p:sp>
            <p:nvSpPr>
              <p:cNvPr id="22626" name="Oval 18"/>
              <p:cNvSpPr/>
              <p:nvPr/>
            </p:nvSpPr>
            <p:spPr>
              <a:xfrm>
                <a:off x="2832" y="216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30</a:t>
                </a:r>
              </a:p>
            </p:txBody>
          </p:sp>
          <p:sp>
            <p:nvSpPr>
              <p:cNvPr id="22627" name="Oval 19"/>
              <p:cNvSpPr/>
              <p:nvPr/>
            </p:nvSpPr>
            <p:spPr>
              <a:xfrm>
                <a:off x="2640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100</a:t>
                </a:r>
              </a:p>
            </p:txBody>
          </p:sp>
          <p:sp>
            <p:nvSpPr>
              <p:cNvPr id="22628" name="Line 20"/>
              <p:cNvSpPr/>
              <p:nvPr/>
            </p:nvSpPr>
            <p:spPr>
              <a:xfrm flipH="1">
                <a:off x="2784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29" name="Oval 21"/>
              <p:cNvSpPr/>
              <p:nvPr/>
            </p:nvSpPr>
            <p:spPr>
              <a:xfrm flipH="1">
                <a:off x="3024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22630" name="Line 22"/>
              <p:cNvSpPr/>
              <p:nvPr/>
            </p:nvSpPr>
            <p:spPr>
              <a:xfrm>
                <a:off x="2976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96" name="Group 23"/>
            <p:cNvGrpSpPr/>
            <p:nvPr/>
          </p:nvGrpSpPr>
          <p:grpSpPr>
            <a:xfrm>
              <a:off x="2016" y="1968"/>
              <a:ext cx="576" cy="576"/>
              <a:chOff x="2640" y="2160"/>
              <a:chExt cx="576" cy="576"/>
            </a:xfrm>
          </p:grpSpPr>
          <p:sp>
            <p:nvSpPr>
              <p:cNvPr id="22621" name="Oval 24"/>
              <p:cNvSpPr/>
              <p:nvPr/>
            </p:nvSpPr>
            <p:spPr>
              <a:xfrm>
                <a:off x="2832" y="216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2622" name="Oval 25"/>
              <p:cNvSpPr/>
              <p:nvPr/>
            </p:nvSpPr>
            <p:spPr>
              <a:xfrm>
                <a:off x="2640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90</a:t>
                </a:r>
              </a:p>
            </p:txBody>
          </p:sp>
          <p:sp>
            <p:nvSpPr>
              <p:cNvPr id="22623" name="Line 26"/>
              <p:cNvSpPr/>
              <p:nvPr/>
            </p:nvSpPr>
            <p:spPr>
              <a:xfrm flipH="1">
                <a:off x="2784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24" name="Oval 27"/>
              <p:cNvSpPr/>
              <p:nvPr/>
            </p:nvSpPr>
            <p:spPr>
              <a:xfrm flipH="1">
                <a:off x="3024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60</a:t>
                </a:r>
              </a:p>
            </p:txBody>
          </p:sp>
          <p:sp>
            <p:nvSpPr>
              <p:cNvPr id="22625" name="Line 28"/>
              <p:cNvSpPr/>
              <p:nvPr/>
            </p:nvSpPr>
            <p:spPr>
              <a:xfrm>
                <a:off x="2976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97" name="Group 29"/>
            <p:cNvGrpSpPr/>
            <p:nvPr/>
          </p:nvGrpSpPr>
          <p:grpSpPr>
            <a:xfrm>
              <a:off x="2688" y="1968"/>
              <a:ext cx="576" cy="576"/>
              <a:chOff x="2640" y="2160"/>
              <a:chExt cx="576" cy="576"/>
            </a:xfrm>
          </p:grpSpPr>
          <p:sp>
            <p:nvSpPr>
              <p:cNvPr id="22616" name="Oval 30"/>
              <p:cNvSpPr/>
              <p:nvPr/>
            </p:nvSpPr>
            <p:spPr>
              <a:xfrm>
                <a:off x="2832" y="216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70</a:t>
                </a:r>
              </a:p>
            </p:txBody>
          </p:sp>
          <p:sp>
            <p:nvSpPr>
              <p:cNvPr id="22617" name="Oval 31"/>
              <p:cNvSpPr/>
              <p:nvPr/>
            </p:nvSpPr>
            <p:spPr>
              <a:xfrm>
                <a:off x="2640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50</a:t>
                </a:r>
              </a:p>
            </p:txBody>
          </p:sp>
          <p:sp>
            <p:nvSpPr>
              <p:cNvPr id="22618" name="Line 32"/>
              <p:cNvSpPr/>
              <p:nvPr/>
            </p:nvSpPr>
            <p:spPr>
              <a:xfrm flipH="1">
                <a:off x="2784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19" name="Oval 33"/>
              <p:cNvSpPr/>
              <p:nvPr/>
            </p:nvSpPr>
            <p:spPr>
              <a:xfrm flipH="1">
                <a:off x="3024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120</a:t>
                </a:r>
              </a:p>
            </p:txBody>
          </p:sp>
          <p:sp>
            <p:nvSpPr>
              <p:cNvPr id="22620" name="Line 34"/>
              <p:cNvSpPr/>
              <p:nvPr/>
            </p:nvSpPr>
            <p:spPr>
              <a:xfrm>
                <a:off x="2976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98" name="Group 35"/>
            <p:cNvGrpSpPr/>
            <p:nvPr/>
          </p:nvGrpSpPr>
          <p:grpSpPr>
            <a:xfrm>
              <a:off x="3360" y="1968"/>
              <a:ext cx="576" cy="576"/>
              <a:chOff x="2640" y="2160"/>
              <a:chExt cx="576" cy="576"/>
            </a:xfrm>
          </p:grpSpPr>
          <p:sp>
            <p:nvSpPr>
              <p:cNvPr id="22611" name="Oval 36"/>
              <p:cNvSpPr/>
              <p:nvPr/>
            </p:nvSpPr>
            <p:spPr>
              <a:xfrm>
                <a:off x="2832" y="216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110</a:t>
                </a:r>
              </a:p>
            </p:txBody>
          </p:sp>
          <p:sp>
            <p:nvSpPr>
              <p:cNvPr id="22612" name="Oval 37"/>
              <p:cNvSpPr/>
              <p:nvPr/>
            </p:nvSpPr>
            <p:spPr>
              <a:xfrm>
                <a:off x="2640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140</a:t>
                </a:r>
              </a:p>
            </p:txBody>
          </p:sp>
          <p:sp>
            <p:nvSpPr>
              <p:cNvPr id="22613" name="Line 38"/>
              <p:cNvSpPr/>
              <p:nvPr/>
            </p:nvSpPr>
            <p:spPr>
              <a:xfrm flipH="1">
                <a:off x="2784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14" name="Oval 39"/>
              <p:cNvSpPr/>
              <p:nvPr/>
            </p:nvSpPr>
            <p:spPr>
              <a:xfrm flipH="1">
                <a:off x="3024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130</a:t>
                </a:r>
              </a:p>
            </p:txBody>
          </p:sp>
          <p:sp>
            <p:nvSpPr>
              <p:cNvPr id="22615" name="Line 40"/>
              <p:cNvSpPr/>
              <p:nvPr/>
            </p:nvSpPr>
            <p:spPr>
              <a:xfrm>
                <a:off x="2976" y="2328"/>
                <a:ext cx="96" cy="215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99" name="Group 41"/>
            <p:cNvGrpSpPr/>
            <p:nvPr/>
          </p:nvGrpSpPr>
          <p:grpSpPr>
            <a:xfrm>
              <a:off x="1680" y="1632"/>
              <a:ext cx="576" cy="346"/>
              <a:chOff x="1680" y="1632"/>
              <a:chExt cx="576" cy="346"/>
            </a:xfrm>
          </p:grpSpPr>
          <p:sp>
            <p:nvSpPr>
              <p:cNvPr id="22608" name="Oval 42"/>
              <p:cNvSpPr/>
              <p:nvPr/>
            </p:nvSpPr>
            <p:spPr>
              <a:xfrm>
                <a:off x="1872" y="163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80</a:t>
                </a:r>
              </a:p>
            </p:txBody>
          </p:sp>
          <p:sp>
            <p:nvSpPr>
              <p:cNvPr id="22609" name="Line 43"/>
              <p:cNvSpPr/>
              <p:nvPr/>
            </p:nvSpPr>
            <p:spPr>
              <a:xfrm flipH="1">
                <a:off x="1680" y="1786"/>
                <a:ext cx="20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10" name="Line 44"/>
              <p:cNvSpPr/>
              <p:nvPr/>
            </p:nvSpPr>
            <p:spPr>
              <a:xfrm>
                <a:off x="2052" y="1786"/>
                <a:ext cx="20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600" name="Group 45"/>
            <p:cNvGrpSpPr/>
            <p:nvPr/>
          </p:nvGrpSpPr>
          <p:grpSpPr>
            <a:xfrm>
              <a:off x="3024" y="1632"/>
              <a:ext cx="576" cy="346"/>
              <a:chOff x="1680" y="1632"/>
              <a:chExt cx="576" cy="346"/>
            </a:xfrm>
          </p:grpSpPr>
          <p:sp>
            <p:nvSpPr>
              <p:cNvPr id="22605" name="Oval 46"/>
              <p:cNvSpPr/>
              <p:nvPr/>
            </p:nvSpPr>
            <p:spPr>
              <a:xfrm>
                <a:off x="1872" y="163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40</a:t>
                </a:r>
              </a:p>
            </p:txBody>
          </p:sp>
          <p:sp>
            <p:nvSpPr>
              <p:cNvPr id="22606" name="Line 47"/>
              <p:cNvSpPr/>
              <p:nvPr/>
            </p:nvSpPr>
            <p:spPr>
              <a:xfrm flipH="1">
                <a:off x="1680" y="1786"/>
                <a:ext cx="20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607" name="Line 48"/>
              <p:cNvSpPr/>
              <p:nvPr/>
            </p:nvSpPr>
            <p:spPr>
              <a:xfrm>
                <a:off x="2052" y="1786"/>
                <a:ext cx="20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601" name="Group 49"/>
            <p:cNvGrpSpPr/>
            <p:nvPr/>
          </p:nvGrpSpPr>
          <p:grpSpPr>
            <a:xfrm>
              <a:off x="2006" y="1248"/>
              <a:ext cx="730" cy="404"/>
              <a:chOff x="2006" y="1248"/>
              <a:chExt cx="730" cy="404"/>
            </a:xfrm>
          </p:grpSpPr>
          <p:sp>
            <p:nvSpPr>
              <p:cNvPr id="22603" name="Oval 50"/>
              <p:cNvSpPr/>
              <p:nvPr/>
            </p:nvSpPr>
            <p:spPr>
              <a:xfrm>
                <a:off x="2544" y="124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150</a:t>
                </a:r>
              </a:p>
            </p:txBody>
          </p:sp>
          <p:sp>
            <p:nvSpPr>
              <p:cNvPr id="22604" name="Line 51"/>
              <p:cNvSpPr/>
              <p:nvPr/>
            </p:nvSpPr>
            <p:spPr>
              <a:xfrm flipH="1">
                <a:off x="2006" y="1378"/>
                <a:ext cx="540" cy="27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2602" name="Line 52"/>
            <p:cNvSpPr/>
            <p:nvPr/>
          </p:nvSpPr>
          <p:spPr>
            <a:xfrm>
              <a:off x="2734" y="1378"/>
              <a:ext cx="528" cy="27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" name="Text Box 54"/>
          <p:cNvSpPr txBox="1"/>
          <p:nvPr/>
        </p:nvSpPr>
        <p:spPr>
          <a:xfrm>
            <a:off x="6096000" y="3124200"/>
            <a:ext cx="2286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PercolateDown (7)</a:t>
            </a:r>
          </a:p>
        </p:txBody>
      </p:sp>
      <p:sp>
        <p:nvSpPr>
          <p:cNvPr id="45" name="Line 55"/>
          <p:cNvSpPr/>
          <p:nvPr/>
        </p:nvSpPr>
        <p:spPr>
          <a:xfrm flipH="1">
            <a:off x="5562600" y="3429000"/>
            <a:ext cx="609600" cy="9906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" name="Line 56"/>
          <p:cNvSpPr/>
          <p:nvPr/>
        </p:nvSpPr>
        <p:spPr>
          <a:xfrm>
            <a:off x="5562600" y="4648200"/>
            <a:ext cx="152400" cy="3048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" name="Text Box 57"/>
          <p:cNvSpPr txBox="1"/>
          <p:nvPr/>
        </p:nvSpPr>
        <p:spPr>
          <a:xfrm>
            <a:off x="6096000" y="3429000"/>
            <a:ext cx="2286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PercolateDown (6)</a:t>
            </a:r>
          </a:p>
        </p:txBody>
      </p:sp>
      <p:grpSp>
        <p:nvGrpSpPr>
          <p:cNvPr id="48" name="Group 58"/>
          <p:cNvGrpSpPr/>
          <p:nvPr/>
        </p:nvGrpSpPr>
        <p:grpSpPr>
          <a:xfrm>
            <a:off x="3962400" y="4343400"/>
            <a:ext cx="609600" cy="914400"/>
            <a:chOff x="2496" y="3312"/>
            <a:chExt cx="384" cy="576"/>
          </a:xfrm>
        </p:grpSpPr>
        <p:sp>
          <p:nvSpPr>
            <p:cNvPr id="22592" name="Oval 59"/>
            <p:cNvSpPr/>
            <p:nvPr/>
          </p:nvSpPr>
          <p:spPr>
            <a:xfrm>
              <a:off x="2688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22593" name="Oval 60"/>
            <p:cNvSpPr/>
            <p:nvPr/>
          </p:nvSpPr>
          <p:spPr>
            <a:xfrm>
              <a:off x="2496" y="3696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70</a:t>
              </a:r>
            </a:p>
          </p:txBody>
        </p:sp>
        <p:sp>
          <p:nvSpPr>
            <p:cNvPr id="22594" name="Line 61"/>
            <p:cNvSpPr/>
            <p:nvPr/>
          </p:nvSpPr>
          <p:spPr>
            <a:xfrm flipH="1">
              <a:off x="2640" y="3480"/>
              <a:ext cx="96" cy="215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2" name="Text Box 62"/>
          <p:cNvSpPr txBox="1"/>
          <p:nvPr/>
        </p:nvSpPr>
        <p:spPr>
          <a:xfrm>
            <a:off x="6096000" y="3733800"/>
            <a:ext cx="2286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PercolateDown (5)</a:t>
            </a:r>
          </a:p>
        </p:txBody>
      </p:sp>
      <p:sp>
        <p:nvSpPr>
          <p:cNvPr id="53" name="Line 63"/>
          <p:cNvSpPr/>
          <p:nvPr/>
        </p:nvSpPr>
        <p:spPr>
          <a:xfrm>
            <a:off x="3429000" y="4648200"/>
            <a:ext cx="152400" cy="3048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" name="Text Box 64"/>
          <p:cNvSpPr txBox="1"/>
          <p:nvPr/>
        </p:nvSpPr>
        <p:spPr>
          <a:xfrm>
            <a:off x="6096000" y="4022725"/>
            <a:ext cx="2286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PercolateDown (4)</a:t>
            </a:r>
          </a:p>
        </p:txBody>
      </p:sp>
      <p:grpSp>
        <p:nvGrpSpPr>
          <p:cNvPr id="55" name="Group 65"/>
          <p:cNvGrpSpPr/>
          <p:nvPr/>
        </p:nvGrpSpPr>
        <p:grpSpPr>
          <a:xfrm>
            <a:off x="2133600" y="4343400"/>
            <a:ext cx="609600" cy="914400"/>
            <a:chOff x="1344" y="3312"/>
            <a:chExt cx="384" cy="576"/>
          </a:xfrm>
        </p:grpSpPr>
        <p:sp>
          <p:nvSpPr>
            <p:cNvPr id="22589" name="Oval 66"/>
            <p:cNvSpPr/>
            <p:nvPr/>
          </p:nvSpPr>
          <p:spPr>
            <a:xfrm>
              <a:off x="1344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22590" name="Oval 67"/>
            <p:cNvSpPr/>
            <p:nvPr/>
          </p:nvSpPr>
          <p:spPr>
            <a:xfrm flipH="1">
              <a:off x="1536" y="3696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22591" name="Line 68"/>
            <p:cNvSpPr/>
            <p:nvPr/>
          </p:nvSpPr>
          <p:spPr>
            <a:xfrm>
              <a:off x="1488" y="3480"/>
              <a:ext cx="96" cy="215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9" name="Text Box 69"/>
          <p:cNvSpPr txBox="1"/>
          <p:nvPr/>
        </p:nvSpPr>
        <p:spPr>
          <a:xfrm>
            <a:off x="6096000" y="4343400"/>
            <a:ext cx="2286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PercolateDown (3)</a:t>
            </a:r>
          </a:p>
        </p:txBody>
      </p:sp>
      <p:sp>
        <p:nvSpPr>
          <p:cNvPr id="60" name="Line 70"/>
          <p:cNvSpPr/>
          <p:nvPr/>
        </p:nvSpPr>
        <p:spPr>
          <a:xfrm flipH="1">
            <a:off x="4506913" y="4040188"/>
            <a:ext cx="323850" cy="3048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" name="Text Box 71"/>
          <p:cNvSpPr txBox="1"/>
          <p:nvPr/>
        </p:nvSpPr>
        <p:spPr>
          <a:xfrm>
            <a:off x="6096000" y="4632325"/>
            <a:ext cx="2286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PercolateDown (2)</a:t>
            </a:r>
          </a:p>
        </p:txBody>
      </p:sp>
      <p:grpSp>
        <p:nvGrpSpPr>
          <p:cNvPr id="62" name="Group 72"/>
          <p:cNvGrpSpPr/>
          <p:nvPr/>
        </p:nvGrpSpPr>
        <p:grpSpPr>
          <a:xfrm>
            <a:off x="2667000" y="3810000"/>
            <a:ext cx="838200" cy="838200"/>
            <a:chOff x="1680" y="2976"/>
            <a:chExt cx="528" cy="528"/>
          </a:xfrm>
        </p:grpSpPr>
        <p:sp>
          <p:nvSpPr>
            <p:cNvPr id="22586" name="Oval 73"/>
            <p:cNvSpPr/>
            <p:nvPr/>
          </p:nvSpPr>
          <p:spPr>
            <a:xfrm>
              <a:off x="2016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80</a:t>
              </a:r>
            </a:p>
          </p:txBody>
        </p:sp>
        <p:sp>
          <p:nvSpPr>
            <p:cNvPr id="22587" name="Oval 74"/>
            <p:cNvSpPr/>
            <p:nvPr/>
          </p:nvSpPr>
          <p:spPr>
            <a:xfrm>
              <a:off x="1680" y="2976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2588" name="Line 75"/>
            <p:cNvSpPr/>
            <p:nvPr/>
          </p:nvSpPr>
          <p:spPr>
            <a:xfrm>
              <a:off x="1860" y="3130"/>
              <a:ext cx="204" cy="192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6" name="Group 76"/>
          <p:cNvGrpSpPr/>
          <p:nvPr/>
        </p:nvGrpSpPr>
        <p:grpSpPr>
          <a:xfrm>
            <a:off x="3200400" y="4343400"/>
            <a:ext cx="609600" cy="914400"/>
            <a:chOff x="2016" y="3312"/>
            <a:chExt cx="384" cy="576"/>
          </a:xfrm>
        </p:grpSpPr>
        <p:sp>
          <p:nvSpPr>
            <p:cNvPr id="22583" name="Oval 77"/>
            <p:cNvSpPr/>
            <p:nvPr/>
          </p:nvSpPr>
          <p:spPr>
            <a:xfrm flipH="1">
              <a:off x="2208" y="3696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80</a:t>
              </a:r>
            </a:p>
          </p:txBody>
        </p:sp>
        <p:sp>
          <p:nvSpPr>
            <p:cNvPr id="22584" name="Line 78"/>
            <p:cNvSpPr/>
            <p:nvPr/>
          </p:nvSpPr>
          <p:spPr>
            <a:xfrm>
              <a:off x="2160" y="3480"/>
              <a:ext cx="96" cy="215"/>
            </a:xfrm>
            <a:prstGeom prst="line">
              <a:avLst/>
            </a:prstGeom>
            <a:ln w="635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85" name="Oval 79"/>
            <p:cNvSpPr/>
            <p:nvPr/>
          </p:nvSpPr>
          <p:spPr>
            <a:xfrm>
              <a:off x="2016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60</a:t>
              </a:r>
            </a:p>
          </p:txBody>
        </p:sp>
      </p:grpSp>
      <p:sp>
        <p:nvSpPr>
          <p:cNvPr id="70" name="Text Box 80"/>
          <p:cNvSpPr txBox="1"/>
          <p:nvPr/>
        </p:nvSpPr>
        <p:spPr>
          <a:xfrm>
            <a:off x="6096000" y="4937125"/>
            <a:ext cx="2286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PercolateDown (1)</a:t>
            </a:r>
          </a:p>
        </p:txBody>
      </p:sp>
      <p:grpSp>
        <p:nvGrpSpPr>
          <p:cNvPr id="71" name="Group 81"/>
          <p:cNvGrpSpPr/>
          <p:nvPr/>
        </p:nvGrpSpPr>
        <p:grpSpPr>
          <a:xfrm>
            <a:off x="2667000" y="3200400"/>
            <a:ext cx="1371600" cy="914400"/>
            <a:chOff x="1680" y="2592"/>
            <a:chExt cx="864" cy="576"/>
          </a:xfrm>
        </p:grpSpPr>
        <p:sp>
          <p:nvSpPr>
            <p:cNvPr id="22580" name="Oval 82"/>
            <p:cNvSpPr/>
            <p:nvPr/>
          </p:nvSpPr>
          <p:spPr>
            <a:xfrm>
              <a:off x="1680" y="2976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150</a:t>
              </a:r>
            </a:p>
          </p:txBody>
        </p:sp>
        <p:sp>
          <p:nvSpPr>
            <p:cNvPr id="22581" name="Oval 83"/>
            <p:cNvSpPr/>
            <p:nvPr/>
          </p:nvSpPr>
          <p:spPr>
            <a:xfrm>
              <a:off x="2352" y="259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2582" name="Line 84"/>
            <p:cNvSpPr/>
            <p:nvPr/>
          </p:nvSpPr>
          <p:spPr>
            <a:xfrm flipH="1">
              <a:off x="1814" y="2722"/>
              <a:ext cx="540" cy="274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5" name="Group 85"/>
          <p:cNvGrpSpPr/>
          <p:nvPr/>
        </p:nvGrpSpPr>
        <p:grpSpPr>
          <a:xfrm>
            <a:off x="2133600" y="3810000"/>
            <a:ext cx="838200" cy="838200"/>
            <a:chOff x="1344" y="2976"/>
            <a:chExt cx="528" cy="528"/>
          </a:xfrm>
        </p:grpSpPr>
        <p:sp>
          <p:nvSpPr>
            <p:cNvPr id="22577" name="Oval 86"/>
            <p:cNvSpPr/>
            <p:nvPr/>
          </p:nvSpPr>
          <p:spPr>
            <a:xfrm>
              <a:off x="1344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150</a:t>
              </a:r>
            </a:p>
          </p:txBody>
        </p:sp>
        <p:sp>
          <p:nvSpPr>
            <p:cNvPr id="22578" name="Line 87"/>
            <p:cNvSpPr/>
            <p:nvPr/>
          </p:nvSpPr>
          <p:spPr>
            <a:xfrm flipH="1">
              <a:off x="1488" y="3130"/>
              <a:ext cx="204" cy="192"/>
            </a:xfrm>
            <a:prstGeom prst="line">
              <a:avLst/>
            </a:prstGeom>
            <a:ln w="508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9" name="Oval 88"/>
            <p:cNvSpPr/>
            <p:nvPr/>
          </p:nvSpPr>
          <p:spPr>
            <a:xfrm>
              <a:off x="1680" y="2976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79" name="Group 89"/>
          <p:cNvGrpSpPr/>
          <p:nvPr/>
        </p:nvGrpSpPr>
        <p:grpSpPr>
          <a:xfrm>
            <a:off x="2136775" y="4346575"/>
            <a:ext cx="609600" cy="914400"/>
            <a:chOff x="1344" y="3312"/>
            <a:chExt cx="384" cy="576"/>
          </a:xfrm>
        </p:grpSpPr>
        <p:sp>
          <p:nvSpPr>
            <p:cNvPr id="22574" name="Oval 90"/>
            <p:cNvSpPr/>
            <p:nvPr/>
          </p:nvSpPr>
          <p:spPr>
            <a:xfrm flipH="1">
              <a:off x="1536" y="3696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150</a:t>
              </a:r>
            </a:p>
          </p:txBody>
        </p:sp>
        <p:sp>
          <p:nvSpPr>
            <p:cNvPr id="22575" name="Line 91"/>
            <p:cNvSpPr/>
            <p:nvPr/>
          </p:nvSpPr>
          <p:spPr>
            <a:xfrm>
              <a:off x="1488" y="3480"/>
              <a:ext cx="96" cy="215"/>
            </a:xfrm>
            <a:prstGeom prst="line">
              <a:avLst/>
            </a:prstGeom>
            <a:ln w="635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76" name="Oval 92"/>
            <p:cNvSpPr/>
            <p:nvPr/>
          </p:nvSpPr>
          <p:spPr>
            <a:xfrm>
              <a:off x="1344" y="3312"/>
              <a:ext cx="192" cy="192"/>
            </a:xfrm>
            <a:prstGeom prst="ellipse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30</a:t>
              </a:r>
            </a:p>
          </p:txBody>
        </p:sp>
      </p:grpSp>
      <p:sp>
        <p:nvSpPr>
          <p:cNvPr id="83" name="Text Box 93"/>
          <p:cNvSpPr txBox="1"/>
          <p:nvPr/>
        </p:nvSpPr>
        <p:spPr>
          <a:xfrm>
            <a:off x="685800" y="3810000"/>
            <a:ext cx="1676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?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1524000" y="5657850"/>
            <a:ext cx="6705600" cy="685800"/>
            <a:chOff x="1828800" y="3581400"/>
            <a:chExt cx="6705600" cy="685800"/>
          </a:xfrm>
        </p:grpSpPr>
        <p:sp>
          <p:nvSpPr>
            <p:cNvPr id="22557" name="Rectangle 53"/>
            <p:cNvSpPr/>
            <p:nvPr/>
          </p:nvSpPr>
          <p:spPr>
            <a:xfrm>
              <a:off x="1981200" y="3962400"/>
              <a:ext cx="6324600" cy="304800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     150  80  40  30  10   70  110  100  20  90  60  50  120  140  130</a:t>
              </a:r>
            </a:p>
          </p:txBody>
        </p:sp>
        <p:sp>
          <p:nvSpPr>
            <p:cNvPr id="22558" name="Text Box 71"/>
            <p:cNvSpPr txBox="1"/>
            <p:nvPr/>
          </p:nvSpPr>
          <p:spPr>
            <a:xfrm>
              <a:off x="1828800" y="3581400"/>
              <a:ext cx="6705600" cy="3698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/>
                <a:t>   0     1    2   3    4   5    6    7     8    9   10  11 12  13    14    15</a:t>
              </a:r>
            </a:p>
          </p:txBody>
        </p:sp>
        <p:cxnSp>
          <p:nvCxnSpPr>
            <p:cNvPr id="87" name="直接连接符 86"/>
            <p:cNvCxnSpPr/>
            <p:nvPr/>
          </p:nvCxnSpPr>
          <p:spPr>
            <a:xfrm>
              <a:off x="2286000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2819400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3200400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3505200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3863975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4213225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4572000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5029200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5486400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>
              <a:off x="5813425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6172200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6488113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6846888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7304088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7761288" y="3962400"/>
              <a:ext cx="0" cy="304800"/>
            </a:xfrm>
            <a:prstGeom prst="line">
              <a:avLst/>
            </a:prstGeom>
            <a:ln w="25400" cmpd="sng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7" grpId="0"/>
      <p:bldP spid="27658" grpId="0"/>
      <p:bldP spid="2" grpId="0"/>
      <p:bldP spid="4" grpId="0" bldLvl="0" animBg="1"/>
      <p:bldP spid="5" grpId="0"/>
      <p:bldP spid="44" grpId="0"/>
      <p:bldP spid="47" grpId="0"/>
      <p:bldP spid="52" grpId="0"/>
      <p:bldP spid="54" grpId="0"/>
      <p:bldP spid="59" grpId="0"/>
      <p:bldP spid="61" grpId="0"/>
      <p:bldP spid="70" grpId="0"/>
      <p:bldP spid="8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3"/>
          <p:cNvSpPr txBox="1"/>
          <p:nvPr/>
        </p:nvSpPr>
        <p:spPr>
          <a:xfrm>
            <a:off x="457200" y="457200"/>
            <a:ext cx="81534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【Theorem】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For the perfect binary tree of height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containing 2</a:t>
            </a:r>
            <a:r>
              <a:rPr lang="en-US" altLang="zh-CN" sz="2400" b="1" i="1" baseline="30000" dirty="0"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Wingdings" panose="05000000000000000000" pitchFamily="2" charset="2"/>
              </a:rPr>
              <a:t>+1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 1 nodes, the sum of the heights of the nodes is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CN" sz="2400" b="1" i="1" baseline="30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2400" b="1" baseline="30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+1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 1  (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+ 1)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33796" name="Group 4"/>
          <p:cNvGrpSpPr/>
          <p:nvPr/>
        </p:nvGrpSpPr>
        <p:grpSpPr>
          <a:xfrm>
            <a:off x="2667000" y="1752600"/>
            <a:ext cx="3352800" cy="457200"/>
            <a:chOff x="1680" y="1104"/>
            <a:chExt cx="2112" cy="288"/>
          </a:xfrm>
        </p:grpSpPr>
        <p:sp>
          <p:nvSpPr>
            <p:cNvPr id="23582" name="Text Box 5"/>
            <p:cNvSpPr txBox="1"/>
            <p:nvPr/>
          </p:nvSpPr>
          <p:spPr>
            <a:xfrm>
              <a:off x="2208" y="1104"/>
              <a:ext cx="158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(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 = O (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3583" name="AutoShape 6"/>
            <p:cNvSpPr/>
            <p:nvPr/>
          </p:nvSpPr>
          <p:spPr>
            <a:xfrm>
              <a:off x="1680" y="1200"/>
              <a:ext cx="480" cy="96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33804" name="Rectangle 12"/>
          <p:cNvSpPr/>
          <p:nvPr/>
        </p:nvSpPr>
        <p:spPr>
          <a:xfrm>
            <a:off x="457200" y="3048000"/>
            <a:ext cx="8229600" cy="30781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Example: Buile Heap (Illustrate in the class)</a:t>
            </a:r>
          </a:p>
        </p:txBody>
      </p:sp>
      <p:graphicFrame>
        <p:nvGraphicFramePr>
          <p:cNvPr id="33862" name="Group 70"/>
          <p:cNvGraphicFramePr>
            <a:graphicFrameLocks noGrp="1"/>
          </p:cNvGraphicFramePr>
          <p:nvPr/>
        </p:nvGraphicFramePr>
        <p:xfrm>
          <a:off x="1371600" y="4495800"/>
          <a:ext cx="6096000" cy="5175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8" marB="454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43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41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7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55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marT="45428" marB="454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63" name="Text Box 71"/>
          <p:cNvSpPr txBox="1"/>
          <p:nvPr/>
        </p:nvSpPr>
        <p:spPr>
          <a:xfrm>
            <a:off x="1295400" y="4114800"/>
            <a:ext cx="6477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   0        1       2         3       4       5        6        7       8        9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804" grpId="0"/>
      <p:bldP spid="338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/>
          <p:nvPr/>
        </p:nvSpPr>
        <p:spPr>
          <a:xfrm>
            <a:off x="250825" y="333375"/>
            <a:ext cx="7200900" cy="724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Steps:</a:t>
            </a:r>
          </a:p>
          <a:p>
            <a:pPr marL="342900" lvl="0" indent="-342900" eaLnBrk="1" hangingPunct="1">
              <a:spcBef>
                <a:spcPct val="50000"/>
              </a:spcBef>
              <a:buAutoNum type="arabicParenR"/>
            </a:pPr>
            <a:r>
              <a:rPr lang="en-US" altLang="zh-CN" sz="1800" dirty="0">
                <a:latin typeface="Times New Roman" panose="02020603050405020304" pitchFamily="18" charset="0"/>
              </a:rPr>
              <a:t>Assume that n be the total number of nodes in the heap tree and the elements are saved in array a</a:t>
            </a:r>
          </a:p>
          <a:p>
            <a:pPr marL="342900" lvl="0" indent="-342900" eaLnBrk="1" hangingPunct="1">
              <a:spcBef>
                <a:spcPct val="50000"/>
              </a:spcBef>
              <a:buAutoNum type="arabicParenR"/>
            </a:pPr>
            <a:r>
              <a:rPr lang="en-US" altLang="zh-CN" sz="1800" dirty="0">
                <a:latin typeface="Times New Roman" panose="02020603050405020304" pitchFamily="18" charset="0"/>
              </a:rPr>
              <a:t>p=n/2</a:t>
            </a:r>
          </a:p>
          <a:p>
            <a:pPr marL="342900" lvl="0" indent="-342900" eaLnBrk="1" hangingPunct="1">
              <a:spcBef>
                <a:spcPct val="50000"/>
              </a:spcBef>
              <a:buAutoNum type="arabicParenR"/>
            </a:pPr>
            <a:r>
              <a:rPr lang="en-US" altLang="zh-CN" sz="1800" dirty="0">
                <a:latin typeface="Times New Roman" panose="02020603050405020304" pitchFamily="18" charset="0"/>
              </a:rPr>
              <a:t>while (p&gt;=1) { PercolateDown(p,a,n) ; p=p-1;}</a:t>
            </a:r>
          </a:p>
          <a:p>
            <a:pPr marL="342900" lvl="0" indent="-342900" eaLnBrk="1" hangingPunct="1">
              <a:spcBef>
                <a:spcPct val="50000"/>
              </a:spcBef>
              <a:buAutoNum type="arabicParenR"/>
            </a:pPr>
            <a:r>
              <a:rPr lang="en-US" altLang="zh-CN" sz="1800" dirty="0">
                <a:latin typeface="Times New Roman" panose="02020603050405020304" pitchFamily="18" charset="0"/>
              </a:rPr>
              <a:t>stop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PercolateDown(p, a, n)</a:t>
            </a:r>
          </a:p>
          <a:p>
            <a:pPr marL="342900" lvl="0" indent="-342900" eaLnBrk="1" hangingPunct="1">
              <a:spcBef>
                <a:spcPct val="50000"/>
              </a:spcBef>
              <a:buAutoNum type="arabicParenR"/>
            </a:pPr>
            <a:r>
              <a:rPr lang="en-US" altLang="zh-CN" sz="1800" dirty="0">
                <a:latin typeface="Times New Roman" panose="02020603050405020304" pitchFamily="18" charset="0"/>
              </a:rPr>
              <a:t>v=a[p];</a:t>
            </a:r>
          </a:p>
          <a:p>
            <a:pPr marL="342900" lvl="0" indent="-342900" eaLnBrk="1" hangingPunct="1">
              <a:spcBef>
                <a:spcPct val="50000"/>
              </a:spcBef>
              <a:buAutoNum type="arabicParenR"/>
            </a:pPr>
            <a:r>
              <a:rPr lang="en-US" altLang="zh-CN" sz="1800" dirty="0">
                <a:latin typeface="Times New Roman" panose="02020603050405020304" pitchFamily="18" charset="0"/>
              </a:rPr>
              <a:t>while (p&lt;=n/2) 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{ i=2*p;  /* a[i] saves the left child node of a[p]*/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if i&lt;n &amp;&amp; a[i]&lt;a[i+1] i++;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if (v&gt;=a[i])  goto step 3             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  a[p]=a[i]; </a:t>
            </a:r>
            <a:r>
              <a:rPr lang="en-US" altLang="zh-CN" sz="1800" dirty="0">
                <a:solidFill>
                  <a:srgbClr val="FF3300"/>
                </a:solidFill>
                <a:latin typeface="Times New Roman" panose="02020603050405020304" pitchFamily="18" charset="0"/>
              </a:rPr>
              <a:t>p=i</a:t>
            </a:r>
            <a:r>
              <a:rPr lang="en-US" altLang="zh-CN" sz="1800" dirty="0">
                <a:latin typeface="Times New Roman" panose="02020603050405020304" pitchFamily="18" charset="0"/>
              </a:rPr>
              <a:t>;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           }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3) a[p]=v;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4) stop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             </a:t>
            </a: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               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838200" y="2286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 </a:t>
            </a:r>
            <a:r>
              <a:rPr lang="en-US" altLang="zh-CN" sz="36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d</a:t>
            </a:r>
            <a:r>
              <a:rPr lang="en-US" altLang="zh-CN" sz="36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-Heaps</a:t>
            </a:r>
            <a:endParaRPr lang="en-US" altLang="zh-CN" sz="3600" b="1" i="1" dirty="0">
              <a:latin typeface="Times New Roman" panose="02020603050405020304" pitchFamily="18" charset="0"/>
            </a:endParaRPr>
          </a:p>
        </p:txBody>
      </p:sp>
      <p:sp>
        <p:nvSpPr>
          <p:cNvPr id="34819" name="Text Box 3"/>
          <p:cNvSpPr txBox="1"/>
          <p:nvPr/>
        </p:nvSpPr>
        <p:spPr>
          <a:xfrm>
            <a:off x="2743200" y="304800"/>
            <a:ext cx="5638800" cy="95408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---- All non-leaf nodes except the last one have </a:t>
            </a:r>
            <a:r>
              <a:rPr lang="en-US" altLang="zh-CN" sz="28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 children</a:t>
            </a:r>
          </a:p>
        </p:txBody>
      </p:sp>
      <p:grpSp>
        <p:nvGrpSpPr>
          <p:cNvPr id="34820" name="Group 4"/>
          <p:cNvGrpSpPr/>
          <p:nvPr/>
        </p:nvGrpSpPr>
        <p:grpSpPr>
          <a:xfrm>
            <a:off x="1295400" y="1371600"/>
            <a:ext cx="6096000" cy="2286000"/>
            <a:chOff x="816" y="720"/>
            <a:chExt cx="3840" cy="1440"/>
          </a:xfrm>
        </p:grpSpPr>
        <p:sp>
          <p:nvSpPr>
            <p:cNvPr id="25607" name="Oval 5"/>
            <p:cNvSpPr/>
            <p:nvPr/>
          </p:nvSpPr>
          <p:spPr>
            <a:xfrm>
              <a:off x="2832" y="11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5608" name="Oval 6"/>
            <p:cNvSpPr/>
            <p:nvPr/>
          </p:nvSpPr>
          <p:spPr>
            <a:xfrm>
              <a:off x="2832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25609" name="Oval 7"/>
            <p:cNvSpPr/>
            <p:nvPr/>
          </p:nvSpPr>
          <p:spPr>
            <a:xfrm>
              <a:off x="2448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13</a:t>
              </a:r>
            </a:p>
          </p:txBody>
        </p:sp>
        <p:sp>
          <p:nvSpPr>
            <p:cNvPr id="25610" name="Oval 8"/>
            <p:cNvSpPr/>
            <p:nvPr/>
          </p:nvSpPr>
          <p:spPr>
            <a:xfrm>
              <a:off x="3216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5611" name="Line 9"/>
            <p:cNvSpPr/>
            <p:nvPr/>
          </p:nvSpPr>
          <p:spPr>
            <a:xfrm>
              <a:off x="2928" y="1296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2" name="Line 10"/>
            <p:cNvSpPr/>
            <p:nvPr/>
          </p:nvSpPr>
          <p:spPr>
            <a:xfrm flipH="1">
              <a:off x="2544" y="1248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3" name="Line 11"/>
            <p:cNvSpPr/>
            <p:nvPr/>
          </p:nvSpPr>
          <p:spPr>
            <a:xfrm>
              <a:off x="3024" y="1248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4" name="Oval 12"/>
            <p:cNvSpPr/>
            <p:nvPr/>
          </p:nvSpPr>
          <p:spPr>
            <a:xfrm>
              <a:off x="4080" y="11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5615" name="Oval 13"/>
            <p:cNvSpPr/>
            <p:nvPr/>
          </p:nvSpPr>
          <p:spPr>
            <a:xfrm>
              <a:off x="4080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25616" name="Oval 14"/>
            <p:cNvSpPr/>
            <p:nvPr/>
          </p:nvSpPr>
          <p:spPr>
            <a:xfrm>
              <a:off x="3696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5617" name="Oval 15"/>
            <p:cNvSpPr/>
            <p:nvPr/>
          </p:nvSpPr>
          <p:spPr>
            <a:xfrm>
              <a:off x="4464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5618" name="Line 16"/>
            <p:cNvSpPr/>
            <p:nvPr/>
          </p:nvSpPr>
          <p:spPr>
            <a:xfrm>
              <a:off x="4176" y="1296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9" name="Line 17"/>
            <p:cNvSpPr/>
            <p:nvPr/>
          </p:nvSpPr>
          <p:spPr>
            <a:xfrm flipH="1">
              <a:off x="3792" y="1248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0" name="Line 18"/>
            <p:cNvSpPr/>
            <p:nvPr/>
          </p:nvSpPr>
          <p:spPr>
            <a:xfrm>
              <a:off x="4272" y="1248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1" name="Oval 19"/>
            <p:cNvSpPr/>
            <p:nvPr/>
          </p:nvSpPr>
          <p:spPr>
            <a:xfrm>
              <a:off x="1584" y="11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622" name="Oval 20"/>
            <p:cNvSpPr/>
            <p:nvPr/>
          </p:nvSpPr>
          <p:spPr>
            <a:xfrm>
              <a:off x="1584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5623" name="Oval 21"/>
            <p:cNvSpPr/>
            <p:nvPr/>
          </p:nvSpPr>
          <p:spPr>
            <a:xfrm>
              <a:off x="1200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624" name="Oval 22"/>
            <p:cNvSpPr/>
            <p:nvPr/>
          </p:nvSpPr>
          <p:spPr>
            <a:xfrm>
              <a:off x="1968" y="148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5625" name="Line 23"/>
            <p:cNvSpPr/>
            <p:nvPr/>
          </p:nvSpPr>
          <p:spPr>
            <a:xfrm>
              <a:off x="1680" y="1296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6" name="Line 24"/>
            <p:cNvSpPr/>
            <p:nvPr/>
          </p:nvSpPr>
          <p:spPr>
            <a:xfrm flipH="1">
              <a:off x="1296" y="1248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7" name="Line 25"/>
            <p:cNvSpPr/>
            <p:nvPr/>
          </p:nvSpPr>
          <p:spPr>
            <a:xfrm>
              <a:off x="1776" y="1248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8" name="Oval 26"/>
            <p:cNvSpPr/>
            <p:nvPr/>
          </p:nvSpPr>
          <p:spPr>
            <a:xfrm>
              <a:off x="1200" y="187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5629" name="Oval 27"/>
            <p:cNvSpPr/>
            <p:nvPr/>
          </p:nvSpPr>
          <p:spPr>
            <a:xfrm>
              <a:off x="816" y="187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25630" name="Line 28"/>
            <p:cNvSpPr/>
            <p:nvPr/>
          </p:nvSpPr>
          <p:spPr>
            <a:xfrm>
              <a:off x="1296" y="1680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1" name="Line 29"/>
            <p:cNvSpPr/>
            <p:nvPr/>
          </p:nvSpPr>
          <p:spPr>
            <a:xfrm flipH="1">
              <a:off x="912" y="1632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2" name="Oval 30"/>
            <p:cNvSpPr/>
            <p:nvPr/>
          </p:nvSpPr>
          <p:spPr>
            <a:xfrm>
              <a:off x="2832" y="72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33" name="Line 31"/>
            <p:cNvSpPr/>
            <p:nvPr/>
          </p:nvSpPr>
          <p:spPr>
            <a:xfrm>
              <a:off x="2928" y="912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4" name="Line 32"/>
            <p:cNvSpPr/>
            <p:nvPr/>
          </p:nvSpPr>
          <p:spPr>
            <a:xfrm flipH="1">
              <a:off x="1776" y="864"/>
              <a:ext cx="1056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5" name="Line 33"/>
            <p:cNvSpPr/>
            <p:nvPr/>
          </p:nvSpPr>
          <p:spPr>
            <a:xfrm>
              <a:off x="3024" y="864"/>
              <a:ext cx="1056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6" name="Text Box 34"/>
            <p:cNvSpPr txBox="1"/>
            <p:nvPr/>
          </p:nvSpPr>
          <p:spPr>
            <a:xfrm>
              <a:off x="2112" y="1872"/>
              <a:ext cx="139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3-heap</a:t>
              </a:r>
            </a:p>
          </p:txBody>
        </p:sp>
      </p:grpSp>
      <p:sp>
        <p:nvSpPr>
          <p:cNvPr id="34851" name="Oval 35"/>
          <p:cNvSpPr/>
          <p:nvPr/>
        </p:nvSpPr>
        <p:spPr>
          <a:xfrm>
            <a:off x="533400" y="3733800"/>
            <a:ext cx="7848600" cy="914400"/>
          </a:xfrm>
          <a:prstGeom prst="ellipse">
            <a:avLst/>
          </a:prstGeom>
          <a:gradFill rotWithShape="0">
            <a:gsLst>
              <a:gs pos="0">
                <a:srgbClr val="A6CFA6"/>
              </a:gs>
              <a:gs pos="50000">
                <a:srgbClr val="CCFFCC"/>
              </a:gs>
              <a:gs pos="100000">
                <a:srgbClr val="A6CFA6"/>
              </a:gs>
            </a:gsLst>
            <a:lin ang="0" scaled="1"/>
            <a:tileRect/>
          </a:gradFill>
          <a:ln w="25400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Question:</a:t>
            </a:r>
            <a:r>
              <a:rPr lang="en-US" altLang="zh-CN" sz="2400" b="1" dirty="0">
                <a:latin typeface="Times New Roman" panose="02020603050405020304" pitchFamily="18" charset="0"/>
              </a:rPr>
              <a:t>  Shall we make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 as large as possible?</a:t>
            </a:r>
          </a:p>
        </p:txBody>
      </p:sp>
      <p:sp>
        <p:nvSpPr>
          <p:cNvPr id="34852" name="AutoShape 36" descr="再生纸"/>
          <p:cNvSpPr/>
          <p:nvPr/>
        </p:nvSpPr>
        <p:spPr>
          <a:xfrm>
            <a:off x="609600" y="4724400"/>
            <a:ext cx="7772400" cy="1905000"/>
          </a:xfrm>
          <a:prstGeom prst="roundRect">
            <a:avLst>
              <a:gd name="adj" fmla="val 16667"/>
            </a:avLst>
          </a:prstGeom>
          <a:blipFill rotWithShape="0">
            <a:blip r:embed="rId4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26000" tIns="82800" rIns="126000" bIns="82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662305" lvl="0" indent="-662305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 DeleteMin will take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 1 comparisons to find the smallest child.   Hence the total time complexity would be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O(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log</a:t>
            </a:r>
            <a:r>
              <a:rPr lang="en-US" altLang="zh-CN" sz="2000" b="1" i="1" baseline="-25000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N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marL="662305" lvl="0" indent="-662305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 *2 or /2 is merely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 bit shift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but *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or /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is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not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662305" lvl="0" indent="-662305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 When the priority queue is too large to fit entirely in main memory, a </a:t>
            </a:r>
            <a:r>
              <a:rPr lang="en-US" altLang="zh-CN" sz="20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-heap will become interesting.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19" grpId="0"/>
      <p:bldP spid="34851" grpId="0" animBg="1"/>
      <p:bldP spid="3485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2209</Words>
  <Application>Microsoft Office PowerPoint</Application>
  <PresentationFormat>全屏显示(4:3)</PresentationFormat>
  <Paragraphs>437</Paragraphs>
  <Slides>22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等线</vt:lpstr>
      <vt:lpstr>宋体</vt:lpstr>
      <vt:lpstr>微软雅黑</vt:lpstr>
      <vt:lpstr>Arial</vt:lpstr>
      <vt:lpstr>Symbol</vt:lpstr>
      <vt:lpstr>Times New Roman</vt:lpstr>
      <vt:lpstr>Webdings</vt:lpstr>
      <vt:lpstr>Wingdings</vt:lpstr>
      <vt:lpstr>默认设计模板</vt:lpstr>
      <vt:lpstr>1_默认设计模板</vt:lpstr>
      <vt:lpstr>2_默认设计模板</vt:lpstr>
      <vt:lpstr>Equation.3</vt:lpstr>
      <vt:lpstr>MS_ClipArt_Gallery.2</vt:lpstr>
      <vt:lpstr>Ch. 6 Priority Queues  (优先级队列）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by 的</cp:lastModifiedBy>
  <cp:revision>95</cp:revision>
  <dcterms:created xsi:type="dcterms:W3CDTF">2019-10-30T02:52:00Z</dcterms:created>
  <dcterms:modified xsi:type="dcterms:W3CDTF">2026-01-02T02:23:46Z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67F80DCE221745609A30F6A04AC8BE69_13</vt:lpwstr>
  </property>
</Properties>
</file>