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93" r:id="rId10"/>
    <p:sldId id="264" r:id="rId11"/>
    <p:sldId id="265" r:id="rId12"/>
    <p:sldId id="266" r:id="rId13"/>
    <p:sldId id="267" r:id="rId14"/>
    <p:sldId id="268" r:id="rId15"/>
    <p:sldId id="269" r:id="rId16"/>
    <p:sldId id="271" r:id="rId18"/>
    <p:sldId id="272" r:id="rId19"/>
    <p:sldId id="273" r:id="rId20"/>
    <p:sldId id="28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1" r:id="rId30"/>
    <p:sldId id="315" r:id="rId31"/>
    <p:sldId id="314" r:id="rId3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814"/>
    <p:restoredTop sz="96497"/>
  </p:normalViewPr>
  <p:slideViewPr>
    <p:cSldViewPr showGuides="1">
      <p:cViewPr varScale="1">
        <p:scale>
          <a:sx n="111" d="100"/>
          <a:sy n="111" d="100"/>
        </p:scale>
        <p:origin x="1548" y="96"/>
      </p:cViewPr>
      <p:guideLst>
        <p:guide orient="horz" pos="219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A5DD50-2527-4C04-BE71-1E794E227AC7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435FD0-265E-4758-9E49-AB4C37AB0F3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幻灯片图像占位符 1"/>
          <p:cNvSpPr>
            <a:spLocks noGrp="1" noRo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2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69" name="Freeform 9"/>
            <p:cNvSpPr/>
            <p:nvPr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2147483646" y="282677479"/>
                </a:cxn>
                <a:cxn ang="0">
                  <a:pos x="2147483646" y="227637368"/>
                </a:cxn>
                <a:cxn ang="0">
                  <a:pos x="2147483646" y="150415550"/>
                </a:cxn>
                <a:cxn ang="0">
                  <a:pos x="433075605" y="0"/>
                </a:cxn>
                <a:cxn ang="0">
                  <a:pos x="139675611" y="14251007"/>
                </a:cxn>
                <a:cxn ang="0">
                  <a:pos x="0" y="59450214"/>
                </a:cxn>
                <a:cxn ang="0">
                  <a:pos x="170217266" y="111021832"/>
                </a:cxn>
                <a:cxn ang="0">
                  <a:pos x="2147483646" y="292878829"/>
                </a:cxn>
                <a:cxn ang="0">
                  <a:pos x="2147483646" y="281233513"/>
                </a:cxn>
                <a:cxn ang="0">
                  <a:pos x="2147483646" y="296295895"/>
                </a:cxn>
                <a:cxn ang="0">
                  <a:pos x="2147483646" y="282677479"/>
                </a:cxn>
                <a:cxn ang="0">
                  <a:pos x="2147483646" y="282677479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Freeform 10"/>
            <p:cNvSpPr/>
            <p:nvPr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24980" y="0"/>
                </a:cxn>
                <a:cxn ang="0">
                  <a:pos x="242628" y="11102"/>
                </a:cxn>
                <a:cxn ang="0">
                  <a:pos x="260296" y="13648"/>
                </a:cxn>
                <a:cxn ang="0">
                  <a:pos x="289136" y="16940"/>
                </a:cxn>
                <a:cxn ang="0">
                  <a:pos x="285311" y="17563"/>
                </a:cxn>
                <a:cxn ang="0">
                  <a:pos x="246048" y="16833"/>
                </a:cxn>
                <a:cxn ang="0">
                  <a:pos x="208692" y="17350"/>
                </a:cxn>
                <a:cxn ang="0">
                  <a:pos x="7546" y="6393"/>
                </a:cxn>
                <a:cxn ang="0">
                  <a:pos x="0" y="3210"/>
                </a:cxn>
                <a:cxn ang="0">
                  <a:pos x="8368" y="677"/>
                </a:cxn>
                <a:cxn ang="0">
                  <a:pos x="24980" y="0"/>
                </a:cxn>
                <a:cxn ang="0">
                  <a:pos x="2498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Freeform 11"/>
            <p:cNvSpPr/>
            <p:nvPr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7270"/>
                </a:cxn>
                <a:cxn ang="0">
                  <a:pos x="174614" y="16723"/>
                </a:cxn>
                <a:cxn ang="0">
                  <a:pos x="177862" y="11956"/>
                </a:cxn>
                <a:cxn ang="0">
                  <a:pos x="198691" y="9452"/>
                </a:cxn>
                <a:cxn ang="0">
                  <a:pos x="14771" y="0"/>
                </a:cxn>
                <a:cxn ang="0">
                  <a:pos x="0" y="2832"/>
                </a:cxn>
                <a:cxn ang="0">
                  <a:pos x="0" y="7270"/>
                </a:cxn>
                <a:cxn ang="0">
                  <a:pos x="0" y="7270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73" name="Freeform 13"/>
              <p:cNvSpPr/>
              <p:nvPr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19692" y="0"/>
                  </a:cxn>
                  <a:cxn ang="0">
                    <a:pos x="7248" y="1613"/>
                  </a:cxn>
                  <a:cxn ang="0">
                    <a:pos x="0" y="4208"/>
                  </a:cxn>
                  <a:cxn ang="0">
                    <a:pos x="14328" y="3889"/>
                  </a:cxn>
                  <a:cxn ang="0">
                    <a:pos x="18457" y="2055"/>
                  </a:cxn>
                  <a:cxn ang="0">
                    <a:pos x="26932" y="652"/>
                  </a:cxn>
                  <a:cxn ang="0">
                    <a:pos x="19692" y="0"/>
                  </a:cxn>
                  <a:cxn ang="0">
                    <a:pos x="19692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4" name="Freeform 14"/>
              <p:cNvSpPr/>
              <p:nvPr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29030" y="0"/>
                  </a:cxn>
                  <a:cxn ang="0">
                    <a:pos x="11737" y="1139"/>
                  </a:cxn>
                  <a:cxn ang="0">
                    <a:pos x="0" y="4554"/>
                  </a:cxn>
                  <a:cxn ang="0">
                    <a:pos x="12519" y="7854"/>
                  </a:cxn>
                  <a:cxn ang="0">
                    <a:pos x="220043" y="18973"/>
                  </a:cxn>
                  <a:cxn ang="0">
                    <a:pos x="264748" y="18281"/>
                  </a:cxn>
                  <a:cxn ang="0">
                    <a:pos x="300973" y="19260"/>
                  </a:cxn>
                  <a:cxn ang="0">
                    <a:pos x="313542" y="17705"/>
                  </a:cxn>
                  <a:cxn ang="0">
                    <a:pos x="279624" y="14527"/>
                  </a:cxn>
                  <a:cxn ang="0">
                    <a:pos x="265842" y="11218"/>
                  </a:cxn>
                  <a:cxn ang="0">
                    <a:pos x="254965" y="11535"/>
                  </a:cxn>
                  <a:cxn ang="0">
                    <a:pos x="267888" y="14527"/>
                  </a:cxn>
                  <a:cxn ang="0">
                    <a:pos x="293797" y="17717"/>
                  </a:cxn>
                  <a:cxn ang="0">
                    <a:pos x="263106" y="17227"/>
                  </a:cxn>
                  <a:cxn ang="0">
                    <a:pos x="226918" y="17797"/>
                  </a:cxn>
                  <a:cxn ang="0">
                    <a:pos x="233615" y="14216"/>
                  </a:cxn>
                  <a:cxn ang="0">
                    <a:pos x="249132" y="11777"/>
                  </a:cxn>
                  <a:cxn ang="0">
                    <a:pos x="230967" y="12081"/>
                  </a:cxn>
                  <a:cxn ang="0">
                    <a:pos x="216885" y="14413"/>
                  </a:cxn>
                  <a:cxn ang="0">
                    <a:pos x="212099" y="17318"/>
                  </a:cxn>
                  <a:cxn ang="0">
                    <a:pos x="19945" y="6783"/>
                  </a:cxn>
                  <a:cxn ang="0">
                    <a:pos x="14850" y="4699"/>
                  </a:cxn>
                  <a:cxn ang="0">
                    <a:pos x="19167" y="2092"/>
                  </a:cxn>
                  <a:cxn ang="0">
                    <a:pos x="40337" y="0"/>
                  </a:cxn>
                  <a:cxn ang="0">
                    <a:pos x="29030" y="0"/>
                  </a:cxn>
                  <a:cxn ang="0">
                    <a:pos x="29030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5" name="Freeform 15"/>
              <p:cNvSpPr/>
              <p:nvPr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18632" y="0"/>
                  </a:cxn>
                  <a:cxn ang="0">
                    <a:pos x="221460" y="10669"/>
                  </a:cxn>
                  <a:cxn ang="0">
                    <a:pos x="200108" y="10885"/>
                  </a:cxn>
                  <a:cxn ang="0">
                    <a:pos x="0" y="587"/>
                  </a:cxn>
                  <a:cxn ang="0">
                    <a:pos x="18632" y="0"/>
                  </a:cxn>
                  <a:cxn ang="0">
                    <a:pos x="18632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" name="Freeform 16"/>
              <p:cNvSpPr/>
              <p:nvPr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22077" y="0"/>
                  </a:cxn>
                  <a:cxn ang="0">
                    <a:pos x="3615" y="2208"/>
                  </a:cxn>
                  <a:cxn ang="0">
                    <a:pos x="0" y="4755"/>
                  </a:cxn>
                  <a:cxn ang="0">
                    <a:pos x="6335" y="6501"/>
                  </a:cxn>
                  <a:cxn ang="0">
                    <a:pos x="17801" y="6931"/>
                  </a:cxn>
                  <a:cxn ang="0">
                    <a:pos x="14453" y="3174"/>
                  </a:cxn>
                  <a:cxn ang="0">
                    <a:pos x="30368" y="362"/>
                  </a:cxn>
                  <a:cxn ang="0">
                    <a:pos x="22077" y="0"/>
                  </a:cxn>
                  <a:cxn ang="0">
                    <a:pos x="22077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7" name="Freeform 17"/>
              <p:cNvSpPr/>
              <p:nvPr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2563" y="764"/>
                  </a:cxn>
                  <a:cxn ang="0">
                    <a:pos x="28564" y="1476"/>
                  </a:cxn>
                  <a:cxn ang="0">
                    <a:pos x="57959" y="3053"/>
                  </a:cxn>
                  <a:cxn ang="0">
                    <a:pos x="78715" y="5413"/>
                  </a:cxn>
                  <a:cxn ang="0">
                    <a:pos x="58310" y="5119"/>
                  </a:cxn>
                  <a:cxn ang="0">
                    <a:pos x="24794" y="3253"/>
                  </a:cxn>
                  <a:cxn ang="0">
                    <a:pos x="8922" y="1779"/>
                  </a:cxn>
                  <a:cxn ang="0">
                    <a:pos x="19084" y="3626"/>
                  </a:cxn>
                  <a:cxn ang="0">
                    <a:pos x="48640" y="6001"/>
                  </a:cxn>
                  <a:cxn ang="0">
                    <a:pos x="83313" y="6602"/>
                  </a:cxn>
                  <a:cxn ang="0">
                    <a:pos x="87445" y="4984"/>
                  </a:cxn>
                  <a:cxn ang="0">
                    <a:pos x="70479" y="2680"/>
                  </a:cxn>
                  <a:cxn ang="0">
                    <a:pos x="30370" y="386"/>
                  </a:cxn>
                  <a:cxn ang="0">
                    <a:pos x="0" y="0"/>
                  </a:cxn>
                  <a:cxn ang="0">
                    <a:pos x="2563" y="764"/>
                  </a:cxn>
                  <a:cxn ang="0">
                    <a:pos x="2563" y="764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0" name="Freeform 19"/>
            <p:cNvSpPr/>
            <p:nvPr/>
          </p:nvSpPr>
          <p:spPr>
            <a:xfrm rot="7320404">
              <a:off x="4903" y="2930"/>
              <a:ext cx="629" cy="293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22" y="2"/>
                </a:cxn>
                <a:cxn ang="0">
                  <a:pos x="17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17" y="2"/>
                </a:cxn>
                <a:cxn ang="0">
                  <a:pos x="21" y="2"/>
                </a:cxn>
                <a:cxn ang="0">
                  <a:pos x="24" y="2"/>
                </a:cxn>
                <a:cxn ang="0">
                  <a:pos x="24" y="2"/>
                </a:cxn>
                <a:cxn ang="0">
                  <a:pos x="24" y="2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Freeform 20"/>
            <p:cNvSpPr/>
            <p:nvPr/>
          </p:nvSpPr>
          <p:spPr>
            <a:xfrm rot="7320404">
              <a:off x="4887" y="2916"/>
              <a:ext cx="627" cy="2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Freeform 21"/>
            <p:cNvSpPr/>
            <p:nvPr/>
          </p:nvSpPr>
          <p:spPr>
            <a:xfrm rot="7320404">
              <a:off x="4993" y="2907"/>
              <a:ext cx="416" cy="2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2064" name="Freeform 23"/>
              <p:cNvSpPr/>
              <p:nvPr/>
            </p:nvSpPr>
            <p:spPr>
              <a:xfrm rot="7320404">
                <a:off x="4981" y="3184"/>
                <a:ext cx="59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5" name="Freeform 24"/>
              <p:cNvSpPr/>
              <p:nvPr/>
            </p:nvSpPr>
            <p:spPr>
              <a:xfrm rot="7320404">
                <a:off x="4881" y="2924"/>
                <a:ext cx="667" cy="3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6" name="Freeform 25"/>
              <p:cNvSpPr/>
              <p:nvPr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7" name="Freeform 26"/>
              <p:cNvSpPr/>
              <p:nvPr/>
            </p:nvSpPr>
            <p:spPr>
              <a:xfrm rot="7320404">
                <a:off x="5358" y="2866"/>
                <a:ext cx="63" cy="1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" name="Freeform 27"/>
              <p:cNvSpPr/>
              <p:nvPr/>
            </p:nvSpPr>
            <p:spPr>
              <a:xfrm rot="7320404">
                <a:off x="5131" y="2993"/>
                <a:ext cx="193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53" name="Freeform 28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4" name="Freeform 2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DE10-789B-4F28-9C2B-E2F77D8A22A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/>
          <p:nvPr/>
        </p:nvSpPr>
        <p:spPr>
          <a:xfrm rot="-3172564">
            <a:off x="7777163" y="-14287"/>
            <a:ext cx="1162050" cy="20843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904A-AA71-4D73-B875-7241181A23E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Freeform 8"/>
          <p:cNvSpPr/>
          <p:nvPr/>
        </p:nvSpPr>
        <p:spPr>
          <a:xfrm rot="-3172564">
            <a:off x="7864475" y="23813"/>
            <a:ext cx="1165225" cy="20970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3" name="Freeform 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</a:cxnLst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11"/>
            <p:cNvSpPr/>
            <p:nvPr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Freeform 12"/>
            <p:cNvSpPr/>
            <p:nvPr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3" name="Freeform 13"/>
            <p:cNvSpPr/>
            <p:nvPr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4" name="Freeform 14"/>
            <p:cNvSpPr/>
            <p:nvPr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5" name="Freeform 15"/>
            <p:cNvSpPr/>
            <p:nvPr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6" name="Freeform 16"/>
            <p:cNvSpPr/>
            <p:nvPr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7" name="Freeform 17"/>
            <p:cNvSpPr/>
            <p:nvPr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8" name="Freeform 18"/>
            <p:cNvSpPr/>
            <p:nvPr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9" name="Freeform 19"/>
            <p:cNvSpPr/>
            <p:nvPr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22"/>
                <p:cNvSpPr/>
                <p:nvPr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5" name="Freeform 23"/>
                <p:cNvSpPr/>
                <p:nvPr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6" name="Freeform 24"/>
                <p:cNvSpPr/>
                <p:nvPr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062" name="Freeform 25"/>
              <p:cNvSpPr/>
              <p:nvPr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Freeform 26"/>
              <p:cNvSpPr/>
              <p:nvPr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Freeform 27"/>
              <p:cNvSpPr/>
              <p:nvPr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29"/>
                <p:cNvSpPr/>
                <p:nvPr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7" name="Freeform 30"/>
                <p:cNvSpPr/>
                <p:nvPr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8" name="Freeform 31"/>
                <p:cNvSpPr/>
                <p:nvPr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9" name="Freeform 32"/>
                <p:cNvSpPr/>
                <p:nvPr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</a:cxnLst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0" name="Freeform 33"/>
                <p:cNvSpPr/>
                <p:nvPr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1" name="Freeform 34"/>
                <p:cNvSpPr/>
                <p:nvPr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2" name="Freeform 35"/>
                <p:cNvSpPr/>
                <p:nvPr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" name="Freeform 36"/>
                <p:cNvSpPr/>
                <p:nvPr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38"/>
            <p:cNvSpPr/>
            <p:nvPr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0" name="Freeform 39"/>
            <p:cNvSpPr/>
            <p:nvPr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42"/>
              <p:cNvSpPr/>
              <p:nvPr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44"/>
                <p:cNvSpPr/>
                <p:nvPr/>
              </p:nvSpPr>
              <p:spPr>
                <a:xfrm rot="-3172564">
                  <a:off x="4960" y="65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2" name="Freeform 45"/>
                <p:cNvSpPr/>
                <p:nvPr/>
              </p:nvSpPr>
              <p:spPr>
                <a:xfrm rot="-3172564">
                  <a:off x="5043" y="324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3" name="Freeform 46"/>
                <p:cNvSpPr/>
                <p:nvPr/>
              </p:nvSpPr>
              <p:spPr>
                <a:xfrm rot="-3172564">
                  <a:off x="4853" y="174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4" name="Freeform 47"/>
                <p:cNvSpPr/>
                <p:nvPr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5" name="Freeform 48"/>
                <p:cNvSpPr/>
                <p:nvPr/>
              </p:nvSpPr>
              <p:spPr>
                <a:xfrm rot="-3172564">
                  <a:off x="5292" y="889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6" name="Freeform 49"/>
                <p:cNvSpPr/>
                <p:nvPr/>
              </p:nvSpPr>
              <p:spPr>
                <a:xfrm rot="-3172564">
                  <a:off x="5247" y="798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7" name="Freeform 50"/>
                <p:cNvSpPr/>
                <p:nvPr/>
              </p:nvSpPr>
              <p:spPr>
                <a:xfrm rot="-3172564">
                  <a:off x="4979" y="204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8" name="Freeform 51"/>
                <p:cNvSpPr/>
                <p:nvPr/>
              </p:nvSpPr>
              <p:spPr>
                <a:xfrm rot="-3172564">
                  <a:off x="4943" y="134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1038" name="Line 52"/>
            <p:cNvSpPr/>
            <p:nvPr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2.wav"/><Relationship Id="rId5" Type="http://schemas.openxmlformats.org/officeDocument/2006/relationships/audio" Target="../media/audio1.wav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3.wav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audio" Target="../media/audio4.wav"/><Relationship Id="rId3" Type="http://schemas.openxmlformats.org/officeDocument/2006/relationships/audio" Target="../media/audio1.wav"/><Relationship Id="rId2" Type="http://schemas.openxmlformats.org/officeDocument/2006/relationships/image" Target="../media/image9.wmf"/><Relationship Id="rId1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oleObject" Target="../embeddings/oleObject14.bin"/><Relationship Id="rId7" Type="http://schemas.openxmlformats.org/officeDocument/2006/relationships/image" Target="../media/image12.wmf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0.wmf"/><Relationship Id="rId13" Type="http://schemas.openxmlformats.org/officeDocument/2006/relationships/notesSlide" Target="../notesSlides/notesSlide1.xml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2.xml"/><Relationship Id="rId10" Type="http://schemas.openxmlformats.org/officeDocument/2006/relationships/audio" Target="../media/audio1.wav"/><Relationship Id="rId1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9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wmf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7.bin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6.png"/><Relationship Id="rId1" Type="http://schemas.openxmlformats.org/officeDocument/2006/relationships/oleObject" Target="../embeddings/oleObject19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21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Chap.9 Graph(I)</a:t>
            </a:r>
            <a:endParaRPr kumimoji="0" lang="en-US" altLang="zh-CN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436688" y="341313"/>
            <a:ext cx="5291137" cy="87947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Graph Terminology</a:t>
            </a:r>
            <a:endParaRPr lang="en-US" altLang="zh-CN" dirty="0"/>
          </a:p>
        </p:txBody>
      </p:sp>
      <p:sp>
        <p:nvSpPr>
          <p:cNvPr id="4099" name="Text Box 3"/>
          <p:cNvSpPr txBox="1"/>
          <p:nvPr/>
        </p:nvSpPr>
        <p:spPr>
          <a:xfrm>
            <a:off x="596900" y="1236663"/>
            <a:ext cx="8021638" cy="562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NewRoman" charset="0"/>
              </a:rPr>
              <a:t>     </a:t>
            </a:r>
            <a:r>
              <a:rPr lang="en-US" altLang="zh-CN" sz="2400" dirty="0"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graph G(V,E)</a:t>
            </a:r>
            <a:r>
              <a:rPr lang="en-US" altLang="zh-CN" sz="2400" dirty="0">
                <a:latin typeface="Times New Roman" panose="02020603050405020304" pitchFamily="18" charset="0"/>
              </a:rPr>
              <a:t> consists of a set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V </a:t>
            </a:r>
            <a:r>
              <a:rPr lang="en-US" altLang="zh-CN" sz="2400" dirty="0">
                <a:latin typeface="Times New Roman" panose="02020603050405020304" pitchFamily="18" charset="0"/>
              </a:rPr>
              <a:t>of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vertices</a:t>
            </a:r>
            <a:r>
              <a:rPr lang="en-US" altLang="zh-CN" sz="2400" dirty="0">
                <a:latin typeface="Times New Roman" panose="02020603050405020304" pitchFamily="18" charset="0"/>
              </a:rPr>
              <a:t> and a set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</a:rPr>
              <a:t> of linking pairs of vertices. These pairs of vertices are called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edges</a:t>
            </a:r>
            <a:r>
              <a:rPr lang="en-US" altLang="zh-CN" sz="2400" dirty="0">
                <a:latin typeface="Times New Roman" panose="02020603050405020304" pitchFamily="18" charset="0"/>
              </a:rPr>
              <a:t>.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latin typeface="TimesNewRoman" charset="0"/>
              </a:rPr>
              <a:t>     </a:t>
            </a:r>
            <a:endParaRPr lang="en-US" altLang="zh-CN" sz="2400" dirty="0">
              <a:latin typeface="TimesNewRoman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sz="2400" dirty="0">
              <a:latin typeface="TimesNewRoman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sz="2400" dirty="0">
              <a:latin typeface="TimesNewRoman" charset="0"/>
            </a:endParaRPr>
          </a:p>
          <a:p>
            <a:pPr marL="0" lvl="0" indent="0" eaLnBrk="1" hangingPunct="1">
              <a:spcBef>
                <a:spcPct val="1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Undirected graph:</a:t>
            </a:r>
            <a:r>
              <a:rPr lang="en-US" altLang="zh-CN" sz="2400" dirty="0">
                <a:latin typeface="TimesNewRoman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If each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</a:t>
            </a:r>
            <a:r>
              <a:rPr lang="en-US" altLang="zh-CN" sz="18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in the 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</a:rPr>
              <a:t> is undirected, that is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= 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</a:t>
            </a:r>
            <a:r>
              <a:rPr lang="en-US" altLang="zh-CN" sz="1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::= the same edge</a:t>
            </a:r>
            <a:r>
              <a:rPr lang="en-US" altLang="zh-CN" sz="2400" dirty="0">
                <a:latin typeface="Times New Roman" panose="02020603050405020304" pitchFamily="18" charset="0"/>
              </a:rPr>
              <a:t>.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Directed graph (Digraph):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If each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&lt;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,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&gt;</a:t>
            </a:r>
            <a:r>
              <a:rPr lang="en-US" altLang="zh-CN" sz="18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in the 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</a:rPr>
              <a:t> is directed,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&lt;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&gt; ::=          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&lt;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&gt;</a:t>
            </a:r>
            <a:endParaRPr lang="en-US" altLang="zh-CN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1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1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In directed graph, the edges is also called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arcs</a:t>
            </a:r>
            <a:r>
              <a:rPr lang="zh-CN" altLang="en-US" sz="2400" dirty="0">
                <a:latin typeface="Times New Roman" panose="02020603050405020304" pitchFamily="18" charset="0"/>
              </a:rPr>
              <a:t>（弧）</a:t>
            </a:r>
            <a:r>
              <a:rPr lang="en-US" altLang="zh-CN" sz="2400" dirty="0">
                <a:latin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4"/>
          <p:cNvGrpSpPr/>
          <p:nvPr/>
        </p:nvGrpSpPr>
        <p:grpSpPr>
          <a:xfrm>
            <a:off x="3335020" y="5704840"/>
            <a:ext cx="1371600" cy="685800"/>
            <a:chOff x="3072" y="2156"/>
            <a:chExt cx="864" cy="432"/>
          </a:xfrm>
        </p:grpSpPr>
        <p:grpSp>
          <p:nvGrpSpPr>
            <p:cNvPr id="5126" name="Group 5"/>
            <p:cNvGrpSpPr/>
            <p:nvPr/>
          </p:nvGrpSpPr>
          <p:grpSpPr>
            <a:xfrm>
              <a:off x="3216" y="2156"/>
              <a:ext cx="577" cy="193"/>
              <a:chOff x="1584" y="3264"/>
              <a:chExt cx="577" cy="193"/>
            </a:xfrm>
          </p:grpSpPr>
          <p:sp>
            <p:nvSpPr>
              <p:cNvPr id="5129" name="Oval 6"/>
              <p:cNvSpPr/>
              <p:nvPr/>
            </p:nvSpPr>
            <p:spPr>
              <a:xfrm>
                <a:off x="1584" y="3264"/>
                <a:ext cx="193" cy="193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0" bIns="82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i</a:t>
                </a:r>
                <a:endParaRPr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0" name="Oval 7"/>
              <p:cNvSpPr/>
              <p:nvPr/>
            </p:nvSpPr>
            <p:spPr>
              <a:xfrm>
                <a:off x="1968" y="3264"/>
                <a:ext cx="193" cy="193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0" bIns="82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j</a:t>
                </a:r>
                <a:endParaRPr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1" name="Line 8"/>
              <p:cNvSpPr/>
              <p:nvPr/>
            </p:nvSpPr>
            <p:spPr>
              <a:xfrm>
                <a:off x="1776" y="3360"/>
                <a:ext cx="192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5127" name="AutoShape 9"/>
            <p:cNvSpPr/>
            <p:nvPr/>
          </p:nvSpPr>
          <p:spPr>
            <a:xfrm flipV="1">
              <a:off x="3072" y="2396"/>
              <a:ext cx="384" cy="192"/>
            </a:xfrm>
            <a:prstGeom prst="wedgeRectCallout">
              <a:avLst>
                <a:gd name="adj1" fmla="val 3903"/>
                <a:gd name="adj2" fmla="val 93750"/>
              </a:avLst>
            </a:prstGeom>
            <a:gradFill rotWithShape="0">
              <a:gsLst>
                <a:gs pos="0">
                  <a:srgbClr val="D5D5D5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tail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5128" name="AutoShape 10"/>
            <p:cNvSpPr/>
            <p:nvPr/>
          </p:nvSpPr>
          <p:spPr>
            <a:xfrm flipV="1">
              <a:off x="3552" y="2396"/>
              <a:ext cx="384" cy="192"/>
            </a:xfrm>
            <a:prstGeom prst="wedgeRectCallout">
              <a:avLst>
                <a:gd name="adj1" fmla="val -14588"/>
                <a:gd name="adj2" fmla="val 98958"/>
              </a:avLst>
            </a:prstGeom>
            <a:gradFill rotWithShape="0">
              <a:gsLst>
                <a:gs pos="0">
                  <a:srgbClr val="E2E2E2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head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pic>
        <p:nvPicPr>
          <p:cNvPr id="4107" name="Picture 11" descr="text6-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13" y="2162175"/>
            <a:ext cx="5741987" cy="19002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0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charRg st="0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151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charRg st="151" end="2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267" end="3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charRg st="267" end="3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384" end="4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099">
                                            <p:txEl>
                                              <p:charRg st="384" end="4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1598613" y="206375"/>
            <a:ext cx="4314825" cy="87947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Terminology</a:t>
            </a:r>
            <a:endParaRPr lang="en-US" altLang="zh-CN" dirty="0"/>
          </a:p>
        </p:txBody>
      </p:sp>
      <p:pic>
        <p:nvPicPr>
          <p:cNvPr id="6147" name="Picture 3" descr="text6-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638" y="1687513"/>
            <a:ext cx="5741987" cy="19002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124" name="Text Box 4"/>
          <p:cNvSpPr txBox="1"/>
          <p:nvPr/>
        </p:nvSpPr>
        <p:spPr>
          <a:xfrm>
            <a:off x="552450" y="4019550"/>
            <a:ext cx="8040688" cy="2225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</a:rPr>
              <a:t>V(G1)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{0, 1, 2, 3}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</a:rPr>
              <a:t>E(G1)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{ (0,1), (0,2), (0,3), (1,2),(1,3), (2,3) }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CN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</a:rPr>
              <a:t>V(G2)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{0, 1, 2, 3, 4, 5, 6}</a:t>
            </a:r>
            <a:r>
              <a:rPr lang="en-US" altLang="zh-CN" sz="2000" b="1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</a:rPr>
              <a:t>E(G2)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{ (0,1), (0,2), (1,3), (1,4), (2,5), (2,6) }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CN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</a:rPr>
              <a:t>V(G3)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{0, 1, 2}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                </a:t>
            </a:r>
            <a:r>
              <a:rPr lang="en-US" altLang="zh-CN" sz="2000" b="1" dirty="0">
                <a:solidFill>
                  <a:srgbClr val="FF0033"/>
                </a:solidFill>
                <a:latin typeface="Arial" panose="020B0604020202020204" pitchFamily="34" charset="0"/>
              </a:rPr>
              <a:t>E(G3)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{ &lt; 0, 1 &gt;, &lt; 1, 0 &gt;, &lt; 1, 2 &gt; }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CN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G1 and G2 are undirected graphs, and G3 is a directed graph.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sz="2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charRg st="86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charRg st="86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charRg st="171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charRg st="171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charRg st="247" end="3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charRg st="247" end="3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1465263" y="269875"/>
            <a:ext cx="4313237" cy="881063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Terminology</a:t>
            </a:r>
            <a:endParaRPr lang="en-US" altLang="zh-CN" dirty="0"/>
          </a:p>
        </p:txBody>
      </p:sp>
      <p:sp>
        <p:nvSpPr>
          <p:cNvPr id="6147" name="Text Box 3"/>
          <p:cNvSpPr txBox="1"/>
          <p:nvPr/>
        </p:nvSpPr>
        <p:spPr>
          <a:xfrm>
            <a:off x="585788" y="1398588"/>
            <a:ext cx="8040687" cy="3638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Complete Graph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----- </a:t>
            </a:r>
            <a:r>
              <a:rPr lang="en-US" altLang="zh-CN" sz="2400" dirty="0">
                <a:latin typeface="Times New Roman" panose="02020603050405020304" pitchFamily="18" charset="0"/>
              </a:rPr>
              <a:t>a graph that has the maximum number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               of edges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914400" lvl="1" indent="-45720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Directed Graph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(n vertices)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buNone/>
            </a:pPr>
            <a:endParaRPr lang="en-US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 eaLnBrk="1" hangingPunct="1">
              <a:buNone/>
            </a:pPr>
            <a:endParaRPr lang="en-US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 eaLnBrk="1" hangingPunct="1">
              <a:buNone/>
            </a:pPr>
            <a:endParaRPr lang="en-US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4400" lvl="1" indent="-45720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Undirected Graph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(n vertices)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849438" y="5202238"/>
            <a:ext cx="1219200" cy="1143000"/>
            <a:chOff x="576" y="912"/>
            <a:chExt cx="768" cy="720"/>
          </a:xfrm>
        </p:grpSpPr>
        <p:sp>
          <p:nvSpPr>
            <p:cNvPr id="7192" name="Oval 5"/>
            <p:cNvSpPr/>
            <p:nvPr/>
          </p:nvSpPr>
          <p:spPr>
            <a:xfrm>
              <a:off x="864" y="91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93" name="Oval 6"/>
            <p:cNvSpPr/>
            <p:nvPr/>
          </p:nvSpPr>
          <p:spPr>
            <a:xfrm>
              <a:off x="864" y="144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94" name="Oval 7"/>
            <p:cNvSpPr/>
            <p:nvPr/>
          </p:nvSpPr>
          <p:spPr>
            <a:xfrm>
              <a:off x="576" y="120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95" name="Oval 8"/>
            <p:cNvSpPr/>
            <p:nvPr/>
          </p:nvSpPr>
          <p:spPr>
            <a:xfrm>
              <a:off x="1152" y="120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96" name="Line 9"/>
            <p:cNvSpPr/>
            <p:nvPr/>
          </p:nvSpPr>
          <p:spPr>
            <a:xfrm>
              <a:off x="960" y="1104"/>
              <a:ext cx="0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7" name="Line 10"/>
            <p:cNvSpPr/>
            <p:nvPr/>
          </p:nvSpPr>
          <p:spPr>
            <a:xfrm>
              <a:off x="768" y="1296"/>
              <a:ext cx="38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8" name="Line 11"/>
            <p:cNvSpPr/>
            <p:nvPr/>
          </p:nvSpPr>
          <p:spPr>
            <a:xfrm flipH="1">
              <a:off x="720" y="1056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9" name="Line 12"/>
            <p:cNvSpPr/>
            <p:nvPr/>
          </p:nvSpPr>
          <p:spPr>
            <a:xfrm>
              <a:off x="1056" y="1056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0" name="Line 13"/>
            <p:cNvSpPr/>
            <p:nvPr/>
          </p:nvSpPr>
          <p:spPr>
            <a:xfrm>
              <a:off x="720" y="1392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1" name="Line 14"/>
            <p:cNvSpPr/>
            <p:nvPr/>
          </p:nvSpPr>
          <p:spPr>
            <a:xfrm flipV="1">
              <a:off x="1056" y="1392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6159" name="Object 15"/>
          <p:cNvGraphicFramePr>
            <a:graphicFrameLocks noChangeAspect="1"/>
          </p:cNvGraphicFramePr>
          <p:nvPr/>
        </p:nvGraphicFramePr>
        <p:xfrm>
          <a:off x="3916363" y="5430838"/>
          <a:ext cx="250507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19200" imgH="457200" progId="Equation.3">
                  <p:embed/>
                </p:oleObj>
              </mc:Choice>
              <mc:Fallback>
                <p:oleObj name="" r:id="rId1" imgW="1219200" imgH="457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16363" y="5430838"/>
                        <a:ext cx="2505075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6"/>
          <p:cNvGrpSpPr/>
          <p:nvPr/>
        </p:nvGrpSpPr>
        <p:grpSpPr>
          <a:xfrm>
            <a:off x="1773238" y="2817813"/>
            <a:ext cx="1219200" cy="1143000"/>
            <a:chOff x="3216" y="816"/>
            <a:chExt cx="768" cy="720"/>
          </a:xfrm>
        </p:grpSpPr>
        <p:sp>
          <p:nvSpPr>
            <p:cNvPr id="7176" name="Oval 17"/>
            <p:cNvSpPr/>
            <p:nvPr/>
          </p:nvSpPr>
          <p:spPr>
            <a:xfrm>
              <a:off x="3504" y="81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77" name="Oval 18"/>
            <p:cNvSpPr/>
            <p:nvPr/>
          </p:nvSpPr>
          <p:spPr>
            <a:xfrm>
              <a:off x="3504" y="134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78" name="Oval 19"/>
            <p:cNvSpPr/>
            <p:nvPr/>
          </p:nvSpPr>
          <p:spPr>
            <a:xfrm>
              <a:off x="3216" y="11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79" name="Oval 20"/>
            <p:cNvSpPr/>
            <p:nvPr/>
          </p:nvSpPr>
          <p:spPr>
            <a:xfrm>
              <a:off x="3792" y="11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0" name="Line 21"/>
            <p:cNvSpPr/>
            <p:nvPr/>
          </p:nvSpPr>
          <p:spPr>
            <a:xfrm>
              <a:off x="3577" y="1008"/>
              <a:ext cx="0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7181" name="Line 22"/>
            <p:cNvSpPr/>
            <p:nvPr/>
          </p:nvSpPr>
          <p:spPr>
            <a:xfrm>
              <a:off x="3408" y="1200"/>
              <a:ext cx="38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7182" name="Line 23"/>
            <p:cNvSpPr/>
            <p:nvPr/>
          </p:nvSpPr>
          <p:spPr>
            <a:xfrm flipH="1">
              <a:off x="3360" y="960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7183" name="Line 24"/>
            <p:cNvSpPr/>
            <p:nvPr/>
          </p:nvSpPr>
          <p:spPr>
            <a:xfrm>
              <a:off x="3696" y="960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7184" name="Line 25"/>
            <p:cNvSpPr/>
            <p:nvPr/>
          </p:nvSpPr>
          <p:spPr>
            <a:xfrm>
              <a:off x="3360" y="1296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7185" name="Line 26"/>
            <p:cNvSpPr/>
            <p:nvPr/>
          </p:nvSpPr>
          <p:spPr>
            <a:xfrm flipV="1">
              <a:off x="3696" y="1296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7186" name="Line 27"/>
            <p:cNvSpPr/>
            <p:nvPr/>
          </p:nvSpPr>
          <p:spPr>
            <a:xfrm flipH="1">
              <a:off x="3384" y="986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sm" len="med"/>
              <a:tailEnd type="none" w="sm" len="med"/>
            </a:ln>
          </p:spPr>
        </p:sp>
        <p:sp>
          <p:nvSpPr>
            <p:cNvPr id="7187" name="Line 28"/>
            <p:cNvSpPr/>
            <p:nvPr/>
          </p:nvSpPr>
          <p:spPr>
            <a:xfrm>
              <a:off x="3649" y="986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sm" len="med"/>
              <a:tailEnd type="none" w="sm" len="med"/>
            </a:ln>
          </p:spPr>
        </p:sp>
        <p:sp>
          <p:nvSpPr>
            <p:cNvPr id="7188" name="Line 29"/>
            <p:cNvSpPr/>
            <p:nvPr/>
          </p:nvSpPr>
          <p:spPr>
            <a:xfrm>
              <a:off x="3624" y="986"/>
              <a:ext cx="0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sm" len="med"/>
              <a:tailEnd type="none" w="sm" len="med"/>
            </a:ln>
          </p:spPr>
        </p:sp>
        <p:sp>
          <p:nvSpPr>
            <p:cNvPr id="7189" name="Line 30"/>
            <p:cNvSpPr/>
            <p:nvPr/>
          </p:nvSpPr>
          <p:spPr>
            <a:xfrm>
              <a:off x="3408" y="1248"/>
              <a:ext cx="38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sm" len="med"/>
              <a:tailEnd type="none" w="sm" len="med"/>
            </a:ln>
          </p:spPr>
        </p:sp>
        <p:sp>
          <p:nvSpPr>
            <p:cNvPr id="7190" name="Line 31"/>
            <p:cNvSpPr/>
            <p:nvPr/>
          </p:nvSpPr>
          <p:spPr>
            <a:xfrm>
              <a:off x="3361" y="1248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sm" len="med"/>
              <a:tailEnd type="none" w="sm" len="med"/>
            </a:ln>
          </p:spPr>
        </p:sp>
        <p:sp>
          <p:nvSpPr>
            <p:cNvPr id="7191" name="Line 32"/>
            <p:cNvSpPr/>
            <p:nvPr/>
          </p:nvSpPr>
          <p:spPr>
            <a:xfrm flipV="1">
              <a:off x="3670" y="1251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sm" len="med"/>
              <a:tailEnd type="none" w="sm" len="med"/>
            </a:ln>
          </p:spPr>
        </p:sp>
      </p:grpSp>
      <p:graphicFrame>
        <p:nvGraphicFramePr>
          <p:cNvPr id="6177" name="Object 33"/>
          <p:cNvGraphicFramePr>
            <a:graphicFrameLocks noChangeAspect="1"/>
          </p:cNvGraphicFramePr>
          <p:nvPr/>
        </p:nvGraphicFramePr>
        <p:xfrm>
          <a:off x="3895725" y="2947988"/>
          <a:ext cx="286861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397000" imgH="457200" progId="Equation.3">
                  <p:embed/>
                </p:oleObj>
              </mc:Choice>
              <mc:Fallback>
                <p:oleObj name="" r:id="rId3" imgW="1397000" imgH="457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95725" y="2947988"/>
                        <a:ext cx="2868613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101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101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134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charRg st="134" end="1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170" name="Text Box 2"/>
          <p:cNvSpPr txBox="1"/>
          <p:nvPr/>
        </p:nvSpPr>
        <p:spPr>
          <a:xfrm>
            <a:off x="381000" y="3141663"/>
            <a:ext cx="7848600" cy="830262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                              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is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adjacent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to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; 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is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adjacent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from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; </a:t>
            </a:r>
            <a:endParaRPr lang="en-US" altLang="zh-CN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            &lt;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,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&gt; is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incident on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and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81000" y="1725613"/>
            <a:ext cx="6400800" cy="822325"/>
            <a:chOff x="240" y="1632"/>
            <a:chExt cx="4032" cy="518"/>
          </a:xfrm>
        </p:grpSpPr>
        <p:grpSp>
          <p:nvGrpSpPr>
            <p:cNvPr id="8203" name="Group 4"/>
            <p:cNvGrpSpPr/>
            <p:nvPr/>
          </p:nvGrpSpPr>
          <p:grpSpPr>
            <a:xfrm>
              <a:off x="576" y="1680"/>
              <a:ext cx="768" cy="240"/>
              <a:chOff x="912" y="2256"/>
              <a:chExt cx="768" cy="240"/>
            </a:xfrm>
          </p:grpSpPr>
          <p:sp>
            <p:nvSpPr>
              <p:cNvPr id="8205" name="Oval 5"/>
              <p:cNvSpPr/>
              <p:nvPr/>
            </p:nvSpPr>
            <p:spPr>
              <a:xfrm>
                <a:off x="912" y="225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0" bIns="82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i</a:t>
                </a:r>
                <a:endParaRPr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06" name="Oval 6"/>
              <p:cNvSpPr/>
              <p:nvPr/>
            </p:nvSpPr>
            <p:spPr>
              <a:xfrm>
                <a:off x="1440" y="225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0" bIns="82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j</a:t>
                </a:r>
                <a:endParaRPr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07" name="Line 7"/>
              <p:cNvSpPr/>
              <p:nvPr/>
            </p:nvSpPr>
            <p:spPr>
              <a:xfrm>
                <a:off x="1152" y="2373"/>
                <a:ext cx="28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204" name="Text Box 8"/>
            <p:cNvSpPr txBox="1"/>
            <p:nvPr/>
          </p:nvSpPr>
          <p:spPr>
            <a:xfrm>
              <a:off x="240" y="1632"/>
              <a:ext cx="403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485775" lvl="0" indent="-485775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                                 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and 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j</a:t>
              </a: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are 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adjacent</a:t>
              </a: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; </a:t>
              </a:r>
              <a:endPara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endParaRPr>
            </a:p>
            <a:p>
              <a:pPr marL="485775" lvl="0" indent="-485775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                            ( 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, 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j</a:t>
              </a: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) is 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incident on</a:t>
              </a: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and 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j</a:t>
              </a: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endPara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14400" y="3217863"/>
            <a:ext cx="1219200" cy="381000"/>
            <a:chOff x="1440" y="5068"/>
            <a:chExt cx="1920" cy="600"/>
          </a:xfrm>
        </p:grpSpPr>
        <p:grpSp>
          <p:nvGrpSpPr>
            <p:cNvPr id="8199" name="组合 1"/>
            <p:cNvGrpSpPr/>
            <p:nvPr/>
          </p:nvGrpSpPr>
          <p:grpSpPr>
            <a:xfrm>
              <a:off x="1440" y="5068"/>
              <a:ext cx="1920" cy="600"/>
              <a:chOff x="1440" y="5068"/>
              <a:chExt cx="1920" cy="600"/>
            </a:xfrm>
          </p:grpSpPr>
          <p:sp>
            <p:nvSpPr>
              <p:cNvPr id="8201" name="Oval 9"/>
              <p:cNvSpPr/>
              <p:nvPr/>
            </p:nvSpPr>
            <p:spPr>
              <a:xfrm>
                <a:off x="1440" y="5067"/>
                <a:ext cx="600" cy="60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0" bIns="82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i</a:t>
                </a:r>
                <a:endParaRPr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02" name="Oval 10"/>
              <p:cNvSpPr/>
              <p:nvPr/>
            </p:nvSpPr>
            <p:spPr>
              <a:xfrm>
                <a:off x="2760" y="5067"/>
                <a:ext cx="600" cy="60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0" bIns="82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j</a:t>
                </a:r>
                <a:endParaRPr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200" name="Line 11"/>
            <p:cNvSpPr/>
            <p:nvPr/>
          </p:nvSpPr>
          <p:spPr>
            <a:xfrm>
              <a:off x="2040" y="5360"/>
              <a:ext cx="72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</p:grpSp>
      <p:sp>
        <p:nvSpPr>
          <p:cNvPr id="7180" name="Rectangle 12"/>
          <p:cNvSpPr/>
          <p:nvPr/>
        </p:nvSpPr>
        <p:spPr>
          <a:xfrm>
            <a:off x="131763" y="5000625"/>
            <a:ext cx="83185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Arial" panose="020B0604020202020204" pitchFamily="34" charset="0"/>
              </a:rPr>
              <a:t>Weighted  graph</a:t>
            </a:r>
            <a:r>
              <a:rPr lang="en-US" altLang="zh-CN" sz="2400" b="1" i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----- </a:t>
            </a:r>
            <a:r>
              <a:rPr lang="en-US" altLang="zh-CN" sz="2400" dirty="0">
                <a:latin typeface="Arial" panose="020B0604020202020204" pitchFamily="34" charset="0"/>
              </a:rPr>
              <a:t>each edge of the graph has a weight.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endParaRPr lang="en-US" altLang="zh-CN" sz="1800" dirty="0">
              <a:latin typeface="Arial" panose="020B0604020202020204" pitchFamily="34" charset="0"/>
            </a:endParaRPr>
          </a:p>
        </p:txBody>
      </p:sp>
      <p:sp>
        <p:nvSpPr>
          <p:cNvPr id="8198" name="Rectangle 13"/>
          <p:cNvSpPr>
            <a:spLocks noGrp="1"/>
          </p:cNvSpPr>
          <p:nvPr>
            <p:ph type="title"/>
          </p:nvPr>
        </p:nvSpPr>
        <p:spPr>
          <a:xfrm>
            <a:off x="1465263" y="269875"/>
            <a:ext cx="4313237" cy="8810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Terminology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8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1770063" y="342900"/>
            <a:ext cx="4313237" cy="881063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Terminology</a:t>
            </a:r>
            <a:endParaRPr lang="en-US" altLang="zh-CN" dirty="0"/>
          </a:p>
        </p:txBody>
      </p:sp>
      <p:sp>
        <p:nvSpPr>
          <p:cNvPr id="8195" name="Text Box 3"/>
          <p:cNvSpPr txBox="1"/>
          <p:nvPr/>
        </p:nvSpPr>
        <p:spPr>
          <a:xfrm>
            <a:off x="739775" y="1439863"/>
            <a:ext cx="7475538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Subgraph :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</a:rPr>
              <a:t>Assume there are two graphs G=(V,E) and G’=(V’,E’). if V’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latin typeface="Times New Roman" panose="02020603050405020304" pitchFamily="18" charset="0"/>
              </a:rPr>
              <a:t>V, and E’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latin typeface="Times New Roman" panose="02020603050405020304" pitchFamily="18" charset="0"/>
              </a:rPr>
              <a:t>E,  G’ is called subgraph of G, 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G’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 G </a:t>
            </a:r>
            <a:r>
              <a:rPr lang="en-US" altLang="zh-CN" sz="2400" dirty="0">
                <a:latin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pic>
        <p:nvPicPr>
          <p:cNvPr id="8196" name="Picture 4" descr="text6-b1"/>
          <p:cNvPicPr>
            <a:picLocks noChangeAspect="1"/>
          </p:cNvPicPr>
          <p:nvPr/>
        </p:nvPicPr>
        <p:blipFill>
          <a:blip r:embed="rId1"/>
          <a:srcRect b="50352"/>
          <a:stretch>
            <a:fillRect/>
          </a:stretch>
        </p:blipFill>
        <p:spPr>
          <a:xfrm>
            <a:off x="1338263" y="2971800"/>
            <a:ext cx="1033462" cy="1228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Picture 5" descr="text6-d"/>
          <p:cNvPicPr>
            <a:picLocks noChangeAspect="1"/>
          </p:cNvPicPr>
          <p:nvPr/>
        </p:nvPicPr>
        <p:blipFill>
          <a:blip r:embed="rId2"/>
          <a:srcRect b="55659"/>
          <a:stretch>
            <a:fillRect/>
          </a:stretch>
        </p:blipFill>
        <p:spPr>
          <a:xfrm>
            <a:off x="2782888" y="2819400"/>
            <a:ext cx="4654550" cy="13620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sp>
        <p:nvSpPr>
          <p:cNvPr id="8198" name="Text Box 6"/>
          <p:cNvSpPr txBox="1"/>
          <p:nvPr/>
        </p:nvSpPr>
        <p:spPr>
          <a:xfrm>
            <a:off x="3651250" y="3921125"/>
            <a:ext cx="2836863" cy="2444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0" tIns="0" rIns="1800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        some of subgraphs of G1</a:t>
            </a:r>
            <a:endParaRPr lang="en-US" altLang="zh-CN" sz="1600" b="1" dirty="0">
              <a:latin typeface="Times New Roman" panose="02020603050405020304" pitchFamily="18" charset="0"/>
            </a:endParaRPr>
          </a:p>
        </p:txBody>
      </p:sp>
      <p:sp>
        <p:nvSpPr>
          <p:cNvPr id="8199" name="Text Box 7"/>
          <p:cNvSpPr txBox="1"/>
          <p:nvPr/>
        </p:nvSpPr>
        <p:spPr>
          <a:xfrm>
            <a:off x="1373188" y="3898900"/>
            <a:ext cx="1206500" cy="2460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0" tIns="0" rIns="1800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graph G1</a:t>
            </a:r>
            <a:endParaRPr lang="en-US" altLang="zh-CN" sz="1600" b="1" dirty="0">
              <a:latin typeface="Times New Roman" panose="02020603050405020304" pitchFamily="18" charset="0"/>
            </a:endParaRPr>
          </a:p>
        </p:txBody>
      </p:sp>
      <p:sp>
        <p:nvSpPr>
          <p:cNvPr id="8200" name="Text Box 8"/>
          <p:cNvSpPr txBox="1"/>
          <p:nvPr/>
        </p:nvSpPr>
        <p:spPr>
          <a:xfrm>
            <a:off x="744538" y="4554538"/>
            <a:ext cx="7475537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Simple graph :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</a:rPr>
              <a:t>A graph or digraph which does not have any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self-loop </a:t>
            </a:r>
            <a:r>
              <a:rPr lang="en-US" altLang="zh-CN" sz="2400" dirty="0">
                <a:latin typeface="Times New Roman" panose="02020603050405020304" pitchFamily="18" charset="0"/>
              </a:rPr>
              <a:t>or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parallel edges</a:t>
            </a:r>
            <a:r>
              <a:rPr lang="en-US" altLang="zh-CN" sz="2400" dirty="0">
                <a:latin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5" name="Group 9"/>
          <p:cNvGrpSpPr/>
          <p:nvPr/>
        </p:nvGrpSpPr>
        <p:grpSpPr>
          <a:xfrm>
            <a:off x="2308225" y="5738813"/>
            <a:ext cx="1411288" cy="381000"/>
            <a:chOff x="2592" y="3408"/>
            <a:chExt cx="889" cy="240"/>
          </a:xfrm>
        </p:grpSpPr>
        <p:sp>
          <p:nvSpPr>
            <p:cNvPr id="9241" name="Oval 10"/>
            <p:cNvSpPr/>
            <p:nvPr/>
          </p:nvSpPr>
          <p:spPr>
            <a:xfrm>
              <a:off x="2592" y="345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42" name="Oval 11"/>
            <p:cNvSpPr/>
            <p:nvPr/>
          </p:nvSpPr>
          <p:spPr>
            <a:xfrm>
              <a:off x="3120" y="345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43" name="Freeform 12"/>
            <p:cNvSpPr/>
            <p:nvPr/>
          </p:nvSpPr>
          <p:spPr>
            <a:xfrm>
              <a:off x="2784" y="3408"/>
              <a:ext cx="384" cy="96"/>
            </a:xfrm>
            <a:custGeom>
              <a:avLst/>
              <a:gdLst/>
              <a:ahLst/>
              <a:cxnLst>
                <a:cxn ang="0">
                  <a:pos x="0" y="33"/>
                </a:cxn>
                <a:cxn ang="0">
                  <a:pos x="421" y="5"/>
                </a:cxn>
                <a:cxn ang="0">
                  <a:pos x="697" y="5"/>
                </a:cxn>
                <a:cxn ang="0">
                  <a:pos x="979" y="18"/>
                </a:cxn>
              </a:cxnLst>
              <a:pathLst>
                <a:path w="336" h="112">
                  <a:moveTo>
                    <a:pt x="0" y="112"/>
                  </a:moveTo>
                  <a:cubicBezTo>
                    <a:pt x="52" y="72"/>
                    <a:pt x="104" y="32"/>
                    <a:pt x="144" y="16"/>
                  </a:cubicBezTo>
                  <a:cubicBezTo>
                    <a:pt x="184" y="0"/>
                    <a:pt x="208" y="8"/>
                    <a:pt x="240" y="16"/>
                  </a:cubicBezTo>
                  <a:cubicBezTo>
                    <a:pt x="272" y="24"/>
                    <a:pt x="304" y="44"/>
                    <a:pt x="336" y="64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44" name="Freeform 13"/>
            <p:cNvSpPr/>
            <p:nvPr/>
          </p:nvSpPr>
          <p:spPr>
            <a:xfrm>
              <a:off x="2736" y="3552"/>
              <a:ext cx="384" cy="96"/>
            </a:xfrm>
            <a:custGeom>
              <a:avLst/>
              <a:gdLst/>
              <a:ahLst/>
              <a:cxnLst>
                <a:cxn ang="0">
                  <a:pos x="384" y="0"/>
                </a:cxn>
                <a:cxn ang="0">
                  <a:pos x="288" y="4"/>
                </a:cxn>
                <a:cxn ang="0">
                  <a:pos x="192" y="6"/>
                </a:cxn>
                <a:cxn ang="0">
                  <a:pos x="0" y="4"/>
                </a:cxn>
              </a:cxnLst>
              <a:pathLst>
                <a:path w="384" h="144">
                  <a:moveTo>
                    <a:pt x="384" y="0"/>
                  </a:moveTo>
                  <a:cubicBezTo>
                    <a:pt x="352" y="36"/>
                    <a:pt x="320" y="72"/>
                    <a:pt x="288" y="96"/>
                  </a:cubicBezTo>
                  <a:cubicBezTo>
                    <a:pt x="256" y="120"/>
                    <a:pt x="240" y="144"/>
                    <a:pt x="192" y="144"/>
                  </a:cubicBezTo>
                  <a:cubicBezTo>
                    <a:pt x="144" y="144"/>
                    <a:pt x="72" y="120"/>
                    <a:pt x="0" y="96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45" name="Arc 14"/>
            <p:cNvSpPr/>
            <p:nvPr/>
          </p:nvSpPr>
          <p:spPr>
            <a:xfrm>
              <a:off x="3289" y="3504"/>
              <a:ext cx="192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0631" h="43200" fill="none">
                  <a:moveTo>
                    <a:pt x="7220" y="3515"/>
                  </a:moveTo>
                  <a:cubicBezTo>
                    <a:pt x="10732" y="1221"/>
                    <a:pt x="14836" y="0"/>
                    <a:pt x="19031" y="0"/>
                  </a:cubicBezTo>
                  <a:cubicBezTo>
                    <a:pt x="30960" y="0"/>
                    <a:pt x="40631" y="9670"/>
                    <a:pt x="40631" y="21600"/>
                  </a:cubicBezTo>
                  <a:cubicBezTo>
                    <a:pt x="40631" y="33529"/>
                    <a:pt x="30960" y="43200"/>
                    <a:pt x="19031" y="43200"/>
                  </a:cubicBezTo>
                  <a:cubicBezTo>
                    <a:pt x="11074" y="43200"/>
                    <a:pt x="3762" y="38826"/>
                    <a:pt x="-1" y="31816"/>
                  </a:cubicBezTo>
                </a:path>
                <a:path w="40631" h="43200" stroke="0">
                  <a:moveTo>
                    <a:pt x="7220" y="3515"/>
                  </a:moveTo>
                  <a:cubicBezTo>
                    <a:pt x="10732" y="1221"/>
                    <a:pt x="14836" y="0"/>
                    <a:pt x="19031" y="0"/>
                  </a:cubicBezTo>
                  <a:cubicBezTo>
                    <a:pt x="30960" y="0"/>
                    <a:pt x="40631" y="9670"/>
                    <a:pt x="40631" y="21600"/>
                  </a:cubicBezTo>
                  <a:cubicBezTo>
                    <a:pt x="40631" y="33529"/>
                    <a:pt x="30960" y="43200"/>
                    <a:pt x="19031" y="43200"/>
                  </a:cubicBezTo>
                  <a:cubicBezTo>
                    <a:pt x="11074" y="43200"/>
                    <a:pt x="3762" y="38826"/>
                    <a:pt x="-1" y="31816"/>
                  </a:cubicBezTo>
                  <a:lnTo>
                    <a:pt x="19031" y="21600"/>
                  </a:lnTo>
                  <a:lnTo>
                    <a:pt x="7220" y="3515"/>
                  </a:lnTo>
                  <a:close/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6" name="Group 15"/>
          <p:cNvGrpSpPr/>
          <p:nvPr/>
        </p:nvGrpSpPr>
        <p:grpSpPr>
          <a:xfrm>
            <a:off x="3527425" y="5891213"/>
            <a:ext cx="228600" cy="228600"/>
            <a:chOff x="4224" y="3744"/>
            <a:chExt cx="144" cy="144"/>
          </a:xfrm>
        </p:grpSpPr>
        <p:sp>
          <p:nvSpPr>
            <p:cNvPr id="9239" name="Line 16"/>
            <p:cNvSpPr/>
            <p:nvPr/>
          </p:nvSpPr>
          <p:spPr>
            <a:xfrm>
              <a:off x="4272" y="3744"/>
              <a:ext cx="96" cy="1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0" name="Line 17"/>
            <p:cNvSpPr/>
            <p:nvPr/>
          </p:nvSpPr>
          <p:spPr>
            <a:xfrm flipH="1">
              <a:off x="4224" y="3744"/>
              <a:ext cx="144" cy="1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18"/>
          <p:cNvGrpSpPr/>
          <p:nvPr/>
        </p:nvGrpSpPr>
        <p:grpSpPr>
          <a:xfrm>
            <a:off x="5264150" y="5738813"/>
            <a:ext cx="1143000" cy="838200"/>
            <a:chOff x="3792" y="3408"/>
            <a:chExt cx="720" cy="528"/>
          </a:xfrm>
        </p:grpSpPr>
        <p:sp>
          <p:nvSpPr>
            <p:cNvPr id="9231" name="Oval 19"/>
            <p:cNvSpPr/>
            <p:nvPr/>
          </p:nvSpPr>
          <p:spPr>
            <a:xfrm>
              <a:off x="4080" y="340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32" name="Oval 20"/>
            <p:cNvSpPr/>
            <p:nvPr/>
          </p:nvSpPr>
          <p:spPr>
            <a:xfrm>
              <a:off x="3792" y="374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33" name="Oval 21"/>
            <p:cNvSpPr/>
            <p:nvPr/>
          </p:nvSpPr>
          <p:spPr>
            <a:xfrm>
              <a:off x="4320" y="374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34" name="Line 22"/>
            <p:cNvSpPr/>
            <p:nvPr/>
          </p:nvSpPr>
          <p:spPr>
            <a:xfrm flipH="1">
              <a:off x="3936" y="3552"/>
              <a:ext cx="144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5" name="Line 23"/>
            <p:cNvSpPr/>
            <p:nvPr/>
          </p:nvSpPr>
          <p:spPr>
            <a:xfrm>
              <a:off x="4272" y="3552"/>
              <a:ext cx="144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6" name="Line 24"/>
            <p:cNvSpPr/>
            <p:nvPr/>
          </p:nvSpPr>
          <p:spPr>
            <a:xfrm>
              <a:off x="3984" y="3840"/>
              <a:ext cx="33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7" name="Line 25"/>
            <p:cNvSpPr/>
            <p:nvPr/>
          </p:nvSpPr>
          <p:spPr>
            <a:xfrm>
              <a:off x="3984" y="3792"/>
              <a:ext cx="33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8" name="Line 26"/>
            <p:cNvSpPr/>
            <p:nvPr/>
          </p:nvSpPr>
          <p:spPr>
            <a:xfrm>
              <a:off x="3960" y="3888"/>
              <a:ext cx="38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27"/>
          <p:cNvGrpSpPr/>
          <p:nvPr/>
        </p:nvGrpSpPr>
        <p:grpSpPr>
          <a:xfrm>
            <a:off x="5732463" y="6292850"/>
            <a:ext cx="228600" cy="228600"/>
            <a:chOff x="4224" y="3744"/>
            <a:chExt cx="144" cy="144"/>
          </a:xfrm>
        </p:grpSpPr>
        <p:sp>
          <p:nvSpPr>
            <p:cNvPr id="9229" name="Line 28"/>
            <p:cNvSpPr/>
            <p:nvPr/>
          </p:nvSpPr>
          <p:spPr>
            <a:xfrm>
              <a:off x="4272" y="3744"/>
              <a:ext cx="96" cy="1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0" name="Line 29"/>
            <p:cNvSpPr/>
            <p:nvPr/>
          </p:nvSpPr>
          <p:spPr>
            <a:xfrm flipH="1">
              <a:off x="4224" y="3744"/>
              <a:ext cx="144" cy="1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8198" grpId="0" animBg="1"/>
      <p:bldP spid="8199" grpId="0" bldLvl="0" animBg="1"/>
      <p:bldP spid="820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Terminology</a:t>
            </a:r>
            <a:endParaRPr lang="en-US" altLang="zh-CN" dirty="0"/>
          </a:p>
        </p:txBody>
      </p:sp>
      <p:sp>
        <p:nvSpPr>
          <p:cNvPr id="9219" name="Text Box 3"/>
          <p:cNvSpPr txBox="1"/>
          <p:nvPr/>
        </p:nvSpPr>
        <p:spPr>
          <a:xfrm>
            <a:off x="485775" y="1814513"/>
            <a:ext cx="8188325" cy="2897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Path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 G)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from 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to v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----- </a:t>
            </a:r>
            <a:r>
              <a:rPr lang="en-US" altLang="zh-CN" sz="2400" dirty="0">
                <a:latin typeface="Times New Roman" panose="02020603050405020304" pitchFamily="18" charset="0"/>
              </a:rPr>
              <a:t>a sequence of vertices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{ </a:t>
            </a:r>
            <a:r>
              <a:rPr lang="en-US" altLang="zh-CN" sz="2000" b="1" i="1" dirty="0">
                <a:solidFill>
                  <a:srgbClr val="0066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i="1" dirty="0">
                <a:solidFill>
                  <a:srgbClr val="006600"/>
                </a:solidFill>
                <a:latin typeface="Times New Roman" panose="02020603050405020304" pitchFamily="18" charset="0"/>
              </a:rPr>
              <a:t> ,v</a:t>
            </a:r>
            <a:r>
              <a:rPr lang="en-US" altLang="zh-CN" sz="2000" b="1" i="1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i1</a:t>
            </a:r>
            <a:r>
              <a:rPr lang="en-US" altLang="zh-CN" sz="2000" b="1" i="1" dirty="0">
                <a:solidFill>
                  <a:srgbClr val="006600"/>
                </a:solidFill>
                <a:latin typeface="Times New Roman" panose="02020603050405020304" pitchFamily="18" charset="0"/>
              </a:rPr>
              <a:t> ,v</a:t>
            </a:r>
            <a:r>
              <a:rPr lang="en-US" altLang="zh-CN" sz="2000" b="1" i="1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i2</a:t>
            </a:r>
            <a:r>
              <a:rPr lang="en-US" altLang="zh-CN" sz="2000" b="1" i="1" dirty="0">
                <a:solidFill>
                  <a:srgbClr val="006600"/>
                </a:solidFill>
                <a:latin typeface="Times New Roman" panose="02020603050405020304" pitchFamily="18" charset="0"/>
              </a:rPr>
              <a:t> ,…, v</a:t>
            </a:r>
            <a:r>
              <a:rPr lang="en-US" altLang="zh-CN" sz="2000" b="1" i="1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CN" sz="2000" b="1" i="1" dirty="0">
                <a:solidFill>
                  <a:srgbClr val="006600"/>
                </a:solidFill>
                <a:latin typeface="Times New Roman" panose="02020603050405020304" pitchFamily="18" charset="0"/>
              </a:rPr>
              <a:t> , v</a:t>
            </a:r>
            <a:r>
              <a:rPr lang="en-US" altLang="zh-CN" sz="2000" b="1" i="1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i="1" dirty="0">
                <a:solidFill>
                  <a:srgbClr val="0066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}</a:t>
            </a:r>
            <a:r>
              <a:rPr lang="en-US" altLang="zh-CN" sz="2400" dirty="0">
                <a:latin typeface="Times New Roman" panose="02020603050405020304" pitchFamily="18" charset="0"/>
              </a:rPr>
              <a:t>such that </a:t>
            </a:r>
            <a:r>
              <a:rPr lang="en-US" altLang="zh-CN" sz="2000" i="1" dirty="0">
                <a:latin typeface="Times New Roman" panose="02020603050405020304" pitchFamily="18" charset="0"/>
              </a:rPr>
              <a:t>( 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p </a:t>
            </a:r>
            <a:r>
              <a:rPr lang="en-US" altLang="zh-CN" sz="2000" i="1" dirty="0">
                <a:latin typeface="Times New Roman" panose="02020603050405020304" pitchFamily="18" charset="0"/>
              </a:rPr>
              <a:t>,v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i1</a:t>
            </a:r>
            <a:r>
              <a:rPr lang="en-US" altLang="zh-CN" sz="2000" i="1" dirty="0">
                <a:latin typeface="Times New Roman" panose="02020603050405020304" pitchFamily="18" charset="0"/>
              </a:rPr>
              <a:t> ), ( 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i1 </a:t>
            </a:r>
            <a:r>
              <a:rPr lang="en-US" altLang="zh-CN" sz="2000" i="1" dirty="0">
                <a:latin typeface="Times New Roman" panose="02020603050405020304" pitchFamily="18" charset="0"/>
              </a:rPr>
              <a:t>,v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i2</a:t>
            </a:r>
            <a:r>
              <a:rPr lang="en-US" altLang="zh-CN" sz="2000" i="1" dirty="0">
                <a:latin typeface="Times New Roman" panose="02020603050405020304" pitchFamily="18" charset="0"/>
              </a:rPr>
              <a:t> ), …, ( 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in</a:t>
            </a:r>
            <a:r>
              <a:rPr lang="en-US" altLang="zh-CN" sz="2000" i="1" dirty="0">
                <a:latin typeface="Times New Roman" panose="02020603050405020304" pitchFamily="18" charset="0"/>
              </a:rPr>
              <a:t>,v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q</a:t>
            </a:r>
            <a:r>
              <a:rPr lang="en-US" altLang="zh-CN" sz="2000" i="1" dirty="0">
                <a:latin typeface="Times New Roman" panose="02020603050405020304" pitchFamily="18" charset="0"/>
              </a:rPr>
              <a:t> )</a:t>
            </a:r>
            <a:r>
              <a:rPr lang="en-US" altLang="zh-CN" sz="2400" dirty="0">
                <a:latin typeface="Times New Roman" panose="02020603050405020304" pitchFamily="18" charset="0"/>
              </a:rPr>
              <a:t> or </a:t>
            </a:r>
            <a:r>
              <a:rPr lang="en-US" altLang="zh-CN" sz="2000" i="1" dirty="0">
                <a:latin typeface="Times New Roman" panose="02020603050405020304" pitchFamily="18" charset="0"/>
              </a:rPr>
              <a:t>&lt;v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p</a:t>
            </a:r>
            <a:r>
              <a:rPr lang="en-US" altLang="zh-CN" sz="2000" i="1" dirty="0">
                <a:latin typeface="Times New Roman" panose="02020603050405020304" pitchFamily="18" charset="0"/>
              </a:rPr>
              <a:t> ,v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i1</a:t>
            </a:r>
            <a:r>
              <a:rPr lang="en-US" altLang="zh-CN" sz="2000" i="1" dirty="0">
                <a:latin typeface="Times New Roman" panose="02020603050405020304" pitchFamily="18" charset="0"/>
              </a:rPr>
              <a:t>&gt;, &lt;v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i1</a:t>
            </a:r>
            <a:r>
              <a:rPr lang="en-US" altLang="zh-CN" sz="2000" i="1" dirty="0">
                <a:latin typeface="Times New Roman" panose="02020603050405020304" pitchFamily="18" charset="0"/>
              </a:rPr>
              <a:t> ,v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i2</a:t>
            </a:r>
            <a:r>
              <a:rPr lang="en-US" altLang="zh-CN" sz="2000" i="1" dirty="0">
                <a:latin typeface="Times New Roman" panose="02020603050405020304" pitchFamily="18" charset="0"/>
              </a:rPr>
              <a:t>&gt;, …, &lt; 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in</a:t>
            </a:r>
            <a:r>
              <a:rPr lang="en-US" altLang="zh-CN" sz="2000" i="1" dirty="0">
                <a:latin typeface="Times New Roman" panose="02020603050405020304" pitchFamily="18" charset="0"/>
              </a:rPr>
              <a:t> ,v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q</a:t>
            </a:r>
            <a:r>
              <a:rPr lang="en-US" altLang="zh-CN" sz="2000" i="1" dirty="0">
                <a:latin typeface="Times New Roman" panose="02020603050405020304" pitchFamily="18" charset="0"/>
              </a:rPr>
              <a:t> &gt; </a:t>
            </a:r>
            <a:r>
              <a:rPr lang="en-US" altLang="zh-CN" sz="2400" dirty="0">
                <a:latin typeface="Times New Roman" panose="02020603050405020304" pitchFamily="18" charset="0"/>
              </a:rPr>
              <a:t>belong to E(G)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Length of a Path</a:t>
            </a:r>
            <a:r>
              <a:rPr lang="en-US" altLang="zh-CN" sz="2400" b="1" dirty="0">
                <a:latin typeface="Times New Roman" panose="02020603050405020304" pitchFamily="18" charset="0"/>
              </a:rPr>
              <a:t> ---- </a:t>
            </a:r>
            <a:r>
              <a:rPr lang="en-US" altLang="zh-CN" sz="2400" dirty="0">
                <a:latin typeface="Times New Roman" panose="02020603050405020304" pitchFamily="18" charset="0"/>
              </a:rPr>
              <a:t>the number of edges on the path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Simple Path</a:t>
            </a:r>
            <a:r>
              <a:rPr lang="en-US" altLang="zh-CN" sz="2400" b="1" dirty="0">
                <a:latin typeface="Times New Roman" panose="02020603050405020304" pitchFamily="18" charset="0"/>
              </a:rPr>
              <a:t> ---- </a:t>
            </a:r>
            <a:r>
              <a:rPr lang="en-US" altLang="zh-CN" sz="2400" dirty="0">
                <a:latin typeface="Times New Roman" panose="02020603050405020304" pitchFamily="18" charset="0"/>
              </a:rPr>
              <a:t>a path in which all vertices , except possibly the first and the last are distinct, that is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, ,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lang="en-US" altLang="zh-CN" sz="1800" b="1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are distinct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2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354263" y="4759325"/>
          <a:ext cx="39497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980690" imgH="1033145" progId="SmartDraw.2">
                  <p:embed/>
                </p:oleObj>
              </mc:Choice>
              <mc:Fallback>
                <p:oleObj name="" r:id="rId1" imgW="2980690" imgH="1033145" progId="SmartDraw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354263" y="4759325"/>
                        <a:ext cx="3949700" cy="13684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0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0" end="1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89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charRg st="189" end="2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244" end="3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charRg st="244" end="3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386" end="3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charRg st="386" end="3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Terminology</a:t>
            </a:r>
            <a:endParaRPr lang="zh-CN" altLang="en-US" dirty="0"/>
          </a:p>
        </p:txBody>
      </p:sp>
      <p:sp>
        <p:nvSpPr>
          <p:cNvPr id="12292" name="Text Box 4"/>
          <p:cNvSpPr txBox="1"/>
          <p:nvPr/>
        </p:nvSpPr>
        <p:spPr>
          <a:xfrm>
            <a:off x="550863" y="4421188"/>
            <a:ext cx="8040687" cy="1716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Acycle </a:t>
            </a:r>
            <a:r>
              <a:rPr lang="en-US" altLang="zh-CN" sz="2400" dirty="0">
                <a:latin typeface="Times New Roman" panose="02020603050405020304" pitchFamily="18" charset="0"/>
              </a:rPr>
              <a:t>---- a graph without cycles.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Directed acycle graph (DAG)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---- a directed graph without cycles.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buNone/>
            </a:pPr>
            <a:endParaRPr lang="en-US" altLang="zh-CN" sz="2400" i="1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268" name="文本框 3"/>
          <p:cNvSpPr txBox="1"/>
          <p:nvPr/>
        </p:nvSpPr>
        <p:spPr>
          <a:xfrm>
            <a:off x="552450" y="2024063"/>
            <a:ext cx="8201025" cy="903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Cycle</a:t>
            </a:r>
            <a:r>
              <a:rPr lang="en-US" altLang="zh-CN" sz="18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---- a simple path in which the first and the last vertices are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the same.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2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393950" y="2927350"/>
          <a:ext cx="39497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980690" imgH="1033145" progId="SmartDraw.2">
                  <p:embed/>
                </p:oleObj>
              </mc:Choice>
              <mc:Fallback>
                <p:oleObj name="" r:id="rId1" imgW="2980690" imgH="1033145" progId="SmartDraw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393950" y="2927350"/>
                        <a:ext cx="3949700" cy="13684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charRg st="3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2">
                                            <p:txEl>
                                              <p:charRg st="37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1682750" y="312738"/>
            <a:ext cx="3995738" cy="104457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Terminology</a:t>
            </a:r>
            <a:endParaRPr lang="en-US" altLang="zh-CN" dirty="0"/>
          </a:p>
        </p:txBody>
      </p:sp>
      <p:sp>
        <p:nvSpPr>
          <p:cNvPr id="10243" name="Text Box 3"/>
          <p:cNvSpPr txBox="1"/>
          <p:nvPr/>
        </p:nvSpPr>
        <p:spPr>
          <a:xfrm>
            <a:off x="520700" y="1304925"/>
            <a:ext cx="8307388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</a:rPr>
              <a:t>and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</a:rPr>
              <a:t> are connected</a:t>
            </a:r>
            <a:r>
              <a:rPr lang="en-US" altLang="zh-CN" sz="2400" b="1" dirty="0">
                <a:solidFill>
                  <a:srgbClr val="006600"/>
                </a:solidFill>
                <a:latin typeface="Arial" panose="020B0604020202020204" pitchFamily="34" charset="0"/>
              </a:rPr>
              <a:t> -----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there is a path from 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i="1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to 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CN" sz="2400" b="1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lvl="0" indent="-457200" eaLnBrk="1" hangingPunct="1">
              <a:buNone/>
            </a:pPr>
            <a:endParaRPr lang="en-US" altLang="zh-CN" sz="2400" b="1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</a:rPr>
              <a:t>An undirected graph is connected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-</a:t>
            </a:r>
            <a:r>
              <a:rPr lang="en-US" altLang="zh-CN" sz="2400" b="1" dirty="0">
                <a:latin typeface="Arial" panose="020B0604020202020204" pitchFamily="34" charset="0"/>
              </a:rPr>
              <a:t>----- </a:t>
            </a:r>
            <a:r>
              <a:rPr lang="en-US" altLang="zh-CN" sz="2400" dirty="0">
                <a:latin typeface="Arial" panose="020B0604020202020204" pitchFamily="34" charset="0"/>
              </a:rPr>
              <a:t>if , for every pair of distinct vertices 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i="1" dirty="0">
                <a:latin typeface="Times New Roman" panose="02020603050405020304" pitchFamily="18" charset="0"/>
              </a:rPr>
              <a:t> , v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, there is a path from 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i="1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to 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j </a:t>
            </a:r>
            <a:r>
              <a:rPr lang="en-US" altLang="zh-CN" sz="2400" dirty="0">
                <a:latin typeface="Arial" panose="020B0604020202020204" pitchFamily="34" charset="0"/>
              </a:rPr>
              <a:t>in G.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CN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44" name="Text Box 4"/>
          <p:cNvSpPr txBox="1"/>
          <p:nvPr/>
        </p:nvSpPr>
        <p:spPr>
          <a:xfrm>
            <a:off x="555625" y="3651250"/>
            <a:ext cx="7932738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</a:rPr>
              <a:t>Connected component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( undirected graph) ----- a 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maximal</a:t>
            </a:r>
            <a:r>
              <a:rPr lang="en-US" altLang="zh-CN" sz="2400" dirty="0">
                <a:latin typeface="Arial" panose="020B0604020202020204" pitchFamily="34" charset="0"/>
              </a:rPr>
              <a:t> connected subgraph. 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pic>
        <p:nvPicPr>
          <p:cNvPr id="1024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138" y="4629150"/>
            <a:ext cx="4048125" cy="2149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6" name="Oval 6"/>
          <p:cNvSpPr/>
          <p:nvPr/>
        </p:nvSpPr>
        <p:spPr>
          <a:xfrm>
            <a:off x="2438400" y="4418013"/>
            <a:ext cx="1839913" cy="1895475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47" name="Oval 7"/>
          <p:cNvSpPr/>
          <p:nvPr/>
        </p:nvSpPr>
        <p:spPr>
          <a:xfrm>
            <a:off x="4437063" y="4516438"/>
            <a:ext cx="1554162" cy="2262187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555625" y="3070225"/>
            <a:ext cx="68453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A tree </a:t>
            </a:r>
            <a:r>
              <a:rPr lang="en-US" altLang="zh-CN" sz="2400" dirty="0">
                <a:latin typeface="Arial" panose="020B0604020202020204" pitchFamily="34" charset="0"/>
              </a:rPr>
              <a:t>----</a:t>
            </a:r>
            <a:r>
              <a:rPr lang="en-US" altLang="zh-CN" sz="24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sym typeface="Symbol" panose="05050102010706020507" pitchFamily="18" charset="2"/>
              </a:rPr>
              <a:t>a graph that is 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connected</a:t>
            </a:r>
            <a:r>
              <a:rPr lang="en-US" altLang="zh-CN" sz="2400" dirty="0">
                <a:latin typeface="Arial" panose="020B0604020202020204" pitchFamily="34" charset="0"/>
                <a:sym typeface="Symbol" panose="05050102010706020507" pitchFamily="18" charset="2"/>
              </a:rPr>
              <a:t> and 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acyclic</a:t>
            </a:r>
            <a:endParaRPr lang="en-US" altLang="zh-CN" sz="2400" b="1" i="1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62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charRg st="62" end="1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10246" grpId="0" bldLvl="0" animBg="1"/>
      <p:bldP spid="10247" grpId="0" bldLvl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1019175" y="169863"/>
            <a:ext cx="3997325" cy="86995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Terminology</a:t>
            </a:r>
            <a:endParaRPr lang="en-US" altLang="zh-CN" dirty="0"/>
          </a:p>
        </p:txBody>
      </p:sp>
      <p:sp>
        <p:nvSpPr>
          <p:cNvPr id="11267" name="Text Box 3"/>
          <p:cNvSpPr txBox="1"/>
          <p:nvPr/>
        </p:nvSpPr>
        <p:spPr>
          <a:xfrm>
            <a:off x="619125" y="1001713"/>
            <a:ext cx="7785100" cy="5778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</a:rPr>
              <a:t>Strongly connected ( directed graph )</a:t>
            </a:r>
            <a:r>
              <a:rPr lang="en-US" altLang="zh-CN" sz="2400" b="1" dirty="0">
                <a:latin typeface="Arial" panose="020B0604020202020204" pitchFamily="34" charset="0"/>
              </a:rPr>
              <a:t> ------ </a:t>
            </a:r>
            <a:r>
              <a:rPr lang="en-US" altLang="zh-CN" sz="2400" dirty="0">
                <a:latin typeface="Arial" panose="020B0604020202020204" pitchFamily="34" charset="0"/>
              </a:rPr>
              <a:t>if , for every pair of vertices v</a:t>
            </a:r>
            <a:r>
              <a:rPr lang="en-US" altLang="zh-CN" sz="2400" baseline="-25000" dirty="0">
                <a:latin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</a:rPr>
              <a:t> , v</a:t>
            </a:r>
            <a:r>
              <a:rPr lang="en-US" altLang="zh-CN" sz="2400" baseline="-25000" dirty="0">
                <a:latin typeface="Arial" panose="020B0604020202020204" pitchFamily="34" charset="0"/>
              </a:rPr>
              <a:t>j</a:t>
            </a:r>
            <a:r>
              <a:rPr lang="en-US" altLang="zh-CN" sz="2400" dirty="0">
                <a:latin typeface="Arial" panose="020B0604020202020204" pitchFamily="34" charset="0"/>
              </a:rPr>
              <a:t> in G, there is a path from v</a:t>
            </a:r>
            <a:r>
              <a:rPr lang="en-US" altLang="zh-CN" sz="2400" baseline="-25000" dirty="0">
                <a:latin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</a:rPr>
              <a:t> to v</a:t>
            </a:r>
            <a:r>
              <a:rPr lang="en-US" altLang="zh-CN" sz="2400" baseline="-25000" dirty="0">
                <a:latin typeface="Arial" panose="020B0604020202020204" pitchFamily="34" charset="0"/>
              </a:rPr>
              <a:t>j </a:t>
            </a:r>
            <a:r>
              <a:rPr lang="en-US" altLang="zh-CN" sz="2400" dirty="0">
                <a:latin typeface="Arial" panose="020B0604020202020204" pitchFamily="34" charset="0"/>
              </a:rPr>
              <a:t>, and also from v</a:t>
            </a:r>
            <a:r>
              <a:rPr lang="en-US" altLang="zh-CN" sz="2400" baseline="-25000" dirty="0">
                <a:latin typeface="Arial" panose="020B0604020202020204" pitchFamily="34" charset="0"/>
              </a:rPr>
              <a:t>j</a:t>
            </a:r>
            <a:r>
              <a:rPr lang="en-US" altLang="zh-CN" sz="2400" dirty="0">
                <a:latin typeface="Arial" panose="020B0604020202020204" pitchFamily="34" charset="0"/>
              </a:rPr>
              <a:t> to v</a:t>
            </a:r>
            <a:r>
              <a:rPr lang="en-US" altLang="zh-CN" sz="2400" baseline="-25000" dirty="0">
                <a:latin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</a:rPr>
              <a:t>.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</a:rPr>
              <a:t>Weakly connected ( directed graph )</a:t>
            </a:r>
            <a:r>
              <a:rPr lang="en-US" altLang="zh-CN" sz="2400" b="1" dirty="0">
                <a:latin typeface="Arial" panose="020B0604020202020204" pitchFamily="34" charset="0"/>
              </a:rPr>
              <a:t> ------ </a:t>
            </a:r>
            <a:r>
              <a:rPr lang="en-US" altLang="zh-CN" sz="2400" dirty="0">
                <a:latin typeface="Arial" panose="020B0604020202020204" pitchFamily="34" charset="0"/>
              </a:rPr>
              <a:t>For a directed graph G, if the undirected graph obtained by suppressing the directions on the edges of G is connected</a:t>
            </a:r>
            <a:r>
              <a:rPr lang="en-US" altLang="zh-CN" sz="2400" b="1" dirty="0">
                <a:latin typeface="Arial" panose="020B0604020202020204" pitchFamily="34" charset="0"/>
              </a:rPr>
              <a:t>.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457200" lvl="0" indent="-457200" eaLnBrk="1" hangingPunct="1">
              <a:buNone/>
            </a:pPr>
            <a:endParaRPr lang="en-US" altLang="zh-CN" sz="2400" b="1" dirty="0">
              <a:latin typeface="Arial" panose="020B0604020202020204" pitchFamily="34" charset="0"/>
            </a:endParaRPr>
          </a:p>
          <a:p>
            <a:pPr marL="457200" lvl="0" indent="-457200" eaLnBrk="1" hangingPunct="1">
              <a:buNone/>
            </a:pPr>
            <a:endParaRPr lang="en-US" altLang="zh-CN" sz="2400" b="1" dirty="0">
              <a:latin typeface="Arial" panose="020B0604020202020204" pitchFamily="34" charset="0"/>
            </a:endParaRPr>
          </a:p>
          <a:p>
            <a:pPr marL="457200" lvl="0" indent="-457200" eaLnBrk="1" hangingPunct="1">
              <a:buNone/>
            </a:pPr>
            <a:endParaRPr lang="en-US" altLang="zh-CN" sz="2400" b="1" dirty="0">
              <a:latin typeface="Arial" panose="020B0604020202020204" pitchFamily="34" charset="0"/>
            </a:endParaRPr>
          </a:p>
          <a:p>
            <a:pPr marL="457200" lvl="0" indent="-457200" eaLnBrk="1" hangingPunct="1"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457200" lvl="0" indent="-457200" eaLnBrk="1" hangingPunct="1">
              <a:buNone/>
            </a:pPr>
            <a:endParaRPr lang="en-US" altLang="zh-CN" sz="2400" b="1" i="1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</a:rPr>
              <a:t>Strongly connected component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----- </a:t>
            </a:r>
            <a:r>
              <a:rPr lang="en-US" altLang="zh-CN" sz="2400" dirty="0">
                <a:latin typeface="Arial" panose="020B0604020202020204" pitchFamily="34" charset="0"/>
              </a:rPr>
              <a:t>a 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maximal </a:t>
            </a:r>
            <a:r>
              <a:rPr lang="en-US" altLang="zh-CN" sz="2400" dirty="0">
                <a:latin typeface="Arial" panose="020B0604020202020204" pitchFamily="34" charset="0"/>
              </a:rPr>
              <a:t>subgraph that is strongly connected. 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1679575" y="3679825"/>
          <a:ext cx="1830388" cy="152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243330" imgH="1033145" progId="SmartDraw.2">
                  <p:embed/>
                </p:oleObj>
              </mc:Choice>
              <mc:Fallback>
                <p:oleObj name="" r:id="rId1" imgW="1243330" imgH="1033145" progId="SmartDraw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9575" y="3679825"/>
                        <a:ext cx="1830388" cy="1522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4008438" y="3733800"/>
          <a:ext cx="3611562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2980690" imgH="1033145" progId="SmartDraw.2">
                  <p:embed/>
                </p:oleObj>
              </mc:Choice>
              <mc:Fallback>
                <p:oleObj name="" r:id="rId3" imgW="2980690" imgH="1033145" progId="SmartDraw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8438" y="3733800"/>
                        <a:ext cx="3611562" cy="1368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Text Box 6"/>
          <p:cNvSpPr txBox="1"/>
          <p:nvPr/>
        </p:nvSpPr>
        <p:spPr>
          <a:xfrm>
            <a:off x="1533525" y="5278438"/>
            <a:ext cx="212407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strongly connected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1271" name="Text Box 7"/>
          <p:cNvSpPr txBox="1"/>
          <p:nvPr/>
        </p:nvSpPr>
        <p:spPr>
          <a:xfrm>
            <a:off x="4522788" y="5294313"/>
            <a:ext cx="212407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weakly connected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1272" name="Oval 8"/>
          <p:cNvSpPr/>
          <p:nvPr/>
        </p:nvSpPr>
        <p:spPr>
          <a:xfrm>
            <a:off x="3957638" y="3760788"/>
            <a:ext cx="1470025" cy="1587500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1273" name="Oval 9"/>
          <p:cNvSpPr/>
          <p:nvPr/>
        </p:nvSpPr>
        <p:spPr>
          <a:xfrm rot="-1009814">
            <a:off x="5795963" y="3681413"/>
            <a:ext cx="1014412" cy="1401762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" name="Oval 9"/>
          <p:cNvSpPr/>
          <p:nvPr/>
        </p:nvSpPr>
        <p:spPr>
          <a:xfrm>
            <a:off x="7004050" y="3776663"/>
            <a:ext cx="803275" cy="947737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48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charRg st="148" end="3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15" end="3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  <p:bldP spid="11271" grpId="0"/>
      <p:bldP spid="11272" grpId="0" animBg="1"/>
      <p:bldP spid="11273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Terminology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12291" name="Text Box 3"/>
          <p:cNvSpPr txBox="1"/>
          <p:nvPr/>
        </p:nvSpPr>
        <p:spPr>
          <a:xfrm>
            <a:off x="455613" y="944563"/>
            <a:ext cx="8224837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buNone/>
            </a:pP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</a:rPr>
              <a:t>Degree( v)</a:t>
            </a:r>
            <a:r>
              <a:rPr lang="en-US" altLang="zh-CN" sz="2400" b="1" dirty="0">
                <a:latin typeface="Arial" panose="020B0604020202020204" pitchFamily="34" charset="0"/>
              </a:rPr>
              <a:t> ---- </a:t>
            </a:r>
            <a:r>
              <a:rPr lang="en-US" altLang="zh-CN" sz="2400" dirty="0">
                <a:latin typeface="Arial" panose="020B0604020202020204" pitchFamily="34" charset="0"/>
              </a:rPr>
              <a:t>the number of edges incident to the vertex v. </a:t>
            </a:r>
            <a:r>
              <a:rPr lang="en-US" altLang="zh-CN" sz="2400" dirty="0">
                <a:latin typeface="Arial" panose="020B0604020202020204" pitchFamily="34" charset="0"/>
                <a:sym typeface="Symbol" panose="05050102010706020507" pitchFamily="18" charset="2"/>
              </a:rPr>
              <a:t>For a directed G, we have </a:t>
            </a:r>
            <a:r>
              <a:rPr lang="en-US" altLang="zh-CN" sz="2400" b="1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in-degree</a:t>
            </a:r>
            <a:r>
              <a:rPr lang="en-US" altLang="zh-CN" sz="2400" dirty="0">
                <a:latin typeface="Arial" panose="020B0604020202020204" pitchFamily="34" charset="0"/>
                <a:sym typeface="Symbol" panose="05050102010706020507" pitchFamily="18" charset="2"/>
              </a:rPr>
              <a:t> and </a:t>
            </a:r>
            <a:r>
              <a:rPr lang="en-US" altLang="zh-CN" sz="2400" b="1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out-degree</a:t>
            </a:r>
            <a:r>
              <a:rPr lang="en-US" altLang="zh-CN" sz="2400" dirty="0">
                <a:latin typeface="Arial" panose="020B0604020202020204" pitchFamily="34" charset="0"/>
                <a:sym typeface="Symbol" panose="05050102010706020507" pitchFamily="18" charset="2"/>
              </a:rPr>
              <a:t>.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buChar char="•"/>
            </a:pPr>
            <a:r>
              <a:rPr lang="en-US" altLang="zh-CN" sz="2000" b="1" i="1" dirty="0">
                <a:solidFill>
                  <a:srgbClr val="006600"/>
                </a:solidFill>
                <a:latin typeface="Arial" panose="020B0604020202020204" pitchFamily="34" charset="0"/>
              </a:rPr>
              <a:t>In-degree</a:t>
            </a:r>
            <a:r>
              <a:rPr lang="en-US" altLang="zh-CN" sz="2000" b="1" dirty="0">
                <a:latin typeface="Arial" panose="020B0604020202020204" pitchFamily="34" charset="0"/>
              </a:rPr>
              <a:t> ---- the number of edges that have v as the head.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buChar char="•"/>
            </a:pPr>
            <a:r>
              <a:rPr lang="en-US" altLang="zh-CN" sz="2000" b="1" i="1" dirty="0">
                <a:solidFill>
                  <a:srgbClr val="006600"/>
                </a:solidFill>
                <a:latin typeface="Arial" panose="020B0604020202020204" pitchFamily="34" charset="0"/>
              </a:rPr>
              <a:t>Out-degree</a:t>
            </a:r>
            <a:r>
              <a:rPr lang="en-US" altLang="zh-CN" sz="2000" b="1" dirty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</a:rPr>
              <a:t>---- the number of edges that have v as the tail. 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grpSp>
        <p:nvGrpSpPr>
          <p:cNvPr id="4" name="Group 5"/>
          <p:cNvGrpSpPr/>
          <p:nvPr/>
        </p:nvGrpSpPr>
        <p:grpSpPr>
          <a:xfrm>
            <a:off x="749300" y="3014663"/>
            <a:ext cx="1447800" cy="533400"/>
            <a:chOff x="432" y="1392"/>
            <a:chExt cx="912" cy="336"/>
          </a:xfrm>
        </p:grpSpPr>
        <p:sp>
          <p:nvSpPr>
            <p:cNvPr id="14345" name="Oval 6"/>
            <p:cNvSpPr/>
            <p:nvPr/>
          </p:nvSpPr>
          <p:spPr>
            <a:xfrm>
              <a:off x="768" y="139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4346" name="Line 7"/>
            <p:cNvSpPr/>
            <p:nvPr/>
          </p:nvSpPr>
          <p:spPr>
            <a:xfrm>
              <a:off x="432" y="1440"/>
              <a:ext cx="336" cy="4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47" name="Line 8"/>
            <p:cNvSpPr/>
            <p:nvPr/>
          </p:nvSpPr>
          <p:spPr>
            <a:xfrm flipV="1">
              <a:off x="432" y="1584"/>
              <a:ext cx="38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48" name="Line 9"/>
            <p:cNvSpPr/>
            <p:nvPr/>
          </p:nvSpPr>
          <p:spPr>
            <a:xfrm flipH="1">
              <a:off x="1008" y="1488"/>
              <a:ext cx="33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49" name="Line 10"/>
            <p:cNvSpPr/>
            <p:nvPr/>
          </p:nvSpPr>
          <p:spPr>
            <a:xfrm>
              <a:off x="960" y="1584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2299" name="Rectangle 11"/>
          <p:cNvSpPr/>
          <p:nvPr/>
        </p:nvSpPr>
        <p:spPr>
          <a:xfrm>
            <a:off x="2425700" y="2938463"/>
            <a:ext cx="64008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in-degree(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) = 3; out-degree(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) = 1; degree(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) = 4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12"/>
          <p:cNvGrpSpPr/>
          <p:nvPr/>
        </p:nvGrpSpPr>
        <p:grpSpPr>
          <a:xfrm>
            <a:off x="455613" y="4378325"/>
            <a:ext cx="6400800" cy="1379538"/>
            <a:chOff x="240" y="1872"/>
            <a:chExt cx="4032" cy="869"/>
          </a:xfrm>
        </p:grpSpPr>
        <p:sp>
          <p:nvSpPr>
            <p:cNvPr id="14343" name="Text Box 13"/>
            <p:cNvSpPr txBox="1"/>
            <p:nvPr/>
          </p:nvSpPr>
          <p:spPr>
            <a:xfrm>
              <a:off x="240" y="1872"/>
              <a:ext cx="40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485775" lvl="0" indent="-485775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Given G with </a:t>
              </a:r>
              <a:r>
                <a:rPr lang="en-US" altLang="zh-CN" sz="2000" b="1" i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n</a:t>
              </a:r>
              <a:r>
                <a:rPr lang="en-US" altLang="zh-CN" sz="20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vertices and </a:t>
              </a:r>
              <a:r>
                <a:rPr lang="en-US" altLang="zh-CN" sz="2000" b="1" i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e</a:t>
              </a:r>
              <a:r>
                <a:rPr lang="en-US" altLang="zh-CN" sz="20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edges, then</a:t>
              </a:r>
              <a:endParaRPr lang="en-US" altLang="zh-CN" sz="2000" b="1" baseline="-25000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14344" name="Object 14"/>
            <p:cNvGraphicFramePr>
              <a:graphicFrameLocks noChangeAspect="1"/>
            </p:cNvGraphicFramePr>
            <p:nvPr/>
          </p:nvGraphicFramePr>
          <p:xfrm>
            <a:off x="864" y="2160"/>
            <a:ext cx="3216" cy="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2451100" imgH="444500" progId="Equation.3">
                    <p:embed/>
                  </p:oleObj>
                </mc:Choice>
                <mc:Fallback>
                  <p:oleObj name="" r:id="rId1" imgW="2451100" imgH="4445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64" y="2160"/>
                          <a:ext cx="3216" cy="5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1229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315913" y="1876425"/>
            <a:ext cx="7751762" cy="4921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b="1" dirty="0">
                <a:solidFill>
                  <a:srgbClr val="0000CC"/>
                </a:solidFill>
              </a:rPr>
              <a:t>Adjacency Matrix </a:t>
            </a:r>
            <a:r>
              <a:rPr lang="zh-CN" altLang="en-US" sz="3600" b="1" dirty="0">
                <a:solidFill>
                  <a:srgbClr val="0000CC"/>
                </a:solidFill>
              </a:rPr>
              <a:t>（邻接矩阵）</a:t>
            </a:r>
            <a:endParaRPr lang="zh-CN" altLang="en-US" sz="3600" b="1" dirty="0">
              <a:solidFill>
                <a:srgbClr val="0000CC"/>
              </a:solidFill>
            </a:endParaRP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4514850" y="4475163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4475163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Rectangle 4"/>
          <p:cNvSpPr/>
          <p:nvPr/>
        </p:nvSpPr>
        <p:spPr>
          <a:xfrm>
            <a:off x="457200" y="561975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/>
              <a:t>Graph Representation</a:t>
            </a:r>
            <a:br>
              <a:rPr lang="en-US" altLang="zh-CN" sz="4400" dirty="0"/>
            </a:br>
            <a:endParaRPr lang="en-US" altLang="zh-CN" sz="4400" dirty="0"/>
          </a:p>
        </p:txBody>
      </p:sp>
      <p:sp>
        <p:nvSpPr>
          <p:cNvPr id="15365" name="Rectangle 5"/>
          <p:cNvSpPr/>
          <p:nvPr/>
        </p:nvSpPr>
        <p:spPr>
          <a:xfrm>
            <a:off x="244475" y="2795588"/>
            <a:ext cx="7250113" cy="492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0000CC"/>
                </a:solidFill>
              </a:rPr>
              <a:t>Adjacency List </a:t>
            </a:r>
            <a:r>
              <a:rPr lang="zh-CN" altLang="en-US" sz="3600" b="1" dirty="0">
                <a:solidFill>
                  <a:srgbClr val="0000CC"/>
                </a:solidFill>
              </a:rPr>
              <a:t>（邻接链表）</a:t>
            </a:r>
            <a:endParaRPr lang="zh-CN" altLang="en-US" sz="3600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442913" y="1425575"/>
            <a:ext cx="4300537" cy="4921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b="1" dirty="0">
                <a:solidFill>
                  <a:srgbClr val="0000CC"/>
                </a:solidFill>
              </a:rPr>
              <a:t>Adjacency Matrix</a:t>
            </a:r>
            <a:endParaRPr lang="en-US" altLang="zh-CN" sz="3600" b="1" dirty="0">
              <a:solidFill>
                <a:srgbClr val="0000CC"/>
              </a:solidFill>
            </a:endParaRPr>
          </a:p>
        </p:txBody>
      </p:sp>
      <p:sp>
        <p:nvSpPr>
          <p:cNvPr id="16387" name="Text Box 3"/>
          <p:cNvSpPr txBox="1"/>
          <p:nvPr/>
        </p:nvSpPr>
        <p:spPr>
          <a:xfrm>
            <a:off x="508000" y="2155825"/>
            <a:ext cx="8262938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A graph may be represented by a two-dimensional matrix.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If G(V,E) has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vertices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</a:rPr>
              <a:t>the vertices are indexed from 0 to n-1,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let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A[n][n] </a:t>
            </a:r>
            <a:r>
              <a:rPr lang="en-US" altLang="zh-CN" sz="2400" dirty="0">
                <a:latin typeface="Times New Roman" panose="02020603050405020304" pitchFamily="18" charset="0"/>
              </a:rPr>
              <a:t>be an 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</a:rPr>
              <a:t>n matrix whose entries are defined by: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388" name="Text Box 4"/>
          <p:cNvSpPr txBox="1"/>
          <p:nvPr/>
        </p:nvSpPr>
        <p:spPr>
          <a:xfrm>
            <a:off x="3351213" y="4103688"/>
            <a:ext cx="4292600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AutoNum type="arabicPlain"/>
            </a:pPr>
            <a:r>
              <a:rPr lang="en-US" altLang="zh-CN" sz="2400" dirty="0">
                <a:latin typeface="Times New Roman" panose="02020603050405020304" pitchFamily="18" charset="0"/>
              </a:rPr>
              <a:t>if (v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)/&lt;vi,vj&gt; is an edge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0    otherwise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389" name="Text Box 5"/>
          <p:cNvSpPr txBox="1"/>
          <p:nvPr/>
        </p:nvSpPr>
        <p:spPr>
          <a:xfrm>
            <a:off x="1622425" y="4375150"/>
            <a:ext cx="17573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[</a:t>
            </a:r>
            <a:r>
              <a:rPr lang="en-US" altLang="zh-CN" sz="2800" i="1" dirty="0">
                <a:latin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</a:rPr>
              <a:t>][</a:t>
            </a:r>
            <a:r>
              <a:rPr lang="en-US" altLang="zh-CN" sz="2800" i="1" dirty="0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r>
              <a:rPr lang="en-US" altLang="zh-CN" sz="2800" i="1" dirty="0">
                <a:latin typeface="Times New Roman" panose="02020603050405020304" pitchFamily="18" charset="0"/>
              </a:rPr>
              <a:t>=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16390" name="AutoShape 6"/>
          <p:cNvSpPr/>
          <p:nvPr/>
        </p:nvSpPr>
        <p:spPr>
          <a:xfrm>
            <a:off x="2998788" y="4249738"/>
            <a:ext cx="371475" cy="771525"/>
          </a:xfrm>
          <a:prstGeom prst="leftBrace">
            <a:avLst>
              <a:gd name="adj1" fmla="val 1725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4514850" y="418782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418782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Rectangle 8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/>
              <a:t>Graph Representation</a:t>
            </a:r>
            <a:br>
              <a:rPr lang="en-US" altLang="zh-CN" sz="4400" dirty="0"/>
            </a:br>
            <a:endParaRPr lang="en-US" altLang="zh-CN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477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2800" b="1" dirty="0"/>
              <a:t>Adjacency Matrix For an Undirected Graph</a:t>
            </a:r>
            <a:endParaRPr lang="en-US" altLang="zh-CN" sz="2800" b="1" dirty="0"/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2760663" y="3254375"/>
          <a:ext cx="92075" cy="14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60663" y="3254375"/>
                        <a:ext cx="92075" cy="14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4"/>
          <p:cNvSpPr/>
          <p:nvPr/>
        </p:nvSpPr>
        <p:spPr>
          <a:xfrm>
            <a:off x="285750" y="2012950"/>
            <a:ext cx="5075238" cy="17033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5381" name="Object 21"/>
          <p:cNvGraphicFramePr>
            <a:graphicFrameLocks noChangeAspect="1"/>
          </p:cNvGraphicFramePr>
          <p:nvPr/>
        </p:nvGraphicFramePr>
        <p:xfrm>
          <a:off x="2767013" y="2098675"/>
          <a:ext cx="2122487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1155700" imgH="914400" progId="Equation.3">
                  <p:embed/>
                </p:oleObj>
              </mc:Choice>
              <mc:Fallback>
                <p:oleObj name="" r:id="rId3" imgW="1155700" imgH="9144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7013" y="2098675"/>
                        <a:ext cx="2122487" cy="154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23"/>
          <p:cNvGraphicFramePr>
            <a:graphicFrameLocks noChangeAspect="1"/>
          </p:cNvGraphicFramePr>
          <p:nvPr/>
        </p:nvGraphicFramePr>
        <p:xfrm>
          <a:off x="4221163" y="1090613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114300" imgH="215900" progId="Equation.3">
                  <p:embed/>
                </p:oleObj>
              </mc:Choice>
              <mc:Fallback>
                <p:oleObj name="" r:id="rId5" imgW="114300" imgH="2159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21163" y="1090613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4"/>
          <p:cNvGrpSpPr/>
          <p:nvPr/>
        </p:nvGrpSpPr>
        <p:grpSpPr>
          <a:xfrm>
            <a:off x="1814513" y="4910138"/>
            <a:ext cx="1819275" cy="1992312"/>
            <a:chOff x="530" y="1586"/>
            <a:chExt cx="1237" cy="1361"/>
          </a:xfrm>
        </p:grpSpPr>
        <p:sp>
          <p:nvSpPr>
            <p:cNvPr id="17444" name="Oval 25"/>
            <p:cNvSpPr/>
            <p:nvPr/>
          </p:nvSpPr>
          <p:spPr>
            <a:xfrm>
              <a:off x="544" y="1689"/>
              <a:ext cx="244" cy="207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45" name="Oval 26"/>
            <p:cNvSpPr/>
            <p:nvPr/>
          </p:nvSpPr>
          <p:spPr>
            <a:xfrm>
              <a:off x="1520" y="1689"/>
              <a:ext cx="244" cy="207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46" name="Oval 27"/>
            <p:cNvSpPr/>
            <p:nvPr/>
          </p:nvSpPr>
          <p:spPr>
            <a:xfrm>
              <a:off x="547" y="2587"/>
              <a:ext cx="244" cy="208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47" name="Oval 28"/>
            <p:cNvSpPr/>
            <p:nvPr/>
          </p:nvSpPr>
          <p:spPr>
            <a:xfrm>
              <a:off x="1523" y="2587"/>
              <a:ext cx="244" cy="208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48" name="Line 29"/>
            <p:cNvSpPr/>
            <p:nvPr/>
          </p:nvSpPr>
          <p:spPr>
            <a:xfrm flipV="1">
              <a:off x="669" y="1896"/>
              <a:ext cx="0" cy="691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17449" name="Line 30"/>
            <p:cNvSpPr/>
            <p:nvPr/>
          </p:nvSpPr>
          <p:spPr>
            <a:xfrm flipV="1">
              <a:off x="1642" y="1896"/>
              <a:ext cx="0" cy="691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50" name="Line 31"/>
            <p:cNvSpPr/>
            <p:nvPr/>
          </p:nvSpPr>
          <p:spPr>
            <a:xfrm>
              <a:off x="791" y="2691"/>
              <a:ext cx="732" cy="0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51" name="Line 32"/>
            <p:cNvSpPr/>
            <p:nvPr/>
          </p:nvSpPr>
          <p:spPr>
            <a:xfrm flipV="1">
              <a:off x="747" y="1863"/>
              <a:ext cx="854" cy="759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52" name="Line 33"/>
            <p:cNvSpPr/>
            <p:nvPr/>
          </p:nvSpPr>
          <p:spPr>
            <a:xfrm rot="10336690" flipH="1" flipV="1">
              <a:off x="858" y="1830"/>
              <a:ext cx="647" cy="795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53" name="Text Box 34"/>
            <p:cNvSpPr txBox="1"/>
            <p:nvPr/>
          </p:nvSpPr>
          <p:spPr>
            <a:xfrm>
              <a:off x="1075" y="1586"/>
              <a:ext cx="78" cy="18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18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54" name="Text Box 35"/>
            <p:cNvSpPr txBox="1"/>
            <p:nvPr/>
          </p:nvSpPr>
          <p:spPr>
            <a:xfrm>
              <a:off x="530" y="2194"/>
              <a:ext cx="78" cy="18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55" name="Text Box 36"/>
            <p:cNvSpPr txBox="1"/>
            <p:nvPr/>
          </p:nvSpPr>
          <p:spPr>
            <a:xfrm>
              <a:off x="1077" y="2759"/>
              <a:ext cx="78" cy="18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56" name="Text Box 37"/>
            <p:cNvSpPr txBox="1"/>
            <p:nvPr/>
          </p:nvSpPr>
          <p:spPr>
            <a:xfrm>
              <a:off x="1671" y="2197"/>
              <a:ext cx="78" cy="1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57" name="Text Box 38"/>
            <p:cNvSpPr txBox="1"/>
            <p:nvPr/>
          </p:nvSpPr>
          <p:spPr>
            <a:xfrm>
              <a:off x="1328" y="2191"/>
              <a:ext cx="79" cy="18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8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58" name="Text Box 39"/>
            <p:cNvSpPr txBox="1"/>
            <p:nvPr/>
          </p:nvSpPr>
          <p:spPr>
            <a:xfrm>
              <a:off x="959" y="2449"/>
              <a:ext cx="78" cy="18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8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59" name="Text Box 40"/>
            <p:cNvSpPr txBox="1"/>
            <p:nvPr/>
          </p:nvSpPr>
          <p:spPr>
            <a:xfrm>
              <a:off x="595" y="1706"/>
              <a:ext cx="128" cy="1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60" name="Text Box 41"/>
            <p:cNvSpPr txBox="1"/>
            <p:nvPr/>
          </p:nvSpPr>
          <p:spPr>
            <a:xfrm>
              <a:off x="588" y="2606"/>
              <a:ext cx="171" cy="1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1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61" name="Text Box 42"/>
            <p:cNvSpPr txBox="1"/>
            <p:nvPr/>
          </p:nvSpPr>
          <p:spPr>
            <a:xfrm>
              <a:off x="1586" y="1719"/>
              <a:ext cx="128" cy="1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62" name="Text Box 43"/>
            <p:cNvSpPr txBox="1"/>
            <p:nvPr/>
          </p:nvSpPr>
          <p:spPr>
            <a:xfrm>
              <a:off x="1575" y="2606"/>
              <a:ext cx="128" cy="1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63" name="Line 44"/>
            <p:cNvSpPr/>
            <p:nvPr/>
          </p:nvSpPr>
          <p:spPr>
            <a:xfrm>
              <a:off x="806" y="1758"/>
              <a:ext cx="732" cy="0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sm" len="lg"/>
            </a:ln>
          </p:spPr>
        </p:sp>
      </p:grpSp>
      <p:graphicFrame>
        <p:nvGraphicFramePr>
          <p:cNvPr id="15405" name="Object 45"/>
          <p:cNvGraphicFramePr>
            <a:graphicFrameLocks noChangeAspect="1"/>
          </p:cNvGraphicFramePr>
          <p:nvPr/>
        </p:nvGraphicFramePr>
        <p:xfrm>
          <a:off x="4960938" y="5013325"/>
          <a:ext cx="2498725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6" imgW="1308100" imgH="914400" progId="Equation.3">
                  <p:embed/>
                </p:oleObj>
              </mc:Choice>
              <mc:Fallback>
                <p:oleObj name="" r:id="rId6" imgW="1308100" imgH="9144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60938" y="5013325"/>
                        <a:ext cx="2498725" cy="17303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06" name="Line 46"/>
          <p:cNvSpPr/>
          <p:nvPr/>
        </p:nvSpPr>
        <p:spPr>
          <a:xfrm>
            <a:off x="3408363" y="2200275"/>
            <a:ext cx="1282700" cy="1354138"/>
          </a:xfrm>
          <a:prstGeom prst="line">
            <a:avLst/>
          </a:prstGeom>
          <a:ln w="12700" cap="flat" cmpd="sng">
            <a:solidFill>
              <a:srgbClr val="FF0000"/>
            </a:solidFill>
            <a:prstDash val="dash"/>
            <a:miter/>
            <a:headEnd type="none" w="med" len="med"/>
            <a:tailEnd type="none" w="med" len="med"/>
          </a:ln>
        </p:spPr>
      </p:sp>
      <p:sp>
        <p:nvSpPr>
          <p:cNvPr id="15407" name="Text Box 47"/>
          <p:cNvSpPr txBox="1"/>
          <p:nvPr/>
        </p:nvSpPr>
        <p:spPr>
          <a:xfrm>
            <a:off x="5868988" y="1663700"/>
            <a:ext cx="26162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Symmetric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Degree (v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</a:rPr>
              <a:t>)=?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10" name="组合 7"/>
          <p:cNvGrpSpPr/>
          <p:nvPr/>
        </p:nvGrpSpPr>
        <p:grpSpPr>
          <a:xfrm>
            <a:off x="552450" y="2205038"/>
            <a:ext cx="1617663" cy="1222375"/>
            <a:chOff x="624840" y="1846263"/>
            <a:chExt cx="1616710" cy="1222692"/>
          </a:xfrm>
        </p:grpSpPr>
        <p:sp>
          <p:nvSpPr>
            <p:cNvPr id="17431" name="Oval 7"/>
            <p:cNvSpPr/>
            <p:nvPr/>
          </p:nvSpPr>
          <p:spPr>
            <a:xfrm>
              <a:off x="655638" y="1892300"/>
              <a:ext cx="331787" cy="315913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32" name="Oval 10"/>
            <p:cNvSpPr/>
            <p:nvPr/>
          </p:nvSpPr>
          <p:spPr>
            <a:xfrm>
              <a:off x="649288" y="2746375"/>
              <a:ext cx="331787" cy="315913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33" name="Oval 13"/>
            <p:cNvSpPr/>
            <p:nvPr/>
          </p:nvSpPr>
          <p:spPr>
            <a:xfrm>
              <a:off x="1744663" y="2752725"/>
              <a:ext cx="333375" cy="315913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34" name="Oval 16"/>
            <p:cNvSpPr/>
            <p:nvPr/>
          </p:nvSpPr>
          <p:spPr>
            <a:xfrm>
              <a:off x="1766888" y="1914525"/>
              <a:ext cx="333375" cy="31432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35" name="Line 17"/>
            <p:cNvSpPr/>
            <p:nvPr/>
          </p:nvSpPr>
          <p:spPr>
            <a:xfrm>
              <a:off x="1001713" y="2035175"/>
              <a:ext cx="75406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436" name="Line 18"/>
            <p:cNvSpPr/>
            <p:nvPr/>
          </p:nvSpPr>
          <p:spPr>
            <a:xfrm flipH="1">
              <a:off x="987425" y="2913063"/>
              <a:ext cx="75565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437" name="Line 19"/>
            <p:cNvSpPr/>
            <p:nvPr/>
          </p:nvSpPr>
          <p:spPr>
            <a:xfrm flipH="1">
              <a:off x="941388" y="2212975"/>
              <a:ext cx="912812" cy="5953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438" name="Line 20"/>
            <p:cNvSpPr/>
            <p:nvPr/>
          </p:nvSpPr>
          <p:spPr>
            <a:xfrm flipV="1">
              <a:off x="830263" y="2195513"/>
              <a:ext cx="0" cy="5651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439" name="Line 22"/>
            <p:cNvSpPr/>
            <p:nvPr/>
          </p:nvSpPr>
          <p:spPr>
            <a:xfrm>
              <a:off x="938213" y="2168525"/>
              <a:ext cx="895350" cy="62706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440" name="Text Box 48"/>
            <p:cNvSpPr txBox="1"/>
            <p:nvPr/>
          </p:nvSpPr>
          <p:spPr>
            <a:xfrm>
              <a:off x="624840" y="1866583"/>
              <a:ext cx="438150" cy="3667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1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41" name="Text Box 49"/>
            <p:cNvSpPr txBox="1"/>
            <p:nvPr/>
          </p:nvSpPr>
          <p:spPr>
            <a:xfrm>
              <a:off x="1766888" y="1846263"/>
              <a:ext cx="474662" cy="3667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42" name="Text Box 50"/>
            <p:cNvSpPr txBox="1"/>
            <p:nvPr/>
          </p:nvSpPr>
          <p:spPr>
            <a:xfrm>
              <a:off x="1724343" y="2674303"/>
              <a:ext cx="438150" cy="3667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43" name="Text Box 51"/>
            <p:cNvSpPr txBox="1"/>
            <p:nvPr/>
          </p:nvSpPr>
          <p:spPr>
            <a:xfrm>
              <a:off x="655955" y="2702243"/>
              <a:ext cx="438150" cy="3667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aseline="-250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5412" name="Object 52"/>
          <p:cNvGraphicFramePr>
            <a:graphicFrameLocks noGrp="1" noChangeAspect="1"/>
          </p:cNvGraphicFramePr>
          <p:nvPr>
            <p:ph idx="1"/>
          </p:nvPr>
        </p:nvGraphicFramePr>
        <p:xfrm>
          <a:off x="5789613" y="2728913"/>
          <a:ext cx="3354387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8" imgW="1701800" imgH="635000" progId="Equation.3">
                  <p:embed/>
                </p:oleObj>
              </mc:Choice>
              <mc:Fallback>
                <p:oleObj name="" r:id="rId8" imgW="1701800" imgH="635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>
                      <a:xfrm>
                        <a:off x="5789613" y="2728913"/>
                        <a:ext cx="3354387" cy="12509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3"/>
          <p:cNvGrpSpPr/>
          <p:nvPr/>
        </p:nvGrpSpPr>
        <p:grpSpPr>
          <a:xfrm>
            <a:off x="523875" y="1131888"/>
            <a:ext cx="5665788" cy="1014412"/>
            <a:chOff x="937" y="408"/>
            <a:chExt cx="3642" cy="639"/>
          </a:xfrm>
        </p:grpSpPr>
        <p:sp>
          <p:nvSpPr>
            <p:cNvPr id="17428" name="Text Box 54"/>
            <p:cNvSpPr txBox="1"/>
            <p:nvPr/>
          </p:nvSpPr>
          <p:spPr>
            <a:xfrm>
              <a:off x="1971" y="408"/>
              <a:ext cx="2608" cy="6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457200" lvl="0" indent="-457200" eaLnBrk="1" hangingPunct="1">
                <a:spcBef>
                  <a:spcPct val="50000"/>
                </a:spcBef>
                <a:buAutoNum type="arabicPlain"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if (v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,v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 ∈E(G)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457200" lvl="0" indent="-45720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    otherwise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9" name="AutoShape 55"/>
            <p:cNvSpPr/>
            <p:nvPr/>
          </p:nvSpPr>
          <p:spPr>
            <a:xfrm>
              <a:off x="1749" y="500"/>
              <a:ext cx="234" cy="486"/>
            </a:xfrm>
            <a:prstGeom prst="leftBrace">
              <a:avLst>
                <a:gd name="adj1" fmla="val 1725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30" name="Text Box 56"/>
            <p:cNvSpPr txBox="1"/>
            <p:nvPr/>
          </p:nvSpPr>
          <p:spPr>
            <a:xfrm>
              <a:off x="937" y="578"/>
              <a:ext cx="11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][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]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=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57"/>
          <p:cNvGrpSpPr/>
          <p:nvPr/>
        </p:nvGrpSpPr>
        <p:grpSpPr>
          <a:xfrm>
            <a:off x="655638" y="4038600"/>
            <a:ext cx="8102600" cy="1014413"/>
            <a:chOff x="522" y="2520"/>
            <a:chExt cx="5104" cy="639"/>
          </a:xfrm>
        </p:grpSpPr>
        <p:sp>
          <p:nvSpPr>
            <p:cNvPr id="17425" name="Text Box 58"/>
            <p:cNvSpPr txBox="1"/>
            <p:nvPr/>
          </p:nvSpPr>
          <p:spPr>
            <a:xfrm>
              <a:off x="1535" y="2520"/>
              <a:ext cx="4091" cy="6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457200" lvl="0" indent="-45720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w</a:t>
              </a:r>
              <a:r>
                <a:rPr lang="en-US" altLang="zh-CN" sz="2400" i="1" baseline="-25000" dirty="0">
                  <a:latin typeface="Times New Roman" panose="02020603050405020304" pitchFamily="18" charset="0"/>
                </a:rPr>
                <a:t>ij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if (v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,v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  <a:r>
                <a:rPr lang="en-US" altLang="zh-CN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E,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w</a:t>
              </a:r>
              <a:r>
                <a:rPr lang="en-US" altLang="zh-CN" sz="2400" i="1" baseline="-25000" dirty="0">
                  <a:latin typeface="Times New Roman" panose="02020603050405020304" pitchFamily="18" charset="0"/>
                </a:rPr>
                <a:t>ij</a:t>
              </a:r>
              <a:r>
                <a:rPr lang="en-US" altLang="zh-CN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is the weight of (vi,vj)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457200" lvl="0" indent="-45720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       otherwise</a:t>
              </a:r>
              <a:endPara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7426" name="AutoShape 59"/>
            <p:cNvSpPr/>
            <p:nvPr/>
          </p:nvSpPr>
          <p:spPr>
            <a:xfrm>
              <a:off x="1361" y="2600"/>
              <a:ext cx="117" cy="437"/>
            </a:xfrm>
            <a:prstGeom prst="leftBrace">
              <a:avLst>
                <a:gd name="adj1" fmla="val 31021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27" name="Text Box 60"/>
            <p:cNvSpPr txBox="1"/>
            <p:nvPr/>
          </p:nvSpPr>
          <p:spPr>
            <a:xfrm>
              <a:off x="522" y="2661"/>
              <a:ext cx="101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][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]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=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7423" name="文本框 3"/>
          <p:cNvSpPr txBox="1"/>
          <p:nvPr/>
        </p:nvSpPr>
        <p:spPr>
          <a:xfrm>
            <a:off x="312738" y="847725"/>
            <a:ext cx="254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50BFB"/>
                </a:solidFill>
              </a:rPr>
              <a:t>Unweighted graph:</a:t>
            </a:r>
            <a:endParaRPr lang="en-US" altLang="zh-CN" sz="1800" b="1" dirty="0">
              <a:solidFill>
                <a:srgbClr val="050BFB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7013" y="3725863"/>
            <a:ext cx="254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50BFB"/>
                </a:solidFill>
              </a:rPr>
              <a:t>Weighted graph:</a:t>
            </a:r>
            <a:endParaRPr lang="en-US" altLang="zh-CN" sz="1800" b="1" dirty="0">
              <a:solidFill>
                <a:srgbClr val="050BF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40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>
                                            <p:txEl>
                                              <p:charRg st="1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407">
                                            <p:txEl>
                                              <p:charRg st="1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54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07" grpId="0" build="allAtOnce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-466725" y="-100012"/>
            <a:ext cx="7345363" cy="59055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2800" b="1" dirty="0"/>
              <a:t>Adjacency Matrix For a Digraph</a:t>
            </a:r>
            <a:endParaRPr lang="en-US" altLang="zh-CN" sz="2800" b="1" dirty="0"/>
          </a:p>
        </p:txBody>
      </p:sp>
      <p:sp>
        <p:nvSpPr>
          <p:cNvPr id="19459" name="Text Box 3"/>
          <p:cNvSpPr txBox="1"/>
          <p:nvPr/>
        </p:nvSpPr>
        <p:spPr>
          <a:xfrm>
            <a:off x="3128963" y="892175"/>
            <a:ext cx="42926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AutoNum type="arabicPlain"/>
            </a:pPr>
            <a:r>
              <a:rPr lang="en-US" altLang="zh-CN" sz="2400" dirty="0">
                <a:latin typeface="Times New Roman" panose="02020603050405020304" pitchFamily="18" charset="0"/>
              </a:rPr>
              <a:t>if &lt;v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&gt; ∈E(G)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0    otherwise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9460" name="AutoShape 4"/>
          <p:cNvSpPr/>
          <p:nvPr/>
        </p:nvSpPr>
        <p:spPr>
          <a:xfrm>
            <a:off x="2776538" y="1038225"/>
            <a:ext cx="371475" cy="771525"/>
          </a:xfrm>
          <a:prstGeom prst="leftBrace">
            <a:avLst>
              <a:gd name="adj1" fmla="val 1725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4292600" y="5461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92600" y="54610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/>
          <p:nvPr/>
        </p:nvSpPr>
        <p:spPr>
          <a:xfrm>
            <a:off x="2632075" y="3857625"/>
            <a:ext cx="6383338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w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2400" i="1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     if &lt;v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&gt;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E, </a:t>
            </a:r>
            <a:r>
              <a:rPr lang="en-US" altLang="zh-CN" sz="2400" i="1" dirty="0">
                <a:latin typeface="Times New Roman" panose="02020603050405020304" pitchFamily="18" charset="0"/>
              </a:rPr>
              <a:t>w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is the weight with &lt;v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&gt;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       otherwise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416" name="Text Box 8"/>
          <p:cNvSpPr txBox="1"/>
          <p:nvPr/>
        </p:nvSpPr>
        <p:spPr>
          <a:xfrm>
            <a:off x="1419225" y="4154488"/>
            <a:ext cx="969963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2800" i="1" dirty="0">
                <a:latin typeface="Times New Roman" panose="02020603050405020304" pitchFamily="18" charset="0"/>
              </a:rPr>
              <a:t>=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17417" name="AutoShape 9"/>
          <p:cNvSpPr/>
          <p:nvPr/>
        </p:nvSpPr>
        <p:spPr>
          <a:xfrm>
            <a:off x="2271713" y="4205288"/>
            <a:ext cx="223837" cy="688975"/>
          </a:xfrm>
          <a:prstGeom prst="leftBrace">
            <a:avLst>
              <a:gd name="adj1" fmla="val 25564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18" name="Rectangle 10"/>
          <p:cNvSpPr/>
          <p:nvPr/>
        </p:nvSpPr>
        <p:spPr>
          <a:xfrm>
            <a:off x="1184275" y="4870450"/>
            <a:ext cx="6683375" cy="201771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4805363" y="59563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14300" imgH="215900" progId="Equation.3">
                  <p:embed/>
                </p:oleObj>
              </mc:Choice>
              <mc:Fallback>
                <p:oleObj name="" r:id="rId3" imgW="114300" imgH="215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05363" y="595630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2"/>
          <p:cNvGrpSpPr/>
          <p:nvPr/>
        </p:nvGrpSpPr>
        <p:grpSpPr>
          <a:xfrm>
            <a:off x="1763713" y="4900613"/>
            <a:ext cx="1779587" cy="1957387"/>
            <a:chOff x="529" y="1586"/>
            <a:chExt cx="1238" cy="1365"/>
          </a:xfrm>
        </p:grpSpPr>
        <p:sp>
          <p:nvSpPr>
            <p:cNvPr id="19497" name="Oval 13"/>
            <p:cNvSpPr/>
            <p:nvPr/>
          </p:nvSpPr>
          <p:spPr>
            <a:xfrm>
              <a:off x="544" y="1689"/>
              <a:ext cx="244" cy="207"/>
            </a:xfrm>
            <a:prstGeom prst="ellipse">
              <a:avLst/>
            </a:prstGeom>
            <a:noFill/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9498" name="Oval 14"/>
            <p:cNvSpPr/>
            <p:nvPr/>
          </p:nvSpPr>
          <p:spPr>
            <a:xfrm>
              <a:off x="1520" y="1689"/>
              <a:ext cx="244" cy="207"/>
            </a:xfrm>
            <a:prstGeom prst="ellipse">
              <a:avLst/>
            </a:prstGeom>
            <a:noFill/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9499" name="Oval 15"/>
            <p:cNvSpPr/>
            <p:nvPr/>
          </p:nvSpPr>
          <p:spPr>
            <a:xfrm>
              <a:off x="547" y="2587"/>
              <a:ext cx="244" cy="208"/>
            </a:xfrm>
            <a:prstGeom prst="ellipse">
              <a:avLst/>
            </a:prstGeom>
            <a:noFill/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9500" name="Oval 16"/>
            <p:cNvSpPr/>
            <p:nvPr/>
          </p:nvSpPr>
          <p:spPr>
            <a:xfrm>
              <a:off x="1523" y="2587"/>
              <a:ext cx="244" cy="208"/>
            </a:xfrm>
            <a:prstGeom prst="ellipse">
              <a:avLst/>
            </a:prstGeom>
            <a:noFill/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9501" name="Line 17"/>
            <p:cNvSpPr/>
            <p:nvPr/>
          </p:nvSpPr>
          <p:spPr>
            <a:xfrm flipV="1">
              <a:off x="669" y="1896"/>
              <a:ext cx="0" cy="691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triangle" w="sm" len="lg"/>
              <a:tailEnd type="none" w="sm" len="lg"/>
            </a:ln>
          </p:spPr>
        </p:sp>
        <p:sp>
          <p:nvSpPr>
            <p:cNvPr id="19502" name="Line 18"/>
            <p:cNvSpPr/>
            <p:nvPr/>
          </p:nvSpPr>
          <p:spPr>
            <a:xfrm flipV="1">
              <a:off x="1642" y="1896"/>
              <a:ext cx="0" cy="691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9503" name="Line 19"/>
            <p:cNvSpPr/>
            <p:nvPr/>
          </p:nvSpPr>
          <p:spPr>
            <a:xfrm>
              <a:off x="791" y="2691"/>
              <a:ext cx="732" cy="0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9504" name="Line 20"/>
            <p:cNvSpPr/>
            <p:nvPr/>
          </p:nvSpPr>
          <p:spPr>
            <a:xfrm flipV="1">
              <a:off x="747" y="1862"/>
              <a:ext cx="856" cy="762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9505" name="Line 21"/>
            <p:cNvSpPr/>
            <p:nvPr/>
          </p:nvSpPr>
          <p:spPr>
            <a:xfrm rot="10336690" flipH="1" flipV="1">
              <a:off x="858" y="1830"/>
              <a:ext cx="647" cy="796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9506" name="Text Box 22"/>
            <p:cNvSpPr txBox="1"/>
            <p:nvPr/>
          </p:nvSpPr>
          <p:spPr>
            <a:xfrm>
              <a:off x="1073" y="1586"/>
              <a:ext cx="8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50BFB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1800" dirty="0">
                <a:solidFill>
                  <a:srgbClr val="050BF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07" name="Text Box 23"/>
            <p:cNvSpPr txBox="1"/>
            <p:nvPr/>
          </p:nvSpPr>
          <p:spPr>
            <a:xfrm>
              <a:off x="529" y="2194"/>
              <a:ext cx="80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50BFB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solidFill>
                  <a:srgbClr val="050BF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08" name="Text Box 24"/>
            <p:cNvSpPr txBox="1"/>
            <p:nvPr/>
          </p:nvSpPr>
          <p:spPr>
            <a:xfrm>
              <a:off x="1077" y="2759"/>
              <a:ext cx="8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50BFB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rgbClr val="050BF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09" name="Text Box 25"/>
            <p:cNvSpPr txBox="1"/>
            <p:nvPr/>
          </p:nvSpPr>
          <p:spPr>
            <a:xfrm>
              <a:off x="1671" y="2196"/>
              <a:ext cx="8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50BFB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solidFill>
                  <a:srgbClr val="050BF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10" name="Text Box 26"/>
            <p:cNvSpPr txBox="1"/>
            <p:nvPr/>
          </p:nvSpPr>
          <p:spPr>
            <a:xfrm>
              <a:off x="1327" y="2190"/>
              <a:ext cx="80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50BFB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800" dirty="0">
                <a:solidFill>
                  <a:srgbClr val="050BF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11" name="Text Box 27"/>
            <p:cNvSpPr txBox="1"/>
            <p:nvPr/>
          </p:nvSpPr>
          <p:spPr>
            <a:xfrm>
              <a:off x="956" y="2450"/>
              <a:ext cx="80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50BFB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800" dirty="0">
                <a:solidFill>
                  <a:srgbClr val="050BF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12" name="Text Box 28"/>
            <p:cNvSpPr txBox="1"/>
            <p:nvPr/>
          </p:nvSpPr>
          <p:spPr>
            <a:xfrm>
              <a:off x="623" y="1706"/>
              <a:ext cx="81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50BFB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solidFill>
                  <a:srgbClr val="050BF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13" name="Text Box 29"/>
            <p:cNvSpPr txBox="1"/>
            <p:nvPr/>
          </p:nvSpPr>
          <p:spPr>
            <a:xfrm>
              <a:off x="636" y="2604"/>
              <a:ext cx="80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50BFB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rgbClr val="050BF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14" name="Text Box 30"/>
            <p:cNvSpPr txBox="1"/>
            <p:nvPr/>
          </p:nvSpPr>
          <p:spPr>
            <a:xfrm>
              <a:off x="1610" y="1718"/>
              <a:ext cx="80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50BFB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solidFill>
                  <a:srgbClr val="050BF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15" name="Text Box 31"/>
            <p:cNvSpPr txBox="1"/>
            <p:nvPr/>
          </p:nvSpPr>
          <p:spPr>
            <a:xfrm>
              <a:off x="1600" y="2604"/>
              <a:ext cx="80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50BFB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rgbClr val="050BF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16" name="Line 32"/>
            <p:cNvSpPr/>
            <p:nvPr/>
          </p:nvSpPr>
          <p:spPr>
            <a:xfrm>
              <a:off x="806" y="1758"/>
              <a:ext cx="732" cy="0"/>
            </a:xfrm>
            <a:prstGeom prst="line">
              <a:avLst/>
            </a:prstGeom>
            <a:ln w="28575" cap="flat" cmpd="sng">
              <a:solidFill>
                <a:srgbClr val="404176"/>
              </a:solidFill>
              <a:prstDash val="solid"/>
              <a:headEnd type="none" w="med" len="med"/>
              <a:tailEnd type="triangle" w="sm" len="lg"/>
            </a:ln>
          </p:spPr>
        </p:sp>
      </p:grpSp>
      <p:graphicFrame>
        <p:nvGraphicFramePr>
          <p:cNvPr id="17441" name="Object 33"/>
          <p:cNvGraphicFramePr>
            <a:graphicFrameLocks noChangeAspect="1"/>
          </p:cNvGraphicFramePr>
          <p:nvPr/>
        </p:nvGraphicFramePr>
        <p:xfrm>
          <a:off x="4737100" y="4953000"/>
          <a:ext cx="2578100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4" imgW="1308100" imgH="914400" progId="Equation.3">
                  <p:embed/>
                </p:oleObj>
              </mc:Choice>
              <mc:Fallback>
                <p:oleObj name="" r:id="rId4" imgW="1308100" imgH="9144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7100" y="4953000"/>
                        <a:ext cx="2578100" cy="185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9" name="Group 34"/>
          <p:cNvGrpSpPr/>
          <p:nvPr/>
        </p:nvGrpSpPr>
        <p:grpSpPr>
          <a:xfrm>
            <a:off x="860425" y="2041525"/>
            <a:ext cx="4791075" cy="1577975"/>
            <a:chOff x="1055" y="2781"/>
            <a:chExt cx="3354" cy="1258"/>
          </a:xfrm>
        </p:grpSpPr>
        <p:grpSp>
          <p:nvGrpSpPr>
            <p:cNvPr id="19474" name="Group 36"/>
            <p:cNvGrpSpPr/>
            <p:nvPr/>
          </p:nvGrpSpPr>
          <p:grpSpPr>
            <a:xfrm>
              <a:off x="1055" y="2919"/>
              <a:ext cx="1083" cy="980"/>
              <a:chOff x="676" y="2840"/>
              <a:chExt cx="1083" cy="980"/>
            </a:xfrm>
          </p:grpSpPr>
          <p:grpSp>
            <p:nvGrpSpPr>
              <p:cNvPr id="19476" name="Group 37"/>
              <p:cNvGrpSpPr/>
              <p:nvPr/>
            </p:nvGrpSpPr>
            <p:grpSpPr>
              <a:xfrm>
                <a:off x="682" y="2840"/>
                <a:ext cx="248" cy="273"/>
                <a:chOff x="682" y="2919"/>
                <a:chExt cx="248" cy="273"/>
              </a:xfrm>
            </p:grpSpPr>
            <p:sp>
              <p:nvSpPr>
                <p:cNvPr id="19495" name="Text Box 38"/>
                <p:cNvSpPr txBox="1"/>
                <p:nvPr/>
              </p:nvSpPr>
              <p:spPr>
                <a:xfrm>
                  <a:off x="760" y="2947"/>
                  <a:ext cx="133" cy="24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496" name="Oval 39"/>
                <p:cNvSpPr/>
                <p:nvPr/>
              </p:nvSpPr>
              <p:spPr>
                <a:xfrm>
                  <a:off x="682" y="2919"/>
                  <a:ext cx="248" cy="249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</p:grpSp>
          <p:grpSp>
            <p:nvGrpSpPr>
              <p:cNvPr id="19477" name="Group 40"/>
              <p:cNvGrpSpPr/>
              <p:nvPr/>
            </p:nvGrpSpPr>
            <p:grpSpPr>
              <a:xfrm>
                <a:off x="1117" y="3225"/>
                <a:ext cx="249" cy="272"/>
                <a:chOff x="681" y="2919"/>
                <a:chExt cx="249" cy="272"/>
              </a:xfrm>
            </p:grpSpPr>
            <p:sp>
              <p:nvSpPr>
                <p:cNvPr id="19493" name="Text Box 41"/>
                <p:cNvSpPr txBox="1"/>
                <p:nvPr/>
              </p:nvSpPr>
              <p:spPr>
                <a:xfrm>
                  <a:off x="760" y="2946"/>
                  <a:ext cx="132" cy="24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494" name="Oval 42"/>
                <p:cNvSpPr/>
                <p:nvPr/>
              </p:nvSpPr>
              <p:spPr>
                <a:xfrm>
                  <a:off x="681" y="2919"/>
                  <a:ext cx="249" cy="249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</p:grpSp>
          <p:grpSp>
            <p:nvGrpSpPr>
              <p:cNvPr id="19478" name="Group 43"/>
              <p:cNvGrpSpPr/>
              <p:nvPr/>
            </p:nvGrpSpPr>
            <p:grpSpPr>
              <a:xfrm>
                <a:off x="676" y="3543"/>
                <a:ext cx="248" cy="272"/>
                <a:chOff x="681" y="2919"/>
                <a:chExt cx="248" cy="272"/>
              </a:xfrm>
            </p:grpSpPr>
            <p:sp>
              <p:nvSpPr>
                <p:cNvPr id="19491" name="Text Box 44"/>
                <p:cNvSpPr txBox="1"/>
                <p:nvPr/>
              </p:nvSpPr>
              <p:spPr>
                <a:xfrm>
                  <a:off x="759" y="2946"/>
                  <a:ext cx="133" cy="24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492" name="Oval 45"/>
                <p:cNvSpPr/>
                <p:nvPr/>
              </p:nvSpPr>
              <p:spPr>
                <a:xfrm>
                  <a:off x="681" y="2919"/>
                  <a:ext cx="248" cy="249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</p:grpSp>
          <p:grpSp>
            <p:nvGrpSpPr>
              <p:cNvPr id="19479" name="Group 46"/>
              <p:cNvGrpSpPr/>
              <p:nvPr/>
            </p:nvGrpSpPr>
            <p:grpSpPr>
              <a:xfrm>
                <a:off x="1494" y="3548"/>
                <a:ext cx="249" cy="272"/>
                <a:chOff x="682" y="2919"/>
                <a:chExt cx="249" cy="272"/>
              </a:xfrm>
            </p:grpSpPr>
            <p:sp>
              <p:nvSpPr>
                <p:cNvPr id="19489" name="Text Box 47"/>
                <p:cNvSpPr txBox="1"/>
                <p:nvPr/>
              </p:nvSpPr>
              <p:spPr>
                <a:xfrm>
                  <a:off x="760" y="2946"/>
                  <a:ext cx="132" cy="24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490" name="Oval 48"/>
                <p:cNvSpPr/>
                <p:nvPr/>
              </p:nvSpPr>
              <p:spPr>
                <a:xfrm>
                  <a:off x="682" y="2919"/>
                  <a:ext cx="249" cy="249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</p:grpSp>
          <p:grpSp>
            <p:nvGrpSpPr>
              <p:cNvPr id="19480" name="Group 49"/>
              <p:cNvGrpSpPr/>
              <p:nvPr/>
            </p:nvGrpSpPr>
            <p:grpSpPr>
              <a:xfrm>
                <a:off x="1511" y="2858"/>
                <a:ext cx="248" cy="273"/>
                <a:chOff x="682" y="2919"/>
                <a:chExt cx="248" cy="273"/>
              </a:xfrm>
            </p:grpSpPr>
            <p:sp>
              <p:nvSpPr>
                <p:cNvPr id="19487" name="Text Box 50"/>
                <p:cNvSpPr txBox="1"/>
                <p:nvPr/>
              </p:nvSpPr>
              <p:spPr>
                <a:xfrm>
                  <a:off x="760" y="2947"/>
                  <a:ext cx="133" cy="24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488" name="Oval 51"/>
                <p:cNvSpPr/>
                <p:nvPr/>
              </p:nvSpPr>
              <p:spPr>
                <a:xfrm>
                  <a:off x="682" y="2919"/>
                  <a:ext cx="248" cy="249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</p:grpSp>
          <p:sp>
            <p:nvSpPr>
              <p:cNvPr id="19481" name="Line 52"/>
              <p:cNvSpPr/>
              <p:nvPr/>
            </p:nvSpPr>
            <p:spPr>
              <a:xfrm>
                <a:off x="955" y="2958"/>
                <a:ext cx="56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9482" name="Line 53"/>
              <p:cNvSpPr/>
              <p:nvPr/>
            </p:nvSpPr>
            <p:spPr>
              <a:xfrm flipV="1">
                <a:off x="1361" y="3103"/>
                <a:ext cx="210" cy="15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9483" name="Line 54"/>
              <p:cNvSpPr/>
              <p:nvPr/>
            </p:nvSpPr>
            <p:spPr>
              <a:xfrm flipV="1">
                <a:off x="903" y="3430"/>
                <a:ext cx="236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9484" name="Line 55"/>
              <p:cNvSpPr/>
              <p:nvPr/>
            </p:nvSpPr>
            <p:spPr>
              <a:xfrm flipH="1">
                <a:off x="929" y="3679"/>
                <a:ext cx="5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9485" name="Line 56"/>
              <p:cNvSpPr/>
              <p:nvPr/>
            </p:nvSpPr>
            <p:spPr>
              <a:xfrm>
                <a:off x="1636" y="3103"/>
                <a:ext cx="0" cy="45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9486" name="Line 57"/>
              <p:cNvSpPr/>
              <p:nvPr/>
            </p:nvSpPr>
            <p:spPr>
              <a:xfrm flipV="1">
                <a:off x="812" y="3090"/>
                <a:ext cx="0" cy="4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</p:grpSp>
        <p:graphicFrame>
          <p:nvGraphicFramePr>
            <p:cNvPr id="19475" name="Object 58"/>
            <p:cNvGraphicFramePr>
              <a:graphicFrameLocks noChangeAspect="1"/>
            </p:cNvGraphicFramePr>
            <p:nvPr/>
          </p:nvGraphicFramePr>
          <p:xfrm>
            <a:off x="2698" y="2781"/>
            <a:ext cx="1711" cy="1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6" imgW="1371600" imgH="1143000" progId="Equation.3">
                    <p:embed/>
                  </p:oleObj>
                </mc:Choice>
                <mc:Fallback>
                  <p:oleObj name="" r:id="rId6" imgW="1371600" imgH="11430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698" y="2781"/>
                          <a:ext cx="1711" cy="12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67" name="Text Box 59"/>
          <p:cNvSpPr txBox="1"/>
          <p:nvPr/>
        </p:nvSpPr>
        <p:spPr>
          <a:xfrm>
            <a:off x="5634038" y="1250950"/>
            <a:ext cx="3509962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In-degree(v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</a:rPr>
              <a:t>)?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Out-degree ( v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</a:rPr>
              <a:t>)?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Degree ( v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</a:rPr>
              <a:t>)?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9471" name="Text Box 60"/>
          <p:cNvSpPr txBox="1"/>
          <p:nvPr/>
        </p:nvSpPr>
        <p:spPr>
          <a:xfrm>
            <a:off x="1471613" y="1160463"/>
            <a:ext cx="17573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[</a:t>
            </a:r>
            <a:r>
              <a:rPr lang="en-US" altLang="zh-CN" sz="2800" i="1" dirty="0">
                <a:latin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</a:rPr>
              <a:t>][</a:t>
            </a:r>
            <a:r>
              <a:rPr lang="en-US" altLang="zh-CN" sz="2800" i="1" dirty="0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]</a:t>
            </a:r>
            <a:r>
              <a:rPr lang="en-US" altLang="zh-CN" sz="2800" i="1" dirty="0">
                <a:latin typeface="Times New Roman" panose="02020603050405020304" pitchFamily="18" charset="0"/>
              </a:rPr>
              <a:t>=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19472" name="文本框 1"/>
          <p:cNvSpPr txBox="1"/>
          <p:nvPr/>
        </p:nvSpPr>
        <p:spPr>
          <a:xfrm>
            <a:off x="276225" y="608013"/>
            <a:ext cx="254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50BFB"/>
                </a:solidFill>
              </a:rPr>
              <a:t>Unweighted digraph:</a:t>
            </a:r>
            <a:endParaRPr lang="en-US" altLang="zh-CN" sz="1800" b="1" dirty="0">
              <a:solidFill>
                <a:srgbClr val="050BFB"/>
              </a:solidFill>
            </a:endParaRPr>
          </a:p>
        </p:txBody>
      </p:sp>
      <p:sp>
        <p:nvSpPr>
          <p:cNvPr id="19473" name="文本框 2"/>
          <p:cNvSpPr txBox="1"/>
          <p:nvPr/>
        </p:nvSpPr>
        <p:spPr>
          <a:xfrm>
            <a:off x="344488" y="3632200"/>
            <a:ext cx="254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50BFB"/>
                </a:solidFill>
              </a:rPr>
              <a:t>Weighted digraph:</a:t>
            </a:r>
            <a:endParaRPr lang="en-US" altLang="zh-CN" sz="1800" b="1" dirty="0">
              <a:solidFill>
                <a:srgbClr val="050BF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/>
      <p:bldP spid="17416" grpId="0"/>
      <p:bldP spid="17417" grpId="0" animBg="1"/>
      <p:bldP spid="17418" grpId="0" bldLvl="0" animBg="1"/>
      <p:bldP spid="174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Matrix Representation of Graphs</a:t>
            </a:r>
            <a:endParaRPr lang="en-US" altLang="zh-CN" sz="4000" dirty="0"/>
          </a:p>
        </p:txBody>
      </p:sp>
      <p:grpSp>
        <p:nvGrpSpPr>
          <p:cNvPr id="20483" name="Group 4"/>
          <p:cNvGrpSpPr/>
          <p:nvPr/>
        </p:nvGrpSpPr>
        <p:grpSpPr>
          <a:xfrm>
            <a:off x="1447800" y="1828800"/>
            <a:ext cx="6235700" cy="3479800"/>
            <a:chOff x="0" y="0"/>
            <a:chExt cx="3928" cy="2192"/>
          </a:xfrm>
        </p:grpSpPr>
        <p:grpSp>
          <p:nvGrpSpPr>
            <p:cNvPr id="20484" name="Group 5"/>
            <p:cNvGrpSpPr/>
            <p:nvPr/>
          </p:nvGrpSpPr>
          <p:grpSpPr>
            <a:xfrm>
              <a:off x="0" y="0"/>
              <a:ext cx="3928" cy="1920"/>
              <a:chOff x="0" y="0"/>
              <a:chExt cx="3928" cy="1920"/>
            </a:xfrm>
          </p:grpSpPr>
          <p:sp>
            <p:nvSpPr>
              <p:cNvPr id="20486" name="Oval 48"/>
              <p:cNvSpPr/>
              <p:nvPr/>
            </p:nvSpPr>
            <p:spPr>
              <a:xfrm>
                <a:off x="0" y="192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佛山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87" name="Oval 47"/>
              <p:cNvSpPr/>
              <p:nvPr/>
            </p:nvSpPr>
            <p:spPr>
              <a:xfrm>
                <a:off x="3280" y="384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惠州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88" name="Oval 42"/>
              <p:cNvSpPr/>
              <p:nvPr/>
            </p:nvSpPr>
            <p:spPr>
              <a:xfrm>
                <a:off x="1190" y="0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广州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89" name="Oval 43"/>
              <p:cNvSpPr/>
              <p:nvPr/>
            </p:nvSpPr>
            <p:spPr>
              <a:xfrm>
                <a:off x="648" y="864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中山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0" name="Oval 44"/>
              <p:cNvSpPr/>
              <p:nvPr/>
            </p:nvSpPr>
            <p:spPr>
              <a:xfrm>
                <a:off x="2203" y="672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东莞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1" name="Oval 45"/>
              <p:cNvSpPr/>
              <p:nvPr/>
            </p:nvSpPr>
            <p:spPr>
              <a:xfrm>
                <a:off x="2786" y="1336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深圳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2" name="Oval 46"/>
              <p:cNvSpPr/>
              <p:nvPr/>
            </p:nvSpPr>
            <p:spPr>
              <a:xfrm>
                <a:off x="518" y="1536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珠海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3" name="Line 49"/>
              <p:cNvSpPr/>
              <p:nvPr/>
            </p:nvSpPr>
            <p:spPr>
              <a:xfrm flipV="1">
                <a:off x="907" y="1248"/>
                <a:ext cx="0" cy="288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494" name="Line 50"/>
              <p:cNvSpPr/>
              <p:nvPr/>
            </p:nvSpPr>
            <p:spPr>
              <a:xfrm flipH="1" flipV="1">
                <a:off x="558" y="528"/>
                <a:ext cx="389" cy="34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495" name="Line 51"/>
              <p:cNvSpPr/>
              <p:nvPr/>
            </p:nvSpPr>
            <p:spPr>
              <a:xfrm flipH="1">
                <a:off x="1296" y="864"/>
                <a:ext cx="907" cy="192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496" name="Line 52"/>
              <p:cNvSpPr/>
              <p:nvPr/>
            </p:nvSpPr>
            <p:spPr>
              <a:xfrm flipH="1" flipV="1">
                <a:off x="1806" y="280"/>
                <a:ext cx="519" cy="453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497" name="Line 53"/>
              <p:cNvSpPr/>
              <p:nvPr/>
            </p:nvSpPr>
            <p:spPr>
              <a:xfrm flipH="1" flipV="1">
                <a:off x="2592" y="1056"/>
                <a:ext cx="389" cy="288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498" name="Line 54"/>
              <p:cNvSpPr/>
              <p:nvPr/>
            </p:nvSpPr>
            <p:spPr>
              <a:xfrm flipV="1">
                <a:off x="3240" y="768"/>
                <a:ext cx="259" cy="57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499" name="Line 55"/>
              <p:cNvSpPr/>
              <p:nvPr/>
            </p:nvSpPr>
            <p:spPr>
              <a:xfrm flipH="1" flipV="1">
                <a:off x="1846" y="192"/>
                <a:ext cx="1466" cy="288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0" name="Line 56"/>
              <p:cNvSpPr/>
              <p:nvPr/>
            </p:nvSpPr>
            <p:spPr>
              <a:xfrm flipV="1">
                <a:off x="1170" y="376"/>
                <a:ext cx="256" cy="5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1" name="Line 57"/>
              <p:cNvSpPr/>
              <p:nvPr/>
            </p:nvSpPr>
            <p:spPr>
              <a:xfrm flipH="1">
                <a:off x="648" y="240"/>
                <a:ext cx="552" cy="144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2" name="Line 58"/>
              <p:cNvSpPr/>
              <p:nvPr/>
            </p:nvSpPr>
            <p:spPr>
              <a:xfrm flipH="1">
                <a:off x="2851" y="672"/>
                <a:ext cx="476" cy="192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3" name="Line 59"/>
              <p:cNvSpPr/>
              <p:nvPr/>
            </p:nvSpPr>
            <p:spPr>
              <a:xfrm flipH="1" flipV="1">
                <a:off x="288" y="576"/>
                <a:ext cx="366" cy="997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485" name="Rectangle 63"/>
            <p:cNvSpPr/>
            <p:nvPr/>
          </p:nvSpPr>
          <p:spPr>
            <a:xfrm>
              <a:off x="1200" y="1904"/>
              <a:ext cx="15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684213" y="333375"/>
            <a:ext cx="6842125" cy="893763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Operations on Matrix Representation of Graphs</a:t>
            </a:r>
            <a:endParaRPr lang="en-US" altLang="zh-CN" sz="3600" dirty="0"/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433388" y="1546225"/>
            <a:ext cx="8562975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#define MAX_VEX  30   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typedef enum {DG, AG, WDG,WAG} GraphKind 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typedef struct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{     GraphKind  kind ;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/*  type of the graph   */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int  vexnum , arcnum ;  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VexType vexs[MAX_VEX];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/* array saving vertices  */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int   adj[MAX_VEX][MAX_VEX];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/* adjacent matrix*/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}MGraph ;  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None/>
            </a:pP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   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/>
          </a:p>
        </p:txBody>
      </p:sp>
      <p:grpSp>
        <p:nvGrpSpPr>
          <p:cNvPr id="6" name="组合 45"/>
          <p:cNvGrpSpPr/>
          <p:nvPr/>
        </p:nvGrpSpPr>
        <p:grpSpPr>
          <a:xfrm>
            <a:off x="6156325" y="1800225"/>
            <a:ext cx="2431415" cy="2699963"/>
            <a:chOff x="3194503" y="3618689"/>
            <a:chExt cx="2176504" cy="2700988"/>
          </a:xfrm>
        </p:grpSpPr>
        <p:grpSp>
          <p:nvGrpSpPr>
            <p:cNvPr id="21509" name="组合 30"/>
            <p:cNvGrpSpPr/>
            <p:nvPr/>
          </p:nvGrpSpPr>
          <p:grpSpPr>
            <a:xfrm>
              <a:off x="3194503" y="4149080"/>
              <a:ext cx="2176504" cy="2170597"/>
              <a:chOff x="1403648" y="3717032"/>
              <a:chExt cx="2176504" cy="2170597"/>
            </a:xfrm>
          </p:grpSpPr>
          <p:sp>
            <p:nvSpPr>
              <p:cNvPr id="21511" name="TextBox 25"/>
              <p:cNvSpPr txBox="1"/>
              <p:nvPr/>
            </p:nvSpPr>
            <p:spPr>
              <a:xfrm>
                <a:off x="1403648" y="3717032"/>
                <a:ext cx="2176504" cy="30682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GraphKind kind</a:t>
                </a:r>
                <a:endParaRPr lang="zh-CN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2" name="TextBox 26"/>
              <p:cNvSpPr txBox="1"/>
              <p:nvPr/>
            </p:nvSpPr>
            <p:spPr>
              <a:xfrm>
                <a:off x="1403648" y="4024113"/>
                <a:ext cx="2176504" cy="30682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int vexnum</a:t>
                </a:r>
                <a:endParaRPr lang="zh-CN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3" name="TextBox 27"/>
              <p:cNvSpPr txBox="1"/>
              <p:nvPr/>
            </p:nvSpPr>
            <p:spPr>
              <a:xfrm>
                <a:off x="1403648" y="4326686"/>
                <a:ext cx="2176504" cy="30682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int arcnum</a:t>
                </a:r>
                <a:endParaRPr lang="zh-CN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4" name="TextBox 28"/>
              <p:cNvSpPr txBox="1"/>
              <p:nvPr/>
            </p:nvSpPr>
            <p:spPr>
              <a:xfrm>
                <a:off x="1403648" y="4627450"/>
                <a:ext cx="2176504" cy="52216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VexType vexs[</a:t>
                </a:r>
                <a:r>
                  <a:rPr lang="en-US" altLang="zh-CN" sz="1400" dirty="0">
                    <a:latin typeface="Times New Roman" panose="02020603050405020304" pitchFamily="18" charset="0"/>
                    <a:sym typeface="+mn-ea"/>
                  </a:rPr>
                  <a:t>MAX_VEX</a:t>
                </a:r>
                <a:r>
                  <a:rPr lang="en-US" altLang="zh-CN" sz="1400" dirty="0">
                    <a:latin typeface="Times New Roman" panose="02020603050405020304" pitchFamily="18" charset="0"/>
                  </a:rPr>
                  <a:t>]</a:t>
                </a:r>
                <a:endParaRPr lang="en-US" altLang="zh-CN" sz="1400" dirty="0">
                  <a:latin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5" name="TextBox 29"/>
              <p:cNvSpPr txBox="1"/>
              <p:nvPr/>
            </p:nvSpPr>
            <p:spPr>
              <a:xfrm>
                <a:off x="1403648" y="5150114"/>
                <a:ext cx="2176504" cy="73751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int adj[</a:t>
                </a:r>
                <a:r>
                  <a:rPr lang="en-US" altLang="zh-CN" sz="1400" dirty="0">
                    <a:latin typeface="Times New Roman" panose="02020603050405020304" pitchFamily="18" charset="0"/>
                    <a:sym typeface="+mn-ea"/>
                  </a:rPr>
                  <a:t>MAX_VEX</a:t>
                </a:r>
                <a:r>
                  <a:rPr lang="en-US" altLang="zh-CN" sz="1400" dirty="0">
                    <a:latin typeface="Times New Roman" panose="02020603050405020304" pitchFamily="18" charset="0"/>
                  </a:rPr>
                  <a:t>][</a:t>
                </a:r>
                <a:r>
                  <a:rPr lang="en-US" altLang="zh-CN" sz="1400" dirty="0">
                    <a:latin typeface="Times New Roman" panose="02020603050405020304" pitchFamily="18" charset="0"/>
                    <a:sym typeface="+mn-ea"/>
                  </a:rPr>
                  <a:t>MAX_VEX</a:t>
                </a:r>
                <a:r>
                  <a:rPr lang="en-US" altLang="zh-CN" sz="1400" dirty="0">
                    <a:latin typeface="Times New Roman" panose="02020603050405020304" pitchFamily="18" charset="0"/>
                  </a:rPr>
                  <a:t> ]</a:t>
                </a:r>
                <a:endParaRPr lang="en-US" altLang="zh-CN" sz="1400" dirty="0">
                  <a:latin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510" name="矩形 43"/>
            <p:cNvSpPr/>
            <p:nvPr/>
          </p:nvSpPr>
          <p:spPr>
            <a:xfrm>
              <a:off x="3194503" y="3618689"/>
              <a:ext cx="1056700" cy="3684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MGraph</a:t>
              </a:r>
              <a:endParaRPr lang="zh-CN" alt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22530" name="Group 4"/>
          <p:cNvGrpSpPr/>
          <p:nvPr/>
        </p:nvGrpSpPr>
        <p:grpSpPr>
          <a:xfrm>
            <a:off x="88900" y="558800"/>
            <a:ext cx="4411663" cy="2941638"/>
            <a:chOff x="0" y="0"/>
            <a:chExt cx="3928" cy="2192"/>
          </a:xfrm>
        </p:grpSpPr>
        <p:grpSp>
          <p:nvGrpSpPr>
            <p:cNvPr id="22541" name="Group 5"/>
            <p:cNvGrpSpPr/>
            <p:nvPr/>
          </p:nvGrpSpPr>
          <p:grpSpPr>
            <a:xfrm>
              <a:off x="0" y="0"/>
              <a:ext cx="3928" cy="1920"/>
              <a:chOff x="0" y="0"/>
              <a:chExt cx="3928" cy="1920"/>
            </a:xfrm>
          </p:grpSpPr>
          <p:sp>
            <p:nvSpPr>
              <p:cNvPr id="22543" name="Oval 48"/>
              <p:cNvSpPr/>
              <p:nvPr/>
            </p:nvSpPr>
            <p:spPr>
              <a:xfrm>
                <a:off x="0" y="192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佛山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4" name="Oval 47"/>
              <p:cNvSpPr/>
              <p:nvPr/>
            </p:nvSpPr>
            <p:spPr>
              <a:xfrm>
                <a:off x="3280" y="384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惠州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5" name="Oval 42"/>
              <p:cNvSpPr/>
              <p:nvPr/>
            </p:nvSpPr>
            <p:spPr>
              <a:xfrm>
                <a:off x="1190" y="0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广州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6" name="Oval 43"/>
              <p:cNvSpPr/>
              <p:nvPr/>
            </p:nvSpPr>
            <p:spPr>
              <a:xfrm>
                <a:off x="648" y="864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中山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7" name="Oval 44"/>
              <p:cNvSpPr/>
              <p:nvPr/>
            </p:nvSpPr>
            <p:spPr>
              <a:xfrm>
                <a:off x="2203" y="672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东莞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8" name="Oval 45"/>
              <p:cNvSpPr/>
              <p:nvPr/>
            </p:nvSpPr>
            <p:spPr>
              <a:xfrm>
                <a:off x="2786" y="1336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深圳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9" name="Oval 46"/>
              <p:cNvSpPr/>
              <p:nvPr/>
            </p:nvSpPr>
            <p:spPr>
              <a:xfrm>
                <a:off x="518" y="1536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珠海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0" name="Line 49"/>
              <p:cNvSpPr/>
              <p:nvPr/>
            </p:nvSpPr>
            <p:spPr>
              <a:xfrm flipV="1">
                <a:off x="907" y="1248"/>
                <a:ext cx="0" cy="288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1" name="Line 50"/>
              <p:cNvSpPr/>
              <p:nvPr/>
            </p:nvSpPr>
            <p:spPr>
              <a:xfrm flipH="1" flipV="1">
                <a:off x="558" y="528"/>
                <a:ext cx="389" cy="34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2" name="Line 51"/>
              <p:cNvSpPr/>
              <p:nvPr/>
            </p:nvSpPr>
            <p:spPr>
              <a:xfrm flipH="1">
                <a:off x="1296" y="864"/>
                <a:ext cx="907" cy="192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3" name="Line 52"/>
              <p:cNvSpPr/>
              <p:nvPr/>
            </p:nvSpPr>
            <p:spPr>
              <a:xfrm flipH="1" flipV="1">
                <a:off x="1806" y="280"/>
                <a:ext cx="519" cy="453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4" name="Line 53"/>
              <p:cNvSpPr/>
              <p:nvPr/>
            </p:nvSpPr>
            <p:spPr>
              <a:xfrm flipH="1" flipV="1">
                <a:off x="2592" y="1056"/>
                <a:ext cx="389" cy="288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5" name="Line 54"/>
              <p:cNvSpPr/>
              <p:nvPr/>
            </p:nvSpPr>
            <p:spPr>
              <a:xfrm flipV="1">
                <a:off x="3240" y="768"/>
                <a:ext cx="259" cy="57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6" name="Line 55"/>
              <p:cNvSpPr/>
              <p:nvPr/>
            </p:nvSpPr>
            <p:spPr>
              <a:xfrm flipH="1" flipV="1">
                <a:off x="1846" y="192"/>
                <a:ext cx="1466" cy="288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7" name="Line 56"/>
              <p:cNvSpPr/>
              <p:nvPr/>
            </p:nvSpPr>
            <p:spPr>
              <a:xfrm flipV="1">
                <a:off x="1170" y="376"/>
                <a:ext cx="256" cy="5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8" name="Line 57"/>
              <p:cNvSpPr/>
              <p:nvPr/>
            </p:nvSpPr>
            <p:spPr>
              <a:xfrm flipH="1">
                <a:off x="648" y="240"/>
                <a:ext cx="552" cy="144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9" name="Line 58"/>
              <p:cNvSpPr/>
              <p:nvPr/>
            </p:nvSpPr>
            <p:spPr>
              <a:xfrm flipH="1">
                <a:off x="2851" y="672"/>
                <a:ext cx="476" cy="192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60" name="Line 59"/>
              <p:cNvSpPr/>
              <p:nvPr/>
            </p:nvSpPr>
            <p:spPr>
              <a:xfrm flipH="1" flipV="1">
                <a:off x="288" y="576"/>
                <a:ext cx="366" cy="997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2542" name="Rectangle 63"/>
            <p:cNvSpPr/>
            <p:nvPr/>
          </p:nvSpPr>
          <p:spPr>
            <a:xfrm>
              <a:off x="1200" y="1904"/>
              <a:ext cx="15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620838" y="287338"/>
            <a:ext cx="29051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0</a:t>
            </a:r>
            <a:endParaRPr lang="zh-CN" altLang="en-US" sz="1800" dirty="0"/>
          </a:p>
        </p:txBody>
      </p:sp>
      <p:sp>
        <p:nvSpPr>
          <p:cNvPr id="33" name="TextBox 32"/>
          <p:cNvSpPr txBox="1"/>
          <p:nvPr/>
        </p:nvSpPr>
        <p:spPr>
          <a:xfrm>
            <a:off x="249238" y="539750"/>
            <a:ext cx="29051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1</a:t>
            </a:r>
            <a:endParaRPr lang="zh-CN" altLang="en-US" sz="1800" dirty="0"/>
          </a:p>
        </p:txBody>
      </p:sp>
      <p:sp>
        <p:nvSpPr>
          <p:cNvPr id="34" name="TextBox 33"/>
          <p:cNvSpPr txBox="1"/>
          <p:nvPr/>
        </p:nvSpPr>
        <p:spPr>
          <a:xfrm>
            <a:off x="3994150" y="782638"/>
            <a:ext cx="290513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2</a:t>
            </a:r>
            <a:endParaRPr lang="zh-CN" altLang="en-US" sz="1800" dirty="0"/>
          </a:p>
        </p:txBody>
      </p:sp>
      <p:sp>
        <p:nvSpPr>
          <p:cNvPr id="35" name="TextBox 34"/>
          <p:cNvSpPr txBox="1"/>
          <p:nvPr/>
        </p:nvSpPr>
        <p:spPr>
          <a:xfrm>
            <a:off x="1052513" y="1435100"/>
            <a:ext cx="290512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3</a:t>
            </a:r>
            <a:endParaRPr lang="zh-CN" altLang="en-US" sz="1800" dirty="0"/>
          </a:p>
        </p:txBody>
      </p:sp>
      <p:sp>
        <p:nvSpPr>
          <p:cNvPr id="36" name="TextBox 35"/>
          <p:cNvSpPr txBox="1"/>
          <p:nvPr/>
        </p:nvSpPr>
        <p:spPr>
          <a:xfrm>
            <a:off x="2768600" y="1187450"/>
            <a:ext cx="290513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4</a:t>
            </a:r>
            <a:endParaRPr lang="zh-CN" altLang="en-US" sz="1800" dirty="0"/>
          </a:p>
        </p:txBody>
      </p:sp>
      <p:sp>
        <p:nvSpPr>
          <p:cNvPr id="37" name="TextBox 36"/>
          <p:cNvSpPr txBox="1"/>
          <p:nvPr/>
        </p:nvSpPr>
        <p:spPr>
          <a:xfrm>
            <a:off x="1039813" y="2366963"/>
            <a:ext cx="29051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5</a:t>
            </a:r>
            <a:endParaRPr lang="zh-CN" altLang="en-US" sz="1800" dirty="0"/>
          </a:p>
        </p:txBody>
      </p:sp>
      <p:sp>
        <p:nvSpPr>
          <p:cNvPr id="38" name="TextBox 37"/>
          <p:cNvSpPr txBox="1"/>
          <p:nvPr/>
        </p:nvSpPr>
        <p:spPr>
          <a:xfrm>
            <a:off x="3462338" y="2047875"/>
            <a:ext cx="290512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6</a:t>
            </a:r>
            <a:endParaRPr lang="zh-CN" altLang="en-US" sz="1800" dirty="0"/>
          </a:p>
        </p:txBody>
      </p:sp>
      <p:cxnSp>
        <p:nvCxnSpPr>
          <p:cNvPr id="49" name="直接连接符 48"/>
          <p:cNvCxnSpPr>
            <a:stCxn id="22558" idx="0"/>
            <a:endCxn id="22558" idx="1"/>
          </p:cNvCxnSpPr>
          <p:nvPr/>
        </p:nvCxnSpPr>
        <p:spPr>
          <a:xfrm flipH="1">
            <a:off x="815975" y="881063"/>
            <a:ext cx="619125" cy="19367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/>
          <p:cNvGraphicFramePr/>
          <p:nvPr/>
        </p:nvGraphicFramePr>
        <p:xfrm>
          <a:off x="3436938" y="3041650"/>
          <a:ext cx="5683250" cy="362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5996940" imgH="3870960" progId="Paint.Picture">
                  <p:embed/>
                </p:oleObj>
              </mc:Choice>
              <mc:Fallback>
                <p:oleObj name="" r:id="rId1" imgW="5996940" imgH="3870960" progId="Paint.Picture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36938" y="3041650"/>
                        <a:ext cx="5683250" cy="3627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714875" y="657225"/>
          <a:ext cx="4230688" cy="210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4472940" imgH="2278380" progId="Paint.Picture">
                  <p:embed/>
                </p:oleObj>
              </mc:Choice>
              <mc:Fallback>
                <p:oleObj name="" r:id="rId3" imgW="4472940" imgH="2278380" progId="Paint.Picture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4875" y="657225"/>
                        <a:ext cx="4230688" cy="2106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3554" name="Rectangle 2"/>
          <p:cNvSpPr/>
          <p:nvPr/>
        </p:nvSpPr>
        <p:spPr>
          <a:xfrm>
            <a:off x="152400" y="641350"/>
            <a:ext cx="8839200" cy="5076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800" b="1" dirty="0">
                <a:solidFill>
                  <a:srgbClr val="050BFB"/>
                </a:solidFill>
                <a:latin typeface="Arial" panose="020B0604020202020204" pitchFamily="34" charset="0"/>
              </a:rPr>
              <a:t>Create an Empty Graph</a:t>
            </a:r>
            <a:endParaRPr lang="en-US" altLang="zh-CN" sz="2800" b="1" dirty="0">
              <a:solidFill>
                <a:srgbClr val="050BFB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endParaRPr lang="en-US" altLang="zh-CN" sz="3600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MGraph  *Create_Graph()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355600" lvl="1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{   </a:t>
            </a:r>
            <a:r>
              <a:rPr lang="en-US" altLang="zh-CN" sz="2400" dirty="0">
                <a:latin typeface="Times New Roman" panose="02020603050405020304" pitchFamily="18" charset="0"/>
                <a:sym typeface="+mn-ea"/>
              </a:rPr>
              <a:t>MGraph * G;</a:t>
            </a:r>
            <a:endParaRPr lang="en-US" altLang="zh-CN" sz="2400" dirty="0">
              <a:latin typeface="Times New Roman" panose="02020603050405020304" pitchFamily="18" charset="0"/>
              <a:sym typeface="+mn-ea"/>
            </a:endParaRPr>
          </a:p>
          <a:p>
            <a:pPr marL="355600" lvl="1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+mn-ea"/>
              </a:rPr>
              <a:t>     G=malloc(sizeof(MGraph));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355600" lvl="1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printf(“Input the type of the graph”) ;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scanf(“%d”, &amp;G-&gt;kind) 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G-&gt;vexnum=0 ;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G-&gt;arcnum=0 ;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return(G) ;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355600" lvl="1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" name="组合 45"/>
          <p:cNvGrpSpPr/>
          <p:nvPr/>
        </p:nvGrpSpPr>
        <p:grpSpPr>
          <a:xfrm>
            <a:off x="6156325" y="1800225"/>
            <a:ext cx="2431415" cy="2699963"/>
            <a:chOff x="3194503" y="3618689"/>
            <a:chExt cx="2176504" cy="2700988"/>
          </a:xfrm>
        </p:grpSpPr>
        <p:grpSp>
          <p:nvGrpSpPr>
            <p:cNvPr id="21509" name="组合 30"/>
            <p:cNvGrpSpPr/>
            <p:nvPr/>
          </p:nvGrpSpPr>
          <p:grpSpPr>
            <a:xfrm>
              <a:off x="3194503" y="4149080"/>
              <a:ext cx="2176504" cy="2170597"/>
              <a:chOff x="1403648" y="3717032"/>
              <a:chExt cx="2176504" cy="2170597"/>
            </a:xfrm>
          </p:grpSpPr>
          <p:sp>
            <p:nvSpPr>
              <p:cNvPr id="21511" name="TextBox 25"/>
              <p:cNvSpPr txBox="1"/>
              <p:nvPr/>
            </p:nvSpPr>
            <p:spPr>
              <a:xfrm>
                <a:off x="1403648" y="3717032"/>
                <a:ext cx="2176504" cy="30682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GraphKind kind</a:t>
                </a:r>
                <a:endParaRPr lang="zh-CN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2" name="TextBox 26"/>
              <p:cNvSpPr txBox="1"/>
              <p:nvPr/>
            </p:nvSpPr>
            <p:spPr>
              <a:xfrm>
                <a:off x="1403648" y="4024113"/>
                <a:ext cx="2176504" cy="30682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int vexnum=0</a:t>
                </a:r>
                <a:endParaRPr lang="zh-CN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3" name="TextBox 27"/>
              <p:cNvSpPr txBox="1"/>
              <p:nvPr/>
            </p:nvSpPr>
            <p:spPr>
              <a:xfrm>
                <a:off x="1403648" y="4326686"/>
                <a:ext cx="2176504" cy="30682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int arcnum=0</a:t>
                </a:r>
                <a:endParaRPr lang="zh-CN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4" name="TextBox 28"/>
              <p:cNvSpPr txBox="1"/>
              <p:nvPr/>
            </p:nvSpPr>
            <p:spPr>
              <a:xfrm>
                <a:off x="1403648" y="4627450"/>
                <a:ext cx="2176504" cy="52216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VexType vexs[</a:t>
                </a:r>
                <a:r>
                  <a:rPr lang="en-US" altLang="zh-CN" sz="1400" dirty="0">
                    <a:latin typeface="Times New Roman" panose="02020603050405020304" pitchFamily="18" charset="0"/>
                    <a:sym typeface="+mn-ea"/>
                  </a:rPr>
                  <a:t>MAX_VEX</a:t>
                </a:r>
                <a:r>
                  <a:rPr lang="en-US" altLang="zh-CN" sz="1400" dirty="0">
                    <a:latin typeface="Times New Roman" panose="02020603050405020304" pitchFamily="18" charset="0"/>
                  </a:rPr>
                  <a:t>]</a:t>
                </a:r>
                <a:endParaRPr lang="en-US" altLang="zh-CN" sz="1400" dirty="0">
                  <a:latin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5" name="TextBox 29"/>
              <p:cNvSpPr txBox="1"/>
              <p:nvPr/>
            </p:nvSpPr>
            <p:spPr>
              <a:xfrm>
                <a:off x="1403648" y="5150114"/>
                <a:ext cx="2176504" cy="73751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int adj[</a:t>
                </a:r>
                <a:r>
                  <a:rPr lang="en-US" altLang="zh-CN" sz="1400" dirty="0">
                    <a:latin typeface="Times New Roman" panose="02020603050405020304" pitchFamily="18" charset="0"/>
                    <a:sym typeface="+mn-ea"/>
                  </a:rPr>
                  <a:t>MAX_VEX</a:t>
                </a:r>
                <a:r>
                  <a:rPr lang="en-US" altLang="zh-CN" sz="1400" dirty="0">
                    <a:latin typeface="Times New Roman" panose="02020603050405020304" pitchFamily="18" charset="0"/>
                  </a:rPr>
                  <a:t>][</a:t>
                </a:r>
                <a:r>
                  <a:rPr lang="en-US" altLang="zh-CN" sz="1400" dirty="0">
                    <a:latin typeface="Times New Roman" panose="02020603050405020304" pitchFamily="18" charset="0"/>
                    <a:sym typeface="+mn-ea"/>
                  </a:rPr>
                  <a:t>MAX_VEX</a:t>
                </a:r>
                <a:r>
                  <a:rPr lang="en-US" altLang="zh-CN" sz="1400" dirty="0">
                    <a:latin typeface="Times New Roman" panose="02020603050405020304" pitchFamily="18" charset="0"/>
                  </a:rPr>
                  <a:t> ]</a:t>
                </a:r>
                <a:endParaRPr lang="en-US" altLang="zh-CN" sz="1400" dirty="0">
                  <a:latin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510" name="矩形 43"/>
            <p:cNvSpPr/>
            <p:nvPr/>
          </p:nvSpPr>
          <p:spPr>
            <a:xfrm>
              <a:off x="3194503" y="3618689"/>
              <a:ext cx="1056700" cy="3684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MGraph</a:t>
              </a:r>
              <a:endParaRPr lang="zh-CN" alt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1506" name="Rectangle 2"/>
          <p:cNvSpPr/>
          <p:nvPr/>
        </p:nvSpPr>
        <p:spPr>
          <a:xfrm>
            <a:off x="152400" y="228600"/>
            <a:ext cx="8839200" cy="61531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800" b="1" dirty="0">
                <a:solidFill>
                  <a:srgbClr val="050BFB"/>
                </a:solidFill>
                <a:latin typeface="Arial" panose="020B0604020202020204" pitchFamily="34" charset="0"/>
              </a:rPr>
              <a:t>Locate a vertex in a graph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</a:rPr>
              <a:t>The operation is to find out the index of the given vertex in the array vexs. It is equivalent to search a given data element in an array.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int  LocateVex(MGraph *G , VexType *vp)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{  int  k ;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for (k=0 ; k&lt;G-&gt;vexnum ; k++)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if (G-&gt;vexs[k]==*vp)  return(k) ;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return(-1) ;   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/*  no such vertex in the graph  */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}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24579" name="组合 1"/>
          <p:cNvGrpSpPr/>
          <p:nvPr/>
        </p:nvGrpSpPr>
        <p:grpSpPr>
          <a:xfrm>
            <a:off x="4264025" y="3933825"/>
            <a:ext cx="4629150" cy="3213100"/>
            <a:chOff x="4264793" y="3933056"/>
            <a:chExt cx="4411663" cy="3213100"/>
          </a:xfrm>
        </p:grpSpPr>
        <p:grpSp>
          <p:nvGrpSpPr>
            <p:cNvPr id="24580" name="Group 4"/>
            <p:cNvGrpSpPr/>
            <p:nvPr/>
          </p:nvGrpSpPr>
          <p:grpSpPr>
            <a:xfrm>
              <a:off x="4264793" y="4204518"/>
              <a:ext cx="4411663" cy="2941638"/>
              <a:chOff x="0" y="0"/>
              <a:chExt cx="3928" cy="2192"/>
            </a:xfrm>
          </p:grpSpPr>
          <p:grpSp>
            <p:nvGrpSpPr>
              <p:cNvPr id="24589" name="Group 5"/>
              <p:cNvGrpSpPr/>
              <p:nvPr/>
            </p:nvGrpSpPr>
            <p:grpSpPr>
              <a:xfrm>
                <a:off x="0" y="0"/>
                <a:ext cx="3928" cy="1920"/>
                <a:chOff x="0" y="0"/>
                <a:chExt cx="3928" cy="1920"/>
              </a:xfrm>
            </p:grpSpPr>
            <p:sp>
              <p:nvSpPr>
                <p:cNvPr id="24591" name="Oval 48"/>
                <p:cNvSpPr/>
                <p:nvPr/>
              </p:nvSpPr>
              <p:spPr>
                <a:xfrm>
                  <a:off x="0" y="192"/>
                  <a:ext cx="648" cy="384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FF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佛山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92" name="Oval 47"/>
                <p:cNvSpPr/>
                <p:nvPr/>
              </p:nvSpPr>
              <p:spPr>
                <a:xfrm>
                  <a:off x="3280" y="384"/>
                  <a:ext cx="648" cy="384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FF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惠州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93" name="Oval 42"/>
                <p:cNvSpPr/>
                <p:nvPr/>
              </p:nvSpPr>
              <p:spPr>
                <a:xfrm>
                  <a:off x="1190" y="0"/>
                  <a:ext cx="648" cy="384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FF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广州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94" name="Oval 43"/>
                <p:cNvSpPr/>
                <p:nvPr/>
              </p:nvSpPr>
              <p:spPr>
                <a:xfrm>
                  <a:off x="648" y="864"/>
                  <a:ext cx="648" cy="384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FF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中山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95" name="Oval 44"/>
                <p:cNvSpPr/>
                <p:nvPr/>
              </p:nvSpPr>
              <p:spPr>
                <a:xfrm>
                  <a:off x="2203" y="672"/>
                  <a:ext cx="648" cy="384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FF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东莞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96" name="Oval 45"/>
                <p:cNvSpPr/>
                <p:nvPr/>
              </p:nvSpPr>
              <p:spPr>
                <a:xfrm>
                  <a:off x="2786" y="1336"/>
                  <a:ext cx="648" cy="384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FF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深圳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97" name="Oval 46"/>
                <p:cNvSpPr/>
                <p:nvPr/>
              </p:nvSpPr>
              <p:spPr>
                <a:xfrm>
                  <a:off x="518" y="1536"/>
                  <a:ext cx="648" cy="384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FF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珠海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98" name="Line 49"/>
                <p:cNvSpPr/>
                <p:nvPr/>
              </p:nvSpPr>
              <p:spPr>
                <a:xfrm flipV="1">
                  <a:off x="907" y="1248"/>
                  <a:ext cx="0" cy="288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599" name="Line 50"/>
                <p:cNvSpPr/>
                <p:nvPr/>
              </p:nvSpPr>
              <p:spPr>
                <a:xfrm flipH="1" flipV="1">
                  <a:off x="558" y="528"/>
                  <a:ext cx="389" cy="340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00" name="Line 51"/>
                <p:cNvSpPr/>
                <p:nvPr/>
              </p:nvSpPr>
              <p:spPr>
                <a:xfrm flipH="1">
                  <a:off x="1296" y="864"/>
                  <a:ext cx="907" cy="192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01" name="Line 52"/>
                <p:cNvSpPr/>
                <p:nvPr/>
              </p:nvSpPr>
              <p:spPr>
                <a:xfrm flipH="1" flipV="1">
                  <a:off x="1806" y="280"/>
                  <a:ext cx="519" cy="453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02" name="Line 53"/>
                <p:cNvSpPr/>
                <p:nvPr/>
              </p:nvSpPr>
              <p:spPr>
                <a:xfrm flipH="1" flipV="1">
                  <a:off x="2592" y="1056"/>
                  <a:ext cx="389" cy="288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03" name="Line 54"/>
                <p:cNvSpPr/>
                <p:nvPr/>
              </p:nvSpPr>
              <p:spPr>
                <a:xfrm flipV="1">
                  <a:off x="3240" y="768"/>
                  <a:ext cx="259" cy="576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04" name="Line 55"/>
                <p:cNvSpPr/>
                <p:nvPr/>
              </p:nvSpPr>
              <p:spPr>
                <a:xfrm flipH="1" flipV="1">
                  <a:off x="1846" y="192"/>
                  <a:ext cx="1466" cy="288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05" name="Line 56"/>
                <p:cNvSpPr/>
                <p:nvPr/>
              </p:nvSpPr>
              <p:spPr>
                <a:xfrm flipV="1">
                  <a:off x="1170" y="376"/>
                  <a:ext cx="256" cy="536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06" name="Line 57"/>
                <p:cNvSpPr/>
                <p:nvPr/>
              </p:nvSpPr>
              <p:spPr>
                <a:xfrm flipH="1">
                  <a:off x="648" y="240"/>
                  <a:ext cx="552" cy="144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07" name="Line 58"/>
                <p:cNvSpPr/>
                <p:nvPr/>
              </p:nvSpPr>
              <p:spPr>
                <a:xfrm flipH="1">
                  <a:off x="2851" y="672"/>
                  <a:ext cx="476" cy="192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08" name="Line 59"/>
                <p:cNvSpPr/>
                <p:nvPr/>
              </p:nvSpPr>
              <p:spPr>
                <a:xfrm flipH="1" flipV="1">
                  <a:off x="288" y="576"/>
                  <a:ext cx="366" cy="997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4590" name="Rectangle 63"/>
              <p:cNvSpPr/>
              <p:nvPr/>
            </p:nvSpPr>
            <p:spPr>
              <a:xfrm>
                <a:off x="1200" y="1904"/>
                <a:ext cx="15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000" b="1" dirty="0"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24581" name="TextBox 31"/>
            <p:cNvSpPr txBox="1"/>
            <p:nvPr/>
          </p:nvSpPr>
          <p:spPr>
            <a:xfrm>
              <a:off x="5796731" y="3933056"/>
              <a:ext cx="290512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800" dirty="0"/>
                <a:t>0</a:t>
              </a:r>
              <a:endParaRPr lang="zh-CN" altLang="en-US" sz="1800" dirty="0"/>
            </a:p>
          </p:txBody>
        </p:sp>
        <p:sp>
          <p:nvSpPr>
            <p:cNvPr id="24582" name="TextBox 32"/>
            <p:cNvSpPr txBox="1"/>
            <p:nvPr/>
          </p:nvSpPr>
          <p:spPr>
            <a:xfrm>
              <a:off x="4425131" y="4185468"/>
              <a:ext cx="290512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800" dirty="0"/>
                <a:t>1</a:t>
              </a:r>
              <a:endParaRPr lang="zh-CN" altLang="en-US" sz="1800" dirty="0"/>
            </a:p>
          </p:txBody>
        </p:sp>
        <p:sp>
          <p:nvSpPr>
            <p:cNvPr id="24583" name="TextBox 33"/>
            <p:cNvSpPr txBox="1"/>
            <p:nvPr/>
          </p:nvSpPr>
          <p:spPr>
            <a:xfrm>
              <a:off x="8170043" y="4428356"/>
              <a:ext cx="290513" cy="3698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800" dirty="0"/>
                <a:t>2</a:t>
              </a:r>
              <a:endParaRPr lang="zh-CN" altLang="en-US" sz="1800" dirty="0"/>
            </a:p>
          </p:txBody>
        </p:sp>
        <p:sp>
          <p:nvSpPr>
            <p:cNvPr id="24584" name="TextBox 34"/>
            <p:cNvSpPr txBox="1"/>
            <p:nvPr/>
          </p:nvSpPr>
          <p:spPr>
            <a:xfrm>
              <a:off x="5228406" y="5080818"/>
              <a:ext cx="290512" cy="3698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800" dirty="0"/>
                <a:t>3</a:t>
              </a:r>
              <a:endParaRPr lang="zh-CN" altLang="en-US" sz="1800" dirty="0"/>
            </a:p>
          </p:txBody>
        </p:sp>
        <p:sp>
          <p:nvSpPr>
            <p:cNvPr id="24585" name="TextBox 35"/>
            <p:cNvSpPr txBox="1"/>
            <p:nvPr/>
          </p:nvSpPr>
          <p:spPr>
            <a:xfrm>
              <a:off x="6944493" y="4833168"/>
              <a:ext cx="290513" cy="3698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800" dirty="0"/>
                <a:t>4</a:t>
              </a:r>
              <a:endParaRPr lang="zh-CN" altLang="en-US" sz="1800" dirty="0"/>
            </a:p>
          </p:txBody>
        </p:sp>
        <p:sp>
          <p:nvSpPr>
            <p:cNvPr id="24586" name="TextBox 36"/>
            <p:cNvSpPr txBox="1"/>
            <p:nvPr/>
          </p:nvSpPr>
          <p:spPr>
            <a:xfrm>
              <a:off x="5215706" y="6012681"/>
              <a:ext cx="290512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800" dirty="0"/>
                <a:t>5</a:t>
              </a:r>
              <a:endParaRPr lang="zh-CN" altLang="en-US" sz="1800" dirty="0"/>
            </a:p>
          </p:txBody>
        </p:sp>
        <p:sp>
          <p:nvSpPr>
            <p:cNvPr id="24587" name="TextBox 37"/>
            <p:cNvSpPr txBox="1"/>
            <p:nvPr/>
          </p:nvSpPr>
          <p:spPr>
            <a:xfrm>
              <a:off x="7638231" y="5693593"/>
              <a:ext cx="290512" cy="3698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800" dirty="0"/>
                <a:t>6</a:t>
              </a:r>
              <a:endParaRPr lang="zh-CN" altLang="en-US" sz="1800" dirty="0"/>
            </a:p>
          </p:txBody>
        </p:sp>
        <p:cxnSp>
          <p:nvCxnSpPr>
            <p:cNvPr id="52" name="直接连接符 51"/>
            <p:cNvCxnSpPr>
              <a:stCxn id="24606" idx="0"/>
              <a:endCxn id="24606" idx="1"/>
            </p:cNvCxnSpPr>
            <p:nvPr/>
          </p:nvCxnSpPr>
          <p:spPr>
            <a:xfrm flipH="1">
              <a:off x="4992506" y="4526781"/>
              <a:ext cx="618782" cy="193675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09" name="组合 30"/>
          <p:cNvGrpSpPr/>
          <p:nvPr/>
        </p:nvGrpSpPr>
        <p:grpSpPr>
          <a:xfrm rot="0">
            <a:off x="1043305" y="4535170"/>
            <a:ext cx="2431415" cy="2169795"/>
            <a:chOff x="1403648" y="3717032"/>
            <a:chExt cx="2176504" cy="2170597"/>
          </a:xfrm>
        </p:grpSpPr>
        <p:sp>
          <p:nvSpPr>
            <p:cNvPr id="21511" name="TextBox 25"/>
            <p:cNvSpPr txBox="1"/>
            <p:nvPr/>
          </p:nvSpPr>
          <p:spPr>
            <a:xfrm>
              <a:off x="1403648" y="3717032"/>
              <a:ext cx="2176504" cy="30682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GraphKind kind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2" name="TextBox 26"/>
            <p:cNvSpPr txBox="1"/>
            <p:nvPr/>
          </p:nvSpPr>
          <p:spPr>
            <a:xfrm>
              <a:off x="1403648" y="4024113"/>
              <a:ext cx="2176504" cy="30681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int vexnum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3" name="TextBox 27"/>
            <p:cNvSpPr txBox="1"/>
            <p:nvPr/>
          </p:nvSpPr>
          <p:spPr>
            <a:xfrm>
              <a:off x="1403648" y="4326686"/>
              <a:ext cx="2176504" cy="30681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int arcnum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4" name="TextBox 28"/>
            <p:cNvSpPr txBox="1"/>
            <p:nvPr/>
          </p:nvSpPr>
          <p:spPr>
            <a:xfrm>
              <a:off x="1403648" y="4627450"/>
              <a:ext cx="2176504" cy="52216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VexType vexs[</a:t>
              </a:r>
              <a:r>
                <a:rPr lang="en-US" altLang="zh-CN" sz="1400" dirty="0">
                  <a:latin typeface="Times New Roman" panose="02020603050405020304" pitchFamily="18" charset="0"/>
                  <a:sym typeface="+mn-ea"/>
                </a:rPr>
                <a:t>MAX_VEX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]</a:t>
              </a:r>
              <a:endParaRPr lang="en-US" altLang="zh-CN" sz="1400" dirty="0">
                <a:latin typeface="Times New Roman" panose="02020603050405020304" pitchFamily="18" charset="0"/>
              </a:endParaRPr>
            </a:p>
            <a:p>
              <a:pPr marL="0" lvl="0" indent="0">
                <a:spcBef>
                  <a:spcPct val="0"/>
                </a:spcBef>
                <a:buNone/>
              </a:pP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5" name="TextBox 29"/>
            <p:cNvSpPr txBox="1"/>
            <p:nvPr/>
          </p:nvSpPr>
          <p:spPr>
            <a:xfrm>
              <a:off x="1403648" y="5150114"/>
              <a:ext cx="2176504" cy="73751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int adj[</a:t>
              </a:r>
              <a:r>
                <a:rPr lang="en-US" altLang="zh-CN" sz="1400" dirty="0">
                  <a:latin typeface="Times New Roman" panose="02020603050405020304" pitchFamily="18" charset="0"/>
                  <a:sym typeface="+mn-ea"/>
                </a:rPr>
                <a:t>MAX_VEX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][</a:t>
              </a:r>
              <a:r>
                <a:rPr lang="en-US" altLang="zh-CN" sz="1400" dirty="0">
                  <a:latin typeface="Times New Roman" panose="02020603050405020304" pitchFamily="18" charset="0"/>
                  <a:sym typeface="+mn-ea"/>
                </a:rPr>
                <a:t>MAX_VEX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 ]</a:t>
              </a:r>
              <a:endParaRPr lang="en-US" altLang="zh-CN" sz="1400" dirty="0">
                <a:latin typeface="Times New Roman" panose="02020603050405020304" pitchFamily="18" charset="0"/>
              </a:endParaRPr>
            </a:p>
            <a:p>
              <a:pPr marL="0" lvl="0" indent="0">
                <a:spcBef>
                  <a:spcPct val="0"/>
                </a:spcBef>
                <a:buNone/>
              </a:pP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174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charRg st="174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215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6">
                                            <p:txEl>
                                              <p:charRg st="215" end="2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230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06">
                                            <p:txEl>
                                              <p:charRg st="230" end="2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267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506">
                                            <p:txEl>
                                              <p:charRg st="267" end="3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313" end="3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506">
                                            <p:txEl>
                                              <p:charRg st="313" end="3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373" end="3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06">
                                            <p:txEl>
                                              <p:charRg st="373" end="3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2530" name="Rectangle 2"/>
          <p:cNvSpPr/>
          <p:nvPr/>
        </p:nvSpPr>
        <p:spPr>
          <a:xfrm>
            <a:off x="152400" y="228600"/>
            <a:ext cx="8839200" cy="62245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800" b="1" dirty="0">
                <a:solidFill>
                  <a:srgbClr val="050BFB"/>
                </a:solidFill>
                <a:latin typeface="Arial" panose="020B0604020202020204" pitchFamily="34" charset="0"/>
              </a:rPr>
              <a:t>Insert a vertex</a:t>
            </a:r>
            <a:endParaRPr lang="en-US" altLang="zh-CN" sz="2800" b="1" dirty="0">
              <a:solidFill>
                <a:srgbClr val="050BFB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400" dirty="0">
                <a:latin typeface="Times New Roman" panose="02020603050405020304" pitchFamily="18" charset="0"/>
              </a:rPr>
              <a:t>The operation is equivalent to add one data element to the array vexs and add one row and one column for the new vertex in the adjacency matrix.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endParaRPr lang="en-US" altLang="zh-CN" sz="32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int  AddVertex(MGraph *G , VexType *vp)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355600" lvl="1" indent="0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{  int  k , j 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if  (G-&gt;vexnum&gt;=MAX_VEX)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079500" lvl="3" indent="0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{  printf(“Vertex Overflow !\n”) ; return(-1) ;  }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if  (LocateVex(G , vp)!=-1)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079500" lvl="3" indent="0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{  printf(“Vertex has existed !\n”) ; return(-1) ; }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k=G-&gt;vexnum ; G-&gt;vexs[G-&gt;vexnum++]=*vp ;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grpSp>
        <p:nvGrpSpPr>
          <p:cNvPr id="21509" name="组合 30"/>
          <p:cNvGrpSpPr/>
          <p:nvPr/>
        </p:nvGrpSpPr>
        <p:grpSpPr>
          <a:xfrm rot="0">
            <a:off x="6228080" y="1988820"/>
            <a:ext cx="2431415" cy="2169795"/>
            <a:chOff x="1403648" y="3717032"/>
            <a:chExt cx="2176504" cy="2170597"/>
          </a:xfrm>
        </p:grpSpPr>
        <p:sp>
          <p:nvSpPr>
            <p:cNvPr id="21511" name="TextBox 25"/>
            <p:cNvSpPr txBox="1"/>
            <p:nvPr/>
          </p:nvSpPr>
          <p:spPr>
            <a:xfrm>
              <a:off x="1403648" y="3717032"/>
              <a:ext cx="2176504" cy="30682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GraphKind kind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2" name="TextBox 26"/>
            <p:cNvSpPr txBox="1"/>
            <p:nvPr/>
          </p:nvSpPr>
          <p:spPr>
            <a:xfrm>
              <a:off x="1403648" y="4024113"/>
              <a:ext cx="2176504" cy="30681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int vexnum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3" name="TextBox 27"/>
            <p:cNvSpPr txBox="1"/>
            <p:nvPr/>
          </p:nvSpPr>
          <p:spPr>
            <a:xfrm>
              <a:off x="1403648" y="4326686"/>
              <a:ext cx="2176504" cy="30681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int arcnum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4" name="TextBox 28"/>
            <p:cNvSpPr txBox="1"/>
            <p:nvPr/>
          </p:nvSpPr>
          <p:spPr>
            <a:xfrm>
              <a:off x="1403648" y="4627450"/>
              <a:ext cx="2176504" cy="52216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VexType vexs[</a:t>
              </a:r>
              <a:r>
                <a:rPr lang="en-US" altLang="zh-CN" sz="1400" dirty="0">
                  <a:latin typeface="Times New Roman" panose="02020603050405020304" pitchFamily="18" charset="0"/>
                  <a:sym typeface="+mn-ea"/>
                </a:rPr>
                <a:t>MAX_VEX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]</a:t>
              </a:r>
              <a:endParaRPr lang="en-US" altLang="zh-CN" sz="1400" dirty="0">
                <a:latin typeface="Times New Roman" panose="02020603050405020304" pitchFamily="18" charset="0"/>
              </a:endParaRPr>
            </a:p>
            <a:p>
              <a:pPr marL="0" lvl="0" indent="0">
                <a:spcBef>
                  <a:spcPct val="0"/>
                </a:spcBef>
                <a:buNone/>
              </a:pP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5" name="TextBox 29"/>
            <p:cNvSpPr txBox="1"/>
            <p:nvPr/>
          </p:nvSpPr>
          <p:spPr>
            <a:xfrm>
              <a:off x="1403648" y="5150114"/>
              <a:ext cx="2176504" cy="73751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int adj[</a:t>
              </a:r>
              <a:r>
                <a:rPr lang="en-US" altLang="zh-CN" sz="1400" dirty="0">
                  <a:latin typeface="Times New Roman" panose="02020603050405020304" pitchFamily="18" charset="0"/>
                  <a:sym typeface="+mn-ea"/>
                </a:rPr>
                <a:t>MAX_VEX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][</a:t>
              </a:r>
              <a:r>
                <a:rPr lang="en-US" altLang="zh-CN" sz="1400" dirty="0">
                  <a:latin typeface="Times New Roman" panose="02020603050405020304" pitchFamily="18" charset="0"/>
                  <a:sym typeface="+mn-ea"/>
                </a:rPr>
                <a:t>MAX_VEX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 ]</a:t>
              </a:r>
              <a:endParaRPr lang="en-US" altLang="zh-CN" sz="1400" dirty="0">
                <a:latin typeface="Times New Roman" panose="02020603050405020304" pitchFamily="18" charset="0"/>
              </a:endParaRPr>
            </a:p>
            <a:p>
              <a:pPr marL="0" lvl="0" indent="0">
                <a:spcBef>
                  <a:spcPct val="0"/>
                </a:spcBef>
                <a:buNone/>
              </a:pP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16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charRg st="16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21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530">
                                            <p:txEl>
                                              <p:charRg st="210" end="2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226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530">
                                            <p:txEl>
                                              <p:charRg st="226" end="2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251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530">
                                            <p:txEl>
                                              <p:charRg st="251" end="3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302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530">
                                            <p:txEl>
                                              <p:charRg st="302" end="3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330" end="3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0">
                                            <p:txEl>
                                              <p:charRg st="330" end="3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383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30">
                                            <p:txEl>
                                              <p:charRg st="383" end="4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6626" name="Rectangle 2"/>
          <p:cNvSpPr/>
          <p:nvPr/>
        </p:nvSpPr>
        <p:spPr>
          <a:xfrm>
            <a:off x="0" y="628650"/>
            <a:ext cx="8839200" cy="6229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23900" lvl="2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if (G-&gt;kind==DG||G-&gt;kind==AG)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079500" lvl="3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for (j=0 ; j&lt;G-&gt;vexnum ; j++)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G-&gt;adj[j][k]=G-&gt;adj[k][j]=0 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/*  graph/digraph without weight  */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else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079500" lvl="3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for (j=0 ; j&lt;G-&gt;vexnum ; j++) 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{   G-&gt;adj[j][k]=INFINITY 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    G-&gt;adj[k][j]=INFINITY 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/*  weighted graph/digraph  */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return(k) 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355600" lvl="1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4578" name="Rectangle 2"/>
          <p:cNvSpPr/>
          <p:nvPr/>
        </p:nvSpPr>
        <p:spPr>
          <a:xfrm>
            <a:off x="152400" y="396875"/>
            <a:ext cx="8812213" cy="6372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800" b="1" dirty="0">
                <a:solidFill>
                  <a:srgbClr val="050BFB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Insert an edge</a:t>
            </a:r>
            <a:endParaRPr lang="en-US" altLang="zh-CN" sz="2800" b="1" dirty="0">
              <a:solidFill>
                <a:srgbClr val="050BFB"/>
              </a:solidFill>
              <a:latin typeface="Arial" panose="020B0604020202020204" pitchFamily="34" charset="0"/>
              <a:sym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sym typeface="宋体" panose="02010600030101010101" pitchFamily="2" charset="-122"/>
              </a:rPr>
              <a:t>Modify the corresponding items in the adjacency matrix.</a:t>
            </a:r>
            <a:endParaRPr lang="en-US" altLang="zh-CN" sz="24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4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typedef struct ArcType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355600" lvl="1" indent="0"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{  VexType  vex1, vex2 ;    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355600" lvl="1" indent="0"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       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/* vertices on which the edge incidents  */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355600" lvl="1" indent="0"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    </a:t>
            </a: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ArcValType  ArcVal ;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/*  Weight of the edge */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355600" lvl="1" indent="0"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}ArcType ;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355600" lvl="1" indent="0"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   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int  AddArc(MGraph *G , ArcType *arc) 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355600" lvl="1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{   int  k , j ;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k=LocateVex(G , arc-&gt;vex1)  ;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j=LocateVex(G , arc-&gt;vex2)  ;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if (k==-1||j==-1)     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1078230" lvl="3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{  printf(“Arc’s Vertex do not existed !\n”) ;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return(-1) ;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1078230" lvl="3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}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1078230" lvl="3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        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grpSp>
        <p:nvGrpSpPr>
          <p:cNvPr id="4" name="组合 44"/>
          <p:cNvGrpSpPr/>
          <p:nvPr/>
        </p:nvGrpSpPr>
        <p:grpSpPr>
          <a:xfrm>
            <a:off x="6227763" y="1484630"/>
            <a:ext cx="2517775" cy="1681163"/>
            <a:chOff x="325004" y="3861048"/>
            <a:chExt cx="2518200" cy="1680938"/>
          </a:xfrm>
        </p:grpSpPr>
        <p:grpSp>
          <p:nvGrpSpPr>
            <p:cNvPr id="27652" name="组合 41"/>
            <p:cNvGrpSpPr/>
            <p:nvPr/>
          </p:nvGrpSpPr>
          <p:grpSpPr>
            <a:xfrm>
              <a:off x="325004" y="4333746"/>
              <a:ext cx="2518200" cy="1208240"/>
              <a:chOff x="610346" y="4063784"/>
              <a:chExt cx="2518200" cy="1208240"/>
            </a:xfrm>
          </p:grpSpPr>
          <p:sp>
            <p:nvSpPr>
              <p:cNvPr id="27654" name="TextBox 38"/>
              <p:cNvSpPr txBox="1"/>
              <p:nvPr/>
            </p:nvSpPr>
            <p:spPr>
              <a:xfrm>
                <a:off x="610346" y="4063784"/>
                <a:ext cx="2518199" cy="40011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VexType vex1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55" name="TextBox 39"/>
              <p:cNvSpPr txBox="1"/>
              <p:nvPr/>
            </p:nvSpPr>
            <p:spPr>
              <a:xfrm>
                <a:off x="611560" y="4469050"/>
                <a:ext cx="2516986" cy="40011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VexType vex2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56" name="TextBox 40"/>
              <p:cNvSpPr txBox="1"/>
              <p:nvPr/>
            </p:nvSpPr>
            <p:spPr>
              <a:xfrm>
                <a:off x="611560" y="4871914"/>
                <a:ext cx="2516986" cy="40011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ArcValType  Arcval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7653" name="矩形 42"/>
            <p:cNvSpPr/>
            <p:nvPr/>
          </p:nvSpPr>
          <p:spPr>
            <a:xfrm>
              <a:off x="325004" y="3861048"/>
              <a:ext cx="979335" cy="368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ArcType</a:t>
              </a:r>
              <a:endParaRPr lang="zh-CN" altLang="en-US" sz="1800" dirty="0"/>
            </a:p>
          </p:txBody>
        </p:sp>
      </p:grpSp>
      <p:grpSp>
        <p:nvGrpSpPr>
          <p:cNvPr id="21509" name="组合 30"/>
          <p:cNvGrpSpPr/>
          <p:nvPr/>
        </p:nvGrpSpPr>
        <p:grpSpPr>
          <a:xfrm rot="0">
            <a:off x="6300470" y="3573780"/>
            <a:ext cx="2431415" cy="2169795"/>
            <a:chOff x="1403648" y="3717032"/>
            <a:chExt cx="2176504" cy="2170597"/>
          </a:xfrm>
        </p:grpSpPr>
        <p:sp>
          <p:nvSpPr>
            <p:cNvPr id="21511" name="TextBox 25"/>
            <p:cNvSpPr txBox="1"/>
            <p:nvPr/>
          </p:nvSpPr>
          <p:spPr>
            <a:xfrm>
              <a:off x="1403648" y="3717032"/>
              <a:ext cx="2176504" cy="30682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GraphKind kind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2" name="TextBox 26"/>
            <p:cNvSpPr txBox="1"/>
            <p:nvPr/>
          </p:nvSpPr>
          <p:spPr>
            <a:xfrm>
              <a:off x="1403648" y="4024113"/>
              <a:ext cx="2176504" cy="30681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int vexnum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3" name="TextBox 27"/>
            <p:cNvSpPr txBox="1"/>
            <p:nvPr/>
          </p:nvSpPr>
          <p:spPr>
            <a:xfrm>
              <a:off x="1403648" y="4326686"/>
              <a:ext cx="2176504" cy="30681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int arcnum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4" name="TextBox 28"/>
            <p:cNvSpPr txBox="1"/>
            <p:nvPr/>
          </p:nvSpPr>
          <p:spPr>
            <a:xfrm>
              <a:off x="1403648" y="4627450"/>
              <a:ext cx="2176504" cy="52216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VexType vexs[</a:t>
              </a:r>
              <a:r>
                <a:rPr lang="en-US" altLang="zh-CN" sz="1400" dirty="0">
                  <a:latin typeface="Times New Roman" panose="02020603050405020304" pitchFamily="18" charset="0"/>
                  <a:sym typeface="+mn-ea"/>
                </a:rPr>
                <a:t>MAX_VEX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]</a:t>
              </a:r>
              <a:endParaRPr lang="en-US" altLang="zh-CN" sz="1400" dirty="0">
                <a:latin typeface="Times New Roman" panose="02020603050405020304" pitchFamily="18" charset="0"/>
              </a:endParaRPr>
            </a:p>
            <a:p>
              <a:pPr marL="0" lvl="0" indent="0">
                <a:spcBef>
                  <a:spcPct val="0"/>
                </a:spcBef>
                <a:buNone/>
              </a:pP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5" name="TextBox 29"/>
            <p:cNvSpPr txBox="1"/>
            <p:nvPr/>
          </p:nvSpPr>
          <p:spPr>
            <a:xfrm>
              <a:off x="1403648" y="5150114"/>
              <a:ext cx="2176504" cy="73751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int adj[</a:t>
              </a:r>
              <a:r>
                <a:rPr lang="en-US" altLang="zh-CN" sz="1400" dirty="0">
                  <a:latin typeface="Times New Roman" panose="02020603050405020304" pitchFamily="18" charset="0"/>
                  <a:sym typeface="+mn-ea"/>
                </a:rPr>
                <a:t>MAX_VEX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][</a:t>
              </a:r>
              <a:r>
                <a:rPr lang="en-US" altLang="zh-CN" sz="1400" dirty="0">
                  <a:latin typeface="Times New Roman" panose="02020603050405020304" pitchFamily="18" charset="0"/>
                  <a:sym typeface="+mn-ea"/>
                </a:rPr>
                <a:t>MAX_VEX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 ]</a:t>
              </a:r>
              <a:endParaRPr lang="en-US" altLang="zh-CN" sz="1400" dirty="0">
                <a:latin typeface="Times New Roman" panose="02020603050405020304" pitchFamily="18" charset="0"/>
              </a:endParaRPr>
            </a:p>
            <a:p>
              <a:pPr marL="0" lvl="0" indent="0">
                <a:spcBef>
                  <a:spcPct val="0"/>
                </a:spcBef>
                <a:buNone/>
              </a:pP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72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95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124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184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239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255" end="2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294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311" end="3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341" end="3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371" end="3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394" end="4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441" end="4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454" end="4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8674" name="Rectangle 2"/>
          <p:cNvSpPr/>
          <p:nvPr/>
        </p:nvSpPr>
        <p:spPr>
          <a:xfrm>
            <a:off x="152400" y="803275"/>
            <a:ext cx="8991600" cy="60261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2390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if (G-&gt;kind==DG||G-&gt;kind==WDG)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079500" lvl="3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{  G-&gt;adj[k][j]=arc-&gt;ArcVal;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435100" lvl="4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/*  digraph/weighted digraph*/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1079500" lvl="3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else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079500" lvl="3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{  G-&gt;adj[k][j]=arc-&gt;ArcVal 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435100" lvl="4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G-&gt;adj[j][k]=arc-&gt;ArcVal 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1079500" lvl="3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return(1) ; 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3556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36513" y="477838"/>
            <a:ext cx="4302125" cy="68897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b="1" dirty="0"/>
              <a:t>Adjacency List</a:t>
            </a:r>
            <a:endParaRPr lang="en-US" altLang="zh-CN" sz="3600" b="1" dirty="0"/>
          </a:p>
        </p:txBody>
      </p:sp>
      <p:sp>
        <p:nvSpPr>
          <p:cNvPr id="29699" name="Text Box 3"/>
          <p:cNvSpPr txBox="1"/>
          <p:nvPr/>
        </p:nvSpPr>
        <p:spPr>
          <a:xfrm>
            <a:off x="495300" y="1335088"/>
            <a:ext cx="8221663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The adjacency list is an array of  linked list. The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th linked list stores the vertices that are adjacent to vertex v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8235950" y="1622425"/>
          <a:ext cx="114300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35950" y="1622425"/>
                        <a:ext cx="114300" cy="193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1" name="Group 5"/>
          <p:cNvGrpSpPr/>
          <p:nvPr/>
        </p:nvGrpSpPr>
        <p:grpSpPr>
          <a:xfrm>
            <a:off x="611188" y="2746375"/>
            <a:ext cx="8137525" cy="3365500"/>
            <a:chOff x="0" y="0"/>
            <a:chExt cx="5126" cy="2120"/>
          </a:xfrm>
        </p:grpSpPr>
        <p:sp>
          <p:nvSpPr>
            <p:cNvPr id="29702" name="Rectangle 6"/>
            <p:cNvSpPr/>
            <p:nvPr/>
          </p:nvSpPr>
          <p:spPr>
            <a:xfrm>
              <a:off x="1078" y="1916"/>
              <a:ext cx="2143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9703" name="Group 7"/>
            <p:cNvGrpSpPr/>
            <p:nvPr/>
          </p:nvGrpSpPr>
          <p:grpSpPr>
            <a:xfrm>
              <a:off x="0" y="397"/>
              <a:ext cx="1384" cy="839"/>
              <a:chOff x="0" y="0"/>
              <a:chExt cx="1384" cy="839"/>
            </a:xfrm>
          </p:grpSpPr>
          <p:sp>
            <p:nvSpPr>
              <p:cNvPr id="29790" name="Oval 8"/>
              <p:cNvSpPr/>
              <p:nvPr/>
            </p:nvSpPr>
            <p:spPr>
              <a:xfrm>
                <a:off x="0" y="144"/>
                <a:ext cx="295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400" baseline="-20000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aseline="-20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91" name="Oval 9"/>
              <p:cNvSpPr/>
              <p:nvPr/>
            </p:nvSpPr>
            <p:spPr>
              <a:xfrm>
                <a:off x="17" y="612"/>
                <a:ext cx="295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400" baseline="-20000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0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92" name="Oval 10"/>
              <p:cNvSpPr/>
              <p:nvPr/>
            </p:nvSpPr>
            <p:spPr>
              <a:xfrm>
                <a:off x="618" y="604"/>
                <a:ext cx="295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400" baseline="-20000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aseline="-20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93" name="Oval 11"/>
              <p:cNvSpPr/>
              <p:nvPr/>
            </p:nvSpPr>
            <p:spPr>
              <a:xfrm>
                <a:off x="569" y="0"/>
                <a:ext cx="295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400" baseline="-20000" dirty="0">
                    <a:latin typeface="Times New Roman" panose="02020603050405020304" pitchFamily="18" charset="0"/>
                  </a:rPr>
                  <a:t>3</a:t>
                </a:r>
                <a:endParaRPr lang="en-US" altLang="zh-CN" sz="2400" baseline="-20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94" name="Line 12"/>
              <p:cNvSpPr/>
              <p:nvPr/>
            </p:nvSpPr>
            <p:spPr>
              <a:xfrm>
                <a:off x="144" y="379"/>
                <a:ext cx="0" cy="2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95" name="Line 13"/>
              <p:cNvSpPr/>
              <p:nvPr/>
            </p:nvSpPr>
            <p:spPr>
              <a:xfrm>
                <a:off x="744" y="223"/>
                <a:ext cx="0" cy="38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96" name="Line 14"/>
              <p:cNvSpPr/>
              <p:nvPr/>
            </p:nvSpPr>
            <p:spPr>
              <a:xfrm>
                <a:off x="262" y="324"/>
                <a:ext cx="380" cy="3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97" name="Line 15"/>
              <p:cNvSpPr/>
              <p:nvPr/>
            </p:nvSpPr>
            <p:spPr>
              <a:xfrm flipV="1">
                <a:off x="294" y="144"/>
                <a:ext cx="282" cy="10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98" name="Line 16"/>
              <p:cNvSpPr/>
              <p:nvPr/>
            </p:nvSpPr>
            <p:spPr>
              <a:xfrm>
                <a:off x="310" y="729"/>
                <a:ext cx="31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99" name="Oval 17"/>
              <p:cNvSpPr/>
              <p:nvPr/>
            </p:nvSpPr>
            <p:spPr>
              <a:xfrm>
                <a:off x="1089" y="333"/>
                <a:ext cx="295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400" baseline="-20000" dirty="0">
                    <a:latin typeface="Times New Roman" panose="02020603050405020304" pitchFamily="18" charset="0"/>
                  </a:rPr>
                  <a:t>4</a:t>
                </a:r>
                <a:endParaRPr lang="en-US" altLang="zh-CN" sz="2400" baseline="-20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0" name="Line 18"/>
              <p:cNvSpPr/>
              <p:nvPr/>
            </p:nvSpPr>
            <p:spPr>
              <a:xfrm>
                <a:off x="864" y="144"/>
                <a:ext cx="336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801" name="Line 19"/>
              <p:cNvSpPr/>
              <p:nvPr/>
            </p:nvSpPr>
            <p:spPr>
              <a:xfrm flipV="1">
                <a:off x="912" y="536"/>
                <a:ext cx="24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04" name="Group 20"/>
            <p:cNvGrpSpPr/>
            <p:nvPr/>
          </p:nvGrpSpPr>
          <p:grpSpPr>
            <a:xfrm>
              <a:off x="1089" y="0"/>
              <a:ext cx="4037" cy="1865"/>
              <a:chOff x="0" y="0"/>
              <a:chExt cx="4037" cy="1865"/>
            </a:xfrm>
          </p:grpSpPr>
          <p:sp>
            <p:nvSpPr>
              <p:cNvPr id="29705" name="Rectangle 21"/>
              <p:cNvSpPr/>
              <p:nvPr/>
            </p:nvSpPr>
            <p:spPr>
              <a:xfrm>
                <a:off x="769" y="17"/>
                <a:ext cx="226" cy="13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6" name="Rectangle 22"/>
              <p:cNvSpPr/>
              <p:nvPr/>
            </p:nvSpPr>
            <p:spPr>
              <a:xfrm>
                <a:off x="0" y="1621"/>
                <a:ext cx="998" cy="2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MAX_VEX-1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707" name="Group 23"/>
              <p:cNvGrpSpPr/>
              <p:nvPr/>
            </p:nvGrpSpPr>
            <p:grpSpPr>
              <a:xfrm>
                <a:off x="998" y="24"/>
                <a:ext cx="590" cy="1841"/>
                <a:chOff x="0" y="0"/>
                <a:chExt cx="590" cy="1841"/>
              </a:xfrm>
            </p:grpSpPr>
            <p:grpSp>
              <p:nvGrpSpPr>
                <p:cNvPr id="29769" name="Group 24"/>
                <p:cNvGrpSpPr/>
                <p:nvPr/>
              </p:nvGrpSpPr>
              <p:grpSpPr>
                <a:xfrm>
                  <a:off x="0" y="0"/>
                  <a:ext cx="590" cy="262"/>
                  <a:chOff x="0" y="0"/>
                  <a:chExt cx="544" cy="226"/>
                </a:xfrm>
              </p:grpSpPr>
              <p:sp>
                <p:nvSpPr>
                  <p:cNvPr id="29788" name="Rectangle 25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    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89" name="Line 26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70" name="Group 27"/>
                <p:cNvGrpSpPr/>
                <p:nvPr/>
              </p:nvGrpSpPr>
              <p:grpSpPr>
                <a:xfrm>
                  <a:off x="0" y="263"/>
                  <a:ext cx="590" cy="263"/>
                  <a:chOff x="0" y="0"/>
                  <a:chExt cx="544" cy="226"/>
                </a:xfrm>
              </p:grpSpPr>
              <p:sp>
                <p:nvSpPr>
                  <p:cNvPr id="29786" name="Rectangle 28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87" name="Line 29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71" name="Group 30"/>
                <p:cNvGrpSpPr/>
                <p:nvPr/>
              </p:nvGrpSpPr>
              <p:grpSpPr>
                <a:xfrm>
                  <a:off x="0" y="527"/>
                  <a:ext cx="590" cy="262"/>
                  <a:chOff x="0" y="0"/>
                  <a:chExt cx="544" cy="226"/>
                </a:xfrm>
              </p:grpSpPr>
              <p:sp>
                <p:nvSpPr>
                  <p:cNvPr id="29784" name="Rectangle 31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    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85" name="Line 32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72" name="Group 33"/>
                <p:cNvGrpSpPr/>
                <p:nvPr/>
              </p:nvGrpSpPr>
              <p:grpSpPr>
                <a:xfrm>
                  <a:off x="0" y="790"/>
                  <a:ext cx="590" cy="262"/>
                  <a:chOff x="0" y="0"/>
                  <a:chExt cx="544" cy="226"/>
                </a:xfrm>
              </p:grpSpPr>
              <p:sp>
                <p:nvSpPr>
                  <p:cNvPr id="29782" name="Rectangle 34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83" name="Line 35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73" name="Group 36"/>
                <p:cNvGrpSpPr/>
                <p:nvPr/>
              </p:nvGrpSpPr>
              <p:grpSpPr>
                <a:xfrm>
                  <a:off x="0" y="1317"/>
                  <a:ext cx="590" cy="262"/>
                  <a:chOff x="0" y="0"/>
                  <a:chExt cx="544" cy="226"/>
                </a:xfrm>
              </p:grpSpPr>
              <p:sp>
                <p:nvSpPr>
                  <p:cNvPr id="29780" name="Rectangle 37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宋体" panose="02010600030101010101" pitchFamily="2" charset="-122"/>
                      </a:rPr>
                      <a:t>┇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┇ 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81" name="Line 38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74" name="Group 39"/>
                <p:cNvGrpSpPr/>
                <p:nvPr/>
              </p:nvGrpSpPr>
              <p:grpSpPr>
                <a:xfrm>
                  <a:off x="0" y="1579"/>
                  <a:ext cx="590" cy="262"/>
                  <a:chOff x="0" y="0"/>
                  <a:chExt cx="544" cy="226"/>
                </a:xfrm>
              </p:grpSpPr>
              <p:sp>
                <p:nvSpPr>
                  <p:cNvPr id="29778" name="Rectangle 40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solidFill>
                    <a:schemeClr val="bg2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79" name="Line 41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75" name="Group 42"/>
                <p:cNvGrpSpPr/>
                <p:nvPr/>
              </p:nvGrpSpPr>
              <p:grpSpPr>
                <a:xfrm>
                  <a:off x="0" y="1053"/>
                  <a:ext cx="590" cy="263"/>
                  <a:chOff x="0" y="0"/>
                  <a:chExt cx="544" cy="226"/>
                </a:xfrm>
              </p:grpSpPr>
              <p:sp>
                <p:nvSpPr>
                  <p:cNvPr id="29776" name="Rectangle 43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    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77" name="Line 44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9708" name="Group 45"/>
              <p:cNvGrpSpPr/>
              <p:nvPr/>
            </p:nvGrpSpPr>
            <p:grpSpPr>
              <a:xfrm>
                <a:off x="1451" y="0"/>
                <a:ext cx="1983" cy="235"/>
                <a:chOff x="0" y="0"/>
                <a:chExt cx="1983" cy="235"/>
              </a:xfrm>
            </p:grpSpPr>
            <p:grpSp>
              <p:nvGrpSpPr>
                <p:cNvPr id="29757" name="Group 46"/>
                <p:cNvGrpSpPr/>
                <p:nvPr/>
              </p:nvGrpSpPr>
              <p:grpSpPr>
                <a:xfrm>
                  <a:off x="905" y="0"/>
                  <a:ext cx="456" cy="226"/>
                  <a:chOff x="0" y="0"/>
                  <a:chExt cx="456" cy="226"/>
                </a:xfrm>
              </p:grpSpPr>
              <p:sp>
                <p:nvSpPr>
                  <p:cNvPr id="29767" name="Rectangle 47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2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68" name="Line 48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58" name="Group 49"/>
                <p:cNvGrpSpPr/>
                <p:nvPr/>
              </p:nvGrpSpPr>
              <p:grpSpPr>
                <a:xfrm>
                  <a:off x="275" y="1"/>
                  <a:ext cx="456" cy="226"/>
                  <a:chOff x="0" y="0"/>
                  <a:chExt cx="456" cy="226"/>
                </a:xfrm>
              </p:grpSpPr>
              <p:sp>
                <p:nvSpPr>
                  <p:cNvPr id="29765" name="Rectangle 50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1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66" name="Line 51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59" name="Group 52"/>
                <p:cNvGrpSpPr/>
                <p:nvPr/>
              </p:nvGrpSpPr>
              <p:grpSpPr>
                <a:xfrm>
                  <a:off x="1527" y="9"/>
                  <a:ext cx="456" cy="226"/>
                  <a:chOff x="0" y="0"/>
                  <a:chExt cx="456" cy="226"/>
                </a:xfrm>
              </p:grpSpPr>
              <p:sp>
                <p:nvSpPr>
                  <p:cNvPr id="29763" name="Rectangle 53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64" name="Line 54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9760" name="Line 55"/>
                <p:cNvSpPr/>
                <p:nvPr/>
              </p:nvSpPr>
              <p:spPr>
                <a:xfrm>
                  <a:off x="0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29761" name="Line 56"/>
                <p:cNvSpPr/>
                <p:nvPr/>
              </p:nvSpPr>
              <p:spPr>
                <a:xfrm>
                  <a:off x="630" y="129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29762" name="Line 57"/>
                <p:cNvSpPr/>
                <p:nvPr/>
              </p:nvSpPr>
              <p:spPr>
                <a:xfrm>
                  <a:off x="1255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29709" name="Group 58"/>
              <p:cNvGrpSpPr/>
              <p:nvPr/>
            </p:nvGrpSpPr>
            <p:grpSpPr>
              <a:xfrm>
                <a:off x="1451" y="281"/>
                <a:ext cx="1353" cy="235"/>
                <a:chOff x="0" y="0"/>
                <a:chExt cx="1353" cy="235"/>
              </a:xfrm>
            </p:grpSpPr>
            <p:grpSp>
              <p:nvGrpSpPr>
                <p:cNvPr id="29749" name="Group 59"/>
                <p:cNvGrpSpPr/>
                <p:nvPr/>
              </p:nvGrpSpPr>
              <p:grpSpPr>
                <a:xfrm>
                  <a:off x="275" y="0"/>
                  <a:ext cx="456" cy="226"/>
                  <a:chOff x="0" y="0"/>
                  <a:chExt cx="456" cy="226"/>
                </a:xfrm>
              </p:grpSpPr>
              <p:sp>
                <p:nvSpPr>
                  <p:cNvPr id="29755" name="Rectangle 60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56" name="Line 61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50" name="Group 62"/>
                <p:cNvGrpSpPr/>
                <p:nvPr/>
              </p:nvGrpSpPr>
              <p:grpSpPr>
                <a:xfrm>
                  <a:off x="897" y="9"/>
                  <a:ext cx="456" cy="226"/>
                  <a:chOff x="0" y="0"/>
                  <a:chExt cx="456" cy="226"/>
                </a:xfrm>
              </p:grpSpPr>
              <p:sp>
                <p:nvSpPr>
                  <p:cNvPr id="29753" name="Rectangle 63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2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54" name="Line 64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9751" name="Line 65"/>
                <p:cNvSpPr/>
                <p:nvPr/>
              </p:nvSpPr>
              <p:spPr>
                <a:xfrm>
                  <a:off x="0" y="129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29752" name="Line 66"/>
                <p:cNvSpPr/>
                <p:nvPr/>
              </p:nvSpPr>
              <p:spPr>
                <a:xfrm>
                  <a:off x="625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29710" name="Group 67"/>
              <p:cNvGrpSpPr/>
              <p:nvPr/>
            </p:nvGrpSpPr>
            <p:grpSpPr>
              <a:xfrm>
                <a:off x="1451" y="569"/>
                <a:ext cx="2586" cy="235"/>
                <a:chOff x="0" y="0"/>
                <a:chExt cx="2586" cy="235"/>
              </a:xfrm>
            </p:grpSpPr>
            <p:grpSp>
              <p:nvGrpSpPr>
                <p:cNvPr id="29733" name="Group 68"/>
                <p:cNvGrpSpPr/>
                <p:nvPr/>
              </p:nvGrpSpPr>
              <p:grpSpPr>
                <a:xfrm>
                  <a:off x="275" y="0"/>
                  <a:ext cx="456" cy="226"/>
                  <a:chOff x="0" y="0"/>
                  <a:chExt cx="456" cy="226"/>
                </a:xfrm>
              </p:grpSpPr>
              <p:sp>
                <p:nvSpPr>
                  <p:cNvPr id="29747" name="Rectangle 69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48" name="Line 70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9734" name="Line 71"/>
                <p:cNvSpPr/>
                <p:nvPr/>
              </p:nvSpPr>
              <p:spPr>
                <a:xfrm>
                  <a:off x="0" y="123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grpSp>
              <p:nvGrpSpPr>
                <p:cNvPr id="29735" name="Group 72"/>
                <p:cNvGrpSpPr/>
                <p:nvPr/>
              </p:nvGrpSpPr>
              <p:grpSpPr>
                <a:xfrm>
                  <a:off x="1508" y="0"/>
                  <a:ext cx="456" cy="226"/>
                  <a:chOff x="0" y="0"/>
                  <a:chExt cx="456" cy="226"/>
                </a:xfrm>
              </p:grpSpPr>
              <p:sp>
                <p:nvSpPr>
                  <p:cNvPr id="29745" name="Rectangle 73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3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46" name="Line 74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36" name="Group 75"/>
                <p:cNvGrpSpPr/>
                <p:nvPr/>
              </p:nvGrpSpPr>
              <p:grpSpPr>
                <a:xfrm>
                  <a:off x="878" y="1"/>
                  <a:ext cx="456" cy="226"/>
                  <a:chOff x="0" y="0"/>
                  <a:chExt cx="456" cy="226"/>
                </a:xfrm>
              </p:grpSpPr>
              <p:sp>
                <p:nvSpPr>
                  <p:cNvPr id="29743" name="Rectangle 76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latin typeface="Arial" panose="020B0604020202020204" pitchFamily="34" charset="0"/>
                      </a:rPr>
                      <a:t>v</a:t>
                    </a:r>
                    <a:r>
                      <a:rPr lang="en-US" altLang="zh-CN" sz="1800" b="1" baseline="-25000" dirty="0">
                        <a:latin typeface="Arial" panose="020B0604020202020204" pitchFamily="34" charset="0"/>
                      </a:rPr>
                      <a:t>1</a:t>
                    </a:r>
                    <a:endParaRPr lang="en-US" altLang="zh-CN" sz="1800" b="1" baseline="-250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9744" name="Line 77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37" name="Group 78"/>
                <p:cNvGrpSpPr/>
                <p:nvPr/>
              </p:nvGrpSpPr>
              <p:grpSpPr>
                <a:xfrm>
                  <a:off x="2130" y="9"/>
                  <a:ext cx="456" cy="226"/>
                  <a:chOff x="0" y="0"/>
                  <a:chExt cx="456" cy="226"/>
                </a:xfrm>
              </p:grpSpPr>
              <p:sp>
                <p:nvSpPr>
                  <p:cNvPr id="29741" name="Rectangle 79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4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42" name="Line 80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9738" name="Line 81"/>
                <p:cNvSpPr/>
                <p:nvPr/>
              </p:nvSpPr>
              <p:spPr>
                <a:xfrm>
                  <a:off x="603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29739" name="Line 82"/>
                <p:cNvSpPr/>
                <p:nvPr/>
              </p:nvSpPr>
              <p:spPr>
                <a:xfrm>
                  <a:off x="1233" y="129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29740" name="Line 83"/>
                <p:cNvSpPr/>
                <p:nvPr/>
              </p:nvSpPr>
              <p:spPr>
                <a:xfrm>
                  <a:off x="1858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29711" name="Group 84"/>
              <p:cNvGrpSpPr/>
              <p:nvPr/>
            </p:nvGrpSpPr>
            <p:grpSpPr>
              <a:xfrm>
                <a:off x="1451" y="855"/>
                <a:ext cx="1983" cy="235"/>
                <a:chOff x="0" y="0"/>
                <a:chExt cx="1983" cy="235"/>
              </a:xfrm>
            </p:grpSpPr>
            <p:grpSp>
              <p:nvGrpSpPr>
                <p:cNvPr id="29721" name="Group 85"/>
                <p:cNvGrpSpPr/>
                <p:nvPr/>
              </p:nvGrpSpPr>
              <p:grpSpPr>
                <a:xfrm>
                  <a:off x="905" y="0"/>
                  <a:ext cx="456" cy="226"/>
                  <a:chOff x="0" y="0"/>
                  <a:chExt cx="456" cy="226"/>
                </a:xfrm>
              </p:grpSpPr>
              <p:sp>
                <p:nvSpPr>
                  <p:cNvPr id="29731" name="Rectangle 86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2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32" name="Line 87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22" name="Group 88"/>
                <p:cNvGrpSpPr/>
                <p:nvPr/>
              </p:nvGrpSpPr>
              <p:grpSpPr>
                <a:xfrm>
                  <a:off x="275" y="1"/>
                  <a:ext cx="456" cy="226"/>
                  <a:chOff x="0" y="0"/>
                  <a:chExt cx="456" cy="226"/>
                </a:xfrm>
              </p:grpSpPr>
              <p:sp>
                <p:nvSpPr>
                  <p:cNvPr id="29729" name="Rectangle 89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30" name="Line 90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23" name="Group 91"/>
                <p:cNvGrpSpPr/>
                <p:nvPr/>
              </p:nvGrpSpPr>
              <p:grpSpPr>
                <a:xfrm>
                  <a:off x="1527" y="9"/>
                  <a:ext cx="456" cy="226"/>
                  <a:chOff x="0" y="0"/>
                  <a:chExt cx="456" cy="226"/>
                </a:xfrm>
              </p:grpSpPr>
              <p:sp>
                <p:nvSpPr>
                  <p:cNvPr id="29727" name="Rectangle 92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4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28" name="Line 93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9724" name="Line 94"/>
                <p:cNvSpPr/>
                <p:nvPr/>
              </p:nvSpPr>
              <p:spPr>
                <a:xfrm>
                  <a:off x="0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29725" name="Line 95"/>
                <p:cNvSpPr/>
                <p:nvPr/>
              </p:nvSpPr>
              <p:spPr>
                <a:xfrm>
                  <a:off x="630" y="129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29726" name="Line 96"/>
                <p:cNvSpPr/>
                <p:nvPr/>
              </p:nvSpPr>
              <p:spPr>
                <a:xfrm>
                  <a:off x="1255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29712" name="Group 97"/>
              <p:cNvGrpSpPr/>
              <p:nvPr/>
            </p:nvGrpSpPr>
            <p:grpSpPr>
              <a:xfrm>
                <a:off x="1451" y="1127"/>
                <a:ext cx="1353" cy="235"/>
                <a:chOff x="0" y="0"/>
                <a:chExt cx="1353" cy="235"/>
              </a:xfrm>
            </p:grpSpPr>
            <p:grpSp>
              <p:nvGrpSpPr>
                <p:cNvPr id="29713" name="Group 98"/>
                <p:cNvGrpSpPr/>
                <p:nvPr/>
              </p:nvGrpSpPr>
              <p:grpSpPr>
                <a:xfrm>
                  <a:off x="275" y="0"/>
                  <a:ext cx="456" cy="226"/>
                  <a:chOff x="0" y="0"/>
                  <a:chExt cx="456" cy="226"/>
                </a:xfrm>
              </p:grpSpPr>
              <p:sp>
                <p:nvSpPr>
                  <p:cNvPr id="29719" name="Rectangle 99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2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20" name="Line 100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714" name="Group 101"/>
                <p:cNvGrpSpPr/>
                <p:nvPr/>
              </p:nvGrpSpPr>
              <p:grpSpPr>
                <a:xfrm>
                  <a:off x="897" y="9"/>
                  <a:ext cx="456" cy="226"/>
                  <a:chOff x="0" y="0"/>
                  <a:chExt cx="456" cy="226"/>
                </a:xfrm>
              </p:grpSpPr>
              <p:sp>
                <p:nvSpPr>
                  <p:cNvPr id="29717" name="Rectangle 102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18" name="Line 103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9715" name="Line 104"/>
                <p:cNvSpPr/>
                <p:nvPr/>
              </p:nvSpPr>
              <p:spPr>
                <a:xfrm>
                  <a:off x="0" y="113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29716" name="Line 105"/>
                <p:cNvSpPr/>
                <p:nvPr/>
              </p:nvSpPr>
              <p:spPr>
                <a:xfrm>
                  <a:off x="627" y="109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0722" name="Text Box 2"/>
          <p:cNvSpPr txBox="1"/>
          <p:nvPr/>
        </p:nvSpPr>
        <p:spPr>
          <a:xfrm>
            <a:off x="4452938" y="4276725"/>
            <a:ext cx="4194175" cy="23066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typedef struct</a:t>
            </a: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{ </a:t>
            </a: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     int vexnum ; </a:t>
            </a: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            /* number of nodes */</a:t>
            </a: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914400" lvl="2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node   AdjList[MAX_VEX] ;</a:t>
            </a: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914400" lvl="2" indent="0" eaLnBrk="1" hangingPunct="1">
              <a:spcBef>
                <a:spcPct val="0"/>
              </a:spcBef>
              <a:buNone/>
            </a:pP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}ALGraph ;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</p:txBody>
      </p:sp>
      <p:grpSp>
        <p:nvGrpSpPr>
          <p:cNvPr id="30723" name="Group 5"/>
          <p:cNvGrpSpPr/>
          <p:nvPr/>
        </p:nvGrpSpPr>
        <p:grpSpPr>
          <a:xfrm>
            <a:off x="1671638" y="985838"/>
            <a:ext cx="6861175" cy="2608262"/>
            <a:chOff x="1078" y="0"/>
            <a:chExt cx="4048" cy="2120"/>
          </a:xfrm>
        </p:grpSpPr>
        <p:sp>
          <p:nvSpPr>
            <p:cNvPr id="30730" name="Rectangle 6"/>
            <p:cNvSpPr/>
            <p:nvPr/>
          </p:nvSpPr>
          <p:spPr>
            <a:xfrm>
              <a:off x="1078" y="1916"/>
              <a:ext cx="2143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0731" name="Group 20"/>
            <p:cNvGrpSpPr/>
            <p:nvPr/>
          </p:nvGrpSpPr>
          <p:grpSpPr>
            <a:xfrm>
              <a:off x="1089" y="0"/>
              <a:ext cx="4037" cy="1865"/>
              <a:chOff x="0" y="0"/>
              <a:chExt cx="4037" cy="1865"/>
            </a:xfrm>
          </p:grpSpPr>
          <p:sp>
            <p:nvSpPr>
              <p:cNvPr id="30732" name="Rectangle 21"/>
              <p:cNvSpPr/>
              <p:nvPr/>
            </p:nvSpPr>
            <p:spPr>
              <a:xfrm>
                <a:off x="769" y="17"/>
                <a:ext cx="226" cy="13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3" name="Rectangle 22"/>
              <p:cNvSpPr/>
              <p:nvPr/>
            </p:nvSpPr>
            <p:spPr>
              <a:xfrm>
                <a:off x="0" y="1621"/>
                <a:ext cx="998" cy="2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MAX_VEX-1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734" name="Group 23"/>
              <p:cNvGrpSpPr/>
              <p:nvPr/>
            </p:nvGrpSpPr>
            <p:grpSpPr>
              <a:xfrm>
                <a:off x="998" y="24"/>
                <a:ext cx="590" cy="1841"/>
                <a:chOff x="0" y="0"/>
                <a:chExt cx="590" cy="1841"/>
              </a:xfrm>
            </p:grpSpPr>
            <p:grpSp>
              <p:nvGrpSpPr>
                <p:cNvPr id="30796" name="Group 24"/>
                <p:cNvGrpSpPr/>
                <p:nvPr/>
              </p:nvGrpSpPr>
              <p:grpSpPr>
                <a:xfrm>
                  <a:off x="0" y="0"/>
                  <a:ext cx="590" cy="262"/>
                  <a:chOff x="0" y="0"/>
                  <a:chExt cx="544" cy="226"/>
                </a:xfrm>
              </p:grpSpPr>
              <p:sp>
                <p:nvSpPr>
                  <p:cNvPr id="30815" name="Rectangle 25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    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816" name="Line 26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97" name="Group 27"/>
                <p:cNvGrpSpPr/>
                <p:nvPr/>
              </p:nvGrpSpPr>
              <p:grpSpPr>
                <a:xfrm>
                  <a:off x="0" y="263"/>
                  <a:ext cx="590" cy="263"/>
                  <a:chOff x="0" y="0"/>
                  <a:chExt cx="544" cy="226"/>
                </a:xfrm>
              </p:grpSpPr>
              <p:sp>
                <p:nvSpPr>
                  <p:cNvPr id="30813" name="Rectangle 28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814" name="Line 29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98" name="Group 30"/>
                <p:cNvGrpSpPr/>
                <p:nvPr/>
              </p:nvGrpSpPr>
              <p:grpSpPr>
                <a:xfrm>
                  <a:off x="0" y="527"/>
                  <a:ext cx="590" cy="262"/>
                  <a:chOff x="0" y="0"/>
                  <a:chExt cx="544" cy="226"/>
                </a:xfrm>
              </p:grpSpPr>
              <p:sp>
                <p:nvSpPr>
                  <p:cNvPr id="30811" name="Rectangle 31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    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812" name="Line 32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99" name="Group 33"/>
                <p:cNvGrpSpPr/>
                <p:nvPr/>
              </p:nvGrpSpPr>
              <p:grpSpPr>
                <a:xfrm>
                  <a:off x="0" y="790"/>
                  <a:ext cx="590" cy="262"/>
                  <a:chOff x="0" y="0"/>
                  <a:chExt cx="544" cy="226"/>
                </a:xfrm>
              </p:grpSpPr>
              <p:sp>
                <p:nvSpPr>
                  <p:cNvPr id="30809" name="Rectangle 34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810" name="Line 35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800" name="Group 36"/>
                <p:cNvGrpSpPr/>
                <p:nvPr/>
              </p:nvGrpSpPr>
              <p:grpSpPr>
                <a:xfrm>
                  <a:off x="0" y="1317"/>
                  <a:ext cx="590" cy="262"/>
                  <a:chOff x="0" y="0"/>
                  <a:chExt cx="544" cy="226"/>
                </a:xfrm>
              </p:grpSpPr>
              <p:sp>
                <p:nvSpPr>
                  <p:cNvPr id="30807" name="Rectangle 37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宋体" panose="02010600030101010101" pitchFamily="2" charset="-122"/>
                      </a:rPr>
                      <a:t>┇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┇ 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808" name="Line 38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801" name="Group 39"/>
                <p:cNvGrpSpPr/>
                <p:nvPr/>
              </p:nvGrpSpPr>
              <p:grpSpPr>
                <a:xfrm>
                  <a:off x="0" y="1579"/>
                  <a:ext cx="590" cy="262"/>
                  <a:chOff x="0" y="0"/>
                  <a:chExt cx="544" cy="226"/>
                </a:xfrm>
              </p:grpSpPr>
              <p:sp>
                <p:nvSpPr>
                  <p:cNvPr id="30805" name="Rectangle 40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solidFill>
                    <a:schemeClr val="bg2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806" name="Line 41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802" name="Group 42"/>
                <p:cNvGrpSpPr/>
                <p:nvPr/>
              </p:nvGrpSpPr>
              <p:grpSpPr>
                <a:xfrm>
                  <a:off x="0" y="1053"/>
                  <a:ext cx="590" cy="263"/>
                  <a:chOff x="0" y="0"/>
                  <a:chExt cx="544" cy="226"/>
                </a:xfrm>
              </p:grpSpPr>
              <p:sp>
                <p:nvSpPr>
                  <p:cNvPr id="30803" name="Rectangle 43"/>
                  <p:cNvSpPr/>
                  <p:nvPr/>
                </p:nvSpPr>
                <p:spPr>
                  <a:xfrm>
                    <a:off x="0" y="0"/>
                    <a:ext cx="544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    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804" name="Line 44"/>
                  <p:cNvSpPr/>
                  <p:nvPr/>
                </p:nvSpPr>
                <p:spPr>
                  <a:xfrm>
                    <a:off x="293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30735" name="Group 45"/>
              <p:cNvGrpSpPr/>
              <p:nvPr/>
            </p:nvGrpSpPr>
            <p:grpSpPr>
              <a:xfrm>
                <a:off x="1451" y="0"/>
                <a:ext cx="1983" cy="235"/>
                <a:chOff x="0" y="0"/>
                <a:chExt cx="1983" cy="235"/>
              </a:xfrm>
            </p:grpSpPr>
            <p:grpSp>
              <p:nvGrpSpPr>
                <p:cNvPr id="30784" name="Group 46"/>
                <p:cNvGrpSpPr/>
                <p:nvPr/>
              </p:nvGrpSpPr>
              <p:grpSpPr>
                <a:xfrm>
                  <a:off x="905" y="0"/>
                  <a:ext cx="456" cy="226"/>
                  <a:chOff x="0" y="0"/>
                  <a:chExt cx="456" cy="226"/>
                </a:xfrm>
              </p:grpSpPr>
              <p:sp>
                <p:nvSpPr>
                  <p:cNvPr id="30794" name="Rectangle 47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2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95" name="Line 48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85" name="Group 49"/>
                <p:cNvGrpSpPr/>
                <p:nvPr/>
              </p:nvGrpSpPr>
              <p:grpSpPr>
                <a:xfrm>
                  <a:off x="275" y="1"/>
                  <a:ext cx="456" cy="226"/>
                  <a:chOff x="0" y="0"/>
                  <a:chExt cx="456" cy="226"/>
                </a:xfrm>
              </p:grpSpPr>
              <p:sp>
                <p:nvSpPr>
                  <p:cNvPr id="30792" name="Rectangle 50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1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93" name="Line 51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86" name="Group 52"/>
                <p:cNvGrpSpPr/>
                <p:nvPr/>
              </p:nvGrpSpPr>
              <p:grpSpPr>
                <a:xfrm>
                  <a:off x="1527" y="9"/>
                  <a:ext cx="456" cy="226"/>
                  <a:chOff x="0" y="0"/>
                  <a:chExt cx="456" cy="226"/>
                </a:xfrm>
              </p:grpSpPr>
              <p:sp>
                <p:nvSpPr>
                  <p:cNvPr id="30790" name="Rectangle 53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91" name="Line 54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0787" name="Line 55"/>
                <p:cNvSpPr/>
                <p:nvPr/>
              </p:nvSpPr>
              <p:spPr>
                <a:xfrm>
                  <a:off x="0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30788" name="Line 56"/>
                <p:cNvSpPr/>
                <p:nvPr/>
              </p:nvSpPr>
              <p:spPr>
                <a:xfrm>
                  <a:off x="630" y="129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30789" name="Line 57"/>
                <p:cNvSpPr/>
                <p:nvPr/>
              </p:nvSpPr>
              <p:spPr>
                <a:xfrm>
                  <a:off x="1255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30736" name="Group 58"/>
              <p:cNvGrpSpPr/>
              <p:nvPr/>
            </p:nvGrpSpPr>
            <p:grpSpPr>
              <a:xfrm>
                <a:off x="1451" y="281"/>
                <a:ext cx="1353" cy="235"/>
                <a:chOff x="0" y="0"/>
                <a:chExt cx="1353" cy="235"/>
              </a:xfrm>
            </p:grpSpPr>
            <p:grpSp>
              <p:nvGrpSpPr>
                <p:cNvPr id="30776" name="Group 59"/>
                <p:cNvGrpSpPr/>
                <p:nvPr/>
              </p:nvGrpSpPr>
              <p:grpSpPr>
                <a:xfrm>
                  <a:off x="275" y="0"/>
                  <a:ext cx="456" cy="226"/>
                  <a:chOff x="0" y="0"/>
                  <a:chExt cx="456" cy="226"/>
                </a:xfrm>
              </p:grpSpPr>
              <p:sp>
                <p:nvSpPr>
                  <p:cNvPr id="30782" name="Rectangle 60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83" name="Line 61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77" name="Group 62"/>
                <p:cNvGrpSpPr/>
                <p:nvPr/>
              </p:nvGrpSpPr>
              <p:grpSpPr>
                <a:xfrm>
                  <a:off x="897" y="9"/>
                  <a:ext cx="456" cy="226"/>
                  <a:chOff x="0" y="0"/>
                  <a:chExt cx="456" cy="226"/>
                </a:xfrm>
              </p:grpSpPr>
              <p:sp>
                <p:nvSpPr>
                  <p:cNvPr id="30780" name="Rectangle 63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2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81" name="Line 64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0778" name="Line 65"/>
                <p:cNvSpPr/>
                <p:nvPr/>
              </p:nvSpPr>
              <p:spPr>
                <a:xfrm>
                  <a:off x="0" y="129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30779" name="Line 66"/>
                <p:cNvSpPr/>
                <p:nvPr/>
              </p:nvSpPr>
              <p:spPr>
                <a:xfrm>
                  <a:off x="625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30737" name="Group 67"/>
              <p:cNvGrpSpPr/>
              <p:nvPr/>
            </p:nvGrpSpPr>
            <p:grpSpPr>
              <a:xfrm>
                <a:off x="1451" y="569"/>
                <a:ext cx="2586" cy="235"/>
                <a:chOff x="0" y="0"/>
                <a:chExt cx="2586" cy="235"/>
              </a:xfrm>
            </p:grpSpPr>
            <p:grpSp>
              <p:nvGrpSpPr>
                <p:cNvPr id="30760" name="Group 68"/>
                <p:cNvGrpSpPr/>
                <p:nvPr/>
              </p:nvGrpSpPr>
              <p:grpSpPr>
                <a:xfrm>
                  <a:off x="275" y="0"/>
                  <a:ext cx="456" cy="226"/>
                  <a:chOff x="0" y="0"/>
                  <a:chExt cx="456" cy="226"/>
                </a:xfrm>
              </p:grpSpPr>
              <p:sp>
                <p:nvSpPr>
                  <p:cNvPr id="30774" name="Rectangle 69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75" name="Line 70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0761" name="Line 71"/>
                <p:cNvSpPr/>
                <p:nvPr/>
              </p:nvSpPr>
              <p:spPr>
                <a:xfrm>
                  <a:off x="0" y="123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grpSp>
              <p:nvGrpSpPr>
                <p:cNvPr id="30762" name="Group 72"/>
                <p:cNvGrpSpPr/>
                <p:nvPr/>
              </p:nvGrpSpPr>
              <p:grpSpPr>
                <a:xfrm>
                  <a:off x="1508" y="0"/>
                  <a:ext cx="456" cy="226"/>
                  <a:chOff x="0" y="0"/>
                  <a:chExt cx="456" cy="226"/>
                </a:xfrm>
              </p:grpSpPr>
              <p:sp>
                <p:nvSpPr>
                  <p:cNvPr id="30772" name="Rectangle 73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3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73" name="Line 74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63" name="Group 75"/>
                <p:cNvGrpSpPr/>
                <p:nvPr/>
              </p:nvGrpSpPr>
              <p:grpSpPr>
                <a:xfrm>
                  <a:off x="878" y="1"/>
                  <a:ext cx="456" cy="226"/>
                  <a:chOff x="0" y="0"/>
                  <a:chExt cx="456" cy="226"/>
                </a:xfrm>
              </p:grpSpPr>
              <p:sp>
                <p:nvSpPr>
                  <p:cNvPr id="30770" name="Rectangle 76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latin typeface="Arial" panose="020B0604020202020204" pitchFamily="34" charset="0"/>
                      </a:rPr>
                      <a:t>v</a:t>
                    </a:r>
                    <a:r>
                      <a:rPr lang="en-US" altLang="zh-CN" sz="1800" b="1" baseline="-25000" dirty="0">
                        <a:latin typeface="Arial" panose="020B0604020202020204" pitchFamily="34" charset="0"/>
                      </a:rPr>
                      <a:t>1</a:t>
                    </a:r>
                    <a:endParaRPr lang="en-US" altLang="zh-CN" sz="1800" b="1" baseline="-250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0771" name="Line 77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64" name="Group 78"/>
                <p:cNvGrpSpPr/>
                <p:nvPr/>
              </p:nvGrpSpPr>
              <p:grpSpPr>
                <a:xfrm>
                  <a:off x="2130" y="9"/>
                  <a:ext cx="456" cy="226"/>
                  <a:chOff x="0" y="0"/>
                  <a:chExt cx="456" cy="226"/>
                </a:xfrm>
              </p:grpSpPr>
              <p:sp>
                <p:nvSpPr>
                  <p:cNvPr id="30768" name="Rectangle 79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4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69" name="Line 80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0765" name="Line 81"/>
                <p:cNvSpPr/>
                <p:nvPr/>
              </p:nvSpPr>
              <p:spPr>
                <a:xfrm>
                  <a:off x="603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30766" name="Line 82"/>
                <p:cNvSpPr/>
                <p:nvPr/>
              </p:nvSpPr>
              <p:spPr>
                <a:xfrm>
                  <a:off x="1233" y="129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30767" name="Line 83"/>
                <p:cNvSpPr/>
                <p:nvPr/>
              </p:nvSpPr>
              <p:spPr>
                <a:xfrm>
                  <a:off x="1858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30738" name="Group 84"/>
              <p:cNvGrpSpPr/>
              <p:nvPr/>
            </p:nvGrpSpPr>
            <p:grpSpPr>
              <a:xfrm>
                <a:off x="1451" y="855"/>
                <a:ext cx="1983" cy="235"/>
                <a:chOff x="0" y="0"/>
                <a:chExt cx="1983" cy="235"/>
              </a:xfrm>
            </p:grpSpPr>
            <p:grpSp>
              <p:nvGrpSpPr>
                <p:cNvPr id="30748" name="Group 85"/>
                <p:cNvGrpSpPr/>
                <p:nvPr/>
              </p:nvGrpSpPr>
              <p:grpSpPr>
                <a:xfrm>
                  <a:off x="905" y="0"/>
                  <a:ext cx="456" cy="226"/>
                  <a:chOff x="0" y="0"/>
                  <a:chExt cx="456" cy="226"/>
                </a:xfrm>
              </p:grpSpPr>
              <p:sp>
                <p:nvSpPr>
                  <p:cNvPr id="30758" name="Rectangle 86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2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59" name="Line 87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49" name="Group 88"/>
                <p:cNvGrpSpPr/>
                <p:nvPr/>
              </p:nvGrpSpPr>
              <p:grpSpPr>
                <a:xfrm>
                  <a:off x="275" y="1"/>
                  <a:ext cx="456" cy="226"/>
                  <a:chOff x="0" y="0"/>
                  <a:chExt cx="456" cy="226"/>
                </a:xfrm>
              </p:grpSpPr>
              <p:sp>
                <p:nvSpPr>
                  <p:cNvPr id="30756" name="Rectangle 89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57" name="Line 90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50" name="Group 91"/>
                <p:cNvGrpSpPr/>
                <p:nvPr/>
              </p:nvGrpSpPr>
              <p:grpSpPr>
                <a:xfrm>
                  <a:off x="1527" y="9"/>
                  <a:ext cx="456" cy="226"/>
                  <a:chOff x="0" y="0"/>
                  <a:chExt cx="456" cy="226"/>
                </a:xfrm>
              </p:grpSpPr>
              <p:sp>
                <p:nvSpPr>
                  <p:cNvPr id="30754" name="Rectangle 92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4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55" name="Line 93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0751" name="Line 94"/>
                <p:cNvSpPr/>
                <p:nvPr/>
              </p:nvSpPr>
              <p:spPr>
                <a:xfrm>
                  <a:off x="0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30752" name="Line 95"/>
                <p:cNvSpPr/>
                <p:nvPr/>
              </p:nvSpPr>
              <p:spPr>
                <a:xfrm>
                  <a:off x="630" y="129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30753" name="Line 96"/>
                <p:cNvSpPr/>
                <p:nvPr/>
              </p:nvSpPr>
              <p:spPr>
                <a:xfrm>
                  <a:off x="1255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30739" name="Group 97"/>
              <p:cNvGrpSpPr/>
              <p:nvPr/>
            </p:nvGrpSpPr>
            <p:grpSpPr>
              <a:xfrm>
                <a:off x="1451" y="1127"/>
                <a:ext cx="1353" cy="235"/>
                <a:chOff x="0" y="0"/>
                <a:chExt cx="1353" cy="235"/>
              </a:xfrm>
            </p:grpSpPr>
            <p:grpSp>
              <p:nvGrpSpPr>
                <p:cNvPr id="30740" name="Group 98"/>
                <p:cNvGrpSpPr/>
                <p:nvPr/>
              </p:nvGrpSpPr>
              <p:grpSpPr>
                <a:xfrm>
                  <a:off x="275" y="0"/>
                  <a:ext cx="456" cy="226"/>
                  <a:chOff x="0" y="0"/>
                  <a:chExt cx="456" cy="226"/>
                </a:xfrm>
              </p:grpSpPr>
              <p:sp>
                <p:nvSpPr>
                  <p:cNvPr id="30746" name="Rectangle 99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2</a:t>
                    </a:r>
                    <a:endParaRPr lang="en-US" altLang="zh-CN" sz="24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47" name="Line 100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0741" name="Group 101"/>
                <p:cNvGrpSpPr/>
                <p:nvPr/>
              </p:nvGrpSpPr>
              <p:grpSpPr>
                <a:xfrm>
                  <a:off x="897" y="9"/>
                  <a:ext cx="456" cy="226"/>
                  <a:chOff x="0" y="0"/>
                  <a:chExt cx="456" cy="226"/>
                </a:xfrm>
              </p:grpSpPr>
              <p:sp>
                <p:nvSpPr>
                  <p:cNvPr id="30744" name="Rectangle 102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745" name="Line 103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0742" name="Line 104"/>
                <p:cNvSpPr/>
                <p:nvPr/>
              </p:nvSpPr>
              <p:spPr>
                <a:xfrm>
                  <a:off x="0" y="113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30743" name="Line 105"/>
                <p:cNvSpPr/>
                <p:nvPr/>
              </p:nvSpPr>
              <p:spPr>
                <a:xfrm>
                  <a:off x="627" y="109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</p:grpSp>
      </p:grpSp>
      <p:sp>
        <p:nvSpPr>
          <p:cNvPr id="30724" name="文本框 1"/>
          <p:cNvSpPr txBox="1"/>
          <p:nvPr/>
        </p:nvSpPr>
        <p:spPr>
          <a:xfrm>
            <a:off x="287338" y="4294188"/>
            <a:ext cx="3816350" cy="24447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#define MAX_VE</a:t>
            </a: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X</a:t>
            </a: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 50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typedef struct node *node_ptr;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typedef struct node {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	</a:t>
            </a: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ElementType</a:t>
            </a: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 vertex;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	node_ptr link;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} node;</a:t>
            </a:r>
            <a:endParaRPr lang="zh-CN" altLang="en-US" sz="1800" dirty="0"/>
          </a:p>
        </p:txBody>
      </p:sp>
      <p:sp>
        <p:nvSpPr>
          <p:cNvPr id="2" name="矩形 1"/>
          <p:cNvSpPr/>
          <p:nvPr/>
        </p:nvSpPr>
        <p:spPr>
          <a:xfrm>
            <a:off x="1735138" y="53975"/>
            <a:ext cx="6911975" cy="336708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735138" y="733425"/>
            <a:ext cx="69119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7" name="文本框 5"/>
          <p:cNvSpPr txBox="1"/>
          <p:nvPr/>
        </p:nvSpPr>
        <p:spPr>
          <a:xfrm>
            <a:off x="2000250" y="836613"/>
            <a:ext cx="11906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AdjList</a:t>
            </a:r>
            <a:endParaRPr lang="zh-CN" altLang="en-US" sz="1800" dirty="0"/>
          </a:p>
        </p:txBody>
      </p:sp>
      <p:sp>
        <p:nvSpPr>
          <p:cNvPr id="30728" name="文本框 97"/>
          <p:cNvSpPr txBox="1"/>
          <p:nvPr/>
        </p:nvSpPr>
        <p:spPr>
          <a:xfrm>
            <a:off x="1985963" y="261938"/>
            <a:ext cx="60420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vexnum                           6</a:t>
            </a:r>
            <a:endParaRPr lang="zh-CN" altLang="en-US" sz="1800" dirty="0"/>
          </a:p>
        </p:txBody>
      </p:sp>
      <p:sp>
        <p:nvSpPr>
          <p:cNvPr id="30729" name="文本框 98"/>
          <p:cNvSpPr txBox="1"/>
          <p:nvPr/>
        </p:nvSpPr>
        <p:spPr>
          <a:xfrm>
            <a:off x="547688" y="63500"/>
            <a:ext cx="11906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ALGraph: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31746" name="Group 5"/>
          <p:cNvGrpSpPr/>
          <p:nvPr/>
        </p:nvGrpSpPr>
        <p:grpSpPr>
          <a:xfrm>
            <a:off x="252413" y="1954213"/>
            <a:ext cx="2197100" cy="1331912"/>
            <a:chOff x="0" y="0"/>
            <a:chExt cx="1384" cy="839"/>
          </a:xfrm>
        </p:grpSpPr>
        <p:sp>
          <p:nvSpPr>
            <p:cNvPr id="31822" name="Oval 6"/>
            <p:cNvSpPr/>
            <p:nvPr/>
          </p:nvSpPr>
          <p:spPr>
            <a:xfrm>
              <a:off x="0" y="144"/>
              <a:ext cx="295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0000" dirty="0">
                  <a:latin typeface="Times New Roman" panose="02020603050405020304" pitchFamily="18" charset="0"/>
                </a:rPr>
                <a:t>0</a:t>
              </a:r>
              <a:endParaRPr lang="en-US" altLang="zh-CN" sz="2400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1823" name="Oval 7"/>
            <p:cNvSpPr/>
            <p:nvPr/>
          </p:nvSpPr>
          <p:spPr>
            <a:xfrm>
              <a:off x="17" y="612"/>
              <a:ext cx="295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0000" dirty="0">
                  <a:latin typeface="Times New Roman" panose="02020603050405020304" pitchFamily="18" charset="0"/>
                </a:rPr>
                <a:t>1</a:t>
              </a:r>
              <a:endParaRPr lang="en-US" altLang="zh-CN" sz="2400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1824" name="Oval 8"/>
            <p:cNvSpPr/>
            <p:nvPr/>
          </p:nvSpPr>
          <p:spPr>
            <a:xfrm>
              <a:off x="618" y="604"/>
              <a:ext cx="295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0000" dirty="0">
                  <a:latin typeface="Times New Roman" panose="02020603050405020304" pitchFamily="18" charset="0"/>
                </a:rPr>
                <a:t>2</a:t>
              </a:r>
              <a:endParaRPr lang="en-US" altLang="zh-CN" sz="2400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1825" name="Oval 9"/>
            <p:cNvSpPr/>
            <p:nvPr/>
          </p:nvSpPr>
          <p:spPr>
            <a:xfrm>
              <a:off x="569" y="0"/>
              <a:ext cx="295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0000" dirty="0">
                  <a:latin typeface="Times New Roman" panose="02020603050405020304" pitchFamily="18" charset="0"/>
                </a:rPr>
                <a:t>3</a:t>
              </a:r>
              <a:endParaRPr lang="en-US" altLang="zh-CN" sz="2400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1826" name="Line 10"/>
            <p:cNvSpPr/>
            <p:nvPr/>
          </p:nvSpPr>
          <p:spPr>
            <a:xfrm>
              <a:off x="144" y="379"/>
              <a:ext cx="0" cy="24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827" name="Line 11"/>
            <p:cNvSpPr/>
            <p:nvPr/>
          </p:nvSpPr>
          <p:spPr>
            <a:xfrm>
              <a:off x="744" y="223"/>
              <a:ext cx="0" cy="38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828" name="Line 12"/>
            <p:cNvSpPr/>
            <p:nvPr/>
          </p:nvSpPr>
          <p:spPr>
            <a:xfrm>
              <a:off x="262" y="332"/>
              <a:ext cx="380" cy="32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1829" name="Line 13"/>
            <p:cNvSpPr/>
            <p:nvPr/>
          </p:nvSpPr>
          <p:spPr>
            <a:xfrm flipV="1">
              <a:off x="294" y="144"/>
              <a:ext cx="282" cy="1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830" name="Line 14"/>
            <p:cNvSpPr/>
            <p:nvPr/>
          </p:nvSpPr>
          <p:spPr>
            <a:xfrm>
              <a:off x="310" y="729"/>
              <a:ext cx="3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1831" name="Oval 15"/>
            <p:cNvSpPr/>
            <p:nvPr/>
          </p:nvSpPr>
          <p:spPr>
            <a:xfrm>
              <a:off x="1089" y="333"/>
              <a:ext cx="295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0000" dirty="0">
                  <a:latin typeface="Times New Roman" panose="02020603050405020304" pitchFamily="18" charset="0"/>
                </a:rPr>
                <a:t>4</a:t>
              </a:r>
              <a:endParaRPr lang="en-US" altLang="zh-CN" sz="2400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1832" name="Line 16"/>
            <p:cNvSpPr/>
            <p:nvPr/>
          </p:nvSpPr>
          <p:spPr>
            <a:xfrm>
              <a:off x="864" y="144"/>
              <a:ext cx="336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1833" name="Line 17"/>
            <p:cNvSpPr/>
            <p:nvPr/>
          </p:nvSpPr>
          <p:spPr>
            <a:xfrm flipV="1">
              <a:off x="912" y="536"/>
              <a:ext cx="24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1747" name="Group 18"/>
          <p:cNvGrpSpPr/>
          <p:nvPr/>
        </p:nvGrpSpPr>
        <p:grpSpPr>
          <a:xfrm>
            <a:off x="2847975" y="1454150"/>
            <a:ext cx="5791200" cy="3103563"/>
            <a:chOff x="0" y="0"/>
            <a:chExt cx="3631" cy="2179"/>
          </a:xfrm>
        </p:grpSpPr>
        <p:grpSp>
          <p:nvGrpSpPr>
            <p:cNvPr id="31757" name="Group 19"/>
            <p:cNvGrpSpPr/>
            <p:nvPr/>
          </p:nvGrpSpPr>
          <p:grpSpPr>
            <a:xfrm>
              <a:off x="0" y="0"/>
              <a:ext cx="3631" cy="1848"/>
              <a:chOff x="0" y="0"/>
              <a:chExt cx="3631" cy="1848"/>
            </a:xfrm>
          </p:grpSpPr>
          <p:grpSp>
            <p:nvGrpSpPr>
              <p:cNvPr id="31759" name="Group 20"/>
              <p:cNvGrpSpPr/>
              <p:nvPr/>
            </p:nvGrpSpPr>
            <p:grpSpPr>
              <a:xfrm>
                <a:off x="1678" y="0"/>
                <a:ext cx="1364" cy="234"/>
                <a:chOff x="0" y="0"/>
                <a:chExt cx="1364" cy="234"/>
              </a:xfrm>
            </p:grpSpPr>
            <p:grpSp>
              <p:nvGrpSpPr>
                <p:cNvPr id="31814" name="Group 21"/>
                <p:cNvGrpSpPr/>
                <p:nvPr/>
              </p:nvGrpSpPr>
              <p:grpSpPr>
                <a:xfrm>
                  <a:off x="275" y="0"/>
                  <a:ext cx="456" cy="226"/>
                  <a:chOff x="0" y="0"/>
                  <a:chExt cx="456" cy="226"/>
                </a:xfrm>
              </p:grpSpPr>
              <p:sp>
                <p:nvSpPr>
                  <p:cNvPr id="31820" name="Rectangle 22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1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821" name="Line 23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1815" name="Group 24"/>
                <p:cNvGrpSpPr/>
                <p:nvPr/>
              </p:nvGrpSpPr>
              <p:grpSpPr>
                <a:xfrm>
                  <a:off x="908" y="8"/>
                  <a:ext cx="456" cy="226"/>
                  <a:chOff x="0" y="0"/>
                  <a:chExt cx="456" cy="226"/>
                </a:xfrm>
              </p:grpSpPr>
              <p:sp>
                <p:nvSpPr>
                  <p:cNvPr id="31818" name="Rectangle 25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819" name="Line 26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1816" name="Line 27"/>
                <p:cNvSpPr/>
                <p:nvPr/>
              </p:nvSpPr>
              <p:spPr>
                <a:xfrm>
                  <a:off x="0" y="123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31817" name="Line 28"/>
                <p:cNvSpPr/>
                <p:nvPr/>
              </p:nvSpPr>
              <p:spPr>
                <a:xfrm>
                  <a:off x="630" y="128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31760" name="Group 29"/>
              <p:cNvGrpSpPr/>
              <p:nvPr/>
            </p:nvGrpSpPr>
            <p:grpSpPr>
              <a:xfrm>
                <a:off x="1678" y="544"/>
                <a:ext cx="1953" cy="235"/>
                <a:chOff x="0" y="0"/>
                <a:chExt cx="1953" cy="235"/>
              </a:xfrm>
            </p:grpSpPr>
            <p:grpSp>
              <p:nvGrpSpPr>
                <p:cNvPr id="31802" name="Group 30"/>
                <p:cNvGrpSpPr/>
                <p:nvPr/>
              </p:nvGrpSpPr>
              <p:grpSpPr>
                <a:xfrm>
                  <a:off x="275" y="0"/>
                  <a:ext cx="456" cy="226"/>
                  <a:chOff x="0" y="0"/>
                  <a:chExt cx="456" cy="226"/>
                </a:xfrm>
              </p:grpSpPr>
              <p:sp>
                <p:nvSpPr>
                  <p:cNvPr id="31812" name="Rectangle 31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813" name="Line 32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1803" name="Line 33"/>
                <p:cNvSpPr/>
                <p:nvPr/>
              </p:nvSpPr>
              <p:spPr>
                <a:xfrm>
                  <a:off x="0" y="123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grpSp>
              <p:nvGrpSpPr>
                <p:cNvPr id="31804" name="Group 34"/>
                <p:cNvGrpSpPr/>
                <p:nvPr/>
              </p:nvGrpSpPr>
              <p:grpSpPr>
                <a:xfrm>
                  <a:off x="878" y="1"/>
                  <a:ext cx="456" cy="226"/>
                  <a:chOff x="0" y="0"/>
                  <a:chExt cx="456" cy="226"/>
                </a:xfrm>
              </p:grpSpPr>
              <p:sp>
                <p:nvSpPr>
                  <p:cNvPr id="31810" name="Rectangle 35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1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811" name="Line 36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1805" name="Group 37"/>
                <p:cNvGrpSpPr/>
                <p:nvPr/>
              </p:nvGrpSpPr>
              <p:grpSpPr>
                <a:xfrm>
                  <a:off x="1497" y="9"/>
                  <a:ext cx="456" cy="226"/>
                  <a:chOff x="0" y="0"/>
                  <a:chExt cx="456" cy="226"/>
                </a:xfrm>
              </p:grpSpPr>
              <p:sp>
                <p:nvSpPr>
                  <p:cNvPr id="31808" name="Rectangle 38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4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809" name="Line 39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1806" name="Line 40"/>
                <p:cNvSpPr/>
                <p:nvPr/>
              </p:nvSpPr>
              <p:spPr>
                <a:xfrm>
                  <a:off x="603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  <p:sp>
              <p:nvSpPr>
                <p:cNvPr id="31807" name="Line 41"/>
                <p:cNvSpPr/>
                <p:nvPr/>
              </p:nvSpPr>
              <p:spPr>
                <a:xfrm>
                  <a:off x="1225" y="12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31761" name="Group 42"/>
              <p:cNvGrpSpPr/>
              <p:nvPr/>
            </p:nvGrpSpPr>
            <p:grpSpPr>
              <a:xfrm>
                <a:off x="1678" y="831"/>
                <a:ext cx="729" cy="226"/>
                <a:chOff x="0" y="0"/>
                <a:chExt cx="729" cy="226"/>
              </a:xfrm>
            </p:grpSpPr>
            <p:grpSp>
              <p:nvGrpSpPr>
                <p:cNvPr id="31798" name="Group 43"/>
                <p:cNvGrpSpPr/>
                <p:nvPr/>
              </p:nvGrpSpPr>
              <p:grpSpPr>
                <a:xfrm>
                  <a:off x="273" y="0"/>
                  <a:ext cx="456" cy="226"/>
                  <a:chOff x="0" y="0"/>
                  <a:chExt cx="456" cy="226"/>
                </a:xfrm>
              </p:grpSpPr>
              <p:sp>
                <p:nvSpPr>
                  <p:cNvPr id="31800" name="Rectangle 44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2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801" name="Line 45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1799" name="Line 46"/>
                <p:cNvSpPr/>
                <p:nvPr/>
              </p:nvSpPr>
              <p:spPr>
                <a:xfrm>
                  <a:off x="0" y="115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grpSp>
            <p:nvGrpSpPr>
              <p:cNvPr id="31762" name="Group 47"/>
              <p:cNvGrpSpPr/>
              <p:nvPr/>
            </p:nvGrpSpPr>
            <p:grpSpPr>
              <a:xfrm>
                <a:off x="1678" y="1103"/>
                <a:ext cx="729" cy="226"/>
                <a:chOff x="0" y="0"/>
                <a:chExt cx="729" cy="226"/>
              </a:xfrm>
            </p:grpSpPr>
            <p:grpSp>
              <p:nvGrpSpPr>
                <p:cNvPr id="31794" name="Group 48"/>
                <p:cNvGrpSpPr/>
                <p:nvPr/>
              </p:nvGrpSpPr>
              <p:grpSpPr>
                <a:xfrm>
                  <a:off x="273" y="0"/>
                  <a:ext cx="456" cy="226"/>
                  <a:chOff x="0" y="0"/>
                  <a:chExt cx="456" cy="226"/>
                </a:xfrm>
              </p:grpSpPr>
              <p:sp>
                <p:nvSpPr>
                  <p:cNvPr id="31796" name="Rectangle 49"/>
                  <p:cNvSpPr/>
                  <p:nvPr/>
                </p:nvSpPr>
                <p:spPr>
                  <a:xfrm>
                    <a:off x="0" y="0"/>
                    <a:ext cx="456" cy="226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5000" dirty="0"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797" name="Line 50"/>
                  <p:cNvSpPr/>
                  <p:nvPr/>
                </p:nvSpPr>
                <p:spPr>
                  <a:xfrm>
                    <a:off x="251" y="0"/>
                    <a:ext cx="0" cy="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1795" name="Line 51"/>
                <p:cNvSpPr/>
                <p:nvPr/>
              </p:nvSpPr>
              <p:spPr>
                <a:xfrm>
                  <a:off x="0" y="120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arrow" w="med" len="med"/>
                </a:ln>
              </p:spPr>
            </p:sp>
          </p:grpSp>
          <p:sp>
            <p:nvSpPr>
              <p:cNvPr id="31763" name="Rectangle 52"/>
              <p:cNvSpPr/>
              <p:nvPr/>
            </p:nvSpPr>
            <p:spPr>
              <a:xfrm>
                <a:off x="769" y="0"/>
                <a:ext cx="226" cy="13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64" name="Rectangle 53"/>
              <p:cNvSpPr/>
              <p:nvPr/>
            </p:nvSpPr>
            <p:spPr>
              <a:xfrm>
                <a:off x="0" y="1604"/>
                <a:ext cx="998" cy="2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MAX_VEX-1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765" name="Group 54"/>
              <p:cNvGrpSpPr/>
              <p:nvPr/>
            </p:nvGrpSpPr>
            <p:grpSpPr>
              <a:xfrm>
                <a:off x="1043" y="7"/>
                <a:ext cx="772" cy="1841"/>
                <a:chOff x="0" y="0"/>
                <a:chExt cx="772" cy="1841"/>
              </a:xfrm>
            </p:grpSpPr>
            <p:grpSp>
              <p:nvGrpSpPr>
                <p:cNvPr id="31766" name="Group 55"/>
                <p:cNvGrpSpPr/>
                <p:nvPr/>
              </p:nvGrpSpPr>
              <p:grpSpPr>
                <a:xfrm>
                  <a:off x="0" y="0"/>
                  <a:ext cx="772" cy="262"/>
                  <a:chOff x="0" y="0"/>
                  <a:chExt cx="772" cy="262"/>
                </a:xfrm>
              </p:grpSpPr>
              <p:sp>
                <p:nvSpPr>
                  <p:cNvPr id="31791" name="Rectangle 56"/>
                  <p:cNvSpPr/>
                  <p:nvPr/>
                </p:nvSpPr>
                <p:spPr>
                  <a:xfrm>
                    <a:off x="0" y="0"/>
                    <a:ext cx="772" cy="262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0000" dirty="0">
                        <a:latin typeface="Times New Roman" panose="02020603050405020304" pitchFamily="18" charset="0"/>
                      </a:rPr>
                      <a:t>0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 2     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792" name="Line 57"/>
                  <p:cNvSpPr/>
                  <p:nvPr/>
                </p:nvSpPr>
                <p:spPr>
                  <a:xfrm>
                    <a:off x="553" y="0"/>
                    <a:ext cx="0" cy="26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93" name="Line 58"/>
                  <p:cNvSpPr/>
                  <p:nvPr/>
                </p:nvSpPr>
                <p:spPr>
                  <a:xfrm>
                    <a:off x="302" y="0"/>
                    <a:ext cx="0" cy="26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1767" name="Group 59"/>
                <p:cNvGrpSpPr/>
                <p:nvPr/>
              </p:nvGrpSpPr>
              <p:grpSpPr>
                <a:xfrm>
                  <a:off x="0" y="263"/>
                  <a:ext cx="772" cy="263"/>
                  <a:chOff x="0" y="0"/>
                  <a:chExt cx="772" cy="263"/>
                </a:xfrm>
              </p:grpSpPr>
              <p:sp>
                <p:nvSpPr>
                  <p:cNvPr id="31788" name="Rectangle 60"/>
                  <p:cNvSpPr/>
                  <p:nvPr/>
                </p:nvSpPr>
                <p:spPr>
                  <a:xfrm>
                    <a:off x="0" y="0"/>
                    <a:ext cx="772" cy="263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0000" dirty="0">
                        <a:latin typeface="Times New Roman" panose="02020603050405020304" pitchFamily="18" charset="0"/>
                      </a:rPr>
                      <a:t>1 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0  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</a:rPr>
                      <a:t>⋀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789" name="Line 61"/>
                  <p:cNvSpPr/>
                  <p:nvPr/>
                </p:nvSpPr>
                <p:spPr>
                  <a:xfrm>
                    <a:off x="553" y="0"/>
                    <a:ext cx="0" cy="263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90" name="Line 62"/>
                  <p:cNvSpPr/>
                  <p:nvPr/>
                </p:nvSpPr>
                <p:spPr>
                  <a:xfrm>
                    <a:off x="302" y="0"/>
                    <a:ext cx="0" cy="263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1768" name="Group 63"/>
                <p:cNvGrpSpPr/>
                <p:nvPr/>
              </p:nvGrpSpPr>
              <p:grpSpPr>
                <a:xfrm>
                  <a:off x="0" y="527"/>
                  <a:ext cx="772" cy="262"/>
                  <a:chOff x="0" y="0"/>
                  <a:chExt cx="772" cy="262"/>
                </a:xfrm>
              </p:grpSpPr>
              <p:sp>
                <p:nvSpPr>
                  <p:cNvPr id="31785" name="Rectangle 64"/>
                  <p:cNvSpPr/>
                  <p:nvPr/>
                </p:nvSpPr>
                <p:spPr>
                  <a:xfrm>
                    <a:off x="0" y="0"/>
                    <a:ext cx="772" cy="262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0000" dirty="0">
                        <a:latin typeface="Times New Roman" panose="02020603050405020304" pitchFamily="18" charset="0"/>
                      </a:rPr>
                      <a:t>2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 3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786" name="Line 65"/>
                  <p:cNvSpPr/>
                  <p:nvPr/>
                </p:nvSpPr>
                <p:spPr>
                  <a:xfrm>
                    <a:off x="553" y="0"/>
                    <a:ext cx="0" cy="26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87" name="Line 66"/>
                  <p:cNvSpPr/>
                  <p:nvPr/>
                </p:nvSpPr>
                <p:spPr>
                  <a:xfrm>
                    <a:off x="302" y="0"/>
                    <a:ext cx="0" cy="26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1769" name="Group 67"/>
                <p:cNvGrpSpPr/>
                <p:nvPr/>
              </p:nvGrpSpPr>
              <p:grpSpPr>
                <a:xfrm>
                  <a:off x="0" y="790"/>
                  <a:ext cx="772" cy="262"/>
                  <a:chOff x="0" y="0"/>
                  <a:chExt cx="772" cy="262"/>
                </a:xfrm>
              </p:grpSpPr>
              <p:sp>
                <p:nvSpPr>
                  <p:cNvPr id="31782" name="Rectangle 68"/>
                  <p:cNvSpPr/>
                  <p:nvPr/>
                </p:nvSpPr>
                <p:spPr>
                  <a:xfrm>
                    <a:off x="0" y="0"/>
                    <a:ext cx="772" cy="262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0000" dirty="0"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 1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783" name="Line 69"/>
                  <p:cNvSpPr/>
                  <p:nvPr/>
                </p:nvSpPr>
                <p:spPr>
                  <a:xfrm>
                    <a:off x="553" y="0"/>
                    <a:ext cx="0" cy="26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84" name="Line 70"/>
                  <p:cNvSpPr/>
                  <p:nvPr/>
                </p:nvSpPr>
                <p:spPr>
                  <a:xfrm>
                    <a:off x="302" y="0"/>
                    <a:ext cx="0" cy="26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1770" name="Group 71"/>
                <p:cNvGrpSpPr/>
                <p:nvPr/>
              </p:nvGrpSpPr>
              <p:grpSpPr>
                <a:xfrm>
                  <a:off x="0" y="1317"/>
                  <a:ext cx="772" cy="262"/>
                  <a:chOff x="0" y="0"/>
                  <a:chExt cx="772" cy="262"/>
                </a:xfrm>
              </p:grpSpPr>
              <p:sp>
                <p:nvSpPr>
                  <p:cNvPr id="31779" name="Rectangle 72"/>
                  <p:cNvSpPr/>
                  <p:nvPr/>
                </p:nvSpPr>
                <p:spPr>
                  <a:xfrm>
                    <a:off x="0" y="0"/>
                    <a:ext cx="772" cy="262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宋体" panose="02010600030101010101" pitchFamily="2" charset="-122"/>
                      </a:rPr>
                      <a:t>┇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┇ ┇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780" name="Line 73"/>
                  <p:cNvSpPr/>
                  <p:nvPr/>
                </p:nvSpPr>
                <p:spPr>
                  <a:xfrm>
                    <a:off x="553" y="0"/>
                    <a:ext cx="0" cy="26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81" name="Line 74"/>
                  <p:cNvSpPr/>
                  <p:nvPr/>
                </p:nvSpPr>
                <p:spPr>
                  <a:xfrm>
                    <a:off x="302" y="0"/>
                    <a:ext cx="0" cy="26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1771" name="Group 75"/>
                <p:cNvGrpSpPr/>
                <p:nvPr/>
              </p:nvGrpSpPr>
              <p:grpSpPr>
                <a:xfrm>
                  <a:off x="0" y="1579"/>
                  <a:ext cx="772" cy="262"/>
                  <a:chOff x="0" y="0"/>
                  <a:chExt cx="772" cy="262"/>
                </a:xfrm>
              </p:grpSpPr>
              <p:sp>
                <p:nvSpPr>
                  <p:cNvPr id="31776" name="Rectangle 76"/>
                  <p:cNvSpPr/>
                  <p:nvPr/>
                </p:nvSpPr>
                <p:spPr>
                  <a:xfrm>
                    <a:off x="0" y="0"/>
                    <a:ext cx="772" cy="262"/>
                  </a:xfrm>
                  <a:prstGeom prst="rect">
                    <a:avLst/>
                  </a:prstGeom>
                  <a:solidFill>
                    <a:schemeClr val="bg2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777" name="Line 77"/>
                  <p:cNvSpPr/>
                  <p:nvPr/>
                </p:nvSpPr>
                <p:spPr>
                  <a:xfrm>
                    <a:off x="553" y="0"/>
                    <a:ext cx="0" cy="26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78" name="Line 78"/>
                  <p:cNvSpPr/>
                  <p:nvPr/>
                </p:nvSpPr>
                <p:spPr>
                  <a:xfrm>
                    <a:off x="302" y="0"/>
                    <a:ext cx="0" cy="26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1772" name="Group 79"/>
                <p:cNvGrpSpPr/>
                <p:nvPr/>
              </p:nvGrpSpPr>
              <p:grpSpPr>
                <a:xfrm>
                  <a:off x="0" y="1053"/>
                  <a:ext cx="772" cy="263"/>
                  <a:chOff x="0" y="0"/>
                  <a:chExt cx="772" cy="263"/>
                </a:xfrm>
              </p:grpSpPr>
              <p:sp>
                <p:nvSpPr>
                  <p:cNvPr id="31773" name="Rectangle 80"/>
                  <p:cNvSpPr/>
                  <p:nvPr/>
                </p:nvSpPr>
                <p:spPr>
                  <a:xfrm>
                    <a:off x="0" y="0"/>
                    <a:ext cx="772" cy="263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400" b="1" baseline="-20000" dirty="0">
                        <a:latin typeface="Times New Roman" panose="02020603050405020304" pitchFamily="18" charset="0"/>
                      </a:rPr>
                      <a:t>4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   1 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774" name="Line 81"/>
                  <p:cNvSpPr/>
                  <p:nvPr/>
                </p:nvSpPr>
                <p:spPr>
                  <a:xfrm>
                    <a:off x="553" y="0"/>
                    <a:ext cx="0" cy="263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75" name="Line 82"/>
                  <p:cNvSpPr/>
                  <p:nvPr/>
                </p:nvSpPr>
                <p:spPr>
                  <a:xfrm>
                    <a:off x="302" y="0"/>
                    <a:ext cx="0" cy="263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31758" name="Rectangle 83"/>
            <p:cNvSpPr/>
            <p:nvPr/>
          </p:nvSpPr>
          <p:spPr>
            <a:xfrm>
              <a:off x="887" y="1975"/>
              <a:ext cx="1950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  Adjacency list, out-degree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748" name="Rectangle 151"/>
          <p:cNvSpPr/>
          <p:nvPr/>
        </p:nvSpPr>
        <p:spPr>
          <a:xfrm>
            <a:off x="4910138" y="6545263"/>
            <a:ext cx="3238500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2892425" y="576263"/>
            <a:ext cx="5853113" cy="40767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53" name="直接连接符 152"/>
          <p:cNvCxnSpPr/>
          <p:nvPr/>
        </p:nvCxnSpPr>
        <p:spPr>
          <a:xfrm>
            <a:off x="2892425" y="1255713"/>
            <a:ext cx="585311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1" name="文本框 97"/>
          <p:cNvSpPr txBox="1"/>
          <p:nvPr/>
        </p:nvSpPr>
        <p:spPr>
          <a:xfrm>
            <a:off x="3111500" y="784225"/>
            <a:ext cx="48228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/>
              <a:t>vexnum</a:t>
            </a:r>
            <a:r>
              <a:rPr lang="en-US" altLang="zh-CN" sz="1800" dirty="0"/>
              <a:t>                           5</a:t>
            </a:r>
            <a:endParaRPr lang="zh-CN" altLang="en-US" sz="1800" dirty="0"/>
          </a:p>
        </p:txBody>
      </p:sp>
      <p:sp>
        <p:nvSpPr>
          <p:cNvPr id="157" name="文本框 156"/>
          <p:cNvSpPr txBox="1"/>
          <p:nvPr/>
        </p:nvSpPr>
        <p:spPr>
          <a:xfrm>
            <a:off x="563563" y="5116513"/>
            <a:ext cx="83883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Write a program to calculate the indegree of each vertex of the ALGraph G.</a:t>
            </a:r>
            <a:endParaRPr lang="zh-CN" altLang="en-US" sz="1800" dirty="0"/>
          </a:p>
        </p:txBody>
      </p:sp>
      <p:sp>
        <p:nvSpPr>
          <p:cNvPr id="31753" name="Rectangle 4"/>
          <p:cNvSpPr/>
          <p:nvPr/>
        </p:nvSpPr>
        <p:spPr>
          <a:xfrm>
            <a:off x="679450" y="3403600"/>
            <a:ext cx="1439863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Graph G   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051050" y="576263"/>
            <a:ext cx="7556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5" name="Rectangle 4"/>
          <p:cNvSpPr/>
          <p:nvPr/>
        </p:nvSpPr>
        <p:spPr>
          <a:xfrm>
            <a:off x="1412875" y="401638"/>
            <a:ext cx="912813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G   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1756" name="文本框 5"/>
          <p:cNvSpPr txBox="1"/>
          <p:nvPr/>
        </p:nvSpPr>
        <p:spPr>
          <a:xfrm>
            <a:off x="3059113" y="1430338"/>
            <a:ext cx="11906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AdjList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32770" name="Group 2"/>
          <p:cNvGrpSpPr/>
          <p:nvPr/>
        </p:nvGrpSpPr>
        <p:grpSpPr>
          <a:xfrm>
            <a:off x="-22225" y="290513"/>
            <a:ext cx="9036050" cy="6578600"/>
            <a:chOff x="0" y="0"/>
            <a:chExt cx="5692" cy="4144"/>
          </a:xfrm>
        </p:grpSpPr>
        <p:grpSp>
          <p:nvGrpSpPr>
            <p:cNvPr id="32771" name="Group 3"/>
            <p:cNvGrpSpPr/>
            <p:nvPr/>
          </p:nvGrpSpPr>
          <p:grpSpPr>
            <a:xfrm>
              <a:off x="657" y="311"/>
              <a:ext cx="1384" cy="1091"/>
              <a:chOff x="0" y="0"/>
              <a:chExt cx="1384" cy="1091"/>
            </a:xfrm>
          </p:grpSpPr>
          <p:sp>
            <p:nvSpPr>
              <p:cNvPr id="32906" name="Rectangle 4"/>
              <p:cNvSpPr/>
              <p:nvPr/>
            </p:nvSpPr>
            <p:spPr>
              <a:xfrm>
                <a:off x="237" y="887"/>
                <a:ext cx="907" cy="2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(a)   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907" name="Group 5"/>
              <p:cNvGrpSpPr/>
              <p:nvPr/>
            </p:nvGrpSpPr>
            <p:grpSpPr>
              <a:xfrm>
                <a:off x="0" y="0"/>
                <a:ext cx="1384" cy="839"/>
                <a:chOff x="0" y="0"/>
                <a:chExt cx="1384" cy="839"/>
              </a:xfrm>
            </p:grpSpPr>
            <p:sp>
              <p:nvSpPr>
                <p:cNvPr id="32908" name="Oval 6"/>
                <p:cNvSpPr/>
                <p:nvPr/>
              </p:nvSpPr>
              <p:spPr>
                <a:xfrm>
                  <a:off x="0" y="144"/>
                  <a:ext cx="295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400" baseline="-20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400" baseline="-20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909" name="Oval 7"/>
                <p:cNvSpPr/>
                <p:nvPr/>
              </p:nvSpPr>
              <p:spPr>
                <a:xfrm>
                  <a:off x="17" y="612"/>
                  <a:ext cx="295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400" baseline="-20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aseline="-20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910" name="Oval 8"/>
                <p:cNvSpPr/>
                <p:nvPr/>
              </p:nvSpPr>
              <p:spPr>
                <a:xfrm>
                  <a:off x="618" y="604"/>
                  <a:ext cx="295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400" baseline="-20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baseline="-20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911" name="Oval 9"/>
                <p:cNvSpPr/>
                <p:nvPr/>
              </p:nvSpPr>
              <p:spPr>
                <a:xfrm>
                  <a:off x="569" y="0"/>
                  <a:ext cx="295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400" baseline="-20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400" baseline="-20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912" name="Line 10"/>
                <p:cNvSpPr/>
                <p:nvPr/>
              </p:nvSpPr>
              <p:spPr>
                <a:xfrm>
                  <a:off x="144" y="379"/>
                  <a:ext cx="0" cy="24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32913" name="Line 11"/>
                <p:cNvSpPr/>
                <p:nvPr/>
              </p:nvSpPr>
              <p:spPr>
                <a:xfrm>
                  <a:off x="744" y="223"/>
                  <a:ext cx="0" cy="385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32914" name="Line 12"/>
                <p:cNvSpPr/>
                <p:nvPr/>
              </p:nvSpPr>
              <p:spPr>
                <a:xfrm>
                  <a:off x="262" y="332"/>
                  <a:ext cx="380" cy="327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triangle" w="med" len="med"/>
                  <a:tailEnd type="none" w="med" len="med"/>
                </a:ln>
              </p:spPr>
            </p:sp>
            <p:sp>
              <p:nvSpPr>
                <p:cNvPr id="32915" name="Line 13"/>
                <p:cNvSpPr/>
                <p:nvPr/>
              </p:nvSpPr>
              <p:spPr>
                <a:xfrm flipV="1">
                  <a:off x="294" y="144"/>
                  <a:ext cx="282" cy="10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32916" name="Line 14"/>
                <p:cNvSpPr/>
                <p:nvPr/>
              </p:nvSpPr>
              <p:spPr>
                <a:xfrm>
                  <a:off x="310" y="729"/>
                  <a:ext cx="31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triangle" w="med" len="med"/>
                  <a:tailEnd type="none" w="med" len="med"/>
                </a:ln>
              </p:spPr>
            </p:sp>
            <p:sp>
              <p:nvSpPr>
                <p:cNvPr id="32917" name="Oval 15"/>
                <p:cNvSpPr/>
                <p:nvPr/>
              </p:nvSpPr>
              <p:spPr>
                <a:xfrm>
                  <a:off x="1089" y="333"/>
                  <a:ext cx="295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400" baseline="-20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400" baseline="-20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918" name="Line 16"/>
                <p:cNvSpPr/>
                <p:nvPr/>
              </p:nvSpPr>
              <p:spPr>
                <a:xfrm>
                  <a:off x="864" y="144"/>
                  <a:ext cx="336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triangle" w="med" len="med"/>
                  <a:tailEnd type="none" w="med" len="med"/>
                </a:ln>
              </p:spPr>
            </p:sp>
            <p:sp>
              <p:nvSpPr>
                <p:cNvPr id="32919" name="Line 17"/>
                <p:cNvSpPr/>
                <p:nvPr/>
              </p:nvSpPr>
              <p:spPr>
                <a:xfrm flipV="1">
                  <a:off x="912" y="536"/>
                  <a:ext cx="240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grpSp>
          <p:nvGrpSpPr>
            <p:cNvPr id="32772" name="Group 18"/>
            <p:cNvGrpSpPr/>
            <p:nvPr/>
          </p:nvGrpSpPr>
          <p:grpSpPr>
            <a:xfrm>
              <a:off x="2061" y="0"/>
              <a:ext cx="3631" cy="2125"/>
              <a:chOff x="0" y="0"/>
              <a:chExt cx="3631" cy="2125"/>
            </a:xfrm>
          </p:grpSpPr>
          <p:grpSp>
            <p:nvGrpSpPr>
              <p:cNvPr id="32841" name="Group 19"/>
              <p:cNvGrpSpPr/>
              <p:nvPr/>
            </p:nvGrpSpPr>
            <p:grpSpPr>
              <a:xfrm>
                <a:off x="0" y="0"/>
                <a:ext cx="3631" cy="1848"/>
                <a:chOff x="0" y="0"/>
                <a:chExt cx="3631" cy="1848"/>
              </a:xfrm>
            </p:grpSpPr>
            <p:grpSp>
              <p:nvGrpSpPr>
                <p:cNvPr id="32843" name="Group 20"/>
                <p:cNvGrpSpPr/>
                <p:nvPr/>
              </p:nvGrpSpPr>
              <p:grpSpPr>
                <a:xfrm>
                  <a:off x="1678" y="0"/>
                  <a:ext cx="1364" cy="234"/>
                  <a:chOff x="0" y="0"/>
                  <a:chExt cx="1364" cy="234"/>
                </a:xfrm>
              </p:grpSpPr>
              <p:grpSp>
                <p:nvGrpSpPr>
                  <p:cNvPr id="32898" name="Group 21"/>
                  <p:cNvGrpSpPr/>
                  <p:nvPr/>
                </p:nvGrpSpPr>
                <p:grpSpPr>
                  <a:xfrm>
                    <a:off x="275" y="0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904" name="Rectangle 22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905" name="Line 23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99" name="Group 24"/>
                  <p:cNvGrpSpPr/>
                  <p:nvPr/>
                </p:nvGrpSpPr>
                <p:grpSpPr>
                  <a:xfrm>
                    <a:off x="908" y="8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902" name="Rectangle 25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⋀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903" name="Line 26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900" name="Line 27"/>
                  <p:cNvSpPr/>
                  <p:nvPr/>
                </p:nvSpPr>
                <p:spPr>
                  <a:xfrm>
                    <a:off x="0" y="123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  <p:sp>
                <p:nvSpPr>
                  <p:cNvPr id="32901" name="Line 28"/>
                  <p:cNvSpPr/>
                  <p:nvPr/>
                </p:nvSpPr>
                <p:spPr>
                  <a:xfrm>
                    <a:off x="630" y="128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</p:grpSp>
            <p:grpSp>
              <p:nvGrpSpPr>
                <p:cNvPr id="32844" name="Group 29"/>
                <p:cNvGrpSpPr/>
                <p:nvPr/>
              </p:nvGrpSpPr>
              <p:grpSpPr>
                <a:xfrm>
                  <a:off x="1678" y="544"/>
                  <a:ext cx="1953" cy="235"/>
                  <a:chOff x="0" y="0"/>
                  <a:chExt cx="1953" cy="235"/>
                </a:xfrm>
              </p:grpSpPr>
              <p:grpSp>
                <p:nvGrpSpPr>
                  <p:cNvPr id="32886" name="Group 30"/>
                  <p:cNvGrpSpPr/>
                  <p:nvPr/>
                </p:nvGrpSpPr>
                <p:grpSpPr>
                  <a:xfrm>
                    <a:off x="275" y="0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896" name="Rectangle 31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97" name="Line 32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887" name="Line 33"/>
                  <p:cNvSpPr/>
                  <p:nvPr/>
                </p:nvSpPr>
                <p:spPr>
                  <a:xfrm>
                    <a:off x="0" y="123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  <p:grpSp>
                <p:nvGrpSpPr>
                  <p:cNvPr id="32888" name="Group 34"/>
                  <p:cNvGrpSpPr/>
                  <p:nvPr/>
                </p:nvGrpSpPr>
                <p:grpSpPr>
                  <a:xfrm>
                    <a:off x="878" y="1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894" name="Rectangle 35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95" name="Line 36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89" name="Group 37"/>
                  <p:cNvGrpSpPr/>
                  <p:nvPr/>
                </p:nvGrpSpPr>
                <p:grpSpPr>
                  <a:xfrm>
                    <a:off x="1497" y="9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892" name="Rectangle 38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⋀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93" name="Line 39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890" name="Line 40"/>
                  <p:cNvSpPr/>
                  <p:nvPr/>
                </p:nvSpPr>
                <p:spPr>
                  <a:xfrm>
                    <a:off x="603" y="124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  <p:sp>
                <p:nvSpPr>
                  <p:cNvPr id="32891" name="Line 41"/>
                  <p:cNvSpPr/>
                  <p:nvPr/>
                </p:nvSpPr>
                <p:spPr>
                  <a:xfrm>
                    <a:off x="1225" y="124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</p:grpSp>
            <p:grpSp>
              <p:nvGrpSpPr>
                <p:cNvPr id="32845" name="Group 42"/>
                <p:cNvGrpSpPr/>
                <p:nvPr/>
              </p:nvGrpSpPr>
              <p:grpSpPr>
                <a:xfrm>
                  <a:off x="1678" y="831"/>
                  <a:ext cx="729" cy="226"/>
                  <a:chOff x="0" y="0"/>
                  <a:chExt cx="729" cy="226"/>
                </a:xfrm>
              </p:grpSpPr>
              <p:grpSp>
                <p:nvGrpSpPr>
                  <p:cNvPr id="32882" name="Group 43"/>
                  <p:cNvGrpSpPr/>
                  <p:nvPr/>
                </p:nvGrpSpPr>
                <p:grpSpPr>
                  <a:xfrm>
                    <a:off x="273" y="0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884" name="Rectangle 44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⋀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85" name="Line 45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883" name="Line 46"/>
                  <p:cNvSpPr/>
                  <p:nvPr/>
                </p:nvSpPr>
                <p:spPr>
                  <a:xfrm>
                    <a:off x="0" y="115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</p:grpSp>
            <p:grpSp>
              <p:nvGrpSpPr>
                <p:cNvPr id="32846" name="Group 47"/>
                <p:cNvGrpSpPr/>
                <p:nvPr/>
              </p:nvGrpSpPr>
              <p:grpSpPr>
                <a:xfrm>
                  <a:off x="1678" y="1103"/>
                  <a:ext cx="729" cy="226"/>
                  <a:chOff x="0" y="0"/>
                  <a:chExt cx="729" cy="226"/>
                </a:xfrm>
              </p:grpSpPr>
              <p:grpSp>
                <p:nvGrpSpPr>
                  <p:cNvPr id="32878" name="Group 48"/>
                  <p:cNvGrpSpPr/>
                  <p:nvPr/>
                </p:nvGrpSpPr>
                <p:grpSpPr>
                  <a:xfrm>
                    <a:off x="273" y="0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880" name="Rectangle 49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⋀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81" name="Line 50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879" name="Line 51"/>
                  <p:cNvSpPr/>
                  <p:nvPr/>
                </p:nvSpPr>
                <p:spPr>
                  <a:xfrm>
                    <a:off x="0" y="120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</p:grpSp>
            <p:sp>
              <p:nvSpPr>
                <p:cNvPr id="32847" name="Rectangle 52"/>
                <p:cNvSpPr/>
                <p:nvPr/>
              </p:nvSpPr>
              <p:spPr>
                <a:xfrm>
                  <a:off x="769" y="0"/>
                  <a:ext cx="226" cy="13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lnSpc>
                      <a:spcPct val="11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  <a:p>
                  <a:pPr marL="0" lvl="0" indent="0" eaLnBrk="1" hangingPunct="1">
                    <a:lnSpc>
                      <a:spcPct val="11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  <a:p>
                  <a:pPr marL="0" lvl="0" indent="0" eaLnBrk="1" hangingPunct="1">
                    <a:lnSpc>
                      <a:spcPct val="11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  <a:p>
                  <a:pPr marL="0" lvl="0" indent="0" eaLnBrk="1" hangingPunct="1">
                    <a:lnSpc>
                      <a:spcPct val="11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  <a:p>
                  <a:pPr marL="0" lvl="0" indent="0" eaLnBrk="1" hangingPunct="1">
                    <a:lnSpc>
                      <a:spcPct val="11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48" name="Rectangle 53"/>
                <p:cNvSpPr/>
                <p:nvPr/>
              </p:nvSpPr>
              <p:spPr>
                <a:xfrm>
                  <a:off x="0" y="1604"/>
                  <a:ext cx="998" cy="2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MAX_VEX-1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2849" name="Group 54"/>
                <p:cNvGrpSpPr/>
                <p:nvPr/>
              </p:nvGrpSpPr>
              <p:grpSpPr>
                <a:xfrm>
                  <a:off x="1043" y="7"/>
                  <a:ext cx="772" cy="1841"/>
                  <a:chOff x="0" y="0"/>
                  <a:chExt cx="772" cy="1841"/>
                </a:xfrm>
              </p:grpSpPr>
              <p:grpSp>
                <p:nvGrpSpPr>
                  <p:cNvPr id="32850" name="Group 55"/>
                  <p:cNvGrpSpPr/>
                  <p:nvPr/>
                </p:nvGrpSpPr>
                <p:grpSpPr>
                  <a:xfrm>
                    <a:off x="0" y="0"/>
                    <a:ext cx="772" cy="262"/>
                    <a:chOff x="0" y="0"/>
                    <a:chExt cx="772" cy="262"/>
                  </a:xfrm>
                </p:grpSpPr>
                <p:sp>
                  <p:nvSpPr>
                    <p:cNvPr id="32875" name="Rectangle 56"/>
                    <p:cNvSpPr/>
                    <p:nvPr/>
                  </p:nvSpPr>
                  <p:spPr>
                    <a:xfrm>
                      <a:off x="0" y="0"/>
                      <a:ext cx="772" cy="26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0000" dirty="0"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 2     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76" name="Line 57"/>
                    <p:cNvSpPr/>
                    <p:nvPr/>
                  </p:nvSpPr>
                  <p:spPr>
                    <a:xfrm>
                      <a:off x="553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77" name="Line 58"/>
                    <p:cNvSpPr/>
                    <p:nvPr/>
                  </p:nvSpPr>
                  <p:spPr>
                    <a:xfrm>
                      <a:off x="302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51" name="Group 59"/>
                  <p:cNvGrpSpPr/>
                  <p:nvPr/>
                </p:nvGrpSpPr>
                <p:grpSpPr>
                  <a:xfrm>
                    <a:off x="0" y="263"/>
                    <a:ext cx="772" cy="263"/>
                    <a:chOff x="0" y="0"/>
                    <a:chExt cx="772" cy="263"/>
                  </a:xfrm>
                </p:grpSpPr>
                <p:sp>
                  <p:nvSpPr>
                    <p:cNvPr id="32872" name="Rectangle 60"/>
                    <p:cNvSpPr/>
                    <p:nvPr/>
                  </p:nvSpPr>
                  <p:spPr>
                    <a:xfrm>
                      <a:off x="0" y="0"/>
                      <a:ext cx="772" cy="263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0000" dirty="0">
                          <a:latin typeface="Times New Roman" panose="02020603050405020304" pitchFamily="18" charset="0"/>
                        </a:rPr>
                        <a:t>1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0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⋀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73" name="Line 61"/>
                    <p:cNvSpPr/>
                    <p:nvPr/>
                  </p:nvSpPr>
                  <p:spPr>
                    <a:xfrm>
                      <a:off x="553" y="0"/>
                      <a:ext cx="0" cy="263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74" name="Line 62"/>
                    <p:cNvSpPr/>
                    <p:nvPr/>
                  </p:nvSpPr>
                  <p:spPr>
                    <a:xfrm>
                      <a:off x="302" y="0"/>
                      <a:ext cx="0" cy="263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52" name="Group 63"/>
                  <p:cNvGrpSpPr/>
                  <p:nvPr/>
                </p:nvGrpSpPr>
                <p:grpSpPr>
                  <a:xfrm>
                    <a:off x="0" y="527"/>
                    <a:ext cx="772" cy="262"/>
                    <a:chOff x="0" y="0"/>
                    <a:chExt cx="772" cy="262"/>
                  </a:xfrm>
                </p:grpSpPr>
                <p:sp>
                  <p:nvSpPr>
                    <p:cNvPr id="32869" name="Rectangle 64"/>
                    <p:cNvSpPr/>
                    <p:nvPr/>
                  </p:nvSpPr>
                  <p:spPr>
                    <a:xfrm>
                      <a:off x="0" y="0"/>
                      <a:ext cx="772" cy="26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0000" dirty="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 3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70" name="Line 65"/>
                    <p:cNvSpPr/>
                    <p:nvPr/>
                  </p:nvSpPr>
                  <p:spPr>
                    <a:xfrm>
                      <a:off x="553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71" name="Line 66"/>
                    <p:cNvSpPr/>
                    <p:nvPr/>
                  </p:nvSpPr>
                  <p:spPr>
                    <a:xfrm>
                      <a:off x="302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53" name="Group 67"/>
                  <p:cNvGrpSpPr/>
                  <p:nvPr/>
                </p:nvGrpSpPr>
                <p:grpSpPr>
                  <a:xfrm>
                    <a:off x="0" y="790"/>
                    <a:ext cx="772" cy="262"/>
                    <a:chOff x="0" y="0"/>
                    <a:chExt cx="772" cy="262"/>
                  </a:xfrm>
                </p:grpSpPr>
                <p:sp>
                  <p:nvSpPr>
                    <p:cNvPr id="32866" name="Rectangle 68"/>
                    <p:cNvSpPr/>
                    <p:nvPr/>
                  </p:nvSpPr>
                  <p:spPr>
                    <a:xfrm>
                      <a:off x="0" y="0"/>
                      <a:ext cx="772" cy="26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0000" dirty="0"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 1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67" name="Line 69"/>
                    <p:cNvSpPr/>
                    <p:nvPr/>
                  </p:nvSpPr>
                  <p:spPr>
                    <a:xfrm>
                      <a:off x="553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68" name="Line 70"/>
                    <p:cNvSpPr/>
                    <p:nvPr/>
                  </p:nvSpPr>
                  <p:spPr>
                    <a:xfrm>
                      <a:off x="302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54" name="Group 71"/>
                  <p:cNvGrpSpPr/>
                  <p:nvPr/>
                </p:nvGrpSpPr>
                <p:grpSpPr>
                  <a:xfrm>
                    <a:off x="0" y="1317"/>
                    <a:ext cx="772" cy="262"/>
                    <a:chOff x="0" y="0"/>
                    <a:chExt cx="772" cy="262"/>
                  </a:xfrm>
                </p:grpSpPr>
                <p:sp>
                  <p:nvSpPr>
                    <p:cNvPr id="32863" name="Rectangle 72"/>
                    <p:cNvSpPr/>
                    <p:nvPr/>
                  </p:nvSpPr>
                  <p:spPr>
                    <a:xfrm>
                      <a:off x="0" y="0"/>
                      <a:ext cx="772" cy="26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宋体" panose="02010600030101010101" pitchFamily="2" charset="-122"/>
                        </a:rPr>
                        <a:t>┇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┇ ┇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64" name="Line 73"/>
                    <p:cNvSpPr/>
                    <p:nvPr/>
                  </p:nvSpPr>
                  <p:spPr>
                    <a:xfrm>
                      <a:off x="553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65" name="Line 74"/>
                    <p:cNvSpPr/>
                    <p:nvPr/>
                  </p:nvSpPr>
                  <p:spPr>
                    <a:xfrm>
                      <a:off x="302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55" name="Group 75"/>
                  <p:cNvGrpSpPr/>
                  <p:nvPr/>
                </p:nvGrpSpPr>
                <p:grpSpPr>
                  <a:xfrm>
                    <a:off x="0" y="1579"/>
                    <a:ext cx="772" cy="262"/>
                    <a:chOff x="0" y="0"/>
                    <a:chExt cx="772" cy="262"/>
                  </a:xfrm>
                </p:grpSpPr>
                <p:sp>
                  <p:nvSpPr>
                    <p:cNvPr id="32860" name="Rectangle 76"/>
                    <p:cNvSpPr/>
                    <p:nvPr/>
                  </p:nvSpPr>
                  <p:spPr>
                    <a:xfrm>
                      <a:off x="0" y="0"/>
                      <a:ext cx="772" cy="262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61" name="Line 77"/>
                    <p:cNvSpPr/>
                    <p:nvPr/>
                  </p:nvSpPr>
                  <p:spPr>
                    <a:xfrm>
                      <a:off x="553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62" name="Line 78"/>
                    <p:cNvSpPr/>
                    <p:nvPr/>
                  </p:nvSpPr>
                  <p:spPr>
                    <a:xfrm>
                      <a:off x="302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56" name="Group 79"/>
                  <p:cNvGrpSpPr/>
                  <p:nvPr/>
                </p:nvGrpSpPr>
                <p:grpSpPr>
                  <a:xfrm>
                    <a:off x="0" y="1053"/>
                    <a:ext cx="772" cy="263"/>
                    <a:chOff x="0" y="0"/>
                    <a:chExt cx="772" cy="263"/>
                  </a:xfrm>
                </p:grpSpPr>
                <p:sp>
                  <p:nvSpPr>
                    <p:cNvPr id="32857" name="Rectangle 80"/>
                    <p:cNvSpPr/>
                    <p:nvPr/>
                  </p:nvSpPr>
                  <p:spPr>
                    <a:xfrm>
                      <a:off x="0" y="0"/>
                      <a:ext cx="772" cy="263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0000" dirty="0"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1 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58" name="Line 81"/>
                    <p:cNvSpPr/>
                    <p:nvPr/>
                  </p:nvSpPr>
                  <p:spPr>
                    <a:xfrm>
                      <a:off x="553" y="0"/>
                      <a:ext cx="0" cy="263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59" name="Line 82"/>
                    <p:cNvSpPr/>
                    <p:nvPr/>
                  </p:nvSpPr>
                  <p:spPr>
                    <a:xfrm>
                      <a:off x="302" y="0"/>
                      <a:ext cx="0" cy="263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sp>
            <p:nvSpPr>
              <p:cNvPr id="32842" name="Rectangle 83"/>
              <p:cNvSpPr/>
              <p:nvPr/>
            </p:nvSpPr>
            <p:spPr>
              <a:xfrm>
                <a:off x="1001" y="1921"/>
                <a:ext cx="1950" cy="2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(b)  Adjacency list, out-degree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2773" name="Group 84"/>
            <p:cNvGrpSpPr/>
            <p:nvPr/>
          </p:nvGrpSpPr>
          <p:grpSpPr>
            <a:xfrm>
              <a:off x="0" y="1899"/>
              <a:ext cx="3012" cy="2154"/>
              <a:chOff x="0" y="0"/>
              <a:chExt cx="3012" cy="2154"/>
            </a:xfrm>
          </p:grpSpPr>
          <p:grpSp>
            <p:nvGrpSpPr>
              <p:cNvPr id="32775" name="Group 85"/>
              <p:cNvGrpSpPr/>
              <p:nvPr/>
            </p:nvGrpSpPr>
            <p:grpSpPr>
              <a:xfrm>
                <a:off x="0" y="0"/>
                <a:ext cx="3012" cy="1848"/>
                <a:chOff x="0" y="0"/>
                <a:chExt cx="3012" cy="1848"/>
              </a:xfrm>
            </p:grpSpPr>
            <p:grpSp>
              <p:nvGrpSpPr>
                <p:cNvPr id="32777" name="Group 86"/>
                <p:cNvGrpSpPr/>
                <p:nvPr/>
              </p:nvGrpSpPr>
              <p:grpSpPr>
                <a:xfrm>
                  <a:off x="1678" y="8"/>
                  <a:ext cx="728" cy="226"/>
                  <a:chOff x="0" y="0"/>
                  <a:chExt cx="728" cy="226"/>
                </a:xfrm>
              </p:grpSpPr>
              <p:grpSp>
                <p:nvGrpSpPr>
                  <p:cNvPr id="32837" name="Group 87"/>
                  <p:cNvGrpSpPr/>
                  <p:nvPr/>
                </p:nvGrpSpPr>
                <p:grpSpPr>
                  <a:xfrm>
                    <a:off x="272" y="0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839" name="Rectangle 88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⋀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40" name="Line 89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838" name="Line 90"/>
                  <p:cNvSpPr/>
                  <p:nvPr/>
                </p:nvSpPr>
                <p:spPr>
                  <a:xfrm>
                    <a:off x="0" y="115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</p:grpSp>
            <p:grpSp>
              <p:nvGrpSpPr>
                <p:cNvPr id="32778" name="Group 91"/>
                <p:cNvGrpSpPr/>
                <p:nvPr/>
              </p:nvGrpSpPr>
              <p:grpSpPr>
                <a:xfrm>
                  <a:off x="1678" y="272"/>
                  <a:ext cx="1334" cy="235"/>
                  <a:chOff x="0" y="0"/>
                  <a:chExt cx="1334" cy="235"/>
                </a:xfrm>
              </p:grpSpPr>
              <p:grpSp>
                <p:nvGrpSpPr>
                  <p:cNvPr id="32829" name="Group 92"/>
                  <p:cNvGrpSpPr/>
                  <p:nvPr/>
                </p:nvGrpSpPr>
                <p:grpSpPr>
                  <a:xfrm>
                    <a:off x="275" y="0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835" name="Rectangle 93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36" name="Line 94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830" name="Line 95"/>
                  <p:cNvSpPr/>
                  <p:nvPr/>
                </p:nvSpPr>
                <p:spPr>
                  <a:xfrm>
                    <a:off x="0" y="123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  <p:grpSp>
                <p:nvGrpSpPr>
                  <p:cNvPr id="32831" name="Group 96"/>
                  <p:cNvGrpSpPr/>
                  <p:nvPr/>
                </p:nvGrpSpPr>
                <p:grpSpPr>
                  <a:xfrm>
                    <a:off x="878" y="9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833" name="Rectangle 97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⋀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34" name="Line 98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832" name="Line 99"/>
                  <p:cNvSpPr/>
                  <p:nvPr/>
                </p:nvSpPr>
                <p:spPr>
                  <a:xfrm>
                    <a:off x="603" y="124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</p:grpSp>
            <p:grpSp>
              <p:nvGrpSpPr>
                <p:cNvPr id="32779" name="Group 100"/>
                <p:cNvGrpSpPr/>
                <p:nvPr/>
              </p:nvGrpSpPr>
              <p:grpSpPr>
                <a:xfrm>
                  <a:off x="1678" y="1103"/>
                  <a:ext cx="729" cy="226"/>
                  <a:chOff x="0" y="0"/>
                  <a:chExt cx="729" cy="226"/>
                </a:xfrm>
              </p:grpSpPr>
              <p:grpSp>
                <p:nvGrpSpPr>
                  <p:cNvPr id="32825" name="Group 101"/>
                  <p:cNvGrpSpPr/>
                  <p:nvPr/>
                </p:nvGrpSpPr>
                <p:grpSpPr>
                  <a:xfrm>
                    <a:off x="273" y="0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827" name="Rectangle 102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⋀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28" name="Line 103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826" name="Line 104"/>
                  <p:cNvSpPr/>
                  <p:nvPr/>
                </p:nvSpPr>
                <p:spPr>
                  <a:xfrm>
                    <a:off x="0" y="120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</p:grpSp>
            <p:sp>
              <p:nvSpPr>
                <p:cNvPr id="32780" name="Rectangle 105"/>
                <p:cNvSpPr/>
                <p:nvPr/>
              </p:nvSpPr>
              <p:spPr>
                <a:xfrm>
                  <a:off x="769" y="0"/>
                  <a:ext cx="226" cy="13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lnSpc>
                      <a:spcPct val="11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  <a:p>
                  <a:pPr marL="0" lvl="0" indent="0" eaLnBrk="1" hangingPunct="1">
                    <a:lnSpc>
                      <a:spcPct val="11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  <a:p>
                  <a:pPr marL="0" lvl="0" indent="0" eaLnBrk="1" hangingPunct="1">
                    <a:lnSpc>
                      <a:spcPct val="11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  <a:p>
                  <a:pPr marL="0" lvl="0" indent="0" eaLnBrk="1" hangingPunct="1">
                    <a:lnSpc>
                      <a:spcPct val="11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  <a:p>
                  <a:pPr marL="0" lvl="0" indent="0" eaLnBrk="1" hangingPunct="1">
                    <a:lnSpc>
                      <a:spcPct val="11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781" name="Rectangle 106"/>
                <p:cNvSpPr/>
                <p:nvPr/>
              </p:nvSpPr>
              <p:spPr>
                <a:xfrm>
                  <a:off x="0" y="1604"/>
                  <a:ext cx="998" cy="2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MAX_VEX-1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2782" name="Group 107"/>
                <p:cNvGrpSpPr/>
                <p:nvPr/>
              </p:nvGrpSpPr>
              <p:grpSpPr>
                <a:xfrm>
                  <a:off x="1043" y="7"/>
                  <a:ext cx="772" cy="1841"/>
                  <a:chOff x="0" y="0"/>
                  <a:chExt cx="772" cy="1841"/>
                </a:xfrm>
              </p:grpSpPr>
              <p:grpSp>
                <p:nvGrpSpPr>
                  <p:cNvPr id="32797" name="Group 108"/>
                  <p:cNvGrpSpPr/>
                  <p:nvPr/>
                </p:nvGrpSpPr>
                <p:grpSpPr>
                  <a:xfrm>
                    <a:off x="0" y="0"/>
                    <a:ext cx="772" cy="262"/>
                    <a:chOff x="0" y="0"/>
                    <a:chExt cx="772" cy="262"/>
                  </a:xfrm>
                </p:grpSpPr>
                <p:sp>
                  <p:nvSpPr>
                    <p:cNvPr id="32822" name="Rectangle 109"/>
                    <p:cNvSpPr/>
                    <p:nvPr/>
                  </p:nvSpPr>
                  <p:spPr>
                    <a:xfrm>
                      <a:off x="0" y="0"/>
                      <a:ext cx="772" cy="26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0000" dirty="0"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 1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23" name="Line 110"/>
                    <p:cNvSpPr/>
                    <p:nvPr/>
                  </p:nvSpPr>
                  <p:spPr>
                    <a:xfrm>
                      <a:off x="553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24" name="Line 111"/>
                    <p:cNvSpPr/>
                    <p:nvPr/>
                  </p:nvSpPr>
                  <p:spPr>
                    <a:xfrm>
                      <a:off x="302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798" name="Group 112"/>
                  <p:cNvGrpSpPr/>
                  <p:nvPr/>
                </p:nvGrpSpPr>
                <p:grpSpPr>
                  <a:xfrm>
                    <a:off x="0" y="263"/>
                    <a:ext cx="772" cy="263"/>
                    <a:chOff x="0" y="0"/>
                    <a:chExt cx="772" cy="263"/>
                  </a:xfrm>
                </p:grpSpPr>
                <p:sp>
                  <p:nvSpPr>
                    <p:cNvPr id="32819" name="Rectangle 113"/>
                    <p:cNvSpPr/>
                    <p:nvPr/>
                  </p:nvSpPr>
                  <p:spPr>
                    <a:xfrm>
                      <a:off x="0" y="0"/>
                      <a:ext cx="772" cy="263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0000" dirty="0">
                          <a:latin typeface="Times New Roman" panose="02020603050405020304" pitchFamily="18" charset="0"/>
                        </a:rPr>
                        <a:t>1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2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20" name="Line 114"/>
                    <p:cNvSpPr/>
                    <p:nvPr/>
                  </p:nvSpPr>
                  <p:spPr>
                    <a:xfrm>
                      <a:off x="553" y="0"/>
                      <a:ext cx="0" cy="263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21" name="Line 115"/>
                    <p:cNvSpPr/>
                    <p:nvPr/>
                  </p:nvSpPr>
                  <p:spPr>
                    <a:xfrm>
                      <a:off x="302" y="0"/>
                      <a:ext cx="0" cy="263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799" name="Group 116"/>
                  <p:cNvGrpSpPr/>
                  <p:nvPr/>
                </p:nvGrpSpPr>
                <p:grpSpPr>
                  <a:xfrm>
                    <a:off x="0" y="527"/>
                    <a:ext cx="772" cy="262"/>
                    <a:chOff x="0" y="0"/>
                    <a:chExt cx="772" cy="262"/>
                  </a:xfrm>
                </p:grpSpPr>
                <p:sp>
                  <p:nvSpPr>
                    <p:cNvPr id="32816" name="Rectangle 117"/>
                    <p:cNvSpPr/>
                    <p:nvPr/>
                  </p:nvSpPr>
                  <p:spPr>
                    <a:xfrm>
                      <a:off x="0" y="0"/>
                      <a:ext cx="772" cy="26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0000" dirty="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 1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17" name="Line 118"/>
                    <p:cNvSpPr/>
                    <p:nvPr/>
                  </p:nvSpPr>
                  <p:spPr>
                    <a:xfrm>
                      <a:off x="553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18" name="Line 119"/>
                    <p:cNvSpPr/>
                    <p:nvPr/>
                  </p:nvSpPr>
                  <p:spPr>
                    <a:xfrm>
                      <a:off x="302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00" name="Group 120"/>
                  <p:cNvGrpSpPr/>
                  <p:nvPr/>
                </p:nvGrpSpPr>
                <p:grpSpPr>
                  <a:xfrm>
                    <a:off x="0" y="790"/>
                    <a:ext cx="772" cy="262"/>
                    <a:chOff x="0" y="0"/>
                    <a:chExt cx="772" cy="262"/>
                  </a:xfrm>
                </p:grpSpPr>
                <p:sp>
                  <p:nvSpPr>
                    <p:cNvPr id="32813" name="Rectangle 121"/>
                    <p:cNvSpPr/>
                    <p:nvPr/>
                  </p:nvSpPr>
                  <p:spPr>
                    <a:xfrm>
                      <a:off x="0" y="0"/>
                      <a:ext cx="772" cy="26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0000" dirty="0"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 2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14" name="Line 122"/>
                    <p:cNvSpPr/>
                    <p:nvPr/>
                  </p:nvSpPr>
                  <p:spPr>
                    <a:xfrm>
                      <a:off x="553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15" name="Line 123"/>
                    <p:cNvSpPr/>
                    <p:nvPr/>
                  </p:nvSpPr>
                  <p:spPr>
                    <a:xfrm>
                      <a:off x="302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01" name="Group 124"/>
                  <p:cNvGrpSpPr/>
                  <p:nvPr/>
                </p:nvGrpSpPr>
                <p:grpSpPr>
                  <a:xfrm>
                    <a:off x="0" y="1317"/>
                    <a:ext cx="772" cy="262"/>
                    <a:chOff x="0" y="0"/>
                    <a:chExt cx="772" cy="262"/>
                  </a:xfrm>
                </p:grpSpPr>
                <p:sp>
                  <p:nvSpPr>
                    <p:cNvPr id="32810" name="Rectangle 125"/>
                    <p:cNvSpPr/>
                    <p:nvPr/>
                  </p:nvSpPr>
                  <p:spPr>
                    <a:xfrm>
                      <a:off x="0" y="0"/>
                      <a:ext cx="772" cy="26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宋体" panose="02010600030101010101" pitchFamily="2" charset="-122"/>
                        </a:rPr>
                        <a:t>┇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┇ ┇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11" name="Line 126"/>
                    <p:cNvSpPr/>
                    <p:nvPr/>
                  </p:nvSpPr>
                  <p:spPr>
                    <a:xfrm>
                      <a:off x="553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12" name="Line 127"/>
                    <p:cNvSpPr/>
                    <p:nvPr/>
                  </p:nvSpPr>
                  <p:spPr>
                    <a:xfrm>
                      <a:off x="302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02" name="Group 128"/>
                  <p:cNvGrpSpPr/>
                  <p:nvPr/>
                </p:nvGrpSpPr>
                <p:grpSpPr>
                  <a:xfrm>
                    <a:off x="0" y="1579"/>
                    <a:ext cx="772" cy="262"/>
                    <a:chOff x="0" y="0"/>
                    <a:chExt cx="772" cy="262"/>
                  </a:xfrm>
                </p:grpSpPr>
                <p:sp>
                  <p:nvSpPr>
                    <p:cNvPr id="32807" name="Rectangle 129"/>
                    <p:cNvSpPr/>
                    <p:nvPr/>
                  </p:nvSpPr>
                  <p:spPr>
                    <a:xfrm>
                      <a:off x="0" y="0"/>
                      <a:ext cx="772" cy="262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08" name="Line 130"/>
                    <p:cNvSpPr/>
                    <p:nvPr/>
                  </p:nvSpPr>
                  <p:spPr>
                    <a:xfrm>
                      <a:off x="553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09" name="Line 131"/>
                    <p:cNvSpPr/>
                    <p:nvPr/>
                  </p:nvSpPr>
                  <p:spPr>
                    <a:xfrm>
                      <a:off x="302" y="0"/>
                      <a:ext cx="0" cy="2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2803" name="Group 132"/>
                  <p:cNvGrpSpPr/>
                  <p:nvPr/>
                </p:nvGrpSpPr>
                <p:grpSpPr>
                  <a:xfrm>
                    <a:off x="0" y="1053"/>
                    <a:ext cx="772" cy="263"/>
                    <a:chOff x="0" y="0"/>
                    <a:chExt cx="772" cy="263"/>
                  </a:xfrm>
                </p:grpSpPr>
                <p:sp>
                  <p:nvSpPr>
                    <p:cNvPr id="32804" name="Rectangle 133"/>
                    <p:cNvSpPr/>
                    <p:nvPr/>
                  </p:nvSpPr>
                  <p:spPr>
                    <a:xfrm>
                      <a:off x="0" y="0"/>
                      <a:ext cx="772" cy="263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0000" dirty="0"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1 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805" name="Line 134"/>
                    <p:cNvSpPr/>
                    <p:nvPr/>
                  </p:nvSpPr>
                  <p:spPr>
                    <a:xfrm>
                      <a:off x="553" y="0"/>
                      <a:ext cx="0" cy="263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2806" name="Line 135"/>
                    <p:cNvSpPr/>
                    <p:nvPr/>
                  </p:nvSpPr>
                  <p:spPr>
                    <a:xfrm>
                      <a:off x="302" y="0"/>
                      <a:ext cx="0" cy="263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32783" name="Group 136"/>
                <p:cNvGrpSpPr/>
                <p:nvPr/>
              </p:nvGrpSpPr>
              <p:grpSpPr>
                <a:xfrm>
                  <a:off x="1678" y="560"/>
                  <a:ext cx="729" cy="226"/>
                  <a:chOff x="0" y="0"/>
                  <a:chExt cx="729" cy="226"/>
                </a:xfrm>
              </p:grpSpPr>
              <p:grpSp>
                <p:nvGrpSpPr>
                  <p:cNvPr id="32793" name="Group 137"/>
                  <p:cNvGrpSpPr/>
                  <p:nvPr/>
                </p:nvGrpSpPr>
                <p:grpSpPr>
                  <a:xfrm>
                    <a:off x="273" y="0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795" name="Rectangle 138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⋀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796" name="Line 139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794" name="Line 140"/>
                  <p:cNvSpPr/>
                  <p:nvPr/>
                </p:nvSpPr>
                <p:spPr>
                  <a:xfrm>
                    <a:off x="0" y="120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</p:grpSp>
            <p:grpSp>
              <p:nvGrpSpPr>
                <p:cNvPr id="32784" name="Group 141"/>
                <p:cNvGrpSpPr/>
                <p:nvPr/>
              </p:nvGrpSpPr>
              <p:grpSpPr>
                <a:xfrm>
                  <a:off x="1678" y="824"/>
                  <a:ext cx="1334" cy="235"/>
                  <a:chOff x="0" y="0"/>
                  <a:chExt cx="1334" cy="235"/>
                </a:xfrm>
              </p:grpSpPr>
              <p:grpSp>
                <p:nvGrpSpPr>
                  <p:cNvPr id="32785" name="Group 142"/>
                  <p:cNvGrpSpPr/>
                  <p:nvPr/>
                </p:nvGrpSpPr>
                <p:grpSpPr>
                  <a:xfrm>
                    <a:off x="275" y="0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791" name="Rectangle 143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792" name="Line 144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786" name="Line 145"/>
                  <p:cNvSpPr/>
                  <p:nvPr/>
                </p:nvSpPr>
                <p:spPr>
                  <a:xfrm>
                    <a:off x="0" y="123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  <p:grpSp>
                <p:nvGrpSpPr>
                  <p:cNvPr id="32787" name="Group 146"/>
                  <p:cNvGrpSpPr/>
                  <p:nvPr/>
                </p:nvGrpSpPr>
                <p:grpSpPr>
                  <a:xfrm>
                    <a:off x="878" y="9"/>
                    <a:ext cx="456" cy="226"/>
                    <a:chOff x="0" y="0"/>
                    <a:chExt cx="456" cy="226"/>
                  </a:xfrm>
                </p:grpSpPr>
                <p:sp>
                  <p:nvSpPr>
                    <p:cNvPr id="32789" name="Rectangle 147"/>
                    <p:cNvSpPr/>
                    <p:nvPr/>
                  </p:nvSpPr>
                  <p:spPr>
                    <a:xfrm>
                      <a:off x="0" y="0"/>
                      <a:ext cx="456" cy="226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⋀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790" name="Line 148"/>
                    <p:cNvSpPr/>
                    <p:nvPr/>
                  </p:nvSpPr>
                  <p:spPr>
                    <a:xfrm>
                      <a:off x="251" y="0"/>
                      <a:ext cx="0" cy="22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2788" name="Line 149"/>
                  <p:cNvSpPr/>
                  <p:nvPr/>
                </p:nvSpPr>
                <p:spPr>
                  <a:xfrm>
                    <a:off x="603" y="124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arrow" w="med" len="med"/>
                  </a:ln>
                </p:spPr>
              </p:sp>
            </p:grpSp>
          </p:grpSp>
          <p:sp>
            <p:nvSpPr>
              <p:cNvPr id="32776" name="Rectangle 150"/>
              <p:cNvSpPr/>
              <p:nvPr/>
            </p:nvSpPr>
            <p:spPr>
              <a:xfrm>
                <a:off x="521" y="1950"/>
                <a:ext cx="1950" cy="2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(c)  Inverse adjacency list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in-degree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2774" name="Rectangle 151"/>
            <p:cNvSpPr/>
            <p:nvPr/>
          </p:nvSpPr>
          <p:spPr>
            <a:xfrm>
              <a:off x="3107" y="3940"/>
              <a:ext cx="2040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Space Complexity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Adjacency Matrix</a:t>
            </a: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O(|V|</a:t>
            </a:r>
            <a:r>
              <a:rPr kumimoji="0" lang="en-US" altLang="zh-CN" sz="3200" b="0" i="0" u="none" strike="noStrike" kern="1200" cap="none" spc="0" normalizeH="0" baseline="30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Adjacency List</a:t>
            </a: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O(|V|+|E|)</a:t>
            </a: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5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8031</Words>
  <Application>WPS 演示</Application>
  <PresentationFormat>全屏显示(4:3)</PresentationFormat>
  <Paragraphs>776</Paragraphs>
  <Slides>29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21</vt:i4>
      </vt:variant>
      <vt:variant>
        <vt:lpstr>幻灯片标题</vt:lpstr>
      </vt:variant>
      <vt:variant>
        <vt:i4>29</vt:i4>
      </vt:variant>
    </vt:vector>
  </HeadingPairs>
  <TitlesOfParts>
    <vt:vector size="67" baseType="lpstr">
      <vt:lpstr>Arial</vt:lpstr>
      <vt:lpstr>宋体</vt:lpstr>
      <vt:lpstr>Wingdings</vt:lpstr>
      <vt:lpstr>Comic Sans MS</vt:lpstr>
      <vt:lpstr>TimesNewRoman</vt:lpstr>
      <vt:lpstr>Segoe Print</vt:lpstr>
      <vt:lpstr>Times New Roman</vt:lpstr>
      <vt:lpstr>Symbol</vt:lpstr>
      <vt:lpstr>微软雅黑</vt:lpstr>
      <vt:lpstr>Arial Unicode MS</vt:lpstr>
      <vt:lpstr>Calibri</vt:lpstr>
      <vt:lpstr>楷体_GB2312</vt:lpstr>
      <vt:lpstr>Tahoma</vt:lpstr>
      <vt:lpstr>PMingLiU</vt:lpstr>
      <vt:lpstr>MingLiU-ExtB</vt:lpstr>
      <vt:lpstr>新宋体</vt:lpstr>
      <vt:lpstr>Crayons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Paint.Picture</vt:lpstr>
      <vt:lpstr>Equation.3</vt:lpstr>
      <vt:lpstr>SmartDraw.2</vt:lpstr>
      <vt:lpstr>SmartDraw.2</vt:lpstr>
      <vt:lpstr>SmartDraw.2</vt:lpstr>
      <vt:lpstr>SmartDraw.2</vt:lpstr>
      <vt:lpstr>Equation.3</vt:lpstr>
      <vt:lpstr>Equation.3</vt:lpstr>
      <vt:lpstr>Equation.3</vt:lpstr>
      <vt:lpstr>Chap.9 Graph(I)</vt:lpstr>
      <vt:lpstr>Graph 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 </vt:lpstr>
      <vt:lpstr>Adjacency Matrix （邻接矩阵）</vt:lpstr>
      <vt:lpstr>Adjacency Matrix</vt:lpstr>
      <vt:lpstr>Adjacency Matrix For an Undirected Graph</vt:lpstr>
      <vt:lpstr>Adjacency Matrix For a Digraph</vt:lpstr>
      <vt:lpstr>Matrix Representation of Graphs</vt:lpstr>
      <vt:lpstr>Operations on Matrix Representation of Graphs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Adjacency List</vt:lpstr>
      <vt:lpstr>PowerPoint 演示文稿</vt:lpstr>
      <vt:lpstr>PowerPoint 演示文稿</vt:lpstr>
      <vt:lpstr>PowerPoint 演示文稿</vt:lpstr>
      <vt:lpstr>Space Complexity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Chap.9 Graph</dc:title>
  <dc:creator>127593@cnmicrosoft.net</dc:creator>
  <cp:lastModifiedBy>Yan</cp:lastModifiedBy>
  <cp:revision>78</cp:revision>
  <dcterms:created xsi:type="dcterms:W3CDTF">2016-10-27T00:51:00Z</dcterms:created>
  <dcterms:modified xsi:type="dcterms:W3CDTF">2025-11-10T08:38:44Z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98CE9B9FF8A345DBB6D9312345B5ED43_12</vt:lpwstr>
  </property>
</Properties>
</file>