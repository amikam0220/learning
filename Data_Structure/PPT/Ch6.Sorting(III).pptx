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6" r:id="rId3"/>
    <p:sldId id="289" r:id="rId4"/>
    <p:sldId id="290" r:id="rId5"/>
    <p:sldId id="291" r:id="rId6"/>
    <p:sldId id="332" r:id="rId7"/>
    <p:sldId id="294" r:id="rId8"/>
    <p:sldId id="367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12" r:id="rId23"/>
    <p:sldId id="308" r:id="rId24"/>
    <p:sldId id="309" r:id="rId25"/>
    <p:sldId id="310" r:id="rId26"/>
    <p:sldId id="313" r:id="rId27"/>
    <p:sldId id="311" r:id="rId28"/>
    <p:sldId id="314" r:id="rId29"/>
    <p:sldId id="316" r:id="rId30"/>
    <p:sldId id="317" r:id="rId31"/>
    <p:sldId id="318" r:id="rId32"/>
    <p:sldId id="319" r:id="rId33"/>
    <p:sldId id="321" r:id="rId34"/>
    <p:sldId id="322" r:id="rId35"/>
    <p:sldId id="323" r:id="rId36"/>
    <p:sldId id="324" r:id="rId37"/>
    <p:sldId id="326" r:id="rId38"/>
    <p:sldId id="327" r:id="rId39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9D3"/>
    <a:srgbClr val="FFFC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6046"/>
  </p:normalViewPr>
  <p:slideViewPr>
    <p:cSldViewPr showGuides="1">
      <p:cViewPr varScale="1">
        <p:scale>
          <a:sx n="75" d="100"/>
          <a:sy n="75" d="100"/>
        </p:scale>
        <p:origin x="1666" y="58"/>
      </p:cViewPr>
      <p:guideLst>
        <p:guide orient="horz" pos="2144"/>
        <p:guide pos="285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4" name="Rectangle 4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D47A7A2-18A2-4C2B-A84A-4CD7B6259F0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 2"/>
          <p:cNvSpPr>
            <a:spLocks noChangeArrowheads="1"/>
          </p:cNvSpPr>
          <p:nvPr/>
        </p:nvSpPr>
        <p:spPr bwMode="auto">
          <a:xfrm>
            <a:off x="20638" y="12700"/>
            <a:ext cx="8896350" cy="6780213"/>
          </a:xfrm>
          <a:custGeom>
            <a:avLst/>
            <a:gdLst>
              <a:gd name="T0" fmla="*/ 2822 w 3985"/>
              <a:gd name="T1" fmla="*/ 0 h 3619"/>
              <a:gd name="T2" fmla="*/ 0 w 3985"/>
              <a:gd name="T3" fmla="*/ 975 h 3619"/>
              <a:gd name="T4" fmla="*/ 2169 w 3985"/>
              <a:gd name="T5" fmla="*/ 3619 h 3619"/>
              <a:gd name="T6" fmla="*/ 3985 w 3985"/>
              <a:gd name="T7" fmla="*/ 1125 h 3619"/>
              <a:gd name="T8" fmla="*/ 2822 w 3985"/>
              <a:gd name="T9" fmla="*/ 0 h 36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85" h="3619">
                <a:moveTo>
                  <a:pt x="2822" y="0"/>
                </a:moveTo>
                <a:lnTo>
                  <a:pt x="0" y="975"/>
                </a:lnTo>
                <a:lnTo>
                  <a:pt x="2169" y="3619"/>
                </a:lnTo>
                <a:lnTo>
                  <a:pt x="3985" y="1125"/>
                </a:lnTo>
                <a:lnTo>
                  <a:pt x="282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1" name="Group 8"/>
          <p:cNvGrpSpPr/>
          <p:nvPr/>
        </p:nvGrpSpPr>
        <p:grpSpPr>
          <a:xfrm>
            <a:off x="195263" y="234950"/>
            <a:ext cx="3787775" cy="1778000"/>
            <a:chOff x="123" y="148"/>
            <a:chExt cx="2386" cy="1120"/>
          </a:xfrm>
        </p:grpSpPr>
        <p:sp>
          <p:nvSpPr>
            <p:cNvPr id="55" name="Freeform 9"/>
            <p:cNvSpPr>
              <a:spLocks noChangeArrowheads="1"/>
            </p:cNvSpPr>
            <p:nvPr/>
          </p:nvSpPr>
          <p:spPr bwMode="auto">
            <a:xfrm>
              <a:off x="177" y="177"/>
              <a:ext cx="2250" cy="1017"/>
            </a:xfrm>
            <a:custGeom>
              <a:avLst/>
              <a:gdLst>
                <a:gd name="T0" fmla="*/ 794 w 794"/>
                <a:gd name="T1" fmla="*/ 395 h 414"/>
                <a:gd name="T2" fmla="*/ 710 w 794"/>
                <a:gd name="T3" fmla="*/ 318 h 414"/>
                <a:gd name="T4" fmla="*/ 556 w 794"/>
                <a:gd name="T5" fmla="*/ 210 h 414"/>
                <a:gd name="T6" fmla="*/ 71 w 794"/>
                <a:gd name="T7" fmla="*/ 0 h 414"/>
                <a:gd name="T8" fmla="*/ 23 w 794"/>
                <a:gd name="T9" fmla="*/ 20 h 414"/>
                <a:gd name="T10" fmla="*/ 0 w 794"/>
                <a:gd name="T11" fmla="*/ 83 h 414"/>
                <a:gd name="T12" fmla="*/ 28 w 794"/>
                <a:gd name="T13" fmla="*/ 155 h 414"/>
                <a:gd name="T14" fmla="*/ 570 w 794"/>
                <a:gd name="T15" fmla="*/ 409 h 414"/>
                <a:gd name="T16" fmla="*/ 689 w 794"/>
                <a:gd name="T17" fmla="*/ 393 h 414"/>
                <a:gd name="T18" fmla="*/ 785 w 794"/>
                <a:gd name="T19" fmla="*/ 414 h 414"/>
                <a:gd name="T20" fmla="*/ 794 w 794"/>
                <a:gd name="T21" fmla="*/ 395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Freeform 10"/>
            <p:cNvSpPr>
              <a:spLocks noChangeArrowheads="1"/>
            </p:cNvSpPr>
            <p:nvPr/>
          </p:nvSpPr>
          <p:spPr bwMode="auto">
            <a:xfrm>
              <a:off x="166" y="261"/>
              <a:ext cx="2244" cy="1007"/>
            </a:xfrm>
            <a:custGeom>
              <a:avLst/>
              <a:gdLst>
                <a:gd name="T0" fmla="*/ 137 w 1586"/>
                <a:gd name="T1" fmla="*/ 0 h 821"/>
                <a:gd name="T2" fmla="*/ 1331 w 1586"/>
                <a:gd name="T3" fmla="*/ 519 h 821"/>
                <a:gd name="T4" fmla="*/ 1428 w 1586"/>
                <a:gd name="T5" fmla="*/ 638 h 821"/>
                <a:gd name="T6" fmla="*/ 1586 w 1586"/>
                <a:gd name="T7" fmla="*/ 792 h 821"/>
                <a:gd name="T8" fmla="*/ 1565 w 1586"/>
                <a:gd name="T9" fmla="*/ 821 h 821"/>
                <a:gd name="T10" fmla="*/ 1350 w 1586"/>
                <a:gd name="T11" fmla="*/ 787 h 821"/>
                <a:gd name="T12" fmla="*/ 1145 w 1586"/>
                <a:gd name="T13" fmla="*/ 811 h 821"/>
                <a:gd name="T14" fmla="*/ 42 w 1586"/>
                <a:gd name="T15" fmla="*/ 298 h 821"/>
                <a:gd name="T16" fmla="*/ 0 w 1586"/>
                <a:gd name="T17" fmla="*/ 150 h 821"/>
                <a:gd name="T18" fmla="*/ 46 w 1586"/>
                <a:gd name="T19" fmla="*/ 32 h 821"/>
                <a:gd name="T20" fmla="*/ 137 w 1586"/>
                <a:gd name="T21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Freeform 11"/>
            <p:cNvSpPr>
              <a:spLocks noChangeArrowheads="1"/>
            </p:cNvSpPr>
            <p:nvPr/>
          </p:nvSpPr>
          <p:spPr bwMode="auto">
            <a:xfrm>
              <a:off x="474" y="344"/>
              <a:ext cx="1488" cy="919"/>
            </a:xfrm>
            <a:custGeom>
              <a:avLst/>
              <a:gdLst>
                <a:gd name="T0" fmla="*/ 0 w 1049"/>
                <a:gd name="T1" fmla="*/ 325 h 747"/>
                <a:gd name="T2" fmla="*/ 922 w 1049"/>
                <a:gd name="T3" fmla="*/ 747 h 747"/>
                <a:gd name="T4" fmla="*/ 939 w 1049"/>
                <a:gd name="T5" fmla="*/ 534 h 747"/>
                <a:gd name="T6" fmla="*/ 1049 w 1049"/>
                <a:gd name="T7" fmla="*/ 422 h 747"/>
                <a:gd name="T8" fmla="*/ 78 w 1049"/>
                <a:gd name="T9" fmla="*/ 0 h 747"/>
                <a:gd name="T10" fmla="*/ 0 w 1049"/>
                <a:gd name="T11" fmla="*/ 127 h 747"/>
                <a:gd name="T12" fmla="*/ 0 w 1049"/>
                <a:gd name="T13" fmla="*/ 325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72" name="Group 12"/>
            <p:cNvGrpSpPr/>
            <p:nvPr userDrawn="1"/>
          </p:nvGrpSpPr>
          <p:grpSpPr>
            <a:xfrm>
              <a:off x="123" y="148"/>
              <a:ext cx="2386" cy="1081"/>
              <a:chOff x="123" y="148"/>
              <a:chExt cx="2386" cy="1081"/>
            </a:xfrm>
          </p:grpSpPr>
          <p:sp>
            <p:nvSpPr>
              <p:cNvPr id="59" name="Freeform 13"/>
              <p:cNvSpPr>
                <a:spLocks noChangeArrowheads="1"/>
              </p:cNvSpPr>
              <p:nvPr/>
            </p:nvSpPr>
            <p:spPr bwMode="auto">
              <a:xfrm>
                <a:off x="2005" y="934"/>
                <a:ext cx="212" cy="214"/>
              </a:xfrm>
              <a:custGeom>
                <a:avLst/>
                <a:gdLst>
                  <a:gd name="T0" fmla="*/ 110 w 150"/>
                  <a:gd name="T1" fmla="*/ 0 h 173"/>
                  <a:gd name="T2" fmla="*/ 40 w 150"/>
                  <a:gd name="T3" fmla="*/ 66 h 173"/>
                  <a:gd name="T4" fmla="*/ 0 w 150"/>
                  <a:gd name="T5" fmla="*/ 173 h 173"/>
                  <a:gd name="T6" fmla="*/ 80 w 150"/>
                  <a:gd name="T7" fmla="*/ 160 h 173"/>
                  <a:gd name="T8" fmla="*/ 103 w 150"/>
                  <a:gd name="T9" fmla="*/ 84 h 173"/>
                  <a:gd name="T10" fmla="*/ 150 w 150"/>
                  <a:gd name="T11" fmla="*/ 27 h 173"/>
                  <a:gd name="T12" fmla="*/ 110 w 150"/>
                  <a:gd name="T13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" name="Freeform 14"/>
              <p:cNvSpPr>
                <a:spLocks noChangeArrowheads="1"/>
              </p:cNvSpPr>
              <p:nvPr/>
            </p:nvSpPr>
            <p:spPr bwMode="auto">
              <a:xfrm>
                <a:off x="123" y="148"/>
                <a:ext cx="2386" cy="1081"/>
              </a:xfrm>
              <a:custGeom>
                <a:avLst/>
                <a:gdLst>
                  <a:gd name="T0" fmla="*/ 156 w 1684"/>
                  <a:gd name="T1" fmla="*/ 0 h 880"/>
                  <a:gd name="T2" fmla="*/ 63 w 1684"/>
                  <a:gd name="T3" fmla="*/ 52 h 880"/>
                  <a:gd name="T4" fmla="*/ 0 w 1684"/>
                  <a:gd name="T5" fmla="*/ 208 h 880"/>
                  <a:gd name="T6" fmla="*/ 67 w 1684"/>
                  <a:gd name="T7" fmla="*/ 358 h 880"/>
                  <a:gd name="T8" fmla="*/ 1182 w 1684"/>
                  <a:gd name="T9" fmla="*/ 867 h 880"/>
                  <a:gd name="T10" fmla="*/ 1422 w 1684"/>
                  <a:gd name="T11" fmla="*/ 835 h 880"/>
                  <a:gd name="T12" fmla="*/ 1616 w 1684"/>
                  <a:gd name="T13" fmla="*/ 880 h 880"/>
                  <a:gd name="T14" fmla="*/ 1684 w 1684"/>
                  <a:gd name="T15" fmla="*/ 808 h 880"/>
                  <a:gd name="T16" fmla="*/ 1502 w 1684"/>
                  <a:gd name="T17" fmla="*/ 664 h 880"/>
                  <a:gd name="T18" fmla="*/ 1428 w 1684"/>
                  <a:gd name="T19" fmla="*/ 512 h 880"/>
                  <a:gd name="T20" fmla="*/ 1369 w 1684"/>
                  <a:gd name="T21" fmla="*/ 527 h 880"/>
                  <a:gd name="T22" fmla="*/ 1439 w 1684"/>
                  <a:gd name="T23" fmla="*/ 664 h 880"/>
                  <a:gd name="T24" fmla="*/ 1578 w 1684"/>
                  <a:gd name="T25" fmla="*/ 810 h 880"/>
                  <a:gd name="T26" fmla="*/ 1413 w 1684"/>
                  <a:gd name="T27" fmla="*/ 787 h 880"/>
                  <a:gd name="T28" fmla="*/ 1219 w 1684"/>
                  <a:gd name="T29" fmla="*/ 814 h 880"/>
                  <a:gd name="T30" fmla="*/ 1255 w 1684"/>
                  <a:gd name="T31" fmla="*/ 650 h 880"/>
                  <a:gd name="T32" fmla="*/ 1338 w 1684"/>
                  <a:gd name="T33" fmla="*/ 538 h 880"/>
                  <a:gd name="T34" fmla="*/ 1241 w 1684"/>
                  <a:gd name="T35" fmla="*/ 552 h 880"/>
                  <a:gd name="T36" fmla="*/ 1165 w 1684"/>
                  <a:gd name="T37" fmla="*/ 658 h 880"/>
                  <a:gd name="T38" fmla="*/ 1139 w 1684"/>
                  <a:gd name="T39" fmla="*/ 791 h 880"/>
                  <a:gd name="T40" fmla="*/ 107 w 1684"/>
                  <a:gd name="T41" fmla="*/ 310 h 880"/>
                  <a:gd name="T42" fmla="*/ 80 w 1684"/>
                  <a:gd name="T43" fmla="*/ 215 h 880"/>
                  <a:gd name="T44" fmla="*/ 103 w 1684"/>
                  <a:gd name="T45" fmla="*/ 95 h 880"/>
                  <a:gd name="T46" fmla="*/ 217 w 1684"/>
                  <a:gd name="T47" fmla="*/ 0 h 880"/>
                  <a:gd name="T48" fmla="*/ 156 w 1684"/>
                  <a:gd name="T49" fmla="*/ 0 h 8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" name="Freeform 15"/>
              <p:cNvSpPr>
                <a:spLocks noChangeArrowheads="1"/>
              </p:cNvSpPr>
              <p:nvPr/>
            </p:nvSpPr>
            <p:spPr bwMode="auto">
              <a:xfrm>
                <a:off x="324" y="158"/>
                <a:ext cx="1686" cy="614"/>
              </a:xfrm>
              <a:custGeom>
                <a:avLst/>
                <a:gdLst>
                  <a:gd name="T0" fmla="*/ 100 w 1190"/>
                  <a:gd name="T1" fmla="*/ 0 h 500"/>
                  <a:gd name="T2" fmla="*/ 1190 w 1190"/>
                  <a:gd name="T3" fmla="*/ 490 h 500"/>
                  <a:gd name="T4" fmla="*/ 1076 w 1190"/>
                  <a:gd name="T5" fmla="*/ 500 h 500"/>
                  <a:gd name="T6" fmla="*/ 0 w 1190"/>
                  <a:gd name="T7" fmla="*/ 27 h 500"/>
                  <a:gd name="T8" fmla="*/ 100 w 1190"/>
                  <a:gd name="T9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" name="Freeform 16"/>
              <p:cNvSpPr>
                <a:spLocks noChangeArrowheads="1"/>
              </p:cNvSpPr>
              <p:nvPr/>
            </p:nvSpPr>
            <p:spPr bwMode="auto">
              <a:xfrm>
                <a:off x="409" y="251"/>
                <a:ext cx="227" cy="410"/>
              </a:xfrm>
              <a:custGeom>
                <a:avLst/>
                <a:gdLst>
                  <a:gd name="T0" fmla="*/ 116 w 160"/>
                  <a:gd name="T1" fmla="*/ 0 h 335"/>
                  <a:gd name="T2" fmla="*/ 19 w 160"/>
                  <a:gd name="T3" fmla="*/ 106 h 335"/>
                  <a:gd name="T4" fmla="*/ 0 w 160"/>
                  <a:gd name="T5" fmla="*/ 230 h 335"/>
                  <a:gd name="T6" fmla="*/ 33 w 160"/>
                  <a:gd name="T7" fmla="*/ 314 h 335"/>
                  <a:gd name="T8" fmla="*/ 94 w 160"/>
                  <a:gd name="T9" fmla="*/ 335 h 335"/>
                  <a:gd name="T10" fmla="*/ 76 w 160"/>
                  <a:gd name="T11" fmla="*/ 154 h 335"/>
                  <a:gd name="T12" fmla="*/ 160 w 160"/>
                  <a:gd name="T13" fmla="*/ 17 h 335"/>
                  <a:gd name="T14" fmla="*/ 116 w 160"/>
                  <a:gd name="T15" fmla="*/ 0 h 3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3" name="Freeform 17"/>
              <p:cNvSpPr>
                <a:spLocks noChangeArrowheads="1"/>
              </p:cNvSpPr>
              <p:nvPr/>
            </p:nvSpPr>
            <p:spPr bwMode="auto">
              <a:xfrm>
                <a:off x="846" y="536"/>
                <a:ext cx="691" cy="364"/>
              </a:xfrm>
              <a:custGeom>
                <a:avLst/>
                <a:gdLst>
                  <a:gd name="T0" fmla="*/ 14 w 489"/>
                  <a:gd name="T1" fmla="*/ 34 h 296"/>
                  <a:gd name="T2" fmla="*/ 160 w 489"/>
                  <a:gd name="T3" fmla="*/ 66 h 296"/>
                  <a:gd name="T4" fmla="*/ 324 w 489"/>
                  <a:gd name="T5" fmla="*/ 137 h 296"/>
                  <a:gd name="T6" fmla="*/ 440 w 489"/>
                  <a:gd name="T7" fmla="*/ 243 h 296"/>
                  <a:gd name="T8" fmla="*/ 326 w 489"/>
                  <a:gd name="T9" fmla="*/ 230 h 296"/>
                  <a:gd name="T10" fmla="*/ 139 w 489"/>
                  <a:gd name="T11" fmla="*/ 146 h 296"/>
                  <a:gd name="T12" fmla="*/ 50 w 489"/>
                  <a:gd name="T13" fmla="*/ 80 h 296"/>
                  <a:gd name="T14" fmla="*/ 107 w 489"/>
                  <a:gd name="T15" fmla="*/ 163 h 296"/>
                  <a:gd name="T16" fmla="*/ 272 w 489"/>
                  <a:gd name="T17" fmla="*/ 270 h 296"/>
                  <a:gd name="T18" fmla="*/ 466 w 489"/>
                  <a:gd name="T19" fmla="*/ 296 h 296"/>
                  <a:gd name="T20" fmla="*/ 489 w 489"/>
                  <a:gd name="T21" fmla="*/ 224 h 296"/>
                  <a:gd name="T22" fmla="*/ 394 w 489"/>
                  <a:gd name="T23" fmla="*/ 120 h 296"/>
                  <a:gd name="T24" fmla="*/ 170 w 489"/>
                  <a:gd name="T25" fmla="*/ 17 h 296"/>
                  <a:gd name="T26" fmla="*/ 0 w 489"/>
                  <a:gd name="T27" fmla="*/ 0 h 296"/>
                  <a:gd name="T28" fmla="*/ 14 w 489"/>
                  <a:gd name="T29" fmla="*/ 34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2052" name="Group 18"/>
          <p:cNvGrpSpPr/>
          <p:nvPr/>
        </p:nvGrpSpPr>
        <p:grpSpPr>
          <a:xfrm>
            <a:off x="7915275" y="4368800"/>
            <a:ext cx="742950" cy="1058863"/>
            <a:chOff x="4986" y="2752"/>
            <a:chExt cx="468" cy="667"/>
          </a:xfrm>
        </p:grpSpPr>
        <p:sp>
          <p:nvSpPr>
            <p:cNvPr id="65" name="Freeform 19"/>
            <p:cNvSpPr>
              <a:spLocks noChangeArrowheads="1"/>
            </p:cNvSpPr>
            <p:nvPr/>
          </p:nvSpPr>
          <p:spPr bwMode="auto">
            <a:xfrm rot="7320404">
              <a:off x="4905" y="2932"/>
              <a:ext cx="629" cy="293"/>
            </a:xfrm>
            <a:custGeom>
              <a:avLst/>
              <a:gdLst>
                <a:gd name="T0" fmla="*/ 794 w 794"/>
                <a:gd name="T1" fmla="*/ 395 h 414"/>
                <a:gd name="T2" fmla="*/ 710 w 794"/>
                <a:gd name="T3" fmla="*/ 318 h 414"/>
                <a:gd name="T4" fmla="*/ 556 w 794"/>
                <a:gd name="T5" fmla="*/ 210 h 414"/>
                <a:gd name="T6" fmla="*/ 71 w 794"/>
                <a:gd name="T7" fmla="*/ 0 h 414"/>
                <a:gd name="T8" fmla="*/ 23 w 794"/>
                <a:gd name="T9" fmla="*/ 20 h 414"/>
                <a:gd name="T10" fmla="*/ 0 w 794"/>
                <a:gd name="T11" fmla="*/ 83 h 414"/>
                <a:gd name="T12" fmla="*/ 28 w 794"/>
                <a:gd name="T13" fmla="*/ 155 h 414"/>
                <a:gd name="T14" fmla="*/ 570 w 794"/>
                <a:gd name="T15" fmla="*/ 409 h 414"/>
                <a:gd name="T16" fmla="*/ 689 w 794"/>
                <a:gd name="T17" fmla="*/ 393 h 414"/>
                <a:gd name="T18" fmla="*/ 785 w 794"/>
                <a:gd name="T19" fmla="*/ 414 h 414"/>
                <a:gd name="T20" fmla="*/ 794 w 794"/>
                <a:gd name="T21" fmla="*/ 395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" name="Freeform 20"/>
            <p:cNvSpPr>
              <a:spLocks noChangeArrowheads="1"/>
            </p:cNvSpPr>
            <p:nvPr/>
          </p:nvSpPr>
          <p:spPr bwMode="auto">
            <a:xfrm rot="7320404">
              <a:off x="4890" y="2919"/>
              <a:ext cx="627" cy="290"/>
            </a:xfrm>
            <a:custGeom>
              <a:avLst/>
              <a:gdLst>
                <a:gd name="T0" fmla="*/ 137 w 1586"/>
                <a:gd name="T1" fmla="*/ 0 h 821"/>
                <a:gd name="T2" fmla="*/ 1331 w 1586"/>
                <a:gd name="T3" fmla="*/ 519 h 821"/>
                <a:gd name="T4" fmla="*/ 1428 w 1586"/>
                <a:gd name="T5" fmla="*/ 638 h 821"/>
                <a:gd name="T6" fmla="*/ 1586 w 1586"/>
                <a:gd name="T7" fmla="*/ 792 h 821"/>
                <a:gd name="T8" fmla="*/ 1565 w 1586"/>
                <a:gd name="T9" fmla="*/ 821 h 821"/>
                <a:gd name="T10" fmla="*/ 1350 w 1586"/>
                <a:gd name="T11" fmla="*/ 787 h 821"/>
                <a:gd name="T12" fmla="*/ 1145 w 1586"/>
                <a:gd name="T13" fmla="*/ 811 h 821"/>
                <a:gd name="T14" fmla="*/ 42 w 1586"/>
                <a:gd name="T15" fmla="*/ 298 h 821"/>
                <a:gd name="T16" fmla="*/ 0 w 1586"/>
                <a:gd name="T17" fmla="*/ 150 h 821"/>
                <a:gd name="T18" fmla="*/ 46 w 1586"/>
                <a:gd name="T19" fmla="*/ 32 h 821"/>
                <a:gd name="T20" fmla="*/ 137 w 1586"/>
                <a:gd name="T21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" name="Freeform 21"/>
            <p:cNvSpPr>
              <a:spLocks noChangeArrowheads="1"/>
            </p:cNvSpPr>
            <p:nvPr/>
          </p:nvSpPr>
          <p:spPr bwMode="auto">
            <a:xfrm rot="7320404">
              <a:off x="4996" y="2910"/>
              <a:ext cx="416" cy="265"/>
            </a:xfrm>
            <a:custGeom>
              <a:avLst/>
              <a:gdLst>
                <a:gd name="T0" fmla="*/ 0 w 1049"/>
                <a:gd name="T1" fmla="*/ 325 h 747"/>
                <a:gd name="T2" fmla="*/ 922 w 1049"/>
                <a:gd name="T3" fmla="*/ 747 h 747"/>
                <a:gd name="T4" fmla="*/ 939 w 1049"/>
                <a:gd name="T5" fmla="*/ 534 h 747"/>
                <a:gd name="T6" fmla="*/ 1049 w 1049"/>
                <a:gd name="T7" fmla="*/ 422 h 747"/>
                <a:gd name="T8" fmla="*/ 78 w 1049"/>
                <a:gd name="T9" fmla="*/ 0 h 747"/>
                <a:gd name="T10" fmla="*/ 0 w 1049"/>
                <a:gd name="T11" fmla="*/ 127 h 747"/>
                <a:gd name="T12" fmla="*/ 0 w 1049"/>
                <a:gd name="T13" fmla="*/ 325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63" name="Group 22"/>
            <p:cNvGrpSpPr/>
            <p:nvPr userDrawn="1"/>
          </p:nvGrpSpPr>
          <p:grpSpPr>
            <a:xfrm>
              <a:off x="4986" y="2752"/>
              <a:ext cx="469" cy="667"/>
              <a:chOff x="4986" y="2752"/>
              <a:chExt cx="469" cy="667"/>
            </a:xfrm>
          </p:grpSpPr>
          <p:sp>
            <p:nvSpPr>
              <p:cNvPr id="69" name="Freeform 23"/>
              <p:cNvSpPr>
                <a:spLocks noChangeArrowheads="1"/>
              </p:cNvSpPr>
              <p:nvPr/>
            </p:nvSpPr>
            <p:spPr bwMode="auto">
              <a:xfrm rot="7320404">
                <a:off x="4983" y="3186"/>
                <a:ext cx="59" cy="61"/>
              </a:xfrm>
              <a:custGeom>
                <a:avLst/>
                <a:gdLst>
                  <a:gd name="T0" fmla="*/ 110 w 150"/>
                  <a:gd name="T1" fmla="*/ 0 h 173"/>
                  <a:gd name="T2" fmla="*/ 40 w 150"/>
                  <a:gd name="T3" fmla="*/ 66 h 173"/>
                  <a:gd name="T4" fmla="*/ 0 w 150"/>
                  <a:gd name="T5" fmla="*/ 173 h 173"/>
                  <a:gd name="T6" fmla="*/ 80 w 150"/>
                  <a:gd name="T7" fmla="*/ 160 h 173"/>
                  <a:gd name="T8" fmla="*/ 103 w 150"/>
                  <a:gd name="T9" fmla="*/ 84 h 173"/>
                  <a:gd name="T10" fmla="*/ 150 w 150"/>
                  <a:gd name="T11" fmla="*/ 27 h 173"/>
                  <a:gd name="T12" fmla="*/ 110 w 150"/>
                  <a:gd name="T13" fmla="*/ 0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Freeform 24"/>
              <p:cNvSpPr>
                <a:spLocks noChangeArrowheads="1"/>
              </p:cNvSpPr>
              <p:nvPr/>
            </p:nvSpPr>
            <p:spPr bwMode="auto">
              <a:xfrm rot="7320404">
                <a:off x="4883" y="2926"/>
                <a:ext cx="667" cy="311"/>
              </a:xfrm>
              <a:custGeom>
                <a:avLst/>
                <a:gdLst>
                  <a:gd name="T0" fmla="*/ 156 w 1684"/>
                  <a:gd name="T1" fmla="*/ 0 h 880"/>
                  <a:gd name="T2" fmla="*/ 63 w 1684"/>
                  <a:gd name="T3" fmla="*/ 52 h 880"/>
                  <a:gd name="T4" fmla="*/ 0 w 1684"/>
                  <a:gd name="T5" fmla="*/ 208 h 880"/>
                  <a:gd name="T6" fmla="*/ 67 w 1684"/>
                  <a:gd name="T7" fmla="*/ 358 h 880"/>
                  <a:gd name="T8" fmla="*/ 1182 w 1684"/>
                  <a:gd name="T9" fmla="*/ 867 h 880"/>
                  <a:gd name="T10" fmla="*/ 1422 w 1684"/>
                  <a:gd name="T11" fmla="*/ 835 h 880"/>
                  <a:gd name="T12" fmla="*/ 1616 w 1684"/>
                  <a:gd name="T13" fmla="*/ 880 h 880"/>
                  <a:gd name="T14" fmla="*/ 1684 w 1684"/>
                  <a:gd name="T15" fmla="*/ 808 h 880"/>
                  <a:gd name="T16" fmla="*/ 1502 w 1684"/>
                  <a:gd name="T17" fmla="*/ 664 h 880"/>
                  <a:gd name="T18" fmla="*/ 1428 w 1684"/>
                  <a:gd name="T19" fmla="*/ 512 h 880"/>
                  <a:gd name="T20" fmla="*/ 1369 w 1684"/>
                  <a:gd name="T21" fmla="*/ 527 h 880"/>
                  <a:gd name="T22" fmla="*/ 1439 w 1684"/>
                  <a:gd name="T23" fmla="*/ 664 h 880"/>
                  <a:gd name="T24" fmla="*/ 1578 w 1684"/>
                  <a:gd name="T25" fmla="*/ 810 h 880"/>
                  <a:gd name="T26" fmla="*/ 1413 w 1684"/>
                  <a:gd name="T27" fmla="*/ 787 h 880"/>
                  <a:gd name="T28" fmla="*/ 1219 w 1684"/>
                  <a:gd name="T29" fmla="*/ 814 h 880"/>
                  <a:gd name="T30" fmla="*/ 1255 w 1684"/>
                  <a:gd name="T31" fmla="*/ 650 h 880"/>
                  <a:gd name="T32" fmla="*/ 1338 w 1684"/>
                  <a:gd name="T33" fmla="*/ 538 h 880"/>
                  <a:gd name="T34" fmla="*/ 1241 w 1684"/>
                  <a:gd name="T35" fmla="*/ 552 h 880"/>
                  <a:gd name="T36" fmla="*/ 1165 w 1684"/>
                  <a:gd name="T37" fmla="*/ 658 h 880"/>
                  <a:gd name="T38" fmla="*/ 1139 w 1684"/>
                  <a:gd name="T39" fmla="*/ 791 h 880"/>
                  <a:gd name="T40" fmla="*/ 107 w 1684"/>
                  <a:gd name="T41" fmla="*/ 310 h 880"/>
                  <a:gd name="T42" fmla="*/ 80 w 1684"/>
                  <a:gd name="T43" fmla="*/ 215 h 880"/>
                  <a:gd name="T44" fmla="*/ 103 w 1684"/>
                  <a:gd name="T45" fmla="*/ 95 h 880"/>
                  <a:gd name="T46" fmla="*/ 217 w 1684"/>
                  <a:gd name="T47" fmla="*/ 0 h 880"/>
                  <a:gd name="T48" fmla="*/ 156 w 1684"/>
                  <a:gd name="T49" fmla="*/ 0 h 8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Freeform 25"/>
              <p:cNvSpPr>
                <a:spLocks noChangeArrowheads="1"/>
              </p:cNvSpPr>
              <p:nvPr/>
            </p:nvSpPr>
            <p:spPr bwMode="auto">
              <a:xfrm rot="7320404">
                <a:off x="5062" y="2997"/>
                <a:ext cx="472" cy="176"/>
              </a:xfrm>
              <a:custGeom>
                <a:avLst/>
                <a:gdLst>
                  <a:gd name="T0" fmla="*/ 100 w 1190"/>
                  <a:gd name="T1" fmla="*/ 0 h 500"/>
                  <a:gd name="T2" fmla="*/ 1190 w 1190"/>
                  <a:gd name="T3" fmla="*/ 490 h 500"/>
                  <a:gd name="T4" fmla="*/ 1076 w 1190"/>
                  <a:gd name="T5" fmla="*/ 500 h 500"/>
                  <a:gd name="T6" fmla="*/ 0 w 1190"/>
                  <a:gd name="T7" fmla="*/ 27 h 500"/>
                  <a:gd name="T8" fmla="*/ 100 w 1190"/>
                  <a:gd name="T9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Freeform 26"/>
              <p:cNvSpPr>
                <a:spLocks noChangeArrowheads="1"/>
              </p:cNvSpPr>
              <p:nvPr/>
            </p:nvSpPr>
            <p:spPr bwMode="auto">
              <a:xfrm rot="7320404">
                <a:off x="5361" y="2869"/>
                <a:ext cx="63" cy="118"/>
              </a:xfrm>
              <a:custGeom>
                <a:avLst/>
                <a:gdLst>
                  <a:gd name="T0" fmla="*/ 116 w 160"/>
                  <a:gd name="T1" fmla="*/ 0 h 335"/>
                  <a:gd name="T2" fmla="*/ 19 w 160"/>
                  <a:gd name="T3" fmla="*/ 106 h 335"/>
                  <a:gd name="T4" fmla="*/ 0 w 160"/>
                  <a:gd name="T5" fmla="*/ 230 h 335"/>
                  <a:gd name="T6" fmla="*/ 33 w 160"/>
                  <a:gd name="T7" fmla="*/ 314 h 335"/>
                  <a:gd name="T8" fmla="*/ 94 w 160"/>
                  <a:gd name="T9" fmla="*/ 335 h 335"/>
                  <a:gd name="T10" fmla="*/ 76 w 160"/>
                  <a:gd name="T11" fmla="*/ 154 h 335"/>
                  <a:gd name="T12" fmla="*/ 160 w 160"/>
                  <a:gd name="T13" fmla="*/ 17 h 335"/>
                  <a:gd name="T14" fmla="*/ 116 w 160"/>
                  <a:gd name="T15" fmla="*/ 0 h 3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Freeform 27"/>
              <p:cNvSpPr>
                <a:spLocks noChangeArrowheads="1"/>
              </p:cNvSpPr>
              <p:nvPr/>
            </p:nvSpPr>
            <p:spPr bwMode="auto">
              <a:xfrm rot="7320404">
                <a:off x="5134" y="2996"/>
                <a:ext cx="193" cy="104"/>
              </a:xfrm>
              <a:custGeom>
                <a:avLst/>
                <a:gdLst>
                  <a:gd name="T0" fmla="*/ 14 w 489"/>
                  <a:gd name="T1" fmla="*/ 34 h 296"/>
                  <a:gd name="T2" fmla="*/ 160 w 489"/>
                  <a:gd name="T3" fmla="*/ 66 h 296"/>
                  <a:gd name="T4" fmla="*/ 324 w 489"/>
                  <a:gd name="T5" fmla="*/ 137 h 296"/>
                  <a:gd name="T6" fmla="*/ 440 w 489"/>
                  <a:gd name="T7" fmla="*/ 243 h 296"/>
                  <a:gd name="T8" fmla="*/ 326 w 489"/>
                  <a:gd name="T9" fmla="*/ 230 h 296"/>
                  <a:gd name="T10" fmla="*/ 139 w 489"/>
                  <a:gd name="T11" fmla="*/ 146 h 296"/>
                  <a:gd name="T12" fmla="*/ 50 w 489"/>
                  <a:gd name="T13" fmla="*/ 80 h 296"/>
                  <a:gd name="T14" fmla="*/ 107 w 489"/>
                  <a:gd name="T15" fmla="*/ 163 h 296"/>
                  <a:gd name="T16" fmla="*/ 272 w 489"/>
                  <a:gd name="T17" fmla="*/ 270 h 296"/>
                  <a:gd name="T18" fmla="*/ 466 w 489"/>
                  <a:gd name="T19" fmla="*/ 296 h 296"/>
                  <a:gd name="T20" fmla="*/ 489 w 489"/>
                  <a:gd name="T21" fmla="*/ 224 h 296"/>
                  <a:gd name="T22" fmla="*/ 394 w 489"/>
                  <a:gd name="T23" fmla="*/ 120 h 296"/>
                  <a:gd name="T24" fmla="*/ 170 w 489"/>
                  <a:gd name="T25" fmla="*/ 17 h 296"/>
                  <a:gd name="T26" fmla="*/ 0 w 489"/>
                  <a:gd name="T27" fmla="*/ 0 h 296"/>
                  <a:gd name="T28" fmla="*/ 14 w 489"/>
                  <a:gd name="T29" fmla="*/ 34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74" name="Freeform 28"/>
          <p:cNvSpPr>
            <a:spLocks noChangeArrowheads="1"/>
          </p:cNvSpPr>
          <p:nvPr/>
        </p:nvSpPr>
        <p:spPr bwMode="auto">
          <a:xfrm>
            <a:off x="901700" y="5054600"/>
            <a:ext cx="6807200" cy="728663"/>
          </a:xfrm>
          <a:custGeom>
            <a:avLst/>
            <a:gdLst>
              <a:gd name="T0" fmla="*/ 0 w 4288"/>
              <a:gd name="T1" fmla="*/ 0 h 459"/>
              <a:gd name="T2" fmla="*/ 816 w 4288"/>
              <a:gd name="T3" fmla="*/ 256 h 459"/>
              <a:gd name="T4" fmla="*/ 1560 w 4288"/>
              <a:gd name="T5" fmla="*/ 144 h 459"/>
              <a:gd name="T6" fmla="*/ 1856 w 4288"/>
              <a:gd name="T7" fmla="*/ 376 h 459"/>
              <a:gd name="T8" fmla="*/ 2344 w 4288"/>
              <a:gd name="T9" fmla="*/ 152 h 459"/>
              <a:gd name="T10" fmla="*/ 3536 w 4288"/>
              <a:gd name="T11" fmla="*/ 456 h 459"/>
              <a:gd name="T12" fmla="*/ 4288 w 4288"/>
              <a:gd name="T13" fmla="*/ 136 h 4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288" h="459">
                <a:moveTo>
                  <a:pt x="0" y="0"/>
                </a:moveTo>
                <a:cubicBezTo>
                  <a:pt x="136" y="43"/>
                  <a:pt x="556" y="232"/>
                  <a:pt x="816" y="256"/>
                </a:cubicBezTo>
                <a:cubicBezTo>
                  <a:pt x="1076" y="280"/>
                  <a:pt x="1387" y="124"/>
                  <a:pt x="1560" y="144"/>
                </a:cubicBezTo>
                <a:cubicBezTo>
                  <a:pt x="1733" y="164"/>
                  <a:pt x="1725" y="375"/>
                  <a:pt x="1856" y="376"/>
                </a:cubicBezTo>
                <a:cubicBezTo>
                  <a:pt x="1987" y="377"/>
                  <a:pt x="2064" y="139"/>
                  <a:pt x="2344" y="152"/>
                </a:cubicBezTo>
                <a:cubicBezTo>
                  <a:pt x="2624" y="165"/>
                  <a:pt x="3212" y="459"/>
                  <a:pt x="3536" y="456"/>
                </a:cubicBezTo>
                <a:cubicBezTo>
                  <a:pt x="3860" y="453"/>
                  <a:pt x="4165" y="188"/>
                  <a:pt x="4288" y="136"/>
                </a:cubicBezTo>
              </a:path>
            </a:pathLst>
          </a:custGeom>
          <a:noFill/>
          <a:ln w="76200">
            <a:solidFill>
              <a:schemeClr val="folHlink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" name="Freeform 29"/>
          <p:cNvSpPr>
            <a:spLocks noChangeArrowheads="1"/>
          </p:cNvSpPr>
          <p:nvPr/>
        </p:nvSpPr>
        <p:spPr bwMode="auto">
          <a:xfrm>
            <a:off x="4076700" y="1930400"/>
            <a:ext cx="889000" cy="381000"/>
          </a:xfrm>
          <a:custGeom>
            <a:avLst/>
            <a:gdLst>
              <a:gd name="T0" fmla="*/ 0 w 560"/>
              <a:gd name="T1" fmla="*/ 32 h 240"/>
              <a:gd name="T2" fmla="*/ 280 w 560"/>
              <a:gd name="T3" fmla="*/ 144 h 240"/>
              <a:gd name="T4" fmla="*/ 448 w 560"/>
              <a:gd name="T5" fmla="*/ 16 h 240"/>
              <a:gd name="T6" fmla="*/ 560 w 560"/>
              <a:gd name="T7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60" h="240">
                <a:moveTo>
                  <a:pt x="0" y="32"/>
                </a:moveTo>
                <a:cubicBezTo>
                  <a:pt x="102" y="89"/>
                  <a:pt x="205" y="147"/>
                  <a:pt x="280" y="144"/>
                </a:cubicBezTo>
                <a:cubicBezTo>
                  <a:pt x="355" y="141"/>
                  <a:pt x="401" y="0"/>
                  <a:pt x="448" y="16"/>
                </a:cubicBezTo>
                <a:cubicBezTo>
                  <a:pt x="495" y="32"/>
                  <a:pt x="541" y="201"/>
                  <a:pt x="560" y="240"/>
                </a:cubicBezTo>
              </a:path>
            </a:pathLst>
          </a:custGeom>
          <a:noFill/>
          <a:ln w="114300">
            <a:solidFill>
              <a:schemeClr val="tx2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71600" y="1511300"/>
            <a:ext cx="6400800" cy="2273300"/>
          </a:xfrm>
          <a:effectLst>
            <a:outerShdw dist="45791" dir="2021404" algn="ctr" rotWithShape="0">
              <a:schemeClr val="bg2"/>
            </a:outerShdw>
          </a:effectLst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9400" y="4051300"/>
            <a:ext cx="6032500" cy="1003300"/>
          </a:xfrm>
        </p:spPr>
        <p:txBody>
          <a:bodyPr/>
          <a:lstStyle>
            <a:lvl1pPr marL="0" indent="0" algn="ctr">
              <a:buFontTx/>
              <a:buNone/>
              <a:defRPr sz="28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6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145DA26-ECA3-45E0-B769-87F7E63EC6C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9388671-C5E3-4FC0-83A9-DA908C1D6F1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9248019-B057-437A-A7BC-03BA11D854F0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4EC0DD-DA45-436D-9E88-573A129F8D8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F6F117B-95F2-4726-8764-F9906081A2C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771ACC5-8C63-4D2C-9317-80ECDEC7816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46A37BC-C739-47EE-9CF0-719733E8DF4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DB4B623-AD0F-410B-855A-01A02AE8097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8CBBD7E-A4A3-4C8A-8D5A-276D5C1484C1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2B68533-38C9-4404-9EF5-A41977B1D3D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7950" y="152400"/>
            <a:ext cx="1924050" cy="53340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19750" cy="53340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1D77E6E-D77A-4B07-9FC2-5E8F960C892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showMasterSp="0">
  <p:cSld name="标题和表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1828800"/>
            <a:ext cx="7696200" cy="3657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3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10/02/05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9AEB907-EEC6-43C1-94F5-DB5ED4A49593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showMasterSp="0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3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10/02/05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672954C-B03F-4BAC-84C7-66405F801DA0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Freeform 2"/>
          <p:cNvSpPr>
            <a:spLocks noChangeArrowheads="1"/>
          </p:cNvSpPr>
          <p:nvPr/>
        </p:nvSpPr>
        <p:spPr bwMode="auto">
          <a:xfrm rot="-3172564">
            <a:off x="7777163" y="-14287"/>
            <a:ext cx="1162050" cy="2082800"/>
          </a:xfrm>
          <a:custGeom>
            <a:avLst/>
            <a:gdLst>
              <a:gd name="T0" fmla="*/ 2903 w 2903"/>
              <a:gd name="T1" fmla="*/ 433 h 3686"/>
              <a:gd name="T2" fmla="*/ 2565 w 2903"/>
              <a:gd name="T3" fmla="*/ 80 h 3686"/>
              <a:gd name="T4" fmla="*/ 2241 w 2903"/>
              <a:gd name="T5" fmla="*/ 0 h 3686"/>
              <a:gd name="T6" fmla="*/ 110 w 2903"/>
              <a:gd name="T7" fmla="*/ 2811 h 3686"/>
              <a:gd name="T8" fmla="*/ 110 w 2903"/>
              <a:gd name="T9" fmla="*/ 3228 h 3686"/>
              <a:gd name="T10" fmla="*/ 0 w 2903"/>
              <a:gd name="T11" fmla="*/ 3631 h 3686"/>
              <a:gd name="T12" fmla="*/ 72 w 2903"/>
              <a:gd name="T13" fmla="*/ 3686 h 3686"/>
              <a:gd name="T14" fmla="*/ 441 w 2903"/>
              <a:gd name="T15" fmla="*/ 3355 h 3686"/>
              <a:gd name="T16" fmla="*/ 740 w 2903"/>
              <a:gd name="T17" fmla="*/ 3228 h 3686"/>
              <a:gd name="T18" fmla="*/ 2903 w 2903"/>
              <a:gd name="T19" fmla="*/ 433 h 36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903" h="3686">
                <a:moveTo>
                  <a:pt x="2903" y="433"/>
                </a:moveTo>
                <a:lnTo>
                  <a:pt x="2565" y="80"/>
                </a:lnTo>
                <a:lnTo>
                  <a:pt x="2241" y="0"/>
                </a:lnTo>
                <a:lnTo>
                  <a:pt x="110" y="2811"/>
                </a:lnTo>
                <a:lnTo>
                  <a:pt x="110" y="3228"/>
                </a:lnTo>
                <a:lnTo>
                  <a:pt x="0" y="3631"/>
                </a:lnTo>
                <a:lnTo>
                  <a:pt x="72" y="3686"/>
                </a:lnTo>
                <a:lnTo>
                  <a:pt x="441" y="3355"/>
                </a:lnTo>
                <a:lnTo>
                  <a:pt x="740" y="3228"/>
                </a:lnTo>
                <a:lnTo>
                  <a:pt x="2903" y="4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/>
          </p:cNvSpPr>
          <p:nvPr>
            <p:ph type="body"/>
          </p:nvPr>
        </p:nvSpPr>
        <p:spPr>
          <a:xfrm>
            <a:off x="685800" y="1828800"/>
            <a:ext cx="7696200" cy="3657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Tx/>
              <a:buNone/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E252F19-54C7-4678-8DCD-F1C56DA3739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Freeform 8"/>
          <p:cNvSpPr>
            <a:spLocks noChangeArrowheads="1"/>
          </p:cNvSpPr>
          <p:nvPr/>
        </p:nvSpPr>
        <p:spPr bwMode="auto">
          <a:xfrm rot="-3172564">
            <a:off x="7862888" y="20638"/>
            <a:ext cx="1165225" cy="2098675"/>
          </a:xfrm>
          <a:custGeom>
            <a:avLst/>
            <a:gdLst>
              <a:gd name="T0" fmla="*/ 2293 w 2911"/>
              <a:gd name="T1" fmla="*/ 0 h 3703"/>
              <a:gd name="T2" fmla="*/ 130 w 2911"/>
              <a:gd name="T3" fmla="*/ 2835 h 3703"/>
              <a:gd name="T4" fmla="*/ 131 w 2911"/>
              <a:gd name="T5" fmla="*/ 3201 h 3703"/>
              <a:gd name="T6" fmla="*/ 0 w 2911"/>
              <a:gd name="T7" fmla="*/ 3633 h 3703"/>
              <a:gd name="T8" fmla="*/ 50 w 2911"/>
              <a:gd name="T9" fmla="*/ 3703 h 3703"/>
              <a:gd name="T10" fmla="*/ 422 w 2911"/>
              <a:gd name="T11" fmla="*/ 3352 h 3703"/>
              <a:gd name="T12" fmla="*/ 763 w 2911"/>
              <a:gd name="T13" fmla="*/ 3220 h 3703"/>
              <a:gd name="T14" fmla="*/ 2911 w 2911"/>
              <a:gd name="T15" fmla="*/ 428 h 3703"/>
              <a:gd name="T16" fmla="*/ 2589 w 2911"/>
              <a:gd name="T17" fmla="*/ 96 h 3703"/>
              <a:gd name="T18" fmla="*/ 2293 w 2911"/>
              <a:gd name="T19" fmla="*/ 0 h 37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911" h="3703">
                <a:moveTo>
                  <a:pt x="2293" y="0"/>
                </a:moveTo>
                <a:lnTo>
                  <a:pt x="130" y="2835"/>
                </a:lnTo>
                <a:lnTo>
                  <a:pt x="131" y="3201"/>
                </a:lnTo>
                <a:lnTo>
                  <a:pt x="0" y="3633"/>
                </a:lnTo>
                <a:lnTo>
                  <a:pt x="50" y="3703"/>
                </a:lnTo>
                <a:lnTo>
                  <a:pt x="422" y="3352"/>
                </a:lnTo>
                <a:lnTo>
                  <a:pt x="763" y="3220"/>
                </a:lnTo>
                <a:lnTo>
                  <a:pt x="2911" y="428"/>
                </a:lnTo>
                <a:lnTo>
                  <a:pt x="2589" y="96"/>
                </a:lnTo>
                <a:lnTo>
                  <a:pt x="2293" y="0"/>
                </a:lnTo>
                <a:close/>
              </a:path>
            </a:pathLst>
          </a:custGeom>
          <a:solidFill>
            <a:schemeClr val="folHlink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Freeform 9"/>
          <p:cNvSpPr>
            <a:spLocks noChangeArrowheads="1"/>
          </p:cNvSpPr>
          <p:nvPr/>
        </p:nvSpPr>
        <p:spPr bwMode="auto">
          <a:xfrm rot="-3172564">
            <a:off x="7831138" y="192088"/>
            <a:ext cx="1025525" cy="1571625"/>
          </a:xfrm>
          <a:custGeom>
            <a:avLst/>
            <a:gdLst>
              <a:gd name="T0" fmla="*/ 0 w 2561"/>
              <a:gd name="T1" fmla="*/ 2485 h 2777"/>
              <a:gd name="T2" fmla="*/ 432 w 2561"/>
              <a:gd name="T3" fmla="*/ 2553 h 2777"/>
              <a:gd name="T4" fmla="*/ 736 w 2561"/>
              <a:gd name="T5" fmla="*/ 2777 h 2777"/>
              <a:gd name="T6" fmla="*/ 2561 w 2561"/>
              <a:gd name="T7" fmla="*/ 399 h 2777"/>
              <a:gd name="T8" fmla="*/ 2118 w 2561"/>
              <a:gd name="T9" fmla="*/ 82 h 2777"/>
              <a:gd name="T10" fmla="*/ 1898 w 2561"/>
              <a:gd name="T11" fmla="*/ 0 h 2777"/>
              <a:gd name="T12" fmla="*/ 0 w 2561"/>
              <a:gd name="T13" fmla="*/ 2485 h 27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61" h="2777">
                <a:moveTo>
                  <a:pt x="0" y="2485"/>
                </a:moveTo>
                <a:lnTo>
                  <a:pt x="432" y="2553"/>
                </a:lnTo>
                <a:lnTo>
                  <a:pt x="736" y="2777"/>
                </a:lnTo>
                <a:lnTo>
                  <a:pt x="2561" y="399"/>
                </a:lnTo>
                <a:lnTo>
                  <a:pt x="2118" y="82"/>
                </a:lnTo>
                <a:lnTo>
                  <a:pt x="1898" y="0"/>
                </a:lnTo>
                <a:lnTo>
                  <a:pt x="0" y="2485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4" name="Group 10"/>
          <p:cNvGrpSpPr/>
          <p:nvPr/>
        </p:nvGrpSpPr>
        <p:grpSpPr>
          <a:xfrm>
            <a:off x="7938" y="5540375"/>
            <a:ext cx="1784350" cy="1246188"/>
            <a:chOff x="5" y="3490"/>
            <a:chExt cx="1124" cy="785"/>
          </a:xfrm>
        </p:grpSpPr>
        <p:sp>
          <p:nvSpPr>
            <p:cNvPr id="2" name="Freeform 11"/>
            <p:cNvSpPr>
              <a:spLocks noChangeArrowheads="1"/>
            </p:cNvSpPr>
            <p:nvPr/>
          </p:nvSpPr>
          <p:spPr bwMode="auto">
            <a:xfrm>
              <a:off x="24" y="3505"/>
              <a:ext cx="1089" cy="649"/>
            </a:xfrm>
            <a:custGeom>
              <a:avLst/>
              <a:gdLst>
                <a:gd name="T0" fmla="*/ 1587 w 2177"/>
                <a:gd name="T1" fmla="*/ 1260 h 1298"/>
                <a:gd name="T2" fmla="*/ 1420 w 2177"/>
                <a:gd name="T3" fmla="*/ 1106 h 1298"/>
                <a:gd name="T4" fmla="*/ 1331 w 2177"/>
                <a:gd name="T5" fmla="*/ 477 h 1298"/>
                <a:gd name="T6" fmla="*/ 2139 w 2177"/>
                <a:gd name="T7" fmla="*/ 330 h 1298"/>
                <a:gd name="T8" fmla="*/ 2177 w 2177"/>
                <a:gd name="T9" fmla="*/ 203 h 1298"/>
                <a:gd name="T10" fmla="*/ 2099 w 2177"/>
                <a:gd name="T11" fmla="*/ 100 h 1298"/>
                <a:gd name="T12" fmla="*/ 1276 w 2177"/>
                <a:gd name="T13" fmla="*/ 211 h 1298"/>
                <a:gd name="T14" fmla="*/ 1219 w 2177"/>
                <a:gd name="T15" fmla="*/ 32 h 1298"/>
                <a:gd name="T16" fmla="*/ 1085 w 2177"/>
                <a:gd name="T17" fmla="*/ 0 h 1298"/>
                <a:gd name="T18" fmla="*/ 958 w 2177"/>
                <a:gd name="T19" fmla="*/ 28 h 1298"/>
                <a:gd name="T20" fmla="*/ 888 w 2177"/>
                <a:gd name="T21" fmla="*/ 106 h 1298"/>
                <a:gd name="T22" fmla="*/ 937 w 2177"/>
                <a:gd name="T23" fmla="*/ 285 h 1298"/>
                <a:gd name="T24" fmla="*/ 660 w 2177"/>
                <a:gd name="T25" fmla="*/ 441 h 1298"/>
                <a:gd name="T26" fmla="*/ 983 w 2177"/>
                <a:gd name="T27" fmla="*/ 473 h 1298"/>
                <a:gd name="T28" fmla="*/ 1112 w 2177"/>
                <a:gd name="T29" fmla="*/ 889 h 1298"/>
                <a:gd name="T30" fmla="*/ 141 w 2177"/>
                <a:gd name="T31" fmla="*/ 469 h 1298"/>
                <a:gd name="T32" fmla="*/ 46 w 2177"/>
                <a:gd name="T33" fmla="*/ 509 h 1298"/>
                <a:gd name="T34" fmla="*/ 0 w 2177"/>
                <a:gd name="T35" fmla="*/ 636 h 1298"/>
                <a:gd name="T36" fmla="*/ 55 w 2177"/>
                <a:gd name="T37" fmla="*/ 779 h 1298"/>
                <a:gd name="T38" fmla="*/ 1139 w 2177"/>
                <a:gd name="T39" fmla="*/ 1288 h 1298"/>
                <a:gd name="T40" fmla="*/ 1378 w 2177"/>
                <a:gd name="T41" fmla="*/ 1256 h 1298"/>
                <a:gd name="T42" fmla="*/ 1570 w 2177"/>
                <a:gd name="T43" fmla="*/ 1298 h 1298"/>
                <a:gd name="T44" fmla="*/ 1587 w 2177"/>
                <a:gd name="T45" fmla="*/ 1260 h 1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77" h="1298">
                  <a:moveTo>
                    <a:pt x="1587" y="1260"/>
                  </a:moveTo>
                  <a:lnTo>
                    <a:pt x="1420" y="1106"/>
                  </a:lnTo>
                  <a:lnTo>
                    <a:pt x="1331" y="477"/>
                  </a:lnTo>
                  <a:lnTo>
                    <a:pt x="2139" y="330"/>
                  </a:lnTo>
                  <a:lnTo>
                    <a:pt x="2177" y="203"/>
                  </a:lnTo>
                  <a:lnTo>
                    <a:pt x="2099" y="100"/>
                  </a:lnTo>
                  <a:lnTo>
                    <a:pt x="1276" y="211"/>
                  </a:lnTo>
                  <a:lnTo>
                    <a:pt x="1219" y="32"/>
                  </a:lnTo>
                  <a:lnTo>
                    <a:pt x="1085" y="0"/>
                  </a:lnTo>
                  <a:lnTo>
                    <a:pt x="958" y="28"/>
                  </a:lnTo>
                  <a:lnTo>
                    <a:pt x="888" y="106"/>
                  </a:lnTo>
                  <a:lnTo>
                    <a:pt x="937" y="285"/>
                  </a:lnTo>
                  <a:lnTo>
                    <a:pt x="660" y="441"/>
                  </a:lnTo>
                  <a:lnTo>
                    <a:pt x="983" y="473"/>
                  </a:lnTo>
                  <a:lnTo>
                    <a:pt x="1112" y="889"/>
                  </a:lnTo>
                  <a:lnTo>
                    <a:pt x="141" y="469"/>
                  </a:lnTo>
                  <a:lnTo>
                    <a:pt x="46" y="509"/>
                  </a:lnTo>
                  <a:lnTo>
                    <a:pt x="0" y="636"/>
                  </a:lnTo>
                  <a:lnTo>
                    <a:pt x="55" y="779"/>
                  </a:lnTo>
                  <a:lnTo>
                    <a:pt x="1139" y="1288"/>
                  </a:lnTo>
                  <a:lnTo>
                    <a:pt x="1378" y="1256"/>
                  </a:lnTo>
                  <a:lnTo>
                    <a:pt x="1570" y="1298"/>
                  </a:lnTo>
                  <a:lnTo>
                    <a:pt x="1587" y="1260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" name="Freeform 12"/>
            <p:cNvSpPr>
              <a:spLocks noChangeArrowheads="1"/>
            </p:cNvSpPr>
            <p:nvPr/>
          </p:nvSpPr>
          <p:spPr bwMode="auto">
            <a:xfrm>
              <a:off x="1022" y="3582"/>
              <a:ext cx="71" cy="129"/>
            </a:xfrm>
            <a:custGeom>
              <a:avLst/>
              <a:gdLst>
                <a:gd name="T0" fmla="*/ 0 w 143"/>
                <a:gd name="T1" fmla="*/ 7 h 258"/>
                <a:gd name="T2" fmla="*/ 120 w 143"/>
                <a:gd name="T3" fmla="*/ 0 h 258"/>
                <a:gd name="T4" fmla="*/ 143 w 143"/>
                <a:gd name="T5" fmla="*/ 233 h 258"/>
                <a:gd name="T6" fmla="*/ 8 w 143"/>
                <a:gd name="T7" fmla="*/ 258 h 258"/>
                <a:gd name="T8" fmla="*/ 0 w 143"/>
                <a:gd name="T9" fmla="*/ 7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" h="258">
                  <a:moveTo>
                    <a:pt x="0" y="7"/>
                  </a:moveTo>
                  <a:lnTo>
                    <a:pt x="120" y="0"/>
                  </a:lnTo>
                  <a:lnTo>
                    <a:pt x="143" y="233"/>
                  </a:lnTo>
                  <a:lnTo>
                    <a:pt x="8" y="25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" name="Freeform 13"/>
            <p:cNvSpPr>
              <a:spLocks noChangeArrowheads="1"/>
            </p:cNvSpPr>
            <p:nvPr/>
          </p:nvSpPr>
          <p:spPr bwMode="auto">
            <a:xfrm>
              <a:off x="20" y="3774"/>
              <a:ext cx="792" cy="410"/>
            </a:xfrm>
            <a:custGeom>
              <a:avLst/>
              <a:gdLst>
                <a:gd name="T0" fmla="*/ 137 w 1586"/>
                <a:gd name="T1" fmla="*/ 0 h 821"/>
                <a:gd name="T2" fmla="*/ 1331 w 1586"/>
                <a:gd name="T3" fmla="*/ 519 h 821"/>
                <a:gd name="T4" fmla="*/ 1428 w 1586"/>
                <a:gd name="T5" fmla="*/ 638 h 821"/>
                <a:gd name="T6" fmla="*/ 1586 w 1586"/>
                <a:gd name="T7" fmla="*/ 792 h 821"/>
                <a:gd name="T8" fmla="*/ 1565 w 1586"/>
                <a:gd name="T9" fmla="*/ 821 h 821"/>
                <a:gd name="T10" fmla="*/ 1350 w 1586"/>
                <a:gd name="T11" fmla="*/ 787 h 821"/>
                <a:gd name="T12" fmla="*/ 1145 w 1586"/>
                <a:gd name="T13" fmla="*/ 811 h 821"/>
                <a:gd name="T14" fmla="*/ 42 w 1586"/>
                <a:gd name="T15" fmla="*/ 298 h 821"/>
                <a:gd name="T16" fmla="*/ 0 w 1586"/>
                <a:gd name="T17" fmla="*/ 150 h 821"/>
                <a:gd name="T18" fmla="*/ 46 w 1586"/>
                <a:gd name="T19" fmla="*/ 32 h 821"/>
                <a:gd name="T20" fmla="*/ 137 w 1586"/>
                <a:gd name="T21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Freeform 14"/>
            <p:cNvSpPr>
              <a:spLocks noChangeArrowheads="1"/>
            </p:cNvSpPr>
            <p:nvPr/>
          </p:nvSpPr>
          <p:spPr bwMode="auto">
            <a:xfrm>
              <a:off x="129" y="3808"/>
              <a:ext cx="525" cy="374"/>
            </a:xfrm>
            <a:custGeom>
              <a:avLst/>
              <a:gdLst>
                <a:gd name="T0" fmla="*/ 0 w 1049"/>
                <a:gd name="T1" fmla="*/ 325 h 747"/>
                <a:gd name="T2" fmla="*/ 922 w 1049"/>
                <a:gd name="T3" fmla="*/ 747 h 747"/>
                <a:gd name="T4" fmla="*/ 939 w 1049"/>
                <a:gd name="T5" fmla="*/ 534 h 747"/>
                <a:gd name="T6" fmla="*/ 1049 w 1049"/>
                <a:gd name="T7" fmla="*/ 422 h 747"/>
                <a:gd name="T8" fmla="*/ 78 w 1049"/>
                <a:gd name="T9" fmla="*/ 0 h 747"/>
                <a:gd name="T10" fmla="*/ 0 w 1049"/>
                <a:gd name="T11" fmla="*/ 127 h 747"/>
                <a:gd name="T12" fmla="*/ 0 w 1049"/>
                <a:gd name="T13" fmla="*/ 325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Freeform 15"/>
            <p:cNvSpPr>
              <a:spLocks noChangeArrowheads="1"/>
            </p:cNvSpPr>
            <p:nvPr/>
          </p:nvSpPr>
          <p:spPr bwMode="auto">
            <a:xfrm>
              <a:off x="485" y="3532"/>
              <a:ext cx="135" cy="121"/>
            </a:xfrm>
            <a:custGeom>
              <a:avLst/>
              <a:gdLst>
                <a:gd name="T0" fmla="*/ 0 w 272"/>
                <a:gd name="T1" fmla="*/ 28 h 241"/>
                <a:gd name="T2" fmla="*/ 160 w 272"/>
                <a:gd name="T3" fmla="*/ 0 h 241"/>
                <a:gd name="T4" fmla="*/ 251 w 272"/>
                <a:gd name="T5" fmla="*/ 36 h 241"/>
                <a:gd name="T6" fmla="*/ 272 w 272"/>
                <a:gd name="T7" fmla="*/ 139 h 241"/>
                <a:gd name="T8" fmla="*/ 164 w 272"/>
                <a:gd name="T9" fmla="*/ 146 h 241"/>
                <a:gd name="T10" fmla="*/ 32 w 272"/>
                <a:gd name="T11" fmla="*/ 241 h 241"/>
                <a:gd name="T12" fmla="*/ 0 w 272"/>
                <a:gd name="T13" fmla="*/ 28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2" h="241">
                  <a:moveTo>
                    <a:pt x="0" y="28"/>
                  </a:moveTo>
                  <a:lnTo>
                    <a:pt x="160" y="0"/>
                  </a:lnTo>
                  <a:lnTo>
                    <a:pt x="251" y="36"/>
                  </a:lnTo>
                  <a:lnTo>
                    <a:pt x="272" y="139"/>
                  </a:lnTo>
                  <a:lnTo>
                    <a:pt x="164" y="146"/>
                  </a:lnTo>
                  <a:lnTo>
                    <a:pt x="32" y="241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Freeform 16"/>
            <p:cNvSpPr>
              <a:spLocks noChangeArrowheads="1"/>
            </p:cNvSpPr>
            <p:nvPr/>
          </p:nvSpPr>
          <p:spPr bwMode="auto">
            <a:xfrm>
              <a:off x="641" y="4163"/>
              <a:ext cx="76" cy="112"/>
            </a:xfrm>
            <a:custGeom>
              <a:avLst/>
              <a:gdLst>
                <a:gd name="T0" fmla="*/ 152 w 152"/>
                <a:gd name="T1" fmla="*/ 4 h 224"/>
                <a:gd name="T2" fmla="*/ 152 w 152"/>
                <a:gd name="T3" fmla="*/ 224 h 224"/>
                <a:gd name="T4" fmla="*/ 0 w 152"/>
                <a:gd name="T5" fmla="*/ 8 h 224"/>
                <a:gd name="T6" fmla="*/ 72 w 152"/>
                <a:gd name="T7" fmla="*/ 0 h 224"/>
                <a:gd name="T8" fmla="*/ 152 w 152"/>
                <a:gd name="T9" fmla="*/ 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224">
                  <a:moveTo>
                    <a:pt x="152" y="4"/>
                  </a:moveTo>
                  <a:lnTo>
                    <a:pt x="152" y="224"/>
                  </a:lnTo>
                  <a:lnTo>
                    <a:pt x="0" y="8"/>
                  </a:lnTo>
                  <a:lnTo>
                    <a:pt x="72" y="0"/>
                  </a:lnTo>
                  <a:lnTo>
                    <a:pt x="152" y="4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1" name="Freeform 17"/>
            <p:cNvSpPr>
              <a:spLocks noChangeArrowheads="1"/>
            </p:cNvSpPr>
            <p:nvPr/>
          </p:nvSpPr>
          <p:spPr bwMode="auto">
            <a:xfrm>
              <a:off x="504" y="3607"/>
              <a:ext cx="193" cy="383"/>
            </a:xfrm>
            <a:custGeom>
              <a:avLst/>
              <a:gdLst>
                <a:gd name="T0" fmla="*/ 0 w 386"/>
                <a:gd name="T1" fmla="*/ 80 h 764"/>
                <a:gd name="T2" fmla="*/ 87 w 386"/>
                <a:gd name="T3" fmla="*/ 0 h 764"/>
                <a:gd name="T4" fmla="*/ 232 w 386"/>
                <a:gd name="T5" fmla="*/ 6 h 764"/>
                <a:gd name="T6" fmla="*/ 386 w 386"/>
                <a:gd name="T7" fmla="*/ 764 h 764"/>
                <a:gd name="T8" fmla="*/ 279 w 386"/>
                <a:gd name="T9" fmla="*/ 720 h 764"/>
                <a:gd name="T10" fmla="*/ 152 w 386"/>
                <a:gd name="T11" fmla="*/ 677 h 764"/>
                <a:gd name="T12" fmla="*/ 0 w 386"/>
                <a:gd name="T13" fmla="*/ 80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6" h="764">
                  <a:moveTo>
                    <a:pt x="0" y="80"/>
                  </a:moveTo>
                  <a:lnTo>
                    <a:pt x="87" y="0"/>
                  </a:lnTo>
                  <a:lnTo>
                    <a:pt x="232" y="6"/>
                  </a:lnTo>
                  <a:lnTo>
                    <a:pt x="386" y="764"/>
                  </a:lnTo>
                  <a:lnTo>
                    <a:pt x="279" y="720"/>
                  </a:lnTo>
                  <a:lnTo>
                    <a:pt x="152" y="677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Freeform 18"/>
            <p:cNvSpPr>
              <a:spLocks noChangeArrowheads="1"/>
            </p:cNvSpPr>
            <p:nvPr/>
          </p:nvSpPr>
          <p:spPr bwMode="auto">
            <a:xfrm>
              <a:off x="668" y="3590"/>
              <a:ext cx="364" cy="174"/>
            </a:xfrm>
            <a:custGeom>
              <a:avLst/>
              <a:gdLst>
                <a:gd name="T0" fmla="*/ 692 w 728"/>
                <a:gd name="T1" fmla="*/ 0 h 348"/>
                <a:gd name="T2" fmla="*/ 0 w 728"/>
                <a:gd name="T3" fmla="*/ 106 h 348"/>
                <a:gd name="T4" fmla="*/ 28 w 728"/>
                <a:gd name="T5" fmla="*/ 348 h 348"/>
                <a:gd name="T6" fmla="*/ 715 w 728"/>
                <a:gd name="T7" fmla="*/ 237 h 348"/>
                <a:gd name="T8" fmla="*/ 728 w 728"/>
                <a:gd name="T9" fmla="*/ 43 h 348"/>
                <a:gd name="T10" fmla="*/ 692 w 728"/>
                <a:gd name="T11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8" h="348">
                  <a:moveTo>
                    <a:pt x="692" y="0"/>
                  </a:moveTo>
                  <a:lnTo>
                    <a:pt x="0" y="106"/>
                  </a:lnTo>
                  <a:lnTo>
                    <a:pt x="28" y="348"/>
                  </a:lnTo>
                  <a:lnTo>
                    <a:pt x="715" y="237"/>
                  </a:lnTo>
                  <a:lnTo>
                    <a:pt x="728" y="43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3" name="Freeform 19"/>
            <p:cNvSpPr>
              <a:spLocks noChangeArrowheads="1"/>
            </p:cNvSpPr>
            <p:nvPr/>
          </p:nvSpPr>
          <p:spPr bwMode="auto">
            <a:xfrm>
              <a:off x="347" y="3693"/>
              <a:ext cx="156" cy="67"/>
            </a:xfrm>
            <a:custGeom>
              <a:avLst/>
              <a:gdLst>
                <a:gd name="T0" fmla="*/ 272 w 312"/>
                <a:gd name="T1" fmla="*/ 0 h 135"/>
                <a:gd name="T2" fmla="*/ 0 w 312"/>
                <a:gd name="T3" fmla="*/ 78 h 135"/>
                <a:gd name="T4" fmla="*/ 312 w 312"/>
                <a:gd name="T5" fmla="*/ 135 h 135"/>
                <a:gd name="T6" fmla="*/ 272 w 312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2" h="135">
                  <a:moveTo>
                    <a:pt x="272" y="0"/>
                  </a:moveTo>
                  <a:lnTo>
                    <a:pt x="0" y="78"/>
                  </a:lnTo>
                  <a:lnTo>
                    <a:pt x="312" y="135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60" name="Group 20"/>
            <p:cNvGrpSpPr/>
            <p:nvPr userDrawn="1"/>
          </p:nvGrpSpPr>
          <p:grpSpPr>
            <a:xfrm>
              <a:off x="5" y="3490"/>
              <a:ext cx="1124" cy="780"/>
              <a:chOff x="5" y="3490"/>
              <a:chExt cx="1124" cy="780"/>
            </a:xfrm>
          </p:grpSpPr>
          <p:grpSp>
            <p:nvGrpSpPr>
              <p:cNvPr id="1061" name="Group 21"/>
              <p:cNvGrpSpPr/>
              <p:nvPr userDrawn="1"/>
            </p:nvGrpSpPr>
            <p:grpSpPr>
              <a:xfrm>
                <a:off x="499" y="3562"/>
                <a:ext cx="548" cy="708"/>
                <a:chOff x="499" y="3562"/>
                <a:chExt cx="548" cy="708"/>
              </a:xfrm>
            </p:grpSpPr>
            <p:sp>
              <p:nvSpPr>
                <p:cNvPr id="1046" name="Freeform 22"/>
                <p:cNvSpPr>
                  <a:spLocks noChangeArrowheads="1"/>
                </p:cNvSpPr>
                <p:nvPr/>
              </p:nvSpPr>
              <p:spPr bwMode="auto">
                <a:xfrm>
                  <a:off x="499" y="3587"/>
                  <a:ext cx="157" cy="87"/>
                </a:xfrm>
                <a:custGeom>
                  <a:avLst/>
                  <a:gdLst>
                    <a:gd name="T0" fmla="*/ 0 w 313"/>
                    <a:gd name="T1" fmla="*/ 107 h 175"/>
                    <a:gd name="T2" fmla="*/ 114 w 313"/>
                    <a:gd name="T3" fmla="*/ 10 h 175"/>
                    <a:gd name="T4" fmla="*/ 213 w 313"/>
                    <a:gd name="T5" fmla="*/ 0 h 175"/>
                    <a:gd name="T6" fmla="*/ 292 w 313"/>
                    <a:gd name="T7" fmla="*/ 27 h 175"/>
                    <a:gd name="T8" fmla="*/ 313 w 313"/>
                    <a:gd name="T9" fmla="*/ 91 h 175"/>
                    <a:gd name="T10" fmla="*/ 167 w 313"/>
                    <a:gd name="T11" fmla="*/ 67 h 175"/>
                    <a:gd name="T12" fmla="*/ 74 w 313"/>
                    <a:gd name="T13" fmla="*/ 101 h 175"/>
                    <a:gd name="T14" fmla="*/ 13 w 313"/>
                    <a:gd name="T15" fmla="*/ 175 h 175"/>
                    <a:gd name="T16" fmla="*/ 0 w 313"/>
                    <a:gd name="T17" fmla="*/ 107 h 1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13" h="175">
                      <a:moveTo>
                        <a:pt x="0" y="107"/>
                      </a:moveTo>
                      <a:lnTo>
                        <a:pt x="114" y="10"/>
                      </a:lnTo>
                      <a:lnTo>
                        <a:pt x="213" y="0"/>
                      </a:lnTo>
                      <a:lnTo>
                        <a:pt x="292" y="27"/>
                      </a:lnTo>
                      <a:lnTo>
                        <a:pt x="313" y="91"/>
                      </a:lnTo>
                      <a:lnTo>
                        <a:pt x="167" y="67"/>
                      </a:lnTo>
                      <a:lnTo>
                        <a:pt x="74" y="101"/>
                      </a:lnTo>
                      <a:lnTo>
                        <a:pt x="13" y="175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47" name="Freeform 23"/>
                <p:cNvSpPr>
                  <a:spLocks noChangeArrowheads="1"/>
                </p:cNvSpPr>
                <p:nvPr/>
              </p:nvSpPr>
              <p:spPr bwMode="auto">
                <a:xfrm>
                  <a:off x="636" y="4137"/>
                  <a:ext cx="115" cy="133"/>
                </a:xfrm>
                <a:custGeom>
                  <a:avLst/>
                  <a:gdLst>
                    <a:gd name="T0" fmla="*/ 0 w 230"/>
                    <a:gd name="T1" fmla="*/ 40 h 266"/>
                    <a:gd name="T2" fmla="*/ 160 w 230"/>
                    <a:gd name="T3" fmla="*/ 266 h 266"/>
                    <a:gd name="T4" fmla="*/ 230 w 230"/>
                    <a:gd name="T5" fmla="*/ 251 h 266"/>
                    <a:gd name="T6" fmla="*/ 223 w 230"/>
                    <a:gd name="T7" fmla="*/ 17 h 266"/>
                    <a:gd name="T8" fmla="*/ 166 w 230"/>
                    <a:gd name="T9" fmla="*/ 0 h 266"/>
                    <a:gd name="T10" fmla="*/ 179 w 230"/>
                    <a:gd name="T11" fmla="*/ 197 h 266"/>
                    <a:gd name="T12" fmla="*/ 71 w 230"/>
                    <a:gd name="T13" fmla="*/ 4 h 266"/>
                    <a:gd name="T14" fmla="*/ 0 w 230"/>
                    <a:gd name="T15" fmla="*/ 40 h 2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30" h="266">
                      <a:moveTo>
                        <a:pt x="0" y="40"/>
                      </a:moveTo>
                      <a:lnTo>
                        <a:pt x="160" y="266"/>
                      </a:lnTo>
                      <a:lnTo>
                        <a:pt x="230" y="251"/>
                      </a:lnTo>
                      <a:lnTo>
                        <a:pt x="223" y="17"/>
                      </a:lnTo>
                      <a:lnTo>
                        <a:pt x="166" y="0"/>
                      </a:lnTo>
                      <a:lnTo>
                        <a:pt x="179" y="197"/>
                      </a:lnTo>
                      <a:lnTo>
                        <a:pt x="71" y="4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48" name="Freeform 24"/>
                <p:cNvSpPr>
                  <a:spLocks noChangeArrowheads="1"/>
                </p:cNvSpPr>
                <p:nvPr/>
              </p:nvSpPr>
              <p:spPr bwMode="auto">
                <a:xfrm>
                  <a:off x="1004" y="3562"/>
                  <a:ext cx="43" cy="117"/>
                </a:xfrm>
                <a:custGeom>
                  <a:avLst/>
                  <a:gdLst>
                    <a:gd name="T0" fmla="*/ 0 w 87"/>
                    <a:gd name="T1" fmla="*/ 19 h 234"/>
                    <a:gd name="T2" fmla="*/ 36 w 87"/>
                    <a:gd name="T3" fmla="*/ 93 h 234"/>
                    <a:gd name="T4" fmla="*/ 44 w 87"/>
                    <a:gd name="T5" fmla="*/ 154 h 234"/>
                    <a:gd name="T6" fmla="*/ 27 w 87"/>
                    <a:gd name="T7" fmla="*/ 234 h 234"/>
                    <a:gd name="T8" fmla="*/ 80 w 87"/>
                    <a:gd name="T9" fmla="*/ 220 h 234"/>
                    <a:gd name="T10" fmla="*/ 87 w 87"/>
                    <a:gd name="T11" fmla="*/ 116 h 234"/>
                    <a:gd name="T12" fmla="*/ 46 w 87"/>
                    <a:gd name="T13" fmla="*/ 0 h 234"/>
                    <a:gd name="T14" fmla="*/ 0 w 87"/>
                    <a:gd name="T15" fmla="*/ 19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7" h="234">
                      <a:moveTo>
                        <a:pt x="0" y="19"/>
                      </a:moveTo>
                      <a:lnTo>
                        <a:pt x="36" y="93"/>
                      </a:lnTo>
                      <a:lnTo>
                        <a:pt x="44" y="154"/>
                      </a:lnTo>
                      <a:lnTo>
                        <a:pt x="27" y="234"/>
                      </a:lnTo>
                      <a:lnTo>
                        <a:pt x="80" y="220"/>
                      </a:lnTo>
                      <a:lnTo>
                        <a:pt x="87" y="116"/>
                      </a:lnTo>
                      <a:lnTo>
                        <a:pt x="46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049" name="Freeform 25"/>
              <p:cNvSpPr>
                <a:spLocks noChangeArrowheads="1"/>
              </p:cNvSpPr>
              <p:nvPr/>
            </p:nvSpPr>
            <p:spPr bwMode="auto">
              <a:xfrm>
                <a:off x="76" y="3732"/>
                <a:ext cx="595" cy="250"/>
              </a:xfrm>
              <a:custGeom>
                <a:avLst/>
                <a:gdLst>
                  <a:gd name="T0" fmla="*/ 100 w 1190"/>
                  <a:gd name="T1" fmla="*/ 0 h 500"/>
                  <a:gd name="T2" fmla="*/ 1190 w 1190"/>
                  <a:gd name="T3" fmla="*/ 490 h 500"/>
                  <a:gd name="T4" fmla="*/ 1076 w 1190"/>
                  <a:gd name="T5" fmla="*/ 500 h 500"/>
                  <a:gd name="T6" fmla="*/ 0 w 1190"/>
                  <a:gd name="T7" fmla="*/ 27 h 500"/>
                  <a:gd name="T8" fmla="*/ 100 w 1190"/>
                  <a:gd name="T9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0" name="Freeform 26"/>
              <p:cNvSpPr>
                <a:spLocks noChangeArrowheads="1"/>
              </p:cNvSpPr>
              <p:nvPr/>
            </p:nvSpPr>
            <p:spPr bwMode="auto">
              <a:xfrm>
                <a:off x="260" y="3886"/>
                <a:ext cx="244" cy="148"/>
              </a:xfrm>
              <a:custGeom>
                <a:avLst/>
                <a:gdLst>
                  <a:gd name="T0" fmla="*/ 14 w 489"/>
                  <a:gd name="T1" fmla="*/ 34 h 296"/>
                  <a:gd name="T2" fmla="*/ 160 w 489"/>
                  <a:gd name="T3" fmla="*/ 66 h 296"/>
                  <a:gd name="T4" fmla="*/ 324 w 489"/>
                  <a:gd name="T5" fmla="*/ 137 h 296"/>
                  <a:gd name="T6" fmla="*/ 440 w 489"/>
                  <a:gd name="T7" fmla="*/ 243 h 296"/>
                  <a:gd name="T8" fmla="*/ 326 w 489"/>
                  <a:gd name="T9" fmla="*/ 230 h 296"/>
                  <a:gd name="T10" fmla="*/ 139 w 489"/>
                  <a:gd name="T11" fmla="*/ 146 h 296"/>
                  <a:gd name="T12" fmla="*/ 50 w 489"/>
                  <a:gd name="T13" fmla="*/ 80 h 296"/>
                  <a:gd name="T14" fmla="*/ 107 w 489"/>
                  <a:gd name="T15" fmla="*/ 163 h 296"/>
                  <a:gd name="T16" fmla="*/ 272 w 489"/>
                  <a:gd name="T17" fmla="*/ 270 h 296"/>
                  <a:gd name="T18" fmla="*/ 466 w 489"/>
                  <a:gd name="T19" fmla="*/ 296 h 296"/>
                  <a:gd name="T20" fmla="*/ 489 w 489"/>
                  <a:gd name="T21" fmla="*/ 224 h 296"/>
                  <a:gd name="T22" fmla="*/ 394 w 489"/>
                  <a:gd name="T23" fmla="*/ 120 h 296"/>
                  <a:gd name="T24" fmla="*/ 170 w 489"/>
                  <a:gd name="T25" fmla="*/ 17 h 296"/>
                  <a:gd name="T26" fmla="*/ 0 w 489"/>
                  <a:gd name="T27" fmla="*/ 0 h 296"/>
                  <a:gd name="T28" fmla="*/ 14 w 489"/>
                  <a:gd name="T29" fmla="*/ 34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1" name="Freeform 27"/>
              <p:cNvSpPr>
                <a:spLocks noChangeArrowheads="1"/>
              </p:cNvSpPr>
              <p:nvPr/>
            </p:nvSpPr>
            <p:spPr bwMode="auto">
              <a:xfrm>
                <a:off x="565" y="3680"/>
                <a:ext cx="107" cy="238"/>
              </a:xfrm>
              <a:custGeom>
                <a:avLst/>
                <a:gdLst>
                  <a:gd name="T0" fmla="*/ 24 w 213"/>
                  <a:gd name="T1" fmla="*/ 0 h 478"/>
                  <a:gd name="T2" fmla="*/ 91 w 213"/>
                  <a:gd name="T3" fmla="*/ 25 h 478"/>
                  <a:gd name="T4" fmla="*/ 80 w 213"/>
                  <a:gd name="T5" fmla="*/ 192 h 478"/>
                  <a:gd name="T6" fmla="*/ 106 w 213"/>
                  <a:gd name="T7" fmla="*/ 327 h 478"/>
                  <a:gd name="T8" fmla="*/ 213 w 213"/>
                  <a:gd name="T9" fmla="*/ 451 h 478"/>
                  <a:gd name="T10" fmla="*/ 97 w 213"/>
                  <a:gd name="T11" fmla="*/ 478 h 478"/>
                  <a:gd name="T12" fmla="*/ 30 w 213"/>
                  <a:gd name="T13" fmla="*/ 344 h 478"/>
                  <a:gd name="T14" fmla="*/ 0 w 213"/>
                  <a:gd name="T15" fmla="*/ 57 h 478"/>
                  <a:gd name="T16" fmla="*/ 24 w 213"/>
                  <a:gd name="T17" fmla="*/ 0 h 4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3" h="478">
                    <a:moveTo>
                      <a:pt x="24" y="0"/>
                    </a:moveTo>
                    <a:lnTo>
                      <a:pt x="91" y="25"/>
                    </a:lnTo>
                    <a:lnTo>
                      <a:pt x="80" y="192"/>
                    </a:lnTo>
                    <a:lnTo>
                      <a:pt x="106" y="327"/>
                    </a:lnTo>
                    <a:lnTo>
                      <a:pt x="213" y="451"/>
                    </a:lnTo>
                    <a:lnTo>
                      <a:pt x="97" y="478"/>
                    </a:lnTo>
                    <a:lnTo>
                      <a:pt x="30" y="344"/>
                    </a:lnTo>
                    <a:lnTo>
                      <a:pt x="0" y="57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1065" name="Group 28"/>
              <p:cNvGrpSpPr/>
              <p:nvPr userDrawn="1"/>
            </p:nvGrpSpPr>
            <p:grpSpPr>
              <a:xfrm>
                <a:off x="5" y="3490"/>
                <a:ext cx="1124" cy="678"/>
                <a:chOff x="5" y="3490"/>
                <a:chExt cx="1124" cy="678"/>
              </a:xfrm>
            </p:grpSpPr>
            <p:sp>
              <p:nvSpPr>
                <p:cNvPr id="1053" name="Freeform 29"/>
                <p:cNvSpPr>
                  <a:spLocks noChangeArrowheads="1"/>
                </p:cNvSpPr>
                <p:nvPr/>
              </p:nvSpPr>
              <p:spPr bwMode="auto">
                <a:xfrm>
                  <a:off x="669" y="4048"/>
                  <a:ext cx="75" cy="87"/>
                </a:xfrm>
                <a:custGeom>
                  <a:avLst/>
                  <a:gdLst>
                    <a:gd name="T0" fmla="*/ 110 w 150"/>
                    <a:gd name="T1" fmla="*/ 0 h 173"/>
                    <a:gd name="T2" fmla="*/ 40 w 150"/>
                    <a:gd name="T3" fmla="*/ 66 h 173"/>
                    <a:gd name="T4" fmla="*/ 0 w 150"/>
                    <a:gd name="T5" fmla="*/ 173 h 173"/>
                    <a:gd name="T6" fmla="*/ 80 w 150"/>
                    <a:gd name="T7" fmla="*/ 160 h 173"/>
                    <a:gd name="T8" fmla="*/ 103 w 150"/>
                    <a:gd name="T9" fmla="*/ 84 h 173"/>
                    <a:gd name="T10" fmla="*/ 150 w 150"/>
                    <a:gd name="T11" fmla="*/ 27 h 173"/>
                    <a:gd name="T12" fmla="*/ 110 w 150"/>
                    <a:gd name="T13" fmla="*/ 0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50" h="173">
                      <a:moveTo>
                        <a:pt x="110" y="0"/>
                      </a:moveTo>
                      <a:lnTo>
                        <a:pt x="40" y="66"/>
                      </a:lnTo>
                      <a:lnTo>
                        <a:pt x="0" y="173"/>
                      </a:lnTo>
                      <a:lnTo>
                        <a:pt x="80" y="160"/>
                      </a:lnTo>
                      <a:lnTo>
                        <a:pt x="103" y="84"/>
                      </a:lnTo>
                      <a:lnTo>
                        <a:pt x="150" y="27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54" name="Freeform 30"/>
                <p:cNvSpPr>
                  <a:spLocks noChangeArrowheads="1"/>
                </p:cNvSpPr>
                <p:nvPr/>
              </p:nvSpPr>
              <p:spPr bwMode="auto">
                <a:xfrm>
                  <a:off x="5" y="3728"/>
                  <a:ext cx="842" cy="440"/>
                </a:xfrm>
                <a:custGeom>
                  <a:avLst/>
                  <a:gdLst>
                    <a:gd name="T0" fmla="*/ 156 w 1684"/>
                    <a:gd name="T1" fmla="*/ 0 h 880"/>
                    <a:gd name="T2" fmla="*/ 63 w 1684"/>
                    <a:gd name="T3" fmla="*/ 52 h 880"/>
                    <a:gd name="T4" fmla="*/ 0 w 1684"/>
                    <a:gd name="T5" fmla="*/ 208 h 880"/>
                    <a:gd name="T6" fmla="*/ 67 w 1684"/>
                    <a:gd name="T7" fmla="*/ 358 h 880"/>
                    <a:gd name="T8" fmla="*/ 1182 w 1684"/>
                    <a:gd name="T9" fmla="*/ 867 h 880"/>
                    <a:gd name="T10" fmla="*/ 1422 w 1684"/>
                    <a:gd name="T11" fmla="*/ 835 h 880"/>
                    <a:gd name="T12" fmla="*/ 1616 w 1684"/>
                    <a:gd name="T13" fmla="*/ 880 h 880"/>
                    <a:gd name="T14" fmla="*/ 1684 w 1684"/>
                    <a:gd name="T15" fmla="*/ 808 h 880"/>
                    <a:gd name="T16" fmla="*/ 1502 w 1684"/>
                    <a:gd name="T17" fmla="*/ 664 h 880"/>
                    <a:gd name="T18" fmla="*/ 1428 w 1684"/>
                    <a:gd name="T19" fmla="*/ 512 h 880"/>
                    <a:gd name="T20" fmla="*/ 1369 w 1684"/>
                    <a:gd name="T21" fmla="*/ 527 h 880"/>
                    <a:gd name="T22" fmla="*/ 1439 w 1684"/>
                    <a:gd name="T23" fmla="*/ 664 h 880"/>
                    <a:gd name="T24" fmla="*/ 1578 w 1684"/>
                    <a:gd name="T25" fmla="*/ 810 h 880"/>
                    <a:gd name="T26" fmla="*/ 1413 w 1684"/>
                    <a:gd name="T27" fmla="*/ 787 h 880"/>
                    <a:gd name="T28" fmla="*/ 1219 w 1684"/>
                    <a:gd name="T29" fmla="*/ 814 h 880"/>
                    <a:gd name="T30" fmla="*/ 1255 w 1684"/>
                    <a:gd name="T31" fmla="*/ 650 h 880"/>
                    <a:gd name="T32" fmla="*/ 1338 w 1684"/>
                    <a:gd name="T33" fmla="*/ 538 h 880"/>
                    <a:gd name="T34" fmla="*/ 1241 w 1684"/>
                    <a:gd name="T35" fmla="*/ 552 h 880"/>
                    <a:gd name="T36" fmla="*/ 1165 w 1684"/>
                    <a:gd name="T37" fmla="*/ 658 h 880"/>
                    <a:gd name="T38" fmla="*/ 1139 w 1684"/>
                    <a:gd name="T39" fmla="*/ 791 h 880"/>
                    <a:gd name="T40" fmla="*/ 107 w 1684"/>
                    <a:gd name="T41" fmla="*/ 310 h 880"/>
                    <a:gd name="T42" fmla="*/ 80 w 1684"/>
                    <a:gd name="T43" fmla="*/ 215 h 880"/>
                    <a:gd name="T44" fmla="*/ 103 w 1684"/>
                    <a:gd name="T45" fmla="*/ 95 h 880"/>
                    <a:gd name="T46" fmla="*/ 217 w 1684"/>
                    <a:gd name="T47" fmla="*/ 0 h 880"/>
                    <a:gd name="T48" fmla="*/ 156 w 1684"/>
                    <a:gd name="T49" fmla="*/ 0 h 8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684" h="880">
                      <a:moveTo>
                        <a:pt x="156" y="0"/>
                      </a:moveTo>
                      <a:lnTo>
                        <a:pt x="63" y="52"/>
                      </a:lnTo>
                      <a:lnTo>
                        <a:pt x="0" y="208"/>
                      </a:lnTo>
                      <a:lnTo>
                        <a:pt x="67" y="358"/>
                      </a:lnTo>
                      <a:lnTo>
                        <a:pt x="1182" y="867"/>
                      </a:lnTo>
                      <a:lnTo>
                        <a:pt x="1422" y="835"/>
                      </a:lnTo>
                      <a:lnTo>
                        <a:pt x="1616" y="880"/>
                      </a:lnTo>
                      <a:lnTo>
                        <a:pt x="1684" y="808"/>
                      </a:lnTo>
                      <a:lnTo>
                        <a:pt x="1502" y="664"/>
                      </a:lnTo>
                      <a:lnTo>
                        <a:pt x="1428" y="512"/>
                      </a:lnTo>
                      <a:lnTo>
                        <a:pt x="1369" y="527"/>
                      </a:lnTo>
                      <a:lnTo>
                        <a:pt x="1439" y="664"/>
                      </a:lnTo>
                      <a:lnTo>
                        <a:pt x="1578" y="810"/>
                      </a:lnTo>
                      <a:lnTo>
                        <a:pt x="1413" y="787"/>
                      </a:lnTo>
                      <a:lnTo>
                        <a:pt x="1219" y="814"/>
                      </a:lnTo>
                      <a:lnTo>
                        <a:pt x="1255" y="650"/>
                      </a:lnTo>
                      <a:lnTo>
                        <a:pt x="1338" y="538"/>
                      </a:lnTo>
                      <a:lnTo>
                        <a:pt x="1241" y="552"/>
                      </a:lnTo>
                      <a:lnTo>
                        <a:pt x="1165" y="658"/>
                      </a:lnTo>
                      <a:lnTo>
                        <a:pt x="1139" y="791"/>
                      </a:lnTo>
                      <a:lnTo>
                        <a:pt x="107" y="310"/>
                      </a:lnTo>
                      <a:lnTo>
                        <a:pt x="80" y="215"/>
                      </a:lnTo>
                      <a:lnTo>
                        <a:pt x="103" y="95"/>
                      </a:lnTo>
                      <a:lnTo>
                        <a:pt x="217" y="0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55" name="Freeform 31"/>
                <p:cNvSpPr>
                  <a:spLocks noChangeArrowheads="1"/>
                </p:cNvSpPr>
                <p:nvPr/>
              </p:nvSpPr>
              <p:spPr bwMode="auto">
                <a:xfrm>
                  <a:off x="106" y="3770"/>
                  <a:ext cx="80" cy="167"/>
                </a:xfrm>
                <a:custGeom>
                  <a:avLst/>
                  <a:gdLst>
                    <a:gd name="T0" fmla="*/ 116 w 160"/>
                    <a:gd name="T1" fmla="*/ 0 h 335"/>
                    <a:gd name="T2" fmla="*/ 19 w 160"/>
                    <a:gd name="T3" fmla="*/ 106 h 335"/>
                    <a:gd name="T4" fmla="*/ 0 w 160"/>
                    <a:gd name="T5" fmla="*/ 230 h 335"/>
                    <a:gd name="T6" fmla="*/ 33 w 160"/>
                    <a:gd name="T7" fmla="*/ 314 h 335"/>
                    <a:gd name="T8" fmla="*/ 94 w 160"/>
                    <a:gd name="T9" fmla="*/ 335 h 335"/>
                    <a:gd name="T10" fmla="*/ 76 w 160"/>
                    <a:gd name="T11" fmla="*/ 154 h 335"/>
                    <a:gd name="T12" fmla="*/ 160 w 160"/>
                    <a:gd name="T13" fmla="*/ 17 h 335"/>
                    <a:gd name="T14" fmla="*/ 116 w 160"/>
                    <a:gd name="T15" fmla="*/ 0 h 3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60" h="335">
                      <a:moveTo>
                        <a:pt x="116" y="0"/>
                      </a:moveTo>
                      <a:lnTo>
                        <a:pt x="19" y="106"/>
                      </a:lnTo>
                      <a:lnTo>
                        <a:pt x="0" y="230"/>
                      </a:lnTo>
                      <a:lnTo>
                        <a:pt x="33" y="314"/>
                      </a:lnTo>
                      <a:lnTo>
                        <a:pt x="94" y="335"/>
                      </a:lnTo>
                      <a:lnTo>
                        <a:pt x="76" y="154"/>
                      </a:lnTo>
                      <a:lnTo>
                        <a:pt x="160" y="17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56" name="Freeform 32"/>
                <p:cNvSpPr>
                  <a:spLocks noChangeArrowheads="1"/>
                </p:cNvSpPr>
                <p:nvPr/>
              </p:nvSpPr>
              <p:spPr bwMode="auto">
                <a:xfrm>
                  <a:off x="449" y="3490"/>
                  <a:ext cx="322" cy="594"/>
                </a:xfrm>
                <a:custGeom>
                  <a:avLst/>
                  <a:gdLst>
                    <a:gd name="T0" fmla="*/ 218 w 642"/>
                    <a:gd name="T1" fmla="*/ 896 h 1188"/>
                    <a:gd name="T2" fmla="*/ 0 w 642"/>
                    <a:gd name="T3" fmla="*/ 124 h 1188"/>
                    <a:gd name="T4" fmla="*/ 81 w 642"/>
                    <a:gd name="T5" fmla="*/ 38 h 1188"/>
                    <a:gd name="T6" fmla="*/ 258 w 642"/>
                    <a:gd name="T7" fmla="*/ 0 h 1188"/>
                    <a:gd name="T8" fmla="*/ 399 w 642"/>
                    <a:gd name="T9" fmla="*/ 57 h 1188"/>
                    <a:gd name="T10" fmla="*/ 642 w 642"/>
                    <a:gd name="T11" fmla="*/ 1188 h 1188"/>
                    <a:gd name="T12" fmla="*/ 555 w 642"/>
                    <a:gd name="T13" fmla="*/ 1091 h 1188"/>
                    <a:gd name="T14" fmla="*/ 355 w 642"/>
                    <a:gd name="T15" fmla="*/ 97 h 1188"/>
                    <a:gd name="T16" fmla="*/ 226 w 642"/>
                    <a:gd name="T17" fmla="*/ 61 h 1188"/>
                    <a:gd name="T18" fmla="*/ 119 w 642"/>
                    <a:gd name="T19" fmla="*/ 74 h 1188"/>
                    <a:gd name="T20" fmla="*/ 76 w 642"/>
                    <a:gd name="T21" fmla="*/ 141 h 1188"/>
                    <a:gd name="T22" fmla="*/ 306 w 642"/>
                    <a:gd name="T23" fmla="*/ 924 h 1188"/>
                    <a:gd name="T24" fmla="*/ 218 w 642"/>
                    <a:gd name="T25" fmla="*/ 896 h 11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642" h="1188">
                      <a:moveTo>
                        <a:pt x="218" y="896"/>
                      </a:moveTo>
                      <a:lnTo>
                        <a:pt x="0" y="124"/>
                      </a:lnTo>
                      <a:lnTo>
                        <a:pt x="81" y="38"/>
                      </a:lnTo>
                      <a:lnTo>
                        <a:pt x="258" y="0"/>
                      </a:lnTo>
                      <a:lnTo>
                        <a:pt x="399" y="57"/>
                      </a:lnTo>
                      <a:lnTo>
                        <a:pt x="642" y="1188"/>
                      </a:lnTo>
                      <a:lnTo>
                        <a:pt x="555" y="1091"/>
                      </a:lnTo>
                      <a:lnTo>
                        <a:pt x="355" y="97"/>
                      </a:lnTo>
                      <a:lnTo>
                        <a:pt x="226" y="61"/>
                      </a:lnTo>
                      <a:lnTo>
                        <a:pt x="119" y="74"/>
                      </a:lnTo>
                      <a:lnTo>
                        <a:pt x="76" y="141"/>
                      </a:lnTo>
                      <a:lnTo>
                        <a:pt x="306" y="924"/>
                      </a:lnTo>
                      <a:lnTo>
                        <a:pt x="218" y="89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57" name="Freeform 33"/>
                <p:cNvSpPr>
                  <a:spLocks noChangeArrowheads="1"/>
                </p:cNvSpPr>
                <p:nvPr/>
              </p:nvSpPr>
              <p:spPr bwMode="auto">
                <a:xfrm>
                  <a:off x="578" y="3650"/>
                  <a:ext cx="96" cy="252"/>
                </a:xfrm>
                <a:custGeom>
                  <a:avLst/>
                  <a:gdLst>
                    <a:gd name="T0" fmla="*/ 0 w 192"/>
                    <a:gd name="T1" fmla="*/ 27 h 504"/>
                    <a:gd name="T2" fmla="*/ 76 w 192"/>
                    <a:gd name="T3" fmla="*/ 194 h 504"/>
                    <a:gd name="T4" fmla="*/ 113 w 192"/>
                    <a:gd name="T5" fmla="*/ 318 h 504"/>
                    <a:gd name="T6" fmla="*/ 116 w 192"/>
                    <a:gd name="T7" fmla="*/ 504 h 504"/>
                    <a:gd name="T8" fmla="*/ 192 w 192"/>
                    <a:gd name="T9" fmla="*/ 504 h 504"/>
                    <a:gd name="T10" fmla="*/ 187 w 192"/>
                    <a:gd name="T11" fmla="*/ 360 h 504"/>
                    <a:gd name="T12" fmla="*/ 162 w 192"/>
                    <a:gd name="T13" fmla="*/ 208 h 504"/>
                    <a:gd name="T14" fmla="*/ 99 w 192"/>
                    <a:gd name="T15" fmla="*/ 59 h 504"/>
                    <a:gd name="T16" fmla="*/ 63 w 192"/>
                    <a:gd name="T17" fmla="*/ 0 h 504"/>
                    <a:gd name="T18" fmla="*/ 0 w 192"/>
                    <a:gd name="T19" fmla="*/ 27 h 5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2" h="504">
                      <a:moveTo>
                        <a:pt x="0" y="27"/>
                      </a:moveTo>
                      <a:lnTo>
                        <a:pt x="76" y="194"/>
                      </a:lnTo>
                      <a:lnTo>
                        <a:pt x="113" y="318"/>
                      </a:lnTo>
                      <a:lnTo>
                        <a:pt x="116" y="504"/>
                      </a:lnTo>
                      <a:lnTo>
                        <a:pt x="192" y="504"/>
                      </a:lnTo>
                      <a:lnTo>
                        <a:pt x="187" y="360"/>
                      </a:lnTo>
                      <a:lnTo>
                        <a:pt x="162" y="208"/>
                      </a:lnTo>
                      <a:lnTo>
                        <a:pt x="99" y="59"/>
                      </a:lnTo>
                      <a:lnTo>
                        <a:pt x="63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58" name="Freeform 34"/>
                <p:cNvSpPr>
                  <a:spLocks noChangeArrowheads="1"/>
                </p:cNvSpPr>
                <p:nvPr/>
              </p:nvSpPr>
              <p:spPr bwMode="auto">
                <a:xfrm>
                  <a:off x="328" y="3630"/>
                  <a:ext cx="195" cy="135"/>
                </a:xfrm>
                <a:custGeom>
                  <a:avLst/>
                  <a:gdLst>
                    <a:gd name="T0" fmla="*/ 297 w 390"/>
                    <a:gd name="T1" fmla="*/ 0 h 269"/>
                    <a:gd name="T2" fmla="*/ 257 w 390"/>
                    <a:gd name="T3" fmla="*/ 17 h 269"/>
                    <a:gd name="T4" fmla="*/ 253 w 390"/>
                    <a:gd name="T5" fmla="*/ 66 h 269"/>
                    <a:gd name="T6" fmla="*/ 0 w 390"/>
                    <a:gd name="T7" fmla="*/ 169 h 269"/>
                    <a:gd name="T8" fmla="*/ 0 w 390"/>
                    <a:gd name="T9" fmla="*/ 222 h 269"/>
                    <a:gd name="T10" fmla="*/ 284 w 390"/>
                    <a:gd name="T11" fmla="*/ 226 h 269"/>
                    <a:gd name="T12" fmla="*/ 320 w 390"/>
                    <a:gd name="T13" fmla="*/ 269 h 269"/>
                    <a:gd name="T14" fmla="*/ 390 w 390"/>
                    <a:gd name="T15" fmla="*/ 266 h 269"/>
                    <a:gd name="T16" fmla="*/ 383 w 390"/>
                    <a:gd name="T17" fmla="*/ 190 h 269"/>
                    <a:gd name="T18" fmla="*/ 116 w 390"/>
                    <a:gd name="T19" fmla="*/ 176 h 269"/>
                    <a:gd name="T20" fmla="*/ 333 w 390"/>
                    <a:gd name="T21" fmla="*/ 89 h 269"/>
                    <a:gd name="T22" fmla="*/ 297 w 390"/>
                    <a:gd name="T23" fmla="*/ 0 h 2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90" h="269">
                      <a:moveTo>
                        <a:pt x="297" y="0"/>
                      </a:moveTo>
                      <a:lnTo>
                        <a:pt x="257" y="17"/>
                      </a:lnTo>
                      <a:lnTo>
                        <a:pt x="253" y="66"/>
                      </a:lnTo>
                      <a:lnTo>
                        <a:pt x="0" y="169"/>
                      </a:lnTo>
                      <a:lnTo>
                        <a:pt x="0" y="222"/>
                      </a:lnTo>
                      <a:lnTo>
                        <a:pt x="284" y="226"/>
                      </a:lnTo>
                      <a:lnTo>
                        <a:pt x="320" y="269"/>
                      </a:lnTo>
                      <a:lnTo>
                        <a:pt x="390" y="266"/>
                      </a:lnTo>
                      <a:lnTo>
                        <a:pt x="383" y="190"/>
                      </a:lnTo>
                      <a:lnTo>
                        <a:pt x="116" y="176"/>
                      </a:lnTo>
                      <a:lnTo>
                        <a:pt x="333" y="89"/>
                      </a:lnTo>
                      <a:lnTo>
                        <a:pt x="29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59" name="Freeform 35"/>
                <p:cNvSpPr>
                  <a:spLocks noChangeArrowheads="1"/>
                </p:cNvSpPr>
                <p:nvPr/>
              </p:nvSpPr>
              <p:spPr bwMode="auto">
                <a:xfrm>
                  <a:off x="658" y="3538"/>
                  <a:ext cx="471" cy="212"/>
                </a:xfrm>
                <a:custGeom>
                  <a:avLst/>
                  <a:gdLst>
                    <a:gd name="T0" fmla="*/ 0 w 941"/>
                    <a:gd name="T1" fmla="*/ 131 h 424"/>
                    <a:gd name="T2" fmla="*/ 863 w 941"/>
                    <a:gd name="T3" fmla="*/ 0 h 424"/>
                    <a:gd name="T4" fmla="*/ 926 w 941"/>
                    <a:gd name="T5" fmla="*/ 78 h 424"/>
                    <a:gd name="T6" fmla="*/ 941 w 941"/>
                    <a:gd name="T7" fmla="*/ 181 h 424"/>
                    <a:gd name="T8" fmla="*/ 903 w 941"/>
                    <a:gd name="T9" fmla="*/ 282 h 424"/>
                    <a:gd name="T10" fmla="*/ 57 w 941"/>
                    <a:gd name="T11" fmla="*/ 424 h 424"/>
                    <a:gd name="T12" fmla="*/ 53 w 941"/>
                    <a:gd name="T13" fmla="*/ 384 h 424"/>
                    <a:gd name="T14" fmla="*/ 863 w 941"/>
                    <a:gd name="T15" fmla="*/ 242 h 424"/>
                    <a:gd name="T16" fmla="*/ 893 w 941"/>
                    <a:gd name="T17" fmla="*/ 145 h 424"/>
                    <a:gd name="T18" fmla="*/ 840 w 941"/>
                    <a:gd name="T19" fmla="*/ 57 h 424"/>
                    <a:gd name="T20" fmla="*/ 0 w 941"/>
                    <a:gd name="T21" fmla="*/ 185 h 424"/>
                    <a:gd name="T22" fmla="*/ 0 w 941"/>
                    <a:gd name="T23" fmla="*/ 131 h 4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941" h="424">
                      <a:moveTo>
                        <a:pt x="0" y="131"/>
                      </a:moveTo>
                      <a:lnTo>
                        <a:pt x="863" y="0"/>
                      </a:lnTo>
                      <a:lnTo>
                        <a:pt x="926" y="78"/>
                      </a:lnTo>
                      <a:lnTo>
                        <a:pt x="941" y="181"/>
                      </a:lnTo>
                      <a:lnTo>
                        <a:pt x="903" y="282"/>
                      </a:lnTo>
                      <a:lnTo>
                        <a:pt x="57" y="424"/>
                      </a:lnTo>
                      <a:lnTo>
                        <a:pt x="53" y="384"/>
                      </a:lnTo>
                      <a:lnTo>
                        <a:pt x="863" y="242"/>
                      </a:lnTo>
                      <a:lnTo>
                        <a:pt x="893" y="145"/>
                      </a:lnTo>
                      <a:lnTo>
                        <a:pt x="840" y="57"/>
                      </a:lnTo>
                      <a:lnTo>
                        <a:pt x="0" y="185"/>
                      </a:lnTo>
                      <a:lnTo>
                        <a:pt x="0" y="1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" name="Freeform 36"/>
                <p:cNvSpPr>
                  <a:spLocks noChangeArrowheads="1"/>
                </p:cNvSpPr>
                <p:nvPr/>
              </p:nvSpPr>
              <p:spPr bwMode="auto">
                <a:xfrm>
                  <a:off x="717" y="3606"/>
                  <a:ext cx="245" cy="86"/>
                </a:xfrm>
                <a:custGeom>
                  <a:avLst/>
                  <a:gdLst>
                    <a:gd name="T0" fmla="*/ 0 w 488"/>
                    <a:gd name="T1" fmla="*/ 126 h 173"/>
                    <a:gd name="T2" fmla="*/ 66 w 488"/>
                    <a:gd name="T3" fmla="*/ 173 h 173"/>
                    <a:gd name="T4" fmla="*/ 222 w 488"/>
                    <a:gd name="T5" fmla="*/ 166 h 173"/>
                    <a:gd name="T6" fmla="*/ 418 w 488"/>
                    <a:gd name="T7" fmla="*/ 116 h 173"/>
                    <a:gd name="T8" fmla="*/ 488 w 488"/>
                    <a:gd name="T9" fmla="*/ 42 h 173"/>
                    <a:gd name="T10" fmla="*/ 443 w 488"/>
                    <a:gd name="T11" fmla="*/ 2 h 173"/>
                    <a:gd name="T12" fmla="*/ 253 w 488"/>
                    <a:gd name="T13" fmla="*/ 0 h 173"/>
                    <a:gd name="T14" fmla="*/ 110 w 488"/>
                    <a:gd name="T15" fmla="*/ 12 h 173"/>
                    <a:gd name="T16" fmla="*/ 15 w 488"/>
                    <a:gd name="T17" fmla="*/ 76 h 173"/>
                    <a:gd name="T18" fmla="*/ 112 w 488"/>
                    <a:gd name="T19" fmla="*/ 95 h 173"/>
                    <a:gd name="T20" fmla="*/ 275 w 488"/>
                    <a:gd name="T21" fmla="*/ 53 h 173"/>
                    <a:gd name="T22" fmla="*/ 416 w 488"/>
                    <a:gd name="T23" fmla="*/ 53 h 173"/>
                    <a:gd name="T24" fmla="*/ 268 w 488"/>
                    <a:gd name="T25" fmla="*/ 110 h 173"/>
                    <a:gd name="T26" fmla="*/ 142 w 488"/>
                    <a:gd name="T27" fmla="*/ 126 h 173"/>
                    <a:gd name="T28" fmla="*/ 0 w 488"/>
                    <a:gd name="T29" fmla="*/ 126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88" h="173">
                      <a:moveTo>
                        <a:pt x="0" y="126"/>
                      </a:moveTo>
                      <a:lnTo>
                        <a:pt x="66" y="173"/>
                      </a:lnTo>
                      <a:lnTo>
                        <a:pt x="222" y="166"/>
                      </a:lnTo>
                      <a:lnTo>
                        <a:pt x="418" y="116"/>
                      </a:lnTo>
                      <a:lnTo>
                        <a:pt x="488" y="42"/>
                      </a:lnTo>
                      <a:lnTo>
                        <a:pt x="443" y="2"/>
                      </a:lnTo>
                      <a:lnTo>
                        <a:pt x="253" y="0"/>
                      </a:lnTo>
                      <a:lnTo>
                        <a:pt x="110" y="12"/>
                      </a:lnTo>
                      <a:lnTo>
                        <a:pt x="15" y="76"/>
                      </a:lnTo>
                      <a:lnTo>
                        <a:pt x="112" y="95"/>
                      </a:lnTo>
                      <a:lnTo>
                        <a:pt x="275" y="53"/>
                      </a:lnTo>
                      <a:lnTo>
                        <a:pt x="416" y="53"/>
                      </a:lnTo>
                      <a:lnTo>
                        <a:pt x="268" y="110"/>
                      </a:lnTo>
                      <a:lnTo>
                        <a:pt x="142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</p:grpSp>
      <p:grpSp>
        <p:nvGrpSpPr>
          <p:cNvPr id="1035" name="Group 37"/>
          <p:cNvGrpSpPr/>
          <p:nvPr/>
        </p:nvGrpSpPr>
        <p:grpSpPr>
          <a:xfrm>
            <a:off x="8680450" y="2116138"/>
            <a:ext cx="385763" cy="4308475"/>
            <a:chOff x="5468" y="1333"/>
            <a:chExt cx="243" cy="2714"/>
          </a:xfrm>
        </p:grpSpPr>
        <p:sp>
          <p:nvSpPr>
            <p:cNvPr id="1062" name="Freeform 38"/>
            <p:cNvSpPr>
              <a:spLocks noChangeArrowheads="1"/>
            </p:cNvSpPr>
            <p:nvPr/>
          </p:nvSpPr>
          <p:spPr bwMode="auto">
            <a:xfrm flipH="1">
              <a:off x="5468" y="2620"/>
              <a:ext cx="205" cy="1427"/>
            </a:xfrm>
            <a:custGeom>
              <a:avLst/>
              <a:gdLst>
                <a:gd name="T0" fmla="*/ 692 w 772"/>
                <a:gd name="T1" fmla="*/ 3156 h 3266"/>
                <a:gd name="T2" fmla="*/ 380 w 772"/>
                <a:gd name="T3" fmla="*/ 2945 h 3266"/>
                <a:gd name="T4" fmla="*/ 319 w 772"/>
                <a:gd name="T5" fmla="*/ 2783 h 3266"/>
                <a:gd name="T6" fmla="*/ 371 w 772"/>
                <a:gd name="T7" fmla="*/ 2542 h 3266"/>
                <a:gd name="T8" fmla="*/ 591 w 772"/>
                <a:gd name="T9" fmla="*/ 2251 h 3266"/>
                <a:gd name="T10" fmla="*/ 641 w 772"/>
                <a:gd name="T11" fmla="*/ 2070 h 3266"/>
                <a:gd name="T12" fmla="*/ 591 w 772"/>
                <a:gd name="T13" fmla="*/ 1948 h 3266"/>
                <a:gd name="T14" fmla="*/ 401 w 772"/>
                <a:gd name="T15" fmla="*/ 1859 h 3266"/>
                <a:gd name="T16" fmla="*/ 361 w 772"/>
                <a:gd name="T17" fmla="*/ 1747 h 3266"/>
                <a:gd name="T18" fmla="*/ 430 w 772"/>
                <a:gd name="T19" fmla="*/ 1587 h 3266"/>
                <a:gd name="T20" fmla="*/ 741 w 772"/>
                <a:gd name="T21" fmla="*/ 1156 h 3266"/>
                <a:gd name="T22" fmla="*/ 772 w 772"/>
                <a:gd name="T23" fmla="*/ 945 h 3266"/>
                <a:gd name="T24" fmla="*/ 692 w 772"/>
                <a:gd name="T25" fmla="*/ 713 h 3266"/>
                <a:gd name="T26" fmla="*/ 430 w 772"/>
                <a:gd name="T27" fmla="*/ 603 h 3266"/>
                <a:gd name="T28" fmla="*/ 200 w 772"/>
                <a:gd name="T29" fmla="*/ 422 h 3266"/>
                <a:gd name="T30" fmla="*/ 0 w 772"/>
                <a:gd name="T31" fmla="*/ 0 h 3266"/>
                <a:gd name="T32" fmla="*/ 29 w 772"/>
                <a:gd name="T33" fmla="*/ 382 h 3266"/>
                <a:gd name="T34" fmla="*/ 179 w 772"/>
                <a:gd name="T35" fmla="*/ 612 h 3266"/>
                <a:gd name="T36" fmla="*/ 380 w 772"/>
                <a:gd name="T37" fmla="*/ 753 h 3266"/>
                <a:gd name="T38" fmla="*/ 601 w 772"/>
                <a:gd name="T39" fmla="*/ 833 h 3266"/>
                <a:gd name="T40" fmla="*/ 612 w 772"/>
                <a:gd name="T41" fmla="*/ 1044 h 3266"/>
                <a:gd name="T42" fmla="*/ 500 w 772"/>
                <a:gd name="T43" fmla="*/ 1266 h 3266"/>
                <a:gd name="T44" fmla="*/ 240 w 772"/>
                <a:gd name="T45" fmla="*/ 1658 h 3266"/>
                <a:gd name="T46" fmla="*/ 230 w 772"/>
                <a:gd name="T47" fmla="*/ 1909 h 3266"/>
                <a:gd name="T48" fmla="*/ 471 w 772"/>
                <a:gd name="T49" fmla="*/ 2049 h 3266"/>
                <a:gd name="T50" fmla="*/ 460 w 772"/>
                <a:gd name="T51" fmla="*/ 2180 h 3266"/>
                <a:gd name="T52" fmla="*/ 249 w 772"/>
                <a:gd name="T53" fmla="*/ 2452 h 3266"/>
                <a:gd name="T54" fmla="*/ 160 w 772"/>
                <a:gd name="T55" fmla="*/ 2713 h 3266"/>
                <a:gd name="T56" fmla="*/ 240 w 772"/>
                <a:gd name="T57" fmla="*/ 2994 h 3266"/>
                <a:gd name="T58" fmla="*/ 430 w 772"/>
                <a:gd name="T59" fmla="*/ 3144 h 3266"/>
                <a:gd name="T60" fmla="*/ 671 w 772"/>
                <a:gd name="T61" fmla="*/ 3266 h 3266"/>
                <a:gd name="T62" fmla="*/ 692 w 772"/>
                <a:gd name="T63" fmla="*/ 3156 h 3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3" name="Freeform 39"/>
            <p:cNvSpPr>
              <a:spLocks noChangeArrowheads="1"/>
            </p:cNvSpPr>
            <p:nvPr/>
          </p:nvSpPr>
          <p:spPr bwMode="auto">
            <a:xfrm flipH="1">
              <a:off x="5506" y="1333"/>
              <a:ext cx="205" cy="1633"/>
            </a:xfrm>
            <a:custGeom>
              <a:avLst/>
              <a:gdLst>
                <a:gd name="T0" fmla="*/ 692 w 772"/>
                <a:gd name="T1" fmla="*/ 3156 h 3266"/>
                <a:gd name="T2" fmla="*/ 380 w 772"/>
                <a:gd name="T3" fmla="*/ 2945 h 3266"/>
                <a:gd name="T4" fmla="*/ 319 w 772"/>
                <a:gd name="T5" fmla="*/ 2783 h 3266"/>
                <a:gd name="T6" fmla="*/ 371 w 772"/>
                <a:gd name="T7" fmla="*/ 2542 h 3266"/>
                <a:gd name="T8" fmla="*/ 591 w 772"/>
                <a:gd name="T9" fmla="*/ 2251 h 3266"/>
                <a:gd name="T10" fmla="*/ 641 w 772"/>
                <a:gd name="T11" fmla="*/ 2070 h 3266"/>
                <a:gd name="T12" fmla="*/ 591 w 772"/>
                <a:gd name="T13" fmla="*/ 1948 h 3266"/>
                <a:gd name="T14" fmla="*/ 401 w 772"/>
                <a:gd name="T15" fmla="*/ 1859 h 3266"/>
                <a:gd name="T16" fmla="*/ 361 w 772"/>
                <a:gd name="T17" fmla="*/ 1747 h 3266"/>
                <a:gd name="T18" fmla="*/ 430 w 772"/>
                <a:gd name="T19" fmla="*/ 1587 h 3266"/>
                <a:gd name="T20" fmla="*/ 741 w 772"/>
                <a:gd name="T21" fmla="*/ 1156 h 3266"/>
                <a:gd name="T22" fmla="*/ 772 w 772"/>
                <a:gd name="T23" fmla="*/ 945 h 3266"/>
                <a:gd name="T24" fmla="*/ 692 w 772"/>
                <a:gd name="T25" fmla="*/ 713 h 3266"/>
                <a:gd name="T26" fmla="*/ 430 w 772"/>
                <a:gd name="T27" fmla="*/ 603 h 3266"/>
                <a:gd name="T28" fmla="*/ 200 w 772"/>
                <a:gd name="T29" fmla="*/ 422 h 3266"/>
                <a:gd name="T30" fmla="*/ 0 w 772"/>
                <a:gd name="T31" fmla="*/ 0 h 3266"/>
                <a:gd name="T32" fmla="*/ 29 w 772"/>
                <a:gd name="T33" fmla="*/ 382 h 3266"/>
                <a:gd name="T34" fmla="*/ 179 w 772"/>
                <a:gd name="T35" fmla="*/ 612 h 3266"/>
                <a:gd name="T36" fmla="*/ 380 w 772"/>
                <a:gd name="T37" fmla="*/ 753 h 3266"/>
                <a:gd name="T38" fmla="*/ 601 w 772"/>
                <a:gd name="T39" fmla="*/ 833 h 3266"/>
                <a:gd name="T40" fmla="*/ 612 w 772"/>
                <a:gd name="T41" fmla="*/ 1044 h 3266"/>
                <a:gd name="T42" fmla="*/ 500 w 772"/>
                <a:gd name="T43" fmla="*/ 1266 h 3266"/>
                <a:gd name="T44" fmla="*/ 240 w 772"/>
                <a:gd name="T45" fmla="*/ 1658 h 3266"/>
                <a:gd name="T46" fmla="*/ 230 w 772"/>
                <a:gd name="T47" fmla="*/ 1909 h 3266"/>
                <a:gd name="T48" fmla="*/ 471 w 772"/>
                <a:gd name="T49" fmla="*/ 2049 h 3266"/>
                <a:gd name="T50" fmla="*/ 460 w 772"/>
                <a:gd name="T51" fmla="*/ 2180 h 3266"/>
                <a:gd name="T52" fmla="*/ 249 w 772"/>
                <a:gd name="T53" fmla="*/ 2452 h 3266"/>
                <a:gd name="T54" fmla="*/ 160 w 772"/>
                <a:gd name="T55" fmla="*/ 2713 h 3266"/>
                <a:gd name="T56" fmla="*/ 240 w 772"/>
                <a:gd name="T57" fmla="*/ 2994 h 3266"/>
                <a:gd name="T58" fmla="*/ 430 w 772"/>
                <a:gd name="T59" fmla="*/ 3144 h 3266"/>
                <a:gd name="T60" fmla="*/ 671 w 772"/>
                <a:gd name="T61" fmla="*/ 3266 h 3266"/>
                <a:gd name="T62" fmla="*/ 692 w 772"/>
                <a:gd name="T63" fmla="*/ 3156 h 3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6" name="Group 40"/>
          <p:cNvGrpSpPr/>
          <p:nvPr/>
        </p:nvGrpSpPr>
        <p:grpSpPr>
          <a:xfrm>
            <a:off x="7318375" y="90488"/>
            <a:ext cx="2133600" cy="1911350"/>
            <a:chOff x="4610" y="57"/>
            <a:chExt cx="1344" cy="1204"/>
          </a:xfrm>
        </p:grpSpPr>
        <p:grpSp>
          <p:nvGrpSpPr>
            <p:cNvPr id="1037" name="Group 41"/>
            <p:cNvGrpSpPr/>
            <p:nvPr userDrawn="1"/>
          </p:nvGrpSpPr>
          <p:grpSpPr>
            <a:xfrm>
              <a:off x="4610" y="57"/>
              <a:ext cx="1344" cy="1204"/>
              <a:chOff x="4610" y="57"/>
              <a:chExt cx="1344" cy="1204"/>
            </a:xfrm>
          </p:grpSpPr>
          <p:sp>
            <p:nvSpPr>
              <p:cNvPr id="1066" name="Freeform 42"/>
              <p:cNvSpPr>
                <a:spLocks noChangeArrowheads="1"/>
              </p:cNvSpPr>
              <p:nvPr/>
            </p:nvSpPr>
            <p:spPr bwMode="auto">
              <a:xfrm rot="-3172564">
                <a:off x="5430" y="1086"/>
                <a:ext cx="62" cy="288"/>
              </a:xfrm>
              <a:custGeom>
                <a:avLst/>
                <a:gdLst>
                  <a:gd name="T0" fmla="*/ 123 w 245"/>
                  <a:gd name="T1" fmla="*/ 9 h 806"/>
                  <a:gd name="T2" fmla="*/ 131 w 245"/>
                  <a:gd name="T3" fmla="*/ 342 h 806"/>
                  <a:gd name="T4" fmla="*/ 0 w 245"/>
                  <a:gd name="T5" fmla="*/ 806 h 806"/>
                  <a:gd name="T6" fmla="*/ 79 w 245"/>
                  <a:gd name="T7" fmla="*/ 789 h 806"/>
                  <a:gd name="T8" fmla="*/ 218 w 245"/>
                  <a:gd name="T9" fmla="*/ 376 h 806"/>
                  <a:gd name="T10" fmla="*/ 245 w 245"/>
                  <a:gd name="T11" fmla="*/ 0 h 806"/>
                  <a:gd name="T12" fmla="*/ 123 w 245"/>
                  <a:gd name="T13" fmla="*/ 9 h 8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5" h="806">
                    <a:moveTo>
                      <a:pt x="123" y="9"/>
                    </a:moveTo>
                    <a:lnTo>
                      <a:pt x="131" y="342"/>
                    </a:lnTo>
                    <a:lnTo>
                      <a:pt x="0" y="806"/>
                    </a:lnTo>
                    <a:lnTo>
                      <a:pt x="79" y="789"/>
                    </a:lnTo>
                    <a:lnTo>
                      <a:pt x="218" y="376"/>
                    </a:lnTo>
                    <a:lnTo>
                      <a:pt x="245" y="0"/>
                    </a:lnTo>
                    <a:lnTo>
                      <a:pt x="123" y="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omic Sans MS" panose="030F0702030302020204" pitchFamily="66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1040" name="Group 43"/>
              <p:cNvGrpSpPr/>
              <p:nvPr userDrawn="1"/>
            </p:nvGrpSpPr>
            <p:grpSpPr>
              <a:xfrm>
                <a:off x="4610" y="57"/>
                <a:ext cx="1344" cy="985"/>
                <a:chOff x="4610" y="57"/>
                <a:chExt cx="1344" cy="985"/>
              </a:xfrm>
            </p:grpSpPr>
            <p:sp>
              <p:nvSpPr>
                <p:cNvPr id="1068" name="Freeform 44"/>
                <p:cNvSpPr>
                  <a:spLocks noChangeArrowheads="1"/>
                </p:cNvSpPr>
                <p:nvPr/>
              </p:nvSpPr>
              <p:spPr bwMode="auto">
                <a:xfrm rot="-3172564">
                  <a:off x="4962" y="67"/>
                  <a:ext cx="153" cy="125"/>
                </a:xfrm>
                <a:custGeom>
                  <a:avLst/>
                  <a:gdLst>
                    <a:gd name="T0" fmla="*/ 0 w 604"/>
                    <a:gd name="T1" fmla="*/ 0 h 349"/>
                    <a:gd name="T2" fmla="*/ 298 w 604"/>
                    <a:gd name="T3" fmla="*/ 184 h 349"/>
                    <a:gd name="T4" fmla="*/ 500 w 604"/>
                    <a:gd name="T5" fmla="*/ 349 h 349"/>
                    <a:gd name="T6" fmla="*/ 604 w 604"/>
                    <a:gd name="T7" fmla="*/ 140 h 349"/>
                    <a:gd name="T8" fmla="*/ 359 w 604"/>
                    <a:gd name="T9" fmla="*/ 9 h 349"/>
                    <a:gd name="T10" fmla="*/ 464 w 604"/>
                    <a:gd name="T11" fmla="*/ 184 h 349"/>
                    <a:gd name="T12" fmla="*/ 131 w 604"/>
                    <a:gd name="T13" fmla="*/ 17 h 349"/>
                    <a:gd name="T14" fmla="*/ 0 w 604"/>
                    <a:gd name="T15" fmla="*/ 0 h 3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04" h="349">
                      <a:moveTo>
                        <a:pt x="0" y="0"/>
                      </a:moveTo>
                      <a:lnTo>
                        <a:pt x="298" y="184"/>
                      </a:lnTo>
                      <a:lnTo>
                        <a:pt x="500" y="349"/>
                      </a:lnTo>
                      <a:lnTo>
                        <a:pt x="604" y="140"/>
                      </a:lnTo>
                      <a:lnTo>
                        <a:pt x="359" y="9"/>
                      </a:lnTo>
                      <a:lnTo>
                        <a:pt x="464" y="184"/>
                      </a:lnTo>
                      <a:lnTo>
                        <a:pt x="131" y="1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69" name="Freeform 45"/>
                <p:cNvSpPr>
                  <a:spLocks noChangeArrowheads="1"/>
                </p:cNvSpPr>
                <p:nvPr/>
              </p:nvSpPr>
              <p:spPr bwMode="auto">
                <a:xfrm rot="-3172564">
                  <a:off x="5053" y="320"/>
                  <a:ext cx="269" cy="438"/>
                </a:xfrm>
                <a:custGeom>
                  <a:avLst/>
                  <a:gdLst>
                    <a:gd name="T0" fmla="*/ 741 w 1064"/>
                    <a:gd name="T1" fmla="*/ 129 h 1230"/>
                    <a:gd name="T2" fmla="*/ 485 w 1064"/>
                    <a:gd name="T3" fmla="*/ 352 h 1230"/>
                    <a:gd name="T4" fmla="*/ 163 w 1064"/>
                    <a:gd name="T5" fmla="*/ 762 h 1230"/>
                    <a:gd name="T6" fmla="*/ 0 w 1064"/>
                    <a:gd name="T7" fmla="*/ 1101 h 1230"/>
                    <a:gd name="T8" fmla="*/ 59 w 1064"/>
                    <a:gd name="T9" fmla="*/ 1230 h 1230"/>
                    <a:gd name="T10" fmla="*/ 262 w 1064"/>
                    <a:gd name="T11" fmla="*/ 1201 h 1230"/>
                    <a:gd name="T12" fmla="*/ 578 w 1064"/>
                    <a:gd name="T13" fmla="*/ 914 h 1230"/>
                    <a:gd name="T14" fmla="*/ 876 w 1064"/>
                    <a:gd name="T15" fmla="*/ 534 h 1230"/>
                    <a:gd name="T16" fmla="*/ 1034 w 1064"/>
                    <a:gd name="T17" fmla="*/ 270 h 1230"/>
                    <a:gd name="T18" fmla="*/ 1064 w 1064"/>
                    <a:gd name="T19" fmla="*/ 84 h 1230"/>
                    <a:gd name="T20" fmla="*/ 977 w 1064"/>
                    <a:gd name="T21" fmla="*/ 0 h 1230"/>
                    <a:gd name="T22" fmla="*/ 836 w 1064"/>
                    <a:gd name="T23" fmla="*/ 65 h 1230"/>
                    <a:gd name="T24" fmla="*/ 969 w 1064"/>
                    <a:gd name="T25" fmla="*/ 107 h 1230"/>
                    <a:gd name="T26" fmla="*/ 876 w 1064"/>
                    <a:gd name="T27" fmla="*/ 352 h 1230"/>
                    <a:gd name="T28" fmla="*/ 690 w 1064"/>
                    <a:gd name="T29" fmla="*/ 656 h 1230"/>
                    <a:gd name="T30" fmla="*/ 350 w 1064"/>
                    <a:gd name="T31" fmla="*/ 1008 h 1230"/>
                    <a:gd name="T32" fmla="*/ 116 w 1064"/>
                    <a:gd name="T33" fmla="*/ 1114 h 1230"/>
                    <a:gd name="T34" fmla="*/ 135 w 1064"/>
                    <a:gd name="T35" fmla="*/ 943 h 1230"/>
                    <a:gd name="T36" fmla="*/ 437 w 1064"/>
                    <a:gd name="T37" fmla="*/ 504 h 1230"/>
                    <a:gd name="T38" fmla="*/ 831 w 1064"/>
                    <a:gd name="T39" fmla="*/ 118 h 1230"/>
                    <a:gd name="T40" fmla="*/ 741 w 1064"/>
                    <a:gd name="T41" fmla="*/ 129 h 1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064" h="1230">
                      <a:moveTo>
                        <a:pt x="741" y="129"/>
                      </a:moveTo>
                      <a:lnTo>
                        <a:pt x="485" y="352"/>
                      </a:lnTo>
                      <a:lnTo>
                        <a:pt x="163" y="762"/>
                      </a:lnTo>
                      <a:lnTo>
                        <a:pt x="0" y="1101"/>
                      </a:lnTo>
                      <a:lnTo>
                        <a:pt x="59" y="1230"/>
                      </a:lnTo>
                      <a:lnTo>
                        <a:pt x="262" y="1201"/>
                      </a:lnTo>
                      <a:lnTo>
                        <a:pt x="578" y="914"/>
                      </a:lnTo>
                      <a:lnTo>
                        <a:pt x="876" y="534"/>
                      </a:lnTo>
                      <a:lnTo>
                        <a:pt x="1034" y="270"/>
                      </a:lnTo>
                      <a:lnTo>
                        <a:pt x="1064" y="84"/>
                      </a:lnTo>
                      <a:lnTo>
                        <a:pt x="977" y="0"/>
                      </a:lnTo>
                      <a:lnTo>
                        <a:pt x="836" y="65"/>
                      </a:lnTo>
                      <a:lnTo>
                        <a:pt x="969" y="107"/>
                      </a:lnTo>
                      <a:lnTo>
                        <a:pt x="876" y="352"/>
                      </a:lnTo>
                      <a:lnTo>
                        <a:pt x="690" y="656"/>
                      </a:lnTo>
                      <a:lnTo>
                        <a:pt x="350" y="1008"/>
                      </a:lnTo>
                      <a:lnTo>
                        <a:pt x="116" y="1114"/>
                      </a:lnTo>
                      <a:lnTo>
                        <a:pt x="135" y="943"/>
                      </a:lnTo>
                      <a:lnTo>
                        <a:pt x="437" y="504"/>
                      </a:lnTo>
                      <a:lnTo>
                        <a:pt x="831" y="118"/>
                      </a:lnTo>
                      <a:lnTo>
                        <a:pt x="741" y="1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0" name="Freeform 46"/>
                <p:cNvSpPr>
                  <a:spLocks noChangeArrowheads="1"/>
                </p:cNvSpPr>
                <p:nvPr/>
              </p:nvSpPr>
              <p:spPr bwMode="auto">
                <a:xfrm rot="-3172564">
                  <a:off x="4863" y="170"/>
                  <a:ext cx="505" cy="898"/>
                </a:xfrm>
                <a:custGeom>
                  <a:avLst/>
                  <a:gdLst>
                    <a:gd name="T0" fmla="*/ 1941 w 2002"/>
                    <a:gd name="T1" fmla="*/ 0 h 2521"/>
                    <a:gd name="T2" fmla="*/ 0 w 2002"/>
                    <a:gd name="T3" fmla="*/ 2521 h 2521"/>
                    <a:gd name="T4" fmla="*/ 192 w 2002"/>
                    <a:gd name="T5" fmla="*/ 2450 h 2521"/>
                    <a:gd name="T6" fmla="*/ 2002 w 2002"/>
                    <a:gd name="T7" fmla="*/ 61 h 2521"/>
                    <a:gd name="T8" fmla="*/ 1941 w 2002"/>
                    <a:gd name="T9" fmla="*/ 0 h 25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2" h="2521">
                      <a:moveTo>
                        <a:pt x="1941" y="0"/>
                      </a:moveTo>
                      <a:lnTo>
                        <a:pt x="0" y="2521"/>
                      </a:lnTo>
                      <a:lnTo>
                        <a:pt x="192" y="2450"/>
                      </a:lnTo>
                      <a:lnTo>
                        <a:pt x="2002" y="61"/>
                      </a:lnTo>
                      <a:lnTo>
                        <a:pt x="194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1" name="Freeform 47"/>
                <p:cNvSpPr>
                  <a:spLocks noChangeArrowheads="1"/>
                </p:cNvSpPr>
                <p:nvPr/>
              </p:nvSpPr>
              <p:spPr bwMode="auto">
                <a:xfrm rot="-3172564">
                  <a:off x="4903" y="-19"/>
                  <a:ext cx="758" cy="1344"/>
                </a:xfrm>
                <a:custGeom>
                  <a:avLst/>
                  <a:gdLst>
                    <a:gd name="T0" fmla="*/ 95 w 3007"/>
                    <a:gd name="T1" fmla="*/ 2844 h 3771"/>
                    <a:gd name="T2" fmla="*/ 394 w 3007"/>
                    <a:gd name="T3" fmla="*/ 2834 h 3771"/>
                    <a:gd name="T4" fmla="*/ 821 w 3007"/>
                    <a:gd name="T5" fmla="*/ 3009 h 3771"/>
                    <a:gd name="T6" fmla="*/ 681 w 3007"/>
                    <a:gd name="T7" fmla="*/ 2817 h 3771"/>
                    <a:gd name="T8" fmla="*/ 367 w 3007"/>
                    <a:gd name="T9" fmla="*/ 2703 h 3771"/>
                    <a:gd name="T10" fmla="*/ 637 w 3007"/>
                    <a:gd name="T11" fmla="*/ 2720 h 3771"/>
                    <a:gd name="T12" fmla="*/ 979 w 3007"/>
                    <a:gd name="T13" fmla="*/ 2870 h 3771"/>
                    <a:gd name="T14" fmla="*/ 2859 w 3007"/>
                    <a:gd name="T15" fmla="*/ 420 h 3771"/>
                    <a:gd name="T16" fmla="*/ 2578 w 3007"/>
                    <a:gd name="T17" fmla="*/ 148 h 3771"/>
                    <a:gd name="T18" fmla="*/ 2308 w 3007"/>
                    <a:gd name="T19" fmla="*/ 0 h 3771"/>
                    <a:gd name="T20" fmla="*/ 2692 w 3007"/>
                    <a:gd name="T21" fmla="*/ 78 h 3771"/>
                    <a:gd name="T22" fmla="*/ 3007 w 3007"/>
                    <a:gd name="T23" fmla="*/ 428 h 3771"/>
                    <a:gd name="T24" fmla="*/ 831 w 3007"/>
                    <a:gd name="T25" fmla="*/ 3273 h 3771"/>
                    <a:gd name="T26" fmla="*/ 481 w 3007"/>
                    <a:gd name="T27" fmla="*/ 3412 h 3771"/>
                    <a:gd name="T28" fmla="*/ 105 w 3007"/>
                    <a:gd name="T29" fmla="*/ 3771 h 3771"/>
                    <a:gd name="T30" fmla="*/ 0 w 3007"/>
                    <a:gd name="T31" fmla="*/ 3667 h 3771"/>
                    <a:gd name="T32" fmla="*/ 131 w 3007"/>
                    <a:gd name="T33" fmla="*/ 3631 h 3771"/>
                    <a:gd name="T34" fmla="*/ 376 w 3007"/>
                    <a:gd name="T35" fmla="*/ 3385 h 3771"/>
                    <a:gd name="T36" fmla="*/ 165 w 3007"/>
                    <a:gd name="T37" fmla="*/ 3273 h 3771"/>
                    <a:gd name="T38" fmla="*/ 165 w 3007"/>
                    <a:gd name="T39" fmla="*/ 3176 h 3771"/>
                    <a:gd name="T40" fmla="*/ 411 w 3007"/>
                    <a:gd name="T41" fmla="*/ 3298 h 3771"/>
                    <a:gd name="T42" fmla="*/ 411 w 3007"/>
                    <a:gd name="T43" fmla="*/ 3186 h 3771"/>
                    <a:gd name="T44" fmla="*/ 603 w 3007"/>
                    <a:gd name="T45" fmla="*/ 3220 h 3771"/>
                    <a:gd name="T46" fmla="*/ 428 w 3007"/>
                    <a:gd name="T47" fmla="*/ 3079 h 3771"/>
                    <a:gd name="T48" fmla="*/ 629 w 3007"/>
                    <a:gd name="T49" fmla="*/ 3062 h 3771"/>
                    <a:gd name="T50" fmla="*/ 95 w 3007"/>
                    <a:gd name="T51" fmla="*/ 2844 h 37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007" h="3771">
                      <a:moveTo>
                        <a:pt x="95" y="2844"/>
                      </a:moveTo>
                      <a:lnTo>
                        <a:pt x="394" y="2834"/>
                      </a:lnTo>
                      <a:lnTo>
                        <a:pt x="821" y="3009"/>
                      </a:lnTo>
                      <a:lnTo>
                        <a:pt x="681" y="2817"/>
                      </a:lnTo>
                      <a:lnTo>
                        <a:pt x="367" y="2703"/>
                      </a:lnTo>
                      <a:lnTo>
                        <a:pt x="637" y="2720"/>
                      </a:lnTo>
                      <a:lnTo>
                        <a:pt x="979" y="2870"/>
                      </a:lnTo>
                      <a:lnTo>
                        <a:pt x="2859" y="420"/>
                      </a:lnTo>
                      <a:lnTo>
                        <a:pt x="2578" y="148"/>
                      </a:lnTo>
                      <a:lnTo>
                        <a:pt x="2308" y="0"/>
                      </a:lnTo>
                      <a:lnTo>
                        <a:pt x="2692" y="78"/>
                      </a:lnTo>
                      <a:lnTo>
                        <a:pt x="3007" y="428"/>
                      </a:lnTo>
                      <a:lnTo>
                        <a:pt x="831" y="3273"/>
                      </a:lnTo>
                      <a:lnTo>
                        <a:pt x="481" y="3412"/>
                      </a:lnTo>
                      <a:lnTo>
                        <a:pt x="105" y="3771"/>
                      </a:lnTo>
                      <a:lnTo>
                        <a:pt x="0" y="3667"/>
                      </a:lnTo>
                      <a:lnTo>
                        <a:pt x="131" y="3631"/>
                      </a:lnTo>
                      <a:lnTo>
                        <a:pt x="376" y="3385"/>
                      </a:lnTo>
                      <a:lnTo>
                        <a:pt x="165" y="3273"/>
                      </a:lnTo>
                      <a:lnTo>
                        <a:pt x="165" y="3176"/>
                      </a:lnTo>
                      <a:lnTo>
                        <a:pt x="411" y="3298"/>
                      </a:lnTo>
                      <a:lnTo>
                        <a:pt x="411" y="3186"/>
                      </a:lnTo>
                      <a:lnTo>
                        <a:pt x="603" y="3220"/>
                      </a:lnTo>
                      <a:lnTo>
                        <a:pt x="428" y="3079"/>
                      </a:lnTo>
                      <a:lnTo>
                        <a:pt x="629" y="3062"/>
                      </a:lnTo>
                      <a:lnTo>
                        <a:pt x="95" y="28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2" name="Freeform 48"/>
                <p:cNvSpPr>
                  <a:spLocks noChangeArrowheads="1"/>
                </p:cNvSpPr>
                <p:nvPr/>
              </p:nvSpPr>
              <p:spPr bwMode="auto">
                <a:xfrm rot="-3172564">
                  <a:off x="5302" y="885"/>
                  <a:ext cx="169" cy="122"/>
                </a:xfrm>
                <a:custGeom>
                  <a:avLst/>
                  <a:gdLst>
                    <a:gd name="T0" fmla="*/ 0 w 673"/>
                    <a:gd name="T1" fmla="*/ 80 h 342"/>
                    <a:gd name="T2" fmla="*/ 255 w 673"/>
                    <a:gd name="T3" fmla="*/ 106 h 342"/>
                    <a:gd name="T4" fmla="*/ 639 w 673"/>
                    <a:gd name="T5" fmla="*/ 342 h 342"/>
                    <a:gd name="T6" fmla="*/ 673 w 673"/>
                    <a:gd name="T7" fmla="*/ 289 h 342"/>
                    <a:gd name="T8" fmla="*/ 447 w 673"/>
                    <a:gd name="T9" fmla="*/ 114 h 342"/>
                    <a:gd name="T10" fmla="*/ 26 w 673"/>
                    <a:gd name="T11" fmla="*/ 0 h 342"/>
                    <a:gd name="T12" fmla="*/ 0 w 673"/>
                    <a:gd name="T13" fmla="*/ 80 h 3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73" h="342">
                      <a:moveTo>
                        <a:pt x="0" y="80"/>
                      </a:moveTo>
                      <a:lnTo>
                        <a:pt x="255" y="106"/>
                      </a:lnTo>
                      <a:lnTo>
                        <a:pt x="639" y="342"/>
                      </a:lnTo>
                      <a:lnTo>
                        <a:pt x="673" y="289"/>
                      </a:lnTo>
                      <a:lnTo>
                        <a:pt x="447" y="114"/>
                      </a:lnTo>
                      <a:lnTo>
                        <a:pt x="26" y="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3" name="Freeform 49"/>
                <p:cNvSpPr>
                  <a:spLocks noChangeArrowheads="1"/>
                </p:cNvSpPr>
                <p:nvPr/>
              </p:nvSpPr>
              <p:spPr bwMode="auto">
                <a:xfrm rot="-3172564">
                  <a:off x="5250" y="794"/>
                  <a:ext cx="181" cy="144"/>
                </a:xfrm>
                <a:custGeom>
                  <a:avLst/>
                  <a:gdLst>
                    <a:gd name="T0" fmla="*/ 0 w 716"/>
                    <a:gd name="T1" fmla="*/ 78 h 403"/>
                    <a:gd name="T2" fmla="*/ 340 w 716"/>
                    <a:gd name="T3" fmla="*/ 148 h 403"/>
                    <a:gd name="T4" fmla="*/ 638 w 716"/>
                    <a:gd name="T5" fmla="*/ 403 h 403"/>
                    <a:gd name="T6" fmla="*/ 716 w 716"/>
                    <a:gd name="T7" fmla="*/ 296 h 403"/>
                    <a:gd name="T8" fmla="*/ 420 w 716"/>
                    <a:gd name="T9" fmla="*/ 114 h 403"/>
                    <a:gd name="T10" fmla="*/ 70 w 716"/>
                    <a:gd name="T11" fmla="*/ 0 h 403"/>
                    <a:gd name="T12" fmla="*/ 0 w 716"/>
                    <a:gd name="T13" fmla="*/ 78 h 4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16" h="403">
                      <a:moveTo>
                        <a:pt x="0" y="78"/>
                      </a:moveTo>
                      <a:lnTo>
                        <a:pt x="340" y="148"/>
                      </a:lnTo>
                      <a:lnTo>
                        <a:pt x="638" y="403"/>
                      </a:lnTo>
                      <a:lnTo>
                        <a:pt x="716" y="296"/>
                      </a:lnTo>
                      <a:lnTo>
                        <a:pt x="420" y="114"/>
                      </a:lnTo>
                      <a:lnTo>
                        <a:pt x="70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4" name="Freeform 50"/>
                <p:cNvSpPr>
                  <a:spLocks noChangeArrowheads="1"/>
                </p:cNvSpPr>
                <p:nvPr/>
              </p:nvSpPr>
              <p:spPr bwMode="auto">
                <a:xfrm rot="-3172564">
                  <a:off x="4981" y="206"/>
                  <a:ext cx="181" cy="147"/>
                </a:xfrm>
                <a:custGeom>
                  <a:avLst/>
                  <a:gdLst>
                    <a:gd name="T0" fmla="*/ 0 w 717"/>
                    <a:gd name="T1" fmla="*/ 78 h 411"/>
                    <a:gd name="T2" fmla="*/ 316 w 717"/>
                    <a:gd name="T3" fmla="*/ 139 h 411"/>
                    <a:gd name="T4" fmla="*/ 649 w 717"/>
                    <a:gd name="T5" fmla="*/ 411 h 411"/>
                    <a:gd name="T6" fmla="*/ 717 w 717"/>
                    <a:gd name="T7" fmla="*/ 314 h 411"/>
                    <a:gd name="T8" fmla="*/ 394 w 717"/>
                    <a:gd name="T9" fmla="*/ 87 h 411"/>
                    <a:gd name="T10" fmla="*/ 54 w 717"/>
                    <a:gd name="T11" fmla="*/ 0 h 411"/>
                    <a:gd name="T12" fmla="*/ 0 w 717"/>
                    <a:gd name="T13" fmla="*/ 78 h 4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17" h="411">
                      <a:moveTo>
                        <a:pt x="0" y="78"/>
                      </a:moveTo>
                      <a:lnTo>
                        <a:pt x="316" y="139"/>
                      </a:lnTo>
                      <a:lnTo>
                        <a:pt x="649" y="411"/>
                      </a:lnTo>
                      <a:lnTo>
                        <a:pt x="717" y="314"/>
                      </a:lnTo>
                      <a:lnTo>
                        <a:pt x="394" y="87"/>
                      </a:lnTo>
                      <a:lnTo>
                        <a:pt x="54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75" name="Freeform 51"/>
                <p:cNvSpPr>
                  <a:spLocks noChangeArrowheads="1"/>
                </p:cNvSpPr>
                <p:nvPr/>
              </p:nvSpPr>
              <p:spPr bwMode="auto">
                <a:xfrm rot="-3172564">
                  <a:off x="4952" y="130"/>
                  <a:ext cx="179" cy="138"/>
                </a:xfrm>
                <a:custGeom>
                  <a:avLst/>
                  <a:gdLst>
                    <a:gd name="T0" fmla="*/ 0 w 709"/>
                    <a:gd name="T1" fmla="*/ 88 h 386"/>
                    <a:gd name="T2" fmla="*/ 272 w 709"/>
                    <a:gd name="T3" fmla="*/ 131 h 386"/>
                    <a:gd name="T4" fmla="*/ 665 w 709"/>
                    <a:gd name="T5" fmla="*/ 386 h 386"/>
                    <a:gd name="T6" fmla="*/ 709 w 709"/>
                    <a:gd name="T7" fmla="*/ 308 h 386"/>
                    <a:gd name="T8" fmla="*/ 306 w 709"/>
                    <a:gd name="T9" fmla="*/ 53 h 386"/>
                    <a:gd name="T10" fmla="*/ 43 w 709"/>
                    <a:gd name="T11" fmla="*/ 0 h 386"/>
                    <a:gd name="T12" fmla="*/ 0 w 709"/>
                    <a:gd name="T13" fmla="*/ 88 h 3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09" h="386">
                      <a:moveTo>
                        <a:pt x="0" y="88"/>
                      </a:moveTo>
                      <a:lnTo>
                        <a:pt x="272" y="131"/>
                      </a:lnTo>
                      <a:lnTo>
                        <a:pt x="665" y="386"/>
                      </a:lnTo>
                      <a:lnTo>
                        <a:pt x="709" y="308"/>
                      </a:lnTo>
                      <a:lnTo>
                        <a:pt x="306" y="53"/>
                      </a:lnTo>
                      <a:lnTo>
                        <a:pt x="43" y="0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1038" name="Line 52"/>
            <p:cNvSpPr/>
            <p:nvPr userDrawn="1"/>
          </p:nvSpPr>
          <p:spPr>
            <a:xfrm>
              <a:off x="4870" y="84"/>
              <a:ext cx="42" cy="9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3.wav"/><Relationship Id="rId2" Type="http://schemas.openxmlformats.org/officeDocument/2006/relationships/audio" Target="../media/audio2.wav"/><Relationship Id="rId1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audio" Target="../media/audio3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audio" Target="../media/audio3.wav"/><Relationship Id="rId3" Type="http://schemas.openxmlformats.org/officeDocument/2006/relationships/audio" Target="../media/audio1.wav"/><Relationship Id="rId2" Type="http://schemas.openxmlformats.org/officeDocument/2006/relationships/image" Target="../media/image6.wmf"/><Relationship Id="rId1" Type="http://schemas.openxmlformats.org/officeDocument/2006/relationships/oleObject" Target="../embeddings/oleObject3.bin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6.wav"/><Relationship Id="rId2" Type="http://schemas.openxmlformats.org/officeDocument/2006/relationships/audio" Target="../media/audio5.wav"/><Relationship Id="rId1" Type="http://schemas.openxmlformats.org/officeDocument/2006/relationships/audio" Target="../media/audio1.wav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5.wav"/><Relationship Id="rId1" Type="http://schemas.openxmlformats.org/officeDocument/2006/relationships/audio" Target="../media/audio1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Chapt.7 </a:t>
            </a: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Sorting (III)</a:t>
            </a:r>
            <a:endParaRPr kumimoji="0" lang="en-US" altLang="zh-CN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2954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Stable sort algorithms</a:t>
            </a:r>
            <a:endParaRPr lang="en-US" altLang="zh-CN" dirty="0"/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609600" y="1600200"/>
            <a:ext cx="3530600" cy="45720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A </a:t>
            </a:r>
            <a:r>
              <a:rPr lang="en-US" altLang="zh-CN" sz="2800" dirty="0">
                <a:solidFill>
                  <a:schemeClr val="tx2"/>
                </a:solidFill>
              </a:rPr>
              <a:t>stable</a:t>
            </a:r>
            <a:r>
              <a:rPr lang="en-US" altLang="zh-CN" sz="2800" dirty="0"/>
              <a:t> sort: the </a:t>
            </a:r>
            <a:r>
              <a:rPr lang="en-US" altLang="zh-CN" sz="2800" dirty="0">
                <a:solidFill>
                  <a:schemeClr val="hlink"/>
                </a:solidFill>
              </a:rPr>
              <a:t>relative orders</a:t>
            </a:r>
            <a:r>
              <a:rPr lang="en-US" altLang="zh-CN" sz="2800" dirty="0"/>
              <a:t> of </a:t>
            </a:r>
            <a:r>
              <a:rPr lang="en-US" altLang="zh-CN" sz="2800" dirty="0">
                <a:solidFill>
                  <a:schemeClr val="hlink"/>
                </a:solidFill>
              </a:rPr>
              <a:t>equal elements</a:t>
            </a:r>
            <a:r>
              <a:rPr lang="en-US" altLang="zh-CN" sz="2800" dirty="0"/>
              <a:t> are kept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This may matter when you are sorting data according to some characteristic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Example: sorting students by test scores</a:t>
            </a:r>
            <a:endParaRPr lang="en-US" altLang="zh-CN" sz="2800" dirty="0"/>
          </a:p>
        </p:txBody>
      </p:sp>
      <p:sp>
        <p:nvSpPr>
          <p:cNvPr id="6" name="Text Box 36"/>
          <p:cNvSpPr txBox="1"/>
          <p:nvPr/>
        </p:nvSpPr>
        <p:spPr>
          <a:xfrm>
            <a:off x="6934200" y="5638800"/>
            <a:ext cx="12192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stably sorted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grpSp>
        <p:nvGrpSpPr>
          <p:cNvPr id="7" name="Group 37"/>
          <p:cNvGrpSpPr/>
          <p:nvPr/>
        </p:nvGrpSpPr>
        <p:grpSpPr>
          <a:xfrm>
            <a:off x="5638800" y="2128838"/>
            <a:ext cx="1143000" cy="1604962"/>
            <a:chOff x="3552" y="1341"/>
            <a:chExt cx="720" cy="1011"/>
          </a:xfrm>
        </p:grpSpPr>
        <p:sp>
          <p:nvSpPr>
            <p:cNvPr id="17438" name="Line 38"/>
            <p:cNvSpPr/>
            <p:nvPr/>
          </p:nvSpPr>
          <p:spPr>
            <a:xfrm>
              <a:off x="3552" y="1341"/>
              <a:ext cx="720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17439" name="Line 39"/>
            <p:cNvSpPr/>
            <p:nvPr/>
          </p:nvSpPr>
          <p:spPr>
            <a:xfrm flipV="1">
              <a:off x="3552" y="1680"/>
              <a:ext cx="720" cy="672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</p:sp>
      </p:grpSp>
      <p:grpSp>
        <p:nvGrpSpPr>
          <p:cNvPr id="10" name="Group 40"/>
          <p:cNvGrpSpPr/>
          <p:nvPr/>
        </p:nvGrpSpPr>
        <p:grpSpPr>
          <a:xfrm>
            <a:off x="5638800" y="2667000"/>
            <a:ext cx="1143000" cy="2057400"/>
            <a:chOff x="3552" y="1680"/>
            <a:chExt cx="720" cy="1296"/>
          </a:xfrm>
        </p:grpSpPr>
        <p:sp>
          <p:nvSpPr>
            <p:cNvPr id="17436" name="Line 41"/>
            <p:cNvSpPr/>
            <p:nvPr/>
          </p:nvSpPr>
          <p:spPr>
            <a:xfrm>
              <a:off x="3552" y="1680"/>
              <a:ext cx="720" cy="288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17437" name="Line 42"/>
            <p:cNvSpPr/>
            <p:nvPr/>
          </p:nvSpPr>
          <p:spPr>
            <a:xfrm flipV="1">
              <a:off x="3552" y="2304"/>
              <a:ext cx="720" cy="672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</p:sp>
      </p:grpSp>
      <p:grpSp>
        <p:nvGrpSpPr>
          <p:cNvPr id="11" name="Group 43"/>
          <p:cNvGrpSpPr/>
          <p:nvPr/>
        </p:nvGrpSpPr>
        <p:grpSpPr>
          <a:xfrm>
            <a:off x="5638800" y="4191000"/>
            <a:ext cx="1143000" cy="1143000"/>
            <a:chOff x="3552" y="2640"/>
            <a:chExt cx="720" cy="720"/>
          </a:xfrm>
        </p:grpSpPr>
        <p:sp>
          <p:nvSpPr>
            <p:cNvPr id="17434" name="Line 44"/>
            <p:cNvSpPr/>
            <p:nvPr/>
          </p:nvSpPr>
          <p:spPr>
            <a:xfrm>
              <a:off x="3552" y="2640"/>
              <a:ext cx="720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17435" name="Line 45"/>
            <p:cNvSpPr/>
            <p:nvPr/>
          </p:nvSpPr>
          <p:spPr>
            <a:xfrm flipV="1">
              <a:off x="3552" y="2976"/>
              <a:ext cx="720" cy="384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</p:sp>
      </p:grpSp>
      <p:grpSp>
        <p:nvGrpSpPr>
          <p:cNvPr id="12" name="组合 11"/>
          <p:cNvGrpSpPr/>
          <p:nvPr/>
        </p:nvGrpSpPr>
        <p:grpSpPr>
          <a:xfrm>
            <a:off x="4419600" y="1828800"/>
            <a:ext cx="1219200" cy="4631690"/>
            <a:chOff x="6960" y="2880"/>
            <a:chExt cx="1920" cy="7294"/>
          </a:xfrm>
        </p:grpSpPr>
        <p:sp>
          <p:nvSpPr>
            <p:cNvPr id="17412" name="Rectangle 5"/>
            <p:cNvSpPr/>
            <p:nvPr/>
          </p:nvSpPr>
          <p:spPr>
            <a:xfrm>
              <a:off x="6960" y="3720"/>
              <a:ext cx="1080" cy="840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Bob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7414" name="Rectangle 8"/>
            <p:cNvSpPr>
              <a:spLocks noChangeArrowheads="1"/>
            </p:cNvSpPr>
            <p:nvPr/>
          </p:nvSpPr>
          <p:spPr bwMode="auto">
            <a:xfrm>
              <a:off x="6960" y="7920"/>
              <a:ext cx="1080" cy="84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Zoe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2" name="Rectangle 9"/>
            <p:cNvSpPr/>
            <p:nvPr/>
          </p:nvSpPr>
          <p:spPr>
            <a:xfrm>
              <a:off x="6960" y="4560"/>
              <a:ext cx="1080" cy="840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Dan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7416" name="Rectangle 10"/>
            <p:cNvSpPr>
              <a:spLocks noChangeArrowheads="1"/>
            </p:cNvSpPr>
            <p:nvPr/>
          </p:nvSpPr>
          <p:spPr bwMode="auto">
            <a:xfrm>
              <a:off x="6960" y="6240"/>
              <a:ext cx="1080" cy="84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Pat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" name="Rectangle 12"/>
            <p:cNvSpPr/>
            <p:nvPr/>
          </p:nvSpPr>
          <p:spPr>
            <a:xfrm>
              <a:off x="8040" y="3720"/>
              <a:ext cx="840" cy="840"/>
            </a:xfrm>
            <a:prstGeom prst="rect">
              <a:avLst/>
            </a:prstGeom>
            <a:solidFill>
              <a:schemeClr val="tx2">
                <a:alpha val="30196"/>
              </a:schemeClr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90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7417" name="Group 46"/>
            <p:cNvGrpSpPr/>
            <p:nvPr/>
          </p:nvGrpSpPr>
          <p:grpSpPr>
            <a:xfrm>
              <a:off x="6960" y="2880"/>
              <a:ext cx="1920" cy="840"/>
              <a:chOff x="2784" y="1152"/>
              <a:chExt cx="768" cy="336"/>
            </a:xfrm>
          </p:grpSpPr>
          <p:sp>
            <p:nvSpPr>
              <p:cNvPr id="17452" name="Rectangle 6"/>
              <p:cNvSpPr/>
              <p:nvPr/>
            </p:nvSpPr>
            <p:spPr>
              <a:xfrm>
                <a:off x="2784" y="1152"/>
                <a:ext cx="432" cy="336"/>
              </a:xfrm>
              <a:prstGeom prst="rect">
                <a:avLst/>
              </a:prstGeom>
              <a:solidFill>
                <a:srgbClr val="00CCFF">
                  <a:alpha val="29019"/>
                </a:srgbClr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Ann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53" name="Rectangle 13"/>
              <p:cNvSpPr/>
              <p:nvPr/>
            </p:nvSpPr>
            <p:spPr>
              <a:xfrm>
                <a:off x="3216" y="1152"/>
                <a:ext cx="336" cy="336"/>
              </a:xfrm>
              <a:prstGeom prst="rect">
                <a:avLst/>
              </a:prstGeom>
              <a:solidFill>
                <a:srgbClr val="00CCFF">
                  <a:alpha val="30196"/>
                </a:srgbClr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98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7421" name="Rectangle 15"/>
            <p:cNvSpPr>
              <a:spLocks noChangeArrowheads="1"/>
            </p:cNvSpPr>
            <p:nvPr/>
          </p:nvSpPr>
          <p:spPr bwMode="auto">
            <a:xfrm>
              <a:off x="8040" y="7920"/>
              <a:ext cx="840" cy="84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86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7419" name="Rectangle 16"/>
            <p:cNvSpPr/>
            <p:nvPr/>
          </p:nvSpPr>
          <p:spPr>
            <a:xfrm>
              <a:off x="8040" y="4560"/>
              <a:ext cx="840" cy="840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75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3" name="Rectangle 17"/>
            <p:cNvSpPr>
              <a:spLocks noChangeArrowheads="1"/>
            </p:cNvSpPr>
            <p:nvPr/>
          </p:nvSpPr>
          <p:spPr bwMode="auto">
            <a:xfrm>
              <a:off x="8040" y="6240"/>
              <a:ext cx="840" cy="84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86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4" name="Text Box 19"/>
            <p:cNvSpPr txBox="1"/>
            <p:nvPr/>
          </p:nvSpPr>
          <p:spPr>
            <a:xfrm>
              <a:off x="6960" y="8880"/>
              <a:ext cx="1920" cy="129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original array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7" name="Rectangle 5"/>
            <p:cNvSpPr/>
            <p:nvPr/>
          </p:nvSpPr>
          <p:spPr>
            <a:xfrm>
              <a:off x="6960" y="7080"/>
              <a:ext cx="1080" cy="840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Sam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8" name="Rectangle 12"/>
            <p:cNvSpPr/>
            <p:nvPr/>
          </p:nvSpPr>
          <p:spPr>
            <a:xfrm>
              <a:off x="8040" y="7080"/>
              <a:ext cx="840" cy="840"/>
            </a:xfrm>
            <a:prstGeom prst="rect">
              <a:avLst/>
            </a:prstGeom>
            <a:solidFill>
              <a:schemeClr val="tx2">
                <a:alpha val="30196"/>
              </a:schemeClr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90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7429" name="Group 46"/>
            <p:cNvGrpSpPr/>
            <p:nvPr/>
          </p:nvGrpSpPr>
          <p:grpSpPr>
            <a:xfrm>
              <a:off x="6960" y="5400"/>
              <a:ext cx="1920" cy="840"/>
              <a:chOff x="2784" y="1152"/>
              <a:chExt cx="768" cy="336"/>
            </a:xfrm>
          </p:grpSpPr>
          <p:sp>
            <p:nvSpPr>
              <p:cNvPr id="17432" name="Rectangle 6"/>
              <p:cNvSpPr/>
              <p:nvPr/>
            </p:nvSpPr>
            <p:spPr>
              <a:xfrm>
                <a:off x="2784" y="1152"/>
                <a:ext cx="432" cy="336"/>
              </a:xfrm>
              <a:prstGeom prst="rect">
                <a:avLst/>
              </a:prstGeom>
              <a:solidFill>
                <a:srgbClr val="00CCFF">
                  <a:alpha val="29019"/>
                </a:srgbClr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Joe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33" name="Rectangle 13"/>
              <p:cNvSpPr/>
              <p:nvPr/>
            </p:nvSpPr>
            <p:spPr>
              <a:xfrm>
                <a:off x="3216" y="1152"/>
                <a:ext cx="336" cy="336"/>
              </a:xfrm>
              <a:prstGeom prst="rect">
                <a:avLst/>
              </a:prstGeom>
              <a:solidFill>
                <a:srgbClr val="00CCFF">
                  <a:alpha val="30196"/>
                </a:srgbClr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98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6781800" y="1828800"/>
            <a:ext cx="1219200" cy="3733800"/>
            <a:chOff x="10680" y="2880"/>
            <a:chExt cx="1920" cy="5880"/>
          </a:xfrm>
        </p:grpSpPr>
        <p:grpSp>
          <p:nvGrpSpPr>
            <p:cNvPr id="17422" name="Group 21"/>
            <p:cNvGrpSpPr/>
            <p:nvPr/>
          </p:nvGrpSpPr>
          <p:grpSpPr>
            <a:xfrm>
              <a:off x="10680" y="2880"/>
              <a:ext cx="1920" cy="5880"/>
              <a:chOff x="3504" y="1152"/>
              <a:chExt cx="768" cy="2352"/>
            </a:xfrm>
          </p:grpSpPr>
          <p:sp>
            <p:nvSpPr>
              <p:cNvPr id="17440" name="Rectangle 22"/>
              <p:cNvSpPr/>
              <p:nvPr/>
            </p:nvSpPr>
            <p:spPr>
              <a:xfrm>
                <a:off x="3504" y="1824"/>
                <a:ext cx="432" cy="336"/>
              </a:xfrm>
              <a:prstGeom prst="rect">
                <a:avLst/>
              </a:prstGeom>
              <a:solidFill>
                <a:schemeClr val="tx2">
                  <a:alpha val="30196"/>
                </a:schemeClr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Bob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41" name="Rectangle 23"/>
              <p:cNvSpPr/>
              <p:nvPr/>
            </p:nvSpPr>
            <p:spPr>
              <a:xfrm>
                <a:off x="3504" y="1152"/>
                <a:ext cx="432" cy="336"/>
              </a:xfrm>
              <a:prstGeom prst="rect">
                <a:avLst/>
              </a:prstGeom>
              <a:solidFill>
                <a:srgbClr val="00CCFF">
                  <a:alpha val="30196"/>
                </a:srgbClr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Ann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42" name="Rectangle 24"/>
              <p:cNvSpPr/>
              <p:nvPr/>
            </p:nvSpPr>
            <p:spPr>
              <a:xfrm>
                <a:off x="3504" y="1488"/>
                <a:ext cx="432" cy="336"/>
              </a:xfrm>
              <a:prstGeom prst="rect">
                <a:avLst/>
              </a:prstGeom>
              <a:solidFill>
                <a:srgbClr val="99CCFF">
                  <a:alpha val="30196"/>
                </a:srgbClr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Joe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" name="Rectangle 25"/>
              <p:cNvSpPr>
                <a:spLocks noChangeArrowheads="1"/>
              </p:cNvSpPr>
              <p:nvPr/>
            </p:nvSpPr>
            <p:spPr bwMode="auto">
              <a:xfrm>
                <a:off x="3504" y="2832"/>
                <a:ext cx="432" cy="336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+mn-ea"/>
                  </a:rPr>
                  <a:t>Zoe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endParaRPr>
              </a:p>
            </p:txBody>
          </p:sp>
          <p:sp>
            <p:nvSpPr>
              <p:cNvPr id="17444" name="Rectangle 26"/>
              <p:cNvSpPr/>
              <p:nvPr/>
            </p:nvSpPr>
            <p:spPr>
              <a:xfrm>
                <a:off x="3504" y="3168"/>
                <a:ext cx="432" cy="33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Dan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43" name="Rectangle 27"/>
              <p:cNvSpPr>
                <a:spLocks noChangeArrowheads="1"/>
              </p:cNvSpPr>
              <p:nvPr/>
            </p:nvSpPr>
            <p:spPr bwMode="auto">
              <a:xfrm>
                <a:off x="3504" y="2496"/>
                <a:ext cx="432" cy="336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+mn-ea"/>
                  </a:rPr>
                  <a:t>Pat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endParaRPr>
              </a:p>
            </p:txBody>
          </p:sp>
          <p:sp>
            <p:nvSpPr>
              <p:cNvPr id="17446" name="Rectangle 29"/>
              <p:cNvSpPr/>
              <p:nvPr/>
            </p:nvSpPr>
            <p:spPr>
              <a:xfrm>
                <a:off x="3936" y="1824"/>
                <a:ext cx="336" cy="336"/>
              </a:xfrm>
              <a:prstGeom prst="rect">
                <a:avLst/>
              </a:prstGeom>
              <a:solidFill>
                <a:schemeClr val="tx2">
                  <a:alpha val="30196"/>
                </a:schemeClr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90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47" name="Rectangle 30"/>
              <p:cNvSpPr/>
              <p:nvPr/>
            </p:nvSpPr>
            <p:spPr>
              <a:xfrm>
                <a:off x="3936" y="1152"/>
                <a:ext cx="336" cy="336"/>
              </a:xfrm>
              <a:prstGeom prst="rect">
                <a:avLst/>
              </a:prstGeom>
              <a:solidFill>
                <a:srgbClr val="00CCFF">
                  <a:alpha val="30196"/>
                </a:srgbClr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98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48" name="Rectangle 31"/>
              <p:cNvSpPr/>
              <p:nvPr/>
            </p:nvSpPr>
            <p:spPr>
              <a:xfrm>
                <a:off x="3936" y="1488"/>
                <a:ext cx="336" cy="336"/>
              </a:xfrm>
              <a:prstGeom prst="rect">
                <a:avLst/>
              </a:prstGeom>
              <a:solidFill>
                <a:srgbClr val="99CCFF">
                  <a:alpha val="30196"/>
                </a:srgbClr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98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" name="Rectangle 32"/>
              <p:cNvSpPr>
                <a:spLocks noChangeArrowheads="1"/>
              </p:cNvSpPr>
              <p:nvPr/>
            </p:nvSpPr>
            <p:spPr bwMode="auto">
              <a:xfrm>
                <a:off x="3936" y="2832"/>
                <a:ext cx="336" cy="336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+mn-ea"/>
                  </a:rPr>
                  <a:t>86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endParaRPr>
              </a:p>
            </p:txBody>
          </p:sp>
          <p:sp>
            <p:nvSpPr>
              <p:cNvPr id="17450" name="Rectangle 33"/>
              <p:cNvSpPr/>
              <p:nvPr/>
            </p:nvSpPr>
            <p:spPr>
              <a:xfrm>
                <a:off x="3936" y="3168"/>
                <a:ext cx="336" cy="33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75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34"/>
              <p:cNvSpPr>
                <a:spLocks noChangeArrowheads="1"/>
              </p:cNvSpPr>
              <p:nvPr/>
            </p:nvSpPr>
            <p:spPr bwMode="auto">
              <a:xfrm>
                <a:off x="3936" y="2496"/>
                <a:ext cx="336" cy="336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+mn-ea"/>
                  </a:rPr>
                  <a:t>86</a:t>
                </a:r>
                <a:endPara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endParaRPr>
              </a:p>
            </p:txBody>
          </p:sp>
        </p:grpSp>
        <p:sp>
          <p:nvSpPr>
            <p:cNvPr id="17430" name="Rectangle 5"/>
            <p:cNvSpPr/>
            <p:nvPr/>
          </p:nvSpPr>
          <p:spPr>
            <a:xfrm>
              <a:off x="10680" y="5400"/>
              <a:ext cx="1080" cy="840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Sam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7431" name="Rectangle 12"/>
            <p:cNvSpPr/>
            <p:nvPr/>
          </p:nvSpPr>
          <p:spPr>
            <a:xfrm>
              <a:off x="11760" y="5400"/>
              <a:ext cx="840" cy="840"/>
            </a:xfrm>
            <a:prstGeom prst="rect">
              <a:avLst/>
            </a:prstGeom>
            <a:solidFill>
              <a:schemeClr val="tx2">
                <a:alpha val="30196"/>
              </a:schemeClr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90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2192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Unstable sort algorithms</a:t>
            </a:r>
            <a:endParaRPr lang="en-US" altLang="zh-CN" dirty="0"/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609600" y="1600200"/>
            <a:ext cx="3200400" cy="45720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An </a:t>
            </a:r>
            <a:r>
              <a:rPr lang="en-US" altLang="zh-CN" sz="2800" dirty="0">
                <a:solidFill>
                  <a:schemeClr val="tx2"/>
                </a:solidFill>
              </a:rPr>
              <a:t>unstable</a:t>
            </a:r>
            <a:r>
              <a:rPr lang="en-US" altLang="zh-CN" sz="2800" dirty="0"/>
              <a:t> sort may or may not keep equal elements in the same order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Stability is usually not important, but sometimes it matters</a:t>
            </a:r>
            <a:endParaRPr lang="en-US" altLang="zh-CN" sz="2800" dirty="0"/>
          </a:p>
        </p:txBody>
      </p:sp>
      <p:grpSp>
        <p:nvGrpSpPr>
          <p:cNvPr id="2" name="Group 4"/>
          <p:cNvGrpSpPr/>
          <p:nvPr/>
        </p:nvGrpSpPr>
        <p:grpSpPr>
          <a:xfrm>
            <a:off x="4419600" y="1828800"/>
            <a:ext cx="1219200" cy="4632325"/>
            <a:chOff x="2544" y="1152"/>
            <a:chExt cx="768" cy="2918"/>
          </a:xfrm>
        </p:grpSpPr>
        <p:sp>
          <p:nvSpPr>
            <p:cNvPr id="18462" name="Rectangle 5"/>
            <p:cNvSpPr/>
            <p:nvPr/>
          </p:nvSpPr>
          <p:spPr>
            <a:xfrm>
              <a:off x="2544" y="1488"/>
              <a:ext cx="432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Bob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63" name="Rectangle 6"/>
            <p:cNvSpPr/>
            <p:nvPr/>
          </p:nvSpPr>
          <p:spPr>
            <a:xfrm>
              <a:off x="2544" y="1152"/>
              <a:ext cx="432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Ann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64" name="Rectangle 7"/>
            <p:cNvSpPr/>
            <p:nvPr/>
          </p:nvSpPr>
          <p:spPr>
            <a:xfrm>
              <a:off x="2544" y="2160"/>
              <a:ext cx="432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Joe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65" name="Rectangle 8"/>
            <p:cNvSpPr/>
            <p:nvPr/>
          </p:nvSpPr>
          <p:spPr>
            <a:xfrm>
              <a:off x="2544" y="3168"/>
              <a:ext cx="432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Zoe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66" name="Rectangle 9"/>
            <p:cNvSpPr/>
            <p:nvPr/>
          </p:nvSpPr>
          <p:spPr>
            <a:xfrm>
              <a:off x="2544" y="1824"/>
              <a:ext cx="432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Dan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67" name="Rectangle 10"/>
            <p:cNvSpPr/>
            <p:nvPr/>
          </p:nvSpPr>
          <p:spPr>
            <a:xfrm>
              <a:off x="2544" y="2496"/>
              <a:ext cx="432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Pat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68" name="Rectangle 11"/>
            <p:cNvSpPr/>
            <p:nvPr/>
          </p:nvSpPr>
          <p:spPr>
            <a:xfrm>
              <a:off x="2544" y="2832"/>
              <a:ext cx="432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Sam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69" name="Rectangle 12"/>
            <p:cNvSpPr/>
            <p:nvPr/>
          </p:nvSpPr>
          <p:spPr>
            <a:xfrm>
              <a:off x="2976" y="1488"/>
              <a:ext cx="336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90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70" name="Rectangle 13"/>
            <p:cNvSpPr/>
            <p:nvPr/>
          </p:nvSpPr>
          <p:spPr>
            <a:xfrm>
              <a:off x="2976" y="1152"/>
              <a:ext cx="336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98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71" name="Rectangle 14"/>
            <p:cNvSpPr/>
            <p:nvPr/>
          </p:nvSpPr>
          <p:spPr>
            <a:xfrm>
              <a:off x="2976" y="2160"/>
              <a:ext cx="336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98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72" name="Rectangle 15"/>
            <p:cNvSpPr/>
            <p:nvPr/>
          </p:nvSpPr>
          <p:spPr>
            <a:xfrm>
              <a:off x="2976" y="3168"/>
              <a:ext cx="336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86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73" name="Rectangle 16"/>
            <p:cNvSpPr/>
            <p:nvPr/>
          </p:nvSpPr>
          <p:spPr>
            <a:xfrm>
              <a:off x="2976" y="1824"/>
              <a:ext cx="336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75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74" name="Rectangle 17"/>
            <p:cNvSpPr/>
            <p:nvPr/>
          </p:nvSpPr>
          <p:spPr>
            <a:xfrm>
              <a:off x="2976" y="2496"/>
              <a:ext cx="336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86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75" name="Rectangle 18"/>
            <p:cNvSpPr/>
            <p:nvPr/>
          </p:nvSpPr>
          <p:spPr>
            <a:xfrm>
              <a:off x="2976" y="2832"/>
              <a:ext cx="336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90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76" name="Text Box 19"/>
            <p:cNvSpPr txBox="1"/>
            <p:nvPr/>
          </p:nvSpPr>
          <p:spPr>
            <a:xfrm>
              <a:off x="2544" y="3552"/>
              <a:ext cx="768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original array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20"/>
          <p:cNvGrpSpPr/>
          <p:nvPr/>
        </p:nvGrpSpPr>
        <p:grpSpPr>
          <a:xfrm>
            <a:off x="6781800" y="1828800"/>
            <a:ext cx="1219200" cy="4632325"/>
            <a:chOff x="4464" y="1152"/>
            <a:chExt cx="768" cy="2918"/>
          </a:xfrm>
        </p:grpSpPr>
        <p:sp>
          <p:nvSpPr>
            <p:cNvPr id="18447" name="Rectangle 21"/>
            <p:cNvSpPr/>
            <p:nvPr/>
          </p:nvSpPr>
          <p:spPr>
            <a:xfrm>
              <a:off x="4464" y="1824"/>
              <a:ext cx="432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Bob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48" name="Rectangle 22"/>
            <p:cNvSpPr/>
            <p:nvPr/>
          </p:nvSpPr>
          <p:spPr>
            <a:xfrm>
              <a:off x="4464" y="1488"/>
              <a:ext cx="432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Ann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49" name="Rectangle 23"/>
            <p:cNvSpPr/>
            <p:nvPr/>
          </p:nvSpPr>
          <p:spPr>
            <a:xfrm>
              <a:off x="4464" y="1152"/>
              <a:ext cx="432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Joe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50" name="Rectangle 24"/>
            <p:cNvSpPr/>
            <p:nvPr/>
          </p:nvSpPr>
          <p:spPr>
            <a:xfrm>
              <a:off x="4464" y="2496"/>
              <a:ext cx="432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Zoe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51" name="Rectangle 25"/>
            <p:cNvSpPr/>
            <p:nvPr/>
          </p:nvSpPr>
          <p:spPr>
            <a:xfrm>
              <a:off x="4464" y="3168"/>
              <a:ext cx="432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Dan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52" name="Rectangle 26"/>
            <p:cNvSpPr/>
            <p:nvPr/>
          </p:nvSpPr>
          <p:spPr>
            <a:xfrm>
              <a:off x="4464" y="2832"/>
              <a:ext cx="432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Pat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53" name="Rectangle 27"/>
            <p:cNvSpPr/>
            <p:nvPr/>
          </p:nvSpPr>
          <p:spPr>
            <a:xfrm>
              <a:off x="4464" y="2160"/>
              <a:ext cx="432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Sam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54" name="Rectangle 28"/>
            <p:cNvSpPr/>
            <p:nvPr/>
          </p:nvSpPr>
          <p:spPr>
            <a:xfrm>
              <a:off x="4896" y="1824"/>
              <a:ext cx="336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90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55" name="Rectangle 29"/>
            <p:cNvSpPr/>
            <p:nvPr/>
          </p:nvSpPr>
          <p:spPr>
            <a:xfrm>
              <a:off x="4896" y="1488"/>
              <a:ext cx="336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98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56" name="Rectangle 30"/>
            <p:cNvSpPr/>
            <p:nvPr/>
          </p:nvSpPr>
          <p:spPr>
            <a:xfrm>
              <a:off x="4896" y="1152"/>
              <a:ext cx="336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98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57" name="Rectangle 31"/>
            <p:cNvSpPr/>
            <p:nvPr/>
          </p:nvSpPr>
          <p:spPr>
            <a:xfrm>
              <a:off x="4896" y="2496"/>
              <a:ext cx="336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86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58" name="Rectangle 32"/>
            <p:cNvSpPr/>
            <p:nvPr/>
          </p:nvSpPr>
          <p:spPr>
            <a:xfrm>
              <a:off x="4896" y="3168"/>
              <a:ext cx="336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75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59" name="Rectangle 33"/>
            <p:cNvSpPr/>
            <p:nvPr/>
          </p:nvSpPr>
          <p:spPr>
            <a:xfrm>
              <a:off x="4896" y="2832"/>
              <a:ext cx="336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86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60" name="Rectangle 34"/>
            <p:cNvSpPr/>
            <p:nvPr/>
          </p:nvSpPr>
          <p:spPr>
            <a:xfrm>
              <a:off x="4896" y="2160"/>
              <a:ext cx="336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90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8461" name="Text Box 35"/>
            <p:cNvSpPr txBox="1"/>
            <p:nvPr/>
          </p:nvSpPr>
          <p:spPr>
            <a:xfrm>
              <a:off x="4464" y="3552"/>
              <a:ext cx="768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unstably sorted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36"/>
          <p:cNvGrpSpPr/>
          <p:nvPr/>
        </p:nvGrpSpPr>
        <p:grpSpPr>
          <a:xfrm>
            <a:off x="5638800" y="2133600"/>
            <a:ext cx="1143000" cy="1600200"/>
            <a:chOff x="3552" y="1344"/>
            <a:chExt cx="720" cy="1008"/>
          </a:xfrm>
        </p:grpSpPr>
        <p:sp>
          <p:nvSpPr>
            <p:cNvPr id="18445" name="Line 37"/>
            <p:cNvSpPr/>
            <p:nvPr/>
          </p:nvSpPr>
          <p:spPr>
            <a:xfrm>
              <a:off x="3552" y="1344"/>
              <a:ext cx="720" cy="336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18446" name="Line 38"/>
            <p:cNvSpPr/>
            <p:nvPr/>
          </p:nvSpPr>
          <p:spPr>
            <a:xfrm flipV="1">
              <a:off x="3552" y="1344"/>
              <a:ext cx="720" cy="1008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</p:sp>
      </p:grpSp>
      <p:grpSp>
        <p:nvGrpSpPr>
          <p:cNvPr id="5" name="Group 39"/>
          <p:cNvGrpSpPr/>
          <p:nvPr/>
        </p:nvGrpSpPr>
        <p:grpSpPr>
          <a:xfrm>
            <a:off x="5638800" y="2590800"/>
            <a:ext cx="1143000" cy="2133600"/>
            <a:chOff x="3552" y="1632"/>
            <a:chExt cx="720" cy="1344"/>
          </a:xfrm>
        </p:grpSpPr>
        <p:sp>
          <p:nvSpPr>
            <p:cNvPr id="18443" name="Line 40"/>
            <p:cNvSpPr/>
            <p:nvPr/>
          </p:nvSpPr>
          <p:spPr>
            <a:xfrm>
              <a:off x="3552" y="1632"/>
              <a:ext cx="720" cy="384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18444" name="Line 41"/>
            <p:cNvSpPr/>
            <p:nvPr/>
          </p:nvSpPr>
          <p:spPr>
            <a:xfrm flipV="1">
              <a:off x="3552" y="2352"/>
              <a:ext cx="720" cy="624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</p:sp>
      </p:grpSp>
      <p:grpSp>
        <p:nvGrpSpPr>
          <p:cNvPr id="6" name="Group 42"/>
          <p:cNvGrpSpPr/>
          <p:nvPr/>
        </p:nvGrpSpPr>
        <p:grpSpPr>
          <a:xfrm>
            <a:off x="5638800" y="4191000"/>
            <a:ext cx="1143000" cy="1143000"/>
            <a:chOff x="3552" y="2640"/>
            <a:chExt cx="720" cy="720"/>
          </a:xfrm>
        </p:grpSpPr>
        <p:sp>
          <p:nvSpPr>
            <p:cNvPr id="18441" name="Line 43"/>
            <p:cNvSpPr/>
            <p:nvPr/>
          </p:nvSpPr>
          <p:spPr>
            <a:xfrm flipV="1">
              <a:off x="3552" y="2640"/>
              <a:ext cx="720" cy="72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18442" name="Line 44"/>
            <p:cNvSpPr/>
            <p:nvPr/>
          </p:nvSpPr>
          <p:spPr>
            <a:xfrm>
              <a:off x="3552" y="2640"/>
              <a:ext cx="720" cy="336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0668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Stability of merging</a:t>
            </a:r>
            <a:endParaRPr lang="en-US" altLang="zh-CN" dirty="0"/>
          </a:p>
        </p:txBody>
      </p:sp>
      <p:sp>
        <p:nvSpPr>
          <p:cNvPr id="70659" name="Rectangle 3"/>
          <p:cNvSpPr>
            <a:spLocks noGrp="1"/>
          </p:cNvSpPr>
          <p:nvPr>
            <p:ph sz="half" idx="1"/>
          </p:nvPr>
        </p:nvSpPr>
        <p:spPr>
          <a:xfrm>
            <a:off x="457200" y="1412875"/>
            <a:ext cx="8148638" cy="1077913"/>
          </a:xfrm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  <a:buFontTx/>
            </a:pPr>
            <a:r>
              <a:rPr lang="en-US" altLang="zh-CN" dirty="0">
                <a:latin typeface="+mn-lt"/>
                <a:ea typeface="+mn-ea"/>
                <a:cs typeface="+mn-cs"/>
              </a:rPr>
              <a:t>Stability of mergesort depends on the </a:t>
            </a:r>
            <a:r>
              <a:rPr lang="en-US" altLang="zh-CN" dirty="0">
                <a:solidFill>
                  <a:srgbClr val="0000FF"/>
                </a:solidFill>
                <a:latin typeface="Trebuchet MS" panose="020B0603020202020204" pitchFamily="34" charset="0"/>
                <a:ea typeface="+mn-ea"/>
                <a:cs typeface="+mn-cs"/>
              </a:rPr>
              <a:t>merge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zh-CN" dirty="0">
                <a:latin typeface="+mn-lt"/>
                <a:ea typeface="+mn-ea"/>
                <a:cs typeface="+mn-cs"/>
              </a:rPr>
              <a:t>method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eaLnBrk="1" hangingPunct="1">
              <a:buClrTx/>
              <a:buSzTx/>
              <a:buFontTx/>
            </a:pPr>
            <a:r>
              <a:rPr lang="en-US" altLang="zh-CN" dirty="0">
                <a:latin typeface="+mn-lt"/>
                <a:ea typeface="+mn-ea"/>
                <a:cs typeface="+mn-cs"/>
              </a:rPr>
              <a:t>Merging is the only place where elements get moved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eaLnBrk="1" hangingPunct="1">
              <a:buClrTx/>
              <a:buSzTx/>
              <a:buFontTx/>
            </a:pPr>
            <a:endParaRPr lang="en-US" altLang="zh-CN" dirty="0">
              <a:latin typeface="+mn-lt"/>
              <a:ea typeface="+mn-ea"/>
              <a:cs typeface="+mn-cs"/>
            </a:endParaRPr>
          </a:p>
        </p:txBody>
      </p:sp>
      <p:sp>
        <p:nvSpPr>
          <p:cNvPr id="70660" name="Rectangle 4"/>
          <p:cNvSpPr>
            <a:spLocks noGrp="1"/>
          </p:cNvSpPr>
          <p:nvPr>
            <p:ph sz="half" idx="2"/>
          </p:nvPr>
        </p:nvSpPr>
        <p:spPr>
          <a:xfrm>
            <a:off x="457200" y="4649788"/>
            <a:ext cx="7470775" cy="898525"/>
          </a:xfrm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  <a:buFontTx/>
            </a:pPr>
            <a:r>
              <a:rPr lang="en-US" altLang="zh-CN" dirty="0">
                <a:latin typeface="+mn-lt"/>
                <a:ea typeface="+mn-ea"/>
                <a:cs typeface="+mn-cs"/>
              </a:rPr>
              <a:t>What if we encounter equal elements when merging?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lvl="1" eaLnBrk="1" hangingPunct="1"/>
            <a:r>
              <a:rPr lang="en-US" altLang="zh-CN" dirty="0">
                <a:latin typeface="+mn-lt"/>
                <a:ea typeface="+mn-ea"/>
              </a:rPr>
              <a:t>If we always choose the element from the left subarray, mergesort is stable</a:t>
            </a:r>
            <a:endParaRPr lang="en-US" altLang="zh-CN" dirty="0">
              <a:latin typeface="+mn-lt"/>
              <a:ea typeface="+mn-ea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996950" y="3427413"/>
          <a:ext cx="6559550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6877050" imgH="1590675" progId="Paint.Picture">
                  <p:embed/>
                </p:oleObj>
              </mc:Choice>
              <mc:Fallback>
                <p:oleObj name="" r:id="rId1" imgW="6877050" imgH="1590675" progId="Paint.Picture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96950" y="3427413"/>
                        <a:ext cx="6559550" cy="1222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0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59">
                                            <p:txEl>
                                              <p:charRg st="0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51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659">
                                            <p:txEl>
                                              <p:charRg st="51" end="1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0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0660">
                                            <p:txEl>
                                              <p:charRg st="0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50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0660">
                                            <p:txEl>
                                              <p:charRg st="50" end="1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ldLvl="4" uiExpand="1" build="p"/>
      <p:bldP spid="70660" grpId="0" bldLvl="4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Summary: comparison based sorting methods</a:t>
            </a:r>
            <a:endParaRPr lang="zh-CN" altLang="en-US" dirty="0"/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4294967295"/>
          </p:nvPr>
        </p:nvGraphicFramePr>
        <p:xfrm>
          <a:off x="628650" y="2225675"/>
          <a:ext cx="7258050" cy="2705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3094"/>
                <a:gridCol w="1357511"/>
                <a:gridCol w="1356876"/>
                <a:gridCol w="933368"/>
                <a:gridCol w="1537201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Sorting method</a:t>
                      </a:r>
                      <a:endParaRPr lang="zh-CN" altLang="en-US" sz="1350" dirty="0"/>
                    </a:p>
                  </a:txBody>
                  <a:tcPr marL="68574" marR="68574" marT="34290" marB="34290">
                    <a:gradFill>
                      <a:gsLst>
                        <a:gs pos="0">
                          <a:srgbClr val="007BD3"/>
                        </a:gs>
                        <a:gs pos="100000">
                          <a:srgbClr val="034373"/>
                        </a:gs>
                      </a:gsLst>
                      <a:lin ang="5400000" scaled="0"/>
                    </a:gra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Time complexity</a:t>
                      </a:r>
                      <a:endParaRPr lang="zh-CN" altLang="en-US" sz="1350" dirty="0"/>
                    </a:p>
                  </a:txBody>
                  <a:tcPr marL="68574" marR="68574" marT="34290" marB="34290">
                    <a:gradFill>
                      <a:gsLst>
                        <a:gs pos="0">
                          <a:srgbClr val="007BD3"/>
                        </a:gs>
                        <a:gs pos="100000">
                          <a:srgbClr val="034373"/>
                        </a:gs>
                      </a:gsLst>
                      <a:lin ang="5400000" scaled="0"/>
                    </a:gra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Stability </a:t>
                      </a:r>
                      <a:endParaRPr lang="zh-CN" altLang="en-US" sz="1350" dirty="0"/>
                    </a:p>
                  </a:txBody>
                  <a:tcPr marL="68574" marR="68574" marT="34290" marB="34290">
                    <a:gradFill>
                      <a:gsLst>
                        <a:gs pos="0">
                          <a:srgbClr val="007BD3"/>
                        </a:gs>
                        <a:gs pos="100000">
                          <a:srgbClr val="03437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Space complexity</a:t>
                      </a:r>
                      <a:endParaRPr lang="en-US" altLang="zh-CN" sz="1350" dirty="0"/>
                    </a:p>
                  </a:txBody>
                  <a:tcPr marL="68574" marR="68574" marT="34290" marB="34290">
                    <a:gradFill>
                      <a:gsLst>
                        <a:gs pos="0">
                          <a:srgbClr val="007BD3"/>
                        </a:gs>
                        <a:gs pos="100000">
                          <a:srgbClr val="034373"/>
                        </a:gs>
                      </a:gsLst>
                      <a:lin ang="5400000" scaled="0"/>
                    </a:gradFill>
                  </a:tcPr>
                </a:tc>
              </a:tr>
              <a:tr h="278130">
                <a:tc>
                  <a:txBody>
                    <a:bodyPr/>
                    <a:lstStyle/>
                    <a:p>
                      <a:pPr algn="ctr"/>
                      <a:endParaRPr lang="zh-CN" altLang="en-US" sz="1350" dirty="0"/>
                    </a:p>
                  </a:txBody>
                  <a:tcPr marL="68574" marR="68574" marT="34290" marB="34290">
                    <a:gradFill>
                      <a:gsLst>
                        <a:gs pos="0">
                          <a:srgbClr val="007BD3"/>
                        </a:gs>
                        <a:gs pos="100000">
                          <a:srgbClr val="03437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b="1" dirty="0">
                          <a:solidFill>
                            <a:schemeClr val="lt1"/>
                          </a:solidFill>
                        </a:rPr>
                        <a:t>Worst case</a:t>
                      </a:r>
                      <a:endParaRPr lang="en-US" altLang="zh-CN" sz="1350" b="1" dirty="0">
                        <a:solidFill>
                          <a:schemeClr val="lt1"/>
                        </a:solidFill>
                      </a:endParaRPr>
                    </a:p>
                  </a:txBody>
                  <a:tcPr marL="68574" marR="68574" marT="34290" marB="34290">
                    <a:gradFill>
                      <a:gsLst>
                        <a:gs pos="0">
                          <a:srgbClr val="007BD3"/>
                        </a:gs>
                        <a:gs pos="100000">
                          <a:srgbClr val="03437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b="1" dirty="0">
                          <a:solidFill>
                            <a:schemeClr val="lt1"/>
                          </a:solidFill>
                        </a:rPr>
                        <a:t>Avarage case</a:t>
                      </a:r>
                      <a:endParaRPr lang="en-US" altLang="zh-CN" sz="1350" b="1" dirty="0">
                        <a:solidFill>
                          <a:schemeClr val="lt1"/>
                        </a:solidFill>
                      </a:endParaRPr>
                    </a:p>
                  </a:txBody>
                  <a:tcPr marL="68574" marR="68574" marT="34290" marB="34290">
                    <a:gradFill>
                      <a:gsLst>
                        <a:gs pos="0">
                          <a:srgbClr val="007BD3"/>
                        </a:gs>
                        <a:gs pos="100000">
                          <a:srgbClr val="03437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350" dirty="0"/>
                    </a:p>
                  </a:txBody>
                  <a:tcPr marL="68574" marR="68574" marT="34290" marB="34290">
                    <a:gradFill>
                      <a:gsLst>
                        <a:gs pos="0">
                          <a:srgbClr val="007BD3"/>
                        </a:gs>
                        <a:gs pos="100000">
                          <a:srgbClr val="03437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350" dirty="0"/>
                    </a:p>
                  </a:txBody>
                  <a:tcPr marL="68574" marR="68574" marT="34290" marB="34290">
                    <a:gradFill>
                      <a:gsLst>
                        <a:gs pos="0">
                          <a:srgbClr val="007BD3"/>
                        </a:gs>
                        <a:gs pos="100000">
                          <a:srgbClr val="034373"/>
                        </a:gs>
                      </a:gsLst>
                      <a:lin ang="5400000" scaled="0"/>
                    </a:gradFill>
                  </a:tcPr>
                </a:tc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Insertion sort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O(n</a:t>
                      </a:r>
                      <a:r>
                        <a:rPr lang="en-US" altLang="zh-CN" sz="1350" baseline="30000" dirty="0"/>
                        <a:t>2</a:t>
                      </a:r>
                      <a:r>
                        <a:rPr lang="en-US" altLang="zh-CN" sz="1350" dirty="0"/>
                        <a:t>)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O(n</a:t>
                      </a:r>
                      <a:r>
                        <a:rPr lang="en-US" altLang="zh-CN" sz="1350" baseline="30000" dirty="0"/>
                        <a:t>2</a:t>
                      </a:r>
                      <a:r>
                        <a:rPr lang="en-US" altLang="zh-CN" sz="1350" dirty="0"/>
                        <a:t>)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Y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O(1)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Shell</a:t>
                      </a:r>
                      <a:r>
                        <a:rPr lang="en-US" altLang="zh-CN" sz="1350" baseline="0" dirty="0"/>
                        <a:t> sort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N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O(1)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Bubble sort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O(n</a:t>
                      </a:r>
                      <a:r>
                        <a:rPr lang="en-US" altLang="zh-CN" sz="1350" baseline="30000" dirty="0"/>
                        <a:t>2</a:t>
                      </a:r>
                      <a:r>
                        <a:rPr lang="en-US" altLang="zh-CN" sz="1350" dirty="0"/>
                        <a:t>)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O(n</a:t>
                      </a:r>
                      <a:r>
                        <a:rPr lang="en-US" altLang="zh-CN" sz="1350" baseline="30000" dirty="0"/>
                        <a:t>2</a:t>
                      </a:r>
                      <a:r>
                        <a:rPr lang="en-US" altLang="zh-CN" sz="1350" dirty="0"/>
                        <a:t>)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Y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O(1)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Heap sort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O(</a:t>
                      </a:r>
                      <a:r>
                        <a:rPr lang="en-US" altLang="zh-CN" sz="1350" dirty="0" err="1"/>
                        <a:t>nlogn</a:t>
                      </a:r>
                      <a:r>
                        <a:rPr lang="en-US" altLang="zh-CN" sz="1350" dirty="0"/>
                        <a:t>)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O(</a:t>
                      </a:r>
                      <a:r>
                        <a:rPr lang="en-US" altLang="zh-CN" sz="1350" dirty="0" err="1"/>
                        <a:t>nlogn</a:t>
                      </a:r>
                      <a:r>
                        <a:rPr lang="en-US" altLang="zh-CN" sz="1350" dirty="0"/>
                        <a:t>)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N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O(1)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Merge sort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O(</a:t>
                      </a:r>
                      <a:r>
                        <a:rPr lang="en-US" altLang="zh-CN" sz="1350" dirty="0" err="1"/>
                        <a:t>nlogn</a:t>
                      </a:r>
                      <a:r>
                        <a:rPr lang="en-US" altLang="zh-CN" sz="1350" dirty="0"/>
                        <a:t>)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O(</a:t>
                      </a:r>
                      <a:r>
                        <a:rPr lang="en-US" altLang="zh-CN" sz="1350" dirty="0" err="1"/>
                        <a:t>nlogn</a:t>
                      </a:r>
                      <a:r>
                        <a:rPr lang="en-US" altLang="zh-CN" sz="1350" dirty="0"/>
                        <a:t>)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Y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O(N)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Quick</a:t>
                      </a:r>
                      <a:r>
                        <a:rPr lang="en-US" altLang="zh-CN" sz="1350" baseline="0" dirty="0"/>
                        <a:t> sort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O(n</a:t>
                      </a:r>
                      <a:r>
                        <a:rPr lang="en-US" altLang="zh-CN" sz="1350" baseline="30000" dirty="0"/>
                        <a:t>2</a:t>
                      </a:r>
                      <a:r>
                        <a:rPr lang="en-US" altLang="zh-CN" sz="1350" dirty="0"/>
                        <a:t>)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O(</a:t>
                      </a:r>
                      <a:r>
                        <a:rPr lang="en-US" altLang="zh-CN" sz="1350" dirty="0" err="1"/>
                        <a:t>nlogn</a:t>
                      </a:r>
                      <a:r>
                        <a:rPr lang="en-US" altLang="zh-CN" sz="1350" dirty="0"/>
                        <a:t>)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N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dirty="0"/>
                        <a:t>O(</a:t>
                      </a:r>
                      <a:r>
                        <a:rPr lang="en-US" altLang="zh-CN" sz="1350" dirty="0" err="1"/>
                        <a:t>logn</a:t>
                      </a:r>
                      <a:r>
                        <a:rPr lang="en-US" altLang="zh-CN" sz="1350" dirty="0"/>
                        <a:t>)</a:t>
                      </a:r>
                      <a:endParaRPr lang="zh-CN" altLang="en-US" sz="1350" dirty="0"/>
                    </a:p>
                  </a:txBody>
                  <a:tcPr marL="68574" marR="68574" marT="34290" marB="34290"/>
                </a:tc>
              </a:tr>
              <a:tr h="278130">
                <a:tc>
                  <a:txBody>
                    <a:bodyPr/>
                    <a:lstStyle/>
                    <a:p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endParaRPr lang="zh-CN" altLang="en-US" sz="1350" dirty="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endParaRPr lang="zh-CN" altLang="en-US" sz="1350"/>
                    </a:p>
                  </a:txBody>
                  <a:tcPr marL="68574" marR="68574" marT="34290" marB="34290"/>
                </a:tc>
                <a:tc>
                  <a:txBody>
                    <a:bodyPr/>
                    <a:lstStyle/>
                    <a:p>
                      <a:endParaRPr lang="zh-CN" altLang="en-US" sz="1350" dirty="0"/>
                    </a:p>
                  </a:txBody>
                  <a:tcPr marL="68574" marR="68574" marT="34290" marB="34290"/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2873375" y="3017838"/>
            <a:ext cx="2286000" cy="228600"/>
          </a:xfrm>
          <a:prstGeom prst="rect">
            <a:avLst/>
          </a:prstGeom>
          <a:solidFill>
            <a:srgbClr val="FFFCEA"/>
          </a:solidFill>
          <a:ln w="25400">
            <a:noFill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" name="矩形 2"/>
          <p:cNvSpPr/>
          <p:nvPr/>
        </p:nvSpPr>
        <p:spPr>
          <a:xfrm>
            <a:off x="5407025" y="3030538"/>
            <a:ext cx="574675" cy="215900"/>
          </a:xfrm>
          <a:prstGeom prst="rect">
            <a:avLst/>
          </a:prstGeom>
          <a:solidFill>
            <a:srgbClr val="FFFCEA"/>
          </a:solidFill>
          <a:ln w="25400">
            <a:noFill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" name="矩形 3"/>
          <p:cNvSpPr/>
          <p:nvPr/>
        </p:nvSpPr>
        <p:spPr>
          <a:xfrm>
            <a:off x="6818313" y="2994025"/>
            <a:ext cx="523875" cy="252413"/>
          </a:xfrm>
          <a:prstGeom prst="rect">
            <a:avLst/>
          </a:prstGeom>
          <a:solidFill>
            <a:srgbClr val="FFFCEA"/>
          </a:solidFill>
          <a:ln w="25400">
            <a:noFill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5" name="矩形 4"/>
          <p:cNvSpPr/>
          <p:nvPr/>
        </p:nvSpPr>
        <p:spPr>
          <a:xfrm>
            <a:off x="5534025" y="3303588"/>
            <a:ext cx="523875" cy="180975"/>
          </a:xfrm>
          <a:prstGeom prst="rect">
            <a:avLst/>
          </a:prstGeom>
          <a:solidFill>
            <a:srgbClr val="FFF9D3"/>
          </a:solidFill>
          <a:ln w="25400">
            <a:noFill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7" name="矩形 6"/>
          <p:cNvSpPr/>
          <p:nvPr/>
        </p:nvSpPr>
        <p:spPr>
          <a:xfrm>
            <a:off x="6818313" y="3303588"/>
            <a:ext cx="523875" cy="215900"/>
          </a:xfrm>
          <a:prstGeom prst="rect">
            <a:avLst/>
          </a:prstGeom>
          <a:solidFill>
            <a:srgbClr val="FFF9D3"/>
          </a:solidFill>
          <a:ln w="25400">
            <a:noFill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" name="矩形 7"/>
          <p:cNvSpPr/>
          <p:nvPr/>
        </p:nvSpPr>
        <p:spPr>
          <a:xfrm>
            <a:off x="3000375" y="3598863"/>
            <a:ext cx="2286000" cy="228600"/>
          </a:xfrm>
          <a:prstGeom prst="rect">
            <a:avLst/>
          </a:prstGeom>
          <a:solidFill>
            <a:srgbClr val="FFFCEA"/>
          </a:solidFill>
          <a:ln w="25400">
            <a:noFill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9" name="矩形 8"/>
          <p:cNvSpPr/>
          <p:nvPr/>
        </p:nvSpPr>
        <p:spPr>
          <a:xfrm>
            <a:off x="5534025" y="3598863"/>
            <a:ext cx="523875" cy="179387"/>
          </a:xfrm>
          <a:prstGeom prst="rect">
            <a:avLst/>
          </a:prstGeom>
          <a:solidFill>
            <a:srgbClr val="FFFCEA"/>
          </a:solidFill>
          <a:ln w="25400">
            <a:noFill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0" name="矩形 9"/>
          <p:cNvSpPr/>
          <p:nvPr/>
        </p:nvSpPr>
        <p:spPr>
          <a:xfrm>
            <a:off x="6945313" y="3575050"/>
            <a:ext cx="523875" cy="250825"/>
          </a:xfrm>
          <a:prstGeom prst="rect">
            <a:avLst/>
          </a:prstGeom>
          <a:solidFill>
            <a:srgbClr val="FFFCEA"/>
          </a:solidFill>
          <a:ln w="25400">
            <a:noFill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1" name="矩形 10"/>
          <p:cNvSpPr/>
          <p:nvPr/>
        </p:nvSpPr>
        <p:spPr>
          <a:xfrm>
            <a:off x="5661025" y="3876675"/>
            <a:ext cx="523875" cy="179388"/>
          </a:xfrm>
          <a:prstGeom prst="rect">
            <a:avLst/>
          </a:prstGeom>
          <a:solidFill>
            <a:srgbClr val="FFF9D3"/>
          </a:solidFill>
          <a:ln w="25400">
            <a:noFill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2" name="矩形 11"/>
          <p:cNvSpPr/>
          <p:nvPr/>
        </p:nvSpPr>
        <p:spPr>
          <a:xfrm>
            <a:off x="6945313" y="3876675"/>
            <a:ext cx="523875" cy="215900"/>
          </a:xfrm>
          <a:prstGeom prst="rect">
            <a:avLst/>
          </a:prstGeom>
          <a:solidFill>
            <a:srgbClr val="FFF9D3"/>
          </a:solidFill>
          <a:ln w="25400">
            <a:noFill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3" name="矩形 12"/>
          <p:cNvSpPr/>
          <p:nvPr/>
        </p:nvSpPr>
        <p:spPr>
          <a:xfrm>
            <a:off x="3000375" y="3825875"/>
            <a:ext cx="2159000" cy="252413"/>
          </a:xfrm>
          <a:prstGeom prst="rect">
            <a:avLst/>
          </a:prstGeom>
          <a:solidFill>
            <a:srgbClr val="FFF9D3"/>
          </a:solidFill>
          <a:ln w="25400">
            <a:noFill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5" name="矩形 14"/>
          <p:cNvSpPr/>
          <p:nvPr/>
        </p:nvSpPr>
        <p:spPr>
          <a:xfrm>
            <a:off x="3051175" y="4125913"/>
            <a:ext cx="2286000" cy="228600"/>
          </a:xfrm>
          <a:prstGeom prst="rect">
            <a:avLst/>
          </a:prstGeom>
          <a:solidFill>
            <a:srgbClr val="FFFCEA"/>
          </a:solidFill>
          <a:ln w="25400">
            <a:noFill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6" name="矩形 15"/>
          <p:cNvSpPr/>
          <p:nvPr/>
        </p:nvSpPr>
        <p:spPr>
          <a:xfrm>
            <a:off x="5584825" y="4133850"/>
            <a:ext cx="523875" cy="215900"/>
          </a:xfrm>
          <a:prstGeom prst="rect">
            <a:avLst/>
          </a:prstGeom>
          <a:solidFill>
            <a:srgbClr val="FFFCEA"/>
          </a:solidFill>
          <a:ln w="25400">
            <a:noFill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" name="矩形 16"/>
          <p:cNvSpPr/>
          <p:nvPr/>
        </p:nvSpPr>
        <p:spPr>
          <a:xfrm>
            <a:off x="6921500" y="4102100"/>
            <a:ext cx="523875" cy="252413"/>
          </a:xfrm>
          <a:prstGeom prst="rect">
            <a:avLst/>
          </a:prstGeom>
          <a:solidFill>
            <a:srgbClr val="FFFCEA"/>
          </a:solidFill>
          <a:ln w="25400">
            <a:noFill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8" name="矩形 17"/>
          <p:cNvSpPr/>
          <p:nvPr/>
        </p:nvSpPr>
        <p:spPr>
          <a:xfrm>
            <a:off x="5599113" y="4425950"/>
            <a:ext cx="523875" cy="180975"/>
          </a:xfrm>
          <a:prstGeom prst="rect">
            <a:avLst/>
          </a:prstGeom>
          <a:solidFill>
            <a:srgbClr val="FFF9D3"/>
          </a:solidFill>
          <a:ln w="25400">
            <a:noFill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9" name="矩形 18"/>
          <p:cNvSpPr/>
          <p:nvPr/>
        </p:nvSpPr>
        <p:spPr>
          <a:xfrm>
            <a:off x="6799263" y="4419600"/>
            <a:ext cx="671512" cy="215900"/>
          </a:xfrm>
          <a:prstGeom prst="rect">
            <a:avLst/>
          </a:prstGeom>
          <a:solidFill>
            <a:srgbClr val="FFF9D3"/>
          </a:solidFill>
          <a:ln w="25400">
            <a:noFill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0" name="矩形 19"/>
          <p:cNvSpPr/>
          <p:nvPr/>
        </p:nvSpPr>
        <p:spPr>
          <a:xfrm>
            <a:off x="2922588" y="4398963"/>
            <a:ext cx="2159000" cy="252412"/>
          </a:xfrm>
          <a:prstGeom prst="rect">
            <a:avLst/>
          </a:prstGeom>
          <a:solidFill>
            <a:srgbClr val="FFF9D3"/>
          </a:solidFill>
          <a:ln w="25400">
            <a:noFill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4" name="矩形 13"/>
          <p:cNvSpPr/>
          <p:nvPr/>
        </p:nvSpPr>
        <p:spPr>
          <a:xfrm>
            <a:off x="1143000" y="3246438"/>
            <a:ext cx="990600" cy="273050"/>
          </a:xfrm>
          <a:prstGeom prst="rect">
            <a:avLst/>
          </a:pr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2" name="矩形 21"/>
          <p:cNvSpPr/>
          <p:nvPr/>
        </p:nvSpPr>
        <p:spPr>
          <a:xfrm>
            <a:off x="1143000" y="3810000"/>
            <a:ext cx="990600" cy="273050"/>
          </a:xfrm>
          <a:prstGeom prst="rect">
            <a:avLst/>
          </a:pr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3" name="矩形 22"/>
          <p:cNvSpPr/>
          <p:nvPr/>
        </p:nvSpPr>
        <p:spPr>
          <a:xfrm>
            <a:off x="1143000" y="4364038"/>
            <a:ext cx="990600" cy="273050"/>
          </a:xfrm>
          <a:prstGeom prst="rect">
            <a:avLst/>
          </a:prstGeom>
          <a:noFill/>
          <a:ln w="254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bldLvl="0" animBg="1"/>
      <p:bldP spid="5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14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Time complexity of Sorting</a:t>
            </a:r>
            <a:endParaRPr lang="en-US" altLang="zh-CN" dirty="0"/>
          </a:p>
        </p:txBody>
      </p:sp>
      <p:sp>
        <p:nvSpPr>
          <p:cNvPr id="127897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828800"/>
            <a:ext cx="7772400" cy="4419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Several sorting algorithms have been discussed and the best ones, so far: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</a:rPr>
              <a:t>Heap sort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and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</a:rPr>
              <a:t>Merge sort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: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</a:rPr>
              <a:t>O( n log n 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</a:rPr>
              <a:t>Quick sort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(best one in practice):  O( n log n ) on average, O( n</a:t>
            </a:r>
            <a:r>
              <a:rPr kumimoji="0" lang="en-US" altLang="zh-CN" sz="24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) worst case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 can be proven that any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comparison-based sorting algorithm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will need to carry out at least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O( n log n )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operations 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sym typeface="Symbol" panose="05050102010706020507" pitchFamily="18" charset="2"/>
              </a:rPr>
              <a:t>on avarage and worst case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79">
                                            <p:txEl>
                                              <p:charRg st="74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79">
                                            <p:txEl>
                                              <p:charRg st="114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79">
                                            <p:txEl>
                                              <p:charRg st="194" end="3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6" name="Text Box 4"/>
          <p:cNvSpPr txBox="1"/>
          <p:nvPr/>
        </p:nvSpPr>
        <p:spPr>
          <a:xfrm>
            <a:off x="304800" y="14288"/>
            <a:ext cx="8153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ym typeface="Webdings" panose="05030102010509060703" pitchFamily="18" charset="2"/>
              </a:rPr>
              <a:t>§9  A General Lower Bound for Sorting</a:t>
            </a:r>
            <a:endParaRPr lang="en-US" altLang="zh-CN" sz="1800" b="1" dirty="0"/>
          </a:p>
        </p:txBody>
      </p:sp>
      <p:sp>
        <p:nvSpPr>
          <p:cNvPr id="79877" name="Text Box 5"/>
          <p:cNvSpPr txBox="1"/>
          <p:nvPr/>
        </p:nvSpPr>
        <p:spPr>
          <a:xfrm>
            <a:off x="228600" y="533400"/>
            <a:ext cx="8382000" cy="706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92100" lvl="0" indent="-29210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【Theorem】</a:t>
            </a:r>
            <a:r>
              <a:rPr lang="en-US" altLang="zh-CN" sz="2000" b="1" dirty="0">
                <a:latin typeface="Times New Roman" panose="02020603050405020304" pitchFamily="18" charset="0"/>
              </a:rPr>
              <a:t>Any algorithm that </a:t>
            </a: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sorts by comparisons only</a:t>
            </a:r>
            <a:r>
              <a:rPr lang="en-US" altLang="zh-CN" sz="2000" b="1" dirty="0">
                <a:latin typeface="Times New Roman" panose="02020603050405020304" pitchFamily="18" charset="0"/>
              </a:rPr>
              <a:t> requires at least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( </a:t>
            </a:r>
            <a:r>
              <a:rPr lang="en-US" altLang="zh-CN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 log </a:t>
            </a:r>
            <a:r>
              <a:rPr lang="en-US" altLang="zh-CN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 ) comparisons on avarage and worst case.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3" name="Group 6"/>
          <p:cNvGrpSpPr/>
          <p:nvPr/>
        </p:nvGrpSpPr>
        <p:grpSpPr>
          <a:xfrm>
            <a:off x="1143000" y="1676400"/>
            <a:ext cx="6324600" cy="4446588"/>
            <a:chOff x="105" y="1104"/>
            <a:chExt cx="3984" cy="2801"/>
          </a:xfrm>
        </p:grpSpPr>
        <p:sp>
          <p:nvSpPr>
            <p:cNvPr id="22533" name="Text Box 7"/>
            <p:cNvSpPr txBox="1"/>
            <p:nvPr/>
          </p:nvSpPr>
          <p:spPr>
            <a:xfrm>
              <a:off x="288" y="1104"/>
              <a:ext cx="672" cy="23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90000" tIns="46800" rIns="90000" bIns="46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b="1" dirty="0"/>
                <a:t>Proof:</a:t>
              </a:r>
              <a:endParaRPr lang="en-US" altLang="zh-CN" sz="1800" b="1" dirty="0"/>
            </a:p>
          </p:txBody>
        </p:sp>
        <p:grpSp>
          <p:nvGrpSpPr>
            <p:cNvPr id="22534" name="Group 8"/>
            <p:cNvGrpSpPr/>
            <p:nvPr/>
          </p:nvGrpSpPr>
          <p:grpSpPr>
            <a:xfrm>
              <a:off x="144" y="1152"/>
              <a:ext cx="3542" cy="2016"/>
              <a:chOff x="864" y="1536"/>
              <a:chExt cx="3542" cy="2016"/>
            </a:xfrm>
          </p:grpSpPr>
          <p:sp>
            <p:nvSpPr>
              <p:cNvPr id="22536" name="Oval 9"/>
              <p:cNvSpPr/>
              <p:nvPr/>
            </p:nvSpPr>
            <p:spPr>
              <a:xfrm>
                <a:off x="2160" y="1536"/>
                <a:ext cx="614" cy="33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/>
                  <a:t>K</a:t>
                </a:r>
                <a:r>
                  <a:rPr lang="en-US" altLang="zh-CN" sz="2000" b="1" baseline="-25000" dirty="0"/>
                  <a:t>0</a:t>
                </a:r>
                <a:r>
                  <a:rPr lang="en-US" altLang="zh-CN" sz="2000" b="1" dirty="0"/>
                  <a:t> </a:t>
                </a:r>
                <a:r>
                  <a:rPr lang="en-US" altLang="zh-CN" sz="2000" b="1" dirty="0">
                    <a:sym typeface="Symbol" panose="05050102010706020507" pitchFamily="18" charset="2"/>
                  </a:rPr>
                  <a:t> K</a:t>
                </a:r>
                <a:r>
                  <a:rPr lang="en-US" altLang="zh-CN" sz="2000" b="1" baseline="-25000" dirty="0">
                    <a:sym typeface="Symbol" panose="05050102010706020507" pitchFamily="18" charset="2"/>
                  </a:rPr>
                  <a:t>1</a:t>
                </a:r>
                <a:endParaRPr lang="en-US" altLang="zh-CN" sz="2000" b="1" dirty="0"/>
              </a:p>
            </p:txBody>
          </p:sp>
          <p:grpSp>
            <p:nvGrpSpPr>
              <p:cNvPr id="22537" name="Group 10"/>
              <p:cNvGrpSpPr/>
              <p:nvPr/>
            </p:nvGrpSpPr>
            <p:grpSpPr>
              <a:xfrm>
                <a:off x="864" y="1968"/>
                <a:ext cx="1862" cy="1584"/>
                <a:chOff x="864" y="1968"/>
                <a:chExt cx="1862" cy="1584"/>
              </a:xfrm>
            </p:grpSpPr>
            <p:sp>
              <p:nvSpPr>
                <p:cNvPr id="22556" name="Oval 11"/>
                <p:cNvSpPr/>
                <p:nvPr/>
              </p:nvSpPr>
              <p:spPr>
                <a:xfrm>
                  <a:off x="1296" y="1968"/>
                  <a:ext cx="614" cy="330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/>
                    <a:t>K</a:t>
                  </a:r>
                  <a:r>
                    <a:rPr lang="en-US" altLang="zh-CN" sz="2000" b="1" baseline="-25000" dirty="0"/>
                    <a:t>1</a:t>
                  </a:r>
                  <a:r>
                    <a:rPr lang="en-US" altLang="zh-CN" sz="2000" b="1" dirty="0"/>
                    <a:t> </a:t>
                  </a:r>
                  <a:r>
                    <a:rPr lang="en-US" altLang="zh-CN" sz="2000" b="1" dirty="0">
                      <a:sym typeface="Symbol" panose="05050102010706020507" pitchFamily="18" charset="2"/>
                    </a:rPr>
                    <a:t> K</a:t>
                  </a:r>
                  <a:r>
                    <a:rPr lang="en-US" altLang="zh-CN" sz="2000" b="1" baseline="-25000" dirty="0">
                      <a:sym typeface="Symbol" panose="05050102010706020507" pitchFamily="18" charset="2"/>
                    </a:rPr>
                    <a:t>2</a:t>
                  </a:r>
                  <a:endParaRPr lang="en-US" altLang="zh-CN" sz="2000" b="1" dirty="0"/>
                </a:p>
              </p:txBody>
            </p:sp>
            <p:sp>
              <p:nvSpPr>
                <p:cNvPr id="22557" name="Oval 12"/>
                <p:cNvSpPr/>
                <p:nvPr/>
              </p:nvSpPr>
              <p:spPr>
                <a:xfrm>
                  <a:off x="1680" y="2544"/>
                  <a:ext cx="614" cy="330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/>
                    <a:t>K</a:t>
                  </a:r>
                  <a:r>
                    <a:rPr lang="en-US" altLang="zh-CN" sz="2000" b="1" baseline="-25000" dirty="0"/>
                    <a:t>0</a:t>
                  </a:r>
                  <a:r>
                    <a:rPr lang="en-US" altLang="zh-CN" sz="2000" b="1" dirty="0"/>
                    <a:t> </a:t>
                  </a:r>
                  <a:r>
                    <a:rPr lang="en-US" altLang="zh-CN" sz="2000" b="1" dirty="0">
                      <a:sym typeface="Symbol" panose="05050102010706020507" pitchFamily="18" charset="2"/>
                    </a:rPr>
                    <a:t> K</a:t>
                  </a:r>
                  <a:r>
                    <a:rPr lang="en-US" altLang="zh-CN" sz="2000" b="1" baseline="-25000" dirty="0">
                      <a:sym typeface="Symbol" panose="05050102010706020507" pitchFamily="18" charset="2"/>
                    </a:rPr>
                    <a:t>2</a:t>
                  </a:r>
                  <a:endParaRPr lang="en-US" altLang="zh-CN" sz="2000" b="1" dirty="0"/>
                </a:p>
              </p:txBody>
            </p:sp>
            <p:sp>
              <p:nvSpPr>
                <p:cNvPr id="22558" name="Oval 13"/>
                <p:cNvSpPr/>
                <p:nvPr/>
              </p:nvSpPr>
              <p:spPr>
                <a:xfrm>
                  <a:off x="864" y="2544"/>
                  <a:ext cx="662" cy="384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0" rIns="90000" bIns="82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8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solidFill>
                        <a:schemeClr val="hlink"/>
                      </a:solidFill>
                    </a:rPr>
                    <a:t>stop</a:t>
                  </a:r>
                  <a:endParaRPr lang="en-US" altLang="zh-CN" sz="2000" b="1" dirty="0">
                    <a:solidFill>
                      <a:schemeClr val="hlink"/>
                    </a:solidFill>
                  </a:endParaRPr>
                </a:p>
                <a:p>
                  <a:pPr marL="0" lvl="0" indent="0" algn="ctr" eaLnBrk="1" hangingPunct="1">
                    <a:lnSpc>
                      <a:spcPct val="8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chemeClr val="hlink"/>
                      </a:solidFill>
                    </a:rPr>
                    <a:t>[0,1,2]</a:t>
                  </a:r>
                  <a:endParaRPr lang="en-US" altLang="zh-CN" sz="2000" b="1" dirty="0"/>
                </a:p>
              </p:txBody>
            </p:sp>
            <p:sp>
              <p:nvSpPr>
                <p:cNvPr id="22559" name="Oval 14"/>
                <p:cNvSpPr/>
                <p:nvPr/>
              </p:nvSpPr>
              <p:spPr>
                <a:xfrm>
                  <a:off x="1200" y="3168"/>
                  <a:ext cx="662" cy="384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0" rIns="90000" bIns="82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8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solidFill>
                        <a:schemeClr val="hlink"/>
                      </a:solidFill>
                    </a:rPr>
                    <a:t>stop</a:t>
                  </a:r>
                  <a:endParaRPr lang="en-US" altLang="zh-CN" sz="2000" b="1" dirty="0">
                    <a:solidFill>
                      <a:schemeClr val="hlink"/>
                    </a:solidFill>
                  </a:endParaRPr>
                </a:p>
                <a:p>
                  <a:pPr marL="0" lvl="0" indent="0" algn="ctr" eaLnBrk="1" hangingPunct="1">
                    <a:lnSpc>
                      <a:spcPct val="8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chemeClr val="hlink"/>
                      </a:solidFill>
                    </a:rPr>
                    <a:t>[0,2,1]</a:t>
                  </a:r>
                  <a:endParaRPr lang="en-US" altLang="zh-CN" sz="2000" b="1" dirty="0"/>
                </a:p>
              </p:txBody>
            </p:sp>
            <p:sp>
              <p:nvSpPr>
                <p:cNvPr id="22560" name="Oval 15"/>
                <p:cNvSpPr/>
                <p:nvPr/>
              </p:nvSpPr>
              <p:spPr>
                <a:xfrm>
                  <a:off x="2064" y="3168"/>
                  <a:ext cx="662" cy="384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0" rIns="90000" bIns="82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8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solidFill>
                        <a:schemeClr val="hlink"/>
                      </a:solidFill>
                    </a:rPr>
                    <a:t>stop</a:t>
                  </a:r>
                  <a:endParaRPr lang="en-US" altLang="zh-CN" sz="2000" b="1" dirty="0">
                    <a:solidFill>
                      <a:schemeClr val="hlink"/>
                    </a:solidFill>
                  </a:endParaRPr>
                </a:p>
                <a:p>
                  <a:pPr marL="0" lvl="0" indent="0" algn="ctr" eaLnBrk="1" hangingPunct="1">
                    <a:lnSpc>
                      <a:spcPct val="8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chemeClr val="hlink"/>
                      </a:solidFill>
                    </a:rPr>
                    <a:t>[2,0,1]</a:t>
                  </a:r>
                  <a:endParaRPr lang="en-US" altLang="zh-CN" sz="2000" b="1" dirty="0"/>
                </a:p>
              </p:txBody>
            </p:sp>
            <p:sp>
              <p:nvSpPr>
                <p:cNvPr id="22561" name="Line 16"/>
                <p:cNvSpPr/>
                <p:nvPr/>
              </p:nvSpPr>
              <p:spPr>
                <a:xfrm flipH="1">
                  <a:off x="1632" y="2880"/>
                  <a:ext cx="240" cy="288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562" name="Rectangle 17"/>
                <p:cNvSpPr/>
                <p:nvPr/>
              </p:nvSpPr>
              <p:spPr>
                <a:xfrm>
                  <a:off x="1584" y="2880"/>
                  <a:ext cx="192" cy="19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/>
                    <a:t>T</a:t>
                  </a:r>
                  <a:endParaRPr lang="en-US" altLang="zh-CN" sz="2000" b="1" dirty="0"/>
                </a:p>
              </p:txBody>
            </p:sp>
            <p:sp>
              <p:nvSpPr>
                <p:cNvPr id="22563" name="Line 18"/>
                <p:cNvSpPr/>
                <p:nvPr/>
              </p:nvSpPr>
              <p:spPr>
                <a:xfrm>
                  <a:off x="2064" y="2880"/>
                  <a:ext cx="240" cy="288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564" name="Rectangle 19"/>
                <p:cNvSpPr/>
                <p:nvPr/>
              </p:nvSpPr>
              <p:spPr>
                <a:xfrm>
                  <a:off x="2160" y="2880"/>
                  <a:ext cx="192" cy="19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/>
                    <a:t>F</a:t>
                  </a:r>
                  <a:endParaRPr lang="en-US" altLang="zh-CN" sz="2000" b="1" dirty="0"/>
                </a:p>
              </p:txBody>
            </p:sp>
            <p:sp>
              <p:nvSpPr>
                <p:cNvPr id="22565" name="Line 20"/>
                <p:cNvSpPr/>
                <p:nvPr/>
              </p:nvSpPr>
              <p:spPr>
                <a:xfrm flipH="1">
                  <a:off x="1152" y="2256"/>
                  <a:ext cx="240" cy="288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566" name="Rectangle 21"/>
                <p:cNvSpPr/>
                <p:nvPr/>
              </p:nvSpPr>
              <p:spPr>
                <a:xfrm>
                  <a:off x="1104" y="2304"/>
                  <a:ext cx="192" cy="19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/>
                    <a:t>T</a:t>
                  </a:r>
                  <a:endParaRPr lang="en-US" altLang="zh-CN" sz="2000" b="1" dirty="0"/>
                </a:p>
              </p:txBody>
            </p:sp>
            <p:sp>
              <p:nvSpPr>
                <p:cNvPr id="22567" name="Line 22"/>
                <p:cNvSpPr/>
                <p:nvPr/>
              </p:nvSpPr>
              <p:spPr>
                <a:xfrm>
                  <a:off x="1776" y="2256"/>
                  <a:ext cx="240" cy="288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568" name="Rectangle 23"/>
                <p:cNvSpPr/>
                <p:nvPr/>
              </p:nvSpPr>
              <p:spPr>
                <a:xfrm>
                  <a:off x="1920" y="2304"/>
                  <a:ext cx="192" cy="19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/>
                    <a:t>F</a:t>
                  </a:r>
                  <a:endParaRPr lang="en-US" altLang="zh-CN" sz="2000" b="1" dirty="0"/>
                </a:p>
              </p:txBody>
            </p:sp>
          </p:grpSp>
          <p:grpSp>
            <p:nvGrpSpPr>
              <p:cNvPr id="22538" name="Group 24"/>
              <p:cNvGrpSpPr/>
              <p:nvPr/>
            </p:nvGrpSpPr>
            <p:grpSpPr>
              <a:xfrm>
                <a:off x="2544" y="1968"/>
                <a:ext cx="1862" cy="1584"/>
                <a:chOff x="864" y="1968"/>
                <a:chExt cx="1862" cy="1584"/>
              </a:xfrm>
            </p:grpSpPr>
            <p:sp>
              <p:nvSpPr>
                <p:cNvPr id="22543" name="Oval 25"/>
                <p:cNvSpPr/>
                <p:nvPr/>
              </p:nvSpPr>
              <p:spPr>
                <a:xfrm>
                  <a:off x="1296" y="1968"/>
                  <a:ext cx="614" cy="330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/>
                    <a:t>K</a:t>
                  </a:r>
                  <a:r>
                    <a:rPr lang="en-US" altLang="zh-CN" sz="2000" b="1" baseline="-25000" dirty="0"/>
                    <a:t>0</a:t>
                  </a:r>
                  <a:r>
                    <a:rPr lang="en-US" altLang="zh-CN" sz="2000" b="1" dirty="0"/>
                    <a:t> </a:t>
                  </a:r>
                  <a:r>
                    <a:rPr lang="en-US" altLang="zh-CN" sz="2000" b="1" dirty="0">
                      <a:sym typeface="Symbol" panose="05050102010706020507" pitchFamily="18" charset="2"/>
                    </a:rPr>
                    <a:t> K</a:t>
                  </a:r>
                  <a:r>
                    <a:rPr lang="en-US" altLang="zh-CN" sz="2000" b="1" baseline="-25000" dirty="0">
                      <a:sym typeface="Symbol" panose="05050102010706020507" pitchFamily="18" charset="2"/>
                    </a:rPr>
                    <a:t>2</a:t>
                  </a:r>
                  <a:endParaRPr lang="en-US" altLang="zh-CN" sz="2000" b="1" dirty="0"/>
                </a:p>
              </p:txBody>
            </p:sp>
            <p:sp>
              <p:nvSpPr>
                <p:cNvPr id="22544" name="Oval 26"/>
                <p:cNvSpPr/>
                <p:nvPr/>
              </p:nvSpPr>
              <p:spPr>
                <a:xfrm>
                  <a:off x="1680" y="2544"/>
                  <a:ext cx="614" cy="330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/>
                    <a:t>K</a:t>
                  </a:r>
                  <a:r>
                    <a:rPr lang="en-US" altLang="zh-CN" sz="2000" b="1" baseline="-25000" dirty="0"/>
                    <a:t>1</a:t>
                  </a:r>
                  <a:r>
                    <a:rPr lang="en-US" altLang="zh-CN" sz="2000" b="1" dirty="0"/>
                    <a:t> </a:t>
                  </a:r>
                  <a:r>
                    <a:rPr lang="en-US" altLang="zh-CN" sz="2000" b="1" dirty="0">
                      <a:sym typeface="Symbol" panose="05050102010706020507" pitchFamily="18" charset="2"/>
                    </a:rPr>
                    <a:t> K</a:t>
                  </a:r>
                  <a:r>
                    <a:rPr lang="en-US" altLang="zh-CN" sz="2000" b="1" baseline="-25000" dirty="0">
                      <a:sym typeface="Symbol" panose="05050102010706020507" pitchFamily="18" charset="2"/>
                    </a:rPr>
                    <a:t>2</a:t>
                  </a:r>
                  <a:endParaRPr lang="en-US" altLang="zh-CN" sz="2000" b="1" dirty="0"/>
                </a:p>
              </p:txBody>
            </p:sp>
            <p:sp>
              <p:nvSpPr>
                <p:cNvPr id="22545" name="Oval 27"/>
                <p:cNvSpPr/>
                <p:nvPr/>
              </p:nvSpPr>
              <p:spPr>
                <a:xfrm>
                  <a:off x="864" y="2544"/>
                  <a:ext cx="662" cy="384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0" rIns="90000" bIns="82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8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solidFill>
                        <a:schemeClr val="hlink"/>
                      </a:solidFill>
                    </a:rPr>
                    <a:t>stop</a:t>
                  </a:r>
                  <a:endParaRPr lang="en-US" altLang="zh-CN" sz="2000" b="1" dirty="0">
                    <a:solidFill>
                      <a:schemeClr val="hlink"/>
                    </a:solidFill>
                  </a:endParaRPr>
                </a:p>
                <a:p>
                  <a:pPr marL="0" lvl="0" indent="0" algn="ctr" eaLnBrk="1" hangingPunct="1">
                    <a:lnSpc>
                      <a:spcPct val="8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chemeClr val="hlink"/>
                      </a:solidFill>
                    </a:rPr>
                    <a:t>[1,0,2]</a:t>
                  </a:r>
                  <a:endParaRPr lang="en-US" altLang="zh-CN" sz="2000" b="1" dirty="0"/>
                </a:p>
              </p:txBody>
            </p:sp>
            <p:sp>
              <p:nvSpPr>
                <p:cNvPr id="22546" name="Oval 28"/>
                <p:cNvSpPr/>
                <p:nvPr/>
              </p:nvSpPr>
              <p:spPr>
                <a:xfrm>
                  <a:off x="1200" y="3168"/>
                  <a:ext cx="662" cy="384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0" rIns="90000" bIns="82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8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solidFill>
                        <a:schemeClr val="hlink"/>
                      </a:solidFill>
                    </a:rPr>
                    <a:t>stop</a:t>
                  </a:r>
                  <a:endParaRPr lang="en-US" altLang="zh-CN" sz="2000" b="1" dirty="0">
                    <a:solidFill>
                      <a:schemeClr val="hlink"/>
                    </a:solidFill>
                  </a:endParaRPr>
                </a:p>
                <a:p>
                  <a:pPr marL="0" lvl="0" indent="0" algn="ctr" eaLnBrk="1" hangingPunct="1">
                    <a:lnSpc>
                      <a:spcPct val="8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chemeClr val="hlink"/>
                      </a:solidFill>
                    </a:rPr>
                    <a:t>[1,2,0]</a:t>
                  </a:r>
                  <a:endParaRPr lang="en-US" altLang="zh-CN" sz="2000" b="1" dirty="0"/>
                </a:p>
              </p:txBody>
            </p:sp>
            <p:sp>
              <p:nvSpPr>
                <p:cNvPr id="22547" name="Oval 29"/>
                <p:cNvSpPr/>
                <p:nvPr/>
              </p:nvSpPr>
              <p:spPr>
                <a:xfrm>
                  <a:off x="2064" y="3168"/>
                  <a:ext cx="662" cy="384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0" rIns="90000" bIns="82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8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solidFill>
                        <a:schemeClr val="hlink"/>
                      </a:solidFill>
                    </a:rPr>
                    <a:t>stop</a:t>
                  </a:r>
                  <a:endParaRPr lang="en-US" altLang="zh-CN" sz="2000" b="1" dirty="0">
                    <a:solidFill>
                      <a:schemeClr val="hlink"/>
                    </a:solidFill>
                  </a:endParaRPr>
                </a:p>
                <a:p>
                  <a:pPr marL="0" lvl="0" indent="0" algn="ctr" eaLnBrk="1" hangingPunct="1">
                    <a:lnSpc>
                      <a:spcPct val="8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chemeClr val="hlink"/>
                      </a:solidFill>
                    </a:rPr>
                    <a:t>[2,1,0]</a:t>
                  </a:r>
                  <a:endParaRPr lang="en-US" altLang="zh-CN" sz="2000" b="1" dirty="0"/>
                </a:p>
              </p:txBody>
            </p:sp>
            <p:sp>
              <p:nvSpPr>
                <p:cNvPr id="22548" name="Line 30"/>
                <p:cNvSpPr/>
                <p:nvPr/>
              </p:nvSpPr>
              <p:spPr>
                <a:xfrm flipH="1">
                  <a:off x="1632" y="2880"/>
                  <a:ext cx="240" cy="288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549" name="Rectangle 31"/>
                <p:cNvSpPr/>
                <p:nvPr/>
              </p:nvSpPr>
              <p:spPr>
                <a:xfrm>
                  <a:off x="1584" y="2880"/>
                  <a:ext cx="192" cy="19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/>
                    <a:t>T</a:t>
                  </a:r>
                  <a:endParaRPr lang="en-US" altLang="zh-CN" sz="2000" b="1" dirty="0"/>
                </a:p>
              </p:txBody>
            </p:sp>
            <p:sp>
              <p:nvSpPr>
                <p:cNvPr id="22550" name="Line 32"/>
                <p:cNvSpPr/>
                <p:nvPr/>
              </p:nvSpPr>
              <p:spPr>
                <a:xfrm>
                  <a:off x="2064" y="2880"/>
                  <a:ext cx="240" cy="288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551" name="Rectangle 33"/>
                <p:cNvSpPr/>
                <p:nvPr/>
              </p:nvSpPr>
              <p:spPr>
                <a:xfrm>
                  <a:off x="2160" y="2880"/>
                  <a:ext cx="192" cy="19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/>
                    <a:t>F</a:t>
                  </a:r>
                  <a:endParaRPr lang="en-US" altLang="zh-CN" sz="2000" b="1" dirty="0"/>
                </a:p>
              </p:txBody>
            </p:sp>
            <p:sp>
              <p:nvSpPr>
                <p:cNvPr id="22552" name="Line 34"/>
                <p:cNvSpPr/>
                <p:nvPr/>
              </p:nvSpPr>
              <p:spPr>
                <a:xfrm flipH="1">
                  <a:off x="1152" y="2256"/>
                  <a:ext cx="240" cy="288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553" name="Rectangle 35"/>
                <p:cNvSpPr/>
                <p:nvPr/>
              </p:nvSpPr>
              <p:spPr>
                <a:xfrm>
                  <a:off x="1104" y="2304"/>
                  <a:ext cx="192" cy="19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/>
                    <a:t>T</a:t>
                  </a:r>
                  <a:endParaRPr lang="en-US" altLang="zh-CN" sz="2000" b="1" dirty="0"/>
                </a:p>
              </p:txBody>
            </p:sp>
            <p:sp>
              <p:nvSpPr>
                <p:cNvPr id="22554" name="Line 36"/>
                <p:cNvSpPr/>
                <p:nvPr/>
              </p:nvSpPr>
              <p:spPr>
                <a:xfrm>
                  <a:off x="1776" y="2256"/>
                  <a:ext cx="240" cy="288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2555" name="Rectangle 37"/>
                <p:cNvSpPr/>
                <p:nvPr/>
              </p:nvSpPr>
              <p:spPr>
                <a:xfrm>
                  <a:off x="1920" y="2304"/>
                  <a:ext cx="192" cy="19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/>
                    <a:t>F</a:t>
                  </a:r>
                  <a:endParaRPr lang="en-US" altLang="zh-CN" sz="2000" b="1" dirty="0"/>
                </a:p>
              </p:txBody>
            </p:sp>
          </p:grpSp>
          <p:sp>
            <p:nvSpPr>
              <p:cNvPr id="22539" name="Line 38"/>
              <p:cNvSpPr/>
              <p:nvPr/>
            </p:nvSpPr>
            <p:spPr>
              <a:xfrm flipH="1">
                <a:off x="1824" y="1776"/>
                <a:ext cx="384" cy="24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40" name="Rectangle 39"/>
              <p:cNvSpPr/>
              <p:nvPr/>
            </p:nvSpPr>
            <p:spPr>
              <a:xfrm>
                <a:off x="1824" y="1728"/>
                <a:ext cx="240" cy="19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90000" tIns="46800" rIns="9000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/>
                  <a:t>T</a:t>
                </a:r>
                <a:endParaRPr lang="en-US" altLang="zh-CN" sz="2000" b="1" dirty="0"/>
              </a:p>
            </p:txBody>
          </p:sp>
          <p:sp>
            <p:nvSpPr>
              <p:cNvPr id="22541" name="Line 40"/>
              <p:cNvSpPr/>
              <p:nvPr/>
            </p:nvSpPr>
            <p:spPr>
              <a:xfrm>
                <a:off x="2736" y="1776"/>
                <a:ext cx="336" cy="24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42" name="Rectangle 41"/>
              <p:cNvSpPr/>
              <p:nvPr/>
            </p:nvSpPr>
            <p:spPr>
              <a:xfrm>
                <a:off x="2832" y="1728"/>
                <a:ext cx="240" cy="19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90000" tIns="46800" rIns="9000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/>
                  <a:t>F</a:t>
                </a:r>
                <a:endParaRPr lang="en-US" altLang="zh-CN" sz="2000" b="1" dirty="0"/>
              </a:p>
            </p:txBody>
          </p:sp>
        </p:grpSp>
        <p:sp>
          <p:nvSpPr>
            <p:cNvPr id="22535" name="Rectangle 42"/>
            <p:cNvSpPr/>
            <p:nvPr/>
          </p:nvSpPr>
          <p:spPr>
            <a:xfrm>
              <a:off x="105" y="3569"/>
              <a:ext cx="3984" cy="33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/>
                <a:t>Decision tree (</a:t>
              </a:r>
              <a:r>
                <a:rPr lang="zh-CN" altLang="en-US" sz="2000" b="1" dirty="0"/>
                <a:t>决策树</a:t>
              </a:r>
              <a:r>
                <a:rPr lang="en-US" altLang="zh-CN" sz="2000" b="1" dirty="0"/>
                <a:t>)</a:t>
              </a:r>
              <a:r>
                <a:rPr lang="en-US" altLang="zh-CN" sz="2000" dirty="0"/>
                <a:t> </a:t>
              </a:r>
              <a:endParaRPr lang="en-US" altLang="zh-CN" sz="2000" dirty="0"/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/>
                <a:t>for insertion sort on {K</a:t>
              </a:r>
              <a:r>
                <a:rPr lang="en-US" altLang="zh-CN" sz="2000" baseline="-25000" dirty="0"/>
                <a:t>0</a:t>
              </a:r>
              <a:r>
                <a:rPr lang="en-US" altLang="zh-CN" sz="2000" dirty="0"/>
                <a:t>, K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, K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}</a:t>
              </a:r>
              <a:endParaRPr lang="en-US" altLang="zh-CN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8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6" grpId="0"/>
      <p:bldP spid="7987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pSp>
        <p:nvGrpSpPr>
          <p:cNvPr id="3" name="Group 6"/>
          <p:cNvGrpSpPr/>
          <p:nvPr/>
        </p:nvGrpSpPr>
        <p:grpSpPr>
          <a:xfrm>
            <a:off x="142875" y="1447800"/>
            <a:ext cx="4548188" cy="2968625"/>
            <a:chOff x="90" y="1152"/>
            <a:chExt cx="3984" cy="2386"/>
          </a:xfrm>
        </p:grpSpPr>
        <p:grpSp>
          <p:nvGrpSpPr>
            <p:cNvPr id="23563" name="Group 8"/>
            <p:cNvGrpSpPr/>
            <p:nvPr/>
          </p:nvGrpSpPr>
          <p:grpSpPr>
            <a:xfrm>
              <a:off x="144" y="1152"/>
              <a:ext cx="3542" cy="2016"/>
              <a:chOff x="864" y="1536"/>
              <a:chExt cx="3542" cy="2016"/>
            </a:xfrm>
          </p:grpSpPr>
          <p:sp>
            <p:nvSpPr>
              <p:cNvPr id="23565" name="Oval 9"/>
              <p:cNvSpPr/>
              <p:nvPr/>
            </p:nvSpPr>
            <p:spPr>
              <a:xfrm>
                <a:off x="2160" y="1536"/>
                <a:ext cx="614" cy="33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400" b="1" dirty="0"/>
                  <a:t>K</a:t>
                </a:r>
                <a:r>
                  <a:rPr lang="en-US" altLang="zh-CN" sz="1400" b="1" baseline="-25000" dirty="0"/>
                  <a:t>0</a:t>
                </a:r>
                <a:r>
                  <a:rPr lang="en-US" altLang="zh-CN" sz="1400" b="1" dirty="0"/>
                  <a:t> </a:t>
                </a:r>
                <a:r>
                  <a:rPr lang="en-US" altLang="zh-CN" sz="1400" b="1" dirty="0">
                    <a:sym typeface="Symbol" panose="05050102010706020507" pitchFamily="18" charset="2"/>
                  </a:rPr>
                  <a:t> K</a:t>
                </a:r>
                <a:r>
                  <a:rPr lang="en-US" altLang="zh-CN" sz="1400" b="1" baseline="-25000" dirty="0">
                    <a:sym typeface="Symbol" panose="05050102010706020507" pitchFamily="18" charset="2"/>
                  </a:rPr>
                  <a:t>1</a:t>
                </a:r>
                <a:endParaRPr lang="en-US" altLang="zh-CN" sz="1400" b="1" dirty="0"/>
              </a:p>
            </p:txBody>
          </p:sp>
          <p:grpSp>
            <p:nvGrpSpPr>
              <p:cNvPr id="23566" name="Group 10"/>
              <p:cNvGrpSpPr/>
              <p:nvPr/>
            </p:nvGrpSpPr>
            <p:grpSpPr>
              <a:xfrm>
                <a:off x="864" y="1968"/>
                <a:ext cx="1862" cy="1584"/>
                <a:chOff x="864" y="1968"/>
                <a:chExt cx="1862" cy="1584"/>
              </a:xfrm>
            </p:grpSpPr>
            <p:sp>
              <p:nvSpPr>
                <p:cNvPr id="23585" name="Oval 11"/>
                <p:cNvSpPr/>
                <p:nvPr/>
              </p:nvSpPr>
              <p:spPr>
                <a:xfrm>
                  <a:off x="1296" y="1968"/>
                  <a:ext cx="614" cy="330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400" b="1" dirty="0"/>
                    <a:t>K</a:t>
                  </a:r>
                  <a:r>
                    <a:rPr lang="en-US" altLang="zh-CN" sz="1400" b="1" baseline="-25000" dirty="0"/>
                    <a:t>1</a:t>
                  </a:r>
                  <a:r>
                    <a:rPr lang="en-US" altLang="zh-CN" sz="1400" b="1" dirty="0"/>
                    <a:t> </a:t>
                  </a:r>
                  <a:r>
                    <a:rPr lang="en-US" altLang="zh-CN" sz="1400" b="1" dirty="0">
                      <a:sym typeface="Symbol" panose="05050102010706020507" pitchFamily="18" charset="2"/>
                    </a:rPr>
                    <a:t> K</a:t>
                  </a:r>
                  <a:r>
                    <a:rPr lang="en-US" altLang="zh-CN" sz="1400" b="1" baseline="-25000" dirty="0">
                      <a:sym typeface="Symbol" panose="05050102010706020507" pitchFamily="18" charset="2"/>
                    </a:rPr>
                    <a:t>2</a:t>
                  </a:r>
                  <a:endParaRPr lang="en-US" altLang="zh-CN" sz="1400" b="1" dirty="0"/>
                </a:p>
              </p:txBody>
            </p:sp>
            <p:sp>
              <p:nvSpPr>
                <p:cNvPr id="23586" name="Oval 12"/>
                <p:cNvSpPr/>
                <p:nvPr/>
              </p:nvSpPr>
              <p:spPr>
                <a:xfrm>
                  <a:off x="1680" y="2544"/>
                  <a:ext cx="614" cy="330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400" b="1" dirty="0"/>
                    <a:t>K</a:t>
                  </a:r>
                  <a:r>
                    <a:rPr lang="en-US" altLang="zh-CN" sz="1400" b="1" baseline="-25000" dirty="0"/>
                    <a:t>0</a:t>
                  </a:r>
                  <a:r>
                    <a:rPr lang="en-US" altLang="zh-CN" sz="1400" b="1" dirty="0"/>
                    <a:t> </a:t>
                  </a:r>
                  <a:r>
                    <a:rPr lang="en-US" altLang="zh-CN" sz="1400" b="1" dirty="0">
                      <a:sym typeface="Symbol" panose="05050102010706020507" pitchFamily="18" charset="2"/>
                    </a:rPr>
                    <a:t> K</a:t>
                  </a:r>
                  <a:r>
                    <a:rPr lang="en-US" altLang="zh-CN" sz="1400" b="1" baseline="-25000" dirty="0">
                      <a:sym typeface="Symbol" panose="05050102010706020507" pitchFamily="18" charset="2"/>
                    </a:rPr>
                    <a:t>2</a:t>
                  </a:r>
                  <a:endParaRPr lang="en-US" altLang="zh-CN" sz="1400" b="1" dirty="0"/>
                </a:p>
              </p:txBody>
            </p:sp>
            <p:sp>
              <p:nvSpPr>
                <p:cNvPr id="23587" name="Oval 13"/>
                <p:cNvSpPr/>
                <p:nvPr/>
              </p:nvSpPr>
              <p:spPr>
                <a:xfrm>
                  <a:off x="864" y="2544"/>
                  <a:ext cx="662" cy="384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0" rIns="90000" bIns="82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8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400" b="1" dirty="0">
                      <a:solidFill>
                        <a:schemeClr val="hlink"/>
                      </a:solidFill>
                    </a:rPr>
                    <a:t>stop</a:t>
                  </a:r>
                  <a:endParaRPr lang="en-US" altLang="zh-CN" sz="1400" b="1" dirty="0">
                    <a:solidFill>
                      <a:schemeClr val="hlink"/>
                    </a:solidFill>
                  </a:endParaRPr>
                </a:p>
                <a:p>
                  <a:pPr marL="0" lvl="0" indent="0" algn="ctr" eaLnBrk="1" hangingPunct="1">
                    <a:lnSpc>
                      <a:spcPct val="8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400" b="1" dirty="0">
                      <a:solidFill>
                        <a:schemeClr val="hlink"/>
                      </a:solidFill>
                    </a:rPr>
                    <a:t>[0,1,2]</a:t>
                  </a:r>
                  <a:endParaRPr lang="en-US" altLang="zh-CN" sz="1400" b="1" dirty="0"/>
                </a:p>
              </p:txBody>
            </p:sp>
            <p:sp>
              <p:nvSpPr>
                <p:cNvPr id="23588" name="Oval 14"/>
                <p:cNvSpPr/>
                <p:nvPr/>
              </p:nvSpPr>
              <p:spPr>
                <a:xfrm>
                  <a:off x="1200" y="3168"/>
                  <a:ext cx="662" cy="384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0" rIns="90000" bIns="82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8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400" b="1" dirty="0">
                      <a:solidFill>
                        <a:schemeClr val="hlink"/>
                      </a:solidFill>
                    </a:rPr>
                    <a:t>stop</a:t>
                  </a:r>
                  <a:endParaRPr lang="en-US" altLang="zh-CN" sz="1400" b="1" dirty="0">
                    <a:solidFill>
                      <a:schemeClr val="hlink"/>
                    </a:solidFill>
                  </a:endParaRPr>
                </a:p>
                <a:p>
                  <a:pPr marL="0" lvl="0" indent="0" algn="ctr" eaLnBrk="1" hangingPunct="1">
                    <a:lnSpc>
                      <a:spcPct val="8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400" b="1" dirty="0">
                      <a:solidFill>
                        <a:schemeClr val="hlink"/>
                      </a:solidFill>
                    </a:rPr>
                    <a:t>[0,2,1]</a:t>
                  </a:r>
                  <a:endParaRPr lang="en-US" altLang="zh-CN" sz="1400" b="1" dirty="0"/>
                </a:p>
              </p:txBody>
            </p:sp>
            <p:sp>
              <p:nvSpPr>
                <p:cNvPr id="23589" name="Oval 15"/>
                <p:cNvSpPr/>
                <p:nvPr/>
              </p:nvSpPr>
              <p:spPr>
                <a:xfrm>
                  <a:off x="2064" y="3168"/>
                  <a:ext cx="662" cy="384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0" rIns="90000" bIns="82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8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400" b="1" dirty="0">
                      <a:solidFill>
                        <a:schemeClr val="hlink"/>
                      </a:solidFill>
                    </a:rPr>
                    <a:t>stop</a:t>
                  </a:r>
                  <a:endParaRPr lang="en-US" altLang="zh-CN" sz="1400" b="1" dirty="0">
                    <a:solidFill>
                      <a:schemeClr val="hlink"/>
                    </a:solidFill>
                  </a:endParaRPr>
                </a:p>
                <a:p>
                  <a:pPr marL="0" lvl="0" indent="0" algn="ctr" eaLnBrk="1" hangingPunct="1">
                    <a:lnSpc>
                      <a:spcPct val="8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400" b="1" dirty="0">
                      <a:solidFill>
                        <a:schemeClr val="hlink"/>
                      </a:solidFill>
                    </a:rPr>
                    <a:t>[2,0,1]</a:t>
                  </a:r>
                  <a:endParaRPr lang="en-US" altLang="zh-CN" sz="1400" b="1" dirty="0"/>
                </a:p>
              </p:txBody>
            </p:sp>
            <p:sp>
              <p:nvSpPr>
                <p:cNvPr id="23590" name="Line 16"/>
                <p:cNvSpPr/>
                <p:nvPr/>
              </p:nvSpPr>
              <p:spPr>
                <a:xfrm flipH="1">
                  <a:off x="1632" y="2880"/>
                  <a:ext cx="240" cy="288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3591" name="Rectangle 17"/>
                <p:cNvSpPr/>
                <p:nvPr/>
              </p:nvSpPr>
              <p:spPr>
                <a:xfrm>
                  <a:off x="1584" y="2880"/>
                  <a:ext cx="192" cy="19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/>
                    <a:t>T</a:t>
                  </a:r>
                  <a:endParaRPr lang="en-US" altLang="zh-CN" sz="2000" b="1" dirty="0"/>
                </a:p>
              </p:txBody>
            </p:sp>
            <p:sp>
              <p:nvSpPr>
                <p:cNvPr id="23592" name="Line 18"/>
                <p:cNvSpPr/>
                <p:nvPr/>
              </p:nvSpPr>
              <p:spPr>
                <a:xfrm>
                  <a:off x="2064" y="2880"/>
                  <a:ext cx="240" cy="288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3593" name="Rectangle 19"/>
                <p:cNvSpPr/>
                <p:nvPr/>
              </p:nvSpPr>
              <p:spPr>
                <a:xfrm>
                  <a:off x="2160" y="2880"/>
                  <a:ext cx="192" cy="19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/>
                    <a:t>F</a:t>
                  </a:r>
                  <a:endParaRPr lang="en-US" altLang="zh-CN" sz="2000" b="1" dirty="0"/>
                </a:p>
              </p:txBody>
            </p:sp>
            <p:sp>
              <p:nvSpPr>
                <p:cNvPr id="23594" name="Line 20"/>
                <p:cNvSpPr/>
                <p:nvPr/>
              </p:nvSpPr>
              <p:spPr>
                <a:xfrm flipH="1">
                  <a:off x="1152" y="2256"/>
                  <a:ext cx="240" cy="288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3595" name="Rectangle 21"/>
                <p:cNvSpPr/>
                <p:nvPr/>
              </p:nvSpPr>
              <p:spPr>
                <a:xfrm>
                  <a:off x="1104" y="2304"/>
                  <a:ext cx="192" cy="19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/>
                    <a:t>T</a:t>
                  </a:r>
                  <a:endParaRPr lang="en-US" altLang="zh-CN" sz="2000" b="1" dirty="0"/>
                </a:p>
              </p:txBody>
            </p:sp>
            <p:sp>
              <p:nvSpPr>
                <p:cNvPr id="23596" name="Line 22"/>
                <p:cNvSpPr/>
                <p:nvPr/>
              </p:nvSpPr>
              <p:spPr>
                <a:xfrm>
                  <a:off x="1776" y="2256"/>
                  <a:ext cx="240" cy="288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3597" name="Rectangle 23"/>
                <p:cNvSpPr/>
                <p:nvPr/>
              </p:nvSpPr>
              <p:spPr>
                <a:xfrm>
                  <a:off x="1920" y="2304"/>
                  <a:ext cx="192" cy="19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/>
                    <a:t>F</a:t>
                  </a:r>
                  <a:endParaRPr lang="en-US" altLang="zh-CN" sz="2000" b="1" dirty="0"/>
                </a:p>
              </p:txBody>
            </p:sp>
          </p:grpSp>
          <p:grpSp>
            <p:nvGrpSpPr>
              <p:cNvPr id="23567" name="Group 24"/>
              <p:cNvGrpSpPr/>
              <p:nvPr/>
            </p:nvGrpSpPr>
            <p:grpSpPr>
              <a:xfrm>
                <a:off x="2544" y="1968"/>
                <a:ext cx="1862" cy="1584"/>
                <a:chOff x="864" y="1968"/>
                <a:chExt cx="1862" cy="1584"/>
              </a:xfrm>
            </p:grpSpPr>
            <p:sp>
              <p:nvSpPr>
                <p:cNvPr id="23572" name="Oval 25"/>
                <p:cNvSpPr/>
                <p:nvPr/>
              </p:nvSpPr>
              <p:spPr>
                <a:xfrm>
                  <a:off x="1296" y="1968"/>
                  <a:ext cx="614" cy="330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400" b="1" dirty="0"/>
                    <a:t>K</a:t>
                  </a:r>
                  <a:r>
                    <a:rPr lang="en-US" altLang="zh-CN" sz="1400" b="1" baseline="-25000" dirty="0"/>
                    <a:t>0</a:t>
                  </a:r>
                  <a:r>
                    <a:rPr lang="en-US" altLang="zh-CN" sz="1400" b="1" dirty="0"/>
                    <a:t> </a:t>
                  </a:r>
                  <a:r>
                    <a:rPr lang="en-US" altLang="zh-CN" sz="1400" b="1" dirty="0">
                      <a:sym typeface="Symbol" panose="05050102010706020507" pitchFamily="18" charset="2"/>
                    </a:rPr>
                    <a:t> K</a:t>
                  </a:r>
                  <a:r>
                    <a:rPr lang="en-US" altLang="zh-CN" sz="1400" b="1" baseline="-25000" dirty="0">
                      <a:sym typeface="Symbol" panose="05050102010706020507" pitchFamily="18" charset="2"/>
                    </a:rPr>
                    <a:t>2</a:t>
                  </a:r>
                  <a:endParaRPr lang="en-US" altLang="zh-CN" sz="1400" b="1" dirty="0"/>
                </a:p>
              </p:txBody>
            </p:sp>
            <p:sp>
              <p:nvSpPr>
                <p:cNvPr id="23573" name="Oval 26"/>
                <p:cNvSpPr/>
                <p:nvPr/>
              </p:nvSpPr>
              <p:spPr>
                <a:xfrm>
                  <a:off x="1680" y="2544"/>
                  <a:ext cx="614" cy="330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400" b="1" dirty="0"/>
                    <a:t>K</a:t>
                  </a:r>
                  <a:r>
                    <a:rPr lang="en-US" altLang="zh-CN" sz="1400" b="1" baseline="-25000" dirty="0"/>
                    <a:t>1</a:t>
                  </a:r>
                  <a:r>
                    <a:rPr lang="en-US" altLang="zh-CN" sz="1400" b="1" dirty="0"/>
                    <a:t> </a:t>
                  </a:r>
                  <a:r>
                    <a:rPr lang="en-US" altLang="zh-CN" sz="1400" b="1" dirty="0">
                      <a:sym typeface="Symbol" panose="05050102010706020507" pitchFamily="18" charset="2"/>
                    </a:rPr>
                    <a:t> K</a:t>
                  </a:r>
                  <a:r>
                    <a:rPr lang="en-US" altLang="zh-CN" sz="1400" b="1" baseline="-25000" dirty="0">
                      <a:sym typeface="Symbol" panose="05050102010706020507" pitchFamily="18" charset="2"/>
                    </a:rPr>
                    <a:t>2</a:t>
                  </a:r>
                  <a:endParaRPr lang="en-US" altLang="zh-CN" sz="1400" b="1" dirty="0"/>
                </a:p>
              </p:txBody>
            </p:sp>
            <p:sp>
              <p:nvSpPr>
                <p:cNvPr id="23574" name="Oval 27"/>
                <p:cNvSpPr/>
                <p:nvPr/>
              </p:nvSpPr>
              <p:spPr>
                <a:xfrm>
                  <a:off x="864" y="2544"/>
                  <a:ext cx="662" cy="384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0" rIns="90000" bIns="82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8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400" b="1" dirty="0">
                      <a:solidFill>
                        <a:schemeClr val="hlink"/>
                      </a:solidFill>
                    </a:rPr>
                    <a:t>stop</a:t>
                  </a:r>
                  <a:endParaRPr lang="en-US" altLang="zh-CN" sz="1400" b="1" dirty="0">
                    <a:solidFill>
                      <a:schemeClr val="hlink"/>
                    </a:solidFill>
                  </a:endParaRPr>
                </a:p>
                <a:p>
                  <a:pPr marL="0" lvl="0" indent="0" algn="ctr" eaLnBrk="1" hangingPunct="1">
                    <a:lnSpc>
                      <a:spcPct val="8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400" b="1" dirty="0">
                      <a:solidFill>
                        <a:schemeClr val="hlink"/>
                      </a:solidFill>
                    </a:rPr>
                    <a:t>[1,0,2]</a:t>
                  </a:r>
                  <a:endParaRPr lang="en-US" altLang="zh-CN" sz="1400" b="1" dirty="0"/>
                </a:p>
              </p:txBody>
            </p:sp>
            <p:sp>
              <p:nvSpPr>
                <p:cNvPr id="23575" name="Oval 28"/>
                <p:cNvSpPr/>
                <p:nvPr/>
              </p:nvSpPr>
              <p:spPr>
                <a:xfrm>
                  <a:off x="1200" y="3168"/>
                  <a:ext cx="662" cy="384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0" rIns="90000" bIns="82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8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400" b="1" dirty="0">
                      <a:solidFill>
                        <a:schemeClr val="hlink"/>
                      </a:solidFill>
                    </a:rPr>
                    <a:t>stop</a:t>
                  </a:r>
                  <a:endParaRPr lang="en-US" altLang="zh-CN" sz="1400" b="1" dirty="0">
                    <a:solidFill>
                      <a:schemeClr val="hlink"/>
                    </a:solidFill>
                  </a:endParaRPr>
                </a:p>
                <a:p>
                  <a:pPr marL="0" lvl="0" indent="0" algn="ctr" eaLnBrk="1" hangingPunct="1">
                    <a:lnSpc>
                      <a:spcPct val="8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400" b="1" dirty="0">
                      <a:solidFill>
                        <a:schemeClr val="hlink"/>
                      </a:solidFill>
                    </a:rPr>
                    <a:t>[1,2,0]</a:t>
                  </a:r>
                  <a:endParaRPr lang="en-US" altLang="zh-CN" sz="1400" b="1" dirty="0"/>
                </a:p>
              </p:txBody>
            </p:sp>
            <p:sp>
              <p:nvSpPr>
                <p:cNvPr id="23576" name="Oval 29"/>
                <p:cNvSpPr/>
                <p:nvPr/>
              </p:nvSpPr>
              <p:spPr>
                <a:xfrm>
                  <a:off x="2064" y="3168"/>
                  <a:ext cx="662" cy="384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0" rIns="90000" bIns="82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8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400" b="1" dirty="0">
                      <a:solidFill>
                        <a:schemeClr val="hlink"/>
                      </a:solidFill>
                    </a:rPr>
                    <a:t>stop</a:t>
                  </a:r>
                  <a:endParaRPr lang="en-US" altLang="zh-CN" sz="1400" b="1" dirty="0">
                    <a:solidFill>
                      <a:schemeClr val="hlink"/>
                    </a:solidFill>
                  </a:endParaRPr>
                </a:p>
                <a:p>
                  <a:pPr marL="0" lvl="0" indent="0" algn="ctr" eaLnBrk="1" hangingPunct="1">
                    <a:lnSpc>
                      <a:spcPct val="8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400" b="1" dirty="0">
                      <a:solidFill>
                        <a:schemeClr val="hlink"/>
                      </a:solidFill>
                    </a:rPr>
                    <a:t>[2,1,0]</a:t>
                  </a:r>
                  <a:endParaRPr lang="en-US" altLang="zh-CN" sz="1400" b="1" dirty="0"/>
                </a:p>
              </p:txBody>
            </p:sp>
            <p:sp>
              <p:nvSpPr>
                <p:cNvPr id="23577" name="Line 30"/>
                <p:cNvSpPr/>
                <p:nvPr/>
              </p:nvSpPr>
              <p:spPr>
                <a:xfrm flipH="1">
                  <a:off x="1632" y="2880"/>
                  <a:ext cx="240" cy="288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3578" name="Rectangle 31"/>
                <p:cNvSpPr/>
                <p:nvPr/>
              </p:nvSpPr>
              <p:spPr>
                <a:xfrm>
                  <a:off x="1584" y="2880"/>
                  <a:ext cx="192" cy="19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/>
                    <a:t>T</a:t>
                  </a:r>
                  <a:endParaRPr lang="en-US" altLang="zh-CN" sz="2000" b="1" dirty="0"/>
                </a:p>
              </p:txBody>
            </p:sp>
            <p:sp>
              <p:nvSpPr>
                <p:cNvPr id="23579" name="Line 32"/>
                <p:cNvSpPr/>
                <p:nvPr/>
              </p:nvSpPr>
              <p:spPr>
                <a:xfrm>
                  <a:off x="2064" y="2880"/>
                  <a:ext cx="240" cy="288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3580" name="Rectangle 33"/>
                <p:cNvSpPr/>
                <p:nvPr/>
              </p:nvSpPr>
              <p:spPr>
                <a:xfrm>
                  <a:off x="2160" y="2880"/>
                  <a:ext cx="192" cy="19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/>
                    <a:t>F</a:t>
                  </a:r>
                  <a:endParaRPr lang="en-US" altLang="zh-CN" sz="2000" b="1" dirty="0"/>
                </a:p>
              </p:txBody>
            </p:sp>
            <p:sp>
              <p:nvSpPr>
                <p:cNvPr id="23581" name="Line 34"/>
                <p:cNvSpPr/>
                <p:nvPr/>
              </p:nvSpPr>
              <p:spPr>
                <a:xfrm flipH="1">
                  <a:off x="1152" y="2256"/>
                  <a:ext cx="240" cy="288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3582" name="Rectangle 35"/>
                <p:cNvSpPr/>
                <p:nvPr/>
              </p:nvSpPr>
              <p:spPr>
                <a:xfrm>
                  <a:off x="1104" y="2304"/>
                  <a:ext cx="192" cy="19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/>
                    <a:t>T</a:t>
                  </a:r>
                  <a:endParaRPr lang="en-US" altLang="zh-CN" sz="2000" b="1" dirty="0"/>
                </a:p>
              </p:txBody>
            </p:sp>
            <p:sp>
              <p:nvSpPr>
                <p:cNvPr id="23583" name="Line 36"/>
                <p:cNvSpPr/>
                <p:nvPr/>
              </p:nvSpPr>
              <p:spPr>
                <a:xfrm>
                  <a:off x="1776" y="2256"/>
                  <a:ext cx="240" cy="288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3584" name="Rectangle 37"/>
                <p:cNvSpPr/>
                <p:nvPr/>
              </p:nvSpPr>
              <p:spPr>
                <a:xfrm>
                  <a:off x="1920" y="2304"/>
                  <a:ext cx="192" cy="192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/>
                    <a:t>F</a:t>
                  </a:r>
                  <a:endParaRPr lang="en-US" altLang="zh-CN" sz="2000" b="1" dirty="0"/>
                </a:p>
              </p:txBody>
            </p:sp>
          </p:grpSp>
          <p:sp>
            <p:nvSpPr>
              <p:cNvPr id="23568" name="Line 38"/>
              <p:cNvSpPr/>
              <p:nvPr/>
            </p:nvSpPr>
            <p:spPr>
              <a:xfrm flipH="1">
                <a:off x="1824" y="1776"/>
                <a:ext cx="384" cy="24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569" name="Rectangle 39"/>
              <p:cNvSpPr/>
              <p:nvPr/>
            </p:nvSpPr>
            <p:spPr>
              <a:xfrm>
                <a:off x="1824" y="1728"/>
                <a:ext cx="240" cy="19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90000" tIns="46800" rIns="9000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/>
                  <a:t>T</a:t>
                </a:r>
                <a:endParaRPr lang="en-US" altLang="zh-CN" sz="2000" b="1" dirty="0"/>
              </a:p>
            </p:txBody>
          </p:sp>
          <p:sp>
            <p:nvSpPr>
              <p:cNvPr id="23570" name="Line 40"/>
              <p:cNvSpPr/>
              <p:nvPr/>
            </p:nvSpPr>
            <p:spPr>
              <a:xfrm>
                <a:off x="2736" y="1776"/>
                <a:ext cx="336" cy="24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571" name="Rectangle 41"/>
              <p:cNvSpPr/>
              <p:nvPr/>
            </p:nvSpPr>
            <p:spPr>
              <a:xfrm>
                <a:off x="2832" y="1728"/>
                <a:ext cx="240" cy="19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90000" tIns="46800" rIns="9000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/>
                  <a:t>F</a:t>
                </a:r>
                <a:endParaRPr lang="en-US" altLang="zh-CN" sz="2000" b="1" dirty="0"/>
              </a:p>
            </p:txBody>
          </p:sp>
        </p:grpSp>
        <p:sp>
          <p:nvSpPr>
            <p:cNvPr id="23564" name="Rectangle 42"/>
            <p:cNvSpPr/>
            <p:nvPr/>
          </p:nvSpPr>
          <p:spPr>
            <a:xfrm>
              <a:off x="90" y="3202"/>
              <a:ext cx="3984" cy="33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400" b="1" dirty="0">
                  <a:solidFill>
                    <a:schemeClr val="hlink"/>
                  </a:solidFill>
                </a:rPr>
                <a:t>Decision tree for insertion sort on K</a:t>
              </a:r>
              <a:r>
                <a:rPr lang="en-US" altLang="zh-CN" sz="1400" b="1" baseline="-25000" dirty="0">
                  <a:solidFill>
                    <a:schemeClr val="hlink"/>
                  </a:solidFill>
                </a:rPr>
                <a:t>0</a:t>
              </a:r>
              <a:r>
                <a:rPr lang="en-US" altLang="zh-CN" sz="1400" b="1" dirty="0">
                  <a:solidFill>
                    <a:schemeClr val="hlink"/>
                  </a:solidFill>
                </a:rPr>
                <a:t>, K</a:t>
              </a:r>
              <a:r>
                <a:rPr lang="en-US" altLang="zh-CN" sz="1400" b="1" baseline="-25000" dirty="0">
                  <a:solidFill>
                    <a:schemeClr val="hlink"/>
                  </a:solidFill>
                </a:rPr>
                <a:t>1</a:t>
              </a:r>
              <a:r>
                <a:rPr lang="en-US" altLang="zh-CN" sz="1400" b="1" dirty="0">
                  <a:solidFill>
                    <a:schemeClr val="hlink"/>
                  </a:solidFill>
                </a:rPr>
                <a:t>, and K</a:t>
              </a:r>
              <a:r>
                <a:rPr lang="en-US" altLang="zh-CN" sz="1400" b="1" baseline="-25000" dirty="0">
                  <a:solidFill>
                    <a:schemeClr val="hlink"/>
                  </a:solidFill>
                </a:rPr>
                <a:t>2</a:t>
              </a:r>
              <a:endParaRPr lang="en-US" altLang="zh-CN" sz="1400" b="1" dirty="0">
                <a:solidFill>
                  <a:schemeClr val="hlink"/>
                </a:solidFill>
              </a:endParaRPr>
            </a:p>
          </p:txBody>
        </p:sp>
      </p:grpSp>
      <p:sp>
        <p:nvSpPr>
          <p:cNvPr id="79915" name="Text Box 43"/>
          <p:cNvSpPr txBox="1"/>
          <p:nvPr/>
        </p:nvSpPr>
        <p:spPr>
          <a:xfrm>
            <a:off x="4953000" y="692150"/>
            <a:ext cx="3886200" cy="1016000"/>
          </a:xfrm>
          <a:prstGeom prst="rect">
            <a:avLst/>
          </a:prstGeom>
          <a:noFill/>
          <a:ln w="25400">
            <a:noFill/>
          </a:ln>
        </p:spPr>
        <p:txBody>
          <a:bodyPr lIns="0" tIns="46800" rIns="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When sorting </a:t>
            </a:r>
            <a:r>
              <a:rPr lang="en-US" altLang="zh-CN" sz="2000" b="1" i="1" dirty="0"/>
              <a:t>N</a:t>
            </a:r>
            <a:r>
              <a:rPr lang="en-US" altLang="zh-CN" sz="2000" b="1" dirty="0">
                <a:latin typeface="Arial" panose="020B0604020202020204" pitchFamily="34" charset="0"/>
              </a:rPr>
              <a:t> distinct elements, there are       different possible results.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79916" name="Text Box 44"/>
          <p:cNvSpPr txBox="1"/>
          <p:nvPr/>
        </p:nvSpPr>
        <p:spPr>
          <a:xfrm>
            <a:off x="4956175" y="1833563"/>
            <a:ext cx="3505200" cy="708025"/>
          </a:xfrm>
          <a:prstGeom prst="rect">
            <a:avLst/>
          </a:prstGeom>
          <a:noFill/>
          <a:ln w="25400">
            <a:noFill/>
          </a:ln>
        </p:spPr>
        <p:txBody>
          <a:bodyPr lIns="0" tIns="46800" rIns="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Thus any decision tree must have at least </a:t>
            </a:r>
            <a:r>
              <a:rPr lang="en-US" altLang="zh-CN" sz="2000" b="1" i="1" dirty="0">
                <a:solidFill>
                  <a:srgbClr val="FF0000"/>
                </a:solidFill>
              </a:rPr>
              <a:t>N </a:t>
            </a:r>
            <a:r>
              <a:rPr lang="en-US" altLang="zh-CN" sz="2000" b="1" dirty="0">
                <a:solidFill>
                  <a:srgbClr val="FF0000"/>
                </a:solidFill>
              </a:rPr>
              <a:t>! </a:t>
            </a:r>
            <a:r>
              <a:rPr lang="en-US" altLang="zh-CN" sz="2000" b="1" dirty="0">
                <a:latin typeface="Arial" panose="020B0604020202020204" pitchFamily="34" charset="0"/>
              </a:rPr>
              <a:t>leaves.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79917" name="Text Box 45"/>
          <p:cNvSpPr txBox="1"/>
          <p:nvPr/>
        </p:nvSpPr>
        <p:spPr>
          <a:xfrm>
            <a:off x="4953000" y="2767013"/>
            <a:ext cx="3810000" cy="1323975"/>
          </a:xfrm>
          <a:prstGeom prst="rect">
            <a:avLst/>
          </a:prstGeom>
          <a:noFill/>
          <a:ln w="25400">
            <a:noFill/>
          </a:ln>
        </p:spPr>
        <p:txBody>
          <a:bodyPr lIns="0" tIns="46800" rIns="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If the height of the tree is</a:t>
            </a:r>
            <a:r>
              <a:rPr lang="en-US" altLang="zh-CN" sz="2000" b="1" dirty="0"/>
              <a:t> </a:t>
            </a:r>
            <a:r>
              <a:rPr lang="en-US" altLang="zh-CN" sz="2000" b="1" i="1" dirty="0">
                <a:solidFill>
                  <a:srgbClr val="FF0000"/>
                </a:solidFill>
              </a:rPr>
              <a:t>k</a:t>
            </a:r>
            <a:r>
              <a:rPr lang="en-US" altLang="zh-CN" sz="2000" b="1" dirty="0">
                <a:latin typeface="Arial" panose="020B0604020202020204" pitchFamily="34" charset="0"/>
              </a:rPr>
              <a:t>,  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 then</a:t>
            </a:r>
            <a:r>
              <a:rPr lang="en-US" altLang="zh-CN" sz="2000" b="1" dirty="0"/>
              <a:t> </a:t>
            </a:r>
            <a:r>
              <a:rPr lang="en-US" altLang="zh-CN" sz="2000" b="1" i="1" dirty="0">
                <a:solidFill>
                  <a:srgbClr val="FF0000"/>
                </a:solidFill>
              </a:rPr>
              <a:t>N </a:t>
            </a:r>
            <a:r>
              <a:rPr lang="en-US" altLang="zh-CN" sz="2000" b="1" dirty="0">
                <a:solidFill>
                  <a:srgbClr val="FF0000"/>
                </a:solidFill>
              </a:rPr>
              <a:t>! </a:t>
            </a:r>
            <a:r>
              <a:rPr lang="en-US" altLang="zh-CN" sz="2000" b="1" dirty="0">
                <a:solidFill>
                  <a:srgbClr val="FF0000"/>
                </a:solidFill>
                <a:sym typeface="Symbol" panose="05050102010706020507" pitchFamily="18" charset="2"/>
              </a:rPr>
              <a:t> 2</a:t>
            </a:r>
            <a:r>
              <a:rPr lang="en-US" altLang="zh-CN" sz="2000" b="1" i="1" baseline="30000" dirty="0">
                <a:solidFill>
                  <a:srgbClr val="FF0000"/>
                </a:solidFill>
                <a:sym typeface="Symbol" panose="05050102010706020507" pitchFamily="18" charset="2"/>
              </a:rPr>
              <a:t>k</a:t>
            </a:r>
            <a:r>
              <a:rPr lang="en-US" altLang="zh-CN" sz="2000" b="1" baseline="300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000" b="1" dirty="0">
                <a:solidFill>
                  <a:srgbClr val="FF0000"/>
                </a:solidFill>
                <a:sym typeface="Symbol" panose="05050102010706020507" pitchFamily="18" charset="2"/>
              </a:rPr>
              <a:t>2</a:t>
            </a:r>
            <a:r>
              <a:rPr lang="en-US" altLang="zh-CN" sz="2000" b="1" i="1" baseline="30000" dirty="0">
                <a:solidFill>
                  <a:srgbClr val="FF0000"/>
                </a:solidFill>
                <a:sym typeface="Symbol" panose="05050102010706020507" pitchFamily="18" charset="2"/>
              </a:rPr>
              <a:t>k </a:t>
            </a:r>
            <a:r>
              <a:rPr lang="en-US" altLang="zh-CN" sz="2000" b="1" dirty="0">
                <a:latin typeface="Arial" panose="020B0604020202020204" pitchFamily="34" charset="0"/>
                <a:sym typeface="Symbol" panose="05050102010706020507" pitchFamily="18" charset="2"/>
              </a:rPr>
              <a:t>is the # of leaves in a full binary tree of height k)</a:t>
            </a:r>
            <a:endParaRPr lang="en-US" altLang="zh-CN" sz="2000" b="1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9918" name="Text Box 46"/>
          <p:cNvSpPr txBox="1"/>
          <p:nvPr/>
        </p:nvSpPr>
        <p:spPr>
          <a:xfrm>
            <a:off x="4894263" y="4146550"/>
            <a:ext cx="2819400" cy="400050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ym typeface="Symbol" panose="05050102010706020507" pitchFamily="18" charset="2"/>
              </a:rPr>
              <a:t>  </a:t>
            </a:r>
            <a:r>
              <a:rPr lang="en-US" altLang="zh-CN" sz="2000" b="1" i="1" dirty="0"/>
              <a:t> </a:t>
            </a:r>
            <a:r>
              <a:rPr lang="en-US" altLang="zh-CN" sz="2000" b="1" i="1" dirty="0">
                <a:solidFill>
                  <a:srgbClr val="FF0000"/>
                </a:solidFill>
              </a:rPr>
              <a:t>k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sym typeface="Symbol" panose="05050102010706020507" pitchFamily="18" charset="2"/>
              </a:rPr>
              <a:t> log(</a:t>
            </a:r>
            <a:r>
              <a:rPr lang="en-US" altLang="zh-CN" sz="2000" b="1" i="1" dirty="0">
                <a:solidFill>
                  <a:srgbClr val="FF0000"/>
                </a:solidFill>
                <a:sym typeface="Symbol" panose="05050102010706020507" pitchFamily="18" charset="2"/>
              </a:rPr>
              <a:t>N </a:t>
            </a:r>
            <a:r>
              <a:rPr lang="en-US" altLang="zh-CN" sz="2000" b="1" dirty="0">
                <a:solidFill>
                  <a:srgbClr val="FF0000"/>
                </a:solidFill>
                <a:sym typeface="Symbol" panose="05050102010706020507" pitchFamily="18" charset="2"/>
              </a:rPr>
              <a:t>!) </a:t>
            </a:r>
            <a:endParaRPr lang="en-US" altLang="zh-CN" sz="2000" b="1" i="1" dirty="0">
              <a:solidFill>
                <a:srgbClr val="FF0000"/>
              </a:solidFill>
            </a:endParaRPr>
          </a:p>
        </p:txBody>
      </p:sp>
      <p:sp>
        <p:nvSpPr>
          <p:cNvPr id="79919" name="Text Box 47"/>
          <p:cNvSpPr txBox="1"/>
          <p:nvPr/>
        </p:nvSpPr>
        <p:spPr>
          <a:xfrm>
            <a:off x="457200" y="5181600"/>
            <a:ext cx="8305800" cy="401638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Since</a:t>
            </a:r>
            <a:r>
              <a:rPr lang="en-US" altLang="zh-CN" sz="1800" b="1" dirty="0"/>
              <a:t>  </a:t>
            </a:r>
            <a:r>
              <a:rPr lang="en-US" altLang="zh-CN" sz="1800" b="1" i="1" dirty="0"/>
              <a:t>N </a:t>
            </a:r>
            <a:r>
              <a:rPr lang="en-US" altLang="zh-CN" sz="1800" b="1" dirty="0"/>
              <a:t>! </a:t>
            </a:r>
            <a:r>
              <a:rPr lang="en-US" altLang="zh-CN" sz="1800" b="1" dirty="0">
                <a:sym typeface="Symbol" panose="05050102010706020507" pitchFamily="18" charset="2"/>
              </a:rPr>
              <a:t> (</a:t>
            </a:r>
            <a:r>
              <a:rPr lang="en-US" altLang="zh-CN" sz="1800" b="1" i="1" dirty="0">
                <a:sym typeface="Symbol" panose="05050102010706020507" pitchFamily="18" charset="2"/>
              </a:rPr>
              <a:t>N</a:t>
            </a:r>
            <a:r>
              <a:rPr lang="en-US" altLang="zh-CN" sz="1800" b="1" dirty="0">
                <a:sym typeface="Symbol" panose="05050102010706020507" pitchFamily="18" charset="2"/>
              </a:rPr>
              <a:t>/2)</a:t>
            </a:r>
            <a:r>
              <a:rPr lang="en-US" altLang="zh-CN" sz="1800" b="1" i="1" baseline="30000" dirty="0">
                <a:sym typeface="Symbol" panose="05050102010706020507" pitchFamily="18" charset="2"/>
              </a:rPr>
              <a:t>N</a:t>
            </a:r>
            <a:r>
              <a:rPr lang="en-US" altLang="zh-CN" sz="1800" b="1" baseline="30000" dirty="0">
                <a:sym typeface="Symbol" panose="05050102010706020507" pitchFamily="18" charset="2"/>
              </a:rPr>
              <a:t>/2</a:t>
            </a:r>
            <a:r>
              <a:rPr lang="en-US" altLang="zh-CN" sz="1800" b="1" dirty="0">
                <a:sym typeface="Symbol" panose="05050102010706020507" pitchFamily="18" charset="2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sym typeface="Symbol" panose="05050102010706020507" pitchFamily="18" charset="2"/>
              </a:rPr>
              <a:t>and</a:t>
            </a:r>
            <a:r>
              <a:rPr lang="en-US" altLang="zh-CN" sz="1800" b="1" dirty="0">
                <a:sym typeface="Symbol" panose="05050102010706020507" pitchFamily="18" charset="2"/>
              </a:rPr>
              <a:t> log</a:t>
            </a:r>
            <a:r>
              <a:rPr lang="en-US" altLang="zh-CN" sz="1800" b="1" baseline="-25000" dirty="0">
                <a:sym typeface="Symbol" panose="05050102010706020507" pitchFamily="18" charset="2"/>
              </a:rPr>
              <a:t>2</a:t>
            </a:r>
            <a:r>
              <a:rPr lang="en-US" altLang="zh-CN" sz="1800" b="1" dirty="0">
                <a:sym typeface="Symbol" panose="05050102010706020507" pitchFamily="18" charset="2"/>
              </a:rPr>
              <a:t> </a:t>
            </a:r>
            <a:r>
              <a:rPr lang="en-US" altLang="zh-CN" sz="1800" b="1" i="1" dirty="0">
                <a:sym typeface="Symbol" panose="05050102010706020507" pitchFamily="18" charset="2"/>
              </a:rPr>
              <a:t>N </a:t>
            </a:r>
            <a:r>
              <a:rPr lang="en-US" altLang="zh-CN" sz="1800" b="1" dirty="0">
                <a:sym typeface="Symbol" panose="05050102010706020507" pitchFamily="18" charset="2"/>
              </a:rPr>
              <a:t>!  (</a:t>
            </a:r>
            <a:r>
              <a:rPr lang="en-US" altLang="zh-CN" sz="1800" b="1" i="1" dirty="0">
                <a:sym typeface="Symbol" panose="05050102010706020507" pitchFamily="18" charset="2"/>
              </a:rPr>
              <a:t>N</a:t>
            </a:r>
            <a:r>
              <a:rPr lang="en-US" altLang="zh-CN" sz="1800" b="1" dirty="0">
                <a:sym typeface="Symbol" panose="05050102010706020507" pitchFamily="18" charset="2"/>
              </a:rPr>
              <a:t>/2)log</a:t>
            </a:r>
            <a:r>
              <a:rPr lang="en-US" altLang="zh-CN" sz="1800" b="1" baseline="-25000" dirty="0">
                <a:sym typeface="Symbol" panose="05050102010706020507" pitchFamily="18" charset="2"/>
              </a:rPr>
              <a:t>2</a:t>
            </a:r>
            <a:r>
              <a:rPr lang="en-US" altLang="zh-CN" sz="1800" b="1" dirty="0">
                <a:sym typeface="Symbol" panose="05050102010706020507" pitchFamily="18" charset="2"/>
              </a:rPr>
              <a:t>(</a:t>
            </a:r>
            <a:r>
              <a:rPr lang="en-US" altLang="zh-CN" sz="1800" b="1" i="1" dirty="0">
                <a:sym typeface="Symbol" panose="05050102010706020507" pitchFamily="18" charset="2"/>
              </a:rPr>
              <a:t>N</a:t>
            </a:r>
            <a:r>
              <a:rPr lang="en-US" altLang="zh-CN" sz="1800" b="1" dirty="0">
                <a:sym typeface="Symbol" panose="05050102010706020507" pitchFamily="18" charset="2"/>
              </a:rPr>
              <a:t>/2) =  ( </a:t>
            </a:r>
            <a:r>
              <a:rPr lang="en-US" altLang="zh-CN" sz="1800" b="1" i="1" dirty="0">
                <a:sym typeface="Symbol" panose="05050102010706020507" pitchFamily="18" charset="2"/>
              </a:rPr>
              <a:t>N</a:t>
            </a:r>
            <a:r>
              <a:rPr lang="en-US" altLang="zh-CN" sz="1800" b="1" dirty="0">
                <a:sym typeface="Symbol" panose="05050102010706020507" pitchFamily="18" charset="2"/>
              </a:rPr>
              <a:t> log</a:t>
            </a:r>
            <a:r>
              <a:rPr lang="en-US" altLang="zh-CN" sz="1800" b="1" baseline="-25000" dirty="0">
                <a:sym typeface="Symbol" panose="05050102010706020507" pitchFamily="18" charset="2"/>
              </a:rPr>
              <a:t>2</a:t>
            </a:r>
            <a:r>
              <a:rPr lang="en-US" altLang="zh-CN" sz="1800" b="1" dirty="0">
                <a:sym typeface="Symbol" panose="05050102010706020507" pitchFamily="18" charset="2"/>
              </a:rPr>
              <a:t> </a:t>
            </a:r>
            <a:r>
              <a:rPr lang="en-US" altLang="zh-CN" sz="1800" b="1" i="1" dirty="0">
                <a:sym typeface="Symbol" panose="05050102010706020507" pitchFamily="18" charset="2"/>
              </a:rPr>
              <a:t>N</a:t>
            </a:r>
            <a:r>
              <a:rPr lang="en-US" altLang="zh-CN" sz="1800" b="1" dirty="0">
                <a:sym typeface="Symbol" panose="05050102010706020507" pitchFamily="18" charset="2"/>
              </a:rPr>
              <a:t> )</a:t>
            </a:r>
            <a:endParaRPr lang="en-US" altLang="zh-CN" sz="1800" b="1" dirty="0">
              <a:solidFill>
                <a:schemeClr val="hlink"/>
              </a:solidFill>
              <a:sym typeface="Symbol" panose="05050102010706020507" pitchFamily="18" charset="2"/>
            </a:endParaRPr>
          </a:p>
        </p:txBody>
      </p:sp>
      <p:sp>
        <p:nvSpPr>
          <p:cNvPr id="79920" name="Text Box 48"/>
          <p:cNvSpPr txBox="1"/>
          <p:nvPr/>
        </p:nvSpPr>
        <p:spPr>
          <a:xfrm>
            <a:off x="457200" y="5638800"/>
            <a:ext cx="8305800" cy="400050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Therefore  </a:t>
            </a:r>
            <a:r>
              <a:rPr lang="en-US" altLang="zh-CN" sz="1800" b="1" i="1" dirty="0"/>
              <a:t>T</a:t>
            </a:r>
            <a:r>
              <a:rPr lang="en-US" altLang="zh-CN" sz="1800" b="1" dirty="0"/>
              <a:t>(</a:t>
            </a:r>
            <a:r>
              <a:rPr lang="en-US" altLang="zh-CN" sz="1800" b="1" i="1" dirty="0"/>
              <a:t>N</a:t>
            </a:r>
            <a:r>
              <a:rPr lang="en-US" altLang="zh-CN" sz="1800" b="1" dirty="0"/>
              <a:t>) = O(</a:t>
            </a:r>
            <a:r>
              <a:rPr lang="en-US" altLang="zh-CN" sz="1800" b="1" i="1" dirty="0"/>
              <a:t>k)</a:t>
            </a:r>
            <a:r>
              <a:rPr lang="en-US" altLang="zh-CN" sz="1800" b="1" dirty="0"/>
              <a:t> </a:t>
            </a:r>
            <a:r>
              <a:rPr lang="en-US" altLang="zh-CN" sz="1800" b="1" dirty="0">
                <a:sym typeface="Symbol" panose="05050102010706020507" pitchFamily="18" charset="2"/>
              </a:rPr>
              <a:t> O(</a:t>
            </a:r>
            <a:r>
              <a:rPr lang="en-US" altLang="zh-CN" sz="1800" b="1" i="1" dirty="0">
                <a:sym typeface="Symbol" panose="05050102010706020507" pitchFamily="18" charset="2"/>
              </a:rPr>
              <a:t>N</a:t>
            </a:r>
            <a:r>
              <a:rPr lang="en-US" altLang="zh-CN" sz="1800" b="1" dirty="0">
                <a:sym typeface="Symbol" panose="05050102010706020507" pitchFamily="18" charset="2"/>
              </a:rPr>
              <a:t> log</a:t>
            </a:r>
            <a:r>
              <a:rPr lang="en-US" altLang="zh-CN" sz="1800" b="1" baseline="-25000" dirty="0">
                <a:sym typeface="Symbol" panose="05050102010706020507" pitchFamily="18" charset="2"/>
              </a:rPr>
              <a:t>2</a:t>
            </a:r>
            <a:r>
              <a:rPr lang="en-US" altLang="zh-CN" sz="1800" b="1" dirty="0">
                <a:sym typeface="Symbol" panose="05050102010706020507" pitchFamily="18" charset="2"/>
              </a:rPr>
              <a:t> </a:t>
            </a:r>
            <a:r>
              <a:rPr lang="en-US" altLang="zh-CN" sz="1800" b="1" i="1" dirty="0">
                <a:sym typeface="Symbol" panose="05050102010706020507" pitchFamily="18" charset="2"/>
              </a:rPr>
              <a:t>N)</a:t>
            </a:r>
            <a:r>
              <a:rPr lang="en-US" altLang="zh-CN" sz="1800" b="1" dirty="0">
                <a:sym typeface="Symbol" panose="05050102010706020507" pitchFamily="18" charset="2"/>
              </a:rPr>
              <a:t> .</a:t>
            </a:r>
            <a:endParaRPr lang="en-US" altLang="zh-CN" sz="1800" b="1" dirty="0">
              <a:sym typeface="Symbol" panose="05050102010706020507" pitchFamily="18" charset="2"/>
            </a:endParaRPr>
          </a:p>
        </p:txBody>
      </p:sp>
      <p:sp>
        <p:nvSpPr>
          <p:cNvPr id="79921" name="Rectangle 49"/>
          <p:cNvSpPr/>
          <p:nvPr/>
        </p:nvSpPr>
        <p:spPr>
          <a:xfrm>
            <a:off x="7086600" y="5867400"/>
            <a:ext cx="152400" cy="228600"/>
          </a:xfrm>
          <a:prstGeom prst="rect">
            <a:avLst/>
          </a:prstGeom>
          <a:solidFill>
            <a:schemeClr val="tx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" name="矩形 1"/>
          <p:cNvSpPr/>
          <p:nvPr/>
        </p:nvSpPr>
        <p:spPr>
          <a:xfrm>
            <a:off x="7245350" y="1030288"/>
            <a:ext cx="525463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i="1" dirty="0">
                <a:solidFill>
                  <a:srgbClr val="FF0000"/>
                </a:solidFill>
              </a:rPr>
              <a:t>N </a:t>
            </a:r>
            <a:r>
              <a:rPr lang="en-US" altLang="zh-CN" sz="1800" b="1" dirty="0">
                <a:solidFill>
                  <a:srgbClr val="FF0000"/>
                </a:solidFill>
              </a:rPr>
              <a:t>!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99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99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99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99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99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99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9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9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AD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15" grpId="0"/>
      <p:bldP spid="79916" grpId="0"/>
      <p:bldP spid="79917" grpId="0"/>
      <p:bldP spid="79918" grpId="0"/>
      <p:bldP spid="79919" grpId="0"/>
      <p:bldP spid="79920" grpId="0"/>
      <p:bldP spid="79921" grpId="0" animBg="1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Time complexity of Sorting</a:t>
            </a:r>
            <a:endParaRPr lang="en-US" altLang="zh-CN" dirty="0"/>
          </a:p>
        </p:txBody>
      </p:sp>
      <p:sp>
        <p:nvSpPr>
          <p:cNvPr id="1278979" name="Rectangle 3"/>
          <p:cNvSpPr>
            <a:spLocks noGrp="1"/>
          </p:cNvSpPr>
          <p:nvPr>
            <p:ph idx="1"/>
          </p:nvPr>
        </p:nvSpPr>
        <p:spPr>
          <a:xfrm>
            <a:off x="685800" y="1828800"/>
            <a:ext cx="7772400" cy="4419600"/>
          </a:xfrm>
        </p:spPr>
        <p:txBody>
          <a:bodyPr vert="horz" wrap="square" lIns="91440" tIns="45720" rIns="91440" bIns="45720" anchor="t" anchorCtr="0"/>
          <a:p>
            <a:pPr eaLnBrk="1" hangingPunct="1"/>
            <a:endParaRPr lang="en-US" altLang="zh-CN" sz="2800" dirty="0"/>
          </a:p>
          <a:p>
            <a:pPr eaLnBrk="1" hangingPunct="1"/>
            <a:r>
              <a:rPr lang="en-US" altLang="zh-CN" sz="2800" dirty="0"/>
              <a:t>Can we do better than O( n log n )?</a:t>
            </a:r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 lvl="1" eaLnBrk="1" hangingPunct="1"/>
            <a:r>
              <a:rPr lang="en-US" altLang="zh-CN" sz="2400" dirty="0"/>
              <a:t>Non-comparison sorts: bucket</a:t>
            </a:r>
            <a:r>
              <a:rPr lang="zh-CN" altLang="en-US" sz="2400" dirty="0"/>
              <a:t>（桶排序）</a:t>
            </a:r>
            <a:r>
              <a:rPr lang="en-US" altLang="zh-CN" sz="2400" dirty="0"/>
              <a:t> and radix sort</a:t>
            </a:r>
            <a:r>
              <a:rPr lang="zh-CN" altLang="en-US" sz="2400" dirty="0"/>
              <a:t>（基数排序）</a:t>
            </a:r>
            <a:endParaRPr lang="en-US" altLang="zh-CN" sz="2400" dirty="0"/>
          </a:p>
          <a:p>
            <a:pPr eaLnBrk="1" hangingPunct="1"/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79">
                                            <p:txEl>
                                              <p:charRg st="1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79">
                                            <p:txEl>
                                              <p:charRg st="38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Bucket Sort</a:t>
            </a:r>
            <a:endParaRPr lang="en-US" altLang="zh-CN" dirty="0"/>
          </a:p>
        </p:txBody>
      </p:sp>
      <p:sp>
        <p:nvSpPr>
          <p:cNvPr id="1280003" name="Rectangle 3"/>
          <p:cNvSpPr>
            <a:spLocks noGrp="1"/>
          </p:cNvSpPr>
          <p:nvPr>
            <p:ph idx="1"/>
          </p:nvPr>
        </p:nvSpPr>
        <p:spPr>
          <a:xfrm>
            <a:off x="609600" y="2514600"/>
            <a:ext cx="7696200" cy="36576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Restriction on the problem:</a:t>
            </a:r>
            <a:endParaRPr lang="en-US" altLang="zh-CN" dirty="0"/>
          </a:p>
          <a:p>
            <a:pPr marL="400050" lvl="1" indent="0" eaLnBrk="1" hangingPunct="1">
              <a:buNone/>
            </a:pPr>
            <a:r>
              <a:rPr lang="en-US" altLang="zh-CN" dirty="0"/>
              <a:t>Suppose the values in the list to be sorted can repeat but the values </a:t>
            </a:r>
            <a:r>
              <a:rPr lang="en-US" altLang="zh-CN" dirty="0">
                <a:solidFill>
                  <a:srgbClr val="008000"/>
                </a:solidFill>
              </a:rPr>
              <a:t>range in a limit</a:t>
            </a:r>
            <a:r>
              <a:rPr lang="en-US" altLang="zh-CN" dirty="0"/>
              <a:t> (e.g., values are digits from 0 to 9)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03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03">
                                            <p:txEl>
                                              <p:charRg st="28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Bucket sort</a:t>
            </a:r>
            <a:endParaRPr lang="en-US" altLang="zh-CN" dirty="0"/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b="1" dirty="0">
                <a:solidFill>
                  <a:srgbClr val="0000FF"/>
                </a:solidFill>
              </a:rPr>
              <a:t>Idea:</a:t>
            </a:r>
            <a:r>
              <a:rPr lang="en-US" altLang="zh-CN" dirty="0">
                <a:solidFill>
                  <a:srgbClr val="0000FF"/>
                </a:solidFill>
              </a:rPr>
              <a:t>  </a:t>
            </a:r>
            <a:r>
              <a:rPr lang="en-US" altLang="zh-CN" dirty="0"/>
              <a:t>suppose the values are in the range </a:t>
            </a:r>
            <a:r>
              <a:rPr lang="en-US" altLang="zh-CN" dirty="0">
                <a:solidFill>
                  <a:srgbClr val="0000FF"/>
                </a:solidFill>
              </a:rPr>
              <a:t>0..m-1</a:t>
            </a:r>
            <a:r>
              <a:rPr lang="en-US" altLang="zh-CN" dirty="0"/>
              <a:t>; start with </a:t>
            </a:r>
            <a:r>
              <a:rPr lang="en-US" altLang="zh-CN" dirty="0">
                <a:solidFill>
                  <a:srgbClr val="0000FF"/>
                </a:solidFill>
              </a:rPr>
              <a:t>m</a:t>
            </a:r>
            <a:r>
              <a:rPr lang="en-US" altLang="zh-CN" dirty="0"/>
              <a:t> empty </a:t>
            </a:r>
            <a:r>
              <a:rPr lang="en-US" altLang="zh-CN" b="1" i="1" dirty="0">
                <a:solidFill>
                  <a:schemeClr val="tx2"/>
                </a:solidFill>
              </a:rPr>
              <a:t>buckets</a:t>
            </a:r>
            <a:r>
              <a:rPr lang="en-US" altLang="zh-CN" b="1" dirty="0">
                <a:solidFill>
                  <a:schemeClr val="tx2"/>
                </a:solidFill>
              </a:rPr>
              <a:t> </a:t>
            </a:r>
            <a:r>
              <a:rPr lang="en-US" altLang="zh-CN" dirty="0"/>
              <a:t>numbered </a:t>
            </a:r>
            <a:r>
              <a:rPr lang="en-US" altLang="zh-CN" dirty="0">
                <a:solidFill>
                  <a:srgbClr val="0000FF"/>
                </a:solidFill>
              </a:rPr>
              <a:t>0</a:t>
            </a:r>
            <a:r>
              <a:rPr lang="en-US" altLang="zh-CN" dirty="0"/>
              <a:t> to </a:t>
            </a:r>
            <a:r>
              <a:rPr lang="en-US" altLang="zh-CN" dirty="0">
                <a:solidFill>
                  <a:srgbClr val="0000FF"/>
                </a:solidFill>
              </a:rPr>
              <a:t>m-1</a:t>
            </a:r>
            <a:r>
              <a:rPr lang="en-US" altLang="zh-CN" dirty="0"/>
              <a:t>, scan the list and place element </a:t>
            </a: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dirty="0"/>
              <a:t> in the</a:t>
            </a: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 i</a:t>
            </a:r>
            <a:r>
              <a:rPr lang="en-US" altLang="zh-CN" b="1" i="1" baseline="30000" dirty="0">
                <a:solidFill>
                  <a:srgbClr val="0000FF"/>
                </a:solidFill>
                <a:latin typeface="Times New Roman" panose="02020603050405020304" pitchFamily="18" charset="0"/>
              </a:rPr>
              <a:t>th</a:t>
            </a:r>
            <a:r>
              <a:rPr lang="en-US" altLang="zh-CN" dirty="0"/>
              <a:t> bucket, and then output the buckets in order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No comparisons will be necessary</a:t>
            </a:r>
            <a:endParaRPr lang="en-US" altLang="zh-C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990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</a:t>
            </a:r>
            <a:endParaRPr lang="en-US" altLang="zh-CN" dirty="0"/>
          </a:p>
        </p:txBody>
      </p:sp>
      <p:graphicFrame>
        <p:nvGraphicFramePr>
          <p:cNvPr id="1282113" name="Group 65"/>
          <p:cNvGraphicFramePr>
            <a:graphicFrameLocks noGrp="1"/>
          </p:cNvGraphicFramePr>
          <p:nvPr>
            <p:ph idx="4294967295"/>
          </p:nvPr>
        </p:nvGraphicFramePr>
        <p:xfrm>
          <a:off x="1066800" y="1295400"/>
          <a:ext cx="7162800" cy="517525"/>
        </p:xfrm>
        <a:graphic>
          <a:graphicData uri="http://schemas.openxmlformats.org/drawingml/2006/table">
            <a:tbl>
              <a:tblPr/>
              <a:tblGrid>
                <a:gridCol w="550863"/>
                <a:gridCol w="550862"/>
                <a:gridCol w="550863"/>
                <a:gridCol w="550862"/>
                <a:gridCol w="550863"/>
                <a:gridCol w="550862"/>
                <a:gridCol w="552450"/>
                <a:gridCol w="550863"/>
                <a:gridCol w="550862"/>
                <a:gridCol w="550863"/>
                <a:gridCol w="550862"/>
                <a:gridCol w="550863"/>
                <a:gridCol w="550862"/>
              </a:tblGrid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471" marB="4547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471" marB="454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471" marB="454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471" marB="454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471" marB="454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471" marB="454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471" marB="454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471" marB="454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471" marB="454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471" marB="454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471" marB="454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471" marB="454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471" marB="454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82115" name="Text Box 67"/>
          <p:cNvSpPr txBox="1"/>
          <p:nvPr/>
        </p:nvSpPr>
        <p:spPr>
          <a:xfrm>
            <a:off x="1905000" y="3276600"/>
            <a:ext cx="565150" cy="1385888"/>
          </a:xfrm>
          <a:prstGeom prst="rect">
            <a:avLst/>
          </a:prstGeom>
          <a:noFill/>
          <a:ln w="127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800" dirty="0"/>
              <a:t>0 00</a:t>
            </a:r>
            <a:endParaRPr lang="en-US" altLang="zh-CN" sz="2800" dirty="0"/>
          </a:p>
        </p:txBody>
      </p:sp>
      <p:sp>
        <p:nvSpPr>
          <p:cNvPr id="27682" name="Rectangle 68"/>
          <p:cNvSpPr/>
          <p:nvPr/>
        </p:nvSpPr>
        <p:spPr>
          <a:xfrm>
            <a:off x="1905000" y="2911475"/>
            <a:ext cx="609600" cy="3048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7683" name="Text Box 69"/>
          <p:cNvSpPr txBox="1"/>
          <p:nvPr/>
        </p:nvSpPr>
        <p:spPr>
          <a:xfrm>
            <a:off x="3108325" y="3005138"/>
            <a:ext cx="184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endParaRPr lang="zh-CN" altLang="en-US" sz="2000" dirty="0">
              <a:solidFill>
                <a:schemeClr val="tx2"/>
              </a:solidFill>
            </a:endParaRPr>
          </a:p>
        </p:txBody>
      </p:sp>
      <p:sp>
        <p:nvSpPr>
          <p:cNvPr id="1282118" name="Text Box 70"/>
          <p:cNvSpPr txBox="1"/>
          <p:nvPr/>
        </p:nvSpPr>
        <p:spPr>
          <a:xfrm>
            <a:off x="3124200" y="3276600"/>
            <a:ext cx="565150" cy="1600200"/>
          </a:xfrm>
          <a:prstGeom prst="rect">
            <a:avLst/>
          </a:prstGeom>
          <a:noFill/>
          <a:ln w="127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800" dirty="0"/>
              <a:t>1 1</a:t>
            </a:r>
            <a:endParaRPr lang="en-US" altLang="zh-CN" sz="2800" dirty="0"/>
          </a:p>
          <a:p>
            <a:pPr marL="0" lvl="0" indent="0" algn="ctr" eaLnBrk="1" hangingPunct="1">
              <a:spcBef>
                <a:spcPct val="50000"/>
              </a:spcBef>
              <a:buNone/>
            </a:pPr>
            <a:endParaRPr lang="en-US" altLang="zh-CN" sz="2800" dirty="0"/>
          </a:p>
        </p:txBody>
      </p:sp>
      <p:sp>
        <p:nvSpPr>
          <p:cNvPr id="27685" name="Rectangle 71"/>
          <p:cNvSpPr/>
          <p:nvPr/>
        </p:nvSpPr>
        <p:spPr>
          <a:xfrm>
            <a:off x="3124200" y="2911475"/>
            <a:ext cx="609600" cy="3048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7686" name="Text Box 72"/>
          <p:cNvSpPr txBox="1"/>
          <p:nvPr/>
        </p:nvSpPr>
        <p:spPr>
          <a:xfrm>
            <a:off x="4251325" y="2928938"/>
            <a:ext cx="184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endParaRPr lang="zh-CN" altLang="en-US" sz="2000" dirty="0">
              <a:solidFill>
                <a:schemeClr val="tx2"/>
              </a:solidFill>
            </a:endParaRPr>
          </a:p>
        </p:txBody>
      </p:sp>
      <p:sp>
        <p:nvSpPr>
          <p:cNvPr id="1282121" name="Text Box 73"/>
          <p:cNvSpPr txBox="1"/>
          <p:nvPr/>
        </p:nvSpPr>
        <p:spPr>
          <a:xfrm>
            <a:off x="4267200" y="3276600"/>
            <a:ext cx="565150" cy="1812925"/>
          </a:xfrm>
          <a:prstGeom prst="rect">
            <a:avLst/>
          </a:prstGeom>
          <a:noFill/>
          <a:ln w="127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800" dirty="0"/>
              <a:t>2</a:t>
            </a:r>
            <a:br>
              <a:rPr lang="en-US" altLang="zh-CN" sz="2800" dirty="0"/>
            </a:br>
            <a:r>
              <a:rPr lang="en-US" altLang="zh-CN" sz="2800" dirty="0"/>
              <a:t>2 22</a:t>
            </a:r>
            <a:endParaRPr lang="en-US" altLang="zh-CN" sz="2800" dirty="0"/>
          </a:p>
        </p:txBody>
      </p:sp>
      <p:sp>
        <p:nvSpPr>
          <p:cNvPr id="27688" name="Rectangle 74"/>
          <p:cNvSpPr/>
          <p:nvPr/>
        </p:nvSpPr>
        <p:spPr>
          <a:xfrm>
            <a:off x="4267200" y="2911475"/>
            <a:ext cx="609600" cy="3048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7689" name="Text Box 75"/>
          <p:cNvSpPr txBox="1"/>
          <p:nvPr/>
        </p:nvSpPr>
        <p:spPr>
          <a:xfrm>
            <a:off x="5394325" y="2928938"/>
            <a:ext cx="184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endParaRPr lang="zh-CN" altLang="en-US" sz="2000" dirty="0">
              <a:solidFill>
                <a:schemeClr val="tx2"/>
              </a:solidFill>
            </a:endParaRPr>
          </a:p>
        </p:txBody>
      </p:sp>
      <p:sp>
        <p:nvSpPr>
          <p:cNvPr id="1282124" name="Text Box 76"/>
          <p:cNvSpPr txBox="1"/>
          <p:nvPr/>
        </p:nvSpPr>
        <p:spPr>
          <a:xfrm>
            <a:off x="5410200" y="3276600"/>
            <a:ext cx="565150" cy="1600200"/>
          </a:xfrm>
          <a:prstGeom prst="rect">
            <a:avLst/>
          </a:prstGeom>
          <a:noFill/>
          <a:ln w="127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800" dirty="0"/>
              <a:t>3 3</a:t>
            </a:r>
            <a:endParaRPr lang="en-US" altLang="zh-CN" sz="2800" dirty="0"/>
          </a:p>
          <a:p>
            <a:pPr marL="0" lvl="0" indent="0" algn="ctr" eaLnBrk="1" hangingPunct="1">
              <a:spcBef>
                <a:spcPct val="50000"/>
              </a:spcBef>
              <a:buNone/>
            </a:pPr>
            <a:endParaRPr lang="en-US" altLang="zh-CN" sz="2800" dirty="0"/>
          </a:p>
        </p:txBody>
      </p:sp>
      <p:sp>
        <p:nvSpPr>
          <p:cNvPr id="27691" name="Rectangle 77"/>
          <p:cNvSpPr/>
          <p:nvPr/>
        </p:nvSpPr>
        <p:spPr>
          <a:xfrm>
            <a:off x="5410200" y="2911475"/>
            <a:ext cx="609600" cy="3048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7692" name="Text Box 78"/>
          <p:cNvSpPr txBox="1"/>
          <p:nvPr/>
        </p:nvSpPr>
        <p:spPr>
          <a:xfrm>
            <a:off x="6537325" y="2928938"/>
            <a:ext cx="184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endParaRPr lang="zh-CN" altLang="en-US" sz="2000" dirty="0">
              <a:solidFill>
                <a:schemeClr val="tx2"/>
              </a:solidFill>
            </a:endParaRPr>
          </a:p>
        </p:txBody>
      </p:sp>
      <p:sp>
        <p:nvSpPr>
          <p:cNvPr id="1282127" name="Text Box 79"/>
          <p:cNvSpPr txBox="1"/>
          <p:nvPr/>
        </p:nvSpPr>
        <p:spPr>
          <a:xfrm>
            <a:off x="6553200" y="3276600"/>
            <a:ext cx="565150" cy="1506538"/>
          </a:xfrm>
          <a:prstGeom prst="rect">
            <a:avLst/>
          </a:prstGeom>
          <a:noFill/>
          <a:ln w="127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800" dirty="0"/>
              <a:t>4 4</a:t>
            </a:r>
            <a:endParaRPr lang="en-US" altLang="zh-CN" sz="2400" dirty="0"/>
          </a:p>
          <a:p>
            <a:pPr marL="0" lvl="0" indent="0" algn="ctr" eaLnBrk="1" hangingPunct="1">
              <a:spcBef>
                <a:spcPct val="50000"/>
              </a:spcBef>
              <a:buNone/>
            </a:pPr>
            <a:endParaRPr lang="en-US" altLang="zh-CN" sz="2400" dirty="0"/>
          </a:p>
        </p:txBody>
      </p:sp>
      <p:sp>
        <p:nvSpPr>
          <p:cNvPr id="27694" name="Rectangle 80"/>
          <p:cNvSpPr/>
          <p:nvPr/>
        </p:nvSpPr>
        <p:spPr>
          <a:xfrm>
            <a:off x="6553200" y="2911475"/>
            <a:ext cx="609600" cy="3048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282267" name="Group 219"/>
          <p:cNvGraphicFramePr>
            <a:graphicFrameLocks noGrp="1"/>
          </p:cNvGraphicFramePr>
          <p:nvPr/>
        </p:nvGraphicFramePr>
        <p:xfrm>
          <a:off x="1143000" y="5959475"/>
          <a:ext cx="7162800" cy="517525"/>
        </p:xfrm>
        <a:graphic>
          <a:graphicData uri="http://schemas.openxmlformats.org/drawingml/2006/table">
            <a:tbl>
              <a:tblPr/>
              <a:tblGrid>
                <a:gridCol w="550863"/>
                <a:gridCol w="550862"/>
                <a:gridCol w="550863"/>
                <a:gridCol w="550862"/>
                <a:gridCol w="550863"/>
                <a:gridCol w="550862"/>
                <a:gridCol w="552450"/>
                <a:gridCol w="550863"/>
                <a:gridCol w="550862"/>
                <a:gridCol w="550863"/>
                <a:gridCol w="550862"/>
                <a:gridCol w="550863"/>
                <a:gridCol w="550862"/>
              </a:tblGrid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471" marB="4547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471" marB="454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471" marB="454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471" marB="454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471" marB="454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471" marB="454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471" marB="454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471" marB="454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471" marB="454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471" marB="454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471" marB="454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471" marB="454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T="45471" marB="454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82268" name="AutoShape 220"/>
          <p:cNvSpPr/>
          <p:nvPr/>
        </p:nvSpPr>
        <p:spPr>
          <a:xfrm>
            <a:off x="4114800" y="1981200"/>
            <a:ext cx="914400" cy="609600"/>
          </a:xfrm>
          <a:prstGeom prst="downArrow">
            <a:avLst>
              <a:gd name="adj1" fmla="val 50000"/>
              <a:gd name="adj2" fmla="val 25000"/>
            </a:avLst>
          </a:prstGeom>
          <a:noFill/>
          <a:ln w="127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282269" name="AutoShape 221"/>
          <p:cNvSpPr/>
          <p:nvPr/>
        </p:nvSpPr>
        <p:spPr>
          <a:xfrm>
            <a:off x="4191000" y="5197475"/>
            <a:ext cx="914400" cy="609600"/>
          </a:xfrm>
          <a:prstGeom prst="downArrow">
            <a:avLst>
              <a:gd name="adj1" fmla="val 50000"/>
              <a:gd name="adj2" fmla="val 25000"/>
            </a:avLst>
          </a:prstGeom>
          <a:noFill/>
          <a:ln w="127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282270" name="Text Box 222"/>
          <p:cNvSpPr txBox="1"/>
          <p:nvPr/>
        </p:nvSpPr>
        <p:spPr>
          <a:xfrm>
            <a:off x="1981200" y="2667000"/>
            <a:ext cx="5562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dirty="0">
                <a:latin typeface="Tahoma" panose="020B0604030504040204" pitchFamily="34" charset="0"/>
              </a:rPr>
              <a:t>0        1          2        3        4</a:t>
            </a:r>
            <a:endParaRPr lang="en-US" altLang="zh-CN" sz="2800" dirty="0">
              <a:latin typeface="Tahoma" panose="020B0604030504040204" pitchFamily="34" charset="0"/>
            </a:endParaRPr>
          </a:p>
        </p:txBody>
      </p:sp>
      <p:sp>
        <p:nvSpPr>
          <p:cNvPr id="1282271" name="Rectangle 223"/>
          <p:cNvSpPr/>
          <p:nvPr/>
        </p:nvSpPr>
        <p:spPr>
          <a:xfrm>
            <a:off x="6629400" y="3352800"/>
            <a:ext cx="381000" cy="381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282272" name="Rectangle 224"/>
          <p:cNvSpPr/>
          <p:nvPr/>
        </p:nvSpPr>
        <p:spPr>
          <a:xfrm>
            <a:off x="4343400" y="3322638"/>
            <a:ext cx="381000" cy="381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282273" name="Rectangle 225"/>
          <p:cNvSpPr/>
          <p:nvPr/>
        </p:nvSpPr>
        <p:spPr>
          <a:xfrm>
            <a:off x="3200400" y="3352800"/>
            <a:ext cx="381000" cy="381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282274" name="Rectangle 226"/>
          <p:cNvSpPr/>
          <p:nvPr/>
        </p:nvSpPr>
        <p:spPr>
          <a:xfrm>
            <a:off x="4343400" y="3736975"/>
            <a:ext cx="381000" cy="381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282275" name="Rectangle 227"/>
          <p:cNvSpPr/>
          <p:nvPr/>
        </p:nvSpPr>
        <p:spPr>
          <a:xfrm>
            <a:off x="1981200" y="3352800"/>
            <a:ext cx="381000" cy="381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282276" name="Rectangle 228"/>
          <p:cNvSpPr/>
          <p:nvPr/>
        </p:nvSpPr>
        <p:spPr>
          <a:xfrm>
            <a:off x="5486400" y="3352800"/>
            <a:ext cx="381000" cy="381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282277" name="Rectangle 229"/>
          <p:cNvSpPr/>
          <p:nvPr/>
        </p:nvSpPr>
        <p:spPr>
          <a:xfrm>
            <a:off x="4386263" y="4160838"/>
            <a:ext cx="381000" cy="381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282278" name="Rectangle 230"/>
          <p:cNvSpPr/>
          <p:nvPr/>
        </p:nvSpPr>
        <p:spPr>
          <a:xfrm>
            <a:off x="3200400" y="3810000"/>
            <a:ext cx="381000" cy="381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282279" name="Rectangle 231"/>
          <p:cNvSpPr/>
          <p:nvPr/>
        </p:nvSpPr>
        <p:spPr>
          <a:xfrm>
            <a:off x="6629400" y="3810000"/>
            <a:ext cx="381000" cy="381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282280" name="Rectangle 232"/>
          <p:cNvSpPr/>
          <p:nvPr/>
        </p:nvSpPr>
        <p:spPr>
          <a:xfrm>
            <a:off x="1981200" y="3744913"/>
            <a:ext cx="381000" cy="381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282281" name="Rectangle 233"/>
          <p:cNvSpPr/>
          <p:nvPr/>
        </p:nvSpPr>
        <p:spPr>
          <a:xfrm>
            <a:off x="4343400" y="4595813"/>
            <a:ext cx="381000" cy="381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282282" name="Rectangle 234"/>
          <p:cNvSpPr/>
          <p:nvPr/>
        </p:nvSpPr>
        <p:spPr>
          <a:xfrm>
            <a:off x="5486400" y="3810000"/>
            <a:ext cx="381000" cy="381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282283" name="Rectangle 235"/>
          <p:cNvSpPr/>
          <p:nvPr/>
        </p:nvSpPr>
        <p:spPr>
          <a:xfrm>
            <a:off x="1981200" y="4202113"/>
            <a:ext cx="381000" cy="381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2115" grpId="0" animBg="1"/>
      <p:bldP spid="1282118" grpId="0" animBg="1"/>
      <p:bldP spid="1282121" grpId="0" animBg="1"/>
      <p:bldP spid="1282124" grpId="0" animBg="1"/>
      <p:bldP spid="1282127" grpId="0" animBg="1"/>
      <p:bldP spid="1282268" grpId="0" animBg="1"/>
      <p:bldP spid="1282269" grpId="0" animBg="1"/>
      <p:bldP spid="1282270" grpId="0"/>
      <p:bldP spid="1282271" grpId="0" animBg="1"/>
      <p:bldP spid="1282272" grpId="0" animBg="1"/>
      <p:bldP spid="1282273" grpId="0" animBg="1"/>
      <p:bldP spid="1282274" grpId="0" animBg="1"/>
      <p:bldP spid="1282275" grpId="0" animBg="1"/>
      <p:bldP spid="1282276" grpId="0" animBg="1"/>
      <p:bldP spid="1282277" grpId="0" animBg="1"/>
      <p:bldP spid="1282278" grpId="0" animBg="1"/>
      <p:bldP spid="1282279" grpId="0" animBg="1"/>
      <p:bldP spid="1282280" grpId="0" animBg="1"/>
      <p:bldP spid="1282281" grpId="0" animBg="1"/>
      <p:bldP spid="1282282" grpId="0" animBg="1"/>
      <p:bldP spid="128228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0668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Values versus entries</a:t>
            </a:r>
            <a:endParaRPr lang="en-US" altLang="zh-CN" dirty="0"/>
          </a:p>
        </p:txBody>
      </p:sp>
      <p:sp>
        <p:nvSpPr>
          <p:cNvPr id="1289219" name="Rectangle 3"/>
          <p:cNvSpPr>
            <a:spLocks noGrp="1"/>
          </p:cNvSpPr>
          <p:nvPr>
            <p:ph idx="1"/>
          </p:nvPr>
        </p:nvSpPr>
        <p:spPr>
          <a:xfrm>
            <a:off x="685800" y="1447800"/>
            <a:ext cx="7696200" cy="36576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solidFill>
                  <a:srgbClr val="008000"/>
                </a:solidFill>
              </a:rPr>
              <a:t>If we were sorting values: </a:t>
            </a:r>
            <a:r>
              <a:rPr lang="en-US" altLang="zh-CN" dirty="0"/>
              <a:t>each bucket is just a </a:t>
            </a:r>
            <a:r>
              <a:rPr lang="en-US" altLang="zh-CN" dirty="0">
                <a:solidFill>
                  <a:schemeClr val="tx2"/>
                </a:solidFill>
              </a:rPr>
              <a:t>counter</a:t>
            </a:r>
            <a:r>
              <a:rPr lang="en-US" altLang="zh-CN" dirty="0"/>
              <a:t> that we increase counter[i] by one whenever a value i is encountered</a:t>
            </a:r>
            <a:endParaRPr lang="en-US" altLang="zh-CN" dirty="0"/>
          </a:p>
          <a:p>
            <a:pPr eaLnBrk="1" hangingPunct="1"/>
            <a:r>
              <a:rPr lang="en-US" altLang="zh-CN" dirty="0">
                <a:solidFill>
                  <a:srgbClr val="008000"/>
                </a:solidFill>
              </a:rPr>
              <a:t>If we were sorting entries according to keys</a:t>
            </a:r>
            <a:r>
              <a:rPr lang="en-US" altLang="zh-CN" dirty="0"/>
              <a:t>, then each bucket is a </a:t>
            </a:r>
            <a:r>
              <a:rPr lang="en-US" altLang="zh-CN" b="1" u="sng" dirty="0">
                <a:solidFill>
                  <a:srgbClr val="FF0000"/>
                </a:solidFill>
              </a:rPr>
              <a:t>queue</a:t>
            </a:r>
            <a:endParaRPr lang="en-US" altLang="zh-CN" b="1" u="sng" dirty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zh-CN" dirty="0"/>
              <a:t>Entries are enqueued into a matching bucket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Entries will be dequeued back into the array after the scan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219">
                                            <p:txEl>
                                              <p:charRg st="126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219">
                                            <p:txEl>
                                              <p:charRg st="200" end="2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219">
                                            <p:txEl>
                                              <p:charRg st="244" end="3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Time complexity</a:t>
            </a:r>
            <a:endParaRPr lang="en-US" altLang="zh-CN" dirty="0"/>
          </a:p>
        </p:txBody>
      </p:sp>
      <p:sp>
        <p:nvSpPr>
          <p:cNvPr id="1291267" name="Rectangle 3"/>
          <p:cNvSpPr>
            <a:spLocks noGrp="1"/>
          </p:cNvSpPr>
          <p:nvPr>
            <p:ph idx="1"/>
          </p:nvPr>
        </p:nvSpPr>
        <p:spPr>
          <a:xfrm>
            <a:off x="685800" y="1524000"/>
            <a:ext cx="7315200" cy="49530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Bucket initialization: 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From array to buckets: 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From buckets to array: 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Even though this stage is a nested loop, notice that all we do is dequeue from each bucket until they are all empty –&gt; n dequeue operations in all</a:t>
            </a:r>
            <a:endParaRPr lang="en-US" altLang="zh-CN" sz="2400" dirty="0"/>
          </a:p>
          <a:p>
            <a:pPr eaLnBrk="1" hangingPunct="1"/>
            <a:r>
              <a:rPr lang="en-US" altLang="zh-CN" dirty="0"/>
              <a:t>Strictly speaking, time complexity is </a:t>
            </a:r>
            <a:r>
              <a:rPr lang="en-US" altLang="zh-CN" dirty="0">
                <a:solidFill>
                  <a:srgbClr val="0000FF"/>
                </a:solidFill>
              </a:rPr>
              <a:t>O(m+n)</a:t>
            </a:r>
            <a:endParaRPr lang="en-US" altLang="zh-CN" dirty="0">
              <a:solidFill>
                <a:srgbClr val="0000FF"/>
              </a:solidFill>
            </a:endParaRPr>
          </a:p>
          <a:p>
            <a:pPr lvl="1" eaLnBrk="1" hangingPunct="1"/>
            <a:r>
              <a:rPr lang="en-US" altLang="zh-CN" sz="2400" dirty="0"/>
              <a:t>Since m will likely be small compared to n, Bucket sort is </a:t>
            </a:r>
            <a:r>
              <a:rPr lang="en-US" altLang="zh-CN" sz="2400" b="1" dirty="0">
                <a:solidFill>
                  <a:schemeClr val="tx2"/>
                </a:solidFill>
              </a:rPr>
              <a:t>O( n )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1291268" name="Rectangle 4"/>
          <p:cNvSpPr/>
          <p:nvPr/>
        </p:nvSpPr>
        <p:spPr>
          <a:xfrm>
            <a:off x="4572000" y="1543050"/>
            <a:ext cx="1149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O( m )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sp>
        <p:nvSpPr>
          <p:cNvPr id="1291269" name="Rectangle 5"/>
          <p:cNvSpPr/>
          <p:nvPr/>
        </p:nvSpPr>
        <p:spPr>
          <a:xfrm>
            <a:off x="4957763" y="2003425"/>
            <a:ext cx="1073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O( n )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sp>
        <p:nvSpPr>
          <p:cNvPr id="1291270" name="Rectangle 6"/>
          <p:cNvSpPr/>
          <p:nvPr/>
        </p:nvSpPr>
        <p:spPr>
          <a:xfrm>
            <a:off x="4995863" y="2514600"/>
            <a:ext cx="1073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O( n )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267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267">
                                            <p:txEl>
                                              <p:charRg st="24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267">
                                            <p:txEl>
                                              <p:charRg st="48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267">
                                            <p:txEl>
                                              <p:charRg st="72" end="2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267">
                                            <p:txEl>
                                              <p:charRg st="219" end="2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267">
                                            <p:txEl>
                                              <p:charRg st="264" end="3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1268" grpId="0"/>
      <p:bldP spid="1291269" grpId="0"/>
      <p:bldP spid="129127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990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Sorting integers</a:t>
            </a:r>
            <a:endParaRPr lang="en-US" altLang="zh-CN" dirty="0"/>
          </a:p>
        </p:txBody>
      </p:sp>
      <p:sp>
        <p:nvSpPr>
          <p:cNvPr id="1292291" name="Rectangle 3"/>
          <p:cNvSpPr>
            <a:spLocks noGrp="1"/>
          </p:cNvSpPr>
          <p:nvPr>
            <p:ph idx="1"/>
          </p:nvPr>
        </p:nvSpPr>
        <p:spPr>
          <a:xfrm>
            <a:off x="685800" y="1295400"/>
            <a:ext cx="7696200" cy="36576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Can we perform bucket sort on any array of (non-negative) integers?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Yes, but note that the number of buckets will depend on the maximum integer value</a:t>
            </a:r>
            <a:endParaRPr lang="en-US" altLang="zh-CN" sz="2400" dirty="0"/>
          </a:p>
          <a:p>
            <a:pPr eaLnBrk="1" hangingPunct="1"/>
            <a:r>
              <a:rPr lang="en-US" altLang="zh-CN" sz="2800" dirty="0"/>
              <a:t>If you are sorting </a:t>
            </a:r>
            <a:r>
              <a:rPr lang="en-US" altLang="zh-CN" sz="2800" dirty="0">
                <a:solidFill>
                  <a:srgbClr val="008000"/>
                </a:solidFill>
              </a:rPr>
              <a:t>10</a:t>
            </a:r>
            <a:r>
              <a:rPr lang="en-US" altLang="zh-CN" sz="2800" dirty="0"/>
              <a:t> integers and the maximum value is </a:t>
            </a:r>
            <a:r>
              <a:rPr lang="en-US" altLang="zh-CN" sz="2800" dirty="0">
                <a:solidFill>
                  <a:srgbClr val="008000"/>
                </a:solidFill>
              </a:rPr>
              <a:t>999999</a:t>
            </a:r>
            <a:endParaRPr lang="en-US" altLang="zh-CN" sz="2800" dirty="0">
              <a:solidFill>
                <a:srgbClr val="008000"/>
              </a:solidFill>
            </a:endParaRPr>
          </a:p>
          <a:p>
            <a:pPr lvl="1" eaLnBrk="1" hangingPunct="1"/>
            <a:r>
              <a:rPr lang="en-US" altLang="zh-CN" sz="2400" dirty="0"/>
              <a:t>You will need 1 million buckets!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Time complexity is not really O( n ) because m is much &gt; than n.  Actual time complexity is O( m )</a:t>
            </a:r>
            <a:endParaRPr lang="en-US" altLang="zh-CN" sz="2400" dirty="0"/>
          </a:p>
          <a:p>
            <a:pPr eaLnBrk="1" hangingPunct="1"/>
            <a:r>
              <a:rPr lang="en-US" altLang="zh-CN" sz="2800" dirty="0"/>
              <a:t>Can we do better?</a:t>
            </a:r>
            <a:endParaRPr lang="en-US" altLang="zh-CN" sz="2800" dirty="0"/>
          </a:p>
        </p:txBody>
      </p:sp>
      <p:graphicFrame>
        <p:nvGraphicFramePr>
          <p:cNvPr id="1292292" name="Object 4"/>
          <p:cNvGraphicFramePr>
            <a:graphicFrameLocks noChangeAspect="1"/>
          </p:cNvGraphicFramePr>
          <p:nvPr/>
        </p:nvGraphicFramePr>
        <p:xfrm>
          <a:off x="381000" y="4789488"/>
          <a:ext cx="1447800" cy="1306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287905" imgH="2063115" progId="MS_ClipArt_Gallery.2">
                  <p:embed/>
                </p:oleObj>
              </mc:Choice>
              <mc:Fallback>
                <p:oleObj name="" r:id="rId1" imgW="2287905" imgH="2063115" progId="MS_ClipArt_Gallery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1000" y="4789488"/>
                        <a:ext cx="1447800" cy="1306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2293" name="AutoShape 5"/>
          <p:cNvSpPr/>
          <p:nvPr/>
        </p:nvSpPr>
        <p:spPr>
          <a:xfrm>
            <a:off x="2362200" y="4332288"/>
            <a:ext cx="1828800" cy="1219200"/>
          </a:xfrm>
          <a:prstGeom prst="cloudCallout">
            <a:avLst>
              <a:gd name="adj1" fmla="val -81250"/>
              <a:gd name="adj2" fmla="val 30861"/>
            </a:avLst>
          </a:prstGeom>
          <a:gradFill rotWithShape="0">
            <a:gsLst>
              <a:gs pos="0">
                <a:srgbClr val="ADD8AD"/>
              </a:gs>
              <a:gs pos="100000">
                <a:srgbClr val="CCFFCC"/>
              </a:gs>
            </a:gsLst>
            <a:lin ang="18900000" scaled="1"/>
            <a:tileRect/>
          </a:gradFill>
          <a:ln w="9525" cap="flat" cmpd="sng">
            <a:solidFill>
              <a:srgbClr val="CCFFFF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What if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000" b="1" dirty="0">
                <a:latin typeface="Times New Roman" panose="02020603050405020304" pitchFamily="18" charset="0"/>
              </a:rPr>
              <a:t> &gt;&gt;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N </a:t>
            </a:r>
            <a:r>
              <a:rPr lang="en-US" altLang="zh-CN" sz="2000" b="1" dirty="0">
                <a:latin typeface="Times New Roman" panose="02020603050405020304" pitchFamily="18" charset="0"/>
              </a:rPr>
              <a:t>?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9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9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92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92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292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292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29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29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291">
                                            <p:txEl>
                                              <p:charRg st="150" end="2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291">
                                            <p:txEl>
                                              <p:charRg st="213" end="2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291">
                                            <p:txEl>
                                              <p:charRg st="246" end="3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291">
                                            <p:txEl>
                                              <p:charRg st="345" end="3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2293" grpId="0" animBg="1"/>
      <p:bldP spid="1292293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1746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Radix sort</a:t>
            </a:r>
            <a:endParaRPr lang="en-US" altLang="zh-CN" dirty="0"/>
          </a:p>
        </p:txBody>
      </p:sp>
      <p:sp>
        <p:nvSpPr>
          <p:cNvPr id="129331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Digit-by-digit sort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every integer can be represented by at most k digits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d</a:t>
            </a:r>
            <a:r>
              <a:rPr lang="en-US" altLang="zh-CN" sz="2400" baseline="-25000" dirty="0"/>
              <a:t>0</a:t>
            </a:r>
            <a:r>
              <a:rPr lang="en-US" altLang="zh-CN" sz="2400" dirty="0"/>
              <a:t>d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d</a:t>
            </a:r>
            <a:r>
              <a:rPr lang="en-US" altLang="zh-CN" sz="2400" baseline="-25000" dirty="0"/>
              <a:t>2</a:t>
            </a:r>
            <a:r>
              <a:rPr lang="en-US" altLang="zh-CN" sz="2400" dirty="0">
                <a:latin typeface="Arial" panose="020B0604020202020204" pitchFamily="34" charset="0"/>
              </a:rPr>
              <a:t>…</a:t>
            </a:r>
            <a:r>
              <a:rPr lang="en-US" altLang="zh-CN" sz="2400" dirty="0"/>
              <a:t>d</a:t>
            </a:r>
            <a:r>
              <a:rPr lang="en-US" altLang="zh-CN" sz="2400" baseline="-25000" dirty="0"/>
              <a:t>k-1</a:t>
            </a:r>
            <a:r>
              <a:rPr lang="en-US" altLang="zh-CN" sz="2400" i="1" dirty="0"/>
              <a:t> </a:t>
            </a:r>
            <a:r>
              <a:rPr lang="en-US" altLang="zh-CN" sz="2400" dirty="0"/>
              <a:t>where</a:t>
            </a:r>
            <a:r>
              <a:rPr lang="en-US" altLang="zh-CN" sz="2400" i="1" dirty="0"/>
              <a:t> </a:t>
            </a:r>
            <a:r>
              <a:rPr lang="en-US" altLang="zh-CN" sz="2400" dirty="0"/>
              <a:t>d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 are digits in </a:t>
            </a:r>
            <a:r>
              <a:rPr lang="en-US" altLang="zh-CN" sz="2400" dirty="0">
                <a:solidFill>
                  <a:srgbClr val="008000"/>
                </a:solidFill>
              </a:rPr>
              <a:t>base </a:t>
            </a:r>
            <a:r>
              <a:rPr lang="en-US" altLang="zh-CN" sz="2400" dirty="0"/>
              <a:t>r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d</a:t>
            </a:r>
            <a:r>
              <a:rPr lang="en-US" altLang="zh-CN" sz="2400" baseline="-25000" dirty="0"/>
              <a:t>0</a:t>
            </a:r>
            <a:r>
              <a:rPr lang="en-US" altLang="zh-CN" sz="2400" dirty="0"/>
              <a:t>: </a:t>
            </a:r>
            <a:r>
              <a:rPr lang="en-US" altLang="zh-CN" sz="2400" dirty="0">
                <a:solidFill>
                  <a:srgbClr val="008000"/>
                </a:solidFill>
              </a:rPr>
              <a:t>M</a:t>
            </a:r>
            <a:r>
              <a:rPr lang="en-US" altLang="zh-CN" sz="2400" dirty="0"/>
              <a:t>ost </a:t>
            </a:r>
            <a:r>
              <a:rPr lang="en-US" altLang="zh-CN" sz="2400" dirty="0">
                <a:solidFill>
                  <a:srgbClr val="008000"/>
                </a:solidFill>
              </a:rPr>
              <a:t>S</a:t>
            </a:r>
            <a:r>
              <a:rPr lang="en-US" altLang="zh-CN" sz="2400" dirty="0"/>
              <a:t>ignificant </a:t>
            </a:r>
            <a:r>
              <a:rPr lang="en-US" altLang="zh-CN" sz="2400" dirty="0">
                <a:solidFill>
                  <a:srgbClr val="008000"/>
                </a:solidFill>
              </a:rPr>
              <a:t>D</a:t>
            </a:r>
            <a:r>
              <a:rPr lang="en-US" altLang="zh-CN" sz="2400" dirty="0"/>
              <a:t>igit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d</a:t>
            </a:r>
            <a:r>
              <a:rPr lang="en-US" altLang="zh-CN" sz="2400" baseline="-25000" dirty="0"/>
              <a:t>k-1</a:t>
            </a:r>
            <a:r>
              <a:rPr lang="en-US" altLang="zh-CN" sz="2400" dirty="0"/>
              <a:t>: </a:t>
            </a:r>
            <a:r>
              <a:rPr lang="en-US" altLang="zh-CN" sz="2400" dirty="0">
                <a:solidFill>
                  <a:srgbClr val="008000"/>
                </a:solidFill>
              </a:rPr>
              <a:t>L</a:t>
            </a:r>
            <a:r>
              <a:rPr lang="en-US" altLang="zh-CN" sz="2400" dirty="0"/>
              <a:t>east </a:t>
            </a:r>
            <a:r>
              <a:rPr lang="en-US" altLang="zh-CN" sz="2400" dirty="0">
                <a:solidFill>
                  <a:srgbClr val="008000"/>
                </a:solidFill>
              </a:rPr>
              <a:t>S</a:t>
            </a:r>
            <a:r>
              <a:rPr lang="en-US" altLang="zh-CN" sz="2400" dirty="0"/>
              <a:t>ignificant </a:t>
            </a:r>
            <a:r>
              <a:rPr lang="en-US" altLang="zh-CN" sz="2400" dirty="0">
                <a:solidFill>
                  <a:srgbClr val="008000"/>
                </a:solidFill>
              </a:rPr>
              <a:t>D</a:t>
            </a:r>
            <a:r>
              <a:rPr lang="en-US" altLang="zh-CN" sz="2400" dirty="0"/>
              <a:t>igit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5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5">
                                            <p:txEl>
                                              <p:charRg st="20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5">
                                            <p:txEl>
                                              <p:charRg st="73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5">
                                            <p:txEl>
                                              <p:charRg st="115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315">
                                            <p:txEl>
                                              <p:charRg st="142" end="1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Radix Sort</a:t>
            </a:r>
            <a:endParaRPr lang="en-US" altLang="zh-CN" dirty="0"/>
          </a:p>
        </p:txBody>
      </p:sp>
      <p:sp>
        <p:nvSpPr>
          <p:cNvPr id="1310723" name="Rectangle 3"/>
          <p:cNvSpPr>
            <a:spLocks noGrp="1"/>
          </p:cNvSpPr>
          <p:nvPr>
            <p:ph type="body" sz="half" idx="1"/>
          </p:nvPr>
        </p:nvSpPr>
        <p:spPr>
          <a:xfrm>
            <a:off x="762000" y="1295400"/>
            <a:ext cx="7772400" cy="3657600"/>
          </a:xfrm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  <a:buFontTx/>
              <a:buNone/>
            </a:pPr>
            <a:r>
              <a:rPr lang="en-US" altLang="zh-CN" sz="2400" dirty="0"/>
              <a:t>Example: 275, 087, 426, 061, 509, 170, 677, 503</a:t>
            </a:r>
            <a:endParaRPr lang="en-US" altLang="zh-CN" sz="2400" dirty="0"/>
          </a:p>
          <a:p>
            <a:pPr eaLnBrk="1" hangingPunct="1">
              <a:buClrTx/>
              <a:buSzTx/>
              <a:buFontTx/>
            </a:pPr>
            <a:r>
              <a:rPr lang="en-US" altLang="zh-CN" sz="2400" dirty="0">
                <a:solidFill>
                  <a:srgbClr val="008000"/>
                </a:solidFill>
              </a:rPr>
              <a:t>Least-significant-digit-first</a:t>
            </a:r>
            <a:endParaRPr lang="en-US" altLang="zh-CN" sz="2400" dirty="0">
              <a:solidFill>
                <a:srgbClr val="008000"/>
              </a:solidFill>
            </a:endParaRPr>
          </a:p>
          <a:p>
            <a:pPr eaLnBrk="1" hangingPunct="1">
              <a:buClrTx/>
              <a:buSzTx/>
              <a:buFontTx/>
              <a:buNone/>
            </a:pPr>
            <a:r>
              <a:rPr lang="en-US" altLang="zh-CN" sz="2800" dirty="0"/>
              <a:t>           </a:t>
            </a:r>
            <a:r>
              <a:rPr lang="en-US" altLang="zh-CN" sz="2400" dirty="0"/>
              <a:t>27</a:t>
            </a:r>
            <a:r>
              <a:rPr lang="en-US" altLang="zh-CN" sz="2400" dirty="0">
                <a:solidFill>
                  <a:srgbClr val="FF3300"/>
                </a:solidFill>
              </a:rPr>
              <a:t>5</a:t>
            </a:r>
            <a:r>
              <a:rPr lang="en-US" altLang="zh-CN" sz="2400" dirty="0"/>
              <a:t>, 08</a:t>
            </a:r>
            <a:r>
              <a:rPr lang="en-US" altLang="zh-CN" sz="2400" dirty="0">
                <a:solidFill>
                  <a:srgbClr val="FF3300"/>
                </a:solidFill>
              </a:rPr>
              <a:t>7</a:t>
            </a:r>
            <a:r>
              <a:rPr lang="en-US" altLang="zh-CN" sz="2400" dirty="0"/>
              <a:t>, 42</a:t>
            </a:r>
            <a:r>
              <a:rPr lang="en-US" altLang="zh-CN" sz="2400" dirty="0">
                <a:solidFill>
                  <a:srgbClr val="FF3300"/>
                </a:solidFill>
              </a:rPr>
              <a:t>6</a:t>
            </a:r>
            <a:r>
              <a:rPr lang="en-US" altLang="zh-CN" sz="2400" dirty="0"/>
              <a:t>, 06</a:t>
            </a:r>
            <a:r>
              <a:rPr lang="en-US" altLang="zh-CN" sz="2400" dirty="0">
                <a:solidFill>
                  <a:srgbClr val="FF3300"/>
                </a:solidFill>
              </a:rPr>
              <a:t>1</a:t>
            </a:r>
            <a:r>
              <a:rPr lang="en-US" altLang="zh-CN" sz="2400" dirty="0"/>
              <a:t>, 50</a:t>
            </a:r>
            <a:r>
              <a:rPr lang="en-US" altLang="zh-CN" sz="2400" dirty="0">
                <a:solidFill>
                  <a:srgbClr val="FF3300"/>
                </a:solidFill>
              </a:rPr>
              <a:t>9</a:t>
            </a:r>
            <a:r>
              <a:rPr lang="en-US" altLang="zh-CN" sz="2400" dirty="0"/>
              <a:t>, 17</a:t>
            </a:r>
            <a:r>
              <a:rPr lang="en-US" altLang="zh-CN" sz="2400" dirty="0">
                <a:solidFill>
                  <a:srgbClr val="FF3300"/>
                </a:solidFill>
              </a:rPr>
              <a:t>0</a:t>
            </a:r>
            <a:r>
              <a:rPr lang="en-US" altLang="zh-CN" sz="2400" dirty="0"/>
              <a:t>, 67</a:t>
            </a:r>
            <a:r>
              <a:rPr lang="en-US" altLang="zh-CN" sz="2400" dirty="0">
                <a:solidFill>
                  <a:srgbClr val="FF3300"/>
                </a:solidFill>
              </a:rPr>
              <a:t>7</a:t>
            </a:r>
            <a:r>
              <a:rPr lang="en-US" altLang="zh-CN" sz="2400" dirty="0"/>
              <a:t>, 50</a:t>
            </a:r>
            <a:r>
              <a:rPr lang="en-US" altLang="zh-CN" sz="2400" dirty="0">
                <a:solidFill>
                  <a:srgbClr val="FF3300"/>
                </a:solidFill>
              </a:rPr>
              <a:t>3</a:t>
            </a:r>
            <a:endParaRPr lang="en-US" altLang="zh-CN" sz="2400" dirty="0">
              <a:solidFill>
                <a:srgbClr val="FF3300"/>
              </a:solidFill>
            </a:endParaRPr>
          </a:p>
        </p:txBody>
      </p:sp>
      <p:graphicFrame>
        <p:nvGraphicFramePr>
          <p:cNvPr id="1310746" name="Group 26"/>
          <p:cNvGraphicFramePr>
            <a:graphicFrameLocks noGrp="1"/>
          </p:cNvGraphicFramePr>
          <p:nvPr>
            <p:ph sz="half" idx="4294967295"/>
          </p:nvPr>
        </p:nvGraphicFramePr>
        <p:xfrm>
          <a:off x="1447800" y="5715000"/>
          <a:ext cx="6192838" cy="492125"/>
        </p:xfrm>
        <a:graphic>
          <a:graphicData uri="http://schemas.openxmlformats.org/drawingml/2006/table">
            <a:tbl>
              <a:tblPr/>
              <a:tblGrid>
                <a:gridCol w="774700"/>
                <a:gridCol w="773113"/>
                <a:gridCol w="774700"/>
                <a:gridCol w="774700"/>
                <a:gridCol w="773112"/>
                <a:gridCol w="774700"/>
                <a:gridCol w="773113"/>
                <a:gridCol w="774700"/>
              </a:tblGrid>
              <a:tr h="492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170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061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503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275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426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087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677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509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10744" name="Text Box 24"/>
          <p:cNvSpPr txBox="1"/>
          <p:nvPr/>
        </p:nvSpPr>
        <p:spPr>
          <a:xfrm>
            <a:off x="838200" y="4800600"/>
            <a:ext cx="76327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/>
              <a:t>Combine the pockets to form the new set of numbers, </a:t>
            </a:r>
            <a:r>
              <a:rPr lang="en-US" altLang="zh-CN" sz="2400" dirty="0">
                <a:solidFill>
                  <a:srgbClr val="FF3300"/>
                </a:solidFill>
              </a:rPr>
              <a:t>keeping their relative order</a:t>
            </a:r>
            <a:r>
              <a:rPr lang="en-US" altLang="zh-CN" sz="2400" dirty="0"/>
              <a:t> :</a:t>
            </a:r>
            <a:endParaRPr lang="en-US" altLang="zh-CN" sz="2400" dirty="0"/>
          </a:p>
        </p:txBody>
      </p:sp>
      <p:pic>
        <p:nvPicPr>
          <p:cNvPr id="1310745" name="Picture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4763" y="2882900"/>
            <a:ext cx="6324600" cy="1765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23">
                                            <p:txEl>
                                              <p:charRg st="78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10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10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4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1311746" name="Group 2"/>
          <p:cNvGraphicFramePr>
            <a:graphicFrameLocks noGrp="1"/>
          </p:cNvGraphicFramePr>
          <p:nvPr/>
        </p:nvGraphicFramePr>
        <p:xfrm>
          <a:off x="1331913" y="3141663"/>
          <a:ext cx="6192838" cy="465138"/>
        </p:xfrm>
        <a:graphic>
          <a:graphicData uri="http://schemas.openxmlformats.org/drawingml/2006/table">
            <a:tbl>
              <a:tblPr/>
              <a:tblGrid>
                <a:gridCol w="774700"/>
                <a:gridCol w="773112"/>
                <a:gridCol w="774700"/>
                <a:gridCol w="774700"/>
                <a:gridCol w="773113"/>
                <a:gridCol w="774700"/>
                <a:gridCol w="773112"/>
                <a:gridCol w="774700"/>
              </a:tblGrid>
              <a:tr h="46513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03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09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61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70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75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6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77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87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311766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713" y="1196975"/>
            <a:ext cx="5400675" cy="1814513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311767" name="Group 23"/>
          <p:cNvGraphicFramePr>
            <a:graphicFrameLocks noGrp="1"/>
          </p:cNvGraphicFramePr>
          <p:nvPr/>
        </p:nvGraphicFramePr>
        <p:xfrm>
          <a:off x="1403350" y="404813"/>
          <a:ext cx="6192838" cy="465138"/>
        </p:xfrm>
        <a:graphic>
          <a:graphicData uri="http://schemas.openxmlformats.org/drawingml/2006/table">
            <a:tbl>
              <a:tblPr/>
              <a:tblGrid>
                <a:gridCol w="774700"/>
                <a:gridCol w="773113"/>
                <a:gridCol w="774700"/>
                <a:gridCol w="774700"/>
                <a:gridCol w="773112"/>
                <a:gridCol w="774700"/>
                <a:gridCol w="773113"/>
                <a:gridCol w="774700"/>
              </a:tblGrid>
              <a:tr h="46513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6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8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6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311787" name="Pictur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713" y="4005263"/>
            <a:ext cx="5616575" cy="1719262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311788" name="Group 44"/>
          <p:cNvGraphicFramePr>
            <a:graphicFrameLocks noGrp="1"/>
          </p:cNvGraphicFramePr>
          <p:nvPr/>
        </p:nvGraphicFramePr>
        <p:xfrm>
          <a:off x="1331913" y="5949950"/>
          <a:ext cx="6192838" cy="457200"/>
        </p:xfrm>
        <a:graphic>
          <a:graphicData uri="http://schemas.openxmlformats.org/drawingml/2006/table">
            <a:tbl>
              <a:tblPr/>
              <a:tblGrid>
                <a:gridCol w="774700"/>
                <a:gridCol w="773112"/>
                <a:gridCol w="774700"/>
                <a:gridCol w="774700"/>
                <a:gridCol w="773113"/>
                <a:gridCol w="774700"/>
                <a:gridCol w="773112"/>
                <a:gridCol w="774700"/>
              </a:tblGrid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061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087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170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275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426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503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509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677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31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11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11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4818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990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Radix Sort</a:t>
            </a:r>
            <a:endParaRPr lang="en-US" altLang="zh-CN" dirty="0"/>
          </a:p>
        </p:txBody>
      </p:sp>
      <p:sp>
        <p:nvSpPr>
          <p:cNvPr id="1313795" name="Rectangle 3"/>
          <p:cNvSpPr>
            <a:spLocks noGrp="1"/>
          </p:cNvSpPr>
          <p:nvPr>
            <p:ph idx="1"/>
          </p:nvPr>
        </p:nvSpPr>
        <p:spPr>
          <a:xfrm>
            <a:off x="685800" y="1371600"/>
            <a:ext cx="7696200" cy="47244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Algorithm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sort by the </a:t>
            </a:r>
            <a:r>
              <a:rPr lang="en-US" altLang="zh-CN" sz="2400" dirty="0">
                <a:solidFill>
                  <a:srgbClr val="008000"/>
                </a:solidFill>
              </a:rPr>
              <a:t>least significant digit</a:t>
            </a:r>
            <a:r>
              <a:rPr lang="en-US" altLang="zh-CN" sz="2400" dirty="0"/>
              <a:t> first (bucket sort)</a:t>
            </a:r>
            <a:endParaRPr lang="en-US" altLang="zh-CN" sz="2400" dirty="0"/>
          </a:p>
          <a:p>
            <a:pPr lvl="1" eaLnBrk="1" hangingPunct="1">
              <a:buNone/>
            </a:pPr>
            <a:r>
              <a:rPr lang="en-US" altLang="zh-CN" sz="2400" dirty="0"/>
              <a:t>    =&gt; Numbers with the same digit go to the same pocket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reorder all the numbers: the numbers in pocket 0 precede the numbers in pocket 1, which precede the numbers in pocket 2, and so on 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sort by the next least significant digit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continue this process until the numbers have been sorted on all k digits</a:t>
            </a:r>
            <a:endParaRPr lang="en-US" altLang="zh-CN" sz="2400" dirty="0"/>
          </a:p>
          <a:p>
            <a:pPr eaLnBrk="1" hangingPunct="1"/>
            <a:endParaRPr lang="en-US" altLang="zh-CN" sz="2400" dirty="0"/>
          </a:p>
          <a:p>
            <a:pPr eaLnBrk="1" hangingPunct="1"/>
            <a:endParaRPr lang="en-US" altLang="zh-CN" dirty="0"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795">
                                            <p:txEl>
                                              <p:charRg st="10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795">
                                            <p:txEl>
                                              <p:charRg st="66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795">
                                            <p:txEl>
                                              <p:charRg st="123" end="2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13795">
                                            <p:txEl>
                                              <p:charRg st="123" end="2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795">
                                            <p:txEl>
                                              <p:charRg st="255" end="2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13795">
                                            <p:txEl>
                                              <p:charRg st="255" end="2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795">
                                            <p:txEl>
                                              <p:charRg st="296" end="3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13795">
                                            <p:txEl>
                                              <p:charRg st="296" end="3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5842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2192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Radix Sort</a:t>
            </a:r>
            <a:endParaRPr lang="en-US" altLang="zh-CN" dirty="0"/>
          </a:p>
        </p:txBody>
      </p:sp>
      <p:sp>
        <p:nvSpPr>
          <p:cNvPr id="1312771" name="Rectangle 3"/>
          <p:cNvSpPr>
            <a:spLocks noGrp="1"/>
          </p:cNvSpPr>
          <p:nvPr>
            <p:ph idx="1"/>
          </p:nvPr>
        </p:nvSpPr>
        <p:spPr>
          <a:xfrm>
            <a:off x="685800" y="1600200"/>
            <a:ext cx="7848600" cy="48006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Does it work?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dirty="0"/>
              <a:t>   Radix sort works as long as the bucket sort stages are </a:t>
            </a:r>
            <a:r>
              <a:rPr lang="en-US" altLang="zh-CN" sz="2800" b="1" dirty="0">
                <a:solidFill>
                  <a:srgbClr val="FF3300"/>
                </a:solidFill>
              </a:rPr>
              <a:t>stable</a:t>
            </a:r>
            <a:r>
              <a:rPr lang="en-US" altLang="zh-CN" sz="2800" dirty="0"/>
              <a:t> sorts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Suppose there are two elements whose first digit is the same; for example, 52 &amp; 58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If 52 occurs before 58 in the array prior to the sorting stage, 52 should occur before  58 in the resulting array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This way, the work carried out in the previous bucket sort stages is preserved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771">
                                            <p:txEl>
                                              <p:charRg st="14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771">
                                            <p:txEl>
                                              <p:charRg st="85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771">
                                            <p:txEl>
                                              <p:charRg st="168" end="2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771">
                                            <p:txEl>
                                              <p:charRg st="283" end="3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81924" name="Rectangle 4"/>
          <p:cNvSpPr/>
          <p:nvPr/>
        </p:nvSpPr>
        <p:spPr>
          <a:xfrm>
            <a:off x="304800" y="365125"/>
            <a:ext cx="80772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92100" lvl="0" indent="-29210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ea typeface="MS Hei" pitchFamily="49" charset="-122"/>
              </a:rPr>
              <a:t>〖Example〗</a:t>
            </a:r>
            <a:endParaRPr lang="en-US" altLang="zh-CN" sz="2000" b="1" dirty="0">
              <a:ea typeface="MS Hei" pitchFamily="49" charset="-122"/>
            </a:endParaRPr>
          </a:p>
        </p:txBody>
      </p:sp>
      <p:sp>
        <p:nvSpPr>
          <p:cNvPr id="81926" name="Text Box 6"/>
          <p:cNvSpPr txBox="1"/>
          <p:nvPr/>
        </p:nvSpPr>
        <p:spPr>
          <a:xfrm>
            <a:off x="381000" y="1066800"/>
            <a:ext cx="7924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</a:rPr>
              <a:t>Input:</a:t>
            </a:r>
            <a:r>
              <a:rPr lang="en-US" altLang="zh-CN" sz="2000" b="1" dirty="0"/>
              <a:t>  64, 8, 216, 512, 27, 729, 0, 1, 343, 125</a:t>
            </a:r>
            <a:endParaRPr lang="en-US" altLang="zh-CN" sz="2000" b="1" dirty="0"/>
          </a:p>
        </p:txBody>
      </p:sp>
      <p:grpSp>
        <p:nvGrpSpPr>
          <p:cNvPr id="2" name="Group 7"/>
          <p:cNvGrpSpPr/>
          <p:nvPr/>
        </p:nvGrpSpPr>
        <p:grpSpPr>
          <a:xfrm>
            <a:off x="457200" y="2574925"/>
            <a:ext cx="6248400" cy="366713"/>
            <a:chOff x="576" y="1440"/>
            <a:chExt cx="3936" cy="231"/>
          </a:xfrm>
        </p:grpSpPr>
        <p:sp>
          <p:nvSpPr>
            <p:cNvPr id="36928" name="Rectangle 8"/>
            <p:cNvSpPr/>
            <p:nvPr/>
          </p:nvSpPr>
          <p:spPr>
            <a:xfrm>
              <a:off x="1152" y="1440"/>
              <a:ext cx="336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0</a:t>
              </a:r>
              <a:endParaRPr lang="en-US" altLang="zh-CN" sz="1800" b="1" dirty="0"/>
            </a:p>
          </p:txBody>
        </p:sp>
        <p:sp>
          <p:nvSpPr>
            <p:cNvPr id="36929" name="Text Box 9"/>
            <p:cNvSpPr txBox="1"/>
            <p:nvPr/>
          </p:nvSpPr>
          <p:spPr>
            <a:xfrm>
              <a:off x="576" y="1440"/>
              <a:ext cx="62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Bucket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  <p:sp>
          <p:nvSpPr>
            <p:cNvPr id="36930" name="Rectangle 10"/>
            <p:cNvSpPr/>
            <p:nvPr/>
          </p:nvSpPr>
          <p:spPr>
            <a:xfrm>
              <a:off x="1488" y="1440"/>
              <a:ext cx="336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1</a:t>
              </a:r>
              <a:endParaRPr lang="en-US" altLang="zh-CN" sz="1800" b="1" dirty="0"/>
            </a:p>
          </p:txBody>
        </p:sp>
        <p:sp>
          <p:nvSpPr>
            <p:cNvPr id="36931" name="Rectangle 11"/>
            <p:cNvSpPr/>
            <p:nvPr/>
          </p:nvSpPr>
          <p:spPr>
            <a:xfrm>
              <a:off x="1824" y="1440"/>
              <a:ext cx="336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2</a:t>
              </a:r>
              <a:endParaRPr lang="en-US" altLang="zh-CN" sz="1800" b="1" dirty="0"/>
            </a:p>
          </p:txBody>
        </p:sp>
        <p:sp>
          <p:nvSpPr>
            <p:cNvPr id="36932" name="Rectangle 12"/>
            <p:cNvSpPr/>
            <p:nvPr/>
          </p:nvSpPr>
          <p:spPr>
            <a:xfrm>
              <a:off x="2160" y="1440"/>
              <a:ext cx="336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3</a:t>
              </a:r>
              <a:endParaRPr lang="en-US" altLang="zh-CN" sz="1800" b="1" dirty="0"/>
            </a:p>
          </p:txBody>
        </p:sp>
        <p:sp>
          <p:nvSpPr>
            <p:cNvPr id="36933" name="Rectangle 13"/>
            <p:cNvSpPr/>
            <p:nvPr/>
          </p:nvSpPr>
          <p:spPr>
            <a:xfrm>
              <a:off x="2496" y="1440"/>
              <a:ext cx="336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4</a:t>
              </a:r>
              <a:endParaRPr lang="en-US" altLang="zh-CN" sz="1800" b="1" dirty="0"/>
            </a:p>
          </p:txBody>
        </p:sp>
        <p:sp>
          <p:nvSpPr>
            <p:cNvPr id="36934" name="Rectangle 14"/>
            <p:cNvSpPr/>
            <p:nvPr/>
          </p:nvSpPr>
          <p:spPr>
            <a:xfrm>
              <a:off x="2832" y="1440"/>
              <a:ext cx="336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5</a:t>
              </a:r>
              <a:endParaRPr lang="en-US" altLang="zh-CN" sz="1800" b="1" dirty="0"/>
            </a:p>
          </p:txBody>
        </p:sp>
        <p:sp>
          <p:nvSpPr>
            <p:cNvPr id="36935" name="Rectangle 15"/>
            <p:cNvSpPr/>
            <p:nvPr/>
          </p:nvSpPr>
          <p:spPr>
            <a:xfrm>
              <a:off x="3168" y="1440"/>
              <a:ext cx="336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6</a:t>
              </a:r>
              <a:endParaRPr lang="en-US" altLang="zh-CN" sz="1800" b="1" dirty="0"/>
            </a:p>
          </p:txBody>
        </p:sp>
        <p:sp>
          <p:nvSpPr>
            <p:cNvPr id="36936" name="Rectangle 16"/>
            <p:cNvSpPr/>
            <p:nvPr/>
          </p:nvSpPr>
          <p:spPr>
            <a:xfrm>
              <a:off x="3504" y="1440"/>
              <a:ext cx="336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7</a:t>
              </a:r>
              <a:endParaRPr lang="en-US" altLang="zh-CN" sz="1800" b="1" dirty="0"/>
            </a:p>
          </p:txBody>
        </p:sp>
        <p:sp>
          <p:nvSpPr>
            <p:cNvPr id="36937" name="Rectangle 17"/>
            <p:cNvSpPr/>
            <p:nvPr/>
          </p:nvSpPr>
          <p:spPr>
            <a:xfrm>
              <a:off x="3840" y="1440"/>
              <a:ext cx="336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8</a:t>
              </a:r>
              <a:endParaRPr lang="en-US" altLang="zh-CN" sz="1800" b="1" dirty="0"/>
            </a:p>
          </p:txBody>
        </p:sp>
        <p:sp>
          <p:nvSpPr>
            <p:cNvPr id="36938" name="Rectangle 18"/>
            <p:cNvSpPr/>
            <p:nvPr/>
          </p:nvSpPr>
          <p:spPr>
            <a:xfrm>
              <a:off x="4176" y="1440"/>
              <a:ext cx="336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9</a:t>
              </a:r>
              <a:endParaRPr lang="en-US" altLang="zh-CN" sz="1800" b="1" dirty="0"/>
            </a:p>
          </p:txBody>
        </p:sp>
      </p:grpSp>
      <p:sp>
        <p:nvSpPr>
          <p:cNvPr id="81939" name="Text Box 19"/>
          <p:cNvSpPr txBox="1"/>
          <p:nvPr/>
        </p:nvSpPr>
        <p:spPr>
          <a:xfrm>
            <a:off x="762000" y="1600200"/>
            <a:ext cx="67056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/>
              <a:t>Sort according to the </a:t>
            </a:r>
            <a:r>
              <a:rPr lang="en-US" altLang="zh-CN" sz="2000" b="1" dirty="0">
                <a:solidFill>
                  <a:srgbClr val="FF6600"/>
                </a:solidFill>
              </a:rPr>
              <a:t>L</a:t>
            </a:r>
            <a:r>
              <a:rPr lang="en-US" altLang="zh-CN" sz="2000" b="1" dirty="0"/>
              <a:t>east </a:t>
            </a:r>
            <a:r>
              <a:rPr lang="en-US" altLang="zh-CN" sz="2000" b="1" dirty="0">
                <a:solidFill>
                  <a:srgbClr val="FF6600"/>
                </a:solidFill>
              </a:rPr>
              <a:t>S</a:t>
            </a:r>
            <a:r>
              <a:rPr lang="en-US" altLang="zh-CN" sz="2000" b="1" dirty="0"/>
              <a:t>ignificant </a:t>
            </a:r>
            <a:r>
              <a:rPr lang="en-US" altLang="zh-CN" sz="2000" b="1" dirty="0">
                <a:solidFill>
                  <a:srgbClr val="FF6600"/>
                </a:solidFill>
              </a:rPr>
              <a:t>D</a:t>
            </a:r>
            <a:r>
              <a:rPr lang="en-US" altLang="zh-CN" sz="2000" b="1" dirty="0"/>
              <a:t>igit first.</a:t>
            </a:r>
            <a:endParaRPr lang="en-US" altLang="zh-CN" sz="2000" b="1" dirty="0"/>
          </a:p>
        </p:txBody>
      </p:sp>
      <p:grpSp>
        <p:nvGrpSpPr>
          <p:cNvPr id="3" name="Group 20"/>
          <p:cNvGrpSpPr/>
          <p:nvPr/>
        </p:nvGrpSpPr>
        <p:grpSpPr>
          <a:xfrm>
            <a:off x="533400" y="2955925"/>
            <a:ext cx="6172200" cy="366713"/>
            <a:chOff x="624" y="1872"/>
            <a:chExt cx="3888" cy="231"/>
          </a:xfrm>
        </p:grpSpPr>
        <p:sp>
          <p:nvSpPr>
            <p:cNvPr id="36917" name="Rectangle 21"/>
            <p:cNvSpPr/>
            <p:nvPr/>
          </p:nvSpPr>
          <p:spPr>
            <a:xfrm>
              <a:off x="1152" y="1872"/>
              <a:ext cx="336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FF6600"/>
                  </a:solidFill>
                </a:rPr>
                <a:t>0</a:t>
              </a:r>
              <a:endParaRPr lang="en-US" altLang="zh-CN" sz="1800" b="1" dirty="0">
                <a:solidFill>
                  <a:srgbClr val="FF6600"/>
                </a:solidFill>
              </a:endParaRPr>
            </a:p>
          </p:txBody>
        </p:sp>
        <p:sp>
          <p:nvSpPr>
            <p:cNvPr id="36918" name="Rectangle 22"/>
            <p:cNvSpPr/>
            <p:nvPr/>
          </p:nvSpPr>
          <p:spPr>
            <a:xfrm>
              <a:off x="624" y="1872"/>
              <a:ext cx="5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Pass 1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  <p:sp>
          <p:nvSpPr>
            <p:cNvPr id="36919" name="Rectangle 23"/>
            <p:cNvSpPr/>
            <p:nvPr/>
          </p:nvSpPr>
          <p:spPr>
            <a:xfrm>
              <a:off x="1488" y="1872"/>
              <a:ext cx="336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FF6600"/>
                  </a:solidFill>
                </a:rPr>
                <a:t>1</a:t>
              </a:r>
              <a:endParaRPr lang="en-US" altLang="zh-CN" sz="1800" b="1" dirty="0">
                <a:solidFill>
                  <a:srgbClr val="FF6600"/>
                </a:solidFill>
              </a:endParaRPr>
            </a:p>
          </p:txBody>
        </p:sp>
        <p:sp>
          <p:nvSpPr>
            <p:cNvPr id="36920" name="Rectangle 24"/>
            <p:cNvSpPr/>
            <p:nvPr/>
          </p:nvSpPr>
          <p:spPr>
            <a:xfrm>
              <a:off x="1824" y="1872"/>
              <a:ext cx="336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51</a:t>
              </a:r>
              <a:r>
                <a:rPr lang="en-US" altLang="zh-CN" sz="1800" b="1" dirty="0">
                  <a:solidFill>
                    <a:srgbClr val="FF6600"/>
                  </a:solidFill>
                </a:rPr>
                <a:t>2</a:t>
              </a:r>
              <a:endParaRPr lang="en-US" altLang="zh-CN" sz="1800" b="1" dirty="0">
                <a:solidFill>
                  <a:srgbClr val="FF6600"/>
                </a:solidFill>
              </a:endParaRPr>
            </a:p>
          </p:txBody>
        </p:sp>
        <p:sp>
          <p:nvSpPr>
            <p:cNvPr id="36921" name="Rectangle 25"/>
            <p:cNvSpPr/>
            <p:nvPr/>
          </p:nvSpPr>
          <p:spPr>
            <a:xfrm>
              <a:off x="2160" y="1872"/>
              <a:ext cx="336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34</a:t>
              </a:r>
              <a:r>
                <a:rPr lang="en-US" altLang="zh-CN" sz="1800" b="1" dirty="0">
                  <a:solidFill>
                    <a:srgbClr val="FF6600"/>
                  </a:solidFill>
                </a:rPr>
                <a:t>3</a:t>
              </a:r>
              <a:endParaRPr lang="en-US" altLang="zh-CN" sz="1800" b="1" dirty="0">
                <a:solidFill>
                  <a:srgbClr val="FF6600"/>
                </a:solidFill>
              </a:endParaRPr>
            </a:p>
          </p:txBody>
        </p:sp>
        <p:sp>
          <p:nvSpPr>
            <p:cNvPr id="36922" name="Rectangle 26"/>
            <p:cNvSpPr/>
            <p:nvPr/>
          </p:nvSpPr>
          <p:spPr>
            <a:xfrm>
              <a:off x="2496" y="1872"/>
              <a:ext cx="336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6</a:t>
              </a:r>
              <a:r>
                <a:rPr lang="en-US" altLang="zh-CN" sz="1800" b="1" dirty="0">
                  <a:solidFill>
                    <a:srgbClr val="FF6600"/>
                  </a:solidFill>
                </a:rPr>
                <a:t>4</a:t>
              </a:r>
              <a:endParaRPr lang="en-US" altLang="zh-CN" sz="1800" b="1" dirty="0">
                <a:solidFill>
                  <a:srgbClr val="FF6600"/>
                </a:solidFill>
              </a:endParaRPr>
            </a:p>
          </p:txBody>
        </p:sp>
        <p:sp>
          <p:nvSpPr>
            <p:cNvPr id="36923" name="Rectangle 27"/>
            <p:cNvSpPr/>
            <p:nvPr/>
          </p:nvSpPr>
          <p:spPr>
            <a:xfrm>
              <a:off x="2832" y="1872"/>
              <a:ext cx="336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12</a:t>
              </a:r>
              <a:r>
                <a:rPr lang="en-US" altLang="zh-CN" sz="1800" b="1" dirty="0">
                  <a:solidFill>
                    <a:srgbClr val="FF6600"/>
                  </a:solidFill>
                </a:rPr>
                <a:t>5</a:t>
              </a:r>
              <a:endParaRPr lang="en-US" altLang="zh-CN" sz="1800" b="1" dirty="0">
                <a:solidFill>
                  <a:srgbClr val="FF6600"/>
                </a:solidFill>
              </a:endParaRPr>
            </a:p>
          </p:txBody>
        </p:sp>
        <p:sp>
          <p:nvSpPr>
            <p:cNvPr id="36924" name="Rectangle 28"/>
            <p:cNvSpPr/>
            <p:nvPr/>
          </p:nvSpPr>
          <p:spPr>
            <a:xfrm>
              <a:off x="3168" y="1872"/>
              <a:ext cx="336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21</a:t>
              </a:r>
              <a:r>
                <a:rPr lang="en-US" altLang="zh-CN" sz="1800" b="1" dirty="0">
                  <a:solidFill>
                    <a:srgbClr val="FF6600"/>
                  </a:solidFill>
                </a:rPr>
                <a:t>6</a:t>
              </a:r>
              <a:endParaRPr lang="en-US" altLang="zh-CN" sz="1800" b="1" dirty="0">
                <a:solidFill>
                  <a:srgbClr val="FF6600"/>
                </a:solidFill>
              </a:endParaRPr>
            </a:p>
          </p:txBody>
        </p:sp>
        <p:sp>
          <p:nvSpPr>
            <p:cNvPr id="36925" name="Rectangle 29"/>
            <p:cNvSpPr/>
            <p:nvPr/>
          </p:nvSpPr>
          <p:spPr>
            <a:xfrm>
              <a:off x="3504" y="1872"/>
              <a:ext cx="336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2</a:t>
              </a:r>
              <a:r>
                <a:rPr lang="en-US" altLang="zh-CN" sz="1800" b="1" dirty="0">
                  <a:solidFill>
                    <a:srgbClr val="FF6600"/>
                  </a:solidFill>
                </a:rPr>
                <a:t>7</a:t>
              </a:r>
              <a:endParaRPr lang="en-US" altLang="zh-CN" sz="1800" b="1" dirty="0">
                <a:solidFill>
                  <a:srgbClr val="FF6600"/>
                </a:solidFill>
              </a:endParaRPr>
            </a:p>
          </p:txBody>
        </p:sp>
        <p:sp>
          <p:nvSpPr>
            <p:cNvPr id="36926" name="Rectangle 30"/>
            <p:cNvSpPr/>
            <p:nvPr/>
          </p:nvSpPr>
          <p:spPr>
            <a:xfrm>
              <a:off x="3840" y="1872"/>
              <a:ext cx="336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FF6600"/>
                  </a:solidFill>
                </a:rPr>
                <a:t>8</a:t>
              </a:r>
              <a:endParaRPr lang="en-US" altLang="zh-CN" sz="1800" b="1" dirty="0">
                <a:solidFill>
                  <a:srgbClr val="FF6600"/>
                </a:solidFill>
              </a:endParaRPr>
            </a:p>
          </p:txBody>
        </p:sp>
        <p:sp>
          <p:nvSpPr>
            <p:cNvPr id="36927" name="Rectangle 31"/>
            <p:cNvSpPr/>
            <p:nvPr/>
          </p:nvSpPr>
          <p:spPr>
            <a:xfrm>
              <a:off x="4176" y="1872"/>
              <a:ext cx="336" cy="1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/>
                <a:t>72</a:t>
              </a:r>
              <a:r>
                <a:rPr lang="en-US" altLang="zh-CN" sz="1800" b="1" dirty="0">
                  <a:solidFill>
                    <a:srgbClr val="FF6600"/>
                  </a:solidFill>
                </a:rPr>
                <a:t>9</a:t>
              </a:r>
              <a:endParaRPr lang="en-US" altLang="zh-CN" sz="1800" b="1" dirty="0">
                <a:solidFill>
                  <a:srgbClr val="FF6600"/>
                </a:solidFill>
              </a:endParaRPr>
            </a:p>
          </p:txBody>
        </p:sp>
      </p:grpSp>
      <p:grpSp>
        <p:nvGrpSpPr>
          <p:cNvPr id="4" name="Group 32"/>
          <p:cNvGrpSpPr/>
          <p:nvPr/>
        </p:nvGrpSpPr>
        <p:grpSpPr>
          <a:xfrm>
            <a:off x="533400" y="3336925"/>
            <a:ext cx="6172200" cy="914400"/>
            <a:chOff x="624" y="2064"/>
            <a:chExt cx="3888" cy="576"/>
          </a:xfrm>
        </p:grpSpPr>
        <p:sp>
          <p:nvSpPr>
            <p:cNvPr id="36906" name="Rectangle 33"/>
            <p:cNvSpPr/>
            <p:nvPr/>
          </p:nvSpPr>
          <p:spPr>
            <a:xfrm>
              <a:off x="624" y="2208"/>
              <a:ext cx="4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Pass 2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  <p:sp>
          <p:nvSpPr>
            <p:cNvPr id="36907" name="Rectangle 34"/>
            <p:cNvSpPr/>
            <p:nvPr/>
          </p:nvSpPr>
          <p:spPr>
            <a:xfrm>
              <a:off x="1152" y="2064"/>
              <a:ext cx="336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/>
            </a:p>
          </p:txBody>
        </p:sp>
        <p:sp>
          <p:nvSpPr>
            <p:cNvPr id="36908" name="Rectangle 35"/>
            <p:cNvSpPr/>
            <p:nvPr/>
          </p:nvSpPr>
          <p:spPr>
            <a:xfrm>
              <a:off x="1488" y="2064"/>
              <a:ext cx="336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/>
            </a:p>
          </p:txBody>
        </p:sp>
        <p:sp>
          <p:nvSpPr>
            <p:cNvPr id="36909" name="Rectangle 36"/>
            <p:cNvSpPr/>
            <p:nvPr/>
          </p:nvSpPr>
          <p:spPr>
            <a:xfrm>
              <a:off x="1824" y="2064"/>
              <a:ext cx="336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/>
            </a:p>
          </p:txBody>
        </p:sp>
        <p:sp>
          <p:nvSpPr>
            <p:cNvPr id="36910" name="Rectangle 37"/>
            <p:cNvSpPr/>
            <p:nvPr/>
          </p:nvSpPr>
          <p:spPr>
            <a:xfrm>
              <a:off x="2160" y="2064"/>
              <a:ext cx="336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/>
            </a:p>
          </p:txBody>
        </p:sp>
        <p:sp>
          <p:nvSpPr>
            <p:cNvPr id="36911" name="Rectangle 38"/>
            <p:cNvSpPr/>
            <p:nvPr/>
          </p:nvSpPr>
          <p:spPr>
            <a:xfrm>
              <a:off x="2496" y="2064"/>
              <a:ext cx="336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/>
            </a:p>
          </p:txBody>
        </p:sp>
        <p:sp>
          <p:nvSpPr>
            <p:cNvPr id="36912" name="Rectangle 39"/>
            <p:cNvSpPr/>
            <p:nvPr/>
          </p:nvSpPr>
          <p:spPr>
            <a:xfrm>
              <a:off x="2832" y="2064"/>
              <a:ext cx="336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/>
            </a:p>
          </p:txBody>
        </p:sp>
        <p:sp>
          <p:nvSpPr>
            <p:cNvPr id="36913" name="Rectangle 40"/>
            <p:cNvSpPr/>
            <p:nvPr/>
          </p:nvSpPr>
          <p:spPr>
            <a:xfrm>
              <a:off x="3168" y="2064"/>
              <a:ext cx="336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/>
            </a:p>
          </p:txBody>
        </p:sp>
        <p:sp>
          <p:nvSpPr>
            <p:cNvPr id="36914" name="Rectangle 41"/>
            <p:cNvSpPr/>
            <p:nvPr/>
          </p:nvSpPr>
          <p:spPr>
            <a:xfrm>
              <a:off x="3504" y="2064"/>
              <a:ext cx="336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/>
            </a:p>
          </p:txBody>
        </p:sp>
        <p:sp>
          <p:nvSpPr>
            <p:cNvPr id="36915" name="Rectangle 42"/>
            <p:cNvSpPr/>
            <p:nvPr/>
          </p:nvSpPr>
          <p:spPr>
            <a:xfrm>
              <a:off x="3840" y="2064"/>
              <a:ext cx="336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/>
            </a:p>
          </p:txBody>
        </p:sp>
        <p:sp>
          <p:nvSpPr>
            <p:cNvPr id="36916" name="Rectangle 43"/>
            <p:cNvSpPr/>
            <p:nvPr/>
          </p:nvSpPr>
          <p:spPr>
            <a:xfrm>
              <a:off x="4176" y="2064"/>
              <a:ext cx="336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/>
            </a:p>
          </p:txBody>
        </p:sp>
      </p:grpSp>
      <p:sp>
        <p:nvSpPr>
          <p:cNvPr id="81964" name="Rectangle 44"/>
          <p:cNvSpPr/>
          <p:nvPr/>
        </p:nvSpPr>
        <p:spPr>
          <a:xfrm>
            <a:off x="1371600" y="3336925"/>
            <a:ext cx="5334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0</a:t>
            </a:r>
            <a:endParaRPr lang="en-US" altLang="zh-CN" sz="1800" b="1" dirty="0">
              <a:solidFill>
                <a:srgbClr val="FF6600"/>
              </a:solidFill>
            </a:endParaRPr>
          </a:p>
        </p:txBody>
      </p:sp>
      <p:sp>
        <p:nvSpPr>
          <p:cNvPr id="81965" name="Rectangle 45"/>
          <p:cNvSpPr/>
          <p:nvPr/>
        </p:nvSpPr>
        <p:spPr>
          <a:xfrm>
            <a:off x="1371600" y="3641725"/>
            <a:ext cx="5334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1</a:t>
            </a:r>
            <a:endParaRPr lang="en-US" altLang="zh-CN" sz="1800" b="1" dirty="0">
              <a:solidFill>
                <a:srgbClr val="FF6600"/>
              </a:solidFill>
            </a:endParaRPr>
          </a:p>
        </p:txBody>
      </p:sp>
      <p:sp>
        <p:nvSpPr>
          <p:cNvPr id="81966" name="Rectangle 46"/>
          <p:cNvSpPr/>
          <p:nvPr/>
        </p:nvSpPr>
        <p:spPr>
          <a:xfrm>
            <a:off x="1905000" y="3336925"/>
            <a:ext cx="5334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5</a:t>
            </a:r>
            <a:r>
              <a:rPr lang="en-US" altLang="zh-CN" sz="1800" b="1" dirty="0">
                <a:solidFill>
                  <a:srgbClr val="FF0000"/>
                </a:solidFill>
              </a:rPr>
              <a:t>1</a:t>
            </a:r>
            <a:r>
              <a:rPr lang="en-US" altLang="zh-CN" sz="1800" b="1" dirty="0"/>
              <a:t>2</a:t>
            </a:r>
            <a:endParaRPr lang="en-US" altLang="zh-CN" sz="1800" b="1" dirty="0">
              <a:solidFill>
                <a:srgbClr val="FF6600"/>
              </a:solidFill>
            </a:endParaRPr>
          </a:p>
        </p:txBody>
      </p:sp>
      <p:sp>
        <p:nvSpPr>
          <p:cNvPr id="81967" name="Rectangle 47"/>
          <p:cNvSpPr/>
          <p:nvPr/>
        </p:nvSpPr>
        <p:spPr>
          <a:xfrm>
            <a:off x="3505200" y="3336925"/>
            <a:ext cx="5334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3</a:t>
            </a:r>
            <a:r>
              <a:rPr lang="en-US" altLang="zh-CN" sz="1800" b="1" dirty="0">
                <a:solidFill>
                  <a:srgbClr val="FF0000"/>
                </a:solidFill>
              </a:rPr>
              <a:t>4</a:t>
            </a:r>
            <a:r>
              <a:rPr lang="en-US" altLang="zh-CN" sz="1800" b="1" dirty="0"/>
              <a:t>3</a:t>
            </a:r>
            <a:endParaRPr lang="en-US" altLang="zh-CN" sz="1800" b="1" dirty="0">
              <a:solidFill>
                <a:srgbClr val="FF6600"/>
              </a:solidFill>
            </a:endParaRPr>
          </a:p>
        </p:txBody>
      </p:sp>
      <p:sp>
        <p:nvSpPr>
          <p:cNvPr id="81968" name="Rectangle 48"/>
          <p:cNvSpPr/>
          <p:nvPr/>
        </p:nvSpPr>
        <p:spPr>
          <a:xfrm>
            <a:off x="4572000" y="3336925"/>
            <a:ext cx="5334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</a:rPr>
              <a:t>6</a:t>
            </a:r>
            <a:r>
              <a:rPr lang="en-US" altLang="zh-CN" sz="1800" b="1" dirty="0"/>
              <a:t>4</a:t>
            </a:r>
            <a:endParaRPr lang="en-US" altLang="zh-CN" sz="1800" b="1" dirty="0">
              <a:solidFill>
                <a:srgbClr val="FF6600"/>
              </a:solidFill>
            </a:endParaRPr>
          </a:p>
        </p:txBody>
      </p:sp>
      <p:sp>
        <p:nvSpPr>
          <p:cNvPr id="81969" name="Rectangle 49"/>
          <p:cNvSpPr/>
          <p:nvPr/>
        </p:nvSpPr>
        <p:spPr>
          <a:xfrm>
            <a:off x="2438400" y="3336925"/>
            <a:ext cx="5334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1</a:t>
            </a:r>
            <a:r>
              <a:rPr lang="en-US" altLang="zh-CN" sz="1800" b="1" dirty="0">
                <a:solidFill>
                  <a:srgbClr val="FF0000"/>
                </a:solidFill>
              </a:rPr>
              <a:t>2</a:t>
            </a:r>
            <a:r>
              <a:rPr lang="en-US" altLang="zh-CN" sz="1800" b="1" dirty="0"/>
              <a:t>5</a:t>
            </a:r>
            <a:endParaRPr lang="en-US" altLang="zh-CN" sz="1800" b="1" dirty="0"/>
          </a:p>
        </p:txBody>
      </p:sp>
      <p:sp>
        <p:nvSpPr>
          <p:cNvPr id="81970" name="Rectangle 50"/>
          <p:cNvSpPr/>
          <p:nvPr/>
        </p:nvSpPr>
        <p:spPr>
          <a:xfrm>
            <a:off x="1905000" y="3641725"/>
            <a:ext cx="5334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2</a:t>
            </a:r>
            <a:r>
              <a:rPr lang="en-US" altLang="zh-CN" sz="1800" b="1" dirty="0">
                <a:solidFill>
                  <a:srgbClr val="FF0000"/>
                </a:solidFill>
              </a:rPr>
              <a:t>1</a:t>
            </a:r>
            <a:r>
              <a:rPr lang="en-US" altLang="zh-CN" sz="1800" b="1" dirty="0"/>
              <a:t>6</a:t>
            </a:r>
            <a:endParaRPr lang="en-US" altLang="zh-CN" sz="1800" b="1" dirty="0"/>
          </a:p>
        </p:txBody>
      </p:sp>
      <p:sp>
        <p:nvSpPr>
          <p:cNvPr id="81971" name="Rectangle 51"/>
          <p:cNvSpPr/>
          <p:nvPr/>
        </p:nvSpPr>
        <p:spPr>
          <a:xfrm>
            <a:off x="2438400" y="3641725"/>
            <a:ext cx="5334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</a:rPr>
              <a:t>2</a:t>
            </a:r>
            <a:r>
              <a:rPr lang="en-US" altLang="zh-CN" sz="1800" b="1" dirty="0"/>
              <a:t>7</a:t>
            </a:r>
            <a:endParaRPr lang="en-US" altLang="zh-CN" sz="1800" b="1" dirty="0"/>
          </a:p>
        </p:txBody>
      </p:sp>
      <p:sp>
        <p:nvSpPr>
          <p:cNvPr id="81972" name="Rectangle 52"/>
          <p:cNvSpPr/>
          <p:nvPr/>
        </p:nvSpPr>
        <p:spPr>
          <a:xfrm>
            <a:off x="1371600" y="3946525"/>
            <a:ext cx="5334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8</a:t>
            </a:r>
            <a:endParaRPr lang="en-US" altLang="zh-CN" sz="1800" b="1" dirty="0"/>
          </a:p>
        </p:txBody>
      </p:sp>
      <p:sp>
        <p:nvSpPr>
          <p:cNvPr id="81973" name="Rectangle 53"/>
          <p:cNvSpPr/>
          <p:nvPr/>
        </p:nvSpPr>
        <p:spPr>
          <a:xfrm>
            <a:off x="2438400" y="3946525"/>
            <a:ext cx="5334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7</a:t>
            </a:r>
            <a:r>
              <a:rPr lang="en-US" altLang="zh-CN" sz="1800" b="1" dirty="0">
                <a:solidFill>
                  <a:srgbClr val="FF0000"/>
                </a:solidFill>
              </a:rPr>
              <a:t>2</a:t>
            </a:r>
            <a:r>
              <a:rPr lang="en-US" altLang="zh-CN" sz="1800" b="1" dirty="0"/>
              <a:t>9</a:t>
            </a:r>
            <a:endParaRPr lang="en-US" altLang="zh-CN" sz="1800" b="1" dirty="0"/>
          </a:p>
        </p:txBody>
      </p:sp>
      <p:grpSp>
        <p:nvGrpSpPr>
          <p:cNvPr id="5" name="Group 54"/>
          <p:cNvGrpSpPr/>
          <p:nvPr/>
        </p:nvGrpSpPr>
        <p:grpSpPr>
          <a:xfrm>
            <a:off x="533400" y="4327525"/>
            <a:ext cx="6172200" cy="1524000"/>
            <a:chOff x="624" y="2640"/>
            <a:chExt cx="3888" cy="960"/>
          </a:xfrm>
        </p:grpSpPr>
        <p:sp>
          <p:nvSpPr>
            <p:cNvPr id="36895" name="Rectangle 55"/>
            <p:cNvSpPr/>
            <p:nvPr/>
          </p:nvSpPr>
          <p:spPr>
            <a:xfrm>
              <a:off x="1152" y="2640"/>
              <a:ext cx="336" cy="96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/>
            </a:p>
          </p:txBody>
        </p:sp>
        <p:sp>
          <p:nvSpPr>
            <p:cNvPr id="36896" name="Rectangle 56"/>
            <p:cNvSpPr/>
            <p:nvPr/>
          </p:nvSpPr>
          <p:spPr>
            <a:xfrm>
              <a:off x="624" y="2976"/>
              <a:ext cx="4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Pass 3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  <p:sp>
          <p:nvSpPr>
            <p:cNvPr id="36897" name="Rectangle 57"/>
            <p:cNvSpPr/>
            <p:nvPr/>
          </p:nvSpPr>
          <p:spPr>
            <a:xfrm>
              <a:off x="1488" y="2640"/>
              <a:ext cx="336" cy="96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/>
            </a:p>
          </p:txBody>
        </p:sp>
        <p:sp>
          <p:nvSpPr>
            <p:cNvPr id="36898" name="Rectangle 58"/>
            <p:cNvSpPr/>
            <p:nvPr/>
          </p:nvSpPr>
          <p:spPr>
            <a:xfrm>
              <a:off x="1824" y="2640"/>
              <a:ext cx="336" cy="96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/>
            </a:p>
          </p:txBody>
        </p:sp>
        <p:sp>
          <p:nvSpPr>
            <p:cNvPr id="36899" name="Rectangle 59"/>
            <p:cNvSpPr/>
            <p:nvPr/>
          </p:nvSpPr>
          <p:spPr>
            <a:xfrm>
              <a:off x="2160" y="2640"/>
              <a:ext cx="336" cy="96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/>
            </a:p>
          </p:txBody>
        </p:sp>
        <p:sp>
          <p:nvSpPr>
            <p:cNvPr id="36900" name="Rectangle 60"/>
            <p:cNvSpPr/>
            <p:nvPr/>
          </p:nvSpPr>
          <p:spPr>
            <a:xfrm>
              <a:off x="3840" y="2640"/>
              <a:ext cx="336" cy="96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/>
            </a:p>
          </p:txBody>
        </p:sp>
        <p:sp>
          <p:nvSpPr>
            <p:cNvPr id="36901" name="Rectangle 61"/>
            <p:cNvSpPr/>
            <p:nvPr/>
          </p:nvSpPr>
          <p:spPr>
            <a:xfrm>
              <a:off x="4176" y="2640"/>
              <a:ext cx="336" cy="96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/>
            </a:p>
          </p:txBody>
        </p:sp>
        <p:sp>
          <p:nvSpPr>
            <p:cNvPr id="36902" name="Rectangle 62"/>
            <p:cNvSpPr/>
            <p:nvPr/>
          </p:nvSpPr>
          <p:spPr>
            <a:xfrm>
              <a:off x="2496" y="2640"/>
              <a:ext cx="336" cy="96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/>
            </a:p>
          </p:txBody>
        </p:sp>
        <p:sp>
          <p:nvSpPr>
            <p:cNvPr id="36903" name="Rectangle 63"/>
            <p:cNvSpPr/>
            <p:nvPr/>
          </p:nvSpPr>
          <p:spPr>
            <a:xfrm>
              <a:off x="2832" y="2640"/>
              <a:ext cx="336" cy="96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/>
            </a:p>
          </p:txBody>
        </p:sp>
        <p:sp>
          <p:nvSpPr>
            <p:cNvPr id="36904" name="Rectangle 64"/>
            <p:cNvSpPr/>
            <p:nvPr/>
          </p:nvSpPr>
          <p:spPr>
            <a:xfrm>
              <a:off x="3168" y="2640"/>
              <a:ext cx="336" cy="96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/>
            </a:p>
          </p:txBody>
        </p:sp>
        <p:sp>
          <p:nvSpPr>
            <p:cNvPr id="36905" name="Rectangle 65"/>
            <p:cNvSpPr/>
            <p:nvPr/>
          </p:nvSpPr>
          <p:spPr>
            <a:xfrm>
              <a:off x="3504" y="2640"/>
              <a:ext cx="336" cy="96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/>
            </a:p>
          </p:txBody>
        </p:sp>
      </p:grpSp>
      <p:sp>
        <p:nvSpPr>
          <p:cNvPr id="81986" name="Rectangle 66"/>
          <p:cNvSpPr/>
          <p:nvPr/>
        </p:nvSpPr>
        <p:spPr>
          <a:xfrm>
            <a:off x="1371600" y="4327525"/>
            <a:ext cx="5334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0</a:t>
            </a:r>
            <a:endParaRPr lang="en-US" altLang="zh-CN" sz="1800" b="1" dirty="0">
              <a:solidFill>
                <a:srgbClr val="FF6600"/>
              </a:solidFill>
            </a:endParaRPr>
          </a:p>
        </p:txBody>
      </p:sp>
      <p:sp>
        <p:nvSpPr>
          <p:cNvPr id="81987" name="Rectangle 67"/>
          <p:cNvSpPr/>
          <p:nvPr/>
        </p:nvSpPr>
        <p:spPr>
          <a:xfrm>
            <a:off x="1371600" y="4632325"/>
            <a:ext cx="5334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1</a:t>
            </a:r>
            <a:endParaRPr lang="en-US" altLang="zh-CN" sz="1800" b="1" dirty="0">
              <a:solidFill>
                <a:srgbClr val="FF6600"/>
              </a:solidFill>
            </a:endParaRPr>
          </a:p>
        </p:txBody>
      </p:sp>
      <p:sp>
        <p:nvSpPr>
          <p:cNvPr id="81988" name="Rectangle 68"/>
          <p:cNvSpPr/>
          <p:nvPr/>
        </p:nvSpPr>
        <p:spPr>
          <a:xfrm>
            <a:off x="1371600" y="4937125"/>
            <a:ext cx="5334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8</a:t>
            </a:r>
            <a:endParaRPr lang="en-US" altLang="zh-CN" sz="1800" b="1" dirty="0">
              <a:solidFill>
                <a:srgbClr val="FF6600"/>
              </a:solidFill>
            </a:endParaRPr>
          </a:p>
        </p:txBody>
      </p:sp>
      <p:sp>
        <p:nvSpPr>
          <p:cNvPr id="81989" name="Rectangle 69"/>
          <p:cNvSpPr/>
          <p:nvPr/>
        </p:nvSpPr>
        <p:spPr>
          <a:xfrm>
            <a:off x="4038600" y="4327525"/>
            <a:ext cx="5334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990099"/>
                </a:solidFill>
              </a:rPr>
              <a:t>5</a:t>
            </a:r>
            <a:r>
              <a:rPr lang="en-US" altLang="zh-CN" sz="1800" b="1" dirty="0"/>
              <a:t>12</a:t>
            </a:r>
            <a:endParaRPr lang="en-US" altLang="zh-CN" sz="1800" b="1" dirty="0">
              <a:solidFill>
                <a:srgbClr val="FF6600"/>
              </a:solidFill>
            </a:endParaRPr>
          </a:p>
        </p:txBody>
      </p:sp>
      <p:sp>
        <p:nvSpPr>
          <p:cNvPr id="81990" name="Rectangle 70"/>
          <p:cNvSpPr/>
          <p:nvPr/>
        </p:nvSpPr>
        <p:spPr>
          <a:xfrm>
            <a:off x="2438400" y="4327525"/>
            <a:ext cx="5334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990099"/>
                </a:solidFill>
              </a:rPr>
              <a:t>2</a:t>
            </a:r>
            <a:r>
              <a:rPr lang="en-US" altLang="zh-CN" sz="1800" b="1" dirty="0"/>
              <a:t>16</a:t>
            </a:r>
            <a:endParaRPr lang="en-US" altLang="zh-CN" sz="1800" b="1" dirty="0">
              <a:solidFill>
                <a:srgbClr val="FF6600"/>
              </a:solidFill>
            </a:endParaRPr>
          </a:p>
        </p:txBody>
      </p:sp>
      <p:sp>
        <p:nvSpPr>
          <p:cNvPr id="81991" name="Rectangle 71"/>
          <p:cNvSpPr/>
          <p:nvPr/>
        </p:nvSpPr>
        <p:spPr>
          <a:xfrm>
            <a:off x="1905000" y="4327525"/>
            <a:ext cx="5334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990099"/>
                </a:solidFill>
              </a:rPr>
              <a:t>1</a:t>
            </a:r>
            <a:r>
              <a:rPr lang="en-US" altLang="zh-CN" sz="1800" b="1" dirty="0"/>
              <a:t>25</a:t>
            </a:r>
            <a:endParaRPr lang="en-US" altLang="zh-CN" sz="1800" b="1" dirty="0">
              <a:solidFill>
                <a:srgbClr val="FF6600"/>
              </a:solidFill>
            </a:endParaRPr>
          </a:p>
        </p:txBody>
      </p:sp>
      <p:sp>
        <p:nvSpPr>
          <p:cNvPr id="81992" name="Rectangle 72"/>
          <p:cNvSpPr/>
          <p:nvPr/>
        </p:nvSpPr>
        <p:spPr>
          <a:xfrm>
            <a:off x="1371600" y="5241925"/>
            <a:ext cx="5334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27</a:t>
            </a:r>
            <a:endParaRPr lang="en-US" altLang="zh-CN" sz="1800" b="1" dirty="0">
              <a:solidFill>
                <a:srgbClr val="FF6600"/>
              </a:solidFill>
            </a:endParaRPr>
          </a:p>
        </p:txBody>
      </p:sp>
      <p:sp>
        <p:nvSpPr>
          <p:cNvPr id="81993" name="Rectangle 73"/>
          <p:cNvSpPr/>
          <p:nvPr/>
        </p:nvSpPr>
        <p:spPr>
          <a:xfrm>
            <a:off x="5105400" y="4327525"/>
            <a:ext cx="5334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990099"/>
                </a:solidFill>
              </a:rPr>
              <a:t>7</a:t>
            </a:r>
            <a:r>
              <a:rPr lang="en-US" altLang="zh-CN" sz="1800" b="1" dirty="0"/>
              <a:t>29</a:t>
            </a:r>
            <a:endParaRPr lang="en-US" altLang="zh-CN" sz="1800" b="1" dirty="0">
              <a:solidFill>
                <a:srgbClr val="FF6600"/>
              </a:solidFill>
            </a:endParaRPr>
          </a:p>
        </p:txBody>
      </p:sp>
      <p:sp>
        <p:nvSpPr>
          <p:cNvPr id="81994" name="Rectangle 74"/>
          <p:cNvSpPr/>
          <p:nvPr/>
        </p:nvSpPr>
        <p:spPr>
          <a:xfrm>
            <a:off x="2971800" y="4327525"/>
            <a:ext cx="5334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990099"/>
                </a:solidFill>
              </a:rPr>
              <a:t>3</a:t>
            </a:r>
            <a:r>
              <a:rPr lang="en-US" altLang="zh-CN" sz="1800" b="1" dirty="0"/>
              <a:t>43</a:t>
            </a:r>
            <a:endParaRPr lang="en-US" altLang="zh-CN" sz="1800" b="1" dirty="0">
              <a:solidFill>
                <a:srgbClr val="FF6600"/>
              </a:solidFill>
            </a:endParaRPr>
          </a:p>
        </p:txBody>
      </p:sp>
      <p:sp>
        <p:nvSpPr>
          <p:cNvPr id="81995" name="Rectangle 75"/>
          <p:cNvSpPr/>
          <p:nvPr/>
        </p:nvSpPr>
        <p:spPr>
          <a:xfrm>
            <a:off x="1371600" y="5546725"/>
            <a:ext cx="533400" cy="304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64</a:t>
            </a:r>
            <a:endParaRPr lang="en-US" altLang="zh-CN" sz="1800" b="1" dirty="0">
              <a:solidFill>
                <a:srgbClr val="FF6600"/>
              </a:solidFill>
            </a:endParaRPr>
          </a:p>
        </p:txBody>
      </p:sp>
      <p:sp>
        <p:nvSpPr>
          <p:cNvPr id="81996" name="Text Box 76"/>
          <p:cNvSpPr txBox="1"/>
          <p:nvPr/>
        </p:nvSpPr>
        <p:spPr>
          <a:xfrm>
            <a:off x="533400" y="6003925"/>
            <a:ext cx="6781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</a:rPr>
              <a:t>Output:</a:t>
            </a:r>
            <a:r>
              <a:rPr lang="en-US" altLang="zh-CN" sz="2000" b="1" dirty="0"/>
              <a:t>  0, 1, 8, 27, 64, 125, 216, 343, 512, 729</a:t>
            </a:r>
            <a:endParaRPr lang="en-US" altLang="zh-CN" sz="2000" b="1" dirty="0"/>
          </a:p>
        </p:txBody>
      </p:sp>
      <p:sp>
        <p:nvSpPr>
          <p:cNvPr id="81998" name="Oval 78"/>
          <p:cNvSpPr/>
          <p:nvPr/>
        </p:nvSpPr>
        <p:spPr>
          <a:xfrm>
            <a:off x="5486400" y="822325"/>
            <a:ext cx="3276600" cy="1295400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100000">
                <a:srgbClr val="B3E0B3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CCFFFF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What if we sort according to the </a:t>
            </a:r>
            <a:r>
              <a:rPr lang="en-US" altLang="zh-CN" sz="1800" b="1" dirty="0">
                <a:solidFill>
                  <a:srgbClr val="FF6600"/>
                </a:solidFill>
              </a:rPr>
              <a:t>M</a:t>
            </a:r>
            <a:r>
              <a:rPr lang="en-US" altLang="zh-CN" sz="1800" b="1" dirty="0"/>
              <a:t>ost </a:t>
            </a:r>
            <a:r>
              <a:rPr lang="en-US" altLang="zh-CN" sz="1800" b="1" dirty="0">
                <a:solidFill>
                  <a:srgbClr val="FF6600"/>
                </a:solidFill>
              </a:rPr>
              <a:t>S</a:t>
            </a:r>
            <a:r>
              <a:rPr lang="en-US" altLang="zh-CN" sz="1800" b="1" dirty="0"/>
              <a:t>ignificant </a:t>
            </a:r>
            <a:r>
              <a:rPr lang="en-US" altLang="zh-CN" sz="1800" b="1" dirty="0">
                <a:solidFill>
                  <a:srgbClr val="FF6600"/>
                </a:solidFill>
              </a:rPr>
              <a:t>D</a:t>
            </a:r>
            <a:r>
              <a:rPr lang="en-US" altLang="zh-CN" sz="1800" b="1" dirty="0"/>
              <a:t>igit first?</a:t>
            </a:r>
            <a:endParaRPr lang="en-US" altLang="zh-CN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81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81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81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81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81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81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8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81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8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81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8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500"/>
                                        <p:tgtEl>
                                          <p:spTgt spid="8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" dur="500"/>
                                        <p:tgtEl>
                                          <p:spTgt spid="8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" dur="500"/>
                                        <p:tgtEl>
                                          <p:spTgt spid="8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2" dur="500"/>
                                        <p:tgtEl>
                                          <p:spTgt spid="8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7" dur="500"/>
                                        <p:tgtEl>
                                          <p:spTgt spid="8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2" dur="500"/>
                                        <p:tgtEl>
                                          <p:spTgt spid="8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7" dur="500"/>
                                        <p:tgtEl>
                                          <p:spTgt spid="8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2" dur="500"/>
                                        <p:tgtEl>
                                          <p:spTgt spid="8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7" dur="500"/>
                                        <p:tgtEl>
                                          <p:spTgt spid="8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8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7" dur="500"/>
                                        <p:tgtEl>
                                          <p:spTgt spid="8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4" grpId="0"/>
      <p:bldP spid="81926" grpId="0"/>
      <p:bldP spid="81939" grpId="0"/>
      <p:bldP spid="81964" grpId="0" animBg="1"/>
      <p:bldP spid="81965" grpId="0" animBg="1"/>
      <p:bldP spid="81966" grpId="0" animBg="1"/>
      <p:bldP spid="81967" grpId="0" animBg="1"/>
      <p:bldP spid="81968" grpId="0" animBg="1"/>
      <p:bldP spid="81969" grpId="0" animBg="1"/>
      <p:bldP spid="81970" grpId="0" animBg="1"/>
      <p:bldP spid="81971" grpId="0" animBg="1"/>
      <p:bldP spid="81972" grpId="0" animBg="1"/>
      <p:bldP spid="81973" grpId="0" animBg="1"/>
      <p:bldP spid="81986" grpId="0" animBg="1"/>
      <p:bldP spid="81987" grpId="0" animBg="1"/>
      <p:bldP spid="81988" grpId="0" animBg="1"/>
      <p:bldP spid="81989" grpId="0" animBg="1"/>
      <p:bldP spid="81990" grpId="0" animBg="1"/>
      <p:bldP spid="81991" grpId="0" animBg="1"/>
      <p:bldP spid="81992" grpId="0" animBg="1"/>
      <p:bldP spid="81993" grpId="0" animBg="1"/>
      <p:bldP spid="81994" grpId="0" animBg="1"/>
      <p:bldP spid="81995" grpId="0" animBg="1"/>
      <p:bldP spid="81996" grpId="0"/>
      <p:bldP spid="8199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7890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371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Radix Sort</a:t>
            </a:r>
            <a:endParaRPr lang="en-US" altLang="zh-CN" dirty="0"/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45720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Running time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>
                <a:solidFill>
                  <a:srgbClr val="008000"/>
                </a:solidFill>
              </a:rPr>
              <a:t>K </a:t>
            </a:r>
            <a:r>
              <a:rPr lang="en-US" altLang="zh-CN" sz="2400" dirty="0"/>
              <a:t>passes over the numbers (i.e. </a:t>
            </a:r>
            <a:r>
              <a:rPr lang="en-US" altLang="zh-CN" sz="2400" dirty="0">
                <a:solidFill>
                  <a:srgbClr val="008000"/>
                </a:solidFill>
              </a:rPr>
              <a:t>k</a:t>
            </a:r>
            <a:r>
              <a:rPr lang="en-US" altLang="zh-CN" sz="2400" dirty="0"/>
              <a:t> bucket sorts, with range being </a:t>
            </a:r>
            <a:r>
              <a:rPr lang="en-US" altLang="zh-CN" sz="2400" dirty="0">
                <a:solidFill>
                  <a:srgbClr val="008000"/>
                </a:solidFill>
              </a:rPr>
              <a:t>0..r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each pass takes </a:t>
            </a:r>
            <a:r>
              <a:rPr lang="en-US" altLang="zh-CN" sz="2400" dirty="0">
                <a:solidFill>
                  <a:srgbClr val="008000"/>
                </a:solidFill>
              </a:rPr>
              <a:t>O(N+r)</a:t>
            </a:r>
            <a:endParaRPr lang="en-US" altLang="zh-CN" sz="2400" dirty="0">
              <a:solidFill>
                <a:srgbClr val="008000"/>
              </a:solidFill>
            </a:endParaRPr>
          </a:p>
          <a:p>
            <a:pPr lvl="1" eaLnBrk="1" hangingPunct="1"/>
            <a:r>
              <a:rPr lang="en-US" altLang="zh-CN" sz="2400" dirty="0"/>
              <a:t>total: </a:t>
            </a:r>
            <a:r>
              <a:rPr lang="en-US" altLang="zh-CN" sz="2400" dirty="0">
                <a:solidFill>
                  <a:srgbClr val="008000"/>
                </a:solidFill>
              </a:rPr>
              <a:t>O(Nk+rk)</a:t>
            </a:r>
            <a:endParaRPr lang="en-US" altLang="zh-CN" sz="2400" dirty="0">
              <a:solidFill>
                <a:srgbClr val="008000"/>
              </a:solidFill>
            </a:endParaRPr>
          </a:p>
          <a:p>
            <a:pPr lvl="1" eaLnBrk="1" hangingPunct="1"/>
            <a:r>
              <a:rPr lang="en-US" altLang="zh-CN" sz="2400" dirty="0"/>
              <a:t>k and r are constants: </a:t>
            </a:r>
            <a:r>
              <a:rPr lang="en-US" altLang="zh-CN" sz="2400" dirty="0">
                <a:solidFill>
                  <a:srgbClr val="008000"/>
                </a:solidFill>
              </a:rPr>
              <a:t>O(N)</a:t>
            </a:r>
            <a:endParaRPr lang="en-US" altLang="zh-CN" sz="2400" dirty="0">
              <a:solidFill>
                <a:srgbClr val="008000"/>
              </a:solidFill>
            </a:endParaRPr>
          </a:p>
          <a:p>
            <a:pPr lvl="1" eaLnBrk="1" hangingPunct="1">
              <a:buNone/>
            </a:pPr>
            <a:endParaRPr lang="en-US" altLang="zh-CN" sz="2400" dirty="0">
              <a:solidFill>
                <a:srgbClr val="008000"/>
              </a:solidFill>
            </a:endParaRPr>
          </a:p>
          <a:p>
            <a:pPr eaLnBrk="1" hangingPunct="1"/>
            <a:r>
              <a:rPr lang="en-US" altLang="zh-CN" dirty="0"/>
              <a:t>Increasing the base </a:t>
            </a:r>
            <a:r>
              <a:rPr lang="en-US" altLang="zh-CN" dirty="0">
                <a:solidFill>
                  <a:srgbClr val="008000"/>
                </a:solidFill>
              </a:rPr>
              <a:t>r</a:t>
            </a:r>
            <a:r>
              <a:rPr lang="en-US" altLang="zh-CN" dirty="0"/>
              <a:t> decreases the </a:t>
            </a:r>
            <a:r>
              <a:rPr lang="en-US" altLang="zh-CN" dirty="0">
                <a:solidFill>
                  <a:srgbClr val="008000"/>
                </a:solidFill>
              </a:rPr>
              <a:t>number of passes k</a:t>
            </a:r>
            <a:endParaRPr lang="en-US" altLang="zh-CN" dirty="0">
              <a:solidFill>
                <a:srgbClr val="008000"/>
              </a:solidFill>
            </a:endParaRPr>
          </a:p>
          <a:p>
            <a:pPr eaLnBrk="1" hangingPunct="1"/>
            <a:endParaRPr lang="en-US" altLang="zh-CN" dirty="0">
              <a:solidFill>
                <a:srgbClr val="008000"/>
              </a:solidFill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8914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</a:t>
            </a:r>
            <a:endParaRPr lang="en-US" altLang="zh-CN" dirty="0"/>
          </a:p>
        </p:txBody>
      </p:sp>
      <p:sp>
        <p:nvSpPr>
          <p:cNvPr id="38915" name="Rectangle 3"/>
          <p:cNvSpPr>
            <a:spLocks noGrp="1"/>
          </p:cNvSpPr>
          <p:nvPr>
            <p:ph idx="1"/>
          </p:nvPr>
        </p:nvSpPr>
        <p:spPr>
          <a:xfrm>
            <a:off x="1041400" y="1890713"/>
            <a:ext cx="7269163" cy="430212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400" dirty="0"/>
              <a:t>Sorting a sequence of 4-bit binary integers</a:t>
            </a:r>
            <a:endParaRPr lang="en-US" altLang="zh-CN" sz="2400" dirty="0"/>
          </a:p>
        </p:txBody>
      </p:sp>
      <p:grpSp>
        <p:nvGrpSpPr>
          <p:cNvPr id="38916" name="Group 4"/>
          <p:cNvGrpSpPr/>
          <p:nvPr/>
        </p:nvGrpSpPr>
        <p:grpSpPr>
          <a:xfrm>
            <a:off x="1066800" y="2438400"/>
            <a:ext cx="685800" cy="3429000"/>
            <a:chOff x="816" y="1488"/>
            <a:chExt cx="432" cy="2160"/>
          </a:xfrm>
        </p:grpSpPr>
        <p:cxnSp>
          <p:nvCxnSpPr>
            <p:cNvPr id="38949" name="AutoShape 5"/>
            <p:cNvCxnSpPr>
              <a:stCxn id="38950" idx="2"/>
              <a:endCxn id="38954" idx="0"/>
            </p:cNvCxnSpPr>
            <p:nvPr/>
          </p:nvCxnSpPr>
          <p:spPr>
            <a:xfrm>
              <a:off x="1032" y="1782"/>
              <a:ext cx="0" cy="1572"/>
            </a:xfrm>
            <a:prstGeom prst="straightConnector1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8950" name="AutoShape 6"/>
            <p:cNvSpPr/>
            <p:nvPr/>
          </p:nvSpPr>
          <p:spPr>
            <a:xfrm>
              <a:off x="816" y="1488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1001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8951" name="AutoShape 7"/>
            <p:cNvSpPr/>
            <p:nvPr/>
          </p:nvSpPr>
          <p:spPr>
            <a:xfrm>
              <a:off x="816" y="1956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0010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8952" name="AutoShape 8"/>
            <p:cNvSpPr/>
            <p:nvPr/>
          </p:nvSpPr>
          <p:spPr>
            <a:xfrm>
              <a:off x="816" y="2424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1101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8953" name="AutoShape 9"/>
            <p:cNvSpPr/>
            <p:nvPr/>
          </p:nvSpPr>
          <p:spPr>
            <a:xfrm>
              <a:off x="816" y="28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0001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8954" name="AutoShape 10"/>
            <p:cNvSpPr/>
            <p:nvPr/>
          </p:nvSpPr>
          <p:spPr>
            <a:xfrm>
              <a:off x="816" y="336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1110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1"/>
          <p:cNvGrpSpPr/>
          <p:nvPr/>
        </p:nvGrpSpPr>
        <p:grpSpPr>
          <a:xfrm>
            <a:off x="2743200" y="2438400"/>
            <a:ext cx="685800" cy="3429000"/>
            <a:chOff x="1728" y="1536"/>
            <a:chExt cx="432" cy="2160"/>
          </a:xfrm>
        </p:grpSpPr>
        <p:cxnSp>
          <p:nvCxnSpPr>
            <p:cNvPr id="38943" name="AutoShape 12"/>
            <p:cNvCxnSpPr>
              <a:stCxn id="38944" idx="2"/>
              <a:endCxn id="38948" idx="0"/>
            </p:cNvCxnSpPr>
            <p:nvPr/>
          </p:nvCxnSpPr>
          <p:spPr>
            <a:xfrm>
              <a:off x="1944" y="1830"/>
              <a:ext cx="0" cy="1572"/>
            </a:xfrm>
            <a:prstGeom prst="straightConnector1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8944" name="AutoShape 13"/>
            <p:cNvSpPr/>
            <p:nvPr/>
          </p:nvSpPr>
          <p:spPr>
            <a:xfrm>
              <a:off x="1728" y="1536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001</a:t>
              </a: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45" name="AutoShape 14"/>
            <p:cNvSpPr/>
            <p:nvPr/>
          </p:nvSpPr>
          <p:spPr>
            <a:xfrm>
              <a:off x="1728" y="2004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111</a:t>
              </a: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46" name="AutoShape 15"/>
            <p:cNvSpPr/>
            <p:nvPr/>
          </p:nvSpPr>
          <p:spPr>
            <a:xfrm>
              <a:off x="1728" y="247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100</a:t>
              </a: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47" name="AutoShape 16"/>
            <p:cNvSpPr/>
            <p:nvPr/>
          </p:nvSpPr>
          <p:spPr>
            <a:xfrm>
              <a:off x="1728" y="294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110</a:t>
              </a: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48" name="AutoShape 17"/>
            <p:cNvSpPr/>
            <p:nvPr/>
          </p:nvSpPr>
          <p:spPr>
            <a:xfrm>
              <a:off x="1728" y="3408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000</a:t>
              </a: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8"/>
          <p:cNvGrpSpPr/>
          <p:nvPr/>
        </p:nvGrpSpPr>
        <p:grpSpPr>
          <a:xfrm>
            <a:off x="4419600" y="2438400"/>
            <a:ext cx="685800" cy="3429000"/>
            <a:chOff x="816" y="1488"/>
            <a:chExt cx="432" cy="2160"/>
          </a:xfrm>
        </p:grpSpPr>
        <p:cxnSp>
          <p:nvCxnSpPr>
            <p:cNvPr id="38937" name="AutoShape 19"/>
            <p:cNvCxnSpPr>
              <a:stCxn id="38938" idx="2"/>
              <a:endCxn id="38942" idx="0"/>
            </p:cNvCxnSpPr>
            <p:nvPr/>
          </p:nvCxnSpPr>
          <p:spPr>
            <a:xfrm>
              <a:off x="1032" y="1782"/>
              <a:ext cx="0" cy="1572"/>
            </a:xfrm>
            <a:prstGeom prst="straightConnector1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8938" name="AutoShape 20"/>
            <p:cNvSpPr/>
            <p:nvPr/>
          </p:nvSpPr>
          <p:spPr>
            <a:xfrm>
              <a:off x="816" y="1488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10</a:t>
              </a: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1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8939" name="AutoShape 21"/>
            <p:cNvSpPr/>
            <p:nvPr/>
          </p:nvSpPr>
          <p:spPr>
            <a:xfrm>
              <a:off x="816" y="1956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11</a:t>
              </a: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8940" name="AutoShape 22"/>
            <p:cNvSpPr/>
            <p:nvPr/>
          </p:nvSpPr>
          <p:spPr>
            <a:xfrm>
              <a:off x="816" y="2424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00</a:t>
              </a: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8941" name="AutoShape 23"/>
            <p:cNvSpPr/>
            <p:nvPr/>
          </p:nvSpPr>
          <p:spPr>
            <a:xfrm>
              <a:off x="816" y="28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00</a:t>
              </a: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8942" name="AutoShape 24"/>
            <p:cNvSpPr/>
            <p:nvPr/>
          </p:nvSpPr>
          <p:spPr>
            <a:xfrm>
              <a:off x="816" y="336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11</a:t>
              </a: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25"/>
          <p:cNvGrpSpPr/>
          <p:nvPr/>
        </p:nvGrpSpPr>
        <p:grpSpPr>
          <a:xfrm>
            <a:off x="6096000" y="2438400"/>
            <a:ext cx="685800" cy="3429000"/>
            <a:chOff x="816" y="1488"/>
            <a:chExt cx="432" cy="2160"/>
          </a:xfrm>
        </p:grpSpPr>
        <p:cxnSp>
          <p:nvCxnSpPr>
            <p:cNvPr id="38931" name="AutoShape 26"/>
            <p:cNvCxnSpPr>
              <a:stCxn id="38932" idx="2"/>
              <a:endCxn id="38936" idx="0"/>
            </p:cNvCxnSpPr>
            <p:nvPr/>
          </p:nvCxnSpPr>
          <p:spPr>
            <a:xfrm>
              <a:off x="1032" y="1782"/>
              <a:ext cx="0" cy="1572"/>
            </a:xfrm>
            <a:prstGeom prst="straightConnector1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8932" name="AutoShape 27"/>
            <p:cNvSpPr/>
            <p:nvPr/>
          </p:nvSpPr>
          <p:spPr>
            <a:xfrm>
              <a:off x="816" y="1488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01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8933" name="AutoShape 28"/>
            <p:cNvSpPr/>
            <p:nvPr/>
          </p:nvSpPr>
          <p:spPr>
            <a:xfrm>
              <a:off x="816" y="1956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01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8934" name="AutoShape 29"/>
            <p:cNvSpPr/>
            <p:nvPr/>
          </p:nvSpPr>
          <p:spPr>
            <a:xfrm>
              <a:off x="816" y="2424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10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8935" name="AutoShape 30"/>
            <p:cNvSpPr/>
            <p:nvPr/>
          </p:nvSpPr>
          <p:spPr>
            <a:xfrm>
              <a:off x="816" y="28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01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8936" name="AutoShape 31"/>
            <p:cNvSpPr/>
            <p:nvPr/>
          </p:nvSpPr>
          <p:spPr>
            <a:xfrm>
              <a:off x="816" y="336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10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32"/>
          <p:cNvGrpSpPr/>
          <p:nvPr/>
        </p:nvGrpSpPr>
        <p:grpSpPr>
          <a:xfrm>
            <a:off x="7772400" y="2438400"/>
            <a:ext cx="685800" cy="3429000"/>
            <a:chOff x="816" y="1488"/>
            <a:chExt cx="432" cy="2160"/>
          </a:xfrm>
        </p:grpSpPr>
        <p:cxnSp>
          <p:nvCxnSpPr>
            <p:cNvPr id="38925" name="AutoShape 33"/>
            <p:cNvCxnSpPr>
              <a:stCxn id="38926" idx="2"/>
              <a:endCxn id="38930" idx="0"/>
            </p:cNvCxnSpPr>
            <p:nvPr/>
          </p:nvCxnSpPr>
          <p:spPr>
            <a:xfrm>
              <a:off x="1032" y="1782"/>
              <a:ext cx="0" cy="1572"/>
            </a:xfrm>
            <a:prstGeom prst="straightConnector1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8926" name="AutoShape 34"/>
            <p:cNvSpPr/>
            <p:nvPr/>
          </p:nvSpPr>
          <p:spPr>
            <a:xfrm>
              <a:off x="816" y="1488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001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8927" name="AutoShape 35"/>
            <p:cNvSpPr/>
            <p:nvPr/>
          </p:nvSpPr>
          <p:spPr>
            <a:xfrm>
              <a:off x="816" y="1956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010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8928" name="AutoShape 36"/>
            <p:cNvSpPr/>
            <p:nvPr/>
          </p:nvSpPr>
          <p:spPr>
            <a:xfrm>
              <a:off x="816" y="2424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001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8929" name="AutoShape 37"/>
            <p:cNvSpPr/>
            <p:nvPr/>
          </p:nvSpPr>
          <p:spPr>
            <a:xfrm>
              <a:off x="816" y="28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101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8930" name="AutoShape 38"/>
            <p:cNvSpPr/>
            <p:nvPr/>
          </p:nvSpPr>
          <p:spPr>
            <a:xfrm>
              <a:off x="816" y="336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rIns="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110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314855" name="AutoShape 39"/>
          <p:cNvSpPr/>
          <p:nvPr/>
        </p:nvSpPr>
        <p:spPr>
          <a:xfrm rot="-5400000">
            <a:off x="2057400" y="392430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C0C0C0"/>
          </a:solidFill>
          <a:ln w="1905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lIns="1828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1314856" name="AutoShape 40"/>
          <p:cNvSpPr/>
          <p:nvPr/>
        </p:nvSpPr>
        <p:spPr>
          <a:xfrm rot="-5400000">
            <a:off x="3733800" y="392430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C0C0C0"/>
          </a:solidFill>
          <a:ln w="1905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lIns="1828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1314857" name="AutoShape 41"/>
          <p:cNvSpPr/>
          <p:nvPr/>
        </p:nvSpPr>
        <p:spPr>
          <a:xfrm rot="-5400000">
            <a:off x="5410200" y="392430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C0C0C0"/>
          </a:solidFill>
          <a:ln w="1905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lIns="1828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1314858" name="AutoShape 42"/>
          <p:cNvSpPr/>
          <p:nvPr/>
        </p:nvSpPr>
        <p:spPr>
          <a:xfrm rot="-5400000">
            <a:off x="7086600" y="392430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C0C0C0"/>
          </a:solidFill>
          <a:ln w="1905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lIns="1828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4855" grpId="0" animBg="1"/>
      <p:bldP spid="1314856" grpId="0" animBg="1"/>
      <p:bldP spid="1314857" grpId="0" animBg="1"/>
      <p:bldP spid="131485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316866" name="Text Box 2"/>
          <p:cNvSpPr txBox="1"/>
          <p:nvPr/>
        </p:nvSpPr>
        <p:spPr>
          <a:xfrm>
            <a:off x="457200" y="838200"/>
            <a:ext cx="8153400" cy="463550"/>
          </a:xfrm>
          <a:prstGeom prst="rect">
            <a:avLst/>
          </a:prstGeom>
          <a:noFill/>
          <a:ln w="25400">
            <a:noFill/>
          </a:ln>
        </p:spPr>
        <p:txBody>
          <a:bodyPr lIns="0" tIns="46800" rIns="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     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400" b="1" i="1" baseline="-25000" dirty="0">
                <a:solidFill>
                  <a:schemeClr val="hlink"/>
                </a:solidFill>
                <a:latin typeface="Times New Roman" panose="02020603050405020304" pitchFamily="18" charset="0"/>
              </a:rPr>
              <a:t>i </a:t>
            </a:r>
            <a:r>
              <a:rPr lang="en-US" altLang="zh-CN" sz="2400" b="1" i="1" baseline="30000" dirty="0">
                <a:solidFill>
                  <a:schemeClr val="hlink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</a:rPr>
              <a:t> : </a:t>
            </a:r>
            <a:r>
              <a:rPr lang="en-US" altLang="zh-CN" sz="2400" b="1" dirty="0"/>
              <a:t>the </a:t>
            </a:r>
            <a:r>
              <a:rPr lang="en-US" altLang="zh-CN" sz="2400" b="1" i="1" dirty="0"/>
              <a:t>j+1</a:t>
            </a:r>
            <a:r>
              <a:rPr lang="en-US" altLang="zh-CN" sz="2400" b="1" dirty="0"/>
              <a:t>-th key of record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</a:t>
            </a:r>
            <a:endParaRPr lang="en-US" altLang="zh-CN" sz="2400" b="1" i="1" dirty="0">
              <a:latin typeface="Times New Roman" panose="02020603050405020304" pitchFamily="18" charset="0"/>
            </a:endParaRPr>
          </a:p>
        </p:txBody>
      </p:sp>
      <p:sp>
        <p:nvSpPr>
          <p:cNvPr id="1316867" name="Text Box 3"/>
          <p:cNvSpPr txBox="1"/>
          <p:nvPr/>
        </p:nvSpPr>
        <p:spPr>
          <a:xfrm>
            <a:off x="457200" y="1295400"/>
            <a:ext cx="8153400" cy="457200"/>
          </a:xfrm>
          <a:prstGeom prst="rect">
            <a:avLst/>
          </a:prstGeom>
          <a:noFill/>
          <a:ln w="25400">
            <a:noFill/>
          </a:ln>
        </p:spPr>
        <p:txBody>
          <a:bodyPr lIns="0" tIns="46800" rIns="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     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400" b="1" i="1" baseline="-25000" dirty="0">
                <a:solidFill>
                  <a:schemeClr val="hlink"/>
                </a:solidFill>
                <a:latin typeface="Times New Roman" panose="02020603050405020304" pitchFamily="18" charset="0"/>
              </a:rPr>
              <a:t>i </a:t>
            </a:r>
            <a:r>
              <a:rPr lang="en-US" altLang="zh-CN" sz="2400" b="1" baseline="30000" dirty="0">
                <a:solidFill>
                  <a:schemeClr val="hlink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</a:rPr>
              <a:t> : </a:t>
            </a:r>
            <a:r>
              <a:rPr lang="en-US" altLang="zh-CN" sz="2400" b="1" dirty="0"/>
              <a:t>the </a:t>
            </a:r>
            <a:r>
              <a:rPr lang="en-US" altLang="zh-CN" sz="2400" b="1" dirty="0">
                <a:solidFill>
                  <a:schemeClr val="hlink"/>
                </a:solidFill>
              </a:rPr>
              <a:t>most</a:t>
            </a:r>
            <a:r>
              <a:rPr lang="en-US" altLang="zh-CN" sz="2400" b="1" dirty="0"/>
              <a:t> significant key of record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</a:t>
            </a:r>
            <a:endParaRPr lang="en-US" altLang="zh-CN" sz="2400" b="1" i="1" dirty="0">
              <a:latin typeface="Times New Roman" panose="02020603050405020304" pitchFamily="18" charset="0"/>
            </a:endParaRPr>
          </a:p>
        </p:txBody>
      </p:sp>
      <p:sp>
        <p:nvSpPr>
          <p:cNvPr id="1316868" name="Text Box 4"/>
          <p:cNvSpPr txBox="1"/>
          <p:nvPr/>
        </p:nvSpPr>
        <p:spPr>
          <a:xfrm>
            <a:off x="533400" y="304800"/>
            <a:ext cx="8153400" cy="457200"/>
          </a:xfrm>
          <a:prstGeom prst="rect">
            <a:avLst/>
          </a:prstGeom>
          <a:noFill/>
          <a:ln w="25400">
            <a:noFill/>
          </a:ln>
        </p:spPr>
        <p:txBody>
          <a:bodyPr lIns="0" tIns="46800" rIns="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ym typeface="Wingdings" panose="05000000000000000000" pitchFamily="2" charset="2"/>
              </a:rPr>
              <a:t>Suppose that the</a:t>
            </a:r>
            <a:r>
              <a:rPr lang="en-US" altLang="zh-CN" sz="2400" b="1" dirty="0"/>
              <a:t> record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 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/>
              <a:t>has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 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/>
              <a:t>keys.</a:t>
            </a:r>
            <a:endParaRPr lang="en-US" altLang="zh-CN" sz="2400" b="1" i="1" dirty="0"/>
          </a:p>
        </p:txBody>
      </p:sp>
      <p:sp>
        <p:nvSpPr>
          <p:cNvPr id="1316869" name="Text Box 5"/>
          <p:cNvSpPr txBox="1"/>
          <p:nvPr/>
        </p:nvSpPr>
        <p:spPr>
          <a:xfrm>
            <a:off x="457200" y="1752600"/>
            <a:ext cx="8153400" cy="457200"/>
          </a:xfrm>
          <a:prstGeom prst="rect">
            <a:avLst/>
          </a:prstGeom>
          <a:noFill/>
          <a:ln w="25400">
            <a:noFill/>
          </a:ln>
        </p:spPr>
        <p:txBody>
          <a:bodyPr lIns="0" tIns="46800" rIns="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     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400" b="1" i="1" baseline="-25000" dirty="0">
                <a:solidFill>
                  <a:schemeClr val="hlink"/>
                </a:solidFill>
                <a:latin typeface="Times New Roman" panose="02020603050405020304" pitchFamily="18" charset="0"/>
              </a:rPr>
              <a:t>i </a:t>
            </a:r>
            <a:r>
              <a:rPr lang="en-US" altLang="zh-CN" sz="2400" b="1" i="1" baseline="30000" dirty="0">
                <a:solidFill>
                  <a:schemeClr val="hlink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baseline="30000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/>
              <a:t>: the </a:t>
            </a:r>
            <a:r>
              <a:rPr lang="en-US" altLang="zh-CN" sz="2400" b="1" dirty="0">
                <a:solidFill>
                  <a:schemeClr val="hlink"/>
                </a:solidFill>
              </a:rPr>
              <a:t>least</a:t>
            </a:r>
            <a:r>
              <a:rPr lang="en-US" altLang="zh-CN" sz="2400" b="1" dirty="0"/>
              <a:t> significant key of record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</a:t>
            </a:r>
            <a:endParaRPr lang="en-US" altLang="zh-CN" sz="2400" b="1" i="1" dirty="0">
              <a:latin typeface="Times New Roman" panose="02020603050405020304" pitchFamily="18" charset="0"/>
            </a:endParaRPr>
          </a:p>
        </p:txBody>
      </p:sp>
      <p:sp>
        <p:nvSpPr>
          <p:cNvPr id="1316871" name="Text Box 7"/>
          <p:cNvSpPr txBox="1"/>
          <p:nvPr/>
        </p:nvSpPr>
        <p:spPr>
          <a:xfrm>
            <a:off x="228600" y="2209800"/>
            <a:ext cx="8153400" cy="822325"/>
          </a:xfrm>
          <a:prstGeom prst="rect">
            <a:avLst/>
          </a:prstGeom>
          <a:noFill/>
          <a:ln w="25400">
            <a:noFill/>
          </a:ln>
        </p:spPr>
        <p:txBody>
          <a:bodyPr lIns="0" tIns="46800" rIns="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85775" lvl="0" indent="-485775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    A list of records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</a:rPr>
              <a:t>, ...,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/>
              <a:t>is </a:t>
            </a:r>
            <a:r>
              <a:rPr lang="en-US" altLang="zh-CN" sz="2400" b="1" dirty="0">
                <a:solidFill>
                  <a:schemeClr val="hlink"/>
                </a:solidFill>
              </a:rPr>
              <a:t>lexically sorted</a:t>
            </a:r>
            <a:r>
              <a:rPr lang="en-US" altLang="zh-CN" sz="2400" b="1" dirty="0"/>
              <a:t>  with respect to the keys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K 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K 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, ...,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K </a:t>
            </a:r>
            <a:r>
              <a:rPr lang="en-US" altLang="zh-CN" sz="2400" b="1" i="1" baseline="30000" dirty="0">
                <a:latin typeface="Times New Roman" panose="02020603050405020304" pitchFamily="18" charset="0"/>
              </a:rPr>
              <a:t>r</a:t>
            </a:r>
            <a:r>
              <a:rPr lang="en-US" altLang="zh-CN" sz="24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1 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/>
              <a:t>iff</a:t>
            </a:r>
            <a:endParaRPr lang="en-US" altLang="zh-CN" sz="2400" b="1" dirty="0"/>
          </a:p>
        </p:txBody>
      </p:sp>
      <p:graphicFrame>
        <p:nvGraphicFramePr>
          <p:cNvPr id="1316872" name="Object 8"/>
          <p:cNvGraphicFramePr>
            <a:graphicFrameLocks noChangeAspect="1"/>
          </p:cNvGraphicFramePr>
          <p:nvPr/>
        </p:nvGraphicFramePr>
        <p:xfrm>
          <a:off x="838200" y="3048000"/>
          <a:ext cx="67818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416300" imgH="241300" progId="Equation.3">
                  <p:embed/>
                </p:oleObj>
              </mc:Choice>
              <mc:Fallback>
                <p:oleObj name="" r:id="rId1" imgW="3416300" imgH="2413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8200" y="3048000"/>
                        <a:ext cx="6781800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6873" name="Text Box 9"/>
          <p:cNvSpPr txBox="1"/>
          <p:nvPr/>
        </p:nvSpPr>
        <p:spPr>
          <a:xfrm>
            <a:off x="228600" y="3505200"/>
            <a:ext cx="8153400" cy="822325"/>
          </a:xfrm>
          <a:prstGeom prst="rect">
            <a:avLst/>
          </a:prstGeom>
          <a:noFill/>
          <a:ln w="25400">
            <a:noFill/>
          </a:ln>
        </p:spPr>
        <p:txBody>
          <a:bodyPr lIns="0" tIns="46800" rIns="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485775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That is,</a:t>
            </a: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K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 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</a:rPr>
              <a:t> 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K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+1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</a:rPr>
              <a:t>,  ... ,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K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 </a:t>
            </a:r>
            <a:r>
              <a:rPr lang="en-US" altLang="zh-CN" sz="2400" b="1" i="1" baseline="30000" dirty="0">
                <a:latin typeface="Times New Roman" panose="02020603050405020304" pitchFamily="18" charset="0"/>
              </a:rPr>
              <a:t>l</a:t>
            </a:r>
            <a:r>
              <a:rPr lang="en-US" altLang="zh-CN" sz="2400" b="1" dirty="0">
                <a:latin typeface="Times New Roman" panose="02020603050405020304" pitchFamily="18" charset="0"/>
              </a:rPr>
              <a:t> 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K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+1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baseline="30000" dirty="0">
                <a:latin typeface="Times New Roman" panose="02020603050405020304" pitchFamily="18" charset="0"/>
              </a:rPr>
              <a:t>l</a:t>
            </a:r>
            <a:r>
              <a:rPr lang="en-US" altLang="zh-CN" sz="2400" b="1" dirty="0">
                <a:latin typeface="Times New Roman" panose="02020603050405020304" pitchFamily="18" charset="0"/>
              </a:rPr>
              <a:t>,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K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 </a:t>
            </a:r>
            <a:r>
              <a:rPr lang="en-US" altLang="zh-CN" sz="2400" b="1" i="1" baseline="30000" dirty="0">
                <a:latin typeface="Times New Roman" panose="02020603050405020304" pitchFamily="18" charset="0"/>
              </a:rPr>
              <a:t>l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+1</a:t>
            </a:r>
            <a:r>
              <a:rPr lang="en-US" altLang="zh-CN" sz="2400" b="1" dirty="0">
                <a:latin typeface="Times New Roman" panose="02020603050405020304" pitchFamily="18" charset="0"/>
              </a:rPr>
              <a:t> &lt;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K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+1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baseline="30000" dirty="0">
                <a:latin typeface="Times New Roman" panose="02020603050405020304" pitchFamily="18" charset="0"/>
              </a:rPr>
              <a:t>l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+1   </a:t>
            </a:r>
            <a:r>
              <a:rPr lang="en-US" altLang="zh-CN" sz="2400" b="1" dirty="0"/>
              <a:t>for    some</a:t>
            </a: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400" b="1" dirty="0">
                <a:latin typeface="Times New Roman" panose="02020603050405020304" pitchFamily="18" charset="0"/>
              </a:rPr>
              <a:t> &lt;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 1.</a:t>
            </a:r>
            <a:endParaRPr lang="en-US" altLang="zh-CN" sz="2400" b="1" i="1" baseline="30000" dirty="0">
              <a:latin typeface="Times New Roman" panose="02020603050405020304" pitchFamily="18" charset="0"/>
            </a:endParaRPr>
          </a:p>
        </p:txBody>
      </p:sp>
      <p:sp>
        <p:nvSpPr>
          <p:cNvPr id="1316874" name="Text Box 10"/>
          <p:cNvSpPr txBox="1"/>
          <p:nvPr/>
        </p:nvSpPr>
        <p:spPr>
          <a:xfrm>
            <a:off x="304800" y="4419600"/>
            <a:ext cx="792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ea typeface="MS Hei" pitchFamily="49" charset="-122"/>
              </a:rPr>
              <a:t>〖</a:t>
            </a:r>
            <a:r>
              <a:rPr lang="en-US" altLang="zh-CN" sz="2400" b="1" dirty="0"/>
              <a:t>Example</a:t>
            </a:r>
            <a:r>
              <a:rPr lang="en-US" altLang="zh-CN" sz="2400" b="1" dirty="0">
                <a:ea typeface="MS Hei" pitchFamily="49" charset="-122"/>
              </a:rPr>
              <a:t>〗</a:t>
            </a:r>
            <a:r>
              <a:rPr lang="en-US" altLang="zh-CN" sz="2400" b="1" dirty="0"/>
              <a:t>  A deck of cards sorted on 2 keys</a:t>
            </a:r>
            <a:endParaRPr lang="en-US" altLang="zh-CN" sz="2400" b="1" dirty="0"/>
          </a:p>
        </p:txBody>
      </p:sp>
      <p:grpSp>
        <p:nvGrpSpPr>
          <p:cNvPr id="2" name="Group 11"/>
          <p:cNvGrpSpPr/>
          <p:nvPr/>
        </p:nvGrpSpPr>
        <p:grpSpPr>
          <a:xfrm>
            <a:off x="609600" y="5334000"/>
            <a:ext cx="5334000" cy="457200"/>
            <a:chOff x="336" y="3312"/>
            <a:chExt cx="3360" cy="288"/>
          </a:xfrm>
        </p:grpSpPr>
        <p:sp>
          <p:nvSpPr>
            <p:cNvPr id="39957" name="Rectangle 12"/>
            <p:cNvSpPr/>
            <p:nvPr/>
          </p:nvSpPr>
          <p:spPr>
            <a:xfrm>
              <a:off x="336" y="3312"/>
              <a:ext cx="67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</a:rPr>
                <a:t>K </a:t>
              </a:r>
              <a:r>
                <a:rPr lang="en-US" altLang="zh-CN" sz="2000" b="1" baseline="30000" dirty="0">
                  <a:latin typeface="Times New Roman" panose="02020603050405020304" pitchFamily="18" charset="0"/>
                </a:rPr>
                <a:t>0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[Suit]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58" name="Rectangle 13"/>
            <p:cNvSpPr/>
            <p:nvPr/>
          </p:nvSpPr>
          <p:spPr>
            <a:xfrm>
              <a:off x="1584" y="3312"/>
              <a:ext cx="211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     </a:t>
              </a:r>
              <a:r>
                <a:rPr lang="en-US" altLang="zh-CN" sz="24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&lt;      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  </a:t>
              </a:r>
              <a:r>
                <a:rPr lang="en-US" altLang="zh-CN" sz="24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&lt;     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  </a:t>
              </a:r>
              <a:r>
                <a:rPr lang="en-US" altLang="zh-CN" sz="24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&lt;     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4"/>
          <p:cNvGrpSpPr/>
          <p:nvPr/>
        </p:nvGrpSpPr>
        <p:grpSpPr>
          <a:xfrm>
            <a:off x="533400" y="5715000"/>
            <a:ext cx="7772400" cy="457200"/>
            <a:chOff x="336" y="3552"/>
            <a:chExt cx="4896" cy="288"/>
          </a:xfrm>
        </p:grpSpPr>
        <p:sp>
          <p:nvSpPr>
            <p:cNvPr id="39955" name="Rectangle 15"/>
            <p:cNvSpPr/>
            <p:nvPr/>
          </p:nvSpPr>
          <p:spPr>
            <a:xfrm>
              <a:off x="336" y="3552"/>
              <a:ext cx="1104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</a:rPr>
                <a:t>K </a:t>
              </a:r>
              <a:r>
                <a:rPr lang="en-US" altLang="zh-CN" sz="2000" b="1" baseline="30000" dirty="0">
                  <a:latin typeface="Times New Roman" panose="02020603050405020304" pitchFamily="18" charset="0"/>
                </a:rPr>
                <a:t>1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[Face value]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56" name="Rectangle 16"/>
            <p:cNvSpPr/>
            <p:nvPr/>
          </p:nvSpPr>
          <p:spPr>
            <a:xfrm>
              <a:off x="1584" y="3552"/>
              <a:ext cx="364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2 &lt; 3 &lt; 4 &lt; 5 &lt; 6 &lt; 7 &lt; 8 &lt; 9 &lt; 10 &lt; J &lt; Q &lt; K &lt; A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7"/>
          <p:cNvGrpSpPr/>
          <p:nvPr/>
        </p:nvGrpSpPr>
        <p:grpSpPr>
          <a:xfrm>
            <a:off x="533400" y="6096000"/>
            <a:ext cx="7772400" cy="457200"/>
            <a:chOff x="336" y="3552"/>
            <a:chExt cx="4896" cy="288"/>
          </a:xfrm>
        </p:grpSpPr>
        <p:sp>
          <p:nvSpPr>
            <p:cNvPr id="39953" name="Rectangle 18"/>
            <p:cNvSpPr/>
            <p:nvPr/>
          </p:nvSpPr>
          <p:spPr>
            <a:xfrm>
              <a:off x="336" y="3552"/>
              <a:ext cx="1104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Sorting result :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54" name="Rectangle 19"/>
            <p:cNvSpPr/>
            <p:nvPr/>
          </p:nvSpPr>
          <p:spPr>
            <a:xfrm>
              <a:off x="1584" y="3552"/>
              <a:ext cx="364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2   ...   A  </a:t>
              </a: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2  ...  A  2  ...  A  </a:t>
              </a:r>
              <a:r>
                <a:rPr lang="en-US" altLang="zh-CN" sz="20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2   ...  A  </a:t>
              </a:r>
              <a:endPara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1316886" name="Text Box 22"/>
          <p:cNvSpPr txBox="1"/>
          <p:nvPr/>
        </p:nvSpPr>
        <p:spPr>
          <a:xfrm>
            <a:off x="2362200" y="5029200"/>
            <a:ext cx="914400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/>
              <a:t>club</a:t>
            </a:r>
            <a:endParaRPr lang="en-US" altLang="zh-CN" sz="1800" dirty="0"/>
          </a:p>
        </p:txBody>
      </p:sp>
      <p:sp>
        <p:nvSpPr>
          <p:cNvPr id="1316887" name="Text Box 23"/>
          <p:cNvSpPr txBox="1"/>
          <p:nvPr/>
        </p:nvSpPr>
        <p:spPr>
          <a:xfrm>
            <a:off x="3352800" y="5029200"/>
            <a:ext cx="1066800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/>
              <a:t>diamond</a:t>
            </a:r>
            <a:endParaRPr lang="en-US" altLang="zh-CN" sz="1800" dirty="0"/>
          </a:p>
        </p:txBody>
      </p:sp>
      <p:sp>
        <p:nvSpPr>
          <p:cNvPr id="1316888" name="Text Box 24"/>
          <p:cNvSpPr txBox="1"/>
          <p:nvPr/>
        </p:nvSpPr>
        <p:spPr>
          <a:xfrm>
            <a:off x="4495800" y="5029200"/>
            <a:ext cx="914400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/>
              <a:t>heart</a:t>
            </a:r>
            <a:endParaRPr lang="en-US" altLang="zh-CN" sz="1800" dirty="0"/>
          </a:p>
        </p:txBody>
      </p:sp>
      <p:sp>
        <p:nvSpPr>
          <p:cNvPr id="1316889" name="Text Box 25"/>
          <p:cNvSpPr txBox="1"/>
          <p:nvPr/>
        </p:nvSpPr>
        <p:spPr>
          <a:xfrm>
            <a:off x="5334000" y="5029200"/>
            <a:ext cx="914400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/>
              <a:t>spades</a:t>
            </a:r>
            <a:endParaRPr lang="en-US" altLang="zh-CN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68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168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168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168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168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6866" grpId="0"/>
      <p:bldP spid="1316867" grpId="0"/>
      <p:bldP spid="1316868" grpId="0"/>
      <p:bldP spid="1316869" grpId="0"/>
      <p:bldP spid="1316871" grpId="0"/>
      <p:bldP spid="1316873" grpId="0"/>
      <p:bldP spid="1316874" grpId="0"/>
      <p:bldP spid="1316886" grpId="0"/>
      <p:bldP spid="1316887" grpId="0"/>
      <p:bldP spid="1316888" grpId="0"/>
      <p:bldP spid="131688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82948" name="Text Box 4"/>
          <p:cNvSpPr txBox="1"/>
          <p:nvPr/>
        </p:nvSpPr>
        <p:spPr>
          <a:xfrm>
            <a:off x="457200" y="304800"/>
            <a:ext cx="822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chemeClr val="hlink"/>
                </a:solidFill>
                <a:sym typeface="Wingdings" panose="05000000000000000000" pitchFamily="2" charset="2"/>
              </a:rPr>
              <a:t></a:t>
            </a:r>
            <a:r>
              <a:rPr lang="en-US" altLang="zh-CN" sz="1800" b="1" dirty="0"/>
              <a:t> MSD ( </a:t>
            </a:r>
            <a:r>
              <a:rPr lang="en-US" altLang="zh-CN" sz="1800" b="1" dirty="0">
                <a:solidFill>
                  <a:schemeClr val="hlink"/>
                </a:solidFill>
              </a:rPr>
              <a:t>M</a:t>
            </a:r>
            <a:r>
              <a:rPr lang="en-US" altLang="zh-CN" sz="1800" b="1" dirty="0"/>
              <a:t>ost </a:t>
            </a:r>
            <a:r>
              <a:rPr lang="en-US" altLang="zh-CN" sz="1800" b="1" dirty="0">
                <a:solidFill>
                  <a:schemeClr val="hlink"/>
                </a:solidFill>
              </a:rPr>
              <a:t>S</a:t>
            </a:r>
            <a:r>
              <a:rPr lang="en-US" altLang="zh-CN" sz="1800" b="1" dirty="0"/>
              <a:t>ignificant </a:t>
            </a:r>
            <a:r>
              <a:rPr lang="en-US" altLang="zh-CN" sz="1800" b="1" dirty="0">
                <a:solidFill>
                  <a:schemeClr val="hlink"/>
                </a:solidFill>
              </a:rPr>
              <a:t>D</a:t>
            </a:r>
            <a:r>
              <a:rPr lang="en-US" altLang="zh-CN" sz="1800" b="1" dirty="0"/>
              <a:t>igit ) Sort</a:t>
            </a:r>
            <a:endParaRPr lang="en-US" altLang="zh-CN" sz="1800" b="1" dirty="0"/>
          </a:p>
        </p:txBody>
      </p:sp>
      <p:sp>
        <p:nvSpPr>
          <p:cNvPr id="82949" name="Text Box 5"/>
          <p:cNvSpPr txBox="1"/>
          <p:nvPr/>
        </p:nvSpPr>
        <p:spPr>
          <a:xfrm>
            <a:off x="533400" y="836613"/>
            <a:ext cx="8001000" cy="457200"/>
          </a:xfrm>
          <a:prstGeom prst="rect">
            <a:avLst/>
          </a:prstGeom>
          <a:noFill/>
          <a:ln w="25400">
            <a:noFill/>
          </a:ln>
        </p:spPr>
        <p:txBody>
          <a:bodyPr lIns="0" tIns="46800" rIns="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b="1" dirty="0">
                <a:sym typeface="Wingdings" panose="05000000000000000000" pitchFamily="2" charset="2"/>
              </a:rPr>
              <a:t>  Sort on </a:t>
            </a:r>
            <a:r>
              <a:rPr lang="en-US" altLang="zh-CN" sz="1800" b="1" i="1" dirty="0">
                <a:sym typeface="Wingdings" panose="05000000000000000000" pitchFamily="2" charset="2"/>
              </a:rPr>
              <a:t>K</a:t>
            </a:r>
            <a:r>
              <a:rPr lang="en-US" altLang="zh-CN" sz="1800" b="1" dirty="0">
                <a:sym typeface="Wingdings" panose="05000000000000000000" pitchFamily="2" charset="2"/>
              </a:rPr>
              <a:t> </a:t>
            </a:r>
            <a:r>
              <a:rPr lang="en-US" altLang="zh-CN" sz="1800" b="1" baseline="30000" dirty="0">
                <a:sym typeface="Wingdings" panose="05000000000000000000" pitchFamily="2" charset="2"/>
              </a:rPr>
              <a:t>0</a:t>
            </a:r>
            <a:r>
              <a:rPr lang="en-US" altLang="zh-CN" sz="1800" b="1" dirty="0">
                <a:sym typeface="Wingdings" panose="05000000000000000000" pitchFamily="2" charset="2"/>
              </a:rPr>
              <a:t>:  for example, create 4 buckets for the suits</a:t>
            </a:r>
            <a:endParaRPr lang="en-US" altLang="zh-CN" sz="1800" b="1" dirty="0"/>
          </a:p>
        </p:txBody>
      </p:sp>
      <p:grpSp>
        <p:nvGrpSpPr>
          <p:cNvPr id="2" name="Group 6"/>
          <p:cNvGrpSpPr/>
          <p:nvPr/>
        </p:nvGrpSpPr>
        <p:grpSpPr>
          <a:xfrm>
            <a:off x="914400" y="1447800"/>
            <a:ext cx="1677988" cy="2209800"/>
            <a:chOff x="1104" y="1248"/>
            <a:chExt cx="1057" cy="1392"/>
          </a:xfrm>
        </p:grpSpPr>
        <p:sp>
          <p:nvSpPr>
            <p:cNvPr id="41001" name="Rectangle 7"/>
            <p:cNvSpPr/>
            <p:nvPr/>
          </p:nvSpPr>
          <p:spPr>
            <a:xfrm>
              <a:off x="1104" y="1248"/>
              <a:ext cx="720" cy="1056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002" name="Rectangle 8"/>
            <p:cNvSpPr/>
            <p:nvPr/>
          </p:nvSpPr>
          <p:spPr>
            <a:xfrm>
              <a:off x="1248" y="1392"/>
              <a:ext cx="720" cy="1056"/>
            </a:xfrm>
            <a:prstGeom prst="rect">
              <a:avLst/>
            </a:prstGeom>
            <a:solidFill>
              <a:srgbClr val="FFFFFF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Left">
                <a:rot lat="0" lon="0" rev="0"/>
              </a:camera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FF"/>
              </a:extrusionClr>
            </a:sp3d>
          </p:spPr>
          <p:txBody>
            <a:bodyPr wrap="none" lIns="0" tIns="46800" rIns="0" bIns="46800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003" name="Rectangle 9"/>
            <p:cNvSpPr/>
            <p:nvPr/>
          </p:nvSpPr>
          <p:spPr>
            <a:xfrm>
              <a:off x="1296" y="1440"/>
              <a:ext cx="720" cy="1056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004" name="Rectangle 10"/>
            <p:cNvSpPr/>
            <p:nvPr/>
          </p:nvSpPr>
          <p:spPr>
            <a:xfrm>
              <a:off x="1344" y="1488"/>
              <a:ext cx="720" cy="1056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005" name="Rectangle 11"/>
            <p:cNvSpPr/>
            <p:nvPr/>
          </p:nvSpPr>
          <p:spPr>
            <a:xfrm>
              <a:off x="1392" y="1536"/>
              <a:ext cx="720" cy="1056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grpSp>
          <p:nvGrpSpPr>
            <p:cNvPr id="41006" name="Group 12"/>
            <p:cNvGrpSpPr/>
            <p:nvPr/>
          </p:nvGrpSpPr>
          <p:grpSpPr>
            <a:xfrm>
              <a:off x="1439" y="1584"/>
              <a:ext cx="722" cy="1056"/>
              <a:chOff x="1439" y="1584"/>
              <a:chExt cx="722" cy="1056"/>
            </a:xfrm>
          </p:grpSpPr>
          <p:sp>
            <p:nvSpPr>
              <p:cNvPr id="41007" name="Rectangle 13"/>
              <p:cNvSpPr/>
              <p:nvPr/>
            </p:nvSpPr>
            <p:spPr>
              <a:xfrm>
                <a:off x="1440" y="1584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1008" name="Rectangle 14"/>
              <p:cNvSpPr/>
              <p:nvPr/>
            </p:nvSpPr>
            <p:spPr>
              <a:xfrm>
                <a:off x="1439" y="1654"/>
                <a:ext cx="241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1800" b="1" dirty="0"/>
                  <a:t>3</a:t>
                </a:r>
                <a:endParaRPr lang="en-US" altLang="zh-CN" sz="1800" b="1" dirty="0"/>
              </a:p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ym typeface="Symbol" panose="05050102010706020507" pitchFamily="18" charset="2"/>
                  </a:rPr>
                  <a:t></a:t>
                </a:r>
                <a:endParaRPr lang="en-US" altLang="zh-CN" sz="1800" b="1" dirty="0"/>
              </a:p>
            </p:txBody>
          </p:sp>
          <p:sp>
            <p:nvSpPr>
              <p:cNvPr id="41009" name="Rectangle 15"/>
              <p:cNvSpPr/>
              <p:nvPr/>
            </p:nvSpPr>
            <p:spPr>
              <a:xfrm flipV="1">
                <a:off x="1920" y="2304"/>
                <a:ext cx="241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1800" b="1" dirty="0"/>
                  <a:t>3</a:t>
                </a:r>
                <a:endParaRPr lang="en-US" altLang="zh-CN" sz="1800" b="1" dirty="0"/>
              </a:p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ym typeface="Symbol" panose="05050102010706020507" pitchFamily="18" charset="2"/>
                  </a:rPr>
                  <a:t></a:t>
                </a:r>
                <a:endParaRPr lang="en-US" altLang="zh-CN" sz="1800" b="1" dirty="0"/>
              </a:p>
            </p:txBody>
          </p:sp>
          <p:sp>
            <p:nvSpPr>
              <p:cNvPr id="41010" name="Rectangle 16"/>
              <p:cNvSpPr/>
              <p:nvPr/>
            </p:nvSpPr>
            <p:spPr>
              <a:xfrm>
                <a:off x="1609" y="1680"/>
                <a:ext cx="384" cy="57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b="1" dirty="0">
                    <a:sym typeface="Symbol" panose="05050102010706020507" pitchFamily="18" charset="2"/>
                  </a:rPr>
                  <a:t></a:t>
                </a:r>
                <a:endParaRPr lang="en-US" altLang="zh-CN" b="1" dirty="0">
                  <a:sym typeface="Symbol" panose="05050102010706020507" pitchFamily="18" charset="2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b="1" dirty="0">
                    <a:sym typeface="Symbol" panose="05050102010706020507" pitchFamily="18" charset="2"/>
                  </a:rPr>
                  <a:t></a:t>
                </a:r>
                <a:endParaRPr lang="en-US" altLang="zh-CN" sz="2800" b="1" dirty="0">
                  <a:sym typeface="Symbol" panose="05050102010706020507" pitchFamily="18" charset="2"/>
                </a:endParaRPr>
              </a:p>
            </p:txBody>
          </p:sp>
          <p:sp>
            <p:nvSpPr>
              <p:cNvPr id="41011" name="Rectangle 17"/>
              <p:cNvSpPr/>
              <p:nvPr/>
            </p:nvSpPr>
            <p:spPr>
              <a:xfrm flipV="1">
                <a:off x="1632" y="2160"/>
                <a:ext cx="360" cy="33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b="1" dirty="0">
                    <a:sym typeface="Symbol" panose="05050102010706020507" pitchFamily="18" charset="2"/>
                  </a:rPr>
                  <a:t></a:t>
                </a:r>
                <a:endParaRPr lang="en-US" altLang="zh-CN" sz="1800" b="1" dirty="0">
                  <a:sym typeface="Symbol" panose="05050102010706020507" pitchFamily="18" charset="2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en-US" altLang="zh-CN" sz="1800" b="1" dirty="0">
                  <a:sym typeface="Symbol" panose="05050102010706020507" pitchFamily="18" charset="2"/>
                </a:endParaRPr>
              </a:p>
            </p:txBody>
          </p:sp>
        </p:grpSp>
      </p:grpSp>
      <p:grpSp>
        <p:nvGrpSpPr>
          <p:cNvPr id="4" name="Group 18"/>
          <p:cNvGrpSpPr/>
          <p:nvPr/>
        </p:nvGrpSpPr>
        <p:grpSpPr>
          <a:xfrm>
            <a:off x="2667000" y="1447800"/>
            <a:ext cx="1677988" cy="2209800"/>
            <a:chOff x="1680" y="960"/>
            <a:chExt cx="1057" cy="1392"/>
          </a:xfrm>
        </p:grpSpPr>
        <p:sp>
          <p:nvSpPr>
            <p:cNvPr id="40992" name="Rectangle 19"/>
            <p:cNvSpPr/>
            <p:nvPr/>
          </p:nvSpPr>
          <p:spPr>
            <a:xfrm>
              <a:off x="1680" y="960"/>
              <a:ext cx="720" cy="1056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93" name="Rectangle 20"/>
            <p:cNvSpPr/>
            <p:nvPr/>
          </p:nvSpPr>
          <p:spPr>
            <a:xfrm>
              <a:off x="1824" y="1104"/>
              <a:ext cx="720" cy="1056"/>
            </a:xfrm>
            <a:prstGeom prst="rect">
              <a:avLst/>
            </a:prstGeom>
            <a:solidFill>
              <a:srgbClr val="FFFFFF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Left">
                <a:rot lat="0" lon="0" rev="0"/>
              </a:camera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FF"/>
              </a:extrusionClr>
            </a:sp3d>
          </p:spPr>
          <p:txBody>
            <a:bodyPr wrap="none" lIns="0" tIns="46800" rIns="0" bIns="46800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94" name="Rectangle 21"/>
            <p:cNvSpPr/>
            <p:nvPr/>
          </p:nvSpPr>
          <p:spPr>
            <a:xfrm>
              <a:off x="1872" y="1152"/>
              <a:ext cx="720" cy="1056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95" name="Rectangle 22"/>
            <p:cNvSpPr/>
            <p:nvPr/>
          </p:nvSpPr>
          <p:spPr>
            <a:xfrm>
              <a:off x="1920" y="1200"/>
              <a:ext cx="720" cy="1056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96" name="Rectangle 23"/>
            <p:cNvSpPr/>
            <p:nvPr/>
          </p:nvSpPr>
          <p:spPr>
            <a:xfrm>
              <a:off x="1968" y="1248"/>
              <a:ext cx="720" cy="1056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97" name="Rectangle 24"/>
            <p:cNvSpPr/>
            <p:nvPr/>
          </p:nvSpPr>
          <p:spPr>
            <a:xfrm>
              <a:off x="2016" y="1296"/>
              <a:ext cx="720" cy="1056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98" name="Rectangle 25"/>
            <p:cNvSpPr/>
            <p:nvPr/>
          </p:nvSpPr>
          <p:spPr>
            <a:xfrm>
              <a:off x="2015" y="1366"/>
              <a:ext cx="241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60000"/>
                </a:lnSpc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FF0000"/>
                  </a:solidFill>
                </a:rPr>
                <a:t>5</a:t>
              </a:r>
              <a:endParaRPr lang="en-US" altLang="zh-CN" sz="1800" b="1" dirty="0"/>
            </a:p>
            <a:p>
              <a:pPr marL="0" lvl="0" indent="0" algn="ctr" eaLnBrk="1" hangingPunct="1">
                <a:lnSpc>
                  <a:spcPct val="60000"/>
                </a:lnSpc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</a:t>
              </a:r>
              <a:endParaRPr lang="en-US" altLang="zh-CN" sz="1800" b="1" dirty="0"/>
            </a:p>
          </p:txBody>
        </p:sp>
        <p:sp>
          <p:nvSpPr>
            <p:cNvPr id="40999" name="Rectangle 26"/>
            <p:cNvSpPr/>
            <p:nvPr/>
          </p:nvSpPr>
          <p:spPr>
            <a:xfrm flipV="1">
              <a:off x="2496" y="2016"/>
              <a:ext cx="241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60000"/>
                </a:lnSpc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FF0000"/>
                  </a:solidFill>
                </a:rPr>
                <a:t>5</a:t>
              </a:r>
              <a:endParaRPr lang="en-US" altLang="zh-CN" sz="1800" b="1" dirty="0">
                <a:solidFill>
                  <a:srgbClr val="FF0000"/>
                </a:solidFill>
              </a:endParaRPr>
            </a:p>
            <a:p>
              <a:pPr marL="0" lvl="0" indent="0" algn="ctr" eaLnBrk="1" hangingPunct="1">
                <a:lnSpc>
                  <a:spcPct val="60000"/>
                </a:lnSpc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</a:t>
              </a:r>
              <a:endParaRPr lang="en-US" altLang="zh-CN" sz="1800" b="1" dirty="0">
                <a:solidFill>
                  <a:srgbClr val="FF0000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41000" name="Rectangle 27"/>
            <p:cNvSpPr/>
            <p:nvPr/>
          </p:nvSpPr>
          <p:spPr>
            <a:xfrm>
              <a:off x="2183" y="1392"/>
              <a:ext cx="384" cy="86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zh-CN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</a:t>
              </a:r>
              <a:endParaRPr lang="en-US" altLang="zh-CN" b="1" dirty="0">
                <a:solidFill>
                  <a:srgbClr val="FF0000"/>
                </a:solidFill>
                <a:sym typeface="Symbol" panose="05050102010706020507" pitchFamily="18" charset="2"/>
              </a:endParaRPr>
            </a:p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zh-CN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</a:t>
              </a:r>
              <a:endParaRPr lang="en-US" altLang="zh-CN" b="1" dirty="0">
                <a:solidFill>
                  <a:srgbClr val="FF0000"/>
                </a:solidFill>
                <a:sym typeface="Symbol" panose="05050102010706020507" pitchFamily="18" charset="2"/>
              </a:endParaRPr>
            </a:p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zh-CN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</a:t>
              </a:r>
              <a:endPara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endParaRPr>
            </a:p>
          </p:txBody>
        </p:sp>
      </p:grpSp>
      <p:grpSp>
        <p:nvGrpSpPr>
          <p:cNvPr id="5" name="Group 28"/>
          <p:cNvGrpSpPr/>
          <p:nvPr/>
        </p:nvGrpSpPr>
        <p:grpSpPr>
          <a:xfrm>
            <a:off x="6172200" y="1447800"/>
            <a:ext cx="1677988" cy="2209800"/>
            <a:chOff x="3888" y="960"/>
            <a:chExt cx="1057" cy="1392"/>
          </a:xfrm>
        </p:grpSpPr>
        <p:sp>
          <p:nvSpPr>
            <p:cNvPr id="40983" name="Rectangle 29"/>
            <p:cNvSpPr/>
            <p:nvPr/>
          </p:nvSpPr>
          <p:spPr>
            <a:xfrm>
              <a:off x="3888" y="960"/>
              <a:ext cx="720" cy="1056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84" name="Rectangle 30"/>
            <p:cNvSpPr/>
            <p:nvPr/>
          </p:nvSpPr>
          <p:spPr>
            <a:xfrm>
              <a:off x="4032" y="1104"/>
              <a:ext cx="720" cy="1056"/>
            </a:xfrm>
            <a:prstGeom prst="rect">
              <a:avLst/>
            </a:prstGeom>
            <a:solidFill>
              <a:srgbClr val="FFFFFF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Left">
                <a:rot lat="0" lon="0" rev="0"/>
              </a:camera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FF"/>
              </a:extrusionClr>
            </a:sp3d>
          </p:spPr>
          <p:txBody>
            <a:bodyPr wrap="none" lIns="0" tIns="46800" rIns="0" bIns="46800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85" name="Rectangle 31"/>
            <p:cNvSpPr/>
            <p:nvPr/>
          </p:nvSpPr>
          <p:spPr>
            <a:xfrm>
              <a:off x="4080" y="1152"/>
              <a:ext cx="720" cy="1056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86" name="Rectangle 32"/>
            <p:cNvSpPr/>
            <p:nvPr/>
          </p:nvSpPr>
          <p:spPr>
            <a:xfrm>
              <a:off x="4128" y="1200"/>
              <a:ext cx="720" cy="1056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87" name="Rectangle 33"/>
            <p:cNvSpPr/>
            <p:nvPr/>
          </p:nvSpPr>
          <p:spPr>
            <a:xfrm>
              <a:off x="4176" y="1248"/>
              <a:ext cx="720" cy="1056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88" name="Rectangle 34"/>
            <p:cNvSpPr/>
            <p:nvPr/>
          </p:nvSpPr>
          <p:spPr>
            <a:xfrm>
              <a:off x="4224" y="1296"/>
              <a:ext cx="720" cy="1056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89" name="Rectangle 35"/>
            <p:cNvSpPr/>
            <p:nvPr/>
          </p:nvSpPr>
          <p:spPr>
            <a:xfrm>
              <a:off x="4223" y="1366"/>
              <a:ext cx="241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60000"/>
                </a:lnSpc>
                <a:spcBef>
                  <a:spcPct val="0"/>
                </a:spcBef>
                <a:buNone/>
              </a:pPr>
              <a:r>
                <a:rPr lang="en-US" altLang="zh-CN" sz="1800" b="1" dirty="0"/>
                <a:t>A</a:t>
              </a:r>
              <a:endParaRPr lang="en-US" altLang="zh-CN" sz="1800" b="1" dirty="0"/>
            </a:p>
            <a:p>
              <a:pPr marL="0" lvl="0" indent="0" algn="ctr" eaLnBrk="1" hangingPunct="1">
                <a:lnSpc>
                  <a:spcPct val="60000"/>
                </a:lnSpc>
                <a:spcBef>
                  <a:spcPct val="0"/>
                </a:spcBef>
                <a:buNone/>
              </a:pPr>
              <a:r>
                <a:rPr lang="en-US" altLang="zh-CN" sz="1800" b="1" dirty="0">
                  <a:sym typeface="Symbol" panose="05050102010706020507" pitchFamily="18" charset="2"/>
                </a:rPr>
                <a:t></a:t>
              </a:r>
              <a:endParaRPr lang="en-US" altLang="zh-CN" sz="1800" b="1" dirty="0"/>
            </a:p>
          </p:txBody>
        </p:sp>
        <p:sp>
          <p:nvSpPr>
            <p:cNvPr id="40990" name="Rectangle 36"/>
            <p:cNvSpPr/>
            <p:nvPr/>
          </p:nvSpPr>
          <p:spPr>
            <a:xfrm flipV="1">
              <a:off x="4704" y="2016"/>
              <a:ext cx="241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60000"/>
                </a:lnSpc>
                <a:spcBef>
                  <a:spcPct val="0"/>
                </a:spcBef>
                <a:buNone/>
              </a:pPr>
              <a:r>
                <a:rPr lang="en-US" altLang="zh-CN" sz="1800" b="1" dirty="0"/>
                <a:t>A</a:t>
              </a:r>
              <a:endParaRPr lang="en-US" altLang="zh-CN" sz="1800" b="1" dirty="0"/>
            </a:p>
            <a:p>
              <a:pPr marL="0" lvl="0" indent="0" algn="ctr" eaLnBrk="1" hangingPunct="1">
                <a:lnSpc>
                  <a:spcPct val="60000"/>
                </a:lnSpc>
                <a:spcBef>
                  <a:spcPct val="0"/>
                </a:spcBef>
                <a:buNone/>
              </a:pPr>
              <a:r>
                <a:rPr lang="en-US" altLang="zh-CN" sz="1800" b="1" dirty="0">
                  <a:sym typeface="Symbol" panose="05050102010706020507" pitchFamily="18" charset="2"/>
                </a:rPr>
                <a:t></a:t>
              </a:r>
              <a:endParaRPr lang="en-US" altLang="zh-CN" sz="1800" b="1" dirty="0"/>
            </a:p>
          </p:txBody>
        </p:sp>
        <p:sp>
          <p:nvSpPr>
            <p:cNvPr id="40991" name="Rectangle 37"/>
            <p:cNvSpPr/>
            <p:nvPr/>
          </p:nvSpPr>
          <p:spPr>
            <a:xfrm>
              <a:off x="4391" y="1488"/>
              <a:ext cx="384" cy="57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6000" b="1" dirty="0">
                  <a:sym typeface="Symbol" panose="05050102010706020507" pitchFamily="18" charset="2"/>
                </a:rPr>
                <a:t></a:t>
              </a:r>
              <a:endParaRPr lang="en-US" altLang="zh-CN" sz="6000" b="1" dirty="0">
                <a:sym typeface="Symbol" panose="05050102010706020507" pitchFamily="18" charset="2"/>
              </a:endParaRPr>
            </a:p>
          </p:txBody>
        </p:sp>
      </p:grpSp>
      <p:grpSp>
        <p:nvGrpSpPr>
          <p:cNvPr id="6" name="Group 38"/>
          <p:cNvGrpSpPr/>
          <p:nvPr/>
        </p:nvGrpSpPr>
        <p:grpSpPr>
          <a:xfrm>
            <a:off x="4419600" y="1447800"/>
            <a:ext cx="1677988" cy="2209800"/>
            <a:chOff x="2784" y="960"/>
            <a:chExt cx="1057" cy="1392"/>
          </a:xfrm>
        </p:grpSpPr>
        <p:sp>
          <p:nvSpPr>
            <p:cNvPr id="40973" name="Rectangle 39"/>
            <p:cNvSpPr/>
            <p:nvPr/>
          </p:nvSpPr>
          <p:spPr>
            <a:xfrm>
              <a:off x="2784" y="960"/>
              <a:ext cx="720" cy="1056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74" name="Rectangle 40"/>
            <p:cNvSpPr/>
            <p:nvPr/>
          </p:nvSpPr>
          <p:spPr>
            <a:xfrm>
              <a:off x="2928" y="1104"/>
              <a:ext cx="720" cy="1056"/>
            </a:xfrm>
            <a:prstGeom prst="rect">
              <a:avLst/>
            </a:prstGeom>
            <a:solidFill>
              <a:srgbClr val="FFFFFF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Left">
                <a:rot lat="0" lon="0" rev="0"/>
              </a:camera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FF"/>
              </a:extrusionClr>
            </a:sp3d>
          </p:spPr>
          <p:txBody>
            <a:bodyPr wrap="none" lIns="0" tIns="46800" rIns="0" bIns="46800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75" name="Rectangle 41"/>
            <p:cNvSpPr/>
            <p:nvPr/>
          </p:nvSpPr>
          <p:spPr>
            <a:xfrm>
              <a:off x="2976" y="1152"/>
              <a:ext cx="720" cy="1056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76" name="Rectangle 42"/>
            <p:cNvSpPr/>
            <p:nvPr/>
          </p:nvSpPr>
          <p:spPr>
            <a:xfrm>
              <a:off x="3024" y="1200"/>
              <a:ext cx="720" cy="1056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77" name="Rectangle 43"/>
            <p:cNvSpPr/>
            <p:nvPr/>
          </p:nvSpPr>
          <p:spPr>
            <a:xfrm>
              <a:off x="3072" y="1248"/>
              <a:ext cx="720" cy="1056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78" name="Rectangle 44"/>
            <p:cNvSpPr/>
            <p:nvPr/>
          </p:nvSpPr>
          <p:spPr>
            <a:xfrm>
              <a:off x="3120" y="1296"/>
              <a:ext cx="720" cy="1056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79" name="Rectangle 45"/>
            <p:cNvSpPr/>
            <p:nvPr/>
          </p:nvSpPr>
          <p:spPr>
            <a:xfrm>
              <a:off x="3119" y="1366"/>
              <a:ext cx="241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60000"/>
                </a:lnSpc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FF0000"/>
                  </a:solidFill>
                </a:rPr>
                <a:t>4</a:t>
              </a:r>
              <a:endParaRPr lang="en-US" altLang="zh-CN" sz="1800" b="1" dirty="0"/>
            </a:p>
            <a:p>
              <a:pPr marL="0" lvl="0" indent="0" algn="ctr" eaLnBrk="1" hangingPunct="1">
                <a:lnSpc>
                  <a:spcPct val="60000"/>
                </a:lnSpc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</a:t>
              </a:r>
              <a:endParaRPr lang="en-US" altLang="zh-CN" sz="1800" b="1" dirty="0"/>
            </a:p>
          </p:txBody>
        </p:sp>
        <p:sp>
          <p:nvSpPr>
            <p:cNvPr id="40980" name="Rectangle 46"/>
            <p:cNvSpPr/>
            <p:nvPr/>
          </p:nvSpPr>
          <p:spPr>
            <a:xfrm flipV="1">
              <a:off x="3600" y="2016"/>
              <a:ext cx="241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60000"/>
                </a:lnSpc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FF0000"/>
                  </a:solidFill>
                </a:rPr>
                <a:t>4</a:t>
              </a:r>
              <a:endParaRPr lang="en-US" altLang="zh-CN" sz="1800" b="1" dirty="0"/>
            </a:p>
            <a:p>
              <a:pPr marL="0" lvl="0" indent="0" algn="ctr" eaLnBrk="1" hangingPunct="1">
                <a:lnSpc>
                  <a:spcPct val="60000"/>
                </a:lnSpc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</a:t>
              </a:r>
              <a:endParaRPr lang="en-US" altLang="zh-CN" sz="1800" b="1" dirty="0"/>
            </a:p>
          </p:txBody>
        </p:sp>
        <p:sp>
          <p:nvSpPr>
            <p:cNvPr id="40981" name="Rectangle 47"/>
            <p:cNvSpPr/>
            <p:nvPr/>
          </p:nvSpPr>
          <p:spPr>
            <a:xfrm>
              <a:off x="3289" y="1441"/>
              <a:ext cx="384" cy="33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</a:t>
              </a:r>
              <a:endParaRPr lang="en-US" altLang="zh-CN" sz="2800" b="1" dirty="0">
                <a:sym typeface="Symbol" panose="05050102010706020507" pitchFamily="18" charset="2"/>
              </a:endParaRPr>
            </a:p>
          </p:txBody>
        </p:sp>
        <p:sp>
          <p:nvSpPr>
            <p:cNvPr id="40982" name="Rectangle 48"/>
            <p:cNvSpPr/>
            <p:nvPr/>
          </p:nvSpPr>
          <p:spPr>
            <a:xfrm flipV="1">
              <a:off x="3287" y="1865"/>
              <a:ext cx="384" cy="33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</a:t>
              </a:r>
              <a:endParaRPr lang="en-US" altLang="zh-CN" sz="2800" b="1" dirty="0">
                <a:sym typeface="Symbol" panose="05050102010706020507" pitchFamily="18" charset="2"/>
              </a:endParaRPr>
            </a:p>
          </p:txBody>
        </p:sp>
      </p:grpSp>
      <p:sp>
        <p:nvSpPr>
          <p:cNvPr id="82993" name="Text Box 49"/>
          <p:cNvSpPr txBox="1"/>
          <p:nvPr/>
        </p:nvSpPr>
        <p:spPr>
          <a:xfrm>
            <a:off x="533400" y="3886200"/>
            <a:ext cx="8153400" cy="822325"/>
          </a:xfrm>
          <a:prstGeom prst="rect">
            <a:avLst/>
          </a:prstGeom>
          <a:noFill/>
          <a:ln w="25400">
            <a:noFill/>
          </a:ln>
        </p:spPr>
        <p:txBody>
          <a:bodyPr lIns="0" tIns="46800" rIns="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81000" lvl="0" indent="-381000" eaLnBrk="1" hangingPunct="1">
              <a:spcBef>
                <a:spcPct val="50000"/>
              </a:spcBef>
              <a:buNone/>
            </a:pPr>
            <a:r>
              <a:rPr lang="en-US" altLang="zh-CN" sz="1800" b="1" dirty="0">
                <a:sym typeface="Wingdings" panose="05000000000000000000" pitchFamily="2" charset="2"/>
              </a:rPr>
              <a:t>  Sort each bucket independently (using any sorting technique)</a:t>
            </a:r>
            <a:endParaRPr lang="en-US" altLang="zh-CN" sz="1800" b="1" dirty="0">
              <a:sym typeface="Wingdings" panose="05000000000000000000" pitchFamily="2" charset="2"/>
            </a:endParaRPr>
          </a:p>
        </p:txBody>
      </p:sp>
      <p:sp>
        <p:nvSpPr>
          <p:cNvPr id="82994" name="Rectangle 50"/>
          <p:cNvSpPr/>
          <p:nvPr/>
        </p:nvSpPr>
        <p:spPr>
          <a:xfrm>
            <a:off x="2743200" y="4724400"/>
            <a:ext cx="762000" cy="12954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6000" b="1" dirty="0">
                <a:sym typeface="Symbol" panose="05050102010706020507" pitchFamily="18" charset="2"/>
              </a:rPr>
              <a:t></a:t>
            </a:r>
            <a:endParaRPr lang="en-US" altLang="zh-CN" sz="6000" b="1" dirty="0"/>
          </a:p>
        </p:txBody>
      </p:sp>
      <p:sp>
        <p:nvSpPr>
          <p:cNvPr id="82995" name="Rectangle 51"/>
          <p:cNvSpPr/>
          <p:nvPr/>
        </p:nvSpPr>
        <p:spPr>
          <a:xfrm>
            <a:off x="3505200" y="4724400"/>
            <a:ext cx="762000" cy="12954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6000" b="1" dirty="0">
                <a:solidFill>
                  <a:srgbClr val="FF0000"/>
                </a:solidFill>
                <a:sym typeface="Symbol" panose="05050102010706020507" pitchFamily="18" charset="2"/>
              </a:rPr>
              <a:t></a:t>
            </a:r>
            <a:endParaRPr lang="en-US" altLang="zh-CN" sz="6000" b="1" dirty="0"/>
          </a:p>
        </p:txBody>
      </p:sp>
      <p:sp>
        <p:nvSpPr>
          <p:cNvPr id="82996" name="Rectangle 52"/>
          <p:cNvSpPr/>
          <p:nvPr/>
        </p:nvSpPr>
        <p:spPr>
          <a:xfrm>
            <a:off x="4267200" y="4724400"/>
            <a:ext cx="762000" cy="12954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6000" b="1" dirty="0">
                <a:solidFill>
                  <a:srgbClr val="FF0000"/>
                </a:solidFill>
                <a:sym typeface="Symbol" panose="05050102010706020507" pitchFamily="18" charset="2"/>
              </a:rPr>
              <a:t></a:t>
            </a:r>
            <a:endParaRPr lang="en-US" altLang="zh-CN" sz="6000" b="1" dirty="0"/>
          </a:p>
        </p:txBody>
      </p:sp>
      <p:sp>
        <p:nvSpPr>
          <p:cNvPr id="82997" name="Rectangle 53"/>
          <p:cNvSpPr/>
          <p:nvPr/>
        </p:nvSpPr>
        <p:spPr>
          <a:xfrm>
            <a:off x="5029200" y="4724400"/>
            <a:ext cx="762000" cy="12954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6000" b="1" dirty="0">
                <a:sym typeface="Symbol" panose="05050102010706020507" pitchFamily="18" charset="2"/>
              </a:rPr>
              <a:t></a:t>
            </a:r>
            <a:endParaRPr lang="en-US" altLang="zh-CN" sz="6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29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2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2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2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2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2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2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2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2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8" grpId="0"/>
      <p:bldP spid="82949" grpId="0"/>
      <p:bldP spid="82993" grpId="0"/>
      <p:bldP spid="82994" grpId="0" animBg="1"/>
      <p:bldP spid="82995" grpId="0" animBg="1"/>
      <p:bldP spid="82996" grpId="0" animBg="1"/>
      <p:bldP spid="8299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317891" name="Text 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 </a:t>
            </a:r>
            <a:r>
              <a:rPr lang="en-US" altLang="zh-CN" sz="2400" b="1" dirty="0"/>
              <a:t>LSD ( </a:t>
            </a:r>
            <a:r>
              <a:rPr lang="en-US" altLang="zh-CN" sz="2400" b="1" dirty="0">
                <a:solidFill>
                  <a:schemeClr val="hlink"/>
                </a:solidFill>
              </a:rPr>
              <a:t>L</a:t>
            </a:r>
            <a:r>
              <a:rPr lang="en-US" altLang="zh-CN" sz="2400" b="1" dirty="0"/>
              <a:t>east </a:t>
            </a:r>
            <a:r>
              <a:rPr lang="en-US" altLang="zh-CN" sz="2400" b="1" dirty="0">
                <a:solidFill>
                  <a:schemeClr val="hlink"/>
                </a:solidFill>
              </a:rPr>
              <a:t>S</a:t>
            </a:r>
            <a:r>
              <a:rPr lang="en-US" altLang="zh-CN" sz="2400" b="1" dirty="0"/>
              <a:t>ignificant </a:t>
            </a:r>
            <a:r>
              <a:rPr lang="en-US" altLang="zh-CN" sz="2400" b="1" dirty="0">
                <a:solidFill>
                  <a:schemeClr val="hlink"/>
                </a:solidFill>
              </a:rPr>
              <a:t>D</a:t>
            </a:r>
            <a:r>
              <a:rPr lang="en-US" altLang="zh-CN" sz="2400" b="1" dirty="0"/>
              <a:t>igit ) Sort</a:t>
            </a:r>
            <a:endParaRPr lang="en-US" altLang="zh-CN" sz="2400" b="1" dirty="0"/>
          </a:p>
        </p:txBody>
      </p:sp>
      <p:sp>
        <p:nvSpPr>
          <p:cNvPr id="1317892" name="Text Box 4"/>
          <p:cNvSpPr txBox="1"/>
          <p:nvPr/>
        </p:nvSpPr>
        <p:spPr>
          <a:xfrm>
            <a:off x="533400" y="760413"/>
            <a:ext cx="8153400" cy="822325"/>
          </a:xfrm>
          <a:prstGeom prst="rect">
            <a:avLst/>
          </a:prstGeom>
          <a:noFill/>
          <a:ln w="25400">
            <a:noFill/>
          </a:ln>
        </p:spPr>
        <p:txBody>
          <a:bodyPr lIns="0" tIns="46800" rIns="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81000" lvl="0" indent="-38100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  </a:t>
            </a:r>
            <a:r>
              <a:rPr lang="en-US" altLang="zh-CN" sz="2400" b="1" dirty="0">
                <a:sym typeface="Wingdings" panose="05000000000000000000" pitchFamily="2" charset="2"/>
              </a:rPr>
              <a:t>Sort on </a:t>
            </a:r>
            <a:r>
              <a:rPr lang="en-US" altLang="zh-CN" sz="2400" b="1" i="1" dirty="0">
                <a:sym typeface="Wingdings" panose="05000000000000000000" pitchFamily="2" charset="2"/>
              </a:rPr>
              <a:t>K</a:t>
            </a:r>
            <a:r>
              <a:rPr lang="en-US" altLang="zh-CN" sz="2400" b="1" dirty="0">
                <a:sym typeface="Wingdings" panose="05000000000000000000" pitchFamily="2" charset="2"/>
              </a:rPr>
              <a:t> </a:t>
            </a:r>
            <a:r>
              <a:rPr lang="en-US" altLang="zh-CN" sz="2400" b="1" baseline="30000" dirty="0">
                <a:sym typeface="Wingdings" panose="05000000000000000000" pitchFamily="2" charset="2"/>
              </a:rPr>
              <a:t>1</a:t>
            </a:r>
            <a:r>
              <a:rPr lang="en-US" altLang="zh-CN" sz="2400" b="1" dirty="0">
                <a:sym typeface="Wingdings" panose="05000000000000000000" pitchFamily="2" charset="2"/>
              </a:rPr>
              <a:t>:  for example, create 13 buckets for the face values</a:t>
            </a:r>
            <a:endParaRPr lang="en-US" altLang="zh-CN" sz="2400" b="1" dirty="0">
              <a:sym typeface="Wingdings" panose="05000000000000000000" pitchFamily="2" charset="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762000" y="1600200"/>
            <a:ext cx="7851775" cy="1905000"/>
            <a:chOff x="480" y="864"/>
            <a:chExt cx="4946" cy="1200"/>
          </a:xfrm>
        </p:grpSpPr>
        <p:grpSp>
          <p:nvGrpSpPr>
            <p:cNvPr id="42021" name="Group 6"/>
            <p:cNvGrpSpPr/>
            <p:nvPr/>
          </p:nvGrpSpPr>
          <p:grpSpPr>
            <a:xfrm>
              <a:off x="480" y="864"/>
              <a:ext cx="866" cy="1200"/>
              <a:chOff x="480" y="864"/>
              <a:chExt cx="866" cy="1200"/>
            </a:xfrm>
          </p:grpSpPr>
          <p:sp>
            <p:nvSpPr>
              <p:cNvPr id="42061" name="Rectangle 7"/>
              <p:cNvSpPr/>
              <p:nvPr/>
            </p:nvSpPr>
            <p:spPr>
              <a:xfrm>
                <a:off x="480" y="864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2062" name="Rectangle 8"/>
              <p:cNvSpPr/>
              <p:nvPr/>
            </p:nvSpPr>
            <p:spPr>
              <a:xfrm>
                <a:off x="528" y="912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2063" name="Rectangle 9"/>
              <p:cNvSpPr/>
              <p:nvPr/>
            </p:nvSpPr>
            <p:spPr>
              <a:xfrm>
                <a:off x="576" y="960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2064" name="Rectangle 10"/>
              <p:cNvSpPr/>
              <p:nvPr/>
            </p:nvSpPr>
            <p:spPr>
              <a:xfrm>
                <a:off x="625" y="1008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2065" name="Rectangle 11"/>
              <p:cNvSpPr/>
              <p:nvPr/>
            </p:nvSpPr>
            <p:spPr>
              <a:xfrm>
                <a:off x="624" y="1078"/>
                <a:ext cx="241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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066" name="Rectangle 12"/>
              <p:cNvSpPr/>
              <p:nvPr/>
            </p:nvSpPr>
            <p:spPr>
              <a:xfrm flipV="1">
                <a:off x="1105" y="1728"/>
                <a:ext cx="241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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067" name="Rectangle 13"/>
              <p:cNvSpPr/>
              <p:nvPr/>
            </p:nvSpPr>
            <p:spPr>
              <a:xfrm>
                <a:off x="794" y="1104"/>
                <a:ext cx="384" cy="57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</a:t>
                </a:r>
                <a:endParaRPr lang="zh-CN" altLang="en-US" b="1" dirty="0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en-US" sz="2800" b="1" dirty="0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42068" name="Rectangle 14"/>
              <p:cNvSpPr/>
              <p:nvPr/>
            </p:nvSpPr>
            <p:spPr>
              <a:xfrm flipV="1">
                <a:off x="817" y="1584"/>
                <a:ext cx="360" cy="33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</a:t>
                </a:r>
                <a:endParaRPr lang="zh-CN" altLang="en-US" sz="2400" b="1" dirty="0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en-US" sz="2400" b="1" dirty="0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42022" name="Group 15"/>
            <p:cNvGrpSpPr/>
            <p:nvPr/>
          </p:nvGrpSpPr>
          <p:grpSpPr>
            <a:xfrm>
              <a:off x="1392" y="864"/>
              <a:ext cx="866" cy="1200"/>
              <a:chOff x="1536" y="912"/>
              <a:chExt cx="866" cy="1200"/>
            </a:xfrm>
          </p:grpSpPr>
          <p:sp>
            <p:nvSpPr>
              <p:cNvPr id="42052" name="Rectangle 16"/>
              <p:cNvSpPr/>
              <p:nvPr/>
            </p:nvSpPr>
            <p:spPr>
              <a:xfrm>
                <a:off x="1536" y="912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2053" name="Rectangle 17"/>
              <p:cNvSpPr/>
              <p:nvPr/>
            </p:nvSpPr>
            <p:spPr>
              <a:xfrm>
                <a:off x="1584" y="960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2054" name="Rectangle 18"/>
              <p:cNvSpPr/>
              <p:nvPr/>
            </p:nvSpPr>
            <p:spPr>
              <a:xfrm>
                <a:off x="1632" y="1008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grpSp>
            <p:nvGrpSpPr>
              <p:cNvPr id="42055" name="Group 19"/>
              <p:cNvGrpSpPr/>
              <p:nvPr/>
            </p:nvGrpSpPr>
            <p:grpSpPr>
              <a:xfrm>
                <a:off x="1680" y="1056"/>
                <a:ext cx="722" cy="1056"/>
                <a:chOff x="1439" y="1584"/>
                <a:chExt cx="722" cy="1056"/>
              </a:xfrm>
            </p:grpSpPr>
            <p:sp>
              <p:nvSpPr>
                <p:cNvPr id="42056" name="Rectangle 20"/>
                <p:cNvSpPr/>
                <p:nvPr/>
              </p:nvSpPr>
              <p:spPr>
                <a:xfrm>
                  <a:off x="1440" y="1584"/>
                  <a:ext cx="720" cy="1056"/>
                </a:xfrm>
                <a:prstGeom prst="rect">
                  <a:avLst/>
                </a:prstGeom>
                <a:solidFill>
                  <a:srgbClr val="FFFFFF"/>
                </a:solidFill>
                <a:ln w="254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42057" name="Rectangle 21"/>
                <p:cNvSpPr/>
                <p:nvPr/>
              </p:nvSpPr>
              <p:spPr>
                <a:xfrm>
                  <a:off x="1439" y="1654"/>
                  <a:ext cx="241" cy="28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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58" name="Rectangle 22"/>
                <p:cNvSpPr/>
                <p:nvPr/>
              </p:nvSpPr>
              <p:spPr>
                <a:xfrm flipV="1">
                  <a:off x="1920" y="2304"/>
                  <a:ext cx="241" cy="28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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59" name="Rectangle 23"/>
                <p:cNvSpPr/>
                <p:nvPr/>
              </p:nvSpPr>
              <p:spPr>
                <a:xfrm>
                  <a:off x="1609" y="1680"/>
                  <a:ext cx="384" cy="576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zh-CN" altLang="en-US" b="1" dirty="0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</a:t>
                  </a:r>
                  <a:endParaRPr lang="zh-CN" altLang="en-US" b="1" dirty="0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zh-CN" altLang="en-US" b="1" dirty="0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</a:t>
                  </a:r>
                  <a:endParaRPr lang="zh-CN" altLang="en-US" sz="2800" b="1" dirty="0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42060" name="Rectangle 24"/>
                <p:cNvSpPr/>
                <p:nvPr/>
              </p:nvSpPr>
              <p:spPr>
                <a:xfrm flipV="1">
                  <a:off x="1632" y="2160"/>
                  <a:ext cx="360" cy="336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zh-CN" altLang="en-US" b="1" dirty="0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</a:t>
                  </a:r>
                  <a:endParaRPr lang="zh-CN" altLang="en-US" sz="2400" b="1" dirty="0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endParaRPr lang="zh-CN" altLang="en-US" sz="2400" b="1" dirty="0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</p:grpSp>
        </p:grpSp>
        <p:grpSp>
          <p:nvGrpSpPr>
            <p:cNvPr id="42023" name="Group 25"/>
            <p:cNvGrpSpPr/>
            <p:nvPr/>
          </p:nvGrpSpPr>
          <p:grpSpPr>
            <a:xfrm>
              <a:off x="2304" y="864"/>
              <a:ext cx="866" cy="1200"/>
              <a:chOff x="2448" y="912"/>
              <a:chExt cx="866" cy="1200"/>
            </a:xfrm>
          </p:grpSpPr>
          <p:sp>
            <p:nvSpPr>
              <p:cNvPr id="42043" name="Rectangle 26"/>
              <p:cNvSpPr/>
              <p:nvPr/>
            </p:nvSpPr>
            <p:spPr>
              <a:xfrm>
                <a:off x="2448" y="912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2044" name="Rectangle 27"/>
              <p:cNvSpPr/>
              <p:nvPr/>
            </p:nvSpPr>
            <p:spPr>
              <a:xfrm>
                <a:off x="2496" y="960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2045" name="Rectangle 28"/>
              <p:cNvSpPr/>
              <p:nvPr/>
            </p:nvSpPr>
            <p:spPr>
              <a:xfrm>
                <a:off x="2544" y="1008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grpSp>
            <p:nvGrpSpPr>
              <p:cNvPr id="42046" name="Group 29"/>
              <p:cNvGrpSpPr/>
              <p:nvPr/>
            </p:nvGrpSpPr>
            <p:grpSpPr>
              <a:xfrm>
                <a:off x="2592" y="1056"/>
                <a:ext cx="722" cy="1056"/>
                <a:chOff x="3551" y="1200"/>
                <a:chExt cx="722" cy="1056"/>
              </a:xfrm>
            </p:grpSpPr>
            <p:sp>
              <p:nvSpPr>
                <p:cNvPr id="42047" name="Rectangle 30"/>
                <p:cNvSpPr/>
                <p:nvPr/>
              </p:nvSpPr>
              <p:spPr>
                <a:xfrm>
                  <a:off x="3552" y="1200"/>
                  <a:ext cx="720" cy="1056"/>
                </a:xfrm>
                <a:prstGeom prst="rect">
                  <a:avLst/>
                </a:prstGeom>
                <a:solidFill>
                  <a:srgbClr val="FFFFFF"/>
                </a:solidFill>
                <a:ln w="254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42048" name="Rectangle 31"/>
                <p:cNvSpPr/>
                <p:nvPr/>
              </p:nvSpPr>
              <p:spPr>
                <a:xfrm>
                  <a:off x="3551" y="1270"/>
                  <a:ext cx="241" cy="28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4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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49" name="Rectangle 32"/>
                <p:cNvSpPr/>
                <p:nvPr/>
              </p:nvSpPr>
              <p:spPr>
                <a:xfrm flipV="1">
                  <a:off x="4032" y="1920"/>
                  <a:ext cx="241" cy="28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4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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50" name="Rectangle 33"/>
                <p:cNvSpPr/>
                <p:nvPr/>
              </p:nvSpPr>
              <p:spPr>
                <a:xfrm>
                  <a:off x="3721" y="1345"/>
                  <a:ext cx="384" cy="336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zh-CN" altLang="en-US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</a:t>
                  </a:r>
                  <a:endParaRPr lang="zh-CN" altLang="en-US" sz="2800" b="1" dirty="0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42051" name="Rectangle 34"/>
                <p:cNvSpPr/>
                <p:nvPr/>
              </p:nvSpPr>
              <p:spPr>
                <a:xfrm flipV="1">
                  <a:off x="3719" y="1769"/>
                  <a:ext cx="384" cy="336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zh-CN" altLang="en-US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</a:t>
                  </a:r>
                  <a:endParaRPr lang="zh-CN" altLang="en-US" sz="2800" b="1" dirty="0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</p:grpSp>
        </p:grpSp>
        <p:grpSp>
          <p:nvGrpSpPr>
            <p:cNvPr id="42024" name="Group 35"/>
            <p:cNvGrpSpPr/>
            <p:nvPr/>
          </p:nvGrpSpPr>
          <p:grpSpPr>
            <a:xfrm>
              <a:off x="3216" y="864"/>
              <a:ext cx="866" cy="1200"/>
              <a:chOff x="3360" y="960"/>
              <a:chExt cx="866" cy="1200"/>
            </a:xfrm>
          </p:grpSpPr>
          <p:sp>
            <p:nvSpPr>
              <p:cNvPr id="42035" name="Rectangle 36"/>
              <p:cNvSpPr/>
              <p:nvPr/>
            </p:nvSpPr>
            <p:spPr>
              <a:xfrm>
                <a:off x="3360" y="960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2036" name="Rectangle 37"/>
              <p:cNvSpPr/>
              <p:nvPr/>
            </p:nvSpPr>
            <p:spPr>
              <a:xfrm>
                <a:off x="3408" y="1008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2037" name="Rectangle 38"/>
              <p:cNvSpPr/>
              <p:nvPr/>
            </p:nvSpPr>
            <p:spPr>
              <a:xfrm>
                <a:off x="3456" y="1056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grpSp>
            <p:nvGrpSpPr>
              <p:cNvPr id="42038" name="Group 39"/>
              <p:cNvGrpSpPr/>
              <p:nvPr/>
            </p:nvGrpSpPr>
            <p:grpSpPr>
              <a:xfrm>
                <a:off x="3504" y="1104"/>
                <a:ext cx="722" cy="1056"/>
                <a:chOff x="4463" y="1488"/>
                <a:chExt cx="722" cy="1056"/>
              </a:xfrm>
            </p:grpSpPr>
            <p:sp>
              <p:nvSpPr>
                <p:cNvPr id="42039" name="Rectangle 40"/>
                <p:cNvSpPr/>
                <p:nvPr/>
              </p:nvSpPr>
              <p:spPr>
                <a:xfrm>
                  <a:off x="4464" y="1488"/>
                  <a:ext cx="720" cy="1056"/>
                </a:xfrm>
                <a:prstGeom prst="rect">
                  <a:avLst/>
                </a:prstGeom>
                <a:solidFill>
                  <a:srgbClr val="FFFFFF"/>
                </a:solidFill>
                <a:ln w="254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42040" name="Rectangle 41"/>
                <p:cNvSpPr/>
                <p:nvPr/>
              </p:nvSpPr>
              <p:spPr>
                <a:xfrm>
                  <a:off x="4463" y="1558"/>
                  <a:ext cx="241" cy="28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5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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41" name="Rectangle 42"/>
                <p:cNvSpPr/>
                <p:nvPr/>
              </p:nvSpPr>
              <p:spPr>
                <a:xfrm flipV="1">
                  <a:off x="4944" y="2208"/>
                  <a:ext cx="241" cy="28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5</a:t>
                  </a:r>
                  <a:endPara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endParaRPr>
                </a:p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</a:t>
                  </a:r>
                  <a:endPara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42042" name="Rectangle 43"/>
                <p:cNvSpPr/>
                <p:nvPr/>
              </p:nvSpPr>
              <p:spPr>
                <a:xfrm>
                  <a:off x="4631" y="1584"/>
                  <a:ext cx="384" cy="86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zh-CN" altLang="en-US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</a:t>
                  </a:r>
                  <a:endPara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  <a:p>
                  <a:pPr marL="0" lv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zh-CN" altLang="en-US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</a:t>
                  </a:r>
                  <a:endPara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  <a:p>
                  <a:pPr marL="0" lv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zh-CN" altLang="en-US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</a:t>
                  </a:r>
                  <a:endParaRPr lang="zh-CN" alt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</p:grpSp>
        </p:grpSp>
        <p:grpSp>
          <p:nvGrpSpPr>
            <p:cNvPr id="42025" name="Group 44"/>
            <p:cNvGrpSpPr/>
            <p:nvPr/>
          </p:nvGrpSpPr>
          <p:grpSpPr>
            <a:xfrm>
              <a:off x="4560" y="864"/>
              <a:ext cx="866" cy="1200"/>
              <a:chOff x="4560" y="912"/>
              <a:chExt cx="866" cy="1200"/>
            </a:xfrm>
          </p:grpSpPr>
          <p:sp>
            <p:nvSpPr>
              <p:cNvPr id="42027" name="Rectangle 45"/>
              <p:cNvSpPr/>
              <p:nvPr/>
            </p:nvSpPr>
            <p:spPr>
              <a:xfrm>
                <a:off x="4560" y="912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2028" name="Rectangle 46"/>
              <p:cNvSpPr/>
              <p:nvPr/>
            </p:nvSpPr>
            <p:spPr>
              <a:xfrm>
                <a:off x="4608" y="960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2029" name="Rectangle 47"/>
              <p:cNvSpPr/>
              <p:nvPr/>
            </p:nvSpPr>
            <p:spPr>
              <a:xfrm>
                <a:off x="4656" y="1008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grpSp>
            <p:nvGrpSpPr>
              <p:cNvPr id="42030" name="Group 48"/>
              <p:cNvGrpSpPr/>
              <p:nvPr/>
            </p:nvGrpSpPr>
            <p:grpSpPr>
              <a:xfrm>
                <a:off x="4704" y="1056"/>
                <a:ext cx="722" cy="1056"/>
                <a:chOff x="4751" y="2496"/>
                <a:chExt cx="722" cy="1056"/>
              </a:xfrm>
            </p:grpSpPr>
            <p:sp>
              <p:nvSpPr>
                <p:cNvPr id="42031" name="Rectangle 49"/>
                <p:cNvSpPr/>
                <p:nvPr/>
              </p:nvSpPr>
              <p:spPr>
                <a:xfrm>
                  <a:off x="4752" y="2496"/>
                  <a:ext cx="720" cy="1056"/>
                </a:xfrm>
                <a:prstGeom prst="rect">
                  <a:avLst/>
                </a:prstGeom>
                <a:solidFill>
                  <a:srgbClr val="FFFFFF"/>
                </a:solidFill>
                <a:ln w="254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42032" name="Rectangle 50"/>
                <p:cNvSpPr/>
                <p:nvPr/>
              </p:nvSpPr>
              <p:spPr>
                <a:xfrm>
                  <a:off x="4751" y="2566"/>
                  <a:ext cx="241" cy="28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</a:rPr>
                    <a:t>A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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33" name="Rectangle 51"/>
                <p:cNvSpPr/>
                <p:nvPr/>
              </p:nvSpPr>
              <p:spPr>
                <a:xfrm flipV="1">
                  <a:off x="5232" y="3216"/>
                  <a:ext cx="241" cy="28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</a:rPr>
                    <a:t>A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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34" name="Rectangle 52"/>
                <p:cNvSpPr/>
                <p:nvPr/>
              </p:nvSpPr>
              <p:spPr>
                <a:xfrm>
                  <a:off x="4919" y="2688"/>
                  <a:ext cx="384" cy="576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zh-CN" altLang="en-US" sz="6000" b="1" dirty="0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</a:t>
                  </a:r>
                  <a:endParaRPr lang="zh-CN" altLang="en-US" sz="6000" b="1" dirty="0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</p:grpSp>
        </p:grpSp>
        <p:sp>
          <p:nvSpPr>
            <p:cNvPr id="42026" name="Rectangle 53"/>
            <p:cNvSpPr/>
            <p:nvPr/>
          </p:nvSpPr>
          <p:spPr>
            <a:xfrm>
              <a:off x="4128" y="1104"/>
              <a:ext cx="384" cy="57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6000" b="1" dirty="0">
                  <a:latin typeface="Times New Roman" panose="02020603050405020304" pitchFamily="18" charset="0"/>
                </a:rPr>
                <a:t>...</a:t>
              </a:r>
              <a:endParaRPr lang="en-US" altLang="zh-CN" sz="72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317942" name="Text Box 54"/>
          <p:cNvSpPr txBox="1"/>
          <p:nvPr/>
        </p:nvSpPr>
        <p:spPr>
          <a:xfrm>
            <a:off x="533400" y="3810000"/>
            <a:ext cx="4953000" cy="457200"/>
          </a:xfrm>
          <a:prstGeom prst="rect">
            <a:avLst/>
          </a:prstGeom>
          <a:noFill/>
          <a:ln w="25400">
            <a:noFill/>
          </a:ln>
        </p:spPr>
        <p:txBody>
          <a:bodyPr lIns="0" tIns="46800" rIns="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  </a:t>
            </a:r>
            <a:r>
              <a:rPr lang="en-US" altLang="zh-CN" sz="2400" b="1" dirty="0">
                <a:sym typeface="Wingdings" panose="05000000000000000000" pitchFamily="2" charset="2"/>
              </a:rPr>
              <a:t>Reform them into a single pile</a:t>
            </a:r>
            <a:endParaRPr lang="en-US" altLang="zh-CN" sz="2400" b="1" dirty="0"/>
          </a:p>
        </p:txBody>
      </p:sp>
      <p:grpSp>
        <p:nvGrpSpPr>
          <p:cNvPr id="12" name="Group 55"/>
          <p:cNvGrpSpPr/>
          <p:nvPr/>
        </p:nvGrpSpPr>
        <p:grpSpPr>
          <a:xfrm>
            <a:off x="5715000" y="3657600"/>
            <a:ext cx="2898775" cy="2819400"/>
            <a:chOff x="3120" y="2304"/>
            <a:chExt cx="1826" cy="1776"/>
          </a:xfrm>
        </p:grpSpPr>
        <p:grpSp>
          <p:nvGrpSpPr>
            <p:cNvPr id="41992" name="Group 56"/>
            <p:cNvGrpSpPr/>
            <p:nvPr/>
          </p:nvGrpSpPr>
          <p:grpSpPr>
            <a:xfrm>
              <a:off x="3120" y="2304"/>
              <a:ext cx="866" cy="1200"/>
              <a:chOff x="4560" y="912"/>
              <a:chExt cx="866" cy="1200"/>
            </a:xfrm>
          </p:grpSpPr>
          <p:sp>
            <p:nvSpPr>
              <p:cNvPr id="42013" name="Rectangle 57"/>
              <p:cNvSpPr/>
              <p:nvPr/>
            </p:nvSpPr>
            <p:spPr>
              <a:xfrm>
                <a:off x="4560" y="912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2014" name="Rectangle 58"/>
              <p:cNvSpPr/>
              <p:nvPr/>
            </p:nvSpPr>
            <p:spPr>
              <a:xfrm>
                <a:off x="4608" y="960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2015" name="Rectangle 59"/>
              <p:cNvSpPr/>
              <p:nvPr/>
            </p:nvSpPr>
            <p:spPr>
              <a:xfrm>
                <a:off x="4656" y="1008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grpSp>
            <p:nvGrpSpPr>
              <p:cNvPr id="42016" name="Group 60"/>
              <p:cNvGrpSpPr/>
              <p:nvPr/>
            </p:nvGrpSpPr>
            <p:grpSpPr>
              <a:xfrm>
                <a:off x="4704" y="1056"/>
                <a:ext cx="722" cy="1056"/>
                <a:chOff x="4751" y="2496"/>
                <a:chExt cx="722" cy="1056"/>
              </a:xfrm>
            </p:grpSpPr>
            <p:sp>
              <p:nvSpPr>
                <p:cNvPr id="42017" name="Rectangle 61"/>
                <p:cNvSpPr/>
                <p:nvPr/>
              </p:nvSpPr>
              <p:spPr>
                <a:xfrm>
                  <a:off x="4752" y="2496"/>
                  <a:ext cx="720" cy="1056"/>
                </a:xfrm>
                <a:prstGeom prst="rect">
                  <a:avLst/>
                </a:prstGeom>
                <a:solidFill>
                  <a:srgbClr val="FFFFFF"/>
                </a:solidFill>
                <a:ln w="254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42018" name="Rectangle 62"/>
                <p:cNvSpPr/>
                <p:nvPr/>
              </p:nvSpPr>
              <p:spPr>
                <a:xfrm>
                  <a:off x="4751" y="2566"/>
                  <a:ext cx="241" cy="28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</a:rPr>
                    <a:t>A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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19" name="Rectangle 63"/>
                <p:cNvSpPr/>
                <p:nvPr/>
              </p:nvSpPr>
              <p:spPr>
                <a:xfrm flipV="1">
                  <a:off x="5232" y="3216"/>
                  <a:ext cx="241" cy="28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</a:rPr>
                    <a:t>A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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20" name="Rectangle 64"/>
                <p:cNvSpPr/>
                <p:nvPr/>
              </p:nvSpPr>
              <p:spPr>
                <a:xfrm>
                  <a:off x="4919" y="2688"/>
                  <a:ext cx="384" cy="576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zh-CN" altLang="en-US" sz="6000" b="1" dirty="0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</a:t>
                  </a:r>
                  <a:endParaRPr lang="zh-CN" altLang="en-US" sz="6000" b="1" dirty="0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</p:grpSp>
        </p:grpSp>
        <p:sp>
          <p:nvSpPr>
            <p:cNvPr id="41993" name="AutoShape 65"/>
            <p:cNvSpPr/>
            <p:nvPr/>
          </p:nvSpPr>
          <p:spPr>
            <a:xfrm flipH="1">
              <a:off x="3456" y="2496"/>
              <a:ext cx="864" cy="1200"/>
            </a:xfrm>
            <a:prstGeom prst="cube">
              <a:avLst>
                <a:gd name="adj" fmla="val 17523"/>
              </a:avLst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grpSp>
          <p:nvGrpSpPr>
            <p:cNvPr id="41994" name="Group 66"/>
            <p:cNvGrpSpPr/>
            <p:nvPr/>
          </p:nvGrpSpPr>
          <p:grpSpPr>
            <a:xfrm>
              <a:off x="3696" y="2688"/>
              <a:ext cx="866" cy="1200"/>
              <a:chOff x="1536" y="912"/>
              <a:chExt cx="866" cy="1200"/>
            </a:xfrm>
          </p:grpSpPr>
          <p:sp>
            <p:nvSpPr>
              <p:cNvPr id="42004" name="Rectangle 67"/>
              <p:cNvSpPr/>
              <p:nvPr/>
            </p:nvSpPr>
            <p:spPr>
              <a:xfrm>
                <a:off x="1536" y="912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2005" name="Rectangle 68"/>
              <p:cNvSpPr/>
              <p:nvPr/>
            </p:nvSpPr>
            <p:spPr>
              <a:xfrm>
                <a:off x="1584" y="960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2006" name="Rectangle 69"/>
              <p:cNvSpPr/>
              <p:nvPr/>
            </p:nvSpPr>
            <p:spPr>
              <a:xfrm>
                <a:off x="1632" y="1008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grpSp>
            <p:nvGrpSpPr>
              <p:cNvPr id="42007" name="Group 70"/>
              <p:cNvGrpSpPr/>
              <p:nvPr/>
            </p:nvGrpSpPr>
            <p:grpSpPr>
              <a:xfrm>
                <a:off x="1680" y="1056"/>
                <a:ext cx="722" cy="1056"/>
                <a:chOff x="1439" y="1584"/>
                <a:chExt cx="722" cy="1056"/>
              </a:xfrm>
            </p:grpSpPr>
            <p:sp>
              <p:nvSpPr>
                <p:cNvPr id="42008" name="Rectangle 71"/>
                <p:cNvSpPr/>
                <p:nvPr/>
              </p:nvSpPr>
              <p:spPr>
                <a:xfrm>
                  <a:off x="1440" y="1584"/>
                  <a:ext cx="720" cy="1056"/>
                </a:xfrm>
                <a:prstGeom prst="rect">
                  <a:avLst/>
                </a:prstGeom>
                <a:solidFill>
                  <a:srgbClr val="FFFFFF"/>
                </a:solidFill>
                <a:ln w="254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42009" name="Rectangle 72"/>
                <p:cNvSpPr/>
                <p:nvPr/>
              </p:nvSpPr>
              <p:spPr>
                <a:xfrm>
                  <a:off x="1439" y="1654"/>
                  <a:ext cx="241" cy="28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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10" name="Rectangle 73"/>
                <p:cNvSpPr/>
                <p:nvPr/>
              </p:nvSpPr>
              <p:spPr>
                <a:xfrm flipV="1">
                  <a:off x="1920" y="2304"/>
                  <a:ext cx="241" cy="288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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011" name="Rectangle 74"/>
                <p:cNvSpPr/>
                <p:nvPr/>
              </p:nvSpPr>
              <p:spPr>
                <a:xfrm>
                  <a:off x="1609" y="1680"/>
                  <a:ext cx="384" cy="576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zh-CN" altLang="en-US" b="1" dirty="0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</a:t>
                  </a:r>
                  <a:endParaRPr lang="zh-CN" altLang="en-US" b="1" dirty="0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zh-CN" altLang="en-US" b="1" dirty="0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</a:t>
                  </a:r>
                  <a:endParaRPr lang="zh-CN" altLang="en-US" sz="2800" b="1" dirty="0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42012" name="Rectangle 75"/>
                <p:cNvSpPr/>
                <p:nvPr/>
              </p:nvSpPr>
              <p:spPr>
                <a:xfrm flipV="1">
                  <a:off x="1632" y="2160"/>
                  <a:ext cx="360" cy="336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zh-CN" altLang="en-US" b="1" dirty="0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</a:t>
                  </a:r>
                  <a:endParaRPr lang="zh-CN" altLang="en-US" sz="2400" b="1" dirty="0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endParaRPr lang="zh-CN" altLang="en-US" sz="2400" b="1" dirty="0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</p:grpSp>
        </p:grpSp>
        <p:grpSp>
          <p:nvGrpSpPr>
            <p:cNvPr id="41995" name="Group 76"/>
            <p:cNvGrpSpPr/>
            <p:nvPr/>
          </p:nvGrpSpPr>
          <p:grpSpPr>
            <a:xfrm>
              <a:off x="4080" y="2880"/>
              <a:ext cx="866" cy="1200"/>
              <a:chOff x="480" y="864"/>
              <a:chExt cx="866" cy="1200"/>
            </a:xfrm>
          </p:grpSpPr>
          <p:sp>
            <p:nvSpPr>
              <p:cNvPr id="41996" name="Rectangle 77"/>
              <p:cNvSpPr/>
              <p:nvPr/>
            </p:nvSpPr>
            <p:spPr>
              <a:xfrm>
                <a:off x="480" y="864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1997" name="Rectangle 78"/>
              <p:cNvSpPr/>
              <p:nvPr/>
            </p:nvSpPr>
            <p:spPr>
              <a:xfrm>
                <a:off x="528" y="912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1998" name="Rectangle 79"/>
              <p:cNvSpPr/>
              <p:nvPr/>
            </p:nvSpPr>
            <p:spPr>
              <a:xfrm>
                <a:off x="576" y="960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1999" name="Rectangle 80"/>
              <p:cNvSpPr/>
              <p:nvPr/>
            </p:nvSpPr>
            <p:spPr>
              <a:xfrm>
                <a:off x="625" y="1008"/>
                <a:ext cx="720" cy="1056"/>
              </a:xfrm>
              <a:prstGeom prst="rect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2000" name="Rectangle 81"/>
              <p:cNvSpPr/>
              <p:nvPr/>
            </p:nvSpPr>
            <p:spPr>
              <a:xfrm>
                <a:off x="624" y="1078"/>
                <a:ext cx="241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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001" name="Rectangle 82"/>
              <p:cNvSpPr/>
              <p:nvPr/>
            </p:nvSpPr>
            <p:spPr>
              <a:xfrm flipV="1">
                <a:off x="1105" y="1728"/>
                <a:ext cx="241" cy="28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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002" name="Rectangle 83"/>
              <p:cNvSpPr/>
              <p:nvPr/>
            </p:nvSpPr>
            <p:spPr>
              <a:xfrm>
                <a:off x="794" y="1104"/>
                <a:ext cx="384" cy="57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</a:t>
                </a:r>
                <a:endParaRPr lang="zh-CN" altLang="en-US" b="1" dirty="0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en-US" sz="2800" b="1" dirty="0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42003" name="Rectangle 84"/>
              <p:cNvSpPr/>
              <p:nvPr/>
            </p:nvSpPr>
            <p:spPr>
              <a:xfrm flipV="1">
                <a:off x="817" y="1584"/>
                <a:ext cx="360" cy="336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</a:t>
                </a:r>
                <a:endParaRPr lang="zh-CN" altLang="en-US" sz="2400" b="1" dirty="0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en-US" sz="2400" b="1" dirty="0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p:grpSp>
      </p:grpSp>
      <p:sp>
        <p:nvSpPr>
          <p:cNvPr id="1317973" name="Text Box 85"/>
          <p:cNvSpPr txBox="1"/>
          <p:nvPr/>
        </p:nvSpPr>
        <p:spPr>
          <a:xfrm>
            <a:off x="533400" y="4419600"/>
            <a:ext cx="4572000" cy="822325"/>
          </a:xfrm>
          <a:prstGeom prst="rect">
            <a:avLst/>
          </a:prstGeom>
          <a:noFill/>
          <a:ln w="25400">
            <a:noFill/>
          </a:ln>
        </p:spPr>
        <p:txBody>
          <a:bodyPr lIns="0" tIns="46800" rIns="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89255" lvl="0" indent="-389255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  </a:t>
            </a:r>
            <a:r>
              <a:rPr lang="en-US" altLang="zh-CN" sz="2400" b="1" dirty="0">
                <a:sym typeface="Wingdings" panose="05000000000000000000" pitchFamily="2" charset="2"/>
              </a:rPr>
              <a:t>Create 4 buckets and resort</a:t>
            </a:r>
            <a:endParaRPr lang="en-US" altLang="zh-CN" sz="2400" b="1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78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178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179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179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7891" grpId="0"/>
      <p:bldP spid="1317892" grpId="0"/>
      <p:bldP spid="1317942" grpId="0"/>
      <p:bldP spid="131797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301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External Sort</a:t>
            </a:r>
            <a:endParaRPr lang="zh-CN" altLang="en-US" dirty="0"/>
          </a:p>
        </p:txBody>
      </p:sp>
      <p:sp>
        <p:nvSpPr>
          <p:cNvPr id="43011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zh-CN" dirty="0"/>
              <a:t>Consider the problem if sorting a large file, stored on disk or tape, containing a large number of records.</a:t>
            </a:r>
            <a:endParaRPr lang="en-US" altLang="zh-CN" dirty="0"/>
          </a:p>
          <a:p>
            <a:r>
              <a:rPr lang="en-US" altLang="zh-CN" dirty="0"/>
              <a:t>If the file is very large then it will be impossible to read all of the records into memory at once, and so the internal sorting techniques will not work.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endParaRPr lang="zh-CN" altLang="en-US" dirty="0"/>
          </a:p>
        </p:txBody>
      </p:sp>
      <p:sp>
        <p:nvSpPr>
          <p:cNvPr id="44035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zh-CN" dirty="0"/>
              <a:t>The principal goal of external sorting: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Minimize the times of disk accessing operations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Simple Approaches to External Sorting</a:t>
            </a:r>
            <a:endParaRPr lang="zh-CN" altLang="en-US" dirty="0"/>
          </a:p>
        </p:txBody>
      </p:sp>
      <p:sp>
        <p:nvSpPr>
          <p:cNvPr id="45059" name="内容占位符 2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could sort a file of records as follows: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Partition the file into two files, say F1 and F2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Take the first record from each file and write them in sorted order to a new file, say M1.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Repeat the process with the record from each file  but write to a second file, say M2.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Repeat until F1 and F2 have been done. M1 and M2 consist of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odered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pairs of records.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endParaRPr lang="zh-CN" altLang="en-US" dirty="0"/>
          </a:p>
        </p:txBody>
      </p:sp>
      <p:sp>
        <p:nvSpPr>
          <p:cNvPr id="4608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971550" lvl="1" indent="-514350">
              <a:buFont typeface="Comic Sans MS" panose="030F0702030302020204" pitchFamily="66" charset="0"/>
              <a:buAutoNum type="arabicPeriod" startAt="5"/>
            </a:pPr>
            <a:r>
              <a:rPr lang="en-US" altLang="zh-CN" dirty="0"/>
              <a:t>Repeat step2-4, but merge pairs of records instead of single records, producing sorted </a:t>
            </a:r>
            <a:r>
              <a:rPr lang="en-US" altLang="zh-CN" dirty="0">
                <a:solidFill>
                  <a:srgbClr val="0000FF"/>
                </a:solidFill>
              </a:rPr>
              <a:t>runs</a:t>
            </a:r>
            <a:r>
              <a:rPr lang="en-US" altLang="zh-CN" dirty="0"/>
              <a:t> of length 4</a:t>
            </a:r>
            <a:endParaRPr lang="en-US" altLang="zh-CN" dirty="0"/>
          </a:p>
          <a:p>
            <a:pPr marL="971550" lvl="1" indent="-514350">
              <a:buFont typeface="Comic Sans MS" panose="030F0702030302020204" pitchFamily="66" charset="0"/>
              <a:buAutoNum type="arabicPeriod" startAt="5"/>
            </a:pPr>
            <a:r>
              <a:rPr lang="en-US" altLang="zh-CN" dirty="0"/>
              <a:t>Continue, building longer and longer runs.</a:t>
            </a:r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838200"/>
          </a:xfrm>
        </p:spPr>
        <p:txBody>
          <a:bodyPr vert="horz" wrap="square" lIns="91440" tIns="45720" rIns="91440" bIns="45720" anchor="b" anchorCtr="0"/>
          <a:p>
            <a:r>
              <a:rPr lang="en-US" altLang="zh-CN" dirty="0"/>
              <a:t>Example </a:t>
            </a:r>
            <a:endParaRPr lang="zh-CN" altLang="en-US" dirty="0"/>
          </a:p>
        </p:txBody>
      </p:sp>
      <p:pic>
        <p:nvPicPr>
          <p:cNvPr id="4710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954088"/>
            <a:ext cx="4595813" cy="2933700"/>
          </a:xfrm>
          <a:prstGeom prst="rect">
            <a:avLst/>
          </a:prstGeom>
          <a:noFill/>
          <a:ln w="25400">
            <a:noFill/>
          </a:ln>
        </p:spPr>
      </p:pic>
      <p:pic>
        <p:nvPicPr>
          <p:cNvPr id="47108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124200"/>
            <a:ext cx="4937125" cy="2924175"/>
          </a:xfrm>
          <a:prstGeom prst="rect">
            <a:avLst/>
          </a:prstGeom>
          <a:noFill/>
          <a:ln w="25400">
            <a:noFill/>
          </a:ln>
        </p:spPr>
      </p:pic>
      <p:sp>
        <p:nvSpPr>
          <p:cNvPr id="6" name="TextBox 3"/>
          <p:cNvSpPr txBox="1"/>
          <p:nvPr/>
        </p:nvSpPr>
        <p:spPr>
          <a:xfrm>
            <a:off x="6096000" y="2447925"/>
            <a:ext cx="274320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dirty="0"/>
              <a:t>How many times is the entire file read here?</a:t>
            </a: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Reducing the number of passes</a:t>
            </a:r>
            <a:endParaRPr lang="zh-CN" altLang="en-US" dirty="0"/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zh-CN" dirty="0"/>
              <a:t>Assume a file of n records, the simple merge sort requires logn passes to read/write each record.</a:t>
            </a:r>
            <a:endParaRPr lang="en-US" altLang="zh-CN" dirty="0"/>
          </a:p>
          <a:p>
            <a:r>
              <a:rPr lang="en-US" altLang="zh-CN" dirty="0"/>
              <a:t>Reducing the number of passes can reduce the amount of the time for reading/writing records, and can also improve performance.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Reducing the number of passes</a:t>
            </a:r>
            <a:endParaRPr lang="zh-CN" altLang="en-US" dirty="0"/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zh-CN" dirty="0"/>
              <a:t>There are two approaches to reduce the number of merge passes:</a:t>
            </a:r>
            <a:endParaRPr lang="en-US" altLang="zh-CN" dirty="0"/>
          </a:p>
          <a:p>
            <a:pPr lvl="1"/>
            <a:r>
              <a:rPr lang="en-US" altLang="zh-CN" dirty="0"/>
              <a:t>Break the file into large initial runs</a:t>
            </a:r>
            <a:endParaRPr lang="en-US" altLang="zh-CN" dirty="0"/>
          </a:p>
          <a:p>
            <a:pPr lvl="1"/>
            <a:r>
              <a:rPr lang="en-US" altLang="zh-CN" dirty="0"/>
              <a:t>Merge the runs by multi-way</a:t>
            </a:r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Building long initial runs</a:t>
            </a:r>
            <a:endParaRPr lang="zh-CN" altLang="en-US" dirty="0"/>
          </a:p>
        </p:txBody>
      </p:sp>
      <p:sp>
        <p:nvSpPr>
          <p:cNvPr id="50179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zh-CN" dirty="0"/>
              <a:t>How can we efficiently build long runs to which we may efficiently apply the merging algorithm?</a:t>
            </a:r>
            <a:endParaRPr lang="en-US" altLang="zh-CN" dirty="0"/>
          </a:p>
          <a:p>
            <a:pPr lvl="1"/>
            <a:r>
              <a:rPr lang="en-US" altLang="zh-CN" dirty="0"/>
              <a:t>One solution: read as much of the records as possible into memory at once, then sort them and write to a new file. Repeat the process until the entire file has been read. This will build runs whose length corresponds to the amount of memory we can allot to hold records.</a:t>
            </a:r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File–- 4500 records(A1,…,A4500)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Run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–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750 records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Internally sort three blocks at a time(i.e. 750 records) to obtain 6 runs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120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963" y="3962400"/>
            <a:ext cx="5680075" cy="2743200"/>
          </a:xfrm>
          <a:prstGeom prst="rect">
            <a:avLst/>
          </a:prstGeom>
          <a:noFill/>
          <a:ln w="25400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Multi-way merging</a:t>
            </a:r>
            <a:endParaRPr lang="zh-CN" altLang="en-US" dirty="0"/>
          </a:p>
        </p:txBody>
      </p:sp>
      <p:sp>
        <p:nvSpPr>
          <p:cNvPr id="52227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zh-CN" dirty="0"/>
              <a:t>The number of passes can be reduced if we merge runs at a time. Multi-way is similar to two-way merging.</a:t>
            </a:r>
            <a:endParaRPr lang="zh-CN" altLang="en-US" dirty="0"/>
          </a:p>
        </p:txBody>
      </p:sp>
      <p:pic>
        <p:nvPicPr>
          <p:cNvPr id="5222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7800" y="3597275"/>
            <a:ext cx="6731000" cy="2590800"/>
          </a:xfrm>
          <a:prstGeom prst="rect">
            <a:avLst/>
          </a:prstGeom>
          <a:noFill/>
          <a:ln w="25400"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Assume n records, m runs.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k-way merging: need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log</a:t>
            </a:r>
            <a:r>
              <a:rPr kumimoji="0" lang="en-US" altLang="zh-CN" sz="3200" b="0" i="0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passes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 each pass, k-way merge requires: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n(k-1) comparisons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Total comparisons: n(k-1)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log</a:t>
            </a:r>
            <a:r>
              <a:rPr kumimoji="0" lang="en-US" altLang="zh-CN" sz="3200" b="0" i="0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325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876800"/>
            <a:ext cx="6491288" cy="1066800"/>
          </a:xfrm>
          <a:prstGeom prst="rect">
            <a:avLst/>
          </a:prstGeom>
          <a:noFill/>
          <a:ln w="2540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rayons">
  <a:themeElements>
    <a:clrScheme name="Crayons 1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6B8"/>
      </a:accent5>
      <a:accent6>
        <a:srgbClr val="000000"/>
      </a:accent6>
      <a:hlink>
        <a:srgbClr val="00B200"/>
      </a:hlink>
      <a:folHlink>
        <a:srgbClr val="703DFF"/>
      </a:folHlink>
    </a:clrScheme>
    <a:fontScheme name="Crayons">
      <a:majorFont>
        <a:latin typeface="Comic Sans MS"/>
        <a:ea typeface="宋体"/>
        <a:cs typeface=""/>
      </a:majorFont>
      <a:minorFont>
        <a:latin typeface="Comic Sans M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rayons 1">
        <a:dk1>
          <a:srgbClr val="000000"/>
        </a:dk1>
        <a:lt1>
          <a:srgbClr val="FFFFFF"/>
        </a:lt1>
        <a:dk2>
          <a:srgbClr val="FF0000"/>
        </a:dk2>
        <a:lt2>
          <a:srgbClr val="FFB8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6B8"/>
        </a:accent5>
        <a:accent6>
          <a:srgbClr val="000000"/>
        </a:accent6>
        <a:hlink>
          <a:srgbClr val="00B200"/>
        </a:hlink>
        <a:folHlink>
          <a:srgbClr val="703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2">
        <a:dk1>
          <a:srgbClr val="000000"/>
        </a:dk1>
        <a:lt1>
          <a:srgbClr val="FFFFFF"/>
        </a:lt1>
        <a:dk2>
          <a:srgbClr val="000000"/>
        </a:dk2>
        <a:lt2>
          <a:srgbClr val="99CCFF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C"/>
        </a:accent6>
        <a:hlink>
          <a:srgbClr val="00B200"/>
        </a:hlink>
        <a:folHlink>
          <a:srgbClr val="CCFF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3">
        <a:dk1>
          <a:srgbClr val="000000"/>
        </a:dk1>
        <a:lt1>
          <a:srgbClr val="FFFFFF"/>
        </a:lt1>
        <a:dk2>
          <a:srgbClr val="000000"/>
        </a:dk2>
        <a:lt2>
          <a:srgbClr val="3399FF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373"/>
        </a:accent6>
        <a:hlink>
          <a:srgbClr val="0099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4">
        <a:dk1>
          <a:srgbClr val="808000"/>
        </a:dk1>
        <a:lt1>
          <a:srgbClr val="FFFFFF"/>
        </a:lt1>
        <a:dk2>
          <a:srgbClr val="336600"/>
        </a:dk2>
        <a:lt2>
          <a:srgbClr val="FFFFFF"/>
        </a:lt2>
        <a:accent1>
          <a:srgbClr val="99CC00"/>
        </a:accent1>
        <a:accent2>
          <a:srgbClr val="003300"/>
        </a:accent2>
        <a:accent3>
          <a:srgbClr val="ADB8AA"/>
        </a:accent3>
        <a:accent4>
          <a:srgbClr val="DADADA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5">
        <a:dk1>
          <a:srgbClr val="808080"/>
        </a:dk1>
        <a:lt1>
          <a:srgbClr val="FFFFFF"/>
        </a:lt1>
        <a:dk2>
          <a:srgbClr val="003366"/>
        </a:dk2>
        <a:lt2>
          <a:srgbClr val="CCECFF"/>
        </a:lt2>
        <a:accent1>
          <a:srgbClr val="33CCCC"/>
        </a:accent1>
        <a:accent2>
          <a:srgbClr val="006699"/>
        </a:accent2>
        <a:accent3>
          <a:srgbClr val="AAADB8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00FF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6">
        <a:dk1>
          <a:srgbClr val="6666FF"/>
        </a:dk1>
        <a:lt1>
          <a:srgbClr val="FFFFFF"/>
        </a:lt1>
        <a:dk2>
          <a:srgbClr val="000066"/>
        </a:dk2>
        <a:lt2>
          <a:srgbClr val="FFFFFF"/>
        </a:lt2>
        <a:accent1>
          <a:srgbClr val="33CCFF"/>
        </a:accent1>
        <a:accent2>
          <a:srgbClr val="0000FF"/>
        </a:accent2>
        <a:accent3>
          <a:srgbClr val="AAAAB8"/>
        </a:accent3>
        <a:accent4>
          <a:srgbClr val="DADADA"/>
        </a:accent4>
        <a:accent5>
          <a:srgbClr val="ADE2FF"/>
        </a:accent5>
        <a:accent6>
          <a:srgbClr val="0000E7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7">
        <a:dk1>
          <a:srgbClr val="000000"/>
        </a:dk1>
        <a:lt1>
          <a:srgbClr val="FFFFFF"/>
        </a:lt1>
        <a:dk2>
          <a:srgbClr val="800080"/>
        </a:dk2>
        <a:lt2>
          <a:srgbClr val="FFFFFF"/>
        </a:lt2>
        <a:accent1>
          <a:srgbClr val="CC66FF"/>
        </a:accent1>
        <a:accent2>
          <a:srgbClr val="990099"/>
        </a:accent2>
        <a:accent3>
          <a:srgbClr val="C0AAC0"/>
        </a:accent3>
        <a:accent4>
          <a:srgbClr val="DADADA"/>
        </a:accent4>
        <a:accent5>
          <a:srgbClr val="E2B8FF"/>
        </a:accent5>
        <a:accent6>
          <a:srgbClr val="8A008A"/>
        </a:accent6>
        <a:hlink>
          <a:srgbClr val="FF9900"/>
        </a:hlink>
        <a:folHlink>
          <a:srgbClr val="FF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8">
        <a:dk1>
          <a:srgbClr val="FF3300"/>
        </a:dk1>
        <a:lt1>
          <a:srgbClr val="FFFFFF"/>
        </a:lt1>
        <a:dk2>
          <a:srgbClr val="800000"/>
        </a:dk2>
        <a:lt2>
          <a:srgbClr val="FFFFCC"/>
        </a:lt2>
        <a:accent1>
          <a:srgbClr val="FF7C80"/>
        </a:accent1>
        <a:accent2>
          <a:srgbClr val="990000"/>
        </a:accent2>
        <a:accent3>
          <a:srgbClr val="C0AAAA"/>
        </a:accent3>
        <a:accent4>
          <a:srgbClr val="DADADA"/>
        </a:accent4>
        <a:accent5>
          <a:srgbClr val="FFBFC0"/>
        </a:accent5>
        <a:accent6>
          <a:srgbClr val="8A0000"/>
        </a:accent6>
        <a:hlink>
          <a:srgbClr val="FF66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Crayons</Template>
  <TotalTime>0</TotalTime>
  <Words>9081</Words>
  <Application>WPS 演示</Application>
  <PresentationFormat>全屏显示(4:3)</PresentationFormat>
  <Paragraphs>965</Paragraphs>
  <Slides>37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37</vt:i4>
      </vt:variant>
    </vt:vector>
  </HeadingPairs>
  <TitlesOfParts>
    <vt:vector size="53" baseType="lpstr">
      <vt:lpstr>Arial</vt:lpstr>
      <vt:lpstr>宋体</vt:lpstr>
      <vt:lpstr>Wingdings</vt:lpstr>
      <vt:lpstr>Comic Sans MS</vt:lpstr>
      <vt:lpstr>Times New Roman</vt:lpstr>
      <vt:lpstr>Trebuchet MS</vt:lpstr>
      <vt:lpstr>Symbol</vt:lpstr>
      <vt:lpstr>Webdings</vt:lpstr>
      <vt:lpstr>微软雅黑</vt:lpstr>
      <vt:lpstr>Arial Unicode MS</vt:lpstr>
      <vt:lpstr>Tahoma</vt:lpstr>
      <vt:lpstr>MS Hei</vt:lpstr>
      <vt:lpstr>Crayons</vt:lpstr>
      <vt:lpstr>Paint.Picture</vt:lpstr>
      <vt:lpstr>MS_ClipArt_Gallery.2</vt:lpstr>
      <vt:lpstr>Equation.3</vt:lpstr>
      <vt:lpstr>Chapt.7 Sorting (III)</vt:lpstr>
      <vt:lpstr>Stable sort algorithms</vt:lpstr>
      <vt:lpstr>Unstable sort algorithms</vt:lpstr>
      <vt:lpstr>Stability of merging</vt:lpstr>
      <vt:lpstr>Summary: comparison based sorting methods</vt:lpstr>
      <vt:lpstr>Time complexity of Sorting</vt:lpstr>
      <vt:lpstr>PowerPoint 演示文稿</vt:lpstr>
      <vt:lpstr>PowerPoint 演示文稿</vt:lpstr>
      <vt:lpstr>Time complexity of Sorting</vt:lpstr>
      <vt:lpstr>Bucket Sort</vt:lpstr>
      <vt:lpstr>Bucket sort</vt:lpstr>
      <vt:lpstr>Example</vt:lpstr>
      <vt:lpstr>Values versus entries</vt:lpstr>
      <vt:lpstr>Time complexity</vt:lpstr>
      <vt:lpstr>Sorting integers</vt:lpstr>
      <vt:lpstr>Radix sort</vt:lpstr>
      <vt:lpstr>Radix Sort</vt:lpstr>
      <vt:lpstr>PowerPoint 演示文稿</vt:lpstr>
      <vt:lpstr>Radix Sort</vt:lpstr>
      <vt:lpstr>Radix Sort</vt:lpstr>
      <vt:lpstr>PowerPoint 演示文稿</vt:lpstr>
      <vt:lpstr>Radix Sort</vt:lpstr>
      <vt:lpstr>Example</vt:lpstr>
      <vt:lpstr>PowerPoint 演示文稿</vt:lpstr>
      <vt:lpstr>PowerPoint 演示文稿</vt:lpstr>
      <vt:lpstr>PowerPoint 演示文稿</vt:lpstr>
      <vt:lpstr>External Sort</vt:lpstr>
      <vt:lpstr>PowerPoint 演示文稿</vt:lpstr>
      <vt:lpstr>Simple Approaches to External Sorting</vt:lpstr>
      <vt:lpstr>PowerPoint 演示文稿</vt:lpstr>
      <vt:lpstr>Example </vt:lpstr>
      <vt:lpstr>Reducing the number of passes</vt:lpstr>
      <vt:lpstr>Reducing the number of passes</vt:lpstr>
      <vt:lpstr>Building long initial runs</vt:lpstr>
      <vt:lpstr>example</vt:lpstr>
      <vt:lpstr>Multi-way merging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yuchang</dc:creator>
  <cp:lastModifiedBy>Yan</cp:lastModifiedBy>
  <cp:revision>77</cp:revision>
  <dcterms:created xsi:type="dcterms:W3CDTF">2018-11-18T07:34:00Z</dcterms:created>
  <dcterms:modified xsi:type="dcterms:W3CDTF">2025-12-07T11:58:24Z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2052-12.1.0.24034</vt:lpwstr>
  </property>
  <property fmtid="{D5CDD505-2E9C-101B-9397-08002B2CF9AE}" pid="4" name="ICV">
    <vt:lpwstr>4D08E5FB39CD48C2AC64D35C9F5CA7B9_12</vt:lpwstr>
  </property>
</Properties>
</file>