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3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97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4" r:id="rId22"/>
    <p:sldId id="275" r:id="rId23"/>
    <p:sldId id="269" r:id="rId24"/>
    <p:sldId id="276" r:id="rId25"/>
    <p:sldId id="277" r:id="rId26"/>
    <p:sldId id="278" r:id="rId27"/>
    <p:sldId id="279" r:id="rId28"/>
    <p:sldId id="280" r:id="rId29"/>
    <p:sldId id="281" r:id="rId30"/>
    <p:sldId id="282" r:id="rId32"/>
    <p:sldId id="29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8" r:id="rId43"/>
    <p:sldId id="302" r:id="rId44"/>
    <p:sldId id="303" r:id="rId45"/>
    <p:sldId id="301" r:id="rId46"/>
    <p:sldId id="294" r:id="rId47"/>
    <p:sldId id="296" r:id="rId48"/>
    <p:sldId id="300" r:id="rId49"/>
    <p:sldId id="304" r:id="rId5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92" d="100"/>
          <a:sy n="92" d="100"/>
        </p:scale>
        <p:origin x="466" y="72"/>
      </p:cViewPr>
      <p:guideLst>
        <p:guide orient="horz" pos="2218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2"/>
          <p:cNvSpPr>
            <a:spLocks noChangeArrowheads="1"/>
          </p:cNvSpPr>
          <p:nvPr/>
        </p:nvSpPr>
        <p:spPr bwMode="auto">
          <a:xfrm>
            <a:off x="20638" y="12700"/>
            <a:ext cx="8896350" cy="6780213"/>
          </a:xfrm>
          <a:custGeom>
            <a:avLst/>
            <a:gdLst>
              <a:gd name="T0" fmla="*/ 2822 w 3985"/>
              <a:gd name="T1" fmla="*/ 0 h 3619"/>
              <a:gd name="T2" fmla="*/ 0 w 3985"/>
              <a:gd name="T3" fmla="*/ 975 h 3619"/>
              <a:gd name="T4" fmla="*/ 2169 w 3985"/>
              <a:gd name="T5" fmla="*/ 3619 h 3619"/>
              <a:gd name="T6" fmla="*/ 3985 w 3985"/>
              <a:gd name="T7" fmla="*/ 1125 h 3619"/>
              <a:gd name="T8" fmla="*/ 2822 w 3985"/>
              <a:gd name="T9" fmla="*/ 0 h 3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55" name="Freeform 9"/>
            <p:cNvSpPr>
              <a:spLocks noChangeArrowheads="1"/>
            </p:cNvSpPr>
            <p:nvPr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0"/>
            <p:cNvSpPr>
              <a:spLocks noChangeArrowheads="1"/>
            </p:cNvSpPr>
            <p:nvPr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1"/>
            <p:cNvSpPr>
              <a:spLocks noChangeArrowheads="1"/>
            </p:cNvSpPr>
            <p:nvPr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59" name="Freeform 13"/>
              <p:cNvSpPr>
                <a:spLocks noChangeArrowheads="1"/>
              </p:cNvSpPr>
              <p:nvPr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Freeform 14"/>
              <p:cNvSpPr>
                <a:spLocks noChangeArrowheads="1"/>
              </p:cNvSpPr>
              <p:nvPr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Freeform 15"/>
              <p:cNvSpPr>
                <a:spLocks noChangeArrowheads="1"/>
              </p:cNvSpPr>
              <p:nvPr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Freeform 16"/>
              <p:cNvSpPr>
                <a:spLocks noChangeArrowheads="1"/>
              </p:cNvSpPr>
              <p:nvPr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Freeform 17"/>
              <p:cNvSpPr>
                <a:spLocks noChangeArrowheads="1"/>
              </p:cNvSpPr>
              <p:nvPr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65" name="Freeform 19"/>
            <p:cNvSpPr>
              <a:spLocks noChangeArrowheads="1"/>
            </p:cNvSpPr>
            <p:nvPr/>
          </p:nvSpPr>
          <p:spPr bwMode="auto">
            <a:xfrm rot="7320404">
              <a:off x="4905" y="2932"/>
              <a:ext cx="629" cy="293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20"/>
            <p:cNvSpPr>
              <a:spLocks noChangeArrowheads="1"/>
            </p:cNvSpPr>
            <p:nvPr/>
          </p:nvSpPr>
          <p:spPr bwMode="auto">
            <a:xfrm rot="7320404">
              <a:off x="4890" y="2919"/>
              <a:ext cx="627" cy="29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21"/>
            <p:cNvSpPr>
              <a:spLocks noChangeArrowheads="1"/>
            </p:cNvSpPr>
            <p:nvPr/>
          </p:nvSpPr>
          <p:spPr bwMode="auto">
            <a:xfrm rot="7320404">
              <a:off x="4996" y="2910"/>
              <a:ext cx="416" cy="265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69" name="Freeform 23"/>
              <p:cNvSpPr>
                <a:spLocks noChangeArrowheads="1"/>
              </p:cNvSpPr>
              <p:nvPr/>
            </p:nvSpPr>
            <p:spPr bwMode="auto">
              <a:xfrm rot="7320404">
                <a:off x="4983" y="3186"/>
                <a:ext cx="59" cy="61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24"/>
              <p:cNvSpPr>
                <a:spLocks noChangeArrowheads="1"/>
              </p:cNvSpPr>
              <p:nvPr/>
            </p:nvSpPr>
            <p:spPr bwMode="auto">
              <a:xfrm rot="7320404">
                <a:off x="4883" y="2926"/>
                <a:ext cx="667" cy="31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25"/>
              <p:cNvSpPr>
                <a:spLocks noChangeArrowheads="1"/>
              </p:cNvSpPr>
              <p:nvPr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26"/>
              <p:cNvSpPr>
                <a:spLocks noChangeArrowheads="1"/>
              </p:cNvSpPr>
              <p:nvPr/>
            </p:nvSpPr>
            <p:spPr bwMode="auto">
              <a:xfrm rot="7320404">
                <a:off x="5362" y="2869"/>
                <a:ext cx="63" cy="118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27"/>
              <p:cNvSpPr>
                <a:spLocks noChangeArrowheads="1"/>
              </p:cNvSpPr>
              <p:nvPr/>
            </p:nvSpPr>
            <p:spPr bwMode="auto">
              <a:xfrm rot="7320404">
                <a:off x="5134" y="2996"/>
                <a:ext cx="193" cy="10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4" name="Freeform 28"/>
          <p:cNvSpPr>
            <a:spLocks noChangeArrowheads="1"/>
          </p:cNvSpPr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816 w 4288"/>
              <a:gd name="T3" fmla="*/ 256 h 459"/>
              <a:gd name="T4" fmla="*/ 1560 w 4288"/>
              <a:gd name="T5" fmla="*/ 144 h 459"/>
              <a:gd name="T6" fmla="*/ 1856 w 4288"/>
              <a:gd name="T7" fmla="*/ 376 h 459"/>
              <a:gd name="T8" fmla="*/ 2344 w 4288"/>
              <a:gd name="T9" fmla="*/ 152 h 459"/>
              <a:gd name="T10" fmla="*/ 3536 w 4288"/>
              <a:gd name="T11" fmla="*/ 456 h 459"/>
              <a:gd name="T12" fmla="*/ 4288 w 4288"/>
              <a:gd name="T13" fmla="*/ 136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>
            <a:solidFill>
              <a:schemeClr val="folHlink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Freeform 29"/>
          <p:cNvSpPr>
            <a:spLocks noChangeArrowheads="1"/>
          </p:cNvSpPr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32 h 240"/>
              <a:gd name="T2" fmla="*/ 280 w 560"/>
              <a:gd name="T3" fmla="*/ 144 h 240"/>
              <a:gd name="T4" fmla="*/ 448 w 560"/>
              <a:gd name="T5" fmla="*/ 16 h 240"/>
              <a:gd name="T6" fmla="*/ 560 w 560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>
            <a:solidFill>
              <a:schemeClr val="tx2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2"/>
          <p:cNvSpPr>
            <a:spLocks noChangeArrowheads="1"/>
          </p:cNvSpPr>
          <p:nvPr/>
        </p:nvSpPr>
        <p:spPr bwMode="auto">
          <a:xfrm>
            <a:off x="20638" y="12700"/>
            <a:ext cx="8896350" cy="6780213"/>
          </a:xfrm>
          <a:custGeom>
            <a:avLst/>
            <a:gdLst>
              <a:gd name="T0" fmla="*/ 2822 w 3985"/>
              <a:gd name="T1" fmla="*/ 0 h 3619"/>
              <a:gd name="T2" fmla="*/ 0 w 3985"/>
              <a:gd name="T3" fmla="*/ 975 h 3619"/>
              <a:gd name="T4" fmla="*/ 2169 w 3985"/>
              <a:gd name="T5" fmla="*/ 3619 h 3619"/>
              <a:gd name="T6" fmla="*/ 3985 w 3985"/>
              <a:gd name="T7" fmla="*/ 1125 h 3619"/>
              <a:gd name="T8" fmla="*/ 2822 w 3985"/>
              <a:gd name="T9" fmla="*/ 0 h 3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55" name="Freeform 9"/>
            <p:cNvSpPr>
              <a:spLocks noChangeArrowheads="1"/>
            </p:cNvSpPr>
            <p:nvPr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0"/>
            <p:cNvSpPr>
              <a:spLocks noChangeArrowheads="1"/>
            </p:cNvSpPr>
            <p:nvPr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1"/>
            <p:cNvSpPr>
              <a:spLocks noChangeArrowheads="1"/>
            </p:cNvSpPr>
            <p:nvPr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59" name="Freeform 13"/>
              <p:cNvSpPr>
                <a:spLocks noChangeArrowheads="1"/>
              </p:cNvSpPr>
              <p:nvPr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Freeform 14"/>
              <p:cNvSpPr>
                <a:spLocks noChangeArrowheads="1"/>
              </p:cNvSpPr>
              <p:nvPr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Freeform 15"/>
              <p:cNvSpPr>
                <a:spLocks noChangeArrowheads="1"/>
              </p:cNvSpPr>
              <p:nvPr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Freeform 16"/>
              <p:cNvSpPr>
                <a:spLocks noChangeArrowheads="1"/>
              </p:cNvSpPr>
              <p:nvPr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Freeform 17"/>
              <p:cNvSpPr>
                <a:spLocks noChangeArrowheads="1"/>
              </p:cNvSpPr>
              <p:nvPr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65" name="Freeform 19"/>
            <p:cNvSpPr>
              <a:spLocks noChangeArrowheads="1"/>
            </p:cNvSpPr>
            <p:nvPr/>
          </p:nvSpPr>
          <p:spPr bwMode="auto">
            <a:xfrm rot="7320404">
              <a:off x="4905" y="2932"/>
              <a:ext cx="629" cy="293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20"/>
            <p:cNvSpPr>
              <a:spLocks noChangeArrowheads="1"/>
            </p:cNvSpPr>
            <p:nvPr/>
          </p:nvSpPr>
          <p:spPr bwMode="auto">
            <a:xfrm rot="7320404">
              <a:off x="4890" y="2919"/>
              <a:ext cx="627" cy="29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21"/>
            <p:cNvSpPr>
              <a:spLocks noChangeArrowheads="1"/>
            </p:cNvSpPr>
            <p:nvPr/>
          </p:nvSpPr>
          <p:spPr bwMode="auto">
            <a:xfrm rot="7320404">
              <a:off x="4996" y="2910"/>
              <a:ext cx="416" cy="265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69" name="Freeform 23"/>
              <p:cNvSpPr>
                <a:spLocks noChangeArrowheads="1"/>
              </p:cNvSpPr>
              <p:nvPr/>
            </p:nvSpPr>
            <p:spPr bwMode="auto">
              <a:xfrm rot="7320404">
                <a:off x="4983" y="3186"/>
                <a:ext cx="59" cy="61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24"/>
              <p:cNvSpPr>
                <a:spLocks noChangeArrowheads="1"/>
              </p:cNvSpPr>
              <p:nvPr/>
            </p:nvSpPr>
            <p:spPr bwMode="auto">
              <a:xfrm rot="7320404">
                <a:off x="4883" y="2926"/>
                <a:ext cx="667" cy="31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25"/>
              <p:cNvSpPr>
                <a:spLocks noChangeArrowheads="1"/>
              </p:cNvSpPr>
              <p:nvPr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26"/>
              <p:cNvSpPr>
                <a:spLocks noChangeArrowheads="1"/>
              </p:cNvSpPr>
              <p:nvPr/>
            </p:nvSpPr>
            <p:spPr bwMode="auto">
              <a:xfrm rot="7320404">
                <a:off x="5362" y="2869"/>
                <a:ext cx="63" cy="118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27"/>
              <p:cNvSpPr>
                <a:spLocks noChangeArrowheads="1"/>
              </p:cNvSpPr>
              <p:nvPr/>
            </p:nvSpPr>
            <p:spPr bwMode="auto">
              <a:xfrm rot="7320404">
                <a:off x="5134" y="2996"/>
                <a:ext cx="193" cy="10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4" name="Freeform 28"/>
          <p:cNvSpPr>
            <a:spLocks noChangeArrowheads="1"/>
          </p:cNvSpPr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816 w 4288"/>
              <a:gd name="T3" fmla="*/ 256 h 459"/>
              <a:gd name="T4" fmla="*/ 1560 w 4288"/>
              <a:gd name="T5" fmla="*/ 144 h 459"/>
              <a:gd name="T6" fmla="*/ 1856 w 4288"/>
              <a:gd name="T7" fmla="*/ 376 h 459"/>
              <a:gd name="T8" fmla="*/ 2344 w 4288"/>
              <a:gd name="T9" fmla="*/ 152 h 459"/>
              <a:gd name="T10" fmla="*/ 3536 w 4288"/>
              <a:gd name="T11" fmla="*/ 456 h 459"/>
              <a:gd name="T12" fmla="*/ 4288 w 4288"/>
              <a:gd name="T13" fmla="*/ 136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>
            <a:solidFill>
              <a:schemeClr val="folHlink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Freeform 29"/>
          <p:cNvSpPr>
            <a:spLocks noChangeArrowheads="1"/>
          </p:cNvSpPr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32 h 240"/>
              <a:gd name="T2" fmla="*/ 280 w 560"/>
              <a:gd name="T3" fmla="*/ 144 h 240"/>
              <a:gd name="T4" fmla="*/ 448 w 560"/>
              <a:gd name="T5" fmla="*/ 16 h 240"/>
              <a:gd name="T6" fmla="*/ 560 w 560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>
            <a:solidFill>
              <a:schemeClr val="tx2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>
            <a:spLocks noChangeArrowheads="1"/>
          </p:cNvSpPr>
          <p:nvPr/>
        </p:nvSpPr>
        <p:spPr bwMode="auto">
          <a:xfrm rot="-3172564">
            <a:off x="7777163" y="-14287"/>
            <a:ext cx="1162050" cy="2082800"/>
          </a:xfrm>
          <a:custGeom>
            <a:avLst/>
            <a:gdLst>
              <a:gd name="T0" fmla="*/ 2903 w 2903"/>
              <a:gd name="T1" fmla="*/ 433 h 3686"/>
              <a:gd name="T2" fmla="*/ 2565 w 2903"/>
              <a:gd name="T3" fmla="*/ 80 h 3686"/>
              <a:gd name="T4" fmla="*/ 2241 w 2903"/>
              <a:gd name="T5" fmla="*/ 0 h 3686"/>
              <a:gd name="T6" fmla="*/ 110 w 2903"/>
              <a:gd name="T7" fmla="*/ 2811 h 3686"/>
              <a:gd name="T8" fmla="*/ 110 w 2903"/>
              <a:gd name="T9" fmla="*/ 3228 h 3686"/>
              <a:gd name="T10" fmla="*/ 0 w 2903"/>
              <a:gd name="T11" fmla="*/ 3631 h 3686"/>
              <a:gd name="T12" fmla="*/ 72 w 2903"/>
              <a:gd name="T13" fmla="*/ 3686 h 3686"/>
              <a:gd name="T14" fmla="*/ 441 w 2903"/>
              <a:gd name="T15" fmla="*/ 3355 h 3686"/>
              <a:gd name="T16" fmla="*/ 740 w 2903"/>
              <a:gd name="T17" fmla="*/ 3228 h 3686"/>
              <a:gd name="T18" fmla="*/ 2903 w 2903"/>
              <a:gd name="T19" fmla="*/ 433 h 3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>
            <a:spLocks noChangeArrowheads="1"/>
          </p:cNvSpPr>
          <p:nvPr/>
        </p:nvSpPr>
        <p:spPr bwMode="auto">
          <a:xfrm rot="-3172564">
            <a:off x="7862888" y="20638"/>
            <a:ext cx="1165225" cy="2098675"/>
          </a:xfrm>
          <a:custGeom>
            <a:avLst/>
            <a:gdLst>
              <a:gd name="T0" fmla="*/ 2293 w 2911"/>
              <a:gd name="T1" fmla="*/ 0 h 3703"/>
              <a:gd name="T2" fmla="*/ 130 w 2911"/>
              <a:gd name="T3" fmla="*/ 2835 h 3703"/>
              <a:gd name="T4" fmla="*/ 131 w 2911"/>
              <a:gd name="T5" fmla="*/ 3201 h 3703"/>
              <a:gd name="T6" fmla="*/ 0 w 2911"/>
              <a:gd name="T7" fmla="*/ 3633 h 3703"/>
              <a:gd name="T8" fmla="*/ 50 w 2911"/>
              <a:gd name="T9" fmla="*/ 3703 h 3703"/>
              <a:gd name="T10" fmla="*/ 422 w 2911"/>
              <a:gd name="T11" fmla="*/ 3352 h 3703"/>
              <a:gd name="T12" fmla="*/ 763 w 2911"/>
              <a:gd name="T13" fmla="*/ 3220 h 3703"/>
              <a:gd name="T14" fmla="*/ 2911 w 2911"/>
              <a:gd name="T15" fmla="*/ 428 h 3703"/>
              <a:gd name="T16" fmla="*/ 2589 w 2911"/>
              <a:gd name="T17" fmla="*/ 96 h 3703"/>
              <a:gd name="T18" fmla="*/ 2293 w 2911"/>
              <a:gd name="T19" fmla="*/ 0 h 3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Freeform 9"/>
          <p:cNvSpPr>
            <a:spLocks noChangeArrowheads="1"/>
          </p:cNvSpPr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485 h 2777"/>
              <a:gd name="T2" fmla="*/ 432 w 2561"/>
              <a:gd name="T3" fmla="*/ 2553 h 2777"/>
              <a:gd name="T4" fmla="*/ 736 w 2561"/>
              <a:gd name="T5" fmla="*/ 2777 h 2777"/>
              <a:gd name="T6" fmla="*/ 2561 w 2561"/>
              <a:gd name="T7" fmla="*/ 399 h 2777"/>
              <a:gd name="T8" fmla="*/ 2118 w 2561"/>
              <a:gd name="T9" fmla="*/ 82 h 2777"/>
              <a:gd name="T10" fmla="*/ 1898 w 2561"/>
              <a:gd name="T11" fmla="*/ 0 h 2777"/>
              <a:gd name="T12" fmla="*/ 0 w 2561"/>
              <a:gd name="T13" fmla="*/ 2485 h 2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2" name="Freeform 11"/>
            <p:cNvSpPr>
              <a:spLocks noChangeArrowheads="1"/>
            </p:cNvSpPr>
            <p:nvPr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1587 w 2177"/>
                <a:gd name="T1" fmla="*/ 1260 h 1298"/>
                <a:gd name="T2" fmla="*/ 1420 w 2177"/>
                <a:gd name="T3" fmla="*/ 1106 h 1298"/>
                <a:gd name="T4" fmla="*/ 1331 w 2177"/>
                <a:gd name="T5" fmla="*/ 477 h 1298"/>
                <a:gd name="T6" fmla="*/ 2139 w 2177"/>
                <a:gd name="T7" fmla="*/ 330 h 1298"/>
                <a:gd name="T8" fmla="*/ 2177 w 2177"/>
                <a:gd name="T9" fmla="*/ 203 h 1298"/>
                <a:gd name="T10" fmla="*/ 2099 w 2177"/>
                <a:gd name="T11" fmla="*/ 100 h 1298"/>
                <a:gd name="T12" fmla="*/ 1276 w 2177"/>
                <a:gd name="T13" fmla="*/ 211 h 1298"/>
                <a:gd name="T14" fmla="*/ 1219 w 2177"/>
                <a:gd name="T15" fmla="*/ 32 h 1298"/>
                <a:gd name="T16" fmla="*/ 1085 w 2177"/>
                <a:gd name="T17" fmla="*/ 0 h 1298"/>
                <a:gd name="T18" fmla="*/ 958 w 2177"/>
                <a:gd name="T19" fmla="*/ 28 h 1298"/>
                <a:gd name="T20" fmla="*/ 888 w 2177"/>
                <a:gd name="T21" fmla="*/ 106 h 1298"/>
                <a:gd name="T22" fmla="*/ 937 w 2177"/>
                <a:gd name="T23" fmla="*/ 285 h 1298"/>
                <a:gd name="T24" fmla="*/ 660 w 2177"/>
                <a:gd name="T25" fmla="*/ 441 h 1298"/>
                <a:gd name="T26" fmla="*/ 983 w 2177"/>
                <a:gd name="T27" fmla="*/ 473 h 1298"/>
                <a:gd name="T28" fmla="*/ 1112 w 2177"/>
                <a:gd name="T29" fmla="*/ 889 h 1298"/>
                <a:gd name="T30" fmla="*/ 141 w 2177"/>
                <a:gd name="T31" fmla="*/ 469 h 1298"/>
                <a:gd name="T32" fmla="*/ 46 w 2177"/>
                <a:gd name="T33" fmla="*/ 509 h 1298"/>
                <a:gd name="T34" fmla="*/ 0 w 2177"/>
                <a:gd name="T35" fmla="*/ 636 h 1298"/>
                <a:gd name="T36" fmla="*/ 55 w 2177"/>
                <a:gd name="T37" fmla="*/ 779 h 1298"/>
                <a:gd name="T38" fmla="*/ 1139 w 2177"/>
                <a:gd name="T39" fmla="*/ 1288 h 1298"/>
                <a:gd name="T40" fmla="*/ 1378 w 2177"/>
                <a:gd name="T41" fmla="*/ 1256 h 1298"/>
                <a:gd name="T42" fmla="*/ 1570 w 2177"/>
                <a:gd name="T43" fmla="*/ 1298 h 1298"/>
                <a:gd name="T44" fmla="*/ 1587 w 2177"/>
                <a:gd name="T45" fmla="*/ 126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Freeform 12"/>
            <p:cNvSpPr>
              <a:spLocks noChangeArrowheads="1"/>
            </p:cNvSpPr>
            <p:nvPr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7 h 258"/>
                <a:gd name="T2" fmla="*/ 120 w 143"/>
                <a:gd name="T3" fmla="*/ 0 h 258"/>
                <a:gd name="T4" fmla="*/ 143 w 143"/>
                <a:gd name="T5" fmla="*/ 233 h 258"/>
                <a:gd name="T6" fmla="*/ 8 w 143"/>
                <a:gd name="T7" fmla="*/ 258 h 258"/>
                <a:gd name="T8" fmla="*/ 0 w 143"/>
                <a:gd name="T9" fmla="*/ 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Freeform 13"/>
            <p:cNvSpPr>
              <a:spLocks noChangeArrowheads="1"/>
            </p:cNvSpPr>
            <p:nvPr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Freeform 14"/>
            <p:cNvSpPr>
              <a:spLocks noChangeArrowheads="1"/>
            </p:cNvSpPr>
            <p:nvPr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15"/>
            <p:cNvSpPr>
              <a:spLocks noChangeArrowheads="1"/>
            </p:cNvSpPr>
            <p:nvPr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28 h 241"/>
                <a:gd name="T2" fmla="*/ 160 w 272"/>
                <a:gd name="T3" fmla="*/ 0 h 241"/>
                <a:gd name="T4" fmla="*/ 251 w 272"/>
                <a:gd name="T5" fmla="*/ 36 h 241"/>
                <a:gd name="T6" fmla="*/ 272 w 272"/>
                <a:gd name="T7" fmla="*/ 139 h 241"/>
                <a:gd name="T8" fmla="*/ 164 w 272"/>
                <a:gd name="T9" fmla="*/ 146 h 241"/>
                <a:gd name="T10" fmla="*/ 32 w 272"/>
                <a:gd name="T11" fmla="*/ 241 h 241"/>
                <a:gd name="T12" fmla="*/ 0 w 272"/>
                <a:gd name="T13" fmla="*/ 28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Freeform 16"/>
            <p:cNvSpPr>
              <a:spLocks noChangeArrowheads="1"/>
            </p:cNvSpPr>
            <p:nvPr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52 w 152"/>
                <a:gd name="T1" fmla="*/ 4 h 224"/>
                <a:gd name="T2" fmla="*/ 152 w 152"/>
                <a:gd name="T3" fmla="*/ 224 h 224"/>
                <a:gd name="T4" fmla="*/ 0 w 152"/>
                <a:gd name="T5" fmla="*/ 8 h 224"/>
                <a:gd name="T6" fmla="*/ 72 w 152"/>
                <a:gd name="T7" fmla="*/ 0 h 224"/>
                <a:gd name="T8" fmla="*/ 152 w 152"/>
                <a:gd name="T9" fmla="*/ 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Freeform 17"/>
            <p:cNvSpPr>
              <a:spLocks noChangeArrowheads="1"/>
            </p:cNvSpPr>
            <p:nvPr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80 h 764"/>
                <a:gd name="T2" fmla="*/ 87 w 386"/>
                <a:gd name="T3" fmla="*/ 0 h 764"/>
                <a:gd name="T4" fmla="*/ 232 w 386"/>
                <a:gd name="T5" fmla="*/ 6 h 764"/>
                <a:gd name="T6" fmla="*/ 386 w 386"/>
                <a:gd name="T7" fmla="*/ 764 h 764"/>
                <a:gd name="T8" fmla="*/ 279 w 386"/>
                <a:gd name="T9" fmla="*/ 720 h 764"/>
                <a:gd name="T10" fmla="*/ 152 w 386"/>
                <a:gd name="T11" fmla="*/ 677 h 764"/>
                <a:gd name="T12" fmla="*/ 0 w 386"/>
                <a:gd name="T13" fmla="*/ 8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18"/>
            <p:cNvSpPr>
              <a:spLocks noChangeArrowheads="1"/>
            </p:cNvSpPr>
            <p:nvPr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692 w 728"/>
                <a:gd name="T1" fmla="*/ 0 h 348"/>
                <a:gd name="T2" fmla="*/ 0 w 728"/>
                <a:gd name="T3" fmla="*/ 106 h 348"/>
                <a:gd name="T4" fmla="*/ 28 w 728"/>
                <a:gd name="T5" fmla="*/ 348 h 348"/>
                <a:gd name="T6" fmla="*/ 715 w 728"/>
                <a:gd name="T7" fmla="*/ 237 h 348"/>
                <a:gd name="T8" fmla="*/ 728 w 728"/>
                <a:gd name="T9" fmla="*/ 43 h 348"/>
                <a:gd name="T10" fmla="*/ 692 w 728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3" name="Freeform 19"/>
            <p:cNvSpPr>
              <a:spLocks noChangeArrowheads="1"/>
            </p:cNvSpPr>
            <p:nvPr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272 w 312"/>
                <a:gd name="T1" fmla="*/ 0 h 135"/>
                <a:gd name="T2" fmla="*/ 0 w 312"/>
                <a:gd name="T3" fmla="*/ 78 h 135"/>
                <a:gd name="T4" fmla="*/ 312 w 312"/>
                <a:gd name="T5" fmla="*/ 135 h 135"/>
                <a:gd name="T6" fmla="*/ 272 w 312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46" name="Freeform 22"/>
                <p:cNvSpPr>
                  <a:spLocks noChangeArrowheads="1"/>
                </p:cNvSpPr>
                <p:nvPr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107 h 175"/>
                    <a:gd name="T2" fmla="*/ 114 w 313"/>
                    <a:gd name="T3" fmla="*/ 10 h 175"/>
                    <a:gd name="T4" fmla="*/ 213 w 313"/>
                    <a:gd name="T5" fmla="*/ 0 h 175"/>
                    <a:gd name="T6" fmla="*/ 292 w 313"/>
                    <a:gd name="T7" fmla="*/ 27 h 175"/>
                    <a:gd name="T8" fmla="*/ 313 w 313"/>
                    <a:gd name="T9" fmla="*/ 91 h 175"/>
                    <a:gd name="T10" fmla="*/ 167 w 313"/>
                    <a:gd name="T11" fmla="*/ 67 h 175"/>
                    <a:gd name="T12" fmla="*/ 74 w 313"/>
                    <a:gd name="T13" fmla="*/ 101 h 175"/>
                    <a:gd name="T14" fmla="*/ 13 w 313"/>
                    <a:gd name="T15" fmla="*/ 175 h 175"/>
                    <a:gd name="T16" fmla="*/ 0 w 313"/>
                    <a:gd name="T17" fmla="*/ 107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7" name="Freeform 23"/>
                <p:cNvSpPr>
                  <a:spLocks noChangeArrowheads="1"/>
                </p:cNvSpPr>
                <p:nvPr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40 h 266"/>
                    <a:gd name="T2" fmla="*/ 160 w 230"/>
                    <a:gd name="T3" fmla="*/ 266 h 266"/>
                    <a:gd name="T4" fmla="*/ 230 w 230"/>
                    <a:gd name="T5" fmla="*/ 251 h 266"/>
                    <a:gd name="T6" fmla="*/ 223 w 230"/>
                    <a:gd name="T7" fmla="*/ 17 h 266"/>
                    <a:gd name="T8" fmla="*/ 166 w 230"/>
                    <a:gd name="T9" fmla="*/ 0 h 266"/>
                    <a:gd name="T10" fmla="*/ 179 w 230"/>
                    <a:gd name="T11" fmla="*/ 197 h 266"/>
                    <a:gd name="T12" fmla="*/ 71 w 230"/>
                    <a:gd name="T13" fmla="*/ 4 h 266"/>
                    <a:gd name="T14" fmla="*/ 0 w 230"/>
                    <a:gd name="T15" fmla="*/ 40 h 2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8" name="Freeform 24"/>
                <p:cNvSpPr>
                  <a:spLocks noChangeArrowheads="1"/>
                </p:cNvSpPr>
                <p:nvPr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9 h 234"/>
                    <a:gd name="T2" fmla="*/ 36 w 87"/>
                    <a:gd name="T3" fmla="*/ 93 h 234"/>
                    <a:gd name="T4" fmla="*/ 44 w 87"/>
                    <a:gd name="T5" fmla="*/ 154 h 234"/>
                    <a:gd name="T6" fmla="*/ 27 w 87"/>
                    <a:gd name="T7" fmla="*/ 234 h 234"/>
                    <a:gd name="T8" fmla="*/ 80 w 87"/>
                    <a:gd name="T9" fmla="*/ 220 h 234"/>
                    <a:gd name="T10" fmla="*/ 87 w 87"/>
                    <a:gd name="T11" fmla="*/ 116 h 234"/>
                    <a:gd name="T12" fmla="*/ 46 w 87"/>
                    <a:gd name="T13" fmla="*/ 0 h 234"/>
                    <a:gd name="T14" fmla="*/ 0 w 87"/>
                    <a:gd name="T15" fmla="*/ 19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49" name="Freeform 25"/>
              <p:cNvSpPr>
                <a:spLocks noChangeArrowheads="1"/>
              </p:cNvSpPr>
              <p:nvPr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Freeform 26"/>
              <p:cNvSpPr>
                <a:spLocks noChangeArrowheads="1"/>
              </p:cNvSpPr>
              <p:nvPr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Freeform 27"/>
              <p:cNvSpPr>
                <a:spLocks noChangeArrowheads="1"/>
              </p:cNvSpPr>
              <p:nvPr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24 w 213"/>
                  <a:gd name="T1" fmla="*/ 0 h 478"/>
                  <a:gd name="T2" fmla="*/ 91 w 213"/>
                  <a:gd name="T3" fmla="*/ 25 h 478"/>
                  <a:gd name="T4" fmla="*/ 80 w 213"/>
                  <a:gd name="T5" fmla="*/ 192 h 478"/>
                  <a:gd name="T6" fmla="*/ 106 w 213"/>
                  <a:gd name="T7" fmla="*/ 327 h 478"/>
                  <a:gd name="T8" fmla="*/ 213 w 213"/>
                  <a:gd name="T9" fmla="*/ 451 h 478"/>
                  <a:gd name="T10" fmla="*/ 97 w 213"/>
                  <a:gd name="T11" fmla="*/ 478 h 478"/>
                  <a:gd name="T12" fmla="*/ 30 w 213"/>
                  <a:gd name="T13" fmla="*/ 344 h 478"/>
                  <a:gd name="T14" fmla="*/ 0 w 213"/>
                  <a:gd name="T15" fmla="*/ 57 h 478"/>
                  <a:gd name="T16" fmla="*/ 24 w 213"/>
                  <a:gd name="T17" fmla="*/ 0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53" name="Freeform 29"/>
                <p:cNvSpPr>
                  <a:spLocks noChangeArrowheads="1"/>
                </p:cNvSpPr>
                <p:nvPr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10 w 150"/>
                    <a:gd name="T1" fmla="*/ 0 h 173"/>
                    <a:gd name="T2" fmla="*/ 40 w 150"/>
                    <a:gd name="T3" fmla="*/ 66 h 173"/>
                    <a:gd name="T4" fmla="*/ 0 w 150"/>
                    <a:gd name="T5" fmla="*/ 173 h 173"/>
                    <a:gd name="T6" fmla="*/ 80 w 150"/>
                    <a:gd name="T7" fmla="*/ 160 h 173"/>
                    <a:gd name="T8" fmla="*/ 103 w 150"/>
                    <a:gd name="T9" fmla="*/ 84 h 173"/>
                    <a:gd name="T10" fmla="*/ 150 w 150"/>
                    <a:gd name="T11" fmla="*/ 27 h 173"/>
                    <a:gd name="T12" fmla="*/ 110 w 150"/>
                    <a:gd name="T13" fmla="*/ 0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4" name="Freeform 30"/>
                <p:cNvSpPr>
                  <a:spLocks noChangeArrowheads="1"/>
                </p:cNvSpPr>
                <p:nvPr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56 w 1684"/>
                    <a:gd name="T1" fmla="*/ 0 h 880"/>
                    <a:gd name="T2" fmla="*/ 63 w 1684"/>
                    <a:gd name="T3" fmla="*/ 52 h 880"/>
                    <a:gd name="T4" fmla="*/ 0 w 1684"/>
                    <a:gd name="T5" fmla="*/ 208 h 880"/>
                    <a:gd name="T6" fmla="*/ 67 w 1684"/>
                    <a:gd name="T7" fmla="*/ 358 h 880"/>
                    <a:gd name="T8" fmla="*/ 1182 w 1684"/>
                    <a:gd name="T9" fmla="*/ 867 h 880"/>
                    <a:gd name="T10" fmla="*/ 1422 w 1684"/>
                    <a:gd name="T11" fmla="*/ 835 h 880"/>
                    <a:gd name="T12" fmla="*/ 1616 w 1684"/>
                    <a:gd name="T13" fmla="*/ 880 h 880"/>
                    <a:gd name="T14" fmla="*/ 1684 w 1684"/>
                    <a:gd name="T15" fmla="*/ 808 h 880"/>
                    <a:gd name="T16" fmla="*/ 1502 w 1684"/>
                    <a:gd name="T17" fmla="*/ 664 h 880"/>
                    <a:gd name="T18" fmla="*/ 1428 w 1684"/>
                    <a:gd name="T19" fmla="*/ 512 h 880"/>
                    <a:gd name="T20" fmla="*/ 1369 w 1684"/>
                    <a:gd name="T21" fmla="*/ 527 h 880"/>
                    <a:gd name="T22" fmla="*/ 1439 w 1684"/>
                    <a:gd name="T23" fmla="*/ 664 h 880"/>
                    <a:gd name="T24" fmla="*/ 1578 w 1684"/>
                    <a:gd name="T25" fmla="*/ 810 h 880"/>
                    <a:gd name="T26" fmla="*/ 1413 w 1684"/>
                    <a:gd name="T27" fmla="*/ 787 h 880"/>
                    <a:gd name="T28" fmla="*/ 1219 w 1684"/>
                    <a:gd name="T29" fmla="*/ 814 h 880"/>
                    <a:gd name="T30" fmla="*/ 1255 w 1684"/>
                    <a:gd name="T31" fmla="*/ 650 h 880"/>
                    <a:gd name="T32" fmla="*/ 1338 w 1684"/>
                    <a:gd name="T33" fmla="*/ 538 h 880"/>
                    <a:gd name="T34" fmla="*/ 1241 w 1684"/>
                    <a:gd name="T35" fmla="*/ 552 h 880"/>
                    <a:gd name="T36" fmla="*/ 1165 w 1684"/>
                    <a:gd name="T37" fmla="*/ 658 h 880"/>
                    <a:gd name="T38" fmla="*/ 1139 w 1684"/>
                    <a:gd name="T39" fmla="*/ 791 h 880"/>
                    <a:gd name="T40" fmla="*/ 107 w 1684"/>
                    <a:gd name="T41" fmla="*/ 310 h 880"/>
                    <a:gd name="T42" fmla="*/ 80 w 1684"/>
                    <a:gd name="T43" fmla="*/ 215 h 880"/>
                    <a:gd name="T44" fmla="*/ 103 w 1684"/>
                    <a:gd name="T45" fmla="*/ 95 h 880"/>
                    <a:gd name="T46" fmla="*/ 217 w 1684"/>
                    <a:gd name="T47" fmla="*/ 0 h 880"/>
                    <a:gd name="T48" fmla="*/ 156 w 1684"/>
                    <a:gd name="T49" fmla="*/ 0 h 8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5" name="Freeform 31"/>
                <p:cNvSpPr>
                  <a:spLocks noChangeArrowheads="1"/>
                </p:cNvSpPr>
                <p:nvPr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16 w 160"/>
                    <a:gd name="T1" fmla="*/ 0 h 335"/>
                    <a:gd name="T2" fmla="*/ 19 w 160"/>
                    <a:gd name="T3" fmla="*/ 106 h 335"/>
                    <a:gd name="T4" fmla="*/ 0 w 160"/>
                    <a:gd name="T5" fmla="*/ 230 h 335"/>
                    <a:gd name="T6" fmla="*/ 33 w 160"/>
                    <a:gd name="T7" fmla="*/ 314 h 335"/>
                    <a:gd name="T8" fmla="*/ 94 w 160"/>
                    <a:gd name="T9" fmla="*/ 335 h 335"/>
                    <a:gd name="T10" fmla="*/ 76 w 160"/>
                    <a:gd name="T11" fmla="*/ 154 h 335"/>
                    <a:gd name="T12" fmla="*/ 160 w 160"/>
                    <a:gd name="T13" fmla="*/ 17 h 335"/>
                    <a:gd name="T14" fmla="*/ 116 w 160"/>
                    <a:gd name="T15" fmla="*/ 0 h 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6" name="Freeform 32"/>
                <p:cNvSpPr>
                  <a:spLocks noChangeArrowheads="1"/>
                </p:cNvSpPr>
                <p:nvPr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218 w 642"/>
                    <a:gd name="T1" fmla="*/ 896 h 1188"/>
                    <a:gd name="T2" fmla="*/ 0 w 642"/>
                    <a:gd name="T3" fmla="*/ 124 h 1188"/>
                    <a:gd name="T4" fmla="*/ 81 w 642"/>
                    <a:gd name="T5" fmla="*/ 38 h 1188"/>
                    <a:gd name="T6" fmla="*/ 258 w 642"/>
                    <a:gd name="T7" fmla="*/ 0 h 1188"/>
                    <a:gd name="T8" fmla="*/ 399 w 642"/>
                    <a:gd name="T9" fmla="*/ 57 h 1188"/>
                    <a:gd name="T10" fmla="*/ 642 w 642"/>
                    <a:gd name="T11" fmla="*/ 1188 h 1188"/>
                    <a:gd name="T12" fmla="*/ 555 w 642"/>
                    <a:gd name="T13" fmla="*/ 1091 h 1188"/>
                    <a:gd name="T14" fmla="*/ 355 w 642"/>
                    <a:gd name="T15" fmla="*/ 97 h 1188"/>
                    <a:gd name="T16" fmla="*/ 226 w 642"/>
                    <a:gd name="T17" fmla="*/ 61 h 1188"/>
                    <a:gd name="T18" fmla="*/ 119 w 642"/>
                    <a:gd name="T19" fmla="*/ 74 h 1188"/>
                    <a:gd name="T20" fmla="*/ 76 w 642"/>
                    <a:gd name="T21" fmla="*/ 141 h 1188"/>
                    <a:gd name="T22" fmla="*/ 306 w 642"/>
                    <a:gd name="T23" fmla="*/ 924 h 1188"/>
                    <a:gd name="T24" fmla="*/ 218 w 642"/>
                    <a:gd name="T25" fmla="*/ 896 h 1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7" name="Freeform 33"/>
                <p:cNvSpPr>
                  <a:spLocks noChangeArrowheads="1"/>
                </p:cNvSpPr>
                <p:nvPr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27 h 504"/>
                    <a:gd name="T2" fmla="*/ 76 w 192"/>
                    <a:gd name="T3" fmla="*/ 194 h 504"/>
                    <a:gd name="T4" fmla="*/ 113 w 192"/>
                    <a:gd name="T5" fmla="*/ 318 h 504"/>
                    <a:gd name="T6" fmla="*/ 116 w 192"/>
                    <a:gd name="T7" fmla="*/ 504 h 504"/>
                    <a:gd name="T8" fmla="*/ 192 w 192"/>
                    <a:gd name="T9" fmla="*/ 504 h 504"/>
                    <a:gd name="T10" fmla="*/ 187 w 192"/>
                    <a:gd name="T11" fmla="*/ 360 h 504"/>
                    <a:gd name="T12" fmla="*/ 162 w 192"/>
                    <a:gd name="T13" fmla="*/ 208 h 504"/>
                    <a:gd name="T14" fmla="*/ 99 w 192"/>
                    <a:gd name="T15" fmla="*/ 59 h 504"/>
                    <a:gd name="T16" fmla="*/ 63 w 192"/>
                    <a:gd name="T17" fmla="*/ 0 h 504"/>
                    <a:gd name="T18" fmla="*/ 0 w 192"/>
                    <a:gd name="T19" fmla="*/ 27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8" name="Freeform 34"/>
                <p:cNvSpPr>
                  <a:spLocks noChangeArrowheads="1"/>
                </p:cNvSpPr>
                <p:nvPr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297 w 390"/>
                    <a:gd name="T1" fmla="*/ 0 h 269"/>
                    <a:gd name="T2" fmla="*/ 257 w 390"/>
                    <a:gd name="T3" fmla="*/ 17 h 269"/>
                    <a:gd name="T4" fmla="*/ 253 w 390"/>
                    <a:gd name="T5" fmla="*/ 66 h 269"/>
                    <a:gd name="T6" fmla="*/ 0 w 390"/>
                    <a:gd name="T7" fmla="*/ 169 h 269"/>
                    <a:gd name="T8" fmla="*/ 0 w 390"/>
                    <a:gd name="T9" fmla="*/ 222 h 269"/>
                    <a:gd name="T10" fmla="*/ 284 w 390"/>
                    <a:gd name="T11" fmla="*/ 226 h 269"/>
                    <a:gd name="T12" fmla="*/ 320 w 390"/>
                    <a:gd name="T13" fmla="*/ 269 h 269"/>
                    <a:gd name="T14" fmla="*/ 390 w 390"/>
                    <a:gd name="T15" fmla="*/ 266 h 269"/>
                    <a:gd name="T16" fmla="*/ 383 w 390"/>
                    <a:gd name="T17" fmla="*/ 190 h 269"/>
                    <a:gd name="T18" fmla="*/ 116 w 390"/>
                    <a:gd name="T19" fmla="*/ 176 h 269"/>
                    <a:gd name="T20" fmla="*/ 333 w 390"/>
                    <a:gd name="T21" fmla="*/ 89 h 269"/>
                    <a:gd name="T22" fmla="*/ 297 w 390"/>
                    <a:gd name="T23" fmla="*/ 0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9" name="Freeform 35"/>
                <p:cNvSpPr>
                  <a:spLocks noChangeArrowheads="1"/>
                </p:cNvSpPr>
                <p:nvPr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31 h 424"/>
                    <a:gd name="T2" fmla="*/ 863 w 941"/>
                    <a:gd name="T3" fmla="*/ 0 h 424"/>
                    <a:gd name="T4" fmla="*/ 926 w 941"/>
                    <a:gd name="T5" fmla="*/ 78 h 424"/>
                    <a:gd name="T6" fmla="*/ 941 w 941"/>
                    <a:gd name="T7" fmla="*/ 181 h 424"/>
                    <a:gd name="T8" fmla="*/ 903 w 941"/>
                    <a:gd name="T9" fmla="*/ 282 h 424"/>
                    <a:gd name="T10" fmla="*/ 57 w 941"/>
                    <a:gd name="T11" fmla="*/ 424 h 424"/>
                    <a:gd name="T12" fmla="*/ 53 w 941"/>
                    <a:gd name="T13" fmla="*/ 384 h 424"/>
                    <a:gd name="T14" fmla="*/ 863 w 941"/>
                    <a:gd name="T15" fmla="*/ 242 h 424"/>
                    <a:gd name="T16" fmla="*/ 893 w 941"/>
                    <a:gd name="T17" fmla="*/ 145 h 424"/>
                    <a:gd name="T18" fmla="*/ 840 w 941"/>
                    <a:gd name="T19" fmla="*/ 57 h 424"/>
                    <a:gd name="T20" fmla="*/ 0 w 941"/>
                    <a:gd name="T21" fmla="*/ 185 h 424"/>
                    <a:gd name="T22" fmla="*/ 0 w 941"/>
                    <a:gd name="T23" fmla="*/ 131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" name="Freeform 36"/>
                <p:cNvSpPr>
                  <a:spLocks noChangeArrowheads="1"/>
                </p:cNvSpPr>
                <p:nvPr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126 h 173"/>
                    <a:gd name="T2" fmla="*/ 66 w 488"/>
                    <a:gd name="T3" fmla="*/ 173 h 173"/>
                    <a:gd name="T4" fmla="*/ 222 w 488"/>
                    <a:gd name="T5" fmla="*/ 166 h 173"/>
                    <a:gd name="T6" fmla="*/ 418 w 488"/>
                    <a:gd name="T7" fmla="*/ 116 h 173"/>
                    <a:gd name="T8" fmla="*/ 488 w 488"/>
                    <a:gd name="T9" fmla="*/ 42 h 173"/>
                    <a:gd name="T10" fmla="*/ 443 w 488"/>
                    <a:gd name="T11" fmla="*/ 2 h 173"/>
                    <a:gd name="T12" fmla="*/ 253 w 488"/>
                    <a:gd name="T13" fmla="*/ 0 h 173"/>
                    <a:gd name="T14" fmla="*/ 110 w 488"/>
                    <a:gd name="T15" fmla="*/ 12 h 173"/>
                    <a:gd name="T16" fmla="*/ 15 w 488"/>
                    <a:gd name="T17" fmla="*/ 76 h 173"/>
                    <a:gd name="T18" fmla="*/ 112 w 488"/>
                    <a:gd name="T19" fmla="*/ 95 h 173"/>
                    <a:gd name="T20" fmla="*/ 275 w 488"/>
                    <a:gd name="T21" fmla="*/ 53 h 173"/>
                    <a:gd name="T22" fmla="*/ 416 w 488"/>
                    <a:gd name="T23" fmla="*/ 53 h 173"/>
                    <a:gd name="T24" fmla="*/ 268 w 488"/>
                    <a:gd name="T25" fmla="*/ 110 h 173"/>
                    <a:gd name="T26" fmla="*/ 142 w 488"/>
                    <a:gd name="T27" fmla="*/ 126 h 173"/>
                    <a:gd name="T28" fmla="*/ 0 w 488"/>
                    <a:gd name="T29" fmla="*/ 126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62" name="Freeform 38"/>
            <p:cNvSpPr>
              <a:spLocks noChangeArrowheads="1"/>
            </p:cNvSpPr>
            <p:nvPr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3" name="Freeform 39"/>
            <p:cNvSpPr>
              <a:spLocks noChangeArrowheads="1"/>
            </p:cNvSpPr>
            <p:nvPr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66" name="Freeform 42"/>
              <p:cNvSpPr>
                <a:spLocks noChangeArrowheads="1"/>
              </p:cNvSpPr>
              <p:nvPr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123 w 245"/>
                  <a:gd name="T1" fmla="*/ 9 h 806"/>
                  <a:gd name="T2" fmla="*/ 131 w 245"/>
                  <a:gd name="T3" fmla="*/ 342 h 806"/>
                  <a:gd name="T4" fmla="*/ 0 w 245"/>
                  <a:gd name="T5" fmla="*/ 806 h 806"/>
                  <a:gd name="T6" fmla="*/ 79 w 245"/>
                  <a:gd name="T7" fmla="*/ 789 h 806"/>
                  <a:gd name="T8" fmla="*/ 218 w 245"/>
                  <a:gd name="T9" fmla="*/ 376 h 806"/>
                  <a:gd name="T10" fmla="*/ 245 w 245"/>
                  <a:gd name="T11" fmla="*/ 0 h 806"/>
                  <a:gd name="T12" fmla="*/ 123 w 245"/>
                  <a:gd name="T13" fmla="*/ 9 h 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68" name="Freeform 44"/>
                <p:cNvSpPr>
                  <a:spLocks noChangeArrowheads="1"/>
                </p:cNvSpPr>
                <p:nvPr/>
              </p:nvSpPr>
              <p:spPr bwMode="auto">
                <a:xfrm rot="-3172564">
                  <a:off x="4962" y="67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298 w 604"/>
                    <a:gd name="T3" fmla="*/ 184 h 349"/>
                    <a:gd name="T4" fmla="*/ 500 w 604"/>
                    <a:gd name="T5" fmla="*/ 349 h 349"/>
                    <a:gd name="T6" fmla="*/ 604 w 604"/>
                    <a:gd name="T7" fmla="*/ 140 h 349"/>
                    <a:gd name="T8" fmla="*/ 359 w 604"/>
                    <a:gd name="T9" fmla="*/ 9 h 349"/>
                    <a:gd name="T10" fmla="*/ 464 w 604"/>
                    <a:gd name="T11" fmla="*/ 184 h 349"/>
                    <a:gd name="T12" fmla="*/ 131 w 604"/>
                    <a:gd name="T13" fmla="*/ 17 h 349"/>
                    <a:gd name="T14" fmla="*/ 0 w 604"/>
                    <a:gd name="T15" fmla="*/ 0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9" name="Freeform 45"/>
                <p:cNvSpPr>
                  <a:spLocks noChangeArrowheads="1"/>
                </p:cNvSpPr>
                <p:nvPr/>
              </p:nvSpPr>
              <p:spPr bwMode="auto">
                <a:xfrm rot="-3172564">
                  <a:off x="5047" y="326"/>
                  <a:ext cx="269" cy="438"/>
                </a:xfrm>
                <a:custGeom>
                  <a:avLst/>
                  <a:gdLst>
                    <a:gd name="T0" fmla="*/ 741 w 1064"/>
                    <a:gd name="T1" fmla="*/ 129 h 1230"/>
                    <a:gd name="T2" fmla="*/ 485 w 1064"/>
                    <a:gd name="T3" fmla="*/ 352 h 1230"/>
                    <a:gd name="T4" fmla="*/ 163 w 1064"/>
                    <a:gd name="T5" fmla="*/ 762 h 1230"/>
                    <a:gd name="T6" fmla="*/ 0 w 1064"/>
                    <a:gd name="T7" fmla="*/ 1101 h 1230"/>
                    <a:gd name="T8" fmla="*/ 59 w 1064"/>
                    <a:gd name="T9" fmla="*/ 1230 h 1230"/>
                    <a:gd name="T10" fmla="*/ 262 w 1064"/>
                    <a:gd name="T11" fmla="*/ 1201 h 1230"/>
                    <a:gd name="T12" fmla="*/ 578 w 1064"/>
                    <a:gd name="T13" fmla="*/ 914 h 1230"/>
                    <a:gd name="T14" fmla="*/ 876 w 1064"/>
                    <a:gd name="T15" fmla="*/ 534 h 1230"/>
                    <a:gd name="T16" fmla="*/ 1034 w 1064"/>
                    <a:gd name="T17" fmla="*/ 270 h 1230"/>
                    <a:gd name="T18" fmla="*/ 1064 w 1064"/>
                    <a:gd name="T19" fmla="*/ 84 h 1230"/>
                    <a:gd name="T20" fmla="*/ 977 w 1064"/>
                    <a:gd name="T21" fmla="*/ 0 h 1230"/>
                    <a:gd name="T22" fmla="*/ 836 w 1064"/>
                    <a:gd name="T23" fmla="*/ 65 h 1230"/>
                    <a:gd name="T24" fmla="*/ 969 w 1064"/>
                    <a:gd name="T25" fmla="*/ 107 h 1230"/>
                    <a:gd name="T26" fmla="*/ 876 w 1064"/>
                    <a:gd name="T27" fmla="*/ 352 h 1230"/>
                    <a:gd name="T28" fmla="*/ 690 w 1064"/>
                    <a:gd name="T29" fmla="*/ 656 h 1230"/>
                    <a:gd name="T30" fmla="*/ 350 w 1064"/>
                    <a:gd name="T31" fmla="*/ 1008 h 1230"/>
                    <a:gd name="T32" fmla="*/ 116 w 1064"/>
                    <a:gd name="T33" fmla="*/ 1114 h 1230"/>
                    <a:gd name="T34" fmla="*/ 135 w 1064"/>
                    <a:gd name="T35" fmla="*/ 943 h 1230"/>
                    <a:gd name="T36" fmla="*/ 437 w 1064"/>
                    <a:gd name="T37" fmla="*/ 504 h 1230"/>
                    <a:gd name="T38" fmla="*/ 831 w 1064"/>
                    <a:gd name="T39" fmla="*/ 118 h 1230"/>
                    <a:gd name="T40" fmla="*/ 741 w 1064"/>
                    <a:gd name="T41" fmla="*/ 129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0" name="Freeform 46"/>
                <p:cNvSpPr>
                  <a:spLocks noChangeArrowheads="1"/>
                </p:cNvSpPr>
                <p:nvPr/>
              </p:nvSpPr>
              <p:spPr bwMode="auto">
                <a:xfrm rot="-3172564">
                  <a:off x="4857" y="176"/>
                  <a:ext cx="505" cy="898"/>
                </a:xfrm>
                <a:custGeom>
                  <a:avLst/>
                  <a:gdLst>
                    <a:gd name="T0" fmla="*/ 1941 w 2002"/>
                    <a:gd name="T1" fmla="*/ 0 h 2521"/>
                    <a:gd name="T2" fmla="*/ 0 w 2002"/>
                    <a:gd name="T3" fmla="*/ 2521 h 2521"/>
                    <a:gd name="T4" fmla="*/ 192 w 2002"/>
                    <a:gd name="T5" fmla="*/ 2450 h 2521"/>
                    <a:gd name="T6" fmla="*/ 2002 w 2002"/>
                    <a:gd name="T7" fmla="*/ 61 h 2521"/>
                    <a:gd name="T8" fmla="*/ 1941 w 2002"/>
                    <a:gd name="T9" fmla="*/ 0 h 2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1" name="Freeform 47"/>
                <p:cNvSpPr>
                  <a:spLocks noChangeArrowheads="1"/>
                </p:cNvSpPr>
                <p:nvPr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95 w 3007"/>
                    <a:gd name="T1" fmla="*/ 2844 h 3771"/>
                    <a:gd name="T2" fmla="*/ 394 w 3007"/>
                    <a:gd name="T3" fmla="*/ 2834 h 3771"/>
                    <a:gd name="T4" fmla="*/ 821 w 3007"/>
                    <a:gd name="T5" fmla="*/ 3009 h 3771"/>
                    <a:gd name="T6" fmla="*/ 681 w 3007"/>
                    <a:gd name="T7" fmla="*/ 2817 h 3771"/>
                    <a:gd name="T8" fmla="*/ 367 w 3007"/>
                    <a:gd name="T9" fmla="*/ 2703 h 3771"/>
                    <a:gd name="T10" fmla="*/ 637 w 3007"/>
                    <a:gd name="T11" fmla="*/ 2720 h 3771"/>
                    <a:gd name="T12" fmla="*/ 979 w 3007"/>
                    <a:gd name="T13" fmla="*/ 2870 h 3771"/>
                    <a:gd name="T14" fmla="*/ 2859 w 3007"/>
                    <a:gd name="T15" fmla="*/ 420 h 3771"/>
                    <a:gd name="T16" fmla="*/ 2578 w 3007"/>
                    <a:gd name="T17" fmla="*/ 148 h 3771"/>
                    <a:gd name="T18" fmla="*/ 2308 w 3007"/>
                    <a:gd name="T19" fmla="*/ 0 h 3771"/>
                    <a:gd name="T20" fmla="*/ 2692 w 3007"/>
                    <a:gd name="T21" fmla="*/ 78 h 3771"/>
                    <a:gd name="T22" fmla="*/ 3007 w 3007"/>
                    <a:gd name="T23" fmla="*/ 428 h 3771"/>
                    <a:gd name="T24" fmla="*/ 831 w 3007"/>
                    <a:gd name="T25" fmla="*/ 3273 h 3771"/>
                    <a:gd name="T26" fmla="*/ 481 w 3007"/>
                    <a:gd name="T27" fmla="*/ 3412 h 3771"/>
                    <a:gd name="T28" fmla="*/ 105 w 3007"/>
                    <a:gd name="T29" fmla="*/ 3771 h 3771"/>
                    <a:gd name="T30" fmla="*/ 0 w 3007"/>
                    <a:gd name="T31" fmla="*/ 3667 h 3771"/>
                    <a:gd name="T32" fmla="*/ 131 w 3007"/>
                    <a:gd name="T33" fmla="*/ 3631 h 3771"/>
                    <a:gd name="T34" fmla="*/ 376 w 3007"/>
                    <a:gd name="T35" fmla="*/ 3385 h 3771"/>
                    <a:gd name="T36" fmla="*/ 165 w 3007"/>
                    <a:gd name="T37" fmla="*/ 3273 h 3771"/>
                    <a:gd name="T38" fmla="*/ 165 w 3007"/>
                    <a:gd name="T39" fmla="*/ 3176 h 3771"/>
                    <a:gd name="T40" fmla="*/ 411 w 3007"/>
                    <a:gd name="T41" fmla="*/ 3298 h 3771"/>
                    <a:gd name="T42" fmla="*/ 411 w 3007"/>
                    <a:gd name="T43" fmla="*/ 3186 h 3771"/>
                    <a:gd name="T44" fmla="*/ 603 w 3007"/>
                    <a:gd name="T45" fmla="*/ 3220 h 3771"/>
                    <a:gd name="T46" fmla="*/ 428 w 3007"/>
                    <a:gd name="T47" fmla="*/ 3079 h 3771"/>
                    <a:gd name="T48" fmla="*/ 629 w 3007"/>
                    <a:gd name="T49" fmla="*/ 3062 h 3771"/>
                    <a:gd name="T50" fmla="*/ 95 w 3007"/>
                    <a:gd name="T51" fmla="*/ 2844 h 37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2" name="Freeform 48"/>
                <p:cNvSpPr>
                  <a:spLocks noChangeArrowheads="1"/>
                </p:cNvSpPr>
                <p:nvPr/>
              </p:nvSpPr>
              <p:spPr bwMode="auto">
                <a:xfrm rot="-3172564">
                  <a:off x="5296" y="891"/>
                  <a:ext cx="169" cy="122"/>
                </a:xfrm>
                <a:custGeom>
                  <a:avLst/>
                  <a:gdLst>
                    <a:gd name="T0" fmla="*/ 0 w 673"/>
                    <a:gd name="T1" fmla="*/ 80 h 342"/>
                    <a:gd name="T2" fmla="*/ 255 w 673"/>
                    <a:gd name="T3" fmla="*/ 106 h 342"/>
                    <a:gd name="T4" fmla="*/ 639 w 673"/>
                    <a:gd name="T5" fmla="*/ 342 h 342"/>
                    <a:gd name="T6" fmla="*/ 673 w 673"/>
                    <a:gd name="T7" fmla="*/ 289 h 342"/>
                    <a:gd name="T8" fmla="*/ 447 w 673"/>
                    <a:gd name="T9" fmla="*/ 114 h 342"/>
                    <a:gd name="T10" fmla="*/ 26 w 673"/>
                    <a:gd name="T11" fmla="*/ 0 h 342"/>
                    <a:gd name="T12" fmla="*/ 0 w 673"/>
                    <a:gd name="T13" fmla="*/ 80 h 3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3" name="Freeform 49"/>
                <p:cNvSpPr>
                  <a:spLocks noChangeArrowheads="1"/>
                </p:cNvSpPr>
                <p:nvPr/>
              </p:nvSpPr>
              <p:spPr bwMode="auto">
                <a:xfrm rot="-3172564">
                  <a:off x="5250" y="800"/>
                  <a:ext cx="181" cy="144"/>
                </a:xfrm>
                <a:custGeom>
                  <a:avLst/>
                  <a:gdLst>
                    <a:gd name="T0" fmla="*/ 0 w 716"/>
                    <a:gd name="T1" fmla="*/ 78 h 403"/>
                    <a:gd name="T2" fmla="*/ 340 w 716"/>
                    <a:gd name="T3" fmla="*/ 148 h 403"/>
                    <a:gd name="T4" fmla="*/ 638 w 716"/>
                    <a:gd name="T5" fmla="*/ 403 h 403"/>
                    <a:gd name="T6" fmla="*/ 716 w 716"/>
                    <a:gd name="T7" fmla="*/ 296 h 403"/>
                    <a:gd name="T8" fmla="*/ 420 w 716"/>
                    <a:gd name="T9" fmla="*/ 114 h 403"/>
                    <a:gd name="T10" fmla="*/ 70 w 716"/>
                    <a:gd name="T11" fmla="*/ 0 h 403"/>
                    <a:gd name="T12" fmla="*/ 0 w 716"/>
                    <a:gd name="T13" fmla="*/ 78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4" name="Freeform 50"/>
                <p:cNvSpPr>
                  <a:spLocks noChangeArrowheads="1"/>
                </p:cNvSpPr>
                <p:nvPr/>
              </p:nvSpPr>
              <p:spPr bwMode="auto">
                <a:xfrm rot="-3172564">
                  <a:off x="4981" y="206"/>
                  <a:ext cx="181" cy="147"/>
                </a:xfrm>
                <a:custGeom>
                  <a:avLst/>
                  <a:gdLst>
                    <a:gd name="T0" fmla="*/ 0 w 717"/>
                    <a:gd name="T1" fmla="*/ 78 h 411"/>
                    <a:gd name="T2" fmla="*/ 316 w 717"/>
                    <a:gd name="T3" fmla="*/ 139 h 411"/>
                    <a:gd name="T4" fmla="*/ 649 w 717"/>
                    <a:gd name="T5" fmla="*/ 411 h 411"/>
                    <a:gd name="T6" fmla="*/ 717 w 717"/>
                    <a:gd name="T7" fmla="*/ 314 h 411"/>
                    <a:gd name="T8" fmla="*/ 394 w 717"/>
                    <a:gd name="T9" fmla="*/ 87 h 411"/>
                    <a:gd name="T10" fmla="*/ 54 w 717"/>
                    <a:gd name="T11" fmla="*/ 0 h 411"/>
                    <a:gd name="T12" fmla="*/ 0 w 717"/>
                    <a:gd name="T13" fmla="*/ 78 h 4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5" name="Freeform 51"/>
                <p:cNvSpPr>
                  <a:spLocks noChangeArrowheads="1"/>
                </p:cNvSpPr>
                <p:nvPr/>
              </p:nvSpPr>
              <p:spPr bwMode="auto">
                <a:xfrm rot="-3172564">
                  <a:off x="4946" y="136"/>
                  <a:ext cx="179" cy="138"/>
                </a:xfrm>
                <a:custGeom>
                  <a:avLst/>
                  <a:gdLst>
                    <a:gd name="T0" fmla="*/ 0 w 709"/>
                    <a:gd name="T1" fmla="*/ 88 h 386"/>
                    <a:gd name="T2" fmla="*/ 272 w 709"/>
                    <a:gd name="T3" fmla="*/ 131 h 386"/>
                    <a:gd name="T4" fmla="*/ 665 w 709"/>
                    <a:gd name="T5" fmla="*/ 386 h 386"/>
                    <a:gd name="T6" fmla="*/ 709 w 709"/>
                    <a:gd name="T7" fmla="*/ 308 h 386"/>
                    <a:gd name="T8" fmla="*/ 306 w 709"/>
                    <a:gd name="T9" fmla="*/ 53 h 386"/>
                    <a:gd name="T10" fmla="*/ 43 w 709"/>
                    <a:gd name="T11" fmla="*/ 0 h 386"/>
                    <a:gd name="T12" fmla="*/ 0 w 709"/>
                    <a:gd name="T13" fmla="*/ 88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>
            <a:spLocks noChangeArrowheads="1"/>
          </p:cNvSpPr>
          <p:nvPr/>
        </p:nvSpPr>
        <p:spPr bwMode="auto">
          <a:xfrm rot="-3172564">
            <a:off x="7777163" y="-14287"/>
            <a:ext cx="1162050" cy="2082800"/>
          </a:xfrm>
          <a:custGeom>
            <a:avLst/>
            <a:gdLst>
              <a:gd name="T0" fmla="*/ 2903 w 2903"/>
              <a:gd name="T1" fmla="*/ 433 h 3686"/>
              <a:gd name="T2" fmla="*/ 2565 w 2903"/>
              <a:gd name="T3" fmla="*/ 80 h 3686"/>
              <a:gd name="T4" fmla="*/ 2241 w 2903"/>
              <a:gd name="T5" fmla="*/ 0 h 3686"/>
              <a:gd name="T6" fmla="*/ 110 w 2903"/>
              <a:gd name="T7" fmla="*/ 2811 h 3686"/>
              <a:gd name="T8" fmla="*/ 110 w 2903"/>
              <a:gd name="T9" fmla="*/ 3228 h 3686"/>
              <a:gd name="T10" fmla="*/ 0 w 2903"/>
              <a:gd name="T11" fmla="*/ 3631 h 3686"/>
              <a:gd name="T12" fmla="*/ 72 w 2903"/>
              <a:gd name="T13" fmla="*/ 3686 h 3686"/>
              <a:gd name="T14" fmla="*/ 441 w 2903"/>
              <a:gd name="T15" fmla="*/ 3355 h 3686"/>
              <a:gd name="T16" fmla="*/ 740 w 2903"/>
              <a:gd name="T17" fmla="*/ 3228 h 3686"/>
              <a:gd name="T18" fmla="*/ 2903 w 2903"/>
              <a:gd name="T19" fmla="*/ 433 h 3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>
            <a:spLocks noChangeArrowheads="1"/>
          </p:cNvSpPr>
          <p:nvPr/>
        </p:nvSpPr>
        <p:spPr bwMode="auto">
          <a:xfrm rot="-3172564">
            <a:off x="7862888" y="20638"/>
            <a:ext cx="1165225" cy="2098675"/>
          </a:xfrm>
          <a:custGeom>
            <a:avLst/>
            <a:gdLst>
              <a:gd name="T0" fmla="*/ 2293 w 2911"/>
              <a:gd name="T1" fmla="*/ 0 h 3703"/>
              <a:gd name="T2" fmla="*/ 130 w 2911"/>
              <a:gd name="T3" fmla="*/ 2835 h 3703"/>
              <a:gd name="T4" fmla="*/ 131 w 2911"/>
              <a:gd name="T5" fmla="*/ 3201 h 3703"/>
              <a:gd name="T6" fmla="*/ 0 w 2911"/>
              <a:gd name="T7" fmla="*/ 3633 h 3703"/>
              <a:gd name="T8" fmla="*/ 50 w 2911"/>
              <a:gd name="T9" fmla="*/ 3703 h 3703"/>
              <a:gd name="T10" fmla="*/ 422 w 2911"/>
              <a:gd name="T11" fmla="*/ 3352 h 3703"/>
              <a:gd name="T12" fmla="*/ 763 w 2911"/>
              <a:gd name="T13" fmla="*/ 3220 h 3703"/>
              <a:gd name="T14" fmla="*/ 2911 w 2911"/>
              <a:gd name="T15" fmla="*/ 428 h 3703"/>
              <a:gd name="T16" fmla="*/ 2589 w 2911"/>
              <a:gd name="T17" fmla="*/ 96 h 3703"/>
              <a:gd name="T18" fmla="*/ 2293 w 2911"/>
              <a:gd name="T19" fmla="*/ 0 h 3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Freeform 9"/>
          <p:cNvSpPr>
            <a:spLocks noChangeArrowheads="1"/>
          </p:cNvSpPr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485 h 2777"/>
              <a:gd name="T2" fmla="*/ 432 w 2561"/>
              <a:gd name="T3" fmla="*/ 2553 h 2777"/>
              <a:gd name="T4" fmla="*/ 736 w 2561"/>
              <a:gd name="T5" fmla="*/ 2777 h 2777"/>
              <a:gd name="T6" fmla="*/ 2561 w 2561"/>
              <a:gd name="T7" fmla="*/ 399 h 2777"/>
              <a:gd name="T8" fmla="*/ 2118 w 2561"/>
              <a:gd name="T9" fmla="*/ 82 h 2777"/>
              <a:gd name="T10" fmla="*/ 1898 w 2561"/>
              <a:gd name="T11" fmla="*/ 0 h 2777"/>
              <a:gd name="T12" fmla="*/ 0 w 2561"/>
              <a:gd name="T13" fmla="*/ 2485 h 2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2" name="Freeform 11"/>
            <p:cNvSpPr>
              <a:spLocks noChangeArrowheads="1"/>
            </p:cNvSpPr>
            <p:nvPr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1587 w 2177"/>
                <a:gd name="T1" fmla="*/ 1260 h 1298"/>
                <a:gd name="T2" fmla="*/ 1420 w 2177"/>
                <a:gd name="T3" fmla="*/ 1106 h 1298"/>
                <a:gd name="T4" fmla="*/ 1331 w 2177"/>
                <a:gd name="T5" fmla="*/ 477 h 1298"/>
                <a:gd name="T6" fmla="*/ 2139 w 2177"/>
                <a:gd name="T7" fmla="*/ 330 h 1298"/>
                <a:gd name="T8" fmla="*/ 2177 w 2177"/>
                <a:gd name="T9" fmla="*/ 203 h 1298"/>
                <a:gd name="T10" fmla="*/ 2099 w 2177"/>
                <a:gd name="T11" fmla="*/ 100 h 1298"/>
                <a:gd name="T12" fmla="*/ 1276 w 2177"/>
                <a:gd name="T13" fmla="*/ 211 h 1298"/>
                <a:gd name="T14" fmla="*/ 1219 w 2177"/>
                <a:gd name="T15" fmla="*/ 32 h 1298"/>
                <a:gd name="T16" fmla="*/ 1085 w 2177"/>
                <a:gd name="T17" fmla="*/ 0 h 1298"/>
                <a:gd name="T18" fmla="*/ 958 w 2177"/>
                <a:gd name="T19" fmla="*/ 28 h 1298"/>
                <a:gd name="T20" fmla="*/ 888 w 2177"/>
                <a:gd name="T21" fmla="*/ 106 h 1298"/>
                <a:gd name="T22" fmla="*/ 937 w 2177"/>
                <a:gd name="T23" fmla="*/ 285 h 1298"/>
                <a:gd name="T24" fmla="*/ 660 w 2177"/>
                <a:gd name="T25" fmla="*/ 441 h 1298"/>
                <a:gd name="T26" fmla="*/ 983 w 2177"/>
                <a:gd name="T27" fmla="*/ 473 h 1298"/>
                <a:gd name="T28" fmla="*/ 1112 w 2177"/>
                <a:gd name="T29" fmla="*/ 889 h 1298"/>
                <a:gd name="T30" fmla="*/ 141 w 2177"/>
                <a:gd name="T31" fmla="*/ 469 h 1298"/>
                <a:gd name="T32" fmla="*/ 46 w 2177"/>
                <a:gd name="T33" fmla="*/ 509 h 1298"/>
                <a:gd name="T34" fmla="*/ 0 w 2177"/>
                <a:gd name="T35" fmla="*/ 636 h 1298"/>
                <a:gd name="T36" fmla="*/ 55 w 2177"/>
                <a:gd name="T37" fmla="*/ 779 h 1298"/>
                <a:gd name="T38" fmla="*/ 1139 w 2177"/>
                <a:gd name="T39" fmla="*/ 1288 h 1298"/>
                <a:gd name="T40" fmla="*/ 1378 w 2177"/>
                <a:gd name="T41" fmla="*/ 1256 h 1298"/>
                <a:gd name="T42" fmla="*/ 1570 w 2177"/>
                <a:gd name="T43" fmla="*/ 1298 h 1298"/>
                <a:gd name="T44" fmla="*/ 1587 w 2177"/>
                <a:gd name="T45" fmla="*/ 126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Freeform 12"/>
            <p:cNvSpPr>
              <a:spLocks noChangeArrowheads="1"/>
            </p:cNvSpPr>
            <p:nvPr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7 h 258"/>
                <a:gd name="T2" fmla="*/ 120 w 143"/>
                <a:gd name="T3" fmla="*/ 0 h 258"/>
                <a:gd name="T4" fmla="*/ 143 w 143"/>
                <a:gd name="T5" fmla="*/ 233 h 258"/>
                <a:gd name="T6" fmla="*/ 8 w 143"/>
                <a:gd name="T7" fmla="*/ 258 h 258"/>
                <a:gd name="T8" fmla="*/ 0 w 143"/>
                <a:gd name="T9" fmla="*/ 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Freeform 13"/>
            <p:cNvSpPr>
              <a:spLocks noChangeArrowheads="1"/>
            </p:cNvSpPr>
            <p:nvPr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Freeform 14"/>
            <p:cNvSpPr>
              <a:spLocks noChangeArrowheads="1"/>
            </p:cNvSpPr>
            <p:nvPr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15"/>
            <p:cNvSpPr>
              <a:spLocks noChangeArrowheads="1"/>
            </p:cNvSpPr>
            <p:nvPr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28 h 241"/>
                <a:gd name="T2" fmla="*/ 160 w 272"/>
                <a:gd name="T3" fmla="*/ 0 h 241"/>
                <a:gd name="T4" fmla="*/ 251 w 272"/>
                <a:gd name="T5" fmla="*/ 36 h 241"/>
                <a:gd name="T6" fmla="*/ 272 w 272"/>
                <a:gd name="T7" fmla="*/ 139 h 241"/>
                <a:gd name="T8" fmla="*/ 164 w 272"/>
                <a:gd name="T9" fmla="*/ 146 h 241"/>
                <a:gd name="T10" fmla="*/ 32 w 272"/>
                <a:gd name="T11" fmla="*/ 241 h 241"/>
                <a:gd name="T12" fmla="*/ 0 w 272"/>
                <a:gd name="T13" fmla="*/ 28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Freeform 16"/>
            <p:cNvSpPr>
              <a:spLocks noChangeArrowheads="1"/>
            </p:cNvSpPr>
            <p:nvPr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52 w 152"/>
                <a:gd name="T1" fmla="*/ 4 h 224"/>
                <a:gd name="T2" fmla="*/ 152 w 152"/>
                <a:gd name="T3" fmla="*/ 224 h 224"/>
                <a:gd name="T4" fmla="*/ 0 w 152"/>
                <a:gd name="T5" fmla="*/ 8 h 224"/>
                <a:gd name="T6" fmla="*/ 72 w 152"/>
                <a:gd name="T7" fmla="*/ 0 h 224"/>
                <a:gd name="T8" fmla="*/ 152 w 152"/>
                <a:gd name="T9" fmla="*/ 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Freeform 17"/>
            <p:cNvSpPr>
              <a:spLocks noChangeArrowheads="1"/>
            </p:cNvSpPr>
            <p:nvPr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80 h 764"/>
                <a:gd name="T2" fmla="*/ 87 w 386"/>
                <a:gd name="T3" fmla="*/ 0 h 764"/>
                <a:gd name="T4" fmla="*/ 232 w 386"/>
                <a:gd name="T5" fmla="*/ 6 h 764"/>
                <a:gd name="T6" fmla="*/ 386 w 386"/>
                <a:gd name="T7" fmla="*/ 764 h 764"/>
                <a:gd name="T8" fmla="*/ 279 w 386"/>
                <a:gd name="T9" fmla="*/ 720 h 764"/>
                <a:gd name="T10" fmla="*/ 152 w 386"/>
                <a:gd name="T11" fmla="*/ 677 h 764"/>
                <a:gd name="T12" fmla="*/ 0 w 386"/>
                <a:gd name="T13" fmla="*/ 8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18"/>
            <p:cNvSpPr>
              <a:spLocks noChangeArrowheads="1"/>
            </p:cNvSpPr>
            <p:nvPr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692 w 728"/>
                <a:gd name="T1" fmla="*/ 0 h 348"/>
                <a:gd name="T2" fmla="*/ 0 w 728"/>
                <a:gd name="T3" fmla="*/ 106 h 348"/>
                <a:gd name="T4" fmla="*/ 28 w 728"/>
                <a:gd name="T5" fmla="*/ 348 h 348"/>
                <a:gd name="T6" fmla="*/ 715 w 728"/>
                <a:gd name="T7" fmla="*/ 237 h 348"/>
                <a:gd name="T8" fmla="*/ 728 w 728"/>
                <a:gd name="T9" fmla="*/ 43 h 348"/>
                <a:gd name="T10" fmla="*/ 692 w 728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3" name="Freeform 19"/>
            <p:cNvSpPr>
              <a:spLocks noChangeArrowheads="1"/>
            </p:cNvSpPr>
            <p:nvPr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272 w 312"/>
                <a:gd name="T1" fmla="*/ 0 h 135"/>
                <a:gd name="T2" fmla="*/ 0 w 312"/>
                <a:gd name="T3" fmla="*/ 78 h 135"/>
                <a:gd name="T4" fmla="*/ 312 w 312"/>
                <a:gd name="T5" fmla="*/ 135 h 135"/>
                <a:gd name="T6" fmla="*/ 272 w 312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46" name="Freeform 22"/>
                <p:cNvSpPr>
                  <a:spLocks noChangeArrowheads="1"/>
                </p:cNvSpPr>
                <p:nvPr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107 h 175"/>
                    <a:gd name="T2" fmla="*/ 114 w 313"/>
                    <a:gd name="T3" fmla="*/ 10 h 175"/>
                    <a:gd name="T4" fmla="*/ 213 w 313"/>
                    <a:gd name="T5" fmla="*/ 0 h 175"/>
                    <a:gd name="T6" fmla="*/ 292 w 313"/>
                    <a:gd name="T7" fmla="*/ 27 h 175"/>
                    <a:gd name="T8" fmla="*/ 313 w 313"/>
                    <a:gd name="T9" fmla="*/ 91 h 175"/>
                    <a:gd name="T10" fmla="*/ 167 w 313"/>
                    <a:gd name="T11" fmla="*/ 67 h 175"/>
                    <a:gd name="T12" fmla="*/ 74 w 313"/>
                    <a:gd name="T13" fmla="*/ 101 h 175"/>
                    <a:gd name="T14" fmla="*/ 13 w 313"/>
                    <a:gd name="T15" fmla="*/ 175 h 175"/>
                    <a:gd name="T16" fmla="*/ 0 w 313"/>
                    <a:gd name="T17" fmla="*/ 107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7" name="Freeform 23"/>
                <p:cNvSpPr>
                  <a:spLocks noChangeArrowheads="1"/>
                </p:cNvSpPr>
                <p:nvPr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40 h 266"/>
                    <a:gd name="T2" fmla="*/ 160 w 230"/>
                    <a:gd name="T3" fmla="*/ 266 h 266"/>
                    <a:gd name="T4" fmla="*/ 230 w 230"/>
                    <a:gd name="T5" fmla="*/ 251 h 266"/>
                    <a:gd name="T6" fmla="*/ 223 w 230"/>
                    <a:gd name="T7" fmla="*/ 17 h 266"/>
                    <a:gd name="T8" fmla="*/ 166 w 230"/>
                    <a:gd name="T9" fmla="*/ 0 h 266"/>
                    <a:gd name="T10" fmla="*/ 179 w 230"/>
                    <a:gd name="T11" fmla="*/ 197 h 266"/>
                    <a:gd name="T12" fmla="*/ 71 w 230"/>
                    <a:gd name="T13" fmla="*/ 4 h 266"/>
                    <a:gd name="T14" fmla="*/ 0 w 230"/>
                    <a:gd name="T15" fmla="*/ 40 h 2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8" name="Freeform 24"/>
                <p:cNvSpPr>
                  <a:spLocks noChangeArrowheads="1"/>
                </p:cNvSpPr>
                <p:nvPr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9 h 234"/>
                    <a:gd name="T2" fmla="*/ 36 w 87"/>
                    <a:gd name="T3" fmla="*/ 93 h 234"/>
                    <a:gd name="T4" fmla="*/ 44 w 87"/>
                    <a:gd name="T5" fmla="*/ 154 h 234"/>
                    <a:gd name="T6" fmla="*/ 27 w 87"/>
                    <a:gd name="T7" fmla="*/ 234 h 234"/>
                    <a:gd name="T8" fmla="*/ 80 w 87"/>
                    <a:gd name="T9" fmla="*/ 220 h 234"/>
                    <a:gd name="T10" fmla="*/ 87 w 87"/>
                    <a:gd name="T11" fmla="*/ 116 h 234"/>
                    <a:gd name="T12" fmla="*/ 46 w 87"/>
                    <a:gd name="T13" fmla="*/ 0 h 234"/>
                    <a:gd name="T14" fmla="*/ 0 w 87"/>
                    <a:gd name="T15" fmla="*/ 19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49" name="Freeform 25"/>
              <p:cNvSpPr>
                <a:spLocks noChangeArrowheads="1"/>
              </p:cNvSpPr>
              <p:nvPr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Freeform 26"/>
              <p:cNvSpPr>
                <a:spLocks noChangeArrowheads="1"/>
              </p:cNvSpPr>
              <p:nvPr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Freeform 27"/>
              <p:cNvSpPr>
                <a:spLocks noChangeArrowheads="1"/>
              </p:cNvSpPr>
              <p:nvPr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24 w 213"/>
                  <a:gd name="T1" fmla="*/ 0 h 478"/>
                  <a:gd name="T2" fmla="*/ 91 w 213"/>
                  <a:gd name="T3" fmla="*/ 25 h 478"/>
                  <a:gd name="T4" fmla="*/ 80 w 213"/>
                  <a:gd name="T5" fmla="*/ 192 h 478"/>
                  <a:gd name="T6" fmla="*/ 106 w 213"/>
                  <a:gd name="T7" fmla="*/ 327 h 478"/>
                  <a:gd name="T8" fmla="*/ 213 w 213"/>
                  <a:gd name="T9" fmla="*/ 451 h 478"/>
                  <a:gd name="T10" fmla="*/ 97 w 213"/>
                  <a:gd name="T11" fmla="*/ 478 h 478"/>
                  <a:gd name="T12" fmla="*/ 30 w 213"/>
                  <a:gd name="T13" fmla="*/ 344 h 478"/>
                  <a:gd name="T14" fmla="*/ 0 w 213"/>
                  <a:gd name="T15" fmla="*/ 57 h 478"/>
                  <a:gd name="T16" fmla="*/ 24 w 213"/>
                  <a:gd name="T17" fmla="*/ 0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53" name="Freeform 29"/>
                <p:cNvSpPr>
                  <a:spLocks noChangeArrowheads="1"/>
                </p:cNvSpPr>
                <p:nvPr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10 w 150"/>
                    <a:gd name="T1" fmla="*/ 0 h 173"/>
                    <a:gd name="T2" fmla="*/ 40 w 150"/>
                    <a:gd name="T3" fmla="*/ 66 h 173"/>
                    <a:gd name="T4" fmla="*/ 0 w 150"/>
                    <a:gd name="T5" fmla="*/ 173 h 173"/>
                    <a:gd name="T6" fmla="*/ 80 w 150"/>
                    <a:gd name="T7" fmla="*/ 160 h 173"/>
                    <a:gd name="T8" fmla="*/ 103 w 150"/>
                    <a:gd name="T9" fmla="*/ 84 h 173"/>
                    <a:gd name="T10" fmla="*/ 150 w 150"/>
                    <a:gd name="T11" fmla="*/ 27 h 173"/>
                    <a:gd name="T12" fmla="*/ 110 w 150"/>
                    <a:gd name="T13" fmla="*/ 0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4" name="Freeform 30"/>
                <p:cNvSpPr>
                  <a:spLocks noChangeArrowheads="1"/>
                </p:cNvSpPr>
                <p:nvPr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56 w 1684"/>
                    <a:gd name="T1" fmla="*/ 0 h 880"/>
                    <a:gd name="T2" fmla="*/ 63 w 1684"/>
                    <a:gd name="T3" fmla="*/ 52 h 880"/>
                    <a:gd name="T4" fmla="*/ 0 w 1684"/>
                    <a:gd name="T5" fmla="*/ 208 h 880"/>
                    <a:gd name="T6" fmla="*/ 67 w 1684"/>
                    <a:gd name="T7" fmla="*/ 358 h 880"/>
                    <a:gd name="T8" fmla="*/ 1182 w 1684"/>
                    <a:gd name="T9" fmla="*/ 867 h 880"/>
                    <a:gd name="T10" fmla="*/ 1422 w 1684"/>
                    <a:gd name="T11" fmla="*/ 835 h 880"/>
                    <a:gd name="T12" fmla="*/ 1616 w 1684"/>
                    <a:gd name="T13" fmla="*/ 880 h 880"/>
                    <a:gd name="T14" fmla="*/ 1684 w 1684"/>
                    <a:gd name="T15" fmla="*/ 808 h 880"/>
                    <a:gd name="T16" fmla="*/ 1502 w 1684"/>
                    <a:gd name="T17" fmla="*/ 664 h 880"/>
                    <a:gd name="T18" fmla="*/ 1428 w 1684"/>
                    <a:gd name="T19" fmla="*/ 512 h 880"/>
                    <a:gd name="T20" fmla="*/ 1369 w 1684"/>
                    <a:gd name="T21" fmla="*/ 527 h 880"/>
                    <a:gd name="T22" fmla="*/ 1439 w 1684"/>
                    <a:gd name="T23" fmla="*/ 664 h 880"/>
                    <a:gd name="T24" fmla="*/ 1578 w 1684"/>
                    <a:gd name="T25" fmla="*/ 810 h 880"/>
                    <a:gd name="T26" fmla="*/ 1413 w 1684"/>
                    <a:gd name="T27" fmla="*/ 787 h 880"/>
                    <a:gd name="T28" fmla="*/ 1219 w 1684"/>
                    <a:gd name="T29" fmla="*/ 814 h 880"/>
                    <a:gd name="T30" fmla="*/ 1255 w 1684"/>
                    <a:gd name="T31" fmla="*/ 650 h 880"/>
                    <a:gd name="T32" fmla="*/ 1338 w 1684"/>
                    <a:gd name="T33" fmla="*/ 538 h 880"/>
                    <a:gd name="T34" fmla="*/ 1241 w 1684"/>
                    <a:gd name="T35" fmla="*/ 552 h 880"/>
                    <a:gd name="T36" fmla="*/ 1165 w 1684"/>
                    <a:gd name="T37" fmla="*/ 658 h 880"/>
                    <a:gd name="T38" fmla="*/ 1139 w 1684"/>
                    <a:gd name="T39" fmla="*/ 791 h 880"/>
                    <a:gd name="T40" fmla="*/ 107 w 1684"/>
                    <a:gd name="T41" fmla="*/ 310 h 880"/>
                    <a:gd name="T42" fmla="*/ 80 w 1684"/>
                    <a:gd name="T43" fmla="*/ 215 h 880"/>
                    <a:gd name="T44" fmla="*/ 103 w 1684"/>
                    <a:gd name="T45" fmla="*/ 95 h 880"/>
                    <a:gd name="T46" fmla="*/ 217 w 1684"/>
                    <a:gd name="T47" fmla="*/ 0 h 880"/>
                    <a:gd name="T48" fmla="*/ 156 w 1684"/>
                    <a:gd name="T49" fmla="*/ 0 h 8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5" name="Freeform 31"/>
                <p:cNvSpPr>
                  <a:spLocks noChangeArrowheads="1"/>
                </p:cNvSpPr>
                <p:nvPr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16 w 160"/>
                    <a:gd name="T1" fmla="*/ 0 h 335"/>
                    <a:gd name="T2" fmla="*/ 19 w 160"/>
                    <a:gd name="T3" fmla="*/ 106 h 335"/>
                    <a:gd name="T4" fmla="*/ 0 w 160"/>
                    <a:gd name="T5" fmla="*/ 230 h 335"/>
                    <a:gd name="T6" fmla="*/ 33 w 160"/>
                    <a:gd name="T7" fmla="*/ 314 h 335"/>
                    <a:gd name="T8" fmla="*/ 94 w 160"/>
                    <a:gd name="T9" fmla="*/ 335 h 335"/>
                    <a:gd name="T10" fmla="*/ 76 w 160"/>
                    <a:gd name="T11" fmla="*/ 154 h 335"/>
                    <a:gd name="T12" fmla="*/ 160 w 160"/>
                    <a:gd name="T13" fmla="*/ 17 h 335"/>
                    <a:gd name="T14" fmla="*/ 116 w 160"/>
                    <a:gd name="T15" fmla="*/ 0 h 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6" name="Freeform 32"/>
                <p:cNvSpPr>
                  <a:spLocks noChangeArrowheads="1"/>
                </p:cNvSpPr>
                <p:nvPr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218 w 642"/>
                    <a:gd name="T1" fmla="*/ 896 h 1188"/>
                    <a:gd name="T2" fmla="*/ 0 w 642"/>
                    <a:gd name="T3" fmla="*/ 124 h 1188"/>
                    <a:gd name="T4" fmla="*/ 81 w 642"/>
                    <a:gd name="T5" fmla="*/ 38 h 1188"/>
                    <a:gd name="T6" fmla="*/ 258 w 642"/>
                    <a:gd name="T7" fmla="*/ 0 h 1188"/>
                    <a:gd name="T8" fmla="*/ 399 w 642"/>
                    <a:gd name="T9" fmla="*/ 57 h 1188"/>
                    <a:gd name="T10" fmla="*/ 642 w 642"/>
                    <a:gd name="T11" fmla="*/ 1188 h 1188"/>
                    <a:gd name="T12" fmla="*/ 555 w 642"/>
                    <a:gd name="T13" fmla="*/ 1091 h 1188"/>
                    <a:gd name="T14" fmla="*/ 355 w 642"/>
                    <a:gd name="T15" fmla="*/ 97 h 1188"/>
                    <a:gd name="T16" fmla="*/ 226 w 642"/>
                    <a:gd name="T17" fmla="*/ 61 h 1188"/>
                    <a:gd name="T18" fmla="*/ 119 w 642"/>
                    <a:gd name="T19" fmla="*/ 74 h 1188"/>
                    <a:gd name="T20" fmla="*/ 76 w 642"/>
                    <a:gd name="T21" fmla="*/ 141 h 1188"/>
                    <a:gd name="T22" fmla="*/ 306 w 642"/>
                    <a:gd name="T23" fmla="*/ 924 h 1188"/>
                    <a:gd name="T24" fmla="*/ 218 w 642"/>
                    <a:gd name="T25" fmla="*/ 896 h 1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7" name="Freeform 33"/>
                <p:cNvSpPr>
                  <a:spLocks noChangeArrowheads="1"/>
                </p:cNvSpPr>
                <p:nvPr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27 h 504"/>
                    <a:gd name="T2" fmla="*/ 76 w 192"/>
                    <a:gd name="T3" fmla="*/ 194 h 504"/>
                    <a:gd name="T4" fmla="*/ 113 w 192"/>
                    <a:gd name="T5" fmla="*/ 318 h 504"/>
                    <a:gd name="T6" fmla="*/ 116 w 192"/>
                    <a:gd name="T7" fmla="*/ 504 h 504"/>
                    <a:gd name="T8" fmla="*/ 192 w 192"/>
                    <a:gd name="T9" fmla="*/ 504 h 504"/>
                    <a:gd name="T10" fmla="*/ 187 w 192"/>
                    <a:gd name="T11" fmla="*/ 360 h 504"/>
                    <a:gd name="T12" fmla="*/ 162 w 192"/>
                    <a:gd name="T13" fmla="*/ 208 h 504"/>
                    <a:gd name="T14" fmla="*/ 99 w 192"/>
                    <a:gd name="T15" fmla="*/ 59 h 504"/>
                    <a:gd name="T16" fmla="*/ 63 w 192"/>
                    <a:gd name="T17" fmla="*/ 0 h 504"/>
                    <a:gd name="T18" fmla="*/ 0 w 192"/>
                    <a:gd name="T19" fmla="*/ 27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8" name="Freeform 34"/>
                <p:cNvSpPr>
                  <a:spLocks noChangeArrowheads="1"/>
                </p:cNvSpPr>
                <p:nvPr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297 w 390"/>
                    <a:gd name="T1" fmla="*/ 0 h 269"/>
                    <a:gd name="T2" fmla="*/ 257 w 390"/>
                    <a:gd name="T3" fmla="*/ 17 h 269"/>
                    <a:gd name="T4" fmla="*/ 253 w 390"/>
                    <a:gd name="T5" fmla="*/ 66 h 269"/>
                    <a:gd name="T6" fmla="*/ 0 w 390"/>
                    <a:gd name="T7" fmla="*/ 169 h 269"/>
                    <a:gd name="T8" fmla="*/ 0 w 390"/>
                    <a:gd name="T9" fmla="*/ 222 h 269"/>
                    <a:gd name="T10" fmla="*/ 284 w 390"/>
                    <a:gd name="T11" fmla="*/ 226 h 269"/>
                    <a:gd name="T12" fmla="*/ 320 w 390"/>
                    <a:gd name="T13" fmla="*/ 269 h 269"/>
                    <a:gd name="T14" fmla="*/ 390 w 390"/>
                    <a:gd name="T15" fmla="*/ 266 h 269"/>
                    <a:gd name="T16" fmla="*/ 383 w 390"/>
                    <a:gd name="T17" fmla="*/ 190 h 269"/>
                    <a:gd name="T18" fmla="*/ 116 w 390"/>
                    <a:gd name="T19" fmla="*/ 176 h 269"/>
                    <a:gd name="T20" fmla="*/ 333 w 390"/>
                    <a:gd name="T21" fmla="*/ 89 h 269"/>
                    <a:gd name="T22" fmla="*/ 297 w 390"/>
                    <a:gd name="T23" fmla="*/ 0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9" name="Freeform 35"/>
                <p:cNvSpPr>
                  <a:spLocks noChangeArrowheads="1"/>
                </p:cNvSpPr>
                <p:nvPr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31 h 424"/>
                    <a:gd name="T2" fmla="*/ 863 w 941"/>
                    <a:gd name="T3" fmla="*/ 0 h 424"/>
                    <a:gd name="T4" fmla="*/ 926 w 941"/>
                    <a:gd name="T5" fmla="*/ 78 h 424"/>
                    <a:gd name="T6" fmla="*/ 941 w 941"/>
                    <a:gd name="T7" fmla="*/ 181 h 424"/>
                    <a:gd name="T8" fmla="*/ 903 w 941"/>
                    <a:gd name="T9" fmla="*/ 282 h 424"/>
                    <a:gd name="T10" fmla="*/ 57 w 941"/>
                    <a:gd name="T11" fmla="*/ 424 h 424"/>
                    <a:gd name="T12" fmla="*/ 53 w 941"/>
                    <a:gd name="T13" fmla="*/ 384 h 424"/>
                    <a:gd name="T14" fmla="*/ 863 w 941"/>
                    <a:gd name="T15" fmla="*/ 242 h 424"/>
                    <a:gd name="T16" fmla="*/ 893 w 941"/>
                    <a:gd name="T17" fmla="*/ 145 h 424"/>
                    <a:gd name="T18" fmla="*/ 840 w 941"/>
                    <a:gd name="T19" fmla="*/ 57 h 424"/>
                    <a:gd name="T20" fmla="*/ 0 w 941"/>
                    <a:gd name="T21" fmla="*/ 185 h 424"/>
                    <a:gd name="T22" fmla="*/ 0 w 941"/>
                    <a:gd name="T23" fmla="*/ 131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" name="Freeform 36"/>
                <p:cNvSpPr>
                  <a:spLocks noChangeArrowheads="1"/>
                </p:cNvSpPr>
                <p:nvPr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126 h 173"/>
                    <a:gd name="T2" fmla="*/ 66 w 488"/>
                    <a:gd name="T3" fmla="*/ 173 h 173"/>
                    <a:gd name="T4" fmla="*/ 222 w 488"/>
                    <a:gd name="T5" fmla="*/ 166 h 173"/>
                    <a:gd name="T6" fmla="*/ 418 w 488"/>
                    <a:gd name="T7" fmla="*/ 116 h 173"/>
                    <a:gd name="T8" fmla="*/ 488 w 488"/>
                    <a:gd name="T9" fmla="*/ 42 h 173"/>
                    <a:gd name="T10" fmla="*/ 443 w 488"/>
                    <a:gd name="T11" fmla="*/ 2 h 173"/>
                    <a:gd name="T12" fmla="*/ 253 w 488"/>
                    <a:gd name="T13" fmla="*/ 0 h 173"/>
                    <a:gd name="T14" fmla="*/ 110 w 488"/>
                    <a:gd name="T15" fmla="*/ 12 h 173"/>
                    <a:gd name="T16" fmla="*/ 15 w 488"/>
                    <a:gd name="T17" fmla="*/ 76 h 173"/>
                    <a:gd name="T18" fmla="*/ 112 w 488"/>
                    <a:gd name="T19" fmla="*/ 95 h 173"/>
                    <a:gd name="T20" fmla="*/ 275 w 488"/>
                    <a:gd name="T21" fmla="*/ 53 h 173"/>
                    <a:gd name="T22" fmla="*/ 416 w 488"/>
                    <a:gd name="T23" fmla="*/ 53 h 173"/>
                    <a:gd name="T24" fmla="*/ 268 w 488"/>
                    <a:gd name="T25" fmla="*/ 110 h 173"/>
                    <a:gd name="T26" fmla="*/ 142 w 488"/>
                    <a:gd name="T27" fmla="*/ 126 h 173"/>
                    <a:gd name="T28" fmla="*/ 0 w 488"/>
                    <a:gd name="T29" fmla="*/ 126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62" name="Freeform 38"/>
            <p:cNvSpPr>
              <a:spLocks noChangeArrowheads="1"/>
            </p:cNvSpPr>
            <p:nvPr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3" name="Freeform 39"/>
            <p:cNvSpPr>
              <a:spLocks noChangeArrowheads="1"/>
            </p:cNvSpPr>
            <p:nvPr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66" name="Freeform 42"/>
              <p:cNvSpPr>
                <a:spLocks noChangeArrowheads="1"/>
              </p:cNvSpPr>
              <p:nvPr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123 w 245"/>
                  <a:gd name="T1" fmla="*/ 9 h 806"/>
                  <a:gd name="T2" fmla="*/ 131 w 245"/>
                  <a:gd name="T3" fmla="*/ 342 h 806"/>
                  <a:gd name="T4" fmla="*/ 0 w 245"/>
                  <a:gd name="T5" fmla="*/ 806 h 806"/>
                  <a:gd name="T6" fmla="*/ 79 w 245"/>
                  <a:gd name="T7" fmla="*/ 789 h 806"/>
                  <a:gd name="T8" fmla="*/ 218 w 245"/>
                  <a:gd name="T9" fmla="*/ 376 h 806"/>
                  <a:gd name="T10" fmla="*/ 245 w 245"/>
                  <a:gd name="T11" fmla="*/ 0 h 806"/>
                  <a:gd name="T12" fmla="*/ 123 w 245"/>
                  <a:gd name="T13" fmla="*/ 9 h 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68" name="Freeform 44"/>
                <p:cNvSpPr>
                  <a:spLocks noChangeArrowheads="1"/>
                </p:cNvSpPr>
                <p:nvPr/>
              </p:nvSpPr>
              <p:spPr bwMode="auto">
                <a:xfrm rot="-3172564">
                  <a:off x="4962" y="67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298 w 604"/>
                    <a:gd name="T3" fmla="*/ 184 h 349"/>
                    <a:gd name="T4" fmla="*/ 500 w 604"/>
                    <a:gd name="T5" fmla="*/ 349 h 349"/>
                    <a:gd name="T6" fmla="*/ 604 w 604"/>
                    <a:gd name="T7" fmla="*/ 140 h 349"/>
                    <a:gd name="T8" fmla="*/ 359 w 604"/>
                    <a:gd name="T9" fmla="*/ 9 h 349"/>
                    <a:gd name="T10" fmla="*/ 464 w 604"/>
                    <a:gd name="T11" fmla="*/ 184 h 349"/>
                    <a:gd name="T12" fmla="*/ 131 w 604"/>
                    <a:gd name="T13" fmla="*/ 17 h 349"/>
                    <a:gd name="T14" fmla="*/ 0 w 604"/>
                    <a:gd name="T15" fmla="*/ 0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9" name="Freeform 45"/>
                <p:cNvSpPr>
                  <a:spLocks noChangeArrowheads="1"/>
                </p:cNvSpPr>
                <p:nvPr/>
              </p:nvSpPr>
              <p:spPr bwMode="auto">
                <a:xfrm rot="-3172564">
                  <a:off x="5047" y="326"/>
                  <a:ext cx="269" cy="438"/>
                </a:xfrm>
                <a:custGeom>
                  <a:avLst/>
                  <a:gdLst>
                    <a:gd name="T0" fmla="*/ 741 w 1064"/>
                    <a:gd name="T1" fmla="*/ 129 h 1230"/>
                    <a:gd name="T2" fmla="*/ 485 w 1064"/>
                    <a:gd name="T3" fmla="*/ 352 h 1230"/>
                    <a:gd name="T4" fmla="*/ 163 w 1064"/>
                    <a:gd name="T5" fmla="*/ 762 h 1230"/>
                    <a:gd name="T6" fmla="*/ 0 w 1064"/>
                    <a:gd name="T7" fmla="*/ 1101 h 1230"/>
                    <a:gd name="T8" fmla="*/ 59 w 1064"/>
                    <a:gd name="T9" fmla="*/ 1230 h 1230"/>
                    <a:gd name="T10" fmla="*/ 262 w 1064"/>
                    <a:gd name="T11" fmla="*/ 1201 h 1230"/>
                    <a:gd name="T12" fmla="*/ 578 w 1064"/>
                    <a:gd name="T13" fmla="*/ 914 h 1230"/>
                    <a:gd name="T14" fmla="*/ 876 w 1064"/>
                    <a:gd name="T15" fmla="*/ 534 h 1230"/>
                    <a:gd name="T16" fmla="*/ 1034 w 1064"/>
                    <a:gd name="T17" fmla="*/ 270 h 1230"/>
                    <a:gd name="T18" fmla="*/ 1064 w 1064"/>
                    <a:gd name="T19" fmla="*/ 84 h 1230"/>
                    <a:gd name="T20" fmla="*/ 977 w 1064"/>
                    <a:gd name="T21" fmla="*/ 0 h 1230"/>
                    <a:gd name="T22" fmla="*/ 836 w 1064"/>
                    <a:gd name="T23" fmla="*/ 65 h 1230"/>
                    <a:gd name="T24" fmla="*/ 969 w 1064"/>
                    <a:gd name="T25" fmla="*/ 107 h 1230"/>
                    <a:gd name="T26" fmla="*/ 876 w 1064"/>
                    <a:gd name="T27" fmla="*/ 352 h 1230"/>
                    <a:gd name="T28" fmla="*/ 690 w 1064"/>
                    <a:gd name="T29" fmla="*/ 656 h 1230"/>
                    <a:gd name="T30" fmla="*/ 350 w 1064"/>
                    <a:gd name="T31" fmla="*/ 1008 h 1230"/>
                    <a:gd name="T32" fmla="*/ 116 w 1064"/>
                    <a:gd name="T33" fmla="*/ 1114 h 1230"/>
                    <a:gd name="T34" fmla="*/ 135 w 1064"/>
                    <a:gd name="T35" fmla="*/ 943 h 1230"/>
                    <a:gd name="T36" fmla="*/ 437 w 1064"/>
                    <a:gd name="T37" fmla="*/ 504 h 1230"/>
                    <a:gd name="T38" fmla="*/ 831 w 1064"/>
                    <a:gd name="T39" fmla="*/ 118 h 1230"/>
                    <a:gd name="T40" fmla="*/ 741 w 1064"/>
                    <a:gd name="T41" fmla="*/ 129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0" name="Freeform 46"/>
                <p:cNvSpPr>
                  <a:spLocks noChangeArrowheads="1"/>
                </p:cNvSpPr>
                <p:nvPr/>
              </p:nvSpPr>
              <p:spPr bwMode="auto">
                <a:xfrm rot="-3172564">
                  <a:off x="4857" y="176"/>
                  <a:ext cx="505" cy="898"/>
                </a:xfrm>
                <a:custGeom>
                  <a:avLst/>
                  <a:gdLst>
                    <a:gd name="T0" fmla="*/ 1941 w 2002"/>
                    <a:gd name="T1" fmla="*/ 0 h 2521"/>
                    <a:gd name="T2" fmla="*/ 0 w 2002"/>
                    <a:gd name="T3" fmla="*/ 2521 h 2521"/>
                    <a:gd name="T4" fmla="*/ 192 w 2002"/>
                    <a:gd name="T5" fmla="*/ 2450 h 2521"/>
                    <a:gd name="T6" fmla="*/ 2002 w 2002"/>
                    <a:gd name="T7" fmla="*/ 61 h 2521"/>
                    <a:gd name="T8" fmla="*/ 1941 w 2002"/>
                    <a:gd name="T9" fmla="*/ 0 h 2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1" name="Freeform 47"/>
                <p:cNvSpPr>
                  <a:spLocks noChangeArrowheads="1"/>
                </p:cNvSpPr>
                <p:nvPr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95 w 3007"/>
                    <a:gd name="T1" fmla="*/ 2844 h 3771"/>
                    <a:gd name="T2" fmla="*/ 394 w 3007"/>
                    <a:gd name="T3" fmla="*/ 2834 h 3771"/>
                    <a:gd name="T4" fmla="*/ 821 w 3007"/>
                    <a:gd name="T5" fmla="*/ 3009 h 3771"/>
                    <a:gd name="T6" fmla="*/ 681 w 3007"/>
                    <a:gd name="T7" fmla="*/ 2817 h 3771"/>
                    <a:gd name="T8" fmla="*/ 367 w 3007"/>
                    <a:gd name="T9" fmla="*/ 2703 h 3771"/>
                    <a:gd name="T10" fmla="*/ 637 w 3007"/>
                    <a:gd name="T11" fmla="*/ 2720 h 3771"/>
                    <a:gd name="T12" fmla="*/ 979 w 3007"/>
                    <a:gd name="T13" fmla="*/ 2870 h 3771"/>
                    <a:gd name="T14" fmla="*/ 2859 w 3007"/>
                    <a:gd name="T15" fmla="*/ 420 h 3771"/>
                    <a:gd name="T16" fmla="*/ 2578 w 3007"/>
                    <a:gd name="T17" fmla="*/ 148 h 3771"/>
                    <a:gd name="T18" fmla="*/ 2308 w 3007"/>
                    <a:gd name="T19" fmla="*/ 0 h 3771"/>
                    <a:gd name="T20" fmla="*/ 2692 w 3007"/>
                    <a:gd name="T21" fmla="*/ 78 h 3771"/>
                    <a:gd name="T22" fmla="*/ 3007 w 3007"/>
                    <a:gd name="T23" fmla="*/ 428 h 3771"/>
                    <a:gd name="T24" fmla="*/ 831 w 3007"/>
                    <a:gd name="T25" fmla="*/ 3273 h 3771"/>
                    <a:gd name="T26" fmla="*/ 481 w 3007"/>
                    <a:gd name="T27" fmla="*/ 3412 h 3771"/>
                    <a:gd name="T28" fmla="*/ 105 w 3007"/>
                    <a:gd name="T29" fmla="*/ 3771 h 3771"/>
                    <a:gd name="T30" fmla="*/ 0 w 3007"/>
                    <a:gd name="T31" fmla="*/ 3667 h 3771"/>
                    <a:gd name="T32" fmla="*/ 131 w 3007"/>
                    <a:gd name="T33" fmla="*/ 3631 h 3771"/>
                    <a:gd name="T34" fmla="*/ 376 w 3007"/>
                    <a:gd name="T35" fmla="*/ 3385 h 3771"/>
                    <a:gd name="T36" fmla="*/ 165 w 3007"/>
                    <a:gd name="T37" fmla="*/ 3273 h 3771"/>
                    <a:gd name="T38" fmla="*/ 165 w 3007"/>
                    <a:gd name="T39" fmla="*/ 3176 h 3771"/>
                    <a:gd name="T40" fmla="*/ 411 w 3007"/>
                    <a:gd name="T41" fmla="*/ 3298 h 3771"/>
                    <a:gd name="T42" fmla="*/ 411 w 3007"/>
                    <a:gd name="T43" fmla="*/ 3186 h 3771"/>
                    <a:gd name="T44" fmla="*/ 603 w 3007"/>
                    <a:gd name="T45" fmla="*/ 3220 h 3771"/>
                    <a:gd name="T46" fmla="*/ 428 w 3007"/>
                    <a:gd name="T47" fmla="*/ 3079 h 3771"/>
                    <a:gd name="T48" fmla="*/ 629 w 3007"/>
                    <a:gd name="T49" fmla="*/ 3062 h 3771"/>
                    <a:gd name="T50" fmla="*/ 95 w 3007"/>
                    <a:gd name="T51" fmla="*/ 2844 h 37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2" name="Freeform 48"/>
                <p:cNvSpPr>
                  <a:spLocks noChangeArrowheads="1"/>
                </p:cNvSpPr>
                <p:nvPr/>
              </p:nvSpPr>
              <p:spPr bwMode="auto">
                <a:xfrm rot="-3172564">
                  <a:off x="5296" y="891"/>
                  <a:ext cx="169" cy="122"/>
                </a:xfrm>
                <a:custGeom>
                  <a:avLst/>
                  <a:gdLst>
                    <a:gd name="T0" fmla="*/ 0 w 673"/>
                    <a:gd name="T1" fmla="*/ 80 h 342"/>
                    <a:gd name="T2" fmla="*/ 255 w 673"/>
                    <a:gd name="T3" fmla="*/ 106 h 342"/>
                    <a:gd name="T4" fmla="*/ 639 w 673"/>
                    <a:gd name="T5" fmla="*/ 342 h 342"/>
                    <a:gd name="T6" fmla="*/ 673 w 673"/>
                    <a:gd name="T7" fmla="*/ 289 h 342"/>
                    <a:gd name="T8" fmla="*/ 447 w 673"/>
                    <a:gd name="T9" fmla="*/ 114 h 342"/>
                    <a:gd name="T10" fmla="*/ 26 w 673"/>
                    <a:gd name="T11" fmla="*/ 0 h 342"/>
                    <a:gd name="T12" fmla="*/ 0 w 673"/>
                    <a:gd name="T13" fmla="*/ 80 h 3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3" name="Freeform 49"/>
                <p:cNvSpPr>
                  <a:spLocks noChangeArrowheads="1"/>
                </p:cNvSpPr>
                <p:nvPr/>
              </p:nvSpPr>
              <p:spPr bwMode="auto">
                <a:xfrm rot="-3172564">
                  <a:off x="5250" y="800"/>
                  <a:ext cx="181" cy="144"/>
                </a:xfrm>
                <a:custGeom>
                  <a:avLst/>
                  <a:gdLst>
                    <a:gd name="T0" fmla="*/ 0 w 716"/>
                    <a:gd name="T1" fmla="*/ 78 h 403"/>
                    <a:gd name="T2" fmla="*/ 340 w 716"/>
                    <a:gd name="T3" fmla="*/ 148 h 403"/>
                    <a:gd name="T4" fmla="*/ 638 w 716"/>
                    <a:gd name="T5" fmla="*/ 403 h 403"/>
                    <a:gd name="T6" fmla="*/ 716 w 716"/>
                    <a:gd name="T7" fmla="*/ 296 h 403"/>
                    <a:gd name="T8" fmla="*/ 420 w 716"/>
                    <a:gd name="T9" fmla="*/ 114 h 403"/>
                    <a:gd name="T10" fmla="*/ 70 w 716"/>
                    <a:gd name="T11" fmla="*/ 0 h 403"/>
                    <a:gd name="T12" fmla="*/ 0 w 716"/>
                    <a:gd name="T13" fmla="*/ 78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4" name="Freeform 50"/>
                <p:cNvSpPr>
                  <a:spLocks noChangeArrowheads="1"/>
                </p:cNvSpPr>
                <p:nvPr/>
              </p:nvSpPr>
              <p:spPr bwMode="auto">
                <a:xfrm rot="-3172564">
                  <a:off x="4981" y="206"/>
                  <a:ext cx="181" cy="147"/>
                </a:xfrm>
                <a:custGeom>
                  <a:avLst/>
                  <a:gdLst>
                    <a:gd name="T0" fmla="*/ 0 w 717"/>
                    <a:gd name="T1" fmla="*/ 78 h 411"/>
                    <a:gd name="T2" fmla="*/ 316 w 717"/>
                    <a:gd name="T3" fmla="*/ 139 h 411"/>
                    <a:gd name="T4" fmla="*/ 649 w 717"/>
                    <a:gd name="T5" fmla="*/ 411 h 411"/>
                    <a:gd name="T6" fmla="*/ 717 w 717"/>
                    <a:gd name="T7" fmla="*/ 314 h 411"/>
                    <a:gd name="T8" fmla="*/ 394 w 717"/>
                    <a:gd name="T9" fmla="*/ 87 h 411"/>
                    <a:gd name="T10" fmla="*/ 54 w 717"/>
                    <a:gd name="T11" fmla="*/ 0 h 411"/>
                    <a:gd name="T12" fmla="*/ 0 w 717"/>
                    <a:gd name="T13" fmla="*/ 78 h 4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5" name="Freeform 51"/>
                <p:cNvSpPr>
                  <a:spLocks noChangeArrowheads="1"/>
                </p:cNvSpPr>
                <p:nvPr/>
              </p:nvSpPr>
              <p:spPr bwMode="auto">
                <a:xfrm rot="-3172564">
                  <a:off x="4946" y="136"/>
                  <a:ext cx="179" cy="138"/>
                </a:xfrm>
                <a:custGeom>
                  <a:avLst/>
                  <a:gdLst>
                    <a:gd name="T0" fmla="*/ 0 w 709"/>
                    <a:gd name="T1" fmla="*/ 88 h 386"/>
                    <a:gd name="T2" fmla="*/ 272 w 709"/>
                    <a:gd name="T3" fmla="*/ 131 h 386"/>
                    <a:gd name="T4" fmla="*/ 665 w 709"/>
                    <a:gd name="T5" fmla="*/ 386 h 386"/>
                    <a:gd name="T6" fmla="*/ 709 w 709"/>
                    <a:gd name="T7" fmla="*/ 308 h 386"/>
                    <a:gd name="T8" fmla="*/ 306 w 709"/>
                    <a:gd name="T9" fmla="*/ 53 h 386"/>
                    <a:gd name="T10" fmla="*/ 43 w 709"/>
                    <a:gd name="T11" fmla="*/ 0 h 386"/>
                    <a:gd name="T12" fmla="*/ 0 w 709"/>
                    <a:gd name="T13" fmla="*/ 88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audio" Target="../media/audio2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2.wav"/><Relationship Id="rId2" Type="http://schemas.openxmlformats.org/officeDocument/2006/relationships/image" Target="../media/image5.jpeg"/><Relationship Id="rId1" Type="http://schemas.openxmlformats.org/officeDocument/2006/relationships/image" Target="../media/image6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2.wav"/><Relationship Id="rId1" Type="http://schemas.openxmlformats.org/officeDocument/2006/relationships/image" Target="../media/image5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Ch. 6 Sorting</a:t>
            </a:r>
            <a:endParaRPr kumimoji="0" lang="en-US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Sorting</a:t>
            </a:r>
            <a:r>
              <a:rPr lang="zh-CN" altLang="en-US" b="1" dirty="0"/>
              <a:t>（排序）</a:t>
            </a:r>
            <a:endParaRPr lang="en-US" altLang="zh-CN" b="1" dirty="0"/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b="1" dirty="0"/>
              <a:t>The problem of sorting an array of elements</a:t>
            </a:r>
            <a:endParaRPr lang="en-US" altLang="zh-CN" sz="2400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dirty="0">
                <a:solidFill>
                  <a:schemeClr val="hlink"/>
                </a:solidFill>
              </a:rPr>
              <a:t>Assumption:</a:t>
            </a:r>
            <a:r>
              <a:rPr lang="en-US" altLang="zh-CN" sz="2000" dirty="0"/>
              <a:t> the array contains only</a:t>
            </a:r>
            <a:r>
              <a:rPr lang="en-US" altLang="zh-CN" sz="2000" dirty="0">
                <a:solidFill>
                  <a:schemeClr val="tx2"/>
                </a:solidFill>
              </a:rPr>
              <a:t> integers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dirty="0">
                <a:solidFill>
                  <a:schemeClr val="hlink"/>
                </a:solidFill>
              </a:rPr>
              <a:t>Internal sorting</a:t>
            </a:r>
            <a:r>
              <a:rPr lang="zh-CN" altLang="en-US" sz="2000" b="1" dirty="0">
                <a:solidFill>
                  <a:schemeClr val="hlink"/>
                </a:solidFill>
              </a:rPr>
              <a:t>（内部排序）</a:t>
            </a:r>
            <a:r>
              <a:rPr lang="en-US" altLang="zh-CN" sz="2000" dirty="0"/>
              <a:t>: the number of elements is relatively small and sorting can be done in main memory</a:t>
            </a:r>
            <a:endParaRPr lang="en-US" altLang="zh-CN" sz="20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/>
              <a:t>Insertion sort</a:t>
            </a:r>
            <a:r>
              <a:rPr lang="zh-CN" altLang="en-US" sz="1800" dirty="0"/>
              <a:t>（插入排序）</a:t>
            </a:r>
            <a:endParaRPr lang="en-US" altLang="zh-CN" sz="18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/>
              <a:t>Shell sort</a:t>
            </a:r>
            <a:r>
              <a:rPr lang="zh-CN" altLang="en-US" sz="1800" dirty="0"/>
              <a:t>（希尔排序）</a:t>
            </a:r>
            <a:endParaRPr lang="en-US" altLang="zh-CN" sz="18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/>
              <a:t>Heap sort</a:t>
            </a:r>
            <a:r>
              <a:rPr lang="zh-CN" altLang="en-US" sz="1800" dirty="0"/>
              <a:t>（堆排序）</a:t>
            </a:r>
            <a:endParaRPr lang="en-US" altLang="zh-CN" sz="18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/>
              <a:t>Merge sort</a:t>
            </a:r>
            <a:r>
              <a:rPr lang="zh-CN" altLang="en-US" sz="1800" dirty="0"/>
              <a:t>（归并排序）</a:t>
            </a:r>
            <a:endParaRPr lang="en-US" altLang="zh-CN" sz="18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/>
              <a:t>Quick sort</a:t>
            </a:r>
            <a:r>
              <a:rPr lang="zh-CN" altLang="en-US" sz="1800" dirty="0"/>
              <a:t>（快速排序）</a:t>
            </a:r>
            <a:endParaRPr lang="en-US" altLang="zh-CN" sz="18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/>
              <a:t>Bucket sort and Radix sort</a:t>
            </a:r>
            <a:r>
              <a:rPr lang="zh-CN" altLang="en-US" sz="1800" dirty="0"/>
              <a:t>（桶排序和基数排序）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dirty="0">
                <a:solidFill>
                  <a:schemeClr val="hlink"/>
                </a:solidFill>
              </a:rPr>
              <a:t>External sorting</a:t>
            </a:r>
            <a:r>
              <a:rPr lang="zh-CN" altLang="en-US" sz="2000" b="1" dirty="0">
                <a:solidFill>
                  <a:schemeClr val="hlink"/>
                </a:solidFill>
              </a:rPr>
              <a:t>（外部排序）</a:t>
            </a:r>
            <a:endParaRPr lang="en-US" altLang="zh-CN" sz="2000" b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44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charRg st="44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89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charRg st="89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195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charRg st="195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216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95">
                                            <p:txEl>
                                              <p:charRg st="216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233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195">
                                            <p:txEl>
                                              <p:charRg st="233" end="2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248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195">
                                            <p:txEl>
                                              <p:charRg st="248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265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charRg st="265" end="2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282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195">
                                            <p:txEl>
                                              <p:charRg st="282" end="3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319" end="3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195">
                                            <p:txEl>
                                              <p:charRg st="319" end="3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319" end="3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20" name="Text Box 4"/>
          <p:cNvSpPr txBox="1"/>
          <p:nvPr/>
        </p:nvSpPr>
        <p:spPr>
          <a:xfrm>
            <a:off x="609600" y="1828800"/>
            <a:ext cx="5181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243330" lvl="0" indent="-124333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void </a:t>
            </a:r>
            <a:r>
              <a:rPr lang="en-US" altLang="zh-CN" sz="2000" b="1" dirty="0">
                <a:latin typeface="Arial" panose="020B0604020202020204" pitchFamily="34" charset="0"/>
              </a:rPr>
              <a:t> X_Sort ( ElementType  A[ ],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N )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9221" name="Text Box 5"/>
          <p:cNvSpPr txBox="1"/>
          <p:nvPr/>
        </p:nvSpPr>
        <p:spPr>
          <a:xfrm>
            <a:off x="609600" y="2286000"/>
            <a:ext cx="39624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63880" lvl="0" indent="-563880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/* N must be a legal integer */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222" name="Text Box 6"/>
          <p:cNvSpPr txBox="1"/>
          <p:nvPr/>
        </p:nvSpPr>
        <p:spPr>
          <a:xfrm>
            <a:off x="609600" y="2743200"/>
            <a:ext cx="66294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63880" lvl="0" indent="-563880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/* Assume integer array for the sake of simplicity */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223" name="Text Box 7"/>
          <p:cNvSpPr txBox="1"/>
          <p:nvPr/>
        </p:nvSpPr>
        <p:spPr>
          <a:xfrm>
            <a:off x="609600" y="3200400"/>
            <a:ext cx="74676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86055" lvl="0" indent="-186055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/* ‘&gt;’ and ‘&lt;’ operators exist and are the only operations allowed on the input data */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224" name="AutoShape 8"/>
          <p:cNvSpPr/>
          <p:nvPr/>
        </p:nvSpPr>
        <p:spPr>
          <a:xfrm>
            <a:off x="5715000" y="1066800"/>
            <a:ext cx="2895600" cy="1143000"/>
          </a:xfrm>
          <a:prstGeom prst="wedgeEllipseCallout">
            <a:avLst>
              <a:gd name="adj1" fmla="val -5319"/>
              <a:gd name="adj2" fmla="val 148889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Comparison-based</a:t>
            </a:r>
            <a:r>
              <a:rPr lang="en-US" altLang="zh-CN" sz="2400" b="1" dirty="0">
                <a:latin typeface="Times New Roman" panose="02020603050405020304" pitchFamily="18" charset="0"/>
              </a:rPr>
              <a:t> sorting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225" name="Text Box 9"/>
          <p:cNvSpPr txBox="1"/>
          <p:nvPr/>
        </p:nvSpPr>
        <p:spPr>
          <a:xfrm>
            <a:off x="609600" y="3962400"/>
            <a:ext cx="46482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86055" lvl="0" indent="-186055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/* Consider internal sorting only */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226" name="AutoShape 10"/>
          <p:cNvSpPr/>
          <p:nvPr/>
        </p:nvSpPr>
        <p:spPr>
          <a:xfrm>
            <a:off x="1600200" y="4724400"/>
            <a:ext cx="6400800" cy="1295400"/>
          </a:xfrm>
          <a:prstGeom prst="wedgeEllipseCallout">
            <a:avLst>
              <a:gd name="adj1" fmla="val -34250"/>
              <a:gd name="adj2" fmla="val -82843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The entire sort can be done in main memory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6154" name="Rectangle 12"/>
          <p:cNvSpPr/>
          <p:nvPr/>
        </p:nvSpPr>
        <p:spPr>
          <a:xfrm>
            <a:off x="685800" y="152400"/>
            <a:ext cx="6870700" cy="1447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dirty="0">
                <a:sym typeface="Webdings" panose="05030102010509060703" pitchFamily="18" charset="2"/>
              </a:rPr>
              <a:t> </a:t>
            </a:r>
            <a:r>
              <a:rPr lang="en-US" altLang="zh-CN" sz="4400" b="1" dirty="0">
                <a:sym typeface="Webdings" panose="05030102010509060703" pitchFamily="18" charset="2"/>
              </a:rPr>
              <a:t>Preliminaries</a:t>
            </a:r>
            <a:endParaRPr lang="en-US" altLang="zh-CN" sz="4400" b="1" dirty="0">
              <a:sym typeface="Webdings" panose="05030102010509060703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1" grpId="0"/>
      <p:bldP spid="9222" grpId="0"/>
      <p:bldP spid="9223" grpId="0"/>
      <p:bldP spid="9224" grpId="0" animBg="1"/>
      <p:bldP spid="9225" grpId="0"/>
      <p:bldP spid="92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Insertion Sort</a:t>
            </a:r>
            <a:endParaRPr lang="en-US" altLang="zh-CN" dirty="0"/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Repeatedly insert a new element into an already sorted array</a:t>
            </a:r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2971800" y="3124200"/>
            <a:ext cx="2089150" cy="2493963"/>
            <a:chOff x="1968" y="864"/>
            <a:chExt cx="1316" cy="1571"/>
          </a:xfrm>
        </p:grpSpPr>
        <p:sp>
          <p:nvSpPr>
            <p:cNvPr id="7760" name="Freeform 5"/>
            <p:cNvSpPr/>
            <p:nvPr/>
          </p:nvSpPr>
          <p:spPr>
            <a:xfrm>
              <a:off x="2115" y="864"/>
              <a:ext cx="983" cy="1571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2" y="22"/>
                </a:cxn>
                <a:cxn ang="0">
                  <a:pos x="7" y="10"/>
                </a:cxn>
                <a:cxn ang="0">
                  <a:pos x="17" y="3"/>
                </a:cxn>
                <a:cxn ang="0">
                  <a:pos x="32" y="0"/>
                </a:cxn>
                <a:cxn ang="0">
                  <a:pos x="453" y="0"/>
                </a:cxn>
                <a:cxn ang="0">
                  <a:pos x="468" y="2"/>
                </a:cxn>
                <a:cxn ang="0">
                  <a:pos x="481" y="9"/>
                </a:cxn>
                <a:cxn ang="0">
                  <a:pos x="489" y="22"/>
                </a:cxn>
                <a:cxn ang="0">
                  <a:pos x="491" y="41"/>
                </a:cxn>
                <a:cxn ang="0">
                  <a:pos x="491" y="742"/>
                </a:cxn>
                <a:cxn ang="0">
                  <a:pos x="491" y="761"/>
                </a:cxn>
                <a:cxn ang="0">
                  <a:pos x="487" y="772"/>
                </a:cxn>
                <a:cxn ang="0">
                  <a:pos x="480" y="780"/>
                </a:cxn>
                <a:cxn ang="0">
                  <a:pos x="471" y="786"/>
                </a:cxn>
                <a:cxn ang="0">
                  <a:pos x="27" y="786"/>
                </a:cxn>
                <a:cxn ang="0">
                  <a:pos x="15" y="783"/>
                </a:cxn>
                <a:cxn ang="0">
                  <a:pos x="7" y="776"/>
                </a:cxn>
                <a:cxn ang="0">
                  <a:pos x="2" y="768"/>
                </a:cxn>
                <a:cxn ang="0">
                  <a:pos x="0" y="753"/>
                </a:cxn>
                <a:cxn ang="0">
                  <a:pos x="0" y="38"/>
                </a:cxn>
              </a:cxnLst>
              <a:pathLst>
                <a:path w="1968" h="3140">
                  <a:moveTo>
                    <a:pt x="0" y="150"/>
                  </a:moveTo>
                  <a:lnTo>
                    <a:pt x="8" y="86"/>
                  </a:lnTo>
                  <a:lnTo>
                    <a:pt x="28" y="38"/>
                  </a:lnTo>
                  <a:lnTo>
                    <a:pt x="69" y="11"/>
                  </a:lnTo>
                  <a:lnTo>
                    <a:pt x="128" y="0"/>
                  </a:lnTo>
                  <a:lnTo>
                    <a:pt x="1816" y="0"/>
                  </a:lnTo>
                  <a:lnTo>
                    <a:pt x="1876" y="5"/>
                  </a:lnTo>
                  <a:lnTo>
                    <a:pt x="1926" y="33"/>
                  </a:lnTo>
                  <a:lnTo>
                    <a:pt x="1957" y="86"/>
                  </a:lnTo>
                  <a:lnTo>
                    <a:pt x="1968" y="161"/>
                  </a:lnTo>
                  <a:lnTo>
                    <a:pt x="1968" y="2965"/>
                  </a:lnTo>
                  <a:lnTo>
                    <a:pt x="1966" y="3040"/>
                  </a:lnTo>
                  <a:lnTo>
                    <a:pt x="1952" y="3084"/>
                  </a:lnTo>
                  <a:lnTo>
                    <a:pt x="1921" y="3117"/>
                  </a:lnTo>
                  <a:lnTo>
                    <a:pt x="1886" y="3139"/>
                  </a:lnTo>
                  <a:lnTo>
                    <a:pt x="110" y="3140"/>
                  </a:lnTo>
                  <a:lnTo>
                    <a:pt x="62" y="3128"/>
                  </a:lnTo>
                  <a:lnTo>
                    <a:pt x="28" y="3101"/>
                  </a:lnTo>
                  <a:lnTo>
                    <a:pt x="8" y="3068"/>
                  </a:lnTo>
                  <a:lnTo>
                    <a:pt x="0" y="3009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317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7761" name="Group 6"/>
            <p:cNvGrpSpPr/>
            <p:nvPr/>
          </p:nvGrpSpPr>
          <p:grpSpPr>
            <a:xfrm rot="1560000">
              <a:off x="1968" y="1056"/>
              <a:ext cx="1316" cy="1155"/>
              <a:chOff x="2025" y="1323"/>
              <a:chExt cx="1316" cy="1155"/>
            </a:xfrm>
          </p:grpSpPr>
          <p:sp>
            <p:nvSpPr>
              <p:cNvPr id="7762" name="Freeform 7"/>
              <p:cNvSpPr/>
              <p:nvPr/>
            </p:nvSpPr>
            <p:spPr>
              <a:xfrm>
                <a:off x="2094" y="1585"/>
                <a:ext cx="80" cy="13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44"/>
                  </a:cxn>
                  <a:cxn ang="0">
                    <a:pos x="40" y="69"/>
                  </a:cxn>
                  <a:cxn ang="0">
                    <a:pos x="40" y="22"/>
                  </a:cxn>
                  <a:cxn ang="0">
                    <a:pos x="6" y="0"/>
                  </a:cxn>
                </a:cxnLst>
                <a:pathLst>
                  <a:path w="160" h="274">
                    <a:moveTo>
                      <a:pt x="21" y="0"/>
                    </a:moveTo>
                    <a:lnTo>
                      <a:pt x="0" y="174"/>
                    </a:lnTo>
                    <a:lnTo>
                      <a:pt x="159" y="274"/>
                    </a:lnTo>
                    <a:lnTo>
                      <a:pt x="160" y="87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763" name="Freeform 8"/>
              <p:cNvSpPr/>
              <p:nvPr/>
            </p:nvSpPr>
            <p:spPr>
              <a:xfrm>
                <a:off x="2025" y="1421"/>
                <a:ext cx="82" cy="154"/>
              </a:xfrm>
              <a:custGeom>
                <a:avLst/>
                <a:gdLst/>
                <a:ahLst/>
                <a:cxnLst>
                  <a:cxn ang="0">
                    <a:pos x="2" y="7"/>
                  </a:cxn>
                  <a:cxn ang="0">
                    <a:pos x="16" y="0"/>
                  </a:cxn>
                  <a:cxn ang="0">
                    <a:pos x="41" y="55"/>
                  </a:cxn>
                  <a:cxn ang="0">
                    <a:pos x="35" y="70"/>
                  </a:cxn>
                  <a:cxn ang="0">
                    <a:pos x="21" y="77"/>
                  </a:cxn>
                  <a:cxn ang="0">
                    <a:pos x="6" y="72"/>
                  </a:cxn>
                  <a:cxn ang="0">
                    <a:pos x="0" y="54"/>
                  </a:cxn>
                  <a:cxn ang="0">
                    <a:pos x="11" y="49"/>
                  </a:cxn>
                  <a:cxn ang="0">
                    <a:pos x="18" y="61"/>
                  </a:cxn>
                  <a:cxn ang="0">
                    <a:pos x="26" y="57"/>
                  </a:cxn>
                  <a:cxn ang="0">
                    <a:pos x="2" y="7"/>
                  </a:cxn>
                </a:cxnLst>
                <a:pathLst>
                  <a:path w="165" h="308">
                    <a:moveTo>
                      <a:pt x="11" y="25"/>
                    </a:moveTo>
                    <a:lnTo>
                      <a:pt x="66" y="0"/>
                    </a:lnTo>
                    <a:lnTo>
                      <a:pt x="165" y="220"/>
                    </a:lnTo>
                    <a:lnTo>
                      <a:pt x="142" y="277"/>
                    </a:lnTo>
                    <a:lnTo>
                      <a:pt x="87" y="308"/>
                    </a:lnTo>
                    <a:lnTo>
                      <a:pt x="27" y="286"/>
                    </a:lnTo>
                    <a:lnTo>
                      <a:pt x="0" y="216"/>
                    </a:lnTo>
                    <a:lnTo>
                      <a:pt x="45" y="193"/>
                    </a:lnTo>
                    <a:lnTo>
                      <a:pt x="75" y="244"/>
                    </a:lnTo>
                    <a:lnTo>
                      <a:pt x="107" y="227"/>
                    </a:lnTo>
                    <a:lnTo>
                      <a:pt x="11" y="25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764" name="Group 9"/>
              <p:cNvGrpSpPr/>
              <p:nvPr/>
            </p:nvGrpSpPr>
            <p:grpSpPr>
              <a:xfrm>
                <a:off x="2300" y="1377"/>
                <a:ext cx="651" cy="656"/>
                <a:chOff x="2300" y="1377"/>
                <a:chExt cx="651" cy="656"/>
              </a:xfrm>
            </p:grpSpPr>
            <p:sp>
              <p:nvSpPr>
                <p:cNvPr id="7818" name="Freeform 10"/>
                <p:cNvSpPr/>
                <p:nvPr/>
              </p:nvSpPr>
              <p:spPr>
                <a:xfrm>
                  <a:off x="2359" y="1377"/>
                  <a:ext cx="280" cy="184"/>
                </a:xfrm>
                <a:custGeom>
                  <a:avLst/>
                  <a:gdLst/>
                  <a:ahLst/>
                  <a:cxnLst>
                    <a:cxn ang="0">
                      <a:pos x="140" y="0"/>
                    </a:cxn>
                    <a:cxn ang="0">
                      <a:pos x="0" y="70"/>
                    </a:cxn>
                    <a:cxn ang="0">
                      <a:pos x="37" y="80"/>
                    </a:cxn>
                    <a:cxn ang="0">
                      <a:pos x="42" y="92"/>
                    </a:cxn>
                    <a:cxn ang="0">
                      <a:pos x="129" y="50"/>
                    </a:cxn>
                    <a:cxn ang="0">
                      <a:pos x="124" y="38"/>
                    </a:cxn>
                    <a:cxn ang="0">
                      <a:pos x="140" y="0"/>
                    </a:cxn>
                  </a:cxnLst>
                  <a:pathLst>
                    <a:path w="561" h="369">
                      <a:moveTo>
                        <a:pt x="561" y="0"/>
                      </a:moveTo>
                      <a:lnTo>
                        <a:pt x="0" y="283"/>
                      </a:lnTo>
                      <a:lnTo>
                        <a:pt x="149" y="321"/>
                      </a:lnTo>
                      <a:lnTo>
                        <a:pt x="171" y="369"/>
                      </a:lnTo>
                      <a:lnTo>
                        <a:pt x="519" y="200"/>
                      </a:lnTo>
                      <a:lnTo>
                        <a:pt x="497" y="15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19" name="Freeform 11"/>
                <p:cNvSpPr/>
                <p:nvPr/>
              </p:nvSpPr>
              <p:spPr>
                <a:xfrm>
                  <a:off x="2445" y="1504"/>
                  <a:ext cx="173" cy="194"/>
                </a:xfrm>
                <a:custGeom>
                  <a:avLst/>
                  <a:gdLst/>
                  <a:ahLst/>
                  <a:cxnLst>
                    <a:cxn ang="0">
                      <a:pos x="51" y="0"/>
                    </a:cxn>
                    <a:cxn ang="0">
                      <a:pos x="0" y="26"/>
                    </a:cxn>
                    <a:cxn ang="0">
                      <a:pos x="29" y="86"/>
                    </a:cxn>
                    <a:cxn ang="0">
                      <a:pos x="37" y="89"/>
                    </a:cxn>
                    <a:cxn ang="0">
                      <a:pos x="52" y="97"/>
                    </a:cxn>
                    <a:cxn ang="0">
                      <a:pos x="78" y="85"/>
                    </a:cxn>
                    <a:cxn ang="0">
                      <a:pos x="87" y="73"/>
                    </a:cxn>
                    <a:cxn ang="0">
                      <a:pos x="51" y="0"/>
                    </a:cxn>
                  </a:cxnLst>
                  <a:pathLst>
                    <a:path w="346" h="388">
                      <a:moveTo>
                        <a:pt x="204" y="0"/>
                      </a:moveTo>
                      <a:lnTo>
                        <a:pt x="0" y="103"/>
                      </a:lnTo>
                      <a:lnTo>
                        <a:pt x="116" y="344"/>
                      </a:lnTo>
                      <a:lnTo>
                        <a:pt x="145" y="355"/>
                      </a:lnTo>
                      <a:lnTo>
                        <a:pt x="206" y="388"/>
                      </a:lnTo>
                      <a:lnTo>
                        <a:pt x="312" y="337"/>
                      </a:lnTo>
                      <a:lnTo>
                        <a:pt x="346" y="290"/>
                      </a:lnTo>
                      <a:lnTo>
                        <a:pt x="20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0" name="Freeform 12"/>
                <p:cNvSpPr/>
                <p:nvPr/>
              </p:nvSpPr>
              <p:spPr>
                <a:xfrm>
                  <a:off x="2437" y="1562"/>
                  <a:ext cx="80" cy="181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31" y="56"/>
                    </a:cxn>
                    <a:cxn ang="0">
                      <a:pos x="40" y="60"/>
                    </a:cxn>
                    <a:cxn ang="0">
                      <a:pos x="33" y="81"/>
                    </a:cxn>
                    <a:cxn ang="0">
                      <a:pos x="14" y="91"/>
                    </a:cxn>
                    <a:cxn ang="0">
                      <a:pos x="3" y="68"/>
                    </a:cxn>
                    <a:cxn ang="0">
                      <a:pos x="16" y="61"/>
                    </a:cxn>
                    <a:cxn ang="0">
                      <a:pos x="0" y="29"/>
                    </a:cxn>
                    <a:cxn ang="0">
                      <a:pos x="6" y="0"/>
                    </a:cxn>
                  </a:cxnLst>
                  <a:pathLst>
                    <a:path w="159" h="362">
                      <a:moveTo>
                        <a:pt x="22" y="0"/>
                      </a:moveTo>
                      <a:lnTo>
                        <a:pt x="124" y="221"/>
                      </a:lnTo>
                      <a:lnTo>
                        <a:pt x="159" y="239"/>
                      </a:lnTo>
                      <a:lnTo>
                        <a:pt x="131" y="322"/>
                      </a:lnTo>
                      <a:lnTo>
                        <a:pt x="54" y="362"/>
                      </a:lnTo>
                      <a:lnTo>
                        <a:pt x="10" y="269"/>
                      </a:lnTo>
                      <a:lnTo>
                        <a:pt x="63" y="241"/>
                      </a:lnTo>
                      <a:lnTo>
                        <a:pt x="0" y="113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1" name="Freeform 13"/>
                <p:cNvSpPr/>
                <p:nvPr/>
              </p:nvSpPr>
              <p:spPr>
                <a:xfrm>
                  <a:off x="2503" y="1649"/>
                  <a:ext cx="150" cy="81"/>
                </a:xfrm>
                <a:custGeom>
                  <a:avLst/>
                  <a:gdLst/>
                  <a:ahLst/>
                  <a:cxnLst>
                    <a:cxn ang="0">
                      <a:pos x="59" y="0"/>
                    </a:cxn>
                    <a:cxn ang="0">
                      <a:pos x="49" y="13"/>
                    </a:cxn>
                    <a:cxn ang="0">
                      <a:pos x="23" y="25"/>
                    </a:cxn>
                    <a:cxn ang="0">
                      <a:pos x="8" y="17"/>
                    </a:cxn>
                    <a:cxn ang="0">
                      <a:pos x="6" y="24"/>
                    </a:cxn>
                    <a:cxn ang="0">
                      <a:pos x="0" y="37"/>
                    </a:cxn>
                    <a:cxn ang="0">
                      <a:pos x="25" y="41"/>
                    </a:cxn>
                    <a:cxn ang="0">
                      <a:pos x="64" y="23"/>
                    </a:cxn>
                    <a:cxn ang="0">
                      <a:pos x="75" y="3"/>
                    </a:cxn>
                    <a:cxn ang="0">
                      <a:pos x="59" y="0"/>
                    </a:cxn>
                  </a:cxnLst>
                  <a:pathLst>
                    <a:path w="300" h="162">
                      <a:moveTo>
                        <a:pt x="235" y="0"/>
                      </a:moveTo>
                      <a:lnTo>
                        <a:pt x="193" y="51"/>
                      </a:lnTo>
                      <a:lnTo>
                        <a:pt x="92" y="100"/>
                      </a:lnTo>
                      <a:lnTo>
                        <a:pt x="29" y="67"/>
                      </a:lnTo>
                      <a:lnTo>
                        <a:pt x="23" y="94"/>
                      </a:lnTo>
                      <a:lnTo>
                        <a:pt x="0" y="145"/>
                      </a:lnTo>
                      <a:lnTo>
                        <a:pt x="97" y="162"/>
                      </a:lnTo>
                      <a:lnTo>
                        <a:pt x="255" y="89"/>
                      </a:lnTo>
                      <a:lnTo>
                        <a:pt x="300" y="11"/>
                      </a:lnTo>
                      <a:lnTo>
                        <a:pt x="235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2" name="Freeform 14"/>
                <p:cNvSpPr/>
                <p:nvPr/>
              </p:nvSpPr>
              <p:spPr>
                <a:xfrm>
                  <a:off x="2698" y="1380"/>
                  <a:ext cx="185" cy="268"/>
                </a:xfrm>
                <a:custGeom>
                  <a:avLst/>
                  <a:gdLst/>
                  <a:ahLst/>
                  <a:cxnLst>
                    <a:cxn ang="0">
                      <a:pos x="66" y="115"/>
                    </a:cxn>
                    <a:cxn ang="0">
                      <a:pos x="51" y="82"/>
                    </a:cxn>
                    <a:cxn ang="0">
                      <a:pos x="15" y="78"/>
                    </a:cxn>
                    <a:cxn ang="0">
                      <a:pos x="0" y="56"/>
                    </a:cxn>
                    <a:cxn ang="0">
                      <a:pos x="31" y="59"/>
                    </a:cxn>
                    <a:cxn ang="0">
                      <a:pos x="38" y="57"/>
                    </a:cxn>
                    <a:cxn ang="0">
                      <a:pos x="23" y="24"/>
                    </a:cxn>
                    <a:cxn ang="0">
                      <a:pos x="32" y="0"/>
                    </a:cxn>
                    <a:cxn ang="0">
                      <a:pos x="93" y="126"/>
                    </a:cxn>
                    <a:cxn ang="0">
                      <a:pos x="76" y="134"/>
                    </a:cxn>
                    <a:cxn ang="0">
                      <a:pos x="66" y="115"/>
                    </a:cxn>
                  </a:cxnLst>
                  <a:pathLst>
                    <a:path w="370" h="536">
                      <a:moveTo>
                        <a:pt x="263" y="458"/>
                      </a:moveTo>
                      <a:lnTo>
                        <a:pt x="202" y="326"/>
                      </a:lnTo>
                      <a:lnTo>
                        <a:pt x="59" y="312"/>
                      </a:lnTo>
                      <a:lnTo>
                        <a:pt x="0" y="224"/>
                      </a:lnTo>
                      <a:lnTo>
                        <a:pt x="124" y="236"/>
                      </a:lnTo>
                      <a:lnTo>
                        <a:pt x="152" y="225"/>
                      </a:lnTo>
                      <a:lnTo>
                        <a:pt x="89" y="94"/>
                      </a:lnTo>
                      <a:lnTo>
                        <a:pt x="127" y="0"/>
                      </a:lnTo>
                      <a:lnTo>
                        <a:pt x="370" y="503"/>
                      </a:lnTo>
                      <a:lnTo>
                        <a:pt x="302" y="536"/>
                      </a:lnTo>
                      <a:lnTo>
                        <a:pt x="263" y="458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3" name="Freeform 15"/>
                <p:cNvSpPr/>
                <p:nvPr/>
              </p:nvSpPr>
              <p:spPr>
                <a:xfrm>
                  <a:off x="2852" y="1634"/>
                  <a:ext cx="46" cy="38"/>
                </a:xfrm>
                <a:custGeom>
                  <a:avLst/>
                  <a:gdLst/>
                  <a:ahLst/>
                  <a:cxnLst>
                    <a:cxn ang="0">
                      <a:pos x="18" y="0"/>
                    </a:cxn>
                    <a:cxn ang="0">
                      <a:pos x="0" y="8"/>
                    </a:cxn>
                    <a:cxn ang="0">
                      <a:pos x="6" y="19"/>
                    </a:cxn>
                    <a:cxn ang="0">
                      <a:pos x="23" y="11"/>
                    </a:cxn>
                    <a:cxn ang="0">
                      <a:pos x="18" y="0"/>
                    </a:cxn>
                  </a:cxnLst>
                  <a:pathLst>
                    <a:path w="92" h="77">
                      <a:moveTo>
                        <a:pt x="70" y="0"/>
                      </a:moveTo>
                      <a:lnTo>
                        <a:pt x="0" y="33"/>
                      </a:lnTo>
                      <a:lnTo>
                        <a:pt x="23" y="77"/>
                      </a:lnTo>
                      <a:lnTo>
                        <a:pt x="92" y="45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4" name="Freeform 16"/>
                <p:cNvSpPr/>
                <p:nvPr/>
              </p:nvSpPr>
              <p:spPr>
                <a:xfrm>
                  <a:off x="2864" y="1654"/>
                  <a:ext cx="51" cy="43"/>
                </a:xfrm>
                <a:custGeom>
                  <a:avLst/>
                  <a:gdLst/>
                  <a:ahLst/>
                  <a:cxnLst>
                    <a:cxn ang="0">
                      <a:pos x="19" y="0"/>
                    </a:cxn>
                    <a:cxn ang="0">
                      <a:pos x="0" y="10"/>
                    </a:cxn>
                    <a:cxn ang="0">
                      <a:pos x="6" y="22"/>
                    </a:cxn>
                    <a:cxn ang="0">
                      <a:pos x="26" y="13"/>
                    </a:cxn>
                    <a:cxn ang="0">
                      <a:pos x="19" y="0"/>
                    </a:cxn>
                  </a:cxnLst>
                  <a:pathLst>
                    <a:path w="101" h="84">
                      <a:moveTo>
                        <a:pt x="75" y="0"/>
                      </a:moveTo>
                      <a:lnTo>
                        <a:pt x="0" y="39"/>
                      </a:lnTo>
                      <a:lnTo>
                        <a:pt x="22" y="84"/>
                      </a:lnTo>
                      <a:lnTo>
                        <a:pt x="101" y="50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5" name="Freeform 17"/>
                <p:cNvSpPr/>
                <p:nvPr/>
              </p:nvSpPr>
              <p:spPr>
                <a:xfrm>
                  <a:off x="2877" y="1681"/>
                  <a:ext cx="47" cy="41"/>
                </a:xfrm>
                <a:custGeom>
                  <a:avLst/>
                  <a:gdLst/>
                  <a:ahLst/>
                  <a:cxnLst>
                    <a:cxn ang="0">
                      <a:pos x="17" y="0"/>
                    </a:cxn>
                    <a:cxn ang="0">
                      <a:pos x="0" y="9"/>
                    </a:cxn>
                    <a:cxn ang="0">
                      <a:pos x="6" y="21"/>
                    </a:cxn>
                    <a:cxn ang="0">
                      <a:pos x="24" y="12"/>
                    </a:cxn>
                    <a:cxn ang="0">
                      <a:pos x="17" y="0"/>
                    </a:cxn>
                  </a:cxnLst>
                  <a:pathLst>
                    <a:path w="93" h="81">
                      <a:moveTo>
                        <a:pt x="67" y="0"/>
                      </a:moveTo>
                      <a:lnTo>
                        <a:pt x="0" y="33"/>
                      </a:lnTo>
                      <a:lnTo>
                        <a:pt x="23" y="81"/>
                      </a:lnTo>
                      <a:lnTo>
                        <a:pt x="93" y="48"/>
                      </a:lnTo>
                      <a:lnTo>
                        <a:pt x="67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6" name="Freeform 18"/>
                <p:cNvSpPr/>
                <p:nvPr/>
              </p:nvSpPr>
              <p:spPr>
                <a:xfrm>
                  <a:off x="2617" y="1613"/>
                  <a:ext cx="222" cy="316"/>
                </a:xfrm>
                <a:custGeom>
                  <a:avLst/>
                  <a:gdLst/>
                  <a:ahLst/>
                  <a:cxnLst>
                    <a:cxn ang="0">
                      <a:pos x="111" y="16"/>
                    </a:cxn>
                    <a:cxn ang="0">
                      <a:pos x="60" y="0"/>
                    </a:cxn>
                    <a:cxn ang="0">
                      <a:pos x="0" y="158"/>
                    </a:cxn>
                    <a:cxn ang="0">
                      <a:pos x="60" y="129"/>
                    </a:cxn>
                    <a:cxn ang="0">
                      <a:pos x="111" y="16"/>
                    </a:cxn>
                  </a:cxnLst>
                  <a:pathLst>
                    <a:path w="445" h="632">
                      <a:moveTo>
                        <a:pt x="445" y="61"/>
                      </a:moveTo>
                      <a:lnTo>
                        <a:pt x="241" y="0"/>
                      </a:lnTo>
                      <a:lnTo>
                        <a:pt x="0" y="632"/>
                      </a:lnTo>
                      <a:lnTo>
                        <a:pt x="243" y="513"/>
                      </a:lnTo>
                      <a:lnTo>
                        <a:pt x="445" y="61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7" name="Freeform 19"/>
                <p:cNvSpPr/>
                <p:nvPr/>
              </p:nvSpPr>
              <p:spPr>
                <a:xfrm>
                  <a:off x="2637" y="1616"/>
                  <a:ext cx="114" cy="304"/>
                </a:xfrm>
                <a:custGeom>
                  <a:avLst/>
                  <a:gdLst/>
                  <a:ahLst/>
                  <a:cxnLst>
                    <a:cxn ang="0">
                      <a:pos x="51" y="0"/>
                    </a:cxn>
                    <a:cxn ang="0">
                      <a:pos x="0" y="152"/>
                    </a:cxn>
                    <a:cxn ang="0">
                      <a:pos x="8" y="148"/>
                    </a:cxn>
                    <a:cxn ang="0">
                      <a:pos x="57" y="3"/>
                    </a:cxn>
                    <a:cxn ang="0">
                      <a:pos x="51" y="0"/>
                    </a:cxn>
                  </a:cxnLst>
                  <a:pathLst>
                    <a:path w="228" h="608">
                      <a:moveTo>
                        <a:pt x="202" y="0"/>
                      </a:moveTo>
                      <a:lnTo>
                        <a:pt x="0" y="608"/>
                      </a:lnTo>
                      <a:lnTo>
                        <a:pt x="32" y="590"/>
                      </a:lnTo>
                      <a:lnTo>
                        <a:pt x="228" y="10"/>
                      </a:lnTo>
                      <a:lnTo>
                        <a:pt x="202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8" name="Freeform 20"/>
                <p:cNvSpPr/>
                <p:nvPr/>
              </p:nvSpPr>
              <p:spPr>
                <a:xfrm>
                  <a:off x="2671" y="1621"/>
                  <a:ext cx="108" cy="281"/>
                </a:xfrm>
                <a:custGeom>
                  <a:avLst/>
                  <a:gdLst/>
                  <a:ahLst/>
                  <a:cxnLst>
                    <a:cxn ang="0">
                      <a:pos x="47" y="0"/>
                    </a:cxn>
                    <a:cxn ang="0">
                      <a:pos x="0" y="140"/>
                    </a:cxn>
                    <a:cxn ang="0">
                      <a:pos x="10" y="136"/>
                    </a:cxn>
                    <a:cxn ang="0">
                      <a:pos x="54" y="3"/>
                    </a:cxn>
                    <a:cxn ang="0">
                      <a:pos x="47" y="0"/>
                    </a:cxn>
                  </a:cxnLst>
                  <a:pathLst>
                    <a:path w="217" h="563">
                      <a:moveTo>
                        <a:pt x="190" y="0"/>
                      </a:moveTo>
                      <a:lnTo>
                        <a:pt x="0" y="563"/>
                      </a:lnTo>
                      <a:lnTo>
                        <a:pt x="41" y="544"/>
                      </a:lnTo>
                      <a:lnTo>
                        <a:pt x="217" y="13"/>
                      </a:lnTo>
                      <a:lnTo>
                        <a:pt x="190" y="0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29" name="Freeform 21"/>
                <p:cNvSpPr/>
                <p:nvPr/>
              </p:nvSpPr>
              <p:spPr>
                <a:xfrm>
                  <a:off x="2466" y="1613"/>
                  <a:ext cx="271" cy="352"/>
                </a:xfrm>
                <a:custGeom>
                  <a:avLst/>
                  <a:gdLst/>
                  <a:ahLst/>
                  <a:cxnLst>
                    <a:cxn ang="0">
                      <a:pos x="136" y="0"/>
                    </a:cxn>
                    <a:cxn ang="0">
                      <a:pos x="131" y="9"/>
                    </a:cxn>
                    <a:cxn ang="0">
                      <a:pos x="97" y="24"/>
                    </a:cxn>
                    <a:cxn ang="0">
                      <a:pos x="95" y="21"/>
                    </a:cxn>
                    <a:cxn ang="0">
                      <a:pos x="84" y="40"/>
                    </a:cxn>
                    <a:cxn ang="0">
                      <a:pos x="43" y="60"/>
                    </a:cxn>
                    <a:cxn ang="0">
                      <a:pos x="17" y="56"/>
                    </a:cxn>
                    <a:cxn ang="0">
                      <a:pos x="3" y="63"/>
                    </a:cxn>
                    <a:cxn ang="0">
                      <a:pos x="22" y="102"/>
                    </a:cxn>
                    <a:cxn ang="0">
                      <a:pos x="0" y="153"/>
                    </a:cxn>
                    <a:cxn ang="0">
                      <a:pos x="39" y="177"/>
                    </a:cxn>
                    <a:cxn ang="0">
                      <a:pos x="80" y="156"/>
                    </a:cxn>
                    <a:cxn ang="0">
                      <a:pos x="136" y="0"/>
                    </a:cxn>
                  </a:cxnLst>
                  <a:pathLst>
                    <a:path w="542" h="702">
                      <a:moveTo>
                        <a:pt x="542" y="0"/>
                      </a:moveTo>
                      <a:lnTo>
                        <a:pt x="524" y="33"/>
                      </a:lnTo>
                      <a:lnTo>
                        <a:pt x="386" y="95"/>
                      </a:lnTo>
                      <a:lnTo>
                        <a:pt x="377" y="81"/>
                      </a:lnTo>
                      <a:lnTo>
                        <a:pt x="334" y="160"/>
                      </a:lnTo>
                      <a:lnTo>
                        <a:pt x="172" y="238"/>
                      </a:lnTo>
                      <a:lnTo>
                        <a:pt x="68" y="222"/>
                      </a:lnTo>
                      <a:lnTo>
                        <a:pt x="11" y="250"/>
                      </a:lnTo>
                      <a:lnTo>
                        <a:pt x="87" y="407"/>
                      </a:lnTo>
                      <a:lnTo>
                        <a:pt x="0" y="609"/>
                      </a:lnTo>
                      <a:lnTo>
                        <a:pt x="156" y="702"/>
                      </a:lnTo>
                      <a:lnTo>
                        <a:pt x="319" y="622"/>
                      </a:lnTo>
                      <a:lnTo>
                        <a:pt x="542" y="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0" name="Freeform 22"/>
                <p:cNvSpPr/>
                <p:nvPr/>
              </p:nvSpPr>
              <p:spPr>
                <a:xfrm>
                  <a:off x="2475" y="1635"/>
                  <a:ext cx="236" cy="135"/>
                </a:xfrm>
                <a:custGeom>
                  <a:avLst/>
                  <a:gdLst/>
                  <a:ahLst/>
                  <a:cxnLst>
                    <a:cxn ang="0">
                      <a:pos x="99" y="9"/>
                    </a:cxn>
                    <a:cxn ang="0">
                      <a:pos x="84" y="37"/>
                    </a:cxn>
                    <a:cxn ang="0">
                      <a:pos x="41" y="58"/>
                    </a:cxn>
                    <a:cxn ang="0">
                      <a:pos x="16" y="53"/>
                    </a:cxn>
                    <a:cxn ang="0">
                      <a:pos x="11" y="45"/>
                    </a:cxn>
                    <a:cxn ang="0">
                      <a:pos x="0" y="51"/>
                    </a:cxn>
                    <a:cxn ang="0">
                      <a:pos x="6" y="64"/>
                    </a:cxn>
                    <a:cxn ang="0">
                      <a:pos x="46" y="68"/>
                    </a:cxn>
                    <a:cxn ang="0">
                      <a:pos x="88" y="47"/>
                    </a:cxn>
                    <a:cxn ang="0">
                      <a:pos x="118" y="0"/>
                    </a:cxn>
                    <a:cxn ang="0">
                      <a:pos x="99" y="9"/>
                    </a:cxn>
                  </a:cxnLst>
                  <a:pathLst>
                    <a:path w="473" h="270">
                      <a:moveTo>
                        <a:pt x="397" y="35"/>
                      </a:moveTo>
                      <a:lnTo>
                        <a:pt x="336" y="148"/>
                      </a:lnTo>
                      <a:lnTo>
                        <a:pt x="167" y="229"/>
                      </a:lnTo>
                      <a:lnTo>
                        <a:pt x="66" y="212"/>
                      </a:lnTo>
                      <a:lnTo>
                        <a:pt x="46" y="179"/>
                      </a:lnTo>
                      <a:lnTo>
                        <a:pt x="0" y="202"/>
                      </a:lnTo>
                      <a:lnTo>
                        <a:pt x="26" y="253"/>
                      </a:lnTo>
                      <a:lnTo>
                        <a:pt x="187" y="270"/>
                      </a:lnTo>
                      <a:lnTo>
                        <a:pt x="355" y="188"/>
                      </a:lnTo>
                      <a:lnTo>
                        <a:pt x="473" y="0"/>
                      </a:lnTo>
                      <a:lnTo>
                        <a:pt x="397" y="35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1" name="Freeform 23"/>
                <p:cNvSpPr/>
                <p:nvPr/>
              </p:nvSpPr>
              <p:spPr>
                <a:xfrm>
                  <a:off x="2494" y="1718"/>
                  <a:ext cx="198" cy="219"/>
                </a:xfrm>
                <a:custGeom>
                  <a:avLst/>
                  <a:gdLst/>
                  <a:ahLst/>
                  <a:cxnLst>
                    <a:cxn ang="0">
                      <a:pos x="99" y="0"/>
                    </a:cxn>
                    <a:cxn ang="0">
                      <a:pos x="38" y="31"/>
                    </a:cxn>
                    <a:cxn ang="0">
                      <a:pos x="0" y="27"/>
                    </a:cxn>
                    <a:cxn ang="0">
                      <a:pos x="21" y="47"/>
                    </a:cxn>
                    <a:cxn ang="0">
                      <a:pos x="51" y="110"/>
                    </a:cxn>
                    <a:cxn ang="0">
                      <a:pos x="61" y="104"/>
                    </a:cxn>
                    <a:cxn ang="0">
                      <a:pos x="99" y="0"/>
                    </a:cxn>
                  </a:cxnLst>
                  <a:pathLst>
                    <a:path w="397" h="437">
                      <a:moveTo>
                        <a:pt x="397" y="0"/>
                      </a:moveTo>
                      <a:lnTo>
                        <a:pt x="155" y="121"/>
                      </a:lnTo>
                      <a:lnTo>
                        <a:pt x="0" y="106"/>
                      </a:lnTo>
                      <a:lnTo>
                        <a:pt x="85" y="185"/>
                      </a:lnTo>
                      <a:lnTo>
                        <a:pt x="205" y="437"/>
                      </a:lnTo>
                      <a:lnTo>
                        <a:pt x="246" y="416"/>
                      </a:lnTo>
                      <a:lnTo>
                        <a:pt x="397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2" name="Freeform 24"/>
                <p:cNvSpPr/>
                <p:nvPr/>
              </p:nvSpPr>
              <p:spPr>
                <a:xfrm>
                  <a:off x="2392" y="1740"/>
                  <a:ext cx="148" cy="237"/>
                </a:xfrm>
                <a:custGeom>
                  <a:avLst/>
                  <a:gdLst/>
                  <a:ahLst/>
                  <a:cxnLst>
                    <a:cxn ang="0">
                      <a:pos x="39" y="0"/>
                    </a:cxn>
                    <a:cxn ang="0">
                      <a:pos x="59" y="40"/>
                    </a:cxn>
                    <a:cxn ang="0">
                      <a:pos x="37" y="89"/>
                    </a:cxn>
                    <a:cxn ang="0">
                      <a:pos x="74" y="112"/>
                    </a:cxn>
                    <a:cxn ang="0">
                      <a:pos x="62" y="118"/>
                    </a:cxn>
                    <a:cxn ang="0">
                      <a:pos x="33" y="96"/>
                    </a:cxn>
                    <a:cxn ang="0">
                      <a:pos x="14" y="106"/>
                    </a:cxn>
                    <a:cxn ang="0">
                      <a:pos x="0" y="77"/>
                    </a:cxn>
                    <a:cxn ang="0">
                      <a:pos x="17" y="44"/>
                    </a:cxn>
                    <a:cxn ang="0">
                      <a:pos x="9" y="29"/>
                    </a:cxn>
                    <a:cxn ang="0">
                      <a:pos x="21" y="24"/>
                    </a:cxn>
                    <a:cxn ang="0">
                      <a:pos x="39" y="0"/>
                    </a:cxn>
                  </a:cxnLst>
                  <a:pathLst>
                    <a:path w="295" h="475">
                      <a:moveTo>
                        <a:pt x="153" y="0"/>
                      </a:moveTo>
                      <a:lnTo>
                        <a:pt x="233" y="162"/>
                      </a:lnTo>
                      <a:lnTo>
                        <a:pt x="145" y="356"/>
                      </a:lnTo>
                      <a:lnTo>
                        <a:pt x="295" y="451"/>
                      </a:lnTo>
                      <a:lnTo>
                        <a:pt x="245" y="475"/>
                      </a:lnTo>
                      <a:lnTo>
                        <a:pt x="130" y="387"/>
                      </a:lnTo>
                      <a:lnTo>
                        <a:pt x="53" y="426"/>
                      </a:lnTo>
                      <a:lnTo>
                        <a:pt x="0" y="311"/>
                      </a:lnTo>
                      <a:lnTo>
                        <a:pt x="65" y="178"/>
                      </a:lnTo>
                      <a:lnTo>
                        <a:pt x="35" y="118"/>
                      </a:lnTo>
                      <a:lnTo>
                        <a:pt x="83" y="96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3" name="Freeform 25"/>
                <p:cNvSpPr/>
                <p:nvPr/>
              </p:nvSpPr>
              <p:spPr>
                <a:xfrm>
                  <a:off x="2394" y="1753"/>
                  <a:ext cx="96" cy="175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48" y="33"/>
                    </a:cxn>
                    <a:cxn ang="0">
                      <a:pos x="27" y="78"/>
                    </a:cxn>
                    <a:cxn ang="0">
                      <a:pos x="8" y="88"/>
                    </a:cxn>
                    <a:cxn ang="0">
                      <a:pos x="0" y="72"/>
                    </a:cxn>
                    <a:cxn ang="0">
                      <a:pos x="16" y="65"/>
                    </a:cxn>
                    <a:cxn ang="0">
                      <a:pos x="29" y="35"/>
                    </a:cxn>
                    <a:cxn ang="0">
                      <a:pos x="20" y="18"/>
                    </a:cxn>
                    <a:cxn ang="0">
                      <a:pos x="32" y="0"/>
                    </a:cxn>
                  </a:cxnLst>
                  <a:pathLst>
                    <a:path w="192" h="349">
                      <a:moveTo>
                        <a:pt x="128" y="0"/>
                      </a:moveTo>
                      <a:lnTo>
                        <a:pt x="192" y="130"/>
                      </a:lnTo>
                      <a:lnTo>
                        <a:pt x="106" y="311"/>
                      </a:lnTo>
                      <a:lnTo>
                        <a:pt x="32" y="349"/>
                      </a:lnTo>
                      <a:lnTo>
                        <a:pt x="0" y="288"/>
                      </a:lnTo>
                      <a:lnTo>
                        <a:pt x="64" y="259"/>
                      </a:lnTo>
                      <a:lnTo>
                        <a:pt x="113" y="140"/>
                      </a:lnTo>
                      <a:lnTo>
                        <a:pt x="80" y="69"/>
                      </a:lnTo>
                      <a:lnTo>
                        <a:pt x="128" y="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4" name="Freeform 26"/>
                <p:cNvSpPr/>
                <p:nvPr/>
              </p:nvSpPr>
              <p:spPr>
                <a:xfrm>
                  <a:off x="2376" y="1800"/>
                  <a:ext cx="46" cy="91"/>
                </a:xfrm>
                <a:custGeom>
                  <a:avLst/>
                  <a:gdLst/>
                  <a:ahLst/>
                  <a:cxnLst>
                    <a:cxn ang="0">
                      <a:pos x="16" y="0"/>
                    </a:cxn>
                    <a:cxn ang="0">
                      <a:pos x="0" y="31"/>
                    </a:cxn>
                    <a:cxn ang="0">
                      <a:pos x="8" y="46"/>
                    </a:cxn>
                    <a:cxn ang="0">
                      <a:pos x="23" y="15"/>
                    </a:cxn>
                    <a:cxn ang="0">
                      <a:pos x="16" y="0"/>
                    </a:cxn>
                  </a:cxnLst>
                  <a:pathLst>
                    <a:path w="92" h="180">
                      <a:moveTo>
                        <a:pt x="64" y="0"/>
                      </a:moveTo>
                      <a:lnTo>
                        <a:pt x="0" y="121"/>
                      </a:lnTo>
                      <a:lnTo>
                        <a:pt x="30" y="180"/>
                      </a:lnTo>
                      <a:lnTo>
                        <a:pt x="92" y="60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5" name="Freeform 27"/>
                <p:cNvSpPr/>
                <p:nvPr/>
              </p:nvSpPr>
              <p:spPr>
                <a:xfrm>
                  <a:off x="2888" y="1706"/>
                  <a:ext cx="63" cy="77"/>
                </a:xfrm>
                <a:custGeom>
                  <a:avLst/>
                  <a:gdLst/>
                  <a:ahLst/>
                  <a:cxnLst>
                    <a:cxn ang="0">
                      <a:pos x="13" y="39"/>
                    </a:cxn>
                    <a:cxn ang="0">
                      <a:pos x="31" y="30"/>
                    </a:cxn>
                    <a:cxn ang="0">
                      <a:pos x="17" y="0"/>
                    </a:cxn>
                    <a:cxn ang="0">
                      <a:pos x="0" y="10"/>
                    </a:cxn>
                    <a:cxn ang="0">
                      <a:pos x="13" y="39"/>
                    </a:cxn>
                  </a:cxnLst>
                  <a:pathLst>
                    <a:path w="127" h="154">
                      <a:moveTo>
                        <a:pt x="54" y="154"/>
                      </a:moveTo>
                      <a:lnTo>
                        <a:pt x="127" y="118"/>
                      </a:lnTo>
                      <a:lnTo>
                        <a:pt x="71" y="0"/>
                      </a:lnTo>
                      <a:lnTo>
                        <a:pt x="0" y="37"/>
                      </a:lnTo>
                      <a:lnTo>
                        <a:pt x="54" y="154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6" name="Freeform 28"/>
                <p:cNvSpPr/>
                <p:nvPr/>
              </p:nvSpPr>
              <p:spPr>
                <a:xfrm>
                  <a:off x="2906" y="1716"/>
                  <a:ext cx="45" cy="59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2" y="29"/>
                    </a:cxn>
                    <a:cxn ang="0">
                      <a:pos x="23" y="24"/>
                    </a:cxn>
                    <a:cxn ang="0">
                      <a:pos x="12" y="0"/>
                    </a:cxn>
                    <a:cxn ang="0">
                      <a:pos x="0" y="5"/>
                    </a:cxn>
                  </a:cxnLst>
                  <a:pathLst>
                    <a:path w="90" h="119">
                      <a:moveTo>
                        <a:pt x="0" y="22"/>
                      </a:moveTo>
                      <a:lnTo>
                        <a:pt x="45" y="119"/>
                      </a:lnTo>
                      <a:lnTo>
                        <a:pt x="90" y="97"/>
                      </a:lnTo>
                      <a:lnTo>
                        <a:pt x="45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7" name="Freeform 29"/>
                <p:cNvSpPr/>
                <p:nvPr/>
              </p:nvSpPr>
              <p:spPr>
                <a:xfrm>
                  <a:off x="2847" y="1693"/>
                  <a:ext cx="66" cy="110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2" y="3"/>
                    </a:cxn>
                    <a:cxn ang="0">
                      <a:pos x="0" y="29"/>
                    </a:cxn>
                    <a:cxn ang="0">
                      <a:pos x="13" y="55"/>
                    </a:cxn>
                    <a:cxn ang="0">
                      <a:pos x="33" y="45"/>
                    </a:cxn>
                    <a:cxn ang="0">
                      <a:pos x="13" y="0"/>
                    </a:cxn>
                  </a:cxnLst>
                  <a:pathLst>
                    <a:path w="132" h="221">
                      <a:moveTo>
                        <a:pt x="49" y="0"/>
                      </a:moveTo>
                      <a:lnTo>
                        <a:pt x="8" y="12"/>
                      </a:lnTo>
                      <a:lnTo>
                        <a:pt x="0" y="116"/>
                      </a:lnTo>
                      <a:lnTo>
                        <a:pt x="51" y="221"/>
                      </a:lnTo>
                      <a:lnTo>
                        <a:pt x="132" y="181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8" name="Freeform 30"/>
                <p:cNvSpPr/>
                <p:nvPr/>
              </p:nvSpPr>
              <p:spPr>
                <a:xfrm>
                  <a:off x="2787" y="1642"/>
                  <a:ext cx="85" cy="188"/>
                </a:xfrm>
                <a:custGeom>
                  <a:avLst/>
                  <a:gdLst/>
                  <a:ahLst/>
                  <a:cxnLst>
                    <a:cxn ang="0">
                      <a:pos x="43" y="80"/>
                    </a:cxn>
                    <a:cxn ang="0">
                      <a:pos x="16" y="94"/>
                    </a:cxn>
                    <a:cxn ang="0">
                      <a:pos x="0" y="60"/>
                    </a:cxn>
                    <a:cxn ang="0">
                      <a:pos x="25" y="0"/>
                    </a:cxn>
                    <a:cxn ang="0">
                      <a:pos x="29" y="3"/>
                    </a:cxn>
                    <a:cxn ang="0">
                      <a:pos x="40" y="26"/>
                    </a:cxn>
                    <a:cxn ang="0">
                      <a:pos x="31" y="31"/>
                    </a:cxn>
                    <a:cxn ang="0">
                      <a:pos x="30" y="53"/>
                    </a:cxn>
                    <a:cxn ang="0">
                      <a:pos x="43" y="80"/>
                    </a:cxn>
                  </a:cxnLst>
                  <a:pathLst>
                    <a:path w="169" h="378">
                      <a:moveTo>
                        <a:pt x="169" y="323"/>
                      </a:moveTo>
                      <a:lnTo>
                        <a:pt x="64" y="378"/>
                      </a:lnTo>
                      <a:lnTo>
                        <a:pt x="0" y="241"/>
                      </a:lnTo>
                      <a:lnTo>
                        <a:pt x="99" y="0"/>
                      </a:lnTo>
                      <a:lnTo>
                        <a:pt x="116" y="15"/>
                      </a:lnTo>
                      <a:lnTo>
                        <a:pt x="160" y="105"/>
                      </a:lnTo>
                      <a:lnTo>
                        <a:pt x="124" y="124"/>
                      </a:lnTo>
                      <a:lnTo>
                        <a:pt x="118" y="216"/>
                      </a:lnTo>
                      <a:lnTo>
                        <a:pt x="169" y="323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39" name="Freeform 31"/>
                <p:cNvSpPr/>
                <p:nvPr/>
              </p:nvSpPr>
              <p:spPr>
                <a:xfrm>
                  <a:off x="2740" y="1767"/>
                  <a:ext cx="77" cy="102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0" y="51"/>
                    </a:cxn>
                    <a:cxn ang="0">
                      <a:pos x="39" y="32"/>
                    </a:cxn>
                    <a:cxn ang="0">
                      <a:pos x="23" y="0"/>
                    </a:cxn>
                  </a:cxnLst>
                  <a:pathLst>
                    <a:path w="154" h="203">
                      <a:moveTo>
                        <a:pt x="90" y="0"/>
                      </a:moveTo>
                      <a:lnTo>
                        <a:pt x="0" y="203"/>
                      </a:lnTo>
                      <a:lnTo>
                        <a:pt x="154" y="128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0" name="Freeform 32"/>
                <p:cNvSpPr/>
                <p:nvPr/>
              </p:nvSpPr>
              <p:spPr>
                <a:xfrm>
                  <a:off x="2708" y="1635"/>
                  <a:ext cx="112" cy="250"/>
                </a:xfrm>
                <a:custGeom>
                  <a:avLst/>
                  <a:gdLst/>
                  <a:ahLst/>
                  <a:cxnLst>
                    <a:cxn ang="0">
                      <a:pos x="56" y="4"/>
                    </a:cxn>
                    <a:cxn ang="0">
                      <a:pos x="44" y="0"/>
                    </a:cxn>
                    <a:cxn ang="0">
                      <a:pos x="0" y="125"/>
                    </a:cxn>
                    <a:cxn ang="0">
                      <a:pos x="9" y="120"/>
                    </a:cxn>
                    <a:cxn ang="0">
                      <a:pos x="56" y="4"/>
                    </a:cxn>
                  </a:cxnLst>
                  <a:pathLst>
                    <a:path w="223" h="501">
                      <a:moveTo>
                        <a:pt x="223" y="16"/>
                      </a:moveTo>
                      <a:lnTo>
                        <a:pt x="173" y="0"/>
                      </a:lnTo>
                      <a:lnTo>
                        <a:pt x="0" y="501"/>
                      </a:lnTo>
                      <a:lnTo>
                        <a:pt x="35" y="481"/>
                      </a:lnTo>
                      <a:lnTo>
                        <a:pt x="223" y="16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1" name="Freeform 33"/>
                <p:cNvSpPr/>
                <p:nvPr/>
              </p:nvSpPr>
              <p:spPr>
                <a:xfrm>
                  <a:off x="2478" y="1814"/>
                  <a:ext cx="53" cy="138"/>
                </a:xfrm>
                <a:custGeom>
                  <a:avLst/>
                  <a:gdLst/>
                  <a:ahLst/>
                  <a:cxnLst>
                    <a:cxn ang="0">
                      <a:pos x="22" y="0"/>
                    </a:cxn>
                    <a:cxn ang="0">
                      <a:pos x="27" y="69"/>
                    </a:cxn>
                    <a:cxn ang="0">
                      <a:pos x="0" y="52"/>
                    </a:cxn>
                    <a:cxn ang="0">
                      <a:pos x="22" y="0"/>
                    </a:cxn>
                  </a:cxnLst>
                  <a:pathLst>
                    <a:path w="106" h="275">
                      <a:moveTo>
                        <a:pt x="86" y="0"/>
                      </a:moveTo>
                      <a:lnTo>
                        <a:pt x="106" y="275"/>
                      </a:lnTo>
                      <a:lnTo>
                        <a:pt x="0" y="206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2" name="Freeform 34"/>
                <p:cNvSpPr/>
                <p:nvPr/>
              </p:nvSpPr>
              <p:spPr>
                <a:xfrm>
                  <a:off x="2821" y="1640"/>
                  <a:ext cx="49" cy="63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0" y="7"/>
                    </a:cxn>
                    <a:cxn ang="0">
                      <a:pos x="12" y="32"/>
                    </a:cxn>
                    <a:cxn ang="0">
                      <a:pos x="25" y="25"/>
                    </a:cxn>
                    <a:cxn ang="0">
                      <a:pos x="13" y="0"/>
                    </a:cxn>
                  </a:cxnLst>
                  <a:pathLst>
                    <a:path w="98" h="126">
                      <a:moveTo>
                        <a:pt x="50" y="0"/>
                      </a:moveTo>
                      <a:lnTo>
                        <a:pt x="0" y="27"/>
                      </a:lnTo>
                      <a:lnTo>
                        <a:pt x="48" y="126"/>
                      </a:lnTo>
                      <a:lnTo>
                        <a:pt x="98" y="99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3" name="Freeform 35"/>
                <p:cNvSpPr/>
                <p:nvPr/>
              </p:nvSpPr>
              <p:spPr>
                <a:xfrm>
                  <a:off x="2549" y="1471"/>
                  <a:ext cx="194" cy="191"/>
                </a:xfrm>
                <a:custGeom>
                  <a:avLst/>
                  <a:gdLst/>
                  <a:ahLst/>
                  <a:cxnLst>
                    <a:cxn ang="0">
                      <a:pos x="34" y="0"/>
                    </a:cxn>
                    <a:cxn ang="0">
                      <a:pos x="62" y="56"/>
                    </a:cxn>
                    <a:cxn ang="0">
                      <a:pos x="73" y="58"/>
                    </a:cxn>
                    <a:cxn ang="0">
                      <a:pos x="87" y="52"/>
                    </a:cxn>
                    <a:cxn ang="0">
                      <a:pos x="97" y="74"/>
                    </a:cxn>
                    <a:cxn ang="0">
                      <a:pos x="54" y="95"/>
                    </a:cxn>
                    <a:cxn ang="0">
                      <a:pos x="36" y="89"/>
                    </a:cxn>
                    <a:cxn ang="0">
                      <a:pos x="0" y="16"/>
                    </a:cxn>
                    <a:cxn ang="0">
                      <a:pos x="34" y="0"/>
                    </a:cxn>
                  </a:cxnLst>
                  <a:pathLst>
                    <a:path w="388" h="384">
                      <a:moveTo>
                        <a:pt x="136" y="0"/>
                      </a:moveTo>
                      <a:lnTo>
                        <a:pt x="245" y="226"/>
                      </a:lnTo>
                      <a:lnTo>
                        <a:pt x="291" y="235"/>
                      </a:lnTo>
                      <a:lnTo>
                        <a:pt x="346" y="210"/>
                      </a:lnTo>
                      <a:lnTo>
                        <a:pt x="388" y="299"/>
                      </a:lnTo>
                      <a:lnTo>
                        <a:pt x="214" y="384"/>
                      </a:lnTo>
                      <a:lnTo>
                        <a:pt x="143" y="358"/>
                      </a:lnTo>
                      <a:lnTo>
                        <a:pt x="0" y="66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4" name="Freeform 36"/>
                <p:cNvSpPr/>
                <p:nvPr/>
              </p:nvSpPr>
              <p:spPr>
                <a:xfrm>
                  <a:off x="2300" y="1791"/>
                  <a:ext cx="146" cy="242"/>
                </a:xfrm>
                <a:custGeom>
                  <a:avLst/>
                  <a:gdLst/>
                  <a:ahLst/>
                  <a:cxnLst>
                    <a:cxn ang="0">
                      <a:pos x="55" y="121"/>
                    </a:cxn>
                    <a:cxn ang="0">
                      <a:pos x="73" y="111"/>
                    </a:cxn>
                    <a:cxn ang="0">
                      <a:pos x="19" y="0"/>
                    </a:cxn>
                    <a:cxn ang="0">
                      <a:pos x="0" y="10"/>
                    </a:cxn>
                    <a:cxn ang="0">
                      <a:pos x="55" y="121"/>
                    </a:cxn>
                  </a:cxnLst>
                  <a:pathLst>
                    <a:path w="292" h="485">
                      <a:moveTo>
                        <a:pt x="218" y="485"/>
                      </a:moveTo>
                      <a:lnTo>
                        <a:pt x="292" y="447"/>
                      </a:lnTo>
                      <a:lnTo>
                        <a:pt x="75" y="0"/>
                      </a:lnTo>
                      <a:lnTo>
                        <a:pt x="0" y="40"/>
                      </a:lnTo>
                      <a:lnTo>
                        <a:pt x="218" y="485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5" name="Freeform 37"/>
                <p:cNvSpPr/>
                <p:nvPr/>
              </p:nvSpPr>
              <p:spPr>
                <a:xfrm>
                  <a:off x="2318" y="1836"/>
                  <a:ext cx="114" cy="195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46" y="98"/>
                    </a:cxn>
                    <a:cxn ang="0">
                      <a:pos x="57" y="93"/>
                    </a:cxn>
                    <a:cxn ang="0">
                      <a:pos x="12" y="0"/>
                    </a:cxn>
                    <a:cxn ang="0">
                      <a:pos x="0" y="6"/>
                    </a:cxn>
                  </a:cxnLst>
                  <a:pathLst>
                    <a:path w="227" h="389">
                      <a:moveTo>
                        <a:pt x="0" y="23"/>
                      </a:moveTo>
                      <a:lnTo>
                        <a:pt x="183" y="389"/>
                      </a:lnTo>
                      <a:lnTo>
                        <a:pt x="227" y="370"/>
                      </a:lnTo>
                      <a:lnTo>
                        <a:pt x="46" y="0"/>
                      </a:lnTo>
                      <a:lnTo>
                        <a:pt x="0" y="23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6" name="Freeform 38"/>
                <p:cNvSpPr/>
                <p:nvPr/>
              </p:nvSpPr>
              <p:spPr>
                <a:xfrm>
                  <a:off x="2419" y="1937"/>
                  <a:ext cx="98" cy="75"/>
                </a:xfrm>
                <a:custGeom>
                  <a:avLst/>
                  <a:gdLst/>
                  <a:ahLst/>
                  <a:cxnLst>
                    <a:cxn ang="0">
                      <a:pos x="14" y="37"/>
                    </a:cxn>
                    <a:cxn ang="0">
                      <a:pos x="0" y="9"/>
                    </a:cxn>
                    <a:cxn ang="0">
                      <a:pos x="20" y="0"/>
                    </a:cxn>
                    <a:cxn ang="0">
                      <a:pos x="49" y="20"/>
                    </a:cxn>
                    <a:cxn ang="0">
                      <a:pos x="14" y="37"/>
                    </a:cxn>
                  </a:cxnLst>
                  <a:pathLst>
                    <a:path w="196" h="152">
                      <a:moveTo>
                        <a:pt x="55" y="152"/>
                      </a:moveTo>
                      <a:lnTo>
                        <a:pt x="0" y="39"/>
                      </a:lnTo>
                      <a:lnTo>
                        <a:pt x="78" y="0"/>
                      </a:lnTo>
                      <a:lnTo>
                        <a:pt x="196" y="83"/>
                      </a:lnTo>
                      <a:lnTo>
                        <a:pt x="55" y="15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7" name="Freeform 39"/>
                <p:cNvSpPr/>
                <p:nvPr/>
              </p:nvSpPr>
              <p:spPr>
                <a:xfrm>
                  <a:off x="2528" y="1805"/>
                  <a:ext cx="63" cy="1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" y="68"/>
                    </a:cxn>
                    <a:cxn ang="0">
                      <a:pos x="6" y="80"/>
                    </a:cxn>
                    <a:cxn ang="0">
                      <a:pos x="0" y="0"/>
                    </a:cxn>
                  </a:cxnLst>
                  <a:pathLst>
                    <a:path w="124" h="322">
                      <a:moveTo>
                        <a:pt x="0" y="0"/>
                      </a:moveTo>
                      <a:lnTo>
                        <a:pt x="124" y="274"/>
                      </a:lnTo>
                      <a:lnTo>
                        <a:pt x="24" y="32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8" name="Freeform 40"/>
                <p:cNvSpPr/>
                <p:nvPr/>
              </p:nvSpPr>
              <p:spPr>
                <a:xfrm>
                  <a:off x="2547" y="1750"/>
                  <a:ext cx="125" cy="75"/>
                </a:xfrm>
                <a:custGeom>
                  <a:avLst/>
                  <a:gdLst/>
                  <a:ahLst/>
                  <a:cxnLst>
                    <a:cxn ang="0">
                      <a:pos x="0" y="30"/>
                    </a:cxn>
                    <a:cxn ang="0">
                      <a:pos x="63" y="0"/>
                    </a:cxn>
                    <a:cxn ang="0">
                      <a:pos x="58" y="11"/>
                    </a:cxn>
                    <a:cxn ang="0">
                      <a:pos x="4" y="38"/>
                    </a:cxn>
                    <a:cxn ang="0">
                      <a:pos x="0" y="30"/>
                    </a:cxn>
                  </a:cxnLst>
                  <a:pathLst>
                    <a:path w="249" h="149">
                      <a:moveTo>
                        <a:pt x="0" y="119"/>
                      </a:moveTo>
                      <a:lnTo>
                        <a:pt x="249" y="0"/>
                      </a:lnTo>
                      <a:lnTo>
                        <a:pt x="232" y="44"/>
                      </a:lnTo>
                      <a:lnTo>
                        <a:pt x="16" y="149"/>
                      </a:lnTo>
                      <a:lnTo>
                        <a:pt x="0" y="119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49" name="Freeform 41"/>
                <p:cNvSpPr/>
                <p:nvPr/>
              </p:nvSpPr>
              <p:spPr>
                <a:xfrm>
                  <a:off x="2559" y="1792"/>
                  <a:ext cx="93" cy="58"/>
                </a:xfrm>
                <a:custGeom>
                  <a:avLst/>
                  <a:gdLst/>
                  <a:ahLst/>
                  <a:cxnLst>
                    <a:cxn ang="0">
                      <a:pos x="0" y="22"/>
                    </a:cxn>
                    <a:cxn ang="0">
                      <a:pos x="4" y="29"/>
                    </a:cxn>
                    <a:cxn ang="0">
                      <a:pos x="43" y="10"/>
                    </a:cxn>
                    <a:cxn ang="0">
                      <a:pos x="47" y="0"/>
                    </a:cxn>
                    <a:cxn ang="0">
                      <a:pos x="0" y="22"/>
                    </a:cxn>
                  </a:cxnLst>
                  <a:pathLst>
                    <a:path w="186" h="117">
                      <a:moveTo>
                        <a:pt x="0" y="90"/>
                      </a:moveTo>
                      <a:lnTo>
                        <a:pt x="13" y="117"/>
                      </a:lnTo>
                      <a:lnTo>
                        <a:pt x="170" y="42"/>
                      </a:lnTo>
                      <a:lnTo>
                        <a:pt x="186" y="0"/>
                      </a:lnTo>
                      <a:lnTo>
                        <a:pt x="0" y="90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0" name="Freeform 42"/>
                <p:cNvSpPr/>
                <p:nvPr/>
              </p:nvSpPr>
              <p:spPr>
                <a:xfrm>
                  <a:off x="2572" y="1834"/>
                  <a:ext cx="66" cy="48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4" y="24"/>
                    </a:cxn>
                    <a:cxn ang="0">
                      <a:pos x="29" y="12"/>
                    </a:cxn>
                    <a:cxn ang="0">
                      <a:pos x="34" y="0"/>
                    </a:cxn>
                    <a:cxn ang="0">
                      <a:pos x="0" y="16"/>
                    </a:cxn>
                  </a:cxnLst>
                  <a:pathLst>
                    <a:path w="130" h="95">
                      <a:moveTo>
                        <a:pt x="0" y="62"/>
                      </a:moveTo>
                      <a:lnTo>
                        <a:pt x="16" y="95"/>
                      </a:lnTo>
                      <a:lnTo>
                        <a:pt x="113" y="48"/>
                      </a:lnTo>
                      <a:lnTo>
                        <a:pt x="130" y="0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1" name="Freeform 43"/>
                <p:cNvSpPr/>
                <p:nvPr/>
              </p:nvSpPr>
              <p:spPr>
                <a:xfrm>
                  <a:off x="2588" y="1880"/>
                  <a:ext cx="33" cy="44"/>
                </a:xfrm>
                <a:custGeom>
                  <a:avLst/>
                  <a:gdLst/>
                  <a:ahLst/>
                  <a:cxnLst>
                    <a:cxn ang="0">
                      <a:pos x="0" y="9"/>
                    </a:cxn>
                    <a:cxn ang="0">
                      <a:pos x="16" y="0"/>
                    </a:cxn>
                    <a:cxn ang="0">
                      <a:pos x="10" y="20"/>
                    </a:cxn>
                    <a:cxn ang="0">
                      <a:pos x="6" y="23"/>
                    </a:cxn>
                    <a:cxn ang="0">
                      <a:pos x="0" y="9"/>
                    </a:cxn>
                  </a:cxnLst>
                  <a:pathLst>
                    <a:path w="68" h="86">
                      <a:moveTo>
                        <a:pt x="0" y="33"/>
                      </a:moveTo>
                      <a:lnTo>
                        <a:pt x="68" y="0"/>
                      </a:lnTo>
                      <a:lnTo>
                        <a:pt x="44" y="78"/>
                      </a:lnTo>
                      <a:lnTo>
                        <a:pt x="26" y="86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2" name="Freeform 44"/>
                <p:cNvSpPr/>
                <p:nvPr/>
              </p:nvSpPr>
              <p:spPr>
                <a:xfrm>
                  <a:off x="2400" y="1494"/>
                  <a:ext cx="77" cy="28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26" y="14"/>
                    </a:cxn>
                    <a:cxn ang="0">
                      <a:pos x="39" y="8"/>
                    </a:cxn>
                    <a:cxn ang="0">
                      <a:pos x="16" y="0"/>
                    </a:cxn>
                    <a:cxn ang="0">
                      <a:pos x="0" y="6"/>
                    </a:cxn>
                  </a:cxnLst>
                  <a:pathLst>
                    <a:path w="154" h="57">
                      <a:moveTo>
                        <a:pt x="0" y="26"/>
                      </a:moveTo>
                      <a:lnTo>
                        <a:pt x="101" y="57"/>
                      </a:lnTo>
                      <a:lnTo>
                        <a:pt x="154" y="34"/>
                      </a:lnTo>
                      <a:lnTo>
                        <a:pt x="61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3" name="Freeform 45"/>
                <p:cNvSpPr/>
                <p:nvPr/>
              </p:nvSpPr>
              <p:spPr>
                <a:xfrm>
                  <a:off x="2454" y="1468"/>
                  <a:ext cx="76" cy="29"/>
                </a:xfrm>
                <a:custGeom>
                  <a:avLst/>
                  <a:gdLst/>
                  <a:ahLst/>
                  <a:cxnLst>
                    <a:cxn ang="0">
                      <a:pos x="0" y="7"/>
                    </a:cxn>
                    <a:cxn ang="0">
                      <a:pos x="25" y="15"/>
                    </a:cxn>
                    <a:cxn ang="0">
                      <a:pos x="38" y="9"/>
                    </a:cxn>
                    <a:cxn ang="0">
                      <a:pos x="15" y="0"/>
                    </a:cxn>
                    <a:cxn ang="0">
                      <a:pos x="0" y="7"/>
                    </a:cxn>
                  </a:cxnLst>
                  <a:pathLst>
                    <a:path w="151" h="58">
                      <a:moveTo>
                        <a:pt x="0" y="27"/>
                      </a:moveTo>
                      <a:lnTo>
                        <a:pt x="100" y="58"/>
                      </a:lnTo>
                      <a:lnTo>
                        <a:pt x="151" y="34"/>
                      </a:lnTo>
                      <a:lnTo>
                        <a:pt x="60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4" name="Freeform 46"/>
                <p:cNvSpPr/>
                <p:nvPr/>
              </p:nvSpPr>
              <p:spPr>
                <a:xfrm>
                  <a:off x="2510" y="1441"/>
                  <a:ext cx="74" cy="29"/>
                </a:xfrm>
                <a:custGeom>
                  <a:avLst/>
                  <a:gdLst/>
                  <a:ahLst/>
                  <a:cxnLst>
                    <a:cxn ang="0">
                      <a:pos x="0" y="7"/>
                    </a:cxn>
                    <a:cxn ang="0">
                      <a:pos x="24" y="15"/>
                    </a:cxn>
                    <a:cxn ang="0">
                      <a:pos x="37" y="9"/>
                    </a:cxn>
                    <a:cxn ang="0">
                      <a:pos x="14" y="0"/>
                    </a:cxn>
                    <a:cxn ang="0">
                      <a:pos x="0" y="7"/>
                    </a:cxn>
                  </a:cxnLst>
                  <a:pathLst>
                    <a:path w="149" h="57">
                      <a:moveTo>
                        <a:pt x="0" y="26"/>
                      </a:moveTo>
                      <a:lnTo>
                        <a:pt x="98" y="57"/>
                      </a:lnTo>
                      <a:lnTo>
                        <a:pt x="149" y="34"/>
                      </a:lnTo>
                      <a:lnTo>
                        <a:pt x="56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5" name="Freeform 47"/>
                <p:cNvSpPr/>
                <p:nvPr/>
              </p:nvSpPr>
              <p:spPr>
                <a:xfrm>
                  <a:off x="2575" y="1410"/>
                  <a:ext cx="43" cy="25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9" y="13"/>
                    </a:cxn>
                    <a:cxn ang="0">
                      <a:pos x="22" y="4"/>
                    </a:cxn>
                    <a:cxn ang="0">
                      <a:pos x="14" y="0"/>
                    </a:cxn>
                    <a:cxn ang="0">
                      <a:pos x="0" y="6"/>
                    </a:cxn>
                  </a:cxnLst>
                  <a:pathLst>
                    <a:path w="86" h="50">
                      <a:moveTo>
                        <a:pt x="0" y="23"/>
                      </a:moveTo>
                      <a:lnTo>
                        <a:pt x="75" y="50"/>
                      </a:lnTo>
                      <a:lnTo>
                        <a:pt x="86" y="14"/>
                      </a:lnTo>
                      <a:lnTo>
                        <a:pt x="53" y="0"/>
                      </a:lnTo>
                      <a:lnTo>
                        <a:pt x="0" y="23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6" name="Freeform 48"/>
                <p:cNvSpPr/>
                <p:nvPr/>
              </p:nvSpPr>
              <p:spPr>
                <a:xfrm>
                  <a:off x="2590" y="1479"/>
                  <a:ext cx="141" cy="140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35" y="60"/>
                    </a:cxn>
                    <a:cxn ang="0">
                      <a:pos x="44" y="63"/>
                    </a:cxn>
                    <a:cxn ang="0">
                      <a:pos x="67" y="53"/>
                    </a:cxn>
                    <a:cxn ang="0">
                      <a:pos x="70" y="57"/>
                    </a:cxn>
                    <a:cxn ang="0">
                      <a:pos x="42" y="70"/>
                    </a:cxn>
                    <a:cxn ang="0">
                      <a:pos x="33" y="70"/>
                    </a:cxn>
                    <a:cxn ang="0">
                      <a:pos x="0" y="2"/>
                    </a:cxn>
                    <a:cxn ang="0">
                      <a:pos x="6" y="0"/>
                    </a:cxn>
                  </a:cxnLst>
                  <a:pathLst>
                    <a:path w="283" h="281">
                      <a:moveTo>
                        <a:pt x="26" y="0"/>
                      </a:moveTo>
                      <a:lnTo>
                        <a:pt x="143" y="243"/>
                      </a:lnTo>
                      <a:lnTo>
                        <a:pt x="176" y="254"/>
                      </a:lnTo>
                      <a:lnTo>
                        <a:pt x="269" y="214"/>
                      </a:lnTo>
                      <a:lnTo>
                        <a:pt x="283" y="230"/>
                      </a:lnTo>
                      <a:lnTo>
                        <a:pt x="170" y="281"/>
                      </a:lnTo>
                      <a:lnTo>
                        <a:pt x="133" y="280"/>
                      </a:lnTo>
                      <a:lnTo>
                        <a:pt x="0" y="11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7" name="Freeform 49"/>
                <p:cNvSpPr/>
                <p:nvPr/>
              </p:nvSpPr>
              <p:spPr>
                <a:xfrm>
                  <a:off x="2561" y="1495"/>
                  <a:ext cx="182" cy="154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42" y="69"/>
                    </a:cxn>
                    <a:cxn ang="0">
                      <a:pos x="54" y="71"/>
                    </a:cxn>
                    <a:cxn ang="0">
                      <a:pos x="88" y="54"/>
                    </a:cxn>
                    <a:cxn ang="0">
                      <a:pos x="91" y="58"/>
                    </a:cxn>
                    <a:cxn ang="0">
                      <a:pos x="49" y="77"/>
                    </a:cxn>
                    <a:cxn ang="0">
                      <a:pos x="37" y="74"/>
                    </a:cxn>
                    <a:cxn ang="0">
                      <a:pos x="0" y="4"/>
                    </a:cxn>
                    <a:cxn ang="0">
                      <a:pos x="7" y="0"/>
                    </a:cxn>
                  </a:cxnLst>
                  <a:pathLst>
                    <a:path w="364" h="308">
                      <a:moveTo>
                        <a:pt x="26" y="0"/>
                      </a:moveTo>
                      <a:lnTo>
                        <a:pt x="167" y="274"/>
                      </a:lnTo>
                      <a:lnTo>
                        <a:pt x="213" y="281"/>
                      </a:lnTo>
                      <a:lnTo>
                        <a:pt x="349" y="216"/>
                      </a:lnTo>
                      <a:lnTo>
                        <a:pt x="364" y="232"/>
                      </a:lnTo>
                      <a:lnTo>
                        <a:pt x="195" y="308"/>
                      </a:lnTo>
                      <a:lnTo>
                        <a:pt x="147" y="293"/>
                      </a:lnTo>
                      <a:lnTo>
                        <a:pt x="0" y="13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58" name="Line 50"/>
                <p:cNvSpPr/>
                <p:nvPr/>
              </p:nvSpPr>
              <p:spPr>
                <a:xfrm flipV="1">
                  <a:off x="2462" y="1570"/>
                  <a:ext cx="49" cy="22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59" name="Line 51"/>
                <p:cNvSpPr/>
                <p:nvPr/>
              </p:nvSpPr>
              <p:spPr>
                <a:xfrm flipV="1">
                  <a:off x="2532" y="1560"/>
                  <a:ext cx="43" cy="20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60" name="Line 52"/>
                <p:cNvSpPr/>
                <p:nvPr/>
              </p:nvSpPr>
              <p:spPr>
                <a:xfrm>
                  <a:off x="2514" y="1589"/>
                  <a:ext cx="24" cy="47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61" name="Line 53"/>
                <p:cNvSpPr/>
                <p:nvPr/>
              </p:nvSpPr>
              <p:spPr>
                <a:xfrm flipV="1">
                  <a:off x="2523" y="1624"/>
                  <a:ext cx="30" cy="15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62" name="Line 54"/>
                <p:cNvSpPr/>
                <p:nvPr/>
              </p:nvSpPr>
              <p:spPr>
                <a:xfrm flipV="1">
                  <a:off x="2536" y="1646"/>
                  <a:ext cx="33" cy="18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63" name="Line 55"/>
                <p:cNvSpPr/>
                <p:nvPr/>
              </p:nvSpPr>
              <p:spPr>
                <a:xfrm flipV="1">
                  <a:off x="2475" y="1587"/>
                  <a:ext cx="39" cy="21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64" name="Line 56"/>
                <p:cNvSpPr/>
                <p:nvPr/>
              </p:nvSpPr>
              <p:spPr>
                <a:xfrm flipV="1">
                  <a:off x="2519" y="1542"/>
                  <a:ext cx="49" cy="22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765" name="Group 57"/>
              <p:cNvGrpSpPr/>
              <p:nvPr/>
            </p:nvGrpSpPr>
            <p:grpSpPr>
              <a:xfrm>
                <a:off x="2410" y="1764"/>
                <a:ext cx="651" cy="659"/>
                <a:chOff x="2410" y="1764"/>
                <a:chExt cx="651" cy="659"/>
              </a:xfrm>
            </p:grpSpPr>
            <p:sp>
              <p:nvSpPr>
                <p:cNvPr id="7771" name="Freeform 58"/>
                <p:cNvSpPr/>
                <p:nvPr/>
              </p:nvSpPr>
              <p:spPr>
                <a:xfrm>
                  <a:off x="2729" y="2236"/>
                  <a:ext cx="284" cy="187"/>
                </a:xfrm>
                <a:custGeom>
                  <a:avLst/>
                  <a:gdLst/>
                  <a:ahLst/>
                  <a:cxnLst>
                    <a:cxn ang="0">
                      <a:pos x="0" y="94"/>
                    </a:cxn>
                    <a:cxn ang="0">
                      <a:pos x="142" y="22"/>
                    </a:cxn>
                    <a:cxn ang="0">
                      <a:pos x="100" y="12"/>
                    </a:cxn>
                    <a:cxn ang="0">
                      <a:pos x="94" y="0"/>
                    </a:cxn>
                    <a:cxn ang="0">
                      <a:pos x="7" y="42"/>
                    </a:cxn>
                    <a:cxn ang="0">
                      <a:pos x="13" y="55"/>
                    </a:cxn>
                    <a:cxn ang="0">
                      <a:pos x="0" y="94"/>
                    </a:cxn>
                  </a:cxnLst>
                  <a:pathLst>
                    <a:path w="568" h="372">
                      <a:moveTo>
                        <a:pt x="0" y="372"/>
                      </a:moveTo>
                      <a:lnTo>
                        <a:pt x="568" y="85"/>
                      </a:lnTo>
                      <a:lnTo>
                        <a:pt x="397" y="47"/>
                      </a:lnTo>
                      <a:lnTo>
                        <a:pt x="375" y="0"/>
                      </a:lnTo>
                      <a:lnTo>
                        <a:pt x="27" y="168"/>
                      </a:lnTo>
                      <a:lnTo>
                        <a:pt x="49" y="216"/>
                      </a:lnTo>
                      <a:lnTo>
                        <a:pt x="0" y="372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72" name="Freeform 59"/>
                <p:cNvSpPr/>
                <p:nvPr/>
              </p:nvSpPr>
              <p:spPr>
                <a:xfrm>
                  <a:off x="2743" y="2100"/>
                  <a:ext cx="173" cy="193"/>
                </a:xfrm>
                <a:custGeom>
                  <a:avLst/>
                  <a:gdLst/>
                  <a:ahLst/>
                  <a:cxnLst>
                    <a:cxn ang="0">
                      <a:pos x="36" y="96"/>
                    </a:cxn>
                    <a:cxn ang="0">
                      <a:pos x="87" y="71"/>
                    </a:cxn>
                    <a:cxn ang="0">
                      <a:pos x="58" y="11"/>
                    </a:cxn>
                    <a:cxn ang="0">
                      <a:pos x="51" y="8"/>
                    </a:cxn>
                    <a:cxn ang="0">
                      <a:pos x="35" y="0"/>
                    </a:cxn>
                    <a:cxn ang="0">
                      <a:pos x="9" y="12"/>
                    </a:cxn>
                    <a:cxn ang="0">
                      <a:pos x="0" y="24"/>
                    </a:cxn>
                    <a:cxn ang="0">
                      <a:pos x="36" y="96"/>
                    </a:cxn>
                  </a:cxnLst>
                  <a:pathLst>
                    <a:path w="346" h="387">
                      <a:moveTo>
                        <a:pt x="142" y="387"/>
                      </a:moveTo>
                      <a:lnTo>
                        <a:pt x="346" y="285"/>
                      </a:lnTo>
                      <a:lnTo>
                        <a:pt x="230" y="44"/>
                      </a:lnTo>
                      <a:lnTo>
                        <a:pt x="201" y="33"/>
                      </a:lnTo>
                      <a:lnTo>
                        <a:pt x="140" y="0"/>
                      </a:lnTo>
                      <a:lnTo>
                        <a:pt x="34" y="50"/>
                      </a:lnTo>
                      <a:lnTo>
                        <a:pt x="0" y="98"/>
                      </a:lnTo>
                      <a:lnTo>
                        <a:pt x="142" y="387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73" name="Freeform 60"/>
                <p:cNvSpPr/>
                <p:nvPr/>
              </p:nvSpPr>
              <p:spPr>
                <a:xfrm>
                  <a:off x="2844" y="2054"/>
                  <a:ext cx="80" cy="181"/>
                </a:xfrm>
                <a:custGeom>
                  <a:avLst/>
                  <a:gdLst/>
                  <a:ahLst/>
                  <a:cxnLst>
                    <a:cxn ang="0">
                      <a:pos x="35" y="91"/>
                    </a:cxn>
                    <a:cxn ang="0">
                      <a:pos x="9" y="35"/>
                    </a:cxn>
                    <a:cxn ang="0">
                      <a:pos x="0" y="31"/>
                    </a:cxn>
                    <a:cxn ang="0">
                      <a:pos x="7" y="10"/>
                    </a:cxn>
                    <a:cxn ang="0">
                      <a:pos x="27" y="0"/>
                    </a:cxn>
                    <a:cxn ang="0">
                      <a:pos x="38" y="24"/>
                    </a:cxn>
                    <a:cxn ang="0">
                      <a:pos x="24" y="31"/>
                    </a:cxn>
                    <a:cxn ang="0">
                      <a:pos x="40" y="63"/>
                    </a:cxn>
                    <a:cxn ang="0">
                      <a:pos x="35" y="91"/>
                    </a:cxn>
                  </a:cxnLst>
                  <a:pathLst>
                    <a:path w="159" h="361">
                      <a:moveTo>
                        <a:pt x="137" y="361"/>
                      </a:moveTo>
                      <a:lnTo>
                        <a:pt x="34" y="140"/>
                      </a:lnTo>
                      <a:lnTo>
                        <a:pt x="0" y="123"/>
                      </a:lnTo>
                      <a:lnTo>
                        <a:pt x="28" y="40"/>
                      </a:lnTo>
                      <a:lnTo>
                        <a:pt x="105" y="0"/>
                      </a:lnTo>
                      <a:lnTo>
                        <a:pt x="149" y="93"/>
                      </a:lnTo>
                      <a:lnTo>
                        <a:pt x="96" y="121"/>
                      </a:lnTo>
                      <a:lnTo>
                        <a:pt x="159" y="249"/>
                      </a:lnTo>
                      <a:lnTo>
                        <a:pt x="137" y="361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74" name="Freeform 61"/>
                <p:cNvSpPr/>
                <p:nvPr/>
              </p:nvSpPr>
              <p:spPr>
                <a:xfrm>
                  <a:off x="2708" y="2067"/>
                  <a:ext cx="150" cy="81"/>
                </a:xfrm>
                <a:custGeom>
                  <a:avLst/>
                  <a:gdLst/>
                  <a:ahLst/>
                  <a:cxnLst>
                    <a:cxn ang="0">
                      <a:pos x="17" y="40"/>
                    </a:cxn>
                    <a:cxn ang="0">
                      <a:pos x="27" y="28"/>
                    </a:cxn>
                    <a:cxn ang="0">
                      <a:pos x="52" y="15"/>
                    </a:cxn>
                    <a:cxn ang="0">
                      <a:pos x="68" y="24"/>
                    </a:cxn>
                    <a:cxn ang="0">
                      <a:pos x="70" y="17"/>
                    </a:cxn>
                    <a:cxn ang="0">
                      <a:pos x="75" y="4"/>
                    </a:cxn>
                    <a:cxn ang="0">
                      <a:pos x="51" y="0"/>
                    </a:cxn>
                    <a:cxn ang="0">
                      <a:pos x="12" y="18"/>
                    </a:cxn>
                    <a:cxn ang="0">
                      <a:pos x="0" y="38"/>
                    </a:cxn>
                    <a:cxn ang="0">
                      <a:pos x="17" y="40"/>
                    </a:cxn>
                  </a:cxnLst>
                  <a:pathLst>
                    <a:path w="300" h="163">
                      <a:moveTo>
                        <a:pt x="65" y="163"/>
                      </a:moveTo>
                      <a:lnTo>
                        <a:pt x="107" y="112"/>
                      </a:lnTo>
                      <a:lnTo>
                        <a:pt x="208" y="63"/>
                      </a:lnTo>
                      <a:lnTo>
                        <a:pt x="271" y="96"/>
                      </a:lnTo>
                      <a:lnTo>
                        <a:pt x="277" y="69"/>
                      </a:lnTo>
                      <a:lnTo>
                        <a:pt x="300" y="18"/>
                      </a:lnTo>
                      <a:lnTo>
                        <a:pt x="203" y="0"/>
                      </a:lnTo>
                      <a:lnTo>
                        <a:pt x="45" y="74"/>
                      </a:lnTo>
                      <a:lnTo>
                        <a:pt x="0" y="152"/>
                      </a:lnTo>
                      <a:lnTo>
                        <a:pt x="65" y="163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75" name="Freeform 62"/>
                <p:cNvSpPr/>
                <p:nvPr/>
              </p:nvSpPr>
              <p:spPr>
                <a:xfrm>
                  <a:off x="2478" y="2150"/>
                  <a:ext cx="185" cy="268"/>
                </a:xfrm>
                <a:custGeom>
                  <a:avLst/>
                  <a:gdLst/>
                  <a:ahLst/>
                  <a:cxnLst>
                    <a:cxn ang="0">
                      <a:pos x="27" y="19"/>
                    </a:cxn>
                    <a:cxn ang="0">
                      <a:pos x="42" y="52"/>
                    </a:cxn>
                    <a:cxn ang="0">
                      <a:pos x="78" y="56"/>
                    </a:cxn>
                    <a:cxn ang="0">
                      <a:pos x="93" y="78"/>
                    </a:cxn>
                    <a:cxn ang="0">
                      <a:pos x="62" y="75"/>
                    </a:cxn>
                    <a:cxn ang="0">
                      <a:pos x="55" y="78"/>
                    </a:cxn>
                    <a:cxn ang="0">
                      <a:pos x="71" y="110"/>
                    </a:cxn>
                    <a:cxn ang="0">
                      <a:pos x="61" y="134"/>
                    </a:cxn>
                    <a:cxn ang="0">
                      <a:pos x="0" y="8"/>
                    </a:cxn>
                    <a:cxn ang="0">
                      <a:pos x="17" y="0"/>
                    </a:cxn>
                    <a:cxn ang="0">
                      <a:pos x="27" y="19"/>
                    </a:cxn>
                  </a:cxnLst>
                  <a:pathLst>
                    <a:path w="370" h="537">
                      <a:moveTo>
                        <a:pt x="107" y="79"/>
                      </a:moveTo>
                      <a:lnTo>
                        <a:pt x="168" y="210"/>
                      </a:lnTo>
                      <a:lnTo>
                        <a:pt x="311" y="225"/>
                      </a:lnTo>
                      <a:lnTo>
                        <a:pt x="370" y="313"/>
                      </a:lnTo>
                      <a:lnTo>
                        <a:pt x="246" y="301"/>
                      </a:lnTo>
                      <a:lnTo>
                        <a:pt x="218" y="312"/>
                      </a:lnTo>
                      <a:lnTo>
                        <a:pt x="281" y="443"/>
                      </a:lnTo>
                      <a:lnTo>
                        <a:pt x="243" y="537"/>
                      </a:lnTo>
                      <a:lnTo>
                        <a:pt x="0" y="33"/>
                      </a:lnTo>
                      <a:lnTo>
                        <a:pt x="68" y="0"/>
                      </a:lnTo>
                      <a:lnTo>
                        <a:pt x="107" y="79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76" name="Freeform 63"/>
                <p:cNvSpPr/>
                <p:nvPr/>
              </p:nvSpPr>
              <p:spPr>
                <a:xfrm>
                  <a:off x="2463" y="2125"/>
                  <a:ext cx="46" cy="39"/>
                </a:xfrm>
                <a:custGeom>
                  <a:avLst/>
                  <a:gdLst/>
                  <a:ahLst/>
                  <a:cxnLst>
                    <a:cxn ang="0">
                      <a:pos x="6" y="20"/>
                    </a:cxn>
                    <a:cxn ang="0">
                      <a:pos x="23" y="12"/>
                    </a:cxn>
                    <a:cxn ang="0">
                      <a:pos x="18" y="0"/>
                    </a:cxn>
                    <a:cxn ang="0">
                      <a:pos x="0" y="8"/>
                    </a:cxn>
                    <a:cxn ang="0">
                      <a:pos x="6" y="20"/>
                    </a:cxn>
                  </a:cxnLst>
                  <a:pathLst>
                    <a:path w="92" h="76">
                      <a:moveTo>
                        <a:pt x="22" y="76"/>
                      </a:moveTo>
                      <a:lnTo>
                        <a:pt x="92" y="44"/>
                      </a:lnTo>
                      <a:lnTo>
                        <a:pt x="69" y="0"/>
                      </a:lnTo>
                      <a:lnTo>
                        <a:pt x="0" y="31"/>
                      </a:lnTo>
                      <a:lnTo>
                        <a:pt x="22" y="76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77" name="Freeform 64"/>
                <p:cNvSpPr/>
                <p:nvPr/>
              </p:nvSpPr>
              <p:spPr>
                <a:xfrm>
                  <a:off x="2446" y="2101"/>
                  <a:ext cx="51" cy="42"/>
                </a:xfrm>
                <a:custGeom>
                  <a:avLst/>
                  <a:gdLst/>
                  <a:ahLst/>
                  <a:cxnLst>
                    <a:cxn ang="0">
                      <a:pos x="7" y="21"/>
                    </a:cxn>
                    <a:cxn ang="0">
                      <a:pos x="26" y="12"/>
                    </a:cxn>
                    <a:cxn ang="0">
                      <a:pos x="20" y="0"/>
                    </a:cxn>
                    <a:cxn ang="0">
                      <a:pos x="0" y="9"/>
                    </a:cxn>
                    <a:cxn ang="0">
                      <a:pos x="7" y="21"/>
                    </a:cxn>
                  </a:cxnLst>
                  <a:pathLst>
                    <a:path w="101" h="84">
                      <a:moveTo>
                        <a:pt x="26" y="84"/>
                      </a:moveTo>
                      <a:lnTo>
                        <a:pt x="101" y="45"/>
                      </a:lnTo>
                      <a:lnTo>
                        <a:pt x="79" y="0"/>
                      </a:lnTo>
                      <a:lnTo>
                        <a:pt x="0" y="34"/>
                      </a:lnTo>
                      <a:lnTo>
                        <a:pt x="26" y="84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78" name="Freeform 65"/>
                <p:cNvSpPr/>
                <p:nvPr/>
              </p:nvSpPr>
              <p:spPr>
                <a:xfrm>
                  <a:off x="2437" y="2075"/>
                  <a:ext cx="47" cy="41"/>
                </a:xfrm>
                <a:custGeom>
                  <a:avLst/>
                  <a:gdLst/>
                  <a:ahLst/>
                  <a:cxnLst>
                    <a:cxn ang="0">
                      <a:pos x="7" y="21"/>
                    </a:cxn>
                    <a:cxn ang="0">
                      <a:pos x="24" y="13"/>
                    </a:cxn>
                    <a:cxn ang="0">
                      <a:pos x="18" y="0"/>
                    </a:cxn>
                    <a:cxn ang="0">
                      <a:pos x="0" y="9"/>
                    </a:cxn>
                    <a:cxn ang="0">
                      <a:pos x="7" y="21"/>
                    </a:cxn>
                  </a:cxnLst>
                  <a:pathLst>
                    <a:path w="93" h="82">
                      <a:moveTo>
                        <a:pt x="26" y="82"/>
                      </a:moveTo>
                      <a:lnTo>
                        <a:pt x="93" y="49"/>
                      </a:lnTo>
                      <a:lnTo>
                        <a:pt x="70" y="0"/>
                      </a:lnTo>
                      <a:lnTo>
                        <a:pt x="0" y="33"/>
                      </a:lnTo>
                      <a:lnTo>
                        <a:pt x="26" y="82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79" name="Freeform 66"/>
                <p:cNvSpPr/>
                <p:nvPr/>
              </p:nvSpPr>
              <p:spPr>
                <a:xfrm>
                  <a:off x="2522" y="1868"/>
                  <a:ext cx="222" cy="317"/>
                </a:xfrm>
                <a:custGeom>
                  <a:avLst/>
                  <a:gdLst/>
                  <a:ahLst/>
                  <a:cxnLst>
                    <a:cxn ang="0">
                      <a:pos x="0" y="143"/>
                    </a:cxn>
                    <a:cxn ang="0">
                      <a:pos x="51" y="159"/>
                    </a:cxn>
                    <a:cxn ang="0">
                      <a:pos x="111" y="0"/>
                    </a:cxn>
                    <a:cxn ang="0">
                      <a:pos x="50" y="30"/>
                    </a:cxn>
                    <a:cxn ang="0">
                      <a:pos x="0" y="143"/>
                    </a:cxn>
                  </a:cxnLst>
                  <a:pathLst>
                    <a:path w="445" h="633">
                      <a:moveTo>
                        <a:pt x="0" y="572"/>
                      </a:moveTo>
                      <a:lnTo>
                        <a:pt x="204" y="633"/>
                      </a:lnTo>
                      <a:lnTo>
                        <a:pt x="445" y="0"/>
                      </a:lnTo>
                      <a:lnTo>
                        <a:pt x="202" y="120"/>
                      </a:lnTo>
                      <a:lnTo>
                        <a:pt x="0" y="572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0" name="Freeform 67"/>
                <p:cNvSpPr/>
                <p:nvPr/>
              </p:nvSpPr>
              <p:spPr>
                <a:xfrm>
                  <a:off x="2610" y="1877"/>
                  <a:ext cx="114" cy="304"/>
                </a:xfrm>
                <a:custGeom>
                  <a:avLst/>
                  <a:gdLst/>
                  <a:ahLst/>
                  <a:cxnLst>
                    <a:cxn ang="0">
                      <a:pos x="7" y="152"/>
                    </a:cxn>
                    <a:cxn ang="0">
                      <a:pos x="57" y="0"/>
                    </a:cxn>
                    <a:cxn ang="0">
                      <a:pos x="49" y="5"/>
                    </a:cxn>
                    <a:cxn ang="0">
                      <a:pos x="0" y="150"/>
                    </a:cxn>
                    <a:cxn ang="0">
                      <a:pos x="7" y="152"/>
                    </a:cxn>
                  </a:cxnLst>
                  <a:pathLst>
                    <a:path w="228" h="608">
                      <a:moveTo>
                        <a:pt x="26" y="608"/>
                      </a:moveTo>
                      <a:lnTo>
                        <a:pt x="228" y="0"/>
                      </a:lnTo>
                      <a:lnTo>
                        <a:pt x="196" y="18"/>
                      </a:lnTo>
                      <a:lnTo>
                        <a:pt x="0" y="598"/>
                      </a:lnTo>
                      <a:lnTo>
                        <a:pt x="26" y="608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1" name="Freeform 68"/>
                <p:cNvSpPr/>
                <p:nvPr/>
              </p:nvSpPr>
              <p:spPr>
                <a:xfrm>
                  <a:off x="2582" y="1895"/>
                  <a:ext cx="108" cy="282"/>
                </a:xfrm>
                <a:custGeom>
                  <a:avLst/>
                  <a:gdLst/>
                  <a:ahLst/>
                  <a:cxnLst>
                    <a:cxn ang="0">
                      <a:pos x="6" y="141"/>
                    </a:cxn>
                    <a:cxn ang="0">
                      <a:pos x="54" y="0"/>
                    </a:cxn>
                    <a:cxn ang="0">
                      <a:pos x="44" y="5"/>
                    </a:cxn>
                    <a:cxn ang="0">
                      <a:pos x="0" y="138"/>
                    </a:cxn>
                    <a:cxn ang="0">
                      <a:pos x="6" y="141"/>
                    </a:cxn>
                  </a:cxnLst>
                  <a:pathLst>
                    <a:path w="217" h="563">
                      <a:moveTo>
                        <a:pt x="27" y="563"/>
                      </a:moveTo>
                      <a:lnTo>
                        <a:pt x="217" y="0"/>
                      </a:lnTo>
                      <a:lnTo>
                        <a:pt x="176" y="18"/>
                      </a:lnTo>
                      <a:lnTo>
                        <a:pt x="0" y="550"/>
                      </a:lnTo>
                      <a:lnTo>
                        <a:pt x="27" y="563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2" name="Freeform 69"/>
                <p:cNvSpPr/>
                <p:nvPr/>
              </p:nvSpPr>
              <p:spPr>
                <a:xfrm>
                  <a:off x="2624" y="1833"/>
                  <a:ext cx="271" cy="351"/>
                </a:xfrm>
                <a:custGeom>
                  <a:avLst/>
                  <a:gdLst/>
                  <a:ahLst/>
                  <a:cxnLst>
                    <a:cxn ang="0">
                      <a:pos x="0" y="175"/>
                    </a:cxn>
                    <a:cxn ang="0">
                      <a:pos x="5" y="167"/>
                    </a:cxn>
                    <a:cxn ang="0">
                      <a:pos x="39" y="152"/>
                    </a:cxn>
                    <a:cxn ang="0">
                      <a:pos x="42" y="155"/>
                    </a:cxn>
                    <a:cxn ang="0">
                      <a:pos x="52" y="135"/>
                    </a:cxn>
                    <a:cxn ang="0">
                      <a:pos x="93" y="116"/>
                    </a:cxn>
                    <a:cxn ang="0">
                      <a:pos x="119" y="120"/>
                    </a:cxn>
                    <a:cxn ang="0">
                      <a:pos x="133" y="113"/>
                    </a:cxn>
                    <a:cxn ang="0">
                      <a:pos x="114" y="74"/>
                    </a:cxn>
                    <a:cxn ang="0">
                      <a:pos x="136" y="23"/>
                    </a:cxn>
                    <a:cxn ang="0">
                      <a:pos x="97" y="0"/>
                    </a:cxn>
                    <a:cxn ang="0">
                      <a:pos x="56" y="20"/>
                    </a:cxn>
                    <a:cxn ang="0">
                      <a:pos x="0" y="175"/>
                    </a:cxn>
                  </a:cxnLst>
                  <a:pathLst>
                    <a:path w="542" h="703">
                      <a:moveTo>
                        <a:pt x="0" y="703"/>
                      </a:moveTo>
                      <a:lnTo>
                        <a:pt x="18" y="670"/>
                      </a:lnTo>
                      <a:lnTo>
                        <a:pt x="156" y="608"/>
                      </a:lnTo>
                      <a:lnTo>
                        <a:pt x="165" y="622"/>
                      </a:lnTo>
                      <a:lnTo>
                        <a:pt x="208" y="543"/>
                      </a:lnTo>
                      <a:lnTo>
                        <a:pt x="370" y="465"/>
                      </a:lnTo>
                      <a:lnTo>
                        <a:pt x="473" y="480"/>
                      </a:lnTo>
                      <a:lnTo>
                        <a:pt x="531" y="452"/>
                      </a:lnTo>
                      <a:lnTo>
                        <a:pt x="455" y="296"/>
                      </a:lnTo>
                      <a:lnTo>
                        <a:pt x="542" y="93"/>
                      </a:lnTo>
                      <a:lnTo>
                        <a:pt x="386" y="0"/>
                      </a:lnTo>
                      <a:lnTo>
                        <a:pt x="223" y="81"/>
                      </a:lnTo>
                      <a:lnTo>
                        <a:pt x="0" y="703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3" name="Freeform 70"/>
                <p:cNvSpPr/>
                <p:nvPr/>
              </p:nvSpPr>
              <p:spPr>
                <a:xfrm>
                  <a:off x="2650" y="2028"/>
                  <a:ext cx="236" cy="135"/>
                </a:xfrm>
                <a:custGeom>
                  <a:avLst/>
                  <a:gdLst/>
                  <a:ahLst/>
                  <a:cxnLst>
                    <a:cxn ang="0">
                      <a:pos x="19" y="59"/>
                    </a:cxn>
                    <a:cxn ang="0">
                      <a:pos x="34" y="31"/>
                    </a:cxn>
                    <a:cxn ang="0">
                      <a:pos x="76" y="10"/>
                    </a:cxn>
                    <a:cxn ang="0">
                      <a:pos x="101" y="15"/>
                    </a:cxn>
                    <a:cxn ang="0">
                      <a:pos x="106" y="23"/>
                    </a:cxn>
                    <a:cxn ang="0">
                      <a:pos x="118" y="17"/>
                    </a:cxn>
                    <a:cxn ang="0">
                      <a:pos x="111" y="5"/>
                    </a:cxn>
                    <a:cxn ang="0">
                      <a:pos x="71" y="0"/>
                    </a:cxn>
                    <a:cxn ang="0">
                      <a:pos x="29" y="21"/>
                    </a:cxn>
                    <a:cxn ang="0">
                      <a:pos x="0" y="68"/>
                    </a:cxn>
                    <a:cxn ang="0">
                      <a:pos x="19" y="59"/>
                    </a:cxn>
                  </a:cxnLst>
                  <a:pathLst>
                    <a:path w="473" h="270">
                      <a:moveTo>
                        <a:pt x="76" y="235"/>
                      </a:moveTo>
                      <a:lnTo>
                        <a:pt x="137" y="122"/>
                      </a:lnTo>
                      <a:lnTo>
                        <a:pt x="306" y="40"/>
                      </a:lnTo>
                      <a:lnTo>
                        <a:pt x="407" y="58"/>
                      </a:lnTo>
                      <a:lnTo>
                        <a:pt x="427" y="90"/>
                      </a:lnTo>
                      <a:lnTo>
                        <a:pt x="473" y="67"/>
                      </a:lnTo>
                      <a:lnTo>
                        <a:pt x="447" y="17"/>
                      </a:lnTo>
                      <a:lnTo>
                        <a:pt x="286" y="0"/>
                      </a:lnTo>
                      <a:lnTo>
                        <a:pt x="118" y="82"/>
                      </a:lnTo>
                      <a:lnTo>
                        <a:pt x="0" y="270"/>
                      </a:lnTo>
                      <a:lnTo>
                        <a:pt x="76" y="235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4" name="Freeform 71"/>
                <p:cNvSpPr/>
                <p:nvPr/>
              </p:nvSpPr>
              <p:spPr>
                <a:xfrm>
                  <a:off x="2669" y="1861"/>
                  <a:ext cx="198" cy="218"/>
                </a:xfrm>
                <a:custGeom>
                  <a:avLst/>
                  <a:gdLst/>
                  <a:ahLst/>
                  <a:cxnLst>
                    <a:cxn ang="0">
                      <a:pos x="0" y="109"/>
                    </a:cxn>
                    <a:cxn ang="0">
                      <a:pos x="60" y="79"/>
                    </a:cxn>
                    <a:cxn ang="0">
                      <a:pos x="99" y="82"/>
                    </a:cxn>
                    <a:cxn ang="0">
                      <a:pos x="78" y="62"/>
                    </a:cxn>
                    <a:cxn ang="0">
                      <a:pos x="48" y="0"/>
                    </a:cxn>
                    <a:cxn ang="0">
                      <a:pos x="37" y="5"/>
                    </a:cxn>
                    <a:cxn ang="0">
                      <a:pos x="0" y="109"/>
                    </a:cxn>
                  </a:cxnLst>
                  <a:pathLst>
                    <a:path w="397" h="437">
                      <a:moveTo>
                        <a:pt x="0" y="437"/>
                      </a:moveTo>
                      <a:lnTo>
                        <a:pt x="242" y="316"/>
                      </a:lnTo>
                      <a:lnTo>
                        <a:pt x="397" y="331"/>
                      </a:lnTo>
                      <a:lnTo>
                        <a:pt x="312" y="251"/>
                      </a:lnTo>
                      <a:lnTo>
                        <a:pt x="192" y="0"/>
                      </a:lnTo>
                      <a:lnTo>
                        <a:pt x="151" y="20"/>
                      </a:lnTo>
                      <a:lnTo>
                        <a:pt x="0" y="437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5" name="Freeform 72"/>
                <p:cNvSpPr/>
                <p:nvPr/>
              </p:nvSpPr>
              <p:spPr>
                <a:xfrm>
                  <a:off x="2821" y="1820"/>
                  <a:ext cx="148" cy="237"/>
                </a:xfrm>
                <a:custGeom>
                  <a:avLst/>
                  <a:gdLst/>
                  <a:ahLst/>
                  <a:cxnLst>
                    <a:cxn ang="0">
                      <a:pos x="36" y="118"/>
                    </a:cxn>
                    <a:cxn ang="0">
                      <a:pos x="16" y="78"/>
                    </a:cxn>
                    <a:cxn ang="0">
                      <a:pos x="38" y="29"/>
                    </a:cxn>
                    <a:cxn ang="0">
                      <a:pos x="0" y="6"/>
                    </a:cxn>
                    <a:cxn ang="0">
                      <a:pos x="13" y="0"/>
                    </a:cxn>
                    <a:cxn ang="0">
                      <a:pos x="42" y="22"/>
                    </a:cxn>
                    <a:cxn ang="0">
                      <a:pos x="61" y="12"/>
                    </a:cxn>
                    <a:cxn ang="0">
                      <a:pos x="74" y="40"/>
                    </a:cxn>
                    <a:cxn ang="0">
                      <a:pos x="58" y="74"/>
                    </a:cxn>
                    <a:cxn ang="0">
                      <a:pos x="65" y="89"/>
                    </a:cxn>
                    <a:cxn ang="0">
                      <a:pos x="53" y="94"/>
                    </a:cxn>
                    <a:cxn ang="0">
                      <a:pos x="36" y="118"/>
                    </a:cxn>
                  </a:cxnLst>
                  <a:pathLst>
                    <a:path w="295" h="475">
                      <a:moveTo>
                        <a:pt x="142" y="475"/>
                      </a:moveTo>
                      <a:lnTo>
                        <a:pt x="62" y="313"/>
                      </a:lnTo>
                      <a:lnTo>
                        <a:pt x="150" y="118"/>
                      </a:lnTo>
                      <a:lnTo>
                        <a:pt x="0" y="24"/>
                      </a:lnTo>
                      <a:lnTo>
                        <a:pt x="50" y="0"/>
                      </a:lnTo>
                      <a:lnTo>
                        <a:pt x="165" y="88"/>
                      </a:lnTo>
                      <a:lnTo>
                        <a:pt x="242" y="49"/>
                      </a:lnTo>
                      <a:lnTo>
                        <a:pt x="295" y="163"/>
                      </a:lnTo>
                      <a:lnTo>
                        <a:pt x="229" y="297"/>
                      </a:lnTo>
                      <a:lnTo>
                        <a:pt x="260" y="356"/>
                      </a:lnTo>
                      <a:lnTo>
                        <a:pt x="212" y="378"/>
                      </a:lnTo>
                      <a:lnTo>
                        <a:pt x="142" y="475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6" name="Freeform 73"/>
                <p:cNvSpPr/>
                <p:nvPr/>
              </p:nvSpPr>
              <p:spPr>
                <a:xfrm>
                  <a:off x="2871" y="1869"/>
                  <a:ext cx="96" cy="175"/>
                </a:xfrm>
                <a:custGeom>
                  <a:avLst/>
                  <a:gdLst/>
                  <a:ahLst/>
                  <a:cxnLst>
                    <a:cxn ang="0">
                      <a:pos x="16" y="88"/>
                    </a:cxn>
                    <a:cxn ang="0">
                      <a:pos x="0" y="55"/>
                    </a:cxn>
                    <a:cxn ang="0">
                      <a:pos x="22" y="10"/>
                    </a:cxn>
                    <a:cxn ang="0">
                      <a:pos x="40" y="0"/>
                    </a:cxn>
                    <a:cxn ang="0">
                      <a:pos x="48" y="16"/>
                    </a:cxn>
                    <a:cxn ang="0">
                      <a:pos x="32" y="23"/>
                    </a:cxn>
                    <a:cxn ang="0">
                      <a:pos x="20" y="53"/>
                    </a:cxn>
                    <a:cxn ang="0">
                      <a:pos x="28" y="70"/>
                    </a:cxn>
                    <a:cxn ang="0">
                      <a:pos x="16" y="88"/>
                    </a:cxn>
                  </a:cxnLst>
                  <a:pathLst>
                    <a:path w="192" h="349">
                      <a:moveTo>
                        <a:pt x="64" y="349"/>
                      </a:moveTo>
                      <a:lnTo>
                        <a:pt x="0" y="218"/>
                      </a:lnTo>
                      <a:lnTo>
                        <a:pt x="86" y="38"/>
                      </a:lnTo>
                      <a:lnTo>
                        <a:pt x="160" y="0"/>
                      </a:lnTo>
                      <a:lnTo>
                        <a:pt x="192" y="61"/>
                      </a:lnTo>
                      <a:lnTo>
                        <a:pt x="128" y="90"/>
                      </a:lnTo>
                      <a:lnTo>
                        <a:pt x="79" y="209"/>
                      </a:lnTo>
                      <a:lnTo>
                        <a:pt x="112" y="279"/>
                      </a:lnTo>
                      <a:lnTo>
                        <a:pt x="64" y="349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7" name="Freeform 74"/>
                <p:cNvSpPr/>
                <p:nvPr/>
              </p:nvSpPr>
              <p:spPr>
                <a:xfrm>
                  <a:off x="2939" y="1907"/>
                  <a:ext cx="46" cy="90"/>
                </a:xfrm>
                <a:custGeom>
                  <a:avLst/>
                  <a:gdLst/>
                  <a:ahLst/>
                  <a:cxnLst>
                    <a:cxn ang="0">
                      <a:pos x="7" y="45"/>
                    </a:cxn>
                    <a:cxn ang="0">
                      <a:pos x="23" y="15"/>
                    </a:cxn>
                    <a:cxn ang="0">
                      <a:pos x="16" y="0"/>
                    </a:cxn>
                    <a:cxn ang="0">
                      <a:pos x="0" y="30"/>
                    </a:cxn>
                    <a:cxn ang="0">
                      <a:pos x="7" y="45"/>
                    </a:cxn>
                  </a:cxnLst>
                  <a:pathLst>
                    <a:path w="92" h="181">
                      <a:moveTo>
                        <a:pt x="28" y="181"/>
                      </a:moveTo>
                      <a:lnTo>
                        <a:pt x="92" y="60"/>
                      </a:lnTo>
                      <a:lnTo>
                        <a:pt x="62" y="0"/>
                      </a:lnTo>
                      <a:lnTo>
                        <a:pt x="0" y="121"/>
                      </a:lnTo>
                      <a:lnTo>
                        <a:pt x="28" y="181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8" name="Freeform 75"/>
                <p:cNvSpPr/>
                <p:nvPr/>
              </p:nvSpPr>
              <p:spPr>
                <a:xfrm>
                  <a:off x="2410" y="2015"/>
                  <a:ext cx="63" cy="77"/>
                </a:xfrm>
                <a:custGeom>
                  <a:avLst/>
                  <a:gdLst/>
                  <a:ahLst/>
                  <a:cxnLst>
                    <a:cxn ang="0">
                      <a:pos x="18" y="0"/>
                    </a:cxn>
                    <a:cxn ang="0">
                      <a:pos x="0" y="10"/>
                    </a:cxn>
                    <a:cxn ang="0">
                      <a:pos x="14" y="39"/>
                    </a:cxn>
                    <a:cxn ang="0">
                      <a:pos x="31" y="30"/>
                    </a:cxn>
                    <a:cxn ang="0">
                      <a:pos x="18" y="0"/>
                    </a:cxn>
                  </a:cxnLst>
                  <a:pathLst>
                    <a:path w="127" h="154">
                      <a:moveTo>
                        <a:pt x="73" y="0"/>
                      </a:moveTo>
                      <a:lnTo>
                        <a:pt x="0" y="37"/>
                      </a:lnTo>
                      <a:lnTo>
                        <a:pt x="56" y="154"/>
                      </a:lnTo>
                      <a:lnTo>
                        <a:pt x="127" y="118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89" name="Freeform 76"/>
                <p:cNvSpPr/>
                <p:nvPr/>
              </p:nvSpPr>
              <p:spPr>
                <a:xfrm>
                  <a:off x="2410" y="2022"/>
                  <a:ext cx="45" cy="59"/>
                </a:xfrm>
                <a:custGeom>
                  <a:avLst/>
                  <a:gdLst/>
                  <a:ahLst/>
                  <a:cxnLst>
                    <a:cxn ang="0">
                      <a:pos x="23" y="24"/>
                    </a:cxn>
                    <a:cxn ang="0">
                      <a:pos x="12" y="0"/>
                    </a:cxn>
                    <a:cxn ang="0">
                      <a:pos x="0" y="5"/>
                    </a:cxn>
                    <a:cxn ang="0">
                      <a:pos x="12" y="29"/>
                    </a:cxn>
                    <a:cxn ang="0">
                      <a:pos x="23" y="24"/>
                    </a:cxn>
                  </a:cxnLst>
                  <a:pathLst>
                    <a:path w="90" h="119">
                      <a:moveTo>
                        <a:pt x="90" y="97"/>
                      </a:moveTo>
                      <a:lnTo>
                        <a:pt x="45" y="0"/>
                      </a:lnTo>
                      <a:lnTo>
                        <a:pt x="0" y="22"/>
                      </a:lnTo>
                      <a:lnTo>
                        <a:pt x="45" y="119"/>
                      </a:lnTo>
                      <a:lnTo>
                        <a:pt x="90" y="97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0" name="Freeform 77"/>
                <p:cNvSpPr/>
                <p:nvPr/>
              </p:nvSpPr>
              <p:spPr>
                <a:xfrm>
                  <a:off x="2448" y="1994"/>
                  <a:ext cx="66" cy="111"/>
                </a:xfrm>
                <a:custGeom>
                  <a:avLst/>
                  <a:gdLst/>
                  <a:ahLst/>
                  <a:cxnLst>
                    <a:cxn ang="0">
                      <a:pos x="21" y="56"/>
                    </a:cxn>
                    <a:cxn ang="0">
                      <a:pos x="31" y="53"/>
                    </a:cxn>
                    <a:cxn ang="0">
                      <a:pos x="33" y="27"/>
                    </a:cxn>
                    <a:cxn ang="0">
                      <a:pos x="20" y="0"/>
                    </a:cxn>
                    <a:cxn ang="0">
                      <a:pos x="0" y="10"/>
                    </a:cxn>
                    <a:cxn ang="0">
                      <a:pos x="21" y="56"/>
                    </a:cxn>
                  </a:cxnLst>
                  <a:pathLst>
                    <a:path w="132" h="221">
                      <a:moveTo>
                        <a:pt x="83" y="221"/>
                      </a:moveTo>
                      <a:lnTo>
                        <a:pt x="124" y="209"/>
                      </a:lnTo>
                      <a:lnTo>
                        <a:pt x="132" y="105"/>
                      </a:lnTo>
                      <a:lnTo>
                        <a:pt x="80" y="0"/>
                      </a:lnTo>
                      <a:lnTo>
                        <a:pt x="0" y="40"/>
                      </a:lnTo>
                      <a:lnTo>
                        <a:pt x="83" y="221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1" name="Freeform 78"/>
                <p:cNvSpPr/>
                <p:nvPr/>
              </p:nvSpPr>
              <p:spPr>
                <a:xfrm>
                  <a:off x="2489" y="1967"/>
                  <a:ext cx="85" cy="189"/>
                </a:xfrm>
                <a:custGeom>
                  <a:avLst/>
                  <a:gdLst/>
                  <a:ahLst/>
                  <a:cxnLst>
                    <a:cxn ang="0">
                      <a:pos x="0" y="14"/>
                    </a:cxn>
                    <a:cxn ang="0">
                      <a:pos x="27" y="0"/>
                    </a:cxn>
                    <a:cxn ang="0">
                      <a:pos x="43" y="35"/>
                    </a:cxn>
                    <a:cxn ang="0">
                      <a:pos x="18" y="95"/>
                    </a:cxn>
                    <a:cxn ang="0">
                      <a:pos x="14" y="91"/>
                    </a:cxn>
                    <a:cxn ang="0">
                      <a:pos x="3" y="69"/>
                    </a:cxn>
                    <a:cxn ang="0">
                      <a:pos x="12" y="64"/>
                    </a:cxn>
                    <a:cxn ang="0">
                      <a:pos x="13" y="41"/>
                    </a:cxn>
                    <a:cxn ang="0">
                      <a:pos x="0" y="14"/>
                    </a:cxn>
                  </a:cxnLst>
                  <a:pathLst>
                    <a:path w="170" h="378">
                      <a:moveTo>
                        <a:pt x="0" y="55"/>
                      </a:moveTo>
                      <a:lnTo>
                        <a:pt x="106" y="0"/>
                      </a:lnTo>
                      <a:lnTo>
                        <a:pt x="170" y="137"/>
                      </a:lnTo>
                      <a:lnTo>
                        <a:pt x="71" y="378"/>
                      </a:lnTo>
                      <a:lnTo>
                        <a:pt x="54" y="363"/>
                      </a:lnTo>
                      <a:lnTo>
                        <a:pt x="10" y="273"/>
                      </a:lnTo>
                      <a:lnTo>
                        <a:pt x="46" y="254"/>
                      </a:lnTo>
                      <a:lnTo>
                        <a:pt x="52" y="161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2" name="Freeform 79"/>
                <p:cNvSpPr/>
                <p:nvPr/>
              </p:nvSpPr>
              <p:spPr>
                <a:xfrm>
                  <a:off x="2544" y="1929"/>
                  <a:ext cx="77" cy="101"/>
                </a:xfrm>
                <a:custGeom>
                  <a:avLst/>
                  <a:gdLst/>
                  <a:ahLst/>
                  <a:cxnLst>
                    <a:cxn ang="0">
                      <a:pos x="16" y="50"/>
                    </a:cxn>
                    <a:cxn ang="0">
                      <a:pos x="39" y="0"/>
                    </a:cxn>
                    <a:cxn ang="0">
                      <a:pos x="0" y="18"/>
                    </a:cxn>
                    <a:cxn ang="0">
                      <a:pos x="16" y="50"/>
                    </a:cxn>
                  </a:cxnLst>
                  <a:pathLst>
                    <a:path w="154" h="203">
                      <a:moveTo>
                        <a:pt x="64" y="203"/>
                      </a:moveTo>
                      <a:lnTo>
                        <a:pt x="154" y="0"/>
                      </a:lnTo>
                      <a:lnTo>
                        <a:pt x="0" y="75"/>
                      </a:lnTo>
                      <a:lnTo>
                        <a:pt x="64" y="203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3" name="Freeform 80"/>
                <p:cNvSpPr/>
                <p:nvPr/>
              </p:nvSpPr>
              <p:spPr>
                <a:xfrm>
                  <a:off x="2541" y="1912"/>
                  <a:ext cx="112" cy="251"/>
                </a:xfrm>
                <a:custGeom>
                  <a:avLst/>
                  <a:gdLst/>
                  <a:ahLst/>
                  <a:cxnLst>
                    <a:cxn ang="0">
                      <a:pos x="0" y="122"/>
                    </a:cxn>
                    <a:cxn ang="0">
                      <a:pos x="13" y="126"/>
                    </a:cxn>
                    <a:cxn ang="0">
                      <a:pos x="56" y="0"/>
                    </a:cxn>
                    <a:cxn ang="0">
                      <a:pos x="47" y="5"/>
                    </a:cxn>
                    <a:cxn ang="0">
                      <a:pos x="0" y="122"/>
                    </a:cxn>
                  </a:cxnLst>
                  <a:pathLst>
                    <a:path w="223" h="501">
                      <a:moveTo>
                        <a:pt x="0" y="485"/>
                      </a:moveTo>
                      <a:lnTo>
                        <a:pt x="50" y="501"/>
                      </a:lnTo>
                      <a:lnTo>
                        <a:pt x="223" y="0"/>
                      </a:lnTo>
                      <a:lnTo>
                        <a:pt x="188" y="20"/>
                      </a:lnTo>
                      <a:lnTo>
                        <a:pt x="0" y="485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4" name="Freeform 81"/>
                <p:cNvSpPr/>
                <p:nvPr/>
              </p:nvSpPr>
              <p:spPr>
                <a:xfrm>
                  <a:off x="2829" y="1846"/>
                  <a:ext cx="54" cy="137"/>
                </a:xfrm>
                <a:custGeom>
                  <a:avLst/>
                  <a:gdLst/>
                  <a:ahLst/>
                  <a:cxnLst>
                    <a:cxn ang="0">
                      <a:pos x="5" y="68"/>
                    </a:cxn>
                    <a:cxn ang="0">
                      <a:pos x="0" y="0"/>
                    </a:cxn>
                    <a:cxn ang="0">
                      <a:pos x="28" y="17"/>
                    </a:cxn>
                    <a:cxn ang="0">
                      <a:pos x="5" y="68"/>
                    </a:cxn>
                  </a:cxnLst>
                  <a:pathLst>
                    <a:path w="106" h="275">
                      <a:moveTo>
                        <a:pt x="20" y="275"/>
                      </a:moveTo>
                      <a:lnTo>
                        <a:pt x="0" y="0"/>
                      </a:lnTo>
                      <a:lnTo>
                        <a:pt x="106" y="69"/>
                      </a:lnTo>
                      <a:lnTo>
                        <a:pt x="20" y="275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5" name="Freeform 82"/>
                <p:cNvSpPr/>
                <p:nvPr/>
              </p:nvSpPr>
              <p:spPr>
                <a:xfrm>
                  <a:off x="2491" y="2094"/>
                  <a:ext cx="49" cy="63"/>
                </a:xfrm>
                <a:custGeom>
                  <a:avLst/>
                  <a:gdLst/>
                  <a:ahLst/>
                  <a:cxnLst>
                    <a:cxn ang="0">
                      <a:pos x="12" y="32"/>
                    </a:cxn>
                    <a:cxn ang="0">
                      <a:pos x="25" y="25"/>
                    </a:cxn>
                    <a:cxn ang="0">
                      <a:pos x="13" y="0"/>
                    </a:cxn>
                    <a:cxn ang="0">
                      <a:pos x="0" y="7"/>
                    </a:cxn>
                    <a:cxn ang="0">
                      <a:pos x="12" y="32"/>
                    </a:cxn>
                  </a:cxnLst>
                  <a:pathLst>
                    <a:path w="98" h="126">
                      <a:moveTo>
                        <a:pt x="48" y="126"/>
                      </a:moveTo>
                      <a:lnTo>
                        <a:pt x="98" y="99"/>
                      </a:lnTo>
                      <a:lnTo>
                        <a:pt x="50" y="0"/>
                      </a:lnTo>
                      <a:lnTo>
                        <a:pt x="0" y="27"/>
                      </a:lnTo>
                      <a:lnTo>
                        <a:pt x="48" y="126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6" name="Freeform 83"/>
                <p:cNvSpPr/>
                <p:nvPr/>
              </p:nvSpPr>
              <p:spPr>
                <a:xfrm>
                  <a:off x="2618" y="2135"/>
                  <a:ext cx="194" cy="192"/>
                </a:xfrm>
                <a:custGeom>
                  <a:avLst/>
                  <a:gdLst/>
                  <a:ahLst/>
                  <a:cxnLst>
                    <a:cxn ang="0">
                      <a:pos x="63" y="96"/>
                    </a:cxn>
                    <a:cxn ang="0">
                      <a:pos x="36" y="40"/>
                    </a:cxn>
                    <a:cxn ang="0">
                      <a:pos x="25" y="38"/>
                    </a:cxn>
                    <a:cxn ang="0">
                      <a:pos x="11" y="44"/>
                    </a:cxn>
                    <a:cxn ang="0">
                      <a:pos x="0" y="21"/>
                    </a:cxn>
                    <a:cxn ang="0">
                      <a:pos x="44" y="0"/>
                    </a:cxn>
                    <a:cxn ang="0">
                      <a:pos x="62" y="7"/>
                    </a:cxn>
                    <a:cxn ang="0">
                      <a:pos x="97" y="80"/>
                    </a:cxn>
                    <a:cxn ang="0">
                      <a:pos x="63" y="96"/>
                    </a:cxn>
                  </a:cxnLst>
                  <a:pathLst>
                    <a:path w="388" h="384">
                      <a:moveTo>
                        <a:pt x="252" y="384"/>
                      </a:moveTo>
                      <a:lnTo>
                        <a:pt x="143" y="158"/>
                      </a:lnTo>
                      <a:lnTo>
                        <a:pt x="97" y="149"/>
                      </a:lnTo>
                      <a:lnTo>
                        <a:pt x="42" y="174"/>
                      </a:lnTo>
                      <a:lnTo>
                        <a:pt x="0" y="84"/>
                      </a:lnTo>
                      <a:lnTo>
                        <a:pt x="174" y="0"/>
                      </a:lnTo>
                      <a:lnTo>
                        <a:pt x="245" y="26"/>
                      </a:lnTo>
                      <a:lnTo>
                        <a:pt x="388" y="318"/>
                      </a:lnTo>
                      <a:lnTo>
                        <a:pt x="252" y="384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7" name="Freeform 84"/>
                <p:cNvSpPr/>
                <p:nvPr/>
              </p:nvSpPr>
              <p:spPr>
                <a:xfrm>
                  <a:off x="2915" y="1764"/>
                  <a:ext cx="146" cy="243"/>
                </a:xfrm>
                <a:custGeom>
                  <a:avLst/>
                  <a:gdLst/>
                  <a:ahLst/>
                  <a:cxnLst>
                    <a:cxn ang="0">
                      <a:pos x="19" y="0"/>
                    </a:cxn>
                    <a:cxn ang="0">
                      <a:pos x="0" y="10"/>
                    </a:cxn>
                    <a:cxn ang="0">
                      <a:pos x="55" y="122"/>
                    </a:cxn>
                    <a:cxn ang="0">
                      <a:pos x="73" y="111"/>
                    </a:cxn>
                    <a:cxn ang="0">
                      <a:pos x="19" y="0"/>
                    </a:cxn>
                  </a:cxnLst>
                  <a:pathLst>
                    <a:path w="292" h="485">
                      <a:moveTo>
                        <a:pt x="74" y="0"/>
                      </a:moveTo>
                      <a:lnTo>
                        <a:pt x="0" y="38"/>
                      </a:lnTo>
                      <a:lnTo>
                        <a:pt x="217" y="485"/>
                      </a:lnTo>
                      <a:lnTo>
                        <a:pt x="292" y="444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8" name="Freeform 85"/>
                <p:cNvSpPr/>
                <p:nvPr/>
              </p:nvSpPr>
              <p:spPr>
                <a:xfrm>
                  <a:off x="2929" y="1766"/>
                  <a:ext cx="114" cy="195"/>
                </a:xfrm>
                <a:custGeom>
                  <a:avLst/>
                  <a:gdLst/>
                  <a:ahLst/>
                  <a:cxnLst>
                    <a:cxn ang="0">
                      <a:pos x="57" y="92"/>
                    </a:cxn>
                    <a:cxn ang="0">
                      <a:pos x="11" y="0"/>
                    </a:cxn>
                    <a:cxn ang="0">
                      <a:pos x="0" y="5"/>
                    </a:cxn>
                    <a:cxn ang="0">
                      <a:pos x="46" y="98"/>
                    </a:cxn>
                    <a:cxn ang="0">
                      <a:pos x="57" y="92"/>
                    </a:cxn>
                  </a:cxnLst>
                  <a:pathLst>
                    <a:path w="227" h="390">
                      <a:moveTo>
                        <a:pt x="227" y="367"/>
                      </a:moveTo>
                      <a:lnTo>
                        <a:pt x="44" y="0"/>
                      </a:lnTo>
                      <a:lnTo>
                        <a:pt x="0" y="20"/>
                      </a:lnTo>
                      <a:lnTo>
                        <a:pt x="181" y="390"/>
                      </a:lnTo>
                      <a:lnTo>
                        <a:pt x="227" y="367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799" name="Freeform 86"/>
                <p:cNvSpPr/>
                <p:nvPr/>
              </p:nvSpPr>
              <p:spPr>
                <a:xfrm>
                  <a:off x="2844" y="1785"/>
                  <a:ext cx="98" cy="76"/>
                </a:xfrm>
                <a:custGeom>
                  <a:avLst/>
                  <a:gdLst/>
                  <a:ahLst/>
                  <a:cxnLst>
                    <a:cxn ang="0">
                      <a:pos x="36" y="0"/>
                    </a:cxn>
                    <a:cxn ang="0">
                      <a:pos x="49" y="29"/>
                    </a:cxn>
                    <a:cxn ang="0">
                      <a:pos x="30" y="38"/>
                    </a:cxn>
                    <a:cxn ang="0">
                      <a:pos x="0" y="18"/>
                    </a:cxn>
                    <a:cxn ang="0">
                      <a:pos x="36" y="0"/>
                    </a:cxn>
                  </a:cxnLst>
                  <a:pathLst>
                    <a:path w="196" h="152">
                      <a:moveTo>
                        <a:pt x="141" y="0"/>
                      </a:moveTo>
                      <a:lnTo>
                        <a:pt x="196" y="113"/>
                      </a:lnTo>
                      <a:lnTo>
                        <a:pt x="118" y="152"/>
                      </a:lnTo>
                      <a:lnTo>
                        <a:pt x="0" y="69"/>
                      </a:lnTo>
                      <a:lnTo>
                        <a:pt x="141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0" name="Freeform 87"/>
                <p:cNvSpPr/>
                <p:nvPr/>
              </p:nvSpPr>
              <p:spPr>
                <a:xfrm>
                  <a:off x="2770" y="1832"/>
                  <a:ext cx="63" cy="161"/>
                </a:xfrm>
                <a:custGeom>
                  <a:avLst/>
                  <a:gdLst/>
                  <a:ahLst/>
                  <a:cxnLst>
                    <a:cxn ang="0">
                      <a:pos x="32" y="81"/>
                    </a:cxn>
                    <a:cxn ang="0">
                      <a:pos x="0" y="12"/>
                    </a:cxn>
                    <a:cxn ang="0">
                      <a:pos x="26" y="0"/>
                    </a:cxn>
                    <a:cxn ang="0">
                      <a:pos x="32" y="81"/>
                    </a:cxn>
                  </a:cxnLst>
                  <a:pathLst>
                    <a:path w="124" h="321">
                      <a:moveTo>
                        <a:pt x="124" y="321"/>
                      </a:moveTo>
                      <a:lnTo>
                        <a:pt x="0" y="48"/>
                      </a:lnTo>
                      <a:lnTo>
                        <a:pt x="100" y="0"/>
                      </a:lnTo>
                      <a:lnTo>
                        <a:pt x="124" y="321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1" name="Freeform 88"/>
                <p:cNvSpPr/>
                <p:nvPr/>
              </p:nvSpPr>
              <p:spPr>
                <a:xfrm>
                  <a:off x="2689" y="1973"/>
                  <a:ext cx="125" cy="74"/>
                </a:xfrm>
                <a:custGeom>
                  <a:avLst/>
                  <a:gdLst/>
                  <a:ahLst/>
                  <a:cxnLst>
                    <a:cxn ang="0">
                      <a:pos x="63" y="7"/>
                    </a:cxn>
                    <a:cxn ang="0">
                      <a:pos x="0" y="37"/>
                    </a:cxn>
                    <a:cxn ang="0">
                      <a:pos x="5" y="26"/>
                    </a:cxn>
                    <a:cxn ang="0">
                      <a:pos x="59" y="0"/>
                    </a:cxn>
                    <a:cxn ang="0">
                      <a:pos x="63" y="7"/>
                    </a:cxn>
                  </a:cxnLst>
                  <a:pathLst>
                    <a:path w="249" h="149">
                      <a:moveTo>
                        <a:pt x="249" y="29"/>
                      </a:moveTo>
                      <a:lnTo>
                        <a:pt x="0" y="149"/>
                      </a:lnTo>
                      <a:lnTo>
                        <a:pt x="17" y="105"/>
                      </a:lnTo>
                      <a:lnTo>
                        <a:pt x="233" y="0"/>
                      </a:lnTo>
                      <a:lnTo>
                        <a:pt x="249" y="29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2" name="Freeform 89"/>
                <p:cNvSpPr/>
                <p:nvPr/>
              </p:nvSpPr>
              <p:spPr>
                <a:xfrm>
                  <a:off x="2709" y="1947"/>
                  <a:ext cx="93" cy="59"/>
                </a:xfrm>
                <a:custGeom>
                  <a:avLst/>
                  <a:gdLst/>
                  <a:ahLst/>
                  <a:cxnLst>
                    <a:cxn ang="0">
                      <a:pos x="47" y="7"/>
                    </a:cxn>
                    <a:cxn ang="0">
                      <a:pos x="44" y="0"/>
                    </a:cxn>
                    <a:cxn ang="0">
                      <a:pos x="4" y="19"/>
                    </a:cxn>
                    <a:cxn ang="0">
                      <a:pos x="0" y="30"/>
                    </a:cxn>
                    <a:cxn ang="0">
                      <a:pos x="47" y="7"/>
                    </a:cxn>
                  </a:cxnLst>
                  <a:pathLst>
                    <a:path w="186" h="117">
                      <a:moveTo>
                        <a:pt x="186" y="27"/>
                      </a:moveTo>
                      <a:lnTo>
                        <a:pt x="173" y="0"/>
                      </a:lnTo>
                      <a:lnTo>
                        <a:pt x="16" y="74"/>
                      </a:lnTo>
                      <a:lnTo>
                        <a:pt x="0" y="117"/>
                      </a:lnTo>
                      <a:lnTo>
                        <a:pt x="186" y="27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3" name="Freeform 90"/>
                <p:cNvSpPr/>
                <p:nvPr/>
              </p:nvSpPr>
              <p:spPr>
                <a:xfrm>
                  <a:off x="2723" y="1916"/>
                  <a:ext cx="66" cy="47"/>
                </a:xfrm>
                <a:custGeom>
                  <a:avLst/>
                  <a:gdLst/>
                  <a:ahLst/>
                  <a:cxnLst>
                    <a:cxn ang="0">
                      <a:pos x="33" y="8"/>
                    </a:cxn>
                    <a:cxn ang="0">
                      <a:pos x="29" y="0"/>
                    </a:cxn>
                    <a:cxn ang="0">
                      <a:pos x="5" y="11"/>
                    </a:cxn>
                    <a:cxn ang="0">
                      <a:pos x="0" y="23"/>
                    </a:cxn>
                    <a:cxn ang="0">
                      <a:pos x="33" y="8"/>
                    </a:cxn>
                  </a:cxnLst>
                  <a:pathLst>
                    <a:path w="131" h="95">
                      <a:moveTo>
                        <a:pt x="131" y="33"/>
                      </a:moveTo>
                      <a:lnTo>
                        <a:pt x="115" y="0"/>
                      </a:lnTo>
                      <a:lnTo>
                        <a:pt x="18" y="47"/>
                      </a:lnTo>
                      <a:lnTo>
                        <a:pt x="0" y="95"/>
                      </a:lnTo>
                      <a:lnTo>
                        <a:pt x="131" y="33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4" name="Freeform 91"/>
                <p:cNvSpPr/>
                <p:nvPr/>
              </p:nvSpPr>
              <p:spPr>
                <a:xfrm>
                  <a:off x="2740" y="1874"/>
                  <a:ext cx="33" cy="43"/>
                </a:xfrm>
                <a:custGeom>
                  <a:avLst/>
                  <a:gdLst/>
                  <a:ahLst/>
                  <a:cxnLst>
                    <a:cxn ang="0">
                      <a:pos x="16" y="13"/>
                    </a:cxn>
                    <a:cxn ang="0">
                      <a:pos x="0" y="21"/>
                    </a:cxn>
                    <a:cxn ang="0">
                      <a:pos x="6" y="2"/>
                    </a:cxn>
                    <a:cxn ang="0">
                      <a:pos x="10" y="0"/>
                    </a:cxn>
                    <a:cxn ang="0">
                      <a:pos x="16" y="13"/>
                    </a:cxn>
                  </a:cxnLst>
                  <a:pathLst>
                    <a:path w="68" h="87">
                      <a:moveTo>
                        <a:pt x="68" y="54"/>
                      </a:moveTo>
                      <a:lnTo>
                        <a:pt x="0" y="87"/>
                      </a:lnTo>
                      <a:lnTo>
                        <a:pt x="24" y="9"/>
                      </a:lnTo>
                      <a:lnTo>
                        <a:pt x="42" y="0"/>
                      </a:lnTo>
                      <a:lnTo>
                        <a:pt x="68" y="54"/>
                      </a:lnTo>
                      <a:close/>
                    </a:path>
                  </a:pathLst>
                </a:custGeom>
                <a:solidFill>
                  <a:srgbClr val="FFFF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5" name="Freeform 92"/>
                <p:cNvSpPr/>
                <p:nvPr/>
              </p:nvSpPr>
              <p:spPr>
                <a:xfrm>
                  <a:off x="2884" y="2275"/>
                  <a:ext cx="77" cy="29"/>
                </a:xfrm>
                <a:custGeom>
                  <a:avLst/>
                  <a:gdLst/>
                  <a:ahLst/>
                  <a:cxnLst>
                    <a:cxn ang="0">
                      <a:pos x="39" y="8"/>
                    </a:cxn>
                    <a:cxn ang="0">
                      <a:pos x="14" y="0"/>
                    </a:cxn>
                    <a:cxn ang="0">
                      <a:pos x="0" y="6"/>
                    </a:cxn>
                    <a:cxn ang="0">
                      <a:pos x="24" y="15"/>
                    </a:cxn>
                    <a:cxn ang="0">
                      <a:pos x="39" y="8"/>
                    </a:cxn>
                  </a:cxnLst>
                  <a:pathLst>
                    <a:path w="154" h="57">
                      <a:moveTo>
                        <a:pt x="154" y="30"/>
                      </a:moveTo>
                      <a:lnTo>
                        <a:pt x="53" y="0"/>
                      </a:lnTo>
                      <a:lnTo>
                        <a:pt x="0" y="23"/>
                      </a:lnTo>
                      <a:lnTo>
                        <a:pt x="93" y="57"/>
                      </a:lnTo>
                      <a:lnTo>
                        <a:pt x="154" y="3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6" name="Freeform 93"/>
                <p:cNvSpPr/>
                <p:nvPr/>
              </p:nvSpPr>
              <p:spPr>
                <a:xfrm>
                  <a:off x="2831" y="2301"/>
                  <a:ext cx="76" cy="28"/>
                </a:xfrm>
                <a:custGeom>
                  <a:avLst/>
                  <a:gdLst/>
                  <a:ahLst/>
                  <a:cxnLst>
                    <a:cxn ang="0">
                      <a:pos x="38" y="7"/>
                    </a:cxn>
                    <a:cxn ang="0">
                      <a:pos x="13" y="0"/>
                    </a:cxn>
                    <a:cxn ang="0">
                      <a:pos x="0" y="5"/>
                    </a:cxn>
                    <a:cxn ang="0">
                      <a:pos x="23" y="14"/>
                    </a:cxn>
                    <a:cxn ang="0">
                      <a:pos x="38" y="7"/>
                    </a:cxn>
                  </a:cxnLst>
                  <a:pathLst>
                    <a:path w="151" h="58">
                      <a:moveTo>
                        <a:pt x="151" y="31"/>
                      </a:moveTo>
                      <a:lnTo>
                        <a:pt x="51" y="0"/>
                      </a:lnTo>
                      <a:lnTo>
                        <a:pt x="0" y="23"/>
                      </a:lnTo>
                      <a:lnTo>
                        <a:pt x="91" y="58"/>
                      </a:lnTo>
                      <a:lnTo>
                        <a:pt x="151" y="31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7" name="Freeform 94"/>
                <p:cNvSpPr/>
                <p:nvPr/>
              </p:nvSpPr>
              <p:spPr>
                <a:xfrm>
                  <a:off x="2777" y="2327"/>
                  <a:ext cx="74" cy="29"/>
                </a:xfrm>
                <a:custGeom>
                  <a:avLst/>
                  <a:gdLst/>
                  <a:ahLst/>
                  <a:cxnLst>
                    <a:cxn ang="0">
                      <a:pos x="37" y="8"/>
                    </a:cxn>
                    <a:cxn ang="0">
                      <a:pos x="12" y="0"/>
                    </a:cxn>
                    <a:cxn ang="0">
                      <a:pos x="0" y="6"/>
                    </a:cxn>
                    <a:cxn ang="0">
                      <a:pos x="23" y="15"/>
                    </a:cxn>
                    <a:cxn ang="0">
                      <a:pos x="37" y="8"/>
                    </a:cxn>
                  </a:cxnLst>
                  <a:pathLst>
                    <a:path w="149" h="57">
                      <a:moveTo>
                        <a:pt x="149" y="30"/>
                      </a:moveTo>
                      <a:lnTo>
                        <a:pt x="51" y="0"/>
                      </a:lnTo>
                      <a:lnTo>
                        <a:pt x="0" y="23"/>
                      </a:lnTo>
                      <a:lnTo>
                        <a:pt x="93" y="57"/>
                      </a:lnTo>
                      <a:lnTo>
                        <a:pt x="149" y="3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8" name="Freeform 95"/>
                <p:cNvSpPr/>
                <p:nvPr/>
              </p:nvSpPr>
              <p:spPr>
                <a:xfrm>
                  <a:off x="2743" y="2362"/>
                  <a:ext cx="43" cy="25"/>
                </a:xfrm>
                <a:custGeom>
                  <a:avLst/>
                  <a:gdLst/>
                  <a:ahLst/>
                  <a:cxnLst>
                    <a:cxn ang="0">
                      <a:pos x="22" y="6"/>
                    </a:cxn>
                    <a:cxn ang="0">
                      <a:pos x="3" y="0"/>
                    </a:cxn>
                    <a:cxn ang="0">
                      <a:pos x="0" y="9"/>
                    </a:cxn>
                    <a:cxn ang="0">
                      <a:pos x="9" y="12"/>
                    </a:cxn>
                    <a:cxn ang="0">
                      <a:pos x="22" y="6"/>
                    </a:cxn>
                  </a:cxnLst>
                  <a:pathLst>
                    <a:path w="86" h="51">
                      <a:moveTo>
                        <a:pt x="86" y="27"/>
                      </a:moveTo>
                      <a:lnTo>
                        <a:pt x="11" y="0"/>
                      </a:lnTo>
                      <a:lnTo>
                        <a:pt x="0" y="37"/>
                      </a:lnTo>
                      <a:lnTo>
                        <a:pt x="33" y="51"/>
                      </a:lnTo>
                      <a:lnTo>
                        <a:pt x="86" y="27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09" name="Freeform 96"/>
                <p:cNvSpPr/>
                <p:nvPr/>
              </p:nvSpPr>
              <p:spPr>
                <a:xfrm>
                  <a:off x="2630" y="2178"/>
                  <a:ext cx="141" cy="141"/>
                </a:xfrm>
                <a:custGeom>
                  <a:avLst/>
                  <a:gdLst/>
                  <a:ahLst/>
                  <a:cxnLst>
                    <a:cxn ang="0">
                      <a:pos x="64" y="71"/>
                    </a:cxn>
                    <a:cxn ang="0">
                      <a:pos x="35" y="10"/>
                    </a:cxn>
                    <a:cxn ang="0">
                      <a:pos x="26" y="7"/>
                    </a:cxn>
                    <a:cxn ang="0">
                      <a:pos x="3" y="17"/>
                    </a:cxn>
                    <a:cxn ang="0">
                      <a:pos x="0" y="13"/>
                    </a:cxn>
                    <a:cxn ang="0">
                      <a:pos x="28" y="0"/>
                    </a:cxn>
                    <a:cxn ang="0">
                      <a:pos x="37" y="1"/>
                    </a:cxn>
                    <a:cxn ang="0">
                      <a:pos x="70" y="68"/>
                    </a:cxn>
                    <a:cxn ang="0">
                      <a:pos x="64" y="71"/>
                    </a:cxn>
                  </a:cxnLst>
                  <a:pathLst>
                    <a:path w="283" h="281">
                      <a:moveTo>
                        <a:pt x="257" y="281"/>
                      </a:moveTo>
                      <a:lnTo>
                        <a:pt x="140" y="38"/>
                      </a:lnTo>
                      <a:lnTo>
                        <a:pt x="107" y="27"/>
                      </a:lnTo>
                      <a:lnTo>
                        <a:pt x="14" y="67"/>
                      </a:lnTo>
                      <a:lnTo>
                        <a:pt x="0" y="51"/>
                      </a:lnTo>
                      <a:lnTo>
                        <a:pt x="113" y="0"/>
                      </a:lnTo>
                      <a:lnTo>
                        <a:pt x="150" y="1"/>
                      </a:lnTo>
                      <a:lnTo>
                        <a:pt x="283" y="270"/>
                      </a:lnTo>
                      <a:lnTo>
                        <a:pt x="257" y="281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10" name="Freeform 97"/>
                <p:cNvSpPr/>
                <p:nvPr/>
              </p:nvSpPr>
              <p:spPr>
                <a:xfrm>
                  <a:off x="2618" y="2148"/>
                  <a:ext cx="182" cy="154"/>
                </a:xfrm>
                <a:custGeom>
                  <a:avLst/>
                  <a:gdLst/>
                  <a:ahLst/>
                  <a:cxnLst>
                    <a:cxn ang="0">
                      <a:pos x="85" y="77"/>
                    </a:cxn>
                    <a:cxn ang="0">
                      <a:pos x="50" y="9"/>
                    </a:cxn>
                    <a:cxn ang="0">
                      <a:pos x="38" y="7"/>
                    </a:cxn>
                    <a:cxn ang="0">
                      <a:pos x="4" y="23"/>
                    </a:cxn>
                    <a:cxn ang="0">
                      <a:pos x="0" y="19"/>
                    </a:cxn>
                    <a:cxn ang="0">
                      <a:pos x="43" y="0"/>
                    </a:cxn>
                    <a:cxn ang="0">
                      <a:pos x="55" y="4"/>
                    </a:cxn>
                    <a:cxn ang="0">
                      <a:pos x="91" y="74"/>
                    </a:cxn>
                    <a:cxn ang="0">
                      <a:pos x="85" y="77"/>
                    </a:cxn>
                  </a:cxnLst>
                  <a:pathLst>
                    <a:path w="364" h="308">
                      <a:moveTo>
                        <a:pt x="337" y="308"/>
                      </a:moveTo>
                      <a:lnTo>
                        <a:pt x="197" y="34"/>
                      </a:lnTo>
                      <a:lnTo>
                        <a:pt x="151" y="27"/>
                      </a:lnTo>
                      <a:lnTo>
                        <a:pt x="15" y="92"/>
                      </a:lnTo>
                      <a:lnTo>
                        <a:pt x="0" y="76"/>
                      </a:lnTo>
                      <a:lnTo>
                        <a:pt x="169" y="0"/>
                      </a:lnTo>
                      <a:lnTo>
                        <a:pt x="217" y="15"/>
                      </a:lnTo>
                      <a:lnTo>
                        <a:pt x="364" y="294"/>
                      </a:lnTo>
                      <a:lnTo>
                        <a:pt x="337" y="30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7938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811" name="Line 98"/>
                <p:cNvSpPr/>
                <p:nvPr/>
              </p:nvSpPr>
              <p:spPr>
                <a:xfrm flipH="1">
                  <a:off x="2855" y="2204"/>
                  <a:ext cx="48" cy="22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12" name="Line 99"/>
                <p:cNvSpPr/>
                <p:nvPr/>
              </p:nvSpPr>
              <p:spPr>
                <a:xfrm flipH="1">
                  <a:off x="2790" y="2214"/>
                  <a:ext cx="44" cy="21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13" name="Line 100"/>
                <p:cNvSpPr/>
                <p:nvPr/>
              </p:nvSpPr>
              <p:spPr>
                <a:xfrm flipH="1" flipV="1">
                  <a:off x="2825" y="2166"/>
                  <a:ext cx="25" cy="47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14" name="Line 101"/>
                <p:cNvSpPr/>
                <p:nvPr/>
              </p:nvSpPr>
              <p:spPr>
                <a:xfrm flipH="1">
                  <a:off x="2809" y="2159"/>
                  <a:ext cx="28" cy="14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15" name="Line 102"/>
                <p:cNvSpPr/>
                <p:nvPr/>
              </p:nvSpPr>
              <p:spPr>
                <a:xfrm flipH="1">
                  <a:off x="2792" y="2133"/>
                  <a:ext cx="33" cy="18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16" name="Line 103"/>
                <p:cNvSpPr/>
                <p:nvPr/>
              </p:nvSpPr>
              <p:spPr>
                <a:xfrm flipH="1">
                  <a:off x="2847" y="2190"/>
                  <a:ext cx="39" cy="20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17" name="Line 104"/>
                <p:cNvSpPr/>
                <p:nvPr/>
              </p:nvSpPr>
              <p:spPr>
                <a:xfrm flipH="1">
                  <a:off x="2798" y="2231"/>
                  <a:ext cx="49" cy="22"/>
                </a:xfrm>
                <a:prstGeom prst="line">
                  <a:avLst/>
                </a:prstGeom>
                <a:ln w="7938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766" name="Freeform 105"/>
              <p:cNvSpPr/>
              <p:nvPr/>
            </p:nvSpPr>
            <p:spPr>
              <a:xfrm>
                <a:off x="2190" y="1323"/>
                <a:ext cx="978" cy="1155"/>
              </a:xfrm>
              <a:custGeom>
                <a:avLst/>
                <a:gdLst/>
                <a:ahLst/>
                <a:cxnLst>
                  <a:cxn ang="0">
                    <a:pos x="0" y="138"/>
                  </a:cxn>
                  <a:cxn ang="0">
                    <a:pos x="274" y="0"/>
                  </a:cxn>
                  <a:cxn ang="0">
                    <a:pos x="489" y="443"/>
                  </a:cxn>
                  <a:cxn ang="0">
                    <a:pos x="219" y="578"/>
                  </a:cxn>
                  <a:cxn ang="0">
                    <a:pos x="0" y="138"/>
                  </a:cxn>
                </a:cxnLst>
                <a:pathLst>
                  <a:path w="1957" h="2308">
                    <a:moveTo>
                      <a:pt x="0" y="549"/>
                    </a:moveTo>
                    <a:lnTo>
                      <a:pt x="1099" y="0"/>
                    </a:lnTo>
                    <a:lnTo>
                      <a:pt x="1957" y="1770"/>
                    </a:lnTo>
                    <a:lnTo>
                      <a:pt x="879" y="2308"/>
                    </a:lnTo>
                    <a:lnTo>
                      <a:pt x="0" y="549"/>
                    </a:lnTo>
                    <a:close/>
                  </a:path>
                </a:pathLst>
              </a:custGeom>
              <a:noFill/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767" name="Freeform 106"/>
              <p:cNvSpPr/>
              <p:nvPr/>
            </p:nvSpPr>
            <p:spPr>
              <a:xfrm>
                <a:off x="2286" y="1574"/>
                <a:ext cx="114" cy="19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3"/>
                  </a:cxn>
                  <a:cxn ang="0">
                    <a:pos x="57" y="99"/>
                  </a:cxn>
                  <a:cxn ang="0">
                    <a:pos x="56" y="33"/>
                  </a:cxn>
                  <a:cxn ang="0">
                    <a:pos x="2" y="0"/>
                  </a:cxn>
                </a:cxnLst>
                <a:pathLst>
                  <a:path w="227" h="399">
                    <a:moveTo>
                      <a:pt x="7" y="0"/>
                    </a:moveTo>
                    <a:lnTo>
                      <a:pt x="0" y="254"/>
                    </a:lnTo>
                    <a:lnTo>
                      <a:pt x="227" y="399"/>
                    </a:lnTo>
                    <a:lnTo>
                      <a:pt x="224" y="13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768" name="Freeform 107"/>
              <p:cNvSpPr/>
              <p:nvPr/>
            </p:nvSpPr>
            <p:spPr>
              <a:xfrm>
                <a:off x="2968" y="2030"/>
                <a:ext cx="113" cy="20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4"/>
                  </a:cxn>
                  <a:cxn ang="0">
                    <a:pos x="56" y="100"/>
                  </a:cxn>
                  <a:cxn ang="0">
                    <a:pos x="56" y="34"/>
                  </a:cxn>
                  <a:cxn ang="0">
                    <a:pos x="1" y="0"/>
                  </a:cxn>
                </a:cxnLst>
                <a:pathLst>
                  <a:path w="227" h="399">
                    <a:moveTo>
                      <a:pt x="7" y="0"/>
                    </a:moveTo>
                    <a:lnTo>
                      <a:pt x="0" y="254"/>
                    </a:lnTo>
                    <a:lnTo>
                      <a:pt x="227" y="399"/>
                    </a:lnTo>
                    <a:lnTo>
                      <a:pt x="224" y="13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769" name="Freeform 108"/>
              <p:cNvSpPr/>
              <p:nvPr/>
            </p:nvSpPr>
            <p:spPr>
              <a:xfrm>
                <a:off x="3193" y="2096"/>
                <a:ext cx="80" cy="13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44"/>
                  </a:cxn>
                  <a:cxn ang="0">
                    <a:pos x="39" y="70"/>
                  </a:cxn>
                  <a:cxn ang="0">
                    <a:pos x="40" y="22"/>
                  </a:cxn>
                  <a:cxn ang="0">
                    <a:pos x="5" y="0"/>
                  </a:cxn>
                </a:cxnLst>
                <a:pathLst>
                  <a:path w="160" h="278">
                    <a:moveTo>
                      <a:pt x="20" y="0"/>
                    </a:moveTo>
                    <a:lnTo>
                      <a:pt x="0" y="175"/>
                    </a:lnTo>
                    <a:lnTo>
                      <a:pt x="155" y="278"/>
                    </a:lnTo>
                    <a:lnTo>
                      <a:pt x="160" y="8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770" name="Freeform 109"/>
              <p:cNvSpPr/>
              <p:nvPr/>
            </p:nvSpPr>
            <p:spPr>
              <a:xfrm>
                <a:off x="3259" y="2264"/>
                <a:ext cx="82" cy="156"/>
              </a:xfrm>
              <a:custGeom>
                <a:avLst/>
                <a:gdLst/>
                <a:ahLst/>
                <a:cxnLst>
                  <a:cxn ang="0">
                    <a:pos x="40" y="71"/>
                  </a:cxn>
                  <a:cxn ang="0">
                    <a:pos x="29" y="78"/>
                  </a:cxn>
                  <a:cxn ang="0">
                    <a:pos x="0" y="22"/>
                  </a:cxn>
                  <a:cxn ang="0">
                    <a:pos x="6" y="8"/>
                  </a:cxn>
                  <a:cxn ang="0">
                    <a:pos x="20" y="0"/>
                  </a:cxn>
                  <a:cxn ang="0">
                    <a:pos x="35" y="6"/>
                  </a:cxn>
                  <a:cxn ang="0">
                    <a:pos x="41" y="23"/>
                  </a:cxn>
                  <a:cxn ang="0">
                    <a:pos x="30" y="29"/>
                  </a:cxn>
                  <a:cxn ang="0">
                    <a:pos x="23" y="16"/>
                  </a:cxn>
                  <a:cxn ang="0">
                    <a:pos x="15" y="20"/>
                  </a:cxn>
                  <a:cxn ang="0">
                    <a:pos x="40" y="71"/>
                  </a:cxn>
                </a:cxnLst>
                <a:pathLst>
                  <a:path w="164" h="311">
                    <a:moveTo>
                      <a:pt x="157" y="283"/>
                    </a:moveTo>
                    <a:lnTo>
                      <a:pt x="113" y="311"/>
                    </a:lnTo>
                    <a:lnTo>
                      <a:pt x="0" y="88"/>
                    </a:lnTo>
                    <a:lnTo>
                      <a:pt x="23" y="30"/>
                    </a:lnTo>
                    <a:lnTo>
                      <a:pt x="78" y="0"/>
                    </a:lnTo>
                    <a:lnTo>
                      <a:pt x="138" y="22"/>
                    </a:lnTo>
                    <a:lnTo>
                      <a:pt x="164" y="91"/>
                    </a:lnTo>
                    <a:lnTo>
                      <a:pt x="119" y="115"/>
                    </a:lnTo>
                    <a:lnTo>
                      <a:pt x="90" y="63"/>
                    </a:lnTo>
                    <a:lnTo>
                      <a:pt x="58" y="80"/>
                    </a:lnTo>
                    <a:lnTo>
                      <a:pt x="157" y="283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6" name="Group 110"/>
          <p:cNvGrpSpPr/>
          <p:nvPr/>
        </p:nvGrpSpPr>
        <p:grpSpPr>
          <a:xfrm rot="1111198">
            <a:off x="3276600" y="3200400"/>
            <a:ext cx="1916113" cy="2603500"/>
            <a:chOff x="2585" y="981"/>
            <a:chExt cx="1207" cy="1640"/>
          </a:xfrm>
        </p:grpSpPr>
        <p:sp>
          <p:nvSpPr>
            <p:cNvPr id="7686" name="Freeform 111"/>
            <p:cNvSpPr/>
            <p:nvPr/>
          </p:nvSpPr>
          <p:spPr>
            <a:xfrm>
              <a:off x="2585" y="981"/>
              <a:ext cx="1207" cy="1640"/>
            </a:xfrm>
            <a:custGeom>
              <a:avLst/>
              <a:gdLst/>
              <a:ahLst/>
              <a:cxnLst>
                <a:cxn ang="0">
                  <a:pos x="10" y="79"/>
                </a:cxn>
                <a:cxn ang="0">
                  <a:pos x="22" y="67"/>
                </a:cxn>
                <a:cxn ang="0">
                  <a:pos x="37" y="62"/>
                </a:cxn>
                <a:cxn ang="0">
                  <a:pos x="461" y="0"/>
                </a:cxn>
                <a:cxn ang="0">
                  <a:pos x="478" y="9"/>
                </a:cxn>
                <a:cxn ang="0">
                  <a:pos x="491" y="19"/>
                </a:cxn>
                <a:cxn ang="0">
                  <a:pos x="499" y="43"/>
                </a:cxn>
                <a:cxn ang="0">
                  <a:pos x="603" y="724"/>
                </a:cxn>
                <a:cxn ang="0">
                  <a:pos x="603" y="740"/>
                </a:cxn>
                <a:cxn ang="0">
                  <a:pos x="596" y="755"/>
                </a:cxn>
                <a:cxn ang="0">
                  <a:pos x="579" y="762"/>
                </a:cxn>
                <a:cxn ang="0">
                  <a:pos x="559" y="768"/>
                </a:cxn>
                <a:cxn ang="0">
                  <a:pos x="162" y="820"/>
                </a:cxn>
                <a:cxn ang="0">
                  <a:pos x="136" y="820"/>
                </a:cxn>
                <a:cxn ang="0">
                  <a:pos x="114" y="809"/>
                </a:cxn>
                <a:cxn ang="0">
                  <a:pos x="107" y="787"/>
                </a:cxn>
                <a:cxn ang="0">
                  <a:pos x="0" y="105"/>
                </a:cxn>
                <a:cxn ang="0">
                  <a:pos x="2" y="90"/>
                </a:cxn>
                <a:cxn ang="0">
                  <a:pos x="10" y="79"/>
                </a:cxn>
              </a:cxnLst>
              <a:pathLst>
                <a:path w="2416" h="3279">
                  <a:moveTo>
                    <a:pt x="41" y="316"/>
                  </a:moveTo>
                  <a:lnTo>
                    <a:pt x="88" y="266"/>
                  </a:lnTo>
                  <a:lnTo>
                    <a:pt x="150" y="245"/>
                  </a:lnTo>
                  <a:lnTo>
                    <a:pt x="1848" y="0"/>
                  </a:lnTo>
                  <a:lnTo>
                    <a:pt x="1914" y="33"/>
                  </a:lnTo>
                  <a:lnTo>
                    <a:pt x="1967" y="75"/>
                  </a:lnTo>
                  <a:lnTo>
                    <a:pt x="1997" y="169"/>
                  </a:lnTo>
                  <a:lnTo>
                    <a:pt x="2416" y="2894"/>
                  </a:lnTo>
                  <a:lnTo>
                    <a:pt x="2416" y="2960"/>
                  </a:lnTo>
                  <a:lnTo>
                    <a:pt x="2387" y="3017"/>
                  </a:lnTo>
                  <a:lnTo>
                    <a:pt x="2317" y="3048"/>
                  </a:lnTo>
                  <a:lnTo>
                    <a:pt x="2240" y="3070"/>
                  </a:lnTo>
                  <a:lnTo>
                    <a:pt x="648" y="3278"/>
                  </a:lnTo>
                  <a:lnTo>
                    <a:pt x="547" y="3279"/>
                  </a:lnTo>
                  <a:lnTo>
                    <a:pt x="457" y="3234"/>
                  </a:lnTo>
                  <a:lnTo>
                    <a:pt x="430" y="3146"/>
                  </a:lnTo>
                  <a:lnTo>
                    <a:pt x="0" y="420"/>
                  </a:lnTo>
                  <a:lnTo>
                    <a:pt x="10" y="359"/>
                  </a:lnTo>
                  <a:lnTo>
                    <a:pt x="41" y="3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317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7687" name="Group 112"/>
            <p:cNvGrpSpPr/>
            <p:nvPr/>
          </p:nvGrpSpPr>
          <p:grpSpPr>
            <a:xfrm>
              <a:off x="2643" y="1154"/>
              <a:ext cx="1111" cy="1316"/>
              <a:chOff x="2643" y="1154"/>
              <a:chExt cx="1111" cy="1316"/>
            </a:xfrm>
          </p:grpSpPr>
          <p:sp>
            <p:nvSpPr>
              <p:cNvPr id="7688" name="Freeform 113"/>
              <p:cNvSpPr/>
              <p:nvPr/>
            </p:nvSpPr>
            <p:spPr>
              <a:xfrm>
                <a:off x="2643" y="1154"/>
                <a:ext cx="107" cy="151"/>
              </a:xfrm>
              <a:custGeom>
                <a:avLst/>
                <a:gdLst/>
                <a:ahLst/>
                <a:cxnLst>
                  <a:cxn ang="0">
                    <a:pos x="13" y="3"/>
                  </a:cxn>
                  <a:cxn ang="0">
                    <a:pos x="0" y="5"/>
                  </a:cxn>
                  <a:cxn ang="0">
                    <a:pos x="7" y="75"/>
                  </a:cxn>
                  <a:cxn ang="0">
                    <a:pos x="22" y="71"/>
                  </a:cxn>
                  <a:cxn ang="0">
                    <a:pos x="19" y="46"/>
                  </a:cxn>
                  <a:cxn ang="0">
                    <a:pos x="34" y="67"/>
                  </a:cxn>
                  <a:cxn ang="0">
                    <a:pos x="53" y="65"/>
                  </a:cxn>
                  <a:cxn ang="0">
                    <a:pos x="31" y="35"/>
                  </a:cxn>
                  <a:cxn ang="0">
                    <a:pos x="42" y="0"/>
                  </a:cxn>
                  <a:cxn ang="0">
                    <a:pos x="25" y="2"/>
                  </a:cxn>
                  <a:cxn ang="0">
                    <a:pos x="18" y="30"/>
                  </a:cxn>
                  <a:cxn ang="0">
                    <a:pos x="13" y="3"/>
                  </a:cxn>
                </a:cxnLst>
                <a:pathLst>
                  <a:path w="215" h="303">
                    <a:moveTo>
                      <a:pt x="53" y="15"/>
                    </a:moveTo>
                    <a:lnTo>
                      <a:pt x="0" y="20"/>
                    </a:lnTo>
                    <a:lnTo>
                      <a:pt x="30" y="303"/>
                    </a:lnTo>
                    <a:lnTo>
                      <a:pt x="91" y="286"/>
                    </a:lnTo>
                    <a:lnTo>
                      <a:pt x="78" y="187"/>
                    </a:lnTo>
                    <a:lnTo>
                      <a:pt x="136" y="270"/>
                    </a:lnTo>
                    <a:lnTo>
                      <a:pt x="215" y="260"/>
                    </a:lnTo>
                    <a:lnTo>
                      <a:pt x="125" y="143"/>
                    </a:lnTo>
                    <a:lnTo>
                      <a:pt x="168" y="0"/>
                    </a:lnTo>
                    <a:lnTo>
                      <a:pt x="102" y="8"/>
                    </a:lnTo>
                    <a:lnTo>
                      <a:pt x="72" y="121"/>
                    </a:lnTo>
                    <a:lnTo>
                      <a:pt x="53" y="15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689" name="Freeform 114"/>
              <p:cNvSpPr/>
              <p:nvPr/>
            </p:nvSpPr>
            <p:spPr>
              <a:xfrm>
                <a:off x="3654" y="2341"/>
                <a:ext cx="100" cy="129"/>
              </a:xfrm>
              <a:custGeom>
                <a:avLst/>
                <a:gdLst/>
                <a:ahLst/>
                <a:cxnLst>
                  <a:cxn ang="0">
                    <a:pos x="37" y="61"/>
                  </a:cxn>
                  <a:cxn ang="0">
                    <a:pos x="50" y="60"/>
                  </a:cxn>
                  <a:cxn ang="0">
                    <a:pos x="43" y="0"/>
                  </a:cxn>
                  <a:cxn ang="0">
                    <a:pos x="28" y="2"/>
                  </a:cxn>
                  <a:cxn ang="0">
                    <a:pos x="31" y="22"/>
                  </a:cxn>
                  <a:cxn ang="0">
                    <a:pos x="17" y="4"/>
                  </a:cxn>
                  <a:cxn ang="0">
                    <a:pos x="0" y="6"/>
                  </a:cxn>
                  <a:cxn ang="0">
                    <a:pos x="20" y="32"/>
                  </a:cxn>
                  <a:cxn ang="0">
                    <a:pos x="9" y="64"/>
                  </a:cxn>
                  <a:cxn ang="0">
                    <a:pos x="26" y="63"/>
                  </a:cxn>
                  <a:cxn ang="0">
                    <a:pos x="33" y="37"/>
                  </a:cxn>
                  <a:cxn ang="0">
                    <a:pos x="37" y="61"/>
                  </a:cxn>
                </a:cxnLst>
                <a:pathLst>
                  <a:path w="200" h="259">
                    <a:moveTo>
                      <a:pt x="148" y="245"/>
                    </a:moveTo>
                    <a:lnTo>
                      <a:pt x="200" y="242"/>
                    </a:lnTo>
                    <a:lnTo>
                      <a:pt x="171" y="0"/>
                    </a:lnTo>
                    <a:lnTo>
                      <a:pt x="111" y="8"/>
                    </a:lnTo>
                    <a:lnTo>
                      <a:pt x="123" y="91"/>
                    </a:lnTo>
                    <a:lnTo>
                      <a:pt x="67" y="16"/>
                    </a:lnTo>
                    <a:lnTo>
                      <a:pt x="0" y="25"/>
                    </a:lnTo>
                    <a:lnTo>
                      <a:pt x="77" y="130"/>
                    </a:lnTo>
                    <a:lnTo>
                      <a:pt x="35" y="259"/>
                    </a:lnTo>
                    <a:lnTo>
                      <a:pt x="101" y="253"/>
                    </a:lnTo>
                    <a:lnTo>
                      <a:pt x="129" y="150"/>
                    </a:lnTo>
                    <a:lnTo>
                      <a:pt x="148" y="245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690" name="Freeform 115"/>
              <p:cNvSpPr/>
              <p:nvPr/>
            </p:nvSpPr>
            <p:spPr>
              <a:xfrm>
                <a:off x="2659" y="1325"/>
                <a:ext cx="82" cy="153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47"/>
                  </a:cxn>
                  <a:cxn ang="0">
                    <a:pos x="31" y="77"/>
                  </a:cxn>
                  <a:cxn ang="0">
                    <a:pos x="41" y="33"/>
                  </a:cxn>
                  <a:cxn ang="0">
                    <a:pos x="12" y="0"/>
                  </a:cxn>
                </a:cxnLst>
                <a:pathLst>
                  <a:path w="165" h="306">
                    <a:moveTo>
                      <a:pt x="50" y="0"/>
                    </a:moveTo>
                    <a:lnTo>
                      <a:pt x="0" y="186"/>
                    </a:lnTo>
                    <a:lnTo>
                      <a:pt x="125" y="306"/>
                    </a:lnTo>
                    <a:lnTo>
                      <a:pt x="165" y="131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691" name="Freeform 116"/>
              <p:cNvSpPr/>
              <p:nvPr/>
            </p:nvSpPr>
            <p:spPr>
              <a:xfrm>
                <a:off x="3648" y="2175"/>
                <a:ext cx="82" cy="153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0" y="47"/>
                  </a:cxn>
                  <a:cxn ang="0">
                    <a:pos x="31" y="77"/>
                  </a:cxn>
                  <a:cxn ang="0">
                    <a:pos x="41" y="33"/>
                  </a:cxn>
                  <a:cxn ang="0">
                    <a:pos x="13" y="0"/>
                  </a:cxn>
                </a:cxnLst>
                <a:pathLst>
                  <a:path w="164" h="305">
                    <a:moveTo>
                      <a:pt x="50" y="0"/>
                    </a:moveTo>
                    <a:lnTo>
                      <a:pt x="0" y="185"/>
                    </a:lnTo>
                    <a:lnTo>
                      <a:pt x="124" y="305"/>
                    </a:lnTo>
                    <a:lnTo>
                      <a:pt x="164" y="13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692" name="Group 117"/>
              <p:cNvGrpSpPr/>
              <p:nvPr/>
            </p:nvGrpSpPr>
            <p:grpSpPr>
              <a:xfrm>
                <a:off x="2757" y="1226"/>
                <a:ext cx="877" cy="1180"/>
                <a:chOff x="2757" y="1226"/>
                <a:chExt cx="877" cy="1180"/>
              </a:xfrm>
            </p:grpSpPr>
            <p:sp>
              <p:nvSpPr>
                <p:cNvPr id="7693" name="Freeform 118"/>
                <p:cNvSpPr/>
                <p:nvPr/>
              </p:nvSpPr>
              <p:spPr>
                <a:xfrm>
                  <a:off x="2757" y="1226"/>
                  <a:ext cx="877" cy="1180"/>
                </a:xfrm>
                <a:custGeom>
                  <a:avLst/>
                  <a:gdLst/>
                  <a:ahLst/>
                  <a:cxnLst>
                    <a:cxn ang="0">
                      <a:pos x="0" y="52"/>
                    </a:cxn>
                    <a:cxn ang="0">
                      <a:pos x="354" y="0"/>
                    </a:cxn>
                    <a:cxn ang="0">
                      <a:pos x="439" y="546"/>
                    </a:cxn>
                    <a:cxn ang="0">
                      <a:pos x="90" y="590"/>
                    </a:cxn>
                    <a:cxn ang="0">
                      <a:pos x="0" y="52"/>
                    </a:cxn>
                  </a:cxnLst>
                  <a:pathLst>
                    <a:path w="1753" h="2359">
                      <a:moveTo>
                        <a:pt x="0" y="208"/>
                      </a:moveTo>
                      <a:lnTo>
                        <a:pt x="1414" y="0"/>
                      </a:lnTo>
                      <a:lnTo>
                        <a:pt x="1753" y="2182"/>
                      </a:lnTo>
                      <a:lnTo>
                        <a:pt x="357" y="2359"/>
                      </a:lnTo>
                      <a:lnTo>
                        <a:pt x="0" y="208"/>
                      </a:lnTo>
                      <a:close/>
                    </a:path>
                  </a:pathLst>
                </a:custGeom>
                <a:noFill/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694" name="Group 119"/>
                <p:cNvGrpSpPr/>
                <p:nvPr/>
              </p:nvGrpSpPr>
              <p:grpSpPr>
                <a:xfrm>
                  <a:off x="2823" y="1243"/>
                  <a:ext cx="718" cy="626"/>
                  <a:chOff x="2823" y="1243"/>
                  <a:chExt cx="718" cy="626"/>
                </a:xfrm>
              </p:grpSpPr>
              <p:sp>
                <p:nvSpPr>
                  <p:cNvPr id="7728" name="Freeform 120"/>
                  <p:cNvSpPr/>
                  <p:nvPr/>
                </p:nvSpPr>
                <p:spPr>
                  <a:xfrm>
                    <a:off x="2823" y="1345"/>
                    <a:ext cx="145" cy="257"/>
                  </a:xfrm>
                  <a:custGeom>
                    <a:avLst/>
                    <a:gdLst/>
                    <a:ahLst/>
                    <a:cxnLst>
                      <a:cxn ang="0">
                        <a:pos x="26" y="0"/>
                      </a:cxn>
                      <a:cxn ang="0">
                        <a:pos x="0" y="68"/>
                      </a:cxn>
                      <a:cxn ang="0">
                        <a:pos x="47" y="129"/>
                      </a:cxn>
                      <a:cxn ang="0">
                        <a:pos x="73" y="59"/>
                      </a:cxn>
                      <a:cxn ang="0">
                        <a:pos x="26" y="0"/>
                      </a:cxn>
                    </a:cxnLst>
                    <a:pathLst>
                      <a:path w="289" h="514">
                        <a:moveTo>
                          <a:pt x="102" y="0"/>
                        </a:moveTo>
                        <a:lnTo>
                          <a:pt x="0" y="272"/>
                        </a:lnTo>
                        <a:lnTo>
                          <a:pt x="187" y="514"/>
                        </a:lnTo>
                        <a:lnTo>
                          <a:pt x="289" y="236"/>
                        </a:lnTo>
                        <a:lnTo>
                          <a:pt x="102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grpSp>
                <p:nvGrpSpPr>
                  <p:cNvPr id="7729" name="Group 121"/>
                  <p:cNvGrpSpPr/>
                  <p:nvPr/>
                </p:nvGrpSpPr>
                <p:grpSpPr>
                  <a:xfrm>
                    <a:off x="2830" y="1243"/>
                    <a:ext cx="711" cy="626"/>
                    <a:chOff x="2830" y="1243"/>
                    <a:chExt cx="711" cy="626"/>
                  </a:xfrm>
                </p:grpSpPr>
                <p:sp>
                  <p:nvSpPr>
                    <p:cNvPr id="7730" name="Freeform 122"/>
                    <p:cNvSpPr/>
                    <p:nvPr/>
                  </p:nvSpPr>
                  <p:spPr>
                    <a:xfrm>
                      <a:off x="2830" y="1540"/>
                      <a:ext cx="711" cy="329"/>
                    </a:xfrm>
                    <a:custGeom>
                      <a:avLst/>
                      <a:gdLst/>
                      <a:ahLst/>
                      <a:cxnLst>
                        <a:cxn ang="0">
                          <a:pos x="113" y="27"/>
                        </a:cxn>
                        <a:cxn ang="0">
                          <a:pos x="0" y="95"/>
                        </a:cxn>
                        <a:cxn ang="0">
                          <a:pos x="11" y="164"/>
                        </a:cxn>
                        <a:cxn ang="0">
                          <a:pos x="80" y="153"/>
                        </a:cxn>
                        <a:cxn ang="0">
                          <a:pos x="61" y="119"/>
                        </a:cxn>
                        <a:cxn ang="0">
                          <a:pos x="79" y="101"/>
                        </a:cxn>
                        <a:cxn ang="0">
                          <a:pos x="93" y="151"/>
                        </a:cxn>
                        <a:cxn ang="0">
                          <a:pos x="356" y="109"/>
                        </a:cxn>
                        <a:cxn ang="0">
                          <a:pos x="348" y="59"/>
                        </a:cxn>
                        <a:cxn ang="0">
                          <a:pos x="270" y="0"/>
                        </a:cxn>
                        <a:cxn ang="0">
                          <a:pos x="113" y="27"/>
                        </a:cxn>
                      </a:cxnLst>
                      <a:pathLst>
                        <a:path w="1422" h="659">
                          <a:moveTo>
                            <a:pt x="451" y="109"/>
                          </a:moveTo>
                          <a:lnTo>
                            <a:pt x="0" y="383"/>
                          </a:lnTo>
                          <a:lnTo>
                            <a:pt x="44" y="659"/>
                          </a:lnTo>
                          <a:lnTo>
                            <a:pt x="317" y="615"/>
                          </a:lnTo>
                          <a:lnTo>
                            <a:pt x="244" y="476"/>
                          </a:lnTo>
                          <a:lnTo>
                            <a:pt x="315" y="405"/>
                          </a:lnTo>
                          <a:lnTo>
                            <a:pt x="370" y="607"/>
                          </a:lnTo>
                          <a:lnTo>
                            <a:pt x="1422" y="436"/>
                          </a:lnTo>
                          <a:lnTo>
                            <a:pt x="1389" y="237"/>
                          </a:lnTo>
                          <a:lnTo>
                            <a:pt x="1080" y="0"/>
                          </a:lnTo>
                          <a:lnTo>
                            <a:pt x="451" y="109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1" name="Freeform 123"/>
                    <p:cNvSpPr/>
                    <p:nvPr/>
                  </p:nvSpPr>
                  <p:spPr>
                    <a:xfrm>
                      <a:off x="3421" y="1256"/>
                      <a:ext cx="100" cy="400"/>
                    </a:xfrm>
                    <a:custGeom>
                      <a:avLst/>
                      <a:gdLst/>
                      <a:ahLst/>
                      <a:cxnLst>
                        <a:cxn ang="0">
                          <a:pos x="18" y="0"/>
                        </a:cxn>
                        <a:cxn ang="0">
                          <a:pos x="50" y="200"/>
                        </a:cxn>
                        <a:cxn ang="0">
                          <a:pos x="25" y="180"/>
                        </a:cxn>
                        <a:cxn ang="0">
                          <a:pos x="0" y="15"/>
                        </a:cxn>
                        <a:cxn ang="0">
                          <a:pos x="18" y="0"/>
                        </a:cxn>
                      </a:cxnLst>
                      <a:pathLst>
                        <a:path w="202" h="799">
                          <a:moveTo>
                            <a:pt x="73" y="0"/>
                          </a:moveTo>
                          <a:lnTo>
                            <a:pt x="202" y="799"/>
                          </a:lnTo>
                          <a:lnTo>
                            <a:pt x="102" y="719"/>
                          </a:lnTo>
                          <a:lnTo>
                            <a:pt x="0" y="59"/>
                          </a:lnTo>
                          <a:lnTo>
                            <a:pt x="73" y="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2" name="Freeform 124"/>
                    <p:cNvSpPr/>
                    <p:nvPr/>
                  </p:nvSpPr>
                  <p:spPr>
                    <a:xfrm>
                      <a:off x="3396" y="1322"/>
                      <a:ext cx="38" cy="6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15" y="0"/>
                        </a:cxn>
                        <a:cxn ang="0">
                          <a:pos x="19" y="33"/>
                        </a:cxn>
                        <a:cxn ang="0">
                          <a:pos x="5" y="35"/>
                        </a:cxn>
                        <a:cxn ang="0">
                          <a:pos x="0" y="3"/>
                        </a:cxn>
                      </a:cxnLst>
                      <a:pathLst>
                        <a:path w="76" h="138">
                          <a:moveTo>
                            <a:pt x="0" y="10"/>
                          </a:moveTo>
                          <a:lnTo>
                            <a:pt x="57" y="0"/>
                          </a:lnTo>
                          <a:lnTo>
                            <a:pt x="76" y="130"/>
                          </a:lnTo>
                          <a:lnTo>
                            <a:pt x="19" y="138"/>
                          </a:lnTo>
                          <a:lnTo>
                            <a:pt x="0" y="1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3" name="Freeform 125"/>
                    <p:cNvSpPr/>
                    <p:nvPr/>
                  </p:nvSpPr>
                  <p:spPr>
                    <a:xfrm>
                      <a:off x="3322" y="1268"/>
                      <a:ext cx="88" cy="181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26"/>
                        </a:cxn>
                        <a:cxn ang="0">
                          <a:pos x="33" y="0"/>
                        </a:cxn>
                        <a:cxn ang="0">
                          <a:pos x="0" y="41"/>
                        </a:cxn>
                        <a:cxn ang="0">
                          <a:pos x="4" y="62"/>
                        </a:cxn>
                        <a:cxn ang="0">
                          <a:pos x="44" y="91"/>
                        </a:cxn>
                        <a:cxn ang="0">
                          <a:pos x="40" y="62"/>
                        </a:cxn>
                        <a:cxn ang="0">
                          <a:pos x="16" y="49"/>
                        </a:cxn>
                        <a:cxn ang="0">
                          <a:pos x="36" y="26"/>
                        </a:cxn>
                      </a:cxnLst>
                      <a:pathLst>
                        <a:path w="176" h="360">
                          <a:moveTo>
                            <a:pt x="143" y="104"/>
                          </a:moveTo>
                          <a:lnTo>
                            <a:pt x="129" y="0"/>
                          </a:lnTo>
                          <a:lnTo>
                            <a:pt x="0" y="162"/>
                          </a:lnTo>
                          <a:lnTo>
                            <a:pt x="14" y="247"/>
                          </a:lnTo>
                          <a:lnTo>
                            <a:pt x="176" y="360"/>
                          </a:lnTo>
                          <a:lnTo>
                            <a:pt x="160" y="247"/>
                          </a:lnTo>
                          <a:lnTo>
                            <a:pt x="64" y="195"/>
                          </a:lnTo>
                          <a:lnTo>
                            <a:pt x="143" y="104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4" name="Freeform 126"/>
                    <p:cNvSpPr/>
                    <p:nvPr/>
                  </p:nvSpPr>
                  <p:spPr>
                    <a:xfrm>
                      <a:off x="2958" y="1243"/>
                      <a:ext cx="372" cy="12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8"/>
                        </a:cxn>
                        <a:cxn ang="0">
                          <a:pos x="186" y="0"/>
                        </a:cxn>
                        <a:cxn ang="0">
                          <a:pos x="161" y="42"/>
                        </a:cxn>
                        <a:cxn ang="0">
                          <a:pos x="163" y="57"/>
                        </a:cxn>
                        <a:cxn ang="0">
                          <a:pos x="128" y="62"/>
                        </a:cxn>
                        <a:cxn ang="0">
                          <a:pos x="78" y="52"/>
                        </a:cxn>
                        <a:cxn ang="0">
                          <a:pos x="34" y="59"/>
                        </a:cxn>
                        <a:cxn ang="0">
                          <a:pos x="0" y="28"/>
                        </a:cxn>
                      </a:cxnLst>
                      <a:pathLst>
                        <a:path w="743" h="248">
                          <a:moveTo>
                            <a:pt x="0" y="110"/>
                          </a:moveTo>
                          <a:lnTo>
                            <a:pt x="743" y="0"/>
                          </a:lnTo>
                          <a:lnTo>
                            <a:pt x="641" y="167"/>
                          </a:lnTo>
                          <a:lnTo>
                            <a:pt x="649" y="225"/>
                          </a:lnTo>
                          <a:lnTo>
                            <a:pt x="509" y="248"/>
                          </a:lnTo>
                          <a:lnTo>
                            <a:pt x="310" y="207"/>
                          </a:lnTo>
                          <a:lnTo>
                            <a:pt x="133" y="234"/>
                          </a:lnTo>
                          <a:lnTo>
                            <a:pt x="0" y="11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5" name="Freeform 127"/>
                    <p:cNvSpPr/>
                    <p:nvPr/>
                  </p:nvSpPr>
                  <p:spPr>
                    <a:xfrm>
                      <a:off x="3001" y="1347"/>
                      <a:ext cx="395" cy="276"/>
                    </a:xfrm>
                    <a:custGeom>
                      <a:avLst/>
                      <a:gdLst/>
                      <a:ahLst/>
                      <a:cxnLst>
                        <a:cxn ang="0">
                          <a:pos x="14" y="7"/>
                        </a:cxn>
                        <a:cxn ang="0">
                          <a:pos x="21" y="43"/>
                        </a:cxn>
                        <a:cxn ang="0">
                          <a:pos x="9" y="60"/>
                        </a:cxn>
                        <a:cxn ang="0">
                          <a:pos x="10" y="69"/>
                        </a:cxn>
                        <a:cxn ang="0">
                          <a:pos x="19" y="67"/>
                        </a:cxn>
                        <a:cxn ang="0">
                          <a:pos x="25" y="72"/>
                        </a:cxn>
                        <a:cxn ang="0">
                          <a:pos x="33" y="79"/>
                        </a:cxn>
                        <a:cxn ang="0">
                          <a:pos x="29" y="82"/>
                        </a:cxn>
                        <a:cxn ang="0">
                          <a:pos x="33" y="102"/>
                        </a:cxn>
                        <a:cxn ang="0">
                          <a:pos x="29" y="115"/>
                        </a:cxn>
                        <a:cxn ang="0">
                          <a:pos x="17" y="116"/>
                        </a:cxn>
                        <a:cxn ang="0">
                          <a:pos x="16" y="108"/>
                        </a:cxn>
                        <a:cxn ang="0">
                          <a:pos x="7" y="108"/>
                        </a:cxn>
                        <a:cxn ang="0">
                          <a:pos x="0" y="122"/>
                        </a:cxn>
                        <a:cxn ang="0">
                          <a:pos x="21" y="138"/>
                        </a:cxn>
                        <a:cxn ang="0">
                          <a:pos x="48" y="133"/>
                        </a:cxn>
                        <a:cxn ang="0">
                          <a:pos x="60" y="122"/>
                        </a:cxn>
                        <a:cxn ang="0">
                          <a:pos x="87" y="118"/>
                        </a:cxn>
                        <a:cxn ang="0">
                          <a:pos x="86" y="111"/>
                        </a:cxn>
                        <a:cxn ang="0">
                          <a:pos x="198" y="94"/>
                        </a:cxn>
                        <a:cxn ang="0">
                          <a:pos x="196" y="85"/>
                        </a:cxn>
                        <a:cxn ang="0">
                          <a:pos x="185" y="87"/>
                        </a:cxn>
                        <a:cxn ang="0">
                          <a:pos x="180" y="57"/>
                        </a:cxn>
                        <a:cxn ang="0">
                          <a:pos x="151" y="31"/>
                        </a:cxn>
                        <a:cxn ang="0">
                          <a:pos x="143" y="5"/>
                        </a:cxn>
                        <a:cxn ang="0">
                          <a:pos x="108" y="10"/>
                        </a:cxn>
                        <a:cxn ang="0">
                          <a:pos x="58" y="0"/>
                        </a:cxn>
                        <a:cxn ang="0">
                          <a:pos x="14" y="7"/>
                        </a:cxn>
                      </a:cxnLst>
                      <a:pathLst>
                        <a:path w="789" h="553">
                          <a:moveTo>
                            <a:pt x="55" y="30"/>
                          </a:moveTo>
                          <a:lnTo>
                            <a:pt x="83" y="173"/>
                          </a:lnTo>
                          <a:lnTo>
                            <a:pt x="33" y="241"/>
                          </a:lnTo>
                          <a:lnTo>
                            <a:pt x="39" y="276"/>
                          </a:lnTo>
                          <a:lnTo>
                            <a:pt x="73" y="270"/>
                          </a:lnTo>
                          <a:lnTo>
                            <a:pt x="100" y="290"/>
                          </a:lnTo>
                          <a:lnTo>
                            <a:pt x="130" y="316"/>
                          </a:lnTo>
                          <a:lnTo>
                            <a:pt x="115" y="330"/>
                          </a:lnTo>
                          <a:lnTo>
                            <a:pt x="131" y="411"/>
                          </a:lnTo>
                          <a:lnTo>
                            <a:pt x="115" y="460"/>
                          </a:lnTo>
                          <a:lnTo>
                            <a:pt x="67" y="467"/>
                          </a:lnTo>
                          <a:lnTo>
                            <a:pt x="64" y="433"/>
                          </a:lnTo>
                          <a:lnTo>
                            <a:pt x="28" y="435"/>
                          </a:lnTo>
                          <a:lnTo>
                            <a:pt x="0" y="491"/>
                          </a:lnTo>
                          <a:lnTo>
                            <a:pt x="81" y="553"/>
                          </a:lnTo>
                          <a:lnTo>
                            <a:pt x="189" y="533"/>
                          </a:lnTo>
                          <a:lnTo>
                            <a:pt x="240" y="489"/>
                          </a:lnTo>
                          <a:lnTo>
                            <a:pt x="345" y="472"/>
                          </a:lnTo>
                          <a:lnTo>
                            <a:pt x="342" y="447"/>
                          </a:lnTo>
                          <a:lnTo>
                            <a:pt x="789" y="377"/>
                          </a:lnTo>
                          <a:lnTo>
                            <a:pt x="784" y="340"/>
                          </a:lnTo>
                          <a:lnTo>
                            <a:pt x="737" y="349"/>
                          </a:lnTo>
                          <a:lnTo>
                            <a:pt x="720" y="231"/>
                          </a:lnTo>
                          <a:lnTo>
                            <a:pt x="604" y="125"/>
                          </a:lnTo>
                          <a:lnTo>
                            <a:pt x="569" y="20"/>
                          </a:lnTo>
                          <a:lnTo>
                            <a:pt x="431" y="41"/>
                          </a:lnTo>
                          <a:lnTo>
                            <a:pt x="230" y="0"/>
                          </a:lnTo>
                          <a:lnTo>
                            <a:pt x="55" y="3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6" name="Freeform 128"/>
                    <p:cNvSpPr/>
                    <p:nvPr/>
                  </p:nvSpPr>
                  <p:spPr>
                    <a:xfrm>
                      <a:off x="2844" y="1692"/>
                      <a:ext cx="147" cy="160"/>
                    </a:xfrm>
                    <a:custGeom>
                      <a:avLst/>
                      <a:gdLst/>
                      <a:ahLst/>
                      <a:cxnLst>
                        <a:cxn ang="0">
                          <a:pos x="58" y="0"/>
                        </a:cxn>
                        <a:cxn ang="0">
                          <a:pos x="0" y="51"/>
                        </a:cxn>
                        <a:cxn ang="0">
                          <a:pos x="4" y="80"/>
                        </a:cxn>
                        <a:cxn ang="0">
                          <a:pos x="73" y="15"/>
                        </a:cxn>
                        <a:cxn ang="0">
                          <a:pos x="58" y="0"/>
                        </a:cxn>
                      </a:cxnLst>
                      <a:pathLst>
                        <a:path w="296" h="320">
                          <a:moveTo>
                            <a:pt x="233" y="0"/>
                          </a:moveTo>
                          <a:lnTo>
                            <a:pt x="0" y="201"/>
                          </a:lnTo>
                          <a:lnTo>
                            <a:pt x="17" y="320"/>
                          </a:lnTo>
                          <a:lnTo>
                            <a:pt x="296" y="59"/>
                          </a:lnTo>
                          <a:lnTo>
                            <a:pt x="233" y="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7" name="Freeform 129"/>
                    <p:cNvSpPr/>
                    <p:nvPr/>
                  </p:nvSpPr>
                  <p:spPr>
                    <a:xfrm>
                      <a:off x="2871" y="1804"/>
                      <a:ext cx="77" cy="5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5"/>
                        </a:cxn>
                        <a:cxn ang="0">
                          <a:pos x="17" y="0"/>
                        </a:cxn>
                        <a:cxn ang="0">
                          <a:pos x="39" y="23"/>
                        </a:cxn>
                        <a:cxn ang="0">
                          <a:pos x="13" y="28"/>
                        </a:cxn>
                        <a:cxn ang="0">
                          <a:pos x="0" y="15"/>
                        </a:cxn>
                      </a:cxnLst>
                      <a:pathLst>
                        <a:path w="154" h="115">
                          <a:moveTo>
                            <a:pt x="0" y="61"/>
                          </a:moveTo>
                          <a:lnTo>
                            <a:pt x="65" y="0"/>
                          </a:lnTo>
                          <a:lnTo>
                            <a:pt x="154" y="95"/>
                          </a:lnTo>
                          <a:lnTo>
                            <a:pt x="51" y="115"/>
                          </a:lnTo>
                          <a:lnTo>
                            <a:pt x="0" y="61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8" name="Freeform 130"/>
                    <p:cNvSpPr/>
                    <p:nvPr/>
                  </p:nvSpPr>
                  <p:spPr>
                    <a:xfrm>
                      <a:off x="2936" y="1654"/>
                      <a:ext cx="143" cy="18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8"/>
                        </a:cxn>
                        <a:cxn ang="0">
                          <a:pos x="37" y="39"/>
                        </a:cxn>
                        <a:cxn ang="0">
                          <a:pos x="59" y="91"/>
                        </a:cxn>
                        <a:cxn ang="0">
                          <a:pos x="72" y="89"/>
                        </a:cxn>
                        <a:cxn ang="0">
                          <a:pos x="49" y="31"/>
                        </a:cxn>
                        <a:cxn ang="0">
                          <a:pos x="15" y="0"/>
                        </a:cxn>
                        <a:cxn ang="0">
                          <a:pos x="0" y="8"/>
                        </a:cxn>
                      </a:cxnLst>
                      <a:pathLst>
                        <a:path w="286" h="361">
                          <a:moveTo>
                            <a:pt x="0" y="32"/>
                          </a:moveTo>
                          <a:lnTo>
                            <a:pt x="146" y="154"/>
                          </a:lnTo>
                          <a:lnTo>
                            <a:pt x="236" y="361"/>
                          </a:lnTo>
                          <a:lnTo>
                            <a:pt x="286" y="355"/>
                          </a:lnTo>
                          <a:lnTo>
                            <a:pt x="196" y="122"/>
                          </a:lnTo>
                          <a:lnTo>
                            <a:pt x="57" y="0"/>
                          </a:lnTo>
                          <a:lnTo>
                            <a:pt x="0" y="32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39" name="Freeform 131"/>
                    <p:cNvSpPr/>
                    <p:nvPr/>
                  </p:nvSpPr>
                  <p:spPr>
                    <a:xfrm>
                      <a:off x="3381" y="1628"/>
                      <a:ext cx="111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0"/>
                        </a:cxn>
                        <a:cxn ang="0">
                          <a:pos x="8" y="0"/>
                        </a:cxn>
                        <a:cxn ang="0">
                          <a:pos x="51" y="36"/>
                        </a:cxn>
                        <a:cxn ang="0">
                          <a:pos x="56" y="68"/>
                        </a:cxn>
                        <a:cxn ang="0">
                          <a:pos x="45" y="70"/>
                        </a:cxn>
                        <a:cxn ang="0">
                          <a:pos x="40" y="42"/>
                        </a:cxn>
                        <a:cxn ang="0">
                          <a:pos x="0" y="10"/>
                        </a:cxn>
                      </a:cxnLst>
                      <a:pathLst>
                        <a:path w="222" h="280">
                          <a:moveTo>
                            <a:pt x="0" y="39"/>
                          </a:moveTo>
                          <a:lnTo>
                            <a:pt x="29" y="0"/>
                          </a:lnTo>
                          <a:lnTo>
                            <a:pt x="203" y="141"/>
                          </a:lnTo>
                          <a:lnTo>
                            <a:pt x="222" y="270"/>
                          </a:lnTo>
                          <a:lnTo>
                            <a:pt x="179" y="280"/>
                          </a:lnTo>
                          <a:lnTo>
                            <a:pt x="160" y="165"/>
                          </a:lnTo>
                          <a:lnTo>
                            <a:pt x="0" y="39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0" name="Freeform 132"/>
                    <p:cNvSpPr/>
                    <p:nvPr/>
                  </p:nvSpPr>
                  <p:spPr>
                    <a:xfrm>
                      <a:off x="3355" y="1672"/>
                      <a:ext cx="83" cy="106"/>
                    </a:xfrm>
                    <a:custGeom>
                      <a:avLst/>
                      <a:gdLst/>
                      <a:ahLst/>
                      <a:cxnLst>
                        <a:cxn ang="0">
                          <a:pos x="7" y="0"/>
                        </a:cxn>
                        <a:cxn ang="0">
                          <a:pos x="38" y="25"/>
                        </a:cxn>
                        <a:cxn ang="0">
                          <a:pos x="42" y="50"/>
                        </a:cxn>
                        <a:cxn ang="0">
                          <a:pos x="29" y="53"/>
                        </a:cxn>
                        <a:cxn ang="0">
                          <a:pos x="25" y="27"/>
                        </a:cxn>
                        <a:cxn ang="0">
                          <a:pos x="0" y="9"/>
                        </a:cxn>
                        <a:cxn ang="0">
                          <a:pos x="7" y="0"/>
                        </a:cxn>
                      </a:cxnLst>
                      <a:pathLst>
                        <a:path w="166" h="213">
                          <a:moveTo>
                            <a:pt x="25" y="0"/>
                          </a:moveTo>
                          <a:lnTo>
                            <a:pt x="149" y="100"/>
                          </a:lnTo>
                          <a:lnTo>
                            <a:pt x="166" y="202"/>
                          </a:lnTo>
                          <a:lnTo>
                            <a:pt x="116" y="213"/>
                          </a:lnTo>
                          <a:lnTo>
                            <a:pt x="97" y="110"/>
                          </a:lnTo>
                          <a:lnTo>
                            <a:pt x="0" y="36"/>
                          </a:lnTo>
                          <a:lnTo>
                            <a:pt x="25" y="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1" name="Freeform 133"/>
                    <p:cNvSpPr/>
                    <p:nvPr/>
                  </p:nvSpPr>
                  <p:spPr>
                    <a:xfrm>
                      <a:off x="3126" y="1714"/>
                      <a:ext cx="133" cy="11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5"/>
                        </a:cxn>
                        <a:cxn ang="0">
                          <a:pos x="3" y="25"/>
                        </a:cxn>
                        <a:cxn ang="0">
                          <a:pos x="17" y="8"/>
                        </a:cxn>
                        <a:cxn ang="0">
                          <a:pos x="66" y="0"/>
                        </a:cxn>
                        <a:cxn ang="0">
                          <a:pos x="61" y="34"/>
                        </a:cxn>
                        <a:cxn ang="0">
                          <a:pos x="61" y="45"/>
                        </a:cxn>
                        <a:cxn ang="0">
                          <a:pos x="0" y="55"/>
                        </a:cxn>
                      </a:cxnLst>
                      <a:pathLst>
                        <a:path w="267" h="220">
                          <a:moveTo>
                            <a:pt x="0" y="220"/>
                          </a:moveTo>
                          <a:lnTo>
                            <a:pt x="15" y="99"/>
                          </a:lnTo>
                          <a:lnTo>
                            <a:pt x="70" y="30"/>
                          </a:lnTo>
                          <a:lnTo>
                            <a:pt x="267" y="0"/>
                          </a:lnTo>
                          <a:lnTo>
                            <a:pt x="245" y="135"/>
                          </a:lnTo>
                          <a:lnTo>
                            <a:pt x="246" y="180"/>
                          </a:lnTo>
                          <a:lnTo>
                            <a:pt x="0" y="22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2" name="Freeform 134"/>
                    <p:cNvSpPr/>
                    <p:nvPr/>
                  </p:nvSpPr>
                  <p:spPr>
                    <a:xfrm>
                      <a:off x="3113" y="1682"/>
                      <a:ext cx="185" cy="137"/>
                    </a:xfrm>
                    <a:custGeom>
                      <a:avLst/>
                      <a:gdLst/>
                      <a:ahLst/>
                      <a:cxnLst>
                        <a:cxn ang="0">
                          <a:pos x="6" y="68"/>
                        </a:cxn>
                        <a:cxn ang="0">
                          <a:pos x="0" y="34"/>
                        </a:cxn>
                        <a:cxn ang="0">
                          <a:pos x="16" y="12"/>
                        </a:cxn>
                        <a:cxn ang="0">
                          <a:pos x="93" y="0"/>
                        </a:cxn>
                        <a:cxn ang="0">
                          <a:pos x="82" y="30"/>
                        </a:cxn>
                        <a:cxn ang="0">
                          <a:pos x="79" y="58"/>
                        </a:cxn>
                        <a:cxn ang="0">
                          <a:pos x="68" y="60"/>
                        </a:cxn>
                        <a:cxn ang="0">
                          <a:pos x="68" y="48"/>
                        </a:cxn>
                        <a:cxn ang="0">
                          <a:pos x="73" y="15"/>
                        </a:cxn>
                        <a:cxn ang="0">
                          <a:pos x="24" y="23"/>
                        </a:cxn>
                        <a:cxn ang="0">
                          <a:pos x="9" y="40"/>
                        </a:cxn>
                        <a:cxn ang="0">
                          <a:pos x="6" y="68"/>
                        </a:cxn>
                      </a:cxnLst>
                      <a:pathLst>
                        <a:path w="370" h="275">
                          <a:moveTo>
                            <a:pt x="21" y="275"/>
                          </a:moveTo>
                          <a:lnTo>
                            <a:pt x="0" y="137"/>
                          </a:lnTo>
                          <a:lnTo>
                            <a:pt x="63" y="51"/>
                          </a:lnTo>
                          <a:lnTo>
                            <a:pt x="370" y="0"/>
                          </a:lnTo>
                          <a:lnTo>
                            <a:pt x="328" y="122"/>
                          </a:lnTo>
                          <a:lnTo>
                            <a:pt x="316" y="233"/>
                          </a:lnTo>
                          <a:lnTo>
                            <a:pt x="269" y="240"/>
                          </a:lnTo>
                          <a:lnTo>
                            <a:pt x="270" y="195"/>
                          </a:lnTo>
                          <a:lnTo>
                            <a:pt x="289" y="61"/>
                          </a:lnTo>
                          <a:lnTo>
                            <a:pt x="94" y="93"/>
                          </a:lnTo>
                          <a:lnTo>
                            <a:pt x="34" y="162"/>
                          </a:lnTo>
                          <a:lnTo>
                            <a:pt x="21" y="275"/>
                          </a:lnTo>
                          <a:close/>
                        </a:path>
                      </a:pathLst>
                    </a:custGeom>
                    <a:solidFill>
                      <a:srgbClr val="FAFD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3" name="Freeform 135"/>
                    <p:cNvSpPr/>
                    <p:nvPr/>
                  </p:nvSpPr>
                  <p:spPr>
                    <a:xfrm>
                      <a:off x="3106" y="1635"/>
                      <a:ext cx="251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100" y="79"/>
                        </a:cxn>
                        <a:cxn ang="0">
                          <a:pos x="108" y="33"/>
                        </a:cxn>
                        <a:cxn ang="0">
                          <a:pos x="126" y="0"/>
                        </a:cxn>
                        <a:cxn ang="0">
                          <a:pos x="29" y="16"/>
                        </a:cxn>
                        <a:cxn ang="0">
                          <a:pos x="0" y="45"/>
                        </a:cxn>
                        <a:cxn ang="0">
                          <a:pos x="8" y="95"/>
                        </a:cxn>
                        <a:cxn ang="0">
                          <a:pos x="2" y="57"/>
                        </a:cxn>
                        <a:cxn ang="0">
                          <a:pos x="20" y="36"/>
                        </a:cxn>
                        <a:cxn ang="0">
                          <a:pos x="96" y="24"/>
                        </a:cxn>
                        <a:cxn ang="0">
                          <a:pos x="86" y="56"/>
                        </a:cxn>
                        <a:cxn ang="0">
                          <a:pos x="83" y="82"/>
                        </a:cxn>
                        <a:cxn ang="0">
                          <a:pos x="100" y="79"/>
                        </a:cxn>
                      </a:cxnLst>
                      <a:pathLst>
                        <a:path w="502" h="379">
                          <a:moveTo>
                            <a:pt x="400" y="315"/>
                          </a:moveTo>
                          <a:lnTo>
                            <a:pt x="429" y="132"/>
                          </a:lnTo>
                          <a:lnTo>
                            <a:pt x="502" y="0"/>
                          </a:lnTo>
                          <a:lnTo>
                            <a:pt x="114" y="63"/>
                          </a:lnTo>
                          <a:lnTo>
                            <a:pt x="0" y="177"/>
                          </a:lnTo>
                          <a:lnTo>
                            <a:pt x="31" y="379"/>
                          </a:lnTo>
                          <a:lnTo>
                            <a:pt x="8" y="225"/>
                          </a:lnTo>
                          <a:lnTo>
                            <a:pt x="80" y="143"/>
                          </a:lnTo>
                          <a:lnTo>
                            <a:pt x="384" y="95"/>
                          </a:lnTo>
                          <a:lnTo>
                            <a:pt x="343" y="221"/>
                          </a:lnTo>
                          <a:lnTo>
                            <a:pt x="331" y="327"/>
                          </a:lnTo>
                          <a:lnTo>
                            <a:pt x="400" y="315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4" name="Freeform 136"/>
                    <p:cNvSpPr/>
                    <p:nvPr/>
                  </p:nvSpPr>
                  <p:spPr>
                    <a:xfrm>
                      <a:off x="3102" y="1604"/>
                      <a:ext cx="303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2" y="61"/>
                        </a:cxn>
                        <a:cxn ang="0">
                          <a:pos x="0" y="51"/>
                        </a:cxn>
                        <a:cxn ang="0">
                          <a:pos x="31" y="19"/>
                        </a:cxn>
                        <a:cxn ang="0">
                          <a:pos x="152" y="0"/>
                        </a:cxn>
                        <a:cxn ang="0">
                          <a:pos x="124" y="48"/>
                        </a:cxn>
                        <a:cxn ang="0">
                          <a:pos x="117" y="94"/>
                        </a:cxn>
                        <a:cxn ang="0">
                          <a:pos x="102" y="95"/>
                        </a:cxn>
                        <a:cxn ang="0">
                          <a:pos x="109" y="50"/>
                        </a:cxn>
                        <a:cxn ang="0">
                          <a:pos x="128" y="16"/>
                        </a:cxn>
                        <a:cxn ang="0">
                          <a:pos x="31" y="32"/>
                        </a:cxn>
                        <a:cxn ang="0">
                          <a:pos x="2" y="61"/>
                        </a:cxn>
                      </a:cxnLst>
                      <a:pathLst>
                        <a:path w="605" h="380">
                          <a:moveTo>
                            <a:pt x="6" y="241"/>
                          </a:moveTo>
                          <a:lnTo>
                            <a:pt x="0" y="204"/>
                          </a:lnTo>
                          <a:lnTo>
                            <a:pt x="124" y="74"/>
                          </a:lnTo>
                          <a:lnTo>
                            <a:pt x="605" y="0"/>
                          </a:lnTo>
                          <a:lnTo>
                            <a:pt x="493" y="189"/>
                          </a:lnTo>
                          <a:lnTo>
                            <a:pt x="466" y="373"/>
                          </a:lnTo>
                          <a:lnTo>
                            <a:pt x="408" y="380"/>
                          </a:lnTo>
                          <a:lnTo>
                            <a:pt x="434" y="198"/>
                          </a:lnTo>
                          <a:lnTo>
                            <a:pt x="511" y="62"/>
                          </a:lnTo>
                          <a:lnTo>
                            <a:pt x="121" y="125"/>
                          </a:lnTo>
                          <a:lnTo>
                            <a:pt x="6" y="241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5" name="Freeform 137"/>
                    <p:cNvSpPr/>
                    <p:nvPr/>
                  </p:nvSpPr>
                  <p:spPr>
                    <a:xfrm>
                      <a:off x="3173" y="1558"/>
                      <a:ext cx="78" cy="7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3" y="22"/>
                        </a:cxn>
                        <a:cxn ang="0">
                          <a:pos x="36" y="17"/>
                        </a:cxn>
                        <a:cxn ang="0">
                          <a:pos x="39" y="34"/>
                        </a:cxn>
                        <a:cxn ang="0">
                          <a:pos x="23" y="37"/>
                        </a:cxn>
                        <a:cxn ang="0">
                          <a:pos x="18" y="0"/>
                        </a:cxn>
                        <a:cxn ang="0">
                          <a:pos x="0" y="3"/>
                        </a:cxn>
                      </a:cxnLst>
                      <a:pathLst>
                        <a:path w="155" h="145">
                          <a:moveTo>
                            <a:pt x="0" y="12"/>
                          </a:moveTo>
                          <a:lnTo>
                            <a:pt x="12" y="85"/>
                          </a:lnTo>
                          <a:lnTo>
                            <a:pt x="144" y="65"/>
                          </a:lnTo>
                          <a:lnTo>
                            <a:pt x="155" y="134"/>
                          </a:lnTo>
                          <a:lnTo>
                            <a:pt x="90" y="145"/>
                          </a:lnTo>
                          <a:lnTo>
                            <a:pt x="69" y="0"/>
                          </a:lnTo>
                          <a:lnTo>
                            <a:pt x="0" y="12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6" name="Freeform 138"/>
                    <p:cNvSpPr/>
                    <p:nvPr/>
                  </p:nvSpPr>
                  <p:spPr>
                    <a:xfrm>
                      <a:off x="3208" y="1554"/>
                      <a:ext cx="78" cy="7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"/>
                        </a:cxn>
                        <a:cxn ang="0">
                          <a:pos x="3" y="20"/>
                        </a:cxn>
                        <a:cxn ang="0">
                          <a:pos x="37" y="15"/>
                        </a:cxn>
                        <a:cxn ang="0">
                          <a:pos x="39" y="33"/>
                        </a:cxn>
                        <a:cxn ang="0">
                          <a:pos x="23" y="35"/>
                        </a:cxn>
                        <a:cxn ang="0">
                          <a:pos x="18" y="0"/>
                        </a:cxn>
                        <a:cxn ang="0">
                          <a:pos x="0" y="2"/>
                        </a:cxn>
                      </a:cxnLst>
                      <a:pathLst>
                        <a:path w="155" h="142">
                          <a:moveTo>
                            <a:pt x="0" y="11"/>
                          </a:moveTo>
                          <a:lnTo>
                            <a:pt x="11" y="83"/>
                          </a:lnTo>
                          <a:lnTo>
                            <a:pt x="147" y="63"/>
                          </a:lnTo>
                          <a:lnTo>
                            <a:pt x="155" y="133"/>
                          </a:lnTo>
                          <a:lnTo>
                            <a:pt x="92" y="142"/>
                          </a:lnTo>
                          <a:lnTo>
                            <a:pt x="70" y="0"/>
                          </a:lnTo>
                          <a:lnTo>
                            <a:pt x="0" y="11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7" name="Freeform 139"/>
                    <p:cNvSpPr/>
                    <p:nvPr/>
                  </p:nvSpPr>
                  <p:spPr>
                    <a:xfrm>
                      <a:off x="3242" y="1547"/>
                      <a:ext cx="77" cy="7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3" y="22"/>
                        </a:cxn>
                        <a:cxn ang="0">
                          <a:pos x="37" y="16"/>
                        </a:cxn>
                        <a:cxn ang="0">
                          <a:pos x="39" y="34"/>
                        </a:cxn>
                        <a:cxn ang="0">
                          <a:pos x="23" y="37"/>
                        </a:cxn>
                        <a:cxn ang="0">
                          <a:pos x="17" y="0"/>
                        </a:cxn>
                        <a:cxn ang="0">
                          <a:pos x="0" y="3"/>
                        </a:cxn>
                      </a:cxnLst>
                      <a:pathLst>
                        <a:path w="153" h="145">
                          <a:moveTo>
                            <a:pt x="0" y="11"/>
                          </a:moveTo>
                          <a:lnTo>
                            <a:pt x="11" y="85"/>
                          </a:lnTo>
                          <a:lnTo>
                            <a:pt x="145" y="63"/>
                          </a:lnTo>
                          <a:lnTo>
                            <a:pt x="153" y="134"/>
                          </a:lnTo>
                          <a:lnTo>
                            <a:pt x="89" y="145"/>
                          </a:lnTo>
                          <a:lnTo>
                            <a:pt x="67" y="0"/>
                          </a:lnTo>
                          <a:lnTo>
                            <a:pt x="0" y="11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8" name="Freeform 140"/>
                    <p:cNvSpPr/>
                    <p:nvPr/>
                  </p:nvSpPr>
                  <p:spPr>
                    <a:xfrm>
                      <a:off x="3278" y="1540"/>
                      <a:ext cx="77" cy="7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3" y="21"/>
                        </a:cxn>
                        <a:cxn ang="0">
                          <a:pos x="36" y="16"/>
                        </a:cxn>
                        <a:cxn ang="0">
                          <a:pos x="39" y="34"/>
                        </a:cxn>
                        <a:cxn ang="0">
                          <a:pos x="23" y="36"/>
                        </a:cxn>
                        <a:cxn ang="0">
                          <a:pos x="17" y="0"/>
                        </a:cxn>
                        <a:cxn ang="0">
                          <a:pos x="0" y="3"/>
                        </a:cxn>
                      </a:cxnLst>
                      <a:pathLst>
                        <a:path w="154" h="147">
                          <a:moveTo>
                            <a:pt x="0" y="14"/>
                          </a:moveTo>
                          <a:lnTo>
                            <a:pt x="11" y="87"/>
                          </a:lnTo>
                          <a:lnTo>
                            <a:pt x="144" y="66"/>
                          </a:lnTo>
                          <a:lnTo>
                            <a:pt x="154" y="136"/>
                          </a:lnTo>
                          <a:lnTo>
                            <a:pt x="89" y="147"/>
                          </a:lnTo>
                          <a:lnTo>
                            <a:pt x="67" y="0"/>
                          </a:lnTo>
                          <a:lnTo>
                            <a:pt x="0" y="14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49" name="Freeform 141"/>
                    <p:cNvSpPr/>
                    <p:nvPr/>
                  </p:nvSpPr>
                  <p:spPr>
                    <a:xfrm>
                      <a:off x="3314" y="1536"/>
                      <a:ext cx="77" cy="7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3" y="21"/>
                        </a:cxn>
                        <a:cxn ang="0">
                          <a:pos x="36" y="17"/>
                        </a:cxn>
                        <a:cxn ang="0">
                          <a:pos x="38" y="34"/>
                        </a:cxn>
                        <a:cxn ang="0">
                          <a:pos x="22" y="36"/>
                        </a:cxn>
                        <a:cxn ang="0">
                          <a:pos x="17" y="0"/>
                        </a:cxn>
                        <a:cxn ang="0">
                          <a:pos x="0" y="3"/>
                        </a:cxn>
                      </a:cxnLst>
                      <a:pathLst>
                        <a:path w="156" h="144">
                          <a:moveTo>
                            <a:pt x="0" y="10"/>
                          </a:moveTo>
                          <a:lnTo>
                            <a:pt x="14" y="84"/>
                          </a:lnTo>
                          <a:lnTo>
                            <a:pt x="145" y="65"/>
                          </a:lnTo>
                          <a:lnTo>
                            <a:pt x="156" y="133"/>
                          </a:lnTo>
                          <a:lnTo>
                            <a:pt x="92" y="144"/>
                          </a:lnTo>
                          <a:lnTo>
                            <a:pt x="70" y="0"/>
                          </a:lnTo>
                          <a:lnTo>
                            <a:pt x="0" y="1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0" name="Freeform 142"/>
                    <p:cNvSpPr/>
                    <p:nvPr/>
                  </p:nvSpPr>
                  <p:spPr>
                    <a:xfrm>
                      <a:off x="3347" y="1531"/>
                      <a:ext cx="77" cy="7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2" y="21"/>
                        </a:cxn>
                        <a:cxn ang="0">
                          <a:pos x="36" y="16"/>
                        </a:cxn>
                        <a:cxn ang="0">
                          <a:pos x="38" y="34"/>
                        </a:cxn>
                        <a:cxn ang="0">
                          <a:pos x="22" y="36"/>
                        </a:cxn>
                        <a:cxn ang="0">
                          <a:pos x="17" y="0"/>
                        </a:cxn>
                        <a:cxn ang="0">
                          <a:pos x="0" y="3"/>
                        </a:cxn>
                      </a:cxnLst>
                      <a:pathLst>
                        <a:path w="156" h="144">
                          <a:moveTo>
                            <a:pt x="0" y="10"/>
                          </a:moveTo>
                          <a:lnTo>
                            <a:pt x="11" y="84"/>
                          </a:lnTo>
                          <a:lnTo>
                            <a:pt x="145" y="64"/>
                          </a:lnTo>
                          <a:lnTo>
                            <a:pt x="156" y="134"/>
                          </a:lnTo>
                          <a:lnTo>
                            <a:pt x="92" y="144"/>
                          </a:lnTo>
                          <a:lnTo>
                            <a:pt x="70" y="0"/>
                          </a:lnTo>
                          <a:lnTo>
                            <a:pt x="0" y="1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1" name="Freeform 143"/>
                    <p:cNvSpPr/>
                    <p:nvPr/>
                  </p:nvSpPr>
                  <p:spPr>
                    <a:xfrm>
                      <a:off x="3379" y="1525"/>
                      <a:ext cx="78" cy="7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3" y="22"/>
                        </a:cxn>
                        <a:cxn ang="0">
                          <a:pos x="36" y="17"/>
                        </a:cxn>
                        <a:cxn ang="0">
                          <a:pos x="39" y="34"/>
                        </a:cxn>
                        <a:cxn ang="0">
                          <a:pos x="23" y="37"/>
                        </a:cxn>
                        <a:cxn ang="0">
                          <a:pos x="18" y="0"/>
                        </a:cxn>
                        <a:cxn ang="0">
                          <a:pos x="0" y="3"/>
                        </a:cxn>
                      </a:cxnLst>
                      <a:pathLst>
                        <a:path w="155" h="145">
                          <a:moveTo>
                            <a:pt x="0" y="12"/>
                          </a:moveTo>
                          <a:lnTo>
                            <a:pt x="11" y="85"/>
                          </a:lnTo>
                          <a:lnTo>
                            <a:pt x="144" y="65"/>
                          </a:lnTo>
                          <a:lnTo>
                            <a:pt x="155" y="134"/>
                          </a:lnTo>
                          <a:lnTo>
                            <a:pt x="89" y="145"/>
                          </a:lnTo>
                          <a:lnTo>
                            <a:pt x="70" y="0"/>
                          </a:lnTo>
                          <a:lnTo>
                            <a:pt x="0" y="12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2" name="Freeform 144"/>
                    <p:cNvSpPr/>
                    <p:nvPr/>
                  </p:nvSpPr>
                  <p:spPr>
                    <a:xfrm>
                      <a:off x="2988" y="1615"/>
                      <a:ext cx="135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1"/>
                        </a:cxn>
                        <a:cxn ang="0">
                          <a:pos x="35" y="42"/>
                        </a:cxn>
                        <a:cxn ang="0">
                          <a:pos x="56" y="108"/>
                        </a:cxn>
                        <a:cxn ang="0">
                          <a:pos x="67" y="105"/>
                        </a:cxn>
                        <a:cxn ang="0">
                          <a:pos x="54" y="38"/>
                        </a:cxn>
                        <a:cxn ang="0">
                          <a:pos x="19" y="0"/>
                        </a:cxn>
                        <a:cxn ang="0">
                          <a:pos x="0" y="11"/>
                        </a:cxn>
                      </a:cxnLst>
                      <a:pathLst>
                        <a:path w="271" h="430">
                          <a:moveTo>
                            <a:pt x="0" y="42"/>
                          </a:moveTo>
                          <a:lnTo>
                            <a:pt x="140" y="167"/>
                          </a:lnTo>
                          <a:lnTo>
                            <a:pt x="224" y="430"/>
                          </a:lnTo>
                          <a:lnTo>
                            <a:pt x="271" y="417"/>
                          </a:lnTo>
                          <a:lnTo>
                            <a:pt x="216" y="149"/>
                          </a:lnTo>
                          <a:lnTo>
                            <a:pt x="77" y="0"/>
                          </a:lnTo>
                          <a:lnTo>
                            <a:pt x="0" y="42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3" name="Freeform 145"/>
                    <p:cNvSpPr/>
                    <p:nvPr/>
                  </p:nvSpPr>
                  <p:spPr>
                    <a:xfrm>
                      <a:off x="2998" y="1316"/>
                      <a:ext cx="283" cy="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9"/>
                        </a:cxn>
                        <a:cxn ang="0">
                          <a:pos x="63" y="0"/>
                        </a:cxn>
                        <a:cxn ang="0">
                          <a:pos x="108" y="10"/>
                        </a:cxn>
                        <a:cxn ang="0">
                          <a:pos x="140" y="5"/>
                        </a:cxn>
                        <a:cxn ang="0">
                          <a:pos x="142" y="12"/>
                        </a:cxn>
                        <a:cxn ang="0">
                          <a:pos x="109" y="17"/>
                        </a:cxn>
                        <a:cxn ang="0">
                          <a:pos x="62" y="6"/>
                        </a:cxn>
                        <a:cxn ang="0">
                          <a:pos x="7" y="15"/>
                        </a:cxn>
                        <a:cxn ang="0">
                          <a:pos x="0" y="9"/>
                        </a:cxn>
                      </a:cxnLst>
                      <a:pathLst>
                        <a:path w="566" h="69">
                          <a:moveTo>
                            <a:pt x="0" y="36"/>
                          </a:moveTo>
                          <a:lnTo>
                            <a:pt x="250" y="0"/>
                          </a:lnTo>
                          <a:lnTo>
                            <a:pt x="430" y="40"/>
                          </a:lnTo>
                          <a:lnTo>
                            <a:pt x="559" y="20"/>
                          </a:lnTo>
                          <a:lnTo>
                            <a:pt x="566" y="49"/>
                          </a:lnTo>
                          <a:lnTo>
                            <a:pt x="436" y="69"/>
                          </a:lnTo>
                          <a:lnTo>
                            <a:pt x="248" y="27"/>
                          </a:lnTo>
                          <a:lnTo>
                            <a:pt x="28" y="61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4" name="Freeform 146"/>
                    <p:cNvSpPr/>
                    <p:nvPr/>
                  </p:nvSpPr>
                  <p:spPr>
                    <a:xfrm>
                      <a:off x="3264" y="1359"/>
                      <a:ext cx="98" cy="182"/>
                    </a:xfrm>
                    <a:custGeom>
                      <a:avLst/>
                      <a:gdLst/>
                      <a:ahLst/>
                      <a:cxnLst>
                        <a:cxn ang="0">
                          <a:pos x="9" y="0"/>
                        </a:cxn>
                        <a:cxn ang="0">
                          <a:pos x="14" y="30"/>
                        </a:cxn>
                        <a:cxn ang="0">
                          <a:pos x="45" y="58"/>
                        </a:cxn>
                        <a:cxn ang="0">
                          <a:pos x="49" y="88"/>
                        </a:cxn>
                        <a:cxn ang="0">
                          <a:pos x="41" y="91"/>
                        </a:cxn>
                        <a:cxn ang="0">
                          <a:pos x="36" y="60"/>
                        </a:cxn>
                        <a:cxn ang="0">
                          <a:pos x="5" y="31"/>
                        </a:cxn>
                        <a:cxn ang="0">
                          <a:pos x="0" y="2"/>
                        </a:cxn>
                        <a:cxn ang="0">
                          <a:pos x="9" y="0"/>
                        </a:cxn>
                      </a:cxnLst>
                      <a:pathLst>
                        <a:path w="197" h="363">
                          <a:moveTo>
                            <a:pt x="37" y="0"/>
                          </a:moveTo>
                          <a:lnTo>
                            <a:pt x="58" y="118"/>
                          </a:lnTo>
                          <a:lnTo>
                            <a:pt x="180" y="229"/>
                          </a:lnTo>
                          <a:lnTo>
                            <a:pt x="197" y="350"/>
                          </a:lnTo>
                          <a:lnTo>
                            <a:pt x="164" y="363"/>
                          </a:lnTo>
                          <a:lnTo>
                            <a:pt x="147" y="239"/>
                          </a:lnTo>
                          <a:lnTo>
                            <a:pt x="22" y="124"/>
                          </a:lnTo>
                          <a:lnTo>
                            <a:pt x="0" y="8"/>
                          </a:lnTo>
                          <a:lnTo>
                            <a:pt x="37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5" name="Freeform 147"/>
                    <p:cNvSpPr/>
                    <p:nvPr/>
                  </p:nvSpPr>
                  <p:spPr>
                    <a:xfrm>
                      <a:off x="3224" y="1365"/>
                      <a:ext cx="97" cy="182"/>
                    </a:xfrm>
                    <a:custGeom>
                      <a:avLst/>
                      <a:gdLst/>
                      <a:ahLst/>
                      <a:cxnLst>
                        <a:cxn ang="0">
                          <a:pos x="11" y="0"/>
                        </a:cxn>
                        <a:cxn ang="0">
                          <a:pos x="15" y="31"/>
                        </a:cxn>
                        <a:cxn ang="0">
                          <a:pos x="45" y="60"/>
                        </a:cxn>
                        <a:cxn ang="0">
                          <a:pos x="49" y="88"/>
                        </a:cxn>
                        <a:cxn ang="0">
                          <a:pos x="38" y="91"/>
                        </a:cxn>
                        <a:cxn ang="0">
                          <a:pos x="34" y="61"/>
                        </a:cxn>
                        <a:cxn ang="0">
                          <a:pos x="5" y="33"/>
                        </a:cxn>
                        <a:cxn ang="0">
                          <a:pos x="0" y="1"/>
                        </a:cxn>
                        <a:cxn ang="0">
                          <a:pos x="11" y="0"/>
                        </a:cxn>
                      </a:cxnLst>
                      <a:pathLst>
                        <a:path w="194" h="364">
                          <a:moveTo>
                            <a:pt x="41" y="0"/>
                          </a:moveTo>
                          <a:lnTo>
                            <a:pt x="59" y="124"/>
                          </a:lnTo>
                          <a:lnTo>
                            <a:pt x="177" y="237"/>
                          </a:lnTo>
                          <a:lnTo>
                            <a:pt x="194" y="352"/>
                          </a:lnTo>
                          <a:lnTo>
                            <a:pt x="149" y="364"/>
                          </a:lnTo>
                          <a:lnTo>
                            <a:pt x="136" y="244"/>
                          </a:lnTo>
                          <a:lnTo>
                            <a:pt x="19" y="131"/>
                          </a:lnTo>
                          <a:lnTo>
                            <a:pt x="0" y="2"/>
                          </a:ln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6" name="Freeform 148"/>
                    <p:cNvSpPr/>
                    <p:nvPr/>
                  </p:nvSpPr>
                  <p:spPr>
                    <a:xfrm>
                      <a:off x="3179" y="1361"/>
                      <a:ext cx="99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11" y="4"/>
                        </a:cxn>
                        <a:cxn ang="0">
                          <a:pos x="15" y="36"/>
                        </a:cxn>
                        <a:cxn ang="0">
                          <a:pos x="45" y="66"/>
                        </a:cxn>
                        <a:cxn ang="0">
                          <a:pos x="50" y="95"/>
                        </a:cxn>
                        <a:cxn ang="0">
                          <a:pos x="41" y="95"/>
                        </a:cxn>
                        <a:cxn ang="0">
                          <a:pos x="37" y="69"/>
                        </a:cxn>
                        <a:cxn ang="0">
                          <a:pos x="6" y="37"/>
                        </a:cxn>
                        <a:cxn ang="0">
                          <a:pos x="0" y="0"/>
                        </a:cxn>
                        <a:cxn ang="0">
                          <a:pos x="11" y="4"/>
                        </a:cxn>
                      </a:cxnLst>
                      <a:pathLst>
                        <a:path w="196" h="380">
                          <a:moveTo>
                            <a:pt x="44" y="13"/>
                          </a:moveTo>
                          <a:lnTo>
                            <a:pt x="60" y="142"/>
                          </a:lnTo>
                          <a:lnTo>
                            <a:pt x="179" y="264"/>
                          </a:lnTo>
                          <a:lnTo>
                            <a:pt x="196" y="378"/>
                          </a:lnTo>
                          <a:lnTo>
                            <a:pt x="160" y="380"/>
                          </a:lnTo>
                          <a:lnTo>
                            <a:pt x="145" y="274"/>
                          </a:lnTo>
                          <a:lnTo>
                            <a:pt x="21" y="148"/>
                          </a:lnTo>
                          <a:lnTo>
                            <a:pt x="0" y="0"/>
                          </a:lnTo>
                          <a:lnTo>
                            <a:pt x="44" y="13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7" name="Freeform 149"/>
                    <p:cNvSpPr/>
                    <p:nvPr/>
                  </p:nvSpPr>
                  <p:spPr>
                    <a:xfrm>
                      <a:off x="3049" y="1468"/>
                      <a:ext cx="77" cy="6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1"/>
                        </a:cxn>
                        <a:cxn ang="0">
                          <a:pos x="28" y="22"/>
                        </a:cxn>
                        <a:cxn ang="0">
                          <a:pos x="35" y="16"/>
                        </a:cxn>
                        <a:cxn ang="0">
                          <a:pos x="38" y="0"/>
                        </a:cxn>
                        <a:cxn ang="0">
                          <a:pos x="29" y="12"/>
                        </a:cxn>
                        <a:cxn ang="0">
                          <a:pos x="15" y="32"/>
                        </a:cxn>
                        <a:cxn ang="0">
                          <a:pos x="6" y="33"/>
                        </a:cxn>
                        <a:cxn ang="0">
                          <a:pos x="13" y="22"/>
                        </a:cxn>
                        <a:cxn ang="0">
                          <a:pos x="0" y="11"/>
                        </a:cxn>
                      </a:cxnLst>
                      <a:pathLst>
                        <a:path w="156" h="136">
                          <a:moveTo>
                            <a:pt x="0" y="44"/>
                          </a:moveTo>
                          <a:lnTo>
                            <a:pt x="113" y="92"/>
                          </a:lnTo>
                          <a:lnTo>
                            <a:pt x="143" y="64"/>
                          </a:lnTo>
                          <a:lnTo>
                            <a:pt x="156" y="0"/>
                          </a:lnTo>
                          <a:lnTo>
                            <a:pt x="120" y="51"/>
                          </a:lnTo>
                          <a:lnTo>
                            <a:pt x="63" y="130"/>
                          </a:lnTo>
                          <a:lnTo>
                            <a:pt x="24" y="136"/>
                          </a:lnTo>
                          <a:lnTo>
                            <a:pt x="53" y="92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8" name="Freeform 150"/>
                    <p:cNvSpPr/>
                    <p:nvPr/>
                  </p:nvSpPr>
                  <p:spPr>
                    <a:xfrm>
                      <a:off x="3137" y="1353"/>
                      <a:ext cx="102" cy="209"/>
                    </a:xfrm>
                    <a:custGeom>
                      <a:avLst/>
                      <a:gdLst/>
                      <a:ahLst/>
                      <a:cxnLst>
                        <a:cxn ang="0">
                          <a:pos x="10" y="3"/>
                        </a:cxn>
                        <a:cxn ang="0">
                          <a:pos x="16" y="44"/>
                        </a:cxn>
                        <a:cxn ang="0">
                          <a:pos x="47" y="74"/>
                        </a:cxn>
                        <a:cxn ang="0">
                          <a:pos x="51" y="102"/>
                        </a:cxn>
                        <a:cxn ang="0">
                          <a:pos x="43" y="105"/>
                        </a:cxn>
                        <a:cxn ang="0">
                          <a:pos x="39" y="77"/>
                        </a:cxn>
                        <a:cxn ang="0">
                          <a:pos x="8" y="47"/>
                        </a:cxn>
                        <a:cxn ang="0">
                          <a:pos x="0" y="0"/>
                        </a:cxn>
                        <a:cxn ang="0">
                          <a:pos x="10" y="3"/>
                        </a:cxn>
                      </a:cxnLst>
                      <a:pathLst>
                        <a:path w="204" h="418">
                          <a:moveTo>
                            <a:pt x="39" y="10"/>
                          </a:moveTo>
                          <a:lnTo>
                            <a:pt x="63" y="174"/>
                          </a:lnTo>
                          <a:lnTo>
                            <a:pt x="187" y="295"/>
                          </a:lnTo>
                          <a:lnTo>
                            <a:pt x="204" y="408"/>
                          </a:lnTo>
                          <a:lnTo>
                            <a:pt x="170" y="418"/>
                          </a:lnTo>
                          <a:lnTo>
                            <a:pt x="153" y="308"/>
                          </a:lnTo>
                          <a:lnTo>
                            <a:pt x="30" y="186"/>
                          </a:lnTo>
                          <a:lnTo>
                            <a:pt x="0" y="0"/>
                          </a:lnTo>
                          <a:lnTo>
                            <a:pt x="39" y="1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59" name="Freeform 151"/>
                    <p:cNvSpPr/>
                    <p:nvPr/>
                  </p:nvSpPr>
                  <p:spPr>
                    <a:xfrm>
                      <a:off x="3047" y="1401"/>
                      <a:ext cx="51" cy="3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26" y="13"/>
                        </a:cxn>
                        <a:cxn ang="0">
                          <a:pos x="0" y="17"/>
                        </a:cxn>
                        <a:cxn ang="0">
                          <a:pos x="8" y="11"/>
                        </a:cxn>
                        <a:cxn ang="0">
                          <a:pos x="0" y="0"/>
                        </a:cxn>
                      </a:cxnLst>
                      <a:pathLst>
                        <a:path w="100" h="67">
                          <a:moveTo>
                            <a:pt x="0" y="0"/>
                          </a:moveTo>
                          <a:lnTo>
                            <a:pt x="100" y="52"/>
                          </a:lnTo>
                          <a:lnTo>
                            <a:pt x="0" y="67"/>
                          </a:lnTo>
                          <a:lnTo>
                            <a:pt x="31" y="4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695" name="Group 152"/>
                <p:cNvGrpSpPr/>
                <p:nvPr/>
              </p:nvGrpSpPr>
              <p:grpSpPr>
                <a:xfrm>
                  <a:off x="2851" y="1756"/>
                  <a:ext cx="718" cy="633"/>
                  <a:chOff x="2851" y="1756"/>
                  <a:chExt cx="718" cy="633"/>
                </a:xfrm>
              </p:grpSpPr>
              <p:grpSp>
                <p:nvGrpSpPr>
                  <p:cNvPr id="7696" name="Group 153"/>
                  <p:cNvGrpSpPr/>
                  <p:nvPr/>
                </p:nvGrpSpPr>
                <p:grpSpPr>
                  <a:xfrm>
                    <a:off x="2851" y="1756"/>
                    <a:ext cx="710" cy="633"/>
                    <a:chOff x="2851" y="1756"/>
                    <a:chExt cx="710" cy="633"/>
                  </a:xfrm>
                </p:grpSpPr>
                <p:sp>
                  <p:nvSpPr>
                    <p:cNvPr id="7698" name="Freeform 154"/>
                    <p:cNvSpPr/>
                    <p:nvPr/>
                  </p:nvSpPr>
                  <p:spPr>
                    <a:xfrm>
                      <a:off x="2851" y="1756"/>
                      <a:ext cx="710" cy="329"/>
                    </a:xfrm>
                    <a:custGeom>
                      <a:avLst/>
                      <a:gdLst/>
                      <a:ahLst/>
                      <a:cxnLst>
                        <a:cxn ang="0">
                          <a:pos x="243" y="138"/>
                        </a:cxn>
                        <a:cxn ang="0">
                          <a:pos x="355" y="69"/>
                        </a:cxn>
                        <a:cxn ang="0">
                          <a:pos x="344" y="0"/>
                        </a:cxn>
                        <a:cxn ang="0">
                          <a:pos x="276" y="11"/>
                        </a:cxn>
                        <a:cxn ang="0">
                          <a:pos x="295" y="46"/>
                        </a:cxn>
                        <a:cxn ang="0">
                          <a:pos x="277" y="64"/>
                        </a:cxn>
                        <a:cxn ang="0">
                          <a:pos x="263" y="13"/>
                        </a:cxn>
                        <a:cxn ang="0">
                          <a:pos x="0" y="56"/>
                        </a:cxn>
                        <a:cxn ang="0">
                          <a:pos x="9" y="106"/>
                        </a:cxn>
                        <a:cxn ang="0">
                          <a:pos x="86" y="165"/>
                        </a:cxn>
                        <a:cxn ang="0">
                          <a:pos x="243" y="138"/>
                        </a:cxn>
                      </a:cxnLst>
                      <a:pathLst>
                        <a:path w="1420" h="658">
                          <a:moveTo>
                            <a:pt x="971" y="549"/>
                          </a:moveTo>
                          <a:lnTo>
                            <a:pt x="1420" y="276"/>
                          </a:lnTo>
                          <a:lnTo>
                            <a:pt x="1376" y="0"/>
                          </a:lnTo>
                          <a:lnTo>
                            <a:pt x="1104" y="44"/>
                          </a:lnTo>
                          <a:lnTo>
                            <a:pt x="1177" y="183"/>
                          </a:lnTo>
                          <a:lnTo>
                            <a:pt x="1105" y="254"/>
                          </a:lnTo>
                          <a:lnTo>
                            <a:pt x="1051" y="51"/>
                          </a:lnTo>
                          <a:lnTo>
                            <a:pt x="0" y="222"/>
                          </a:lnTo>
                          <a:lnTo>
                            <a:pt x="33" y="421"/>
                          </a:lnTo>
                          <a:lnTo>
                            <a:pt x="342" y="658"/>
                          </a:lnTo>
                          <a:lnTo>
                            <a:pt x="971" y="549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699" name="Freeform 155"/>
                    <p:cNvSpPr/>
                    <p:nvPr/>
                  </p:nvSpPr>
                  <p:spPr>
                    <a:xfrm>
                      <a:off x="2870" y="1971"/>
                      <a:ext cx="101" cy="398"/>
                    </a:xfrm>
                    <a:custGeom>
                      <a:avLst/>
                      <a:gdLst/>
                      <a:ahLst/>
                      <a:cxnLst>
                        <a:cxn ang="0">
                          <a:pos x="33" y="199"/>
                        </a:cxn>
                        <a:cxn ang="0">
                          <a:pos x="0" y="0"/>
                        </a:cxn>
                        <a:cxn ang="0">
                          <a:pos x="26" y="20"/>
                        </a:cxn>
                        <a:cxn ang="0">
                          <a:pos x="51" y="184"/>
                        </a:cxn>
                        <a:cxn ang="0">
                          <a:pos x="33" y="199"/>
                        </a:cxn>
                      </a:cxnLst>
                      <a:pathLst>
                        <a:path w="200" h="795">
                          <a:moveTo>
                            <a:pt x="128" y="795"/>
                          </a:moveTo>
                          <a:lnTo>
                            <a:pt x="0" y="0"/>
                          </a:lnTo>
                          <a:lnTo>
                            <a:pt x="100" y="77"/>
                          </a:lnTo>
                          <a:lnTo>
                            <a:pt x="200" y="736"/>
                          </a:lnTo>
                          <a:lnTo>
                            <a:pt x="128" y="795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0" name="Freeform 156"/>
                    <p:cNvSpPr/>
                    <p:nvPr/>
                  </p:nvSpPr>
                  <p:spPr>
                    <a:xfrm>
                      <a:off x="2957" y="2234"/>
                      <a:ext cx="38" cy="69"/>
                    </a:xfrm>
                    <a:custGeom>
                      <a:avLst/>
                      <a:gdLst/>
                      <a:ahLst/>
                      <a:cxnLst>
                        <a:cxn ang="0">
                          <a:pos x="19" y="32"/>
                        </a:cxn>
                        <a:cxn ang="0">
                          <a:pos x="5" y="35"/>
                        </a:cxn>
                        <a:cxn ang="0">
                          <a:pos x="0" y="3"/>
                        </a:cxn>
                        <a:cxn ang="0">
                          <a:pos x="15" y="0"/>
                        </a:cxn>
                        <a:cxn ang="0">
                          <a:pos x="19" y="32"/>
                        </a:cxn>
                      </a:cxnLst>
                      <a:pathLst>
                        <a:path w="76" h="138">
                          <a:moveTo>
                            <a:pt x="76" y="128"/>
                          </a:moveTo>
                          <a:lnTo>
                            <a:pt x="20" y="138"/>
                          </a:lnTo>
                          <a:lnTo>
                            <a:pt x="0" y="9"/>
                          </a:lnTo>
                          <a:lnTo>
                            <a:pt x="58" y="0"/>
                          </a:lnTo>
                          <a:lnTo>
                            <a:pt x="76" y="128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1" name="Freeform 157"/>
                    <p:cNvSpPr/>
                    <p:nvPr/>
                  </p:nvSpPr>
                  <p:spPr>
                    <a:xfrm>
                      <a:off x="2982" y="2177"/>
                      <a:ext cx="87" cy="180"/>
                    </a:xfrm>
                    <a:custGeom>
                      <a:avLst/>
                      <a:gdLst/>
                      <a:ahLst/>
                      <a:cxnLst>
                        <a:cxn ang="0">
                          <a:pos x="8" y="65"/>
                        </a:cxn>
                        <a:cxn ang="0">
                          <a:pos x="12" y="90"/>
                        </a:cxn>
                        <a:cxn ang="0">
                          <a:pos x="43" y="50"/>
                        </a:cxn>
                        <a:cxn ang="0">
                          <a:pos x="40" y="29"/>
                        </a:cxn>
                        <a:cxn ang="0">
                          <a:pos x="0" y="0"/>
                        </a:cxn>
                        <a:cxn ang="0">
                          <a:pos x="4" y="29"/>
                        </a:cxn>
                        <a:cxn ang="0">
                          <a:pos x="28" y="42"/>
                        </a:cxn>
                        <a:cxn ang="0">
                          <a:pos x="8" y="65"/>
                        </a:cxn>
                      </a:cxnLst>
                      <a:pathLst>
                        <a:path w="175" h="360">
                          <a:moveTo>
                            <a:pt x="33" y="257"/>
                          </a:moveTo>
                          <a:lnTo>
                            <a:pt x="48" y="360"/>
                          </a:lnTo>
                          <a:lnTo>
                            <a:pt x="175" y="198"/>
                          </a:lnTo>
                          <a:lnTo>
                            <a:pt x="162" y="114"/>
                          </a:lnTo>
                          <a:lnTo>
                            <a:pt x="0" y="0"/>
                          </a:lnTo>
                          <a:lnTo>
                            <a:pt x="16" y="114"/>
                          </a:lnTo>
                          <a:lnTo>
                            <a:pt x="113" y="165"/>
                          </a:lnTo>
                          <a:lnTo>
                            <a:pt x="33" y="257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2" name="Freeform 158"/>
                    <p:cNvSpPr/>
                    <p:nvPr/>
                  </p:nvSpPr>
                  <p:spPr>
                    <a:xfrm>
                      <a:off x="3049" y="2258"/>
                      <a:ext cx="396" cy="131"/>
                    </a:xfrm>
                    <a:custGeom>
                      <a:avLst/>
                      <a:gdLst/>
                      <a:ahLst/>
                      <a:cxnLst>
                        <a:cxn ang="0">
                          <a:pos x="198" y="40"/>
                        </a:cxn>
                        <a:cxn ang="0">
                          <a:pos x="0" y="66"/>
                        </a:cxn>
                        <a:cxn ang="0">
                          <a:pos x="32" y="21"/>
                        </a:cxn>
                        <a:cxn ang="0">
                          <a:pos x="30" y="6"/>
                        </a:cxn>
                        <a:cxn ang="0">
                          <a:pos x="65" y="0"/>
                        </a:cxn>
                        <a:cxn ang="0">
                          <a:pos x="114" y="10"/>
                        </a:cxn>
                        <a:cxn ang="0">
                          <a:pos x="159" y="4"/>
                        </a:cxn>
                        <a:cxn ang="0">
                          <a:pos x="198" y="40"/>
                        </a:cxn>
                      </a:cxnLst>
                      <a:pathLst>
                        <a:path w="791" h="262">
                          <a:moveTo>
                            <a:pt x="791" y="158"/>
                          </a:moveTo>
                          <a:lnTo>
                            <a:pt x="0" y="262"/>
                          </a:lnTo>
                          <a:lnTo>
                            <a:pt x="127" y="81"/>
                          </a:lnTo>
                          <a:lnTo>
                            <a:pt x="118" y="23"/>
                          </a:lnTo>
                          <a:lnTo>
                            <a:pt x="257" y="0"/>
                          </a:lnTo>
                          <a:lnTo>
                            <a:pt x="456" y="40"/>
                          </a:lnTo>
                          <a:lnTo>
                            <a:pt x="634" y="13"/>
                          </a:lnTo>
                          <a:lnTo>
                            <a:pt x="791" y="158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3" name="Freeform 159"/>
                    <p:cNvSpPr/>
                    <p:nvPr/>
                  </p:nvSpPr>
                  <p:spPr>
                    <a:xfrm>
                      <a:off x="2996" y="2002"/>
                      <a:ext cx="395" cy="276"/>
                    </a:xfrm>
                    <a:custGeom>
                      <a:avLst/>
                      <a:gdLst/>
                      <a:ahLst/>
                      <a:cxnLst>
                        <a:cxn ang="0">
                          <a:pos x="184" y="131"/>
                        </a:cxn>
                        <a:cxn ang="0">
                          <a:pos x="177" y="95"/>
                        </a:cxn>
                        <a:cxn ang="0">
                          <a:pos x="189" y="78"/>
                        </a:cxn>
                        <a:cxn ang="0">
                          <a:pos x="188" y="69"/>
                        </a:cxn>
                        <a:cxn ang="0">
                          <a:pos x="179" y="71"/>
                        </a:cxn>
                        <a:cxn ang="0">
                          <a:pos x="173" y="66"/>
                        </a:cxn>
                        <a:cxn ang="0">
                          <a:pos x="165" y="60"/>
                        </a:cxn>
                        <a:cxn ang="0">
                          <a:pos x="169" y="56"/>
                        </a:cxn>
                        <a:cxn ang="0">
                          <a:pos x="165" y="36"/>
                        </a:cxn>
                        <a:cxn ang="0">
                          <a:pos x="169" y="24"/>
                        </a:cxn>
                        <a:cxn ang="0">
                          <a:pos x="181" y="22"/>
                        </a:cxn>
                        <a:cxn ang="0">
                          <a:pos x="182" y="30"/>
                        </a:cxn>
                        <a:cxn ang="0">
                          <a:pos x="191" y="30"/>
                        </a:cxn>
                        <a:cxn ang="0">
                          <a:pos x="198" y="16"/>
                        </a:cxn>
                        <a:cxn ang="0">
                          <a:pos x="178" y="0"/>
                        </a:cxn>
                        <a:cxn ang="0">
                          <a:pos x="150" y="5"/>
                        </a:cxn>
                        <a:cxn ang="0">
                          <a:pos x="138" y="16"/>
                        </a:cxn>
                        <a:cxn ang="0">
                          <a:pos x="112" y="20"/>
                        </a:cxn>
                        <a:cxn ang="0">
                          <a:pos x="112" y="27"/>
                        </a:cxn>
                        <a:cxn ang="0">
                          <a:pos x="0" y="44"/>
                        </a:cxn>
                        <a:cxn ang="0">
                          <a:pos x="2" y="53"/>
                        </a:cxn>
                        <a:cxn ang="0">
                          <a:pos x="14" y="51"/>
                        </a:cxn>
                        <a:cxn ang="0">
                          <a:pos x="18" y="81"/>
                        </a:cxn>
                        <a:cxn ang="0">
                          <a:pos x="47" y="107"/>
                        </a:cxn>
                        <a:cxn ang="0">
                          <a:pos x="55" y="133"/>
                        </a:cxn>
                        <a:cxn ang="0">
                          <a:pos x="90" y="128"/>
                        </a:cxn>
                        <a:cxn ang="0">
                          <a:pos x="140" y="138"/>
                        </a:cxn>
                        <a:cxn ang="0">
                          <a:pos x="184" y="131"/>
                        </a:cxn>
                      </a:cxnLst>
                      <a:pathLst>
                        <a:path w="789" h="552">
                          <a:moveTo>
                            <a:pt x="734" y="523"/>
                          </a:moveTo>
                          <a:lnTo>
                            <a:pt x="706" y="380"/>
                          </a:lnTo>
                          <a:lnTo>
                            <a:pt x="756" y="311"/>
                          </a:lnTo>
                          <a:lnTo>
                            <a:pt x="750" y="276"/>
                          </a:lnTo>
                          <a:lnTo>
                            <a:pt x="716" y="282"/>
                          </a:lnTo>
                          <a:lnTo>
                            <a:pt x="689" y="262"/>
                          </a:lnTo>
                          <a:lnTo>
                            <a:pt x="660" y="237"/>
                          </a:lnTo>
                          <a:lnTo>
                            <a:pt x="675" y="222"/>
                          </a:lnTo>
                          <a:lnTo>
                            <a:pt x="659" y="141"/>
                          </a:lnTo>
                          <a:lnTo>
                            <a:pt x="675" y="93"/>
                          </a:lnTo>
                          <a:lnTo>
                            <a:pt x="722" y="85"/>
                          </a:lnTo>
                          <a:lnTo>
                            <a:pt x="726" y="120"/>
                          </a:lnTo>
                          <a:lnTo>
                            <a:pt x="761" y="117"/>
                          </a:lnTo>
                          <a:lnTo>
                            <a:pt x="789" y="61"/>
                          </a:lnTo>
                          <a:lnTo>
                            <a:pt x="709" y="0"/>
                          </a:lnTo>
                          <a:lnTo>
                            <a:pt x="600" y="19"/>
                          </a:lnTo>
                          <a:lnTo>
                            <a:pt x="550" y="63"/>
                          </a:lnTo>
                          <a:lnTo>
                            <a:pt x="445" y="80"/>
                          </a:lnTo>
                          <a:lnTo>
                            <a:pt x="447" y="105"/>
                          </a:lnTo>
                          <a:lnTo>
                            <a:pt x="0" y="176"/>
                          </a:lnTo>
                          <a:lnTo>
                            <a:pt x="5" y="212"/>
                          </a:lnTo>
                          <a:lnTo>
                            <a:pt x="53" y="204"/>
                          </a:lnTo>
                          <a:lnTo>
                            <a:pt x="70" y="321"/>
                          </a:lnTo>
                          <a:lnTo>
                            <a:pt x="186" y="427"/>
                          </a:lnTo>
                          <a:lnTo>
                            <a:pt x="220" y="532"/>
                          </a:lnTo>
                          <a:lnTo>
                            <a:pt x="358" y="512"/>
                          </a:lnTo>
                          <a:lnTo>
                            <a:pt x="560" y="552"/>
                          </a:lnTo>
                          <a:lnTo>
                            <a:pt x="734" y="523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4" name="Freeform 160"/>
                    <p:cNvSpPr/>
                    <p:nvPr/>
                  </p:nvSpPr>
                  <p:spPr>
                    <a:xfrm>
                      <a:off x="3400" y="1773"/>
                      <a:ext cx="148" cy="161"/>
                    </a:xfrm>
                    <a:custGeom>
                      <a:avLst/>
                      <a:gdLst/>
                      <a:ahLst/>
                      <a:cxnLst>
                        <a:cxn ang="0">
                          <a:pos x="16" y="81"/>
                        </a:cxn>
                        <a:cxn ang="0">
                          <a:pos x="74" y="30"/>
                        </a:cxn>
                        <a:cxn ang="0">
                          <a:pos x="70" y="0"/>
                        </a:cxn>
                        <a:cxn ang="0">
                          <a:pos x="0" y="66"/>
                        </a:cxn>
                        <a:cxn ang="0">
                          <a:pos x="16" y="81"/>
                        </a:cxn>
                      </a:cxnLst>
                      <a:pathLst>
                        <a:path w="296" h="320">
                          <a:moveTo>
                            <a:pt x="63" y="320"/>
                          </a:moveTo>
                          <a:lnTo>
                            <a:pt x="296" y="120"/>
                          </a:lnTo>
                          <a:lnTo>
                            <a:pt x="279" y="0"/>
                          </a:lnTo>
                          <a:lnTo>
                            <a:pt x="0" y="261"/>
                          </a:lnTo>
                          <a:lnTo>
                            <a:pt x="63" y="32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5" name="Freeform 161"/>
                    <p:cNvSpPr/>
                    <p:nvPr/>
                  </p:nvSpPr>
                  <p:spPr>
                    <a:xfrm>
                      <a:off x="3444" y="1764"/>
                      <a:ext cx="76" cy="57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3"/>
                        </a:cxn>
                        <a:cxn ang="0">
                          <a:pos x="22" y="28"/>
                        </a:cxn>
                        <a:cxn ang="0">
                          <a:pos x="0" y="5"/>
                        </a:cxn>
                        <a:cxn ang="0">
                          <a:pos x="26" y="0"/>
                        </a:cxn>
                        <a:cxn ang="0">
                          <a:pos x="38" y="13"/>
                        </a:cxn>
                      </a:cxnLst>
                      <a:pathLst>
                        <a:path w="151" h="115">
                          <a:moveTo>
                            <a:pt x="151" y="54"/>
                          </a:moveTo>
                          <a:lnTo>
                            <a:pt x="88" y="115"/>
                          </a:lnTo>
                          <a:lnTo>
                            <a:pt x="0" y="20"/>
                          </a:lnTo>
                          <a:lnTo>
                            <a:pt x="101" y="0"/>
                          </a:lnTo>
                          <a:lnTo>
                            <a:pt x="151" y="54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6" name="Freeform 162"/>
                    <p:cNvSpPr/>
                    <p:nvPr/>
                  </p:nvSpPr>
                  <p:spPr>
                    <a:xfrm>
                      <a:off x="3314" y="1790"/>
                      <a:ext cx="142" cy="181"/>
                    </a:xfrm>
                    <a:custGeom>
                      <a:avLst/>
                      <a:gdLst/>
                      <a:ahLst/>
                      <a:cxnLst>
                        <a:cxn ang="0">
                          <a:pos x="71" y="83"/>
                        </a:cxn>
                        <a:cxn ang="0">
                          <a:pos x="35" y="52"/>
                        </a:cxn>
                        <a:cxn ang="0">
                          <a:pos x="12" y="0"/>
                        </a:cxn>
                        <a:cxn ang="0">
                          <a:pos x="0" y="2"/>
                        </a:cxn>
                        <a:cxn ang="0">
                          <a:pos x="22" y="60"/>
                        </a:cxn>
                        <a:cxn ang="0">
                          <a:pos x="57" y="91"/>
                        </a:cxn>
                        <a:cxn ang="0">
                          <a:pos x="71" y="83"/>
                        </a:cxn>
                      </a:cxnLst>
                      <a:pathLst>
                        <a:path w="285" h="362">
                          <a:moveTo>
                            <a:pt x="285" y="330"/>
                          </a:moveTo>
                          <a:lnTo>
                            <a:pt x="140" y="208"/>
                          </a:lnTo>
                          <a:lnTo>
                            <a:pt x="51" y="0"/>
                          </a:lnTo>
                          <a:lnTo>
                            <a:pt x="0" y="6"/>
                          </a:lnTo>
                          <a:lnTo>
                            <a:pt x="91" y="239"/>
                          </a:lnTo>
                          <a:lnTo>
                            <a:pt x="229" y="362"/>
                          </a:lnTo>
                          <a:lnTo>
                            <a:pt x="285" y="33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7" name="Freeform 163"/>
                    <p:cNvSpPr/>
                    <p:nvPr/>
                  </p:nvSpPr>
                  <p:spPr>
                    <a:xfrm>
                      <a:off x="2900" y="1857"/>
                      <a:ext cx="111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55" y="61"/>
                        </a:cxn>
                        <a:cxn ang="0">
                          <a:pos x="48" y="70"/>
                        </a:cxn>
                        <a:cxn ang="0">
                          <a:pos x="5" y="35"/>
                        </a:cxn>
                        <a:cxn ang="0">
                          <a:pos x="0" y="3"/>
                        </a:cxn>
                        <a:cxn ang="0">
                          <a:pos x="10" y="0"/>
                        </a:cxn>
                        <a:cxn ang="0">
                          <a:pos x="15" y="29"/>
                        </a:cxn>
                        <a:cxn ang="0">
                          <a:pos x="55" y="61"/>
                        </a:cxn>
                      </a:cxnLst>
                      <a:pathLst>
                        <a:path w="223" h="280">
                          <a:moveTo>
                            <a:pt x="223" y="241"/>
                          </a:moveTo>
                          <a:lnTo>
                            <a:pt x="193" y="280"/>
                          </a:lnTo>
                          <a:lnTo>
                            <a:pt x="20" y="140"/>
                          </a:lnTo>
                          <a:lnTo>
                            <a:pt x="0" y="10"/>
                          </a:lnTo>
                          <a:lnTo>
                            <a:pt x="43" y="0"/>
                          </a:lnTo>
                          <a:lnTo>
                            <a:pt x="63" y="115"/>
                          </a:lnTo>
                          <a:lnTo>
                            <a:pt x="223" y="241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8" name="Freeform 164"/>
                    <p:cNvSpPr/>
                    <p:nvPr/>
                  </p:nvSpPr>
                  <p:spPr>
                    <a:xfrm>
                      <a:off x="2953" y="1847"/>
                      <a:ext cx="84" cy="106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53"/>
                        </a:cxn>
                        <a:cxn ang="0">
                          <a:pos x="5" y="28"/>
                        </a:cxn>
                        <a:cxn ang="0">
                          <a:pos x="0" y="3"/>
                        </a:cxn>
                        <a:cxn ang="0">
                          <a:pos x="13" y="0"/>
                        </a:cxn>
                        <a:cxn ang="0">
                          <a:pos x="18" y="26"/>
                        </a:cxn>
                        <a:cxn ang="0">
                          <a:pos x="43" y="45"/>
                        </a:cxn>
                        <a:cxn ang="0">
                          <a:pos x="36" y="53"/>
                        </a:cxn>
                      </a:cxnLst>
                      <a:pathLst>
                        <a:path w="166" h="212">
                          <a:moveTo>
                            <a:pt x="142" y="212"/>
                          </a:moveTo>
                          <a:lnTo>
                            <a:pt x="17" y="112"/>
                          </a:lnTo>
                          <a:lnTo>
                            <a:pt x="0" y="11"/>
                          </a:lnTo>
                          <a:lnTo>
                            <a:pt x="50" y="0"/>
                          </a:lnTo>
                          <a:lnTo>
                            <a:pt x="70" y="102"/>
                          </a:lnTo>
                          <a:lnTo>
                            <a:pt x="166" y="177"/>
                          </a:lnTo>
                          <a:lnTo>
                            <a:pt x="142" y="212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09" name="Freeform 165"/>
                    <p:cNvSpPr/>
                    <p:nvPr/>
                  </p:nvSpPr>
                  <p:spPr>
                    <a:xfrm>
                      <a:off x="3133" y="1802"/>
                      <a:ext cx="133" cy="110"/>
                    </a:xfrm>
                    <a:custGeom>
                      <a:avLst/>
                      <a:gdLst/>
                      <a:ahLst/>
                      <a:cxnLst>
                        <a:cxn ang="0">
                          <a:pos x="67" y="0"/>
                        </a:cxn>
                        <a:cxn ang="0">
                          <a:pos x="63" y="31"/>
                        </a:cxn>
                        <a:cxn ang="0">
                          <a:pos x="49" y="48"/>
                        </a:cxn>
                        <a:cxn ang="0">
                          <a:pos x="0" y="55"/>
                        </a:cxn>
                        <a:cxn ang="0">
                          <a:pos x="6" y="22"/>
                        </a:cxn>
                        <a:cxn ang="0">
                          <a:pos x="6" y="10"/>
                        </a:cxn>
                        <a:cxn ang="0">
                          <a:pos x="67" y="0"/>
                        </a:cxn>
                      </a:cxnLst>
                      <a:pathLst>
                        <a:path w="265" h="220">
                          <a:moveTo>
                            <a:pt x="265" y="0"/>
                          </a:moveTo>
                          <a:lnTo>
                            <a:pt x="250" y="121"/>
                          </a:lnTo>
                          <a:lnTo>
                            <a:pt x="195" y="191"/>
                          </a:lnTo>
                          <a:lnTo>
                            <a:pt x="0" y="220"/>
                          </a:lnTo>
                          <a:lnTo>
                            <a:pt x="22" y="86"/>
                          </a:lnTo>
                          <a:lnTo>
                            <a:pt x="21" y="40"/>
                          </a:lnTo>
                          <a:lnTo>
                            <a:pt x="265" y="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0" name="Freeform 166"/>
                    <p:cNvSpPr/>
                    <p:nvPr/>
                  </p:nvSpPr>
                  <p:spPr>
                    <a:xfrm>
                      <a:off x="3093" y="1806"/>
                      <a:ext cx="186" cy="137"/>
                    </a:xfrm>
                    <a:custGeom>
                      <a:avLst/>
                      <a:gdLst/>
                      <a:ahLst/>
                      <a:cxnLst>
                        <a:cxn ang="0">
                          <a:pos x="88" y="0"/>
                        </a:cxn>
                        <a:cxn ang="0">
                          <a:pos x="93" y="34"/>
                        </a:cxn>
                        <a:cxn ang="0">
                          <a:pos x="77" y="55"/>
                        </a:cxn>
                        <a:cxn ang="0">
                          <a:pos x="0" y="68"/>
                        </a:cxn>
                        <a:cxn ang="0">
                          <a:pos x="10" y="38"/>
                        </a:cxn>
                        <a:cxn ang="0">
                          <a:pos x="13" y="10"/>
                        </a:cxn>
                        <a:cxn ang="0">
                          <a:pos x="25" y="8"/>
                        </a:cxn>
                        <a:cxn ang="0">
                          <a:pos x="25" y="19"/>
                        </a:cxn>
                        <a:cxn ang="0">
                          <a:pos x="20" y="53"/>
                        </a:cxn>
                        <a:cxn ang="0">
                          <a:pos x="69" y="45"/>
                        </a:cxn>
                        <a:cxn ang="0">
                          <a:pos x="84" y="28"/>
                        </a:cxn>
                        <a:cxn ang="0">
                          <a:pos x="88" y="0"/>
                        </a:cxn>
                      </a:cxnLst>
                      <a:pathLst>
                        <a:path w="373" h="275">
                          <a:moveTo>
                            <a:pt x="352" y="0"/>
                          </a:moveTo>
                          <a:lnTo>
                            <a:pt x="373" y="138"/>
                          </a:lnTo>
                          <a:lnTo>
                            <a:pt x="308" y="223"/>
                          </a:lnTo>
                          <a:lnTo>
                            <a:pt x="0" y="275"/>
                          </a:lnTo>
                          <a:lnTo>
                            <a:pt x="42" y="152"/>
                          </a:lnTo>
                          <a:lnTo>
                            <a:pt x="54" y="41"/>
                          </a:lnTo>
                          <a:lnTo>
                            <a:pt x="102" y="34"/>
                          </a:lnTo>
                          <a:lnTo>
                            <a:pt x="101" y="79"/>
                          </a:lnTo>
                          <a:lnTo>
                            <a:pt x="81" y="213"/>
                          </a:lnTo>
                          <a:lnTo>
                            <a:pt x="279" y="182"/>
                          </a:lnTo>
                          <a:lnTo>
                            <a:pt x="339" y="112"/>
                          </a:lnTo>
                          <a:lnTo>
                            <a:pt x="352" y="0"/>
                          </a:lnTo>
                          <a:close/>
                        </a:path>
                      </a:pathLst>
                    </a:custGeom>
                    <a:solidFill>
                      <a:srgbClr val="FAFD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1" name="Freeform 167"/>
                    <p:cNvSpPr/>
                    <p:nvPr/>
                  </p:nvSpPr>
                  <p:spPr>
                    <a:xfrm>
                      <a:off x="3035" y="1800"/>
                      <a:ext cx="250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25" y="16"/>
                        </a:cxn>
                        <a:cxn ang="0">
                          <a:pos x="18" y="62"/>
                        </a:cxn>
                        <a:cxn ang="0">
                          <a:pos x="0" y="96"/>
                        </a:cxn>
                        <a:cxn ang="0">
                          <a:pos x="97" y="79"/>
                        </a:cxn>
                        <a:cxn ang="0">
                          <a:pos x="125" y="51"/>
                        </a:cxn>
                        <a:cxn ang="0">
                          <a:pos x="117" y="0"/>
                        </a:cxn>
                        <a:cxn ang="0">
                          <a:pos x="123" y="39"/>
                        </a:cxn>
                        <a:cxn ang="0">
                          <a:pos x="105" y="59"/>
                        </a:cxn>
                        <a:cxn ang="0">
                          <a:pos x="29" y="72"/>
                        </a:cxn>
                        <a:cxn ang="0">
                          <a:pos x="39" y="40"/>
                        </a:cxn>
                        <a:cxn ang="0">
                          <a:pos x="42" y="13"/>
                        </a:cxn>
                        <a:cxn ang="0">
                          <a:pos x="25" y="16"/>
                        </a:cxn>
                      </a:cxnLst>
                      <a:pathLst>
                        <a:path w="501" h="378">
                          <a:moveTo>
                            <a:pt x="103" y="63"/>
                          </a:moveTo>
                          <a:lnTo>
                            <a:pt x="74" y="246"/>
                          </a:lnTo>
                          <a:lnTo>
                            <a:pt x="0" y="378"/>
                          </a:lnTo>
                          <a:lnTo>
                            <a:pt x="389" y="315"/>
                          </a:lnTo>
                          <a:lnTo>
                            <a:pt x="501" y="201"/>
                          </a:lnTo>
                          <a:lnTo>
                            <a:pt x="471" y="0"/>
                          </a:lnTo>
                          <a:lnTo>
                            <a:pt x="494" y="154"/>
                          </a:lnTo>
                          <a:lnTo>
                            <a:pt x="422" y="235"/>
                          </a:lnTo>
                          <a:lnTo>
                            <a:pt x="118" y="284"/>
                          </a:lnTo>
                          <a:lnTo>
                            <a:pt x="159" y="157"/>
                          </a:lnTo>
                          <a:lnTo>
                            <a:pt x="170" y="51"/>
                          </a:lnTo>
                          <a:lnTo>
                            <a:pt x="103" y="63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2" name="Freeform 168"/>
                    <p:cNvSpPr/>
                    <p:nvPr/>
                  </p:nvSpPr>
                  <p:spPr>
                    <a:xfrm>
                      <a:off x="2986" y="1831"/>
                      <a:ext cx="303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150" y="35"/>
                        </a:cxn>
                        <a:cxn ang="0">
                          <a:pos x="152" y="44"/>
                        </a:cxn>
                        <a:cxn ang="0">
                          <a:pos x="121" y="77"/>
                        </a:cxn>
                        <a:cxn ang="0">
                          <a:pos x="0" y="95"/>
                        </a:cxn>
                        <a:cxn ang="0">
                          <a:pos x="28" y="48"/>
                        </a:cxn>
                        <a:cxn ang="0">
                          <a:pos x="35" y="2"/>
                        </a:cxn>
                        <a:cxn ang="0">
                          <a:pos x="50" y="0"/>
                        </a:cxn>
                        <a:cxn ang="0">
                          <a:pos x="43" y="46"/>
                        </a:cxn>
                        <a:cxn ang="0">
                          <a:pos x="24" y="80"/>
                        </a:cxn>
                        <a:cxn ang="0">
                          <a:pos x="122" y="64"/>
                        </a:cxn>
                        <a:cxn ang="0">
                          <a:pos x="150" y="35"/>
                        </a:cxn>
                      </a:cxnLst>
                      <a:pathLst>
                        <a:path w="606" h="380">
                          <a:moveTo>
                            <a:pt x="600" y="138"/>
                          </a:moveTo>
                          <a:lnTo>
                            <a:pt x="606" y="176"/>
                          </a:lnTo>
                          <a:lnTo>
                            <a:pt x="481" y="305"/>
                          </a:lnTo>
                          <a:lnTo>
                            <a:pt x="0" y="380"/>
                          </a:lnTo>
                          <a:lnTo>
                            <a:pt x="112" y="190"/>
                          </a:lnTo>
                          <a:lnTo>
                            <a:pt x="139" y="6"/>
                          </a:lnTo>
                          <a:lnTo>
                            <a:pt x="198" y="0"/>
                          </a:lnTo>
                          <a:lnTo>
                            <a:pt x="171" y="182"/>
                          </a:lnTo>
                          <a:lnTo>
                            <a:pt x="94" y="317"/>
                          </a:lnTo>
                          <a:lnTo>
                            <a:pt x="485" y="254"/>
                          </a:lnTo>
                          <a:lnTo>
                            <a:pt x="600" y="138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3" name="Freeform 169"/>
                    <p:cNvSpPr/>
                    <p:nvPr/>
                  </p:nvSpPr>
                  <p:spPr>
                    <a:xfrm>
                      <a:off x="3140" y="1995"/>
                      <a:ext cx="78" cy="72"/>
                    </a:xfrm>
                    <a:custGeom>
                      <a:avLst/>
                      <a:gdLst/>
                      <a:ahLst/>
                      <a:cxnLst>
                        <a:cxn ang="0">
                          <a:pos x="39" y="33"/>
                        </a:cxn>
                        <a:cxn ang="0">
                          <a:pos x="36" y="15"/>
                        </a:cxn>
                        <a:cxn ang="0">
                          <a:pos x="3" y="20"/>
                        </a:cxn>
                        <a:cxn ang="0">
                          <a:pos x="0" y="2"/>
                        </a:cxn>
                        <a:cxn ang="0">
                          <a:pos x="16" y="0"/>
                        </a:cxn>
                        <a:cxn ang="0">
                          <a:pos x="22" y="36"/>
                        </a:cxn>
                        <a:cxn ang="0">
                          <a:pos x="39" y="33"/>
                        </a:cxn>
                      </a:cxnLst>
                      <a:pathLst>
                        <a:path w="155" h="145">
                          <a:moveTo>
                            <a:pt x="155" y="133"/>
                          </a:moveTo>
                          <a:lnTo>
                            <a:pt x="143" y="60"/>
                          </a:lnTo>
                          <a:lnTo>
                            <a:pt x="11" y="81"/>
                          </a:lnTo>
                          <a:lnTo>
                            <a:pt x="0" y="11"/>
                          </a:lnTo>
                          <a:lnTo>
                            <a:pt x="64" y="0"/>
                          </a:lnTo>
                          <a:lnTo>
                            <a:pt x="85" y="145"/>
                          </a:lnTo>
                          <a:lnTo>
                            <a:pt x="155" y="133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4" name="Freeform 170"/>
                    <p:cNvSpPr/>
                    <p:nvPr/>
                  </p:nvSpPr>
                  <p:spPr>
                    <a:xfrm>
                      <a:off x="3106" y="2001"/>
                      <a:ext cx="77" cy="71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33"/>
                        </a:cxn>
                        <a:cxn ang="0">
                          <a:pos x="36" y="15"/>
                        </a:cxn>
                        <a:cxn ang="0">
                          <a:pos x="2" y="20"/>
                        </a:cxn>
                        <a:cxn ang="0">
                          <a:pos x="0" y="3"/>
                        </a:cxn>
                        <a:cxn ang="0">
                          <a:pos x="16" y="0"/>
                        </a:cxn>
                        <a:cxn ang="0">
                          <a:pos x="21" y="36"/>
                        </a:cxn>
                        <a:cxn ang="0">
                          <a:pos x="38" y="33"/>
                        </a:cxn>
                      </a:cxnLst>
                      <a:pathLst>
                        <a:path w="155" h="142">
                          <a:moveTo>
                            <a:pt x="155" y="131"/>
                          </a:moveTo>
                          <a:lnTo>
                            <a:pt x="144" y="59"/>
                          </a:lnTo>
                          <a:lnTo>
                            <a:pt x="9" y="80"/>
                          </a:lnTo>
                          <a:lnTo>
                            <a:pt x="0" y="9"/>
                          </a:lnTo>
                          <a:lnTo>
                            <a:pt x="64" y="0"/>
                          </a:lnTo>
                          <a:lnTo>
                            <a:pt x="86" y="142"/>
                          </a:lnTo>
                          <a:lnTo>
                            <a:pt x="155" y="131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5" name="Freeform 171"/>
                    <p:cNvSpPr/>
                    <p:nvPr/>
                  </p:nvSpPr>
                  <p:spPr>
                    <a:xfrm>
                      <a:off x="3072" y="2006"/>
                      <a:ext cx="77" cy="72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33"/>
                        </a:cxn>
                        <a:cxn ang="0">
                          <a:pos x="36" y="15"/>
                        </a:cxn>
                        <a:cxn ang="0">
                          <a:pos x="2" y="20"/>
                        </a:cxn>
                        <a:cxn ang="0">
                          <a:pos x="0" y="2"/>
                        </a:cxn>
                        <a:cxn ang="0">
                          <a:pos x="16" y="0"/>
                        </a:cxn>
                        <a:cxn ang="0">
                          <a:pos x="21" y="36"/>
                        </a:cxn>
                        <a:cxn ang="0">
                          <a:pos x="38" y="33"/>
                        </a:cxn>
                      </a:cxnLst>
                      <a:pathLst>
                        <a:path w="155" h="145">
                          <a:moveTo>
                            <a:pt x="155" y="134"/>
                          </a:moveTo>
                          <a:lnTo>
                            <a:pt x="144" y="60"/>
                          </a:lnTo>
                          <a:lnTo>
                            <a:pt x="8" y="82"/>
                          </a:lnTo>
                          <a:lnTo>
                            <a:pt x="0" y="11"/>
                          </a:lnTo>
                          <a:lnTo>
                            <a:pt x="65" y="0"/>
                          </a:lnTo>
                          <a:lnTo>
                            <a:pt x="87" y="145"/>
                          </a:lnTo>
                          <a:lnTo>
                            <a:pt x="155" y="134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6" name="Freeform 172"/>
                    <p:cNvSpPr/>
                    <p:nvPr/>
                  </p:nvSpPr>
                  <p:spPr>
                    <a:xfrm>
                      <a:off x="3036" y="2012"/>
                      <a:ext cx="78" cy="73"/>
                    </a:xfrm>
                    <a:custGeom>
                      <a:avLst/>
                      <a:gdLst/>
                      <a:ahLst/>
                      <a:cxnLst>
                        <a:cxn ang="0">
                          <a:pos x="39" y="33"/>
                        </a:cxn>
                        <a:cxn ang="0">
                          <a:pos x="37" y="15"/>
                        </a:cxn>
                        <a:cxn ang="0">
                          <a:pos x="3" y="20"/>
                        </a:cxn>
                        <a:cxn ang="0">
                          <a:pos x="0" y="2"/>
                        </a:cxn>
                        <a:cxn ang="0">
                          <a:pos x="17" y="0"/>
                        </a:cxn>
                        <a:cxn ang="0">
                          <a:pos x="22" y="36"/>
                        </a:cxn>
                        <a:cxn ang="0">
                          <a:pos x="39" y="33"/>
                        </a:cxn>
                      </a:cxnLst>
                      <a:pathLst>
                        <a:path w="156" h="147">
                          <a:moveTo>
                            <a:pt x="156" y="133"/>
                          </a:moveTo>
                          <a:lnTo>
                            <a:pt x="145" y="60"/>
                          </a:lnTo>
                          <a:lnTo>
                            <a:pt x="10" y="81"/>
                          </a:lnTo>
                          <a:lnTo>
                            <a:pt x="0" y="11"/>
                          </a:lnTo>
                          <a:lnTo>
                            <a:pt x="65" y="0"/>
                          </a:lnTo>
                          <a:lnTo>
                            <a:pt x="88" y="147"/>
                          </a:lnTo>
                          <a:lnTo>
                            <a:pt x="156" y="133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7" name="Freeform 173"/>
                    <p:cNvSpPr/>
                    <p:nvPr/>
                  </p:nvSpPr>
                  <p:spPr>
                    <a:xfrm>
                      <a:off x="3000" y="2017"/>
                      <a:ext cx="79" cy="72"/>
                    </a:xfrm>
                    <a:custGeom>
                      <a:avLst/>
                      <a:gdLst/>
                      <a:ahLst/>
                      <a:cxnLst>
                        <a:cxn ang="0">
                          <a:pos x="40" y="34"/>
                        </a:cxn>
                        <a:cxn ang="0">
                          <a:pos x="36" y="15"/>
                        </a:cxn>
                        <a:cxn ang="0">
                          <a:pos x="3" y="20"/>
                        </a:cxn>
                        <a:cxn ang="0">
                          <a:pos x="0" y="3"/>
                        </a:cxn>
                        <a:cxn ang="0">
                          <a:pos x="16" y="0"/>
                        </a:cxn>
                        <a:cxn ang="0">
                          <a:pos x="22" y="36"/>
                        </a:cxn>
                        <a:cxn ang="0">
                          <a:pos x="40" y="34"/>
                        </a:cxn>
                      </a:cxnLst>
                      <a:pathLst>
                        <a:path w="156" h="144">
                          <a:moveTo>
                            <a:pt x="156" y="135"/>
                          </a:moveTo>
                          <a:lnTo>
                            <a:pt x="143" y="60"/>
                          </a:lnTo>
                          <a:lnTo>
                            <a:pt x="11" y="80"/>
                          </a:lnTo>
                          <a:lnTo>
                            <a:pt x="0" y="11"/>
                          </a:lnTo>
                          <a:lnTo>
                            <a:pt x="63" y="0"/>
                          </a:lnTo>
                          <a:lnTo>
                            <a:pt x="85" y="144"/>
                          </a:lnTo>
                          <a:lnTo>
                            <a:pt x="156" y="135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8" name="Freeform 174"/>
                    <p:cNvSpPr/>
                    <p:nvPr/>
                  </p:nvSpPr>
                  <p:spPr>
                    <a:xfrm>
                      <a:off x="2968" y="2022"/>
                      <a:ext cx="78" cy="72"/>
                    </a:xfrm>
                    <a:custGeom>
                      <a:avLst/>
                      <a:gdLst/>
                      <a:ahLst/>
                      <a:cxnLst>
                        <a:cxn ang="0">
                          <a:pos x="39" y="34"/>
                        </a:cxn>
                        <a:cxn ang="0">
                          <a:pos x="37" y="15"/>
                        </a:cxn>
                        <a:cxn ang="0">
                          <a:pos x="3" y="21"/>
                        </a:cxn>
                        <a:cxn ang="0">
                          <a:pos x="0" y="3"/>
                        </a:cxn>
                        <a:cxn ang="0">
                          <a:pos x="16" y="0"/>
                        </a:cxn>
                        <a:cxn ang="0">
                          <a:pos x="22" y="36"/>
                        </a:cxn>
                        <a:cxn ang="0">
                          <a:pos x="39" y="34"/>
                        </a:cxn>
                      </a:cxnLst>
                      <a:pathLst>
                        <a:path w="156" h="144">
                          <a:moveTo>
                            <a:pt x="156" y="134"/>
                          </a:moveTo>
                          <a:lnTo>
                            <a:pt x="145" y="60"/>
                          </a:lnTo>
                          <a:lnTo>
                            <a:pt x="11" y="81"/>
                          </a:lnTo>
                          <a:lnTo>
                            <a:pt x="0" y="10"/>
                          </a:lnTo>
                          <a:lnTo>
                            <a:pt x="64" y="0"/>
                          </a:lnTo>
                          <a:lnTo>
                            <a:pt x="85" y="144"/>
                          </a:lnTo>
                          <a:lnTo>
                            <a:pt x="156" y="134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19" name="Freeform 175"/>
                    <p:cNvSpPr/>
                    <p:nvPr/>
                  </p:nvSpPr>
                  <p:spPr>
                    <a:xfrm>
                      <a:off x="2935" y="2028"/>
                      <a:ext cx="78" cy="72"/>
                    </a:xfrm>
                    <a:custGeom>
                      <a:avLst/>
                      <a:gdLst/>
                      <a:ahLst/>
                      <a:cxnLst>
                        <a:cxn ang="0">
                          <a:pos x="39" y="33"/>
                        </a:cxn>
                        <a:cxn ang="0">
                          <a:pos x="36" y="15"/>
                        </a:cxn>
                        <a:cxn ang="0">
                          <a:pos x="2" y="20"/>
                        </a:cxn>
                        <a:cxn ang="0">
                          <a:pos x="0" y="2"/>
                        </a:cxn>
                        <a:cxn ang="0">
                          <a:pos x="16" y="0"/>
                        </a:cxn>
                        <a:cxn ang="0">
                          <a:pos x="21" y="36"/>
                        </a:cxn>
                        <a:cxn ang="0">
                          <a:pos x="39" y="33"/>
                        </a:cxn>
                      </a:cxnLst>
                      <a:pathLst>
                        <a:path w="157" h="145">
                          <a:moveTo>
                            <a:pt x="157" y="133"/>
                          </a:moveTo>
                          <a:lnTo>
                            <a:pt x="146" y="60"/>
                          </a:lnTo>
                          <a:lnTo>
                            <a:pt x="11" y="81"/>
                          </a:lnTo>
                          <a:lnTo>
                            <a:pt x="0" y="11"/>
                          </a:lnTo>
                          <a:lnTo>
                            <a:pt x="66" y="0"/>
                          </a:lnTo>
                          <a:lnTo>
                            <a:pt x="86" y="145"/>
                          </a:lnTo>
                          <a:lnTo>
                            <a:pt x="157" y="133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20" name="Freeform 176"/>
                    <p:cNvSpPr/>
                    <p:nvPr/>
                  </p:nvSpPr>
                  <p:spPr>
                    <a:xfrm>
                      <a:off x="3268" y="1795"/>
                      <a:ext cx="136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68" y="97"/>
                        </a:cxn>
                        <a:cxn ang="0">
                          <a:pos x="33" y="66"/>
                        </a:cxn>
                        <a:cxn ang="0">
                          <a:pos x="12" y="0"/>
                        </a:cxn>
                        <a:cxn ang="0">
                          <a:pos x="0" y="3"/>
                        </a:cxn>
                        <a:cxn ang="0">
                          <a:pos x="14" y="71"/>
                        </a:cxn>
                        <a:cxn ang="0">
                          <a:pos x="49" y="108"/>
                        </a:cxn>
                        <a:cxn ang="0">
                          <a:pos x="68" y="97"/>
                        </a:cxn>
                      </a:cxnLst>
                      <a:pathLst>
                        <a:path w="271" h="430">
                          <a:moveTo>
                            <a:pt x="271" y="387"/>
                          </a:moveTo>
                          <a:lnTo>
                            <a:pt x="132" y="262"/>
                          </a:lnTo>
                          <a:lnTo>
                            <a:pt x="48" y="0"/>
                          </a:lnTo>
                          <a:lnTo>
                            <a:pt x="0" y="12"/>
                          </a:lnTo>
                          <a:lnTo>
                            <a:pt x="55" y="281"/>
                          </a:lnTo>
                          <a:lnTo>
                            <a:pt x="194" y="430"/>
                          </a:lnTo>
                          <a:lnTo>
                            <a:pt x="271" y="387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21" name="Freeform 177"/>
                    <p:cNvSpPr/>
                    <p:nvPr/>
                  </p:nvSpPr>
                  <p:spPr>
                    <a:xfrm>
                      <a:off x="3112" y="2275"/>
                      <a:ext cx="282" cy="34"/>
                    </a:xfrm>
                    <a:custGeom>
                      <a:avLst/>
                      <a:gdLst/>
                      <a:ahLst/>
                      <a:cxnLst>
                        <a:cxn ang="0">
                          <a:pos x="141" y="9"/>
                        </a:cxn>
                        <a:cxn ang="0">
                          <a:pos x="79" y="17"/>
                        </a:cxn>
                        <a:cxn ang="0">
                          <a:pos x="34" y="7"/>
                        </a:cxn>
                        <a:cxn ang="0">
                          <a:pos x="2" y="13"/>
                        </a:cxn>
                        <a:cxn ang="0">
                          <a:pos x="0" y="5"/>
                        </a:cxn>
                        <a:cxn ang="0">
                          <a:pos x="33" y="0"/>
                        </a:cxn>
                        <a:cxn ang="0">
                          <a:pos x="80" y="11"/>
                        </a:cxn>
                        <a:cxn ang="0">
                          <a:pos x="134" y="2"/>
                        </a:cxn>
                        <a:cxn ang="0">
                          <a:pos x="141" y="9"/>
                        </a:cxn>
                      </a:cxnLst>
                      <a:pathLst>
                        <a:path w="564" h="68">
                          <a:moveTo>
                            <a:pt x="564" y="33"/>
                          </a:moveTo>
                          <a:lnTo>
                            <a:pt x="315" y="68"/>
                          </a:lnTo>
                          <a:lnTo>
                            <a:pt x="136" y="28"/>
                          </a:lnTo>
                          <a:lnTo>
                            <a:pt x="6" y="49"/>
                          </a:lnTo>
                          <a:lnTo>
                            <a:pt x="0" y="19"/>
                          </a:lnTo>
                          <a:lnTo>
                            <a:pt x="130" y="0"/>
                          </a:lnTo>
                          <a:lnTo>
                            <a:pt x="318" y="41"/>
                          </a:lnTo>
                          <a:lnTo>
                            <a:pt x="536" y="7"/>
                          </a:lnTo>
                          <a:lnTo>
                            <a:pt x="564" y="33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22" name="Freeform 178"/>
                    <p:cNvSpPr/>
                    <p:nvPr/>
                  </p:nvSpPr>
                  <p:spPr>
                    <a:xfrm>
                      <a:off x="3035" y="2089"/>
                      <a:ext cx="98" cy="182"/>
                    </a:xfrm>
                    <a:custGeom>
                      <a:avLst/>
                      <a:gdLst/>
                      <a:ahLst/>
                      <a:cxnLst>
                        <a:cxn ang="0">
                          <a:pos x="40" y="91"/>
                        </a:cxn>
                        <a:cxn ang="0">
                          <a:pos x="35" y="62"/>
                        </a:cxn>
                        <a:cxn ang="0">
                          <a:pos x="4" y="34"/>
                        </a:cxn>
                        <a:cxn ang="0">
                          <a:pos x="0" y="4"/>
                        </a:cxn>
                        <a:cxn ang="0">
                          <a:pos x="8" y="0"/>
                        </a:cxn>
                        <a:cxn ang="0">
                          <a:pos x="12" y="31"/>
                        </a:cxn>
                        <a:cxn ang="0">
                          <a:pos x="43" y="60"/>
                        </a:cxn>
                        <a:cxn ang="0">
                          <a:pos x="49" y="89"/>
                        </a:cxn>
                        <a:cxn ang="0">
                          <a:pos x="40" y="91"/>
                        </a:cxn>
                      </a:cxnLst>
                      <a:pathLst>
                        <a:path w="197" h="363">
                          <a:moveTo>
                            <a:pt x="160" y="363"/>
                          </a:moveTo>
                          <a:lnTo>
                            <a:pt x="140" y="245"/>
                          </a:lnTo>
                          <a:lnTo>
                            <a:pt x="17" y="134"/>
                          </a:lnTo>
                          <a:lnTo>
                            <a:pt x="0" y="13"/>
                          </a:lnTo>
                          <a:lnTo>
                            <a:pt x="33" y="0"/>
                          </a:lnTo>
                          <a:lnTo>
                            <a:pt x="50" y="124"/>
                          </a:lnTo>
                          <a:lnTo>
                            <a:pt x="175" y="239"/>
                          </a:lnTo>
                          <a:lnTo>
                            <a:pt x="197" y="355"/>
                          </a:lnTo>
                          <a:lnTo>
                            <a:pt x="160" y="363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23" name="Freeform 179"/>
                    <p:cNvSpPr/>
                    <p:nvPr/>
                  </p:nvSpPr>
                  <p:spPr>
                    <a:xfrm>
                      <a:off x="3075" y="2083"/>
                      <a:ext cx="97" cy="182"/>
                    </a:xfrm>
                    <a:custGeom>
                      <a:avLst/>
                      <a:gdLst/>
                      <a:ahLst/>
                      <a:cxnLst>
                        <a:cxn ang="0">
                          <a:pos x="39" y="91"/>
                        </a:cxn>
                        <a:cxn ang="0">
                          <a:pos x="34" y="60"/>
                        </a:cxn>
                        <a:cxn ang="0">
                          <a:pos x="5" y="32"/>
                        </a:cxn>
                        <a:cxn ang="0">
                          <a:pos x="0" y="3"/>
                        </a:cxn>
                        <a:cxn ang="0">
                          <a:pos x="12" y="0"/>
                        </a:cxn>
                        <a:cxn ang="0">
                          <a:pos x="15" y="30"/>
                        </a:cxn>
                        <a:cxn ang="0">
                          <a:pos x="44" y="59"/>
                        </a:cxn>
                        <a:cxn ang="0">
                          <a:pos x="49" y="91"/>
                        </a:cxn>
                        <a:cxn ang="0">
                          <a:pos x="39" y="91"/>
                        </a:cxn>
                      </a:cxnLst>
                      <a:pathLst>
                        <a:path w="194" h="364">
                          <a:moveTo>
                            <a:pt x="153" y="364"/>
                          </a:moveTo>
                          <a:lnTo>
                            <a:pt x="136" y="240"/>
                          </a:lnTo>
                          <a:lnTo>
                            <a:pt x="17" y="127"/>
                          </a:lnTo>
                          <a:lnTo>
                            <a:pt x="0" y="12"/>
                          </a:lnTo>
                          <a:lnTo>
                            <a:pt x="45" y="0"/>
                          </a:lnTo>
                          <a:lnTo>
                            <a:pt x="59" y="120"/>
                          </a:lnTo>
                          <a:lnTo>
                            <a:pt x="175" y="234"/>
                          </a:lnTo>
                          <a:lnTo>
                            <a:pt x="194" y="362"/>
                          </a:lnTo>
                          <a:lnTo>
                            <a:pt x="153" y="364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24" name="Freeform 180"/>
                    <p:cNvSpPr/>
                    <p:nvPr/>
                  </p:nvSpPr>
                  <p:spPr>
                    <a:xfrm>
                      <a:off x="3118" y="2079"/>
                      <a:ext cx="100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39" y="92"/>
                        </a:cxn>
                        <a:cxn ang="0">
                          <a:pos x="35" y="60"/>
                        </a:cxn>
                        <a:cxn ang="0">
                          <a:pos x="5" y="29"/>
                        </a:cxn>
                        <a:cxn ang="0">
                          <a:pos x="0" y="1"/>
                        </a:cxn>
                        <a:cxn ang="0">
                          <a:pos x="10" y="0"/>
                        </a:cxn>
                        <a:cxn ang="0">
                          <a:pos x="13" y="27"/>
                        </a:cxn>
                        <a:cxn ang="0">
                          <a:pos x="45" y="58"/>
                        </a:cxn>
                        <a:cxn ang="0">
                          <a:pos x="50" y="95"/>
                        </a:cxn>
                        <a:cxn ang="0">
                          <a:pos x="39" y="92"/>
                        </a:cxn>
                      </a:cxnLst>
                      <a:pathLst>
                        <a:path w="199" h="380">
                          <a:moveTo>
                            <a:pt x="154" y="367"/>
                          </a:moveTo>
                          <a:lnTo>
                            <a:pt x="138" y="238"/>
                          </a:lnTo>
                          <a:lnTo>
                            <a:pt x="17" y="116"/>
                          </a:lnTo>
                          <a:lnTo>
                            <a:pt x="0" y="2"/>
                          </a:lnTo>
                          <a:lnTo>
                            <a:pt x="38" y="0"/>
                          </a:lnTo>
                          <a:lnTo>
                            <a:pt x="52" y="106"/>
                          </a:lnTo>
                          <a:lnTo>
                            <a:pt x="178" y="232"/>
                          </a:lnTo>
                          <a:lnTo>
                            <a:pt x="199" y="380"/>
                          </a:lnTo>
                          <a:lnTo>
                            <a:pt x="154" y="367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25" name="Freeform 181"/>
                    <p:cNvSpPr/>
                    <p:nvPr/>
                  </p:nvSpPr>
                  <p:spPr>
                    <a:xfrm>
                      <a:off x="3264" y="2093"/>
                      <a:ext cx="79" cy="68"/>
                    </a:xfrm>
                    <a:custGeom>
                      <a:avLst/>
                      <a:gdLst/>
                      <a:ahLst/>
                      <a:cxnLst>
                        <a:cxn ang="0">
                          <a:pos x="40" y="23"/>
                        </a:cxn>
                        <a:cxn ang="0">
                          <a:pos x="11" y="11"/>
                        </a:cxn>
                        <a:cxn ang="0">
                          <a:pos x="3" y="18"/>
                        </a:cxn>
                        <a:cxn ang="0">
                          <a:pos x="0" y="34"/>
                        </a:cxn>
                        <a:cxn ang="0">
                          <a:pos x="9" y="21"/>
                        </a:cxn>
                        <a:cxn ang="0">
                          <a:pos x="24" y="2"/>
                        </a:cxn>
                        <a:cxn ang="0">
                          <a:pos x="34" y="0"/>
                        </a:cxn>
                        <a:cxn ang="0">
                          <a:pos x="26" y="11"/>
                        </a:cxn>
                        <a:cxn ang="0">
                          <a:pos x="40" y="23"/>
                        </a:cxn>
                      </a:cxnLst>
                      <a:pathLst>
                        <a:path w="157" h="135">
                          <a:moveTo>
                            <a:pt x="157" y="91"/>
                          </a:moveTo>
                          <a:lnTo>
                            <a:pt x="42" y="44"/>
                          </a:lnTo>
                          <a:lnTo>
                            <a:pt x="12" y="72"/>
                          </a:lnTo>
                          <a:lnTo>
                            <a:pt x="0" y="135"/>
                          </a:lnTo>
                          <a:lnTo>
                            <a:pt x="35" y="84"/>
                          </a:lnTo>
                          <a:lnTo>
                            <a:pt x="94" y="6"/>
                          </a:lnTo>
                          <a:lnTo>
                            <a:pt x="133" y="0"/>
                          </a:lnTo>
                          <a:lnTo>
                            <a:pt x="103" y="44"/>
                          </a:lnTo>
                          <a:lnTo>
                            <a:pt x="157" y="91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26" name="Freeform 182"/>
                    <p:cNvSpPr/>
                    <p:nvPr/>
                  </p:nvSpPr>
                  <p:spPr>
                    <a:xfrm>
                      <a:off x="3157" y="2068"/>
                      <a:ext cx="102" cy="209"/>
                    </a:xfrm>
                    <a:custGeom>
                      <a:avLst/>
                      <a:gdLst/>
                      <a:ahLst/>
                      <a:cxnLst>
                        <a:cxn ang="0">
                          <a:pos x="42" y="102"/>
                        </a:cxn>
                        <a:cxn ang="0">
                          <a:pos x="36" y="61"/>
                        </a:cxn>
                        <a:cxn ang="0">
                          <a:pos x="5" y="31"/>
                        </a:cxn>
                        <a:cxn ang="0">
                          <a:pos x="0" y="3"/>
                        </a:cxn>
                        <a:cxn ang="0">
                          <a:pos x="9" y="0"/>
                        </a:cxn>
                        <a:cxn ang="0">
                          <a:pos x="13" y="28"/>
                        </a:cxn>
                        <a:cxn ang="0">
                          <a:pos x="44" y="58"/>
                        </a:cxn>
                        <a:cxn ang="0">
                          <a:pos x="51" y="105"/>
                        </a:cxn>
                        <a:cxn ang="0">
                          <a:pos x="42" y="102"/>
                        </a:cxn>
                      </a:cxnLst>
                      <a:pathLst>
                        <a:path w="204" h="418">
                          <a:moveTo>
                            <a:pt x="165" y="408"/>
                          </a:moveTo>
                          <a:lnTo>
                            <a:pt x="142" y="244"/>
                          </a:lnTo>
                          <a:lnTo>
                            <a:pt x="17" y="123"/>
                          </a:lnTo>
                          <a:lnTo>
                            <a:pt x="0" y="10"/>
                          </a:lnTo>
                          <a:lnTo>
                            <a:pt x="34" y="0"/>
                          </a:lnTo>
                          <a:lnTo>
                            <a:pt x="51" y="110"/>
                          </a:lnTo>
                          <a:lnTo>
                            <a:pt x="174" y="232"/>
                          </a:lnTo>
                          <a:lnTo>
                            <a:pt x="204" y="418"/>
                          </a:lnTo>
                          <a:lnTo>
                            <a:pt x="165" y="408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727" name="Freeform 183"/>
                    <p:cNvSpPr/>
                    <p:nvPr/>
                  </p:nvSpPr>
                  <p:spPr>
                    <a:xfrm>
                      <a:off x="3294" y="2191"/>
                      <a:ext cx="51" cy="33"/>
                    </a:xfrm>
                    <a:custGeom>
                      <a:avLst/>
                      <a:gdLst/>
                      <a:ahLst/>
                      <a:cxnLst>
                        <a:cxn ang="0">
                          <a:pos x="26" y="16"/>
                        </a:cxn>
                        <a:cxn ang="0">
                          <a:pos x="0" y="3"/>
                        </a:cxn>
                        <a:cxn ang="0">
                          <a:pos x="26" y="0"/>
                        </a:cxn>
                        <a:cxn ang="0">
                          <a:pos x="18" y="6"/>
                        </a:cxn>
                        <a:cxn ang="0">
                          <a:pos x="26" y="16"/>
                        </a:cxn>
                      </a:cxnLst>
                      <a:pathLst>
                        <a:path w="102" h="67">
                          <a:moveTo>
                            <a:pt x="102" y="67"/>
                          </a:moveTo>
                          <a:lnTo>
                            <a:pt x="0" y="15"/>
                          </a:lnTo>
                          <a:lnTo>
                            <a:pt x="102" y="0"/>
                          </a:lnTo>
                          <a:lnTo>
                            <a:pt x="70" y="25"/>
                          </a:lnTo>
                          <a:lnTo>
                            <a:pt x="102" y="67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697" name="Freeform 184"/>
                  <p:cNvSpPr/>
                  <p:nvPr/>
                </p:nvSpPr>
                <p:spPr>
                  <a:xfrm>
                    <a:off x="3424" y="2041"/>
                    <a:ext cx="145" cy="257"/>
                  </a:xfrm>
                  <a:custGeom>
                    <a:avLst/>
                    <a:gdLst/>
                    <a:ahLst/>
                    <a:cxnLst>
                      <a:cxn ang="0">
                        <a:pos x="26" y="0"/>
                      </a:cxn>
                      <a:cxn ang="0">
                        <a:pos x="0" y="68"/>
                      </a:cxn>
                      <a:cxn ang="0">
                        <a:pos x="47" y="129"/>
                      </a:cxn>
                      <a:cxn ang="0">
                        <a:pos x="73" y="60"/>
                      </a:cxn>
                      <a:cxn ang="0">
                        <a:pos x="26" y="0"/>
                      </a:cxn>
                    </a:cxnLst>
                    <a:pathLst>
                      <a:path w="289" h="514">
                        <a:moveTo>
                          <a:pt x="102" y="0"/>
                        </a:moveTo>
                        <a:lnTo>
                          <a:pt x="0" y="272"/>
                        </a:lnTo>
                        <a:lnTo>
                          <a:pt x="186" y="514"/>
                        </a:lnTo>
                        <a:lnTo>
                          <a:pt x="289" y="237"/>
                        </a:lnTo>
                        <a:lnTo>
                          <a:pt x="102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3" name="Group 185"/>
          <p:cNvGrpSpPr/>
          <p:nvPr/>
        </p:nvGrpSpPr>
        <p:grpSpPr>
          <a:xfrm rot="1342114">
            <a:off x="3657600" y="3429000"/>
            <a:ext cx="1560513" cy="2493963"/>
            <a:chOff x="4080" y="1200"/>
            <a:chExt cx="983" cy="1571"/>
          </a:xfrm>
        </p:grpSpPr>
        <p:sp>
          <p:nvSpPr>
            <p:cNvPr id="7675" name="Freeform 186"/>
            <p:cNvSpPr/>
            <p:nvPr/>
          </p:nvSpPr>
          <p:spPr>
            <a:xfrm>
              <a:off x="4080" y="1200"/>
              <a:ext cx="983" cy="1571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2" y="22"/>
                </a:cxn>
                <a:cxn ang="0">
                  <a:pos x="7" y="10"/>
                </a:cxn>
                <a:cxn ang="0">
                  <a:pos x="17" y="3"/>
                </a:cxn>
                <a:cxn ang="0">
                  <a:pos x="32" y="0"/>
                </a:cxn>
                <a:cxn ang="0">
                  <a:pos x="453" y="0"/>
                </a:cxn>
                <a:cxn ang="0">
                  <a:pos x="468" y="2"/>
                </a:cxn>
                <a:cxn ang="0">
                  <a:pos x="481" y="9"/>
                </a:cxn>
                <a:cxn ang="0">
                  <a:pos x="489" y="22"/>
                </a:cxn>
                <a:cxn ang="0">
                  <a:pos x="491" y="41"/>
                </a:cxn>
                <a:cxn ang="0">
                  <a:pos x="491" y="742"/>
                </a:cxn>
                <a:cxn ang="0">
                  <a:pos x="491" y="761"/>
                </a:cxn>
                <a:cxn ang="0">
                  <a:pos x="487" y="772"/>
                </a:cxn>
                <a:cxn ang="0">
                  <a:pos x="480" y="780"/>
                </a:cxn>
                <a:cxn ang="0">
                  <a:pos x="471" y="786"/>
                </a:cxn>
                <a:cxn ang="0">
                  <a:pos x="27" y="786"/>
                </a:cxn>
                <a:cxn ang="0">
                  <a:pos x="15" y="783"/>
                </a:cxn>
                <a:cxn ang="0">
                  <a:pos x="7" y="776"/>
                </a:cxn>
                <a:cxn ang="0">
                  <a:pos x="2" y="768"/>
                </a:cxn>
                <a:cxn ang="0">
                  <a:pos x="0" y="753"/>
                </a:cxn>
                <a:cxn ang="0">
                  <a:pos x="0" y="38"/>
                </a:cxn>
              </a:cxnLst>
              <a:pathLst>
                <a:path w="1968" h="3140">
                  <a:moveTo>
                    <a:pt x="0" y="150"/>
                  </a:moveTo>
                  <a:lnTo>
                    <a:pt x="8" y="86"/>
                  </a:lnTo>
                  <a:lnTo>
                    <a:pt x="28" y="38"/>
                  </a:lnTo>
                  <a:lnTo>
                    <a:pt x="69" y="11"/>
                  </a:lnTo>
                  <a:lnTo>
                    <a:pt x="128" y="0"/>
                  </a:lnTo>
                  <a:lnTo>
                    <a:pt x="1816" y="0"/>
                  </a:lnTo>
                  <a:lnTo>
                    <a:pt x="1876" y="5"/>
                  </a:lnTo>
                  <a:lnTo>
                    <a:pt x="1926" y="33"/>
                  </a:lnTo>
                  <a:lnTo>
                    <a:pt x="1957" y="86"/>
                  </a:lnTo>
                  <a:lnTo>
                    <a:pt x="1968" y="161"/>
                  </a:lnTo>
                  <a:lnTo>
                    <a:pt x="1968" y="2965"/>
                  </a:lnTo>
                  <a:lnTo>
                    <a:pt x="1966" y="3040"/>
                  </a:lnTo>
                  <a:lnTo>
                    <a:pt x="1952" y="3084"/>
                  </a:lnTo>
                  <a:lnTo>
                    <a:pt x="1921" y="3117"/>
                  </a:lnTo>
                  <a:lnTo>
                    <a:pt x="1886" y="3139"/>
                  </a:lnTo>
                  <a:lnTo>
                    <a:pt x="110" y="3140"/>
                  </a:lnTo>
                  <a:lnTo>
                    <a:pt x="62" y="3128"/>
                  </a:lnTo>
                  <a:lnTo>
                    <a:pt x="28" y="3101"/>
                  </a:lnTo>
                  <a:lnTo>
                    <a:pt x="8" y="3068"/>
                  </a:lnTo>
                  <a:lnTo>
                    <a:pt x="0" y="3009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317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7676" name="Group 187"/>
            <p:cNvGrpSpPr/>
            <p:nvPr/>
          </p:nvGrpSpPr>
          <p:grpSpPr>
            <a:xfrm>
              <a:off x="4126" y="1249"/>
              <a:ext cx="891" cy="1443"/>
              <a:chOff x="2973" y="1096"/>
              <a:chExt cx="891" cy="1443"/>
            </a:xfrm>
          </p:grpSpPr>
          <p:sp>
            <p:nvSpPr>
              <p:cNvPr id="7677" name="Freeform 188"/>
              <p:cNvSpPr/>
              <p:nvPr/>
            </p:nvSpPr>
            <p:spPr>
              <a:xfrm>
                <a:off x="3310" y="1654"/>
                <a:ext cx="213" cy="3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0" y="90"/>
                  </a:cxn>
                  <a:cxn ang="0">
                    <a:pos x="55" y="180"/>
                  </a:cxn>
                  <a:cxn ang="0">
                    <a:pos x="107" y="90"/>
                  </a:cxn>
                  <a:cxn ang="0">
                    <a:pos x="54" y="0"/>
                  </a:cxn>
                </a:cxnLst>
                <a:pathLst>
                  <a:path w="425" h="720">
                    <a:moveTo>
                      <a:pt x="215" y="0"/>
                    </a:moveTo>
                    <a:lnTo>
                      <a:pt x="0" y="360"/>
                    </a:lnTo>
                    <a:lnTo>
                      <a:pt x="220" y="720"/>
                    </a:lnTo>
                    <a:lnTo>
                      <a:pt x="425" y="360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rgbClr val="E0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678" name="Freeform 189"/>
              <p:cNvSpPr/>
              <p:nvPr/>
            </p:nvSpPr>
            <p:spPr>
              <a:xfrm>
                <a:off x="2973" y="1265"/>
                <a:ext cx="95" cy="15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0" y="40"/>
                  </a:cxn>
                  <a:cxn ang="0">
                    <a:pos x="27" y="79"/>
                  </a:cxn>
                  <a:cxn ang="0">
                    <a:pos x="48" y="38"/>
                  </a:cxn>
                  <a:cxn ang="0">
                    <a:pos x="25" y="0"/>
                  </a:cxn>
                </a:cxnLst>
                <a:pathLst>
                  <a:path w="189" h="316">
                    <a:moveTo>
                      <a:pt x="100" y="0"/>
                    </a:moveTo>
                    <a:lnTo>
                      <a:pt x="0" y="157"/>
                    </a:lnTo>
                    <a:lnTo>
                      <a:pt x="105" y="316"/>
                    </a:lnTo>
                    <a:lnTo>
                      <a:pt x="189" y="15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679" name="Freeform 190"/>
              <p:cNvSpPr/>
              <p:nvPr/>
            </p:nvSpPr>
            <p:spPr>
              <a:xfrm>
                <a:off x="3772" y="2208"/>
                <a:ext cx="90" cy="164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0" y="43"/>
                  </a:cxn>
                  <a:cxn ang="0">
                    <a:pos x="24" y="82"/>
                  </a:cxn>
                  <a:cxn ang="0">
                    <a:pos x="45" y="43"/>
                  </a:cxn>
                  <a:cxn ang="0">
                    <a:pos x="23" y="0"/>
                  </a:cxn>
                </a:cxnLst>
                <a:pathLst>
                  <a:path w="179" h="327">
                    <a:moveTo>
                      <a:pt x="89" y="0"/>
                    </a:moveTo>
                    <a:lnTo>
                      <a:pt x="0" y="169"/>
                    </a:lnTo>
                    <a:lnTo>
                      <a:pt x="95" y="327"/>
                    </a:lnTo>
                    <a:lnTo>
                      <a:pt x="179" y="169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680" name="Group 191"/>
              <p:cNvGrpSpPr/>
              <p:nvPr/>
            </p:nvGrpSpPr>
            <p:grpSpPr>
              <a:xfrm>
                <a:off x="2980" y="1096"/>
                <a:ext cx="85" cy="146"/>
                <a:chOff x="2980" y="1096"/>
                <a:chExt cx="85" cy="146"/>
              </a:xfrm>
            </p:grpSpPr>
            <p:sp>
              <p:nvSpPr>
                <p:cNvPr id="7684" name="Freeform 192"/>
                <p:cNvSpPr/>
                <p:nvPr/>
              </p:nvSpPr>
              <p:spPr>
                <a:xfrm>
                  <a:off x="2980" y="1096"/>
                  <a:ext cx="85" cy="146"/>
                </a:xfrm>
                <a:custGeom>
                  <a:avLst/>
                  <a:gdLst/>
                  <a:ahLst/>
                  <a:cxnLst>
                    <a:cxn ang="0">
                      <a:pos x="13" y="72"/>
                    </a:cxn>
                    <a:cxn ang="0">
                      <a:pos x="0" y="72"/>
                    </a:cxn>
                    <a:cxn ang="0">
                      <a:pos x="11" y="0"/>
                    </a:cxn>
                    <a:cxn ang="0">
                      <a:pos x="32" y="0"/>
                    </a:cxn>
                    <a:cxn ang="0">
                      <a:pos x="43" y="73"/>
                    </a:cxn>
                    <a:cxn ang="0">
                      <a:pos x="28" y="73"/>
                    </a:cxn>
                    <a:cxn ang="0">
                      <a:pos x="26" y="60"/>
                    </a:cxn>
                    <a:cxn ang="0">
                      <a:pos x="17" y="60"/>
                    </a:cxn>
                    <a:cxn ang="0">
                      <a:pos x="13" y="72"/>
                    </a:cxn>
                  </a:cxnLst>
                  <a:pathLst>
                    <a:path w="170" h="293">
                      <a:moveTo>
                        <a:pt x="52" y="290"/>
                      </a:moveTo>
                      <a:lnTo>
                        <a:pt x="0" y="290"/>
                      </a:lnTo>
                      <a:lnTo>
                        <a:pt x="41" y="0"/>
                      </a:lnTo>
                      <a:lnTo>
                        <a:pt x="127" y="0"/>
                      </a:lnTo>
                      <a:lnTo>
                        <a:pt x="170" y="293"/>
                      </a:lnTo>
                      <a:lnTo>
                        <a:pt x="112" y="293"/>
                      </a:lnTo>
                      <a:lnTo>
                        <a:pt x="102" y="240"/>
                      </a:lnTo>
                      <a:lnTo>
                        <a:pt x="65" y="240"/>
                      </a:lnTo>
                      <a:lnTo>
                        <a:pt x="52" y="29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685" name="Freeform 193"/>
                <p:cNvSpPr/>
                <p:nvPr/>
              </p:nvSpPr>
              <p:spPr>
                <a:xfrm>
                  <a:off x="3013" y="1131"/>
                  <a:ext cx="17" cy="59"/>
                </a:xfrm>
                <a:custGeom>
                  <a:avLst/>
                  <a:gdLst/>
                  <a:ahLst/>
                  <a:cxnLst>
                    <a:cxn ang="0">
                      <a:pos x="8" y="30"/>
                    </a:cxn>
                    <a:cxn ang="0">
                      <a:pos x="0" y="29"/>
                    </a:cxn>
                    <a:cxn ang="0">
                      <a:pos x="4" y="0"/>
                    </a:cxn>
                    <a:cxn ang="0">
                      <a:pos x="8" y="30"/>
                    </a:cxn>
                  </a:cxnLst>
                  <a:pathLst>
                    <a:path w="36" h="118">
                      <a:moveTo>
                        <a:pt x="36" y="118"/>
                      </a:moveTo>
                      <a:lnTo>
                        <a:pt x="0" y="115"/>
                      </a:lnTo>
                      <a:lnTo>
                        <a:pt x="19" y="0"/>
                      </a:lnTo>
                      <a:lnTo>
                        <a:pt x="36" y="118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7681" name="Group 194"/>
              <p:cNvGrpSpPr/>
              <p:nvPr/>
            </p:nvGrpSpPr>
            <p:grpSpPr>
              <a:xfrm>
                <a:off x="3779" y="2393"/>
                <a:ext cx="85" cy="146"/>
                <a:chOff x="3779" y="2393"/>
                <a:chExt cx="85" cy="146"/>
              </a:xfrm>
            </p:grpSpPr>
            <p:sp>
              <p:nvSpPr>
                <p:cNvPr id="7682" name="Freeform 195"/>
                <p:cNvSpPr/>
                <p:nvPr/>
              </p:nvSpPr>
              <p:spPr>
                <a:xfrm>
                  <a:off x="3779" y="2393"/>
                  <a:ext cx="85" cy="146"/>
                </a:xfrm>
                <a:custGeom>
                  <a:avLst/>
                  <a:gdLst/>
                  <a:ahLst/>
                  <a:cxnLst>
                    <a:cxn ang="0">
                      <a:pos x="13" y="1"/>
                    </a:cxn>
                    <a:cxn ang="0">
                      <a:pos x="0" y="1"/>
                    </a:cxn>
                    <a:cxn ang="0">
                      <a:pos x="10" y="73"/>
                    </a:cxn>
                    <a:cxn ang="0">
                      <a:pos x="32" y="73"/>
                    </a:cxn>
                    <a:cxn ang="0">
                      <a:pos x="43" y="0"/>
                    </a:cxn>
                    <a:cxn ang="0">
                      <a:pos x="28" y="0"/>
                    </a:cxn>
                    <a:cxn ang="0">
                      <a:pos x="26" y="13"/>
                    </a:cxn>
                    <a:cxn ang="0">
                      <a:pos x="17" y="13"/>
                    </a:cxn>
                    <a:cxn ang="0">
                      <a:pos x="13" y="1"/>
                    </a:cxn>
                  </a:cxnLst>
                  <a:pathLst>
                    <a:path w="170" h="292">
                      <a:moveTo>
                        <a:pt x="51" y="3"/>
                      </a:moveTo>
                      <a:lnTo>
                        <a:pt x="0" y="3"/>
                      </a:lnTo>
                      <a:lnTo>
                        <a:pt x="39" y="292"/>
                      </a:lnTo>
                      <a:lnTo>
                        <a:pt x="126" y="292"/>
                      </a:lnTo>
                      <a:lnTo>
                        <a:pt x="170" y="0"/>
                      </a:lnTo>
                      <a:lnTo>
                        <a:pt x="111" y="0"/>
                      </a:lnTo>
                      <a:lnTo>
                        <a:pt x="101" y="52"/>
                      </a:lnTo>
                      <a:lnTo>
                        <a:pt x="65" y="52"/>
                      </a:lnTo>
                      <a:lnTo>
                        <a:pt x="51" y="3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683" name="Freeform 196"/>
                <p:cNvSpPr/>
                <p:nvPr/>
              </p:nvSpPr>
              <p:spPr>
                <a:xfrm>
                  <a:off x="3812" y="2445"/>
                  <a:ext cx="18" cy="59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0" y="1"/>
                    </a:cxn>
                    <a:cxn ang="0">
                      <a:pos x="5" y="29"/>
                    </a:cxn>
                    <a:cxn ang="0">
                      <a:pos x="9" y="0"/>
                    </a:cxn>
                  </a:cxnLst>
                  <a:pathLst>
                    <a:path w="35" h="119">
                      <a:moveTo>
                        <a:pt x="35" y="0"/>
                      </a:moveTo>
                      <a:lnTo>
                        <a:pt x="0" y="4"/>
                      </a:lnTo>
                      <a:lnTo>
                        <a:pt x="18" y="119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10437" name="Freeform 197"/>
          <p:cNvSpPr/>
          <p:nvPr/>
        </p:nvSpPr>
        <p:spPr>
          <a:xfrm rot="1111198">
            <a:off x="3276600" y="3124200"/>
            <a:ext cx="1916113" cy="2603500"/>
          </a:xfrm>
          <a:custGeom>
            <a:avLst/>
            <a:gdLst/>
            <a:ahLst/>
            <a:cxnLst>
              <a:cxn ang="0">
                <a:pos x="25789009" y="199213405"/>
              </a:cxn>
              <a:cxn ang="0">
                <a:pos x="55351556" y="167692713"/>
              </a:cxn>
              <a:cxn ang="0">
                <a:pos x="94349531" y="154453690"/>
              </a:cxn>
              <a:cxn ang="0">
                <a:pos x="1162385841" y="0"/>
              </a:cxn>
              <a:cxn ang="0">
                <a:pos x="1203899508" y="20804180"/>
              </a:cxn>
              <a:cxn ang="0">
                <a:pos x="1237236385" y="47281434"/>
              </a:cxn>
              <a:cxn ang="0">
                <a:pos x="1256106450" y="106541826"/>
              </a:cxn>
              <a:cxn ang="0">
                <a:pos x="1519656055" y="1824445302"/>
              </a:cxn>
              <a:cxn ang="0">
                <a:pos x="1519656055" y="1866053663"/>
              </a:cxn>
              <a:cxn ang="0">
                <a:pos x="1501414913" y="1901987362"/>
              </a:cxn>
              <a:cxn ang="0">
                <a:pos x="1457385555" y="1921530683"/>
              </a:cxn>
              <a:cxn ang="0">
                <a:pos x="1408952944" y="1935400136"/>
              </a:cxn>
              <a:cxn ang="0">
                <a:pos x="407589593" y="2066527927"/>
              </a:cxn>
              <a:cxn ang="0">
                <a:pos x="344061247" y="2067158356"/>
              </a:cxn>
              <a:cxn ang="0">
                <a:pos x="287451846" y="2038789020"/>
              </a:cxn>
              <a:cxn ang="0">
                <a:pos x="270468550" y="1983312000"/>
              </a:cxn>
              <a:cxn ang="0">
                <a:pos x="0" y="264778094"/>
              </a:cxn>
              <a:cxn ang="0">
                <a:pos x="6290022" y="226321882"/>
              </a:cxn>
              <a:cxn ang="0">
                <a:pos x="25789009" y="199213405"/>
              </a:cxn>
            </a:cxnLst>
            <a:pathLst>
              <a:path w="2416" h="3279">
                <a:moveTo>
                  <a:pt x="41" y="316"/>
                </a:moveTo>
                <a:lnTo>
                  <a:pt x="88" y="266"/>
                </a:lnTo>
                <a:lnTo>
                  <a:pt x="150" y="245"/>
                </a:lnTo>
                <a:lnTo>
                  <a:pt x="1848" y="0"/>
                </a:lnTo>
                <a:lnTo>
                  <a:pt x="1914" y="33"/>
                </a:lnTo>
                <a:lnTo>
                  <a:pt x="1967" y="75"/>
                </a:lnTo>
                <a:lnTo>
                  <a:pt x="1997" y="169"/>
                </a:lnTo>
                <a:lnTo>
                  <a:pt x="2416" y="2894"/>
                </a:lnTo>
                <a:lnTo>
                  <a:pt x="2416" y="2960"/>
                </a:lnTo>
                <a:lnTo>
                  <a:pt x="2387" y="3017"/>
                </a:lnTo>
                <a:lnTo>
                  <a:pt x="2317" y="3048"/>
                </a:lnTo>
                <a:lnTo>
                  <a:pt x="2240" y="3070"/>
                </a:lnTo>
                <a:lnTo>
                  <a:pt x="648" y="3278"/>
                </a:lnTo>
                <a:lnTo>
                  <a:pt x="547" y="3279"/>
                </a:lnTo>
                <a:lnTo>
                  <a:pt x="457" y="3234"/>
                </a:lnTo>
                <a:lnTo>
                  <a:pt x="430" y="3146"/>
                </a:lnTo>
                <a:lnTo>
                  <a:pt x="0" y="420"/>
                </a:lnTo>
                <a:lnTo>
                  <a:pt x="10" y="359"/>
                </a:lnTo>
                <a:lnTo>
                  <a:pt x="41" y="31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3175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7" name="Group 198"/>
          <p:cNvGrpSpPr/>
          <p:nvPr/>
        </p:nvGrpSpPr>
        <p:grpSpPr>
          <a:xfrm rot="1489513">
            <a:off x="3124200" y="3124200"/>
            <a:ext cx="2203450" cy="2760663"/>
            <a:chOff x="2265" y="988"/>
            <a:chExt cx="1388" cy="1739"/>
          </a:xfrm>
        </p:grpSpPr>
        <p:sp>
          <p:nvSpPr>
            <p:cNvPr id="7581" name="Freeform 199"/>
            <p:cNvSpPr/>
            <p:nvPr/>
          </p:nvSpPr>
          <p:spPr>
            <a:xfrm>
              <a:off x="2265" y="988"/>
              <a:ext cx="1388" cy="1739"/>
            </a:xfrm>
            <a:custGeom>
              <a:avLst/>
              <a:gdLst/>
              <a:ahLst/>
              <a:cxnLst>
                <a:cxn ang="0">
                  <a:pos x="12" y="124"/>
                </a:cxn>
                <a:cxn ang="0">
                  <a:pos x="35" y="111"/>
                </a:cxn>
                <a:cxn ang="0">
                  <a:pos x="442" y="2"/>
                </a:cxn>
                <a:cxn ang="0">
                  <a:pos x="476" y="0"/>
                </a:cxn>
                <a:cxn ang="0">
                  <a:pos x="500" y="12"/>
                </a:cxn>
                <a:cxn ang="0">
                  <a:pos x="512" y="31"/>
                </a:cxn>
                <a:cxn ang="0">
                  <a:pos x="694" y="720"/>
                </a:cxn>
                <a:cxn ang="0">
                  <a:pos x="689" y="743"/>
                </a:cxn>
                <a:cxn ang="0">
                  <a:pos x="678" y="759"/>
                </a:cxn>
                <a:cxn ang="0">
                  <a:pos x="653" y="767"/>
                </a:cxn>
                <a:cxn ang="0">
                  <a:pos x="264" y="866"/>
                </a:cxn>
                <a:cxn ang="0">
                  <a:pos x="227" y="869"/>
                </a:cxn>
                <a:cxn ang="0">
                  <a:pos x="207" y="862"/>
                </a:cxn>
                <a:cxn ang="0">
                  <a:pos x="199" y="842"/>
                </a:cxn>
                <a:cxn ang="0">
                  <a:pos x="3" y="166"/>
                </a:cxn>
                <a:cxn ang="0">
                  <a:pos x="0" y="141"/>
                </a:cxn>
                <a:cxn ang="0">
                  <a:pos x="12" y="124"/>
                </a:cxn>
              </a:cxnLst>
              <a:pathLst>
                <a:path w="2777" h="3479">
                  <a:moveTo>
                    <a:pt x="49" y="497"/>
                  </a:moveTo>
                  <a:lnTo>
                    <a:pt x="143" y="445"/>
                  </a:lnTo>
                  <a:lnTo>
                    <a:pt x="1770" y="11"/>
                  </a:lnTo>
                  <a:lnTo>
                    <a:pt x="1905" y="0"/>
                  </a:lnTo>
                  <a:lnTo>
                    <a:pt x="2003" y="48"/>
                  </a:lnTo>
                  <a:lnTo>
                    <a:pt x="2049" y="126"/>
                  </a:lnTo>
                  <a:lnTo>
                    <a:pt x="2777" y="2880"/>
                  </a:lnTo>
                  <a:lnTo>
                    <a:pt x="2759" y="2973"/>
                  </a:lnTo>
                  <a:lnTo>
                    <a:pt x="2714" y="3038"/>
                  </a:lnTo>
                  <a:lnTo>
                    <a:pt x="2612" y="3071"/>
                  </a:lnTo>
                  <a:lnTo>
                    <a:pt x="1057" y="3464"/>
                  </a:lnTo>
                  <a:lnTo>
                    <a:pt x="909" y="3479"/>
                  </a:lnTo>
                  <a:lnTo>
                    <a:pt x="830" y="3450"/>
                  </a:lnTo>
                  <a:lnTo>
                    <a:pt x="796" y="3368"/>
                  </a:lnTo>
                  <a:lnTo>
                    <a:pt x="13" y="667"/>
                  </a:lnTo>
                  <a:lnTo>
                    <a:pt x="0" y="567"/>
                  </a:lnTo>
                  <a:lnTo>
                    <a:pt x="49" y="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317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7582" name="Group 200"/>
            <p:cNvGrpSpPr/>
            <p:nvPr/>
          </p:nvGrpSpPr>
          <p:grpSpPr>
            <a:xfrm>
              <a:off x="2346" y="1255"/>
              <a:ext cx="1226" cy="1221"/>
              <a:chOff x="2346" y="1255"/>
              <a:chExt cx="1226" cy="1221"/>
            </a:xfrm>
          </p:grpSpPr>
          <p:grpSp>
            <p:nvGrpSpPr>
              <p:cNvPr id="7583" name="Group 201"/>
              <p:cNvGrpSpPr/>
              <p:nvPr/>
            </p:nvGrpSpPr>
            <p:grpSpPr>
              <a:xfrm>
                <a:off x="2346" y="1255"/>
                <a:ext cx="133" cy="325"/>
                <a:chOff x="2346" y="1255"/>
                <a:chExt cx="133" cy="325"/>
              </a:xfrm>
            </p:grpSpPr>
            <p:sp>
              <p:nvSpPr>
                <p:cNvPr id="7673" name="Freeform 202"/>
                <p:cNvSpPr/>
                <p:nvPr/>
              </p:nvSpPr>
              <p:spPr>
                <a:xfrm>
                  <a:off x="2397" y="1431"/>
                  <a:ext cx="82" cy="149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0" y="43"/>
                    </a:cxn>
                    <a:cxn ang="0">
                      <a:pos x="33" y="75"/>
                    </a:cxn>
                    <a:cxn ang="0">
                      <a:pos x="41" y="31"/>
                    </a:cxn>
                    <a:cxn ang="0">
                      <a:pos x="10" y="0"/>
                    </a:cxn>
                  </a:cxnLst>
                  <a:pathLst>
                    <a:path w="165" h="298">
                      <a:moveTo>
                        <a:pt x="43" y="0"/>
                      </a:moveTo>
                      <a:lnTo>
                        <a:pt x="0" y="171"/>
                      </a:lnTo>
                      <a:lnTo>
                        <a:pt x="132" y="298"/>
                      </a:lnTo>
                      <a:lnTo>
                        <a:pt x="165" y="123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674" name="Freeform 203"/>
                <p:cNvSpPr/>
                <p:nvPr/>
              </p:nvSpPr>
              <p:spPr>
                <a:xfrm>
                  <a:off x="2346" y="1255"/>
                  <a:ext cx="95" cy="159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8" y="5"/>
                    </a:cxn>
                    <a:cxn ang="0">
                      <a:pos x="0" y="17"/>
                    </a:cxn>
                    <a:cxn ang="0">
                      <a:pos x="12" y="68"/>
                    </a:cxn>
                    <a:cxn ang="0">
                      <a:pos x="25" y="73"/>
                    </a:cxn>
                    <a:cxn ang="0">
                      <a:pos x="28" y="79"/>
                    </a:cxn>
                    <a:cxn ang="0">
                      <a:pos x="40" y="77"/>
                    </a:cxn>
                    <a:cxn ang="0">
                      <a:pos x="39" y="70"/>
                    </a:cxn>
                    <a:cxn ang="0">
                      <a:pos x="48" y="56"/>
                    </a:cxn>
                    <a:cxn ang="0">
                      <a:pos x="35" y="8"/>
                    </a:cxn>
                    <a:cxn ang="0">
                      <a:pos x="21" y="0"/>
                    </a:cxn>
                  </a:cxnLst>
                  <a:pathLst>
                    <a:path w="188" h="319">
                      <a:moveTo>
                        <a:pt x="84" y="0"/>
                      </a:moveTo>
                      <a:lnTo>
                        <a:pt x="29" y="21"/>
                      </a:lnTo>
                      <a:lnTo>
                        <a:pt x="0" y="71"/>
                      </a:lnTo>
                      <a:lnTo>
                        <a:pt x="48" y="274"/>
                      </a:lnTo>
                      <a:lnTo>
                        <a:pt x="99" y="293"/>
                      </a:lnTo>
                      <a:lnTo>
                        <a:pt x="110" y="319"/>
                      </a:lnTo>
                      <a:lnTo>
                        <a:pt x="157" y="309"/>
                      </a:lnTo>
                      <a:lnTo>
                        <a:pt x="154" y="282"/>
                      </a:lnTo>
                      <a:lnTo>
                        <a:pt x="188" y="227"/>
                      </a:lnTo>
                      <a:lnTo>
                        <a:pt x="138" y="32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7584" name="Freeform 204"/>
              <p:cNvSpPr/>
              <p:nvPr/>
            </p:nvSpPr>
            <p:spPr>
              <a:xfrm>
                <a:off x="2373" y="1284"/>
                <a:ext cx="41" cy="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3"/>
                  </a:cxn>
                  <a:cxn ang="0">
                    <a:pos x="11" y="47"/>
                  </a:cxn>
                  <a:cxn ang="0">
                    <a:pos x="21" y="43"/>
                  </a:cxn>
                  <a:cxn ang="0">
                    <a:pos x="10" y="0"/>
                  </a:cxn>
                </a:cxnLst>
                <a:pathLst>
                  <a:path w="82" h="185">
                    <a:moveTo>
                      <a:pt x="37" y="0"/>
                    </a:moveTo>
                    <a:lnTo>
                      <a:pt x="0" y="11"/>
                    </a:lnTo>
                    <a:lnTo>
                      <a:pt x="42" y="185"/>
                    </a:lnTo>
                    <a:lnTo>
                      <a:pt x="82" y="1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585" name="Group 205"/>
              <p:cNvGrpSpPr/>
              <p:nvPr/>
            </p:nvGrpSpPr>
            <p:grpSpPr>
              <a:xfrm>
                <a:off x="3440" y="2150"/>
                <a:ext cx="132" cy="326"/>
                <a:chOff x="3440" y="2150"/>
                <a:chExt cx="132" cy="326"/>
              </a:xfrm>
            </p:grpSpPr>
            <p:sp>
              <p:nvSpPr>
                <p:cNvPr id="7671" name="Freeform 206"/>
                <p:cNvSpPr/>
                <p:nvPr/>
              </p:nvSpPr>
              <p:spPr>
                <a:xfrm>
                  <a:off x="3440" y="2150"/>
                  <a:ext cx="82" cy="149"/>
                </a:xfrm>
                <a:custGeom>
                  <a:avLst/>
                  <a:gdLst/>
                  <a:ahLst/>
                  <a:cxnLst>
                    <a:cxn ang="0">
                      <a:pos x="30" y="75"/>
                    </a:cxn>
                    <a:cxn ang="0">
                      <a:pos x="41" y="32"/>
                    </a:cxn>
                    <a:cxn ang="0">
                      <a:pos x="10" y="0"/>
                    </a:cxn>
                    <a:cxn ang="0">
                      <a:pos x="0" y="44"/>
                    </a:cxn>
                    <a:cxn ang="0">
                      <a:pos x="30" y="75"/>
                    </a:cxn>
                  </a:cxnLst>
                  <a:pathLst>
                    <a:path w="165" h="298">
                      <a:moveTo>
                        <a:pt x="122" y="298"/>
                      </a:moveTo>
                      <a:lnTo>
                        <a:pt x="165" y="127"/>
                      </a:lnTo>
                      <a:lnTo>
                        <a:pt x="40" y="0"/>
                      </a:lnTo>
                      <a:lnTo>
                        <a:pt x="0" y="174"/>
                      </a:lnTo>
                      <a:lnTo>
                        <a:pt x="122" y="298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672" name="Freeform 207"/>
                <p:cNvSpPr/>
                <p:nvPr/>
              </p:nvSpPr>
              <p:spPr>
                <a:xfrm>
                  <a:off x="3478" y="2316"/>
                  <a:ext cx="94" cy="160"/>
                </a:xfrm>
                <a:custGeom>
                  <a:avLst/>
                  <a:gdLst/>
                  <a:ahLst/>
                  <a:cxnLst>
                    <a:cxn ang="0">
                      <a:pos x="26" y="80"/>
                    </a:cxn>
                    <a:cxn ang="0">
                      <a:pos x="40" y="75"/>
                    </a:cxn>
                    <a:cxn ang="0">
                      <a:pos x="47" y="62"/>
                    </a:cxn>
                    <a:cxn ang="0">
                      <a:pos x="35" y="12"/>
                    </a:cxn>
                    <a:cxn ang="0">
                      <a:pos x="23" y="7"/>
                    </a:cxn>
                    <a:cxn ang="0">
                      <a:pos x="20" y="0"/>
                    </a:cxn>
                    <a:cxn ang="0">
                      <a:pos x="8" y="3"/>
                    </a:cxn>
                    <a:cxn ang="0">
                      <a:pos x="9" y="9"/>
                    </a:cxn>
                    <a:cxn ang="0">
                      <a:pos x="0" y="23"/>
                    </a:cxn>
                    <a:cxn ang="0">
                      <a:pos x="13" y="72"/>
                    </a:cxn>
                    <a:cxn ang="0">
                      <a:pos x="26" y="80"/>
                    </a:cxn>
                  </a:cxnLst>
                  <a:pathLst>
                    <a:path w="188" h="319">
                      <a:moveTo>
                        <a:pt x="104" y="319"/>
                      </a:moveTo>
                      <a:lnTo>
                        <a:pt x="159" y="298"/>
                      </a:lnTo>
                      <a:lnTo>
                        <a:pt x="188" y="248"/>
                      </a:lnTo>
                      <a:lnTo>
                        <a:pt x="140" y="45"/>
                      </a:lnTo>
                      <a:lnTo>
                        <a:pt x="89" y="26"/>
                      </a:lnTo>
                      <a:lnTo>
                        <a:pt x="78" y="0"/>
                      </a:lnTo>
                      <a:lnTo>
                        <a:pt x="31" y="10"/>
                      </a:lnTo>
                      <a:lnTo>
                        <a:pt x="34" y="36"/>
                      </a:lnTo>
                      <a:lnTo>
                        <a:pt x="0" y="91"/>
                      </a:lnTo>
                      <a:lnTo>
                        <a:pt x="50" y="287"/>
                      </a:lnTo>
                      <a:lnTo>
                        <a:pt x="104" y="319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7586" name="Freeform 208"/>
              <p:cNvSpPr/>
              <p:nvPr/>
            </p:nvSpPr>
            <p:spPr>
              <a:xfrm>
                <a:off x="3505" y="2354"/>
                <a:ext cx="41" cy="93"/>
              </a:xfrm>
              <a:custGeom>
                <a:avLst/>
                <a:gdLst/>
                <a:ahLst/>
                <a:cxnLst>
                  <a:cxn ang="0">
                    <a:pos x="12" y="47"/>
                  </a:cxn>
                  <a:cxn ang="0">
                    <a:pos x="21" y="44"/>
                  </a:cxn>
                  <a:cxn ang="0">
                    <a:pos x="10" y="0"/>
                  </a:cxn>
                  <a:cxn ang="0">
                    <a:pos x="0" y="4"/>
                  </a:cxn>
                  <a:cxn ang="0">
                    <a:pos x="12" y="47"/>
                  </a:cxn>
                </a:cxnLst>
                <a:pathLst>
                  <a:path w="82" h="186">
                    <a:moveTo>
                      <a:pt x="45" y="186"/>
                    </a:moveTo>
                    <a:lnTo>
                      <a:pt x="82" y="175"/>
                    </a:lnTo>
                    <a:lnTo>
                      <a:pt x="40" y="0"/>
                    </a:lnTo>
                    <a:lnTo>
                      <a:pt x="0" y="15"/>
                    </a:lnTo>
                    <a:lnTo>
                      <a:pt x="45" y="18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587" name="Group 209"/>
              <p:cNvGrpSpPr/>
              <p:nvPr/>
            </p:nvGrpSpPr>
            <p:grpSpPr>
              <a:xfrm>
                <a:off x="2495" y="1256"/>
                <a:ext cx="909" cy="1176"/>
                <a:chOff x="2495" y="1256"/>
                <a:chExt cx="909" cy="1176"/>
              </a:xfrm>
            </p:grpSpPr>
            <p:sp>
              <p:nvSpPr>
                <p:cNvPr id="7588" name="Freeform 210"/>
                <p:cNvSpPr/>
                <p:nvPr/>
              </p:nvSpPr>
              <p:spPr>
                <a:xfrm>
                  <a:off x="2495" y="1256"/>
                  <a:ext cx="909" cy="1176"/>
                </a:xfrm>
                <a:custGeom>
                  <a:avLst/>
                  <a:gdLst/>
                  <a:ahLst/>
                  <a:cxnLst>
                    <a:cxn ang="0">
                      <a:pos x="0" y="83"/>
                    </a:cxn>
                    <a:cxn ang="0">
                      <a:pos x="316" y="0"/>
                    </a:cxn>
                    <a:cxn ang="0">
                      <a:pos x="455" y="503"/>
                    </a:cxn>
                    <a:cxn ang="0">
                      <a:pos x="139" y="588"/>
                    </a:cxn>
                    <a:cxn ang="0">
                      <a:pos x="0" y="83"/>
                    </a:cxn>
                  </a:cxnLst>
                  <a:pathLst>
                    <a:path w="1817" h="2353">
                      <a:moveTo>
                        <a:pt x="0" y="334"/>
                      </a:moveTo>
                      <a:lnTo>
                        <a:pt x="1264" y="0"/>
                      </a:lnTo>
                      <a:lnTo>
                        <a:pt x="1817" y="2012"/>
                      </a:lnTo>
                      <a:lnTo>
                        <a:pt x="553" y="2353"/>
                      </a:lnTo>
                      <a:lnTo>
                        <a:pt x="0" y="334"/>
                      </a:lnTo>
                      <a:close/>
                    </a:path>
                  </a:pathLst>
                </a:custGeom>
                <a:noFill/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589" name="Freeform 211"/>
                <p:cNvSpPr/>
                <p:nvPr/>
              </p:nvSpPr>
              <p:spPr>
                <a:xfrm>
                  <a:off x="2569" y="1413"/>
                  <a:ext cx="132" cy="238"/>
                </a:xfrm>
                <a:custGeom>
                  <a:avLst/>
                  <a:gdLst/>
                  <a:ahLst/>
                  <a:cxnLst>
                    <a:cxn ang="0">
                      <a:pos x="17" y="0"/>
                    </a:cxn>
                    <a:cxn ang="0">
                      <a:pos x="0" y="69"/>
                    </a:cxn>
                    <a:cxn ang="0">
                      <a:pos x="53" y="119"/>
                    </a:cxn>
                    <a:cxn ang="0">
                      <a:pos x="66" y="50"/>
                    </a:cxn>
                    <a:cxn ang="0">
                      <a:pos x="17" y="0"/>
                    </a:cxn>
                  </a:cxnLst>
                  <a:pathLst>
                    <a:path w="266" h="475">
                      <a:moveTo>
                        <a:pt x="69" y="0"/>
                      </a:moveTo>
                      <a:lnTo>
                        <a:pt x="0" y="273"/>
                      </a:lnTo>
                      <a:lnTo>
                        <a:pt x="213" y="475"/>
                      </a:lnTo>
                      <a:lnTo>
                        <a:pt x="266" y="197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590" name="Freeform 212"/>
                <p:cNvSpPr/>
                <p:nvPr/>
              </p:nvSpPr>
              <p:spPr>
                <a:xfrm>
                  <a:off x="3204" y="2058"/>
                  <a:ext cx="111" cy="199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0" y="57"/>
                    </a:cxn>
                    <a:cxn ang="0">
                      <a:pos x="45" y="100"/>
                    </a:cxn>
                    <a:cxn ang="0">
                      <a:pos x="56" y="42"/>
                    </a:cxn>
                    <a:cxn ang="0">
                      <a:pos x="15" y="0"/>
                    </a:cxn>
                  </a:cxnLst>
                  <a:pathLst>
                    <a:path w="221" h="397">
                      <a:moveTo>
                        <a:pt x="57" y="0"/>
                      </a:moveTo>
                      <a:lnTo>
                        <a:pt x="0" y="227"/>
                      </a:lnTo>
                      <a:lnTo>
                        <a:pt x="177" y="397"/>
                      </a:lnTo>
                      <a:lnTo>
                        <a:pt x="221" y="16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591" name="Group 213"/>
                <p:cNvGrpSpPr/>
                <p:nvPr/>
              </p:nvGrpSpPr>
              <p:grpSpPr>
                <a:xfrm>
                  <a:off x="2600" y="1264"/>
                  <a:ext cx="663" cy="664"/>
                  <a:chOff x="2600" y="1264"/>
                  <a:chExt cx="663" cy="664"/>
                </a:xfrm>
              </p:grpSpPr>
              <p:sp>
                <p:nvSpPr>
                  <p:cNvPr id="7632" name="Freeform 214"/>
                  <p:cNvSpPr/>
                  <p:nvPr/>
                </p:nvSpPr>
                <p:spPr>
                  <a:xfrm>
                    <a:off x="2959" y="1264"/>
                    <a:ext cx="183" cy="210"/>
                  </a:xfrm>
                  <a:custGeom>
                    <a:avLst/>
                    <a:gdLst/>
                    <a:ahLst/>
                    <a:cxnLst>
                      <a:cxn ang="0">
                        <a:pos x="68" y="0"/>
                      </a:cxn>
                      <a:cxn ang="0">
                        <a:pos x="0" y="17"/>
                      </a:cxn>
                      <a:cxn ang="0">
                        <a:pos x="9" y="53"/>
                      </a:cxn>
                      <a:cxn ang="0">
                        <a:pos x="43" y="84"/>
                      </a:cxn>
                      <a:cxn ang="0">
                        <a:pos x="76" y="105"/>
                      </a:cxn>
                      <a:cxn ang="0">
                        <a:pos x="92" y="81"/>
                      </a:cxn>
                      <a:cxn ang="0">
                        <a:pos x="71" y="64"/>
                      </a:cxn>
                      <a:cxn ang="0">
                        <a:pos x="62" y="30"/>
                      </a:cxn>
                      <a:cxn ang="0">
                        <a:pos x="68" y="0"/>
                      </a:cxn>
                    </a:cxnLst>
                    <a:pathLst>
                      <a:path w="366" h="421">
                        <a:moveTo>
                          <a:pt x="271" y="0"/>
                        </a:moveTo>
                        <a:lnTo>
                          <a:pt x="0" y="71"/>
                        </a:lnTo>
                        <a:lnTo>
                          <a:pt x="34" y="213"/>
                        </a:lnTo>
                        <a:lnTo>
                          <a:pt x="170" y="338"/>
                        </a:lnTo>
                        <a:lnTo>
                          <a:pt x="304" y="421"/>
                        </a:lnTo>
                        <a:lnTo>
                          <a:pt x="366" y="325"/>
                        </a:lnTo>
                        <a:lnTo>
                          <a:pt x="283" y="259"/>
                        </a:lnTo>
                        <a:lnTo>
                          <a:pt x="245" y="123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3" name="Freeform 215"/>
                  <p:cNvSpPr/>
                  <p:nvPr/>
                </p:nvSpPr>
                <p:spPr>
                  <a:xfrm>
                    <a:off x="2917" y="1298"/>
                    <a:ext cx="295" cy="275"/>
                  </a:xfrm>
                  <a:custGeom>
                    <a:avLst/>
                    <a:gdLst/>
                    <a:ahLst/>
                    <a:cxnLst>
                      <a:cxn ang="0">
                        <a:pos x="21" y="0"/>
                      </a:cxn>
                      <a:cxn ang="0">
                        <a:pos x="0" y="6"/>
                      </a:cxn>
                      <a:cxn ang="0">
                        <a:pos x="9" y="39"/>
                      </a:cxn>
                      <a:cxn ang="0">
                        <a:pos x="55" y="83"/>
                      </a:cxn>
                      <a:cxn ang="0">
                        <a:pos x="148" y="138"/>
                      </a:cxn>
                      <a:cxn ang="0">
                        <a:pos x="140" y="115"/>
                      </a:cxn>
                      <a:cxn ang="0">
                        <a:pos x="64" y="69"/>
                      </a:cxn>
                      <a:cxn ang="0">
                        <a:pos x="30" y="38"/>
                      </a:cxn>
                      <a:cxn ang="0">
                        <a:pos x="21" y="0"/>
                      </a:cxn>
                    </a:cxnLst>
                    <a:pathLst>
                      <a:path w="589" h="550">
                        <a:moveTo>
                          <a:pt x="84" y="0"/>
                        </a:moveTo>
                        <a:lnTo>
                          <a:pt x="0" y="22"/>
                        </a:lnTo>
                        <a:lnTo>
                          <a:pt x="36" y="156"/>
                        </a:lnTo>
                        <a:lnTo>
                          <a:pt x="220" y="331"/>
                        </a:lnTo>
                        <a:lnTo>
                          <a:pt x="589" y="550"/>
                        </a:lnTo>
                        <a:lnTo>
                          <a:pt x="560" y="457"/>
                        </a:lnTo>
                        <a:lnTo>
                          <a:pt x="256" y="273"/>
                        </a:lnTo>
                        <a:lnTo>
                          <a:pt x="120" y="151"/>
                        </a:lnTo>
                        <a:lnTo>
                          <a:pt x="84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4" name="Freeform 216"/>
                  <p:cNvSpPr/>
                  <p:nvPr/>
                </p:nvSpPr>
                <p:spPr>
                  <a:xfrm>
                    <a:off x="2751" y="1340"/>
                    <a:ext cx="68" cy="328"/>
                  </a:xfrm>
                  <a:custGeom>
                    <a:avLst/>
                    <a:gdLst/>
                    <a:ahLst/>
                    <a:cxnLst>
                      <a:cxn ang="0">
                        <a:pos x="29" y="0"/>
                      </a:cxn>
                      <a:cxn ang="0">
                        <a:pos x="34" y="23"/>
                      </a:cxn>
                      <a:cxn ang="0">
                        <a:pos x="13" y="73"/>
                      </a:cxn>
                      <a:cxn ang="0">
                        <a:pos x="12" y="104"/>
                      </a:cxn>
                      <a:cxn ang="0">
                        <a:pos x="23" y="150"/>
                      </a:cxn>
                      <a:cxn ang="0">
                        <a:pos x="15" y="164"/>
                      </a:cxn>
                      <a:cxn ang="0">
                        <a:pos x="0" y="106"/>
                      </a:cxn>
                      <a:cxn ang="0">
                        <a:pos x="2" y="71"/>
                      </a:cxn>
                      <a:cxn ang="0">
                        <a:pos x="18" y="24"/>
                      </a:cxn>
                      <a:cxn ang="0">
                        <a:pos x="13" y="6"/>
                      </a:cxn>
                      <a:cxn ang="0">
                        <a:pos x="29" y="0"/>
                      </a:cxn>
                    </a:cxnLst>
                    <a:pathLst>
                      <a:path w="135" h="655">
                        <a:moveTo>
                          <a:pt x="113" y="0"/>
                        </a:moveTo>
                        <a:lnTo>
                          <a:pt x="135" y="92"/>
                        </a:lnTo>
                        <a:lnTo>
                          <a:pt x="51" y="289"/>
                        </a:lnTo>
                        <a:lnTo>
                          <a:pt x="47" y="413"/>
                        </a:lnTo>
                        <a:lnTo>
                          <a:pt x="91" y="597"/>
                        </a:lnTo>
                        <a:lnTo>
                          <a:pt x="57" y="655"/>
                        </a:lnTo>
                        <a:lnTo>
                          <a:pt x="0" y="424"/>
                        </a:lnTo>
                        <a:lnTo>
                          <a:pt x="5" y="283"/>
                        </a:lnTo>
                        <a:lnTo>
                          <a:pt x="69" y="96"/>
                        </a:lnTo>
                        <a:lnTo>
                          <a:pt x="51" y="21"/>
                        </a:lnTo>
                        <a:lnTo>
                          <a:pt x="113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5" name="Freeform 217"/>
                  <p:cNvSpPr/>
                  <p:nvPr/>
                </p:nvSpPr>
                <p:spPr>
                  <a:xfrm>
                    <a:off x="2811" y="1315"/>
                    <a:ext cx="183" cy="245"/>
                  </a:xfrm>
                  <a:custGeom>
                    <a:avLst/>
                    <a:gdLst/>
                    <a:ahLst/>
                    <a:cxnLst>
                      <a:cxn ang="0">
                        <a:pos x="0" y="15"/>
                      </a:cxn>
                      <a:cxn ang="0">
                        <a:pos x="24" y="103"/>
                      </a:cxn>
                      <a:cxn ang="0">
                        <a:pos x="40" y="117"/>
                      </a:cxn>
                      <a:cxn ang="0">
                        <a:pos x="48" y="123"/>
                      </a:cxn>
                      <a:cxn ang="0">
                        <a:pos x="75" y="115"/>
                      </a:cxn>
                      <a:cxn ang="0">
                        <a:pos x="92" y="86"/>
                      </a:cxn>
                      <a:cxn ang="0">
                        <a:pos x="84" y="53"/>
                      </a:cxn>
                      <a:cxn ang="0">
                        <a:pos x="60" y="31"/>
                      </a:cxn>
                      <a:cxn ang="0">
                        <a:pos x="53" y="0"/>
                      </a:cxn>
                      <a:cxn ang="0">
                        <a:pos x="0" y="15"/>
                      </a:cxn>
                    </a:cxnLst>
                    <a:pathLst>
                      <a:path w="366" h="489">
                        <a:moveTo>
                          <a:pt x="0" y="60"/>
                        </a:moveTo>
                        <a:lnTo>
                          <a:pt x="93" y="409"/>
                        </a:lnTo>
                        <a:lnTo>
                          <a:pt x="159" y="465"/>
                        </a:lnTo>
                        <a:lnTo>
                          <a:pt x="190" y="489"/>
                        </a:lnTo>
                        <a:lnTo>
                          <a:pt x="300" y="459"/>
                        </a:lnTo>
                        <a:lnTo>
                          <a:pt x="366" y="344"/>
                        </a:lnTo>
                        <a:lnTo>
                          <a:pt x="335" y="212"/>
                        </a:lnTo>
                        <a:lnTo>
                          <a:pt x="240" y="123"/>
                        </a:lnTo>
                        <a:lnTo>
                          <a:pt x="209" y="0"/>
                        </a:lnTo>
                        <a:lnTo>
                          <a:pt x="0" y="6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6" name="Freeform 218"/>
                  <p:cNvSpPr/>
                  <p:nvPr/>
                </p:nvSpPr>
                <p:spPr>
                  <a:xfrm>
                    <a:off x="2810" y="1325"/>
                    <a:ext cx="63" cy="91"/>
                  </a:xfrm>
                  <a:custGeom>
                    <a:avLst/>
                    <a:gdLst/>
                    <a:ahLst/>
                    <a:cxnLst>
                      <a:cxn ang="0">
                        <a:pos x="0" y="7"/>
                      </a:cxn>
                      <a:cxn ang="0">
                        <a:pos x="10" y="46"/>
                      </a:cxn>
                      <a:cxn ang="0">
                        <a:pos x="32" y="21"/>
                      </a:cxn>
                      <a:cxn ang="0">
                        <a:pos x="26" y="0"/>
                      </a:cxn>
                      <a:cxn ang="0">
                        <a:pos x="0" y="7"/>
                      </a:cxn>
                    </a:cxnLst>
                    <a:pathLst>
                      <a:path w="126" h="182">
                        <a:moveTo>
                          <a:pt x="0" y="28"/>
                        </a:moveTo>
                        <a:lnTo>
                          <a:pt x="40" y="182"/>
                        </a:lnTo>
                        <a:lnTo>
                          <a:pt x="126" y="83"/>
                        </a:lnTo>
                        <a:lnTo>
                          <a:pt x="104" y="0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7" name="Freeform 219"/>
                  <p:cNvSpPr/>
                  <p:nvPr/>
                </p:nvSpPr>
                <p:spPr>
                  <a:xfrm>
                    <a:off x="2868" y="1311"/>
                    <a:ext cx="92" cy="89"/>
                  </a:xfrm>
                  <a:custGeom>
                    <a:avLst/>
                    <a:gdLst/>
                    <a:ahLst/>
                    <a:cxnLst>
                      <a:cxn ang="0">
                        <a:pos x="46" y="45"/>
                      </a:cxn>
                      <a:cxn ang="0">
                        <a:pos x="6" y="29"/>
                      </a:cxn>
                      <a:cxn ang="0">
                        <a:pos x="0" y="7"/>
                      </a:cxn>
                      <a:cxn ang="0">
                        <a:pos x="24" y="0"/>
                      </a:cxn>
                      <a:cxn ang="0">
                        <a:pos x="32" y="31"/>
                      </a:cxn>
                      <a:cxn ang="0">
                        <a:pos x="46" y="45"/>
                      </a:cxn>
                    </a:cxnLst>
                    <a:pathLst>
                      <a:path w="184" h="177">
                        <a:moveTo>
                          <a:pt x="184" y="177"/>
                        </a:moveTo>
                        <a:lnTo>
                          <a:pt x="22" y="113"/>
                        </a:lnTo>
                        <a:lnTo>
                          <a:pt x="0" y="27"/>
                        </a:lnTo>
                        <a:lnTo>
                          <a:pt x="95" y="0"/>
                        </a:lnTo>
                        <a:lnTo>
                          <a:pt x="128" y="121"/>
                        </a:lnTo>
                        <a:lnTo>
                          <a:pt x="184" y="177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8" name="Freeform 220"/>
                  <p:cNvSpPr/>
                  <p:nvPr/>
                </p:nvSpPr>
                <p:spPr>
                  <a:xfrm>
                    <a:off x="2837" y="1487"/>
                    <a:ext cx="194" cy="112"/>
                  </a:xfrm>
                  <a:custGeom>
                    <a:avLst/>
                    <a:gdLst/>
                    <a:ahLst/>
                    <a:cxnLst>
                      <a:cxn ang="0">
                        <a:pos x="80" y="0"/>
                      </a:cxn>
                      <a:cxn ang="0">
                        <a:pos x="62" y="29"/>
                      </a:cxn>
                      <a:cxn ang="0">
                        <a:pos x="35" y="37"/>
                      </a:cxn>
                      <a:cxn ang="0">
                        <a:pos x="9" y="17"/>
                      </a:cxn>
                      <a:cxn ang="0">
                        <a:pos x="0" y="33"/>
                      </a:cxn>
                      <a:cxn ang="0">
                        <a:pos x="20" y="50"/>
                      </a:cxn>
                      <a:cxn ang="0">
                        <a:pos x="34" y="56"/>
                      </a:cxn>
                      <a:cxn ang="0">
                        <a:pos x="68" y="47"/>
                      </a:cxn>
                      <a:cxn ang="0">
                        <a:pos x="85" y="37"/>
                      </a:cxn>
                      <a:cxn ang="0">
                        <a:pos x="97" y="15"/>
                      </a:cxn>
                      <a:cxn ang="0">
                        <a:pos x="80" y="0"/>
                      </a:cxn>
                    </a:cxnLst>
                    <a:pathLst>
                      <a:path w="388" h="224">
                        <a:moveTo>
                          <a:pt x="317" y="0"/>
                        </a:moveTo>
                        <a:lnTo>
                          <a:pt x="246" y="116"/>
                        </a:lnTo>
                        <a:lnTo>
                          <a:pt x="139" y="145"/>
                        </a:lnTo>
                        <a:lnTo>
                          <a:pt x="33" y="66"/>
                        </a:lnTo>
                        <a:lnTo>
                          <a:pt x="0" y="131"/>
                        </a:lnTo>
                        <a:lnTo>
                          <a:pt x="78" y="199"/>
                        </a:lnTo>
                        <a:lnTo>
                          <a:pt x="134" y="224"/>
                        </a:lnTo>
                        <a:lnTo>
                          <a:pt x="270" y="186"/>
                        </a:lnTo>
                        <a:lnTo>
                          <a:pt x="338" y="148"/>
                        </a:lnTo>
                        <a:lnTo>
                          <a:pt x="388" y="59"/>
                        </a:lnTo>
                        <a:lnTo>
                          <a:pt x="317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9" name="Freeform 221"/>
                  <p:cNvSpPr/>
                  <p:nvPr/>
                </p:nvSpPr>
                <p:spPr>
                  <a:xfrm>
                    <a:off x="2836" y="1484"/>
                    <a:ext cx="196" cy="116"/>
                  </a:xfrm>
                  <a:custGeom>
                    <a:avLst/>
                    <a:gdLst/>
                    <a:ahLst/>
                    <a:cxnLst>
                      <a:cxn ang="0">
                        <a:pos x="78" y="3"/>
                      </a:cxn>
                      <a:cxn ang="0">
                        <a:pos x="81" y="3"/>
                      </a:cxn>
                      <a:cxn ang="0">
                        <a:pos x="63" y="32"/>
                      </a:cxn>
                      <a:cxn ang="0">
                        <a:pos x="63" y="32"/>
                      </a:cxn>
                      <a:cxn ang="0">
                        <a:pos x="36" y="39"/>
                      </a:cxn>
                      <a:cxn ang="0">
                        <a:pos x="35" y="39"/>
                      </a:cxn>
                      <a:cxn ang="0">
                        <a:pos x="35" y="39"/>
                      </a:cxn>
                      <a:cxn ang="0">
                        <a:pos x="34" y="38"/>
                      </a:cxn>
                      <a:cxn ang="0">
                        <a:pos x="8" y="18"/>
                      </a:cxn>
                      <a:cxn ang="0">
                        <a:pos x="9" y="18"/>
                      </a:cxn>
                      <a:cxn ang="0">
                        <a:pos x="2" y="34"/>
                      </a:cxn>
                      <a:cxn ang="0">
                        <a:pos x="2" y="34"/>
                      </a:cxn>
                      <a:cxn ang="0">
                        <a:pos x="20" y="51"/>
                      </a:cxn>
                      <a:cxn ang="0">
                        <a:pos x="20" y="50"/>
                      </a:cxn>
                      <a:cxn ang="0">
                        <a:pos x="34" y="56"/>
                      </a:cxn>
                      <a:cxn ang="0">
                        <a:pos x="34" y="56"/>
                      </a:cxn>
                      <a:cxn ang="0">
                        <a:pos x="68" y="48"/>
                      </a:cxn>
                      <a:cxn ang="0">
                        <a:pos x="84" y="38"/>
                      </a:cxn>
                      <a:cxn ang="0">
                        <a:pos x="83" y="38"/>
                      </a:cxn>
                      <a:cxn ang="0">
                        <a:pos x="96" y="15"/>
                      </a:cxn>
                      <a:cxn ang="0">
                        <a:pos x="96" y="17"/>
                      </a:cxn>
                      <a:cxn ang="0">
                        <a:pos x="78" y="3"/>
                      </a:cxn>
                      <a:cxn ang="0">
                        <a:pos x="80" y="1"/>
                      </a:cxn>
                      <a:cxn ang="0">
                        <a:pos x="98" y="15"/>
                      </a:cxn>
                      <a:cxn ang="0">
                        <a:pos x="98" y="18"/>
                      </a:cxn>
                      <a:cxn ang="0">
                        <a:pos x="85" y="40"/>
                      </a:cxn>
                      <a:cxn ang="0">
                        <a:pos x="68" y="50"/>
                      </a:cxn>
                      <a:cxn ang="0">
                        <a:pos x="34" y="58"/>
                      </a:cxn>
                      <a:cxn ang="0">
                        <a:pos x="34" y="58"/>
                      </a:cxn>
                      <a:cxn ang="0">
                        <a:pos x="20" y="52"/>
                      </a:cxn>
                      <a:cxn ang="0">
                        <a:pos x="19" y="52"/>
                      </a:cxn>
                      <a:cxn ang="0">
                        <a:pos x="0" y="35"/>
                      </a:cxn>
                      <a:cxn ang="0">
                        <a:pos x="0" y="34"/>
                      </a:cxn>
                      <a:cxn ang="0">
                        <a:pos x="7" y="18"/>
                      </a:cxn>
                      <a:cxn ang="0">
                        <a:pos x="9" y="17"/>
                      </a:cxn>
                      <a:cxn ang="0">
                        <a:pos x="9" y="17"/>
                      </a:cxn>
                      <a:cxn ang="0">
                        <a:pos x="36" y="37"/>
                      </a:cxn>
                      <a:cxn ang="0">
                        <a:pos x="35" y="37"/>
                      </a:cxn>
                      <a:cxn ang="0">
                        <a:pos x="62" y="30"/>
                      </a:cxn>
                      <a:cxn ang="0">
                        <a:pos x="61" y="30"/>
                      </a:cxn>
                      <a:cxn ang="0">
                        <a:pos x="78" y="1"/>
                      </a:cxn>
                      <a:cxn ang="0">
                        <a:pos x="79" y="1"/>
                      </a:cxn>
                      <a:cxn ang="0">
                        <a:pos x="78" y="1"/>
                      </a:cxn>
                      <a:cxn ang="0">
                        <a:pos x="79" y="1"/>
                      </a:cxn>
                      <a:cxn ang="0">
                        <a:pos x="80" y="0"/>
                      </a:cxn>
                      <a:cxn ang="0">
                        <a:pos x="80" y="1"/>
                      </a:cxn>
                      <a:cxn ang="0">
                        <a:pos x="78" y="3"/>
                      </a:cxn>
                    </a:cxnLst>
                    <a:pathLst>
                      <a:path w="393" h="232">
                        <a:moveTo>
                          <a:pt x="315" y="11"/>
                        </a:moveTo>
                        <a:lnTo>
                          <a:pt x="325" y="9"/>
                        </a:lnTo>
                        <a:lnTo>
                          <a:pt x="254" y="125"/>
                        </a:lnTo>
                        <a:lnTo>
                          <a:pt x="252" y="125"/>
                        </a:lnTo>
                        <a:lnTo>
                          <a:pt x="144" y="154"/>
                        </a:lnTo>
                        <a:lnTo>
                          <a:pt x="142" y="154"/>
                        </a:lnTo>
                        <a:lnTo>
                          <a:pt x="142" y="155"/>
                        </a:lnTo>
                        <a:lnTo>
                          <a:pt x="139" y="151"/>
                        </a:lnTo>
                        <a:lnTo>
                          <a:pt x="33" y="72"/>
                        </a:lnTo>
                        <a:lnTo>
                          <a:pt x="38" y="72"/>
                        </a:lnTo>
                        <a:lnTo>
                          <a:pt x="10" y="136"/>
                        </a:lnTo>
                        <a:lnTo>
                          <a:pt x="8" y="133"/>
                        </a:lnTo>
                        <a:lnTo>
                          <a:pt x="83" y="202"/>
                        </a:lnTo>
                        <a:lnTo>
                          <a:pt x="83" y="199"/>
                        </a:lnTo>
                        <a:lnTo>
                          <a:pt x="139" y="224"/>
                        </a:lnTo>
                        <a:lnTo>
                          <a:pt x="137" y="224"/>
                        </a:lnTo>
                        <a:lnTo>
                          <a:pt x="273" y="189"/>
                        </a:lnTo>
                        <a:lnTo>
                          <a:pt x="339" y="149"/>
                        </a:lnTo>
                        <a:lnTo>
                          <a:pt x="332" y="151"/>
                        </a:lnTo>
                        <a:lnTo>
                          <a:pt x="385" y="60"/>
                        </a:lnTo>
                        <a:lnTo>
                          <a:pt x="387" y="67"/>
                        </a:lnTo>
                        <a:lnTo>
                          <a:pt x="315" y="11"/>
                        </a:lnTo>
                        <a:lnTo>
                          <a:pt x="323" y="2"/>
                        </a:lnTo>
                        <a:lnTo>
                          <a:pt x="393" y="60"/>
                        </a:lnTo>
                        <a:lnTo>
                          <a:pt x="393" y="70"/>
                        </a:lnTo>
                        <a:lnTo>
                          <a:pt x="343" y="158"/>
                        </a:lnTo>
                        <a:lnTo>
                          <a:pt x="275" y="199"/>
                        </a:lnTo>
                        <a:lnTo>
                          <a:pt x="139" y="232"/>
                        </a:lnTo>
                        <a:lnTo>
                          <a:pt x="137" y="232"/>
                        </a:lnTo>
                        <a:lnTo>
                          <a:pt x="81" y="208"/>
                        </a:lnTo>
                        <a:lnTo>
                          <a:pt x="76" y="208"/>
                        </a:lnTo>
                        <a:lnTo>
                          <a:pt x="0" y="139"/>
                        </a:lnTo>
                        <a:lnTo>
                          <a:pt x="0" y="136"/>
                        </a:lnTo>
                        <a:lnTo>
                          <a:pt x="31" y="70"/>
                        </a:lnTo>
                        <a:lnTo>
                          <a:pt x="36" y="65"/>
                        </a:lnTo>
                        <a:lnTo>
                          <a:pt x="36" y="67"/>
                        </a:lnTo>
                        <a:lnTo>
                          <a:pt x="144" y="147"/>
                        </a:lnTo>
                        <a:lnTo>
                          <a:pt x="142" y="147"/>
                        </a:lnTo>
                        <a:lnTo>
                          <a:pt x="249" y="117"/>
                        </a:lnTo>
                        <a:lnTo>
                          <a:pt x="244" y="117"/>
                        </a:lnTo>
                        <a:lnTo>
                          <a:pt x="315" y="2"/>
                        </a:lnTo>
                        <a:lnTo>
                          <a:pt x="318" y="2"/>
                        </a:lnTo>
                        <a:lnTo>
                          <a:pt x="315" y="2"/>
                        </a:lnTo>
                        <a:lnTo>
                          <a:pt x="318" y="2"/>
                        </a:lnTo>
                        <a:lnTo>
                          <a:pt x="320" y="0"/>
                        </a:lnTo>
                        <a:lnTo>
                          <a:pt x="323" y="2"/>
                        </a:lnTo>
                        <a:lnTo>
                          <a:pt x="315" y="11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0" name="Freeform 222"/>
                  <p:cNvSpPr/>
                  <p:nvPr/>
                </p:nvSpPr>
                <p:spPr>
                  <a:xfrm>
                    <a:off x="2982" y="1421"/>
                    <a:ext cx="116" cy="10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7" y="33"/>
                      </a:cxn>
                      <a:cxn ang="0">
                        <a:pos x="28" y="50"/>
                      </a:cxn>
                      <a:cxn ang="0">
                        <a:pos x="58" y="43"/>
                      </a:cxn>
                      <a:cxn ang="0">
                        <a:pos x="23" y="21"/>
                      </a:cxn>
                      <a:cxn ang="0">
                        <a:pos x="0" y="0"/>
                      </a:cxn>
                    </a:cxnLst>
                    <a:pathLst>
                      <a:path w="233" h="201">
                        <a:moveTo>
                          <a:pt x="0" y="0"/>
                        </a:moveTo>
                        <a:lnTo>
                          <a:pt x="29" y="135"/>
                        </a:lnTo>
                        <a:lnTo>
                          <a:pt x="115" y="201"/>
                        </a:lnTo>
                        <a:lnTo>
                          <a:pt x="233" y="174"/>
                        </a:lnTo>
                        <a:lnTo>
                          <a:pt x="93" y="8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1" name="Freeform 223"/>
                  <p:cNvSpPr/>
                  <p:nvPr/>
                </p:nvSpPr>
                <p:spPr>
                  <a:xfrm>
                    <a:off x="2798" y="1508"/>
                    <a:ext cx="340" cy="184"/>
                  </a:xfrm>
                  <a:custGeom>
                    <a:avLst/>
                    <a:gdLst/>
                    <a:ahLst/>
                    <a:cxnLst>
                      <a:cxn ang="0">
                        <a:pos x="150" y="0"/>
                      </a:cxn>
                      <a:cxn ang="0">
                        <a:pos x="122" y="7"/>
                      </a:cxn>
                      <a:cxn ang="0">
                        <a:pos x="111" y="31"/>
                      </a:cxn>
                      <a:cxn ang="0">
                        <a:pos x="94" y="41"/>
                      </a:cxn>
                      <a:cxn ang="0">
                        <a:pos x="50" y="53"/>
                      </a:cxn>
                      <a:cxn ang="0">
                        <a:pos x="17" y="39"/>
                      </a:cxn>
                      <a:cxn ang="0">
                        <a:pos x="0" y="67"/>
                      </a:cxn>
                      <a:cxn ang="0">
                        <a:pos x="35" y="86"/>
                      </a:cxn>
                      <a:cxn ang="0">
                        <a:pos x="62" y="92"/>
                      </a:cxn>
                      <a:cxn ang="0">
                        <a:pos x="106" y="80"/>
                      </a:cxn>
                      <a:cxn ang="0">
                        <a:pos x="139" y="53"/>
                      </a:cxn>
                      <a:cxn ang="0">
                        <a:pos x="170" y="12"/>
                      </a:cxn>
                      <a:cxn ang="0">
                        <a:pos x="150" y="0"/>
                      </a:cxn>
                    </a:cxnLst>
                    <a:pathLst>
                      <a:path w="680" h="368">
                        <a:moveTo>
                          <a:pt x="597" y="0"/>
                        </a:moveTo>
                        <a:lnTo>
                          <a:pt x="487" y="28"/>
                        </a:lnTo>
                        <a:lnTo>
                          <a:pt x="444" y="123"/>
                        </a:lnTo>
                        <a:lnTo>
                          <a:pt x="376" y="164"/>
                        </a:lnTo>
                        <a:lnTo>
                          <a:pt x="200" y="212"/>
                        </a:lnTo>
                        <a:lnTo>
                          <a:pt x="68" y="155"/>
                        </a:lnTo>
                        <a:lnTo>
                          <a:pt x="0" y="265"/>
                        </a:lnTo>
                        <a:lnTo>
                          <a:pt x="140" y="344"/>
                        </a:lnTo>
                        <a:lnTo>
                          <a:pt x="246" y="368"/>
                        </a:lnTo>
                        <a:lnTo>
                          <a:pt x="423" y="317"/>
                        </a:lnTo>
                        <a:lnTo>
                          <a:pt x="555" y="212"/>
                        </a:lnTo>
                        <a:lnTo>
                          <a:pt x="680" y="45"/>
                        </a:lnTo>
                        <a:lnTo>
                          <a:pt x="597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2" name="Freeform 224"/>
                  <p:cNvSpPr/>
                  <p:nvPr/>
                </p:nvSpPr>
                <p:spPr>
                  <a:xfrm>
                    <a:off x="2704" y="1543"/>
                    <a:ext cx="544" cy="330"/>
                  </a:xfrm>
                  <a:custGeom>
                    <a:avLst/>
                    <a:gdLst/>
                    <a:ahLst/>
                    <a:cxnLst>
                      <a:cxn ang="0">
                        <a:pos x="272" y="81"/>
                      </a:cxn>
                      <a:cxn ang="0">
                        <a:pos x="209" y="49"/>
                      </a:cxn>
                      <a:cxn ang="0">
                        <a:pos x="171" y="87"/>
                      </a:cxn>
                      <a:cxn ang="0">
                        <a:pos x="184" y="133"/>
                      </a:cxn>
                      <a:cxn ang="0">
                        <a:pos x="170" y="137"/>
                      </a:cxn>
                      <a:cxn ang="0">
                        <a:pos x="157" y="91"/>
                      </a:cxn>
                      <a:cxn ang="0">
                        <a:pos x="110" y="102"/>
                      </a:cxn>
                      <a:cxn ang="0">
                        <a:pos x="56" y="83"/>
                      </a:cxn>
                      <a:cxn ang="0">
                        <a:pos x="63" y="111"/>
                      </a:cxn>
                      <a:cxn ang="0">
                        <a:pos x="53" y="139"/>
                      </a:cxn>
                      <a:cxn ang="0">
                        <a:pos x="73" y="163"/>
                      </a:cxn>
                      <a:cxn ang="0">
                        <a:pos x="65" y="165"/>
                      </a:cxn>
                      <a:cxn ang="0">
                        <a:pos x="0" y="121"/>
                      </a:cxn>
                      <a:cxn ang="0">
                        <a:pos x="6" y="110"/>
                      </a:cxn>
                      <a:cxn ang="0">
                        <a:pos x="42" y="129"/>
                      </a:cxn>
                      <a:cxn ang="0">
                        <a:pos x="53" y="111"/>
                      </a:cxn>
                      <a:cxn ang="0">
                        <a:pos x="42" y="79"/>
                      </a:cxn>
                      <a:cxn ang="0">
                        <a:pos x="29" y="71"/>
                      </a:cxn>
                      <a:cxn ang="0">
                        <a:pos x="42" y="57"/>
                      </a:cxn>
                      <a:cxn ang="0">
                        <a:pos x="74" y="78"/>
                      </a:cxn>
                      <a:cxn ang="0">
                        <a:pos x="111" y="89"/>
                      </a:cxn>
                      <a:cxn ang="0">
                        <a:pos x="162" y="75"/>
                      </a:cxn>
                      <a:cxn ang="0">
                        <a:pos x="201" y="40"/>
                      </a:cxn>
                      <a:cxn ang="0">
                        <a:pos x="227" y="0"/>
                      </a:cxn>
                      <a:cxn ang="0">
                        <a:pos x="236" y="5"/>
                      </a:cxn>
                      <a:cxn ang="0">
                        <a:pos x="231" y="16"/>
                      </a:cxn>
                      <a:cxn ang="0">
                        <a:pos x="257" y="30"/>
                      </a:cxn>
                      <a:cxn ang="0">
                        <a:pos x="272" y="81"/>
                      </a:cxn>
                    </a:cxnLst>
                    <a:pathLst>
                      <a:path w="1090" h="660">
                        <a:moveTo>
                          <a:pt x="1090" y="323"/>
                        </a:moveTo>
                        <a:lnTo>
                          <a:pt x="838" y="196"/>
                        </a:lnTo>
                        <a:lnTo>
                          <a:pt x="688" y="345"/>
                        </a:lnTo>
                        <a:lnTo>
                          <a:pt x="739" y="529"/>
                        </a:lnTo>
                        <a:lnTo>
                          <a:pt x="681" y="545"/>
                        </a:lnTo>
                        <a:lnTo>
                          <a:pt x="631" y="361"/>
                        </a:lnTo>
                        <a:lnTo>
                          <a:pt x="441" y="408"/>
                        </a:lnTo>
                        <a:lnTo>
                          <a:pt x="225" y="330"/>
                        </a:lnTo>
                        <a:lnTo>
                          <a:pt x="253" y="444"/>
                        </a:lnTo>
                        <a:lnTo>
                          <a:pt x="212" y="556"/>
                        </a:lnTo>
                        <a:lnTo>
                          <a:pt x="295" y="649"/>
                        </a:lnTo>
                        <a:lnTo>
                          <a:pt x="263" y="660"/>
                        </a:lnTo>
                        <a:lnTo>
                          <a:pt x="0" y="483"/>
                        </a:lnTo>
                        <a:lnTo>
                          <a:pt x="26" y="437"/>
                        </a:lnTo>
                        <a:lnTo>
                          <a:pt x="170" y="515"/>
                        </a:lnTo>
                        <a:lnTo>
                          <a:pt x="214" y="441"/>
                        </a:lnTo>
                        <a:lnTo>
                          <a:pt x="171" y="314"/>
                        </a:lnTo>
                        <a:lnTo>
                          <a:pt x="119" y="281"/>
                        </a:lnTo>
                        <a:lnTo>
                          <a:pt x="168" y="226"/>
                        </a:lnTo>
                        <a:lnTo>
                          <a:pt x="298" y="310"/>
                        </a:lnTo>
                        <a:lnTo>
                          <a:pt x="444" y="356"/>
                        </a:lnTo>
                        <a:lnTo>
                          <a:pt x="649" y="297"/>
                        </a:lnTo>
                        <a:lnTo>
                          <a:pt x="808" y="158"/>
                        </a:lnTo>
                        <a:lnTo>
                          <a:pt x="911" y="0"/>
                        </a:lnTo>
                        <a:lnTo>
                          <a:pt x="948" y="19"/>
                        </a:lnTo>
                        <a:lnTo>
                          <a:pt x="925" y="63"/>
                        </a:lnTo>
                        <a:lnTo>
                          <a:pt x="1031" y="117"/>
                        </a:lnTo>
                        <a:lnTo>
                          <a:pt x="1090" y="323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3" name="Freeform 225"/>
                  <p:cNvSpPr/>
                  <p:nvPr/>
                </p:nvSpPr>
                <p:spPr>
                  <a:xfrm>
                    <a:off x="3138" y="1589"/>
                    <a:ext cx="103" cy="90"/>
                  </a:xfrm>
                  <a:custGeom>
                    <a:avLst/>
                    <a:gdLst/>
                    <a:ahLst/>
                    <a:cxnLst>
                      <a:cxn ang="0">
                        <a:pos x="44" y="18"/>
                      </a:cxn>
                      <a:cxn ang="0">
                        <a:pos x="10" y="0"/>
                      </a:cxn>
                      <a:cxn ang="0">
                        <a:pos x="0" y="18"/>
                      </a:cxn>
                      <a:cxn ang="0">
                        <a:pos x="52" y="45"/>
                      </a:cxn>
                      <a:cxn ang="0">
                        <a:pos x="44" y="18"/>
                      </a:cxn>
                    </a:cxnLst>
                    <a:pathLst>
                      <a:path w="205" h="181">
                        <a:moveTo>
                          <a:pt x="173" y="72"/>
                        </a:moveTo>
                        <a:lnTo>
                          <a:pt x="37" y="0"/>
                        </a:lnTo>
                        <a:lnTo>
                          <a:pt x="0" y="72"/>
                        </a:lnTo>
                        <a:lnTo>
                          <a:pt x="205" y="181"/>
                        </a:lnTo>
                        <a:lnTo>
                          <a:pt x="173" y="72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4" name="Freeform 226"/>
                  <p:cNvSpPr/>
                  <p:nvPr/>
                </p:nvSpPr>
                <p:spPr>
                  <a:xfrm>
                    <a:off x="3050" y="1643"/>
                    <a:ext cx="121" cy="165"/>
                  </a:xfrm>
                  <a:custGeom>
                    <a:avLst/>
                    <a:gdLst/>
                    <a:ahLst/>
                    <a:cxnLst>
                      <a:cxn ang="0">
                        <a:pos x="36" y="0"/>
                      </a:cxn>
                      <a:cxn ang="0">
                        <a:pos x="0" y="39"/>
                      </a:cxn>
                      <a:cxn ang="0">
                        <a:pos x="11" y="83"/>
                      </a:cxn>
                      <a:cxn ang="0">
                        <a:pos x="37" y="76"/>
                      </a:cxn>
                      <a:cxn ang="0">
                        <a:pos x="60" y="14"/>
                      </a:cxn>
                      <a:cxn ang="0">
                        <a:pos x="36" y="0"/>
                      </a:cxn>
                    </a:cxnLst>
                    <a:pathLst>
                      <a:path w="243" h="328">
                        <a:moveTo>
                          <a:pt x="146" y="0"/>
                        </a:moveTo>
                        <a:lnTo>
                          <a:pt x="0" y="155"/>
                        </a:lnTo>
                        <a:lnTo>
                          <a:pt x="45" y="328"/>
                        </a:lnTo>
                        <a:lnTo>
                          <a:pt x="148" y="303"/>
                        </a:lnTo>
                        <a:lnTo>
                          <a:pt x="243" y="55"/>
                        </a:lnTo>
                        <a:lnTo>
                          <a:pt x="146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5" name="Freeform 227"/>
                  <p:cNvSpPr/>
                  <p:nvPr/>
                </p:nvSpPr>
                <p:spPr>
                  <a:xfrm>
                    <a:off x="3157" y="1682"/>
                    <a:ext cx="106" cy="102"/>
                  </a:xfrm>
                  <a:custGeom>
                    <a:avLst/>
                    <a:gdLst/>
                    <a:ahLst/>
                    <a:cxnLst>
                      <a:cxn ang="0">
                        <a:pos x="46" y="11"/>
                      </a:cxn>
                      <a:cxn ang="0">
                        <a:pos x="21" y="0"/>
                      </a:cxn>
                      <a:cxn ang="0">
                        <a:pos x="0" y="51"/>
                      </a:cxn>
                      <a:cxn ang="0">
                        <a:pos x="53" y="36"/>
                      </a:cxn>
                      <a:cxn ang="0">
                        <a:pos x="46" y="11"/>
                      </a:cxn>
                    </a:cxnLst>
                    <a:pathLst>
                      <a:path w="211" h="205">
                        <a:moveTo>
                          <a:pt x="184" y="47"/>
                        </a:moveTo>
                        <a:lnTo>
                          <a:pt x="84" y="0"/>
                        </a:lnTo>
                        <a:lnTo>
                          <a:pt x="0" y="205"/>
                        </a:lnTo>
                        <a:lnTo>
                          <a:pt x="211" y="146"/>
                        </a:lnTo>
                        <a:lnTo>
                          <a:pt x="184" y="47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6" name="Freeform 228"/>
                  <p:cNvSpPr/>
                  <p:nvPr/>
                </p:nvSpPr>
                <p:spPr>
                  <a:xfrm>
                    <a:off x="2809" y="1710"/>
                    <a:ext cx="232" cy="158"/>
                  </a:xfrm>
                  <a:custGeom>
                    <a:avLst/>
                    <a:gdLst/>
                    <a:ahLst/>
                    <a:cxnLst>
                      <a:cxn ang="0">
                        <a:pos x="111" y="39"/>
                      </a:cxn>
                      <a:cxn ang="0">
                        <a:pos x="116" y="53"/>
                      </a:cxn>
                      <a:cxn ang="0">
                        <a:pos x="21" y="79"/>
                      </a:cxn>
                      <a:cxn ang="0">
                        <a:pos x="0" y="56"/>
                      </a:cxn>
                      <a:cxn ang="0">
                        <a:pos x="10" y="30"/>
                      </a:cxn>
                      <a:cxn ang="0">
                        <a:pos x="4" y="0"/>
                      </a:cxn>
                      <a:cxn ang="0">
                        <a:pos x="35" y="12"/>
                      </a:cxn>
                      <a:cxn ang="0">
                        <a:pos x="57" y="21"/>
                      </a:cxn>
                      <a:cxn ang="0">
                        <a:pos x="72" y="17"/>
                      </a:cxn>
                      <a:cxn ang="0">
                        <a:pos x="79" y="48"/>
                      </a:cxn>
                      <a:cxn ang="0">
                        <a:pos x="111" y="39"/>
                      </a:cxn>
                    </a:cxnLst>
                    <a:pathLst>
                      <a:path w="465" h="315">
                        <a:moveTo>
                          <a:pt x="445" y="153"/>
                        </a:moveTo>
                        <a:lnTo>
                          <a:pt x="465" y="212"/>
                        </a:lnTo>
                        <a:lnTo>
                          <a:pt x="86" y="315"/>
                        </a:lnTo>
                        <a:lnTo>
                          <a:pt x="0" y="223"/>
                        </a:lnTo>
                        <a:lnTo>
                          <a:pt x="43" y="118"/>
                        </a:lnTo>
                        <a:lnTo>
                          <a:pt x="16" y="0"/>
                        </a:lnTo>
                        <a:lnTo>
                          <a:pt x="140" y="48"/>
                        </a:lnTo>
                        <a:lnTo>
                          <a:pt x="228" y="82"/>
                        </a:lnTo>
                        <a:lnTo>
                          <a:pt x="291" y="66"/>
                        </a:lnTo>
                        <a:lnTo>
                          <a:pt x="319" y="189"/>
                        </a:lnTo>
                        <a:lnTo>
                          <a:pt x="445" y="153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7" name="Freeform 229"/>
                  <p:cNvSpPr/>
                  <p:nvPr/>
                </p:nvSpPr>
                <p:spPr>
                  <a:xfrm>
                    <a:off x="2718" y="1684"/>
                    <a:ext cx="93" cy="118"/>
                  </a:xfrm>
                  <a:custGeom>
                    <a:avLst/>
                    <a:gdLst/>
                    <a:ahLst/>
                    <a:cxnLst>
                      <a:cxn ang="0">
                        <a:pos x="23" y="0"/>
                      </a:cxn>
                      <a:cxn ang="0">
                        <a:pos x="0" y="38"/>
                      </a:cxn>
                      <a:cxn ang="0">
                        <a:pos x="36" y="59"/>
                      </a:cxn>
                      <a:cxn ang="0">
                        <a:pos x="47" y="40"/>
                      </a:cxn>
                      <a:cxn ang="0">
                        <a:pos x="37" y="9"/>
                      </a:cxn>
                      <a:cxn ang="0">
                        <a:pos x="23" y="0"/>
                      </a:cxn>
                    </a:cxnLst>
                    <a:pathLst>
                      <a:path w="186" h="235">
                        <a:moveTo>
                          <a:pt x="90" y="0"/>
                        </a:moveTo>
                        <a:lnTo>
                          <a:pt x="0" y="150"/>
                        </a:lnTo>
                        <a:lnTo>
                          <a:pt x="142" y="235"/>
                        </a:lnTo>
                        <a:lnTo>
                          <a:pt x="186" y="157"/>
                        </a:lnTo>
                        <a:lnTo>
                          <a:pt x="146" y="35"/>
                        </a:lnTo>
                        <a:lnTo>
                          <a:pt x="90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8" name="Freeform 230"/>
                  <p:cNvSpPr/>
                  <p:nvPr/>
                </p:nvSpPr>
                <p:spPr>
                  <a:xfrm>
                    <a:off x="2627" y="1791"/>
                    <a:ext cx="138" cy="137"/>
                  </a:xfrm>
                  <a:custGeom>
                    <a:avLst/>
                    <a:gdLst/>
                    <a:ahLst/>
                    <a:cxnLst>
                      <a:cxn ang="0">
                        <a:pos x="37" y="0"/>
                      </a:cxn>
                      <a:cxn ang="0">
                        <a:pos x="69" y="22"/>
                      </a:cxn>
                      <a:cxn ang="0">
                        <a:pos x="52" y="55"/>
                      </a:cxn>
                      <a:cxn ang="0">
                        <a:pos x="4" y="68"/>
                      </a:cxn>
                      <a:cxn ang="0">
                        <a:pos x="0" y="54"/>
                      </a:cxn>
                      <a:cxn ang="0">
                        <a:pos x="37" y="0"/>
                      </a:cxn>
                    </a:cxnLst>
                    <a:pathLst>
                      <a:path w="276" h="275">
                        <a:moveTo>
                          <a:pt x="146" y="0"/>
                        </a:moveTo>
                        <a:lnTo>
                          <a:pt x="276" y="88"/>
                        </a:lnTo>
                        <a:lnTo>
                          <a:pt x="205" y="221"/>
                        </a:lnTo>
                        <a:lnTo>
                          <a:pt x="16" y="275"/>
                        </a:lnTo>
                        <a:lnTo>
                          <a:pt x="0" y="219"/>
                        </a:lnTo>
                        <a:lnTo>
                          <a:pt x="146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49" name="Freeform 231"/>
                  <p:cNvSpPr/>
                  <p:nvPr/>
                </p:nvSpPr>
                <p:spPr>
                  <a:xfrm>
                    <a:off x="2615" y="1736"/>
                    <a:ext cx="100" cy="106"/>
                  </a:xfrm>
                  <a:custGeom>
                    <a:avLst/>
                    <a:gdLst/>
                    <a:ahLst/>
                    <a:cxnLst>
                      <a:cxn ang="0">
                        <a:pos x="50" y="13"/>
                      </a:cxn>
                      <a:cxn ang="0">
                        <a:pos x="29" y="0"/>
                      </a:cxn>
                      <a:cxn ang="0">
                        <a:pos x="14" y="4"/>
                      </a:cxn>
                      <a:cxn ang="0">
                        <a:pos x="27" y="18"/>
                      </a:cxn>
                      <a:cxn ang="0">
                        <a:pos x="0" y="17"/>
                      </a:cxn>
                      <a:cxn ang="0">
                        <a:pos x="8" y="47"/>
                      </a:cxn>
                      <a:cxn ang="0">
                        <a:pos x="24" y="53"/>
                      </a:cxn>
                      <a:cxn ang="0">
                        <a:pos x="44" y="23"/>
                      </a:cxn>
                      <a:cxn ang="0">
                        <a:pos x="50" y="13"/>
                      </a:cxn>
                    </a:cxnLst>
                    <a:pathLst>
                      <a:path w="201" h="213">
                        <a:moveTo>
                          <a:pt x="201" y="54"/>
                        </a:moveTo>
                        <a:lnTo>
                          <a:pt x="119" y="0"/>
                        </a:lnTo>
                        <a:lnTo>
                          <a:pt x="59" y="19"/>
                        </a:lnTo>
                        <a:lnTo>
                          <a:pt x="109" y="75"/>
                        </a:lnTo>
                        <a:lnTo>
                          <a:pt x="0" y="70"/>
                        </a:lnTo>
                        <a:lnTo>
                          <a:pt x="32" y="188"/>
                        </a:lnTo>
                        <a:lnTo>
                          <a:pt x="96" y="213"/>
                        </a:lnTo>
                        <a:lnTo>
                          <a:pt x="179" y="92"/>
                        </a:lnTo>
                        <a:lnTo>
                          <a:pt x="201" y="54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0" name="Freeform 232"/>
                  <p:cNvSpPr/>
                  <p:nvPr/>
                </p:nvSpPr>
                <p:spPr>
                  <a:xfrm>
                    <a:off x="2627" y="1651"/>
                    <a:ext cx="113" cy="79"/>
                  </a:xfrm>
                  <a:custGeom>
                    <a:avLst/>
                    <a:gdLst/>
                    <a:ahLst/>
                    <a:cxnLst>
                      <a:cxn ang="0">
                        <a:pos x="17" y="40"/>
                      </a:cxn>
                      <a:cxn ang="0">
                        <a:pos x="17" y="30"/>
                      </a:cxn>
                      <a:cxn ang="0">
                        <a:pos x="0" y="23"/>
                      </a:cxn>
                      <a:cxn ang="0">
                        <a:pos x="15" y="19"/>
                      </a:cxn>
                      <a:cxn ang="0">
                        <a:pos x="18" y="5"/>
                      </a:cxn>
                      <a:cxn ang="0">
                        <a:pos x="26" y="14"/>
                      </a:cxn>
                      <a:cxn ang="0">
                        <a:pos x="34" y="0"/>
                      </a:cxn>
                      <a:cxn ang="0">
                        <a:pos x="44" y="8"/>
                      </a:cxn>
                      <a:cxn ang="0">
                        <a:pos x="39" y="16"/>
                      </a:cxn>
                      <a:cxn ang="0">
                        <a:pos x="56" y="17"/>
                      </a:cxn>
                      <a:cxn ang="0">
                        <a:pos x="47" y="23"/>
                      </a:cxn>
                      <a:cxn ang="0">
                        <a:pos x="51" y="31"/>
                      </a:cxn>
                      <a:cxn ang="0">
                        <a:pos x="32" y="27"/>
                      </a:cxn>
                      <a:cxn ang="0">
                        <a:pos x="26" y="37"/>
                      </a:cxn>
                      <a:cxn ang="0">
                        <a:pos x="17" y="40"/>
                      </a:cxn>
                    </a:cxnLst>
                    <a:pathLst>
                      <a:path w="227" h="156">
                        <a:moveTo>
                          <a:pt x="70" y="156"/>
                        </a:moveTo>
                        <a:lnTo>
                          <a:pt x="68" y="116"/>
                        </a:lnTo>
                        <a:lnTo>
                          <a:pt x="0" y="91"/>
                        </a:lnTo>
                        <a:lnTo>
                          <a:pt x="62" y="73"/>
                        </a:lnTo>
                        <a:lnTo>
                          <a:pt x="73" y="20"/>
                        </a:lnTo>
                        <a:lnTo>
                          <a:pt x="107" y="56"/>
                        </a:lnTo>
                        <a:lnTo>
                          <a:pt x="138" y="0"/>
                        </a:lnTo>
                        <a:lnTo>
                          <a:pt x="177" y="29"/>
                        </a:lnTo>
                        <a:lnTo>
                          <a:pt x="156" y="62"/>
                        </a:lnTo>
                        <a:lnTo>
                          <a:pt x="227" y="66"/>
                        </a:lnTo>
                        <a:lnTo>
                          <a:pt x="188" y="88"/>
                        </a:lnTo>
                        <a:lnTo>
                          <a:pt x="206" y="121"/>
                        </a:lnTo>
                        <a:lnTo>
                          <a:pt x="131" y="106"/>
                        </a:lnTo>
                        <a:lnTo>
                          <a:pt x="107" y="145"/>
                        </a:lnTo>
                        <a:lnTo>
                          <a:pt x="70" y="156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1" name="Freeform 233"/>
                  <p:cNvSpPr/>
                  <p:nvPr/>
                </p:nvSpPr>
                <p:spPr>
                  <a:xfrm>
                    <a:off x="2600" y="1679"/>
                    <a:ext cx="41" cy="68"/>
                  </a:xfrm>
                  <a:custGeom>
                    <a:avLst/>
                    <a:gdLst/>
                    <a:ahLst/>
                    <a:cxnLst>
                      <a:cxn ang="0">
                        <a:pos x="20" y="29"/>
                      </a:cxn>
                      <a:cxn ang="0">
                        <a:pos x="17" y="15"/>
                      </a:cxn>
                      <a:cxn ang="0">
                        <a:pos x="11" y="17"/>
                      </a:cxn>
                      <a:cxn ang="0">
                        <a:pos x="7" y="0"/>
                      </a:cxn>
                      <a:cxn ang="0">
                        <a:pos x="4" y="17"/>
                      </a:cxn>
                      <a:cxn ang="0">
                        <a:pos x="0" y="18"/>
                      </a:cxn>
                      <a:cxn ang="0">
                        <a:pos x="2" y="34"/>
                      </a:cxn>
                      <a:cxn ang="0">
                        <a:pos x="8" y="28"/>
                      </a:cxn>
                      <a:cxn ang="0">
                        <a:pos x="9" y="34"/>
                      </a:cxn>
                      <a:cxn ang="0">
                        <a:pos x="20" y="29"/>
                      </a:cxn>
                    </a:cxnLst>
                    <a:pathLst>
                      <a:path w="83" h="135">
                        <a:moveTo>
                          <a:pt x="83" y="114"/>
                        </a:moveTo>
                        <a:lnTo>
                          <a:pt x="71" y="57"/>
                        </a:lnTo>
                        <a:lnTo>
                          <a:pt x="44" y="66"/>
                        </a:lnTo>
                        <a:lnTo>
                          <a:pt x="29" y="0"/>
                        </a:lnTo>
                        <a:lnTo>
                          <a:pt x="16" y="66"/>
                        </a:lnTo>
                        <a:lnTo>
                          <a:pt x="0" y="70"/>
                        </a:lnTo>
                        <a:lnTo>
                          <a:pt x="11" y="135"/>
                        </a:lnTo>
                        <a:lnTo>
                          <a:pt x="33" y="112"/>
                        </a:lnTo>
                        <a:lnTo>
                          <a:pt x="38" y="135"/>
                        </a:lnTo>
                        <a:lnTo>
                          <a:pt x="83" y="114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2" name="Freeform 234"/>
                  <p:cNvSpPr/>
                  <p:nvPr/>
                </p:nvSpPr>
                <p:spPr>
                  <a:xfrm>
                    <a:off x="2953" y="1724"/>
                    <a:ext cx="84" cy="81"/>
                  </a:xfrm>
                  <a:custGeom>
                    <a:avLst/>
                    <a:gdLst/>
                    <a:ahLst/>
                    <a:cxnLst>
                      <a:cxn ang="0">
                        <a:pos x="33" y="0"/>
                      </a:cxn>
                      <a:cxn ang="0">
                        <a:pos x="0" y="9"/>
                      </a:cxn>
                      <a:cxn ang="0">
                        <a:pos x="8" y="41"/>
                      </a:cxn>
                      <a:cxn ang="0">
                        <a:pos x="42" y="31"/>
                      </a:cxn>
                      <a:cxn ang="0">
                        <a:pos x="33" y="0"/>
                      </a:cxn>
                    </a:cxnLst>
                    <a:pathLst>
                      <a:path w="167" h="162">
                        <a:moveTo>
                          <a:pt x="129" y="0"/>
                        </a:moveTo>
                        <a:lnTo>
                          <a:pt x="0" y="33"/>
                        </a:lnTo>
                        <a:lnTo>
                          <a:pt x="30" y="162"/>
                        </a:lnTo>
                        <a:lnTo>
                          <a:pt x="167" y="121"/>
                        </a:lnTo>
                        <a:lnTo>
                          <a:pt x="129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3" name="Freeform 235"/>
                  <p:cNvSpPr/>
                  <p:nvPr/>
                </p:nvSpPr>
                <p:spPr>
                  <a:xfrm>
                    <a:off x="2834" y="1515"/>
                    <a:ext cx="207" cy="99"/>
                  </a:xfrm>
                  <a:custGeom>
                    <a:avLst/>
                    <a:gdLst/>
                    <a:ahLst/>
                    <a:cxnLst>
                      <a:cxn ang="0">
                        <a:pos x="96" y="0"/>
                      </a:cxn>
                      <a:cxn ang="0">
                        <a:pos x="85" y="20"/>
                      </a:cxn>
                      <a:cxn ang="0">
                        <a:pos x="73" y="30"/>
                      </a:cxn>
                      <a:cxn ang="0">
                        <a:pos x="36" y="40"/>
                      </a:cxn>
                      <a:cxn ang="0">
                        <a:pos x="22" y="34"/>
                      </a:cxn>
                      <a:cxn ang="0">
                        <a:pos x="4" y="20"/>
                      </a:cxn>
                      <a:cxn ang="0">
                        <a:pos x="0" y="35"/>
                      </a:cxn>
                      <a:cxn ang="0">
                        <a:pos x="32" y="50"/>
                      </a:cxn>
                      <a:cxn ang="0">
                        <a:pos x="78" y="38"/>
                      </a:cxn>
                      <a:cxn ang="0">
                        <a:pos x="95" y="26"/>
                      </a:cxn>
                      <a:cxn ang="0">
                        <a:pos x="104" y="5"/>
                      </a:cxn>
                      <a:cxn ang="0">
                        <a:pos x="96" y="0"/>
                      </a:cxn>
                    </a:cxnLst>
                    <a:pathLst>
                      <a:path w="413" h="198">
                        <a:moveTo>
                          <a:pt x="384" y="0"/>
                        </a:moveTo>
                        <a:lnTo>
                          <a:pt x="339" y="80"/>
                        </a:lnTo>
                        <a:lnTo>
                          <a:pt x="289" y="118"/>
                        </a:lnTo>
                        <a:lnTo>
                          <a:pt x="144" y="158"/>
                        </a:lnTo>
                        <a:lnTo>
                          <a:pt x="88" y="136"/>
                        </a:lnTo>
                        <a:lnTo>
                          <a:pt x="13" y="77"/>
                        </a:lnTo>
                        <a:lnTo>
                          <a:pt x="0" y="138"/>
                        </a:lnTo>
                        <a:lnTo>
                          <a:pt x="128" y="198"/>
                        </a:lnTo>
                        <a:lnTo>
                          <a:pt x="310" y="149"/>
                        </a:lnTo>
                        <a:lnTo>
                          <a:pt x="378" y="102"/>
                        </a:lnTo>
                        <a:lnTo>
                          <a:pt x="413" y="20"/>
                        </a:lnTo>
                        <a:lnTo>
                          <a:pt x="384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4" name="Freeform 236"/>
                  <p:cNvSpPr/>
                  <p:nvPr/>
                </p:nvSpPr>
                <p:spPr>
                  <a:xfrm>
                    <a:off x="2776" y="1389"/>
                    <a:ext cx="79" cy="245"/>
                  </a:xfrm>
                  <a:custGeom>
                    <a:avLst/>
                    <a:gdLst/>
                    <a:ahLst/>
                    <a:cxnLst>
                      <a:cxn ang="0">
                        <a:pos x="40" y="64"/>
                      </a:cxn>
                      <a:cxn ang="0">
                        <a:pos x="23" y="0"/>
                      </a:cxn>
                      <a:cxn ang="0">
                        <a:pos x="3" y="44"/>
                      </a:cxn>
                      <a:cxn ang="0">
                        <a:pos x="0" y="75"/>
                      </a:cxn>
                      <a:cxn ang="0">
                        <a:pos x="13" y="123"/>
                      </a:cxn>
                      <a:cxn ang="0">
                        <a:pos x="29" y="96"/>
                      </a:cxn>
                      <a:cxn ang="0">
                        <a:pos x="31" y="81"/>
                      </a:cxn>
                      <a:cxn ang="0">
                        <a:pos x="40" y="64"/>
                      </a:cxn>
                    </a:cxnLst>
                    <a:pathLst>
                      <a:path w="157" h="489">
                        <a:moveTo>
                          <a:pt x="157" y="253"/>
                        </a:moveTo>
                        <a:lnTo>
                          <a:pt x="89" y="0"/>
                        </a:lnTo>
                        <a:lnTo>
                          <a:pt x="11" y="174"/>
                        </a:lnTo>
                        <a:lnTo>
                          <a:pt x="0" y="300"/>
                        </a:lnTo>
                        <a:lnTo>
                          <a:pt x="49" y="489"/>
                        </a:lnTo>
                        <a:lnTo>
                          <a:pt x="113" y="383"/>
                        </a:lnTo>
                        <a:lnTo>
                          <a:pt x="123" y="323"/>
                        </a:lnTo>
                        <a:lnTo>
                          <a:pt x="157" y="253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5" name="Freeform 237"/>
                  <p:cNvSpPr/>
                  <p:nvPr/>
                </p:nvSpPr>
                <p:spPr>
                  <a:xfrm>
                    <a:off x="3124" y="1671"/>
                    <a:ext cx="72" cy="123"/>
                  </a:xfrm>
                  <a:custGeom>
                    <a:avLst/>
                    <a:gdLst/>
                    <a:ahLst/>
                    <a:cxnLst>
                      <a:cxn ang="0">
                        <a:pos x="17" y="57"/>
                      </a:cxn>
                      <a:cxn ang="0">
                        <a:pos x="0" y="62"/>
                      </a:cxn>
                      <a:cxn ang="0">
                        <a:pos x="25" y="0"/>
                      </a:cxn>
                      <a:cxn ang="0">
                        <a:pos x="36" y="6"/>
                      </a:cxn>
                      <a:cxn ang="0">
                        <a:pos x="17" y="57"/>
                      </a:cxn>
                    </a:cxnLst>
                    <a:pathLst>
                      <a:path w="144" h="246">
                        <a:moveTo>
                          <a:pt x="67" y="227"/>
                        </a:moveTo>
                        <a:lnTo>
                          <a:pt x="0" y="246"/>
                        </a:lnTo>
                        <a:lnTo>
                          <a:pt x="97" y="0"/>
                        </a:lnTo>
                        <a:lnTo>
                          <a:pt x="144" y="22"/>
                        </a:lnTo>
                        <a:lnTo>
                          <a:pt x="67" y="227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6" name="Freeform 238"/>
                  <p:cNvSpPr/>
                  <p:nvPr/>
                </p:nvSpPr>
                <p:spPr>
                  <a:xfrm>
                    <a:off x="3168" y="1557"/>
                    <a:ext cx="52" cy="44"/>
                  </a:xfrm>
                  <a:custGeom>
                    <a:avLst/>
                    <a:gdLst/>
                    <a:ahLst/>
                    <a:cxnLst>
                      <a:cxn ang="0">
                        <a:pos x="26" y="22"/>
                      </a:cxn>
                      <a:cxn ang="0">
                        <a:pos x="0" y="9"/>
                      </a:cxn>
                      <a:cxn ang="0">
                        <a:pos x="4" y="0"/>
                      </a:cxn>
                      <a:cxn ang="0">
                        <a:pos x="22" y="9"/>
                      </a:cxn>
                      <a:cxn ang="0">
                        <a:pos x="26" y="22"/>
                      </a:cxn>
                    </a:cxnLst>
                    <a:pathLst>
                      <a:path w="105" h="88">
                        <a:moveTo>
                          <a:pt x="105" y="88"/>
                        </a:moveTo>
                        <a:lnTo>
                          <a:pt x="0" y="35"/>
                        </a:lnTo>
                        <a:lnTo>
                          <a:pt x="17" y="0"/>
                        </a:lnTo>
                        <a:lnTo>
                          <a:pt x="89" y="33"/>
                        </a:lnTo>
                        <a:lnTo>
                          <a:pt x="105" y="88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7" name="Freeform 239"/>
                  <p:cNvSpPr/>
                  <p:nvPr/>
                </p:nvSpPr>
                <p:spPr>
                  <a:xfrm>
                    <a:off x="3056" y="1526"/>
                    <a:ext cx="45" cy="50"/>
                  </a:xfrm>
                  <a:custGeom>
                    <a:avLst/>
                    <a:gdLst/>
                    <a:ahLst/>
                    <a:cxnLst>
                      <a:cxn ang="0">
                        <a:pos x="15" y="0"/>
                      </a:cxn>
                      <a:cxn ang="0">
                        <a:pos x="23" y="10"/>
                      </a:cxn>
                      <a:cxn ang="0">
                        <a:pos x="20" y="22"/>
                      </a:cxn>
                      <a:cxn ang="0">
                        <a:pos x="10" y="25"/>
                      </a:cxn>
                      <a:cxn ang="0">
                        <a:pos x="0" y="16"/>
                      </a:cxn>
                      <a:cxn ang="0">
                        <a:pos x="3" y="3"/>
                      </a:cxn>
                      <a:cxn ang="0">
                        <a:pos x="15" y="0"/>
                      </a:cxn>
                    </a:cxnLst>
                    <a:pathLst>
                      <a:path w="90" h="100">
                        <a:moveTo>
                          <a:pt x="57" y="0"/>
                        </a:moveTo>
                        <a:lnTo>
                          <a:pt x="90" y="38"/>
                        </a:lnTo>
                        <a:lnTo>
                          <a:pt x="79" y="88"/>
                        </a:lnTo>
                        <a:lnTo>
                          <a:pt x="37" y="100"/>
                        </a:lnTo>
                        <a:lnTo>
                          <a:pt x="0" y="64"/>
                        </a:lnTo>
                        <a:lnTo>
                          <a:pt x="10" y="11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8" name="Freeform 240"/>
                  <p:cNvSpPr/>
                  <p:nvPr/>
                </p:nvSpPr>
                <p:spPr>
                  <a:xfrm>
                    <a:off x="3005" y="1579"/>
                    <a:ext cx="52" cy="52"/>
                  </a:xfrm>
                  <a:custGeom>
                    <a:avLst/>
                    <a:gdLst/>
                    <a:ahLst/>
                    <a:cxnLst>
                      <a:cxn ang="0">
                        <a:pos x="17" y="0"/>
                      </a:cxn>
                      <a:cxn ang="0">
                        <a:pos x="26" y="9"/>
                      </a:cxn>
                      <a:cxn ang="0">
                        <a:pos x="21" y="23"/>
                      </a:cxn>
                      <a:cxn ang="0">
                        <a:pos x="9" y="27"/>
                      </a:cxn>
                      <a:cxn ang="0">
                        <a:pos x="0" y="17"/>
                      </a:cxn>
                      <a:cxn ang="0">
                        <a:pos x="4" y="3"/>
                      </a:cxn>
                      <a:cxn ang="0">
                        <a:pos x="17" y="0"/>
                      </a:cxn>
                    </a:cxnLst>
                    <a:pathLst>
                      <a:path w="103" h="102">
                        <a:moveTo>
                          <a:pt x="67" y="0"/>
                        </a:moveTo>
                        <a:lnTo>
                          <a:pt x="103" y="36"/>
                        </a:lnTo>
                        <a:lnTo>
                          <a:pt x="84" y="91"/>
                        </a:lnTo>
                        <a:lnTo>
                          <a:pt x="34" y="102"/>
                        </a:lnTo>
                        <a:lnTo>
                          <a:pt x="0" y="64"/>
                        </a:lnTo>
                        <a:lnTo>
                          <a:pt x="14" y="12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59" name="Freeform 241"/>
                  <p:cNvSpPr/>
                  <p:nvPr/>
                </p:nvSpPr>
                <p:spPr>
                  <a:xfrm>
                    <a:off x="2938" y="1609"/>
                    <a:ext cx="53" cy="58"/>
                  </a:xfrm>
                  <a:custGeom>
                    <a:avLst/>
                    <a:gdLst/>
                    <a:ahLst/>
                    <a:cxnLst>
                      <a:cxn ang="0">
                        <a:pos x="16" y="0"/>
                      </a:cxn>
                      <a:cxn ang="0">
                        <a:pos x="27" y="12"/>
                      </a:cxn>
                      <a:cxn ang="0">
                        <a:pos x="24" y="25"/>
                      </a:cxn>
                      <a:cxn ang="0">
                        <a:pos x="10" y="29"/>
                      </a:cxn>
                      <a:cxn ang="0">
                        <a:pos x="0" y="18"/>
                      </a:cxn>
                      <a:cxn ang="0">
                        <a:pos x="3" y="4"/>
                      </a:cxn>
                      <a:cxn ang="0">
                        <a:pos x="16" y="0"/>
                      </a:cxn>
                    </a:cxnLst>
                    <a:pathLst>
                      <a:path w="105" h="115">
                        <a:moveTo>
                          <a:pt x="64" y="0"/>
                        </a:moveTo>
                        <a:lnTo>
                          <a:pt x="105" y="46"/>
                        </a:lnTo>
                        <a:lnTo>
                          <a:pt x="93" y="99"/>
                        </a:lnTo>
                        <a:lnTo>
                          <a:pt x="38" y="115"/>
                        </a:lnTo>
                        <a:lnTo>
                          <a:pt x="0" y="72"/>
                        </a:lnTo>
                        <a:lnTo>
                          <a:pt x="11" y="14"/>
                        </a:lnTo>
                        <a:lnTo>
                          <a:pt x="64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60" name="Freeform 242"/>
                  <p:cNvSpPr/>
                  <p:nvPr/>
                </p:nvSpPr>
                <p:spPr>
                  <a:xfrm>
                    <a:off x="2875" y="1624"/>
                    <a:ext cx="46" cy="47"/>
                  </a:xfrm>
                  <a:custGeom>
                    <a:avLst/>
                    <a:gdLst/>
                    <a:ahLst/>
                    <a:cxnLst>
                      <a:cxn ang="0">
                        <a:pos x="14" y="0"/>
                      </a:cxn>
                      <a:cxn ang="0">
                        <a:pos x="23" y="10"/>
                      </a:cxn>
                      <a:cxn ang="0">
                        <a:pos x="20" y="22"/>
                      </a:cxn>
                      <a:cxn ang="0">
                        <a:pos x="9" y="24"/>
                      </a:cxn>
                      <a:cxn ang="0">
                        <a:pos x="0" y="16"/>
                      </a:cxn>
                      <a:cxn ang="0">
                        <a:pos x="3" y="2"/>
                      </a:cxn>
                      <a:cxn ang="0">
                        <a:pos x="14" y="0"/>
                      </a:cxn>
                    </a:cxnLst>
                    <a:pathLst>
                      <a:path w="93" h="94">
                        <a:moveTo>
                          <a:pt x="57" y="0"/>
                        </a:moveTo>
                        <a:lnTo>
                          <a:pt x="93" y="38"/>
                        </a:lnTo>
                        <a:lnTo>
                          <a:pt x="81" y="85"/>
                        </a:lnTo>
                        <a:lnTo>
                          <a:pt x="36" y="94"/>
                        </a:lnTo>
                        <a:lnTo>
                          <a:pt x="0" y="61"/>
                        </a:lnTo>
                        <a:lnTo>
                          <a:pt x="14" y="8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61" name="Freeform 243"/>
                  <p:cNvSpPr/>
                  <p:nvPr/>
                </p:nvSpPr>
                <p:spPr>
                  <a:xfrm>
                    <a:off x="2826" y="1604"/>
                    <a:ext cx="36" cy="48"/>
                  </a:xfrm>
                  <a:custGeom>
                    <a:avLst/>
                    <a:gdLst/>
                    <a:ahLst/>
                    <a:cxnLst>
                      <a:cxn ang="0">
                        <a:pos x="11" y="0"/>
                      </a:cxn>
                      <a:cxn ang="0">
                        <a:pos x="18" y="10"/>
                      </a:cxn>
                      <a:cxn ang="0">
                        <a:pos x="16" y="21"/>
                      </a:cxn>
                      <a:cxn ang="0">
                        <a:pos x="8" y="24"/>
                      </a:cxn>
                      <a:cxn ang="0">
                        <a:pos x="0" y="15"/>
                      </a:cxn>
                      <a:cxn ang="0">
                        <a:pos x="2" y="3"/>
                      </a:cxn>
                      <a:cxn ang="0">
                        <a:pos x="11" y="0"/>
                      </a:cxn>
                    </a:cxnLst>
                    <a:pathLst>
                      <a:path w="72" h="95">
                        <a:moveTo>
                          <a:pt x="41" y="0"/>
                        </a:moveTo>
                        <a:lnTo>
                          <a:pt x="72" y="38"/>
                        </a:lnTo>
                        <a:lnTo>
                          <a:pt x="63" y="83"/>
                        </a:lnTo>
                        <a:lnTo>
                          <a:pt x="30" y="95"/>
                        </a:lnTo>
                        <a:lnTo>
                          <a:pt x="0" y="58"/>
                        </a:lnTo>
                        <a:lnTo>
                          <a:pt x="6" y="11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62" name="Freeform 244"/>
                  <p:cNvSpPr/>
                  <p:nvPr/>
                </p:nvSpPr>
                <p:spPr>
                  <a:xfrm>
                    <a:off x="2910" y="1427"/>
                    <a:ext cx="44" cy="63"/>
                  </a:xfrm>
                  <a:custGeom>
                    <a:avLst/>
                    <a:gdLst/>
                    <a:ahLst/>
                    <a:cxnLst>
                      <a:cxn ang="0">
                        <a:pos x="22" y="0"/>
                      </a:cxn>
                      <a:cxn ang="0">
                        <a:pos x="0" y="5"/>
                      </a:cxn>
                      <a:cxn ang="0">
                        <a:pos x="9" y="32"/>
                      </a:cxn>
                    </a:cxnLst>
                    <a:pathLst>
                      <a:path w="88" h="125">
                        <a:moveTo>
                          <a:pt x="88" y="0"/>
                        </a:moveTo>
                        <a:lnTo>
                          <a:pt x="0" y="19"/>
                        </a:lnTo>
                        <a:lnTo>
                          <a:pt x="33" y="125"/>
                        </a:lnTo>
                      </a:path>
                    </a:pathLst>
                  </a:custGeom>
                  <a:noFill/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63" name="Line 245"/>
                  <p:cNvSpPr/>
                  <p:nvPr/>
                </p:nvSpPr>
                <p:spPr>
                  <a:xfrm flipV="1">
                    <a:off x="2842" y="1425"/>
                    <a:ext cx="44" cy="11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664" name="Line 246"/>
                  <p:cNvSpPr/>
                  <p:nvPr/>
                </p:nvSpPr>
                <p:spPr>
                  <a:xfrm flipV="1">
                    <a:off x="2917" y="1407"/>
                    <a:ext cx="41" cy="11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665" name="Line 247"/>
                  <p:cNvSpPr/>
                  <p:nvPr/>
                </p:nvSpPr>
                <p:spPr>
                  <a:xfrm flipV="1">
                    <a:off x="2848" y="1446"/>
                    <a:ext cx="31" cy="7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666" name="Freeform 248"/>
                  <p:cNvSpPr/>
                  <p:nvPr/>
                </p:nvSpPr>
                <p:spPr>
                  <a:xfrm>
                    <a:off x="2910" y="1488"/>
                    <a:ext cx="29" cy="7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14" y="0"/>
                      </a:cxn>
                    </a:cxnLst>
                    <a:pathLst>
                      <a:path w="59" h="15">
                        <a:moveTo>
                          <a:pt x="0" y="15"/>
                        </a:moveTo>
                        <a:lnTo>
                          <a:pt x="59" y="0"/>
                        </a:lnTo>
                      </a:path>
                    </a:pathLst>
                  </a:custGeom>
                  <a:noFill/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67" name="Line 249"/>
                  <p:cNvSpPr/>
                  <p:nvPr/>
                </p:nvSpPr>
                <p:spPr>
                  <a:xfrm>
                    <a:off x="2932" y="1519"/>
                    <a:ext cx="6" cy="16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668" name="Freeform 250"/>
                  <p:cNvSpPr/>
                  <p:nvPr/>
                </p:nvSpPr>
                <p:spPr>
                  <a:xfrm>
                    <a:off x="2732" y="1832"/>
                    <a:ext cx="97" cy="67"/>
                  </a:xfrm>
                  <a:custGeom>
                    <a:avLst/>
                    <a:gdLst/>
                    <a:ahLst/>
                    <a:cxnLst>
                      <a:cxn ang="0">
                        <a:pos x="48" y="21"/>
                      </a:cxn>
                      <a:cxn ang="0">
                        <a:pos x="19" y="0"/>
                      </a:cxn>
                      <a:cxn ang="0">
                        <a:pos x="0" y="34"/>
                      </a:cxn>
                      <a:cxn ang="0">
                        <a:pos x="48" y="21"/>
                      </a:cxn>
                    </a:cxnLst>
                    <a:pathLst>
                      <a:path w="195" h="134">
                        <a:moveTo>
                          <a:pt x="195" y="83"/>
                        </a:moveTo>
                        <a:lnTo>
                          <a:pt x="77" y="0"/>
                        </a:lnTo>
                        <a:lnTo>
                          <a:pt x="0" y="134"/>
                        </a:lnTo>
                        <a:lnTo>
                          <a:pt x="195" y="83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69" name="Freeform 251"/>
                  <p:cNvSpPr/>
                  <p:nvPr/>
                </p:nvSpPr>
                <p:spPr>
                  <a:xfrm>
                    <a:off x="2992" y="1286"/>
                    <a:ext cx="140" cy="165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8" y="36"/>
                      </a:cxn>
                      <a:cxn ang="0">
                        <a:pos x="33" y="62"/>
                      </a:cxn>
                      <a:cxn ang="0">
                        <a:pos x="65" y="82"/>
                      </a:cxn>
                      <a:cxn ang="0">
                        <a:pos x="70" y="75"/>
                      </a:cxn>
                      <a:cxn ang="0">
                        <a:pos x="41" y="56"/>
                      </a:cxn>
                      <a:cxn ang="0">
                        <a:pos x="20" y="33"/>
                      </a:cxn>
                      <a:cxn ang="0">
                        <a:pos x="13" y="0"/>
                      </a:cxn>
                      <a:cxn ang="0">
                        <a:pos x="0" y="3"/>
                      </a:cxn>
                    </a:cxnLst>
                    <a:pathLst>
                      <a:path w="280" h="331">
                        <a:moveTo>
                          <a:pt x="0" y="15"/>
                        </a:moveTo>
                        <a:lnTo>
                          <a:pt x="29" y="145"/>
                        </a:lnTo>
                        <a:lnTo>
                          <a:pt x="129" y="248"/>
                        </a:lnTo>
                        <a:lnTo>
                          <a:pt x="260" y="331"/>
                        </a:lnTo>
                        <a:lnTo>
                          <a:pt x="280" y="303"/>
                        </a:lnTo>
                        <a:lnTo>
                          <a:pt x="161" y="226"/>
                        </a:lnTo>
                        <a:lnTo>
                          <a:pt x="79" y="133"/>
                        </a:lnTo>
                        <a:lnTo>
                          <a:pt x="50" y="0"/>
                        </a:lnTo>
                        <a:lnTo>
                          <a:pt x="0" y="15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70" name="Line 252"/>
                  <p:cNvSpPr/>
                  <p:nvPr/>
                </p:nvSpPr>
                <p:spPr>
                  <a:xfrm flipV="1">
                    <a:off x="2913" y="1511"/>
                    <a:ext cx="40" cy="10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7592" name="Group 253"/>
                <p:cNvGrpSpPr/>
                <p:nvPr/>
              </p:nvGrpSpPr>
              <p:grpSpPr>
                <a:xfrm>
                  <a:off x="2638" y="1753"/>
                  <a:ext cx="664" cy="664"/>
                  <a:chOff x="2638" y="1753"/>
                  <a:chExt cx="664" cy="664"/>
                </a:xfrm>
              </p:grpSpPr>
              <p:sp>
                <p:nvSpPr>
                  <p:cNvPr id="7593" name="Freeform 254"/>
                  <p:cNvSpPr/>
                  <p:nvPr/>
                </p:nvSpPr>
                <p:spPr>
                  <a:xfrm>
                    <a:off x="2759" y="2206"/>
                    <a:ext cx="183" cy="211"/>
                  </a:xfrm>
                  <a:custGeom>
                    <a:avLst/>
                    <a:gdLst/>
                    <a:ahLst/>
                    <a:cxnLst>
                      <a:cxn ang="0">
                        <a:pos x="24" y="106"/>
                      </a:cxn>
                      <a:cxn ang="0">
                        <a:pos x="92" y="88"/>
                      </a:cxn>
                      <a:cxn ang="0">
                        <a:pos x="83" y="53"/>
                      </a:cxn>
                      <a:cxn ang="0">
                        <a:pos x="49" y="21"/>
                      </a:cxn>
                      <a:cxn ang="0">
                        <a:pos x="16" y="0"/>
                      </a:cxn>
                      <a:cxn ang="0">
                        <a:pos x="0" y="24"/>
                      </a:cxn>
                      <a:cxn ang="0">
                        <a:pos x="21" y="41"/>
                      </a:cxn>
                      <a:cxn ang="0">
                        <a:pos x="30" y="75"/>
                      </a:cxn>
                      <a:cxn ang="0">
                        <a:pos x="24" y="106"/>
                      </a:cxn>
                    </a:cxnLst>
                    <a:pathLst>
                      <a:path w="366" h="421">
                        <a:moveTo>
                          <a:pt x="95" y="421"/>
                        </a:moveTo>
                        <a:lnTo>
                          <a:pt x="366" y="351"/>
                        </a:lnTo>
                        <a:lnTo>
                          <a:pt x="332" y="209"/>
                        </a:lnTo>
                        <a:lnTo>
                          <a:pt x="196" y="83"/>
                        </a:lnTo>
                        <a:lnTo>
                          <a:pt x="62" y="0"/>
                        </a:lnTo>
                        <a:lnTo>
                          <a:pt x="0" y="96"/>
                        </a:lnTo>
                        <a:lnTo>
                          <a:pt x="83" y="162"/>
                        </a:lnTo>
                        <a:lnTo>
                          <a:pt x="120" y="298"/>
                        </a:lnTo>
                        <a:lnTo>
                          <a:pt x="95" y="421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594" name="Freeform 255"/>
                  <p:cNvSpPr/>
                  <p:nvPr/>
                </p:nvSpPr>
                <p:spPr>
                  <a:xfrm>
                    <a:off x="2690" y="2108"/>
                    <a:ext cx="294" cy="275"/>
                  </a:xfrm>
                  <a:custGeom>
                    <a:avLst/>
                    <a:gdLst/>
                    <a:ahLst/>
                    <a:cxnLst>
                      <a:cxn ang="0">
                        <a:pos x="126" y="138"/>
                      </a:cxn>
                      <a:cxn ang="0">
                        <a:pos x="147" y="132"/>
                      </a:cxn>
                      <a:cxn ang="0">
                        <a:pos x="138" y="99"/>
                      </a:cxn>
                      <a:cxn ang="0">
                        <a:pos x="92" y="55"/>
                      </a:cxn>
                      <a:cxn ang="0">
                        <a:pos x="0" y="0"/>
                      </a:cxn>
                      <a:cxn ang="0">
                        <a:pos x="7" y="24"/>
                      </a:cxn>
                      <a:cxn ang="0">
                        <a:pos x="83" y="70"/>
                      </a:cxn>
                      <a:cxn ang="0">
                        <a:pos x="117" y="100"/>
                      </a:cxn>
                      <a:cxn ang="0">
                        <a:pos x="126" y="138"/>
                      </a:cxn>
                    </a:cxnLst>
                    <a:pathLst>
                      <a:path w="589" h="550">
                        <a:moveTo>
                          <a:pt x="505" y="550"/>
                        </a:moveTo>
                        <a:lnTo>
                          <a:pt x="589" y="528"/>
                        </a:lnTo>
                        <a:lnTo>
                          <a:pt x="552" y="395"/>
                        </a:lnTo>
                        <a:lnTo>
                          <a:pt x="369" y="219"/>
                        </a:lnTo>
                        <a:lnTo>
                          <a:pt x="0" y="0"/>
                        </a:lnTo>
                        <a:lnTo>
                          <a:pt x="28" y="93"/>
                        </a:lnTo>
                        <a:lnTo>
                          <a:pt x="333" y="278"/>
                        </a:lnTo>
                        <a:lnTo>
                          <a:pt x="469" y="400"/>
                        </a:lnTo>
                        <a:lnTo>
                          <a:pt x="505" y="55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595" name="Freeform 256"/>
                  <p:cNvSpPr/>
                  <p:nvPr/>
                </p:nvSpPr>
                <p:spPr>
                  <a:xfrm>
                    <a:off x="3082" y="2013"/>
                    <a:ext cx="68" cy="327"/>
                  </a:xfrm>
                  <a:custGeom>
                    <a:avLst/>
                    <a:gdLst/>
                    <a:ahLst/>
                    <a:cxnLst>
                      <a:cxn ang="0">
                        <a:pos x="6" y="164"/>
                      </a:cxn>
                      <a:cxn ang="0">
                        <a:pos x="0" y="141"/>
                      </a:cxn>
                      <a:cxn ang="0">
                        <a:pos x="21" y="92"/>
                      </a:cxn>
                      <a:cxn ang="0">
                        <a:pos x="22" y="61"/>
                      </a:cxn>
                      <a:cxn ang="0">
                        <a:pos x="11" y="15"/>
                      </a:cxn>
                      <a:cxn ang="0">
                        <a:pos x="20" y="0"/>
                      </a:cxn>
                      <a:cxn ang="0">
                        <a:pos x="34" y="58"/>
                      </a:cxn>
                      <a:cxn ang="0">
                        <a:pos x="33" y="93"/>
                      </a:cxn>
                      <a:cxn ang="0">
                        <a:pos x="17" y="140"/>
                      </a:cxn>
                      <a:cxn ang="0">
                        <a:pos x="21" y="159"/>
                      </a:cxn>
                      <a:cxn ang="0">
                        <a:pos x="6" y="164"/>
                      </a:cxn>
                    </a:cxnLst>
                    <a:pathLst>
                      <a:path w="135" h="654">
                        <a:moveTo>
                          <a:pt x="22" y="654"/>
                        </a:moveTo>
                        <a:lnTo>
                          <a:pt x="0" y="563"/>
                        </a:lnTo>
                        <a:lnTo>
                          <a:pt x="84" y="365"/>
                        </a:lnTo>
                        <a:lnTo>
                          <a:pt x="88" y="242"/>
                        </a:lnTo>
                        <a:lnTo>
                          <a:pt x="44" y="57"/>
                        </a:lnTo>
                        <a:lnTo>
                          <a:pt x="78" y="0"/>
                        </a:lnTo>
                        <a:lnTo>
                          <a:pt x="135" y="231"/>
                        </a:lnTo>
                        <a:lnTo>
                          <a:pt x="130" y="371"/>
                        </a:lnTo>
                        <a:lnTo>
                          <a:pt x="66" y="558"/>
                        </a:lnTo>
                        <a:lnTo>
                          <a:pt x="84" y="634"/>
                        </a:lnTo>
                        <a:lnTo>
                          <a:pt x="22" y="654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596" name="Freeform 257"/>
                  <p:cNvSpPr/>
                  <p:nvPr/>
                </p:nvSpPr>
                <p:spPr>
                  <a:xfrm>
                    <a:off x="2908" y="2121"/>
                    <a:ext cx="182" cy="245"/>
                  </a:xfrm>
                  <a:custGeom>
                    <a:avLst/>
                    <a:gdLst/>
                    <a:ahLst/>
                    <a:cxnLst>
                      <a:cxn ang="0">
                        <a:pos x="91" y="108"/>
                      </a:cxn>
                      <a:cxn ang="0">
                        <a:pos x="68" y="21"/>
                      </a:cxn>
                      <a:cxn ang="0">
                        <a:pos x="51" y="6"/>
                      </a:cxn>
                      <a:cxn ang="0">
                        <a:pos x="44" y="0"/>
                      </a:cxn>
                      <a:cxn ang="0">
                        <a:pos x="16" y="8"/>
                      </a:cxn>
                      <a:cxn ang="0">
                        <a:pos x="0" y="37"/>
                      </a:cxn>
                      <a:cxn ang="0">
                        <a:pos x="7" y="70"/>
                      </a:cxn>
                      <a:cxn ang="0">
                        <a:pos x="31" y="92"/>
                      </a:cxn>
                      <a:cxn ang="0">
                        <a:pos x="39" y="123"/>
                      </a:cxn>
                      <a:cxn ang="0">
                        <a:pos x="91" y="108"/>
                      </a:cxn>
                    </a:cxnLst>
                    <a:pathLst>
                      <a:path w="365" h="490">
                        <a:moveTo>
                          <a:pt x="365" y="430"/>
                        </a:moveTo>
                        <a:lnTo>
                          <a:pt x="273" y="81"/>
                        </a:lnTo>
                        <a:lnTo>
                          <a:pt x="207" y="24"/>
                        </a:lnTo>
                        <a:lnTo>
                          <a:pt x="176" y="0"/>
                        </a:lnTo>
                        <a:lnTo>
                          <a:pt x="66" y="31"/>
                        </a:lnTo>
                        <a:lnTo>
                          <a:pt x="0" y="145"/>
                        </a:lnTo>
                        <a:lnTo>
                          <a:pt x="31" y="277"/>
                        </a:lnTo>
                        <a:lnTo>
                          <a:pt x="126" y="366"/>
                        </a:lnTo>
                        <a:lnTo>
                          <a:pt x="157" y="490"/>
                        </a:lnTo>
                        <a:lnTo>
                          <a:pt x="365" y="43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597" name="Freeform 258"/>
                  <p:cNvSpPr/>
                  <p:nvPr/>
                </p:nvSpPr>
                <p:spPr>
                  <a:xfrm>
                    <a:off x="3029" y="2265"/>
                    <a:ext cx="62" cy="91"/>
                  </a:xfrm>
                  <a:custGeom>
                    <a:avLst/>
                    <a:gdLst/>
                    <a:ahLst/>
                    <a:cxnLst>
                      <a:cxn ang="0">
                        <a:pos x="31" y="39"/>
                      </a:cxn>
                      <a:cxn ang="0">
                        <a:pos x="21" y="0"/>
                      </a:cxn>
                      <a:cxn ang="0">
                        <a:pos x="0" y="25"/>
                      </a:cxn>
                      <a:cxn ang="0">
                        <a:pos x="5" y="46"/>
                      </a:cxn>
                      <a:cxn ang="0">
                        <a:pos x="31" y="39"/>
                      </a:cxn>
                    </a:cxnLst>
                    <a:pathLst>
                      <a:path w="126" h="182">
                        <a:moveTo>
                          <a:pt x="126" y="154"/>
                        </a:moveTo>
                        <a:lnTo>
                          <a:pt x="86" y="0"/>
                        </a:lnTo>
                        <a:lnTo>
                          <a:pt x="0" y="99"/>
                        </a:lnTo>
                        <a:lnTo>
                          <a:pt x="22" y="182"/>
                        </a:lnTo>
                        <a:lnTo>
                          <a:pt x="126" y="154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598" name="Freeform 259"/>
                  <p:cNvSpPr/>
                  <p:nvPr/>
                </p:nvSpPr>
                <p:spPr>
                  <a:xfrm>
                    <a:off x="2941" y="2281"/>
                    <a:ext cx="92" cy="8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40" y="17"/>
                      </a:cxn>
                      <a:cxn ang="0">
                        <a:pos x="46" y="38"/>
                      </a:cxn>
                      <a:cxn ang="0">
                        <a:pos x="22" y="45"/>
                      </a:cxn>
                      <a:cxn ang="0">
                        <a:pos x="14" y="14"/>
                      </a:cxn>
                      <a:cxn ang="0">
                        <a:pos x="0" y="0"/>
                      </a:cxn>
                    </a:cxnLst>
                    <a:pathLst>
                      <a:path w="185" h="177">
                        <a:moveTo>
                          <a:pt x="0" y="0"/>
                        </a:moveTo>
                        <a:lnTo>
                          <a:pt x="163" y="65"/>
                        </a:lnTo>
                        <a:lnTo>
                          <a:pt x="185" y="150"/>
                        </a:lnTo>
                        <a:lnTo>
                          <a:pt x="90" y="177"/>
                        </a:lnTo>
                        <a:lnTo>
                          <a:pt x="57" y="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599" name="Freeform 260"/>
                  <p:cNvSpPr/>
                  <p:nvPr/>
                </p:nvSpPr>
                <p:spPr>
                  <a:xfrm>
                    <a:off x="2870" y="2082"/>
                    <a:ext cx="195" cy="112"/>
                  </a:xfrm>
                  <a:custGeom>
                    <a:avLst/>
                    <a:gdLst/>
                    <a:ahLst/>
                    <a:cxnLst>
                      <a:cxn ang="0">
                        <a:pos x="18" y="56"/>
                      </a:cxn>
                      <a:cxn ang="0">
                        <a:pos x="36" y="27"/>
                      </a:cxn>
                      <a:cxn ang="0">
                        <a:pos x="63" y="20"/>
                      </a:cxn>
                      <a:cxn ang="0">
                        <a:pos x="90" y="40"/>
                      </a:cxn>
                      <a:cxn ang="0">
                        <a:pos x="98" y="24"/>
                      </a:cxn>
                      <a:cxn ang="0">
                        <a:pos x="78" y="6"/>
                      </a:cxn>
                      <a:cxn ang="0">
                        <a:pos x="64" y="0"/>
                      </a:cxn>
                      <a:cxn ang="0">
                        <a:pos x="30" y="10"/>
                      </a:cxn>
                      <a:cxn ang="0">
                        <a:pos x="13" y="19"/>
                      </a:cxn>
                      <a:cxn ang="0">
                        <a:pos x="0" y="42"/>
                      </a:cxn>
                      <a:cxn ang="0">
                        <a:pos x="18" y="56"/>
                      </a:cxn>
                    </a:cxnLst>
                    <a:pathLst>
                      <a:path w="388" h="223">
                        <a:moveTo>
                          <a:pt x="71" y="223"/>
                        </a:moveTo>
                        <a:lnTo>
                          <a:pt x="141" y="107"/>
                        </a:lnTo>
                        <a:lnTo>
                          <a:pt x="249" y="78"/>
                        </a:lnTo>
                        <a:lnTo>
                          <a:pt x="356" y="157"/>
                        </a:lnTo>
                        <a:lnTo>
                          <a:pt x="388" y="93"/>
                        </a:lnTo>
                        <a:lnTo>
                          <a:pt x="310" y="24"/>
                        </a:lnTo>
                        <a:lnTo>
                          <a:pt x="254" y="0"/>
                        </a:lnTo>
                        <a:lnTo>
                          <a:pt x="118" y="38"/>
                        </a:lnTo>
                        <a:lnTo>
                          <a:pt x="50" y="76"/>
                        </a:lnTo>
                        <a:lnTo>
                          <a:pt x="0" y="165"/>
                        </a:lnTo>
                        <a:lnTo>
                          <a:pt x="71" y="223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0" name="Freeform 261"/>
                  <p:cNvSpPr/>
                  <p:nvPr/>
                </p:nvSpPr>
                <p:spPr>
                  <a:xfrm>
                    <a:off x="2869" y="2081"/>
                    <a:ext cx="197" cy="116"/>
                  </a:xfrm>
                  <a:custGeom>
                    <a:avLst/>
                    <a:gdLst/>
                    <a:ahLst/>
                    <a:cxnLst>
                      <a:cxn ang="0">
                        <a:pos x="20" y="56"/>
                      </a:cxn>
                      <a:cxn ang="0">
                        <a:pos x="18" y="56"/>
                      </a:cxn>
                      <a:cxn ang="0">
                        <a:pos x="35" y="27"/>
                      </a:cxn>
                      <a:cxn ang="0">
                        <a:pos x="36" y="27"/>
                      </a:cxn>
                      <a:cxn ang="0">
                        <a:pos x="63" y="20"/>
                      </a:cxn>
                      <a:cxn ang="0">
                        <a:pos x="63" y="20"/>
                      </a:cxn>
                      <a:cxn ang="0">
                        <a:pos x="63" y="20"/>
                      </a:cxn>
                      <a:cxn ang="0">
                        <a:pos x="64" y="21"/>
                      </a:cxn>
                      <a:cxn ang="0">
                        <a:pos x="91" y="40"/>
                      </a:cxn>
                      <a:cxn ang="0">
                        <a:pos x="89" y="40"/>
                      </a:cxn>
                      <a:cxn ang="0">
                        <a:pos x="96" y="25"/>
                      </a:cxn>
                      <a:cxn ang="0">
                        <a:pos x="97" y="25"/>
                      </a:cxn>
                      <a:cxn ang="0">
                        <a:pos x="78" y="8"/>
                      </a:cxn>
                      <a:cxn ang="0">
                        <a:pos x="78" y="9"/>
                      </a:cxn>
                      <a:cxn ang="0">
                        <a:pos x="64" y="3"/>
                      </a:cxn>
                      <a:cxn ang="0">
                        <a:pos x="65" y="3"/>
                      </a:cxn>
                      <a:cxn ang="0">
                        <a:pos x="31" y="11"/>
                      </a:cxn>
                      <a:cxn ang="0">
                        <a:pos x="14" y="21"/>
                      </a:cxn>
                      <a:cxn ang="0">
                        <a:pos x="16" y="21"/>
                      </a:cxn>
                      <a:cxn ang="0">
                        <a:pos x="3" y="44"/>
                      </a:cxn>
                      <a:cxn ang="0">
                        <a:pos x="2" y="42"/>
                      </a:cxn>
                      <a:cxn ang="0">
                        <a:pos x="20" y="56"/>
                      </a:cxn>
                      <a:cxn ang="0">
                        <a:pos x="18" y="58"/>
                      </a:cxn>
                      <a:cxn ang="0">
                        <a:pos x="0" y="44"/>
                      </a:cxn>
                      <a:cxn ang="0">
                        <a:pos x="0" y="41"/>
                      </a:cxn>
                      <a:cxn ang="0">
                        <a:pos x="13" y="19"/>
                      </a:cxn>
                      <a:cxn ang="0">
                        <a:pos x="30" y="9"/>
                      </a:cxn>
                      <a:cxn ang="0">
                        <a:pos x="64" y="0"/>
                      </a:cxn>
                      <a:cxn ang="0">
                        <a:pos x="65" y="0"/>
                      </a:cxn>
                      <a:cxn ang="0">
                        <a:pos x="79" y="7"/>
                      </a:cxn>
                      <a:cxn ang="0">
                        <a:pos x="80" y="7"/>
                      </a:cxn>
                      <a:cxn ang="0">
                        <a:pos x="99" y="24"/>
                      </a:cxn>
                      <a:cxn ang="0">
                        <a:pos x="99" y="25"/>
                      </a:cxn>
                      <a:cxn ang="0">
                        <a:pos x="91" y="41"/>
                      </a:cxn>
                      <a:cxn ang="0">
                        <a:pos x="90" y="42"/>
                      </a:cxn>
                      <a:cxn ang="0">
                        <a:pos x="90" y="42"/>
                      </a:cxn>
                      <a:cxn ang="0">
                        <a:pos x="63" y="22"/>
                      </a:cxn>
                      <a:cxn ang="0">
                        <a:pos x="63" y="22"/>
                      </a:cxn>
                      <a:cxn ang="0">
                        <a:pos x="36" y="29"/>
                      </a:cxn>
                      <a:cxn ang="0">
                        <a:pos x="38" y="29"/>
                      </a:cxn>
                      <a:cxn ang="0">
                        <a:pos x="20" y="58"/>
                      </a:cxn>
                      <a:cxn ang="0">
                        <a:pos x="19" y="58"/>
                      </a:cxn>
                      <a:cxn ang="0">
                        <a:pos x="20" y="58"/>
                      </a:cxn>
                      <a:cxn ang="0">
                        <a:pos x="19" y="58"/>
                      </a:cxn>
                      <a:cxn ang="0">
                        <a:pos x="19" y="58"/>
                      </a:cxn>
                      <a:cxn ang="0">
                        <a:pos x="18" y="58"/>
                      </a:cxn>
                      <a:cxn ang="0">
                        <a:pos x="20" y="56"/>
                      </a:cxn>
                    </a:cxnLst>
                    <a:pathLst>
                      <a:path w="394" h="232">
                        <a:moveTo>
                          <a:pt x="79" y="221"/>
                        </a:moveTo>
                        <a:lnTo>
                          <a:pt x="69" y="224"/>
                        </a:lnTo>
                        <a:lnTo>
                          <a:pt x="140" y="108"/>
                        </a:lnTo>
                        <a:lnTo>
                          <a:pt x="142" y="108"/>
                        </a:lnTo>
                        <a:lnTo>
                          <a:pt x="250" y="79"/>
                        </a:lnTo>
                        <a:lnTo>
                          <a:pt x="252" y="79"/>
                        </a:lnTo>
                        <a:lnTo>
                          <a:pt x="252" y="77"/>
                        </a:lnTo>
                        <a:lnTo>
                          <a:pt x="254" y="81"/>
                        </a:lnTo>
                        <a:lnTo>
                          <a:pt x="361" y="160"/>
                        </a:lnTo>
                        <a:lnTo>
                          <a:pt x="356" y="160"/>
                        </a:lnTo>
                        <a:lnTo>
                          <a:pt x="384" y="97"/>
                        </a:lnTo>
                        <a:lnTo>
                          <a:pt x="386" y="99"/>
                        </a:lnTo>
                        <a:lnTo>
                          <a:pt x="311" y="31"/>
                        </a:lnTo>
                        <a:lnTo>
                          <a:pt x="311" y="33"/>
                        </a:lnTo>
                        <a:lnTo>
                          <a:pt x="254" y="9"/>
                        </a:lnTo>
                        <a:lnTo>
                          <a:pt x="257" y="9"/>
                        </a:lnTo>
                        <a:lnTo>
                          <a:pt x="121" y="43"/>
                        </a:lnTo>
                        <a:lnTo>
                          <a:pt x="55" y="83"/>
                        </a:lnTo>
                        <a:lnTo>
                          <a:pt x="61" y="81"/>
                        </a:lnTo>
                        <a:lnTo>
                          <a:pt x="9" y="173"/>
                        </a:lnTo>
                        <a:lnTo>
                          <a:pt x="6" y="165"/>
                        </a:lnTo>
                        <a:lnTo>
                          <a:pt x="79" y="221"/>
                        </a:lnTo>
                        <a:lnTo>
                          <a:pt x="71" y="230"/>
                        </a:lnTo>
                        <a:lnTo>
                          <a:pt x="0" y="173"/>
                        </a:lnTo>
                        <a:lnTo>
                          <a:pt x="0" y="163"/>
                        </a:lnTo>
                        <a:lnTo>
                          <a:pt x="50" y="75"/>
                        </a:lnTo>
                        <a:lnTo>
                          <a:pt x="119" y="33"/>
                        </a:lnTo>
                        <a:lnTo>
                          <a:pt x="254" y="0"/>
                        </a:lnTo>
                        <a:lnTo>
                          <a:pt x="257" y="0"/>
                        </a:lnTo>
                        <a:lnTo>
                          <a:pt x="313" y="25"/>
                        </a:lnTo>
                        <a:lnTo>
                          <a:pt x="318" y="25"/>
                        </a:lnTo>
                        <a:lnTo>
                          <a:pt x="394" y="93"/>
                        </a:lnTo>
                        <a:lnTo>
                          <a:pt x="394" y="97"/>
                        </a:lnTo>
                        <a:lnTo>
                          <a:pt x="363" y="163"/>
                        </a:lnTo>
                        <a:lnTo>
                          <a:pt x="358" y="168"/>
                        </a:lnTo>
                        <a:lnTo>
                          <a:pt x="358" y="165"/>
                        </a:lnTo>
                        <a:lnTo>
                          <a:pt x="250" y="86"/>
                        </a:lnTo>
                        <a:lnTo>
                          <a:pt x="252" y="86"/>
                        </a:lnTo>
                        <a:lnTo>
                          <a:pt x="144" y="115"/>
                        </a:lnTo>
                        <a:lnTo>
                          <a:pt x="149" y="115"/>
                        </a:lnTo>
                        <a:lnTo>
                          <a:pt x="79" y="230"/>
                        </a:lnTo>
                        <a:lnTo>
                          <a:pt x="76" y="230"/>
                        </a:lnTo>
                        <a:lnTo>
                          <a:pt x="79" y="230"/>
                        </a:lnTo>
                        <a:lnTo>
                          <a:pt x="76" y="230"/>
                        </a:lnTo>
                        <a:lnTo>
                          <a:pt x="74" y="232"/>
                        </a:lnTo>
                        <a:lnTo>
                          <a:pt x="71" y="230"/>
                        </a:lnTo>
                        <a:lnTo>
                          <a:pt x="79" y="221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1" name="Freeform 262"/>
                  <p:cNvSpPr/>
                  <p:nvPr/>
                </p:nvSpPr>
                <p:spPr>
                  <a:xfrm>
                    <a:off x="2803" y="2159"/>
                    <a:ext cx="117" cy="101"/>
                  </a:xfrm>
                  <a:custGeom>
                    <a:avLst/>
                    <a:gdLst/>
                    <a:ahLst/>
                    <a:cxnLst>
                      <a:cxn ang="0">
                        <a:pos x="59" y="51"/>
                      </a:cxn>
                      <a:cxn ang="0">
                        <a:pos x="51" y="17"/>
                      </a:cxn>
                      <a:cxn ang="0">
                        <a:pos x="30" y="0"/>
                      </a:cxn>
                      <a:cxn ang="0">
                        <a:pos x="0" y="7"/>
                      </a:cxn>
                      <a:cxn ang="0">
                        <a:pos x="36" y="29"/>
                      </a:cxn>
                      <a:cxn ang="0">
                        <a:pos x="59" y="51"/>
                      </a:cxn>
                    </a:cxnLst>
                    <a:pathLst>
                      <a:path w="234" h="200">
                        <a:moveTo>
                          <a:pt x="234" y="200"/>
                        </a:moveTo>
                        <a:lnTo>
                          <a:pt x="204" y="66"/>
                        </a:lnTo>
                        <a:lnTo>
                          <a:pt x="119" y="0"/>
                        </a:lnTo>
                        <a:lnTo>
                          <a:pt x="0" y="27"/>
                        </a:lnTo>
                        <a:lnTo>
                          <a:pt x="141" y="114"/>
                        </a:lnTo>
                        <a:lnTo>
                          <a:pt x="234" y="20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2" name="Freeform 263"/>
                  <p:cNvSpPr/>
                  <p:nvPr/>
                </p:nvSpPr>
                <p:spPr>
                  <a:xfrm>
                    <a:off x="2763" y="1988"/>
                    <a:ext cx="340" cy="184"/>
                  </a:xfrm>
                  <a:custGeom>
                    <a:avLst/>
                    <a:gdLst/>
                    <a:ahLst/>
                    <a:cxnLst>
                      <a:cxn ang="0">
                        <a:pos x="21" y="92"/>
                      </a:cxn>
                      <a:cxn ang="0">
                        <a:pos x="49" y="85"/>
                      </a:cxn>
                      <a:cxn ang="0">
                        <a:pos x="59" y="61"/>
                      </a:cxn>
                      <a:cxn ang="0">
                        <a:pos x="76" y="51"/>
                      </a:cxn>
                      <a:cxn ang="0">
                        <a:pos x="120" y="39"/>
                      </a:cxn>
                      <a:cxn ang="0">
                        <a:pos x="153" y="53"/>
                      </a:cxn>
                      <a:cxn ang="0">
                        <a:pos x="170" y="26"/>
                      </a:cxn>
                      <a:cxn ang="0">
                        <a:pos x="135" y="6"/>
                      </a:cxn>
                      <a:cxn ang="0">
                        <a:pos x="109" y="0"/>
                      </a:cxn>
                      <a:cxn ang="0">
                        <a:pos x="64" y="13"/>
                      </a:cxn>
                      <a:cxn ang="0">
                        <a:pos x="31" y="39"/>
                      </a:cxn>
                      <a:cxn ang="0">
                        <a:pos x="0" y="81"/>
                      </a:cxn>
                      <a:cxn ang="0">
                        <a:pos x="21" y="92"/>
                      </a:cxn>
                    </a:cxnLst>
                    <a:pathLst>
                      <a:path w="680" h="368">
                        <a:moveTo>
                          <a:pt x="83" y="368"/>
                        </a:moveTo>
                        <a:lnTo>
                          <a:pt x="193" y="339"/>
                        </a:lnTo>
                        <a:lnTo>
                          <a:pt x="236" y="244"/>
                        </a:lnTo>
                        <a:lnTo>
                          <a:pt x="304" y="204"/>
                        </a:lnTo>
                        <a:lnTo>
                          <a:pt x="480" y="155"/>
                        </a:lnTo>
                        <a:lnTo>
                          <a:pt x="612" y="212"/>
                        </a:lnTo>
                        <a:lnTo>
                          <a:pt x="680" y="103"/>
                        </a:lnTo>
                        <a:lnTo>
                          <a:pt x="540" y="23"/>
                        </a:lnTo>
                        <a:lnTo>
                          <a:pt x="433" y="0"/>
                        </a:lnTo>
                        <a:lnTo>
                          <a:pt x="256" y="50"/>
                        </a:lnTo>
                        <a:lnTo>
                          <a:pt x="124" y="155"/>
                        </a:lnTo>
                        <a:lnTo>
                          <a:pt x="0" y="322"/>
                        </a:lnTo>
                        <a:lnTo>
                          <a:pt x="83" y="368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3" name="Freeform 264"/>
                  <p:cNvSpPr/>
                  <p:nvPr/>
                </p:nvSpPr>
                <p:spPr>
                  <a:xfrm>
                    <a:off x="2653" y="1808"/>
                    <a:ext cx="545" cy="329"/>
                  </a:xfrm>
                  <a:custGeom>
                    <a:avLst/>
                    <a:gdLst/>
                    <a:ahLst/>
                    <a:cxnLst>
                      <a:cxn ang="0">
                        <a:pos x="0" y="84"/>
                      </a:cxn>
                      <a:cxn ang="0">
                        <a:pos x="63" y="116"/>
                      </a:cxn>
                      <a:cxn ang="0">
                        <a:pos x="101" y="79"/>
                      </a:cxn>
                      <a:cxn ang="0">
                        <a:pos x="88" y="32"/>
                      </a:cxn>
                      <a:cxn ang="0">
                        <a:pos x="103" y="28"/>
                      </a:cxn>
                      <a:cxn ang="0">
                        <a:pos x="115" y="75"/>
                      </a:cxn>
                      <a:cxn ang="0">
                        <a:pos x="163" y="63"/>
                      </a:cxn>
                      <a:cxn ang="0">
                        <a:pos x="217" y="82"/>
                      </a:cxn>
                      <a:cxn ang="0">
                        <a:pos x="210" y="54"/>
                      </a:cxn>
                      <a:cxn ang="0">
                        <a:pos x="220" y="26"/>
                      </a:cxn>
                      <a:cxn ang="0">
                        <a:pos x="199" y="2"/>
                      </a:cxn>
                      <a:cxn ang="0">
                        <a:pos x="207" y="0"/>
                      </a:cxn>
                      <a:cxn ang="0">
                        <a:pos x="273" y="44"/>
                      </a:cxn>
                      <a:cxn ang="0">
                        <a:pos x="266" y="56"/>
                      </a:cxn>
                      <a:cxn ang="0">
                        <a:pos x="230" y="36"/>
                      </a:cxn>
                      <a:cxn ang="0">
                        <a:pos x="219" y="54"/>
                      </a:cxn>
                      <a:cxn ang="0">
                        <a:pos x="230" y="86"/>
                      </a:cxn>
                      <a:cxn ang="0">
                        <a:pos x="243" y="94"/>
                      </a:cxn>
                      <a:cxn ang="0">
                        <a:pos x="231" y="108"/>
                      </a:cxn>
                      <a:cxn ang="0">
                        <a:pos x="198" y="87"/>
                      </a:cxn>
                      <a:cxn ang="0">
                        <a:pos x="162" y="76"/>
                      </a:cxn>
                      <a:cxn ang="0">
                        <a:pos x="111" y="90"/>
                      </a:cxn>
                      <a:cxn ang="0">
                        <a:pos x="71" y="125"/>
                      </a:cxn>
                      <a:cxn ang="0">
                        <a:pos x="45" y="164"/>
                      </a:cxn>
                      <a:cxn ang="0">
                        <a:pos x="36" y="160"/>
                      </a:cxn>
                      <a:cxn ang="0">
                        <a:pos x="42" y="149"/>
                      </a:cxn>
                      <a:cxn ang="0">
                        <a:pos x="15" y="135"/>
                      </a:cxn>
                      <a:cxn ang="0">
                        <a:pos x="0" y="84"/>
                      </a:cxn>
                    </a:cxnLst>
                    <a:pathLst>
                      <a:path w="1089" h="660">
                        <a:moveTo>
                          <a:pt x="0" y="338"/>
                        </a:moveTo>
                        <a:lnTo>
                          <a:pt x="252" y="465"/>
                        </a:lnTo>
                        <a:lnTo>
                          <a:pt x="402" y="316"/>
                        </a:lnTo>
                        <a:lnTo>
                          <a:pt x="351" y="131"/>
                        </a:lnTo>
                        <a:lnTo>
                          <a:pt x="409" y="115"/>
                        </a:lnTo>
                        <a:lnTo>
                          <a:pt x="459" y="300"/>
                        </a:lnTo>
                        <a:lnTo>
                          <a:pt x="649" y="252"/>
                        </a:lnTo>
                        <a:lnTo>
                          <a:pt x="865" y="330"/>
                        </a:lnTo>
                        <a:lnTo>
                          <a:pt x="837" y="217"/>
                        </a:lnTo>
                        <a:lnTo>
                          <a:pt x="878" y="104"/>
                        </a:lnTo>
                        <a:lnTo>
                          <a:pt x="795" y="11"/>
                        </a:lnTo>
                        <a:lnTo>
                          <a:pt x="827" y="0"/>
                        </a:lnTo>
                        <a:lnTo>
                          <a:pt x="1089" y="177"/>
                        </a:lnTo>
                        <a:lnTo>
                          <a:pt x="1064" y="224"/>
                        </a:lnTo>
                        <a:lnTo>
                          <a:pt x="920" y="146"/>
                        </a:lnTo>
                        <a:lnTo>
                          <a:pt x="876" y="219"/>
                        </a:lnTo>
                        <a:lnTo>
                          <a:pt x="918" y="346"/>
                        </a:lnTo>
                        <a:lnTo>
                          <a:pt x="971" y="379"/>
                        </a:lnTo>
                        <a:lnTo>
                          <a:pt x="922" y="434"/>
                        </a:lnTo>
                        <a:lnTo>
                          <a:pt x="791" y="351"/>
                        </a:lnTo>
                        <a:lnTo>
                          <a:pt x="646" y="305"/>
                        </a:lnTo>
                        <a:lnTo>
                          <a:pt x="441" y="363"/>
                        </a:lnTo>
                        <a:lnTo>
                          <a:pt x="282" y="502"/>
                        </a:lnTo>
                        <a:lnTo>
                          <a:pt x="178" y="660"/>
                        </a:lnTo>
                        <a:lnTo>
                          <a:pt x="142" y="642"/>
                        </a:lnTo>
                        <a:lnTo>
                          <a:pt x="165" y="598"/>
                        </a:lnTo>
                        <a:lnTo>
                          <a:pt x="59" y="544"/>
                        </a:lnTo>
                        <a:lnTo>
                          <a:pt x="0" y="338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4" name="Freeform 265"/>
                  <p:cNvSpPr/>
                  <p:nvPr/>
                </p:nvSpPr>
                <p:spPr>
                  <a:xfrm>
                    <a:off x="2660" y="2001"/>
                    <a:ext cx="103" cy="91"/>
                  </a:xfrm>
                  <a:custGeom>
                    <a:avLst/>
                    <a:gdLst/>
                    <a:ahLst/>
                    <a:cxnLst>
                      <a:cxn ang="0">
                        <a:pos x="8" y="28"/>
                      </a:cxn>
                      <a:cxn ang="0">
                        <a:pos x="42" y="46"/>
                      </a:cxn>
                      <a:cxn ang="0">
                        <a:pos x="52" y="28"/>
                      </a:cxn>
                      <a:cxn ang="0">
                        <a:pos x="0" y="0"/>
                      </a:cxn>
                      <a:cxn ang="0">
                        <a:pos x="8" y="28"/>
                      </a:cxn>
                    </a:cxnLst>
                    <a:pathLst>
                      <a:path w="205" h="180">
                        <a:moveTo>
                          <a:pt x="31" y="108"/>
                        </a:moveTo>
                        <a:lnTo>
                          <a:pt x="168" y="180"/>
                        </a:lnTo>
                        <a:lnTo>
                          <a:pt x="205" y="108"/>
                        </a:lnTo>
                        <a:lnTo>
                          <a:pt x="0" y="0"/>
                        </a:lnTo>
                        <a:lnTo>
                          <a:pt x="31" y="108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5" name="Freeform 266"/>
                  <p:cNvSpPr/>
                  <p:nvPr/>
                </p:nvSpPr>
                <p:spPr>
                  <a:xfrm>
                    <a:off x="2730" y="1873"/>
                    <a:ext cx="121" cy="164"/>
                  </a:xfrm>
                  <a:custGeom>
                    <a:avLst/>
                    <a:gdLst/>
                    <a:ahLst/>
                    <a:cxnLst>
                      <a:cxn ang="0">
                        <a:pos x="24" y="82"/>
                      </a:cxn>
                      <a:cxn ang="0">
                        <a:pos x="60" y="43"/>
                      </a:cxn>
                      <a:cxn ang="0">
                        <a:pos x="49" y="0"/>
                      </a:cxn>
                      <a:cxn ang="0">
                        <a:pos x="23" y="6"/>
                      </a:cxn>
                      <a:cxn ang="0">
                        <a:pos x="0" y="68"/>
                      </a:cxn>
                      <a:cxn ang="0">
                        <a:pos x="24" y="82"/>
                      </a:cxn>
                    </a:cxnLst>
                    <a:pathLst>
                      <a:path w="243" h="329">
                        <a:moveTo>
                          <a:pt x="96" y="329"/>
                        </a:moveTo>
                        <a:lnTo>
                          <a:pt x="243" y="174"/>
                        </a:lnTo>
                        <a:lnTo>
                          <a:pt x="198" y="0"/>
                        </a:lnTo>
                        <a:lnTo>
                          <a:pt x="95" y="26"/>
                        </a:lnTo>
                        <a:lnTo>
                          <a:pt x="0" y="274"/>
                        </a:lnTo>
                        <a:lnTo>
                          <a:pt x="96" y="329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6" name="Freeform 267"/>
                  <p:cNvSpPr/>
                  <p:nvPr/>
                </p:nvSpPr>
                <p:spPr>
                  <a:xfrm>
                    <a:off x="2638" y="1896"/>
                    <a:ext cx="106" cy="103"/>
                  </a:xfrm>
                  <a:custGeom>
                    <a:avLst/>
                    <a:gdLst/>
                    <a:ahLst/>
                    <a:cxnLst>
                      <a:cxn ang="0">
                        <a:pos x="7" y="40"/>
                      </a:cxn>
                      <a:cxn ang="0">
                        <a:pos x="32" y="52"/>
                      </a:cxn>
                      <a:cxn ang="0">
                        <a:pos x="53" y="0"/>
                      </a:cxn>
                      <a:cxn ang="0">
                        <a:pos x="0" y="15"/>
                      </a:cxn>
                      <a:cxn ang="0">
                        <a:pos x="7" y="40"/>
                      </a:cxn>
                    </a:cxnLst>
                    <a:pathLst>
                      <a:path w="211" h="206">
                        <a:moveTo>
                          <a:pt x="27" y="158"/>
                        </a:moveTo>
                        <a:lnTo>
                          <a:pt x="127" y="206"/>
                        </a:lnTo>
                        <a:lnTo>
                          <a:pt x="211" y="0"/>
                        </a:lnTo>
                        <a:lnTo>
                          <a:pt x="0" y="59"/>
                        </a:lnTo>
                        <a:lnTo>
                          <a:pt x="27" y="158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7" name="Freeform 268"/>
                  <p:cNvSpPr/>
                  <p:nvPr/>
                </p:nvSpPr>
                <p:spPr>
                  <a:xfrm>
                    <a:off x="2861" y="1813"/>
                    <a:ext cx="232" cy="158"/>
                  </a:xfrm>
                  <a:custGeom>
                    <a:avLst/>
                    <a:gdLst/>
                    <a:ahLst/>
                    <a:cxnLst>
                      <a:cxn ang="0">
                        <a:pos x="5" y="41"/>
                      </a:cxn>
                      <a:cxn ang="0">
                        <a:pos x="0" y="26"/>
                      </a:cxn>
                      <a:cxn ang="0">
                        <a:pos x="95" y="0"/>
                      </a:cxn>
                      <a:cxn ang="0">
                        <a:pos x="116" y="23"/>
                      </a:cxn>
                      <a:cxn ang="0">
                        <a:pos x="106" y="50"/>
                      </a:cxn>
                      <a:cxn ang="0">
                        <a:pos x="112" y="79"/>
                      </a:cxn>
                      <a:cxn ang="0">
                        <a:pos x="82" y="67"/>
                      </a:cxn>
                      <a:cxn ang="0">
                        <a:pos x="60" y="59"/>
                      </a:cxn>
                      <a:cxn ang="0">
                        <a:pos x="44" y="63"/>
                      </a:cxn>
                      <a:cxn ang="0">
                        <a:pos x="37" y="32"/>
                      </a:cxn>
                      <a:cxn ang="0">
                        <a:pos x="5" y="41"/>
                      </a:cxn>
                    </a:cxnLst>
                    <a:pathLst>
                      <a:path w="464" h="316">
                        <a:moveTo>
                          <a:pt x="20" y="163"/>
                        </a:moveTo>
                        <a:lnTo>
                          <a:pt x="0" y="103"/>
                        </a:lnTo>
                        <a:lnTo>
                          <a:pt x="379" y="0"/>
                        </a:lnTo>
                        <a:lnTo>
                          <a:pt x="464" y="92"/>
                        </a:lnTo>
                        <a:lnTo>
                          <a:pt x="422" y="197"/>
                        </a:lnTo>
                        <a:lnTo>
                          <a:pt x="448" y="316"/>
                        </a:lnTo>
                        <a:lnTo>
                          <a:pt x="325" y="268"/>
                        </a:lnTo>
                        <a:lnTo>
                          <a:pt x="237" y="234"/>
                        </a:lnTo>
                        <a:lnTo>
                          <a:pt x="174" y="250"/>
                        </a:lnTo>
                        <a:lnTo>
                          <a:pt x="146" y="126"/>
                        </a:lnTo>
                        <a:lnTo>
                          <a:pt x="20" y="163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8" name="Freeform 269"/>
                  <p:cNvSpPr/>
                  <p:nvPr/>
                </p:nvSpPr>
                <p:spPr>
                  <a:xfrm>
                    <a:off x="3091" y="1879"/>
                    <a:ext cx="93" cy="117"/>
                  </a:xfrm>
                  <a:custGeom>
                    <a:avLst/>
                    <a:gdLst/>
                    <a:ahLst/>
                    <a:cxnLst>
                      <a:cxn ang="0">
                        <a:pos x="24" y="58"/>
                      </a:cxn>
                      <a:cxn ang="0">
                        <a:pos x="47" y="21"/>
                      </a:cxn>
                      <a:cxn ang="0">
                        <a:pos x="11" y="0"/>
                      </a:cxn>
                      <a:cxn ang="0">
                        <a:pos x="0" y="19"/>
                      </a:cxn>
                      <a:cxn ang="0">
                        <a:pos x="10" y="49"/>
                      </a:cxn>
                      <a:cxn ang="0">
                        <a:pos x="24" y="58"/>
                      </a:cxn>
                    </a:cxnLst>
                    <a:pathLst>
                      <a:path w="185" h="236">
                        <a:moveTo>
                          <a:pt x="96" y="236"/>
                        </a:moveTo>
                        <a:lnTo>
                          <a:pt x="185" y="86"/>
                        </a:lnTo>
                        <a:lnTo>
                          <a:pt x="44" y="0"/>
                        </a:lnTo>
                        <a:lnTo>
                          <a:pt x="0" y="78"/>
                        </a:lnTo>
                        <a:lnTo>
                          <a:pt x="40" y="200"/>
                        </a:lnTo>
                        <a:lnTo>
                          <a:pt x="96" y="236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09" name="Freeform 270"/>
                  <p:cNvSpPr/>
                  <p:nvPr/>
                </p:nvSpPr>
                <p:spPr>
                  <a:xfrm>
                    <a:off x="3136" y="1753"/>
                    <a:ext cx="138" cy="137"/>
                  </a:xfrm>
                  <a:custGeom>
                    <a:avLst/>
                    <a:gdLst/>
                    <a:ahLst/>
                    <a:cxnLst>
                      <a:cxn ang="0">
                        <a:pos x="33" y="68"/>
                      </a:cxn>
                      <a:cxn ang="0">
                        <a:pos x="0" y="46"/>
                      </a:cxn>
                      <a:cxn ang="0">
                        <a:pos x="18" y="13"/>
                      </a:cxn>
                      <a:cxn ang="0">
                        <a:pos x="65" y="0"/>
                      </a:cxn>
                      <a:cxn ang="0">
                        <a:pos x="69" y="14"/>
                      </a:cxn>
                      <a:cxn ang="0">
                        <a:pos x="33" y="68"/>
                      </a:cxn>
                    </a:cxnLst>
                    <a:pathLst>
                      <a:path w="276" h="275">
                        <a:moveTo>
                          <a:pt x="130" y="275"/>
                        </a:moveTo>
                        <a:lnTo>
                          <a:pt x="0" y="187"/>
                        </a:lnTo>
                        <a:lnTo>
                          <a:pt x="71" y="54"/>
                        </a:lnTo>
                        <a:lnTo>
                          <a:pt x="260" y="0"/>
                        </a:lnTo>
                        <a:lnTo>
                          <a:pt x="276" y="57"/>
                        </a:lnTo>
                        <a:lnTo>
                          <a:pt x="130" y="27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0" name="Freeform 271"/>
                  <p:cNvSpPr/>
                  <p:nvPr/>
                </p:nvSpPr>
                <p:spPr>
                  <a:xfrm>
                    <a:off x="3186" y="1839"/>
                    <a:ext cx="100" cy="106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20" y="53"/>
                      </a:cxn>
                      <a:cxn ang="0">
                        <a:pos x="35" y="49"/>
                      </a:cxn>
                      <a:cxn ang="0">
                        <a:pos x="23" y="35"/>
                      </a:cxn>
                      <a:cxn ang="0">
                        <a:pos x="50" y="36"/>
                      </a:cxn>
                      <a:cxn ang="0">
                        <a:pos x="42" y="6"/>
                      </a:cxn>
                      <a:cxn ang="0">
                        <a:pos x="26" y="0"/>
                      </a:cxn>
                      <a:cxn ang="0">
                        <a:pos x="5" y="31"/>
                      </a:cxn>
                      <a:cxn ang="0">
                        <a:pos x="0" y="40"/>
                      </a:cxn>
                    </a:cxnLst>
                    <a:pathLst>
                      <a:path w="201" h="212">
                        <a:moveTo>
                          <a:pt x="0" y="158"/>
                        </a:moveTo>
                        <a:lnTo>
                          <a:pt x="82" y="212"/>
                        </a:lnTo>
                        <a:lnTo>
                          <a:pt x="142" y="194"/>
                        </a:lnTo>
                        <a:lnTo>
                          <a:pt x="92" y="138"/>
                        </a:lnTo>
                        <a:lnTo>
                          <a:pt x="201" y="143"/>
                        </a:lnTo>
                        <a:lnTo>
                          <a:pt x="169" y="24"/>
                        </a:lnTo>
                        <a:lnTo>
                          <a:pt x="105" y="0"/>
                        </a:lnTo>
                        <a:lnTo>
                          <a:pt x="22" y="121"/>
                        </a:lnTo>
                        <a:lnTo>
                          <a:pt x="0" y="158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1" name="Freeform 272"/>
                  <p:cNvSpPr/>
                  <p:nvPr/>
                </p:nvSpPr>
                <p:spPr>
                  <a:xfrm>
                    <a:off x="3161" y="1951"/>
                    <a:ext cx="114" cy="78"/>
                  </a:xfrm>
                  <a:custGeom>
                    <a:avLst/>
                    <a:gdLst/>
                    <a:ahLst/>
                    <a:cxnLst>
                      <a:cxn ang="0">
                        <a:pos x="39" y="0"/>
                      </a:cxn>
                      <a:cxn ang="0">
                        <a:pos x="40" y="10"/>
                      </a:cxn>
                      <a:cxn ang="0">
                        <a:pos x="57" y="16"/>
                      </a:cxn>
                      <a:cxn ang="0">
                        <a:pos x="42" y="20"/>
                      </a:cxn>
                      <a:cxn ang="0">
                        <a:pos x="39" y="34"/>
                      </a:cxn>
                      <a:cxn ang="0">
                        <a:pos x="30" y="25"/>
                      </a:cxn>
                      <a:cxn ang="0">
                        <a:pos x="23" y="39"/>
                      </a:cxn>
                      <a:cxn ang="0">
                        <a:pos x="13" y="31"/>
                      </a:cxn>
                      <a:cxn ang="0">
                        <a:pos x="18" y="23"/>
                      </a:cxn>
                      <a:cxn ang="0">
                        <a:pos x="0" y="22"/>
                      </a:cxn>
                      <a:cxn ang="0">
                        <a:pos x="10" y="17"/>
                      </a:cxn>
                      <a:cxn ang="0">
                        <a:pos x="6" y="9"/>
                      </a:cxn>
                      <a:cxn ang="0">
                        <a:pos x="24" y="12"/>
                      </a:cxn>
                      <a:cxn ang="0">
                        <a:pos x="30" y="2"/>
                      </a:cxn>
                      <a:cxn ang="0">
                        <a:pos x="39" y="0"/>
                      </a:cxn>
                    </a:cxnLst>
                    <a:pathLst>
                      <a:path w="227" h="157">
                        <a:moveTo>
                          <a:pt x="156" y="0"/>
                        </a:moveTo>
                        <a:lnTo>
                          <a:pt x="159" y="41"/>
                        </a:lnTo>
                        <a:lnTo>
                          <a:pt x="227" y="65"/>
                        </a:lnTo>
                        <a:lnTo>
                          <a:pt x="165" y="83"/>
                        </a:lnTo>
                        <a:lnTo>
                          <a:pt x="154" y="136"/>
                        </a:lnTo>
                        <a:lnTo>
                          <a:pt x="120" y="101"/>
                        </a:lnTo>
                        <a:lnTo>
                          <a:pt x="89" y="157"/>
                        </a:lnTo>
                        <a:lnTo>
                          <a:pt x="50" y="127"/>
                        </a:lnTo>
                        <a:lnTo>
                          <a:pt x="71" y="94"/>
                        </a:lnTo>
                        <a:lnTo>
                          <a:pt x="0" y="91"/>
                        </a:lnTo>
                        <a:lnTo>
                          <a:pt x="39" y="69"/>
                        </a:lnTo>
                        <a:lnTo>
                          <a:pt x="21" y="36"/>
                        </a:lnTo>
                        <a:lnTo>
                          <a:pt x="95" y="51"/>
                        </a:lnTo>
                        <a:lnTo>
                          <a:pt x="120" y="11"/>
                        </a:lnTo>
                        <a:lnTo>
                          <a:pt x="156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2" name="Freeform 273"/>
                  <p:cNvSpPr/>
                  <p:nvPr/>
                </p:nvSpPr>
                <p:spPr>
                  <a:xfrm>
                    <a:off x="3260" y="1934"/>
                    <a:ext cx="42" cy="68"/>
                  </a:xfrm>
                  <a:custGeom>
                    <a:avLst/>
                    <a:gdLst/>
                    <a:ahLst/>
                    <a:cxnLst>
                      <a:cxn ang="0">
                        <a:pos x="0" y="6"/>
                      </a:cxn>
                      <a:cxn ang="0">
                        <a:pos x="3" y="20"/>
                      </a:cxn>
                      <a:cxn ang="0">
                        <a:pos x="10" y="18"/>
                      </a:cxn>
                      <a:cxn ang="0">
                        <a:pos x="14" y="34"/>
                      </a:cxn>
                      <a:cxn ang="0">
                        <a:pos x="17" y="18"/>
                      </a:cxn>
                      <a:cxn ang="0">
                        <a:pos x="21" y="17"/>
                      </a:cxn>
                      <a:cxn ang="0">
                        <a:pos x="18" y="0"/>
                      </a:cxn>
                      <a:cxn ang="0">
                        <a:pos x="13" y="6"/>
                      </a:cxn>
                      <a:cxn ang="0">
                        <a:pos x="12" y="0"/>
                      </a:cxn>
                      <a:cxn ang="0">
                        <a:pos x="0" y="6"/>
                      </a:cxn>
                    </a:cxnLst>
                    <a:pathLst>
                      <a:path w="83" h="136">
                        <a:moveTo>
                          <a:pt x="0" y="21"/>
                        </a:moveTo>
                        <a:lnTo>
                          <a:pt x="12" y="78"/>
                        </a:lnTo>
                        <a:lnTo>
                          <a:pt x="39" y="70"/>
                        </a:lnTo>
                        <a:lnTo>
                          <a:pt x="54" y="136"/>
                        </a:lnTo>
                        <a:lnTo>
                          <a:pt x="67" y="70"/>
                        </a:lnTo>
                        <a:lnTo>
                          <a:pt x="83" y="65"/>
                        </a:lnTo>
                        <a:lnTo>
                          <a:pt x="72" y="0"/>
                        </a:lnTo>
                        <a:lnTo>
                          <a:pt x="50" y="23"/>
                        </a:lnTo>
                        <a:lnTo>
                          <a:pt x="45" y="0"/>
                        </a:lnTo>
                        <a:lnTo>
                          <a:pt x="0" y="21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3" name="Freeform 274"/>
                  <p:cNvSpPr/>
                  <p:nvPr/>
                </p:nvSpPr>
                <p:spPr>
                  <a:xfrm>
                    <a:off x="2865" y="1875"/>
                    <a:ext cx="84" cy="82"/>
                  </a:xfrm>
                  <a:custGeom>
                    <a:avLst/>
                    <a:gdLst/>
                    <a:ahLst/>
                    <a:cxnLst>
                      <a:cxn ang="0">
                        <a:pos x="10" y="42"/>
                      </a:cxn>
                      <a:cxn ang="0">
                        <a:pos x="42" y="33"/>
                      </a:cxn>
                      <a:cxn ang="0">
                        <a:pos x="35" y="0"/>
                      </a:cxn>
                      <a:cxn ang="0">
                        <a:pos x="0" y="11"/>
                      </a:cxn>
                      <a:cxn ang="0">
                        <a:pos x="10" y="42"/>
                      </a:cxn>
                    </a:cxnLst>
                    <a:pathLst>
                      <a:path w="167" h="162">
                        <a:moveTo>
                          <a:pt x="38" y="162"/>
                        </a:moveTo>
                        <a:lnTo>
                          <a:pt x="167" y="129"/>
                        </a:lnTo>
                        <a:lnTo>
                          <a:pt x="137" y="0"/>
                        </a:lnTo>
                        <a:lnTo>
                          <a:pt x="0" y="41"/>
                        </a:lnTo>
                        <a:lnTo>
                          <a:pt x="38" y="162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4" name="Freeform 275"/>
                  <p:cNvSpPr/>
                  <p:nvPr/>
                </p:nvSpPr>
                <p:spPr>
                  <a:xfrm>
                    <a:off x="2861" y="2067"/>
                    <a:ext cx="206" cy="99"/>
                  </a:xfrm>
                  <a:custGeom>
                    <a:avLst/>
                    <a:gdLst/>
                    <a:ahLst/>
                    <a:cxnLst>
                      <a:cxn ang="0">
                        <a:pos x="7" y="50"/>
                      </a:cxn>
                      <a:cxn ang="0">
                        <a:pos x="18" y="30"/>
                      </a:cxn>
                      <a:cxn ang="0">
                        <a:pos x="31" y="21"/>
                      </a:cxn>
                      <a:cxn ang="0">
                        <a:pos x="67" y="11"/>
                      </a:cxn>
                      <a:cxn ang="0">
                        <a:pos x="81" y="16"/>
                      </a:cxn>
                      <a:cxn ang="0">
                        <a:pos x="100" y="31"/>
                      </a:cxn>
                      <a:cxn ang="0">
                        <a:pos x="103" y="15"/>
                      </a:cxn>
                      <a:cxn ang="0">
                        <a:pos x="71" y="0"/>
                      </a:cxn>
                      <a:cxn ang="0">
                        <a:pos x="26" y="13"/>
                      </a:cxn>
                      <a:cxn ang="0">
                        <a:pos x="8" y="25"/>
                      </a:cxn>
                      <a:cxn ang="0">
                        <a:pos x="0" y="45"/>
                      </a:cxn>
                      <a:cxn ang="0">
                        <a:pos x="7" y="50"/>
                      </a:cxn>
                    </a:cxnLst>
                    <a:pathLst>
                      <a:path w="413" h="198">
                        <a:moveTo>
                          <a:pt x="28" y="198"/>
                        </a:moveTo>
                        <a:lnTo>
                          <a:pt x="74" y="119"/>
                        </a:lnTo>
                        <a:lnTo>
                          <a:pt x="124" y="81"/>
                        </a:lnTo>
                        <a:lnTo>
                          <a:pt x="269" y="41"/>
                        </a:lnTo>
                        <a:lnTo>
                          <a:pt x="325" y="63"/>
                        </a:lnTo>
                        <a:lnTo>
                          <a:pt x="400" y="121"/>
                        </a:lnTo>
                        <a:lnTo>
                          <a:pt x="413" y="60"/>
                        </a:lnTo>
                        <a:lnTo>
                          <a:pt x="285" y="0"/>
                        </a:lnTo>
                        <a:lnTo>
                          <a:pt x="104" y="50"/>
                        </a:lnTo>
                        <a:lnTo>
                          <a:pt x="34" y="97"/>
                        </a:lnTo>
                        <a:lnTo>
                          <a:pt x="0" y="179"/>
                        </a:lnTo>
                        <a:lnTo>
                          <a:pt x="28" y="198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5" name="Freeform 276"/>
                  <p:cNvSpPr/>
                  <p:nvPr/>
                </p:nvSpPr>
                <p:spPr>
                  <a:xfrm>
                    <a:off x="3046" y="2046"/>
                    <a:ext cx="79" cy="245"/>
                  </a:xfrm>
                  <a:custGeom>
                    <a:avLst/>
                    <a:gdLst/>
                    <a:ahLst/>
                    <a:cxnLst>
                      <a:cxn ang="0">
                        <a:pos x="0" y="60"/>
                      </a:cxn>
                      <a:cxn ang="0">
                        <a:pos x="17" y="123"/>
                      </a:cxn>
                      <a:cxn ang="0">
                        <a:pos x="37" y="79"/>
                      </a:cxn>
                      <a:cxn ang="0">
                        <a:pos x="40" y="48"/>
                      </a:cxn>
                      <a:cxn ang="0">
                        <a:pos x="27" y="0"/>
                      </a:cxn>
                      <a:cxn ang="0">
                        <a:pos x="11" y="27"/>
                      </a:cxn>
                      <a:cxn ang="0">
                        <a:pos x="9" y="42"/>
                      </a:cxn>
                      <a:cxn ang="0">
                        <a:pos x="0" y="60"/>
                      </a:cxn>
                    </a:cxnLst>
                    <a:pathLst>
                      <a:path w="157" h="490">
                        <a:moveTo>
                          <a:pt x="0" y="237"/>
                        </a:moveTo>
                        <a:lnTo>
                          <a:pt x="68" y="490"/>
                        </a:lnTo>
                        <a:lnTo>
                          <a:pt x="146" y="315"/>
                        </a:lnTo>
                        <a:lnTo>
                          <a:pt x="157" y="189"/>
                        </a:lnTo>
                        <a:lnTo>
                          <a:pt x="108" y="0"/>
                        </a:lnTo>
                        <a:lnTo>
                          <a:pt x="44" y="106"/>
                        </a:lnTo>
                        <a:lnTo>
                          <a:pt x="34" y="166"/>
                        </a:lnTo>
                        <a:lnTo>
                          <a:pt x="0" y="237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6" name="Freeform 277"/>
                  <p:cNvSpPr/>
                  <p:nvPr/>
                </p:nvSpPr>
                <p:spPr>
                  <a:xfrm>
                    <a:off x="2706" y="1886"/>
                    <a:ext cx="72" cy="123"/>
                  </a:xfrm>
                  <a:custGeom>
                    <a:avLst/>
                    <a:gdLst/>
                    <a:ahLst/>
                    <a:cxnLst>
                      <a:cxn ang="0">
                        <a:pos x="20" y="5"/>
                      </a:cxn>
                      <a:cxn ang="0">
                        <a:pos x="36" y="0"/>
                      </a:cxn>
                      <a:cxn ang="0">
                        <a:pos x="12" y="62"/>
                      </a:cxn>
                      <a:cxn ang="0">
                        <a:pos x="0" y="56"/>
                      </a:cxn>
                      <a:cxn ang="0">
                        <a:pos x="20" y="5"/>
                      </a:cxn>
                    </a:cxnLst>
                    <a:pathLst>
                      <a:path w="144" h="245">
                        <a:moveTo>
                          <a:pt x="77" y="18"/>
                        </a:moveTo>
                        <a:lnTo>
                          <a:pt x="144" y="0"/>
                        </a:lnTo>
                        <a:lnTo>
                          <a:pt x="46" y="245"/>
                        </a:lnTo>
                        <a:lnTo>
                          <a:pt x="0" y="223"/>
                        </a:lnTo>
                        <a:lnTo>
                          <a:pt x="77" y="18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7" name="Freeform 278"/>
                  <p:cNvSpPr/>
                  <p:nvPr/>
                </p:nvSpPr>
                <p:spPr>
                  <a:xfrm>
                    <a:off x="2681" y="2079"/>
                    <a:ext cx="53" cy="4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7" y="13"/>
                      </a:cxn>
                      <a:cxn ang="0">
                        <a:pos x="22" y="22"/>
                      </a:cxn>
                      <a:cxn ang="0">
                        <a:pos x="4" y="14"/>
                      </a:cxn>
                      <a:cxn ang="0">
                        <a:pos x="0" y="0"/>
                      </a:cxn>
                    </a:cxnLst>
                    <a:pathLst>
                      <a:path w="105" h="88">
                        <a:moveTo>
                          <a:pt x="0" y="0"/>
                        </a:moveTo>
                        <a:lnTo>
                          <a:pt x="105" y="52"/>
                        </a:lnTo>
                        <a:lnTo>
                          <a:pt x="88" y="88"/>
                        </a:lnTo>
                        <a:lnTo>
                          <a:pt x="16" y="5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8" name="Freeform 279"/>
                  <p:cNvSpPr/>
                  <p:nvPr/>
                </p:nvSpPr>
                <p:spPr>
                  <a:xfrm>
                    <a:off x="2800" y="2105"/>
                    <a:ext cx="45" cy="50"/>
                  </a:xfrm>
                  <a:custGeom>
                    <a:avLst/>
                    <a:gdLst/>
                    <a:ahLst/>
                    <a:cxnLst>
                      <a:cxn ang="0">
                        <a:pos x="8" y="25"/>
                      </a:cxn>
                      <a:cxn ang="0">
                        <a:pos x="0" y="16"/>
                      </a:cxn>
                      <a:cxn ang="0">
                        <a:pos x="2" y="3"/>
                      </a:cxn>
                      <a:cxn ang="0">
                        <a:pos x="13" y="0"/>
                      </a:cxn>
                      <a:cxn ang="0">
                        <a:pos x="22" y="10"/>
                      </a:cxn>
                      <a:cxn ang="0">
                        <a:pos x="20" y="23"/>
                      </a:cxn>
                      <a:cxn ang="0">
                        <a:pos x="8" y="25"/>
                      </a:cxn>
                    </a:cxnLst>
                    <a:pathLst>
                      <a:path w="91" h="100">
                        <a:moveTo>
                          <a:pt x="33" y="100"/>
                        </a:moveTo>
                        <a:lnTo>
                          <a:pt x="0" y="63"/>
                        </a:lnTo>
                        <a:lnTo>
                          <a:pt x="11" y="12"/>
                        </a:lnTo>
                        <a:lnTo>
                          <a:pt x="54" y="0"/>
                        </a:lnTo>
                        <a:lnTo>
                          <a:pt x="91" y="37"/>
                        </a:lnTo>
                        <a:lnTo>
                          <a:pt x="81" y="89"/>
                        </a:lnTo>
                        <a:lnTo>
                          <a:pt x="33" y="10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19" name="Freeform 280"/>
                  <p:cNvSpPr/>
                  <p:nvPr/>
                </p:nvSpPr>
                <p:spPr>
                  <a:xfrm>
                    <a:off x="2845" y="2050"/>
                    <a:ext cx="52" cy="51"/>
                  </a:xfrm>
                  <a:custGeom>
                    <a:avLst/>
                    <a:gdLst/>
                    <a:ahLst/>
                    <a:cxnLst>
                      <a:cxn ang="0">
                        <a:pos x="9" y="25"/>
                      </a:cxn>
                      <a:cxn ang="0">
                        <a:pos x="0" y="16"/>
                      </a:cxn>
                      <a:cxn ang="0">
                        <a:pos x="5" y="2"/>
                      </a:cxn>
                      <a:cxn ang="0">
                        <a:pos x="18" y="0"/>
                      </a:cxn>
                      <a:cxn ang="0">
                        <a:pos x="26" y="9"/>
                      </a:cxn>
                      <a:cxn ang="0">
                        <a:pos x="23" y="22"/>
                      </a:cxn>
                      <a:cxn ang="0">
                        <a:pos x="9" y="25"/>
                      </a:cxn>
                    </a:cxnLst>
                    <a:pathLst>
                      <a:path w="103" h="103">
                        <a:moveTo>
                          <a:pt x="36" y="103"/>
                        </a:moveTo>
                        <a:lnTo>
                          <a:pt x="0" y="66"/>
                        </a:lnTo>
                        <a:lnTo>
                          <a:pt x="19" y="11"/>
                        </a:lnTo>
                        <a:lnTo>
                          <a:pt x="69" y="0"/>
                        </a:lnTo>
                        <a:lnTo>
                          <a:pt x="103" y="38"/>
                        </a:lnTo>
                        <a:lnTo>
                          <a:pt x="89" y="91"/>
                        </a:lnTo>
                        <a:lnTo>
                          <a:pt x="36" y="103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20" name="Freeform 281"/>
                  <p:cNvSpPr/>
                  <p:nvPr/>
                </p:nvSpPr>
                <p:spPr>
                  <a:xfrm>
                    <a:off x="2911" y="2014"/>
                    <a:ext cx="52" cy="58"/>
                  </a:xfrm>
                  <a:custGeom>
                    <a:avLst/>
                    <a:gdLst/>
                    <a:ahLst/>
                    <a:cxnLst>
                      <a:cxn ang="0">
                        <a:pos x="10" y="29"/>
                      </a:cxn>
                      <a:cxn ang="0">
                        <a:pos x="0" y="18"/>
                      </a:cxn>
                      <a:cxn ang="0">
                        <a:pos x="3" y="4"/>
                      </a:cxn>
                      <a:cxn ang="0">
                        <a:pos x="17" y="0"/>
                      </a:cxn>
                      <a:cxn ang="0">
                        <a:pos x="26" y="11"/>
                      </a:cxn>
                      <a:cxn ang="0">
                        <a:pos x="23" y="26"/>
                      </a:cxn>
                      <a:cxn ang="0">
                        <a:pos x="10" y="29"/>
                      </a:cxn>
                    </a:cxnLst>
                    <a:pathLst>
                      <a:path w="105" h="115">
                        <a:moveTo>
                          <a:pt x="42" y="115"/>
                        </a:moveTo>
                        <a:lnTo>
                          <a:pt x="0" y="70"/>
                        </a:lnTo>
                        <a:lnTo>
                          <a:pt x="13" y="16"/>
                        </a:lnTo>
                        <a:lnTo>
                          <a:pt x="68" y="0"/>
                        </a:lnTo>
                        <a:lnTo>
                          <a:pt x="105" y="43"/>
                        </a:lnTo>
                        <a:lnTo>
                          <a:pt x="94" y="102"/>
                        </a:lnTo>
                        <a:lnTo>
                          <a:pt x="42" y="11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21" name="Freeform 282"/>
                  <p:cNvSpPr/>
                  <p:nvPr/>
                </p:nvSpPr>
                <p:spPr>
                  <a:xfrm>
                    <a:off x="2980" y="2009"/>
                    <a:ext cx="47" cy="47"/>
                  </a:xfrm>
                  <a:custGeom>
                    <a:avLst/>
                    <a:gdLst/>
                    <a:ahLst/>
                    <a:cxnLst>
                      <a:cxn ang="0">
                        <a:pos x="9" y="23"/>
                      </a:cxn>
                      <a:cxn ang="0">
                        <a:pos x="0" y="14"/>
                      </a:cxn>
                      <a:cxn ang="0">
                        <a:pos x="3" y="2"/>
                      </a:cxn>
                      <a:cxn ang="0">
                        <a:pos x="15" y="0"/>
                      </a:cxn>
                      <a:cxn ang="0">
                        <a:pos x="24" y="8"/>
                      </a:cxn>
                      <a:cxn ang="0">
                        <a:pos x="20" y="21"/>
                      </a:cxn>
                      <a:cxn ang="0">
                        <a:pos x="9" y="23"/>
                      </a:cxn>
                    </a:cxnLst>
                    <a:pathLst>
                      <a:path w="92" h="95">
                        <a:moveTo>
                          <a:pt x="36" y="95"/>
                        </a:moveTo>
                        <a:lnTo>
                          <a:pt x="0" y="57"/>
                        </a:lnTo>
                        <a:lnTo>
                          <a:pt x="12" y="9"/>
                        </a:lnTo>
                        <a:lnTo>
                          <a:pt x="57" y="0"/>
                        </a:lnTo>
                        <a:lnTo>
                          <a:pt x="92" y="33"/>
                        </a:lnTo>
                        <a:lnTo>
                          <a:pt x="79" y="86"/>
                        </a:lnTo>
                        <a:lnTo>
                          <a:pt x="36" y="9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22" name="Freeform 283"/>
                  <p:cNvSpPr/>
                  <p:nvPr/>
                </p:nvSpPr>
                <p:spPr>
                  <a:xfrm>
                    <a:off x="3039" y="2029"/>
                    <a:ext cx="36" cy="47"/>
                  </a:xfrm>
                  <a:custGeom>
                    <a:avLst/>
                    <a:gdLst/>
                    <a:ahLst/>
                    <a:cxnLst>
                      <a:cxn ang="0">
                        <a:pos x="8" y="23"/>
                      </a:cxn>
                      <a:cxn ang="0">
                        <a:pos x="0" y="14"/>
                      </a:cxn>
                      <a:cxn ang="0">
                        <a:pos x="2" y="3"/>
                      </a:cxn>
                      <a:cxn ang="0">
                        <a:pos x="11" y="0"/>
                      </a:cxn>
                      <a:cxn ang="0">
                        <a:pos x="18" y="9"/>
                      </a:cxn>
                      <a:cxn ang="0">
                        <a:pos x="17" y="21"/>
                      </a:cxn>
                      <a:cxn ang="0">
                        <a:pos x="8" y="23"/>
                      </a:cxn>
                    </a:cxnLst>
                    <a:pathLst>
                      <a:path w="72" h="95">
                        <a:moveTo>
                          <a:pt x="30" y="95"/>
                        </a:moveTo>
                        <a:lnTo>
                          <a:pt x="0" y="57"/>
                        </a:lnTo>
                        <a:lnTo>
                          <a:pt x="8" y="12"/>
                        </a:lnTo>
                        <a:lnTo>
                          <a:pt x="41" y="0"/>
                        </a:lnTo>
                        <a:lnTo>
                          <a:pt x="72" y="36"/>
                        </a:lnTo>
                        <a:lnTo>
                          <a:pt x="66" y="84"/>
                        </a:lnTo>
                        <a:lnTo>
                          <a:pt x="30" y="9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23" name="Freeform 284"/>
                  <p:cNvSpPr/>
                  <p:nvPr/>
                </p:nvSpPr>
                <p:spPr>
                  <a:xfrm>
                    <a:off x="2947" y="2191"/>
                    <a:ext cx="44" cy="63"/>
                  </a:xfrm>
                  <a:custGeom>
                    <a:avLst/>
                    <a:gdLst/>
                    <a:ahLst/>
                    <a:cxnLst>
                      <a:cxn ang="0">
                        <a:pos x="0" y="32"/>
                      </a:cxn>
                      <a:cxn ang="0">
                        <a:pos x="22" y="27"/>
                      </a:cxn>
                      <a:cxn ang="0">
                        <a:pos x="14" y="0"/>
                      </a:cxn>
                    </a:cxnLst>
                    <a:pathLst>
                      <a:path w="88" h="125">
                        <a:moveTo>
                          <a:pt x="0" y="125"/>
                        </a:moveTo>
                        <a:lnTo>
                          <a:pt x="88" y="107"/>
                        </a:lnTo>
                        <a:lnTo>
                          <a:pt x="55" y="0"/>
                        </a:lnTo>
                      </a:path>
                    </a:pathLst>
                  </a:custGeom>
                  <a:noFill/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24" name="Line 285"/>
                  <p:cNvSpPr/>
                  <p:nvPr/>
                </p:nvSpPr>
                <p:spPr>
                  <a:xfrm flipH="1">
                    <a:off x="3015" y="2244"/>
                    <a:ext cx="44" cy="11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625" name="Line 286"/>
                  <p:cNvSpPr/>
                  <p:nvPr/>
                </p:nvSpPr>
                <p:spPr>
                  <a:xfrm flipH="1">
                    <a:off x="2944" y="2263"/>
                    <a:ext cx="40" cy="11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626" name="Line 287"/>
                  <p:cNvSpPr/>
                  <p:nvPr/>
                </p:nvSpPr>
                <p:spPr>
                  <a:xfrm flipH="1">
                    <a:off x="3022" y="2228"/>
                    <a:ext cx="32" cy="7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627" name="Freeform 288"/>
                  <p:cNvSpPr/>
                  <p:nvPr/>
                </p:nvSpPr>
                <p:spPr>
                  <a:xfrm>
                    <a:off x="2962" y="2186"/>
                    <a:ext cx="29" cy="7"/>
                  </a:xfrm>
                  <a:custGeom>
                    <a:avLst/>
                    <a:gdLst/>
                    <a:ahLst/>
                    <a:cxnLst>
                      <a:cxn ang="0">
                        <a:pos x="14" y="0"/>
                      </a:cxn>
                      <a:cxn ang="0">
                        <a:pos x="0" y="3"/>
                      </a:cxn>
                    </a:cxnLst>
                    <a:pathLst>
                      <a:path w="59" h="15">
                        <a:moveTo>
                          <a:pt x="59" y="0"/>
                        </a:moveTo>
                        <a:lnTo>
                          <a:pt x="0" y="15"/>
                        </a:lnTo>
                      </a:path>
                    </a:pathLst>
                  </a:custGeom>
                  <a:noFill/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28" name="Line 289"/>
                  <p:cNvSpPr/>
                  <p:nvPr/>
                </p:nvSpPr>
                <p:spPr>
                  <a:xfrm flipH="1" flipV="1">
                    <a:off x="2964" y="2145"/>
                    <a:ext cx="5" cy="17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629" name="Freeform 290"/>
                  <p:cNvSpPr/>
                  <p:nvPr/>
                </p:nvSpPr>
                <p:spPr>
                  <a:xfrm>
                    <a:off x="3072" y="1782"/>
                    <a:ext cx="98" cy="67"/>
                  </a:xfrm>
                  <a:custGeom>
                    <a:avLst/>
                    <a:gdLst/>
                    <a:ahLst/>
                    <a:cxnLst>
                      <a:cxn ang="0">
                        <a:pos x="0" y="13"/>
                      </a:cxn>
                      <a:cxn ang="0">
                        <a:pos x="30" y="34"/>
                      </a:cxn>
                      <a:cxn ang="0">
                        <a:pos x="49" y="0"/>
                      </a:cxn>
                      <a:cxn ang="0">
                        <a:pos x="0" y="13"/>
                      </a:cxn>
                    </a:cxnLst>
                    <a:pathLst>
                      <a:path w="195" h="134">
                        <a:moveTo>
                          <a:pt x="0" y="51"/>
                        </a:moveTo>
                        <a:lnTo>
                          <a:pt x="118" y="134"/>
                        </a:lnTo>
                        <a:lnTo>
                          <a:pt x="195" y="0"/>
                        </a:lnTo>
                        <a:lnTo>
                          <a:pt x="0" y="51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0" name="Freeform 291"/>
                  <p:cNvSpPr/>
                  <p:nvPr/>
                </p:nvSpPr>
                <p:spPr>
                  <a:xfrm>
                    <a:off x="2770" y="2230"/>
                    <a:ext cx="139" cy="165"/>
                  </a:xfrm>
                  <a:custGeom>
                    <a:avLst/>
                    <a:gdLst/>
                    <a:ahLst/>
                    <a:cxnLst>
                      <a:cxn ang="0">
                        <a:pos x="69" y="79"/>
                      </a:cxn>
                      <a:cxn ang="0">
                        <a:pos x="62" y="46"/>
                      </a:cxn>
                      <a:cxn ang="0">
                        <a:pos x="37" y="20"/>
                      </a:cxn>
                      <a:cxn ang="0">
                        <a:pos x="5" y="0"/>
                      </a:cxn>
                      <a:cxn ang="0">
                        <a:pos x="0" y="7"/>
                      </a:cxn>
                      <a:cxn ang="0">
                        <a:pos x="29" y="26"/>
                      </a:cxn>
                      <a:cxn ang="0">
                        <a:pos x="50" y="49"/>
                      </a:cxn>
                      <a:cxn ang="0">
                        <a:pos x="57" y="82"/>
                      </a:cxn>
                      <a:cxn ang="0">
                        <a:pos x="69" y="79"/>
                      </a:cxn>
                    </a:cxnLst>
                    <a:pathLst>
                      <a:path w="280" h="331">
                        <a:moveTo>
                          <a:pt x="280" y="317"/>
                        </a:moveTo>
                        <a:lnTo>
                          <a:pt x="251" y="186"/>
                        </a:lnTo>
                        <a:lnTo>
                          <a:pt x="151" y="83"/>
                        </a:lnTo>
                        <a:lnTo>
                          <a:pt x="20" y="0"/>
                        </a:lnTo>
                        <a:lnTo>
                          <a:pt x="0" y="28"/>
                        </a:lnTo>
                        <a:lnTo>
                          <a:pt x="119" y="105"/>
                        </a:lnTo>
                        <a:lnTo>
                          <a:pt x="201" y="198"/>
                        </a:lnTo>
                        <a:lnTo>
                          <a:pt x="230" y="331"/>
                        </a:lnTo>
                        <a:lnTo>
                          <a:pt x="280" y="317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631" name="Line 292"/>
                  <p:cNvSpPr/>
                  <p:nvPr/>
                </p:nvSpPr>
                <p:spPr>
                  <a:xfrm flipH="1">
                    <a:off x="2953" y="2158"/>
                    <a:ext cx="40" cy="10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</p:grpSp>
      <p:grpSp>
        <p:nvGrpSpPr>
          <p:cNvPr id="24" name="Group 293"/>
          <p:cNvGrpSpPr/>
          <p:nvPr/>
        </p:nvGrpSpPr>
        <p:grpSpPr>
          <a:xfrm>
            <a:off x="3505200" y="3352800"/>
            <a:ext cx="1943100" cy="2722563"/>
            <a:chOff x="4329" y="816"/>
            <a:chExt cx="1224" cy="1715"/>
          </a:xfrm>
        </p:grpSpPr>
        <p:grpSp>
          <p:nvGrpSpPr>
            <p:cNvPr id="7494" name="Group 294"/>
            <p:cNvGrpSpPr/>
            <p:nvPr/>
          </p:nvGrpSpPr>
          <p:grpSpPr>
            <a:xfrm rot="1802955">
              <a:off x="4329" y="816"/>
              <a:ext cx="1207" cy="1640"/>
              <a:chOff x="2585" y="981"/>
              <a:chExt cx="1207" cy="1640"/>
            </a:xfrm>
          </p:grpSpPr>
          <p:sp>
            <p:nvSpPr>
              <p:cNvPr id="7507" name="Freeform 295"/>
              <p:cNvSpPr/>
              <p:nvPr/>
            </p:nvSpPr>
            <p:spPr>
              <a:xfrm>
                <a:off x="2585" y="981"/>
                <a:ext cx="1207" cy="1640"/>
              </a:xfrm>
              <a:custGeom>
                <a:avLst/>
                <a:gdLst/>
                <a:ahLst/>
                <a:cxnLst>
                  <a:cxn ang="0">
                    <a:pos x="10" y="79"/>
                  </a:cxn>
                  <a:cxn ang="0">
                    <a:pos x="22" y="67"/>
                  </a:cxn>
                  <a:cxn ang="0">
                    <a:pos x="37" y="62"/>
                  </a:cxn>
                  <a:cxn ang="0">
                    <a:pos x="461" y="0"/>
                  </a:cxn>
                  <a:cxn ang="0">
                    <a:pos x="478" y="9"/>
                  </a:cxn>
                  <a:cxn ang="0">
                    <a:pos x="491" y="19"/>
                  </a:cxn>
                  <a:cxn ang="0">
                    <a:pos x="499" y="43"/>
                  </a:cxn>
                  <a:cxn ang="0">
                    <a:pos x="603" y="724"/>
                  </a:cxn>
                  <a:cxn ang="0">
                    <a:pos x="603" y="740"/>
                  </a:cxn>
                  <a:cxn ang="0">
                    <a:pos x="596" y="755"/>
                  </a:cxn>
                  <a:cxn ang="0">
                    <a:pos x="579" y="762"/>
                  </a:cxn>
                  <a:cxn ang="0">
                    <a:pos x="559" y="768"/>
                  </a:cxn>
                  <a:cxn ang="0">
                    <a:pos x="162" y="820"/>
                  </a:cxn>
                  <a:cxn ang="0">
                    <a:pos x="136" y="820"/>
                  </a:cxn>
                  <a:cxn ang="0">
                    <a:pos x="114" y="809"/>
                  </a:cxn>
                  <a:cxn ang="0">
                    <a:pos x="107" y="787"/>
                  </a:cxn>
                  <a:cxn ang="0">
                    <a:pos x="0" y="105"/>
                  </a:cxn>
                  <a:cxn ang="0">
                    <a:pos x="2" y="90"/>
                  </a:cxn>
                  <a:cxn ang="0">
                    <a:pos x="10" y="79"/>
                  </a:cxn>
                </a:cxnLst>
                <a:pathLst>
                  <a:path w="2416" h="3279">
                    <a:moveTo>
                      <a:pt x="41" y="316"/>
                    </a:moveTo>
                    <a:lnTo>
                      <a:pt x="88" y="266"/>
                    </a:lnTo>
                    <a:lnTo>
                      <a:pt x="150" y="245"/>
                    </a:lnTo>
                    <a:lnTo>
                      <a:pt x="1848" y="0"/>
                    </a:lnTo>
                    <a:lnTo>
                      <a:pt x="1914" y="33"/>
                    </a:lnTo>
                    <a:lnTo>
                      <a:pt x="1967" y="75"/>
                    </a:lnTo>
                    <a:lnTo>
                      <a:pt x="1997" y="169"/>
                    </a:lnTo>
                    <a:lnTo>
                      <a:pt x="2416" y="2894"/>
                    </a:lnTo>
                    <a:lnTo>
                      <a:pt x="2416" y="2960"/>
                    </a:lnTo>
                    <a:lnTo>
                      <a:pt x="2387" y="3017"/>
                    </a:lnTo>
                    <a:lnTo>
                      <a:pt x="2317" y="3048"/>
                    </a:lnTo>
                    <a:lnTo>
                      <a:pt x="2240" y="3070"/>
                    </a:lnTo>
                    <a:lnTo>
                      <a:pt x="648" y="3278"/>
                    </a:lnTo>
                    <a:lnTo>
                      <a:pt x="547" y="3279"/>
                    </a:lnTo>
                    <a:lnTo>
                      <a:pt x="457" y="3234"/>
                    </a:lnTo>
                    <a:lnTo>
                      <a:pt x="430" y="3146"/>
                    </a:lnTo>
                    <a:lnTo>
                      <a:pt x="0" y="420"/>
                    </a:lnTo>
                    <a:lnTo>
                      <a:pt x="10" y="359"/>
                    </a:lnTo>
                    <a:lnTo>
                      <a:pt x="41" y="31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508" name="Group 296"/>
              <p:cNvGrpSpPr/>
              <p:nvPr/>
            </p:nvGrpSpPr>
            <p:grpSpPr>
              <a:xfrm>
                <a:off x="2643" y="1154"/>
                <a:ext cx="1111" cy="1316"/>
                <a:chOff x="2643" y="1154"/>
                <a:chExt cx="1111" cy="1316"/>
              </a:xfrm>
            </p:grpSpPr>
            <p:sp>
              <p:nvSpPr>
                <p:cNvPr id="7509" name="Freeform 297"/>
                <p:cNvSpPr/>
                <p:nvPr/>
              </p:nvSpPr>
              <p:spPr>
                <a:xfrm>
                  <a:off x="2643" y="1154"/>
                  <a:ext cx="107" cy="151"/>
                </a:xfrm>
                <a:custGeom>
                  <a:avLst/>
                  <a:gdLst/>
                  <a:ahLst/>
                  <a:cxnLst>
                    <a:cxn ang="0">
                      <a:pos x="13" y="3"/>
                    </a:cxn>
                    <a:cxn ang="0">
                      <a:pos x="0" y="5"/>
                    </a:cxn>
                    <a:cxn ang="0">
                      <a:pos x="7" y="75"/>
                    </a:cxn>
                    <a:cxn ang="0">
                      <a:pos x="22" y="71"/>
                    </a:cxn>
                    <a:cxn ang="0">
                      <a:pos x="19" y="46"/>
                    </a:cxn>
                    <a:cxn ang="0">
                      <a:pos x="34" y="67"/>
                    </a:cxn>
                    <a:cxn ang="0">
                      <a:pos x="53" y="65"/>
                    </a:cxn>
                    <a:cxn ang="0">
                      <a:pos x="31" y="35"/>
                    </a:cxn>
                    <a:cxn ang="0">
                      <a:pos x="42" y="0"/>
                    </a:cxn>
                    <a:cxn ang="0">
                      <a:pos x="25" y="2"/>
                    </a:cxn>
                    <a:cxn ang="0">
                      <a:pos x="18" y="30"/>
                    </a:cxn>
                    <a:cxn ang="0">
                      <a:pos x="13" y="3"/>
                    </a:cxn>
                  </a:cxnLst>
                  <a:pathLst>
                    <a:path w="215" h="303">
                      <a:moveTo>
                        <a:pt x="53" y="15"/>
                      </a:moveTo>
                      <a:lnTo>
                        <a:pt x="0" y="20"/>
                      </a:lnTo>
                      <a:lnTo>
                        <a:pt x="30" y="303"/>
                      </a:lnTo>
                      <a:lnTo>
                        <a:pt x="91" y="286"/>
                      </a:lnTo>
                      <a:lnTo>
                        <a:pt x="78" y="187"/>
                      </a:lnTo>
                      <a:lnTo>
                        <a:pt x="136" y="270"/>
                      </a:lnTo>
                      <a:lnTo>
                        <a:pt x="215" y="260"/>
                      </a:lnTo>
                      <a:lnTo>
                        <a:pt x="125" y="143"/>
                      </a:lnTo>
                      <a:lnTo>
                        <a:pt x="168" y="0"/>
                      </a:lnTo>
                      <a:lnTo>
                        <a:pt x="102" y="8"/>
                      </a:lnTo>
                      <a:lnTo>
                        <a:pt x="72" y="121"/>
                      </a:lnTo>
                      <a:lnTo>
                        <a:pt x="53" y="15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510" name="Freeform 298"/>
                <p:cNvSpPr/>
                <p:nvPr/>
              </p:nvSpPr>
              <p:spPr>
                <a:xfrm>
                  <a:off x="3654" y="2341"/>
                  <a:ext cx="100" cy="129"/>
                </a:xfrm>
                <a:custGeom>
                  <a:avLst/>
                  <a:gdLst/>
                  <a:ahLst/>
                  <a:cxnLst>
                    <a:cxn ang="0">
                      <a:pos x="37" y="61"/>
                    </a:cxn>
                    <a:cxn ang="0">
                      <a:pos x="50" y="60"/>
                    </a:cxn>
                    <a:cxn ang="0">
                      <a:pos x="43" y="0"/>
                    </a:cxn>
                    <a:cxn ang="0">
                      <a:pos x="28" y="2"/>
                    </a:cxn>
                    <a:cxn ang="0">
                      <a:pos x="31" y="22"/>
                    </a:cxn>
                    <a:cxn ang="0">
                      <a:pos x="17" y="4"/>
                    </a:cxn>
                    <a:cxn ang="0">
                      <a:pos x="0" y="6"/>
                    </a:cxn>
                    <a:cxn ang="0">
                      <a:pos x="20" y="32"/>
                    </a:cxn>
                    <a:cxn ang="0">
                      <a:pos x="9" y="64"/>
                    </a:cxn>
                    <a:cxn ang="0">
                      <a:pos x="26" y="63"/>
                    </a:cxn>
                    <a:cxn ang="0">
                      <a:pos x="33" y="37"/>
                    </a:cxn>
                    <a:cxn ang="0">
                      <a:pos x="37" y="61"/>
                    </a:cxn>
                  </a:cxnLst>
                  <a:pathLst>
                    <a:path w="200" h="259">
                      <a:moveTo>
                        <a:pt x="148" y="245"/>
                      </a:moveTo>
                      <a:lnTo>
                        <a:pt x="200" y="242"/>
                      </a:lnTo>
                      <a:lnTo>
                        <a:pt x="171" y="0"/>
                      </a:lnTo>
                      <a:lnTo>
                        <a:pt x="111" y="8"/>
                      </a:lnTo>
                      <a:lnTo>
                        <a:pt x="123" y="91"/>
                      </a:lnTo>
                      <a:lnTo>
                        <a:pt x="67" y="16"/>
                      </a:lnTo>
                      <a:lnTo>
                        <a:pt x="0" y="25"/>
                      </a:lnTo>
                      <a:lnTo>
                        <a:pt x="77" y="130"/>
                      </a:lnTo>
                      <a:lnTo>
                        <a:pt x="35" y="259"/>
                      </a:lnTo>
                      <a:lnTo>
                        <a:pt x="101" y="253"/>
                      </a:lnTo>
                      <a:lnTo>
                        <a:pt x="129" y="150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511" name="Freeform 299"/>
                <p:cNvSpPr/>
                <p:nvPr/>
              </p:nvSpPr>
              <p:spPr>
                <a:xfrm>
                  <a:off x="2659" y="1325"/>
                  <a:ext cx="82" cy="15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0" y="47"/>
                    </a:cxn>
                    <a:cxn ang="0">
                      <a:pos x="31" y="77"/>
                    </a:cxn>
                    <a:cxn ang="0">
                      <a:pos x="41" y="33"/>
                    </a:cxn>
                    <a:cxn ang="0">
                      <a:pos x="12" y="0"/>
                    </a:cxn>
                  </a:cxnLst>
                  <a:pathLst>
                    <a:path w="165" h="306">
                      <a:moveTo>
                        <a:pt x="50" y="0"/>
                      </a:moveTo>
                      <a:lnTo>
                        <a:pt x="0" y="186"/>
                      </a:lnTo>
                      <a:lnTo>
                        <a:pt x="125" y="306"/>
                      </a:lnTo>
                      <a:lnTo>
                        <a:pt x="165" y="131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512" name="Freeform 300"/>
                <p:cNvSpPr/>
                <p:nvPr/>
              </p:nvSpPr>
              <p:spPr>
                <a:xfrm>
                  <a:off x="3648" y="2175"/>
                  <a:ext cx="82" cy="153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0" y="47"/>
                    </a:cxn>
                    <a:cxn ang="0">
                      <a:pos x="31" y="77"/>
                    </a:cxn>
                    <a:cxn ang="0">
                      <a:pos x="41" y="33"/>
                    </a:cxn>
                    <a:cxn ang="0">
                      <a:pos x="13" y="0"/>
                    </a:cxn>
                  </a:cxnLst>
                  <a:pathLst>
                    <a:path w="164" h="305">
                      <a:moveTo>
                        <a:pt x="50" y="0"/>
                      </a:moveTo>
                      <a:lnTo>
                        <a:pt x="0" y="185"/>
                      </a:lnTo>
                      <a:lnTo>
                        <a:pt x="124" y="305"/>
                      </a:lnTo>
                      <a:lnTo>
                        <a:pt x="164" y="13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513" name="Group 301"/>
                <p:cNvGrpSpPr/>
                <p:nvPr/>
              </p:nvGrpSpPr>
              <p:grpSpPr>
                <a:xfrm>
                  <a:off x="2757" y="1226"/>
                  <a:ext cx="877" cy="1180"/>
                  <a:chOff x="2757" y="1226"/>
                  <a:chExt cx="877" cy="1180"/>
                </a:xfrm>
              </p:grpSpPr>
              <p:sp>
                <p:nvSpPr>
                  <p:cNvPr id="7514" name="Freeform 302"/>
                  <p:cNvSpPr/>
                  <p:nvPr/>
                </p:nvSpPr>
                <p:spPr>
                  <a:xfrm>
                    <a:off x="2757" y="1226"/>
                    <a:ext cx="877" cy="1180"/>
                  </a:xfrm>
                  <a:custGeom>
                    <a:avLst/>
                    <a:gdLst/>
                    <a:ahLst/>
                    <a:cxnLst>
                      <a:cxn ang="0">
                        <a:pos x="0" y="52"/>
                      </a:cxn>
                      <a:cxn ang="0">
                        <a:pos x="354" y="0"/>
                      </a:cxn>
                      <a:cxn ang="0">
                        <a:pos x="439" y="546"/>
                      </a:cxn>
                      <a:cxn ang="0">
                        <a:pos x="90" y="590"/>
                      </a:cxn>
                      <a:cxn ang="0">
                        <a:pos x="0" y="52"/>
                      </a:cxn>
                    </a:cxnLst>
                    <a:pathLst>
                      <a:path w="1753" h="2359">
                        <a:moveTo>
                          <a:pt x="0" y="208"/>
                        </a:moveTo>
                        <a:lnTo>
                          <a:pt x="1414" y="0"/>
                        </a:lnTo>
                        <a:lnTo>
                          <a:pt x="1753" y="2182"/>
                        </a:lnTo>
                        <a:lnTo>
                          <a:pt x="357" y="2359"/>
                        </a:lnTo>
                        <a:lnTo>
                          <a:pt x="0" y="208"/>
                        </a:lnTo>
                        <a:close/>
                      </a:path>
                    </a:pathLst>
                  </a:custGeom>
                  <a:noFill/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grpSp>
                <p:nvGrpSpPr>
                  <p:cNvPr id="7515" name="Group 303"/>
                  <p:cNvGrpSpPr/>
                  <p:nvPr/>
                </p:nvGrpSpPr>
                <p:grpSpPr>
                  <a:xfrm>
                    <a:off x="2823" y="1243"/>
                    <a:ext cx="718" cy="626"/>
                    <a:chOff x="2823" y="1243"/>
                    <a:chExt cx="718" cy="626"/>
                  </a:xfrm>
                </p:grpSpPr>
                <p:sp>
                  <p:nvSpPr>
                    <p:cNvPr id="7549" name="Freeform 304"/>
                    <p:cNvSpPr/>
                    <p:nvPr/>
                  </p:nvSpPr>
                  <p:spPr>
                    <a:xfrm>
                      <a:off x="2823" y="1345"/>
                      <a:ext cx="145" cy="257"/>
                    </a:xfrm>
                    <a:custGeom>
                      <a:avLst/>
                      <a:gdLst/>
                      <a:ahLst/>
                      <a:cxnLst>
                        <a:cxn ang="0">
                          <a:pos x="26" y="0"/>
                        </a:cxn>
                        <a:cxn ang="0">
                          <a:pos x="0" y="68"/>
                        </a:cxn>
                        <a:cxn ang="0">
                          <a:pos x="47" y="129"/>
                        </a:cxn>
                        <a:cxn ang="0">
                          <a:pos x="73" y="59"/>
                        </a:cxn>
                        <a:cxn ang="0">
                          <a:pos x="26" y="0"/>
                        </a:cxn>
                      </a:cxnLst>
                      <a:pathLst>
                        <a:path w="289" h="514">
                          <a:moveTo>
                            <a:pt x="102" y="0"/>
                          </a:moveTo>
                          <a:lnTo>
                            <a:pt x="0" y="272"/>
                          </a:lnTo>
                          <a:lnTo>
                            <a:pt x="187" y="514"/>
                          </a:lnTo>
                          <a:lnTo>
                            <a:pt x="289" y="236"/>
                          </a:lnTo>
                          <a:lnTo>
                            <a:pt x="102" y="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grpSp>
                  <p:nvGrpSpPr>
                    <p:cNvPr id="7550" name="Group 305"/>
                    <p:cNvGrpSpPr/>
                    <p:nvPr/>
                  </p:nvGrpSpPr>
                  <p:grpSpPr>
                    <a:xfrm>
                      <a:off x="2830" y="1243"/>
                      <a:ext cx="711" cy="626"/>
                      <a:chOff x="2830" y="1243"/>
                      <a:chExt cx="711" cy="626"/>
                    </a:xfrm>
                  </p:grpSpPr>
                  <p:sp>
                    <p:nvSpPr>
                      <p:cNvPr id="7551" name="Freeform 306"/>
                      <p:cNvSpPr/>
                      <p:nvPr/>
                    </p:nvSpPr>
                    <p:spPr>
                      <a:xfrm>
                        <a:off x="2830" y="1540"/>
                        <a:ext cx="711" cy="32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13" y="27"/>
                          </a:cxn>
                          <a:cxn ang="0">
                            <a:pos x="0" y="95"/>
                          </a:cxn>
                          <a:cxn ang="0">
                            <a:pos x="11" y="164"/>
                          </a:cxn>
                          <a:cxn ang="0">
                            <a:pos x="80" y="153"/>
                          </a:cxn>
                          <a:cxn ang="0">
                            <a:pos x="61" y="119"/>
                          </a:cxn>
                          <a:cxn ang="0">
                            <a:pos x="79" y="101"/>
                          </a:cxn>
                          <a:cxn ang="0">
                            <a:pos x="93" y="151"/>
                          </a:cxn>
                          <a:cxn ang="0">
                            <a:pos x="356" y="109"/>
                          </a:cxn>
                          <a:cxn ang="0">
                            <a:pos x="348" y="59"/>
                          </a:cxn>
                          <a:cxn ang="0">
                            <a:pos x="270" y="0"/>
                          </a:cxn>
                          <a:cxn ang="0">
                            <a:pos x="113" y="27"/>
                          </a:cxn>
                        </a:cxnLst>
                        <a:pathLst>
                          <a:path w="1422" h="659">
                            <a:moveTo>
                              <a:pt x="451" y="109"/>
                            </a:moveTo>
                            <a:lnTo>
                              <a:pt x="0" y="383"/>
                            </a:lnTo>
                            <a:lnTo>
                              <a:pt x="44" y="659"/>
                            </a:lnTo>
                            <a:lnTo>
                              <a:pt x="317" y="615"/>
                            </a:lnTo>
                            <a:lnTo>
                              <a:pt x="244" y="476"/>
                            </a:lnTo>
                            <a:lnTo>
                              <a:pt x="315" y="405"/>
                            </a:lnTo>
                            <a:lnTo>
                              <a:pt x="370" y="607"/>
                            </a:lnTo>
                            <a:lnTo>
                              <a:pt x="1422" y="436"/>
                            </a:lnTo>
                            <a:lnTo>
                              <a:pt x="1389" y="237"/>
                            </a:lnTo>
                            <a:lnTo>
                              <a:pt x="1080" y="0"/>
                            </a:lnTo>
                            <a:lnTo>
                              <a:pt x="451" y="109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52" name="Freeform 307"/>
                      <p:cNvSpPr/>
                      <p:nvPr/>
                    </p:nvSpPr>
                    <p:spPr>
                      <a:xfrm>
                        <a:off x="3421" y="1256"/>
                        <a:ext cx="100" cy="40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" y="0"/>
                          </a:cxn>
                          <a:cxn ang="0">
                            <a:pos x="50" y="200"/>
                          </a:cxn>
                          <a:cxn ang="0">
                            <a:pos x="25" y="180"/>
                          </a:cxn>
                          <a:cxn ang="0">
                            <a:pos x="0" y="15"/>
                          </a:cxn>
                          <a:cxn ang="0">
                            <a:pos x="18" y="0"/>
                          </a:cxn>
                        </a:cxnLst>
                        <a:pathLst>
                          <a:path w="202" h="799">
                            <a:moveTo>
                              <a:pt x="73" y="0"/>
                            </a:moveTo>
                            <a:lnTo>
                              <a:pt x="202" y="799"/>
                            </a:lnTo>
                            <a:lnTo>
                              <a:pt x="102" y="719"/>
                            </a:lnTo>
                            <a:lnTo>
                              <a:pt x="0" y="59"/>
                            </a:lnTo>
                            <a:lnTo>
                              <a:pt x="73" y="0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53" name="Freeform 308"/>
                      <p:cNvSpPr/>
                      <p:nvPr/>
                    </p:nvSpPr>
                    <p:spPr>
                      <a:xfrm>
                        <a:off x="3396" y="1322"/>
                        <a:ext cx="38" cy="6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"/>
                          </a:cxn>
                          <a:cxn ang="0">
                            <a:pos x="15" y="0"/>
                          </a:cxn>
                          <a:cxn ang="0">
                            <a:pos x="19" y="33"/>
                          </a:cxn>
                          <a:cxn ang="0">
                            <a:pos x="5" y="35"/>
                          </a:cxn>
                          <a:cxn ang="0">
                            <a:pos x="0" y="3"/>
                          </a:cxn>
                        </a:cxnLst>
                        <a:pathLst>
                          <a:path w="76" h="138">
                            <a:moveTo>
                              <a:pt x="0" y="10"/>
                            </a:moveTo>
                            <a:lnTo>
                              <a:pt x="57" y="0"/>
                            </a:lnTo>
                            <a:lnTo>
                              <a:pt x="76" y="130"/>
                            </a:lnTo>
                            <a:lnTo>
                              <a:pt x="19" y="138"/>
                            </a:lnTo>
                            <a:lnTo>
                              <a:pt x="0" y="10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54" name="Freeform 309"/>
                      <p:cNvSpPr/>
                      <p:nvPr/>
                    </p:nvSpPr>
                    <p:spPr>
                      <a:xfrm>
                        <a:off x="3322" y="1268"/>
                        <a:ext cx="88" cy="18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6" y="26"/>
                          </a:cxn>
                          <a:cxn ang="0">
                            <a:pos x="33" y="0"/>
                          </a:cxn>
                          <a:cxn ang="0">
                            <a:pos x="0" y="41"/>
                          </a:cxn>
                          <a:cxn ang="0">
                            <a:pos x="4" y="62"/>
                          </a:cxn>
                          <a:cxn ang="0">
                            <a:pos x="44" y="91"/>
                          </a:cxn>
                          <a:cxn ang="0">
                            <a:pos x="40" y="62"/>
                          </a:cxn>
                          <a:cxn ang="0">
                            <a:pos x="16" y="49"/>
                          </a:cxn>
                          <a:cxn ang="0">
                            <a:pos x="36" y="26"/>
                          </a:cxn>
                        </a:cxnLst>
                        <a:pathLst>
                          <a:path w="176" h="360">
                            <a:moveTo>
                              <a:pt x="143" y="104"/>
                            </a:moveTo>
                            <a:lnTo>
                              <a:pt x="129" y="0"/>
                            </a:lnTo>
                            <a:lnTo>
                              <a:pt x="0" y="162"/>
                            </a:lnTo>
                            <a:lnTo>
                              <a:pt x="14" y="247"/>
                            </a:lnTo>
                            <a:lnTo>
                              <a:pt x="176" y="360"/>
                            </a:lnTo>
                            <a:lnTo>
                              <a:pt x="160" y="247"/>
                            </a:lnTo>
                            <a:lnTo>
                              <a:pt x="64" y="195"/>
                            </a:lnTo>
                            <a:lnTo>
                              <a:pt x="143" y="104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55" name="Freeform 310"/>
                      <p:cNvSpPr/>
                      <p:nvPr/>
                    </p:nvSpPr>
                    <p:spPr>
                      <a:xfrm>
                        <a:off x="2958" y="1243"/>
                        <a:ext cx="372" cy="12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28"/>
                          </a:cxn>
                          <a:cxn ang="0">
                            <a:pos x="186" y="0"/>
                          </a:cxn>
                          <a:cxn ang="0">
                            <a:pos x="161" y="42"/>
                          </a:cxn>
                          <a:cxn ang="0">
                            <a:pos x="163" y="57"/>
                          </a:cxn>
                          <a:cxn ang="0">
                            <a:pos x="128" y="62"/>
                          </a:cxn>
                          <a:cxn ang="0">
                            <a:pos x="78" y="52"/>
                          </a:cxn>
                          <a:cxn ang="0">
                            <a:pos x="34" y="59"/>
                          </a:cxn>
                          <a:cxn ang="0">
                            <a:pos x="0" y="28"/>
                          </a:cxn>
                        </a:cxnLst>
                        <a:pathLst>
                          <a:path w="743" h="248">
                            <a:moveTo>
                              <a:pt x="0" y="110"/>
                            </a:moveTo>
                            <a:lnTo>
                              <a:pt x="743" y="0"/>
                            </a:lnTo>
                            <a:lnTo>
                              <a:pt x="641" y="167"/>
                            </a:lnTo>
                            <a:lnTo>
                              <a:pt x="649" y="225"/>
                            </a:lnTo>
                            <a:lnTo>
                              <a:pt x="509" y="248"/>
                            </a:lnTo>
                            <a:lnTo>
                              <a:pt x="310" y="207"/>
                            </a:lnTo>
                            <a:lnTo>
                              <a:pt x="133" y="234"/>
                            </a:lnTo>
                            <a:lnTo>
                              <a:pt x="0" y="110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56" name="Freeform 311"/>
                      <p:cNvSpPr/>
                      <p:nvPr/>
                    </p:nvSpPr>
                    <p:spPr>
                      <a:xfrm>
                        <a:off x="3001" y="1347"/>
                        <a:ext cx="395" cy="2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4" y="7"/>
                          </a:cxn>
                          <a:cxn ang="0">
                            <a:pos x="21" y="43"/>
                          </a:cxn>
                          <a:cxn ang="0">
                            <a:pos x="9" y="60"/>
                          </a:cxn>
                          <a:cxn ang="0">
                            <a:pos x="10" y="69"/>
                          </a:cxn>
                          <a:cxn ang="0">
                            <a:pos x="19" y="67"/>
                          </a:cxn>
                          <a:cxn ang="0">
                            <a:pos x="25" y="72"/>
                          </a:cxn>
                          <a:cxn ang="0">
                            <a:pos x="33" y="79"/>
                          </a:cxn>
                          <a:cxn ang="0">
                            <a:pos x="29" y="82"/>
                          </a:cxn>
                          <a:cxn ang="0">
                            <a:pos x="33" y="102"/>
                          </a:cxn>
                          <a:cxn ang="0">
                            <a:pos x="29" y="115"/>
                          </a:cxn>
                          <a:cxn ang="0">
                            <a:pos x="17" y="116"/>
                          </a:cxn>
                          <a:cxn ang="0">
                            <a:pos x="16" y="108"/>
                          </a:cxn>
                          <a:cxn ang="0">
                            <a:pos x="7" y="108"/>
                          </a:cxn>
                          <a:cxn ang="0">
                            <a:pos x="0" y="122"/>
                          </a:cxn>
                          <a:cxn ang="0">
                            <a:pos x="21" y="138"/>
                          </a:cxn>
                          <a:cxn ang="0">
                            <a:pos x="48" y="133"/>
                          </a:cxn>
                          <a:cxn ang="0">
                            <a:pos x="60" y="122"/>
                          </a:cxn>
                          <a:cxn ang="0">
                            <a:pos x="87" y="118"/>
                          </a:cxn>
                          <a:cxn ang="0">
                            <a:pos x="86" y="111"/>
                          </a:cxn>
                          <a:cxn ang="0">
                            <a:pos x="198" y="94"/>
                          </a:cxn>
                          <a:cxn ang="0">
                            <a:pos x="196" y="85"/>
                          </a:cxn>
                          <a:cxn ang="0">
                            <a:pos x="185" y="87"/>
                          </a:cxn>
                          <a:cxn ang="0">
                            <a:pos x="180" y="57"/>
                          </a:cxn>
                          <a:cxn ang="0">
                            <a:pos x="151" y="31"/>
                          </a:cxn>
                          <a:cxn ang="0">
                            <a:pos x="143" y="5"/>
                          </a:cxn>
                          <a:cxn ang="0">
                            <a:pos x="108" y="10"/>
                          </a:cxn>
                          <a:cxn ang="0">
                            <a:pos x="58" y="0"/>
                          </a:cxn>
                          <a:cxn ang="0">
                            <a:pos x="14" y="7"/>
                          </a:cxn>
                        </a:cxnLst>
                        <a:pathLst>
                          <a:path w="789" h="553">
                            <a:moveTo>
                              <a:pt x="55" y="30"/>
                            </a:moveTo>
                            <a:lnTo>
                              <a:pt x="83" y="173"/>
                            </a:lnTo>
                            <a:lnTo>
                              <a:pt x="33" y="241"/>
                            </a:lnTo>
                            <a:lnTo>
                              <a:pt x="39" y="276"/>
                            </a:lnTo>
                            <a:lnTo>
                              <a:pt x="73" y="270"/>
                            </a:lnTo>
                            <a:lnTo>
                              <a:pt x="100" y="290"/>
                            </a:lnTo>
                            <a:lnTo>
                              <a:pt x="130" y="316"/>
                            </a:lnTo>
                            <a:lnTo>
                              <a:pt x="115" y="330"/>
                            </a:lnTo>
                            <a:lnTo>
                              <a:pt x="131" y="411"/>
                            </a:lnTo>
                            <a:lnTo>
                              <a:pt x="115" y="460"/>
                            </a:lnTo>
                            <a:lnTo>
                              <a:pt x="67" y="467"/>
                            </a:lnTo>
                            <a:lnTo>
                              <a:pt x="64" y="433"/>
                            </a:lnTo>
                            <a:lnTo>
                              <a:pt x="28" y="435"/>
                            </a:lnTo>
                            <a:lnTo>
                              <a:pt x="0" y="491"/>
                            </a:lnTo>
                            <a:lnTo>
                              <a:pt x="81" y="553"/>
                            </a:lnTo>
                            <a:lnTo>
                              <a:pt x="189" y="533"/>
                            </a:lnTo>
                            <a:lnTo>
                              <a:pt x="240" y="489"/>
                            </a:lnTo>
                            <a:lnTo>
                              <a:pt x="345" y="472"/>
                            </a:lnTo>
                            <a:lnTo>
                              <a:pt x="342" y="447"/>
                            </a:lnTo>
                            <a:lnTo>
                              <a:pt x="789" y="377"/>
                            </a:lnTo>
                            <a:lnTo>
                              <a:pt x="784" y="340"/>
                            </a:lnTo>
                            <a:lnTo>
                              <a:pt x="737" y="349"/>
                            </a:lnTo>
                            <a:lnTo>
                              <a:pt x="720" y="231"/>
                            </a:lnTo>
                            <a:lnTo>
                              <a:pt x="604" y="125"/>
                            </a:lnTo>
                            <a:lnTo>
                              <a:pt x="569" y="20"/>
                            </a:lnTo>
                            <a:lnTo>
                              <a:pt x="431" y="41"/>
                            </a:lnTo>
                            <a:lnTo>
                              <a:pt x="230" y="0"/>
                            </a:lnTo>
                            <a:lnTo>
                              <a:pt x="55" y="30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57" name="Freeform 312"/>
                      <p:cNvSpPr/>
                      <p:nvPr/>
                    </p:nvSpPr>
                    <p:spPr>
                      <a:xfrm>
                        <a:off x="2844" y="1692"/>
                        <a:ext cx="147" cy="16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8" y="0"/>
                          </a:cxn>
                          <a:cxn ang="0">
                            <a:pos x="0" y="51"/>
                          </a:cxn>
                          <a:cxn ang="0">
                            <a:pos x="4" y="80"/>
                          </a:cxn>
                          <a:cxn ang="0">
                            <a:pos x="73" y="15"/>
                          </a:cxn>
                          <a:cxn ang="0">
                            <a:pos x="58" y="0"/>
                          </a:cxn>
                        </a:cxnLst>
                        <a:pathLst>
                          <a:path w="296" h="320">
                            <a:moveTo>
                              <a:pt x="233" y="0"/>
                            </a:moveTo>
                            <a:lnTo>
                              <a:pt x="0" y="201"/>
                            </a:lnTo>
                            <a:lnTo>
                              <a:pt x="17" y="320"/>
                            </a:lnTo>
                            <a:lnTo>
                              <a:pt x="296" y="59"/>
                            </a:lnTo>
                            <a:lnTo>
                              <a:pt x="233" y="0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58" name="Freeform 313"/>
                      <p:cNvSpPr/>
                      <p:nvPr/>
                    </p:nvSpPr>
                    <p:spPr>
                      <a:xfrm>
                        <a:off x="2871" y="1804"/>
                        <a:ext cx="77" cy="5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5"/>
                          </a:cxn>
                          <a:cxn ang="0">
                            <a:pos x="17" y="0"/>
                          </a:cxn>
                          <a:cxn ang="0">
                            <a:pos x="39" y="23"/>
                          </a:cxn>
                          <a:cxn ang="0">
                            <a:pos x="13" y="28"/>
                          </a:cxn>
                          <a:cxn ang="0">
                            <a:pos x="0" y="15"/>
                          </a:cxn>
                        </a:cxnLst>
                        <a:pathLst>
                          <a:path w="154" h="115">
                            <a:moveTo>
                              <a:pt x="0" y="61"/>
                            </a:moveTo>
                            <a:lnTo>
                              <a:pt x="65" y="0"/>
                            </a:lnTo>
                            <a:lnTo>
                              <a:pt x="154" y="95"/>
                            </a:lnTo>
                            <a:lnTo>
                              <a:pt x="51" y="115"/>
                            </a:lnTo>
                            <a:lnTo>
                              <a:pt x="0" y="61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59" name="Freeform 314"/>
                      <p:cNvSpPr/>
                      <p:nvPr/>
                    </p:nvSpPr>
                    <p:spPr>
                      <a:xfrm>
                        <a:off x="2936" y="1654"/>
                        <a:ext cx="143" cy="18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8"/>
                          </a:cxn>
                          <a:cxn ang="0">
                            <a:pos x="37" y="39"/>
                          </a:cxn>
                          <a:cxn ang="0">
                            <a:pos x="59" y="91"/>
                          </a:cxn>
                          <a:cxn ang="0">
                            <a:pos x="72" y="89"/>
                          </a:cxn>
                          <a:cxn ang="0">
                            <a:pos x="49" y="31"/>
                          </a:cxn>
                          <a:cxn ang="0">
                            <a:pos x="15" y="0"/>
                          </a:cxn>
                          <a:cxn ang="0">
                            <a:pos x="0" y="8"/>
                          </a:cxn>
                        </a:cxnLst>
                        <a:pathLst>
                          <a:path w="286" h="361">
                            <a:moveTo>
                              <a:pt x="0" y="32"/>
                            </a:moveTo>
                            <a:lnTo>
                              <a:pt x="146" y="154"/>
                            </a:lnTo>
                            <a:lnTo>
                              <a:pt x="236" y="361"/>
                            </a:lnTo>
                            <a:lnTo>
                              <a:pt x="286" y="355"/>
                            </a:lnTo>
                            <a:lnTo>
                              <a:pt x="196" y="122"/>
                            </a:lnTo>
                            <a:lnTo>
                              <a:pt x="57" y="0"/>
                            </a:lnTo>
                            <a:lnTo>
                              <a:pt x="0" y="32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0" name="Freeform 315"/>
                      <p:cNvSpPr/>
                      <p:nvPr/>
                    </p:nvSpPr>
                    <p:spPr>
                      <a:xfrm>
                        <a:off x="3381" y="1628"/>
                        <a:ext cx="111" cy="14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0"/>
                          </a:cxn>
                          <a:cxn ang="0">
                            <a:pos x="8" y="0"/>
                          </a:cxn>
                          <a:cxn ang="0">
                            <a:pos x="51" y="36"/>
                          </a:cxn>
                          <a:cxn ang="0">
                            <a:pos x="56" y="68"/>
                          </a:cxn>
                          <a:cxn ang="0">
                            <a:pos x="45" y="70"/>
                          </a:cxn>
                          <a:cxn ang="0">
                            <a:pos x="40" y="42"/>
                          </a:cxn>
                          <a:cxn ang="0">
                            <a:pos x="0" y="10"/>
                          </a:cxn>
                        </a:cxnLst>
                        <a:pathLst>
                          <a:path w="222" h="280">
                            <a:moveTo>
                              <a:pt x="0" y="39"/>
                            </a:moveTo>
                            <a:lnTo>
                              <a:pt x="29" y="0"/>
                            </a:lnTo>
                            <a:lnTo>
                              <a:pt x="203" y="141"/>
                            </a:lnTo>
                            <a:lnTo>
                              <a:pt x="222" y="270"/>
                            </a:lnTo>
                            <a:lnTo>
                              <a:pt x="179" y="280"/>
                            </a:lnTo>
                            <a:lnTo>
                              <a:pt x="160" y="165"/>
                            </a:lnTo>
                            <a:lnTo>
                              <a:pt x="0" y="39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1" name="Freeform 316"/>
                      <p:cNvSpPr/>
                      <p:nvPr/>
                    </p:nvSpPr>
                    <p:spPr>
                      <a:xfrm>
                        <a:off x="3355" y="1672"/>
                        <a:ext cx="83" cy="10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7" y="0"/>
                          </a:cxn>
                          <a:cxn ang="0">
                            <a:pos x="38" y="25"/>
                          </a:cxn>
                          <a:cxn ang="0">
                            <a:pos x="42" y="50"/>
                          </a:cxn>
                          <a:cxn ang="0">
                            <a:pos x="29" y="53"/>
                          </a:cxn>
                          <a:cxn ang="0">
                            <a:pos x="25" y="27"/>
                          </a:cxn>
                          <a:cxn ang="0">
                            <a:pos x="0" y="9"/>
                          </a:cxn>
                          <a:cxn ang="0">
                            <a:pos x="7" y="0"/>
                          </a:cxn>
                        </a:cxnLst>
                        <a:pathLst>
                          <a:path w="166" h="213">
                            <a:moveTo>
                              <a:pt x="25" y="0"/>
                            </a:moveTo>
                            <a:lnTo>
                              <a:pt x="149" y="100"/>
                            </a:lnTo>
                            <a:lnTo>
                              <a:pt x="166" y="202"/>
                            </a:lnTo>
                            <a:lnTo>
                              <a:pt x="116" y="213"/>
                            </a:lnTo>
                            <a:lnTo>
                              <a:pt x="97" y="110"/>
                            </a:lnTo>
                            <a:lnTo>
                              <a:pt x="0" y="36"/>
                            </a:lnTo>
                            <a:lnTo>
                              <a:pt x="25" y="0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2" name="Freeform 317"/>
                      <p:cNvSpPr/>
                      <p:nvPr/>
                    </p:nvSpPr>
                    <p:spPr>
                      <a:xfrm>
                        <a:off x="3126" y="1714"/>
                        <a:ext cx="133" cy="11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55"/>
                          </a:cxn>
                          <a:cxn ang="0">
                            <a:pos x="3" y="25"/>
                          </a:cxn>
                          <a:cxn ang="0">
                            <a:pos x="17" y="8"/>
                          </a:cxn>
                          <a:cxn ang="0">
                            <a:pos x="66" y="0"/>
                          </a:cxn>
                          <a:cxn ang="0">
                            <a:pos x="61" y="34"/>
                          </a:cxn>
                          <a:cxn ang="0">
                            <a:pos x="61" y="45"/>
                          </a:cxn>
                          <a:cxn ang="0">
                            <a:pos x="0" y="55"/>
                          </a:cxn>
                        </a:cxnLst>
                        <a:pathLst>
                          <a:path w="267" h="220">
                            <a:moveTo>
                              <a:pt x="0" y="220"/>
                            </a:moveTo>
                            <a:lnTo>
                              <a:pt x="15" y="99"/>
                            </a:lnTo>
                            <a:lnTo>
                              <a:pt x="70" y="30"/>
                            </a:lnTo>
                            <a:lnTo>
                              <a:pt x="267" y="0"/>
                            </a:lnTo>
                            <a:lnTo>
                              <a:pt x="245" y="135"/>
                            </a:lnTo>
                            <a:lnTo>
                              <a:pt x="246" y="180"/>
                            </a:lnTo>
                            <a:lnTo>
                              <a:pt x="0" y="220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3" name="Freeform 318"/>
                      <p:cNvSpPr/>
                      <p:nvPr/>
                    </p:nvSpPr>
                    <p:spPr>
                      <a:xfrm>
                        <a:off x="3113" y="1682"/>
                        <a:ext cx="185" cy="13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6" y="68"/>
                          </a:cxn>
                          <a:cxn ang="0">
                            <a:pos x="0" y="34"/>
                          </a:cxn>
                          <a:cxn ang="0">
                            <a:pos x="16" y="12"/>
                          </a:cxn>
                          <a:cxn ang="0">
                            <a:pos x="93" y="0"/>
                          </a:cxn>
                          <a:cxn ang="0">
                            <a:pos x="82" y="30"/>
                          </a:cxn>
                          <a:cxn ang="0">
                            <a:pos x="79" y="58"/>
                          </a:cxn>
                          <a:cxn ang="0">
                            <a:pos x="68" y="60"/>
                          </a:cxn>
                          <a:cxn ang="0">
                            <a:pos x="68" y="48"/>
                          </a:cxn>
                          <a:cxn ang="0">
                            <a:pos x="73" y="15"/>
                          </a:cxn>
                          <a:cxn ang="0">
                            <a:pos x="24" y="23"/>
                          </a:cxn>
                          <a:cxn ang="0">
                            <a:pos x="9" y="40"/>
                          </a:cxn>
                          <a:cxn ang="0">
                            <a:pos x="6" y="68"/>
                          </a:cxn>
                        </a:cxnLst>
                        <a:pathLst>
                          <a:path w="370" h="275">
                            <a:moveTo>
                              <a:pt x="21" y="275"/>
                            </a:moveTo>
                            <a:lnTo>
                              <a:pt x="0" y="137"/>
                            </a:lnTo>
                            <a:lnTo>
                              <a:pt x="63" y="51"/>
                            </a:lnTo>
                            <a:lnTo>
                              <a:pt x="370" y="0"/>
                            </a:lnTo>
                            <a:lnTo>
                              <a:pt x="328" y="122"/>
                            </a:lnTo>
                            <a:lnTo>
                              <a:pt x="316" y="233"/>
                            </a:lnTo>
                            <a:lnTo>
                              <a:pt x="269" y="240"/>
                            </a:lnTo>
                            <a:lnTo>
                              <a:pt x="270" y="195"/>
                            </a:lnTo>
                            <a:lnTo>
                              <a:pt x="289" y="61"/>
                            </a:lnTo>
                            <a:lnTo>
                              <a:pt x="94" y="93"/>
                            </a:lnTo>
                            <a:lnTo>
                              <a:pt x="34" y="162"/>
                            </a:lnTo>
                            <a:lnTo>
                              <a:pt x="21" y="275"/>
                            </a:lnTo>
                            <a:close/>
                          </a:path>
                        </a:pathLst>
                      </a:custGeom>
                      <a:solidFill>
                        <a:srgbClr val="FAFD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4" name="Freeform 319"/>
                      <p:cNvSpPr/>
                      <p:nvPr/>
                    </p:nvSpPr>
                    <p:spPr>
                      <a:xfrm>
                        <a:off x="3106" y="1635"/>
                        <a:ext cx="251" cy="19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00" y="79"/>
                          </a:cxn>
                          <a:cxn ang="0">
                            <a:pos x="108" y="33"/>
                          </a:cxn>
                          <a:cxn ang="0">
                            <a:pos x="126" y="0"/>
                          </a:cxn>
                          <a:cxn ang="0">
                            <a:pos x="29" y="16"/>
                          </a:cxn>
                          <a:cxn ang="0">
                            <a:pos x="0" y="45"/>
                          </a:cxn>
                          <a:cxn ang="0">
                            <a:pos x="8" y="95"/>
                          </a:cxn>
                          <a:cxn ang="0">
                            <a:pos x="2" y="57"/>
                          </a:cxn>
                          <a:cxn ang="0">
                            <a:pos x="20" y="36"/>
                          </a:cxn>
                          <a:cxn ang="0">
                            <a:pos x="96" y="24"/>
                          </a:cxn>
                          <a:cxn ang="0">
                            <a:pos x="86" y="56"/>
                          </a:cxn>
                          <a:cxn ang="0">
                            <a:pos x="83" y="82"/>
                          </a:cxn>
                          <a:cxn ang="0">
                            <a:pos x="100" y="79"/>
                          </a:cxn>
                        </a:cxnLst>
                        <a:pathLst>
                          <a:path w="502" h="379">
                            <a:moveTo>
                              <a:pt x="400" y="315"/>
                            </a:moveTo>
                            <a:lnTo>
                              <a:pt x="429" y="132"/>
                            </a:lnTo>
                            <a:lnTo>
                              <a:pt x="502" y="0"/>
                            </a:lnTo>
                            <a:lnTo>
                              <a:pt x="114" y="63"/>
                            </a:lnTo>
                            <a:lnTo>
                              <a:pt x="0" y="177"/>
                            </a:lnTo>
                            <a:lnTo>
                              <a:pt x="31" y="379"/>
                            </a:lnTo>
                            <a:lnTo>
                              <a:pt x="8" y="225"/>
                            </a:lnTo>
                            <a:lnTo>
                              <a:pt x="80" y="143"/>
                            </a:lnTo>
                            <a:lnTo>
                              <a:pt x="384" y="95"/>
                            </a:lnTo>
                            <a:lnTo>
                              <a:pt x="343" y="221"/>
                            </a:lnTo>
                            <a:lnTo>
                              <a:pt x="331" y="327"/>
                            </a:lnTo>
                            <a:lnTo>
                              <a:pt x="400" y="315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5" name="Freeform 320"/>
                      <p:cNvSpPr/>
                      <p:nvPr/>
                    </p:nvSpPr>
                    <p:spPr>
                      <a:xfrm>
                        <a:off x="3102" y="1604"/>
                        <a:ext cx="303" cy="19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" y="61"/>
                          </a:cxn>
                          <a:cxn ang="0">
                            <a:pos x="0" y="51"/>
                          </a:cxn>
                          <a:cxn ang="0">
                            <a:pos x="31" y="19"/>
                          </a:cxn>
                          <a:cxn ang="0">
                            <a:pos x="152" y="0"/>
                          </a:cxn>
                          <a:cxn ang="0">
                            <a:pos x="124" y="48"/>
                          </a:cxn>
                          <a:cxn ang="0">
                            <a:pos x="117" y="94"/>
                          </a:cxn>
                          <a:cxn ang="0">
                            <a:pos x="102" y="95"/>
                          </a:cxn>
                          <a:cxn ang="0">
                            <a:pos x="109" y="50"/>
                          </a:cxn>
                          <a:cxn ang="0">
                            <a:pos x="128" y="16"/>
                          </a:cxn>
                          <a:cxn ang="0">
                            <a:pos x="31" y="32"/>
                          </a:cxn>
                          <a:cxn ang="0">
                            <a:pos x="2" y="61"/>
                          </a:cxn>
                        </a:cxnLst>
                        <a:pathLst>
                          <a:path w="605" h="380">
                            <a:moveTo>
                              <a:pt x="6" y="241"/>
                            </a:moveTo>
                            <a:lnTo>
                              <a:pt x="0" y="204"/>
                            </a:lnTo>
                            <a:lnTo>
                              <a:pt x="124" y="74"/>
                            </a:lnTo>
                            <a:lnTo>
                              <a:pt x="605" y="0"/>
                            </a:lnTo>
                            <a:lnTo>
                              <a:pt x="493" y="189"/>
                            </a:lnTo>
                            <a:lnTo>
                              <a:pt x="466" y="373"/>
                            </a:lnTo>
                            <a:lnTo>
                              <a:pt x="408" y="380"/>
                            </a:lnTo>
                            <a:lnTo>
                              <a:pt x="434" y="198"/>
                            </a:lnTo>
                            <a:lnTo>
                              <a:pt x="511" y="62"/>
                            </a:lnTo>
                            <a:lnTo>
                              <a:pt x="121" y="125"/>
                            </a:lnTo>
                            <a:lnTo>
                              <a:pt x="6" y="241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6" name="Freeform 321"/>
                      <p:cNvSpPr/>
                      <p:nvPr/>
                    </p:nvSpPr>
                    <p:spPr>
                      <a:xfrm>
                        <a:off x="3173" y="1558"/>
                        <a:ext cx="78" cy="7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"/>
                          </a:cxn>
                          <a:cxn ang="0">
                            <a:pos x="3" y="22"/>
                          </a:cxn>
                          <a:cxn ang="0">
                            <a:pos x="36" y="17"/>
                          </a:cxn>
                          <a:cxn ang="0">
                            <a:pos x="39" y="34"/>
                          </a:cxn>
                          <a:cxn ang="0">
                            <a:pos x="23" y="37"/>
                          </a:cxn>
                          <a:cxn ang="0">
                            <a:pos x="18" y="0"/>
                          </a:cxn>
                          <a:cxn ang="0">
                            <a:pos x="0" y="3"/>
                          </a:cxn>
                        </a:cxnLst>
                        <a:pathLst>
                          <a:path w="155" h="145">
                            <a:moveTo>
                              <a:pt x="0" y="12"/>
                            </a:moveTo>
                            <a:lnTo>
                              <a:pt x="12" y="85"/>
                            </a:lnTo>
                            <a:lnTo>
                              <a:pt x="144" y="65"/>
                            </a:lnTo>
                            <a:lnTo>
                              <a:pt x="155" y="134"/>
                            </a:lnTo>
                            <a:lnTo>
                              <a:pt x="90" y="145"/>
                            </a:lnTo>
                            <a:lnTo>
                              <a:pt x="69" y="0"/>
                            </a:lnTo>
                            <a:lnTo>
                              <a:pt x="0" y="12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7" name="Freeform 322"/>
                      <p:cNvSpPr/>
                      <p:nvPr/>
                    </p:nvSpPr>
                    <p:spPr>
                      <a:xfrm>
                        <a:off x="3208" y="1554"/>
                        <a:ext cx="78" cy="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2"/>
                          </a:cxn>
                          <a:cxn ang="0">
                            <a:pos x="3" y="20"/>
                          </a:cxn>
                          <a:cxn ang="0">
                            <a:pos x="37" y="15"/>
                          </a:cxn>
                          <a:cxn ang="0">
                            <a:pos x="39" y="33"/>
                          </a:cxn>
                          <a:cxn ang="0">
                            <a:pos x="23" y="35"/>
                          </a:cxn>
                          <a:cxn ang="0">
                            <a:pos x="18" y="0"/>
                          </a:cxn>
                          <a:cxn ang="0">
                            <a:pos x="0" y="2"/>
                          </a:cxn>
                        </a:cxnLst>
                        <a:pathLst>
                          <a:path w="155" h="142">
                            <a:moveTo>
                              <a:pt x="0" y="11"/>
                            </a:moveTo>
                            <a:lnTo>
                              <a:pt x="11" y="83"/>
                            </a:lnTo>
                            <a:lnTo>
                              <a:pt x="147" y="63"/>
                            </a:lnTo>
                            <a:lnTo>
                              <a:pt x="155" y="133"/>
                            </a:lnTo>
                            <a:lnTo>
                              <a:pt x="92" y="142"/>
                            </a:lnTo>
                            <a:lnTo>
                              <a:pt x="70" y="0"/>
                            </a:lnTo>
                            <a:lnTo>
                              <a:pt x="0" y="11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8" name="Freeform 323"/>
                      <p:cNvSpPr/>
                      <p:nvPr/>
                    </p:nvSpPr>
                    <p:spPr>
                      <a:xfrm>
                        <a:off x="3242" y="1547"/>
                        <a:ext cx="77" cy="7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"/>
                          </a:cxn>
                          <a:cxn ang="0">
                            <a:pos x="3" y="22"/>
                          </a:cxn>
                          <a:cxn ang="0">
                            <a:pos x="37" y="16"/>
                          </a:cxn>
                          <a:cxn ang="0">
                            <a:pos x="39" y="34"/>
                          </a:cxn>
                          <a:cxn ang="0">
                            <a:pos x="23" y="37"/>
                          </a:cxn>
                          <a:cxn ang="0">
                            <a:pos x="17" y="0"/>
                          </a:cxn>
                          <a:cxn ang="0">
                            <a:pos x="0" y="3"/>
                          </a:cxn>
                        </a:cxnLst>
                        <a:pathLst>
                          <a:path w="153" h="145">
                            <a:moveTo>
                              <a:pt x="0" y="11"/>
                            </a:moveTo>
                            <a:lnTo>
                              <a:pt x="11" y="85"/>
                            </a:lnTo>
                            <a:lnTo>
                              <a:pt x="145" y="63"/>
                            </a:lnTo>
                            <a:lnTo>
                              <a:pt x="153" y="134"/>
                            </a:lnTo>
                            <a:lnTo>
                              <a:pt x="89" y="145"/>
                            </a:lnTo>
                            <a:lnTo>
                              <a:pt x="67" y="0"/>
                            </a:lnTo>
                            <a:lnTo>
                              <a:pt x="0" y="11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69" name="Freeform 324"/>
                      <p:cNvSpPr/>
                      <p:nvPr/>
                    </p:nvSpPr>
                    <p:spPr>
                      <a:xfrm>
                        <a:off x="3278" y="1540"/>
                        <a:ext cx="77" cy="7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"/>
                          </a:cxn>
                          <a:cxn ang="0">
                            <a:pos x="3" y="21"/>
                          </a:cxn>
                          <a:cxn ang="0">
                            <a:pos x="36" y="16"/>
                          </a:cxn>
                          <a:cxn ang="0">
                            <a:pos x="39" y="34"/>
                          </a:cxn>
                          <a:cxn ang="0">
                            <a:pos x="23" y="36"/>
                          </a:cxn>
                          <a:cxn ang="0">
                            <a:pos x="17" y="0"/>
                          </a:cxn>
                          <a:cxn ang="0">
                            <a:pos x="0" y="3"/>
                          </a:cxn>
                        </a:cxnLst>
                        <a:pathLst>
                          <a:path w="154" h="147">
                            <a:moveTo>
                              <a:pt x="0" y="14"/>
                            </a:moveTo>
                            <a:lnTo>
                              <a:pt x="11" y="87"/>
                            </a:lnTo>
                            <a:lnTo>
                              <a:pt x="144" y="66"/>
                            </a:lnTo>
                            <a:lnTo>
                              <a:pt x="154" y="136"/>
                            </a:lnTo>
                            <a:lnTo>
                              <a:pt x="89" y="147"/>
                            </a:lnTo>
                            <a:lnTo>
                              <a:pt x="67" y="0"/>
                            </a:lnTo>
                            <a:lnTo>
                              <a:pt x="0" y="14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0" name="Freeform 325"/>
                      <p:cNvSpPr/>
                      <p:nvPr/>
                    </p:nvSpPr>
                    <p:spPr>
                      <a:xfrm>
                        <a:off x="3314" y="1536"/>
                        <a:ext cx="77" cy="7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"/>
                          </a:cxn>
                          <a:cxn ang="0">
                            <a:pos x="3" y="21"/>
                          </a:cxn>
                          <a:cxn ang="0">
                            <a:pos x="36" y="17"/>
                          </a:cxn>
                          <a:cxn ang="0">
                            <a:pos x="38" y="34"/>
                          </a:cxn>
                          <a:cxn ang="0">
                            <a:pos x="22" y="36"/>
                          </a:cxn>
                          <a:cxn ang="0">
                            <a:pos x="17" y="0"/>
                          </a:cxn>
                          <a:cxn ang="0">
                            <a:pos x="0" y="3"/>
                          </a:cxn>
                        </a:cxnLst>
                        <a:pathLst>
                          <a:path w="156" h="144">
                            <a:moveTo>
                              <a:pt x="0" y="10"/>
                            </a:moveTo>
                            <a:lnTo>
                              <a:pt x="14" y="84"/>
                            </a:lnTo>
                            <a:lnTo>
                              <a:pt x="145" y="65"/>
                            </a:lnTo>
                            <a:lnTo>
                              <a:pt x="156" y="133"/>
                            </a:lnTo>
                            <a:lnTo>
                              <a:pt x="92" y="144"/>
                            </a:lnTo>
                            <a:lnTo>
                              <a:pt x="70" y="0"/>
                            </a:lnTo>
                            <a:lnTo>
                              <a:pt x="0" y="10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1" name="Freeform 326"/>
                      <p:cNvSpPr/>
                      <p:nvPr/>
                    </p:nvSpPr>
                    <p:spPr>
                      <a:xfrm>
                        <a:off x="3347" y="1531"/>
                        <a:ext cx="77" cy="7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"/>
                          </a:cxn>
                          <a:cxn ang="0">
                            <a:pos x="2" y="21"/>
                          </a:cxn>
                          <a:cxn ang="0">
                            <a:pos x="36" y="16"/>
                          </a:cxn>
                          <a:cxn ang="0">
                            <a:pos x="38" y="34"/>
                          </a:cxn>
                          <a:cxn ang="0">
                            <a:pos x="22" y="36"/>
                          </a:cxn>
                          <a:cxn ang="0">
                            <a:pos x="17" y="0"/>
                          </a:cxn>
                          <a:cxn ang="0">
                            <a:pos x="0" y="3"/>
                          </a:cxn>
                        </a:cxnLst>
                        <a:pathLst>
                          <a:path w="156" h="144">
                            <a:moveTo>
                              <a:pt x="0" y="10"/>
                            </a:moveTo>
                            <a:lnTo>
                              <a:pt x="11" y="84"/>
                            </a:lnTo>
                            <a:lnTo>
                              <a:pt x="145" y="64"/>
                            </a:lnTo>
                            <a:lnTo>
                              <a:pt x="156" y="134"/>
                            </a:lnTo>
                            <a:lnTo>
                              <a:pt x="92" y="144"/>
                            </a:lnTo>
                            <a:lnTo>
                              <a:pt x="70" y="0"/>
                            </a:lnTo>
                            <a:lnTo>
                              <a:pt x="0" y="10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2" name="Freeform 327"/>
                      <p:cNvSpPr/>
                      <p:nvPr/>
                    </p:nvSpPr>
                    <p:spPr>
                      <a:xfrm>
                        <a:off x="3379" y="1525"/>
                        <a:ext cx="78" cy="7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3"/>
                          </a:cxn>
                          <a:cxn ang="0">
                            <a:pos x="3" y="22"/>
                          </a:cxn>
                          <a:cxn ang="0">
                            <a:pos x="36" y="17"/>
                          </a:cxn>
                          <a:cxn ang="0">
                            <a:pos x="39" y="34"/>
                          </a:cxn>
                          <a:cxn ang="0">
                            <a:pos x="23" y="37"/>
                          </a:cxn>
                          <a:cxn ang="0">
                            <a:pos x="18" y="0"/>
                          </a:cxn>
                          <a:cxn ang="0">
                            <a:pos x="0" y="3"/>
                          </a:cxn>
                        </a:cxnLst>
                        <a:pathLst>
                          <a:path w="155" h="145">
                            <a:moveTo>
                              <a:pt x="0" y="12"/>
                            </a:moveTo>
                            <a:lnTo>
                              <a:pt x="11" y="85"/>
                            </a:lnTo>
                            <a:lnTo>
                              <a:pt x="144" y="65"/>
                            </a:lnTo>
                            <a:lnTo>
                              <a:pt x="155" y="134"/>
                            </a:lnTo>
                            <a:lnTo>
                              <a:pt x="89" y="145"/>
                            </a:lnTo>
                            <a:lnTo>
                              <a:pt x="70" y="0"/>
                            </a:lnTo>
                            <a:lnTo>
                              <a:pt x="0" y="12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3" name="Freeform 328"/>
                      <p:cNvSpPr/>
                      <p:nvPr/>
                    </p:nvSpPr>
                    <p:spPr>
                      <a:xfrm>
                        <a:off x="2988" y="1615"/>
                        <a:ext cx="135" cy="2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1"/>
                          </a:cxn>
                          <a:cxn ang="0">
                            <a:pos x="35" y="42"/>
                          </a:cxn>
                          <a:cxn ang="0">
                            <a:pos x="56" y="108"/>
                          </a:cxn>
                          <a:cxn ang="0">
                            <a:pos x="67" y="105"/>
                          </a:cxn>
                          <a:cxn ang="0">
                            <a:pos x="54" y="38"/>
                          </a:cxn>
                          <a:cxn ang="0">
                            <a:pos x="19" y="0"/>
                          </a:cxn>
                          <a:cxn ang="0">
                            <a:pos x="0" y="11"/>
                          </a:cxn>
                        </a:cxnLst>
                        <a:pathLst>
                          <a:path w="271" h="430">
                            <a:moveTo>
                              <a:pt x="0" y="42"/>
                            </a:moveTo>
                            <a:lnTo>
                              <a:pt x="140" y="167"/>
                            </a:lnTo>
                            <a:lnTo>
                              <a:pt x="224" y="430"/>
                            </a:lnTo>
                            <a:lnTo>
                              <a:pt x="271" y="417"/>
                            </a:lnTo>
                            <a:lnTo>
                              <a:pt x="216" y="149"/>
                            </a:lnTo>
                            <a:lnTo>
                              <a:pt x="77" y="0"/>
                            </a:lnTo>
                            <a:lnTo>
                              <a:pt x="0" y="42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4" name="Freeform 329"/>
                      <p:cNvSpPr/>
                      <p:nvPr/>
                    </p:nvSpPr>
                    <p:spPr>
                      <a:xfrm>
                        <a:off x="2998" y="1316"/>
                        <a:ext cx="283" cy="3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9"/>
                          </a:cxn>
                          <a:cxn ang="0">
                            <a:pos x="63" y="0"/>
                          </a:cxn>
                          <a:cxn ang="0">
                            <a:pos x="108" y="10"/>
                          </a:cxn>
                          <a:cxn ang="0">
                            <a:pos x="140" y="5"/>
                          </a:cxn>
                          <a:cxn ang="0">
                            <a:pos x="142" y="12"/>
                          </a:cxn>
                          <a:cxn ang="0">
                            <a:pos x="109" y="17"/>
                          </a:cxn>
                          <a:cxn ang="0">
                            <a:pos x="62" y="6"/>
                          </a:cxn>
                          <a:cxn ang="0">
                            <a:pos x="7" y="15"/>
                          </a:cxn>
                          <a:cxn ang="0">
                            <a:pos x="0" y="9"/>
                          </a:cxn>
                        </a:cxnLst>
                        <a:pathLst>
                          <a:path w="566" h="69">
                            <a:moveTo>
                              <a:pt x="0" y="36"/>
                            </a:moveTo>
                            <a:lnTo>
                              <a:pt x="250" y="0"/>
                            </a:lnTo>
                            <a:lnTo>
                              <a:pt x="430" y="40"/>
                            </a:lnTo>
                            <a:lnTo>
                              <a:pt x="559" y="20"/>
                            </a:lnTo>
                            <a:lnTo>
                              <a:pt x="566" y="49"/>
                            </a:lnTo>
                            <a:lnTo>
                              <a:pt x="436" y="69"/>
                            </a:lnTo>
                            <a:lnTo>
                              <a:pt x="248" y="27"/>
                            </a:lnTo>
                            <a:lnTo>
                              <a:pt x="28" y="61"/>
                            </a:lnTo>
                            <a:lnTo>
                              <a:pt x="0" y="36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5" name="Freeform 330"/>
                      <p:cNvSpPr/>
                      <p:nvPr/>
                    </p:nvSpPr>
                    <p:spPr>
                      <a:xfrm>
                        <a:off x="3264" y="1359"/>
                        <a:ext cx="98" cy="1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14" y="30"/>
                          </a:cxn>
                          <a:cxn ang="0">
                            <a:pos x="45" y="58"/>
                          </a:cxn>
                          <a:cxn ang="0">
                            <a:pos x="49" y="88"/>
                          </a:cxn>
                          <a:cxn ang="0">
                            <a:pos x="41" y="91"/>
                          </a:cxn>
                          <a:cxn ang="0">
                            <a:pos x="36" y="60"/>
                          </a:cxn>
                          <a:cxn ang="0">
                            <a:pos x="5" y="31"/>
                          </a:cxn>
                          <a:cxn ang="0">
                            <a:pos x="0" y="2"/>
                          </a:cxn>
                          <a:cxn ang="0">
                            <a:pos x="9" y="0"/>
                          </a:cxn>
                        </a:cxnLst>
                        <a:pathLst>
                          <a:path w="197" h="363">
                            <a:moveTo>
                              <a:pt x="37" y="0"/>
                            </a:moveTo>
                            <a:lnTo>
                              <a:pt x="58" y="118"/>
                            </a:lnTo>
                            <a:lnTo>
                              <a:pt x="180" y="229"/>
                            </a:lnTo>
                            <a:lnTo>
                              <a:pt x="197" y="350"/>
                            </a:lnTo>
                            <a:lnTo>
                              <a:pt x="164" y="363"/>
                            </a:lnTo>
                            <a:lnTo>
                              <a:pt x="147" y="239"/>
                            </a:lnTo>
                            <a:lnTo>
                              <a:pt x="22" y="124"/>
                            </a:lnTo>
                            <a:lnTo>
                              <a:pt x="0" y="8"/>
                            </a:lnTo>
                            <a:lnTo>
                              <a:pt x="37" y="0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6" name="Freeform 331"/>
                      <p:cNvSpPr/>
                      <p:nvPr/>
                    </p:nvSpPr>
                    <p:spPr>
                      <a:xfrm>
                        <a:off x="3224" y="1365"/>
                        <a:ext cx="97" cy="1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1" y="0"/>
                          </a:cxn>
                          <a:cxn ang="0">
                            <a:pos x="15" y="31"/>
                          </a:cxn>
                          <a:cxn ang="0">
                            <a:pos x="45" y="60"/>
                          </a:cxn>
                          <a:cxn ang="0">
                            <a:pos x="49" y="88"/>
                          </a:cxn>
                          <a:cxn ang="0">
                            <a:pos x="38" y="91"/>
                          </a:cxn>
                          <a:cxn ang="0">
                            <a:pos x="34" y="61"/>
                          </a:cxn>
                          <a:cxn ang="0">
                            <a:pos x="5" y="33"/>
                          </a:cxn>
                          <a:cxn ang="0">
                            <a:pos x="0" y="1"/>
                          </a:cxn>
                          <a:cxn ang="0">
                            <a:pos x="11" y="0"/>
                          </a:cxn>
                        </a:cxnLst>
                        <a:pathLst>
                          <a:path w="194" h="364">
                            <a:moveTo>
                              <a:pt x="41" y="0"/>
                            </a:moveTo>
                            <a:lnTo>
                              <a:pt x="59" y="124"/>
                            </a:lnTo>
                            <a:lnTo>
                              <a:pt x="177" y="237"/>
                            </a:lnTo>
                            <a:lnTo>
                              <a:pt x="194" y="352"/>
                            </a:lnTo>
                            <a:lnTo>
                              <a:pt x="149" y="364"/>
                            </a:lnTo>
                            <a:lnTo>
                              <a:pt x="136" y="244"/>
                            </a:lnTo>
                            <a:lnTo>
                              <a:pt x="19" y="131"/>
                            </a:lnTo>
                            <a:lnTo>
                              <a:pt x="0" y="2"/>
                            </a:lnTo>
                            <a:lnTo>
                              <a:pt x="41" y="0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7" name="Freeform 332"/>
                      <p:cNvSpPr/>
                      <p:nvPr/>
                    </p:nvSpPr>
                    <p:spPr>
                      <a:xfrm>
                        <a:off x="3179" y="1361"/>
                        <a:ext cx="99" cy="19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1" y="4"/>
                          </a:cxn>
                          <a:cxn ang="0">
                            <a:pos x="15" y="36"/>
                          </a:cxn>
                          <a:cxn ang="0">
                            <a:pos x="45" y="66"/>
                          </a:cxn>
                          <a:cxn ang="0">
                            <a:pos x="50" y="95"/>
                          </a:cxn>
                          <a:cxn ang="0">
                            <a:pos x="41" y="95"/>
                          </a:cxn>
                          <a:cxn ang="0">
                            <a:pos x="37" y="69"/>
                          </a:cxn>
                          <a:cxn ang="0">
                            <a:pos x="6" y="37"/>
                          </a:cxn>
                          <a:cxn ang="0">
                            <a:pos x="0" y="0"/>
                          </a:cxn>
                          <a:cxn ang="0">
                            <a:pos x="11" y="4"/>
                          </a:cxn>
                        </a:cxnLst>
                        <a:pathLst>
                          <a:path w="196" h="380">
                            <a:moveTo>
                              <a:pt x="44" y="13"/>
                            </a:moveTo>
                            <a:lnTo>
                              <a:pt x="60" y="142"/>
                            </a:lnTo>
                            <a:lnTo>
                              <a:pt x="179" y="264"/>
                            </a:lnTo>
                            <a:lnTo>
                              <a:pt x="196" y="378"/>
                            </a:lnTo>
                            <a:lnTo>
                              <a:pt x="160" y="380"/>
                            </a:lnTo>
                            <a:lnTo>
                              <a:pt x="145" y="274"/>
                            </a:lnTo>
                            <a:lnTo>
                              <a:pt x="21" y="148"/>
                            </a:lnTo>
                            <a:lnTo>
                              <a:pt x="0" y="0"/>
                            </a:lnTo>
                            <a:lnTo>
                              <a:pt x="44" y="13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8" name="Freeform 333"/>
                      <p:cNvSpPr/>
                      <p:nvPr/>
                    </p:nvSpPr>
                    <p:spPr>
                      <a:xfrm>
                        <a:off x="3049" y="1468"/>
                        <a:ext cx="77" cy="6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1"/>
                          </a:cxn>
                          <a:cxn ang="0">
                            <a:pos x="28" y="22"/>
                          </a:cxn>
                          <a:cxn ang="0">
                            <a:pos x="35" y="16"/>
                          </a:cxn>
                          <a:cxn ang="0">
                            <a:pos x="38" y="0"/>
                          </a:cxn>
                          <a:cxn ang="0">
                            <a:pos x="29" y="12"/>
                          </a:cxn>
                          <a:cxn ang="0">
                            <a:pos x="15" y="32"/>
                          </a:cxn>
                          <a:cxn ang="0">
                            <a:pos x="6" y="33"/>
                          </a:cxn>
                          <a:cxn ang="0">
                            <a:pos x="13" y="22"/>
                          </a:cxn>
                          <a:cxn ang="0">
                            <a:pos x="0" y="11"/>
                          </a:cxn>
                        </a:cxnLst>
                        <a:pathLst>
                          <a:path w="156" h="136">
                            <a:moveTo>
                              <a:pt x="0" y="44"/>
                            </a:moveTo>
                            <a:lnTo>
                              <a:pt x="113" y="92"/>
                            </a:lnTo>
                            <a:lnTo>
                              <a:pt x="143" y="64"/>
                            </a:lnTo>
                            <a:lnTo>
                              <a:pt x="156" y="0"/>
                            </a:lnTo>
                            <a:lnTo>
                              <a:pt x="120" y="51"/>
                            </a:lnTo>
                            <a:lnTo>
                              <a:pt x="63" y="130"/>
                            </a:lnTo>
                            <a:lnTo>
                              <a:pt x="24" y="136"/>
                            </a:lnTo>
                            <a:lnTo>
                              <a:pt x="53" y="92"/>
                            </a:lnTo>
                            <a:lnTo>
                              <a:pt x="0" y="44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79" name="Freeform 334"/>
                      <p:cNvSpPr/>
                      <p:nvPr/>
                    </p:nvSpPr>
                    <p:spPr>
                      <a:xfrm>
                        <a:off x="3137" y="1353"/>
                        <a:ext cx="102" cy="20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0" y="3"/>
                          </a:cxn>
                          <a:cxn ang="0">
                            <a:pos x="16" y="44"/>
                          </a:cxn>
                          <a:cxn ang="0">
                            <a:pos x="47" y="74"/>
                          </a:cxn>
                          <a:cxn ang="0">
                            <a:pos x="51" y="102"/>
                          </a:cxn>
                          <a:cxn ang="0">
                            <a:pos x="43" y="105"/>
                          </a:cxn>
                          <a:cxn ang="0">
                            <a:pos x="39" y="77"/>
                          </a:cxn>
                          <a:cxn ang="0">
                            <a:pos x="8" y="47"/>
                          </a:cxn>
                          <a:cxn ang="0">
                            <a:pos x="0" y="0"/>
                          </a:cxn>
                          <a:cxn ang="0">
                            <a:pos x="10" y="3"/>
                          </a:cxn>
                        </a:cxnLst>
                        <a:pathLst>
                          <a:path w="204" h="418">
                            <a:moveTo>
                              <a:pt x="39" y="10"/>
                            </a:moveTo>
                            <a:lnTo>
                              <a:pt x="63" y="174"/>
                            </a:lnTo>
                            <a:lnTo>
                              <a:pt x="187" y="295"/>
                            </a:lnTo>
                            <a:lnTo>
                              <a:pt x="204" y="408"/>
                            </a:lnTo>
                            <a:lnTo>
                              <a:pt x="170" y="418"/>
                            </a:lnTo>
                            <a:lnTo>
                              <a:pt x="153" y="308"/>
                            </a:lnTo>
                            <a:lnTo>
                              <a:pt x="30" y="186"/>
                            </a:lnTo>
                            <a:lnTo>
                              <a:pt x="0" y="0"/>
                            </a:lnTo>
                            <a:lnTo>
                              <a:pt x="39" y="10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80" name="Freeform 335"/>
                      <p:cNvSpPr/>
                      <p:nvPr/>
                    </p:nvSpPr>
                    <p:spPr>
                      <a:xfrm>
                        <a:off x="3047" y="1401"/>
                        <a:ext cx="51" cy="3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6" y="13"/>
                          </a:cxn>
                          <a:cxn ang="0">
                            <a:pos x="0" y="17"/>
                          </a:cxn>
                          <a:cxn ang="0">
                            <a:pos x="8" y="11"/>
                          </a:cxn>
                          <a:cxn ang="0">
                            <a:pos x="0" y="0"/>
                          </a:cxn>
                        </a:cxnLst>
                        <a:pathLst>
                          <a:path w="100" h="67">
                            <a:moveTo>
                              <a:pt x="0" y="0"/>
                            </a:moveTo>
                            <a:lnTo>
                              <a:pt x="100" y="52"/>
                            </a:lnTo>
                            <a:lnTo>
                              <a:pt x="0" y="67"/>
                            </a:lnTo>
                            <a:lnTo>
                              <a:pt x="31" y="43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7516" name="Group 336"/>
                  <p:cNvGrpSpPr/>
                  <p:nvPr/>
                </p:nvGrpSpPr>
                <p:grpSpPr>
                  <a:xfrm>
                    <a:off x="2851" y="1756"/>
                    <a:ext cx="718" cy="633"/>
                    <a:chOff x="2851" y="1756"/>
                    <a:chExt cx="718" cy="633"/>
                  </a:xfrm>
                </p:grpSpPr>
                <p:grpSp>
                  <p:nvGrpSpPr>
                    <p:cNvPr id="7517" name="Group 337"/>
                    <p:cNvGrpSpPr/>
                    <p:nvPr/>
                  </p:nvGrpSpPr>
                  <p:grpSpPr>
                    <a:xfrm>
                      <a:off x="2851" y="1756"/>
                      <a:ext cx="710" cy="633"/>
                      <a:chOff x="2851" y="1756"/>
                      <a:chExt cx="710" cy="633"/>
                    </a:xfrm>
                  </p:grpSpPr>
                  <p:sp>
                    <p:nvSpPr>
                      <p:cNvPr id="7519" name="Freeform 338"/>
                      <p:cNvSpPr/>
                      <p:nvPr/>
                    </p:nvSpPr>
                    <p:spPr>
                      <a:xfrm>
                        <a:off x="2851" y="1756"/>
                        <a:ext cx="710" cy="32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43" y="138"/>
                          </a:cxn>
                          <a:cxn ang="0">
                            <a:pos x="355" y="69"/>
                          </a:cxn>
                          <a:cxn ang="0">
                            <a:pos x="344" y="0"/>
                          </a:cxn>
                          <a:cxn ang="0">
                            <a:pos x="276" y="11"/>
                          </a:cxn>
                          <a:cxn ang="0">
                            <a:pos x="295" y="46"/>
                          </a:cxn>
                          <a:cxn ang="0">
                            <a:pos x="277" y="64"/>
                          </a:cxn>
                          <a:cxn ang="0">
                            <a:pos x="263" y="13"/>
                          </a:cxn>
                          <a:cxn ang="0">
                            <a:pos x="0" y="56"/>
                          </a:cxn>
                          <a:cxn ang="0">
                            <a:pos x="9" y="106"/>
                          </a:cxn>
                          <a:cxn ang="0">
                            <a:pos x="86" y="165"/>
                          </a:cxn>
                          <a:cxn ang="0">
                            <a:pos x="243" y="138"/>
                          </a:cxn>
                        </a:cxnLst>
                        <a:pathLst>
                          <a:path w="1420" h="658">
                            <a:moveTo>
                              <a:pt x="971" y="549"/>
                            </a:moveTo>
                            <a:lnTo>
                              <a:pt x="1420" y="276"/>
                            </a:lnTo>
                            <a:lnTo>
                              <a:pt x="1376" y="0"/>
                            </a:lnTo>
                            <a:lnTo>
                              <a:pt x="1104" y="44"/>
                            </a:lnTo>
                            <a:lnTo>
                              <a:pt x="1177" y="183"/>
                            </a:lnTo>
                            <a:lnTo>
                              <a:pt x="1105" y="254"/>
                            </a:lnTo>
                            <a:lnTo>
                              <a:pt x="1051" y="51"/>
                            </a:lnTo>
                            <a:lnTo>
                              <a:pt x="0" y="222"/>
                            </a:lnTo>
                            <a:lnTo>
                              <a:pt x="33" y="421"/>
                            </a:lnTo>
                            <a:lnTo>
                              <a:pt x="342" y="658"/>
                            </a:lnTo>
                            <a:lnTo>
                              <a:pt x="971" y="549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0" name="Freeform 339"/>
                      <p:cNvSpPr/>
                      <p:nvPr/>
                    </p:nvSpPr>
                    <p:spPr>
                      <a:xfrm>
                        <a:off x="2870" y="1971"/>
                        <a:ext cx="101" cy="39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3" y="199"/>
                          </a:cxn>
                          <a:cxn ang="0">
                            <a:pos x="0" y="0"/>
                          </a:cxn>
                          <a:cxn ang="0">
                            <a:pos x="26" y="20"/>
                          </a:cxn>
                          <a:cxn ang="0">
                            <a:pos x="51" y="184"/>
                          </a:cxn>
                          <a:cxn ang="0">
                            <a:pos x="33" y="199"/>
                          </a:cxn>
                        </a:cxnLst>
                        <a:pathLst>
                          <a:path w="200" h="795">
                            <a:moveTo>
                              <a:pt x="128" y="795"/>
                            </a:moveTo>
                            <a:lnTo>
                              <a:pt x="0" y="0"/>
                            </a:lnTo>
                            <a:lnTo>
                              <a:pt x="100" y="77"/>
                            </a:lnTo>
                            <a:lnTo>
                              <a:pt x="200" y="736"/>
                            </a:lnTo>
                            <a:lnTo>
                              <a:pt x="128" y="795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1" name="Freeform 340"/>
                      <p:cNvSpPr/>
                      <p:nvPr/>
                    </p:nvSpPr>
                    <p:spPr>
                      <a:xfrm>
                        <a:off x="2957" y="2234"/>
                        <a:ext cx="38" cy="6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32"/>
                          </a:cxn>
                          <a:cxn ang="0">
                            <a:pos x="5" y="35"/>
                          </a:cxn>
                          <a:cxn ang="0">
                            <a:pos x="0" y="3"/>
                          </a:cxn>
                          <a:cxn ang="0">
                            <a:pos x="15" y="0"/>
                          </a:cxn>
                          <a:cxn ang="0">
                            <a:pos x="19" y="32"/>
                          </a:cxn>
                        </a:cxnLst>
                        <a:pathLst>
                          <a:path w="76" h="138">
                            <a:moveTo>
                              <a:pt x="76" y="128"/>
                            </a:moveTo>
                            <a:lnTo>
                              <a:pt x="20" y="138"/>
                            </a:lnTo>
                            <a:lnTo>
                              <a:pt x="0" y="9"/>
                            </a:lnTo>
                            <a:lnTo>
                              <a:pt x="58" y="0"/>
                            </a:lnTo>
                            <a:lnTo>
                              <a:pt x="76" y="128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2" name="Freeform 341"/>
                      <p:cNvSpPr/>
                      <p:nvPr/>
                    </p:nvSpPr>
                    <p:spPr>
                      <a:xfrm>
                        <a:off x="2982" y="2177"/>
                        <a:ext cx="87" cy="18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" y="65"/>
                          </a:cxn>
                          <a:cxn ang="0">
                            <a:pos x="12" y="90"/>
                          </a:cxn>
                          <a:cxn ang="0">
                            <a:pos x="43" y="50"/>
                          </a:cxn>
                          <a:cxn ang="0">
                            <a:pos x="40" y="29"/>
                          </a:cxn>
                          <a:cxn ang="0">
                            <a:pos x="0" y="0"/>
                          </a:cxn>
                          <a:cxn ang="0">
                            <a:pos x="4" y="29"/>
                          </a:cxn>
                          <a:cxn ang="0">
                            <a:pos x="28" y="42"/>
                          </a:cxn>
                          <a:cxn ang="0">
                            <a:pos x="8" y="65"/>
                          </a:cxn>
                        </a:cxnLst>
                        <a:pathLst>
                          <a:path w="175" h="360">
                            <a:moveTo>
                              <a:pt x="33" y="257"/>
                            </a:moveTo>
                            <a:lnTo>
                              <a:pt x="48" y="360"/>
                            </a:lnTo>
                            <a:lnTo>
                              <a:pt x="175" y="198"/>
                            </a:lnTo>
                            <a:lnTo>
                              <a:pt x="162" y="114"/>
                            </a:lnTo>
                            <a:lnTo>
                              <a:pt x="0" y="0"/>
                            </a:lnTo>
                            <a:lnTo>
                              <a:pt x="16" y="114"/>
                            </a:lnTo>
                            <a:lnTo>
                              <a:pt x="113" y="165"/>
                            </a:lnTo>
                            <a:lnTo>
                              <a:pt x="33" y="257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3" name="Freeform 342"/>
                      <p:cNvSpPr/>
                      <p:nvPr/>
                    </p:nvSpPr>
                    <p:spPr>
                      <a:xfrm>
                        <a:off x="3049" y="2258"/>
                        <a:ext cx="396" cy="13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8" y="40"/>
                          </a:cxn>
                          <a:cxn ang="0">
                            <a:pos x="0" y="66"/>
                          </a:cxn>
                          <a:cxn ang="0">
                            <a:pos x="32" y="21"/>
                          </a:cxn>
                          <a:cxn ang="0">
                            <a:pos x="30" y="6"/>
                          </a:cxn>
                          <a:cxn ang="0">
                            <a:pos x="65" y="0"/>
                          </a:cxn>
                          <a:cxn ang="0">
                            <a:pos x="114" y="10"/>
                          </a:cxn>
                          <a:cxn ang="0">
                            <a:pos x="159" y="4"/>
                          </a:cxn>
                          <a:cxn ang="0">
                            <a:pos x="198" y="40"/>
                          </a:cxn>
                        </a:cxnLst>
                        <a:pathLst>
                          <a:path w="791" h="262">
                            <a:moveTo>
                              <a:pt x="791" y="158"/>
                            </a:moveTo>
                            <a:lnTo>
                              <a:pt x="0" y="262"/>
                            </a:lnTo>
                            <a:lnTo>
                              <a:pt x="127" y="81"/>
                            </a:lnTo>
                            <a:lnTo>
                              <a:pt x="118" y="23"/>
                            </a:lnTo>
                            <a:lnTo>
                              <a:pt x="257" y="0"/>
                            </a:lnTo>
                            <a:lnTo>
                              <a:pt x="456" y="40"/>
                            </a:lnTo>
                            <a:lnTo>
                              <a:pt x="634" y="13"/>
                            </a:lnTo>
                            <a:lnTo>
                              <a:pt x="791" y="158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4" name="Freeform 343"/>
                      <p:cNvSpPr/>
                      <p:nvPr/>
                    </p:nvSpPr>
                    <p:spPr>
                      <a:xfrm>
                        <a:off x="2996" y="2002"/>
                        <a:ext cx="395" cy="2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4" y="131"/>
                          </a:cxn>
                          <a:cxn ang="0">
                            <a:pos x="177" y="95"/>
                          </a:cxn>
                          <a:cxn ang="0">
                            <a:pos x="189" y="78"/>
                          </a:cxn>
                          <a:cxn ang="0">
                            <a:pos x="188" y="69"/>
                          </a:cxn>
                          <a:cxn ang="0">
                            <a:pos x="179" y="71"/>
                          </a:cxn>
                          <a:cxn ang="0">
                            <a:pos x="173" y="66"/>
                          </a:cxn>
                          <a:cxn ang="0">
                            <a:pos x="165" y="60"/>
                          </a:cxn>
                          <a:cxn ang="0">
                            <a:pos x="169" y="56"/>
                          </a:cxn>
                          <a:cxn ang="0">
                            <a:pos x="165" y="36"/>
                          </a:cxn>
                          <a:cxn ang="0">
                            <a:pos x="169" y="24"/>
                          </a:cxn>
                          <a:cxn ang="0">
                            <a:pos x="181" y="22"/>
                          </a:cxn>
                          <a:cxn ang="0">
                            <a:pos x="182" y="30"/>
                          </a:cxn>
                          <a:cxn ang="0">
                            <a:pos x="191" y="30"/>
                          </a:cxn>
                          <a:cxn ang="0">
                            <a:pos x="198" y="16"/>
                          </a:cxn>
                          <a:cxn ang="0">
                            <a:pos x="178" y="0"/>
                          </a:cxn>
                          <a:cxn ang="0">
                            <a:pos x="150" y="5"/>
                          </a:cxn>
                          <a:cxn ang="0">
                            <a:pos x="138" y="16"/>
                          </a:cxn>
                          <a:cxn ang="0">
                            <a:pos x="112" y="20"/>
                          </a:cxn>
                          <a:cxn ang="0">
                            <a:pos x="112" y="27"/>
                          </a:cxn>
                          <a:cxn ang="0">
                            <a:pos x="0" y="44"/>
                          </a:cxn>
                          <a:cxn ang="0">
                            <a:pos x="2" y="53"/>
                          </a:cxn>
                          <a:cxn ang="0">
                            <a:pos x="14" y="51"/>
                          </a:cxn>
                          <a:cxn ang="0">
                            <a:pos x="18" y="81"/>
                          </a:cxn>
                          <a:cxn ang="0">
                            <a:pos x="47" y="107"/>
                          </a:cxn>
                          <a:cxn ang="0">
                            <a:pos x="55" y="133"/>
                          </a:cxn>
                          <a:cxn ang="0">
                            <a:pos x="90" y="128"/>
                          </a:cxn>
                          <a:cxn ang="0">
                            <a:pos x="140" y="138"/>
                          </a:cxn>
                          <a:cxn ang="0">
                            <a:pos x="184" y="131"/>
                          </a:cxn>
                        </a:cxnLst>
                        <a:pathLst>
                          <a:path w="789" h="552">
                            <a:moveTo>
                              <a:pt x="734" y="523"/>
                            </a:moveTo>
                            <a:lnTo>
                              <a:pt x="706" y="380"/>
                            </a:lnTo>
                            <a:lnTo>
                              <a:pt x="756" y="311"/>
                            </a:lnTo>
                            <a:lnTo>
                              <a:pt x="750" y="276"/>
                            </a:lnTo>
                            <a:lnTo>
                              <a:pt x="716" y="282"/>
                            </a:lnTo>
                            <a:lnTo>
                              <a:pt x="689" y="262"/>
                            </a:lnTo>
                            <a:lnTo>
                              <a:pt x="660" y="237"/>
                            </a:lnTo>
                            <a:lnTo>
                              <a:pt x="675" y="222"/>
                            </a:lnTo>
                            <a:lnTo>
                              <a:pt x="659" y="141"/>
                            </a:lnTo>
                            <a:lnTo>
                              <a:pt x="675" y="93"/>
                            </a:lnTo>
                            <a:lnTo>
                              <a:pt x="722" y="85"/>
                            </a:lnTo>
                            <a:lnTo>
                              <a:pt x="726" y="120"/>
                            </a:lnTo>
                            <a:lnTo>
                              <a:pt x="761" y="117"/>
                            </a:lnTo>
                            <a:lnTo>
                              <a:pt x="789" y="61"/>
                            </a:lnTo>
                            <a:lnTo>
                              <a:pt x="709" y="0"/>
                            </a:lnTo>
                            <a:lnTo>
                              <a:pt x="600" y="19"/>
                            </a:lnTo>
                            <a:lnTo>
                              <a:pt x="550" y="63"/>
                            </a:lnTo>
                            <a:lnTo>
                              <a:pt x="445" y="80"/>
                            </a:lnTo>
                            <a:lnTo>
                              <a:pt x="447" y="105"/>
                            </a:lnTo>
                            <a:lnTo>
                              <a:pt x="0" y="176"/>
                            </a:lnTo>
                            <a:lnTo>
                              <a:pt x="5" y="212"/>
                            </a:lnTo>
                            <a:lnTo>
                              <a:pt x="53" y="204"/>
                            </a:lnTo>
                            <a:lnTo>
                              <a:pt x="70" y="321"/>
                            </a:lnTo>
                            <a:lnTo>
                              <a:pt x="186" y="427"/>
                            </a:lnTo>
                            <a:lnTo>
                              <a:pt x="220" y="532"/>
                            </a:lnTo>
                            <a:lnTo>
                              <a:pt x="358" y="512"/>
                            </a:lnTo>
                            <a:lnTo>
                              <a:pt x="560" y="552"/>
                            </a:lnTo>
                            <a:lnTo>
                              <a:pt x="734" y="52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5" name="Freeform 344"/>
                      <p:cNvSpPr/>
                      <p:nvPr/>
                    </p:nvSpPr>
                    <p:spPr>
                      <a:xfrm>
                        <a:off x="3400" y="1773"/>
                        <a:ext cx="148" cy="16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6" y="81"/>
                          </a:cxn>
                          <a:cxn ang="0">
                            <a:pos x="74" y="30"/>
                          </a:cxn>
                          <a:cxn ang="0">
                            <a:pos x="70" y="0"/>
                          </a:cxn>
                          <a:cxn ang="0">
                            <a:pos x="0" y="66"/>
                          </a:cxn>
                          <a:cxn ang="0">
                            <a:pos x="16" y="81"/>
                          </a:cxn>
                        </a:cxnLst>
                        <a:pathLst>
                          <a:path w="296" h="320">
                            <a:moveTo>
                              <a:pt x="63" y="320"/>
                            </a:moveTo>
                            <a:lnTo>
                              <a:pt x="296" y="120"/>
                            </a:lnTo>
                            <a:lnTo>
                              <a:pt x="279" y="0"/>
                            </a:lnTo>
                            <a:lnTo>
                              <a:pt x="0" y="261"/>
                            </a:lnTo>
                            <a:lnTo>
                              <a:pt x="63" y="320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6" name="Freeform 345"/>
                      <p:cNvSpPr/>
                      <p:nvPr/>
                    </p:nvSpPr>
                    <p:spPr>
                      <a:xfrm>
                        <a:off x="3444" y="1764"/>
                        <a:ext cx="76" cy="5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8" y="13"/>
                          </a:cxn>
                          <a:cxn ang="0">
                            <a:pos x="22" y="28"/>
                          </a:cxn>
                          <a:cxn ang="0">
                            <a:pos x="0" y="5"/>
                          </a:cxn>
                          <a:cxn ang="0">
                            <a:pos x="26" y="0"/>
                          </a:cxn>
                          <a:cxn ang="0">
                            <a:pos x="38" y="13"/>
                          </a:cxn>
                        </a:cxnLst>
                        <a:pathLst>
                          <a:path w="151" h="115">
                            <a:moveTo>
                              <a:pt x="151" y="54"/>
                            </a:moveTo>
                            <a:lnTo>
                              <a:pt x="88" y="115"/>
                            </a:lnTo>
                            <a:lnTo>
                              <a:pt x="0" y="20"/>
                            </a:lnTo>
                            <a:lnTo>
                              <a:pt x="101" y="0"/>
                            </a:lnTo>
                            <a:lnTo>
                              <a:pt x="151" y="54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7" name="Freeform 346"/>
                      <p:cNvSpPr/>
                      <p:nvPr/>
                    </p:nvSpPr>
                    <p:spPr>
                      <a:xfrm>
                        <a:off x="3314" y="1790"/>
                        <a:ext cx="142" cy="18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71" y="83"/>
                          </a:cxn>
                          <a:cxn ang="0">
                            <a:pos x="35" y="52"/>
                          </a:cxn>
                          <a:cxn ang="0">
                            <a:pos x="12" y="0"/>
                          </a:cxn>
                          <a:cxn ang="0">
                            <a:pos x="0" y="2"/>
                          </a:cxn>
                          <a:cxn ang="0">
                            <a:pos x="22" y="60"/>
                          </a:cxn>
                          <a:cxn ang="0">
                            <a:pos x="57" y="91"/>
                          </a:cxn>
                          <a:cxn ang="0">
                            <a:pos x="71" y="83"/>
                          </a:cxn>
                        </a:cxnLst>
                        <a:pathLst>
                          <a:path w="285" h="362">
                            <a:moveTo>
                              <a:pt x="285" y="330"/>
                            </a:moveTo>
                            <a:lnTo>
                              <a:pt x="140" y="208"/>
                            </a:lnTo>
                            <a:lnTo>
                              <a:pt x="51" y="0"/>
                            </a:lnTo>
                            <a:lnTo>
                              <a:pt x="0" y="6"/>
                            </a:lnTo>
                            <a:lnTo>
                              <a:pt x="91" y="239"/>
                            </a:lnTo>
                            <a:lnTo>
                              <a:pt x="229" y="362"/>
                            </a:lnTo>
                            <a:lnTo>
                              <a:pt x="285" y="330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8" name="Freeform 347"/>
                      <p:cNvSpPr/>
                      <p:nvPr/>
                    </p:nvSpPr>
                    <p:spPr>
                      <a:xfrm>
                        <a:off x="2900" y="1857"/>
                        <a:ext cx="111" cy="14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5" y="61"/>
                          </a:cxn>
                          <a:cxn ang="0">
                            <a:pos x="48" y="70"/>
                          </a:cxn>
                          <a:cxn ang="0">
                            <a:pos x="5" y="35"/>
                          </a:cxn>
                          <a:cxn ang="0">
                            <a:pos x="0" y="3"/>
                          </a:cxn>
                          <a:cxn ang="0">
                            <a:pos x="10" y="0"/>
                          </a:cxn>
                          <a:cxn ang="0">
                            <a:pos x="15" y="29"/>
                          </a:cxn>
                          <a:cxn ang="0">
                            <a:pos x="55" y="61"/>
                          </a:cxn>
                        </a:cxnLst>
                        <a:pathLst>
                          <a:path w="223" h="280">
                            <a:moveTo>
                              <a:pt x="223" y="241"/>
                            </a:moveTo>
                            <a:lnTo>
                              <a:pt x="193" y="280"/>
                            </a:lnTo>
                            <a:lnTo>
                              <a:pt x="20" y="140"/>
                            </a:lnTo>
                            <a:lnTo>
                              <a:pt x="0" y="10"/>
                            </a:lnTo>
                            <a:lnTo>
                              <a:pt x="43" y="0"/>
                            </a:lnTo>
                            <a:lnTo>
                              <a:pt x="63" y="115"/>
                            </a:lnTo>
                            <a:lnTo>
                              <a:pt x="223" y="241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29" name="Freeform 348"/>
                      <p:cNvSpPr/>
                      <p:nvPr/>
                    </p:nvSpPr>
                    <p:spPr>
                      <a:xfrm>
                        <a:off x="2953" y="1847"/>
                        <a:ext cx="84" cy="10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6" y="53"/>
                          </a:cxn>
                          <a:cxn ang="0">
                            <a:pos x="5" y="28"/>
                          </a:cxn>
                          <a:cxn ang="0">
                            <a:pos x="0" y="3"/>
                          </a:cxn>
                          <a:cxn ang="0">
                            <a:pos x="13" y="0"/>
                          </a:cxn>
                          <a:cxn ang="0">
                            <a:pos x="18" y="26"/>
                          </a:cxn>
                          <a:cxn ang="0">
                            <a:pos x="43" y="45"/>
                          </a:cxn>
                          <a:cxn ang="0">
                            <a:pos x="36" y="53"/>
                          </a:cxn>
                        </a:cxnLst>
                        <a:pathLst>
                          <a:path w="166" h="212">
                            <a:moveTo>
                              <a:pt x="142" y="212"/>
                            </a:moveTo>
                            <a:lnTo>
                              <a:pt x="17" y="112"/>
                            </a:lnTo>
                            <a:lnTo>
                              <a:pt x="0" y="11"/>
                            </a:lnTo>
                            <a:lnTo>
                              <a:pt x="50" y="0"/>
                            </a:lnTo>
                            <a:lnTo>
                              <a:pt x="70" y="102"/>
                            </a:lnTo>
                            <a:lnTo>
                              <a:pt x="166" y="177"/>
                            </a:lnTo>
                            <a:lnTo>
                              <a:pt x="142" y="212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0" name="Freeform 349"/>
                      <p:cNvSpPr/>
                      <p:nvPr/>
                    </p:nvSpPr>
                    <p:spPr>
                      <a:xfrm>
                        <a:off x="3133" y="1802"/>
                        <a:ext cx="133" cy="11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67" y="0"/>
                          </a:cxn>
                          <a:cxn ang="0">
                            <a:pos x="63" y="31"/>
                          </a:cxn>
                          <a:cxn ang="0">
                            <a:pos x="49" y="48"/>
                          </a:cxn>
                          <a:cxn ang="0">
                            <a:pos x="0" y="55"/>
                          </a:cxn>
                          <a:cxn ang="0">
                            <a:pos x="6" y="22"/>
                          </a:cxn>
                          <a:cxn ang="0">
                            <a:pos x="6" y="10"/>
                          </a:cxn>
                          <a:cxn ang="0">
                            <a:pos x="67" y="0"/>
                          </a:cxn>
                        </a:cxnLst>
                        <a:pathLst>
                          <a:path w="265" h="220">
                            <a:moveTo>
                              <a:pt x="265" y="0"/>
                            </a:moveTo>
                            <a:lnTo>
                              <a:pt x="250" y="121"/>
                            </a:lnTo>
                            <a:lnTo>
                              <a:pt x="195" y="191"/>
                            </a:lnTo>
                            <a:lnTo>
                              <a:pt x="0" y="220"/>
                            </a:lnTo>
                            <a:lnTo>
                              <a:pt x="22" y="86"/>
                            </a:lnTo>
                            <a:lnTo>
                              <a:pt x="21" y="40"/>
                            </a:lnTo>
                            <a:lnTo>
                              <a:pt x="265" y="0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1" name="Freeform 350"/>
                      <p:cNvSpPr/>
                      <p:nvPr/>
                    </p:nvSpPr>
                    <p:spPr>
                      <a:xfrm>
                        <a:off x="3093" y="1806"/>
                        <a:ext cx="186" cy="13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8" y="0"/>
                          </a:cxn>
                          <a:cxn ang="0">
                            <a:pos x="93" y="34"/>
                          </a:cxn>
                          <a:cxn ang="0">
                            <a:pos x="77" y="55"/>
                          </a:cxn>
                          <a:cxn ang="0">
                            <a:pos x="0" y="68"/>
                          </a:cxn>
                          <a:cxn ang="0">
                            <a:pos x="10" y="38"/>
                          </a:cxn>
                          <a:cxn ang="0">
                            <a:pos x="13" y="10"/>
                          </a:cxn>
                          <a:cxn ang="0">
                            <a:pos x="25" y="8"/>
                          </a:cxn>
                          <a:cxn ang="0">
                            <a:pos x="25" y="19"/>
                          </a:cxn>
                          <a:cxn ang="0">
                            <a:pos x="20" y="53"/>
                          </a:cxn>
                          <a:cxn ang="0">
                            <a:pos x="69" y="45"/>
                          </a:cxn>
                          <a:cxn ang="0">
                            <a:pos x="84" y="28"/>
                          </a:cxn>
                          <a:cxn ang="0">
                            <a:pos x="88" y="0"/>
                          </a:cxn>
                        </a:cxnLst>
                        <a:pathLst>
                          <a:path w="373" h="275">
                            <a:moveTo>
                              <a:pt x="352" y="0"/>
                            </a:moveTo>
                            <a:lnTo>
                              <a:pt x="373" y="138"/>
                            </a:lnTo>
                            <a:lnTo>
                              <a:pt x="308" y="223"/>
                            </a:lnTo>
                            <a:lnTo>
                              <a:pt x="0" y="275"/>
                            </a:lnTo>
                            <a:lnTo>
                              <a:pt x="42" y="152"/>
                            </a:lnTo>
                            <a:lnTo>
                              <a:pt x="54" y="41"/>
                            </a:lnTo>
                            <a:lnTo>
                              <a:pt x="102" y="34"/>
                            </a:lnTo>
                            <a:lnTo>
                              <a:pt x="101" y="79"/>
                            </a:lnTo>
                            <a:lnTo>
                              <a:pt x="81" y="213"/>
                            </a:lnTo>
                            <a:lnTo>
                              <a:pt x="279" y="182"/>
                            </a:lnTo>
                            <a:lnTo>
                              <a:pt x="339" y="112"/>
                            </a:lnTo>
                            <a:lnTo>
                              <a:pt x="352" y="0"/>
                            </a:lnTo>
                            <a:close/>
                          </a:path>
                        </a:pathLst>
                      </a:custGeom>
                      <a:solidFill>
                        <a:srgbClr val="FAFD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2" name="Freeform 351"/>
                      <p:cNvSpPr/>
                      <p:nvPr/>
                    </p:nvSpPr>
                    <p:spPr>
                      <a:xfrm>
                        <a:off x="3035" y="1800"/>
                        <a:ext cx="250" cy="19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5" y="16"/>
                          </a:cxn>
                          <a:cxn ang="0">
                            <a:pos x="18" y="62"/>
                          </a:cxn>
                          <a:cxn ang="0">
                            <a:pos x="0" y="96"/>
                          </a:cxn>
                          <a:cxn ang="0">
                            <a:pos x="97" y="79"/>
                          </a:cxn>
                          <a:cxn ang="0">
                            <a:pos x="125" y="51"/>
                          </a:cxn>
                          <a:cxn ang="0">
                            <a:pos x="117" y="0"/>
                          </a:cxn>
                          <a:cxn ang="0">
                            <a:pos x="123" y="39"/>
                          </a:cxn>
                          <a:cxn ang="0">
                            <a:pos x="105" y="59"/>
                          </a:cxn>
                          <a:cxn ang="0">
                            <a:pos x="29" y="72"/>
                          </a:cxn>
                          <a:cxn ang="0">
                            <a:pos x="39" y="40"/>
                          </a:cxn>
                          <a:cxn ang="0">
                            <a:pos x="42" y="13"/>
                          </a:cxn>
                          <a:cxn ang="0">
                            <a:pos x="25" y="16"/>
                          </a:cxn>
                        </a:cxnLst>
                        <a:pathLst>
                          <a:path w="501" h="378">
                            <a:moveTo>
                              <a:pt x="103" y="63"/>
                            </a:moveTo>
                            <a:lnTo>
                              <a:pt x="74" y="246"/>
                            </a:lnTo>
                            <a:lnTo>
                              <a:pt x="0" y="378"/>
                            </a:lnTo>
                            <a:lnTo>
                              <a:pt x="389" y="315"/>
                            </a:lnTo>
                            <a:lnTo>
                              <a:pt x="501" y="201"/>
                            </a:lnTo>
                            <a:lnTo>
                              <a:pt x="471" y="0"/>
                            </a:lnTo>
                            <a:lnTo>
                              <a:pt x="494" y="154"/>
                            </a:lnTo>
                            <a:lnTo>
                              <a:pt x="422" y="235"/>
                            </a:lnTo>
                            <a:lnTo>
                              <a:pt x="118" y="284"/>
                            </a:lnTo>
                            <a:lnTo>
                              <a:pt x="159" y="157"/>
                            </a:lnTo>
                            <a:lnTo>
                              <a:pt x="170" y="51"/>
                            </a:lnTo>
                            <a:lnTo>
                              <a:pt x="103" y="63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3" name="Freeform 352"/>
                      <p:cNvSpPr/>
                      <p:nvPr/>
                    </p:nvSpPr>
                    <p:spPr>
                      <a:xfrm>
                        <a:off x="2986" y="1831"/>
                        <a:ext cx="303" cy="19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50" y="35"/>
                          </a:cxn>
                          <a:cxn ang="0">
                            <a:pos x="152" y="44"/>
                          </a:cxn>
                          <a:cxn ang="0">
                            <a:pos x="121" y="77"/>
                          </a:cxn>
                          <a:cxn ang="0">
                            <a:pos x="0" y="95"/>
                          </a:cxn>
                          <a:cxn ang="0">
                            <a:pos x="28" y="48"/>
                          </a:cxn>
                          <a:cxn ang="0">
                            <a:pos x="35" y="2"/>
                          </a:cxn>
                          <a:cxn ang="0">
                            <a:pos x="50" y="0"/>
                          </a:cxn>
                          <a:cxn ang="0">
                            <a:pos x="43" y="46"/>
                          </a:cxn>
                          <a:cxn ang="0">
                            <a:pos x="24" y="80"/>
                          </a:cxn>
                          <a:cxn ang="0">
                            <a:pos x="122" y="64"/>
                          </a:cxn>
                          <a:cxn ang="0">
                            <a:pos x="150" y="35"/>
                          </a:cxn>
                        </a:cxnLst>
                        <a:pathLst>
                          <a:path w="606" h="380">
                            <a:moveTo>
                              <a:pt x="600" y="138"/>
                            </a:moveTo>
                            <a:lnTo>
                              <a:pt x="606" y="176"/>
                            </a:lnTo>
                            <a:lnTo>
                              <a:pt x="481" y="305"/>
                            </a:lnTo>
                            <a:lnTo>
                              <a:pt x="0" y="380"/>
                            </a:lnTo>
                            <a:lnTo>
                              <a:pt x="112" y="190"/>
                            </a:lnTo>
                            <a:lnTo>
                              <a:pt x="139" y="6"/>
                            </a:lnTo>
                            <a:lnTo>
                              <a:pt x="198" y="0"/>
                            </a:lnTo>
                            <a:lnTo>
                              <a:pt x="171" y="182"/>
                            </a:lnTo>
                            <a:lnTo>
                              <a:pt x="94" y="317"/>
                            </a:lnTo>
                            <a:lnTo>
                              <a:pt x="485" y="254"/>
                            </a:lnTo>
                            <a:lnTo>
                              <a:pt x="600" y="138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4" name="Freeform 353"/>
                      <p:cNvSpPr/>
                      <p:nvPr/>
                    </p:nvSpPr>
                    <p:spPr>
                      <a:xfrm>
                        <a:off x="3140" y="1995"/>
                        <a:ext cx="78" cy="7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9" y="33"/>
                          </a:cxn>
                          <a:cxn ang="0">
                            <a:pos x="36" y="15"/>
                          </a:cxn>
                          <a:cxn ang="0">
                            <a:pos x="3" y="20"/>
                          </a:cxn>
                          <a:cxn ang="0">
                            <a:pos x="0" y="2"/>
                          </a:cxn>
                          <a:cxn ang="0">
                            <a:pos x="16" y="0"/>
                          </a:cxn>
                          <a:cxn ang="0">
                            <a:pos x="22" y="36"/>
                          </a:cxn>
                          <a:cxn ang="0">
                            <a:pos x="39" y="33"/>
                          </a:cxn>
                        </a:cxnLst>
                        <a:pathLst>
                          <a:path w="155" h="145">
                            <a:moveTo>
                              <a:pt x="155" y="133"/>
                            </a:moveTo>
                            <a:lnTo>
                              <a:pt x="143" y="60"/>
                            </a:lnTo>
                            <a:lnTo>
                              <a:pt x="11" y="81"/>
                            </a:lnTo>
                            <a:lnTo>
                              <a:pt x="0" y="11"/>
                            </a:lnTo>
                            <a:lnTo>
                              <a:pt x="64" y="0"/>
                            </a:lnTo>
                            <a:lnTo>
                              <a:pt x="85" y="145"/>
                            </a:lnTo>
                            <a:lnTo>
                              <a:pt x="155" y="133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5" name="Freeform 354"/>
                      <p:cNvSpPr/>
                      <p:nvPr/>
                    </p:nvSpPr>
                    <p:spPr>
                      <a:xfrm>
                        <a:off x="3106" y="2001"/>
                        <a:ext cx="77" cy="7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8" y="33"/>
                          </a:cxn>
                          <a:cxn ang="0">
                            <a:pos x="36" y="15"/>
                          </a:cxn>
                          <a:cxn ang="0">
                            <a:pos x="2" y="20"/>
                          </a:cxn>
                          <a:cxn ang="0">
                            <a:pos x="0" y="3"/>
                          </a:cxn>
                          <a:cxn ang="0">
                            <a:pos x="16" y="0"/>
                          </a:cxn>
                          <a:cxn ang="0">
                            <a:pos x="21" y="36"/>
                          </a:cxn>
                          <a:cxn ang="0">
                            <a:pos x="38" y="33"/>
                          </a:cxn>
                        </a:cxnLst>
                        <a:pathLst>
                          <a:path w="155" h="142">
                            <a:moveTo>
                              <a:pt x="155" y="131"/>
                            </a:moveTo>
                            <a:lnTo>
                              <a:pt x="144" y="59"/>
                            </a:lnTo>
                            <a:lnTo>
                              <a:pt x="9" y="80"/>
                            </a:lnTo>
                            <a:lnTo>
                              <a:pt x="0" y="9"/>
                            </a:lnTo>
                            <a:lnTo>
                              <a:pt x="64" y="0"/>
                            </a:lnTo>
                            <a:lnTo>
                              <a:pt x="86" y="142"/>
                            </a:lnTo>
                            <a:lnTo>
                              <a:pt x="155" y="131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6" name="Freeform 355"/>
                      <p:cNvSpPr/>
                      <p:nvPr/>
                    </p:nvSpPr>
                    <p:spPr>
                      <a:xfrm>
                        <a:off x="3072" y="2006"/>
                        <a:ext cx="77" cy="7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8" y="33"/>
                          </a:cxn>
                          <a:cxn ang="0">
                            <a:pos x="36" y="15"/>
                          </a:cxn>
                          <a:cxn ang="0">
                            <a:pos x="2" y="20"/>
                          </a:cxn>
                          <a:cxn ang="0">
                            <a:pos x="0" y="2"/>
                          </a:cxn>
                          <a:cxn ang="0">
                            <a:pos x="16" y="0"/>
                          </a:cxn>
                          <a:cxn ang="0">
                            <a:pos x="21" y="36"/>
                          </a:cxn>
                          <a:cxn ang="0">
                            <a:pos x="38" y="33"/>
                          </a:cxn>
                        </a:cxnLst>
                        <a:pathLst>
                          <a:path w="155" h="145">
                            <a:moveTo>
                              <a:pt x="155" y="134"/>
                            </a:moveTo>
                            <a:lnTo>
                              <a:pt x="144" y="60"/>
                            </a:lnTo>
                            <a:lnTo>
                              <a:pt x="8" y="82"/>
                            </a:lnTo>
                            <a:lnTo>
                              <a:pt x="0" y="11"/>
                            </a:lnTo>
                            <a:lnTo>
                              <a:pt x="65" y="0"/>
                            </a:lnTo>
                            <a:lnTo>
                              <a:pt x="87" y="145"/>
                            </a:lnTo>
                            <a:lnTo>
                              <a:pt x="155" y="134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7" name="Freeform 356"/>
                      <p:cNvSpPr/>
                      <p:nvPr/>
                    </p:nvSpPr>
                    <p:spPr>
                      <a:xfrm>
                        <a:off x="3036" y="2012"/>
                        <a:ext cx="78" cy="7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9" y="33"/>
                          </a:cxn>
                          <a:cxn ang="0">
                            <a:pos x="37" y="15"/>
                          </a:cxn>
                          <a:cxn ang="0">
                            <a:pos x="3" y="20"/>
                          </a:cxn>
                          <a:cxn ang="0">
                            <a:pos x="0" y="2"/>
                          </a:cxn>
                          <a:cxn ang="0">
                            <a:pos x="17" y="0"/>
                          </a:cxn>
                          <a:cxn ang="0">
                            <a:pos x="22" y="36"/>
                          </a:cxn>
                          <a:cxn ang="0">
                            <a:pos x="39" y="33"/>
                          </a:cxn>
                        </a:cxnLst>
                        <a:pathLst>
                          <a:path w="156" h="147">
                            <a:moveTo>
                              <a:pt x="156" y="133"/>
                            </a:moveTo>
                            <a:lnTo>
                              <a:pt x="145" y="60"/>
                            </a:lnTo>
                            <a:lnTo>
                              <a:pt x="10" y="81"/>
                            </a:lnTo>
                            <a:lnTo>
                              <a:pt x="0" y="11"/>
                            </a:lnTo>
                            <a:lnTo>
                              <a:pt x="65" y="0"/>
                            </a:lnTo>
                            <a:lnTo>
                              <a:pt x="88" y="147"/>
                            </a:lnTo>
                            <a:lnTo>
                              <a:pt x="156" y="13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8" name="Freeform 357"/>
                      <p:cNvSpPr/>
                      <p:nvPr/>
                    </p:nvSpPr>
                    <p:spPr>
                      <a:xfrm>
                        <a:off x="3000" y="2017"/>
                        <a:ext cx="79" cy="7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40" y="34"/>
                          </a:cxn>
                          <a:cxn ang="0">
                            <a:pos x="36" y="15"/>
                          </a:cxn>
                          <a:cxn ang="0">
                            <a:pos x="3" y="20"/>
                          </a:cxn>
                          <a:cxn ang="0">
                            <a:pos x="0" y="3"/>
                          </a:cxn>
                          <a:cxn ang="0">
                            <a:pos x="16" y="0"/>
                          </a:cxn>
                          <a:cxn ang="0">
                            <a:pos x="22" y="36"/>
                          </a:cxn>
                          <a:cxn ang="0">
                            <a:pos x="40" y="34"/>
                          </a:cxn>
                        </a:cxnLst>
                        <a:pathLst>
                          <a:path w="156" h="144">
                            <a:moveTo>
                              <a:pt x="156" y="135"/>
                            </a:moveTo>
                            <a:lnTo>
                              <a:pt x="143" y="60"/>
                            </a:lnTo>
                            <a:lnTo>
                              <a:pt x="11" y="80"/>
                            </a:lnTo>
                            <a:lnTo>
                              <a:pt x="0" y="11"/>
                            </a:lnTo>
                            <a:lnTo>
                              <a:pt x="63" y="0"/>
                            </a:lnTo>
                            <a:lnTo>
                              <a:pt x="85" y="144"/>
                            </a:lnTo>
                            <a:lnTo>
                              <a:pt x="156" y="135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39" name="Freeform 358"/>
                      <p:cNvSpPr/>
                      <p:nvPr/>
                    </p:nvSpPr>
                    <p:spPr>
                      <a:xfrm>
                        <a:off x="2968" y="2022"/>
                        <a:ext cx="78" cy="7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9" y="34"/>
                          </a:cxn>
                          <a:cxn ang="0">
                            <a:pos x="37" y="15"/>
                          </a:cxn>
                          <a:cxn ang="0">
                            <a:pos x="3" y="21"/>
                          </a:cxn>
                          <a:cxn ang="0">
                            <a:pos x="0" y="3"/>
                          </a:cxn>
                          <a:cxn ang="0">
                            <a:pos x="16" y="0"/>
                          </a:cxn>
                          <a:cxn ang="0">
                            <a:pos x="22" y="36"/>
                          </a:cxn>
                          <a:cxn ang="0">
                            <a:pos x="39" y="34"/>
                          </a:cxn>
                        </a:cxnLst>
                        <a:pathLst>
                          <a:path w="156" h="144">
                            <a:moveTo>
                              <a:pt x="156" y="134"/>
                            </a:moveTo>
                            <a:lnTo>
                              <a:pt x="145" y="60"/>
                            </a:lnTo>
                            <a:lnTo>
                              <a:pt x="11" y="81"/>
                            </a:lnTo>
                            <a:lnTo>
                              <a:pt x="0" y="10"/>
                            </a:lnTo>
                            <a:lnTo>
                              <a:pt x="64" y="0"/>
                            </a:lnTo>
                            <a:lnTo>
                              <a:pt x="85" y="144"/>
                            </a:lnTo>
                            <a:lnTo>
                              <a:pt x="156" y="134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0" name="Freeform 359"/>
                      <p:cNvSpPr/>
                      <p:nvPr/>
                    </p:nvSpPr>
                    <p:spPr>
                      <a:xfrm>
                        <a:off x="2935" y="2028"/>
                        <a:ext cx="78" cy="7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9" y="33"/>
                          </a:cxn>
                          <a:cxn ang="0">
                            <a:pos x="36" y="15"/>
                          </a:cxn>
                          <a:cxn ang="0">
                            <a:pos x="2" y="20"/>
                          </a:cxn>
                          <a:cxn ang="0">
                            <a:pos x="0" y="2"/>
                          </a:cxn>
                          <a:cxn ang="0">
                            <a:pos x="16" y="0"/>
                          </a:cxn>
                          <a:cxn ang="0">
                            <a:pos x="21" y="36"/>
                          </a:cxn>
                          <a:cxn ang="0">
                            <a:pos x="39" y="33"/>
                          </a:cxn>
                        </a:cxnLst>
                        <a:pathLst>
                          <a:path w="157" h="145">
                            <a:moveTo>
                              <a:pt x="157" y="133"/>
                            </a:moveTo>
                            <a:lnTo>
                              <a:pt x="146" y="60"/>
                            </a:lnTo>
                            <a:lnTo>
                              <a:pt x="11" y="81"/>
                            </a:lnTo>
                            <a:lnTo>
                              <a:pt x="0" y="11"/>
                            </a:lnTo>
                            <a:lnTo>
                              <a:pt x="66" y="0"/>
                            </a:lnTo>
                            <a:lnTo>
                              <a:pt x="86" y="145"/>
                            </a:lnTo>
                            <a:lnTo>
                              <a:pt x="157" y="133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1" name="Freeform 360"/>
                      <p:cNvSpPr/>
                      <p:nvPr/>
                    </p:nvSpPr>
                    <p:spPr>
                      <a:xfrm>
                        <a:off x="3268" y="1795"/>
                        <a:ext cx="136" cy="2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68" y="97"/>
                          </a:cxn>
                          <a:cxn ang="0">
                            <a:pos x="33" y="66"/>
                          </a:cxn>
                          <a:cxn ang="0">
                            <a:pos x="12" y="0"/>
                          </a:cxn>
                          <a:cxn ang="0">
                            <a:pos x="0" y="3"/>
                          </a:cxn>
                          <a:cxn ang="0">
                            <a:pos x="14" y="71"/>
                          </a:cxn>
                          <a:cxn ang="0">
                            <a:pos x="49" y="108"/>
                          </a:cxn>
                          <a:cxn ang="0">
                            <a:pos x="68" y="97"/>
                          </a:cxn>
                        </a:cxnLst>
                        <a:pathLst>
                          <a:path w="271" h="430">
                            <a:moveTo>
                              <a:pt x="271" y="387"/>
                            </a:moveTo>
                            <a:lnTo>
                              <a:pt x="132" y="262"/>
                            </a:lnTo>
                            <a:lnTo>
                              <a:pt x="48" y="0"/>
                            </a:lnTo>
                            <a:lnTo>
                              <a:pt x="0" y="12"/>
                            </a:lnTo>
                            <a:lnTo>
                              <a:pt x="55" y="281"/>
                            </a:lnTo>
                            <a:lnTo>
                              <a:pt x="194" y="430"/>
                            </a:lnTo>
                            <a:lnTo>
                              <a:pt x="271" y="387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2" name="Freeform 361"/>
                      <p:cNvSpPr/>
                      <p:nvPr/>
                    </p:nvSpPr>
                    <p:spPr>
                      <a:xfrm>
                        <a:off x="3112" y="2275"/>
                        <a:ext cx="282" cy="3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41" y="9"/>
                          </a:cxn>
                          <a:cxn ang="0">
                            <a:pos x="79" y="17"/>
                          </a:cxn>
                          <a:cxn ang="0">
                            <a:pos x="34" y="7"/>
                          </a:cxn>
                          <a:cxn ang="0">
                            <a:pos x="2" y="13"/>
                          </a:cxn>
                          <a:cxn ang="0">
                            <a:pos x="0" y="5"/>
                          </a:cxn>
                          <a:cxn ang="0">
                            <a:pos x="33" y="0"/>
                          </a:cxn>
                          <a:cxn ang="0">
                            <a:pos x="80" y="11"/>
                          </a:cxn>
                          <a:cxn ang="0">
                            <a:pos x="134" y="2"/>
                          </a:cxn>
                          <a:cxn ang="0">
                            <a:pos x="141" y="9"/>
                          </a:cxn>
                        </a:cxnLst>
                        <a:pathLst>
                          <a:path w="564" h="68">
                            <a:moveTo>
                              <a:pt x="564" y="33"/>
                            </a:moveTo>
                            <a:lnTo>
                              <a:pt x="315" y="68"/>
                            </a:lnTo>
                            <a:lnTo>
                              <a:pt x="136" y="28"/>
                            </a:lnTo>
                            <a:lnTo>
                              <a:pt x="6" y="49"/>
                            </a:lnTo>
                            <a:lnTo>
                              <a:pt x="0" y="19"/>
                            </a:lnTo>
                            <a:lnTo>
                              <a:pt x="130" y="0"/>
                            </a:lnTo>
                            <a:lnTo>
                              <a:pt x="318" y="41"/>
                            </a:lnTo>
                            <a:lnTo>
                              <a:pt x="536" y="7"/>
                            </a:lnTo>
                            <a:lnTo>
                              <a:pt x="564" y="33"/>
                            </a:lnTo>
                            <a:close/>
                          </a:path>
                        </a:pathLst>
                      </a:custGeom>
                      <a:solidFill>
                        <a:srgbClr val="FFFF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3" name="Freeform 362"/>
                      <p:cNvSpPr/>
                      <p:nvPr/>
                    </p:nvSpPr>
                    <p:spPr>
                      <a:xfrm>
                        <a:off x="3035" y="2089"/>
                        <a:ext cx="98" cy="1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40" y="91"/>
                          </a:cxn>
                          <a:cxn ang="0">
                            <a:pos x="35" y="62"/>
                          </a:cxn>
                          <a:cxn ang="0">
                            <a:pos x="4" y="34"/>
                          </a:cxn>
                          <a:cxn ang="0">
                            <a:pos x="0" y="4"/>
                          </a:cxn>
                          <a:cxn ang="0">
                            <a:pos x="8" y="0"/>
                          </a:cxn>
                          <a:cxn ang="0">
                            <a:pos x="12" y="31"/>
                          </a:cxn>
                          <a:cxn ang="0">
                            <a:pos x="43" y="60"/>
                          </a:cxn>
                          <a:cxn ang="0">
                            <a:pos x="49" y="89"/>
                          </a:cxn>
                          <a:cxn ang="0">
                            <a:pos x="40" y="91"/>
                          </a:cxn>
                        </a:cxnLst>
                        <a:pathLst>
                          <a:path w="197" h="363">
                            <a:moveTo>
                              <a:pt x="160" y="363"/>
                            </a:moveTo>
                            <a:lnTo>
                              <a:pt x="140" y="245"/>
                            </a:lnTo>
                            <a:lnTo>
                              <a:pt x="17" y="134"/>
                            </a:lnTo>
                            <a:lnTo>
                              <a:pt x="0" y="13"/>
                            </a:lnTo>
                            <a:lnTo>
                              <a:pt x="33" y="0"/>
                            </a:lnTo>
                            <a:lnTo>
                              <a:pt x="50" y="124"/>
                            </a:lnTo>
                            <a:lnTo>
                              <a:pt x="175" y="239"/>
                            </a:lnTo>
                            <a:lnTo>
                              <a:pt x="197" y="355"/>
                            </a:lnTo>
                            <a:lnTo>
                              <a:pt x="160" y="363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4" name="Freeform 363"/>
                      <p:cNvSpPr/>
                      <p:nvPr/>
                    </p:nvSpPr>
                    <p:spPr>
                      <a:xfrm>
                        <a:off x="3075" y="2083"/>
                        <a:ext cx="97" cy="1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9" y="91"/>
                          </a:cxn>
                          <a:cxn ang="0">
                            <a:pos x="34" y="60"/>
                          </a:cxn>
                          <a:cxn ang="0">
                            <a:pos x="5" y="32"/>
                          </a:cxn>
                          <a:cxn ang="0">
                            <a:pos x="0" y="3"/>
                          </a:cxn>
                          <a:cxn ang="0">
                            <a:pos x="12" y="0"/>
                          </a:cxn>
                          <a:cxn ang="0">
                            <a:pos x="15" y="30"/>
                          </a:cxn>
                          <a:cxn ang="0">
                            <a:pos x="44" y="59"/>
                          </a:cxn>
                          <a:cxn ang="0">
                            <a:pos x="49" y="91"/>
                          </a:cxn>
                          <a:cxn ang="0">
                            <a:pos x="39" y="91"/>
                          </a:cxn>
                        </a:cxnLst>
                        <a:pathLst>
                          <a:path w="194" h="364">
                            <a:moveTo>
                              <a:pt x="153" y="364"/>
                            </a:moveTo>
                            <a:lnTo>
                              <a:pt x="136" y="240"/>
                            </a:lnTo>
                            <a:lnTo>
                              <a:pt x="17" y="127"/>
                            </a:lnTo>
                            <a:lnTo>
                              <a:pt x="0" y="12"/>
                            </a:lnTo>
                            <a:lnTo>
                              <a:pt x="45" y="0"/>
                            </a:lnTo>
                            <a:lnTo>
                              <a:pt x="59" y="120"/>
                            </a:lnTo>
                            <a:lnTo>
                              <a:pt x="175" y="234"/>
                            </a:lnTo>
                            <a:lnTo>
                              <a:pt x="194" y="362"/>
                            </a:lnTo>
                            <a:lnTo>
                              <a:pt x="153" y="364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5" name="Freeform 364"/>
                      <p:cNvSpPr/>
                      <p:nvPr/>
                    </p:nvSpPr>
                    <p:spPr>
                      <a:xfrm>
                        <a:off x="3118" y="2079"/>
                        <a:ext cx="100" cy="19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39" y="92"/>
                          </a:cxn>
                          <a:cxn ang="0">
                            <a:pos x="35" y="60"/>
                          </a:cxn>
                          <a:cxn ang="0">
                            <a:pos x="5" y="29"/>
                          </a:cxn>
                          <a:cxn ang="0">
                            <a:pos x="0" y="1"/>
                          </a:cxn>
                          <a:cxn ang="0">
                            <a:pos x="10" y="0"/>
                          </a:cxn>
                          <a:cxn ang="0">
                            <a:pos x="13" y="27"/>
                          </a:cxn>
                          <a:cxn ang="0">
                            <a:pos x="45" y="58"/>
                          </a:cxn>
                          <a:cxn ang="0">
                            <a:pos x="50" y="95"/>
                          </a:cxn>
                          <a:cxn ang="0">
                            <a:pos x="39" y="92"/>
                          </a:cxn>
                        </a:cxnLst>
                        <a:pathLst>
                          <a:path w="199" h="380">
                            <a:moveTo>
                              <a:pt x="154" y="367"/>
                            </a:moveTo>
                            <a:lnTo>
                              <a:pt x="138" y="238"/>
                            </a:lnTo>
                            <a:lnTo>
                              <a:pt x="17" y="116"/>
                            </a:lnTo>
                            <a:lnTo>
                              <a:pt x="0" y="2"/>
                            </a:lnTo>
                            <a:lnTo>
                              <a:pt x="38" y="0"/>
                            </a:lnTo>
                            <a:lnTo>
                              <a:pt x="52" y="106"/>
                            </a:lnTo>
                            <a:lnTo>
                              <a:pt x="178" y="232"/>
                            </a:lnTo>
                            <a:lnTo>
                              <a:pt x="199" y="380"/>
                            </a:lnTo>
                            <a:lnTo>
                              <a:pt x="154" y="367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6" name="Freeform 365"/>
                      <p:cNvSpPr/>
                      <p:nvPr/>
                    </p:nvSpPr>
                    <p:spPr>
                      <a:xfrm>
                        <a:off x="3264" y="2093"/>
                        <a:ext cx="79" cy="6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40" y="23"/>
                          </a:cxn>
                          <a:cxn ang="0">
                            <a:pos x="11" y="11"/>
                          </a:cxn>
                          <a:cxn ang="0">
                            <a:pos x="3" y="18"/>
                          </a:cxn>
                          <a:cxn ang="0">
                            <a:pos x="0" y="34"/>
                          </a:cxn>
                          <a:cxn ang="0">
                            <a:pos x="9" y="21"/>
                          </a:cxn>
                          <a:cxn ang="0">
                            <a:pos x="24" y="2"/>
                          </a:cxn>
                          <a:cxn ang="0">
                            <a:pos x="34" y="0"/>
                          </a:cxn>
                          <a:cxn ang="0">
                            <a:pos x="26" y="11"/>
                          </a:cxn>
                          <a:cxn ang="0">
                            <a:pos x="40" y="23"/>
                          </a:cxn>
                        </a:cxnLst>
                        <a:pathLst>
                          <a:path w="157" h="135">
                            <a:moveTo>
                              <a:pt x="157" y="91"/>
                            </a:moveTo>
                            <a:lnTo>
                              <a:pt x="42" y="44"/>
                            </a:lnTo>
                            <a:lnTo>
                              <a:pt x="12" y="72"/>
                            </a:lnTo>
                            <a:lnTo>
                              <a:pt x="0" y="135"/>
                            </a:lnTo>
                            <a:lnTo>
                              <a:pt x="35" y="84"/>
                            </a:lnTo>
                            <a:lnTo>
                              <a:pt x="94" y="6"/>
                            </a:lnTo>
                            <a:lnTo>
                              <a:pt x="133" y="0"/>
                            </a:lnTo>
                            <a:lnTo>
                              <a:pt x="103" y="44"/>
                            </a:lnTo>
                            <a:lnTo>
                              <a:pt x="157" y="91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7" name="Freeform 366"/>
                      <p:cNvSpPr/>
                      <p:nvPr/>
                    </p:nvSpPr>
                    <p:spPr>
                      <a:xfrm>
                        <a:off x="3157" y="2068"/>
                        <a:ext cx="102" cy="20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42" y="102"/>
                          </a:cxn>
                          <a:cxn ang="0">
                            <a:pos x="36" y="61"/>
                          </a:cxn>
                          <a:cxn ang="0">
                            <a:pos x="5" y="31"/>
                          </a:cxn>
                          <a:cxn ang="0">
                            <a:pos x="0" y="3"/>
                          </a:cxn>
                          <a:cxn ang="0">
                            <a:pos x="9" y="0"/>
                          </a:cxn>
                          <a:cxn ang="0">
                            <a:pos x="13" y="28"/>
                          </a:cxn>
                          <a:cxn ang="0">
                            <a:pos x="44" y="58"/>
                          </a:cxn>
                          <a:cxn ang="0">
                            <a:pos x="51" y="105"/>
                          </a:cxn>
                          <a:cxn ang="0">
                            <a:pos x="42" y="102"/>
                          </a:cxn>
                        </a:cxnLst>
                        <a:pathLst>
                          <a:path w="204" h="418">
                            <a:moveTo>
                              <a:pt x="165" y="408"/>
                            </a:moveTo>
                            <a:lnTo>
                              <a:pt x="142" y="244"/>
                            </a:lnTo>
                            <a:lnTo>
                              <a:pt x="17" y="123"/>
                            </a:lnTo>
                            <a:lnTo>
                              <a:pt x="0" y="10"/>
                            </a:lnTo>
                            <a:lnTo>
                              <a:pt x="34" y="0"/>
                            </a:lnTo>
                            <a:lnTo>
                              <a:pt x="51" y="110"/>
                            </a:lnTo>
                            <a:lnTo>
                              <a:pt x="174" y="232"/>
                            </a:lnTo>
                            <a:lnTo>
                              <a:pt x="204" y="418"/>
                            </a:lnTo>
                            <a:lnTo>
                              <a:pt x="165" y="408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548" name="Freeform 367"/>
                      <p:cNvSpPr/>
                      <p:nvPr/>
                    </p:nvSpPr>
                    <p:spPr>
                      <a:xfrm>
                        <a:off x="3294" y="2191"/>
                        <a:ext cx="51" cy="3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6" y="16"/>
                          </a:cxn>
                          <a:cxn ang="0">
                            <a:pos x="0" y="3"/>
                          </a:cxn>
                          <a:cxn ang="0">
                            <a:pos x="26" y="0"/>
                          </a:cxn>
                          <a:cxn ang="0">
                            <a:pos x="18" y="6"/>
                          </a:cxn>
                          <a:cxn ang="0">
                            <a:pos x="26" y="16"/>
                          </a:cxn>
                        </a:cxnLst>
                        <a:pathLst>
                          <a:path w="102" h="67">
                            <a:moveTo>
                              <a:pt x="102" y="67"/>
                            </a:moveTo>
                            <a:lnTo>
                              <a:pt x="0" y="15"/>
                            </a:lnTo>
                            <a:lnTo>
                              <a:pt x="102" y="0"/>
                            </a:lnTo>
                            <a:lnTo>
                              <a:pt x="70" y="25"/>
                            </a:lnTo>
                            <a:lnTo>
                              <a:pt x="102" y="67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 w="7938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7518" name="Freeform 368"/>
                    <p:cNvSpPr/>
                    <p:nvPr/>
                  </p:nvSpPr>
                  <p:spPr>
                    <a:xfrm>
                      <a:off x="3424" y="2041"/>
                      <a:ext cx="145" cy="257"/>
                    </a:xfrm>
                    <a:custGeom>
                      <a:avLst/>
                      <a:gdLst/>
                      <a:ahLst/>
                      <a:cxnLst>
                        <a:cxn ang="0">
                          <a:pos x="26" y="0"/>
                        </a:cxn>
                        <a:cxn ang="0">
                          <a:pos x="0" y="68"/>
                        </a:cxn>
                        <a:cxn ang="0">
                          <a:pos x="47" y="129"/>
                        </a:cxn>
                        <a:cxn ang="0">
                          <a:pos x="73" y="60"/>
                        </a:cxn>
                        <a:cxn ang="0">
                          <a:pos x="26" y="0"/>
                        </a:cxn>
                      </a:cxnLst>
                      <a:pathLst>
                        <a:path w="289" h="514">
                          <a:moveTo>
                            <a:pt x="102" y="0"/>
                          </a:moveTo>
                          <a:lnTo>
                            <a:pt x="0" y="272"/>
                          </a:lnTo>
                          <a:lnTo>
                            <a:pt x="186" y="514"/>
                          </a:lnTo>
                          <a:lnTo>
                            <a:pt x="289" y="237"/>
                          </a:lnTo>
                          <a:lnTo>
                            <a:pt x="102" y="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</p:grpSp>
          </p:grpSp>
        </p:grpSp>
        <p:grpSp>
          <p:nvGrpSpPr>
            <p:cNvPr id="7495" name="Group 369"/>
            <p:cNvGrpSpPr/>
            <p:nvPr/>
          </p:nvGrpSpPr>
          <p:grpSpPr>
            <a:xfrm rot="2023748">
              <a:off x="4570" y="960"/>
              <a:ext cx="983" cy="1571"/>
              <a:chOff x="4080" y="1200"/>
              <a:chExt cx="983" cy="1571"/>
            </a:xfrm>
          </p:grpSpPr>
          <p:sp>
            <p:nvSpPr>
              <p:cNvPr id="7496" name="Freeform 370"/>
              <p:cNvSpPr/>
              <p:nvPr/>
            </p:nvSpPr>
            <p:spPr>
              <a:xfrm>
                <a:off x="4080" y="1200"/>
                <a:ext cx="983" cy="1571"/>
              </a:xfrm>
              <a:custGeom>
                <a:avLst/>
                <a:gdLst/>
                <a:ahLst/>
                <a:cxnLst>
                  <a:cxn ang="0">
                    <a:pos x="0" y="38"/>
                  </a:cxn>
                  <a:cxn ang="0">
                    <a:pos x="2" y="22"/>
                  </a:cxn>
                  <a:cxn ang="0">
                    <a:pos x="7" y="10"/>
                  </a:cxn>
                  <a:cxn ang="0">
                    <a:pos x="17" y="3"/>
                  </a:cxn>
                  <a:cxn ang="0">
                    <a:pos x="32" y="0"/>
                  </a:cxn>
                  <a:cxn ang="0">
                    <a:pos x="453" y="0"/>
                  </a:cxn>
                  <a:cxn ang="0">
                    <a:pos x="468" y="2"/>
                  </a:cxn>
                  <a:cxn ang="0">
                    <a:pos x="481" y="9"/>
                  </a:cxn>
                  <a:cxn ang="0">
                    <a:pos x="489" y="22"/>
                  </a:cxn>
                  <a:cxn ang="0">
                    <a:pos x="491" y="41"/>
                  </a:cxn>
                  <a:cxn ang="0">
                    <a:pos x="491" y="742"/>
                  </a:cxn>
                  <a:cxn ang="0">
                    <a:pos x="491" y="761"/>
                  </a:cxn>
                  <a:cxn ang="0">
                    <a:pos x="487" y="772"/>
                  </a:cxn>
                  <a:cxn ang="0">
                    <a:pos x="480" y="780"/>
                  </a:cxn>
                  <a:cxn ang="0">
                    <a:pos x="471" y="786"/>
                  </a:cxn>
                  <a:cxn ang="0">
                    <a:pos x="27" y="786"/>
                  </a:cxn>
                  <a:cxn ang="0">
                    <a:pos x="15" y="783"/>
                  </a:cxn>
                  <a:cxn ang="0">
                    <a:pos x="7" y="776"/>
                  </a:cxn>
                  <a:cxn ang="0">
                    <a:pos x="2" y="768"/>
                  </a:cxn>
                  <a:cxn ang="0">
                    <a:pos x="0" y="753"/>
                  </a:cxn>
                  <a:cxn ang="0">
                    <a:pos x="0" y="38"/>
                  </a:cxn>
                </a:cxnLst>
                <a:pathLst>
                  <a:path w="1968" h="3140">
                    <a:moveTo>
                      <a:pt x="0" y="150"/>
                    </a:moveTo>
                    <a:lnTo>
                      <a:pt x="8" y="86"/>
                    </a:lnTo>
                    <a:lnTo>
                      <a:pt x="28" y="38"/>
                    </a:lnTo>
                    <a:lnTo>
                      <a:pt x="69" y="11"/>
                    </a:lnTo>
                    <a:lnTo>
                      <a:pt x="128" y="0"/>
                    </a:lnTo>
                    <a:lnTo>
                      <a:pt x="1816" y="0"/>
                    </a:lnTo>
                    <a:lnTo>
                      <a:pt x="1876" y="5"/>
                    </a:lnTo>
                    <a:lnTo>
                      <a:pt x="1926" y="33"/>
                    </a:lnTo>
                    <a:lnTo>
                      <a:pt x="1957" y="86"/>
                    </a:lnTo>
                    <a:lnTo>
                      <a:pt x="1968" y="161"/>
                    </a:lnTo>
                    <a:lnTo>
                      <a:pt x="1968" y="2965"/>
                    </a:lnTo>
                    <a:lnTo>
                      <a:pt x="1966" y="3040"/>
                    </a:lnTo>
                    <a:lnTo>
                      <a:pt x="1952" y="3084"/>
                    </a:lnTo>
                    <a:lnTo>
                      <a:pt x="1921" y="3117"/>
                    </a:lnTo>
                    <a:lnTo>
                      <a:pt x="1886" y="3139"/>
                    </a:lnTo>
                    <a:lnTo>
                      <a:pt x="110" y="3140"/>
                    </a:lnTo>
                    <a:lnTo>
                      <a:pt x="62" y="3128"/>
                    </a:lnTo>
                    <a:lnTo>
                      <a:pt x="28" y="3101"/>
                    </a:lnTo>
                    <a:lnTo>
                      <a:pt x="8" y="3068"/>
                    </a:lnTo>
                    <a:lnTo>
                      <a:pt x="0" y="3009"/>
                    </a:lnTo>
                    <a:lnTo>
                      <a:pt x="0" y="15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497" name="Group 371"/>
              <p:cNvGrpSpPr/>
              <p:nvPr/>
            </p:nvGrpSpPr>
            <p:grpSpPr>
              <a:xfrm>
                <a:off x="4126" y="1249"/>
                <a:ext cx="891" cy="1443"/>
                <a:chOff x="2973" y="1096"/>
                <a:chExt cx="891" cy="1443"/>
              </a:xfrm>
            </p:grpSpPr>
            <p:sp>
              <p:nvSpPr>
                <p:cNvPr id="7498" name="Freeform 372"/>
                <p:cNvSpPr/>
                <p:nvPr/>
              </p:nvSpPr>
              <p:spPr>
                <a:xfrm>
                  <a:off x="3310" y="1654"/>
                  <a:ext cx="213" cy="360"/>
                </a:xfrm>
                <a:custGeom>
                  <a:avLst/>
                  <a:gdLst/>
                  <a:ahLst/>
                  <a:cxnLst>
                    <a:cxn ang="0">
                      <a:pos x="54" y="0"/>
                    </a:cxn>
                    <a:cxn ang="0">
                      <a:pos x="0" y="90"/>
                    </a:cxn>
                    <a:cxn ang="0">
                      <a:pos x="55" y="180"/>
                    </a:cxn>
                    <a:cxn ang="0">
                      <a:pos x="107" y="90"/>
                    </a:cxn>
                    <a:cxn ang="0">
                      <a:pos x="54" y="0"/>
                    </a:cxn>
                  </a:cxnLst>
                  <a:pathLst>
                    <a:path w="425" h="720">
                      <a:moveTo>
                        <a:pt x="215" y="0"/>
                      </a:moveTo>
                      <a:lnTo>
                        <a:pt x="0" y="360"/>
                      </a:lnTo>
                      <a:lnTo>
                        <a:pt x="220" y="720"/>
                      </a:lnTo>
                      <a:lnTo>
                        <a:pt x="425" y="360"/>
                      </a:lnTo>
                      <a:lnTo>
                        <a:pt x="215" y="0"/>
                      </a:lnTo>
                      <a:close/>
                    </a:path>
                  </a:pathLst>
                </a:custGeom>
                <a:solidFill>
                  <a:srgbClr val="E0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499" name="Freeform 373"/>
                <p:cNvSpPr/>
                <p:nvPr/>
              </p:nvSpPr>
              <p:spPr>
                <a:xfrm>
                  <a:off x="2973" y="1265"/>
                  <a:ext cx="95" cy="158"/>
                </a:xfrm>
                <a:custGeom>
                  <a:avLst/>
                  <a:gdLst/>
                  <a:ahLst/>
                  <a:cxnLst>
                    <a:cxn ang="0">
                      <a:pos x="25" y="0"/>
                    </a:cxn>
                    <a:cxn ang="0">
                      <a:pos x="0" y="40"/>
                    </a:cxn>
                    <a:cxn ang="0">
                      <a:pos x="27" y="79"/>
                    </a:cxn>
                    <a:cxn ang="0">
                      <a:pos x="48" y="38"/>
                    </a:cxn>
                    <a:cxn ang="0">
                      <a:pos x="25" y="0"/>
                    </a:cxn>
                  </a:cxnLst>
                  <a:pathLst>
                    <a:path w="189" h="316">
                      <a:moveTo>
                        <a:pt x="100" y="0"/>
                      </a:moveTo>
                      <a:lnTo>
                        <a:pt x="0" y="157"/>
                      </a:lnTo>
                      <a:lnTo>
                        <a:pt x="105" y="316"/>
                      </a:lnTo>
                      <a:lnTo>
                        <a:pt x="189" y="152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500" name="Freeform 374"/>
                <p:cNvSpPr/>
                <p:nvPr/>
              </p:nvSpPr>
              <p:spPr>
                <a:xfrm>
                  <a:off x="3772" y="2208"/>
                  <a:ext cx="90" cy="164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0" y="43"/>
                    </a:cxn>
                    <a:cxn ang="0">
                      <a:pos x="24" y="82"/>
                    </a:cxn>
                    <a:cxn ang="0">
                      <a:pos x="45" y="43"/>
                    </a:cxn>
                    <a:cxn ang="0">
                      <a:pos x="23" y="0"/>
                    </a:cxn>
                  </a:cxnLst>
                  <a:pathLst>
                    <a:path w="179" h="327">
                      <a:moveTo>
                        <a:pt x="89" y="0"/>
                      </a:moveTo>
                      <a:lnTo>
                        <a:pt x="0" y="169"/>
                      </a:lnTo>
                      <a:lnTo>
                        <a:pt x="95" y="327"/>
                      </a:lnTo>
                      <a:lnTo>
                        <a:pt x="179" y="169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501" name="Group 375"/>
                <p:cNvGrpSpPr/>
                <p:nvPr/>
              </p:nvGrpSpPr>
              <p:grpSpPr>
                <a:xfrm>
                  <a:off x="2980" y="1096"/>
                  <a:ext cx="85" cy="146"/>
                  <a:chOff x="2980" y="1096"/>
                  <a:chExt cx="85" cy="146"/>
                </a:xfrm>
              </p:grpSpPr>
              <p:sp>
                <p:nvSpPr>
                  <p:cNvPr id="7505" name="Freeform 376"/>
                  <p:cNvSpPr/>
                  <p:nvPr/>
                </p:nvSpPr>
                <p:spPr>
                  <a:xfrm>
                    <a:off x="2980" y="1096"/>
                    <a:ext cx="85" cy="146"/>
                  </a:xfrm>
                  <a:custGeom>
                    <a:avLst/>
                    <a:gdLst/>
                    <a:ahLst/>
                    <a:cxnLst>
                      <a:cxn ang="0">
                        <a:pos x="13" y="72"/>
                      </a:cxn>
                      <a:cxn ang="0">
                        <a:pos x="0" y="72"/>
                      </a:cxn>
                      <a:cxn ang="0">
                        <a:pos x="11" y="0"/>
                      </a:cxn>
                      <a:cxn ang="0">
                        <a:pos x="32" y="0"/>
                      </a:cxn>
                      <a:cxn ang="0">
                        <a:pos x="43" y="73"/>
                      </a:cxn>
                      <a:cxn ang="0">
                        <a:pos x="28" y="73"/>
                      </a:cxn>
                      <a:cxn ang="0">
                        <a:pos x="26" y="60"/>
                      </a:cxn>
                      <a:cxn ang="0">
                        <a:pos x="17" y="60"/>
                      </a:cxn>
                      <a:cxn ang="0">
                        <a:pos x="13" y="72"/>
                      </a:cxn>
                    </a:cxnLst>
                    <a:pathLst>
                      <a:path w="170" h="293">
                        <a:moveTo>
                          <a:pt x="52" y="290"/>
                        </a:moveTo>
                        <a:lnTo>
                          <a:pt x="0" y="290"/>
                        </a:lnTo>
                        <a:lnTo>
                          <a:pt x="41" y="0"/>
                        </a:lnTo>
                        <a:lnTo>
                          <a:pt x="127" y="0"/>
                        </a:lnTo>
                        <a:lnTo>
                          <a:pt x="170" y="293"/>
                        </a:lnTo>
                        <a:lnTo>
                          <a:pt x="112" y="293"/>
                        </a:lnTo>
                        <a:lnTo>
                          <a:pt x="102" y="240"/>
                        </a:lnTo>
                        <a:lnTo>
                          <a:pt x="65" y="240"/>
                        </a:lnTo>
                        <a:lnTo>
                          <a:pt x="52" y="29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506" name="Freeform 377"/>
                  <p:cNvSpPr/>
                  <p:nvPr/>
                </p:nvSpPr>
                <p:spPr>
                  <a:xfrm>
                    <a:off x="3013" y="1131"/>
                    <a:ext cx="17" cy="59"/>
                  </a:xfrm>
                  <a:custGeom>
                    <a:avLst/>
                    <a:gdLst/>
                    <a:ahLst/>
                    <a:cxnLst>
                      <a:cxn ang="0">
                        <a:pos x="8" y="30"/>
                      </a:cxn>
                      <a:cxn ang="0">
                        <a:pos x="0" y="29"/>
                      </a:cxn>
                      <a:cxn ang="0">
                        <a:pos x="4" y="0"/>
                      </a:cxn>
                      <a:cxn ang="0">
                        <a:pos x="8" y="30"/>
                      </a:cxn>
                    </a:cxnLst>
                    <a:pathLst>
                      <a:path w="36" h="118">
                        <a:moveTo>
                          <a:pt x="36" y="118"/>
                        </a:moveTo>
                        <a:lnTo>
                          <a:pt x="0" y="115"/>
                        </a:lnTo>
                        <a:lnTo>
                          <a:pt x="19" y="0"/>
                        </a:lnTo>
                        <a:lnTo>
                          <a:pt x="36" y="118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7502" name="Group 378"/>
                <p:cNvGrpSpPr/>
                <p:nvPr/>
              </p:nvGrpSpPr>
              <p:grpSpPr>
                <a:xfrm>
                  <a:off x="3779" y="2393"/>
                  <a:ext cx="85" cy="146"/>
                  <a:chOff x="3779" y="2393"/>
                  <a:chExt cx="85" cy="146"/>
                </a:xfrm>
              </p:grpSpPr>
              <p:sp>
                <p:nvSpPr>
                  <p:cNvPr id="7503" name="Freeform 379"/>
                  <p:cNvSpPr/>
                  <p:nvPr/>
                </p:nvSpPr>
                <p:spPr>
                  <a:xfrm>
                    <a:off x="3779" y="2393"/>
                    <a:ext cx="85" cy="146"/>
                  </a:xfrm>
                  <a:custGeom>
                    <a:avLst/>
                    <a:gdLst/>
                    <a:ahLst/>
                    <a:cxnLst>
                      <a:cxn ang="0">
                        <a:pos x="13" y="1"/>
                      </a:cxn>
                      <a:cxn ang="0">
                        <a:pos x="0" y="1"/>
                      </a:cxn>
                      <a:cxn ang="0">
                        <a:pos x="10" y="73"/>
                      </a:cxn>
                      <a:cxn ang="0">
                        <a:pos x="32" y="73"/>
                      </a:cxn>
                      <a:cxn ang="0">
                        <a:pos x="43" y="0"/>
                      </a:cxn>
                      <a:cxn ang="0">
                        <a:pos x="28" y="0"/>
                      </a:cxn>
                      <a:cxn ang="0">
                        <a:pos x="26" y="13"/>
                      </a:cxn>
                      <a:cxn ang="0">
                        <a:pos x="17" y="13"/>
                      </a:cxn>
                      <a:cxn ang="0">
                        <a:pos x="13" y="1"/>
                      </a:cxn>
                    </a:cxnLst>
                    <a:pathLst>
                      <a:path w="170" h="292">
                        <a:moveTo>
                          <a:pt x="51" y="3"/>
                        </a:moveTo>
                        <a:lnTo>
                          <a:pt x="0" y="3"/>
                        </a:lnTo>
                        <a:lnTo>
                          <a:pt x="39" y="292"/>
                        </a:lnTo>
                        <a:lnTo>
                          <a:pt x="126" y="292"/>
                        </a:lnTo>
                        <a:lnTo>
                          <a:pt x="170" y="0"/>
                        </a:lnTo>
                        <a:lnTo>
                          <a:pt x="111" y="0"/>
                        </a:lnTo>
                        <a:lnTo>
                          <a:pt x="101" y="52"/>
                        </a:lnTo>
                        <a:lnTo>
                          <a:pt x="65" y="52"/>
                        </a:lnTo>
                        <a:lnTo>
                          <a:pt x="51" y="3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504" name="Freeform 380"/>
                  <p:cNvSpPr/>
                  <p:nvPr/>
                </p:nvSpPr>
                <p:spPr>
                  <a:xfrm>
                    <a:off x="3812" y="2445"/>
                    <a:ext cx="18" cy="59"/>
                  </a:xfrm>
                  <a:custGeom>
                    <a:avLst/>
                    <a:gdLst/>
                    <a:ahLst/>
                    <a:cxnLst>
                      <a:cxn ang="0">
                        <a:pos x="9" y="0"/>
                      </a:cxn>
                      <a:cxn ang="0">
                        <a:pos x="0" y="1"/>
                      </a:cxn>
                      <a:cxn ang="0">
                        <a:pos x="5" y="29"/>
                      </a:cxn>
                      <a:cxn ang="0">
                        <a:pos x="9" y="0"/>
                      </a:cxn>
                    </a:cxnLst>
                    <a:pathLst>
                      <a:path w="35" h="119">
                        <a:moveTo>
                          <a:pt x="35" y="0"/>
                        </a:moveTo>
                        <a:lnTo>
                          <a:pt x="0" y="4"/>
                        </a:lnTo>
                        <a:lnTo>
                          <a:pt x="18" y="119"/>
                        </a:lnTo>
                        <a:lnTo>
                          <a:pt x="35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10621" name="AutoShape 381"/>
          <p:cNvSpPr/>
          <p:nvPr/>
        </p:nvSpPr>
        <p:spPr>
          <a:xfrm>
            <a:off x="3200400" y="3124200"/>
            <a:ext cx="1600200" cy="25146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3" name="Group 382"/>
          <p:cNvGrpSpPr/>
          <p:nvPr/>
        </p:nvGrpSpPr>
        <p:grpSpPr>
          <a:xfrm rot="2511348">
            <a:off x="2625725" y="2955925"/>
            <a:ext cx="2735263" cy="2789238"/>
            <a:chOff x="1652" y="1171"/>
            <a:chExt cx="1675" cy="1709"/>
          </a:xfrm>
        </p:grpSpPr>
        <p:sp>
          <p:nvSpPr>
            <p:cNvPr id="7470" name="Freeform 383"/>
            <p:cNvSpPr/>
            <p:nvPr/>
          </p:nvSpPr>
          <p:spPr>
            <a:xfrm>
              <a:off x="1652" y="1171"/>
              <a:ext cx="1675" cy="1709"/>
            </a:xfrm>
            <a:custGeom>
              <a:avLst/>
              <a:gdLst/>
              <a:ahLst/>
              <a:cxnLst>
                <a:cxn ang="0">
                  <a:pos x="834" y="539"/>
                </a:cxn>
                <a:cxn ang="0">
                  <a:pos x="838" y="561"/>
                </a:cxn>
                <a:cxn ang="0">
                  <a:pos x="829" y="578"/>
                </a:cxn>
                <a:cxn ang="0">
                  <a:pos x="817" y="593"/>
                </a:cxn>
                <a:cxn ang="0">
                  <a:pos x="522" y="844"/>
                </a:cxn>
                <a:cxn ang="0">
                  <a:pos x="508" y="854"/>
                </a:cxn>
                <a:cxn ang="0">
                  <a:pos x="495" y="855"/>
                </a:cxn>
                <a:cxn ang="0">
                  <a:pos x="485" y="854"/>
                </a:cxn>
                <a:cxn ang="0">
                  <a:pos x="474" y="847"/>
                </a:cxn>
                <a:cxn ang="0">
                  <a:pos x="12" y="338"/>
                </a:cxn>
                <a:cxn ang="0">
                  <a:pos x="2" y="323"/>
                </a:cxn>
                <a:cxn ang="0">
                  <a:pos x="0" y="309"/>
                </a:cxn>
                <a:cxn ang="0">
                  <a:pos x="3" y="297"/>
                </a:cxn>
                <a:cxn ang="0">
                  <a:pos x="9" y="285"/>
                </a:cxn>
                <a:cxn ang="0">
                  <a:pos x="290" y="19"/>
                </a:cxn>
                <a:cxn ang="0">
                  <a:pos x="305" y="9"/>
                </a:cxn>
                <a:cxn ang="0">
                  <a:pos x="325" y="0"/>
                </a:cxn>
                <a:cxn ang="0">
                  <a:pos x="341" y="3"/>
                </a:cxn>
                <a:cxn ang="0">
                  <a:pos x="356" y="11"/>
                </a:cxn>
                <a:cxn ang="0">
                  <a:pos x="825" y="528"/>
                </a:cxn>
                <a:cxn ang="0">
                  <a:pos x="834" y="539"/>
                </a:cxn>
              </a:cxnLst>
              <a:pathLst>
                <a:path w="3350" h="3418">
                  <a:moveTo>
                    <a:pt x="3333" y="2154"/>
                  </a:moveTo>
                  <a:lnTo>
                    <a:pt x="3350" y="2243"/>
                  </a:lnTo>
                  <a:lnTo>
                    <a:pt x="3314" y="2309"/>
                  </a:lnTo>
                  <a:lnTo>
                    <a:pt x="3266" y="2371"/>
                  </a:lnTo>
                  <a:lnTo>
                    <a:pt x="2085" y="3374"/>
                  </a:lnTo>
                  <a:lnTo>
                    <a:pt x="2030" y="3413"/>
                  </a:lnTo>
                  <a:lnTo>
                    <a:pt x="1980" y="3418"/>
                  </a:lnTo>
                  <a:lnTo>
                    <a:pt x="1940" y="3413"/>
                  </a:lnTo>
                  <a:lnTo>
                    <a:pt x="1895" y="3385"/>
                  </a:lnTo>
                  <a:lnTo>
                    <a:pt x="45" y="1350"/>
                  </a:lnTo>
                  <a:lnTo>
                    <a:pt x="5" y="1290"/>
                  </a:lnTo>
                  <a:lnTo>
                    <a:pt x="0" y="1235"/>
                  </a:lnTo>
                  <a:lnTo>
                    <a:pt x="10" y="1186"/>
                  </a:lnTo>
                  <a:lnTo>
                    <a:pt x="34" y="1138"/>
                  </a:lnTo>
                  <a:lnTo>
                    <a:pt x="1159" y="74"/>
                  </a:lnTo>
                  <a:lnTo>
                    <a:pt x="1220" y="33"/>
                  </a:lnTo>
                  <a:lnTo>
                    <a:pt x="1299" y="0"/>
                  </a:lnTo>
                  <a:lnTo>
                    <a:pt x="1361" y="11"/>
                  </a:lnTo>
                  <a:lnTo>
                    <a:pt x="1423" y="44"/>
                  </a:lnTo>
                  <a:lnTo>
                    <a:pt x="3299" y="2111"/>
                  </a:lnTo>
                  <a:lnTo>
                    <a:pt x="3333" y="2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317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7471" name="Group 384"/>
            <p:cNvGrpSpPr/>
            <p:nvPr/>
          </p:nvGrpSpPr>
          <p:grpSpPr>
            <a:xfrm>
              <a:off x="1689" y="1417"/>
              <a:ext cx="1581" cy="1226"/>
              <a:chOff x="1689" y="1417"/>
              <a:chExt cx="1581" cy="1226"/>
            </a:xfrm>
          </p:grpSpPr>
          <p:sp>
            <p:nvSpPr>
              <p:cNvPr id="7472" name="Freeform 385"/>
              <p:cNvSpPr/>
              <p:nvPr/>
            </p:nvSpPr>
            <p:spPr>
              <a:xfrm>
                <a:off x="1834" y="1868"/>
                <a:ext cx="105" cy="1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45"/>
                  </a:cxn>
                  <a:cxn ang="0">
                    <a:pos x="53" y="54"/>
                  </a:cxn>
                  <a:cxn ang="0">
                    <a:pos x="43" y="9"/>
                  </a:cxn>
                  <a:cxn ang="0">
                    <a:pos x="0" y="0"/>
                  </a:cxn>
                </a:cxnLst>
                <a:pathLst>
                  <a:path w="210" h="219">
                    <a:moveTo>
                      <a:pt x="0" y="0"/>
                    </a:moveTo>
                    <a:lnTo>
                      <a:pt x="34" y="180"/>
                    </a:lnTo>
                    <a:lnTo>
                      <a:pt x="210" y="219"/>
                    </a:lnTo>
                    <a:lnTo>
                      <a:pt x="170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3" name="Freeform 386"/>
              <p:cNvSpPr/>
              <p:nvPr/>
            </p:nvSpPr>
            <p:spPr>
              <a:xfrm>
                <a:off x="1909" y="1652"/>
                <a:ext cx="207" cy="2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" y="97"/>
                  </a:cxn>
                  <a:cxn ang="0">
                    <a:pos x="104" y="118"/>
                  </a:cxn>
                  <a:cxn ang="0">
                    <a:pos x="84" y="24"/>
                  </a:cxn>
                  <a:cxn ang="0">
                    <a:pos x="0" y="0"/>
                  </a:cxn>
                </a:cxnLst>
                <a:pathLst>
                  <a:path w="414" h="470">
                    <a:moveTo>
                      <a:pt x="0" y="0"/>
                    </a:moveTo>
                    <a:lnTo>
                      <a:pt x="75" y="388"/>
                    </a:lnTo>
                    <a:lnTo>
                      <a:pt x="414" y="470"/>
                    </a:lnTo>
                    <a:lnTo>
                      <a:pt x="335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4" name="Freeform 387"/>
              <p:cNvSpPr/>
              <p:nvPr/>
            </p:nvSpPr>
            <p:spPr>
              <a:xfrm>
                <a:off x="2136" y="1915"/>
                <a:ext cx="204" cy="2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93"/>
                  </a:cxn>
                  <a:cxn ang="0">
                    <a:pos x="102" y="115"/>
                  </a:cxn>
                  <a:cxn ang="0">
                    <a:pos x="83" y="21"/>
                  </a:cxn>
                  <a:cxn ang="0">
                    <a:pos x="0" y="0"/>
                  </a:cxn>
                </a:cxnLst>
                <a:pathLst>
                  <a:path w="409" h="458">
                    <a:moveTo>
                      <a:pt x="0" y="0"/>
                    </a:moveTo>
                    <a:lnTo>
                      <a:pt x="64" y="372"/>
                    </a:lnTo>
                    <a:lnTo>
                      <a:pt x="409" y="458"/>
                    </a:lnTo>
                    <a:lnTo>
                      <a:pt x="334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475" name="Group 388"/>
              <p:cNvGrpSpPr/>
              <p:nvPr/>
            </p:nvGrpSpPr>
            <p:grpSpPr>
              <a:xfrm>
                <a:off x="1689" y="1716"/>
                <a:ext cx="177" cy="178"/>
                <a:chOff x="1689" y="1716"/>
                <a:chExt cx="177" cy="178"/>
              </a:xfrm>
            </p:grpSpPr>
            <p:sp>
              <p:nvSpPr>
                <p:cNvPr id="7490" name="Freeform 389"/>
                <p:cNvSpPr/>
                <p:nvPr/>
              </p:nvSpPr>
              <p:spPr>
                <a:xfrm>
                  <a:off x="1689" y="1767"/>
                  <a:ext cx="114" cy="127"/>
                </a:xfrm>
                <a:custGeom>
                  <a:avLst/>
                  <a:gdLst/>
                  <a:ahLst/>
                  <a:cxnLst>
                    <a:cxn ang="0">
                      <a:pos x="0" y="12"/>
                    </a:cxn>
                    <a:cxn ang="0">
                      <a:pos x="11" y="0"/>
                    </a:cxn>
                    <a:cxn ang="0">
                      <a:pos x="57" y="53"/>
                    </a:cxn>
                    <a:cxn ang="0">
                      <a:pos x="46" y="64"/>
                    </a:cxn>
                    <a:cxn ang="0">
                      <a:pos x="10" y="22"/>
                    </a:cxn>
                    <a:cxn ang="0">
                      <a:pos x="5" y="26"/>
                    </a:cxn>
                    <a:cxn ang="0">
                      <a:pos x="0" y="12"/>
                    </a:cxn>
                  </a:cxnLst>
                  <a:pathLst>
                    <a:path w="228" h="254">
                      <a:moveTo>
                        <a:pt x="0" y="46"/>
                      </a:moveTo>
                      <a:lnTo>
                        <a:pt x="42" y="0"/>
                      </a:lnTo>
                      <a:lnTo>
                        <a:pt x="228" y="210"/>
                      </a:lnTo>
                      <a:lnTo>
                        <a:pt x="183" y="254"/>
                      </a:lnTo>
                      <a:lnTo>
                        <a:pt x="40" y="86"/>
                      </a:lnTo>
                      <a:lnTo>
                        <a:pt x="19" y="103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491" name="Group 390"/>
                <p:cNvGrpSpPr/>
                <p:nvPr/>
              </p:nvGrpSpPr>
              <p:grpSpPr>
                <a:xfrm>
                  <a:off x="1741" y="1716"/>
                  <a:ext cx="125" cy="124"/>
                  <a:chOff x="1741" y="1716"/>
                  <a:chExt cx="125" cy="124"/>
                </a:xfrm>
              </p:grpSpPr>
              <p:sp>
                <p:nvSpPr>
                  <p:cNvPr id="7492" name="Freeform 391"/>
                  <p:cNvSpPr/>
                  <p:nvPr/>
                </p:nvSpPr>
                <p:spPr>
                  <a:xfrm>
                    <a:off x="1741" y="1716"/>
                    <a:ext cx="125" cy="124"/>
                  </a:xfrm>
                  <a:custGeom>
                    <a:avLst/>
                    <a:gdLst/>
                    <a:ahLst/>
                    <a:cxnLst>
                      <a:cxn ang="0">
                        <a:pos x="11" y="0"/>
                      </a:cxn>
                      <a:cxn ang="0">
                        <a:pos x="0" y="11"/>
                      </a:cxn>
                      <a:cxn ang="0">
                        <a:pos x="0" y="24"/>
                      </a:cxn>
                      <a:cxn ang="0">
                        <a:pos x="32" y="61"/>
                      </a:cxn>
                      <a:cxn ang="0">
                        <a:pos x="48" y="62"/>
                      </a:cxn>
                      <a:cxn ang="0">
                        <a:pos x="62" y="50"/>
                      </a:cxn>
                      <a:cxn ang="0">
                        <a:pos x="58" y="37"/>
                      </a:cxn>
                      <a:cxn ang="0">
                        <a:pos x="25" y="1"/>
                      </a:cxn>
                      <a:cxn ang="0">
                        <a:pos x="11" y="0"/>
                      </a:cxn>
                    </a:cxnLst>
                    <a:pathLst>
                      <a:path w="252" h="248">
                        <a:moveTo>
                          <a:pt x="44" y="0"/>
                        </a:moveTo>
                        <a:lnTo>
                          <a:pt x="0" y="43"/>
                        </a:lnTo>
                        <a:lnTo>
                          <a:pt x="0" y="95"/>
                        </a:lnTo>
                        <a:lnTo>
                          <a:pt x="132" y="242"/>
                        </a:lnTo>
                        <a:lnTo>
                          <a:pt x="195" y="248"/>
                        </a:lnTo>
                        <a:lnTo>
                          <a:pt x="252" y="198"/>
                        </a:lnTo>
                        <a:lnTo>
                          <a:pt x="234" y="147"/>
                        </a:lnTo>
                        <a:lnTo>
                          <a:pt x="101" y="3"/>
                        </a:lnTo>
                        <a:lnTo>
                          <a:pt x="44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93" name="Freeform 392"/>
                  <p:cNvSpPr/>
                  <p:nvPr/>
                </p:nvSpPr>
                <p:spPr>
                  <a:xfrm>
                    <a:off x="1763" y="1739"/>
                    <a:ext cx="72" cy="78"/>
                  </a:xfrm>
                  <a:custGeom>
                    <a:avLst/>
                    <a:gdLst/>
                    <a:ahLst/>
                    <a:cxnLst>
                      <a:cxn ang="0">
                        <a:pos x="8" y="0"/>
                      </a:cxn>
                      <a:cxn ang="0">
                        <a:pos x="0" y="8"/>
                      </a:cxn>
                      <a:cxn ang="0">
                        <a:pos x="29" y="39"/>
                      </a:cxn>
                      <a:cxn ang="0">
                        <a:pos x="37" y="32"/>
                      </a:cxn>
                      <a:cxn ang="0">
                        <a:pos x="8" y="0"/>
                      </a:cxn>
                    </a:cxnLst>
                    <a:pathLst>
                      <a:path w="142" h="155">
                        <a:moveTo>
                          <a:pt x="29" y="0"/>
                        </a:moveTo>
                        <a:lnTo>
                          <a:pt x="0" y="30"/>
                        </a:lnTo>
                        <a:lnTo>
                          <a:pt x="112" y="155"/>
                        </a:lnTo>
                        <a:lnTo>
                          <a:pt x="142" y="127"/>
                        </a:lnTo>
                        <a:lnTo>
                          <a:pt x="29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sp>
            <p:nvSpPr>
              <p:cNvPr id="7476" name="Freeform 393"/>
              <p:cNvSpPr/>
              <p:nvPr/>
            </p:nvSpPr>
            <p:spPr>
              <a:xfrm>
                <a:off x="2363" y="2164"/>
                <a:ext cx="205" cy="2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93"/>
                  </a:cxn>
                  <a:cxn ang="0">
                    <a:pos x="103" y="115"/>
                  </a:cxn>
                  <a:cxn ang="0">
                    <a:pos x="84" y="21"/>
                  </a:cxn>
                  <a:cxn ang="0">
                    <a:pos x="0" y="0"/>
                  </a:cxn>
                </a:cxnLst>
                <a:pathLst>
                  <a:path w="409" h="458">
                    <a:moveTo>
                      <a:pt x="0" y="0"/>
                    </a:moveTo>
                    <a:lnTo>
                      <a:pt x="65" y="371"/>
                    </a:lnTo>
                    <a:lnTo>
                      <a:pt x="409" y="458"/>
                    </a:lnTo>
                    <a:lnTo>
                      <a:pt x="335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7" name="Freeform 394"/>
              <p:cNvSpPr/>
              <p:nvPr/>
            </p:nvSpPr>
            <p:spPr>
              <a:xfrm>
                <a:off x="2590" y="2414"/>
                <a:ext cx="205" cy="2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93"/>
                  </a:cxn>
                  <a:cxn ang="0">
                    <a:pos x="103" y="115"/>
                  </a:cxn>
                  <a:cxn ang="0">
                    <a:pos x="84" y="21"/>
                  </a:cxn>
                  <a:cxn ang="0">
                    <a:pos x="0" y="0"/>
                  </a:cxn>
                </a:cxnLst>
                <a:pathLst>
                  <a:path w="409" h="458">
                    <a:moveTo>
                      <a:pt x="0" y="0"/>
                    </a:moveTo>
                    <a:lnTo>
                      <a:pt x="65" y="371"/>
                    </a:lnTo>
                    <a:lnTo>
                      <a:pt x="409" y="458"/>
                    </a:lnTo>
                    <a:lnTo>
                      <a:pt x="335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8" name="Freeform 395"/>
              <p:cNvSpPr/>
              <p:nvPr/>
            </p:nvSpPr>
            <p:spPr>
              <a:xfrm>
                <a:off x="2134" y="1417"/>
                <a:ext cx="207" cy="23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" y="98"/>
                  </a:cxn>
                  <a:cxn ang="0">
                    <a:pos x="104" y="119"/>
                  </a:cxn>
                  <a:cxn ang="0">
                    <a:pos x="84" y="24"/>
                  </a:cxn>
                  <a:cxn ang="0">
                    <a:pos x="0" y="0"/>
                  </a:cxn>
                </a:cxnLst>
                <a:pathLst>
                  <a:path w="414" h="470">
                    <a:moveTo>
                      <a:pt x="0" y="0"/>
                    </a:moveTo>
                    <a:lnTo>
                      <a:pt x="74" y="388"/>
                    </a:lnTo>
                    <a:lnTo>
                      <a:pt x="414" y="470"/>
                    </a:lnTo>
                    <a:lnTo>
                      <a:pt x="335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79" name="Freeform 396"/>
              <p:cNvSpPr/>
              <p:nvPr/>
            </p:nvSpPr>
            <p:spPr>
              <a:xfrm>
                <a:off x="2361" y="1681"/>
                <a:ext cx="205" cy="2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93"/>
                  </a:cxn>
                  <a:cxn ang="0">
                    <a:pos x="103" y="115"/>
                  </a:cxn>
                  <a:cxn ang="0">
                    <a:pos x="84" y="21"/>
                  </a:cxn>
                  <a:cxn ang="0">
                    <a:pos x="0" y="0"/>
                  </a:cxn>
                </a:cxnLst>
                <a:pathLst>
                  <a:path w="409" h="458">
                    <a:moveTo>
                      <a:pt x="0" y="0"/>
                    </a:moveTo>
                    <a:lnTo>
                      <a:pt x="65" y="372"/>
                    </a:lnTo>
                    <a:lnTo>
                      <a:pt x="409" y="458"/>
                    </a:lnTo>
                    <a:lnTo>
                      <a:pt x="335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80" name="Freeform 397"/>
              <p:cNvSpPr/>
              <p:nvPr/>
            </p:nvSpPr>
            <p:spPr>
              <a:xfrm>
                <a:off x="2588" y="1930"/>
                <a:ext cx="205" cy="2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93"/>
                  </a:cxn>
                  <a:cxn ang="0">
                    <a:pos x="103" y="115"/>
                  </a:cxn>
                  <a:cxn ang="0">
                    <a:pos x="84" y="21"/>
                  </a:cxn>
                  <a:cxn ang="0">
                    <a:pos x="0" y="0"/>
                  </a:cxn>
                </a:cxnLst>
                <a:pathLst>
                  <a:path w="409" h="458">
                    <a:moveTo>
                      <a:pt x="0" y="0"/>
                    </a:moveTo>
                    <a:lnTo>
                      <a:pt x="64" y="371"/>
                    </a:lnTo>
                    <a:lnTo>
                      <a:pt x="409" y="458"/>
                    </a:lnTo>
                    <a:lnTo>
                      <a:pt x="334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81" name="Freeform 398"/>
              <p:cNvSpPr/>
              <p:nvPr/>
            </p:nvSpPr>
            <p:spPr>
              <a:xfrm>
                <a:off x="2815" y="2179"/>
                <a:ext cx="205" cy="2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93"/>
                  </a:cxn>
                  <a:cxn ang="0">
                    <a:pos x="103" y="115"/>
                  </a:cxn>
                  <a:cxn ang="0">
                    <a:pos x="84" y="21"/>
                  </a:cxn>
                  <a:cxn ang="0">
                    <a:pos x="0" y="0"/>
                  </a:cxn>
                </a:cxnLst>
                <a:pathLst>
                  <a:path w="409" h="458">
                    <a:moveTo>
                      <a:pt x="0" y="0"/>
                    </a:moveTo>
                    <a:lnTo>
                      <a:pt x="65" y="371"/>
                    </a:lnTo>
                    <a:lnTo>
                      <a:pt x="409" y="458"/>
                    </a:lnTo>
                    <a:lnTo>
                      <a:pt x="335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82" name="Freeform 399"/>
              <p:cNvSpPr/>
              <p:nvPr/>
            </p:nvSpPr>
            <p:spPr>
              <a:xfrm>
                <a:off x="2127" y="1666"/>
                <a:ext cx="204" cy="2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93"/>
                  </a:cxn>
                  <a:cxn ang="0">
                    <a:pos x="102" y="115"/>
                  </a:cxn>
                  <a:cxn ang="0">
                    <a:pos x="83" y="21"/>
                  </a:cxn>
                  <a:cxn ang="0">
                    <a:pos x="0" y="0"/>
                  </a:cxn>
                </a:cxnLst>
                <a:pathLst>
                  <a:path w="409" h="458">
                    <a:moveTo>
                      <a:pt x="0" y="0"/>
                    </a:moveTo>
                    <a:lnTo>
                      <a:pt x="65" y="371"/>
                    </a:lnTo>
                    <a:lnTo>
                      <a:pt x="409" y="458"/>
                    </a:lnTo>
                    <a:lnTo>
                      <a:pt x="335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83" name="Freeform 400"/>
              <p:cNvSpPr/>
              <p:nvPr/>
            </p:nvSpPr>
            <p:spPr>
              <a:xfrm>
                <a:off x="2585" y="2161"/>
                <a:ext cx="204" cy="2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93"/>
                  </a:cxn>
                  <a:cxn ang="0">
                    <a:pos x="102" y="115"/>
                  </a:cxn>
                  <a:cxn ang="0">
                    <a:pos x="83" y="21"/>
                  </a:cxn>
                  <a:cxn ang="0">
                    <a:pos x="0" y="0"/>
                  </a:cxn>
                </a:cxnLst>
                <a:pathLst>
                  <a:path w="409" h="458">
                    <a:moveTo>
                      <a:pt x="0" y="0"/>
                    </a:moveTo>
                    <a:lnTo>
                      <a:pt x="65" y="372"/>
                    </a:lnTo>
                    <a:lnTo>
                      <a:pt x="409" y="458"/>
                    </a:lnTo>
                    <a:lnTo>
                      <a:pt x="335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84" name="Freeform 401"/>
              <p:cNvSpPr/>
              <p:nvPr/>
            </p:nvSpPr>
            <p:spPr>
              <a:xfrm>
                <a:off x="3014" y="2095"/>
                <a:ext cx="105" cy="1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45"/>
                  </a:cxn>
                  <a:cxn ang="0">
                    <a:pos x="53" y="54"/>
                  </a:cxn>
                  <a:cxn ang="0">
                    <a:pos x="43" y="9"/>
                  </a:cxn>
                  <a:cxn ang="0">
                    <a:pos x="0" y="0"/>
                  </a:cxn>
                </a:cxnLst>
                <a:pathLst>
                  <a:path w="210" h="219">
                    <a:moveTo>
                      <a:pt x="0" y="0"/>
                    </a:moveTo>
                    <a:lnTo>
                      <a:pt x="34" y="180"/>
                    </a:lnTo>
                    <a:lnTo>
                      <a:pt x="210" y="219"/>
                    </a:lnTo>
                    <a:lnTo>
                      <a:pt x="170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>
                  <a:alpha val="100000"/>
                </a:srgbClr>
              </a:solidFill>
              <a:ln w="158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485" name="Group 402"/>
              <p:cNvGrpSpPr/>
              <p:nvPr/>
            </p:nvGrpSpPr>
            <p:grpSpPr>
              <a:xfrm>
                <a:off x="3093" y="2185"/>
                <a:ext cx="177" cy="177"/>
                <a:chOff x="3093" y="2185"/>
                <a:chExt cx="177" cy="177"/>
              </a:xfrm>
            </p:grpSpPr>
            <p:grpSp>
              <p:nvGrpSpPr>
                <p:cNvPr id="7486" name="Group 403"/>
                <p:cNvGrpSpPr/>
                <p:nvPr/>
              </p:nvGrpSpPr>
              <p:grpSpPr>
                <a:xfrm>
                  <a:off x="3093" y="2238"/>
                  <a:ext cx="125" cy="124"/>
                  <a:chOff x="3093" y="2238"/>
                  <a:chExt cx="125" cy="124"/>
                </a:xfrm>
              </p:grpSpPr>
              <p:sp>
                <p:nvSpPr>
                  <p:cNvPr id="7488" name="Freeform 404"/>
                  <p:cNvSpPr/>
                  <p:nvPr/>
                </p:nvSpPr>
                <p:spPr>
                  <a:xfrm>
                    <a:off x="3093" y="2238"/>
                    <a:ext cx="125" cy="124"/>
                  </a:xfrm>
                  <a:custGeom>
                    <a:avLst/>
                    <a:gdLst/>
                    <a:ahLst/>
                    <a:cxnLst>
                      <a:cxn ang="0">
                        <a:pos x="11" y="0"/>
                      </a:cxn>
                      <a:cxn ang="0">
                        <a:pos x="0" y="11"/>
                      </a:cxn>
                      <a:cxn ang="0">
                        <a:pos x="0" y="24"/>
                      </a:cxn>
                      <a:cxn ang="0">
                        <a:pos x="32" y="61"/>
                      </a:cxn>
                      <a:cxn ang="0">
                        <a:pos x="48" y="62"/>
                      </a:cxn>
                      <a:cxn ang="0">
                        <a:pos x="62" y="50"/>
                      </a:cxn>
                      <a:cxn ang="0">
                        <a:pos x="58" y="37"/>
                      </a:cxn>
                      <a:cxn ang="0">
                        <a:pos x="25" y="1"/>
                      </a:cxn>
                      <a:cxn ang="0">
                        <a:pos x="11" y="0"/>
                      </a:cxn>
                    </a:cxnLst>
                    <a:pathLst>
                      <a:path w="252" h="247">
                        <a:moveTo>
                          <a:pt x="44" y="0"/>
                        </a:moveTo>
                        <a:lnTo>
                          <a:pt x="0" y="42"/>
                        </a:lnTo>
                        <a:lnTo>
                          <a:pt x="0" y="95"/>
                        </a:lnTo>
                        <a:lnTo>
                          <a:pt x="132" y="241"/>
                        </a:lnTo>
                        <a:lnTo>
                          <a:pt x="195" y="247"/>
                        </a:lnTo>
                        <a:lnTo>
                          <a:pt x="252" y="197"/>
                        </a:lnTo>
                        <a:lnTo>
                          <a:pt x="234" y="146"/>
                        </a:lnTo>
                        <a:lnTo>
                          <a:pt x="101" y="2"/>
                        </a:lnTo>
                        <a:lnTo>
                          <a:pt x="44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89" name="Freeform 405"/>
                  <p:cNvSpPr/>
                  <p:nvPr/>
                </p:nvSpPr>
                <p:spPr>
                  <a:xfrm>
                    <a:off x="3115" y="2261"/>
                    <a:ext cx="72" cy="78"/>
                  </a:xfrm>
                  <a:custGeom>
                    <a:avLst/>
                    <a:gdLst/>
                    <a:ahLst/>
                    <a:cxnLst>
                      <a:cxn ang="0">
                        <a:pos x="8" y="0"/>
                      </a:cxn>
                      <a:cxn ang="0">
                        <a:pos x="0" y="8"/>
                      </a:cxn>
                      <a:cxn ang="0">
                        <a:pos x="29" y="39"/>
                      </a:cxn>
                      <a:cxn ang="0">
                        <a:pos x="37" y="32"/>
                      </a:cxn>
                      <a:cxn ang="0">
                        <a:pos x="8" y="0"/>
                      </a:cxn>
                    </a:cxnLst>
                    <a:pathLst>
                      <a:path w="142" h="155">
                        <a:moveTo>
                          <a:pt x="29" y="0"/>
                        </a:moveTo>
                        <a:lnTo>
                          <a:pt x="0" y="30"/>
                        </a:lnTo>
                        <a:lnTo>
                          <a:pt x="112" y="155"/>
                        </a:lnTo>
                        <a:lnTo>
                          <a:pt x="142" y="127"/>
                        </a:lnTo>
                        <a:lnTo>
                          <a:pt x="29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7487" name="Freeform 406"/>
                <p:cNvSpPr/>
                <p:nvPr/>
              </p:nvSpPr>
              <p:spPr>
                <a:xfrm>
                  <a:off x="3149" y="2185"/>
                  <a:ext cx="121" cy="128"/>
                </a:xfrm>
                <a:custGeom>
                  <a:avLst/>
                  <a:gdLst/>
                  <a:ahLst/>
                  <a:cxnLst>
                    <a:cxn ang="0">
                      <a:pos x="0" y="10"/>
                    </a:cxn>
                    <a:cxn ang="0">
                      <a:pos x="12" y="0"/>
                    </a:cxn>
                    <a:cxn ang="0">
                      <a:pos x="51" y="42"/>
                    </a:cxn>
                    <a:cxn ang="0">
                      <a:pos x="55" y="37"/>
                    </a:cxn>
                    <a:cxn ang="0">
                      <a:pos x="61" y="42"/>
                    </a:cxn>
                    <a:cxn ang="0">
                      <a:pos x="61" y="54"/>
                    </a:cxn>
                    <a:cxn ang="0">
                      <a:pos x="51" y="64"/>
                    </a:cxn>
                    <a:cxn ang="0">
                      <a:pos x="0" y="10"/>
                    </a:cxn>
                  </a:cxnLst>
                  <a:pathLst>
                    <a:path w="242" h="257">
                      <a:moveTo>
                        <a:pt x="0" y="42"/>
                      </a:moveTo>
                      <a:lnTo>
                        <a:pt x="45" y="0"/>
                      </a:lnTo>
                      <a:lnTo>
                        <a:pt x="201" y="169"/>
                      </a:lnTo>
                      <a:lnTo>
                        <a:pt x="217" y="148"/>
                      </a:lnTo>
                      <a:lnTo>
                        <a:pt x="241" y="168"/>
                      </a:lnTo>
                      <a:lnTo>
                        <a:pt x="242" y="219"/>
                      </a:lnTo>
                      <a:lnTo>
                        <a:pt x="201" y="2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4" name="Group 407"/>
          <p:cNvGrpSpPr/>
          <p:nvPr/>
        </p:nvGrpSpPr>
        <p:grpSpPr>
          <a:xfrm rot="570521">
            <a:off x="3276600" y="3276600"/>
            <a:ext cx="2476500" cy="2951163"/>
            <a:chOff x="3696" y="2160"/>
            <a:chExt cx="1560" cy="1859"/>
          </a:xfrm>
        </p:grpSpPr>
        <p:grpSp>
          <p:nvGrpSpPr>
            <p:cNvPr id="7181" name="Group 408"/>
            <p:cNvGrpSpPr/>
            <p:nvPr/>
          </p:nvGrpSpPr>
          <p:grpSpPr>
            <a:xfrm>
              <a:off x="3696" y="2160"/>
              <a:ext cx="1316" cy="1571"/>
              <a:chOff x="1968" y="864"/>
              <a:chExt cx="1316" cy="1571"/>
            </a:xfrm>
          </p:grpSpPr>
          <p:sp>
            <p:nvSpPr>
              <p:cNvPr id="7365" name="Freeform 409"/>
              <p:cNvSpPr/>
              <p:nvPr/>
            </p:nvSpPr>
            <p:spPr>
              <a:xfrm>
                <a:off x="2115" y="864"/>
                <a:ext cx="983" cy="1571"/>
              </a:xfrm>
              <a:custGeom>
                <a:avLst/>
                <a:gdLst/>
                <a:ahLst/>
                <a:cxnLst>
                  <a:cxn ang="0">
                    <a:pos x="0" y="38"/>
                  </a:cxn>
                  <a:cxn ang="0">
                    <a:pos x="2" y="22"/>
                  </a:cxn>
                  <a:cxn ang="0">
                    <a:pos x="7" y="10"/>
                  </a:cxn>
                  <a:cxn ang="0">
                    <a:pos x="17" y="3"/>
                  </a:cxn>
                  <a:cxn ang="0">
                    <a:pos x="32" y="0"/>
                  </a:cxn>
                  <a:cxn ang="0">
                    <a:pos x="453" y="0"/>
                  </a:cxn>
                  <a:cxn ang="0">
                    <a:pos x="468" y="2"/>
                  </a:cxn>
                  <a:cxn ang="0">
                    <a:pos x="481" y="9"/>
                  </a:cxn>
                  <a:cxn ang="0">
                    <a:pos x="489" y="22"/>
                  </a:cxn>
                  <a:cxn ang="0">
                    <a:pos x="491" y="41"/>
                  </a:cxn>
                  <a:cxn ang="0">
                    <a:pos x="491" y="742"/>
                  </a:cxn>
                  <a:cxn ang="0">
                    <a:pos x="491" y="761"/>
                  </a:cxn>
                  <a:cxn ang="0">
                    <a:pos x="487" y="772"/>
                  </a:cxn>
                  <a:cxn ang="0">
                    <a:pos x="480" y="780"/>
                  </a:cxn>
                  <a:cxn ang="0">
                    <a:pos x="471" y="786"/>
                  </a:cxn>
                  <a:cxn ang="0">
                    <a:pos x="27" y="786"/>
                  </a:cxn>
                  <a:cxn ang="0">
                    <a:pos x="15" y="783"/>
                  </a:cxn>
                  <a:cxn ang="0">
                    <a:pos x="7" y="776"/>
                  </a:cxn>
                  <a:cxn ang="0">
                    <a:pos x="2" y="768"/>
                  </a:cxn>
                  <a:cxn ang="0">
                    <a:pos x="0" y="753"/>
                  </a:cxn>
                  <a:cxn ang="0">
                    <a:pos x="0" y="38"/>
                  </a:cxn>
                </a:cxnLst>
                <a:pathLst>
                  <a:path w="1968" h="3140">
                    <a:moveTo>
                      <a:pt x="0" y="150"/>
                    </a:moveTo>
                    <a:lnTo>
                      <a:pt x="8" y="86"/>
                    </a:lnTo>
                    <a:lnTo>
                      <a:pt x="28" y="38"/>
                    </a:lnTo>
                    <a:lnTo>
                      <a:pt x="69" y="11"/>
                    </a:lnTo>
                    <a:lnTo>
                      <a:pt x="128" y="0"/>
                    </a:lnTo>
                    <a:lnTo>
                      <a:pt x="1816" y="0"/>
                    </a:lnTo>
                    <a:lnTo>
                      <a:pt x="1876" y="5"/>
                    </a:lnTo>
                    <a:lnTo>
                      <a:pt x="1926" y="33"/>
                    </a:lnTo>
                    <a:lnTo>
                      <a:pt x="1957" y="86"/>
                    </a:lnTo>
                    <a:lnTo>
                      <a:pt x="1968" y="161"/>
                    </a:lnTo>
                    <a:lnTo>
                      <a:pt x="1968" y="2965"/>
                    </a:lnTo>
                    <a:lnTo>
                      <a:pt x="1966" y="3040"/>
                    </a:lnTo>
                    <a:lnTo>
                      <a:pt x="1952" y="3084"/>
                    </a:lnTo>
                    <a:lnTo>
                      <a:pt x="1921" y="3117"/>
                    </a:lnTo>
                    <a:lnTo>
                      <a:pt x="1886" y="3139"/>
                    </a:lnTo>
                    <a:lnTo>
                      <a:pt x="110" y="3140"/>
                    </a:lnTo>
                    <a:lnTo>
                      <a:pt x="62" y="3128"/>
                    </a:lnTo>
                    <a:lnTo>
                      <a:pt x="28" y="3101"/>
                    </a:lnTo>
                    <a:lnTo>
                      <a:pt x="8" y="3068"/>
                    </a:lnTo>
                    <a:lnTo>
                      <a:pt x="0" y="3009"/>
                    </a:lnTo>
                    <a:lnTo>
                      <a:pt x="0" y="15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366" name="Group 410"/>
              <p:cNvGrpSpPr/>
              <p:nvPr/>
            </p:nvGrpSpPr>
            <p:grpSpPr>
              <a:xfrm rot="1560000">
                <a:off x="1968" y="1056"/>
                <a:ext cx="1316" cy="1155"/>
                <a:chOff x="2025" y="1323"/>
                <a:chExt cx="1316" cy="1155"/>
              </a:xfrm>
            </p:grpSpPr>
            <p:sp>
              <p:nvSpPr>
                <p:cNvPr id="7367" name="Freeform 411"/>
                <p:cNvSpPr/>
                <p:nvPr/>
              </p:nvSpPr>
              <p:spPr>
                <a:xfrm>
                  <a:off x="2094" y="1585"/>
                  <a:ext cx="80" cy="137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0" y="44"/>
                    </a:cxn>
                    <a:cxn ang="0">
                      <a:pos x="40" y="69"/>
                    </a:cxn>
                    <a:cxn ang="0">
                      <a:pos x="40" y="22"/>
                    </a:cxn>
                    <a:cxn ang="0">
                      <a:pos x="6" y="0"/>
                    </a:cxn>
                  </a:cxnLst>
                  <a:pathLst>
                    <a:path w="160" h="274">
                      <a:moveTo>
                        <a:pt x="21" y="0"/>
                      </a:moveTo>
                      <a:lnTo>
                        <a:pt x="0" y="174"/>
                      </a:lnTo>
                      <a:lnTo>
                        <a:pt x="159" y="274"/>
                      </a:lnTo>
                      <a:lnTo>
                        <a:pt x="160" y="87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368" name="Freeform 412"/>
                <p:cNvSpPr/>
                <p:nvPr/>
              </p:nvSpPr>
              <p:spPr>
                <a:xfrm>
                  <a:off x="2025" y="1421"/>
                  <a:ext cx="82" cy="154"/>
                </a:xfrm>
                <a:custGeom>
                  <a:avLst/>
                  <a:gdLst/>
                  <a:ahLst/>
                  <a:cxnLst>
                    <a:cxn ang="0">
                      <a:pos x="2" y="7"/>
                    </a:cxn>
                    <a:cxn ang="0">
                      <a:pos x="16" y="0"/>
                    </a:cxn>
                    <a:cxn ang="0">
                      <a:pos x="41" y="55"/>
                    </a:cxn>
                    <a:cxn ang="0">
                      <a:pos x="35" y="70"/>
                    </a:cxn>
                    <a:cxn ang="0">
                      <a:pos x="21" y="77"/>
                    </a:cxn>
                    <a:cxn ang="0">
                      <a:pos x="6" y="72"/>
                    </a:cxn>
                    <a:cxn ang="0">
                      <a:pos x="0" y="54"/>
                    </a:cxn>
                    <a:cxn ang="0">
                      <a:pos x="11" y="49"/>
                    </a:cxn>
                    <a:cxn ang="0">
                      <a:pos x="18" y="61"/>
                    </a:cxn>
                    <a:cxn ang="0">
                      <a:pos x="26" y="57"/>
                    </a:cxn>
                    <a:cxn ang="0">
                      <a:pos x="2" y="7"/>
                    </a:cxn>
                  </a:cxnLst>
                  <a:pathLst>
                    <a:path w="165" h="308">
                      <a:moveTo>
                        <a:pt x="11" y="25"/>
                      </a:moveTo>
                      <a:lnTo>
                        <a:pt x="66" y="0"/>
                      </a:lnTo>
                      <a:lnTo>
                        <a:pt x="165" y="220"/>
                      </a:lnTo>
                      <a:lnTo>
                        <a:pt x="142" y="277"/>
                      </a:lnTo>
                      <a:lnTo>
                        <a:pt x="87" y="308"/>
                      </a:lnTo>
                      <a:lnTo>
                        <a:pt x="27" y="286"/>
                      </a:lnTo>
                      <a:lnTo>
                        <a:pt x="0" y="216"/>
                      </a:lnTo>
                      <a:lnTo>
                        <a:pt x="45" y="193"/>
                      </a:lnTo>
                      <a:lnTo>
                        <a:pt x="75" y="244"/>
                      </a:lnTo>
                      <a:lnTo>
                        <a:pt x="107" y="227"/>
                      </a:lnTo>
                      <a:lnTo>
                        <a:pt x="11" y="25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369" name="Group 413"/>
                <p:cNvGrpSpPr/>
                <p:nvPr/>
              </p:nvGrpSpPr>
              <p:grpSpPr>
                <a:xfrm>
                  <a:off x="2300" y="1377"/>
                  <a:ext cx="651" cy="656"/>
                  <a:chOff x="2300" y="1377"/>
                  <a:chExt cx="651" cy="656"/>
                </a:xfrm>
              </p:grpSpPr>
              <p:sp>
                <p:nvSpPr>
                  <p:cNvPr id="7423" name="Freeform 414"/>
                  <p:cNvSpPr/>
                  <p:nvPr/>
                </p:nvSpPr>
                <p:spPr>
                  <a:xfrm>
                    <a:off x="2359" y="1377"/>
                    <a:ext cx="280" cy="184"/>
                  </a:xfrm>
                  <a:custGeom>
                    <a:avLst/>
                    <a:gdLst/>
                    <a:ahLst/>
                    <a:cxnLst>
                      <a:cxn ang="0">
                        <a:pos x="140" y="0"/>
                      </a:cxn>
                      <a:cxn ang="0">
                        <a:pos x="0" y="70"/>
                      </a:cxn>
                      <a:cxn ang="0">
                        <a:pos x="37" y="80"/>
                      </a:cxn>
                      <a:cxn ang="0">
                        <a:pos x="42" y="92"/>
                      </a:cxn>
                      <a:cxn ang="0">
                        <a:pos x="129" y="50"/>
                      </a:cxn>
                      <a:cxn ang="0">
                        <a:pos x="124" y="38"/>
                      </a:cxn>
                      <a:cxn ang="0">
                        <a:pos x="140" y="0"/>
                      </a:cxn>
                    </a:cxnLst>
                    <a:pathLst>
                      <a:path w="561" h="369">
                        <a:moveTo>
                          <a:pt x="561" y="0"/>
                        </a:moveTo>
                        <a:lnTo>
                          <a:pt x="0" y="283"/>
                        </a:lnTo>
                        <a:lnTo>
                          <a:pt x="149" y="321"/>
                        </a:lnTo>
                        <a:lnTo>
                          <a:pt x="171" y="369"/>
                        </a:lnTo>
                        <a:lnTo>
                          <a:pt x="519" y="200"/>
                        </a:lnTo>
                        <a:lnTo>
                          <a:pt x="497" y="153"/>
                        </a:lnTo>
                        <a:lnTo>
                          <a:pt x="561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24" name="Freeform 415"/>
                  <p:cNvSpPr/>
                  <p:nvPr/>
                </p:nvSpPr>
                <p:spPr>
                  <a:xfrm>
                    <a:off x="2445" y="1504"/>
                    <a:ext cx="173" cy="194"/>
                  </a:xfrm>
                  <a:custGeom>
                    <a:avLst/>
                    <a:gdLst/>
                    <a:ahLst/>
                    <a:cxnLst>
                      <a:cxn ang="0">
                        <a:pos x="51" y="0"/>
                      </a:cxn>
                      <a:cxn ang="0">
                        <a:pos x="0" y="26"/>
                      </a:cxn>
                      <a:cxn ang="0">
                        <a:pos x="29" y="86"/>
                      </a:cxn>
                      <a:cxn ang="0">
                        <a:pos x="37" y="89"/>
                      </a:cxn>
                      <a:cxn ang="0">
                        <a:pos x="52" y="97"/>
                      </a:cxn>
                      <a:cxn ang="0">
                        <a:pos x="78" y="85"/>
                      </a:cxn>
                      <a:cxn ang="0">
                        <a:pos x="87" y="73"/>
                      </a:cxn>
                      <a:cxn ang="0">
                        <a:pos x="51" y="0"/>
                      </a:cxn>
                    </a:cxnLst>
                    <a:pathLst>
                      <a:path w="346" h="388">
                        <a:moveTo>
                          <a:pt x="204" y="0"/>
                        </a:moveTo>
                        <a:lnTo>
                          <a:pt x="0" y="103"/>
                        </a:lnTo>
                        <a:lnTo>
                          <a:pt x="116" y="344"/>
                        </a:lnTo>
                        <a:lnTo>
                          <a:pt x="145" y="355"/>
                        </a:lnTo>
                        <a:lnTo>
                          <a:pt x="206" y="388"/>
                        </a:lnTo>
                        <a:lnTo>
                          <a:pt x="312" y="337"/>
                        </a:lnTo>
                        <a:lnTo>
                          <a:pt x="346" y="290"/>
                        </a:lnTo>
                        <a:lnTo>
                          <a:pt x="204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25" name="Freeform 416"/>
                  <p:cNvSpPr/>
                  <p:nvPr/>
                </p:nvSpPr>
                <p:spPr>
                  <a:xfrm>
                    <a:off x="2437" y="1562"/>
                    <a:ext cx="80" cy="181"/>
                  </a:xfrm>
                  <a:custGeom>
                    <a:avLst/>
                    <a:gdLst/>
                    <a:ahLst/>
                    <a:cxnLst>
                      <a:cxn ang="0">
                        <a:pos x="6" y="0"/>
                      </a:cxn>
                      <a:cxn ang="0">
                        <a:pos x="31" y="56"/>
                      </a:cxn>
                      <a:cxn ang="0">
                        <a:pos x="40" y="60"/>
                      </a:cxn>
                      <a:cxn ang="0">
                        <a:pos x="33" y="81"/>
                      </a:cxn>
                      <a:cxn ang="0">
                        <a:pos x="14" y="91"/>
                      </a:cxn>
                      <a:cxn ang="0">
                        <a:pos x="3" y="68"/>
                      </a:cxn>
                      <a:cxn ang="0">
                        <a:pos x="16" y="61"/>
                      </a:cxn>
                      <a:cxn ang="0">
                        <a:pos x="0" y="29"/>
                      </a:cxn>
                      <a:cxn ang="0">
                        <a:pos x="6" y="0"/>
                      </a:cxn>
                    </a:cxnLst>
                    <a:pathLst>
                      <a:path w="159" h="362">
                        <a:moveTo>
                          <a:pt x="22" y="0"/>
                        </a:moveTo>
                        <a:lnTo>
                          <a:pt x="124" y="221"/>
                        </a:lnTo>
                        <a:lnTo>
                          <a:pt x="159" y="239"/>
                        </a:lnTo>
                        <a:lnTo>
                          <a:pt x="131" y="322"/>
                        </a:lnTo>
                        <a:lnTo>
                          <a:pt x="54" y="362"/>
                        </a:lnTo>
                        <a:lnTo>
                          <a:pt x="10" y="269"/>
                        </a:lnTo>
                        <a:lnTo>
                          <a:pt x="63" y="241"/>
                        </a:lnTo>
                        <a:lnTo>
                          <a:pt x="0" y="113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26" name="Freeform 417"/>
                  <p:cNvSpPr/>
                  <p:nvPr/>
                </p:nvSpPr>
                <p:spPr>
                  <a:xfrm>
                    <a:off x="2503" y="1649"/>
                    <a:ext cx="150" cy="81"/>
                  </a:xfrm>
                  <a:custGeom>
                    <a:avLst/>
                    <a:gdLst/>
                    <a:ahLst/>
                    <a:cxnLst>
                      <a:cxn ang="0">
                        <a:pos x="59" y="0"/>
                      </a:cxn>
                      <a:cxn ang="0">
                        <a:pos x="49" y="13"/>
                      </a:cxn>
                      <a:cxn ang="0">
                        <a:pos x="23" y="25"/>
                      </a:cxn>
                      <a:cxn ang="0">
                        <a:pos x="8" y="17"/>
                      </a:cxn>
                      <a:cxn ang="0">
                        <a:pos x="6" y="24"/>
                      </a:cxn>
                      <a:cxn ang="0">
                        <a:pos x="0" y="37"/>
                      </a:cxn>
                      <a:cxn ang="0">
                        <a:pos x="25" y="41"/>
                      </a:cxn>
                      <a:cxn ang="0">
                        <a:pos x="64" y="23"/>
                      </a:cxn>
                      <a:cxn ang="0">
                        <a:pos x="75" y="3"/>
                      </a:cxn>
                      <a:cxn ang="0">
                        <a:pos x="59" y="0"/>
                      </a:cxn>
                    </a:cxnLst>
                    <a:pathLst>
                      <a:path w="300" h="162">
                        <a:moveTo>
                          <a:pt x="235" y="0"/>
                        </a:moveTo>
                        <a:lnTo>
                          <a:pt x="193" y="51"/>
                        </a:lnTo>
                        <a:lnTo>
                          <a:pt x="92" y="100"/>
                        </a:lnTo>
                        <a:lnTo>
                          <a:pt x="29" y="67"/>
                        </a:lnTo>
                        <a:lnTo>
                          <a:pt x="23" y="94"/>
                        </a:lnTo>
                        <a:lnTo>
                          <a:pt x="0" y="145"/>
                        </a:lnTo>
                        <a:lnTo>
                          <a:pt x="97" y="162"/>
                        </a:lnTo>
                        <a:lnTo>
                          <a:pt x="255" y="89"/>
                        </a:lnTo>
                        <a:lnTo>
                          <a:pt x="300" y="11"/>
                        </a:lnTo>
                        <a:lnTo>
                          <a:pt x="235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27" name="Freeform 418"/>
                  <p:cNvSpPr/>
                  <p:nvPr/>
                </p:nvSpPr>
                <p:spPr>
                  <a:xfrm>
                    <a:off x="2698" y="1380"/>
                    <a:ext cx="185" cy="268"/>
                  </a:xfrm>
                  <a:custGeom>
                    <a:avLst/>
                    <a:gdLst/>
                    <a:ahLst/>
                    <a:cxnLst>
                      <a:cxn ang="0">
                        <a:pos x="66" y="115"/>
                      </a:cxn>
                      <a:cxn ang="0">
                        <a:pos x="51" y="82"/>
                      </a:cxn>
                      <a:cxn ang="0">
                        <a:pos x="15" y="78"/>
                      </a:cxn>
                      <a:cxn ang="0">
                        <a:pos x="0" y="56"/>
                      </a:cxn>
                      <a:cxn ang="0">
                        <a:pos x="31" y="59"/>
                      </a:cxn>
                      <a:cxn ang="0">
                        <a:pos x="38" y="57"/>
                      </a:cxn>
                      <a:cxn ang="0">
                        <a:pos x="23" y="24"/>
                      </a:cxn>
                      <a:cxn ang="0">
                        <a:pos x="32" y="0"/>
                      </a:cxn>
                      <a:cxn ang="0">
                        <a:pos x="93" y="126"/>
                      </a:cxn>
                      <a:cxn ang="0">
                        <a:pos x="76" y="134"/>
                      </a:cxn>
                      <a:cxn ang="0">
                        <a:pos x="66" y="115"/>
                      </a:cxn>
                    </a:cxnLst>
                    <a:pathLst>
                      <a:path w="370" h="536">
                        <a:moveTo>
                          <a:pt x="263" y="458"/>
                        </a:moveTo>
                        <a:lnTo>
                          <a:pt x="202" y="326"/>
                        </a:lnTo>
                        <a:lnTo>
                          <a:pt x="59" y="312"/>
                        </a:lnTo>
                        <a:lnTo>
                          <a:pt x="0" y="224"/>
                        </a:lnTo>
                        <a:lnTo>
                          <a:pt x="124" y="236"/>
                        </a:lnTo>
                        <a:lnTo>
                          <a:pt x="152" y="225"/>
                        </a:lnTo>
                        <a:lnTo>
                          <a:pt x="89" y="94"/>
                        </a:lnTo>
                        <a:lnTo>
                          <a:pt x="127" y="0"/>
                        </a:lnTo>
                        <a:lnTo>
                          <a:pt x="370" y="503"/>
                        </a:lnTo>
                        <a:lnTo>
                          <a:pt x="302" y="536"/>
                        </a:lnTo>
                        <a:lnTo>
                          <a:pt x="263" y="458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28" name="Freeform 419"/>
                  <p:cNvSpPr/>
                  <p:nvPr/>
                </p:nvSpPr>
                <p:spPr>
                  <a:xfrm>
                    <a:off x="2852" y="1634"/>
                    <a:ext cx="46" cy="38"/>
                  </a:xfrm>
                  <a:custGeom>
                    <a:avLst/>
                    <a:gdLst/>
                    <a:ahLst/>
                    <a:cxnLst>
                      <a:cxn ang="0">
                        <a:pos x="18" y="0"/>
                      </a:cxn>
                      <a:cxn ang="0">
                        <a:pos x="0" y="8"/>
                      </a:cxn>
                      <a:cxn ang="0">
                        <a:pos x="6" y="19"/>
                      </a:cxn>
                      <a:cxn ang="0">
                        <a:pos x="23" y="11"/>
                      </a:cxn>
                      <a:cxn ang="0">
                        <a:pos x="18" y="0"/>
                      </a:cxn>
                    </a:cxnLst>
                    <a:pathLst>
                      <a:path w="92" h="77">
                        <a:moveTo>
                          <a:pt x="70" y="0"/>
                        </a:moveTo>
                        <a:lnTo>
                          <a:pt x="0" y="33"/>
                        </a:lnTo>
                        <a:lnTo>
                          <a:pt x="23" y="77"/>
                        </a:lnTo>
                        <a:lnTo>
                          <a:pt x="92" y="45"/>
                        </a:lnTo>
                        <a:lnTo>
                          <a:pt x="70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29" name="Freeform 420"/>
                  <p:cNvSpPr/>
                  <p:nvPr/>
                </p:nvSpPr>
                <p:spPr>
                  <a:xfrm>
                    <a:off x="2864" y="1654"/>
                    <a:ext cx="51" cy="43"/>
                  </a:xfrm>
                  <a:custGeom>
                    <a:avLst/>
                    <a:gdLst/>
                    <a:ahLst/>
                    <a:cxnLst>
                      <a:cxn ang="0">
                        <a:pos x="19" y="0"/>
                      </a:cxn>
                      <a:cxn ang="0">
                        <a:pos x="0" y="10"/>
                      </a:cxn>
                      <a:cxn ang="0">
                        <a:pos x="6" y="22"/>
                      </a:cxn>
                      <a:cxn ang="0">
                        <a:pos x="26" y="13"/>
                      </a:cxn>
                      <a:cxn ang="0">
                        <a:pos x="19" y="0"/>
                      </a:cxn>
                    </a:cxnLst>
                    <a:pathLst>
                      <a:path w="101" h="84">
                        <a:moveTo>
                          <a:pt x="75" y="0"/>
                        </a:moveTo>
                        <a:lnTo>
                          <a:pt x="0" y="39"/>
                        </a:lnTo>
                        <a:lnTo>
                          <a:pt x="22" y="84"/>
                        </a:lnTo>
                        <a:lnTo>
                          <a:pt x="101" y="50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0" name="Freeform 421"/>
                  <p:cNvSpPr/>
                  <p:nvPr/>
                </p:nvSpPr>
                <p:spPr>
                  <a:xfrm>
                    <a:off x="2877" y="1681"/>
                    <a:ext cx="47" cy="41"/>
                  </a:xfrm>
                  <a:custGeom>
                    <a:avLst/>
                    <a:gdLst/>
                    <a:ahLst/>
                    <a:cxnLst>
                      <a:cxn ang="0">
                        <a:pos x="17" y="0"/>
                      </a:cxn>
                      <a:cxn ang="0">
                        <a:pos x="0" y="9"/>
                      </a:cxn>
                      <a:cxn ang="0">
                        <a:pos x="6" y="21"/>
                      </a:cxn>
                      <a:cxn ang="0">
                        <a:pos x="24" y="12"/>
                      </a:cxn>
                      <a:cxn ang="0">
                        <a:pos x="17" y="0"/>
                      </a:cxn>
                    </a:cxnLst>
                    <a:pathLst>
                      <a:path w="93" h="81">
                        <a:moveTo>
                          <a:pt x="67" y="0"/>
                        </a:moveTo>
                        <a:lnTo>
                          <a:pt x="0" y="33"/>
                        </a:lnTo>
                        <a:lnTo>
                          <a:pt x="23" y="81"/>
                        </a:lnTo>
                        <a:lnTo>
                          <a:pt x="93" y="48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1" name="Freeform 422"/>
                  <p:cNvSpPr/>
                  <p:nvPr/>
                </p:nvSpPr>
                <p:spPr>
                  <a:xfrm>
                    <a:off x="2617" y="1613"/>
                    <a:ext cx="222" cy="316"/>
                  </a:xfrm>
                  <a:custGeom>
                    <a:avLst/>
                    <a:gdLst/>
                    <a:ahLst/>
                    <a:cxnLst>
                      <a:cxn ang="0">
                        <a:pos x="111" y="16"/>
                      </a:cxn>
                      <a:cxn ang="0">
                        <a:pos x="60" y="0"/>
                      </a:cxn>
                      <a:cxn ang="0">
                        <a:pos x="0" y="158"/>
                      </a:cxn>
                      <a:cxn ang="0">
                        <a:pos x="60" y="129"/>
                      </a:cxn>
                      <a:cxn ang="0">
                        <a:pos x="111" y="16"/>
                      </a:cxn>
                    </a:cxnLst>
                    <a:pathLst>
                      <a:path w="445" h="632">
                        <a:moveTo>
                          <a:pt x="445" y="61"/>
                        </a:moveTo>
                        <a:lnTo>
                          <a:pt x="241" y="0"/>
                        </a:lnTo>
                        <a:lnTo>
                          <a:pt x="0" y="632"/>
                        </a:lnTo>
                        <a:lnTo>
                          <a:pt x="243" y="513"/>
                        </a:lnTo>
                        <a:lnTo>
                          <a:pt x="445" y="61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2" name="Freeform 423"/>
                  <p:cNvSpPr/>
                  <p:nvPr/>
                </p:nvSpPr>
                <p:spPr>
                  <a:xfrm>
                    <a:off x="2637" y="1616"/>
                    <a:ext cx="114" cy="304"/>
                  </a:xfrm>
                  <a:custGeom>
                    <a:avLst/>
                    <a:gdLst/>
                    <a:ahLst/>
                    <a:cxnLst>
                      <a:cxn ang="0">
                        <a:pos x="51" y="0"/>
                      </a:cxn>
                      <a:cxn ang="0">
                        <a:pos x="0" y="152"/>
                      </a:cxn>
                      <a:cxn ang="0">
                        <a:pos x="8" y="148"/>
                      </a:cxn>
                      <a:cxn ang="0">
                        <a:pos x="57" y="3"/>
                      </a:cxn>
                      <a:cxn ang="0">
                        <a:pos x="51" y="0"/>
                      </a:cxn>
                    </a:cxnLst>
                    <a:pathLst>
                      <a:path w="228" h="608">
                        <a:moveTo>
                          <a:pt x="202" y="0"/>
                        </a:moveTo>
                        <a:lnTo>
                          <a:pt x="0" y="608"/>
                        </a:lnTo>
                        <a:lnTo>
                          <a:pt x="32" y="590"/>
                        </a:lnTo>
                        <a:lnTo>
                          <a:pt x="228" y="10"/>
                        </a:lnTo>
                        <a:lnTo>
                          <a:pt x="202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3" name="Freeform 424"/>
                  <p:cNvSpPr/>
                  <p:nvPr/>
                </p:nvSpPr>
                <p:spPr>
                  <a:xfrm>
                    <a:off x="2671" y="1621"/>
                    <a:ext cx="108" cy="281"/>
                  </a:xfrm>
                  <a:custGeom>
                    <a:avLst/>
                    <a:gdLst/>
                    <a:ahLst/>
                    <a:cxnLst>
                      <a:cxn ang="0">
                        <a:pos x="47" y="0"/>
                      </a:cxn>
                      <a:cxn ang="0">
                        <a:pos x="0" y="140"/>
                      </a:cxn>
                      <a:cxn ang="0">
                        <a:pos x="10" y="136"/>
                      </a:cxn>
                      <a:cxn ang="0">
                        <a:pos x="54" y="3"/>
                      </a:cxn>
                      <a:cxn ang="0">
                        <a:pos x="47" y="0"/>
                      </a:cxn>
                    </a:cxnLst>
                    <a:pathLst>
                      <a:path w="217" h="563">
                        <a:moveTo>
                          <a:pt x="190" y="0"/>
                        </a:moveTo>
                        <a:lnTo>
                          <a:pt x="0" y="563"/>
                        </a:lnTo>
                        <a:lnTo>
                          <a:pt x="41" y="544"/>
                        </a:lnTo>
                        <a:lnTo>
                          <a:pt x="217" y="13"/>
                        </a:lnTo>
                        <a:lnTo>
                          <a:pt x="190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4" name="Freeform 425"/>
                  <p:cNvSpPr/>
                  <p:nvPr/>
                </p:nvSpPr>
                <p:spPr>
                  <a:xfrm>
                    <a:off x="2466" y="1613"/>
                    <a:ext cx="271" cy="352"/>
                  </a:xfrm>
                  <a:custGeom>
                    <a:avLst/>
                    <a:gdLst/>
                    <a:ahLst/>
                    <a:cxnLst>
                      <a:cxn ang="0">
                        <a:pos x="136" y="0"/>
                      </a:cxn>
                      <a:cxn ang="0">
                        <a:pos x="131" y="9"/>
                      </a:cxn>
                      <a:cxn ang="0">
                        <a:pos x="97" y="24"/>
                      </a:cxn>
                      <a:cxn ang="0">
                        <a:pos x="95" y="21"/>
                      </a:cxn>
                      <a:cxn ang="0">
                        <a:pos x="84" y="40"/>
                      </a:cxn>
                      <a:cxn ang="0">
                        <a:pos x="43" y="60"/>
                      </a:cxn>
                      <a:cxn ang="0">
                        <a:pos x="17" y="56"/>
                      </a:cxn>
                      <a:cxn ang="0">
                        <a:pos x="3" y="63"/>
                      </a:cxn>
                      <a:cxn ang="0">
                        <a:pos x="22" y="102"/>
                      </a:cxn>
                      <a:cxn ang="0">
                        <a:pos x="0" y="153"/>
                      </a:cxn>
                      <a:cxn ang="0">
                        <a:pos x="39" y="177"/>
                      </a:cxn>
                      <a:cxn ang="0">
                        <a:pos x="80" y="156"/>
                      </a:cxn>
                      <a:cxn ang="0">
                        <a:pos x="136" y="0"/>
                      </a:cxn>
                    </a:cxnLst>
                    <a:pathLst>
                      <a:path w="542" h="702">
                        <a:moveTo>
                          <a:pt x="542" y="0"/>
                        </a:moveTo>
                        <a:lnTo>
                          <a:pt x="524" y="33"/>
                        </a:lnTo>
                        <a:lnTo>
                          <a:pt x="386" y="95"/>
                        </a:lnTo>
                        <a:lnTo>
                          <a:pt x="377" y="81"/>
                        </a:lnTo>
                        <a:lnTo>
                          <a:pt x="334" y="160"/>
                        </a:lnTo>
                        <a:lnTo>
                          <a:pt x="172" y="238"/>
                        </a:lnTo>
                        <a:lnTo>
                          <a:pt x="68" y="222"/>
                        </a:lnTo>
                        <a:lnTo>
                          <a:pt x="11" y="250"/>
                        </a:lnTo>
                        <a:lnTo>
                          <a:pt x="87" y="407"/>
                        </a:lnTo>
                        <a:lnTo>
                          <a:pt x="0" y="609"/>
                        </a:lnTo>
                        <a:lnTo>
                          <a:pt x="156" y="702"/>
                        </a:lnTo>
                        <a:lnTo>
                          <a:pt x="319" y="622"/>
                        </a:lnTo>
                        <a:lnTo>
                          <a:pt x="542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5" name="Freeform 426"/>
                  <p:cNvSpPr/>
                  <p:nvPr/>
                </p:nvSpPr>
                <p:spPr>
                  <a:xfrm>
                    <a:off x="2475" y="1635"/>
                    <a:ext cx="236" cy="135"/>
                  </a:xfrm>
                  <a:custGeom>
                    <a:avLst/>
                    <a:gdLst/>
                    <a:ahLst/>
                    <a:cxnLst>
                      <a:cxn ang="0">
                        <a:pos x="99" y="9"/>
                      </a:cxn>
                      <a:cxn ang="0">
                        <a:pos x="84" y="37"/>
                      </a:cxn>
                      <a:cxn ang="0">
                        <a:pos x="41" y="58"/>
                      </a:cxn>
                      <a:cxn ang="0">
                        <a:pos x="16" y="53"/>
                      </a:cxn>
                      <a:cxn ang="0">
                        <a:pos x="11" y="45"/>
                      </a:cxn>
                      <a:cxn ang="0">
                        <a:pos x="0" y="51"/>
                      </a:cxn>
                      <a:cxn ang="0">
                        <a:pos x="6" y="64"/>
                      </a:cxn>
                      <a:cxn ang="0">
                        <a:pos x="46" y="68"/>
                      </a:cxn>
                      <a:cxn ang="0">
                        <a:pos x="88" y="47"/>
                      </a:cxn>
                      <a:cxn ang="0">
                        <a:pos x="118" y="0"/>
                      </a:cxn>
                      <a:cxn ang="0">
                        <a:pos x="99" y="9"/>
                      </a:cxn>
                    </a:cxnLst>
                    <a:pathLst>
                      <a:path w="473" h="270">
                        <a:moveTo>
                          <a:pt x="397" y="35"/>
                        </a:moveTo>
                        <a:lnTo>
                          <a:pt x="336" y="148"/>
                        </a:lnTo>
                        <a:lnTo>
                          <a:pt x="167" y="229"/>
                        </a:lnTo>
                        <a:lnTo>
                          <a:pt x="66" y="212"/>
                        </a:lnTo>
                        <a:lnTo>
                          <a:pt x="46" y="179"/>
                        </a:lnTo>
                        <a:lnTo>
                          <a:pt x="0" y="202"/>
                        </a:lnTo>
                        <a:lnTo>
                          <a:pt x="26" y="253"/>
                        </a:lnTo>
                        <a:lnTo>
                          <a:pt x="187" y="270"/>
                        </a:lnTo>
                        <a:lnTo>
                          <a:pt x="355" y="188"/>
                        </a:lnTo>
                        <a:lnTo>
                          <a:pt x="473" y="0"/>
                        </a:lnTo>
                        <a:lnTo>
                          <a:pt x="397" y="35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6" name="Freeform 427"/>
                  <p:cNvSpPr/>
                  <p:nvPr/>
                </p:nvSpPr>
                <p:spPr>
                  <a:xfrm>
                    <a:off x="2494" y="1718"/>
                    <a:ext cx="198" cy="219"/>
                  </a:xfrm>
                  <a:custGeom>
                    <a:avLst/>
                    <a:gdLst/>
                    <a:ahLst/>
                    <a:cxnLst>
                      <a:cxn ang="0">
                        <a:pos x="99" y="0"/>
                      </a:cxn>
                      <a:cxn ang="0">
                        <a:pos x="38" y="31"/>
                      </a:cxn>
                      <a:cxn ang="0">
                        <a:pos x="0" y="27"/>
                      </a:cxn>
                      <a:cxn ang="0">
                        <a:pos x="21" y="47"/>
                      </a:cxn>
                      <a:cxn ang="0">
                        <a:pos x="51" y="110"/>
                      </a:cxn>
                      <a:cxn ang="0">
                        <a:pos x="61" y="104"/>
                      </a:cxn>
                      <a:cxn ang="0">
                        <a:pos x="99" y="0"/>
                      </a:cxn>
                    </a:cxnLst>
                    <a:pathLst>
                      <a:path w="397" h="437">
                        <a:moveTo>
                          <a:pt x="397" y="0"/>
                        </a:moveTo>
                        <a:lnTo>
                          <a:pt x="155" y="121"/>
                        </a:lnTo>
                        <a:lnTo>
                          <a:pt x="0" y="106"/>
                        </a:lnTo>
                        <a:lnTo>
                          <a:pt x="85" y="185"/>
                        </a:lnTo>
                        <a:lnTo>
                          <a:pt x="205" y="437"/>
                        </a:lnTo>
                        <a:lnTo>
                          <a:pt x="246" y="416"/>
                        </a:lnTo>
                        <a:lnTo>
                          <a:pt x="397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7" name="Freeform 428"/>
                  <p:cNvSpPr/>
                  <p:nvPr/>
                </p:nvSpPr>
                <p:spPr>
                  <a:xfrm>
                    <a:off x="2392" y="1740"/>
                    <a:ext cx="148" cy="237"/>
                  </a:xfrm>
                  <a:custGeom>
                    <a:avLst/>
                    <a:gdLst/>
                    <a:ahLst/>
                    <a:cxnLst>
                      <a:cxn ang="0">
                        <a:pos x="39" y="0"/>
                      </a:cxn>
                      <a:cxn ang="0">
                        <a:pos x="59" y="40"/>
                      </a:cxn>
                      <a:cxn ang="0">
                        <a:pos x="37" y="89"/>
                      </a:cxn>
                      <a:cxn ang="0">
                        <a:pos x="74" y="112"/>
                      </a:cxn>
                      <a:cxn ang="0">
                        <a:pos x="62" y="118"/>
                      </a:cxn>
                      <a:cxn ang="0">
                        <a:pos x="33" y="96"/>
                      </a:cxn>
                      <a:cxn ang="0">
                        <a:pos x="14" y="106"/>
                      </a:cxn>
                      <a:cxn ang="0">
                        <a:pos x="0" y="77"/>
                      </a:cxn>
                      <a:cxn ang="0">
                        <a:pos x="17" y="44"/>
                      </a:cxn>
                      <a:cxn ang="0">
                        <a:pos x="9" y="29"/>
                      </a:cxn>
                      <a:cxn ang="0">
                        <a:pos x="21" y="24"/>
                      </a:cxn>
                      <a:cxn ang="0">
                        <a:pos x="39" y="0"/>
                      </a:cxn>
                    </a:cxnLst>
                    <a:pathLst>
                      <a:path w="295" h="475">
                        <a:moveTo>
                          <a:pt x="153" y="0"/>
                        </a:moveTo>
                        <a:lnTo>
                          <a:pt x="233" y="162"/>
                        </a:lnTo>
                        <a:lnTo>
                          <a:pt x="145" y="356"/>
                        </a:lnTo>
                        <a:lnTo>
                          <a:pt x="295" y="451"/>
                        </a:lnTo>
                        <a:lnTo>
                          <a:pt x="245" y="475"/>
                        </a:lnTo>
                        <a:lnTo>
                          <a:pt x="130" y="387"/>
                        </a:lnTo>
                        <a:lnTo>
                          <a:pt x="53" y="426"/>
                        </a:lnTo>
                        <a:lnTo>
                          <a:pt x="0" y="311"/>
                        </a:lnTo>
                        <a:lnTo>
                          <a:pt x="65" y="178"/>
                        </a:lnTo>
                        <a:lnTo>
                          <a:pt x="35" y="118"/>
                        </a:lnTo>
                        <a:lnTo>
                          <a:pt x="83" y="96"/>
                        </a:lnTo>
                        <a:lnTo>
                          <a:pt x="153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8" name="Freeform 429"/>
                  <p:cNvSpPr/>
                  <p:nvPr/>
                </p:nvSpPr>
                <p:spPr>
                  <a:xfrm>
                    <a:off x="2394" y="1753"/>
                    <a:ext cx="96" cy="175"/>
                  </a:xfrm>
                  <a:custGeom>
                    <a:avLst/>
                    <a:gdLst/>
                    <a:ahLst/>
                    <a:cxnLst>
                      <a:cxn ang="0">
                        <a:pos x="32" y="0"/>
                      </a:cxn>
                      <a:cxn ang="0">
                        <a:pos x="48" y="33"/>
                      </a:cxn>
                      <a:cxn ang="0">
                        <a:pos x="27" y="78"/>
                      </a:cxn>
                      <a:cxn ang="0">
                        <a:pos x="8" y="88"/>
                      </a:cxn>
                      <a:cxn ang="0">
                        <a:pos x="0" y="72"/>
                      </a:cxn>
                      <a:cxn ang="0">
                        <a:pos x="16" y="65"/>
                      </a:cxn>
                      <a:cxn ang="0">
                        <a:pos x="29" y="35"/>
                      </a:cxn>
                      <a:cxn ang="0">
                        <a:pos x="20" y="18"/>
                      </a:cxn>
                      <a:cxn ang="0">
                        <a:pos x="32" y="0"/>
                      </a:cxn>
                    </a:cxnLst>
                    <a:pathLst>
                      <a:path w="192" h="349">
                        <a:moveTo>
                          <a:pt x="128" y="0"/>
                        </a:moveTo>
                        <a:lnTo>
                          <a:pt x="192" y="130"/>
                        </a:lnTo>
                        <a:lnTo>
                          <a:pt x="106" y="311"/>
                        </a:lnTo>
                        <a:lnTo>
                          <a:pt x="32" y="349"/>
                        </a:lnTo>
                        <a:lnTo>
                          <a:pt x="0" y="288"/>
                        </a:lnTo>
                        <a:lnTo>
                          <a:pt x="64" y="259"/>
                        </a:lnTo>
                        <a:lnTo>
                          <a:pt x="113" y="140"/>
                        </a:lnTo>
                        <a:lnTo>
                          <a:pt x="80" y="69"/>
                        </a:lnTo>
                        <a:lnTo>
                          <a:pt x="128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39" name="Freeform 430"/>
                  <p:cNvSpPr/>
                  <p:nvPr/>
                </p:nvSpPr>
                <p:spPr>
                  <a:xfrm>
                    <a:off x="2376" y="1800"/>
                    <a:ext cx="46" cy="91"/>
                  </a:xfrm>
                  <a:custGeom>
                    <a:avLst/>
                    <a:gdLst/>
                    <a:ahLst/>
                    <a:cxnLst>
                      <a:cxn ang="0">
                        <a:pos x="16" y="0"/>
                      </a:cxn>
                      <a:cxn ang="0">
                        <a:pos x="0" y="31"/>
                      </a:cxn>
                      <a:cxn ang="0">
                        <a:pos x="8" y="46"/>
                      </a:cxn>
                      <a:cxn ang="0">
                        <a:pos x="23" y="15"/>
                      </a:cxn>
                      <a:cxn ang="0">
                        <a:pos x="16" y="0"/>
                      </a:cxn>
                    </a:cxnLst>
                    <a:pathLst>
                      <a:path w="92" h="180">
                        <a:moveTo>
                          <a:pt x="64" y="0"/>
                        </a:moveTo>
                        <a:lnTo>
                          <a:pt x="0" y="121"/>
                        </a:lnTo>
                        <a:lnTo>
                          <a:pt x="30" y="180"/>
                        </a:lnTo>
                        <a:lnTo>
                          <a:pt x="92" y="60"/>
                        </a:lnTo>
                        <a:lnTo>
                          <a:pt x="64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0" name="Freeform 431"/>
                  <p:cNvSpPr/>
                  <p:nvPr/>
                </p:nvSpPr>
                <p:spPr>
                  <a:xfrm>
                    <a:off x="2888" y="1706"/>
                    <a:ext cx="63" cy="77"/>
                  </a:xfrm>
                  <a:custGeom>
                    <a:avLst/>
                    <a:gdLst/>
                    <a:ahLst/>
                    <a:cxnLst>
                      <a:cxn ang="0">
                        <a:pos x="13" y="39"/>
                      </a:cxn>
                      <a:cxn ang="0">
                        <a:pos x="31" y="30"/>
                      </a:cxn>
                      <a:cxn ang="0">
                        <a:pos x="17" y="0"/>
                      </a:cxn>
                      <a:cxn ang="0">
                        <a:pos x="0" y="10"/>
                      </a:cxn>
                      <a:cxn ang="0">
                        <a:pos x="13" y="39"/>
                      </a:cxn>
                    </a:cxnLst>
                    <a:pathLst>
                      <a:path w="127" h="154">
                        <a:moveTo>
                          <a:pt x="54" y="154"/>
                        </a:moveTo>
                        <a:lnTo>
                          <a:pt x="127" y="118"/>
                        </a:lnTo>
                        <a:lnTo>
                          <a:pt x="71" y="0"/>
                        </a:lnTo>
                        <a:lnTo>
                          <a:pt x="0" y="37"/>
                        </a:lnTo>
                        <a:lnTo>
                          <a:pt x="54" y="154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1" name="Freeform 432"/>
                  <p:cNvSpPr/>
                  <p:nvPr/>
                </p:nvSpPr>
                <p:spPr>
                  <a:xfrm>
                    <a:off x="2906" y="1716"/>
                    <a:ext cx="45" cy="59"/>
                  </a:xfrm>
                  <a:custGeom>
                    <a:avLst/>
                    <a:gdLst/>
                    <a:ahLst/>
                    <a:cxnLst>
                      <a:cxn ang="0">
                        <a:pos x="0" y="5"/>
                      </a:cxn>
                      <a:cxn ang="0">
                        <a:pos x="12" y="29"/>
                      </a:cxn>
                      <a:cxn ang="0">
                        <a:pos x="23" y="24"/>
                      </a:cxn>
                      <a:cxn ang="0">
                        <a:pos x="12" y="0"/>
                      </a:cxn>
                      <a:cxn ang="0">
                        <a:pos x="0" y="5"/>
                      </a:cxn>
                    </a:cxnLst>
                    <a:pathLst>
                      <a:path w="90" h="119">
                        <a:moveTo>
                          <a:pt x="0" y="22"/>
                        </a:moveTo>
                        <a:lnTo>
                          <a:pt x="45" y="119"/>
                        </a:lnTo>
                        <a:lnTo>
                          <a:pt x="90" y="97"/>
                        </a:lnTo>
                        <a:lnTo>
                          <a:pt x="45" y="0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2" name="Freeform 433"/>
                  <p:cNvSpPr/>
                  <p:nvPr/>
                </p:nvSpPr>
                <p:spPr>
                  <a:xfrm>
                    <a:off x="2847" y="1693"/>
                    <a:ext cx="66" cy="110"/>
                  </a:xfrm>
                  <a:custGeom>
                    <a:avLst/>
                    <a:gdLst/>
                    <a:ahLst/>
                    <a:cxnLst>
                      <a:cxn ang="0">
                        <a:pos x="13" y="0"/>
                      </a:cxn>
                      <a:cxn ang="0">
                        <a:pos x="2" y="3"/>
                      </a:cxn>
                      <a:cxn ang="0">
                        <a:pos x="0" y="29"/>
                      </a:cxn>
                      <a:cxn ang="0">
                        <a:pos x="13" y="55"/>
                      </a:cxn>
                      <a:cxn ang="0">
                        <a:pos x="33" y="45"/>
                      </a:cxn>
                      <a:cxn ang="0">
                        <a:pos x="13" y="0"/>
                      </a:cxn>
                    </a:cxnLst>
                    <a:pathLst>
                      <a:path w="132" h="221">
                        <a:moveTo>
                          <a:pt x="49" y="0"/>
                        </a:moveTo>
                        <a:lnTo>
                          <a:pt x="8" y="12"/>
                        </a:lnTo>
                        <a:lnTo>
                          <a:pt x="0" y="116"/>
                        </a:lnTo>
                        <a:lnTo>
                          <a:pt x="51" y="221"/>
                        </a:lnTo>
                        <a:lnTo>
                          <a:pt x="132" y="181"/>
                        </a:lnTo>
                        <a:lnTo>
                          <a:pt x="49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3" name="Freeform 434"/>
                  <p:cNvSpPr/>
                  <p:nvPr/>
                </p:nvSpPr>
                <p:spPr>
                  <a:xfrm>
                    <a:off x="2787" y="1642"/>
                    <a:ext cx="85" cy="188"/>
                  </a:xfrm>
                  <a:custGeom>
                    <a:avLst/>
                    <a:gdLst/>
                    <a:ahLst/>
                    <a:cxnLst>
                      <a:cxn ang="0">
                        <a:pos x="43" y="80"/>
                      </a:cxn>
                      <a:cxn ang="0">
                        <a:pos x="16" y="94"/>
                      </a:cxn>
                      <a:cxn ang="0">
                        <a:pos x="0" y="60"/>
                      </a:cxn>
                      <a:cxn ang="0">
                        <a:pos x="25" y="0"/>
                      </a:cxn>
                      <a:cxn ang="0">
                        <a:pos x="29" y="3"/>
                      </a:cxn>
                      <a:cxn ang="0">
                        <a:pos x="40" y="26"/>
                      </a:cxn>
                      <a:cxn ang="0">
                        <a:pos x="31" y="31"/>
                      </a:cxn>
                      <a:cxn ang="0">
                        <a:pos x="30" y="53"/>
                      </a:cxn>
                      <a:cxn ang="0">
                        <a:pos x="43" y="80"/>
                      </a:cxn>
                    </a:cxnLst>
                    <a:pathLst>
                      <a:path w="169" h="378">
                        <a:moveTo>
                          <a:pt x="169" y="323"/>
                        </a:moveTo>
                        <a:lnTo>
                          <a:pt x="64" y="378"/>
                        </a:lnTo>
                        <a:lnTo>
                          <a:pt x="0" y="241"/>
                        </a:lnTo>
                        <a:lnTo>
                          <a:pt x="99" y="0"/>
                        </a:lnTo>
                        <a:lnTo>
                          <a:pt x="116" y="15"/>
                        </a:lnTo>
                        <a:lnTo>
                          <a:pt x="160" y="105"/>
                        </a:lnTo>
                        <a:lnTo>
                          <a:pt x="124" y="124"/>
                        </a:lnTo>
                        <a:lnTo>
                          <a:pt x="118" y="216"/>
                        </a:lnTo>
                        <a:lnTo>
                          <a:pt x="169" y="323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4" name="Freeform 435"/>
                  <p:cNvSpPr/>
                  <p:nvPr/>
                </p:nvSpPr>
                <p:spPr>
                  <a:xfrm>
                    <a:off x="2740" y="1767"/>
                    <a:ext cx="77" cy="102"/>
                  </a:xfrm>
                  <a:custGeom>
                    <a:avLst/>
                    <a:gdLst/>
                    <a:ahLst/>
                    <a:cxnLst>
                      <a:cxn ang="0">
                        <a:pos x="23" y="0"/>
                      </a:cxn>
                      <a:cxn ang="0">
                        <a:pos x="0" y="51"/>
                      </a:cxn>
                      <a:cxn ang="0">
                        <a:pos x="39" y="32"/>
                      </a:cxn>
                      <a:cxn ang="0">
                        <a:pos x="23" y="0"/>
                      </a:cxn>
                    </a:cxnLst>
                    <a:pathLst>
                      <a:path w="154" h="203">
                        <a:moveTo>
                          <a:pt x="90" y="0"/>
                        </a:moveTo>
                        <a:lnTo>
                          <a:pt x="0" y="203"/>
                        </a:lnTo>
                        <a:lnTo>
                          <a:pt x="154" y="128"/>
                        </a:lnTo>
                        <a:lnTo>
                          <a:pt x="90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5" name="Freeform 436"/>
                  <p:cNvSpPr/>
                  <p:nvPr/>
                </p:nvSpPr>
                <p:spPr>
                  <a:xfrm>
                    <a:off x="2708" y="1635"/>
                    <a:ext cx="112" cy="250"/>
                  </a:xfrm>
                  <a:custGeom>
                    <a:avLst/>
                    <a:gdLst/>
                    <a:ahLst/>
                    <a:cxnLst>
                      <a:cxn ang="0">
                        <a:pos x="56" y="4"/>
                      </a:cxn>
                      <a:cxn ang="0">
                        <a:pos x="44" y="0"/>
                      </a:cxn>
                      <a:cxn ang="0">
                        <a:pos x="0" y="125"/>
                      </a:cxn>
                      <a:cxn ang="0">
                        <a:pos x="9" y="120"/>
                      </a:cxn>
                      <a:cxn ang="0">
                        <a:pos x="56" y="4"/>
                      </a:cxn>
                    </a:cxnLst>
                    <a:pathLst>
                      <a:path w="223" h="501">
                        <a:moveTo>
                          <a:pt x="223" y="16"/>
                        </a:moveTo>
                        <a:lnTo>
                          <a:pt x="173" y="0"/>
                        </a:lnTo>
                        <a:lnTo>
                          <a:pt x="0" y="501"/>
                        </a:lnTo>
                        <a:lnTo>
                          <a:pt x="35" y="481"/>
                        </a:lnTo>
                        <a:lnTo>
                          <a:pt x="223" y="16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6" name="Freeform 437"/>
                  <p:cNvSpPr/>
                  <p:nvPr/>
                </p:nvSpPr>
                <p:spPr>
                  <a:xfrm>
                    <a:off x="2478" y="1814"/>
                    <a:ext cx="53" cy="138"/>
                  </a:xfrm>
                  <a:custGeom>
                    <a:avLst/>
                    <a:gdLst/>
                    <a:ahLst/>
                    <a:cxnLst>
                      <a:cxn ang="0">
                        <a:pos x="22" y="0"/>
                      </a:cxn>
                      <a:cxn ang="0">
                        <a:pos x="27" y="69"/>
                      </a:cxn>
                      <a:cxn ang="0">
                        <a:pos x="0" y="52"/>
                      </a:cxn>
                      <a:cxn ang="0">
                        <a:pos x="22" y="0"/>
                      </a:cxn>
                    </a:cxnLst>
                    <a:pathLst>
                      <a:path w="106" h="275">
                        <a:moveTo>
                          <a:pt x="86" y="0"/>
                        </a:moveTo>
                        <a:lnTo>
                          <a:pt x="106" y="275"/>
                        </a:lnTo>
                        <a:lnTo>
                          <a:pt x="0" y="206"/>
                        </a:lnTo>
                        <a:lnTo>
                          <a:pt x="86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7" name="Freeform 438"/>
                  <p:cNvSpPr/>
                  <p:nvPr/>
                </p:nvSpPr>
                <p:spPr>
                  <a:xfrm>
                    <a:off x="2821" y="1640"/>
                    <a:ext cx="49" cy="63"/>
                  </a:xfrm>
                  <a:custGeom>
                    <a:avLst/>
                    <a:gdLst/>
                    <a:ahLst/>
                    <a:cxnLst>
                      <a:cxn ang="0">
                        <a:pos x="13" y="0"/>
                      </a:cxn>
                      <a:cxn ang="0">
                        <a:pos x="0" y="7"/>
                      </a:cxn>
                      <a:cxn ang="0">
                        <a:pos x="12" y="32"/>
                      </a:cxn>
                      <a:cxn ang="0">
                        <a:pos x="25" y="25"/>
                      </a:cxn>
                      <a:cxn ang="0">
                        <a:pos x="13" y="0"/>
                      </a:cxn>
                    </a:cxnLst>
                    <a:pathLst>
                      <a:path w="98" h="126">
                        <a:moveTo>
                          <a:pt x="50" y="0"/>
                        </a:moveTo>
                        <a:lnTo>
                          <a:pt x="0" y="27"/>
                        </a:lnTo>
                        <a:lnTo>
                          <a:pt x="48" y="126"/>
                        </a:lnTo>
                        <a:lnTo>
                          <a:pt x="98" y="99"/>
                        </a:lnTo>
                        <a:lnTo>
                          <a:pt x="50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8" name="Freeform 439"/>
                  <p:cNvSpPr/>
                  <p:nvPr/>
                </p:nvSpPr>
                <p:spPr>
                  <a:xfrm>
                    <a:off x="2549" y="1471"/>
                    <a:ext cx="194" cy="191"/>
                  </a:xfrm>
                  <a:custGeom>
                    <a:avLst/>
                    <a:gdLst/>
                    <a:ahLst/>
                    <a:cxnLst>
                      <a:cxn ang="0">
                        <a:pos x="34" y="0"/>
                      </a:cxn>
                      <a:cxn ang="0">
                        <a:pos x="62" y="56"/>
                      </a:cxn>
                      <a:cxn ang="0">
                        <a:pos x="73" y="58"/>
                      </a:cxn>
                      <a:cxn ang="0">
                        <a:pos x="87" y="52"/>
                      </a:cxn>
                      <a:cxn ang="0">
                        <a:pos x="97" y="74"/>
                      </a:cxn>
                      <a:cxn ang="0">
                        <a:pos x="54" y="95"/>
                      </a:cxn>
                      <a:cxn ang="0">
                        <a:pos x="36" y="89"/>
                      </a:cxn>
                      <a:cxn ang="0">
                        <a:pos x="0" y="16"/>
                      </a:cxn>
                      <a:cxn ang="0">
                        <a:pos x="34" y="0"/>
                      </a:cxn>
                    </a:cxnLst>
                    <a:pathLst>
                      <a:path w="388" h="384">
                        <a:moveTo>
                          <a:pt x="136" y="0"/>
                        </a:moveTo>
                        <a:lnTo>
                          <a:pt x="245" y="226"/>
                        </a:lnTo>
                        <a:lnTo>
                          <a:pt x="291" y="235"/>
                        </a:lnTo>
                        <a:lnTo>
                          <a:pt x="346" y="210"/>
                        </a:lnTo>
                        <a:lnTo>
                          <a:pt x="388" y="299"/>
                        </a:lnTo>
                        <a:lnTo>
                          <a:pt x="214" y="384"/>
                        </a:lnTo>
                        <a:lnTo>
                          <a:pt x="143" y="358"/>
                        </a:lnTo>
                        <a:lnTo>
                          <a:pt x="0" y="66"/>
                        </a:lnTo>
                        <a:lnTo>
                          <a:pt x="136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49" name="Freeform 440"/>
                  <p:cNvSpPr/>
                  <p:nvPr/>
                </p:nvSpPr>
                <p:spPr>
                  <a:xfrm>
                    <a:off x="2300" y="1791"/>
                    <a:ext cx="146" cy="242"/>
                  </a:xfrm>
                  <a:custGeom>
                    <a:avLst/>
                    <a:gdLst/>
                    <a:ahLst/>
                    <a:cxnLst>
                      <a:cxn ang="0">
                        <a:pos x="55" y="121"/>
                      </a:cxn>
                      <a:cxn ang="0">
                        <a:pos x="73" y="111"/>
                      </a:cxn>
                      <a:cxn ang="0">
                        <a:pos x="19" y="0"/>
                      </a:cxn>
                      <a:cxn ang="0">
                        <a:pos x="0" y="10"/>
                      </a:cxn>
                      <a:cxn ang="0">
                        <a:pos x="55" y="121"/>
                      </a:cxn>
                    </a:cxnLst>
                    <a:pathLst>
                      <a:path w="292" h="485">
                        <a:moveTo>
                          <a:pt x="218" y="485"/>
                        </a:moveTo>
                        <a:lnTo>
                          <a:pt x="292" y="447"/>
                        </a:lnTo>
                        <a:lnTo>
                          <a:pt x="75" y="0"/>
                        </a:lnTo>
                        <a:lnTo>
                          <a:pt x="0" y="40"/>
                        </a:lnTo>
                        <a:lnTo>
                          <a:pt x="218" y="485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0" name="Freeform 441"/>
                  <p:cNvSpPr/>
                  <p:nvPr/>
                </p:nvSpPr>
                <p:spPr>
                  <a:xfrm>
                    <a:off x="2318" y="1836"/>
                    <a:ext cx="114" cy="195"/>
                  </a:xfrm>
                  <a:custGeom>
                    <a:avLst/>
                    <a:gdLst/>
                    <a:ahLst/>
                    <a:cxnLst>
                      <a:cxn ang="0">
                        <a:pos x="0" y="6"/>
                      </a:cxn>
                      <a:cxn ang="0">
                        <a:pos x="46" y="98"/>
                      </a:cxn>
                      <a:cxn ang="0">
                        <a:pos x="57" y="93"/>
                      </a:cxn>
                      <a:cxn ang="0">
                        <a:pos x="12" y="0"/>
                      </a:cxn>
                      <a:cxn ang="0">
                        <a:pos x="0" y="6"/>
                      </a:cxn>
                    </a:cxnLst>
                    <a:pathLst>
                      <a:path w="227" h="389">
                        <a:moveTo>
                          <a:pt x="0" y="23"/>
                        </a:moveTo>
                        <a:lnTo>
                          <a:pt x="183" y="389"/>
                        </a:lnTo>
                        <a:lnTo>
                          <a:pt x="227" y="370"/>
                        </a:lnTo>
                        <a:lnTo>
                          <a:pt x="46" y="0"/>
                        </a:lnTo>
                        <a:lnTo>
                          <a:pt x="0" y="23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1" name="Freeform 442"/>
                  <p:cNvSpPr/>
                  <p:nvPr/>
                </p:nvSpPr>
                <p:spPr>
                  <a:xfrm>
                    <a:off x="2419" y="1937"/>
                    <a:ext cx="98" cy="75"/>
                  </a:xfrm>
                  <a:custGeom>
                    <a:avLst/>
                    <a:gdLst/>
                    <a:ahLst/>
                    <a:cxnLst>
                      <a:cxn ang="0">
                        <a:pos x="14" y="37"/>
                      </a:cxn>
                      <a:cxn ang="0">
                        <a:pos x="0" y="9"/>
                      </a:cxn>
                      <a:cxn ang="0">
                        <a:pos x="20" y="0"/>
                      </a:cxn>
                      <a:cxn ang="0">
                        <a:pos x="49" y="20"/>
                      </a:cxn>
                      <a:cxn ang="0">
                        <a:pos x="14" y="37"/>
                      </a:cxn>
                    </a:cxnLst>
                    <a:pathLst>
                      <a:path w="196" h="152">
                        <a:moveTo>
                          <a:pt x="55" y="152"/>
                        </a:moveTo>
                        <a:lnTo>
                          <a:pt x="0" y="39"/>
                        </a:lnTo>
                        <a:lnTo>
                          <a:pt x="78" y="0"/>
                        </a:lnTo>
                        <a:lnTo>
                          <a:pt x="196" y="83"/>
                        </a:lnTo>
                        <a:lnTo>
                          <a:pt x="55" y="152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2" name="Freeform 443"/>
                  <p:cNvSpPr/>
                  <p:nvPr/>
                </p:nvSpPr>
                <p:spPr>
                  <a:xfrm>
                    <a:off x="2528" y="1805"/>
                    <a:ext cx="63" cy="16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2" y="68"/>
                      </a:cxn>
                      <a:cxn ang="0">
                        <a:pos x="6" y="80"/>
                      </a:cxn>
                      <a:cxn ang="0">
                        <a:pos x="0" y="0"/>
                      </a:cxn>
                    </a:cxnLst>
                    <a:pathLst>
                      <a:path w="124" h="322">
                        <a:moveTo>
                          <a:pt x="0" y="0"/>
                        </a:moveTo>
                        <a:lnTo>
                          <a:pt x="124" y="274"/>
                        </a:lnTo>
                        <a:lnTo>
                          <a:pt x="24" y="32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3" name="Freeform 444"/>
                  <p:cNvSpPr/>
                  <p:nvPr/>
                </p:nvSpPr>
                <p:spPr>
                  <a:xfrm>
                    <a:off x="2547" y="1750"/>
                    <a:ext cx="125" cy="75"/>
                  </a:xfrm>
                  <a:custGeom>
                    <a:avLst/>
                    <a:gdLst/>
                    <a:ahLst/>
                    <a:cxnLst>
                      <a:cxn ang="0">
                        <a:pos x="0" y="30"/>
                      </a:cxn>
                      <a:cxn ang="0">
                        <a:pos x="63" y="0"/>
                      </a:cxn>
                      <a:cxn ang="0">
                        <a:pos x="58" y="11"/>
                      </a:cxn>
                      <a:cxn ang="0">
                        <a:pos x="4" y="38"/>
                      </a:cxn>
                      <a:cxn ang="0">
                        <a:pos x="0" y="30"/>
                      </a:cxn>
                    </a:cxnLst>
                    <a:pathLst>
                      <a:path w="249" h="149">
                        <a:moveTo>
                          <a:pt x="0" y="119"/>
                        </a:moveTo>
                        <a:lnTo>
                          <a:pt x="249" y="0"/>
                        </a:lnTo>
                        <a:lnTo>
                          <a:pt x="232" y="44"/>
                        </a:lnTo>
                        <a:lnTo>
                          <a:pt x="16" y="149"/>
                        </a:lnTo>
                        <a:lnTo>
                          <a:pt x="0" y="119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4" name="Freeform 445"/>
                  <p:cNvSpPr/>
                  <p:nvPr/>
                </p:nvSpPr>
                <p:spPr>
                  <a:xfrm>
                    <a:off x="2559" y="1792"/>
                    <a:ext cx="93" cy="58"/>
                  </a:xfrm>
                  <a:custGeom>
                    <a:avLst/>
                    <a:gdLst/>
                    <a:ahLst/>
                    <a:cxnLst>
                      <a:cxn ang="0">
                        <a:pos x="0" y="22"/>
                      </a:cxn>
                      <a:cxn ang="0">
                        <a:pos x="4" y="29"/>
                      </a:cxn>
                      <a:cxn ang="0">
                        <a:pos x="43" y="10"/>
                      </a:cxn>
                      <a:cxn ang="0">
                        <a:pos x="47" y="0"/>
                      </a:cxn>
                      <a:cxn ang="0">
                        <a:pos x="0" y="22"/>
                      </a:cxn>
                    </a:cxnLst>
                    <a:pathLst>
                      <a:path w="186" h="117">
                        <a:moveTo>
                          <a:pt x="0" y="90"/>
                        </a:moveTo>
                        <a:lnTo>
                          <a:pt x="13" y="117"/>
                        </a:lnTo>
                        <a:lnTo>
                          <a:pt x="170" y="42"/>
                        </a:lnTo>
                        <a:lnTo>
                          <a:pt x="186" y="0"/>
                        </a:lnTo>
                        <a:lnTo>
                          <a:pt x="0" y="9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5" name="Freeform 446"/>
                  <p:cNvSpPr/>
                  <p:nvPr/>
                </p:nvSpPr>
                <p:spPr>
                  <a:xfrm>
                    <a:off x="2572" y="1834"/>
                    <a:ext cx="66" cy="48"/>
                  </a:xfrm>
                  <a:custGeom>
                    <a:avLst/>
                    <a:gdLst/>
                    <a:ahLst/>
                    <a:cxnLst>
                      <a:cxn ang="0">
                        <a:pos x="0" y="16"/>
                      </a:cxn>
                      <a:cxn ang="0">
                        <a:pos x="4" y="24"/>
                      </a:cxn>
                      <a:cxn ang="0">
                        <a:pos x="29" y="12"/>
                      </a:cxn>
                      <a:cxn ang="0">
                        <a:pos x="34" y="0"/>
                      </a:cxn>
                      <a:cxn ang="0">
                        <a:pos x="0" y="16"/>
                      </a:cxn>
                    </a:cxnLst>
                    <a:pathLst>
                      <a:path w="130" h="95">
                        <a:moveTo>
                          <a:pt x="0" y="62"/>
                        </a:moveTo>
                        <a:lnTo>
                          <a:pt x="16" y="95"/>
                        </a:lnTo>
                        <a:lnTo>
                          <a:pt x="113" y="48"/>
                        </a:lnTo>
                        <a:lnTo>
                          <a:pt x="130" y="0"/>
                        </a:lnTo>
                        <a:lnTo>
                          <a:pt x="0" y="62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6" name="Freeform 447"/>
                  <p:cNvSpPr/>
                  <p:nvPr/>
                </p:nvSpPr>
                <p:spPr>
                  <a:xfrm>
                    <a:off x="2588" y="1880"/>
                    <a:ext cx="33" cy="44"/>
                  </a:xfrm>
                  <a:custGeom>
                    <a:avLst/>
                    <a:gdLst/>
                    <a:ahLst/>
                    <a:cxnLst>
                      <a:cxn ang="0">
                        <a:pos x="0" y="9"/>
                      </a:cxn>
                      <a:cxn ang="0">
                        <a:pos x="16" y="0"/>
                      </a:cxn>
                      <a:cxn ang="0">
                        <a:pos x="10" y="20"/>
                      </a:cxn>
                      <a:cxn ang="0">
                        <a:pos x="6" y="23"/>
                      </a:cxn>
                      <a:cxn ang="0">
                        <a:pos x="0" y="9"/>
                      </a:cxn>
                    </a:cxnLst>
                    <a:pathLst>
                      <a:path w="68" h="86">
                        <a:moveTo>
                          <a:pt x="0" y="33"/>
                        </a:moveTo>
                        <a:lnTo>
                          <a:pt x="68" y="0"/>
                        </a:lnTo>
                        <a:lnTo>
                          <a:pt x="44" y="78"/>
                        </a:lnTo>
                        <a:lnTo>
                          <a:pt x="26" y="86"/>
                        </a:lnTo>
                        <a:lnTo>
                          <a:pt x="0" y="33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7" name="Freeform 448"/>
                  <p:cNvSpPr/>
                  <p:nvPr/>
                </p:nvSpPr>
                <p:spPr>
                  <a:xfrm>
                    <a:off x="2400" y="1494"/>
                    <a:ext cx="77" cy="28"/>
                  </a:xfrm>
                  <a:custGeom>
                    <a:avLst/>
                    <a:gdLst/>
                    <a:ahLst/>
                    <a:cxnLst>
                      <a:cxn ang="0">
                        <a:pos x="0" y="6"/>
                      </a:cxn>
                      <a:cxn ang="0">
                        <a:pos x="26" y="14"/>
                      </a:cxn>
                      <a:cxn ang="0">
                        <a:pos x="39" y="8"/>
                      </a:cxn>
                      <a:cxn ang="0">
                        <a:pos x="16" y="0"/>
                      </a:cxn>
                      <a:cxn ang="0">
                        <a:pos x="0" y="6"/>
                      </a:cxn>
                    </a:cxnLst>
                    <a:pathLst>
                      <a:path w="154" h="57">
                        <a:moveTo>
                          <a:pt x="0" y="26"/>
                        </a:moveTo>
                        <a:lnTo>
                          <a:pt x="101" y="57"/>
                        </a:lnTo>
                        <a:lnTo>
                          <a:pt x="154" y="34"/>
                        </a:lnTo>
                        <a:lnTo>
                          <a:pt x="61" y="0"/>
                        </a:lnTo>
                        <a:lnTo>
                          <a:pt x="0" y="26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8" name="Freeform 449"/>
                  <p:cNvSpPr/>
                  <p:nvPr/>
                </p:nvSpPr>
                <p:spPr>
                  <a:xfrm>
                    <a:off x="2454" y="1468"/>
                    <a:ext cx="76" cy="29"/>
                  </a:xfrm>
                  <a:custGeom>
                    <a:avLst/>
                    <a:gdLst/>
                    <a:ahLst/>
                    <a:cxnLst>
                      <a:cxn ang="0">
                        <a:pos x="0" y="7"/>
                      </a:cxn>
                      <a:cxn ang="0">
                        <a:pos x="25" y="15"/>
                      </a:cxn>
                      <a:cxn ang="0">
                        <a:pos x="38" y="9"/>
                      </a:cxn>
                      <a:cxn ang="0">
                        <a:pos x="15" y="0"/>
                      </a:cxn>
                      <a:cxn ang="0">
                        <a:pos x="0" y="7"/>
                      </a:cxn>
                    </a:cxnLst>
                    <a:pathLst>
                      <a:path w="151" h="58">
                        <a:moveTo>
                          <a:pt x="0" y="27"/>
                        </a:moveTo>
                        <a:lnTo>
                          <a:pt x="100" y="58"/>
                        </a:lnTo>
                        <a:lnTo>
                          <a:pt x="151" y="34"/>
                        </a:lnTo>
                        <a:lnTo>
                          <a:pt x="60" y="0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59" name="Freeform 450"/>
                  <p:cNvSpPr/>
                  <p:nvPr/>
                </p:nvSpPr>
                <p:spPr>
                  <a:xfrm>
                    <a:off x="2510" y="1441"/>
                    <a:ext cx="74" cy="29"/>
                  </a:xfrm>
                  <a:custGeom>
                    <a:avLst/>
                    <a:gdLst/>
                    <a:ahLst/>
                    <a:cxnLst>
                      <a:cxn ang="0">
                        <a:pos x="0" y="7"/>
                      </a:cxn>
                      <a:cxn ang="0">
                        <a:pos x="24" y="15"/>
                      </a:cxn>
                      <a:cxn ang="0">
                        <a:pos x="37" y="9"/>
                      </a:cxn>
                      <a:cxn ang="0">
                        <a:pos x="14" y="0"/>
                      </a:cxn>
                      <a:cxn ang="0">
                        <a:pos x="0" y="7"/>
                      </a:cxn>
                    </a:cxnLst>
                    <a:pathLst>
                      <a:path w="149" h="57">
                        <a:moveTo>
                          <a:pt x="0" y="26"/>
                        </a:moveTo>
                        <a:lnTo>
                          <a:pt x="98" y="57"/>
                        </a:lnTo>
                        <a:lnTo>
                          <a:pt x="149" y="34"/>
                        </a:lnTo>
                        <a:lnTo>
                          <a:pt x="56" y="0"/>
                        </a:lnTo>
                        <a:lnTo>
                          <a:pt x="0" y="26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60" name="Freeform 451"/>
                  <p:cNvSpPr/>
                  <p:nvPr/>
                </p:nvSpPr>
                <p:spPr>
                  <a:xfrm>
                    <a:off x="2575" y="1410"/>
                    <a:ext cx="43" cy="25"/>
                  </a:xfrm>
                  <a:custGeom>
                    <a:avLst/>
                    <a:gdLst/>
                    <a:ahLst/>
                    <a:cxnLst>
                      <a:cxn ang="0">
                        <a:pos x="0" y="6"/>
                      </a:cxn>
                      <a:cxn ang="0">
                        <a:pos x="19" y="13"/>
                      </a:cxn>
                      <a:cxn ang="0">
                        <a:pos x="22" y="4"/>
                      </a:cxn>
                      <a:cxn ang="0">
                        <a:pos x="14" y="0"/>
                      </a:cxn>
                      <a:cxn ang="0">
                        <a:pos x="0" y="6"/>
                      </a:cxn>
                    </a:cxnLst>
                    <a:pathLst>
                      <a:path w="86" h="50">
                        <a:moveTo>
                          <a:pt x="0" y="23"/>
                        </a:moveTo>
                        <a:lnTo>
                          <a:pt x="75" y="50"/>
                        </a:lnTo>
                        <a:lnTo>
                          <a:pt x="86" y="14"/>
                        </a:lnTo>
                        <a:lnTo>
                          <a:pt x="53" y="0"/>
                        </a:lnTo>
                        <a:lnTo>
                          <a:pt x="0" y="23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61" name="Freeform 452"/>
                  <p:cNvSpPr/>
                  <p:nvPr/>
                </p:nvSpPr>
                <p:spPr>
                  <a:xfrm>
                    <a:off x="2590" y="1479"/>
                    <a:ext cx="141" cy="140"/>
                  </a:xfrm>
                  <a:custGeom>
                    <a:avLst/>
                    <a:gdLst/>
                    <a:ahLst/>
                    <a:cxnLst>
                      <a:cxn ang="0">
                        <a:pos x="6" y="0"/>
                      </a:cxn>
                      <a:cxn ang="0">
                        <a:pos x="35" y="60"/>
                      </a:cxn>
                      <a:cxn ang="0">
                        <a:pos x="44" y="63"/>
                      </a:cxn>
                      <a:cxn ang="0">
                        <a:pos x="67" y="53"/>
                      </a:cxn>
                      <a:cxn ang="0">
                        <a:pos x="70" y="57"/>
                      </a:cxn>
                      <a:cxn ang="0">
                        <a:pos x="42" y="70"/>
                      </a:cxn>
                      <a:cxn ang="0">
                        <a:pos x="33" y="70"/>
                      </a:cxn>
                      <a:cxn ang="0">
                        <a:pos x="0" y="2"/>
                      </a:cxn>
                      <a:cxn ang="0">
                        <a:pos x="6" y="0"/>
                      </a:cxn>
                    </a:cxnLst>
                    <a:pathLst>
                      <a:path w="283" h="281">
                        <a:moveTo>
                          <a:pt x="26" y="0"/>
                        </a:moveTo>
                        <a:lnTo>
                          <a:pt x="143" y="243"/>
                        </a:lnTo>
                        <a:lnTo>
                          <a:pt x="176" y="254"/>
                        </a:lnTo>
                        <a:lnTo>
                          <a:pt x="269" y="214"/>
                        </a:lnTo>
                        <a:lnTo>
                          <a:pt x="283" y="230"/>
                        </a:lnTo>
                        <a:lnTo>
                          <a:pt x="170" y="281"/>
                        </a:lnTo>
                        <a:lnTo>
                          <a:pt x="133" y="280"/>
                        </a:lnTo>
                        <a:lnTo>
                          <a:pt x="0" y="11"/>
                        </a:lnTo>
                        <a:lnTo>
                          <a:pt x="26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62" name="Freeform 453"/>
                  <p:cNvSpPr/>
                  <p:nvPr/>
                </p:nvSpPr>
                <p:spPr>
                  <a:xfrm>
                    <a:off x="2561" y="1495"/>
                    <a:ext cx="182" cy="154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42" y="69"/>
                      </a:cxn>
                      <a:cxn ang="0">
                        <a:pos x="54" y="71"/>
                      </a:cxn>
                      <a:cxn ang="0">
                        <a:pos x="88" y="54"/>
                      </a:cxn>
                      <a:cxn ang="0">
                        <a:pos x="91" y="58"/>
                      </a:cxn>
                      <a:cxn ang="0">
                        <a:pos x="49" y="77"/>
                      </a:cxn>
                      <a:cxn ang="0">
                        <a:pos x="37" y="74"/>
                      </a:cxn>
                      <a:cxn ang="0">
                        <a:pos x="0" y="4"/>
                      </a:cxn>
                      <a:cxn ang="0">
                        <a:pos x="7" y="0"/>
                      </a:cxn>
                    </a:cxnLst>
                    <a:pathLst>
                      <a:path w="364" h="308">
                        <a:moveTo>
                          <a:pt x="26" y="0"/>
                        </a:moveTo>
                        <a:lnTo>
                          <a:pt x="167" y="274"/>
                        </a:lnTo>
                        <a:lnTo>
                          <a:pt x="213" y="281"/>
                        </a:lnTo>
                        <a:lnTo>
                          <a:pt x="349" y="216"/>
                        </a:lnTo>
                        <a:lnTo>
                          <a:pt x="364" y="232"/>
                        </a:lnTo>
                        <a:lnTo>
                          <a:pt x="195" y="308"/>
                        </a:lnTo>
                        <a:lnTo>
                          <a:pt x="147" y="293"/>
                        </a:lnTo>
                        <a:lnTo>
                          <a:pt x="0" y="13"/>
                        </a:lnTo>
                        <a:lnTo>
                          <a:pt x="26" y="0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63" name="Line 454"/>
                  <p:cNvSpPr/>
                  <p:nvPr/>
                </p:nvSpPr>
                <p:spPr>
                  <a:xfrm flipV="1">
                    <a:off x="2462" y="1570"/>
                    <a:ext cx="49" cy="22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64" name="Line 455"/>
                  <p:cNvSpPr/>
                  <p:nvPr/>
                </p:nvSpPr>
                <p:spPr>
                  <a:xfrm flipV="1">
                    <a:off x="2532" y="1560"/>
                    <a:ext cx="43" cy="20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65" name="Line 456"/>
                  <p:cNvSpPr/>
                  <p:nvPr/>
                </p:nvSpPr>
                <p:spPr>
                  <a:xfrm>
                    <a:off x="2514" y="1589"/>
                    <a:ext cx="24" cy="47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66" name="Line 457"/>
                  <p:cNvSpPr/>
                  <p:nvPr/>
                </p:nvSpPr>
                <p:spPr>
                  <a:xfrm flipV="1">
                    <a:off x="2523" y="1624"/>
                    <a:ext cx="30" cy="15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67" name="Line 458"/>
                  <p:cNvSpPr/>
                  <p:nvPr/>
                </p:nvSpPr>
                <p:spPr>
                  <a:xfrm flipV="1">
                    <a:off x="2536" y="1646"/>
                    <a:ext cx="33" cy="18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68" name="Line 459"/>
                  <p:cNvSpPr/>
                  <p:nvPr/>
                </p:nvSpPr>
                <p:spPr>
                  <a:xfrm flipV="1">
                    <a:off x="2475" y="1587"/>
                    <a:ext cx="39" cy="21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69" name="Line 460"/>
                  <p:cNvSpPr/>
                  <p:nvPr/>
                </p:nvSpPr>
                <p:spPr>
                  <a:xfrm flipV="1">
                    <a:off x="2519" y="1542"/>
                    <a:ext cx="49" cy="22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7370" name="Group 461"/>
                <p:cNvGrpSpPr/>
                <p:nvPr/>
              </p:nvGrpSpPr>
              <p:grpSpPr>
                <a:xfrm>
                  <a:off x="2410" y="1764"/>
                  <a:ext cx="651" cy="659"/>
                  <a:chOff x="2410" y="1764"/>
                  <a:chExt cx="651" cy="659"/>
                </a:xfrm>
              </p:grpSpPr>
              <p:sp>
                <p:nvSpPr>
                  <p:cNvPr id="7376" name="Freeform 462"/>
                  <p:cNvSpPr/>
                  <p:nvPr/>
                </p:nvSpPr>
                <p:spPr>
                  <a:xfrm>
                    <a:off x="2729" y="2236"/>
                    <a:ext cx="284" cy="187"/>
                  </a:xfrm>
                  <a:custGeom>
                    <a:avLst/>
                    <a:gdLst/>
                    <a:ahLst/>
                    <a:cxnLst>
                      <a:cxn ang="0">
                        <a:pos x="0" y="94"/>
                      </a:cxn>
                      <a:cxn ang="0">
                        <a:pos x="142" y="22"/>
                      </a:cxn>
                      <a:cxn ang="0">
                        <a:pos x="100" y="12"/>
                      </a:cxn>
                      <a:cxn ang="0">
                        <a:pos x="94" y="0"/>
                      </a:cxn>
                      <a:cxn ang="0">
                        <a:pos x="7" y="42"/>
                      </a:cxn>
                      <a:cxn ang="0">
                        <a:pos x="13" y="55"/>
                      </a:cxn>
                      <a:cxn ang="0">
                        <a:pos x="0" y="94"/>
                      </a:cxn>
                    </a:cxnLst>
                    <a:pathLst>
                      <a:path w="568" h="372">
                        <a:moveTo>
                          <a:pt x="0" y="372"/>
                        </a:moveTo>
                        <a:lnTo>
                          <a:pt x="568" y="85"/>
                        </a:lnTo>
                        <a:lnTo>
                          <a:pt x="397" y="47"/>
                        </a:lnTo>
                        <a:lnTo>
                          <a:pt x="375" y="0"/>
                        </a:lnTo>
                        <a:lnTo>
                          <a:pt x="27" y="168"/>
                        </a:lnTo>
                        <a:lnTo>
                          <a:pt x="49" y="216"/>
                        </a:lnTo>
                        <a:lnTo>
                          <a:pt x="0" y="372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77" name="Freeform 463"/>
                  <p:cNvSpPr/>
                  <p:nvPr/>
                </p:nvSpPr>
                <p:spPr>
                  <a:xfrm>
                    <a:off x="2743" y="2100"/>
                    <a:ext cx="173" cy="193"/>
                  </a:xfrm>
                  <a:custGeom>
                    <a:avLst/>
                    <a:gdLst/>
                    <a:ahLst/>
                    <a:cxnLst>
                      <a:cxn ang="0">
                        <a:pos x="36" y="96"/>
                      </a:cxn>
                      <a:cxn ang="0">
                        <a:pos x="87" y="71"/>
                      </a:cxn>
                      <a:cxn ang="0">
                        <a:pos x="58" y="11"/>
                      </a:cxn>
                      <a:cxn ang="0">
                        <a:pos x="51" y="8"/>
                      </a:cxn>
                      <a:cxn ang="0">
                        <a:pos x="35" y="0"/>
                      </a:cxn>
                      <a:cxn ang="0">
                        <a:pos x="9" y="12"/>
                      </a:cxn>
                      <a:cxn ang="0">
                        <a:pos x="0" y="24"/>
                      </a:cxn>
                      <a:cxn ang="0">
                        <a:pos x="36" y="96"/>
                      </a:cxn>
                    </a:cxnLst>
                    <a:pathLst>
                      <a:path w="346" h="387">
                        <a:moveTo>
                          <a:pt x="142" y="387"/>
                        </a:moveTo>
                        <a:lnTo>
                          <a:pt x="346" y="285"/>
                        </a:lnTo>
                        <a:lnTo>
                          <a:pt x="230" y="44"/>
                        </a:lnTo>
                        <a:lnTo>
                          <a:pt x="201" y="33"/>
                        </a:lnTo>
                        <a:lnTo>
                          <a:pt x="140" y="0"/>
                        </a:lnTo>
                        <a:lnTo>
                          <a:pt x="34" y="50"/>
                        </a:lnTo>
                        <a:lnTo>
                          <a:pt x="0" y="98"/>
                        </a:lnTo>
                        <a:lnTo>
                          <a:pt x="142" y="387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78" name="Freeform 464"/>
                  <p:cNvSpPr/>
                  <p:nvPr/>
                </p:nvSpPr>
                <p:spPr>
                  <a:xfrm>
                    <a:off x="2844" y="2054"/>
                    <a:ext cx="80" cy="181"/>
                  </a:xfrm>
                  <a:custGeom>
                    <a:avLst/>
                    <a:gdLst/>
                    <a:ahLst/>
                    <a:cxnLst>
                      <a:cxn ang="0">
                        <a:pos x="35" y="91"/>
                      </a:cxn>
                      <a:cxn ang="0">
                        <a:pos x="9" y="35"/>
                      </a:cxn>
                      <a:cxn ang="0">
                        <a:pos x="0" y="31"/>
                      </a:cxn>
                      <a:cxn ang="0">
                        <a:pos x="7" y="10"/>
                      </a:cxn>
                      <a:cxn ang="0">
                        <a:pos x="27" y="0"/>
                      </a:cxn>
                      <a:cxn ang="0">
                        <a:pos x="38" y="24"/>
                      </a:cxn>
                      <a:cxn ang="0">
                        <a:pos x="24" y="31"/>
                      </a:cxn>
                      <a:cxn ang="0">
                        <a:pos x="40" y="63"/>
                      </a:cxn>
                      <a:cxn ang="0">
                        <a:pos x="35" y="91"/>
                      </a:cxn>
                    </a:cxnLst>
                    <a:pathLst>
                      <a:path w="159" h="361">
                        <a:moveTo>
                          <a:pt x="137" y="361"/>
                        </a:moveTo>
                        <a:lnTo>
                          <a:pt x="34" y="140"/>
                        </a:lnTo>
                        <a:lnTo>
                          <a:pt x="0" y="123"/>
                        </a:lnTo>
                        <a:lnTo>
                          <a:pt x="28" y="40"/>
                        </a:lnTo>
                        <a:lnTo>
                          <a:pt x="105" y="0"/>
                        </a:lnTo>
                        <a:lnTo>
                          <a:pt x="149" y="93"/>
                        </a:lnTo>
                        <a:lnTo>
                          <a:pt x="96" y="121"/>
                        </a:lnTo>
                        <a:lnTo>
                          <a:pt x="159" y="249"/>
                        </a:lnTo>
                        <a:lnTo>
                          <a:pt x="137" y="361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79" name="Freeform 465"/>
                  <p:cNvSpPr/>
                  <p:nvPr/>
                </p:nvSpPr>
                <p:spPr>
                  <a:xfrm>
                    <a:off x="2708" y="2067"/>
                    <a:ext cx="150" cy="81"/>
                  </a:xfrm>
                  <a:custGeom>
                    <a:avLst/>
                    <a:gdLst/>
                    <a:ahLst/>
                    <a:cxnLst>
                      <a:cxn ang="0">
                        <a:pos x="17" y="40"/>
                      </a:cxn>
                      <a:cxn ang="0">
                        <a:pos x="27" y="28"/>
                      </a:cxn>
                      <a:cxn ang="0">
                        <a:pos x="52" y="15"/>
                      </a:cxn>
                      <a:cxn ang="0">
                        <a:pos x="68" y="24"/>
                      </a:cxn>
                      <a:cxn ang="0">
                        <a:pos x="70" y="17"/>
                      </a:cxn>
                      <a:cxn ang="0">
                        <a:pos x="75" y="4"/>
                      </a:cxn>
                      <a:cxn ang="0">
                        <a:pos x="51" y="0"/>
                      </a:cxn>
                      <a:cxn ang="0">
                        <a:pos x="12" y="18"/>
                      </a:cxn>
                      <a:cxn ang="0">
                        <a:pos x="0" y="38"/>
                      </a:cxn>
                      <a:cxn ang="0">
                        <a:pos x="17" y="40"/>
                      </a:cxn>
                    </a:cxnLst>
                    <a:pathLst>
                      <a:path w="300" h="163">
                        <a:moveTo>
                          <a:pt x="65" y="163"/>
                        </a:moveTo>
                        <a:lnTo>
                          <a:pt x="107" y="112"/>
                        </a:lnTo>
                        <a:lnTo>
                          <a:pt x="208" y="63"/>
                        </a:lnTo>
                        <a:lnTo>
                          <a:pt x="271" y="96"/>
                        </a:lnTo>
                        <a:lnTo>
                          <a:pt x="277" y="69"/>
                        </a:lnTo>
                        <a:lnTo>
                          <a:pt x="300" y="18"/>
                        </a:lnTo>
                        <a:lnTo>
                          <a:pt x="203" y="0"/>
                        </a:lnTo>
                        <a:lnTo>
                          <a:pt x="45" y="74"/>
                        </a:lnTo>
                        <a:lnTo>
                          <a:pt x="0" y="152"/>
                        </a:lnTo>
                        <a:lnTo>
                          <a:pt x="65" y="163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0" name="Freeform 466"/>
                  <p:cNvSpPr/>
                  <p:nvPr/>
                </p:nvSpPr>
                <p:spPr>
                  <a:xfrm>
                    <a:off x="2478" y="2150"/>
                    <a:ext cx="185" cy="268"/>
                  </a:xfrm>
                  <a:custGeom>
                    <a:avLst/>
                    <a:gdLst/>
                    <a:ahLst/>
                    <a:cxnLst>
                      <a:cxn ang="0">
                        <a:pos x="27" y="19"/>
                      </a:cxn>
                      <a:cxn ang="0">
                        <a:pos x="42" y="52"/>
                      </a:cxn>
                      <a:cxn ang="0">
                        <a:pos x="78" y="56"/>
                      </a:cxn>
                      <a:cxn ang="0">
                        <a:pos x="93" y="78"/>
                      </a:cxn>
                      <a:cxn ang="0">
                        <a:pos x="62" y="75"/>
                      </a:cxn>
                      <a:cxn ang="0">
                        <a:pos x="55" y="78"/>
                      </a:cxn>
                      <a:cxn ang="0">
                        <a:pos x="71" y="110"/>
                      </a:cxn>
                      <a:cxn ang="0">
                        <a:pos x="61" y="134"/>
                      </a:cxn>
                      <a:cxn ang="0">
                        <a:pos x="0" y="8"/>
                      </a:cxn>
                      <a:cxn ang="0">
                        <a:pos x="17" y="0"/>
                      </a:cxn>
                      <a:cxn ang="0">
                        <a:pos x="27" y="19"/>
                      </a:cxn>
                    </a:cxnLst>
                    <a:pathLst>
                      <a:path w="370" h="537">
                        <a:moveTo>
                          <a:pt x="107" y="79"/>
                        </a:moveTo>
                        <a:lnTo>
                          <a:pt x="168" y="210"/>
                        </a:lnTo>
                        <a:lnTo>
                          <a:pt x="311" y="225"/>
                        </a:lnTo>
                        <a:lnTo>
                          <a:pt x="370" y="313"/>
                        </a:lnTo>
                        <a:lnTo>
                          <a:pt x="246" y="301"/>
                        </a:lnTo>
                        <a:lnTo>
                          <a:pt x="218" y="312"/>
                        </a:lnTo>
                        <a:lnTo>
                          <a:pt x="281" y="443"/>
                        </a:lnTo>
                        <a:lnTo>
                          <a:pt x="243" y="537"/>
                        </a:lnTo>
                        <a:lnTo>
                          <a:pt x="0" y="33"/>
                        </a:lnTo>
                        <a:lnTo>
                          <a:pt x="68" y="0"/>
                        </a:lnTo>
                        <a:lnTo>
                          <a:pt x="107" y="79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1" name="Freeform 467"/>
                  <p:cNvSpPr/>
                  <p:nvPr/>
                </p:nvSpPr>
                <p:spPr>
                  <a:xfrm>
                    <a:off x="2463" y="2125"/>
                    <a:ext cx="46" cy="39"/>
                  </a:xfrm>
                  <a:custGeom>
                    <a:avLst/>
                    <a:gdLst/>
                    <a:ahLst/>
                    <a:cxnLst>
                      <a:cxn ang="0">
                        <a:pos x="6" y="20"/>
                      </a:cxn>
                      <a:cxn ang="0">
                        <a:pos x="23" y="12"/>
                      </a:cxn>
                      <a:cxn ang="0">
                        <a:pos x="18" y="0"/>
                      </a:cxn>
                      <a:cxn ang="0">
                        <a:pos x="0" y="8"/>
                      </a:cxn>
                      <a:cxn ang="0">
                        <a:pos x="6" y="20"/>
                      </a:cxn>
                    </a:cxnLst>
                    <a:pathLst>
                      <a:path w="92" h="76">
                        <a:moveTo>
                          <a:pt x="22" y="76"/>
                        </a:moveTo>
                        <a:lnTo>
                          <a:pt x="92" y="44"/>
                        </a:lnTo>
                        <a:lnTo>
                          <a:pt x="69" y="0"/>
                        </a:lnTo>
                        <a:lnTo>
                          <a:pt x="0" y="31"/>
                        </a:lnTo>
                        <a:lnTo>
                          <a:pt x="22" y="76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2" name="Freeform 468"/>
                  <p:cNvSpPr/>
                  <p:nvPr/>
                </p:nvSpPr>
                <p:spPr>
                  <a:xfrm>
                    <a:off x="2446" y="2101"/>
                    <a:ext cx="51" cy="42"/>
                  </a:xfrm>
                  <a:custGeom>
                    <a:avLst/>
                    <a:gdLst/>
                    <a:ahLst/>
                    <a:cxnLst>
                      <a:cxn ang="0">
                        <a:pos x="7" y="21"/>
                      </a:cxn>
                      <a:cxn ang="0">
                        <a:pos x="26" y="12"/>
                      </a:cxn>
                      <a:cxn ang="0">
                        <a:pos x="20" y="0"/>
                      </a:cxn>
                      <a:cxn ang="0">
                        <a:pos x="0" y="9"/>
                      </a:cxn>
                      <a:cxn ang="0">
                        <a:pos x="7" y="21"/>
                      </a:cxn>
                    </a:cxnLst>
                    <a:pathLst>
                      <a:path w="101" h="84">
                        <a:moveTo>
                          <a:pt x="26" y="84"/>
                        </a:moveTo>
                        <a:lnTo>
                          <a:pt x="101" y="45"/>
                        </a:lnTo>
                        <a:lnTo>
                          <a:pt x="79" y="0"/>
                        </a:lnTo>
                        <a:lnTo>
                          <a:pt x="0" y="34"/>
                        </a:lnTo>
                        <a:lnTo>
                          <a:pt x="26" y="84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3" name="Freeform 469"/>
                  <p:cNvSpPr/>
                  <p:nvPr/>
                </p:nvSpPr>
                <p:spPr>
                  <a:xfrm>
                    <a:off x="2437" y="2075"/>
                    <a:ext cx="47" cy="41"/>
                  </a:xfrm>
                  <a:custGeom>
                    <a:avLst/>
                    <a:gdLst/>
                    <a:ahLst/>
                    <a:cxnLst>
                      <a:cxn ang="0">
                        <a:pos x="7" y="21"/>
                      </a:cxn>
                      <a:cxn ang="0">
                        <a:pos x="24" y="13"/>
                      </a:cxn>
                      <a:cxn ang="0">
                        <a:pos x="18" y="0"/>
                      </a:cxn>
                      <a:cxn ang="0">
                        <a:pos x="0" y="9"/>
                      </a:cxn>
                      <a:cxn ang="0">
                        <a:pos x="7" y="21"/>
                      </a:cxn>
                    </a:cxnLst>
                    <a:pathLst>
                      <a:path w="93" h="82">
                        <a:moveTo>
                          <a:pt x="26" y="82"/>
                        </a:moveTo>
                        <a:lnTo>
                          <a:pt x="93" y="49"/>
                        </a:lnTo>
                        <a:lnTo>
                          <a:pt x="70" y="0"/>
                        </a:lnTo>
                        <a:lnTo>
                          <a:pt x="0" y="33"/>
                        </a:lnTo>
                        <a:lnTo>
                          <a:pt x="26" y="82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4" name="Freeform 470"/>
                  <p:cNvSpPr/>
                  <p:nvPr/>
                </p:nvSpPr>
                <p:spPr>
                  <a:xfrm>
                    <a:off x="2522" y="1868"/>
                    <a:ext cx="222" cy="317"/>
                  </a:xfrm>
                  <a:custGeom>
                    <a:avLst/>
                    <a:gdLst/>
                    <a:ahLst/>
                    <a:cxnLst>
                      <a:cxn ang="0">
                        <a:pos x="0" y="143"/>
                      </a:cxn>
                      <a:cxn ang="0">
                        <a:pos x="51" y="159"/>
                      </a:cxn>
                      <a:cxn ang="0">
                        <a:pos x="111" y="0"/>
                      </a:cxn>
                      <a:cxn ang="0">
                        <a:pos x="50" y="30"/>
                      </a:cxn>
                      <a:cxn ang="0">
                        <a:pos x="0" y="143"/>
                      </a:cxn>
                    </a:cxnLst>
                    <a:pathLst>
                      <a:path w="445" h="633">
                        <a:moveTo>
                          <a:pt x="0" y="572"/>
                        </a:moveTo>
                        <a:lnTo>
                          <a:pt x="204" y="633"/>
                        </a:lnTo>
                        <a:lnTo>
                          <a:pt x="445" y="0"/>
                        </a:lnTo>
                        <a:lnTo>
                          <a:pt x="202" y="120"/>
                        </a:lnTo>
                        <a:lnTo>
                          <a:pt x="0" y="572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5" name="Freeform 471"/>
                  <p:cNvSpPr/>
                  <p:nvPr/>
                </p:nvSpPr>
                <p:spPr>
                  <a:xfrm>
                    <a:off x="2610" y="1877"/>
                    <a:ext cx="114" cy="304"/>
                  </a:xfrm>
                  <a:custGeom>
                    <a:avLst/>
                    <a:gdLst/>
                    <a:ahLst/>
                    <a:cxnLst>
                      <a:cxn ang="0">
                        <a:pos x="7" y="152"/>
                      </a:cxn>
                      <a:cxn ang="0">
                        <a:pos x="57" y="0"/>
                      </a:cxn>
                      <a:cxn ang="0">
                        <a:pos x="49" y="5"/>
                      </a:cxn>
                      <a:cxn ang="0">
                        <a:pos x="0" y="150"/>
                      </a:cxn>
                      <a:cxn ang="0">
                        <a:pos x="7" y="152"/>
                      </a:cxn>
                    </a:cxnLst>
                    <a:pathLst>
                      <a:path w="228" h="608">
                        <a:moveTo>
                          <a:pt x="26" y="608"/>
                        </a:moveTo>
                        <a:lnTo>
                          <a:pt x="228" y="0"/>
                        </a:lnTo>
                        <a:lnTo>
                          <a:pt x="196" y="18"/>
                        </a:lnTo>
                        <a:lnTo>
                          <a:pt x="0" y="598"/>
                        </a:lnTo>
                        <a:lnTo>
                          <a:pt x="26" y="608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6" name="Freeform 472"/>
                  <p:cNvSpPr/>
                  <p:nvPr/>
                </p:nvSpPr>
                <p:spPr>
                  <a:xfrm>
                    <a:off x="2582" y="1895"/>
                    <a:ext cx="108" cy="282"/>
                  </a:xfrm>
                  <a:custGeom>
                    <a:avLst/>
                    <a:gdLst/>
                    <a:ahLst/>
                    <a:cxnLst>
                      <a:cxn ang="0">
                        <a:pos x="6" y="141"/>
                      </a:cxn>
                      <a:cxn ang="0">
                        <a:pos x="54" y="0"/>
                      </a:cxn>
                      <a:cxn ang="0">
                        <a:pos x="44" y="5"/>
                      </a:cxn>
                      <a:cxn ang="0">
                        <a:pos x="0" y="138"/>
                      </a:cxn>
                      <a:cxn ang="0">
                        <a:pos x="6" y="141"/>
                      </a:cxn>
                    </a:cxnLst>
                    <a:pathLst>
                      <a:path w="217" h="563">
                        <a:moveTo>
                          <a:pt x="27" y="563"/>
                        </a:moveTo>
                        <a:lnTo>
                          <a:pt x="217" y="0"/>
                        </a:lnTo>
                        <a:lnTo>
                          <a:pt x="176" y="18"/>
                        </a:lnTo>
                        <a:lnTo>
                          <a:pt x="0" y="550"/>
                        </a:lnTo>
                        <a:lnTo>
                          <a:pt x="27" y="563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7" name="Freeform 473"/>
                  <p:cNvSpPr/>
                  <p:nvPr/>
                </p:nvSpPr>
                <p:spPr>
                  <a:xfrm>
                    <a:off x="2624" y="1833"/>
                    <a:ext cx="271" cy="351"/>
                  </a:xfrm>
                  <a:custGeom>
                    <a:avLst/>
                    <a:gdLst/>
                    <a:ahLst/>
                    <a:cxnLst>
                      <a:cxn ang="0">
                        <a:pos x="0" y="175"/>
                      </a:cxn>
                      <a:cxn ang="0">
                        <a:pos x="5" y="167"/>
                      </a:cxn>
                      <a:cxn ang="0">
                        <a:pos x="39" y="152"/>
                      </a:cxn>
                      <a:cxn ang="0">
                        <a:pos x="42" y="155"/>
                      </a:cxn>
                      <a:cxn ang="0">
                        <a:pos x="52" y="135"/>
                      </a:cxn>
                      <a:cxn ang="0">
                        <a:pos x="93" y="116"/>
                      </a:cxn>
                      <a:cxn ang="0">
                        <a:pos x="119" y="120"/>
                      </a:cxn>
                      <a:cxn ang="0">
                        <a:pos x="133" y="113"/>
                      </a:cxn>
                      <a:cxn ang="0">
                        <a:pos x="114" y="74"/>
                      </a:cxn>
                      <a:cxn ang="0">
                        <a:pos x="136" y="23"/>
                      </a:cxn>
                      <a:cxn ang="0">
                        <a:pos x="97" y="0"/>
                      </a:cxn>
                      <a:cxn ang="0">
                        <a:pos x="56" y="20"/>
                      </a:cxn>
                      <a:cxn ang="0">
                        <a:pos x="0" y="175"/>
                      </a:cxn>
                    </a:cxnLst>
                    <a:pathLst>
                      <a:path w="542" h="703">
                        <a:moveTo>
                          <a:pt x="0" y="703"/>
                        </a:moveTo>
                        <a:lnTo>
                          <a:pt x="18" y="670"/>
                        </a:lnTo>
                        <a:lnTo>
                          <a:pt x="156" y="608"/>
                        </a:lnTo>
                        <a:lnTo>
                          <a:pt x="165" y="622"/>
                        </a:lnTo>
                        <a:lnTo>
                          <a:pt x="208" y="543"/>
                        </a:lnTo>
                        <a:lnTo>
                          <a:pt x="370" y="465"/>
                        </a:lnTo>
                        <a:lnTo>
                          <a:pt x="473" y="480"/>
                        </a:lnTo>
                        <a:lnTo>
                          <a:pt x="531" y="452"/>
                        </a:lnTo>
                        <a:lnTo>
                          <a:pt x="455" y="296"/>
                        </a:lnTo>
                        <a:lnTo>
                          <a:pt x="542" y="93"/>
                        </a:lnTo>
                        <a:lnTo>
                          <a:pt x="386" y="0"/>
                        </a:lnTo>
                        <a:lnTo>
                          <a:pt x="223" y="81"/>
                        </a:lnTo>
                        <a:lnTo>
                          <a:pt x="0" y="703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8" name="Freeform 474"/>
                  <p:cNvSpPr/>
                  <p:nvPr/>
                </p:nvSpPr>
                <p:spPr>
                  <a:xfrm>
                    <a:off x="2650" y="2028"/>
                    <a:ext cx="236" cy="135"/>
                  </a:xfrm>
                  <a:custGeom>
                    <a:avLst/>
                    <a:gdLst/>
                    <a:ahLst/>
                    <a:cxnLst>
                      <a:cxn ang="0">
                        <a:pos x="19" y="59"/>
                      </a:cxn>
                      <a:cxn ang="0">
                        <a:pos x="34" y="31"/>
                      </a:cxn>
                      <a:cxn ang="0">
                        <a:pos x="76" y="10"/>
                      </a:cxn>
                      <a:cxn ang="0">
                        <a:pos x="101" y="15"/>
                      </a:cxn>
                      <a:cxn ang="0">
                        <a:pos x="106" y="23"/>
                      </a:cxn>
                      <a:cxn ang="0">
                        <a:pos x="118" y="17"/>
                      </a:cxn>
                      <a:cxn ang="0">
                        <a:pos x="111" y="5"/>
                      </a:cxn>
                      <a:cxn ang="0">
                        <a:pos x="71" y="0"/>
                      </a:cxn>
                      <a:cxn ang="0">
                        <a:pos x="29" y="21"/>
                      </a:cxn>
                      <a:cxn ang="0">
                        <a:pos x="0" y="68"/>
                      </a:cxn>
                      <a:cxn ang="0">
                        <a:pos x="19" y="59"/>
                      </a:cxn>
                    </a:cxnLst>
                    <a:pathLst>
                      <a:path w="473" h="270">
                        <a:moveTo>
                          <a:pt x="76" y="235"/>
                        </a:moveTo>
                        <a:lnTo>
                          <a:pt x="137" y="122"/>
                        </a:lnTo>
                        <a:lnTo>
                          <a:pt x="306" y="40"/>
                        </a:lnTo>
                        <a:lnTo>
                          <a:pt x="407" y="58"/>
                        </a:lnTo>
                        <a:lnTo>
                          <a:pt x="427" y="90"/>
                        </a:lnTo>
                        <a:lnTo>
                          <a:pt x="473" y="67"/>
                        </a:lnTo>
                        <a:lnTo>
                          <a:pt x="447" y="17"/>
                        </a:lnTo>
                        <a:lnTo>
                          <a:pt x="286" y="0"/>
                        </a:lnTo>
                        <a:lnTo>
                          <a:pt x="118" y="82"/>
                        </a:lnTo>
                        <a:lnTo>
                          <a:pt x="0" y="270"/>
                        </a:lnTo>
                        <a:lnTo>
                          <a:pt x="76" y="235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89" name="Freeform 475"/>
                  <p:cNvSpPr/>
                  <p:nvPr/>
                </p:nvSpPr>
                <p:spPr>
                  <a:xfrm>
                    <a:off x="2669" y="1861"/>
                    <a:ext cx="198" cy="218"/>
                  </a:xfrm>
                  <a:custGeom>
                    <a:avLst/>
                    <a:gdLst/>
                    <a:ahLst/>
                    <a:cxnLst>
                      <a:cxn ang="0">
                        <a:pos x="0" y="109"/>
                      </a:cxn>
                      <a:cxn ang="0">
                        <a:pos x="60" y="79"/>
                      </a:cxn>
                      <a:cxn ang="0">
                        <a:pos x="99" y="82"/>
                      </a:cxn>
                      <a:cxn ang="0">
                        <a:pos x="78" y="62"/>
                      </a:cxn>
                      <a:cxn ang="0">
                        <a:pos x="48" y="0"/>
                      </a:cxn>
                      <a:cxn ang="0">
                        <a:pos x="37" y="5"/>
                      </a:cxn>
                      <a:cxn ang="0">
                        <a:pos x="0" y="109"/>
                      </a:cxn>
                    </a:cxnLst>
                    <a:pathLst>
                      <a:path w="397" h="437">
                        <a:moveTo>
                          <a:pt x="0" y="437"/>
                        </a:moveTo>
                        <a:lnTo>
                          <a:pt x="242" y="316"/>
                        </a:lnTo>
                        <a:lnTo>
                          <a:pt x="397" y="331"/>
                        </a:lnTo>
                        <a:lnTo>
                          <a:pt x="312" y="251"/>
                        </a:lnTo>
                        <a:lnTo>
                          <a:pt x="192" y="0"/>
                        </a:lnTo>
                        <a:lnTo>
                          <a:pt x="151" y="20"/>
                        </a:lnTo>
                        <a:lnTo>
                          <a:pt x="0" y="437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0" name="Freeform 476"/>
                  <p:cNvSpPr/>
                  <p:nvPr/>
                </p:nvSpPr>
                <p:spPr>
                  <a:xfrm>
                    <a:off x="2821" y="1820"/>
                    <a:ext cx="148" cy="237"/>
                  </a:xfrm>
                  <a:custGeom>
                    <a:avLst/>
                    <a:gdLst/>
                    <a:ahLst/>
                    <a:cxnLst>
                      <a:cxn ang="0">
                        <a:pos x="36" y="118"/>
                      </a:cxn>
                      <a:cxn ang="0">
                        <a:pos x="16" y="78"/>
                      </a:cxn>
                      <a:cxn ang="0">
                        <a:pos x="38" y="29"/>
                      </a:cxn>
                      <a:cxn ang="0">
                        <a:pos x="0" y="6"/>
                      </a:cxn>
                      <a:cxn ang="0">
                        <a:pos x="13" y="0"/>
                      </a:cxn>
                      <a:cxn ang="0">
                        <a:pos x="42" y="22"/>
                      </a:cxn>
                      <a:cxn ang="0">
                        <a:pos x="61" y="12"/>
                      </a:cxn>
                      <a:cxn ang="0">
                        <a:pos x="74" y="40"/>
                      </a:cxn>
                      <a:cxn ang="0">
                        <a:pos x="58" y="74"/>
                      </a:cxn>
                      <a:cxn ang="0">
                        <a:pos x="65" y="89"/>
                      </a:cxn>
                      <a:cxn ang="0">
                        <a:pos x="53" y="94"/>
                      </a:cxn>
                      <a:cxn ang="0">
                        <a:pos x="36" y="118"/>
                      </a:cxn>
                    </a:cxnLst>
                    <a:pathLst>
                      <a:path w="295" h="475">
                        <a:moveTo>
                          <a:pt x="142" y="475"/>
                        </a:moveTo>
                        <a:lnTo>
                          <a:pt x="62" y="313"/>
                        </a:lnTo>
                        <a:lnTo>
                          <a:pt x="150" y="118"/>
                        </a:lnTo>
                        <a:lnTo>
                          <a:pt x="0" y="24"/>
                        </a:lnTo>
                        <a:lnTo>
                          <a:pt x="50" y="0"/>
                        </a:lnTo>
                        <a:lnTo>
                          <a:pt x="165" y="88"/>
                        </a:lnTo>
                        <a:lnTo>
                          <a:pt x="242" y="49"/>
                        </a:lnTo>
                        <a:lnTo>
                          <a:pt x="295" y="163"/>
                        </a:lnTo>
                        <a:lnTo>
                          <a:pt x="229" y="297"/>
                        </a:lnTo>
                        <a:lnTo>
                          <a:pt x="260" y="356"/>
                        </a:lnTo>
                        <a:lnTo>
                          <a:pt x="212" y="378"/>
                        </a:lnTo>
                        <a:lnTo>
                          <a:pt x="142" y="475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1" name="Freeform 477"/>
                  <p:cNvSpPr/>
                  <p:nvPr/>
                </p:nvSpPr>
                <p:spPr>
                  <a:xfrm>
                    <a:off x="2871" y="1869"/>
                    <a:ext cx="96" cy="175"/>
                  </a:xfrm>
                  <a:custGeom>
                    <a:avLst/>
                    <a:gdLst/>
                    <a:ahLst/>
                    <a:cxnLst>
                      <a:cxn ang="0">
                        <a:pos x="16" y="88"/>
                      </a:cxn>
                      <a:cxn ang="0">
                        <a:pos x="0" y="55"/>
                      </a:cxn>
                      <a:cxn ang="0">
                        <a:pos x="22" y="10"/>
                      </a:cxn>
                      <a:cxn ang="0">
                        <a:pos x="40" y="0"/>
                      </a:cxn>
                      <a:cxn ang="0">
                        <a:pos x="48" y="16"/>
                      </a:cxn>
                      <a:cxn ang="0">
                        <a:pos x="32" y="23"/>
                      </a:cxn>
                      <a:cxn ang="0">
                        <a:pos x="20" y="53"/>
                      </a:cxn>
                      <a:cxn ang="0">
                        <a:pos x="28" y="70"/>
                      </a:cxn>
                      <a:cxn ang="0">
                        <a:pos x="16" y="88"/>
                      </a:cxn>
                    </a:cxnLst>
                    <a:pathLst>
                      <a:path w="192" h="349">
                        <a:moveTo>
                          <a:pt x="64" y="349"/>
                        </a:moveTo>
                        <a:lnTo>
                          <a:pt x="0" y="218"/>
                        </a:lnTo>
                        <a:lnTo>
                          <a:pt x="86" y="38"/>
                        </a:lnTo>
                        <a:lnTo>
                          <a:pt x="160" y="0"/>
                        </a:lnTo>
                        <a:lnTo>
                          <a:pt x="192" y="61"/>
                        </a:lnTo>
                        <a:lnTo>
                          <a:pt x="128" y="90"/>
                        </a:lnTo>
                        <a:lnTo>
                          <a:pt x="79" y="209"/>
                        </a:lnTo>
                        <a:lnTo>
                          <a:pt x="112" y="279"/>
                        </a:lnTo>
                        <a:lnTo>
                          <a:pt x="64" y="349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2" name="Freeform 478"/>
                  <p:cNvSpPr/>
                  <p:nvPr/>
                </p:nvSpPr>
                <p:spPr>
                  <a:xfrm>
                    <a:off x="2939" y="1907"/>
                    <a:ext cx="46" cy="90"/>
                  </a:xfrm>
                  <a:custGeom>
                    <a:avLst/>
                    <a:gdLst/>
                    <a:ahLst/>
                    <a:cxnLst>
                      <a:cxn ang="0">
                        <a:pos x="7" y="45"/>
                      </a:cxn>
                      <a:cxn ang="0">
                        <a:pos x="23" y="15"/>
                      </a:cxn>
                      <a:cxn ang="0">
                        <a:pos x="16" y="0"/>
                      </a:cxn>
                      <a:cxn ang="0">
                        <a:pos x="0" y="30"/>
                      </a:cxn>
                      <a:cxn ang="0">
                        <a:pos x="7" y="45"/>
                      </a:cxn>
                    </a:cxnLst>
                    <a:pathLst>
                      <a:path w="92" h="181">
                        <a:moveTo>
                          <a:pt x="28" y="181"/>
                        </a:moveTo>
                        <a:lnTo>
                          <a:pt x="92" y="60"/>
                        </a:lnTo>
                        <a:lnTo>
                          <a:pt x="62" y="0"/>
                        </a:lnTo>
                        <a:lnTo>
                          <a:pt x="0" y="121"/>
                        </a:lnTo>
                        <a:lnTo>
                          <a:pt x="28" y="181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3" name="Freeform 479"/>
                  <p:cNvSpPr/>
                  <p:nvPr/>
                </p:nvSpPr>
                <p:spPr>
                  <a:xfrm>
                    <a:off x="2410" y="2015"/>
                    <a:ext cx="63" cy="77"/>
                  </a:xfrm>
                  <a:custGeom>
                    <a:avLst/>
                    <a:gdLst/>
                    <a:ahLst/>
                    <a:cxnLst>
                      <a:cxn ang="0">
                        <a:pos x="18" y="0"/>
                      </a:cxn>
                      <a:cxn ang="0">
                        <a:pos x="0" y="10"/>
                      </a:cxn>
                      <a:cxn ang="0">
                        <a:pos x="14" y="39"/>
                      </a:cxn>
                      <a:cxn ang="0">
                        <a:pos x="31" y="30"/>
                      </a:cxn>
                      <a:cxn ang="0">
                        <a:pos x="18" y="0"/>
                      </a:cxn>
                    </a:cxnLst>
                    <a:pathLst>
                      <a:path w="127" h="154">
                        <a:moveTo>
                          <a:pt x="73" y="0"/>
                        </a:moveTo>
                        <a:lnTo>
                          <a:pt x="0" y="37"/>
                        </a:lnTo>
                        <a:lnTo>
                          <a:pt x="56" y="154"/>
                        </a:lnTo>
                        <a:lnTo>
                          <a:pt x="127" y="118"/>
                        </a:lnTo>
                        <a:lnTo>
                          <a:pt x="73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4" name="Freeform 480"/>
                  <p:cNvSpPr/>
                  <p:nvPr/>
                </p:nvSpPr>
                <p:spPr>
                  <a:xfrm>
                    <a:off x="2410" y="2022"/>
                    <a:ext cx="45" cy="59"/>
                  </a:xfrm>
                  <a:custGeom>
                    <a:avLst/>
                    <a:gdLst/>
                    <a:ahLst/>
                    <a:cxnLst>
                      <a:cxn ang="0">
                        <a:pos x="23" y="24"/>
                      </a:cxn>
                      <a:cxn ang="0">
                        <a:pos x="12" y="0"/>
                      </a:cxn>
                      <a:cxn ang="0">
                        <a:pos x="0" y="5"/>
                      </a:cxn>
                      <a:cxn ang="0">
                        <a:pos x="12" y="29"/>
                      </a:cxn>
                      <a:cxn ang="0">
                        <a:pos x="23" y="24"/>
                      </a:cxn>
                    </a:cxnLst>
                    <a:pathLst>
                      <a:path w="90" h="119">
                        <a:moveTo>
                          <a:pt x="90" y="97"/>
                        </a:moveTo>
                        <a:lnTo>
                          <a:pt x="45" y="0"/>
                        </a:lnTo>
                        <a:lnTo>
                          <a:pt x="0" y="22"/>
                        </a:lnTo>
                        <a:lnTo>
                          <a:pt x="45" y="119"/>
                        </a:lnTo>
                        <a:lnTo>
                          <a:pt x="90" y="97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5" name="Freeform 481"/>
                  <p:cNvSpPr/>
                  <p:nvPr/>
                </p:nvSpPr>
                <p:spPr>
                  <a:xfrm>
                    <a:off x="2448" y="1994"/>
                    <a:ext cx="66" cy="111"/>
                  </a:xfrm>
                  <a:custGeom>
                    <a:avLst/>
                    <a:gdLst/>
                    <a:ahLst/>
                    <a:cxnLst>
                      <a:cxn ang="0">
                        <a:pos x="21" y="56"/>
                      </a:cxn>
                      <a:cxn ang="0">
                        <a:pos x="31" y="53"/>
                      </a:cxn>
                      <a:cxn ang="0">
                        <a:pos x="33" y="27"/>
                      </a:cxn>
                      <a:cxn ang="0">
                        <a:pos x="20" y="0"/>
                      </a:cxn>
                      <a:cxn ang="0">
                        <a:pos x="0" y="10"/>
                      </a:cxn>
                      <a:cxn ang="0">
                        <a:pos x="21" y="56"/>
                      </a:cxn>
                    </a:cxnLst>
                    <a:pathLst>
                      <a:path w="132" h="221">
                        <a:moveTo>
                          <a:pt x="83" y="221"/>
                        </a:moveTo>
                        <a:lnTo>
                          <a:pt x="124" y="209"/>
                        </a:lnTo>
                        <a:lnTo>
                          <a:pt x="132" y="105"/>
                        </a:lnTo>
                        <a:lnTo>
                          <a:pt x="80" y="0"/>
                        </a:lnTo>
                        <a:lnTo>
                          <a:pt x="0" y="40"/>
                        </a:lnTo>
                        <a:lnTo>
                          <a:pt x="83" y="221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6" name="Freeform 482"/>
                  <p:cNvSpPr/>
                  <p:nvPr/>
                </p:nvSpPr>
                <p:spPr>
                  <a:xfrm>
                    <a:off x="2489" y="1967"/>
                    <a:ext cx="85" cy="189"/>
                  </a:xfrm>
                  <a:custGeom>
                    <a:avLst/>
                    <a:gdLst/>
                    <a:ahLst/>
                    <a:cxnLst>
                      <a:cxn ang="0">
                        <a:pos x="0" y="14"/>
                      </a:cxn>
                      <a:cxn ang="0">
                        <a:pos x="27" y="0"/>
                      </a:cxn>
                      <a:cxn ang="0">
                        <a:pos x="43" y="35"/>
                      </a:cxn>
                      <a:cxn ang="0">
                        <a:pos x="18" y="95"/>
                      </a:cxn>
                      <a:cxn ang="0">
                        <a:pos x="14" y="91"/>
                      </a:cxn>
                      <a:cxn ang="0">
                        <a:pos x="3" y="69"/>
                      </a:cxn>
                      <a:cxn ang="0">
                        <a:pos x="12" y="64"/>
                      </a:cxn>
                      <a:cxn ang="0">
                        <a:pos x="13" y="41"/>
                      </a:cxn>
                      <a:cxn ang="0">
                        <a:pos x="0" y="14"/>
                      </a:cxn>
                    </a:cxnLst>
                    <a:pathLst>
                      <a:path w="170" h="378">
                        <a:moveTo>
                          <a:pt x="0" y="55"/>
                        </a:moveTo>
                        <a:lnTo>
                          <a:pt x="106" y="0"/>
                        </a:lnTo>
                        <a:lnTo>
                          <a:pt x="170" y="137"/>
                        </a:lnTo>
                        <a:lnTo>
                          <a:pt x="71" y="378"/>
                        </a:lnTo>
                        <a:lnTo>
                          <a:pt x="54" y="363"/>
                        </a:lnTo>
                        <a:lnTo>
                          <a:pt x="10" y="273"/>
                        </a:lnTo>
                        <a:lnTo>
                          <a:pt x="46" y="254"/>
                        </a:lnTo>
                        <a:lnTo>
                          <a:pt x="52" y="161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7" name="Freeform 483"/>
                  <p:cNvSpPr/>
                  <p:nvPr/>
                </p:nvSpPr>
                <p:spPr>
                  <a:xfrm>
                    <a:off x="2544" y="1929"/>
                    <a:ext cx="77" cy="101"/>
                  </a:xfrm>
                  <a:custGeom>
                    <a:avLst/>
                    <a:gdLst/>
                    <a:ahLst/>
                    <a:cxnLst>
                      <a:cxn ang="0">
                        <a:pos x="16" y="50"/>
                      </a:cxn>
                      <a:cxn ang="0">
                        <a:pos x="39" y="0"/>
                      </a:cxn>
                      <a:cxn ang="0">
                        <a:pos x="0" y="18"/>
                      </a:cxn>
                      <a:cxn ang="0">
                        <a:pos x="16" y="50"/>
                      </a:cxn>
                    </a:cxnLst>
                    <a:pathLst>
                      <a:path w="154" h="203">
                        <a:moveTo>
                          <a:pt x="64" y="203"/>
                        </a:moveTo>
                        <a:lnTo>
                          <a:pt x="154" y="0"/>
                        </a:lnTo>
                        <a:lnTo>
                          <a:pt x="0" y="75"/>
                        </a:lnTo>
                        <a:lnTo>
                          <a:pt x="64" y="203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8" name="Freeform 484"/>
                  <p:cNvSpPr/>
                  <p:nvPr/>
                </p:nvSpPr>
                <p:spPr>
                  <a:xfrm>
                    <a:off x="2541" y="1912"/>
                    <a:ext cx="112" cy="251"/>
                  </a:xfrm>
                  <a:custGeom>
                    <a:avLst/>
                    <a:gdLst/>
                    <a:ahLst/>
                    <a:cxnLst>
                      <a:cxn ang="0">
                        <a:pos x="0" y="122"/>
                      </a:cxn>
                      <a:cxn ang="0">
                        <a:pos x="13" y="126"/>
                      </a:cxn>
                      <a:cxn ang="0">
                        <a:pos x="56" y="0"/>
                      </a:cxn>
                      <a:cxn ang="0">
                        <a:pos x="47" y="5"/>
                      </a:cxn>
                      <a:cxn ang="0">
                        <a:pos x="0" y="122"/>
                      </a:cxn>
                    </a:cxnLst>
                    <a:pathLst>
                      <a:path w="223" h="501">
                        <a:moveTo>
                          <a:pt x="0" y="485"/>
                        </a:moveTo>
                        <a:lnTo>
                          <a:pt x="50" y="501"/>
                        </a:lnTo>
                        <a:lnTo>
                          <a:pt x="223" y="0"/>
                        </a:lnTo>
                        <a:lnTo>
                          <a:pt x="188" y="20"/>
                        </a:lnTo>
                        <a:lnTo>
                          <a:pt x="0" y="485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99" name="Freeform 485"/>
                  <p:cNvSpPr/>
                  <p:nvPr/>
                </p:nvSpPr>
                <p:spPr>
                  <a:xfrm>
                    <a:off x="2829" y="1846"/>
                    <a:ext cx="54" cy="137"/>
                  </a:xfrm>
                  <a:custGeom>
                    <a:avLst/>
                    <a:gdLst/>
                    <a:ahLst/>
                    <a:cxnLst>
                      <a:cxn ang="0">
                        <a:pos x="5" y="68"/>
                      </a:cxn>
                      <a:cxn ang="0">
                        <a:pos x="0" y="0"/>
                      </a:cxn>
                      <a:cxn ang="0">
                        <a:pos x="28" y="17"/>
                      </a:cxn>
                      <a:cxn ang="0">
                        <a:pos x="5" y="68"/>
                      </a:cxn>
                    </a:cxnLst>
                    <a:pathLst>
                      <a:path w="106" h="275">
                        <a:moveTo>
                          <a:pt x="20" y="275"/>
                        </a:moveTo>
                        <a:lnTo>
                          <a:pt x="0" y="0"/>
                        </a:lnTo>
                        <a:lnTo>
                          <a:pt x="106" y="69"/>
                        </a:lnTo>
                        <a:lnTo>
                          <a:pt x="20" y="275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0" name="Freeform 486"/>
                  <p:cNvSpPr/>
                  <p:nvPr/>
                </p:nvSpPr>
                <p:spPr>
                  <a:xfrm>
                    <a:off x="2491" y="2094"/>
                    <a:ext cx="49" cy="63"/>
                  </a:xfrm>
                  <a:custGeom>
                    <a:avLst/>
                    <a:gdLst/>
                    <a:ahLst/>
                    <a:cxnLst>
                      <a:cxn ang="0">
                        <a:pos x="12" y="32"/>
                      </a:cxn>
                      <a:cxn ang="0">
                        <a:pos x="25" y="25"/>
                      </a:cxn>
                      <a:cxn ang="0">
                        <a:pos x="13" y="0"/>
                      </a:cxn>
                      <a:cxn ang="0">
                        <a:pos x="0" y="7"/>
                      </a:cxn>
                      <a:cxn ang="0">
                        <a:pos x="12" y="32"/>
                      </a:cxn>
                    </a:cxnLst>
                    <a:pathLst>
                      <a:path w="98" h="126">
                        <a:moveTo>
                          <a:pt x="48" y="126"/>
                        </a:moveTo>
                        <a:lnTo>
                          <a:pt x="98" y="99"/>
                        </a:lnTo>
                        <a:lnTo>
                          <a:pt x="50" y="0"/>
                        </a:lnTo>
                        <a:lnTo>
                          <a:pt x="0" y="27"/>
                        </a:lnTo>
                        <a:lnTo>
                          <a:pt x="48" y="126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1" name="Freeform 487"/>
                  <p:cNvSpPr/>
                  <p:nvPr/>
                </p:nvSpPr>
                <p:spPr>
                  <a:xfrm>
                    <a:off x="2618" y="2135"/>
                    <a:ext cx="194" cy="192"/>
                  </a:xfrm>
                  <a:custGeom>
                    <a:avLst/>
                    <a:gdLst/>
                    <a:ahLst/>
                    <a:cxnLst>
                      <a:cxn ang="0">
                        <a:pos x="63" y="96"/>
                      </a:cxn>
                      <a:cxn ang="0">
                        <a:pos x="36" y="40"/>
                      </a:cxn>
                      <a:cxn ang="0">
                        <a:pos x="25" y="38"/>
                      </a:cxn>
                      <a:cxn ang="0">
                        <a:pos x="11" y="44"/>
                      </a:cxn>
                      <a:cxn ang="0">
                        <a:pos x="0" y="21"/>
                      </a:cxn>
                      <a:cxn ang="0">
                        <a:pos x="44" y="0"/>
                      </a:cxn>
                      <a:cxn ang="0">
                        <a:pos x="62" y="7"/>
                      </a:cxn>
                      <a:cxn ang="0">
                        <a:pos x="97" y="80"/>
                      </a:cxn>
                      <a:cxn ang="0">
                        <a:pos x="63" y="96"/>
                      </a:cxn>
                    </a:cxnLst>
                    <a:pathLst>
                      <a:path w="388" h="384">
                        <a:moveTo>
                          <a:pt x="252" y="384"/>
                        </a:moveTo>
                        <a:lnTo>
                          <a:pt x="143" y="158"/>
                        </a:lnTo>
                        <a:lnTo>
                          <a:pt x="97" y="149"/>
                        </a:lnTo>
                        <a:lnTo>
                          <a:pt x="42" y="174"/>
                        </a:lnTo>
                        <a:lnTo>
                          <a:pt x="0" y="84"/>
                        </a:lnTo>
                        <a:lnTo>
                          <a:pt x="174" y="0"/>
                        </a:lnTo>
                        <a:lnTo>
                          <a:pt x="245" y="26"/>
                        </a:lnTo>
                        <a:lnTo>
                          <a:pt x="388" y="318"/>
                        </a:lnTo>
                        <a:lnTo>
                          <a:pt x="252" y="384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2" name="Freeform 488"/>
                  <p:cNvSpPr/>
                  <p:nvPr/>
                </p:nvSpPr>
                <p:spPr>
                  <a:xfrm>
                    <a:off x="2915" y="1764"/>
                    <a:ext cx="146" cy="243"/>
                  </a:xfrm>
                  <a:custGeom>
                    <a:avLst/>
                    <a:gdLst/>
                    <a:ahLst/>
                    <a:cxnLst>
                      <a:cxn ang="0">
                        <a:pos x="19" y="0"/>
                      </a:cxn>
                      <a:cxn ang="0">
                        <a:pos x="0" y="10"/>
                      </a:cxn>
                      <a:cxn ang="0">
                        <a:pos x="55" y="122"/>
                      </a:cxn>
                      <a:cxn ang="0">
                        <a:pos x="73" y="111"/>
                      </a:cxn>
                      <a:cxn ang="0">
                        <a:pos x="19" y="0"/>
                      </a:cxn>
                    </a:cxnLst>
                    <a:pathLst>
                      <a:path w="292" h="485">
                        <a:moveTo>
                          <a:pt x="74" y="0"/>
                        </a:moveTo>
                        <a:lnTo>
                          <a:pt x="0" y="38"/>
                        </a:lnTo>
                        <a:lnTo>
                          <a:pt x="217" y="485"/>
                        </a:lnTo>
                        <a:lnTo>
                          <a:pt x="292" y="444"/>
                        </a:lnTo>
                        <a:lnTo>
                          <a:pt x="74" y="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3" name="Freeform 489"/>
                  <p:cNvSpPr/>
                  <p:nvPr/>
                </p:nvSpPr>
                <p:spPr>
                  <a:xfrm>
                    <a:off x="2929" y="1766"/>
                    <a:ext cx="114" cy="195"/>
                  </a:xfrm>
                  <a:custGeom>
                    <a:avLst/>
                    <a:gdLst/>
                    <a:ahLst/>
                    <a:cxnLst>
                      <a:cxn ang="0">
                        <a:pos x="57" y="92"/>
                      </a:cxn>
                      <a:cxn ang="0">
                        <a:pos x="11" y="0"/>
                      </a:cxn>
                      <a:cxn ang="0">
                        <a:pos x="0" y="5"/>
                      </a:cxn>
                      <a:cxn ang="0">
                        <a:pos x="46" y="98"/>
                      </a:cxn>
                      <a:cxn ang="0">
                        <a:pos x="57" y="92"/>
                      </a:cxn>
                    </a:cxnLst>
                    <a:pathLst>
                      <a:path w="227" h="390">
                        <a:moveTo>
                          <a:pt x="227" y="367"/>
                        </a:moveTo>
                        <a:lnTo>
                          <a:pt x="44" y="0"/>
                        </a:lnTo>
                        <a:lnTo>
                          <a:pt x="0" y="20"/>
                        </a:lnTo>
                        <a:lnTo>
                          <a:pt x="181" y="390"/>
                        </a:lnTo>
                        <a:lnTo>
                          <a:pt x="227" y="367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4" name="Freeform 490"/>
                  <p:cNvSpPr/>
                  <p:nvPr/>
                </p:nvSpPr>
                <p:spPr>
                  <a:xfrm>
                    <a:off x="2844" y="1785"/>
                    <a:ext cx="98" cy="76"/>
                  </a:xfrm>
                  <a:custGeom>
                    <a:avLst/>
                    <a:gdLst/>
                    <a:ahLst/>
                    <a:cxnLst>
                      <a:cxn ang="0">
                        <a:pos x="36" y="0"/>
                      </a:cxn>
                      <a:cxn ang="0">
                        <a:pos x="49" y="29"/>
                      </a:cxn>
                      <a:cxn ang="0">
                        <a:pos x="30" y="38"/>
                      </a:cxn>
                      <a:cxn ang="0">
                        <a:pos x="0" y="18"/>
                      </a:cxn>
                      <a:cxn ang="0">
                        <a:pos x="36" y="0"/>
                      </a:cxn>
                    </a:cxnLst>
                    <a:pathLst>
                      <a:path w="196" h="152">
                        <a:moveTo>
                          <a:pt x="141" y="0"/>
                        </a:moveTo>
                        <a:lnTo>
                          <a:pt x="196" y="113"/>
                        </a:lnTo>
                        <a:lnTo>
                          <a:pt x="118" y="152"/>
                        </a:lnTo>
                        <a:lnTo>
                          <a:pt x="0" y="69"/>
                        </a:lnTo>
                        <a:lnTo>
                          <a:pt x="141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5" name="Freeform 491"/>
                  <p:cNvSpPr/>
                  <p:nvPr/>
                </p:nvSpPr>
                <p:spPr>
                  <a:xfrm>
                    <a:off x="2770" y="1832"/>
                    <a:ext cx="63" cy="161"/>
                  </a:xfrm>
                  <a:custGeom>
                    <a:avLst/>
                    <a:gdLst/>
                    <a:ahLst/>
                    <a:cxnLst>
                      <a:cxn ang="0">
                        <a:pos x="32" y="81"/>
                      </a:cxn>
                      <a:cxn ang="0">
                        <a:pos x="0" y="12"/>
                      </a:cxn>
                      <a:cxn ang="0">
                        <a:pos x="26" y="0"/>
                      </a:cxn>
                      <a:cxn ang="0">
                        <a:pos x="32" y="81"/>
                      </a:cxn>
                    </a:cxnLst>
                    <a:pathLst>
                      <a:path w="124" h="321">
                        <a:moveTo>
                          <a:pt x="124" y="321"/>
                        </a:moveTo>
                        <a:lnTo>
                          <a:pt x="0" y="48"/>
                        </a:lnTo>
                        <a:lnTo>
                          <a:pt x="100" y="0"/>
                        </a:lnTo>
                        <a:lnTo>
                          <a:pt x="124" y="321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6" name="Freeform 492"/>
                  <p:cNvSpPr/>
                  <p:nvPr/>
                </p:nvSpPr>
                <p:spPr>
                  <a:xfrm>
                    <a:off x="2689" y="1973"/>
                    <a:ext cx="125" cy="74"/>
                  </a:xfrm>
                  <a:custGeom>
                    <a:avLst/>
                    <a:gdLst/>
                    <a:ahLst/>
                    <a:cxnLst>
                      <a:cxn ang="0">
                        <a:pos x="63" y="7"/>
                      </a:cxn>
                      <a:cxn ang="0">
                        <a:pos x="0" y="37"/>
                      </a:cxn>
                      <a:cxn ang="0">
                        <a:pos x="5" y="26"/>
                      </a:cxn>
                      <a:cxn ang="0">
                        <a:pos x="59" y="0"/>
                      </a:cxn>
                      <a:cxn ang="0">
                        <a:pos x="63" y="7"/>
                      </a:cxn>
                    </a:cxnLst>
                    <a:pathLst>
                      <a:path w="249" h="149">
                        <a:moveTo>
                          <a:pt x="249" y="29"/>
                        </a:moveTo>
                        <a:lnTo>
                          <a:pt x="0" y="149"/>
                        </a:lnTo>
                        <a:lnTo>
                          <a:pt x="17" y="105"/>
                        </a:lnTo>
                        <a:lnTo>
                          <a:pt x="233" y="0"/>
                        </a:lnTo>
                        <a:lnTo>
                          <a:pt x="249" y="29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7" name="Freeform 493"/>
                  <p:cNvSpPr/>
                  <p:nvPr/>
                </p:nvSpPr>
                <p:spPr>
                  <a:xfrm>
                    <a:off x="2709" y="1947"/>
                    <a:ext cx="93" cy="59"/>
                  </a:xfrm>
                  <a:custGeom>
                    <a:avLst/>
                    <a:gdLst/>
                    <a:ahLst/>
                    <a:cxnLst>
                      <a:cxn ang="0">
                        <a:pos x="47" y="7"/>
                      </a:cxn>
                      <a:cxn ang="0">
                        <a:pos x="44" y="0"/>
                      </a:cxn>
                      <a:cxn ang="0">
                        <a:pos x="4" y="19"/>
                      </a:cxn>
                      <a:cxn ang="0">
                        <a:pos x="0" y="30"/>
                      </a:cxn>
                      <a:cxn ang="0">
                        <a:pos x="47" y="7"/>
                      </a:cxn>
                    </a:cxnLst>
                    <a:pathLst>
                      <a:path w="186" h="117">
                        <a:moveTo>
                          <a:pt x="186" y="27"/>
                        </a:moveTo>
                        <a:lnTo>
                          <a:pt x="173" y="0"/>
                        </a:lnTo>
                        <a:lnTo>
                          <a:pt x="16" y="74"/>
                        </a:lnTo>
                        <a:lnTo>
                          <a:pt x="0" y="117"/>
                        </a:lnTo>
                        <a:lnTo>
                          <a:pt x="186" y="27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8" name="Freeform 494"/>
                  <p:cNvSpPr/>
                  <p:nvPr/>
                </p:nvSpPr>
                <p:spPr>
                  <a:xfrm>
                    <a:off x="2723" y="1916"/>
                    <a:ext cx="66" cy="47"/>
                  </a:xfrm>
                  <a:custGeom>
                    <a:avLst/>
                    <a:gdLst/>
                    <a:ahLst/>
                    <a:cxnLst>
                      <a:cxn ang="0">
                        <a:pos x="33" y="8"/>
                      </a:cxn>
                      <a:cxn ang="0">
                        <a:pos x="29" y="0"/>
                      </a:cxn>
                      <a:cxn ang="0">
                        <a:pos x="5" y="11"/>
                      </a:cxn>
                      <a:cxn ang="0">
                        <a:pos x="0" y="23"/>
                      </a:cxn>
                      <a:cxn ang="0">
                        <a:pos x="33" y="8"/>
                      </a:cxn>
                    </a:cxnLst>
                    <a:pathLst>
                      <a:path w="131" h="95">
                        <a:moveTo>
                          <a:pt x="131" y="33"/>
                        </a:moveTo>
                        <a:lnTo>
                          <a:pt x="115" y="0"/>
                        </a:lnTo>
                        <a:lnTo>
                          <a:pt x="18" y="47"/>
                        </a:lnTo>
                        <a:lnTo>
                          <a:pt x="0" y="95"/>
                        </a:lnTo>
                        <a:lnTo>
                          <a:pt x="131" y="33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09" name="Freeform 495"/>
                  <p:cNvSpPr/>
                  <p:nvPr/>
                </p:nvSpPr>
                <p:spPr>
                  <a:xfrm>
                    <a:off x="2740" y="1874"/>
                    <a:ext cx="33" cy="43"/>
                  </a:xfrm>
                  <a:custGeom>
                    <a:avLst/>
                    <a:gdLst/>
                    <a:ahLst/>
                    <a:cxnLst>
                      <a:cxn ang="0">
                        <a:pos x="16" y="13"/>
                      </a:cxn>
                      <a:cxn ang="0">
                        <a:pos x="0" y="21"/>
                      </a:cxn>
                      <a:cxn ang="0">
                        <a:pos x="6" y="2"/>
                      </a:cxn>
                      <a:cxn ang="0">
                        <a:pos x="10" y="0"/>
                      </a:cxn>
                      <a:cxn ang="0">
                        <a:pos x="16" y="13"/>
                      </a:cxn>
                    </a:cxnLst>
                    <a:pathLst>
                      <a:path w="68" h="87">
                        <a:moveTo>
                          <a:pt x="68" y="54"/>
                        </a:moveTo>
                        <a:lnTo>
                          <a:pt x="0" y="87"/>
                        </a:lnTo>
                        <a:lnTo>
                          <a:pt x="24" y="9"/>
                        </a:lnTo>
                        <a:lnTo>
                          <a:pt x="42" y="0"/>
                        </a:lnTo>
                        <a:lnTo>
                          <a:pt x="68" y="54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10" name="Freeform 496"/>
                  <p:cNvSpPr/>
                  <p:nvPr/>
                </p:nvSpPr>
                <p:spPr>
                  <a:xfrm>
                    <a:off x="2884" y="2275"/>
                    <a:ext cx="77" cy="29"/>
                  </a:xfrm>
                  <a:custGeom>
                    <a:avLst/>
                    <a:gdLst/>
                    <a:ahLst/>
                    <a:cxnLst>
                      <a:cxn ang="0">
                        <a:pos x="39" y="8"/>
                      </a:cxn>
                      <a:cxn ang="0">
                        <a:pos x="14" y="0"/>
                      </a:cxn>
                      <a:cxn ang="0">
                        <a:pos x="0" y="6"/>
                      </a:cxn>
                      <a:cxn ang="0">
                        <a:pos x="24" y="15"/>
                      </a:cxn>
                      <a:cxn ang="0">
                        <a:pos x="39" y="8"/>
                      </a:cxn>
                    </a:cxnLst>
                    <a:pathLst>
                      <a:path w="154" h="57">
                        <a:moveTo>
                          <a:pt x="154" y="30"/>
                        </a:moveTo>
                        <a:lnTo>
                          <a:pt x="53" y="0"/>
                        </a:lnTo>
                        <a:lnTo>
                          <a:pt x="0" y="23"/>
                        </a:lnTo>
                        <a:lnTo>
                          <a:pt x="93" y="57"/>
                        </a:lnTo>
                        <a:lnTo>
                          <a:pt x="154" y="3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11" name="Freeform 497"/>
                  <p:cNvSpPr/>
                  <p:nvPr/>
                </p:nvSpPr>
                <p:spPr>
                  <a:xfrm>
                    <a:off x="2831" y="2301"/>
                    <a:ext cx="76" cy="28"/>
                  </a:xfrm>
                  <a:custGeom>
                    <a:avLst/>
                    <a:gdLst/>
                    <a:ahLst/>
                    <a:cxnLst>
                      <a:cxn ang="0">
                        <a:pos x="38" y="7"/>
                      </a:cxn>
                      <a:cxn ang="0">
                        <a:pos x="13" y="0"/>
                      </a:cxn>
                      <a:cxn ang="0">
                        <a:pos x="0" y="5"/>
                      </a:cxn>
                      <a:cxn ang="0">
                        <a:pos x="23" y="14"/>
                      </a:cxn>
                      <a:cxn ang="0">
                        <a:pos x="38" y="7"/>
                      </a:cxn>
                    </a:cxnLst>
                    <a:pathLst>
                      <a:path w="151" h="58">
                        <a:moveTo>
                          <a:pt x="151" y="31"/>
                        </a:moveTo>
                        <a:lnTo>
                          <a:pt x="51" y="0"/>
                        </a:lnTo>
                        <a:lnTo>
                          <a:pt x="0" y="23"/>
                        </a:lnTo>
                        <a:lnTo>
                          <a:pt x="91" y="58"/>
                        </a:lnTo>
                        <a:lnTo>
                          <a:pt x="151" y="3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12" name="Freeform 498"/>
                  <p:cNvSpPr/>
                  <p:nvPr/>
                </p:nvSpPr>
                <p:spPr>
                  <a:xfrm>
                    <a:off x="2777" y="2327"/>
                    <a:ext cx="74" cy="29"/>
                  </a:xfrm>
                  <a:custGeom>
                    <a:avLst/>
                    <a:gdLst/>
                    <a:ahLst/>
                    <a:cxnLst>
                      <a:cxn ang="0">
                        <a:pos x="37" y="8"/>
                      </a:cxn>
                      <a:cxn ang="0">
                        <a:pos x="12" y="0"/>
                      </a:cxn>
                      <a:cxn ang="0">
                        <a:pos x="0" y="6"/>
                      </a:cxn>
                      <a:cxn ang="0">
                        <a:pos x="23" y="15"/>
                      </a:cxn>
                      <a:cxn ang="0">
                        <a:pos x="37" y="8"/>
                      </a:cxn>
                    </a:cxnLst>
                    <a:pathLst>
                      <a:path w="149" h="57">
                        <a:moveTo>
                          <a:pt x="149" y="30"/>
                        </a:moveTo>
                        <a:lnTo>
                          <a:pt x="51" y="0"/>
                        </a:lnTo>
                        <a:lnTo>
                          <a:pt x="0" y="23"/>
                        </a:lnTo>
                        <a:lnTo>
                          <a:pt x="93" y="57"/>
                        </a:lnTo>
                        <a:lnTo>
                          <a:pt x="149" y="3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13" name="Freeform 499"/>
                  <p:cNvSpPr/>
                  <p:nvPr/>
                </p:nvSpPr>
                <p:spPr>
                  <a:xfrm>
                    <a:off x="2743" y="2362"/>
                    <a:ext cx="43" cy="25"/>
                  </a:xfrm>
                  <a:custGeom>
                    <a:avLst/>
                    <a:gdLst/>
                    <a:ahLst/>
                    <a:cxnLst>
                      <a:cxn ang="0">
                        <a:pos x="22" y="6"/>
                      </a:cxn>
                      <a:cxn ang="0">
                        <a:pos x="3" y="0"/>
                      </a:cxn>
                      <a:cxn ang="0">
                        <a:pos x="0" y="9"/>
                      </a:cxn>
                      <a:cxn ang="0">
                        <a:pos x="9" y="12"/>
                      </a:cxn>
                      <a:cxn ang="0">
                        <a:pos x="22" y="6"/>
                      </a:cxn>
                    </a:cxnLst>
                    <a:pathLst>
                      <a:path w="86" h="51">
                        <a:moveTo>
                          <a:pt x="86" y="27"/>
                        </a:moveTo>
                        <a:lnTo>
                          <a:pt x="11" y="0"/>
                        </a:lnTo>
                        <a:lnTo>
                          <a:pt x="0" y="37"/>
                        </a:lnTo>
                        <a:lnTo>
                          <a:pt x="33" y="51"/>
                        </a:lnTo>
                        <a:lnTo>
                          <a:pt x="86" y="27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14" name="Freeform 500"/>
                  <p:cNvSpPr/>
                  <p:nvPr/>
                </p:nvSpPr>
                <p:spPr>
                  <a:xfrm>
                    <a:off x="2630" y="2178"/>
                    <a:ext cx="141" cy="141"/>
                  </a:xfrm>
                  <a:custGeom>
                    <a:avLst/>
                    <a:gdLst/>
                    <a:ahLst/>
                    <a:cxnLst>
                      <a:cxn ang="0">
                        <a:pos x="64" y="71"/>
                      </a:cxn>
                      <a:cxn ang="0">
                        <a:pos x="35" y="10"/>
                      </a:cxn>
                      <a:cxn ang="0">
                        <a:pos x="26" y="7"/>
                      </a:cxn>
                      <a:cxn ang="0">
                        <a:pos x="3" y="17"/>
                      </a:cxn>
                      <a:cxn ang="0">
                        <a:pos x="0" y="13"/>
                      </a:cxn>
                      <a:cxn ang="0">
                        <a:pos x="28" y="0"/>
                      </a:cxn>
                      <a:cxn ang="0">
                        <a:pos x="37" y="1"/>
                      </a:cxn>
                      <a:cxn ang="0">
                        <a:pos x="70" y="68"/>
                      </a:cxn>
                      <a:cxn ang="0">
                        <a:pos x="64" y="71"/>
                      </a:cxn>
                    </a:cxnLst>
                    <a:pathLst>
                      <a:path w="283" h="281">
                        <a:moveTo>
                          <a:pt x="257" y="281"/>
                        </a:moveTo>
                        <a:lnTo>
                          <a:pt x="140" y="38"/>
                        </a:lnTo>
                        <a:lnTo>
                          <a:pt x="107" y="27"/>
                        </a:lnTo>
                        <a:lnTo>
                          <a:pt x="14" y="67"/>
                        </a:lnTo>
                        <a:lnTo>
                          <a:pt x="0" y="51"/>
                        </a:lnTo>
                        <a:lnTo>
                          <a:pt x="113" y="0"/>
                        </a:lnTo>
                        <a:lnTo>
                          <a:pt x="150" y="1"/>
                        </a:lnTo>
                        <a:lnTo>
                          <a:pt x="283" y="270"/>
                        </a:lnTo>
                        <a:lnTo>
                          <a:pt x="257" y="281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15" name="Freeform 501"/>
                  <p:cNvSpPr/>
                  <p:nvPr/>
                </p:nvSpPr>
                <p:spPr>
                  <a:xfrm>
                    <a:off x="2618" y="2148"/>
                    <a:ext cx="182" cy="154"/>
                  </a:xfrm>
                  <a:custGeom>
                    <a:avLst/>
                    <a:gdLst/>
                    <a:ahLst/>
                    <a:cxnLst>
                      <a:cxn ang="0">
                        <a:pos x="85" y="77"/>
                      </a:cxn>
                      <a:cxn ang="0">
                        <a:pos x="50" y="9"/>
                      </a:cxn>
                      <a:cxn ang="0">
                        <a:pos x="38" y="7"/>
                      </a:cxn>
                      <a:cxn ang="0">
                        <a:pos x="4" y="23"/>
                      </a:cxn>
                      <a:cxn ang="0">
                        <a:pos x="0" y="19"/>
                      </a:cxn>
                      <a:cxn ang="0">
                        <a:pos x="43" y="0"/>
                      </a:cxn>
                      <a:cxn ang="0">
                        <a:pos x="55" y="4"/>
                      </a:cxn>
                      <a:cxn ang="0">
                        <a:pos x="91" y="74"/>
                      </a:cxn>
                      <a:cxn ang="0">
                        <a:pos x="85" y="77"/>
                      </a:cxn>
                    </a:cxnLst>
                    <a:pathLst>
                      <a:path w="364" h="308">
                        <a:moveTo>
                          <a:pt x="337" y="308"/>
                        </a:moveTo>
                        <a:lnTo>
                          <a:pt x="197" y="34"/>
                        </a:lnTo>
                        <a:lnTo>
                          <a:pt x="151" y="27"/>
                        </a:lnTo>
                        <a:lnTo>
                          <a:pt x="15" y="92"/>
                        </a:lnTo>
                        <a:lnTo>
                          <a:pt x="0" y="76"/>
                        </a:lnTo>
                        <a:lnTo>
                          <a:pt x="169" y="0"/>
                        </a:lnTo>
                        <a:lnTo>
                          <a:pt x="217" y="15"/>
                        </a:lnTo>
                        <a:lnTo>
                          <a:pt x="364" y="294"/>
                        </a:lnTo>
                        <a:lnTo>
                          <a:pt x="337" y="308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 w="7938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416" name="Line 502"/>
                  <p:cNvSpPr/>
                  <p:nvPr/>
                </p:nvSpPr>
                <p:spPr>
                  <a:xfrm flipH="1">
                    <a:off x="2855" y="2204"/>
                    <a:ext cx="48" cy="22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17" name="Line 503"/>
                  <p:cNvSpPr/>
                  <p:nvPr/>
                </p:nvSpPr>
                <p:spPr>
                  <a:xfrm flipH="1">
                    <a:off x="2790" y="2214"/>
                    <a:ext cx="44" cy="21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18" name="Line 504"/>
                  <p:cNvSpPr/>
                  <p:nvPr/>
                </p:nvSpPr>
                <p:spPr>
                  <a:xfrm flipH="1" flipV="1">
                    <a:off x="2825" y="2166"/>
                    <a:ext cx="25" cy="47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19" name="Line 505"/>
                  <p:cNvSpPr/>
                  <p:nvPr/>
                </p:nvSpPr>
                <p:spPr>
                  <a:xfrm flipH="1">
                    <a:off x="2809" y="2159"/>
                    <a:ext cx="28" cy="14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20" name="Line 506"/>
                  <p:cNvSpPr/>
                  <p:nvPr/>
                </p:nvSpPr>
                <p:spPr>
                  <a:xfrm flipH="1">
                    <a:off x="2792" y="2133"/>
                    <a:ext cx="33" cy="18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21" name="Line 507"/>
                  <p:cNvSpPr/>
                  <p:nvPr/>
                </p:nvSpPr>
                <p:spPr>
                  <a:xfrm flipH="1">
                    <a:off x="2847" y="2190"/>
                    <a:ext cx="39" cy="20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422" name="Line 508"/>
                  <p:cNvSpPr/>
                  <p:nvPr/>
                </p:nvSpPr>
                <p:spPr>
                  <a:xfrm flipH="1">
                    <a:off x="2798" y="2231"/>
                    <a:ext cx="49" cy="22"/>
                  </a:xfrm>
                  <a:prstGeom prst="line">
                    <a:avLst/>
                  </a:prstGeom>
                  <a:ln w="7938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7371" name="Freeform 509"/>
                <p:cNvSpPr/>
                <p:nvPr/>
              </p:nvSpPr>
              <p:spPr>
                <a:xfrm>
                  <a:off x="2190" y="1323"/>
                  <a:ext cx="978" cy="1155"/>
                </a:xfrm>
                <a:custGeom>
                  <a:avLst/>
                  <a:gdLst/>
                  <a:ahLst/>
                  <a:cxnLst>
                    <a:cxn ang="0">
                      <a:pos x="0" y="138"/>
                    </a:cxn>
                    <a:cxn ang="0">
                      <a:pos x="274" y="0"/>
                    </a:cxn>
                    <a:cxn ang="0">
                      <a:pos x="489" y="443"/>
                    </a:cxn>
                    <a:cxn ang="0">
                      <a:pos x="219" y="578"/>
                    </a:cxn>
                    <a:cxn ang="0">
                      <a:pos x="0" y="138"/>
                    </a:cxn>
                  </a:cxnLst>
                  <a:pathLst>
                    <a:path w="1957" h="2308">
                      <a:moveTo>
                        <a:pt x="0" y="549"/>
                      </a:moveTo>
                      <a:lnTo>
                        <a:pt x="1099" y="0"/>
                      </a:lnTo>
                      <a:lnTo>
                        <a:pt x="1957" y="1770"/>
                      </a:lnTo>
                      <a:lnTo>
                        <a:pt x="879" y="2308"/>
                      </a:lnTo>
                      <a:lnTo>
                        <a:pt x="0" y="549"/>
                      </a:lnTo>
                      <a:close/>
                    </a:path>
                  </a:pathLst>
                </a:custGeom>
                <a:noFill/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372" name="Freeform 510"/>
                <p:cNvSpPr/>
                <p:nvPr/>
              </p:nvSpPr>
              <p:spPr>
                <a:xfrm>
                  <a:off x="2286" y="1574"/>
                  <a:ext cx="114" cy="199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63"/>
                    </a:cxn>
                    <a:cxn ang="0">
                      <a:pos x="57" y="99"/>
                    </a:cxn>
                    <a:cxn ang="0">
                      <a:pos x="56" y="33"/>
                    </a:cxn>
                    <a:cxn ang="0">
                      <a:pos x="2" y="0"/>
                    </a:cxn>
                  </a:cxnLst>
                  <a:pathLst>
                    <a:path w="227" h="399">
                      <a:moveTo>
                        <a:pt x="7" y="0"/>
                      </a:moveTo>
                      <a:lnTo>
                        <a:pt x="0" y="254"/>
                      </a:lnTo>
                      <a:lnTo>
                        <a:pt x="227" y="399"/>
                      </a:lnTo>
                      <a:lnTo>
                        <a:pt x="224" y="13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373" name="Freeform 511"/>
                <p:cNvSpPr/>
                <p:nvPr/>
              </p:nvSpPr>
              <p:spPr>
                <a:xfrm>
                  <a:off x="2968" y="2030"/>
                  <a:ext cx="113" cy="20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64"/>
                    </a:cxn>
                    <a:cxn ang="0">
                      <a:pos x="56" y="100"/>
                    </a:cxn>
                    <a:cxn ang="0">
                      <a:pos x="56" y="34"/>
                    </a:cxn>
                    <a:cxn ang="0">
                      <a:pos x="1" y="0"/>
                    </a:cxn>
                  </a:cxnLst>
                  <a:pathLst>
                    <a:path w="227" h="399">
                      <a:moveTo>
                        <a:pt x="7" y="0"/>
                      </a:moveTo>
                      <a:lnTo>
                        <a:pt x="0" y="254"/>
                      </a:lnTo>
                      <a:lnTo>
                        <a:pt x="227" y="399"/>
                      </a:lnTo>
                      <a:lnTo>
                        <a:pt x="224" y="13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374" name="Freeform 512"/>
                <p:cNvSpPr/>
                <p:nvPr/>
              </p:nvSpPr>
              <p:spPr>
                <a:xfrm>
                  <a:off x="3193" y="2096"/>
                  <a:ext cx="80" cy="139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0" y="44"/>
                    </a:cxn>
                    <a:cxn ang="0">
                      <a:pos x="39" y="70"/>
                    </a:cxn>
                    <a:cxn ang="0">
                      <a:pos x="40" y="22"/>
                    </a:cxn>
                    <a:cxn ang="0">
                      <a:pos x="5" y="0"/>
                    </a:cxn>
                  </a:cxnLst>
                  <a:pathLst>
                    <a:path w="160" h="278">
                      <a:moveTo>
                        <a:pt x="20" y="0"/>
                      </a:moveTo>
                      <a:lnTo>
                        <a:pt x="0" y="175"/>
                      </a:lnTo>
                      <a:lnTo>
                        <a:pt x="155" y="278"/>
                      </a:lnTo>
                      <a:lnTo>
                        <a:pt x="160" y="88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375" name="Freeform 513"/>
                <p:cNvSpPr/>
                <p:nvPr/>
              </p:nvSpPr>
              <p:spPr>
                <a:xfrm>
                  <a:off x="3259" y="2264"/>
                  <a:ext cx="82" cy="156"/>
                </a:xfrm>
                <a:custGeom>
                  <a:avLst/>
                  <a:gdLst/>
                  <a:ahLst/>
                  <a:cxnLst>
                    <a:cxn ang="0">
                      <a:pos x="40" y="71"/>
                    </a:cxn>
                    <a:cxn ang="0">
                      <a:pos x="29" y="78"/>
                    </a:cxn>
                    <a:cxn ang="0">
                      <a:pos x="0" y="22"/>
                    </a:cxn>
                    <a:cxn ang="0">
                      <a:pos x="6" y="8"/>
                    </a:cxn>
                    <a:cxn ang="0">
                      <a:pos x="20" y="0"/>
                    </a:cxn>
                    <a:cxn ang="0">
                      <a:pos x="35" y="6"/>
                    </a:cxn>
                    <a:cxn ang="0">
                      <a:pos x="41" y="23"/>
                    </a:cxn>
                    <a:cxn ang="0">
                      <a:pos x="30" y="29"/>
                    </a:cxn>
                    <a:cxn ang="0">
                      <a:pos x="23" y="16"/>
                    </a:cxn>
                    <a:cxn ang="0">
                      <a:pos x="15" y="20"/>
                    </a:cxn>
                    <a:cxn ang="0">
                      <a:pos x="40" y="71"/>
                    </a:cxn>
                  </a:cxnLst>
                  <a:pathLst>
                    <a:path w="164" h="311">
                      <a:moveTo>
                        <a:pt x="157" y="283"/>
                      </a:moveTo>
                      <a:lnTo>
                        <a:pt x="113" y="311"/>
                      </a:lnTo>
                      <a:lnTo>
                        <a:pt x="0" y="88"/>
                      </a:lnTo>
                      <a:lnTo>
                        <a:pt x="23" y="30"/>
                      </a:lnTo>
                      <a:lnTo>
                        <a:pt x="78" y="0"/>
                      </a:lnTo>
                      <a:lnTo>
                        <a:pt x="138" y="22"/>
                      </a:lnTo>
                      <a:lnTo>
                        <a:pt x="164" y="91"/>
                      </a:lnTo>
                      <a:lnTo>
                        <a:pt x="119" y="115"/>
                      </a:lnTo>
                      <a:lnTo>
                        <a:pt x="90" y="63"/>
                      </a:lnTo>
                      <a:lnTo>
                        <a:pt x="58" y="80"/>
                      </a:lnTo>
                      <a:lnTo>
                        <a:pt x="157" y="283"/>
                      </a:lnTo>
                      <a:close/>
                    </a:path>
                  </a:pathLst>
                </a:custGeom>
                <a:solidFill>
                  <a:srgbClr val="FF0000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grpSp>
          <p:nvGrpSpPr>
            <p:cNvPr id="7182" name="Group 514"/>
            <p:cNvGrpSpPr/>
            <p:nvPr/>
          </p:nvGrpSpPr>
          <p:grpSpPr>
            <a:xfrm rot="1489513">
              <a:off x="3792" y="2160"/>
              <a:ext cx="1388" cy="1739"/>
              <a:chOff x="2265" y="988"/>
              <a:chExt cx="1388" cy="1739"/>
            </a:xfrm>
          </p:grpSpPr>
          <p:sp>
            <p:nvSpPr>
              <p:cNvPr id="7271" name="Freeform 515"/>
              <p:cNvSpPr/>
              <p:nvPr/>
            </p:nvSpPr>
            <p:spPr>
              <a:xfrm>
                <a:off x="2265" y="988"/>
                <a:ext cx="1388" cy="1739"/>
              </a:xfrm>
              <a:custGeom>
                <a:avLst/>
                <a:gdLst/>
                <a:ahLst/>
                <a:cxnLst>
                  <a:cxn ang="0">
                    <a:pos x="12" y="124"/>
                  </a:cxn>
                  <a:cxn ang="0">
                    <a:pos x="35" y="111"/>
                  </a:cxn>
                  <a:cxn ang="0">
                    <a:pos x="442" y="2"/>
                  </a:cxn>
                  <a:cxn ang="0">
                    <a:pos x="476" y="0"/>
                  </a:cxn>
                  <a:cxn ang="0">
                    <a:pos x="500" y="12"/>
                  </a:cxn>
                  <a:cxn ang="0">
                    <a:pos x="512" y="31"/>
                  </a:cxn>
                  <a:cxn ang="0">
                    <a:pos x="694" y="720"/>
                  </a:cxn>
                  <a:cxn ang="0">
                    <a:pos x="689" y="743"/>
                  </a:cxn>
                  <a:cxn ang="0">
                    <a:pos x="678" y="759"/>
                  </a:cxn>
                  <a:cxn ang="0">
                    <a:pos x="653" y="767"/>
                  </a:cxn>
                  <a:cxn ang="0">
                    <a:pos x="264" y="866"/>
                  </a:cxn>
                  <a:cxn ang="0">
                    <a:pos x="227" y="869"/>
                  </a:cxn>
                  <a:cxn ang="0">
                    <a:pos x="207" y="862"/>
                  </a:cxn>
                  <a:cxn ang="0">
                    <a:pos x="199" y="842"/>
                  </a:cxn>
                  <a:cxn ang="0">
                    <a:pos x="3" y="166"/>
                  </a:cxn>
                  <a:cxn ang="0">
                    <a:pos x="0" y="141"/>
                  </a:cxn>
                  <a:cxn ang="0">
                    <a:pos x="12" y="124"/>
                  </a:cxn>
                </a:cxnLst>
                <a:pathLst>
                  <a:path w="2777" h="3479">
                    <a:moveTo>
                      <a:pt x="49" y="497"/>
                    </a:moveTo>
                    <a:lnTo>
                      <a:pt x="143" y="445"/>
                    </a:lnTo>
                    <a:lnTo>
                      <a:pt x="1770" y="11"/>
                    </a:lnTo>
                    <a:lnTo>
                      <a:pt x="1905" y="0"/>
                    </a:lnTo>
                    <a:lnTo>
                      <a:pt x="2003" y="48"/>
                    </a:lnTo>
                    <a:lnTo>
                      <a:pt x="2049" y="126"/>
                    </a:lnTo>
                    <a:lnTo>
                      <a:pt x="2777" y="2880"/>
                    </a:lnTo>
                    <a:lnTo>
                      <a:pt x="2759" y="2973"/>
                    </a:lnTo>
                    <a:lnTo>
                      <a:pt x="2714" y="3038"/>
                    </a:lnTo>
                    <a:lnTo>
                      <a:pt x="2612" y="3071"/>
                    </a:lnTo>
                    <a:lnTo>
                      <a:pt x="1057" y="3464"/>
                    </a:lnTo>
                    <a:lnTo>
                      <a:pt x="909" y="3479"/>
                    </a:lnTo>
                    <a:lnTo>
                      <a:pt x="830" y="3450"/>
                    </a:lnTo>
                    <a:lnTo>
                      <a:pt x="796" y="3368"/>
                    </a:lnTo>
                    <a:lnTo>
                      <a:pt x="13" y="667"/>
                    </a:lnTo>
                    <a:lnTo>
                      <a:pt x="0" y="567"/>
                    </a:lnTo>
                    <a:lnTo>
                      <a:pt x="49" y="49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272" name="Group 516"/>
              <p:cNvGrpSpPr/>
              <p:nvPr/>
            </p:nvGrpSpPr>
            <p:grpSpPr>
              <a:xfrm>
                <a:off x="2346" y="1255"/>
                <a:ext cx="1226" cy="1221"/>
                <a:chOff x="2346" y="1255"/>
                <a:chExt cx="1226" cy="1221"/>
              </a:xfrm>
            </p:grpSpPr>
            <p:grpSp>
              <p:nvGrpSpPr>
                <p:cNvPr id="7273" name="Group 517"/>
                <p:cNvGrpSpPr/>
                <p:nvPr/>
              </p:nvGrpSpPr>
              <p:grpSpPr>
                <a:xfrm>
                  <a:off x="2346" y="1255"/>
                  <a:ext cx="133" cy="325"/>
                  <a:chOff x="2346" y="1255"/>
                  <a:chExt cx="133" cy="325"/>
                </a:xfrm>
              </p:grpSpPr>
              <p:sp>
                <p:nvSpPr>
                  <p:cNvPr id="7363" name="Freeform 518"/>
                  <p:cNvSpPr/>
                  <p:nvPr/>
                </p:nvSpPr>
                <p:spPr>
                  <a:xfrm>
                    <a:off x="2397" y="1431"/>
                    <a:ext cx="82" cy="149"/>
                  </a:xfrm>
                  <a:custGeom>
                    <a:avLst/>
                    <a:gdLst/>
                    <a:ahLst/>
                    <a:cxnLst>
                      <a:cxn ang="0">
                        <a:pos x="10" y="0"/>
                      </a:cxn>
                      <a:cxn ang="0">
                        <a:pos x="0" y="43"/>
                      </a:cxn>
                      <a:cxn ang="0">
                        <a:pos x="33" y="75"/>
                      </a:cxn>
                      <a:cxn ang="0">
                        <a:pos x="41" y="31"/>
                      </a:cxn>
                      <a:cxn ang="0">
                        <a:pos x="10" y="0"/>
                      </a:cxn>
                    </a:cxnLst>
                    <a:pathLst>
                      <a:path w="165" h="298">
                        <a:moveTo>
                          <a:pt x="43" y="0"/>
                        </a:moveTo>
                        <a:lnTo>
                          <a:pt x="0" y="171"/>
                        </a:lnTo>
                        <a:lnTo>
                          <a:pt x="132" y="298"/>
                        </a:lnTo>
                        <a:lnTo>
                          <a:pt x="165" y="123"/>
                        </a:lnTo>
                        <a:lnTo>
                          <a:pt x="43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64" name="Freeform 519"/>
                  <p:cNvSpPr/>
                  <p:nvPr/>
                </p:nvSpPr>
                <p:spPr>
                  <a:xfrm>
                    <a:off x="2346" y="1255"/>
                    <a:ext cx="95" cy="159"/>
                  </a:xfrm>
                  <a:custGeom>
                    <a:avLst/>
                    <a:gdLst/>
                    <a:ahLst/>
                    <a:cxnLst>
                      <a:cxn ang="0">
                        <a:pos x="21" y="0"/>
                      </a:cxn>
                      <a:cxn ang="0">
                        <a:pos x="8" y="5"/>
                      </a:cxn>
                      <a:cxn ang="0">
                        <a:pos x="0" y="17"/>
                      </a:cxn>
                      <a:cxn ang="0">
                        <a:pos x="12" y="68"/>
                      </a:cxn>
                      <a:cxn ang="0">
                        <a:pos x="25" y="73"/>
                      </a:cxn>
                      <a:cxn ang="0">
                        <a:pos x="28" y="79"/>
                      </a:cxn>
                      <a:cxn ang="0">
                        <a:pos x="40" y="77"/>
                      </a:cxn>
                      <a:cxn ang="0">
                        <a:pos x="39" y="70"/>
                      </a:cxn>
                      <a:cxn ang="0">
                        <a:pos x="48" y="56"/>
                      </a:cxn>
                      <a:cxn ang="0">
                        <a:pos x="35" y="8"/>
                      </a:cxn>
                      <a:cxn ang="0">
                        <a:pos x="21" y="0"/>
                      </a:cxn>
                    </a:cxnLst>
                    <a:pathLst>
                      <a:path w="188" h="319">
                        <a:moveTo>
                          <a:pt x="84" y="0"/>
                        </a:moveTo>
                        <a:lnTo>
                          <a:pt x="29" y="21"/>
                        </a:lnTo>
                        <a:lnTo>
                          <a:pt x="0" y="71"/>
                        </a:lnTo>
                        <a:lnTo>
                          <a:pt x="48" y="274"/>
                        </a:lnTo>
                        <a:lnTo>
                          <a:pt x="99" y="293"/>
                        </a:lnTo>
                        <a:lnTo>
                          <a:pt x="110" y="319"/>
                        </a:lnTo>
                        <a:lnTo>
                          <a:pt x="157" y="309"/>
                        </a:lnTo>
                        <a:lnTo>
                          <a:pt x="154" y="282"/>
                        </a:lnTo>
                        <a:lnTo>
                          <a:pt x="188" y="227"/>
                        </a:lnTo>
                        <a:lnTo>
                          <a:pt x="138" y="32"/>
                        </a:lnTo>
                        <a:lnTo>
                          <a:pt x="84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7274" name="Freeform 520"/>
                <p:cNvSpPr/>
                <p:nvPr/>
              </p:nvSpPr>
              <p:spPr>
                <a:xfrm>
                  <a:off x="2373" y="1284"/>
                  <a:ext cx="41" cy="93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0" y="3"/>
                    </a:cxn>
                    <a:cxn ang="0">
                      <a:pos x="11" y="47"/>
                    </a:cxn>
                    <a:cxn ang="0">
                      <a:pos x="21" y="43"/>
                    </a:cxn>
                    <a:cxn ang="0">
                      <a:pos x="10" y="0"/>
                    </a:cxn>
                  </a:cxnLst>
                  <a:pathLst>
                    <a:path w="82" h="185">
                      <a:moveTo>
                        <a:pt x="37" y="0"/>
                      </a:moveTo>
                      <a:lnTo>
                        <a:pt x="0" y="11"/>
                      </a:lnTo>
                      <a:lnTo>
                        <a:pt x="42" y="185"/>
                      </a:lnTo>
                      <a:lnTo>
                        <a:pt x="82" y="171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275" name="Group 521"/>
                <p:cNvGrpSpPr/>
                <p:nvPr/>
              </p:nvGrpSpPr>
              <p:grpSpPr>
                <a:xfrm>
                  <a:off x="3440" y="2150"/>
                  <a:ext cx="132" cy="326"/>
                  <a:chOff x="3440" y="2150"/>
                  <a:chExt cx="132" cy="326"/>
                </a:xfrm>
              </p:grpSpPr>
              <p:sp>
                <p:nvSpPr>
                  <p:cNvPr id="7361" name="Freeform 522"/>
                  <p:cNvSpPr/>
                  <p:nvPr/>
                </p:nvSpPr>
                <p:spPr>
                  <a:xfrm>
                    <a:off x="3440" y="2150"/>
                    <a:ext cx="82" cy="149"/>
                  </a:xfrm>
                  <a:custGeom>
                    <a:avLst/>
                    <a:gdLst/>
                    <a:ahLst/>
                    <a:cxnLst>
                      <a:cxn ang="0">
                        <a:pos x="30" y="75"/>
                      </a:cxn>
                      <a:cxn ang="0">
                        <a:pos x="41" y="32"/>
                      </a:cxn>
                      <a:cxn ang="0">
                        <a:pos x="10" y="0"/>
                      </a:cxn>
                      <a:cxn ang="0">
                        <a:pos x="0" y="44"/>
                      </a:cxn>
                      <a:cxn ang="0">
                        <a:pos x="30" y="75"/>
                      </a:cxn>
                    </a:cxnLst>
                    <a:pathLst>
                      <a:path w="165" h="298">
                        <a:moveTo>
                          <a:pt x="122" y="298"/>
                        </a:moveTo>
                        <a:lnTo>
                          <a:pt x="165" y="127"/>
                        </a:lnTo>
                        <a:lnTo>
                          <a:pt x="40" y="0"/>
                        </a:lnTo>
                        <a:lnTo>
                          <a:pt x="0" y="174"/>
                        </a:lnTo>
                        <a:lnTo>
                          <a:pt x="122" y="298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362" name="Freeform 523"/>
                  <p:cNvSpPr/>
                  <p:nvPr/>
                </p:nvSpPr>
                <p:spPr>
                  <a:xfrm>
                    <a:off x="3478" y="2316"/>
                    <a:ext cx="94" cy="160"/>
                  </a:xfrm>
                  <a:custGeom>
                    <a:avLst/>
                    <a:gdLst/>
                    <a:ahLst/>
                    <a:cxnLst>
                      <a:cxn ang="0">
                        <a:pos x="26" y="80"/>
                      </a:cxn>
                      <a:cxn ang="0">
                        <a:pos x="40" y="75"/>
                      </a:cxn>
                      <a:cxn ang="0">
                        <a:pos x="47" y="62"/>
                      </a:cxn>
                      <a:cxn ang="0">
                        <a:pos x="35" y="12"/>
                      </a:cxn>
                      <a:cxn ang="0">
                        <a:pos x="23" y="7"/>
                      </a:cxn>
                      <a:cxn ang="0">
                        <a:pos x="20" y="0"/>
                      </a:cxn>
                      <a:cxn ang="0">
                        <a:pos x="8" y="3"/>
                      </a:cxn>
                      <a:cxn ang="0">
                        <a:pos x="9" y="9"/>
                      </a:cxn>
                      <a:cxn ang="0">
                        <a:pos x="0" y="23"/>
                      </a:cxn>
                      <a:cxn ang="0">
                        <a:pos x="13" y="72"/>
                      </a:cxn>
                      <a:cxn ang="0">
                        <a:pos x="26" y="80"/>
                      </a:cxn>
                    </a:cxnLst>
                    <a:pathLst>
                      <a:path w="188" h="319">
                        <a:moveTo>
                          <a:pt x="104" y="319"/>
                        </a:moveTo>
                        <a:lnTo>
                          <a:pt x="159" y="298"/>
                        </a:lnTo>
                        <a:lnTo>
                          <a:pt x="188" y="248"/>
                        </a:lnTo>
                        <a:lnTo>
                          <a:pt x="140" y="45"/>
                        </a:lnTo>
                        <a:lnTo>
                          <a:pt x="89" y="26"/>
                        </a:lnTo>
                        <a:lnTo>
                          <a:pt x="78" y="0"/>
                        </a:lnTo>
                        <a:lnTo>
                          <a:pt x="31" y="10"/>
                        </a:lnTo>
                        <a:lnTo>
                          <a:pt x="34" y="36"/>
                        </a:lnTo>
                        <a:lnTo>
                          <a:pt x="0" y="91"/>
                        </a:lnTo>
                        <a:lnTo>
                          <a:pt x="50" y="287"/>
                        </a:lnTo>
                        <a:lnTo>
                          <a:pt x="104" y="319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7276" name="Freeform 524"/>
                <p:cNvSpPr/>
                <p:nvPr/>
              </p:nvSpPr>
              <p:spPr>
                <a:xfrm>
                  <a:off x="3505" y="2354"/>
                  <a:ext cx="41" cy="93"/>
                </a:xfrm>
                <a:custGeom>
                  <a:avLst/>
                  <a:gdLst/>
                  <a:ahLst/>
                  <a:cxnLst>
                    <a:cxn ang="0">
                      <a:pos x="12" y="47"/>
                    </a:cxn>
                    <a:cxn ang="0">
                      <a:pos x="21" y="44"/>
                    </a:cxn>
                    <a:cxn ang="0">
                      <a:pos x="10" y="0"/>
                    </a:cxn>
                    <a:cxn ang="0">
                      <a:pos x="0" y="4"/>
                    </a:cxn>
                    <a:cxn ang="0">
                      <a:pos x="12" y="47"/>
                    </a:cxn>
                  </a:cxnLst>
                  <a:pathLst>
                    <a:path w="82" h="186">
                      <a:moveTo>
                        <a:pt x="45" y="186"/>
                      </a:moveTo>
                      <a:lnTo>
                        <a:pt x="82" y="175"/>
                      </a:lnTo>
                      <a:lnTo>
                        <a:pt x="40" y="0"/>
                      </a:lnTo>
                      <a:lnTo>
                        <a:pt x="0" y="15"/>
                      </a:lnTo>
                      <a:lnTo>
                        <a:pt x="45" y="186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158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277" name="Group 525"/>
                <p:cNvGrpSpPr/>
                <p:nvPr/>
              </p:nvGrpSpPr>
              <p:grpSpPr>
                <a:xfrm>
                  <a:off x="2495" y="1256"/>
                  <a:ext cx="909" cy="1176"/>
                  <a:chOff x="2495" y="1256"/>
                  <a:chExt cx="909" cy="1176"/>
                </a:xfrm>
              </p:grpSpPr>
              <p:sp>
                <p:nvSpPr>
                  <p:cNvPr id="7278" name="Freeform 526"/>
                  <p:cNvSpPr/>
                  <p:nvPr/>
                </p:nvSpPr>
                <p:spPr>
                  <a:xfrm>
                    <a:off x="2495" y="1256"/>
                    <a:ext cx="909" cy="1176"/>
                  </a:xfrm>
                  <a:custGeom>
                    <a:avLst/>
                    <a:gdLst/>
                    <a:ahLst/>
                    <a:cxnLst>
                      <a:cxn ang="0">
                        <a:pos x="0" y="83"/>
                      </a:cxn>
                      <a:cxn ang="0">
                        <a:pos x="316" y="0"/>
                      </a:cxn>
                      <a:cxn ang="0">
                        <a:pos x="455" y="503"/>
                      </a:cxn>
                      <a:cxn ang="0">
                        <a:pos x="139" y="588"/>
                      </a:cxn>
                      <a:cxn ang="0">
                        <a:pos x="0" y="83"/>
                      </a:cxn>
                    </a:cxnLst>
                    <a:pathLst>
                      <a:path w="1817" h="2353">
                        <a:moveTo>
                          <a:pt x="0" y="334"/>
                        </a:moveTo>
                        <a:lnTo>
                          <a:pt x="1264" y="0"/>
                        </a:lnTo>
                        <a:lnTo>
                          <a:pt x="1817" y="2012"/>
                        </a:lnTo>
                        <a:lnTo>
                          <a:pt x="553" y="2353"/>
                        </a:lnTo>
                        <a:lnTo>
                          <a:pt x="0" y="334"/>
                        </a:lnTo>
                        <a:close/>
                      </a:path>
                    </a:pathLst>
                  </a:custGeom>
                  <a:noFill/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279" name="Freeform 527"/>
                  <p:cNvSpPr/>
                  <p:nvPr/>
                </p:nvSpPr>
                <p:spPr>
                  <a:xfrm>
                    <a:off x="2569" y="1413"/>
                    <a:ext cx="132" cy="238"/>
                  </a:xfrm>
                  <a:custGeom>
                    <a:avLst/>
                    <a:gdLst/>
                    <a:ahLst/>
                    <a:cxnLst>
                      <a:cxn ang="0">
                        <a:pos x="17" y="0"/>
                      </a:cxn>
                      <a:cxn ang="0">
                        <a:pos x="0" y="69"/>
                      </a:cxn>
                      <a:cxn ang="0">
                        <a:pos x="53" y="119"/>
                      </a:cxn>
                      <a:cxn ang="0">
                        <a:pos x="66" y="50"/>
                      </a:cxn>
                      <a:cxn ang="0">
                        <a:pos x="17" y="0"/>
                      </a:cxn>
                    </a:cxnLst>
                    <a:pathLst>
                      <a:path w="266" h="475">
                        <a:moveTo>
                          <a:pt x="69" y="0"/>
                        </a:moveTo>
                        <a:lnTo>
                          <a:pt x="0" y="273"/>
                        </a:lnTo>
                        <a:lnTo>
                          <a:pt x="213" y="475"/>
                        </a:lnTo>
                        <a:lnTo>
                          <a:pt x="266" y="197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280" name="Freeform 528"/>
                  <p:cNvSpPr/>
                  <p:nvPr/>
                </p:nvSpPr>
                <p:spPr>
                  <a:xfrm>
                    <a:off x="3204" y="2058"/>
                    <a:ext cx="111" cy="199"/>
                  </a:xfrm>
                  <a:custGeom>
                    <a:avLst/>
                    <a:gdLst/>
                    <a:ahLst/>
                    <a:cxnLst>
                      <a:cxn ang="0">
                        <a:pos x="15" y="0"/>
                      </a:cxn>
                      <a:cxn ang="0">
                        <a:pos x="0" y="57"/>
                      </a:cxn>
                      <a:cxn ang="0">
                        <a:pos x="45" y="100"/>
                      </a:cxn>
                      <a:cxn ang="0">
                        <a:pos x="56" y="42"/>
                      </a:cxn>
                      <a:cxn ang="0">
                        <a:pos x="15" y="0"/>
                      </a:cxn>
                    </a:cxnLst>
                    <a:pathLst>
                      <a:path w="221" h="397">
                        <a:moveTo>
                          <a:pt x="57" y="0"/>
                        </a:moveTo>
                        <a:lnTo>
                          <a:pt x="0" y="227"/>
                        </a:lnTo>
                        <a:lnTo>
                          <a:pt x="177" y="397"/>
                        </a:lnTo>
                        <a:lnTo>
                          <a:pt x="221" y="16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grpSp>
                <p:nvGrpSpPr>
                  <p:cNvPr id="7281" name="Group 529"/>
                  <p:cNvGrpSpPr/>
                  <p:nvPr/>
                </p:nvGrpSpPr>
                <p:grpSpPr>
                  <a:xfrm>
                    <a:off x="2600" y="1264"/>
                    <a:ext cx="663" cy="664"/>
                    <a:chOff x="2600" y="1264"/>
                    <a:chExt cx="663" cy="664"/>
                  </a:xfrm>
                </p:grpSpPr>
                <p:sp>
                  <p:nvSpPr>
                    <p:cNvPr id="7322" name="Freeform 530"/>
                    <p:cNvSpPr/>
                    <p:nvPr/>
                  </p:nvSpPr>
                  <p:spPr>
                    <a:xfrm>
                      <a:off x="2959" y="1264"/>
                      <a:ext cx="183" cy="210"/>
                    </a:xfrm>
                    <a:custGeom>
                      <a:avLst/>
                      <a:gdLst/>
                      <a:ahLst/>
                      <a:cxnLst>
                        <a:cxn ang="0">
                          <a:pos x="68" y="0"/>
                        </a:cxn>
                        <a:cxn ang="0">
                          <a:pos x="0" y="17"/>
                        </a:cxn>
                        <a:cxn ang="0">
                          <a:pos x="9" y="53"/>
                        </a:cxn>
                        <a:cxn ang="0">
                          <a:pos x="43" y="84"/>
                        </a:cxn>
                        <a:cxn ang="0">
                          <a:pos x="76" y="105"/>
                        </a:cxn>
                        <a:cxn ang="0">
                          <a:pos x="92" y="81"/>
                        </a:cxn>
                        <a:cxn ang="0">
                          <a:pos x="71" y="64"/>
                        </a:cxn>
                        <a:cxn ang="0">
                          <a:pos x="62" y="30"/>
                        </a:cxn>
                        <a:cxn ang="0">
                          <a:pos x="68" y="0"/>
                        </a:cxn>
                      </a:cxnLst>
                      <a:pathLst>
                        <a:path w="366" h="421">
                          <a:moveTo>
                            <a:pt x="271" y="0"/>
                          </a:moveTo>
                          <a:lnTo>
                            <a:pt x="0" y="71"/>
                          </a:lnTo>
                          <a:lnTo>
                            <a:pt x="34" y="213"/>
                          </a:lnTo>
                          <a:lnTo>
                            <a:pt x="170" y="338"/>
                          </a:lnTo>
                          <a:lnTo>
                            <a:pt x="304" y="421"/>
                          </a:lnTo>
                          <a:lnTo>
                            <a:pt x="366" y="325"/>
                          </a:lnTo>
                          <a:lnTo>
                            <a:pt x="283" y="259"/>
                          </a:lnTo>
                          <a:lnTo>
                            <a:pt x="245" y="123"/>
                          </a:lnTo>
                          <a:lnTo>
                            <a:pt x="271" y="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3" name="Freeform 531"/>
                    <p:cNvSpPr/>
                    <p:nvPr/>
                  </p:nvSpPr>
                  <p:spPr>
                    <a:xfrm>
                      <a:off x="2917" y="1298"/>
                      <a:ext cx="295" cy="275"/>
                    </a:xfrm>
                    <a:custGeom>
                      <a:avLst/>
                      <a:gdLst/>
                      <a:ahLst/>
                      <a:cxnLst>
                        <a:cxn ang="0">
                          <a:pos x="21" y="0"/>
                        </a:cxn>
                        <a:cxn ang="0">
                          <a:pos x="0" y="6"/>
                        </a:cxn>
                        <a:cxn ang="0">
                          <a:pos x="9" y="39"/>
                        </a:cxn>
                        <a:cxn ang="0">
                          <a:pos x="55" y="83"/>
                        </a:cxn>
                        <a:cxn ang="0">
                          <a:pos x="148" y="138"/>
                        </a:cxn>
                        <a:cxn ang="0">
                          <a:pos x="140" y="115"/>
                        </a:cxn>
                        <a:cxn ang="0">
                          <a:pos x="64" y="69"/>
                        </a:cxn>
                        <a:cxn ang="0">
                          <a:pos x="30" y="38"/>
                        </a:cxn>
                        <a:cxn ang="0">
                          <a:pos x="21" y="0"/>
                        </a:cxn>
                      </a:cxnLst>
                      <a:pathLst>
                        <a:path w="589" h="550">
                          <a:moveTo>
                            <a:pt x="84" y="0"/>
                          </a:moveTo>
                          <a:lnTo>
                            <a:pt x="0" y="22"/>
                          </a:lnTo>
                          <a:lnTo>
                            <a:pt x="36" y="156"/>
                          </a:lnTo>
                          <a:lnTo>
                            <a:pt x="220" y="331"/>
                          </a:lnTo>
                          <a:lnTo>
                            <a:pt x="589" y="550"/>
                          </a:lnTo>
                          <a:lnTo>
                            <a:pt x="560" y="457"/>
                          </a:lnTo>
                          <a:lnTo>
                            <a:pt x="256" y="273"/>
                          </a:lnTo>
                          <a:lnTo>
                            <a:pt x="120" y="151"/>
                          </a:lnTo>
                          <a:lnTo>
                            <a:pt x="84" y="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4" name="Freeform 532"/>
                    <p:cNvSpPr/>
                    <p:nvPr/>
                  </p:nvSpPr>
                  <p:spPr>
                    <a:xfrm>
                      <a:off x="2751" y="1340"/>
                      <a:ext cx="68" cy="328"/>
                    </a:xfrm>
                    <a:custGeom>
                      <a:avLst/>
                      <a:gdLst/>
                      <a:ahLst/>
                      <a:cxnLst>
                        <a:cxn ang="0">
                          <a:pos x="29" y="0"/>
                        </a:cxn>
                        <a:cxn ang="0">
                          <a:pos x="34" y="23"/>
                        </a:cxn>
                        <a:cxn ang="0">
                          <a:pos x="13" y="73"/>
                        </a:cxn>
                        <a:cxn ang="0">
                          <a:pos x="12" y="104"/>
                        </a:cxn>
                        <a:cxn ang="0">
                          <a:pos x="23" y="150"/>
                        </a:cxn>
                        <a:cxn ang="0">
                          <a:pos x="15" y="164"/>
                        </a:cxn>
                        <a:cxn ang="0">
                          <a:pos x="0" y="106"/>
                        </a:cxn>
                        <a:cxn ang="0">
                          <a:pos x="2" y="71"/>
                        </a:cxn>
                        <a:cxn ang="0">
                          <a:pos x="18" y="24"/>
                        </a:cxn>
                        <a:cxn ang="0">
                          <a:pos x="13" y="6"/>
                        </a:cxn>
                        <a:cxn ang="0">
                          <a:pos x="29" y="0"/>
                        </a:cxn>
                      </a:cxnLst>
                      <a:pathLst>
                        <a:path w="135" h="655">
                          <a:moveTo>
                            <a:pt x="113" y="0"/>
                          </a:moveTo>
                          <a:lnTo>
                            <a:pt x="135" y="92"/>
                          </a:lnTo>
                          <a:lnTo>
                            <a:pt x="51" y="289"/>
                          </a:lnTo>
                          <a:lnTo>
                            <a:pt x="47" y="413"/>
                          </a:lnTo>
                          <a:lnTo>
                            <a:pt x="91" y="597"/>
                          </a:lnTo>
                          <a:lnTo>
                            <a:pt x="57" y="655"/>
                          </a:lnTo>
                          <a:lnTo>
                            <a:pt x="0" y="424"/>
                          </a:lnTo>
                          <a:lnTo>
                            <a:pt x="5" y="283"/>
                          </a:lnTo>
                          <a:lnTo>
                            <a:pt x="69" y="96"/>
                          </a:lnTo>
                          <a:lnTo>
                            <a:pt x="51" y="21"/>
                          </a:lnTo>
                          <a:lnTo>
                            <a:pt x="113" y="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5" name="Freeform 533"/>
                    <p:cNvSpPr/>
                    <p:nvPr/>
                  </p:nvSpPr>
                  <p:spPr>
                    <a:xfrm>
                      <a:off x="2811" y="1315"/>
                      <a:ext cx="183" cy="24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5"/>
                        </a:cxn>
                        <a:cxn ang="0">
                          <a:pos x="24" y="103"/>
                        </a:cxn>
                        <a:cxn ang="0">
                          <a:pos x="40" y="117"/>
                        </a:cxn>
                        <a:cxn ang="0">
                          <a:pos x="48" y="123"/>
                        </a:cxn>
                        <a:cxn ang="0">
                          <a:pos x="75" y="115"/>
                        </a:cxn>
                        <a:cxn ang="0">
                          <a:pos x="92" y="86"/>
                        </a:cxn>
                        <a:cxn ang="0">
                          <a:pos x="84" y="53"/>
                        </a:cxn>
                        <a:cxn ang="0">
                          <a:pos x="60" y="31"/>
                        </a:cxn>
                        <a:cxn ang="0">
                          <a:pos x="53" y="0"/>
                        </a:cxn>
                        <a:cxn ang="0">
                          <a:pos x="0" y="15"/>
                        </a:cxn>
                      </a:cxnLst>
                      <a:pathLst>
                        <a:path w="366" h="489">
                          <a:moveTo>
                            <a:pt x="0" y="60"/>
                          </a:moveTo>
                          <a:lnTo>
                            <a:pt x="93" y="409"/>
                          </a:lnTo>
                          <a:lnTo>
                            <a:pt x="159" y="465"/>
                          </a:lnTo>
                          <a:lnTo>
                            <a:pt x="190" y="489"/>
                          </a:lnTo>
                          <a:lnTo>
                            <a:pt x="300" y="459"/>
                          </a:lnTo>
                          <a:lnTo>
                            <a:pt x="366" y="344"/>
                          </a:lnTo>
                          <a:lnTo>
                            <a:pt x="335" y="212"/>
                          </a:lnTo>
                          <a:lnTo>
                            <a:pt x="240" y="123"/>
                          </a:lnTo>
                          <a:lnTo>
                            <a:pt x="209" y="0"/>
                          </a:lnTo>
                          <a:lnTo>
                            <a:pt x="0" y="6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6" name="Freeform 534"/>
                    <p:cNvSpPr/>
                    <p:nvPr/>
                  </p:nvSpPr>
                  <p:spPr>
                    <a:xfrm>
                      <a:off x="2810" y="1325"/>
                      <a:ext cx="63" cy="9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7"/>
                        </a:cxn>
                        <a:cxn ang="0">
                          <a:pos x="10" y="46"/>
                        </a:cxn>
                        <a:cxn ang="0">
                          <a:pos x="32" y="21"/>
                        </a:cxn>
                        <a:cxn ang="0">
                          <a:pos x="26" y="0"/>
                        </a:cxn>
                        <a:cxn ang="0">
                          <a:pos x="0" y="7"/>
                        </a:cxn>
                      </a:cxnLst>
                      <a:pathLst>
                        <a:path w="126" h="182">
                          <a:moveTo>
                            <a:pt x="0" y="28"/>
                          </a:moveTo>
                          <a:lnTo>
                            <a:pt x="40" y="182"/>
                          </a:lnTo>
                          <a:lnTo>
                            <a:pt x="126" y="83"/>
                          </a:lnTo>
                          <a:lnTo>
                            <a:pt x="104" y="0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7" name="Freeform 535"/>
                    <p:cNvSpPr/>
                    <p:nvPr/>
                  </p:nvSpPr>
                  <p:spPr>
                    <a:xfrm>
                      <a:off x="2868" y="1311"/>
                      <a:ext cx="92" cy="89"/>
                    </a:xfrm>
                    <a:custGeom>
                      <a:avLst/>
                      <a:gdLst/>
                      <a:ahLst/>
                      <a:cxnLst>
                        <a:cxn ang="0">
                          <a:pos x="46" y="45"/>
                        </a:cxn>
                        <a:cxn ang="0">
                          <a:pos x="6" y="29"/>
                        </a:cxn>
                        <a:cxn ang="0">
                          <a:pos x="0" y="7"/>
                        </a:cxn>
                        <a:cxn ang="0">
                          <a:pos x="24" y="0"/>
                        </a:cxn>
                        <a:cxn ang="0">
                          <a:pos x="32" y="31"/>
                        </a:cxn>
                        <a:cxn ang="0">
                          <a:pos x="46" y="45"/>
                        </a:cxn>
                      </a:cxnLst>
                      <a:pathLst>
                        <a:path w="184" h="177">
                          <a:moveTo>
                            <a:pt x="184" y="177"/>
                          </a:moveTo>
                          <a:lnTo>
                            <a:pt x="22" y="113"/>
                          </a:lnTo>
                          <a:lnTo>
                            <a:pt x="0" y="27"/>
                          </a:lnTo>
                          <a:lnTo>
                            <a:pt x="95" y="0"/>
                          </a:lnTo>
                          <a:lnTo>
                            <a:pt x="128" y="121"/>
                          </a:lnTo>
                          <a:lnTo>
                            <a:pt x="184" y="177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8" name="Freeform 536"/>
                    <p:cNvSpPr/>
                    <p:nvPr/>
                  </p:nvSpPr>
                  <p:spPr>
                    <a:xfrm>
                      <a:off x="2837" y="1487"/>
                      <a:ext cx="194" cy="112"/>
                    </a:xfrm>
                    <a:custGeom>
                      <a:avLst/>
                      <a:gdLst/>
                      <a:ahLst/>
                      <a:cxnLst>
                        <a:cxn ang="0">
                          <a:pos x="80" y="0"/>
                        </a:cxn>
                        <a:cxn ang="0">
                          <a:pos x="62" y="29"/>
                        </a:cxn>
                        <a:cxn ang="0">
                          <a:pos x="35" y="37"/>
                        </a:cxn>
                        <a:cxn ang="0">
                          <a:pos x="9" y="17"/>
                        </a:cxn>
                        <a:cxn ang="0">
                          <a:pos x="0" y="33"/>
                        </a:cxn>
                        <a:cxn ang="0">
                          <a:pos x="20" y="50"/>
                        </a:cxn>
                        <a:cxn ang="0">
                          <a:pos x="34" y="56"/>
                        </a:cxn>
                        <a:cxn ang="0">
                          <a:pos x="68" y="47"/>
                        </a:cxn>
                        <a:cxn ang="0">
                          <a:pos x="85" y="37"/>
                        </a:cxn>
                        <a:cxn ang="0">
                          <a:pos x="97" y="15"/>
                        </a:cxn>
                        <a:cxn ang="0">
                          <a:pos x="80" y="0"/>
                        </a:cxn>
                      </a:cxnLst>
                      <a:pathLst>
                        <a:path w="388" h="224">
                          <a:moveTo>
                            <a:pt x="317" y="0"/>
                          </a:moveTo>
                          <a:lnTo>
                            <a:pt x="246" y="116"/>
                          </a:lnTo>
                          <a:lnTo>
                            <a:pt x="139" y="145"/>
                          </a:lnTo>
                          <a:lnTo>
                            <a:pt x="33" y="66"/>
                          </a:lnTo>
                          <a:lnTo>
                            <a:pt x="0" y="131"/>
                          </a:lnTo>
                          <a:lnTo>
                            <a:pt x="78" y="199"/>
                          </a:lnTo>
                          <a:lnTo>
                            <a:pt x="134" y="224"/>
                          </a:lnTo>
                          <a:lnTo>
                            <a:pt x="270" y="186"/>
                          </a:lnTo>
                          <a:lnTo>
                            <a:pt x="338" y="148"/>
                          </a:lnTo>
                          <a:lnTo>
                            <a:pt x="388" y="59"/>
                          </a:lnTo>
                          <a:lnTo>
                            <a:pt x="317" y="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9" name="Freeform 537"/>
                    <p:cNvSpPr/>
                    <p:nvPr/>
                  </p:nvSpPr>
                  <p:spPr>
                    <a:xfrm>
                      <a:off x="2836" y="1484"/>
                      <a:ext cx="196" cy="116"/>
                    </a:xfrm>
                    <a:custGeom>
                      <a:avLst/>
                      <a:gdLst/>
                      <a:ahLst/>
                      <a:cxnLst>
                        <a:cxn ang="0">
                          <a:pos x="78" y="3"/>
                        </a:cxn>
                        <a:cxn ang="0">
                          <a:pos x="81" y="3"/>
                        </a:cxn>
                        <a:cxn ang="0">
                          <a:pos x="63" y="32"/>
                        </a:cxn>
                        <a:cxn ang="0">
                          <a:pos x="63" y="32"/>
                        </a:cxn>
                        <a:cxn ang="0">
                          <a:pos x="36" y="39"/>
                        </a:cxn>
                        <a:cxn ang="0">
                          <a:pos x="35" y="39"/>
                        </a:cxn>
                        <a:cxn ang="0">
                          <a:pos x="35" y="39"/>
                        </a:cxn>
                        <a:cxn ang="0">
                          <a:pos x="34" y="38"/>
                        </a:cxn>
                        <a:cxn ang="0">
                          <a:pos x="8" y="18"/>
                        </a:cxn>
                        <a:cxn ang="0">
                          <a:pos x="9" y="18"/>
                        </a:cxn>
                        <a:cxn ang="0">
                          <a:pos x="2" y="34"/>
                        </a:cxn>
                        <a:cxn ang="0">
                          <a:pos x="2" y="34"/>
                        </a:cxn>
                        <a:cxn ang="0">
                          <a:pos x="20" y="51"/>
                        </a:cxn>
                        <a:cxn ang="0">
                          <a:pos x="20" y="50"/>
                        </a:cxn>
                        <a:cxn ang="0">
                          <a:pos x="34" y="56"/>
                        </a:cxn>
                        <a:cxn ang="0">
                          <a:pos x="34" y="56"/>
                        </a:cxn>
                        <a:cxn ang="0">
                          <a:pos x="68" y="48"/>
                        </a:cxn>
                        <a:cxn ang="0">
                          <a:pos x="84" y="38"/>
                        </a:cxn>
                        <a:cxn ang="0">
                          <a:pos x="83" y="38"/>
                        </a:cxn>
                        <a:cxn ang="0">
                          <a:pos x="96" y="15"/>
                        </a:cxn>
                        <a:cxn ang="0">
                          <a:pos x="96" y="17"/>
                        </a:cxn>
                        <a:cxn ang="0">
                          <a:pos x="78" y="3"/>
                        </a:cxn>
                        <a:cxn ang="0">
                          <a:pos x="80" y="1"/>
                        </a:cxn>
                        <a:cxn ang="0">
                          <a:pos x="98" y="15"/>
                        </a:cxn>
                        <a:cxn ang="0">
                          <a:pos x="98" y="18"/>
                        </a:cxn>
                        <a:cxn ang="0">
                          <a:pos x="85" y="40"/>
                        </a:cxn>
                        <a:cxn ang="0">
                          <a:pos x="68" y="50"/>
                        </a:cxn>
                        <a:cxn ang="0">
                          <a:pos x="34" y="58"/>
                        </a:cxn>
                        <a:cxn ang="0">
                          <a:pos x="34" y="58"/>
                        </a:cxn>
                        <a:cxn ang="0">
                          <a:pos x="20" y="52"/>
                        </a:cxn>
                        <a:cxn ang="0">
                          <a:pos x="19" y="52"/>
                        </a:cxn>
                        <a:cxn ang="0">
                          <a:pos x="0" y="35"/>
                        </a:cxn>
                        <a:cxn ang="0">
                          <a:pos x="0" y="34"/>
                        </a:cxn>
                        <a:cxn ang="0">
                          <a:pos x="7" y="18"/>
                        </a:cxn>
                        <a:cxn ang="0">
                          <a:pos x="9" y="17"/>
                        </a:cxn>
                        <a:cxn ang="0">
                          <a:pos x="9" y="17"/>
                        </a:cxn>
                        <a:cxn ang="0">
                          <a:pos x="36" y="37"/>
                        </a:cxn>
                        <a:cxn ang="0">
                          <a:pos x="35" y="37"/>
                        </a:cxn>
                        <a:cxn ang="0">
                          <a:pos x="62" y="30"/>
                        </a:cxn>
                        <a:cxn ang="0">
                          <a:pos x="61" y="30"/>
                        </a:cxn>
                        <a:cxn ang="0">
                          <a:pos x="78" y="1"/>
                        </a:cxn>
                        <a:cxn ang="0">
                          <a:pos x="79" y="1"/>
                        </a:cxn>
                        <a:cxn ang="0">
                          <a:pos x="78" y="1"/>
                        </a:cxn>
                        <a:cxn ang="0">
                          <a:pos x="79" y="1"/>
                        </a:cxn>
                        <a:cxn ang="0">
                          <a:pos x="80" y="0"/>
                        </a:cxn>
                        <a:cxn ang="0">
                          <a:pos x="80" y="1"/>
                        </a:cxn>
                        <a:cxn ang="0">
                          <a:pos x="78" y="3"/>
                        </a:cxn>
                      </a:cxnLst>
                      <a:pathLst>
                        <a:path w="393" h="232">
                          <a:moveTo>
                            <a:pt x="315" y="11"/>
                          </a:moveTo>
                          <a:lnTo>
                            <a:pt x="325" y="9"/>
                          </a:lnTo>
                          <a:lnTo>
                            <a:pt x="254" y="125"/>
                          </a:lnTo>
                          <a:lnTo>
                            <a:pt x="252" y="125"/>
                          </a:lnTo>
                          <a:lnTo>
                            <a:pt x="144" y="154"/>
                          </a:lnTo>
                          <a:lnTo>
                            <a:pt x="142" y="154"/>
                          </a:lnTo>
                          <a:lnTo>
                            <a:pt x="142" y="155"/>
                          </a:lnTo>
                          <a:lnTo>
                            <a:pt x="139" y="151"/>
                          </a:lnTo>
                          <a:lnTo>
                            <a:pt x="33" y="72"/>
                          </a:lnTo>
                          <a:lnTo>
                            <a:pt x="38" y="72"/>
                          </a:lnTo>
                          <a:lnTo>
                            <a:pt x="10" y="136"/>
                          </a:lnTo>
                          <a:lnTo>
                            <a:pt x="8" y="133"/>
                          </a:lnTo>
                          <a:lnTo>
                            <a:pt x="83" y="202"/>
                          </a:lnTo>
                          <a:lnTo>
                            <a:pt x="83" y="199"/>
                          </a:lnTo>
                          <a:lnTo>
                            <a:pt x="139" y="224"/>
                          </a:lnTo>
                          <a:lnTo>
                            <a:pt x="137" y="224"/>
                          </a:lnTo>
                          <a:lnTo>
                            <a:pt x="273" y="189"/>
                          </a:lnTo>
                          <a:lnTo>
                            <a:pt x="339" y="149"/>
                          </a:lnTo>
                          <a:lnTo>
                            <a:pt x="332" y="151"/>
                          </a:lnTo>
                          <a:lnTo>
                            <a:pt x="385" y="60"/>
                          </a:lnTo>
                          <a:lnTo>
                            <a:pt x="387" y="67"/>
                          </a:lnTo>
                          <a:lnTo>
                            <a:pt x="315" y="11"/>
                          </a:lnTo>
                          <a:lnTo>
                            <a:pt x="323" y="2"/>
                          </a:lnTo>
                          <a:lnTo>
                            <a:pt x="393" y="60"/>
                          </a:lnTo>
                          <a:lnTo>
                            <a:pt x="393" y="70"/>
                          </a:lnTo>
                          <a:lnTo>
                            <a:pt x="343" y="158"/>
                          </a:lnTo>
                          <a:lnTo>
                            <a:pt x="275" y="199"/>
                          </a:lnTo>
                          <a:lnTo>
                            <a:pt x="139" y="232"/>
                          </a:lnTo>
                          <a:lnTo>
                            <a:pt x="137" y="232"/>
                          </a:lnTo>
                          <a:lnTo>
                            <a:pt x="81" y="208"/>
                          </a:lnTo>
                          <a:lnTo>
                            <a:pt x="76" y="208"/>
                          </a:lnTo>
                          <a:lnTo>
                            <a:pt x="0" y="139"/>
                          </a:lnTo>
                          <a:lnTo>
                            <a:pt x="0" y="136"/>
                          </a:lnTo>
                          <a:lnTo>
                            <a:pt x="31" y="70"/>
                          </a:lnTo>
                          <a:lnTo>
                            <a:pt x="36" y="65"/>
                          </a:lnTo>
                          <a:lnTo>
                            <a:pt x="36" y="67"/>
                          </a:lnTo>
                          <a:lnTo>
                            <a:pt x="144" y="147"/>
                          </a:lnTo>
                          <a:lnTo>
                            <a:pt x="142" y="147"/>
                          </a:lnTo>
                          <a:lnTo>
                            <a:pt x="249" y="117"/>
                          </a:lnTo>
                          <a:lnTo>
                            <a:pt x="244" y="117"/>
                          </a:lnTo>
                          <a:lnTo>
                            <a:pt x="315" y="2"/>
                          </a:lnTo>
                          <a:lnTo>
                            <a:pt x="318" y="2"/>
                          </a:lnTo>
                          <a:lnTo>
                            <a:pt x="315" y="2"/>
                          </a:lnTo>
                          <a:lnTo>
                            <a:pt x="318" y="2"/>
                          </a:lnTo>
                          <a:lnTo>
                            <a:pt x="320" y="0"/>
                          </a:lnTo>
                          <a:lnTo>
                            <a:pt x="323" y="2"/>
                          </a:lnTo>
                          <a:lnTo>
                            <a:pt x="315" y="11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0" name="Freeform 538"/>
                    <p:cNvSpPr/>
                    <p:nvPr/>
                  </p:nvSpPr>
                  <p:spPr>
                    <a:xfrm>
                      <a:off x="2982" y="1421"/>
                      <a:ext cx="116" cy="10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7" y="33"/>
                        </a:cxn>
                        <a:cxn ang="0">
                          <a:pos x="28" y="50"/>
                        </a:cxn>
                        <a:cxn ang="0">
                          <a:pos x="58" y="43"/>
                        </a:cxn>
                        <a:cxn ang="0">
                          <a:pos x="23" y="21"/>
                        </a:cxn>
                        <a:cxn ang="0">
                          <a:pos x="0" y="0"/>
                        </a:cxn>
                      </a:cxnLst>
                      <a:pathLst>
                        <a:path w="233" h="201">
                          <a:moveTo>
                            <a:pt x="0" y="0"/>
                          </a:moveTo>
                          <a:lnTo>
                            <a:pt x="29" y="135"/>
                          </a:lnTo>
                          <a:lnTo>
                            <a:pt x="115" y="201"/>
                          </a:lnTo>
                          <a:lnTo>
                            <a:pt x="233" y="174"/>
                          </a:lnTo>
                          <a:lnTo>
                            <a:pt x="93" y="8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1" name="Freeform 539"/>
                    <p:cNvSpPr/>
                    <p:nvPr/>
                  </p:nvSpPr>
                  <p:spPr>
                    <a:xfrm>
                      <a:off x="2798" y="1508"/>
                      <a:ext cx="340" cy="184"/>
                    </a:xfrm>
                    <a:custGeom>
                      <a:avLst/>
                      <a:gdLst/>
                      <a:ahLst/>
                      <a:cxnLst>
                        <a:cxn ang="0">
                          <a:pos x="150" y="0"/>
                        </a:cxn>
                        <a:cxn ang="0">
                          <a:pos x="122" y="7"/>
                        </a:cxn>
                        <a:cxn ang="0">
                          <a:pos x="111" y="31"/>
                        </a:cxn>
                        <a:cxn ang="0">
                          <a:pos x="94" y="41"/>
                        </a:cxn>
                        <a:cxn ang="0">
                          <a:pos x="50" y="53"/>
                        </a:cxn>
                        <a:cxn ang="0">
                          <a:pos x="17" y="39"/>
                        </a:cxn>
                        <a:cxn ang="0">
                          <a:pos x="0" y="67"/>
                        </a:cxn>
                        <a:cxn ang="0">
                          <a:pos x="35" y="86"/>
                        </a:cxn>
                        <a:cxn ang="0">
                          <a:pos x="62" y="92"/>
                        </a:cxn>
                        <a:cxn ang="0">
                          <a:pos x="106" y="80"/>
                        </a:cxn>
                        <a:cxn ang="0">
                          <a:pos x="139" y="53"/>
                        </a:cxn>
                        <a:cxn ang="0">
                          <a:pos x="170" y="12"/>
                        </a:cxn>
                        <a:cxn ang="0">
                          <a:pos x="150" y="0"/>
                        </a:cxn>
                      </a:cxnLst>
                      <a:pathLst>
                        <a:path w="680" h="368">
                          <a:moveTo>
                            <a:pt x="597" y="0"/>
                          </a:moveTo>
                          <a:lnTo>
                            <a:pt x="487" y="28"/>
                          </a:lnTo>
                          <a:lnTo>
                            <a:pt x="444" y="123"/>
                          </a:lnTo>
                          <a:lnTo>
                            <a:pt x="376" y="164"/>
                          </a:lnTo>
                          <a:lnTo>
                            <a:pt x="200" y="212"/>
                          </a:lnTo>
                          <a:lnTo>
                            <a:pt x="68" y="155"/>
                          </a:lnTo>
                          <a:lnTo>
                            <a:pt x="0" y="265"/>
                          </a:lnTo>
                          <a:lnTo>
                            <a:pt x="140" y="344"/>
                          </a:lnTo>
                          <a:lnTo>
                            <a:pt x="246" y="368"/>
                          </a:lnTo>
                          <a:lnTo>
                            <a:pt x="423" y="317"/>
                          </a:lnTo>
                          <a:lnTo>
                            <a:pt x="555" y="212"/>
                          </a:lnTo>
                          <a:lnTo>
                            <a:pt x="680" y="45"/>
                          </a:lnTo>
                          <a:lnTo>
                            <a:pt x="597" y="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2" name="Freeform 540"/>
                    <p:cNvSpPr/>
                    <p:nvPr/>
                  </p:nvSpPr>
                  <p:spPr>
                    <a:xfrm>
                      <a:off x="2704" y="1543"/>
                      <a:ext cx="544" cy="330"/>
                    </a:xfrm>
                    <a:custGeom>
                      <a:avLst/>
                      <a:gdLst/>
                      <a:ahLst/>
                      <a:cxnLst>
                        <a:cxn ang="0">
                          <a:pos x="272" y="81"/>
                        </a:cxn>
                        <a:cxn ang="0">
                          <a:pos x="209" y="49"/>
                        </a:cxn>
                        <a:cxn ang="0">
                          <a:pos x="171" y="87"/>
                        </a:cxn>
                        <a:cxn ang="0">
                          <a:pos x="184" y="133"/>
                        </a:cxn>
                        <a:cxn ang="0">
                          <a:pos x="170" y="137"/>
                        </a:cxn>
                        <a:cxn ang="0">
                          <a:pos x="157" y="91"/>
                        </a:cxn>
                        <a:cxn ang="0">
                          <a:pos x="110" y="102"/>
                        </a:cxn>
                        <a:cxn ang="0">
                          <a:pos x="56" y="83"/>
                        </a:cxn>
                        <a:cxn ang="0">
                          <a:pos x="63" y="111"/>
                        </a:cxn>
                        <a:cxn ang="0">
                          <a:pos x="53" y="139"/>
                        </a:cxn>
                        <a:cxn ang="0">
                          <a:pos x="73" y="163"/>
                        </a:cxn>
                        <a:cxn ang="0">
                          <a:pos x="65" y="165"/>
                        </a:cxn>
                        <a:cxn ang="0">
                          <a:pos x="0" y="121"/>
                        </a:cxn>
                        <a:cxn ang="0">
                          <a:pos x="6" y="110"/>
                        </a:cxn>
                        <a:cxn ang="0">
                          <a:pos x="42" y="129"/>
                        </a:cxn>
                        <a:cxn ang="0">
                          <a:pos x="53" y="111"/>
                        </a:cxn>
                        <a:cxn ang="0">
                          <a:pos x="42" y="79"/>
                        </a:cxn>
                        <a:cxn ang="0">
                          <a:pos x="29" y="71"/>
                        </a:cxn>
                        <a:cxn ang="0">
                          <a:pos x="42" y="57"/>
                        </a:cxn>
                        <a:cxn ang="0">
                          <a:pos x="74" y="78"/>
                        </a:cxn>
                        <a:cxn ang="0">
                          <a:pos x="111" y="89"/>
                        </a:cxn>
                        <a:cxn ang="0">
                          <a:pos x="162" y="75"/>
                        </a:cxn>
                        <a:cxn ang="0">
                          <a:pos x="201" y="40"/>
                        </a:cxn>
                        <a:cxn ang="0">
                          <a:pos x="227" y="0"/>
                        </a:cxn>
                        <a:cxn ang="0">
                          <a:pos x="236" y="5"/>
                        </a:cxn>
                        <a:cxn ang="0">
                          <a:pos x="231" y="16"/>
                        </a:cxn>
                        <a:cxn ang="0">
                          <a:pos x="257" y="30"/>
                        </a:cxn>
                        <a:cxn ang="0">
                          <a:pos x="272" y="81"/>
                        </a:cxn>
                      </a:cxnLst>
                      <a:pathLst>
                        <a:path w="1090" h="660">
                          <a:moveTo>
                            <a:pt x="1090" y="323"/>
                          </a:moveTo>
                          <a:lnTo>
                            <a:pt x="838" y="196"/>
                          </a:lnTo>
                          <a:lnTo>
                            <a:pt x="688" y="345"/>
                          </a:lnTo>
                          <a:lnTo>
                            <a:pt x="739" y="529"/>
                          </a:lnTo>
                          <a:lnTo>
                            <a:pt x="681" y="545"/>
                          </a:lnTo>
                          <a:lnTo>
                            <a:pt x="631" y="361"/>
                          </a:lnTo>
                          <a:lnTo>
                            <a:pt x="441" y="408"/>
                          </a:lnTo>
                          <a:lnTo>
                            <a:pt x="225" y="330"/>
                          </a:lnTo>
                          <a:lnTo>
                            <a:pt x="253" y="444"/>
                          </a:lnTo>
                          <a:lnTo>
                            <a:pt x="212" y="556"/>
                          </a:lnTo>
                          <a:lnTo>
                            <a:pt x="295" y="649"/>
                          </a:lnTo>
                          <a:lnTo>
                            <a:pt x="263" y="660"/>
                          </a:lnTo>
                          <a:lnTo>
                            <a:pt x="0" y="483"/>
                          </a:lnTo>
                          <a:lnTo>
                            <a:pt x="26" y="437"/>
                          </a:lnTo>
                          <a:lnTo>
                            <a:pt x="170" y="515"/>
                          </a:lnTo>
                          <a:lnTo>
                            <a:pt x="214" y="441"/>
                          </a:lnTo>
                          <a:lnTo>
                            <a:pt x="171" y="314"/>
                          </a:lnTo>
                          <a:lnTo>
                            <a:pt x="119" y="281"/>
                          </a:lnTo>
                          <a:lnTo>
                            <a:pt x="168" y="226"/>
                          </a:lnTo>
                          <a:lnTo>
                            <a:pt x="298" y="310"/>
                          </a:lnTo>
                          <a:lnTo>
                            <a:pt x="444" y="356"/>
                          </a:lnTo>
                          <a:lnTo>
                            <a:pt x="649" y="297"/>
                          </a:lnTo>
                          <a:lnTo>
                            <a:pt x="808" y="158"/>
                          </a:lnTo>
                          <a:lnTo>
                            <a:pt x="911" y="0"/>
                          </a:lnTo>
                          <a:lnTo>
                            <a:pt x="948" y="19"/>
                          </a:lnTo>
                          <a:lnTo>
                            <a:pt x="925" y="63"/>
                          </a:lnTo>
                          <a:lnTo>
                            <a:pt x="1031" y="117"/>
                          </a:lnTo>
                          <a:lnTo>
                            <a:pt x="1090" y="323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3" name="Freeform 541"/>
                    <p:cNvSpPr/>
                    <p:nvPr/>
                  </p:nvSpPr>
                  <p:spPr>
                    <a:xfrm>
                      <a:off x="3138" y="1589"/>
                      <a:ext cx="103" cy="90"/>
                    </a:xfrm>
                    <a:custGeom>
                      <a:avLst/>
                      <a:gdLst/>
                      <a:ahLst/>
                      <a:cxnLst>
                        <a:cxn ang="0">
                          <a:pos x="44" y="18"/>
                        </a:cxn>
                        <a:cxn ang="0">
                          <a:pos x="10" y="0"/>
                        </a:cxn>
                        <a:cxn ang="0">
                          <a:pos x="0" y="18"/>
                        </a:cxn>
                        <a:cxn ang="0">
                          <a:pos x="52" y="45"/>
                        </a:cxn>
                        <a:cxn ang="0">
                          <a:pos x="44" y="18"/>
                        </a:cxn>
                      </a:cxnLst>
                      <a:pathLst>
                        <a:path w="205" h="181">
                          <a:moveTo>
                            <a:pt x="173" y="72"/>
                          </a:moveTo>
                          <a:lnTo>
                            <a:pt x="37" y="0"/>
                          </a:lnTo>
                          <a:lnTo>
                            <a:pt x="0" y="72"/>
                          </a:lnTo>
                          <a:lnTo>
                            <a:pt x="205" y="181"/>
                          </a:lnTo>
                          <a:lnTo>
                            <a:pt x="173" y="72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4" name="Freeform 542"/>
                    <p:cNvSpPr/>
                    <p:nvPr/>
                  </p:nvSpPr>
                  <p:spPr>
                    <a:xfrm>
                      <a:off x="3050" y="1643"/>
                      <a:ext cx="121" cy="165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0"/>
                        </a:cxn>
                        <a:cxn ang="0">
                          <a:pos x="0" y="39"/>
                        </a:cxn>
                        <a:cxn ang="0">
                          <a:pos x="11" y="83"/>
                        </a:cxn>
                        <a:cxn ang="0">
                          <a:pos x="37" y="76"/>
                        </a:cxn>
                        <a:cxn ang="0">
                          <a:pos x="60" y="14"/>
                        </a:cxn>
                        <a:cxn ang="0">
                          <a:pos x="36" y="0"/>
                        </a:cxn>
                      </a:cxnLst>
                      <a:pathLst>
                        <a:path w="243" h="328">
                          <a:moveTo>
                            <a:pt x="146" y="0"/>
                          </a:moveTo>
                          <a:lnTo>
                            <a:pt x="0" y="155"/>
                          </a:lnTo>
                          <a:lnTo>
                            <a:pt x="45" y="328"/>
                          </a:lnTo>
                          <a:lnTo>
                            <a:pt x="148" y="303"/>
                          </a:lnTo>
                          <a:lnTo>
                            <a:pt x="243" y="55"/>
                          </a:lnTo>
                          <a:lnTo>
                            <a:pt x="146" y="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5" name="Freeform 543"/>
                    <p:cNvSpPr/>
                    <p:nvPr/>
                  </p:nvSpPr>
                  <p:spPr>
                    <a:xfrm>
                      <a:off x="3157" y="1682"/>
                      <a:ext cx="106" cy="102"/>
                    </a:xfrm>
                    <a:custGeom>
                      <a:avLst/>
                      <a:gdLst/>
                      <a:ahLst/>
                      <a:cxnLst>
                        <a:cxn ang="0">
                          <a:pos x="46" y="11"/>
                        </a:cxn>
                        <a:cxn ang="0">
                          <a:pos x="21" y="0"/>
                        </a:cxn>
                        <a:cxn ang="0">
                          <a:pos x="0" y="51"/>
                        </a:cxn>
                        <a:cxn ang="0">
                          <a:pos x="53" y="36"/>
                        </a:cxn>
                        <a:cxn ang="0">
                          <a:pos x="46" y="11"/>
                        </a:cxn>
                      </a:cxnLst>
                      <a:pathLst>
                        <a:path w="211" h="205">
                          <a:moveTo>
                            <a:pt x="184" y="47"/>
                          </a:moveTo>
                          <a:lnTo>
                            <a:pt x="84" y="0"/>
                          </a:lnTo>
                          <a:lnTo>
                            <a:pt x="0" y="205"/>
                          </a:lnTo>
                          <a:lnTo>
                            <a:pt x="211" y="146"/>
                          </a:lnTo>
                          <a:lnTo>
                            <a:pt x="184" y="47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6" name="Freeform 544"/>
                    <p:cNvSpPr/>
                    <p:nvPr/>
                  </p:nvSpPr>
                  <p:spPr>
                    <a:xfrm>
                      <a:off x="2809" y="1710"/>
                      <a:ext cx="232" cy="158"/>
                    </a:xfrm>
                    <a:custGeom>
                      <a:avLst/>
                      <a:gdLst/>
                      <a:ahLst/>
                      <a:cxnLst>
                        <a:cxn ang="0">
                          <a:pos x="111" y="39"/>
                        </a:cxn>
                        <a:cxn ang="0">
                          <a:pos x="116" y="53"/>
                        </a:cxn>
                        <a:cxn ang="0">
                          <a:pos x="21" y="79"/>
                        </a:cxn>
                        <a:cxn ang="0">
                          <a:pos x="0" y="56"/>
                        </a:cxn>
                        <a:cxn ang="0">
                          <a:pos x="10" y="30"/>
                        </a:cxn>
                        <a:cxn ang="0">
                          <a:pos x="4" y="0"/>
                        </a:cxn>
                        <a:cxn ang="0">
                          <a:pos x="35" y="12"/>
                        </a:cxn>
                        <a:cxn ang="0">
                          <a:pos x="57" y="21"/>
                        </a:cxn>
                        <a:cxn ang="0">
                          <a:pos x="72" y="17"/>
                        </a:cxn>
                        <a:cxn ang="0">
                          <a:pos x="79" y="48"/>
                        </a:cxn>
                        <a:cxn ang="0">
                          <a:pos x="111" y="39"/>
                        </a:cxn>
                      </a:cxnLst>
                      <a:pathLst>
                        <a:path w="465" h="315">
                          <a:moveTo>
                            <a:pt x="445" y="153"/>
                          </a:moveTo>
                          <a:lnTo>
                            <a:pt x="465" y="212"/>
                          </a:lnTo>
                          <a:lnTo>
                            <a:pt x="86" y="315"/>
                          </a:lnTo>
                          <a:lnTo>
                            <a:pt x="0" y="223"/>
                          </a:lnTo>
                          <a:lnTo>
                            <a:pt x="43" y="118"/>
                          </a:lnTo>
                          <a:lnTo>
                            <a:pt x="16" y="0"/>
                          </a:lnTo>
                          <a:lnTo>
                            <a:pt x="140" y="48"/>
                          </a:lnTo>
                          <a:lnTo>
                            <a:pt x="228" y="82"/>
                          </a:lnTo>
                          <a:lnTo>
                            <a:pt x="291" y="66"/>
                          </a:lnTo>
                          <a:lnTo>
                            <a:pt x="319" y="189"/>
                          </a:lnTo>
                          <a:lnTo>
                            <a:pt x="445" y="153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7" name="Freeform 545"/>
                    <p:cNvSpPr/>
                    <p:nvPr/>
                  </p:nvSpPr>
                  <p:spPr>
                    <a:xfrm>
                      <a:off x="2718" y="1684"/>
                      <a:ext cx="93" cy="118"/>
                    </a:xfrm>
                    <a:custGeom>
                      <a:avLst/>
                      <a:gdLst/>
                      <a:ahLst/>
                      <a:cxnLst>
                        <a:cxn ang="0">
                          <a:pos x="23" y="0"/>
                        </a:cxn>
                        <a:cxn ang="0">
                          <a:pos x="0" y="38"/>
                        </a:cxn>
                        <a:cxn ang="0">
                          <a:pos x="36" y="59"/>
                        </a:cxn>
                        <a:cxn ang="0">
                          <a:pos x="47" y="40"/>
                        </a:cxn>
                        <a:cxn ang="0">
                          <a:pos x="37" y="9"/>
                        </a:cxn>
                        <a:cxn ang="0">
                          <a:pos x="23" y="0"/>
                        </a:cxn>
                      </a:cxnLst>
                      <a:pathLst>
                        <a:path w="186" h="235">
                          <a:moveTo>
                            <a:pt x="90" y="0"/>
                          </a:moveTo>
                          <a:lnTo>
                            <a:pt x="0" y="150"/>
                          </a:lnTo>
                          <a:lnTo>
                            <a:pt x="142" y="235"/>
                          </a:lnTo>
                          <a:lnTo>
                            <a:pt x="186" y="157"/>
                          </a:lnTo>
                          <a:lnTo>
                            <a:pt x="146" y="35"/>
                          </a:lnTo>
                          <a:lnTo>
                            <a:pt x="90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8" name="Freeform 546"/>
                    <p:cNvSpPr/>
                    <p:nvPr/>
                  </p:nvSpPr>
                  <p:spPr>
                    <a:xfrm>
                      <a:off x="2627" y="1791"/>
                      <a:ext cx="138" cy="137"/>
                    </a:xfrm>
                    <a:custGeom>
                      <a:avLst/>
                      <a:gdLst/>
                      <a:ahLst/>
                      <a:cxnLst>
                        <a:cxn ang="0">
                          <a:pos x="37" y="0"/>
                        </a:cxn>
                        <a:cxn ang="0">
                          <a:pos x="69" y="22"/>
                        </a:cxn>
                        <a:cxn ang="0">
                          <a:pos x="52" y="55"/>
                        </a:cxn>
                        <a:cxn ang="0">
                          <a:pos x="4" y="68"/>
                        </a:cxn>
                        <a:cxn ang="0">
                          <a:pos x="0" y="54"/>
                        </a:cxn>
                        <a:cxn ang="0">
                          <a:pos x="37" y="0"/>
                        </a:cxn>
                      </a:cxnLst>
                      <a:pathLst>
                        <a:path w="276" h="275">
                          <a:moveTo>
                            <a:pt x="146" y="0"/>
                          </a:moveTo>
                          <a:lnTo>
                            <a:pt x="276" y="88"/>
                          </a:lnTo>
                          <a:lnTo>
                            <a:pt x="205" y="221"/>
                          </a:lnTo>
                          <a:lnTo>
                            <a:pt x="16" y="275"/>
                          </a:lnTo>
                          <a:lnTo>
                            <a:pt x="0" y="219"/>
                          </a:lnTo>
                          <a:lnTo>
                            <a:pt x="146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39" name="Freeform 547"/>
                    <p:cNvSpPr/>
                    <p:nvPr/>
                  </p:nvSpPr>
                  <p:spPr>
                    <a:xfrm>
                      <a:off x="2615" y="1736"/>
                      <a:ext cx="100" cy="106"/>
                    </a:xfrm>
                    <a:custGeom>
                      <a:avLst/>
                      <a:gdLst/>
                      <a:ahLst/>
                      <a:cxnLst>
                        <a:cxn ang="0">
                          <a:pos x="50" y="13"/>
                        </a:cxn>
                        <a:cxn ang="0">
                          <a:pos x="29" y="0"/>
                        </a:cxn>
                        <a:cxn ang="0">
                          <a:pos x="14" y="4"/>
                        </a:cxn>
                        <a:cxn ang="0">
                          <a:pos x="27" y="18"/>
                        </a:cxn>
                        <a:cxn ang="0">
                          <a:pos x="0" y="17"/>
                        </a:cxn>
                        <a:cxn ang="0">
                          <a:pos x="8" y="47"/>
                        </a:cxn>
                        <a:cxn ang="0">
                          <a:pos x="24" y="53"/>
                        </a:cxn>
                        <a:cxn ang="0">
                          <a:pos x="44" y="23"/>
                        </a:cxn>
                        <a:cxn ang="0">
                          <a:pos x="50" y="13"/>
                        </a:cxn>
                      </a:cxnLst>
                      <a:pathLst>
                        <a:path w="201" h="213">
                          <a:moveTo>
                            <a:pt x="201" y="54"/>
                          </a:moveTo>
                          <a:lnTo>
                            <a:pt x="119" y="0"/>
                          </a:lnTo>
                          <a:lnTo>
                            <a:pt x="59" y="19"/>
                          </a:lnTo>
                          <a:lnTo>
                            <a:pt x="109" y="75"/>
                          </a:lnTo>
                          <a:lnTo>
                            <a:pt x="0" y="70"/>
                          </a:lnTo>
                          <a:lnTo>
                            <a:pt x="32" y="188"/>
                          </a:lnTo>
                          <a:lnTo>
                            <a:pt x="96" y="213"/>
                          </a:lnTo>
                          <a:lnTo>
                            <a:pt x="179" y="92"/>
                          </a:lnTo>
                          <a:lnTo>
                            <a:pt x="201" y="54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0" name="Freeform 548"/>
                    <p:cNvSpPr/>
                    <p:nvPr/>
                  </p:nvSpPr>
                  <p:spPr>
                    <a:xfrm>
                      <a:off x="2627" y="1651"/>
                      <a:ext cx="113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40"/>
                        </a:cxn>
                        <a:cxn ang="0">
                          <a:pos x="17" y="30"/>
                        </a:cxn>
                        <a:cxn ang="0">
                          <a:pos x="0" y="23"/>
                        </a:cxn>
                        <a:cxn ang="0">
                          <a:pos x="15" y="19"/>
                        </a:cxn>
                        <a:cxn ang="0">
                          <a:pos x="18" y="5"/>
                        </a:cxn>
                        <a:cxn ang="0">
                          <a:pos x="26" y="14"/>
                        </a:cxn>
                        <a:cxn ang="0">
                          <a:pos x="34" y="0"/>
                        </a:cxn>
                        <a:cxn ang="0">
                          <a:pos x="44" y="8"/>
                        </a:cxn>
                        <a:cxn ang="0">
                          <a:pos x="39" y="16"/>
                        </a:cxn>
                        <a:cxn ang="0">
                          <a:pos x="56" y="17"/>
                        </a:cxn>
                        <a:cxn ang="0">
                          <a:pos x="47" y="23"/>
                        </a:cxn>
                        <a:cxn ang="0">
                          <a:pos x="51" y="31"/>
                        </a:cxn>
                        <a:cxn ang="0">
                          <a:pos x="32" y="27"/>
                        </a:cxn>
                        <a:cxn ang="0">
                          <a:pos x="26" y="37"/>
                        </a:cxn>
                        <a:cxn ang="0">
                          <a:pos x="17" y="40"/>
                        </a:cxn>
                      </a:cxnLst>
                      <a:pathLst>
                        <a:path w="227" h="156">
                          <a:moveTo>
                            <a:pt x="70" y="156"/>
                          </a:moveTo>
                          <a:lnTo>
                            <a:pt x="68" y="116"/>
                          </a:lnTo>
                          <a:lnTo>
                            <a:pt x="0" y="91"/>
                          </a:lnTo>
                          <a:lnTo>
                            <a:pt x="62" y="73"/>
                          </a:lnTo>
                          <a:lnTo>
                            <a:pt x="73" y="20"/>
                          </a:lnTo>
                          <a:lnTo>
                            <a:pt x="107" y="56"/>
                          </a:lnTo>
                          <a:lnTo>
                            <a:pt x="138" y="0"/>
                          </a:lnTo>
                          <a:lnTo>
                            <a:pt x="177" y="29"/>
                          </a:lnTo>
                          <a:lnTo>
                            <a:pt x="156" y="62"/>
                          </a:lnTo>
                          <a:lnTo>
                            <a:pt x="227" y="66"/>
                          </a:lnTo>
                          <a:lnTo>
                            <a:pt x="188" y="88"/>
                          </a:lnTo>
                          <a:lnTo>
                            <a:pt x="206" y="121"/>
                          </a:lnTo>
                          <a:lnTo>
                            <a:pt x="131" y="106"/>
                          </a:lnTo>
                          <a:lnTo>
                            <a:pt x="107" y="145"/>
                          </a:lnTo>
                          <a:lnTo>
                            <a:pt x="70" y="156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1" name="Freeform 549"/>
                    <p:cNvSpPr/>
                    <p:nvPr/>
                  </p:nvSpPr>
                  <p:spPr>
                    <a:xfrm>
                      <a:off x="2600" y="1679"/>
                      <a:ext cx="41" cy="68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29"/>
                        </a:cxn>
                        <a:cxn ang="0">
                          <a:pos x="17" y="15"/>
                        </a:cxn>
                        <a:cxn ang="0">
                          <a:pos x="11" y="17"/>
                        </a:cxn>
                        <a:cxn ang="0">
                          <a:pos x="7" y="0"/>
                        </a:cxn>
                        <a:cxn ang="0">
                          <a:pos x="4" y="17"/>
                        </a:cxn>
                        <a:cxn ang="0">
                          <a:pos x="0" y="18"/>
                        </a:cxn>
                        <a:cxn ang="0">
                          <a:pos x="2" y="34"/>
                        </a:cxn>
                        <a:cxn ang="0">
                          <a:pos x="8" y="28"/>
                        </a:cxn>
                        <a:cxn ang="0">
                          <a:pos x="9" y="34"/>
                        </a:cxn>
                        <a:cxn ang="0">
                          <a:pos x="20" y="29"/>
                        </a:cxn>
                      </a:cxnLst>
                      <a:pathLst>
                        <a:path w="83" h="135">
                          <a:moveTo>
                            <a:pt x="83" y="114"/>
                          </a:moveTo>
                          <a:lnTo>
                            <a:pt x="71" y="57"/>
                          </a:lnTo>
                          <a:lnTo>
                            <a:pt x="44" y="66"/>
                          </a:lnTo>
                          <a:lnTo>
                            <a:pt x="29" y="0"/>
                          </a:lnTo>
                          <a:lnTo>
                            <a:pt x="16" y="66"/>
                          </a:lnTo>
                          <a:lnTo>
                            <a:pt x="0" y="70"/>
                          </a:lnTo>
                          <a:lnTo>
                            <a:pt x="11" y="135"/>
                          </a:lnTo>
                          <a:lnTo>
                            <a:pt x="33" y="112"/>
                          </a:lnTo>
                          <a:lnTo>
                            <a:pt x="38" y="135"/>
                          </a:lnTo>
                          <a:lnTo>
                            <a:pt x="83" y="114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2" name="Freeform 550"/>
                    <p:cNvSpPr/>
                    <p:nvPr/>
                  </p:nvSpPr>
                  <p:spPr>
                    <a:xfrm>
                      <a:off x="2953" y="1724"/>
                      <a:ext cx="84" cy="81"/>
                    </a:xfrm>
                    <a:custGeom>
                      <a:avLst/>
                      <a:gdLst/>
                      <a:ahLst/>
                      <a:cxnLst>
                        <a:cxn ang="0">
                          <a:pos x="33" y="0"/>
                        </a:cxn>
                        <a:cxn ang="0">
                          <a:pos x="0" y="9"/>
                        </a:cxn>
                        <a:cxn ang="0">
                          <a:pos x="8" y="41"/>
                        </a:cxn>
                        <a:cxn ang="0">
                          <a:pos x="42" y="31"/>
                        </a:cxn>
                        <a:cxn ang="0">
                          <a:pos x="33" y="0"/>
                        </a:cxn>
                      </a:cxnLst>
                      <a:pathLst>
                        <a:path w="167" h="162">
                          <a:moveTo>
                            <a:pt x="129" y="0"/>
                          </a:moveTo>
                          <a:lnTo>
                            <a:pt x="0" y="33"/>
                          </a:lnTo>
                          <a:lnTo>
                            <a:pt x="30" y="162"/>
                          </a:lnTo>
                          <a:lnTo>
                            <a:pt x="167" y="121"/>
                          </a:lnTo>
                          <a:lnTo>
                            <a:pt x="129" y="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3" name="Freeform 551"/>
                    <p:cNvSpPr/>
                    <p:nvPr/>
                  </p:nvSpPr>
                  <p:spPr>
                    <a:xfrm>
                      <a:off x="2834" y="1515"/>
                      <a:ext cx="207" cy="99"/>
                    </a:xfrm>
                    <a:custGeom>
                      <a:avLst/>
                      <a:gdLst/>
                      <a:ahLst/>
                      <a:cxnLst>
                        <a:cxn ang="0">
                          <a:pos x="96" y="0"/>
                        </a:cxn>
                        <a:cxn ang="0">
                          <a:pos x="85" y="20"/>
                        </a:cxn>
                        <a:cxn ang="0">
                          <a:pos x="73" y="30"/>
                        </a:cxn>
                        <a:cxn ang="0">
                          <a:pos x="36" y="40"/>
                        </a:cxn>
                        <a:cxn ang="0">
                          <a:pos x="22" y="34"/>
                        </a:cxn>
                        <a:cxn ang="0">
                          <a:pos x="4" y="20"/>
                        </a:cxn>
                        <a:cxn ang="0">
                          <a:pos x="0" y="35"/>
                        </a:cxn>
                        <a:cxn ang="0">
                          <a:pos x="32" y="50"/>
                        </a:cxn>
                        <a:cxn ang="0">
                          <a:pos x="78" y="38"/>
                        </a:cxn>
                        <a:cxn ang="0">
                          <a:pos x="95" y="26"/>
                        </a:cxn>
                        <a:cxn ang="0">
                          <a:pos x="104" y="5"/>
                        </a:cxn>
                        <a:cxn ang="0">
                          <a:pos x="96" y="0"/>
                        </a:cxn>
                      </a:cxnLst>
                      <a:pathLst>
                        <a:path w="413" h="198">
                          <a:moveTo>
                            <a:pt x="384" y="0"/>
                          </a:moveTo>
                          <a:lnTo>
                            <a:pt x="339" y="80"/>
                          </a:lnTo>
                          <a:lnTo>
                            <a:pt x="289" y="118"/>
                          </a:lnTo>
                          <a:lnTo>
                            <a:pt x="144" y="158"/>
                          </a:lnTo>
                          <a:lnTo>
                            <a:pt x="88" y="136"/>
                          </a:lnTo>
                          <a:lnTo>
                            <a:pt x="13" y="77"/>
                          </a:lnTo>
                          <a:lnTo>
                            <a:pt x="0" y="138"/>
                          </a:lnTo>
                          <a:lnTo>
                            <a:pt x="128" y="198"/>
                          </a:lnTo>
                          <a:lnTo>
                            <a:pt x="310" y="149"/>
                          </a:lnTo>
                          <a:lnTo>
                            <a:pt x="378" y="102"/>
                          </a:lnTo>
                          <a:lnTo>
                            <a:pt x="413" y="20"/>
                          </a:lnTo>
                          <a:lnTo>
                            <a:pt x="384" y="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4" name="Freeform 552"/>
                    <p:cNvSpPr/>
                    <p:nvPr/>
                  </p:nvSpPr>
                  <p:spPr>
                    <a:xfrm>
                      <a:off x="2776" y="1389"/>
                      <a:ext cx="79" cy="245"/>
                    </a:xfrm>
                    <a:custGeom>
                      <a:avLst/>
                      <a:gdLst/>
                      <a:ahLst/>
                      <a:cxnLst>
                        <a:cxn ang="0">
                          <a:pos x="40" y="64"/>
                        </a:cxn>
                        <a:cxn ang="0">
                          <a:pos x="23" y="0"/>
                        </a:cxn>
                        <a:cxn ang="0">
                          <a:pos x="3" y="44"/>
                        </a:cxn>
                        <a:cxn ang="0">
                          <a:pos x="0" y="75"/>
                        </a:cxn>
                        <a:cxn ang="0">
                          <a:pos x="13" y="123"/>
                        </a:cxn>
                        <a:cxn ang="0">
                          <a:pos x="29" y="96"/>
                        </a:cxn>
                        <a:cxn ang="0">
                          <a:pos x="31" y="81"/>
                        </a:cxn>
                        <a:cxn ang="0">
                          <a:pos x="40" y="64"/>
                        </a:cxn>
                      </a:cxnLst>
                      <a:pathLst>
                        <a:path w="157" h="489">
                          <a:moveTo>
                            <a:pt x="157" y="253"/>
                          </a:moveTo>
                          <a:lnTo>
                            <a:pt x="89" y="0"/>
                          </a:lnTo>
                          <a:lnTo>
                            <a:pt x="11" y="174"/>
                          </a:lnTo>
                          <a:lnTo>
                            <a:pt x="0" y="300"/>
                          </a:lnTo>
                          <a:lnTo>
                            <a:pt x="49" y="489"/>
                          </a:lnTo>
                          <a:lnTo>
                            <a:pt x="113" y="383"/>
                          </a:lnTo>
                          <a:lnTo>
                            <a:pt x="123" y="323"/>
                          </a:lnTo>
                          <a:lnTo>
                            <a:pt x="157" y="253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5" name="Freeform 553"/>
                    <p:cNvSpPr/>
                    <p:nvPr/>
                  </p:nvSpPr>
                  <p:spPr>
                    <a:xfrm>
                      <a:off x="3124" y="1671"/>
                      <a:ext cx="72" cy="123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57"/>
                        </a:cxn>
                        <a:cxn ang="0">
                          <a:pos x="0" y="62"/>
                        </a:cxn>
                        <a:cxn ang="0">
                          <a:pos x="25" y="0"/>
                        </a:cxn>
                        <a:cxn ang="0">
                          <a:pos x="36" y="6"/>
                        </a:cxn>
                        <a:cxn ang="0">
                          <a:pos x="17" y="57"/>
                        </a:cxn>
                      </a:cxnLst>
                      <a:pathLst>
                        <a:path w="144" h="246">
                          <a:moveTo>
                            <a:pt x="67" y="227"/>
                          </a:moveTo>
                          <a:lnTo>
                            <a:pt x="0" y="246"/>
                          </a:lnTo>
                          <a:lnTo>
                            <a:pt x="97" y="0"/>
                          </a:lnTo>
                          <a:lnTo>
                            <a:pt x="144" y="22"/>
                          </a:lnTo>
                          <a:lnTo>
                            <a:pt x="67" y="227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6" name="Freeform 554"/>
                    <p:cNvSpPr/>
                    <p:nvPr/>
                  </p:nvSpPr>
                  <p:spPr>
                    <a:xfrm>
                      <a:off x="3168" y="1557"/>
                      <a:ext cx="52" cy="44"/>
                    </a:xfrm>
                    <a:custGeom>
                      <a:avLst/>
                      <a:gdLst/>
                      <a:ahLst/>
                      <a:cxnLst>
                        <a:cxn ang="0">
                          <a:pos x="26" y="22"/>
                        </a:cxn>
                        <a:cxn ang="0">
                          <a:pos x="0" y="9"/>
                        </a:cxn>
                        <a:cxn ang="0">
                          <a:pos x="4" y="0"/>
                        </a:cxn>
                        <a:cxn ang="0">
                          <a:pos x="22" y="9"/>
                        </a:cxn>
                        <a:cxn ang="0">
                          <a:pos x="26" y="22"/>
                        </a:cxn>
                      </a:cxnLst>
                      <a:pathLst>
                        <a:path w="105" h="88">
                          <a:moveTo>
                            <a:pt x="105" y="88"/>
                          </a:moveTo>
                          <a:lnTo>
                            <a:pt x="0" y="35"/>
                          </a:lnTo>
                          <a:lnTo>
                            <a:pt x="17" y="0"/>
                          </a:lnTo>
                          <a:lnTo>
                            <a:pt x="89" y="33"/>
                          </a:lnTo>
                          <a:lnTo>
                            <a:pt x="105" y="88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7" name="Freeform 555"/>
                    <p:cNvSpPr/>
                    <p:nvPr/>
                  </p:nvSpPr>
                  <p:spPr>
                    <a:xfrm>
                      <a:off x="3056" y="1526"/>
                      <a:ext cx="45" cy="50"/>
                    </a:xfrm>
                    <a:custGeom>
                      <a:avLst/>
                      <a:gdLst/>
                      <a:ahLst/>
                      <a:cxnLst>
                        <a:cxn ang="0">
                          <a:pos x="15" y="0"/>
                        </a:cxn>
                        <a:cxn ang="0">
                          <a:pos x="23" y="10"/>
                        </a:cxn>
                        <a:cxn ang="0">
                          <a:pos x="20" y="22"/>
                        </a:cxn>
                        <a:cxn ang="0">
                          <a:pos x="10" y="25"/>
                        </a:cxn>
                        <a:cxn ang="0">
                          <a:pos x="0" y="16"/>
                        </a:cxn>
                        <a:cxn ang="0">
                          <a:pos x="3" y="3"/>
                        </a:cxn>
                        <a:cxn ang="0">
                          <a:pos x="15" y="0"/>
                        </a:cxn>
                      </a:cxnLst>
                      <a:pathLst>
                        <a:path w="90" h="100">
                          <a:moveTo>
                            <a:pt x="57" y="0"/>
                          </a:moveTo>
                          <a:lnTo>
                            <a:pt x="90" y="38"/>
                          </a:lnTo>
                          <a:lnTo>
                            <a:pt x="79" y="88"/>
                          </a:lnTo>
                          <a:lnTo>
                            <a:pt x="37" y="100"/>
                          </a:lnTo>
                          <a:lnTo>
                            <a:pt x="0" y="64"/>
                          </a:lnTo>
                          <a:lnTo>
                            <a:pt x="10" y="11"/>
                          </a:lnTo>
                          <a:lnTo>
                            <a:pt x="57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8" name="Freeform 556"/>
                    <p:cNvSpPr/>
                    <p:nvPr/>
                  </p:nvSpPr>
                  <p:spPr>
                    <a:xfrm>
                      <a:off x="3005" y="1579"/>
                      <a:ext cx="52" cy="52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26" y="9"/>
                        </a:cxn>
                        <a:cxn ang="0">
                          <a:pos x="21" y="23"/>
                        </a:cxn>
                        <a:cxn ang="0">
                          <a:pos x="9" y="27"/>
                        </a:cxn>
                        <a:cxn ang="0">
                          <a:pos x="0" y="17"/>
                        </a:cxn>
                        <a:cxn ang="0">
                          <a:pos x="4" y="3"/>
                        </a:cxn>
                        <a:cxn ang="0">
                          <a:pos x="17" y="0"/>
                        </a:cxn>
                      </a:cxnLst>
                      <a:pathLst>
                        <a:path w="103" h="102">
                          <a:moveTo>
                            <a:pt x="67" y="0"/>
                          </a:moveTo>
                          <a:lnTo>
                            <a:pt x="103" y="36"/>
                          </a:lnTo>
                          <a:lnTo>
                            <a:pt x="84" y="91"/>
                          </a:lnTo>
                          <a:lnTo>
                            <a:pt x="34" y="102"/>
                          </a:lnTo>
                          <a:lnTo>
                            <a:pt x="0" y="64"/>
                          </a:lnTo>
                          <a:lnTo>
                            <a:pt x="14" y="12"/>
                          </a:lnTo>
                          <a:lnTo>
                            <a:pt x="67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49" name="Freeform 557"/>
                    <p:cNvSpPr/>
                    <p:nvPr/>
                  </p:nvSpPr>
                  <p:spPr>
                    <a:xfrm>
                      <a:off x="2938" y="1609"/>
                      <a:ext cx="53" cy="58"/>
                    </a:xfrm>
                    <a:custGeom>
                      <a:avLst/>
                      <a:gdLst/>
                      <a:ahLst/>
                      <a:cxnLst>
                        <a:cxn ang="0">
                          <a:pos x="16" y="0"/>
                        </a:cxn>
                        <a:cxn ang="0">
                          <a:pos x="27" y="12"/>
                        </a:cxn>
                        <a:cxn ang="0">
                          <a:pos x="24" y="25"/>
                        </a:cxn>
                        <a:cxn ang="0">
                          <a:pos x="10" y="29"/>
                        </a:cxn>
                        <a:cxn ang="0">
                          <a:pos x="0" y="18"/>
                        </a:cxn>
                        <a:cxn ang="0">
                          <a:pos x="3" y="4"/>
                        </a:cxn>
                        <a:cxn ang="0">
                          <a:pos x="16" y="0"/>
                        </a:cxn>
                      </a:cxnLst>
                      <a:pathLst>
                        <a:path w="105" h="115">
                          <a:moveTo>
                            <a:pt x="64" y="0"/>
                          </a:moveTo>
                          <a:lnTo>
                            <a:pt x="105" y="46"/>
                          </a:lnTo>
                          <a:lnTo>
                            <a:pt x="93" y="99"/>
                          </a:lnTo>
                          <a:lnTo>
                            <a:pt x="38" y="115"/>
                          </a:lnTo>
                          <a:lnTo>
                            <a:pt x="0" y="72"/>
                          </a:lnTo>
                          <a:lnTo>
                            <a:pt x="11" y="14"/>
                          </a:lnTo>
                          <a:lnTo>
                            <a:pt x="64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50" name="Freeform 558"/>
                    <p:cNvSpPr/>
                    <p:nvPr/>
                  </p:nvSpPr>
                  <p:spPr>
                    <a:xfrm>
                      <a:off x="2875" y="1624"/>
                      <a:ext cx="46" cy="47"/>
                    </a:xfrm>
                    <a:custGeom>
                      <a:avLst/>
                      <a:gdLst/>
                      <a:ahLst/>
                      <a:cxnLst>
                        <a:cxn ang="0">
                          <a:pos x="14" y="0"/>
                        </a:cxn>
                        <a:cxn ang="0">
                          <a:pos x="23" y="10"/>
                        </a:cxn>
                        <a:cxn ang="0">
                          <a:pos x="20" y="22"/>
                        </a:cxn>
                        <a:cxn ang="0">
                          <a:pos x="9" y="24"/>
                        </a:cxn>
                        <a:cxn ang="0">
                          <a:pos x="0" y="16"/>
                        </a:cxn>
                        <a:cxn ang="0">
                          <a:pos x="3" y="2"/>
                        </a:cxn>
                        <a:cxn ang="0">
                          <a:pos x="14" y="0"/>
                        </a:cxn>
                      </a:cxnLst>
                      <a:pathLst>
                        <a:path w="93" h="94">
                          <a:moveTo>
                            <a:pt x="57" y="0"/>
                          </a:moveTo>
                          <a:lnTo>
                            <a:pt x="93" y="38"/>
                          </a:lnTo>
                          <a:lnTo>
                            <a:pt x="81" y="85"/>
                          </a:lnTo>
                          <a:lnTo>
                            <a:pt x="36" y="94"/>
                          </a:lnTo>
                          <a:lnTo>
                            <a:pt x="0" y="61"/>
                          </a:lnTo>
                          <a:lnTo>
                            <a:pt x="14" y="8"/>
                          </a:lnTo>
                          <a:lnTo>
                            <a:pt x="57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51" name="Freeform 559"/>
                    <p:cNvSpPr/>
                    <p:nvPr/>
                  </p:nvSpPr>
                  <p:spPr>
                    <a:xfrm>
                      <a:off x="2826" y="1604"/>
                      <a:ext cx="36" cy="48"/>
                    </a:xfrm>
                    <a:custGeom>
                      <a:avLst/>
                      <a:gdLst/>
                      <a:ahLst/>
                      <a:cxnLst>
                        <a:cxn ang="0">
                          <a:pos x="11" y="0"/>
                        </a:cxn>
                        <a:cxn ang="0">
                          <a:pos x="18" y="10"/>
                        </a:cxn>
                        <a:cxn ang="0">
                          <a:pos x="16" y="21"/>
                        </a:cxn>
                        <a:cxn ang="0">
                          <a:pos x="8" y="24"/>
                        </a:cxn>
                        <a:cxn ang="0">
                          <a:pos x="0" y="15"/>
                        </a:cxn>
                        <a:cxn ang="0">
                          <a:pos x="2" y="3"/>
                        </a:cxn>
                        <a:cxn ang="0">
                          <a:pos x="11" y="0"/>
                        </a:cxn>
                      </a:cxnLst>
                      <a:pathLst>
                        <a:path w="72" h="95">
                          <a:moveTo>
                            <a:pt x="41" y="0"/>
                          </a:moveTo>
                          <a:lnTo>
                            <a:pt x="72" y="38"/>
                          </a:lnTo>
                          <a:lnTo>
                            <a:pt x="63" y="83"/>
                          </a:lnTo>
                          <a:lnTo>
                            <a:pt x="30" y="95"/>
                          </a:lnTo>
                          <a:lnTo>
                            <a:pt x="0" y="58"/>
                          </a:lnTo>
                          <a:lnTo>
                            <a:pt x="6" y="11"/>
                          </a:lnTo>
                          <a:lnTo>
                            <a:pt x="41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52" name="Freeform 560"/>
                    <p:cNvSpPr/>
                    <p:nvPr/>
                  </p:nvSpPr>
                  <p:spPr>
                    <a:xfrm>
                      <a:off x="2910" y="1427"/>
                      <a:ext cx="44" cy="63"/>
                    </a:xfrm>
                    <a:custGeom>
                      <a:avLst/>
                      <a:gdLst/>
                      <a:ahLst/>
                      <a:cxnLst>
                        <a:cxn ang="0">
                          <a:pos x="22" y="0"/>
                        </a:cxn>
                        <a:cxn ang="0">
                          <a:pos x="0" y="5"/>
                        </a:cxn>
                        <a:cxn ang="0">
                          <a:pos x="9" y="32"/>
                        </a:cxn>
                      </a:cxnLst>
                      <a:pathLst>
                        <a:path w="88" h="125">
                          <a:moveTo>
                            <a:pt x="88" y="0"/>
                          </a:moveTo>
                          <a:lnTo>
                            <a:pt x="0" y="19"/>
                          </a:lnTo>
                          <a:lnTo>
                            <a:pt x="33" y="125"/>
                          </a:lnTo>
                        </a:path>
                      </a:pathLst>
                    </a:custGeom>
                    <a:noFill/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53" name="Line 561"/>
                    <p:cNvSpPr/>
                    <p:nvPr/>
                  </p:nvSpPr>
                  <p:spPr>
                    <a:xfrm flipV="1">
                      <a:off x="2842" y="1425"/>
                      <a:ext cx="44" cy="11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7354" name="Line 562"/>
                    <p:cNvSpPr/>
                    <p:nvPr/>
                  </p:nvSpPr>
                  <p:spPr>
                    <a:xfrm flipV="1">
                      <a:off x="2917" y="1407"/>
                      <a:ext cx="41" cy="11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7355" name="Line 563"/>
                    <p:cNvSpPr/>
                    <p:nvPr/>
                  </p:nvSpPr>
                  <p:spPr>
                    <a:xfrm flipV="1">
                      <a:off x="2848" y="1446"/>
                      <a:ext cx="31" cy="7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7356" name="Freeform 564"/>
                    <p:cNvSpPr/>
                    <p:nvPr/>
                  </p:nvSpPr>
                  <p:spPr>
                    <a:xfrm>
                      <a:off x="2910" y="1488"/>
                      <a:ext cx="29" cy="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14" y="0"/>
                        </a:cxn>
                      </a:cxnLst>
                      <a:pathLst>
                        <a:path w="59" h="15">
                          <a:moveTo>
                            <a:pt x="0" y="15"/>
                          </a:moveTo>
                          <a:lnTo>
                            <a:pt x="59" y="0"/>
                          </a:lnTo>
                        </a:path>
                      </a:pathLst>
                    </a:custGeom>
                    <a:noFill/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57" name="Line 565"/>
                    <p:cNvSpPr/>
                    <p:nvPr/>
                  </p:nvSpPr>
                  <p:spPr>
                    <a:xfrm>
                      <a:off x="2932" y="1519"/>
                      <a:ext cx="6" cy="16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7358" name="Freeform 566"/>
                    <p:cNvSpPr/>
                    <p:nvPr/>
                  </p:nvSpPr>
                  <p:spPr>
                    <a:xfrm>
                      <a:off x="2732" y="1832"/>
                      <a:ext cx="97" cy="67"/>
                    </a:xfrm>
                    <a:custGeom>
                      <a:avLst/>
                      <a:gdLst/>
                      <a:ahLst/>
                      <a:cxnLst>
                        <a:cxn ang="0">
                          <a:pos x="48" y="21"/>
                        </a:cxn>
                        <a:cxn ang="0">
                          <a:pos x="19" y="0"/>
                        </a:cxn>
                        <a:cxn ang="0">
                          <a:pos x="0" y="34"/>
                        </a:cxn>
                        <a:cxn ang="0">
                          <a:pos x="48" y="21"/>
                        </a:cxn>
                      </a:cxnLst>
                      <a:pathLst>
                        <a:path w="195" h="134">
                          <a:moveTo>
                            <a:pt x="195" y="83"/>
                          </a:moveTo>
                          <a:lnTo>
                            <a:pt x="77" y="0"/>
                          </a:lnTo>
                          <a:lnTo>
                            <a:pt x="0" y="134"/>
                          </a:lnTo>
                          <a:lnTo>
                            <a:pt x="195" y="83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59" name="Freeform 567"/>
                    <p:cNvSpPr/>
                    <p:nvPr/>
                  </p:nvSpPr>
                  <p:spPr>
                    <a:xfrm>
                      <a:off x="2992" y="1286"/>
                      <a:ext cx="140" cy="16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8" y="36"/>
                        </a:cxn>
                        <a:cxn ang="0">
                          <a:pos x="33" y="62"/>
                        </a:cxn>
                        <a:cxn ang="0">
                          <a:pos x="65" y="82"/>
                        </a:cxn>
                        <a:cxn ang="0">
                          <a:pos x="70" y="75"/>
                        </a:cxn>
                        <a:cxn ang="0">
                          <a:pos x="41" y="56"/>
                        </a:cxn>
                        <a:cxn ang="0">
                          <a:pos x="20" y="33"/>
                        </a:cxn>
                        <a:cxn ang="0">
                          <a:pos x="13" y="0"/>
                        </a:cxn>
                        <a:cxn ang="0">
                          <a:pos x="0" y="3"/>
                        </a:cxn>
                      </a:cxnLst>
                      <a:pathLst>
                        <a:path w="280" h="331">
                          <a:moveTo>
                            <a:pt x="0" y="15"/>
                          </a:moveTo>
                          <a:lnTo>
                            <a:pt x="29" y="145"/>
                          </a:lnTo>
                          <a:lnTo>
                            <a:pt x="129" y="248"/>
                          </a:lnTo>
                          <a:lnTo>
                            <a:pt x="260" y="331"/>
                          </a:lnTo>
                          <a:lnTo>
                            <a:pt x="280" y="303"/>
                          </a:lnTo>
                          <a:lnTo>
                            <a:pt x="161" y="226"/>
                          </a:lnTo>
                          <a:lnTo>
                            <a:pt x="79" y="133"/>
                          </a:lnTo>
                          <a:lnTo>
                            <a:pt x="50" y="0"/>
                          </a:lnTo>
                          <a:lnTo>
                            <a:pt x="0" y="15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60" name="Line 568"/>
                    <p:cNvSpPr/>
                    <p:nvPr/>
                  </p:nvSpPr>
                  <p:spPr>
                    <a:xfrm flipV="1">
                      <a:off x="2913" y="1511"/>
                      <a:ext cx="40" cy="10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7282" name="Group 569"/>
                  <p:cNvGrpSpPr/>
                  <p:nvPr/>
                </p:nvGrpSpPr>
                <p:grpSpPr>
                  <a:xfrm>
                    <a:off x="2638" y="1753"/>
                    <a:ext cx="664" cy="664"/>
                    <a:chOff x="2638" y="1753"/>
                    <a:chExt cx="664" cy="664"/>
                  </a:xfrm>
                </p:grpSpPr>
                <p:sp>
                  <p:nvSpPr>
                    <p:cNvPr id="7283" name="Freeform 570"/>
                    <p:cNvSpPr/>
                    <p:nvPr/>
                  </p:nvSpPr>
                  <p:spPr>
                    <a:xfrm>
                      <a:off x="2759" y="2206"/>
                      <a:ext cx="183" cy="211"/>
                    </a:xfrm>
                    <a:custGeom>
                      <a:avLst/>
                      <a:gdLst/>
                      <a:ahLst/>
                      <a:cxnLst>
                        <a:cxn ang="0">
                          <a:pos x="24" y="106"/>
                        </a:cxn>
                        <a:cxn ang="0">
                          <a:pos x="92" y="88"/>
                        </a:cxn>
                        <a:cxn ang="0">
                          <a:pos x="83" y="53"/>
                        </a:cxn>
                        <a:cxn ang="0">
                          <a:pos x="49" y="21"/>
                        </a:cxn>
                        <a:cxn ang="0">
                          <a:pos x="16" y="0"/>
                        </a:cxn>
                        <a:cxn ang="0">
                          <a:pos x="0" y="24"/>
                        </a:cxn>
                        <a:cxn ang="0">
                          <a:pos x="21" y="41"/>
                        </a:cxn>
                        <a:cxn ang="0">
                          <a:pos x="30" y="75"/>
                        </a:cxn>
                        <a:cxn ang="0">
                          <a:pos x="24" y="106"/>
                        </a:cxn>
                      </a:cxnLst>
                      <a:pathLst>
                        <a:path w="366" h="421">
                          <a:moveTo>
                            <a:pt x="95" y="421"/>
                          </a:moveTo>
                          <a:lnTo>
                            <a:pt x="366" y="351"/>
                          </a:lnTo>
                          <a:lnTo>
                            <a:pt x="332" y="209"/>
                          </a:lnTo>
                          <a:lnTo>
                            <a:pt x="196" y="83"/>
                          </a:lnTo>
                          <a:lnTo>
                            <a:pt x="62" y="0"/>
                          </a:lnTo>
                          <a:lnTo>
                            <a:pt x="0" y="96"/>
                          </a:lnTo>
                          <a:lnTo>
                            <a:pt x="83" y="162"/>
                          </a:lnTo>
                          <a:lnTo>
                            <a:pt x="120" y="298"/>
                          </a:lnTo>
                          <a:lnTo>
                            <a:pt x="95" y="421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84" name="Freeform 571"/>
                    <p:cNvSpPr/>
                    <p:nvPr/>
                  </p:nvSpPr>
                  <p:spPr>
                    <a:xfrm>
                      <a:off x="2690" y="2108"/>
                      <a:ext cx="294" cy="275"/>
                    </a:xfrm>
                    <a:custGeom>
                      <a:avLst/>
                      <a:gdLst/>
                      <a:ahLst/>
                      <a:cxnLst>
                        <a:cxn ang="0">
                          <a:pos x="126" y="138"/>
                        </a:cxn>
                        <a:cxn ang="0">
                          <a:pos x="147" y="132"/>
                        </a:cxn>
                        <a:cxn ang="0">
                          <a:pos x="138" y="99"/>
                        </a:cxn>
                        <a:cxn ang="0">
                          <a:pos x="92" y="55"/>
                        </a:cxn>
                        <a:cxn ang="0">
                          <a:pos x="0" y="0"/>
                        </a:cxn>
                        <a:cxn ang="0">
                          <a:pos x="7" y="24"/>
                        </a:cxn>
                        <a:cxn ang="0">
                          <a:pos x="83" y="70"/>
                        </a:cxn>
                        <a:cxn ang="0">
                          <a:pos x="117" y="100"/>
                        </a:cxn>
                        <a:cxn ang="0">
                          <a:pos x="126" y="138"/>
                        </a:cxn>
                      </a:cxnLst>
                      <a:pathLst>
                        <a:path w="589" h="550">
                          <a:moveTo>
                            <a:pt x="505" y="550"/>
                          </a:moveTo>
                          <a:lnTo>
                            <a:pt x="589" y="528"/>
                          </a:lnTo>
                          <a:lnTo>
                            <a:pt x="552" y="395"/>
                          </a:lnTo>
                          <a:lnTo>
                            <a:pt x="369" y="219"/>
                          </a:lnTo>
                          <a:lnTo>
                            <a:pt x="0" y="0"/>
                          </a:lnTo>
                          <a:lnTo>
                            <a:pt x="28" y="93"/>
                          </a:lnTo>
                          <a:lnTo>
                            <a:pt x="333" y="278"/>
                          </a:lnTo>
                          <a:lnTo>
                            <a:pt x="469" y="400"/>
                          </a:lnTo>
                          <a:lnTo>
                            <a:pt x="505" y="55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85" name="Freeform 572"/>
                    <p:cNvSpPr/>
                    <p:nvPr/>
                  </p:nvSpPr>
                  <p:spPr>
                    <a:xfrm>
                      <a:off x="3082" y="2013"/>
                      <a:ext cx="68" cy="327"/>
                    </a:xfrm>
                    <a:custGeom>
                      <a:avLst/>
                      <a:gdLst/>
                      <a:ahLst/>
                      <a:cxnLst>
                        <a:cxn ang="0">
                          <a:pos x="6" y="164"/>
                        </a:cxn>
                        <a:cxn ang="0">
                          <a:pos x="0" y="141"/>
                        </a:cxn>
                        <a:cxn ang="0">
                          <a:pos x="21" y="92"/>
                        </a:cxn>
                        <a:cxn ang="0">
                          <a:pos x="22" y="61"/>
                        </a:cxn>
                        <a:cxn ang="0">
                          <a:pos x="11" y="15"/>
                        </a:cxn>
                        <a:cxn ang="0">
                          <a:pos x="20" y="0"/>
                        </a:cxn>
                        <a:cxn ang="0">
                          <a:pos x="34" y="58"/>
                        </a:cxn>
                        <a:cxn ang="0">
                          <a:pos x="33" y="93"/>
                        </a:cxn>
                        <a:cxn ang="0">
                          <a:pos x="17" y="140"/>
                        </a:cxn>
                        <a:cxn ang="0">
                          <a:pos x="21" y="159"/>
                        </a:cxn>
                        <a:cxn ang="0">
                          <a:pos x="6" y="164"/>
                        </a:cxn>
                      </a:cxnLst>
                      <a:pathLst>
                        <a:path w="135" h="654">
                          <a:moveTo>
                            <a:pt x="22" y="654"/>
                          </a:moveTo>
                          <a:lnTo>
                            <a:pt x="0" y="563"/>
                          </a:lnTo>
                          <a:lnTo>
                            <a:pt x="84" y="365"/>
                          </a:lnTo>
                          <a:lnTo>
                            <a:pt x="88" y="242"/>
                          </a:lnTo>
                          <a:lnTo>
                            <a:pt x="44" y="57"/>
                          </a:lnTo>
                          <a:lnTo>
                            <a:pt x="78" y="0"/>
                          </a:lnTo>
                          <a:lnTo>
                            <a:pt x="135" y="231"/>
                          </a:lnTo>
                          <a:lnTo>
                            <a:pt x="130" y="371"/>
                          </a:lnTo>
                          <a:lnTo>
                            <a:pt x="66" y="558"/>
                          </a:lnTo>
                          <a:lnTo>
                            <a:pt x="84" y="634"/>
                          </a:lnTo>
                          <a:lnTo>
                            <a:pt x="22" y="654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86" name="Freeform 573"/>
                    <p:cNvSpPr/>
                    <p:nvPr/>
                  </p:nvSpPr>
                  <p:spPr>
                    <a:xfrm>
                      <a:off x="2908" y="2121"/>
                      <a:ext cx="182" cy="245"/>
                    </a:xfrm>
                    <a:custGeom>
                      <a:avLst/>
                      <a:gdLst/>
                      <a:ahLst/>
                      <a:cxnLst>
                        <a:cxn ang="0">
                          <a:pos x="91" y="108"/>
                        </a:cxn>
                        <a:cxn ang="0">
                          <a:pos x="68" y="21"/>
                        </a:cxn>
                        <a:cxn ang="0">
                          <a:pos x="51" y="6"/>
                        </a:cxn>
                        <a:cxn ang="0">
                          <a:pos x="44" y="0"/>
                        </a:cxn>
                        <a:cxn ang="0">
                          <a:pos x="16" y="8"/>
                        </a:cxn>
                        <a:cxn ang="0">
                          <a:pos x="0" y="37"/>
                        </a:cxn>
                        <a:cxn ang="0">
                          <a:pos x="7" y="70"/>
                        </a:cxn>
                        <a:cxn ang="0">
                          <a:pos x="31" y="92"/>
                        </a:cxn>
                        <a:cxn ang="0">
                          <a:pos x="39" y="123"/>
                        </a:cxn>
                        <a:cxn ang="0">
                          <a:pos x="91" y="108"/>
                        </a:cxn>
                      </a:cxnLst>
                      <a:pathLst>
                        <a:path w="365" h="490">
                          <a:moveTo>
                            <a:pt x="365" y="430"/>
                          </a:moveTo>
                          <a:lnTo>
                            <a:pt x="273" y="81"/>
                          </a:lnTo>
                          <a:lnTo>
                            <a:pt x="207" y="24"/>
                          </a:lnTo>
                          <a:lnTo>
                            <a:pt x="176" y="0"/>
                          </a:lnTo>
                          <a:lnTo>
                            <a:pt x="66" y="31"/>
                          </a:lnTo>
                          <a:lnTo>
                            <a:pt x="0" y="145"/>
                          </a:lnTo>
                          <a:lnTo>
                            <a:pt x="31" y="277"/>
                          </a:lnTo>
                          <a:lnTo>
                            <a:pt x="126" y="366"/>
                          </a:lnTo>
                          <a:lnTo>
                            <a:pt x="157" y="490"/>
                          </a:lnTo>
                          <a:lnTo>
                            <a:pt x="365" y="43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87" name="Freeform 574"/>
                    <p:cNvSpPr/>
                    <p:nvPr/>
                  </p:nvSpPr>
                  <p:spPr>
                    <a:xfrm>
                      <a:off x="3029" y="2265"/>
                      <a:ext cx="62" cy="91"/>
                    </a:xfrm>
                    <a:custGeom>
                      <a:avLst/>
                      <a:gdLst/>
                      <a:ahLst/>
                      <a:cxnLst>
                        <a:cxn ang="0">
                          <a:pos x="31" y="39"/>
                        </a:cxn>
                        <a:cxn ang="0">
                          <a:pos x="21" y="0"/>
                        </a:cxn>
                        <a:cxn ang="0">
                          <a:pos x="0" y="25"/>
                        </a:cxn>
                        <a:cxn ang="0">
                          <a:pos x="5" y="46"/>
                        </a:cxn>
                        <a:cxn ang="0">
                          <a:pos x="31" y="39"/>
                        </a:cxn>
                      </a:cxnLst>
                      <a:pathLst>
                        <a:path w="126" h="182">
                          <a:moveTo>
                            <a:pt x="126" y="154"/>
                          </a:moveTo>
                          <a:lnTo>
                            <a:pt x="86" y="0"/>
                          </a:lnTo>
                          <a:lnTo>
                            <a:pt x="0" y="99"/>
                          </a:lnTo>
                          <a:lnTo>
                            <a:pt x="22" y="182"/>
                          </a:lnTo>
                          <a:lnTo>
                            <a:pt x="126" y="154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88" name="Freeform 575"/>
                    <p:cNvSpPr/>
                    <p:nvPr/>
                  </p:nvSpPr>
                  <p:spPr>
                    <a:xfrm>
                      <a:off x="2941" y="2281"/>
                      <a:ext cx="92" cy="8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40" y="17"/>
                        </a:cxn>
                        <a:cxn ang="0">
                          <a:pos x="46" y="38"/>
                        </a:cxn>
                        <a:cxn ang="0">
                          <a:pos x="22" y="45"/>
                        </a:cxn>
                        <a:cxn ang="0">
                          <a:pos x="14" y="14"/>
                        </a:cxn>
                        <a:cxn ang="0">
                          <a:pos x="0" y="0"/>
                        </a:cxn>
                      </a:cxnLst>
                      <a:pathLst>
                        <a:path w="185" h="177">
                          <a:moveTo>
                            <a:pt x="0" y="0"/>
                          </a:moveTo>
                          <a:lnTo>
                            <a:pt x="163" y="65"/>
                          </a:lnTo>
                          <a:lnTo>
                            <a:pt x="185" y="150"/>
                          </a:lnTo>
                          <a:lnTo>
                            <a:pt x="90" y="177"/>
                          </a:lnTo>
                          <a:lnTo>
                            <a:pt x="57" y="56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89" name="Freeform 576"/>
                    <p:cNvSpPr/>
                    <p:nvPr/>
                  </p:nvSpPr>
                  <p:spPr>
                    <a:xfrm>
                      <a:off x="2870" y="2082"/>
                      <a:ext cx="195" cy="112"/>
                    </a:xfrm>
                    <a:custGeom>
                      <a:avLst/>
                      <a:gdLst/>
                      <a:ahLst/>
                      <a:cxnLst>
                        <a:cxn ang="0">
                          <a:pos x="18" y="56"/>
                        </a:cxn>
                        <a:cxn ang="0">
                          <a:pos x="36" y="27"/>
                        </a:cxn>
                        <a:cxn ang="0">
                          <a:pos x="63" y="20"/>
                        </a:cxn>
                        <a:cxn ang="0">
                          <a:pos x="90" y="40"/>
                        </a:cxn>
                        <a:cxn ang="0">
                          <a:pos x="98" y="24"/>
                        </a:cxn>
                        <a:cxn ang="0">
                          <a:pos x="78" y="6"/>
                        </a:cxn>
                        <a:cxn ang="0">
                          <a:pos x="64" y="0"/>
                        </a:cxn>
                        <a:cxn ang="0">
                          <a:pos x="30" y="10"/>
                        </a:cxn>
                        <a:cxn ang="0">
                          <a:pos x="13" y="19"/>
                        </a:cxn>
                        <a:cxn ang="0">
                          <a:pos x="0" y="42"/>
                        </a:cxn>
                        <a:cxn ang="0">
                          <a:pos x="18" y="56"/>
                        </a:cxn>
                      </a:cxnLst>
                      <a:pathLst>
                        <a:path w="388" h="223">
                          <a:moveTo>
                            <a:pt x="71" y="223"/>
                          </a:moveTo>
                          <a:lnTo>
                            <a:pt x="141" y="107"/>
                          </a:lnTo>
                          <a:lnTo>
                            <a:pt x="249" y="78"/>
                          </a:lnTo>
                          <a:lnTo>
                            <a:pt x="356" y="157"/>
                          </a:lnTo>
                          <a:lnTo>
                            <a:pt x="388" y="93"/>
                          </a:lnTo>
                          <a:lnTo>
                            <a:pt x="310" y="24"/>
                          </a:lnTo>
                          <a:lnTo>
                            <a:pt x="254" y="0"/>
                          </a:lnTo>
                          <a:lnTo>
                            <a:pt x="118" y="38"/>
                          </a:lnTo>
                          <a:lnTo>
                            <a:pt x="50" y="76"/>
                          </a:lnTo>
                          <a:lnTo>
                            <a:pt x="0" y="165"/>
                          </a:lnTo>
                          <a:lnTo>
                            <a:pt x="71" y="223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0" name="Freeform 577"/>
                    <p:cNvSpPr/>
                    <p:nvPr/>
                  </p:nvSpPr>
                  <p:spPr>
                    <a:xfrm>
                      <a:off x="2869" y="2081"/>
                      <a:ext cx="197" cy="116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56"/>
                        </a:cxn>
                        <a:cxn ang="0">
                          <a:pos x="18" y="56"/>
                        </a:cxn>
                        <a:cxn ang="0">
                          <a:pos x="35" y="27"/>
                        </a:cxn>
                        <a:cxn ang="0">
                          <a:pos x="36" y="27"/>
                        </a:cxn>
                        <a:cxn ang="0">
                          <a:pos x="63" y="20"/>
                        </a:cxn>
                        <a:cxn ang="0">
                          <a:pos x="63" y="20"/>
                        </a:cxn>
                        <a:cxn ang="0">
                          <a:pos x="63" y="20"/>
                        </a:cxn>
                        <a:cxn ang="0">
                          <a:pos x="64" y="21"/>
                        </a:cxn>
                        <a:cxn ang="0">
                          <a:pos x="91" y="40"/>
                        </a:cxn>
                        <a:cxn ang="0">
                          <a:pos x="89" y="40"/>
                        </a:cxn>
                        <a:cxn ang="0">
                          <a:pos x="96" y="25"/>
                        </a:cxn>
                        <a:cxn ang="0">
                          <a:pos x="97" y="25"/>
                        </a:cxn>
                        <a:cxn ang="0">
                          <a:pos x="78" y="8"/>
                        </a:cxn>
                        <a:cxn ang="0">
                          <a:pos x="78" y="9"/>
                        </a:cxn>
                        <a:cxn ang="0">
                          <a:pos x="64" y="3"/>
                        </a:cxn>
                        <a:cxn ang="0">
                          <a:pos x="65" y="3"/>
                        </a:cxn>
                        <a:cxn ang="0">
                          <a:pos x="31" y="11"/>
                        </a:cxn>
                        <a:cxn ang="0">
                          <a:pos x="14" y="21"/>
                        </a:cxn>
                        <a:cxn ang="0">
                          <a:pos x="16" y="21"/>
                        </a:cxn>
                        <a:cxn ang="0">
                          <a:pos x="3" y="44"/>
                        </a:cxn>
                        <a:cxn ang="0">
                          <a:pos x="2" y="42"/>
                        </a:cxn>
                        <a:cxn ang="0">
                          <a:pos x="20" y="56"/>
                        </a:cxn>
                        <a:cxn ang="0">
                          <a:pos x="18" y="58"/>
                        </a:cxn>
                        <a:cxn ang="0">
                          <a:pos x="0" y="44"/>
                        </a:cxn>
                        <a:cxn ang="0">
                          <a:pos x="0" y="41"/>
                        </a:cxn>
                        <a:cxn ang="0">
                          <a:pos x="13" y="19"/>
                        </a:cxn>
                        <a:cxn ang="0">
                          <a:pos x="30" y="9"/>
                        </a:cxn>
                        <a:cxn ang="0">
                          <a:pos x="64" y="0"/>
                        </a:cxn>
                        <a:cxn ang="0">
                          <a:pos x="65" y="0"/>
                        </a:cxn>
                        <a:cxn ang="0">
                          <a:pos x="79" y="7"/>
                        </a:cxn>
                        <a:cxn ang="0">
                          <a:pos x="80" y="7"/>
                        </a:cxn>
                        <a:cxn ang="0">
                          <a:pos x="99" y="24"/>
                        </a:cxn>
                        <a:cxn ang="0">
                          <a:pos x="99" y="25"/>
                        </a:cxn>
                        <a:cxn ang="0">
                          <a:pos x="91" y="41"/>
                        </a:cxn>
                        <a:cxn ang="0">
                          <a:pos x="90" y="42"/>
                        </a:cxn>
                        <a:cxn ang="0">
                          <a:pos x="90" y="42"/>
                        </a:cxn>
                        <a:cxn ang="0">
                          <a:pos x="63" y="22"/>
                        </a:cxn>
                        <a:cxn ang="0">
                          <a:pos x="63" y="22"/>
                        </a:cxn>
                        <a:cxn ang="0">
                          <a:pos x="36" y="29"/>
                        </a:cxn>
                        <a:cxn ang="0">
                          <a:pos x="38" y="29"/>
                        </a:cxn>
                        <a:cxn ang="0">
                          <a:pos x="20" y="58"/>
                        </a:cxn>
                        <a:cxn ang="0">
                          <a:pos x="19" y="58"/>
                        </a:cxn>
                        <a:cxn ang="0">
                          <a:pos x="20" y="58"/>
                        </a:cxn>
                        <a:cxn ang="0">
                          <a:pos x="19" y="58"/>
                        </a:cxn>
                        <a:cxn ang="0">
                          <a:pos x="19" y="58"/>
                        </a:cxn>
                        <a:cxn ang="0">
                          <a:pos x="18" y="58"/>
                        </a:cxn>
                        <a:cxn ang="0">
                          <a:pos x="20" y="56"/>
                        </a:cxn>
                      </a:cxnLst>
                      <a:pathLst>
                        <a:path w="394" h="232">
                          <a:moveTo>
                            <a:pt x="79" y="221"/>
                          </a:moveTo>
                          <a:lnTo>
                            <a:pt x="69" y="224"/>
                          </a:lnTo>
                          <a:lnTo>
                            <a:pt x="140" y="108"/>
                          </a:lnTo>
                          <a:lnTo>
                            <a:pt x="142" y="108"/>
                          </a:lnTo>
                          <a:lnTo>
                            <a:pt x="250" y="79"/>
                          </a:lnTo>
                          <a:lnTo>
                            <a:pt x="252" y="79"/>
                          </a:lnTo>
                          <a:lnTo>
                            <a:pt x="252" y="77"/>
                          </a:lnTo>
                          <a:lnTo>
                            <a:pt x="254" y="81"/>
                          </a:lnTo>
                          <a:lnTo>
                            <a:pt x="361" y="160"/>
                          </a:lnTo>
                          <a:lnTo>
                            <a:pt x="356" y="160"/>
                          </a:lnTo>
                          <a:lnTo>
                            <a:pt x="384" y="97"/>
                          </a:lnTo>
                          <a:lnTo>
                            <a:pt x="386" y="99"/>
                          </a:lnTo>
                          <a:lnTo>
                            <a:pt x="311" y="31"/>
                          </a:lnTo>
                          <a:lnTo>
                            <a:pt x="311" y="33"/>
                          </a:lnTo>
                          <a:lnTo>
                            <a:pt x="254" y="9"/>
                          </a:lnTo>
                          <a:lnTo>
                            <a:pt x="257" y="9"/>
                          </a:lnTo>
                          <a:lnTo>
                            <a:pt x="121" y="43"/>
                          </a:lnTo>
                          <a:lnTo>
                            <a:pt x="55" y="83"/>
                          </a:lnTo>
                          <a:lnTo>
                            <a:pt x="61" y="81"/>
                          </a:lnTo>
                          <a:lnTo>
                            <a:pt x="9" y="173"/>
                          </a:lnTo>
                          <a:lnTo>
                            <a:pt x="6" y="165"/>
                          </a:lnTo>
                          <a:lnTo>
                            <a:pt x="79" y="221"/>
                          </a:lnTo>
                          <a:lnTo>
                            <a:pt x="71" y="230"/>
                          </a:lnTo>
                          <a:lnTo>
                            <a:pt x="0" y="173"/>
                          </a:lnTo>
                          <a:lnTo>
                            <a:pt x="0" y="163"/>
                          </a:lnTo>
                          <a:lnTo>
                            <a:pt x="50" y="75"/>
                          </a:lnTo>
                          <a:lnTo>
                            <a:pt x="119" y="33"/>
                          </a:lnTo>
                          <a:lnTo>
                            <a:pt x="254" y="0"/>
                          </a:lnTo>
                          <a:lnTo>
                            <a:pt x="257" y="0"/>
                          </a:lnTo>
                          <a:lnTo>
                            <a:pt x="313" y="25"/>
                          </a:lnTo>
                          <a:lnTo>
                            <a:pt x="318" y="25"/>
                          </a:lnTo>
                          <a:lnTo>
                            <a:pt x="394" y="93"/>
                          </a:lnTo>
                          <a:lnTo>
                            <a:pt x="394" y="97"/>
                          </a:lnTo>
                          <a:lnTo>
                            <a:pt x="363" y="163"/>
                          </a:lnTo>
                          <a:lnTo>
                            <a:pt x="358" y="168"/>
                          </a:lnTo>
                          <a:lnTo>
                            <a:pt x="358" y="165"/>
                          </a:lnTo>
                          <a:lnTo>
                            <a:pt x="250" y="86"/>
                          </a:lnTo>
                          <a:lnTo>
                            <a:pt x="252" y="86"/>
                          </a:lnTo>
                          <a:lnTo>
                            <a:pt x="144" y="115"/>
                          </a:lnTo>
                          <a:lnTo>
                            <a:pt x="149" y="115"/>
                          </a:lnTo>
                          <a:lnTo>
                            <a:pt x="79" y="230"/>
                          </a:lnTo>
                          <a:lnTo>
                            <a:pt x="76" y="230"/>
                          </a:lnTo>
                          <a:lnTo>
                            <a:pt x="79" y="230"/>
                          </a:lnTo>
                          <a:lnTo>
                            <a:pt x="76" y="230"/>
                          </a:lnTo>
                          <a:lnTo>
                            <a:pt x="74" y="232"/>
                          </a:lnTo>
                          <a:lnTo>
                            <a:pt x="71" y="230"/>
                          </a:lnTo>
                          <a:lnTo>
                            <a:pt x="79" y="221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1" name="Freeform 578"/>
                    <p:cNvSpPr/>
                    <p:nvPr/>
                  </p:nvSpPr>
                  <p:spPr>
                    <a:xfrm>
                      <a:off x="2803" y="2159"/>
                      <a:ext cx="117" cy="101"/>
                    </a:xfrm>
                    <a:custGeom>
                      <a:avLst/>
                      <a:gdLst/>
                      <a:ahLst/>
                      <a:cxnLst>
                        <a:cxn ang="0">
                          <a:pos x="59" y="51"/>
                        </a:cxn>
                        <a:cxn ang="0">
                          <a:pos x="51" y="17"/>
                        </a:cxn>
                        <a:cxn ang="0">
                          <a:pos x="30" y="0"/>
                        </a:cxn>
                        <a:cxn ang="0">
                          <a:pos x="0" y="7"/>
                        </a:cxn>
                        <a:cxn ang="0">
                          <a:pos x="36" y="29"/>
                        </a:cxn>
                        <a:cxn ang="0">
                          <a:pos x="59" y="51"/>
                        </a:cxn>
                      </a:cxnLst>
                      <a:pathLst>
                        <a:path w="234" h="200">
                          <a:moveTo>
                            <a:pt x="234" y="200"/>
                          </a:moveTo>
                          <a:lnTo>
                            <a:pt x="204" y="66"/>
                          </a:lnTo>
                          <a:lnTo>
                            <a:pt x="119" y="0"/>
                          </a:lnTo>
                          <a:lnTo>
                            <a:pt x="0" y="27"/>
                          </a:lnTo>
                          <a:lnTo>
                            <a:pt x="141" y="114"/>
                          </a:lnTo>
                          <a:lnTo>
                            <a:pt x="234" y="20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2" name="Freeform 579"/>
                    <p:cNvSpPr/>
                    <p:nvPr/>
                  </p:nvSpPr>
                  <p:spPr>
                    <a:xfrm>
                      <a:off x="2763" y="1988"/>
                      <a:ext cx="340" cy="184"/>
                    </a:xfrm>
                    <a:custGeom>
                      <a:avLst/>
                      <a:gdLst/>
                      <a:ahLst/>
                      <a:cxnLst>
                        <a:cxn ang="0">
                          <a:pos x="21" y="92"/>
                        </a:cxn>
                        <a:cxn ang="0">
                          <a:pos x="49" y="85"/>
                        </a:cxn>
                        <a:cxn ang="0">
                          <a:pos x="59" y="61"/>
                        </a:cxn>
                        <a:cxn ang="0">
                          <a:pos x="76" y="51"/>
                        </a:cxn>
                        <a:cxn ang="0">
                          <a:pos x="120" y="39"/>
                        </a:cxn>
                        <a:cxn ang="0">
                          <a:pos x="153" y="53"/>
                        </a:cxn>
                        <a:cxn ang="0">
                          <a:pos x="170" y="26"/>
                        </a:cxn>
                        <a:cxn ang="0">
                          <a:pos x="135" y="6"/>
                        </a:cxn>
                        <a:cxn ang="0">
                          <a:pos x="109" y="0"/>
                        </a:cxn>
                        <a:cxn ang="0">
                          <a:pos x="64" y="13"/>
                        </a:cxn>
                        <a:cxn ang="0">
                          <a:pos x="31" y="39"/>
                        </a:cxn>
                        <a:cxn ang="0">
                          <a:pos x="0" y="81"/>
                        </a:cxn>
                        <a:cxn ang="0">
                          <a:pos x="21" y="92"/>
                        </a:cxn>
                      </a:cxnLst>
                      <a:pathLst>
                        <a:path w="680" h="368">
                          <a:moveTo>
                            <a:pt x="83" y="368"/>
                          </a:moveTo>
                          <a:lnTo>
                            <a:pt x="193" y="339"/>
                          </a:lnTo>
                          <a:lnTo>
                            <a:pt x="236" y="244"/>
                          </a:lnTo>
                          <a:lnTo>
                            <a:pt x="304" y="204"/>
                          </a:lnTo>
                          <a:lnTo>
                            <a:pt x="480" y="155"/>
                          </a:lnTo>
                          <a:lnTo>
                            <a:pt x="612" y="212"/>
                          </a:lnTo>
                          <a:lnTo>
                            <a:pt x="680" y="103"/>
                          </a:lnTo>
                          <a:lnTo>
                            <a:pt x="540" y="23"/>
                          </a:lnTo>
                          <a:lnTo>
                            <a:pt x="433" y="0"/>
                          </a:lnTo>
                          <a:lnTo>
                            <a:pt x="256" y="50"/>
                          </a:lnTo>
                          <a:lnTo>
                            <a:pt x="124" y="155"/>
                          </a:lnTo>
                          <a:lnTo>
                            <a:pt x="0" y="322"/>
                          </a:lnTo>
                          <a:lnTo>
                            <a:pt x="83" y="368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3" name="Freeform 580"/>
                    <p:cNvSpPr/>
                    <p:nvPr/>
                  </p:nvSpPr>
                  <p:spPr>
                    <a:xfrm>
                      <a:off x="2653" y="1808"/>
                      <a:ext cx="545" cy="32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84"/>
                        </a:cxn>
                        <a:cxn ang="0">
                          <a:pos x="63" y="116"/>
                        </a:cxn>
                        <a:cxn ang="0">
                          <a:pos x="101" y="79"/>
                        </a:cxn>
                        <a:cxn ang="0">
                          <a:pos x="88" y="32"/>
                        </a:cxn>
                        <a:cxn ang="0">
                          <a:pos x="103" y="28"/>
                        </a:cxn>
                        <a:cxn ang="0">
                          <a:pos x="115" y="75"/>
                        </a:cxn>
                        <a:cxn ang="0">
                          <a:pos x="163" y="63"/>
                        </a:cxn>
                        <a:cxn ang="0">
                          <a:pos x="217" y="82"/>
                        </a:cxn>
                        <a:cxn ang="0">
                          <a:pos x="210" y="54"/>
                        </a:cxn>
                        <a:cxn ang="0">
                          <a:pos x="220" y="26"/>
                        </a:cxn>
                        <a:cxn ang="0">
                          <a:pos x="199" y="2"/>
                        </a:cxn>
                        <a:cxn ang="0">
                          <a:pos x="207" y="0"/>
                        </a:cxn>
                        <a:cxn ang="0">
                          <a:pos x="273" y="44"/>
                        </a:cxn>
                        <a:cxn ang="0">
                          <a:pos x="266" y="56"/>
                        </a:cxn>
                        <a:cxn ang="0">
                          <a:pos x="230" y="36"/>
                        </a:cxn>
                        <a:cxn ang="0">
                          <a:pos x="219" y="54"/>
                        </a:cxn>
                        <a:cxn ang="0">
                          <a:pos x="230" y="86"/>
                        </a:cxn>
                        <a:cxn ang="0">
                          <a:pos x="243" y="94"/>
                        </a:cxn>
                        <a:cxn ang="0">
                          <a:pos x="231" y="108"/>
                        </a:cxn>
                        <a:cxn ang="0">
                          <a:pos x="198" y="87"/>
                        </a:cxn>
                        <a:cxn ang="0">
                          <a:pos x="162" y="76"/>
                        </a:cxn>
                        <a:cxn ang="0">
                          <a:pos x="111" y="90"/>
                        </a:cxn>
                        <a:cxn ang="0">
                          <a:pos x="71" y="125"/>
                        </a:cxn>
                        <a:cxn ang="0">
                          <a:pos x="45" y="164"/>
                        </a:cxn>
                        <a:cxn ang="0">
                          <a:pos x="36" y="160"/>
                        </a:cxn>
                        <a:cxn ang="0">
                          <a:pos x="42" y="149"/>
                        </a:cxn>
                        <a:cxn ang="0">
                          <a:pos x="15" y="135"/>
                        </a:cxn>
                        <a:cxn ang="0">
                          <a:pos x="0" y="84"/>
                        </a:cxn>
                      </a:cxnLst>
                      <a:pathLst>
                        <a:path w="1089" h="660">
                          <a:moveTo>
                            <a:pt x="0" y="338"/>
                          </a:moveTo>
                          <a:lnTo>
                            <a:pt x="252" y="465"/>
                          </a:lnTo>
                          <a:lnTo>
                            <a:pt x="402" y="316"/>
                          </a:lnTo>
                          <a:lnTo>
                            <a:pt x="351" y="131"/>
                          </a:lnTo>
                          <a:lnTo>
                            <a:pt x="409" y="115"/>
                          </a:lnTo>
                          <a:lnTo>
                            <a:pt x="459" y="300"/>
                          </a:lnTo>
                          <a:lnTo>
                            <a:pt x="649" y="252"/>
                          </a:lnTo>
                          <a:lnTo>
                            <a:pt x="865" y="330"/>
                          </a:lnTo>
                          <a:lnTo>
                            <a:pt x="837" y="217"/>
                          </a:lnTo>
                          <a:lnTo>
                            <a:pt x="878" y="104"/>
                          </a:lnTo>
                          <a:lnTo>
                            <a:pt x="795" y="11"/>
                          </a:lnTo>
                          <a:lnTo>
                            <a:pt x="827" y="0"/>
                          </a:lnTo>
                          <a:lnTo>
                            <a:pt x="1089" y="177"/>
                          </a:lnTo>
                          <a:lnTo>
                            <a:pt x="1064" y="224"/>
                          </a:lnTo>
                          <a:lnTo>
                            <a:pt x="920" y="146"/>
                          </a:lnTo>
                          <a:lnTo>
                            <a:pt x="876" y="219"/>
                          </a:lnTo>
                          <a:lnTo>
                            <a:pt x="918" y="346"/>
                          </a:lnTo>
                          <a:lnTo>
                            <a:pt x="971" y="379"/>
                          </a:lnTo>
                          <a:lnTo>
                            <a:pt x="922" y="434"/>
                          </a:lnTo>
                          <a:lnTo>
                            <a:pt x="791" y="351"/>
                          </a:lnTo>
                          <a:lnTo>
                            <a:pt x="646" y="305"/>
                          </a:lnTo>
                          <a:lnTo>
                            <a:pt x="441" y="363"/>
                          </a:lnTo>
                          <a:lnTo>
                            <a:pt x="282" y="502"/>
                          </a:lnTo>
                          <a:lnTo>
                            <a:pt x="178" y="660"/>
                          </a:lnTo>
                          <a:lnTo>
                            <a:pt x="142" y="642"/>
                          </a:lnTo>
                          <a:lnTo>
                            <a:pt x="165" y="598"/>
                          </a:lnTo>
                          <a:lnTo>
                            <a:pt x="59" y="544"/>
                          </a:lnTo>
                          <a:lnTo>
                            <a:pt x="0" y="338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4" name="Freeform 581"/>
                    <p:cNvSpPr/>
                    <p:nvPr/>
                  </p:nvSpPr>
                  <p:spPr>
                    <a:xfrm>
                      <a:off x="2660" y="2001"/>
                      <a:ext cx="103" cy="91"/>
                    </a:xfrm>
                    <a:custGeom>
                      <a:avLst/>
                      <a:gdLst/>
                      <a:ahLst/>
                      <a:cxnLst>
                        <a:cxn ang="0">
                          <a:pos x="8" y="28"/>
                        </a:cxn>
                        <a:cxn ang="0">
                          <a:pos x="42" y="46"/>
                        </a:cxn>
                        <a:cxn ang="0">
                          <a:pos x="52" y="28"/>
                        </a:cxn>
                        <a:cxn ang="0">
                          <a:pos x="0" y="0"/>
                        </a:cxn>
                        <a:cxn ang="0">
                          <a:pos x="8" y="28"/>
                        </a:cxn>
                      </a:cxnLst>
                      <a:pathLst>
                        <a:path w="205" h="180">
                          <a:moveTo>
                            <a:pt x="31" y="108"/>
                          </a:moveTo>
                          <a:lnTo>
                            <a:pt x="168" y="180"/>
                          </a:lnTo>
                          <a:lnTo>
                            <a:pt x="205" y="108"/>
                          </a:lnTo>
                          <a:lnTo>
                            <a:pt x="0" y="0"/>
                          </a:lnTo>
                          <a:lnTo>
                            <a:pt x="31" y="108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5" name="Freeform 582"/>
                    <p:cNvSpPr/>
                    <p:nvPr/>
                  </p:nvSpPr>
                  <p:spPr>
                    <a:xfrm>
                      <a:off x="2730" y="1873"/>
                      <a:ext cx="121" cy="164"/>
                    </a:xfrm>
                    <a:custGeom>
                      <a:avLst/>
                      <a:gdLst/>
                      <a:ahLst/>
                      <a:cxnLst>
                        <a:cxn ang="0">
                          <a:pos x="24" y="82"/>
                        </a:cxn>
                        <a:cxn ang="0">
                          <a:pos x="60" y="43"/>
                        </a:cxn>
                        <a:cxn ang="0">
                          <a:pos x="49" y="0"/>
                        </a:cxn>
                        <a:cxn ang="0">
                          <a:pos x="23" y="6"/>
                        </a:cxn>
                        <a:cxn ang="0">
                          <a:pos x="0" y="68"/>
                        </a:cxn>
                        <a:cxn ang="0">
                          <a:pos x="24" y="82"/>
                        </a:cxn>
                      </a:cxnLst>
                      <a:pathLst>
                        <a:path w="243" h="329">
                          <a:moveTo>
                            <a:pt x="96" y="329"/>
                          </a:moveTo>
                          <a:lnTo>
                            <a:pt x="243" y="174"/>
                          </a:lnTo>
                          <a:lnTo>
                            <a:pt x="198" y="0"/>
                          </a:lnTo>
                          <a:lnTo>
                            <a:pt x="95" y="26"/>
                          </a:lnTo>
                          <a:lnTo>
                            <a:pt x="0" y="274"/>
                          </a:lnTo>
                          <a:lnTo>
                            <a:pt x="96" y="329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6" name="Freeform 583"/>
                    <p:cNvSpPr/>
                    <p:nvPr/>
                  </p:nvSpPr>
                  <p:spPr>
                    <a:xfrm>
                      <a:off x="2638" y="1896"/>
                      <a:ext cx="106" cy="103"/>
                    </a:xfrm>
                    <a:custGeom>
                      <a:avLst/>
                      <a:gdLst/>
                      <a:ahLst/>
                      <a:cxnLst>
                        <a:cxn ang="0">
                          <a:pos x="7" y="40"/>
                        </a:cxn>
                        <a:cxn ang="0">
                          <a:pos x="32" y="52"/>
                        </a:cxn>
                        <a:cxn ang="0">
                          <a:pos x="53" y="0"/>
                        </a:cxn>
                        <a:cxn ang="0">
                          <a:pos x="0" y="15"/>
                        </a:cxn>
                        <a:cxn ang="0">
                          <a:pos x="7" y="40"/>
                        </a:cxn>
                      </a:cxnLst>
                      <a:pathLst>
                        <a:path w="211" h="206">
                          <a:moveTo>
                            <a:pt x="27" y="158"/>
                          </a:moveTo>
                          <a:lnTo>
                            <a:pt x="127" y="206"/>
                          </a:lnTo>
                          <a:lnTo>
                            <a:pt x="211" y="0"/>
                          </a:lnTo>
                          <a:lnTo>
                            <a:pt x="0" y="59"/>
                          </a:lnTo>
                          <a:lnTo>
                            <a:pt x="27" y="158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7" name="Freeform 584"/>
                    <p:cNvSpPr/>
                    <p:nvPr/>
                  </p:nvSpPr>
                  <p:spPr>
                    <a:xfrm>
                      <a:off x="2861" y="1813"/>
                      <a:ext cx="232" cy="15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41"/>
                        </a:cxn>
                        <a:cxn ang="0">
                          <a:pos x="0" y="26"/>
                        </a:cxn>
                        <a:cxn ang="0">
                          <a:pos x="95" y="0"/>
                        </a:cxn>
                        <a:cxn ang="0">
                          <a:pos x="116" y="23"/>
                        </a:cxn>
                        <a:cxn ang="0">
                          <a:pos x="106" y="50"/>
                        </a:cxn>
                        <a:cxn ang="0">
                          <a:pos x="112" y="79"/>
                        </a:cxn>
                        <a:cxn ang="0">
                          <a:pos x="82" y="67"/>
                        </a:cxn>
                        <a:cxn ang="0">
                          <a:pos x="60" y="59"/>
                        </a:cxn>
                        <a:cxn ang="0">
                          <a:pos x="44" y="63"/>
                        </a:cxn>
                        <a:cxn ang="0">
                          <a:pos x="37" y="32"/>
                        </a:cxn>
                        <a:cxn ang="0">
                          <a:pos x="5" y="41"/>
                        </a:cxn>
                      </a:cxnLst>
                      <a:pathLst>
                        <a:path w="464" h="316">
                          <a:moveTo>
                            <a:pt x="20" y="163"/>
                          </a:moveTo>
                          <a:lnTo>
                            <a:pt x="0" y="103"/>
                          </a:lnTo>
                          <a:lnTo>
                            <a:pt x="379" y="0"/>
                          </a:lnTo>
                          <a:lnTo>
                            <a:pt x="464" y="92"/>
                          </a:lnTo>
                          <a:lnTo>
                            <a:pt x="422" y="197"/>
                          </a:lnTo>
                          <a:lnTo>
                            <a:pt x="448" y="316"/>
                          </a:lnTo>
                          <a:lnTo>
                            <a:pt x="325" y="268"/>
                          </a:lnTo>
                          <a:lnTo>
                            <a:pt x="237" y="234"/>
                          </a:lnTo>
                          <a:lnTo>
                            <a:pt x="174" y="250"/>
                          </a:lnTo>
                          <a:lnTo>
                            <a:pt x="146" y="126"/>
                          </a:lnTo>
                          <a:lnTo>
                            <a:pt x="20" y="163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8" name="Freeform 585"/>
                    <p:cNvSpPr/>
                    <p:nvPr/>
                  </p:nvSpPr>
                  <p:spPr>
                    <a:xfrm>
                      <a:off x="3091" y="1879"/>
                      <a:ext cx="93" cy="117"/>
                    </a:xfrm>
                    <a:custGeom>
                      <a:avLst/>
                      <a:gdLst/>
                      <a:ahLst/>
                      <a:cxnLst>
                        <a:cxn ang="0">
                          <a:pos x="24" y="58"/>
                        </a:cxn>
                        <a:cxn ang="0">
                          <a:pos x="47" y="21"/>
                        </a:cxn>
                        <a:cxn ang="0">
                          <a:pos x="11" y="0"/>
                        </a:cxn>
                        <a:cxn ang="0">
                          <a:pos x="0" y="19"/>
                        </a:cxn>
                        <a:cxn ang="0">
                          <a:pos x="10" y="49"/>
                        </a:cxn>
                        <a:cxn ang="0">
                          <a:pos x="24" y="58"/>
                        </a:cxn>
                      </a:cxnLst>
                      <a:pathLst>
                        <a:path w="185" h="236">
                          <a:moveTo>
                            <a:pt x="96" y="236"/>
                          </a:moveTo>
                          <a:lnTo>
                            <a:pt x="185" y="86"/>
                          </a:lnTo>
                          <a:lnTo>
                            <a:pt x="44" y="0"/>
                          </a:lnTo>
                          <a:lnTo>
                            <a:pt x="0" y="78"/>
                          </a:lnTo>
                          <a:lnTo>
                            <a:pt x="40" y="200"/>
                          </a:lnTo>
                          <a:lnTo>
                            <a:pt x="96" y="236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299" name="Freeform 586"/>
                    <p:cNvSpPr/>
                    <p:nvPr/>
                  </p:nvSpPr>
                  <p:spPr>
                    <a:xfrm>
                      <a:off x="3136" y="1753"/>
                      <a:ext cx="138" cy="137"/>
                    </a:xfrm>
                    <a:custGeom>
                      <a:avLst/>
                      <a:gdLst/>
                      <a:ahLst/>
                      <a:cxnLst>
                        <a:cxn ang="0">
                          <a:pos x="33" y="68"/>
                        </a:cxn>
                        <a:cxn ang="0">
                          <a:pos x="0" y="46"/>
                        </a:cxn>
                        <a:cxn ang="0">
                          <a:pos x="18" y="13"/>
                        </a:cxn>
                        <a:cxn ang="0">
                          <a:pos x="65" y="0"/>
                        </a:cxn>
                        <a:cxn ang="0">
                          <a:pos x="69" y="14"/>
                        </a:cxn>
                        <a:cxn ang="0">
                          <a:pos x="33" y="68"/>
                        </a:cxn>
                      </a:cxnLst>
                      <a:pathLst>
                        <a:path w="276" h="275">
                          <a:moveTo>
                            <a:pt x="130" y="275"/>
                          </a:moveTo>
                          <a:lnTo>
                            <a:pt x="0" y="187"/>
                          </a:lnTo>
                          <a:lnTo>
                            <a:pt x="71" y="54"/>
                          </a:lnTo>
                          <a:lnTo>
                            <a:pt x="260" y="0"/>
                          </a:lnTo>
                          <a:lnTo>
                            <a:pt x="276" y="57"/>
                          </a:lnTo>
                          <a:lnTo>
                            <a:pt x="130" y="27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0" name="Freeform 587"/>
                    <p:cNvSpPr/>
                    <p:nvPr/>
                  </p:nvSpPr>
                  <p:spPr>
                    <a:xfrm>
                      <a:off x="3186" y="1839"/>
                      <a:ext cx="100" cy="10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40"/>
                        </a:cxn>
                        <a:cxn ang="0">
                          <a:pos x="20" y="53"/>
                        </a:cxn>
                        <a:cxn ang="0">
                          <a:pos x="35" y="49"/>
                        </a:cxn>
                        <a:cxn ang="0">
                          <a:pos x="23" y="35"/>
                        </a:cxn>
                        <a:cxn ang="0">
                          <a:pos x="50" y="36"/>
                        </a:cxn>
                        <a:cxn ang="0">
                          <a:pos x="42" y="6"/>
                        </a:cxn>
                        <a:cxn ang="0">
                          <a:pos x="26" y="0"/>
                        </a:cxn>
                        <a:cxn ang="0">
                          <a:pos x="5" y="31"/>
                        </a:cxn>
                        <a:cxn ang="0">
                          <a:pos x="0" y="40"/>
                        </a:cxn>
                      </a:cxnLst>
                      <a:pathLst>
                        <a:path w="201" h="212">
                          <a:moveTo>
                            <a:pt x="0" y="158"/>
                          </a:moveTo>
                          <a:lnTo>
                            <a:pt x="82" y="212"/>
                          </a:lnTo>
                          <a:lnTo>
                            <a:pt x="142" y="194"/>
                          </a:lnTo>
                          <a:lnTo>
                            <a:pt x="92" y="138"/>
                          </a:lnTo>
                          <a:lnTo>
                            <a:pt x="201" y="143"/>
                          </a:lnTo>
                          <a:lnTo>
                            <a:pt x="169" y="24"/>
                          </a:lnTo>
                          <a:lnTo>
                            <a:pt x="105" y="0"/>
                          </a:lnTo>
                          <a:lnTo>
                            <a:pt x="22" y="121"/>
                          </a:lnTo>
                          <a:lnTo>
                            <a:pt x="0" y="158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1" name="Freeform 588"/>
                    <p:cNvSpPr/>
                    <p:nvPr/>
                  </p:nvSpPr>
                  <p:spPr>
                    <a:xfrm>
                      <a:off x="3161" y="1951"/>
                      <a:ext cx="114" cy="78"/>
                    </a:xfrm>
                    <a:custGeom>
                      <a:avLst/>
                      <a:gdLst/>
                      <a:ahLst/>
                      <a:cxnLst>
                        <a:cxn ang="0">
                          <a:pos x="39" y="0"/>
                        </a:cxn>
                        <a:cxn ang="0">
                          <a:pos x="40" y="10"/>
                        </a:cxn>
                        <a:cxn ang="0">
                          <a:pos x="57" y="16"/>
                        </a:cxn>
                        <a:cxn ang="0">
                          <a:pos x="42" y="20"/>
                        </a:cxn>
                        <a:cxn ang="0">
                          <a:pos x="39" y="34"/>
                        </a:cxn>
                        <a:cxn ang="0">
                          <a:pos x="30" y="25"/>
                        </a:cxn>
                        <a:cxn ang="0">
                          <a:pos x="23" y="39"/>
                        </a:cxn>
                        <a:cxn ang="0">
                          <a:pos x="13" y="31"/>
                        </a:cxn>
                        <a:cxn ang="0">
                          <a:pos x="18" y="23"/>
                        </a:cxn>
                        <a:cxn ang="0">
                          <a:pos x="0" y="22"/>
                        </a:cxn>
                        <a:cxn ang="0">
                          <a:pos x="10" y="17"/>
                        </a:cxn>
                        <a:cxn ang="0">
                          <a:pos x="6" y="9"/>
                        </a:cxn>
                        <a:cxn ang="0">
                          <a:pos x="24" y="12"/>
                        </a:cxn>
                        <a:cxn ang="0">
                          <a:pos x="30" y="2"/>
                        </a:cxn>
                        <a:cxn ang="0">
                          <a:pos x="39" y="0"/>
                        </a:cxn>
                      </a:cxnLst>
                      <a:pathLst>
                        <a:path w="227" h="157">
                          <a:moveTo>
                            <a:pt x="156" y="0"/>
                          </a:moveTo>
                          <a:lnTo>
                            <a:pt x="159" y="41"/>
                          </a:lnTo>
                          <a:lnTo>
                            <a:pt x="227" y="65"/>
                          </a:lnTo>
                          <a:lnTo>
                            <a:pt x="165" y="83"/>
                          </a:lnTo>
                          <a:lnTo>
                            <a:pt x="154" y="136"/>
                          </a:lnTo>
                          <a:lnTo>
                            <a:pt x="120" y="101"/>
                          </a:lnTo>
                          <a:lnTo>
                            <a:pt x="89" y="157"/>
                          </a:lnTo>
                          <a:lnTo>
                            <a:pt x="50" y="127"/>
                          </a:lnTo>
                          <a:lnTo>
                            <a:pt x="71" y="94"/>
                          </a:lnTo>
                          <a:lnTo>
                            <a:pt x="0" y="91"/>
                          </a:lnTo>
                          <a:lnTo>
                            <a:pt x="39" y="69"/>
                          </a:lnTo>
                          <a:lnTo>
                            <a:pt x="21" y="36"/>
                          </a:lnTo>
                          <a:lnTo>
                            <a:pt x="95" y="51"/>
                          </a:lnTo>
                          <a:lnTo>
                            <a:pt x="120" y="11"/>
                          </a:lnTo>
                          <a:lnTo>
                            <a:pt x="156" y="0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2" name="Freeform 589"/>
                    <p:cNvSpPr/>
                    <p:nvPr/>
                  </p:nvSpPr>
                  <p:spPr>
                    <a:xfrm>
                      <a:off x="3260" y="1934"/>
                      <a:ext cx="42" cy="6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3" y="20"/>
                        </a:cxn>
                        <a:cxn ang="0">
                          <a:pos x="10" y="18"/>
                        </a:cxn>
                        <a:cxn ang="0">
                          <a:pos x="14" y="34"/>
                        </a:cxn>
                        <a:cxn ang="0">
                          <a:pos x="17" y="18"/>
                        </a:cxn>
                        <a:cxn ang="0">
                          <a:pos x="21" y="17"/>
                        </a:cxn>
                        <a:cxn ang="0">
                          <a:pos x="18" y="0"/>
                        </a:cxn>
                        <a:cxn ang="0">
                          <a:pos x="13" y="6"/>
                        </a:cxn>
                        <a:cxn ang="0">
                          <a:pos x="12" y="0"/>
                        </a:cxn>
                        <a:cxn ang="0">
                          <a:pos x="0" y="6"/>
                        </a:cxn>
                      </a:cxnLst>
                      <a:pathLst>
                        <a:path w="83" h="136">
                          <a:moveTo>
                            <a:pt x="0" y="21"/>
                          </a:moveTo>
                          <a:lnTo>
                            <a:pt x="12" y="78"/>
                          </a:lnTo>
                          <a:lnTo>
                            <a:pt x="39" y="70"/>
                          </a:lnTo>
                          <a:lnTo>
                            <a:pt x="54" y="136"/>
                          </a:lnTo>
                          <a:lnTo>
                            <a:pt x="67" y="70"/>
                          </a:lnTo>
                          <a:lnTo>
                            <a:pt x="83" y="65"/>
                          </a:lnTo>
                          <a:lnTo>
                            <a:pt x="72" y="0"/>
                          </a:lnTo>
                          <a:lnTo>
                            <a:pt x="50" y="23"/>
                          </a:lnTo>
                          <a:lnTo>
                            <a:pt x="45" y="0"/>
                          </a:lnTo>
                          <a:lnTo>
                            <a:pt x="0" y="21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3" name="Freeform 590"/>
                    <p:cNvSpPr/>
                    <p:nvPr/>
                  </p:nvSpPr>
                  <p:spPr>
                    <a:xfrm>
                      <a:off x="2865" y="1875"/>
                      <a:ext cx="84" cy="82"/>
                    </a:xfrm>
                    <a:custGeom>
                      <a:avLst/>
                      <a:gdLst/>
                      <a:ahLst/>
                      <a:cxnLst>
                        <a:cxn ang="0">
                          <a:pos x="10" y="42"/>
                        </a:cxn>
                        <a:cxn ang="0">
                          <a:pos x="42" y="33"/>
                        </a:cxn>
                        <a:cxn ang="0">
                          <a:pos x="35" y="0"/>
                        </a:cxn>
                        <a:cxn ang="0">
                          <a:pos x="0" y="11"/>
                        </a:cxn>
                        <a:cxn ang="0">
                          <a:pos x="10" y="42"/>
                        </a:cxn>
                      </a:cxnLst>
                      <a:pathLst>
                        <a:path w="167" h="162">
                          <a:moveTo>
                            <a:pt x="38" y="162"/>
                          </a:moveTo>
                          <a:lnTo>
                            <a:pt x="167" y="129"/>
                          </a:lnTo>
                          <a:lnTo>
                            <a:pt x="137" y="0"/>
                          </a:lnTo>
                          <a:lnTo>
                            <a:pt x="0" y="41"/>
                          </a:lnTo>
                          <a:lnTo>
                            <a:pt x="38" y="162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4" name="Freeform 591"/>
                    <p:cNvSpPr/>
                    <p:nvPr/>
                  </p:nvSpPr>
                  <p:spPr>
                    <a:xfrm>
                      <a:off x="2861" y="2067"/>
                      <a:ext cx="206" cy="99"/>
                    </a:xfrm>
                    <a:custGeom>
                      <a:avLst/>
                      <a:gdLst/>
                      <a:ahLst/>
                      <a:cxnLst>
                        <a:cxn ang="0">
                          <a:pos x="7" y="50"/>
                        </a:cxn>
                        <a:cxn ang="0">
                          <a:pos x="18" y="30"/>
                        </a:cxn>
                        <a:cxn ang="0">
                          <a:pos x="31" y="21"/>
                        </a:cxn>
                        <a:cxn ang="0">
                          <a:pos x="67" y="11"/>
                        </a:cxn>
                        <a:cxn ang="0">
                          <a:pos x="81" y="16"/>
                        </a:cxn>
                        <a:cxn ang="0">
                          <a:pos x="100" y="31"/>
                        </a:cxn>
                        <a:cxn ang="0">
                          <a:pos x="103" y="15"/>
                        </a:cxn>
                        <a:cxn ang="0">
                          <a:pos x="71" y="0"/>
                        </a:cxn>
                        <a:cxn ang="0">
                          <a:pos x="26" y="13"/>
                        </a:cxn>
                        <a:cxn ang="0">
                          <a:pos x="8" y="25"/>
                        </a:cxn>
                        <a:cxn ang="0">
                          <a:pos x="0" y="45"/>
                        </a:cxn>
                        <a:cxn ang="0">
                          <a:pos x="7" y="50"/>
                        </a:cxn>
                      </a:cxnLst>
                      <a:pathLst>
                        <a:path w="413" h="198">
                          <a:moveTo>
                            <a:pt x="28" y="198"/>
                          </a:moveTo>
                          <a:lnTo>
                            <a:pt x="74" y="119"/>
                          </a:lnTo>
                          <a:lnTo>
                            <a:pt x="124" y="81"/>
                          </a:lnTo>
                          <a:lnTo>
                            <a:pt x="269" y="41"/>
                          </a:lnTo>
                          <a:lnTo>
                            <a:pt x="325" y="63"/>
                          </a:lnTo>
                          <a:lnTo>
                            <a:pt x="400" y="121"/>
                          </a:lnTo>
                          <a:lnTo>
                            <a:pt x="413" y="60"/>
                          </a:lnTo>
                          <a:lnTo>
                            <a:pt x="285" y="0"/>
                          </a:lnTo>
                          <a:lnTo>
                            <a:pt x="104" y="50"/>
                          </a:lnTo>
                          <a:lnTo>
                            <a:pt x="34" y="97"/>
                          </a:lnTo>
                          <a:lnTo>
                            <a:pt x="0" y="179"/>
                          </a:lnTo>
                          <a:lnTo>
                            <a:pt x="28" y="198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5" name="Freeform 592"/>
                    <p:cNvSpPr/>
                    <p:nvPr/>
                  </p:nvSpPr>
                  <p:spPr>
                    <a:xfrm>
                      <a:off x="3046" y="2046"/>
                      <a:ext cx="79" cy="24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0"/>
                        </a:cxn>
                        <a:cxn ang="0">
                          <a:pos x="17" y="123"/>
                        </a:cxn>
                        <a:cxn ang="0">
                          <a:pos x="37" y="79"/>
                        </a:cxn>
                        <a:cxn ang="0">
                          <a:pos x="40" y="48"/>
                        </a:cxn>
                        <a:cxn ang="0">
                          <a:pos x="27" y="0"/>
                        </a:cxn>
                        <a:cxn ang="0">
                          <a:pos x="11" y="27"/>
                        </a:cxn>
                        <a:cxn ang="0">
                          <a:pos x="9" y="42"/>
                        </a:cxn>
                        <a:cxn ang="0">
                          <a:pos x="0" y="60"/>
                        </a:cxn>
                      </a:cxnLst>
                      <a:pathLst>
                        <a:path w="157" h="490">
                          <a:moveTo>
                            <a:pt x="0" y="237"/>
                          </a:moveTo>
                          <a:lnTo>
                            <a:pt x="68" y="490"/>
                          </a:lnTo>
                          <a:lnTo>
                            <a:pt x="146" y="315"/>
                          </a:lnTo>
                          <a:lnTo>
                            <a:pt x="157" y="189"/>
                          </a:lnTo>
                          <a:lnTo>
                            <a:pt x="108" y="0"/>
                          </a:lnTo>
                          <a:lnTo>
                            <a:pt x="44" y="106"/>
                          </a:lnTo>
                          <a:lnTo>
                            <a:pt x="34" y="166"/>
                          </a:lnTo>
                          <a:lnTo>
                            <a:pt x="0" y="237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6" name="Freeform 593"/>
                    <p:cNvSpPr/>
                    <p:nvPr/>
                  </p:nvSpPr>
                  <p:spPr>
                    <a:xfrm>
                      <a:off x="2706" y="1886"/>
                      <a:ext cx="72" cy="123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5"/>
                        </a:cxn>
                        <a:cxn ang="0">
                          <a:pos x="36" y="0"/>
                        </a:cxn>
                        <a:cxn ang="0">
                          <a:pos x="12" y="62"/>
                        </a:cxn>
                        <a:cxn ang="0">
                          <a:pos x="0" y="56"/>
                        </a:cxn>
                        <a:cxn ang="0">
                          <a:pos x="20" y="5"/>
                        </a:cxn>
                      </a:cxnLst>
                      <a:pathLst>
                        <a:path w="144" h="245">
                          <a:moveTo>
                            <a:pt x="77" y="18"/>
                          </a:moveTo>
                          <a:lnTo>
                            <a:pt x="144" y="0"/>
                          </a:lnTo>
                          <a:lnTo>
                            <a:pt x="46" y="245"/>
                          </a:lnTo>
                          <a:lnTo>
                            <a:pt x="0" y="223"/>
                          </a:lnTo>
                          <a:lnTo>
                            <a:pt x="77" y="18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7" name="Freeform 594"/>
                    <p:cNvSpPr/>
                    <p:nvPr/>
                  </p:nvSpPr>
                  <p:spPr>
                    <a:xfrm>
                      <a:off x="2681" y="2079"/>
                      <a:ext cx="53" cy="4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27" y="13"/>
                        </a:cxn>
                        <a:cxn ang="0">
                          <a:pos x="22" y="22"/>
                        </a:cxn>
                        <a:cxn ang="0">
                          <a:pos x="4" y="14"/>
                        </a:cxn>
                        <a:cxn ang="0">
                          <a:pos x="0" y="0"/>
                        </a:cxn>
                      </a:cxnLst>
                      <a:pathLst>
                        <a:path w="105" h="88">
                          <a:moveTo>
                            <a:pt x="0" y="0"/>
                          </a:moveTo>
                          <a:lnTo>
                            <a:pt x="105" y="52"/>
                          </a:lnTo>
                          <a:lnTo>
                            <a:pt x="88" y="88"/>
                          </a:lnTo>
                          <a:lnTo>
                            <a:pt x="16" y="5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8" name="Freeform 595"/>
                    <p:cNvSpPr/>
                    <p:nvPr/>
                  </p:nvSpPr>
                  <p:spPr>
                    <a:xfrm>
                      <a:off x="2800" y="2105"/>
                      <a:ext cx="45" cy="50"/>
                    </a:xfrm>
                    <a:custGeom>
                      <a:avLst/>
                      <a:gdLst/>
                      <a:ahLst/>
                      <a:cxnLst>
                        <a:cxn ang="0">
                          <a:pos x="8" y="25"/>
                        </a:cxn>
                        <a:cxn ang="0">
                          <a:pos x="0" y="16"/>
                        </a:cxn>
                        <a:cxn ang="0">
                          <a:pos x="2" y="3"/>
                        </a:cxn>
                        <a:cxn ang="0">
                          <a:pos x="13" y="0"/>
                        </a:cxn>
                        <a:cxn ang="0">
                          <a:pos x="22" y="10"/>
                        </a:cxn>
                        <a:cxn ang="0">
                          <a:pos x="20" y="23"/>
                        </a:cxn>
                        <a:cxn ang="0">
                          <a:pos x="8" y="25"/>
                        </a:cxn>
                      </a:cxnLst>
                      <a:pathLst>
                        <a:path w="91" h="100">
                          <a:moveTo>
                            <a:pt x="33" y="100"/>
                          </a:moveTo>
                          <a:lnTo>
                            <a:pt x="0" y="63"/>
                          </a:lnTo>
                          <a:lnTo>
                            <a:pt x="11" y="12"/>
                          </a:lnTo>
                          <a:lnTo>
                            <a:pt x="54" y="0"/>
                          </a:lnTo>
                          <a:lnTo>
                            <a:pt x="91" y="37"/>
                          </a:lnTo>
                          <a:lnTo>
                            <a:pt x="81" y="89"/>
                          </a:lnTo>
                          <a:lnTo>
                            <a:pt x="33" y="10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09" name="Freeform 596"/>
                    <p:cNvSpPr/>
                    <p:nvPr/>
                  </p:nvSpPr>
                  <p:spPr>
                    <a:xfrm>
                      <a:off x="2845" y="2050"/>
                      <a:ext cx="52" cy="51"/>
                    </a:xfrm>
                    <a:custGeom>
                      <a:avLst/>
                      <a:gdLst/>
                      <a:ahLst/>
                      <a:cxnLst>
                        <a:cxn ang="0">
                          <a:pos x="9" y="25"/>
                        </a:cxn>
                        <a:cxn ang="0">
                          <a:pos x="0" y="16"/>
                        </a:cxn>
                        <a:cxn ang="0">
                          <a:pos x="5" y="2"/>
                        </a:cxn>
                        <a:cxn ang="0">
                          <a:pos x="18" y="0"/>
                        </a:cxn>
                        <a:cxn ang="0">
                          <a:pos x="26" y="9"/>
                        </a:cxn>
                        <a:cxn ang="0">
                          <a:pos x="23" y="22"/>
                        </a:cxn>
                        <a:cxn ang="0">
                          <a:pos x="9" y="25"/>
                        </a:cxn>
                      </a:cxnLst>
                      <a:pathLst>
                        <a:path w="103" h="103">
                          <a:moveTo>
                            <a:pt x="36" y="103"/>
                          </a:moveTo>
                          <a:lnTo>
                            <a:pt x="0" y="66"/>
                          </a:lnTo>
                          <a:lnTo>
                            <a:pt x="19" y="11"/>
                          </a:lnTo>
                          <a:lnTo>
                            <a:pt x="69" y="0"/>
                          </a:lnTo>
                          <a:lnTo>
                            <a:pt x="103" y="38"/>
                          </a:lnTo>
                          <a:lnTo>
                            <a:pt x="89" y="91"/>
                          </a:lnTo>
                          <a:lnTo>
                            <a:pt x="36" y="103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10" name="Freeform 597"/>
                    <p:cNvSpPr/>
                    <p:nvPr/>
                  </p:nvSpPr>
                  <p:spPr>
                    <a:xfrm>
                      <a:off x="2911" y="2014"/>
                      <a:ext cx="52" cy="58"/>
                    </a:xfrm>
                    <a:custGeom>
                      <a:avLst/>
                      <a:gdLst/>
                      <a:ahLst/>
                      <a:cxnLst>
                        <a:cxn ang="0">
                          <a:pos x="10" y="29"/>
                        </a:cxn>
                        <a:cxn ang="0">
                          <a:pos x="0" y="18"/>
                        </a:cxn>
                        <a:cxn ang="0">
                          <a:pos x="3" y="4"/>
                        </a:cxn>
                        <a:cxn ang="0">
                          <a:pos x="17" y="0"/>
                        </a:cxn>
                        <a:cxn ang="0">
                          <a:pos x="26" y="11"/>
                        </a:cxn>
                        <a:cxn ang="0">
                          <a:pos x="23" y="26"/>
                        </a:cxn>
                        <a:cxn ang="0">
                          <a:pos x="10" y="29"/>
                        </a:cxn>
                      </a:cxnLst>
                      <a:pathLst>
                        <a:path w="105" h="115">
                          <a:moveTo>
                            <a:pt x="42" y="115"/>
                          </a:moveTo>
                          <a:lnTo>
                            <a:pt x="0" y="70"/>
                          </a:lnTo>
                          <a:lnTo>
                            <a:pt x="13" y="16"/>
                          </a:lnTo>
                          <a:lnTo>
                            <a:pt x="68" y="0"/>
                          </a:lnTo>
                          <a:lnTo>
                            <a:pt x="105" y="43"/>
                          </a:lnTo>
                          <a:lnTo>
                            <a:pt x="94" y="102"/>
                          </a:lnTo>
                          <a:lnTo>
                            <a:pt x="42" y="11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11" name="Freeform 598"/>
                    <p:cNvSpPr/>
                    <p:nvPr/>
                  </p:nvSpPr>
                  <p:spPr>
                    <a:xfrm>
                      <a:off x="2980" y="2009"/>
                      <a:ext cx="47" cy="47"/>
                    </a:xfrm>
                    <a:custGeom>
                      <a:avLst/>
                      <a:gdLst/>
                      <a:ahLst/>
                      <a:cxnLst>
                        <a:cxn ang="0">
                          <a:pos x="9" y="23"/>
                        </a:cxn>
                        <a:cxn ang="0">
                          <a:pos x="0" y="14"/>
                        </a:cxn>
                        <a:cxn ang="0">
                          <a:pos x="3" y="2"/>
                        </a:cxn>
                        <a:cxn ang="0">
                          <a:pos x="15" y="0"/>
                        </a:cxn>
                        <a:cxn ang="0">
                          <a:pos x="24" y="8"/>
                        </a:cxn>
                        <a:cxn ang="0">
                          <a:pos x="20" y="21"/>
                        </a:cxn>
                        <a:cxn ang="0">
                          <a:pos x="9" y="23"/>
                        </a:cxn>
                      </a:cxnLst>
                      <a:pathLst>
                        <a:path w="92" h="95">
                          <a:moveTo>
                            <a:pt x="36" y="95"/>
                          </a:moveTo>
                          <a:lnTo>
                            <a:pt x="0" y="57"/>
                          </a:lnTo>
                          <a:lnTo>
                            <a:pt x="12" y="9"/>
                          </a:lnTo>
                          <a:lnTo>
                            <a:pt x="57" y="0"/>
                          </a:lnTo>
                          <a:lnTo>
                            <a:pt x="92" y="33"/>
                          </a:lnTo>
                          <a:lnTo>
                            <a:pt x="79" y="86"/>
                          </a:lnTo>
                          <a:lnTo>
                            <a:pt x="36" y="9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12" name="Freeform 599"/>
                    <p:cNvSpPr/>
                    <p:nvPr/>
                  </p:nvSpPr>
                  <p:spPr>
                    <a:xfrm>
                      <a:off x="3039" y="2029"/>
                      <a:ext cx="36" cy="47"/>
                    </a:xfrm>
                    <a:custGeom>
                      <a:avLst/>
                      <a:gdLst/>
                      <a:ahLst/>
                      <a:cxnLst>
                        <a:cxn ang="0">
                          <a:pos x="8" y="23"/>
                        </a:cxn>
                        <a:cxn ang="0">
                          <a:pos x="0" y="14"/>
                        </a:cxn>
                        <a:cxn ang="0">
                          <a:pos x="2" y="3"/>
                        </a:cxn>
                        <a:cxn ang="0">
                          <a:pos x="11" y="0"/>
                        </a:cxn>
                        <a:cxn ang="0">
                          <a:pos x="18" y="9"/>
                        </a:cxn>
                        <a:cxn ang="0">
                          <a:pos x="17" y="21"/>
                        </a:cxn>
                        <a:cxn ang="0">
                          <a:pos x="8" y="23"/>
                        </a:cxn>
                      </a:cxnLst>
                      <a:pathLst>
                        <a:path w="72" h="95">
                          <a:moveTo>
                            <a:pt x="30" y="95"/>
                          </a:moveTo>
                          <a:lnTo>
                            <a:pt x="0" y="57"/>
                          </a:lnTo>
                          <a:lnTo>
                            <a:pt x="8" y="12"/>
                          </a:lnTo>
                          <a:lnTo>
                            <a:pt x="41" y="0"/>
                          </a:lnTo>
                          <a:lnTo>
                            <a:pt x="72" y="36"/>
                          </a:lnTo>
                          <a:lnTo>
                            <a:pt x="66" y="84"/>
                          </a:lnTo>
                          <a:lnTo>
                            <a:pt x="30" y="9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13" name="Freeform 600"/>
                    <p:cNvSpPr/>
                    <p:nvPr/>
                  </p:nvSpPr>
                  <p:spPr>
                    <a:xfrm>
                      <a:off x="2947" y="2191"/>
                      <a:ext cx="44" cy="6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2"/>
                        </a:cxn>
                        <a:cxn ang="0">
                          <a:pos x="22" y="27"/>
                        </a:cxn>
                        <a:cxn ang="0">
                          <a:pos x="14" y="0"/>
                        </a:cxn>
                      </a:cxnLst>
                      <a:pathLst>
                        <a:path w="88" h="125">
                          <a:moveTo>
                            <a:pt x="0" y="125"/>
                          </a:moveTo>
                          <a:lnTo>
                            <a:pt x="88" y="107"/>
                          </a:lnTo>
                          <a:lnTo>
                            <a:pt x="55" y="0"/>
                          </a:lnTo>
                        </a:path>
                      </a:pathLst>
                    </a:custGeom>
                    <a:noFill/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14" name="Line 601"/>
                    <p:cNvSpPr/>
                    <p:nvPr/>
                  </p:nvSpPr>
                  <p:spPr>
                    <a:xfrm flipH="1">
                      <a:off x="3015" y="2244"/>
                      <a:ext cx="44" cy="11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7315" name="Line 602"/>
                    <p:cNvSpPr/>
                    <p:nvPr/>
                  </p:nvSpPr>
                  <p:spPr>
                    <a:xfrm flipH="1">
                      <a:off x="2944" y="2263"/>
                      <a:ext cx="40" cy="11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7316" name="Line 603"/>
                    <p:cNvSpPr/>
                    <p:nvPr/>
                  </p:nvSpPr>
                  <p:spPr>
                    <a:xfrm flipH="1">
                      <a:off x="3022" y="2228"/>
                      <a:ext cx="32" cy="7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7317" name="Freeform 604"/>
                    <p:cNvSpPr/>
                    <p:nvPr/>
                  </p:nvSpPr>
                  <p:spPr>
                    <a:xfrm>
                      <a:off x="2962" y="2186"/>
                      <a:ext cx="29" cy="7"/>
                    </a:xfrm>
                    <a:custGeom>
                      <a:avLst/>
                      <a:gdLst/>
                      <a:ahLst/>
                      <a:cxnLst>
                        <a:cxn ang="0">
                          <a:pos x="14" y="0"/>
                        </a:cxn>
                        <a:cxn ang="0">
                          <a:pos x="0" y="3"/>
                        </a:cxn>
                      </a:cxnLst>
                      <a:pathLst>
                        <a:path w="59" h="15">
                          <a:moveTo>
                            <a:pt x="59" y="0"/>
                          </a:moveTo>
                          <a:lnTo>
                            <a:pt x="0" y="15"/>
                          </a:lnTo>
                        </a:path>
                      </a:pathLst>
                    </a:custGeom>
                    <a:noFill/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18" name="Line 605"/>
                    <p:cNvSpPr/>
                    <p:nvPr/>
                  </p:nvSpPr>
                  <p:spPr>
                    <a:xfrm flipH="1" flipV="1">
                      <a:off x="2964" y="2145"/>
                      <a:ext cx="5" cy="17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7319" name="Freeform 606"/>
                    <p:cNvSpPr/>
                    <p:nvPr/>
                  </p:nvSpPr>
                  <p:spPr>
                    <a:xfrm>
                      <a:off x="3072" y="1782"/>
                      <a:ext cx="98" cy="6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3"/>
                        </a:cxn>
                        <a:cxn ang="0">
                          <a:pos x="30" y="34"/>
                        </a:cxn>
                        <a:cxn ang="0">
                          <a:pos x="49" y="0"/>
                        </a:cxn>
                        <a:cxn ang="0">
                          <a:pos x="0" y="13"/>
                        </a:cxn>
                      </a:cxnLst>
                      <a:pathLst>
                        <a:path w="195" h="134">
                          <a:moveTo>
                            <a:pt x="0" y="51"/>
                          </a:moveTo>
                          <a:lnTo>
                            <a:pt x="118" y="134"/>
                          </a:lnTo>
                          <a:lnTo>
                            <a:pt x="195" y="0"/>
                          </a:lnTo>
                          <a:lnTo>
                            <a:pt x="0" y="51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0" name="Freeform 607"/>
                    <p:cNvSpPr/>
                    <p:nvPr/>
                  </p:nvSpPr>
                  <p:spPr>
                    <a:xfrm>
                      <a:off x="2770" y="2230"/>
                      <a:ext cx="139" cy="165"/>
                    </a:xfrm>
                    <a:custGeom>
                      <a:avLst/>
                      <a:gdLst/>
                      <a:ahLst/>
                      <a:cxnLst>
                        <a:cxn ang="0">
                          <a:pos x="69" y="79"/>
                        </a:cxn>
                        <a:cxn ang="0">
                          <a:pos x="62" y="46"/>
                        </a:cxn>
                        <a:cxn ang="0">
                          <a:pos x="37" y="20"/>
                        </a:cxn>
                        <a:cxn ang="0">
                          <a:pos x="5" y="0"/>
                        </a:cxn>
                        <a:cxn ang="0">
                          <a:pos x="0" y="7"/>
                        </a:cxn>
                        <a:cxn ang="0">
                          <a:pos x="29" y="26"/>
                        </a:cxn>
                        <a:cxn ang="0">
                          <a:pos x="50" y="49"/>
                        </a:cxn>
                        <a:cxn ang="0">
                          <a:pos x="57" y="82"/>
                        </a:cxn>
                        <a:cxn ang="0">
                          <a:pos x="69" y="79"/>
                        </a:cxn>
                      </a:cxnLst>
                      <a:pathLst>
                        <a:path w="280" h="331">
                          <a:moveTo>
                            <a:pt x="280" y="317"/>
                          </a:moveTo>
                          <a:lnTo>
                            <a:pt x="251" y="186"/>
                          </a:lnTo>
                          <a:lnTo>
                            <a:pt x="151" y="83"/>
                          </a:lnTo>
                          <a:lnTo>
                            <a:pt x="20" y="0"/>
                          </a:lnTo>
                          <a:lnTo>
                            <a:pt x="0" y="28"/>
                          </a:lnTo>
                          <a:lnTo>
                            <a:pt x="119" y="105"/>
                          </a:lnTo>
                          <a:lnTo>
                            <a:pt x="201" y="198"/>
                          </a:lnTo>
                          <a:lnTo>
                            <a:pt x="230" y="331"/>
                          </a:lnTo>
                          <a:lnTo>
                            <a:pt x="280" y="317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100000"/>
                      </a:srgbClr>
                    </a:solidFill>
                    <a:ln w="7938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321" name="Line 608"/>
                    <p:cNvSpPr/>
                    <p:nvPr/>
                  </p:nvSpPr>
                  <p:spPr>
                    <a:xfrm flipH="1">
                      <a:off x="2953" y="2158"/>
                      <a:ext cx="40" cy="10"/>
                    </a:xfrm>
                    <a:prstGeom prst="line">
                      <a:avLst/>
                    </a:prstGeom>
                    <a:ln w="7938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</p:grpSp>
        <p:grpSp>
          <p:nvGrpSpPr>
            <p:cNvPr id="7183" name="Group 609"/>
            <p:cNvGrpSpPr/>
            <p:nvPr/>
          </p:nvGrpSpPr>
          <p:grpSpPr>
            <a:xfrm>
              <a:off x="4032" y="2304"/>
              <a:ext cx="1224" cy="1715"/>
              <a:chOff x="4329" y="816"/>
              <a:chExt cx="1224" cy="1715"/>
            </a:xfrm>
          </p:grpSpPr>
          <p:grpSp>
            <p:nvGrpSpPr>
              <p:cNvPr id="7184" name="Group 610"/>
              <p:cNvGrpSpPr/>
              <p:nvPr/>
            </p:nvGrpSpPr>
            <p:grpSpPr>
              <a:xfrm rot="1802955">
                <a:off x="4329" y="816"/>
                <a:ext cx="1207" cy="1640"/>
                <a:chOff x="2585" y="981"/>
                <a:chExt cx="1207" cy="1640"/>
              </a:xfrm>
            </p:grpSpPr>
            <p:sp>
              <p:nvSpPr>
                <p:cNvPr id="7197" name="Freeform 611"/>
                <p:cNvSpPr/>
                <p:nvPr/>
              </p:nvSpPr>
              <p:spPr>
                <a:xfrm>
                  <a:off x="2585" y="981"/>
                  <a:ext cx="1207" cy="1640"/>
                </a:xfrm>
                <a:custGeom>
                  <a:avLst/>
                  <a:gdLst/>
                  <a:ahLst/>
                  <a:cxnLst>
                    <a:cxn ang="0">
                      <a:pos x="10" y="79"/>
                    </a:cxn>
                    <a:cxn ang="0">
                      <a:pos x="22" y="67"/>
                    </a:cxn>
                    <a:cxn ang="0">
                      <a:pos x="37" y="62"/>
                    </a:cxn>
                    <a:cxn ang="0">
                      <a:pos x="461" y="0"/>
                    </a:cxn>
                    <a:cxn ang="0">
                      <a:pos x="478" y="9"/>
                    </a:cxn>
                    <a:cxn ang="0">
                      <a:pos x="491" y="19"/>
                    </a:cxn>
                    <a:cxn ang="0">
                      <a:pos x="499" y="43"/>
                    </a:cxn>
                    <a:cxn ang="0">
                      <a:pos x="603" y="724"/>
                    </a:cxn>
                    <a:cxn ang="0">
                      <a:pos x="603" y="740"/>
                    </a:cxn>
                    <a:cxn ang="0">
                      <a:pos x="596" y="755"/>
                    </a:cxn>
                    <a:cxn ang="0">
                      <a:pos x="579" y="762"/>
                    </a:cxn>
                    <a:cxn ang="0">
                      <a:pos x="559" y="768"/>
                    </a:cxn>
                    <a:cxn ang="0">
                      <a:pos x="162" y="820"/>
                    </a:cxn>
                    <a:cxn ang="0">
                      <a:pos x="136" y="820"/>
                    </a:cxn>
                    <a:cxn ang="0">
                      <a:pos x="114" y="809"/>
                    </a:cxn>
                    <a:cxn ang="0">
                      <a:pos x="107" y="787"/>
                    </a:cxn>
                    <a:cxn ang="0">
                      <a:pos x="0" y="105"/>
                    </a:cxn>
                    <a:cxn ang="0">
                      <a:pos x="2" y="90"/>
                    </a:cxn>
                    <a:cxn ang="0">
                      <a:pos x="10" y="79"/>
                    </a:cxn>
                  </a:cxnLst>
                  <a:pathLst>
                    <a:path w="2416" h="3279">
                      <a:moveTo>
                        <a:pt x="41" y="316"/>
                      </a:moveTo>
                      <a:lnTo>
                        <a:pt x="88" y="266"/>
                      </a:lnTo>
                      <a:lnTo>
                        <a:pt x="150" y="245"/>
                      </a:lnTo>
                      <a:lnTo>
                        <a:pt x="1848" y="0"/>
                      </a:lnTo>
                      <a:lnTo>
                        <a:pt x="1914" y="33"/>
                      </a:lnTo>
                      <a:lnTo>
                        <a:pt x="1967" y="75"/>
                      </a:lnTo>
                      <a:lnTo>
                        <a:pt x="1997" y="169"/>
                      </a:lnTo>
                      <a:lnTo>
                        <a:pt x="2416" y="2894"/>
                      </a:lnTo>
                      <a:lnTo>
                        <a:pt x="2416" y="2960"/>
                      </a:lnTo>
                      <a:lnTo>
                        <a:pt x="2387" y="3017"/>
                      </a:lnTo>
                      <a:lnTo>
                        <a:pt x="2317" y="3048"/>
                      </a:lnTo>
                      <a:lnTo>
                        <a:pt x="2240" y="3070"/>
                      </a:lnTo>
                      <a:lnTo>
                        <a:pt x="648" y="3278"/>
                      </a:lnTo>
                      <a:lnTo>
                        <a:pt x="547" y="3279"/>
                      </a:lnTo>
                      <a:lnTo>
                        <a:pt x="457" y="3234"/>
                      </a:lnTo>
                      <a:lnTo>
                        <a:pt x="430" y="3146"/>
                      </a:lnTo>
                      <a:lnTo>
                        <a:pt x="0" y="420"/>
                      </a:lnTo>
                      <a:lnTo>
                        <a:pt x="10" y="359"/>
                      </a:lnTo>
                      <a:lnTo>
                        <a:pt x="41" y="316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317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198" name="Group 612"/>
                <p:cNvGrpSpPr/>
                <p:nvPr/>
              </p:nvGrpSpPr>
              <p:grpSpPr>
                <a:xfrm>
                  <a:off x="2643" y="1154"/>
                  <a:ext cx="1111" cy="1316"/>
                  <a:chOff x="2643" y="1154"/>
                  <a:chExt cx="1111" cy="1316"/>
                </a:xfrm>
              </p:grpSpPr>
              <p:sp>
                <p:nvSpPr>
                  <p:cNvPr id="7199" name="Freeform 613"/>
                  <p:cNvSpPr/>
                  <p:nvPr/>
                </p:nvSpPr>
                <p:spPr>
                  <a:xfrm>
                    <a:off x="2643" y="1154"/>
                    <a:ext cx="107" cy="151"/>
                  </a:xfrm>
                  <a:custGeom>
                    <a:avLst/>
                    <a:gdLst/>
                    <a:ahLst/>
                    <a:cxnLst>
                      <a:cxn ang="0">
                        <a:pos x="13" y="3"/>
                      </a:cxn>
                      <a:cxn ang="0">
                        <a:pos x="0" y="5"/>
                      </a:cxn>
                      <a:cxn ang="0">
                        <a:pos x="7" y="75"/>
                      </a:cxn>
                      <a:cxn ang="0">
                        <a:pos x="22" y="71"/>
                      </a:cxn>
                      <a:cxn ang="0">
                        <a:pos x="19" y="46"/>
                      </a:cxn>
                      <a:cxn ang="0">
                        <a:pos x="34" y="67"/>
                      </a:cxn>
                      <a:cxn ang="0">
                        <a:pos x="53" y="65"/>
                      </a:cxn>
                      <a:cxn ang="0">
                        <a:pos x="31" y="35"/>
                      </a:cxn>
                      <a:cxn ang="0">
                        <a:pos x="42" y="0"/>
                      </a:cxn>
                      <a:cxn ang="0">
                        <a:pos x="25" y="2"/>
                      </a:cxn>
                      <a:cxn ang="0">
                        <a:pos x="18" y="30"/>
                      </a:cxn>
                      <a:cxn ang="0">
                        <a:pos x="13" y="3"/>
                      </a:cxn>
                    </a:cxnLst>
                    <a:pathLst>
                      <a:path w="215" h="303">
                        <a:moveTo>
                          <a:pt x="53" y="15"/>
                        </a:moveTo>
                        <a:lnTo>
                          <a:pt x="0" y="20"/>
                        </a:lnTo>
                        <a:lnTo>
                          <a:pt x="30" y="303"/>
                        </a:lnTo>
                        <a:lnTo>
                          <a:pt x="91" y="286"/>
                        </a:lnTo>
                        <a:lnTo>
                          <a:pt x="78" y="187"/>
                        </a:lnTo>
                        <a:lnTo>
                          <a:pt x="136" y="270"/>
                        </a:lnTo>
                        <a:lnTo>
                          <a:pt x="215" y="260"/>
                        </a:lnTo>
                        <a:lnTo>
                          <a:pt x="125" y="143"/>
                        </a:lnTo>
                        <a:lnTo>
                          <a:pt x="168" y="0"/>
                        </a:lnTo>
                        <a:lnTo>
                          <a:pt x="102" y="8"/>
                        </a:lnTo>
                        <a:lnTo>
                          <a:pt x="72" y="121"/>
                        </a:lnTo>
                        <a:lnTo>
                          <a:pt x="53" y="15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200" name="Freeform 614"/>
                  <p:cNvSpPr/>
                  <p:nvPr/>
                </p:nvSpPr>
                <p:spPr>
                  <a:xfrm>
                    <a:off x="3654" y="2341"/>
                    <a:ext cx="100" cy="129"/>
                  </a:xfrm>
                  <a:custGeom>
                    <a:avLst/>
                    <a:gdLst/>
                    <a:ahLst/>
                    <a:cxnLst>
                      <a:cxn ang="0">
                        <a:pos x="37" y="61"/>
                      </a:cxn>
                      <a:cxn ang="0">
                        <a:pos x="50" y="60"/>
                      </a:cxn>
                      <a:cxn ang="0">
                        <a:pos x="43" y="0"/>
                      </a:cxn>
                      <a:cxn ang="0">
                        <a:pos x="28" y="2"/>
                      </a:cxn>
                      <a:cxn ang="0">
                        <a:pos x="31" y="22"/>
                      </a:cxn>
                      <a:cxn ang="0">
                        <a:pos x="17" y="4"/>
                      </a:cxn>
                      <a:cxn ang="0">
                        <a:pos x="0" y="6"/>
                      </a:cxn>
                      <a:cxn ang="0">
                        <a:pos x="20" y="32"/>
                      </a:cxn>
                      <a:cxn ang="0">
                        <a:pos x="9" y="64"/>
                      </a:cxn>
                      <a:cxn ang="0">
                        <a:pos x="26" y="63"/>
                      </a:cxn>
                      <a:cxn ang="0">
                        <a:pos x="33" y="37"/>
                      </a:cxn>
                      <a:cxn ang="0">
                        <a:pos x="37" y="61"/>
                      </a:cxn>
                    </a:cxnLst>
                    <a:pathLst>
                      <a:path w="200" h="259">
                        <a:moveTo>
                          <a:pt x="148" y="245"/>
                        </a:moveTo>
                        <a:lnTo>
                          <a:pt x="200" y="242"/>
                        </a:lnTo>
                        <a:lnTo>
                          <a:pt x="171" y="0"/>
                        </a:lnTo>
                        <a:lnTo>
                          <a:pt x="111" y="8"/>
                        </a:lnTo>
                        <a:lnTo>
                          <a:pt x="123" y="91"/>
                        </a:lnTo>
                        <a:lnTo>
                          <a:pt x="67" y="16"/>
                        </a:lnTo>
                        <a:lnTo>
                          <a:pt x="0" y="25"/>
                        </a:lnTo>
                        <a:lnTo>
                          <a:pt x="77" y="130"/>
                        </a:lnTo>
                        <a:lnTo>
                          <a:pt x="35" y="259"/>
                        </a:lnTo>
                        <a:lnTo>
                          <a:pt x="101" y="253"/>
                        </a:lnTo>
                        <a:lnTo>
                          <a:pt x="129" y="150"/>
                        </a:lnTo>
                        <a:lnTo>
                          <a:pt x="148" y="245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201" name="Freeform 615"/>
                  <p:cNvSpPr/>
                  <p:nvPr/>
                </p:nvSpPr>
                <p:spPr>
                  <a:xfrm>
                    <a:off x="2659" y="1325"/>
                    <a:ext cx="82" cy="153"/>
                  </a:xfrm>
                  <a:custGeom>
                    <a:avLst/>
                    <a:gdLst/>
                    <a:ahLst/>
                    <a:cxnLst>
                      <a:cxn ang="0">
                        <a:pos x="12" y="0"/>
                      </a:cxn>
                      <a:cxn ang="0">
                        <a:pos x="0" y="47"/>
                      </a:cxn>
                      <a:cxn ang="0">
                        <a:pos x="31" y="77"/>
                      </a:cxn>
                      <a:cxn ang="0">
                        <a:pos x="41" y="33"/>
                      </a:cxn>
                      <a:cxn ang="0">
                        <a:pos x="12" y="0"/>
                      </a:cxn>
                    </a:cxnLst>
                    <a:pathLst>
                      <a:path w="165" h="306">
                        <a:moveTo>
                          <a:pt x="50" y="0"/>
                        </a:moveTo>
                        <a:lnTo>
                          <a:pt x="0" y="186"/>
                        </a:lnTo>
                        <a:lnTo>
                          <a:pt x="125" y="306"/>
                        </a:lnTo>
                        <a:lnTo>
                          <a:pt x="165" y="131"/>
                        </a:lnTo>
                        <a:lnTo>
                          <a:pt x="50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202" name="Freeform 616"/>
                  <p:cNvSpPr/>
                  <p:nvPr/>
                </p:nvSpPr>
                <p:spPr>
                  <a:xfrm>
                    <a:off x="3648" y="2175"/>
                    <a:ext cx="82" cy="153"/>
                  </a:xfrm>
                  <a:custGeom>
                    <a:avLst/>
                    <a:gdLst/>
                    <a:ahLst/>
                    <a:cxnLst>
                      <a:cxn ang="0">
                        <a:pos x="13" y="0"/>
                      </a:cxn>
                      <a:cxn ang="0">
                        <a:pos x="0" y="47"/>
                      </a:cxn>
                      <a:cxn ang="0">
                        <a:pos x="31" y="77"/>
                      </a:cxn>
                      <a:cxn ang="0">
                        <a:pos x="41" y="33"/>
                      </a:cxn>
                      <a:cxn ang="0">
                        <a:pos x="13" y="0"/>
                      </a:cxn>
                    </a:cxnLst>
                    <a:pathLst>
                      <a:path w="164" h="305">
                        <a:moveTo>
                          <a:pt x="50" y="0"/>
                        </a:moveTo>
                        <a:lnTo>
                          <a:pt x="0" y="185"/>
                        </a:lnTo>
                        <a:lnTo>
                          <a:pt x="124" y="305"/>
                        </a:lnTo>
                        <a:lnTo>
                          <a:pt x="164" y="130"/>
                        </a:lnTo>
                        <a:lnTo>
                          <a:pt x="50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grpSp>
                <p:nvGrpSpPr>
                  <p:cNvPr id="7203" name="Group 617"/>
                  <p:cNvGrpSpPr/>
                  <p:nvPr/>
                </p:nvGrpSpPr>
                <p:grpSpPr>
                  <a:xfrm>
                    <a:off x="2757" y="1226"/>
                    <a:ext cx="877" cy="1180"/>
                    <a:chOff x="2757" y="1226"/>
                    <a:chExt cx="877" cy="1180"/>
                  </a:xfrm>
                </p:grpSpPr>
                <p:sp>
                  <p:nvSpPr>
                    <p:cNvPr id="7204" name="Freeform 618"/>
                    <p:cNvSpPr/>
                    <p:nvPr/>
                  </p:nvSpPr>
                  <p:spPr>
                    <a:xfrm>
                      <a:off x="2757" y="1226"/>
                      <a:ext cx="877" cy="11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2"/>
                        </a:cxn>
                        <a:cxn ang="0">
                          <a:pos x="354" y="0"/>
                        </a:cxn>
                        <a:cxn ang="0">
                          <a:pos x="439" y="546"/>
                        </a:cxn>
                        <a:cxn ang="0">
                          <a:pos x="90" y="590"/>
                        </a:cxn>
                        <a:cxn ang="0">
                          <a:pos x="0" y="52"/>
                        </a:cxn>
                      </a:cxnLst>
                      <a:pathLst>
                        <a:path w="1753" h="2359">
                          <a:moveTo>
                            <a:pt x="0" y="208"/>
                          </a:moveTo>
                          <a:lnTo>
                            <a:pt x="1414" y="0"/>
                          </a:lnTo>
                          <a:lnTo>
                            <a:pt x="1753" y="2182"/>
                          </a:lnTo>
                          <a:lnTo>
                            <a:pt x="357" y="2359"/>
                          </a:lnTo>
                          <a:lnTo>
                            <a:pt x="0" y="208"/>
                          </a:lnTo>
                          <a:close/>
                        </a:path>
                      </a:pathLst>
                    </a:custGeom>
                    <a:noFill/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grpSp>
                  <p:nvGrpSpPr>
                    <p:cNvPr id="7205" name="Group 619"/>
                    <p:cNvGrpSpPr/>
                    <p:nvPr/>
                  </p:nvGrpSpPr>
                  <p:grpSpPr>
                    <a:xfrm>
                      <a:off x="2823" y="1243"/>
                      <a:ext cx="718" cy="626"/>
                      <a:chOff x="2823" y="1243"/>
                      <a:chExt cx="718" cy="626"/>
                    </a:xfrm>
                  </p:grpSpPr>
                  <p:sp>
                    <p:nvSpPr>
                      <p:cNvPr id="7239" name="Freeform 620"/>
                      <p:cNvSpPr/>
                      <p:nvPr/>
                    </p:nvSpPr>
                    <p:spPr>
                      <a:xfrm>
                        <a:off x="2823" y="1345"/>
                        <a:ext cx="145" cy="25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6" y="0"/>
                          </a:cxn>
                          <a:cxn ang="0">
                            <a:pos x="0" y="68"/>
                          </a:cxn>
                          <a:cxn ang="0">
                            <a:pos x="47" y="129"/>
                          </a:cxn>
                          <a:cxn ang="0">
                            <a:pos x="73" y="59"/>
                          </a:cxn>
                          <a:cxn ang="0">
                            <a:pos x="26" y="0"/>
                          </a:cxn>
                        </a:cxnLst>
                        <a:pathLst>
                          <a:path w="289" h="514">
                            <a:moveTo>
                              <a:pt x="102" y="0"/>
                            </a:moveTo>
                            <a:lnTo>
                              <a:pt x="0" y="272"/>
                            </a:lnTo>
                            <a:lnTo>
                              <a:pt x="187" y="514"/>
                            </a:lnTo>
                            <a:lnTo>
                              <a:pt x="289" y="236"/>
                            </a:lnTo>
                            <a:lnTo>
                              <a:pt x="102" y="0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7240" name="Group 621"/>
                      <p:cNvGrpSpPr/>
                      <p:nvPr/>
                    </p:nvGrpSpPr>
                    <p:grpSpPr>
                      <a:xfrm>
                        <a:off x="2830" y="1243"/>
                        <a:ext cx="711" cy="626"/>
                        <a:chOff x="2830" y="1243"/>
                        <a:chExt cx="711" cy="626"/>
                      </a:xfrm>
                    </p:grpSpPr>
                    <p:sp>
                      <p:nvSpPr>
                        <p:cNvPr id="7241" name="Freeform 622"/>
                        <p:cNvSpPr/>
                        <p:nvPr/>
                      </p:nvSpPr>
                      <p:spPr>
                        <a:xfrm>
                          <a:off x="2830" y="1540"/>
                          <a:ext cx="711" cy="32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13" y="27"/>
                            </a:cxn>
                            <a:cxn ang="0">
                              <a:pos x="0" y="95"/>
                            </a:cxn>
                            <a:cxn ang="0">
                              <a:pos x="11" y="164"/>
                            </a:cxn>
                            <a:cxn ang="0">
                              <a:pos x="80" y="153"/>
                            </a:cxn>
                            <a:cxn ang="0">
                              <a:pos x="61" y="119"/>
                            </a:cxn>
                            <a:cxn ang="0">
                              <a:pos x="79" y="101"/>
                            </a:cxn>
                            <a:cxn ang="0">
                              <a:pos x="93" y="151"/>
                            </a:cxn>
                            <a:cxn ang="0">
                              <a:pos x="356" y="109"/>
                            </a:cxn>
                            <a:cxn ang="0">
                              <a:pos x="348" y="59"/>
                            </a:cxn>
                            <a:cxn ang="0">
                              <a:pos x="270" y="0"/>
                            </a:cxn>
                            <a:cxn ang="0">
                              <a:pos x="113" y="27"/>
                            </a:cxn>
                          </a:cxnLst>
                          <a:pathLst>
                            <a:path w="1422" h="659">
                              <a:moveTo>
                                <a:pt x="451" y="109"/>
                              </a:moveTo>
                              <a:lnTo>
                                <a:pt x="0" y="383"/>
                              </a:lnTo>
                              <a:lnTo>
                                <a:pt x="44" y="659"/>
                              </a:lnTo>
                              <a:lnTo>
                                <a:pt x="317" y="615"/>
                              </a:lnTo>
                              <a:lnTo>
                                <a:pt x="244" y="476"/>
                              </a:lnTo>
                              <a:lnTo>
                                <a:pt x="315" y="405"/>
                              </a:lnTo>
                              <a:lnTo>
                                <a:pt x="370" y="607"/>
                              </a:lnTo>
                              <a:lnTo>
                                <a:pt x="1422" y="436"/>
                              </a:lnTo>
                              <a:lnTo>
                                <a:pt x="1389" y="237"/>
                              </a:lnTo>
                              <a:lnTo>
                                <a:pt x="1080" y="0"/>
                              </a:lnTo>
                              <a:lnTo>
                                <a:pt x="451" y="1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>
                            <a:alpha val="100000"/>
                          </a:srgbClr>
                        </a:solidFill>
                        <a:ln w="15875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42" name="Freeform 623"/>
                        <p:cNvSpPr/>
                        <p:nvPr/>
                      </p:nvSpPr>
                      <p:spPr>
                        <a:xfrm>
                          <a:off x="3421" y="1256"/>
                          <a:ext cx="100" cy="40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8" y="0"/>
                            </a:cxn>
                            <a:cxn ang="0">
                              <a:pos x="50" y="200"/>
                            </a:cxn>
                            <a:cxn ang="0">
                              <a:pos x="25" y="180"/>
                            </a:cxn>
                            <a:cxn ang="0">
                              <a:pos x="0" y="15"/>
                            </a:cxn>
                            <a:cxn ang="0">
                              <a:pos x="18" y="0"/>
                            </a:cxn>
                          </a:cxnLst>
                          <a:pathLst>
                            <a:path w="202" h="799">
                              <a:moveTo>
                                <a:pt x="73" y="0"/>
                              </a:moveTo>
                              <a:lnTo>
                                <a:pt x="202" y="799"/>
                              </a:lnTo>
                              <a:lnTo>
                                <a:pt x="102" y="719"/>
                              </a:lnTo>
                              <a:lnTo>
                                <a:pt x="0" y="59"/>
                              </a:lnTo>
                              <a:lnTo>
                                <a:pt x="73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>
                            <a:alpha val="100000"/>
                          </a:srgbClr>
                        </a:solidFill>
                        <a:ln w="15875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43" name="Freeform 624"/>
                        <p:cNvSpPr/>
                        <p:nvPr/>
                      </p:nvSpPr>
                      <p:spPr>
                        <a:xfrm>
                          <a:off x="3396" y="1322"/>
                          <a:ext cx="38" cy="6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3"/>
                            </a:cxn>
                            <a:cxn ang="0">
                              <a:pos x="15" y="0"/>
                            </a:cxn>
                            <a:cxn ang="0">
                              <a:pos x="19" y="33"/>
                            </a:cxn>
                            <a:cxn ang="0">
                              <a:pos x="5" y="35"/>
                            </a:cxn>
                            <a:cxn ang="0">
                              <a:pos x="0" y="3"/>
                            </a:cxn>
                          </a:cxnLst>
                          <a:pathLst>
                            <a:path w="76" h="138">
                              <a:moveTo>
                                <a:pt x="0" y="10"/>
                              </a:moveTo>
                              <a:lnTo>
                                <a:pt x="57" y="0"/>
                              </a:lnTo>
                              <a:lnTo>
                                <a:pt x="76" y="130"/>
                              </a:lnTo>
                              <a:lnTo>
                                <a:pt x="19" y="138"/>
                              </a:lnTo>
                              <a:lnTo>
                                <a:pt x="0" y="1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>
                            <a:alpha val="100000"/>
                          </a:srgbClr>
                        </a:solidFill>
                        <a:ln w="15875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44" name="Freeform 625"/>
                        <p:cNvSpPr/>
                        <p:nvPr/>
                      </p:nvSpPr>
                      <p:spPr>
                        <a:xfrm>
                          <a:off x="3322" y="1268"/>
                          <a:ext cx="88" cy="18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6" y="26"/>
                            </a:cxn>
                            <a:cxn ang="0">
                              <a:pos x="33" y="0"/>
                            </a:cxn>
                            <a:cxn ang="0">
                              <a:pos x="0" y="41"/>
                            </a:cxn>
                            <a:cxn ang="0">
                              <a:pos x="4" y="62"/>
                            </a:cxn>
                            <a:cxn ang="0">
                              <a:pos x="44" y="91"/>
                            </a:cxn>
                            <a:cxn ang="0">
                              <a:pos x="40" y="62"/>
                            </a:cxn>
                            <a:cxn ang="0">
                              <a:pos x="16" y="49"/>
                            </a:cxn>
                            <a:cxn ang="0">
                              <a:pos x="36" y="26"/>
                            </a:cxn>
                          </a:cxnLst>
                          <a:pathLst>
                            <a:path w="176" h="360">
                              <a:moveTo>
                                <a:pt x="143" y="104"/>
                              </a:moveTo>
                              <a:lnTo>
                                <a:pt x="129" y="0"/>
                              </a:lnTo>
                              <a:lnTo>
                                <a:pt x="0" y="162"/>
                              </a:lnTo>
                              <a:lnTo>
                                <a:pt x="14" y="247"/>
                              </a:lnTo>
                              <a:lnTo>
                                <a:pt x="176" y="360"/>
                              </a:lnTo>
                              <a:lnTo>
                                <a:pt x="160" y="247"/>
                              </a:lnTo>
                              <a:lnTo>
                                <a:pt x="64" y="195"/>
                              </a:lnTo>
                              <a:lnTo>
                                <a:pt x="143" y="10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45" name="Freeform 626"/>
                        <p:cNvSpPr/>
                        <p:nvPr/>
                      </p:nvSpPr>
                      <p:spPr>
                        <a:xfrm>
                          <a:off x="2958" y="1243"/>
                          <a:ext cx="372" cy="124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28"/>
                            </a:cxn>
                            <a:cxn ang="0">
                              <a:pos x="186" y="0"/>
                            </a:cxn>
                            <a:cxn ang="0">
                              <a:pos x="161" y="42"/>
                            </a:cxn>
                            <a:cxn ang="0">
                              <a:pos x="163" y="57"/>
                            </a:cxn>
                            <a:cxn ang="0">
                              <a:pos x="128" y="62"/>
                            </a:cxn>
                            <a:cxn ang="0">
                              <a:pos x="78" y="52"/>
                            </a:cxn>
                            <a:cxn ang="0">
                              <a:pos x="34" y="59"/>
                            </a:cxn>
                            <a:cxn ang="0">
                              <a:pos x="0" y="28"/>
                            </a:cxn>
                          </a:cxnLst>
                          <a:pathLst>
                            <a:path w="743" h="248">
                              <a:moveTo>
                                <a:pt x="0" y="110"/>
                              </a:moveTo>
                              <a:lnTo>
                                <a:pt x="743" y="0"/>
                              </a:lnTo>
                              <a:lnTo>
                                <a:pt x="641" y="167"/>
                              </a:lnTo>
                              <a:lnTo>
                                <a:pt x="649" y="225"/>
                              </a:lnTo>
                              <a:lnTo>
                                <a:pt x="509" y="248"/>
                              </a:lnTo>
                              <a:lnTo>
                                <a:pt x="310" y="207"/>
                              </a:lnTo>
                              <a:lnTo>
                                <a:pt x="133" y="234"/>
                              </a:lnTo>
                              <a:lnTo>
                                <a:pt x="0" y="11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>
                            <a:alpha val="100000"/>
                          </a:srgbClr>
                        </a:solidFill>
                        <a:ln w="15875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46" name="Freeform 627"/>
                        <p:cNvSpPr/>
                        <p:nvPr/>
                      </p:nvSpPr>
                      <p:spPr>
                        <a:xfrm>
                          <a:off x="3001" y="1347"/>
                          <a:ext cx="395" cy="276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4" y="7"/>
                            </a:cxn>
                            <a:cxn ang="0">
                              <a:pos x="21" y="43"/>
                            </a:cxn>
                            <a:cxn ang="0">
                              <a:pos x="9" y="60"/>
                            </a:cxn>
                            <a:cxn ang="0">
                              <a:pos x="10" y="69"/>
                            </a:cxn>
                            <a:cxn ang="0">
                              <a:pos x="19" y="67"/>
                            </a:cxn>
                            <a:cxn ang="0">
                              <a:pos x="25" y="72"/>
                            </a:cxn>
                            <a:cxn ang="0">
                              <a:pos x="33" y="79"/>
                            </a:cxn>
                            <a:cxn ang="0">
                              <a:pos x="29" y="82"/>
                            </a:cxn>
                            <a:cxn ang="0">
                              <a:pos x="33" y="102"/>
                            </a:cxn>
                            <a:cxn ang="0">
                              <a:pos x="29" y="115"/>
                            </a:cxn>
                            <a:cxn ang="0">
                              <a:pos x="17" y="116"/>
                            </a:cxn>
                            <a:cxn ang="0">
                              <a:pos x="16" y="108"/>
                            </a:cxn>
                            <a:cxn ang="0">
                              <a:pos x="7" y="108"/>
                            </a:cxn>
                            <a:cxn ang="0">
                              <a:pos x="0" y="122"/>
                            </a:cxn>
                            <a:cxn ang="0">
                              <a:pos x="21" y="138"/>
                            </a:cxn>
                            <a:cxn ang="0">
                              <a:pos x="48" y="133"/>
                            </a:cxn>
                            <a:cxn ang="0">
                              <a:pos x="60" y="122"/>
                            </a:cxn>
                            <a:cxn ang="0">
                              <a:pos x="87" y="118"/>
                            </a:cxn>
                            <a:cxn ang="0">
                              <a:pos x="86" y="111"/>
                            </a:cxn>
                            <a:cxn ang="0">
                              <a:pos x="198" y="94"/>
                            </a:cxn>
                            <a:cxn ang="0">
                              <a:pos x="196" y="85"/>
                            </a:cxn>
                            <a:cxn ang="0">
                              <a:pos x="185" y="87"/>
                            </a:cxn>
                            <a:cxn ang="0">
                              <a:pos x="180" y="57"/>
                            </a:cxn>
                            <a:cxn ang="0">
                              <a:pos x="151" y="31"/>
                            </a:cxn>
                            <a:cxn ang="0">
                              <a:pos x="143" y="5"/>
                            </a:cxn>
                            <a:cxn ang="0">
                              <a:pos x="108" y="10"/>
                            </a:cxn>
                            <a:cxn ang="0">
                              <a:pos x="58" y="0"/>
                            </a:cxn>
                            <a:cxn ang="0">
                              <a:pos x="14" y="7"/>
                            </a:cxn>
                          </a:cxnLst>
                          <a:pathLst>
                            <a:path w="789" h="553">
                              <a:moveTo>
                                <a:pt x="55" y="30"/>
                              </a:moveTo>
                              <a:lnTo>
                                <a:pt x="83" y="173"/>
                              </a:lnTo>
                              <a:lnTo>
                                <a:pt x="33" y="241"/>
                              </a:lnTo>
                              <a:lnTo>
                                <a:pt x="39" y="276"/>
                              </a:lnTo>
                              <a:lnTo>
                                <a:pt x="73" y="270"/>
                              </a:lnTo>
                              <a:lnTo>
                                <a:pt x="100" y="290"/>
                              </a:lnTo>
                              <a:lnTo>
                                <a:pt x="130" y="316"/>
                              </a:lnTo>
                              <a:lnTo>
                                <a:pt x="115" y="330"/>
                              </a:lnTo>
                              <a:lnTo>
                                <a:pt x="131" y="411"/>
                              </a:lnTo>
                              <a:lnTo>
                                <a:pt x="115" y="460"/>
                              </a:lnTo>
                              <a:lnTo>
                                <a:pt x="67" y="467"/>
                              </a:lnTo>
                              <a:lnTo>
                                <a:pt x="64" y="433"/>
                              </a:lnTo>
                              <a:lnTo>
                                <a:pt x="28" y="435"/>
                              </a:lnTo>
                              <a:lnTo>
                                <a:pt x="0" y="491"/>
                              </a:lnTo>
                              <a:lnTo>
                                <a:pt x="81" y="553"/>
                              </a:lnTo>
                              <a:lnTo>
                                <a:pt x="189" y="533"/>
                              </a:lnTo>
                              <a:lnTo>
                                <a:pt x="240" y="489"/>
                              </a:lnTo>
                              <a:lnTo>
                                <a:pt x="345" y="472"/>
                              </a:lnTo>
                              <a:lnTo>
                                <a:pt x="342" y="447"/>
                              </a:lnTo>
                              <a:lnTo>
                                <a:pt x="789" y="377"/>
                              </a:lnTo>
                              <a:lnTo>
                                <a:pt x="784" y="340"/>
                              </a:lnTo>
                              <a:lnTo>
                                <a:pt x="737" y="349"/>
                              </a:lnTo>
                              <a:lnTo>
                                <a:pt x="720" y="231"/>
                              </a:lnTo>
                              <a:lnTo>
                                <a:pt x="604" y="125"/>
                              </a:lnTo>
                              <a:lnTo>
                                <a:pt x="569" y="20"/>
                              </a:lnTo>
                              <a:lnTo>
                                <a:pt x="431" y="41"/>
                              </a:lnTo>
                              <a:lnTo>
                                <a:pt x="230" y="0"/>
                              </a:lnTo>
                              <a:lnTo>
                                <a:pt x="55" y="3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47" name="Freeform 628"/>
                        <p:cNvSpPr/>
                        <p:nvPr/>
                      </p:nvSpPr>
                      <p:spPr>
                        <a:xfrm>
                          <a:off x="2844" y="1692"/>
                          <a:ext cx="147" cy="16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58" y="0"/>
                            </a:cxn>
                            <a:cxn ang="0">
                              <a:pos x="0" y="51"/>
                            </a:cxn>
                            <a:cxn ang="0">
                              <a:pos x="4" y="80"/>
                            </a:cxn>
                            <a:cxn ang="0">
                              <a:pos x="73" y="15"/>
                            </a:cxn>
                            <a:cxn ang="0">
                              <a:pos x="58" y="0"/>
                            </a:cxn>
                          </a:cxnLst>
                          <a:pathLst>
                            <a:path w="296" h="320">
                              <a:moveTo>
                                <a:pt x="233" y="0"/>
                              </a:moveTo>
                              <a:lnTo>
                                <a:pt x="0" y="201"/>
                              </a:lnTo>
                              <a:lnTo>
                                <a:pt x="17" y="320"/>
                              </a:lnTo>
                              <a:lnTo>
                                <a:pt x="296" y="59"/>
                              </a:lnTo>
                              <a:lnTo>
                                <a:pt x="233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48" name="Freeform 629"/>
                        <p:cNvSpPr/>
                        <p:nvPr/>
                      </p:nvSpPr>
                      <p:spPr>
                        <a:xfrm>
                          <a:off x="2871" y="1804"/>
                          <a:ext cx="77" cy="57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15"/>
                            </a:cxn>
                            <a:cxn ang="0">
                              <a:pos x="17" y="0"/>
                            </a:cxn>
                            <a:cxn ang="0">
                              <a:pos x="39" y="23"/>
                            </a:cxn>
                            <a:cxn ang="0">
                              <a:pos x="13" y="28"/>
                            </a:cxn>
                            <a:cxn ang="0">
                              <a:pos x="0" y="15"/>
                            </a:cxn>
                          </a:cxnLst>
                          <a:pathLst>
                            <a:path w="154" h="115">
                              <a:moveTo>
                                <a:pt x="0" y="61"/>
                              </a:moveTo>
                              <a:lnTo>
                                <a:pt x="65" y="0"/>
                              </a:lnTo>
                              <a:lnTo>
                                <a:pt x="154" y="95"/>
                              </a:lnTo>
                              <a:lnTo>
                                <a:pt x="51" y="115"/>
                              </a:lnTo>
                              <a:lnTo>
                                <a:pt x="0" y="6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49" name="Freeform 630"/>
                        <p:cNvSpPr/>
                        <p:nvPr/>
                      </p:nvSpPr>
                      <p:spPr>
                        <a:xfrm>
                          <a:off x="2936" y="1654"/>
                          <a:ext cx="143" cy="18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8"/>
                            </a:cxn>
                            <a:cxn ang="0">
                              <a:pos x="37" y="39"/>
                            </a:cxn>
                            <a:cxn ang="0">
                              <a:pos x="59" y="91"/>
                            </a:cxn>
                            <a:cxn ang="0">
                              <a:pos x="72" y="89"/>
                            </a:cxn>
                            <a:cxn ang="0">
                              <a:pos x="49" y="31"/>
                            </a:cxn>
                            <a:cxn ang="0">
                              <a:pos x="15" y="0"/>
                            </a:cxn>
                            <a:cxn ang="0">
                              <a:pos x="0" y="8"/>
                            </a:cxn>
                          </a:cxnLst>
                          <a:pathLst>
                            <a:path w="286" h="361">
                              <a:moveTo>
                                <a:pt x="0" y="32"/>
                              </a:moveTo>
                              <a:lnTo>
                                <a:pt x="146" y="154"/>
                              </a:lnTo>
                              <a:lnTo>
                                <a:pt x="236" y="361"/>
                              </a:lnTo>
                              <a:lnTo>
                                <a:pt x="286" y="355"/>
                              </a:lnTo>
                              <a:lnTo>
                                <a:pt x="196" y="122"/>
                              </a:lnTo>
                              <a:lnTo>
                                <a:pt x="57" y="0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0" name="Freeform 631"/>
                        <p:cNvSpPr/>
                        <p:nvPr/>
                      </p:nvSpPr>
                      <p:spPr>
                        <a:xfrm>
                          <a:off x="3381" y="1628"/>
                          <a:ext cx="111" cy="14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10"/>
                            </a:cxn>
                            <a:cxn ang="0">
                              <a:pos x="8" y="0"/>
                            </a:cxn>
                            <a:cxn ang="0">
                              <a:pos x="51" y="36"/>
                            </a:cxn>
                            <a:cxn ang="0">
                              <a:pos x="56" y="68"/>
                            </a:cxn>
                            <a:cxn ang="0">
                              <a:pos x="45" y="70"/>
                            </a:cxn>
                            <a:cxn ang="0">
                              <a:pos x="40" y="42"/>
                            </a:cxn>
                            <a:cxn ang="0">
                              <a:pos x="0" y="10"/>
                            </a:cxn>
                          </a:cxnLst>
                          <a:pathLst>
                            <a:path w="222" h="280">
                              <a:moveTo>
                                <a:pt x="0" y="39"/>
                              </a:moveTo>
                              <a:lnTo>
                                <a:pt x="29" y="0"/>
                              </a:lnTo>
                              <a:lnTo>
                                <a:pt x="203" y="141"/>
                              </a:lnTo>
                              <a:lnTo>
                                <a:pt x="222" y="270"/>
                              </a:lnTo>
                              <a:lnTo>
                                <a:pt x="179" y="280"/>
                              </a:lnTo>
                              <a:lnTo>
                                <a:pt x="160" y="165"/>
                              </a:lnTo>
                              <a:lnTo>
                                <a:pt x="0" y="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1" name="Freeform 632"/>
                        <p:cNvSpPr/>
                        <p:nvPr/>
                      </p:nvSpPr>
                      <p:spPr>
                        <a:xfrm>
                          <a:off x="3355" y="1672"/>
                          <a:ext cx="83" cy="106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7" y="0"/>
                            </a:cxn>
                            <a:cxn ang="0">
                              <a:pos x="38" y="25"/>
                            </a:cxn>
                            <a:cxn ang="0">
                              <a:pos x="42" y="50"/>
                            </a:cxn>
                            <a:cxn ang="0">
                              <a:pos x="29" y="53"/>
                            </a:cxn>
                            <a:cxn ang="0">
                              <a:pos x="25" y="27"/>
                            </a:cxn>
                            <a:cxn ang="0">
                              <a:pos x="0" y="9"/>
                            </a:cxn>
                            <a:cxn ang="0">
                              <a:pos x="7" y="0"/>
                            </a:cxn>
                          </a:cxnLst>
                          <a:pathLst>
                            <a:path w="166" h="213">
                              <a:moveTo>
                                <a:pt x="25" y="0"/>
                              </a:moveTo>
                              <a:lnTo>
                                <a:pt x="149" y="100"/>
                              </a:lnTo>
                              <a:lnTo>
                                <a:pt x="166" y="202"/>
                              </a:lnTo>
                              <a:lnTo>
                                <a:pt x="116" y="213"/>
                              </a:lnTo>
                              <a:lnTo>
                                <a:pt x="97" y="110"/>
                              </a:lnTo>
                              <a:lnTo>
                                <a:pt x="0" y="36"/>
                              </a:lnTo>
                              <a:lnTo>
                                <a:pt x="25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2" name="Freeform 633"/>
                        <p:cNvSpPr/>
                        <p:nvPr/>
                      </p:nvSpPr>
                      <p:spPr>
                        <a:xfrm>
                          <a:off x="3126" y="1714"/>
                          <a:ext cx="133" cy="11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55"/>
                            </a:cxn>
                            <a:cxn ang="0">
                              <a:pos x="3" y="25"/>
                            </a:cxn>
                            <a:cxn ang="0">
                              <a:pos x="17" y="8"/>
                            </a:cxn>
                            <a:cxn ang="0">
                              <a:pos x="66" y="0"/>
                            </a:cxn>
                            <a:cxn ang="0">
                              <a:pos x="61" y="34"/>
                            </a:cxn>
                            <a:cxn ang="0">
                              <a:pos x="61" y="45"/>
                            </a:cxn>
                            <a:cxn ang="0">
                              <a:pos x="0" y="55"/>
                            </a:cxn>
                          </a:cxnLst>
                          <a:pathLst>
                            <a:path w="267" h="220">
                              <a:moveTo>
                                <a:pt x="0" y="220"/>
                              </a:moveTo>
                              <a:lnTo>
                                <a:pt x="15" y="99"/>
                              </a:lnTo>
                              <a:lnTo>
                                <a:pt x="70" y="30"/>
                              </a:lnTo>
                              <a:lnTo>
                                <a:pt x="267" y="0"/>
                              </a:lnTo>
                              <a:lnTo>
                                <a:pt x="245" y="135"/>
                              </a:lnTo>
                              <a:lnTo>
                                <a:pt x="246" y="180"/>
                              </a:lnTo>
                              <a:lnTo>
                                <a:pt x="0" y="22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3" name="Freeform 634"/>
                        <p:cNvSpPr/>
                        <p:nvPr/>
                      </p:nvSpPr>
                      <p:spPr>
                        <a:xfrm>
                          <a:off x="3113" y="1682"/>
                          <a:ext cx="185" cy="137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6" y="68"/>
                            </a:cxn>
                            <a:cxn ang="0">
                              <a:pos x="0" y="34"/>
                            </a:cxn>
                            <a:cxn ang="0">
                              <a:pos x="16" y="12"/>
                            </a:cxn>
                            <a:cxn ang="0">
                              <a:pos x="93" y="0"/>
                            </a:cxn>
                            <a:cxn ang="0">
                              <a:pos x="82" y="30"/>
                            </a:cxn>
                            <a:cxn ang="0">
                              <a:pos x="79" y="58"/>
                            </a:cxn>
                            <a:cxn ang="0">
                              <a:pos x="68" y="60"/>
                            </a:cxn>
                            <a:cxn ang="0">
                              <a:pos x="68" y="48"/>
                            </a:cxn>
                            <a:cxn ang="0">
                              <a:pos x="73" y="15"/>
                            </a:cxn>
                            <a:cxn ang="0">
                              <a:pos x="24" y="23"/>
                            </a:cxn>
                            <a:cxn ang="0">
                              <a:pos x="9" y="40"/>
                            </a:cxn>
                            <a:cxn ang="0">
                              <a:pos x="6" y="68"/>
                            </a:cxn>
                          </a:cxnLst>
                          <a:pathLst>
                            <a:path w="370" h="275">
                              <a:moveTo>
                                <a:pt x="21" y="275"/>
                              </a:moveTo>
                              <a:lnTo>
                                <a:pt x="0" y="137"/>
                              </a:lnTo>
                              <a:lnTo>
                                <a:pt x="63" y="51"/>
                              </a:lnTo>
                              <a:lnTo>
                                <a:pt x="370" y="0"/>
                              </a:lnTo>
                              <a:lnTo>
                                <a:pt x="328" y="122"/>
                              </a:lnTo>
                              <a:lnTo>
                                <a:pt x="316" y="233"/>
                              </a:lnTo>
                              <a:lnTo>
                                <a:pt x="269" y="240"/>
                              </a:lnTo>
                              <a:lnTo>
                                <a:pt x="270" y="195"/>
                              </a:lnTo>
                              <a:lnTo>
                                <a:pt x="289" y="61"/>
                              </a:lnTo>
                              <a:lnTo>
                                <a:pt x="94" y="93"/>
                              </a:lnTo>
                              <a:lnTo>
                                <a:pt x="34" y="162"/>
                              </a:lnTo>
                              <a:lnTo>
                                <a:pt x="21" y="27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AFD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4" name="Freeform 635"/>
                        <p:cNvSpPr/>
                        <p:nvPr/>
                      </p:nvSpPr>
                      <p:spPr>
                        <a:xfrm>
                          <a:off x="3106" y="1635"/>
                          <a:ext cx="251" cy="19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00" y="79"/>
                            </a:cxn>
                            <a:cxn ang="0">
                              <a:pos x="108" y="33"/>
                            </a:cxn>
                            <a:cxn ang="0">
                              <a:pos x="126" y="0"/>
                            </a:cxn>
                            <a:cxn ang="0">
                              <a:pos x="29" y="16"/>
                            </a:cxn>
                            <a:cxn ang="0">
                              <a:pos x="0" y="45"/>
                            </a:cxn>
                            <a:cxn ang="0">
                              <a:pos x="8" y="95"/>
                            </a:cxn>
                            <a:cxn ang="0">
                              <a:pos x="2" y="57"/>
                            </a:cxn>
                            <a:cxn ang="0">
                              <a:pos x="20" y="36"/>
                            </a:cxn>
                            <a:cxn ang="0">
                              <a:pos x="96" y="24"/>
                            </a:cxn>
                            <a:cxn ang="0">
                              <a:pos x="86" y="56"/>
                            </a:cxn>
                            <a:cxn ang="0">
                              <a:pos x="83" y="82"/>
                            </a:cxn>
                            <a:cxn ang="0">
                              <a:pos x="100" y="79"/>
                            </a:cxn>
                          </a:cxnLst>
                          <a:pathLst>
                            <a:path w="502" h="379">
                              <a:moveTo>
                                <a:pt x="400" y="315"/>
                              </a:moveTo>
                              <a:lnTo>
                                <a:pt x="429" y="132"/>
                              </a:lnTo>
                              <a:lnTo>
                                <a:pt x="502" y="0"/>
                              </a:lnTo>
                              <a:lnTo>
                                <a:pt x="114" y="63"/>
                              </a:lnTo>
                              <a:lnTo>
                                <a:pt x="0" y="177"/>
                              </a:lnTo>
                              <a:lnTo>
                                <a:pt x="31" y="379"/>
                              </a:lnTo>
                              <a:lnTo>
                                <a:pt x="8" y="225"/>
                              </a:lnTo>
                              <a:lnTo>
                                <a:pt x="80" y="143"/>
                              </a:lnTo>
                              <a:lnTo>
                                <a:pt x="384" y="95"/>
                              </a:lnTo>
                              <a:lnTo>
                                <a:pt x="343" y="221"/>
                              </a:lnTo>
                              <a:lnTo>
                                <a:pt x="331" y="327"/>
                              </a:lnTo>
                              <a:lnTo>
                                <a:pt x="400" y="31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5" name="Freeform 636"/>
                        <p:cNvSpPr/>
                        <p:nvPr/>
                      </p:nvSpPr>
                      <p:spPr>
                        <a:xfrm>
                          <a:off x="3102" y="1604"/>
                          <a:ext cx="303" cy="19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2" y="61"/>
                            </a:cxn>
                            <a:cxn ang="0">
                              <a:pos x="0" y="51"/>
                            </a:cxn>
                            <a:cxn ang="0">
                              <a:pos x="31" y="19"/>
                            </a:cxn>
                            <a:cxn ang="0">
                              <a:pos x="152" y="0"/>
                            </a:cxn>
                            <a:cxn ang="0">
                              <a:pos x="124" y="48"/>
                            </a:cxn>
                            <a:cxn ang="0">
                              <a:pos x="117" y="94"/>
                            </a:cxn>
                            <a:cxn ang="0">
                              <a:pos x="102" y="95"/>
                            </a:cxn>
                            <a:cxn ang="0">
                              <a:pos x="109" y="50"/>
                            </a:cxn>
                            <a:cxn ang="0">
                              <a:pos x="128" y="16"/>
                            </a:cxn>
                            <a:cxn ang="0">
                              <a:pos x="31" y="32"/>
                            </a:cxn>
                            <a:cxn ang="0">
                              <a:pos x="2" y="61"/>
                            </a:cxn>
                          </a:cxnLst>
                          <a:pathLst>
                            <a:path w="605" h="380">
                              <a:moveTo>
                                <a:pt x="6" y="241"/>
                              </a:moveTo>
                              <a:lnTo>
                                <a:pt x="0" y="204"/>
                              </a:lnTo>
                              <a:lnTo>
                                <a:pt x="124" y="74"/>
                              </a:lnTo>
                              <a:lnTo>
                                <a:pt x="605" y="0"/>
                              </a:lnTo>
                              <a:lnTo>
                                <a:pt x="493" y="189"/>
                              </a:lnTo>
                              <a:lnTo>
                                <a:pt x="466" y="373"/>
                              </a:lnTo>
                              <a:lnTo>
                                <a:pt x="408" y="380"/>
                              </a:lnTo>
                              <a:lnTo>
                                <a:pt x="434" y="198"/>
                              </a:lnTo>
                              <a:lnTo>
                                <a:pt x="511" y="62"/>
                              </a:lnTo>
                              <a:lnTo>
                                <a:pt x="121" y="125"/>
                              </a:lnTo>
                              <a:lnTo>
                                <a:pt x="6" y="24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6" name="Freeform 637"/>
                        <p:cNvSpPr/>
                        <p:nvPr/>
                      </p:nvSpPr>
                      <p:spPr>
                        <a:xfrm>
                          <a:off x="3173" y="1558"/>
                          <a:ext cx="78" cy="73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3"/>
                            </a:cxn>
                            <a:cxn ang="0">
                              <a:pos x="3" y="22"/>
                            </a:cxn>
                            <a:cxn ang="0">
                              <a:pos x="36" y="17"/>
                            </a:cxn>
                            <a:cxn ang="0">
                              <a:pos x="39" y="34"/>
                            </a:cxn>
                            <a:cxn ang="0">
                              <a:pos x="23" y="37"/>
                            </a:cxn>
                            <a:cxn ang="0">
                              <a:pos x="18" y="0"/>
                            </a:cxn>
                            <a:cxn ang="0">
                              <a:pos x="0" y="3"/>
                            </a:cxn>
                          </a:cxnLst>
                          <a:pathLst>
                            <a:path w="155" h="145">
                              <a:moveTo>
                                <a:pt x="0" y="12"/>
                              </a:moveTo>
                              <a:lnTo>
                                <a:pt x="12" y="85"/>
                              </a:lnTo>
                              <a:lnTo>
                                <a:pt x="144" y="65"/>
                              </a:lnTo>
                              <a:lnTo>
                                <a:pt x="155" y="134"/>
                              </a:lnTo>
                              <a:lnTo>
                                <a:pt x="90" y="145"/>
                              </a:lnTo>
                              <a:lnTo>
                                <a:pt x="69" y="0"/>
                              </a:lnTo>
                              <a:lnTo>
                                <a:pt x="0" y="1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7" name="Freeform 638"/>
                        <p:cNvSpPr/>
                        <p:nvPr/>
                      </p:nvSpPr>
                      <p:spPr>
                        <a:xfrm>
                          <a:off x="3208" y="1554"/>
                          <a:ext cx="78" cy="7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2"/>
                            </a:cxn>
                            <a:cxn ang="0">
                              <a:pos x="3" y="20"/>
                            </a:cxn>
                            <a:cxn ang="0">
                              <a:pos x="37" y="15"/>
                            </a:cxn>
                            <a:cxn ang="0">
                              <a:pos x="39" y="33"/>
                            </a:cxn>
                            <a:cxn ang="0">
                              <a:pos x="23" y="35"/>
                            </a:cxn>
                            <a:cxn ang="0">
                              <a:pos x="18" y="0"/>
                            </a:cxn>
                            <a:cxn ang="0">
                              <a:pos x="0" y="2"/>
                            </a:cxn>
                          </a:cxnLst>
                          <a:pathLst>
                            <a:path w="155" h="142">
                              <a:moveTo>
                                <a:pt x="0" y="11"/>
                              </a:moveTo>
                              <a:lnTo>
                                <a:pt x="11" y="83"/>
                              </a:lnTo>
                              <a:lnTo>
                                <a:pt x="147" y="63"/>
                              </a:lnTo>
                              <a:lnTo>
                                <a:pt x="155" y="133"/>
                              </a:lnTo>
                              <a:lnTo>
                                <a:pt x="92" y="142"/>
                              </a:lnTo>
                              <a:lnTo>
                                <a:pt x="70" y="0"/>
                              </a:lnTo>
                              <a:lnTo>
                                <a:pt x="0" y="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8" name="Freeform 639"/>
                        <p:cNvSpPr/>
                        <p:nvPr/>
                      </p:nvSpPr>
                      <p:spPr>
                        <a:xfrm>
                          <a:off x="3242" y="1547"/>
                          <a:ext cx="77" cy="73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3"/>
                            </a:cxn>
                            <a:cxn ang="0">
                              <a:pos x="3" y="22"/>
                            </a:cxn>
                            <a:cxn ang="0">
                              <a:pos x="37" y="16"/>
                            </a:cxn>
                            <a:cxn ang="0">
                              <a:pos x="39" y="34"/>
                            </a:cxn>
                            <a:cxn ang="0">
                              <a:pos x="23" y="37"/>
                            </a:cxn>
                            <a:cxn ang="0">
                              <a:pos x="17" y="0"/>
                            </a:cxn>
                            <a:cxn ang="0">
                              <a:pos x="0" y="3"/>
                            </a:cxn>
                          </a:cxnLst>
                          <a:pathLst>
                            <a:path w="153" h="145">
                              <a:moveTo>
                                <a:pt x="0" y="11"/>
                              </a:moveTo>
                              <a:lnTo>
                                <a:pt x="11" y="85"/>
                              </a:lnTo>
                              <a:lnTo>
                                <a:pt x="145" y="63"/>
                              </a:lnTo>
                              <a:lnTo>
                                <a:pt x="153" y="134"/>
                              </a:lnTo>
                              <a:lnTo>
                                <a:pt x="89" y="145"/>
                              </a:lnTo>
                              <a:lnTo>
                                <a:pt x="67" y="0"/>
                              </a:lnTo>
                              <a:lnTo>
                                <a:pt x="0" y="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59" name="Freeform 640"/>
                        <p:cNvSpPr/>
                        <p:nvPr/>
                      </p:nvSpPr>
                      <p:spPr>
                        <a:xfrm>
                          <a:off x="3278" y="1540"/>
                          <a:ext cx="77" cy="73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3"/>
                            </a:cxn>
                            <a:cxn ang="0">
                              <a:pos x="3" y="21"/>
                            </a:cxn>
                            <a:cxn ang="0">
                              <a:pos x="36" y="16"/>
                            </a:cxn>
                            <a:cxn ang="0">
                              <a:pos x="39" y="34"/>
                            </a:cxn>
                            <a:cxn ang="0">
                              <a:pos x="23" y="36"/>
                            </a:cxn>
                            <a:cxn ang="0">
                              <a:pos x="17" y="0"/>
                            </a:cxn>
                            <a:cxn ang="0">
                              <a:pos x="0" y="3"/>
                            </a:cxn>
                          </a:cxnLst>
                          <a:pathLst>
                            <a:path w="154" h="147">
                              <a:moveTo>
                                <a:pt x="0" y="14"/>
                              </a:moveTo>
                              <a:lnTo>
                                <a:pt x="11" y="87"/>
                              </a:lnTo>
                              <a:lnTo>
                                <a:pt x="144" y="66"/>
                              </a:lnTo>
                              <a:lnTo>
                                <a:pt x="154" y="136"/>
                              </a:lnTo>
                              <a:lnTo>
                                <a:pt x="89" y="147"/>
                              </a:lnTo>
                              <a:lnTo>
                                <a:pt x="67" y="0"/>
                              </a:lnTo>
                              <a:lnTo>
                                <a:pt x="0" y="1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0" name="Freeform 641"/>
                        <p:cNvSpPr/>
                        <p:nvPr/>
                      </p:nvSpPr>
                      <p:spPr>
                        <a:xfrm>
                          <a:off x="3314" y="1536"/>
                          <a:ext cx="77" cy="7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3"/>
                            </a:cxn>
                            <a:cxn ang="0">
                              <a:pos x="3" y="21"/>
                            </a:cxn>
                            <a:cxn ang="0">
                              <a:pos x="36" y="17"/>
                            </a:cxn>
                            <a:cxn ang="0">
                              <a:pos x="38" y="34"/>
                            </a:cxn>
                            <a:cxn ang="0">
                              <a:pos x="22" y="36"/>
                            </a:cxn>
                            <a:cxn ang="0">
                              <a:pos x="17" y="0"/>
                            </a:cxn>
                            <a:cxn ang="0">
                              <a:pos x="0" y="3"/>
                            </a:cxn>
                          </a:cxnLst>
                          <a:pathLst>
                            <a:path w="156" h="144">
                              <a:moveTo>
                                <a:pt x="0" y="10"/>
                              </a:moveTo>
                              <a:lnTo>
                                <a:pt x="14" y="84"/>
                              </a:lnTo>
                              <a:lnTo>
                                <a:pt x="145" y="65"/>
                              </a:lnTo>
                              <a:lnTo>
                                <a:pt x="156" y="133"/>
                              </a:lnTo>
                              <a:lnTo>
                                <a:pt x="92" y="144"/>
                              </a:lnTo>
                              <a:lnTo>
                                <a:pt x="70" y="0"/>
                              </a:lnTo>
                              <a:lnTo>
                                <a:pt x="0" y="1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1" name="Freeform 642"/>
                        <p:cNvSpPr/>
                        <p:nvPr/>
                      </p:nvSpPr>
                      <p:spPr>
                        <a:xfrm>
                          <a:off x="3347" y="1531"/>
                          <a:ext cx="77" cy="7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3"/>
                            </a:cxn>
                            <a:cxn ang="0">
                              <a:pos x="2" y="21"/>
                            </a:cxn>
                            <a:cxn ang="0">
                              <a:pos x="36" y="16"/>
                            </a:cxn>
                            <a:cxn ang="0">
                              <a:pos x="38" y="34"/>
                            </a:cxn>
                            <a:cxn ang="0">
                              <a:pos x="22" y="36"/>
                            </a:cxn>
                            <a:cxn ang="0">
                              <a:pos x="17" y="0"/>
                            </a:cxn>
                            <a:cxn ang="0">
                              <a:pos x="0" y="3"/>
                            </a:cxn>
                          </a:cxnLst>
                          <a:pathLst>
                            <a:path w="156" h="144">
                              <a:moveTo>
                                <a:pt x="0" y="10"/>
                              </a:moveTo>
                              <a:lnTo>
                                <a:pt x="11" y="84"/>
                              </a:lnTo>
                              <a:lnTo>
                                <a:pt x="145" y="64"/>
                              </a:lnTo>
                              <a:lnTo>
                                <a:pt x="156" y="134"/>
                              </a:lnTo>
                              <a:lnTo>
                                <a:pt x="92" y="144"/>
                              </a:lnTo>
                              <a:lnTo>
                                <a:pt x="70" y="0"/>
                              </a:lnTo>
                              <a:lnTo>
                                <a:pt x="0" y="1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2" name="Freeform 643"/>
                        <p:cNvSpPr/>
                        <p:nvPr/>
                      </p:nvSpPr>
                      <p:spPr>
                        <a:xfrm>
                          <a:off x="3379" y="1525"/>
                          <a:ext cx="78" cy="73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3"/>
                            </a:cxn>
                            <a:cxn ang="0">
                              <a:pos x="3" y="22"/>
                            </a:cxn>
                            <a:cxn ang="0">
                              <a:pos x="36" y="17"/>
                            </a:cxn>
                            <a:cxn ang="0">
                              <a:pos x="39" y="34"/>
                            </a:cxn>
                            <a:cxn ang="0">
                              <a:pos x="23" y="37"/>
                            </a:cxn>
                            <a:cxn ang="0">
                              <a:pos x="18" y="0"/>
                            </a:cxn>
                            <a:cxn ang="0">
                              <a:pos x="0" y="3"/>
                            </a:cxn>
                          </a:cxnLst>
                          <a:pathLst>
                            <a:path w="155" h="145">
                              <a:moveTo>
                                <a:pt x="0" y="12"/>
                              </a:moveTo>
                              <a:lnTo>
                                <a:pt x="11" y="85"/>
                              </a:lnTo>
                              <a:lnTo>
                                <a:pt x="144" y="65"/>
                              </a:lnTo>
                              <a:lnTo>
                                <a:pt x="155" y="134"/>
                              </a:lnTo>
                              <a:lnTo>
                                <a:pt x="89" y="145"/>
                              </a:lnTo>
                              <a:lnTo>
                                <a:pt x="70" y="0"/>
                              </a:lnTo>
                              <a:lnTo>
                                <a:pt x="0" y="1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3" name="Freeform 644"/>
                        <p:cNvSpPr/>
                        <p:nvPr/>
                      </p:nvSpPr>
                      <p:spPr>
                        <a:xfrm>
                          <a:off x="2988" y="1615"/>
                          <a:ext cx="135" cy="215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11"/>
                            </a:cxn>
                            <a:cxn ang="0">
                              <a:pos x="35" y="42"/>
                            </a:cxn>
                            <a:cxn ang="0">
                              <a:pos x="56" y="108"/>
                            </a:cxn>
                            <a:cxn ang="0">
                              <a:pos x="67" y="105"/>
                            </a:cxn>
                            <a:cxn ang="0">
                              <a:pos x="54" y="38"/>
                            </a:cxn>
                            <a:cxn ang="0">
                              <a:pos x="19" y="0"/>
                            </a:cxn>
                            <a:cxn ang="0">
                              <a:pos x="0" y="11"/>
                            </a:cxn>
                          </a:cxnLst>
                          <a:pathLst>
                            <a:path w="271" h="430">
                              <a:moveTo>
                                <a:pt x="0" y="42"/>
                              </a:moveTo>
                              <a:lnTo>
                                <a:pt x="140" y="167"/>
                              </a:lnTo>
                              <a:lnTo>
                                <a:pt x="224" y="430"/>
                              </a:lnTo>
                              <a:lnTo>
                                <a:pt x="271" y="417"/>
                              </a:lnTo>
                              <a:lnTo>
                                <a:pt x="216" y="149"/>
                              </a:lnTo>
                              <a:lnTo>
                                <a:pt x="77" y="0"/>
                              </a:lnTo>
                              <a:lnTo>
                                <a:pt x="0" y="4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4" name="Freeform 645"/>
                        <p:cNvSpPr/>
                        <p:nvPr/>
                      </p:nvSpPr>
                      <p:spPr>
                        <a:xfrm>
                          <a:off x="2998" y="1316"/>
                          <a:ext cx="283" cy="34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9"/>
                            </a:cxn>
                            <a:cxn ang="0">
                              <a:pos x="63" y="0"/>
                            </a:cxn>
                            <a:cxn ang="0">
                              <a:pos x="108" y="10"/>
                            </a:cxn>
                            <a:cxn ang="0">
                              <a:pos x="140" y="5"/>
                            </a:cxn>
                            <a:cxn ang="0">
                              <a:pos x="142" y="12"/>
                            </a:cxn>
                            <a:cxn ang="0">
                              <a:pos x="109" y="17"/>
                            </a:cxn>
                            <a:cxn ang="0">
                              <a:pos x="62" y="6"/>
                            </a:cxn>
                            <a:cxn ang="0">
                              <a:pos x="7" y="15"/>
                            </a:cxn>
                            <a:cxn ang="0">
                              <a:pos x="0" y="9"/>
                            </a:cxn>
                          </a:cxnLst>
                          <a:pathLst>
                            <a:path w="566" h="69">
                              <a:moveTo>
                                <a:pt x="0" y="36"/>
                              </a:moveTo>
                              <a:lnTo>
                                <a:pt x="250" y="0"/>
                              </a:lnTo>
                              <a:lnTo>
                                <a:pt x="430" y="40"/>
                              </a:lnTo>
                              <a:lnTo>
                                <a:pt x="559" y="20"/>
                              </a:lnTo>
                              <a:lnTo>
                                <a:pt x="566" y="49"/>
                              </a:lnTo>
                              <a:lnTo>
                                <a:pt x="436" y="69"/>
                              </a:lnTo>
                              <a:lnTo>
                                <a:pt x="248" y="27"/>
                              </a:lnTo>
                              <a:lnTo>
                                <a:pt x="28" y="61"/>
                              </a:lnTo>
                              <a:lnTo>
                                <a:pt x="0" y="3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5" name="Freeform 646"/>
                        <p:cNvSpPr/>
                        <p:nvPr/>
                      </p:nvSpPr>
                      <p:spPr>
                        <a:xfrm>
                          <a:off x="3264" y="1359"/>
                          <a:ext cx="98" cy="18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9" y="0"/>
                            </a:cxn>
                            <a:cxn ang="0">
                              <a:pos x="14" y="30"/>
                            </a:cxn>
                            <a:cxn ang="0">
                              <a:pos x="45" y="58"/>
                            </a:cxn>
                            <a:cxn ang="0">
                              <a:pos x="49" y="88"/>
                            </a:cxn>
                            <a:cxn ang="0">
                              <a:pos x="41" y="91"/>
                            </a:cxn>
                            <a:cxn ang="0">
                              <a:pos x="36" y="60"/>
                            </a:cxn>
                            <a:cxn ang="0">
                              <a:pos x="5" y="31"/>
                            </a:cxn>
                            <a:cxn ang="0">
                              <a:pos x="0" y="2"/>
                            </a:cxn>
                            <a:cxn ang="0">
                              <a:pos x="9" y="0"/>
                            </a:cxn>
                          </a:cxnLst>
                          <a:pathLst>
                            <a:path w="197" h="363">
                              <a:moveTo>
                                <a:pt x="37" y="0"/>
                              </a:moveTo>
                              <a:lnTo>
                                <a:pt x="58" y="118"/>
                              </a:lnTo>
                              <a:lnTo>
                                <a:pt x="180" y="229"/>
                              </a:lnTo>
                              <a:lnTo>
                                <a:pt x="197" y="350"/>
                              </a:lnTo>
                              <a:lnTo>
                                <a:pt x="164" y="363"/>
                              </a:lnTo>
                              <a:lnTo>
                                <a:pt x="147" y="239"/>
                              </a:lnTo>
                              <a:lnTo>
                                <a:pt x="22" y="124"/>
                              </a:lnTo>
                              <a:lnTo>
                                <a:pt x="0" y="8"/>
                              </a:lnTo>
                              <a:lnTo>
                                <a:pt x="3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6" name="Freeform 647"/>
                        <p:cNvSpPr/>
                        <p:nvPr/>
                      </p:nvSpPr>
                      <p:spPr>
                        <a:xfrm>
                          <a:off x="3224" y="1365"/>
                          <a:ext cx="97" cy="18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1" y="0"/>
                            </a:cxn>
                            <a:cxn ang="0">
                              <a:pos x="15" y="31"/>
                            </a:cxn>
                            <a:cxn ang="0">
                              <a:pos x="45" y="60"/>
                            </a:cxn>
                            <a:cxn ang="0">
                              <a:pos x="49" y="88"/>
                            </a:cxn>
                            <a:cxn ang="0">
                              <a:pos x="38" y="91"/>
                            </a:cxn>
                            <a:cxn ang="0">
                              <a:pos x="34" y="61"/>
                            </a:cxn>
                            <a:cxn ang="0">
                              <a:pos x="5" y="33"/>
                            </a:cxn>
                            <a:cxn ang="0">
                              <a:pos x="0" y="1"/>
                            </a:cxn>
                            <a:cxn ang="0">
                              <a:pos x="11" y="0"/>
                            </a:cxn>
                          </a:cxnLst>
                          <a:pathLst>
                            <a:path w="194" h="364">
                              <a:moveTo>
                                <a:pt x="41" y="0"/>
                              </a:moveTo>
                              <a:lnTo>
                                <a:pt x="59" y="124"/>
                              </a:lnTo>
                              <a:lnTo>
                                <a:pt x="177" y="237"/>
                              </a:lnTo>
                              <a:lnTo>
                                <a:pt x="194" y="352"/>
                              </a:lnTo>
                              <a:lnTo>
                                <a:pt x="149" y="364"/>
                              </a:lnTo>
                              <a:lnTo>
                                <a:pt x="136" y="244"/>
                              </a:lnTo>
                              <a:lnTo>
                                <a:pt x="19" y="131"/>
                              </a:lnTo>
                              <a:lnTo>
                                <a:pt x="0" y="2"/>
                              </a:lnTo>
                              <a:lnTo>
                                <a:pt x="4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7" name="Freeform 648"/>
                        <p:cNvSpPr/>
                        <p:nvPr/>
                      </p:nvSpPr>
                      <p:spPr>
                        <a:xfrm>
                          <a:off x="3179" y="1361"/>
                          <a:ext cx="99" cy="19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1" y="4"/>
                            </a:cxn>
                            <a:cxn ang="0">
                              <a:pos x="15" y="36"/>
                            </a:cxn>
                            <a:cxn ang="0">
                              <a:pos x="45" y="66"/>
                            </a:cxn>
                            <a:cxn ang="0">
                              <a:pos x="50" y="95"/>
                            </a:cxn>
                            <a:cxn ang="0">
                              <a:pos x="41" y="95"/>
                            </a:cxn>
                            <a:cxn ang="0">
                              <a:pos x="37" y="69"/>
                            </a:cxn>
                            <a:cxn ang="0">
                              <a:pos x="6" y="37"/>
                            </a:cxn>
                            <a:cxn ang="0">
                              <a:pos x="0" y="0"/>
                            </a:cxn>
                            <a:cxn ang="0">
                              <a:pos x="11" y="4"/>
                            </a:cxn>
                          </a:cxnLst>
                          <a:pathLst>
                            <a:path w="196" h="380">
                              <a:moveTo>
                                <a:pt x="44" y="13"/>
                              </a:moveTo>
                              <a:lnTo>
                                <a:pt x="60" y="142"/>
                              </a:lnTo>
                              <a:lnTo>
                                <a:pt x="179" y="264"/>
                              </a:lnTo>
                              <a:lnTo>
                                <a:pt x="196" y="378"/>
                              </a:lnTo>
                              <a:lnTo>
                                <a:pt x="160" y="380"/>
                              </a:lnTo>
                              <a:lnTo>
                                <a:pt x="145" y="274"/>
                              </a:lnTo>
                              <a:lnTo>
                                <a:pt x="21" y="148"/>
                              </a:lnTo>
                              <a:lnTo>
                                <a:pt x="0" y="0"/>
                              </a:lnTo>
                              <a:lnTo>
                                <a:pt x="44" y="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8" name="Freeform 649"/>
                        <p:cNvSpPr/>
                        <p:nvPr/>
                      </p:nvSpPr>
                      <p:spPr>
                        <a:xfrm>
                          <a:off x="3049" y="1468"/>
                          <a:ext cx="77" cy="67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11"/>
                            </a:cxn>
                            <a:cxn ang="0">
                              <a:pos x="28" y="22"/>
                            </a:cxn>
                            <a:cxn ang="0">
                              <a:pos x="35" y="16"/>
                            </a:cxn>
                            <a:cxn ang="0">
                              <a:pos x="38" y="0"/>
                            </a:cxn>
                            <a:cxn ang="0">
                              <a:pos x="29" y="12"/>
                            </a:cxn>
                            <a:cxn ang="0">
                              <a:pos x="15" y="32"/>
                            </a:cxn>
                            <a:cxn ang="0">
                              <a:pos x="6" y="33"/>
                            </a:cxn>
                            <a:cxn ang="0">
                              <a:pos x="13" y="22"/>
                            </a:cxn>
                            <a:cxn ang="0">
                              <a:pos x="0" y="11"/>
                            </a:cxn>
                          </a:cxnLst>
                          <a:pathLst>
                            <a:path w="156" h="136">
                              <a:moveTo>
                                <a:pt x="0" y="44"/>
                              </a:moveTo>
                              <a:lnTo>
                                <a:pt x="113" y="92"/>
                              </a:lnTo>
                              <a:lnTo>
                                <a:pt x="143" y="64"/>
                              </a:lnTo>
                              <a:lnTo>
                                <a:pt x="156" y="0"/>
                              </a:lnTo>
                              <a:lnTo>
                                <a:pt x="120" y="51"/>
                              </a:lnTo>
                              <a:lnTo>
                                <a:pt x="63" y="130"/>
                              </a:lnTo>
                              <a:lnTo>
                                <a:pt x="24" y="136"/>
                              </a:lnTo>
                              <a:lnTo>
                                <a:pt x="53" y="92"/>
                              </a:lnTo>
                              <a:lnTo>
                                <a:pt x="0" y="4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69" name="Freeform 650"/>
                        <p:cNvSpPr/>
                        <p:nvPr/>
                      </p:nvSpPr>
                      <p:spPr>
                        <a:xfrm>
                          <a:off x="3137" y="1353"/>
                          <a:ext cx="102" cy="20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0" y="3"/>
                            </a:cxn>
                            <a:cxn ang="0">
                              <a:pos x="16" y="44"/>
                            </a:cxn>
                            <a:cxn ang="0">
                              <a:pos x="47" y="74"/>
                            </a:cxn>
                            <a:cxn ang="0">
                              <a:pos x="51" y="102"/>
                            </a:cxn>
                            <a:cxn ang="0">
                              <a:pos x="43" y="105"/>
                            </a:cxn>
                            <a:cxn ang="0">
                              <a:pos x="39" y="77"/>
                            </a:cxn>
                            <a:cxn ang="0">
                              <a:pos x="8" y="47"/>
                            </a:cxn>
                            <a:cxn ang="0">
                              <a:pos x="0" y="0"/>
                            </a:cxn>
                            <a:cxn ang="0">
                              <a:pos x="10" y="3"/>
                            </a:cxn>
                          </a:cxnLst>
                          <a:pathLst>
                            <a:path w="204" h="418">
                              <a:moveTo>
                                <a:pt x="39" y="10"/>
                              </a:moveTo>
                              <a:lnTo>
                                <a:pt x="63" y="174"/>
                              </a:lnTo>
                              <a:lnTo>
                                <a:pt x="187" y="295"/>
                              </a:lnTo>
                              <a:lnTo>
                                <a:pt x="204" y="408"/>
                              </a:lnTo>
                              <a:lnTo>
                                <a:pt x="170" y="418"/>
                              </a:lnTo>
                              <a:lnTo>
                                <a:pt x="153" y="308"/>
                              </a:lnTo>
                              <a:lnTo>
                                <a:pt x="30" y="186"/>
                              </a:lnTo>
                              <a:lnTo>
                                <a:pt x="0" y="0"/>
                              </a:lnTo>
                              <a:lnTo>
                                <a:pt x="39" y="1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70" name="Freeform 651"/>
                        <p:cNvSpPr/>
                        <p:nvPr/>
                      </p:nvSpPr>
                      <p:spPr>
                        <a:xfrm>
                          <a:off x="3047" y="1401"/>
                          <a:ext cx="51" cy="34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0"/>
                            </a:cxn>
                            <a:cxn ang="0">
                              <a:pos x="26" y="13"/>
                            </a:cxn>
                            <a:cxn ang="0">
                              <a:pos x="0" y="17"/>
                            </a:cxn>
                            <a:cxn ang="0">
                              <a:pos x="8" y="11"/>
                            </a:cxn>
                            <a:cxn ang="0">
                              <a:pos x="0" y="0"/>
                            </a:cxn>
                          </a:cxnLst>
                          <a:pathLst>
                            <a:path w="100" h="67">
                              <a:moveTo>
                                <a:pt x="0" y="0"/>
                              </a:moveTo>
                              <a:lnTo>
                                <a:pt x="100" y="52"/>
                              </a:lnTo>
                              <a:lnTo>
                                <a:pt x="0" y="67"/>
                              </a:lnTo>
                              <a:lnTo>
                                <a:pt x="31" y="43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</p:grpSp>
                </p:grpSp>
                <p:grpSp>
                  <p:nvGrpSpPr>
                    <p:cNvPr id="7206" name="Group 652"/>
                    <p:cNvGrpSpPr/>
                    <p:nvPr/>
                  </p:nvGrpSpPr>
                  <p:grpSpPr>
                    <a:xfrm>
                      <a:off x="2851" y="1756"/>
                      <a:ext cx="718" cy="633"/>
                      <a:chOff x="2851" y="1756"/>
                      <a:chExt cx="718" cy="633"/>
                    </a:xfrm>
                  </p:grpSpPr>
                  <p:grpSp>
                    <p:nvGrpSpPr>
                      <p:cNvPr id="7207" name="Group 653"/>
                      <p:cNvGrpSpPr/>
                      <p:nvPr/>
                    </p:nvGrpSpPr>
                    <p:grpSpPr>
                      <a:xfrm>
                        <a:off x="2851" y="1756"/>
                        <a:ext cx="710" cy="633"/>
                        <a:chOff x="2851" y="1756"/>
                        <a:chExt cx="710" cy="633"/>
                      </a:xfrm>
                    </p:grpSpPr>
                    <p:sp>
                      <p:nvSpPr>
                        <p:cNvPr id="7209" name="Freeform 654"/>
                        <p:cNvSpPr/>
                        <p:nvPr/>
                      </p:nvSpPr>
                      <p:spPr>
                        <a:xfrm>
                          <a:off x="2851" y="1756"/>
                          <a:ext cx="710" cy="32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243" y="138"/>
                            </a:cxn>
                            <a:cxn ang="0">
                              <a:pos x="355" y="69"/>
                            </a:cxn>
                            <a:cxn ang="0">
                              <a:pos x="344" y="0"/>
                            </a:cxn>
                            <a:cxn ang="0">
                              <a:pos x="276" y="11"/>
                            </a:cxn>
                            <a:cxn ang="0">
                              <a:pos x="295" y="46"/>
                            </a:cxn>
                            <a:cxn ang="0">
                              <a:pos x="277" y="64"/>
                            </a:cxn>
                            <a:cxn ang="0">
                              <a:pos x="263" y="13"/>
                            </a:cxn>
                            <a:cxn ang="0">
                              <a:pos x="0" y="56"/>
                            </a:cxn>
                            <a:cxn ang="0">
                              <a:pos x="9" y="106"/>
                            </a:cxn>
                            <a:cxn ang="0">
                              <a:pos x="86" y="165"/>
                            </a:cxn>
                            <a:cxn ang="0">
                              <a:pos x="243" y="138"/>
                            </a:cxn>
                          </a:cxnLst>
                          <a:pathLst>
                            <a:path w="1420" h="658">
                              <a:moveTo>
                                <a:pt x="971" y="549"/>
                              </a:moveTo>
                              <a:lnTo>
                                <a:pt x="1420" y="276"/>
                              </a:lnTo>
                              <a:lnTo>
                                <a:pt x="1376" y="0"/>
                              </a:lnTo>
                              <a:lnTo>
                                <a:pt x="1104" y="44"/>
                              </a:lnTo>
                              <a:lnTo>
                                <a:pt x="1177" y="183"/>
                              </a:lnTo>
                              <a:lnTo>
                                <a:pt x="1105" y="254"/>
                              </a:lnTo>
                              <a:lnTo>
                                <a:pt x="1051" y="51"/>
                              </a:lnTo>
                              <a:lnTo>
                                <a:pt x="0" y="222"/>
                              </a:lnTo>
                              <a:lnTo>
                                <a:pt x="33" y="421"/>
                              </a:lnTo>
                              <a:lnTo>
                                <a:pt x="342" y="658"/>
                              </a:lnTo>
                              <a:lnTo>
                                <a:pt x="971" y="54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>
                            <a:alpha val="100000"/>
                          </a:srgbClr>
                        </a:solidFill>
                        <a:ln w="15875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0" name="Freeform 655"/>
                        <p:cNvSpPr/>
                        <p:nvPr/>
                      </p:nvSpPr>
                      <p:spPr>
                        <a:xfrm>
                          <a:off x="2870" y="1971"/>
                          <a:ext cx="101" cy="398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3" y="199"/>
                            </a:cxn>
                            <a:cxn ang="0">
                              <a:pos x="0" y="0"/>
                            </a:cxn>
                            <a:cxn ang="0">
                              <a:pos x="26" y="20"/>
                            </a:cxn>
                            <a:cxn ang="0">
                              <a:pos x="51" y="184"/>
                            </a:cxn>
                            <a:cxn ang="0">
                              <a:pos x="33" y="199"/>
                            </a:cxn>
                          </a:cxnLst>
                          <a:pathLst>
                            <a:path w="200" h="795">
                              <a:moveTo>
                                <a:pt x="128" y="795"/>
                              </a:moveTo>
                              <a:lnTo>
                                <a:pt x="0" y="0"/>
                              </a:lnTo>
                              <a:lnTo>
                                <a:pt x="100" y="77"/>
                              </a:lnTo>
                              <a:lnTo>
                                <a:pt x="200" y="736"/>
                              </a:lnTo>
                              <a:lnTo>
                                <a:pt x="128" y="79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>
                            <a:alpha val="100000"/>
                          </a:srgbClr>
                        </a:solidFill>
                        <a:ln w="15875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1" name="Freeform 656"/>
                        <p:cNvSpPr/>
                        <p:nvPr/>
                      </p:nvSpPr>
                      <p:spPr>
                        <a:xfrm>
                          <a:off x="2957" y="2234"/>
                          <a:ext cx="38" cy="6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9" y="32"/>
                            </a:cxn>
                            <a:cxn ang="0">
                              <a:pos x="5" y="35"/>
                            </a:cxn>
                            <a:cxn ang="0">
                              <a:pos x="0" y="3"/>
                            </a:cxn>
                            <a:cxn ang="0">
                              <a:pos x="15" y="0"/>
                            </a:cxn>
                            <a:cxn ang="0">
                              <a:pos x="19" y="32"/>
                            </a:cxn>
                          </a:cxnLst>
                          <a:pathLst>
                            <a:path w="76" h="138">
                              <a:moveTo>
                                <a:pt x="76" y="128"/>
                              </a:moveTo>
                              <a:lnTo>
                                <a:pt x="20" y="138"/>
                              </a:lnTo>
                              <a:lnTo>
                                <a:pt x="0" y="9"/>
                              </a:lnTo>
                              <a:lnTo>
                                <a:pt x="58" y="0"/>
                              </a:lnTo>
                              <a:lnTo>
                                <a:pt x="76" y="12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>
                            <a:alpha val="100000"/>
                          </a:srgbClr>
                        </a:solidFill>
                        <a:ln w="15875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2" name="Freeform 657"/>
                        <p:cNvSpPr/>
                        <p:nvPr/>
                      </p:nvSpPr>
                      <p:spPr>
                        <a:xfrm>
                          <a:off x="2982" y="2177"/>
                          <a:ext cx="87" cy="18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8" y="65"/>
                            </a:cxn>
                            <a:cxn ang="0">
                              <a:pos x="12" y="90"/>
                            </a:cxn>
                            <a:cxn ang="0">
                              <a:pos x="43" y="50"/>
                            </a:cxn>
                            <a:cxn ang="0">
                              <a:pos x="40" y="29"/>
                            </a:cxn>
                            <a:cxn ang="0">
                              <a:pos x="0" y="0"/>
                            </a:cxn>
                            <a:cxn ang="0">
                              <a:pos x="4" y="29"/>
                            </a:cxn>
                            <a:cxn ang="0">
                              <a:pos x="28" y="42"/>
                            </a:cxn>
                            <a:cxn ang="0">
                              <a:pos x="8" y="65"/>
                            </a:cxn>
                          </a:cxnLst>
                          <a:pathLst>
                            <a:path w="175" h="360">
                              <a:moveTo>
                                <a:pt x="33" y="257"/>
                              </a:moveTo>
                              <a:lnTo>
                                <a:pt x="48" y="360"/>
                              </a:lnTo>
                              <a:lnTo>
                                <a:pt x="175" y="198"/>
                              </a:lnTo>
                              <a:lnTo>
                                <a:pt x="162" y="114"/>
                              </a:lnTo>
                              <a:lnTo>
                                <a:pt x="0" y="0"/>
                              </a:lnTo>
                              <a:lnTo>
                                <a:pt x="16" y="114"/>
                              </a:lnTo>
                              <a:lnTo>
                                <a:pt x="113" y="165"/>
                              </a:lnTo>
                              <a:lnTo>
                                <a:pt x="33" y="25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3" name="Freeform 658"/>
                        <p:cNvSpPr/>
                        <p:nvPr/>
                      </p:nvSpPr>
                      <p:spPr>
                        <a:xfrm>
                          <a:off x="3049" y="2258"/>
                          <a:ext cx="396" cy="13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98" y="40"/>
                            </a:cxn>
                            <a:cxn ang="0">
                              <a:pos x="0" y="66"/>
                            </a:cxn>
                            <a:cxn ang="0">
                              <a:pos x="32" y="21"/>
                            </a:cxn>
                            <a:cxn ang="0">
                              <a:pos x="30" y="6"/>
                            </a:cxn>
                            <a:cxn ang="0">
                              <a:pos x="65" y="0"/>
                            </a:cxn>
                            <a:cxn ang="0">
                              <a:pos x="114" y="10"/>
                            </a:cxn>
                            <a:cxn ang="0">
                              <a:pos x="159" y="4"/>
                            </a:cxn>
                            <a:cxn ang="0">
                              <a:pos x="198" y="40"/>
                            </a:cxn>
                          </a:cxnLst>
                          <a:pathLst>
                            <a:path w="791" h="262">
                              <a:moveTo>
                                <a:pt x="791" y="158"/>
                              </a:moveTo>
                              <a:lnTo>
                                <a:pt x="0" y="262"/>
                              </a:lnTo>
                              <a:lnTo>
                                <a:pt x="127" y="81"/>
                              </a:lnTo>
                              <a:lnTo>
                                <a:pt x="118" y="23"/>
                              </a:lnTo>
                              <a:lnTo>
                                <a:pt x="257" y="0"/>
                              </a:lnTo>
                              <a:lnTo>
                                <a:pt x="456" y="40"/>
                              </a:lnTo>
                              <a:lnTo>
                                <a:pt x="634" y="13"/>
                              </a:lnTo>
                              <a:lnTo>
                                <a:pt x="791" y="15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>
                            <a:alpha val="100000"/>
                          </a:srgbClr>
                        </a:solidFill>
                        <a:ln w="15875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4" name="Freeform 659"/>
                        <p:cNvSpPr/>
                        <p:nvPr/>
                      </p:nvSpPr>
                      <p:spPr>
                        <a:xfrm>
                          <a:off x="2996" y="2002"/>
                          <a:ext cx="395" cy="276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84" y="131"/>
                            </a:cxn>
                            <a:cxn ang="0">
                              <a:pos x="177" y="95"/>
                            </a:cxn>
                            <a:cxn ang="0">
                              <a:pos x="189" y="78"/>
                            </a:cxn>
                            <a:cxn ang="0">
                              <a:pos x="188" y="69"/>
                            </a:cxn>
                            <a:cxn ang="0">
                              <a:pos x="179" y="71"/>
                            </a:cxn>
                            <a:cxn ang="0">
                              <a:pos x="173" y="66"/>
                            </a:cxn>
                            <a:cxn ang="0">
                              <a:pos x="165" y="60"/>
                            </a:cxn>
                            <a:cxn ang="0">
                              <a:pos x="169" y="56"/>
                            </a:cxn>
                            <a:cxn ang="0">
                              <a:pos x="165" y="36"/>
                            </a:cxn>
                            <a:cxn ang="0">
                              <a:pos x="169" y="24"/>
                            </a:cxn>
                            <a:cxn ang="0">
                              <a:pos x="181" y="22"/>
                            </a:cxn>
                            <a:cxn ang="0">
                              <a:pos x="182" y="30"/>
                            </a:cxn>
                            <a:cxn ang="0">
                              <a:pos x="191" y="30"/>
                            </a:cxn>
                            <a:cxn ang="0">
                              <a:pos x="198" y="16"/>
                            </a:cxn>
                            <a:cxn ang="0">
                              <a:pos x="178" y="0"/>
                            </a:cxn>
                            <a:cxn ang="0">
                              <a:pos x="150" y="5"/>
                            </a:cxn>
                            <a:cxn ang="0">
                              <a:pos x="138" y="16"/>
                            </a:cxn>
                            <a:cxn ang="0">
                              <a:pos x="112" y="20"/>
                            </a:cxn>
                            <a:cxn ang="0">
                              <a:pos x="112" y="27"/>
                            </a:cxn>
                            <a:cxn ang="0">
                              <a:pos x="0" y="44"/>
                            </a:cxn>
                            <a:cxn ang="0">
                              <a:pos x="2" y="53"/>
                            </a:cxn>
                            <a:cxn ang="0">
                              <a:pos x="14" y="51"/>
                            </a:cxn>
                            <a:cxn ang="0">
                              <a:pos x="18" y="81"/>
                            </a:cxn>
                            <a:cxn ang="0">
                              <a:pos x="47" y="107"/>
                            </a:cxn>
                            <a:cxn ang="0">
                              <a:pos x="55" y="133"/>
                            </a:cxn>
                            <a:cxn ang="0">
                              <a:pos x="90" y="128"/>
                            </a:cxn>
                            <a:cxn ang="0">
                              <a:pos x="140" y="138"/>
                            </a:cxn>
                            <a:cxn ang="0">
                              <a:pos x="184" y="131"/>
                            </a:cxn>
                          </a:cxnLst>
                          <a:pathLst>
                            <a:path w="789" h="552">
                              <a:moveTo>
                                <a:pt x="734" y="523"/>
                              </a:moveTo>
                              <a:lnTo>
                                <a:pt x="706" y="380"/>
                              </a:lnTo>
                              <a:lnTo>
                                <a:pt x="756" y="311"/>
                              </a:lnTo>
                              <a:lnTo>
                                <a:pt x="750" y="276"/>
                              </a:lnTo>
                              <a:lnTo>
                                <a:pt x="716" y="282"/>
                              </a:lnTo>
                              <a:lnTo>
                                <a:pt x="689" y="262"/>
                              </a:lnTo>
                              <a:lnTo>
                                <a:pt x="660" y="237"/>
                              </a:lnTo>
                              <a:lnTo>
                                <a:pt x="675" y="222"/>
                              </a:lnTo>
                              <a:lnTo>
                                <a:pt x="659" y="141"/>
                              </a:lnTo>
                              <a:lnTo>
                                <a:pt x="675" y="93"/>
                              </a:lnTo>
                              <a:lnTo>
                                <a:pt x="722" y="85"/>
                              </a:lnTo>
                              <a:lnTo>
                                <a:pt x="726" y="120"/>
                              </a:lnTo>
                              <a:lnTo>
                                <a:pt x="761" y="117"/>
                              </a:lnTo>
                              <a:lnTo>
                                <a:pt x="789" y="61"/>
                              </a:lnTo>
                              <a:lnTo>
                                <a:pt x="709" y="0"/>
                              </a:lnTo>
                              <a:lnTo>
                                <a:pt x="600" y="19"/>
                              </a:lnTo>
                              <a:lnTo>
                                <a:pt x="550" y="63"/>
                              </a:lnTo>
                              <a:lnTo>
                                <a:pt x="445" y="80"/>
                              </a:lnTo>
                              <a:lnTo>
                                <a:pt x="447" y="105"/>
                              </a:lnTo>
                              <a:lnTo>
                                <a:pt x="0" y="176"/>
                              </a:lnTo>
                              <a:lnTo>
                                <a:pt x="5" y="212"/>
                              </a:lnTo>
                              <a:lnTo>
                                <a:pt x="53" y="204"/>
                              </a:lnTo>
                              <a:lnTo>
                                <a:pt x="70" y="321"/>
                              </a:lnTo>
                              <a:lnTo>
                                <a:pt x="186" y="427"/>
                              </a:lnTo>
                              <a:lnTo>
                                <a:pt x="220" y="532"/>
                              </a:lnTo>
                              <a:lnTo>
                                <a:pt x="358" y="512"/>
                              </a:lnTo>
                              <a:lnTo>
                                <a:pt x="560" y="552"/>
                              </a:lnTo>
                              <a:lnTo>
                                <a:pt x="734" y="5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5" name="Freeform 660"/>
                        <p:cNvSpPr/>
                        <p:nvPr/>
                      </p:nvSpPr>
                      <p:spPr>
                        <a:xfrm>
                          <a:off x="3400" y="1773"/>
                          <a:ext cx="148" cy="16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6" y="81"/>
                            </a:cxn>
                            <a:cxn ang="0">
                              <a:pos x="74" y="30"/>
                            </a:cxn>
                            <a:cxn ang="0">
                              <a:pos x="70" y="0"/>
                            </a:cxn>
                            <a:cxn ang="0">
                              <a:pos x="0" y="66"/>
                            </a:cxn>
                            <a:cxn ang="0">
                              <a:pos x="16" y="81"/>
                            </a:cxn>
                          </a:cxnLst>
                          <a:pathLst>
                            <a:path w="296" h="320">
                              <a:moveTo>
                                <a:pt x="63" y="320"/>
                              </a:moveTo>
                              <a:lnTo>
                                <a:pt x="296" y="120"/>
                              </a:lnTo>
                              <a:lnTo>
                                <a:pt x="279" y="0"/>
                              </a:lnTo>
                              <a:lnTo>
                                <a:pt x="0" y="261"/>
                              </a:lnTo>
                              <a:lnTo>
                                <a:pt x="63" y="32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6" name="Freeform 661"/>
                        <p:cNvSpPr/>
                        <p:nvPr/>
                      </p:nvSpPr>
                      <p:spPr>
                        <a:xfrm>
                          <a:off x="3444" y="1764"/>
                          <a:ext cx="76" cy="57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8" y="13"/>
                            </a:cxn>
                            <a:cxn ang="0">
                              <a:pos x="22" y="28"/>
                            </a:cxn>
                            <a:cxn ang="0">
                              <a:pos x="0" y="5"/>
                            </a:cxn>
                            <a:cxn ang="0">
                              <a:pos x="26" y="0"/>
                            </a:cxn>
                            <a:cxn ang="0">
                              <a:pos x="38" y="13"/>
                            </a:cxn>
                          </a:cxnLst>
                          <a:pathLst>
                            <a:path w="151" h="115">
                              <a:moveTo>
                                <a:pt x="151" y="54"/>
                              </a:moveTo>
                              <a:lnTo>
                                <a:pt x="88" y="115"/>
                              </a:lnTo>
                              <a:lnTo>
                                <a:pt x="0" y="20"/>
                              </a:lnTo>
                              <a:lnTo>
                                <a:pt x="101" y="0"/>
                              </a:lnTo>
                              <a:lnTo>
                                <a:pt x="151" y="5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7" name="Freeform 662"/>
                        <p:cNvSpPr/>
                        <p:nvPr/>
                      </p:nvSpPr>
                      <p:spPr>
                        <a:xfrm>
                          <a:off x="3314" y="1790"/>
                          <a:ext cx="142" cy="18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71" y="83"/>
                            </a:cxn>
                            <a:cxn ang="0">
                              <a:pos x="35" y="52"/>
                            </a:cxn>
                            <a:cxn ang="0">
                              <a:pos x="12" y="0"/>
                            </a:cxn>
                            <a:cxn ang="0">
                              <a:pos x="0" y="2"/>
                            </a:cxn>
                            <a:cxn ang="0">
                              <a:pos x="22" y="60"/>
                            </a:cxn>
                            <a:cxn ang="0">
                              <a:pos x="57" y="91"/>
                            </a:cxn>
                            <a:cxn ang="0">
                              <a:pos x="71" y="83"/>
                            </a:cxn>
                          </a:cxnLst>
                          <a:pathLst>
                            <a:path w="285" h="362">
                              <a:moveTo>
                                <a:pt x="285" y="330"/>
                              </a:moveTo>
                              <a:lnTo>
                                <a:pt x="140" y="208"/>
                              </a:lnTo>
                              <a:lnTo>
                                <a:pt x="51" y="0"/>
                              </a:lnTo>
                              <a:lnTo>
                                <a:pt x="0" y="6"/>
                              </a:lnTo>
                              <a:lnTo>
                                <a:pt x="91" y="239"/>
                              </a:lnTo>
                              <a:lnTo>
                                <a:pt x="229" y="362"/>
                              </a:lnTo>
                              <a:lnTo>
                                <a:pt x="285" y="33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8" name="Freeform 663"/>
                        <p:cNvSpPr/>
                        <p:nvPr/>
                      </p:nvSpPr>
                      <p:spPr>
                        <a:xfrm>
                          <a:off x="2900" y="1857"/>
                          <a:ext cx="111" cy="14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55" y="61"/>
                            </a:cxn>
                            <a:cxn ang="0">
                              <a:pos x="48" y="70"/>
                            </a:cxn>
                            <a:cxn ang="0">
                              <a:pos x="5" y="35"/>
                            </a:cxn>
                            <a:cxn ang="0">
                              <a:pos x="0" y="3"/>
                            </a:cxn>
                            <a:cxn ang="0">
                              <a:pos x="10" y="0"/>
                            </a:cxn>
                            <a:cxn ang="0">
                              <a:pos x="15" y="29"/>
                            </a:cxn>
                            <a:cxn ang="0">
                              <a:pos x="55" y="61"/>
                            </a:cxn>
                          </a:cxnLst>
                          <a:pathLst>
                            <a:path w="223" h="280">
                              <a:moveTo>
                                <a:pt x="223" y="241"/>
                              </a:moveTo>
                              <a:lnTo>
                                <a:pt x="193" y="280"/>
                              </a:lnTo>
                              <a:lnTo>
                                <a:pt x="20" y="140"/>
                              </a:lnTo>
                              <a:lnTo>
                                <a:pt x="0" y="10"/>
                              </a:lnTo>
                              <a:lnTo>
                                <a:pt x="43" y="0"/>
                              </a:lnTo>
                              <a:lnTo>
                                <a:pt x="63" y="115"/>
                              </a:lnTo>
                              <a:lnTo>
                                <a:pt x="223" y="24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19" name="Freeform 664"/>
                        <p:cNvSpPr/>
                        <p:nvPr/>
                      </p:nvSpPr>
                      <p:spPr>
                        <a:xfrm>
                          <a:off x="2953" y="1847"/>
                          <a:ext cx="84" cy="106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6" y="53"/>
                            </a:cxn>
                            <a:cxn ang="0">
                              <a:pos x="5" y="28"/>
                            </a:cxn>
                            <a:cxn ang="0">
                              <a:pos x="0" y="3"/>
                            </a:cxn>
                            <a:cxn ang="0">
                              <a:pos x="13" y="0"/>
                            </a:cxn>
                            <a:cxn ang="0">
                              <a:pos x="18" y="26"/>
                            </a:cxn>
                            <a:cxn ang="0">
                              <a:pos x="43" y="45"/>
                            </a:cxn>
                            <a:cxn ang="0">
                              <a:pos x="36" y="53"/>
                            </a:cxn>
                          </a:cxnLst>
                          <a:pathLst>
                            <a:path w="166" h="212">
                              <a:moveTo>
                                <a:pt x="142" y="212"/>
                              </a:moveTo>
                              <a:lnTo>
                                <a:pt x="17" y="112"/>
                              </a:lnTo>
                              <a:lnTo>
                                <a:pt x="0" y="11"/>
                              </a:lnTo>
                              <a:lnTo>
                                <a:pt x="50" y="0"/>
                              </a:lnTo>
                              <a:lnTo>
                                <a:pt x="70" y="102"/>
                              </a:lnTo>
                              <a:lnTo>
                                <a:pt x="166" y="177"/>
                              </a:lnTo>
                              <a:lnTo>
                                <a:pt x="142" y="21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0" name="Freeform 665"/>
                        <p:cNvSpPr/>
                        <p:nvPr/>
                      </p:nvSpPr>
                      <p:spPr>
                        <a:xfrm>
                          <a:off x="3133" y="1802"/>
                          <a:ext cx="133" cy="11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67" y="0"/>
                            </a:cxn>
                            <a:cxn ang="0">
                              <a:pos x="63" y="31"/>
                            </a:cxn>
                            <a:cxn ang="0">
                              <a:pos x="49" y="48"/>
                            </a:cxn>
                            <a:cxn ang="0">
                              <a:pos x="0" y="55"/>
                            </a:cxn>
                            <a:cxn ang="0">
                              <a:pos x="6" y="22"/>
                            </a:cxn>
                            <a:cxn ang="0">
                              <a:pos x="6" y="10"/>
                            </a:cxn>
                            <a:cxn ang="0">
                              <a:pos x="67" y="0"/>
                            </a:cxn>
                          </a:cxnLst>
                          <a:pathLst>
                            <a:path w="265" h="220">
                              <a:moveTo>
                                <a:pt x="265" y="0"/>
                              </a:moveTo>
                              <a:lnTo>
                                <a:pt x="250" y="121"/>
                              </a:lnTo>
                              <a:lnTo>
                                <a:pt x="195" y="191"/>
                              </a:lnTo>
                              <a:lnTo>
                                <a:pt x="0" y="220"/>
                              </a:lnTo>
                              <a:lnTo>
                                <a:pt x="22" y="86"/>
                              </a:lnTo>
                              <a:lnTo>
                                <a:pt x="21" y="40"/>
                              </a:lnTo>
                              <a:lnTo>
                                <a:pt x="265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1" name="Freeform 666"/>
                        <p:cNvSpPr/>
                        <p:nvPr/>
                      </p:nvSpPr>
                      <p:spPr>
                        <a:xfrm>
                          <a:off x="3093" y="1806"/>
                          <a:ext cx="186" cy="137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88" y="0"/>
                            </a:cxn>
                            <a:cxn ang="0">
                              <a:pos x="93" y="34"/>
                            </a:cxn>
                            <a:cxn ang="0">
                              <a:pos x="77" y="55"/>
                            </a:cxn>
                            <a:cxn ang="0">
                              <a:pos x="0" y="68"/>
                            </a:cxn>
                            <a:cxn ang="0">
                              <a:pos x="10" y="38"/>
                            </a:cxn>
                            <a:cxn ang="0">
                              <a:pos x="13" y="10"/>
                            </a:cxn>
                            <a:cxn ang="0">
                              <a:pos x="25" y="8"/>
                            </a:cxn>
                            <a:cxn ang="0">
                              <a:pos x="25" y="19"/>
                            </a:cxn>
                            <a:cxn ang="0">
                              <a:pos x="20" y="53"/>
                            </a:cxn>
                            <a:cxn ang="0">
                              <a:pos x="69" y="45"/>
                            </a:cxn>
                            <a:cxn ang="0">
                              <a:pos x="84" y="28"/>
                            </a:cxn>
                            <a:cxn ang="0">
                              <a:pos x="88" y="0"/>
                            </a:cxn>
                          </a:cxnLst>
                          <a:pathLst>
                            <a:path w="373" h="275">
                              <a:moveTo>
                                <a:pt x="352" y="0"/>
                              </a:moveTo>
                              <a:lnTo>
                                <a:pt x="373" y="138"/>
                              </a:lnTo>
                              <a:lnTo>
                                <a:pt x="308" y="223"/>
                              </a:lnTo>
                              <a:lnTo>
                                <a:pt x="0" y="275"/>
                              </a:lnTo>
                              <a:lnTo>
                                <a:pt x="42" y="152"/>
                              </a:lnTo>
                              <a:lnTo>
                                <a:pt x="54" y="41"/>
                              </a:lnTo>
                              <a:lnTo>
                                <a:pt x="102" y="34"/>
                              </a:lnTo>
                              <a:lnTo>
                                <a:pt x="101" y="79"/>
                              </a:lnTo>
                              <a:lnTo>
                                <a:pt x="81" y="213"/>
                              </a:lnTo>
                              <a:lnTo>
                                <a:pt x="279" y="182"/>
                              </a:lnTo>
                              <a:lnTo>
                                <a:pt x="339" y="112"/>
                              </a:lnTo>
                              <a:lnTo>
                                <a:pt x="352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AFD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2" name="Freeform 667"/>
                        <p:cNvSpPr/>
                        <p:nvPr/>
                      </p:nvSpPr>
                      <p:spPr>
                        <a:xfrm>
                          <a:off x="3035" y="1800"/>
                          <a:ext cx="250" cy="19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25" y="16"/>
                            </a:cxn>
                            <a:cxn ang="0">
                              <a:pos x="18" y="62"/>
                            </a:cxn>
                            <a:cxn ang="0">
                              <a:pos x="0" y="96"/>
                            </a:cxn>
                            <a:cxn ang="0">
                              <a:pos x="97" y="79"/>
                            </a:cxn>
                            <a:cxn ang="0">
                              <a:pos x="125" y="51"/>
                            </a:cxn>
                            <a:cxn ang="0">
                              <a:pos x="117" y="0"/>
                            </a:cxn>
                            <a:cxn ang="0">
                              <a:pos x="123" y="39"/>
                            </a:cxn>
                            <a:cxn ang="0">
                              <a:pos x="105" y="59"/>
                            </a:cxn>
                            <a:cxn ang="0">
                              <a:pos x="29" y="72"/>
                            </a:cxn>
                            <a:cxn ang="0">
                              <a:pos x="39" y="40"/>
                            </a:cxn>
                            <a:cxn ang="0">
                              <a:pos x="42" y="13"/>
                            </a:cxn>
                            <a:cxn ang="0">
                              <a:pos x="25" y="16"/>
                            </a:cxn>
                          </a:cxnLst>
                          <a:pathLst>
                            <a:path w="501" h="378">
                              <a:moveTo>
                                <a:pt x="103" y="63"/>
                              </a:moveTo>
                              <a:lnTo>
                                <a:pt x="74" y="246"/>
                              </a:lnTo>
                              <a:lnTo>
                                <a:pt x="0" y="378"/>
                              </a:lnTo>
                              <a:lnTo>
                                <a:pt x="389" y="315"/>
                              </a:lnTo>
                              <a:lnTo>
                                <a:pt x="501" y="201"/>
                              </a:lnTo>
                              <a:lnTo>
                                <a:pt x="471" y="0"/>
                              </a:lnTo>
                              <a:lnTo>
                                <a:pt x="494" y="154"/>
                              </a:lnTo>
                              <a:lnTo>
                                <a:pt x="422" y="235"/>
                              </a:lnTo>
                              <a:lnTo>
                                <a:pt x="118" y="284"/>
                              </a:lnTo>
                              <a:lnTo>
                                <a:pt x="159" y="157"/>
                              </a:lnTo>
                              <a:lnTo>
                                <a:pt x="170" y="51"/>
                              </a:lnTo>
                              <a:lnTo>
                                <a:pt x="103" y="6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3" name="Freeform 668"/>
                        <p:cNvSpPr/>
                        <p:nvPr/>
                      </p:nvSpPr>
                      <p:spPr>
                        <a:xfrm>
                          <a:off x="2986" y="1831"/>
                          <a:ext cx="303" cy="19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50" y="35"/>
                            </a:cxn>
                            <a:cxn ang="0">
                              <a:pos x="152" y="44"/>
                            </a:cxn>
                            <a:cxn ang="0">
                              <a:pos x="121" y="77"/>
                            </a:cxn>
                            <a:cxn ang="0">
                              <a:pos x="0" y="95"/>
                            </a:cxn>
                            <a:cxn ang="0">
                              <a:pos x="28" y="48"/>
                            </a:cxn>
                            <a:cxn ang="0">
                              <a:pos x="35" y="2"/>
                            </a:cxn>
                            <a:cxn ang="0">
                              <a:pos x="50" y="0"/>
                            </a:cxn>
                            <a:cxn ang="0">
                              <a:pos x="43" y="46"/>
                            </a:cxn>
                            <a:cxn ang="0">
                              <a:pos x="24" y="80"/>
                            </a:cxn>
                            <a:cxn ang="0">
                              <a:pos x="122" y="64"/>
                            </a:cxn>
                            <a:cxn ang="0">
                              <a:pos x="150" y="35"/>
                            </a:cxn>
                          </a:cxnLst>
                          <a:pathLst>
                            <a:path w="606" h="380">
                              <a:moveTo>
                                <a:pt x="600" y="138"/>
                              </a:moveTo>
                              <a:lnTo>
                                <a:pt x="606" y="176"/>
                              </a:lnTo>
                              <a:lnTo>
                                <a:pt x="481" y="305"/>
                              </a:lnTo>
                              <a:lnTo>
                                <a:pt x="0" y="380"/>
                              </a:lnTo>
                              <a:lnTo>
                                <a:pt x="112" y="190"/>
                              </a:lnTo>
                              <a:lnTo>
                                <a:pt x="139" y="6"/>
                              </a:lnTo>
                              <a:lnTo>
                                <a:pt x="198" y="0"/>
                              </a:lnTo>
                              <a:lnTo>
                                <a:pt x="171" y="182"/>
                              </a:lnTo>
                              <a:lnTo>
                                <a:pt x="94" y="317"/>
                              </a:lnTo>
                              <a:lnTo>
                                <a:pt x="485" y="254"/>
                              </a:lnTo>
                              <a:lnTo>
                                <a:pt x="600" y="13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4" name="Freeform 669"/>
                        <p:cNvSpPr/>
                        <p:nvPr/>
                      </p:nvSpPr>
                      <p:spPr>
                        <a:xfrm>
                          <a:off x="3140" y="1995"/>
                          <a:ext cx="78" cy="7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9" y="33"/>
                            </a:cxn>
                            <a:cxn ang="0">
                              <a:pos x="36" y="15"/>
                            </a:cxn>
                            <a:cxn ang="0">
                              <a:pos x="3" y="20"/>
                            </a:cxn>
                            <a:cxn ang="0">
                              <a:pos x="0" y="2"/>
                            </a:cxn>
                            <a:cxn ang="0">
                              <a:pos x="16" y="0"/>
                            </a:cxn>
                            <a:cxn ang="0">
                              <a:pos x="22" y="36"/>
                            </a:cxn>
                            <a:cxn ang="0">
                              <a:pos x="39" y="33"/>
                            </a:cxn>
                          </a:cxnLst>
                          <a:pathLst>
                            <a:path w="155" h="145">
                              <a:moveTo>
                                <a:pt x="155" y="133"/>
                              </a:moveTo>
                              <a:lnTo>
                                <a:pt x="143" y="60"/>
                              </a:lnTo>
                              <a:lnTo>
                                <a:pt x="11" y="81"/>
                              </a:lnTo>
                              <a:lnTo>
                                <a:pt x="0" y="11"/>
                              </a:lnTo>
                              <a:lnTo>
                                <a:pt x="64" y="0"/>
                              </a:lnTo>
                              <a:lnTo>
                                <a:pt x="85" y="145"/>
                              </a:lnTo>
                              <a:lnTo>
                                <a:pt x="155" y="13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5" name="Freeform 670"/>
                        <p:cNvSpPr/>
                        <p:nvPr/>
                      </p:nvSpPr>
                      <p:spPr>
                        <a:xfrm>
                          <a:off x="3106" y="2001"/>
                          <a:ext cx="77" cy="7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8" y="33"/>
                            </a:cxn>
                            <a:cxn ang="0">
                              <a:pos x="36" y="15"/>
                            </a:cxn>
                            <a:cxn ang="0">
                              <a:pos x="2" y="20"/>
                            </a:cxn>
                            <a:cxn ang="0">
                              <a:pos x="0" y="3"/>
                            </a:cxn>
                            <a:cxn ang="0">
                              <a:pos x="16" y="0"/>
                            </a:cxn>
                            <a:cxn ang="0">
                              <a:pos x="21" y="36"/>
                            </a:cxn>
                            <a:cxn ang="0">
                              <a:pos x="38" y="33"/>
                            </a:cxn>
                          </a:cxnLst>
                          <a:pathLst>
                            <a:path w="155" h="142">
                              <a:moveTo>
                                <a:pt x="155" y="131"/>
                              </a:moveTo>
                              <a:lnTo>
                                <a:pt x="144" y="59"/>
                              </a:lnTo>
                              <a:lnTo>
                                <a:pt x="9" y="80"/>
                              </a:lnTo>
                              <a:lnTo>
                                <a:pt x="0" y="9"/>
                              </a:lnTo>
                              <a:lnTo>
                                <a:pt x="64" y="0"/>
                              </a:lnTo>
                              <a:lnTo>
                                <a:pt x="86" y="142"/>
                              </a:lnTo>
                              <a:lnTo>
                                <a:pt x="155" y="13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6" name="Freeform 671"/>
                        <p:cNvSpPr/>
                        <p:nvPr/>
                      </p:nvSpPr>
                      <p:spPr>
                        <a:xfrm>
                          <a:off x="3072" y="2006"/>
                          <a:ext cx="77" cy="7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8" y="33"/>
                            </a:cxn>
                            <a:cxn ang="0">
                              <a:pos x="36" y="15"/>
                            </a:cxn>
                            <a:cxn ang="0">
                              <a:pos x="2" y="20"/>
                            </a:cxn>
                            <a:cxn ang="0">
                              <a:pos x="0" y="2"/>
                            </a:cxn>
                            <a:cxn ang="0">
                              <a:pos x="16" y="0"/>
                            </a:cxn>
                            <a:cxn ang="0">
                              <a:pos x="21" y="36"/>
                            </a:cxn>
                            <a:cxn ang="0">
                              <a:pos x="38" y="33"/>
                            </a:cxn>
                          </a:cxnLst>
                          <a:pathLst>
                            <a:path w="155" h="145">
                              <a:moveTo>
                                <a:pt x="155" y="134"/>
                              </a:moveTo>
                              <a:lnTo>
                                <a:pt x="144" y="60"/>
                              </a:lnTo>
                              <a:lnTo>
                                <a:pt x="8" y="82"/>
                              </a:lnTo>
                              <a:lnTo>
                                <a:pt x="0" y="11"/>
                              </a:lnTo>
                              <a:lnTo>
                                <a:pt x="65" y="0"/>
                              </a:lnTo>
                              <a:lnTo>
                                <a:pt x="87" y="145"/>
                              </a:lnTo>
                              <a:lnTo>
                                <a:pt x="155" y="13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7" name="Freeform 672"/>
                        <p:cNvSpPr/>
                        <p:nvPr/>
                      </p:nvSpPr>
                      <p:spPr>
                        <a:xfrm>
                          <a:off x="3036" y="2012"/>
                          <a:ext cx="78" cy="73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9" y="33"/>
                            </a:cxn>
                            <a:cxn ang="0">
                              <a:pos x="37" y="15"/>
                            </a:cxn>
                            <a:cxn ang="0">
                              <a:pos x="3" y="20"/>
                            </a:cxn>
                            <a:cxn ang="0">
                              <a:pos x="0" y="2"/>
                            </a:cxn>
                            <a:cxn ang="0">
                              <a:pos x="17" y="0"/>
                            </a:cxn>
                            <a:cxn ang="0">
                              <a:pos x="22" y="36"/>
                            </a:cxn>
                            <a:cxn ang="0">
                              <a:pos x="39" y="33"/>
                            </a:cxn>
                          </a:cxnLst>
                          <a:pathLst>
                            <a:path w="156" h="147">
                              <a:moveTo>
                                <a:pt x="156" y="133"/>
                              </a:moveTo>
                              <a:lnTo>
                                <a:pt x="145" y="60"/>
                              </a:lnTo>
                              <a:lnTo>
                                <a:pt x="10" y="81"/>
                              </a:lnTo>
                              <a:lnTo>
                                <a:pt x="0" y="11"/>
                              </a:lnTo>
                              <a:lnTo>
                                <a:pt x="65" y="0"/>
                              </a:lnTo>
                              <a:lnTo>
                                <a:pt x="88" y="147"/>
                              </a:lnTo>
                              <a:lnTo>
                                <a:pt x="156" y="13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8" name="Freeform 673"/>
                        <p:cNvSpPr/>
                        <p:nvPr/>
                      </p:nvSpPr>
                      <p:spPr>
                        <a:xfrm>
                          <a:off x="3000" y="2017"/>
                          <a:ext cx="79" cy="7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40" y="34"/>
                            </a:cxn>
                            <a:cxn ang="0">
                              <a:pos x="36" y="15"/>
                            </a:cxn>
                            <a:cxn ang="0">
                              <a:pos x="3" y="20"/>
                            </a:cxn>
                            <a:cxn ang="0">
                              <a:pos x="0" y="3"/>
                            </a:cxn>
                            <a:cxn ang="0">
                              <a:pos x="16" y="0"/>
                            </a:cxn>
                            <a:cxn ang="0">
                              <a:pos x="22" y="36"/>
                            </a:cxn>
                            <a:cxn ang="0">
                              <a:pos x="40" y="34"/>
                            </a:cxn>
                          </a:cxnLst>
                          <a:pathLst>
                            <a:path w="156" h="144">
                              <a:moveTo>
                                <a:pt x="156" y="135"/>
                              </a:moveTo>
                              <a:lnTo>
                                <a:pt x="143" y="60"/>
                              </a:lnTo>
                              <a:lnTo>
                                <a:pt x="11" y="80"/>
                              </a:lnTo>
                              <a:lnTo>
                                <a:pt x="0" y="11"/>
                              </a:lnTo>
                              <a:lnTo>
                                <a:pt x="63" y="0"/>
                              </a:lnTo>
                              <a:lnTo>
                                <a:pt x="85" y="144"/>
                              </a:lnTo>
                              <a:lnTo>
                                <a:pt x="156" y="13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29" name="Freeform 674"/>
                        <p:cNvSpPr/>
                        <p:nvPr/>
                      </p:nvSpPr>
                      <p:spPr>
                        <a:xfrm>
                          <a:off x="2968" y="2022"/>
                          <a:ext cx="78" cy="7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9" y="34"/>
                            </a:cxn>
                            <a:cxn ang="0">
                              <a:pos x="37" y="15"/>
                            </a:cxn>
                            <a:cxn ang="0">
                              <a:pos x="3" y="21"/>
                            </a:cxn>
                            <a:cxn ang="0">
                              <a:pos x="0" y="3"/>
                            </a:cxn>
                            <a:cxn ang="0">
                              <a:pos x="16" y="0"/>
                            </a:cxn>
                            <a:cxn ang="0">
                              <a:pos x="22" y="36"/>
                            </a:cxn>
                            <a:cxn ang="0">
                              <a:pos x="39" y="34"/>
                            </a:cxn>
                          </a:cxnLst>
                          <a:pathLst>
                            <a:path w="156" h="144">
                              <a:moveTo>
                                <a:pt x="156" y="134"/>
                              </a:moveTo>
                              <a:lnTo>
                                <a:pt x="145" y="60"/>
                              </a:lnTo>
                              <a:lnTo>
                                <a:pt x="11" y="81"/>
                              </a:lnTo>
                              <a:lnTo>
                                <a:pt x="0" y="10"/>
                              </a:lnTo>
                              <a:lnTo>
                                <a:pt x="64" y="0"/>
                              </a:lnTo>
                              <a:lnTo>
                                <a:pt x="85" y="144"/>
                              </a:lnTo>
                              <a:lnTo>
                                <a:pt x="156" y="13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0" name="Freeform 675"/>
                        <p:cNvSpPr/>
                        <p:nvPr/>
                      </p:nvSpPr>
                      <p:spPr>
                        <a:xfrm>
                          <a:off x="2935" y="2028"/>
                          <a:ext cx="78" cy="7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9" y="33"/>
                            </a:cxn>
                            <a:cxn ang="0">
                              <a:pos x="36" y="15"/>
                            </a:cxn>
                            <a:cxn ang="0">
                              <a:pos x="2" y="20"/>
                            </a:cxn>
                            <a:cxn ang="0">
                              <a:pos x="0" y="2"/>
                            </a:cxn>
                            <a:cxn ang="0">
                              <a:pos x="16" y="0"/>
                            </a:cxn>
                            <a:cxn ang="0">
                              <a:pos x="21" y="36"/>
                            </a:cxn>
                            <a:cxn ang="0">
                              <a:pos x="39" y="33"/>
                            </a:cxn>
                          </a:cxnLst>
                          <a:pathLst>
                            <a:path w="157" h="145">
                              <a:moveTo>
                                <a:pt x="157" y="133"/>
                              </a:moveTo>
                              <a:lnTo>
                                <a:pt x="146" y="60"/>
                              </a:lnTo>
                              <a:lnTo>
                                <a:pt x="11" y="81"/>
                              </a:lnTo>
                              <a:lnTo>
                                <a:pt x="0" y="11"/>
                              </a:lnTo>
                              <a:lnTo>
                                <a:pt x="66" y="0"/>
                              </a:lnTo>
                              <a:lnTo>
                                <a:pt x="86" y="145"/>
                              </a:lnTo>
                              <a:lnTo>
                                <a:pt x="157" y="13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1" name="Freeform 676"/>
                        <p:cNvSpPr/>
                        <p:nvPr/>
                      </p:nvSpPr>
                      <p:spPr>
                        <a:xfrm>
                          <a:off x="3268" y="1795"/>
                          <a:ext cx="136" cy="215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68" y="97"/>
                            </a:cxn>
                            <a:cxn ang="0">
                              <a:pos x="33" y="66"/>
                            </a:cxn>
                            <a:cxn ang="0">
                              <a:pos x="12" y="0"/>
                            </a:cxn>
                            <a:cxn ang="0">
                              <a:pos x="0" y="3"/>
                            </a:cxn>
                            <a:cxn ang="0">
                              <a:pos x="14" y="71"/>
                            </a:cxn>
                            <a:cxn ang="0">
                              <a:pos x="49" y="108"/>
                            </a:cxn>
                            <a:cxn ang="0">
                              <a:pos x="68" y="97"/>
                            </a:cxn>
                          </a:cxnLst>
                          <a:pathLst>
                            <a:path w="271" h="430">
                              <a:moveTo>
                                <a:pt x="271" y="387"/>
                              </a:moveTo>
                              <a:lnTo>
                                <a:pt x="132" y="262"/>
                              </a:lnTo>
                              <a:lnTo>
                                <a:pt x="48" y="0"/>
                              </a:lnTo>
                              <a:lnTo>
                                <a:pt x="0" y="12"/>
                              </a:lnTo>
                              <a:lnTo>
                                <a:pt x="55" y="281"/>
                              </a:lnTo>
                              <a:lnTo>
                                <a:pt x="194" y="430"/>
                              </a:lnTo>
                              <a:lnTo>
                                <a:pt x="271" y="38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2" name="Freeform 677"/>
                        <p:cNvSpPr/>
                        <p:nvPr/>
                      </p:nvSpPr>
                      <p:spPr>
                        <a:xfrm>
                          <a:off x="3112" y="2275"/>
                          <a:ext cx="282" cy="34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41" y="9"/>
                            </a:cxn>
                            <a:cxn ang="0">
                              <a:pos x="79" y="17"/>
                            </a:cxn>
                            <a:cxn ang="0">
                              <a:pos x="34" y="7"/>
                            </a:cxn>
                            <a:cxn ang="0">
                              <a:pos x="2" y="13"/>
                            </a:cxn>
                            <a:cxn ang="0">
                              <a:pos x="0" y="5"/>
                            </a:cxn>
                            <a:cxn ang="0">
                              <a:pos x="33" y="0"/>
                            </a:cxn>
                            <a:cxn ang="0">
                              <a:pos x="80" y="11"/>
                            </a:cxn>
                            <a:cxn ang="0">
                              <a:pos x="134" y="2"/>
                            </a:cxn>
                            <a:cxn ang="0">
                              <a:pos x="141" y="9"/>
                            </a:cxn>
                          </a:cxnLst>
                          <a:pathLst>
                            <a:path w="564" h="68">
                              <a:moveTo>
                                <a:pt x="564" y="33"/>
                              </a:moveTo>
                              <a:lnTo>
                                <a:pt x="315" y="68"/>
                              </a:lnTo>
                              <a:lnTo>
                                <a:pt x="136" y="28"/>
                              </a:lnTo>
                              <a:lnTo>
                                <a:pt x="6" y="49"/>
                              </a:lnTo>
                              <a:lnTo>
                                <a:pt x="0" y="19"/>
                              </a:lnTo>
                              <a:lnTo>
                                <a:pt x="130" y="0"/>
                              </a:lnTo>
                              <a:lnTo>
                                <a:pt x="318" y="41"/>
                              </a:lnTo>
                              <a:lnTo>
                                <a:pt x="536" y="7"/>
                              </a:lnTo>
                              <a:lnTo>
                                <a:pt x="564" y="3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3" name="Freeform 678"/>
                        <p:cNvSpPr/>
                        <p:nvPr/>
                      </p:nvSpPr>
                      <p:spPr>
                        <a:xfrm>
                          <a:off x="3035" y="2089"/>
                          <a:ext cx="98" cy="18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40" y="91"/>
                            </a:cxn>
                            <a:cxn ang="0">
                              <a:pos x="35" y="62"/>
                            </a:cxn>
                            <a:cxn ang="0">
                              <a:pos x="4" y="34"/>
                            </a:cxn>
                            <a:cxn ang="0">
                              <a:pos x="0" y="4"/>
                            </a:cxn>
                            <a:cxn ang="0">
                              <a:pos x="8" y="0"/>
                            </a:cxn>
                            <a:cxn ang="0">
                              <a:pos x="12" y="31"/>
                            </a:cxn>
                            <a:cxn ang="0">
                              <a:pos x="43" y="60"/>
                            </a:cxn>
                            <a:cxn ang="0">
                              <a:pos x="49" y="89"/>
                            </a:cxn>
                            <a:cxn ang="0">
                              <a:pos x="40" y="91"/>
                            </a:cxn>
                          </a:cxnLst>
                          <a:pathLst>
                            <a:path w="197" h="363">
                              <a:moveTo>
                                <a:pt x="160" y="363"/>
                              </a:moveTo>
                              <a:lnTo>
                                <a:pt x="140" y="245"/>
                              </a:lnTo>
                              <a:lnTo>
                                <a:pt x="17" y="134"/>
                              </a:lnTo>
                              <a:lnTo>
                                <a:pt x="0" y="13"/>
                              </a:lnTo>
                              <a:lnTo>
                                <a:pt x="33" y="0"/>
                              </a:lnTo>
                              <a:lnTo>
                                <a:pt x="50" y="124"/>
                              </a:lnTo>
                              <a:lnTo>
                                <a:pt x="175" y="239"/>
                              </a:lnTo>
                              <a:lnTo>
                                <a:pt x="197" y="355"/>
                              </a:lnTo>
                              <a:lnTo>
                                <a:pt x="160" y="36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4" name="Freeform 679"/>
                        <p:cNvSpPr/>
                        <p:nvPr/>
                      </p:nvSpPr>
                      <p:spPr>
                        <a:xfrm>
                          <a:off x="3075" y="2083"/>
                          <a:ext cx="97" cy="18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9" y="91"/>
                            </a:cxn>
                            <a:cxn ang="0">
                              <a:pos x="34" y="60"/>
                            </a:cxn>
                            <a:cxn ang="0">
                              <a:pos x="5" y="32"/>
                            </a:cxn>
                            <a:cxn ang="0">
                              <a:pos x="0" y="3"/>
                            </a:cxn>
                            <a:cxn ang="0">
                              <a:pos x="12" y="0"/>
                            </a:cxn>
                            <a:cxn ang="0">
                              <a:pos x="15" y="30"/>
                            </a:cxn>
                            <a:cxn ang="0">
                              <a:pos x="44" y="59"/>
                            </a:cxn>
                            <a:cxn ang="0">
                              <a:pos x="49" y="91"/>
                            </a:cxn>
                            <a:cxn ang="0">
                              <a:pos x="39" y="91"/>
                            </a:cxn>
                          </a:cxnLst>
                          <a:pathLst>
                            <a:path w="194" h="364">
                              <a:moveTo>
                                <a:pt x="153" y="364"/>
                              </a:moveTo>
                              <a:lnTo>
                                <a:pt x="136" y="240"/>
                              </a:lnTo>
                              <a:lnTo>
                                <a:pt x="17" y="127"/>
                              </a:lnTo>
                              <a:lnTo>
                                <a:pt x="0" y="12"/>
                              </a:lnTo>
                              <a:lnTo>
                                <a:pt x="45" y="0"/>
                              </a:lnTo>
                              <a:lnTo>
                                <a:pt x="59" y="120"/>
                              </a:lnTo>
                              <a:lnTo>
                                <a:pt x="175" y="234"/>
                              </a:lnTo>
                              <a:lnTo>
                                <a:pt x="194" y="362"/>
                              </a:lnTo>
                              <a:lnTo>
                                <a:pt x="153" y="36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5" name="Freeform 680"/>
                        <p:cNvSpPr/>
                        <p:nvPr/>
                      </p:nvSpPr>
                      <p:spPr>
                        <a:xfrm>
                          <a:off x="3118" y="2079"/>
                          <a:ext cx="100" cy="19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39" y="92"/>
                            </a:cxn>
                            <a:cxn ang="0">
                              <a:pos x="35" y="60"/>
                            </a:cxn>
                            <a:cxn ang="0">
                              <a:pos x="5" y="29"/>
                            </a:cxn>
                            <a:cxn ang="0">
                              <a:pos x="0" y="1"/>
                            </a:cxn>
                            <a:cxn ang="0">
                              <a:pos x="10" y="0"/>
                            </a:cxn>
                            <a:cxn ang="0">
                              <a:pos x="13" y="27"/>
                            </a:cxn>
                            <a:cxn ang="0">
                              <a:pos x="45" y="58"/>
                            </a:cxn>
                            <a:cxn ang="0">
                              <a:pos x="50" y="95"/>
                            </a:cxn>
                            <a:cxn ang="0">
                              <a:pos x="39" y="92"/>
                            </a:cxn>
                          </a:cxnLst>
                          <a:pathLst>
                            <a:path w="199" h="380">
                              <a:moveTo>
                                <a:pt x="154" y="367"/>
                              </a:moveTo>
                              <a:lnTo>
                                <a:pt x="138" y="238"/>
                              </a:lnTo>
                              <a:lnTo>
                                <a:pt x="17" y="116"/>
                              </a:lnTo>
                              <a:lnTo>
                                <a:pt x="0" y="2"/>
                              </a:lnTo>
                              <a:lnTo>
                                <a:pt x="38" y="0"/>
                              </a:lnTo>
                              <a:lnTo>
                                <a:pt x="52" y="106"/>
                              </a:lnTo>
                              <a:lnTo>
                                <a:pt x="178" y="232"/>
                              </a:lnTo>
                              <a:lnTo>
                                <a:pt x="199" y="380"/>
                              </a:lnTo>
                              <a:lnTo>
                                <a:pt x="154" y="36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6" name="Freeform 681"/>
                        <p:cNvSpPr/>
                        <p:nvPr/>
                      </p:nvSpPr>
                      <p:spPr>
                        <a:xfrm>
                          <a:off x="3264" y="2093"/>
                          <a:ext cx="79" cy="68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40" y="23"/>
                            </a:cxn>
                            <a:cxn ang="0">
                              <a:pos x="11" y="11"/>
                            </a:cxn>
                            <a:cxn ang="0">
                              <a:pos x="3" y="18"/>
                            </a:cxn>
                            <a:cxn ang="0">
                              <a:pos x="0" y="34"/>
                            </a:cxn>
                            <a:cxn ang="0">
                              <a:pos x="9" y="21"/>
                            </a:cxn>
                            <a:cxn ang="0">
                              <a:pos x="24" y="2"/>
                            </a:cxn>
                            <a:cxn ang="0">
                              <a:pos x="34" y="0"/>
                            </a:cxn>
                            <a:cxn ang="0">
                              <a:pos x="26" y="11"/>
                            </a:cxn>
                            <a:cxn ang="0">
                              <a:pos x="40" y="23"/>
                            </a:cxn>
                          </a:cxnLst>
                          <a:pathLst>
                            <a:path w="157" h="135">
                              <a:moveTo>
                                <a:pt x="157" y="91"/>
                              </a:moveTo>
                              <a:lnTo>
                                <a:pt x="42" y="44"/>
                              </a:lnTo>
                              <a:lnTo>
                                <a:pt x="12" y="72"/>
                              </a:lnTo>
                              <a:lnTo>
                                <a:pt x="0" y="135"/>
                              </a:lnTo>
                              <a:lnTo>
                                <a:pt x="35" y="84"/>
                              </a:lnTo>
                              <a:lnTo>
                                <a:pt x="94" y="6"/>
                              </a:lnTo>
                              <a:lnTo>
                                <a:pt x="133" y="0"/>
                              </a:lnTo>
                              <a:lnTo>
                                <a:pt x="103" y="44"/>
                              </a:lnTo>
                              <a:lnTo>
                                <a:pt x="157" y="9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7" name="Freeform 682"/>
                        <p:cNvSpPr/>
                        <p:nvPr/>
                      </p:nvSpPr>
                      <p:spPr>
                        <a:xfrm>
                          <a:off x="3157" y="2068"/>
                          <a:ext cx="102" cy="20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42" y="102"/>
                            </a:cxn>
                            <a:cxn ang="0">
                              <a:pos x="36" y="61"/>
                            </a:cxn>
                            <a:cxn ang="0">
                              <a:pos x="5" y="31"/>
                            </a:cxn>
                            <a:cxn ang="0">
                              <a:pos x="0" y="3"/>
                            </a:cxn>
                            <a:cxn ang="0">
                              <a:pos x="9" y="0"/>
                            </a:cxn>
                            <a:cxn ang="0">
                              <a:pos x="13" y="28"/>
                            </a:cxn>
                            <a:cxn ang="0">
                              <a:pos x="44" y="58"/>
                            </a:cxn>
                            <a:cxn ang="0">
                              <a:pos x="51" y="105"/>
                            </a:cxn>
                            <a:cxn ang="0">
                              <a:pos x="42" y="102"/>
                            </a:cxn>
                          </a:cxnLst>
                          <a:pathLst>
                            <a:path w="204" h="418">
                              <a:moveTo>
                                <a:pt x="165" y="408"/>
                              </a:moveTo>
                              <a:lnTo>
                                <a:pt x="142" y="244"/>
                              </a:lnTo>
                              <a:lnTo>
                                <a:pt x="17" y="123"/>
                              </a:lnTo>
                              <a:lnTo>
                                <a:pt x="0" y="10"/>
                              </a:lnTo>
                              <a:lnTo>
                                <a:pt x="34" y="0"/>
                              </a:lnTo>
                              <a:lnTo>
                                <a:pt x="51" y="110"/>
                              </a:lnTo>
                              <a:lnTo>
                                <a:pt x="174" y="232"/>
                              </a:lnTo>
                              <a:lnTo>
                                <a:pt x="204" y="418"/>
                              </a:lnTo>
                              <a:lnTo>
                                <a:pt x="165" y="4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9525">
                          <a:noFill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38" name="Freeform 683"/>
                        <p:cNvSpPr/>
                        <p:nvPr/>
                      </p:nvSpPr>
                      <p:spPr>
                        <a:xfrm>
                          <a:off x="3294" y="2191"/>
                          <a:ext cx="51" cy="33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26" y="16"/>
                            </a:cxn>
                            <a:cxn ang="0">
                              <a:pos x="0" y="3"/>
                            </a:cxn>
                            <a:cxn ang="0">
                              <a:pos x="26" y="0"/>
                            </a:cxn>
                            <a:cxn ang="0">
                              <a:pos x="18" y="6"/>
                            </a:cxn>
                            <a:cxn ang="0">
                              <a:pos x="26" y="16"/>
                            </a:cxn>
                          </a:cxnLst>
                          <a:pathLst>
                            <a:path w="102" h="67">
                              <a:moveTo>
                                <a:pt x="102" y="67"/>
                              </a:moveTo>
                              <a:lnTo>
                                <a:pt x="0" y="15"/>
                              </a:lnTo>
                              <a:lnTo>
                                <a:pt x="102" y="0"/>
                              </a:lnTo>
                              <a:lnTo>
                                <a:pt x="70" y="25"/>
                              </a:lnTo>
                              <a:lnTo>
                                <a:pt x="102" y="6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 w="7938" cap="flat" cmpd="sng">
                          <a:solidFill>
                            <a:srgbClr val="000000">
                              <a:alpha val="10000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7208" name="Freeform 684"/>
                      <p:cNvSpPr/>
                      <p:nvPr/>
                    </p:nvSpPr>
                    <p:spPr>
                      <a:xfrm>
                        <a:off x="3424" y="2041"/>
                        <a:ext cx="145" cy="25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26" y="0"/>
                          </a:cxn>
                          <a:cxn ang="0">
                            <a:pos x="0" y="68"/>
                          </a:cxn>
                          <a:cxn ang="0">
                            <a:pos x="47" y="129"/>
                          </a:cxn>
                          <a:cxn ang="0">
                            <a:pos x="73" y="60"/>
                          </a:cxn>
                          <a:cxn ang="0">
                            <a:pos x="26" y="0"/>
                          </a:cxn>
                        </a:cxnLst>
                        <a:pathLst>
                          <a:path w="289" h="514">
                            <a:moveTo>
                              <a:pt x="102" y="0"/>
                            </a:moveTo>
                            <a:lnTo>
                              <a:pt x="0" y="272"/>
                            </a:lnTo>
                            <a:lnTo>
                              <a:pt x="186" y="514"/>
                            </a:lnTo>
                            <a:lnTo>
                              <a:pt x="289" y="237"/>
                            </a:lnTo>
                            <a:lnTo>
                              <a:pt x="102" y="0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100000"/>
                        </a:srgbClr>
                      </a:solidFill>
                      <a:ln w="1587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</p:grpSp>
            </p:grpSp>
          </p:grpSp>
          <p:grpSp>
            <p:nvGrpSpPr>
              <p:cNvPr id="7185" name="Group 685"/>
              <p:cNvGrpSpPr/>
              <p:nvPr/>
            </p:nvGrpSpPr>
            <p:grpSpPr>
              <a:xfrm rot="2023748">
                <a:off x="4570" y="960"/>
                <a:ext cx="983" cy="1571"/>
                <a:chOff x="4080" y="1200"/>
                <a:chExt cx="983" cy="1571"/>
              </a:xfrm>
            </p:grpSpPr>
            <p:sp>
              <p:nvSpPr>
                <p:cNvPr id="7186" name="Freeform 686"/>
                <p:cNvSpPr/>
                <p:nvPr/>
              </p:nvSpPr>
              <p:spPr>
                <a:xfrm>
                  <a:off x="4080" y="1200"/>
                  <a:ext cx="983" cy="1571"/>
                </a:xfrm>
                <a:custGeom>
                  <a:avLst/>
                  <a:gdLst/>
                  <a:ahLst/>
                  <a:cxnLst>
                    <a:cxn ang="0">
                      <a:pos x="0" y="38"/>
                    </a:cxn>
                    <a:cxn ang="0">
                      <a:pos x="2" y="22"/>
                    </a:cxn>
                    <a:cxn ang="0">
                      <a:pos x="7" y="10"/>
                    </a:cxn>
                    <a:cxn ang="0">
                      <a:pos x="17" y="3"/>
                    </a:cxn>
                    <a:cxn ang="0">
                      <a:pos x="32" y="0"/>
                    </a:cxn>
                    <a:cxn ang="0">
                      <a:pos x="453" y="0"/>
                    </a:cxn>
                    <a:cxn ang="0">
                      <a:pos x="468" y="2"/>
                    </a:cxn>
                    <a:cxn ang="0">
                      <a:pos x="481" y="9"/>
                    </a:cxn>
                    <a:cxn ang="0">
                      <a:pos x="489" y="22"/>
                    </a:cxn>
                    <a:cxn ang="0">
                      <a:pos x="491" y="41"/>
                    </a:cxn>
                    <a:cxn ang="0">
                      <a:pos x="491" y="742"/>
                    </a:cxn>
                    <a:cxn ang="0">
                      <a:pos x="491" y="761"/>
                    </a:cxn>
                    <a:cxn ang="0">
                      <a:pos x="487" y="772"/>
                    </a:cxn>
                    <a:cxn ang="0">
                      <a:pos x="480" y="780"/>
                    </a:cxn>
                    <a:cxn ang="0">
                      <a:pos x="471" y="786"/>
                    </a:cxn>
                    <a:cxn ang="0">
                      <a:pos x="27" y="786"/>
                    </a:cxn>
                    <a:cxn ang="0">
                      <a:pos x="15" y="783"/>
                    </a:cxn>
                    <a:cxn ang="0">
                      <a:pos x="7" y="776"/>
                    </a:cxn>
                    <a:cxn ang="0">
                      <a:pos x="2" y="768"/>
                    </a:cxn>
                    <a:cxn ang="0">
                      <a:pos x="0" y="753"/>
                    </a:cxn>
                    <a:cxn ang="0">
                      <a:pos x="0" y="38"/>
                    </a:cxn>
                  </a:cxnLst>
                  <a:pathLst>
                    <a:path w="1968" h="3140">
                      <a:moveTo>
                        <a:pt x="0" y="150"/>
                      </a:moveTo>
                      <a:lnTo>
                        <a:pt x="8" y="86"/>
                      </a:lnTo>
                      <a:lnTo>
                        <a:pt x="28" y="38"/>
                      </a:lnTo>
                      <a:lnTo>
                        <a:pt x="69" y="11"/>
                      </a:lnTo>
                      <a:lnTo>
                        <a:pt x="128" y="0"/>
                      </a:lnTo>
                      <a:lnTo>
                        <a:pt x="1816" y="0"/>
                      </a:lnTo>
                      <a:lnTo>
                        <a:pt x="1876" y="5"/>
                      </a:lnTo>
                      <a:lnTo>
                        <a:pt x="1926" y="33"/>
                      </a:lnTo>
                      <a:lnTo>
                        <a:pt x="1957" y="86"/>
                      </a:lnTo>
                      <a:lnTo>
                        <a:pt x="1968" y="161"/>
                      </a:lnTo>
                      <a:lnTo>
                        <a:pt x="1968" y="2965"/>
                      </a:lnTo>
                      <a:lnTo>
                        <a:pt x="1966" y="3040"/>
                      </a:lnTo>
                      <a:lnTo>
                        <a:pt x="1952" y="3084"/>
                      </a:lnTo>
                      <a:lnTo>
                        <a:pt x="1921" y="3117"/>
                      </a:lnTo>
                      <a:lnTo>
                        <a:pt x="1886" y="3139"/>
                      </a:lnTo>
                      <a:lnTo>
                        <a:pt x="110" y="3140"/>
                      </a:lnTo>
                      <a:lnTo>
                        <a:pt x="62" y="3128"/>
                      </a:lnTo>
                      <a:lnTo>
                        <a:pt x="28" y="3101"/>
                      </a:lnTo>
                      <a:lnTo>
                        <a:pt x="8" y="3068"/>
                      </a:lnTo>
                      <a:lnTo>
                        <a:pt x="0" y="3009"/>
                      </a:lnTo>
                      <a:lnTo>
                        <a:pt x="0" y="15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 w="3175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7187" name="Group 687"/>
                <p:cNvGrpSpPr/>
                <p:nvPr/>
              </p:nvGrpSpPr>
              <p:grpSpPr>
                <a:xfrm>
                  <a:off x="4126" y="1249"/>
                  <a:ext cx="891" cy="1443"/>
                  <a:chOff x="2973" y="1096"/>
                  <a:chExt cx="891" cy="1443"/>
                </a:xfrm>
              </p:grpSpPr>
              <p:sp>
                <p:nvSpPr>
                  <p:cNvPr id="7188" name="Freeform 688"/>
                  <p:cNvSpPr/>
                  <p:nvPr/>
                </p:nvSpPr>
                <p:spPr>
                  <a:xfrm>
                    <a:off x="3310" y="1654"/>
                    <a:ext cx="213" cy="360"/>
                  </a:xfrm>
                  <a:custGeom>
                    <a:avLst/>
                    <a:gdLst/>
                    <a:ahLst/>
                    <a:cxnLst>
                      <a:cxn ang="0">
                        <a:pos x="54" y="0"/>
                      </a:cxn>
                      <a:cxn ang="0">
                        <a:pos x="0" y="90"/>
                      </a:cxn>
                      <a:cxn ang="0">
                        <a:pos x="55" y="180"/>
                      </a:cxn>
                      <a:cxn ang="0">
                        <a:pos x="107" y="90"/>
                      </a:cxn>
                      <a:cxn ang="0">
                        <a:pos x="54" y="0"/>
                      </a:cxn>
                    </a:cxnLst>
                    <a:pathLst>
                      <a:path w="425" h="720">
                        <a:moveTo>
                          <a:pt x="215" y="0"/>
                        </a:moveTo>
                        <a:lnTo>
                          <a:pt x="0" y="360"/>
                        </a:lnTo>
                        <a:lnTo>
                          <a:pt x="220" y="720"/>
                        </a:lnTo>
                        <a:lnTo>
                          <a:pt x="425" y="360"/>
                        </a:lnTo>
                        <a:lnTo>
                          <a:pt x="215" y="0"/>
                        </a:lnTo>
                        <a:close/>
                      </a:path>
                    </a:pathLst>
                  </a:custGeom>
                  <a:solidFill>
                    <a:srgbClr val="E0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189" name="Freeform 689"/>
                  <p:cNvSpPr/>
                  <p:nvPr/>
                </p:nvSpPr>
                <p:spPr>
                  <a:xfrm>
                    <a:off x="2973" y="1265"/>
                    <a:ext cx="95" cy="158"/>
                  </a:xfrm>
                  <a:custGeom>
                    <a:avLst/>
                    <a:gdLst/>
                    <a:ahLst/>
                    <a:cxnLst>
                      <a:cxn ang="0">
                        <a:pos x="25" y="0"/>
                      </a:cxn>
                      <a:cxn ang="0">
                        <a:pos x="0" y="40"/>
                      </a:cxn>
                      <a:cxn ang="0">
                        <a:pos x="27" y="79"/>
                      </a:cxn>
                      <a:cxn ang="0">
                        <a:pos x="48" y="38"/>
                      </a:cxn>
                      <a:cxn ang="0">
                        <a:pos x="25" y="0"/>
                      </a:cxn>
                    </a:cxnLst>
                    <a:pathLst>
                      <a:path w="189" h="316">
                        <a:moveTo>
                          <a:pt x="100" y="0"/>
                        </a:moveTo>
                        <a:lnTo>
                          <a:pt x="0" y="157"/>
                        </a:lnTo>
                        <a:lnTo>
                          <a:pt x="105" y="316"/>
                        </a:lnTo>
                        <a:lnTo>
                          <a:pt x="189" y="152"/>
                        </a:lnTo>
                        <a:lnTo>
                          <a:pt x="100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190" name="Freeform 690"/>
                  <p:cNvSpPr/>
                  <p:nvPr/>
                </p:nvSpPr>
                <p:spPr>
                  <a:xfrm>
                    <a:off x="3772" y="2208"/>
                    <a:ext cx="90" cy="164"/>
                  </a:xfrm>
                  <a:custGeom>
                    <a:avLst/>
                    <a:gdLst/>
                    <a:ahLst/>
                    <a:cxnLst>
                      <a:cxn ang="0">
                        <a:pos x="23" y="0"/>
                      </a:cxn>
                      <a:cxn ang="0">
                        <a:pos x="0" y="43"/>
                      </a:cxn>
                      <a:cxn ang="0">
                        <a:pos x="24" y="82"/>
                      </a:cxn>
                      <a:cxn ang="0">
                        <a:pos x="45" y="43"/>
                      </a:cxn>
                      <a:cxn ang="0">
                        <a:pos x="23" y="0"/>
                      </a:cxn>
                    </a:cxnLst>
                    <a:pathLst>
                      <a:path w="179" h="327">
                        <a:moveTo>
                          <a:pt x="89" y="0"/>
                        </a:moveTo>
                        <a:lnTo>
                          <a:pt x="0" y="169"/>
                        </a:lnTo>
                        <a:lnTo>
                          <a:pt x="95" y="327"/>
                        </a:lnTo>
                        <a:lnTo>
                          <a:pt x="179" y="169"/>
                        </a:lnTo>
                        <a:lnTo>
                          <a:pt x="89" y="0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100000"/>
                    </a:srgbClr>
                  </a:solidFill>
                  <a:ln w="158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grpSp>
                <p:nvGrpSpPr>
                  <p:cNvPr id="7191" name="Group 691"/>
                  <p:cNvGrpSpPr/>
                  <p:nvPr/>
                </p:nvGrpSpPr>
                <p:grpSpPr>
                  <a:xfrm>
                    <a:off x="2980" y="1096"/>
                    <a:ext cx="85" cy="146"/>
                    <a:chOff x="2980" y="1096"/>
                    <a:chExt cx="85" cy="146"/>
                  </a:xfrm>
                </p:grpSpPr>
                <p:sp>
                  <p:nvSpPr>
                    <p:cNvPr id="7195" name="Freeform 692"/>
                    <p:cNvSpPr/>
                    <p:nvPr/>
                  </p:nvSpPr>
                  <p:spPr>
                    <a:xfrm>
                      <a:off x="2980" y="1096"/>
                      <a:ext cx="85" cy="146"/>
                    </a:xfrm>
                    <a:custGeom>
                      <a:avLst/>
                      <a:gdLst/>
                      <a:ahLst/>
                      <a:cxnLst>
                        <a:cxn ang="0">
                          <a:pos x="13" y="72"/>
                        </a:cxn>
                        <a:cxn ang="0">
                          <a:pos x="0" y="72"/>
                        </a:cxn>
                        <a:cxn ang="0">
                          <a:pos x="11" y="0"/>
                        </a:cxn>
                        <a:cxn ang="0">
                          <a:pos x="32" y="0"/>
                        </a:cxn>
                        <a:cxn ang="0">
                          <a:pos x="43" y="73"/>
                        </a:cxn>
                        <a:cxn ang="0">
                          <a:pos x="28" y="73"/>
                        </a:cxn>
                        <a:cxn ang="0">
                          <a:pos x="26" y="60"/>
                        </a:cxn>
                        <a:cxn ang="0">
                          <a:pos x="17" y="60"/>
                        </a:cxn>
                        <a:cxn ang="0">
                          <a:pos x="13" y="72"/>
                        </a:cxn>
                      </a:cxnLst>
                      <a:pathLst>
                        <a:path w="170" h="293">
                          <a:moveTo>
                            <a:pt x="52" y="290"/>
                          </a:moveTo>
                          <a:lnTo>
                            <a:pt x="0" y="290"/>
                          </a:lnTo>
                          <a:lnTo>
                            <a:pt x="41" y="0"/>
                          </a:lnTo>
                          <a:lnTo>
                            <a:pt x="127" y="0"/>
                          </a:lnTo>
                          <a:lnTo>
                            <a:pt x="170" y="293"/>
                          </a:lnTo>
                          <a:lnTo>
                            <a:pt x="112" y="293"/>
                          </a:lnTo>
                          <a:lnTo>
                            <a:pt x="102" y="240"/>
                          </a:lnTo>
                          <a:lnTo>
                            <a:pt x="65" y="240"/>
                          </a:lnTo>
                          <a:lnTo>
                            <a:pt x="52" y="290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196" name="Freeform 693"/>
                    <p:cNvSpPr/>
                    <p:nvPr/>
                  </p:nvSpPr>
                  <p:spPr>
                    <a:xfrm>
                      <a:off x="3013" y="1131"/>
                      <a:ext cx="17" cy="59"/>
                    </a:xfrm>
                    <a:custGeom>
                      <a:avLst/>
                      <a:gdLst/>
                      <a:ahLst/>
                      <a:cxnLst>
                        <a:cxn ang="0">
                          <a:pos x="8" y="30"/>
                        </a:cxn>
                        <a:cxn ang="0">
                          <a:pos x="0" y="29"/>
                        </a:cxn>
                        <a:cxn ang="0">
                          <a:pos x="4" y="0"/>
                        </a:cxn>
                        <a:cxn ang="0">
                          <a:pos x="8" y="30"/>
                        </a:cxn>
                      </a:cxnLst>
                      <a:pathLst>
                        <a:path w="36" h="118">
                          <a:moveTo>
                            <a:pt x="36" y="118"/>
                          </a:moveTo>
                          <a:lnTo>
                            <a:pt x="0" y="115"/>
                          </a:lnTo>
                          <a:lnTo>
                            <a:pt x="19" y="0"/>
                          </a:lnTo>
                          <a:lnTo>
                            <a:pt x="36" y="118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192" name="Group 694"/>
                  <p:cNvGrpSpPr/>
                  <p:nvPr/>
                </p:nvGrpSpPr>
                <p:grpSpPr>
                  <a:xfrm>
                    <a:off x="3779" y="2393"/>
                    <a:ext cx="85" cy="146"/>
                    <a:chOff x="3779" y="2393"/>
                    <a:chExt cx="85" cy="146"/>
                  </a:xfrm>
                </p:grpSpPr>
                <p:sp>
                  <p:nvSpPr>
                    <p:cNvPr id="7193" name="Freeform 695"/>
                    <p:cNvSpPr/>
                    <p:nvPr/>
                  </p:nvSpPr>
                  <p:spPr>
                    <a:xfrm>
                      <a:off x="3779" y="2393"/>
                      <a:ext cx="85" cy="146"/>
                    </a:xfrm>
                    <a:custGeom>
                      <a:avLst/>
                      <a:gdLst/>
                      <a:ahLst/>
                      <a:cxnLst>
                        <a:cxn ang="0">
                          <a:pos x="13" y="1"/>
                        </a:cxn>
                        <a:cxn ang="0">
                          <a:pos x="0" y="1"/>
                        </a:cxn>
                        <a:cxn ang="0">
                          <a:pos x="10" y="73"/>
                        </a:cxn>
                        <a:cxn ang="0">
                          <a:pos x="32" y="73"/>
                        </a:cxn>
                        <a:cxn ang="0">
                          <a:pos x="43" y="0"/>
                        </a:cxn>
                        <a:cxn ang="0">
                          <a:pos x="28" y="0"/>
                        </a:cxn>
                        <a:cxn ang="0">
                          <a:pos x="26" y="13"/>
                        </a:cxn>
                        <a:cxn ang="0">
                          <a:pos x="17" y="13"/>
                        </a:cxn>
                        <a:cxn ang="0">
                          <a:pos x="13" y="1"/>
                        </a:cxn>
                      </a:cxnLst>
                      <a:pathLst>
                        <a:path w="170" h="292">
                          <a:moveTo>
                            <a:pt x="51" y="3"/>
                          </a:moveTo>
                          <a:lnTo>
                            <a:pt x="0" y="3"/>
                          </a:lnTo>
                          <a:lnTo>
                            <a:pt x="39" y="292"/>
                          </a:lnTo>
                          <a:lnTo>
                            <a:pt x="126" y="292"/>
                          </a:lnTo>
                          <a:lnTo>
                            <a:pt x="170" y="0"/>
                          </a:lnTo>
                          <a:lnTo>
                            <a:pt x="111" y="0"/>
                          </a:lnTo>
                          <a:lnTo>
                            <a:pt x="101" y="52"/>
                          </a:lnTo>
                          <a:lnTo>
                            <a:pt x="65" y="52"/>
                          </a:lnTo>
                          <a:lnTo>
                            <a:pt x="51" y="3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194" name="Freeform 696"/>
                    <p:cNvSpPr/>
                    <p:nvPr/>
                  </p:nvSpPr>
                  <p:spPr>
                    <a:xfrm>
                      <a:off x="3812" y="2445"/>
                      <a:ext cx="18" cy="59"/>
                    </a:xfrm>
                    <a:custGeom>
                      <a:avLst/>
                      <a:gdLst/>
                      <a:ahLst/>
                      <a:cxnLst>
                        <a:cxn ang="0">
                          <a:pos x="9" y="0"/>
                        </a:cxn>
                        <a:cxn ang="0">
                          <a:pos x="0" y="1"/>
                        </a:cxn>
                        <a:cxn ang="0">
                          <a:pos x="5" y="29"/>
                        </a:cxn>
                        <a:cxn ang="0">
                          <a:pos x="9" y="0"/>
                        </a:cxn>
                      </a:cxnLst>
                      <a:pathLst>
                        <a:path w="35" h="119">
                          <a:moveTo>
                            <a:pt x="35" y="0"/>
                          </a:moveTo>
                          <a:lnTo>
                            <a:pt x="0" y="4"/>
                          </a:lnTo>
                          <a:lnTo>
                            <a:pt x="18" y="119"/>
                          </a:lnTo>
                          <a:lnTo>
                            <a:pt x="35" y="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 w="158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Insertion Sort II</a:t>
            </a:r>
            <a:endParaRPr lang="en-US" altLang="zh-CN" dirty="0"/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7696200" cy="196373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/>
              <a:t>The array is assumed to be broken into a sorted portion and an unsorted portion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Elements will be inserted from the unsorted portion into the sorted portion.</a:t>
            </a:r>
            <a:endParaRPr lang="en-US" altLang="zh-CN" sz="2400" dirty="0"/>
          </a:p>
        </p:txBody>
      </p:sp>
      <p:sp>
        <p:nvSpPr>
          <p:cNvPr id="8196" name="Rectangle 4"/>
          <p:cNvSpPr/>
          <p:nvPr/>
        </p:nvSpPr>
        <p:spPr>
          <a:xfrm>
            <a:off x="2895600" y="5105400"/>
            <a:ext cx="304800" cy="3048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197" name="Rectangle 5"/>
          <p:cNvSpPr/>
          <p:nvPr/>
        </p:nvSpPr>
        <p:spPr>
          <a:xfrm>
            <a:off x="3200400" y="4800600"/>
            <a:ext cx="304800" cy="6096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198" name="Rectangle 6"/>
          <p:cNvSpPr/>
          <p:nvPr/>
        </p:nvSpPr>
        <p:spPr>
          <a:xfrm>
            <a:off x="3505200" y="4572000"/>
            <a:ext cx="304800" cy="8382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199" name="Rectangle 7"/>
          <p:cNvSpPr/>
          <p:nvPr/>
        </p:nvSpPr>
        <p:spPr>
          <a:xfrm>
            <a:off x="3810000" y="4419600"/>
            <a:ext cx="304800" cy="9906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00" name="Rectangle 8"/>
          <p:cNvSpPr/>
          <p:nvPr/>
        </p:nvSpPr>
        <p:spPr>
          <a:xfrm>
            <a:off x="4114800" y="4267200"/>
            <a:ext cx="304800" cy="11430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01" name="Rectangle 9"/>
          <p:cNvSpPr/>
          <p:nvPr/>
        </p:nvSpPr>
        <p:spPr>
          <a:xfrm>
            <a:off x="4724400" y="4038600"/>
            <a:ext cx="304800" cy="1371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02" name="Rectangle 10"/>
          <p:cNvSpPr/>
          <p:nvPr/>
        </p:nvSpPr>
        <p:spPr>
          <a:xfrm>
            <a:off x="4419600" y="4648200"/>
            <a:ext cx="304800" cy="7620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03" name="Rectangle 11"/>
          <p:cNvSpPr/>
          <p:nvPr/>
        </p:nvSpPr>
        <p:spPr>
          <a:xfrm>
            <a:off x="5029200" y="5105400"/>
            <a:ext cx="304800" cy="3048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04" name="Rectangle 12"/>
          <p:cNvSpPr/>
          <p:nvPr/>
        </p:nvSpPr>
        <p:spPr>
          <a:xfrm>
            <a:off x="5334000" y="3657600"/>
            <a:ext cx="304800" cy="1752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05" name="Rectangle 13"/>
          <p:cNvSpPr/>
          <p:nvPr/>
        </p:nvSpPr>
        <p:spPr>
          <a:xfrm>
            <a:off x="5638800" y="4419600"/>
            <a:ext cx="304800" cy="990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06" name="Text Box 14"/>
          <p:cNvSpPr txBox="1"/>
          <p:nvPr/>
        </p:nvSpPr>
        <p:spPr>
          <a:xfrm>
            <a:off x="2819400" y="5510213"/>
            <a:ext cx="1430338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atin typeface="Book Antiqua" panose="02040602050305030304" pitchFamily="18" charset="0"/>
              </a:rPr>
              <a:t>Sorted</a:t>
            </a:r>
            <a:endParaRPr lang="en-US" altLang="zh-CN" sz="2400" dirty="0">
              <a:latin typeface="Book Antiqua" panose="02040602050305030304" pitchFamily="18" charset="0"/>
            </a:endParaRPr>
          </a:p>
        </p:txBody>
      </p:sp>
      <p:sp>
        <p:nvSpPr>
          <p:cNvPr id="8207" name="Text Box 15"/>
          <p:cNvSpPr txBox="1"/>
          <p:nvPr/>
        </p:nvSpPr>
        <p:spPr>
          <a:xfrm>
            <a:off x="4403725" y="5486400"/>
            <a:ext cx="1446213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latin typeface="Book Antiqua" panose="02040602050305030304" pitchFamily="18" charset="0"/>
              </a:rPr>
              <a:t>Unsorted</a:t>
            </a:r>
            <a:endParaRPr lang="en-US" altLang="zh-CN" sz="2400" dirty="0">
              <a:latin typeface="Book Antiqua" panose="02040602050305030304" pitchFamily="18" charset="0"/>
            </a:endParaRPr>
          </a:p>
        </p:txBody>
      </p:sp>
      <p:sp>
        <p:nvSpPr>
          <p:cNvPr id="12304" name="Rectangle 16"/>
          <p:cNvSpPr/>
          <p:nvPr/>
        </p:nvSpPr>
        <p:spPr>
          <a:xfrm>
            <a:off x="4427538" y="4646613"/>
            <a:ext cx="304800" cy="762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80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0488" tIns="44450" rIns="90488" bIns="44450" anchor="ctr" anchorCtr="0"/>
          <a:p>
            <a:pPr eaLnBrk="1" hangingPunct="1"/>
            <a:r>
              <a:rPr lang="en-US" altLang="zh-CN" dirty="0"/>
              <a:t>Insertion Sort III</a:t>
            </a:r>
            <a:endParaRPr lang="en-US" altLang="zh-CN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412875"/>
            <a:ext cx="8001000" cy="2362200"/>
          </a:xfrm>
        </p:spPr>
        <p:txBody>
          <a:bodyPr vert="horz" wrap="square" lIns="90488" tIns="44450" rIns="90488" bIns="4445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each new element, search backward through sorted elements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Move elements until proper position is found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Place element in proper position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procedure is called one pass of sorting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0" name="Rectangle 4"/>
          <p:cNvSpPr/>
          <p:nvPr/>
        </p:nvSpPr>
        <p:spPr>
          <a:xfrm>
            <a:off x="685800" y="5638800"/>
            <a:ext cx="304800" cy="3048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1" name="Rectangle 5"/>
          <p:cNvSpPr/>
          <p:nvPr/>
        </p:nvSpPr>
        <p:spPr>
          <a:xfrm>
            <a:off x="990600" y="5334000"/>
            <a:ext cx="304800" cy="6096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18" name="Rectangle 6"/>
          <p:cNvSpPr/>
          <p:nvPr/>
        </p:nvSpPr>
        <p:spPr>
          <a:xfrm>
            <a:off x="1295400" y="5105400"/>
            <a:ext cx="304800" cy="8382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19" name="Rectangle 7"/>
          <p:cNvSpPr/>
          <p:nvPr/>
        </p:nvSpPr>
        <p:spPr>
          <a:xfrm>
            <a:off x="1600200" y="4953000"/>
            <a:ext cx="304800" cy="9906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20" name="Rectangle 8"/>
          <p:cNvSpPr/>
          <p:nvPr/>
        </p:nvSpPr>
        <p:spPr>
          <a:xfrm>
            <a:off x="1905000" y="4800600"/>
            <a:ext cx="304800" cy="11430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5" name="Rectangle 9"/>
          <p:cNvSpPr/>
          <p:nvPr/>
        </p:nvSpPr>
        <p:spPr>
          <a:xfrm>
            <a:off x="2514600" y="4572000"/>
            <a:ext cx="304800" cy="1371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22" name="Rectangle 10"/>
          <p:cNvSpPr/>
          <p:nvPr/>
        </p:nvSpPr>
        <p:spPr>
          <a:xfrm>
            <a:off x="323850" y="4149725"/>
            <a:ext cx="304800" cy="762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7" name="Rectangle 11"/>
          <p:cNvSpPr/>
          <p:nvPr/>
        </p:nvSpPr>
        <p:spPr>
          <a:xfrm>
            <a:off x="2819400" y="5638800"/>
            <a:ext cx="304800" cy="3048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8" name="Rectangle 12"/>
          <p:cNvSpPr/>
          <p:nvPr/>
        </p:nvSpPr>
        <p:spPr>
          <a:xfrm>
            <a:off x="3124200" y="4191000"/>
            <a:ext cx="304800" cy="1752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9" name="Rectangle 13"/>
          <p:cNvSpPr/>
          <p:nvPr/>
        </p:nvSpPr>
        <p:spPr>
          <a:xfrm>
            <a:off x="3429000" y="4953000"/>
            <a:ext cx="304800" cy="990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26" name="Rectangle 14"/>
          <p:cNvSpPr/>
          <p:nvPr/>
        </p:nvSpPr>
        <p:spPr>
          <a:xfrm>
            <a:off x="5105400" y="5562600"/>
            <a:ext cx="304800" cy="3048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27" name="Rectangle 15"/>
          <p:cNvSpPr/>
          <p:nvPr/>
        </p:nvSpPr>
        <p:spPr>
          <a:xfrm>
            <a:off x="5410200" y="5257800"/>
            <a:ext cx="304800" cy="6096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28" name="Rectangle 16"/>
          <p:cNvSpPr/>
          <p:nvPr/>
        </p:nvSpPr>
        <p:spPr>
          <a:xfrm>
            <a:off x="6019800" y="5029200"/>
            <a:ext cx="304800" cy="8382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29" name="Rectangle 17"/>
          <p:cNvSpPr/>
          <p:nvPr/>
        </p:nvSpPr>
        <p:spPr>
          <a:xfrm>
            <a:off x="6324600" y="4876800"/>
            <a:ext cx="304800" cy="9906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30" name="Rectangle 18"/>
          <p:cNvSpPr/>
          <p:nvPr/>
        </p:nvSpPr>
        <p:spPr>
          <a:xfrm>
            <a:off x="6629400" y="4724400"/>
            <a:ext cx="304800" cy="11430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31" name="Rectangle 19"/>
          <p:cNvSpPr/>
          <p:nvPr/>
        </p:nvSpPr>
        <p:spPr>
          <a:xfrm>
            <a:off x="6934200" y="4495800"/>
            <a:ext cx="304800" cy="1371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32" name="Rectangle 20"/>
          <p:cNvSpPr/>
          <p:nvPr/>
        </p:nvSpPr>
        <p:spPr>
          <a:xfrm>
            <a:off x="5715000" y="5105400"/>
            <a:ext cx="304800" cy="762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33" name="Rectangle 21"/>
          <p:cNvSpPr/>
          <p:nvPr/>
        </p:nvSpPr>
        <p:spPr>
          <a:xfrm>
            <a:off x="7239000" y="5562600"/>
            <a:ext cx="304800" cy="3048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34" name="Rectangle 22"/>
          <p:cNvSpPr/>
          <p:nvPr/>
        </p:nvSpPr>
        <p:spPr>
          <a:xfrm>
            <a:off x="7543800" y="4114800"/>
            <a:ext cx="304800" cy="1752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35" name="Rectangle 23"/>
          <p:cNvSpPr/>
          <p:nvPr/>
        </p:nvSpPr>
        <p:spPr>
          <a:xfrm>
            <a:off x="7848600" y="4876800"/>
            <a:ext cx="304800" cy="9906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36" name="Line 24"/>
          <p:cNvSpPr/>
          <p:nvPr/>
        </p:nvSpPr>
        <p:spPr>
          <a:xfrm>
            <a:off x="3962400" y="5486400"/>
            <a:ext cx="914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337" name="Text Box 25"/>
          <p:cNvSpPr txBox="1"/>
          <p:nvPr/>
        </p:nvSpPr>
        <p:spPr>
          <a:xfrm>
            <a:off x="5867400" y="6019800"/>
            <a:ext cx="11430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latin typeface="Book Antiqua" panose="02040602050305030304" pitchFamily="18" charset="0"/>
              </a:rPr>
              <a:t>Moved</a:t>
            </a:r>
            <a:endParaRPr lang="en-US" altLang="zh-CN" sz="2400" dirty="0">
              <a:latin typeface="Book Antiqua" panose="02040602050305030304" pitchFamily="18" charset="0"/>
            </a:endParaRPr>
          </a:p>
        </p:txBody>
      </p:sp>
      <p:sp>
        <p:nvSpPr>
          <p:cNvPr id="13338" name="Line 26"/>
          <p:cNvSpPr/>
          <p:nvPr/>
        </p:nvSpPr>
        <p:spPr>
          <a:xfrm>
            <a:off x="6019800" y="5791200"/>
            <a:ext cx="0" cy="304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39" name="Line 27"/>
          <p:cNvSpPr/>
          <p:nvPr/>
        </p:nvSpPr>
        <p:spPr>
          <a:xfrm>
            <a:off x="6934200" y="5867400"/>
            <a:ext cx="0" cy="228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40" name="Rectangle 28"/>
          <p:cNvSpPr/>
          <p:nvPr/>
        </p:nvSpPr>
        <p:spPr>
          <a:xfrm>
            <a:off x="2212975" y="4797425"/>
            <a:ext cx="304800" cy="11430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41" name="Rectangle 29"/>
          <p:cNvSpPr/>
          <p:nvPr/>
        </p:nvSpPr>
        <p:spPr>
          <a:xfrm>
            <a:off x="1908175" y="4953000"/>
            <a:ext cx="304800" cy="9906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42" name="Rectangle 30"/>
          <p:cNvSpPr/>
          <p:nvPr/>
        </p:nvSpPr>
        <p:spPr>
          <a:xfrm>
            <a:off x="1603375" y="5106988"/>
            <a:ext cx="304800" cy="838200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43" name="Rectangle 31"/>
          <p:cNvSpPr/>
          <p:nvPr/>
        </p:nvSpPr>
        <p:spPr>
          <a:xfrm>
            <a:off x="1303338" y="5187950"/>
            <a:ext cx="304800" cy="762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62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07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40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animBg="1"/>
      <p:bldP spid="13319" grpId="0" animBg="1"/>
      <p:bldP spid="13320" grpId="0" animBg="1"/>
      <p:bldP spid="13322" grpId="0" animBg="1"/>
      <p:bldP spid="13326" grpId="0" animBg="1"/>
      <p:bldP spid="13327" grpId="0" animBg="1"/>
      <p:bldP spid="13328" grpId="0" animBg="1"/>
      <p:bldP spid="13329" grpId="0" animBg="1"/>
      <p:bldP spid="13330" grpId="0" animBg="1"/>
      <p:bldP spid="13331" grpId="0" animBg="1"/>
      <p:bldP spid="13332" grpId="0" animBg="1"/>
      <p:bldP spid="13333" grpId="0" animBg="1"/>
      <p:bldP spid="13334" grpId="0" animBg="1"/>
      <p:bldP spid="13335" grpId="0" animBg="1"/>
      <p:bldP spid="13340" grpId="0" animBg="1"/>
      <p:bldP spid="13341" grpId="0" animBg="1"/>
      <p:bldP spid="13342" grpId="0" animBg="1"/>
      <p:bldP spid="133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10242" name="Object 3"/>
          <p:cNvGraphicFramePr/>
          <p:nvPr/>
        </p:nvGraphicFramePr>
        <p:xfrm>
          <a:off x="-2525712" y="1739900"/>
          <a:ext cx="1822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771015" imgH="431165" progId="Word.Document.8">
                  <p:embed/>
                </p:oleObj>
              </mc:Choice>
              <mc:Fallback>
                <p:oleObj name="" r:id="rId1" imgW="1771015" imgH="431165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-2525712" y="1739900"/>
                        <a:ext cx="182245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4"/>
          <p:cNvSpPr>
            <a:spLocks noGrp="1"/>
          </p:cNvSpPr>
          <p:nvPr>
            <p:ph type="title"/>
          </p:nvPr>
        </p:nvSpPr>
        <p:spPr>
          <a:xfrm>
            <a:off x="685800" y="166688"/>
            <a:ext cx="7772400" cy="11430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lang="en-US" altLang="zh-CN" dirty="0"/>
              <a:t>Insertion Sort Example</a:t>
            </a:r>
            <a:endParaRPr lang="en-US" altLang="zh-CN" dirty="0"/>
          </a:p>
        </p:txBody>
      </p:sp>
      <p:sp>
        <p:nvSpPr>
          <p:cNvPr id="14341" name="Text Box 5"/>
          <p:cNvSpPr txBox="1"/>
          <p:nvPr/>
        </p:nvSpPr>
        <p:spPr>
          <a:xfrm>
            <a:off x="0" y="1905000"/>
            <a:ext cx="3657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/>
              <a:t>The Unsorted Array:</a:t>
            </a:r>
            <a:endParaRPr lang="en-US" altLang="zh-CN" sz="2400" dirty="0"/>
          </a:p>
        </p:txBody>
      </p:sp>
      <p:sp>
        <p:nvSpPr>
          <p:cNvPr id="14342" name="Text Box 6"/>
          <p:cNvSpPr txBox="1"/>
          <p:nvPr/>
        </p:nvSpPr>
        <p:spPr>
          <a:xfrm>
            <a:off x="2514600" y="26670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4343" name="Text Box 7"/>
          <p:cNvSpPr txBox="1"/>
          <p:nvPr/>
        </p:nvSpPr>
        <p:spPr>
          <a:xfrm>
            <a:off x="3124200" y="26670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4344" name="Text Box 8"/>
          <p:cNvSpPr txBox="1"/>
          <p:nvPr/>
        </p:nvSpPr>
        <p:spPr>
          <a:xfrm>
            <a:off x="3733800" y="26670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4345" name="Text Box 9"/>
          <p:cNvSpPr txBox="1"/>
          <p:nvPr/>
        </p:nvSpPr>
        <p:spPr>
          <a:xfrm>
            <a:off x="4343400" y="26670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4346" name="Text Box 10"/>
          <p:cNvSpPr txBox="1"/>
          <p:nvPr/>
        </p:nvSpPr>
        <p:spPr>
          <a:xfrm>
            <a:off x="4953000" y="26670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1000" y="4508500"/>
            <a:ext cx="8229600" cy="757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/>
              <a:t>Obviously, at beginning the sorted portion contains the first element in the array. 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  <p:bldP spid="14342" grpId="0" animBg="1"/>
      <p:bldP spid="14343" grpId="0" animBg="1"/>
      <p:bldP spid="14344" grpId="0" animBg="1"/>
      <p:bldP spid="14345" grpId="0" animBg="1"/>
      <p:bldP spid="14346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11266" name="Object 2"/>
          <p:cNvGraphicFramePr/>
          <p:nvPr/>
        </p:nvGraphicFramePr>
        <p:xfrm>
          <a:off x="-2525712" y="1739900"/>
          <a:ext cx="1822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771015" imgH="431165" progId="Word.Document.8">
                  <p:embed/>
                </p:oleObj>
              </mc:Choice>
              <mc:Fallback>
                <p:oleObj name="" r:id="rId1" imgW="1771015" imgH="431165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-2525712" y="1739900"/>
                        <a:ext cx="182245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Rectangle 3"/>
          <p:cNvSpPr>
            <a:spLocks noGrp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lang="en-US" altLang="zh-CN" dirty="0"/>
              <a:t>The First Pass</a:t>
            </a:r>
            <a:endParaRPr lang="en-US" altLang="zh-CN" dirty="0"/>
          </a:p>
        </p:txBody>
      </p:sp>
      <p:sp>
        <p:nvSpPr>
          <p:cNvPr id="11268" name="Text Box 4"/>
          <p:cNvSpPr txBox="1"/>
          <p:nvPr/>
        </p:nvSpPr>
        <p:spPr>
          <a:xfrm>
            <a:off x="2906713" y="1954213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3505200" y="1958975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270" name="Text Box 6"/>
          <p:cNvSpPr txBox="1"/>
          <p:nvPr/>
        </p:nvSpPr>
        <p:spPr>
          <a:xfrm>
            <a:off x="4111625" y="1958975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271" name="Text Box 7"/>
          <p:cNvSpPr txBox="1"/>
          <p:nvPr/>
        </p:nvSpPr>
        <p:spPr>
          <a:xfrm>
            <a:off x="4713288" y="1960563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272" name="Text Box 8"/>
          <p:cNvSpPr txBox="1"/>
          <p:nvPr/>
        </p:nvSpPr>
        <p:spPr>
          <a:xfrm>
            <a:off x="5322888" y="1958975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5369" name="Text Box 9"/>
          <p:cNvSpPr txBox="1"/>
          <p:nvPr/>
        </p:nvSpPr>
        <p:spPr>
          <a:xfrm>
            <a:off x="1066800" y="2743200"/>
            <a:ext cx="3581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/>
              <a:t>Compare &amp; move:</a:t>
            </a:r>
            <a:endParaRPr lang="en-US" altLang="zh-CN" sz="2400" dirty="0"/>
          </a:p>
        </p:txBody>
      </p:sp>
      <p:grpSp>
        <p:nvGrpSpPr>
          <p:cNvPr id="2" name="Group 32"/>
          <p:cNvGrpSpPr/>
          <p:nvPr/>
        </p:nvGrpSpPr>
        <p:grpSpPr>
          <a:xfrm>
            <a:off x="2971800" y="3276600"/>
            <a:ext cx="2974975" cy="485775"/>
            <a:chOff x="1872" y="2064"/>
            <a:chExt cx="1874" cy="306"/>
          </a:xfrm>
        </p:grpSpPr>
        <p:sp>
          <p:nvSpPr>
            <p:cNvPr id="11289" name="Text Box 11"/>
            <p:cNvSpPr txBox="1"/>
            <p:nvPr/>
          </p:nvSpPr>
          <p:spPr>
            <a:xfrm>
              <a:off x="1872" y="2066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0" name="Text Box 12"/>
            <p:cNvSpPr txBox="1"/>
            <p:nvPr/>
          </p:nvSpPr>
          <p:spPr>
            <a:xfrm>
              <a:off x="2242" y="2066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1" name="Text Box 13"/>
            <p:cNvSpPr txBox="1"/>
            <p:nvPr/>
          </p:nvSpPr>
          <p:spPr>
            <a:xfrm>
              <a:off x="2617" y="2064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2" name="Text Box 14"/>
            <p:cNvSpPr txBox="1"/>
            <p:nvPr/>
          </p:nvSpPr>
          <p:spPr>
            <a:xfrm>
              <a:off x="2990" y="2066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3" name="Text Box 15"/>
            <p:cNvSpPr txBox="1"/>
            <p:nvPr/>
          </p:nvSpPr>
          <p:spPr>
            <a:xfrm>
              <a:off x="3367" y="2066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5"/>
          <p:cNvGrpSpPr/>
          <p:nvPr/>
        </p:nvGrpSpPr>
        <p:grpSpPr>
          <a:xfrm>
            <a:off x="2895600" y="4956175"/>
            <a:ext cx="3040063" cy="482600"/>
            <a:chOff x="1824" y="3122"/>
            <a:chExt cx="1915" cy="304"/>
          </a:xfrm>
        </p:grpSpPr>
        <p:sp>
          <p:nvSpPr>
            <p:cNvPr id="11284" name="Text Box 16"/>
            <p:cNvSpPr txBox="1"/>
            <p:nvPr/>
          </p:nvSpPr>
          <p:spPr>
            <a:xfrm>
              <a:off x="1824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85" name="Text Box 17"/>
            <p:cNvSpPr txBox="1"/>
            <p:nvPr/>
          </p:nvSpPr>
          <p:spPr>
            <a:xfrm>
              <a:off x="2208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80</a:t>
              </a:r>
              <a:endPara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86" name="Text Box 18"/>
            <p:cNvSpPr txBox="1"/>
            <p:nvPr/>
          </p:nvSpPr>
          <p:spPr>
            <a:xfrm>
              <a:off x="2592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87" name="Text Box 19"/>
            <p:cNvSpPr txBox="1"/>
            <p:nvPr/>
          </p:nvSpPr>
          <p:spPr>
            <a:xfrm>
              <a:off x="2976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88" name="Text Box 20"/>
            <p:cNvSpPr txBox="1"/>
            <p:nvPr/>
          </p:nvSpPr>
          <p:spPr>
            <a:xfrm>
              <a:off x="3360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381" name="Text Box 21"/>
          <p:cNvSpPr txBox="1"/>
          <p:nvPr/>
        </p:nvSpPr>
        <p:spPr>
          <a:xfrm>
            <a:off x="6248400" y="1600200"/>
            <a:ext cx="2514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item_to_insert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5383" name="Text Box 23"/>
          <p:cNvSpPr txBox="1"/>
          <p:nvPr/>
        </p:nvSpPr>
        <p:spPr>
          <a:xfrm>
            <a:off x="1143000" y="4038600"/>
            <a:ext cx="2209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/>
              <a:t>Insert 40:</a:t>
            </a:r>
            <a:endParaRPr lang="en-US" altLang="zh-CN" sz="2400" dirty="0"/>
          </a:p>
        </p:txBody>
      </p:sp>
      <p:sp>
        <p:nvSpPr>
          <p:cNvPr id="11278" name="Rectangle 27"/>
          <p:cNvSpPr/>
          <p:nvPr/>
        </p:nvSpPr>
        <p:spPr>
          <a:xfrm>
            <a:off x="1066800" y="1300163"/>
            <a:ext cx="3016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We start with </a:t>
            </a:r>
            <a:r>
              <a:rPr lang="en-US" altLang="zh-CN" sz="2400" dirty="0">
                <a:solidFill>
                  <a:schemeClr val="tx2"/>
                </a:solidFill>
              </a:rPr>
              <a:t>k = 1</a:t>
            </a:r>
            <a:r>
              <a:rPr lang="en-US" altLang="zh-CN" sz="2400" dirty="0"/>
              <a:t>:</a:t>
            </a:r>
            <a:endParaRPr lang="en-US" altLang="zh-CN" sz="2400" dirty="0"/>
          </a:p>
        </p:txBody>
      </p:sp>
      <p:sp>
        <p:nvSpPr>
          <p:cNvPr id="15388" name="Rectangle 28"/>
          <p:cNvSpPr/>
          <p:nvPr/>
        </p:nvSpPr>
        <p:spPr>
          <a:xfrm>
            <a:off x="2895600" y="19700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5389" name="Text Box 29"/>
          <p:cNvSpPr txBox="1"/>
          <p:nvPr/>
        </p:nvSpPr>
        <p:spPr>
          <a:xfrm>
            <a:off x="7323138" y="2184400"/>
            <a:ext cx="601662" cy="4826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5393" name="Rectangle 33"/>
          <p:cNvSpPr/>
          <p:nvPr/>
        </p:nvSpPr>
        <p:spPr>
          <a:xfrm>
            <a:off x="2895600" y="49641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5394" name="Rectangle 34"/>
          <p:cNvSpPr/>
          <p:nvPr/>
        </p:nvSpPr>
        <p:spPr>
          <a:xfrm>
            <a:off x="3505200" y="49641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5396" name="Rectangle 36"/>
          <p:cNvSpPr/>
          <p:nvPr/>
        </p:nvSpPr>
        <p:spPr>
          <a:xfrm>
            <a:off x="3559175" y="3298825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/>
      <p:bldP spid="15381" grpId="0"/>
      <p:bldP spid="15383" grpId="0"/>
      <p:bldP spid="15388" grpId="0" animBg="1"/>
      <p:bldP spid="15389" grpId="0" animBg="1"/>
      <p:bldP spid="15393" grpId="0" animBg="1"/>
      <p:bldP spid="15394" grpId="0" animBg="1"/>
      <p:bldP spid="1539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290" name="Rectangle 3"/>
          <p:cNvSpPr>
            <a:spLocks noGrp="1"/>
          </p:cNvSpPr>
          <p:nvPr>
            <p:ph type="title"/>
          </p:nvPr>
        </p:nvSpPr>
        <p:spPr>
          <a:xfrm>
            <a:off x="685800" y="166688"/>
            <a:ext cx="7772400" cy="11430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lang="en-US" altLang="zh-CN" dirty="0"/>
              <a:t>The Second Pass</a:t>
            </a:r>
            <a:endParaRPr lang="en-US" altLang="zh-CN" dirty="0"/>
          </a:p>
        </p:txBody>
      </p:sp>
      <p:sp>
        <p:nvSpPr>
          <p:cNvPr id="12291" name="Text Box 26"/>
          <p:cNvSpPr txBox="1"/>
          <p:nvPr/>
        </p:nvSpPr>
        <p:spPr>
          <a:xfrm>
            <a:off x="1219200" y="1447800"/>
            <a:ext cx="992188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/>
              <a:t>K = 2</a:t>
            </a:r>
            <a:endParaRPr lang="en-US" altLang="zh-CN" sz="2400" dirty="0"/>
          </a:p>
        </p:txBody>
      </p:sp>
      <p:grpSp>
        <p:nvGrpSpPr>
          <p:cNvPr id="12292" name="Group 35"/>
          <p:cNvGrpSpPr/>
          <p:nvPr/>
        </p:nvGrpSpPr>
        <p:grpSpPr>
          <a:xfrm>
            <a:off x="2590800" y="2032000"/>
            <a:ext cx="3040063" cy="482600"/>
            <a:chOff x="1824" y="3122"/>
            <a:chExt cx="1915" cy="304"/>
          </a:xfrm>
        </p:grpSpPr>
        <p:sp>
          <p:nvSpPr>
            <p:cNvPr id="12322" name="Text Box 36"/>
            <p:cNvSpPr txBox="1"/>
            <p:nvPr/>
          </p:nvSpPr>
          <p:spPr>
            <a:xfrm>
              <a:off x="1824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3" name="Text Box 37"/>
            <p:cNvSpPr txBox="1"/>
            <p:nvPr/>
          </p:nvSpPr>
          <p:spPr>
            <a:xfrm>
              <a:off x="2208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80</a:t>
              </a:r>
              <a:endPara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24" name="Text Box 38"/>
            <p:cNvSpPr txBox="1"/>
            <p:nvPr/>
          </p:nvSpPr>
          <p:spPr>
            <a:xfrm>
              <a:off x="2592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5" name="Text Box 39"/>
            <p:cNvSpPr txBox="1"/>
            <p:nvPr/>
          </p:nvSpPr>
          <p:spPr>
            <a:xfrm>
              <a:off x="2976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6" name="Text Box 40"/>
            <p:cNvSpPr txBox="1"/>
            <p:nvPr/>
          </p:nvSpPr>
          <p:spPr>
            <a:xfrm>
              <a:off x="3360" y="312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293" name="Rectangle 41"/>
          <p:cNvSpPr/>
          <p:nvPr/>
        </p:nvSpPr>
        <p:spPr>
          <a:xfrm>
            <a:off x="2590800" y="203993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294" name="Rectangle 42"/>
          <p:cNvSpPr/>
          <p:nvPr/>
        </p:nvSpPr>
        <p:spPr>
          <a:xfrm>
            <a:off x="3200400" y="203993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427" name="Text Box 43"/>
          <p:cNvSpPr txBox="1"/>
          <p:nvPr/>
        </p:nvSpPr>
        <p:spPr>
          <a:xfrm>
            <a:off x="6096000" y="1524000"/>
            <a:ext cx="2514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item_to_insert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6428" name="Text Box 44"/>
          <p:cNvSpPr txBox="1"/>
          <p:nvPr/>
        </p:nvSpPr>
        <p:spPr>
          <a:xfrm>
            <a:off x="7170738" y="2108200"/>
            <a:ext cx="601662" cy="4826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30" name="Text Box 46"/>
          <p:cNvSpPr txBox="1"/>
          <p:nvPr/>
        </p:nvSpPr>
        <p:spPr>
          <a:xfrm>
            <a:off x="1066800" y="2743200"/>
            <a:ext cx="3581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/>
              <a:t>compare &amp; move:</a:t>
            </a:r>
            <a:endParaRPr lang="en-US" altLang="zh-CN" sz="2400" dirty="0"/>
          </a:p>
        </p:txBody>
      </p:sp>
      <p:grpSp>
        <p:nvGrpSpPr>
          <p:cNvPr id="3" name="Group 49"/>
          <p:cNvGrpSpPr/>
          <p:nvPr/>
        </p:nvGrpSpPr>
        <p:grpSpPr>
          <a:xfrm>
            <a:off x="2590800" y="3352800"/>
            <a:ext cx="3006725" cy="482600"/>
            <a:chOff x="1632" y="2112"/>
            <a:chExt cx="1894" cy="304"/>
          </a:xfrm>
        </p:grpSpPr>
        <p:sp>
          <p:nvSpPr>
            <p:cNvPr id="12315" name="Text Box 11"/>
            <p:cNvSpPr txBox="1"/>
            <p:nvPr/>
          </p:nvSpPr>
          <p:spPr>
            <a:xfrm>
              <a:off x="1632" y="211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6" name="Text Box 12"/>
            <p:cNvSpPr txBox="1"/>
            <p:nvPr/>
          </p:nvSpPr>
          <p:spPr>
            <a:xfrm>
              <a:off x="2003" y="211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7" name="Text Box 13"/>
            <p:cNvSpPr txBox="1"/>
            <p:nvPr/>
          </p:nvSpPr>
          <p:spPr>
            <a:xfrm>
              <a:off x="2393" y="211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8" name="Text Box 14"/>
            <p:cNvSpPr txBox="1"/>
            <p:nvPr/>
          </p:nvSpPr>
          <p:spPr>
            <a:xfrm>
              <a:off x="2770" y="211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9" name="Text Box 15"/>
            <p:cNvSpPr txBox="1"/>
            <p:nvPr/>
          </p:nvSpPr>
          <p:spPr>
            <a:xfrm>
              <a:off x="3147" y="2112"/>
              <a:ext cx="379" cy="304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0" name="Rectangle 47"/>
            <p:cNvSpPr/>
            <p:nvPr/>
          </p:nvSpPr>
          <p:spPr>
            <a:xfrm>
              <a:off x="1632" y="2119"/>
              <a:ext cx="384" cy="288"/>
            </a:xfrm>
            <a:prstGeom prst="rect">
              <a:avLst/>
            </a:prstGeom>
            <a:solidFill>
              <a:srgbClr val="00CCFF">
                <a:alpha val="43921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321" name="Rectangle 48"/>
            <p:cNvSpPr/>
            <p:nvPr/>
          </p:nvSpPr>
          <p:spPr>
            <a:xfrm>
              <a:off x="2016" y="2119"/>
              <a:ext cx="384" cy="288"/>
            </a:xfrm>
            <a:prstGeom prst="rect">
              <a:avLst/>
            </a:prstGeom>
            <a:solidFill>
              <a:srgbClr val="00CCFF">
                <a:alpha val="43921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16434" name="Text Box 50"/>
          <p:cNvSpPr txBox="1"/>
          <p:nvPr/>
        </p:nvSpPr>
        <p:spPr>
          <a:xfrm>
            <a:off x="3798888" y="3352800"/>
            <a:ext cx="601662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35" name="Rectangle 51"/>
          <p:cNvSpPr/>
          <p:nvPr/>
        </p:nvSpPr>
        <p:spPr>
          <a:xfrm>
            <a:off x="3810000" y="33639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436" name="Text Box 52"/>
          <p:cNvSpPr txBox="1"/>
          <p:nvPr/>
        </p:nvSpPr>
        <p:spPr>
          <a:xfrm>
            <a:off x="3200400" y="3352800"/>
            <a:ext cx="601663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37" name="Rectangle 53"/>
          <p:cNvSpPr/>
          <p:nvPr/>
        </p:nvSpPr>
        <p:spPr>
          <a:xfrm>
            <a:off x="3200400" y="3375025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438" name="Text Box 54"/>
          <p:cNvSpPr txBox="1"/>
          <p:nvPr/>
        </p:nvSpPr>
        <p:spPr>
          <a:xfrm>
            <a:off x="1143000" y="4038600"/>
            <a:ext cx="2209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/>
              <a:t>Insert 32:</a:t>
            </a:r>
            <a:endParaRPr lang="en-US" altLang="zh-CN" sz="2400" dirty="0"/>
          </a:p>
        </p:txBody>
      </p:sp>
      <p:sp>
        <p:nvSpPr>
          <p:cNvPr id="16440" name="Text Box 56"/>
          <p:cNvSpPr txBox="1"/>
          <p:nvPr/>
        </p:nvSpPr>
        <p:spPr>
          <a:xfrm>
            <a:off x="2590800" y="48514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41" name="Text Box 57"/>
          <p:cNvSpPr txBox="1"/>
          <p:nvPr/>
        </p:nvSpPr>
        <p:spPr>
          <a:xfrm>
            <a:off x="3179763" y="48514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42" name="Text Box 58"/>
          <p:cNvSpPr txBox="1"/>
          <p:nvPr/>
        </p:nvSpPr>
        <p:spPr>
          <a:xfrm>
            <a:off x="3798888" y="48514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43" name="Text Box 59"/>
          <p:cNvSpPr txBox="1"/>
          <p:nvPr/>
        </p:nvSpPr>
        <p:spPr>
          <a:xfrm>
            <a:off x="4397375" y="48514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44" name="Text Box 60"/>
          <p:cNvSpPr txBox="1"/>
          <p:nvPr/>
        </p:nvSpPr>
        <p:spPr>
          <a:xfrm>
            <a:off x="4995863" y="48514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45" name="Rectangle 61"/>
          <p:cNvSpPr/>
          <p:nvPr/>
        </p:nvSpPr>
        <p:spPr>
          <a:xfrm>
            <a:off x="2590800" y="48656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446" name="Rectangle 62"/>
          <p:cNvSpPr/>
          <p:nvPr/>
        </p:nvSpPr>
        <p:spPr>
          <a:xfrm>
            <a:off x="3200400" y="48625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447" name="Text Box 63"/>
          <p:cNvSpPr txBox="1"/>
          <p:nvPr/>
        </p:nvSpPr>
        <p:spPr>
          <a:xfrm>
            <a:off x="3798888" y="4851400"/>
            <a:ext cx="601662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48" name="Rectangle 64"/>
          <p:cNvSpPr/>
          <p:nvPr/>
        </p:nvSpPr>
        <p:spPr>
          <a:xfrm>
            <a:off x="3810000" y="48625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449" name="Text Box 65"/>
          <p:cNvSpPr txBox="1"/>
          <p:nvPr/>
        </p:nvSpPr>
        <p:spPr>
          <a:xfrm>
            <a:off x="3200400" y="4851400"/>
            <a:ext cx="601663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6450" name="Rectangle 66"/>
          <p:cNvSpPr/>
          <p:nvPr/>
        </p:nvSpPr>
        <p:spPr>
          <a:xfrm>
            <a:off x="3200400" y="48625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27" grpId="0"/>
      <p:bldP spid="16428" grpId="0" animBg="1"/>
      <p:bldP spid="16430" grpId="0"/>
      <p:bldP spid="16434" grpId="0" animBg="1"/>
      <p:bldP spid="16435" grpId="0" animBg="1"/>
      <p:bldP spid="16436" grpId="0" animBg="1"/>
      <p:bldP spid="16437" grpId="0" animBg="1"/>
      <p:bldP spid="16438" grpId="0"/>
      <p:bldP spid="16440" grpId="0" animBg="1"/>
      <p:bldP spid="16441" grpId="0" animBg="1"/>
      <p:bldP spid="16442" grpId="0" animBg="1"/>
      <p:bldP spid="16443" grpId="0" animBg="1"/>
      <p:bldP spid="16444" grpId="0" animBg="1"/>
      <p:bldP spid="16445" grpId="0" animBg="1"/>
      <p:bldP spid="16446" grpId="0" animBg="1"/>
      <p:bldP spid="16447" grpId="0" animBg="1"/>
      <p:bldP spid="16448" grpId="0" animBg="1"/>
      <p:bldP spid="16449" grpId="0" animBg="1"/>
      <p:bldP spid="1645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13314" name="Object 2"/>
          <p:cNvGraphicFramePr/>
          <p:nvPr/>
        </p:nvGraphicFramePr>
        <p:xfrm>
          <a:off x="-2525712" y="1739900"/>
          <a:ext cx="1822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71015" imgH="431165" progId="Word.Document.8">
                  <p:embed/>
                </p:oleObj>
              </mc:Choice>
              <mc:Fallback>
                <p:oleObj name="" r:id="rId1" imgW="1771015" imgH="431165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-2525712" y="1739900"/>
                        <a:ext cx="182245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3"/>
          <p:cNvSpPr>
            <a:spLocks noGrp="1"/>
          </p:cNvSpPr>
          <p:nvPr>
            <p:ph type="title"/>
          </p:nvPr>
        </p:nvSpPr>
        <p:spPr>
          <a:xfrm>
            <a:off x="685800" y="166688"/>
            <a:ext cx="7772400" cy="1143000"/>
          </a:xfrm>
        </p:spPr>
        <p:txBody>
          <a:bodyPr vert="horz" wrap="square" lIns="92075" tIns="46038" rIns="92075" bIns="46038" anchor="ctr" anchorCtr="0"/>
          <a:p>
            <a:pPr eaLnBrk="1" hangingPunct="1"/>
            <a:r>
              <a:rPr lang="en-US" altLang="zh-CN" dirty="0"/>
              <a:t>The Third Pass</a:t>
            </a:r>
            <a:endParaRPr lang="en-US" altLang="zh-CN" dirty="0"/>
          </a:p>
        </p:txBody>
      </p:sp>
      <p:sp>
        <p:nvSpPr>
          <p:cNvPr id="17422" name="Text Box 14"/>
          <p:cNvSpPr txBox="1"/>
          <p:nvPr/>
        </p:nvSpPr>
        <p:spPr>
          <a:xfrm>
            <a:off x="2590800" y="21336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23" name="Text Box 15"/>
          <p:cNvSpPr txBox="1"/>
          <p:nvPr/>
        </p:nvSpPr>
        <p:spPr>
          <a:xfrm>
            <a:off x="3179763" y="21336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24" name="Text Box 16"/>
          <p:cNvSpPr txBox="1"/>
          <p:nvPr/>
        </p:nvSpPr>
        <p:spPr>
          <a:xfrm>
            <a:off x="3798888" y="21336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25" name="Text Box 17"/>
          <p:cNvSpPr txBox="1"/>
          <p:nvPr/>
        </p:nvSpPr>
        <p:spPr>
          <a:xfrm>
            <a:off x="4397375" y="21336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26" name="Text Box 18"/>
          <p:cNvSpPr txBox="1"/>
          <p:nvPr/>
        </p:nvSpPr>
        <p:spPr>
          <a:xfrm>
            <a:off x="4995863" y="21336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27" name="Rectangle 19"/>
          <p:cNvSpPr/>
          <p:nvPr/>
        </p:nvSpPr>
        <p:spPr>
          <a:xfrm>
            <a:off x="2590800" y="21478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28" name="Rectangle 20"/>
          <p:cNvSpPr/>
          <p:nvPr/>
        </p:nvSpPr>
        <p:spPr>
          <a:xfrm>
            <a:off x="3200400" y="21447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29" name="Text Box 21"/>
          <p:cNvSpPr txBox="1"/>
          <p:nvPr/>
        </p:nvSpPr>
        <p:spPr>
          <a:xfrm>
            <a:off x="3798888" y="2133600"/>
            <a:ext cx="601662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30" name="Rectangle 22"/>
          <p:cNvSpPr/>
          <p:nvPr/>
        </p:nvSpPr>
        <p:spPr>
          <a:xfrm>
            <a:off x="3810000" y="21447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31" name="Text Box 23"/>
          <p:cNvSpPr txBox="1"/>
          <p:nvPr/>
        </p:nvSpPr>
        <p:spPr>
          <a:xfrm>
            <a:off x="3200400" y="2133600"/>
            <a:ext cx="601663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32" name="Rectangle 24"/>
          <p:cNvSpPr/>
          <p:nvPr/>
        </p:nvSpPr>
        <p:spPr>
          <a:xfrm>
            <a:off x="3200400" y="21447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327" name="Text Box 25"/>
          <p:cNvSpPr txBox="1"/>
          <p:nvPr/>
        </p:nvSpPr>
        <p:spPr>
          <a:xfrm>
            <a:off x="1219200" y="1447800"/>
            <a:ext cx="992188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/>
              <a:t>K = 3</a:t>
            </a:r>
            <a:endParaRPr lang="en-US" altLang="zh-CN" sz="2400" dirty="0"/>
          </a:p>
        </p:txBody>
      </p:sp>
      <p:sp>
        <p:nvSpPr>
          <p:cNvPr id="17434" name="Text Box 26"/>
          <p:cNvSpPr txBox="1"/>
          <p:nvPr/>
        </p:nvSpPr>
        <p:spPr>
          <a:xfrm>
            <a:off x="6096000" y="1905000"/>
            <a:ext cx="2514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item_to_insert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7435" name="Text Box 27"/>
          <p:cNvSpPr txBox="1"/>
          <p:nvPr/>
        </p:nvSpPr>
        <p:spPr>
          <a:xfrm>
            <a:off x="7170738" y="2489200"/>
            <a:ext cx="601662" cy="4826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36" name="Text Box 28"/>
          <p:cNvSpPr txBox="1"/>
          <p:nvPr/>
        </p:nvSpPr>
        <p:spPr>
          <a:xfrm>
            <a:off x="1295400" y="3124200"/>
            <a:ext cx="992188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/>
              <a:t>K = 4</a:t>
            </a:r>
            <a:endParaRPr lang="en-US" altLang="zh-CN" sz="2400" dirty="0"/>
          </a:p>
        </p:txBody>
      </p:sp>
      <p:sp>
        <p:nvSpPr>
          <p:cNvPr id="17437" name="Text Box 29"/>
          <p:cNvSpPr txBox="1"/>
          <p:nvPr/>
        </p:nvSpPr>
        <p:spPr>
          <a:xfrm>
            <a:off x="6172200" y="4114800"/>
            <a:ext cx="2514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item_to_insert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7438" name="Text Box 30"/>
          <p:cNvSpPr txBox="1"/>
          <p:nvPr/>
        </p:nvSpPr>
        <p:spPr>
          <a:xfrm>
            <a:off x="7246938" y="4699000"/>
            <a:ext cx="601662" cy="4826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39" name="Text Box 31"/>
          <p:cNvSpPr txBox="1"/>
          <p:nvPr/>
        </p:nvSpPr>
        <p:spPr>
          <a:xfrm>
            <a:off x="2555875" y="42418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40" name="Text Box 32"/>
          <p:cNvSpPr txBox="1"/>
          <p:nvPr/>
        </p:nvSpPr>
        <p:spPr>
          <a:xfrm>
            <a:off x="3144838" y="42418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41" name="Text Box 33"/>
          <p:cNvSpPr txBox="1"/>
          <p:nvPr/>
        </p:nvSpPr>
        <p:spPr>
          <a:xfrm>
            <a:off x="3763963" y="42418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42" name="Text Box 34"/>
          <p:cNvSpPr txBox="1"/>
          <p:nvPr/>
        </p:nvSpPr>
        <p:spPr>
          <a:xfrm>
            <a:off x="4362450" y="42418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43" name="Text Box 35"/>
          <p:cNvSpPr txBox="1"/>
          <p:nvPr/>
        </p:nvSpPr>
        <p:spPr>
          <a:xfrm>
            <a:off x="4960938" y="42418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44" name="Rectangle 36"/>
          <p:cNvSpPr/>
          <p:nvPr/>
        </p:nvSpPr>
        <p:spPr>
          <a:xfrm>
            <a:off x="2555875" y="42560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45" name="Rectangle 37"/>
          <p:cNvSpPr/>
          <p:nvPr/>
        </p:nvSpPr>
        <p:spPr>
          <a:xfrm>
            <a:off x="3165475" y="42529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46" name="Text Box 38"/>
          <p:cNvSpPr txBox="1"/>
          <p:nvPr/>
        </p:nvSpPr>
        <p:spPr>
          <a:xfrm>
            <a:off x="3763963" y="4241800"/>
            <a:ext cx="601662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47" name="Rectangle 39"/>
          <p:cNvSpPr/>
          <p:nvPr/>
        </p:nvSpPr>
        <p:spPr>
          <a:xfrm>
            <a:off x="3775075" y="42529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48" name="Text Box 40"/>
          <p:cNvSpPr txBox="1"/>
          <p:nvPr/>
        </p:nvSpPr>
        <p:spPr>
          <a:xfrm>
            <a:off x="3165475" y="4241800"/>
            <a:ext cx="601663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49" name="Rectangle 41"/>
          <p:cNvSpPr/>
          <p:nvPr/>
        </p:nvSpPr>
        <p:spPr>
          <a:xfrm>
            <a:off x="3165475" y="42529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50" name="Rectangle 42"/>
          <p:cNvSpPr/>
          <p:nvPr/>
        </p:nvSpPr>
        <p:spPr>
          <a:xfrm>
            <a:off x="4354513" y="42560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51" name="Text Box 43"/>
          <p:cNvSpPr txBox="1"/>
          <p:nvPr/>
        </p:nvSpPr>
        <p:spPr>
          <a:xfrm>
            <a:off x="2514600" y="48006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52" name="Text Box 44"/>
          <p:cNvSpPr txBox="1"/>
          <p:nvPr/>
        </p:nvSpPr>
        <p:spPr>
          <a:xfrm>
            <a:off x="3103563" y="48006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53" name="Text Box 45"/>
          <p:cNvSpPr txBox="1"/>
          <p:nvPr/>
        </p:nvSpPr>
        <p:spPr>
          <a:xfrm>
            <a:off x="3722688" y="48006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54" name="Text Box 46"/>
          <p:cNvSpPr txBox="1"/>
          <p:nvPr/>
        </p:nvSpPr>
        <p:spPr>
          <a:xfrm>
            <a:off x="4321175" y="4800600"/>
            <a:ext cx="601663" cy="461963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55" name="Text Box 47"/>
          <p:cNvSpPr txBox="1"/>
          <p:nvPr/>
        </p:nvSpPr>
        <p:spPr>
          <a:xfrm>
            <a:off x="4919663" y="48006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56" name="Rectangle 48"/>
          <p:cNvSpPr/>
          <p:nvPr/>
        </p:nvSpPr>
        <p:spPr>
          <a:xfrm>
            <a:off x="2514600" y="48148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57" name="Rectangle 49"/>
          <p:cNvSpPr/>
          <p:nvPr/>
        </p:nvSpPr>
        <p:spPr>
          <a:xfrm>
            <a:off x="3124200" y="48117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58" name="Text Box 50"/>
          <p:cNvSpPr txBox="1"/>
          <p:nvPr/>
        </p:nvSpPr>
        <p:spPr>
          <a:xfrm>
            <a:off x="3722688" y="4800600"/>
            <a:ext cx="601662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59" name="Rectangle 51"/>
          <p:cNvSpPr/>
          <p:nvPr/>
        </p:nvSpPr>
        <p:spPr>
          <a:xfrm>
            <a:off x="3733800" y="48148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60" name="Text Box 52"/>
          <p:cNvSpPr txBox="1"/>
          <p:nvPr/>
        </p:nvSpPr>
        <p:spPr>
          <a:xfrm>
            <a:off x="3124200" y="4800600"/>
            <a:ext cx="601663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61" name="Rectangle 53"/>
          <p:cNvSpPr/>
          <p:nvPr/>
        </p:nvSpPr>
        <p:spPr>
          <a:xfrm>
            <a:off x="3124200" y="48117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62" name="Rectangle 54"/>
          <p:cNvSpPr/>
          <p:nvPr/>
        </p:nvSpPr>
        <p:spPr>
          <a:xfrm>
            <a:off x="4343400" y="4797425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63" name="Rectangle 55"/>
          <p:cNvSpPr/>
          <p:nvPr/>
        </p:nvSpPr>
        <p:spPr>
          <a:xfrm>
            <a:off x="4932363" y="48148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64" name="Rectangle 56"/>
          <p:cNvSpPr/>
          <p:nvPr/>
        </p:nvSpPr>
        <p:spPr>
          <a:xfrm>
            <a:off x="4392613" y="2146300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65" name="Text Box 57"/>
          <p:cNvSpPr txBox="1"/>
          <p:nvPr/>
        </p:nvSpPr>
        <p:spPr>
          <a:xfrm>
            <a:off x="2514600" y="54102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66" name="Text Box 58"/>
          <p:cNvSpPr txBox="1"/>
          <p:nvPr/>
        </p:nvSpPr>
        <p:spPr>
          <a:xfrm>
            <a:off x="3103563" y="54102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67" name="Text Box 59"/>
          <p:cNvSpPr txBox="1"/>
          <p:nvPr/>
        </p:nvSpPr>
        <p:spPr>
          <a:xfrm>
            <a:off x="3722688" y="54102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68" name="Text Box 60"/>
          <p:cNvSpPr txBox="1"/>
          <p:nvPr/>
        </p:nvSpPr>
        <p:spPr>
          <a:xfrm>
            <a:off x="4321175" y="54102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69" name="Text Box 61"/>
          <p:cNvSpPr txBox="1"/>
          <p:nvPr/>
        </p:nvSpPr>
        <p:spPr>
          <a:xfrm>
            <a:off x="4919663" y="54102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70" name="Rectangle 62"/>
          <p:cNvSpPr/>
          <p:nvPr/>
        </p:nvSpPr>
        <p:spPr>
          <a:xfrm>
            <a:off x="2514600" y="54244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71" name="Rectangle 63"/>
          <p:cNvSpPr/>
          <p:nvPr/>
        </p:nvSpPr>
        <p:spPr>
          <a:xfrm>
            <a:off x="3124200" y="54213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72" name="Text Box 64"/>
          <p:cNvSpPr txBox="1"/>
          <p:nvPr/>
        </p:nvSpPr>
        <p:spPr>
          <a:xfrm>
            <a:off x="3722688" y="5410200"/>
            <a:ext cx="601662" cy="461963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73" name="Rectangle 65"/>
          <p:cNvSpPr/>
          <p:nvPr/>
        </p:nvSpPr>
        <p:spPr>
          <a:xfrm>
            <a:off x="3719513" y="541813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74" name="Text Box 66"/>
          <p:cNvSpPr txBox="1"/>
          <p:nvPr/>
        </p:nvSpPr>
        <p:spPr>
          <a:xfrm>
            <a:off x="3124200" y="5410200"/>
            <a:ext cx="601663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7475" name="Rectangle 67"/>
          <p:cNvSpPr/>
          <p:nvPr/>
        </p:nvSpPr>
        <p:spPr>
          <a:xfrm>
            <a:off x="3124200" y="54213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76" name="Rectangle 68"/>
          <p:cNvSpPr/>
          <p:nvPr/>
        </p:nvSpPr>
        <p:spPr>
          <a:xfrm>
            <a:off x="4343400" y="5413375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77" name="Rectangle 69"/>
          <p:cNvSpPr/>
          <p:nvPr/>
        </p:nvSpPr>
        <p:spPr>
          <a:xfrm>
            <a:off x="4932363" y="54244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0" name="Text Box 57"/>
          <p:cNvSpPr txBox="1"/>
          <p:nvPr/>
        </p:nvSpPr>
        <p:spPr>
          <a:xfrm>
            <a:off x="2514600" y="60706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1" name="Text Box 58"/>
          <p:cNvSpPr txBox="1"/>
          <p:nvPr/>
        </p:nvSpPr>
        <p:spPr>
          <a:xfrm>
            <a:off x="3103563" y="60706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2" name="Text Box 59"/>
          <p:cNvSpPr txBox="1"/>
          <p:nvPr/>
        </p:nvSpPr>
        <p:spPr>
          <a:xfrm>
            <a:off x="3722688" y="6070600"/>
            <a:ext cx="601662" cy="461963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3" name="Text Box 60"/>
          <p:cNvSpPr txBox="1"/>
          <p:nvPr/>
        </p:nvSpPr>
        <p:spPr>
          <a:xfrm>
            <a:off x="4321175" y="6070600"/>
            <a:ext cx="601663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" name="Text Box 61"/>
          <p:cNvSpPr txBox="1"/>
          <p:nvPr/>
        </p:nvSpPr>
        <p:spPr>
          <a:xfrm>
            <a:off x="4919663" y="6070600"/>
            <a:ext cx="601662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" name="Rectangle 62"/>
          <p:cNvSpPr/>
          <p:nvPr/>
        </p:nvSpPr>
        <p:spPr>
          <a:xfrm>
            <a:off x="2514600" y="60848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6" name="Rectangle 63"/>
          <p:cNvSpPr/>
          <p:nvPr/>
        </p:nvSpPr>
        <p:spPr>
          <a:xfrm>
            <a:off x="3124200" y="60817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8" name="Rectangle 65"/>
          <p:cNvSpPr/>
          <p:nvPr/>
        </p:nvSpPr>
        <p:spPr>
          <a:xfrm>
            <a:off x="3732213" y="6070600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9" name="Text Box 66"/>
          <p:cNvSpPr txBox="1"/>
          <p:nvPr/>
        </p:nvSpPr>
        <p:spPr>
          <a:xfrm>
            <a:off x="3124200" y="6070600"/>
            <a:ext cx="601663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0" name="Rectangle 67"/>
          <p:cNvSpPr/>
          <p:nvPr/>
        </p:nvSpPr>
        <p:spPr>
          <a:xfrm>
            <a:off x="3124200" y="6081713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1" name="Rectangle 68"/>
          <p:cNvSpPr/>
          <p:nvPr/>
        </p:nvSpPr>
        <p:spPr>
          <a:xfrm>
            <a:off x="4343400" y="6073775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2" name="Rectangle 69"/>
          <p:cNvSpPr/>
          <p:nvPr/>
        </p:nvSpPr>
        <p:spPr>
          <a:xfrm>
            <a:off x="4932363" y="6084888"/>
            <a:ext cx="609600" cy="457200"/>
          </a:xfrm>
          <a:prstGeom prst="rect">
            <a:avLst/>
          </a:prstGeom>
          <a:solidFill>
            <a:srgbClr val="00CCFF">
              <a:alpha val="43921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2" grpId="0" animBg="1"/>
      <p:bldP spid="17423" grpId="0" animBg="1"/>
      <p:bldP spid="17424" grpId="0" animBg="1"/>
      <p:bldP spid="17425" grpId="0" animBg="1"/>
      <p:bldP spid="17426" grpId="0" animBg="1"/>
      <p:bldP spid="17427" grpId="0" animBg="1"/>
      <p:bldP spid="17428" grpId="0" animBg="1"/>
      <p:bldP spid="17429" grpId="0" animBg="1"/>
      <p:bldP spid="17430" grpId="0" animBg="1"/>
      <p:bldP spid="17431" grpId="0" animBg="1"/>
      <p:bldP spid="17432" grpId="0" animBg="1"/>
      <p:bldP spid="17434" grpId="0"/>
      <p:bldP spid="17435" grpId="0" animBg="1"/>
      <p:bldP spid="17436" grpId="0"/>
      <p:bldP spid="17437" grpId="0"/>
      <p:bldP spid="17438" grpId="0" animBg="1"/>
      <p:bldP spid="17439" grpId="0" animBg="1"/>
      <p:bldP spid="17440" grpId="0" animBg="1"/>
      <p:bldP spid="17441" grpId="0" animBg="1"/>
      <p:bldP spid="17442" grpId="0" animBg="1"/>
      <p:bldP spid="17443" grpId="0" animBg="1"/>
      <p:bldP spid="17444" grpId="0" animBg="1"/>
      <p:bldP spid="17445" grpId="0" animBg="1"/>
      <p:bldP spid="17446" grpId="0" animBg="1"/>
      <p:bldP spid="17447" grpId="0" animBg="1"/>
      <p:bldP spid="17448" grpId="0" animBg="1"/>
      <p:bldP spid="17449" grpId="0" animBg="1"/>
      <p:bldP spid="17450" grpId="0" animBg="1"/>
      <p:bldP spid="17451" grpId="0" animBg="1"/>
      <p:bldP spid="17452" grpId="0" animBg="1"/>
      <p:bldP spid="17453" grpId="0" animBg="1"/>
      <p:bldP spid="17454" grpId="0" animBg="1"/>
      <p:bldP spid="17455" grpId="0" animBg="1"/>
      <p:bldP spid="17456" grpId="0" animBg="1"/>
      <p:bldP spid="17457" grpId="0" animBg="1"/>
      <p:bldP spid="17458" grpId="0" animBg="1"/>
      <p:bldP spid="17459" grpId="0" animBg="1"/>
      <p:bldP spid="17460" grpId="0" animBg="1"/>
      <p:bldP spid="17461" grpId="0" animBg="1"/>
      <p:bldP spid="17462" grpId="0" animBg="1"/>
      <p:bldP spid="17463" grpId="0" animBg="1"/>
      <p:bldP spid="17464" grpId="0" animBg="1"/>
      <p:bldP spid="17465" grpId="0" animBg="1"/>
      <p:bldP spid="17466" grpId="0" animBg="1"/>
      <p:bldP spid="17467" grpId="0" animBg="1"/>
      <p:bldP spid="17468" grpId="0" animBg="1"/>
      <p:bldP spid="17469" grpId="0" animBg="1"/>
      <p:bldP spid="17470" grpId="0" animBg="1"/>
      <p:bldP spid="17471" grpId="0" animBg="1"/>
      <p:bldP spid="17472" grpId="0" animBg="1"/>
      <p:bldP spid="17473" grpId="0" animBg="1"/>
      <p:bldP spid="17474" grpId="0" animBg="1"/>
      <p:bldP spid="17475" grpId="0" animBg="1"/>
      <p:bldP spid="17476" grpId="0" animBg="1"/>
      <p:bldP spid="17477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33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4" name="Rectangle 2"/>
          <p:cNvSpPr/>
          <p:nvPr/>
        </p:nvSpPr>
        <p:spPr>
          <a:xfrm>
            <a:off x="838200" y="2362200"/>
            <a:ext cx="6934200" cy="23082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Insertion sort consists of </a:t>
            </a:r>
            <a:r>
              <a:rPr lang="en-US" altLang="zh-CN" sz="2400" b="1" dirty="0">
                <a:solidFill>
                  <a:schemeClr val="hlink"/>
                </a:solidFill>
              </a:rPr>
              <a:t>N-1</a:t>
            </a:r>
            <a:r>
              <a:rPr lang="en-US" altLang="zh-CN" sz="2400" dirty="0"/>
              <a:t> passes.</a:t>
            </a:r>
            <a:endParaRPr lang="en-US" altLang="zh-CN" sz="2400" dirty="0"/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For the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k</a:t>
            </a:r>
            <a:r>
              <a:rPr lang="en-US" altLang="zh-CN" sz="2400" baseline="30000" dirty="0">
                <a:solidFill>
                  <a:srgbClr val="0000FF"/>
                </a:solidFill>
              </a:rPr>
              <a:t>th</a:t>
            </a:r>
            <a:r>
              <a:rPr lang="en-US" altLang="zh-CN" sz="2400" baseline="30000" dirty="0"/>
              <a:t> </a:t>
            </a:r>
            <a:r>
              <a:rPr lang="en-US" altLang="zh-CN" sz="2400" dirty="0"/>
              <a:t>pass, the elements in positions </a:t>
            </a:r>
            <a:r>
              <a:rPr lang="en-US" altLang="zh-CN" sz="2400" b="1" dirty="0">
                <a:solidFill>
                  <a:schemeClr val="tx2"/>
                </a:solidFill>
              </a:rPr>
              <a:t>0 through k-1</a:t>
            </a:r>
            <a:r>
              <a:rPr lang="en-US" altLang="zh-CN" sz="2400" dirty="0"/>
              <a:t> are in sorted order. </a:t>
            </a:r>
            <a:endParaRPr lang="en-US" altLang="zh-CN" sz="2400" dirty="0"/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And try to insert the </a:t>
            </a:r>
            <a:r>
              <a:rPr lang="en-US" altLang="zh-CN" sz="2400" dirty="0">
                <a:solidFill>
                  <a:srgbClr val="0000FF"/>
                </a:solidFill>
              </a:rPr>
              <a:t>k</a:t>
            </a:r>
            <a:r>
              <a:rPr lang="en-US" altLang="zh-CN" sz="2400" baseline="30000" dirty="0">
                <a:solidFill>
                  <a:srgbClr val="0000FF"/>
                </a:solidFill>
              </a:rPr>
              <a:t>th</a:t>
            </a:r>
            <a:r>
              <a:rPr lang="en-US" altLang="zh-CN" sz="2400" dirty="0"/>
              <a:t> element into the sorted portion.</a:t>
            </a:r>
            <a:endParaRPr lang="en-US" altLang="zh-CN" sz="2400" dirty="0"/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3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19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9473" name="AutoShape 17"/>
          <p:cNvSpPr/>
          <p:nvPr/>
        </p:nvSpPr>
        <p:spPr>
          <a:xfrm>
            <a:off x="609600" y="990600"/>
            <a:ext cx="8077200" cy="52578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2000" b="1" dirty="0">
                <a:latin typeface="Arial" panose="020B0604020202020204" pitchFamily="34" charset="0"/>
              </a:rPr>
              <a:t> InsertionSort ( ElementType A[ ],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N )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{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int  </a:t>
            </a:r>
            <a:r>
              <a:rPr lang="en-US" altLang="zh-CN" sz="2000" b="1" dirty="0">
                <a:latin typeface="Arial" panose="020B0604020202020204" pitchFamily="34" charset="0"/>
              </a:rPr>
              <a:t>j, P;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ElementType  Tmp;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for </a:t>
            </a:r>
            <a:r>
              <a:rPr lang="en-US" altLang="zh-CN" sz="2000" b="1" dirty="0">
                <a:latin typeface="Arial" panose="020B0604020202020204" pitchFamily="34" charset="0"/>
              </a:rPr>
              <a:t>( P = 1; P &lt; N; P++ ) {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	Tmp = A[ P ];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/* the next coming card */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</a:rPr>
              <a:t>( j = P; j &gt; 0 &amp;&amp; A[ j - 1 ] &gt; Tmp; j-- )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	      A[ j ] = A[ j - 1 ];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	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/* shift sorted cards to provide a position 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                      for the new coming card */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	A[ j ] = Tmp;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/* place the new card at the proper position */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 }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/* end for-P-loop */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Algorithm Analysis I</a:t>
            </a:r>
            <a:endParaRPr lang="en-US" altLang="zh-CN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b="1" dirty="0">
                <a:solidFill>
                  <a:schemeClr val="tx2"/>
                </a:solidFill>
              </a:rPr>
              <a:t>Best Case</a:t>
            </a:r>
            <a:r>
              <a:rPr lang="en-US" altLang="zh-CN" sz="2400" dirty="0">
                <a:solidFill>
                  <a:schemeClr val="tx2"/>
                </a:solidFill>
              </a:rPr>
              <a:t>: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                keys are in right order already. 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Totally N-1 passes, for each pass, do 1 comparison and 2 movements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Total comparisons: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    Total movements: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Complexity of the best case is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O(N)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6388" name="Rectangle 4"/>
          <p:cNvSpPr/>
          <p:nvPr/>
        </p:nvSpPr>
        <p:spPr>
          <a:xfrm>
            <a:off x="838200" y="4186238"/>
            <a:ext cx="1582738" cy="395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3810000" y="3746500"/>
            <a:ext cx="1300163" cy="908050"/>
            <a:chOff x="0" y="0"/>
            <a:chExt cx="819" cy="572"/>
          </a:xfrm>
        </p:grpSpPr>
        <p:sp>
          <p:nvSpPr>
            <p:cNvPr id="16394" name="Rectangle 6"/>
            <p:cNvSpPr/>
            <p:nvPr/>
          </p:nvSpPr>
          <p:spPr>
            <a:xfrm>
              <a:off x="48" y="144"/>
              <a:ext cx="771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∑1=N-1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5" name="Rectangle 7"/>
            <p:cNvSpPr/>
            <p:nvPr/>
          </p:nvSpPr>
          <p:spPr>
            <a:xfrm>
              <a:off x="80" y="0"/>
              <a:ext cx="204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n-1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6" name="Rectangle 8"/>
            <p:cNvSpPr/>
            <p:nvPr/>
          </p:nvSpPr>
          <p:spPr>
            <a:xfrm>
              <a:off x="0" y="368"/>
              <a:ext cx="317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i=1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3810000" y="4654550"/>
            <a:ext cx="1803400" cy="908050"/>
            <a:chOff x="0" y="0"/>
            <a:chExt cx="1136" cy="572"/>
          </a:xfrm>
        </p:grpSpPr>
        <p:sp>
          <p:nvSpPr>
            <p:cNvPr id="16391" name="Rectangle 10"/>
            <p:cNvSpPr/>
            <p:nvPr/>
          </p:nvSpPr>
          <p:spPr>
            <a:xfrm>
              <a:off x="48" y="144"/>
              <a:ext cx="108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∑ 2=2(N-1)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2" name="Rectangle 11"/>
            <p:cNvSpPr/>
            <p:nvPr/>
          </p:nvSpPr>
          <p:spPr>
            <a:xfrm>
              <a:off x="80" y="0"/>
              <a:ext cx="204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n-1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3" name="Rectangle 12"/>
            <p:cNvSpPr/>
            <p:nvPr/>
          </p:nvSpPr>
          <p:spPr>
            <a:xfrm>
              <a:off x="0" y="368"/>
              <a:ext cx="317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i=1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62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3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charRg st="130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50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483">
                                            <p:txEl>
                                              <p:charRg st="150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72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0668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Analysis II</a:t>
            </a:r>
            <a:endParaRPr lang="en-US" altLang="zh-CN" dirty="0"/>
          </a:p>
        </p:txBody>
      </p:sp>
      <p:sp>
        <p:nvSpPr>
          <p:cNvPr id="21507" name="Rectangle 3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7215188" cy="365760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en-US" altLang="zh-CN" sz="2400" b="1" dirty="0">
                <a:solidFill>
                  <a:srgbClr val="0000FF"/>
                </a:solidFill>
              </a:rPr>
              <a:t>Worst Case</a:t>
            </a:r>
            <a:r>
              <a:rPr lang="en-US" altLang="zh-CN" sz="2400" dirty="0"/>
              <a:t>: </a:t>
            </a:r>
            <a:endParaRPr lang="en-US" altLang="zh-CN" sz="2400" dirty="0"/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2400" dirty="0"/>
              <a:t>                  Keys are in reverse order</a:t>
            </a:r>
            <a:endParaRPr lang="en-US" altLang="zh-CN" sz="2400" dirty="0"/>
          </a:p>
          <a:p>
            <a:pPr eaLnBrk="1" hangingPunct="1">
              <a:buClrTx/>
              <a:buSzTx/>
              <a:buFontTx/>
            </a:pPr>
            <a:r>
              <a:rPr lang="en-US" altLang="zh-CN" sz="2400" dirty="0"/>
              <a:t>Totally </a:t>
            </a:r>
            <a:r>
              <a:rPr lang="en-US" altLang="zh-CN" sz="2400" i="1" dirty="0">
                <a:latin typeface="Times New Roman" panose="02020603050405020304" pitchFamily="18" charset="0"/>
              </a:rPr>
              <a:t>N-1</a:t>
            </a:r>
            <a:r>
              <a:rPr lang="en-US" altLang="zh-CN" sz="2400" dirty="0"/>
              <a:t> passes</a:t>
            </a:r>
            <a:r>
              <a:rPr lang="en-US" altLang="zh-CN" sz="2000" dirty="0"/>
              <a:t>, f</a:t>
            </a:r>
            <a:r>
              <a:rPr lang="en-US" altLang="zh-CN" sz="2400" dirty="0"/>
              <a:t>or </a:t>
            </a:r>
            <a:r>
              <a:rPr lang="en-US" altLang="zh-CN" sz="2400" i="1" dirty="0">
                <a:latin typeface="Times New Roman" panose="02020603050405020304" pitchFamily="18" charset="0"/>
              </a:rPr>
              <a:t>i</a:t>
            </a:r>
            <a:r>
              <a:rPr lang="en-US" altLang="zh-CN" sz="2400" i="1" baseline="30000" dirty="0">
                <a:latin typeface="Times New Roman" panose="02020603050405020304" pitchFamily="18" charset="0"/>
              </a:rPr>
              <a:t>th</a:t>
            </a:r>
            <a:r>
              <a:rPr lang="en-US" altLang="zh-CN" sz="2400" dirty="0"/>
              <a:t> pass, do </a:t>
            </a:r>
            <a:r>
              <a:rPr lang="en-US" altLang="zh-CN" sz="2400" i="1" dirty="0">
                <a:latin typeface="Times New Roman" panose="02020603050405020304" pitchFamily="18" charset="0"/>
              </a:rPr>
              <a:t>i</a:t>
            </a:r>
            <a:r>
              <a:rPr lang="en-US" altLang="zh-CN" sz="2400" dirty="0"/>
              <a:t> comparisons, </a:t>
            </a:r>
            <a:r>
              <a:rPr lang="en-US" altLang="zh-CN" sz="2400" i="1" dirty="0">
                <a:latin typeface="Times New Roman" panose="02020603050405020304" pitchFamily="18" charset="0"/>
              </a:rPr>
              <a:t>i+2</a:t>
            </a:r>
            <a:r>
              <a:rPr lang="en-US" altLang="zh-CN" sz="2400" dirty="0"/>
              <a:t> movements, where </a:t>
            </a:r>
            <a:r>
              <a:rPr lang="en-US" altLang="zh-CN" sz="2400" i="1" dirty="0">
                <a:latin typeface="Times New Roman" panose="02020603050405020304" pitchFamily="18" charset="0"/>
              </a:rPr>
              <a:t>i </a:t>
            </a:r>
            <a:r>
              <a:rPr lang="en-US" altLang="zh-CN" sz="2400" dirty="0"/>
              <a:t>runs from </a:t>
            </a:r>
            <a:r>
              <a:rPr lang="en-US" altLang="zh-CN" sz="2400" i="1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/>
              <a:t> to </a:t>
            </a:r>
            <a:r>
              <a:rPr lang="en-US" altLang="zh-CN" sz="2400" i="1" dirty="0">
                <a:latin typeface="Times New Roman" panose="02020603050405020304" pitchFamily="18" charset="0"/>
              </a:rPr>
              <a:t>N-1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buClrTx/>
              <a:buSzTx/>
              <a:buFontTx/>
            </a:pPr>
            <a:endParaRPr lang="en-US" altLang="zh-CN" sz="2400" dirty="0"/>
          </a:p>
          <a:p>
            <a:pPr eaLnBrk="1" hangingPunct="1">
              <a:buClrTx/>
              <a:buSzTx/>
              <a:buFontTx/>
            </a:pPr>
            <a:r>
              <a:rPr lang="en-US" altLang="zh-CN" sz="2400" dirty="0"/>
              <a:t>Total Comparisons:</a:t>
            </a:r>
            <a:endParaRPr lang="en-US" altLang="zh-CN" sz="2400" dirty="0"/>
          </a:p>
          <a:p>
            <a:pPr eaLnBrk="1" hangingPunct="1">
              <a:buClrTx/>
              <a:buSzTx/>
              <a:buFontTx/>
            </a:pPr>
            <a:endParaRPr lang="en-US" altLang="zh-CN" sz="2400" dirty="0"/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2400" dirty="0"/>
              <a:t>    Total movements:</a:t>
            </a:r>
            <a:endParaRPr lang="en-US" altLang="zh-CN" sz="2400" dirty="0"/>
          </a:p>
          <a:p>
            <a:pPr eaLnBrk="1" hangingPunct="1">
              <a:buClrTx/>
              <a:buSzTx/>
              <a:buFontTx/>
              <a:buNone/>
            </a:pPr>
            <a:endParaRPr lang="en-US" altLang="zh-CN" sz="2400" dirty="0"/>
          </a:p>
          <a:p>
            <a:pPr eaLnBrk="1" hangingPunct="1">
              <a:buClrTx/>
              <a:buSzTx/>
              <a:buFontTx/>
              <a:buNone/>
            </a:pPr>
            <a:endParaRPr lang="en-US" altLang="zh-CN" sz="2400" dirty="0"/>
          </a:p>
          <a:p>
            <a:pPr eaLnBrk="1" hangingPunct="1">
              <a:buClrTx/>
              <a:buSzTx/>
              <a:buFontTx/>
            </a:pPr>
            <a:r>
              <a:rPr lang="en-US" altLang="zh-CN" sz="2400" dirty="0"/>
              <a:t>Complexity of the best case is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)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1508" name="Object 4">
            <a:hlinkClick r:id="" action="ppaction://ole?verb="/>
          </p:cNvPr>
          <p:cNvGraphicFramePr>
            <a:graphicFrameLocks noGrp="1"/>
          </p:cNvGraphicFramePr>
          <p:nvPr>
            <p:ph sz="half" idx="2"/>
          </p:nvPr>
        </p:nvGraphicFramePr>
        <p:xfrm>
          <a:off x="3804444" y="3208973"/>
          <a:ext cx="2143125" cy="897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27100" imgH="431800" progId="Equation.3">
                  <p:embed/>
                </p:oleObj>
              </mc:Choice>
              <mc:Fallback>
                <p:oleObj name="" r:id="rId1" imgW="927100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804444" y="3208973"/>
                        <a:ext cx="2143125" cy="89725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/>
          <p:nvPr/>
        </p:nvGrpSpPr>
        <p:grpSpPr>
          <a:xfrm>
            <a:off x="3657600" y="4216400"/>
            <a:ext cx="3678238" cy="965200"/>
            <a:chOff x="2291" y="2868"/>
            <a:chExt cx="2084" cy="636"/>
          </a:xfrm>
        </p:grpSpPr>
        <p:sp>
          <p:nvSpPr>
            <p:cNvPr id="17414" name="Rectangle 5"/>
            <p:cNvSpPr/>
            <p:nvPr/>
          </p:nvSpPr>
          <p:spPr>
            <a:xfrm>
              <a:off x="2339" y="3076"/>
              <a:ext cx="877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∑(i+2)=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415" name="Rectangle 6"/>
            <p:cNvSpPr/>
            <p:nvPr/>
          </p:nvSpPr>
          <p:spPr>
            <a:xfrm>
              <a:off x="2400" y="2868"/>
              <a:ext cx="204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n-1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7416" name="Rectangle 7"/>
            <p:cNvSpPr/>
            <p:nvPr/>
          </p:nvSpPr>
          <p:spPr>
            <a:xfrm>
              <a:off x="2291" y="3300"/>
              <a:ext cx="317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i=1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7417" name="Group 8"/>
            <p:cNvGrpSpPr/>
            <p:nvPr/>
          </p:nvGrpSpPr>
          <p:grpSpPr>
            <a:xfrm>
              <a:off x="3223" y="2973"/>
              <a:ext cx="1152" cy="518"/>
              <a:chOff x="0" y="0"/>
              <a:chExt cx="1152" cy="553"/>
            </a:xfrm>
          </p:grpSpPr>
          <p:sp>
            <p:nvSpPr>
              <p:cNvPr id="17418" name="Rectangle 9"/>
              <p:cNvSpPr/>
              <p:nvPr/>
            </p:nvSpPr>
            <p:spPr>
              <a:xfrm>
                <a:off x="72" y="0"/>
                <a:ext cx="1056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(n-1)(n+4)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19" name="Rectangle 10"/>
              <p:cNvSpPr/>
              <p:nvPr/>
            </p:nvSpPr>
            <p:spPr>
              <a:xfrm>
                <a:off x="427" y="349"/>
                <a:ext cx="204" cy="2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20" name="Line 11"/>
              <p:cNvSpPr/>
              <p:nvPr/>
            </p:nvSpPr>
            <p:spPr>
              <a:xfrm>
                <a:off x="0" y="272"/>
                <a:ext cx="115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1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57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153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173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196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4579" name="Text Box 3"/>
          <p:cNvSpPr txBox="1"/>
          <p:nvPr/>
        </p:nvSpPr>
        <p:spPr>
          <a:xfrm>
            <a:off x="381000" y="762000"/>
            <a:ext cx="82296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【Definition】</a:t>
            </a:r>
            <a:r>
              <a:rPr lang="en-US" altLang="zh-CN" sz="2400" b="1" dirty="0">
                <a:sym typeface="Wingdings" panose="05000000000000000000" pitchFamily="2" charset="2"/>
              </a:rPr>
              <a:t>An 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inversion</a:t>
            </a:r>
            <a:r>
              <a:rPr lang="en-US" altLang="zh-CN" sz="2400" b="1" dirty="0">
                <a:sym typeface="Wingdings" panose="05000000000000000000" pitchFamily="2" charset="2"/>
              </a:rPr>
              <a:t> in an array of numbers is any ordered pair ( </a:t>
            </a:r>
            <a:r>
              <a:rPr lang="en-US" altLang="zh-CN" sz="2400" b="1" i="1" dirty="0"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sym typeface="Wingdings" panose="05000000000000000000" pitchFamily="2" charset="2"/>
              </a:rPr>
              <a:t>, </a:t>
            </a:r>
            <a:r>
              <a:rPr lang="en-US" altLang="zh-CN" sz="2400" b="1" i="1" dirty="0">
                <a:sym typeface="Wingdings" panose="05000000000000000000" pitchFamily="2" charset="2"/>
              </a:rPr>
              <a:t>j </a:t>
            </a:r>
            <a:r>
              <a:rPr lang="en-US" altLang="zh-CN" sz="2400" b="1" dirty="0">
                <a:sym typeface="Wingdings" panose="05000000000000000000" pitchFamily="2" charset="2"/>
              </a:rPr>
              <a:t>) having the property that </a:t>
            </a:r>
            <a:r>
              <a:rPr lang="en-US" altLang="zh-CN" sz="2400" b="1" i="1" dirty="0">
                <a:sym typeface="Wingdings" panose="05000000000000000000" pitchFamily="2" charset="2"/>
              </a:rPr>
              <a:t>i </a:t>
            </a:r>
            <a:r>
              <a:rPr lang="en-US" altLang="zh-CN" sz="2400" b="1" dirty="0">
                <a:sym typeface="Wingdings" panose="05000000000000000000" pitchFamily="2" charset="2"/>
              </a:rPr>
              <a:t>&lt; </a:t>
            </a:r>
            <a:r>
              <a:rPr lang="en-US" altLang="zh-CN" sz="2400" b="1" i="1" dirty="0"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sym typeface="Wingdings" panose="05000000000000000000" pitchFamily="2" charset="2"/>
              </a:rPr>
              <a:t> but A[</a:t>
            </a:r>
            <a:r>
              <a:rPr lang="en-US" altLang="zh-CN" sz="2400" b="1" i="1" dirty="0"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sym typeface="Wingdings" panose="05000000000000000000" pitchFamily="2" charset="2"/>
              </a:rPr>
              <a:t>] &gt; A[</a:t>
            </a:r>
            <a:r>
              <a:rPr lang="en-US" altLang="zh-CN" sz="2400" b="1" i="1" dirty="0"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sym typeface="Wingdings" panose="05000000000000000000" pitchFamily="2" charset="2"/>
              </a:rPr>
              <a:t>].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24580" name="Text Box 4"/>
          <p:cNvSpPr txBox="1"/>
          <p:nvPr/>
        </p:nvSpPr>
        <p:spPr>
          <a:xfrm>
            <a:off x="381000" y="2133600"/>
            <a:ext cx="8229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〖</a:t>
            </a:r>
            <a:r>
              <a:rPr lang="en-US" altLang="zh-CN" sz="2400" b="1" dirty="0"/>
              <a:t>Example</a:t>
            </a:r>
            <a:r>
              <a:rPr lang="en-US" altLang="zh-CN" sz="2400" b="1" dirty="0">
                <a:ea typeface="MS Hei" pitchFamily="49" charset="-122"/>
              </a:rPr>
              <a:t>〗</a:t>
            </a:r>
            <a:r>
              <a:rPr lang="en-US" altLang="zh-CN" sz="2400" b="1" dirty="0"/>
              <a:t>  Input list 34, 8, 64, 51, 32, 21 has     inversions.</a:t>
            </a:r>
            <a:endParaRPr lang="en-US" altLang="zh-CN" sz="2400" b="1" dirty="0"/>
          </a:p>
        </p:txBody>
      </p:sp>
      <p:sp>
        <p:nvSpPr>
          <p:cNvPr id="24581" name="Text Box 5"/>
          <p:cNvSpPr txBox="1"/>
          <p:nvPr/>
        </p:nvSpPr>
        <p:spPr>
          <a:xfrm>
            <a:off x="8120063" y="2144713"/>
            <a:ext cx="457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Text Box 6"/>
          <p:cNvSpPr txBox="1"/>
          <p:nvPr/>
        </p:nvSpPr>
        <p:spPr>
          <a:xfrm>
            <a:off x="533400" y="3124200"/>
            <a:ext cx="78486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(34, 8) (34, 32) (34, 21) (64, 51) (64, 32) (64, 21) (51, 32) (51, 21) (32, 21)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4583" name="Text Box 7"/>
          <p:cNvSpPr txBox="1"/>
          <p:nvPr/>
        </p:nvSpPr>
        <p:spPr>
          <a:xfrm>
            <a:off x="533400" y="3657600"/>
            <a:ext cx="8229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There are    swaps needed to sort this list by insertion sort.</a:t>
            </a:r>
            <a:endParaRPr lang="en-US" altLang="zh-CN" sz="2400" b="1" dirty="0"/>
          </a:p>
        </p:txBody>
      </p:sp>
      <p:sp>
        <p:nvSpPr>
          <p:cNvPr id="24584" name="Text Box 8"/>
          <p:cNvSpPr txBox="1"/>
          <p:nvPr/>
        </p:nvSpPr>
        <p:spPr>
          <a:xfrm>
            <a:off x="2133600" y="3657600"/>
            <a:ext cx="457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9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4585" name="AutoShape 9"/>
          <p:cNvSpPr/>
          <p:nvPr/>
        </p:nvSpPr>
        <p:spPr>
          <a:xfrm>
            <a:off x="990600" y="4267200"/>
            <a:ext cx="7086600" cy="1143000"/>
          </a:xfrm>
          <a:prstGeom prst="wedgeEllipseCallout">
            <a:avLst>
              <a:gd name="adj1" fmla="val -32551"/>
              <a:gd name="adj2" fmla="val -71667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Swapping two adjacent elements that are out of place removes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exactly one</a:t>
            </a:r>
            <a:r>
              <a:rPr lang="en-US" altLang="zh-CN" sz="2000" b="1" dirty="0">
                <a:latin typeface="Times New Roman" panose="02020603050405020304" pitchFamily="18" charset="0"/>
              </a:rPr>
              <a:t> inversion.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4586" name="Text Box 10"/>
          <p:cNvSpPr txBox="1"/>
          <p:nvPr/>
        </p:nvSpPr>
        <p:spPr>
          <a:xfrm>
            <a:off x="609600" y="5486400"/>
            <a:ext cx="8001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MS Hei" pitchFamily="49" charset="-122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  <a:ea typeface="MS Hei" pitchFamily="49" charset="-12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ea typeface="MS Hei" pitchFamily="49" charset="-122"/>
              </a:rPr>
              <a:t>I 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) = O(              ) </a:t>
            </a:r>
            <a:r>
              <a:rPr lang="en-US" altLang="zh-CN" sz="2400" b="1" dirty="0">
                <a:ea typeface="MS Hei" pitchFamily="49" charset="-122"/>
              </a:rPr>
              <a:t>where </a:t>
            </a:r>
            <a:r>
              <a:rPr lang="en-US" altLang="zh-CN" sz="2400" b="1" i="1" dirty="0">
                <a:ea typeface="MS Hei" pitchFamily="49" charset="-122"/>
              </a:rPr>
              <a:t>I</a:t>
            </a:r>
            <a:r>
              <a:rPr lang="en-US" altLang="zh-CN" sz="2400" b="1" dirty="0">
                <a:ea typeface="MS Hei" pitchFamily="49" charset="-122"/>
              </a:rPr>
              <a:t> is the number of inversions in the original array.</a:t>
            </a:r>
            <a:endParaRPr lang="en-US" altLang="zh-CN" sz="2400" b="1" i="1" dirty="0"/>
          </a:p>
        </p:txBody>
      </p:sp>
      <p:sp>
        <p:nvSpPr>
          <p:cNvPr id="24587" name="Text Box 11"/>
          <p:cNvSpPr txBox="1"/>
          <p:nvPr/>
        </p:nvSpPr>
        <p:spPr>
          <a:xfrm>
            <a:off x="2514600" y="5486400"/>
            <a:ext cx="1066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N</a:t>
            </a:r>
            <a:endParaRPr lang="en-US" altLang="zh-CN" sz="2400" b="1" i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8" name="AutoShape 12"/>
          <p:cNvSpPr/>
          <p:nvPr/>
        </p:nvSpPr>
        <p:spPr>
          <a:xfrm>
            <a:off x="3657600" y="5943600"/>
            <a:ext cx="4876800" cy="762000"/>
          </a:xfrm>
          <a:prstGeom prst="wedgeEllipseCallout">
            <a:avLst>
              <a:gd name="adj1" fmla="val -56968"/>
              <a:gd name="adj2" fmla="val -76042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Fast if the list is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almost sorted</a:t>
            </a:r>
            <a:r>
              <a:rPr lang="en-US" altLang="zh-CN" sz="2000" b="1" dirty="0">
                <a:latin typeface="Times New Roman" panose="02020603050405020304" pitchFamily="18" charset="0"/>
              </a:rPr>
              <a:t>.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580" grpId="0"/>
      <p:bldP spid="24581" grpId="0"/>
      <p:bldP spid="24582" grpId="0"/>
      <p:bldP spid="24583" grpId="0"/>
      <p:bldP spid="24584" grpId="0"/>
      <p:bldP spid="24585" grpId="0" animBg="1"/>
      <p:bldP spid="24586" grpId="0"/>
      <p:bldP spid="24587" grpId="0"/>
      <p:bldP spid="2458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3" name="Text Box 3"/>
          <p:cNvSpPr txBox="1"/>
          <p:nvPr/>
        </p:nvSpPr>
        <p:spPr>
          <a:xfrm>
            <a:off x="533400" y="1295400"/>
            <a:ext cx="8229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【Theorem】</a:t>
            </a:r>
            <a:r>
              <a:rPr lang="en-US" altLang="zh-CN" sz="2400" b="1" dirty="0">
                <a:sym typeface="Wingdings" panose="05000000000000000000" pitchFamily="2" charset="2"/>
              </a:rPr>
              <a:t>The average number of inversions in an array of </a:t>
            </a:r>
            <a:r>
              <a:rPr lang="en-US" altLang="zh-CN" sz="2400" b="1" i="1" dirty="0"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ym typeface="Wingdings" panose="05000000000000000000" pitchFamily="2" charset="2"/>
              </a:rPr>
              <a:t> distinct numbers is  </a:t>
            </a:r>
            <a:r>
              <a:rPr lang="en-US" altLang="zh-CN" sz="2400" b="1" i="1" dirty="0">
                <a:solidFill>
                  <a:schemeClr val="hlink"/>
                </a:solidFill>
                <a:sym typeface="Wingdings" panose="05000000000000000000" pitchFamily="2" charset="2"/>
              </a:rPr>
              <a:t>N 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( </a:t>
            </a:r>
            <a:r>
              <a:rPr lang="en-US" altLang="zh-CN" sz="2400" b="1" i="1" dirty="0">
                <a:solidFill>
                  <a:schemeClr val="hlink"/>
                </a:solidFill>
                <a:sym typeface="Wingdings" panose="05000000000000000000" pitchFamily="2" charset="2"/>
              </a:rPr>
              <a:t>N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 1 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) / 4</a:t>
            </a:r>
            <a:r>
              <a:rPr lang="en-US" altLang="zh-CN" sz="2400" b="1" dirty="0">
                <a:sym typeface="Wingdings" panose="05000000000000000000" pitchFamily="2" charset="2"/>
              </a:rPr>
              <a:t>.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25604" name="Text Box 4"/>
          <p:cNvSpPr txBox="1"/>
          <p:nvPr/>
        </p:nvSpPr>
        <p:spPr>
          <a:xfrm>
            <a:off x="533400" y="3124200"/>
            <a:ext cx="82296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【Theorem】</a:t>
            </a:r>
            <a:r>
              <a:rPr lang="en-US" altLang="zh-CN" sz="2400" b="1" dirty="0">
                <a:sym typeface="Wingdings" panose="05000000000000000000" pitchFamily="2" charset="2"/>
              </a:rPr>
              <a:t>Any algorithm that sorts by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exchanging adjacent elements</a:t>
            </a:r>
            <a:r>
              <a:rPr lang="en-US" altLang="zh-CN" sz="2400" b="1" dirty="0">
                <a:sym typeface="Wingdings" panose="05000000000000000000" pitchFamily="2" charset="2"/>
              </a:rPr>
              <a:t> requires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 ( </a:t>
            </a:r>
            <a:r>
              <a:rPr lang="en-US" altLang="zh-CN" sz="2400" b="1" i="1" dirty="0">
                <a:solidFill>
                  <a:schemeClr val="hlink"/>
                </a:solidFill>
                <a:sym typeface="Symbol" panose="05050102010706020507" pitchFamily="18" charset="2"/>
              </a:rPr>
              <a:t>N </a:t>
            </a:r>
            <a:r>
              <a:rPr lang="en-US" altLang="zh-CN" sz="2400" b="1" baseline="30000" dirty="0">
                <a:solidFill>
                  <a:schemeClr val="hlink"/>
                </a:solidFill>
                <a:sym typeface="Symbol" panose="05050102010706020507" pitchFamily="18" charset="2"/>
              </a:rPr>
              <a:t>2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 time on average.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19460" name="Rectangle 56"/>
          <p:cNvSpPr/>
          <p:nvPr/>
        </p:nvSpPr>
        <p:spPr>
          <a:xfrm>
            <a:off x="2362200" y="5638800"/>
            <a:ext cx="4046538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/>
              <a:t>http://www.sorting-algorithms.com/</a:t>
            </a:r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2560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914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 idea of shell sort</a:t>
            </a:r>
            <a:endParaRPr lang="en-US" altLang="zh-CN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5259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/>
              <a:t>With insertion sort, each time we insert an element, other elements get moved </a:t>
            </a:r>
            <a:r>
              <a:rPr lang="en-US" altLang="zh-CN" sz="2400" i="1" dirty="0">
                <a:solidFill>
                  <a:srgbClr val="0000FF"/>
                </a:solidFill>
              </a:rPr>
              <a:t>one step</a:t>
            </a:r>
            <a:r>
              <a:rPr lang="en-US" altLang="zh-CN" sz="2400" dirty="0"/>
              <a:t> closer to where they ought to be.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What if we could move elements a </a:t>
            </a:r>
            <a:r>
              <a:rPr lang="en-US" altLang="zh-CN" sz="2400" i="1" dirty="0">
                <a:solidFill>
                  <a:srgbClr val="0000FF"/>
                </a:solidFill>
              </a:rPr>
              <a:t>much longer distance</a:t>
            </a:r>
            <a:r>
              <a:rPr lang="en-US" altLang="zh-CN" sz="2400" dirty="0"/>
              <a:t> each time i.e. </a:t>
            </a:r>
            <a:r>
              <a:rPr lang="en-US" altLang="zh-CN" sz="2400" dirty="0">
                <a:solidFill>
                  <a:srgbClr val="FF3300"/>
                </a:solidFill>
              </a:rPr>
              <a:t>quickly </a:t>
            </a:r>
            <a:r>
              <a:rPr lang="en-US" altLang="zh-CN" sz="2400" dirty="0"/>
              <a:t>shifting keys to their destination? </a:t>
            </a:r>
            <a:r>
              <a:rPr lang="en-US" altLang="zh-CN" sz="2400" b="1" dirty="0">
                <a:latin typeface="Times New Roman" panose="02020603050405020304" pitchFamily="18" charset="0"/>
                <a:sym typeface="+mn-ea"/>
              </a:rPr>
              <a:t>(34, 8) (34, 32) (34, 21)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We could move each element:</a:t>
            </a:r>
            <a:endParaRPr lang="en-US" altLang="zh-CN" sz="2400" dirty="0"/>
          </a:p>
          <a:p>
            <a:pPr lvl="1" eaLnBrk="1" hangingPunct="1"/>
            <a:r>
              <a:rPr lang="en-US" altLang="zh-CN" sz="2000" dirty="0"/>
              <a:t>A long distance</a:t>
            </a:r>
            <a:endParaRPr lang="en-US" altLang="zh-CN" sz="2000" dirty="0"/>
          </a:p>
          <a:p>
            <a:pPr lvl="1" eaLnBrk="1" hangingPunct="1"/>
            <a:r>
              <a:rPr lang="en-US" altLang="zh-CN" sz="2000" dirty="0"/>
              <a:t>A somewhat shorter distance</a:t>
            </a:r>
            <a:endParaRPr lang="en-US" altLang="zh-CN" sz="2000" dirty="0"/>
          </a:p>
          <a:p>
            <a:pPr lvl="1" eaLnBrk="1" hangingPunct="1"/>
            <a:r>
              <a:rPr lang="en-US" altLang="zh-CN" sz="2000" dirty="0"/>
              <a:t>A shorter distance still</a:t>
            </a:r>
            <a:endParaRPr lang="en-US" altLang="zh-CN" sz="2000" dirty="0"/>
          </a:p>
          <a:p>
            <a:pPr eaLnBrk="1" hangingPunct="1"/>
            <a:r>
              <a:rPr lang="en-US" altLang="zh-CN" sz="2400" dirty="0"/>
              <a:t>This approach is what makes shell sort so much faster than insertion sort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234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262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278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306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331" end="4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304800" y="152400"/>
            <a:ext cx="8382000" cy="914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Sorting nonconsecutive subarrays</a:t>
            </a:r>
            <a:endParaRPr lang="en-US" altLang="zh-CN" sz="4000" dirty="0"/>
          </a:p>
        </p:txBody>
      </p:sp>
      <p:sp>
        <p:nvSpPr>
          <p:cNvPr id="27651" name="Rectangle 3"/>
          <p:cNvSpPr>
            <a:spLocks noGrp="1"/>
          </p:cNvSpPr>
          <p:nvPr>
            <p:ph sz="half" idx="1"/>
          </p:nvPr>
        </p:nvSpPr>
        <p:spPr>
          <a:xfrm>
            <a:off x="685800" y="2971800"/>
            <a:ext cx="8153400" cy="310642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Extract one element every five elements to form a subgroup, totally 5 subgroups.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Do an insertion sort on</a:t>
            </a:r>
            <a:r>
              <a:rPr lang="en-US" altLang="zh-CN" sz="2400" i="1" dirty="0">
                <a:latin typeface="+mn-lt"/>
                <a:ea typeface="+mn-ea"/>
                <a:cs typeface="+mn-cs"/>
              </a:rPr>
              <a:t> each subgroup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. (5-sort)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r>
              <a:rPr lang="en-US" altLang="zh-CN" sz="2400" dirty="0">
                <a:sym typeface="+mn-ea"/>
              </a:rPr>
              <a:t>The resultant array is sorted </a:t>
            </a:r>
            <a:r>
              <a:rPr lang="en-US" altLang="zh-CN" sz="2400" i="1" dirty="0">
                <a:sym typeface="+mn-ea"/>
              </a:rPr>
              <a:t>within subgroups,</a:t>
            </a:r>
            <a:r>
              <a:rPr lang="en-US" altLang="zh-CN" sz="2400" dirty="0">
                <a:sym typeface="+mn-ea"/>
              </a:rPr>
              <a:t> BUT not overall</a:t>
            </a:r>
            <a:endParaRPr lang="en-US" altLang="zh-CN" sz="2400" dirty="0"/>
          </a:p>
          <a:p>
            <a:pPr eaLnBrk="1" hangingPunct="1">
              <a:buClrTx/>
              <a:buSzTx/>
              <a:buFontTx/>
            </a:pP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  <p:sp>
        <p:nvSpPr>
          <p:cNvPr id="27653" name="Text Box 5"/>
          <p:cNvSpPr txBox="1"/>
          <p:nvPr/>
        </p:nvSpPr>
        <p:spPr>
          <a:xfrm>
            <a:off x="685800" y="1371600"/>
            <a:ext cx="7848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•   </a:t>
            </a:r>
            <a:r>
              <a:rPr lang="en-US" altLang="zh-CN" sz="2400" dirty="0"/>
              <a:t>Here is an array to be sorted (numbers aren’t important)</a:t>
            </a:r>
            <a:endParaRPr lang="en-US" altLang="zh-CN" sz="2400" dirty="0"/>
          </a:p>
        </p:txBody>
      </p:sp>
      <p:grpSp>
        <p:nvGrpSpPr>
          <p:cNvPr id="2" name="Group 6"/>
          <p:cNvGrpSpPr/>
          <p:nvPr/>
        </p:nvGrpSpPr>
        <p:grpSpPr>
          <a:xfrm>
            <a:off x="904875" y="2209800"/>
            <a:ext cx="7324725" cy="303213"/>
            <a:chOff x="570" y="1536"/>
            <a:chExt cx="4614" cy="191"/>
          </a:xfrm>
        </p:grpSpPr>
        <p:sp>
          <p:nvSpPr>
            <p:cNvPr id="21541" name="Rectangle 7"/>
            <p:cNvSpPr/>
            <p:nvPr/>
          </p:nvSpPr>
          <p:spPr>
            <a:xfrm>
              <a:off x="570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2" name="Rectangle 8"/>
            <p:cNvSpPr/>
            <p:nvPr/>
          </p:nvSpPr>
          <p:spPr>
            <a:xfrm>
              <a:off x="762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3" name="Rectangle 9"/>
            <p:cNvSpPr/>
            <p:nvPr/>
          </p:nvSpPr>
          <p:spPr>
            <a:xfrm>
              <a:off x="954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4" name="Rectangle 10"/>
            <p:cNvSpPr/>
            <p:nvPr/>
          </p:nvSpPr>
          <p:spPr>
            <a:xfrm>
              <a:off x="1146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5" name="Rectangle 11"/>
            <p:cNvSpPr/>
            <p:nvPr/>
          </p:nvSpPr>
          <p:spPr>
            <a:xfrm>
              <a:off x="1338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6" name="Rectangle 12"/>
            <p:cNvSpPr/>
            <p:nvPr/>
          </p:nvSpPr>
          <p:spPr>
            <a:xfrm>
              <a:off x="1530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7" name="Rectangle 13"/>
            <p:cNvSpPr/>
            <p:nvPr/>
          </p:nvSpPr>
          <p:spPr>
            <a:xfrm>
              <a:off x="1722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8" name="Rectangle 14"/>
            <p:cNvSpPr/>
            <p:nvPr/>
          </p:nvSpPr>
          <p:spPr>
            <a:xfrm>
              <a:off x="1914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9" name="Rectangle 15"/>
            <p:cNvSpPr/>
            <p:nvPr/>
          </p:nvSpPr>
          <p:spPr>
            <a:xfrm>
              <a:off x="2109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0" name="Rectangle 16"/>
            <p:cNvSpPr/>
            <p:nvPr/>
          </p:nvSpPr>
          <p:spPr>
            <a:xfrm>
              <a:off x="2301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1" name="Rectangle 17"/>
            <p:cNvSpPr/>
            <p:nvPr/>
          </p:nvSpPr>
          <p:spPr>
            <a:xfrm>
              <a:off x="2493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2" name="Rectangle 18"/>
            <p:cNvSpPr/>
            <p:nvPr/>
          </p:nvSpPr>
          <p:spPr>
            <a:xfrm>
              <a:off x="2685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3" name="Rectangle 19"/>
            <p:cNvSpPr/>
            <p:nvPr/>
          </p:nvSpPr>
          <p:spPr>
            <a:xfrm>
              <a:off x="2877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4" name="Rectangle 20"/>
            <p:cNvSpPr/>
            <p:nvPr/>
          </p:nvSpPr>
          <p:spPr>
            <a:xfrm>
              <a:off x="3069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5" name="Rectangle 21"/>
            <p:cNvSpPr/>
            <p:nvPr/>
          </p:nvSpPr>
          <p:spPr>
            <a:xfrm>
              <a:off x="3261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6" name="Rectangle 22"/>
            <p:cNvSpPr/>
            <p:nvPr/>
          </p:nvSpPr>
          <p:spPr>
            <a:xfrm>
              <a:off x="3453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7" name="Rectangle 23"/>
            <p:cNvSpPr/>
            <p:nvPr/>
          </p:nvSpPr>
          <p:spPr>
            <a:xfrm>
              <a:off x="3645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8" name="Rectangle 24"/>
            <p:cNvSpPr/>
            <p:nvPr/>
          </p:nvSpPr>
          <p:spPr>
            <a:xfrm>
              <a:off x="3837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59" name="Rectangle 25"/>
            <p:cNvSpPr/>
            <p:nvPr/>
          </p:nvSpPr>
          <p:spPr>
            <a:xfrm>
              <a:off x="4029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60" name="Rectangle 26"/>
            <p:cNvSpPr/>
            <p:nvPr/>
          </p:nvSpPr>
          <p:spPr>
            <a:xfrm>
              <a:off x="4221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61" name="Rectangle 27"/>
            <p:cNvSpPr/>
            <p:nvPr/>
          </p:nvSpPr>
          <p:spPr>
            <a:xfrm>
              <a:off x="4413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62" name="Rectangle 28"/>
            <p:cNvSpPr/>
            <p:nvPr/>
          </p:nvSpPr>
          <p:spPr>
            <a:xfrm>
              <a:off x="4605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63" name="Rectangle 29"/>
            <p:cNvSpPr/>
            <p:nvPr/>
          </p:nvSpPr>
          <p:spPr>
            <a:xfrm>
              <a:off x="4797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64" name="Rectangle 30"/>
            <p:cNvSpPr/>
            <p:nvPr/>
          </p:nvSpPr>
          <p:spPr>
            <a:xfrm>
              <a:off x="4989" y="1536"/>
              <a:ext cx="195" cy="191"/>
            </a:xfrm>
            <a:prstGeom prst="rect">
              <a:avLst/>
            </a:prstGeom>
            <a:noFill/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" name="Group 31"/>
          <p:cNvGrpSpPr/>
          <p:nvPr/>
        </p:nvGrpSpPr>
        <p:grpSpPr>
          <a:xfrm>
            <a:off x="2133600" y="2209800"/>
            <a:ext cx="4886325" cy="303213"/>
            <a:chOff x="1344" y="2065"/>
            <a:chExt cx="3078" cy="191"/>
          </a:xfrm>
        </p:grpSpPr>
        <p:sp>
          <p:nvSpPr>
            <p:cNvPr id="21537" name="Rectangle 32"/>
            <p:cNvSpPr/>
            <p:nvPr/>
          </p:nvSpPr>
          <p:spPr>
            <a:xfrm>
              <a:off x="1344" y="2065"/>
              <a:ext cx="195" cy="191"/>
            </a:xfrm>
            <a:prstGeom prst="rect">
              <a:avLst/>
            </a:prstGeom>
            <a:solidFill>
              <a:srgbClr val="80008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8" name="Rectangle 33"/>
            <p:cNvSpPr/>
            <p:nvPr/>
          </p:nvSpPr>
          <p:spPr>
            <a:xfrm>
              <a:off x="2307" y="2065"/>
              <a:ext cx="195" cy="191"/>
            </a:xfrm>
            <a:prstGeom prst="rect">
              <a:avLst/>
            </a:prstGeom>
            <a:solidFill>
              <a:srgbClr val="80008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9" name="Rectangle 34"/>
            <p:cNvSpPr/>
            <p:nvPr/>
          </p:nvSpPr>
          <p:spPr>
            <a:xfrm>
              <a:off x="3267" y="2065"/>
              <a:ext cx="195" cy="191"/>
            </a:xfrm>
            <a:prstGeom prst="rect">
              <a:avLst/>
            </a:prstGeom>
            <a:solidFill>
              <a:srgbClr val="80008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0" name="Rectangle 35"/>
            <p:cNvSpPr/>
            <p:nvPr/>
          </p:nvSpPr>
          <p:spPr>
            <a:xfrm>
              <a:off x="4227" y="2065"/>
              <a:ext cx="195" cy="191"/>
            </a:xfrm>
            <a:prstGeom prst="rect">
              <a:avLst/>
            </a:prstGeom>
            <a:solidFill>
              <a:srgbClr val="80008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914400" y="2209800"/>
            <a:ext cx="6410325" cy="303213"/>
            <a:chOff x="576" y="2065"/>
            <a:chExt cx="4038" cy="191"/>
          </a:xfrm>
        </p:grpSpPr>
        <p:sp>
          <p:nvSpPr>
            <p:cNvPr id="21532" name="Rectangle 37"/>
            <p:cNvSpPr/>
            <p:nvPr/>
          </p:nvSpPr>
          <p:spPr>
            <a:xfrm>
              <a:off x="576" y="2065"/>
              <a:ext cx="195" cy="191"/>
            </a:xfrm>
            <a:prstGeom prst="rect">
              <a:avLst/>
            </a:prstGeom>
            <a:solidFill>
              <a:srgbClr val="FF00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3" name="Rectangle 38"/>
            <p:cNvSpPr/>
            <p:nvPr/>
          </p:nvSpPr>
          <p:spPr>
            <a:xfrm>
              <a:off x="1536" y="2065"/>
              <a:ext cx="195" cy="191"/>
            </a:xfrm>
            <a:prstGeom prst="rect">
              <a:avLst/>
            </a:prstGeom>
            <a:solidFill>
              <a:srgbClr val="FF00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4" name="Rectangle 39"/>
            <p:cNvSpPr/>
            <p:nvPr/>
          </p:nvSpPr>
          <p:spPr>
            <a:xfrm>
              <a:off x="2499" y="2065"/>
              <a:ext cx="195" cy="191"/>
            </a:xfrm>
            <a:prstGeom prst="rect">
              <a:avLst/>
            </a:prstGeom>
            <a:solidFill>
              <a:srgbClr val="FF00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5" name="Rectangle 40"/>
            <p:cNvSpPr/>
            <p:nvPr/>
          </p:nvSpPr>
          <p:spPr>
            <a:xfrm>
              <a:off x="3459" y="2065"/>
              <a:ext cx="195" cy="191"/>
            </a:xfrm>
            <a:prstGeom prst="rect">
              <a:avLst/>
            </a:prstGeom>
            <a:solidFill>
              <a:srgbClr val="FF00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6" name="Rectangle 41"/>
            <p:cNvSpPr/>
            <p:nvPr/>
          </p:nvSpPr>
          <p:spPr>
            <a:xfrm>
              <a:off x="4419" y="2065"/>
              <a:ext cx="195" cy="191"/>
            </a:xfrm>
            <a:prstGeom prst="rect">
              <a:avLst/>
            </a:prstGeom>
            <a:solidFill>
              <a:srgbClr val="FF00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5" name="Group 42"/>
          <p:cNvGrpSpPr/>
          <p:nvPr/>
        </p:nvGrpSpPr>
        <p:grpSpPr>
          <a:xfrm>
            <a:off x="1219200" y="2209800"/>
            <a:ext cx="6410325" cy="303213"/>
            <a:chOff x="768" y="2065"/>
            <a:chExt cx="4038" cy="191"/>
          </a:xfrm>
        </p:grpSpPr>
        <p:sp>
          <p:nvSpPr>
            <p:cNvPr id="21527" name="Rectangle 43"/>
            <p:cNvSpPr/>
            <p:nvPr/>
          </p:nvSpPr>
          <p:spPr>
            <a:xfrm>
              <a:off x="768" y="2065"/>
              <a:ext cx="195" cy="191"/>
            </a:xfrm>
            <a:prstGeom prst="rect">
              <a:avLst/>
            </a:prstGeom>
            <a:solidFill>
              <a:srgbClr val="FF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8" name="Rectangle 44"/>
            <p:cNvSpPr/>
            <p:nvPr/>
          </p:nvSpPr>
          <p:spPr>
            <a:xfrm>
              <a:off x="1728" y="2065"/>
              <a:ext cx="195" cy="191"/>
            </a:xfrm>
            <a:prstGeom prst="rect">
              <a:avLst/>
            </a:prstGeom>
            <a:solidFill>
              <a:srgbClr val="FF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9" name="Rectangle 45"/>
            <p:cNvSpPr/>
            <p:nvPr/>
          </p:nvSpPr>
          <p:spPr>
            <a:xfrm>
              <a:off x="2691" y="2065"/>
              <a:ext cx="195" cy="191"/>
            </a:xfrm>
            <a:prstGeom prst="rect">
              <a:avLst/>
            </a:prstGeom>
            <a:solidFill>
              <a:srgbClr val="FF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0" name="Rectangle 46"/>
            <p:cNvSpPr/>
            <p:nvPr/>
          </p:nvSpPr>
          <p:spPr>
            <a:xfrm>
              <a:off x="3651" y="2065"/>
              <a:ext cx="195" cy="191"/>
            </a:xfrm>
            <a:prstGeom prst="rect">
              <a:avLst/>
            </a:prstGeom>
            <a:solidFill>
              <a:srgbClr val="FF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1" name="Rectangle 47"/>
            <p:cNvSpPr/>
            <p:nvPr/>
          </p:nvSpPr>
          <p:spPr>
            <a:xfrm>
              <a:off x="4611" y="2065"/>
              <a:ext cx="195" cy="191"/>
            </a:xfrm>
            <a:prstGeom prst="rect">
              <a:avLst/>
            </a:prstGeom>
            <a:solidFill>
              <a:srgbClr val="FF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6" name="Group 48"/>
          <p:cNvGrpSpPr/>
          <p:nvPr/>
        </p:nvGrpSpPr>
        <p:grpSpPr>
          <a:xfrm>
            <a:off x="1524000" y="2209800"/>
            <a:ext cx="6410325" cy="303213"/>
            <a:chOff x="960" y="2065"/>
            <a:chExt cx="4038" cy="191"/>
          </a:xfrm>
        </p:grpSpPr>
        <p:sp>
          <p:nvSpPr>
            <p:cNvPr id="21522" name="Rectangle 49"/>
            <p:cNvSpPr/>
            <p:nvPr/>
          </p:nvSpPr>
          <p:spPr>
            <a:xfrm>
              <a:off x="960" y="2065"/>
              <a:ext cx="195" cy="191"/>
            </a:xfrm>
            <a:prstGeom prst="rect">
              <a:avLst/>
            </a:prstGeom>
            <a:solidFill>
              <a:srgbClr val="00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3" name="Rectangle 50"/>
            <p:cNvSpPr/>
            <p:nvPr/>
          </p:nvSpPr>
          <p:spPr>
            <a:xfrm>
              <a:off x="1920" y="2065"/>
              <a:ext cx="195" cy="191"/>
            </a:xfrm>
            <a:prstGeom prst="rect">
              <a:avLst/>
            </a:prstGeom>
            <a:solidFill>
              <a:srgbClr val="00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4" name="Rectangle 51"/>
            <p:cNvSpPr/>
            <p:nvPr/>
          </p:nvSpPr>
          <p:spPr>
            <a:xfrm>
              <a:off x="2883" y="2065"/>
              <a:ext cx="195" cy="191"/>
            </a:xfrm>
            <a:prstGeom prst="rect">
              <a:avLst/>
            </a:prstGeom>
            <a:solidFill>
              <a:srgbClr val="00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5" name="Rectangle 52"/>
            <p:cNvSpPr/>
            <p:nvPr/>
          </p:nvSpPr>
          <p:spPr>
            <a:xfrm>
              <a:off x="3843" y="2065"/>
              <a:ext cx="195" cy="191"/>
            </a:xfrm>
            <a:prstGeom prst="rect">
              <a:avLst/>
            </a:prstGeom>
            <a:solidFill>
              <a:srgbClr val="00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6" name="Rectangle 53"/>
            <p:cNvSpPr/>
            <p:nvPr/>
          </p:nvSpPr>
          <p:spPr>
            <a:xfrm>
              <a:off x="4803" y="2065"/>
              <a:ext cx="195" cy="191"/>
            </a:xfrm>
            <a:prstGeom prst="rect">
              <a:avLst/>
            </a:prstGeom>
            <a:solidFill>
              <a:srgbClr val="00FF0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7" name="Group 54"/>
          <p:cNvGrpSpPr/>
          <p:nvPr/>
        </p:nvGrpSpPr>
        <p:grpSpPr>
          <a:xfrm>
            <a:off x="1828800" y="2209800"/>
            <a:ext cx="6410325" cy="303213"/>
            <a:chOff x="1152" y="1536"/>
            <a:chExt cx="4038" cy="191"/>
          </a:xfrm>
        </p:grpSpPr>
        <p:sp>
          <p:nvSpPr>
            <p:cNvPr id="21517" name="Rectangle 55"/>
            <p:cNvSpPr/>
            <p:nvPr/>
          </p:nvSpPr>
          <p:spPr>
            <a:xfrm>
              <a:off x="1152" y="1536"/>
              <a:ext cx="195" cy="191"/>
            </a:xfrm>
            <a:prstGeom prst="rect">
              <a:avLst/>
            </a:prstGeom>
            <a:solidFill>
              <a:srgbClr val="00CCFF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18" name="Rectangle 56"/>
            <p:cNvSpPr/>
            <p:nvPr/>
          </p:nvSpPr>
          <p:spPr>
            <a:xfrm>
              <a:off x="2115" y="1536"/>
              <a:ext cx="195" cy="191"/>
            </a:xfrm>
            <a:prstGeom prst="rect">
              <a:avLst/>
            </a:prstGeom>
            <a:solidFill>
              <a:srgbClr val="00CCFF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19" name="Rectangle 57"/>
            <p:cNvSpPr/>
            <p:nvPr/>
          </p:nvSpPr>
          <p:spPr>
            <a:xfrm>
              <a:off x="3075" y="1536"/>
              <a:ext cx="195" cy="191"/>
            </a:xfrm>
            <a:prstGeom prst="rect">
              <a:avLst/>
            </a:prstGeom>
            <a:solidFill>
              <a:srgbClr val="00CCFF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0" name="Rectangle 58"/>
            <p:cNvSpPr/>
            <p:nvPr/>
          </p:nvSpPr>
          <p:spPr>
            <a:xfrm>
              <a:off x="4035" y="1536"/>
              <a:ext cx="195" cy="191"/>
            </a:xfrm>
            <a:prstGeom prst="rect">
              <a:avLst/>
            </a:prstGeom>
            <a:solidFill>
              <a:srgbClr val="00CCFF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1" name="Rectangle 59"/>
            <p:cNvSpPr/>
            <p:nvPr/>
          </p:nvSpPr>
          <p:spPr>
            <a:xfrm>
              <a:off x="4995" y="1536"/>
              <a:ext cx="195" cy="191"/>
            </a:xfrm>
            <a:prstGeom prst="rect">
              <a:avLst/>
            </a:prstGeom>
            <a:solidFill>
              <a:srgbClr val="00CCFF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32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651">
                                            <p:txEl>
                                              <p:charRg st="32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651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ldLvl="4" build="p"/>
      <p:bldP spid="276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685800" y="990600"/>
            <a:ext cx="8077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In the previous slide, we compared numbers that were spaced every 5 locations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This is a </a:t>
            </a:r>
            <a:r>
              <a:rPr lang="en-US" altLang="zh-CN" sz="2400" b="1" dirty="0">
                <a:solidFill>
                  <a:srgbClr val="0000FF"/>
                </a:solidFill>
              </a:rPr>
              <a:t>5-sort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800" dirty="0"/>
              <a:t>Ordinary </a:t>
            </a:r>
            <a:r>
              <a:rPr lang="en-US" altLang="zh-CN" sz="2800" dirty="0">
                <a:solidFill>
                  <a:srgbClr val="0000FF"/>
                </a:solidFill>
              </a:rPr>
              <a:t>insertion sort</a:t>
            </a:r>
            <a:r>
              <a:rPr lang="en-US" altLang="zh-CN" sz="2800" dirty="0"/>
              <a:t> is just like this, only the numbers are extracted every 1 element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We can think of this as a </a:t>
            </a:r>
            <a:r>
              <a:rPr lang="en-US" altLang="zh-CN" sz="2400" b="1" dirty="0">
                <a:solidFill>
                  <a:srgbClr val="0000FF"/>
                </a:solidFill>
              </a:rPr>
              <a:t>1-sort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800" dirty="0"/>
              <a:t>Suppose, after doing the 5-sort, we do a 1-sort?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In general, we would expect that each insertion would involve moving fewer numbers and fewer comparisons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The array would end up completely sorted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78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95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74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207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256" end="3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361" end="4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b="1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Shellsort is also known as </a:t>
            </a:r>
            <a:r>
              <a:rPr lang="en-US" altLang="zh-CN" b="1" i="1" dirty="0">
                <a:solidFill>
                  <a:srgbClr val="0000FF"/>
                </a:solidFill>
              </a:rPr>
              <a:t>diminishing increment sort</a:t>
            </a:r>
            <a:r>
              <a:rPr lang="zh-CN" altLang="en-US" b="1" dirty="0">
                <a:solidFill>
                  <a:srgbClr val="0000FF"/>
                </a:solidFill>
              </a:rPr>
              <a:t>（递减增量排序）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 </a:t>
            </a:r>
            <a:r>
              <a:rPr lang="en-US" altLang="zh-CN" dirty="0">
                <a:solidFill>
                  <a:schemeClr val="tx2"/>
                </a:solidFill>
              </a:rPr>
              <a:t>distance</a:t>
            </a:r>
            <a:r>
              <a:rPr lang="en-US" altLang="zh-CN" dirty="0"/>
              <a:t> between comparisons </a:t>
            </a:r>
            <a:r>
              <a:rPr lang="en-US" altLang="zh-CN" dirty="0">
                <a:solidFill>
                  <a:schemeClr val="tx2"/>
                </a:solidFill>
              </a:rPr>
              <a:t>decreases</a:t>
            </a:r>
            <a:r>
              <a:rPr lang="en-US" altLang="zh-CN" dirty="0"/>
              <a:t> as the sorting algorithm runs until the last phase in which adjacent elements are compared (1-sort)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62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9">
                                            <p:txEl>
                                              <p:charRg st="62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9">
                                            <p:txEl>
                                              <p:charRg st="62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4578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grpSp>
        <p:nvGrpSpPr>
          <p:cNvPr id="2" name="Group 9"/>
          <p:cNvGrpSpPr/>
          <p:nvPr/>
        </p:nvGrpSpPr>
        <p:grpSpPr>
          <a:xfrm>
            <a:off x="304800" y="1635125"/>
            <a:ext cx="8153400" cy="990600"/>
            <a:chOff x="192" y="528"/>
            <a:chExt cx="5136" cy="624"/>
          </a:xfrm>
        </p:grpSpPr>
        <p:sp>
          <p:nvSpPr>
            <p:cNvPr id="24665" name="Text Box 10"/>
            <p:cNvSpPr txBox="1"/>
            <p:nvPr/>
          </p:nvSpPr>
          <p:spPr>
            <a:xfrm>
              <a:off x="192" y="528"/>
              <a:ext cx="17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MS Hei" pitchFamily="49" charset="-122"/>
                </a:rPr>
                <a:t>〖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Example</a:t>
              </a:r>
              <a:r>
                <a:rPr lang="en-US" altLang="zh-CN" sz="2400" b="1" dirty="0">
                  <a:latin typeface="Times New Roman" panose="02020603050405020304" pitchFamily="18" charset="0"/>
                  <a:ea typeface="MS Hei" pitchFamily="49" charset="-122"/>
                </a:rPr>
                <a:t>〗Sort: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66" name="Text Box 11"/>
            <p:cNvSpPr txBox="1"/>
            <p:nvPr/>
          </p:nvSpPr>
          <p:spPr>
            <a:xfrm>
              <a:off x="960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67" name="Text Box 12"/>
            <p:cNvSpPr txBox="1"/>
            <p:nvPr/>
          </p:nvSpPr>
          <p:spPr>
            <a:xfrm>
              <a:off x="1296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68" name="Text Box 13"/>
            <p:cNvSpPr txBox="1"/>
            <p:nvPr/>
          </p:nvSpPr>
          <p:spPr>
            <a:xfrm>
              <a:off x="1632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69" name="Text Box 14"/>
            <p:cNvSpPr txBox="1"/>
            <p:nvPr/>
          </p:nvSpPr>
          <p:spPr>
            <a:xfrm>
              <a:off x="1968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0" name="Text Box 15"/>
            <p:cNvSpPr txBox="1"/>
            <p:nvPr/>
          </p:nvSpPr>
          <p:spPr>
            <a:xfrm>
              <a:off x="2304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1" name="Text Box 16"/>
            <p:cNvSpPr txBox="1"/>
            <p:nvPr/>
          </p:nvSpPr>
          <p:spPr>
            <a:xfrm>
              <a:off x="2640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2" name="Text Box 17"/>
            <p:cNvSpPr txBox="1"/>
            <p:nvPr/>
          </p:nvSpPr>
          <p:spPr>
            <a:xfrm>
              <a:off x="2976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3" name="Text Box 18"/>
            <p:cNvSpPr txBox="1"/>
            <p:nvPr/>
          </p:nvSpPr>
          <p:spPr>
            <a:xfrm>
              <a:off x="3312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4" name="Text Box 19"/>
            <p:cNvSpPr txBox="1"/>
            <p:nvPr/>
          </p:nvSpPr>
          <p:spPr>
            <a:xfrm>
              <a:off x="3648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5" name="Text Box 20"/>
            <p:cNvSpPr txBox="1"/>
            <p:nvPr/>
          </p:nvSpPr>
          <p:spPr>
            <a:xfrm>
              <a:off x="3984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6" name="Text Box 21"/>
            <p:cNvSpPr txBox="1"/>
            <p:nvPr/>
          </p:nvSpPr>
          <p:spPr>
            <a:xfrm>
              <a:off x="4320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7" name="Text Box 22"/>
            <p:cNvSpPr txBox="1"/>
            <p:nvPr/>
          </p:nvSpPr>
          <p:spPr>
            <a:xfrm>
              <a:off x="4656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8" name="Text Box 23"/>
            <p:cNvSpPr txBox="1"/>
            <p:nvPr/>
          </p:nvSpPr>
          <p:spPr>
            <a:xfrm>
              <a:off x="4992" y="88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4"/>
          <p:cNvGrpSpPr/>
          <p:nvPr/>
        </p:nvGrpSpPr>
        <p:grpSpPr>
          <a:xfrm>
            <a:off x="3124200" y="2854325"/>
            <a:ext cx="3200400" cy="422275"/>
            <a:chOff x="1968" y="1296"/>
            <a:chExt cx="2016" cy="266"/>
          </a:xfrm>
        </p:grpSpPr>
        <p:sp>
          <p:nvSpPr>
            <p:cNvPr id="24663" name="Text Box 25"/>
            <p:cNvSpPr txBox="1"/>
            <p:nvPr/>
          </p:nvSpPr>
          <p:spPr>
            <a:xfrm>
              <a:off x="3648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64" name="Text Box 26"/>
            <p:cNvSpPr txBox="1"/>
            <p:nvPr/>
          </p:nvSpPr>
          <p:spPr>
            <a:xfrm>
              <a:off x="1968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27"/>
          <p:cNvGrpSpPr/>
          <p:nvPr/>
        </p:nvGrpSpPr>
        <p:grpSpPr>
          <a:xfrm>
            <a:off x="3657600" y="2854325"/>
            <a:ext cx="3200400" cy="422275"/>
            <a:chOff x="2304" y="1296"/>
            <a:chExt cx="2016" cy="266"/>
          </a:xfrm>
        </p:grpSpPr>
        <p:sp>
          <p:nvSpPr>
            <p:cNvPr id="24661" name="Text Box 28"/>
            <p:cNvSpPr txBox="1"/>
            <p:nvPr/>
          </p:nvSpPr>
          <p:spPr>
            <a:xfrm>
              <a:off x="2304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62" name="Text Box 29"/>
            <p:cNvSpPr txBox="1"/>
            <p:nvPr/>
          </p:nvSpPr>
          <p:spPr>
            <a:xfrm>
              <a:off x="3984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0"/>
          <p:cNvGrpSpPr/>
          <p:nvPr/>
        </p:nvGrpSpPr>
        <p:grpSpPr>
          <a:xfrm>
            <a:off x="1524000" y="2854325"/>
            <a:ext cx="5867400" cy="422275"/>
            <a:chOff x="960" y="1296"/>
            <a:chExt cx="3696" cy="266"/>
          </a:xfrm>
        </p:grpSpPr>
        <p:sp>
          <p:nvSpPr>
            <p:cNvPr id="24658" name="Text Box 31"/>
            <p:cNvSpPr txBox="1"/>
            <p:nvPr/>
          </p:nvSpPr>
          <p:spPr>
            <a:xfrm>
              <a:off x="4320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59" name="Text Box 32"/>
            <p:cNvSpPr txBox="1"/>
            <p:nvPr/>
          </p:nvSpPr>
          <p:spPr>
            <a:xfrm>
              <a:off x="960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60" name="Text Box 33"/>
            <p:cNvSpPr txBox="1"/>
            <p:nvPr/>
          </p:nvSpPr>
          <p:spPr>
            <a:xfrm>
              <a:off x="2640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34"/>
          <p:cNvGrpSpPr/>
          <p:nvPr/>
        </p:nvGrpSpPr>
        <p:grpSpPr>
          <a:xfrm>
            <a:off x="2057400" y="2854325"/>
            <a:ext cx="5867400" cy="422275"/>
            <a:chOff x="1296" y="1296"/>
            <a:chExt cx="3696" cy="266"/>
          </a:xfrm>
        </p:grpSpPr>
        <p:sp>
          <p:nvSpPr>
            <p:cNvPr id="24655" name="Text Box 35"/>
            <p:cNvSpPr txBox="1"/>
            <p:nvPr/>
          </p:nvSpPr>
          <p:spPr>
            <a:xfrm>
              <a:off x="4656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56" name="Text Box 36"/>
            <p:cNvSpPr txBox="1"/>
            <p:nvPr/>
          </p:nvSpPr>
          <p:spPr>
            <a:xfrm>
              <a:off x="1296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57" name="Text Box 37"/>
            <p:cNvSpPr txBox="1"/>
            <p:nvPr/>
          </p:nvSpPr>
          <p:spPr>
            <a:xfrm>
              <a:off x="2976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8"/>
          <p:cNvGrpSpPr/>
          <p:nvPr/>
        </p:nvGrpSpPr>
        <p:grpSpPr>
          <a:xfrm>
            <a:off x="2590800" y="2854325"/>
            <a:ext cx="5867400" cy="422275"/>
            <a:chOff x="1632" y="1296"/>
            <a:chExt cx="3696" cy="266"/>
          </a:xfrm>
        </p:grpSpPr>
        <p:sp>
          <p:nvSpPr>
            <p:cNvPr id="24652" name="Text Box 39"/>
            <p:cNvSpPr txBox="1"/>
            <p:nvPr/>
          </p:nvSpPr>
          <p:spPr>
            <a:xfrm>
              <a:off x="1632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53" name="Text Box 40"/>
            <p:cNvSpPr txBox="1"/>
            <p:nvPr/>
          </p:nvSpPr>
          <p:spPr>
            <a:xfrm>
              <a:off x="4992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54" name="Text Box 41"/>
            <p:cNvSpPr txBox="1"/>
            <p:nvPr/>
          </p:nvSpPr>
          <p:spPr>
            <a:xfrm>
              <a:off x="3312" y="1296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570" name="Text Box 42"/>
          <p:cNvSpPr txBox="1"/>
          <p:nvPr/>
        </p:nvSpPr>
        <p:spPr>
          <a:xfrm>
            <a:off x="609600" y="2854325"/>
            <a:ext cx="914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8" name="Group 43"/>
          <p:cNvGrpSpPr/>
          <p:nvPr/>
        </p:nvGrpSpPr>
        <p:grpSpPr>
          <a:xfrm>
            <a:off x="1600200" y="2244725"/>
            <a:ext cx="5715000" cy="304800"/>
            <a:chOff x="1008" y="912"/>
            <a:chExt cx="3600" cy="192"/>
          </a:xfrm>
        </p:grpSpPr>
        <p:sp>
          <p:nvSpPr>
            <p:cNvPr id="24649" name="Rectangle 44"/>
            <p:cNvSpPr/>
            <p:nvPr/>
          </p:nvSpPr>
          <p:spPr>
            <a:xfrm>
              <a:off x="1008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50" name="Rectangle 45"/>
            <p:cNvSpPr/>
            <p:nvPr/>
          </p:nvSpPr>
          <p:spPr>
            <a:xfrm>
              <a:off x="2688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51" name="Rectangle 46"/>
            <p:cNvSpPr/>
            <p:nvPr/>
          </p:nvSpPr>
          <p:spPr>
            <a:xfrm>
              <a:off x="4368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9" name="Group 47"/>
          <p:cNvGrpSpPr/>
          <p:nvPr/>
        </p:nvGrpSpPr>
        <p:grpSpPr>
          <a:xfrm>
            <a:off x="2133600" y="2244725"/>
            <a:ext cx="5715000" cy="304800"/>
            <a:chOff x="1344" y="912"/>
            <a:chExt cx="3600" cy="192"/>
          </a:xfrm>
        </p:grpSpPr>
        <p:sp>
          <p:nvSpPr>
            <p:cNvPr id="24646" name="Rectangle 48"/>
            <p:cNvSpPr/>
            <p:nvPr/>
          </p:nvSpPr>
          <p:spPr>
            <a:xfrm>
              <a:off x="1344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47" name="Rectangle 49"/>
            <p:cNvSpPr/>
            <p:nvPr/>
          </p:nvSpPr>
          <p:spPr>
            <a:xfrm>
              <a:off x="3024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48" name="Rectangle 50"/>
            <p:cNvSpPr/>
            <p:nvPr/>
          </p:nvSpPr>
          <p:spPr>
            <a:xfrm>
              <a:off x="4704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0" name="Group 51"/>
          <p:cNvGrpSpPr/>
          <p:nvPr/>
        </p:nvGrpSpPr>
        <p:grpSpPr>
          <a:xfrm>
            <a:off x="2667000" y="2244725"/>
            <a:ext cx="5715000" cy="304800"/>
            <a:chOff x="1680" y="912"/>
            <a:chExt cx="3600" cy="192"/>
          </a:xfrm>
        </p:grpSpPr>
        <p:sp>
          <p:nvSpPr>
            <p:cNvPr id="24643" name="Rectangle 52"/>
            <p:cNvSpPr/>
            <p:nvPr/>
          </p:nvSpPr>
          <p:spPr>
            <a:xfrm>
              <a:off x="1680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44" name="Rectangle 53"/>
            <p:cNvSpPr/>
            <p:nvPr/>
          </p:nvSpPr>
          <p:spPr>
            <a:xfrm>
              <a:off x="3360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45" name="Rectangle 54"/>
            <p:cNvSpPr/>
            <p:nvPr/>
          </p:nvSpPr>
          <p:spPr>
            <a:xfrm>
              <a:off x="5040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1" name="Group 55"/>
          <p:cNvGrpSpPr/>
          <p:nvPr/>
        </p:nvGrpSpPr>
        <p:grpSpPr>
          <a:xfrm>
            <a:off x="3200400" y="2244725"/>
            <a:ext cx="3048000" cy="304800"/>
            <a:chOff x="2016" y="912"/>
            <a:chExt cx="1920" cy="192"/>
          </a:xfrm>
        </p:grpSpPr>
        <p:sp>
          <p:nvSpPr>
            <p:cNvPr id="24641" name="Rectangle 56"/>
            <p:cNvSpPr/>
            <p:nvPr/>
          </p:nvSpPr>
          <p:spPr>
            <a:xfrm>
              <a:off x="2016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42" name="Rectangle 57"/>
            <p:cNvSpPr/>
            <p:nvPr/>
          </p:nvSpPr>
          <p:spPr>
            <a:xfrm>
              <a:off x="3696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2" name="Group 58"/>
          <p:cNvGrpSpPr/>
          <p:nvPr/>
        </p:nvGrpSpPr>
        <p:grpSpPr>
          <a:xfrm>
            <a:off x="3733800" y="2244725"/>
            <a:ext cx="3048000" cy="304800"/>
            <a:chOff x="2352" y="912"/>
            <a:chExt cx="1920" cy="192"/>
          </a:xfrm>
        </p:grpSpPr>
        <p:sp>
          <p:nvSpPr>
            <p:cNvPr id="24639" name="Rectangle 59"/>
            <p:cNvSpPr/>
            <p:nvPr/>
          </p:nvSpPr>
          <p:spPr>
            <a:xfrm>
              <a:off x="2352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40" name="Rectangle 60"/>
            <p:cNvSpPr/>
            <p:nvPr/>
          </p:nvSpPr>
          <p:spPr>
            <a:xfrm>
              <a:off x="4032" y="912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3" name="Group 61"/>
          <p:cNvGrpSpPr/>
          <p:nvPr/>
        </p:nvGrpSpPr>
        <p:grpSpPr>
          <a:xfrm>
            <a:off x="2590800" y="3463925"/>
            <a:ext cx="5334000" cy="422275"/>
            <a:chOff x="1632" y="1680"/>
            <a:chExt cx="3360" cy="266"/>
          </a:xfrm>
        </p:grpSpPr>
        <p:sp>
          <p:nvSpPr>
            <p:cNvPr id="24635" name="Text Box 62"/>
            <p:cNvSpPr txBox="1"/>
            <p:nvPr/>
          </p:nvSpPr>
          <p:spPr>
            <a:xfrm>
              <a:off x="4656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36" name="Text Box 63"/>
            <p:cNvSpPr txBox="1"/>
            <p:nvPr/>
          </p:nvSpPr>
          <p:spPr>
            <a:xfrm>
              <a:off x="2640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37" name="Text Box 64"/>
            <p:cNvSpPr txBox="1"/>
            <p:nvPr/>
          </p:nvSpPr>
          <p:spPr>
            <a:xfrm>
              <a:off x="3648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38" name="Text Box 65"/>
            <p:cNvSpPr txBox="1"/>
            <p:nvPr/>
          </p:nvSpPr>
          <p:spPr>
            <a:xfrm>
              <a:off x="1632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66"/>
          <p:cNvGrpSpPr/>
          <p:nvPr/>
        </p:nvGrpSpPr>
        <p:grpSpPr>
          <a:xfrm>
            <a:off x="1524000" y="3463925"/>
            <a:ext cx="6934200" cy="422275"/>
            <a:chOff x="960" y="1680"/>
            <a:chExt cx="4368" cy="266"/>
          </a:xfrm>
        </p:grpSpPr>
        <p:sp>
          <p:nvSpPr>
            <p:cNvPr id="24630" name="Text Box 67"/>
            <p:cNvSpPr txBox="1"/>
            <p:nvPr/>
          </p:nvSpPr>
          <p:spPr>
            <a:xfrm>
              <a:off x="960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31" name="Text Box 68"/>
            <p:cNvSpPr txBox="1"/>
            <p:nvPr/>
          </p:nvSpPr>
          <p:spPr>
            <a:xfrm>
              <a:off x="2976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32" name="Text Box 69"/>
            <p:cNvSpPr txBox="1"/>
            <p:nvPr/>
          </p:nvSpPr>
          <p:spPr>
            <a:xfrm>
              <a:off x="1968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33" name="Text Box 70"/>
            <p:cNvSpPr txBox="1"/>
            <p:nvPr/>
          </p:nvSpPr>
          <p:spPr>
            <a:xfrm>
              <a:off x="3984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34" name="Text Box 71"/>
            <p:cNvSpPr txBox="1"/>
            <p:nvPr/>
          </p:nvSpPr>
          <p:spPr>
            <a:xfrm>
              <a:off x="4992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72"/>
          <p:cNvGrpSpPr/>
          <p:nvPr/>
        </p:nvGrpSpPr>
        <p:grpSpPr>
          <a:xfrm>
            <a:off x="2057400" y="3463925"/>
            <a:ext cx="5334000" cy="422275"/>
            <a:chOff x="1296" y="1680"/>
            <a:chExt cx="3360" cy="266"/>
          </a:xfrm>
        </p:grpSpPr>
        <p:sp>
          <p:nvSpPr>
            <p:cNvPr id="24626" name="Text Box 73"/>
            <p:cNvSpPr txBox="1"/>
            <p:nvPr/>
          </p:nvSpPr>
          <p:spPr>
            <a:xfrm>
              <a:off x="1296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27" name="Text Box 74"/>
            <p:cNvSpPr txBox="1"/>
            <p:nvPr/>
          </p:nvSpPr>
          <p:spPr>
            <a:xfrm>
              <a:off x="4320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28" name="Text Box 75"/>
            <p:cNvSpPr txBox="1"/>
            <p:nvPr/>
          </p:nvSpPr>
          <p:spPr>
            <a:xfrm>
              <a:off x="3312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29" name="Text Box 76"/>
            <p:cNvSpPr txBox="1"/>
            <p:nvPr/>
          </p:nvSpPr>
          <p:spPr>
            <a:xfrm>
              <a:off x="2304" y="1680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605" name="Text Box 77"/>
          <p:cNvSpPr txBox="1"/>
          <p:nvPr/>
        </p:nvSpPr>
        <p:spPr>
          <a:xfrm>
            <a:off x="609600" y="3463925"/>
            <a:ext cx="914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6" name="Group 78"/>
          <p:cNvGrpSpPr/>
          <p:nvPr/>
        </p:nvGrpSpPr>
        <p:grpSpPr>
          <a:xfrm>
            <a:off x="1600200" y="2930525"/>
            <a:ext cx="6781800" cy="304800"/>
            <a:chOff x="1008" y="1488"/>
            <a:chExt cx="4272" cy="192"/>
          </a:xfrm>
        </p:grpSpPr>
        <p:sp>
          <p:nvSpPr>
            <p:cNvPr id="24621" name="Rectangle 79"/>
            <p:cNvSpPr/>
            <p:nvPr/>
          </p:nvSpPr>
          <p:spPr>
            <a:xfrm>
              <a:off x="1008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22" name="Rectangle 80"/>
            <p:cNvSpPr/>
            <p:nvPr/>
          </p:nvSpPr>
          <p:spPr>
            <a:xfrm>
              <a:off x="2016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23" name="Rectangle 81"/>
            <p:cNvSpPr/>
            <p:nvPr/>
          </p:nvSpPr>
          <p:spPr>
            <a:xfrm>
              <a:off x="3024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24" name="Rectangle 82"/>
            <p:cNvSpPr/>
            <p:nvPr/>
          </p:nvSpPr>
          <p:spPr>
            <a:xfrm>
              <a:off x="4032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25" name="Rectangle 83"/>
            <p:cNvSpPr/>
            <p:nvPr/>
          </p:nvSpPr>
          <p:spPr>
            <a:xfrm>
              <a:off x="5040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7" name="Group 84"/>
          <p:cNvGrpSpPr/>
          <p:nvPr/>
        </p:nvGrpSpPr>
        <p:grpSpPr>
          <a:xfrm>
            <a:off x="2133600" y="2930525"/>
            <a:ext cx="5181600" cy="304800"/>
            <a:chOff x="1344" y="1488"/>
            <a:chExt cx="3264" cy="192"/>
          </a:xfrm>
        </p:grpSpPr>
        <p:sp>
          <p:nvSpPr>
            <p:cNvPr id="24617" name="Rectangle 85"/>
            <p:cNvSpPr/>
            <p:nvPr/>
          </p:nvSpPr>
          <p:spPr>
            <a:xfrm>
              <a:off x="1344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18" name="Rectangle 86"/>
            <p:cNvSpPr/>
            <p:nvPr/>
          </p:nvSpPr>
          <p:spPr>
            <a:xfrm>
              <a:off x="2352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19" name="Rectangle 87"/>
            <p:cNvSpPr/>
            <p:nvPr/>
          </p:nvSpPr>
          <p:spPr>
            <a:xfrm>
              <a:off x="3360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20" name="Rectangle 88"/>
            <p:cNvSpPr/>
            <p:nvPr/>
          </p:nvSpPr>
          <p:spPr>
            <a:xfrm>
              <a:off x="4368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8" name="Group 89"/>
          <p:cNvGrpSpPr/>
          <p:nvPr/>
        </p:nvGrpSpPr>
        <p:grpSpPr>
          <a:xfrm>
            <a:off x="2667000" y="2930525"/>
            <a:ext cx="5181600" cy="304800"/>
            <a:chOff x="1680" y="1488"/>
            <a:chExt cx="3264" cy="192"/>
          </a:xfrm>
        </p:grpSpPr>
        <p:sp>
          <p:nvSpPr>
            <p:cNvPr id="24613" name="Rectangle 90"/>
            <p:cNvSpPr/>
            <p:nvPr/>
          </p:nvSpPr>
          <p:spPr>
            <a:xfrm>
              <a:off x="4704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14" name="Rectangle 91"/>
            <p:cNvSpPr/>
            <p:nvPr/>
          </p:nvSpPr>
          <p:spPr>
            <a:xfrm>
              <a:off x="1680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15" name="Rectangle 92"/>
            <p:cNvSpPr/>
            <p:nvPr/>
          </p:nvSpPr>
          <p:spPr>
            <a:xfrm>
              <a:off x="2688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4616" name="Rectangle 93"/>
            <p:cNvSpPr/>
            <p:nvPr/>
          </p:nvSpPr>
          <p:spPr>
            <a:xfrm>
              <a:off x="3696" y="1488"/>
              <a:ext cx="240" cy="192"/>
            </a:xfrm>
            <a:prstGeom prst="rect">
              <a:avLst/>
            </a:pr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22622" name="Text Box 94"/>
          <p:cNvSpPr txBox="1"/>
          <p:nvPr/>
        </p:nvSpPr>
        <p:spPr>
          <a:xfrm>
            <a:off x="609600" y="4073525"/>
            <a:ext cx="914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9" name="Group 95"/>
          <p:cNvGrpSpPr/>
          <p:nvPr/>
        </p:nvGrpSpPr>
        <p:grpSpPr>
          <a:xfrm>
            <a:off x="1524000" y="4073525"/>
            <a:ext cx="6934200" cy="422275"/>
            <a:chOff x="960" y="2064"/>
            <a:chExt cx="4368" cy="266"/>
          </a:xfrm>
        </p:grpSpPr>
        <p:sp>
          <p:nvSpPr>
            <p:cNvPr id="24600" name="Text Box 96"/>
            <p:cNvSpPr txBox="1"/>
            <p:nvPr/>
          </p:nvSpPr>
          <p:spPr>
            <a:xfrm>
              <a:off x="4992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1" name="Text Box 97"/>
            <p:cNvSpPr txBox="1"/>
            <p:nvPr/>
          </p:nvSpPr>
          <p:spPr>
            <a:xfrm>
              <a:off x="2976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2" name="Text Box 98"/>
            <p:cNvSpPr txBox="1"/>
            <p:nvPr/>
          </p:nvSpPr>
          <p:spPr>
            <a:xfrm>
              <a:off x="4320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3" name="Text Box 99"/>
            <p:cNvSpPr txBox="1"/>
            <p:nvPr/>
          </p:nvSpPr>
          <p:spPr>
            <a:xfrm>
              <a:off x="960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4" name="Text Box 100"/>
            <p:cNvSpPr txBox="1"/>
            <p:nvPr/>
          </p:nvSpPr>
          <p:spPr>
            <a:xfrm>
              <a:off x="2304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5" name="Text Box 101"/>
            <p:cNvSpPr txBox="1"/>
            <p:nvPr/>
          </p:nvSpPr>
          <p:spPr>
            <a:xfrm>
              <a:off x="3312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6" name="Text Box 102"/>
            <p:cNvSpPr txBox="1"/>
            <p:nvPr/>
          </p:nvSpPr>
          <p:spPr>
            <a:xfrm>
              <a:off x="2640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7" name="Text Box 103"/>
            <p:cNvSpPr txBox="1"/>
            <p:nvPr/>
          </p:nvSpPr>
          <p:spPr>
            <a:xfrm>
              <a:off x="3648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8" name="Text Box 104"/>
            <p:cNvSpPr txBox="1"/>
            <p:nvPr/>
          </p:nvSpPr>
          <p:spPr>
            <a:xfrm>
              <a:off x="4656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09" name="Text Box 105"/>
            <p:cNvSpPr txBox="1"/>
            <p:nvPr/>
          </p:nvSpPr>
          <p:spPr>
            <a:xfrm>
              <a:off x="1296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10" name="Text Box 106"/>
            <p:cNvSpPr txBox="1"/>
            <p:nvPr/>
          </p:nvSpPr>
          <p:spPr>
            <a:xfrm>
              <a:off x="3984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11" name="Text Box 107"/>
            <p:cNvSpPr txBox="1"/>
            <p:nvPr/>
          </p:nvSpPr>
          <p:spPr>
            <a:xfrm>
              <a:off x="1968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12" name="Text Box 108"/>
            <p:cNvSpPr txBox="1"/>
            <p:nvPr/>
          </p:nvSpPr>
          <p:spPr>
            <a:xfrm>
              <a:off x="1632" y="2064"/>
              <a:ext cx="336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70" grpId="0"/>
      <p:bldP spid="22605" grpId="0"/>
      <p:bldP spid="226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Diminishing gaps</a:t>
            </a:r>
            <a:endParaRPr lang="en-US" altLang="zh-CN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762000" y="1524000"/>
            <a:ext cx="7696200" cy="4800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For a large array, we don</a:t>
            </a:r>
            <a:r>
              <a:rPr lang="en-US" altLang="zh-CN" sz="2400" dirty="0">
                <a:latin typeface="Times New Roman" panose="02020603050405020304" pitchFamily="18" charset="0"/>
              </a:rPr>
              <a:t>’</a:t>
            </a:r>
            <a:r>
              <a:rPr lang="en-US" altLang="zh-CN" sz="2400" dirty="0"/>
              <a:t>t want to do a 5-sort; we want to do an </a:t>
            </a:r>
            <a:r>
              <a:rPr lang="en-US" altLang="zh-CN" sz="2400" dirty="0">
                <a:solidFill>
                  <a:schemeClr val="tx2"/>
                </a:solidFill>
              </a:rPr>
              <a:t>N-sort</a:t>
            </a:r>
            <a:r>
              <a:rPr lang="en-US" altLang="zh-CN" sz="2400" dirty="0"/>
              <a:t>, where N depends on the size of the array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dirty="0">
                <a:solidFill>
                  <a:srgbClr val="0000FF"/>
                </a:solidFill>
              </a:rPr>
              <a:t>N</a:t>
            </a:r>
            <a:r>
              <a:rPr lang="en-US" altLang="zh-CN" sz="2000" dirty="0"/>
              <a:t> is called the </a:t>
            </a:r>
            <a:r>
              <a:rPr lang="en-US" altLang="zh-CN" sz="2000" b="1" dirty="0">
                <a:solidFill>
                  <a:srgbClr val="0000FF"/>
                </a:solidFill>
              </a:rPr>
              <a:t>gap</a:t>
            </a:r>
            <a:r>
              <a:rPr lang="en-US" altLang="zh-CN" sz="2000" dirty="0">
                <a:solidFill>
                  <a:schemeClr val="tx2"/>
                </a:solidFill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size</a:t>
            </a:r>
            <a:r>
              <a:rPr lang="en-US" altLang="zh-CN" sz="2000" dirty="0"/>
              <a:t>, or </a:t>
            </a:r>
            <a:r>
              <a:rPr lang="en-US" altLang="zh-CN" sz="2000" b="1" dirty="0">
                <a:solidFill>
                  <a:srgbClr val="0000FF"/>
                </a:solidFill>
              </a:rPr>
              <a:t>interval</a:t>
            </a:r>
            <a:r>
              <a:rPr lang="en-US" altLang="zh-CN" sz="2000" dirty="0">
                <a:solidFill>
                  <a:schemeClr val="tx2"/>
                </a:solidFill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size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We may want to do several stages, </a:t>
            </a:r>
            <a:r>
              <a:rPr lang="en-US" altLang="zh-CN" sz="2400" dirty="0">
                <a:solidFill>
                  <a:srgbClr val="FF3300"/>
                </a:solidFill>
              </a:rPr>
              <a:t>reducing</a:t>
            </a:r>
            <a:r>
              <a:rPr lang="en-US" altLang="zh-CN" sz="2400" dirty="0"/>
              <a:t> the gap size each time</a:t>
            </a:r>
            <a:endParaRPr lang="en-US" altLang="zh-CN" sz="2400" dirty="0"/>
          </a:p>
          <a:p>
            <a:pPr lvl="1" eaLnBrk="1" hangingPunct="1">
              <a:spcBef>
                <a:spcPct val="50000"/>
              </a:spcBef>
            </a:pPr>
            <a:r>
              <a:rPr lang="en-US" altLang="zh-CN" sz="2000" dirty="0"/>
              <a:t>Define an increment sequence </a:t>
            </a:r>
            <a:r>
              <a:rPr lang="en-US" altLang="zh-CN" sz="2000" dirty="0">
                <a:latin typeface="Times New Roman" panose="02020603050405020304" pitchFamily="18" charset="0"/>
              </a:rPr>
              <a:t>h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 &lt; h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 &lt; … &lt; h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t-1</a:t>
            </a:r>
            <a:r>
              <a:rPr lang="en-US" altLang="zh-CN" sz="2000" dirty="0">
                <a:latin typeface="Times New Roman" panose="02020603050405020304" pitchFamily="18" charset="0"/>
              </a:rPr>
              <a:t> &lt; h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t </a:t>
            </a:r>
            <a:r>
              <a:rPr lang="en-US" altLang="zh-CN" sz="2000" dirty="0">
                <a:latin typeface="Times New Roman" panose="02020603050405020304" pitchFamily="18" charset="0"/>
              </a:rPr>
              <a:t>(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0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= 1</a:t>
            </a:r>
            <a:r>
              <a:rPr lang="en-US" altLang="zh-CN" sz="2000" dirty="0">
                <a:latin typeface="Times New Roman" panose="02020603050405020304" pitchFamily="18" charset="0"/>
              </a:rPr>
              <a:t> 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zh-CN" sz="2000" dirty="0"/>
              <a:t>Do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000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dirty="0">
                <a:solidFill>
                  <a:srgbClr val="0000FF"/>
                </a:solidFill>
              </a:rPr>
              <a:t>-sort</a:t>
            </a:r>
            <a:r>
              <a:rPr lang="en-US" altLang="zh-CN" sz="2000" dirty="0"/>
              <a:t> then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h</a:t>
            </a:r>
            <a:r>
              <a:rPr lang="en-US" altLang="zh-CN" sz="2000" i="1" baseline="-25000" dirty="0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t-1</a:t>
            </a:r>
            <a:r>
              <a:rPr lang="en-US" altLang="zh-CN" sz="2000" dirty="0">
                <a:solidFill>
                  <a:srgbClr val="0000FF"/>
                </a:solidFill>
                <a:sym typeface="+mn-ea"/>
              </a:rPr>
              <a:t>-sort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+mn-ea"/>
              </a:rPr>
              <a:t>and so on, finally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h</a:t>
            </a:r>
            <a:r>
              <a:rPr lang="en-US" altLang="zh-CN" sz="2000" i="1" baseline="-25000" dirty="0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000" dirty="0">
                <a:solidFill>
                  <a:srgbClr val="0000FF"/>
                </a:solidFill>
                <a:sym typeface="+mn-ea"/>
              </a:rPr>
              <a:t>-sort (1-sort)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For example, on a </a:t>
            </a:r>
            <a:r>
              <a:rPr lang="en-US" altLang="zh-CN" sz="2000" dirty="0">
                <a:solidFill>
                  <a:srgbClr val="0000FF"/>
                </a:solidFill>
                <a:latin typeface="Trebuchet MS" panose="020B0603020202020204" pitchFamily="34" charset="0"/>
              </a:rPr>
              <a:t>1000</a:t>
            </a:r>
            <a:r>
              <a:rPr lang="en-US" altLang="zh-CN" sz="2000" dirty="0"/>
              <a:t>-element array, we may want to do a </a:t>
            </a:r>
            <a:r>
              <a:rPr lang="en-US" altLang="zh-CN" sz="2000" dirty="0">
                <a:solidFill>
                  <a:srgbClr val="0000FF"/>
                </a:solidFill>
                <a:latin typeface="Trebuchet MS" panose="020B0603020202020204" pitchFamily="34" charset="0"/>
              </a:rPr>
              <a:t>364-sort</a:t>
            </a:r>
            <a:r>
              <a:rPr lang="en-US" altLang="zh-CN" sz="2000" dirty="0"/>
              <a:t>, then a </a:t>
            </a:r>
            <a:r>
              <a:rPr lang="en-US" altLang="zh-CN" sz="2000" dirty="0">
                <a:solidFill>
                  <a:srgbClr val="0000FF"/>
                </a:solidFill>
                <a:latin typeface="Trebuchet MS" panose="020B0603020202020204" pitchFamily="34" charset="0"/>
              </a:rPr>
              <a:t>121-sort</a:t>
            </a:r>
            <a:r>
              <a:rPr lang="en-US" altLang="zh-CN" sz="2000" dirty="0"/>
              <a:t>, then a </a:t>
            </a:r>
            <a:r>
              <a:rPr lang="en-US" altLang="zh-CN" sz="2000" dirty="0">
                <a:solidFill>
                  <a:srgbClr val="0000FF"/>
                </a:solidFill>
                <a:latin typeface="Trebuchet MS" panose="020B0603020202020204" pitchFamily="34" charset="0"/>
              </a:rPr>
              <a:t>40-sort</a:t>
            </a:r>
            <a:r>
              <a:rPr lang="en-US" altLang="zh-CN" sz="2000" dirty="0"/>
              <a:t>, then a </a:t>
            </a:r>
            <a:r>
              <a:rPr lang="en-US" altLang="zh-CN" sz="2000" dirty="0">
                <a:solidFill>
                  <a:srgbClr val="0000FF"/>
                </a:solidFill>
                <a:latin typeface="Trebuchet MS" panose="020B0603020202020204" pitchFamily="34" charset="0"/>
              </a:rPr>
              <a:t>13-sor</a:t>
            </a:r>
            <a:r>
              <a:rPr lang="en-US" altLang="zh-CN" sz="2000" dirty="0"/>
              <a:t>t, then a </a:t>
            </a:r>
            <a:r>
              <a:rPr lang="en-US" altLang="zh-CN" sz="2000" dirty="0">
                <a:solidFill>
                  <a:srgbClr val="0000FF"/>
                </a:solidFill>
                <a:latin typeface="Trebuchet MS" panose="020B0603020202020204" pitchFamily="34" charset="0"/>
              </a:rPr>
              <a:t>4-sort</a:t>
            </a:r>
            <a:r>
              <a:rPr lang="en-US" altLang="zh-CN" sz="2000" dirty="0"/>
              <a:t>, then a </a:t>
            </a:r>
            <a:r>
              <a:rPr lang="en-US" altLang="zh-CN" sz="2000" dirty="0">
                <a:solidFill>
                  <a:srgbClr val="0000FF"/>
                </a:solidFill>
                <a:latin typeface="Trebuchet MS" panose="020B0603020202020204" pitchFamily="34" charset="0"/>
              </a:rPr>
              <a:t>1-sort</a:t>
            </a:r>
            <a:endParaRPr lang="en-US" altLang="zh-CN" sz="2000" dirty="0">
              <a:solidFill>
                <a:srgbClr val="0000FF"/>
              </a:solidFill>
              <a:latin typeface="Trebuchet MS" panose="020B060302020202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  <a:buNone/>
            </a:pPr>
            <a:endParaRPr lang="en-US" altLang="zh-CN" sz="2000" dirty="0"/>
          </a:p>
        </p:txBody>
      </p:sp>
      <p:sp>
        <p:nvSpPr>
          <p:cNvPr id="30724" name="AutoShape 4" descr="再生纸"/>
          <p:cNvSpPr/>
          <p:nvPr/>
        </p:nvSpPr>
        <p:spPr>
          <a:xfrm>
            <a:off x="838200" y="5486400"/>
            <a:ext cx="7924800" cy="8382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zh-CN" sz="2000" b="1" dirty="0">
                <a:latin typeface="Times New Roman" panose="02020603050405020304" pitchFamily="18" charset="0"/>
              </a:rPr>
              <a:t> An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-sorted file that is then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0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-sorted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remains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-sorted.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1750" name="Rectangle 6"/>
          <p:cNvSpPr/>
          <p:nvPr/>
        </p:nvSpPr>
        <p:spPr>
          <a:xfrm>
            <a:off x="457200" y="381000"/>
            <a:ext cx="4648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  <a:sym typeface="Wingdings" panose="05000000000000000000" pitchFamily="2" charset="2"/>
              </a:rPr>
              <a:t>Shell’s increment sequence:</a:t>
            </a:r>
            <a:endParaRPr lang="en-US" altLang="zh-CN" sz="2400" b="1" dirty="0">
              <a:ea typeface="MS Hei" pitchFamily="49" charset="-122"/>
            </a:endParaRPr>
          </a:p>
        </p:txBody>
      </p:sp>
      <p:sp>
        <p:nvSpPr>
          <p:cNvPr id="31751" name="Rectangle 7"/>
          <p:cNvSpPr/>
          <p:nvPr/>
        </p:nvSpPr>
        <p:spPr>
          <a:xfrm>
            <a:off x="1981200" y="914400"/>
            <a:ext cx="4267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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/ 2  ,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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/ 2 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1752" name="AutoShape 8"/>
          <p:cNvSpPr/>
          <p:nvPr/>
        </p:nvSpPr>
        <p:spPr>
          <a:xfrm>
            <a:off x="685800" y="1524000"/>
            <a:ext cx="7924800" cy="48006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800" b="1" dirty="0">
                <a:latin typeface="Arial" panose="020B0604020202020204" pitchFamily="34" charset="0"/>
              </a:rPr>
              <a:t> Shellsort( ElementType A[ ],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N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      int</a:t>
            </a:r>
            <a:r>
              <a:rPr lang="en-US" altLang="zh-CN" sz="1800" b="1" dirty="0">
                <a:latin typeface="Arial" panose="020B0604020202020204" pitchFamily="34" charset="0"/>
              </a:rPr>
              <a:t>  i, j, Increment;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ElementType  Tmp;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for </a:t>
            </a:r>
            <a:r>
              <a:rPr lang="en-US" altLang="zh-CN" sz="1800" b="1" dirty="0">
                <a:latin typeface="Arial" panose="020B0604020202020204" pitchFamily="34" charset="0"/>
              </a:rPr>
              <a:t>( Increment = N / 2; Increment &gt; 0; Increment /= 2 )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/*h sequence */</a:t>
            </a:r>
            <a:endParaRPr lang="en-US" altLang="zh-CN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for </a:t>
            </a:r>
            <a:r>
              <a:rPr lang="en-US" altLang="zh-CN" sz="1800" b="1" dirty="0">
                <a:latin typeface="Arial" panose="020B0604020202020204" pitchFamily="34" charset="0"/>
              </a:rPr>
              <a:t>( i = Increment; i &lt; N; i++ ) {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/* insertion sort */</a:t>
            </a:r>
            <a:endParaRPr lang="en-US" altLang="zh-CN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Tmp = A[ i ];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 for </a:t>
            </a:r>
            <a:r>
              <a:rPr lang="en-US" altLang="zh-CN" sz="1800" b="1" dirty="0">
                <a:latin typeface="Arial" panose="020B0604020202020204" pitchFamily="34" charset="0"/>
              </a:rPr>
              <a:t>( j = i; j &gt;= Increment; j - = Increment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( Tmp &lt; A[ j - Increment ]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      A[ j ] = A[ j - Increment ];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else </a:t>
            </a:r>
            <a:endParaRPr lang="en-US" altLang="zh-CN" sz="1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		      break</a:t>
            </a:r>
            <a:r>
              <a:rPr lang="en-US" altLang="zh-CN" sz="1800" b="1" dirty="0">
                <a:latin typeface="Arial" panose="020B0604020202020204" pitchFamily="34" charset="0"/>
              </a:rPr>
              <a:t>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A[ j ] = Tmp;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}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/* end for-I and for-Increment loops */</a:t>
            </a:r>
            <a:endParaRPr lang="en-US" altLang="zh-CN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/>
      <p:bldP spid="31751" grpId="0"/>
      <p:bldP spid="317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3795" name="Rectangle 3"/>
          <p:cNvSpPr/>
          <p:nvPr/>
        </p:nvSpPr>
        <p:spPr>
          <a:xfrm>
            <a:off x="457200" y="381000"/>
            <a:ext cx="3581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a typeface="MS Hei" pitchFamily="49" charset="-122"/>
                <a:sym typeface="Wingdings" panose="05000000000000000000" pitchFamily="2" charset="2"/>
              </a:rPr>
              <a:t>Worst-Case</a:t>
            </a:r>
            <a:r>
              <a:rPr lang="en-US" altLang="zh-CN" sz="2400" b="1" dirty="0">
                <a:ea typeface="MS Hei" pitchFamily="49" charset="-122"/>
                <a:sym typeface="Wingdings" panose="05000000000000000000" pitchFamily="2" charset="2"/>
              </a:rPr>
              <a:t> Analysis:</a:t>
            </a:r>
            <a:endParaRPr lang="en-US" altLang="zh-CN" sz="2400" b="1" dirty="0">
              <a:ea typeface="MS Hei" pitchFamily="49" charset="-122"/>
            </a:endParaRPr>
          </a:p>
        </p:txBody>
      </p:sp>
      <p:sp>
        <p:nvSpPr>
          <p:cNvPr id="33796" name="Text Box 4"/>
          <p:cNvSpPr txBox="1"/>
          <p:nvPr/>
        </p:nvSpPr>
        <p:spPr>
          <a:xfrm>
            <a:off x="457200" y="914400"/>
            <a:ext cx="8382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【</a:t>
            </a:r>
            <a:r>
              <a:rPr lang="en-US" altLang="zh-CN" sz="2400" b="1" dirty="0"/>
              <a:t>Theorem】</a:t>
            </a:r>
            <a:r>
              <a:rPr lang="en-US" altLang="zh-CN" sz="2400" b="1" dirty="0">
                <a:sym typeface="Wingdings" panose="05000000000000000000" pitchFamily="2" charset="2"/>
              </a:rPr>
              <a:t>The worst-case running time of Shellsort, using Shell’s increments, is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 ( </a:t>
            </a:r>
            <a:r>
              <a:rPr lang="en-US" altLang="zh-CN" sz="2400" b="1" i="1" dirty="0">
                <a:solidFill>
                  <a:schemeClr val="hlink"/>
                </a:solidFill>
                <a:sym typeface="Symbol" panose="05050102010706020507" pitchFamily="18" charset="2"/>
              </a:rPr>
              <a:t>N </a:t>
            </a:r>
            <a:r>
              <a:rPr lang="en-US" altLang="zh-CN" sz="2400" b="1" baseline="30000" dirty="0">
                <a:solidFill>
                  <a:schemeClr val="hlink"/>
                </a:solidFill>
                <a:sym typeface="Symbol" panose="05050102010706020507" pitchFamily="18" charset="2"/>
              </a:rPr>
              <a:t>2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.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33400" y="1905000"/>
            <a:ext cx="8153400" cy="955675"/>
            <a:chOff x="336" y="1200"/>
            <a:chExt cx="5136" cy="602"/>
          </a:xfrm>
        </p:grpSpPr>
        <p:sp>
          <p:nvSpPr>
            <p:cNvPr id="27726" name="Text Box 6"/>
            <p:cNvSpPr txBox="1"/>
            <p:nvPr/>
          </p:nvSpPr>
          <p:spPr>
            <a:xfrm>
              <a:off x="336" y="1200"/>
              <a:ext cx="23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MS Hei" pitchFamily="49" charset="-122"/>
                </a:rPr>
                <a:t>〖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Example</a:t>
              </a:r>
              <a:r>
                <a:rPr lang="en-US" altLang="zh-CN" sz="2400" b="1" dirty="0">
                  <a:latin typeface="Times New Roman" panose="02020603050405020304" pitchFamily="18" charset="0"/>
                  <a:ea typeface="MS Hei" pitchFamily="49" charset="-122"/>
                </a:rPr>
                <a:t>〗A bad case: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7727" name="Group 7"/>
            <p:cNvGrpSpPr/>
            <p:nvPr/>
          </p:nvGrpSpPr>
          <p:grpSpPr>
            <a:xfrm>
              <a:off x="864" y="1536"/>
              <a:ext cx="4608" cy="266"/>
              <a:chOff x="816" y="1536"/>
              <a:chExt cx="4608" cy="266"/>
            </a:xfrm>
          </p:grpSpPr>
          <p:sp>
            <p:nvSpPr>
              <p:cNvPr id="27728" name="Text Box 8"/>
              <p:cNvSpPr txBox="1"/>
              <p:nvPr/>
            </p:nvSpPr>
            <p:spPr>
              <a:xfrm>
                <a:off x="816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29" name="Text Box 9"/>
              <p:cNvSpPr txBox="1"/>
              <p:nvPr/>
            </p:nvSpPr>
            <p:spPr>
              <a:xfrm>
                <a:off x="1104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0" name="Text Box 10"/>
              <p:cNvSpPr txBox="1"/>
              <p:nvPr/>
            </p:nvSpPr>
            <p:spPr>
              <a:xfrm>
                <a:off x="1392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1" name="Text Box 11"/>
              <p:cNvSpPr txBox="1"/>
              <p:nvPr/>
            </p:nvSpPr>
            <p:spPr>
              <a:xfrm>
                <a:off x="1680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2" name="Text Box 12"/>
              <p:cNvSpPr txBox="1"/>
              <p:nvPr/>
            </p:nvSpPr>
            <p:spPr>
              <a:xfrm>
                <a:off x="1968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3" name="Text Box 13"/>
              <p:cNvSpPr txBox="1"/>
              <p:nvPr/>
            </p:nvSpPr>
            <p:spPr>
              <a:xfrm>
                <a:off x="2256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4" name="Text Box 14"/>
              <p:cNvSpPr txBox="1"/>
              <p:nvPr/>
            </p:nvSpPr>
            <p:spPr>
              <a:xfrm>
                <a:off x="2544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5" name="Text Box 15"/>
              <p:cNvSpPr txBox="1"/>
              <p:nvPr/>
            </p:nvSpPr>
            <p:spPr>
              <a:xfrm>
                <a:off x="2832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6" name="Text Box 16"/>
              <p:cNvSpPr txBox="1"/>
              <p:nvPr/>
            </p:nvSpPr>
            <p:spPr>
              <a:xfrm>
                <a:off x="3120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7" name="Text Box 17"/>
              <p:cNvSpPr txBox="1"/>
              <p:nvPr/>
            </p:nvSpPr>
            <p:spPr>
              <a:xfrm>
                <a:off x="3408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8" name="Text Box 18"/>
              <p:cNvSpPr txBox="1"/>
              <p:nvPr/>
            </p:nvSpPr>
            <p:spPr>
              <a:xfrm>
                <a:off x="3696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39" name="Text Box 19"/>
              <p:cNvSpPr txBox="1"/>
              <p:nvPr/>
            </p:nvSpPr>
            <p:spPr>
              <a:xfrm>
                <a:off x="3984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14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40" name="Text Box 20"/>
              <p:cNvSpPr txBox="1"/>
              <p:nvPr/>
            </p:nvSpPr>
            <p:spPr>
              <a:xfrm>
                <a:off x="4272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41" name="Text Box 21"/>
              <p:cNvSpPr txBox="1"/>
              <p:nvPr/>
            </p:nvSpPr>
            <p:spPr>
              <a:xfrm>
                <a:off x="4560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42" name="Text Box 22"/>
              <p:cNvSpPr txBox="1"/>
              <p:nvPr/>
            </p:nvSpPr>
            <p:spPr>
              <a:xfrm>
                <a:off x="4848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43" name="Text Box 23"/>
              <p:cNvSpPr txBox="1"/>
              <p:nvPr/>
            </p:nvSpPr>
            <p:spPr>
              <a:xfrm>
                <a:off x="5136" y="1536"/>
                <a:ext cx="288" cy="26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24"/>
          <p:cNvGrpSpPr/>
          <p:nvPr/>
        </p:nvGrpSpPr>
        <p:grpSpPr>
          <a:xfrm>
            <a:off x="1371600" y="2895600"/>
            <a:ext cx="7315200" cy="422275"/>
            <a:chOff x="816" y="1536"/>
            <a:chExt cx="4608" cy="266"/>
          </a:xfrm>
        </p:grpSpPr>
        <p:sp>
          <p:nvSpPr>
            <p:cNvPr id="27710" name="Text Box 25"/>
            <p:cNvSpPr txBox="1"/>
            <p:nvPr/>
          </p:nvSpPr>
          <p:spPr>
            <a:xfrm>
              <a:off x="81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1" name="Text Box 26"/>
            <p:cNvSpPr txBox="1"/>
            <p:nvPr/>
          </p:nvSpPr>
          <p:spPr>
            <a:xfrm>
              <a:off x="110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2" name="Text Box 27"/>
            <p:cNvSpPr txBox="1"/>
            <p:nvPr/>
          </p:nvSpPr>
          <p:spPr>
            <a:xfrm>
              <a:off x="139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3" name="Text Box 28"/>
            <p:cNvSpPr txBox="1"/>
            <p:nvPr/>
          </p:nvSpPr>
          <p:spPr>
            <a:xfrm>
              <a:off x="168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4" name="Text Box 29"/>
            <p:cNvSpPr txBox="1"/>
            <p:nvPr/>
          </p:nvSpPr>
          <p:spPr>
            <a:xfrm>
              <a:off x="196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5" name="Text Box 30"/>
            <p:cNvSpPr txBox="1"/>
            <p:nvPr/>
          </p:nvSpPr>
          <p:spPr>
            <a:xfrm>
              <a:off x="225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6" name="Text Box 31"/>
            <p:cNvSpPr txBox="1"/>
            <p:nvPr/>
          </p:nvSpPr>
          <p:spPr>
            <a:xfrm>
              <a:off x="254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7" name="Text Box 32"/>
            <p:cNvSpPr txBox="1"/>
            <p:nvPr/>
          </p:nvSpPr>
          <p:spPr>
            <a:xfrm>
              <a:off x="283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8" name="Text Box 33"/>
            <p:cNvSpPr txBox="1"/>
            <p:nvPr/>
          </p:nvSpPr>
          <p:spPr>
            <a:xfrm>
              <a:off x="312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19" name="Text Box 34"/>
            <p:cNvSpPr txBox="1"/>
            <p:nvPr/>
          </p:nvSpPr>
          <p:spPr>
            <a:xfrm>
              <a:off x="340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20" name="Text Box 35"/>
            <p:cNvSpPr txBox="1"/>
            <p:nvPr/>
          </p:nvSpPr>
          <p:spPr>
            <a:xfrm>
              <a:off x="369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21" name="Text Box 36"/>
            <p:cNvSpPr txBox="1"/>
            <p:nvPr/>
          </p:nvSpPr>
          <p:spPr>
            <a:xfrm>
              <a:off x="398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22" name="Text Box 37"/>
            <p:cNvSpPr txBox="1"/>
            <p:nvPr/>
          </p:nvSpPr>
          <p:spPr>
            <a:xfrm>
              <a:off x="427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23" name="Text Box 38"/>
            <p:cNvSpPr txBox="1"/>
            <p:nvPr/>
          </p:nvSpPr>
          <p:spPr>
            <a:xfrm>
              <a:off x="456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24" name="Text Box 39"/>
            <p:cNvSpPr txBox="1"/>
            <p:nvPr/>
          </p:nvSpPr>
          <p:spPr>
            <a:xfrm>
              <a:off x="484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25" name="Text Box 40"/>
            <p:cNvSpPr txBox="1"/>
            <p:nvPr/>
          </p:nvSpPr>
          <p:spPr>
            <a:xfrm>
              <a:off x="513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833" name="Text Box 41"/>
          <p:cNvSpPr txBox="1"/>
          <p:nvPr/>
        </p:nvSpPr>
        <p:spPr>
          <a:xfrm>
            <a:off x="533400" y="2895600"/>
            <a:ext cx="914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42"/>
          <p:cNvGrpSpPr/>
          <p:nvPr/>
        </p:nvGrpSpPr>
        <p:grpSpPr>
          <a:xfrm>
            <a:off x="1371600" y="3352800"/>
            <a:ext cx="7315200" cy="422275"/>
            <a:chOff x="816" y="1536"/>
            <a:chExt cx="4608" cy="266"/>
          </a:xfrm>
        </p:grpSpPr>
        <p:sp>
          <p:nvSpPr>
            <p:cNvPr id="27694" name="Text Box 43"/>
            <p:cNvSpPr txBox="1"/>
            <p:nvPr/>
          </p:nvSpPr>
          <p:spPr>
            <a:xfrm>
              <a:off x="81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5" name="Text Box 44"/>
            <p:cNvSpPr txBox="1"/>
            <p:nvPr/>
          </p:nvSpPr>
          <p:spPr>
            <a:xfrm>
              <a:off x="110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6" name="Text Box 45"/>
            <p:cNvSpPr txBox="1"/>
            <p:nvPr/>
          </p:nvSpPr>
          <p:spPr>
            <a:xfrm>
              <a:off x="139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7" name="Text Box 46"/>
            <p:cNvSpPr txBox="1"/>
            <p:nvPr/>
          </p:nvSpPr>
          <p:spPr>
            <a:xfrm>
              <a:off x="168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8" name="Text Box 47"/>
            <p:cNvSpPr txBox="1"/>
            <p:nvPr/>
          </p:nvSpPr>
          <p:spPr>
            <a:xfrm>
              <a:off x="196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9" name="Text Box 48"/>
            <p:cNvSpPr txBox="1"/>
            <p:nvPr/>
          </p:nvSpPr>
          <p:spPr>
            <a:xfrm>
              <a:off x="225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0" name="Text Box 49"/>
            <p:cNvSpPr txBox="1"/>
            <p:nvPr/>
          </p:nvSpPr>
          <p:spPr>
            <a:xfrm>
              <a:off x="254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1" name="Text Box 50"/>
            <p:cNvSpPr txBox="1"/>
            <p:nvPr/>
          </p:nvSpPr>
          <p:spPr>
            <a:xfrm>
              <a:off x="283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2" name="Text Box 51"/>
            <p:cNvSpPr txBox="1"/>
            <p:nvPr/>
          </p:nvSpPr>
          <p:spPr>
            <a:xfrm>
              <a:off x="312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3" name="Text Box 52"/>
            <p:cNvSpPr txBox="1"/>
            <p:nvPr/>
          </p:nvSpPr>
          <p:spPr>
            <a:xfrm>
              <a:off x="340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4" name="Text Box 53"/>
            <p:cNvSpPr txBox="1"/>
            <p:nvPr/>
          </p:nvSpPr>
          <p:spPr>
            <a:xfrm>
              <a:off x="369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5" name="Text Box 54"/>
            <p:cNvSpPr txBox="1"/>
            <p:nvPr/>
          </p:nvSpPr>
          <p:spPr>
            <a:xfrm>
              <a:off x="398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6" name="Text Box 55"/>
            <p:cNvSpPr txBox="1"/>
            <p:nvPr/>
          </p:nvSpPr>
          <p:spPr>
            <a:xfrm>
              <a:off x="427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7" name="Text Box 56"/>
            <p:cNvSpPr txBox="1"/>
            <p:nvPr/>
          </p:nvSpPr>
          <p:spPr>
            <a:xfrm>
              <a:off x="456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8" name="Text Box 57"/>
            <p:cNvSpPr txBox="1"/>
            <p:nvPr/>
          </p:nvSpPr>
          <p:spPr>
            <a:xfrm>
              <a:off x="484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09" name="Text Box 58"/>
            <p:cNvSpPr txBox="1"/>
            <p:nvPr/>
          </p:nvSpPr>
          <p:spPr>
            <a:xfrm>
              <a:off x="513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851" name="Text Box 59"/>
          <p:cNvSpPr txBox="1"/>
          <p:nvPr/>
        </p:nvSpPr>
        <p:spPr>
          <a:xfrm>
            <a:off x="533400" y="3352800"/>
            <a:ext cx="914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6" name="Group 60"/>
          <p:cNvGrpSpPr/>
          <p:nvPr/>
        </p:nvGrpSpPr>
        <p:grpSpPr>
          <a:xfrm>
            <a:off x="1371600" y="3810000"/>
            <a:ext cx="7315200" cy="422275"/>
            <a:chOff x="816" y="1536"/>
            <a:chExt cx="4608" cy="266"/>
          </a:xfrm>
        </p:grpSpPr>
        <p:sp>
          <p:nvSpPr>
            <p:cNvPr id="27678" name="Text Box 61"/>
            <p:cNvSpPr txBox="1"/>
            <p:nvPr/>
          </p:nvSpPr>
          <p:spPr>
            <a:xfrm>
              <a:off x="81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9" name="Text Box 62"/>
            <p:cNvSpPr txBox="1"/>
            <p:nvPr/>
          </p:nvSpPr>
          <p:spPr>
            <a:xfrm>
              <a:off x="110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0" name="Text Box 63"/>
            <p:cNvSpPr txBox="1"/>
            <p:nvPr/>
          </p:nvSpPr>
          <p:spPr>
            <a:xfrm>
              <a:off x="139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1" name="Text Box 64"/>
            <p:cNvSpPr txBox="1"/>
            <p:nvPr/>
          </p:nvSpPr>
          <p:spPr>
            <a:xfrm>
              <a:off x="168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2" name="Text Box 65"/>
            <p:cNvSpPr txBox="1"/>
            <p:nvPr/>
          </p:nvSpPr>
          <p:spPr>
            <a:xfrm>
              <a:off x="196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3" name="Text Box 66"/>
            <p:cNvSpPr txBox="1"/>
            <p:nvPr/>
          </p:nvSpPr>
          <p:spPr>
            <a:xfrm>
              <a:off x="225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4" name="Text Box 67"/>
            <p:cNvSpPr txBox="1"/>
            <p:nvPr/>
          </p:nvSpPr>
          <p:spPr>
            <a:xfrm>
              <a:off x="254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5" name="Text Box 68"/>
            <p:cNvSpPr txBox="1"/>
            <p:nvPr/>
          </p:nvSpPr>
          <p:spPr>
            <a:xfrm>
              <a:off x="283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6" name="Text Box 69"/>
            <p:cNvSpPr txBox="1"/>
            <p:nvPr/>
          </p:nvSpPr>
          <p:spPr>
            <a:xfrm>
              <a:off x="312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7" name="Text Box 70"/>
            <p:cNvSpPr txBox="1"/>
            <p:nvPr/>
          </p:nvSpPr>
          <p:spPr>
            <a:xfrm>
              <a:off x="340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8" name="Text Box 71"/>
            <p:cNvSpPr txBox="1"/>
            <p:nvPr/>
          </p:nvSpPr>
          <p:spPr>
            <a:xfrm>
              <a:off x="369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89" name="Text Box 72"/>
            <p:cNvSpPr txBox="1"/>
            <p:nvPr/>
          </p:nvSpPr>
          <p:spPr>
            <a:xfrm>
              <a:off x="398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0" name="Text Box 73"/>
            <p:cNvSpPr txBox="1"/>
            <p:nvPr/>
          </p:nvSpPr>
          <p:spPr>
            <a:xfrm>
              <a:off x="427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1" name="Text Box 74"/>
            <p:cNvSpPr txBox="1"/>
            <p:nvPr/>
          </p:nvSpPr>
          <p:spPr>
            <a:xfrm>
              <a:off x="456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2" name="Text Box 75"/>
            <p:cNvSpPr txBox="1"/>
            <p:nvPr/>
          </p:nvSpPr>
          <p:spPr>
            <a:xfrm>
              <a:off x="484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93" name="Text Box 76"/>
            <p:cNvSpPr txBox="1"/>
            <p:nvPr/>
          </p:nvSpPr>
          <p:spPr>
            <a:xfrm>
              <a:off x="513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869" name="Text Box 77"/>
          <p:cNvSpPr txBox="1"/>
          <p:nvPr/>
        </p:nvSpPr>
        <p:spPr>
          <a:xfrm>
            <a:off x="533400" y="3810000"/>
            <a:ext cx="914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7" name="Group 78"/>
          <p:cNvGrpSpPr/>
          <p:nvPr/>
        </p:nvGrpSpPr>
        <p:grpSpPr>
          <a:xfrm>
            <a:off x="1371600" y="4267200"/>
            <a:ext cx="7315200" cy="422275"/>
            <a:chOff x="816" y="1536"/>
            <a:chExt cx="4608" cy="266"/>
          </a:xfrm>
        </p:grpSpPr>
        <p:sp>
          <p:nvSpPr>
            <p:cNvPr id="27662" name="Text Box 79"/>
            <p:cNvSpPr txBox="1"/>
            <p:nvPr/>
          </p:nvSpPr>
          <p:spPr>
            <a:xfrm>
              <a:off x="81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3" name="Text Box 80"/>
            <p:cNvSpPr txBox="1"/>
            <p:nvPr/>
          </p:nvSpPr>
          <p:spPr>
            <a:xfrm>
              <a:off x="110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4" name="Text Box 81"/>
            <p:cNvSpPr txBox="1"/>
            <p:nvPr/>
          </p:nvSpPr>
          <p:spPr>
            <a:xfrm>
              <a:off x="139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5" name="Text Box 82"/>
            <p:cNvSpPr txBox="1"/>
            <p:nvPr/>
          </p:nvSpPr>
          <p:spPr>
            <a:xfrm>
              <a:off x="168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6" name="Text Box 83"/>
            <p:cNvSpPr txBox="1"/>
            <p:nvPr/>
          </p:nvSpPr>
          <p:spPr>
            <a:xfrm>
              <a:off x="196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7" name="Text Box 84"/>
            <p:cNvSpPr txBox="1"/>
            <p:nvPr/>
          </p:nvSpPr>
          <p:spPr>
            <a:xfrm>
              <a:off x="225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8" name="Text Box 85"/>
            <p:cNvSpPr txBox="1"/>
            <p:nvPr/>
          </p:nvSpPr>
          <p:spPr>
            <a:xfrm>
              <a:off x="254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69" name="Text Box 86"/>
            <p:cNvSpPr txBox="1"/>
            <p:nvPr/>
          </p:nvSpPr>
          <p:spPr>
            <a:xfrm>
              <a:off x="283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0" name="Text Box 87"/>
            <p:cNvSpPr txBox="1"/>
            <p:nvPr/>
          </p:nvSpPr>
          <p:spPr>
            <a:xfrm>
              <a:off x="312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1" name="Text Box 88"/>
            <p:cNvSpPr txBox="1"/>
            <p:nvPr/>
          </p:nvSpPr>
          <p:spPr>
            <a:xfrm>
              <a:off x="340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2" name="Text Box 89"/>
            <p:cNvSpPr txBox="1"/>
            <p:nvPr/>
          </p:nvSpPr>
          <p:spPr>
            <a:xfrm>
              <a:off x="369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3" name="Text Box 90"/>
            <p:cNvSpPr txBox="1"/>
            <p:nvPr/>
          </p:nvSpPr>
          <p:spPr>
            <a:xfrm>
              <a:off x="3984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4" name="Text Box 91"/>
            <p:cNvSpPr txBox="1"/>
            <p:nvPr/>
          </p:nvSpPr>
          <p:spPr>
            <a:xfrm>
              <a:off x="4272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5" name="Text Box 92"/>
            <p:cNvSpPr txBox="1"/>
            <p:nvPr/>
          </p:nvSpPr>
          <p:spPr>
            <a:xfrm>
              <a:off x="4560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6" name="Text Box 93"/>
            <p:cNvSpPr txBox="1"/>
            <p:nvPr/>
          </p:nvSpPr>
          <p:spPr>
            <a:xfrm>
              <a:off x="4848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77" name="Text Box 94"/>
            <p:cNvSpPr txBox="1"/>
            <p:nvPr/>
          </p:nvSpPr>
          <p:spPr>
            <a:xfrm>
              <a:off x="5136" y="1536"/>
              <a:ext cx="288" cy="26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887" name="Text Box 95"/>
          <p:cNvSpPr txBox="1"/>
          <p:nvPr/>
        </p:nvSpPr>
        <p:spPr>
          <a:xfrm>
            <a:off x="533400" y="4267200"/>
            <a:ext cx="914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-sort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" name="Text Box 133"/>
          <p:cNvSpPr txBox="1"/>
          <p:nvPr/>
        </p:nvSpPr>
        <p:spPr>
          <a:xfrm>
            <a:off x="1562100" y="5329238"/>
            <a:ext cx="64770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Pairs of increments are not necessarily relatively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prime</a:t>
            </a:r>
            <a:r>
              <a:rPr lang="en-US" altLang="zh-CN" sz="2000" b="1" dirty="0">
                <a:latin typeface="Times New Roman" panose="02020603050405020304" pitchFamily="18" charset="0"/>
              </a:rPr>
              <a:t>.  Thus the smaller increment can have little effect.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  <p:bldP spid="33833" grpId="0"/>
      <p:bldP spid="33851" grpId="0"/>
      <p:bldP spid="33869" grpId="0"/>
      <p:bldP spid="33887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4819" name="Rectangle 3"/>
          <p:cNvSpPr/>
          <p:nvPr/>
        </p:nvSpPr>
        <p:spPr>
          <a:xfrm>
            <a:off x="457200" y="381000"/>
            <a:ext cx="5105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ea typeface="MS Hei" pitchFamily="49" charset="-122"/>
                <a:sym typeface="Wingdings" panose="05000000000000000000" pitchFamily="2" charset="2"/>
              </a:rPr>
              <a:t>Hibbard’s Increment Sequence:</a:t>
            </a:r>
            <a:endParaRPr lang="en-US" altLang="zh-CN" sz="2400" b="1" dirty="0">
              <a:ea typeface="MS Hei" pitchFamily="49" charset="-122"/>
            </a:endParaRPr>
          </a:p>
        </p:txBody>
      </p:sp>
      <p:sp>
        <p:nvSpPr>
          <p:cNvPr id="34820" name="Rectangle 4"/>
          <p:cNvSpPr/>
          <p:nvPr/>
        </p:nvSpPr>
        <p:spPr>
          <a:xfrm>
            <a:off x="838200" y="914400"/>
            <a:ext cx="8077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i="1" baseline="30000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 1 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---- </a:t>
            </a:r>
            <a:r>
              <a:rPr lang="en-US" altLang="zh-CN" sz="2000" b="1" dirty="0">
                <a:solidFill>
                  <a:schemeClr val="hlink"/>
                </a:solidFill>
                <a:sym typeface="Symbol" panose="05050102010706020507" pitchFamily="18" charset="2"/>
              </a:rPr>
              <a:t>consecutive increments have no common factors.</a:t>
            </a:r>
            <a:endParaRPr lang="en-US" altLang="zh-CN" sz="2000" b="1" dirty="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  <p:sp>
        <p:nvSpPr>
          <p:cNvPr id="34821" name="Text Box 5"/>
          <p:cNvSpPr txBox="1"/>
          <p:nvPr/>
        </p:nvSpPr>
        <p:spPr>
          <a:xfrm>
            <a:off x="457200" y="1447800"/>
            <a:ext cx="8686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【Theorem】</a:t>
            </a:r>
            <a:r>
              <a:rPr lang="en-US" altLang="zh-CN" sz="2400" b="1" dirty="0">
                <a:sym typeface="Wingdings" panose="05000000000000000000" pitchFamily="2" charset="2"/>
              </a:rPr>
              <a:t>The worst-case running time of Shellsort, using </a:t>
            </a:r>
            <a:r>
              <a:rPr lang="en-US" altLang="zh-CN" sz="2400" b="1" dirty="0">
                <a:ea typeface="MS Hei" pitchFamily="49" charset="-122"/>
                <a:sym typeface="Wingdings" panose="05000000000000000000" pitchFamily="2" charset="2"/>
              </a:rPr>
              <a:t>Hibbard’s </a:t>
            </a:r>
            <a:r>
              <a:rPr lang="en-US" altLang="zh-CN" sz="2400" b="1" dirty="0">
                <a:sym typeface="Wingdings" panose="05000000000000000000" pitchFamily="2" charset="2"/>
              </a:rPr>
              <a:t>increments, is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 ( </a:t>
            </a:r>
            <a:r>
              <a:rPr lang="en-US" altLang="zh-CN" sz="2400" b="1" i="1" dirty="0">
                <a:solidFill>
                  <a:schemeClr val="hlink"/>
                </a:solidFill>
                <a:sym typeface="Symbol" panose="05050102010706020507" pitchFamily="18" charset="2"/>
              </a:rPr>
              <a:t>N </a:t>
            </a:r>
            <a:r>
              <a:rPr lang="en-US" altLang="zh-CN" sz="2400" b="1" baseline="30000" dirty="0">
                <a:solidFill>
                  <a:schemeClr val="hlink"/>
                </a:solidFill>
                <a:sym typeface="Symbol" panose="05050102010706020507" pitchFamily="18" charset="2"/>
              </a:rPr>
              <a:t>3/2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.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685800" y="2819400"/>
            <a:ext cx="3581400" cy="747713"/>
            <a:chOff x="384" y="1584"/>
            <a:chExt cx="2256" cy="471"/>
          </a:xfrm>
        </p:grpSpPr>
        <p:pic>
          <p:nvPicPr>
            <p:cNvPr id="28681" name="Picture 7" descr="MATH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4" y="1584"/>
              <a:ext cx="698" cy="47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2" name="Text Box 8"/>
            <p:cNvSpPr txBox="1"/>
            <p:nvPr/>
          </p:nvSpPr>
          <p:spPr>
            <a:xfrm>
              <a:off x="1152" y="1632"/>
              <a:ext cx="148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Impact" panose="020B0806030902050204" pitchFamily="34" charset="0"/>
                </a:rPr>
                <a:t>Conjectures:</a:t>
              </a:r>
              <a:endParaRPr lang="en-US" altLang="zh-CN" sz="2800" b="1" dirty="0">
                <a:latin typeface="Impact" panose="020B0806030902050204" pitchFamily="34" charset="0"/>
              </a:endParaRPr>
            </a:p>
          </p:txBody>
        </p:sp>
      </p:grpSp>
      <p:sp>
        <p:nvSpPr>
          <p:cNvPr id="34825" name="Text Box 9"/>
          <p:cNvSpPr txBox="1"/>
          <p:nvPr/>
        </p:nvSpPr>
        <p:spPr>
          <a:xfrm>
            <a:off x="762000" y="3810000"/>
            <a:ext cx="4495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avg – Hibbard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 = O 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Wingdings" panose="05000000000000000000" pitchFamily="2" charset="2"/>
              </a:rPr>
              <a:t>5/4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4826" name="Text Box 10"/>
          <p:cNvSpPr txBox="1"/>
          <p:nvPr/>
        </p:nvSpPr>
        <p:spPr>
          <a:xfrm>
            <a:off x="685800" y="4572000"/>
            <a:ext cx="8001000" cy="11874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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Sedgewick’s best sequence is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{1, 5, 19, 41, 109, … }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in which the terms are either of the form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9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</a:t>
            </a:r>
            <a:r>
              <a:rPr lang="en-US" altLang="zh-CN" sz="2400" b="1" i="1" baseline="30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– 9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400" b="1" i="1" baseline="30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+ 1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or </a:t>
            </a:r>
            <a:endParaRPr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</a:t>
            </a:r>
            <a:r>
              <a:rPr lang="en-US" altLang="zh-CN" sz="2400" b="1" i="1" baseline="30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– 3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400" b="1" i="1" baseline="30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+ 1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 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avg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 = O 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Wingdings" panose="05000000000000000000" pitchFamily="2" charset="2"/>
              </a:rPr>
              <a:t>7/6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 and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worst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 = O 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Wingdings" panose="05000000000000000000" pitchFamily="2" charset="2"/>
              </a:rPr>
              <a:t>4/3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).</a:t>
            </a:r>
            <a:endParaRPr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4827" name="AutoShape 11" descr="再生纸"/>
          <p:cNvSpPr/>
          <p:nvPr/>
        </p:nvSpPr>
        <p:spPr>
          <a:xfrm>
            <a:off x="5105400" y="2362200"/>
            <a:ext cx="3352800" cy="2133600"/>
          </a:xfrm>
          <a:prstGeom prst="roundRect">
            <a:avLst>
              <a:gd name="adj" fmla="val 7986"/>
            </a:avLst>
          </a:prstGeom>
          <a:blipFill rotWithShape="0">
            <a:blip r:embed="rId2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Shellsort is a very simple algorithm, yet with an extremely complex analysis.  It is good for sorting up to moderately large input (tens of thousands).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/>
      <p:bldP spid="34820" grpId="0"/>
      <p:bldP spid="34821" grpId="0"/>
      <p:bldP spid="34825" grpId="0"/>
      <p:bldP spid="34826" grpId="0"/>
      <p:bldP spid="348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Selection Sort</a:t>
            </a:r>
            <a:endParaRPr lang="en-US" altLang="zh-CN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How does it work: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first find the </a:t>
            </a:r>
            <a:r>
              <a:rPr lang="en-US" altLang="zh-CN" sz="2400" dirty="0">
                <a:solidFill>
                  <a:schemeClr val="hlink"/>
                </a:solidFill>
              </a:rPr>
              <a:t>smallest </a:t>
            </a:r>
            <a:r>
              <a:rPr lang="en-US" altLang="zh-CN" sz="2400" dirty="0"/>
              <a:t>in the array and exchange it with the element </a:t>
            </a:r>
            <a:r>
              <a:rPr lang="en-US" altLang="zh-CN" sz="2400" dirty="0">
                <a:solidFill>
                  <a:schemeClr val="hlink"/>
                </a:solidFill>
              </a:rPr>
              <a:t>in the first position</a:t>
            </a:r>
            <a:r>
              <a:rPr lang="en-US" altLang="zh-CN" sz="2400" dirty="0"/>
              <a:t>, then find the second smallest element and exchange it with the element in the second position, and continue in this way until the entire array is sorted.</a:t>
            </a:r>
            <a:r>
              <a:rPr lang="en-US" altLang="zh-CN" sz="2000" dirty="0"/>
              <a:t> </a:t>
            </a:r>
            <a:endParaRPr lang="en-US" altLang="zh-CN" sz="2000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Selection sort is: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 simplest sorting techniques.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a good algorithm to sort a </a:t>
            </a:r>
            <a:r>
              <a:rPr lang="en-US" altLang="zh-CN" sz="2400" dirty="0">
                <a:solidFill>
                  <a:srgbClr val="FF3300"/>
                </a:solidFill>
              </a:rPr>
              <a:t>small number</a:t>
            </a:r>
            <a:r>
              <a:rPr lang="en-US" altLang="zh-CN" sz="2400" dirty="0"/>
              <a:t> of elements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Selection sort is Inefficient for large lists.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1800" i="1" dirty="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6866" name="Rectangle 2"/>
          <p:cNvSpPr/>
          <p:nvPr/>
        </p:nvSpPr>
        <p:spPr>
          <a:xfrm>
            <a:off x="1625600" y="2743200"/>
            <a:ext cx="9652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12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  <p:sp>
        <p:nvSpPr>
          <p:cNvPr id="36867" name="Rectangle 3"/>
          <p:cNvSpPr/>
          <p:nvPr/>
        </p:nvSpPr>
        <p:spPr>
          <a:xfrm>
            <a:off x="4660900" y="2754313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8</a:t>
            </a:r>
            <a:endParaRPr lang="en-US" altLang="zh-CN" sz="2800" dirty="0">
              <a:solidFill>
                <a:srgbClr val="CC0000"/>
              </a:solidFill>
            </a:endParaRPr>
          </a:p>
        </p:txBody>
      </p:sp>
      <p:sp>
        <p:nvSpPr>
          <p:cNvPr id="36868" name="Rectangle 4"/>
          <p:cNvSpPr/>
          <p:nvPr/>
        </p:nvSpPr>
        <p:spPr>
          <a:xfrm>
            <a:off x="4664075" y="2751138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8</a:t>
            </a:r>
            <a:endParaRPr lang="en-US" altLang="zh-CN" sz="2800" dirty="0"/>
          </a:p>
        </p:txBody>
      </p:sp>
      <p:sp>
        <p:nvSpPr>
          <p:cNvPr id="36869" name="Rectangle 5"/>
          <p:cNvSpPr/>
          <p:nvPr/>
        </p:nvSpPr>
        <p:spPr>
          <a:xfrm>
            <a:off x="4660900" y="2754313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12</a:t>
            </a:r>
            <a:endParaRPr lang="en-US" altLang="zh-CN" sz="2800" dirty="0"/>
          </a:p>
        </p:txBody>
      </p:sp>
      <p:sp>
        <p:nvSpPr>
          <p:cNvPr id="36870" name="Rectangle 6"/>
          <p:cNvSpPr/>
          <p:nvPr/>
        </p:nvSpPr>
        <p:spPr>
          <a:xfrm>
            <a:off x="1622425" y="2743200"/>
            <a:ext cx="9652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12</a:t>
            </a:r>
            <a:endParaRPr lang="en-US" altLang="zh-CN" sz="2800" dirty="0"/>
          </a:p>
        </p:txBody>
      </p:sp>
      <p:sp>
        <p:nvSpPr>
          <p:cNvPr id="36871" name="Rectangle 7"/>
          <p:cNvSpPr/>
          <p:nvPr/>
        </p:nvSpPr>
        <p:spPr>
          <a:xfrm>
            <a:off x="1619250" y="2741613"/>
            <a:ext cx="9652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8</a:t>
            </a:r>
            <a:endParaRPr lang="en-US" altLang="zh-CN" sz="2800" dirty="0"/>
          </a:p>
        </p:txBody>
      </p:sp>
      <p:sp>
        <p:nvSpPr>
          <p:cNvPr id="36872" name="Rectangle 8"/>
          <p:cNvSpPr/>
          <p:nvPr/>
        </p:nvSpPr>
        <p:spPr>
          <a:xfrm>
            <a:off x="1617663" y="1625600"/>
            <a:ext cx="9652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6</a:t>
            </a:r>
            <a:endParaRPr lang="en-US" altLang="zh-CN" sz="2800" dirty="0">
              <a:solidFill>
                <a:srgbClr val="CC0000"/>
              </a:solidFill>
            </a:endParaRPr>
          </a:p>
        </p:txBody>
      </p:sp>
      <p:sp>
        <p:nvSpPr>
          <p:cNvPr id="36873" name="Rectangle 9"/>
          <p:cNvSpPr/>
          <p:nvPr/>
        </p:nvSpPr>
        <p:spPr>
          <a:xfrm>
            <a:off x="1614488" y="1625600"/>
            <a:ext cx="9652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12</a:t>
            </a:r>
            <a:endParaRPr lang="en-US" altLang="zh-CN" sz="2800" dirty="0"/>
          </a:p>
        </p:txBody>
      </p:sp>
      <p:sp>
        <p:nvSpPr>
          <p:cNvPr id="36874" name="Rectangle 10"/>
          <p:cNvSpPr/>
          <p:nvPr/>
        </p:nvSpPr>
        <p:spPr>
          <a:xfrm>
            <a:off x="1614488" y="1625600"/>
            <a:ext cx="9652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6</a:t>
            </a:r>
            <a:endParaRPr lang="en-US" altLang="zh-CN" sz="2800" dirty="0"/>
          </a:p>
        </p:txBody>
      </p:sp>
      <p:sp>
        <p:nvSpPr>
          <p:cNvPr id="36875" name="Rectangle 11"/>
          <p:cNvSpPr/>
          <p:nvPr/>
        </p:nvSpPr>
        <p:spPr>
          <a:xfrm>
            <a:off x="609600" y="16256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6</a:t>
            </a:r>
            <a:endParaRPr lang="en-US" altLang="zh-CN" sz="2800" dirty="0"/>
          </a:p>
        </p:txBody>
      </p:sp>
      <p:sp>
        <p:nvSpPr>
          <p:cNvPr id="36876" name="Rectangle 12"/>
          <p:cNvSpPr/>
          <p:nvPr/>
        </p:nvSpPr>
        <p:spPr>
          <a:xfrm>
            <a:off x="601663" y="16256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12</a:t>
            </a:r>
            <a:endParaRPr lang="en-US" altLang="zh-CN" sz="2800" dirty="0"/>
          </a:p>
        </p:txBody>
      </p:sp>
      <p:sp>
        <p:nvSpPr>
          <p:cNvPr id="36877" name="Rectangle 13"/>
          <p:cNvSpPr/>
          <p:nvPr/>
        </p:nvSpPr>
        <p:spPr>
          <a:xfrm>
            <a:off x="595313" y="16256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12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  <p:sp>
        <p:nvSpPr>
          <p:cNvPr id="30734" name="Rectangle 14"/>
          <p:cNvSpPr/>
          <p:nvPr/>
        </p:nvSpPr>
        <p:spPr>
          <a:xfrm>
            <a:off x="5681663" y="16256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17</a:t>
            </a:r>
            <a:endParaRPr lang="en-US" altLang="zh-CN" sz="2800" dirty="0"/>
          </a:p>
        </p:txBody>
      </p:sp>
      <p:sp>
        <p:nvSpPr>
          <p:cNvPr id="30735" name="Rectangle 15"/>
          <p:cNvSpPr/>
          <p:nvPr/>
        </p:nvSpPr>
        <p:spPr>
          <a:xfrm>
            <a:off x="2582863" y="1625600"/>
            <a:ext cx="10668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22</a:t>
            </a:r>
            <a:endParaRPr lang="en-US" altLang="zh-CN" sz="2800" dirty="0"/>
          </a:p>
        </p:txBody>
      </p:sp>
      <p:sp>
        <p:nvSpPr>
          <p:cNvPr id="30736" name="Rectangle 16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Selection Sort</a:t>
            </a:r>
            <a:endParaRPr lang="en-US" altLang="zh-CN" dirty="0"/>
          </a:p>
        </p:txBody>
      </p:sp>
      <p:sp>
        <p:nvSpPr>
          <p:cNvPr id="36881" name="Rectangle 17"/>
          <p:cNvSpPr>
            <a:spLocks noGrp="1"/>
          </p:cNvSpPr>
          <p:nvPr>
            <p:ph idx="1"/>
          </p:nvPr>
        </p:nvSpPr>
        <p:spPr>
          <a:xfrm>
            <a:off x="457200" y="3733800"/>
            <a:ext cx="8229600" cy="2743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Given n numbers to sort:</a:t>
            </a:r>
            <a:endParaRPr lang="en-US" altLang="zh-CN" dirty="0"/>
          </a:p>
          <a:p>
            <a:pPr eaLnBrk="1" hangingPunct="1"/>
            <a:r>
              <a:rPr lang="en-US" altLang="zh-CN" dirty="0"/>
              <a:t>Repeat the following n-1 times: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Mark the </a:t>
            </a:r>
            <a:r>
              <a:rPr lang="en-US" altLang="zh-CN" dirty="0">
                <a:solidFill>
                  <a:srgbClr val="0066FF"/>
                </a:solidFill>
              </a:rPr>
              <a:t>first</a:t>
            </a:r>
            <a:r>
              <a:rPr lang="en-US" altLang="zh-CN" dirty="0"/>
              <a:t> unsorted number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Find the </a:t>
            </a:r>
            <a:r>
              <a:rPr lang="en-US" altLang="zh-CN" dirty="0">
                <a:solidFill>
                  <a:srgbClr val="CC0000"/>
                </a:solidFill>
              </a:rPr>
              <a:t>smallest</a:t>
            </a:r>
            <a:r>
              <a:rPr lang="en-US" altLang="zh-CN" dirty="0"/>
              <a:t> unsorted number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Swap the </a:t>
            </a:r>
            <a:r>
              <a:rPr lang="en-US" altLang="zh-CN" dirty="0">
                <a:solidFill>
                  <a:srgbClr val="0066FF"/>
                </a:solidFill>
              </a:rPr>
              <a:t>marked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CC0000"/>
                </a:solidFill>
              </a:rPr>
              <a:t>smallest</a:t>
            </a:r>
            <a:r>
              <a:rPr lang="en-US" altLang="zh-CN" dirty="0"/>
              <a:t> numbers</a:t>
            </a:r>
            <a:endParaRPr lang="en-US" altLang="zh-CN" dirty="0"/>
          </a:p>
        </p:txBody>
      </p:sp>
      <p:sp>
        <p:nvSpPr>
          <p:cNvPr id="30738" name="Rectangle 18"/>
          <p:cNvSpPr/>
          <p:nvPr/>
        </p:nvSpPr>
        <p:spPr>
          <a:xfrm>
            <a:off x="4656138" y="1633538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8</a:t>
            </a:r>
            <a:endParaRPr lang="en-US" altLang="zh-CN" sz="2800" dirty="0"/>
          </a:p>
        </p:txBody>
      </p:sp>
      <p:sp>
        <p:nvSpPr>
          <p:cNvPr id="30739" name="Rectangle 19"/>
          <p:cNvSpPr/>
          <p:nvPr/>
        </p:nvSpPr>
        <p:spPr>
          <a:xfrm>
            <a:off x="3649663" y="16256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14</a:t>
            </a:r>
            <a:endParaRPr lang="en-US" altLang="zh-CN" sz="2800" dirty="0"/>
          </a:p>
        </p:txBody>
      </p:sp>
      <p:sp>
        <p:nvSpPr>
          <p:cNvPr id="30740" name="Line 20"/>
          <p:cNvSpPr/>
          <p:nvPr/>
        </p:nvSpPr>
        <p:spPr>
          <a:xfrm>
            <a:off x="601663" y="1625600"/>
            <a:ext cx="6096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1" name="Line 21"/>
          <p:cNvSpPr/>
          <p:nvPr/>
        </p:nvSpPr>
        <p:spPr>
          <a:xfrm>
            <a:off x="601663" y="2514600"/>
            <a:ext cx="6096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2" name="Line 22"/>
          <p:cNvSpPr/>
          <p:nvPr/>
        </p:nvSpPr>
        <p:spPr>
          <a:xfrm>
            <a:off x="601663" y="1625600"/>
            <a:ext cx="0" cy="88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3" name="Line 23"/>
          <p:cNvSpPr/>
          <p:nvPr/>
        </p:nvSpPr>
        <p:spPr>
          <a:xfrm>
            <a:off x="16176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4" name="Line 24"/>
          <p:cNvSpPr/>
          <p:nvPr/>
        </p:nvSpPr>
        <p:spPr>
          <a:xfrm>
            <a:off x="25828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5" name="Line 25"/>
          <p:cNvSpPr/>
          <p:nvPr/>
        </p:nvSpPr>
        <p:spPr>
          <a:xfrm>
            <a:off x="36496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6" name="Line 26"/>
          <p:cNvSpPr/>
          <p:nvPr/>
        </p:nvSpPr>
        <p:spPr>
          <a:xfrm>
            <a:off x="46656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7" name="Line 27"/>
          <p:cNvSpPr/>
          <p:nvPr/>
        </p:nvSpPr>
        <p:spPr>
          <a:xfrm>
            <a:off x="56816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8" name="Line 28"/>
          <p:cNvSpPr/>
          <p:nvPr/>
        </p:nvSpPr>
        <p:spPr>
          <a:xfrm>
            <a:off x="6697663" y="1625600"/>
            <a:ext cx="0" cy="88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3" name="Rectangle 29"/>
          <p:cNvSpPr/>
          <p:nvPr/>
        </p:nvSpPr>
        <p:spPr>
          <a:xfrm>
            <a:off x="617538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6</a:t>
            </a:r>
            <a:endParaRPr lang="en-US" altLang="zh-CN" sz="2800" dirty="0"/>
          </a:p>
        </p:txBody>
      </p:sp>
      <p:sp>
        <p:nvSpPr>
          <p:cNvPr id="36894" name="Rectangle 30"/>
          <p:cNvSpPr/>
          <p:nvPr/>
        </p:nvSpPr>
        <p:spPr>
          <a:xfrm>
            <a:off x="5689600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17</a:t>
            </a:r>
            <a:endParaRPr lang="en-US" altLang="zh-CN" sz="2800" dirty="0"/>
          </a:p>
        </p:txBody>
      </p:sp>
      <p:sp>
        <p:nvSpPr>
          <p:cNvPr id="36895" name="Rectangle 31"/>
          <p:cNvSpPr/>
          <p:nvPr/>
        </p:nvSpPr>
        <p:spPr>
          <a:xfrm>
            <a:off x="2590800" y="2743200"/>
            <a:ext cx="10668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22</a:t>
            </a:r>
            <a:endParaRPr lang="en-US" altLang="zh-CN" sz="2800" dirty="0"/>
          </a:p>
        </p:txBody>
      </p:sp>
      <p:sp>
        <p:nvSpPr>
          <p:cNvPr id="36896" name="Rectangle 32"/>
          <p:cNvSpPr/>
          <p:nvPr/>
        </p:nvSpPr>
        <p:spPr>
          <a:xfrm>
            <a:off x="3657600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14</a:t>
            </a:r>
            <a:endParaRPr lang="en-US" altLang="zh-CN" sz="2800" dirty="0"/>
          </a:p>
        </p:txBody>
      </p:sp>
      <p:sp>
        <p:nvSpPr>
          <p:cNvPr id="36897" name="Line 33"/>
          <p:cNvSpPr/>
          <p:nvPr/>
        </p:nvSpPr>
        <p:spPr>
          <a:xfrm>
            <a:off x="609600" y="2743200"/>
            <a:ext cx="6096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8" name="Line 34"/>
          <p:cNvSpPr/>
          <p:nvPr/>
        </p:nvSpPr>
        <p:spPr>
          <a:xfrm>
            <a:off x="609600" y="3632200"/>
            <a:ext cx="6096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9" name="Line 35"/>
          <p:cNvSpPr/>
          <p:nvPr/>
        </p:nvSpPr>
        <p:spPr>
          <a:xfrm>
            <a:off x="609600" y="2743200"/>
            <a:ext cx="0" cy="88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00" name="Line 36"/>
          <p:cNvSpPr/>
          <p:nvPr/>
        </p:nvSpPr>
        <p:spPr>
          <a:xfrm>
            <a:off x="16256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01" name="Line 37"/>
          <p:cNvSpPr/>
          <p:nvPr/>
        </p:nvSpPr>
        <p:spPr>
          <a:xfrm>
            <a:off x="25908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02" name="Line 38"/>
          <p:cNvSpPr/>
          <p:nvPr/>
        </p:nvSpPr>
        <p:spPr>
          <a:xfrm>
            <a:off x="36576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03" name="Line 39"/>
          <p:cNvSpPr/>
          <p:nvPr/>
        </p:nvSpPr>
        <p:spPr>
          <a:xfrm>
            <a:off x="46736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04" name="Line 40"/>
          <p:cNvSpPr/>
          <p:nvPr/>
        </p:nvSpPr>
        <p:spPr>
          <a:xfrm>
            <a:off x="56896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05" name="Line 41"/>
          <p:cNvSpPr/>
          <p:nvPr/>
        </p:nvSpPr>
        <p:spPr>
          <a:xfrm>
            <a:off x="6705600" y="2743200"/>
            <a:ext cx="0" cy="88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>
                                            <p:txEl>
                                              <p:charRg st="2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>
                                            <p:txEl>
                                              <p:charRg st="5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>
                                            <p:txEl>
                                              <p:charRg st="8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>
                                            <p:txEl>
                                              <p:charRg st="122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4" dur="500"/>
                                        <p:tgtEl>
                                          <p:spTgt spid="3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6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9" dur="500"/>
                                        <p:tgtEl>
                                          <p:spTgt spid="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500"/>
                                        <p:tgtEl>
                                          <p:spTgt spid="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1" dur="500"/>
                                        <p:tgtEl>
                                          <p:spTgt spid="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4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7" dur="500"/>
                                        <p:tgtEl>
                                          <p:spTgt spid="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0" dur="500"/>
                                        <p:tgtEl>
                                          <p:spTgt spid="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6" grpId="1"/>
      <p:bldP spid="36867" grpId="0"/>
      <p:bldP spid="36867" grpId="1"/>
      <p:bldP spid="36868" grpId="0"/>
      <p:bldP spid="36868" grpId="1"/>
      <p:bldP spid="36869" grpId="0"/>
      <p:bldP spid="36870" grpId="0"/>
      <p:bldP spid="36870" grpId="1"/>
      <p:bldP spid="36871" grpId="0"/>
      <p:bldP spid="36872" grpId="0"/>
      <p:bldP spid="36872" grpId="1"/>
      <p:bldP spid="36873" grpId="0"/>
      <p:bldP spid="36874" grpId="0"/>
      <p:bldP spid="36875" grpId="0"/>
      <p:bldP spid="36876" grpId="0"/>
      <p:bldP spid="36877" grpId="0"/>
      <p:bldP spid="36877" grpId="1"/>
      <p:bldP spid="36881" grpId="0" build="p"/>
      <p:bldP spid="36893" grpId="0"/>
      <p:bldP spid="36894" grpId="0"/>
      <p:bldP spid="36895" grpId="0"/>
      <p:bldP spid="3689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9938" name="Rectangle 2"/>
          <p:cNvSpPr/>
          <p:nvPr/>
        </p:nvSpPr>
        <p:spPr>
          <a:xfrm>
            <a:off x="3657600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14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  <p:sp>
        <p:nvSpPr>
          <p:cNvPr id="39939" name="Rectangle 3"/>
          <p:cNvSpPr/>
          <p:nvPr/>
        </p:nvSpPr>
        <p:spPr>
          <a:xfrm>
            <a:off x="3657600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14</a:t>
            </a:r>
            <a:endParaRPr lang="en-US" altLang="zh-CN" sz="2800" dirty="0"/>
          </a:p>
        </p:txBody>
      </p:sp>
      <p:sp>
        <p:nvSpPr>
          <p:cNvPr id="39940" name="Rectangle 4"/>
          <p:cNvSpPr/>
          <p:nvPr/>
        </p:nvSpPr>
        <p:spPr>
          <a:xfrm>
            <a:off x="5686425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17</a:t>
            </a:r>
            <a:endParaRPr lang="en-US" altLang="zh-CN" sz="2800" dirty="0">
              <a:solidFill>
                <a:srgbClr val="CC0000"/>
              </a:solidFill>
            </a:endParaRPr>
          </a:p>
        </p:txBody>
      </p:sp>
      <p:sp>
        <p:nvSpPr>
          <p:cNvPr id="39941" name="Rectangle 5"/>
          <p:cNvSpPr/>
          <p:nvPr/>
        </p:nvSpPr>
        <p:spPr>
          <a:xfrm>
            <a:off x="4657725" y="2757488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22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  <p:sp>
        <p:nvSpPr>
          <p:cNvPr id="39942" name="Rectangle 6"/>
          <p:cNvSpPr/>
          <p:nvPr/>
        </p:nvSpPr>
        <p:spPr>
          <a:xfrm>
            <a:off x="5689600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17</a:t>
            </a:r>
            <a:endParaRPr lang="en-US" altLang="zh-CN" sz="2800" dirty="0"/>
          </a:p>
        </p:txBody>
      </p:sp>
      <p:sp>
        <p:nvSpPr>
          <p:cNvPr id="39943" name="Rectangle 7"/>
          <p:cNvSpPr/>
          <p:nvPr/>
        </p:nvSpPr>
        <p:spPr>
          <a:xfrm>
            <a:off x="5686425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22</a:t>
            </a:r>
            <a:endParaRPr lang="en-US" altLang="zh-CN" sz="2800" dirty="0"/>
          </a:p>
        </p:txBody>
      </p:sp>
      <p:sp>
        <p:nvSpPr>
          <p:cNvPr id="39944" name="Rectangle 8"/>
          <p:cNvSpPr/>
          <p:nvPr/>
        </p:nvSpPr>
        <p:spPr>
          <a:xfrm>
            <a:off x="4660900" y="2754313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22</a:t>
            </a:r>
            <a:endParaRPr lang="en-US" altLang="zh-CN" sz="2800" dirty="0"/>
          </a:p>
        </p:txBody>
      </p:sp>
      <p:sp>
        <p:nvSpPr>
          <p:cNvPr id="39945" name="Rectangle 9"/>
          <p:cNvSpPr/>
          <p:nvPr/>
        </p:nvSpPr>
        <p:spPr>
          <a:xfrm>
            <a:off x="4657725" y="2754313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17</a:t>
            </a:r>
            <a:endParaRPr lang="en-US" altLang="zh-CN" sz="2800" dirty="0"/>
          </a:p>
        </p:txBody>
      </p:sp>
      <p:sp>
        <p:nvSpPr>
          <p:cNvPr id="39946" name="Rectangle 10"/>
          <p:cNvSpPr/>
          <p:nvPr/>
        </p:nvSpPr>
        <p:spPr>
          <a:xfrm>
            <a:off x="1619250" y="2741613"/>
            <a:ext cx="9652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8</a:t>
            </a:r>
            <a:endParaRPr lang="en-US" altLang="zh-CN" sz="2800" dirty="0"/>
          </a:p>
        </p:txBody>
      </p:sp>
      <p:sp>
        <p:nvSpPr>
          <p:cNvPr id="39947" name="Rectangle 11"/>
          <p:cNvSpPr/>
          <p:nvPr/>
        </p:nvSpPr>
        <p:spPr>
          <a:xfrm>
            <a:off x="2582863" y="1625600"/>
            <a:ext cx="10668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22</a:t>
            </a:r>
            <a:endParaRPr lang="en-US" altLang="zh-CN" sz="2800" dirty="0"/>
          </a:p>
        </p:txBody>
      </p:sp>
      <p:sp>
        <p:nvSpPr>
          <p:cNvPr id="39948" name="Rectangle 12"/>
          <p:cNvSpPr/>
          <p:nvPr/>
        </p:nvSpPr>
        <p:spPr>
          <a:xfrm>
            <a:off x="2590800" y="1622425"/>
            <a:ext cx="10668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12</a:t>
            </a:r>
            <a:endParaRPr lang="en-US" altLang="zh-CN" sz="2800" dirty="0"/>
          </a:p>
        </p:txBody>
      </p:sp>
      <p:sp>
        <p:nvSpPr>
          <p:cNvPr id="39949" name="Rectangle 13"/>
          <p:cNvSpPr/>
          <p:nvPr/>
        </p:nvSpPr>
        <p:spPr>
          <a:xfrm>
            <a:off x="4656138" y="1633538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12</a:t>
            </a:r>
            <a:endParaRPr lang="en-US" altLang="zh-CN" sz="2800" dirty="0"/>
          </a:p>
        </p:txBody>
      </p:sp>
      <p:sp>
        <p:nvSpPr>
          <p:cNvPr id="39950" name="Rectangle 14"/>
          <p:cNvSpPr/>
          <p:nvPr/>
        </p:nvSpPr>
        <p:spPr>
          <a:xfrm>
            <a:off x="4652963" y="1633538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22</a:t>
            </a:r>
            <a:endParaRPr lang="en-US" altLang="zh-CN" sz="2800" dirty="0"/>
          </a:p>
        </p:txBody>
      </p:sp>
      <p:sp>
        <p:nvSpPr>
          <p:cNvPr id="32783" name="Rectangle 15"/>
          <p:cNvSpPr/>
          <p:nvPr/>
        </p:nvSpPr>
        <p:spPr>
          <a:xfrm>
            <a:off x="1614488" y="1625600"/>
            <a:ext cx="9652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8</a:t>
            </a:r>
            <a:endParaRPr lang="en-US" altLang="zh-CN" sz="2800" dirty="0"/>
          </a:p>
        </p:txBody>
      </p:sp>
      <p:sp>
        <p:nvSpPr>
          <p:cNvPr id="39952" name="Rectangle 16"/>
          <p:cNvSpPr/>
          <p:nvPr/>
        </p:nvSpPr>
        <p:spPr>
          <a:xfrm>
            <a:off x="4652963" y="1633538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12</a:t>
            </a:r>
            <a:endParaRPr lang="en-US" altLang="zh-CN" sz="2800" dirty="0">
              <a:solidFill>
                <a:srgbClr val="CC0000"/>
              </a:solidFill>
            </a:endParaRPr>
          </a:p>
        </p:txBody>
      </p:sp>
      <p:sp>
        <p:nvSpPr>
          <p:cNvPr id="39953" name="Rectangle 17"/>
          <p:cNvSpPr/>
          <p:nvPr/>
        </p:nvSpPr>
        <p:spPr>
          <a:xfrm>
            <a:off x="2590800" y="1622425"/>
            <a:ext cx="10668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22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  <p:sp>
        <p:nvSpPr>
          <p:cNvPr id="32786" name="Rectangle 18"/>
          <p:cNvSpPr/>
          <p:nvPr/>
        </p:nvSpPr>
        <p:spPr>
          <a:xfrm>
            <a:off x="609600" y="16256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6</a:t>
            </a:r>
            <a:endParaRPr lang="en-US" altLang="zh-CN" sz="2800" dirty="0"/>
          </a:p>
        </p:txBody>
      </p:sp>
      <p:sp>
        <p:nvSpPr>
          <p:cNvPr id="32787" name="Rectangle 19"/>
          <p:cNvSpPr/>
          <p:nvPr/>
        </p:nvSpPr>
        <p:spPr>
          <a:xfrm>
            <a:off x="5681663" y="16256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17</a:t>
            </a:r>
            <a:endParaRPr lang="en-US" altLang="zh-CN" sz="2800" dirty="0"/>
          </a:p>
        </p:txBody>
      </p:sp>
      <p:sp>
        <p:nvSpPr>
          <p:cNvPr id="32788" name="Rectangle 20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Selection Sort</a:t>
            </a:r>
            <a:endParaRPr lang="en-US" altLang="zh-CN" dirty="0"/>
          </a:p>
        </p:txBody>
      </p:sp>
      <p:sp>
        <p:nvSpPr>
          <p:cNvPr id="32789" name="Rectangle 21"/>
          <p:cNvSpPr>
            <a:spLocks noGrp="1"/>
          </p:cNvSpPr>
          <p:nvPr>
            <p:ph idx="1"/>
          </p:nvPr>
        </p:nvSpPr>
        <p:spPr>
          <a:xfrm>
            <a:off x="457200" y="3733800"/>
            <a:ext cx="8229600" cy="2743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Given </a:t>
            </a:r>
            <a:r>
              <a:rPr lang="en-US" altLang="zh-CN" dirty="0">
                <a:solidFill>
                  <a:schemeClr val="tx2"/>
                </a:solidFill>
              </a:rPr>
              <a:t>N</a:t>
            </a:r>
            <a:r>
              <a:rPr lang="en-US" altLang="zh-CN" dirty="0"/>
              <a:t> numbers to sort:</a:t>
            </a:r>
            <a:endParaRPr lang="en-US" altLang="zh-CN" dirty="0"/>
          </a:p>
          <a:p>
            <a:pPr eaLnBrk="1" hangingPunct="1"/>
            <a:r>
              <a:rPr lang="en-US" altLang="zh-CN" dirty="0"/>
              <a:t>Repeat the following </a:t>
            </a:r>
            <a:r>
              <a:rPr lang="en-US" altLang="zh-CN" dirty="0">
                <a:solidFill>
                  <a:schemeClr val="tx2"/>
                </a:solidFill>
              </a:rPr>
              <a:t>N-1</a:t>
            </a:r>
            <a:r>
              <a:rPr lang="en-US" altLang="zh-CN" dirty="0"/>
              <a:t> times: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Mark the </a:t>
            </a:r>
            <a:r>
              <a:rPr lang="en-US" altLang="zh-CN" dirty="0">
                <a:solidFill>
                  <a:srgbClr val="0066FF"/>
                </a:solidFill>
              </a:rPr>
              <a:t>first</a:t>
            </a:r>
            <a:r>
              <a:rPr lang="en-US" altLang="zh-CN" dirty="0"/>
              <a:t> unsorted number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Find the </a:t>
            </a:r>
            <a:r>
              <a:rPr lang="en-US" altLang="zh-CN" dirty="0">
                <a:solidFill>
                  <a:srgbClr val="CC0000"/>
                </a:solidFill>
              </a:rPr>
              <a:t>smallest</a:t>
            </a:r>
            <a:r>
              <a:rPr lang="en-US" altLang="zh-CN" dirty="0"/>
              <a:t> unsorted number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Swap the </a:t>
            </a:r>
            <a:r>
              <a:rPr lang="en-US" altLang="zh-CN" dirty="0">
                <a:solidFill>
                  <a:srgbClr val="0066FF"/>
                </a:solidFill>
              </a:rPr>
              <a:t>marked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CC0000"/>
                </a:solidFill>
              </a:rPr>
              <a:t>smallest</a:t>
            </a:r>
            <a:r>
              <a:rPr lang="en-US" altLang="zh-CN" dirty="0"/>
              <a:t> numbers</a:t>
            </a:r>
            <a:endParaRPr lang="en-US" altLang="zh-CN" dirty="0"/>
          </a:p>
        </p:txBody>
      </p:sp>
      <p:sp>
        <p:nvSpPr>
          <p:cNvPr id="32790" name="Rectangle 22"/>
          <p:cNvSpPr/>
          <p:nvPr/>
        </p:nvSpPr>
        <p:spPr>
          <a:xfrm>
            <a:off x="3649663" y="16256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14</a:t>
            </a:r>
            <a:endParaRPr lang="en-US" altLang="zh-CN" sz="2800" dirty="0"/>
          </a:p>
        </p:txBody>
      </p:sp>
      <p:sp>
        <p:nvSpPr>
          <p:cNvPr id="32791" name="Line 23"/>
          <p:cNvSpPr/>
          <p:nvPr/>
        </p:nvSpPr>
        <p:spPr>
          <a:xfrm>
            <a:off x="601663" y="1625600"/>
            <a:ext cx="6096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2" name="Line 24"/>
          <p:cNvSpPr/>
          <p:nvPr/>
        </p:nvSpPr>
        <p:spPr>
          <a:xfrm>
            <a:off x="601663" y="2514600"/>
            <a:ext cx="6096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3" name="Line 25"/>
          <p:cNvSpPr/>
          <p:nvPr/>
        </p:nvSpPr>
        <p:spPr>
          <a:xfrm>
            <a:off x="601663" y="1625600"/>
            <a:ext cx="0" cy="88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4" name="Line 26"/>
          <p:cNvSpPr/>
          <p:nvPr/>
        </p:nvSpPr>
        <p:spPr>
          <a:xfrm>
            <a:off x="16176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5" name="Line 27"/>
          <p:cNvSpPr/>
          <p:nvPr/>
        </p:nvSpPr>
        <p:spPr>
          <a:xfrm>
            <a:off x="25828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6" name="Line 28"/>
          <p:cNvSpPr/>
          <p:nvPr/>
        </p:nvSpPr>
        <p:spPr>
          <a:xfrm>
            <a:off x="36496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7" name="Line 29"/>
          <p:cNvSpPr/>
          <p:nvPr/>
        </p:nvSpPr>
        <p:spPr>
          <a:xfrm>
            <a:off x="46656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8" name="Line 30"/>
          <p:cNvSpPr/>
          <p:nvPr/>
        </p:nvSpPr>
        <p:spPr>
          <a:xfrm>
            <a:off x="5681663" y="16256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9" name="Line 31"/>
          <p:cNvSpPr/>
          <p:nvPr/>
        </p:nvSpPr>
        <p:spPr>
          <a:xfrm>
            <a:off x="6697663" y="1625600"/>
            <a:ext cx="0" cy="88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8" name="Rectangle 32"/>
          <p:cNvSpPr/>
          <p:nvPr/>
        </p:nvSpPr>
        <p:spPr>
          <a:xfrm>
            <a:off x="617538" y="2743200"/>
            <a:ext cx="10160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6</a:t>
            </a:r>
            <a:endParaRPr lang="en-US" altLang="zh-CN" sz="2800" dirty="0"/>
          </a:p>
        </p:txBody>
      </p:sp>
      <p:sp>
        <p:nvSpPr>
          <p:cNvPr id="39969" name="Rectangle 33"/>
          <p:cNvSpPr/>
          <p:nvPr/>
        </p:nvSpPr>
        <p:spPr>
          <a:xfrm>
            <a:off x="2590800" y="2743200"/>
            <a:ext cx="1066800" cy="889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800" dirty="0"/>
              <a:t>12</a:t>
            </a:r>
            <a:endParaRPr lang="en-US" altLang="zh-CN" sz="2800" dirty="0"/>
          </a:p>
        </p:txBody>
      </p:sp>
      <p:sp>
        <p:nvSpPr>
          <p:cNvPr id="39970" name="Line 34"/>
          <p:cNvSpPr/>
          <p:nvPr/>
        </p:nvSpPr>
        <p:spPr>
          <a:xfrm>
            <a:off x="609600" y="2743200"/>
            <a:ext cx="6096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1" name="Line 35"/>
          <p:cNvSpPr/>
          <p:nvPr/>
        </p:nvSpPr>
        <p:spPr>
          <a:xfrm>
            <a:off x="609600" y="3632200"/>
            <a:ext cx="6096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2" name="Line 36"/>
          <p:cNvSpPr/>
          <p:nvPr/>
        </p:nvSpPr>
        <p:spPr>
          <a:xfrm>
            <a:off x="609600" y="2743200"/>
            <a:ext cx="0" cy="88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3" name="Line 37"/>
          <p:cNvSpPr/>
          <p:nvPr/>
        </p:nvSpPr>
        <p:spPr>
          <a:xfrm>
            <a:off x="16256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4" name="Line 38"/>
          <p:cNvSpPr/>
          <p:nvPr/>
        </p:nvSpPr>
        <p:spPr>
          <a:xfrm>
            <a:off x="25908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5" name="Line 39"/>
          <p:cNvSpPr/>
          <p:nvPr/>
        </p:nvSpPr>
        <p:spPr>
          <a:xfrm>
            <a:off x="36576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6" name="Line 40"/>
          <p:cNvSpPr/>
          <p:nvPr/>
        </p:nvSpPr>
        <p:spPr>
          <a:xfrm>
            <a:off x="46736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7" name="Line 41"/>
          <p:cNvSpPr/>
          <p:nvPr/>
        </p:nvSpPr>
        <p:spPr>
          <a:xfrm>
            <a:off x="5689600" y="2743200"/>
            <a:ext cx="0" cy="889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8" name="Line 42"/>
          <p:cNvSpPr/>
          <p:nvPr/>
        </p:nvSpPr>
        <p:spPr>
          <a:xfrm>
            <a:off x="6705600" y="2743200"/>
            <a:ext cx="0" cy="88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0" dur="500"/>
                                        <p:tgtEl>
                                          <p:spTgt spid="3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>
                                      <p:cBhvr>
                                        <p:cTn id="9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9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9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" presetClass="entr" presetSubtype="2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8" grpId="1"/>
      <p:bldP spid="39938" grpId="2"/>
      <p:bldP spid="39938" grpId="3"/>
      <p:bldP spid="39939" grpId="0"/>
      <p:bldP spid="39939" grpId="1"/>
      <p:bldP spid="39939" grpId="2"/>
      <p:bldP spid="39940" grpId="0"/>
      <p:bldP spid="39940" grpId="1"/>
      <p:bldP spid="39941" grpId="0"/>
      <p:bldP spid="39941" grpId="1"/>
      <p:bldP spid="39942" grpId="0"/>
      <p:bldP spid="39942" grpId="1"/>
      <p:bldP spid="39943" grpId="0"/>
      <p:bldP spid="39944" grpId="0"/>
      <p:bldP spid="39944" grpId="1"/>
      <p:bldP spid="39945" grpId="0"/>
      <p:bldP spid="39946" grpId="0"/>
      <p:bldP spid="39947" grpId="0"/>
      <p:bldP spid="39948" grpId="0"/>
      <p:bldP spid="39949" grpId="0"/>
      <p:bldP spid="39950" grpId="0"/>
      <p:bldP spid="39952" grpId="0"/>
      <p:bldP spid="39952" grpId="1"/>
      <p:bldP spid="39953" grpId="0"/>
      <p:bldP spid="39953" grpId="1"/>
      <p:bldP spid="39968" grpId="0"/>
      <p:bldP spid="3996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Algorithm Analysis </a:t>
            </a:r>
            <a:endParaRPr lang="en-US" altLang="zh-CN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Totally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n-1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passes, for the 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400" b="0" i="1" u="none" strike="noStrike" kern="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pass, do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comparisons and 3 movements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Total comparisons: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Complexity is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O(n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20" name="Rectangle 4"/>
          <p:cNvSpPr/>
          <p:nvPr/>
        </p:nvSpPr>
        <p:spPr>
          <a:xfrm>
            <a:off x="838200" y="4186238"/>
            <a:ext cx="1582738" cy="395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b="1" dirty="0">
              <a:latin typeface="宋体" panose="02010600030101010101" pitchFamily="2" charset="-122"/>
            </a:endParaRPr>
          </a:p>
        </p:txBody>
      </p:sp>
      <p:grpSp>
        <p:nvGrpSpPr>
          <p:cNvPr id="31749" name="Group 5"/>
          <p:cNvGrpSpPr/>
          <p:nvPr/>
        </p:nvGrpSpPr>
        <p:grpSpPr>
          <a:xfrm>
            <a:off x="3957638" y="2901950"/>
            <a:ext cx="1300162" cy="908050"/>
            <a:chOff x="0" y="0"/>
            <a:chExt cx="819" cy="572"/>
          </a:xfrm>
        </p:grpSpPr>
        <p:sp>
          <p:nvSpPr>
            <p:cNvPr id="34823" name="Rectangle 6"/>
            <p:cNvSpPr/>
            <p:nvPr/>
          </p:nvSpPr>
          <p:spPr>
            <a:xfrm>
              <a:off x="48" y="144"/>
              <a:ext cx="771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∑n-i=n(n-1)/2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824" name="Rectangle 7"/>
            <p:cNvSpPr/>
            <p:nvPr/>
          </p:nvSpPr>
          <p:spPr>
            <a:xfrm>
              <a:off x="80" y="0"/>
              <a:ext cx="204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n-1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825" name="Rectangle 8"/>
            <p:cNvSpPr/>
            <p:nvPr/>
          </p:nvSpPr>
          <p:spPr>
            <a:xfrm>
              <a:off x="0" y="368"/>
              <a:ext cx="317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i=1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343650" y="1797050"/>
            <a:ext cx="685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n-i 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97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95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Bubble Sort</a:t>
            </a:r>
            <a:endParaRPr lang="en-US" altLang="zh-CN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Traverse a collection of elements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Move from the front to the end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Put the </a:t>
            </a:r>
            <a:r>
              <a:rPr lang="en-US" altLang="zh-CN" sz="2400" dirty="0">
                <a:solidFill>
                  <a:srgbClr val="3333FF"/>
                </a:solidFill>
              </a:rPr>
              <a:t>largest value</a:t>
            </a:r>
            <a:r>
              <a:rPr lang="en-US" altLang="zh-CN" sz="2400" dirty="0"/>
              <a:t> to the end using </a:t>
            </a:r>
            <a:r>
              <a:rPr lang="en-US" altLang="zh-CN" sz="2400" dirty="0">
                <a:solidFill>
                  <a:srgbClr val="3333FF"/>
                </a:solidFill>
              </a:rPr>
              <a:t>pair-wise comparisons and swapping</a:t>
            </a:r>
            <a:endParaRPr lang="en-US" altLang="zh-CN" sz="2400" dirty="0">
              <a:solidFill>
                <a:srgbClr val="3333FF"/>
              </a:solidFill>
            </a:endParaRPr>
          </a:p>
        </p:txBody>
      </p:sp>
      <p:sp>
        <p:nvSpPr>
          <p:cNvPr id="35844" name="Rectangle 4"/>
          <p:cNvSpPr/>
          <p:nvPr/>
        </p:nvSpPr>
        <p:spPr>
          <a:xfrm>
            <a:off x="1211263" y="4826000"/>
            <a:ext cx="6518275" cy="715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45" name="Line 5"/>
          <p:cNvSpPr/>
          <p:nvPr/>
        </p:nvSpPr>
        <p:spPr>
          <a:xfrm>
            <a:off x="2220913" y="4821238"/>
            <a:ext cx="0" cy="7127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846" name="Line 6"/>
          <p:cNvSpPr/>
          <p:nvPr/>
        </p:nvSpPr>
        <p:spPr>
          <a:xfrm>
            <a:off x="3238500" y="4821238"/>
            <a:ext cx="0" cy="7254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847" name="Line 7"/>
          <p:cNvSpPr/>
          <p:nvPr/>
        </p:nvSpPr>
        <p:spPr>
          <a:xfrm>
            <a:off x="4276725" y="4821238"/>
            <a:ext cx="0" cy="7254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848" name="Line 8"/>
          <p:cNvSpPr/>
          <p:nvPr/>
        </p:nvSpPr>
        <p:spPr>
          <a:xfrm>
            <a:off x="5386388" y="4821238"/>
            <a:ext cx="0" cy="7254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849" name="Line 9"/>
          <p:cNvSpPr/>
          <p:nvPr/>
        </p:nvSpPr>
        <p:spPr>
          <a:xfrm>
            <a:off x="6540500" y="4833938"/>
            <a:ext cx="0" cy="7000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850" name="Rectangle 10"/>
          <p:cNvSpPr/>
          <p:nvPr/>
        </p:nvSpPr>
        <p:spPr>
          <a:xfrm>
            <a:off x="6958013" y="5000625"/>
            <a:ext cx="354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5851" name="Rectangle 11"/>
          <p:cNvSpPr/>
          <p:nvPr/>
        </p:nvSpPr>
        <p:spPr>
          <a:xfrm>
            <a:off x="4516438" y="4987925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5852" name="Rectangle 12"/>
          <p:cNvSpPr/>
          <p:nvPr/>
        </p:nvSpPr>
        <p:spPr>
          <a:xfrm>
            <a:off x="3430588" y="5000625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35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5853" name="Rectangle 13"/>
          <p:cNvSpPr/>
          <p:nvPr/>
        </p:nvSpPr>
        <p:spPr>
          <a:xfrm>
            <a:off x="2344738" y="5000625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5854" name="Rectangle 14"/>
          <p:cNvSpPr/>
          <p:nvPr/>
        </p:nvSpPr>
        <p:spPr>
          <a:xfrm>
            <a:off x="1376363" y="501491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77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5855" name="Rectangle 15"/>
          <p:cNvSpPr/>
          <p:nvPr/>
        </p:nvSpPr>
        <p:spPr>
          <a:xfrm>
            <a:off x="5559425" y="4986338"/>
            <a:ext cx="6937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685800" y="2362200"/>
            <a:ext cx="8229600" cy="395763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Traverse a collection of elements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Move from the front to the end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ut</a:t>
            </a:r>
            <a:r>
              <a:rPr lang="en-US" altLang="zh-CN" sz="2400" dirty="0"/>
              <a:t> the largest value to the end using </a:t>
            </a:r>
            <a:endParaRPr lang="en-US" altLang="zh-CN" sz="2400" dirty="0"/>
          </a:p>
          <a:p>
            <a:pPr lvl="1" eaLnBrk="1" hangingPunct="1">
              <a:buNone/>
            </a:pPr>
            <a:r>
              <a:rPr lang="en-US" altLang="zh-CN" sz="2400" dirty="0"/>
              <a:t>    pair-wise comparisons and swapping</a:t>
            </a:r>
            <a:endParaRPr lang="en-US" altLang="zh-CN" sz="2400" dirty="0"/>
          </a:p>
        </p:txBody>
      </p:sp>
      <p:sp>
        <p:nvSpPr>
          <p:cNvPr id="36868" name="Rectangle 4"/>
          <p:cNvSpPr/>
          <p:nvPr/>
        </p:nvSpPr>
        <p:spPr>
          <a:xfrm>
            <a:off x="1211263" y="4918075"/>
            <a:ext cx="6518275" cy="715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6869" name="Line 5"/>
          <p:cNvSpPr/>
          <p:nvPr/>
        </p:nvSpPr>
        <p:spPr>
          <a:xfrm>
            <a:off x="2220913" y="4913313"/>
            <a:ext cx="0" cy="7127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870" name="Line 6"/>
          <p:cNvSpPr/>
          <p:nvPr/>
        </p:nvSpPr>
        <p:spPr>
          <a:xfrm>
            <a:off x="3238500" y="4913313"/>
            <a:ext cx="0" cy="7254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871" name="Line 7"/>
          <p:cNvSpPr/>
          <p:nvPr/>
        </p:nvSpPr>
        <p:spPr>
          <a:xfrm>
            <a:off x="4276725" y="4913313"/>
            <a:ext cx="0" cy="7254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872" name="Line 8"/>
          <p:cNvSpPr/>
          <p:nvPr/>
        </p:nvSpPr>
        <p:spPr>
          <a:xfrm>
            <a:off x="5386388" y="4913313"/>
            <a:ext cx="0" cy="7254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873" name="Line 9"/>
          <p:cNvSpPr/>
          <p:nvPr/>
        </p:nvSpPr>
        <p:spPr>
          <a:xfrm>
            <a:off x="6540500" y="4926013"/>
            <a:ext cx="0" cy="7000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874" name="Rectangle 10"/>
          <p:cNvSpPr/>
          <p:nvPr/>
        </p:nvSpPr>
        <p:spPr>
          <a:xfrm>
            <a:off x="6958013" y="5092700"/>
            <a:ext cx="354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6875" name="Rectangle 11"/>
          <p:cNvSpPr/>
          <p:nvPr/>
        </p:nvSpPr>
        <p:spPr>
          <a:xfrm>
            <a:off x="4516438" y="508000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6876" name="Rectangle 12"/>
          <p:cNvSpPr/>
          <p:nvPr/>
        </p:nvSpPr>
        <p:spPr>
          <a:xfrm>
            <a:off x="3430588" y="509270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35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6877" name="Rectangle 13"/>
          <p:cNvSpPr/>
          <p:nvPr/>
        </p:nvSpPr>
        <p:spPr>
          <a:xfrm>
            <a:off x="2344738" y="509270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42</a:t>
            </a:r>
            <a:endParaRPr lang="en-US" altLang="zh-CN" sz="2400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36878" name="Rectangle 14"/>
          <p:cNvSpPr/>
          <p:nvPr/>
        </p:nvSpPr>
        <p:spPr>
          <a:xfrm>
            <a:off x="1376363" y="5106988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77</a:t>
            </a:r>
            <a:endParaRPr lang="en-US" altLang="zh-CN" sz="2400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36879" name="Rectangle 15"/>
          <p:cNvSpPr/>
          <p:nvPr/>
        </p:nvSpPr>
        <p:spPr>
          <a:xfrm>
            <a:off x="5559425" y="5078413"/>
            <a:ext cx="6937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6880" name="Rectangle 17"/>
          <p:cNvSpPr/>
          <p:nvPr/>
        </p:nvSpPr>
        <p:spPr>
          <a:xfrm>
            <a:off x="1211263" y="4926013"/>
            <a:ext cx="1009650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6881" name="Rectangle 18"/>
          <p:cNvSpPr/>
          <p:nvPr/>
        </p:nvSpPr>
        <p:spPr>
          <a:xfrm>
            <a:off x="2220913" y="4926013"/>
            <a:ext cx="1009650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" name="Group 19"/>
          <p:cNvGrpSpPr/>
          <p:nvPr/>
        </p:nvGrpSpPr>
        <p:grpSpPr>
          <a:xfrm>
            <a:off x="1206500" y="4921250"/>
            <a:ext cx="2019300" cy="708025"/>
            <a:chOff x="760" y="2895"/>
            <a:chExt cx="1272" cy="446"/>
          </a:xfrm>
        </p:grpSpPr>
        <p:sp>
          <p:nvSpPr>
            <p:cNvPr id="36883" name="Rectangle 20"/>
            <p:cNvSpPr/>
            <p:nvPr/>
          </p:nvSpPr>
          <p:spPr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 cap="flat" cmpd="sng">
              <a:solidFill>
                <a:srgbClr val="FF0033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42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6884" name="Rectangle 21"/>
            <p:cNvSpPr/>
            <p:nvPr/>
          </p:nvSpPr>
          <p:spPr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 cap="flat" cmpd="sng">
              <a:solidFill>
                <a:srgbClr val="FF0033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77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838200" y="2286000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Traverse a collection of elements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Move from the front to the end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Put the largest value to the end using pair-wise comparisons and swapping</a:t>
            </a:r>
            <a:endParaRPr lang="en-US" altLang="zh-CN" sz="2400" dirty="0"/>
          </a:p>
        </p:txBody>
      </p:sp>
      <p:sp>
        <p:nvSpPr>
          <p:cNvPr id="37892" name="Rectangle 4"/>
          <p:cNvSpPr/>
          <p:nvPr/>
        </p:nvSpPr>
        <p:spPr>
          <a:xfrm>
            <a:off x="1211263" y="4592638"/>
            <a:ext cx="6518275" cy="715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7893" name="Line 5"/>
          <p:cNvSpPr/>
          <p:nvPr/>
        </p:nvSpPr>
        <p:spPr>
          <a:xfrm>
            <a:off x="2220913" y="4587875"/>
            <a:ext cx="0" cy="7127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4" name="Line 6"/>
          <p:cNvSpPr/>
          <p:nvPr/>
        </p:nvSpPr>
        <p:spPr>
          <a:xfrm>
            <a:off x="3238500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5" name="Line 7"/>
          <p:cNvSpPr/>
          <p:nvPr/>
        </p:nvSpPr>
        <p:spPr>
          <a:xfrm>
            <a:off x="4276725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6" name="Line 8"/>
          <p:cNvSpPr/>
          <p:nvPr/>
        </p:nvSpPr>
        <p:spPr>
          <a:xfrm>
            <a:off x="5386388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7" name="Line 9"/>
          <p:cNvSpPr/>
          <p:nvPr/>
        </p:nvSpPr>
        <p:spPr>
          <a:xfrm>
            <a:off x="6540500" y="4600575"/>
            <a:ext cx="0" cy="7000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8" name="Rectangle 10"/>
          <p:cNvSpPr/>
          <p:nvPr/>
        </p:nvSpPr>
        <p:spPr>
          <a:xfrm>
            <a:off x="6958013" y="4767263"/>
            <a:ext cx="354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7899" name="Rectangle 11"/>
          <p:cNvSpPr/>
          <p:nvPr/>
        </p:nvSpPr>
        <p:spPr>
          <a:xfrm>
            <a:off x="4516438" y="47545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7900" name="Rectangle 12"/>
          <p:cNvSpPr/>
          <p:nvPr/>
        </p:nvSpPr>
        <p:spPr>
          <a:xfrm>
            <a:off x="343058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35</a:t>
            </a:r>
            <a:endParaRPr lang="en-US" altLang="zh-CN" sz="2400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37901" name="Rectangle 13"/>
          <p:cNvSpPr/>
          <p:nvPr/>
        </p:nvSpPr>
        <p:spPr>
          <a:xfrm>
            <a:off x="234473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77</a:t>
            </a:r>
            <a:endParaRPr lang="en-US" altLang="zh-CN" sz="2400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37902" name="Rectangle 14"/>
          <p:cNvSpPr/>
          <p:nvPr/>
        </p:nvSpPr>
        <p:spPr>
          <a:xfrm>
            <a:off x="1376363" y="478155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7903" name="Rectangle 15"/>
          <p:cNvSpPr/>
          <p:nvPr/>
        </p:nvSpPr>
        <p:spPr>
          <a:xfrm>
            <a:off x="5559425" y="4752975"/>
            <a:ext cx="6937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7904" name="Rectangle 17"/>
          <p:cNvSpPr/>
          <p:nvPr/>
        </p:nvSpPr>
        <p:spPr>
          <a:xfrm>
            <a:off x="2220913" y="4587875"/>
            <a:ext cx="1009650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7905" name="Rectangle 18"/>
          <p:cNvSpPr/>
          <p:nvPr/>
        </p:nvSpPr>
        <p:spPr>
          <a:xfrm>
            <a:off x="3259138" y="4587875"/>
            <a:ext cx="1009650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" name="Group 19"/>
          <p:cNvGrpSpPr/>
          <p:nvPr/>
        </p:nvGrpSpPr>
        <p:grpSpPr>
          <a:xfrm>
            <a:off x="2257425" y="4605338"/>
            <a:ext cx="2019300" cy="708025"/>
            <a:chOff x="760" y="2895"/>
            <a:chExt cx="1272" cy="446"/>
          </a:xfrm>
        </p:grpSpPr>
        <p:sp>
          <p:nvSpPr>
            <p:cNvPr id="37907" name="Rectangle 20"/>
            <p:cNvSpPr/>
            <p:nvPr/>
          </p:nvSpPr>
          <p:spPr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 cap="flat" cmpd="sng">
              <a:solidFill>
                <a:srgbClr val="FF0033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35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08" name="Rectangle 21"/>
            <p:cNvSpPr/>
            <p:nvPr/>
          </p:nvSpPr>
          <p:spPr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 cap="flat" cmpd="sng">
              <a:solidFill>
                <a:srgbClr val="FF0033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77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Traverse a collection of elements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Move from the front to the end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P</a:t>
            </a:r>
            <a:r>
              <a:rPr lang="en-US" altLang="zh-CN" sz="2400" dirty="0">
                <a:latin typeface="Arial" panose="020B0604020202020204" pitchFamily="34" charset="0"/>
              </a:rPr>
              <a:t>ut</a:t>
            </a:r>
            <a:r>
              <a:rPr lang="en-US" altLang="zh-CN" sz="2400" dirty="0"/>
              <a:t> the largest value to the end using pair-wise comparisons and swapping</a:t>
            </a:r>
            <a:endParaRPr lang="en-US" altLang="zh-CN" sz="2400" dirty="0"/>
          </a:p>
        </p:txBody>
      </p:sp>
      <p:sp>
        <p:nvSpPr>
          <p:cNvPr id="38916" name="Rectangle 4"/>
          <p:cNvSpPr/>
          <p:nvPr/>
        </p:nvSpPr>
        <p:spPr>
          <a:xfrm>
            <a:off x="1211263" y="4592638"/>
            <a:ext cx="6518275" cy="715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8917" name="Line 5"/>
          <p:cNvSpPr/>
          <p:nvPr/>
        </p:nvSpPr>
        <p:spPr>
          <a:xfrm>
            <a:off x="2220913" y="4587875"/>
            <a:ext cx="0" cy="7127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18" name="Line 6"/>
          <p:cNvSpPr/>
          <p:nvPr/>
        </p:nvSpPr>
        <p:spPr>
          <a:xfrm>
            <a:off x="3238500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19" name="Line 7"/>
          <p:cNvSpPr/>
          <p:nvPr/>
        </p:nvSpPr>
        <p:spPr>
          <a:xfrm>
            <a:off x="4276725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20" name="Line 8"/>
          <p:cNvSpPr/>
          <p:nvPr/>
        </p:nvSpPr>
        <p:spPr>
          <a:xfrm>
            <a:off x="5386388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21" name="Line 9"/>
          <p:cNvSpPr/>
          <p:nvPr/>
        </p:nvSpPr>
        <p:spPr>
          <a:xfrm>
            <a:off x="6540500" y="4600575"/>
            <a:ext cx="0" cy="7000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22" name="Rectangle 10"/>
          <p:cNvSpPr/>
          <p:nvPr/>
        </p:nvSpPr>
        <p:spPr>
          <a:xfrm>
            <a:off x="6958013" y="4767263"/>
            <a:ext cx="354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8923" name="Rectangle 11"/>
          <p:cNvSpPr/>
          <p:nvPr/>
        </p:nvSpPr>
        <p:spPr>
          <a:xfrm>
            <a:off x="4516438" y="47545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12</a:t>
            </a:r>
            <a:endParaRPr lang="en-US" altLang="zh-CN" sz="2400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38924" name="Rectangle 12"/>
          <p:cNvSpPr/>
          <p:nvPr/>
        </p:nvSpPr>
        <p:spPr>
          <a:xfrm>
            <a:off x="343058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77</a:t>
            </a:r>
            <a:endParaRPr lang="en-US" altLang="zh-CN" sz="2400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38925" name="Rectangle 13"/>
          <p:cNvSpPr/>
          <p:nvPr/>
        </p:nvSpPr>
        <p:spPr>
          <a:xfrm>
            <a:off x="234473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35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8926" name="Rectangle 14"/>
          <p:cNvSpPr/>
          <p:nvPr/>
        </p:nvSpPr>
        <p:spPr>
          <a:xfrm>
            <a:off x="1376363" y="478155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8927" name="Rectangle 15"/>
          <p:cNvSpPr/>
          <p:nvPr/>
        </p:nvSpPr>
        <p:spPr>
          <a:xfrm>
            <a:off x="5559425" y="4752975"/>
            <a:ext cx="6937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101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8928" name="Rectangle 17"/>
          <p:cNvSpPr/>
          <p:nvPr/>
        </p:nvSpPr>
        <p:spPr>
          <a:xfrm>
            <a:off x="3267075" y="4600575"/>
            <a:ext cx="1009650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8929" name="Rectangle 18"/>
          <p:cNvSpPr/>
          <p:nvPr/>
        </p:nvSpPr>
        <p:spPr>
          <a:xfrm>
            <a:off x="4276725" y="4600575"/>
            <a:ext cx="1095375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" name="Group 19"/>
          <p:cNvGrpSpPr/>
          <p:nvPr/>
        </p:nvGrpSpPr>
        <p:grpSpPr>
          <a:xfrm>
            <a:off x="3267075" y="4595813"/>
            <a:ext cx="2087563" cy="708025"/>
            <a:chOff x="760" y="2895"/>
            <a:chExt cx="1272" cy="446"/>
          </a:xfrm>
        </p:grpSpPr>
        <p:sp>
          <p:nvSpPr>
            <p:cNvPr id="38931" name="Rectangle 20"/>
            <p:cNvSpPr/>
            <p:nvPr/>
          </p:nvSpPr>
          <p:spPr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 cap="flat" cmpd="sng">
              <a:solidFill>
                <a:srgbClr val="FF0033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12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8932" name="Rectangle 21"/>
            <p:cNvSpPr/>
            <p:nvPr/>
          </p:nvSpPr>
          <p:spPr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 cap="flat" cmpd="sng">
              <a:solidFill>
                <a:srgbClr val="FF0033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77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Traverse a collection of elements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Move from the front to the end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Put the largest value to the end using pair-wise comparisons and swapping</a:t>
            </a:r>
            <a:endParaRPr lang="en-US" altLang="zh-CN" sz="2400" dirty="0"/>
          </a:p>
        </p:txBody>
      </p:sp>
      <p:sp>
        <p:nvSpPr>
          <p:cNvPr id="39940" name="Rectangle 4"/>
          <p:cNvSpPr/>
          <p:nvPr/>
        </p:nvSpPr>
        <p:spPr>
          <a:xfrm>
            <a:off x="1211263" y="4592638"/>
            <a:ext cx="6518275" cy="715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9941" name="Line 5"/>
          <p:cNvSpPr/>
          <p:nvPr/>
        </p:nvSpPr>
        <p:spPr>
          <a:xfrm>
            <a:off x="2220913" y="4587875"/>
            <a:ext cx="0" cy="7127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2" name="Line 6"/>
          <p:cNvSpPr/>
          <p:nvPr/>
        </p:nvSpPr>
        <p:spPr>
          <a:xfrm>
            <a:off x="3238500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3" name="Line 7"/>
          <p:cNvSpPr/>
          <p:nvPr/>
        </p:nvSpPr>
        <p:spPr>
          <a:xfrm>
            <a:off x="4276725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4" name="Line 8"/>
          <p:cNvSpPr/>
          <p:nvPr/>
        </p:nvSpPr>
        <p:spPr>
          <a:xfrm>
            <a:off x="5386388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5" name="Line 9"/>
          <p:cNvSpPr/>
          <p:nvPr/>
        </p:nvSpPr>
        <p:spPr>
          <a:xfrm>
            <a:off x="6540500" y="4600575"/>
            <a:ext cx="0" cy="7000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6" name="Rectangle 10"/>
          <p:cNvSpPr/>
          <p:nvPr/>
        </p:nvSpPr>
        <p:spPr>
          <a:xfrm>
            <a:off x="6958013" y="4767263"/>
            <a:ext cx="354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9947" name="Rectangle 11"/>
          <p:cNvSpPr/>
          <p:nvPr/>
        </p:nvSpPr>
        <p:spPr>
          <a:xfrm>
            <a:off x="4516438" y="47545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77</a:t>
            </a:r>
            <a:endParaRPr lang="en-US" altLang="zh-CN" sz="2400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39948" name="Rectangle 12"/>
          <p:cNvSpPr/>
          <p:nvPr/>
        </p:nvSpPr>
        <p:spPr>
          <a:xfrm>
            <a:off x="343058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9949" name="Rectangle 13"/>
          <p:cNvSpPr/>
          <p:nvPr/>
        </p:nvSpPr>
        <p:spPr>
          <a:xfrm>
            <a:off x="234473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35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9950" name="Rectangle 14"/>
          <p:cNvSpPr/>
          <p:nvPr/>
        </p:nvSpPr>
        <p:spPr>
          <a:xfrm>
            <a:off x="1376363" y="478155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9951" name="Rectangle 15"/>
          <p:cNvSpPr/>
          <p:nvPr/>
        </p:nvSpPr>
        <p:spPr>
          <a:xfrm>
            <a:off x="5559425" y="4752975"/>
            <a:ext cx="6937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101</a:t>
            </a:r>
            <a:endParaRPr lang="en-US" altLang="zh-CN" sz="2400" b="1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39952" name="Rectangle 17"/>
          <p:cNvSpPr/>
          <p:nvPr/>
        </p:nvSpPr>
        <p:spPr>
          <a:xfrm>
            <a:off x="4291013" y="4587875"/>
            <a:ext cx="1081087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9953" name="Rectangle 18"/>
          <p:cNvSpPr/>
          <p:nvPr/>
        </p:nvSpPr>
        <p:spPr>
          <a:xfrm>
            <a:off x="5386388" y="4587875"/>
            <a:ext cx="1152525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9954" name="Text Box 19"/>
          <p:cNvSpPr txBox="1"/>
          <p:nvPr/>
        </p:nvSpPr>
        <p:spPr>
          <a:xfrm>
            <a:off x="4157663" y="5454650"/>
            <a:ext cx="26035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Arial" panose="020B0604020202020204" pitchFamily="34" charset="0"/>
              </a:rPr>
              <a:t>No need to swap</a:t>
            </a:r>
            <a:endParaRPr lang="en-US" altLang="zh-CN" sz="2400" b="1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Traverse a collection of elements</a:t>
            </a:r>
            <a:endParaRPr lang="en-US" altLang="zh-CN" dirty="0"/>
          </a:p>
          <a:p>
            <a:pPr lvl="1" eaLnBrk="1" hangingPunct="1"/>
            <a:r>
              <a:rPr lang="en-US" altLang="zh-CN" sz="2400" dirty="0"/>
              <a:t>Move from the front to the end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>
                <a:latin typeface="Arial" panose="020B0604020202020204" pitchFamily="34" charset="0"/>
              </a:rPr>
              <a:t>Put </a:t>
            </a:r>
            <a:r>
              <a:rPr lang="en-US" altLang="zh-CN" sz="2400" dirty="0"/>
              <a:t>the largest value to the end using pair-wise comparisons and swapping</a:t>
            </a:r>
            <a:endParaRPr lang="en-US" altLang="zh-CN" sz="2400" dirty="0"/>
          </a:p>
        </p:txBody>
      </p:sp>
      <p:sp>
        <p:nvSpPr>
          <p:cNvPr id="40964" name="Rectangle 4"/>
          <p:cNvSpPr/>
          <p:nvPr/>
        </p:nvSpPr>
        <p:spPr>
          <a:xfrm>
            <a:off x="1211263" y="4592638"/>
            <a:ext cx="6518275" cy="715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0965" name="Line 5"/>
          <p:cNvSpPr/>
          <p:nvPr/>
        </p:nvSpPr>
        <p:spPr>
          <a:xfrm>
            <a:off x="2220913" y="4587875"/>
            <a:ext cx="0" cy="7127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966" name="Line 6"/>
          <p:cNvSpPr/>
          <p:nvPr/>
        </p:nvSpPr>
        <p:spPr>
          <a:xfrm>
            <a:off x="3238500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967" name="Line 7"/>
          <p:cNvSpPr/>
          <p:nvPr/>
        </p:nvSpPr>
        <p:spPr>
          <a:xfrm>
            <a:off x="4276725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968" name="Line 8"/>
          <p:cNvSpPr/>
          <p:nvPr/>
        </p:nvSpPr>
        <p:spPr>
          <a:xfrm>
            <a:off x="5386388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969" name="Line 9"/>
          <p:cNvSpPr/>
          <p:nvPr/>
        </p:nvSpPr>
        <p:spPr>
          <a:xfrm>
            <a:off x="6540500" y="4600575"/>
            <a:ext cx="0" cy="7000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970" name="Rectangle 10"/>
          <p:cNvSpPr/>
          <p:nvPr/>
        </p:nvSpPr>
        <p:spPr>
          <a:xfrm>
            <a:off x="6958013" y="4767263"/>
            <a:ext cx="354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5</a:t>
            </a:r>
            <a:endParaRPr lang="en-US" altLang="zh-CN" sz="2400" b="1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40971" name="Rectangle 11"/>
          <p:cNvSpPr/>
          <p:nvPr/>
        </p:nvSpPr>
        <p:spPr>
          <a:xfrm>
            <a:off x="4516438" y="47545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77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0972" name="Rectangle 12"/>
          <p:cNvSpPr/>
          <p:nvPr/>
        </p:nvSpPr>
        <p:spPr>
          <a:xfrm>
            <a:off x="343058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0973" name="Rectangle 13"/>
          <p:cNvSpPr/>
          <p:nvPr/>
        </p:nvSpPr>
        <p:spPr>
          <a:xfrm>
            <a:off x="234473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35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0974" name="Rectangle 14"/>
          <p:cNvSpPr/>
          <p:nvPr/>
        </p:nvSpPr>
        <p:spPr>
          <a:xfrm>
            <a:off x="1376363" y="478155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0975" name="Rectangle 15"/>
          <p:cNvSpPr/>
          <p:nvPr/>
        </p:nvSpPr>
        <p:spPr>
          <a:xfrm>
            <a:off x="5559425" y="4752975"/>
            <a:ext cx="6937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rPr>
              <a:t>101</a:t>
            </a:r>
            <a:endParaRPr lang="en-US" altLang="zh-CN" sz="2400" b="1" dirty="0">
              <a:solidFill>
                <a:srgbClr val="FF0033"/>
              </a:solidFill>
              <a:latin typeface="Arial" panose="020B0604020202020204" pitchFamily="34" charset="0"/>
            </a:endParaRPr>
          </a:p>
        </p:txBody>
      </p:sp>
      <p:sp>
        <p:nvSpPr>
          <p:cNvPr id="40976" name="Rectangle 17"/>
          <p:cNvSpPr/>
          <p:nvPr/>
        </p:nvSpPr>
        <p:spPr>
          <a:xfrm>
            <a:off x="5400675" y="4584700"/>
            <a:ext cx="1139825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0977" name="Rectangle 18"/>
          <p:cNvSpPr/>
          <p:nvPr/>
        </p:nvSpPr>
        <p:spPr>
          <a:xfrm>
            <a:off x="6553200" y="4584700"/>
            <a:ext cx="1152525" cy="708025"/>
          </a:xfrm>
          <a:prstGeom prst="rect">
            <a:avLst/>
          </a:prstGeom>
          <a:noFill/>
          <a:ln w="76200" cap="flat" cmpd="sng">
            <a:solidFill>
              <a:srgbClr val="FF00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" name="Group 19"/>
          <p:cNvGrpSpPr/>
          <p:nvPr/>
        </p:nvGrpSpPr>
        <p:grpSpPr>
          <a:xfrm>
            <a:off x="5400675" y="4591050"/>
            <a:ext cx="2328863" cy="708025"/>
            <a:chOff x="760" y="2895"/>
            <a:chExt cx="1272" cy="446"/>
          </a:xfrm>
        </p:grpSpPr>
        <p:sp>
          <p:nvSpPr>
            <p:cNvPr id="40979" name="Rectangle 20"/>
            <p:cNvSpPr/>
            <p:nvPr/>
          </p:nvSpPr>
          <p:spPr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 cap="flat" cmpd="sng">
              <a:solidFill>
                <a:srgbClr val="FF0033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0980" name="Rectangle 21"/>
            <p:cNvSpPr/>
            <p:nvPr/>
          </p:nvSpPr>
          <p:spPr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 cap="flat" cmpd="sng">
              <a:solidFill>
                <a:srgbClr val="FF0033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101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Traverse a collection of elements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Move from the front to the end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Put the largest value to the end using pair-wise comparisons and swapping</a:t>
            </a:r>
            <a:endParaRPr lang="en-US" altLang="zh-CN" sz="2400" dirty="0"/>
          </a:p>
        </p:txBody>
      </p:sp>
      <p:sp>
        <p:nvSpPr>
          <p:cNvPr id="41988" name="Rectangle 4"/>
          <p:cNvSpPr/>
          <p:nvPr/>
        </p:nvSpPr>
        <p:spPr>
          <a:xfrm>
            <a:off x="1211263" y="4592638"/>
            <a:ext cx="6518275" cy="715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989" name="Line 5"/>
          <p:cNvSpPr/>
          <p:nvPr/>
        </p:nvSpPr>
        <p:spPr>
          <a:xfrm>
            <a:off x="2220913" y="4587875"/>
            <a:ext cx="0" cy="7127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990" name="Line 6"/>
          <p:cNvSpPr/>
          <p:nvPr/>
        </p:nvSpPr>
        <p:spPr>
          <a:xfrm>
            <a:off x="3238500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991" name="Line 7"/>
          <p:cNvSpPr/>
          <p:nvPr/>
        </p:nvSpPr>
        <p:spPr>
          <a:xfrm>
            <a:off x="4276725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992" name="Line 8"/>
          <p:cNvSpPr/>
          <p:nvPr/>
        </p:nvSpPr>
        <p:spPr>
          <a:xfrm>
            <a:off x="5386388" y="45878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993" name="Line 9"/>
          <p:cNvSpPr/>
          <p:nvPr/>
        </p:nvSpPr>
        <p:spPr>
          <a:xfrm>
            <a:off x="6540500" y="4600575"/>
            <a:ext cx="0" cy="7000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994" name="Rectangle 10"/>
          <p:cNvSpPr/>
          <p:nvPr/>
        </p:nvSpPr>
        <p:spPr>
          <a:xfrm>
            <a:off x="4516438" y="47545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77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1995" name="Rectangle 11"/>
          <p:cNvSpPr/>
          <p:nvPr/>
        </p:nvSpPr>
        <p:spPr>
          <a:xfrm>
            <a:off x="343058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1996" name="Rectangle 12"/>
          <p:cNvSpPr/>
          <p:nvPr/>
        </p:nvSpPr>
        <p:spPr>
          <a:xfrm>
            <a:off x="2344738" y="47672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35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1997" name="Rectangle 13"/>
          <p:cNvSpPr/>
          <p:nvPr/>
        </p:nvSpPr>
        <p:spPr>
          <a:xfrm>
            <a:off x="1376363" y="478155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1998" name="Rectangle 14"/>
          <p:cNvSpPr/>
          <p:nvPr/>
        </p:nvSpPr>
        <p:spPr>
          <a:xfrm>
            <a:off x="5559425" y="4752975"/>
            <a:ext cx="52228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41999" name="Rectangle 16"/>
          <p:cNvSpPr/>
          <p:nvPr/>
        </p:nvSpPr>
        <p:spPr>
          <a:xfrm>
            <a:off x="6553200" y="4584700"/>
            <a:ext cx="1152525" cy="708025"/>
          </a:xfrm>
          <a:prstGeom prst="rect">
            <a:avLst/>
          </a:prstGeom>
          <a:noFill/>
          <a:ln w="76200" cap="flat" cmpd="sng">
            <a:solidFill>
              <a:srgbClr val="3333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Arial" panose="020B0604020202020204" pitchFamily="34" charset="0"/>
              </a:rPr>
              <a:t>101</a:t>
            </a:r>
            <a:endParaRPr lang="en-US" altLang="zh-CN" sz="2400" b="1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2000" name="Text Box 17"/>
          <p:cNvSpPr txBox="1"/>
          <p:nvPr/>
        </p:nvSpPr>
        <p:spPr>
          <a:xfrm>
            <a:off x="1990725" y="5524500"/>
            <a:ext cx="45720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Arial" panose="020B0604020202020204" pitchFamily="34" charset="0"/>
              </a:rPr>
              <a:t>Largest value correctly placed</a:t>
            </a:r>
            <a:endParaRPr lang="en-US" altLang="zh-CN" sz="2400" b="1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Items of Interest</a:t>
            </a:r>
            <a:endParaRPr lang="en-US" altLang="zh-CN" dirty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900113" y="1952625"/>
            <a:ext cx="7267575" cy="350996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Notice that only the largest value is correctly placed</a:t>
            </a:r>
            <a:endParaRPr lang="en-US" altLang="zh-CN" sz="2800" dirty="0"/>
          </a:p>
          <a:p>
            <a:pPr eaLnBrk="1" hangingPunct="1"/>
            <a:r>
              <a:rPr lang="en-US" altLang="zh-CN" sz="2800" dirty="0">
                <a:solidFill>
                  <a:srgbClr val="3333FF"/>
                </a:solidFill>
              </a:rPr>
              <a:t>All other values are still out of order</a:t>
            </a:r>
            <a:endParaRPr lang="en-US" altLang="zh-CN" sz="2800" dirty="0">
              <a:solidFill>
                <a:srgbClr val="3333FF"/>
              </a:solidFill>
            </a:endParaRPr>
          </a:p>
          <a:p>
            <a:pPr eaLnBrk="1" hangingPunct="1"/>
            <a:r>
              <a:rPr lang="en-US" altLang="zh-CN" sz="2800" dirty="0"/>
              <a:t>Repeat this process </a:t>
            </a:r>
            <a:r>
              <a:rPr lang="en-US" altLang="zh-CN" sz="2800" dirty="0">
                <a:solidFill>
                  <a:srgbClr val="0000FF"/>
                </a:solidFill>
              </a:rPr>
              <a:t>N-1</a:t>
            </a:r>
            <a:r>
              <a:rPr lang="en-US" altLang="zh-CN" sz="2800" dirty="0"/>
              <a:t> times </a:t>
            </a:r>
            <a:r>
              <a:rPr lang="en-US" altLang="zh-CN" sz="2800" dirty="0">
                <a:solidFill>
                  <a:srgbClr val="FF0000"/>
                </a:solidFill>
              </a:rPr>
              <a:t>OR</a:t>
            </a:r>
            <a:r>
              <a:rPr lang="en-US" altLang="zh-CN" sz="2800" dirty="0"/>
              <a:t> stop when there is no swapping</a:t>
            </a:r>
            <a:endParaRPr lang="en-US" altLang="zh-CN" sz="2800" dirty="0"/>
          </a:p>
        </p:txBody>
      </p:sp>
      <p:sp>
        <p:nvSpPr>
          <p:cNvPr id="43012" name="Rectangle 4"/>
          <p:cNvSpPr/>
          <p:nvPr/>
        </p:nvSpPr>
        <p:spPr>
          <a:xfrm>
            <a:off x="1211263" y="4935538"/>
            <a:ext cx="6518275" cy="715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3013" name="Line 5"/>
          <p:cNvSpPr/>
          <p:nvPr/>
        </p:nvSpPr>
        <p:spPr>
          <a:xfrm>
            <a:off x="2220913" y="4930775"/>
            <a:ext cx="0" cy="7127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4" name="Line 6"/>
          <p:cNvSpPr/>
          <p:nvPr/>
        </p:nvSpPr>
        <p:spPr>
          <a:xfrm>
            <a:off x="3238500" y="49307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5" name="Line 7"/>
          <p:cNvSpPr/>
          <p:nvPr/>
        </p:nvSpPr>
        <p:spPr>
          <a:xfrm>
            <a:off x="4276725" y="49307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6" name="Line 8"/>
          <p:cNvSpPr/>
          <p:nvPr/>
        </p:nvSpPr>
        <p:spPr>
          <a:xfrm>
            <a:off x="5386388" y="4930775"/>
            <a:ext cx="0" cy="7254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7" name="Line 9"/>
          <p:cNvSpPr/>
          <p:nvPr/>
        </p:nvSpPr>
        <p:spPr>
          <a:xfrm>
            <a:off x="6540500" y="4943475"/>
            <a:ext cx="0" cy="7000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8" name="Rectangle 10"/>
          <p:cNvSpPr/>
          <p:nvPr/>
        </p:nvSpPr>
        <p:spPr>
          <a:xfrm>
            <a:off x="4516438" y="50974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77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3019" name="Rectangle 11"/>
          <p:cNvSpPr/>
          <p:nvPr/>
        </p:nvSpPr>
        <p:spPr>
          <a:xfrm>
            <a:off x="3430588" y="51101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3020" name="Rectangle 12"/>
          <p:cNvSpPr/>
          <p:nvPr/>
        </p:nvSpPr>
        <p:spPr>
          <a:xfrm>
            <a:off x="2344738" y="51101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35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3021" name="Rectangle 13"/>
          <p:cNvSpPr/>
          <p:nvPr/>
        </p:nvSpPr>
        <p:spPr>
          <a:xfrm>
            <a:off x="1376363" y="512445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42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3022" name="Rectangle 14"/>
          <p:cNvSpPr/>
          <p:nvPr/>
        </p:nvSpPr>
        <p:spPr>
          <a:xfrm>
            <a:off x="5559425" y="5095875"/>
            <a:ext cx="52228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43023" name="Rectangle 15"/>
          <p:cNvSpPr/>
          <p:nvPr/>
        </p:nvSpPr>
        <p:spPr>
          <a:xfrm>
            <a:off x="1524000" y="4475163"/>
            <a:ext cx="5746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1          2          3          4            5            6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3024" name="Rectangle 16"/>
          <p:cNvSpPr/>
          <p:nvPr/>
        </p:nvSpPr>
        <p:spPr>
          <a:xfrm>
            <a:off x="6553200" y="4927600"/>
            <a:ext cx="1152525" cy="708025"/>
          </a:xfrm>
          <a:prstGeom prst="rect">
            <a:avLst/>
          </a:prstGeom>
          <a:noFill/>
          <a:ln w="76200" cap="flat" cmpd="sng">
            <a:solidFill>
              <a:srgbClr val="3333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Arial" panose="020B0604020202020204" pitchFamily="34" charset="0"/>
              </a:rPr>
              <a:t>101</a:t>
            </a:r>
            <a:endParaRPr lang="en-US" altLang="zh-CN" sz="2400" b="1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43025" name="Text Box 17"/>
          <p:cNvSpPr txBox="1"/>
          <p:nvPr/>
        </p:nvSpPr>
        <p:spPr>
          <a:xfrm>
            <a:off x="1990725" y="5867400"/>
            <a:ext cx="45720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Arial" panose="020B0604020202020204" pitchFamily="34" charset="0"/>
              </a:rPr>
              <a:t>Largest value correctly placed</a:t>
            </a:r>
            <a:endParaRPr lang="en-US" altLang="zh-CN" sz="2400" b="1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3838" cy="9398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Bubbling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 All the Elements</a:t>
            </a:r>
            <a:endParaRPr lang="en-US" altLang="zh-CN" dirty="0"/>
          </a:p>
        </p:txBody>
      </p:sp>
      <p:grpSp>
        <p:nvGrpSpPr>
          <p:cNvPr id="44035" name="Group 3"/>
          <p:cNvGrpSpPr/>
          <p:nvPr/>
        </p:nvGrpSpPr>
        <p:grpSpPr>
          <a:xfrm>
            <a:off x="1501775" y="2171700"/>
            <a:ext cx="6518275" cy="882650"/>
            <a:chOff x="644" y="1072"/>
            <a:chExt cx="4106" cy="556"/>
          </a:xfrm>
        </p:grpSpPr>
        <p:sp>
          <p:nvSpPr>
            <p:cNvPr id="44110" name="Rectangle 4"/>
            <p:cNvSpPr/>
            <p:nvPr/>
          </p:nvSpPr>
          <p:spPr>
            <a:xfrm>
              <a:off x="644" y="1332"/>
              <a:ext cx="4106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4111" name="Line 5"/>
            <p:cNvSpPr/>
            <p:nvPr/>
          </p:nvSpPr>
          <p:spPr>
            <a:xfrm>
              <a:off x="1280" y="1330"/>
              <a:ext cx="0" cy="2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12" name="Line 6"/>
            <p:cNvSpPr/>
            <p:nvPr/>
          </p:nvSpPr>
          <p:spPr>
            <a:xfrm>
              <a:off x="1921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13" name="Line 7"/>
            <p:cNvSpPr/>
            <p:nvPr/>
          </p:nvSpPr>
          <p:spPr>
            <a:xfrm>
              <a:off x="2575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14" name="Line 8"/>
            <p:cNvSpPr/>
            <p:nvPr/>
          </p:nvSpPr>
          <p:spPr>
            <a:xfrm>
              <a:off x="3274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15" name="Line 9"/>
            <p:cNvSpPr/>
            <p:nvPr/>
          </p:nvSpPr>
          <p:spPr>
            <a:xfrm>
              <a:off x="4001" y="1335"/>
              <a:ext cx="0" cy="2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16" name="Rectangle 10"/>
            <p:cNvSpPr/>
            <p:nvPr/>
          </p:nvSpPr>
          <p:spPr>
            <a:xfrm>
              <a:off x="2726" y="1335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77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17" name="Rectangle 11"/>
            <p:cNvSpPr/>
            <p:nvPr/>
          </p:nvSpPr>
          <p:spPr>
            <a:xfrm>
              <a:off x="2042" y="134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18" name="Rectangle 12"/>
            <p:cNvSpPr/>
            <p:nvPr/>
          </p:nvSpPr>
          <p:spPr>
            <a:xfrm>
              <a:off x="1358" y="134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35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19" name="Rectangle 13"/>
            <p:cNvSpPr/>
            <p:nvPr/>
          </p:nvSpPr>
          <p:spPr>
            <a:xfrm>
              <a:off x="748" y="1337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42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20" name="Rectangle 14"/>
            <p:cNvSpPr/>
            <p:nvPr/>
          </p:nvSpPr>
          <p:spPr>
            <a:xfrm>
              <a:off x="3383" y="1335"/>
              <a:ext cx="3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 5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4121" name="Rectangle 15"/>
            <p:cNvSpPr/>
            <p:nvPr/>
          </p:nvSpPr>
          <p:spPr>
            <a:xfrm>
              <a:off x="841" y="1072"/>
              <a:ext cx="36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0            1          2          3          4            5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22" name="Rectangle 16"/>
            <p:cNvSpPr/>
            <p:nvPr/>
          </p:nvSpPr>
          <p:spPr>
            <a:xfrm>
              <a:off x="4132" y="1335"/>
              <a:ext cx="4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101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7"/>
          <p:cNvGrpSpPr/>
          <p:nvPr/>
        </p:nvGrpSpPr>
        <p:grpSpPr>
          <a:xfrm>
            <a:off x="1497013" y="3090863"/>
            <a:ext cx="6518275" cy="882650"/>
            <a:chOff x="641" y="1651"/>
            <a:chExt cx="4106" cy="556"/>
          </a:xfrm>
        </p:grpSpPr>
        <p:sp>
          <p:nvSpPr>
            <p:cNvPr id="44097" name="Rectangle 18"/>
            <p:cNvSpPr/>
            <p:nvPr/>
          </p:nvSpPr>
          <p:spPr>
            <a:xfrm>
              <a:off x="641" y="1911"/>
              <a:ext cx="4106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4098" name="Line 19"/>
            <p:cNvSpPr/>
            <p:nvPr/>
          </p:nvSpPr>
          <p:spPr>
            <a:xfrm>
              <a:off x="1277" y="1909"/>
              <a:ext cx="0" cy="2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99" name="Line 20"/>
            <p:cNvSpPr/>
            <p:nvPr/>
          </p:nvSpPr>
          <p:spPr>
            <a:xfrm>
              <a:off x="1918" y="190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00" name="Line 21"/>
            <p:cNvSpPr/>
            <p:nvPr/>
          </p:nvSpPr>
          <p:spPr>
            <a:xfrm>
              <a:off x="2572" y="190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01" name="Line 22"/>
            <p:cNvSpPr/>
            <p:nvPr/>
          </p:nvSpPr>
          <p:spPr>
            <a:xfrm>
              <a:off x="3271" y="190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02" name="Line 23"/>
            <p:cNvSpPr/>
            <p:nvPr/>
          </p:nvSpPr>
          <p:spPr>
            <a:xfrm>
              <a:off x="3998" y="1914"/>
              <a:ext cx="0" cy="2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103" name="Rectangle 24"/>
            <p:cNvSpPr/>
            <p:nvPr/>
          </p:nvSpPr>
          <p:spPr>
            <a:xfrm>
              <a:off x="2723" y="191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04" name="Rectangle 25"/>
            <p:cNvSpPr/>
            <p:nvPr/>
          </p:nvSpPr>
          <p:spPr>
            <a:xfrm>
              <a:off x="2039" y="1919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42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05" name="Rectangle 26"/>
            <p:cNvSpPr/>
            <p:nvPr/>
          </p:nvSpPr>
          <p:spPr>
            <a:xfrm>
              <a:off x="1355" y="1919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06" name="Rectangle 27"/>
            <p:cNvSpPr/>
            <p:nvPr/>
          </p:nvSpPr>
          <p:spPr>
            <a:xfrm>
              <a:off x="745" y="1916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35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07" name="Rectangle 28"/>
            <p:cNvSpPr/>
            <p:nvPr/>
          </p:nvSpPr>
          <p:spPr>
            <a:xfrm>
              <a:off x="3380" y="1914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77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108" name="Rectangle 29"/>
            <p:cNvSpPr/>
            <p:nvPr/>
          </p:nvSpPr>
          <p:spPr>
            <a:xfrm>
              <a:off x="838" y="1651"/>
              <a:ext cx="36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0            1          2          3          4            5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109" name="Rectangle 30"/>
            <p:cNvSpPr/>
            <p:nvPr/>
          </p:nvSpPr>
          <p:spPr>
            <a:xfrm>
              <a:off x="4129" y="1914"/>
              <a:ext cx="4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101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31"/>
          <p:cNvGrpSpPr/>
          <p:nvPr/>
        </p:nvGrpSpPr>
        <p:grpSpPr>
          <a:xfrm>
            <a:off x="1501775" y="4002088"/>
            <a:ext cx="6518275" cy="882650"/>
            <a:chOff x="644" y="2225"/>
            <a:chExt cx="4106" cy="556"/>
          </a:xfrm>
        </p:grpSpPr>
        <p:sp>
          <p:nvSpPr>
            <p:cNvPr id="44084" name="Rectangle 32"/>
            <p:cNvSpPr/>
            <p:nvPr/>
          </p:nvSpPr>
          <p:spPr>
            <a:xfrm>
              <a:off x="644" y="2485"/>
              <a:ext cx="4106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4085" name="Line 33"/>
            <p:cNvSpPr/>
            <p:nvPr/>
          </p:nvSpPr>
          <p:spPr>
            <a:xfrm>
              <a:off x="1280" y="2483"/>
              <a:ext cx="0" cy="2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86" name="Line 34"/>
            <p:cNvSpPr/>
            <p:nvPr/>
          </p:nvSpPr>
          <p:spPr>
            <a:xfrm>
              <a:off x="1921" y="2483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87" name="Line 35"/>
            <p:cNvSpPr/>
            <p:nvPr/>
          </p:nvSpPr>
          <p:spPr>
            <a:xfrm>
              <a:off x="2575" y="2483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88" name="Line 36"/>
            <p:cNvSpPr/>
            <p:nvPr/>
          </p:nvSpPr>
          <p:spPr>
            <a:xfrm>
              <a:off x="3274" y="2483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89" name="Line 37"/>
            <p:cNvSpPr/>
            <p:nvPr/>
          </p:nvSpPr>
          <p:spPr>
            <a:xfrm>
              <a:off x="4001" y="2488"/>
              <a:ext cx="0" cy="2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90" name="Rectangle 38"/>
            <p:cNvSpPr/>
            <p:nvPr/>
          </p:nvSpPr>
          <p:spPr>
            <a:xfrm>
              <a:off x="2726" y="2488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42</a:t>
              </a:r>
              <a:endParaRPr lang="en-US" altLang="zh-CN" sz="2400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91" name="Rectangle 39"/>
            <p:cNvSpPr/>
            <p:nvPr/>
          </p:nvSpPr>
          <p:spPr>
            <a:xfrm>
              <a:off x="2042" y="2493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92" name="Rectangle 40"/>
            <p:cNvSpPr/>
            <p:nvPr/>
          </p:nvSpPr>
          <p:spPr>
            <a:xfrm>
              <a:off x="1358" y="2493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35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93" name="Rectangle 41"/>
            <p:cNvSpPr/>
            <p:nvPr/>
          </p:nvSpPr>
          <p:spPr>
            <a:xfrm>
              <a:off x="748" y="249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94" name="Rectangle 42"/>
            <p:cNvSpPr/>
            <p:nvPr/>
          </p:nvSpPr>
          <p:spPr>
            <a:xfrm>
              <a:off x="3383" y="2488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77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95" name="Rectangle 43"/>
            <p:cNvSpPr/>
            <p:nvPr/>
          </p:nvSpPr>
          <p:spPr>
            <a:xfrm>
              <a:off x="841" y="2225"/>
              <a:ext cx="36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0            1          2          3          4            5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96" name="Rectangle 44"/>
            <p:cNvSpPr/>
            <p:nvPr/>
          </p:nvSpPr>
          <p:spPr>
            <a:xfrm>
              <a:off x="4132" y="2488"/>
              <a:ext cx="4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101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5"/>
          <p:cNvGrpSpPr/>
          <p:nvPr/>
        </p:nvGrpSpPr>
        <p:grpSpPr>
          <a:xfrm>
            <a:off x="1497013" y="4884738"/>
            <a:ext cx="6518275" cy="882650"/>
            <a:chOff x="641" y="2781"/>
            <a:chExt cx="4106" cy="556"/>
          </a:xfrm>
        </p:grpSpPr>
        <p:sp>
          <p:nvSpPr>
            <p:cNvPr id="44071" name="Rectangle 46"/>
            <p:cNvSpPr/>
            <p:nvPr/>
          </p:nvSpPr>
          <p:spPr>
            <a:xfrm>
              <a:off x="641" y="3041"/>
              <a:ext cx="4106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4072" name="Line 47"/>
            <p:cNvSpPr/>
            <p:nvPr/>
          </p:nvSpPr>
          <p:spPr>
            <a:xfrm>
              <a:off x="1277" y="3039"/>
              <a:ext cx="0" cy="2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73" name="Line 48"/>
            <p:cNvSpPr/>
            <p:nvPr/>
          </p:nvSpPr>
          <p:spPr>
            <a:xfrm>
              <a:off x="1918" y="303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74" name="Line 49"/>
            <p:cNvSpPr/>
            <p:nvPr/>
          </p:nvSpPr>
          <p:spPr>
            <a:xfrm>
              <a:off x="2572" y="303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75" name="Line 50"/>
            <p:cNvSpPr/>
            <p:nvPr/>
          </p:nvSpPr>
          <p:spPr>
            <a:xfrm>
              <a:off x="3271" y="303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76" name="Line 51"/>
            <p:cNvSpPr/>
            <p:nvPr/>
          </p:nvSpPr>
          <p:spPr>
            <a:xfrm>
              <a:off x="3998" y="3044"/>
              <a:ext cx="0" cy="2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77" name="Rectangle 52"/>
            <p:cNvSpPr/>
            <p:nvPr/>
          </p:nvSpPr>
          <p:spPr>
            <a:xfrm>
              <a:off x="2723" y="3044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42</a:t>
              </a:r>
              <a:endParaRPr lang="en-US" altLang="zh-CN" sz="2400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78" name="Rectangle 53"/>
            <p:cNvSpPr/>
            <p:nvPr/>
          </p:nvSpPr>
          <p:spPr>
            <a:xfrm>
              <a:off x="2039" y="3049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35</a:t>
              </a:r>
              <a:endParaRPr lang="en-US" altLang="zh-CN" sz="2400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79" name="Rectangle 54"/>
            <p:cNvSpPr/>
            <p:nvPr/>
          </p:nvSpPr>
          <p:spPr>
            <a:xfrm>
              <a:off x="1355" y="3049"/>
              <a:ext cx="3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 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80" name="Rectangle 55"/>
            <p:cNvSpPr/>
            <p:nvPr/>
          </p:nvSpPr>
          <p:spPr>
            <a:xfrm>
              <a:off x="745" y="3046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81" name="Rectangle 56"/>
            <p:cNvSpPr/>
            <p:nvPr/>
          </p:nvSpPr>
          <p:spPr>
            <a:xfrm>
              <a:off x="3380" y="3044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77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2" name="Rectangle 57"/>
            <p:cNvSpPr/>
            <p:nvPr/>
          </p:nvSpPr>
          <p:spPr>
            <a:xfrm>
              <a:off x="838" y="2781"/>
              <a:ext cx="37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0            1          2          3          4            5 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83" name="Rectangle 58"/>
            <p:cNvSpPr/>
            <p:nvPr/>
          </p:nvSpPr>
          <p:spPr>
            <a:xfrm>
              <a:off x="4129" y="3044"/>
              <a:ext cx="4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101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59"/>
          <p:cNvGrpSpPr/>
          <p:nvPr/>
        </p:nvGrpSpPr>
        <p:grpSpPr>
          <a:xfrm>
            <a:off x="1497013" y="5805488"/>
            <a:ext cx="6518275" cy="882650"/>
            <a:chOff x="641" y="3361"/>
            <a:chExt cx="4106" cy="556"/>
          </a:xfrm>
        </p:grpSpPr>
        <p:sp>
          <p:nvSpPr>
            <p:cNvPr id="44058" name="Rectangle 60"/>
            <p:cNvSpPr/>
            <p:nvPr/>
          </p:nvSpPr>
          <p:spPr>
            <a:xfrm>
              <a:off x="641" y="3621"/>
              <a:ext cx="4106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4059" name="Line 61"/>
            <p:cNvSpPr/>
            <p:nvPr/>
          </p:nvSpPr>
          <p:spPr>
            <a:xfrm>
              <a:off x="1277" y="3619"/>
              <a:ext cx="0" cy="2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60" name="Line 62"/>
            <p:cNvSpPr/>
            <p:nvPr/>
          </p:nvSpPr>
          <p:spPr>
            <a:xfrm>
              <a:off x="1918" y="361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61" name="Line 63"/>
            <p:cNvSpPr/>
            <p:nvPr/>
          </p:nvSpPr>
          <p:spPr>
            <a:xfrm>
              <a:off x="2572" y="361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62" name="Line 64"/>
            <p:cNvSpPr/>
            <p:nvPr/>
          </p:nvSpPr>
          <p:spPr>
            <a:xfrm>
              <a:off x="3271" y="3619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63" name="Line 65"/>
            <p:cNvSpPr/>
            <p:nvPr/>
          </p:nvSpPr>
          <p:spPr>
            <a:xfrm>
              <a:off x="3998" y="3624"/>
              <a:ext cx="0" cy="2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64" name="Rectangle 66"/>
            <p:cNvSpPr/>
            <p:nvPr/>
          </p:nvSpPr>
          <p:spPr>
            <a:xfrm>
              <a:off x="2723" y="3624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42</a:t>
              </a:r>
              <a:endParaRPr lang="en-US" altLang="zh-CN" sz="2400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65" name="Rectangle 67"/>
            <p:cNvSpPr/>
            <p:nvPr/>
          </p:nvSpPr>
          <p:spPr>
            <a:xfrm>
              <a:off x="2039" y="3629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35</a:t>
              </a:r>
              <a:endParaRPr lang="en-US" altLang="zh-CN" sz="2400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66" name="Rectangle 68"/>
            <p:cNvSpPr/>
            <p:nvPr/>
          </p:nvSpPr>
          <p:spPr>
            <a:xfrm>
              <a:off x="1355" y="3629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12</a:t>
              </a:r>
              <a:endParaRPr lang="en-US" altLang="zh-CN" sz="2400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67" name="Rectangle 69"/>
            <p:cNvSpPr/>
            <p:nvPr/>
          </p:nvSpPr>
          <p:spPr>
            <a:xfrm>
              <a:off x="745" y="362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3333FF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68" name="Rectangle 70"/>
            <p:cNvSpPr/>
            <p:nvPr/>
          </p:nvSpPr>
          <p:spPr>
            <a:xfrm>
              <a:off x="3380" y="3624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77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69" name="Rectangle 71"/>
            <p:cNvSpPr/>
            <p:nvPr/>
          </p:nvSpPr>
          <p:spPr>
            <a:xfrm>
              <a:off x="838" y="3361"/>
              <a:ext cx="36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0            1          2          3          4            5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70" name="Rectangle 72"/>
            <p:cNvSpPr/>
            <p:nvPr/>
          </p:nvSpPr>
          <p:spPr>
            <a:xfrm>
              <a:off x="4129" y="3624"/>
              <a:ext cx="4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0033"/>
                  </a:solidFill>
                  <a:latin typeface="Arial" panose="020B0604020202020204" pitchFamily="34" charset="0"/>
                </a:rPr>
                <a:t>101</a:t>
              </a:r>
              <a:endParaRPr lang="en-US" altLang="zh-CN" sz="2400" b="1" dirty="0">
                <a:solidFill>
                  <a:srgbClr val="FF003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4040" name="Text Box 76"/>
          <p:cNvSpPr txBox="1"/>
          <p:nvPr/>
        </p:nvSpPr>
        <p:spPr>
          <a:xfrm>
            <a:off x="152400" y="2587625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Pass 1: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1277" name="Text Box 77"/>
          <p:cNvSpPr txBox="1"/>
          <p:nvPr/>
        </p:nvSpPr>
        <p:spPr>
          <a:xfrm>
            <a:off x="152400" y="3502025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Pass 2: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1278" name="Text Box 78"/>
          <p:cNvSpPr txBox="1"/>
          <p:nvPr/>
        </p:nvSpPr>
        <p:spPr>
          <a:xfrm>
            <a:off x="152400" y="4416425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Pass 3: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1279" name="Text Box 79"/>
          <p:cNvSpPr txBox="1"/>
          <p:nvPr/>
        </p:nvSpPr>
        <p:spPr>
          <a:xfrm>
            <a:off x="152400" y="5330825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Pass 4: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1280" name="Text Box 80"/>
          <p:cNvSpPr txBox="1"/>
          <p:nvPr/>
        </p:nvSpPr>
        <p:spPr>
          <a:xfrm>
            <a:off x="152400" y="6245225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Pass 5: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grpSp>
        <p:nvGrpSpPr>
          <p:cNvPr id="44045" name="组合 6"/>
          <p:cNvGrpSpPr/>
          <p:nvPr/>
        </p:nvGrpSpPr>
        <p:grpSpPr>
          <a:xfrm>
            <a:off x="1479550" y="1316038"/>
            <a:ext cx="6518275" cy="627062"/>
            <a:chOff x="1907" y="1999"/>
            <a:chExt cx="10265" cy="1153"/>
          </a:xfrm>
        </p:grpSpPr>
        <p:sp>
          <p:nvSpPr>
            <p:cNvPr id="44046" name="Rectangle 4"/>
            <p:cNvSpPr/>
            <p:nvPr/>
          </p:nvSpPr>
          <p:spPr>
            <a:xfrm>
              <a:off x="1907" y="2007"/>
              <a:ext cx="10265" cy="1127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4047" name="Line 5"/>
            <p:cNvSpPr/>
            <p:nvPr/>
          </p:nvSpPr>
          <p:spPr>
            <a:xfrm>
              <a:off x="3497" y="1999"/>
              <a:ext cx="0" cy="112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48" name="Line 6"/>
            <p:cNvSpPr/>
            <p:nvPr/>
          </p:nvSpPr>
          <p:spPr>
            <a:xfrm>
              <a:off x="5100" y="1999"/>
              <a:ext cx="0" cy="114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49" name="Line 7"/>
            <p:cNvSpPr/>
            <p:nvPr/>
          </p:nvSpPr>
          <p:spPr>
            <a:xfrm>
              <a:off x="6735" y="1999"/>
              <a:ext cx="0" cy="114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50" name="Line 8"/>
            <p:cNvSpPr/>
            <p:nvPr/>
          </p:nvSpPr>
          <p:spPr>
            <a:xfrm>
              <a:off x="8482" y="1999"/>
              <a:ext cx="0" cy="114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51" name="Line 9"/>
            <p:cNvSpPr/>
            <p:nvPr/>
          </p:nvSpPr>
          <p:spPr>
            <a:xfrm>
              <a:off x="10300" y="2019"/>
              <a:ext cx="0" cy="110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052" name="Rectangle 10"/>
            <p:cNvSpPr/>
            <p:nvPr/>
          </p:nvSpPr>
          <p:spPr>
            <a:xfrm>
              <a:off x="10958" y="2282"/>
              <a:ext cx="557" cy="847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4053" name="Rectangle 11"/>
            <p:cNvSpPr/>
            <p:nvPr/>
          </p:nvSpPr>
          <p:spPr>
            <a:xfrm>
              <a:off x="7113" y="2262"/>
              <a:ext cx="825" cy="847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54" name="Rectangle 12"/>
            <p:cNvSpPr/>
            <p:nvPr/>
          </p:nvSpPr>
          <p:spPr>
            <a:xfrm>
              <a:off x="5403" y="2282"/>
              <a:ext cx="825" cy="847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35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55" name="Rectangle 13"/>
            <p:cNvSpPr/>
            <p:nvPr/>
          </p:nvSpPr>
          <p:spPr>
            <a:xfrm>
              <a:off x="3693" y="2282"/>
              <a:ext cx="825" cy="847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42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56" name="Rectangle 14"/>
            <p:cNvSpPr/>
            <p:nvPr/>
          </p:nvSpPr>
          <p:spPr>
            <a:xfrm>
              <a:off x="2168" y="2305"/>
              <a:ext cx="825" cy="847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77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057" name="Rectangle 15"/>
            <p:cNvSpPr/>
            <p:nvPr/>
          </p:nvSpPr>
          <p:spPr>
            <a:xfrm>
              <a:off x="8755" y="2260"/>
              <a:ext cx="1093" cy="847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101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7" grpId="0"/>
      <p:bldP spid="51278" grpId="0"/>
      <p:bldP spid="51279" grpId="0"/>
      <p:bldP spid="5128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5058" name="Rectangle 2"/>
          <p:cNvSpPr/>
          <p:nvPr/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void Bubble_Sort(Element A[], int N)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355600" lvl="1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{  int j ,k , </a:t>
            </a:r>
            <a:r>
              <a:rPr lang="en-US" altLang="zh-CN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flag</a:t>
            </a:r>
            <a:r>
              <a:rPr lang="en-US" altLang="zh-CN" sz="2400" b="1" dirty="0">
                <a:latin typeface="Comic Sans MS" panose="030F0702030302020204" pitchFamily="66" charset="0"/>
              </a:rPr>
              <a:t> ;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355600" lvl="1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400" b="1" dirty="0">
                <a:latin typeface="Comic Sans MS" panose="030F0702030302020204" pitchFamily="66" charset="0"/>
              </a:rPr>
              <a:t>   Element Tmp;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for (j=1; j&lt;N; j++)       /*  N-1 passes</a:t>
            </a:r>
            <a:r>
              <a:rPr lang="zh-CN" altLang="en-US" sz="2400" b="1" dirty="0">
                <a:latin typeface="Comic Sans MS" panose="030F0702030302020204" pitchFamily="66" charset="0"/>
              </a:rPr>
              <a:t>   *</a:t>
            </a:r>
            <a:r>
              <a:rPr lang="en-US" altLang="zh-CN" sz="2400" b="1" dirty="0">
                <a:latin typeface="Comic Sans MS" panose="030F0702030302020204" pitchFamily="66" charset="0"/>
              </a:rPr>
              <a:t>/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1079500" lvl="3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{</a:t>
            </a:r>
            <a:r>
              <a:rPr lang="en-US" altLang="zh-CN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flag=TRUE ;</a:t>
            </a:r>
            <a:endParaRPr lang="en-US" altLang="zh-CN" sz="2400" b="1" dirty="0">
              <a:solidFill>
                <a:srgbClr val="0000FF"/>
              </a:solidFill>
              <a:latin typeface="Comic Sans MS" panose="030F0702030302020204" pitchFamily="66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for (k=0; k&lt;N-j; k++)   /*one pass sorting</a:t>
            </a:r>
            <a:r>
              <a:rPr lang="zh-CN" altLang="en-US" sz="2400" b="1" dirty="0">
                <a:latin typeface="Comic Sans MS" panose="030F0702030302020204" pitchFamily="66" charset="0"/>
              </a:rPr>
              <a:t>*</a:t>
            </a:r>
            <a:r>
              <a:rPr lang="en-US" altLang="zh-CN" sz="2400" b="1" dirty="0">
                <a:latin typeface="Comic Sans MS" panose="030F0702030302020204" pitchFamily="66" charset="0"/>
              </a:rPr>
              <a:t>/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   if (A[k]&gt;A[K+1])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        {   </a:t>
            </a:r>
            <a:r>
              <a:rPr lang="en-US" altLang="zh-CN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flag=FALSE ;</a:t>
            </a:r>
            <a:r>
              <a:rPr lang="en-US" altLang="zh-CN" sz="2400" b="1" dirty="0">
                <a:latin typeface="Comic Sans MS" panose="030F0702030302020204" pitchFamily="66" charset="0"/>
              </a:rPr>
              <a:t> Tmp=A[k] ; 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            A[k]=A[k+1] ; 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            A[k+1]=Tmp ;  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         }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if  (flag==TRUE)  break ;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1079500" lvl="3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}</a:t>
            </a:r>
            <a:endParaRPr lang="en-US" altLang="zh-CN" sz="2400" b="1" dirty="0">
              <a:latin typeface="Comic Sans MS" panose="030F0702030302020204" pitchFamily="66" charset="0"/>
            </a:endParaRPr>
          </a:p>
          <a:p>
            <a:pPr marL="355600" lvl="1" indent="0"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latin typeface="Comic Sans MS" panose="030F0702030302020204" pitchFamily="66" charset="0"/>
              </a:rPr>
              <a:t>}</a:t>
            </a:r>
            <a:endParaRPr lang="en-US" altLang="zh-CN" sz="2400" b="1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Algorithm Analysis I</a:t>
            </a:r>
            <a:endParaRPr lang="en-US" altLang="zh-CN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b="1" dirty="0">
                <a:solidFill>
                  <a:schemeClr val="tx2"/>
                </a:solidFill>
              </a:rPr>
              <a:t>Best Case</a:t>
            </a:r>
            <a:r>
              <a:rPr lang="en-US" altLang="zh-CN" sz="2400" dirty="0">
                <a:solidFill>
                  <a:schemeClr val="tx2"/>
                </a:solidFill>
              </a:rPr>
              <a:t>:</a:t>
            </a:r>
            <a:r>
              <a:rPr lang="en-US" altLang="zh-CN" sz="2400" dirty="0"/>
              <a:t> keys are in right order already. 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lvl="1" eaLnBrk="1" hangingPunct="1"/>
            <a:r>
              <a:rPr lang="en-US" altLang="zh-CN" sz="2100" dirty="0"/>
              <a:t>Totally 1 passe</a:t>
            </a:r>
            <a:endParaRPr lang="en-US" altLang="zh-CN" sz="2100" dirty="0"/>
          </a:p>
          <a:p>
            <a:pPr lvl="1" eaLnBrk="1" hangingPunct="1"/>
            <a:endParaRPr lang="en-US" altLang="zh-CN" sz="2100" dirty="0"/>
          </a:p>
          <a:p>
            <a:pPr lvl="1" eaLnBrk="1" hangingPunct="1"/>
            <a:r>
              <a:rPr lang="en-US" altLang="zh-CN" sz="2100" dirty="0"/>
              <a:t>Total comparisons: n-1</a:t>
            </a:r>
            <a:endParaRPr lang="en-US" altLang="zh-CN" sz="2100" dirty="0"/>
          </a:p>
          <a:p>
            <a:pPr lvl="1" eaLnBrk="1" hangingPunct="1"/>
            <a:endParaRPr lang="en-US" altLang="zh-CN" sz="2100" dirty="0"/>
          </a:p>
          <a:p>
            <a:pPr lvl="1" eaLnBrk="1" hangingPunct="1">
              <a:buNone/>
            </a:pPr>
            <a:r>
              <a:rPr lang="en-US" altLang="zh-CN" sz="2100" dirty="0"/>
              <a:t>    Total movements: 0</a:t>
            </a:r>
            <a:endParaRPr lang="en-US" altLang="zh-CN" sz="2100" dirty="0"/>
          </a:p>
          <a:p>
            <a:pPr lvl="1" eaLnBrk="1" hangingPunct="1"/>
            <a:endParaRPr lang="en-US" altLang="zh-CN" sz="2100" dirty="0"/>
          </a:p>
          <a:p>
            <a:pPr lvl="1" eaLnBrk="1" hangingPunct="1"/>
            <a:r>
              <a:rPr lang="en-US" altLang="zh-CN" sz="2100" dirty="0"/>
              <a:t>Complexity of the best case is 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O(N)</a:t>
            </a:r>
            <a:endParaRPr lang="en-US" altLang="zh-CN" sz="2100" b="1" i="1" dirty="0">
              <a:latin typeface="Times New Roman" panose="02020603050405020304" pitchFamily="18" charset="0"/>
            </a:endParaRPr>
          </a:p>
        </p:txBody>
      </p:sp>
      <p:sp>
        <p:nvSpPr>
          <p:cNvPr id="16388" name="Rectangle 4"/>
          <p:cNvSpPr/>
          <p:nvPr/>
        </p:nvSpPr>
        <p:spPr>
          <a:xfrm>
            <a:off x="838200" y="4186238"/>
            <a:ext cx="1582738" cy="395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62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3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charRg st="130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50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483">
                                            <p:txEl>
                                              <p:charRg st="150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72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0668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Analysis II</a:t>
            </a:r>
            <a:endParaRPr lang="en-US" altLang="zh-CN" dirty="0"/>
          </a:p>
        </p:txBody>
      </p:sp>
      <p:sp>
        <p:nvSpPr>
          <p:cNvPr id="21507" name="Rectangle 3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7215188" cy="365760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en-US" altLang="zh-CN" sz="2400" b="1" dirty="0">
                <a:solidFill>
                  <a:srgbClr val="0000FF"/>
                </a:solidFill>
              </a:rPr>
              <a:t>Worst Case</a:t>
            </a:r>
            <a:r>
              <a:rPr lang="en-US" altLang="zh-CN" sz="2400" dirty="0"/>
              <a:t>: Keys are in reverse order</a:t>
            </a:r>
            <a:endParaRPr lang="en-US" altLang="zh-CN" sz="2400" dirty="0"/>
          </a:p>
          <a:p>
            <a:pPr eaLnBrk="1" hangingPunct="1">
              <a:buClrTx/>
              <a:buSzTx/>
              <a:buFontTx/>
            </a:pPr>
            <a:endParaRPr lang="en-US" altLang="zh-CN" sz="2400" dirty="0"/>
          </a:p>
          <a:p>
            <a:pPr lvl="1" eaLnBrk="1" hangingPunct="1">
              <a:buClrTx/>
              <a:buSzTx/>
              <a:buFontTx/>
            </a:pPr>
            <a:r>
              <a:rPr lang="en-US" altLang="zh-CN" sz="2100" dirty="0"/>
              <a:t>Totally </a:t>
            </a:r>
            <a:r>
              <a:rPr lang="en-US" altLang="zh-CN" sz="2100" i="1" dirty="0">
                <a:latin typeface="Times New Roman" panose="02020603050405020304" pitchFamily="18" charset="0"/>
              </a:rPr>
              <a:t>N-1</a:t>
            </a:r>
            <a:r>
              <a:rPr lang="en-US" altLang="zh-CN" sz="2100" dirty="0"/>
              <a:t> passes</a:t>
            </a:r>
            <a:r>
              <a:rPr lang="en-US" altLang="zh-CN" sz="1750" dirty="0"/>
              <a:t>, f</a:t>
            </a:r>
            <a:r>
              <a:rPr lang="en-US" altLang="zh-CN" sz="2100" dirty="0"/>
              <a:t>or </a:t>
            </a:r>
            <a:r>
              <a:rPr lang="en-US" altLang="zh-CN" sz="2100" i="1" dirty="0">
                <a:latin typeface="Times New Roman" panose="02020603050405020304" pitchFamily="18" charset="0"/>
              </a:rPr>
              <a:t>i</a:t>
            </a:r>
            <a:r>
              <a:rPr lang="en-US" altLang="zh-CN" sz="2100" i="1" baseline="30000" dirty="0">
                <a:latin typeface="Times New Roman" panose="02020603050405020304" pitchFamily="18" charset="0"/>
              </a:rPr>
              <a:t>th</a:t>
            </a:r>
            <a:r>
              <a:rPr lang="en-US" altLang="zh-CN" sz="2100" dirty="0"/>
              <a:t> pass, do </a:t>
            </a:r>
            <a:r>
              <a:rPr lang="en-US" altLang="zh-CN" sz="2100" i="1" dirty="0">
                <a:latin typeface="Times New Roman" panose="02020603050405020304" pitchFamily="18" charset="0"/>
                <a:sym typeface="+mn-ea"/>
              </a:rPr>
              <a:t>N-</a:t>
            </a:r>
            <a:r>
              <a:rPr lang="en-US" altLang="zh-CN" sz="2100" i="1" dirty="0">
                <a:latin typeface="Times New Roman" panose="02020603050405020304" pitchFamily="18" charset="0"/>
              </a:rPr>
              <a:t>i</a:t>
            </a:r>
            <a:r>
              <a:rPr lang="en-US" altLang="zh-CN" sz="2100" dirty="0"/>
              <a:t> comparisons,  </a:t>
            </a:r>
            <a:r>
              <a:rPr lang="en-US" altLang="zh-CN" sz="2100" i="1" dirty="0">
                <a:latin typeface="Times New Roman" panose="02020603050405020304" pitchFamily="18" charset="0"/>
                <a:sym typeface="+mn-ea"/>
              </a:rPr>
              <a:t>N-</a:t>
            </a:r>
            <a:r>
              <a:rPr lang="en-US" altLang="zh-CN" sz="2100" i="1" dirty="0">
                <a:latin typeface="Times New Roman" panose="02020603050405020304" pitchFamily="18" charset="0"/>
                <a:sym typeface="+mn-ea"/>
              </a:rPr>
              <a:t>i</a:t>
            </a:r>
            <a:r>
              <a:rPr lang="en-US" altLang="zh-CN" sz="2100" dirty="0">
                <a:sym typeface="+mn-ea"/>
              </a:rPr>
              <a:t> </a:t>
            </a:r>
            <a:r>
              <a:rPr lang="en-US" altLang="zh-CN" sz="2100" dirty="0"/>
              <a:t>swaps, where </a:t>
            </a:r>
            <a:r>
              <a:rPr lang="en-US" altLang="zh-CN" sz="2100" i="1" dirty="0">
                <a:latin typeface="Times New Roman" panose="02020603050405020304" pitchFamily="18" charset="0"/>
              </a:rPr>
              <a:t>i </a:t>
            </a:r>
            <a:r>
              <a:rPr lang="en-US" altLang="zh-CN" sz="2100" dirty="0"/>
              <a:t>runs from </a:t>
            </a:r>
            <a:r>
              <a:rPr lang="en-US" altLang="zh-CN" sz="2100" i="1" dirty="0">
                <a:latin typeface="Times New Roman" panose="02020603050405020304" pitchFamily="18" charset="0"/>
              </a:rPr>
              <a:t>1</a:t>
            </a:r>
            <a:r>
              <a:rPr lang="en-US" altLang="zh-CN" sz="2100" dirty="0"/>
              <a:t> to </a:t>
            </a:r>
            <a:r>
              <a:rPr lang="en-US" altLang="zh-CN" sz="2100" i="1" dirty="0">
                <a:latin typeface="Times New Roman" panose="02020603050405020304" pitchFamily="18" charset="0"/>
              </a:rPr>
              <a:t>N-1</a:t>
            </a:r>
            <a:r>
              <a:rPr lang="en-US" altLang="zh-CN" sz="2100" dirty="0"/>
              <a:t>.</a:t>
            </a:r>
            <a:endParaRPr lang="en-US" altLang="zh-CN" sz="2100" dirty="0"/>
          </a:p>
          <a:p>
            <a:pPr lvl="1" eaLnBrk="1" hangingPunct="1">
              <a:buClrTx/>
              <a:buSzTx/>
              <a:buFontTx/>
            </a:pPr>
            <a:endParaRPr lang="en-US" altLang="zh-CN" sz="2100" dirty="0"/>
          </a:p>
          <a:p>
            <a:pPr lvl="1" eaLnBrk="1" hangingPunct="1">
              <a:buClrTx/>
              <a:buSzTx/>
              <a:buFontTx/>
              <a:buNone/>
            </a:pPr>
            <a:endParaRPr lang="en-US" altLang="zh-CN" sz="2100" dirty="0"/>
          </a:p>
          <a:p>
            <a:pPr lvl="1" eaLnBrk="1" hangingPunct="1">
              <a:buClrTx/>
              <a:buSzTx/>
              <a:buFontTx/>
            </a:pPr>
            <a:r>
              <a:rPr lang="en-US" altLang="zh-CN" sz="2100" dirty="0"/>
              <a:t>Complexity of the best case is 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O(</a:t>
            </a:r>
            <a:r>
              <a:rPr lang="en-US" altLang="zh-CN" sz="245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50" b="1" i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)</a:t>
            </a:r>
            <a:endParaRPr lang="en-US" altLang="zh-CN" sz="2100" b="1" i="1" dirty="0">
              <a:latin typeface="Times New Roman" panose="02020603050405020304" pitchFamily="18" charset="0"/>
            </a:endParaRPr>
          </a:p>
          <a:p>
            <a:pPr lvl="1" eaLnBrk="1" hangingPunct="1">
              <a:buClrTx/>
              <a:buSzTx/>
              <a:buFontTx/>
            </a:pPr>
            <a:endParaRPr lang="en-US" altLang="zh-CN" sz="2100" b="1" i="1" dirty="0">
              <a:latin typeface="Times New Roman" panose="02020603050405020304" pitchFamily="18" charset="0"/>
            </a:endParaRPr>
          </a:p>
          <a:p>
            <a:pPr marL="0" lvl="1" indent="-342900" algn="l" eaLnBrk="1" hangingPunct="1"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FF"/>
                </a:solidFill>
                <a:cs typeface="+mn-cs"/>
              </a:rPr>
              <a:t>Avarage Case</a:t>
            </a:r>
            <a:r>
              <a:rPr lang="zh-CN" altLang="en-US" sz="2400" b="1" dirty="0">
                <a:solidFill>
                  <a:srgbClr val="0000FF"/>
                </a:solidFill>
                <a:cs typeface="+mn-cs"/>
              </a:rPr>
              <a:t>：</a:t>
            </a:r>
            <a:r>
              <a:rPr lang="en-US" altLang="zh-CN" sz="2400" dirty="0">
                <a:cs typeface="+mn-cs"/>
              </a:rPr>
              <a:t> O</a:t>
            </a:r>
            <a:r>
              <a:rPr lang="en-US" altLang="zh-CN" sz="2400" b="1" i="1" dirty="0">
                <a:latin typeface="Times New Roman" panose="02020603050405020304" pitchFamily="18" charset="0"/>
                <a:sym typeface="+mn-ea"/>
              </a:rPr>
              <a:t>(N</a:t>
            </a:r>
            <a:r>
              <a:rPr lang="en-US" altLang="zh-CN" sz="2400" b="1" i="1" baseline="30000" dirty="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sym typeface="+mn-ea"/>
              </a:rPr>
              <a:t>)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342900" lvl="1" indent="-342900" algn="l" eaLnBrk="1" hangingPunct="1">
              <a:buClrTx/>
              <a:buSzTx/>
              <a:buFontTx/>
              <a:buChar char="•"/>
            </a:pPr>
            <a:endParaRPr lang="en-US" altLang="zh-CN" sz="2400" dirty="0">
              <a:cs typeface="+mn-cs"/>
            </a:endParaRPr>
          </a:p>
          <a:p>
            <a:pPr eaLnBrk="1" hangingPunct="1">
              <a:buClrTx/>
              <a:buSzTx/>
              <a:buFontTx/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57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196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6082" name="Rectangle 10"/>
          <p:cNvSpPr/>
          <p:nvPr/>
        </p:nvSpPr>
        <p:spPr>
          <a:xfrm>
            <a:off x="685800" y="152400"/>
            <a:ext cx="6870700" cy="1219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Heap Sort</a:t>
            </a:r>
            <a:endParaRPr lang="en-US" altLang="zh-CN" sz="4400" dirty="0"/>
          </a:p>
        </p:txBody>
      </p:sp>
      <p:sp>
        <p:nvSpPr>
          <p:cNvPr id="46083" name="TextBox 1"/>
          <p:cNvSpPr txBox="1"/>
          <p:nvPr/>
        </p:nvSpPr>
        <p:spPr>
          <a:xfrm>
            <a:off x="650875" y="2438400"/>
            <a:ext cx="81534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/>
              <a:t>Algorithm 1 </a:t>
            </a:r>
            <a:r>
              <a:rPr lang="en-US" altLang="zh-CN" sz="2400" b="1" dirty="0">
                <a:solidFill>
                  <a:srgbClr val="FF0000"/>
                </a:solidFill>
              </a:rPr>
              <a:t>(Not good)</a:t>
            </a:r>
            <a:r>
              <a:rPr lang="en-US" altLang="zh-CN" sz="2400" b="1" dirty="0"/>
              <a:t>: </a:t>
            </a:r>
            <a:r>
              <a:rPr lang="en-US" altLang="zh-CN" sz="2400" b="1" dirty="0">
                <a:solidFill>
                  <a:srgbClr val="0000FF"/>
                </a:solidFill>
              </a:rPr>
              <a:t>Using MIN heap</a:t>
            </a:r>
            <a:r>
              <a:rPr lang="en-US" altLang="zh-CN" sz="2400" b="1" dirty="0"/>
              <a:t>, each step execute the operation delete-min, and save the deleted minimal elements in a new array one by one.  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6327" name="Rectangle 7"/>
          <p:cNvSpPr/>
          <p:nvPr/>
        </p:nvSpPr>
        <p:spPr>
          <a:xfrm>
            <a:off x="989013" y="5753100"/>
            <a:ext cx="3352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 = O 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log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56328" name="Text Box 8"/>
          <p:cNvSpPr txBox="1"/>
          <p:nvPr/>
        </p:nvSpPr>
        <p:spPr>
          <a:xfrm>
            <a:off x="414338" y="6067425"/>
            <a:ext cx="6858000" cy="8239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8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ym typeface="Wingdings" panose="05000000000000000000" pitchFamily="2" charset="2"/>
              </a:rPr>
              <a:t>The space requirement is doubled.</a:t>
            </a:r>
            <a:endParaRPr lang="en-US" altLang="zh-CN" sz="2400" b="1" dirty="0"/>
          </a:p>
        </p:txBody>
      </p:sp>
      <p:sp>
        <p:nvSpPr>
          <p:cNvPr id="47108" name="Rectangle 10"/>
          <p:cNvSpPr/>
          <p:nvPr/>
        </p:nvSpPr>
        <p:spPr>
          <a:xfrm>
            <a:off x="685800" y="152400"/>
            <a:ext cx="6870700" cy="1219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Heap Sort</a:t>
            </a:r>
            <a:endParaRPr lang="en-US" altLang="zh-CN" sz="4400" dirty="0"/>
          </a:p>
        </p:txBody>
      </p:sp>
      <p:sp>
        <p:nvSpPr>
          <p:cNvPr id="2" name="TextBox 1"/>
          <p:cNvSpPr txBox="1"/>
          <p:nvPr/>
        </p:nvSpPr>
        <p:spPr>
          <a:xfrm>
            <a:off x="268288" y="1403350"/>
            <a:ext cx="84947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Example: Sorting the following sequence with algorithm 1 </a:t>
            </a:r>
            <a:endParaRPr lang="zh-CN" altLang="en-US" sz="2400" dirty="0"/>
          </a:p>
        </p:txBody>
      </p:sp>
      <p:grpSp>
        <p:nvGrpSpPr>
          <p:cNvPr id="6" name="Group 3"/>
          <p:cNvGrpSpPr/>
          <p:nvPr/>
        </p:nvGrpSpPr>
        <p:grpSpPr>
          <a:xfrm>
            <a:off x="1177925" y="1981200"/>
            <a:ext cx="5864225" cy="839788"/>
            <a:chOff x="644" y="1018"/>
            <a:chExt cx="4517" cy="610"/>
          </a:xfrm>
        </p:grpSpPr>
        <p:sp>
          <p:nvSpPr>
            <p:cNvPr id="47115" name="Rectangle 4"/>
            <p:cNvSpPr/>
            <p:nvPr/>
          </p:nvSpPr>
          <p:spPr>
            <a:xfrm>
              <a:off x="644" y="1332"/>
              <a:ext cx="4106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7116" name="Line 5"/>
            <p:cNvSpPr/>
            <p:nvPr/>
          </p:nvSpPr>
          <p:spPr>
            <a:xfrm>
              <a:off x="1280" y="1330"/>
              <a:ext cx="0" cy="2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7117" name="Line 6"/>
            <p:cNvSpPr/>
            <p:nvPr/>
          </p:nvSpPr>
          <p:spPr>
            <a:xfrm>
              <a:off x="1921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7118" name="Line 7"/>
            <p:cNvSpPr/>
            <p:nvPr/>
          </p:nvSpPr>
          <p:spPr>
            <a:xfrm>
              <a:off x="2575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7119" name="Line 8"/>
            <p:cNvSpPr/>
            <p:nvPr/>
          </p:nvSpPr>
          <p:spPr>
            <a:xfrm>
              <a:off x="3274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7120" name="Line 9"/>
            <p:cNvSpPr/>
            <p:nvPr/>
          </p:nvSpPr>
          <p:spPr>
            <a:xfrm>
              <a:off x="4001" y="1335"/>
              <a:ext cx="0" cy="2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7121" name="Rectangle 10"/>
            <p:cNvSpPr/>
            <p:nvPr/>
          </p:nvSpPr>
          <p:spPr>
            <a:xfrm>
              <a:off x="2726" y="1335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77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7122" name="Rectangle 11"/>
            <p:cNvSpPr/>
            <p:nvPr/>
          </p:nvSpPr>
          <p:spPr>
            <a:xfrm>
              <a:off x="2042" y="134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7123" name="Rectangle 12"/>
            <p:cNvSpPr/>
            <p:nvPr/>
          </p:nvSpPr>
          <p:spPr>
            <a:xfrm>
              <a:off x="1358" y="134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35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7124" name="Rectangle 13"/>
            <p:cNvSpPr/>
            <p:nvPr/>
          </p:nvSpPr>
          <p:spPr>
            <a:xfrm>
              <a:off x="748" y="1337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42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7125" name="Rectangle 14"/>
            <p:cNvSpPr/>
            <p:nvPr/>
          </p:nvSpPr>
          <p:spPr>
            <a:xfrm>
              <a:off x="3383" y="1335"/>
              <a:ext cx="3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 5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7126" name="Rectangle 15"/>
            <p:cNvSpPr/>
            <p:nvPr/>
          </p:nvSpPr>
          <p:spPr>
            <a:xfrm>
              <a:off x="759" y="1018"/>
              <a:ext cx="440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1       2          3          4       5        6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7127" name="Rectangle 16"/>
            <p:cNvSpPr/>
            <p:nvPr/>
          </p:nvSpPr>
          <p:spPr>
            <a:xfrm>
              <a:off x="4132" y="1335"/>
              <a:ext cx="49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101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AutoShape 3"/>
          <p:cNvSpPr/>
          <p:nvPr/>
        </p:nvSpPr>
        <p:spPr>
          <a:xfrm>
            <a:off x="685800" y="3125788"/>
            <a:ext cx="7543800" cy="2551112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98000" tIns="118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Algorithm_1(</a:t>
            </a:r>
            <a:r>
              <a:rPr lang="en-US" altLang="zh-CN" sz="2000" b="1" dirty="0">
                <a:latin typeface="Arial" panose="020B0604020202020204" pitchFamily="34" charset="0"/>
                <a:sym typeface="宋体" panose="02010600030101010101" pitchFamily="2" charset="-122"/>
              </a:rPr>
              <a:t>ElementType A[ ],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宋体" panose="02010600030101010101" pitchFamily="2" charset="-122"/>
              </a:rPr>
              <a:t> N )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{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BuildHeap( H );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for </a:t>
            </a:r>
            <a:r>
              <a:rPr lang="en-US" altLang="zh-CN" sz="2000" b="1" dirty="0">
                <a:latin typeface="Arial" panose="020B0604020202020204" pitchFamily="34" charset="0"/>
              </a:rPr>
              <a:t>( i=0; i&lt;N; i++ )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	TmpH[ i ] = DeleteMin( H );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  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2000" b="1" dirty="0">
                <a:latin typeface="Arial" panose="020B0604020202020204" pitchFamily="34" charset="0"/>
              </a:rPr>
              <a:t> ( i=0; i&lt;N; i++ )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	H[ i ] = TmpH[ i ];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4" name="Text Box 4"/>
          <p:cNvSpPr txBox="1"/>
          <p:nvPr/>
        </p:nvSpPr>
        <p:spPr>
          <a:xfrm>
            <a:off x="3201988" y="3797300"/>
            <a:ext cx="16002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9900"/>
                </a:solidFill>
                <a:latin typeface="Arial" panose="020B0604020202020204" pitchFamily="34" charset="0"/>
              </a:rPr>
              <a:t>/* O( </a:t>
            </a:r>
            <a:r>
              <a:rPr lang="en-US" altLang="zh-CN" sz="2000" b="1" i="1" dirty="0">
                <a:solidFill>
                  <a:srgbClr val="009900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09900"/>
                </a:solidFill>
                <a:latin typeface="Arial" panose="020B0604020202020204" pitchFamily="34" charset="0"/>
              </a:rPr>
              <a:t> ) */</a:t>
            </a:r>
            <a:endParaRPr lang="en-US" altLang="zh-CN" sz="20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5"/>
          <p:cNvSpPr txBox="1"/>
          <p:nvPr/>
        </p:nvSpPr>
        <p:spPr>
          <a:xfrm>
            <a:off x="5183188" y="4443413"/>
            <a:ext cx="21336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9900"/>
                </a:solidFill>
                <a:latin typeface="Arial" panose="020B0604020202020204" pitchFamily="34" charset="0"/>
              </a:rPr>
              <a:t>/* O( log </a:t>
            </a:r>
            <a:r>
              <a:rPr lang="en-US" altLang="zh-CN" sz="2000" b="1" i="1" dirty="0">
                <a:solidFill>
                  <a:srgbClr val="009900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09900"/>
                </a:solidFill>
                <a:latin typeface="Arial" panose="020B0604020202020204" pitchFamily="34" charset="0"/>
              </a:rPr>
              <a:t> ) */</a:t>
            </a:r>
            <a:endParaRPr lang="en-US" altLang="zh-CN" sz="20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76688" y="5068888"/>
            <a:ext cx="16002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9900"/>
                </a:solidFill>
                <a:latin typeface="Arial" panose="020B0604020202020204" pitchFamily="34" charset="0"/>
              </a:rPr>
              <a:t>/* O( 1 ) */</a:t>
            </a:r>
            <a:endParaRPr lang="en-US" altLang="zh-CN" sz="2000" b="1" dirty="0">
              <a:solidFill>
                <a:srgbClr val="0099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7" grpId="0"/>
      <p:bldP spid="56328" grpId="0"/>
      <p:bldP spid="2" grpId="0"/>
      <p:bldP spid="3" grpId="0" bldLvl="0" animBg="1"/>
      <p:bldP spid="4" grpId="0"/>
      <p:bldP spid="5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8400" name="AutoShape 32"/>
          <p:cNvSpPr/>
          <p:nvPr/>
        </p:nvSpPr>
        <p:spPr>
          <a:xfrm>
            <a:off x="1806575" y="1811338"/>
            <a:ext cx="5105400" cy="297180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90000" tIns="118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800" b="1" dirty="0">
                <a:latin typeface="Arial" panose="020B0604020202020204" pitchFamily="34" charset="0"/>
              </a:rPr>
              <a:t> Heapsort( ElementType A[ ],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N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i;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</a:rPr>
              <a:t> ( i = N / 2; i &gt;= 0; i - - )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BuildHeap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PercDown( A, i, N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</a:rPr>
              <a:t> ( i = N - 1; i &gt; 0; i - - ) 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Swap( &amp;A[ 0 ], &amp;A[ i ] ); </a:t>
            </a: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DeleteMax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PercDown( A, 0, i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48131" name="TextBox 1"/>
          <p:cNvSpPr txBox="1"/>
          <p:nvPr/>
        </p:nvSpPr>
        <p:spPr>
          <a:xfrm>
            <a:off x="382588" y="304800"/>
            <a:ext cx="81534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/>
              <a:t>Algorithm 2: </a:t>
            </a:r>
            <a:r>
              <a:rPr lang="en-US" altLang="zh-CN" sz="2400" b="1" dirty="0">
                <a:solidFill>
                  <a:srgbClr val="FF0000"/>
                </a:solidFill>
              </a:rPr>
              <a:t>Using MAX heap</a:t>
            </a:r>
            <a:r>
              <a:rPr lang="en-US" altLang="zh-CN" sz="2400" b="1" dirty="0"/>
              <a:t>, each step execute the operation delete-max , and save the deleted max element in the last position of the current heap.  </a:t>
            </a:r>
            <a:endParaRPr lang="zh-CN" altLang="en-US" sz="2400" b="1" dirty="0"/>
          </a:p>
        </p:txBody>
      </p:sp>
      <p:sp>
        <p:nvSpPr>
          <p:cNvPr id="3" name="TextBox 1"/>
          <p:cNvSpPr txBox="1"/>
          <p:nvPr/>
        </p:nvSpPr>
        <p:spPr>
          <a:xfrm>
            <a:off x="268288" y="5181600"/>
            <a:ext cx="84947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Example: Sorting the following sequence with heap sort: </a:t>
            </a:r>
            <a:endParaRPr lang="zh-CN" altLang="en-US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1177925" y="5759450"/>
            <a:ext cx="5864225" cy="839788"/>
            <a:chOff x="644" y="1018"/>
            <a:chExt cx="4517" cy="610"/>
          </a:xfrm>
        </p:grpSpPr>
        <p:sp>
          <p:nvSpPr>
            <p:cNvPr id="48134" name="Rectangle 4"/>
            <p:cNvSpPr/>
            <p:nvPr/>
          </p:nvSpPr>
          <p:spPr>
            <a:xfrm>
              <a:off x="644" y="1332"/>
              <a:ext cx="4106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8135" name="Line 5"/>
            <p:cNvSpPr/>
            <p:nvPr/>
          </p:nvSpPr>
          <p:spPr>
            <a:xfrm>
              <a:off x="1280" y="1330"/>
              <a:ext cx="0" cy="2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136" name="Line 6"/>
            <p:cNvSpPr/>
            <p:nvPr/>
          </p:nvSpPr>
          <p:spPr>
            <a:xfrm>
              <a:off x="1921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137" name="Line 7"/>
            <p:cNvSpPr/>
            <p:nvPr/>
          </p:nvSpPr>
          <p:spPr>
            <a:xfrm>
              <a:off x="2575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138" name="Line 8"/>
            <p:cNvSpPr/>
            <p:nvPr/>
          </p:nvSpPr>
          <p:spPr>
            <a:xfrm>
              <a:off x="3274" y="1330"/>
              <a:ext cx="0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139" name="Line 9"/>
            <p:cNvSpPr/>
            <p:nvPr/>
          </p:nvSpPr>
          <p:spPr>
            <a:xfrm>
              <a:off x="4001" y="1335"/>
              <a:ext cx="0" cy="2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140" name="Rectangle 10"/>
            <p:cNvSpPr/>
            <p:nvPr/>
          </p:nvSpPr>
          <p:spPr>
            <a:xfrm>
              <a:off x="2726" y="1335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77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8141" name="Rectangle 11"/>
            <p:cNvSpPr/>
            <p:nvPr/>
          </p:nvSpPr>
          <p:spPr>
            <a:xfrm>
              <a:off x="2042" y="134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8142" name="Rectangle 12"/>
            <p:cNvSpPr/>
            <p:nvPr/>
          </p:nvSpPr>
          <p:spPr>
            <a:xfrm>
              <a:off x="1358" y="134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35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8143" name="Rectangle 13"/>
            <p:cNvSpPr/>
            <p:nvPr/>
          </p:nvSpPr>
          <p:spPr>
            <a:xfrm>
              <a:off x="748" y="1337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42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8144" name="Rectangle 14"/>
            <p:cNvSpPr/>
            <p:nvPr/>
          </p:nvSpPr>
          <p:spPr>
            <a:xfrm>
              <a:off x="3383" y="1335"/>
              <a:ext cx="3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 5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8145" name="Rectangle 15"/>
            <p:cNvSpPr/>
            <p:nvPr/>
          </p:nvSpPr>
          <p:spPr>
            <a:xfrm>
              <a:off x="759" y="1018"/>
              <a:ext cx="440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1       2          3          4       5        6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8146" name="Rectangle 16"/>
            <p:cNvSpPr/>
            <p:nvPr/>
          </p:nvSpPr>
          <p:spPr>
            <a:xfrm>
              <a:off x="4132" y="1335"/>
              <a:ext cx="49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101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00" grpId="0" bldLvl="0" animBg="1"/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Text Box 34"/>
          <p:cNvSpPr txBox="1"/>
          <p:nvPr/>
        </p:nvSpPr>
        <p:spPr>
          <a:xfrm>
            <a:off x="266700" y="1371600"/>
            <a:ext cx="76581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【Theorem】</a:t>
            </a:r>
            <a:r>
              <a:rPr lang="en-US" altLang="zh-CN" sz="2400" b="1" dirty="0">
                <a:sym typeface="Wingdings" panose="05000000000000000000" pitchFamily="2" charset="2"/>
              </a:rPr>
              <a:t>The average number of comparisons used to heapsort a random permutation of </a:t>
            </a:r>
            <a:r>
              <a:rPr lang="en-US" altLang="zh-CN" sz="2400" b="1" i="1" dirty="0"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ym typeface="Wingdings" panose="05000000000000000000" pitchFamily="2" charset="2"/>
              </a:rPr>
              <a:t> distinct items is    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           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2</a:t>
            </a:r>
            <a:r>
              <a:rPr lang="en-US" altLang="zh-CN" sz="2400" b="1" i="1" dirty="0">
                <a:solidFill>
                  <a:schemeClr val="hlink"/>
                </a:solidFill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 log </a:t>
            </a:r>
            <a:r>
              <a:rPr lang="en-US" altLang="zh-CN" sz="2400" b="1" i="1" dirty="0">
                <a:solidFill>
                  <a:schemeClr val="hlink"/>
                </a:solidFill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 O(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solidFill>
                  <a:schemeClr val="hlink"/>
                </a:solidFill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 log log </a:t>
            </a:r>
            <a:r>
              <a:rPr lang="en-US" altLang="zh-CN" sz="2400" b="1" i="1" dirty="0">
                <a:solidFill>
                  <a:schemeClr val="hlink"/>
                </a:solidFill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 .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3" name="AutoShape 35" descr="再生纸"/>
          <p:cNvSpPr/>
          <p:nvPr/>
        </p:nvSpPr>
        <p:spPr>
          <a:xfrm>
            <a:off x="457200" y="3429000"/>
            <a:ext cx="7467600" cy="12192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662305" lvl="0" indent="-662305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</a:rPr>
              <a:t>Note:</a:t>
            </a:r>
            <a:r>
              <a:rPr lang="en-US" altLang="zh-CN" sz="2000" b="1" dirty="0"/>
              <a:t>  Although Heapsort gives the </a:t>
            </a:r>
            <a:r>
              <a:rPr lang="en-US" altLang="zh-CN" sz="2000" b="1" dirty="0">
                <a:solidFill>
                  <a:schemeClr val="hlink"/>
                </a:solidFill>
              </a:rPr>
              <a:t>best average time</a:t>
            </a:r>
            <a:r>
              <a:rPr lang="en-US" altLang="zh-CN" sz="2000" b="1" dirty="0"/>
              <a:t>, in practice it is slower than a version of Shellsort that uses Sedgewick’s increment sequence.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Algorithm Analysis </a:t>
            </a:r>
            <a:endParaRPr lang="en-US" altLang="zh-CN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Build a heap O(N),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One heapify time O(logN), totally N-1 times heapify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Complexity is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O(nlogn)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20" name="Rectangle 4"/>
          <p:cNvSpPr/>
          <p:nvPr/>
        </p:nvSpPr>
        <p:spPr>
          <a:xfrm>
            <a:off x="838200" y="4186238"/>
            <a:ext cx="1582738" cy="395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12004</Words>
  <Application>WPS 演示</Application>
  <PresentationFormat>全屏显示(4:3)</PresentationFormat>
  <Paragraphs>1205</Paragraphs>
  <Slides>46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46</vt:i4>
      </vt:variant>
    </vt:vector>
  </HeadingPairs>
  <TitlesOfParts>
    <vt:vector size="66" baseType="lpstr">
      <vt:lpstr>Arial</vt:lpstr>
      <vt:lpstr>宋体</vt:lpstr>
      <vt:lpstr>Wingdings</vt:lpstr>
      <vt:lpstr>Comic Sans MS</vt:lpstr>
      <vt:lpstr>Times New Roman</vt:lpstr>
      <vt:lpstr>Webdings</vt:lpstr>
      <vt:lpstr>Book Antiqua</vt:lpstr>
      <vt:lpstr>微软雅黑</vt:lpstr>
      <vt:lpstr>Arial Unicode MS</vt:lpstr>
      <vt:lpstr>MS Hei</vt:lpstr>
      <vt:lpstr>Symbol</vt:lpstr>
      <vt:lpstr>Trebuchet MS</vt:lpstr>
      <vt:lpstr>Impact</vt:lpstr>
      <vt:lpstr>Arial Unicode MS</vt:lpstr>
      <vt:lpstr>Crayons</vt:lpstr>
      <vt:lpstr>1_Crayons</vt:lpstr>
      <vt:lpstr>Word.Document.8</vt:lpstr>
      <vt:lpstr>Word.Document.8</vt:lpstr>
      <vt:lpstr>Word.Document.8</vt:lpstr>
      <vt:lpstr>Equation.3</vt:lpstr>
      <vt:lpstr>Ch. 6 Sorting</vt:lpstr>
      <vt:lpstr>Sorting（排序）</vt:lpstr>
      <vt:lpstr>PowerPoint 演示文稿</vt:lpstr>
      <vt:lpstr>Insertion Sort</vt:lpstr>
      <vt:lpstr>Insertion Sort II</vt:lpstr>
      <vt:lpstr>Insertion Sort III</vt:lpstr>
      <vt:lpstr>Insertion Sort Example</vt:lpstr>
      <vt:lpstr>The First Pass</vt:lpstr>
      <vt:lpstr>The Second Pass</vt:lpstr>
      <vt:lpstr>The Third Pass</vt:lpstr>
      <vt:lpstr>PowerPoint 演示文稿</vt:lpstr>
      <vt:lpstr>PowerPoint 演示文稿</vt:lpstr>
      <vt:lpstr>Algorithm Analysis I</vt:lpstr>
      <vt:lpstr>Analysis II</vt:lpstr>
      <vt:lpstr>PowerPoint 演示文稿</vt:lpstr>
      <vt:lpstr>PowerPoint 演示文稿</vt:lpstr>
      <vt:lpstr>The idea of shell sort</vt:lpstr>
      <vt:lpstr>Sorting nonconsecutive subarrays</vt:lpstr>
      <vt:lpstr>PowerPoint 演示文稿</vt:lpstr>
      <vt:lpstr>PowerPoint 演示文稿</vt:lpstr>
      <vt:lpstr>PowerPoint 演示文稿</vt:lpstr>
      <vt:lpstr>Diminishing gaps</vt:lpstr>
      <vt:lpstr>PowerPoint 演示文稿</vt:lpstr>
      <vt:lpstr>PowerPoint 演示文稿</vt:lpstr>
      <vt:lpstr>PowerPoint 演示文稿</vt:lpstr>
      <vt:lpstr>Selection Sort</vt:lpstr>
      <vt:lpstr>Selection Sort</vt:lpstr>
      <vt:lpstr>Selection Sort</vt:lpstr>
      <vt:lpstr>Algorithm Analysis </vt:lpstr>
      <vt:lpstr>Bubble Sort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Items of Interest</vt:lpstr>
      <vt:lpstr>“Bubbling” All the Elements</vt:lpstr>
      <vt:lpstr>PowerPoint 演示文稿</vt:lpstr>
      <vt:lpstr>Algorithm Analysis I</vt:lpstr>
      <vt:lpstr>Analysis II</vt:lpstr>
      <vt:lpstr>PowerPoint 演示文稿</vt:lpstr>
      <vt:lpstr>PowerPoint 演示文稿</vt:lpstr>
      <vt:lpstr>PowerPoint 演示文稿</vt:lpstr>
      <vt:lpstr>PowerPoint 演示文稿</vt:lpstr>
      <vt:lpstr>Algorithm Analysis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Yan</cp:lastModifiedBy>
  <cp:revision>66</cp:revision>
  <dcterms:created xsi:type="dcterms:W3CDTF">2018-11-07T13:11:00Z</dcterms:created>
  <dcterms:modified xsi:type="dcterms:W3CDTF">2025-12-01T03:42:19Z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2052-12.1.0.24034</vt:lpwstr>
  </property>
  <property fmtid="{D5CDD505-2E9C-101B-9397-08002B2CF9AE}" pid="4" name="ICV">
    <vt:lpwstr>F75E032DA9E744DCB52934376E609340_12</vt:lpwstr>
  </property>
</Properties>
</file>