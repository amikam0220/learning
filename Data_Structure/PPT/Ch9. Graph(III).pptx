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9" r:id="rId5"/>
    <p:sldId id="258" r:id="rId6"/>
    <p:sldId id="259" r:id="rId7"/>
    <p:sldId id="260" r:id="rId8"/>
    <p:sldId id="280" r:id="rId9"/>
    <p:sldId id="270" r:id="rId10"/>
    <p:sldId id="273" r:id="rId11"/>
    <p:sldId id="300" r:id="rId12"/>
    <p:sldId id="271" r:id="rId13"/>
    <p:sldId id="262" r:id="rId14"/>
    <p:sldId id="263" r:id="rId15"/>
    <p:sldId id="281" r:id="rId16"/>
    <p:sldId id="282" r:id="rId17"/>
    <p:sldId id="283" r:id="rId18"/>
    <p:sldId id="284" r:id="rId19"/>
    <p:sldId id="301" r:id="rId20"/>
    <p:sldId id="286" r:id="rId21"/>
    <p:sldId id="285" r:id="rId22"/>
    <p:sldId id="289" r:id="rId2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83" d="100"/>
          <a:sy n="83" d="100"/>
        </p:scale>
        <p:origin x="1450" y="62"/>
      </p:cViewPr>
      <p:guideLst>
        <p:guide orient="horz" pos="213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2"/>
          <p:cNvSpPr/>
          <p:nvPr/>
        </p:nvSpPr>
        <p:spPr>
          <a:xfrm>
            <a:off x="20638" y="12700"/>
            <a:ext cx="8896350" cy="6780213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2051" name="Group 8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2069" name="Freeform 9"/>
            <p:cNvSpPr/>
            <p:nvPr userDrawn="1"/>
          </p:nvSpPr>
          <p:spPr>
            <a:xfrm>
              <a:off x="177" y="177"/>
              <a:ext cx="2250" cy="1017"/>
            </a:xfrm>
            <a:custGeom>
              <a:avLst/>
              <a:gdLst/>
              <a:ahLst/>
              <a:cxnLst>
                <a:cxn ang="0">
                  <a:pos x="3301552" y="523657"/>
                </a:cxn>
                <a:cxn ang="0">
                  <a:pos x="2952570" y="421696"/>
                </a:cxn>
                <a:cxn ang="0">
                  <a:pos x="2312637" y="278643"/>
                </a:cxn>
                <a:cxn ang="0">
                  <a:pos x="295141" y="0"/>
                </a:cxn>
                <a:cxn ang="0">
                  <a:pos x="95189" y="26400"/>
                </a:cxn>
                <a:cxn ang="0">
                  <a:pos x="0" y="110131"/>
                </a:cxn>
                <a:cxn ang="0">
                  <a:pos x="116003" y="205667"/>
                </a:cxn>
                <a:cxn ang="0">
                  <a:pos x="2370029" y="542555"/>
                </a:cxn>
                <a:cxn ang="0">
                  <a:pos x="2863890" y="520982"/>
                </a:cxn>
                <a:cxn ang="0">
                  <a:pos x="3263183" y="548885"/>
                </a:cxn>
                <a:cxn ang="0">
                  <a:pos x="3301552" y="523657"/>
                </a:cxn>
              </a:cxnLst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Freeform 10"/>
            <p:cNvSpPr/>
            <p:nvPr userDrawn="1"/>
          </p:nvSpPr>
          <p:spPr>
            <a:xfrm>
              <a:off x="166" y="261"/>
              <a:ext cx="2244" cy="1007"/>
            </a:xfrm>
            <a:custGeom>
              <a:avLst/>
              <a:gdLst/>
              <a:ahLst/>
              <a:cxnLst>
                <a:cxn ang="0">
                  <a:pos x="2200" y="0"/>
                </a:cxn>
                <a:cxn ang="0">
                  <a:pos x="21375" y="2658"/>
                </a:cxn>
                <a:cxn ang="0">
                  <a:pos x="22931" y="3268"/>
                </a:cxn>
                <a:cxn ang="0">
                  <a:pos x="25472" y="4056"/>
                </a:cxn>
                <a:cxn ang="0">
                  <a:pos x="25135" y="4205"/>
                </a:cxn>
                <a:cxn ang="0">
                  <a:pos x="21676" y="4030"/>
                </a:cxn>
                <a:cxn ang="0">
                  <a:pos x="18385" y="4154"/>
                </a:cxn>
                <a:cxn ang="0">
                  <a:pos x="665" y="1530"/>
                </a:cxn>
                <a:cxn ang="0">
                  <a:pos x="0" y="769"/>
                </a:cxn>
                <a:cxn ang="0">
                  <a:pos x="737" y="162"/>
                </a:cxn>
                <a:cxn ang="0">
                  <a:pos x="2200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Freeform 11"/>
            <p:cNvSpPr/>
            <p:nvPr userDrawn="1"/>
          </p:nvSpPr>
          <p:spPr>
            <a:xfrm>
              <a:off x="474" y="344"/>
              <a:ext cx="1488" cy="919"/>
            </a:xfrm>
            <a:custGeom>
              <a:avLst/>
              <a:gdLst/>
              <a:ahLst/>
              <a:cxnLst>
                <a:cxn ang="0">
                  <a:pos x="0" y="1704"/>
                </a:cxn>
                <a:cxn ang="0">
                  <a:pos x="15111" y="3920"/>
                </a:cxn>
                <a:cxn ang="0">
                  <a:pos x="15392" y="2803"/>
                </a:cxn>
                <a:cxn ang="0">
                  <a:pos x="17194" y="2216"/>
                </a:cxn>
                <a:cxn ang="0">
                  <a:pos x="1278" y="0"/>
                </a:cxn>
                <a:cxn ang="0">
                  <a:pos x="0" y="664"/>
                </a:cxn>
                <a:cxn ang="0">
                  <a:pos x="0" y="1704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72" name="Group 12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2073" name="Freeform 13"/>
              <p:cNvSpPr/>
              <p:nvPr userDrawn="1"/>
            </p:nvSpPr>
            <p:spPr>
              <a:xfrm>
                <a:off x="2005" y="934"/>
                <a:ext cx="212" cy="214"/>
              </a:xfrm>
              <a:custGeom>
                <a:avLst/>
                <a:gdLst/>
                <a:ahLst/>
                <a:cxnLst>
                  <a:cxn ang="0">
                    <a:pos x="1748" y="0"/>
                  </a:cxn>
                  <a:cxn ang="0">
                    <a:pos x="643" y="364"/>
                  </a:cxn>
                  <a:cxn ang="0">
                    <a:pos x="0" y="950"/>
                  </a:cxn>
                  <a:cxn ang="0">
                    <a:pos x="1272" y="878"/>
                  </a:cxn>
                  <a:cxn ang="0">
                    <a:pos x="1639" y="464"/>
                  </a:cxn>
                  <a:cxn ang="0">
                    <a:pos x="2391" y="147"/>
                  </a:cxn>
                  <a:cxn ang="0">
                    <a:pos x="1748" y="0"/>
                  </a:cxn>
                </a:cxnLst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4" name="Freeform 14"/>
              <p:cNvSpPr/>
              <p:nvPr userDrawn="1"/>
            </p:nvSpPr>
            <p:spPr>
              <a:xfrm>
                <a:off x="123" y="148"/>
                <a:ext cx="2386" cy="1081"/>
              </a:xfrm>
              <a:custGeom>
                <a:avLst/>
                <a:gdLst/>
                <a:ahLst/>
                <a:cxnLst>
                  <a:cxn ang="0">
                    <a:pos x="2532" y="0"/>
                  </a:cxn>
                  <a:cxn ang="0">
                    <a:pos x="1024" y="270"/>
                  </a:cxn>
                  <a:cxn ang="0">
                    <a:pos x="0" y="1079"/>
                  </a:cxn>
                  <a:cxn ang="0">
                    <a:pos x="1092" y="1861"/>
                  </a:cxn>
                  <a:cxn ang="0">
                    <a:pos x="19196" y="4495"/>
                  </a:cxn>
                  <a:cxn ang="0">
                    <a:pos x="23096" y="4331"/>
                  </a:cxn>
                  <a:cxn ang="0">
                    <a:pos x="26256" y="4564"/>
                  </a:cxn>
                  <a:cxn ang="0">
                    <a:pos x="27353" y="4194"/>
                  </a:cxn>
                  <a:cxn ang="0">
                    <a:pos x="24393" y="3442"/>
                  </a:cxn>
                  <a:cxn ang="0">
                    <a:pos x="23191" y="2658"/>
                  </a:cxn>
                  <a:cxn ang="0">
                    <a:pos x="22243" y="2733"/>
                  </a:cxn>
                  <a:cxn ang="0">
                    <a:pos x="23370" y="3442"/>
                  </a:cxn>
                  <a:cxn ang="0">
                    <a:pos x="25630" y="4197"/>
                  </a:cxn>
                  <a:cxn ang="0">
                    <a:pos x="22953" y="4081"/>
                  </a:cxn>
                  <a:cxn ang="0">
                    <a:pos x="19796" y="4217"/>
                  </a:cxn>
                  <a:cxn ang="0">
                    <a:pos x="20380" y="3368"/>
                  </a:cxn>
                  <a:cxn ang="0">
                    <a:pos x="21733" y="2790"/>
                  </a:cxn>
                  <a:cxn ang="0">
                    <a:pos x="20149" y="2862"/>
                  </a:cxn>
                  <a:cxn ang="0">
                    <a:pos x="18921" y="3414"/>
                  </a:cxn>
                  <a:cxn ang="0">
                    <a:pos x="18503" y="4104"/>
                  </a:cxn>
                  <a:cxn ang="0">
                    <a:pos x="1740" y="1607"/>
                  </a:cxn>
                  <a:cxn ang="0">
                    <a:pos x="1296" y="1114"/>
                  </a:cxn>
                  <a:cxn ang="0">
                    <a:pos x="1672" y="495"/>
                  </a:cxn>
                  <a:cxn ang="0">
                    <a:pos x="3519" y="0"/>
                  </a:cxn>
                  <a:cxn ang="0">
                    <a:pos x="2532" y="0"/>
                  </a:cxn>
                </a:cxnLst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5" name="Freeform 15"/>
              <p:cNvSpPr/>
              <p:nvPr userDrawn="1"/>
            </p:nvSpPr>
            <p:spPr>
              <a:xfrm>
                <a:off x="324" y="158"/>
                <a:ext cx="1686" cy="614"/>
              </a:xfrm>
              <a:custGeom>
                <a:avLst/>
                <a:gdLst/>
                <a:ahLst/>
                <a:cxnLst>
                  <a:cxn ang="0">
                    <a:pos x="1626" y="0"/>
                  </a:cxn>
                  <a:cxn ang="0">
                    <a:pos x="19325" y="2533"/>
                  </a:cxn>
                  <a:cxn ang="0">
                    <a:pos x="17462" y="2585"/>
                  </a:cxn>
                  <a:cxn ang="0">
                    <a:pos x="0" y="139"/>
                  </a:cxn>
                  <a:cxn ang="0">
                    <a:pos x="1626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6" name="Freeform 16"/>
              <p:cNvSpPr/>
              <p:nvPr userDrawn="1"/>
            </p:nvSpPr>
            <p:spPr>
              <a:xfrm>
                <a:off x="409" y="251"/>
                <a:ext cx="227" cy="410"/>
              </a:xfrm>
              <a:custGeom>
                <a:avLst/>
                <a:gdLst/>
                <a:ahLst/>
                <a:cxnLst>
                  <a:cxn ang="0">
                    <a:pos x="1908" y="0"/>
                  </a:cxn>
                  <a:cxn ang="0">
                    <a:pos x="312" y="537"/>
                  </a:cxn>
                  <a:cxn ang="0">
                    <a:pos x="0" y="1155"/>
                  </a:cxn>
                  <a:cxn ang="0">
                    <a:pos x="548" y="1580"/>
                  </a:cxn>
                  <a:cxn ang="0">
                    <a:pos x="1539" y="1685"/>
                  </a:cxn>
                  <a:cxn ang="0">
                    <a:pos x="1249" y="771"/>
                  </a:cxn>
                  <a:cxn ang="0">
                    <a:pos x="2625" y="88"/>
                  </a:cxn>
                  <a:cxn ang="0">
                    <a:pos x="1908" y="0"/>
                  </a:cxn>
                </a:cxnLst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7" name="Freeform 17"/>
              <p:cNvSpPr/>
              <p:nvPr userDrawn="1"/>
            </p:nvSpPr>
            <p:spPr>
              <a:xfrm>
                <a:off x="846" y="536"/>
                <a:ext cx="691" cy="364"/>
              </a:xfrm>
              <a:custGeom>
                <a:avLst/>
                <a:gdLst/>
                <a:ahLst/>
                <a:cxnLst>
                  <a:cxn ang="0">
                    <a:pos x="228" y="180"/>
                  </a:cxn>
                  <a:cxn ang="0">
                    <a:pos x="2539" y="347"/>
                  </a:cxn>
                  <a:cxn ang="0">
                    <a:pos x="5152" y="718"/>
                  </a:cxn>
                  <a:cxn ang="0">
                    <a:pos x="6996" y="1273"/>
                  </a:cxn>
                  <a:cxn ang="0">
                    <a:pos x="5183" y="1204"/>
                  </a:cxn>
                  <a:cxn ang="0">
                    <a:pos x="2204" y="764"/>
                  </a:cxn>
                  <a:cxn ang="0">
                    <a:pos x="793" y="419"/>
                  </a:cxn>
                  <a:cxn ang="0">
                    <a:pos x="1696" y="853"/>
                  </a:cxn>
                  <a:cxn ang="0">
                    <a:pos x="4323" y="1411"/>
                  </a:cxn>
                  <a:cxn ang="0">
                    <a:pos x="7405" y="1552"/>
                  </a:cxn>
                  <a:cxn ang="0">
                    <a:pos x="7772" y="1172"/>
                  </a:cxn>
                  <a:cxn ang="0">
                    <a:pos x="6264" y="630"/>
                  </a:cxn>
                  <a:cxn ang="0">
                    <a:pos x="2699" y="90"/>
                  </a:cxn>
                  <a:cxn ang="0">
                    <a:pos x="0" y="0"/>
                  </a:cxn>
                  <a:cxn ang="0">
                    <a:pos x="228" y="180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2052" name="Group 18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2060" name="Freeform 19"/>
            <p:cNvSpPr/>
            <p:nvPr userDrawn="1"/>
          </p:nvSpPr>
          <p:spPr>
            <a:xfrm rot="7320404">
              <a:off x="4907" y="2934"/>
              <a:ext cx="629" cy="293"/>
            </a:xfrm>
            <a:custGeom>
              <a:avLst/>
              <a:gdLst/>
              <a:ahLst/>
              <a:cxnLst>
                <a:cxn ang="0">
                  <a:pos x="123" y="25"/>
                </a:cxn>
                <a:cxn ang="0">
                  <a:pos x="110" y="20"/>
                </a:cxn>
                <a:cxn ang="0">
                  <a:pos x="86" y="13"/>
                </a:cxn>
                <a:cxn ang="0">
                  <a:pos x="10" y="0"/>
                </a:cxn>
                <a:cxn ang="0">
                  <a:pos x="4" y="1"/>
                </a:cxn>
                <a:cxn ang="0">
                  <a:pos x="0" y="6"/>
                </a:cxn>
                <a:cxn ang="0">
                  <a:pos x="4" y="10"/>
                </a:cxn>
                <a:cxn ang="0">
                  <a:pos x="89" y="26"/>
                </a:cxn>
                <a:cxn ang="0">
                  <a:pos x="107" y="25"/>
                </a:cxn>
                <a:cxn ang="0">
                  <a:pos x="122" y="26"/>
                </a:cxn>
                <a:cxn ang="0">
                  <a:pos x="123" y="25"/>
                </a:cxn>
              </a:cxnLst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Freeform 20"/>
            <p:cNvSpPr/>
            <p:nvPr userDrawn="1"/>
          </p:nvSpPr>
          <p:spPr>
            <a:xfrm rot="7320404">
              <a:off x="4891" y="2920"/>
              <a:ext cx="627" cy="2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Freeform 21"/>
            <p:cNvSpPr/>
            <p:nvPr userDrawn="1"/>
          </p:nvSpPr>
          <p:spPr>
            <a:xfrm rot="7320404">
              <a:off x="4997" y="2910"/>
              <a:ext cx="416" cy="2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63" name="Group 22"/>
            <p:cNvGrpSpPr/>
            <p:nvPr userDrawn="1"/>
          </p:nvGrpSpPr>
          <p:grpSpPr>
            <a:xfrm>
              <a:off x="4986" y="2752"/>
              <a:ext cx="468" cy="667"/>
              <a:chOff x="4986" y="2752"/>
              <a:chExt cx="468" cy="667"/>
            </a:xfrm>
          </p:grpSpPr>
          <p:sp>
            <p:nvSpPr>
              <p:cNvPr id="2064" name="Freeform 23"/>
              <p:cNvSpPr/>
              <p:nvPr userDrawn="1"/>
            </p:nvSpPr>
            <p:spPr>
              <a:xfrm rot="7320404">
                <a:off x="4985" y="3188"/>
                <a:ext cx="59" cy="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5" name="Freeform 24"/>
              <p:cNvSpPr/>
              <p:nvPr userDrawn="1"/>
            </p:nvSpPr>
            <p:spPr>
              <a:xfrm rot="7320404">
                <a:off x="4885" y="2928"/>
                <a:ext cx="667" cy="31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6" name="Freeform 25"/>
              <p:cNvSpPr/>
              <p:nvPr userDrawn="1"/>
            </p:nvSpPr>
            <p:spPr>
              <a:xfrm rot="7320404">
                <a:off x="5062" y="2997"/>
                <a:ext cx="472" cy="1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7" name="Freeform 26"/>
              <p:cNvSpPr/>
              <p:nvPr userDrawn="1"/>
            </p:nvSpPr>
            <p:spPr>
              <a:xfrm rot="7320404">
                <a:off x="5361" y="2871"/>
                <a:ext cx="63" cy="1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8" name="Freeform 27"/>
              <p:cNvSpPr/>
              <p:nvPr userDrawn="1"/>
            </p:nvSpPr>
            <p:spPr>
              <a:xfrm rot="7320404">
                <a:off x="5134" y="2997"/>
                <a:ext cx="193" cy="10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053" name="Freeform 28"/>
          <p:cNvSpPr/>
          <p:nvPr/>
        </p:nvSpPr>
        <p:spPr>
          <a:xfrm>
            <a:off x="901700" y="5054600"/>
            <a:ext cx="6807200" cy="7286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054" name="Freeform 29"/>
          <p:cNvSpPr/>
          <p:nvPr/>
        </p:nvSpPr>
        <p:spPr>
          <a:xfrm>
            <a:off x="4076700" y="1930400"/>
            <a:ext cx="889000" cy="3810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A6737D4-D103-40B7-B658-F3B19F8AE451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EDCEDC-B9EE-4449-B683-FDDFA29F9CF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EDCEDC-B9EE-4449-B683-FDDFA29F9CF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EDCEDC-B9EE-4449-B683-FDDFA29F9CF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EDCEDC-B9EE-4449-B683-FDDFA29F9CF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EDCEDC-B9EE-4449-B683-FDDFA29F9CF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EDCEDC-B9EE-4449-B683-FDDFA29F9CF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EDCEDC-B9EE-4449-B683-FDDFA29F9CF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EDCEDC-B9EE-4449-B683-FDDFA29F9CF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EDCEDC-B9EE-4449-B683-FDDFA29F9CF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EDCEDC-B9EE-4449-B683-FDDFA29F9CF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Freeform 2"/>
          <p:cNvSpPr/>
          <p:nvPr/>
        </p:nvSpPr>
        <p:spPr>
          <a:xfrm rot="-3172564">
            <a:off x="7777163" y="-14287"/>
            <a:ext cx="1162050" cy="20828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EDCEDC-B9EE-4449-B683-FDDFA29F9CF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Freeform 8"/>
          <p:cNvSpPr/>
          <p:nvPr/>
        </p:nvSpPr>
        <p:spPr>
          <a:xfrm rot="-3172564">
            <a:off x="7862888" y="20638"/>
            <a:ext cx="1165225" cy="2098675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33" name="Freeform 9"/>
          <p:cNvSpPr/>
          <p:nvPr/>
        </p:nvSpPr>
        <p:spPr>
          <a:xfrm rot="-3172564">
            <a:off x="7831138" y="192088"/>
            <a:ext cx="1025525" cy="15716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</a:cxnLst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034" name="Group 10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1051" name="Freeform 11"/>
            <p:cNvSpPr/>
            <p:nvPr userDrawn="1"/>
          </p:nvSpPr>
          <p:spPr>
            <a:xfrm>
              <a:off x="24" y="3505"/>
              <a:ext cx="1089" cy="649"/>
            </a:xfrm>
            <a:custGeom>
              <a:avLst/>
              <a:gdLst/>
              <a:ahLst/>
              <a:cxnLst>
                <a:cxn ang="0">
                  <a:pos x="7" y="5"/>
                </a:cxn>
                <a:cxn ang="0">
                  <a:pos x="6" y="5"/>
                </a:cxn>
                <a:cxn ang="0">
                  <a:pos x="6" y="2"/>
                </a:cxn>
                <a:cxn ang="0">
                  <a:pos x="9" y="2"/>
                </a:cxn>
                <a:cxn ang="0">
                  <a:pos x="9" y="1"/>
                </a:cxn>
                <a:cxn ang="0">
                  <a:pos x="9" y="1"/>
                </a:cxn>
                <a:cxn ang="0">
                  <a:pos x="5" y="1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4" y="2"/>
                </a:cxn>
                <a:cxn ang="0">
                  <a:pos x="3" y="2"/>
                </a:cxn>
                <a:cxn ang="0">
                  <a:pos x="4" y="2"/>
                </a:cxn>
                <a:cxn ang="0">
                  <a:pos x="5" y="4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5" y="6"/>
                </a:cxn>
                <a:cxn ang="0">
                  <a:pos x="6" y="5"/>
                </a:cxn>
                <a:cxn ang="0">
                  <a:pos x="7" y="6"/>
                </a:cxn>
                <a:cxn ang="0">
                  <a:pos x="7" y="5"/>
                </a:cxn>
              </a:cxnLst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Freeform 12"/>
            <p:cNvSpPr/>
            <p:nvPr userDrawn="1"/>
          </p:nvSpPr>
          <p:spPr>
            <a:xfrm>
              <a:off x="1022" y="3582"/>
              <a:ext cx="71" cy="12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1"/>
                </a:cxn>
              </a:cxnLst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3" name="Freeform 13"/>
            <p:cNvSpPr/>
            <p:nvPr userDrawn="1"/>
          </p:nvSpPr>
          <p:spPr>
            <a:xfrm>
              <a:off x="20" y="3774"/>
              <a:ext cx="792" cy="4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6" y="3"/>
                </a:cxn>
                <a:cxn ang="0">
                  <a:pos x="6" y="3"/>
                </a:cxn>
                <a:cxn ang="0">
                  <a:pos x="5" y="3"/>
                </a:cxn>
                <a:cxn ang="0">
                  <a:pos x="4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4" name="Freeform 14"/>
            <p:cNvSpPr/>
            <p:nvPr userDrawn="1"/>
          </p:nvSpPr>
          <p:spPr>
            <a:xfrm>
              <a:off x="129" y="3808"/>
              <a:ext cx="525" cy="374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5" y="2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5" name="Freeform 15"/>
            <p:cNvSpPr/>
            <p:nvPr userDrawn="1"/>
          </p:nvSpPr>
          <p:spPr>
            <a:xfrm>
              <a:off x="485" y="3532"/>
              <a:ext cx="135" cy="12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6" name="Freeform 16"/>
            <p:cNvSpPr/>
            <p:nvPr userDrawn="1"/>
          </p:nvSpPr>
          <p:spPr>
            <a:xfrm>
              <a:off x="641" y="4163"/>
              <a:ext cx="76" cy="112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</a:cxnLst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7" name="Freeform 17"/>
            <p:cNvSpPr/>
            <p:nvPr userDrawn="1"/>
          </p:nvSpPr>
          <p:spPr>
            <a:xfrm>
              <a:off x="504" y="3607"/>
              <a:ext cx="193" cy="38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1" y="3"/>
                </a:cxn>
                <a:cxn ang="0">
                  <a:pos x="0" y="1"/>
                </a:cxn>
              </a:cxnLst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8" name="Freeform 18"/>
            <p:cNvSpPr/>
            <p:nvPr userDrawn="1"/>
          </p:nvSpPr>
          <p:spPr>
            <a:xfrm>
              <a:off x="668" y="3590"/>
              <a:ext cx="364" cy="174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1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0"/>
                </a:cxn>
              </a:cxnLst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9" name="Freeform 19"/>
            <p:cNvSpPr/>
            <p:nvPr userDrawn="1"/>
          </p:nvSpPr>
          <p:spPr>
            <a:xfrm>
              <a:off x="347" y="3693"/>
              <a:ext cx="156" cy="6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60" name="Group 20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1" name="Group 21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74" name="Freeform 22"/>
                <p:cNvSpPr/>
                <p:nvPr userDrawn="1"/>
              </p:nvSpPr>
              <p:spPr>
                <a:xfrm>
                  <a:off x="499" y="3587"/>
                  <a:ext cx="157" cy="8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</a:cxnLst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5" name="Freeform 23"/>
                <p:cNvSpPr/>
                <p:nvPr userDrawn="1"/>
              </p:nvSpPr>
              <p:spPr>
                <a:xfrm>
                  <a:off x="636" y="4137"/>
                  <a:ext cx="115" cy="133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2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0" y="1"/>
                    </a:cxn>
                  </a:cxnLst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6" name="Freeform 24"/>
                <p:cNvSpPr/>
                <p:nvPr userDrawn="1"/>
              </p:nvSpPr>
              <p:spPr>
                <a:xfrm>
                  <a:off x="1004" y="3562"/>
                  <a:ext cx="43" cy="117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1"/>
                    </a:cxn>
                  </a:cxnLst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062" name="Freeform 25"/>
              <p:cNvSpPr/>
              <p:nvPr userDrawn="1"/>
            </p:nvSpPr>
            <p:spPr>
              <a:xfrm>
                <a:off x="76" y="3732"/>
                <a:ext cx="595" cy="250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5" y="2"/>
                  </a:cxn>
                  <a:cxn ang="0">
                    <a:pos x="5" y="2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3" name="Freeform 26"/>
              <p:cNvSpPr/>
              <p:nvPr userDrawn="1"/>
            </p:nvSpPr>
            <p:spPr>
              <a:xfrm>
                <a:off x="260" y="3886"/>
                <a:ext cx="244" cy="14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2"/>
                  </a:cxn>
                  <a:cxn ang="0">
                    <a:pos x="1" y="2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4" name="Freeform 27"/>
              <p:cNvSpPr/>
              <p:nvPr userDrawn="1"/>
            </p:nvSpPr>
            <p:spPr>
              <a:xfrm>
                <a:off x="565" y="3680"/>
                <a:ext cx="107" cy="2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0"/>
                  </a:cxn>
                  <a:cxn ang="0">
                    <a:pos x="1" y="0"/>
                  </a:cxn>
                </a:cxnLst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65" name="Group 28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66" name="Freeform 29"/>
                <p:cNvSpPr/>
                <p:nvPr userDrawn="1"/>
              </p:nvSpPr>
              <p:spPr>
                <a:xfrm>
                  <a:off x="669" y="4048"/>
                  <a:ext cx="75" cy="87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</a:cxnLst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7" name="Freeform 30"/>
                <p:cNvSpPr/>
                <p:nvPr userDrawn="1"/>
              </p:nvSpPr>
              <p:spPr>
                <a:xfrm>
                  <a:off x="5" y="3728"/>
                  <a:ext cx="842" cy="440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2"/>
                    </a:cxn>
                    <a:cxn ang="0">
                      <a:pos x="5" y="4"/>
                    </a:cxn>
                    <a:cxn ang="0">
                      <a:pos x="6" y="4"/>
                    </a:cxn>
                    <a:cxn ang="0">
                      <a:pos x="7" y="4"/>
                    </a:cxn>
                    <a:cxn ang="0">
                      <a:pos x="7" y="4"/>
                    </a:cxn>
                    <a:cxn ang="0">
                      <a:pos x="6" y="3"/>
                    </a:cxn>
                    <a:cxn ang="0">
                      <a:pos x="6" y="2"/>
                    </a:cxn>
                    <a:cxn ang="0">
                      <a:pos x="6" y="3"/>
                    </a:cxn>
                    <a:cxn ang="0">
                      <a:pos x="6" y="3"/>
                    </a:cxn>
                    <a:cxn ang="0">
                      <a:pos x="7" y="4"/>
                    </a:cxn>
                    <a:cxn ang="0">
                      <a:pos x="6" y="4"/>
                    </a:cxn>
                    <a:cxn ang="0">
                      <a:pos x="5" y="4"/>
                    </a:cxn>
                    <a:cxn ang="0">
                      <a:pos x="5" y="3"/>
                    </a:cxn>
                    <a:cxn ang="0">
                      <a:pos x="6" y="3"/>
                    </a:cxn>
                    <a:cxn ang="0">
                      <a:pos x="5" y="3"/>
                    </a:cxn>
                    <a:cxn ang="0">
                      <a:pos x="5" y="3"/>
                    </a:cxn>
                    <a:cxn ang="0">
                      <a:pos x="5" y="4"/>
                    </a:cxn>
                    <a:cxn ang="0">
                      <a:pos x="1" y="2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8" name="Freeform 31"/>
                <p:cNvSpPr/>
                <p:nvPr userDrawn="1"/>
              </p:nvSpPr>
              <p:spPr>
                <a:xfrm>
                  <a:off x="106" y="3770"/>
                  <a:ext cx="80" cy="167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9" name="Freeform 32"/>
                <p:cNvSpPr/>
                <p:nvPr userDrawn="1"/>
              </p:nvSpPr>
              <p:spPr>
                <a:xfrm>
                  <a:off x="449" y="3490"/>
                  <a:ext cx="322" cy="594"/>
                </a:xfrm>
                <a:custGeom>
                  <a:avLst/>
                  <a:gdLst/>
                  <a:ahLst/>
                  <a:cxnLst>
                    <a:cxn ang="0">
                      <a:pos x="1" y="4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2" y="0"/>
                    </a:cxn>
                    <a:cxn ang="0">
                      <a:pos x="2" y="1"/>
                    </a:cxn>
                    <a:cxn ang="0">
                      <a:pos x="3" y="5"/>
                    </a:cxn>
                    <a:cxn ang="0">
                      <a:pos x="3" y="5"/>
                    </a:cxn>
                    <a:cxn ang="0">
                      <a:pos x="2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2" y="4"/>
                    </a:cxn>
                    <a:cxn ang="0">
                      <a:pos x="1" y="4"/>
                    </a:cxn>
                  </a:cxnLst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0" name="Freeform 33"/>
                <p:cNvSpPr/>
                <p:nvPr userDrawn="1"/>
              </p:nvSpPr>
              <p:spPr>
                <a:xfrm>
                  <a:off x="578" y="3650"/>
                  <a:ext cx="96" cy="252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2"/>
                    </a:cxn>
                    <a:cxn ang="0">
                      <a:pos x="1" y="2"/>
                    </a:cxn>
                    <a:cxn ang="0">
                      <a:pos x="1" y="2"/>
                    </a:cxn>
                    <a:cxn ang="0">
                      <a:pos x="1" y="2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1" name="Freeform 34"/>
                <p:cNvSpPr/>
                <p:nvPr userDrawn="1"/>
              </p:nvSpPr>
              <p:spPr>
                <a:xfrm>
                  <a:off x="328" y="3630"/>
                  <a:ext cx="195" cy="135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1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2"/>
                    </a:cxn>
                    <a:cxn ang="0">
                      <a:pos x="2" y="2"/>
                    </a:cxn>
                    <a:cxn ang="0">
                      <a:pos x="2" y="1"/>
                    </a:cxn>
                    <a:cxn ang="0">
                      <a:pos x="1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2" name="Freeform 35"/>
                <p:cNvSpPr/>
                <p:nvPr userDrawn="1"/>
              </p:nvSpPr>
              <p:spPr>
                <a:xfrm>
                  <a:off x="658" y="3538"/>
                  <a:ext cx="471" cy="212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4" y="1"/>
                    </a:cxn>
                    <a:cxn ang="0">
                      <a:pos x="4" y="1"/>
                    </a:cxn>
                    <a:cxn ang="0">
                      <a:pos x="4" y="2"/>
                    </a:cxn>
                    <a:cxn ang="0">
                      <a:pos x="1" y="2"/>
                    </a:cxn>
                    <a:cxn ang="0">
                      <a:pos x="1" y="2"/>
                    </a:cxn>
                    <a:cxn ang="0">
                      <a:pos x="4" y="1"/>
                    </a:cxn>
                    <a:cxn ang="0">
                      <a:pos x="4" y="1"/>
                    </a:cxn>
                    <a:cxn ang="0">
                      <a:pos x="4" y="1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3" name="Freeform 36"/>
                <p:cNvSpPr/>
                <p:nvPr userDrawn="1"/>
              </p:nvSpPr>
              <p:spPr>
                <a:xfrm>
                  <a:off x="717" y="3606"/>
                  <a:ext cx="245" cy="8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1" y="0"/>
                    </a:cxn>
                    <a:cxn ang="0">
                      <a:pos x="0" y="0"/>
                    </a:cxn>
                  </a:cxnLst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grpSp>
        <p:nvGrpSpPr>
          <p:cNvPr id="1035" name="Group 37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49" name="Freeform 38"/>
            <p:cNvSpPr/>
            <p:nvPr userDrawn="1"/>
          </p:nvSpPr>
          <p:spPr>
            <a:xfrm flipH="1">
              <a:off x="5468" y="2620"/>
              <a:ext cx="205" cy="1427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4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</a:cxnLst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0" name="Freeform 39"/>
            <p:cNvSpPr/>
            <p:nvPr userDrawn="1"/>
          </p:nvSpPr>
          <p:spPr>
            <a:xfrm flipH="1">
              <a:off x="5506" y="1333"/>
              <a:ext cx="205" cy="1633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0" y="12"/>
                </a:cxn>
                <a:cxn ang="0">
                  <a:pos x="0" y="11"/>
                </a:cxn>
                <a:cxn ang="0">
                  <a:pos x="0" y="10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0" y="8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10"/>
                </a:cxn>
                <a:cxn ang="0">
                  <a:pos x="0" y="11"/>
                </a:cxn>
                <a:cxn ang="0">
                  <a:pos x="0" y="12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3"/>
                </a:cxn>
              </a:cxnLst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36" name="Group 40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37" name="Group 41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39" name="Freeform 42"/>
              <p:cNvSpPr/>
              <p:nvPr userDrawn="1"/>
            </p:nvSpPr>
            <p:spPr>
              <a:xfrm rot="-3172564">
                <a:off x="5430" y="1086"/>
                <a:ext cx="62" cy="2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40" name="Group 43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41" name="Freeform 44"/>
                <p:cNvSpPr/>
                <p:nvPr userDrawn="1"/>
              </p:nvSpPr>
              <p:spPr>
                <a:xfrm rot="-3172564">
                  <a:off x="4964" y="69"/>
                  <a:ext cx="153" cy="1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2" name="Freeform 45"/>
                <p:cNvSpPr/>
                <p:nvPr userDrawn="1"/>
              </p:nvSpPr>
              <p:spPr>
                <a:xfrm rot="-3172564">
                  <a:off x="5046" y="329"/>
                  <a:ext cx="269" cy="4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3" name="Freeform 46"/>
                <p:cNvSpPr/>
                <p:nvPr userDrawn="1"/>
              </p:nvSpPr>
              <p:spPr>
                <a:xfrm rot="-3172564">
                  <a:off x="4856" y="179"/>
                  <a:ext cx="505" cy="89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4" name="Freeform 47"/>
                <p:cNvSpPr/>
                <p:nvPr userDrawn="1"/>
              </p:nvSpPr>
              <p:spPr>
                <a:xfrm rot="-3172564">
                  <a:off x="4903" y="-19"/>
                  <a:ext cx="758" cy="1344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5" name="Freeform 48"/>
                <p:cNvSpPr/>
                <p:nvPr userDrawn="1"/>
              </p:nvSpPr>
              <p:spPr>
                <a:xfrm rot="-3172564">
                  <a:off x="5295" y="894"/>
                  <a:ext cx="169" cy="12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6" name="Freeform 49"/>
                <p:cNvSpPr/>
                <p:nvPr userDrawn="1"/>
              </p:nvSpPr>
              <p:spPr>
                <a:xfrm rot="-3172564">
                  <a:off x="5251" y="803"/>
                  <a:ext cx="181" cy="1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7" name="Freeform 50"/>
                <p:cNvSpPr/>
                <p:nvPr userDrawn="1"/>
              </p:nvSpPr>
              <p:spPr>
                <a:xfrm rot="-3172564">
                  <a:off x="4983" y="208"/>
                  <a:ext cx="181" cy="14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8" name="Freeform 51"/>
                <p:cNvSpPr/>
                <p:nvPr userDrawn="1"/>
              </p:nvSpPr>
              <p:spPr>
                <a:xfrm rot="-3172564">
                  <a:off x="4946" y="139"/>
                  <a:ext cx="179" cy="1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1038" name="Line 52"/>
            <p:cNvSpPr/>
            <p:nvPr userDrawn="1"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Ch.9 Graph(III)</a:t>
            </a:r>
            <a:endParaRPr kumimoji="0" lang="en-US" altLang="zh-CN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Shortest Path Algorithms</a:t>
            </a:r>
            <a:endParaRPr kumimoji="0" lang="en-US" altLang="zh-CN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076" name="Text Box 4"/>
          <p:cNvSpPr txBox="1"/>
          <p:nvPr/>
        </p:nvSpPr>
        <p:spPr>
          <a:xfrm>
            <a:off x="539750" y="1051878"/>
            <a:ext cx="8001000" cy="53403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563880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Weighted path length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:                 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3141028" y="1923257"/>
          <a:ext cx="1268730" cy="798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584200" imgH="368300" progId="Equation.3">
                  <p:embed/>
                </p:oleObj>
              </mc:Choice>
              <mc:Fallback>
                <p:oleObj name="" r:id="rId1" imgW="584200" imgH="368300" progId="Equation.3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41028" y="1923257"/>
                        <a:ext cx="1268730" cy="7981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80" name="Group 8"/>
          <p:cNvGrpSpPr/>
          <p:nvPr/>
        </p:nvGrpSpPr>
        <p:grpSpPr>
          <a:xfrm>
            <a:off x="2124075" y="3949700"/>
            <a:ext cx="2306638" cy="1773238"/>
            <a:chOff x="480" y="2716"/>
            <a:chExt cx="1453" cy="1117"/>
          </a:xfrm>
        </p:grpSpPr>
        <p:sp>
          <p:nvSpPr>
            <p:cNvPr id="4132" name="Oval 9"/>
            <p:cNvSpPr>
              <a:spLocks noChangeAspect="1"/>
            </p:cNvSpPr>
            <p:nvPr/>
          </p:nvSpPr>
          <p:spPr>
            <a:xfrm>
              <a:off x="763" y="2784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33" name="Oval 10"/>
            <p:cNvSpPr>
              <a:spLocks noChangeAspect="1"/>
            </p:cNvSpPr>
            <p:nvPr/>
          </p:nvSpPr>
          <p:spPr>
            <a:xfrm>
              <a:off x="1368" y="2784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34" name="Line 11"/>
            <p:cNvSpPr>
              <a:spLocks noChangeAspect="1"/>
            </p:cNvSpPr>
            <p:nvPr/>
          </p:nvSpPr>
          <p:spPr>
            <a:xfrm>
              <a:off x="1005" y="2905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35" name="Oval 12"/>
            <p:cNvSpPr>
              <a:spLocks noChangeAspect="1"/>
            </p:cNvSpPr>
            <p:nvPr/>
          </p:nvSpPr>
          <p:spPr>
            <a:xfrm>
              <a:off x="803" y="3591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36" name="Oval 13"/>
            <p:cNvSpPr>
              <a:spLocks noChangeAspect="1"/>
            </p:cNvSpPr>
            <p:nvPr/>
          </p:nvSpPr>
          <p:spPr>
            <a:xfrm>
              <a:off x="1408" y="3591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37" name="Line 14"/>
            <p:cNvSpPr>
              <a:spLocks noChangeAspect="1"/>
            </p:cNvSpPr>
            <p:nvPr/>
          </p:nvSpPr>
          <p:spPr>
            <a:xfrm>
              <a:off x="1045" y="3712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4138" name="Oval 15"/>
            <p:cNvSpPr>
              <a:spLocks noChangeAspect="1"/>
            </p:cNvSpPr>
            <p:nvPr/>
          </p:nvSpPr>
          <p:spPr>
            <a:xfrm>
              <a:off x="480" y="3187"/>
              <a:ext cx="242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39" name="Oval 16"/>
            <p:cNvSpPr>
              <a:spLocks noChangeAspect="1"/>
            </p:cNvSpPr>
            <p:nvPr/>
          </p:nvSpPr>
          <p:spPr>
            <a:xfrm>
              <a:off x="1085" y="3187"/>
              <a:ext cx="243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40" name="Line 17"/>
            <p:cNvSpPr>
              <a:spLocks noChangeAspect="1"/>
            </p:cNvSpPr>
            <p:nvPr/>
          </p:nvSpPr>
          <p:spPr>
            <a:xfrm>
              <a:off x="722" y="3309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4141" name="Oval 18"/>
            <p:cNvSpPr>
              <a:spLocks noChangeAspect="1"/>
            </p:cNvSpPr>
            <p:nvPr/>
          </p:nvSpPr>
          <p:spPr>
            <a:xfrm>
              <a:off x="1691" y="3187"/>
              <a:ext cx="242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42" name="Line 19"/>
            <p:cNvSpPr>
              <a:spLocks noChangeAspect="1"/>
            </p:cNvSpPr>
            <p:nvPr/>
          </p:nvSpPr>
          <p:spPr>
            <a:xfrm>
              <a:off x="1328" y="3309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43" name="Line 20"/>
            <p:cNvSpPr>
              <a:spLocks noChangeAspect="1"/>
            </p:cNvSpPr>
            <p:nvPr/>
          </p:nvSpPr>
          <p:spPr>
            <a:xfrm flipH="1">
              <a:off x="601" y="2986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4144" name="Line 21"/>
            <p:cNvSpPr>
              <a:spLocks noChangeAspect="1"/>
            </p:cNvSpPr>
            <p:nvPr/>
          </p:nvSpPr>
          <p:spPr>
            <a:xfrm flipH="1">
              <a:off x="1529" y="3389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45" name="Line 22"/>
            <p:cNvSpPr>
              <a:spLocks noChangeAspect="1"/>
            </p:cNvSpPr>
            <p:nvPr/>
          </p:nvSpPr>
          <p:spPr>
            <a:xfrm>
              <a:off x="964" y="2986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46" name="Line 23"/>
            <p:cNvSpPr>
              <a:spLocks noChangeAspect="1"/>
            </p:cNvSpPr>
            <p:nvPr/>
          </p:nvSpPr>
          <p:spPr>
            <a:xfrm>
              <a:off x="1610" y="2986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47" name="Line 24"/>
            <p:cNvSpPr>
              <a:spLocks noChangeAspect="1"/>
            </p:cNvSpPr>
            <p:nvPr/>
          </p:nvSpPr>
          <p:spPr>
            <a:xfrm>
              <a:off x="682" y="3389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48" name="Line 25"/>
            <p:cNvSpPr>
              <a:spLocks noChangeAspect="1"/>
            </p:cNvSpPr>
            <p:nvPr/>
          </p:nvSpPr>
          <p:spPr>
            <a:xfrm>
              <a:off x="1287" y="3389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49" name="Line 26"/>
            <p:cNvSpPr>
              <a:spLocks noChangeAspect="1"/>
            </p:cNvSpPr>
            <p:nvPr/>
          </p:nvSpPr>
          <p:spPr>
            <a:xfrm flipH="1">
              <a:off x="1207" y="2986"/>
              <a:ext cx="201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50" name="Line 27"/>
            <p:cNvSpPr>
              <a:spLocks noChangeAspect="1"/>
            </p:cNvSpPr>
            <p:nvPr/>
          </p:nvSpPr>
          <p:spPr>
            <a:xfrm flipH="1">
              <a:off x="924" y="3389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51" name="Text Box 28"/>
            <p:cNvSpPr txBox="1"/>
            <p:nvPr/>
          </p:nvSpPr>
          <p:spPr>
            <a:xfrm>
              <a:off x="1104" y="2716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2" name="Text Box 29"/>
            <p:cNvSpPr txBox="1"/>
            <p:nvPr/>
          </p:nvSpPr>
          <p:spPr>
            <a:xfrm>
              <a:off x="528" y="2928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3" name="Text Box 30"/>
            <p:cNvSpPr txBox="1"/>
            <p:nvPr/>
          </p:nvSpPr>
          <p:spPr>
            <a:xfrm>
              <a:off x="816" y="3120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4" name="Text Box 31"/>
            <p:cNvSpPr txBox="1"/>
            <p:nvPr/>
          </p:nvSpPr>
          <p:spPr>
            <a:xfrm>
              <a:off x="1008" y="2928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5" name="Text Box 32"/>
            <p:cNvSpPr txBox="1"/>
            <p:nvPr/>
          </p:nvSpPr>
          <p:spPr>
            <a:xfrm>
              <a:off x="1248" y="2928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6" name="Text Box 33"/>
            <p:cNvSpPr txBox="1"/>
            <p:nvPr/>
          </p:nvSpPr>
          <p:spPr>
            <a:xfrm>
              <a:off x="1632" y="2928"/>
              <a:ext cx="288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10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7" name="Text Box 34"/>
            <p:cNvSpPr txBox="1"/>
            <p:nvPr/>
          </p:nvSpPr>
          <p:spPr>
            <a:xfrm>
              <a:off x="1392" y="3120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8" name="Text Box 35"/>
            <p:cNvSpPr txBox="1"/>
            <p:nvPr/>
          </p:nvSpPr>
          <p:spPr>
            <a:xfrm>
              <a:off x="624" y="3408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5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59" name="Text Box 36"/>
            <p:cNvSpPr txBox="1"/>
            <p:nvPr/>
          </p:nvSpPr>
          <p:spPr>
            <a:xfrm>
              <a:off x="912" y="3312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8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0" name="Text Box 37"/>
            <p:cNvSpPr txBox="1"/>
            <p:nvPr/>
          </p:nvSpPr>
          <p:spPr>
            <a:xfrm>
              <a:off x="1344" y="3340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1" name="Text Box 38"/>
            <p:cNvSpPr txBox="1"/>
            <p:nvPr/>
          </p:nvSpPr>
          <p:spPr>
            <a:xfrm>
              <a:off x="1632" y="3388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6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62" name="Text Box 39"/>
            <p:cNvSpPr txBox="1"/>
            <p:nvPr/>
          </p:nvSpPr>
          <p:spPr>
            <a:xfrm>
              <a:off x="1152" y="3532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12" name="Oval 40"/>
          <p:cNvSpPr/>
          <p:nvPr/>
        </p:nvSpPr>
        <p:spPr>
          <a:xfrm>
            <a:off x="2557463" y="4057650"/>
            <a:ext cx="381000" cy="3810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113" name="Oval 41"/>
          <p:cNvSpPr/>
          <p:nvPr/>
        </p:nvSpPr>
        <p:spPr>
          <a:xfrm>
            <a:off x="2633663" y="5353050"/>
            <a:ext cx="381000" cy="381000"/>
          </a:xfrm>
          <a:prstGeom prst="ellipse">
            <a:avLst/>
          </a:prstGeom>
          <a:solidFill>
            <a:schemeClr val="folHlink">
              <a:alpha val="50195"/>
            </a:scheme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3158" name="Group 86"/>
          <p:cNvGrpSpPr/>
          <p:nvPr/>
        </p:nvGrpSpPr>
        <p:grpSpPr>
          <a:xfrm>
            <a:off x="4932363" y="4068763"/>
            <a:ext cx="2306637" cy="1665287"/>
            <a:chOff x="480" y="596"/>
            <a:chExt cx="1453" cy="1049"/>
          </a:xfrm>
        </p:grpSpPr>
        <p:sp>
          <p:nvSpPr>
            <p:cNvPr id="4113" name="Oval 87"/>
            <p:cNvSpPr>
              <a:spLocks noChangeAspect="1"/>
            </p:cNvSpPr>
            <p:nvPr/>
          </p:nvSpPr>
          <p:spPr>
            <a:xfrm>
              <a:off x="763" y="596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14" name="Oval 88"/>
            <p:cNvSpPr>
              <a:spLocks noChangeAspect="1"/>
            </p:cNvSpPr>
            <p:nvPr/>
          </p:nvSpPr>
          <p:spPr>
            <a:xfrm>
              <a:off x="1368" y="596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15" name="Line 89"/>
            <p:cNvSpPr>
              <a:spLocks noChangeAspect="1"/>
            </p:cNvSpPr>
            <p:nvPr/>
          </p:nvSpPr>
          <p:spPr>
            <a:xfrm>
              <a:off x="1005" y="717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16" name="Oval 90"/>
            <p:cNvSpPr>
              <a:spLocks noChangeAspect="1"/>
            </p:cNvSpPr>
            <p:nvPr/>
          </p:nvSpPr>
          <p:spPr>
            <a:xfrm>
              <a:off x="803" y="1403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17" name="Oval 91"/>
            <p:cNvSpPr>
              <a:spLocks noChangeAspect="1"/>
            </p:cNvSpPr>
            <p:nvPr/>
          </p:nvSpPr>
          <p:spPr>
            <a:xfrm>
              <a:off x="1408" y="1403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18" name="Line 92"/>
            <p:cNvSpPr>
              <a:spLocks noChangeAspect="1"/>
            </p:cNvSpPr>
            <p:nvPr/>
          </p:nvSpPr>
          <p:spPr>
            <a:xfrm>
              <a:off x="1045" y="1524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4119" name="Oval 93"/>
            <p:cNvSpPr>
              <a:spLocks noChangeAspect="1"/>
            </p:cNvSpPr>
            <p:nvPr/>
          </p:nvSpPr>
          <p:spPr>
            <a:xfrm>
              <a:off x="480" y="999"/>
              <a:ext cx="242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0" name="Oval 94"/>
            <p:cNvSpPr>
              <a:spLocks noChangeAspect="1"/>
            </p:cNvSpPr>
            <p:nvPr/>
          </p:nvSpPr>
          <p:spPr>
            <a:xfrm>
              <a:off x="1085" y="999"/>
              <a:ext cx="243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1" name="Line 95"/>
            <p:cNvSpPr>
              <a:spLocks noChangeAspect="1"/>
            </p:cNvSpPr>
            <p:nvPr/>
          </p:nvSpPr>
          <p:spPr>
            <a:xfrm>
              <a:off x="722" y="1121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4122" name="Oval 96"/>
            <p:cNvSpPr>
              <a:spLocks noChangeAspect="1"/>
            </p:cNvSpPr>
            <p:nvPr/>
          </p:nvSpPr>
          <p:spPr>
            <a:xfrm>
              <a:off x="1691" y="999"/>
              <a:ext cx="242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23" name="Line 97"/>
            <p:cNvSpPr>
              <a:spLocks noChangeAspect="1"/>
            </p:cNvSpPr>
            <p:nvPr/>
          </p:nvSpPr>
          <p:spPr>
            <a:xfrm>
              <a:off x="1328" y="1121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24" name="Line 98"/>
            <p:cNvSpPr>
              <a:spLocks noChangeAspect="1"/>
            </p:cNvSpPr>
            <p:nvPr/>
          </p:nvSpPr>
          <p:spPr>
            <a:xfrm flipH="1">
              <a:off x="601" y="798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4125" name="Line 99"/>
            <p:cNvSpPr>
              <a:spLocks noChangeAspect="1"/>
            </p:cNvSpPr>
            <p:nvPr/>
          </p:nvSpPr>
          <p:spPr>
            <a:xfrm flipH="1">
              <a:off x="1529" y="1201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26" name="Line 100"/>
            <p:cNvSpPr>
              <a:spLocks noChangeAspect="1"/>
            </p:cNvSpPr>
            <p:nvPr/>
          </p:nvSpPr>
          <p:spPr>
            <a:xfrm>
              <a:off x="964" y="798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27" name="Line 101"/>
            <p:cNvSpPr>
              <a:spLocks noChangeAspect="1"/>
            </p:cNvSpPr>
            <p:nvPr/>
          </p:nvSpPr>
          <p:spPr>
            <a:xfrm>
              <a:off x="1610" y="798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28" name="Line 102"/>
            <p:cNvSpPr>
              <a:spLocks noChangeAspect="1"/>
            </p:cNvSpPr>
            <p:nvPr/>
          </p:nvSpPr>
          <p:spPr>
            <a:xfrm>
              <a:off x="682" y="1201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29" name="Line 103"/>
            <p:cNvSpPr>
              <a:spLocks noChangeAspect="1"/>
            </p:cNvSpPr>
            <p:nvPr/>
          </p:nvSpPr>
          <p:spPr>
            <a:xfrm>
              <a:off x="1287" y="1201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30" name="Line 104"/>
            <p:cNvSpPr>
              <a:spLocks noChangeAspect="1"/>
            </p:cNvSpPr>
            <p:nvPr/>
          </p:nvSpPr>
          <p:spPr>
            <a:xfrm flipH="1">
              <a:off x="1207" y="798"/>
              <a:ext cx="201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31" name="Line 105"/>
            <p:cNvSpPr>
              <a:spLocks noChangeAspect="1"/>
            </p:cNvSpPr>
            <p:nvPr/>
          </p:nvSpPr>
          <p:spPr>
            <a:xfrm flipH="1">
              <a:off x="924" y="1201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178" name="Rectangle 106"/>
          <p:cNvSpPr/>
          <p:nvPr/>
        </p:nvSpPr>
        <p:spPr>
          <a:xfrm>
            <a:off x="684213" y="2420938"/>
            <a:ext cx="6831012" cy="1187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b="1" dirty="0">
              <a:solidFill>
                <a:schemeClr val="hlink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Unweighted path length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: merely the number of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edges on the path.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261" name="Oval 189"/>
          <p:cNvSpPr/>
          <p:nvPr/>
        </p:nvSpPr>
        <p:spPr>
          <a:xfrm>
            <a:off x="5376863" y="4054475"/>
            <a:ext cx="381000" cy="3810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262" name="Oval 190"/>
          <p:cNvSpPr/>
          <p:nvPr/>
        </p:nvSpPr>
        <p:spPr>
          <a:xfrm>
            <a:off x="5453063" y="5349875"/>
            <a:ext cx="381000" cy="381000"/>
          </a:xfrm>
          <a:prstGeom prst="ellipse">
            <a:avLst/>
          </a:prstGeom>
          <a:solidFill>
            <a:schemeClr val="folHlink">
              <a:alpha val="50195"/>
            </a:scheme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1" name="Line 182"/>
          <p:cNvSpPr/>
          <p:nvPr/>
        </p:nvSpPr>
        <p:spPr>
          <a:xfrm flipH="1">
            <a:off x="3017838" y="5519738"/>
            <a:ext cx="533400" cy="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2" name="Line 183"/>
          <p:cNvSpPr/>
          <p:nvPr/>
        </p:nvSpPr>
        <p:spPr>
          <a:xfrm>
            <a:off x="3398838" y="4986338"/>
            <a:ext cx="304800" cy="3048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3" name="Line 184"/>
          <p:cNvSpPr/>
          <p:nvPr/>
        </p:nvSpPr>
        <p:spPr>
          <a:xfrm>
            <a:off x="2865438" y="4376738"/>
            <a:ext cx="304800" cy="2286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" name="Line 182"/>
          <p:cNvSpPr/>
          <p:nvPr/>
        </p:nvSpPr>
        <p:spPr>
          <a:xfrm flipH="1">
            <a:off x="5821363" y="5541963"/>
            <a:ext cx="533400" cy="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5" name="Line 183"/>
          <p:cNvSpPr/>
          <p:nvPr/>
        </p:nvSpPr>
        <p:spPr>
          <a:xfrm>
            <a:off x="6202363" y="5008563"/>
            <a:ext cx="304800" cy="3048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" name="Line 184"/>
          <p:cNvSpPr/>
          <p:nvPr/>
        </p:nvSpPr>
        <p:spPr>
          <a:xfrm>
            <a:off x="5668963" y="4398963"/>
            <a:ext cx="304800" cy="2286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" grpId="0" animBg="1"/>
      <p:bldP spid="3113" grpId="0" animBg="1"/>
      <p:bldP spid="3178" grpId="0"/>
      <p:bldP spid="3261" grpId="0" animBg="1"/>
      <p:bldP spid="326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9461" name="Text Box 5"/>
          <p:cNvSpPr txBox="1"/>
          <p:nvPr/>
        </p:nvSpPr>
        <p:spPr>
          <a:xfrm>
            <a:off x="446088" y="1095375"/>
            <a:ext cx="594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1.  Single-Source Shortest-Path Problem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9462" name="Text Box 6"/>
          <p:cNvSpPr txBox="1"/>
          <p:nvPr/>
        </p:nvSpPr>
        <p:spPr>
          <a:xfrm>
            <a:off x="827088" y="1916113"/>
            <a:ext cx="74676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Given as input a weighted graph,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 = ( V, E ), and a distinguished vertex,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, find the 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shortest weighted path</a:t>
            </a:r>
            <a:r>
              <a:rPr lang="en-US" altLang="zh-CN" sz="2400" b="1" dirty="0">
                <a:latin typeface="Times New Roman" panose="02020603050405020304" pitchFamily="18" charset="0"/>
              </a:rPr>
              <a:t> from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 to every other vertex in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.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9603" name="Group 147"/>
          <p:cNvGrpSpPr/>
          <p:nvPr/>
        </p:nvGrpSpPr>
        <p:grpSpPr>
          <a:xfrm>
            <a:off x="684213" y="4165600"/>
            <a:ext cx="2306637" cy="1773238"/>
            <a:chOff x="480" y="2716"/>
            <a:chExt cx="1453" cy="1117"/>
          </a:xfrm>
        </p:grpSpPr>
        <p:sp>
          <p:nvSpPr>
            <p:cNvPr id="5172" name="Oval 148"/>
            <p:cNvSpPr>
              <a:spLocks noChangeAspect="1"/>
            </p:cNvSpPr>
            <p:nvPr/>
          </p:nvSpPr>
          <p:spPr>
            <a:xfrm>
              <a:off x="763" y="2784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73" name="Oval 149"/>
            <p:cNvSpPr>
              <a:spLocks noChangeAspect="1"/>
            </p:cNvSpPr>
            <p:nvPr/>
          </p:nvSpPr>
          <p:spPr>
            <a:xfrm>
              <a:off x="1368" y="2784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74" name="Line 150"/>
            <p:cNvSpPr>
              <a:spLocks noChangeAspect="1"/>
            </p:cNvSpPr>
            <p:nvPr/>
          </p:nvSpPr>
          <p:spPr>
            <a:xfrm>
              <a:off x="1005" y="2905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75" name="Oval 151"/>
            <p:cNvSpPr>
              <a:spLocks noChangeAspect="1"/>
            </p:cNvSpPr>
            <p:nvPr/>
          </p:nvSpPr>
          <p:spPr>
            <a:xfrm>
              <a:off x="803" y="3591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76" name="Oval 152"/>
            <p:cNvSpPr>
              <a:spLocks noChangeAspect="1"/>
            </p:cNvSpPr>
            <p:nvPr/>
          </p:nvSpPr>
          <p:spPr>
            <a:xfrm>
              <a:off x="1408" y="3591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77" name="Line 153"/>
            <p:cNvSpPr>
              <a:spLocks noChangeAspect="1"/>
            </p:cNvSpPr>
            <p:nvPr/>
          </p:nvSpPr>
          <p:spPr>
            <a:xfrm>
              <a:off x="1045" y="3712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178" name="Oval 154"/>
            <p:cNvSpPr>
              <a:spLocks noChangeAspect="1"/>
            </p:cNvSpPr>
            <p:nvPr/>
          </p:nvSpPr>
          <p:spPr>
            <a:xfrm>
              <a:off x="480" y="3187"/>
              <a:ext cx="242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79" name="Oval 155"/>
            <p:cNvSpPr>
              <a:spLocks noChangeAspect="1"/>
            </p:cNvSpPr>
            <p:nvPr/>
          </p:nvSpPr>
          <p:spPr>
            <a:xfrm>
              <a:off x="1085" y="3187"/>
              <a:ext cx="243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0" name="Line 156"/>
            <p:cNvSpPr>
              <a:spLocks noChangeAspect="1"/>
            </p:cNvSpPr>
            <p:nvPr/>
          </p:nvSpPr>
          <p:spPr>
            <a:xfrm>
              <a:off x="722" y="3309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181" name="Oval 157"/>
            <p:cNvSpPr>
              <a:spLocks noChangeAspect="1"/>
            </p:cNvSpPr>
            <p:nvPr/>
          </p:nvSpPr>
          <p:spPr>
            <a:xfrm>
              <a:off x="1691" y="3187"/>
              <a:ext cx="242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2" name="Line 158"/>
            <p:cNvSpPr>
              <a:spLocks noChangeAspect="1"/>
            </p:cNvSpPr>
            <p:nvPr/>
          </p:nvSpPr>
          <p:spPr>
            <a:xfrm>
              <a:off x="1328" y="3309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83" name="Line 159"/>
            <p:cNvSpPr>
              <a:spLocks noChangeAspect="1"/>
            </p:cNvSpPr>
            <p:nvPr/>
          </p:nvSpPr>
          <p:spPr>
            <a:xfrm flipH="1">
              <a:off x="601" y="2986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184" name="Line 160"/>
            <p:cNvSpPr>
              <a:spLocks noChangeAspect="1"/>
            </p:cNvSpPr>
            <p:nvPr/>
          </p:nvSpPr>
          <p:spPr>
            <a:xfrm flipH="1">
              <a:off x="1529" y="3389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85" name="Line 161"/>
            <p:cNvSpPr>
              <a:spLocks noChangeAspect="1"/>
            </p:cNvSpPr>
            <p:nvPr/>
          </p:nvSpPr>
          <p:spPr>
            <a:xfrm>
              <a:off x="964" y="2986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86" name="Line 162"/>
            <p:cNvSpPr>
              <a:spLocks noChangeAspect="1"/>
            </p:cNvSpPr>
            <p:nvPr/>
          </p:nvSpPr>
          <p:spPr>
            <a:xfrm>
              <a:off x="1610" y="2986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87" name="Line 163"/>
            <p:cNvSpPr>
              <a:spLocks noChangeAspect="1"/>
            </p:cNvSpPr>
            <p:nvPr/>
          </p:nvSpPr>
          <p:spPr>
            <a:xfrm>
              <a:off x="682" y="3389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88" name="Line 164"/>
            <p:cNvSpPr>
              <a:spLocks noChangeAspect="1"/>
            </p:cNvSpPr>
            <p:nvPr/>
          </p:nvSpPr>
          <p:spPr>
            <a:xfrm>
              <a:off x="1287" y="3389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89" name="Line 165"/>
            <p:cNvSpPr>
              <a:spLocks noChangeAspect="1"/>
            </p:cNvSpPr>
            <p:nvPr/>
          </p:nvSpPr>
          <p:spPr>
            <a:xfrm flipH="1">
              <a:off x="1207" y="2986"/>
              <a:ext cx="201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90" name="Line 166"/>
            <p:cNvSpPr>
              <a:spLocks noChangeAspect="1"/>
            </p:cNvSpPr>
            <p:nvPr/>
          </p:nvSpPr>
          <p:spPr>
            <a:xfrm flipH="1">
              <a:off x="924" y="3389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91" name="Text Box 167"/>
            <p:cNvSpPr txBox="1"/>
            <p:nvPr/>
          </p:nvSpPr>
          <p:spPr>
            <a:xfrm>
              <a:off x="1104" y="2716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92" name="Text Box 168"/>
            <p:cNvSpPr txBox="1"/>
            <p:nvPr/>
          </p:nvSpPr>
          <p:spPr>
            <a:xfrm>
              <a:off x="528" y="2928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93" name="Text Box 169"/>
            <p:cNvSpPr txBox="1"/>
            <p:nvPr/>
          </p:nvSpPr>
          <p:spPr>
            <a:xfrm>
              <a:off x="816" y="3120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94" name="Text Box 170"/>
            <p:cNvSpPr txBox="1"/>
            <p:nvPr/>
          </p:nvSpPr>
          <p:spPr>
            <a:xfrm>
              <a:off x="1008" y="2928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95" name="Text Box 171"/>
            <p:cNvSpPr txBox="1"/>
            <p:nvPr/>
          </p:nvSpPr>
          <p:spPr>
            <a:xfrm>
              <a:off x="1248" y="2928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96" name="Text Box 172"/>
            <p:cNvSpPr txBox="1"/>
            <p:nvPr/>
          </p:nvSpPr>
          <p:spPr>
            <a:xfrm>
              <a:off x="1632" y="2928"/>
              <a:ext cx="288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10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97" name="Text Box 173"/>
            <p:cNvSpPr txBox="1"/>
            <p:nvPr/>
          </p:nvSpPr>
          <p:spPr>
            <a:xfrm>
              <a:off x="1392" y="3120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98" name="Text Box 174"/>
            <p:cNvSpPr txBox="1"/>
            <p:nvPr/>
          </p:nvSpPr>
          <p:spPr>
            <a:xfrm>
              <a:off x="624" y="3408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5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99" name="Text Box 175"/>
            <p:cNvSpPr txBox="1"/>
            <p:nvPr/>
          </p:nvSpPr>
          <p:spPr>
            <a:xfrm>
              <a:off x="912" y="3312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8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200" name="Text Box 176"/>
            <p:cNvSpPr txBox="1"/>
            <p:nvPr/>
          </p:nvSpPr>
          <p:spPr>
            <a:xfrm>
              <a:off x="1344" y="3340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201" name="Text Box 177"/>
            <p:cNvSpPr txBox="1"/>
            <p:nvPr/>
          </p:nvSpPr>
          <p:spPr>
            <a:xfrm>
              <a:off x="1632" y="3388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6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202" name="Text Box 178"/>
            <p:cNvSpPr txBox="1"/>
            <p:nvPr/>
          </p:nvSpPr>
          <p:spPr>
            <a:xfrm>
              <a:off x="1152" y="3532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9635" name="Oval 179"/>
          <p:cNvSpPr/>
          <p:nvPr/>
        </p:nvSpPr>
        <p:spPr>
          <a:xfrm>
            <a:off x="1141413" y="4273550"/>
            <a:ext cx="381000" cy="3810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9636" name="Oval 180"/>
          <p:cNvSpPr/>
          <p:nvPr/>
        </p:nvSpPr>
        <p:spPr>
          <a:xfrm>
            <a:off x="1217613" y="5568950"/>
            <a:ext cx="381000" cy="381000"/>
          </a:xfrm>
          <a:prstGeom prst="ellipse">
            <a:avLst/>
          </a:prstGeom>
          <a:solidFill>
            <a:schemeClr val="folHlink">
              <a:alpha val="50195"/>
            </a:scheme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19637" name="Group 181"/>
          <p:cNvGrpSpPr/>
          <p:nvPr/>
        </p:nvGrpSpPr>
        <p:grpSpPr>
          <a:xfrm>
            <a:off x="1446213" y="4654550"/>
            <a:ext cx="838200" cy="1143000"/>
            <a:chOff x="960" y="3024"/>
            <a:chExt cx="528" cy="720"/>
          </a:xfrm>
        </p:grpSpPr>
        <p:sp>
          <p:nvSpPr>
            <p:cNvPr id="5169" name="Line 182"/>
            <p:cNvSpPr/>
            <p:nvPr/>
          </p:nvSpPr>
          <p:spPr>
            <a:xfrm flipH="1">
              <a:off x="1056" y="3744"/>
              <a:ext cx="336" cy="0"/>
            </a:xfrm>
            <a:prstGeom prst="line">
              <a:avLst/>
            </a:prstGeom>
            <a:ln w="508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70" name="Line 183"/>
            <p:cNvSpPr/>
            <p:nvPr/>
          </p:nvSpPr>
          <p:spPr>
            <a:xfrm>
              <a:off x="1296" y="3408"/>
              <a:ext cx="192" cy="192"/>
            </a:xfrm>
            <a:prstGeom prst="line">
              <a:avLst/>
            </a:prstGeom>
            <a:ln w="508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71" name="Line 184"/>
            <p:cNvSpPr/>
            <p:nvPr/>
          </p:nvSpPr>
          <p:spPr>
            <a:xfrm>
              <a:off x="960" y="3024"/>
              <a:ext cx="192" cy="144"/>
            </a:xfrm>
            <a:prstGeom prst="line">
              <a:avLst/>
            </a:prstGeom>
            <a:ln w="508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9665" name="Group 209"/>
          <p:cNvGrpSpPr/>
          <p:nvPr/>
        </p:nvGrpSpPr>
        <p:grpSpPr>
          <a:xfrm>
            <a:off x="4005263" y="4165600"/>
            <a:ext cx="2438400" cy="1773238"/>
            <a:chOff x="2208" y="2640"/>
            <a:chExt cx="1536" cy="1117"/>
          </a:xfrm>
        </p:grpSpPr>
        <p:sp>
          <p:nvSpPr>
            <p:cNvPr id="5138" name="Oval 210"/>
            <p:cNvSpPr>
              <a:spLocks noChangeAspect="1"/>
            </p:cNvSpPr>
            <p:nvPr/>
          </p:nvSpPr>
          <p:spPr>
            <a:xfrm>
              <a:off x="2491" y="2708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39" name="Oval 211"/>
            <p:cNvSpPr>
              <a:spLocks noChangeAspect="1"/>
            </p:cNvSpPr>
            <p:nvPr/>
          </p:nvSpPr>
          <p:spPr>
            <a:xfrm>
              <a:off x="3096" y="2708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40" name="Line 212"/>
            <p:cNvSpPr>
              <a:spLocks noChangeAspect="1"/>
            </p:cNvSpPr>
            <p:nvPr/>
          </p:nvSpPr>
          <p:spPr>
            <a:xfrm>
              <a:off x="2733" y="2829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41" name="Oval 213"/>
            <p:cNvSpPr>
              <a:spLocks noChangeAspect="1"/>
            </p:cNvSpPr>
            <p:nvPr/>
          </p:nvSpPr>
          <p:spPr>
            <a:xfrm>
              <a:off x="2531" y="3515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42" name="Oval 214"/>
            <p:cNvSpPr>
              <a:spLocks noChangeAspect="1"/>
            </p:cNvSpPr>
            <p:nvPr/>
          </p:nvSpPr>
          <p:spPr>
            <a:xfrm>
              <a:off x="3136" y="3515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43" name="Line 215"/>
            <p:cNvSpPr>
              <a:spLocks noChangeAspect="1"/>
            </p:cNvSpPr>
            <p:nvPr/>
          </p:nvSpPr>
          <p:spPr>
            <a:xfrm>
              <a:off x="2773" y="3636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144" name="Oval 216"/>
            <p:cNvSpPr>
              <a:spLocks noChangeAspect="1"/>
            </p:cNvSpPr>
            <p:nvPr/>
          </p:nvSpPr>
          <p:spPr>
            <a:xfrm>
              <a:off x="2208" y="3111"/>
              <a:ext cx="242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45" name="Oval 217"/>
            <p:cNvSpPr>
              <a:spLocks noChangeAspect="1"/>
            </p:cNvSpPr>
            <p:nvPr/>
          </p:nvSpPr>
          <p:spPr>
            <a:xfrm>
              <a:off x="2813" y="3111"/>
              <a:ext cx="243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46" name="Line 218"/>
            <p:cNvSpPr>
              <a:spLocks noChangeAspect="1"/>
            </p:cNvSpPr>
            <p:nvPr/>
          </p:nvSpPr>
          <p:spPr>
            <a:xfrm>
              <a:off x="2450" y="3233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147" name="Oval 219"/>
            <p:cNvSpPr>
              <a:spLocks noChangeAspect="1"/>
            </p:cNvSpPr>
            <p:nvPr/>
          </p:nvSpPr>
          <p:spPr>
            <a:xfrm>
              <a:off x="3419" y="3111"/>
              <a:ext cx="242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48" name="Line 220"/>
            <p:cNvSpPr>
              <a:spLocks noChangeAspect="1"/>
            </p:cNvSpPr>
            <p:nvPr/>
          </p:nvSpPr>
          <p:spPr>
            <a:xfrm>
              <a:off x="3056" y="3233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149" name="Line 221"/>
            <p:cNvSpPr>
              <a:spLocks noChangeAspect="1"/>
            </p:cNvSpPr>
            <p:nvPr/>
          </p:nvSpPr>
          <p:spPr>
            <a:xfrm flipH="1">
              <a:off x="2329" y="2910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150" name="Line 222"/>
            <p:cNvSpPr>
              <a:spLocks noChangeAspect="1"/>
            </p:cNvSpPr>
            <p:nvPr/>
          </p:nvSpPr>
          <p:spPr>
            <a:xfrm flipH="1">
              <a:off x="3257" y="3313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1" name="Line 223"/>
            <p:cNvSpPr>
              <a:spLocks noChangeAspect="1"/>
            </p:cNvSpPr>
            <p:nvPr/>
          </p:nvSpPr>
          <p:spPr>
            <a:xfrm>
              <a:off x="2692" y="2910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2" name="Line 224"/>
            <p:cNvSpPr>
              <a:spLocks noChangeAspect="1"/>
            </p:cNvSpPr>
            <p:nvPr/>
          </p:nvSpPr>
          <p:spPr>
            <a:xfrm>
              <a:off x="3338" y="2910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3" name="Line 225"/>
            <p:cNvSpPr>
              <a:spLocks noChangeAspect="1"/>
            </p:cNvSpPr>
            <p:nvPr/>
          </p:nvSpPr>
          <p:spPr>
            <a:xfrm>
              <a:off x="2410" y="3313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4" name="Line 226"/>
            <p:cNvSpPr>
              <a:spLocks noChangeAspect="1"/>
            </p:cNvSpPr>
            <p:nvPr/>
          </p:nvSpPr>
          <p:spPr>
            <a:xfrm>
              <a:off x="3015" y="3313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5" name="Line 227"/>
            <p:cNvSpPr>
              <a:spLocks noChangeAspect="1"/>
            </p:cNvSpPr>
            <p:nvPr/>
          </p:nvSpPr>
          <p:spPr>
            <a:xfrm flipH="1">
              <a:off x="2935" y="2910"/>
              <a:ext cx="201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156" name="Line 228"/>
            <p:cNvSpPr>
              <a:spLocks noChangeAspect="1"/>
            </p:cNvSpPr>
            <p:nvPr/>
          </p:nvSpPr>
          <p:spPr>
            <a:xfrm flipH="1">
              <a:off x="2652" y="3313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57" name="Text Box 229"/>
            <p:cNvSpPr txBox="1"/>
            <p:nvPr/>
          </p:nvSpPr>
          <p:spPr>
            <a:xfrm>
              <a:off x="2832" y="2640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58" name="Text Box 230"/>
            <p:cNvSpPr txBox="1"/>
            <p:nvPr/>
          </p:nvSpPr>
          <p:spPr>
            <a:xfrm>
              <a:off x="2256" y="2852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59" name="Text Box 231"/>
            <p:cNvSpPr txBox="1"/>
            <p:nvPr/>
          </p:nvSpPr>
          <p:spPr>
            <a:xfrm>
              <a:off x="2544" y="3044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60" name="Text Box 232"/>
            <p:cNvSpPr txBox="1"/>
            <p:nvPr/>
          </p:nvSpPr>
          <p:spPr>
            <a:xfrm>
              <a:off x="2736" y="2852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61" name="Text Box 233"/>
            <p:cNvSpPr txBox="1"/>
            <p:nvPr/>
          </p:nvSpPr>
          <p:spPr>
            <a:xfrm>
              <a:off x="2976" y="2976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62" name="Text Box 234"/>
            <p:cNvSpPr txBox="1"/>
            <p:nvPr/>
          </p:nvSpPr>
          <p:spPr>
            <a:xfrm>
              <a:off x="3408" y="2852"/>
              <a:ext cx="336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–10</a:t>
              </a:r>
              <a:endPara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63" name="Text Box 235"/>
            <p:cNvSpPr txBox="1"/>
            <p:nvPr/>
          </p:nvSpPr>
          <p:spPr>
            <a:xfrm>
              <a:off x="3216" y="3044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64" name="Text Box 236"/>
            <p:cNvSpPr txBox="1"/>
            <p:nvPr/>
          </p:nvSpPr>
          <p:spPr>
            <a:xfrm>
              <a:off x="2352" y="3332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5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65" name="Text Box 237"/>
            <p:cNvSpPr txBox="1"/>
            <p:nvPr/>
          </p:nvSpPr>
          <p:spPr>
            <a:xfrm>
              <a:off x="2640" y="3236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8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66" name="Text Box 238"/>
            <p:cNvSpPr txBox="1"/>
            <p:nvPr/>
          </p:nvSpPr>
          <p:spPr>
            <a:xfrm>
              <a:off x="3072" y="3264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67" name="Text Box 239"/>
            <p:cNvSpPr txBox="1"/>
            <p:nvPr/>
          </p:nvSpPr>
          <p:spPr>
            <a:xfrm>
              <a:off x="3360" y="3312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6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68" name="Text Box 240"/>
            <p:cNvSpPr txBox="1"/>
            <p:nvPr/>
          </p:nvSpPr>
          <p:spPr>
            <a:xfrm>
              <a:off x="2880" y="3456"/>
              <a:ext cx="192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9697" name="Oval 241"/>
          <p:cNvSpPr/>
          <p:nvPr/>
        </p:nvSpPr>
        <p:spPr>
          <a:xfrm>
            <a:off x="5921375" y="4935538"/>
            <a:ext cx="381000" cy="3810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9698" name="Oval 242"/>
          <p:cNvSpPr/>
          <p:nvPr/>
        </p:nvSpPr>
        <p:spPr>
          <a:xfrm>
            <a:off x="4973638" y="4935538"/>
            <a:ext cx="381000" cy="381000"/>
          </a:xfrm>
          <a:prstGeom prst="ellipse">
            <a:avLst/>
          </a:prstGeom>
          <a:solidFill>
            <a:schemeClr val="folHlink">
              <a:alpha val="50195"/>
            </a:scheme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9699" name="Line 243"/>
          <p:cNvSpPr/>
          <p:nvPr/>
        </p:nvSpPr>
        <p:spPr>
          <a:xfrm flipH="1">
            <a:off x="5354638" y="5087938"/>
            <a:ext cx="533400" cy="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700" name="Line 244"/>
          <p:cNvSpPr/>
          <p:nvPr/>
        </p:nvSpPr>
        <p:spPr>
          <a:xfrm flipV="1">
            <a:off x="5126038" y="4630738"/>
            <a:ext cx="381000" cy="3048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701" name="Line 245"/>
          <p:cNvSpPr/>
          <p:nvPr/>
        </p:nvSpPr>
        <p:spPr>
          <a:xfrm>
            <a:off x="5735638" y="4554538"/>
            <a:ext cx="304800" cy="3810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702" name="AutoShape 246"/>
          <p:cNvSpPr/>
          <p:nvPr/>
        </p:nvSpPr>
        <p:spPr>
          <a:xfrm>
            <a:off x="6573838" y="3716338"/>
            <a:ext cx="2514600" cy="914400"/>
          </a:xfrm>
          <a:prstGeom prst="wedgeEllipseCallout">
            <a:avLst>
              <a:gd name="adj1" fmla="val -61111"/>
              <a:gd name="adj2" fmla="val 55556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Negative-cost cycle</a:t>
            </a:r>
            <a:endParaRPr lang="en-US" altLang="zh-CN" sz="2000" b="1" i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703" name="AutoShape 247" descr="再生纸"/>
          <p:cNvSpPr/>
          <p:nvPr/>
        </p:nvSpPr>
        <p:spPr>
          <a:xfrm>
            <a:off x="6475413" y="4799013"/>
            <a:ext cx="2514600" cy="1981200"/>
          </a:xfrm>
          <a:prstGeom prst="roundRect">
            <a:avLst>
              <a:gd name="adj" fmla="val 10903"/>
            </a:avLst>
          </a:prstGeom>
          <a:blipFill rotWithShape="0">
            <a:blip r:embed="rId1"/>
          </a:blipFill>
          <a:ln w="254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Note: </a:t>
            </a:r>
            <a:r>
              <a:rPr lang="en-US" altLang="zh-CN" sz="2000" b="1" dirty="0">
                <a:latin typeface="Times New Roman" panose="02020603050405020304" pitchFamily="18" charset="0"/>
              </a:rPr>
              <a:t>If there is no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negative-cost </a:t>
            </a:r>
            <a:r>
              <a:rPr lang="en-US" altLang="zh-CN" sz="2000" b="1" dirty="0">
                <a:latin typeface="Times New Roman" panose="02020603050405020304" pitchFamily="18" charset="0"/>
              </a:rPr>
              <a:t>cycle, the length of the shortest path 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from </a:t>
            </a:r>
            <a:r>
              <a:rPr lang="en-US" altLang="zh-CN" sz="20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 to </a:t>
            </a:r>
            <a:r>
              <a:rPr lang="en-US" altLang="zh-CN" sz="20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000" b="1" dirty="0">
                <a:latin typeface="Times New Roman" panose="02020603050405020304" pitchFamily="18" charset="0"/>
              </a:rPr>
              <a:t> is defined to be 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zero</a:t>
            </a:r>
            <a:r>
              <a:rPr lang="en-US" altLang="zh-CN" sz="2000" b="1" dirty="0">
                <a:latin typeface="Times New Roman" panose="02020603050405020304" pitchFamily="18" charset="0"/>
              </a:rPr>
              <a:t>.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9704" name="Oval 248"/>
          <p:cNvSpPr/>
          <p:nvPr/>
        </p:nvSpPr>
        <p:spPr>
          <a:xfrm>
            <a:off x="4427538" y="4281488"/>
            <a:ext cx="381000" cy="3810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9705" name="Oval 249"/>
          <p:cNvSpPr/>
          <p:nvPr/>
        </p:nvSpPr>
        <p:spPr>
          <a:xfrm>
            <a:off x="4503738" y="5576888"/>
            <a:ext cx="381000" cy="381000"/>
          </a:xfrm>
          <a:prstGeom prst="ellipse">
            <a:avLst/>
          </a:prstGeom>
          <a:solidFill>
            <a:schemeClr val="folHlink">
              <a:alpha val="50195"/>
            </a:scheme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9" dur="500"/>
                                        <p:tgtEl>
                                          <p:spTgt spid="197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97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97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1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/>
      <p:bldP spid="19462" grpId="0"/>
      <p:bldP spid="19635" grpId="0" animBg="1"/>
      <p:bldP spid="19636" grpId="0" animBg="1"/>
      <p:bldP spid="19697" grpId="0" animBg="1"/>
      <p:bldP spid="19697" grpId="1" animBg="1"/>
      <p:bldP spid="19698" grpId="0" animBg="1"/>
      <p:bldP spid="19698" grpId="1" animBg="1"/>
      <p:bldP spid="19702" grpId="0" animBg="1"/>
      <p:bldP spid="19703" grpId="0" animBg="1"/>
      <p:bldP spid="19704" grpId="0" animBg="1"/>
      <p:bldP spid="1970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099" name="Text Box 3"/>
          <p:cNvSpPr txBox="1"/>
          <p:nvPr/>
        </p:nvSpPr>
        <p:spPr>
          <a:xfrm>
            <a:off x="533400" y="304800"/>
            <a:ext cx="441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  Unweighted Shortest Paths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100" name="Group 4"/>
          <p:cNvGrpSpPr/>
          <p:nvPr/>
        </p:nvGrpSpPr>
        <p:grpSpPr>
          <a:xfrm>
            <a:off x="1030288" y="1524000"/>
            <a:ext cx="2306637" cy="1665288"/>
            <a:chOff x="480" y="596"/>
            <a:chExt cx="1453" cy="1049"/>
          </a:xfrm>
        </p:grpSpPr>
        <p:sp>
          <p:nvSpPr>
            <p:cNvPr id="6176" name="Oval 5"/>
            <p:cNvSpPr>
              <a:spLocks noChangeAspect="1"/>
            </p:cNvSpPr>
            <p:nvPr/>
          </p:nvSpPr>
          <p:spPr>
            <a:xfrm>
              <a:off x="763" y="596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7" name="Oval 6"/>
            <p:cNvSpPr>
              <a:spLocks noChangeAspect="1"/>
            </p:cNvSpPr>
            <p:nvPr/>
          </p:nvSpPr>
          <p:spPr>
            <a:xfrm>
              <a:off x="1368" y="596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8" name="Line 7"/>
            <p:cNvSpPr>
              <a:spLocks noChangeAspect="1"/>
            </p:cNvSpPr>
            <p:nvPr/>
          </p:nvSpPr>
          <p:spPr>
            <a:xfrm>
              <a:off x="1005" y="717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79" name="Oval 8"/>
            <p:cNvSpPr>
              <a:spLocks noChangeAspect="1"/>
            </p:cNvSpPr>
            <p:nvPr/>
          </p:nvSpPr>
          <p:spPr>
            <a:xfrm>
              <a:off x="803" y="1403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80" name="Oval 9"/>
            <p:cNvSpPr>
              <a:spLocks noChangeAspect="1"/>
            </p:cNvSpPr>
            <p:nvPr/>
          </p:nvSpPr>
          <p:spPr>
            <a:xfrm>
              <a:off x="1408" y="1403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81" name="Line 10"/>
            <p:cNvSpPr>
              <a:spLocks noChangeAspect="1"/>
            </p:cNvSpPr>
            <p:nvPr/>
          </p:nvSpPr>
          <p:spPr>
            <a:xfrm>
              <a:off x="1045" y="1524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6182" name="Oval 11"/>
            <p:cNvSpPr>
              <a:spLocks noChangeAspect="1"/>
            </p:cNvSpPr>
            <p:nvPr/>
          </p:nvSpPr>
          <p:spPr>
            <a:xfrm>
              <a:off x="480" y="999"/>
              <a:ext cx="242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83" name="Oval 12"/>
            <p:cNvSpPr>
              <a:spLocks noChangeAspect="1"/>
            </p:cNvSpPr>
            <p:nvPr/>
          </p:nvSpPr>
          <p:spPr>
            <a:xfrm>
              <a:off x="1085" y="999"/>
              <a:ext cx="243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84" name="Line 13"/>
            <p:cNvSpPr>
              <a:spLocks noChangeAspect="1"/>
            </p:cNvSpPr>
            <p:nvPr/>
          </p:nvSpPr>
          <p:spPr>
            <a:xfrm>
              <a:off x="722" y="1121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6185" name="Oval 14"/>
            <p:cNvSpPr>
              <a:spLocks noChangeAspect="1"/>
            </p:cNvSpPr>
            <p:nvPr/>
          </p:nvSpPr>
          <p:spPr>
            <a:xfrm>
              <a:off x="1691" y="999"/>
              <a:ext cx="242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86" name="Line 15"/>
            <p:cNvSpPr>
              <a:spLocks noChangeAspect="1"/>
            </p:cNvSpPr>
            <p:nvPr/>
          </p:nvSpPr>
          <p:spPr>
            <a:xfrm>
              <a:off x="1328" y="1121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87" name="Line 16"/>
            <p:cNvSpPr>
              <a:spLocks noChangeAspect="1"/>
            </p:cNvSpPr>
            <p:nvPr/>
          </p:nvSpPr>
          <p:spPr>
            <a:xfrm flipH="1">
              <a:off x="601" y="798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6188" name="Line 17"/>
            <p:cNvSpPr>
              <a:spLocks noChangeAspect="1"/>
            </p:cNvSpPr>
            <p:nvPr/>
          </p:nvSpPr>
          <p:spPr>
            <a:xfrm flipH="1">
              <a:off x="1529" y="1201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89" name="Line 18"/>
            <p:cNvSpPr>
              <a:spLocks noChangeAspect="1"/>
            </p:cNvSpPr>
            <p:nvPr/>
          </p:nvSpPr>
          <p:spPr>
            <a:xfrm>
              <a:off x="964" y="798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90" name="Line 19"/>
            <p:cNvSpPr>
              <a:spLocks noChangeAspect="1"/>
            </p:cNvSpPr>
            <p:nvPr/>
          </p:nvSpPr>
          <p:spPr>
            <a:xfrm>
              <a:off x="1610" y="798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91" name="Line 20"/>
            <p:cNvSpPr>
              <a:spLocks noChangeAspect="1"/>
            </p:cNvSpPr>
            <p:nvPr/>
          </p:nvSpPr>
          <p:spPr>
            <a:xfrm>
              <a:off x="682" y="1201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92" name="Line 21"/>
            <p:cNvSpPr>
              <a:spLocks noChangeAspect="1"/>
            </p:cNvSpPr>
            <p:nvPr/>
          </p:nvSpPr>
          <p:spPr>
            <a:xfrm>
              <a:off x="1287" y="1201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93" name="Line 22"/>
            <p:cNvSpPr>
              <a:spLocks noChangeAspect="1"/>
            </p:cNvSpPr>
            <p:nvPr/>
          </p:nvSpPr>
          <p:spPr>
            <a:xfrm flipH="1">
              <a:off x="1207" y="798"/>
              <a:ext cx="201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94" name="Line 23"/>
            <p:cNvSpPr>
              <a:spLocks noChangeAspect="1"/>
            </p:cNvSpPr>
            <p:nvPr/>
          </p:nvSpPr>
          <p:spPr>
            <a:xfrm flipH="1">
              <a:off x="924" y="1201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120" name="Text Box 24"/>
          <p:cNvSpPr txBox="1"/>
          <p:nvPr/>
        </p:nvSpPr>
        <p:spPr>
          <a:xfrm>
            <a:off x="801688" y="2178050"/>
            <a:ext cx="304800" cy="3365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21" name="Oval 25"/>
          <p:cNvSpPr/>
          <p:nvPr/>
        </p:nvSpPr>
        <p:spPr>
          <a:xfrm>
            <a:off x="1030288" y="2178050"/>
            <a:ext cx="381000" cy="3810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22" name="Text Box 26"/>
          <p:cNvSpPr txBox="1"/>
          <p:nvPr/>
        </p:nvSpPr>
        <p:spPr>
          <a:xfrm>
            <a:off x="3773488" y="1431925"/>
            <a:ext cx="1295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000" b="1" dirty="0">
                <a:latin typeface="Times New Roman" panose="02020603050405020304" pitchFamily="18" charset="0"/>
              </a:rPr>
              <a:t>: 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3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123" name="Text Box 27"/>
          <p:cNvSpPr txBox="1"/>
          <p:nvPr/>
        </p:nvSpPr>
        <p:spPr>
          <a:xfrm>
            <a:off x="3773488" y="1889125"/>
            <a:ext cx="9906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</a:rPr>
              <a:t>: 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124" name="Rectangle 28"/>
          <p:cNvSpPr/>
          <p:nvPr/>
        </p:nvSpPr>
        <p:spPr>
          <a:xfrm>
            <a:off x="4535488" y="1949450"/>
            <a:ext cx="1331912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and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6</a:t>
            </a:r>
            <a:endParaRPr lang="en-US" altLang="zh-CN" sz="2000" b="1" baseline="-250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125" name="Text Box 29"/>
          <p:cNvSpPr txBox="1"/>
          <p:nvPr/>
        </p:nvSpPr>
        <p:spPr>
          <a:xfrm>
            <a:off x="1258888" y="1492250"/>
            <a:ext cx="304800" cy="3365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26" name="Text Box 30"/>
          <p:cNvSpPr txBox="1"/>
          <p:nvPr/>
        </p:nvSpPr>
        <p:spPr>
          <a:xfrm>
            <a:off x="1335088" y="2863850"/>
            <a:ext cx="304800" cy="3365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27" name="Text Box 31"/>
          <p:cNvSpPr txBox="1"/>
          <p:nvPr/>
        </p:nvSpPr>
        <p:spPr>
          <a:xfrm>
            <a:off x="3773488" y="2346325"/>
            <a:ext cx="9906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: 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128" name="Rectangle 32"/>
          <p:cNvSpPr/>
          <p:nvPr/>
        </p:nvSpPr>
        <p:spPr>
          <a:xfrm>
            <a:off x="4535488" y="2422525"/>
            <a:ext cx="1331912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and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4</a:t>
            </a:r>
            <a:endParaRPr lang="en-US" altLang="zh-CN" sz="2000" b="1" baseline="-250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129" name="Text Box 33"/>
          <p:cNvSpPr txBox="1"/>
          <p:nvPr/>
        </p:nvSpPr>
        <p:spPr>
          <a:xfrm>
            <a:off x="2782888" y="1492250"/>
            <a:ext cx="304800" cy="3365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30" name="Text Box 34"/>
          <p:cNvSpPr txBox="1"/>
          <p:nvPr/>
        </p:nvSpPr>
        <p:spPr>
          <a:xfrm>
            <a:off x="2325688" y="2025650"/>
            <a:ext cx="304800" cy="3365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31" name="Text Box 35"/>
          <p:cNvSpPr txBox="1"/>
          <p:nvPr/>
        </p:nvSpPr>
        <p:spPr>
          <a:xfrm>
            <a:off x="3773488" y="2803525"/>
            <a:ext cx="9906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000" b="1" dirty="0">
                <a:latin typeface="Times New Roman" panose="02020603050405020304" pitchFamily="18" charset="0"/>
              </a:rPr>
              <a:t>: 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132" name="Rectangle 36"/>
          <p:cNvSpPr/>
          <p:nvPr/>
        </p:nvSpPr>
        <p:spPr>
          <a:xfrm>
            <a:off x="4535488" y="2879725"/>
            <a:ext cx="5334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5</a:t>
            </a:r>
            <a:endParaRPr lang="en-US" altLang="zh-CN" sz="2000" b="1" baseline="-250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133" name="Rectangle 37"/>
          <p:cNvSpPr/>
          <p:nvPr/>
        </p:nvSpPr>
        <p:spPr>
          <a:xfrm>
            <a:off x="4803775" y="2879725"/>
            <a:ext cx="950913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and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7</a:t>
            </a:r>
            <a:endParaRPr lang="en-US" altLang="zh-CN" sz="2000" b="1" baseline="-250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134" name="Text Box 38"/>
          <p:cNvSpPr txBox="1"/>
          <p:nvPr/>
        </p:nvSpPr>
        <p:spPr>
          <a:xfrm>
            <a:off x="3316288" y="2178050"/>
            <a:ext cx="304800" cy="3365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35" name="Text Box 39"/>
          <p:cNvSpPr txBox="1"/>
          <p:nvPr/>
        </p:nvSpPr>
        <p:spPr>
          <a:xfrm>
            <a:off x="2859088" y="2863850"/>
            <a:ext cx="304800" cy="3365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36" name="Text Box 40"/>
          <p:cNvSpPr txBox="1"/>
          <p:nvPr/>
        </p:nvSpPr>
        <p:spPr>
          <a:xfrm>
            <a:off x="914400" y="822325"/>
            <a:ext cx="2590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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Sketch of the idea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137" name="AutoShape 41" descr="棕色大理石"/>
          <p:cNvSpPr/>
          <p:nvPr/>
        </p:nvSpPr>
        <p:spPr>
          <a:xfrm>
            <a:off x="6019800" y="1736725"/>
            <a:ext cx="2362200" cy="1219200"/>
          </a:xfrm>
          <a:prstGeom prst="bevel">
            <a:avLst>
              <a:gd name="adj" fmla="val 3440"/>
            </a:avLst>
          </a:prstGeom>
          <a:blipFill rotWithShape="0">
            <a:blip r:embed="rId1"/>
          </a:blipFill>
          <a:ln w="25400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Breadth-first search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38" name="Text Box 42"/>
          <p:cNvSpPr txBox="1"/>
          <p:nvPr/>
        </p:nvSpPr>
        <p:spPr>
          <a:xfrm>
            <a:off x="990600" y="3565525"/>
            <a:ext cx="2590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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Implementation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139" name="Rectangle 43"/>
          <p:cNvSpPr/>
          <p:nvPr/>
        </p:nvSpPr>
        <p:spPr>
          <a:xfrm>
            <a:off x="1143000" y="4175125"/>
            <a:ext cx="7315200" cy="7016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472305" lvl="0" indent="-4472305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Table[ i ].Dist ::= 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distance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from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s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to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0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CN" sz="2000" b="1" dirty="0">
                <a:solidFill>
                  <a:srgbClr val="0099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/* initialized to be </a:t>
            </a:r>
            <a:r>
              <a:rPr lang="en-US" altLang="zh-CN" sz="20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 except for </a:t>
            </a:r>
            <a:r>
              <a:rPr lang="en-US" altLang="zh-CN" sz="2000" b="1" i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0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*/</a:t>
            </a:r>
            <a:endParaRPr lang="en-US" altLang="zh-CN" sz="2000" b="1" dirty="0">
              <a:solidFill>
                <a:srgbClr val="009900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140" name="Rectangle 44"/>
          <p:cNvSpPr/>
          <p:nvPr/>
        </p:nvSpPr>
        <p:spPr>
          <a:xfrm>
            <a:off x="1143000" y="4860925"/>
            <a:ext cx="7389813" cy="1158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Table[ i ].Known ::= 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if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000" b="1" i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is checked; or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0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if not  </a:t>
            </a:r>
            <a:r>
              <a:rPr lang="en-US" altLang="zh-CN" sz="2000" b="1" dirty="0">
                <a:solidFill>
                  <a:srgbClr val="0099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/* initialized to be 0 */</a:t>
            </a:r>
            <a:endParaRPr lang="en-US" altLang="zh-CN" sz="2000" b="1" dirty="0">
              <a:solidFill>
                <a:srgbClr val="009900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en-US" altLang="zh-CN" sz="2000" b="1" dirty="0">
              <a:solidFill>
                <a:srgbClr val="009900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141" name="Rectangle 45"/>
          <p:cNvSpPr/>
          <p:nvPr/>
        </p:nvSpPr>
        <p:spPr>
          <a:xfrm>
            <a:off x="1143000" y="5624513"/>
            <a:ext cx="73914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Table[ i ].Path ::= for tracking the path   </a:t>
            </a:r>
            <a:r>
              <a:rPr lang="en-US" altLang="zh-CN" sz="2000" b="1" dirty="0">
                <a:solidFill>
                  <a:srgbClr val="0099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/* initialized to be 0 */</a:t>
            </a:r>
            <a:endParaRPr lang="en-US" altLang="zh-CN" sz="2000" b="1" dirty="0">
              <a:solidFill>
                <a:srgbClr val="009900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143" name="Oval 47"/>
          <p:cNvSpPr/>
          <p:nvPr/>
        </p:nvSpPr>
        <p:spPr>
          <a:xfrm>
            <a:off x="1476375" y="1517650"/>
            <a:ext cx="381000" cy="381000"/>
          </a:xfrm>
          <a:prstGeom prst="ellipse">
            <a:avLst/>
          </a:prstGeom>
          <a:solidFill>
            <a:srgbClr val="99CC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44" name="Oval 48"/>
          <p:cNvSpPr/>
          <p:nvPr/>
        </p:nvSpPr>
        <p:spPr>
          <a:xfrm>
            <a:off x="1547813" y="2805113"/>
            <a:ext cx="381000" cy="381000"/>
          </a:xfrm>
          <a:prstGeom prst="ellipse">
            <a:avLst/>
          </a:prstGeom>
          <a:solidFill>
            <a:srgbClr val="99CC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45" name="Oval 49"/>
          <p:cNvSpPr/>
          <p:nvPr/>
        </p:nvSpPr>
        <p:spPr>
          <a:xfrm>
            <a:off x="2439988" y="1535113"/>
            <a:ext cx="381000" cy="381000"/>
          </a:xfrm>
          <a:prstGeom prst="ellipse">
            <a:avLst/>
          </a:prstGeom>
          <a:solidFill>
            <a:srgbClr val="FF99CC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46" name="Oval 50"/>
          <p:cNvSpPr/>
          <p:nvPr/>
        </p:nvSpPr>
        <p:spPr>
          <a:xfrm>
            <a:off x="2006600" y="2166938"/>
            <a:ext cx="381000" cy="381000"/>
          </a:xfrm>
          <a:prstGeom prst="ellipse">
            <a:avLst/>
          </a:prstGeom>
          <a:solidFill>
            <a:srgbClr val="FF99CC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47" name="Oval 51"/>
          <p:cNvSpPr/>
          <p:nvPr/>
        </p:nvSpPr>
        <p:spPr>
          <a:xfrm>
            <a:off x="2955925" y="2162175"/>
            <a:ext cx="381000" cy="381000"/>
          </a:xfrm>
          <a:prstGeom prst="ellipse">
            <a:avLst/>
          </a:prstGeom>
          <a:solidFill>
            <a:srgbClr val="3366FF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48" name="Oval 52"/>
          <p:cNvSpPr/>
          <p:nvPr/>
        </p:nvSpPr>
        <p:spPr>
          <a:xfrm>
            <a:off x="2506663" y="2808288"/>
            <a:ext cx="381000" cy="381000"/>
          </a:xfrm>
          <a:prstGeom prst="ellipse">
            <a:avLst/>
          </a:prstGeom>
          <a:solidFill>
            <a:srgbClr val="3366FF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9" dur="5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5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/>
      <p:bldP spid="4120" grpId="0"/>
      <p:bldP spid="4121" grpId="0" animBg="1"/>
      <p:bldP spid="4122" grpId="0"/>
      <p:bldP spid="4123" grpId="0"/>
      <p:bldP spid="4124" grpId="0"/>
      <p:bldP spid="4125" grpId="0"/>
      <p:bldP spid="4126" grpId="0"/>
      <p:bldP spid="4127" grpId="0"/>
      <p:bldP spid="4128" grpId="0"/>
      <p:bldP spid="4129" grpId="0"/>
      <p:bldP spid="4130" grpId="0"/>
      <p:bldP spid="4131" grpId="0"/>
      <p:bldP spid="4132" grpId="0"/>
      <p:bldP spid="4133" grpId="0"/>
      <p:bldP spid="4134" grpId="0"/>
      <p:bldP spid="4135" grpId="0"/>
      <p:bldP spid="4136" grpId="0"/>
      <p:bldP spid="4137" grpId="0" animBg="1"/>
      <p:bldP spid="4138" grpId="0"/>
      <p:bldP spid="4139" grpId="0"/>
      <p:bldP spid="4140" grpId="0"/>
      <p:bldP spid="4141" grpId="0"/>
      <p:bldP spid="4143" grpId="0" animBg="1"/>
      <p:bldP spid="4144" grpId="0" animBg="1"/>
      <p:bldP spid="4145" grpId="0" animBg="1"/>
      <p:bldP spid="4146" grpId="0" animBg="1"/>
      <p:bldP spid="4147" grpId="0" animBg="1"/>
      <p:bldP spid="414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123" name="AutoShape 3"/>
          <p:cNvSpPr/>
          <p:nvPr/>
        </p:nvSpPr>
        <p:spPr>
          <a:xfrm>
            <a:off x="685800" y="1400175"/>
            <a:ext cx="7620000" cy="4572000"/>
          </a:xfrm>
          <a:prstGeom prst="foldedCorner">
            <a:avLst>
              <a:gd name="adj" fmla="val 7787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>
            <a:noFill/>
          </a:ln>
        </p:spPr>
        <p:txBody>
          <a:bodyPr lIns="126000" tIns="82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void</a:t>
            </a:r>
            <a:r>
              <a:rPr lang="en-US" altLang="zh-CN" sz="1800" b="1" dirty="0">
                <a:latin typeface="Arial" panose="020B0604020202020204" pitchFamily="34" charset="0"/>
              </a:rPr>
              <a:t> Unweighted( Table T )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 dirty="0">
                <a:latin typeface="Arial" panose="020B0604020202020204" pitchFamily="34" charset="0"/>
              </a:rPr>
              <a:t>  CurrDist;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Vertex  V, W;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 dirty="0">
                <a:latin typeface="Arial" panose="020B0604020202020204" pitchFamily="34" charset="0"/>
              </a:rPr>
              <a:t> ( CurrDist = 0; CurrDist &lt; NumVertex; CurrDist ++ ) {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 dirty="0">
                <a:latin typeface="Arial" panose="020B0604020202020204" pitchFamily="34" charset="0"/>
              </a:rPr>
              <a:t> ( each vertex V )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!T[ V ].Known &amp;&amp; T[ V ].Dist == CurrDist ) {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T[ V ].Known =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true</a:t>
            </a:r>
            <a:r>
              <a:rPr lang="en-US" altLang="zh-CN" sz="1800" b="1" dirty="0">
                <a:latin typeface="Arial" panose="020B0604020202020204" pitchFamily="34" charset="0"/>
              </a:rPr>
              <a:t>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 dirty="0">
                <a:latin typeface="Arial" panose="020B0604020202020204" pitchFamily="34" charset="0"/>
              </a:rPr>
              <a:t> ( each W adjacent to V )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T[ W ].Dist == Infinity ) {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T[ W ].Dist = CurrDist + 1;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T[ W ].Path = V;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} </a:t>
            </a: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end-if Dist == Infinity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} </a:t>
            </a: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end-if !Known &amp;&amp; Dist == CurrDist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}  </a:t>
            </a: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end-for CurrDist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5144" name="Line 24"/>
          <p:cNvSpPr/>
          <p:nvPr/>
        </p:nvSpPr>
        <p:spPr>
          <a:xfrm>
            <a:off x="1295400" y="2847975"/>
            <a:ext cx="21336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45" name="Text Box 25"/>
          <p:cNvSpPr txBox="1"/>
          <p:nvPr/>
        </p:nvSpPr>
        <p:spPr>
          <a:xfrm>
            <a:off x="4343400" y="5210175"/>
            <a:ext cx="2514600" cy="6413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FF9933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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 T</a:t>
            </a:r>
            <a:r>
              <a:rPr lang="en-US" altLang="zh-CN" sz="2000" b="1" dirty="0">
                <a:latin typeface="Times New Roman" panose="02020603050405020304" pitchFamily="18" charset="0"/>
              </a:rPr>
              <a:t> = O( |V|</a:t>
            </a:r>
            <a:r>
              <a:rPr lang="en-US" altLang="zh-CN" sz="20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 )</a:t>
            </a:r>
            <a:endParaRPr lang="en-US" altLang="zh-CN" sz="2000" b="1" i="1" dirty="0">
              <a:latin typeface="Times New Roman" panose="02020603050405020304" pitchFamily="18" charset="0"/>
            </a:endParaRPr>
          </a:p>
        </p:txBody>
      </p:sp>
      <p:sp>
        <p:nvSpPr>
          <p:cNvPr id="5146" name="AutoShape 26"/>
          <p:cNvSpPr/>
          <p:nvPr/>
        </p:nvSpPr>
        <p:spPr>
          <a:xfrm>
            <a:off x="5486400" y="3152775"/>
            <a:ext cx="3124200" cy="2057400"/>
          </a:xfrm>
          <a:prstGeom prst="wedgeEllipseCallout">
            <a:avLst>
              <a:gd name="adj1" fmla="val -112144"/>
              <a:gd name="adj2" fmla="val -54167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27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If </a:t>
            </a:r>
            <a:r>
              <a:rPr lang="en-US" altLang="zh-CN" sz="1800" b="1" dirty="0">
                <a:latin typeface="Arial" panose="020B0604020202020204" pitchFamily="34" charset="0"/>
              </a:rPr>
              <a:t>V</a:t>
            </a:r>
            <a:r>
              <a:rPr lang="en-US" altLang="zh-CN" sz="2000" b="1" dirty="0">
                <a:latin typeface="Times New Roman" panose="02020603050405020304" pitchFamily="18" charset="0"/>
              </a:rPr>
              <a:t> is unknown yet has </a:t>
            </a:r>
            <a:r>
              <a:rPr lang="en-US" altLang="zh-CN" sz="1800" b="1" dirty="0">
                <a:latin typeface="Arial" panose="020B0604020202020204" pitchFamily="34" charset="0"/>
              </a:rPr>
              <a:t>Dist &lt; Infinity</a:t>
            </a:r>
            <a:r>
              <a:rPr lang="en-US" altLang="zh-CN" sz="2000" b="1" dirty="0">
                <a:latin typeface="Times New Roman" panose="02020603050405020304" pitchFamily="18" charset="0"/>
              </a:rPr>
              <a:t>, then </a:t>
            </a:r>
            <a:r>
              <a:rPr lang="en-US" altLang="zh-CN" sz="1800" b="1" dirty="0">
                <a:latin typeface="Arial" panose="020B0604020202020204" pitchFamily="34" charset="0"/>
              </a:rPr>
              <a:t>Dist</a:t>
            </a:r>
            <a:r>
              <a:rPr lang="en-US" altLang="zh-CN" sz="2000" b="1" dirty="0">
                <a:latin typeface="Times New Roman" panose="02020603050405020304" pitchFamily="18" charset="0"/>
              </a:rPr>
              <a:t> is either </a:t>
            </a:r>
            <a:r>
              <a:rPr lang="en-US" altLang="zh-CN" sz="1800" b="1" dirty="0">
                <a:latin typeface="Arial" panose="020B0604020202020204" pitchFamily="34" charset="0"/>
              </a:rPr>
              <a:t>CurrDist </a:t>
            </a:r>
            <a:r>
              <a:rPr lang="en-US" altLang="zh-CN" sz="2000" b="1" dirty="0">
                <a:latin typeface="Times New Roman" panose="02020603050405020304" pitchFamily="18" charset="0"/>
              </a:rPr>
              <a:t>or </a:t>
            </a:r>
            <a:r>
              <a:rPr lang="en-US" altLang="zh-CN" sz="1800" b="1" dirty="0">
                <a:latin typeface="Arial" panose="020B0604020202020204" pitchFamily="34" charset="0"/>
              </a:rPr>
              <a:t>CurrDist+1</a:t>
            </a:r>
            <a:r>
              <a:rPr lang="en-US" altLang="zh-CN" sz="2000" b="1" dirty="0">
                <a:latin typeface="Times New Roman" panose="02020603050405020304" pitchFamily="18" charset="0"/>
              </a:rPr>
              <a:t>.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7174" name="Group 4"/>
          <p:cNvGrpSpPr/>
          <p:nvPr/>
        </p:nvGrpSpPr>
        <p:grpSpPr>
          <a:xfrm>
            <a:off x="5794375" y="323850"/>
            <a:ext cx="2306638" cy="1665288"/>
            <a:chOff x="480" y="596"/>
            <a:chExt cx="1453" cy="1049"/>
          </a:xfrm>
        </p:grpSpPr>
        <p:sp>
          <p:nvSpPr>
            <p:cNvPr id="7175" name="Oval 5"/>
            <p:cNvSpPr>
              <a:spLocks noChangeAspect="1"/>
            </p:cNvSpPr>
            <p:nvPr/>
          </p:nvSpPr>
          <p:spPr>
            <a:xfrm>
              <a:off x="763" y="596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76" name="Oval 6"/>
            <p:cNvSpPr>
              <a:spLocks noChangeAspect="1"/>
            </p:cNvSpPr>
            <p:nvPr/>
          </p:nvSpPr>
          <p:spPr>
            <a:xfrm>
              <a:off x="1368" y="596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77" name="Line 7"/>
            <p:cNvSpPr>
              <a:spLocks noChangeAspect="1"/>
            </p:cNvSpPr>
            <p:nvPr/>
          </p:nvSpPr>
          <p:spPr>
            <a:xfrm>
              <a:off x="1005" y="717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78" name="Oval 8"/>
            <p:cNvSpPr>
              <a:spLocks noChangeAspect="1"/>
            </p:cNvSpPr>
            <p:nvPr/>
          </p:nvSpPr>
          <p:spPr>
            <a:xfrm>
              <a:off x="803" y="1403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79" name="Oval 9"/>
            <p:cNvSpPr>
              <a:spLocks noChangeAspect="1"/>
            </p:cNvSpPr>
            <p:nvPr/>
          </p:nvSpPr>
          <p:spPr>
            <a:xfrm>
              <a:off x="1408" y="1403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80" name="Line 10"/>
            <p:cNvSpPr>
              <a:spLocks noChangeAspect="1"/>
            </p:cNvSpPr>
            <p:nvPr/>
          </p:nvSpPr>
          <p:spPr>
            <a:xfrm>
              <a:off x="1045" y="1524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7181" name="Oval 11"/>
            <p:cNvSpPr>
              <a:spLocks noChangeAspect="1"/>
            </p:cNvSpPr>
            <p:nvPr/>
          </p:nvSpPr>
          <p:spPr>
            <a:xfrm>
              <a:off x="480" y="999"/>
              <a:ext cx="242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82" name="Oval 12"/>
            <p:cNvSpPr>
              <a:spLocks noChangeAspect="1"/>
            </p:cNvSpPr>
            <p:nvPr/>
          </p:nvSpPr>
          <p:spPr>
            <a:xfrm>
              <a:off x="1085" y="999"/>
              <a:ext cx="243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83" name="Line 13"/>
            <p:cNvSpPr>
              <a:spLocks noChangeAspect="1"/>
            </p:cNvSpPr>
            <p:nvPr/>
          </p:nvSpPr>
          <p:spPr>
            <a:xfrm>
              <a:off x="722" y="1121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7184" name="Oval 14"/>
            <p:cNvSpPr>
              <a:spLocks noChangeAspect="1"/>
            </p:cNvSpPr>
            <p:nvPr/>
          </p:nvSpPr>
          <p:spPr>
            <a:xfrm>
              <a:off x="1691" y="999"/>
              <a:ext cx="242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85" name="Line 15"/>
            <p:cNvSpPr>
              <a:spLocks noChangeAspect="1"/>
            </p:cNvSpPr>
            <p:nvPr/>
          </p:nvSpPr>
          <p:spPr>
            <a:xfrm>
              <a:off x="1328" y="1121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86" name="Line 16"/>
            <p:cNvSpPr>
              <a:spLocks noChangeAspect="1"/>
            </p:cNvSpPr>
            <p:nvPr/>
          </p:nvSpPr>
          <p:spPr>
            <a:xfrm flipH="1">
              <a:off x="601" y="798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7187" name="Line 17"/>
            <p:cNvSpPr>
              <a:spLocks noChangeAspect="1"/>
            </p:cNvSpPr>
            <p:nvPr/>
          </p:nvSpPr>
          <p:spPr>
            <a:xfrm flipH="1">
              <a:off x="1529" y="1201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88" name="Line 18"/>
            <p:cNvSpPr>
              <a:spLocks noChangeAspect="1"/>
            </p:cNvSpPr>
            <p:nvPr/>
          </p:nvSpPr>
          <p:spPr>
            <a:xfrm>
              <a:off x="964" y="798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89" name="Line 19"/>
            <p:cNvSpPr>
              <a:spLocks noChangeAspect="1"/>
            </p:cNvSpPr>
            <p:nvPr/>
          </p:nvSpPr>
          <p:spPr>
            <a:xfrm>
              <a:off x="1610" y="798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90" name="Line 20"/>
            <p:cNvSpPr>
              <a:spLocks noChangeAspect="1"/>
            </p:cNvSpPr>
            <p:nvPr/>
          </p:nvSpPr>
          <p:spPr>
            <a:xfrm>
              <a:off x="682" y="1201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91" name="Line 21"/>
            <p:cNvSpPr>
              <a:spLocks noChangeAspect="1"/>
            </p:cNvSpPr>
            <p:nvPr/>
          </p:nvSpPr>
          <p:spPr>
            <a:xfrm>
              <a:off x="1287" y="1201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92" name="Line 22"/>
            <p:cNvSpPr>
              <a:spLocks noChangeAspect="1"/>
            </p:cNvSpPr>
            <p:nvPr/>
          </p:nvSpPr>
          <p:spPr>
            <a:xfrm flipH="1">
              <a:off x="1207" y="798"/>
              <a:ext cx="201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93" name="Line 23"/>
            <p:cNvSpPr>
              <a:spLocks noChangeAspect="1"/>
            </p:cNvSpPr>
            <p:nvPr/>
          </p:nvSpPr>
          <p:spPr>
            <a:xfrm flipH="1">
              <a:off x="924" y="1201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animBg="1"/>
      <p:bldP spid="5145" grpId="0"/>
      <p:bldP spid="51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147" name="Text Box 3"/>
          <p:cNvSpPr txBox="1"/>
          <p:nvPr/>
        </p:nvSpPr>
        <p:spPr>
          <a:xfrm>
            <a:off x="381000" y="228600"/>
            <a:ext cx="2209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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Improvement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6148" name="AutoShape 4"/>
          <p:cNvSpPr/>
          <p:nvPr/>
        </p:nvSpPr>
        <p:spPr>
          <a:xfrm>
            <a:off x="609600" y="762000"/>
            <a:ext cx="6019800" cy="5181600"/>
          </a:xfrm>
          <a:prstGeom prst="foldedCorner">
            <a:avLst>
              <a:gd name="adj" fmla="val 7787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82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void</a:t>
            </a:r>
            <a:r>
              <a:rPr lang="en-US" altLang="zh-CN" sz="1800" b="1" dirty="0">
                <a:latin typeface="Arial" panose="020B0604020202020204" pitchFamily="34" charset="0"/>
              </a:rPr>
              <a:t> Unweighted( Table T )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  </a:t>
            </a: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T is initialized with the source vertex S given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Queue  Q;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Vertex  V, W;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Q = CreateQueue (NumVertex );  MakeEmpty( Q );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Enqueue( S, Q ); </a:t>
            </a: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Enqueue the source vertex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while</a:t>
            </a:r>
            <a:r>
              <a:rPr lang="en-US" altLang="zh-CN" sz="1800" b="1" dirty="0">
                <a:latin typeface="Arial" panose="020B0604020202020204" pitchFamily="34" charset="0"/>
              </a:rPr>
              <a:t> ( !IsEmpty( Q ) ) {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V = Dequeue( Q );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T[ V ].Known =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true</a:t>
            </a:r>
            <a:r>
              <a:rPr lang="en-US" altLang="zh-CN" sz="1800" b="1" dirty="0">
                <a:latin typeface="Arial" panose="020B0604020202020204" pitchFamily="34" charset="0"/>
              </a:rPr>
              <a:t>; </a:t>
            </a: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not really necessary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 dirty="0">
                <a:latin typeface="Arial" panose="020B0604020202020204" pitchFamily="34" charset="0"/>
              </a:rPr>
              <a:t> ( each W adjacent to V )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T[ W ].Dist == Infinity ) {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T[ W ].Dist = T[ V ].Dist + 1;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T[ W ].Path = V;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Enqueue( W, Q );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} </a:t>
            </a: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end-if Dist == Infinity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} </a:t>
            </a: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end-while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latin typeface="Arial" panose="020B0604020202020204" pitchFamily="34" charset="0"/>
              </a:rPr>
              <a:t>DisposeQueue( Q );</a:t>
            </a: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 /* free memory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grpSp>
        <p:nvGrpSpPr>
          <p:cNvPr id="6149" name="Group 5"/>
          <p:cNvGrpSpPr>
            <a:grpSpLocks noChangeAspect="1"/>
          </p:cNvGrpSpPr>
          <p:nvPr/>
        </p:nvGrpSpPr>
        <p:grpSpPr>
          <a:xfrm>
            <a:off x="6858000" y="762000"/>
            <a:ext cx="1843088" cy="1330325"/>
            <a:chOff x="480" y="596"/>
            <a:chExt cx="1453" cy="1049"/>
          </a:xfrm>
        </p:grpSpPr>
        <p:sp>
          <p:nvSpPr>
            <p:cNvPr id="8264" name="Oval 6"/>
            <p:cNvSpPr>
              <a:spLocks noChangeAspect="1"/>
            </p:cNvSpPr>
            <p:nvPr/>
          </p:nvSpPr>
          <p:spPr>
            <a:xfrm>
              <a:off x="763" y="596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65" name="Oval 7"/>
            <p:cNvSpPr>
              <a:spLocks noChangeAspect="1"/>
            </p:cNvSpPr>
            <p:nvPr/>
          </p:nvSpPr>
          <p:spPr>
            <a:xfrm>
              <a:off x="1368" y="596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66" name="Line 8"/>
            <p:cNvSpPr>
              <a:spLocks noChangeAspect="1"/>
            </p:cNvSpPr>
            <p:nvPr/>
          </p:nvSpPr>
          <p:spPr>
            <a:xfrm>
              <a:off x="1005" y="717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67" name="Oval 9"/>
            <p:cNvSpPr>
              <a:spLocks noChangeAspect="1"/>
            </p:cNvSpPr>
            <p:nvPr/>
          </p:nvSpPr>
          <p:spPr>
            <a:xfrm>
              <a:off x="803" y="1403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68" name="Oval 10"/>
            <p:cNvSpPr>
              <a:spLocks noChangeAspect="1"/>
            </p:cNvSpPr>
            <p:nvPr/>
          </p:nvSpPr>
          <p:spPr>
            <a:xfrm>
              <a:off x="1408" y="1403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69" name="Line 11"/>
            <p:cNvSpPr>
              <a:spLocks noChangeAspect="1"/>
            </p:cNvSpPr>
            <p:nvPr/>
          </p:nvSpPr>
          <p:spPr>
            <a:xfrm>
              <a:off x="1045" y="1524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8270" name="Oval 12"/>
            <p:cNvSpPr>
              <a:spLocks noChangeAspect="1"/>
            </p:cNvSpPr>
            <p:nvPr/>
          </p:nvSpPr>
          <p:spPr>
            <a:xfrm>
              <a:off x="480" y="999"/>
              <a:ext cx="242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71" name="Oval 13"/>
            <p:cNvSpPr>
              <a:spLocks noChangeAspect="1"/>
            </p:cNvSpPr>
            <p:nvPr/>
          </p:nvSpPr>
          <p:spPr>
            <a:xfrm>
              <a:off x="1085" y="999"/>
              <a:ext cx="243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72" name="Line 14"/>
            <p:cNvSpPr>
              <a:spLocks noChangeAspect="1"/>
            </p:cNvSpPr>
            <p:nvPr/>
          </p:nvSpPr>
          <p:spPr>
            <a:xfrm>
              <a:off x="722" y="1121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8273" name="Oval 15"/>
            <p:cNvSpPr>
              <a:spLocks noChangeAspect="1"/>
            </p:cNvSpPr>
            <p:nvPr/>
          </p:nvSpPr>
          <p:spPr>
            <a:xfrm>
              <a:off x="1691" y="999"/>
              <a:ext cx="242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74" name="Line 16"/>
            <p:cNvSpPr>
              <a:spLocks noChangeAspect="1"/>
            </p:cNvSpPr>
            <p:nvPr/>
          </p:nvSpPr>
          <p:spPr>
            <a:xfrm>
              <a:off x="1328" y="1121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75" name="Line 17"/>
            <p:cNvSpPr>
              <a:spLocks noChangeAspect="1"/>
            </p:cNvSpPr>
            <p:nvPr/>
          </p:nvSpPr>
          <p:spPr>
            <a:xfrm flipH="1">
              <a:off x="601" y="798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8276" name="Line 18"/>
            <p:cNvSpPr>
              <a:spLocks noChangeAspect="1"/>
            </p:cNvSpPr>
            <p:nvPr/>
          </p:nvSpPr>
          <p:spPr>
            <a:xfrm flipH="1">
              <a:off x="1529" y="1201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77" name="Line 19"/>
            <p:cNvSpPr>
              <a:spLocks noChangeAspect="1"/>
            </p:cNvSpPr>
            <p:nvPr/>
          </p:nvSpPr>
          <p:spPr>
            <a:xfrm>
              <a:off x="964" y="798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78" name="Line 20"/>
            <p:cNvSpPr>
              <a:spLocks noChangeAspect="1"/>
            </p:cNvSpPr>
            <p:nvPr/>
          </p:nvSpPr>
          <p:spPr>
            <a:xfrm>
              <a:off x="1610" y="798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79" name="Line 21"/>
            <p:cNvSpPr>
              <a:spLocks noChangeAspect="1"/>
            </p:cNvSpPr>
            <p:nvPr/>
          </p:nvSpPr>
          <p:spPr>
            <a:xfrm>
              <a:off x="682" y="1201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80" name="Line 22"/>
            <p:cNvSpPr>
              <a:spLocks noChangeAspect="1"/>
            </p:cNvSpPr>
            <p:nvPr/>
          </p:nvSpPr>
          <p:spPr>
            <a:xfrm>
              <a:off x="1287" y="1201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81" name="Line 23"/>
            <p:cNvSpPr>
              <a:spLocks noChangeAspect="1"/>
            </p:cNvSpPr>
            <p:nvPr/>
          </p:nvSpPr>
          <p:spPr>
            <a:xfrm flipH="1">
              <a:off x="1207" y="798"/>
              <a:ext cx="201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82" name="Line 24"/>
            <p:cNvSpPr>
              <a:spLocks noChangeAspect="1"/>
            </p:cNvSpPr>
            <p:nvPr/>
          </p:nvSpPr>
          <p:spPr>
            <a:xfrm flipH="1">
              <a:off x="924" y="1201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169" name="Oval 25"/>
          <p:cNvSpPr/>
          <p:nvPr/>
        </p:nvSpPr>
        <p:spPr>
          <a:xfrm>
            <a:off x="6858000" y="1295400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170" name="Text Box 26"/>
          <p:cNvSpPr txBox="1"/>
          <p:nvPr/>
        </p:nvSpPr>
        <p:spPr>
          <a:xfrm>
            <a:off x="6705600" y="1035050"/>
            <a:ext cx="304800" cy="3365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171" name="Group 27"/>
          <p:cNvGrpSpPr/>
          <p:nvPr/>
        </p:nvGrpSpPr>
        <p:grpSpPr>
          <a:xfrm>
            <a:off x="6781800" y="2743200"/>
            <a:ext cx="1295400" cy="2438400"/>
            <a:chOff x="4416" y="1728"/>
            <a:chExt cx="816" cy="1536"/>
          </a:xfrm>
        </p:grpSpPr>
        <p:sp>
          <p:nvSpPr>
            <p:cNvPr id="8242" name="Rectangle 28"/>
            <p:cNvSpPr/>
            <p:nvPr/>
          </p:nvSpPr>
          <p:spPr>
            <a:xfrm>
              <a:off x="4656" y="1920"/>
              <a:ext cx="192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8243" name="Rectangle 29"/>
            <p:cNvSpPr/>
            <p:nvPr/>
          </p:nvSpPr>
          <p:spPr>
            <a:xfrm>
              <a:off x="4416" y="1900"/>
              <a:ext cx="217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8244" name="Rectangle 30"/>
            <p:cNvSpPr/>
            <p:nvPr/>
          </p:nvSpPr>
          <p:spPr>
            <a:xfrm>
              <a:off x="4560" y="1728"/>
              <a:ext cx="672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Dist</a:t>
              </a:r>
              <a:r>
                <a:rPr lang="en-US" altLang="zh-CN" sz="1400" b="1" dirty="0">
                  <a:latin typeface="Arial" panose="020B0604020202020204" pitchFamily="34" charset="0"/>
                </a:rPr>
                <a:t> </a:t>
              </a:r>
              <a:r>
                <a:rPr lang="en-US" altLang="zh-CN" sz="1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Path</a:t>
              </a:r>
              <a:endParaRPr lang="en-US" altLang="zh-CN" sz="14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45" name="Rectangle 31"/>
            <p:cNvSpPr/>
            <p:nvPr/>
          </p:nvSpPr>
          <p:spPr>
            <a:xfrm>
              <a:off x="4656" y="2112"/>
              <a:ext cx="192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8246" name="Rectangle 32"/>
            <p:cNvSpPr/>
            <p:nvPr/>
          </p:nvSpPr>
          <p:spPr>
            <a:xfrm>
              <a:off x="4416" y="2092"/>
              <a:ext cx="217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8247" name="Rectangle 33"/>
            <p:cNvSpPr/>
            <p:nvPr/>
          </p:nvSpPr>
          <p:spPr>
            <a:xfrm>
              <a:off x="4656" y="2304"/>
              <a:ext cx="192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48" name="Rectangle 34"/>
            <p:cNvSpPr/>
            <p:nvPr/>
          </p:nvSpPr>
          <p:spPr>
            <a:xfrm>
              <a:off x="4416" y="2284"/>
              <a:ext cx="217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8249" name="Rectangle 35"/>
            <p:cNvSpPr/>
            <p:nvPr/>
          </p:nvSpPr>
          <p:spPr>
            <a:xfrm>
              <a:off x="4656" y="2496"/>
              <a:ext cx="192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8250" name="Rectangle 36"/>
            <p:cNvSpPr/>
            <p:nvPr/>
          </p:nvSpPr>
          <p:spPr>
            <a:xfrm>
              <a:off x="4416" y="2476"/>
              <a:ext cx="217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8251" name="Rectangle 37"/>
            <p:cNvSpPr/>
            <p:nvPr/>
          </p:nvSpPr>
          <p:spPr>
            <a:xfrm>
              <a:off x="4656" y="2688"/>
              <a:ext cx="192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8252" name="Rectangle 38"/>
            <p:cNvSpPr/>
            <p:nvPr/>
          </p:nvSpPr>
          <p:spPr>
            <a:xfrm>
              <a:off x="4416" y="2668"/>
              <a:ext cx="217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8253" name="Rectangle 39"/>
            <p:cNvSpPr/>
            <p:nvPr/>
          </p:nvSpPr>
          <p:spPr>
            <a:xfrm>
              <a:off x="4656" y="2880"/>
              <a:ext cx="192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8254" name="Rectangle 40"/>
            <p:cNvSpPr/>
            <p:nvPr/>
          </p:nvSpPr>
          <p:spPr>
            <a:xfrm>
              <a:off x="4416" y="2860"/>
              <a:ext cx="217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8255" name="Rectangle 41"/>
            <p:cNvSpPr/>
            <p:nvPr/>
          </p:nvSpPr>
          <p:spPr>
            <a:xfrm>
              <a:off x="4656" y="3072"/>
              <a:ext cx="192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8256" name="Rectangle 42"/>
            <p:cNvSpPr/>
            <p:nvPr/>
          </p:nvSpPr>
          <p:spPr>
            <a:xfrm>
              <a:off x="4416" y="3052"/>
              <a:ext cx="217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8257" name="Rectangle 43"/>
            <p:cNvSpPr/>
            <p:nvPr/>
          </p:nvSpPr>
          <p:spPr>
            <a:xfrm>
              <a:off x="4848" y="1920"/>
              <a:ext cx="192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0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58" name="Rectangle 44"/>
            <p:cNvSpPr/>
            <p:nvPr/>
          </p:nvSpPr>
          <p:spPr>
            <a:xfrm>
              <a:off x="4848" y="2112"/>
              <a:ext cx="192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0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59" name="Rectangle 45"/>
            <p:cNvSpPr/>
            <p:nvPr/>
          </p:nvSpPr>
          <p:spPr>
            <a:xfrm>
              <a:off x="4848" y="2304"/>
              <a:ext cx="192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0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60" name="Rectangle 46"/>
            <p:cNvSpPr/>
            <p:nvPr/>
          </p:nvSpPr>
          <p:spPr>
            <a:xfrm>
              <a:off x="4848" y="2496"/>
              <a:ext cx="192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0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61" name="Rectangle 47"/>
            <p:cNvSpPr/>
            <p:nvPr/>
          </p:nvSpPr>
          <p:spPr>
            <a:xfrm>
              <a:off x="4848" y="2688"/>
              <a:ext cx="192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0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62" name="Rectangle 48"/>
            <p:cNvSpPr/>
            <p:nvPr/>
          </p:nvSpPr>
          <p:spPr>
            <a:xfrm>
              <a:off x="4848" y="2880"/>
              <a:ext cx="192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0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63" name="Rectangle 49"/>
            <p:cNvSpPr/>
            <p:nvPr/>
          </p:nvSpPr>
          <p:spPr>
            <a:xfrm>
              <a:off x="4848" y="3072"/>
              <a:ext cx="192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0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194" name="Rectangle 50"/>
          <p:cNvSpPr/>
          <p:nvPr/>
        </p:nvSpPr>
        <p:spPr>
          <a:xfrm>
            <a:off x="8153400" y="4953000"/>
            <a:ext cx="369888" cy="3619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600" b="1" baseline="-25000" dirty="0">
                <a:latin typeface="Times New Roman" panose="02020603050405020304" pitchFamily="18" charset="0"/>
              </a:rPr>
              <a:t>3</a:t>
            </a:r>
            <a:endParaRPr lang="en-US" altLang="zh-CN" sz="16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6195" name="Rectangle 51"/>
          <p:cNvSpPr/>
          <p:nvPr/>
        </p:nvSpPr>
        <p:spPr>
          <a:xfrm>
            <a:off x="8153400" y="3048000"/>
            <a:ext cx="369888" cy="3619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600" b="1" baseline="-25000" dirty="0">
                <a:latin typeface="Times New Roman" panose="02020603050405020304" pitchFamily="18" charset="0"/>
              </a:rPr>
              <a:t>7</a:t>
            </a:r>
            <a:endParaRPr lang="en-US" altLang="zh-CN" sz="16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6196" name="Rectangle 52"/>
          <p:cNvSpPr/>
          <p:nvPr/>
        </p:nvSpPr>
        <p:spPr>
          <a:xfrm>
            <a:off x="8153400" y="4953000"/>
            <a:ext cx="381000" cy="3810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197" name="Rectangle 53"/>
          <p:cNvSpPr/>
          <p:nvPr/>
        </p:nvSpPr>
        <p:spPr>
          <a:xfrm>
            <a:off x="7162800" y="3048000"/>
            <a:ext cx="304800" cy="3048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98" name="Rectangle 54"/>
          <p:cNvSpPr/>
          <p:nvPr/>
        </p:nvSpPr>
        <p:spPr>
          <a:xfrm>
            <a:off x="7467600" y="3048000"/>
            <a:ext cx="304800" cy="3048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6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1600" b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endParaRPr lang="en-US" altLang="zh-CN" sz="1600" b="1" baseline="-250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99" name="Rectangle 55"/>
          <p:cNvSpPr/>
          <p:nvPr/>
        </p:nvSpPr>
        <p:spPr>
          <a:xfrm>
            <a:off x="8153400" y="4953000"/>
            <a:ext cx="369888" cy="3619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6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16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6200" name="Rectangle 56"/>
          <p:cNvSpPr/>
          <p:nvPr/>
        </p:nvSpPr>
        <p:spPr>
          <a:xfrm>
            <a:off x="7162800" y="4572000"/>
            <a:ext cx="304800" cy="3048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01" name="Rectangle 57"/>
          <p:cNvSpPr/>
          <p:nvPr/>
        </p:nvSpPr>
        <p:spPr>
          <a:xfrm>
            <a:off x="7467600" y="4572000"/>
            <a:ext cx="304800" cy="3048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6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1600" b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endParaRPr lang="en-US" altLang="zh-CN" sz="1600" b="1" baseline="-250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02" name="Rectangle 58"/>
          <p:cNvSpPr/>
          <p:nvPr/>
        </p:nvSpPr>
        <p:spPr>
          <a:xfrm>
            <a:off x="8153400" y="4572000"/>
            <a:ext cx="369888" cy="3619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600" b="1" baseline="-25000" dirty="0">
                <a:latin typeface="Times New Roman" panose="02020603050405020304" pitchFamily="18" charset="0"/>
              </a:rPr>
              <a:t>6</a:t>
            </a:r>
            <a:endParaRPr lang="en-US" altLang="zh-CN" sz="16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6203" name="Text Box 59"/>
          <p:cNvSpPr txBox="1"/>
          <p:nvPr/>
        </p:nvSpPr>
        <p:spPr>
          <a:xfrm>
            <a:off x="7239000" y="457200"/>
            <a:ext cx="304800" cy="3365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04" name="Text Box 60"/>
          <p:cNvSpPr txBox="1"/>
          <p:nvPr/>
        </p:nvSpPr>
        <p:spPr>
          <a:xfrm>
            <a:off x="7239000" y="2057400"/>
            <a:ext cx="304800" cy="3365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05" name="Rectangle 61"/>
          <p:cNvSpPr/>
          <p:nvPr/>
        </p:nvSpPr>
        <p:spPr>
          <a:xfrm>
            <a:off x="8153400" y="4953000"/>
            <a:ext cx="381000" cy="3810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206" name="Oval 62"/>
          <p:cNvSpPr/>
          <p:nvPr/>
        </p:nvSpPr>
        <p:spPr>
          <a:xfrm>
            <a:off x="7239000" y="762000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207" name="Rectangle 63"/>
          <p:cNvSpPr/>
          <p:nvPr/>
        </p:nvSpPr>
        <p:spPr>
          <a:xfrm>
            <a:off x="7162800" y="3352800"/>
            <a:ext cx="304800" cy="3048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08" name="Text Box 64"/>
          <p:cNvSpPr txBox="1"/>
          <p:nvPr/>
        </p:nvSpPr>
        <p:spPr>
          <a:xfrm>
            <a:off x="8001000" y="457200"/>
            <a:ext cx="304800" cy="3365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09" name="Rectangle 65"/>
          <p:cNvSpPr/>
          <p:nvPr/>
        </p:nvSpPr>
        <p:spPr>
          <a:xfrm>
            <a:off x="7467600" y="3352800"/>
            <a:ext cx="304800" cy="3048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6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1600" b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1600" b="1" baseline="-250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10" name="Rectangle 66"/>
          <p:cNvSpPr/>
          <p:nvPr/>
        </p:nvSpPr>
        <p:spPr>
          <a:xfrm>
            <a:off x="8153400" y="4191000"/>
            <a:ext cx="369888" cy="3619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600" b="1" baseline="-25000" dirty="0">
                <a:latin typeface="Times New Roman" panose="02020603050405020304" pitchFamily="18" charset="0"/>
              </a:rPr>
              <a:t>2</a:t>
            </a:r>
            <a:endParaRPr lang="en-US" altLang="zh-CN" sz="16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6211" name="Rectangle 67"/>
          <p:cNvSpPr/>
          <p:nvPr/>
        </p:nvSpPr>
        <p:spPr>
          <a:xfrm>
            <a:off x="7162800" y="3962400"/>
            <a:ext cx="304800" cy="3048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12" name="Text Box 68"/>
          <p:cNvSpPr txBox="1"/>
          <p:nvPr/>
        </p:nvSpPr>
        <p:spPr>
          <a:xfrm>
            <a:off x="7391400" y="1143000"/>
            <a:ext cx="304800" cy="3365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13" name="Rectangle 69"/>
          <p:cNvSpPr/>
          <p:nvPr/>
        </p:nvSpPr>
        <p:spPr>
          <a:xfrm>
            <a:off x="7467600" y="3962400"/>
            <a:ext cx="304800" cy="3048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6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1600" b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1600" b="1" baseline="-250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14" name="Rectangle 70"/>
          <p:cNvSpPr/>
          <p:nvPr/>
        </p:nvSpPr>
        <p:spPr>
          <a:xfrm>
            <a:off x="8153400" y="3810000"/>
            <a:ext cx="369888" cy="3619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600" b="1" baseline="-25000" dirty="0">
                <a:latin typeface="Times New Roman" panose="02020603050405020304" pitchFamily="18" charset="0"/>
              </a:rPr>
              <a:t>4</a:t>
            </a:r>
            <a:endParaRPr lang="en-US" altLang="zh-CN" sz="16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6215" name="Rectangle 71"/>
          <p:cNvSpPr/>
          <p:nvPr/>
        </p:nvSpPr>
        <p:spPr>
          <a:xfrm>
            <a:off x="8153400" y="4572000"/>
            <a:ext cx="381000" cy="3810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216" name="Oval 72"/>
          <p:cNvSpPr/>
          <p:nvPr/>
        </p:nvSpPr>
        <p:spPr>
          <a:xfrm>
            <a:off x="7272338" y="1787525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217" name="Rectangle 73"/>
          <p:cNvSpPr/>
          <p:nvPr/>
        </p:nvSpPr>
        <p:spPr>
          <a:xfrm>
            <a:off x="8153400" y="4191000"/>
            <a:ext cx="381000" cy="3810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218" name="Oval 74"/>
          <p:cNvSpPr/>
          <p:nvPr/>
        </p:nvSpPr>
        <p:spPr>
          <a:xfrm>
            <a:off x="8001000" y="762000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219" name="Rectangle 75"/>
          <p:cNvSpPr/>
          <p:nvPr/>
        </p:nvSpPr>
        <p:spPr>
          <a:xfrm>
            <a:off x="7162800" y="4267200"/>
            <a:ext cx="304800" cy="3048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20" name="Text Box 76"/>
          <p:cNvSpPr txBox="1"/>
          <p:nvPr/>
        </p:nvSpPr>
        <p:spPr>
          <a:xfrm>
            <a:off x="8610600" y="1066800"/>
            <a:ext cx="304800" cy="3365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21" name="Rectangle 77"/>
          <p:cNvSpPr/>
          <p:nvPr/>
        </p:nvSpPr>
        <p:spPr>
          <a:xfrm>
            <a:off x="7467600" y="4267200"/>
            <a:ext cx="304800" cy="3048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6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1600" b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endParaRPr lang="en-US" altLang="zh-CN" sz="1600" b="1" baseline="-250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22" name="Rectangle 78"/>
          <p:cNvSpPr/>
          <p:nvPr/>
        </p:nvSpPr>
        <p:spPr>
          <a:xfrm>
            <a:off x="8153400" y="3429000"/>
            <a:ext cx="369888" cy="3619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600" b="1" baseline="-25000" dirty="0">
                <a:latin typeface="Times New Roman" panose="02020603050405020304" pitchFamily="18" charset="0"/>
              </a:rPr>
              <a:t>5</a:t>
            </a:r>
            <a:endParaRPr lang="en-US" altLang="zh-CN" sz="16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6223" name="Rectangle 79"/>
          <p:cNvSpPr/>
          <p:nvPr/>
        </p:nvSpPr>
        <p:spPr>
          <a:xfrm>
            <a:off x="8153400" y="3810000"/>
            <a:ext cx="381000" cy="3810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224" name="Oval 80"/>
          <p:cNvSpPr/>
          <p:nvPr/>
        </p:nvSpPr>
        <p:spPr>
          <a:xfrm>
            <a:off x="7620000" y="1295400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225" name="Rectangle 81"/>
          <p:cNvSpPr/>
          <p:nvPr/>
        </p:nvSpPr>
        <p:spPr>
          <a:xfrm>
            <a:off x="7162800" y="4876800"/>
            <a:ext cx="304800" cy="3048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26" name="Text Box 82"/>
          <p:cNvSpPr txBox="1"/>
          <p:nvPr/>
        </p:nvSpPr>
        <p:spPr>
          <a:xfrm>
            <a:off x="8077200" y="2025650"/>
            <a:ext cx="304800" cy="3365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27" name="Rectangle 83"/>
          <p:cNvSpPr/>
          <p:nvPr/>
        </p:nvSpPr>
        <p:spPr>
          <a:xfrm>
            <a:off x="7467600" y="4876800"/>
            <a:ext cx="304800" cy="3048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6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1600" b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4</a:t>
            </a:r>
            <a:endParaRPr lang="en-US" altLang="zh-CN" sz="1600" b="1" baseline="-250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28" name="Rectangle 84"/>
          <p:cNvSpPr/>
          <p:nvPr/>
        </p:nvSpPr>
        <p:spPr>
          <a:xfrm>
            <a:off x="8153400" y="3429000"/>
            <a:ext cx="381000" cy="3810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229" name="Oval 85"/>
          <p:cNvSpPr/>
          <p:nvPr/>
        </p:nvSpPr>
        <p:spPr>
          <a:xfrm>
            <a:off x="8416925" y="1258888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230" name="Rectangle 86"/>
          <p:cNvSpPr/>
          <p:nvPr/>
        </p:nvSpPr>
        <p:spPr>
          <a:xfrm>
            <a:off x="8153400" y="3048000"/>
            <a:ext cx="381000" cy="3810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231" name="Oval 87"/>
          <p:cNvSpPr/>
          <p:nvPr/>
        </p:nvSpPr>
        <p:spPr>
          <a:xfrm>
            <a:off x="8035925" y="1787525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6232" name="Group 88"/>
          <p:cNvGrpSpPr/>
          <p:nvPr/>
        </p:nvGrpSpPr>
        <p:grpSpPr>
          <a:xfrm>
            <a:off x="8077200" y="2743200"/>
            <a:ext cx="533400" cy="2667000"/>
            <a:chOff x="5040" y="1728"/>
            <a:chExt cx="336" cy="1680"/>
          </a:xfrm>
        </p:grpSpPr>
        <p:sp>
          <p:nvSpPr>
            <p:cNvPr id="8240" name="Rectangle 89" descr="深色木质"/>
            <p:cNvSpPr/>
            <p:nvPr/>
          </p:nvSpPr>
          <p:spPr>
            <a:xfrm>
              <a:off x="5040" y="1728"/>
              <a:ext cx="48" cy="1680"/>
            </a:xfrm>
            <a:prstGeom prst="rect">
              <a:avLst/>
            </a:prstGeom>
            <a:blipFill rotWithShape="0">
              <a:blip r:embed="rId1"/>
            </a:blipFill>
            <a:ln w="127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8241" name="Rectangle 90" descr="深色木质"/>
            <p:cNvSpPr/>
            <p:nvPr/>
          </p:nvSpPr>
          <p:spPr>
            <a:xfrm>
              <a:off x="5328" y="1728"/>
              <a:ext cx="48" cy="1680"/>
            </a:xfrm>
            <a:prstGeom prst="rect">
              <a:avLst/>
            </a:prstGeom>
            <a:blipFill rotWithShape="0">
              <a:blip r:embed="rId1"/>
            </a:blipFill>
            <a:ln w="127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6235" name="Text Box 91"/>
          <p:cNvSpPr txBox="1"/>
          <p:nvPr/>
        </p:nvSpPr>
        <p:spPr>
          <a:xfrm>
            <a:off x="6858000" y="5562600"/>
            <a:ext cx="20574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</a:rPr>
              <a:t> = O( |V| + |E| )</a:t>
            </a:r>
            <a:endParaRPr lang="en-US" altLang="zh-CN" sz="2000" b="1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6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500"/>
                                        <p:tgtEl>
                                          <p:spTgt spid="6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1" dur="500"/>
                                        <p:tgtEl>
                                          <p:spTgt spid="6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6" dur="500"/>
                                        <p:tgtEl>
                                          <p:spTgt spid="6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2" dur="500"/>
                                        <p:tgtEl>
                                          <p:spTgt spid="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7" dur="500"/>
                                        <p:tgtEl>
                                          <p:spTgt spid="6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6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6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6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6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6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6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0" dur="500"/>
                                        <p:tgtEl>
                                          <p:spTgt spid="6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5" dur="500"/>
                                        <p:tgtEl>
                                          <p:spTgt spid="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0" dur="500"/>
                                        <p:tgtEl>
                                          <p:spTgt spid="6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6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6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6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6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6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2" dur="500"/>
                                        <p:tgtEl>
                                          <p:spTgt spid="6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7" dur="500"/>
                                        <p:tgtEl>
                                          <p:spTgt spid="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2" dur="500"/>
                                        <p:tgtEl>
                                          <p:spTgt spid="6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6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6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6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6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500"/>
                                        <p:tgtEl>
                                          <p:spTgt spid="6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6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6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5" dur="500"/>
                                        <p:tgtEl>
                                          <p:spTgt spid="6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/>
      <p:bldP spid="6148" grpId="0" animBg="1"/>
      <p:bldP spid="6169" grpId="0" animBg="1"/>
      <p:bldP spid="6170" grpId="0"/>
      <p:bldP spid="6194" grpId="0" animBg="1"/>
      <p:bldP spid="6195" grpId="0" animBg="1"/>
      <p:bldP spid="6196" grpId="0" animBg="1"/>
      <p:bldP spid="6197" grpId="0" animBg="1"/>
      <p:bldP spid="6198" grpId="0" animBg="1"/>
      <p:bldP spid="6199" grpId="0" animBg="1"/>
      <p:bldP spid="6200" grpId="0" animBg="1"/>
      <p:bldP spid="6201" grpId="0" animBg="1"/>
      <p:bldP spid="6202" grpId="0" animBg="1"/>
      <p:bldP spid="6203" grpId="0"/>
      <p:bldP spid="6204" grpId="0"/>
      <p:bldP spid="6205" grpId="0" animBg="1"/>
      <p:bldP spid="6206" grpId="0" animBg="1"/>
      <p:bldP spid="6207" grpId="0" animBg="1"/>
      <p:bldP spid="6208" grpId="0"/>
      <p:bldP spid="6209" grpId="0" animBg="1"/>
      <p:bldP spid="6210" grpId="0" animBg="1"/>
      <p:bldP spid="6211" grpId="0" animBg="1"/>
      <p:bldP spid="6212" grpId="0"/>
      <p:bldP spid="6213" grpId="0" animBg="1"/>
      <p:bldP spid="6214" grpId="0" animBg="1"/>
      <p:bldP spid="6215" grpId="0" animBg="1"/>
      <p:bldP spid="6216" grpId="0" animBg="1"/>
      <p:bldP spid="6217" grpId="0" animBg="1"/>
      <p:bldP spid="6218" grpId="0" animBg="1"/>
      <p:bldP spid="6219" grpId="0" animBg="1"/>
      <p:bldP spid="6220" grpId="0"/>
      <p:bldP spid="6221" grpId="0" animBg="1"/>
      <p:bldP spid="6222" grpId="0" animBg="1"/>
      <p:bldP spid="6223" grpId="0" animBg="1"/>
      <p:bldP spid="6224" grpId="0" animBg="1"/>
      <p:bldP spid="6225" grpId="0" animBg="1"/>
      <p:bldP spid="6226" grpId="0"/>
      <p:bldP spid="6227" grpId="0" animBg="1"/>
      <p:bldP spid="6228" grpId="0" animBg="1"/>
      <p:bldP spid="6229" grpId="0" animBg="1"/>
      <p:bldP spid="6230" grpId="0" animBg="1"/>
      <p:bldP spid="6231" grpId="0" animBg="1"/>
      <p:bldP spid="62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218" name="Text Box 2"/>
          <p:cNvSpPr txBox="1"/>
          <p:nvPr/>
        </p:nvSpPr>
        <p:spPr>
          <a:xfrm>
            <a:off x="381000" y="304800"/>
            <a:ext cx="6629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Dijkstra</a:t>
            </a:r>
            <a:r>
              <a:rPr lang="en-US" altLang="zh-CN" sz="2400" b="1" dirty="0">
                <a:latin typeface="Times New Roman" panose="02020603050405020304" pitchFamily="18" charset="0"/>
              </a:rPr>
              <a:t>’s Algorithm (</a:t>
            </a:r>
            <a:r>
              <a:rPr lang="en-US" altLang="zh-CN" sz="2000" b="1" dirty="0">
                <a:latin typeface="Times New Roman" panose="02020603050405020304" pitchFamily="18" charset="0"/>
              </a:rPr>
              <a:t>for weighted shortest paths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2771" name="Text Box 3"/>
          <p:cNvSpPr txBox="1"/>
          <p:nvPr/>
        </p:nvSpPr>
        <p:spPr>
          <a:xfrm>
            <a:off x="3617913" y="4005263"/>
            <a:ext cx="5686425" cy="224536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Let </a:t>
            </a:r>
            <a:r>
              <a:rPr lang="en-US" altLang="zh-CN" sz="2000" b="1" i="1" dirty="0">
                <a:solidFill>
                  <a:srgbClr val="3366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</a:rPr>
              <a:t>be the set of vertices whose minimum distance from the source vertex has been found , i.e.</a:t>
            </a:r>
            <a:r>
              <a:rPr lang="en-US" altLang="zh-CN" sz="2000" dirty="0"/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000" b="1" dirty="0">
                <a:latin typeface="Times New Roman" panose="02020603050405020304" pitchFamily="18" charset="0"/>
              </a:rPr>
              <a:t> = {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000" b="1" dirty="0">
                <a:latin typeface="Times New Roman" panose="02020603050405020304" pitchFamily="18" charset="0"/>
              </a:rPr>
              <a:t> and vertices whose shortest paths have been found }. 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Initially </a:t>
            </a:r>
            <a:r>
              <a:rPr lang="en-US" altLang="zh-CN" sz="2000" b="1" i="1" dirty="0">
                <a:solidFill>
                  <a:srgbClr val="3366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 ={</a:t>
            </a:r>
            <a:r>
              <a:rPr lang="en-US" altLang="zh-CN" sz="2000" b="1" i="1" dirty="0">
                <a:solidFill>
                  <a:srgbClr val="3366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}.</a:t>
            </a:r>
            <a:endParaRPr lang="en-US" altLang="zh-CN" sz="2000" b="1" dirty="0">
              <a:solidFill>
                <a:srgbClr val="3366FF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9219" name="Group 4"/>
          <p:cNvGrpSpPr/>
          <p:nvPr/>
        </p:nvGrpSpPr>
        <p:grpSpPr>
          <a:xfrm>
            <a:off x="395288" y="4005263"/>
            <a:ext cx="3124200" cy="2324100"/>
            <a:chOff x="1865" y="2556"/>
            <a:chExt cx="1968" cy="1464"/>
          </a:xfrm>
        </p:grpSpPr>
        <p:sp>
          <p:nvSpPr>
            <p:cNvPr id="9255" name="Oval 5"/>
            <p:cNvSpPr/>
            <p:nvPr/>
          </p:nvSpPr>
          <p:spPr>
            <a:xfrm>
              <a:off x="3501" y="3600"/>
              <a:ext cx="332" cy="31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9256" name="Oval 6"/>
            <p:cNvSpPr/>
            <p:nvPr/>
          </p:nvSpPr>
          <p:spPr>
            <a:xfrm>
              <a:off x="1865" y="2556"/>
              <a:ext cx="1518" cy="1464"/>
            </a:xfrm>
            <a:prstGeom prst="ellipse">
              <a:avLst/>
            </a:prstGeom>
            <a:solidFill>
              <a:srgbClr val="3366FF"/>
            </a:solidFill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9257" name="Text Box 7"/>
            <p:cNvSpPr txBox="1"/>
            <p:nvPr/>
          </p:nvSpPr>
          <p:spPr>
            <a:xfrm>
              <a:off x="2296" y="2674"/>
              <a:ext cx="330" cy="291"/>
            </a:xfrm>
            <a:prstGeom prst="rect">
              <a:avLst/>
            </a:prstGeom>
            <a:solidFill>
              <a:srgbClr val="3366FF"/>
            </a:solidFill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96000"/>
                </a:lnSpc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58" name="Text Box 8"/>
            <p:cNvSpPr txBox="1"/>
            <p:nvPr/>
          </p:nvSpPr>
          <p:spPr>
            <a:xfrm>
              <a:off x="2398" y="3149"/>
              <a:ext cx="271" cy="444"/>
            </a:xfrm>
            <a:prstGeom prst="rect">
              <a:avLst/>
            </a:prstGeom>
            <a:solidFill>
              <a:srgbClr val="3366FF"/>
            </a:solidFill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96000"/>
                </a:lnSpc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s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9259" name="Text Box 9"/>
            <p:cNvSpPr txBox="1"/>
            <p:nvPr/>
          </p:nvSpPr>
          <p:spPr>
            <a:xfrm>
              <a:off x="3092" y="2894"/>
              <a:ext cx="225" cy="29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96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k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9260" name="Text Box 10"/>
            <p:cNvSpPr txBox="1"/>
            <p:nvPr/>
          </p:nvSpPr>
          <p:spPr>
            <a:xfrm>
              <a:off x="3583" y="3607"/>
              <a:ext cx="225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96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j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9261" name="Oval 11"/>
            <p:cNvSpPr/>
            <p:nvPr/>
          </p:nvSpPr>
          <p:spPr>
            <a:xfrm>
              <a:off x="2986" y="2928"/>
              <a:ext cx="332" cy="310"/>
            </a:xfrm>
            <a:prstGeom prst="ellipse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9262" name="Oval 12"/>
            <p:cNvSpPr/>
            <p:nvPr/>
          </p:nvSpPr>
          <p:spPr>
            <a:xfrm>
              <a:off x="2280" y="3125"/>
              <a:ext cx="331" cy="310"/>
            </a:xfrm>
            <a:prstGeom prst="ellipse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9263" name="Freeform 13"/>
            <p:cNvSpPr/>
            <p:nvPr/>
          </p:nvSpPr>
          <p:spPr>
            <a:xfrm>
              <a:off x="2577" y="2965"/>
              <a:ext cx="419" cy="237"/>
            </a:xfrm>
            <a:custGeom>
              <a:avLst/>
              <a:gdLst/>
              <a:ahLst/>
              <a:cxnLst>
                <a:cxn ang="0">
                  <a:pos x="0" y="356"/>
                </a:cxn>
                <a:cxn ang="0">
                  <a:pos x="84" y="70"/>
                </a:cxn>
                <a:cxn ang="0">
                  <a:pos x="344" y="46"/>
                </a:cxn>
                <a:cxn ang="0">
                  <a:pos x="401" y="356"/>
                </a:cxn>
                <a:cxn ang="0">
                  <a:pos x="830" y="307"/>
                </a:cxn>
              </a:cxnLst>
              <a:pathLst>
                <a:path w="380" h="220">
                  <a:moveTo>
                    <a:pt x="0" y="196"/>
                  </a:moveTo>
                  <a:cubicBezTo>
                    <a:pt x="6" y="131"/>
                    <a:pt x="13" y="67"/>
                    <a:pt x="39" y="39"/>
                  </a:cubicBezTo>
                  <a:cubicBezTo>
                    <a:pt x="65" y="11"/>
                    <a:pt x="133" y="0"/>
                    <a:pt x="157" y="26"/>
                  </a:cubicBezTo>
                  <a:cubicBezTo>
                    <a:pt x="181" y="52"/>
                    <a:pt x="146" y="172"/>
                    <a:pt x="183" y="196"/>
                  </a:cubicBezTo>
                  <a:cubicBezTo>
                    <a:pt x="220" y="220"/>
                    <a:pt x="347" y="174"/>
                    <a:pt x="380" y="170"/>
                  </a:cubicBezTo>
                </a:path>
              </a:pathLst>
            </a:custGeom>
            <a:noFill/>
            <a:ln w="1587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triangl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64" name="Line 14"/>
            <p:cNvSpPr/>
            <p:nvPr/>
          </p:nvSpPr>
          <p:spPr>
            <a:xfrm>
              <a:off x="3284" y="3191"/>
              <a:ext cx="347" cy="40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</p:grpSp>
      <p:sp>
        <p:nvSpPr>
          <p:cNvPr id="32783" name="Text Box 15"/>
          <p:cNvSpPr txBox="1"/>
          <p:nvPr/>
        </p:nvSpPr>
        <p:spPr>
          <a:xfrm>
            <a:off x="466725" y="2151063"/>
            <a:ext cx="5257800" cy="1323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Observation: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</a:rPr>
              <a:t>if v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2000" b="1" dirty="0">
                <a:latin typeface="Times New Roman" panose="02020603050405020304" pitchFamily="18" charset="0"/>
              </a:rPr>
              <a:t> is the second last vertex on the shortest path from s to v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000" b="1" dirty="0">
                <a:latin typeface="Times New Roman" panose="02020603050405020304" pitchFamily="18" charset="0"/>
              </a:rPr>
              <a:t>,…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Strategy: </a:t>
            </a:r>
            <a:r>
              <a:rPr lang="en-US" altLang="zh-CN" sz="2000" b="1" dirty="0">
                <a:latin typeface="Times New Roman" panose="02020603050405020304" pitchFamily="18" charset="0"/>
              </a:rPr>
              <a:t>greedy algorithm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9223" name="矩形 1"/>
          <p:cNvSpPr/>
          <p:nvPr/>
        </p:nvSpPr>
        <p:spPr>
          <a:xfrm>
            <a:off x="449263" y="1081088"/>
            <a:ext cx="5275262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We assume that there is a path from the </a:t>
            </a:r>
            <a:r>
              <a:rPr lang="en-US" altLang="zh-CN" sz="20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source vertex </a:t>
            </a:r>
            <a:r>
              <a:rPr lang="en-US" altLang="zh-CN" sz="2000" b="1" i="1" dirty="0">
                <a:solidFill>
                  <a:srgbClr val="3366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000" b="1" dirty="0">
                <a:latin typeface="Times New Roman" panose="02020603050405020304" pitchFamily="18" charset="0"/>
              </a:rPr>
              <a:t> to every other vertex in the graph. 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pic>
        <p:nvPicPr>
          <p:cNvPr id="1024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280" y="1196340"/>
            <a:ext cx="3100705" cy="2092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>
                                            <p:txEl>
                                              <p:charRg st="0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83">
                                            <p:txEl>
                                              <p:charRg st="0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>
                                            <p:txEl>
                                              <p:charRg st="81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83">
                                            <p:txEl>
                                              <p:charRg st="81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charRg st="0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charRg st="0" end="1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charRg st="155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charRg st="155" end="1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0485" name="Rectangle 5"/>
          <p:cNvSpPr/>
          <p:nvPr/>
        </p:nvSpPr>
        <p:spPr>
          <a:xfrm>
            <a:off x="539750" y="4667250"/>
            <a:ext cx="8064500" cy="1939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The algorithm is iterative, adding one vertex to </a:t>
            </a:r>
            <a:r>
              <a:rPr lang="en-US" altLang="zh-CN" sz="2400" b="1" i="1" dirty="0">
                <a:solidFill>
                  <a:srgbClr val="3366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 on each pass.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For each vertex 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i , </a:t>
            </a:r>
            <a:r>
              <a:rPr lang="en-US" altLang="zh-CN" sz="2400" b="1" dirty="0">
                <a:latin typeface="Times New Roman" panose="02020603050405020304" pitchFamily="18" charset="0"/>
              </a:rPr>
              <a:t>we keep all the information as before: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known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v </a:t>
            </a:r>
            <a:r>
              <a:rPr lang="en-US" altLang="zh-CN" sz="2400" b="1" dirty="0">
                <a:latin typeface="Times New Roman" panose="02020603050405020304" pitchFamily="18" charset="0"/>
              </a:rPr>
              <a:t>,and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</a:rPr>
              <a:t>.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</a:rPr>
              <a:t> is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the minimum distance from the source vertex to v</a:t>
            </a:r>
            <a:r>
              <a:rPr lang="en-US" altLang="zh-CN" sz="2400" b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 via vertices that are already in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 S</a:t>
            </a:r>
            <a:r>
              <a:rPr lang="en-US" altLang="zh-CN" sz="2400" b="1" dirty="0">
                <a:latin typeface="Times New Roman" panose="02020603050405020304" pitchFamily="18" charset="0"/>
              </a:rPr>
              <a:t>.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0529" name="Rectangle 49"/>
          <p:cNvSpPr/>
          <p:nvPr/>
        </p:nvSpPr>
        <p:spPr>
          <a:xfrm>
            <a:off x="250825" y="357188"/>
            <a:ext cx="77755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Suppose the source vertex is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.    </a:t>
            </a:r>
            <a:endParaRPr lang="en-US" altLang="zh-CN" sz="2400" b="1" i="1" baseline="-25000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24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0" y="1147763"/>
            <a:ext cx="4725988" cy="31892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charRg st="65" end="2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5">
                                            <p:txEl>
                                              <p:charRg st="65" end="2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395288" y="269875"/>
            <a:ext cx="4800600" cy="1003300"/>
          </a:xfrm>
        </p:spPr>
        <p:txBody>
          <a:bodyPr vert="horz" wrap="square" lIns="91440" tIns="45720" rIns="91440" bIns="45720" anchor="b" anchorCtr="0"/>
          <a:p>
            <a:pPr algn="l" eaLnBrk="1" hangingPunct="1"/>
            <a:r>
              <a:rPr lang="en-US" altLang="zh-CN" sz="3200" b="1" dirty="0"/>
              <a:t>Example of Dijkstra's Algorithm</a:t>
            </a:r>
            <a:endParaRPr lang="en-US" altLang="zh-CN" sz="3200" b="1" dirty="0"/>
          </a:p>
        </p:txBody>
      </p:sp>
      <p:pic>
        <p:nvPicPr>
          <p:cNvPr id="1126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2125" y="153988"/>
            <a:ext cx="2925763" cy="1974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8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3" y="2654300"/>
            <a:ext cx="8677275" cy="3943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1979613" y="3259138"/>
            <a:ext cx="936625" cy="22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40063" y="3241675"/>
            <a:ext cx="935038" cy="223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16388" y="3257550"/>
            <a:ext cx="935038" cy="22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92713" y="3273425"/>
            <a:ext cx="935038" cy="22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53163" y="3273425"/>
            <a:ext cx="936625" cy="22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81200" y="3846513"/>
            <a:ext cx="936625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40063" y="3846513"/>
            <a:ext cx="935038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16388" y="3846513"/>
            <a:ext cx="935038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54750" y="3846513"/>
            <a:ext cx="936625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637463" y="3846513"/>
            <a:ext cx="936625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040063" y="4414838"/>
            <a:ext cx="935038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121150" y="4414838"/>
            <a:ext cx="936625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72213" y="4414838"/>
            <a:ext cx="935038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562850" y="4414838"/>
            <a:ext cx="935038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92450" y="5003800"/>
            <a:ext cx="935038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103688" y="5003800"/>
            <a:ext cx="936625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562850" y="5003800"/>
            <a:ext cx="935038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400925" y="5594350"/>
            <a:ext cx="1173163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103688" y="5594350"/>
            <a:ext cx="936625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400925" y="6186488"/>
            <a:ext cx="1173163" cy="396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内容占位符 2"/>
          <p:cNvSpPr>
            <a:spLocks noGrp="1"/>
          </p:cNvSpPr>
          <p:nvPr>
            <p:ph idx="1"/>
          </p:nvPr>
        </p:nvSpPr>
        <p:spPr>
          <a:xfrm>
            <a:off x="723900" y="1068388"/>
            <a:ext cx="7696200" cy="36576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/>
              <a:t>Example: find the shorstest path from v3 to all other vertices</a:t>
            </a:r>
            <a:endParaRPr lang="en-US" altLang="zh-CN" dirty="0"/>
          </a:p>
        </p:txBody>
      </p:sp>
      <p:grpSp>
        <p:nvGrpSpPr>
          <p:cNvPr id="12292" name="Group 16"/>
          <p:cNvGrpSpPr/>
          <p:nvPr/>
        </p:nvGrpSpPr>
        <p:grpSpPr>
          <a:xfrm>
            <a:off x="106363" y="2492375"/>
            <a:ext cx="3090862" cy="2457450"/>
            <a:chOff x="295" y="1814"/>
            <a:chExt cx="1453" cy="1117"/>
          </a:xfrm>
        </p:grpSpPr>
        <p:sp>
          <p:nvSpPr>
            <p:cNvPr id="12307" name="Oval 17"/>
            <p:cNvSpPr>
              <a:spLocks noChangeAspect="1"/>
            </p:cNvSpPr>
            <p:nvPr/>
          </p:nvSpPr>
          <p:spPr>
            <a:xfrm>
              <a:off x="578" y="1882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08" name="Oval 18"/>
            <p:cNvSpPr>
              <a:spLocks noChangeAspect="1"/>
            </p:cNvSpPr>
            <p:nvPr/>
          </p:nvSpPr>
          <p:spPr>
            <a:xfrm>
              <a:off x="1183" y="1882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09" name="Line 19"/>
            <p:cNvSpPr>
              <a:spLocks noChangeAspect="1"/>
            </p:cNvSpPr>
            <p:nvPr/>
          </p:nvSpPr>
          <p:spPr>
            <a:xfrm>
              <a:off x="820" y="2003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10" name="Oval 20"/>
            <p:cNvSpPr>
              <a:spLocks noChangeAspect="1"/>
            </p:cNvSpPr>
            <p:nvPr/>
          </p:nvSpPr>
          <p:spPr>
            <a:xfrm>
              <a:off x="618" y="2689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11" name="Oval 21"/>
            <p:cNvSpPr>
              <a:spLocks noChangeAspect="1"/>
            </p:cNvSpPr>
            <p:nvPr/>
          </p:nvSpPr>
          <p:spPr>
            <a:xfrm>
              <a:off x="1223" y="2689"/>
              <a:ext cx="242" cy="24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12" name="Line 22"/>
            <p:cNvSpPr>
              <a:spLocks noChangeAspect="1"/>
            </p:cNvSpPr>
            <p:nvPr/>
          </p:nvSpPr>
          <p:spPr>
            <a:xfrm>
              <a:off x="860" y="2810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2313" name="Oval 23"/>
            <p:cNvSpPr>
              <a:spLocks noChangeAspect="1"/>
            </p:cNvSpPr>
            <p:nvPr/>
          </p:nvSpPr>
          <p:spPr>
            <a:xfrm>
              <a:off x="295" y="2285"/>
              <a:ext cx="242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14" name="Oval 24"/>
            <p:cNvSpPr>
              <a:spLocks noChangeAspect="1"/>
            </p:cNvSpPr>
            <p:nvPr/>
          </p:nvSpPr>
          <p:spPr>
            <a:xfrm>
              <a:off x="900" y="2285"/>
              <a:ext cx="243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15" name="Line 25"/>
            <p:cNvSpPr>
              <a:spLocks noChangeAspect="1"/>
            </p:cNvSpPr>
            <p:nvPr/>
          </p:nvSpPr>
          <p:spPr>
            <a:xfrm>
              <a:off x="537" y="2407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2316" name="Oval 26"/>
            <p:cNvSpPr>
              <a:spLocks noChangeAspect="1"/>
            </p:cNvSpPr>
            <p:nvPr/>
          </p:nvSpPr>
          <p:spPr>
            <a:xfrm>
              <a:off x="1506" y="2285"/>
              <a:ext cx="242" cy="24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8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17" name="Line 27"/>
            <p:cNvSpPr>
              <a:spLocks noChangeAspect="1"/>
            </p:cNvSpPr>
            <p:nvPr/>
          </p:nvSpPr>
          <p:spPr>
            <a:xfrm>
              <a:off x="1143" y="2407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18" name="Line 28"/>
            <p:cNvSpPr>
              <a:spLocks noChangeAspect="1"/>
            </p:cNvSpPr>
            <p:nvPr/>
          </p:nvSpPr>
          <p:spPr>
            <a:xfrm flipH="1">
              <a:off x="416" y="2084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2319" name="Line 29"/>
            <p:cNvSpPr>
              <a:spLocks noChangeAspect="1"/>
            </p:cNvSpPr>
            <p:nvPr/>
          </p:nvSpPr>
          <p:spPr>
            <a:xfrm flipH="1">
              <a:off x="1344" y="2487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20" name="Line 30"/>
            <p:cNvSpPr>
              <a:spLocks noChangeAspect="1"/>
            </p:cNvSpPr>
            <p:nvPr/>
          </p:nvSpPr>
          <p:spPr>
            <a:xfrm>
              <a:off x="779" y="2084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21" name="Line 31"/>
            <p:cNvSpPr>
              <a:spLocks noChangeAspect="1"/>
            </p:cNvSpPr>
            <p:nvPr/>
          </p:nvSpPr>
          <p:spPr>
            <a:xfrm>
              <a:off x="1425" y="2084"/>
              <a:ext cx="202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22" name="Line 32"/>
            <p:cNvSpPr>
              <a:spLocks noChangeAspect="1"/>
            </p:cNvSpPr>
            <p:nvPr/>
          </p:nvSpPr>
          <p:spPr>
            <a:xfrm>
              <a:off x="497" y="2487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23" name="Line 33"/>
            <p:cNvSpPr>
              <a:spLocks noChangeAspect="1"/>
            </p:cNvSpPr>
            <p:nvPr/>
          </p:nvSpPr>
          <p:spPr>
            <a:xfrm>
              <a:off x="1102" y="2487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24" name="Line 34"/>
            <p:cNvSpPr>
              <a:spLocks noChangeAspect="1"/>
            </p:cNvSpPr>
            <p:nvPr/>
          </p:nvSpPr>
          <p:spPr>
            <a:xfrm flipH="1">
              <a:off x="1022" y="2084"/>
              <a:ext cx="201" cy="20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25" name="Line 35"/>
            <p:cNvSpPr>
              <a:spLocks noChangeAspect="1"/>
            </p:cNvSpPr>
            <p:nvPr/>
          </p:nvSpPr>
          <p:spPr>
            <a:xfrm flipH="1">
              <a:off x="739" y="2487"/>
              <a:ext cx="202" cy="20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26" name="Text Box 36"/>
            <p:cNvSpPr txBox="1"/>
            <p:nvPr/>
          </p:nvSpPr>
          <p:spPr>
            <a:xfrm>
              <a:off x="919" y="1814"/>
              <a:ext cx="192" cy="153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27" name="Text Box 37"/>
            <p:cNvSpPr txBox="1"/>
            <p:nvPr/>
          </p:nvSpPr>
          <p:spPr>
            <a:xfrm>
              <a:off x="343" y="2026"/>
              <a:ext cx="192" cy="153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28" name="Text Box 38"/>
            <p:cNvSpPr txBox="1"/>
            <p:nvPr/>
          </p:nvSpPr>
          <p:spPr>
            <a:xfrm>
              <a:off x="631" y="2218"/>
              <a:ext cx="192" cy="153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29" name="Text Box 39"/>
            <p:cNvSpPr txBox="1"/>
            <p:nvPr/>
          </p:nvSpPr>
          <p:spPr>
            <a:xfrm>
              <a:off x="823" y="2026"/>
              <a:ext cx="192" cy="153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30" name="Text Box 40"/>
            <p:cNvSpPr txBox="1"/>
            <p:nvPr/>
          </p:nvSpPr>
          <p:spPr>
            <a:xfrm>
              <a:off x="989" y="2019"/>
              <a:ext cx="192" cy="153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31" name="Text Box 41"/>
            <p:cNvSpPr txBox="1"/>
            <p:nvPr/>
          </p:nvSpPr>
          <p:spPr>
            <a:xfrm>
              <a:off x="1447" y="2026"/>
              <a:ext cx="288" cy="153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10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32" name="Text Box 42"/>
            <p:cNvSpPr txBox="1"/>
            <p:nvPr/>
          </p:nvSpPr>
          <p:spPr>
            <a:xfrm>
              <a:off x="1207" y="2218"/>
              <a:ext cx="192" cy="153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33" name="Text Box 43"/>
            <p:cNvSpPr txBox="1"/>
            <p:nvPr/>
          </p:nvSpPr>
          <p:spPr>
            <a:xfrm>
              <a:off x="439" y="2506"/>
              <a:ext cx="192" cy="153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5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34" name="Text Box 44"/>
            <p:cNvSpPr txBox="1"/>
            <p:nvPr/>
          </p:nvSpPr>
          <p:spPr>
            <a:xfrm>
              <a:off x="727" y="2410"/>
              <a:ext cx="192" cy="153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8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35" name="Text Box 45"/>
            <p:cNvSpPr txBox="1"/>
            <p:nvPr/>
          </p:nvSpPr>
          <p:spPr>
            <a:xfrm>
              <a:off x="1159" y="2438"/>
              <a:ext cx="192" cy="153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36" name="Text Box 46"/>
            <p:cNvSpPr txBox="1"/>
            <p:nvPr/>
          </p:nvSpPr>
          <p:spPr>
            <a:xfrm>
              <a:off x="1447" y="2486"/>
              <a:ext cx="192" cy="153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6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37" name="Text Box 47"/>
            <p:cNvSpPr txBox="1"/>
            <p:nvPr/>
          </p:nvSpPr>
          <p:spPr>
            <a:xfrm>
              <a:off x="967" y="2630"/>
              <a:ext cx="192" cy="153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文本框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14800" y="2974019"/>
            <a:ext cx="3388062" cy="1902829"/>
          </a:xfrm>
          <a:prstGeom prst="rect">
            <a:avLst/>
          </a:prstGeom>
          <a:blipFill>
            <a:blip r:embed="rId1"/>
            <a:stretch>
              <a:fillRect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3" name="文本框 3"/>
          <p:cNvSpPr txBox="1"/>
          <p:nvPr/>
        </p:nvSpPr>
        <p:spPr>
          <a:xfrm>
            <a:off x="4141788" y="2624138"/>
            <a:ext cx="47625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2294" name="文本框 39"/>
          <p:cNvSpPr txBox="1"/>
          <p:nvPr/>
        </p:nvSpPr>
        <p:spPr>
          <a:xfrm>
            <a:off x="4608513" y="2627313"/>
            <a:ext cx="47625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2295" name="文本框 40"/>
          <p:cNvSpPr txBox="1"/>
          <p:nvPr/>
        </p:nvSpPr>
        <p:spPr>
          <a:xfrm>
            <a:off x="5138738" y="2627313"/>
            <a:ext cx="477837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</a:rPr>
              <a:t>3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2296" name="文本框 41"/>
          <p:cNvSpPr txBox="1"/>
          <p:nvPr/>
        </p:nvSpPr>
        <p:spPr>
          <a:xfrm>
            <a:off x="5580063" y="2636838"/>
            <a:ext cx="477837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</a:rPr>
              <a:t>4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2297" name="文本框 42"/>
          <p:cNvSpPr txBox="1"/>
          <p:nvPr/>
        </p:nvSpPr>
        <p:spPr>
          <a:xfrm>
            <a:off x="6038850" y="2636838"/>
            <a:ext cx="477838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</a:rPr>
              <a:t>5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2298" name="文本框 43"/>
          <p:cNvSpPr txBox="1"/>
          <p:nvPr/>
        </p:nvSpPr>
        <p:spPr>
          <a:xfrm>
            <a:off x="6470650" y="2636838"/>
            <a:ext cx="477838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</a:rPr>
              <a:t>6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2299" name="文本框 44"/>
          <p:cNvSpPr txBox="1"/>
          <p:nvPr/>
        </p:nvSpPr>
        <p:spPr>
          <a:xfrm>
            <a:off x="6975475" y="2636838"/>
            <a:ext cx="47625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</a:rPr>
              <a:t>7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2300" name="文本框 45"/>
          <p:cNvSpPr txBox="1"/>
          <p:nvPr/>
        </p:nvSpPr>
        <p:spPr>
          <a:xfrm>
            <a:off x="3795713" y="2820988"/>
            <a:ext cx="477837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2301" name="文本框 46"/>
          <p:cNvSpPr txBox="1"/>
          <p:nvPr/>
        </p:nvSpPr>
        <p:spPr>
          <a:xfrm>
            <a:off x="3821113" y="3144838"/>
            <a:ext cx="4778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2302" name="文本框 47"/>
          <p:cNvSpPr txBox="1"/>
          <p:nvPr/>
        </p:nvSpPr>
        <p:spPr>
          <a:xfrm>
            <a:off x="3810000" y="3443288"/>
            <a:ext cx="4762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</a:rPr>
              <a:t>3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2303" name="文本框 48"/>
          <p:cNvSpPr txBox="1"/>
          <p:nvPr/>
        </p:nvSpPr>
        <p:spPr>
          <a:xfrm>
            <a:off x="3825875" y="3749675"/>
            <a:ext cx="47625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</a:rPr>
              <a:t>4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2304" name="文本框 49"/>
          <p:cNvSpPr txBox="1"/>
          <p:nvPr/>
        </p:nvSpPr>
        <p:spPr>
          <a:xfrm>
            <a:off x="3841750" y="3962400"/>
            <a:ext cx="477838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</a:rPr>
              <a:t>5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2305" name="文本框 50"/>
          <p:cNvSpPr txBox="1"/>
          <p:nvPr/>
        </p:nvSpPr>
        <p:spPr>
          <a:xfrm>
            <a:off x="3844925" y="4256088"/>
            <a:ext cx="4762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</a:rPr>
              <a:t>6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2306" name="文本框 51"/>
          <p:cNvSpPr txBox="1"/>
          <p:nvPr/>
        </p:nvSpPr>
        <p:spPr>
          <a:xfrm>
            <a:off x="3849688" y="4537075"/>
            <a:ext cx="477837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</a:rPr>
              <a:t>7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3314" name="Text Box 3"/>
          <p:cNvSpPr txBox="1"/>
          <p:nvPr/>
        </p:nvSpPr>
        <p:spPr>
          <a:xfrm>
            <a:off x="488950" y="44450"/>
            <a:ext cx="8089900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STEPS:</a:t>
            </a: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457200" lvl="0" indent="-457200" eaLnBrk="1" hangingPunct="1">
              <a:spcBef>
                <a:spcPct val="50000"/>
              </a:spcBef>
              <a:buAutoNum type="arabicPeriod"/>
            </a:pPr>
            <a:r>
              <a:rPr lang="en-US" altLang="zh-CN" sz="2400" b="1" dirty="0">
                <a:latin typeface="Times New Roman" panose="02020603050405020304" pitchFamily="18" charset="0"/>
              </a:rPr>
              <a:t>let S={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}, compute Table[i].Dist for each vertex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 as following: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315" name="Text Box 4"/>
          <p:cNvSpPr txBox="1"/>
          <p:nvPr/>
        </p:nvSpPr>
        <p:spPr>
          <a:xfrm>
            <a:off x="0" y="1671638"/>
            <a:ext cx="1885950" cy="4873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spcBef>
                <a:spcPct val="25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Table[i].Dist=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316" name="AutoShape 5"/>
          <p:cNvSpPr/>
          <p:nvPr/>
        </p:nvSpPr>
        <p:spPr>
          <a:xfrm>
            <a:off x="1979613" y="1373188"/>
            <a:ext cx="146050" cy="982662"/>
          </a:xfrm>
          <a:prstGeom prst="leftBrace">
            <a:avLst>
              <a:gd name="adj1" fmla="val 56006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3317" name="Text Box 6"/>
          <p:cNvSpPr txBox="1"/>
          <p:nvPr/>
        </p:nvSpPr>
        <p:spPr>
          <a:xfrm>
            <a:off x="2203450" y="1231900"/>
            <a:ext cx="7043738" cy="10795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0           if  i=0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0i   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if  i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0</a:t>
            </a:r>
            <a:r>
              <a:rPr lang="en-US" altLang="zh-CN" sz="2400" b="1" dirty="0">
                <a:latin typeface="Times New Roman" panose="02020603050405020304" pitchFamily="18" charset="0"/>
              </a:rPr>
              <a:t>, and </a:t>
            </a:r>
            <a:r>
              <a:rPr lang="en-US" altLang="zh-CN" sz="2400" b="1" dirty="0">
                <a:latin typeface="宋体" panose="02010600030101010101" pitchFamily="2" charset="-122"/>
              </a:rPr>
              <a:t>&lt;</a:t>
            </a:r>
            <a:r>
              <a:rPr lang="en-US" altLang="zh-CN" sz="2400" b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宋体" panose="02010600030101010101" pitchFamily="2" charset="-122"/>
              </a:rPr>
              <a:t>,</a:t>
            </a:r>
            <a:r>
              <a:rPr lang="en-US" altLang="zh-CN" sz="2400" b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is an edge, c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i </a:t>
            </a:r>
            <a:r>
              <a:rPr lang="en-US" altLang="zh-CN" sz="2400" b="1" dirty="0">
                <a:latin typeface="Times New Roman" panose="02020603050405020304" pitchFamily="18" charset="0"/>
              </a:rPr>
              <a:t>is the weight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∞         if  i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and &lt; 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宋体" panose="02010600030101010101" pitchFamily="2" charset="-122"/>
              </a:rPr>
              <a:t>,</a:t>
            </a:r>
            <a:r>
              <a:rPr lang="en-US" altLang="zh-CN" sz="2400" b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 is not an edge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294" name="Text Box 7"/>
          <p:cNvSpPr txBox="1"/>
          <p:nvPr/>
        </p:nvSpPr>
        <p:spPr>
          <a:xfrm>
            <a:off x="552450" y="2597150"/>
            <a:ext cx="8021638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0"/>
              </a:spcBef>
              <a:buAutoNum type="arabicPeriod" startAt="2"/>
            </a:pPr>
            <a:r>
              <a:rPr lang="en-US" altLang="zh-CN" sz="2400" b="1" dirty="0">
                <a:latin typeface="Times New Roman" panose="02020603050405020304" pitchFamily="18" charset="0"/>
              </a:rPr>
              <a:t>choose the vertex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such that:</a:t>
            </a:r>
            <a:r>
              <a:rPr lang="en-US" altLang="zh-CN" sz="2400" dirty="0">
                <a:latin typeface="Times New Roman" panose="02020603050405020304" pitchFamily="18" charset="0"/>
              </a:rPr>
              <a:t>    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Table[k].Dist= min { Table[j].Dist |v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S }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then the </a:t>
            </a:r>
            <a:r>
              <a:rPr lang="en-US" altLang="zh-CN" sz="2400" b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is terminal of the next shortest path and Dist is its cost.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2295" name="Text Box 9"/>
          <p:cNvSpPr txBox="1"/>
          <p:nvPr/>
        </p:nvSpPr>
        <p:spPr>
          <a:xfrm>
            <a:off x="468313" y="5013325"/>
            <a:ext cx="8675687" cy="1014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AutoNum type="arabicPeriod" startAt="4"/>
            </a:pPr>
            <a:r>
              <a:rPr lang="en-US" altLang="zh-CN" sz="2400" b="1" dirty="0">
                <a:latin typeface="Times New Roman" panose="02020603050405020304" pitchFamily="18" charset="0"/>
              </a:rPr>
              <a:t>For each 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S, modify the Table[j].Dist: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lvl="0" indent="-4572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Table[j].Dist = min {Table[j].Dist, Table[k].Dist +weight(&lt;v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</a:rPr>
              <a:t>,v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&gt;)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296" name="Text Box 10"/>
          <p:cNvSpPr txBox="1"/>
          <p:nvPr/>
        </p:nvSpPr>
        <p:spPr>
          <a:xfrm>
            <a:off x="503238" y="6237288"/>
            <a:ext cx="80216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0"/>
              </a:spcBef>
              <a:buAutoNum type="arabicPeriod" startAt="5"/>
            </a:pPr>
            <a:r>
              <a:rPr lang="en-US" altLang="zh-CN" sz="2400" b="1" dirty="0">
                <a:latin typeface="Times New Roman" panose="02020603050405020304" pitchFamily="18" charset="0"/>
              </a:rPr>
              <a:t>Repeat 2---4 until all vertices have been added in S.</a:t>
            </a:r>
            <a:r>
              <a:rPr lang="en-US" altLang="zh-CN" sz="24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 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2297" name="Text Box 11"/>
          <p:cNvSpPr txBox="1"/>
          <p:nvPr/>
        </p:nvSpPr>
        <p:spPr>
          <a:xfrm>
            <a:off x="536575" y="4191000"/>
            <a:ext cx="8021638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AutoNum type="arabicPeriod" startAt="3"/>
            </a:pPr>
            <a:r>
              <a:rPr lang="en-US" altLang="zh-CN" sz="2400" b="1" dirty="0">
                <a:latin typeface="Times New Roman" panose="02020603050405020304" pitchFamily="18" charset="0"/>
              </a:rPr>
              <a:t>Place 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</a:rPr>
              <a:t> in S. That is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            S = S </a:t>
            </a:r>
            <a:r>
              <a:rPr lang="en-US" altLang="zh-CN" sz="2400" dirty="0">
                <a:latin typeface="Arial" panose="020B0604020202020204" pitchFamily="34" charset="0"/>
              </a:rPr>
              <a:t>∪</a:t>
            </a:r>
            <a:r>
              <a:rPr lang="en-US" altLang="zh-CN" sz="2000" b="1" dirty="0">
                <a:latin typeface="Times New Roman" panose="02020603050405020304" pitchFamily="18" charset="0"/>
              </a:rPr>
              <a:t>{</a:t>
            </a:r>
            <a:r>
              <a:rPr lang="en-US" altLang="zh-CN" sz="2400" b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2000" b="1" dirty="0">
                <a:latin typeface="Times New Roman" panose="02020603050405020304" pitchFamily="18" charset="0"/>
              </a:rPr>
              <a:t>}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/>
      <p:bldP spid="12295" grpId="0"/>
      <p:bldP spid="12296" grpId="0"/>
      <p:bldP spid="1229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195" name="AutoShape 3"/>
          <p:cNvSpPr/>
          <p:nvPr/>
        </p:nvSpPr>
        <p:spPr>
          <a:xfrm>
            <a:off x="604838" y="381000"/>
            <a:ext cx="5486400" cy="5029200"/>
          </a:xfrm>
          <a:prstGeom prst="foldedCorner">
            <a:avLst>
              <a:gd name="adj" fmla="val 7787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82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void</a:t>
            </a:r>
            <a:r>
              <a:rPr lang="en-US" altLang="zh-CN" sz="1800" b="1" dirty="0">
                <a:latin typeface="Arial" panose="020B0604020202020204" pitchFamily="34" charset="0"/>
              </a:rPr>
              <a:t> Dijkstra( Table T )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  </a:t>
            </a: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T is initialized by Figure 9.30 on p.303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Vertex  V, W;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    for</a:t>
            </a:r>
            <a:r>
              <a:rPr lang="en-US" altLang="zh-CN" sz="1800" b="1" dirty="0">
                <a:latin typeface="Arial" panose="020B0604020202020204" pitchFamily="34" charset="0"/>
              </a:rPr>
              <a:t> ( ; ; ) {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V = smallest unknown distance vertex;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        if</a:t>
            </a:r>
            <a:r>
              <a:rPr lang="en-US" altLang="zh-CN" sz="1800" b="1" dirty="0">
                <a:latin typeface="Arial" panose="020B0604020202020204" pitchFamily="34" charset="0"/>
              </a:rPr>
              <a:t> ( V == NotAVertex )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break;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T[ V ].Known = true;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 dirty="0">
                <a:latin typeface="Arial" panose="020B0604020202020204" pitchFamily="34" charset="0"/>
              </a:rPr>
              <a:t> ( each W adjacent to V )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!T[ W ].Known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T[ V ].Dist + Cvw &lt; T[ W ].Dist ) {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	Decrease( T[ W ].Dist  to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	 T[ V ].Dist + Cvw );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T[ W ].Path = V;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} </a:t>
            </a: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end-if update W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} </a:t>
            </a: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end-for( ; ; )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8282" name="Rectangle 90"/>
          <p:cNvSpPr/>
          <p:nvPr/>
        </p:nvSpPr>
        <p:spPr>
          <a:xfrm>
            <a:off x="838200" y="4876800"/>
            <a:ext cx="4578350" cy="366713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</a:rPr>
              <a:t>not work for edge with negative cost</a:t>
            </a: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</p:txBody>
      </p:sp>
      <p:sp>
        <p:nvSpPr>
          <p:cNvPr id="8283" name="AutoShape 91"/>
          <p:cNvSpPr/>
          <p:nvPr/>
        </p:nvSpPr>
        <p:spPr>
          <a:xfrm flipH="1">
            <a:off x="533400" y="5486400"/>
            <a:ext cx="7772400" cy="685800"/>
          </a:xfrm>
          <a:prstGeom prst="horizontalScroll">
            <a:avLst>
              <a:gd name="adj" fmla="val 12500"/>
            </a:avLst>
          </a:prstGeom>
          <a:gradFill rotWithShape="0">
            <a:gsLst>
              <a:gs pos="0">
                <a:srgbClr val="C0C0C0"/>
              </a:gs>
              <a:gs pos="50000">
                <a:srgbClr val="FFFFFF"/>
              </a:gs>
              <a:gs pos="100000">
                <a:srgbClr val="C0C0C0"/>
              </a:gs>
            </a:gsLst>
            <a:lin ang="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Please read Figure 9.31 on p.304 for printing the path.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8284" name="Line 92"/>
          <p:cNvSpPr/>
          <p:nvPr/>
        </p:nvSpPr>
        <p:spPr>
          <a:xfrm>
            <a:off x="1600200" y="1828800"/>
            <a:ext cx="3657600" cy="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8285" name="Group 93"/>
          <p:cNvGrpSpPr/>
          <p:nvPr/>
        </p:nvGrpSpPr>
        <p:grpSpPr>
          <a:xfrm>
            <a:off x="2514600" y="3733800"/>
            <a:ext cx="2895600" cy="304800"/>
            <a:chOff x="1584" y="2352"/>
            <a:chExt cx="1824" cy="192"/>
          </a:xfrm>
        </p:grpSpPr>
        <p:sp>
          <p:nvSpPr>
            <p:cNvPr id="14344" name="Line 94"/>
            <p:cNvSpPr/>
            <p:nvPr/>
          </p:nvSpPr>
          <p:spPr>
            <a:xfrm>
              <a:off x="1584" y="2352"/>
              <a:ext cx="1680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5" name="Line 95"/>
            <p:cNvSpPr/>
            <p:nvPr/>
          </p:nvSpPr>
          <p:spPr>
            <a:xfrm>
              <a:off x="2208" y="2544"/>
              <a:ext cx="1200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288" name="Rectangle 96"/>
          <p:cNvSpPr/>
          <p:nvPr/>
        </p:nvSpPr>
        <p:spPr>
          <a:xfrm>
            <a:off x="2057400" y="1233488"/>
            <a:ext cx="1352550" cy="3667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O( |V| )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8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ldLvl="0" animBg="1"/>
      <p:bldP spid="8282" grpId="0"/>
      <p:bldP spid="8283" grpId="0" animBg="1"/>
      <p:bldP spid="828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219" name="Text Box 3"/>
          <p:cNvSpPr txBox="1"/>
          <p:nvPr/>
        </p:nvSpPr>
        <p:spPr>
          <a:xfrm>
            <a:off x="381000" y="152400"/>
            <a:ext cx="2667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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Implementation 1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9220" name="Rectangle 4"/>
          <p:cNvSpPr/>
          <p:nvPr/>
        </p:nvSpPr>
        <p:spPr>
          <a:xfrm>
            <a:off x="838200" y="685800"/>
            <a:ext cx="4648200" cy="6413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V = smallest unknown distance vertex;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simply scan the table – O( |V| )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</p:txBody>
      </p:sp>
      <p:sp>
        <p:nvSpPr>
          <p:cNvPr id="9221" name="Text Box 5"/>
          <p:cNvSpPr txBox="1"/>
          <p:nvPr/>
        </p:nvSpPr>
        <p:spPr>
          <a:xfrm>
            <a:off x="838200" y="1371600"/>
            <a:ext cx="22098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</a:rPr>
              <a:t> = O( |V|</a:t>
            </a:r>
            <a:r>
              <a:rPr lang="en-US" altLang="zh-CN" sz="20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 + |E| )</a:t>
            </a:r>
            <a:endParaRPr lang="en-US" altLang="zh-CN" sz="2000" b="1" i="1" dirty="0">
              <a:latin typeface="Times New Roman" panose="02020603050405020304" pitchFamily="18" charset="0"/>
            </a:endParaRPr>
          </a:p>
        </p:txBody>
      </p:sp>
      <p:sp>
        <p:nvSpPr>
          <p:cNvPr id="9222" name="AutoShape 6"/>
          <p:cNvSpPr/>
          <p:nvPr/>
        </p:nvSpPr>
        <p:spPr>
          <a:xfrm>
            <a:off x="3581400" y="1295400"/>
            <a:ext cx="4648200" cy="533400"/>
          </a:xfrm>
          <a:prstGeom prst="wedgeEllipseCallout">
            <a:avLst>
              <a:gd name="adj1" fmla="val -66565"/>
              <a:gd name="adj2" fmla="val 19046"/>
            </a:avLst>
          </a:prstGeom>
          <a:gradFill rotWithShape="0">
            <a:gsLst>
              <a:gs pos="0">
                <a:srgbClr val="C0C0C0"/>
              </a:gs>
              <a:gs pos="50000">
                <a:srgbClr val="FFFFFF"/>
              </a:gs>
              <a:gs pos="100000">
                <a:srgbClr val="C0C0C0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Good if the graph is dense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9223" name="Text Box 7"/>
          <p:cNvSpPr txBox="1"/>
          <p:nvPr/>
        </p:nvSpPr>
        <p:spPr>
          <a:xfrm>
            <a:off x="381000" y="1752600"/>
            <a:ext cx="2667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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Implementation 2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9224" name="Rectangle 8"/>
          <p:cNvSpPr/>
          <p:nvPr/>
        </p:nvSpPr>
        <p:spPr>
          <a:xfrm>
            <a:off x="838200" y="2330450"/>
            <a:ext cx="7924800" cy="6413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V = smallest unknown distance vertex;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keep distances in a priority queue and call DeleteMin – O( log|V| )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</p:txBody>
      </p:sp>
      <p:sp>
        <p:nvSpPr>
          <p:cNvPr id="9225" name="Rectangle 9"/>
          <p:cNvSpPr/>
          <p:nvPr/>
        </p:nvSpPr>
        <p:spPr>
          <a:xfrm>
            <a:off x="838200" y="3048000"/>
            <a:ext cx="5181600" cy="3667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Decrease( T[ W ].Dist  to  T[ V ].Dist + Cvw );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9226" name="Rectangle 10"/>
          <p:cNvSpPr/>
          <p:nvPr/>
        </p:nvSpPr>
        <p:spPr>
          <a:xfrm>
            <a:off x="1143000" y="3505200"/>
            <a:ext cx="4724400" cy="3667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Method 1: DecreaseKey – O( log|V| )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</p:txBody>
      </p:sp>
      <p:sp>
        <p:nvSpPr>
          <p:cNvPr id="9227" name="Text Box 11"/>
          <p:cNvSpPr txBox="1"/>
          <p:nvPr/>
        </p:nvSpPr>
        <p:spPr>
          <a:xfrm>
            <a:off x="1143000" y="3886200"/>
            <a:ext cx="51054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</a:rPr>
              <a:t> = O( |V| log|V| + |E| log|V| ) = O( |E| log|V| )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9228" name="Rectangle 12"/>
          <p:cNvSpPr/>
          <p:nvPr/>
        </p:nvSpPr>
        <p:spPr>
          <a:xfrm>
            <a:off x="1143000" y="4343400"/>
            <a:ext cx="7391400" cy="77946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Method 2: insert W with updated Dist into the priority queue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Must keep doing DeleteMin until an unknown vertex emerges */</a:t>
            </a:r>
            <a:endParaRPr lang="en-US" altLang="zh-CN" sz="1800" b="1" dirty="0">
              <a:solidFill>
                <a:srgbClr val="009900"/>
              </a:solidFill>
              <a:latin typeface="Arial" panose="020B0604020202020204" pitchFamily="34" charset="0"/>
            </a:endParaRPr>
          </a:p>
        </p:txBody>
      </p:sp>
      <p:sp>
        <p:nvSpPr>
          <p:cNvPr id="9229" name="AutoShape 13"/>
          <p:cNvSpPr/>
          <p:nvPr/>
        </p:nvSpPr>
        <p:spPr>
          <a:xfrm>
            <a:off x="6096000" y="3048000"/>
            <a:ext cx="2819400" cy="1143000"/>
          </a:xfrm>
          <a:prstGeom prst="wedgeEllipseCallout">
            <a:avLst>
              <a:gd name="adj1" fmla="val -55347"/>
              <a:gd name="adj2" fmla="val 55278"/>
            </a:avLst>
          </a:prstGeom>
          <a:gradFill rotWithShape="0">
            <a:gsLst>
              <a:gs pos="0">
                <a:srgbClr val="C0C0C0"/>
              </a:gs>
              <a:gs pos="50000">
                <a:srgbClr val="FFFFFF"/>
              </a:gs>
              <a:gs pos="100000">
                <a:srgbClr val="C0C0C0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Good if the graph is sparse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9230" name="Text Box 14"/>
          <p:cNvSpPr txBox="1"/>
          <p:nvPr/>
        </p:nvSpPr>
        <p:spPr>
          <a:xfrm>
            <a:off x="1143000" y="5105400"/>
            <a:ext cx="69342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</a:rPr>
              <a:t> = O( |E| log|V| ) but requires |E| DeleteMin with |E| space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/>
      <p:bldP spid="9220" grpId="0"/>
      <p:bldP spid="9221" grpId="0"/>
      <p:bldP spid="9222" grpId="0" animBg="1"/>
      <p:bldP spid="9223" grpId="0"/>
      <p:bldP spid="9224" grpId="0"/>
      <p:bldP spid="9225" grpId="0"/>
      <p:bldP spid="9226" grpId="0"/>
      <p:bldP spid="9227" grpId="0"/>
      <p:bldP spid="9228" grpId="0"/>
      <p:bldP spid="9229" grpId="0" animBg="1"/>
      <p:bldP spid="92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189038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Minimum Spanning Trees </a:t>
            </a:r>
            <a:endParaRPr lang="en-US" altLang="zh-CN" dirty="0"/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685800" y="1412875"/>
            <a:ext cx="7696200" cy="3657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400" dirty="0"/>
              <a:t>A </a:t>
            </a:r>
            <a:r>
              <a:rPr lang="en-US" altLang="zh-CN" sz="2400" i="1" dirty="0">
                <a:solidFill>
                  <a:srgbClr val="FF0000"/>
                </a:solidFill>
              </a:rPr>
              <a:t>spanning tree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chemeClr val="tx2"/>
                </a:solidFill>
              </a:rPr>
              <a:t>(</a:t>
            </a:r>
            <a:r>
              <a:rPr lang="zh-CN" altLang="en-US" sz="2400" b="1" dirty="0">
                <a:solidFill>
                  <a:schemeClr val="tx2"/>
                </a:solidFill>
              </a:rPr>
              <a:t>生成树</a:t>
            </a:r>
            <a:r>
              <a:rPr lang="en-US" altLang="zh-CN" sz="2400" dirty="0">
                <a:solidFill>
                  <a:schemeClr val="tx2"/>
                </a:solidFill>
              </a:rPr>
              <a:t>)</a:t>
            </a:r>
            <a:r>
              <a:rPr lang="en-US" altLang="zh-CN" sz="2400" dirty="0"/>
              <a:t>of an undirected graph </a:t>
            </a:r>
            <a:r>
              <a:rPr lang="en-US" altLang="zh-CN" sz="2400" i="1" dirty="0"/>
              <a:t>G</a:t>
            </a:r>
            <a:r>
              <a:rPr lang="en-US" altLang="zh-CN" sz="2400" dirty="0"/>
              <a:t> is a </a:t>
            </a:r>
            <a:r>
              <a:rPr lang="en-US" altLang="zh-CN" sz="2400" b="1" dirty="0">
                <a:solidFill>
                  <a:srgbClr val="0000FF"/>
                </a:solidFill>
              </a:rPr>
              <a:t>tree</a:t>
            </a:r>
            <a:r>
              <a:rPr lang="en-US" altLang="zh-CN" sz="2400" dirty="0"/>
              <a:t> containing </a:t>
            </a:r>
            <a:r>
              <a:rPr lang="en-US" altLang="zh-CN" sz="2400" dirty="0">
                <a:solidFill>
                  <a:srgbClr val="0000CC"/>
                </a:solidFill>
              </a:rPr>
              <a:t>all the vertices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00CC"/>
                </a:solidFill>
              </a:rPr>
              <a:t>V(</a:t>
            </a:r>
            <a:r>
              <a:rPr lang="en-US" altLang="zh-CN" sz="2400" i="1" dirty="0">
                <a:solidFill>
                  <a:srgbClr val="0000CC"/>
                </a:solidFill>
              </a:rPr>
              <a:t>G)</a:t>
            </a:r>
            <a:r>
              <a:rPr lang="en-US" altLang="zh-CN" sz="2400" dirty="0"/>
              <a:t>. </a:t>
            </a:r>
            <a:endParaRPr lang="en-US" altLang="zh-CN" sz="2400" dirty="0"/>
          </a:p>
        </p:txBody>
      </p:sp>
      <p:sp>
        <p:nvSpPr>
          <p:cNvPr id="33796" name="Text Box 4"/>
          <p:cNvSpPr txBox="1"/>
          <p:nvPr/>
        </p:nvSpPr>
        <p:spPr>
          <a:xfrm>
            <a:off x="533400" y="2133600"/>
            <a:ext cx="7543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〖</a:t>
            </a:r>
            <a:r>
              <a:rPr lang="en-US" altLang="zh-CN" sz="2400" b="1" dirty="0">
                <a:latin typeface="Times New Roman" panose="02020603050405020304" pitchFamily="18" charset="0"/>
              </a:rPr>
              <a:t>Example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〗 </a:t>
            </a:r>
            <a:r>
              <a:rPr lang="en-US" altLang="zh-CN" sz="2000" b="1" dirty="0">
                <a:latin typeface="Times New Roman" panose="02020603050405020304" pitchFamily="18" charset="0"/>
                <a:ea typeface="MS Hei" pitchFamily="49" charset="-122"/>
              </a:rPr>
              <a:t>A complete graph and three of its spanning trees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33797" name="Group 5"/>
          <p:cNvGrpSpPr>
            <a:grpSpLocks noChangeAspect="1"/>
          </p:cNvGrpSpPr>
          <p:nvPr/>
        </p:nvGrpSpPr>
        <p:grpSpPr>
          <a:xfrm>
            <a:off x="1112838" y="2743200"/>
            <a:ext cx="1096962" cy="1096963"/>
            <a:chOff x="2688" y="2112"/>
            <a:chExt cx="864" cy="864"/>
          </a:xfrm>
        </p:grpSpPr>
        <p:sp>
          <p:nvSpPr>
            <p:cNvPr id="16415" name="Line 6"/>
            <p:cNvSpPr>
              <a:spLocks noChangeAspect="1"/>
            </p:cNvSpPr>
            <p:nvPr/>
          </p:nvSpPr>
          <p:spPr>
            <a:xfrm>
              <a:off x="2784" y="2208"/>
              <a:ext cx="0" cy="6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16" name="Line 7"/>
            <p:cNvSpPr>
              <a:spLocks noChangeAspect="1"/>
            </p:cNvSpPr>
            <p:nvPr/>
          </p:nvSpPr>
          <p:spPr>
            <a:xfrm rot="-5400000">
              <a:off x="3120" y="2544"/>
              <a:ext cx="0" cy="6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17" name="Line 8"/>
            <p:cNvSpPr>
              <a:spLocks noChangeAspect="1"/>
            </p:cNvSpPr>
            <p:nvPr/>
          </p:nvSpPr>
          <p:spPr>
            <a:xfrm flipH="1" flipV="1">
              <a:off x="2784" y="2208"/>
              <a:ext cx="672" cy="6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18" name="Line 9"/>
            <p:cNvSpPr>
              <a:spLocks noChangeAspect="1"/>
            </p:cNvSpPr>
            <p:nvPr/>
          </p:nvSpPr>
          <p:spPr>
            <a:xfrm rot="5400000" flipV="1">
              <a:off x="3120" y="1872"/>
              <a:ext cx="0" cy="6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19" name="Line 10"/>
            <p:cNvSpPr>
              <a:spLocks noChangeAspect="1"/>
            </p:cNvSpPr>
            <p:nvPr/>
          </p:nvSpPr>
          <p:spPr>
            <a:xfrm flipH="1">
              <a:off x="2784" y="2208"/>
              <a:ext cx="672" cy="6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20" name="Oval 11"/>
            <p:cNvSpPr>
              <a:spLocks noChangeAspect="1"/>
            </p:cNvSpPr>
            <p:nvPr/>
          </p:nvSpPr>
          <p:spPr>
            <a:xfrm>
              <a:off x="2688" y="2112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6421" name="Oval 12"/>
            <p:cNvSpPr>
              <a:spLocks noChangeAspect="1"/>
            </p:cNvSpPr>
            <p:nvPr/>
          </p:nvSpPr>
          <p:spPr>
            <a:xfrm>
              <a:off x="2688" y="2784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6422" name="Line 13"/>
            <p:cNvSpPr>
              <a:spLocks noChangeAspect="1"/>
            </p:cNvSpPr>
            <p:nvPr/>
          </p:nvSpPr>
          <p:spPr>
            <a:xfrm flipH="1">
              <a:off x="3456" y="2208"/>
              <a:ext cx="0" cy="6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23" name="Oval 14"/>
            <p:cNvSpPr>
              <a:spLocks noChangeAspect="1"/>
            </p:cNvSpPr>
            <p:nvPr/>
          </p:nvSpPr>
          <p:spPr>
            <a:xfrm flipV="1">
              <a:off x="3360" y="2112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6424" name="Oval 15"/>
            <p:cNvSpPr>
              <a:spLocks noChangeAspect="1"/>
            </p:cNvSpPr>
            <p:nvPr/>
          </p:nvSpPr>
          <p:spPr>
            <a:xfrm>
              <a:off x="3360" y="2784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33808" name="Group 16"/>
          <p:cNvGrpSpPr>
            <a:grpSpLocks noChangeAspect="1"/>
          </p:cNvGrpSpPr>
          <p:nvPr/>
        </p:nvGrpSpPr>
        <p:grpSpPr>
          <a:xfrm>
            <a:off x="2865438" y="2743200"/>
            <a:ext cx="1096962" cy="1096963"/>
            <a:chOff x="1728" y="1008"/>
            <a:chExt cx="864" cy="864"/>
          </a:xfrm>
        </p:grpSpPr>
        <p:sp>
          <p:nvSpPr>
            <p:cNvPr id="16408" name="Line 17"/>
            <p:cNvSpPr>
              <a:spLocks noChangeAspect="1"/>
            </p:cNvSpPr>
            <p:nvPr/>
          </p:nvSpPr>
          <p:spPr>
            <a:xfrm>
              <a:off x="1824" y="1104"/>
              <a:ext cx="0" cy="6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09" name="Line 18"/>
            <p:cNvSpPr>
              <a:spLocks noChangeAspect="1"/>
            </p:cNvSpPr>
            <p:nvPr/>
          </p:nvSpPr>
          <p:spPr>
            <a:xfrm rot="5400000" flipV="1">
              <a:off x="2160" y="768"/>
              <a:ext cx="0" cy="6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10" name="Oval 19"/>
            <p:cNvSpPr>
              <a:spLocks noChangeAspect="1"/>
            </p:cNvSpPr>
            <p:nvPr/>
          </p:nvSpPr>
          <p:spPr>
            <a:xfrm>
              <a:off x="1728" y="1008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6411" name="Oval 20"/>
            <p:cNvSpPr>
              <a:spLocks noChangeAspect="1"/>
            </p:cNvSpPr>
            <p:nvPr/>
          </p:nvSpPr>
          <p:spPr>
            <a:xfrm>
              <a:off x="1728" y="1680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6412" name="Line 21"/>
            <p:cNvSpPr>
              <a:spLocks noChangeAspect="1"/>
            </p:cNvSpPr>
            <p:nvPr/>
          </p:nvSpPr>
          <p:spPr>
            <a:xfrm flipH="1">
              <a:off x="2496" y="1104"/>
              <a:ext cx="0" cy="6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13" name="Oval 22"/>
            <p:cNvSpPr>
              <a:spLocks noChangeAspect="1"/>
            </p:cNvSpPr>
            <p:nvPr/>
          </p:nvSpPr>
          <p:spPr>
            <a:xfrm flipV="1">
              <a:off x="2400" y="1008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6414" name="Oval 23"/>
            <p:cNvSpPr>
              <a:spLocks noChangeAspect="1"/>
            </p:cNvSpPr>
            <p:nvPr/>
          </p:nvSpPr>
          <p:spPr>
            <a:xfrm>
              <a:off x="2400" y="1680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33816" name="Group 24"/>
          <p:cNvGrpSpPr>
            <a:grpSpLocks noChangeAspect="1"/>
          </p:cNvGrpSpPr>
          <p:nvPr/>
        </p:nvGrpSpPr>
        <p:grpSpPr>
          <a:xfrm>
            <a:off x="4724400" y="2743200"/>
            <a:ext cx="1096963" cy="1096963"/>
            <a:chOff x="2976" y="1008"/>
            <a:chExt cx="864" cy="864"/>
          </a:xfrm>
        </p:grpSpPr>
        <p:sp>
          <p:nvSpPr>
            <p:cNvPr id="16401" name="Line 25"/>
            <p:cNvSpPr>
              <a:spLocks noChangeAspect="1"/>
            </p:cNvSpPr>
            <p:nvPr/>
          </p:nvSpPr>
          <p:spPr>
            <a:xfrm>
              <a:off x="3072" y="1104"/>
              <a:ext cx="0" cy="6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02" name="Line 26"/>
            <p:cNvSpPr>
              <a:spLocks noChangeAspect="1"/>
            </p:cNvSpPr>
            <p:nvPr/>
          </p:nvSpPr>
          <p:spPr>
            <a:xfrm rot="-5400000">
              <a:off x="3408" y="1440"/>
              <a:ext cx="0" cy="6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03" name="Line 27"/>
            <p:cNvSpPr>
              <a:spLocks noChangeAspect="1"/>
            </p:cNvSpPr>
            <p:nvPr/>
          </p:nvSpPr>
          <p:spPr>
            <a:xfrm flipH="1">
              <a:off x="3072" y="1104"/>
              <a:ext cx="672" cy="6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04" name="Oval 28"/>
            <p:cNvSpPr>
              <a:spLocks noChangeAspect="1"/>
            </p:cNvSpPr>
            <p:nvPr/>
          </p:nvSpPr>
          <p:spPr>
            <a:xfrm>
              <a:off x="2976" y="1008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6405" name="Oval 29"/>
            <p:cNvSpPr>
              <a:spLocks noChangeAspect="1"/>
            </p:cNvSpPr>
            <p:nvPr/>
          </p:nvSpPr>
          <p:spPr>
            <a:xfrm>
              <a:off x="2976" y="1680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6406" name="Oval 30"/>
            <p:cNvSpPr>
              <a:spLocks noChangeAspect="1"/>
            </p:cNvSpPr>
            <p:nvPr/>
          </p:nvSpPr>
          <p:spPr>
            <a:xfrm flipV="1">
              <a:off x="3648" y="1008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6407" name="Oval 31"/>
            <p:cNvSpPr>
              <a:spLocks noChangeAspect="1"/>
            </p:cNvSpPr>
            <p:nvPr/>
          </p:nvSpPr>
          <p:spPr>
            <a:xfrm>
              <a:off x="3648" y="1680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33824" name="Group 32"/>
          <p:cNvGrpSpPr>
            <a:grpSpLocks noChangeAspect="1"/>
          </p:cNvGrpSpPr>
          <p:nvPr/>
        </p:nvGrpSpPr>
        <p:grpSpPr>
          <a:xfrm>
            <a:off x="6553200" y="2708275"/>
            <a:ext cx="1096963" cy="1096963"/>
            <a:chOff x="4224" y="1008"/>
            <a:chExt cx="864" cy="864"/>
          </a:xfrm>
        </p:grpSpPr>
        <p:sp>
          <p:nvSpPr>
            <p:cNvPr id="16394" name="Line 33"/>
            <p:cNvSpPr>
              <a:spLocks noChangeAspect="1"/>
            </p:cNvSpPr>
            <p:nvPr/>
          </p:nvSpPr>
          <p:spPr>
            <a:xfrm rot="-5400000">
              <a:off x="4656" y="1440"/>
              <a:ext cx="0" cy="6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395" name="Line 34"/>
            <p:cNvSpPr>
              <a:spLocks noChangeAspect="1"/>
            </p:cNvSpPr>
            <p:nvPr/>
          </p:nvSpPr>
          <p:spPr>
            <a:xfrm rot="5400000" flipV="1">
              <a:off x="4656" y="768"/>
              <a:ext cx="0" cy="6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396" name="Oval 35"/>
            <p:cNvSpPr>
              <a:spLocks noChangeAspect="1"/>
            </p:cNvSpPr>
            <p:nvPr/>
          </p:nvSpPr>
          <p:spPr>
            <a:xfrm>
              <a:off x="4224" y="1008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6397" name="Oval 36"/>
            <p:cNvSpPr>
              <a:spLocks noChangeAspect="1"/>
            </p:cNvSpPr>
            <p:nvPr/>
          </p:nvSpPr>
          <p:spPr>
            <a:xfrm>
              <a:off x="4224" y="1680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6398" name="Line 37"/>
            <p:cNvSpPr>
              <a:spLocks noChangeAspect="1"/>
            </p:cNvSpPr>
            <p:nvPr/>
          </p:nvSpPr>
          <p:spPr>
            <a:xfrm flipH="1">
              <a:off x="4992" y="1104"/>
              <a:ext cx="0" cy="6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399" name="Oval 38"/>
            <p:cNvSpPr>
              <a:spLocks noChangeAspect="1"/>
            </p:cNvSpPr>
            <p:nvPr/>
          </p:nvSpPr>
          <p:spPr>
            <a:xfrm flipV="1">
              <a:off x="4896" y="1008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6400" name="Oval 39"/>
            <p:cNvSpPr>
              <a:spLocks noChangeAspect="1"/>
            </p:cNvSpPr>
            <p:nvPr/>
          </p:nvSpPr>
          <p:spPr>
            <a:xfrm>
              <a:off x="4896" y="1680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33832" name="AutoShape 40" descr="再生纸"/>
          <p:cNvSpPr/>
          <p:nvPr/>
        </p:nvSpPr>
        <p:spPr>
          <a:xfrm>
            <a:off x="685800" y="3922713"/>
            <a:ext cx="7467600" cy="2819400"/>
          </a:xfrm>
          <a:prstGeom prst="roundRect">
            <a:avLst>
              <a:gd name="adj" fmla="val 8181"/>
            </a:avLst>
          </a:prstGeom>
          <a:blipFill rotWithShape="0">
            <a:blip r:embed="rId1"/>
          </a:blipFill>
          <a:ln w="254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lIns="1980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90830" lvl="0" indent="-290830" eaLnBrk="1" hangingPunct="1">
              <a:spcBef>
                <a:spcPct val="25000"/>
              </a:spcBef>
              <a:buNone/>
            </a:pPr>
            <a:r>
              <a:rPr lang="en-US" altLang="zh-CN" sz="1800" b="1" dirty="0"/>
              <a:t>Note:  </a:t>
            </a:r>
            <a:endParaRPr lang="en-US" altLang="zh-CN" sz="1800" b="1" dirty="0"/>
          </a:p>
          <a:p>
            <a:pPr marL="290830" lvl="0" indent="-290830" eaLnBrk="1" hangingPunct="1"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altLang="zh-CN" sz="1800" b="1" dirty="0"/>
              <a:t>It is </a:t>
            </a:r>
            <a:r>
              <a:rPr lang="en-US" altLang="zh-CN" sz="1800" b="1" dirty="0">
                <a:solidFill>
                  <a:schemeClr val="hlink"/>
                </a:solidFill>
              </a:rPr>
              <a:t>spanning</a:t>
            </a:r>
            <a:r>
              <a:rPr lang="en-US" altLang="zh-CN" sz="1800" b="1" dirty="0"/>
              <a:t> because it covers every vertex.</a:t>
            </a:r>
            <a:endParaRPr lang="en-US" altLang="zh-CN" sz="1800" b="1" dirty="0"/>
          </a:p>
          <a:p>
            <a:pPr marL="290830" lvl="0" indent="-290830" eaLnBrk="1" hangingPunct="1"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altLang="zh-CN" sz="1800" b="1" dirty="0"/>
              <a:t>A spanning tree exists iff G is connected.</a:t>
            </a:r>
            <a:endParaRPr lang="en-US" altLang="zh-CN" sz="1800" b="1" dirty="0"/>
          </a:p>
          <a:p>
            <a:pPr marL="290830" lvl="0" indent="-290830" eaLnBrk="1" hangingPunct="1"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altLang="zh-CN" sz="1800" b="1" dirty="0"/>
              <a:t>The spanning tree is a tree since it is </a:t>
            </a:r>
            <a:r>
              <a:rPr lang="en-US" altLang="zh-CN" sz="1800" b="1" dirty="0">
                <a:solidFill>
                  <a:schemeClr val="hlink"/>
                </a:solidFill>
              </a:rPr>
              <a:t>acyclic</a:t>
            </a:r>
            <a:r>
              <a:rPr lang="en-US" altLang="zh-CN" sz="1800" b="1" dirty="0"/>
              <a:t> -- the number of edges is </a:t>
            </a:r>
            <a:r>
              <a:rPr lang="en-US" altLang="zh-CN" sz="1800" b="1" dirty="0">
                <a:solidFill>
                  <a:schemeClr val="tx2"/>
                </a:solidFill>
              </a:rPr>
              <a:t>|V| </a:t>
            </a:r>
            <a:r>
              <a:rPr lang="en-US" altLang="zh-CN" sz="1800" b="1" dirty="0">
                <a:solidFill>
                  <a:schemeClr val="tx2"/>
                </a:solidFill>
                <a:latin typeface="Arial" panose="020B0604020202020204" pitchFamily="34" charset="0"/>
              </a:rPr>
              <a:t>–</a:t>
            </a:r>
            <a:r>
              <a:rPr lang="en-US" altLang="zh-CN" sz="1800" b="1" dirty="0">
                <a:solidFill>
                  <a:schemeClr val="tx2"/>
                </a:solidFill>
              </a:rPr>
              <a:t> 1</a:t>
            </a:r>
            <a:r>
              <a:rPr lang="en-US" altLang="zh-CN" sz="1800" b="1" dirty="0"/>
              <a:t>.</a:t>
            </a:r>
            <a:endParaRPr lang="en-US" altLang="zh-CN" sz="1800" b="1" dirty="0"/>
          </a:p>
          <a:p>
            <a:pPr marL="290830" lvl="0" indent="-290830" eaLnBrk="1" hangingPunct="1"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altLang="zh-CN" sz="1800" b="1" dirty="0">
                <a:sym typeface="Wingdings" panose="05000000000000000000" pitchFamily="2" charset="2"/>
              </a:rPr>
              <a:t>Adding a non-tree edge to a spanning tree, we obtain a cycle.</a:t>
            </a:r>
            <a:endParaRPr lang="en-US" altLang="zh-CN" sz="1800" b="1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38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38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>
                                            <p:txEl>
                                              <p:charRg st="8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3832">
                                            <p:txEl>
                                              <p:charRg st="8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>
                                            <p:txEl>
                                              <p:charRg st="55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3832">
                                            <p:txEl>
                                              <p:charRg st="55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>
                                            <p:txEl>
                                              <p:charRg st="98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3832">
                                            <p:txEl>
                                              <p:charRg st="98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>
                                            <p:txEl>
                                              <p:charRg st="181" end="2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3832">
                                            <p:txEl>
                                              <p:charRg st="181" end="2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/>
      <p:bldP spid="33832" grpId="0" animBg="1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116013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Minimum Spanning Trees</a:t>
            </a:r>
            <a:endParaRPr lang="en-US" altLang="zh-CN" dirty="0"/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685800" y="1628775"/>
            <a:ext cx="7697788" cy="1747838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400" dirty="0"/>
              <a:t>In a weighted graph, </a:t>
            </a:r>
            <a:r>
              <a:rPr lang="en-US" altLang="zh-CN" sz="2400" dirty="0">
                <a:solidFill>
                  <a:schemeClr val="hlink"/>
                </a:solidFill>
              </a:rPr>
              <a:t>the weight of a subgraph</a:t>
            </a:r>
            <a:r>
              <a:rPr lang="en-US" altLang="zh-CN" sz="2400" dirty="0"/>
              <a:t> is the sum of the weights of all the edges in the subgraph. 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A </a:t>
            </a:r>
            <a:r>
              <a:rPr lang="en-US" altLang="zh-CN" sz="2400" b="1" i="1" dirty="0">
                <a:solidFill>
                  <a:srgbClr val="FF0000"/>
                </a:solidFill>
              </a:rPr>
              <a:t>minimum spanning tree</a:t>
            </a:r>
            <a:r>
              <a:rPr lang="en-US" altLang="zh-CN" sz="2400" dirty="0"/>
              <a:t> (MST) for a weighted  graph is a spanning tree with minimum weight.</a:t>
            </a:r>
            <a:r>
              <a:rPr lang="en-US" altLang="zh-CN" dirty="0"/>
              <a:t> 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34820" name="Rectangle 4"/>
          <p:cNvSpPr/>
          <p:nvPr/>
        </p:nvSpPr>
        <p:spPr>
          <a:xfrm>
            <a:off x="457200" y="5718175"/>
            <a:ext cx="8229600" cy="4111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buNone/>
            </a:pPr>
            <a:r>
              <a:rPr lang="en-US" altLang="zh-CN" sz="2400" dirty="0"/>
              <a:t>An undirected graph and its minimum spanning tree.</a:t>
            </a:r>
            <a:endParaRPr lang="en-US" altLang="zh-CN" sz="2400" dirty="0"/>
          </a:p>
        </p:txBody>
      </p:sp>
      <p:pic>
        <p:nvPicPr>
          <p:cNvPr id="34821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800" y="3965575"/>
            <a:ext cx="3867150" cy="1562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189038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Finding MST of a Graph</a:t>
            </a:r>
            <a:endParaRPr lang="en-US" altLang="zh-CN" dirty="0"/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457200" indent="-457200" eaLnBrk="1" hangingPunct="1">
              <a:lnSpc>
                <a:spcPct val="80000"/>
              </a:lnSpc>
            </a:pPr>
            <a:r>
              <a:rPr lang="en-US" altLang="zh-CN" sz="2400" b="1" dirty="0"/>
              <a:t>Solution to find minimum spanning trees must </a:t>
            </a:r>
            <a:r>
              <a:rPr lang="en-US" altLang="zh-CN" sz="2400" b="1" dirty="0">
                <a:solidFill>
                  <a:srgbClr val="FF0000"/>
                </a:solidFill>
              </a:rPr>
              <a:t>satisfy</a:t>
            </a:r>
            <a:r>
              <a:rPr lang="en-US" altLang="zh-CN" sz="2400" b="1" dirty="0"/>
              <a:t> the following </a:t>
            </a:r>
            <a:r>
              <a:rPr lang="en-US" altLang="zh-CN" sz="2400" b="1" i="1" dirty="0">
                <a:solidFill>
                  <a:srgbClr val="FF0000"/>
                </a:solidFill>
              </a:rPr>
              <a:t>constraints</a:t>
            </a:r>
            <a:r>
              <a:rPr lang="en-US" altLang="zh-CN" sz="2400" b="1" dirty="0"/>
              <a:t> :</a:t>
            </a:r>
            <a:endParaRPr lang="en-US" altLang="zh-CN" sz="2400" b="1" dirty="0"/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zh-CN" sz="2400" dirty="0"/>
              <a:t> we must use only edges within the graph </a:t>
            </a:r>
            <a:endParaRPr lang="en-US" altLang="zh-CN" sz="2400" dirty="0"/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zh-CN" sz="2400" dirty="0"/>
              <a:t> we must use exactly </a:t>
            </a:r>
            <a:r>
              <a:rPr lang="en-US" altLang="zh-CN" sz="2400" b="1" dirty="0">
                <a:solidFill>
                  <a:schemeClr val="tx2"/>
                </a:solidFill>
              </a:rPr>
              <a:t>|V| 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</a:rPr>
              <a:t>–</a:t>
            </a:r>
            <a:r>
              <a:rPr lang="en-US" altLang="zh-CN" sz="2400" b="1" dirty="0">
                <a:solidFill>
                  <a:schemeClr val="tx2"/>
                </a:solidFill>
              </a:rPr>
              <a:t> 1</a:t>
            </a:r>
            <a:r>
              <a:rPr lang="en-US" altLang="zh-CN" sz="2400" dirty="0"/>
              <a:t> edges</a:t>
            </a:r>
            <a:endParaRPr lang="en-US" altLang="zh-CN" sz="2400" dirty="0"/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zh-CN" sz="2400" dirty="0"/>
              <a:t> we may not use edges that would produce a cycle </a:t>
            </a:r>
            <a:endParaRPr lang="en-US" altLang="zh-CN" sz="2400" dirty="0"/>
          </a:p>
          <a:p>
            <a:pPr marL="914400" lvl="1" indent="-457200" eaLnBrk="1" hangingPunct="1">
              <a:lnSpc>
                <a:spcPct val="80000"/>
              </a:lnSpc>
            </a:pPr>
            <a:endParaRPr lang="en-US" altLang="zh-CN" sz="2400" dirty="0"/>
          </a:p>
          <a:p>
            <a:pPr marL="457200" indent="-457200" eaLnBrk="1" hangingPunct="1">
              <a:lnSpc>
                <a:spcPct val="80000"/>
              </a:lnSpc>
            </a:pPr>
            <a:r>
              <a:rPr lang="en-US" altLang="zh-CN" sz="2400" b="1" dirty="0"/>
              <a:t>Two efficient well known methods</a:t>
            </a:r>
            <a:endParaRPr lang="en-US" altLang="zh-CN" sz="2400" b="1" dirty="0"/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zh-CN" sz="2400" dirty="0"/>
              <a:t>Prim</a:t>
            </a:r>
            <a:r>
              <a:rPr lang="en-US" altLang="zh-CN" sz="2400" dirty="0">
                <a:latin typeface="Arial" panose="020B0604020202020204" pitchFamily="34" charset="0"/>
              </a:rPr>
              <a:t>’</a:t>
            </a:r>
            <a:r>
              <a:rPr lang="en-US" altLang="zh-CN" sz="2400" dirty="0"/>
              <a:t>s algorithm</a:t>
            </a:r>
            <a:endParaRPr lang="en-US" altLang="zh-CN" sz="2400" dirty="0"/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zh-CN" sz="2400" dirty="0"/>
              <a:t>Kruskal</a:t>
            </a:r>
            <a:r>
              <a:rPr lang="en-US" altLang="zh-CN" sz="2400" dirty="0">
                <a:latin typeface="Arial" panose="020B0604020202020204" pitchFamily="34" charset="0"/>
              </a:rPr>
              <a:t>’</a:t>
            </a:r>
            <a:r>
              <a:rPr lang="en-US" altLang="zh-CN" sz="2400" dirty="0"/>
              <a:t>s algorithm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6866" name="Rectangle 2"/>
          <p:cNvSpPr/>
          <p:nvPr/>
        </p:nvSpPr>
        <p:spPr>
          <a:xfrm>
            <a:off x="554038" y="1501775"/>
            <a:ext cx="7707312" cy="461963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Greedy stratigy, very similar to Dijkstra’s algorithm.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9459" name="Rectangle 54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189038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Prim</a:t>
            </a:r>
            <a:r>
              <a:rPr lang="en-US" altLang="zh-CN" dirty="0">
                <a:latin typeface="Arial" panose="020B0604020202020204" pitchFamily="34" charset="0"/>
              </a:rPr>
              <a:t>’</a:t>
            </a:r>
            <a:r>
              <a:rPr lang="en-US" altLang="zh-CN" dirty="0"/>
              <a:t>s Algorithm</a:t>
            </a:r>
            <a:endParaRPr lang="en-US" altLang="zh-CN" dirty="0"/>
          </a:p>
        </p:txBody>
      </p:sp>
      <p:grpSp>
        <p:nvGrpSpPr>
          <p:cNvPr id="36954" name="Group 90"/>
          <p:cNvGrpSpPr/>
          <p:nvPr/>
        </p:nvGrpSpPr>
        <p:grpSpPr>
          <a:xfrm>
            <a:off x="2590800" y="2349500"/>
            <a:ext cx="3321050" cy="2492375"/>
            <a:chOff x="1728" y="2006"/>
            <a:chExt cx="2092" cy="1570"/>
          </a:xfrm>
        </p:grpSpPr>
        <p:sp>
          <p:nvSpPr>
            <p:cNvPr id="19480" name="Oval 91"/>
            <p:cNvSpPr>
              <a:spLocks noChangeAspect="1"/>
            </p:cNvSpPr>
            <p:nvPr/>
          </p:nvSpPr>
          <p:spPr>
            <a:xfrm>
              <a:off x="2135" y="2066"/>
              <a:ext cx="349" cy="34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481" name="Oval 92"/>
            <p:cNvSpPr>
              <a:spLocks noChangeAspect="1"/>
            </p:cNvSpPr>
            <p:nvPr/>
          </p:nvSpPr>
          <p:spPr>
            <a:xfrm>
              <a:off x="3007" y="2066"/>
              <a:ext cx="348" cy="34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482" name="Line 93"/>
            <p:cNvSpPr>
              <a:spLocks noChangeAspect="1"/>
            </p:cNvSpPr>
            <p:nvPr/>
          </p:nvSpPr>
          <p:spPr>
            <a:xfrm>
              <a:off x="2484" y="2240"/>
              <a:ext cx="52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3" name="Oval 94"/>
            <p:cNvSpPr>
              <a:spLocks noChangeAspect="1"/>
            </p:cNvSpPr>
            <p:nvPr/>
          </p:nvSpPr>
          <p:spPr>
            <a:xfrm>
              <a:off x="2193" y="3228"/>
              <a:ext cx="348" cy="34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484" name="Oval 95"/>
            <p:cNvSpPr>
              <a:spLocks noChangeAspect="1"/>
            </p:cNvSpPr>
            <p:nvPr/>
          </p:nvSpPr>
          <p:spPr>
            <a:xfrm>
              <a:off x="3064" y="3228"/>
              <a:ext cx="349" cy="34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485" name="Line 96"/>
            <p:cNvSpPr>
              <a:spLocks noChangeAspect="1"/>
            </p:cNvSpPr>
            <p:nvPr/>
          </p:nvSpPr>
          <p:spPr>
            <a:xfrm>
              <a:off x="2541" y="3402"/>
              <a:ext cx="52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6" name="Oval 97"/>
            <p:cNvSpPr>
              <a:spLocks noChangeAspect="1"/>
            </p:cNvSpPr>
            <p:nvPr/>
          </p:nvSpPr>
          <p:spPr>
            <a:xfrm>
              <a:off x="1728" y="2646"/>
              <a:ext cx="348" cy="35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487" name="Oval 98"/>
            <p:cNvSpPr>
              <a:spLocks noChangeAspect="1"/>
            </p:cNvSpPr>
            <p:nvPr/>
          </p:nvSpPr>
          <p:spPr>
            <a:xfrm>
              <a:off x="2599" y="2646"/>
              <a:ext cx="350" cy="35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488" name="Line 99"/>
            <p:cNvSpPr>
              <a:spLocks noChangeAspect="1"/>
            </p:cNvSpPr>
            <p:nvPr/>
          </p:nvSpPr>
          <p:spPr>
            <a:xfrm>
              <a:off x="2076" y="2822"/>
              <a:ext cx="52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9" name="Oval 100"/>
            <p:cNvSpPr>
              <a:spLocks noChangeAspect="1"/>
            </p:cNvSpPr>
            <p:nvPr/>
          </p:nvSpPr>
          <p:spPr>
            <a:xfrm>
              <a:off x="3472" y="2646"/>
              <a:ext cx="348" cy="35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490" name="Line 101"/>
            <p:cNvSpPr>
              <a:spLocks noChangeAspect="1"/>
            </p:cNvSpPr>
            <p:nvPr/>
          </p:nvSpPr>
          <p:spPr>
            <a:xfrm>
              <a:off x="2949" y="2822"/>
              <a:ext cx="52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1" name="Line 102"/>
            <p:cNvSpPr>
              <a:spLocks noChangeAspect="1"/>
            </p:cNvSpPr>
            <p:nvPr/>
          </p:nvSpPr>
          <p:spPr>
            <a:xfrm flipH="1">
              <a:off x="1902" y="2357"/>
              <a:ext cx="291" cy="28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2" name="Line 103"/>
            <p:cNvSpPr>
              <a:spLocks noChangeAspect="1"/>
            </p:cNvSpPr>
            <p:nvPr/>
          </p:nvSpPr>
          <p:spPr>
            <a:xfrm flipH="1">
              <a:off x="3238" y="2937"/>
              <a:ext cx="291" cy="2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3" name="Line 104"/>
            <p:cNvSpPr>
              <a:spLocks noChangeAspect="1"/>
            </p:cNvSpPr>
            <p:nvPr/>
          </p:nvSpPr>
          <p:spPr>
            <a:xfrm>
              <a:off x="2425" y="2357"/>
              <a:ext cx="291" cy="28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4" name="Line 105"/>
            <p:cNvSpPr>
              <a:spLocks noChangeAspect="1"/>
            </p:cNvSpPr>
            <p:nvPr/>
          </p:nvSpPr>
          <p:spPr>
            <a:xfrm>
              <a:off x="3312" y="2314"/>
              <a:ext cx="334" cy="3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5" name="Line 106"/>
            <p:cNvSpPr>
              <a:spLocks noChangeAspect="1"/>
            </p:cNvSpPr>
            <p:nvPr/>
          </p:nvSpPr>
          <p:spPr>
            <a:xfrm>
              <a:off x="2019" y="2937"/>
              <a:ext cx="291" cy="2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6" name="Line 107"/>
            <p:cNvSpPr>
              <a:spLocks noChangeAspect="1"/>
            </p:cNvSpPr>
            <p:nvPr/>
          </p:nvSpPr>
          <p:spPr>
            <a:xfrm>
              <a:off x="2890" y="2937"/>
              <a:ext cx="291" cy="2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7" name="Line 108"/>
            <p:cNvSpPr>
              <a:spLocks noChangeAspect="1"/>
            </p:cNvSpPr>
            <p:nvPr/>
          </p:nvSpPr>
          <p:spPr>
            <a:xfrm flipH="1">
              <a:off x="2775" y="2357"/>
              <a:ext cx="289" cy="28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8" name="Line 109"/>
            <p:cNvSpPr>
              <a:spLocks noChangeAspect="1"/>
            </p:cNvSpPr>
            <p:nvPr/>
          </p:nvSpPr>
          <p:spPr>
            <a:xfrm flipH="1">
              <a:off x="2367" y="2937"/>
              <a:ext cx="291" cy="2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9" name="Text Box 110"/>
            <p:cNvSpPr txBox="1">
              <a:spLocks noChangeAspect="1"/>
            </p:cNvSpPr>
            <p:nvPr/>
          </p:nvSpPr>
          <p:spPr>
            <a:xfrm>
              <a:off x="2626" y="2006"/>
              <a:ext cx="277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500" name="Text Box 111"/>
            <p:cNvSpPr txBox="1">
              <a:spLocks noChangeAspect="1"/>
            </p:cNvSpPr>
            <p:nvPr/>
          </p:nvSpPr>
          <p:spPr>
            <a:xfrm>
              <a:off x="1883" y="2273"/>
              <a:ext cx="277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501" name="Text Box 112"/>
            <p:cNvSpPr txBox="1">
              <a:spLocks noChangeAspect="1"/>
            </p:cNvSpPr>
            <p:nvPr/>
          </p:nvSpPr>
          <p:spPr>
            <a:xfrm>
              <a:off x="2212" y="2592"/>
              <a:ext cx="276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502" name="Text Box 113"/>
            <p:cNvSpPr txBox="1">
              <a:spLocks noChangeAspect="1"/>
            </p:cNvSpPr>
            <p:nvPr/>
          </p:nvSpPr>
          <p:spPr>
            <a:xfrm>
              <a:off x="2488" y="2273"/>
              <a:ext cx="277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503" name="Text Box 114"/>
            <p:cNvSpPr txBox="1">
              <a:spLocks noChangeAspect="1"/>
            </p:cNvSpPr>
            <p:nvPr/>
          </p:nvSpPr>
          <p:spPr>
            <a:xfrm>
              <a:off x="2834" y="2273"/>
              <a:ext cx="276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504" name="Text Box 115"/>
            <p:cNvSpPr txBox="1">
              <a:spLocks noChangeAspect="1"/>
            </p:cNvSpPr>
            <p:nvPr/>
          </p:nvSpPr>
          <p:spPr>
            <a:xfrm>
              <a:off x="3387" y="2273"/>
              <a:ext cx="414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505" name="Text Box 116"/>
            <p:cNvSpPr txBox="1">
              <a:spLocks noChangeAspect="1"/>
            </p:cNvSpPr>
            <p:nvPr/>
          </p:nvSpPr>
          <p:spPr>
            <a:xfrm>
              <a:off x="3041" y="2582"/>
              <a:ext cx="277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506" name="Text Box 117"/>
            <p:cNvSpPr txBox="1">
              <a:spLocks noChangeAspect="1"/>
            </p:cNvSpPr>
            <p:nvPr/>
          </p:nvSpPr>
          <p:spPr>
            <a:xfrm>
              <a:off x="1979" y="3013"/>
              <a:ext cx="277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507" name="Text Box 118"/>
            <p:cNvSpPr txBox="1">
              <a:spLocks noChangeAspect="1"/>
            </p:cNvSpPr>
            <p:nvPr/>
          </p:nvSpPr>
          <p:spPr>
            <a:xfrm>
              <a:off x="2350" y="2918"/>
              <a:ext cx="276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508" name="Text Box 119"/>
            <p:cNvSpPr txBox="1">
              <a:spLocks noChangeAspect="1"/>
            </p:cNvSpPr>
            <p:nvPr/>
          </p:nvSpPr>
          <p:spPr>
            <a:xfrm>
              <a:off x="2972" y="2866"/>
              <a:ext cx="276" cy="249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509" name="Text Box 120"/>
            <p:cNvSpPr txBox="1">
              <a:spLocks noChangeAspect="1"/>
            </p:cNvSpPr>
            <p:nvPr/>
          </p:nvSpPr>
          <p:spPr>
            <a:xfrm>
              <a:off x="3387" y="3015"/>
              <a:ext cx="276" cy="249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510" name="Text Box 121"/>
            <p:cNvSpPr txBox="1">
              <a:spLocks noChangeAspect="1"/>
            </p:cNvSpPr>
            <p:nvPr/>
          </p:nvSpPr>
          <p:spPr>
            <a:xfrm>
              <a:off x="2696" y="3158"/>
              <a:ext cx="276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6986" name="Oval 122"/>
          <p:cNvSpPr/>
          <p:nvPr/>
        </p:nvSpPr>
        <p:spPr>
          <a:xfrm>
            <a:off x="3200400" y="2425700"/>
            <a:ext cx="609600" cy="6096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36987" name="Group 123"/>
          <p:cNvGrpSpPr/>
          <p:nvPr/>
        </p:nvGrpSpPr>
        <p:grpSpPr>
          <a:xfrm>
            <a:off x="3697288" y="2906713"/>
            <a:ext cx="874712" cy="1042987"/>
            <a:chOff x="2329" y="2319"/>
            <a:chExt cx="551" cy="657"/>
          </a:xfrm>
        </p:grpSpPr>
        <p:sp>
          <p:nvSpPr>
            <p:cNvPr id="19478" name="Line 124"/>
            <p:cNvSpPr>
              <a:spLocks noChangeAspect="1"/>
            </p:cNvSpPr>
            <p:nvPr/>
          </p:nvSpPr>
          <p:spPr>
            <a:xfrm>
              <a:off x="2329" y="2319"/>
              <a:ext cx="291" cy="289"/>
            </a:xfrm>
            <a:prstGeom prst="line">
              <a:avLst/>
            </a:prstGeom>
            <a:ln w="508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9" name="Oval 125"/>
            <p:cNvSpPr/>
            <p:nvPr/>
          </p:nvSpPr>
          <p:spPr>
            <a:xfrm>
              <a:off x="2496" y="2592"/>
              <a:ext cx="384" cy="384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508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36990" name="Group 126"/>
          <p:cNvGrpSpPr/>
          <p:nvPr/>
        </p:nvGrpSpPr>
        <p:grpSpPr>
          <a:xfrm>
            <a:off x="3790950" y="2425700"/>
            <a:ext cx="1390650" cy="609600"/>
            <a:chOff x="2388" y="2016"/>
            <a:chExt cx="876" cy="384"/>
          </a:xfrm>
        </p:grpSpPr>
        <p:sp>
          <p:nvSpPr>
            <p:cNvPr id="19476" name="Line 127"/>
            <p:cNvSpPr>
              <a:spLocks noChangeAspect="1"/>
            </p:cNvSpPr>
            <p:nvPr/>
          </p:nvSpPr>
          <p:spPr>
            <a:xfrm>
              <a:off x="2388" y="2202"/>
              <a:ext cx="523" cy="0"/>
            </a:xfrm>
            <a:prstGeom prst="line">
              <a:avLst/>
            </a:prstGeom>
            <a:ln w="508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7" name="Oval 128"/>
            <p:cNvSpPr/>
            <p:nvPr/>
          </p:nvSpPr>
          <p:spPr>
            <a:xfrm>
              <a:off x="2880" y="2016"/>
              <a:ext cx="384" cy="384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508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36993" name="Group 129"/>
          <p:cNvGrpSpPr/>
          <p:nvPr/>
        </p:nvGrpSpPr>
        <p:grpSpPr>
          <a:xfrm>
            <a:off x="2590800" y="3340100"/>
            <a:ext cx="1382713" cy="609600"/>
            <a:chOff x="1632" y="2592"/>
            <a:chExt cx="871" cy="384"/>
          </a:xfrm>
        </p:grpSpPr>
        <p:sp>
          <p:nvSpPr>
            <p:cNvPr id="19474" name="Line 130"/>
            <p:cNvSpPr>
              <a:spLocks noChangeAspect="1"/>
            </p:cNvSpPr>
            <p:nvPr/>
          </p:nvSpPr>
          <p:spPr>
            <a:xfrm>
              <a:off x="1980" y="2784"/>
              <a:ext cx="523" cy="0"/>
            </a:xfrm>
            <a:prstGeom prst="line">
              <a:avLst/>
            </a:prstGeom>
            <a:ln w="508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5" name="Oval 131"/>
            <p:cNvSpPr/>
            <p:nvPr/>
          </p:nvSpPr>
          <p:spPr>
            <a:xfrm>
              <a:off x="1632" y="2592"/>
              <a:ext cx="384" cy="384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508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36996" name="Group 132"/>
          <p:cNvGrpSpPr/>
          <p:nvPr/>
        </p:nvGrpSpPr>
        <p:grpSpPr>
          <a:xfrm>
            <a:off x="4435475" y="3827463"/>
            <a:ext cx="898525" cy="1036637"/>
            <a:chOff x="2794" y="2899"/>
            <a:chExt cx="566" cy="653"/>
          </a:xfrm>
        </p:grpSpPr>
        <p:sp>
          <p:nvSpPr>
            <p:cNvPr id="19472" name="Line 133"/>
            <p:cNvSpPr>
              <a:spLocks noChangeAspect="1"/>
            </p:cNvSpPr>
            <p:nvPr/>
          </p:nvSpPr>
          <p:spPr>
            <a:xfrm>
              <a:off x="2794" y="2899"/>
              <a:ext cx="291" cy="291"/>
            </a:xfrm>
            <a:prstGeom prst="line">
              <a:avLst/>
            </a:prstGeom>
            <a:ln w="508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3" name="Oval 134"/>
            <p:cNvSpPr/>
            <p:nvPr/>
          </p:nvSpPr>
          <p:spPr>
            <a:xfrm>
              <a:off x="2976" y="3168"/>
              <a:ext cx="384" cy="384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508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36999" name="Group 135"/>
          <p:cNvGrpSpPr/>
          <p:nvPr/>
        </p:nvGrpSpPr>
        <p:grpSpPr>
          <a:xfrm>
            <a:off x="3276600" y="4254500"/>
            <a:ext cx="1435100" cy="609600"/>
            <a:chOff x="2064" y="3168"/>
            <a:chExt cx="904" cy="384"/>
          </a:xfrm>
        </p:grpSpPr>
        <p:sp>
          <p:nvSpPr>
            <p:cNvPr id="19470" name="Line 136"/>
            <p:cNvSpPr>
              <a:spLocks noChangeAspect="1"/>
            </p:cNvSpPr>
            <p:nvPr/>
          </p:nvSpPr>
          <p:spPr>
            <a:xfrm>
              <a:off x="2445" y="3364"/>
              <a:ext cx="523" cy="0"/>
            </a:xfrm>
            <a:prstGeom prst="line">
              <a:avLst/>
            </a:prstGeom>
            <a:ln w="508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1" name="Oval 137"/>
            <p:cNvSpPr/>
            <p:nvPr/>
          </p:nvSpPr>
          <p:spPr>
            <a:xfrm>
              <a:off x="2064" y="3168"/>
              <a:ext cx="384" cy="384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508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37002" name="Group 138"/>
          <p:cNvGrpSpPr/>
          <p:nvPr/>
        </p:nvGrpSpPr>
        <p:grpSpPr>
          <a:xfrm>
            <a:off x="4987925" y="3340100"/>
            <a:ext cx="955675" cy="949325"/>
            <a:chOff x="3142" y="2592"/>
            <a:chExt cx="602" cy="598"/>
          </a:xfrm>
        </p:grpSpPr>
        <p:sp>
          <p:nvSpPr>
            <p:cNvPr id="19468" name="Line 139"/>
            <p:cNvSpPr>
              <a:spLocks noChangeAspect="1"/>
            </p:cNvSpPr>
            <p:nvPr/>
          </p:nvSpPr>
          <p:spPr>
            <a:xfrm flipH="1">
              <a:off x="3142" y="2899"/>
              <a:ext cx="291" cy="291"/>
            </a:xfrm>
            <a:prstGeom prst="line">
              <a:avLst/>
            </a:prstGeom>
            <a:ln w="508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9" name="Oval 140"/>
            <p:cNvSpPr/>
            <p:nvPr/>
          </p:nvSpPr>
          <p:spPr>
            <a:xfrm>
              <a:off x="3360" y="2592"/>
              <a:ext cx="384" cy="384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508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6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6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36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6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37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  <p:bldP spid="3698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" name="AutoShape 3"/>
          <p:cNvSpPr/>
          <p:nvPr/>
        </p:nvSpPr>
        <p:spPr>
          <a:xfrm>
            <a:off x="3779838" y="2636838"/>
            <a:ext cx="5184775" cy="4105275"/>
          </a:xfrm>
          <a:prstGeom prst="foldedCorner">
            <a:avLst>
              <a:gd name="adj" fmla="val 7787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82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chemeClr val="hlink"/>
                </a:solidFill>
                <a:latin typeface="Arial" panose="020B0604020202020204" pitchFamily="34" charset="0"/>
              </a:rPr>
              <a:t>void</a:t>
            </a:r>
            <a:r>
              <a:rPr lang="en-US" altLang="zh-CN" sz="1600" b="1" dirty="0">
                <a:latin typeface="Arial" panose="020B0604020202020204" pitchFamily="34" charset="0"/>
              </a:rPr>
              <a:t> Dijkstra( Table T )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{   </a:t>
            </a:r>
            <a:r>
              <a:rPr lang="en-US" altLang="zh-CN" sz="1600" b="1" dirty="0">
                <a:solidFill>
                  <a:srgbClr val="009900"/>
                </a:solidFill>
                <a:latin typeface="Arial" panose="020B0604020202020204" pitchFamily="34" charset="0"/>
              </a:rPr>
              <a:t>/* T is initialized by Figure 9.30 on p.303 */</a:t>
            </a:r>
            <a:endParaRPr lang="en-US" altLang="zh-CN" sz="16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    Vertex  V, W;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chemeClr val="hlink"/>
                </a:solidFill>
                <a:latin typeface="Arial" panose="020B0604020202020204" pitchFamily="34" charset="0"/>
              </a:rPr>
              <a:t>    for</a:t>
            </a:r>
            <a:r>
              <a:rPr lang="en-US" altLang="zh-CN" sz="1600" b="1" dirty="0">
                <a:latin typeface="Arial" panose="020B0604020202020204" pitchFamily="34" charset="0"/>
              </a:rPr>
              <a:t> ( ; ; ) {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        V = smallest unknown distance vertex;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chemeClr val="hlink"/>
                </a:solidFill>
                <a:latin typeface="Arial" panose="020B0604020202020204" pitchFamily="34" charset="0"/>
              </a:rPr>
              <a:t>        if</a:t>
            </a:r>
            <a:r>
              <a:rPr lang="en-US" altLang="zh-CN" sz="1600" b="1" dirty="0">
                <a:latin typeface="Arial" panose="020B0604020202020204" pitchFamily="34" charset="0"/>
              </a:rPr>
              <a:t> ( V == NotAVertex )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	break; 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        T[ V ].Known = true;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        </a:t>
            </a:r>
            <a:r>
              <a:rPr lang="en-US" altLang="zh-CN" sz="1600" b="1" dirty="0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600" b="1" dirty="0">
                <a:latin typeface="Arial" panose="020B0604020202020204" pitchFamily="34" charset="0"/>
              </a:rPr>
              <a:t> ( each W adjacent to V )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	</a:t>
            </a:r>
            <a:r>
              <a:rPr lang="en-US" altLang="zh-CN" sz="16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600" b="1" dirty="0">
                <a:latin typeface="Arial" panose="020B0604020202020204" pitchFamily="34" charset="0"/>
              </a:rPr>
              <a:t> ( !T[ W ].Known ) 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	    </a:t>
            </a:r>
            <a:r>
              <a:rPr lang="en-US" altLang="zh-CN" sz="16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600" b="1" dirty="0">
                <a:latin typeface="Arial" panose="020B0604020202020204" pitchFamily="34" charset="0"/>
              </a:rPr>
              <a:t> ( T[ V ].Dist + Cvw &lt; T[ W ].Dist ) {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	                T[ W ].Dist=T[ V ].Dist + Cvw );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		T[ W ].Path = V;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	    } </a:t>
            </a:r>
            <a:r>
              <a:rPr lang="en-US" altLang="zh-CN" sz="1600" b="1" dirty="0">
                <a:solidFill>
                  <a:srgbClr val="009900"/>
                </a:solidFill>
                <a:latin typeface="Arial" panose="020B0604020202020204" pitchFamily="34" charset="0"/>
              </a:rPr>
              <a:t>/* end-if update W */</a:t>
            </a:r>
            <a:endParaRPr lang="en-US" altLang="zh-CN" sz="16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    } </a:t>
            </a:r>
            <a:r>
              <a:rPr lang="en-US" altLang="zh-CN" sz="1600" b="1" dirty="0">
                <a:solidFill>
                  <a:srgbClr val="009900"/>
                </a:solidFill>
                <a:latin typeface="Arial" panose="020B0604020202020204" pitchFamily="34" charset="0"/>
              </a:rPr>
              <a:t>/* end-for( ; ; ) */</a:t>
            </a:r>
            <a:endParaRPr lang="en-US" altLang="zh-CN" sz="16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}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64163" y="5157788"/>
            <a:ext cx="3384550" cy="503238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AutoShape 3"/>
          <p:cNvSpPr/>
          <p:nvPr/>
        </p:nvSpPr>
        <p:spPr>
          <a:xfrm>
            <a:off x="3781425" y="2636838"/>
            <a:ext cx="5184775" cy="4105275"/>
          </a:xfrm>
          <a:prstGeom prst="foldedCorner">
            <a:avLst>
              <a:gd name="adj" fmla="val 7787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82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chemeClr val="hlink"/>
                </a:solidFill>
                <a:latin typeface="Arial" panose="020B0604020202020204" pitchFamily="34" charset="0"/>
              </a:rPr>
              <a:t>void</a:t>
            </a:r>
            <a:r>
              <a:rPr lang="en-US" altLang="zh-CN" sz="1600" b="1" dirty="0">
                <a:latin typeface="Arial" panose="020B0604020202020204" pitchFamily="34" charset="0"/>
              </a:rPr>
              <a:t> Prim( Table T )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{   </a:t>
            </a:r>
            <a:r>
              <a:rPr lang="en-US" altLang="zh-CN" sz="1600" b="1" dirty="0">
                <a:solidFill>
                  <a:srgbClr val="009900"/>
                </a:solidFill>
                <a:latin typeface="Arial" panose="020B0604020202020204" pitchFamily="34" charset="0"/>
              </a:rPr>
              <a:t>/* T is initialized by Figure 9.30 on p.303 */</a:t>
            </a:r>
            <a:endParaRPr lang="en-US" altLang="zh-CN" sz="16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    Vertex  V, W;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chemeClr val="hlink"/>
                </a:solidFill>
                <a:latin typeface="Arial" panose="020B0604020202020204" pitchFamily="34" charset="0"/>
              </a:rPr>
              <a:t>    for</a:t>
            </a:r>
            <a:r>
              <a:rPr lang="en-US" altLang="zh-CN" sz="1600" b="1" dirty="0">
                <a:latin typeface="Arial" panose="020B0604020202020204" pitchFamily="34" charset="0"/>
              </a:rPr>
              <a:t> ( ; ; ) {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        V = smallest unknown distance vertex;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chemeClr val="hlink"/>
                </a:solidFill>
                <a:latin typeface="Arial" panose="020B0604020202020204" pitchFamily="34" charset="0"/>
              </a:rPr>
              <a:t>        if</a:t>
            </a:r>
            <a:r>
              <a:rPr lang="en-US" altLang="zh-CN" sz="1600" b="1" dirty="0">
                <a:latin typeface="Arial" panose="020B0604020202020204" pitchFamily="34" charset="0"/>
              </a:rPr>
              <a:t> ( V == NotAVertex )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	break; 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        T[ V ].Known = true;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        </a:t>
            </a:r>
            <a:r>
              <a:rPr lang="en-US" altLang="zh-CN" sz="1600" b="1" dirty="0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600" b="1" dirty="0">
                <a:latin typeface="Arial" panose="020B0604020202020204" pitchFamily="34" charset="0"/>
              </a:rPr>
              <a:t> ( each W adjacent to V )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	</a:t>
            </a:r>
            <a:r>
              <a:rPr lang="en-US" altLang="zh-CN" sz="16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600" b="1" dirty="0">
                <a:latin typeface="Arial" panose="020B0604020202020204" pitchFamily="34" charset="0"/>
              </a:rPr>
              <a:t> ( !T[ W ].Known ) 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	    </a:t>
            </a:r>
            <a:r>
              <a:rPr lang="en-US" altLang="zh-CN" sz="16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600" b="1" dirty="0">
                <a:latin typeface="Arial" panose="020B0604020202020204" pitchFamily="34" charset="0"/>
              </a:rPr>
              <a:t> (  Cvw &lt; T[ W ].Dist ) {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	                T[ W ].Dist=Cvw );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		T[ W ].Path = V;</a:t>
            </a:r>
            <a:endParaRPr lang="en-US" altLang="zh-CN" sz="1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	    } </a:t>
            </a:r>
            <a:r>
              <a:rPr lang="en-US" altLang="zh-CN" sz="1600" b="1" dirty="0">
                <a:solidFill>
                  <a:srgbClr val="009900"/>
                </a:solidFill>
                <a:latin typeface="Arial" panose="020B0604020202020204" pitchFamily="34" charset="0"/>
              </a:rPr>
              <a:t>/* end-if update W */</a:t>
            </a:r>
            <a:endParaRPr lang="en-US" altLang="zh-CN" sz="16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    } </a:t>
            </a:r>
            <a:r>
              <a:rPr lang="en-US" altLang="zh-CN" sz="1600" b="1" dirty="0">
                <a:solidFill>
                  <a:srgbClr val="009900"/>
                </a:solidFill>
                <a:latin typeface="Arial" panose="020B0604020202020204" pitchFamily="34" charset="0"/>
              </a:rPr>
              <a:t>/* end-for( ; ; ) */</a:t>
            </a:r>
            <a:endParaRPr lang="en-US" altLang="zh-CN" sz="1600" b="1" dirty="0">
              <a:solidFill>
                <a:srgbClr val="0099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}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grpSp>
        <p:nvGrpSpPr>
          <p:cNvPr id="20485" name="Group 90"/>
          <p:cNvGrpSpPr/>
          <p:nvPr/>
        </p:nvGrpSpPr>
        <p:grpSpPr>
          <a:xfrm>
            <a:off x="477838" y="549275"/>
            <a:ext cx="3321050" cy="2492375"/>
            <a:chOff x="1728" y="2006"/>
            <a:chExt cx="2092" cy="1570"/>
          </a:xfrm>
        </p:grpSpPr>
        <p:sp>
          <p:nvSpPr>
            <p:cNvPr id="20486" name="Oval 91"/>
            <p:cNvSpPr>
              <a:spLocks noChangeAspect="1"/>
            </p:cNvSpPr>
            <p:nvPr/>
          </p:nvSpPr>
          <p:spPr>
            <a:xfrm>
              <a:off x="2135" y="2066"/>
              <a:ext cx="349" cy="34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87" name="Oval 92"/>
            <p:cNvSpPr>
              <a:spLocks noChangeAspect="1"/>
            </p:cNvSpPr>
            <p:nvPr/>
          </p:nvSpPr>
          <p:spPr>
            <a:xfrm>
              <a:off x="3007" y="2066"/>
              <a:ext cx="348" cy="34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88" name="Line 93"/>
            <p:cNvSpPr>
              <a:spLocks noChangeAspect="1"/>
            </p:cNvSpPr>
            <p:nvPr/>
          </p:nvSpPr>
          <p:spPr>
            <a:xfrm>
              <a:off x="2484" y="2240"/>
              <a:ext cx="52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89" name="Oval 94"/>
            <p:cNvSpPr>
              <a:spLocks noChangeAspect="1"/>
            </p:cNvSpPr>
            <p:nvPr/>
          </p:nvSpPr>
          <p:spPr>
            <a:xfrm>
              <a:off x="2193" y="3228"/>
              <a:ext cx="348" cy="34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90" name="Oval 95"/>
            <p:cNvSpPr>
              <a:spLocks noChangeAspect="1"/>
            </p:cNvSpPr>
            <p:nvPr/>
          </p:nvSpPr>
          <p:spPr>
            <a:xfrm>
              <a:off x="3064" y="3228"/>
              <a:ext cx="349" cy="34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91" name="Line 96"/>
            <p:cNvSpPr>
              <a:spLocks noChangeAspect="1"/>
            </p:cNvSpPr>
            <p:nvPr/>
          </p:nvSpPr>
          <p:spPr>
            <a:xfrm>
              <a:off x="2541" y="3402"/>
              <a:ext cx="52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2" name="Oval 97"/>
            <p:cNvSpPr>
              <a:spLocks noChangeAspect="1"/>
            </p:cNvSpPr>
            <p:nvPr/>
          </p:nvSpPr>
          <p:spPr>
            <a:xfrm>
              <a:off x="1728" y="2646"/>
              <a:ext cx="348" cy="35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93" name="Oval 98"/>
            <p:cNvSpPr>
              <a:spLocks noChangeAspect="1"/>
            </p:cNvSpPr>
            <p:nvPr/>
          </p:nvSpPr>
          <p:spPr>
            <a:xfrm>
              <a:off x="2599" y="2646"/>
              <a:ext cx="350" cy="35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94" name="Line 99"/>
            <p:cNvSpPr>
              <a:spLocks noChangeAspect="1"/>
            </p:cNvSpPr>
            <p:nvPr/>
          </p:nvSpPr>
          <p:spPr>
            <a:xfrm>
              <a:off x="2076" y="2822"/>
              <a:ext cx="52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5" name="Oval 100"/>
            <p:cNvSpPr>
              <a:spLocks noChangeAspect="1"/>
            </p:cNvSpPr>
            <p:nvPr/>
          </p:nvSpPr>
          <p:spPr>
            <a:xfrm>
              <a:off x="3472" y="2646"/>
              <a:ext cx="348" cy="35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96" name="Line 101"/>
            <p:cNvSpPr>
              <a:spLocks noChangeAspect="1"/>
            </p:cNvSpPr>
            <p:nvPr/>
          </p:nvSpPr>
          <p:spPr>
            <a:xfrm>
              <a:off x="2949" y="2822"/>
              <a:ext cx="52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7" name="Line 102"/>
            <p:cNvSpPr>
              <a:spLocks noChangeAspect="1"/>
            </p:cNvSpPr>
            <p:nvPr/>
          </p:nvSpPr>
          <p:spPr>
            <a:xfrm flipH="1">
              <a:off x="1902" y="2357"/>
              <a:ext cx="291" cy="28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8" name="Line 103"/>
            <p:cNvSpPr>
              <a:spLocks noChangeAspect="1"/>
            </p:cNvSpPr>
            <p:nvPr/>
          </p:nvSpPr>
          <p:spPr>
            <a:xfrm flipH="1">
              <a:off x="3238" y="2937"/>
              <a:ext cx="291" cy="2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9" name="Line 104"/>
            <p:cNvSpPr>
              <a:spLocks noChangeAspect="1"/>
            </p:cNvSpPr>
            <p:nvPr/>
          </p:nvSpPr>
          <p:spPr>
            <a:xfrm>
              <a:off x="2425" y="2357"/>
              <a:ext cx="291" cy="28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0" name="Line 105"/>
            <p:cNvSpPr>
              <a:spLocks noChangeAspect="1"/>
            </p:cNvSpPr>
            <p:nvPr/>
          </p:nvSpPr>
          <p:spPr>
            <a:xfrm>
              <a:off x="3312" y="2314"/>
              <a:ext cx="334" cy="3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1" name="Line 106"/>
            <p:cNvSpPr>
              <a:spLocks noChangeAspect="1"/>
            </p:cNvSpPr>
            <p:nvPr/>
          </p:nvSpPr>
          <p:spPr>
            <a:xfrm>
              <a:off x="2019" y="2937"/>
              <a:ext cx="291" cy="2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2" name="Line 107"/>
            <p:cNvSpPr>
              <a:spLocks noChangeAspect="1"/>
            </p:cNvSpPr>
            <p:nvPr/>
          </p:nvSpPr>
          <p:spPr>
            <a:xfrm>
              <a:off x="2890" y="2937"/>
              <a:ext cx="291" cy="2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3" name="Line 108"/>
            <p:cNvSpPr>
              <a:spLocks noChangeAspect="1"/>
            </p:cNvSpPr>
            <p:nvPr/>
          </p:nvSpPr>
          <p:spPr>
            <a:xfrm flipH="1">
              <a:off x="2775" y="2357"/>
              <a:ext cx="289" cy="28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4" name="Line 109"/>
            <p:cNvSpPr>
              <a:spLocks noChangeAspect="1"/>
            </p:cNvSpPr>
            <p:nvPr/>
          </p:nvSpPr>
          <p:spPr>
            <a:xfrm flipH="1">
              <a:off x="2367" y="2937"/>
              <a:ext cx="291" cy="2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5" name="Text Box 110"/>
            <p:cNvSpPr txBox="1">
              <a:spLocks noChangeAspect="1"/>
            </p:cNvSpPr>
            <p:nvPr/>
          </p:nvSpPr>
          <p:spPr>
            <a:xfrm>
              <a:off x="2626" y="2006"/>
              <a:ext cx="277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06" name="Text Box 111"/>
            <p:cNvSpPr txBox="1">
              <a:spLocks noChangeAspect="1"/>
            </p:cNvSpPr>
            <p:nvPr/>
          </p:nvSpPr>
          <p:spPr>
            <a:xfrm>
              <a:off x="1883" y="2273"/>
              <a:ext cx="277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07" name="Text Box 112"/>
            <p:cNvSpPr txBox="1">
              <a:spLocks noChangeAspect="1"/>
            </p:cNvSpPr>
            <p:nvPr/>
          </p:nvSpPr>
          <p:spPr>
            <a:xfrm>
              <a:off x="2212" y="2592"/>
              <a:ext cx="276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08" name="Text Box 113"/>
            <p:cNvSpPr txBox="1">
              <a:spLocks noChangeAspect="1"/>
            </p:cNvSpPr>
            <p:nvPr/>
          </p:nvSpPr>
          <p:spPr>
            <a:xfrm>
              <a:off x="2488" y="2273"/>
              <a:ext cx="277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09" name="Text Box 114"/>
            <p:cNvSpPr txBox="1">
              <a:spLocks noChangeAspect="1"/>
            </p:cNvSpPr>
            <p:nvPr/>
          </p:nvSpPr>
          <p:spPr>
            <a:xfrm>
              <a:off x="2834" y="2273"/>
              <a:ext cx="276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10" name="Text Box 115"/>
            <p:cNvSpPr txBox="1">
              <a:spLocks noChangeAspect="1"/>
            </p:cNvSpPr>
            <p:nvPr/>
          </p:nvSpPr>
          <p:spPr>
            <a:xfrm>
              <a:off x="3387" y="2273"/>
              <a:ext cx="414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11" name="Text Box 116"/>
            <p:cNvSpPr txBox="1">
              <a:spLocks noChangeAspect="1"/>
            </p:cNvSpPr>
            <p:nvPr/>
          </p:nvSpPr>
          <p:spPr>
            <a:xfrm>
              <a:off x="3041" y="2582"/>
              <a:ext cx="277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12" name="Text Box 117"/>
            <p:cNvSpPr txBox="1">
              <a:spLocks noChangeAspect="1"/>
            </p:cNvSpPr>
            <p:nvPr/>
          </p:nvSpPr>
          <p:spPr>
            <a:xfrm>
              <a:off x="1979" y="3013"/>
              <a:ext cx="277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13" name="Text Box 118"/>
            <p:cNvSpPr txBox="1">
              <a:spLocks noChangeAspect="1"/>
            </p:cNvSpPr>
            <p:nvPr/>
          </p:nvSpPr>
          <p:spPr>
            <a:xfrm>
              <a:off x="2350" y="2918"/>
              <a:ext cx="276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14" name="Text Box 119"/>
            <p:cNvSpPr txBox="1">
              <a:spLocks noChangeAspect="1"/>
            </p:cNvSpPr>
            <p:nvPr/>
          </p:nvSpPr>
          <p:spPr>
            <a:xfrm>
              <a:off x="2972" y="2866"/>
              <a:ext cx="276" cy="249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15" name="Text Box 120"/>
            <p:cNvSpPr txBox="1">
              <a:spLocks noChangeAspect="1"/>
            </p:cNvSpPr>
            <p:nvPr/>
          </p:nvSpPr>
          <p:spPr>
            <a:xfrm>
              <a:off x="3387" y="3015"/>
              <a:ext cx="276" cy="249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516" name="Text Box 121"/>
            <p:cNvSpPr txBox="1">
              <a:spLocks noChangeAspect="1"/>
            </p:cNvSpPr>
            <p:nvPr/>
          </p:nvSpPr>
          <p:spPr>
            <a:xfrm>
              <a:off x="2696" y="3158"/>
              <a:ext cx="276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1035050" y="0"/>
            <a:ext cx="8108950" cy="8255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lang="en-US" altLang="zh-TW" sz="3200" dirty="0"/>
              <a:t>Examples for Kruskal</a:t>
            </a:r>
            <a:r>
              <a:rPr lang="en-US" altLang="zh-TW" sz="3200" dirty="0">
                <a:latin typeface="Arial" panose="020B0604020202020204" pitchFamily="34" charset="0"/>
              </a:rPr>
              <a:t>’</a:t>
            </a:r>
            <a:r>
              <a:rPr lang="en-US" altLang="zh-TW" sz="3200" dirty="0"/>
              <a:t>s Algorithm</a:t>
            </a:r>
            <a:endParaRPr lang="en-US" altLang="zh-TW" sz="3200" dirty="0"/>
          </a:p>
        </p:txBody>
      </p:sp>
      <p:grpSp>
        <p:nvGrpSpPr>
          <p:cNvPr id="21507" name="Group 10"/>
          <p:cNvGrpSpPr/>
          <p:nvPr/>
        </p:nvGrpSpPr>
        <p:grpSpPr>
          <a:xfrm>
            <a:off x="6156325" y="2133600"/>
            <a:ext cx="2519363" cy="3224213"/>
            <a:chOff x="2273" y="1346"/>
            <a:chExt cx="1357" cy="2031"/>
          </a:xfrm>
        </p:grpSpPr>
        <p:sp>
          <p:nvSpPr>
            <p:cNvPr id="21562" name="Oval 11"/>
            <p:cNvSpPr/>
            <p:nvPr/>
          </p:nvSpPr>
          <p:spPr>
            <a:xfrm>
              <a:off x="2747" y="1346"/>
              <a:ext cx="280" cy="28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TW" sz="2800" dirty="0">
                  <a:latin typeface="Times New Roman" panose="02020603050405020304" pitchFamily="18" charset="0"/>
                  <a:ea typeface="PMingLiU" pitchFamily="18" charset="-120"/>
                </a:rPr>
                <a:t>0</a:t>
              </a:r>
              <a:endParaRPr lang="en-US" altLang="zh-TW" sz="28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63" name="Oval 12"/>
            <p:cNvSpPr/>
            <p:nvPr/>
          </p:nvSpPr>
          <p:spPr>
            <a:xfrm>
              <a:off x="3140" y="1719"/>
              <a:ext cx="280" cy="28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TW" sz="2800" dirty="0">
                  <a:latin typeface="Times New Roman" panose="02020603050405020304" pitchFamily="18" charset="0"/>
                  <a:ea typeface="PMingLiU" pitchFamily="18" charset="-120"/>
                </a:rPr>
                <a:t>1</a:t>
              </a:r>
              <a:endParaRPr lang="en-US" altLang="zh-TW" sz="28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64" name="Oval 13"/>
            <p:cNvSpPr/>
            <p:nvPr/>
          </p:nvSpPr>
          <p:spPr>
            <a:xfrm>
              <a:off x="3350" y="2244"/>
              <a:ext cx="280" cy="28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TW" sz="2800" dirty="0">
                  <a:latin typeface="Times New Roman" panose="02020603050405020304" pitchFamily="18" charset="0"/>
                  <a:ea typeface="PMingLiU" pitchFamily="18" charset="-120"/>
                </a:rPr>
                <a:t>2</a:t>
              </a:r>
              <a:endParaRPr lang="en-US" altLang="zh-TW" sz="28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65" name="Oval 14"/>
            <p:cNvSpPr/>
            <p:nvPr/>
          </p:nvSpPr>
          <p:spPr>
            <a:xfrm>
              <a:off x="2984" y="3097"/>
              <a:ext cx="280" cy="28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TW" sz="2800" dirty="0">
                  <a:latin typeface="Times New Roman" panose="02020603050405020304" pitchFamily="18" charset="0"/>
                  <a:ea typeface="PMingLiU" pitchFamily="18" charset="-120"/>
                </a:rPr>
                <a:t>3</a:t>
              </a:r>
              <a:endParaRPr lang="en-US" altLang="zh-TW" sz="28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66" name="Oval 15"/>
            <p:cNvSpPr/>
            <p:nvPr/>
          </p:nvSpPr>
          <p:spPr>
            <a:xfrm>
              <a:off x="2499" y="2795"/>
              <a:ext cx="280" cy="28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TW" sz="2800" dirty="0">
                  <a:latin typeface="Times New Roman" panose="02020603050405020304" pitchFamily="18" charset="0"/>
                  <a:ea typeface="PMingLiU" pitchFamily="18" charset="-120"/>
                </a:rPr>
                <a:t>4</a:t>
              </a:r>
              <a:endParaRPr lang="en-US" altLang="zh-TW" sz="28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67" name="Oval 16"/>
            <p:cNvSpPr/>
            <p:nvPr/>
          </p:nvSpPr>
          <p:spPr>
            <a:xfrm>
              <a:off x="2273" y="2253"/>
              <a:ext cx="280" cy="28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TW" sz="2800" dirty="0">
                  <a:latin typeface="Times New Roman" panose="02020603050405020304" pitchFamily="18" charset="0"/>
                  <a:ea typeface="PMingLiU" pitchFamily="18" charset="-120"/>
                </a:rPr>
                <a:t>5</a:t>
              </a:r>
              <a:endParaRPr lang="en-US" altLang="zh-TW" sz="28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68" name="Oval 17"/>
            <p:cNvSpPr/>
            <p:nvPr/>
          </p:nvSpPr>
          <p:spPr>
            <a:xfrm>
              <a:off x="2892" y="2240"/>
              <a:ext cx="280" cy="28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TW" sz="2800" dirty="0">
                  <a:latin typeface="Times New Roman" panose="02020603050405020304" pitchFamily="18" charset="0"/>
                  <a:ea typeface="PMingLiU" pitchFamily="18" charset="-120"/>
                </a:rPr>
                <a:t>6</a:t>
              </a:r>
              <a:endParaRPr lang="en-US" altLang="zh-TW" sz="28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</p:grpSp>
      <p:grpSp>
        <p:nvGrpSpPr>
          <p:cNvPr id="21508" name="Group 68"/>
          <p:cNvGrpSpPr/>
          <p:nvPr/>
        </p:nvGrpSpPr>
        <p:grpSpPr>
          <a:xfrm>
            <a:off x="2206625" y="2259013"/>
            <a:ext cx="2719388" cy="3224212"/>
            <a:chOff x="1390" y="1423"/>
            <a:chExt cx="1372" cy="2031"/>
          </a:xfrm>
        </p:grpSpPr>
        <p:sp>
          <p:nvSpPr>
            <p:cNvPr id="21537" name="Oval 3"/>
            <p:cNvSpPr/>
            <p:nvPr/>
          </p:nvSpPr>
          <p:spPr>
            <a:xfrm>
              <a:off x="1879" y="1423"/>
              <a:ext cx="280" cy="28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TW" sz="2800" dirty="0">
                  <a:latin typeface="Times New Roman" panose="02020603050405020304" pitchFamily="18" charset="0"/>
                  <a:ea typeface="PMingLiU" pitchFamily="18" charset="-120"/>
                </a:rPr>
                <a:t>0</a:t>
              </a:r>
              <a:endParaRPr lang="en-US" altLang="zh-TW" sz="28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38" name="Oval 4"/>
            <p:cNvSpPr/>
            <p:nvPr/>
          </p:nvSpPr>
          <p:spPr>
            <a:xfrm>
              <a:off x="2272" y="1796"/>
              <a:ext cx="280" cy="28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TW" sz="2800" dirty="0">
                  <a:latin typeface="Times New Roman" panose="02020603050405020304" pitchFamily="18" charset="0"/>
                  <a:ea typeface="PMingLiU" pitchFamily="18" charset="-120"/>
                </a:rPr>
                <a:t>1</a:t>
              </a:r>
              <a:endParaRPr lang="en-US" altLang="zh-TW" sz="28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39" name="Oval 5"/>
            <p:cNvSpPr/>
            <p:nvPr/>
          </p:nvSpPr>
          <p:spPr>
            <a:xfrm>
              <a:off x="2482" y="2321"/>
              <a:ext cx="280" cy="28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TW" sz="2800" dirty="0">
                  <a:latin typeface="Times New Roman" panose="02020603050405020304" pitchFamily="18" charset="0"/>
                  <a:ea typeface="PMingLiU" pitchFamily="18" charset="-120"/>
                </a:rPr>
                <a:t>2</a:t>
              </a:r>
              <a:endParaRPr lang="en-US" altLang="zh-TW" sz="28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40" name="Oval 6"/>
            <p:cNvSpPr/>
            <p:nvPr/>
          </p:nvSpPr>
          <p:spPr>
            <a:xfrm>
              <a:off x="2116" y="3174"/>
              <a:ext cx="280" cy="28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TW" sz="2800" dirty="0">
                  <a:latin typeface="Times New Roman" panose="02020603050405020304" pitchFamily="18" charset="0"/>
                  <a:ea typeface="PMingLiU" pitchFamily="18" charset="-120"/>
                </a:rPr>
                <a:t>3</a:t>
              </a:r>
              <a:endParaRPr lang="en-US" altLang="zh-TW" sz="28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41" name="Oval 7"/>
            <p:cNvSpPr/>
            <p:nvPr/>
          </p:nvSpPr>
          <p:spPr>
            <a:xfrm>
              <a:off x="1631" y="2872"/>
              <a:ext cx="280" cy="28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TW" sz="2800" dirty="0">
                  <a:latin typeface="Times New Roman" panose="02020603050405020304" pitchFamily="18" charset="0"/>
                  <a:ea typeface="PMingLiU" pitchFamily="18" charset="-120"/>
                </a:rPr>
                <a:t>4</a:t>
              </a:r>
              <a:endParaRPr lang="en-US" altLang="zh-TW" sz="28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42" name="Oval 8"/>
            <p:cNvSpPr/>
            <p:nvPr/>
          </p:nvSpPr>
          <p:spPr>
            <a:xfrm>
              <a:off x="1405" y="2330"/>
              <a:ext cx="280" cy="28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TW" sz="2800" dirty="0">
                  <a:latin typeface="Times New Roman" panose="02020603050405020304" pitchFamily="18" charset="0"/>
                  <a:ea typeface="PMingLiU" pitchFamily="18" charset="-120"/>
                </a:rPr>
                <a:t>5</a:t>
              </a:r>
              <a:endParaRPr lang="en-US" altLang="zh-TW" sz="28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43" name="Oval 9"/>
            <p:cNvSpPr/>
            <p:nvPr/>
          </p:nvSpPr>
          <p:spPr>
            <a:xfrm>
              <a:off x="2024" y="2317"/>
              <a:ext cx="280" cy="28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TW" sz="2800" dirty="0">
                  <a:latin typeface="Times New Roman" panose="02020603050405020304" pitchFamily="18" charset="0"/>
                  <a:ea typeface="PMingLiU" pitchFamily="18" charset="-120"/>
                </a:rPr>
                <a:t>6</a:t>
              </a:r>
              <a:endParaRPr lang="en-US" altLang="zh-TW" sz="28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44" name="Line 18"/>
            <p:cNvSpPr/>
            <p:nvPr/>
          </p:nvSpPr>
          <p:spPr>
            <a:xfrm flipH="1">
              <a:off x="1555" y="1712"/>
              <a:ext cx="397" cy="61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45" name="Line 19"/>
            <p:cNvSpPr/>
            <p:nvPr/>
          </p:nvSpPr>
          <p:spPr>
            <a:xfrm>
              <a:off x="2123" y="1680"/>
              <a:ext cx="172" cy="1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46" name="Line 20"/>
            <p:cNvSpPr/>
            <p:nvPr/>
          </p:nvSpPr>
          <p:spPr>
            <a:xfrm>
              <a:off x="2477" y="2065"/>
              <a:ext cx="139" cy="25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47" name="Line 21"/>
            <p:cNvSpPr/>
            <p:nvPr/>
          </p:nvSpPr>
          <p:spPr>
            <a:xfrm flipH="1">
              <a:off x="2155" y="2065"/>
              <a:ext cx="193" cy="25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48" name="Line 22"/>
            <p:cNvSpPr/>
            <p:nvPr/>
          </p:nvSpPr>
          <p:spPr>
            <a:xfrm flipH="1">
              <a:off x="2337" y="2590"/>
              <a:ext cx="279" cy="6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49" name="Line 23"/>
            <p:cNvSpPr/>
            <p:nvPr/>
          </p:nvSpPr>
          <p:spPr>
            <a:xfrm>
              <a:off x="2166" y="2612"/>
              <a:ext cx="64" cy="56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50" name="Line 24"/>
            <p:cNvSpPr/>
            <p:nvPr/>
          </p:nvSpPr>
          <p:spPr>
            <a:xfrm flipH="1">
              <a:off x="1844" y="2590"/>
              <a:ext cx="236" cy="28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51" name="Line 25"/>
            <p:cNvSpPr/>
            <p:nvPr/>
          </p:nvSpPr>
          <p:spPr>
            <a:xfrm>
              <a:off x="1544" y="2612"/>
              <a:ext cx="183" cy="26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52" name="Line 26"/>
            <p:cNvSpPr/>
            <p:nvPr/>
          </p:nvSpPr>
          <p:spPr>
            <a:xfrm>
              <a:off x="1876" y="3115"/>
              <a:ext cx="257" cy="12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53" name="Rectangle 27"/>
            <p:cNvSpPr/>
            <p:nvPr/>
          </p:nvSpPr>
          <p:spPr>
            <a:xfrm>
              <a:off x="2183" y="1581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000" dirty="0">
                  <a:latin typeface="Times New Roman" panose="02020603050405020304" pitchFamily="18" charset="0"/>
                  <a:ea typeface="PMingLiU" pitchFamily="18" charset="-120"/>
                </a:rPr>
                <a:t>28</a:t>
              </a:r>
              <a:endParaRPr lang="en-US" altLang="zh-TW" sz="20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54" name="Rectangle 28"/>
            <p:cNvSpPr/>
            <p:nvPr/>
          </p:nvSpPr>
          <p:spPr>
            <a:xfrm>
              <a:off x="2525" y="2030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000" dirty="0">
                  <a:latin typeface="Times New Roman" panose="02020603050405020304" pitchFamily="18" charset="0"/>
                  <a:ea typeface="PMingLiU" pitchFamily="18" charset="-120"/>
                </a:rPr>
                <a:t>16</a:t>
              </a:r>
              <a:endParaRPr lang="en-US" altLang="zh-TW" sz="20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55" name="Rectangle 29"/>
            <p:cNvSpPr/>
            <p:nvPr/>
          </p:nvSpPr>
          <p:spPr>
            <a:xfrm>
              <a:off x="2450" y="2802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000" dirty="0">
                  <a:latin typeface="Times New Roman" panose="02020603050405020304" pitchFamily="18" charset="0"/>
                  <a:ea typeface="PMingLiU" pitchFamily="18" charset="-120"/>
                </a:rPr>
                <a:t>12</a:t>
              </a:r>
              <a:endParaRPr lang="en-US" altLang="zh-TW" sz="20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56" name="Rectangle 30"/>
            <p:cNvSpPr/>
            <p:nvPr/>
          </p:nvSpPr>
          <p:spPr>
            <a:xfrm>
              <a:off x="2161" y="2770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000" dirty="0">
                  <a:latin typeface="Times New Roman" panose="02020603050405020304" pitchFamily="18" charset="0"/>
                  <a:ea typeface="PMingLiU" pitchFamily="18" charset="-120"/>
                </a:rPr>
                <a:t>18</a:t>
              </a:r>
              <a:endParaRPr lang="en-US" altLang="zh-TW" sz="20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57" name="Rectangle 31"/>
            <p:cNvSpPr/>
            <p:nvPr/>
          </p:nvSpPr>
          <p:spPr>
            <a:xfrm>
              <a:off x="1743" y="2566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000" dirty="0">
                  <a:latin typeface="Times New Roman" panose="02020603050405020304" pitchFamily="18" charset="0"/>
                  <a:ea typeface="PMingLiU" pitchFamily="18" charset="-120"/>
                </a:rPr>
                <a:t>24</a:t>
              </a:r>
              <a:endParaRPr lang="en-US" altLang="zh-TW" sz="20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58" name="Rectangle 32"/>
            <p:cNvSpPr/>
            <p:nvPr/>
          </p:nvSpPr>
          <p:spPr>
            <a:xfrm>
              <a:off x="1785" y="3155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000" dirty="0">
                  <a:latin typeface="Times New Roman" panose="02020603050405020304" pitchFamily="18" charset="0"/>
                  <a:ea typeface="PMingLiU" pitchFamily="18" charset="-120"/>
                </a:rPr>
                <a:t>22</a:t>
              </a:r>
              <a:endParaRPr lang="en-US" altLang="zh-TW" sz="20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59" name="Rectangle 33"/>
            <p:cNvSpPr/>
            <p:nvPr/>
          </p:nvSpPr>
          <p:spPr>
            <a:xfrm>
              <a:off x="1390" y="2662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000" dirty="0">
                  <a:latin typeface="Times New Roman" panose="02020603050405020304" pitchFamily="18" charset="0"/>
                  <a:ea typeface="PMingLiU" pitchFamily="18" charset="-120"/>
                </a:rPr>
                <a:t>25</a:t>
              </a:r>
              <a:endParaRPr lang="en-US" altLang="zh-TW" sz="20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60" name="Rectangle 34"/>
            <p:cNvSpPr/>
            <p:nvPr/>
          </p:nvSpPr>
          <p:spPr>
            <a:xfrm>
              <a:off x="1529" y="1827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000" dirty="0">
                  <a:latin typeface="Times New Roman" panose="02020603050405020304" pitchFamily="18" charset="0"/>
                  <a:ea typeface="PMingLiU" pitchFamily="18" charset="-120"/>
                </a:rPr>
                <a:t>10</a:t>
              </a:r>
              <a:endParaRPr lang="en-US" altLang="zh-TW" sz="20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61" name="Rectangle 35"/>
            <p:cNvSpPr/>
            <p:nvPr/>
          </p:nvSpPr>
          <p:spPr>
            <a:xfrm>
              <a:off x="2022" y="2042"/>
              <a:ext cx="2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000" dirty="0">
                  <a:latin typeface="Times New Roman" panose="02020603050405020304" pitchFamily="18" charset="0"/>
                  <a:ea typeface="PMingLiU" pitchFamily="18" charset="-120"/>
                </a:rPr>
                <a:t>14</a:t>
              </a:r>
              <a:endParaRPr lang="en-US" altLang="zh-TW" sz="20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</p:grpSp>
      <p:sp>
        <p:nvSpPr>
          <p:cNvPr id="21509" name="Text Box 46"/>
          <p:cNvSpPr txBox="1"/>
          <p:nvPr/>
        </p:nvSpPr>
        <p:spPr>
          <a:xfrm>
            <a:off x="984250" y="677863"/>
            <a:ext cx="1022350" cy="6299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CC3300"/>
                </a:solidFill>
                <a:latin typeface="Times New Roman" panose="02020603050405020304" pitchFamily="18" charset="0"/>
                <a:ea typeface="PMingLiU" pitchFamily="18" charset="-120"/>
              </a:rPr>
              <a:t>0       5</a:t>
            </a: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CC3300"/>
                </a:solidFill>
                <a:latin typeface="Times New Roman" panose="02020603050405020304" pitchFamily="18" charset="0"/>
                <a:ea typeface="PMingLiU" pitchFamily="18" charset="-120"/>
              </a:rPr>
              <a:t>2       3</a:t>
            </a: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CC3300"/>
                </a:solidFill>
                <a:latin typeface="Times New Roman" panose="02020603050405020304" pitchFamily="18" charset="0"/>
                <a:ea typeface="PMingLiU" pitchFamily="18" charset="-120"/>
              </a:rPr>
              <a:t>1       6</a:t>
            </a: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CC3300"/>
                </a:solidFill>
                <a:latin typeface="Times New Roman" panose="02020603050405020304" pitchFamily="18" charset="0"/>
                <a:ea typeface="PMingLiU" pitchFamily="18" charset="-120"/>
              </a:rPr>
              <a:t>1       2</a:t>
            </a: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CC3300"/>
                </a:solidFill>
                <a:latin typeface="Times New Roman" panose="02020603050405020304" pitchFamily="18" charset="0"/>
                <a:ea typeface="PMingLiU" pitchFamily="18" charset="-120"/>
              </a:rPr>
              <a:t>3       6</a:t>
            </a: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CC3300"/>
                </a:solidFill>
                <a:latin typeface="Times New Roman" panose="02020603050405020304" pitchFamily="18" charset="0"/>
                <a:ea typeface="PMingLiU" pitchFamily="18" charset="-120"/>
              </a:rPr>
              <a:t>3       4</a:t>
            </a: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CC3300"/>
                </a:solidFill>
                <a:latin typeface="Times New Roman" panose="02020603050405020304" pitchFamily="18" charset="0"/>
                <a:ea typeface="PMingLiU" pitchFamily="18" charset="-120"/>
              </a:rPr>
              <a:t>4       6</a:t>
            </a: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CC3300"/>
                </a:solidFill>
                <a:latin typeface="Times New Roman" panose="02020603050405020304" pitchFamily="18" charset="0"/>
                <a:ea typeface="PMingLiU" pitchFamily="18" charset="-120"/>
              </a:rPr>
              <a:t>4       5</a:t>
            </a: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CC3300"/>
                </a:solidFill>
                <a:latin typeface="Times New Roman" panose="02020603050405020304" pitchFamily="18" charset="0"/>
                <a:ea typeface="PMingLiU" pitchFamily="18" charset="-120"/>
              </a:rPr>
              <a:t>0       1</a:t>
            </a: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1510" name="Line 47"/>
          <p:cNvSpPr/>
          <p:nvPr/>
        </p:nvSpPr>
        <p:spPr>
          <a:xfrm>
            <a:off x="1270000" y="935038"/>
            <a:ext cx="4762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1" name="Line 48"/>
          <p:cNvSpPr/>
          <p:nvPr/>
        </p:nvSpPr>
        <p:spPr>
          <a:xfrm>
            <a:off x="1252538" y="1657350"/>
            <a:ext cx="4937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2" name="Line 49"/>
          <p:cNvSpPr/>
          <p:nvPr/>
        </p:nvSpPr>
        <p:spPr>
          <a:xfrm>
            <a:off x="1252538" y="2398713"/>
            <a:ext cx="5651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3" name="Line 50"/>
          <p:cNvSpPr/>
          <p:nvPr/>
        </p:nvSpPr>
        <p:spPr>
          <a:xfrm>
            <a:off x="1235075" y="3121025"/>
            <a:ext cx="5635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4" name="Line 51"/>
          <p:cNvSpPr/>
          <p:nvPr/>
        </p:nvSpPr>
        <p:spPr>
          <a:xfrm>
            <a:off x="1252538" y="3844925"/>
            <a:ext cx="4937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5" name="Line 52"/>
          <p:cNvSpPr/>
          <p:nvPr/>
        </p:nvSpPr>
        <p:spPr>
          <a:xfrm>
            <a:off x="1270000" y="4603750"/>
            <a:ext cx="4762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6" name="Line 53"/>
          <p:cNvSpPr/>
          <p:nvPr/>
        </p:nvSpPr>
        <p:spPr>
          <a:xfrm>
            <a:off x="1270000" y="5308600"/>
            <a:ext cx="4762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7" name="Line 54"/>
          <p:cNvSpPr/>
          <p:nvPr/>
        </p:nvSpPr>
        <p:spPr>
          <a:xfrm>
            <a:off x="1270000" y="6067425"/>
            <a:ext cx="5111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8" name="Line 55"/>
          <p:cNvSpPr/>
          <p:nvPr/>
        </p:nvSpPr>
        <p:spPr>
          <a:xfrm>
            <a:off x="1270000" y="6858000"/>
            <a:ext cx="4587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9" name="Line 56"/>
          <p:cNvSpPr/>
          <p:nvPr/>
        </p:nvSpPr>
        <p:spPr>
          <a:xfrm>
            <a:off x="1260475" y="6696075"/>
            <a:ext cx="5111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20" name="Text Box 57"/>
          <p:cNvSpPr txBox="1"/>
          <p:nvPr/>
        </p:nvSpPr>
        <p:spPr>
          <a:xfrm>
            <a:off x="1281113" y="611188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tx2"/>
                </a:solidFill>
                <a:latin typeface="Times New Roman" panose="02020603050405020304" pitchFamily="18" charset="0"/>
                <a:ea typeface="PMingLiU" pitchFamily="18" charset="-120"/>
              </a:rPr>
              <a:t>10</a:t>
            </a:r>
            <a:endParaRPr lang="en-US" altLang="zh-TW" sz="2000" dirty="0">
              <a:solidFill>
                <a:schemeClr val="tx2"/>
              </a:solidFill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1521" name="Text Box 58"/>
          <p:cNvSpPr txBox="1"/>
          <p:nvPr/>
        </p:nvSpPr>
        <p:spPr>
          <a:xfrm>
            <a:off x="1316038" y="1344613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tx2"/>
                </a:solidFill>
                <a:latin typeface="Times New Roman" panose="02020603050405020304" pitchFamily="18" charset="0"/>
                <a:ea typeface="PMingLiU" pitchFamily="18" charset="-120"/>
              </a:rPr>
              <a:t>12</a:t>
            </a:r>
            <a:endParaRPr lang="en-US" altLang="zh-TW" sz="2000" dirty="0">
              <a:solidFill>
                <a:schemeClr val="tx2"/>
              </a:solidFill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1522" name="Text Box 59"/>
          <p:cNvSpPr txBox="1"/>
          <p:nvPr/>
        </p:nvSpPr>
        <p:spPr>
          <a:xfrm>
            <a:off x="1312863" y="2062163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tx2"/>
                </a:solidFill>
                <a:latin typeface="Times New Roman" panose="02020603050405020304" pitchFamily="18" charset="0"/>
                <a:ea typeface="PMingLiU" pitchFamily="18" charset="-120"/>
              </a:rPr>
              <a:t>14</a:t>
            </a:r>
            <a:endParaRPr lang="en-US" altLang="zh-TW" sz="2000" dirty="0">
              <a:solidFill>
                <a:schemeClr val="tx2"/>
              </a:solidFill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1523" name="Text Box 60"/>
          <p:cNvSpPr txBox="1"/>
          <p:nvPr/>
        </p:nvSpPr>
        <p:spPr>
          <a:xfrm>
            <a:off x="1274763" y="27940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tx2"/>
                </a:solidFill>
                <a:latin typeface="Times New Roman" panose="02020603050405020304" pitchFamily="18" charset="0"/>
                <a:ea typeface="PMingLiU" pitchFamily="18" charset="-120"/>
              </a:rPr>
              <a:t>16</a:t>
            </a:r>
            <a:endParaRPr lang="en-US" altLang="zh-TW" sz="2000" dirty="0">
              <a:solidFill>
                <a:schemeClr val="tx2"/>
              </a:solidFill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1524" name="Text Box 61"/>
          <p:cNvSpPr txBox="1"/>
          <p:nvPr/>
        </p:nvSpPr>
        <p:spPr>
          <a:xfrm>
            <a:off x="1270000" y="3508375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tx2"/>
                </a:solidFill>
                <a:latin typeface="Times New Roman" panose="02020603050405020304" pitchFamily="18" charset="0"/>
                <a:ea typeface="PMingLiU" pitchFamily="18" charset="-120"/>
              </a:rPr>
              <a:t>18</a:t>
            </a:r>
            <a:endParaRPr lang="en-US" altLang="zh-TW" sz="2000" dirty="0">
              <a:solidFill>
                <a:schemeClr val="tx2"/>
              </a:solidFill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1525" name="Text Box 62"/>
          <p:cNvSpPr txBox="1"/>
          <p:nvPr/>
        </p:nvSpPr>
        <p:spPr>
          <a:xfrm>
            <a:off x="1325563" y="4281488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tx2"/>
                </a:solidFill>
                <a:latin typeface="Times New Roman" panose="02020603050405020304" pitchFamily="18" charset="0"/>
                <a:ea typeface="PMingLiU" pitchFamily="18" charset="-120"/>
              </a:rPr>
              <a:t>22</a:t>
            </a:r>
            <a:endParaRPr lang="en-US" altLang="zh-TW" sz="2000" dirty="0">
              <a:solidFill>
                <a:schemeClr val="tx2"/>
              </a:solidFill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1526" name="Text Box 63"/>
          <p:cNvSpPr txBox="1"/>
          <p:nvPr/>
        </p:nvSpPr>
        <p:spPr>
          <a:xfrm>
            <a:off x="1284288" y="4945063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tx2"/>
                </a:solidFill>
                <a:latin typeface="Times New Roman" panose="02020603050405020304" pitchFamily="18" charset="0"/>
                <a:ea typeface="PMingLiU" pitchFamily="18" charset="-120"/>
              </a:rPr>
              <a:t>24</a:t>
            </a:r>
            <a:endParaRPr lang="en-US" altLang="zh-TW" sz="2000" dirty="0">
              <a:solidFill>
                <a:schemeClr val="tx2"/>
              </a:solidFill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1527" name="Text Box 64"/>
          <p:cNvSpPr txBox="1"/>
          <p:nvPr/>
        </p:nvSpPr>
        <p:spPr>
          <a:xfrm>
            <a:off x="1284288" y="572135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tx2"/>
                </a:solidFill>
                <a:latin typeface="Times New Roman" panose="02020603050405020304" pitchFamily="18" charset="0"/>
                <a:ea typeface="PMingLiU" pitchFamily="18" charset="-120"/>
              </a:rPr>
              <a:t>25</a:t>
            </a:r>
            <a:endParaRPr lang="en-US" altLang="zh-TW" sz="2000" dirty="0">
              <a:solidFill>
                <a:schemeClr val="tx2"/>
              </a:solidFill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1528" name="Text Box 65"/>
          <p:cNvSpPr txBox="1"/>
          <p:nvPr/>
        </p:nvSpPr>
        <p:spPr>
          <a:xfrm>
            <a:off x="1268413" y="62992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tx2"/>
                </a:solidFill>
                <a:latin typeface="Times New Roman" panose="02020603050405020304" pitchFamily="18" charset="0"/>
                <a:ea typeface="PMingLiU" pitchFamily="18" charset="-120"/>
              </a:rPr>
              <a:t>28</a:t>
            </a:r>
            <a:endParaRPr lang="en-US" altLang="zh-TW" sz="2000" dirty="0">
              <a:solidFill>
                <a:schemeClr val="tx2"/>
              </a:solidFill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1529" name="Line 66"/>
          <p:cNvSpPr/>
          <p:nvPr/>
        </p:nvSpPr>
        <p:spPr>
          <a:xfrm>
            <a:off x="5219700" y="1341438"/>
            <a:ext cx="11113" cy="50704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8981" name="Line 69"/>
          <p:cNvSpPr/>
          <p:nvPr/>
        </p:nvSpPr>
        <p:spPr>
          <a:xfrm flipH="1">
            <a:off x="6443663" y="2492375"/>
            <a:ext cx="649287" cy="1081088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82" name="Line 70"/>
          <p:cNvSpPr/>
          <p:nvPr/>
        </p:nvSpPr>
        <p:spPr>
          <a:xfrm flipH="1">
            <a:off x="7812088" y="4003675"/>
            <a:ext cx="576262" cy="938213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83" name="Line 71"/>
          <p:cNvSpPr/>
          <p:nvPr/>
        </p:nvSpPr>
        <p:spPr>
          <a:xfrm flipH="1">
            <a:off x="7667625" y="3141663"/>
            <a:ext cx="217488" cy="43180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84" name="Line 72"/>
          <p:cNvSpPr/>
          <p:nvPr/>
        </p:nvSpPr>
        <p:spPr>
          <a:xfrm>
            <a:off x="8172450" y="3141663"/>
            <a:ext cx="215900" cy="43180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85" name="Line 73"/>
          <p:cNvSpPr/>
          <p:nvPr/>
        </p:nvSpPr>
        <p:spPr>
          <a:xfrm flipH="1" flipV="1">
            <a:off x="7092950" y="4725988"/>
            <a:ext cx="358775" cy="358775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86" name="Line 74"/>
          <p:cNvSpPr/>
          <p:nvPr/>
        </p:nvSpPr>
        <p:spPr>
          <a:xfrm flipH="1" flipV="1">
            <a:off x="6516688" y="4005263"/>
            <a:ext cx="215900" cy="43180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87" name="Text Box 75"/>
          <p:cNvSpPr txBox="1"/>
          <p:nvPr/>
        </p:nvSpPr>
        <p:spPr>
          <a:xfrm>
            <a:off x="5210175" y="5703888"/>
            <a:ext cx="37607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CC3300"/>
                </a:solidFill>
                <a:latin typeface="Times New Roman" panose="02020603050405020304" pitchFamily="18" charset="0"/>
                <a:ea typeface="PMingLiU" pitchFamily="18" charset="-120"/>
              </a:rPr>
              <a:t>cost = 10 +25+22+12+16+14</a:t>
            </a:r>
            <a:endParaRPr lang="en-US" altLang="zh-TW" sz="2400" dirty="0">
              <a:solidFill>
                <a:srgbClr val="CC3300"/>
              </a:solidFill>
              <a:latin typeface="Times New Roman" panose="02020603050405020304" pitchFamily="18" charset="0"/>
              <a:ea typeface="PMingLiU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8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8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2530" name="Rectangle 2"/>
          <p:cNvSpPr/>
          <p:nvPr/>
        </p:nvSpPr>
        <p:spPr>
          <a:xfrm>
            <a:off x="425450" y="515938"/>
            <a:ext cx="8099425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4400" dirty="0"/>
              <a:t>Kruskal</a:t>
            </a:r>
            <a:r>
              <a:rPr lang="en-US" altLang="zh-TW" sz="4400" dirty="0">
                <a:latin typeface="Arial" panose="020B0604020202020204" pitchFamily="34" charset="0"/>
              </a:rPr>
              <a:t>’</a:t>
            </a:r>
            <a:r>
              <a:rPr lang="en-US" altLang="zh-TW" sz="4400" dirty="0"/>
              <a:t>s Idea</a:t>
            </a:r>
            <a:endParaRPr lang="en-US" altLang="zh-TW" sz="4400" dirty="0"/>
          </a:p>
        </p:txBody>
      </p:sp>
      <p:sp>
        <p:nvSpPr>
          <p:cNvPr id="22531" name="Rectangle 3"/>
          <p:cNvSpPr/>
          <p:nvPr/>
        </p:nvSpPr>
        <p:spPr>
          <a:xfrm>
            <a:off x="774700" y="1812925"/>
            <a:ext cx="8099425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r>
              <a:rPr lang="en-US" altLang="zh-TW" sz="2800" dirty="0"/>
              <a:t>Build a minimum cost spanning tree T by </a:t>
            </a:r>
            <a:br>
              <a:rPr lang="en-US" altLang="zh-TW" sz="2800" dirty="0"/>
            </a:br>
            <a:r>
              <a:rPr lang="en-US" altLang="zh-TW" sz="2800" dirty="0"/>
              <a:t>adding edges to T one at a time</a:t>
            </a:r>
            <a:endParaRPr lang="en-US" altLang="zh-TW" sz="2800" dirty="0"/>
          </a:p>
          <a:p>
            <a:pPr marL="342900" lvl="0" indent="-342900" eaLnBrk="1" hangingPunct="1"/>
            <a:r>
              <a:rPr lang="en-US" altLang="zh-TW" sz="2800" dirty="0"/>
              <a:t>Select the edges for inclusion in T in </a:t>
            </a:r>
            <a:br>
              <a:rPr lang="en-US" altLang="zh-TW" sz="2800" dirty="0"/>
            </a:br>
            <a:r>
              <a:rPr lang="en-US" altLang="zh-TW" sz="2800" dirty="0"/>
              <a:t>nondecreasing order of the cost</a:t>
            </a:r>
            <a:endParaRPr lang="en-US" altLang="zh-TW" sz="2800" dirty="0"/>
          </a:p>
          <a:p>
            <a:pPr marL="342900" lvl="0" indent="-342900" eaLnBrk="1" hangingPunct="1"/>
            <a:r>
              <a:rPr lang="en-US" altLang="zh-TW" sz="2800" dirty="0"/>
              <a:t>An edge is added to T if it does not form a </a:t>
            </a:r>
            <a:br>
              <a:rPr lang="en-US" altLang="zh-TW" sz="2800" dirty="0"/>
            </a:br>
            <a:r>
              <a:rPr lang="en-US" altLang="zh-TW" sz="2800" dirty="0"/>
              <a:t>cycle</a:t>
            </a:r>
            <a:endParaRPr lang="en-US" altLang="zh-TW" sz="2800" dirty="0"/>
          </a:p>
          <a:p>
            <a:pPr marL="342900" lvl="0" indent="-342900" eaLnBrk="1" hangingPunct="1"/>
            <a:r>
              <a:rPr lang="en-US" altLang="zh-TW" sz="2800" dirty="0"/>
              <a:t>Since G is connected and has n &gt; 0 vertices, </a:t>
            </a:r>
            <a:br>
              <a:rPr lang="en-US" altLang="zh-TW" sz="2800" dirty="0"/>
            </a:br>
            <a:r>
              <a:rPr lang="en-US" altLang="zh-TW" sz="2800" dirty="0"/>
              <a:t>exactly n-1 edges will be selected</a:t>
            </a:r>
            <a:endParaRPr lang="en-US" altLang="zh-TW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116013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TW" dirty="0"/>
              <a:t>Kruskal</a:t>
            </a:r>
            <a:r>
              <a:rPr lang="en-US" altLang="zh-TW" dirty="0">
                <a:latin typeface="Arial" panose="020B0604020202020204" pitchFamily="34" charset="0"/>
              </a:rPr>
              <a:t>’</a:t>
            </a:r>
            <a:r>
              <a:rPr lang="en-US" altLang="zh-TW" dirty="0"/>
              <a:t>s algorithm</a:t>
            </a:r>
            <a:endParaRPr lang="en-US" altLang="zh-TW" dirty="0"/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xfrm>
            <a:off x="414338" y="1238250"/>
            <a:ext cx="8229600" cy="453072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TW" dirty="0"/>
              <a:t>Edge by edge</a:t>
            </a:r>
            <a:endParaRPr lang="en-US" altLang="zh-TW" dirty="0"/>
          </a:p>
          <a:p>
            <a:pPr eaLnBrk="1" hangingPunct="1"/>
            <a:r>
              <a:rPr lang="en-US" altLang="zh-TW" dirty="0"/>
              <a:t>Algorithm:</a:t>
            </a:r>
            <a:endParaRPr lang="en-US" altLang="zh-TW" dirty="0"/>
          </a:p>
        </p:txBody>
      </p:sp>
      <p:sp>
        <p:nvSpPr>
          <p:cNvPr id="23556" name="Text Box 4"/>
          <p:cNvSpPr txBox="1"/>
          <p:nvPr/>
        </p:nvSpPr>
        <p:spPr>
          <a:xfrm>
            <a:off x="835025" y="2457450"/>
            <a:ext cx="7475538" cy="3113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1800" b="1" dirty="0">
                <a:latin typeface="Tahoma" panose="020B0604030504040204" pitchFamily="34" charset="0"/>
                <a:ea typeface="PMingLiU" pitchFamily="18" charset="-120"/>
              </a:rPr>
              <a:t>T={};</a:t>
            </a:r>
            <a:endParaRPr lang="en-US" altLang="zh-TW" sz="1800" b="1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1800" b="1" dirty="0">
                <a:latin typeface="Tahoma" panose="020B0604030504040204" pitchFamily="34" charset="0"/>
                <a:ea typeface="PMingLiU" pitchFamily="18" charset="-120"/>
              </a:rPr>
              <a:t>While ((T contains less than n-1 edges) &amp;&amp;(E not empty)){</a:t>
            </a:r>
            <a:endParaRPr lang="en-US" altLang="zh-TW" sz="1800" b="1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1800" b="1" dirty="0">
                <a:latin typeface="Tahoma" panose="020B0604030504040204" pitchFamily="34" charset="0"/>
                <a:ea typeface="PMingLiU" pitchFamily="18" charset="-120"/>
              </a:rPr>
              <a:t>	choose an edge (v,w) from E of lowest cost;</a:t>
            </a:r>
            <a:endParaRPr lang="en-US" altLang="zh-TW" sz="1800" b="1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1800" b="1" dirty="0">
                <a:latin typeface="Tahoma" panose="020B0604030504040204" pitchFamily="34" charset="0"/>
                <a:ea typeface="PMingLiU" pitchFamily="18" charset="-120"/>
              </a:rPr>
              <a:t>	delete (v,w) from E;</a:t>
            </a:r>
            <a:endParaRPr lang="en-US" altLang="zh-TW" sz="1800" b="1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1800" b="1" dirty="0">
                <a:latin typeface="Tahoma" panose="020B0604030504040204" pitchFamily="34" charset="0"/>
                <a:ea typeface="PMingLiU" pitchFamily="18" charset="-120"/>
              </a:rPr>
              <a:t>	if((v,w) does not create a cycle in T)</a:t>
            </a:r>
            <a:endParaRPr lang="en-US" altLang="zh-TW" sz="1800" b="1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1800" b="1" dirty="0">
                <a:latin typeface="Tahoma" panose="020B0604030504040204" pitchFamily="34" charset="0"/>
                <a:ea typeface="PMingLiU" pitchFamily="18" charset="-120"/>
              </a:rPr>
              <a:t>		add(v,w) to T;</a:t>
            </a:r>
            <a:endParaRPr lang="en-US" altLang="zh-TW" sz="1800" b="1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1800" b="1" dirty="0">
                <a:latin typeface="Tahoma" panose="020B0604030504040204" pitchFamily="34" charset="0"/>
                <a:ea typeface="PMingLiU" pitchFamily="18" charset="-120"/>
              </a:rPr>
              <a:t>	else</a:t>
            </a:r>
            <a:endParaRPr lang="en-US" altLang="zh-TW" sz="1800" b="1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1800" b="1" dirty="0">
                <a:latin typeface="Tahoma" panose="020B0604030504040204" pitchFamily="34" charset="0"/>
                <a:ea typeface="PMingLiU" pitchFamily="18" charset="-120"/>
              </a:rPr>
              <a:t>		discard(v,w);</a:t>
            </a:r>
            <a:endParaRPr lang="en-US" altLang="zh-TW" sz="1800" b="1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1800" b="1" dirty="0">
                <a:latin typeface="Tahoma" panose="020B0604030504040204" pitchFamily="34" charset="0"/>
                <a:ea typeface="PMingLiU" pitchFamily="18" charset="-120"/>
              </a:rPr>
              <a:t>}</a:t>
            </a:r>
            <a:endParaRPr lang="en-US" altLang="zh-TW" sz="1800" b="1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1800" b="1" dirty="0">
                <a:latin typeface="Tahoma" panose="020B0604030504040204" pitchFamily="34" charset="0"/>
                <a:ea typeface="PMingLiU" pitchFamily="18" charset="-120"/>
              </a:rPr>
              <a:t>If(T contains fewer than n </a:t>
            </a:r>
            <a:r>
              <a:rPr lang="en-US" altLang="zh-TW" sz="1800" b="1" dirty="0">
                <a:latin typeface="Arial" panose="020B0604020202020204" pitchFamily="34" charset="0"/>
                <a:ea typeface="PMingLiU" pitchFamily="18" charset="-120"/>
              </a:rPr>
              <a:t>–</a:t>
            </a:r>
            <a:r>
              <a:rPr lang="en-US" altLang="zh-TW" sz="1800" b="1" dirty="0">
                <a:latin typeface="Tahoma" panose="020B0604030504040204" pitchFamily="34" charset="0"/>
                <a:ea typeface="PMingLiU" pitchFamily="18" charset="-120"/>
              </a:rPr>
              <a:t> 1 edges)</a:t>
            </a:r>
            <a:endParaRPr lang="en-US" altLang="zh-TW" sz="1800" b="1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1800" b="1" dirty="0">
                <a:latin typeface="Tahoma" panose="020B0604030504040204" pitchFamily="34" charset="0"/>
                <a:ea typeface="PMingLiU" pitchFamily="18" charset="-120"/>
              </a:rPr>
              <a:t>	printf(</a:t>
            </a:r>
            <a:r>
              <a:rPr lang="en-US" altLang="zh-TW" sz="1800" b="1" dirty="0">
                <a:latin typeface="Arial" panose="020B0604020202020204" pitchFamily="34" charset="0"/>
                <a:ea typeface="PMingLiU" pitchFamily="18" charset="-120"/>
              </a:rPr>
              <a:t>“</a:t>
            </a:r>
            <a:r>
              <a:rPr lang="en-US" altLang="zh-TW" sz="1800" b="1" dirty="0">
                <a:latin typeface="Tahoma" panose="020B0604030504040204" pitchFamily="34" charset="0"/>
                <a:ea typeface="PMingLiU" pitchFamily="18" charset="-120"/>
              </a:rPr>
              <a:t>No spanning tree\n</a:t>
            </a:r>
            <a:r>
              <a:rPr lang="en-US" altLang="zh-TW" sz="1800" b="1" dirty="0">
                <a:latin typeface="Arial" panose="020B0604020202020204" pitchFamily="34" charset="0"/>
                <a:ea typeface="PMingLiU" pitchFamily="18" charset="-120"/>
              </a:rPr>
              <a:t>”</a:t>
            </a:r>
            <a:r>
              <a:rPr lang="en-US" altLang="zh-TW" sz="1800" b="1" dirty="0">
                <a:latin typeface="Tahoma" panose="020B0604030504040204" pitchFamily="34" charset="0"/>
                <a:ea typeface="PMingLiU" pitchFamily="18" charset="-120"/>
              </a:rPr>
              <a:t>);</a:t>
            </a:r>
            <a:endParaRPr lang="en-US" altLang="zh-TW" sz="1800" b="1" dirty="0">
              <a:latin typeface="Tahoma" panose="020B0604030504040204" pitchFamily="34" charset="0"/>
              <a:ea typeface="PMingLiU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0</TotalTime>
  <Words>7572</Words>
  <Application>WPS 演示</Application>
  <PresentationFormat>全屏显示(4:3)</PresentationFormat>
  <Paragraphs>794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Arial</vt:lpstr>
      <vt:lpstr>宋体</vt:lpstr>
      <vt:lpstr>Wingdings</vt:lpstr>
      <vt:lpstr>Comic Sans MS</vt:lpstr>
      <vt:lpstr>Times New Roman</vt:lpstr>
      <vt:lpstr>Symbol</vt:lpstr>
      <vt:lpstr>微软雅黑</vt:lpstr>
      <vt:lpstr>Arial Unicode MS</vt:lpstr>
      <vt:lpstr>Calibri</vt:lpstr>
      <vt:lpstr>MS Hei</vt:lpstr>
      <vt:lpstr>PMingLiU</vt:lpstr>
      <vt:lpstr>MingLiU-ExtB</vt:lpstr>
      <vt:lpstr>Tahoma</vt:lpstr>
      <vt:lpstr>Crayons</vt:lpstr>
      <vt:lpstr>Equation.3</vt:lpstr>
      <vt:lpstr>Ch.9 Graph(III)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Example of Dijkstra's Algorithm</vt:lpstr>
      <vt:lpstr>PowerPoint 演示文稿</vt:lpstr>
      <vt:lpstr>PowerPoint 演示文稿</vt:lpstr>
      <vt:lpstr>PowerPoint 演示文稿</vt:lpstr>
      <vt:lpstr>PowerPoint 演示文稿</vt:lpstr>
      <vt:lpstr>Minimum Spanning Trees </vt:lpstr>
      <vt:lpstr>Minimum Spanning Trees</vt:lpstr>
      <vt:lpstr>Finding MST of a Graph</vt:lpstr>
      <vt:lpstr>Prim’s Algorithm</vt:lpstr>
      <vt:lpstr>PowerPoint 演示文稿</vt:lpstr>
      <vt:lpstr>Examples for Kruskal’s Algorithm</vt:lpstr>
      <vt:lpstr>PowerPoint 演示文稿</vt:lpstr>
      <vt:lpstr>Kruskal’s algorithm</vt:lpstr>
    </vt:vector>
  </TitlesOfParts>
  <Company>番茄花园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Ch.9 Graph(III)</dc:title>
  <dc:creator>天宇科技</dc:creator>
  <cp:lastModifiedBy>Yan</cp:lastModifiedBy>
  <cp:revision>78</cp:revision>
  <dcterms:created xsi:type="dcterms:W3CDTF">2013-10-28T06:17:00Z</dcterms:created>
  <dcterms:modified xsi:type="dcterms:W3CDTF">2025-11-17T03:34:15Z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B80D8BA65AA844BD931813D834A042F1_13</vt:lpwstr>
  </property>
</Properties>
</file>